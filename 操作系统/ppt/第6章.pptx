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9"/>
  </p:notesMasterIdLst>
  <p:sldIdLst>
    <p:sldId id="256" r:id="rId3"/>
    <p:sldId id="258" r:id="rId4"/>
    <p:sldId id="259" r:id="rId5"/>
    <p:sldId id="260" r:id="rId6"/>
    <p:sldId id="261" r:id="rId7"/>
    <p:sldId id="262" r:id="rId8"/>
    <p:sldId id="263" r:id="rId9"/>
    <p:sldId id="320" r:id="rId10"/>
    <p:sldId id="264" r:id="rId11"/>
    <p:sldId id="265" r:id="rId12"/>
    <p:sldId id="266" r:id="rId13"/>
    <p:sldId id="267" r:id="rId14"/>
    <p:sldId id="399" r:id="rId15"/>
    <p:sldId id="268" r:id="rId16"/>
    <p:sldId id="269" r:id="rId17"/>
    <p:sldId id="270" r:id="rId18"/>
    <p:sldId id="271" r:id="rId19"/>
    <p:sldId id="272" r:id="rId20"/>
    <p:sldId id="273" r:id="rId21"/>
    <p:sldId id="274" r:id="rId22"/>
    <p:sldId id="276" r:id="rId23"/>
    <p:sldId id="277" r:id="rId24"/>
    <p:sldId id="321"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1" r:id="rId38"/>
    <p:sldId id="292" r:id="rId39"/>
    <p:sldId id="293" r:id="rId40"/>
    <p:sldId id="322" r:id="rId41"/>
    <p:sldId id="349" r:id="rId42"/>
    <p:sldId id="294" r:id="rId43"/>
    <p:sldId id="323" r:id="rId44"/>
    <p:sldId id="295" r:id="rId45"/>
    <p:sldId id="296" r:id="rId46"/>
    <p:sldId id="297" r:id="rId47"/>
    <p:sldId id="298" r:id="rId48"/>
    <p:sldId id="299" r:id="rId49"/>
    <p:sldId id="300" r:id="rId50"/>
    <p:sldId id="355"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44" r:id="rId64"/>
    <p:sldId id="345" r:id="rId65"/>
    <p:sldId id="346" r:id="rId66"/>
    <p:sldId id="347" r:id="rId67"/>
    <p:sldId id="348" r:id="rId68"/>
    <p:sldId id="350" r:id="rId69"/>
    <p:sldId id="351" r:id="rId70"/>
    <p:sldId id="352" r:id="rId71"/>
    <p:sldId id="353" r:id="rId72"/>
    <p:sldId id="324" r:id="rId73"/>
    <p:sldId id="325" r:id="rId74"/>
    <p:sldId id="326" r:id="rId75"/>
    <p:sldId id="354" r:id="rId76"/>
    <p:sldId id="327" r:id="rId77"/>
    <p:sldId id="328" r:id="rId78"/>
    <p:sldId id="329" r:id="rId79"/>
    <p:sldId id="331" r:id="rId80"/>
    <p:sldId id="332" r:id="rId81"/>
    <p:sldId id="333" r:id="rId82"/>
    <p:sldId id="334" r:id="rId83"/>
    <p:sldId id="335" r:id="rId84"/>
    <p:sldId id="339" r:id="rId85"/>
    <p:sldId id="340" r:id="rId86"/>
    <p:sldId id="341" r:id="rId87"/>
    <p:sldId id="342" r:id="rId88"/>
    <p:sldId id="343" r:id="rId89"/>
    <p:sldId id="400" r:id="rId90"/>
    <p:sldId id="401" r:id="rId91"/>
    <p:sldId id="755" r:id="rId92"/>
    <p:sldId id="315" r:id="rId93"/>
    <p:sldId id="402" r:id="rId94"/>
    <p:sldId id="403" r:id="rId95"/>
    <p:sldId id="398" r:id="rId96"/>
    <p:sldId id="404" r:id="rId97"/>
    <p:sldId id="405" r:id="rId98"/>
    <p:sldId id="406" r:id="rId99"/>
    <p:sldId id="363" r:id="rId100"/>
    <p:sldId id="407" r:id="rId101"/>
    <p:sldId id="364" r:id="rId102"/>
    <p:sldId id="408" r:id="rId103"/>
    <p:sldId id="365" r:id="rId104"/>
    <p:sldId id="366" r:id="rId105"/>
    <p:sldId id="409" r:id="rId106"/>
    <p:sldId id="410" r:id="rId107"/>
    <p:sldId id="367" r:id="rId108"/>
    <p:sldId id="432" r:id="rId109"/>
    <p:sldId id="369" r:id="rId110"/>
    <p:sldId id="370" r:id="rId111"/>
    <p:sldId id="433" r:id="rId112"/>
    <p:sldId id="368" r:id="rId113"/>
    <p:sldId id="373" r:id="rId114"/>
    <p:sldId id="434" r:id="rId115"/>
    <p:sldId id="372" r:id="rId116"/>
    <p:sldId id="371" r:id="rId117"/>
    <p:sldId id="379" r:id="rId118"/>
    <p:sldId id="435" r:id="rId119"/>
    <p:sldId id="380" r:id="rId120"/>
    <p:sldId id="429" r:id="rId121"/>
    <p:sldId id="430" r:id="rId122"/>
    <p:sldId id="436" r:id="rId123"/>
    <p:sldId id="437" r:id="rId124"/>
    <p:sldId id="438" r:id="rId125"/>
    <p:sldId id="439" r:id="rId126"/>
    <p:sldId id="440" r:id="rId127"/>
    <p:sldId id="431" r:id="rId128"/>
    <p:sldId id="426" r:id="rId129"/>
    <p:sldId id="427" r:id="rId130"/>
    <p:sldId id="428" r:id="rId131"/>
    <p:sldId id="383" r:id="rId132"/>
    <p:sldId id="411" r:id="rId133"/>
    <p:sldId id="384" r:id="rId134"/>
    <p:sldId id="381" r:id="rId135"/>
    <p:sldId id="386" r:id="rId136"/>
    <p:sldId id="387" r:id="rId137"/>
    <p:sldId id="388" r:id="rId138"/>
    <p:sldId id="389" r:id="rId139"/>
    <p:sldId id="414" r:id="rId140"/>
    <p:sldId id="413" r:id="rId141"/>
    <p:sldId id="425" r:id="rId142"/>
    <p:sldId id="415" r:id="rId143"/>
    <p:sldId id="416" r:id="rId144"/>
    <p:sldId id="392" r:id="rId145"/>
    <p:sldId id="385" r:id="rId146"/>
    <p:sldId id="393" r:id="rId147"/>
    <p:sldId id="441" r:id="rId148"/>
    <p:sldId id="394" r:id="rId149"/>
    <p:sldId id="395" r:id="rId150"/>
    <p:sldId id="378" r:id="rId151"/>
    <p:sldId id="397" r:id="rId152"/>
    <p:sldId id="442" r:id="rId153"/>
    <p:sldId id="443" r:id="rId154"/>
    <p:sldId id="374" r:id="rId155"/>
    <p:sldId id="444" r:id="rId156"/>
    <p:sldId id="541" r:id="rId157"/>
    <p:sldId id="542" r:id="rId158"/>
    <p:sldId id="543" r:id="rId160"/>
    <p:sldId id="544" r:id="rId161"/>
    <p:sldId id="545" r:id="rId162"/>
    <p:sldId id="546" r:id="rId163"/>
    <p:sldId id="547" r:id="rId164"/>
    <p:sldId id="548" r:id="rId165"/>
    <p:sldId id="750" r:id="rId166"/>
    <p:sldId id="751" r:id="rId167"/>
    <p:sldId id="752" r:id="rId168"/>
    <p:sldId id="604" r:id="rId169"/>
    <p:sldId id="605" r:id="rId170"/>
    <p:sldId id="606" r:id="rId171"/>
    <p:sldId id="607" r:id="rId172"/>
    <p:sldId id="738" r:id="rId173"/>
    <p:sldId id="739" r:id="rId174"/>
    <p:sldId id="753" r:id="rId175"/>
    <p:sldId id="754" r:id="rId176"/>
    <p:sldId id="740" r:id="rId177"/>
    <p:sldId id="741" r:id="rId178"/>
    <p:sldId id="742" r:id="rId179"/>
    <p:sldId id="744" r:id="rId180"/>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D"/>
    <a:srgbClr val="FFFFE7"/>
    <a:srgbClr val="FFFFCC"/>
    <a:srgbClr val="0033CC"/>
    <a:srgbClr val="3333CC"/>
    <a:srgbClr val="9900FF"/>
    <a:srgbClr val="FF0000"/>
    <a:srgbClr val="F7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01" autoAdjust="0"/>
    <p:restoredTop sz="93719" autoAdjust="0"/>
  </p:normalViewPr>
  <p:slideViewPr>
    <p:cSldViewPr showGuides="1">
      <p:cViewPr>
        <p:scale>
          <a:sx n="75" d="100"/>
          <a:sy n="75" d="100"/>
        </p:scale>
        <p:origin x="-594" y="-36"/>
      </p:cViewPr>
      <p:guideLst>
        <p:guide orient="horz" pos="2160"/>
        <p:guide pos="2880"/>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3" Type="http://schemas.openxmlformats.org/officeDocument/2006/relationships/tableStyles" Target="tableStyles.xml"/><Relationship Id="rId182" Type="http://schemas.openxmlformats.org/officeDocument/2006/relationships/viewProps" Target="viewProps.xml"/><Relationship Id="rId181" Type="http://schemas.openxmlformats.org/officeDocument/2006/relationships/presProps" Target="presProps.xml"/><Relationship Id="rId180" Type="http://schemas.openxmlformats.org/officeDocument/2006/relationships/slide" Target="slides/slide177.xml"/><Relationship Id="rId18" Type="http://schemas.openxmlformats.org/officeDocument/2006/relationships/slide" Target="slides/slide16.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5.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4.xml"/><Relationship Id="rId159" Type="http://schemas.openxmlformats.org/officeDocument/2006/relationships/notesMaster" Target="notesMasters/notesMaster1.xml"/><Relationship Id="rId158" Type="http://schemas.openxmlformats.org/officeDocument/2006/relationships/slide" Target="slides/slide156.xml"/><Relationship Id="rId157" Type="http://schemas.openxmlformats.org/officeDocument/2006/relationships/slide" Target="slides/slide155.xml"/><Relationship Id="rId156" Type="http://schemas.openxmlformats.org/officeDocument/2006/relationships/slide" Target="slides/slide154.xml"/><Relationship Id="rId155" Type="http://schemas.openxmlformats.org/officeDocument/2006/relationships/slide" Target="slides/slide153.xml"/><Relationship Id="rId154" Type="http://schemas.openxmlformats.org/officeDocument/2006/relationships/slide" Target="slides/slide152.xml"/><Relationship Id="rId153" Type="http://schemas.openxmlformats.org/officeDocument/2006/relationships/slide" Target="slides/slide151.xml"/><Relationship Id="rId152" Type="http://schemas.openxmlformats.org/officeDocument/2006/relationships/slide" Target="slides/slide150.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2F18DD-8E20-4646-B23E-D3DC78B905B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9BDDD-390E-4349-8DA1-3CCC8160EA7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solidFill>
                  <a:schemeClr val="tx1"/>
                </a:solidFill>
              </a:rPr>
            </a:fld>
            <a:endParaRPr lang="zh-CN" altLang="en-US" sz="1200" b="0" dirty="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solidFill>
                  <a:schemeClr val="tx1"/>
                </a:solidFill>
              </a:rPr>
            </a:fld>
            <a:endParaRPr lang="zh-CN" altLang="en-US" sz="1200" b="0" dirty="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solidFill>
                  <a:schemeClr val="tx1"/>
                </a:solidFill>
              </a:rPr>
            </a:fld>
            <a:endParaRPr lang="zh-CN" altLang="en-US" sz="1200" b="0" dirty="0">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solidFill>
                  <a:schemeClr val="tx1"/>
                </a:solidFill>
              </a:rPr>
            </a:fld>
            <a:endParaRPr lang="zh-CN" altLang="en-US" sz="1200" b="0" dirty="0">
              <a:solidFill>
                <a:schemeClr val="tx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ctr" anchorCtr="0"/>
          <a:lstStyle/>
          <a:p>
            <a:pPr lvl="0"/>
            <a:r>
              <a:rPr lang="zh-CN" altLang="en-US" dirty="0"/>
              <a:t>（</a:t>
            </a:r>
            <a:r>
              <a:rPr lang="en-US" altLang="zh-CN" dirty="0"/>
              <a:t>3</a:t>
            </a:r>
            <a:r>
              <a:rPr lang="zh-CN" altLang="en-US" dirty="0"/>
              <a:t>）高</a:t>
            </a:r>
            <a:r>
              <a:rPr lang="en-US" altLang="zh-CN" dirty="0"/>
              <a:t>10</a:t>
            </a:r>
            <a:r>
              <a:rPr lang="zh-CN" altLang="en-US" dirty="0"/>
              <a:t>位都是</a:t>
            </a:r>
            <a:r>
              <a:rPr lang="en-US" altLang="zh-CN" dirty="0"/>
              <a:t>4</a:t>
            </a:r>
            <a:r>
              <a:rPr lang="zh-CN" altLang="en-US" dirty="0"/>
              <a:t>，访问的是同一个内层页表（二级页表）</a:t>
            </a:r>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solidFill>
                  <a:schemeClr val="tx1"/>
                </a:solidFill>
              </a:rPr>
            </a:fld>
            <a:endParaRPr lang="zh-CN" altLang="en-US" sz="1200" b="0" dirty="0">
              <a:solidFill>
                <a:schemeClr val="tx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ctr" anchorCtr="0"/>
          <a:lstStyle/>
          <a:p>
            <a:pPr lvl="0"/>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solidFill>
                  <a:schemeClr val="tx1"/>
                </a:solidFill>
              </a:rPr>
            </a:fld>
            <a:endParaRPr lang="zh-CN" altLang="en-US" sz="1200" b="0" dirty="0">
              <a:solidFill>
                <a:schemeClr val="tx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1440" tIns="45720" rIns="91440" bIns="45720" anchor="ctr" anchorCtr="0"/>
          <a:lstStyle/>
          <a:p>
            <a:pPr lvl="0"/>
            <a:r>
              <a:rPr lang="zh-CN" altLang="en-US" dirty="0"/>
              <a:t>（</a:t>
            </a:r>
            <a:r>
              <a:rPr lang="en-US" altLang="zh-CN" dirty="0"/>
              <a:t>3</a:t>
            </a:r>
            <a:r>
              <a:rPr lang="zh-CN" altLang="en-US" dirty="0"/>
              <a:t>）高</a:t>
            </a:r>
            <a:r>
              <a:rPr lang="en-US" altLang="zh-CN" dirty="0"/>
              <a:t>10</a:t>
            </a:r>
            <a:r>
              <a:rPr lang="zh-CN" altLang="en-US" dirty="0"/>
              <a:t>位都是</a:t>
            </a:r>
            <a:r>
              <a:rPr lang="en-US" altLang="zh-CN" dirty="0"/>
              <a:t>4</a:t>
            </a:r>
            <a:r>
              <a:rPr lang="zh-CN" altLang="en-US" dirty="0"/>
              <a:t>，访问的是同一个内层页表（二级页表）</a:t>
            </a:r>
            <a:endParaRPr lang="zh-CN" altLang="en-US" dirty="0"/>
          </a:p>
        </p:txBody>
      </p:sp>
      <p:sp>
        <p:nvSpPr>
          <p:cNvPr id="11059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fld id="{9A0DB2DC-4C9A-4742-B13C-FB6460FD3503}" type="slidenum">
              <a:rPr lang="zh-CN" altLang="en-US" sz="1200" b="0" dirty="0">
                <a:solidFill>
                  <a:schemeClr val="tx1"/>
                </a:solidFill>
              </a:rPr>
            </a:fld>
            <a:endParaRPr lang="zh-CN" altLang="en-US" sz="1200" b="0" dirty="0">
              <a:solidFill>
                <a:schemeClr val="tx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bwMode="auto">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2" name="直接连接符 105473"/>
          <p:cNvSpPr>
            <a:spLocks noChangeShapeType="1"/>
          </p:cNvSpPr>
          <p:nvPr/>
        </p:nvSpPr>
        <p:spPr bwMode="auto">
          <a:xfrm>
            <a:off x="7315200" y="1066800"/>
            <a:ext cx="0" cy="449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nvGrpSpPr>
          <p:cNvPr id="3" name="组合 105479"/>
          <p:cNvGrpSpPr/>
          <p:nvPr/>
        </p:nvGrpSpPr>
        <p:grpSpPr bwMode="auto">
          <a:xfrm>
            <a:off x="7493000" y="2992438"/>
            <a:ext cx="1338263" cy="2189162"/>
            <a:chOff x="4704" y="1885"/>
            <a:chExt cx="843" cy="1379"/>
          </a:xfrm>
        </p:grpSpPr>
        <p:sp>
          <p:nvSpPr>
            <p:cNvPr id="4" name="椭圆 105480"/>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5" name="椭圆 105481"/>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椭圆 105482"/>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7" name="椭圆 105483"/>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 name="椭圆 105484"/>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 name="椭圆 105485"/>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 name="椭圆 105486"/>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1" name="椭圆 105487"/>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2" name="椭圆 105488"/>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3" name="椭圆 105489"/>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 name="椭圆 105490"/>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 name="椭圆 105491"/>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 name="椭圆 105492"/>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7" name="椭圆 105493"/>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 name="椭圆 105494"/>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9" name="椭圆 105495"/>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0" name="椭圆 105496"/>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1" name="椭圆 105497"/>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 name="椭圆 105498"/>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3" name="椭圆 105499"/>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4" name="椭圆 105500"/>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5" name="椭圆 105501"/>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6" name="椭圆 105502"/>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7" name="椭圆 105503"/>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8" name="椭圆 105504"/>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9" name="椭圆 105505"/>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0" name="椭圆 105506"/>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1" name="椭圆 105507"/>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 name="椭圆 105508"/>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3" name="椭圆 105509"/>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4" name="椭圆 105510"/>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sp>
        <p:nvSpPr>
          <p:cNvPr id="35" name="直接连接符 105511"/>
          <p:cNvSpPr>
            <a:spLocks noChangeShapeType="1"/>
          </p:cNvSpPr>
          <p:nvPr/>
        </p:nvSpPr>
        <p:spPr bwMode="auto">
          <a:xfrm>
            <a:off x="304800" y="2819400"/>
            <a:ext cx="8229600"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475" name="标题 105474"/>
          <p:cNvSpPr>
            <a:spLocks noGrp="1"/>
          </p:cNvSpPr>
          <p:nvPr>
            <p:ph type="ctrTitle"/>
          </p:nvPr>
        </p:nvSpPr>
        <p:spPr>
          <a:xfrm>
            <a:off x="315913" y="466725"/>
            <a:ext cx="6781800" cy="2133600"/>
          </a:xfrm>
          <a:prstGeom prst="rect">
            <a:avLst/>
          </a:prstGeom>
          <a:noFill/>
          <a:ln w="9525">
            <a:noFill/>
            <a:miter/>
          </a:ln>
        </p:spPr>
        <p:txBody>
          <a:bodyPr/>
          <a:lstStyle>
            <a:lvl1pPr lvl="0" algn="r">
              <a:defRPr sz="4800" kern="1200"/>
            </a:lvl1pPr>
          </a:lstStyle>
          <a:p>
            <a:pPr lvl="0"/>
            <a:r>
              <a:rPr lang="zh-CN" altLang="en-US" noProof="1"/>
              <a:t>单击此处编辑母版标题样式</a:t>
            </a:r>
            <a:endParaRPr lang="zh-CN" altLang="en-US" noProof="1"/>
          </a:p>
        </p:txBody>
      </p:sp>
      <p:sp>
        <p:nvSpPr>
          <p:cNvPr id="105476" name="副标题 105475"/>
          <p:cNvSpPr>
            <a:spLocks noGrp="1"/>
          </p:cNvSpPr>
          <p:nvPr>
            <p:ph type="subTitle" idx="1"/>
          </p:nvPr>
        </p:nvSpPr>
        <p:spPr>
          <a:xfrm>
            <a:off x="849313" y="3049588"/>
            <a:ext cx="6248400" cy="2362200"/>
          </a:xfrm>
          <a:prstGeom prst="rect">
            <a:avLst/>
          </a:prstGeom>
          <a:noFill/>
          <a:ln w="9525">
            <a:noFill/>
            <a:miter/>
          </a:ln>
        </p:spPr>
        <p:txBody>
          <a:bodyPr/>
          <a:lstStyle>
            <a:lvl1pPr marL="0" lvl="0" indent="0" algn="r">
              <a:buNone/>
              <a:defRPr sz="3200" kern="1200"/>
            </a:lvl1pPr>
            <a:lvl2pPr marL="344805" lvl="1" indent="-344805" algn="ctr">
              <a:buNone/>
              <a:defRPr sz="3200" kern="1200"/>
            </a:lvl2pPr>
            <a:lvl3pPr marL="694055" lvl="2" indent="-694055" algn="ctr">
              <a:buNone/>
              <a:defRPr sz="3200" kern="1200"/>
            </a:lvl3pPr>
            <a:lvl4pPr marL="989330" lvl="3" indent="-989330" algn="ctr">
              <a:buNone/>
              <a:defRPr sz="3200" kern="1200"/>
            </a:lvl4pPr>
            <a:lvl5pPr marL="1282700" lvl="4" indent="-1282700" algn="ctr">
              <a:buNone/>
              <a:defRPr sz="3200" kern="1200"/>
            </a:lvl5pPr>
          </a:lstStyle>
          <a:p>
            <a:pPr lvl="0"/>
            <a:r>
              <a:rPr lang="zh-CN" altLang="en-US" noProof="1"/>
              <a:t>单击此处编辑母版副标题样式</a:t>
            </a:r>
            <a:endParaRPr lang="zh-CN" altLang="en-US" noProof="1"/>
          </a:p>
        </p:txBody>
      </p:sp>
      <p:sp>
        <p:nvSpPr>
          <p:cNvPr id="36" name="日期占位符 105476"/>
          <p:cNvSpPr>
            <a:spLocks noGrp="1"/>
          </p:cNvSpPr>
          <p:nvPr>
            <p:ph type="dt" sz="half" idx="10"/>
          </p:nvPr>
        </p:nvSpPr>
        <p:spPr/>
        <p:txBody>
          <a:bodyPr anchor="t"/>
          <a:lstStyle>
            <a:lvl1pPr>
              <a:defRPr/>
            </a:lvl1pPr>
          </a:lstStyle>
          <a:p>
            <a:endParaRPr lang="zh-CN" altLang="en-US"/>
          </a:p>
        </p:txBody>
      </p:sp>
      <p:sp>
        <p:nvSpPr>
          <p:cNvPr id="37" name="页脚占位符 105477"/>
          <p:cNvSpPr>
            <a:spLocks noGrp="1"/>
          </p:cNvSpPr>
          <p:nvPr>
            <p:ph type="ftr" sz="quarter" idx="11"/>
          </p:nvPr>
        </p:nvSpPr>
        <p:spPr/>
        <p:txBody>
          <a:bodyPr anchor="t"/>
          <a:lstStyle>
            <a:lvl1pPr>
              <a:defRPr/>
            </a:lvl1pPr>
          </a:lstStyle>
          <a:p>
            <a:endParaRPr lang="zh-CN"/>
          </a:p>
        </p:txBody>
      </p:sp>
      <p:sp>
        <p:nvSpPr>
          <p:cNvPr id="38" name="灯片编号占位符 105478"/>
          <p:cNvSpPr>
            <a:spLocks noGrp="1"/>
          </p:cNvSpPr>
          <p:nvPr>
            <p:ph type="sldNum" sz="quarter" idx="12"/>
          </p:nvPr>
        </p:nvSpPr>
        <p:spPr/>
        <p:txBody>
          <a:bodyPr/>
          <a:lstStyle>
            <a:lvl1pPr>
              <a:defRPr/>
            </a:lvl1pPr>
          </a:lstStyle>
          <a:p>
            <a:fld id="{612E8034-41F1-4310-A070-D8DD7968E2E5}" type="slidenum">
              <a:rPr lang="zh-CN" altLang="zh-CN"/>
            </a:fld>
            <a:endParaRPr lang="zh-CN" altLang="zh-CN"/>
          </a:p>
        </p:txBody>
      </p:sp>
    </p:spTree>
  </p:cSld>
  <p:clrMapOvr>
    <a:masterClrMapping/>
  </p:clrMapOvr>
  <p:transition spd="slow">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4452"/>
          <p:cNvSpPr>
            <a:spLocks noGrp="1"/>
          </p:cNvSpPr>
          <p:nvPr>
            <p:ph type="dt" sz="half" idx="10"/>
          </p:nvPr>
        </p:nvSpPr>
        <p:spPr/>
        <p:txBody>
          <a:bodyPr/>
          <a:lstStyle>
            <a:lvl1pPr>
              <a:defRPr/>
            </a:lvl1pPr>
          </a:lstStyle>
          <a:p>
            <a:endParaRPr lang="zh-CN" altLang="en-US"/>
          </a:p>
        </p:txBody>
      </p:sp>
      <p:sp>
        <p:nvSpPr>
          <p:cNvPr id="5" name="页脚占位符 104453"/>
          <p:cNvSpPr>
            <a:spLocks noGrp="1"/>
          </p:cNvSpPr>
          <p:nvPr>
            <p:ph type="ftr" sz="quarter" idx="11"/>
          </p:nvPr>
        </p:nvSpPr>
        <p:spPr/>
        <p:txBody>
          <a:bodyPr/>
          <a:lstStyle>
            <a:lvl1pPr>
              <a:defRPr/>
            </a:lvl1pPr>
          </a:lstStyle>
          <a:p>
            <a:endParaRPr lang="zh-CN"/>
          </a:p>
        </p:txBody>
      </p:sp>
      <p:sp>
        <p:nvSpPr>
          <p:cNvPr id="6" name="灯片编号占位符 104454"/>
          <p:cNvSpPr>
            <a:spLocks noGrp="1"/>
          </p:cNvSpPr>
          <p:nvPr>
            <p:ph type="sldNum" sz="quarter" idx="12"/>
          </p:nvPr>
        </p:nvSpPr>
        <p:spPr/>
        <p:txBody>
          <a:bodyPr/>
          <a:lstStyle>
            <a:lvl1pPr>
              <a:defRPr/>
            </a:lvl1pPr>
          </a:lstStyle>
          <a:p>
            <a:fld id="{20E4B2F4-D853-46AD-A7A3-D0D0A4D04475}" type="slidenum">
              <a:rPr lang="zh-CN" altLang="zh-CN"/>
            </a:fld>
            <a:endParaRPr lang="zh-CN" altLang="zh-CN"/>
          </a:p>
        </p:txBody>
      </p:sp>
    </p:spTree>
  </p:cSld>
  <p:clrMapOvr>
    <a:masterClrMapping/>
  </p:clrMapOvr>
  <p:transition spd="slow">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104452"/>
          <p:cNvSpPr>
            <a:spLocks noGrp="1"/>
          </p:cNvSpPr>
          <p:nvPr>
            <p:ph type="dt" sz="half" idx="10"/>
          </p:nvPr>
        </p:nvSpPr>
        <p:spPr/>
        <p:txBody>
          <a:bodyPr/>
          <a:lstStyle>
            <a:lvl1pPr>
              <a:defRPr/>
            </a:lvl1pPr>
          </a:lstStyle>
          <a:p>
            <a:endParaRPr lang="zh-CN" altLang="en-US"/>
          </a:p>
        </p:txBody>
      </p:sp>
      <p:sp>
        <p:nvSpPr>
          <p:cNvPr id="5" name="页脚占位符 104453"/>
          <p:cNvSpPr>
            <a:spLocks noGrp="1"/>
          </p:cNvSpPr>
          <p:nvPr>
            <p:ph type="ftr" sz="quarter" idx="11"/>
          </p:nvPr>
        </p:nvSpPr>
        <p:spPr/>
        <p:txBody>
          <a:bodyPr/>
          <a:lstStyle>
            <a:lvl1pPr>
              <a:defRPr/>
            </a:lvl1pPr>
          </a:lstStyle>
          <a:p>
            <a:endParaRPr lang="zh-CN"/>
          </a:p>
        </p:txBody>
      </p:sp>
      <p:sp>
        <p:nvSpPr>
          <p:cNvPr id="6" name="灯片编号占位符 104454"/>
          <p:cNvSpPr>
            <a:spLocks noGrp="1"/>
          </p:cNvSpPr>
          <p:nvPr>
            <p:ph type="sldNum" sz="quarter" idx="12"/>
          </p:nvPr>
        </p:nvSpPr>
        <p:spPr/>
        <p:txBody>
          <a:bodyPr/>
          <a:lstStyle>
            <a:lvl1pPr>
              <a:defRPr/>
            </a:lvl1pPr>
          </a:lstStyle>
          <a:p>
            <a:fld id="{916E2238-2EF7-4B0B-ACE4-8A02D15D4121}" type="slidenum">
              <a:rPr lang="zh-CN" altLang="zh-CN"/>
            </a:fld>
            <a:endParaRPr lang="zh-CN" altLang="zh-CN"/>
          </a:p>
        </p:txBody>
      </p:sp>
    </p:spTree>
  </p:cSld>
  <p:clrMapOvr>
    <a:masterClrMapping/>
  </p:clrMapOvr>
  <p:transition spd="slow">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719263"/>
            <a:ext cx="4032504" cy="44116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54296" y="1719263"/>
            <a:ext cx="4032504" cy="441166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104452"/>
          <p:cNvSpPr>
            <a:spLocks noGrp="1"/>
          </p:cNvSpPr>
          <p:nvPr>
            <p:ph type="dt" sz="half" idx="10"/>
          </p:nvPr>
        </p:nvSpPr>
        <p:spPr/>
        <p:txBody>
          <a:bodyPr/>
          <a:lstStyle>
            <a:lvl1pPr>
              <a:defRPr/>
            </a:lvl1pPr>
          </a:lstStyle>
          <a:p>
            <a:endParaRPr lang="zh-CN" altLang="en-US"/>
          </a:p>
        </p:txBody>
      </p:sp>
      <p:sp>
        <p:nvSpPr>
          <p:cNvPr id="6" name="页脚占位符 104453"/>
          <p:cNvSpPr>
            <a:spLocks noGrp="1"/>
          </p:cNvSpPr>
          <p:nvPr>
            <p:ph type="ftr" sz="quarter" idx="11"/>
          </p:nvPr>
        </p:nvSpPr>
        <p:spPr/>
        <p:txBody>
          <a:bodyPr/>
          <a:lstStyle>
            <a:lvl1pPr>
              <a:defRPr/>
            </a:lvl1pPr>
          </a:lstStyle>
          <a:p>
            <a:endParaRPr lang="zh-CN"/>
          </a:p>
        </p:txBody>
      </p:sp>
      <p:sp>
        <p:nvSpPr>
          <p:cNvPr id="7" name="灯片编号占位符 104454"/>
          <p:cNvSpPr>
            <a:spLocks noGrp="1"/>
          </p:cNvSpPr>
          <p:nvPr>
            <p:ph type="sldNum" sz="quarter" idx="12"/>
          </p:nvPr>
        </p:nvSpPr>
        <p:spPr/>
        <p:txBody>
          <a:bodyPr/>
          <a:lstStyle>
            <a:lvl1pPr>
              <a:defRPr/>
            </a:lvl1pPr>
          </a:lstStyle>
          <a:p>
            <a:fld id="{D4E15139-D956-41A3-85D0-B31EAE41BA0A}" type="slidenum">
              <a:rPr lang="zh-CN" altLang="zh-CN"/>
            </a:fld>
            <a:endParaRPr lang="zh-CN" altLang="zh-CN"/>
          </a:p>
        </p:txBody>
      </p:sp>
    </p:spTree>
  </p:cSld>
  <p:clrMapOvr>
    <a:masterClrMapping/>
  </p:clrMapOvr>
  <p:transition spd="slow">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29841" y="2505075"/>
            <a:ext cx="3868340"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2505075"/>
            <a:ext cx="3887391"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104452"/>
          <p:cNvSpPr>
            <a:spLocks noGrp="1"/>
          </p:cNvSpPr>
          <p:nvPr>
            <p:ph type="dt" sz="half" idx="10"/>
          </p:nvPr>
        </p:nvSpPr>
        <p:spPr/>
        <p:txBody>
          <a:bodyPr/>
          <a:lstStyle>
            <a:lvl1pPr>
              <a:defRPr/>
            </a:lvl1pPr>
          </a:lstStyle>
          <a:p>
            <a:endParaRPr lang="zh-CN" altLang="en-US"/>
          </a:p>
        </p:txBody>
      </p:sp>
      <p:sp>
        <p:nvSpPr>
          <p:cNvPr id="8" name="页脚占位符 104453"/>
          <p:cNvSpPr>
            <a:spLocks noGrp="1"/>
          </p:cNvSpPr>
          <p:nvPr>
            <p:ph type="ftr" sz="quarter" idx="11"/>
          </p:nvPr>
        </p:nvSpPr>
        <p:spPr/>
        <p:txBody>
          <a:bodyPr/>
          <a:lstStyle>
            <a:lvl1pPr>
              <a:defRPr/>
            </a:lvl1pPr>
          </a:lstStyle>
          <a:p>
            <a:endParaRPr lang="zh-CN"/>
          </a:p>
        </p:txBody>
      </p:sp>
      <p:sp>
        <p:nvSpPr>
          <p:cNvPr id="9" name="灯片编号占位符 104454"/>
          <p:cNvSpPr>
            <a:spLocks noGrp="1"/>
          </p:cNvSpPr>
          <p:nvPr>
            <p:ph type="sldNum" sz="quarter" idx="12"/>
          </p:nvPr>
        </p:nvSpPr>
        <p:spPr/>
        <p:txBody>
          <a:bodyPr/>
          <a:lstStyle>
            <a:lvl1pPr>
              <a:defRPr/>
            </a:lvl1pPr>
          </a:lstStyle>
          <a:p>
            <a:fld id="{3DFAE06E-3552-42B7-9DA3-A225D46EE7C4}" type="slidenum">
              <a:rPr lang="zh-CN" altLang="zh-CN"/>
            </a:fld>
            <a:endParaRPr lang="zh-CN" altLang="zh-CN"/>
          </a:p>
        </p:txBody>
      </p:sp>
    </p:spTree>
  </p:cSld>
  <p:clrMapOvr>
    <a:masterClrMapping/>
  </p:clrMapOvr>
  <p:transition spd="slow">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104452"/>
          <p:cNvSpPr>
            <a:spLocks noGrp="1"/>
          </p:cNvSpPr>
          <p:nvPr>
            <p:ph type="dt" sz="half" idx="10"/>
          </p:nvPr>
        </p:nvSpPr>
        <p:spPr/>
        <p:txBody>
          <a:bodyPr/>
          <a:lstStyle>
            <a:lvl1pPr>
              <a:defRPr/>
            </a:lvl1pPr>
          </a:lstStyle>
          <a:p>
            <a:endParaRPr lang="zh-CN" altLang="en-US"/>
          </a:p>
        </p:txBody>
      </p:sp>
      <p:sp>
        <p:nvSpPr>
          <p:cNvPr id="4" name="页脚占位符 104453"/>
          <p:cNvSpPr>
            <a:spLocks noGrp="1"/>
          </p:cNvSpPr>
          <p:nvPr>
            <p:ph type="ftr" sz="quarter" idx="11"/>
          </p:nvPr>
        </p:nvSpPr>
        <p:spPr/>
        <p:txBody>
          <a:bodyPr/>
          <a:lstStyle>
            <a:lvl1pPr>
              <a:defRPr/>
            </a:lvl1pPr>
          </a:lstStyle>
          <a:p>
            <a:endParaRPr lang="zh-CN"/>
          </a:p>
        </p:txBody>
      </p:sp>
      <p:sp>
        <p:nvSpPr>
          <p:cNvPr id="5" name="灯片编号占位符 104454"/>
          <p:cNvSpPr>
            <a:spLocks noGrp="1"/>
          </p:cNvSpPr>
          <p:nvPr>
            <p:ph type="sldNum" sz="quarter" idx="12"/>
          </p:nvPr>
        </p:nvSpPr>
        <p:spPr/>
        <p:txBody>
          <a:bodyPr/>
          <a:lstStyle>
            <a:lvl1pPr>
              <a:defRPr/>
            </a:lvl1pPr>
          </a:lstStyle>
          <a:p>
            <a:fld id="{EA7DBD90-C232-4632-BFFD-965CC1E72135}" type="slidenum">
              <a:rPr lang="zh-CN" altLang="zh-CN"/>
            </a:fld>
            <a:endParaRPr lang="zh-CN" altLang="zh-CN"/>
          </a:p>
        </p:txBody>
      </p:sp>
    </p:spTree>
  </p:cSld>
  <p:clrMapOvr>
    <a:masterClrMapping/>
  </p:clrMapOvr>
  <p:transition spd="slow">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04452"/>
          <p:cNvSpPr>
            <a:spLocks noGrp="1"/>
          </p:cNvSpPr>
          <p:nvPr>
            <p:ph type="dt" sz="half" idx="10"/>
          </p:nvPr>
        </p:nvSpPr>
        <p:spPr/>
        <p:txBody>
          <a:bodyPr/>
          <a:lstStyle>
            <a:lvl1pPr>
              <a:defRPr/>
            </a:lvl1pPr>
          </a:lstStyle>
          <a:p>
            <a:endParaRPr lang="zh-CN" altLang="en-US"/>
          </a:p>
        </p:txBody>
      </p:sp>
      <p:sp>
        <p:nvSpPr>
          <p:cNvPr id="3" name="页脚占位符 104453"/>
          <p:cNvSpPr>
            <a:spLocks noGrp="1"/>
          </p:cNvSpPr>
          <p:nvPr>
            <p:ph type="ftr" sz="quarter" idx="11"/>
          </p:nvPr>
        </p:nvSpPr>
        <p:spPr/>
        <p:txBody>
          <a:bodyPr/>
          <a:lstStyle>
            <a:lvl1pPr>
              <a:defRPr/>
            </a:lvl1pPr>
          </a:lstStyle>
          <a:p>
            <a:endParaRPr lang="zh-CN"/>
          </a:p>
        </p:txBody>
      </p:sp>
      <p:sp>
        <p:nvSpPr>
          <p:cNvPr id="4" name="灯片编号占位符 104454"/>
          <p:cNvSpPr>
            <a:spLocks noGrp="1"/>
          </p:cNvSpPr>
          <p:nvPr>
            <p:ph type="sldNum" sz="quarter" idx="12"/>
          </p:nvPr>
        </p:nvSpPr>
        <p:spPr/>
        <p:txBody>
          <a:bodyPr/>
          <a:lstStyle>
            <a:lvl1pPr>
              <a:defRPr/>
            </a:lvl1pPr>
          </a:lstStyle>
          <a:p>
            <a:fld id="{16C96EBD-1B54-4F89-8E70-C4A71A0C3DA6}" type="slidenum">
              <a:rPr lang="zh-CN" altLang="zh-CN"/>
            </a:fld>
            <a:endParaRPr lang="zh-CN" altLang="zh-CN"/>
          </a:p>
        </p:txBody>
      </p:sp>
    </p:spTree>
  </p:cSld>
  <p:clrMapOvr>
    <a:masterClrMapping/>
  </p:clrMapOvr>
  <p:transition spd="slow">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5" name="日期占位符 104452"/>
          <p:cNvSpPr>
            <a:spLocks noGrp="1"/>
          </p:cNvSpPr>
          <p:nvPr>
            <p:ph type="dt" sz="half" idx="10"/>
          </p:nvPr>
        </p:nvSpPr>
        <p:spPr/>
        <p:txBody>
          <a:bodyPr/>
          <a:lstStyle>
            <a:lvl1pPr>
              <a:defRPr/>
            </a:lvl1pPr>
          </a:lstStyle>
          <a:p>
            <a:endParaRPr lang="zh-CN" altLang="en-US"/>
          </a:p>
        </p:txBody>
      </p:sp>
      <p:sp>
        <p:nvSpPr>
          <p:cNvPr id="6" name="页脚占位符 104453"/>
          <p:cNvSpPr>
            <a:spLocks noGrp="1"/>
          </p:cNvSpPr>
          <p:nvPr>
            <p:ph type="ftr" sz="quarter" idx="11"/>
          </p:nvPr>
        </p:nvSpPr>
        <p:spPr/>
        <p:txBody>
          <a:bodyPr/>
          <a:lstStyle>
            <a:lvl1pPr>
              <a:defRPr/>
            </a:lvl1pPr>
          </a:lstStyle>
          <a:p>
            <a:endParaRPr lang="zh-CN"/>
          </a:p>
        </p:txBody>
      </p:sp>
      <p:sp>
        <p:nvSpPr>
          <p:cNvPr id="7" name="灯片编号占位符 104454"/>
          <p:cNvSpPr>
            <a:spLocks noGrp="1"/>
          </p:cNvSpPr>
          <p:nvPr>
            <p:ph type="sldNum" sz="quarter" idx="12"/>
          </p:nvPr>
        </p:nvSpPr>
        <p:spPr/>
        <p:txBody>
          <a:bodyPr/>
          <a:lstStyle>
            <a:lvl1pPr>
              <a:defRPr/>
            </a:lvl1pPr>
          </a:lstStyle>
          <a:p>
            <a:fld id="{63ECA1FB-7BD2-4A50-82A5-312335151D68}" type="slidenum">
              <a:rPr lang="zh-CN" altLang="zh-CN"/>
            </a:fld>
            <a:endParaRPr lang="zh-CN" altLang="zh-CN"/>
          </a:p>
        </p:txBody>
      </p:sp>
    </p:spTree>
  </p:cSld>
  <p:clrMapOvr>
    <a:masterClrMapping/>
  </p:clrMapOvr>
  <p:transition spd="slow">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5" name="日期占位符 104452"/>
          <p:cNvSpPr>
            <a:spLocks noGrp="1"/>
          </p:cNvSpPr>
          <p:nvPr>
            <p:ph type="dt" sz="half" idx="10"/>
          </p:nvPr>
        </p:nvSpPr>
        <p:spPr/>
        <p:txBody>
          <a:bodyPr/>
          <a:lstStyle>
            <a:lvl1pPr>
              <a:defRPr/>
            </a:lvl1pPr>
          </a:lstStyle>
          <a:p>
            <a:endParaRPr lang="zh-CN" altLang="en-US"/>
          </a:p>
        </p:txBody>
      </p:sp>
      <p:sp>
        <p:nvSpPr>
          <p:cNvPr id="6" name="页脚占位符 104453"/>
          <p:cNvSpPr>
            <a:spLocks noGrp="1"/>
          </p:cNvSpPr>
          <p:nvPr>
            <p:ph type="ftr" sz="quarter" idx="11"/>
          </p:nvPr>
        </p:nvSpPr>
        <p:spPr/>
        <p:txBody>
          <a:bodyPr/>
          <a:lstStyle>
            <a:lvl1pPr>
              <a:defRPr/>
            </a:lvl1pPr>
          </a:lstStyle>
          <a:p>
            <a:endParaRPr lang="zh-CN"/>
          </a:p>
        </p:txBody>
      </p:sp>
      <p:sp>
        <p:nvSpPr>
          <p:cNvPr id="7" name="灯片编号占位符 104454"/>
          <p:cNvSpPr>
            <a:spLocks noGrp="1"/>
          </p:cNvSpPr>
          <p:nvPr>
            <p:ph type="sldNum" sz="quarter" idx="12"/>
          </p:nvPr>
        </p:nvSpPr>
        <p:spPr/>
        <p:txBody>
          <a:bodyPr/>
          <a:lstStyle>
            <a:lvl1pPr>
              <a:defRPr/>
            </a:lvl1pPr>
          </a:lstStyle>
          <a:p>
            <a:fld id="{BF9D2841-413E-4386-89AE-07C4D05E72B7}" type="slidenum">
              <a:rPr lang="zh-CN" altLang="zh-CN"/>
            </a:fld>
            <a:endParaRPr lang="zh-CN" altLang="zh-CN"/>
          </a:p>
        </p:txBody>
      </p:sp>
    </p:spTree>
  </p:cSld>
  <p:clrMapOvr>
    <a:masterClrMapping/>
  </p:clrMapOvr>
  <p:transition spd="slow">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4452"/>
          <p:cNvSpPr>
            <a:spLocks noGrp="1"/>
          </p:cNvSpPr>
          <p:nvPr>
            <p:ph type="dt" sz="half" idx="10"/>
          </p:nvPr>
        </p:nvSpPr>
        <p:spPr/>
        <p:txBody>
          <a:bodyPr/>
          <a:lstStyle>
            <a:lvl1pPr>
              <a:defRPr/>
            </a:lvl1pPr>
          </a:lstStyle>
          <a:p>
            <a:endParaRPr lang="zh-CN" altLang="en-US"/>
          </a:p>
        </p:txBody>
      </p:sp>
      <p:sp>
        <p:nvSpPr>
          <p:cNvPr id="5" name="页脚占位符 104453"/>
          <p:cNvSpPr>
            <a:spLocks noGrp="1"/>
          </p:cNvSpPr>
          <p:nvPr>
            <p:ph type="ftr" sz="quarter" idx="11"/>
          </p:nvPr>
        </p:nvSpPr>
        <p:spPr/>
        <p:txBody>
          <a:bodyPr/>
          <a:lstStyle>
            <a:lvl1pPr>
              <a:defRPr/>
            </a:lvl1pPr>
          </a:lstStyle>
          <a:p>
            <a:endParaRPr lang="zh-CN"/>
          </a:p>
        </p:txBody>
      </p:sp>
      <p:sp>
        <p:nvSpPr>
          <p:cNvPr id="6" name="灯片编号占位符 104454"/>
          <p:cNvSpPr>
            <a:spLocks noGrp="1"/>
          </p:cNvSpPr>
          <p:nvPr>
            <p:ph type="sldNum" sz="quarter" idx="12"/>
          </p:nvPr>
        </p:nvSpPr>
        <p:spPr/>
        <p:txBody>
          <a:bodyPr/>
          <a:lstStyle>
            <a:lvl1pPr>
              <a:defRPr/>
            </a:lvl1pPr>
          </a:lstStyle>
          <a:p>
            <a:fld id="{41AACE01-ECAF-4C25-AF02-D0F815622929}" type="slidenum">
              <a:rPr lang="zh-CN" altLang="zh-CN"/>
            </a:fld>
            <a:endParaRPr lang="zh-CN" altLang="zh-CN"/>
          </a:p>
        </p:txBody>
      </p:sp>
    </p:spTree>
  </p:cSld>
  <p:clrMapOvr>
    <a:masterClrMapping/>
  </p:clrMapOvr>
  <p:transition spd="slow">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122238"/>
            <a:ext cx="6052930" cy="600868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104452"/>
          <p:cNvSpPr>
            <a:spLocks noGrp="1"/>
          </p:cNvSpPr>
          <p:nvPr>
            <p:ph type="dt" sz="half" idx="10"/>
          </p:nvPr>
        </p:nvSpPr>
        <p:spPr/>
        <p:txBody>
          <a:bodyPr/>
          <a:lstStyle>
            <a:lvl1pPr>
              <a:defRPr/>
            </a:lvl1pPr>
          </a:lstStyle>
          <a:p>
            <a:endParaRPr lang="zh-CN" altLang="en-US"/>
          </a:p>
        </p:txBody>
      </p:sp>
      <p:sp>
        <p:nvSpPr>
          <p:cNvPr id="5" name="页脚占位符 104453"/>
          <p:cNvSpPr>
            <a:spLocks noGrp="1"/>
          </p:cNvSpPr>
          <p:nvPr>
            <p:ph type="ftr" sz="quarter" idx="11"/>
          </p:nvPr>
        </p:nvSpPr>
        <p:spPr/>
        <p:txBody>
          <a:bodyPr/>
          <a:lstStyle>
            <a:lvl1pPr>
              <a:defRPr/>
            </a:lvl1pPr>
          </a:lstStyle>
          <a:p>
            <a:endParaRPr lang="zh-CN"/>
          </a:p>
        </p:txBody>
      </p:sp>
      <p:sp>
        <p:nvSpPr>
          <p:cNvPr id="6" name="灯片编号占位符 104454"/>
          <p:cNvSpPr>
            <a:spLocks noGrp="1"/>
          </p:cNvSpPr>
          <p:nvPr>
            <p:ph type="sldNum" sz="quarter" idx="12"/>
          </p:nvPr>
        </p:nvSpPr>
        <p:spPr/>
        <p:txBody>
          <a:bodyPr/>
          <a:lstStyle>
            <a:lvl1pPr>
              <a:defRPr/>
            </a:lvl1pPr>
          </a:lstStyle>
          <a:p>
            <a:fld id="{402C6694-6C85-4117-ADC6-1E3262AF6119}" type="slidenum">
              <a:rPr lang="zh-CN" altLang="zh-CN"/>
            </a:fld>
            <a:endParaRPr lang="zh-CN" altLang="zh-CN"/>
          </a:p>
        </p:txBody>
      </p:sp>
    </p:spTree>
  </p:cSld>
  <p:clrMapOvr>
    <a:masterClrMapping/>
  </p:clrMapOvr>
  <p:transition spd="slow">
    <p:pull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showMasterSp="0" userDrawn="1">
  <p:cSld name="1_标题幻灯片">
    <p:bg>
      <p:bgPr>
        <a:solidFill>
          <a:srgbClr val="00002E"/>
        </a:solidFill>
        <a:effectLst/>
      </p:bgPr>
    </p:bg>
    <p:spTree>
      <p:nvGrpSpPr>
        <p:cNvPr id="1" name=""/>
        <p:cNvGrpSpPr/>
        <p:nvPr/>
      </p:nvGrpSpPr>
      <p:grpSpPr>
        <a:xfrm>
          <a:off x="0" y="0"/>
          <a:ext cx="0" cy="0"/>
          <a:chOff x="0" y="0"/>
          <a:chExt cx="0" cy="0"/>
        </a:xfrm>
      </p:grpSpPr>
      <p:sp>
        <p:nvSpPr>
          <p:cNvPr id="8" name="Freeform 22_1"/>
          <p:cNvSpPr>
            <a:spLocks noChangeArrowheads="1"/>
          </p:cNvSpPr>
          <p:nvPr userDrawn="1"/>
        </p:nvSpPr>
        <p:spPr bwMode="auto">
          <a:xfrm>
            <a:off x="0"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68580" tIns="34290" rIns="68580" bIns="34290" numCol="1" anchor="t" anchorCtr="0" compatLnSpc="1">
            <a:noAutofit/>
          </a:bodyPr>
          <a:lstStyle/>
          <a:p>
            <a:endParaRPr lang="zh-CN" altLang="en-US"/>
          </a:p>
        </p:txBody>
      </p:sp>
      <p:sp>
        <p:nvSpPr>
          <p:cNvPr id="23" name="任意多边形: 形状 22"/>
          <p:cNvSpPr>
            <a:spLocks noChangeArrowheads="1"/>
          </p:cNvSpPr>
          <p:nvPr userDrawn="1"/>
        </p:nvSpPr>
        <p:spPr bwMode="auto">
          <a:xfrm>
            <a:off x="-596"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68580" tIns="34290" rIns="68580" bIns="34290" numCol="1" anchor="t" anchorCtr="0" compatLnSpc="1">
            <a:noAutofit/>
          </a:bodyPr>
          <a:lstStyle/>
          <a:p>
            <a:endParaRPr lang="zh-CN" altLang="en-US"/>
          </a:p>
        </p:txBody>
      </p:sp>
      <p:sp>
        <p:nvSpPr>
          <p:cNvPr id="20" name="任意多边形: 形状 19"/>
          <p:cNvSpPr/>
          <p:nvPr userDrawn="1"/>
        </p:nvSpPr>
        <p:spPr bwMode="auto">
          <a:xfrm>
            <a:off x="0" y="543510"/>
            <a:ext cx="9144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68580" tIns="34290" rIns="68580" bIns="3429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2" name="文本占位符 13"/>
          <p:cNvSpPr>
            <a:spLocks noGrp="1"/>
          </p:cNvSpPr>
          <p:nvPr userDrawn="1">
            <p:ph type="body" sz="quarter" idx="10" hasCustomPrompt="1"/>
          </p:nvPr>
        </p:nvSpPr>
        <p:spPr>
          <a:xfrm>
            <a:off x="502444" y="5306657"/>
            <a:ext cx="8137922" cy="296271"/>
          </a:xfrm>
        </p:spPr>
        <p:txBody>
          <a:bodyPr vert="horz" anchor="ctr">
            <a:noAutofit/>
          </a:bodyPr>
          <a:lstStyle>
            <a:lvl1pPr marL="0" indent="0" algn="r">
              <a:buNone/>
              <a:defRPr sz="1125" b="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ltLang="zh-CN" dirty="0"/>
              <a:t>Signature</a:t>
            </a:r>
            <a:endParaRPr lang="en-US" altLang="zh-CN" dirty="0"/>
          </a:p>
        </p:txBody>
      </p:sp>
      <p:sp>
        <p:nvSpPr>
          <p:cNvPr id="13" name="文本占位符 13"/>
          <p:cNvSpPr>
            <a:spLocks noGrp="1"/>
          </p:cNvSpPr>
          <p:nvPr userDrawn="1">
            <p:ph type="body" sz="quarter" idx="11" hasCustomPrompt="1"/>
          </p:nvPr>
        </p:nvSpPr>
        <p:spPr>
          <a:xfrm>
            <a:off x="502444" y="5602928"/>
            <a:ext cx="8137922" cy="296271"/>
          </a:xfrm>
        </p:spPr>
        <p:txBody>
          <a:bodyPr vert="horz" anchor="ctr">
            <a:noAutofit/>
          </a:bodyPr>
          <a:lstStyle>
            <a:lvl1pPr marL="0" indent="0" algn="r">
              <a:buNone/>
              <a:defRPr sz="1125" b="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ltLang="zh-CN" dirty="0"/>
              <a:t>Date</a:t>
            </a:r>
            <a:endParaRPr lang="zh-CN" altLang="en-US" dirty="0"/>
          </a:p>
        </p:txBody>
      </p:sp>
      <p:sp>
        <p:nvSpPr>
          <p:cNvPr id="9801" name="副标题 2"/>
          <p:cNvSpPr>
            <a:spLocks noGrp="1"/>
          </p:cNvSpPr>
          <p:nvPr userDrawn="1">
            <p:ph type="subTitle" idx="1"/>
          </p:nvPr>
        </p:nvSpPr>
        <p:spPr>
          <a:xfrm>
            <a:off x="502444" y="4456730"/>
            <a:ext cx="8137922" cy="558799"/>
          </a:xfrm>
        </p:spPr>
        <p:txBody>
          <a:bodyPr anchor="t" anchorCtr="0">
            <a:normAutofit/>
          </a:bodyPr>
          <a:lstStyle>
            <a:lvl1pPr marL="0" indent="0" algn="l">
              <a:buNone/>
              <a:defRPr sz="15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US" dirty="0"/>
          </a:p>
        </p:txBody>
      </p:sp>
      <p:sp>
        <p:nvSpPr>
          <p:cNvPr id="9802" name="标题 1"/>
          <p:cNvSpPr>
            <a:spLocks noGrp="1"/>
          </p:cNvSpPr>
          <p:nvPr userDrawn="1">
            <p:ph type="ctrTitle"/>
          </p:nvPr>
        </p:nvSpPr>
        <p:spPr>
          <a:xfrm>
            <a:off x="502444" y="1028701"/>
            <a:ext cx="8137922" cy="3136900"/>
          </a:xfrm>
        </p:spPr>
        <p:txBody>
          <a:bodyPr anchor="b" anchorCtr="0">
            <a:normAutofit/>
          </a:bodyPr>
          <a:lstStyle>
            <a:lvl1pPr algn="l">
              <a:defRPr sz="3000">
                <a:solidFill>
                  <a:schemeClr val="bg1"/>
                </a:solidFill>
              </a:defRPr>
            </a:lvl1pPr>
          </a:lstStyle>
          <a:p>
            <a:r>
              <a:rPr lang="en-US" dirty="0"/>
              <a:t>Click to edit Master title style</a:t>
            </a:r>
            <a:endParaRPr lang="zh-CN" altLang="en-US" dirty="0"/>
          </a:p>
        </p:txBody>
      </p:sp>
    </p:spTree>
  </p:cSld>
  <p:clrMapOvr>
    <a:overrideClrMapping bg1="lt1" tx1="dk1" bg2="lt2" tx2="dk2" accent1="accent1" accent2="accent2" accent3="accent3" accent4="accent4" accent5="accent5" accent6="accent6" hlink="hlink" folHlink="folHlink"/>
  </p:clrMapOvr>
  <p:transition spd="slow">
    <p:pull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7" name="任意多边形: 形状 6"/>
          <p:cNvSpPr/>
          <p:nvPr userDrawn="1"/>
        </p:nvSpPr>
        <p:spPr>
          <a:xfrm>
            <a:off x="-7143" y="-9524"/>
            <a:ext cx="9165431"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bwMode="auto">
          <a:xfrm flipH="1" flipV="1">
            <a:off x="-914399" y="239311"/>
            <a:ext cx="10058399" cy="801180"/>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68580" tIns="34290" rIns="68580" bIns="34290" numCol="1" anchor="t" anchorCtr="0" compatLnSpc="1">
            <a:noAutofit/>
          </a:bodyPr>
          <a:lstStyle/>
          <a:p>
            <a:endParaRPr lang="zh-CN" altLang="en-US" dirty="0">
              <a:gradFill>
                <a:gsLst>
                  <a:gs pos="100000">
                    <a:schemeClr val="accent3"/>
                  </a:gs>
                  <a:gs pos="0">
                    <a:schemeClr val="accent4"/>
                  </a:gs>
                </a:gsLst>
                <a:lin ang="13500000" scaled="1"/>
              </a:gradFill>
            </a:endParaRPr>
          </a:p>
        </p:txBody>
      </p:sp>
      <p:sp>
        <p:nvSpPr>
          <p:cNvPr id="11" name="任意多边形: 形状 10"/>
          <p:cNvSpPr/>
          <p:nvPr userDrawn="1"/>
        </p:nvSpPr>
        <p:spPr>
          <a:xfrm rot="10800000">
            <a:off x="-21431" y="6321200"/>
            <a:ext cx="9165431" cy="942975"/>
          </a:xfrm>
          <a:custGeom>
            <a:avLst/>
            <a:gdLst>
              <a:gd name="connsiteX0" fmla="*/ 0 w 12220575"/>
              <a:gd name="connsiteY0" fmla="*/ 0 h 942975"/>
              <a:gd name="connsiteX1" fmla="*/ 9525 w 12220575"/>
              <a:gd name="connsiteY1" fmla="*/ 647700 h 942975"/>
              <a:gd name="connsiteX2" fmla="*/ 2686050 w 12220575"/>
              <a:gd name="connsiteY2" fmla="*/ 942975 h 942975"/>
              <a:gd name="connsiteX3" fmla="*/ 5124450 w 12220575"/>
              <a:gd name="connsiteY3" fmla="*/ 923925 h 942975"/>
              <a:gd name="connsiteX4" fmla="*/ 7277100 w 12220575"/>
              <a:gd name="connsiteY4" fmla="*/ 809625 h 942975"/>
              <a:gd name="connsiteX5" fmla="*/ 9296400 w 12220575"/>
              <a:gd name="connsiteY5" fmla="*/ 466725 h 942975"/>
              <a:gd name="connsiteX6" fmla="*/ 11325225 w 12220575"/>
              <a:gd name="connsiteY6" fmla="*/ 314325 h 942975"/>
              <a:gd name="connsiteX7" fmla="*/ 12220575 w 12220575"/>
              <a:gd name="connsiteY7" fmla="*/ 352425 h 942975"/>
              <a:gd name="connsiteX8" fmla="*/ 12182475 w 12220575"/>
              <a:gd name="connsiteY8" fmla="*/ 9525 h 942975"/>
              <a:gd name="connsiteX9" fmla="*/ 0 w 12220575"/>
              <a:gd name="connsiteY9" fmla="*/ 0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20575" h="942975">
                <a:moveTo>
                  <a:pt x="0" y="0"/>
                </a:moveTo>
                <a:lnTo>
                  <a:pt x="9525" y="647700"/>
                </a:lnTo>
                <a:lnTo>
                  <a:pt x="2686050" y="942975"/>
                </a:lnTo>
                <a:lnTo>
                  <a:pt x="5124450" y="923925"/>
                </a:lnTo>
                <a:lnTo>
                  <a:pt x="7277100" y="809625"/>
                </a:lnTo>
                <a:lnTo>
                  <a:pt x="9296400" y="466725"/>
                </a:lnTo>
                <a:lnTo>
                  <a:pt x="11325225" y="314325"/>
                </a:lnTo>
                <a:lnTo>
                  <a:pt x="12220575" y="352425"/>
                </a:lnTo>
                <a:lnTo>
                  <a:pt x="12182475" y="9525"/>
                </a:lnTo>
                <a:lnTo>
                  <a:pt x="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形状 11"/>
          <p:cNvSpPr/>
          <p:nvPr userDrawn="1"/>
        </p:nvSpPr>
        <p:spPr bwMode="auto">
          <a:xfrm>
            <a:off x="-7144" y="6230939"/>
            <a:ext cx="9151144" cy="801179"/>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FF00"/>
              </a:gs>
              <a:gs pos="11000">
                <a:srgbClr val="FFC0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endParaRPr>
          </a:p>
        </p:txBody>
      </p:sp>
      <p:sp>
        <p:nvSpPr>
          <p:cNvPr id="2" name="文本框 1"/>
          <p:cNvSpPr txBox="1"/>
          <p:nvPr userDrawn="1"/>
        </p:nvSpPr>
        <p:spPr>
          <a:xfrm>
            <a:off x="8640366" y="6486466"/>
            <a:ext cx="503634" cy="323165"/>
          </a:xfrm>
          <a:prstGeom prst="rect">
            <a:avLst/>
          </a:prstGeom>
          <a:noFill/>
        </p:spPr>
        <p:txBody>
          <a:bodyPr wrap="square" rtlCol="0">
            <a:spAutoFit/>
          </a:bodyPr>
          <a:lstStyle/>
          <a:p>
            <a:pPr algn="ctr"/>
            <a:fld id="{379552D3-A968-4710-B841-1063F5B640DF}" type="slidenum">
              <a:rPr lang="zh-CN" altLang="en-US" sz="1500" b="1" smtClean="0">
                <a:solidFill>
                  <a:schemeClr val="accent2">
                    <a:lumMod val="50000"/>
                  </a:schemeClr>
                </a:solidFill>
              </a:rPr>
            </a:fld>
            <a:endParaRPr lang="zh-CN" altLang="en-US" b="1" dirty="0">
              <a:solidFill>
                <a:schemeClr val="accent2">
                  <a:lumMod val="50000"/>
                </a:schemeClr>
              </a:solidFill>
            </a:endParaRP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00807" y="24187"/>
            <a:ext cx="395288" cy="527050"/>
          </a:xfrm>
          <a:prstGeom prst="rect">
            <a:avLst/>
          </a:prstGeom>
        </p:spPr>
      </p:pic>
    </p:spTree>
  </p:cSld>
  <p:clrMapOvr>
    <a:masterClrMapping/>
  </p:clrMapOvr>
  <p:transition spd="slow">
    <p:pull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lvl="0" fontAlgn="base"/>
            <a:endParaRPr lang="zh-CN" altLang="en-US" strike="noStrike" noProof="1"/>
          </a:p>
        </p:txBody>
      </p:sp>
      <p:sp>
        <p:nvSpPr>
          <p:cNvPr id="6" name="页脚占位符 5"/>
          <p:cNvSpPr>
            <a:spLocks noGrp="1"/>
          </p:cNvSpPr>
          <p:nvPr>
            <p:ph type="ftr" sz="quarter" idx="11"/>
          </p:nvPr>
        </p:nvSpPr>
        <p:spPr/>
        <p:txBody>
          <a:bodyPr/>
          <a:lstStyle/>
          <a:p>
            <a:pPr lvl="0" fontAlgn="base"/>
            <a:endParaRPr lang="zh-CN" strike="noStrike" noProof="1"/>
          </a:p>
        </p:txBody>
      </p:sp>
      <p:sp>
        <p:nvSpPr>
          <p:cNvPr id="7" name="灯片编号占位符 6"/>
          <p:cNvSpPr>
            <a:spLocks noGrp="1"/>
          </p:cNvSpPr>
          <p:nvPr>
            <p:ph type="sldNum" sz="quarter" idx="12"/>
          </p:nvPr>
        </p:nvSpPr>
        <p:spPr/>
        <p:txBody>
          <a:bodyPr/>
          <a:lstStyle/>
          <a:p>
            <a:pPr lvl="0" fontAlgn="base"/>
            <a:fld id="{9A0DB2DC-4C9A-4742-B13C-FB6460FD3503}" type="slidenum">
              <a:rPr lang="en-US" altLang="zh-CN" strike="noStrike" noProof="1" dirty="0">
                <a:latin typeface="Arial" panose="020B0604020202020204" pitchFamily="34" charset="0"/>
                <a:ea typeface="宋体" panose="02010600030101010101" pitchFamily="2" charset="-122"/>
                <a:cs typeface="+mn-ea"/>
              </a:rPr>
            </a:fld>
            <a:endParaRPr lang="zh-CN" strike="noStrike" noProof="1"/>
          </a:p>
        </p:txBody>
      </p:sp>
    </p:spTree>
  </p:cSld>
  <p:clrMapOvr>
    <a:masterClrMapping/>
  </p:clrMapOvr>
  <p:transition spd="slow">
    <p:pull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末尾幻灯片">
    <p:bg>
      <p:bgPr>
        <a:solidFill>
          <a:schemeClr val="accent3"/>
        </a:solidFill>
        <a:effectLst/>
      </p:bgPr>
    </p:bg>
    <p:spTree>
      <p:nvGrpSpPr>
        <p:cNvPr id="1" name=""/>
        <p:cNvGrpSpPr/>
        <p:nvPr/>
      </p:nvGrpSpPr>
      <p:grpSpPr>
        <a:xfrm>
          <a:off x="0" y="0"/>
          <a:ext cx="0" cy="0"/>
          <a:chOff x="0" y="0"/>
          <a:chExt cx="0" cy="0"/>
        </a:xfrm>
      </p:grpSpPr>
      <p:sp>
        <p:nvSpPr>
          <p:cNvPr id="5" name="Freeform 22_1"/>
          <p:cNvSpPr>
            <a:spLocks noChangeArrowheads="1"/>
          </p:cNvSpPr>
          <p:nvPr userDrawn="1"/>
        </p:nvSpPr>
        <p:spPr bwMode="auto">
          <a:xfrm>
            <a:off x="0"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blipFill>
            <a:blip r:embed="rId2">
              <a:duotone>
                <a:schemeClr val="accent2">
                  <a:shade val="45000"/>
                  <a:satMod val="135000"/>
                </a:schemeClr>
                <a:prstClr val="white"/>
              </a:duotone>
            </a:blip>
            <a:srcRect/>
            <a:stretch>
              <a:fillRect t="-28757" b="-15909"/>
            </a:stretch>
          </a:blipFill>
          <a:ln>
            <a:noFill/>
          </a:ln>
        </p:spPr>
        <p:txBody>
          <a:bodyPr vert="horz" wrap="square" lIns="68580" tIns="34290" rIns="68580" bIns="34290" numCol="1" anchor="t" anchorCtr="0" compatLnSpc="1">
            <a:noAutofit/>
          </a:bodyPr>
          <a:lstStyle/>
          <a:p>
            <a:endParaRPr lang="zh-CN" altLang="en-US"/>
          </a:p>
        </p:txBody>
      </p:sp>
      <p:sp>
        <p:nvSpPr>
          <p:cNvPr id="10" name="任意多边形: 形状 9"/>
          <p:cNvSpPr>
            <a:spLocks noChangeArrowheads="1"/>
          </p:cNvSpPr>
          <p:nvPr userDrawn="1"/>
        </p:nvSpPr>
        <p:spPr bwMode="auto">
          <a:xfrm>
            <a:off x="-596" y="1531704"/>
            <a:ext cx="9144000" cy="5326297"/>
          </a:xfrm>
          <a:custGeom>
            <a:avLst/>
            <a:gdLst>
              <a:gd name="connsiteX0" fmla="*/ 7259662 w 12192000"/>
              <a:gd name="connsiteY0" fmla="*/ 57321 h 5381035"/>
              <a:gd name="connsiteX1" fmla="*/ 12192000 w 12192000"/>
              <a:gd name="connsiteY1" fmla="*/ 3668162 h 5381035"/>
              <a:gd name="connsiteX2" fmla="*/ 12192000 w 12192000"/>
              <a:gd name="connsiteY2" fmla="*/ 5381035 h 5381035"/>
              <a:gd name="connsiteX3" fmla="*/ 0 w 12192000"/>
              <a:gd name="connsiteY3" fmla="*/ 5381035 h 5381035"/>
              <a:gd name="connsiteX4" fmla="*/ 0 w 12192000"/>
              <a:gd name="connsiteY4" fmla="*/ 4393412 h 5381035"/>
              <a:gd name="connsiteX5" fmla="*/ 4798 w 12192000"/>
              <a:gd name="connsiteY5" fmla="*/ 4668077 h 5381035"/>
              <a:gd name="connsiteX6" fmla="*/ 3480102 w 12192000"/>
              <a:gd name="connsiteY6" fmla="*/ 3079813 h 5381035"/>
              <a:gd name="connsiteX7" fmla="*/ 6789914 w 12192000"/>
              <a:gd name="connsiteY7" fmla="*/ 82876 h 5381035"/>
              <a:gd name="connsiteX8" fmla="*/ 7259662 w 12192000"/>
              <a:gd name="connsiteY8" fmla="*/ 57321 h 5381035"/>
              <a:gd name="connsiteX9" fmla="*/ 10803922 w 12192000"/>
              <a:gd name="connsiteY9" fmla="*/ 0 h 5381035"/>
              <a:gd name="connsiteX10" fmla="*/ 12192000 w 12192000"/>
              <a:gd name="connsiteY10" fmla="*/ 0 h 5381035"/>
              <a:gd name="connsiteX11" fmla="*/ 12192000 w 12192000"/>
              <a:gd name="connsiteY11" fmla="*/ 1322246 h 5381035"/>
              <a:gd name="connsiteX12" fmla="*/ 10969953 w 12192000"/>
              <a:gd name="connsiteY12" fmla="*/ 120266 h 5381035"/>
              <a:gd name="connsiteX13" fmla="*/ 0 w 12192000"/>
              <a:gd name="connsiteY13" fmla="*/ 0 h 5381035"/>
              <a:gd name="connsiteX14" fmla="*/ 4032282 w 12192000"/>
              <a:gd name="connsiteY14" fmla="*/ 0 h 5381035"/>
              <a:gd name="connsiteX15" fmla="*/ 3968734 w 12192000"/>
              <a:gd name="connsiteY15" fmla="*/ 60350 h 5381035"/>
              <a:gd name="connsiteX16" fmla="*/ 2309846 w 12192000"/>
              <a:gd name="connsiteY16" fmla="*/ 2073351 h 5381035"/>
              <a:gd name="connsiteX17" fmla="*/ 26916 w 12192000"/>
              <a:gd name="connsiteY17" fmla="*/ 3331235 h 5381035"/>
              <a:gd name="connsiteX18" fmla="*/ 0 w 12192000"/>
              <a:gd name="connsiteY18" fmla="*/ 3321905 h 5381035"/>
              <a:gd name="connsiteX0-1" fmla="*/ 7259662 w 12192000"/>
              <a:gd name="connsiteY0-2" fmla="*/ 57321 h 5381035"/>
              <a:gd name="connsiteX1-3" fmla="*/ 12192000 w 12192000"/>
              <a:gd name="connsiteY1-4" fmla="*/ 3668162 h 5381035"/>
              <a:gd name="connsiteX2-5" fmla="*/ 12192000 w 12192000"/>
              <a:gd name="connsiteY2-6" fmla="*/ 5381035 h 5381035"/>
              <a:gd name="connsiteX3-7" fmla="*/ 0 w 12192000"/>
              <a:gd name="connsiteY3-8" fmla="*/ 5381035 h 5381035"/>
              <a:gd name="connsiteX4-9" fmla="*/ 0 w 12192000"/>
              <a:gd name="connsiteY4-10" fmla="*/ 4393412 h 5381035"/>
              <a:gd name="connsiteX5-11" fmla="*/ 4798 w 12192000"/>
              <a:gd name="connsiteY5-12" fmla="*/ 4668077 h 5381035"/>
              <a:gd name="connsiteX6-13" fmla="*/ 3480102 w 12192000"/>
              <a:gd name="connsiteY6-14" fmla="*/ 3079813 h 5381035"/>
              <a:gd name="connsiteX7-15" fmla="*/ 6789914 w 12192000"/>
              <a:gd name="connsiteY7-16" fmla="*/ 82876 h 5381035"/>
              <a:gd name="connsiteX8-17" fmla="*/ 7259662 w 12192000"/>
              <a:gd name="connsiteY8-18" fmla="*/ 57321 h 5381035"/>
              <a:gd name="connsiteX9-19" fmla="*/ 10803922 w 12192000"/>
              <a:gd name="connsiteY9-20" fmla="*/ 0 h 5381035"/>
              <a:gd name="connsiteX10-21" fmla="*/ 12192000 w 12192000"/>
              <a:gd name="connsiteY10-22" fmla="*/ 0 h 5381035"/>
              <a:gd name="connsiteX11-23" fmla="*/ 12192000 w 12192000"/>
              <a:gd name="connsiteY11-24" fmla="*/ 1322246 h 5381035"/>
              <a:gd name="connsiteX12-25" fmla="*/ 10969953 w 12192000"/>
              <a:gd name="connsiteY12-26" fmla="*/ 120266 h 5381035"/>
              <a:gd name="connsiteX13-27" fmla="*/ 10803922 w 12192000"/>
              <a:gd name="connsiteY13-28" fmla="*/ 0 h 5381035"/>
              <a:gd name="connsiteX14-29" fmla="*/ 0 w 12192000"/>
              <a:gd name="connsiteY14-30" fmla="*/ 3321905 h 5381035"/>
              <a:gd name="connsiteX15-31" fmla="*/ 4032282 w 12192000"/>
              <a:gd name="connsiteY15-32" fmla="*/ 0 h 5381035"/>
              <a:gd name="connsiteX16-33" fmla="*/ 3968734 w 12192000"/>
              <a:gd name="connsiteY16-34" fmla="*/ 60350 h 5381035"/>
              <a:gd name="connsiteX17-35" fmla="*/ 2309846 w 12192000"/>
              <a:gd name="connsiteY17-36" fmla="*/ 2073351 h 5381035"/>
              <a:gd name="connsiteX18-37" fmla="*/ 26916 w 12192000"/>
              <a:gd name="connsiteY18-38" fmla="*/ 3331235 h 5381035"/>
              <a:gd name="connsiteX19" fmla="*/ 0 w 12192000"/>
              <a:gd name="connsiteY19" fmla="*/ 3321905 h 5381035"/>
              <a:gd name="connsiteX0-39" fmla="*/ 7259662 w 12192000"/>
              <a:gd name="connsiteY0-40" fmla="*/ 57321 h 5381035"/>
              <a:gd name="connsiteX1-41" fmla="*/ 12192000 w 12192000"/>
              <a:gd name="connsiteY1-42" fmla="*/ 3668162 h 5381035"/>
              <a:gd name="connsiteX2-43" fmla="*/ 12192000 w 12192000"/>
              <a:gd name="connsiteY2-44" fmla="*/ 5381035 h 5381035"/>
              <a:gd name="connsiteX3-45" fmla="*/ 0 w 12192000"/>
              <a:gd name="connsiteY3-46" fmla="*/ 5381035 h 5381035"/>
              <a:gd name="connsiteX4-47" fmla="*/ 0 w 12192000"/>
              <a:gd name="connsiteY4-48" fmla="*/ 4393412 h 5381035"/>
              <a:gd name="connsiteX5-49" fmla="*/ 4798 w 12192000"/>
              <a:gd name="connsiteY5-50" fmla="*/ 4668077 h 5381035"/>
              <a:gd name="connsiteX6-51" fmla="*/ 3480102 w 12192000"/>
              <a:gd name="connsiteY6-52" fmla="*/ 3079813 h 5381035"/>
              <a:gd name="connsiteX7-53" fmla="*/ 6789914 w 12192000"/>
              <a:gd name="connsiteY7-54" fmla="*/ 82876 h 5381035"/>
              <a:gd name="connsiteX8-55" fmla="*/ 7259662 w 12192000"/>
              <a:gd name="connsiteY8-56" fmla="*/ 57321 h 5381035"/>
              <a:gd name="connsiteX9-57" fmla="*/ 10803922 w 12192000"/>
              <a:gd name="connsiteY9-58" fmla="*/ 0 h 5381035"/>
              <a:gd name="connsiteX10-59" fmla="*/ 12192000 w 12192000"/>
              <a:gd name="connsiteY10-60" fmla="*/ 0 h 5381035"/>
              <a:gd name="connsiteX11-61" fmla="*/ 12192000 w 12192000"/>
              <a:gd name="connsiteY11-62" fmla="*/ 1322246 h 5381035"/>
              <a:gd name="connsiteX12-63" fmla="*/ 10969953 w 12192000"/>
              <a:gd name="connsiteY12-64" fmla="*/ 120266 h 5381035"/>
              <a:gd name="connsiteX13-65" fmla="*/ 10803922 w 12192000"/>
              <a:gd name="connsiteY13-66" fmla="*/ 0 h 5381035"/>
              <a:gd name="connsiteX14-67" fmla="*/ 0 w 12192000"/>
              <a:gd name="connsiteY14-68" fmla="*/ 3321905 h 5381035"/>
              <a:gd name="connsiteX15-69" fmla="*/ 4032282 w 12192000"/>
              <a:gd name="connsiteY15-70" fmla="*/ 0 h 5381035"/>
              <a:gd name="connsiteX16-71" fmla="*/ 2309846 w 12192000"/>
              <a:gd name="connsiteY16-72" fmla="*/ 2073351 h 5381035"/>
              <a:gd name="connsiteX17-73" fmla="*/ 26916 w 12192000"/>
              <a:gd name="connsiteY17-74" fmla="*/ 3331235 h 5381035"/>
              <a:gd name="connsiteX18-75" fmla="*/ 0 w 12192000"/>
              <a:gd name="connsiteY18-76" fmla="*/ 3321905 h 5381035"/>
              <a:gd name="connsiteX0-77" fmla="*/ 7259662 w 12192000"/>
              <a:gd name="connsiteY0-78" fmla="*/ 57321 h 5381035"/>
              <a:gd name="connsiteX1-79" fmla="*/ 12192000 w 12192000"/>
              <a:gd name="connsiteY1-80" fmla="*/ 3668162 h 5381035"/>
              <a:gd name="connsiteX2-81" fmla="*/ 12192000 w 12192000"/>
              <a:gd name="connsiteY2-82" fmla="*/ 5381035 h 5381035"/>
              <a:gd name="connsiteX3-83" fmla="*/ 0 w 12192000"/>
              <a:gd name="connsiteY3-84" fmla="*/ 5381035 h 5381035"/>
              <a:gd name="connsiteX4-85" fmla="*/ 0 w 12192000"/>
              <a:gd name="connsiteY4-86" fmla="*/ 4393412 h 5381035"/>
              <a:gd name="connsiteX5-87" fmla="*/ 4798 w 12192000"/>
              <a:gd name="connsiteY5-88" fmla="*/ 4668077 h 5381035"/>
              <a:gd name="connsiteX6-89" fmla="*/ 3480102 w 12192000"/>
              <a:gd name="connsiteY6-90" fmla="*/ 3079813 h 5381035"/>
              <a:gd name="connsiteX7-91" fmla="*/ 6789914 w 12192000"/>
              <a:gd name="connsiteY7-92" fmla="*/ 82876 h 5381035"/>
              <a:gd name="connsiteX8-93" fmla="*/ 7259662 w 12192000"/>
              <a:gd name="connsiteY8-94" fmla="*/ 57321 h 5381035"/>
              <a:gd name="connsiteX9-95" fmla="*/ 10803922 w 12192000"/>
              <a:gd name="connsiteY9-96" fmla="*/ 0 h 5381035"/>
              <a:gd name="connsiteX10-97" fmla="*/ 12192000 w 12192000"/>
              <a:gd name="connsiteY10-98" fmla="*/ 0 h 5381035"/>
              <a:gd name="connsiteX11-99" fmla="*/ 12192000 w 12192000"/>
              <a:gd name="connsiteY11-100" fmla="*/ 1322246 h 5381035"/>
              <a:gd name="connsiteX12-101" fmla="*/ 10969953 w 12192000"/>
              <a:gd name="connsiteY12-102" fmla="*/ 120266 h 5381035"/>
              <a:gd name="connsiteX13-103" fmla="*/ 10803922 w 12192000"/>
              <a:gd name="connsiteY13-104" fmla="*/ 0 h 5381035"/>
              <a:gd name="connsiteX14-105" fmla="*/ 0 w 12192000"/>
              <a:gd name="connsiteY14-106" fmla="*/ 3321905 h 5381035"/>
              <a:gd name="connsiteX15-107" fmla="*/ 2309846 w 12192000"/>
              <a:gd name="connsiteY15-108" fmla="*/ 2073351 h 5381035"/>
              <a:gd name="connsiteX16-109" fmla="*/ 26916 w 12192000"/>
              <a:gd name="connsiteY16-110" fmla="*/ 3331235 h 5381035"/>
              <a:gd name="connsiteX17-111" fmla="*/ 0 w 12192000"/>
              <a:gd name="connsiteY17-112" fmla="*/ 3321905 h 5381035"/>
              <a:gd name="connsiteX0-113" fmla="*/ 7259662 w 12192000"/>
              <a:gd name="connsiteY0-114" fmla="*/ 57321 h 5381035"/>
              <a:gd name="connsiteX1-115" fmla="*/ 12192000 w 12192000"/>
              <a:gd name="connsiteY1-116" fmla="*/ 3668162 h 5381035"/>
              <a:gd name="connsiteX2-117" fmla="*/ 12192000 w 12192000"/>
              <a:gd name="connsiteY2-118" fmla="*/ 5381035 h 5381035"/>
              <a:gd name="connsiteX3-119" fmla="*/ 0 w 12192000"/>
              <a:gd name="connsiteY3-120" fmla="*/ 5381035 h 5381035"/>
              <a:gd name="connsiteX4-121" fmla="*/ 0 w 12192000"/>
              <a:gd name="connsiteY4-122" fmla="*/ 4393412 h 5381035"/>
              <a:gd name="connsiteX5-123" fmla="*/ 4798 w 12192000"/>
              <a:gd name="connsiteY5-124" fmla="*/ 4668077 h 5381035"/>
              <a:gd name="connsiteX6-125" fmla="*/ 3480102 w 12192000"/>
              <a:gd name="connsiteY6-126" fmla="*/ 3079813 h 5381035"/>
              <a:gd name="connsiteX7-127" fmla="*/ 6789914 w 12192000"/>
              <a:gd name="connsiteY7-128" fmla="*/ 82876 h 5381035"/>
              <a:gd name="connsiteX8-129" fmla="*/ 7259662 w 12192000"/>
              <a:gd name="connsiteY8-130" fmla="*/ 57321 h 5381035"/>
              <a:gd name="connsiteX9-131" fmla="*/ 10803922 w 12192000"/>
              <a:gd name="connsiteY9-132" fmla="*/ 0 h 5381035"/>
              <a:gd name="connsiteX10-133" fmla="*/ 12192000 w 12192000"/>
              <a:gd name="connsiteY10-134" fmla="*/ 0 h 5381035"/>
              <a:gd name="connsiteX11-135" fmla="*/ 12192000 w 12192000"/>
              <a:gd name="connsiteY11-136" fmla="*/ 1322246 h 5381035"/>
              <a:gd name="connsiteX12-137" fmla="*/ 10969953 w 12192000"/>
              <a:gd name="connsiteY12-138" fmla="*/ 120266 h 5381035"/>
              <a:gd name="connsiteX13-139" fmla="*/ 10803922 w 12192000"/>
              <a:gd name="connsiteY13-140" fmla="*/ 0 h 5381035"/>
              <a:gd name="connsiteX14-141" fmla="*/ 26916 w 12192000"/>
              <a:gd name="connsiteY14-142" fmla="*/ 3331235 h 5381035"/>
              <a:gd name="connsiteX15-143" fmla="*/ 2309846 w 12192000"/>
              <a:gd name="connsiteY15-144" fmla="*/ 2073351 h 5381035"/>
              <a:gd name="connsiteX16-145" fmla="*/ 26916 w 12192000"/>
              <a:gd name="connsiteY16-146" fmla="*/ 3331235 h 5381035"/>
              <a:gd name="connsiteX0-147" fmla="*/ 7259662 w 12192000"/>
              <a:gd name="connsiteY0-148" fmla="*/ 57321 h 5381035"/>
              <a:gd name="connsiteX1-149" fmla="*/ 12192000 w 12192000"/>
              <a:gd name="connsiteY1-150" fmla="*/ 3668162 h 5381035"/>
              <a:gd name="connsiteX2-151" fmla="*/ 12192000 w 12192000"/>
              <a:gd name="connsiteY2-152" fmla="*/ 5381035 h 5381035"/>
              <a:gd name="connsiteX3-153" fmla="*/ 0 w 12192000"/>
              <a:gd name="connsiteY3-154" fmla="*/ 5381035 h 5381035"/>
              <a:gd name="connsiteX4-155" fmla="*/ 0 w 12192000"/>
              <a:gd name="connsiteY4-156" fmla="*/ 4393412 h 5381035"/>
              <a:gd name="connsiteX5-157" fmla="*/ 4798 w 12192000"/>
              <a:gd name="connsiteY5-158" fmla="*/ 4668077 h 5381035"/>
              <a:gd name="connsiteX6-159" fmla="*/ 3480102 w 12192000"/>
              <a:gd name="connsiteY6-160" fmla="*/ 3079813 h 5381035"/>
              <a:gd name="connsiteX7-161" fmla="*/ 6789914 w 12192000"/>
              <a:gd name="connsiteY7-162" fmla="*/ 82876 h 5381035"/>
              <a:gd name="connsiteX8-163" fmla="*/ 7259662 w 12192000"/>
              <a:gd name="connsiteY8-164" fmla="*/ 57321 h 5381035"/>
              <a:gd name="connsiteX9-165" fmla="*/ 10803922 w 12192000"/>
              <a:gd name="connsiteY9-166" fmla="*/ 0 h 5381035"/>
              <a:gd name="connsiteX10-167" fmla="*/ 12192000 w 12192000"/>
              <a:gd name="connsiteY10-168" fmla="*/ 0 h 5381035"/>
              <a:gd name="connsiteX11-169" fmla="*/ 12192000 w 12192000"/>
              <a:gd name="connsiteY11-170" fmla="*/ 1322246 h 5381035"/>
              <a:gd name="connsiteX12-171" fmla="*/ 10969953 w 12192000"/>
              <a:gd name="connsiteY12-172" fmla="*/ 120266 h 5381035"/>
              <a:gd name="connsiteX13-173" fmla="*/ 10803922 w 12192000"/>
              <a:gd name="connsiteY13-174" fmla="*/ 0 h 5381035"/>
              <a:gd name="connsiteX0-175" fmla="*/ 7259662 w 12192000"/>
              <a:gd name="connsiteY0-176" fmla="*/ 57321 h 5381035"/>
              <a:gd name="connsiteX1-177" fmla="*/ 12192000 w 12192000"/>
              <a:gd name="connsiteY1-178" fmla="*/ 3668162 h 5381035"/>
              <a:gd name="connsiteX2-179" fmla="*/ 12192000 w 12192000"/>
              <a:gd name="connsiteY2-180" fmla="*/ 5381035 h 5381035"/>
              <a:gd name="connsiteX3-181" fmla="*/ 0 w 12192000"/>
              <a:gd name="connsiteY3-182" fmla="*/ 5381035 h 5381035"/>
              <a:gd name="connsiteX4-183" fmla="*/ 0 w 12192000"/>
              <a:gd name="connsiteY4-184" fmla="*/ 4393412 h 5381035"/>
              <a:gd name="connsiteX5-185" fmla="*/ 4798 w 12192000"/>
              <a:gd name="connsiteY5-186" fmla="*/ 4668077 h 5381035"/>
              <a:gd name="connsiteX6-187" fmla="*/ 3480102 w 12192000"/>
              <a:gd name="connsiteY6-188" fmla="*/ 3079813 h 5381035"/>
              <a:gd name="connsiteX7-189" fmla="*/ 6789914 w 12192000"/>
              <a:gd name="connsiteY7-190" fmla="*/ 82876 h 5381035"/>
              <a:gd name="connsiteX8-191" fmla="*/ 7259662 w 12192000"/>
              <a:gd name="connsiteY8-192" fmla="*/ 57321 h 5381035"/>
              <a:gd name="connsiteX9-193" fmla="*/ 10803922 w 12192000"/>
              <a:gd name="connsiteY9-194" fmla="*/ 0 h 5381035"/>
              <a:gd name="connsiteX10-195" fmla="*/ 12192000 w 12192000"/>
              <a:gd name="connsiteY10-196" fmla="*/ 1322246 h 5381035"/>
              <a:gd name="connsiteX11-197" fmla="*/ 10969953 w 12192000"/>
              <a:gd name="connsiteY11-198" fmla="*/ 120266 h 5381035"/>
              <a:gd name="connsiteX12-199" fmla="*/ 10803922 w 12192000"/>
              <a:gd name="connsiteY12-200" fmla="*/ 0 h 5381035"/>
              <a:gd name="connsiteX0-201" fmla="*/ 7259662 w 12192000"/>
              <a:gd name="connsiteY0-202" fmla="*/ 2583 h 5326297"/>
              <a:gd name="connsiteX1-203" fmla="*/ 12192000 w 12192000"/>
              <a:gd name="connsiteY1-204" fmla="*/ 3613424 h 5326297"/>
              <a:gd name="connsiteX2-205" fmla="*/ 12192000 w 12192000"/>
              <a:gd name="connsiteY2-206" fmla="*/ 5326297 h 5326297"/>
              <a:gd name="connsiteX3-207" fmla="*/ 0 w 12192000"/>
              <a:gd name="connsiteY3-208" fmla="*/ 5326297 h 5326297"/>
              <a:gd name="connsiteX4-209" fmla="*/ 0 w 12192000"/>
              <a:gd name="connsiteY4-210" fmla="*/ 4338674 h 5326297"/>
              <a:gd name="connsiteX5-211" fmla="*/ 4798 w 12192000"/>
              <a:gd name="connsiteY5-212" fmla="*/ 4613339 h 5326297"/>
              <a:gd name="connsiteX6-213" fmla="*/ 3480102 w 12192000"/>
              <a:gd name="connsiteY6-214" fmla="*/ 3025075 h 5326297"/>
              <a:gd name="connsiteX7-215" fmla="*/ 6789914 w 12192000"/>
              <a:gd name="connsiteY7-216" fmla="*/ 28138 h 5326297"/>
              <a:gd name="connsiteX8-217" fmla="*/ 7259662 w 12192000"/>
              <a:gd name="connsiteY8-218" fmla="*/ 2583 h 5326297"/>
              <a:gd name="connsiteX9-219" fmla="*/ 10969953 w 12192000"/>
              <a:gd name="connsiteY9-220" fmla="*/ 65528 h 5326297"/>
              <a:gd name="connsiteX10-221" fmla="*/ 12192000 w 12192000"/>
              <a:gd name="connsiteY10-222" fmla="*/ 1267508 h 5326297"/>
              <a:gd name="connsiteX11-223" fmla="*/ 10969953 w 12192000"/>
              <a:gd name="connsiteY11-224" fmla="*/ 65528 h 5326297"/>
              <a:gd name="connsiteX0-225" fmla="*/ 7259662 w 12192000"/>
              <a:gd name="connsiteY0-226" fmla="*/ 2583 h 5326297"/>
              <a:gd name="connsiteX1-227" fmla="*/ 12192000 w 12192000"/>
              <a:gd name="connsiteY1-228" fmla="*/ 3613424 h 5326297"/>
              <a:gd name="connsiteX2-229" fmla="*/ 12192000 w 12192000"/>
              <a:gd name="connsiteY2-230" fmla="*/ 5326297 h 5326297"/>
              <a:gd name="connsiteX3-231" fmla="*/ 0 w 12192000"/>
              <a:gd name="connsiteY3-232" fmla="*/ 5326297 h 5326297"/>
              <a:gd name="connsiteX4-233" fmla="*/ 0 w 12192000"/>
              <a:gd name="connsiteY4-234" fmla="*/ 4338674 h 5326297"/>
              <a:gd name="connsiteX5-235" fmla="*/ 4798 w 12192000"/>
              <a:gd name="connsiteY5-236" fmla="*/ 4613339 h 5326297"/>
              <a:gd name="connsiteX6-237" fmla="*/ 3480102 w 12192000"/>
              <a:gd name="connsiteY6-238" fmla="*/ 3025075 h 5326297"/>
              <a:gd name="connsiteX7-239" fmla="*/ 6789914 w 12192000"/>
              <a:gd name="connsiteY7-240" fmla="*/ 28138 h 5326297"/>
              <a:gd name="connsiteX8-241" fmla="*/ 7259662 w 12192000"/>
              <a:gd name="connsiteY8-242" fmla="*/ 2583 h 53262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192000" h="5326297">
                <a:moveTo>
                  <a:pt x="7259662" y="2583"/>
                </a:moveTo>
                <a:cubicBezTo>
                  <a:pt x="9625834" y="111255"/>
                  <a:pt x="12192000" y="3613424"/>
                  <a:pt x="12192000" y="3613424"/>
                </a:cubicBezTo>
                <a:lnTo>
                  <a:pt x="12192000" y="5326297"/>
                </a:lnTo>
                <a:lnTo>
                  <a:pt x="0" y="5326297"/>
                </a:lnTo>
                <a:lnTo>
                  <a:pt x="0" y="4338674"/>
                </a:lnTo>
                <a:cubicBezTo>
                  <a:pt x="1599" y="4430229"/>
                  <a:pt x="3199" y="4521784"/>
                  <a:pt x="4798" y="4613339"/>
                </a:cubicBezTo>
                <a:cubicBezTo>
                  <a:pt x="4798" y="4613339"/>
                  <a:pt x="1766092" y="5316740"/>
                  <a:pt x="3480102" y="3025075"/>
                </a:cubicBezTo>
                <a:cubicBezTo>
                  <a:pt x="5194112" y="732474"/>
                  <a:pt x="5876761" y="174992"/>
                  <a:pt x="6789914" y="28138"/>
                </a:cubicBezTo>
                <a:cubicBezTo>
                  <a:pt x="6945061" y="3175"/>
                  <a:pt x="7101917" y="-4662"/>
                  <a:pt x="7259662" y="2583"/>
                </a:cubicBezTo>
                <a:close/>
              </a:path>
            </a:pathLst>
          </a:custGeom>
          <a:solidFill>
            <a:srgbClr val="FFC000">
              <a:alpha val="20000"/>
            </a:srgbClr>
          </a:solidFill>
          <a:ln>
            <a:noFill/>
          </a:ln>
        </p:spPr>
        <p:txBody>
          <a:bodyPr vert="horz" wrap="square" lIns="68580" tIns="34290" rIns="68580" bIns="34290" numCol="1" anchor="t" anchorCtr="0" compatLnSpc="1">
            <a:noAutofit/>
          </a:bodyPr>
          <a:lstStyle/>
          <a:p>
            <a:endParaRPr lang="zh-CN" altLang="en-US"/>
          </a:p>
        </p:txBody>
      </p:sp>
      <p:sp>
        <p:nvSpPr>
          <p:cNvPr id="13" name="标题 1"/>
          <p:cNvSpPr>
            <a:spLocks noGrp="1"/>
          </p:cNvSpPr>
          <p:nvPr userDrawn="1">
            <p:ph type="ctrTitle" hasCustomPrompt="1"/>
          </p:nvPr>
        </p:nvSpPr>
        <p:spPr>
          <a:xfrm>
            <a:off x="3026229" y="2163200"/>
            <a:ext cx="4902653" cy="2390427"/>
          </a:xfrm>
        </p:spPr>
        <p:txBody>
          <a:bodyPr anchor="b">
            <a:normAutofit/>
          </a:bodyPr>
          <a:lstStyle>
            <a:lvl1pPr marL="0" indent="0" algn="ctr">
              <a:buFont typeface="Arial" panose="020B0604020202020204" pitchFamily="34" charset="0"/>
              <a:buNone/>
              <a:defRPr sz="24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3026229" y="5238354"/>
            <a:ext cx="4902653" cy="310871"/>
          </a:xfrm>
        </p:spPr>
        <p:txBody>
          <a:bodyPr vert="horz" lIns="91440" tIns="45720" rIns="91440" bIns="45720" rtlCol="0">
            <a:normAutofit/>
          </a:bodyPr>
          <a:lstStyle>
            <a:lvl1pPr marL="0" indent="0" algn="ctr">
              <a:buNone/>
              <a:defRPr lang="zh-CN" altLang="en-US" sz="1125" smtClean="0">
                <a:solidFill>
                  <a:schemeClr val="bg1"/>
                </a:solidFill>
              </a:defRPr>
            </a:lvl1pPr>
            <a:lvl2pPr>
              <a:defRPr lang="zh-CN" altLang="en-US" sz="1500" smtClean="0"/>
            </a:lvl2pPr>
            <a:lvl3pPr>
              <a:defRPr lang="zh-CN" altLang="en-US" sz="1350" smtClean="0"/>
            </a:lvl3pPr>
            <a:lvl4pPr>
              <a:defRPr lang="zh-CN" altLang="en-US" sz="1200" smtClean="0"/>
            </a:lvl4pPr>
            <a:lvl5pPr>
              <a:defRPr lang="zh-CN" altLang="en-US" sz="1200"/>
            </a:lvl5pPr>
          </a:lstStyle>
          <a:p>
            <a:pPr marL="171450" marR="0" lvl="0" indent="-171450" fontAlgn="auto">
              <a:spcAft>
                <a:spcPts val="0"/>
              </a:spcAft>
              <a:buClrTx/>
              <a:buSzTx/>
            </a:pPr>
            <a:r>
              <a:rPr lang="en-US" altLang="zh-CN" dirty="0"/>
              <a:t>Data</a:t>
            </a:r>
            <a:endParaRPr lang="en-US" altLang="zh-CN" dirty="0"/>
          </a:p>
        </p:txBody>
      </p:sp>
      <p:sp>
        <p:nvSpPr>
          <p:cNvPr id="6" name="文本占位符 13"/>
          <p:cNvSpPr>
            <a:spLocks noGrp="1"/>
          </p:cNvSpPr>
          <p:nvPr>
            <p:ph type="body" sz="quarter" idx="10" hasCustomPrompt="1"/>
          </p:nvPr>
        </p:nvSpPr>
        <p:spPr>
          <a:xfrm>
            <a:off x="3026230" y="4942083"/>
            <a:ext cx="4902653" cy="296271"/>
          </a:xfrm>
        </p:spPr>
        <p:txBody>
          <a:bodyPr vert="horz" anchor="ctr">
            <a:noAutofit/>
          </a:bodyPr>
          <a:lstStyle>
            <a:lvl1pPr marL="0" indent="0" algn="ctr">
              <a:buNone/>
              <a:defRPr sz="1125" b="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ltLang="zh-CN" dirty="0"/>
              <a:t>Signature</a:t>
            </a:r>
            <a:endParaRPr lang="en-US" altLang="zh-CN" dirty="0"/>
          </a:p>
        </p:txBody>
      </p:sp>
      <p:sp>
        <p:nvSpPr>
          <p:cNvPr id="11" name="任意多边形: 形状 10"/>
          <p:cNvSpPr/>
          <p:nvPr userDrawn="1"/>
        </p:nvSpPr>
        <p:spPr bwMode="auto">
          <a:xfrm>
            <a:off x="0" y="543510"/>
            <a:ext cx="9144000" cy="6167761"/>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78000">
                <a:srgbClr val="FFC000"/>
              </a:gs>
              <a:gs pos="11000">
                <a:schemeClr val="accent1"/>
              </a:gs>
            </a:gsLst>
            <a:lin ang="4800000" scaled="0"/>
            <a:tileRect/>
          </a:gradFill>
          <a:ln>
            <a:noFill/>
          </a:ln>
        </p:spPr>
        <p:txBody>
          <a:bodyPr vert="horz" wrap="square" lIns="68580" tIns="34290" rIns="68580" bIns="34290" numCol="1" anchor="t" anchorCtr="0" compatLnSpc="1">
            <a:noAutofit/>
          </a:bodyPr>
          <a:lstStyle/>
          <a:p>
            <a:endParaRPr lang="zh-CN" altLang="en-US" dirty="0">
              <a:gradFill>
                <a:gsLst>
                  <a:gs pos="100000">
                    <a:schemeClr val="accent3"/>
                  </a:gs>
                  <a:gs pos="0">
                    <a:schemeClr val="accent4"/>
                  </a:gs>
                </a:gsLst>
                <a:lin ang="13500000" scaled="1"/>
              </a:gradFill>
            </a:endParaRPr>
          </a:p>
        </p:txBody>
      </p:sp>
    </p:spTree>
  </p:cSld>
  <p:clrMapOvr>
    <a:overrideClrMapping bg1="lt1" tx1="dk1" bg2="lt2" tx2="dk2" accent1="accent1" accent2="accent2" accent3="accent3" accent4="accent4" accent5="accent5" accent6="accent6" hlink="hlink" folHlink="folHlink"/>
  </p:clrMapOvr>
  <p:transition spd="slow">
    <p:pull dir="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FFFE7"/>
        </a:solidFill>
        <a:effectLst/>
      </p:bgPr>
    </p:bg>
    <p:spTree>
      <p:nvGrpSpPr>
        <p:cNvPr id="1" name=""/>
        <p:cNvGrpSpPr/>
        <p:nvPr/>
      </p:nvGrpSpPr>
      <p:grpSpPr>
        <a:xfrm>
          <a:off x="0" y="0"/>
          <a:ext cx="0" cy="0"/>
          <a:chOff x="0" y="0"/>
          <a:chExt cx="0" cy="0"/>
        </a:xfrm>
      </p:grpSpPr>
      <p:sp>
        <p:nvSpPr>
          <p:cNvPr id="1026" name="标题 104450"/>
          <p:cNvSpPr>
            <a:spLocks noGrp="1" noChangeArrowheads="1"/>
          </p:cNvSpPr>
          <p:nvPr>
            <p:ph type="title" idx="4294967295"/>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文本占位符 104451"/>
          <p:cNvSpPr>
            <a:spLocks noGrp="1" noChangeArrowheads="1"/>
          </p:cNvSpPr>
          <p:nvPr>
            <p:ph type="body" idx="9"/>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453" name="日期占位符 104452"/>
          <p:cNvSpPr>
            <a:spLocks noGrp="1"/>
          </p:cNvSpPr>
          <p:nvPr>
            <p:ph type="dt" sz="half" idx="2"/>
          </p:nvPr>
        </p:nvSpPr>
        <p:spPr>
          <a:xfrm>
            <a:off x="457200" y="6248400"/>
            <a:ext cx="2133600" cy="457200"/>
          </a:xfrm>
          <a:prstGeom prst="rect">
            <a:avLst/>
          </a:prstGeom>
          <a:noFill/>
          <a:ln w="9525">
            <a:noFill/>
            <a:miter/>
          </a:ln>
        </p:spPr>
        <p:txBody>
          <a:bodyPr/>
          <a:lstStyle>
            <a:lvl1pPr>
              <a:defRPr sz="1000" noProof="1" dirty="0"/>
            </a:lvl1pPr>
          </a:lstStyle>
          <a:p>
            <a:endParaRPr lang="zh-CN" altLang="en-US"/>
          </a:p>
        </p:txBody>
      </p:sp>
      <p:sp>
        <p:nvSpPr>
          <p:cNvPr id="104454" name="页脚占位符 104453"/>
          <p:cNvSpPr>
            <a:spLocks noGrp="1"/>
          </p:cNvSpPr>
          <p:nvPr>
            <p:ph type="ftr" sz="quarter" idx="3"/>
          </p:nvPr>
        </p:nvSpPr>
        <p:spPr>
          <a:xfrm>
            <a:off x="3124200" y="6248400"/>
            <a:ext cx="2895600" cy="457200"/>
          </a:xfrm>
          <a:prstGeom prst="rect">
            <a:avLst/>
          </a:prstGeom>
          <a:noFill/>
          <a:ln w="9525">
            <a:noFill/>
            <a:miter/>
          </a:ln>
        </p:spPr>
        <p:txBody>
          <a:bodyPr/>
          <a:lstStyle>
            <a:lvl1pPr algn="ctr">
              <a:defRPr sz="1000" noProof="1" dirty="0"/>
            </a:lvl1pPr>
          </a:lstStyle>
          <a:p>
            <a:endParaRPr lang="zh-CN"/>
          </a:p>
        </p:txBody>
      </p:sp>
      <p:sp>
        <p:nvSpPr>
          <p:cNvPr id="104455" name="灯片编号占位符 104454"/>
          <p:cNvSpPr>
            <a:spLocks noGrp="1"/>
          </p:cNvSpPr>
          <p:nvPr>
            <p:ph type="sldNum" sz="quarter" idx="4"/>
          </p:nvPr>
        </p:nvSpPr>
        <p:spPr>
          <a:xfrm>
            <a:off x="6553200" y="6248400"/>
            <a:ext cx="2133600" cy="457200"/>
          </a:xfrm>
          <a:prstGeom prst="rect">
            <a:avLst/>
          </a:prstGeom>
          <a:noFill/>
          <a:ln w="9525">
            <a:noFill/>
            <a:miter/>
          </a:ln>
        </p:spPr>
        <p:txBody>
          <a:bodyPr vert="horz" wrap="square" lIns="91440" tIns="45720" rIns="91440" bIns="45720" numCol="1" anchor="t" anchorCtr="0" compatLnSpc="1"/>
          <a:lstStyle>
            <a:lvl1pPr algn="r">
              <a:defRPr sz="1000"/>
            </a:lvl1pPr>
          </a:lstStyle>
          <a:p>
            <a:fld id="{B16F0E3E-7223-4181-BC46-8194D6BBC0F6}" type="slidenum">
              <a:rPr lang="zh-CN" altLang="zh-CN"/>
            </a:fld>
            <a:endParaRPr lang="zh-CN" altLang="zh-CN"/>
          </a:p>
        </p:txBody>
      </p:sp>
      <p:grpSp>
        <p:nvGrpSpPr>
          <p:cNvPr id="1031" name="组合 104455"/>
          <p:cNvGrpSpPr/>
          <p:nvPr/>
        </p:nvGrpSpPr>
        <p:grpSpPr bwMode="auto">
          <a:xfrm>
            <a:off x="8153400" y="152400"/>
            <a:ext cx="792163" cy="1295400"/>
            <a:chOff x="5136" y="960"/>
            <a:chExt cx="528" cy="864"/>
          </a:xfrm>
        </p:grpSpPr>
        <p:sp>
          <p:nvSpPr>
            <p:cNvPr id="1032" name="椭圆 104456"/>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3" name="椭圆 104457"/>
            <p:cNvSpPr>
              <a:spLocks noChangeArrowheads="1"/>
            </p:cNvSpPr>
            <p:nvPr/>
          </p:nvSpPr>
          <p:spPr bwMode="auto">
            <a:xfrm>
              <a:off x="5248"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4" name="椭圆 104458"/>
            <p:cNvSpPr>
              <a:spLocks noChangeArrowheads="1"/>
            </p:cNvSpPr>
            <p:nvPr/>
          </p:nvSpPr>
          <p:spPr bwMode="auto">
            <a:xfrm>
              <a:off x="5360"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5" name="椭圆 104459"/>
            <p:cNvSpPr>
              <a:spLocks noChangeArrowheads="1"/>
            </p:cNvSpPr>
            <p:nvPr/>
          </p:nvSpPr>
          <p:spPr bwMode="auto">
            <a:xfrm>
              <a:off x="5136" y="107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6" name="椭圆 104460"/>
            <p:cNvSpPr>
              <a:spLocks noChangeArrowheads="1"/>
            </p:cNvSpPr>
            <p:nvPr/>
          </p:nvSpPr>
          <p:spPr bwMode="auto">
            <a:xfrm>
              <a:off x="5248" y="107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7" name="椭圆 104461"/>
            <p:cNvSpPr>
              <a:spLocks noChangeArrowheads="1"/>
            </p:cNvSpPr>
            <p:nvPr/>
          </p:nvSpPr>
          <p:spPr bwMode="auto">
            <a:xfrm>
              <a:off x="5360" y="1072"/>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8" name="椭圆 104462"/>
            <p:cNvSpPr>
              <a:spLocks noChangeArrowheads="1"/>
            </p:cNvSpPr>
            <p:nvPr/>
          </p:nvSpPr>
          <p:spPr bwMode="auto">
            <a:xfrm>
              <a:off x="5472" y="1072"/>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39" name="椭圆 104463"/>
            <p:cNvSpPr>
              <a:spLocks noChangeArrowheads="1"/>
            </p:cNvSpPr>
            <p:nvPr/>
          </p:nvSpPr>
          <p:spPr bwMode="auto">
            <a:xfrm>
              <a:off x="5136" y="1184"/>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0" name="椭圆 104464"/>
            <p:cNvSpPr>
              <a:spLocks noChangeArrowheads="1"/>
            </p:cNvSpPr>
            <p:nvPr/>
          </p:nvSpPr>
          <p:spPr bwMode="auto">
            <a:xfrm>
              <a:off x="5248" y="1184"/>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1" name="椭圆 104465"/>
            <p:cNvSpPr>
              <a:spLocks noChangeArrowheads="1"/>
            </p:cNvSpPr>
            <p:nvPr/>
          </p:nvSpPr>
          <p:spPr bwMode="auto">
            <a:xfrm>
              <a:off x="5360" y="1184"/>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2" name="椭圆 104466"/>
            <p:cNvSpPr>
              <a:spLocks noChangeArrowheads="1"/>
            </p:cNvSpPr>
            <p:nvPr/>
          </p:nvSpPr>
          <p:spPr bwMode="auto">
            <a:xfrm>
              <a:off x="5472" y="1184"/>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3" name="椭圆 104467"/>
            <p:cNvSpPr>
              <a:spLocks noChangeArrowheads="1"/>
            </p:cNvSpPr>
            <p:nvPr/>
          </p:nvSpPr>
          <p:spPr bwMode="auto">
            <a:xfrm>
              <a:off x="5584" y="1184"/>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4" name="椭圆 104468"/>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5" name="椭圆 104469"/>
            <p:cNvSpPr>
              <a:spLocks noChangeArrowheads="1"/>
            </p:cNvSpPr>
            <p:nvPr/>
          </p:nvSpPr>
          <p:spPr bwMode="auto">
            <a:xfrm>
              <a:off x="5248" y="1296"/>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6" name="椭圆 104470"/>
            <p:cNvSpPr>
              <a:spLocks noChangeArrowheads="1"/>
            </p:cNvSpPr>
            <p:nvPr/>
          </p:nvSpPr>
          <p:spPr bwMode="auto">
            <a:xfrm>
              <a:off x="5360" y="1296"/>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7" name="椭圆 104471"/>
            <p:cNvSpPr>
              <a:spLocks noChangeArrowheads="1"/>
            </p:cNvSpPr>
            <p:nvPr/>
          </p:nvSpPr>
          <p:spPr bwMode="auto">
            <a:xfrm>
              <a:off x="5472" y="1296"/>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8" name="椭圆 104472"/>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49" name="椭圆 104473"/>
            <p:cNvSpPr>
              <a:spLocks noChangeArrowheads="1"/>
            </p:cNvSpPr>
            <p:nvPr/>
          </p:nvSpPr>
          <p:spPr bwMode="auto">
            <a:xfrm>
              <a:off x="5248"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0" name="椭圆 104474"/>
            <p:cNvSpPr>
              <a:spLocks noChangeArrowheads="1"/>
            </p:cNvSpPr>
            <p:nvPr/>
          </p:nvSpPr>
          <p:spPr bwMode="auto">
            <a:xfrm>
              <a:off x="5360" y="1408"/>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1" name="椭圆 104475"/>
            <p:cNvSpPr>
              <a:spLocks noChangeArrowheads="1"/>
            </p:cNvSpPr>
            <p:nvPr/>
          </p:nvSpPr>
          <p:spPr bwMode="auto">
            <a:xfrm>
              <a:off x="5472" y="1408"/>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2" name="椭圆 104476"/>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3" name="椭圆 104477"/>
            <p:cNvSpPr>
              <a:spLocks noChangeArrowheads="1"/>
            </p:cNvSpPr>
            <p:nvPr/>
          </p:nvSpPr>
          <p:spPr bwMode="auto">
            <a:xfrm>
              <a:off x="5136" y="1520"/>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4" name="椭圆 104478"/>
            <p:cNvSpPr>
              <a:spLocks noChangeArrowheads="1"/>
            </p:cNvSpPr>
            <p:nvPr/>
          </p:nvSpPr>
          <p:spPr bwMode="auto">
            <a:xfrm>
              <a:off x="5248" y="1520"/>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5" name="椭圆 104479"/>
            <p:cNvSpPr>
              <a:spLocks noChangeArrowheads="1"/>
            </p:cNvSpPr>
            <p:nvPr/>
          </p:nvSpPr>
          <p:spPr bwMode="auto">
            <a:xfrm>
              <a:off x="5360" y="1520"/>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6" name="椭圆 104480"/>
            <p:cNvSpPr>
              <a:spLocks noChangeArrowheads="1"/>
            </p:cNvSpPr>
            <p:nvPr/>
          </p:nvSpPr>
          <p:spPr bwMode="auto">
            <a:xfrm>
              <a:off x="5472" y="1520"/>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7" name="椭圆 104481"/>
            <p:cNvSpPr>
              <a:spLocks noChangeArrowheads="1"/>
            </p:cNvSpPr>
            <p:nvPr/>
          </p:nvSpPr>
          <p:spPr bwMode="auto">
            <a:xfrm>
              <a:off x="5136" y="1632"/>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8" name="椭圆 104482"/>
            <p:cNvSpPr>
              <a:spLocks noChangeArrowheads="1"/>
            </p:cNvSpPr>
            <p:nvPr/>
          </p:nvSpPr>
          <p:spPr bwMode="auto">
            <a:xfrm>
              <a:off x="5248" y="1632"/>
              <a:ext cx="80"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59" name="椭圆 104483"/>
            <p:cNvSpPr>
              <a:spLocks noChangeArrowheads="1"/>
            </p:cNvSpPr>
            <p:nvPr/>
          </p:nvSpPr>
          <p:spPr bwMode="auto">
            <a:xfrm>
              <a:off x="5360" y="1632"/>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60" name="椭圆 104484"/>
            <p:cNvSpPr>
              <a:spLocks noChangeArrowheads="1"/>
            </p:cNvSpPr>
            <p:nvPr/>
          </p:nvSpPr>
          <p:spPr bwMode="auto">
            <a:xfrm>
              <a:off x="5472" y="1632"/>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61" name="椭圆 104485"/>
            <p:cNvSpPr>
              <a:spLocks noChangeArrowheads="1"/>
            </p:cNvSpPr>
            <p:nvPr/>
          </p:nvSpPr>
          <p:spPr bwMode="auto">
            <a:xfrm>
              <a:off x="5248" y="1744"/>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062" name="椭圆 104486"/>
            <p:cNvSpPr>
              <a:spLocks noChangeArrowheads="1"/>
            </p:cNvSpPr>
            <p:nvPr/>
          </p:nvSpPr>
          <p:spPr bwMode="auto">
            <a:xfrm>
              <a:off x="5472" y="1744"/>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slow">
    <p:pull dir="ru"/>
  </p:transition>
  <p:txStyles>
    <p:titleStyle>
      <a:lvl1pPr algn="l" rtl="0" fontAlgn="base">
        <a:spcBef>
          <a:spcPct val="0"/>
        </a:spcBef>
        <a:spcAft>
          <a:spcPct val="0"/>
        </a:spcAft>
        <a:defRPr sz="3900" b="1" kern="1200">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l"/>
        <a:defRPr sz="3000" b="1" kern="1200">
          <a:solidFill>
            <a:schemeClr val="tx1"/>
          </a:solidFill>
          <a:latin typeface="+mn-lt"/>
          <a:ea typeface="+mn-ea"/>
          <a:cs typeface="+mn-cs"/>
        </a:defRPr>
      </a:lvl1pPr>
      <a:lvl2pPr marL="692150" lvl="1" indent="-347980" algn="l" rtl="0" fontAlgn="base">
        <a:spcBef>
          <a:spcPct val="20000"/>
        </a:spcBef>
        <a:spcAft>
          <a:spcPct val="0"/>
        </a:spcAft>
        <a:buClr>
          <a:schemeClr val="accent2"/>
        </a:buClr>
        <a:buSzPct val="70000"/>
        <a:buFont typeface="Wingdings" panose="05000000000000000000" pitchFamily="2" charset="2"/>
        <a:buChar char="l"/>
        <a:defRPr sz="2600" b="1" kern="1200">
          <a:solidFill>
            <a:schemeClr val="tx1"/>
          </a:solidFill>
          <a:latin typeface="+mn-lt"/>
          <a:ea typeface="+mn-ea"/>
          <a:cs typeface="+mn-cs"/>
        </a:defRPr>
      </a:lvl2pPr>
      <a:lvl3pPr marL="987425" lvl="2" indent="-294005" algn="l" rtl="0" fontAlgn="base">
        <a:spcBef>
          <a:spcPct val="20000"/>
        </a:spcBef>
        <a:spcAft>
          <a:spcPct val="0"/>
        </a:spcAft>
        <a:buClr>
          <a:schemeClr val="accent1"/>
        </a:buClr>
        <a:buSzPct val="70000"/>
        <a:buFont typeface="Wingdings" panose="05000000000000000000" pitchFamily="2" charset="2"/>
        <a:buChar char="l"/>
        <a:defRPr sz="2300" b="1" kern="1200">
          <a:solidFill>
            <a:schemeClr val="tx1"/>
          </a:solidFill>
          <a:latin typeface="+mn-lt"/>
          <a:ea typeface="+mn-ea"/>
          <a:cs typeface="+mn-cs"/>
        </a:defRPr>
      </a:lvl3pPr>
      <a:lvl4pPr marL="1281430" lvl="3" indent="-292100" algn="l" rtl="0" fontAlgn="base">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lvl="4" indent="-316230" algn="l" rtl="0" fontAlgn="base">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lvl="5" indent="-228600" algn="l" defTabSz="914400" eaLnBrk="1" fontAlgn="base" latinLnBrk="0" hangingPunct="1">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52.xml"/><Relationship Id="rId1" Type="http://schemas.openxmlformats.org/officeDocument/2006/relationships/image" Target="../media/image26.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9.wmf"/><Relationship Id="rId1" Type="http://schemas.openxmlformats.org/officeDocument/2006/relationships/oleObject" Target="../embeddings/oleObject1.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30.wmf"/><Relationship Id="rId1" Type="http://schemas.openxmlformats.org/officeDocument/2006/relationships/oleObject" Target="../embeddings/oleObject2.bin"/></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31.wmf"/><Relationship Id="rId1" Type="http://schemas.openxmlformats.org/officeDocument/2006/relationships/oleObject" Target="../embeddings/oleObject3.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32.wmf"/><Relationship Id="rId1" Type="http://schemas.openxmlformats.org/officeDocument/2006/relationships/oleObject" Target="../embeddings/oleObject4.bin"/></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33.wmf"/><Relationship Id="rId1" Type="http://schemas.openxmlformats.org/officeDocument/2006/relationships/oleObject" Target="../embeddings/oleObject5.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12.xml"/><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tags" Target="../tags/tag2.xml"/><Relationship Id="rId3" Type="http://schemas.openxmlformats.org/officeDocument/2006/relationships/image" Target="../media/image35.emf"/><Relationship Id="rId2" Type="http://schemas.openxmlformats.org/officeDocument/2006/relationships/oleObject" Target="../embeddings/oleObject6.bin"/><Relationship Id="rId1" Type="http://schemas.openxmlformats.org/officeDocument/2006/relationships/tags" Target="../tags/tag1.xml"/></Relationships>
</file>

<file path=ppt/slides/_rels/slide8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tags" Target="../tags/tag3.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2.png"/><Relationship Id="rId1" Type="http://schemas.openxmlformats.org/officeDocument/2006/relationships/image" Target="../media/image41.png"/></Relationships>
</file>

<file path=ppt/slides/_rels/slide103.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0" Type="http://schemas.openxmlformats.org/officeDocument/2006/relationships/slideLayout" Target="../slideLayouts/slideLayout13.xml"/><Relationship Id="rId1" Type="http://schemas.openxmlformats.org/officeDocument/2006/relationships/tags" Target="../tags/tag4.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5.png"/><Relationship Id="rId1" Type="http://schemas.openxmlformats.org/officeDocument/2006/relationships/image" Target="../media/image3.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6.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7.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9.png"/><Relationship Id="rId1" Type="http://schemas.openxmlformats.org/officeDocument/2006/relationships/tags" Target="../tags/tag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0.png"/><Relationship Id="rId1" Type="http://schemas.openxmlformats.org/officeDocument/2006/relationships/image" Target="../media/image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5.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1.jpe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2.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3.png"/><Relationship Id="rId1" Type="http://schemas.openxmlformats.org/officeDocument/2006/relationships/image" Target="../media/image3.png"/></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4.png"/><Relationship Id="rId1" Type="http://schemas.openxmlformats.org/officeDocument/2006/relationships/image" Target="../media/image3.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4.png"/></Relationships>
</file>

<file path=ppt/slides/_rels/slide139.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13.xml"/><Relationship Id="rId2" Type="http://schemas.openxmlformats.org/officeDocument/2006/relationships/image" Target="../media/image55.wmf"/><Relationship Id="rId1" Type="http://schemas.openxmlformats.org/officeDocument/2006/relationships/oleObject" Target="../embeddings/oleObject7.bin"/></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6.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5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57.png"/><Relationship Id="rId1" Type="http://schemas.openxmlformats.org/officeDocument/2006/relationships/image" Target="../media/image3.png"/></Relationships>
</file>

<file path=ppt/slides/_rels/slide15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6.xml"/><Relationship Id="rId2" Type="http://schemas.openxmlformats.org/officeDocument/2006/relationships/image" Target="../media/image3.png"/><Relationship Id="rId1" Type="http://schemas.openxmlformats.org/officeDocument/2006/relationships/image" Target="../media/image39.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15.xml"/><Relationship Id="rId6" Type="http://schemas.openxmlformats.org/officeDocument/2006/relationships/image" Target="../media/image3.png"/><Relationship Id="rId5" Type="http://schemas.openxmlformats.org/officeDocument/2006/relationships/image" Target="../media/image38.png"/><Relationship Id="rId4" Type="http://schemas.openxmlformats.org/officeDocument/2006/relationships/tags" Target="../tags/tag18.xml"/><Relationship Id="rId3" Type="http://schemas.openxmlformats.org/officeDocument/2006/relationships/image" Target="../media/image35.emf"/><Relationship Id="rId2" Type="http://schemas.openxmlformats.org/officeDocument/2006/relationships/oleObject" Target="../embeddings/oleObject8.bin"/><Relationship Id="rId1" Type="http://schemas.openxmlformats.org/officeDocument/2006/relationships/tags" Target="../tags/tag1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jpeg"/></Relationships>
</file>

<file path=ppt/slides/_rels/slide17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jpeg"/></Relationships>
</file>

<file path=ppt/slides/_rels/slide17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jpe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image" Target="../media/image59.png"/></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标题 5121"/>
          <p:cNvSpPr>
            <a:spLocks noGrp="1" noChangeArrowheads="1"/>
          </p:cNvSpPr>
          <p:nvPr>
            <p:ph type="ctrTitle"/>
          </p:nvPr>
        </p:nvSpPr>
        <p:spPr>
          <a:xfrm>
            <a:off x="315913" y="1154113"/>
            <a:ext cx="6781800" cy="1436687"/>
          </a:xfrm>
        </p:spPr>
        <p:txBody>
          <a:bodyPr/>
          <a:lstStyle/>
          <a:p>
            <a:r>
              <a:rPr lang="zh-CN" altLang="en-US"/>
              <a:t>第</a:t>
            </a:r>
            <a:r>
              <a:rPr lang="en-US" altLang="zh-CN"/>
              <a:t>6</a:t>
            </a:r>
            <a:r>
              <a:rPr lang="zh-CN" altLang="en-US"/>
              <a:t>章  文 件 系 统</a:t>
            </a:r>
            <a:endParaRPr lang="zh-CN" altLang="en-US"/>
          </a:p>
        </p:txBody>
      </p:sp>
      <p:sp>
        <p:nvSpPr>
          <p:cNvPr id="5123" name="副标题 5122"/>
          <p:cNvSpPr>
            <a:spLocks noGrp="1" noChangeArrowheads="1"/>
          </p:cNvSpPr>
          <p:nvPr>
            <p:ph type="subTitle" idx="1"/>
          </p:nvPr>
        </p:nvSpPr>
        <p:spPr>
          <a:xfrm>
            <a:off x="990600" y="2895600"/>
            <a:ext cx="6705600" cy="1752600"/>
          </a:xfrm>
        </p:spPr>
        <p:txBody>
          <a:bodyPr/>
          <a:lstStyle/>
          <a:p>
            <a:pPr marL="609600" indent="-609600" algn="l" fontAlgn="ctr">
              <a:lnSpc>
                <a:spcPct val="80000"/>
              </a:lnSpc>
            </a:pPr>
            <a:r>
              <a:rPr lang="en-US" altLang="zh-CN" sz="2400" b="0">
                <a:solidFill>
                  <a:schemeClr val="tx2"/>
                </a:solidFill>
              </a:rPr>
              <a:t>               </a:t>
            </a:r>
            <a:r>
              <a:rPr lang="zh-CN" altLang="en-US" sz="2400" b="0">
                <a:solidFill>
                  <a:schemeClr val="tx2"/>
                </a:solidFill>
              </a:rPr>
              <a:t>内容提要：</a:t>
            </a:r>
            <a:endParaRPr lang="zh-CN" altLang="en-US" sz="2400" b="0">
              <a:solidFill>
                <a:schemeClr val="tx2"/>
              </a:solidFill>
            </a:endParaRPr>
          </a:p>
          <a:p>
            <a:pPr marL="609600" indent="-609600" algn="l" fontAlgn="ctr">
              <a:lnSpc>
                <a:spcPct val="80000"/>
              </a:lnSpc>
            </a:pPr>
            <a:r>
              <a:rPr lang="zh-CN" altLang="en-US" sz="2400"/>
              <a:t>                           </a:t>
            </a:r>
            <a:r>
              <a:rPr lang="en-US" altLang="zh-CN" sz="2400"/>
              <a:t>6.1  </a:t>
            </a:r>
            <a:r>
              <a:rPr lang="zh-CN" altLang="en-US" sz="2400"/>
              <a:t>概    述</a:t>
            </a:r>
            <a:endParaRPr lang="zh-CN" altLang="en-US" sz="2400"/>
          </a:p>
          <a:p>
            <a:pPr marL="609600" indent="-609600" algn="l" fontAlgn="ctr">
              <a:lnSpc>
                <a:spcPct val="80000"/>
              </a:lnSpc>
            </a:pPr>
            <a:r>
              <a:rPr lang="zh-CN" altLang="en-US" sz="2400"/>
              <a:t>                           </a:t>
            </a:r>
            <a:r>
              <a:rPr lang="en-US" altLang="zh-CN" sz="2400"/>
              <a:t>6.2  </a:t>
            </a:r>
            <a:r>
              <a:rPr lang="zh-CN" altLang="en-US" sz="2400"/>
              <a:t>文件系统的功能和结构</a:t>
            </a:r>
            <a:endParaRPr lang="zh-CN" altLang="en-US" sz="2400"/>
          </a:p>
          <a:p>
            <a:pPr marL="609600" indent="-609600" algn="l" fontAlgn="ctr">
              <a:lnSpc>
                <a:spcPct val="80000"/>
              </a:lnSpc>
            </a:pPr>
            <a:r>
              <a:rPr lang="zh-CN" altLang="en-US" sz="2400"/>
              <a:t>                           </a:t>
            </a:r>
            <a:r>
              <a:rPr lang="en-US" altLang="zh-CN" sz="2400"/>
              <a:t>6.3  </a:t>
            </a:r>
            <a:r>
              <a:rPr lang="zh-CN" altLang="en-US" sz="2400"/>
              <a:t>目录结构和目录查询</a:t>
            </a:r>
            <a:endParaRPr lang="zh-CN" altLang="en-US" sz="2400"/>
          </a:p>
          <a:p>
            <a:pPr marL="609600" indent="-609600" algn="l" fontAlgn="ctr">
              <a:lnSpc>
                <a:spcPct val="80000"/>
              </a:lnSpc>
            </a:pPr>
            <a:r>
              <a:rPr lang="zh-CN" altLang="en-US" sz="2400"/>
              <a:t>                           </a:t>
            </a:r>
            <a:r>
              <a:rPr lang="en-US" altLang="zh-CN" sz="2400"/>
              <a:t>6.4  </a:t>
            </a:r>
            <a:r>
              <a:rPr lang="zh-CN" altLang="en-US" sz="2400"/>
              <a:t>文件和目录操作</a:t>
            </a:r>
            <a:endParaRPr lang="zh-CN" altLang="en-US" sz="2400"/>
          </a:p>
          <a:p>
            <a:pPr marL="609600" indent="-609600" algn="l" fontAlgn="ctr">
              <a:lnSpc>
                <a:spcPct val="80000"/>
              </a:lnSpc>
            </a:pPr>
            <a:r>
              <a:rPr lang="zh-CN" altLang="en-US" sz="2400"/>
              <a:t>                           </a:t>
            </a:r>
            <a:r>
              <a:rPr lang="en-US" altLang="zh-CN" sz="2400"/>
              <a:t>6.5  </a:t>
            </a:r>
            <a:r>
              <a:rPr lang="zh-CN" altLang="en-US" sz="2400"/>
              <a:t>文件系统的实现</a:t>
            </a:r>
            <a:endParaRPr lang="zh-CN" altLang="en-US" sz="2400"/>
          </a:p>
          <a:p>
            <a:pPr marL="609600" indent="-609600" algn="l" fontAlgn="ctr">
              <a:lnSpc>
                <a:spcPct val="80000"/>
              </a:lnSpc>
            </a:pPr>
            <a:r>
              <a:rPr lang="zh-CN" altLang="en-US" sz="2400"/>
              <a:t>                           </a:t>
            </a:r>
            <a:r>
              <a:rPr lang="en-US" altLang="zh-CN" sz="2400"/>
              <a:t>6.6  </a:t>
            </a:r>
            <a:r>
              <a:rPr lang="zh-CN" altLang="en-US" sz="2400"/>
              <a:t>管 道 文 件</a:t>
            </a:r>
            <a:endParaRPr lang="zh-CN" altLang="en-US" sz="2400"/>
          </a:p>
          <a:p>
            <a:pPr marL="609600" indent="-609600" algn="l" fontAlgn="ctr">
              <a:lnSpc>
                <a:spcPct val="80000"/>
              </a:lnSpc>
            </a:pPr>
            <a:r>
              <a:rPr lang="zh-CN" altLang="en-US" sz="2400"/>
              <a:t>                           </a:t>
            </a:r>
            <a:r>
              <a:rPr lang="en-US" altLang="zh-CN" sz="2400"/>
              <a:t>6.7  </a:t>
            </a:r>
            <a:r>
              <a:rPr lang="zh-CN" altLang="en-US" sz="2400"/>
              <a:t>文件系统的可靠性</a:t>
            </a: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slide(fromBottom)">
                                      <p:cBhvr>
                                        <p:cTn id="7" dur="1000"/>
                                        <p:tgtEl>
                                          <p:spTgt spid="5123">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5123">
                                            <p:txEl>
                                              <p:pRg st="2" end="2"/>
                                            </p:txEl>
                                          </p:spTgt>
                                        </p:tgtEl>
                                        <p:attrNameLst>
                                          <p:attrName>style.visibility</p:attrName>
                                        </p:attrNameLst>
                                      </p:cBhvr>
                                      <p:to>
                                        <p:strVal val="visible"/>
                                      </p:to>
                                    </p:set>
                                    <p:animEffect transition="in" filter="slide(fromBottom)">
                                      <p:cBhvr>
                                        <p:cTn id="10" dur="1000"/>
                                        <p:tgtEl>
                                          <p:spTgt spid="5123">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animEffect transition="in" filter="slide(fromBottom)">
                                      <p:cBhvr>
                                        <p:cTn id="13" dur="1000"/>
                                        <p:tgtEl>
                                          <p:spTgt spid="5123">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123">
                                            <p:txEl>
                                              <p:pRg st="4" end="4"/>
                                            </p:txEl>
                                          </p:spTgt>
                                        </p:tgtEl>
                                        <p:attrNameLst>
                                          <p:attrName>style.visibility</p:attrName>
                                        </p:attrNameLst>
                                      </p:cBhvr>
                                      <p:to>
                                        <p:strVal val="visible"/>
                                      </p:to>
                                    </p:set>
                                    <p:animEffect transition="in" filter="slide(fromBottom)">
                                      <p:cBhvr>
                                        <p:cTn id="16" dur="1000"/>
                                        <p:tgtEl>
                                          <p:spTgt spid="5123">
                                            <p:txEl>
                                              <p:pRg st="4" end="4"/>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123">
                                            <p:txEl>
                                              <p:pRg st="5" end="5"/>
                                            </p:txEl>
                                          </p:spTgt>
                                        </p:tgtEl>
                                        <p:attrNameLst>
                                          <p:attrName>style.visibility</p:attrName>
                                        </p:attrNameLst>
                                      </p:cBhvr>
                                      <p:to>
                                        <p:strVal val="visible"/>
                                      </p:to>
                                    </p:set>
                                    <p:animEffect transition="in" filter="slide(fromBottom)">
                                      <p:cBhvr>
                                        <p:cTn id="19" dur="1000"/>
                                        <p:tgtEl>
                                          <p:spTgt spid="5123">
                                            <p:txEl>
                                              <p:pRg st="5" end="5"/>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123">
                                            <p:txEl>
                                              <p:pRg st="6" end="6"/>
                                            </p:txEl>
                                          </p:spTgt>
                                        </p:tgtEl>
                                        <p:attrNameLst>
                                          <p:attrName>style.visibility</p:attrName>
                                        </p:attrNameLst>
                                      </p:cBhvr>
                                      <p:to>
                                        <p:strVal val="visible"/>
                                      </p:to>
                                    </p:set>
                                    <p:animEffect transition="in" filter="slide(fromBottom)">
                                      <p:cBhvr>
                                        <p:cTn id="22" dur="1000"/>
                                        <p:tgtEl>
                                          <p:spTgt spid="5123">
                                            <p:txEl>
                                              <p:pRg st="6" end="6"/>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5123">
                                            <p:txEl>
                                              <p:pRg st="7" end="7"/>
                                            </p:txEl>
                                          </p:spTgt>
                                        </p:tgtEl>
                                        <p:attrNameLst>
                                          <p:attrName>style.visibility</p:attrName>
                                        </p:attrNameLst>
                                      </p:cBhvr>
                                      <p:to>
                                        <p:strVal val="visible"/>
                                      </p:to>
                                    </p:set>
                                    <p:animEffect transition="in" filter="slide(fromBottom)">
                                      <p:cBhvr>
                                        <p:cTn id="25" dur="1000"/>
                                        <p:tgtEl>
                                          <p:spTgt spid="51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0241"/>
          <p:cNvSpPr>
            <a:spLocks noGrp="1" noChangeArrowheads="1"/>
          </p:cNvSpPr>
          <p:nvPr>
            <p:ph type="title"/>
          </p:nvPr>
        </p:nvSpPr>
        <p:spPr/>
        <p:txBody>
          <a:bodyPr/>
          <a:lstStyle/>
          <a:p>
            <a:r>
              <a:rPr lang="en-US" altLang="zh-CN"/>
              <a:t>6.1  </a:t>
            </a:r>
            <a:r>
              <a:rPr lang="zh-CN" altLang="en-US"/>
              <a:t>概    述</a:t>
            </a:r>
            <a:endParaRPr lang="zh-CN" altLang="en-US"/>
          </a:p>
        </p:txBody>
      </p:sp>
      <p:sp>
        <p:nvSpPr>
          <p:cNvPr id="10243" name="内容占位符 10242"/>
          <p:cNvSpPr>
            <a:spLocks noGrp="1" noChangeArrowheads="1"/>
          </p:cNvSpPr>
          <p:nvPr>
            <p:ph idx="1"/>
          </p:nvPr>
        </p:nvSpPr>
        <p:spPr>
          <a:xfrm>
            <a:off x="457200" y="1524000"/>
            <a:ext cx="8229600" cy="4953000"/>
          </a:xfrm>
          <a:ln>
            <a:solidFill>
              <a:schemeClr val="bg1"/>
            </a:solidFill>
            <a:miter lim="800000"/>
          </a:ln>
        </p:spPr>
        <p:txBody>
          <a:bodyPr/>
          <a:lstStyle/>
          <a:p>
            <a:pPr>
              <a:buFont typeface="Wingdings" panose="05000000000000000000" pitchFamily="2" charset="2"/>
              <a:buNone/>
            </a:pPr>
            <a:r>
              <a:rPr lang="en-US" altLang="zh-CN"/>
              <a:t>6.1.1  </a:t>
            </a:r>
            <a:r>
              <a:rPr lang="zh-CN" altLang="en-US"/>
              <a:t>文件及其分类</a:t>
            </a:r>
            <a:endParaRPr lang="zh-CN" altLang="en-US"/>
          </a:p>
          <a:p>
            <a:pPr>
              <a:buFont typeface="Wingdings" panose="05000000000000000000" pitchFamily="2" charset="2"/>
              <a:buNone/>
            </a:pPr>
            <a:r>
              <a:rPr lang="zh-CN" altLang="en-US"/>
              <a:t>  </a:t>
            </a:r>
            <a:r>
              <a:rPr lang="en-US" altLang="zh-CN"/>
              <a:t>1</a:t>
            </a:r>
            <a:r>
              <a:rPr lang="zh-CN" altLang="en-US"/>
              <a:t>．</a:t>
            </a:r>
            <a:r>
              <a:rPr lang="zh-CN" altLang="en-US">
                <a:solidFill>
                  <a:srgbClr val="FF0000"/>
                </a:solidFill>
              </a:rPr>
              <a:t>文件</a:t>
            </a:r>
            <a:endParaRPr lang="zh-CN" altLang="en-US">
              <a:solidFill>
                <a:srgbClr val="FF0000"/>
              </a:solidFill>
            </a:endParaRPr>
          </a:p>
          <a:p>
            <a:pPr>
              <a:buFont typeface="Wingdings" panose="05000000000000000000" pitchFamily="2" charset="2"/>
              <a:buNone/>
            </a:pPr>
            <a:r>
              <a:rPr lang="zh-CN" altLang="en-US"/>
              <a:t>         文件</a:t>
            </a:r>
            <a:r>
              <a:rPr lang="en-US" altLang="zh-CN"/>
              <a:t>,</a:t>
            </a:r>
            <a:r>
              <a:rPr lang="zh-CN" altLang="en-US"/>
              <a:t>是被命名的相关</a:t>
            </a:r>
            <a:r>
              <a:rPr lang="zh-CN" altLang="en-US">
                <a:solidFill>
                  <a:srgbClr val="FF0000"/>
                </a:solidFill>
              </a:rPr>
              <a:t>信息的集合体</a:t>
            </a:r>
            <a:r>
              <a:rPr lang="en-US" altLang="zh-CN"/>
              <a:t>.</a:t>
            </a:r>
            <a:r>
              <a:rPr lang="zh-CN" altLang="en-US"/>
              <a:t>用户的程序和数据都要以文件</a:t>
            </a:r>
            <a:r>
              <a:rPr lang="zh-CN" altLang="en-US">
                <a:solidFill>
                  <a:srgbClr val="FF0000"/>
                </a:solidFill>
              </a:rPr>
              <a:t>形式</a:t>
            </a:r>
            <a:r>
              <a:rPr lang="zh-CN" altLang="en-US"/>
              <a:t>存放在系统中</a:t>
            </a:r>
            <a:r>
              <a:rPr lang="en-US" altLang="zh-CN"/>
              <a:t>,</a:t>
            </a:r>
            <a:r>
              <a:rPr lang="zh-CN" altLang="en-US"/>
              <a:t>通常存放在</a:t>
            </a:r>
            <a:r>
              <a:rPr lang="zh-CN" altLang="en-US">
                <a:solidFill>
                  <a:srgbClr val="FF0000"/>
                </a:solidFill>
              </a:rPr>
              <a:t>外存</a:t>
            </a:r>
            <a:r>
              <a:rPr lang="zh-CN" altLang="en-US"/>
              <a:t>（如磁盘、磁带）上，可以作为一个独立单位存放和实施相应的</a:t>
            </a:r>
            <a:r>
              <a:rPr lang="zh-CN" altLang="en-US">
                <a:solidFill>
                  <a:srgbClr val="FF0000"/>
                </a:solidFill>
              </a:rPr>
              <a:t>操作</a:t>
            </a:r>
            <a:r>
              <a:rPr lang="zh-CN" altLang="en-US"/>
              <a:t>（如打开、关闭、读、写等）。</a:t>
            </a:r>
            <a:r>
              <a:rPr lang="zh-CN" altLang="en-US">
                <a:solidFill>
                  <a:srgbClr val="FF0000"/>
                </a:solidFill>
              </a:rPr>
              <a:t> </a:t>
            </a:r>
            <a:endParaRPr lang="zh-CN" altLang="en-US">
              <a:solidFill>
                <a:srgbClr val="FF0000"/>
              </a:solidFill>
            </a:endParaRPr>
          </a:p>
          <a:p>
            <a:pPr>
              <a:buFont typeface="Wingdings" panose="05000000000000000000" pitchFamily="2" charset="2"/>
              <a:buNone/>
            </a:pPr>
            <a:r>
              <a:rPr lang="zh-CN" altLang="en-US" sz="2400"/>
              <a:t>           文件的信息相当广泛</a:t>
            </a:r>
            <a:r>
              <a:rPr lang="en-US" altLang="zh-CN" sz="2400"/>
              <a:t>,</a:t>
            </a:r>
            <a:r>
              <a:rPr lang="zh-CN" altLang="en-US" sz="2400"/>
              <a:t>由创建者定义</a:t>
            </a:r>
            <a:r>
              <a:rPr lang="en-US" altLang="zh-CN" sz="2400"/>
              <a:t>,</a:t>
            </a:r>
            <a:r>
              <a:rPr lang="zh-CN" altLang="en-US" sz="2400"/>
              <a:t>如源程序</a:t>
            </a:r>
            <a:r>
              <a:rPr lang="en-US" altLang="zh-CN" sz="2400"/>
              <a:t>,</a:t>
            </a:r>
            <a:r>
              <a:rPr lang="zh-CN" altLang="en-US" sz="2400"/>
              <a:t>目标程序</a:t>
            </a:r>
            <a:r>
              <a:rPr lang="en-US" altLang="zh-CN" sz="2400"/>
              <a:t>,</a:t>
            </a:r>
            <a:r>
              <a:rPr lang="zh-CN" altLang="en-US" sz="2400"/>
              <a:t>可执行程序</a:t>
            </a:r>
            <a:r>
              <a:rPr lang="en-US" altLang="zh-CN" sz="2400"/>
              <a:t>,</a:t>
            </a:r>
            <a:r>
              <a:rPr lang="zh-CN" altLang="en-US" sz="2400"/>
              <a:t>数值数据</a:t>
            </a:r>
            <a:r>
              <a:rPr lang="en-US" altLang="zh-CN" sz="2400"/>
              <a:t>,</a:t>
            </a:r>
            <a:r>
              <a:rPr lang="zh-CN" altLang="en-US" sz="2400"/>
              <a:t>文本</a:t>
            </a:r>
            <a:r>
              <a:rPr lang="en-US" altLang="zh-CN" sz="2400"/>
              <a:t>,</a:t>
            </a:r>
            <a:r>
              <a:rPr lang="zh-CN" altLang="en-US" sz="2400"/>
              <a:t>工资单</a:t>
            </a:r>
            <a:r>
              <a:rPr lang="en-US" altLang="zh-CN" sz="2400"/>
              <a:t>,</a:t>
            </a:r>
            <a:r>
              <a:rPr lang="zh-CN" altLang="en-US" sz="2400"/>
              <a:t>图形图像</a:t>
            </a:r>
            <a:r>
              <a:rPr lang="en-US" altLang="zh-CN" sz="2400"/>
              <a:t>,</a:t>
            </a:r>
            <a:r>
              <a:rPr lang="zh-CN" altLang="en-US" sz="2400"/>
              <a:t>录音录像等。</a:t>
            </a: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0" dur="500"/>
                                        <p:tgtEl>
                                          <p:spTgt spid="1024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3" dur="500"/>
                                        <p:tgtEl>
                                          <p:spTgt spid="1024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6"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11265"/>
          <p:cNvSpPr>
            <a:spLocks noGrp="1" noChangeArrowheads="1"/>
          </p:cNvSpPr>
          <p:nvPr>
            <p:ph type="title"/>
          </p:nvPr>
        </p:nvSpPr>
        <p:spPr>
          <a:xfrm>
            <a:off x="457200" y="533400"/>
            <a:ext cx="7543800" cy="914400"/>
          </a:xfrm>
        </p:spPr>
        <p:txBody>
          <a:bodyPr/>
          <a:lstStyle/>
          <a:p>
            <a:r>
              <a:rPr lang="en-US" altLang="zh-CN"/>
              <a:t>2</a:t>
            </a:r>
            <a:r>
              <a:rPr lang="zh-CN" altLang="en-US"/>
              <a:t>．文件类型</a:t>
            </a:r>
            <a:endParaRPr lang="zh-CN" altLang="en-US"/>
          </a:p>
        </p:txBody>
      </p:sp>
      <p:sp>
        <p:nvSpPr>
          <p:cNvPr id="11267" name="内容占位符 11266"/>
          <p:cNvSpPr>
            <a:spLocks noGrp="1" noChangeArrowheads="1"/>
          </p:cNvSpPr>
          <p:nvPr>
            <p:ph idx="1"/>
          </p:nvPr>
        </p:nvSpPr>
        <p:spPr/>
        <p:txBody>
          <a:bodyPr/>
          <a:lstStyle/>
          <a:p>
            <a:r>
              <a:rPr lang="zh-CN" altLang="en-US"/>
              <a:t>几种文件分类方法：</a:t>
            </a:r>
            <a:endParaRPr lang="zh-CN" altLang="en-US"/>
          </a:p>
          <a:p>
            <a:pPr>
              <a:buFont typeface="Wingdings" panose="05000000000000000000" pitchFamily="2" charset="2"/>
              <a:buNone/>
            </a:pPr>
            <a:r>
              <a:rPr lang="zh-CN" altLang="en-US"/>
              <a:t>（</a:t>
            </a:r>
            <a:r>
              <a:rPr lang="en-US" altLang="zh-CN"/>
              <a:t>1</a:t>
            </a:r>
            <a:r>
              <a:rPr lang="zh-CN" altLang="en-US"/>
              <a:t>）按用途分类</a:t>
            </a:r>
            <a:endParaRPr lang="zh-CN" altLang="en-US"/>
          </a:p>
          <a:p>
            <a:pPr>
              <a:buFont typeface="Wingdings" panose="05000000000000000000" pitchFamily="2" charset="2"/>
              <a:buNone/>
            </a:pPr>
            <a:r>
              <a:rPr lang="zh-CN" altLang="en-US"/>
              <a:t>   </a:t>
            </a:r>
            <a:r>
              <a:rPr lang="en-US" altLang="zh-CN"/>
              <a:t>① </a:t>
            </a:r>
            <a:r>
              <a:rPr lang="zh-CN" altLang="en-US">
                <a:solidFill>
                  <a:srgbClr val="FF0000"/>
                </a:solidFill>
              </a:rPr>
              <a:t>系统文件</a:t>
            </a:r>
            <a:r>
              <a:rPr lang="en-US" altLang="zh-CN"/>
              <a:t>: </a:t>
            </a:r>
            <a:r>
              <a:rPr lang="zh-CN" altLang="en-US" sz="2400"/>
              <a:t>系统级程序信息组成的文件</a:t>
            </a:r>
            <a:r>
              <a:rPr lang="en-US" altLang="zh-CN" sz="2400"/>
              <a:t>.</a:t>
            </a:r>
            <a:r>
              <a:rPr lang="zh-CN" altLang="en-US" sz="2400"/>
              <a:t>用户通过系统调用才能使用</a:t>
            </a:r>
            <a:r>
              <a:rPr lang="en-US" altLang="zh-CN" sz="2400"/>
              <a:t>.</a:t>
            </a:r>
            <a:endParaRPr lang="en-US" altLang="zh-CN" sz="2400"/>
          </a:p>
          <a:p>
            <a:pPr>
              <a:buFont typeface="Wingdings" panose="05000000000000000000" pitchFamily="2" charset="2"/>
              <a:buNone/>
            </a:pPr>
            <a:r>
              <a:rPr lang="en-US" altLang="zh-CN"/>
              <a:t>   ② </a:t>
            </a:r>
            <a:r>
              <a:rPr lang="zh-CN" altLang="en-US">
                <a:solidFill>
                  <a:srgbClr val="FF0000"/>
                </a:solidFill>
              </a:rPr>
              <a:t>库文件</a:t>
            </a:r>
            <a:r>
              <a:rPr lang="en-US" altLang="zh-CN"/>
              <a:t>: </a:t>
            </a:r>
            <a:r>
              <a:rPr lang="zh-CN" altLang="en-US" sz="2400"/>
              <a:t>标准子程序及常用应用程序组成的文件</a:t>
            </a:r>
            <a:r>
              <a:rPr lang="en-US" altLang="zh-CN" sz="2400"/>
              <a:t>,</a:t>
            </a:r>
            <a:r>
              <a:rPr lang="zh-CN" altLang="en-US" sz="2400"/>
              <a:t>允许用户使用但不能修改</a:t>
            </a:r>
            <a:r>
              <a:rPr lang="en-US" altLang="zh-CN" sz="2400"/>
              <a:t>.</a:t>
            </a:r>
            <a:endParaRPr lang="en-US" altLang="zh-CN" sz="2400"/>
          </a:p>
          <a:p>
            <a:pPr>
              <a:buFont typeface="Wingdings" panose="05000000000000000000" pitchFamily="2" charset="2"/>
              <a:buNone/>
            </a:pPr>
            <a:r>
              <a:rPr lang="en-US" altLang="zh-CN"/>
              <a:t>   ③ </a:t>
            </a:r>
            <a:r>
              <a:rPr lang="zh-CN" altLang="en-US">
                <a:solidFill>
                  <a:srgbClr val="FF0000"/>
                </a:solidFill>
              </a:rPr>
              <a:t>用户文件</a:t>
            </a:r>
            <a:r>
              <a:rPr lang="en-US" altLang="zh-CN" sz="2400"/>
              <a:t>: </a:t>
            </a:r>
            <a:r>
              <a:rPr lang="zh-CN" altLang="en-US" sz="2400"/>
              <a:t>用户保存管理的文件</a:t>
            </a:r>
            <a:r>
              <a:rPr lang="en-US" altLang="zh-CN" sz="2400"/>
              <a:t>,</a:t>
            </a:r>
            <a:r>
              <a:rPr lang="zh-CN" altLang="en-US" sz="2400"/>
              <a:t>由创建者</a:t>
            </a:r>
            <a:r>
              <a:rPr lang="en-US" altLang="zh-CN" sz="2400"/>
              <a:t>\</a:t>
            </a:r>
            <a:r>
              <a:rPr lang="zh-CN" altLang="en-US" sz="2400"/>
              <a:t>授权者适当的读写操作</a:t>
            </a:r>
            <a:r>
              <a:rPr lang="en-US" altLang="zh-CN" sz="2400"/>
              <a:t>.</a:t>
            </a:r>
            <a:endParaRPr lang="en-US" altLang="zh-CN"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animEffect transition="in" filter="diamond(in)">
                                      <p:cBhvr>
                                        <p:cTn id="7" dur="500"/>
                                        <p:tgtEl>
                                          <p:spTgt spid="11267">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1267">
                                            <p:txEl>
                                              <p:pRg st="2" end="2"/>
                                            </p:txEl>
                                          </p:spTgt>
                                        </p:tgtEl>
                                        <p:attrNameLst>
                                          <p:attrName>style.visibility</p:attrName>
                                        </p:attrNameLst>
                                      </p:cBhvr>
                                      <p:to>
                                        <p:strVal val="visible"/>
                                      </p:to>
                                    </p:set>
                                    <p:animEffect transition="in" filter="diamond(in)">
                                      <p:cBhvr>
                                        <p:cTn id="10" dur="500"/>
                                        <p:tgtEl>
                                          <p:spTgt spid="11267">
                                            <p:txEl>
                                              <p:pRg st="2" end="2"/>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11267">
                                            <p:txEl>
                                              <p:pRg st="3" end="3"/>
                                            </p:txEl>
                                          </p:spTgt>
                                        </p:tgtEl>
                                        <p:attrNameLst>
                                          <p:attrName>style.visibility</p:attrName>
                                        </p:attrNameLst>
                                      </p:cBhvr>
                                      <p:to>
                                        <p:strVal val="visible"/>
                                      </p:to>
                                    </p:set>
                                    <p:animEffect transition="in" filter="diamond(in)">
                                      <p:cBhvr>
                                        <p:cTn id="13" dur="500"/>
                                        <p:tgtEl>
                                          <p:spTgt spid="11267">
                                            <p:txEl>
                                              <p:pRg st="3" end="3"/>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11267">
                                            <p:txEl>
                                              <p:pRg st="4" end="4"/>
                                            </p:txEl>
                                          </p:spTgt>
                                        </p:tgtEl>
                                        <p:attrNameLst>
                                          <p:attrName>style.visibility</p:attrName>
                                        </p:attrNameLst>
                                      </p:cBhvr>
                                      <p:to>
                                        <p:strVal val="visible"/>
                                      </p:to>
                                    </p:set>
                                    <p:animEffect transition="in" filter="diamond(in)">
                                      <p:cBhvr>
                                        <p:cTn id="16" dur="500"/>
                                        <p:tgtEl>
                                          <p:spTgt spid="112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12289"/>
          <p:cNvSpPr>
            <a:spLocks noGrp="1" noChangeArrowheads="1"/>
          </p:cNvSpPr>
          <p:nvPr>
            <p:ph type="title"/>
          </p:nvPr>
        </p:nvSpPr>
        <p:spPr/>
        <p:txBody>
          <a:bodyPr/>
          <a:lstStyle/>
          <a:p>
            <a:endParaRPr lang="zh-CN" altLang="en-US"/>
          </a:p>
        </p:txBody>
      </p:sp>
      <p:sp>
        <p:nvSpPr>
          <p:cNvPr id="12291" name="内容占位符 12290"/>
          <p:cNvSpPr>
            <a:spLocks noGrp="1" noChangeArrowheads="1"/>
          </p:cNvSpPr>
          <p:nvPr>
            <p:ph idx="1"/>
          </p:nvPr>
        </p:nvSpPr>
        <p:spPr/>
        <p:txBody>
          <a:bodyPr/>
          <a:lstStyle/>
          <a:p>
            <a:pPr>
              <a:buFont typeface="Wingdings" panose="05000000000000000000" pitchFamily="2" charset="2"/>
              <a:buNone/>
            </a:pPr>
            <a:r>
              <a:rPr lang="zh-CN" altLang="en-US"/>
              <a:t>（</a:t>
            </a:r>
            <a:r>
              <a:rPr lang="en-US" altLang="zh-CN"/>
              <a:t>2</a:t>
            </a:r>
            <a:r>
              <a:rPr lang="zh-CN" altLang="en-US"/>
              <a:t>）按文件中的数据形式分类：</a:t>
            </a:r>
            <a:endParaRPr lang="zh-CN" altLang="en-US"/>
          </a:p>
          <a:p>
            <a:pPr>
              <a:buFont typeface="Wingdings" panose="05000000000000000000" pitchFamily="2" charset="2"/>
              <a:buNone/>
            </a:pPr>
            <a:r>
              <a:rPr lang="zh-CN" altLang="en-US"/>
              <a:t>    </a:t>
            </a:r>
            <a:r>
              <a:rPr lang="en-US" altLang="zh-CN"/>
              <a:t>① </a:t>
            </a:r>
            <a:r>
              <a:rPr lang="zh-CN" altLang="en-US">
                <a:solidFill>
                  <a:srgbClr val="FF0000"/>
                </a:solidFill>
              </a:rPr>
              <a:t>源文件</a:t>
            </a:r>
            <a:r>
              <a:rPr lang="en-US" altLang="zh-CN" sz="2400"/>
              <a:t>:</a:t>
            </a:r>
            <a:r>
              <a:rPr lang="zh-CN" altLang="en-US" sz="2400"/>
              <a:t>源程序和数据构成的文件</a:t>
            </a:r>
            <a:r>
              <a:rPr lang="en-US" altLang="zh-CN" sz="2400"/>
              <a:t>,ASCⅡ</a:t>
            </a:r>
            <a:r>
              <a:rPr lang="zh-CN" altLang="en-US" sz="2400"/>
              <a:t>和汉字组成</a:t>
            </a:r>
            <a:r>
              <a:rPr lang="en-US" altLang="zh-CN" sz="2400"/>
              <a:t>.</a:t>
            </a:r>
            <a:endParaRPr lang="en-US" altLang="zh-CN" sz="2400"/>
          </a:p>
          <a:p>
            <a:pPr>
              <a:buFont typeface="Wingdings" panose="05000000000000000000" pitchFamily="2" charset="2"/>
              <a:buNone/>
            </a:pPr>
            <a:r>
              <a:rPr lang="en-US" altLang="zh-CN"/>
              <a:t>    ② </a:t>
            </a:r>
            <a:r>
              <a:rPr lang="zh-CN" altLang="en-US">
                <a:solidFill>
                  <a:srgbClr val="FF0000"/>
                </a:solidFill>
              </a:rPr>
              <a:t>目标文件</a:t>
            </a:r>
            <a:r>
              <a:rPr lang="en-US" altLang="zh-CN"/>
              <a:t>:</a:t>
            </a:r>
            <a:r>
              <a:rPr lang="zh-CN" altLang="en-US" sz="2400"/>
              <a:t>编译但未连接的二进制文件</a:t>
            </a:r>
            <a:r>
              <a:rPr lang="en-US" altLang="zh-CN" sz="2400"/>
              <a:t>.</a:t>
            </a:r>
            <a:endParaRPr lang="en-US" altLang="zh-CN" sz="2400"/>
          </a:p>
          <a:p>
            <a:pPr>
              <a:buFont typeface="Wingdings" panose="05000000000000000000" pitchFamily="2" charset="2"/>
              <a:buNone/>
            </a:pPr>
            <a:r>
              <a:rPr lang="en-US" altLang="zh-CN"/>
              <a:t>    ③ </a:t>
            </a:r>
            <a:r>
              <a:rPr lang="zh-CN" altLang="en-US">
                <a:solidFill>
                  <a:srgbClr val="FF0000"/>
                </a:solidFill>
              </a:rPr>
              <a:t>可执行文件</a:t>
            </a:r>
            <a:r>
              <a:rPr lang="en-US" altLang="zh-CN"/>
              <a:t>:</a:t>
            </a:r>
            <a:r>
              <a:rPr lang="zh-CN" altLang="en-US" sz="2400"/>
              <a:t>经编译和连接的可执行目标文件</a:t>
            </a:r>
            <a:r>
              <a:rPr lang="en-US" altLang="zh-CN" sz="2400"/>
              <a:t>.</a:t>
            </a:r>
            <a:endParaRPr lang="en-US" altLang="zh-CN"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animEffect transition="in" filter="diamond(in)">
                                      <p:cBhvr>
                                        <p:cTn id="7" dur="500"/>
                                        <p:tgtEl>
                                          <p:spTgt spid="12291">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2291">
                                            <p:txEl>
                                              <p:pRg st="2" end="2"/>
                                            </p:txEl>
                                          </p:spTgt>
                                        </p:tgtEl>
                                        <p:attrNameLst>
                                          <p:attrName>style.visibility</p:attrName>
                                        </p:attrNameLst>
                                      </p:cBhvr>
                                      <p:to>
                                        <p:strVal val="visible"/>
                                      </p:to>
                                    </p:set>
                                    <p:animEffect transition="in" filter="diamond(in)">
                                      <p:cBhvr>
                                        <p:cTn id="10" dur="500"/>
                                        <p:tgtEl>
                                          <p:spTgt spid="12291">
                                            <p:txEl>
                                              <p:pRg st="2" end="2"/>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12291">
                                            <p:txEl>
                                              <p:pRg st="3" end="3"/>
                                            </p:txEl>
                                          </p:spTgt>
                                        </p:tgtEl>
                                        <p:attrNameLst>
                                          <p:attrName>style.visibility</p:attrName>
                                        </p:attrNameLst>
                                      </p:cBhvr>
                                      <p:to>
                                        <p:strVal val="visible"/>
                                      </p:to>
                                    </p:set>
                                    <p:animEffect transition="in" filter="diamond(in)">
                                      <p:cBhvr>
                                        <p:cTn id="13" dur="500"/>
                                        <p:tgtEl>
                                          <p:spTgt spid="122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3313"/>
          <p:cNvSpPr>
            <a:spLocks noGrp="1" noChangeArrowheads="1"/>
          </p:cNvSpPr>
          <p:nvPr>
            <p:ph type="title"/>
          </p:nvPr>
        </p:nvSpPr>
        <p:spPr/>
        <p:txBody>
          <a:bodyPr/>
          <a:lstStyle/>
          <a:p>
            <a:endParaRPr lang="zh-CN" altLang="en-US"/>
          </a:p>
        </p:txBody>
      </p:sp>
      <p:sp>
        <p:nvSpPr>
          <p:cNvPr id="13315" name="内容占位符 13314"/>
          <p:cNvSpPr>
            <a:spLocks noGrp="1" noChangeArrowheads="1"/>
          </p:cNvSpPr>
          <p:nvPr>
            <p:ph idx="1"/>
          </p:nvPr>
        </p:nvSpPr>
        <p:spPr/>
        <p:txBody>
          <a:bodyPr/>
          <a:lstStyle/>
          <a:p>
            <a:pPr>
              <a:buFont typeface="Wingdings" panose="05000000000000000000" pitchFamily="2" charset="2"/>
              <a:buNone/>
            </a:pPr>
            <a:r>
              <a:rPr lang="zh-CN" altLang="en-US"/>
              <a:t>（</a:t>
            </a:r>
            <a:r>
              <a:rPr lang="en-US" altLang="zh-CN"/>
              <a:t>3</a:t>
            </a:r>
            <a:r>
              <a:rPr lang="zh-CN" altLang="en-US"/>
              <a:t>）按存取权限分类：</a:t>
            </a:r>
            <a:endParaRPr lang="zh-CN" altLang="en-US"/>
          </a:p>
          <a:p>
            <a:pPr>
              <a:buFont typeface="Wingdings" panose="05000000000000000000" pitchFamily="2" charset="2"/>
              <a:buNone/>
            </a:pPr>
            <a:r>
              <a:rPr lang="zh-CN" altLang="en-US"/>
              <a:t>       </a:t>
            </a:r>
            <a:r>
              <a:rPr lang="en-US" altLang="zh-CN"/>
              <a:t>① </a:t>
            </a:r>
            <a:r>
              <a:rPr lang="zh-CN" altLang="en-US">
                <a:solidFill>
                  <a:srgbClr val="FF0000"/>
                </a:solidFill>
              </a:rPr>
              <a:t>只读文件</a:t>
            </a:r>
            <a:endParaRPr lang="zh-CN" altLang="en-US">
              <a:solidFill>
                <a:srgbClr val="FF0000"/>
              </a:solidFill>
            </a:endParaRPr>
          </a:p>
          <a:p>
            <a:pPr>
              <a:buFont typeface="Wingdings" panose="05000000000000000000" pitchFamily="2" charset="2"/>
              <a:buNone/>
            </a:pPr>
            <a:r>
              <a:rPr lang="zh-CN" altLang="en-US"/>
              <a:t>       </a:t>
            </a:r>
            <a:r>
              <a:rPr lang="en-US" altLang="zh-CN"/>
              <a:t>② </a:t>
            </a:r>
            <a:r>
              <a:rPr lang="zh-CN" altLang="en-US">
                <a:solidFill>
                  <a:srgbClr val="FF0000"/>
                </a:solidFill>
              </a:rPr>
              <a:t>读写文件</a:t>
            </a:r>
            <a:endParaRPr lang="zh-CN" altLang="en-US">
              <a:solidFill>
                <a:srgbClr val="FF0000"/>
              </a:solidFill>
            </a:endParaRPr>
          </a:p>
          <a:p>
            <a:pPr>
              <a:buFont typeface="Wingdings" panose="05000000000000000000" pitchFamily="2" charset="2"/>
              <a:buNone/>
            </a:pPr>
            <a:r>
              <a:rPr lang="zh-CN" altLang="en-US"/>
              <a:t>       </a:t>
            </a:r>
            <a:r>
              <a:rPr lang="en-US" altLang="zh-CN"/>
              <a:t>③ </a:t>
            </a:r>
            <a:r>
              <a:rPr lang="zh-CN" altLang="en-US">
                <a:solidFill>
                  <a:srgbClr val="FF0000"/>
                </a:solidFill>
              </a:rPr>
              <a:t>可执行文件</a:t>
            </a:r>
            <a:endParaRPr lang="zh-CN" altLang="en-US">
              <a:solidFill>
                <a:srgbClr val="FF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diamond(in)">
                                      <p:cBhvr>
                                        <p:cTn id="7" dur="500"/>
                                        <p:tgtEl>
                                          <p:spTgt spid="13315">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3315">
                                            <p:txEl>
                                              <p:pRg st="2" end="2"/>
                                            </p:txEl>
                                          </p:spTgt>
                                        </p:tgtEl>
                                        <p:attrNameLst>
                                          <p:attrName>style.visibility</p:attrName>
                                        </p:attrNameLst>
                                      </p:cBhvr>
                                      <p:to>
                                        <p:strVal val="visible"/>
                                      </p:to>
                                    </p:set>
                                    <p:animEffect transition="in" filter="diamond(in)">
                                      <p:cBhvr>
                                        <p:cTn id="10" dur="500"/>
                                        <p:tgtEl>
                                          <p:spTgt spid="13315">
                                            <p:txEl>
                                              <p:pRg st="2" end="2"/>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animEffect transition="in" filter="diamond(in)">
                                      <p:cBhvr>
                                        <p:cTn id="13" dur="500"/>
                                        <p:tgtEl>
                                          <p:spTgt spid="13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4337"/>
          <p:cNvSpPr>
            <a:spLocks noGrp="1" noChangeArrowheads="1"/>
          </p:cNvSpPr>
          <p:nvPr>
            <p:ph type="title"/>
          </p:nvPr>
        </p:nvSpPr>
        <p:spPr/>
        <p:txBody>
          <a:bodyPr/>
          <a:lstStyle/>
          <a:p>
            <a:endParaRPr lang="zh-CN" altLang="en-US"/>
          </a:p>
        </p:txBody>
      </p:sp>
      <p:sp>
        <p:nvSpPr>
          <p:cNvPr id="14339" name="内容占位符 14338"/>
          <p:cNvSpPr>
            <a:spLocks noGrp="1" noChangeArrowheads="1"/>
          </p:cNvSpPr>
          <p:nvPr>
            <p:ph idx="1"/>
          </p:nvPr>
        </p:nvSpPr>
        <p:spPr/>
        <p:txBody>
          <a:bodyPr/>
          <a:lstStyle/>
          <a:p>
            <a:pPr>
              <a:buFont typeface="Wingdings" panose="05000000000000000000" pitchFamily="2" charset="2"/>
              <a:buNone/>
            </a:pPr>
            <a:r>
              <a:rPr lang="zh-CN" altLang="en-US"/>
              <a:t>（</a:t>
            </a:r>
            <a:r>
              <a:rPr lang="en-US" altLang="zh-CN"/>
              <a:t>4</a:t>
            </a:r>
            <a:r>
              <a:rPr lang="zh-CN" altLang="en-US"/>
              <a:t>）按保存时间分类</a:t>
            </a:r>
            <a:endParaRPr lang="zh-CN" altLang="en-US"/>
          </a:p>
          <a:p>
            <a:pPr>
              <a:buFont typeface="Wingdings" panose="05000000000000000000" pitchFamily="2" charset="2"/>
              <a:buNone/>
            </a:pPr>
            <a:r>
              <a:rPr lang="zh-CN" altLang="en-US"/>
              <a:t>     </a:t>
            </a:r>
            <a:r>
              <a:rPr lang="en-US" altLang="zh-CN"/>
              <a:t>① </a:t>
            </a:r>
            <a:r>
              <a:rPr lang="zh-CN" altLang="en-US">
                <a:solidFill>
                  <a:srgbClr val="FF0000"/>
                </a:solidFill>
              </a:rPr>
              <a:t>临时文件</a:t>
            </a:r>
            <a:r>
              <a:rPr lang="en-US" altLang="zh-CN"/>
              <a:t>:</a:t>
            </a:r>
            <a:r>
              <a:rPr lang="zh-CN" altLang="en-US"/>
              <a:t>程序执行过程的中间文件</a:t>
            </a:r>
            <a:r>
              <a:rPr lang="en-US" altLang="zh-CN"/>
              <a:t>,</a:t>
            </a:r>
            <a:r>
              <a:rPr lang="zh-CN" altLang="en-US"/>
              <a:t>消失</a:t>
            </a:r>
            <a:r>
              <a:rPr lang="en-US" altLang="zh-CN"/>
              <a:t>.</a:t>
            </a:r>
            <a:endParaRPr lang="en-US" altLang="zh-CN"/>
          </a:p>
          <a:p>
            <a:pPr>
              <a:buFont typeface="Wingdings" panose="05000000000000000000" pitchFamily="2" charset="2"/>
              <a:buNone/>
            </a:pPr>
            <a:r>
              <a:rPr lang="en-US" altLang="zh-CN"/>
              <a:t>     ② </a:t>
            </a:r>
            <a:r>
              <a:rPr lang="zh-CN" altLang="en-US">
                <a:solidFill>
                  <a:srgbClr val="FF0000"/>
                </a:solidFill>
              </a:rPr>
              <a:t>永久文件</a:t>
            </a:r>
            <a:r>
              <a:rPr lang="en-US" altLang="zh-CN"/>
              <a:t>:</a:t>
            </a:r>
            <a:r>
              <a:rPr lang="zh-CN" altLang="en-US"/>
              <a:t>保存</a:t>
            </a:r>
            <a:r>
              <a:rPr lang="en-US" altLang="zh-CN"/>
              <a:t>.</a:t>
            </a:r>
            <a:endParaRPr lang="en-US" altLang="zh-CN"/>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diamond(in)">
                                      <p:cBhvr>
                                        <p:cTn id="7" dur="500"/>
                                        <p:tgtEl>
                                          <p:spTgt spid="14339">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4339">
                                            <p:txEl>
                                              <p:pRg st="2" end="2"/>
                                            </p:txEl>
                                          </p:spTgt>
                                        </p:tgtEl>
                                        <p:attrNameLst>
                                          <p:attrName>style.visibility</p:attrName>
                                        </p:attrNameLst>
                                      </p:cBhvr>
                                      <p:to>
                                        <p:strVal val="visible"/>
                                      </p:to>
                                    </p:set>
                                    <p:animEffect transition="in" filter="diamond(in)">
                                      <p:cBhvr>
                                        <p:cTn id="10" dur="500"/>
                                        <p:tgtEl>
                                          <p:spTgt spid="143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5361"/>
          <p:cNvSpPr>
            <a:spLocks noGrp="1" noChangeArrowheads="1"/>
          </p:cNvSpPr>
          <p:nvPr>
            <p:ph type="title"/>
          </p:nvPr>
        </p:nvSpPr>
        <p:spPr/>
        <p:txBody>
          <a:bodyPr/>
          <a:lstStyle/>
          <a:p>
            <a:r>
              <a:rPr lang="zh-CN" altLang="en-US" sz="3000"/>
              <a:t>（</a:t>
            </a:r>
            <a:r>
              <a:rPr lang="en-US" altLang="zh-CN" sz="3000"/>
              <a:t>5</a:t>
            </a:r>
            <a:r>
              <a:rPr lang="zh-CN" altLang="en-US" sz="3000"/>
              <a:t>）</a:t>
            </a:r>
            <a:r>
              <a:rPr lang="zh-CN" altLang="en-US" sz="2600"/>
              <a:t>在</a:t>
            </a:r>
            <a:r>
              <a:rPr lang="en-US" altLang="zh-CN" sz="2600"/>
              <a:t>UNIX/Linux</a:t>
            </a:r>
            <a:r>
              <a:rPr lang="zh-CN" altLang="en-US" sz="2600"/>
              <a:t>和</a:t>
            </a:r>
            <a:r>
              <a:rPr lang="en-US" altLang="zh-CN" sz="2600"/>
              <a:t>MS-DOS</a:t>
            </a:r>
            <a:r>
              <a:rPr lang="zh-CN" altLang="en-US" sz="2600"/>
              <a:t>系统中，按文件的内部构造和处理方式分类：</a:t>
            </a:r>
            <a:endParaRPr lang="zh-CN" altLang="en-US" sz="2600"/>
          </a:p>
        </p:txBody>
      </p:sp>
      <p:sp>
        <p:nvSpPr>
          <p:cNvPr id="15363" name="内容占位符 15362"/>
          <p:cNvSpPr>
            <a:spLocks noGrp="1" noChangeArrowheads="1"/>
          </p:cNvSpPr>
          <p:nvPr>
            <p:ph idx="1"/>
          </p:nvPr>
        </p:nvSpPr>
        <p:spPr>
          <a:xfrm>
            <a:off x="457200" y="1905000"/>
            <a:ext cx="8229600" cy="4419600"/>
          </a:xfrm>
        </p:spPr>
        <p:txBody>
          <a:bodyPr/>
          <a:lstStyle/>
          <a:p>
            <a:pPr>
              <a:lnSpc>
                <a:spcPct val="80000"/>
              </a:lnSpc>
              <a:buFont typeface="Wingdings" panose="05000000000000000000" pitchFamily="2" charset="2"/>
              <a:buNone/>
            </a:pPr>
            <a:r>
              <a:rPr lang="en-US" altLang="zh-CN" sz="3200"/>
              <a:t>① </a:t>
            </a:r>
            <a:r>
              <a:rPr lang="zh-CN" altLang="en-US" sz="3200">
                <a:solidFill>
                  <a:srgbClr val="FF0000"/>
                </a:solidFill>
              </a:rPr>
              <a:t>普通文件</a:t>
            </a:r>
            <a:r>
              <a:rPr lang="en-US" altLang="zh-CN" sz="3200"/>
              <a:t>—— </a:t>
            </a:r>
            <a:r>
              <a:rPr lang="zh-CN" altLang="en-US" sz="3200"/>
              <a:t>由表示程序、数据或文本的字符串构成，  内部没有固定的结构。</a:t>
            </a:r>
            <a:endParaRPr lang="zh-CN" altLang="en-US" sz="3200"/>
          </a:p>
          <a:p>
            <a:pPr>
              <a:lnSpc>
                <a:spcPct val="80000"/>
              </a:lnSpc>
              <a:buFont typeface="Wingdings" panose="05000000000000000000" pitchFamily="2" charset="2"/>
              <a:buNone/>
            </a:pPr>
            <a:r>
              <a:rPr lang="en-US" altLang="zh-CN" sz="3200"/>
              <a:t>② </a:t>
            </a:r>
            <a:r>
              <a:rPr lang="zh-CN" altLang="en-US" sz="3200">
                <a:solidFill>
                  <a:srgbClr val="FF0000"/>
                </a:solidFill>
              </a:rPr>
              <a:t>目录文件</a:t>
            </a:r>
            <a:r>
              <a:rPr lang="en-US" altLang="zh-CN" sz="3200"/>
              <a:t>—— </a:t>
            </a:r>
            <a:r>
              <a:rPr lang="zh-CN" altLang="en-US" sz="3200"/>
              <a:t>由下属文件的目录项构成的文件。花名册。</a:t>
            </a:r>
            <a:endParaRPr lang="zh-CN" altLang="en-US" sz="3200"/>
          </a:p>
          <a:p>
            <a:pPr>
              <a:lnSpc>
                <a:spcPct val="80000"/>
              </a:lnSpc>
              <a:buFont typeface="Wingdings" panose="05000000000000000000" pitchFamily="2" charset="2"/>
              <a:buNone/>
            </a:pPr>
            <a:r>
              <a:rPr lang="en-US" altLang="zh-CN" sz="3200"/>
              <a:t>③ </a:t>
            </a:r>
            <a:r>
              <a:rPr lang="zh-CN" altLang="en-US" sz="3200">
                <a:solidFill>
                  <a:srgbClr val="FF0000"/>
                </a:solidFill>
              </a:rPr>
              <a:t>特别文件</a:t>
            </a:r>
            <a:r>
              <a:rPr lang="en-US" altLang="zh-CN" sz="3200"/>
              <a:t>—— </a:t>
            </a:r>
            <a:r>
              <a:rPr lang="zh-CN" altLang="en-US" sz="3200"/>
              <a:t>特指各种外部设备。</a:t>
            </a:r>
            <a:endParaRPr lang="zh-CN" altLang="en-US" sz="3200"/>
          </a:p>
          <a:p>
            <a:pPr>
              <a:lnSpc>
                <a:spcPct val="80000"/>
              </a:lnSpc>
              <a:buFont typeface="Wingdings" panose="05000000000000000000" pitchFamily="2" charset="2"/>
              <a:buNone/>
            </a:pPr>
            <a:r>
              <a:rPr lang="zh-CN" altLang="en-US" sz="2400"/>
              <a:t>          系统把所有</a:t>
            </a:r>
            <a:r>
              <a:rPr lang="en-US" altLang="zh-CN" sz="2400"/>
              <a:t>I/O</a:t>
            </a:r>
            <a:r>
              <a:rPr lang="zh-CN" altLang="en-US" sz="2400"/>
              <a:t>设备都作为文件对待，按文件的格式提供给用户使用。</a:t>
            </a: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slide(fromBottom)">
                                      <p:cBhvr>
                                        <p:cTn id="7" dur="500"/>
                                        <p:tgtEl>
                                          <p:spTgt spid="15363">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15363">
                                            <p:txEl>
                                              <p:pRg st="1" end="1"/>
                                            </p:txEl>
                                          </p:spTgt>
                                        </p:tgtEl>
                                        <p:attrNameLst>
                                          <p:attrName>style.visibility</p:attrName>
                                        </p:attrNameLst>
                                      </p:cBhvr>
                                      <p:to>
                                        <p:strVal val="visible"/>
                                      </p:to>
                                    </p:set>
                                    <p:animEffect transition="in" filter="slide(fromBottom)">
                                      <p:cBhvr>
                                        <p:cTn id="10" dur="500"/>
                                        <p:tgtEl>
                                          <p:spTgt spid="15363">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Effect transition="in" filter="slide(fromBottom)">
                                      <p:cBhvr>
                                        <p:cTn id="13" dur="500"/>
                                        <p:tgtEl>
                                          <p:spTgt spid="15363">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15363">
                                            <p:txEl>
                                              <p:pRg st="3" end="3"/>
                                            </p:txEl>
                                          </p:spTgt>
                                        </p:tgtEl>
                                        <p:attrNameLst>
                                          <p:attrName>style.visibility</p:attrName>
                                        </p:attrNameLst>
                                      </p:cBhvr>
                                      <p:to>
                                        <p:strVal val="visible"/>
                                      </p:to>
                                    </p:set>
                                    <p:animEffect transition="in" filter="slide(fromBottom)">
                                      <p:cBhvr>
                                        <p:cTn id="16"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07521"/>
          <p:cNvSpPr>
            <a:spLocks noGrp="1" noChangeArrowheads="1"/>
          </p:cNvSpPr>
          <p:nvPr>
            <p:ph type="title"/>
          </p:nvPr>
        </p:nvSpPr>
        <p:spPr/>
        <p:txBody>
          <a:bodyPr/>
          <a:lstStyle/>
          <a:p>
            <a:r>
              <a:rPr lang="zh-CN" altLang="en-US" sz="3400"/>
              <a:t>（</a:t>
            </a:r>
            <a:r>
              <a:rPr lang="en-US" altLang="zh-CN" sz="3400"/>
              <a:t>5</a:t>
            </a:r>
            <a:r>
              <a:rPr lang="zh-CN" altLang="en-US" sz="3400"/>
              <a:t>）</a:t>
            </a:r>
            <a:r>
              <a:rPr lang="zh-CN" altLang="en-US" sz="3000"/>
              <a:t>在</a:t>
            </a:r>
            <a:r>
              <a:rPr lang="en-US" altLang="zh-CN" sz="3000"/>
              <a:t>UNIX/Linux</a:t>
            </a:r>
            <a:r>
              <a:rPr lang="zh-CN" altLang="en-US" sz="3000"/>
              <a:t>和</a:t>
            </a:r>
            <a:r>
              <a:rPr lang="en-US" altLang="zh-CN" sz="3000"/>
              <a:t>MS-DOS</a:t>
            </a:r>
            <a:r>
              <a:rPr lang="zh-CN" altLang="en-US" sz="3000"/>
              <a:t>系统中，按文件的内部构造和处理方式分类   （ 续 ）</a:t>
            </a:r>
            <a:endParaRPr lang="zh-CN" altLang="en-US" sz="3000"/>
          </a:p>
        </p:txBody>
      </p:sp>
      <p:sp>
        <p:nvSpPr>
          <p:cNvPr id="10242" name="文本占位符 107522"/>
          <p:cNvSpPr>
            <a:spLocks noGrp="1" noChangeArrowheads="1"/>
          </p:cNvSpPr>
          <p:nvPr>
            <p:ph idx="1"/>
          </p:nvPr>
        </p:nvSpPr>
        <p:spPr/>
        <p:txBody>
          <a:bodyPr/>
          <a:lstStyle/>
          <a:p>
            <a:r>
              <a:rPr lang="zh-CN" altLang="en-US" sz="2800">
                <a:solidFill>
                  <a:srgbClr val="FF0000"/>
                </a:solidFill>
              </a:rPr>
              <a:t>特别文件</a:t>
            </a:r>
            <a:r>
              <a:rPr lang="zh-CN" altLang="en-US" sz="2800"/>
              <a:t>分为</a:t>
            </a:r>
            <a:r>
              <a:rPr lang="zh-CN" altLang="en-US" sz="2800">
                <a:solidFill>
                  <a:srgbClr val="3333CC"/>
                </a:solidFill>
              </a:rPr>
              <a:t>字符特别文件</a:t>
            </a:r>
            <a:r>
              <a:rPr lang="zh-CN" altLang="en-US" sz="2800"/>
              <a:t>和</a:t>
            </a:r>
            <a:r>
              <a:rPr lang="zh-CN" altLang="en-US" sz="2800">
                <a:solidFill>
                  <a:srgbClr val="3333CC"/>
                </a:solidFill>
              </a:rPr>
              <a:t>块特别文件</a:t>
            </a:r>
            <a:r>
              <a:rPr lang="zh-CN" altLang="en-US" sz="2800"/>
              <a:t>。</a:t>
            </a:r>
            <a:endParaRPr lang="zh-CN" altLang="en-US" sz="2800"/>
          </a:p>
          <a:p>
            <a:pPr>
              <a:buFont typeface="Wingdings" panose="05000000000000000000" pitchFamily="2" charset="2"/>
              <a:buNone/>
            </a:pPr>
            <a:r>
              <a:rPr lang="zh-CN" altLang="en-US" sz="2800"/>
              <a:t>            分为字符特别文件（输入输出设备），块特别文件（存储信息的设备）。</a:t>
            </a:r>
            <a:endParaRPr lang="zh-CN" altLang="en-US" sz="2800"/>
          </a:p>
          <a:p>
            <a:r>
              <a:rPr lang="zh-CN" altLang="en-US" sz="2800">
                <a:solidFill>
                  <a:srgbClr val="FF0000"/>
                </a:solidFill>
              </a:rPr>
              <a:t>普通文件</a:t>
            </a:r>
            <a:r>
              <a:rPr lang="zh-CN" altLang="en-US" sz="2800"/>
              <a:t>通常分为</a:t>
            </a:r>
            <a:r>
              <a:rPr lang="en-US" altLang="zh-CN" sz="2800">
                <a:solidFill>
                  <a:srgbClr val="3333CC"/>
                </a:solidFill>
              </a:rPr>
              <a:t>ASCII</a:t>
            </a:r>
            <a:r>
              <a:rPr lang="zh-CN" altLang="en-US" sz="2800">
                <a:solidFill>
                  <a:srgbClr val="3333CC"/>
                </a:solidFill>
              </a:rPr>
              <a:t>文件</a:t>
            </a:r>
            <a:r>
              <a:rPr lang="zh-CN" altLang="en-US" sz="2800"/>
              <a:t>和</a:t>
            </a:r>
            <a:r>
              <a:rPr lang="zh-CN" altLang="en-US" sz="2800">
                <a:solidFill>
                  <a:srgbClr val="3333CC"/>
                </a:solidFill>
              </a:rPr>
              <a:t>二进制文件</a:t>
            </a:r>
            <a:r>
              <a:rPr lang="zh-CN" altLang="en-US" sz="2800"/>
              <a:t>。</a:t>
            </a:r>
            <a:endParaRPr lang="zh-CN" altLang="en-US" sz="2800"/>
          </a:p>
          <a:p>
            <a:pPr>
              <a:buFont typeface="Wingdings" panose="05000000000000000000" pitchFamily="2" charset="2"/>
              <a:buNone/>
            </a:pPr>
            <a:r>
              <a:rPr lang="zh-CN" altLang="en-US" sz="2800"/>
              <a:t>           </a:t>
            </a:r>
            <a:r>
              <a:rPr lang="en-US" altLang="zh-CN" sz="2800"/>
              <a:t>ASCII</a:t>
            </a:r>
            <a:r>
              <a:rPr lang="zh-CN" altLang="en-US" sz="2800"/>
              <a:t>文件又称文本文件。 </a:t>
            </a:r>
            <a:r>
              <a:rPr lang="en-US" altLang="zh-CN" sz="2800"/>
              <a:t>ASCII</a:t>
            </a:r>
            <a:r>
              <a:rPr lang="zh-CN" altLang="en-US" sz="2800"/>
              <a:t>文件由只包含</a:t>
            </a:r>
            <a:r>
              <a:rPr lang="en-US" altLang="zh-CN" sz="2800"/>
              <a:t>ASCII</a:t>
            </a:r>
            <a:r>
              <a:rPr lang="zh-CN" altLang="en-US" sz="2800"/>
              <a:t>字符的正文行组成，每个正文行以回车符或换行符终止，各行的长度可以不同。</a:t>
            </a:r>
            <a:endParaRPr lang="zh-CN" altLang="en-US" sz="2800"/>
          </a:p>
          <a:p>
            <a:pPr>
              <a:buFont typeface="Wingdings" panose="05000000000000000000" pitchFamily="2" charset="2"/>
              <a:buNone/>
            </a:pPr>
            <a:r>
              <a:rPr lang="zh-CN" altLang="en-US" sz="2800"/>
              <a:t>           存档文件是二进制文件的另一示例。它由编译过但未连接的库过程或模块集合组成。</a:t>
            </a:r>
            <a:endParaRPr lang="zh-CN" altLang="en-US" sz="2800"/>
          </a:p>
          <a:p>
            <a:endParaRPr lang="zh-CN" altLang="en-US"/>
          </a:p>
        </p:txBody>
      </p:sp>
    </p:spTree>
  </p:cSld>
  <p:clrMapOvr>
    <a:masterClrMapping/>
  </p:clrMapOvr>
  <p:transition spd="slow">
    <p:pull dir="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文本占位符 16387" descr="b6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609600" y="0"/>
            <a:ext cx="7696200" cy="6248400"/>
          </a:xfrm>
        </p:spPr>
      </p:pic>
      <p:sp>
        <p:nvSpPr>
          <p:cNvPr id="11266" name="矩形 16388"/>
          <p:cNvSpPr>
            <a:spLocks noChangeArrowheads="1"/>
          </p:cNvSpPr>
          <p:nvPr/>
        </p:nvSpPr>
        <p:spPr bwMode="auto">
          <a:xfrm>
            <a:off x="2362200" y="6248400"/>
            <a:ext cx="431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a:latin typeface="Tahoma" panose="020B0604030504040204" pitchFamily="34" charset="0"/>
              </a:rPr>
              <a:t>图</a:t>
            </a:r>
            <a:r>
              <a:rPr lang="en-US" altLang="zh-CN">
                <a:latin typeface="Tahoma" panose="020B0604030504040204" pitchFamily="34" charset="0"/>
              </a:rPr>
              <a:t>6-1  </a:t>
            </a:r>
            <a:r>
              <a:rPr lang="zh-CN" altLang="en-US">
                <a:latin typeface="Tahoma" panose="020B0604030504040204" pitchFamily="34" charset="0"/>
              </a:rPr>
              <a:t>可执行文件和存档文件的内部结构</a:t>
            </a:r>
            <a:endParaRPr lang="zh-CN" altLang="en-US">
              <a:latin typeface="Tahoma" panose="020B0604030504040204" pitchFamily="34" charset="0"/>
            </a:endParaRPr>
          </a:p>
        </p:txBody>
      </p:sp>
    </p:spTree>
  </p:cSld>
  <p:clrMapOvr>
    <a:masterClrMapping/>
  </p:clrMapOvr>
  <p:transition spd="slow">
    <p:pull dir="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7409"/>
          <p:cNvSpPr>
            <a:spLocks noGrp="1" noChangeArrowheads="1"/>
          </p:cNvSpPr>
          <p:nvPr>
            <p:ph type="title"/>
          </p:nvPr>
        </p:nvSpPr>
        <p:spPr/>
        <p:txBody>
          <a:bodyPr/>
          <a:lstStyle/>
          <a:p>
            <a:r>
              <a:rPr lang="en-US" altLang="zh-CN" sz="3500"/>
              <a:t>6.1.2  </a:t>
            </a:r>
            <a:r>
              <a:rPr lang="zh-CN" altLang="en-US" sz="3500"/>
              <a:t>文件命名</a:t>
            </a:r>
            <a:br>
              <a:rPr lang="zh-CN" altLang="en-US" sz="3500"/>
            </a:br>
            <a:endParaRPr lang="zh-CN" altLang="en-US" sz="3500"/>
          </a:p>
        </p:txBody>
      </p:sp>
      <p:sp>
        <p:nvSpPr>
          <p:cNvPr id="17411" name="内容占位符 17410"/>
          <p:cNvSpPr>
            <a:spLocks noGrp="1" noChangeArrowheads="1"/>
          </p:cNvSpPr>
          <p:nvPr>
            <p:ph idx="1"/>
          </p:nvPr>
        </p:nvSpPr>
        <p:spPr/>
        <p:txBody>
          <a:bodyPr/>
          <a:lstStyle/>
          <a:p>
            <a:r>
              <a:rPr lang="zh-CN" altLang="en-US"/>
              <a:t>用户对文件也是“</a:t>
            </a:r>
            <a:r>
              <a:rPr lang="zh-CN" altLang="en-US">
                <a:solidFill>
                  <a:srgbClr val="FF0000"/>
                </a:solidFill>
              </a:rPr>
              <a:t>按名存取</a:t>
            </a:r>
            <a:r>
              <a:rPr lang="zh-CN" altLang="en-US"/>
              <a:t>”的。</a:t>
            </a:r>
            <a:endParaRPr lang="zh-CN" altLang="en-US"/>
          </a:p>
          <a:p>
            <a:r>
              <a:rPr lang="zh-CN" altLang="en-US"/>
              <a:t>不同系统对文件的</a:t>
            </a:r>
            <a:r>
              <a:rPr lang="zh-CN" altLang="en-US">
                <a:solidFill>
                  <a:srgbClr val="FF0000"/>
                </a:solidFill>
              </a:rPr>
              <a:t>命名规则</a:t>
            </a:r>
            <a:r>
              <a:rPr lang="zh-CN" altLang="en-US"/>
              <a:t>是不同的。</a:t>
            </a:r>
            <a:r>
              <a:rPr lang="en-US" altLang="zh-CN"/>
              <a:t>UNIX</a:t>
            </a:r>
            <a:r>
              <a:rPr lang="zh-CN" altLang="en-US"/>
              <a:t>、</a:t>
            </a:r>
            <a:r>
              <a:rPr lang="en-US" altLang="zh-CN"/>
              <a:t>Linux</a:t>
            </a:r>
            <a:r>
              <a:rPr lang="zh-CN" altLang="en-US">
                <a:solidFill>
                  <a:srgbClr val="0033CC"/>
                </a:solidFill>
              </a:rPr>
              <a:t>区分大小写</a:t>
            </a:r>
            <a:r>
              <a:rPr lang="zh-CN" altLang="en-US"/>
              <a:t>，</a:t>
            </a:r>
            <a:r>
              <a:rPr lang="en-US" altLang="zh-CN"/>
              <a:t>MS-DOS</a:t>
            </a:r>
            <a:r>
              <a:rPr lang="zh-CN" altLang="en-US"/>
              <a:t>、</a:t>
            </a:r>
            <a:r>
              <a:rPr lang="en-US" altLang="zh-CN"/>
              <a:t>Windows</a:t>
            </a:r>
            <a:r>
              <a:rPr lang="zh-CN" altLang="en-US"/>
              <a:t>（继承</a:t>
            </a:r>
            <a:r>
              <a:rPr lang="en-US" altLang="zh-CN"/>
              <a:t>MS-DOS </a:t>
            </a:r>
            <a:r>
              <a:rPr lang="zh-CN" altLang="en-US"/>
              <a:t>）不区分大小写。</a:t>
            </a:r>
            <a:endParaRPr lang="zh-CN" altLang="en-US"/>
          </a:p>
          <a:p>
            <a:r>
              <a:rPr lang="zh-CN" altLang="en-US"/>
              <a:t>很多操作系统支持的文件名都由两部分构成：</a:t>
            </a:r>
            <a:r>
              <a:rPr lang="zh-CN" altLang="en-US">
                <a:solidFill>
                  <a:srgbClr val="FF0000"/>
                </a:solidFill>
              </a:rPr>
              <a:t>文件名</a:t>
            </a:r>
            <a:r>
              <a:rPr lang="zh-CN" altLang="en-US"/>
              <a:t>和</a:t>
            </a:r>
            <a:r>
              <a:rPr lang="zh-CN" altLang="en-US">
                <a:solidFill>
                  <a:srgbClr val="FF0000"/>
                </a:solidFill>
              </a:rPr>
              <a:t>扩展名</a:t>
            </a:r>
            <a:r>
              <a:rPr lang="zh-CN" altLang="en-US"/>
              <a:t>，二者间用</a:t>
            </a:r>
            <a:r>
              <a:rPr lang="zh-CN" altLang="en-US">
                <a:solidFill>
                  <a:srgbClr val="FF0000"/>
                </a:solidFill>
              </a:rPr>
              <a:t>圆点</a:t>
            </a:r>
            <a:r>
              <a:rPr lang="zh-CN" altLang="en-US"/>
              <a:t>分开。</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dissolve">
                                      <p:cBhvr>
                                        <p:cTn id="7" dur="500"/>
                                        <p:tgtEl>
                                          <p:spTgt spid="17411">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7411">
                                            <p:txEl>
                                              <p:pRg st="1" end="1"/>
                                            </p:txEl>
                                          </p:spTgt>
                                        </p:tgtEl>
                                        <p:attrNameLst>
                                          <p:attrName>style.visibility</p:attrName>
                                        </p:attrNameLst>
                                      </p:cBhvr>
                                      <p:to>
                                        <p:strVal val="visible"/>
                                      </p:to>
                                    </p:set>
                                    <p:animEffect transition="in" filter="dissolve">
                                      <p:cBhvr>
                                        <p:cTn id="10" dur="500"/>
                                        <p:tgtEl>
                                          <p:spTgt spid="17411">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Effect transition="in" filter="dissolve">
                                      <p:cBhvr>
                                        <p:cTn id="13"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矩形 18435"/>
          <p:cNvSpPr>
            <a:spLocks noChangeArrowheads="1"/>
          </p:cNvSpPr>
          <p:nvPr/>
        </p:nvSpPr>
        <p:spPr bwMode="auto">
          <a:xfrm>
            <a:off x="2514600" y="381000"/>
            <a:ext cx="340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表</a:t>
            </a:r>
            <a:r>
              <a:rPr lang="en-US" altLang="zh-CN">
                <a:latin typeface="Tahoma" panose="020B0604030504040204" pitchFamily="34" charset="0"/>
              </a:rPr>
              <a:t>6-1  </a:t>
            </a:r>
            <a:r>
              <a:rPr lang="zh-CN" altLang="en-US">
                <a:latin typeface="Tahoma" panose="020B0604030504040204" pitchFamily="34" charset="0"/>
              </a:rPr>
              <a:t>常见文件扩展名及其含义</a:t>
            </a:r>
            <a:endParaRPr lang="zh-CN" altLang="en-US">
              <a:latin typeface="Tahoma" panose="020B0604030504040204" pitchFamily="34" charset="0"/>
            </a:endParaRPr>
          </a:p>
        </p:txBody>
      </p:sp>
      <p:sp>
        <p:nvSpPr>
          <p:cNvPr id="18437" name="矩形 18436"/>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39" name="矩形 18438"/>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41" name="矩形 18440"/>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43" name="矩形 18442"/>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45" name="矩形 18444"/>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47" name="矩形 18446"/>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49" name="矩形 18448"/>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51" name="矩形 18450"/>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53" name="矩形 18452"/>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55" name="矩形 18454"/>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57" name="矩形 18456"/>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59" name="矩形 18458"/>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61" name="矩形 18460"/>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63" name="矩形 18462"/>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65" name="矩形 18464"/>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67" name="矩形 18466"/>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69" name="矩形 18468"/>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71" name="矩形 18470"/>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73" name="矩形 18472"/>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75" name="矩形 18474"/>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77" name="矩形 18476"/>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79" name="矩形 18478"/>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81" name="矩形 18480"/>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83" name="矩形 18482"/>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85" name="矩形 18484"/>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87" name="矩形 18486"/>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89" name="矩形 18488"/>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91" name="矩形 18490"/>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93" name="矩形 18492"/>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95" name="矩形 18494"/>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97" name="矩形 18496"/>
          <p:cNvSpPr>
            <a:spLocks noChangeArrowheads="1"/>
          </p:cNvSpPr>
          <p:nvPr/>
        </p:nvSpPr>
        <p:spPr bwMode="auto">
          <a:xfrm>
            <a:off x="774700" y="2185988"/>
            <a:ext cx="13509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499" name="矩形 18498"/>
          <p:cNvSpPr>
            <a:spLocks noChangeArrowheads="1"/>
          </p:cNvSpPr>
          <p:nvPr/>
        </p:nvSpPr>
        <p:spPr bwMode="auto">
          <a:xfrm>
            <a:off x="774700" y="2185988"/>
            <a:ext cx="11938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8501" name="矩形 18500"/>
          <p:cNvSpPr>
            <a:spLocks noChangeArrowheads="1"/>
          </p:cNvSpPr>
          <p:nvPr/>
        </p:nvSpPr>
        <p:spPr bwMode="auto">
          <a:xfrm>
            <a:off x="774700" y="2185988"/>
            <a:ext cx="258603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8750" name="表格 18749"/>
          <p:cNvGraphicFramePr/>
          <p:nvPr/>
        </p:nvGraphicFramePr>
        <p:xfrm>
          <a:off x="457200" y="990600"/>
          <a:ext cx="8077200" cy="5630863"/>
        </p:xfrm>
        <a:graphic>
          <a:graphicData uri="http://schemas.openxmlformats.org/drawingml/2006/table">
            <a:tbl>
              <a:tblPr/>
              <a:tblGrid>
                <a:gridCol w="2127250"/>
                <a:gridCol w="1879600"/>
                <a:gridCol w="4070350"/>
              </a:tblGrid>
              <a:tr h="584200">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lgn="ctr">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扩  展  名</a:t>
                      </a:r>
                      <a:endParaRPr lang="zh-CN" altLang="en-US" sz="17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lgn="ctr">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文 件 类 型</a:t>
                      </a:r>
                      <a:endParaRPr lang="zh-CN" altLang="en-US" sz="17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lgn="ctr">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含    义</a:t>
                      </a:r>
                      <a:endParaRPr lang="zh-CN" altLang="en-US" sz="17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0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exe</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com</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bin</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可执行文件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可以运行的机器语言程序</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8788">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err="1">
                          <a:latin typeface="Times New Roman" panose="02020603050405020304" pitchFamily="18" charset="0"/>
                          <a:ea typeface="Times New Roman" panose="02020603050405020304" pitchFamily="18" charset="0"/>
                        </a:rPr>
                        <a:t>obj</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o </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目标文件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编译过的、尚未连接的机器语言程序</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08012">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c</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cc</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java</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pas</a:t>
                      </a:r>
                      <a:r>
                        <a:rPr lang="zh-CN" altLang="en-US" sz="1700" dirty="0">
                          <a:latin typeface="Times New Roman" panose="02020603050405020304" pitchFamily="18" charset="0"/>
                          <a:ea typeface="Times New Roman" panose="02020603050405020304" pitchFamily="18" charset="0"/>
                        </a:rPr>
                        <a:t>，</a:t>
                      </a:r>
                      <a:r>
                        <a:rPr lang="en-US" altLang="zh-CN" sz="1700" err="1">
                          <a:latin typeface="Times New Roman" panose="02020603050405020304" pitchFamily="18" charset="0"/>
                          <a:ea typeface="Times New Roman" panose="02020603050405020304" pitchFamily="18" charset="0"/>
                        </a:rPr>
                        <a:t>asm</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a</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源文件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用各种语言编写的源代码</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0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bat</a:t>
                      </a:r>
                      <a:r>
                        <a:rPr lang="zh-CN" altLang="en-US" sz="1700" dirty="0">
                          <a:latin typeface="Times New Roman" panose="02020603050405020304" pitchFamily="18" charset="0"/>
                          <a:ea typeface="Times New Roman" panose="02020603050405020304" pitchFamily="18" charset="0"/>
                        </a:rPr>
                        <a:t>，</a:t>
                      </a:r>
                      <a:r>
                        <a:rPr lang="en-US" altLang="zh-CN" sz="1700" err="1">
                          <a:latin typeface="Times New Roman" panose="02020603050405020304" pitchFamily="18" charset="0"/>
                          <a:ea typeface="Times New Roman" panose="02020603050405020304" pitchFamily="18" charset="0"/>
                        </a:rPr>
                        <a:t>sh</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批文件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由命令解释程序处理的命令</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8788">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txt</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doc</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文本文件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文本数据、文档</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0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err="1">
                          <a:latin typeface="Times New Roman" panose="02020603050405020304" pitchFamily="18" charset="0"/>
                          <a:ea typeface="Times New Roman" panose="02020603050405020304" pitchFamily="18" charset="0"/>
                        </a:rPr>
                        <a:t>wp</a:t>
                      </a:r>
                      <a:r>
                        <a:rPr lang="zh-CN" altLang="en-US" sz="1700" dirty="0">
                          <a:latin typeface="Times New Roman" panose="02020603050405020304" pitchFamily="18" charset="0"/>
                          <a:ea typeface="Times New Roman" panose="02020603050405020304" pitchFamily="18" charset="0"/>
                        </a:rPr>
                        <a:t>，</a:t>
                      </a:r>
                      <a:r>
                        <a:rPr lang="en-US" altLang="zh-CN" sz="1700" err="1">
                          <a:latin typeface="Times New Roman" panose="02020603050405020304" pitchFamily="18" charset="0"/>
                          <a:ea typeface="Times New Roman" panose="02020603050405020304" pitchFamily="18" charset="0"/>
                        </a:rPr>
                        <a:t>tex</a:t>
                      </a:r>
                      <a:r>
                        <a:rPr lang="zh-CN" altLang="en-US" sz="1700" dirty="0">
                          <a:latin typeface="Times New Roman" panose="02020603050405020304" pitchFamily="18" charset="0"/>
                          <a:ea typeface="Times New Roman" panose="02020603050405020304" pitchFamily="18" charset="0"/>
                        </a:rPr>
                        <a:t>，</a:t>
                      </a:r>
                      <a:r>
                        <a:rPr lang="en-US" altLang="zh-CN" sz="1700" err="1">
                          <a:latin typeface="Times New Roman" panose="02020603050405020304" pitchFamily="18" charset="0"/>
                          <a:ea typeface="Times New Roman" panose="02020603050405020304" pitchFamily="18" charset="0"/>
                        </a:rPr>
                        <a:t>rrf</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doc</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字处理文档文件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各种字处理器格式的文件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58787">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lib</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a</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so</a:t>
                      </a:r>
                      <a:r>
                        <a:rPr lang="zh-CN" altLang="en-US" sz="1700" dirty="0">
                          <a:latin typeface="Times New Roman" panose="02020603050405020304" pitchFamily="18" charset="0"/>
                          <a:ea typeface="Times New Roman" panose="02020603050405020304" pitchFamily="18" charset="0"/>
                        </a:rPr>
                        <a:t>，</a:t>
                      </a:r>
                      <a:r>
                        <a:rPr lang="en-US" altLang="zh-CN" sz="1700" err="1">
                          <a:latin typeface="Times New Roman" panose="02020603050405020304" pitchFamily="18" charset="0"/>
                          <a:ea typeface="Times New Roman" panose="02020603050405020304" pitchFamily="18" charset="0"/>
                        </a:rPr>
                        <a:t>dll</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库文件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供程序员使用的例程库</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08013">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arc</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zip</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tar</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打印或视图文件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以打印或可视格式保存的</a:t>
                      </a:r>
                      <a:r>
                        <a:rPr lang="en-US" altLang="zh-CN" sz="1700">
                          <a:latin typeface="Times New Roman" panose="02020603050405020304" pitchFamily="18" charset="0"/>
                          <a:ea typeface="Times New Roman" panose="02020603050405020304" pitchFamily="18" charset="0"/>
                        </a:rPr>
                        <a:t>ASCI I</a:t>
                      </a:r>
                      <a:r>
                        <a:rPr lang="zh-CN" altLang="en-US" sz="1700" dirty="0">
                          <a:latin typeface="Times New Roman" panose="02020603050405020304" pitchFamily="18" charset="0"/>
                          <a:ea typeface="Times New Roman" panose="02020603050405020304" pitchFamily="18" charset="0"/>
                        </a:rPr>
                        <a:t>码文件或二进制文件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08012">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arc</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zip</a:t>
                      </a:r>
                      <a:r>
                        <a:rPr lang="zh-CN" altLang="en-US" sz="1700" dirty="0">
                          <a:latin typeface="Times New Roman" panose="02020603050405020304" pitchFamily="18" charset="0"/>
                          <a:ea typeface="Times New Roman" panose="02020603050405020304" pitchFamily="18" charset="0"/>
                        </a:rPr>
                        <a:t>，</a:t>
                      </a:r>
                      <a:r>
                        <a:rPr lang="en-US" altLang="zh-CN" sz="1700">
                          <a:latin typeface="Times New Roman" panose="02020603050405020304" pitchFamily="18" charset="0"/>
                          <a:ea typeface="Times New Roman" panose="02020603050405020304" pitchFamily="18" charset="0"/>
                        </a:rPr>
                        <a:t>tar</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存档文件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相关文件组成一个文件（有时压缩）进行存档或存储</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0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700">
                          <a:latin typeface="Times New Roman" panose="02020603050405020304" pitchFamily="18" charset="0"/>
                          <a:ea typeface="Times New Roman" panose="02020603050405020304" pitchFamily="18" charset="0"/>
                        </a:rPr>
                        <a:t>mpeg</a:t>
                      </a:r>
                      <a:r>
                        <a:rPr lang="zh-CN" altLang="en-US" sz="1700" dirty="0">
                          <a:latin typeface="Times New Roman" panose="02020603050405020304" pitchFamily="18" charset="0"/>
                          <a:ea typeface="Times New Roman" panose="02020603050405020304" pitchFamily="18" charset="0"/>
                        </a:rPr>
                        <a:t>，</a:t>
                      </a:r>
                      <a:r>
                        <a:rPr lang="en-US" altLang="zh-CN" sz="1700" err="1">
                          <a:latin typeface="Times New Roman" panose="02020603050405020304" pitchFamily="18" charset="0"/>
                          <a:ea typeface="Times New Roman" panose="02020603050405020304" pitchFamily="18" charset="0"/>
                        </a:rPr>
                        <a:t>mov</a:t>
                      </a:r>
                      <a:r>
                        <a:rPr lang="zh-CN" altLang="en-US" sz="1700" dirty="0">
                          <a:latin typeface="Times New Roman" panose="02020603050405020304" pitchFamily="18" charset="0"/>
                          <a:ea typeface="Times New Roman" panose="02020603050405020304" pitchFamily="18" charset="0"/>
                        </a:rPr>
                        <a:t>，</a:t>
                      </a:r>
                      <a:r>
                        <a:rPr lang="en-US" altLang="zh-CN" sz="1700" err="1">
                          <a:latin typeface="Times New Roman" panose="02020603050405020304" pitchFamily="18" charset="0"/>
                          <a:ea typeface="Times New Roman" panose="02020603050405020304" pitchFamily="18" charset="0"/>
                        </a:rPr>
                        <a:t>rm</a:t>
                      </a:r>
                      <a:endParaRPr lang="en-US" altLang="zh-CN" sz="17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多媒体文件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700" dirty="0">
                          <a:latin typeface="Times New Roman" panose="02020603050405020304" pitchFamily="18" charset="0"/>
                          <a:ea typeface="Times New Roman" panose="02020603050405020304" pitchFamily="18" charset="0"/>
                        </a:rPr>
                        <a:t>包含声音或</a:t>
                      </a:r>
                      <a:r>
                        <a:rPr lang="en-US" altLang="zh-CN" sz="1700">
                          <a:latin typeface="Times New Roman" panose="02020603050405020304" pitchFamily="18" charset="0"/>
                          <a:ea typeface="Times New Roman" panose="02020603050405020304" pitchFamily="18" charset="0"/>
                        </a:rPr>
                        <a:t>A/V</a:t>
                      </a:r>
                      <a:r>
                        <a:rPr lang="zh-CN" altLang="en-US" sz="1700" dirty="0">
                          <a:latin typeface="Times New Roman" panose="02020603050405020304" pitchFamily="18" charset="0"/>
                          <a:ea typeface="Times New Roman" panose="02020603050405020304" pitchFamily="18" charset="0"/>
                        </a:rPr>
                        <a:t>信息的二进制文件</a:t>
                      </a:r>
                      <a:endParaRPr lang="zh-CN" altLang="en-US" sz="17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843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8437"/>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18439"/>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nodeType="afterEffect">
                                  <p:stCondLst>
                                    <p:cond delay="0"/>
                                  </p:stCondLst>
                                  <p:childTnLst>
                                    <p:set>
                                      <p:cBhvr>
                                        <p:cTn id="15" dur="1" fill="hold">
                                          <p:stCondLst>
                                            <p:cond delay="499"/>
                                          </p:stCondLst>
                                        </p:cTn>
                                        <p:tgtEl>
                                          <p:spTgt spid="18441"/>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nodeType="afterEffect">
                                  <p:stCondLst>
                                    <p:cond delay="0"/>
                                  </p:stCondLst>
                                  <p:childTnLst>
                                    <p:set>
                                      <p:cBhvr>
                                        <p:cTn id="18" dur="1" fill="hold">
                                          <p:stCondLst>
                                            <p:cond delay="499"/>
                                          </p:stCondLst>
                                        </p:cTn>
                                        <p:tgtEl>
                                          <p:spTgt spid="18443"/>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18445"/>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nodeType="afterEffect">
                                  <p:stCondLst>
                                    <p:cond delay="0"/>
                                  </p:stCondLst>
                                  <p:childTnLst>
                                    <p:set>
                                      <p:cBhvr>
                                        <p:cTn id="24" dur="1" fill="hold">
                                          <p:stCondLst>
                                            <p:cond delay="499"/>
                                          </p:stCondLst>
                                        </p:cTn>
                                        <p:tgtEl>
                                          <p:spTgt spid="18447"/>
                                        </p:tgtEl>
                                        <p:attrNameLst>
                                          <p:attrName>style.visibility</p:attrName>
                                        </p:attrNameLst>
                                      </p:cBhvr>
                                      <p:to>
                                        <p:strVal val="visible"/>
                                      </p:to>
                                    </p:se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499"/>
                                          </p:stCondLst>
                                        </p:cTn>
                                        <p:tgtEl>
                                          <p:spTgt spid="18449"/>
                                        </p:tgtEl>
                                        <p:attrNameLst>
                                          <p:attrName>style.visibility</p:attrName>
                                        </p:attrNameLst>
                                      </p:cBhvr>
                                      <p:to>
                                        <p:strVal val="visible"/>
                                      </p:to>
                                    </p:set>
                                  </p:childTnLst>
                                </p:cTn>
                              </p:par>
                            </p:childTnLst>
                          </p:cTn>
                        </p:par>
                        <p:par>
                          <p:cTn id="28" fill="hold">
                            <p:stCondLst>
                              <p:cond delay="4000"/>
                            </p:stCondLst>
                            <p:childTnLst>
                              <p:par>
                                <p:cTn id="29" presetID="1" presetClass="entr" presetSubtype="0" fill="hold" nodeType="afterEffect">
                                  <p:stCondLst>
                                    <p:cond delay="0"/>
                                  </p:stCondLst>
                                  <p:childTnLst>
                                    <p:set>
                                      <p:cBhvr>
                                        <p:cTn id="30" dur="1" fill="hold">
                                          <p:stCondLst>
                                            <p:cond delay="499"/>
                                          </p:stCondLst>
                                        </p:cTn>
                                        <p:tgtEl>
                                          <p:spTgt spid="18451"/>
                                        </p:tgtEl>
                                        <p:attrNameLst>
                                          <p:attrName>style.visibility</p:attrName>
                                        </p:attrNameLst>
                                      </p:cBhvr>
                                      <p:to>
                                        <p:strVal val="visible"/>
                                      </p:to>
                                    </p:set>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499"/>
                                          </p:stCondLst>
                                        </p:cTn>
                                        <p:tgtEl>
                                          <p:spTgt spid="18453"/>
                                        </p:tgtEl>
                                        <p:attrNameLst>
                                          <p:attrName>style.visibility</p:attrName>
                                        </p:attrNameLst>
                                      </p:cBhvr>
                                      <p:to>
                                        <p:strVal val="visible"/>
                                      </p:to>
                                    </p:set>
                                  </p:childTnLst>
                                </p:cTn>
                              </p:par>
                            </p:childTnLst>
                          </p:cTn>
                        </p:par>
                        <p:par>
                          <p:cTn id="34" fill="hold">
                            <p:stCondLst>
                              <p:cond delay="5000"/>
                            </p:stCondLst>
                            <p:childTnLst>
                              <p:par>
                                <p:cTn id="35" presetID="1" presetClass="entr" presetSubtype="0" fill="hold" nodeType="afterEffect">
                                  <p:stCondLst>
                                    <p:cond delay="0"/>
                                  </p:stCondLst>
                                  <p:childTnLst>
                                    <p:set>
                                      <p:cBhvr>
                                        <p:cTn id="36" dur="1" fill="hold">
                                          <p:stCondLst>
                                            <p:cond delay="499"/>
                                          </p:stCondLst>
                                        </p:cTn>
                                        <p:tgtEl>
                                          <p:spTgt spid="18455"/>
                                        </p:tgtEl>
                                        <p:attrNameLst>
                                          <p:attrName>style.visibility</p:attrName>
                                        </p:attrNameLst>
                                      </p:cBhvr>
                                      <p:to>
                                        <p:strVal val="visible"/>
                                      </p:to>
                                    </p:set>
                                  </p:childTnLst>
                                </p:cTn>
                              </p:par>
                            </p:childTnLst>
                          </p:cTn>
                        </p:par>
                        <p:par>
                          <p:cTn id="37" fill="hold">
                            <p:stCondLst>
                              <p:cond delay="5500"/>
                            </p:stCondLst>
                            <p:childTnLst>
                              <p:par>
                                <p:cTn id="38" presetID="1" presetClass="entr" presetSubtype="0" fill="hold" nodeType="afterEffect">
                                  <p:stCondLst>
                                    <p:cond delay="0"/>
                                  </p:stCondLst>
                                  <p:childTnLst>
                                    <p:set>
                                      <p:cBhvr>
                                        <p:cTn id="39" dur="1" fill="hold">
                                          <p:stCondLst>
                                            <p:cond delay="499"/>
                                          </p:stCondLst>
                                        </p:cTn>
                                        <p:tgtEl>
                                          <p:spTgt spid="18457"/>
                                        </p:tgtEl>
                                        <p:attrNameLst>
                                          <p:attrName>style.visibility</p:attrName>
                                        </p:attrNameLst>
                                      </p:cBhvr>
                                      <p:to>
                                        <p:strVal val="visible"/>
                                      </p:to>
                                    </p:set>
                                  </p:childTnLst>
                                </p:cTn>
                              </p:par>
                            </p:childTnLst>
                          </p:cTn>
                        </p:par>
                        <p:par>
                          <p:cTn id="40" fill="hold">
                            <p:stCondLst>
                              <p:cond delay="6000"/>
                            </p:stCondLst>
                            <p:childTnLst>
                              <p:par>
                                <p:cTn id="41" presetID="1" presetClass="entr" presetSubtype="0" fill="hold" nodeType="afterEffect">
                                  <p:stCondLst>
                                    <p:cond delay="0"/>
                                  </p:stCondLst>
                                  <p:childTnLst>
                                    <p:set>
                                      <p:cBhvr>
                                        <p:cTn id="42" dur="1" fill="hold">
                                          <p:stCondLst>
                                            <p:cond delay="499"/>
                                          </p:stCondLst>
                                        </p:cTn>
                                        <p:tgtEl>
                                          <p:spTgt spid="18459"/>
                                        </p:tgtEl>
                                        <p:attrNameLst>
                                          <p:attrName>style.visibility</p:attrName>
                                        </p:attrNameLst>
                                      </p:cBhvr>
                                      <p:to>
                                        <p:strVal val="visible"/>
                                      </p:to>
                                    </p:set>
                                  </p:childTnLst>
                                </p:cTn>
                              </p:par>
                            </p:childTnLst>
                          </p:cTn>
                        </p:par>
                        <p:par>
                          <p:cTn id="43" fill="hold">
                            <p:stCondLst>
                              <p:cond delay="6500"/>
                            </p:stCondLst>
                            <p:childTnLst>
                              <p:par>
                                <p:cTn id="44" presetID="1" presetClass="entr" presetSubtype="0" fill="hold" nodeType="afterEffect">
                                  <p:stCondLst>
                                    <p:cond delay="0"/>
                                  </p:stCondLst>
                                  <p:childTnLst>
                                    <p:set>
                                      <p:cBhvr>
                                        <p:cTn id="45" dur="1" fill="hold">
                                          <p:stCondLst>
                                            <p:cond delay="499"/>
                                          </p:stCondLst>
                                        </p:cTn>
                                        <p:tgtEl>
                                          <p:spTgt spid="18461"/>
                                        </p:tgtEl>
                                        <p:attrNameLst>
                                          <p:attrName>style.visibility</p:attrName>
                                        </p:attrNameLst>
                                      </p:cBhvr>
                                      <p:to>
                                        <p:strVal val="visible"/>
                                      </p:to>
                                    </p:set>
                                  </p:childTnLst>
                                </p:cTn>
                              </p:par>
                            </p:childTnLst>
                          </p:cTn>
                        </p:par>
                        <p:par>
                          <p:cTn id="46" fill="hold">
                            <p:stCondLst>
                              <p:cond delay="7000"/>
                            </p:stCondLst>
                            <p:childTnLst>
                              <p:par>
                                <p:cTn id="47" presetID="1" presetClass="entr" presetSubtype="0" fill="hold" nodeType="afterEffect">
                                  <p:stCondLst>
                                    <p:cond delay="0"/>
                                  </p:stCondLst>
                                  <p:childTnLst>
                                    <p:set>
                                      <p:cBhvr>
                                        <p:cTn id="48" dur="1" fill="hold">
                                          <p:stCondLst>
                                            <p:cond delay="499"/>
                                          </p:stCondLst>
                                        </p:cTn>
                                        <p:tgtEl>
                                          <p:spTgt spid="18463"/>
                                        </p:tgtEl>
                                        <p:attrNameLst>
                                          <p:attrName>style.visibility</p:attrName>
                                        </p:attrNameLst>
                                      </p:cBhvr>
                                      <p:to>
                                        <p:strVal val="visible"/>
                                      </p:to>
                                    </p:set>
                                  </p:childTnLst>
                                </p:cTn>
                              </p:par>
                            </p:childTnLst>
                          </p:cTn>
                        </p:par>
                        <p:par>
                          <p:cTn id="49" fill="hold">
                            <p:stCondLst>
                              <p:cond delay="7500"/>
                            </p:stCondLst>
                            <p:childTnLst>
                              <p:par>
                                <p:cTn id="50" presetID="1" presetClass="entr" presetSubtype="0" fill="hold" nodeType="afterEffect">
                                  <p:stCondLst>
                                    <p:cond delay="0"/>
                                  </p:stCondLst>
                                  <p:childTnLst>
                                    <p:set>
                                      <p:cBhvr>
                                        <p:cTn id="51" dur="1" fill="hold">
                                          <p:stCondLst>
                                            <p:cond delay="499"/>
                                          </p:stCondLst>
                                        </p:cTn>
                                        <p:tgtEl>
                                          <p:spTgt spid="18465"/>
                                        </p:tgtEl>
                                        <p:attrNameLst>
                                          <p:attrName>style.visibility</p:attrName>
                                        </p:attrNameLst>
                                      </p:cBhvr>
                                      <p:to>
                                        <p:strVal val="visible"/>
                                      </p:to>
                                    </p:set>
                                  </p:childTnLst>
                                </p:cTn>
                              </p:par>
                            </p:childTnLst>
                          </p:cTn>
                        </p:par>
                        <p:par>
                          <p:cTn id="52" fill="hold">
                            <p:stCondLst>
                              <p:cond delay="8000"/>
                            </p:stCondLst>
                            <p:childTnLst>
                              <p:par>
                                <p:cTn id="53" presetID="1" presetClass="entr" presetSubtype="0" fill="hold" nodeType="afterEffect">
                                  <p:stCondLst>
                                    <p:cond delay="0"/>
                                  </p:stCondLst>
                                  <p:childTnLst>
                                    <p:set>
                                      <p:cBhvr>
                                        <p:cTn id="54" dur="1" fill="hold">
                                          <p:stCondLst>
                                            <p:cond delay="499"/>
                                          </p:stCondLst>
                                        </p:cTn>
                                        <p:tgtEl>
                                          <p:spTgt spid="18467"/>
                                        </p:tgtEl>
                                        <p:attrNameLst>
                                          <p:attrName>style.visibility</p:attrName>
                                        </p:attrNameLst>
                                      </p:cBhvr>
                                      <p:to>
                                        <p:strVal val="visible"/>
                                      </p:to>
                                    </p:set>
                                  </p:childTnLst>
                                </p:cTn>
                              </p:par>
                            </p:childTnLst>
                          </p:cTn>
                        </p:par>
                        <p:par>
                          <p:cTn id="55" fill="hold">
                            <p:stCondLst>
                              <p:cond delay="8500"/>
                            </p:stCondLst>
                            <p:childTnLst>
                              <p:par>
                                <p:cTn id="56" presetID="1" presetClass="entr" presetSubtype="0" fill="hold" nodeType="afterEffect">
                                  <p:stCondLst>
                                    <p:cond delay="0"/>
                                  </p:stCondLst>
                                  <p:childTnLst>
                                    <p:set>
                                      <p:cBhvr>
                                        <p:cTn id="57" dur="1" fill="hold">
                                          <p:stCondLst>
                                            <p:cond delay="499"/>
                                          </p:stCondLst>
                                        </p:cTn>
                                        <p:tgtEl>
                                          <p:spTgt spid="18469"/>
                                        </p:tgtEl>
                                        <p:attrNameLst>
                                          <p:attrName>style.visibility</p:attrName>
                                        </p:attrNameLst>
                                      </p:cBhvr>
                                      <p:to>
                                        <p:strVal val="visible"/>
                                      </p:to>
                                    </p:set>
                                  </p:childTnLst>
                                </p:cTn>
                              </p:par>
                            </p:childTnLst>
                          </p:cTn>
                        </p:par>
                        <p:par>
                          <p:cTn id="58" fill="hold">
                            <p:stCondLst>
                              <p:cond delay="9000"/>
                            </p:stCondLst>
                            <p:childTnLst>
                              <p:par>
                                <p:cTn id="59" presetID="1" presetClass="entr" presetSubtype="0" fill="hold" nodeType="afterEffect">
                                  <p:stCondLst>
                                    <p:cond delay="0"/>
                                  </p:stCondLst>
                                  <p:childTnLst>
                                    <p:set>
                                      <p:cBhvr>
                                        <p:cTn id="60" dur="1" fill="hold">
                                          <p:stCondLst>
                                            <p:cond delay="499"/>
                                          </p:stCondLst>
                                        </p:cTn>
                                        <p:tgtEl>
                                          <p:spTgt spid="18471"/>
                                        </p:tgtEl>
                                        <p:attrNameLst>
                                          <p:attrName>style.visibility</p:attrName>
                                        </p:attrNameLst>
                                      </p:cBhvr>
                                      <p:to>
                                        <p:strVal val="visible"/>
                                      </p:to>
                                    </p:set>
                                  </p:childTnLst>
                                </p:cTn>
                              </p:par>
                            </p:childTnLst>
                          </p:cTn>
                        </p:par>
                        <p:par>
                          <p:cTn id="61" fill="hold">
                            <p:stCondLst>
                              <p:cond delay="9500"/>
                            </p:stCondLst>
                            <p:childTnLst>
                              <p:par>
                                <p:cTn id="62" presetID="1" presetClass="entr" presetSubtype="0" fill="hold" nodeType="afterEffect">
                                  <p:stCondLst>
                                    <p:cond delay="0"/>
                                  </p:stCondLst>
                                  <p:childTnLst>
                                    <p:set>
                                      <p:cBhvr>
                                        <p:cTn id="63" dur="1" fill="hold">
                                          <p:stCondLst>
                                            <p:cond delay="499"/>
                                          </p:stCondLst>
                                        </p:cTn>
                                        <p:tgtEl>
                                          <p:spTgt spid="18473"/>
                                        </p:tgtEl>
                                        <p:attrNameLst>
                                          <p:attrName>style.visibility</p:attrName>
                                        </p:attrNameLst>
                                      </p:cBhvr>
                                      <p:to>
                                        <p:strVal val="visible"/>
                                      </p:to>
                                    </p:set>
                                  </p:childTnLst>
                                </p:cTn>
                              </p:par>
                            </p:childTnLst>
                          </p:cTn>
                        </p:par>
                        <p:par>
                          <p:cTn id="64" fill="hold">
                            <p:stCondLst>
                              <p:cond delay="10000"/>
                            </p:stCondLst>
                            <p:childTnLst>
                              <p:par>
                                <p:cTn id="65" presetID="1" presetClass="entr" presetSubtype="0" fill="hold" nodeType="afterEffect">
                                  <p:stCondLst>
                                    <p:cond delay="0"/>
                                  </p:stCondLst>
                                  <p:childTnLst>
                                    <p:set>
                                      <p:cBhvr>
                                        <p:cTn id="66" dur="1" fill="hold">
                                          <p:stCondLst>
                                            <p:cond delay="499"/>
                                          </p:stCondLst>
                                        </p:cTn>
                                        <p:tgtEl>
                                          <p:spTgt spid="18475"/>
                                        </p:tgtEl>
                                        <p:attrNameLst>
                                          <p:attrName>style.visibility</p:attrName>
                                        </p:attrNameLst>
                                      </p:cBhvr>
                                      <p:to>
                                        <p:strVal val="visible"/>
                                      </p:to>
                                    </p:set>
                                  </p:childTnLst>
                                </p:cTn>
                              </p:par>
                            </p:childTnLst>
                          </p:cTn>
                        </p:par>
                        <p:par>
                          <p:cTn id="67" fill="hold">
                            <p:stCondLst>
                              <p:cond delay="10500"/>
                            </p:stCondLst>
                            <p:childTnLst>
                              <p:par>
                                <p:cTn id="68" presetID="1" presetClass="entr" presetSubtype="0" fill="hold" nodeType="afterEffect">
                                  <p:stCondLst>
                                    <p:cond delay="0"/>
                                  </p:stCondLst>
                                  <p:childTnLst>
                                    <p:set>
                                      <p:cBhvr>
                                        <p:cTn id="69" dur="1" fill="hold">
                                          <p:stCondLst>
                                            <p:cond delay="499"/>
                                          </p:stCondLst>
                                        </p:cTn>
                                        <p:tgtEl>
                                          <p:spTgt spid="18477"/>
                                        </p:tgtEl>
                                        <p:attrNameLst>
                                          <p:attrName>style.visibility</p:attrName>
                                        </p:attrNameLst>
                                      </p:cBhvr>
                                      <p:to>
                                        <p:strVal val="visible"/>
                                      </p:to>
                                    </p:set>
                                  </p:childTnLst>
                                </p:cTn>
                              </p:par>
                            </p:childTnLst>
                          </p:cTn>
                        </p:par>
                        <p:par>
                          <p:cTn id="70" fill="hold">
                            <p:stCondLst>
                              <p:cond delay="11000"/>
                            </p:stCondLst>
                            <p:childTnLst>
                              <p:par>
                                <p:cTn id="71" presetID="1" presetClass="entr" presetSubtype="0" fill="hold" nodeType="afterEffect">
                                  <p:stCondLst>
                                    <p:cond delay="0"/>
                                  </p:stCondLst>
                                  <p:childTnLst>
                                    <p:set>
                                      <p:cBhvr>
                                        <p:cTn id="72" dur="1" fill="hold">
                                          <p:stCondLst>
                                            <p:cond delay="499"/>
                                          </p:stCondLst>
                                        </p:cTn>
                                        <p:tgtEl>
                                          <p:spTgt spid="18479"/>
                                        </p:tgtEl>
                                        <p:attrNameLst>
                                          <p:attrName>style.visibility</p:attrName>
                                        </p:attrNameLst>
                                      </p:cBhvr>
                                      <p:to>
                                        <p:strVal val="visible"/>
                                      </p:to>
                                    </p:set>
                                  </p:childTnLst>
                                </p:cTn>
                              </p:par>
                            </p:childTnLst>
                          </p:cTn>
                        </p:par>
                        <p:par>
                          <p:cTn id="73" fill="hold">
                            <p:stCondLst>
                              <p:cond delay="11500"/>
                            </p:stCondLst>
                            <p:childTnLst>
                              <p:par>
                                <p:cTn id="74" presetID="1" presetClass="entr" presetSubtype="0" fill="hold" nodeType="afterEffect">
                                  <p:stCondLst>
                                    <p:cond delay="0"/>
                                  </p:stCondLst>
                                  <p:childTnLst>
                                    <p:set>
                                      <p:cBhvr>
                                        <p:cTn id="75" dur="1" fill="hold">
                                          <p:stCondLst>
                                            <p:cond delay="499"/>
                                          </p:stCondLst>
                                        </p:cTn>
                                        <p:tgtEl>
                                          <p:spTgt spid="18481"/>
                                        </p:tgtEl>
                                        <p:attrNameLst>
                                          <p:attrName>style.visibility</p:attrName>
                                        </p:attrNameLst>
                                      </p:cBhvr>
                                      <p:to>
                                        <p:strVal val="visible"/>
                                      </p:to>
                                    </p:set>
                                  </p:childTnLst>
                                </p:cTn>
                              </p:par>
                            </p:childTnLst>
                          </p:cTn>
                        </p:par>
                        <p:par>
                          <p:cTn id="76" fill="hold">
                            <p:stCondLst>
                              <p:cond delay="12000"/>
                            </p:stCondLst>
                            <p:childTnLst>
                              <p:par>
                                <p:cTn id="77" presetID="1" presetClass="entr" presetSubtype="0" fill="hold" nodeType="afterEffect">
                                  <p:stCondLst>
                                    <p:cond delay="0"/>
                                  </p:stCondLst>
                                  <p:childTnLst>
                                    <p:set>
                                      <p:cBhvr>
                                        <p:cTn id="78" dur="1" fill="hold">
                                          <p:stCondLst>
                                            <p:cond delay="499"/>
                                          </p:stCondLst>
                                        </p:cTn>
                                        <p:tgtEl>
                                          <p:spTgt spid="18483"/>
                                        </p:tgtEl>
                                        <p:attrNameLst>
                                          <p:attrName>style.visibility</p:attrName>
                                        </p:attrNameLst>
                                      </p:cBhvr>
                                      <p:to>
                                        <p:strVal val="visible"/>
                                      </p:to>
                                    </p:set>
                                  </p:childTnLst>
                                </p:cTn>
                              </p:par>
                            </p:childTnLst>
                          </p:cTn>
                        </p:par>
                        <p:par>
                          <p:cTn id="79" fill="hold">
                            <p:stCondLst>
                              <p:cond delay="12500"/>
                            </p:stCondLst>
                            <p:childTnLst>
                              <p:par>
                                <p:cTn id="80" presetID="1" presetClass="entr" presetSubtype="0" fill="hold" nodeType="afterEffect">
                                  <p:stCondLst>
                                    <p:cond delay="0"/>
                                  </p:stCondLst>
                                  <p:childTnLst>
                                    <p:set>
                                      <p:cBhvr>
                                        <p:cTn id="81" dur="1" fill="hold">
                                          <p:stCondLst>
                                            <p:cond delay="499"/>
                                          </p:stCondLst>
                                        </p:cTn>
                                        <p:tgtEl>
                                          <p:spTgt spid="18485"/>
                                        </p:tgtEl>
                                        <p:attrNameLst>
                                          <p:attrName>style.visibility</p:attrName>
                                        </p:attrNameLst>
                                      </p:cBhvr>
                                      <p:to>
                                        <p:strVal val="visible"/>
                                      </p:to>
                                    </p:set>
                                  </p:childTnLst>
                                </p:cTn>
                              </p:par>
                            </p:childTnLst>
                          </p:cTn>
                        </p:par>
                        <p:par>
                          <p:cTn id="82" fill="hold">
                            <p:stCondLst>
                              <p:cond delay="13000"/>
                            </p:stCondLst>
                            <p:childTnLst>
                              <p:par>
                                <p:cTn id="83" presetID="1" presetClass="entr" presetSubtype="0" fill="hold" nodeType="afterEffect">
                                  <p:stCondLst>
                                    <p:cond delay="0"/>
                                  </p:stCondLst>
                                  <p:childTnLst>
                                    <p:set>
                                      <p:cBhvr>
                                        <p:cTn id="84" dur="1" fill="hold">
                                          <p:stCondLst>
                                            <p:cond delay="499"/>
                                          </p:stCondLst>
                                        </p:cTn>
                                        <p:tgtEl>
                                          <p:spTgt spid="18487"/>
                                        </p:tgtEl>
                                        <p:attrNameLst>
                                          <p:attrName>style.visibility</p:attrName>
                                        </p:attrNameLst>
                                      </p:cBhvr>
                                      <p:to>
                                        <p:strVal val="visible"/>
                                      </p:to>
                                    </p:set>
                                  </p:childTnLst>
                                </p:cTn>
                              </p:par>
                            </p:childTnLst>
                          </p:cTn>
                        </p:par>
                        <p:par>
                          <p:cTn id="85" fill="hold">
                            <p:stCondLst>
                              <p:cond delay="13500"/>
                            </p:stCondLst>
                            <p:childTnLst>
                              <p:par>
                                <p:cTn id="86" presetID="1" presetClass="entr" presetSubtype="0" fill="hold" nodeType="afterEffect">
                                  <p:stCondLst>
                                    <p:cond delay="0"/>
                                  </p:stCondLst>
                                  <p:childTnLst>
                                    <p:set>
                                      <p:cBhvr>
                                        <p:cTn id="87" dur="1" fill="hold">
                                          <p:stCondLst>
                                            <p:cond delay="499"/>
                                          </p:stCondLst>
                                        </p:cTn>
                                        <p:tgtEl>
                                          <p:spTgt spid="18489"/>
                                        </p:tgtEl>
                                        <p:attrNameLst>
                                          <p:attrName>style.visibility</p:attrName>
                                        </p:attrNameLst>
                                      </p:cBhvr>
                                      <p:to>
                                        <p:strVal val="visible"/>
                                      </p:to>
                                    </p:set>
                                  </p:childTnLst>
                                </p:cTn>
                              </p:par>
                            </p:childTnLst>
                          </p:cTn>
                        </p:par>
                        <p:par>
                          <p:cTn id="88" fill="hold">
                            <p:stCondLst>
                              <p:cond delay="14000"/>
                            </p:stCondLst>
                            <p:childTnLst>
                              <p:par>
                                <p:cTn id="89" presetID="1" presetClass="entr" presetSubtype="0" fill="hold" nodeType="afterEffect">
                                  <p:stCondLst>
                                    <p:cond delay="0"/>
                                  </p:stCondLst>
                                  <p:childTnLst>
                                    <p:set>
                                      <p:cBhvr>
                                        <p:cTn id="90" dur="1" fill="hold">
                                          <p:stCondLst>
                                            <p:cond delay="499"/>
                                          </p:stCondLst>
                                        </p:cTn>
                                        <p:tgtEl>
                                          <p:spTgt spid="18491"/>
                                        </p:tgtEl>
                                        <p:attrNameLst>
                                          <p:attrName>style.visibility</p:attrName>
                                        </p:attrNameLst>
                                      </p:cBhvr>
                                      <p:to>
                                        <p:strVal val="visible"/>
                                      </p:to>
                                    </p:set>
                                  </p:childTnLst>
                                </p:cTn>
                              </p:par>
                            </p:childTnLst>
                          </p:cTn>
                        </p:par>
                        <p:par>
                          <p:cTn id="91" fill="hold">
                            <p:stCondLst>
                              <p:cond delay="14500"/>
                            </p:stCondLst>
                            <p:childTnLst>
                              <p:par>
                                <p:cTn id="92" presetID="1" presetClass="entr" presetSubtype="0" fill="hold" nodeType="afterEffect">
                                  <p:stCondLst>
                                    <p:cond delay="0"/>
                                  </p:stCondLst>
                                  <p:childTnLst>
                                    <p:set>
                                      <p:cBhvr>
                                        <p:cTn id="93" dur="1" fill="hold">
                                          <p:stCondLst>
                                            <p:cond delay="499"/>
                                          </p:stCondLst>
                                        </p:cTn>
                                        <p:tgtEl>
                                          <p:spTgt spid="18493"/>
                                        </p:tgtEl>
                                        <p:attrNameLst>
                                          <p:attrName>style.visibility</p:attrName>
                                        </p:attrNameLst>
                                      </p:cBhvr>
                                      <p:to>
                                        <p:strVal val="visible"/>
                                      </p:to>
                                    </p:set>
                                  </p:childTnLst>
                                </p:cTn>
                              </p:par>
                            </p:childTnLst>
                          </p:cTn>
                        </p:par>
                        <p:par>
                          <p:cTn id="94" fill="hold">
                            <p:stCondLst>
                              <p:cond delay="15000"/>
                            </p:stCondLst>
                            <p:childTnLst>
                              <p:par>
                                <p:cTn id="95" presetID="1" presetClass="entr" presetSubtype="0" fill="hold" nodeType="afterEffect">
                                  <p:stCondLst>
                                    <p:cond delay="0"/>
                                  </p:stCondLst>
                                  <p:childTnLst>
                                    <p:set>
                                      <p:cBhvr>
                                        <p:cTn id="96" dur="1" fill="hold">
                                          <p:stCondLst>
                                            <p:cond delay="499"/>
                                          </p:stCondLst>
                                        </p:cTn>
                                        <p:tgtEl>
                                          <p:spTgt spid="18495"/>
                                        </p:tgtEl>
                                        <p:attrNameLst>
                                          <p:attrName>style.visibility</p:attrName>
                                        </p:attrNameLst>
                                      </p:cBhvr>
                                      <p:to>
                                        <p:strVal val="visible"/>
                                      </p:to>
                                    </p:set>
                                  </p:childTnLst>
                                </p:cTn>
                              </p:par>
                            </p:childTnLst>
                          </p:cTn>
                        </p:par>
                        <p:par>
                          <p:cTn id="97" fill="hold">
                            <p:stCondLst>
                              <p:cond delay="15500"/>
                            </p:stCondLst>
                            <p:childTnLst>
                              <p:par>
                                <p:cTn id="98" presetID="1" presetClass="entr" presetSubtype="0" fill="hold" nodeType="afterEffect">
                                  <p:stCondLst>
                                    <p:cond delay="0"/>
                                  </p:stCondLst>
                                  <p:childTnLst>
                                    <p:set>
                                      <p:cBhvr>
                                        <p:cTn id="99" dur="1" fill="hold">
                                          <p:stCondLst>
                                            <p:cond delay="499"/>
                                          </p:stCondLst>
                                        </p:cTn>
                                        <p:tgtEl>
                                          <p:spTgt spid="18497"/>
                                        </p:tgtEl>
                                        <p:attrNameLst>
                                          <p:attrName>style.visibility</p:attrName>
                                        </p:attrNameLst>
                                      </p:cBhvr>
                                      <p:to>
                                        <p:strVal val="visible"/>
                                      </p:to>
                                    </p:set>
                                  </p:childTnLst>
                                </p:cTn>
                              </p:par>
                            </p:childTnLst>
                          </p:cTn>
                        </p:par>
                        <p:par>
                          <p:cTn id="100" fill="hold">
                            <p:stCondLst>
                              <p:cond delay="16000"/>
                            </p:stCondLst>
                            <p:childTnLst>
                              <p:par>
                                <p:cTn id="101" presetID="1" presetClass="entr" presetSubtype="0" fill="hold" nodeType="afterEffect">
                                  <p:stCondLst>
                                    <p:cond delay="0"/>
                                  </p:stCondLst>
                                  <p:childTnLst>
                                    <p:set>
                                      <p:cBhvr>
                                        <p:cTn id="102" dur="1" fill="hold">
                                          <p:stCondLst>
                                            <p:cond delay="499"/>
                                          </p:stCondLst>
                                        </p:cTn>
                                        <p:tgtEl>
                                          <p:spTgt spid="18499"/>
                                        </p:tgtEl>
                                        <p:attrNameLst>
                                          <p:attrName>style.visibility</p:attrName>
                                        </p:attrNameLst>
                                      </p:cBhvr>
                                      <p:to>
                                        <p:strVal val="visible"/>
                                      </p:to>
                                    </p:set>
                                  </p:childTnLst>
                                </p:cTn>
                              </p:par>
                            </p:childTnLst>
                          </p:cTn>
                        </p:par>
                        <p:par>
                          <p:cTn id="103" fill="hold">
                            <p:stCondLst>
                              <p:cond delay="16500"/>
                            </p:stCondLst>
                            <p:childTnLst>
                              <p:par>
                                <p:cTn id="104" presetID="1" presetClass="entr" presetSubtype="0" fill="hold" nodeType="afterEffect">
                                  <p:stCondLst>
                                    <p:cond delay="0"/>
                                  </p:stCondLst>
                                  <p:childTnLst>
                                    <p:set>
                                      <p:cBhvr>
                                        <p:cTn id="105" dur="1" fill="hold">
                                          <p:stCondLst>
                                            <p:cond delay="499"/>
                                          </p:stCondLst>
                                        </p:cTn>
                                        <p:tgtEl>
                                          <p:spTgt spid="18501"/>
                                        </p:tgtEl>
                                        <p:attrNameLst>
                                          <p:attrName>style.visibility</p:attrName>
                                        </p:attrNameLst>
                                      </p:cBhvr>
                                      <p:to>
                                        <p:strVal val="visible"/>
                                      </p:to>
                                    </p:set>
                                  </p:childTnLst>
                                </p:cTn>
                              </p:par>
                            </p:childTnLst>
                          </p:cTn>
                        </p:par>
                        <p:par>
                          <p:cTn id="106" fill="hold">
                            <p:stCondLst>
                              <p:cond delay="17000"/>
                            </p:stCondLst>
                            <p:childTnLst>
                              <p:par>
                                <p:cTn id="107" presetID="1" presetClass="entr" presetSubtype="0" fill="hold" nodeType="afterEffect">
                                  <p:stCondLst>
                                    <p:cond delay="0"/>
                                  </p:stCondLst>
                                  <p:childTnLst>
                                    <p:set>
                                      <p:cBhvr>
                                        <p:cTn id="108" dur="1" fill="hold">
                                          <p:stCondLst>
                                            <p:cond delay="499"/>
                                          </p:stCondLst>
                                        </p:cTn>
                                        <p:tgtEl>
                                          <p:spTgt spid="18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9457"/>
          <p:cNvSpPr>
            <a:spLocks noGrp="1" noChangeArrowheads="1"/>
          </p:cNvSpPr>
          <p:nvPr>
            <p:ph type="title"/>
          </p:nvPr>
        </p:nvSpPr>
        <p:spPr>
          <a:xfrm>
            <a:off x="457200" y="122238"/>
            <a:ext cx="7543800" cy="652462"/>
          </a:xfrm>
        </p:spPr>
        <p:txBody>
          <a:bodyPr/>
          <a:lstStyle/>
          <a:p>
            <a:r>
              <a:rPr lang="en-US" altLang="zh-CN" sz="3500"/>
              <a:t>6.1.3  </a:t>
            </a:r>
            <a:r>
              <a:rPr lang="zh-CN" altLang="en-US" sz="3500"/>
              <a:t>文件属性</a:t>
            </a:r>
            <a:endParaRPr lang="zh-CN" altLang="en-US" sz="3500"/>
          </a:p>
        </p:txBody>
      </p:sp>
      <p:sp>
        <p:nvSpPr>
          <p:cNvPr id="14338" name="文本占位符 19458"/>
          <p:cNvSpPr>
            <a:spLocks noGrp="1" noChangeArrowheads="1"/>
          </p:cNvSpPr>
          <p:nvPr>
            <p:ph idx="1"/>
          </p:nvPr>
        </p:nvSpPr>
        <p:spPr>
          <a:xfrm>
            <a:off x="457200" y="685800"/>
            <a:ext cx="8229600" cy="5410200"/>
          </a:xfrm>
        </p:spPr>
        <p:txBody>
          <a:bodyPr/>
          <a:lstStyle/>
          <a:p>
            <a:r>
              <a:rPr lang="zh-CN" altLang="en-US"/>
              <a:t>描述文件特征的属性称做文件属性。 </a:t>
            </a:r>
            <a:endParaRPr lang="zh-CN" altLang="en-US"/>
          </a:p>
        </p:txBody>
      </p:sp>
      <p:sp>
        <p:nvSpPr>
          <p:cNvPr id="19460" name="矩形 19459"/>
          <p:cNvSpPr>
            <a:spLocks noChangeArrowheads="1"/>
          </p:cNvSpPr>
          <p:nvPr/>
        </p:nvSpPr>
        <p:spPr bwMode="auto">
          <a:xfrm>
            <a:off x="3124200" y="1143000"/>
            <a:ext cx="294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表</a:t>
            </a:r>
            <a:r>
              <a:rPr lang="en-US" altLang="zh-CN">
                <a:latin typeface="Tahoma" panose="020B0604030504040204" pitchFamily="34" charset="0"/>
              </a:rPr>
              <a:t>6-2  </a:t>
            </a:r>
            <a:r>
              <a:rPr lang="zh-CN" altLang="en-US">
                <a:latin typeface="Tahoma" panose="020B0604030504040204" pitchFamily="34" charset="0"/>
              </a:rPr>
              <a:t>可能用到的文件属性</a:t>
            </a:r>
            <a:endParaRPr lang="zh-CN" altLang="en-US">
              <a:latin typeface="Tahoma" panose="020B0604030504040204" pitchFamily="34" charset="0"/>
            </a:endParaRPr>
          </a:p>
        </p:txBody>
      </p:sp>
      <p:sp>
        <p:nvSpPr>
          <p:cNvPr id="14340" name="矩形 19460"/>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1" name="矩形 19462"/>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2" name="矩形 19464"/>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3" name="矩形 19466"/>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4" name="矩形 19468"/>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5" name="矩形 19470"/>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6" name="矩形 19472"/>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7" name="矩形 19474"/>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8" name="矩形 19476"/>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9" name="矩形 19478"/>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0" name="矩形 19480"/>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1" name="矩形 19482"/>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2" name="矩形 19484"/>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3" name="矩形 19486"/>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4" name="矩形 19488"/>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5" name="矩形 19490"/>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6" name="矩形 19492"/>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7" name="矩形 19494"/>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8" name="矩形 19496"/>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59" name="矩形 19498"/>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0" name="矩形 19500"/>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1" name="矩形 19502"/>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2" name="矩形 19504"/>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3" name="矩形 19506"/>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4" name="矩形 19508"/>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5" name="矩形 19510"/>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6" name="矩形 19512"/>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7" name="矩形 19514"/>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8" name="矩形 19516"/>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69" name="矩形 19518"/>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0" name="矩形 19520"/>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1" name="矩形 19522"/>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2" name="矩形 19524"/>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3" name="矩形 19526"/>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4" name="矩形 19528"/>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5" name="矩形 19530"/>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6" name="矩形 19532"/>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7" name="矩形 19534"/>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8" name="矩形 19536"/>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79" name="矩形 19538"/>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80" name="矩形 19540"/>
          <p:cNvSpPr>
            <a:spLocks noChangeArrowheads="1"/>
          </p:cNvSpPr>
          <p:nvPr/>
        </p:nvSpPr>
        <p:spPr bwMode="auto">
          <a:xfrm>
            <a:off x="1006475" y="2286000"/>
            <a:ext cx="8509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81" name="矩形 19542"/>
          <p:cNvSpPr>
            <a:spLocks noChangeArrowheads="1"/>
          </p:cNvSpPr>
          <p:nvPr/>
        </p:nvSpPr>
        <p:spPr bwMode="auto">
          <a:xfrm>
            <a:off x="1006475" y="2286000"/>
            <a:ext cx="17145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82" name="矩形 19544"/>
          <p:cNvSpPr>
            <a:spLocks noChangeArrowheads="1"/>
          </p:cNvSpPr>
          <p:nvPr/>
        </p:nvSpPr>
        <p:spPr bwMode="auto">
          <a:xfrm>
            <a:off x="1006475" y="2286000"/>
            <a:ext cx="8001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83" name="矩形 19546"/>
          <p:cNvSpPr>
            <a:spLocks noChangeArrowheads="1"/>
          </p:cNvSpPr>
          <p:nvPr/>
        </p:nvSpPr>
        <p:spPr bwMode="auto">
          <a:xfrm>
            <a:off x="1006475" y="2286000"/>
            <a:ext cx="175736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9900" name="表格 19899"/>
          <p:cNvGraphicFramePr/>
          <p:nvPr/>
        </p:nvGraphicFramePr>
        <p:xfrm>
          <a:off x="533400" y="1447800"/>
          <a:ext cx="8153400" cy="5110163"/>
        </p:xfrm>
        <a:graphic>
          <a:graphicData uri="http://schemas.openxmlformats.org/drawingml/2006/table">
            <a:tbl>
              <a:tblPr/>
              <a:tblGrid>
                <a:gridCol w="1355725"/>
                <a:gridCol w="2725738"/>
                <a:gridCol w="1274762"/>
                <a:gridCol w="2797175"/>
              </a:tblGrid>
              <a:tr h="333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lgn="ctr">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属    性</a:t>
                      </a:r>
                      <a:endParaRPr lang="zh-CN" altLang="en-US" sz="15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lgn="ctr">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含    义</a:t>
                      </a:r>
                      <a:endParaRPr lang="zh-CN" altLang="en-US" sz="1500" dirty="0"/>
                    </a:p>
                  </a:txBody>
                  <a:tcPr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lgn="ctr">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属    性</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lgn="ctr">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含    义</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46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保护</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谁能访问该文件，以何种方式访问</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临时标志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表示正常，</a:t>
                      </a:r>
                      <a:r>
                        <a:rPr lang="en-US" altLang="zh-CN" sz="1500">
                          <a:latin typeface="Times New Roman" panose="02020603050405020304" pitchFamily="18" charset="0"/>
                          <a:ea typeface="Times New Roman" panose="02020603050405020304" pitchFamily="18" charset="0"/>
                        </a:rPr>
                        <a:t>1</a:t>
                      </a:r>
                      <a:r>
                        <a:rPr lang="zh-CN" altLang="en-US" sz="1500" dirty="0">
                          <a:latin typeface="Times New Roman" panose="02020603050405020304" pitchFamily="18" charset="0"/>
                          <a:ea typeface="Times New Roman" panose="02020603050405020304" pitchFamily="18" charset="0"/>
                        </a:rPr>
                        <a:t>表示进程结束时删除文件</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3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口令</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访问该文件所需口令</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锁标志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表示开锁，非</a:t>
                      </a: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表示上锁</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3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创建者</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文件创建者的标识</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记录长度</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一个记录的字节数</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4963">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文件主</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当前文件主</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关键字位置</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每个记录中关键字偏移</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333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只读标志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表示读</a:t>
                      </a:r>
                      <a:r>
                        <a:rPr lang="en-US" altLang="zh-CN" sz="1500">
                          <a:latin typeface="Times New Roman" panose="02020603050405020304" pitchFamily="18" charset="0"/>
                          <a:ea typeface="Times New Roman" panose="02020603050405020304" pitchFamily="18" charset="0"/>
                        </a:rPr>
                        <a:t>/</a:t>
                      </a:r>
                      <a:r>
                        <a:rPr lang="zh-CN" altLang="en-US" sz="1500" dirty="0">
                          <a:latin typeface="Times New Roman" panose="02020603050405020304" pitchFamily="18" charset="0"/>
                          <a:ea typeface="Times New Roman" panose="02020603050405020304" pitchFamily="18" charset="0"/>
                        </a:rPr>
                        <a:t>写，</a:t>
                      </a:r>
                      <a:r>
                        <a:rPr lang="en-US" altLang="zh-CN" sz="1500">
                          <a:latin typeface="Times New Roman" panose="02020603050405020304" pitchFamily="18" charset="0"/>
                          <a:ea typeface="Times New Roman" panose="02020603050405020304" pitchFamily="18" charset="0"/>
                        </a:rPr>
                        <a:t>1</a:t>
                      </a:r>
                      <a:r>
                        <a:rPr lang="zh-CN" altLang="en-US" sz="1500" dirty="0">
                          <a:latin typeface="Times New Roman" panose="02020603050405020304" pitchFamily="18" charset="0"/>
                          <a:ea typeface="Times New Roman" panose="02020603050405020304" pitchFamily="18" charset="0"/>
                        </a:rPr>
                        <a:t>表示只读</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关键字长度</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关键字字段中字节数</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3087">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隐藏标志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表示正常，</a:t>
                      </a:r>
                      <a:r>
                        <a:rPr lang="en-US" altLang="zh-CN" sz="1500">
                          <a:latin typeface="Times New Roman" panose="02020603050405020304" pitchFamily="18" charset="0"/>
                          <a:ea typeface="Times New Roman" panose="02020603050405020304" pitchFamily="18" charset="0"/>
                        </a:rPr>
                        <a:t>1</a:t>
                      </a:r>
                      <a:r>
                        <a:rPr lang="zh-CN" altLang="en-US" sz="1500" dirty="0">
                          <a:latin typeface="Times New Roman" panose="02020603050405020304" pitchFamily="18" charset="0"/>
                          <a:ea typeface="Times New Roman" panose="02020603050405020304" pitchFamily="18" charset="0"/>
                        </a:rPr>
                        <a:t>表示不在列表中显示</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创建时间</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创建文件的日期和时间</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4675">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系统标志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表示一般文件，</a:t>
                      </a:r>
                      <a:r>
                        <a:rPr lang="en-US" altLang="zh-CN" sz="1500">
                          <a:latin typeface="Times New Roman" panose="02020603050405020304" pitchFamily="18" charset="0"/>
                          <a:ea typeface="Times New Roman" panose="02020603050405020304" pitchFamily="18" charset="0"/>
                        </a:rPr>
                        <a:t>1</a:t>
                      </a:r>
                      <a:r>
                        <a:rPr lang="zh-CN" altLang="en-US" sz="1500" dirty="0">
                          <a:latin typeface="Times New Roman" panose="02020603050405020304" pitchFamily="18" charset="0"/>
                          <a:ea typeface="Times New Roman" panose="02020603050405020304" pitchFamily="18" charset="0"/>
                        </a:rPr>
                        <a:t>表示系统文件</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最后存取时间</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最后存取文件的日期和时间</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3088">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存档标志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表示已经后备，</a:t>
                      </a:r>
                      <a:r>
                        <a:rPr lang="en-US" altLang="zh-CN" sz="1500">
                          <a:latin typeface="Times New Roman" panose="02020603050405020304" pitchFamily="18" charset="0"/>
                          <a:ea typeface="Times New Roman" panose="02020603050405020304" pitchFamily="18" charset="0"/>
                        </a:rPr>
                        <a:t>1</a:t>
                      </a:r>
                      <a:r>
                        <a:rPr lang="zh-CN" altLang="en-US" sz="1500" dirty="0">
                          <a:latin typeface="Times New Roman" panose="02020603050405020304" pitchFamily="18" charset="0"/>
                          <a:ea typeface="Times New Roman" panose="02020603050405020304" pitchFamily="18" charset="0"/>
                        </a:rPr>
                        <a:t>表示需要后备</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最后修改时间</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最后修改文件的日期和时间</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3087">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ASCI I/</a:t>
                      </a:r>
                      <a:r>
                        <a:rPr lang="zh-CN" altLang="en-US" sz="1500" dirty="0">
                          <a:latin typeface="Times New Roman" panose="02020603050405020304" pitchFamily="18" charset="0"/>
                          <a:ea typeface="Times New Roman" panose="02020603050405020304" pitchFamily="18" charset="0"/>
                        </a:rPr>
                        <a:t>二进制标志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a:t>
                      </a:r>
                      <a:r>
                        <a:rPr lang="en-US" altLang="zh-CN" sz="1500">
                          <a:latin typeface="Times New Roman" panose="02020603050405020304" pitchFamily="18" charset="0"/>
                          <a:ea typeface="Times New Roman" panose="02020603050405020304" pitchFamily="18" charset="0"/>
                        </a:rPr>
                        <a:t>ASCI I</a:t>
                      </a:r>
                      <a:r>
                        <a:rPr lang="zh-CN" altLang="en-US" sz="1500" dirty="0">
                          <a:latin typeface="Times New Roman" panose="02020603050405020304" pitchFamily="18" charset="0"/>
                          <a:ea typeface="Times New Roman" panose="02020603050405020304" pitchFamily="18" charset="0"/>
                        </a:rPr>
                        <a:t>文件，</a:t>
                      </a:r>
                      <a:r>
                        <a:rPr lang="en-US" altLang="zh-CN" sz="1500">
                          <a:latin typeface="Times New Roman" panose="02020603050405020304" pitchFamily="18" charset="0"/>
                          <a:ea typeface="Times New Roman" panose="02020603050405020304" pitchFamily="18" charset="0"/>
                        </a:rPr>
                        <a:t>1</a:t>
                      </a:r>
                      <a:r>
                        <a:rPr lang="zh-CN" altLang="en-US" sz="1500" dirty="0">
                          <a:latin typeface="Times New Roman" panose="02020603050405020304" pitchFamily="18" charset="0"/>
                          <a:ea typeface="Times New Roman" panose="02020603050405020304" pitchFamily="18" charset="0"/>
                        </a:rPr>
                        <a:t>表示二进制文件</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当前长度</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文件字节数</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3088">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随机存取标志</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en-US" altLang="zh-CN" sz="1500">
                          <a:latin typeface="Times New Roman" panose="02020603050405020304" pitchFamily="18" charset="0"/>
                          <a:ea typeface="Times New Roman" panose="02020603050405020304" pitchFamily="18" charset="0"/>
                        </a:rPr>
                        <a:t>0</a:t>
                      </a:r>
                      <a:r>
                        <a:rPr lang="zh-CN" altLang="en-US" sz="1500" dirty="0">
                          <a:latin typeface="Times New Roman" panose="02020603050405020304" pitchFamily="18" charset="0"/>
                          <a:ea typeface="Times New Roman" panose="02020603050405020304" pitchFamily="18" charset="0"/>
                        </a:rPr>
                        <a:t>表示只能顺序存取，</a:t>
                      </a:r>
                      <a:r>
                        <a:rPr lang="en-US" altLang="zh-CN" sz="1500">
                          <a:latin typeface="Times New Roman" panose="02020603050405020304" pitchFamily="18" charset="0"/>
                          <a:ea typeface="Times New Roman" panose="02020603050405020304" pitchFamily="18" charset="0"/>
                        </a:rPr>
                        <a:t>1</a:t>
                      </a:r>
                      <a:r>
                        <a:rPr lang="zh-CN" altLang="en-US" sz="1500" dirty="0">
                          <a:latin typeface="Times New Roman" panose="02020603050405020304" pitchFamily="18" charset="0"/>
                          <a:ea typeface="Times New Roman" panose="02020603050405020304" pitchFamily="18" charset="0"/>
                        </a:rPr>
                        <a:t>表示随机存取</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最大长度</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lr>
                          <a:schemeClr val="tx2"/>
                        </a:buClr>
                        <a:buSzPct val="70000"/>
                        <a:buFont typeface="Wingdings" panose="05000000000000000000" pitchFamily="2" charset="2"/>
                        <a:buChar char="l"/>
                        <a:defRPr sz="2600" b="1" i="0" u="none" kern="1200" baseline="0">
                          <a:solidFill>
                            <a:schemeClr val="tx1"/>
                          </a:solidFill>
                          <a:latin typeface="Arial" panose="020B0604020202020204" pitchFamily="34" charset="0"/>
                          <a:ea typeface="宋体" panose="02010600030101010101" pitchFamily="2" charset="-122"/>
                        </a:defRPr>
                      </a:lvl1pPr>
                      <a:lvl2pPr marL="692150" lvl="1" indent="-347345">
                        <a:buClr>
                          <a:schemeClr val="accent2"/>
                        </a:buClr>
                        <a:defRPr sz="2200" kern="1200"/>
                      </a:lvl2pPr>
                      <a:lvl3pPr marL="987425" lvl="2" indent="-293370">
                        <a:buClr>
                          <a:schemeClr val="accent1"/>
                        </a:buClr>
                        <a:defRPr sz="2100" kern="1200"/>
                      </a:lvl3pPr>
                      <a:lvl4pPr marL="1281430" lvl="3" indent="-292100">
                        <a:buClr>
                          <a:schemeClr val="tx2"/>
                        </a:buClr>
                        <a:defRPr sz="1800" b="0" kern="1200"/>
                      </a:lvl4pPr>
                      <a:lvl5pPr marL="1598930" lvl="4" indent="-316230">
                        <a:buClr>
                          <a:schemeClr val="folHlink"/>
                        </a:buClr>
                        <a:defRPr sz="1800" kern="1200"/>
                      </a:lvl5pPr>
                    </a:lstStyle>
                    <a:p>
                      <a:pPr marL="0" lvl="0" indent="0">
                        <a:spcBef>
                          <a:spcPct val="0"/>
                        </a:spcBef>
                        <a:buClr>
                          <a:srgbClr val="000000"/>
                        </a:buClr>
                        <a:buNone/>
                      </a:pPr>
                      <a:r>
                        <a:rPr lang="zh-CN" altLang="en-US" sz="1500" dirty="0">
                          <a:latin typeface="Times New Roman" panose="02020603050405020304" pitchFamily="18" charset="0"/>
                          <a:ea typeface="Times New Roman" panose="02020603050405020304" pitchFamily="18" charset="0"/>
                        </a:rPr>
                        <a:t>文件允许最大字节数</a:t>
                      </a:r>
                      <a:endParaRPr lang="zh-CN" altLang="en-US" sz="15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946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199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24577"/>
          <p:cNvSpPr>
            <a:spLocks noGrp="1" noChangeArrowheads="1"/>
          </p:cNvSpPr>
          <p:nvPr>
            <p:ph type="title"/>
          </p:nvPr>
        </p:nvSpPr>
        <p:spPr/>
        <p:txBody>
          <a:bodyPr/>
          <a:lstStyle/>
          <a:p>
            <a:r>
              <a:rPr lang="zh-CN" altLang="en-US" sz="3500"/>
              <a:t>提前介绍概念</a:t>
            </a:r>
            <a:br>
              <a:rPr lang="zh-CN" altLang="en-US" sz="3500"/>
            </a:br>
            <a:endParaRPr lang="zh-CN" altLang="en-US" sz="3500"/>
          </a:p>
        </p:txBody>
      </p:sp>
      <p:sp>
        <p:nvSpPr>
          <p:cNvPr id="24579" name="内容占位符 24578"/>
          <p:cNvSpPr>
            <a:spLocks noGrp="1" noChangeArrowheads="1"/>
          </p:cNvSpPr>
          <p:nvPr>
            <p:ph idx="1"/>
          </p:nvPr>
        </p:nvSpPr>
        <p:spPr>
          <a:xfrm>
            <a:off x="457200" y="1295400"/>
            <a:ext cx="8229600" cy="4835525"/>
          </a:xfrm>
        </p:spPr>
        <p:txBody>
          <a:bodyPr/>
          <a:lstStyle/>
          <a:p>
            <a:pPr>
              <a:lnSpc>
                <a:spcPct val="80000"/>
              </a:lnSpc>
              <a:buFont typeface="Wingdings" panose="05000000000000000000" pitchFamily="2" charset="2"/>
              <a:buNone/>
            </a:pPr>
            <a:r>
              <a:rPr lang="en-US" altLang="zh-CN" sz="2400">
                <a:solidFill>
                  <a:schemeClr val="tx2"/>
                </a:solidFill>
              </a:rPr>
              <a:t>1</a:t>
            </a:r>
            <a:r>
              <a:rPr lang="zh-CN" altLang="en-US" sz="2400">
                <a:solidFill>
                  <a:schemeClr val="tx2"/>
                </a:solidFill>
              </a:rPr>
              <a:t>．无结构文件</a:t>
            </a:r>
            <a:endParaRPr lang="zh-CN" altLang="en-US" sz="2400">
              <a:solidFill>
                <a:schemeClr val="tx2"/>
              </a:solidFill>
            </a:endParaRPr>
          </a:p>
          <a:p>
            <a:pPr>
              <a:lnSpc>
                <a:spcPct val="80000"/>
              </a:lnSpc>
              <a:buFont typeface="Wingdings" panose="05000000000000000000" pitchFamily="2" charset="2"/>
              <a:buNone/>
            </a:pPr>
            <a:r>
              <a:rPr lang="zh-CN" altLang="en-US" sz="2400"/>
              <a:t>      无结构文件是指文件内部</a:t>
            </a:r>
            <a:r>
              <a:rPr lang="zh-CN" altLang="en-US" sz="2400">
                <a:solidFill>
                  <a:srgbClr val="FF0000"/>
                </a:solidFill>
              </a:rPr>
              <a:t>不再划分记录</a:t>
            </a:r>
            <a:r>
              <a:rPr lang="zh-CN" altLang="en-US" sz="2400"/>
              <a:t>，是由一组相关信息组成的</a:t>
            </a:r>
            <a:r>
              <a:rPr lang="zh-CN" altLang="en-US" sz="2400">
                <a:solidFill>
                  <a:srgbClr val="FF0000"/>
                </a:solidFill>
              </a:rPr>
              <a:t>有序字符流</a:t>
            </a:r>
            <a:r>
              <a:rPr lang="zh-CN" altLang="en-US" sz="2400"/>
              <a:t>，即</a:t>
            </a:r>
            <a:r>
              <a:rPr lang="zh-CN" altLang="en-US" sz="2400">
                <a:solidFill>
                  <a:srgbClr val="3333CC"/>
                </a:solidFill>
              </a:rPr>
              <a:t>流式文件</a:t>
            </a:r>
            <a:r>
              <a:rPr lang="zh-CN" altLang="en-US" sz="2400"/>
              <a:t>。在</a:t>
            </a:r>
            <a:r>
              <a:rPr lang="en-US" altLang="zh-CN" sz="2400"/>
              <a:t>UNIX</a:t>
            </a:r>
            <a:r>
              <a:rPr lang="zh-CN" altLang="en-US" sz="2400"/>
              <a:t>和</a:t>
            </a:r>
            <a:r>
              <a:rPr lang="en-US" altLang="zh-CN" sz="2400"/>
              <a:t>Windows</a:t>
            </a:r>
            <a:r>
              <a:rPr lang="zh-CN" altLang="en-US" sz="2400"/>
              <a:t>系统中文件都是有序字符流，长度直接按字节计算。为操作系统带来灵活性。例如源程序文件、目标文件等。</a:t>
            </a:r>
            <a:endParaRPr lang="zh-CN" altLang="en-US" sz="2400"/>
          </a:p>
          <a:p>
            <a:pPr>
              <a:lnSpc>
                <a:spcPct val="80000"/>
              </a:lnSpc>
              <a:buFont typeface="Wingdings" panose="05000000000000000000" pitchFamily="2" charset="2"/>
              <a:buNone/>
            </a:pPr>
            <a:r>
              <a:rPr lang="en-US" altLang="zh-CN" sz="2400">
                <a:solidFill>
                  <a:schemeClr val="tx2"/>
                </a:solidFill>
              </a:rPr>
              <a:t>2</a:t>
            </a:r>
            <a:r>
              <a:rPr lang="zh-CN" altLang="en-US" sz="2400">
                <a:solidFill>
                  <a:schemeClr val="tx2"/>
                </a:solidFill>
              </a:rPr>
              <a:t>．有结构文件</a:t>
            </a:r>
            <a:endParaRPr lang="zh-CN" altLang="en-US" sz="2400">
              <a:solidFill>
                <a:schemeClr val="tx2"/>
              </a:solidFill>
            </a:endParaRPr>
          </a:p>
          <a:p>
            <a:pPr>
              <a:lnSpc>
                <a:spcPct val="80000"/>
              </a:lnSpc>
              <a:buFont typeface="Wingdings" panose="05000000000000000000" pitchFamily="2" charset="2"/>
              <a:buNone/>
            </a:pPr>
            <a:r>
              <a:rPr lang="zh-CN" altLang="en-US" sz="2400"/>
              <a:t>      有结构文件又称</a:t>
            </a:r>
            <a:r>
              <a:rPr lang="zh-CN" altLang="en-US" sz="2400">
                <a:solidFill>
                  <a:srgbClr val="3333CC"/>
                </a:solidFill>
              </a:rPr>
              <a:t>记录式文件</a:t>
            </a:r>
            <a:r>
              <a:rPr lang="zh-CN" altLang="en-US" sz="2400"/>
              <a:t>。它在逻辑上可被看成一组连续记录的集合，即文件是由若干相关记录组成，且对每个记录编上号码 。例如数据库表文件、目录文件等。</a:t>
            </a:r>
            <a:endParaRPr lang="zh-CN" altLang="en-US" sz="2400"/>
          </a:p>
          <a:p>
            <a:pPr>
              <a:lnSpc>
                <a:spcPct val="80000"/>
              </a:lnSpc>
              <a:buFont typeface="Wingdings" panose="05000000000000000000" pitchFamily="2" charset="2"/>
              <a:buNone/>
            </a:pPr>
            <a:r>
              <a:rPr lang="zh-CN" altLang="en-US" sz="2400"/>
              <a:t>    </a:t>
            </a:r>
            <a:r>
              <a:rPr lang="en-US" altLang="zh-CN" sz="2400"/>
              <a:t>① </a:t>
            </a:r>
            <a:r>
              <a:rPr lang="zh-CN" altLang="en-US" sz="2400"/>
              <a:t>定长记录文件。</a:t>
            </a:r>
            <a:endParaRPr lang="zh-CN" altLang="en-US" sz="2400"/>
          </a:p>
          <a:p>
            <a:pPr>
              <a:lnSpc>
                <a:spcPct val="80000"/>
              </a:lnSpc>
              <a:buFont typeface="Wingdings" panose="05000000000000000000" pitchFamily="2" charset="2"/>
              <a:buNone/>
            </a:pPr>
            <a:r>
              <a:rPr lang="zh-CN" altLang="en-US" sz="2400"/>
              <a:t>    </a:t>
            </a:r>
            <a:r>
              <a:rPr lang="en-US" altLang="zh-CN" sz="2400"/>
              <a:t>② </a:t>
            </a:r>
            <a:r>
              <a:rPr lang="zh-CN" altLang="en-US" sz="2400"/>
              <a:t>变长记录文件。</a:t>
            </a:r>
            <a:endParaRPr lang="zh-CN" altLang="en-US" sz="2400"/>
          </a:p>
          <a:p>
            <a:pPr>
              <a:lnSpc>
                <a:spcPct val="80000"/>
              </a:lnSpc>
              <a:buFont typeface="Wingdings" panose="05000000000000000000" pitchFamily="2" charset="2"/>
              <a:buNone/>
            </a:pPr>
            <a:r>
              <a:rPr lang="en-US" altLang="zh-CN" sz="2400">
                <a:solidFill>
                  <a:schemeClr val="tx2"/>
                </a:solidFill>
              </a:rPr>
              <a:t>3</a:t>
            </a:r>
            <a:r>
              <a:rPr lang="zh-CN" altLang="en-US" sz="2400">
                <a:solidFill>
                  <a:schemeClr val="tx2"/>
                </a:solidFill>
              </a:rPr>
              <a:t>．树形文件</a:t>
            </a:r>
            <a:endParaRPr lang="zh-CN" altLang="en-US" sz="2400">
              <a:solidFill>
                <a:schemeClr val="tx2"/>
              </a:solidFill>
            </a:endParaRPr>
          </a:p>
          <a:p>
            <a:pPr>
              <a:lnSpc>
                <a:spcPct val="80000"/>
              </a:lnSpc>
              <a:buFont typeface="Wingdings" panose="05000000000000000000" pitchFamily="2" charset="2"/>
              <a:buNone/>
            </a:pPr>
            <a:r>
              <a:rPr lang="zh-CN" altLang="en-US" sz="2400"/>
              <a:t>       这种结构的文件由一棵记录树构成，各个记录的长度可以不同。</a:t>
            </a: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p:cTn id="7" dur="500" fill="hold"/>
                                        <p:tgtEl>
                                          <p:spTgt spid="24579">
                                            <p:txEl>
                                              <p:pRg st="0" end="0"/>
                                            </p:txEl>
                                          </p:spTgt>
                                        </p:tgtEl>
                                        <p:attrNameLst>
                                          <p:attrName>ppt_x</p:attrName>
                                        </p:attrNameLst>
                                      </p:cBhvr>
                                      <p:tavLst>
                                        <p:tav tm="0">
                                          <p:val>
                                            <p:strVal val="#ppt_x-.2"/>
                                          </p:val>
                                        </p:tav>
                                        <p:tav tm="100000">
                                          <p:val>
                                            <p:strVal val="#ppt_x"/>
                                          </p:val>
                                        </p:tav>
                                      </p:tavLst>
                                    </p:anim>
                                    <p:anim calcmode="lin" valueType="num">
                                      <p:cBhvr>
                                        <p:cTn id="8" dur="500" fill="hold"/>
                                        <p:tgtEl>
                                          <p:spTgt spid="24579">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500"/>
                                        <p:tgtEl>
                                          <p:spTgt spid="24579">
                                            <p:txEl>
                                              <p:pRg st="0" end="0"/>
                                            </p:txEl>
                                          </p:spTgt>
                                        </p:tgtEl>
                                      </p:cBhvr>
                                    </p:animEffect>
                                  </p:childTnLst>
                                </p:cTn>
                              </p:par>
                              <p:par>
                                <p:cTn id="10" presetID="31" presetClass="entr" presetSubtype="0" fill="hold" nodeType="withEffect">
                                  <p:stCondLst>
                                    <p:cond delay="0"/>
                                  </p:stCondLst>
                                  <p:iterate type="lt">
                                    <p:tmPct val="5000"/>
                                  </p:iterate>
                                  <p:childTnLst>
                                    <p:set>
                                      <p:cBhvr>
                                        <p:cTn id="11" dur="1" fill="hold">
                                          <p:stCondLst>
                                            <p:cond delay="0"/>
                                          </p:stCondLst>
                                        </p:cTn>
                                        <p:tgtEl>
                                          <p:spTgt spid="24579">
                                            <p:txEl>
                                              <p:charRg st="8" end="103"/>
                                            </p:txEl>
                                          </p:spTgt>
                                        </p:tgtEl>
                                        <p:attrNameLst>
                                          <p:attrName>style.visibility</p:attrName>
                                        </p:attrNameLst>
                                      </p:cBhvr>
                                      <p:to>
                                        <p:strVal val="visible"/>
                                      </p:to>
                                    </p:set>
                                    <p:anim calcmode="lin" valueType="num">
                                      <p:cBhvr>
                                        <p:cTn id="12" dur="500" fill="hold"/>
                                        <p:tgtEl>
                                          <p:spTgt spid="24579">
                                            <p:txEl>
                                              <p:charRg st="8" end="103"/>
                                            </p:txEl>
                                          </p:spTgt>
                                        </p:tgtEl>
                                        <p:attrNameLst>
                                          <p:attrName>ppt_w</p:attrName>
                                        </p:attrNameLst>
                                      </p:cBhvr>
                                      <p:tavLst>
                                        <p:tav tm="0">
                                          <p:val>
                                            <p:fltVal val="0"/>
                                          </p:val>
                                        </p:tav>
                                        <p:tav tm="100000">
                                          <p:val>
                                            <p:strVal val="#ppt_w"/>
                                          </p:val>
                                        </p:tav>
                                      </p:tavLst>
                                    </p:anim>
                                    <p:anim calcmode="lin" valueType="num">
                                      <p:cBhvr>
                                        <p:cTn id="13" dur="500" fill="hold"/>
                                        <p:tgtEl>
                                          <p:spTgt spid="24579">
                                            <p:txEl>
                                              <p:charRg st="8" end="103"/>
                                            </p:txEl>
                                          </p:spTgt>
                                        </p:tgtEl>
                                        <p:attrNameLst>
                                          <p:attrName>ppt_h</p:attrName>
                                        </p:attrNameLst>
                                      </p:cBhvr>
                                      <p:tavLst>
                                        <p:tav tm="0">
                                          <p:val>
                                            <p:fltVal val="0"/>
                                          </p:val>
                                        </p:tav>
                                        <p:tav tm="100000">
                                          <p:val>
                                            <p:strVal val="#ppt_h"/>
                                          </p:val>
                                        </p:tav>
                                      </p:tavLst>
                                    </p:anim>
                                    <p:anim calcmode="lin" valueType="num">
                                      <p:cBhvr>
                                        <p:cTn id="14" dur="500" fill="hold"/>
                                        <p:tgtEl>
                                          <p:spTgt spid="24579">
                                            <p:txEl>
                                              <p:charRg st="8" end="103"/>
                                            </p:txEl>
                                          </p:spTgt>
                                        </p:tgtEl>
                                        <p:attrNameLst>
                                          <p:attrName>style.rotation</p:attrName>
                                        </p:attrNameLst>
                                      </p:cBhvr>
                                      <p:tavLst>
                                        <p:tav tm="0">
                                          <p:val>
                                            <p:fltVal val="90"/>
                                          </p:val>
                                        </p:tav>
                                        <p:tav tm="100000">
                                          <p:val>
                                            <p:fltVal val="0"/>
                                          </p:val>
                                        </p:tav>
                                      </p:tavLst>
                                    </p:anim>
                                    <p:animEffect transition="in" filter="fade">
                                      <p:cBhvr>
                                        <p:cTn id="15" dur="500"/>
                                        <p:tgtEl>
                                          <p:spTgt spid="24579">
                                            <p:txEl>
                                              <p:charRg st="8" end="10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9" presetClass="entr" presetSubtype="0" fill="hold" nodeType="clickEffect">
                                  <p:stCondLst>
                                    <p:cond delay="0"/>
                                  </p:stCondLst>
                                  <p:childTnLst>
                                    <p:set>
                                      <p:cBhvr>
                                        <p:cTn id="19" dur="1" fill="hold">
                                          <p:stCondLst>
                                            <p:cond delay="0"/>
                                          </p:stCondLst>
                                        </p:cTn>
                                        <p:tgtEl>
                                          <p:spTgt spid="24579">
                                            <p:txEl>
                                              <p:charRg st="103" end="111"/>
                                            </p:txEl>
                                          </p:spTgt>
                                        </p:tgtEl>
                                        <p:attrNameLst>
                                          <p:attrName>style.visibility</p:attrName>
                                        </p:attrNameLst>
                                      </p:cBhvr>
                                      <p:to>
                                        <p:strVal val="visible"/>
                                      </p:to>
                                    </p:set>
                                    <p:anim calcmode="lin" valueType="num">
                                      <p:cBhvr>
                                        <p:cTn id="20" dur="500" fill="hold"/>
                                        <p:tgtEl>
                                          <p:spTgt spid="24579">
                                            <p:txEl>
                                              <p:charRg st="103" end="111"/>
                                            </p:txEl>
                                          </p:spTgt>
                                        </p:tgtEl>
                                        <p:attrNameLst>
                                          <p:attrName>ppt_x</p:attrName>
                                        </p:attrNameLst>
                                      </p:cBhvr>
                                      <p:tavLst>
                                        <p:tav tm="0">
                                          <p:val>
                                            <p:strVal val="#ppt_x-.2"/>
                                          </p:val>
                                        </p:tav>
                                        <p:tav tm="100000">
                                          <p:val>
                                            <p:strVal val="#ppt_x"/>
                                          </p:val>
                                        </p:tav>
                                      </p:tavLst>
                                    </p:anim>
                                    <p:anim calcmode="lin" valueType="num">
                                      <p:cBhvr>
                                        <p:cTn id="21" dur="500" fill="hold"/>
                                        <p:tgtEl>
                                          <p:spTgt spid="24579">
                                            <p:txEl>
                                              <p:charRg st="103" end="111"/>
                                            </p:txEl>
                                          </p:spTgt>
                                        </p:tgtEl>
                                        <p:attrNameLst>
                                          <p:attrName>ppt_y</p:attrName>
                                        </p:attrNameLst>
                                      </p:cBhvr>
                                      <p:tavLst>
                                        <p:tav tm="0">
                                          <p:val>
                                            <p:strVal val="#ppt_y"/>
                                          </p:val>
                                        </p:tav>
                                        <p:tav tm="100000">
                                          <p:val>
                                            <p:strVal val="#ppt_y"/>
                                          </p:val>
                                        </p:tav>
                                      </p:tavLst>
                                    </p:anim>
                                    <p:animEffect transition="in" filter="wipe(right)" prLst="gradientSize: 0.1">
                                      <p:cBhvr>
                                        <p:cTn id="22" dur="500"/>
                                        <p:tgtEl>
                                          <p:spTgt spid="24579">
                                            <p:txEl>
                                              <p:charRg st="103" end="111"/>
                                            </p:txEl>
                                          </p:spTgt>
                                        </p:tgtEl>
                                      </p:cBhvr>
                                    </p:animEffect>
                                  </p:childTnLst>
                                </p:cTn>
                              </p:par>
                              <p:par>
                                <p:cTn id="23" presetID="31" presetClass="entr" presetSubtype="0" fill="hold" nodeType="withEffect">
                                  <p:stCondLst>
                                    <p:cond delay="0"/>
                                  </p:stCondLst>
                                  <p:iterate type="lt">
                                    <p:tmPct val="5000"/>
                                  </p:iterate>
                                  <p:childTnLst>
                                    <p:set>
                                      <p:cBhvr>
                                        <p:cTn id="24" dur="1" fill="hold">
                                          <p:stCondLst>
                                            <p:cond delay="0"/>
                                          </p:stCondLst>
                                        </p:cTn>
                                        <p:tgtEl>
                                          <p:spTgt spid="24579">
                                            <p:txEl>
                                              <p:charRg st="111" end="176"/>
                                            </p:txEl>
                                          </p:spTgt>
                                        </p:tgtEl>
                                        <p:attrNameLst>
                                          <p:attrName>style.visibility</p:attrName>
                                        </p:attrNameLst>
                                      </p:cBhvr>
                                      <p:to>
                                        <p:strVal val="visible"/>
                                      </p:to>
                                    </p:set>
                                    <p:anim calcmode="lin" valueType="num">
                                      <p:cBhvr>
                                        <p:cTn id="25" dur="500" fill="hold"/>
                                        <p:tgtEl>
                                          <p:spTgt spid="24579">
                                            <p:txEl>
                                              <p:charRg st="111" end="176"/>
                                            </p:txEl>
                                          </p:spTgt>
                                        </p:tgtEl>
                                        <p:attrNameLst>
                                          <p:attrName>ppt_w</p:attrName>
                                        </p:attrNameLst>
                                      </p:cBhvr>
                                      <p:tavLst>
                                        <p:tav tm="0">
                                          <p:val>
                                            <p:fltVal val="0"/>
                                          </p:val>
                                        </p:tav>
                                        <p:tav tm="100000">
                                          <p:val>
                                            <p:strVal val="#ppt_w"/>
                                          </p:val>
                                        </p:tav>
                                      </p:tavLst>
                                    </p:anim>
                                    <p:anim calcmode="lin" valueType="num">
                                      <p:cBhvr>
                                        <p:cTn id="26" dur="500" fill="hold"/>
                                        <p:tgtEl>
                                          <p:spTgt spid="24579">
                                            <p:txEl>
                                              <p:charRg st="111" end="176"/>
                                            </p:txEl>
                                          </p:spTgt>
                                        </p:tgtEl>
                                        <p:attrNameLst>
                                          <p:attrName>ppt_h</p:attrName>
                                        </p:attrNameLst>
                                      </p:cBhvr>
                                      <p:tavLst>
                                        <p:tav tm="0">
                                          <p:val>
                                            <p:fltVal val="0"/>
                                          </p:val>
                                        </p:tav>
                                        <p:tav tm="100000">
                                          <p:val>
                                            <p:strVal val="#ppt_h"/>
                                          </p:val>
                                        </p:tav>
                                      </p:tavLst>
                                    </p:anim>
                                    <p:anim calcmode="lin" valueType="num">
                                      <p:cBhvr>
                                        <p:cTn id="27" dur="500" fill="hold"/>
                                        <p:tgtEl>
                                          <p:spTgt spid="24579">
                                            <p:txEl>
                                              <p:charRg st="111" end="176"/>
                                            </p:txEl>
                                          </p:spTgt>
                                        </p:tgtEl>
                                        <p:attrNameLst>
                                          <p:attrName>style.rotation</p:attrName>
                                        </p:attrNameLst>
                                      </p:cBhvr>
                                      <p:tavLst>
                                        <p:tav tm="0">
                                          <p:val>
                                            <p:fltVal val="90"/>
                                          </p:val>
                                        </p:tav>
                                        <p:tav tm="100000">
                                          <p:val>
                                            <p:fltVal val="0"/>
                                          </p:val>
                                        </p:tav>
                                      </p:tavLst>
                                    </p:anim>
                                    <p:animEffect transition="in" filter="fade">
                                      <p:cBhvr>
                                        <p:cTn id="28" dur="500"/>
                                        <p:tgtEl>
                                          <p:spTgt spid="24579">
                                            <p:txEl>
                                              <p:charRg st="111" end="176"/>
                                            </p:txEl>
                                          </p:spTgt>
                                        </p:tgtEl>
                                      </p:cBhvr>
                                    </p:animEffect>
                                  </p:childTnLst>
                                </p:cTn>
                              </p:par>
                              <p:par>
                                <p:cTn id="29" presetID="31" presetClass="entr" presetSubtype="0" fill="hold" nodeType="withEffect">
                                  <p:stCondLst>
                                    <p:cond delay="0"/>
                                  </p:stCondLst>
                                  <p:iterate type="lt">
                                    <p:tmPct val="5000"/>
                                  </p:iterate>
                                  <p:childTnLst>
                                    <p:set>
                                      <p:cBhvr>
                                        <p:cTn id="30" dur="1" fill="hold">
                                          <p:stCondLst>
                                            <p:cond delay="0"/>
                                          </p:stCondLst>
                                        </p:cTn>
                                        <p:tgtEl>
                                          <p:spTgt spid="24579">
                                            <p:txEl>
                                              <p:charRg st="176" end="190"/>
                                            </p:txEl>
                                          </p:spTgt>
                                        </p:tgtEl>
                                        <p:attrNameLst>
                                          <p:attrName>style.visibility</p:attrName>
                                        </p:attrNameLst>
                                      </p:cBhvr>
                                      <p:to>
                                        <p:strVal val="visible"/>
                                      </p:to>
                                    </p:set>
                                    <p:anim calcmode="lin" valueType="num">
                                      <p:cBhvr>
                                        <p:cTn id="31" dur="500" fill="hold"/>
                                        <p:tgtEl>
                                          <p:spTgt spid="24579">
                                            <p:txEl>
                                              <p:charRg st="176" end="190"/>
                                            </p:txEl>
                                          </p:spTgt>
                                        </p:tgtEl>
                                        <p:attrNameLst>
                                          <p:attrName>ppt_w</p:attrName>
                                        </p:attrNameLst>
                                      </p:cBhvr>
                                      <p:tavLst>
                                        <p:tav tm="0">
                                          <p:val>
                                            <p:fltVal val="0"/>
                                          </p:val>
                                        </p:tav>
                                        <p:tav tm="100000">
                                          <p:val>
                                            <p:strVal val="#ppt_w"/>
                                          </p:val>
                                        </p:tav>
                                      </p:tavLst>
                                    </p:anim>
                                    <p:anim calcmode="lin" valueType="num">
                                      <p:cBhvr>
                                        <p:cTn id="32" dur="500" fill="hold"/>
                                        <p:tgtEl>
                                          <p:spTgt spid="24579">
                                            <p:txEl>
                                              <p:charRg st="176" end="190"/>
                                            </p:txEl>
                                          </p:spTgt>
                                        </p:tgtEl>
                                        <p:attrNameLst>
                                          <p:attrName>ppt_h</p:attrName>
                                        </p:attrNameLst>
                                      </p:cBhvr>
                                      <p:tavLst>
                                        <p:tav tm="0">
                                          <p:val>
                                            <p:fltVal val="0"/>
                                          </p:val>
                                        </p:tav>
                                        <p:tav tm="100000">
                                          <p:val>
                                            <p:strVal val="#ppt_h"/>
                                          </p:val>
                                        </p:tav>
                                      </p:tavLst>
                                    </p:anim>
                                    <p:anim calcmode="lin" valueType="num">
                                      <p:cBhvr>
                                        <p:cTn id="33" dur="500" fill="hold"/>
                                        <p:tgtEl>
                                          <p:spTgt spid="24579">
                                            <p:txEl>
                                              <p:charRg st="176" end="190"/>
                                            </p:txEl>
                                          </p:spTgt>
                                        </p:tgtEl>
                                        <p:attrNameLst>
                                          <p:attrName>style.rotation</p:attrName>
                                        </p:attrNameLst>
                                      </p:cBhvr>
                                      <p:tavLst>
                                        <p:tav tm="0">
                                          <p:val>
                                            <p:fltVal val="90"/>
                                          </p:val>
                                        </p:tav>
                                        <p:tav tm="100000">
                                          <p:val>
                                            <p:fltVal val="0"/>
                                          </p:val>
                                        </p:tav>
                                      </p:tavLst>
                                    </p:anim>
                                    <p:animEffect transition="in" filter="fade">
                                      <p:cBhvr>
                                        <p:cTn id="34" dur="500"/>
                                        <p:tgtEl>
                                          <p:spTgt spid="24579">
                                            <p:txEl>
                                              <p:charRg st="176" end="190"/>
                                            </p:txEl>
                                          </p:spTgt>
                                        </p:tgtEl>
                                      </p:cBhvr>
                                    </p:animEffect>
                                  </p:childTnLst>
                                </p:cTn>
                              </p:par>
                              <p:par>
                                <p:cTn id="35" presetID="31" presetClass="entr" presetSubtype="0" fill="hold" nodeType="withEffect">
                                  <p:stCondLst>
                                    <p:cond delay="0"/>
                                  </p:stCondLst>
                                  <p:iterate type="lt">
                                    <p:tmPct val="5000"/>
                                  </p:iterate>
                                  <p:childTnLst>
                                    <p:set>
                                      <p:cBhvr>
                                        <p:cTn id="36" dur="1" fill="hold">
                                          <p:stCondLst>
                                            <p:cond delay="0"/>
                                          </p:stCondLst>
                                        </p:cTn>
                                        <p:tgtEl>
                                          <p:spTgt spid="24579">
                                            <p:txEl>
                                              <p:charRg st="190" end="204"/>
                                            </p:txEl>
                                          </p:spTgt>
                                        </p:tgtEl>
                                        <p:attrNameLst>
                                          <p:attrName>style.visibility</p:attrName>
                                        </p:attrNameLst>
                                      </p:cBhvr>
                                      <p:to>
                                        <p:strVal val="visible"/>
                                      </p:to>
                                    </p:set>
                                    <p:anim calcmode="lin" valueType="num">
                                      <p:cBhvr>
                                        <p:cTn id="37" dur="500" fill="hold"/>
                                        <p:tgtEl>
                                          <p:spTgt spid="24579">
                                            <p:txEl>
                                              <p:charRg st="190" end="204"/>
                                            </p:txEl>
                                          </p:spTgt>
                                        </p:tgtEl>
                                        <p:attrNameLst>
                                          <p:attrName>ppt_w</p:attrName>
                                        </p:attrNameLst>
                                      </p:cBhvr>
                                      <p:tavLst>
                                        <p:tav tm="0">
                                          <p:val>
                                            <p:fltVal val="0"/>
                                          </p:val>
                                        </p:tav>
                                        <p:tav tm="100000">
                                          <p:val>
                                            <p:strVal val="#ppt_w"/>
                                          </p:val>
                                        </p:tav>
                                      </p:tavLst>
                                    </p:anim>
                                    <p:anim calcmode="lin" valueType="num">
                                      <p:cBhvr>
                                        <p:cTn id="38" dur="500" fill="hold"/>
                                        <p:tgtEl>
                                          <p:spTgt spid="24579">
                                            <p:txEl>
                                              <p:charRg st="190" end="204"/>
                                            </p:txEl>
                                          </p:spTgt>
                                        </p:tgtEl>
                                        <p:attrNameLst>
                                          <p:attrName>ppt_h</p:attrName>
                                        </p:attrNameLst>
                                      </p:cBhvr>
                                      <p:tavLst>
                                        <p:tav tm="0">
                                          <p:val>
                                            <p:fltVal val="0"/>
                                          </p:val>
                                        </p:tav>
                                        <p:tav tm="100000">
                                          <p:val>
                                            <p:strVal val="#ppt_h"/>
                                          </p:val>
                                        </p:tav>
                                      </p:tavLst>
                                    </p:anim>
                                    <p:anim calcmode="lin" valueType="num">
                                      <p:cBhvr>
                                        <p:cTn id="39" dur="500" fill="hold"/>
                                        <p:tgtEl>
                                          <p:spTgt spid="24579">
                                            <p:txEl>
                                              <p:charRg st="190" end="204"/>
                                            </p:txEl>
                                          </p:spTgt>
                                        </p:tgtEl>
                                        <p:attrNameLst>
                                          <p:attrName>style.rotation</p:attrName>
                                        </p:attrNameLst>
                                      </p:cBhvr>
                                      <p:tavLst>
                                        <p:tav tm="0">
                                          <p:val>
                                            <p:fltVal val="90"/>
                                          </p:val>
                                        </p:tav>
                                        <p:tav tm="100000">
                                          <p:val>
                                            <p:fltVal val="0"/>
                                          </p:val>
                                        </p:tav>
                                      </p:tavLst>
                                    </p:anim>
                                    <p:animEffect transition="in" filter="fade">
                                      <p:cBhvr>
                                        <p:cTn id="40" dur="500"/>
                                        <p:tgtEl>
                                          <p:spTgt spid="24579">
                                            <p:txEl>
                                              <p:charRg st="190" end="20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9" presetClass="entr" presetSubtype="0" fill="hold" nodeType="clickEffect">
                                  <p:stCondLst>
                                    <p:cond delay="0"/>
                                  </p:stCondLst>
                                  <p:childTnLst>
                                    <p:set>
                                      <p:cBhvr>
                                        <p:cTn id="44" dur="1" fill="hold">
                                          <p:stCondLst>
                                            <p:cond delay="0"/>
                                          </p:stCondLst>
                                        </p:cTn>
                                        <p:tgtEl>
                                          <p:spTgt spid="24579">
                                            <p:txEl>
                                              <p:charRg st="204" end="211"/>
                                            </p:txEl>
                                          </p:spTgt>
                                        </p:tgtEl>
                                        <p:attrNameLst>
                                          <p:attrName>style.visibility</p:attrName>
                                        </p:attrNameLst>
                                      </p:cBhvr>
                                      <p:to>
                                        <p:strVal val="visible"/>
                                      </p:to>
                                    </p:set>
                                    <p:anim calcmode="lin" valueType="num">
                                      <p:cBhvr>
                                        <p:cTn id="45" dur="500" fill="hold"/>
                                        <p:tgtEl>
                                          <p:spTgt spid="24579">
                                            <p:txEl>
                                              <p:charRg st="204" end="211"/>
                                            </p:txEl>
                                          </p:spTgt>
                                        </p:tgtEl>
                                        <p:attrNameLst>
                                          <p:attrName>ppt_x</p:attrName>
                                        </p:attrNameLst>
                                      </p:cBhvr>
                                      <p:tavLst>
                                        <p:tav tm="0">
                                          <p:val>
                                            <p:strVal val="#ppt_x-.2"/>
                                          </p:val>
                                        </p:tav>
                                        <p:tav tm="100000">
                                          <p:val>
                                            <p:strVal val="#ppt_x"/>
                                          </p:val>
                                        </p:tav>
                                      </p:tavLst>
                                    </p:anim>
                                    <p:anim calcmode="lin" valueType="num">
                                      <p:cBhvr>
                                        <p:cTn id="46" dur="500" fill="hold"/>
                                        <p:tgtEl>
                                          <p:spTgt spid="24579">
                                            <p:txEl>
                                              <p:charRg st="204" end="211"/>
                                            </p:txEl>
                                          </p:spTgt>
                                        </p:tgtEl>
                                        <p:attrNameLst>
                                          <p:attrName>ppt_y</p:attrName>
                                        </p:attrNameLst>
                                      </p:cBhvr>
                                      <p:tavLst>
                                        <p:tav tm="0">
                                          <p:val>
                                            <p:strVal val="#ppt_y"/>
                                          </p:val>
                                        </p:tav>
                                        <p:tav tm="100000">
                                          <p:val>
                                            <p:strVal val="#ppt_y"/>
                                          </p:val>
                                        </p:tav>
                                      </p:tavLst>
                                    </p:anim>
                                    <p:animEffect transition="in" filter="wipe(right)" prLst="gradientSize: 0.1">
                                      <p:cBhvr>
                                        <p:cTn id="47" dur="500"/>
                                        <p:tgtEl>
                                          <p:spTgt spid="24579">
                                            <p:txEl>
                                              <p:charRg st="204" end="211"/>
                                            </p:txEl>
                                          </p:spTgt>
                                        </p:tgtEl>
                                      </p:cBhvr>
                                    </p:animEffect>
                                  </p:childTnLst>
                                </p:cTn>
                              </p:par>
                              <p:par>
                                <p:cTn id="48" presetID="31" presetClass="entr" presetSubtype="0" fill="hold" nodeType="withEffect">
                                  <p:stCondLst>
                                    <p:cond delay="0"/>
                                  </p:stCondLst>
                                  <p:iterate type="lt">
                                    <p:tmPct val="5000"/>
                                  </p:iterate>
                                  <p:childTnLst>
                                    <p:set>
                                      <p:cBhvr>
                                        <p:cTn id="49" dur="1" fill="hold">
                                          <p:stCondLst>
                                            <p:cond delay="0"/>
                                          </p:stCondLst>
                                        </p:cTn>
                                        <p:tgtEl>
                                          <p:spTgt spid="24579">
                                            <p:txEl>
                                              <p:charRg st="211" end="247"/>
                                            </p:txEl>
                                          </p:spTgt>
                                        </p:tgtEl>
                                        <p:attrNameLst>
                                          <p:attrName>style.visibility</p:attrName>
                                        </p:attrNameLst>
                                      </p:cBhvr>
                                      <p:to>
                                        <p:strVal val="visible"/>
                                      </p:to>
                                    </p:set>
                                    <p:anim calcmode="lin" valueType="num">
                                      <p:cBhvr>
                                        <p:cTn id="50" dur="500" fill="hold"/>
                                        <p:tgtEl>
                                          <p:spTgt spid="24579">
                                            <p:txEl>
                                              <p:charRg st="211" end="247"/>
                                            </p:txEl>
                                          </p:spTgt>
                                        </p:tgtEl>
                                        <p:attrNameLst>
                                          <p:attrName>ppt_w</p:attrName>
                                        </p:attrNameLst>
                                      </p:cBhvr>
                                      <p:tavLst>
                                        <p:tav tm="0">
                                          <p:val>
                                            <p:fltVal val="0"/>
                                          </p:val>
                                        </p:tav>
                                        <p:tav tm="100000">
                                          <p:val>
                                            <p:strVal val="#ppt_w"/>
                                          </p:val>
                                        </p:tav>
                                      </p:tavLst>
                                    </p:anim>
                                    <p:anim calcmode="lin" valueType="num">
                                      <p:cBhvr>
                                        <p:cTn id="51" dur="500" fill="hold"/>
                                        <p:tgtEl>
                                          <p:spTgt spid="24579">
                                            <p:txEl>
                                              <p:charRg st="211" end="247"/>
                                            </p:txEl>
                                          </p:spTgt>
                                        </p:tgtEl>
                                        <p:attrNameLst>
                                          <p:attrName>ppt_h</p:attrName>
                                        </p:attrNameLst>
                                      </p:cBhvr>
                                      <p:tavLst>
                                        <p:tav tm="0">
                                          <p:val>
                                            <p:fltVal val="0"/>
                                          </p:val>
                                        </p:tav>
                                        <p:tav tm="100000">
                                          <p:val>
                                            <p:strVal val="#ppt_h"/>
                                          </p:val>
                                        </p:tav>
                                      </p:tavLst>
                                    </p:anim>
                                    <p:anim calcmode="lin" valueType="num">
                                      <p:cBhvr>
                                        <p:cTn id="52" dur="500" fill="hold"/>
                                        <p:tgtEl>
                                          <p:spTgt spid="24579">
                                            <p:txEl>
                                              <p:charRg st="211" end="247"/>
                                            </p:txEl>
                                          </p:spTgt>
                                        </p:tgtEl>
                                        <p:attrNameLst>
                                          <p:attrName>style.rotation</p:attrName>
                                        </p:attrNameLst>
                                      </p:cBhvr>
                                      <p:tavLst>
                                        <p:tav tm="0">
                                          <p:val>
                                            <p:fltVal val="90"/>
                                          </p:val>
                                        </p:tav>
                                        <p:tav tm="100000">
                                          <p:val>
                                            <p:fltVal val="0"/>
                                          </p:val>
                                        </p:tav>
                                      </p:tavLst>
                                    </p:anim>
                                    <p:animEffect transition="in" filter="fade">
                                      <p:cBhvr>
                                        <p:cTn id="53" dur="500"/>
                                        <p:tgtEl>
                                          <p:spTgt spid="24579">
                                            <p:txEl>
                                              <p:charRg st="211" end="2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20481"/>
          <p:cNvSpPr>
            <a:spLocks noGrp="1" noChangeArrowheads="1"/>
          </p:cNvSpPr>
          <p:nvPr>
            <p:ph type="title"/>
          </p:nvPr>
        </p:nvSpPr>
        <p:spPr/>
        <p:txBody>
          <a:bodyPr/>
          <a:lstStyle/>
          <a:p>
            <a:r>
              <a:rPr lang="en-US" altLang="zh-CN" sz="3500"/>
              <a:t>6.1.4  </a:t>
            </a:r>
            <a:r>
              <a:rPr lang="zh-CN" altLang="en-US" sz="3500"/>
              <a:t>文件存取方法</a:t>
            </a:r>
            <a:br>
              <a:rPr lang="zh-CN" altLang="en-US" sz="3500"/>
            </a:br>
            <a:endParaRPr lang="zh-CN" altLang="en-US" sz="3500"/>
          </a:p>
        </p:txBody>
      </p:sp>
      <p:sp>
        <p:nvSpPr>
          <p:cNvPr id="16386" name="文本占位符 20482"/>
          <p:cNvSpPr>
            <a:spLocks noGrp="1" noChangeArrowheads="1"/>
          </p:cNvSpPr>
          <p:nvPr>
            <p:ph idx="1"/>
          </p:nvPr>
        </p:nvSpPr>
        <p:spPr>
          <a:xfrm>
            <a:off x="457200" y="1371600"/>
            <a:ext cx="8229600" cy="4411663"/>
          </a:xfrm>
        </p:spPr>
        <p:txBody>
          <a:bodyPr/>
          <a:lstStyle/>
          <a:p>
            <a:pPr algn="just">
              <a:buFont typeface="Wingdings" panose="05000000000000000000" pitchFamily="2" charset="2"/>
              <a:buNone/>
            </a:pPr>
            <a:r>
              <a:rPr lang="en-US" altLang="zh-CN"/>
              <a:t>1</a:t>
            </a:r>
            <a:r>
              <a:rPr lang="zh-CN" altLang="en-US"/>
              <a:t>．顺序存取方法</a:t>
            </a:r>
            <a:endParaRPr lang="zh-CN" altLang="en-US"/>
          </a:p>
          <a:p>
            <a:pPr algn="just">
              <a:buFont typeface="Wingdings" panose="05000000000000000000" pitchFamily="2" charset="2"/>
              <a:buNone/>
            </a:pPr>
            <a:r>
              <a:rPr lang="zh-CN" altLang="en-US"/>
              <a:t>读：从指针位置顺序读；</a:t>
            </a:r>
            <a:endParaRPr lang="zh-CN" altLang="en-US"/>
          </a:p>
          <a:p>
            <a:pPr algn="just">
              <a:buFont typeface="Wingdings" panose="05000000000000000000" pitchFamily="2" charset="2"/>
              <a:buNone/>
            </a:pPr>
            <a:r>
              <a:rPr lang="zh-CN" altLang="en-US"/>
              <a:t>写：从文件末尾开始写。</a:t>
            </a:r>
            <a:endParaRPr lang="zh-CN" altLang="en-US"/>
          </a:p>
          <a:p>
            <a:endParaRPr lang="zh-CN" altLang="en-US"/>
          </a:p>
        </p:txBody>
      </p:sp>
      <p:pic>
        <p:nvPicPr>
          <p:cNvPr id="16387" name="图片 20483" descr="B6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3657600"/>
            <a:ext cx="6248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矩形 20484"/>
          <p:cNvSpPr>
            <a:spLocks noChangeArrowheads="1"/>
          </p:cNvSpPr>
          <p:nvPr/>
        </p:nvSpPr>
        <p:spPr bwMode="auto">
          <a:xfrm>
            <a:off x="1905000" y="5715000"/>
            <a:ext cx="477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6-2  </a:t>
            </a:r>
            <a:r>
              <a:rPr lang="zh-CN" altLang="en-US">
                <a:latin typeface="Tahoma" panose="020B0604030504040204" pitchFamily="34" charset="0"/>
              </a:rPr>
              <a:t>顺序存取定长记录文件</a:t>
            </a:r>
            <a:endParaRPr lang="zh-CN" altLang="en-US">
              <a:latin typeface="Tahoma" panose="020B0604030504040204" pitchFamily="34" charset="0"/>
            </a:endParaRPr>
          </a:p>
        </p:txBody>
      </p:sp>
    </p:spTree>
  </p:cSld>
  <p:clrMapOvr>
    <a:masterClrMapping/>
  </p:clrMapOvr>
  <p:transition spd="slow">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1506"/>
          <p:cNvSpPr>
            <a:spLocks noGrp="1" noChangeArrowheads="1"/>
          </p:cNvSpPr>
          <p:nvPr>
            <p:ph idx="1"/>
          </p:nvPr>
        </p:nvSpPr>
        <p:spPr>
          <a:xfrm>
            <a:off x="457200" y="304800"/>
            <a:ext cx="8229600" cy="5715000"/>
          </a:xfrm>
        </p:spPr>
        <p:txBody>
          <a:bodyPr/>
          <a:lstStyle/>
          <a:p>
            <a:r>
              <a:rPr lang="zh-CN" altLang="en-US"/>
              <a:t>对定长记录文件，有</a:t>
            </a:r>
            <a:endParaRPr lang="zh-CN" altLang="en-US"/>
          </a:p>
          <a:p>
            <a:pPr>
              <a:buFont typeface="Wingdings" panose="05000000000000000000" pitchFamily="2" charset="2"/>
              <a:buNone/>
            </a:pPr>
            <a:r>
              <a:rPr lang="zh-CN" altLang="en-US"/>
              <a:t>       </a:t>
            </a:r>
            <a:r>
              <a:rPr lang="en-US" altLang="zh-CN"/>
              <a:t>rp</a:t>
            </a:r>
            <a:r>
              <a:rPr lang="en-US" altLang="zh-CN" i="1" baseline="-25000"/>
              <a:t>i</a:t>
            </a:r>
            <a:r>
              <a:rPr lang="en-US" altLang="zh-CN" baseline="-25000"/>
              <a:t>+1</a:t>
            </a:r>
            <a:r>
              <a:rPr lang="en-US" altLang="zh-CN"/>
              <a:t>= rp</a:t>
            </a:r>
            <a:r>
              <a:rPr lang="en-US" altLang="zh-CN" i="1" baseline="-25000"/>
              <a:t>i</a:t>
            </a:r>
            <a:r>
              <a:rPr lang="en-US" altLang="zh-CN"/>
              <a:t> + </a:t>
            </a:r>
            <a:r>
              <a:rPr lang="en-US" altLang="zh-CN" i="1"/>
              <a:t>l</a:t>
            </a:r>
            <a:endParaRPr lang="en-US" altLang="zh-CN"/>
          </a:p>
          <a:p>
            <a:r>
              <a:rPr lang="zh-CN" altLang="en-US"/>
              <a:t>对变长记录文件</a:t>
            </a:r>
            <a:endParaRPr lang="zh-CN" altLang="en-US"/>
          </a:p>
          <a:p>
            <a:pPr>
              <a:buFont typeface="Wingdings" panose="05000000000000000000" pitchFamily="2" charset="2"/>
              <a:buNone/>
            </a:pPr>
            <a:r>
              <a:rPr lang="zh-CN" altLang="en-US"/>
              <a:t>       </a:t>
            </a:r>
            <a:r>
              <a:rPr lang="en-US" altLang="zh-CN"/>
              <a:t>rp</a:t>
            </a:r>
            <a:r>
              <a:rPr lang="en-US" altLang="zh-CN" i="1" baseline="-25000"/>
              <a:t>i</a:t>
            </a:r>
            <a:r>
              <a:rPr lang="en-US" altLang="zh-CN" baseline="-25000"/>
              <a:t>+1</a:t>
            </a:r>
            <a:r>
              <a:rPr lang="en-US" altLang="zh-CN"/>
              <a:t>= rp</a:t>
            </a:r>
            <a:r>
              <a:rPr lang="en-US" altLang="zh-CN" i="1" baseline="-25000"/>
              <a:t>i</a:t>
            </a:r>
            <a:r>
              <a:rPr lang="en-US" altLang="zh-CN" baseline="-25000"/>
              <a:t> </a:t>
            </a:r>
            <a:r>
              <a:rPr lang="en-US" altLang="zh-CN"/>
              <a:t>+ </a:t>
            </a:r>
            <a:r>
              <a:rPr lang="en-US" altLang="zh-CN" i="1"/>
              <a:t>l</a:t>
            </a:r>
            <a:r>
              <a:rPr lang="en-US" altLang="zh-CN" i="1" baseline="-25000"/>
              <a:t>i</a:t>
            </a:r>
            <a:endParaRPr lang="en-US" altLang="zh-CN" i="1" baseline="-25000"/>
          </a:p>
          <a:p>
            <a:pPr>
              <a:buFont typeface="Wingdings" panose="05000000000000000000" pitchFamily="2" charset="2"/>
              <a:buNone/>
            </a:pPr>
            <a:endParaRPr lang="en-US" altLang="zh-CN" i="1"/>
          </a:p>
          <a:p>
            <a:pPr>
              <a:buFont typeface="Wingdings" panose="05000000000000000000" pitchFamily="2" charset="2"/>
              <a:buNone/>
            </a:pPr>
            <a:r>
              <a:rPr lang="en-US" altLang="en-US">
                <a:solidFill>
                  <a:schemeClr val="accent2"/>
                </a:solidFill>
              </a:rPr>
              <a:t>☆</a:t>
            </a:r>
            <a:r>
              <a:rPr lang="en-US" altLang="zh-CN" sz="2100" i="1"/>
              <a:t>l</a:t>
            </a:r>
            <a:r>
              <a:rPr lang="en-US" altLang="zh-CN" sz="2100" i="1" baseline="-25000"/>
              <a:t>i</a:t>
            </a:r>
            <a:r>
              <a:rPr lang="zh-CN" altLang="en-US" sz="2100"/>
              <a:t>是第</a:t>
            </a:r>
            <a:r>
              <a:rPr lang="en-US" altLang="zh-CN" sz="2100" i="1"/>
              <a:t>i</a:t>
            </a:r>
            <a:r>
              <a:rPr lang="zh-CN" altLang="en-US" sz="2100"/>
              <a:t>个记录的长度，如图</a:t>
            </a:r>
            <a:r>
              <a:rPr lang="en-US" altLang="zh-CN" sz="2100"/>
              <a:t>6-3</a:t>
            </a:r>
            <a:r>
              <a:rPr lang="zh-CN" altLang="en-US" sz="2100"/>
              <a:t>所示。</a:t>
            </a:r>
            <a:endParaRPr lang="zh-CN" altLang="en-US" sz="2100"/>
          </a:p>
        </p:txBody>
      </p:sp>
      <p:pic>
        <p:nvPicPr>
          <p:cNvPr id="17410" name="图片 21507" descr="B6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3962400"/>
            <a:ext cx="73914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矩形 21508"/>
          <p:cNvSpPr>
            <a:spLocks noChangeArrowheads="1"/>
          </p:cNvSpPr>
          <p:nvPr/>
        </p:nvSpPr>
        <p:spPr bwMode="auto">
          <a:xfrm>
            <a:off x="2362200" y="6172200"/>
            <a:ext cx="317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6-3  </a:t>
            </a:r>
            <a:r>
              <a:rPr lang="zh-CN" altLang="en-US">
                <a:latin typeface="Tahoma" panose="020B0604030504040204" pitchFamily="34" charset="0"/>
              </a:rPr>
              <a:t>顺序存取变长记录文件</a:t>
            </a:r>
            <a:endParaRPr lang="zh-CN" altLang="en-US">
              <a:latin typeface="Tahoma" panose="020B0604030504040204" pitchFamily="34" charset="0"/>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anim calcmode="lin" valueType="num">
                                      <p:cBhvr>
                                        <p:cTn id="7" dur="1000" fill="hold"/>
                                        <p:tgtEl>
                                          <p:spTgt spid="21507">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21507">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21507">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4" dur="500"/>
                                        <p:tgtEl>
                                          <p:spTgt spid="21507">
                                            <p:txEl>
                                              <p:pRg st="2" end="2"/>
                                            </p:txEl>
                                          </p:spTgt>
                                        </p:tgtEl>
                                      </p:cBhvr>
                                    </p:animEffect>
                                  </p:childTnLst>
                                </p:cTn>
                              </p:par>
                              <p:par>
                                <p:cTn id="15" presetID="29" presetClass="entr" presetSubtype="0" fill="hold" nodeType="withEffect">
                                  <p:stCondLst>
                                    <p:cond delay="0"/>
                                  </p:stCondLst>
                                  <p:childTnLst>
                                    <p:set>
                                      <p:cBhvr>
                                        <p:cTn id="16" dur="1" fill="hold">
                                          <p:stCondLst>
                                            <p:cond delay="0"/>
                                          </p:stCondLst>
                                        </p:cTn>
                                        <p:tgtEl>
                                          <p:spTgt spid="21507">
                                            <p:txEl>
                                              <p:pRg st="3" end="3"/>
                                            </p:txEl>
                                          </p:spTgt>
                                        </p:tgtEl>
                                        <p:attrNameLst>
                                          <p:attrName>style.visibility</p:attrName>
                                        </p:attrNameLst>
                                      </p:cBhvr>
                                      <p:to>
                                        <p:strVal val="visible"/>
                                      </p:to>
                                    </p:set>
                                    <p:anim calcmode="lin" valueType="num">
                                      <p:cBhvr>
                                        <p:cTn id="17" dur="1000" fill="hold"/>
                                        <p:tgtEl>
                                          <p:spTgt spid="21507">
                                            <p:txEl>
                                              <p:pRg st="3" end="3"/>
                                            </p:txEl>
                                          </p:spTgt>
                                        </p:tgtEl>
                                        <p:attrNameLst>
                                          <p:attrName>ppt_x</p:attrName>
                                        </p:attrNameLst>
                                      </p:cBhvr>
                                      <p:tavLst>
                                        <p:tav tm="0">
                                          <p:val>
                                            <p:strVal val="#ppt_x-.2"/>
                                          </p:val>
                                        </p:tav>
                                        <p:tav tm="100000">
                                          <p:val>
                                            <p:strVal val="#ppt_x"/>
                                          </p:val>
                                        </p:tav>
                                      </p:tavLst>
                                    </p:anim>
                                    <p:anim calcmode="lin" valueType="num">
                                      <p:cBhvr>
                                        <p:cTn id="18" dur="1000" fill="hold"/>
                                        <p:tgtEl>
                                          <p:spTgt spid="21507">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19" dur="1000"/>
                                        <p:tgtEl>
                                          <p:spTgt spid="21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22529"/>
          <p:cNvSpPr>
            <a:spLocks noGrp="1" noChangeArrowheads="1"/>
          </p:cNvSpPr>
          <p:nvPr>
            <p:ph type="title"/>
          </p:nvPr>
        </p:nvSpPr>
        <p:spPr/>
        <p:txBody>
          <a:bodyPr/>
          <a:lstStyle/>
          <a:p>
            <a:r>
              <a:rPr lang="en-US" altLang="zh-CN" sz="3500"/>
              <a:t>2</a:t>
            </a:r>
            <a:r>
              <a:rPr lang="zh-CN" altLang="en-US" sz="3500"/>
              <a:t>．随机存取方法</a:t>
            </a:r>
            <a:br>
              <a:rPr lang="zh-CN" altLang="en-US" sz="3500"/>
            </a:br>
            <a:endParaRPr lang="zh-CN" altLang="en-US" sz="3500"/>
          </a:p>
        </p:txBody>
      </p:sp>
      <p:sp>
        <p:nvSpPr>
          <p:cNvPr id="18434" name="文本占位符 22530"/>
          <p:cNvSpPr>
            <a:spLocks noGrp="1" noChangeArrowheads="1"/>
          </p:cNvSpPr>
          <p:nvPr>
            <p:ph idx="1"/>
          </p:nvPr>
        </p:nvSpPr>
        <p:spPr/>
        <p:txBody>
          <a:bodyPr/>
          <a:lstStyle/>
          <a:p>
            <a:r>
              <a:rPr lang="zh-CN" altLang="en-US"/>
              <a:t>随机存取文件方式允许以任意顺序读取文件中的字节或记录。读写指针</a:t>
            </a:r>
            <a:r>
              <a:rPr lang="en-US" altLang="zh-CN"/>
              <a:t>seek</a:t>
            </a:r>
            <a:r>
              <a:rPr lang="zh-CN" altLang="en-US"/>
              <a:t>。</a:t>
            </a:r>
            <a:endParaRPr lang="zh-CN" altLang="en-US"/>
          </a:p>
        </p:txBody>
      </p:sp>
      <p:pic>
        <p:nvPicPr>
          <p:cNvPr id="18435" name="图片 22531" descr="B6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3200400"/>
            <a:ext cx="7010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矩形 22532"/>
          <p:cNvSpPr>
            <a:spLocks noChangeArrowheads="1"/>
          </p:cNvSpPr>
          <p:nvPr/>
        </p:nvSpPr>
        <p:spPr bwMode="auto">
          <a:xfrm>
            <a:off x="2438400" y="4953000"/>
            <a:ext cx="420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6-4  </a:t>
            </a:r>
            <a:r>
              <a:rPr lang="zh-CN" altLang="en-US">
                <a:latin typeface="Tahoma" panose="020B0604030504040204" pitchFamily="34" charset="0"/>
              </a:rPr>
              <a:t>随机存取定长记录文件</a:t>
            </a:r>
            <a:endParaRPr lang="zh-CN" altLang="en-US">
              <a:latin typeface="Tahoma" panose="020B0604030504040204" pitchFamily="34" charset="0"/>
            </a:endParaRPr>
          </a:p>
        </p:txBody>
      </p:sp>
    </p:spTree>
  </p:cSld>
  <p:clrMapOvr>
    <a:masterClrMapping/>
  </p:clrMapOvr>
  <p:transition spd="slow">
    <p:pull dir="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23553"/>
          <p:cNvSpPr>
            <a:spLocks noGrp="1" noChangeArrowheads="1"/>
          </p:cNvSpPr>
          <p:nvPr>
            <p:ph type="title"/>
          </p:nvPr>
        </p:nvSpPr>
        <p:spPr/>
        <p:txBody>
          <a:bodyPr/>
          <a:lstStyle/>
          <a:p>
            <a:r>
              <a:rPr lang="en-US" altLang="zh-CN" sz="3500"/>
              <a:t>3</a:t>
            </a:r>
            <a:r>
              <a:rPr lang="zh-CN" altLang="en-US" sz="3500"/>
              <a:t>．其他存取方法</a:t>
            </a:r>
            <a:r>
              <a:rPr lang="en-US" altLang="zh-CN" sz="3500"/>
              <a:t>-</a:t>
            </a:r>
            <a:r>
              <a:rPr lang="zh-CN" altLang="en-US" sz="2400"/>
              <a:t>建立在随机存取方法之上</a:t>
            </a:r>
            <a:br>
              <a:rPr lang="zh-CN" altLang="en-US" sz="3500"/>
            </a:br>
            <a:endParaRPr lang="zh-CN" altLang="en-US" sz="3500"/>
          </a:p>
        </p:txBody>
      </p:sp>
      <p:sp>
        <p:nvSpPr>
          <p:cNvPr id="19458" name="文本占位符 23554"/>
          <p:cNvSpPr>
            <a:spLocks noGrp="1" noChangeArrowheads="1"/>
          </p:cNvSpPr>
          <p:nvPr>
            <p:ph idx="1"/>
          </p:nvPr>
        </p:nvSpPr>
        <p:spPr>
          <a:xfrm>
            <a:off x="457200" y="1295400"/>
            <a:ext cx="8229600" cy="4411663"/>
          </a:xfrm>
        </p:spPr>
        <p:txBody>
          <a:bodyPr/>
          <a:lstStyle/>
          <a:p>
            <a:r>
              <a:rPr lang="zh-CN" altLang="en-US"/>
              <a:t>通常采用索引表组织方式</a:t>
            </a:r>
            <a:endParaRPr lang="zh-CN" altLang="en-US"/>
          </a:p>
        </p:txBody>
      </p:sp>
      <p:pic>
        <p:nvPicPr>
          <p:cNvPr id="19459" name="图片 23555" descr="B6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90800" y="1981200"/>
            <a:ext cx="40386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矩形 23556"/>
          <p:cNvSpPr>
            <a:spLocks noChangeArrowheads="1"/>
          </p:cNvSpPr>
          <p:nvPr/>
        </p:nvSpPr>
        <p:spPr bwMode="auto">
          <a:xfrm>
            <a:off x="2514600" y="5943600"/>
            <a:ext cx="454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a:latin typeface="Tahoma" panose="020B0604030504040204" pitchFamily="34" charset="0"/>
              </a:rPr>
              <a:t>图</a:t>
            </a:r>
            <a:r>
              <a:rPr lang="en-US" altLang="zh-CN">
                <a:latin typeface="Tahoma" panose="020B0604030504040204" pitchFamily="34" charset="0"/>
              </a:rPr>
              <a:t>6-5  </a:t>
            </a:r>
            <a:r>
              <a:rPr lang="zh-CN" altLang="en-US">
                <a:latin typeface="Tahoma" panose="020B0604030504040204" pitchFamily="34" charset="0"/>
              </a:rPr>
              <a:t>直接存取变长记录文件的索引表结构</a:t>
            </a:r>
            <a:endParaRPr lang="zh-CN" altLang="en-US">
              <a:latin typeface="Tahoma" panose="020B0604030504040204" pitchFamily="34" charset="0"/>
            </a:endParaRPr>
          </a:p>
        </p:txBody>
      </p:sp>
    </p:spTree>
  </p:cSld>
  <p:clrMapOvr>
    <a:masterClrMapping/>
  </p:clrMapOvr>
  <p:transition spd="slow">
    <p:pull dir="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24577"/>
          <p:cNvSpPr>
            <a:spLocks noGrp="1" noChangeArrowheads="1"/>
          </p:cNvSpPr>
          <p:nvPr>
            <p:ph type="title"/>
          </p:nvPr>
        </p:nvSpPr>
        <p:spPr/>
        <p:txBody>
          <a:bodyPr/>
          <a:lstStyle/>
          <a:p>
            <a:r>
              <a:rPr lang="en-US" altLang="zh-CN" sz="3500"/>
              <a:t>6.1.5  </a:t>
            </a:r>
            <a:r>
              <a:rPr lang="zh-CN" altLang="en-US" sz="3500"/>
              <a:t>文件结构</a:t>
            </a:r>
            <a:br>
              <a:rPr lang="zh-CN" altLang="en-US" sz="3500"/>
            </a:br>
            <a:endParaRPr lang="zh-CN" altLang="en-US" sz="3500"/>
          </a:p>
        </p:txBody>
      </p:sp>
      <p:sp>
        <p:nvSpPr>
          <p:cNvPr id="24579" name="内容占位符 24578"/>
          <p:cNvSpPr>
            <a:spLocks noGrp="1" noChangeArrowheads="1"/>
          </p:cNvSpPr>
          <p:nvPr>
            <p:ph idx="1"/>
          </p:nvPr>
        </p:nvSpPr>
        <p:spPr>
          <a:xfrm>
            <a:off x="457200" y="1295400"/>
            <a:ext cx="8229600" cy="4835525"/>
          </a:xfrm>
        </p:spPr>
        <p:txBody>
          <a:bodyPr/>
          <a:lstStyle/>
          <a:p>
            <a:pPr>
              <a:lnSpc>
                <a:spcPct val="80000"/>
              </a:lnSpc>
              <a:buFont typeface="Wingdings" panose="05000000000000000000" pitchFamily="2" charset="2"/>
              <a:buNone/>
            </a:pPr>
            <a:r>
              <a:rPr lang="en-US" altLang="zh-CN" sz="2400">
                <a:solidFill>
                  <a:schemeClr val="tx2"/>
                </a:solidFill>
              </a:rPr>
              <a:t>1</a:t>
            </a:r>
            <a:r>
              <a:rPr lang="zh-CN" altLang="en-US" sz="2400">
                <a:solidFill>
                  <a:schemeClr val="tx2"/>
                </a:solidFill>
              </a:rPr>
              <a:t>．无结构文件</a:t>
            </a:r>
            <a:endParaRPr lang="zh-CN" altLang="en-US" sz="2400">
              <a:solidFill>
                <a:schemeClr val="tx2"/>
              </a:solidFill>
            </a:endParaRPr>
          </a:p>
          <a:p>
            <a:pPr>
              <a:lnSpc>
                <a:spcPct val="80000"/>
              </a:lnSpc>
              <a:buFont typeface="Wingdings" panose="05000000000000000000" pitchFamily="2" charset="2"/>
              <a:buNone/>
            </a:pPr>
            <a:r>
              <a:rPr lang="zh-CN" altLang="en-US" sz="2400"/>
              <a:t>      无结构文件是指文件内部</a:t>
            </a:r>
            <a:r>
              <a:rPr lang="zh-CN" altLang="en-US" sz="2400">
                <a:solidFill>
                  <a:srgbClr val="FF0000"/>
                </a:solidFill>
              </a:rPr>
              <a:t>不再划分记录</a:t>
            </a:r>
            <a:r>
              <a:rPr lang="zh-CN" altLang="en-US" sz="2400"/>
              <a:t>，是由一组相关信息组成的</a:t>
            </a:r>
            <a:r>
              <a:rPr lang="zh-CN" altLang="en-US" sz="2400">
                <a:solidFill>
                  <a:srgbClr val="FF0000"/>
                </a:solidFill>
              </a:rPr>
              <a:t>有序字符流</a:t>
            </a:r>
            <a:r>
              <a:rPr lang="zh-CN" altLang="en-US" sz="2400"/>
              <a:t>，即</a:t>
            </a:r>
            <a:r>
              <a:rPr lang="zh-CN" altLang="en-US" sz="2400">
                <a:solidFill>
                  <a:srgbClr val="3333CC"/>
                </a:solidFill>
              </a:rPr>
              <a:t>流式文件</a:t>
            </a:r>
            <a:r>
              <a:rPr lang="zh-CN" altLang="en-US" sz="2400"/>
              <a:t>。在</a:t>
            </a:r>
            <a:r>
              <a:rPr lang="en-US" altLang="zh-CN" sz="2400"/>
              <a:t>UNIX</a:t>
            </a:r>
            <a:r>
              <a:rPr lang="zh-CN" altLang="en-US" sz="2400"/>
              <a:t>和</a:t>
            </a:r>
            <a:r>
              <a:rPr lang="en-US" altLang="zh-CN" sz="2400"/>
              <a:t>Windows</a:t>
            </a:r>
            <a:r>
              <a:rPr lang="zh-CN" altLang="en-US" sz="2400"/>
              <a:t>系统中文件都是有序字符流，长度直接按字节计算。为操作系统带来灵活性。例如源程序文件、目标文件等。</a:t>
            </a:r>
            <a:endParaRPr lang="zh-CN" altLang="en-US" sz="2400"/>
          </a:p>
          <a:p>
            <a:pPr>
              <a:lnSpc>
                <a:spcPct val="80000"/>
              </a:lnSpc>
              <a:buFont typeface="Wingdings" panose="05000000000000000000" pitchFamily="2" charset="2"/>
              <a:buNone/>
            </a:pPr>
            <a:r>
              <a:rPr lang="en-US" altLang="zh-CN" sz="2400">
                <a:solidFill>
                  <a:schemeClr val="tx2"/>
                </a:solidFill>
              </a:rPr>
              <a:t>2</a:t>
            </a:r>
            <a:r>
              <a:rPr lang="zh-CN" altLang="en-US" sz="2400">
                <a:solidFill>
                  <a:schemeClr val="tx2"/>
                </a:solidFill>
              </a:rPr>
              <a:t>．有结构文件</a:t>
            </a:r>
            <a:endParaRPr lang="zh-CN" altLang="en-US" sz="2400">
              <a:solidFill>
                <a:schemeClr val="tx2"/>
              </a:solidFill>
            </a:endParaRPr>
          </a:p>
          <a:p>
            <a:pPr>
              <a:lnSpc>
                <a:spcPct val="80000"/>
              </a:lnSpc>
              <a:buFont typeface="Wingdings" panose="05000000000000000000" pitchFamily="2" charset="2"/>
              <a:buNone/>
            </a:pPr>
            <a:r>
              <a:rPr lang="zh-CN" altLang="en-US" sz="2400"/>
              <a:t>      有结构文件又称</a:t>
            </a:r>
            <a:r>
              <a:rPr lang="zh-CN" altLang="en-US" sz="2400">
                <a:solidFill>
                  <a:srgbClr val="3333CC"/>
                </a:solidFill>
              </a:rPr>
              <a:t>记录式文件</a:t>
            </a:r>
            <a:r>
              <a:rPr lang="zh-CN" altLang="en-US" sz="2400"/>
              <a:t>。它在逻辑上可被看成一组连续记录的集合，即文件是由若干相关记录组成，且对每个记录编上号码 。例如数据库表文件、目录文件等。</a:t>
            </a:r>
            <a:endParaRPr lang="zh-CN" altLang="en-US" sz="2400"/>
          </a:p>
          <a:p>
            <a:pPr>
              <a:lnSpc>
                <a:spcPct val="80000"/>
              </a:lnSpc>
              <a:buFont typeface="Wingdings" panose="05000000000000000000" pitchFamily="2" charset="2"/>
              <a:buNone/>
            </a:pPr>
            <a:r>
              <a:rPr lang="zh-CN" altLang="en-US" sz="2400"/>
              <a:t>    </a:t>
            </a:r>
            <a:r>
              <a:rPr lang="en-US" altLang="zh-CN" sz="2400"/>
              <a:t>① </a:t>
            </a:r>
            <a:r>
              <a:rPr lang="zh-CN" altLang="en-US" sz="2400"/>
              <a:t>定长记录文件。</a:t>
            </a:r>
            <a:endParaRPr lang="zh-CN" altLang="en-US" sz="2400"/>
          </a:p>
          <a:p>
            <a:pPr>
              <a:lnSpc>
                <a:spcPct val="80000"/>
              </a:lnSpc>
              <a:buFont typeface="Wingdings" panose="05000000000000000000" pitchFamily="2" charset="2"/>
              <a:buNone/>
            </a:pPr>
            <a:r>
              <a:rPr lang="zh-CN" altLang="en-US" sz="2400"/>
              <a:t>    </a:t>
            </a:r>
            <a:r>
              <a:rPr lang="en-US" altLang="zh-CN" sz="2400"/>
              <a:t>② </a:t>
            </a:r>
            <a:r>
              <a:rPr lang="zh-CN" altLang="en-US" sz="2400"/>
              <a:t>变长记录文件。</a:t>
            </a:r>
            <a:endParaRPr lang="zh-CN" altLang="en-US" sz="2400"/>
          </a:p>
          <a:p>
            <a:pPr>
              <a:lnSpc>
                <a:spcPct val="80000"/>
              </a:lnSpc>
              <a:buFont typeface="Wingdings" panose="05000000000000000000" pitchFamily="2" charset="2"/>
              <a:buNone/>
            </a:pPr>
            <a:r>
              <a:rPr lang="en-US" altLang="zh-CN" sz="2400">
                <a:solidFill>
                  <a:schemeClr val="tx2"/>
                </a:solidFill>
              </a:rPr>
              <a:t>3</a:t>
            </a:r>
            <a:r>
              <a:rPr lang="zh-CN" altLang="en-US" sz="2400">
                <a:solidFill>
                  <a:schemeClr val="tx2"/>
                </a:solidFill>
              </a:rPr>
              <a:t>．树形文件</a:t>
            </a:r>
            <a:endParaRPr lang="zh-CN" altLang="en-US" sz="2400">
              <a:solidFill>
                <a:schemeClr val="tx2"/>
              </a:solidFill>
            </a:endParaRPr>
          </a:p>
          <a:p>
            <a:pPr>
              <a:lnSpc>
                <a:spcPct val="80000"/>
              </a:lnSpc>
              <a:buFont typeface="Wingdings" panose="05000000000000000000" pitchFamily="2" charset="2"/>
              <a:buNone/>
            </a:pPr>
            <a:r>
              <a:rPr lang="zh-CN" altLang="en-US" sz="2400"/>
              <a:t>       这种结构的文件由一棵记录树构成，各个记录的长度可以不同。</a:t>
            </a: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p:cTn id="7" dur="500" fill="hold"/>
                                        <p:tgtEl>
                                          <p:spTgt spid="24579">
                                            <p:txEl>
                                              <p:pRg st="0" end="0"/>
                                            </p:txEl>
                                          </p:spTgt>
                                        </p:tgtEl>
                                        <p:attrNameLst>
                                          <p:attrName>ppt_x</p:attrName>
                                        </p:attrNameLst>
                                      </p:cBhvr>
                                      <p:tavLst>
                                        <p:tav tm="0">
                                          <p:val>
                                            <p:strVal val="#ppt_x-.2"/>
                                          </p:val>
                                        </p:tav>
                                        <p:tav tm="100000">
                                          <p:val>
                                            <p:strVal val="#ppt_x"/>
                                          </p:val>
                                        </p:tav>
                                      </p:tavLst>
                                    </p:anim>
                                    <p:anim calcmode="lin" valueType="num">
                                      <p:cBhvr>
                                        <p:cTn id="8" dur="500" fill="hold"/>
                                        <p:tgtEl>
                                          <p:spTgt spid="24579">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500"/>
                                        <p:tgtEl>
                                          <p:spTgt spid="24579">
                                            <p:txEl>
                                              <p:pRg st="0" end="0"/>
                                            </p:txEl>
                                          </p:spTgt>
                                        </p:tgtEl>
                                      </p:cBhvr>
                                    </p:animEffect>
                                  </p:childTnLst>
                                </p:cTn>
                              </p:par>
                              <p:par>
                                <p:cTn id="10" presetID="31" presetClass="entr" presetSubtype="0" fill="hold" nodeType="withEffect">
                                  <p:stCondLst>
                                    <p:cond delay="0"/>
                                  </p:stCondLst>
                                  <p:iterate type="lt">
                                    <p:tmPct val="5000"/>
                                  </p:iterate>
                                  <p:childTnLst>
                                    <p:set>
                                      <p:cBhvr>
                                        <p:cTn id="11" dur="1" fill="hold">
                                          <p:stCondLst>
                                            <p:cond delay="0"/>
                                          </p:stCondLst>
                                        </p:cTn>
                                        <p:tgtEl>
                                          <p:spTgt spid="24579">
                                            <p:txEl>
                                              <p:charRg st="8" end="103"/>
                                            </p:txEl>
                                          </p:spTgt>
                                        </p:tgtEl>
                                        <p:attrNameLst>
                                          <p:attrName>style.visibility</p:attrName>
                                        </p:attrNameLst>
                                      </p:cBhvr>
                                      <p:to>
                                        <p:strVal val="visible"/>
                                      </p:to>
                                    </p:set>
                                    <p:anim calcmode="lin" valueType="num">
                                      <p:cBhvr>
                                        <p:cTn id="12" dur="500" fill="hold"/>
                                        <p:tgtEl>
                                          <p:spTgt spid="24579">
                                            <p:txEl>
                                              <p:charRg st="8" end="103"/>
                                            </p:txEl>
                                          </p:spTgt>
                                        </p:tgtEl>
                                        <p:attrNameLst>
                                          <p:attrName>ppt_w</p:attrName>
                                        </p:attrNameLst>
                                      </p:cBhvr>
                                      <p:tavLst>
                                        <p:tav tm="0">
                                          <p:val>
                                            <p:fltVal val="0"/>
                                          </p:val>
                                        </p:tav>
                                        <p:tav tm="100000">
                                          <p:val>
                                            <p:strVal val="#ppt_w"/>
                                          </p:val>
                                        </p:tav>
                                      </p:tavLst>
                                    </p:anim>
                                    <p:anim calcmode="lin" valueType="num">
                                      <p:cBhvr>
                                        <p:cTn id="13" dur="500" fill="hold"/>
                                        <p:tgtEl>
                                          <p:spTgt spid="24579">
                                            <p:txEl>
                                              <p:charRg st="8" end="103"/>
                                            </p:txEl>
                                          </p:spTgt>
                                        </p:tgtEl>
                                        <p:attrNameLst>
                                          <p:attrName>ppt_h</p:attrName>
                                        </p:attrNameLst>
                                      </p:cBhvr>
                                      <p:tavLst>
                                        <p:tav tm="0">
                                          <p:val>
                                            <p:fltVal val="0"/>
                                          </p:val>
                                        </p:tav>
                                        <p:tav tm="100000">
                                          <p:val>
                                            <p:strVal val="#ppt_h"/>
                                          </p:val>
                                        </p:tav>
                                      </p:tavLst>
                                    </p:anim>
                                    <p:anim calcmode="lin" valueType="num">
                                      <p:cBhvr>
                                        <p:cTn id="14" dur="500" fill="hold"/>
                                        <p:tgtEl>
                                          <p:spTgt spid="24579">
                                            <p:txEl>
                                              <p:charRg st="8" end="103"/>
                                            </p:txEl>
                                          </p:spTgt>
                                        </p:tgtEl>
                                        <p:attrNameLst>
                                          <p:attrName>style.rotation</p:attrName>
                                        </p:attrNameLst>
                                      </p:cBhvr>
                                      <p:tavLst>
                                        <p:tav tm="0">
                                          <p:val>
                                            <p:fltVal val="90"/>
                                          </p:val>
                                        </p:tav>
                                        <p:tav tm="100000">
                                          <p:val>
                                            <p:fltVal val="0"/>
                                          </p:val>
                                        </p:tav>
                                      </p:tavLst>
                                    </p:anim>
                                    <p:animEffect transition="in" filter="fade">
                                      <p:cBhvr>
                                        <p:cTn id="15" dur="500"/>
                                        <p:tgtEl>
                                          <p:spTgt spid="24579">
                                            <p:txEl>
                                              <p:charRg st="8" end="10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9" presetClass="entr" presetSubtype="0" fill="hold" nodeType="clickEffect">
                                  <p:stCondLst>
                                    <p:cond delay="0"/>
                                  </p:stCondLst>
                                  <p:childTnLst>
                                    <p:set>
                                      <p:cBhvr>
                                        <p:cTn id="19" dur="1" fill="hold">
                                          <p:stCondLst>
                                            <p:cond delay="0"/>
                                          </p:stCondLst>
                                        </p:cTn>
                                        <p:tgtEl>
                                          <p:spTgt spid="24579">
                                            <p:txEl>
                                              <p:charRg st="103" end="111"/>
                                            </p:txEl>
                                          </p:spTgt>
                                        </p:tgtEl>
                                        <p:attrNameLst>
                                          <p:attrName>style.visibility</p:attrName>
                                        </p:attrNameLst>
                                      </p:cBhvr>
                                      <p:to>
                                        <p:strVal val="visible"/>
                                      </p:to>
                                    </p:set>
                                    <p:anim calcmode="lin" valueType="num">
                                      <p:cBhvr>
                                        <p:cTn id="20" dur="500" fill="hold"/>
                                        <p:tgtEl>
                                          <p:spTgt spid="24579">
                                            <p:txEl>
                                              <p:charRg st="103" end="111"/>
                                            </p:txEl>
                                          </p:spTgt>
                                        </p:tgtEl>
                                        <p:attrNameLst>
                                          <p:attrName>ppt_x</p:attrName>
                                        </p:attrNameLst>
                                      </p:cBhvr>
                                      <p:tavLst>
                                        <p:tav tm="0">
                                          <p:val>
                                            <p:strVal val="#ppt_x-.2"/>
                                          </p:val>
                                        </p:tav>
                                        <p:tav tm="100000">
                                          <p:val>
                                            <p:strVal val="#ppt_x"/>
                                          </p:val>
                                        </p:tav>
                                      </p:tavLst>
                                    </p:anim>
                                    <p:anim calcmode="lin" valueType="num">
                                      <p:cBhvr>
                                        <p:cTn id="21" dur="500" fill="hold"/>
                                        <p:tgtEl>
                                          <p:spTgt spid="24579">
                                            <p:txEl>
                                              <p:charRg st="103" end="111"/>
                                            </p:txEl>
                                          </p:spTgt>
                                        </p:tgtEl>
                                        <p:attrNameLst>
                                          <p:attrName>ppt_y</p:attrName>
                                        </p:attrNameLst>
                                      </p:cBhvr>
                                      <p:tavLst>
                                        <p:tav tm="0">
                                          <p:val>
                                            <p:strVal val="#ppt_y"/>
                                          </p:val>
                                        </p:tav>
                                        <p:tav tm="100000">
                                          <p:val>
                                            <p:strVal val="#ppt_y"/>
                                          </p:val>
                                        </p:tav>
                                      </p:tavLst>
                                    </p:anim>
                                    <p:animEffect transition="in" filter="wipe(right)" prLst="gradientSize: 0.1">
                                      <p:cBhvr>
                                        <p:cTn id="22" dur="500"/>
                                        <p:tgtEl>
                                          <p:spTgt spid="24579">
                                            <p:txEl>
                                              <p:charRg st="103" end="111"/>
                                            </p:txEl>
                                          </p:spTgt>
                                        </p:tgtEl>
                                      </p:cBhvr>
                                    </p:animEffect>
                                  </p:childTnLst>
                                </p:cTn>
                              </p:par>
                              <p:par>
                                <p:cTn id="23" presetID="31" presetClass="entr" presetSubtype="0" fill="hold" nodeType="withEffect">
                                  <p:stCondLst>
                                    <p:cond delay="0"/>
                                  </p:stCondLst>
                                  <p:iterate type="lt">
                                    <p:tmPct val="5000"/>
                                  </p:iterate>
                                  <p:childTnLst>
                                    <p:set>
                                      <p:cBhvr>
                                        <p:cTn id="24" dur="1" fill="hold">
                                          <p:stCondLst>
                                            <p:cond delay="0"/>
                                          </p:stCondLst>
                                        </p:cTn>
                                        <p:tgtEl>
                                          <p:spTgt spid="24579">
                                            <p:txEl>
                                              <p:charRg st="111" end="176"/>
                                            </p:txEl>
                                          </p:spTgt>
                                        </p:tgtEl>
                                        <p:attrNameLst>
                                          <p:attrName>style.visibility</p:attrName>
                                        </p:attrNameLst>
                                      </p:cBhvr>
                                      <p:to>
                                        <p:strVal val="visible"/>
                                      </p:to>
                                    </p:set>
                                    <p:anim calcmode="lin" valueType="num">
                                      <p:cBhvr>
                                        <p:cTn id="25" dur="500" fill="hold"/>
                                        <p:tgtEl>
                                          <p:spTgt spid="24579">
                                            <p:txEl>
                                              <p:charRg st="111" end="176"/>
                                            </p:txEl>
                                          </p:spTgt>
                                        </p:tgtEl>
                                        <p:attrNameLst>
                                          <p:attrName>ppt_w</p:attrName>
                                        </p:attrNameLst>
                                      </p:cBhvr>
                                      <p:tavLst>
                                        <p:tav tm="0">
                                          <p:val>
                                            <p:fltVal val="0"/>
                                          </p:val>
                                        </p:tav>
                                        <p:tav tm="100000">
                                          <p:val>
                                            <p:strVal val="#ppt_w"/>
                                          </p:val>
                                        </p:tav>
                                      </p:tavLst>
                                    </p:anim>
                                    <p:anim calcmode="lin" valueType="num">
                                      <p:cBhvr>
                                        <p:cTn id="26" dur="500" fill="hold"/>
                                        <p:tgtEl>
                                          <p:spTgt spid="24579">
                                            <p:txEl>
                                              <p:charRg st="111" end="176"/>
                                            </p:txEl>
                                          </p:spTgt>
                                        </p:tgtEl>
                                        <p:attrNameLst>
                                          <p:attrName>ppt_h</p:attrName>
                                        </p:attrNameLst>
                                      </p:cBhvr>
                                      <p:tavLst>
                                        <p:tav tm="0">
                                          <p:val>
                                            <p:fltVal val="0"/>
                                          </p:val>
                                        </p:tav>
                                        <p:tav tm="100000">
                                          <p:val>
                                            <p:strVal val="#ppt_h"/>
                                          </p:val>
                                        </p:tav>
                                      </p:tavLst>
                                    </p:anim>
                                    <p:anim calcmode="lin" valueType="num">
                                      <p:cBhvr>
                                        <p:cTn id="27" dur="500" fill="hold"/>
                                        <p:tgtEl>
                                          <p:spTgt spid="24579">
                                            <p:txEl>
                                              <p:charRg st="111" end="176"/>
                                            </p:txEl>
                                          </p:spTgt>
                                        </p:tgtEl>
                                        <p:attrNameLst>
                                          <p:attrName>style.rotation</p:attrName>
                                        </p:attrNameLst>
                                      </p:cBhvr>
                                      <p:tavLst>
                                        <p:tav tm="0">
                                          <p:val>
                                            <p:fltVal val="90"/>
                                          </p:val>
                                        </p:tav>
                                        <p:tav tm="100000">
                                          <p:val>
                                            <p:fltVal val="0"/>
                                          </p:val>
                                        </p:tav>
                                      </p:tavLst>
                                    </p:anim>
                                    <p:animEffect transition="in" filter="fade">
                                      <p:cBhvr>
                                        <p:cTn id="28" dur="500"/>
                                        <p:tgtEl>
                                          <p:spTgt spid="24579">
                                            <p:txEl>
                                              <p:charRg st="111" end="176"/>
                                            </p:txEl>
                                          </p:spTgt>
                                        </p:tgtEl>
                                      </p:cBhvr>
                                    </p:animEffect>
                                  </p:childTnLst>
                                </p:cTn>
                              </p:par>
                              <p:par>
                                <p:cTn id="29" presetID="31" presetClass="entr" presetSubtype="0" fill="hold" nodeType="withEffect">
                                  <p:stCondLst>
                                    <p:cond delay="0"/>
                                  </p:stCondLst>
                                  <p:iterate type="lt">
                                    <p:tmPct val="5000"/>
                                  </p:iterate>
                                  <p:childTnLst>
                                    <p:set>
                                      <p:cBhvr>
                                        <p:cTn id="30" dur="1" fill="hold">
                                          <p:stCondLst>
                                            <p:cond delay="0"/>
                                          </p:stCondLst>
                                        </p:cTn>
                                        <p:tgtEl>
                                          <p:spTgt spid="24579">
                                            <p:txEl>
                                              <p:charRg st="176" end="190"/>
                                            </p:txEl>
                                          </p:spTgt>
                                        </p:tgtEl>
                                        <p:attrNameLst>
                                          <p:attrName>style.visibility</p:attrName>
                                        </p:attrNameLst>
                                      </p:cBhvr>
                                      <p:to>
                                        <p:strVal val="visible"/>
                                      </p:to>
                                    </p:set>
                                    <p:anim calcmode="lin" valueType="num">
                                      <p:cBhvr>
                                        <p:cTn id="31" dur="500" fill="hold"/>
                                        <p:tgtEl>
                                          <p:spTgt spid="24579">
                                            <p:txEl>
                                              <p:charRg st="176" end="190"/>
                                            </p:txEl>
                                          </p:spTgt>
                                        </p:tgtEl>
                                        <p:attrNameLst>
                                          <p:attrName>ppt_w</p:attrName>
                                        </p:attrNameLst>
                                      </p:cBhvr>
                                      <p:tavLst>
                                        <p:tav tm="0">
                                          <p:val>
                                            <p:fltVal val="0"/>
                                          </p:val>
                                        </p:tav>
                                        <p:tav tm="100000">
                                          <p:val>
                                            <p:strVal val="#ppt_w"/>
                                          </p:val>
                                        </p:tav>
                                      </p:tavLst>
                                    </p:anim>
                                    <p:anim calcmode="lin" valueType="num">
                                      <p:cBhvr>
                                        <p:cTn id="32" dur="500" fill="hold"/>
                                        <p:tgtEl>
                                          <p:spTgt spid="24579">
                                            <p:txEl>
                                              <p:charRg st="176" end="190"/>
                                            </p:txEl>
                                          </p:spTgt>
                                        </p:tgtEl>
                                        <p:attrNameLst>
                                          <p:attrName>ppt_h</p:attrName>
                                        </p:attrNameLst>
                                      </p:cBhvr>
                                      <p:tavLst>
                                        <p:tav tm="0">
                                          <p:val>
                                            <p:fltVal val="0"/>
                                          </p:val>
                                        </p:tav>
                                        <p:tav tm="100000">
                                          <p:val>
                                            <p:strVal val="#ppt_h"/>
                                          </p:val>
                                        </p:tav>
                                      </p:tavLst>
                                    </p:anim>
                                    <p:anim calcmode="lin" valueType="num">
                                      <p:cBhvr>
                                        <p:cTn id="33" dur="500" fill="hold"/>
                                        <p:tgtEl>
                                          <p:spTgt spid="24579">
                                            <p:txEl>
                                              <p:charRg st="176" end="190"/>
                                            </p:txEl>
                                          </p:spTgt>
                                        </p:tgtEl>
                                        <p:attrNameLst>
                                          <p:attrName>style.rotation</p:attrName>
                                        </p:attrNameLst>
                                      </p:cBhvr>
                                      <p:tavLst>
                                        <p:tav tm="0">
                                          <p:val>
                                            <p:fltVal val="90"/>
                                          </p:val>
                                        </p:tav>
                                        <p:tav tm="100000">
                                          <p:val>
                                            <p:fltVal val="0"/>
                                          </p:val>
                                        </p:tav>
                                      </p:tavLst>
                                    </p:anim>
                                    <p:animEffect transition="in" filter="fade">
                                      <p:cBhvr>
                                        <p:cTn id="34" dur="500"/>
                                        <p:tgtEl>
                                          <p:spTgt spid="24579">
                                            <p:txEl>
                                              <p:charRg st="176" end="190"/>
                                            </p:txEl>
                                          </p:spTgt>
                                        </p:tgtEl>
                                      </p:cBhvr>
                                    </p:animEffect>
                                  </p:childTnLst>
                                </p:cTn>
                              </p:par>
                              <p:par>
                                <p:cTn id="35" presetID="31" presetClass="entr" presetSubtype="0" fill="hold" nodeType="withEffect">
                                  <p:stCondLst>
                                    <p:cond delay="0"/>
                                  </p:stCondLst>
                                  <p:iterate type="lt">
                                    <p:tmPct val="5000"/>
                                  </p:iterate>
                                  <p:childTnLst>
                                    <p:set>
                                      <p:cBhvr>
                                        <p:cTn id="36" dur="1" fill="hold">
                                          <p:stCondLst>
                                            <p:cond delay="0"/>
                                          </p:stCondLst>
                                        </p:cTn>
                                        <p:tgtEl>
                                          <p:spTgt spid="24579">
                                            <p:txEl>
                                              <p:charRg st="190" end="204"/>
                                            </p:txEl>
                                          </p:spTgt>
                                        </p:tgtEl>
                                        <p:attrNameLst>
                                          <p:attrName>style.visibility</p:attrName>
                                        </p:attrNameLst>
                                      </p:cBhvr>
                                      <p:to>
                                        <p:strVal val="visible"/>
                                      </p:to>
                                    </p:set>
                                    <p:anim calcmode="lin" valueType="num">
                                      <p:cBhvr>
                                        <p:cTn id="37" dur="500" fill="hold"/>
                                        <p:tgtEl>
                                          <p:spTgt spid="24579">
                                            <p:txEl>
                                              <p:charRg st="190" end="204"/>
                                            </p:txEl>
                                          </p:spTgt>
                                        </p:tgtEl>
                                        <p:attrNameLst>
                                          <p:attrName>ppt_w</p:attrName>
                                        </p:attrNameLst>
                                      </p:cBhvr>
                                      <p:tavLst>
                                        <p:tav tm="0">
                                          <p:val>
                                            <p:fltVal val="0"/>
                                          </p:val>
                                        </p:tav>
                                        <p:tav tm="100000">
                                          <p:val>
                                            <p:strVal val="#ppt_w"/>
                                          </p:val>
                                        </p:tav>
                                      </p:tavLst>
                                    </p:anim>
                                    <p:anim calcmode="lin" valueType="num">
                                      <p:cBhvr>
                                        <p:cTn id="38" dur="500" fill="hold"/>
                                        <p:tgtEl>
                                          <p:spTgt spid="24579">
                                            <p:txEl>
                                              <p:charRg st="190" end="204"/>
                                            </p:txEl>
                                          </p:spTgt>
                                        </p:tgtEl>
                                        <p:attrNameLst>
                                          <p:attrName>ppt_h</p:attrName>
                                        </p:attrNameLst>
                                      </p:cBhvr>
                                      <p:tavLst>
                                        <p:tav tm="0">
                                          <p:val>
                                            <p:fltVal val="0"/>
                                          </p:val>
                                        </p:tav>
                                        <p:tav tm="100000">
                                          <p:val>
                                            <p:strVal val="#ppt_h"/>
                                          </p:val>
                                        </p:tav>
                                      </p:tavLst>
                                    </p:anim>
                                    <p:anim calcmode="lin" valueType="num">
                                      <p:cBhvr>
                                        <p:cTn id="39" dur="500" fill="hold"/>
                                        <p:tgtEl>
                                          <p:spTgt spid="24579">
                                            <p:txEl>
                                              <p:charRg st="190" end="204"/>
                                            </p:txEl>
                                          </p:spTgt>
                                        </p:tgtEl>
                                        <p:attrNameLst>
                                          <p:attrName>style.rotation</p:attrName>
                                        </p:attrNameLst>
                                      </p:cBhvr>
                                      <p:tavLst>
                                        <p:tav tm="0">
                                          <p:val>
                                            <p:fltVal val="90"/>
                                          </p:val>
                                        </p:tav>
                                        <p:tav tm="100000">
                                          <p:val>
                                            <p:fltVal val="0"/>
                                          </p:val>
                                        </p:tav>
                                      </p:tavLst>
                                    </p:anim>
                                    <p:animEffect transition="in" filter="fade">
                                      <p:cBhvr>
                                        <p:cTn id="40" dur="500"/>
                                        <p:tgtEl>
                                          <p:spTgt spid="24579">
                                            <p:txEl>
                                              <p:charRg st="190" end="20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9" presetClass="entr" presetSubtype="0" fill="hold" nodeType="clickEffect">
                                  <p:stCondLst>
                                    <p:cond delay="0"/>
                                  </p:stCondLst>
                                  <p:childTnLst>
                                    <p:set>
                                      <p:cBhvr>
                                        <p:cTn id="44" dur="1" fill="hold">
                                          <p:stCondLst>
                                            <p:cond delay="0"/>
                                          </p:stCondLst>
                                        </p:cTn>
                                        <p:tgtEl>
                                          <p:spTgt spid="24579">
                                            <p:txEl>
                                              <p:charRg st="204" end="211"/>
                                            </p:txEl>
                                          </p:spTgt>
                                        </p:tgtEl>
                                        <p:attrNameLst>
                                          <p:attrName>style.visibility</p:attrName>
                                        </p:attrNameLst>
                                      </p:cBhvr>
                                      <p:to>
                                        <p:strVal val="visible"/>
                                      </p:to>
                                    </p:set>
                                    <p:anim calcmode="lin" valueType="num">
                                      <p:cBhvr>
                                        <p:cTn id="45" dur="500" fill="hold"/>
                                        <p:tgtEl>
                                          <p:spTgt spid="24579">
                                            <p:txEl>
                                              <p:charRg st="204" end="211"/>
                                            </p:txEl>
                                          </p:spTgt>
                                        </p:tgtEl>
                                        <p:attrNameLst>
                                          <p:attrName>ppt_x</p:attrName>
                                        </p:attrNameLst>
                                      </p:cBhvr>
                                      <p:tavLst>
                                        <p:tav tm="0">
                                          <p:val>
                                            <p:strVal val="#ppt_x-.2"/>
                                          </p:val>
                                        </p:tav>
                                        <p:tav tm="100000">
                                          <p:val>
                                            <p:strVal val="#ppt_x"/>
                                          </p:val>
                                        </p:tav>
                                      </p:tavLst>
                                    </p:anim>
                                    <p:anim calcmode="lin" valueType="num">
                                      <p:cBhvr>
                                        <p:cTn id="46" dur="500" fill="hold"/>
                                        <p:tgtEl>
                                          <p:spTgt spid="24579">
                                            <p:txEl>
                                              <p:charRg st="204" end="211"/>
                                            </p:txEl>
                                          </p:spTgt>
                                        </p:tgtEl>
                                        <p:attrNameLst>
                                          <p:attrName>ppt_y</p:attrName>
                                        </p:attrNameLst>
                                      </p:cBhvr>
                                      <p:tavLst>
                                        <p:tav tm="0">
                                          <p:val>
                                            <p:strVal val="#ppt_y"/>
                                          </p:val>
                                        </p:tav>
                                        <p:tav tm="100000">
                                          <p:val>
                                            <p:strVal val="#ppt_y"/>
                                          </p:val>
                                        </p:tav>
                                      </p:tavLst>
                                    </p:anim>
                                    <p:animEffect transition="in" filter="wipe(right)" prLst="gradientSize: 0.1">
                                      <p:cBhvr>
                                        <p:cTn id="47" dur="500"/>
                                        <p:tgtEl>
                                          <p:spTgt spid="24579">
                                            <p:txEl>
                                              <p:charRg st="204" end="211"/>
                                            </p:txEl>
                                          </p:spTgt>
                                        </p:tgtEl>
                                      </p:cBhvr>
                                    </p:animEffect>
                                  </p:childTnLst>
                                </p:cTn>
                              </p:par>
                              <p:par>
                                <p:cTn id="48" presetID="31" presetClass="entr" presetSubtype="0" fill="hold" nodeType="withEffect">
                                  <p:stCondLst>
                                    <p:cond delay="0"/>
                                  </p:stCondLst>
                                  <p:iterate type="lt">
                                    <p:tmPct val="5000"/>
                                  </p:iterate>
                                  <p:childTnLst>
                                    <p:set>
                                      <p:cBhvr>
                                        <p:cTn id="49" dur="1" fill="hold">
                                          <p:stCondLst>
                                            <p:cond delay="0"/>
                                          </p:stCondLst>
                                        </p:cTn>
                                        <p:tgtEl>
                                          <p:spTgt spid="24579">
                                            <p:txEl>
                                              <p:charRg st="211" end="247"/>
                                            </p:txEl>
                                          </p:spTgt>
                                        </p:tgtEl>
                                        <p:attrNameLst>
                                          <p:attrName>style.visibility</p:attrName>
                                        </p:attrNameLst>
                                      </p:cBhvr>
                                      <p:to>
                                        <p:strVal val="visible"/>
                                      </p:to>
                                    </p:set>
                                    <p:anim calcmode="lin" valueType="num">
                                      <p:cBhvr>
                                        <p:cTn id="50" dur="500" fill="hold"/>
                                        <p:tgtEl>
                                          <p:spTgt spid="24579">
                                            <p:txEl>
                                              <p:charRg st="211" end="247"/>
                                            </p:txEl>
                                          </p:spTgt>
                                        </p:tgtEl>
                                        <p:attrNameLst>
                                          <p:attrName>ppt_w</p:attrName>
                                        </p:attrNameLst>
                                      </p:cBhvr>
                                      <p:tavLst>
                                        <p:tav tm="0">
                                          <p:val>
                                            <p:fltVal val="0"/>
                                          </p:val>
                                        </p:tav>
                                        <p:tav tm="100000">
                                          <p:val>
                                            <p:strVal val="#ppt_w"/>
                                          </p:val>
                                        </p:tav>
                                      </p:tavLst>
                                    </p:anim>
                                    <p:anim calcmode="lin" valueType="num">
                                      <p:cBhvr>
                                        <p:cTn id="51" dur="500" fill="hold"/>
                                        <p:tgtEl>
                                          <p:spTgt spid="24579">
                                            <p:txEl>
                                              <p:charRg st="211" end="247"/>
                                            </p:txEl>
                                          </p:spTgt>
                                        </p:tgtEl>
                                        <p:attrNameLst>
                                          <p:attrName>ppt_h</p:attrName>
                                        </p:attrNameLst>
                                      </p:cBhvr>
                                      <p:tavLst>
                                        <p:tav tm="0">
                                          <p:val>
                                            <p:fltVal val="0"/>
                                          </p:val>
                                        </p:tav>
                                        <p:tav tm="100000">
                                          <p:val>
                                            <p:strVal val="#ppt_h"/>
                                          </p:val>
                                        </p:tav>
                                      </p:tavLst>
                                    </p:anim>
                                    <p:anim calcmode="lin" valueType="num">
                                      <p:cBhvr>
                                        <p:cTn id="52" dur="500" fill="hold"/>
                                        <p:tgtEl>
                                          <p:spTgt spid="24579">
                                            <p:txEl>
                                              <p:charRg st="211" end="247"/>
                                            </p:txEl>
                                          </p:spTgt>
                                        </p:tgtEl>
                                        <p:attrNameLst>
                                          <p:attrName>style.rotation</p:attrName>
                                        </p:attrNameLst>
                                      </p:cBhvr>
                                      <p:tavLst>
                                        <p:tav tm="0">
                                          <p:val>
                                            <p:fltVal val="90"/>
                                          </p:val>
                                        </p:tav>
                                        <p:tav tm="100000">
                                          <p:val>
                                            <p:fltVal val="0"/>
                                          </p:val>
                                        </p:tav>
                                      </p:tavLst>
                                    </p:anim>
                                    <p:animEffect transition="in" filter="fade">
                                      <p:cBhvr>
                                        <p:cTn id="53" dur="500"/>
                                        <p:tgtEl>
                                          <p:spTgt spid="24579">
                                            <p:txEl>
                                              <p:charRg st="211" end="2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文本占位符 25603" descr="B66"/>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762000" y="609600"/>
            <a:ext cx="7620000" cy="5562600"/>
          </a:xfrm>
        </p:spPr>
      </p:pic>
      <p:sp>
        <p:nvSpPr>
          <p:cNvPr id="21506" name="矩形 25604"/>
          <p:cNvSpPr>
            <a:spLocks noChangeArrowheads="1"/>
          </p:cNvSpPr>
          <p:nvPr/>
        </p:nvSpPr>
        <p:spPr bwMode="auto">
          <a:xfrm>
            <a:off x="3048000" y="6172200"/>
            <a:ext cx="226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6-6  </a:t>
            </a:r>
            <a:r>
              <a:rPr lang="zh-CN" altLang="en-US">
                <a:latin typeface="Tahoma" panose="020B0604030504040204" pitchFamily="34" charset="0"/>
              </a:rPr>
              <a:t>三种文件结构</a:t>
            </a:r>
            <a:endParaRPr lang="zh-CN" altLang="en-US">
              <a:latin typeface="Tahoma" panose="020B0604030504040204" pitchFamily="34" charset="0"/>
            </a:endParaRPr>
          </a:p>
        </p:txBody>
      </p:sp>
    </p:spTree>
  </p:cSld>
  <p:clrMapOvr>
    <a:masterClrMapping/>
  </p:clrMapOvr>
  <p:transition spd="slow">
    <p:pull dir="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noChangeArrowheads="1"/>
          </p:cNvSpPr>
          <p:nvPr>
            <p:ph type="title"/>
          </p:nvPr>
        </p:nvSpPr>
        <p:spPr>
          <a:xfrm>
            <a:off x="533400" y="381000"/>
            <a:ext cx="7543800" cy="1295400"/>
          </a:xfrm>
        </p:spPr>
        <p:txBody>
          <a:bodyPr/>
          <a:lstStyle/>
          <a:p>
            <a:r>
              <a:rPr lang="en-US" altLang="zh-CN"/>
              <a:t>6.2  </a:t>
            </a:r>
            <a:r>
              <a:rPr lang="zh-CN" altLang="en-US"/>
              <a:t>文件系统的功能和结构</a:t>
            </a:r>
            <a:br>
              <a:rPr lang="zh-CN" altLang="en-US"/>
            </a:br>
            <a:r>
              <a:rPr lang="zh-CN" altLang="en-US"/>
              <a:t> </a:t>
            </a:r>
            <a:r>
              <a:rPr lang="en-US" altLang="zh-CN" sz="2800"/>
              <a:t>6.2.1  </a:t>
            </a:r>
            <a:r>
              <a:rPr lang="zh-CN" altLang="en-US" sz="2800"/>
              <a:t>文件系统的功能</a:t>
            </a:r>
            <a:endParaRPr lang="zh-CN" altLang="en-US" sz="2800"/>
          </a:p>
        </p:txBody>
      </p:sp>
      <p:sp>
        <p:nvSpPr>
          <p:cNvPr id="22530" name="文本占位符 26626"/>
          <p:cNvSpPr>
            <a:spLocks noGrp="1" noChangeArrowheads="1"/>
          </p:cNvSpPr>
          <p:nvPr>
            <p:ph idx="1"/>
          </p:nvPr>
        </p:nvSpPr>
        <p:spPr>
          <a:xfrm>
            <a:off x="609600" y="1676400"/>
            <a:ext cx="8229600" cy="4792663"/>
          </a:xfrm>
        </p:spPr>
        <p:txBody>
          <a:bodyPr/>
          <a:lstStyle/>
          <a:p>
            <a:pPr>
              <a:lnSpc>
                <a:spcPct val="90000"/>
              </a:lnSpc>
            </a:pPr>
            <a:r>
              <a:rPr lang="zh-CN" altLang="en-US" sz="2600">
                <a:solidFill>
                  <a:srgbClr val="3333CC"/>
                </a:solidFill>
              </a:rPr>
              <a:t>文件管理系统</a:t>
            </a:r>
            <a:r>
              <a:rPr lang="zh-CN" altLang="en-US" sz="2600"/>
              <a:t>，简称文件系统。</a:t>
            </a:r>
            <a:endParaRPr lang="zh-CN" altLang="en-US" sz="2600"/>
          </a:p>
          <a:p>
            <a:pPr>
              <a:lnSpc>
                <a:spcPct val="90000"/>
              </a:lnSpc>
            </a:pPr>
            <a:r>
              <a:rPr lang="zh-CN" altLang="en-US" sz="2600"/>
              <a:t>就是操作系统中负责</a:t>
            </a:r>
            <a:r>
              <a:rPr lang="zh-CN" altLang="en-US" sz="2600">
                <a:solidFill>
                  <a:srgbClr val="FF0000"/>
                </a:solidFill>
              </a:rPr>
              <a:t>操纵和管理</a:t>
            </a:r>
            <a:r>
              <a:rPr lang="zh-CN" altLang="en-US" sz="2600"/>
              <a:t>文件的一整套设施，实现文件的</a:t>
            </a:r>
            <a:r>
              <a:rPr lang="zh-CN" altLang="en-US" sz="2600">
                <a:solidFill>
                  <a:srgbClr val="FF0000"/>
                </a:solidFill>
              </a:rPr>
              <a:t>共享和保护</a:t>
            </a:r>
            <a:r>
              <a:rPr lang="zh-CN" altLang="en-US" sz="2600"/>
              <a:t>，方便用户</a:t>
            </a:r>
            <a:r>
              <a:rPr lang="zh-CN" altLang="en-US" sz="2600">
                <a:solidFill>
                  <a:srgbClr val="FF0000"/>
                </a:solidFill>
              </a:rPr>
              <a:t>按名存取</a:t>
            </a:r>
            <a:r>
              <a:rPr lang="zh-CN" altLang="en-US" sz="2600"/>
              <a:t>。</a:t>
            </a:r>
            <a:endParaRPr lang="zh-CN" altLang="en-US" sz="2600"/>
          </a:p>
          <a:p>
            <a:pPr>
              <a:lnSpc>
                <a:spcPct val="90000"/>
              </a:lnSpc>
            </a:pPr>
            <a:r>
              <a:rPr lang="zh-CN" altLang="en-US" sz="2600"/>
              <a:t>一般来说，文件系统应具备以下</a:t>
            </a:r>
            <a:r>
              <a:rPr lang="en-US" altLang="zh-CN" sz="2600"/>
              <a:t>5</a:t>
            </a:r>
            <a:r>
              <a:rPr lang="zh-CN" altLang="en-US" sz="2600"/>
              <a:t>种功能：</a:t>
            </a:r>
            <a:endParaRPr lang="zh-CN" altLang="en-US" sz="2600"/>
          </a:p>
          <a:p>
            <a:pPr>
              <a:lnSpc>
                <a:spcPct val="90000"/>
              </a:lnSpc>
              <a:buFont typeface="Wingdings" panose="05000000000000000000" pitchFamily="2" charset="2"/>
              <a:buNone/>
            </a:pPr>
            <a:r>
              <a:rPr lang="zh-CN" altLang="en-US" sz="2600"/>
              <a:t>    </a:t>
            </a:r>
            <a:r>
              <a:rPr lang="en-US" altLang="zh-CN" sz="2600"/>
              <a:t>① </a:t>
            </a:r>
            <a:r>
              <a:rPr lang="zh-CN" altLang="en-US" sz="2600">
                <a:solidFill>
                  <a:srgbClr val="FF0000"/>
                </a:solidFill>
              </a:rPr>
              <a:t>文件管理。</a:t>
            </a:r>
            <a:r>
              <a:rPr lang="zh-CN" altLang="en-US" sz="2000"/>
              <a:t>创建、删除、读写、执行等。</a:t>
            </a:r>
            <a:endParaRPr lang="zh-CN" altLang="en-US" sz="2000"/>
          </a:p>
          <a:p>
            <a:pPr>
              <a:lnSpc>
                <a:spcPct val="90000"/>
              </a:lnSpc>
              <a:buFont typeface="Wingdings" panose="05000000000000000000" pitchFamily="2" charset="2"/>
              <a:buNone/>
            </a:pPr>
            <a:r>
              <a:rPr lang="zh-CN" altLang="en-US" sz="2600"/>
              <a:t>    </a:t>
            </a:r>
            <a:r>
              <a:rPr lang="en-US" altLang="zh-CN" sz="2600"/>
              <a:t>② </a:t>
            </a:r>
            <a:r>
              <a:rPr lang="zh-CN" altLang="en-US" sz="2600">
                <a:solidFill>
                  <a:srgbClr val="FF0000"/>
                </a:solidFill>
              </a:rPr>
              <a:t>目录管理。</a:t>
            </a:r>
            <a:r>
              <a:rPr lang="zh-CN" altLang="en-US" sz="2000"/>
              <a:t>每个文件创建一个目录项，若干目录项构成一个目录文件。可进行文件检索和权限限制。</a:t>
            </a:r>
            <a:endParaRPr lang="zh-CN" altLang="en-US" sz="2000"/>
          </a:p>
          <a:p>
            <a:pPr>
              <a:lnSpc>
                <a:spcPct val="90000"/>
              </a:lnSpc>
              <a:buFont typeface="Wingdings" panose="05000000000000000000" pitchFamily="2" charset="2"/>
              <a:buNone/>
            </a:pPr>
            <a:r>
              <a:rPr lang="zh-CN" altLang="en-US" sz="2600"/>
              <a:t>    </a:t>
            </a:r>
            <a:r>
              <a:rPr lang="en-US" altLang="zh-CN" sz="2600"/>
              <a:t>③ </a:t>
            </a:r>
            <a:r>
              <a:rPr lang="zh-CN" altLang="en-US" sz="2600">
                <a:solidFill>
                  <a:srgbClr val="FF0000"/>
                </a:solidFill>
              </a:rPr>
              <a:t>文件存储空间管理。</a:t>
            </a:r>
            <a:r>
              <a:rPr lang="zh-CN" altLang="en-US" sz="2000"/>
              <a:t>对文件存储空间的分配与回收、文件逻辑地址与物理地址的映射。</a:t>
            </a:r>
            <a:endParaRPr lang="zh-CN" altLang="en-US" sz="2000"/>
          </a:p>
          <a:p>
            <a:pPr>
              <a:lnSpc>
                <a:spcPct val="90000"/>
              </a:lnSpc>
              <a:buFont typeface="Wingdings" panose="05000000000000000000" pitchFamily="2" charset="2"/>
              <a:buNone/>
            </a:pPr>
            <a:r>
              <a:rPr lang="zh-CN" altLang="en-US" sz="2600"/>
              <a:t>    </a:t>
            </a:r>
            <a:r>
              <a:rPr lang="en-US" altLang="zh-CN" sz="2600"/>
              <a:t>④ </a:t>
            </a:r>
            <a:r>
              <a:rPr lang="zh-CN" altLang="en-US" sz="2600">
                <a:solidFill>
                  <a:srgbClr val="FF0000"/>
                </a:solidFill>
              </a:rPr>
              <a:t>文件的共享和保护。</a:t>
            </a:r>
            <a:r>
              <a:rPr lang="zh-CN" altLang="en-US" sz="2000"/>
              <a:t>共享、保护、转储、恢复。</a:t>
            </a:r>
            <a:endParaRPr lang="zh-CN" altLang="en-US" sz="2000"/>
          </a:p>
          <a:p>
            <a:pPr>
              <a:lnSpc>
                <a:spcPct val="90000"/>
              </a:lnSpc>
              <a:buFont typeface="Wingdings" panose="05000000000000000000" pitchFamily="2" charset="2"/>
              <a:buNone/>
            </a:pPr>
            <a:r>
              <a:rPr lang="zh-CN" altLang="en-US" sz="2600"/>
              <a:t>    </a:t>
            </a:r>
            <a:r>
              <a:rPr lang="en-US" altLang="zh-CN" sz="2600"/>
              <a:t>⑤ </a:t>
            </a:r>
            <a:r>
              <a:rPr lang="zh-CN" altLang="en-US" sz="2600">
                <a:solidFill>
                  <a:srgbClr val="FF0000"/>
                </a:solidFill>
              </a:rPr>
              <a:t>提供方便的接口。</a:t>
            </a:r>
            <a:r>
              <a:rPr lang="zh-CN" altLang="en-US" sz="2000"/>
              <a:t>用户观点（方便、可靠、共享、保护）、系统的观点（存储空间组织、分配、信息传输等）。</a:t>
            </a:r>
            <a:endParaRPr lang="zh-CN" altLang="en-US" sz="20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xit" presetSubtype="0" fill="hold" grpId="0" nodeType="withEffect">
                                  <p:stCondLst>
                                    <p:cond delay="0"/>
                                  </p:stCondLst>
                                  <p:childTnLst>
                                    <p:anim calcmode="lin" valueType="num">
                                      <p:cBhvr>
                                        <p:cTn id="6" dur="1000"/>
                                        <p:tgtEl>
                                          <p:spTgt spid="26626"/>
                                        </p:tgtEl>
                                        <p:attrNameLst>
                                          <p:attrName>ppt_x</p:attrName>
                                        </p:attrNameLst>
                                      </p:cBhvr>
                                      <p:tavLst>
                                        <p:tav tm="0">
                                          <p:val>
                                            <p:strVal val="ppt_x"/>
                                          </p:val>
                                        </p:tav>
                                        <p:tav tm="100000">
                                          <p:val>
                                            <p:strVal val="ppt_x-.2"/>
                                          </p:val>
                                        </p:tav>
                                      </p:tavLst>
                                    </p:anim>
                                    <p:anim calcmode="lin" valueType="num">
                                      <p:cBhvr>
                                        <p:cTn id="7" dur="1000"/>
                                        <p:tgtEl>
                                          <p:spTgt spid="26626"/>
                                        </p:tgtEl>
                                        <p:attrNameLst>
                                          <p:attrName>ppt_y</p:attrName>
                                        </p:attrNameLst>
                                      </p:cBhvr>
                                      <p:tavLst>
                                        <p:tav tm="0">
                                          <p:val>
                                            <p:strVal val="ppt_y"/>
                                          </p:val>
                                        </p:tav>
                                        <p:tav tm="100000">
                                          <p:val>
                                            <p:strVal val="ppt_y"/>
                                          </p:val>
                                        </p:tav>
                                      </p:tavLst>
                                    </p:anim>
                                    <p:animEffect transition="out" filter="fade">
                                      <p:cBhvr>
                                        <p:cTn id="8" dur="1000"/>
                                        <p:tgtEl>
                                          <p:spTgt spid="26626"/>
                                        </p:tgtEl>
                                      </p:cBhvr>
                                    </p:animEffect>
                                    <p:set>
                                      <p:cBhvr>
                                        <p:cTn id="9" dur="1" fill="hold">
                                          <p:stCondLst>
                                            <p:cond delay="999"/>
                                          </p:stCondLst>
                                        </p:cTn>
                                        <p:tgtEl>
                                          <p:spTgt spid="266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28673"/>
          <p:cNvSpPr>
            <a:spLocks noGrp="1" noChangeArrowheads="1"/>
          </p:cNvSpPr>
          <p:nvPr>
            <p:ph type="title"/>
          </p:nvPr>
        </p:nvSpPr>
        <p:spPr/>
        <p:txBody>
          <a:bodyPr/>
          <a:lstStyle/>
          <a:p>
            <a:r>
              <a:rPr lang="en-US" altLang="zh-CN" sz="3500"/>
              <a:t>6.2.2  </a:t>
            </a:r>
            <a:r>
              <a:rPr lang="zh-CN" altLang="en-US" sz="3500"/>
              <a:t>文件系统的结构</a:t>
            </a:r>
            <a:br>
              <a:rPr lang="zh-CN" altLang="en-US" sz="3500"/>
            </a:br>
            <a:endParaRPr lang="zh-CN" altLang="en-US" sz="3500"/>
          </a:p>
        </p:txBody>
      </p:sp>
      <p:pic>
        <p:nvPicPr>
          <p:cNvPr id="23554" name="图片 28675" descr="B6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62200" y="1371600"/>
            <a:ext cx="3352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矩形 28676"/>
          <p:cNvSpPr>
            <a:spLocks noChangeArrowheads="1"/>
          </p:cNvSpPr>
          <p:nvPr/>
        </p:nvSpPr>
        <p:spPr bwMode="auto">
          <a:xfrm>
            <a:off x="2514600" y="6096000"/>
            <a:ext cx="294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a:latin typeface="Tahoma" panose="020B0604030504040204" pitchFamily="34" charset="0"/>
              </a:rPr>
              <a:t>图</a:t>
            </a:r>
            <a:r>
              <a:rPr lang="en-US" altLang="zh-CN">
                <a:latin typeface="Tahoma" panose="020B0604030504040204" pitchFamily="34" charset="0"/>
              </a:rPr>
              <a:t>6-7  </a:t>
            </a:r>
            <a:r>
              <a:rPr lang="zh-CN" altLang="en-US">
                <a:latin typeface="Tahoma" panose="020B0604030504040204" pitchFamily="34" charset="0"/>
              </a:rPr>
              <a:t>文件系统的层次结构</a:t>
            </a:r>
            <a:endParaRPr lang="zh-CN" altLang="en-US">
              <a:latin typeface="Tahoma" panose="020B0604030504040204" pitchFamily="34" charset="0"/>
            </a:endParaRPr>
          </a:p>
        </p:txBody>
      </p:sp>
    </p:spTree>
  </p:cSld>
  <p:clrMapOvr>
    <a:masterClrMapping/>
  </p:clrMapOvr>
  <p:transition spd="slow">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29697"/>
          <p:cNvSpPr>
            <a:spLocks noGrp="1" noChangeArrowheads="1"/>
          </p:cNvSpPr>
          <p:nvPr>
            <p:ph type="title"/>
          </p:nvPr>
        </p:nvSpPr>
        <p:spPr/>
        <p:txBody>
          <a:bodyPr/>
          <a:lstStyle/>
          <a:p>
            <a:endParaRPr lang="zh-CN" altLang="en-US"/>
          </a:p>
        </p:txBody>
      </p:sp>
      <p:sp>
        <p:nvSpPr>
          <p:cNvPr id="29699" name="内容占位符 29698"/>
          <p:cNvSpPr>
            <a:spLocks noGrp="1" noChangeArrowheads="1"/>
          </p:cNvSpPr>
          <p:nvPr>
            <p:ph idx="1"/>
          </p:nvPr>
        </p:nvSpPr>
        <p:spPr>
          <a:xfrm>
            <a:off x="457200" y="1524000"/>
            <a:ext cx="8229600" cy="4606925"/>
          </a:xfrm>
        </p:spPr>
        <p:txBody>
          <a:bodyPr/>
          <a:lstStyle/>
          <a:p>
            <a:r>
              <a:rPr lang="zh-CN" altLang="en-US"/>
              <a:t>最底层是</a:t>
            </a:r>
            <a:r>
              <a:rPr lang="en-US" altLang="zh-CN">
                <a:solidFill>
                  <a:srgbClr val="3333CC"/>
                </a:solidFill>
              </a:rPr>
              <a:t>I/O</a:t>
            </a:r>
            <a:r>
              <a:rPr lang="zh-CN" altLang="en-US">
                <a:solidFill>
                  <a:srgbClr val="3333CC"/>
                </a:solidFill>
              </a:rPr>
              <a:t>控制</a:t>
            </a:r>
            <a:r>
              <a:rPr lang="zh-CN" altLang="en-US"/>
              <a:t>，包括设备驱动程序和中断处理程序，实现内存和磁盘系统之间的信息传送。</a:t>
            </a:r>
            <a:endParaRPr lang="zh-CN" altLang="en-US"/>
          </a:p>
          <a:p>
            <a:pPr>
              <a:buFont typeface="Wingdings" panose="05000000000000000000" pitchFamily="2" charset="2"/>
              <a:buNone/>
            </a:pPr>
            <a:r>
              <a:rPr lang="zh-CN" altLang="en-US" sz="2400"/>
              <a:t>       </a:t>
            </a:r>
            <a:r>
              <a:rPr lang="en-US" altLang="zh-CN" sz="2400"/>
              <a:t>--</a:t>
            </a:r>
            <a:r>
              <a:rPr lang="zh-CN" altLang="en-US" sz="2400"/>
              <a:t>设备驱动程序（接收输入的高级命令，输出给硬件专用指令）</a:t>
            </a:r>
            <a:endParaRPr lang="zh-CN" altLang="en-US" sz="2400"/>
          </a:p>
          <a:p>
            <a:r>
              <a:rPr lang="zh-CN" altLang="en-US">
                <a:solidFill>
                  <a:srgbClr val="3333CC"/>
                </a:solidFill>
              </a:rPr>
              <a:t>基本文件系统</a:t>
            </a:r>
            <a:r>
              <a:rPr lang="zh-CN" altLang="en-US"/>
              <a:t>只需向相应的设备驱动程序发出通用命令，读写盘上的物理块。</a:t>
            </a:r>
            <a:endParaRPr lang="zh-CN" altLang="en-US"/>
          </a:p>
          <a:p>
            <a:r>
              <a:rPr lang="zh-CN" altLang="en-US">
                <a:solidFill>
                  <a:srgbClr val="0033CC"/>
                </a:solidFill>
              </a:rPr>
              <a:t>文件组织模块</a:t>
            </a:r>
            <a:r>
              <a:rPr lang="zh-CN" altLang="en-US"/>
              <a:t>把文件的</a:t>
            </a:r>
            <a:r>
              <a:rPr lang="zh-CN" altLang="en-US">
                <a:solidFill>
                  <a:srgbClr val="FF0000"/>
                </a:solidFill>
              </a:rPr>
              <a:t>逻辑块地址转换成物理</a:t>
            </a:r>
            <a:r>
              <a:rPr lang="zh-CN" altLang="en-US"/>
              <a:t>块地址，传送给基本文件系统。</a:t>
            </a:r>
            <a:endParaRPr lang="zh-CN" altLang="en-US"/>
          </a:p>
          <a:p>
            <a:endParaRPr lang="zh-CN" altLang="en-US" sz="2400"/>
          </a:p>
          <a:p>
            <a:pPr>
              <a:buFont typeface="Wingdings" panose="05000000000000000000" pitchFamily="2" charset="2"/>
              <a:buNone/>
            </a:pP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slide(fromBottom)">
                                      <p:cBhvr>
                                        <p:cTn id="7" dur="500"/>
                                        <p:tgtEl>
                                          <p:spTgt spid="29699">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9699">
                                            <p:txEl>
                                              <p:pRg st="1" end="1"/>
                                            </p:txEl>
                                          </p:spTgt>
                                        </p:tgtEl>
                                        <p:attrNameLst>
                                          <p:attrName>style.visibility</p:attrName>
                                        </p:attrNameLst>
                                      </p:cBhvr>
                                      <p:to>
                                        <p:strVal val="visible"/>
                                      </p:to>
                                    </p:set>
                                    <p:animEffect transition="in" filter="slide(fromBottom)">
                                      <p:cBhvr>
                                        <p:cTn id="10" dur="500"/>
                                        <p:tgtEl>
                                          <p:spTgt spid="29699">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29699">
                                            <p:txEl>
                                              <p:pRg st="2" end="2"/>
                                            </p:txEl>
                                          </p:spTgt>
                                        </p:tgtEl>
                                        <p:attrNameLst>
                                          <p:attrName>style.visibility</p:attrName>
                                        </p:attrNameLst>
                                      </p:cBhvr>
                                      <p:to>
                                        <p:strVal val="visible"/>
                                      </p:to>
                                    </p:set>
                                    <p:animEffect transition="in" filter="slide(fromBottom)">
                                      <p:cBhvr>
                                        <p:cTn id="13" dur="500"/>
                                        <p:tgtEl>
                                          <p:spTgt spid="29699">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29699">
                                            <p:txEl>
                                              <p:pRg st="3" end="3"/>
                                            </p:txEl>
                                          </p:spTgt>
                                        </p:tgtEl>
                                        <p:attrNameLst>
                                          <p:attrName>style.visibility</p:attrName>
                                        </p:attrNameLst>
                                      </p:cBhvr>
                                      <p:to>
                                        <p:strVal val="visible"/>
                                      </p:to>
                                    </p:set>
                                    <p:animEffect transition="in" filter="slide(fromBottom)">
                                      <p:cBhvr>
                                        <p:cTn id="16" dur="500"/>
                                        <p:tgtEl>
                                          <p:spTgt spid="29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08545"/>
          <p:cNvSpPr>
            <a:spLocks noGrp="1" noChangeArrowheads="1"/>
          </p:cNvSpPr>
          <p:nvPr>
            <p:ph type="title"/>
          </p:nvPr>
        </p:nvSpPr>
        <p:spPr/>
        <p:txBody>
          <a:bodyPr/>
          <a:lstStyle/>
          <a:p>
            <a:endParaRPr lang="zh-CN" altLang="en-US"/>
          </a:p>
        </p:txBody>
      </p:sp>
      <p:sp>
        <p:nvSpPr>
          <p:cNvPr id="25602" name="文本占位符 108546"/>
          <p:cNvSpPr>
            <a:spLocks noGrp="1" noChangeArrowheads="1"/>
          </p:cNvSpPr>
          <p:nvPr>
            <p:ph idx="1"/>
          </p:nvPr>
        </p:nvSpPr>
        <p:spPr>
          <a:xfrm>
            <a:off x="609600" y="1719263"/>
            <a:ext cx="8077200" cy="4411662"/>
          </a:xfrm>
        </p:spPr>
        <p:txBody>
          <a:bodyPr/>
          <a:lstStyle/>
          <a:p>
            <a:r>
              <a:rPr lang="zh-CN" altLang="en-US">
                <a:solidFill>
                  <a:srgbClr val="3333CC"/>
                </a:solidFill>
              </a:rPr>
              <a:t>逻辑文件系统</a:t>
            </a:r>
            <a:r>
              <a:rPr lang="zh-CN" altLang="en-US"/>
              <a:t>，最上一层，它管理</a:t>
            </a:r>
            <a:r>
              <a:rPr lang="zh-CN" altLang="en-US">
                <a:solidFill>
                  <a:srgbClr val="FF0000"/>
                </a:solidFill>
              </a:rPr>
              <a:t>元数据</a:t>
            </a:r>
            <a:r>
              <a:rPr lang="zh-CN" altLang="en-US"/>
              <a:t>信息。</a:t>
            </a:r>
            <a:endParaRPr lang="zh-CN" altLang="en-US"/>
          </a:p>
          <a:p>
            <a:r>
              <a:rPr lang="zh-CN" altLang="en-US"/>
              <a:t>管理目录结构，给文件组织模块信息，实现文件按名存取。 </a:t>
            </a:r>
            <a:endParaRPr lang="zh-CN" altLang="en-US"/>
          </a:p>
          <a:p>
            <a:r>
              <a:rPr lang="zh-CN" altLang="en-US"/>
              <a:t>为每个文件提供一个</a:t>
            </a:r>
            <a:r>
              <a:rPr lang="zh-CN" altLang="en-US">
                <a:solidFill>
                  <a:srgbClr val="FF0000"/>
                </a:solidFill>
              </a:rPr>
              <a:t>文件控制块</a:t>
            </a:r>
            <a:r>
              <a:rPr lang="en-US" altLang="zh-CN">
                <a:solidFill>
                  <a:srgbClr val="FF0000"/>
                </a:solidFill>
              </a:rPr>
              <a:t>FCB</a:t>
            </a:r>
            <a:r>
              <a:rPr lang="zh-CN" altLang="en-US"/>
              <a:t>。</a:t>
            </a:r>
            <a:endParaRPr lang="zh-CN" altLang="en-US"/>
          </a:p>
          <a:p>
            <a:r>
              <a:rPr lang="zh-CN" altLang="en-US"/>
              <a:t>文件的保护和安全。   </a:t>
            </a:r>
            <a:endParaRPr lang="zh-CN" altLang="en-US"/>
          </a:p>
          <a:p>
            <a:pPr>
              <a:buFont typeface="Wingdings" panose="05000000000000000000" pitchFamily="2" charset="2"/>
              <a:buNone/>
            </a:pPr>
            <a:r>
              <a:rPr lang="zh-CN" altLang="en-US" sz="2400"/>
              <a:t>     </a:t>
            </a:r>
            <a:endParaRPr lang="zh-CN" altLang="en-US" sz="2400"/>
          </a:p>
          <a:p>
            <a:pPr>
              <a:buFont typeface="Wingdings" panose="05000000000000000000" pitchFamily="2" charset="2"/>
              <a:buNone/>
            </a:pPr>
            <a:r>
              <a:rPr lang="en-US" altLang="zh-CN" sz="2400"/>
              <a:t>----</a:t>
            </a:r>
            <a:r>
              <a:rPr lang="zh-CN" altLang="en-US" sz="2400">
                <a:solidFill>
                  <a:srgbClr val="FF0000"/>
                </a:solidFill>
              </a:rPr>
              <a:t>元数据</a:t>
            </a:r>
            <a:r>
              <a:rPr lang="zh-CN" altLang="en-US" sz="2400"/>
              <a:t>包括，除实际数据（文件内容）外所有文件系统结构。</a:t>
            </a:r>
            <a:endParaRPr lang="zh-CN" altLang="en-US" sz="2400"/>
          </a:p>
        </p:txBody>
      </p:sp>
    </p:spTree>
  </p:cSld>
  <p:clrMapOvr>
    <a:masterClrMapping/>
  </p:clrMapOvr>
  <p:transition spd="slow">
    <p:pull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30721"/>
          <p:cNvSpPr>
            <a:spLocks noGrp="1" noChangeArrowheads="1"/>
          </p:cNvSpPr>
          <p:nvPr>
            <p:ph type="title"/>
          </p:nvPr>
        </p:nvSpPr>
        <p:spPr/>
        <p:txBody>
          <a:bodyPr/>
          <a:lstStyle/>
          <a:p>
            <a:r>
              <a:rPr lang="en-US" altLang="zh-CN" sz="3500"/>
              <a:t>6.3  </a:t>
            </a:r>
            <a:r>
              <a:rPr lang="zh-CN" altLang="en-US" sz="3500"/>
              <a:t>目录结构和目录查询</a:t>
            </a:r>
            <a:endParaRPr lang="zh-CN" altLang="en-US" sz="3500"/>
          </a:p>
        </p:txBody>
      </p:sp>
      <p:sp>
        <p:nvSpPr>
          <p:cNvPr id="26626" name="文本占位符 30722"/>
          <p:cNvSpPr>
            <a:spLocks noGrp="1" noChangeArrowheads="1"/>
          </p:cNvSpPr>
          <p:nvPr>
            <p:ph idx="1"/>
          </p:nvPr>
        </p:nvSpPr>
        <p:spPr/>
        <p:txBody>
          <a:bodyPr/>
          <a:lstStyle/>
          <a:p>
            <a:pPr>
              <a:buFont typeface="Wingdings" panose="05000000000000000000" pitchFamily="2" charset="2"/>
              <a:buNone/>
            </a:pPr>
            <a:r>
              <a:rPr lang="en-US" altLang="zh-CN"/>
              <a:t>1</a:t>
            </a:r>
            <a:r>
              <a:rPr lang="zh-CN" altLang="en-US"/>
              <a:t>．</a:t>
            </a:r>
            <a:r>
              <a:rPr lang="zh-CN" altLang="en-US">
                <a:solidFill>
                  <a:srgbClr val="3333CC"/>
                </a:solidFill>
              </a:rPr>
              <a:t>文件控制块</a:t>
            </a:r>
            <a:endParaRPr lang="zh-CN" altLang="en-US">
              <a:solidFill>
                <a:srgbClr val="3333CC"/>
              </a:solidFill>
            </a:endParaRPr>
          </a:p>
          <a:p>
            <a:r>
              <a:rPr lang="zh-CN" altLang="en-US"/>
              <a:t>文件系统内部，给每个文件</a:t>
            </a:r>
            <a:r>
              <a:rPr lang="zh-CN" altLang="en-US">
                <a:solidFill>
                  <a:srgbClr val="3333CC"/>
                </a:solidFill>
              </a:rPr>
              <a:t>惟一</a:t>
            </a:r>
            <a:r>
              <a:rPr lang="zh-CN" altLang="en-US"/>
              <a:t>地设置一个</a:t>
            </a:r>
            <a:r>
              <a:rPr lang="zh-CN" altLang="en-US">
                <a:solidFill>
                  <a:srgbClr val="3333CC"/>
                </a:solidFill>
              </a:rPr>
              <a:t>文件控制块</a:t>
            </a:r>
            <a:r>
              <a:rPr lang="zh-CN" altLang="en-US"/>
              <a:t>。组成见书</a:t>
            </a:r>
            <a:r>
              <a:rPr lang="en-US" altLang="zh-CN"/>
              <a:t>p192</a:t>
            </a:r>
            <a:r>
              <a:rPr lang="zh-CN" altLang="en-US"/>
              <a:t>。</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xit" presetSubtype="0" fill="hold" grpId="0" nodeType="withEffect">
                                  <p:stCondLst>
                                    <p:cond delay="0"/>
                                  </p:stCondLst>
                                  <p:childTnLst>
                                    <p:anim calcmode="lin" valueType="num">
                                      <p:cBhvr>
                                        <p:cTn id="6" dur="1000"/>
                                        <p:tgtEl>
                                          <p:spTgt spid="30722"/>
                                        </p:tgtEl>
                                        <p:attrNameLst>
                                          <p:attrName>ppt_x</p:attrName>
                                        </p:attrNameLst>
                                      </p:cBhvr>
                                      <p:tavLst>
                                        <p:tav tm="0">
                                          <p:val>
                                            <p:strVal val="ppt_x"/>
                                          </p:val>
                                        </p:tav>
                                        <p:tav tm="100000">
                                          <p:val>
                                            <p:strVal val="ppt_x-.2"/>
                                          </p:val>
                                        </p:tav>
                                      </p:tavLst>
                                    </p:anim>
                                    <p:anim calcmode="lin" valueType="num">
                                      <p:cBhvr>
                                        <p:cTn id="7" dur="1000"/>
                                        <p:tgtEl>
                                          <p:spTgt spid="30722"/>
                                        </p:tgtEl>
                                        <p:attrNameLst>
                                          <p:attrName>ppt_y</p:attrName>
                                        </p:attrNameLst>
                                      </p:cBhvr>
                                      <p:tavLst>
                                        <p:tav tm="0">
                                          <p:val>
                                            <p:strVal val="ppt_y"/>
                                          </p:val>
                                        </p:tav>
                                        <p:tav tm="100000">
                                          <p:val>
                                            <p:strVal val="ppt_y"/>
                                          </p:val>
                                        </p:tav>
                                      </p:tavLst>
                                    </p:anim>
                                    <p:animEffect transition="out" filter="fade">
                                      <p:cBhvr>
                                        <p:cTn id="8" dur="1000"/>
                                        <p:tgtEl>
                                          <p:spTgt spid="30722"/>
                                        </p:tgtEl>
                                      </p:cBhvr>
                                    </p:animEffect>
                                    <p:set>
                                      <p:cBhvr>
                                        <p:cTn id="9" dur="1" fill="hold">
                                          <p:stCondLst>
                                            <p:cond delay="999"/>
                                          </p:stCondLst>
                                        </p:cTn>
                                        <p:tgtEl>
                                          <p:spTgt spid="307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31745"/>
          <p:cNvSpPr>
            <a:spLocks noGrp="1" noChangeArrowheads="1"/>
          </p:cNvSpPr>
          <p:nvPr>
            <p:ph type="title"/>
          </p:nvPr>
        </p:nvSpPr>
        <p:spPr/>
        <p:txBody>
          <a:bodyPr/>
          <a:lstStyle/>
          <a:p>
            <a:r>
              <a:rPr lang="en-US" altLang="zh-CN"/>
              <a:t>6.3.1  </a:t>
            </a:r>
            <a:r>
              <a:rPr lang="zh-CN" altLang="en-US"/>
              <a:t>文件控制块和文件目录</a:t>
            </a:r>
            <a:endParaRPr lang="zh-CN" altLang="en-US"/>
          </a:p>
        </p:txBody>
      </p:sp>
      <p:sp>
        <p:nvSpPr>
          <p:cNvPr id="31747" name="内容占位符 31746"/>
          <p:cNvSpPr>
            <a:spLocks noGrp="1" noChangeArrowheads="1"/>
          </p:cNvSpPr>
          <p:nvPr>
            <p:ph idx="1"/>
          </p:nvPr>
        </p:nvSpPr>
        <p:spPr/>
        <p:txBody>
          <a:bodyPr/>
          <a:lstStyle/>
          <a:p>
            <a:pPr>
              <a:buFont typeface="Wingdings" panose="05000000000000000000" pitchFamily="2" charset="2"/>
              <a:buNone/>
            </a:pPr>
            <a:endParaRPr lang="en-US" altLang="zh-CN" sz="2600"/>
          </a:p>
          <a:p>
            <a:pPr>
              <a:buFont typeface="Wingdings" panose="05000000000000000000" pitchFamily="2" charset="2"/>
              <a:buNone/>
            </a:pPr>
            <a:r>
              <a:rPr lang="en-US" altLang="zh-CN" sz="2600"/>
              <a:t>2</a:t>
            </a:r>
            <a:r>
              <a:rPr lang="zh-CN" altLang="en-US" sz="2600"/>
              <a:t>．</a:t>
            </a:r>
            <a:r>
              <a:rPr lang="zh-CN" altLang="en-US" sz="2600">
                <a:solidFill>
                  <a:srgbClr val="3333CC"/>
                </a:solidFill>
              </a:rPr>
              <a:t>文件目录</a:t>
            </a:r>
            <a:endParaRPr lang="zh-CN" altLang="en-US" sz="2600">
              <a:solidFill>
                <a:srgbClr val="3333CC"/>
              </a:solidFill>
            </a:endParaRPr>
          </a:p>
          <a:p>
            <a:r>
              <a:rPr lang="zh-CN" altLang="en-US" sz="2600"/>
              <a:t>为了加快对文件的检索，往往将文件控制块集中在一起进行管理。这种文件控制块的有序集合称为</a:t>
            </a:r>
            <a:r>
              <a:rPr lang="zh-CN" altLang="en-US" sz="2600">
                <a:solidFill>
                  <a:srgbClr val="FF0000"/>
                </a:solidFill>
              </a:rPr>
              <a:t>文件目录</a:t>
            </a:r>
            <a:r>
              <a:rPr lang="zh-CN" altLang="en-US" sz="2600"/>
              <a:t>。</a:t>
            </a:r>
            <a:r>
              <a:rPr lang="zh-CN" altLang="en-US" sz="2600">
                <a:solidFill>
                  <a:srgbClr val="FF0000"/>
                </a:solidFill>
              </a:rPr>
              <a:t>文件控制块就是其中的目录项</a:t>
            </a:r>
            <a:r>
              <a:rPr lang="zh-CN" altLang="en-US" sz="2600"/>
              <a:t>。完全由目录项构成的文件称为</a:t>
            </a:r>
            <a:r>
              <a:rPr lang="zh-CN" altLang="en-US" sz="2600">
                <a:solidFill>
                  <a:srgbClr val="FF0000"/>
                </a:solidFill>
              </a:rPr>
              <a:t>目录文件</a:t>
            </a:r>
            <a:r>
              <a:rPr lang="zh-CN" altLang="en-US" sz="2600"/>
              <a:t>。</a:t>
            </a:r>
            <a:endParaRPr lang="zh-CN" altLang="en-US" sz="2600"/>
          </a:p>
          <a:p>
            <a:r>
              <a:rPr lang="zh-CN" altLang="en-US" sz="2600"/>
              <a:t>文件目录实现文件名与存放盘块之间的映射。</a:t>
            </a:r>
            <a:endParaRPr lang="zh-CN" altLang="en-US" sz="2600"/>
          </a:p>
          <a:p>
            <a:r>
              <a:rPr lang="zh-CN" altLang="en-US" sz="2600"/>
              <a:t>主要目录操作：</a:t>
            </a:r>
            <a:r>
              <a:rPr lang="en-US" altLang="zh-CN" sz="2600"/>
              <a:t>p193</a:t>
            </a:r>
            <a:r>
              <a:rPr lang="zh-CN" altLang="en-US" sz="2600"/>
              <a:t>。</a:t>
            </a:r>
            <a:endParaRPr lang="zh-CN" altLang="en-US" sz="26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31747">
                                            <p:txEl>
                                              <p:pRg st="2" end="2"/>
                                            </p:txEl>
                                          </p:spTgt>
                                        </p:tgtEl>
                                        <p:attrNameLst>
                                          <p:attrName>style.visibility</p:attrName>
                                        </p:attrNameLst>
                                      </p:cBhvr>
                                      <p:to>
                                        <p:strVal val="visible"/>
                                      </p:to>
                                    </p:set>
                                    <p:animEffect transition="in" filter="slide(fromBottom)">
                                      <p:cBhvr>
                                        <p:cTn id="7" dur="500"/>
                                        <p:tgtEl>
                                          <p:spTgt spid="31747">
                                            <p:txEl>
                                              <p:pRg st="2" end="2"/>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31747">
                                            <p:txEl>
                                              <p:pRg st="3" end="3"/>
                                            </p:txEl>
                                          </p:spTgt>
                                        </p:tgtEl>
                                        <p:attrNameLst>
                                          <p:attrName>style.visibility</p:attrName>
                                        </p:attrNameLst>
                                      </p:cBhvr>
                                      <p:to>
                                        <p:strVal val="visible"/>
                                      </p:to>
                                    </p:set>
                                    <p:animEffect transition="in" filter="slide(fromBottom)">
                                      <p:cBhvr>
                                        <p:cTn id="10" dur="500"/>
                                        <p:tgtEl>
                                          <p:spTgt spid="31747">
                                            <p:txEl>
                                              <p:pRg st="3" end="3"/>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31747">
                                            <p:txEl>
                                              <p:pRg st="4" end="4"/>
                                            </p:txEl>
                                          </p:spTgt>
                                        </p:tgtEl>
                                        <p:attrNameLst>
                                          <p:attrName>style.visibility</p:attrName>
                                        </p:attrNameLst>
                                      </p:cBhvr>
                                      <p:to>
                                        <p:strVal val="visible"/>
                                      </p:to>
                                    </p:set>
                                    <p:animEffect transition="in" filter="slide(fromBottom)">
                                      <p:cBhvr>
                                        <p:cTn id="13"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文本占位符 32771" descr="B68"/>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990600" y="1143000"/>
            <a:ext cx="7162800" cy="1524000"/>
          </a:xfrm>
        </p:spPr>
      </p:pic>
      <p:sp>
        <p:nvSpPr>
          <p:cNvPr id="28674" name="矩形 32772"/>
          <p:cNvSpPr>
            <a:spLocks noChangeArrowheads="1"/>
          </p:cNvSpPr>
          <p:nvPr/>
        </p:nvSpPr>
        <p:spPr bwMode="auto">
          <a:xfrm>
            <a:off x="2514600" y="3244850"/>
            <a:ext cx="4005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6-8  MS-DOS</a:t>
            </a:r>
            <a:r>
              <a:rPr lang="zh-CN" altLang="en-US">
                <a:latin typeface="Tahoma" panose="020B0604030504040204" pitchFamily="34" charset="0"/>
              </a:rPr>
              <a:t>目录项示意图</a:t>
            </a:r>
            <a:endParaRPr lang="zh-CN" altLang="en-US">
              <a:latin typeface="Tahoma" panose="020B0604030504040204" pitchFamily="34" charset="0"/>
            </a:endParaRPr>
          </a:p>
        </p:txBody>
      </p:sp>
      <p:pic>
        <p:nvPicPr>
          <p:cNvPr id="28675" name="图片 32773" descr="B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343400"/>
            <a:ext cx="5943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矩形 32774"/>
          <p:cNvSpPr>
            <a:spLocks noChangeArrowheads="1"/>
          </p:cNvSpPr>
          <p:nvPr/>
        </p:nvSpPr>
        <p:spPr bwMode="auto">
          <a:xfrm>
            <a:off x="2514600" y="5943600"/>
            <a:ext cx="3924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6-9  UNIX</a:t>
            </a:r>
            <a:r>
              <a:rPr lang="zh-CN" altLang="en-US">
                <a:latin typeface="Tahoma" panose="020B0604030504040204" pitchFamily="34" charset="0"/>
              </a:rPr>
              <a:t>目录项示意图</a:t>
            </a:r>
            <a:endParaRPr lang="zh-CN" altLang="en-US">
              <a:latin typeface="Tahoma" panose="020B0604030504040204" pitchFamily="34" charset="0"/>
            </a:endParaRPr>
          </a:p>
        </p:txBody>
      </p:sp>
      <p:sp>
        <p:nvSpPr>
          <p:cNvPr id="28677" name="圆角矩形标注 32776"/>
          <p:cNvSpPr>
            <a:spLocks noChangeArrowheads="1"/>
          </p:cNvSpPr>
          <p:nvPr/>
        </p:nvSpPr>
        <p:spPr bwMode="auto">
          <a:xfrm>
            <a:off x="7086600" y="3810000"/>
            <a:ext cx="1828800" cy="1371600"/>
          </a:xfrm>
          <a:prstGeom prst="wedgeRoundRectCallout">
            <a:avLst>
              <a:gd name="adj1" fmla="val -59375"/>
              <a:gd name="adj2" fmla="val 59954"/>
              <a:gd name="adj3" fmla="val 16667"/>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t>包含文件类型‘大小’时间‘文件主’磁盘块等。</a:t>
            </a:r>
            <a:endParaRPr lang="zh-CN" altLang="en-US" b="1"/>
          </a:p>
        </p:txBody>
      </p:sp>
    </p:spTree>
  </p:cSld>
  <p:clrMapOvr>
    <a:masterClrMapping/>
  </p:clrMapOvr>
  <p:transition spd="slow">
    <p:pull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33793"/>
          <p:cNvSpPr>
            <a:spLocks noGrp="1" noChangeArrowheads="1"/>
          </p:cNvSpPr>
          <p:nvPr>
            <p:ph type="title"/>
          </p:nvPr>
        </p:nvSpPr>
        <p:spPr/>
        <p:txBody>
          <a:bodyPr/>
          <a:lstStyle/>
          <a:p>
            <a:r>
              <a:rPr lang="en-US" altLang="zh-CN"/>
              <a:t>6.3.2  </a:t>
            </a:r>
            <a:r>
              <a:rPr lang="zh-CN" altLang="en-US"/>
              <a:t>单级目录结构</a:t>
            </a:r>
            <a:endParaRPr lang="zh-CN" altLang="en-US"/>
          </a:p>
        </p:txBody>
      </p:sp>
      <p:sp>
        <p:nvSpPr>
          <p:cNvPr id="29698" name="文本占位符 33794"/>
          <p:cNvSpPr>
            <a:spLocks noGrp="1" noChangeArrowheads="1"/>
          </p:cNvSpPr>
          <p:nvPr>
            <p:ph idx="1"/>
          </p:nvPr>
        </p:nvSpPr>
        <p:spPr>
          <a:xfrm>
            <a:off x="457200" y="1447800"/>
            <a:ext cx="8229600" cy="4572000"/>
          </a:xfrm>
        </p:spPr>
        <p:txBody>
          <a:bodyPr/>
          <a:lstStyle/>
          <a:p>
            <a:r>
              <a:rPr lang="zh-CN" altLang="en-US"/>
              <a:t>在这种组织方式下，全部文件都登记在同一目录中。每个文件对应一个目录项。</a:t>
            </a:r>
            <a:endParaRPr lang="zh-CN" altLang="en-US"/>
          </a:p>
        </p:txBody>
      </p:sp>
      <p:pic>
        <p:nvPicPr>
          <p:cNvPr id="29699" name="图片 33795" descr="B6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2514600"/>
            <a:ext cx="6553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矩形 33796"/>
          <p:cNvSpPr>
            <a:spLocks noChangeArrowheads="1"/>
          </p:cNvSpPr>
          <p:nvPr/>
        </p:nvSpPr>
        <p:spPr bwMode="auto">
          <a:xfrm>
            <a:off x="3352800" y="6248400"/>
            <a:ext cx="2386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6-10  </a:t>
            </a:r>
            <a:r>
              <a:rPr lang="zh-CN" altLang="en-US">
                <a:latin typeface="Tahoma" panose="020B0604030504040204" pitchFamily="34" charset="0"/>
              </a:rPr>
              <a:t>单级目录结构</a:t>
            </a:r>
            <a:endParaRPr lang="zh-CN" altLang="en-US">
              <a:latin typeface="Tahoma" panose="020B0604030504040204" pitchFamily="34" charset="0"/>
            </a:endParaRPr>
          </a:p>
        </p:txBody>
      </p:sp>
    </p:spTree>
  </p:cSld>
  <p:clrMapOvr>
    <a:masterClrMapping/>
  </p:clrMapOvr>
  <p:transition spd="slow">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34817"/>
          <p:cNvSpPr>
            <a:spLocks noGrp="1" noChangeArrowheads="1"/>
          </p:cNvSpPr>
          <p:nvPr>
            <p:ph type="title"/>
          </p:nvPr>
        </p:nvSpPr>
        <p:spPr/>
        <p:txBody>
          <a:bodyPr/>
          <a:lstStyle/>
          <a:p>
            <a:endParaRPr lang="zh-CN" altLang="en-US"/>
          </a:p>
        </p:txBody>
      </p:sp>
      <p:sp>
        <p:nvSpPr>
          <p:cNvPr id="34819" name="内容占位符 34818"/>
          <p:cNvSpPr>
            <a:spLocks noGrp="1" noChangeArrowheads="1"/>
          </p:cNvSpPr>
          <p:nvPr>
            <p:ph idx="1"/>
          </p:nvPr>
        </p:nvSpPr>
        <p:spPr/>
        <p:txBody>
          <a:bodyPr/>
          <a:lstStyle/>
          <a:p>
            <a:r>
              <a:rPr lang="zh-CN" altLang="en-US"/>
              <a:t>优点是简单，能够实现按名存取。</a:t>
            </a:r>
            <a:endParaRPr lang="zh-CN" altLang="en-US"/>
          </a:p>
          <a:p>
            <a:r>
              <a:rPr lang="zh-CN" altLang="en-US"/>
              <a:t>单级目录结构有以下三个缺点：</a:t>
            </a:r>
            <a:endParaRPr lang="zh-CN" altLang="en-US"/>
          </a:p>
          <a:p>
            <a:pPr>
              <a:buFont typeface="Wingdings" panose="05000000000000000000" pitchFamily="2" charset="2"/>
              <a:buNone/>
            </a:pPr>
            <a:r>
              <a:rPr lang="zh-CN" altLang="en-US"/>
              <a:t>   </a:t>
            </a:r>
            <a:r>
              <a:rPr lang="en-US" altLang="zh-CN"/>
              <a:t>① </a:t>
            </a:r>
            <a:r>
              <a:rPr lang="zh-CN" altLang="en-US"/>
              <a:t>查找速度慢。</a:t>
            </a:r>
            <a:endParaRPr lang="zh-CN" altLang="en-US"/>
          </a:p>
          <a:p>
            <a:pPr>
              <a:buFont typeface="Wingdings" panose="05000000000000000000" pitchFamily="2" charset="2"/>
              <a:buNone/>
            </a:pPr>
            <a:r>
              <a:rPr lang="zh-CN" altLang="en-US"/>
              <a:t>   </a:t>
            </a:r>
            <a:r>
              <a:rPr lang="en-US" altLang="zh-CN"/>
              <a:t>② </a:t>
            </a:r>
            <a:r>
              <a:rPr lang="zh-CN" altLang="en-US"/>
              <a:t>不允许重名。</a:t>
            </a:r>
            <a:endParaRPr lang="zh-CN" altLang="en-US"/>
          </a:p>
          <a:p>
            <a:pPr>
              <a:buFont typeface="Wingdings" panose="05000000000000000000" pitchFamily="2" charset="2"/>
              <a:buNone/>
            </a:pPr>
            <a:r>
              <a:rPr lang="zh-CN" altLang="en-US"/>
              <a:t>   </a:t>
            </a:r>
            <a:r>
              <a:rPr lang="en-US" altLang="zh-CN"/>
              <a:t>③ </a:t>
            </a:r>
            <a:r>
              <a:rPr lang="zh-CN" altLang="en-US"/>
              <a:t>不便于共享。 </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arn(inHorizontal)">
                                      <p:cBhvr>
                                        <p:cTn id="7" dur="500"/>
                                        <p:tgtEl>
                                          <p:spTgt spid="34819">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34819">
                                            <p:txEl>
                                              <p:pRg st="1" end="1"/>
                                            </p:txEl>
                                          </p:spTgt>
                                        </p:tgtEl>
                                        <p:attrNameLst>
                                          <p:attrName>style.visibility</p:attrName>
                                        </p:attrNameLst>
                                      </p:cBhvr>
                                      <p:to>
                                        <p:strVal val="visible"/>
                                      </p:to>
                                    </p:set>
                                    <p:animEffect transition="in" filter="barn(inHorizontal)">
                                      <p:cBhvr>
                                        <p:cTn id="10" dur="500"/>
                                        <p:tgtEl>
                                          <p:spTgt spid="34819">
                                            <p:txEl>
                                              <p:pRg st="1" end="1"/>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34819">
                                            <p:txEl>
                                              <p:pRg st="2" end="2"/>
                                            </p:txEl>
                                          </p:spTgt>
                                        </p:tgtEl>
                                        <p:attrNameLst>
                                          <p:attrName>style.visibility</p:attrName>
                                        </p:attrNameLst>
                                      </p:cBhvr>
                                      <p:to>
                                        <p:strVal val="visible"/>
                                      </p:to>
                                    </p:set>
                                    <p:animEffect transition="in" filter="slide(fromBottom)">
                                      <p:cBhvr>
                                        <p:cTn id="13" dur="500"/>
                                        <p:tgtEl>
                                          <p:spTgt spid="34819">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34819">
                                            <p:txEl>
                                              <p:pRg st="3" end="3"/>
                                            </p:txEl>
                                          </p:spTgt>
                                        </p:tgtEl>
                                        <p:attrNameLst>
                                          <p:attrName>style.visibility</p:attrName>
                                        </p:attrNameLst>
                                      </p:cBhvr>
                                      <p:to>
                                        <p:strVal val="visible"/>
                                      </p:to>
                                    </p:set>
                                    <p:animEffect transition="in" filter="slide(fromBottom)">
                                      <p:cBhvr>
                                        <p:cTn id="16" dur="500"/>
                                        <p:tgtEl>
                                          <p:spTgt spid="34819">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34819">
                                            <p:txEl>
                                              <p:pRg st="4" end="4"/>
                                            </p:txEl>
                                          </p:spTgt>
                                        </p:tgtEl>
                                        <p:attrNameLst>
                                          <p:attrName>style.visibility</p:attrName>
                                        </p:attrNameLst>
                                      </p:cBhvr>
                                      <p:to>
                                        <p:strVal val="visible"/>
                                      </p:to>
                                    </p:set>
                                    <p:animEffect transition="in" filter="slide(fromBottom)">
                                      <p:cBhvr>
                                        <p:cTn id="19" dur="5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35841"/>
          <p:cNvSpPr>
            <a:spLocks noGrp="1" noChangeArrowheads="1"/>
          </p:cNvSpPr>
          <p:nvPr>
            <p:ph type="title"/>
          </p:nvPr>
        </p:nvSpPr>
        <p:spPr/>
        <p:txBody>
          <a:bodyPr/>
          <a:lstStyle/>
          <a:p>
            <a:r>
              <a:rPr lang="en-US" altLang="zh-CN" sz="3500"/>
              <a:t>6.3.3  </a:t>
            </a:r>
            <a:r>
              <a:rPr lang="zh-CN" altLang="en-US" sz="3500"/>
              <a:t>二级目录结构</a:t>
            </a:r>
            <a:br>
              <a:rPr lang="zh-CN" altLang="en-US" sz="3500"/>
            </a:br>
            <a:r>
              <a:rPr lang="zh-CN" altLang="en-US" sz="3500"/>
              <a:t>每个用户有自己的用户文件目录。</a:t>
            </a:r>
            <a:endParaRPr lang="zh-CN" altLang="en-US" sz="3500"/>
          </a:p>
        </p:txBody>
      </p:sp>
      <p:pic>
        <p:nvPicPr>
          <p:cNvPr id="31746" name="文本占位符 35843" descr="B61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371600" y="1981200"/>
            <a:ext cx="6019800" cy="3570288"/>
          </a:xfrm>
        </p:spPr>
      </p:pic>
      <p:sp>
        <p:nvSpPr>
          <p:cNvPr id="31747" name="矩形 35844"/>
          <p:cNvSpPr>
            <a:spLocks noChangeArrowheads="1"/>
          </p:cNvSpPr>
          <p:nvPr/>
        </p:nvSpPr>
        <p:spPr bwMode="auto">
          <a:xfrm>
            <a:off x="2819400" y="5715000"/>
            <a:ext cx="2386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6-11  </a:t>
            </a:r>
            <a:r>
              <a:rPr lang="zh-CN" altLang="en-US">
                <a:latin typeface="Tahoma" panose="020B0604030504040204" pitchFamily="34" charset="0"/>
              </a:rPr>
              <a:t>二级目录结构</a:t>
            </a:r>
            <a:endParaRPr lang="zh-CN" altLang="en-US">
              <a:latin typeface="Tahoma" panose="020B0604030504040204" pitchFamily="34" charset="0"/>
            </a:endParaRPr>
          </a:p>
        </p:txBody>
      </p:sp>
    </p:spTree>
  </p:cSld>
  <p:clrMapOvr>
    <a:masterClrMapping/>
  </p:clrMapOvr>
  <p:transition spd="slow">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36865"/>
          <p:cNvSpPr>
            <a:spLocks noGrp="1" noChangeArrowheads="1"/>
          </p:cNvSpPr>
          <p:nvPr>
            <p:ph type="title"/>
          </p:nvPr>
        </p:nvSpPr>
        <p:spPr/>
        <p:txBody>
          <a:bodyPr/>
          <a:lstStyle/>
          <a:p>
            <a:endParaRPr lang="zh-CN" altLang="en-US"/>
          </a:p>
        </p:txBody>
      </p:sp>
      <p:sp>
        <p:nvSpPr>
          <p:cNvPr id="36867" name="内容占位符 36866"/>
          <p:cNvSpPr>
            <a:spLocks noGrp="1" noChangeArrowheads="1"/>
          </p:cNvSpPr>
          <p:nvPr>
            <p:ph idx="1"/>
          </p:nvPr>
        </p:nvSpPr>
        <p:spPr/>
        <p:txBody>
          <a:bodyPr/>
          <a:lstStyle/>
          <a:p>
            <a:r>
              <a:rPr lang="zh-CN" altLang="en-US"/>
              <a:t>优点是：不同用户可有相同的文件名；提高了检索目录的速度；不同用户可用不同的文件名访问系统中同一文件。</a:t>
            </a:r>
            <a:endParaRPr lang="zh-CN" altLang="en-US"/>
          </a:p>
          <a:p>
            <a:r>
              <a:rPr lang="zh-CN" altLang="en-US"/>
              <a:t>缺点是这种结构仍不利于文件共享。</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 calcmode="lin" valueType="num">
                                      <p:cBhvr additive="base">
                                        <p:cTn id="7" dur="500" fill="hold"/>
                                        <p:tgtEl>
                                          <p:spTgt spid="368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anim calcmode="lin" valueType="num">
                                      <p:cBhvr additive="base">
                                        <p:cTn id="11"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37889"/>
          <p:cNvSpPr>
            <a:spLocks noGrp="1" noChangeArrowheads="1"/>
          </p:cNvSpPr>
          <p:nvPr>
            <p:ph type="title"/>
          </p:nvPr>
        </p:nvSpPr>
        <p:spPr/>
        <p:txBody>
          <a:bodyPr/>
          <a:lstStyle/>
          <a:p>
            <a:r>
              <a:rPr lang="en-US" altLang="zh-CN"/>
              <a:t>6.3.4  </a:t>
            </a:r>
            <a:r>
              <a:rPr lang="zh-CN" altLang="en-US"/>
              <a:t>树形目录结构</a:t>
            </a:r>
            <a:endParaRPr lang="zh-CN" altLang="en-US"/>
          </a:p>
        </p:txBody>
      </p:sp>
      <p:sp>
        <p:nvSpPr>
          <p:cNvPr id="37891" name="内容占位符 37890"/>
          <p:cNvSpPr>
            <a:spLocks noGrp="1" noChangeArrowheads="1"/>
          </p:cNvSpPr>
          <p:nvPr>
            <p:ph idx="1"/>
          </p:nvPr>
        </p:nvSpPr>
        <p:spPr/>
        <p:txBody>
          <a:bodyPr/>
          <a:lstStyle/>
          <a:p>
            <a:pPr>
              <a:buFont typeface="Wingdings" panose="05000000000000000000" pitchFamily="2" charset="2"/>
              <a:buNone/>
            </a:pPr>
            <a:r>
              <a:rPr lang="en-US" altLang="zh-CN"/>
              <a:t>1</a:t>
            </a:r>
            <a:r>
              <a:rPr lang="zh-CN" altLang="en-US"/>
              <a:t>．</a:t>
            </a:r>
            <a:r>
              <a:rPr lang="zh-CN" altLang="en-US">
                <a:solidFill>
                  <a:srgbClr val="0033CC"/>
                </a:solidFill>
              </a:rPr>
              <a:t>树形目录</a:t>
            </a:r>
            <a:endParaRPr lang="zh-CN" altLang="en-US">
              <a:solidFill>
                <a:srgbClr val="0033CC"/>
              </a:solidFill>
            </a:endParaRPr>
          </a:p>
          <a:p>
            <a:pPr>
              <a:buFont typeface="Wingdings" panose="05000000000000000000" pitchFamily="2" charset="2"/>
              <a:buNone/>
            </a:pPr>
            <a:r>
              <a:rPr lang="zh-CN" altLang="en-US"/>
              <a:t>   从根目录开始，一层一层地扩展下去，形成一个树形层次结构，每个目录的直接上一级目录称做该目录的</a:t>
            </a:r>
            <a:r>
              <a:rPr lang="zh-CN" altLang="en-US">
                <a:solidFill>
                  <a:srgbClr val="0033CC"/>
                </a:solidFill>
              </a:rPr>
              <a:t>父目录</a:t>
            </a:r>
            <a:r>
              <a:rPr lang="zh-CN" altLang="en-US"/>
              <a:t>，而它的直接下一级目录称做</a:t>
            </a:r>
            <a:r>
              <a:rPr lang="zh-CN" altLang="en-US">
                <a:solidFill>
                  <a:srgbClr val="0033CC"/>
                </a:solidFill>
              </a:rPr>
              <a:t>子目录</a:t>
            </a:r>
            <a:r>
              <a:rPr lang="zh-CN" altLang="en-US"/>
              <a:t>。</a:t>
            </a:r>
            <a:endParaRPr lang="zh-CN" altLang="en-US"/>
          </a:p>
          <a:p>
            <a:pPr>
              <a:buFont typeface="Wingdings" panose="05000000000000000000" pitchFamily="2" charset="2"/>
              <a:buNone/>
            </a:pPr>
            <a:r>
              <a:rPr lang="zh-CN" altLang="en-US"/>
              <a:t>   系统中的每个文件都有唯一的</a:t>
            </a:r>
            <a:r>
              <a:rPr lang="zh-CN" altLang="en-US">
                <a:solidFill>
                  <a:srgbClr val="FF0000"/>
                </a:solidFill>
              </a:rPr>
              <a:t>路径名</a:t>
            </a:r>
            <a:r>
              <a:rPr lang="zh-CN" altLang="en-US"/>
              <a:t>。</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Effect transition="in" filter="strips(downLeft)">
                                      <p:cBhvr>
                                        <p:cTn id="7" dur="500"/>
                                        <p:tgtEl>
                                          <p:spTgt spid="37891">
                                            <p:txEl>
                                              <p:pRg st="1" end="1"/>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37891">
                                            <p:txEl>
                                              <p:pRg st="2" end="2"/>
                                            </p:txEl>
                                          </p:spTgt>
                                        </p:tgtEl>
                                        <p:attrNameLst>
                                          <p:attrName>style.visibility</p:attrName>
                                        </p:attrNameLst>
                                      </p:cBhvr>
                                      <p:to>
                                        <p:strVal val="visible"/>
                                      </p:to>
                                    </p:set>
                                    <p:animEffect transition="in" filter="strips(downLeft)">
                                      <p:cBhvr>
                                        <p:cTn id="10" dur="500"/>
                                        <p:tgtEl>
                                          <p:spTgt spid="378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占位符 38914"/>
          <p:cNvSpPr>
            <a:spLocks noGrp="1" noChangeArrowheads="1"/>
          </p:cNvSpPr>
          <p:nvPr>
            <p:ph idx="1"/>
          </p:nvPr>
        </p:nvSpPr>
        <p:spPr>
          <a:xfrm>
            <a:off x="457200" y="381000"/>
            <a:ext cx="8229600" cy="5638800"/>
          </a:xfrm>
        </p:spPr>
        <p:txBody>
          <a:bodyPr/>
          <a:lstStyle/>
          <a:p>
            <a:endParaRPr lang="zh-CN" altLang="en-US"/>
          </a:p>
        </p:txBody>
      </p:sp>
      <p:pic>
        <p:nvPicPr>
          <p:cNvPr id="34818" name="图片 38915" descr="B6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9200" y="685800"/>
            <a:ext cx="6705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矩形 38916"/>
          <p:cNvSpPr>
            <a:spLocks noChangeArrowheads="1"/>
          </p:cNvSpPr>
          <p:nvPr/>
        </p:nvSpPr>
        <p:spPr bwMode="auto">
          <a:xfrm>
            <a:off x="3048000" y="5334000"/>
            <a:ext cx="2386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6-12  </a:t>
            </a:r>
            <a:r>
              <a:rPr lang="zh-CN" altLang="en-US">
                <a:latin typeface="Tahoma" panose="020B0604030504040204" pitchFamily="34" charset="0"/>
              </a:rPr>
              <a:t>树形目录结构</a:t>
            </a:r>
            <a:endParaRPr lang="zh-CN" altLang="en-US">
              <a:latin typeface="Tahoma" panose="020B0604030504040204" pitchFamily="34" charset="0"/>
            </a:endParaRPr>
          </a:p>
        </p:txBody>
      </p:sp>
    </p:spTree>
  </p:cSld>
  <p:clrMapOvr>
    <a:masterClrMapping/>
  </p:clrMapOvr>
  <p:transition spd="slow">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39937"/>
          <p:cNvSpPr>
            <a:spLocks noGrp="1" noChangeArrowheads="1"/>
          </p:cNvSpPr>
          <p:nvPr>
            <p:ph type="title"/>
          </p:nvPr>
        </p:nvSpPr>
        <p:spPr/>
        <p:txBody>
          <a:bodyPr/>
          <a:lstStyle/>
          <a:p>
            <a:r>
              <a:rPr lang="en-US" altLang="zh-CN" sz="3500"/>
              <a:t>2</a:t>
            </a:r>
            <a:r>
              <a:rPr lang="zh-CN" altLang="en-US" sz="3500"/>
              <a:t>．</a:t>
            </a:r>
            <a:r>
              <a:rPr lang="zh-CN" altLang="en-US" sz="3500">
                <a:solidFill>
                  <a:srgbClr val="0033CC"/>
                </a:solidFill>
              </a:rPr>
              <a:t>路径名</a:t>
            </a:r>
            <a:br>
              <a:rPr lang="zh-CN" altLang="en-US" sz="3500"/>
            </a:br>
            <a:endParaRPr lang="zh-CN" altLang="en-US" sz="3500"/>
          </a:p>
        </p:txBody>
      </p:sp>
      <p:sp>
        <p:nvSpPr>
          <p:cNvPr id="39939" name="内容占位符 39938"/>
          <p:cNvSpPr>
            <a:spLocks noGrp="1" noChangeArrowheads="1"/>
          </p:cNvSpPr>
          <p:nvPr>
            <p:ph idx="1"/>
          </p:nvPr>
        </p:nvSpPr>
        <p:spPr>
          <a:xfrm>
            <a:off x="533400" y="990600"/>
            <a:ext cx="8229600" cy="5410200"/>
          </a:xfrm>
        </p:spPr>
        <p:txBody>
          <a:bodyPr/>
          <a:lstStyle/>
          <a:p>
            <a:pPr>
              <a:lnSpc>
                <a:spcPct val="80000"/>
              </a:lnSpc>
              <a:buFont typeface="Wingdings" panose="05000000000000000000" pitchFamily="2" charset="2"/>
              <a:buNone/>
            </a:pPr>
            <a:r>
              <a:rPr lang="en-US" altLang="zh-CN" sz="2800"/>
              <a:t>    ① </a:t>
            </a:r>
            <a:r>
              <a:rPr lang="zh-CN" altLang="en-US" sz="2800">
                <a:solidFill>
                  <a:srgbClr val="0033CC"/>
                </a:solidFill>
              </a:rPr>
              <a:t>绝对路径名</a:t>
            </a:r>
            <a:r>
              <a:rPr lang="zh-CN" altLang="en-US" sz="2800"/>
              <a:t>。</a:t>
            </a:r>
            <a:endParaRPr lang="zh-CN" altLang="en-US" sz="2800"/>
          </a:p>
          <a:p>
            <a:pPr>
              <a:lnSpc>
                <a:spcPct val="80000"/>
              </a:lnSpc>
              <a:buFont typeface="Wingdings" panose="05000000000000000000" pitchFamily="2" charset="2"/>
              <a:buNone/>
            </a:pPr>
            <a:r>
              <a:rPr lang="zh-CN" altLang="en-US" sz="2800"/>
              <a:t>    又称全路径名，是指</a:t>
            </a:r>
            <a:r>
              <a:rPr lang="zh-CN" altLang="en-US" sz="2800">
                <a:solidFill>
                  <a:srgbClr val="FF0000"/>
                </a:solidFill>
              </a:rPr>
              <a:t>从根目录</a:t>
            </a:r>
            <a:r>
              <a:rPr lang="zh-CN" altLang="en-US" sz="2800"/>
              <a:t>开始到达所要查找文件的路径名。</a:t>
            </a:r>
            <a:endParaRPr lang="zh-CN" altLang="en-US" sz="2800"/>
          </a:p>
          <a:p>
            <a:pPr>
              <a:lnSpc>
                <a:spcPct val="80000"/>
              </a:lnSpc>
              <a:buFont typeface="Wingdings" panose="05000000000000000000" pitchFamily="2" charset="2"/>
              <a:buNone/>
            </a:pPr>
            <a:r>
              <a:rPr lang="zh-CN" altLang="en-US" sz="2800"/>
              <a:t>          </a:t>
            </a:r>
            <a:r>
              <a:rPr lang="en-US" altLang="zh-CN" sz="2800"/>
              <a:t>( root )/usr/ml/prog/f1.c</a:t>
            </a:r>
            <a:endParaRPr lang="en-US" altLang="zh-CN" sz="2800"/>
          </a:p>
          <a:p>
            <a:pPr>
              <a:lnSpc>
                <a:spcPct val="80000"/>
              </a:lnSpc>
              <a:buFont typeface="Wingdings" panose="05000000000000000000" pitchFamily="2" charset="2"/>
              <a:buNone/>
            </a:pPr>
            <a:r>
              <a:rPr lang="en-US" altLang="zh-CN" sz="2800"/>
              <a:t>    ② </a:t>
            </a:r>
            <a:r>
              <a:rPr lang="zh-CN" altLang="en-US" sz="2800">
                <a:solidFill>
                  <a:srgbClr val="0033CC"/>
                </a:solidFill>
              </a:rPr>
              <a:t>相对路径名</a:t>
            </a:r>
            <a:r>
              <a:rPr lang="zh-CN" altLang="en-US" sz="2800"/>
              <a:t>。</a:t>
            </a:r>
            <a:endParaRPr lang="zh-CN" altLang="en-US" sz="2800"/>
          </a:p>
          <a:p>
            <a:pPr>
              <a:lnSpc>
                <a:spcPct val="80000"/>
              </a:lnSpc>
              <a:buFont typeface="Wingdings" panose="05000000000000000000" pitchFamily="2" charset="2"/>
              <a:buNone/>
            </a:pPr>
            <a:r>
              <a:rPr lang="zh-CN" altLang="en-US" sz="2800"/>
              <a:t>   绝对路径名从根目录开始书写，如：</a:t>
            </a:r>
            <a:endParaRPr lang="zh-CN" altLang="en-US" sz="2800"/>
          </a:p>
          <a:p>
            <a:pPr>
              <a:lnSpc>
                <a:spcPct val="80000"/>
              </a:lnSpc>
              <a:buFont typeface="Wingdings" panose="05000000000000000000" pitchFamily="2" charset="2"/>
              <a:buNone/>
            </a:pPr>
            <a:r>
              <a:rPr lang="zh-CN" altLang="en-US" sz="2800"/>
              <a:t>          </a:t>
            </a:r>
            <a:r>
              <a:rPr lang="en-US" altLang="zh-CN" sz="2800"/>
              <a:t>/usr/ml/prog/f1.c</a:t>
            </a:r>
            <a:endParaRPr lang="en-US" altLang="zh-CN" sz="2800"/>
          </a:p>
          <a:p>
            <a:pPr>
              <a:lnSpc>
                <a:spcPct val="80000"/>
              </a:lnSpc>
              <a:buFont typeface="Wingdings" panose="05000000000000000000" pitchFamily="2" charset="2"/>
              <a:buNone/>
            </a:pPr>
            <a:r>
              <a:rPr lang="en-US" altLang="zh-CN" sz="2800"/>
              <a:t>    </a:t>
            </a:r>
            <a:r>
              <a:rPr lang="zh-CN" altLang="en-US" sz="2800"/>
              <a:t>而相对路径名是</a:t>
            </a:r>
            <a:r>
              <a:rPr lang="zh-CN" altLang="en-US" sz="2800">
                <a:solidFill>
                  <a:srgbClr val="FF0000"/>
                </a:solidFill>
              </a:rPr>
              <a:t>从当前目录</a:t>
            </a:r>
            <a:r>
              <a:rPr lang="zh-CN" altLang="en-US" sz="2800"/>
              <a:t>的下级开始书写，如当前目录是</a:t>
            </a:r>
            <a:r>
              <a:rPr lang="en-US" altLang="zh-CN" sz="2800"/>
              <a:t>/usr/ml</a:t>
            </a:r>
            <a:r>
              <a:rPr lang="zh-CN" altLang="en-US" sz="2800"/>
              <a:t>，则有：         </a:t>
            </a:r>
            <a:r>
              <a:rPr lang="en-US" altLang="zh-CN" sz="2800"/>
              <a:t>prog/f1.c</a:t>
            </a:r>
            <a:endParaRPr lang="en-US" altLang="zh-CN" sz="2800"/>
          </a:p>
          <a:p>
            <a:pPr>
              <a:lnSpc>
                <a:spcPct val="80000"/>
              </a:lnSpc>
              <a:buFont typeface="Wingdings" panose="05000000000000000000" pitchFamily="2" charset="2"/>
              <a:buNone/>
            </a:pPr>
            <a:r>
              <a:rPr lang="en-US" altLang="zh-CN" sz="2800"/>
              <a:t>         </a:t>
            </a:r>
            <a:endParaRPr lang="en-US" altLang="zh-CN" sz="2800"/>
          </a:p>
          <a:p>
            <a:pPr>
              <a:lnSpc>
                <a:spcPct val="80000"/>
              </a:lnSpc>
              <a:buFont typeface="Wingdings" panose="05000000000000000000" pitchFamily="2" charset="2"/>
              <a:buNone/>
            </a:pPr>
            <a:r>
              <a:rPr lang="en-US" altLang="zh-CN" sz="2800"/>
              <a:t>         </a:t>
            </a:r>
            <a:r>
              <a:rPr lang="zh-CN" altLang="en-US" sz="2400"/>
              <a:t>文件的层次和隶属关系很清晰，便于实现不同级别的存取保护和文件系统的动态装卸。但是，在上述纯树形目录结构中，只能在用户级对文件进行临时共享。</a:t>
            </a: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anim calcmode="lin" valueType="num">
                                      <p:cBhvr additive="base">
                                        <p:cTn id="7"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939">
                                            <p:txEl>
                                              <p:pRg st="2" end="2"/>
                                            </p:txEl>
                                          </p:spTgt>
                                        </p:tgtEl>
                                        <p:attrNameLst>
                                          <p:attrName>style.visibility</p:attrName>
                                        </p:attrNameLst>
                                      </p:cBhvr>
                                      <p:to>
                                        <p:strVal val="visible"/>
                                      </p:to>
                                    </p:set>
                                    <p:anim calcmode="lin" valueType="num">
                                      <p:cBhvr additive="base">
                                        <p:cTn id="11"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9" presetClass="entr" presetSubtype="0" fill="hold" nodeType="clickEffect">
                                  <p:stCondLst>
                                    <p:cond delay="0"/>
                                  </p:stCondLst>
                                  <p:childTnLst>
                                    <p:set>
                                      <p:cBhvr>
                                        <p:cTn id="16" dur="1" fill="hold">
                                          <p:stCondLst>
                                            <p:cond delay="0"/>
                                          </p:stCondLst>
                                        </p:cTn>
                                        <p:tgtEl>
                                          <p:spTgt spid="39939">
                                            <p:txEl>
                                              <p:pRg st="4" end="4"/>
                                            </p:txEl>
                                          </p:spTgt>
                                        </p:tgtEl>
                                        <p:attrNameLst>
                                          <p:attrName>style.visibility</p:attrName>
                                        </p:attrNameLst>
                                      </p:cBhvr>
                                      <p:to>
                                        <p:strVal val="visible"/>
                                      </p:to>
                                    </p:set>
                                    <p:anim calcmode="lin" valueType="num">
                                      <p:cBhvr>
                                        <p:cTn id="17" dur="1000" fill="hold"/>
                                        <p:tgtEl>
                                          <p:spTgt spid="39939">
                                            <p:txEl>
                                              <p:pRg st="4" end="4"/>
                                            </p:txEl>
                                          </p:spTgt>
                                        </p:tgtEl>
                                        <p:attrNameLst>
                                          <p:attrName>ppt_x</p:attrName>
                                        </p:attrNameLst>
                                      </p:cBhvr>
                                      <p:tavLst>
                                        <p:tav tm="0">
                                          <p:val>
                                            <p:strVal val="#ppt_x-.2"/>
                                          </p:val>
                                        </p:tav>
                                        <p:tav tm="100000">
                                          <p:val>
                                            <p:strVal val="#ppt_x"/>
                                          </p:val>
                                        </p:tav>
                                      </p:tavLst>
                                    </p:anim>
                                    <p:anim calcmode="lin" valueType="num">
                                      <p:cBhvr>
                                        <p:cTn id="18" dur="1000" fill="hold"/>
                                        <p:tgtEl>
                                          <p:spTgt spid="39939">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19" dur="1000"/>
                                        <p:tgtEl>
                                          <p:spTgt spid="39939">
                                            <p:txEl>
                                              <p:pRg st="4" end="4"/>
                                            </p:txEl>
                                          </p:spTgt>
                                        </p:tgtEl>
                                      </p:cBhvr>
                                    </p:animEffect>
                                  </p:childTnLst>
                                </p:cTn>
                              </p:par>
                              <p:par>
                                <p:cTn id="20" presetID="29" presetClass="entr" presetSubtype="0" fill="hold" nodeType="withEffect">
                                  <p:stCondLst>
                                    <p:cond delay="0"/>
                                  </p:stCondLst>
                                  <p:childTnLst>
                                    <p:set>
                                      <p:cBhvr>
                                        <p:cTn id="21" dur="1" fill="hold">
                                          <p:stCondLst>
                                            <p:cond delay="0"/>
                                          </p:stCondLst>
                                        </p:cTn>
                                        <p:tgtEl>
                                          <p:spTgt spid="39939">
                                            <p:txEl>
                                              <p:pRg st="5" end="5"/>
                                            </p:txEl>
                                          </p:spTgt>
                                        </p:tgtEl>
                                        <p:attrNameLst>
                                          <p:attrName>style.visibility</p:attrName>
                                        </p:attrNameLst>
                                      </p:cBhvr>
                                      <p:to>
                                        <p:strVal val="visible"/>
                                      </p:to>
                                    </p:set>
                                    <p:anim calcmode="lin" valueType="num">
                                      <p:cBhvr>
                                        <p:cTn id="22" dur="1000" fill="hold"/>
                                        <p:tgtEl>
                                          <p:spTgt spid="39939">
                                            <p:txEl>
                                              <p:pRg st="5" end="5"/>
                                            </p:txEl>
                                          </p:spTgt>
                                        </p:tgtEl>
                                        <p:attrNameLst>
                                          <p:attrName>ppt_x</p:attrName>
                                        </p:attrNameLst>
                                      </p:cBhvr>
                                      <p:tavLst>
                                        <p:tav tm="0">
                                          <p:val>
                                            <p:strVal val="#ppt_x-.2"/>
                                          </p:val>
                                        </p:tav>
                                        <p:tav tm="100000">
                                          <p:val>
                                            <p:strVal val="#ppt_x"/>
                                          </p:val>
                                        </p:tav>
                                      </p:tavLst>
                                    </p:anim>
                                    <p:anim calcmode="lin" valueType="num">
                                      <p:cBhvr>
                                        <p:cTn id="23" dur="1000" fill="hold"/>
                                        <p:tgtEl>
                                          <p:spTgt spid="3993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24" dur="1000"/>
                                        <p:tgtEl>
                                          <p:spTgt spid="39939">
                                            <p:txEl>
                                              <p:pRg st="5" end="5"/>
                                            </p:txEl>
                                          </p:spTgt>
                                        </p:tgtEl>
                                      </p:cBhvr>
                                    </p:animEffect>
                                  </p:childTnLst>
                                </p:cTn>
                              </p:par>
                              <p:par>
                                <p:cTn id="25" presetID="29" presetClass="entr" presetSubtype="0" fill="hold" nodeType="withEffect">
                                  <p:stCondLst>
                                    <p:cond delay="0"/>
                                  </p:stCondLst>
                                  <p:childTnLst>
                                    <p:set>
                                      <p:cBhvr>
                                        <p:cTn id="26" dur="1" fill="hold">
                                          <p:stCondLst>
                                            <p:cond delay="0"/>
                                          </p:stCondLst>
                                        </p:cTn>
                                        <p:tgtEl>
                                          <p:spTgt spid="39939">
                                            <p:txEl>
                                              <p:pRg st="6" end="6"/>
                                            </p:txEl>
                                          </p:spTgt>
                                        </p:tgtEl>
                                        <p:attrNameLst>
                                          <p:attrName>style.visibility</p:attrName>
                                        </p:attrNameLst>
                                      </p:cBhvr>
                                      <p:to>
                                        <p:strVal val="visible"/>
                                      </p:to>
                                    </p:set>
                                    <p:anim calcmode="lin" valueType="num">
                                      <p:cBhvr>
                                        <p:cTn id="27" dur="1000" fill="hold"/>
                                        <p:tgtEl>
                                          <p:spTgt spid="39939">
                                            <p:txEl>
                                              <p:pRg st="6" end="6"/>
                                            </p:txEl>
                                          </p:spTgt>
                                        </p:tgtEl>
                                        <p:attrNameLst>
                                          <p:attrName>ppt_x</p:attrName>
                                        </p:attrNameLst>
                                      </p:cBhvr>
                                      <p:tavLst>
                                        <p:tav tm="0">
                                          <p:val>
                                            <p:strVal val="#ppt_x-.2"/>
                                          </p:val>
                                        </p:tav>
                                        <p:tav tm="100000">
                                          <p:val>
                                            <p:strVal val="#ppt_x"/>
                                          </p:val>
                                        </p:tav>
                                      </p:tavLst>
                                    </p:anim>
                                    <p:anim calcmode="lin" valueType="num">
                                      <p:cBhvr>
                                        <p:cTn id="28" dur="1000" fill="hold"/>
                                        <p:tgtEl>
                                          <p:spTgt spid="39939">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29" dur="1000"/>
                                        <p:tgtEl>
                                          <p:spTgt spid="39939">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6" fill="hold" nodeType="clickEffect">
                                  <p:stCondLst>
                                    <p:cond delay="0"/>
                                  </p:stCondLst>
                                  <p:childTnLst>
                                    <p:set>
                                      <p:cBhvr>
                                        <p:cTn id="33" dur="1" fill="hold">
                                          <p:stCondLst>
                                            <p:cond delay="0"/>
                                          </p:stCondLst>
                                        </p:cTn>
                                        <p:tgtEl>
                                          <p:spTgt spid="39939">
                                            <p:txEl>
                                              <p:pRg st="7" end="7"/>
                                            </p:txEl>
                                          </p:spTgt>
                                        </p:tgtEl>
                                        <p:attrNameLst>
                                          <p:attrName>style.visibility</p:attrName>
                                        </p:attrNameLst>
                                      </p:cBhvr>
                                      <p:to>
                                        <p:strVal val="visible"/>
                                      </p:to>
                                    </p:set>
                                    <p:animEffect transition="in" filter="barn(inHorizontal)">
                                      <p:cBhvr>
                                        <p:cTn id="34" dur="500"/>
                                        <p:tgtEl>
                                          <p:spTgt spid="39939">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6" fill="hold" nodeType="clickEffect">
                                  <p:stCondLst>
                                    <p:cond delay="0"/>
                                  </p:stCondLst>
                                  <p:childTnLst>
                                    <p:set>
                                      <p:cBhvr>
                                        <p:cTn id="38" dur="1" fill="hold">
                                          <p:stCondLst>
                                            <p:cond delay="0"/>
                                          </p:stCondLst>
                                        </p:cTn>
                                        <p:tgtEl>
                                          <p:spTgt spid="39939">
                                            <p:txEl>
                                              <p:pRg st="8" end="8"/>
                                            </p:txEl>
                                          </p:spTgt>
                                        </p:tgtEl>
                                        <p:attrNameLst>
                                          <p:attrName>style.visibility</p:attrName>
                                        </p:attrNameLst>
                                      </p:cBhvr>
                                      <p:to>
                                        <p:strVal val="visible"/>
                                      </p:to>
                                    </p:set>
                                    <p:animEffect transition="in" filter="barn(inHorizontal)">
                                      <p:cBhvr>
                                        <p:cTn id="39" dur="500"/>
                                        <p:tgtEl>
                                          <p:spTgt spid="3993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40961"/>
          <p:cNvSpPr>
            <a:spLocks noGrp="1" noChangeArrowheads="1"/>
          </p:cNvSpPr>
          <p:nvPr>
            <p:ph type="title"/>
          </p:nvPr>
        </p:nvSpPr>
        <p:spPr/>
        <p:txBody>
          <a:bodyPr/>
          <a:lstStyle/>
          <a:p>
            <a:r>
              <a:rPr lang="en-US" altLang="zh-CN" sz="3500"/>
              <a:t>6.3.5  </a:t>
            </a:r>
            <a:r>
              <a:rPr lang="zh-CN" altLang="en-US" sz="3500"/>
              <a:t>非循环图目录结构</a:t>
            </a:r>
            <a:br>
              <a:rPr lang="zh-CN" altLang="en-US" sz="3500"/>
            </a:br>
            <a:endParaRPr lang="zh-CN" altLang="en-US" sz="3500"/>
          </a:p>
        </p:txBody>
      </p:sp>
      <p:sp>
        <p:nvSpPr>
          <p:cNvPr id="36866" name="文本占位符 40962"/>
          <p:cNvSpPr>
            <a:spLocks noGrp="1" noChangeArrowheads="1"/>
          </p:cNvSpPr>
          <p:nvPr>
            <p:ph idx="1"/>
          </p:nvPr>
        </p:nvSpPr>
        <p:spPr>
          <a:xfrm>
            <a:off x="457200" y="1066800"/>
            <a:ext cx="8229600" cy="4953000"/>
          </a:xfrm>
        </p:spPr>
        <p:txBody>
          <a:bodyPr/>
          <a:lstStyle/>
          <a:p>
            <a:r>
              <a:rPr lang="zh-CN" altLang="en-US"/>
              <a:t>它允许一个文件或目录在多个父目录中占有项目，但并不构成环路。</a:t>
            </a:r>
            <a:endParaRPr lang="zh-CN" altLang="en-US"/>
          </a:p>
          <a:p>
            <a:r>
              <a:rPr lang="zh-CN" altLang="en-US"/>
              <a:t>这种结构方式叫做</a:t>
            </a:r>
            <a:r>
              <a:rPr lang="zh-CN" altLang="en-US">
                <a:solidFill>
                  <a:srgbClr val="0033CC"/>
                </a:solidFill>
              </a:rPr>
              <a:t>链接</a:t>
            </a:r>
            <a:r>
              <a:rPr lang="zh-CN" altLang="en-US"/>
              <a:t>（</a:t>
            </a:r>
            <a:r>
              <a:rPr lang="en-US" altLang="zh-CN"/>
              <a:t>Link</a:t>
            </a:r>
            <a:r>
              <a:rPr lang="zh-CN" altLang="en-US"/>
              <a:t>）。</a:t>
            </a:r>
            <a:endParaRPr lang="zh-CN" altLang="en-US"/>
          </a:p>
        </p:txBody>
      </p:sp>
      <p:pic>
        <p:nvPicPr>
          <p:cNvPr id="36867" name="图片 40963" descr="B6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2743200"/>
            <a:ext cx="64008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矩形 40964"/>
          <p:cNvSpPr>
            <a:spLocks noChangeArrowheads="1"/>
          </p:cNvSpPr>
          <p:nvPr/>
        </p:nvSpPr>
        <p:spPr bwMode="auto">
          <a:xfrm>
            <a:off x="2819400" y="6491288"/>
            <a:ext cx="2843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6-13  </a:t>
            </a:r>
            <a:r>
              <a:rPr lang="zh-CN" altLang="en-US">
                <a:latin typeface="Tahoma" panose="020B0604030504040204" pitchFamily="34" charset="0"/>
              </a:rPr>
              <a:t>非循环图目录结构</a:t>
            </a:r>
            <a:endParaRPr lang="zh-CN" altLang="en-US">
              <a:latin typeface="Tahoma" panose="020B0604030504040204" pitchFamily="34" charset="0"/>
            </a:endParaRPr>
          </a:p>
        </p:txBody>
      </p:sp>
    </p:spTree>
  </p:cSld>
  <p:clrMapOvr>
    <a:masterClrMapping/>
  </p:clrMapOvr>
  <p:transition spd="slow">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41985"/>
          <p:cNvSpPr>
            <a:spLocks noGrp="1" noChangeArrowheads="1"/>
          </p:cNvSpPr>
          <p:nvPr>
            <p:ph type="title"/>
          </p:nvPr>
        </p:nvSpPr>
        <p:spPr/>
        <p:txBody>
          <a:bodyPr/>
          <a:lstStyle/>
          <a:p>
            <a:r>
              <a:rPr lang="en-US" altLang="zh-CN"/>
              <a:t>6.3.6 </a:t>
            </a:r>
            <a:r>
              <a:rPr lang="zh-CN" altLang="en-US"/>
              <a:t>目录查询方法</a:t>
            </a:r>
            <a:endParaRPr lang="zh-CN" altLang="en-US"/>
          </a:p>
        </p:txBody>
      </p:sp>
      <p:sp>
        <p:nvSpPr>
          <p:cNvPr id="41987" name="内容占位符 41986"/>
          <p:cNvSpPr>
            <a:spLocks noGrp="1" noChangeArrowheads="1"/>
          </p:cNvSpPr>
          <p:nvPr>
            <p:ph idx="1"/>
          </p:nvPr>
        </p:nvSpPr>
        <p:spPr>
          <a:xfrm>
            <a:off x="685800" y="1719263"/>
            <a:ext cx="8001000" cy="4411662"/>
          </a:xfrm>
        </p:spPr>
        <p:txBody>
          <a:bodyPr/>
          <a:lstStyle/>
          <a:p>
            <a:pPr>
              <a:lnSpc>
                <a:spcPct val="90000"/>
              </a:lnSpc>
              <a:buFont typeface="Wingdings" panose="05000000000000000000" pitchFamily="2" charset="2"/>
              <a:buNone/>
            </a:pPr>
            <a:r>
              <a:rPr lang="en-US" altLang="zh-CN"/>
              <a:t>1</a:t>
            </a:r>
            <a:r>
              <a:rPr lang="zh-CN" altLang="en-US"/>
              <a:t>．</a:t>
            </a:r>
            <a:r>
              <a:rPr lang="zh-CN" altLang="en-US">
                <a:solidFill>
                  <a:srgbClr val="0033CC"/>
                </a:solidFill>
              </a:rPr>
              <a:t>线性检索法</a:t>
            </a:r>
            <a:endParaRPr lang="zh-CN" altLang="en-US">
              <a:solidFill>
                <a:srgbClr val="0033CC"/>
              </a:solidFill>
            </a:endParaRPr>
          </a:p>
          <a:p>
            <a:pPr>
              <a:lnSpc>
                <a:spcPct val="90000"/>
              </a:lnSpc>
              <a:buFont typeface="Wingdings" panose="05000000000000000000" pitchFamily="2" charset="2"/>
              <a:buNone/>
            </a:pPr>
            <a:r>
              <a:rPr lang="zh-CN" altLang="en-US"/>
              <a:t>    又称顺序检索法</a:t>
            </a:r>
            <a:r>
              <a:rPr lang="en-US" altLang="zh-CN"/>
              <a:t>,</a:t>
            </a:r>
            <a:r>
              <a:rPr lang="zh-CN" altLang="en-US"/>
              <a:t>目录文件由目录项构成线性表</a:t>
            </a:r>
            <a:r>
              <a:rPr lang="en-US" altLang="zh-CN"/>
              <a:t>,</a:t>
            </a:r>
            <a:r>
              <a:rPr lang="zh-CN" altLang="en-US"/>
              <a:t>包含文件名和指向数据块的指针</a:t>
            </a:r>
            <a:r>
              <a:rPr lang="en-US" altLang="zh-CN"/>
              <a:t>,</a:t>
            </a:r>
            <a:r>
              <a:rPr lang="zh-CN" altLang="en-US"/>
              <a:t>简单易行速度慢</a:t>
            </a:r>
            <a:r>
              <a:rPr lang="en-US" altLang="zh-CN"/>
              <a:t>.</a:t>
            </a:r>
            <a:endParaRPr lang="en-US" altLang="zh-CN"/>
          </a:p>
          <a:p>
            <a:pPr>
              <a:lnSpc>
                <a:spcPct val="90000"/>
              </a:lnSpc>
              <a:buFont typeface="Wingdings" panose="05000000000000000000" pitchFamily="2" charset="2"/>
              <a:buNone/>
            </a:pPr>
            <a:r>
              <a:rPr lang="en-US" altLang="zh-CN"/>
              <a:t>2</a:t>
            </a:r>
            <a:r>
              <a:rPr lang="zh-CN" altLang="en-US"/>
              <a:t>．</a:t>
            </a:r>
            <a:r>
              <a:rPr lang="zh-CN" altLang="en-US">
                <a:solidFill>
                  <a:srgbClr val="0033CC"/>
                </a:solidFill>
              </a:rPr>
              <a:t>散列法</a:t>
            </a:r>
            <a:endParaRPr lang="zh-CN" altLang="en-US">
              <a:solidFill>
                <a:srgbClr val="0033CC"/>
              </a:solidFill>
            </a:endParaRPr>
          </a:p>
          <a:p>
            <a:pPr>
              <a:lnSpc>
                <a:spcPct val="90000"/>
              </a:lnSpc>
              <a:buFont typeface="Wingdings" panose="05000000000000000000" pitchFamily="2" charset="2"/>
              <a:buNone/>
            </a:pPr>
            <a:r>
              <a:rPr lang="zh-CN" altLang="en-US"/>
              <a:t>   散列法需要有目录文件和散列表，每个散列值是由文件名计算出来的，并且散列表项中有指向线性表中文件名的指针。</a:t>
            </a:r>
            <a:endParaRPr lang="zh-CN" altLang="en-US"/>
          </a:p>
          <a:p>
            <a:pPr>
              <a:lnSpc>
                <a:spcPct val="90000"/>
              </a:lnSpc>
              <a:buFont typeface="Wingdings" panose="05000000000000000000" pitchFamily="2" charset="2"/>
              <a:buNone/>
            </a:pPr>
            <a:r>
              <a:rPr lang="zh-CN" altLang="en-US"/>
              <a:t>缺点</a:t>
            </a:r>
            <a:r>
              <a:rPr lang="en-US" altLang="zh-CN"/>
              <a:t>:</a:t>
            </a:r>
            <a:r>
              <a:rPr lang="zh-CN" altLang="en-US"/>
              <a:t>维护和控制困难</a:t>
            </a:r>
            <a:r>
              <a:rPr lang="en-US" altLang="zh-CN"/>
              <a:t>,</a:t>
            </a:r>
            <a:r>
              <a:rPr lang="zh-CN" altLang="en-US"/>
              <a:t>容易造成目录混乱</a:t>
            </a:r>
            <a:r>
              <a:rPr lang="en-US" altLang="zh-CN"/>
              <a:t>.</a:t>
            </a:r>
            <a:endParaRPr lang="en-US" altLang="zh-CN"/>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 calcmode="lin" valueType="num">
                                      <p:cBhvr additive="base">
                                        <p:cTn id="7"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1987">
                                            <p:txEl>
                                              <p:pRg st="3" end="3"/>
                                            </p:txEl>
                                          </p:spTgt>
                                        </p:tgtEl>
                                        <p:attrNameLst>
                                          <p:attrName>style.visibility</p:attrName>
                                        </p:attrNameLst>
                                      </p:cBhvr>
                                      <p:to>
                                        <p:strVal val="visible"/>
                                      </p:to>
                                    </p:set>
                                    <p:anim calcmode="lin" valueType="num">
                                      <p:cBhvr additive="base">
                                        <p:cTn id="11" dur="5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198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987">
                                            <p:txEl>
                                              <p:pRg st="4" end="4"/>
                                            </p:txEl>
                                          </p:spTgt>
                                        </p:tgtEl>
                                        <p:attrNameLst>
                                          <p:attrName>style.visibility</p:attrName>
                                        </p:attrNameLst>
                                      </p:cBhvr>
                                      <p:to>
                                        <p:strVal val="visible"/>
                                      </p:to>
                                    </p:set>
                                    <p:anim calcmode="lin" valueType="num">
                                      <p:cBhvr additive="base">
                                        <p:cTn id="15" dur="500" fill="hold"/>
                                        <p:tgtEl>
                                          <p:spTgt spid="41987">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19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44033"/>
          <p:cNvSpPr>
            <a:spLocks noGrp="1" noChangeArrowheads="1"/>
          </p:cNvSpPr>
          <p:nvPr>
            <p:ph type="title"/>
          </p:nvPr>
        </p:nvSpPr>
        <p:spPr/>
        <p:txBody>
          <a:bodyPr/>
          <a:lstStyle/>
          <a:p>
            <a:r>
              <a:rPr lang="en-US" altLang="zh-CN" sz="3500"/>
              <a:t>6.4.1  </a:t>
            </a:r>
            <a:r>
              <a:rPr lang="zh-CN" altLang="en-US" sz="3500"/>
              <a:t>文件操作</a:t>
            </a:r>
            <a:endParaRPr lang="zh-CN" altLang="en-US" sz="3500"/>
          </a:p>
        </p:txBody>
      </p:sp>
      <p:sp>
        <p:nvSpPr>
          <p:cNvPr id="44035" name="内容占位符 44034"/>
          <p:cNvSpPr>
            <a:spLocks noGrp="1" noChangeArrowheads="1"/>
          </p:cNvSpPr>
          <p:nvPr>
            <p:ph idx="1"/>
          </p:nvPr>
        </p:nvSpPr>
        <p:spPr/>
        <p:txBody>
          <a:bodyPr/>
          <a:lstStyle/>
          <a:p>
            <a:pPr>
              <a:lnSpc>
                <a:spcPct val="80000"/>
              </a:lnSpc>
              <a:buFont typeface="Wingdings" panose="05000000000000000000" pitchFamily="2" charset="2"/>
              <a:buNone/>
            </a:pPr>
            <a:r>
              <a:rPr lang="en-US" altLang="zh-CN" sz="2600"/>
              <a:t>   1</a:t>
            </a:r>
            <a:r>
              <a:rPr lang="zh-CN" altLang="en-US" sz="2600"/>
              <a:t>．创建文件</a:t>
            </a:r>
            <a:r>
              <a:rPr lang="en-US" altLang="zh-CN" sz="2600"/>
              <a:t>create</a:t>
            </a:r>
            <a:endParaRPr lang="en-US" altLang="zh-CN" sz="2600"/>
          </a:p>
          <a:p>
            <a:pPr>
              <a:lnSpc>
                <a:spcPct val="80000"/>
              </a:lnSpc>
              <a:buFont typeface="Wingdings" panose="05000000000000000000" pitchFamily="2" charset="2"/>
              <a:buNone/>
            </a:pPr>
            <a:r>
              <a:rPr lang="en-US" altLang="zh-CN" sz="2600"/>
              <a:t>   2</a:t>
            </a:r>
            <a:r>
              <a:rPr lang="zh-CN" altLang="en-US" sz="2600"/>
              <a:t>．删除文件</a:t>
            </a:r>
            <a:r>
              <a:rPr lang="en-US" altLang="zh-CN" sz="2600"/>
              <a:t>delete</a:t>
            </a:r>
            <a:endParaRPr lang="en-US" altLang="zh-CN" sz="2600"/>
          </a:p>
          <a:p>
            <a:pPr>
              <a:lnSpc>
                <a:spcPct val="80000"/>
              </a:lnSpc>
              <a:buFont typeface="Wingdings" panose="05000000000000000000" pitchFamily="2" charset="2"/>
              <a:buNone/>
            </a:pPr>
            <a:r>
              <a:rPr lang="en-US" altLang="zh-CN" sz="2600"/>
              <a:t>   3</a:t>
            </a:r>
            <a:r>
              <a:rPr lang="zh-CN" altLang="en-US" sz="2600"/>
              <a:t>．打开文件</a:t>
            </a:r>
            <a:r>
              <a:rPr lang="en-US" altLang="zh-CN" sz="2600"/>
              <a:t>open</a:t>
            </a:r>
            <a:endParaRPr lang="en-US" altLang="zh-CN" sz="2600"/>
          </a:p>
          <a:p>
            <a:pPr>
              <a:lnSpc>
                <a:spcPct val="80000"/>
              </a:lnSpc>
              <a:buFont typeface="Wingdings" panose="05000000000000000000" pitchFamily="2" charset="2"/>
              <a:buNone/>
            </a:pPr>
            <a:r>
              <a:rPr lang="en-US" altLang="zh-CN" sz="2600"/>
              <a:t>   4</a:t>
            </a:r>
            <a:r>
              <a:rPr lang="zh-CN" altLang="en-US" sz="2600"/>
              <a:t>．关闭文件</a:t>
            </a:r>
            <a:r>
              <a:rPr lang="en-US" altLang="zh-CN" sz="2600"/>
              <a:t>close</a:t>
            </a:r>
            <a:endParaRPr lang="en-US" altLang="zh-CN" sz="2600"/>
          </a:p>
          <a:p>
            <a:pPr>
              <a:lnSpc>
                <a:spcPct val="80000"/>
              </a:lnSpc>
              <a:buFont typeface="Wingdings" panose="05000000000000000000" pitchFamily="2" charset="2"/>
              <a:buNone/>
            </a:pPr>
            <a:r>
              <a:rPr lang="en-US" altLang="zh-CN" sz="2600"/>
              <a:t>   5</a:t>
            </a:r>
            <a:r>
              <a:rPr lang="zh-CN" altLang="en-US" sz="2600"/>
              <a:t>．读文件</a:t>
            </a:r>
            <a:r>
              <a:rPr lang="en-US" altLang="zh-CN" sz="2600"/>
              <a:t>read</a:t>
            </a:r>
            <a:endParaRPr lang="en-US" altLang="zh-CN" sz="2600"/>
          </a:p>
          <a:p>
            <a:pPr>
              <a:lnSpc>
                <a:spcPct val="80000"/>
              </a:lnSpc>
              <a:buFont typeface="Wingdings" panose="05000000000000000000" pitchFamily="2" charset="2"/>
              <a:buNone/>
            </a:pPr>
            <a:r>
              <a:rPr lang="en-US" altLang="zh-CN" sz="2600"/>
              <a:t>   6</a:t>
            </a:r>
            <a:r>
              <a:rPr lang="zh-CN" altLang="en-US" sz="2600"/>
              <a:t>．写文件</a:t>
            </a:r>
            <a:r>
              <a:rPr lang="en-US" altLang="zh-CN" sz="2600"/>
              <a:t>write</a:t>
            </a:r>
            <a:endParaRPr lang="en-US" altLang="zh-CN" sz="2600"/>
          </a:p>
          <a:p>
            <a:pPr>
              <a:lnSpc>
                <a:spcPct val="80000"/>
              </a:lnSpc>
              <a:buFont typeface="Wingdings" panose="05000000000000000000" pitchFamily="2" charset="2"/>
              <a:buNone/>
            </a:pPr>
            <a:r>
              <a:rPr lang="en-US" altLang="zh-CN" sz="2600"/>
              <a:t>   7</a:t>
            </a:r>
            <a:r>
              <a:rPr lang="zh-CN" altLang="en-US" sz="2600"/>
              <a:t>．附加文件</a:t>
            </a:r>
            <a:r>
              <a:rPr lang="en-US" altLang="zh-CN" sz="2600"/>
              <a:t>append</a:t>
            </a:r>
            <a:endParaRPr lang="en-US" altLang="zh-CN" sz="2600"/>
          </a:p>
          <a:p>
            <a:pPr>
              <a:lnSpc>
                <a:spcPct val="80000"/>
              </a:lnSpc>
              <a:buFont typeface="Wingdings" panose="05000000000000000000" pitchFamily="2" charset="2"/>
              <a:buNone/>
            </a:pPr>
            <a:r>
              <a:rPr lang="en-US" altLang="zh-CN" sz="2600"/>
              <a:t>   8</a:t>
            </a:r>
            <a:r>
              <a:rPr lang="zh-CN" altLang="en-US" sz="2600"/>
              <a:t>．读写定位</a:t>
            </a:r>
            <a:r>
              <a:rPr lang="en-US" altLang="zh-CN" sz="2600"/>
              <a:t>seek</a:t>
            </a:r>
            <a:endParaRPr lang="en-US" altLang="zh-CN" sz="2600"/>
          </a:p>
          <a:p>
            <a:pPr>
              <a:lnSpc>
                <a:spcPct val="80000"/>
              </a:lnSpc>
              <a:buFont typeface="Wingdings" panose="05000000000000000000" pitchFamily="2" charset="2"/>
              <a:buNone/>
            </a:pPr>
            <a:r>
              <a:rPr lang="en-US" altLang="zh-CN" sz="2600"/>
              <a:t>   9</a:t>
            </a:r>
            <a:r>
              <a:rPr lang="zh-CN" altLang="en-US" sz="2600"/>
              <a:t>．取文件属性</a:t>
            </a:r>
            <a:r>
              <a:rPr lang="en-US" altLang="zh-CN" sz="2600"/>
              <a:t>get_attributes</a:t>
            </a:r>
            <a:endParaRPr lang="en-US" altLang="zh-CN" sz="2600"/>
          </a:p>
          <a:p>
            <a:pPr>
              <a:lnSpc>
                <a:spcPct val="80000"/>
              </a:lnSpc>
              <a:buFont typeface="Wingdings" panose="05000000000000000000" pitchFamily="2" charset="2"/>
              <a:buNone/>
            </a:pPr>
            <a:r>
              <a:rPr lang="en-US" altLang="zh-CN" sz="2600"/>
              <a:t>   10</a:t>
            </a:r>
            <a:r>
              <a:rPr lang="zh-CN" altLang="en-US" sz="2600"/>
              <a:t>．置文件属性</a:t>
            </a:r>
            <a:r>
              <a:rPr lang="en-US" altLang="zh-CN" sz="2600"/>
              <a:t>set_attributes</a:t>
            </a:r>
            <a:endParaRPr lang="en-US" altLang="zh-CN" sz="2600"/>
          </a:p>
          <a:p>
            <a:pPr>
              <a:lnSpc>
                <a:spcPct val="80000"/>
              </a:lnSpc>
              <a:buFont typeface="Wingdings" panose="05000000000000000000" pitchFamily="2" charset="2"/>
              <a:buNone/>
            </a:pPr>
            <a:r>
              <a:rPr lang="en-US" altLang="zh-CN" sz="2600"/>
              <a:t>   11</a:t>
            </a:r>
            <a:r>
              <a:rPr lang="zh-CN" altLang="en-US" sz="2600"/>
              <a:t>．重新命名文件</a:t>
            </a:r>
            <a:r>
              <a:rPr lang="en-US" altLang="zh-CN" sz="2600"/>
              <a:t>rename</a:t>
            </a:r>
            <a:endParaRPr lang="en-US" altLang="zh-CN" sz="2600"/>
          </a:p>
          <a:p>
            <a:pPr>
              <a:lnSpc>
                <a:spcPct val="80000"/>
              </a:lnSpc>
            </a:pPr>
            <a:endParaRPr lang="en-US" altLang="zh-CN" sz="26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p:cTn id="7" dur="500" fill="hold"/>
                                        <p:tgtEl>
                                          <p:spTgt spid="44035">
                                            <p:txEl>
                                              <p:pRg st="0" end="0"/>
                                            </p:txEl>
                                          </p:spTgt>
                                        </p:tgtEl>
                                        <p:attrNameLst>
                                          <p:attrName>ppt_x</p:attrName>
                                        </p:attrNameLst>
                                      </p:cBhvr>
                                      <p:tavLst>
                                        <p:tav tm="0">
                                          <p:val>
                                            <p:strVal val="#ppt_x-.2"/>
                                          </p:val>
                                        </p:tav>
                                        <p:tav tm="100000">
                                          <p:val>
                                            <p:strVal val="#ppt_x"/>
                                          </p:val>
                                        </p:tav>
                                      </p:tavLst>
                                    </p:anim>
                                    <p:anim calcmode="lin" valueType="num">
                                      <p:cBhvr>
                                        <p:cTn id="8" dur="500" fill="hold"/>
                                        <p:tgtEl>
                                          <p:spTgt spid="44035">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500"/>
                                        <p:tgtEl>
                                          <p:spTgt spid="44035">
                                            <p:txEl>
                                              <p:pRg st="0" end="0"/>
                                            </p:txEl>
                                          </p:spTgt>
                                        </p:tgtEl>
                                      </p:cBhvr>
                                    </p:animEffect>
                                  </p:childTnLst>
                                </p:cTn>
                              </p:par>
                              <p:par>
                                <p:cTn id="10" presetID="29" presetClass="entr" presetSubtype="0" fill="hold" nodeType="with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 calcmode="lin" valueType="num">
                                      <p:cBhvr>
                                        <p:cTn id="12" dur="500" fill="hold"/>
                                        <p:tgtEl>
                                          <p:spTgt spid="44035">
                                            <p:txEl>
                                              <p:pRg st="1" end="1"/>
                                            </p:txEl>
                                          </p:spTgt>
                                        </p:tgtEl>
                                        <p:attrNameLst>
                                          <p:attrName>ppt_x</p:attrName>
                                        </p:attrNameLst>
                                      </p:cBhvr>
                                      <p:tavLst>
                                        <p:tav tm="0">
                                          <p:val>
                                            <p:strVal val="#ppt_x-.2"/>
                                          </p:val>
                                        </p:tav>
                                        <p:tav tm="100000">
                                          <p:val>
                                            <p:strVal val="#ppt_x"/>
                                          </p:val>
                                        </p:tav>
                                      </p:tavLst>
                                    </p:anim>
                                    <p:anim calcmode="lin" valueType="num">
                                      <p:cBhvr>
                                        <p:cTn id="13" dur="500" fill="hold"/>
                                        <p:tgtEl>
                                          <p:spTgt spid="44035">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4" dur="500"/>
                                        <p:tgtEl>
                                          <p:spTgt spid="44035">
                                            <p:txEl>
                                              <p:pRg st="1" end="1"/>
                                            </p:txEl>
                                          </p:spTgt>
                                        </p:tgtEl>
                                      </p:cBhvr>
                                    </p:animEffect>
                                  </p:childTnLst>
                                </p:cTn>
                              </p:par>
                              <p:par>
                                <p:cTn id="15" presetID="29" presetClass="entr" presetSubtype="0" fill="hold" nodeType="with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 calcmode="lin" valueType="num">
                                      <p:cBhvr>
                                        <p:cTn id="17" dur="500" fill="hold"/>
                                        <p:tgtEl>
                                          <p:spTgt spid="44035">
                                            <p:txEl>
                                              <p:pRg st="2" end="2"/>
                                            </p:txEl>
                                          </p:spTgt>
                                        </p:tgtEl>
                                        <p:attrNameLst>
                                          <p:attrName>ppt_x</p:attrName>
                                        </p:attrNameLst>
                                      </p:cBhvr>
                                      <p:tavLst>
                                        <p:tav tm="0">
                                          <p:val>
                                            <p:strVal val="#ppt_x-.2"/>
                                          </p:val>
                                        </p:tav>
                                        <p:tav tm="100000">
                                          <p:val>
                                            <p:strVal val="#ppt_x"/>
                                          </p:val>
                                        </p:tav>
                                      </p:tavLst>
                                    </p:anim>
                                    <p:anim calcmode="lin" valueType="num">
                                      <p:cBhvr>
                                        <p:cTn id="18" dur="500" fill="hold"/>
                                        <p:tgtEl>
                                          <p:spTgt spid="44035">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9" dur="500"/>
                                        <p:tgtEl>
                                          <p:spTgt spid="44035">
                                            <p:txEl>
                                              <p:pRg st="2" end="2"/>
                                            </p:txEl>
                                          </p:spTgt>
                                        </p:tgtEl>
                                      </p:cBhvr>
                                    </p:animEffect>
                                  </p:childTnLst>
                                </p:cTn>
                              </p:par>
                              <p:par>
                                <p:cTn id="20" presetID="29" presetClass="entr" presetSubtype="0" fill="hold" nodeType="withEffect">
                                  <p:stCondLst>
                                    <p:cond delay="0"/>
                                  </p:stCondLst>
                                  <p:childTnLst>
                                    <p:set>
                                      <p:cBhvr>
                                        <p:cTn id="21" dur="1" fill="hold">
                                          <p:stCondLst>
                                            <p:cond delay="0"/>
                                          </p:stCondLst>
                                        </p:cTn>
                                        <p:tgtEl>
                                          <p:spTgt spid="44035">
                                            <p:txEl>
                                              <p:pRg st="3" end="3"/>
                                            </p:txEl>
                                          </p:spTgt>
                                        </p:tgtEl>
                                        <p:attrNameLst>
                                          <p:attrName>style.visibility</p:attrName>
                                        </p:attrNameLst>
                                      </p:cBhvr>
                                      <p:to>
                                        <p:strVal val="visible"/>
                                      </p:to>
                                    </p:set>
                                    <p:anim calcmode="lin" valueType="num">
                                      <p:cBhvr>
                                        <p:cTn id="22" dur="500" fill="hold"/>
                                        <p:tgtEl>
                                          <p:spTgt spid="44035">
                                            <p:txEl>
                                              <p:pRg st="3" end="3"/>
                                            </p:txEl>
                                          </p:spTgt>
                                        </p:tgtEl>
                                        <p:attrNameLst>
                                          <p:attrName>ppt_x</p:attrName>
                                        </p:attrNameLst>
                                      </p:cBhvr>
                                      <p:tavLst>
                                        <p:tav tm="0">
                                          <p:val>
                                            <p:strVal val="#ppt_x-.2"/>
                                          </p:val>
                                        </p:tav>
                                        <p:tav tm="100000">
                                          <p:val>
                                            <p:strVal val="#ppt_x"/>
                                          </p:val>
                                        </p:tav>
                                      </p:tavLst>
                                    </p:anim>
                                    <p:anim calcmode="lin" valueType="num">
                                      <p:cBhvr>
                                        <p:cTn id="23" dur="500" fill="hold"/>
                                        <p:tgtEl>
                                          <p:spTgt spid="44035">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4" dur="500"/>
                                        <p:tgtEl>
                                          <p:spTgt spid="44035">
                                            <p:txEl>
                                              <p:pRg st="3" end="3"/>
                                            </p:txEl>
                                          </p:spTgt>
                                        </p:tgtEl>
                                      </p:cBhvr>
                                    </p:animEffect>
                                  </p:childTnLst>
                                </p:cTn>
                              </p:par>
                              <p:par>
                                <p:cTn id="25" presetID="29" presetClass="entr" presetSubtype="0" fill="hold" nodeType="withEffect">
                                  <p:stCondLst>
                                    <p:cond delay="0"/>
                                  </p:stCondLst>
                                  <p:childTnLst>
                                    <p:set>
                                      <p:cBhvr>
                                        <p:cTn id="26" dur="1" fill="hold">
                                          <p:stCondLst>
                                            <p:cond delay="0"/>
                                          </p:stCondLst>
                                        </p:cTn>
                                        <p:tgtEl>
                                          <p:spTgt spid="44035">
                                            <p:txEl>
                                              <p:pRg st="4" end="4"/>
                                            </p:txEl>
                                          </p:spTgt>
                                        </p:tgtEl>
                                        <p:attrNameLst>
                                          <p:attrName>style.visibility</p:attrName>
                                        </p:attrNameLst>
                                      </p:cBhvr>
                                      <p:to>
                                        <p:strVal val="visible"/>
                                      </p:to>
                                    </p:set>
                                    <p:anim calcmode="lin" valueType="num">
                                      <p:cBhvr>
                                        <p:cTn id="27" dur="500" fill="hold"/>
                                        <p:tgtEl>
                                          <p:spTgt spid="44035">
                                            <p:txEl>
                                              <p:pRg st="4" end="4"/>
                                            </p:txEl>
                                          </p:spTgt>
                                        </p:tgtEl>
                                        <p:attrNameLst>
                                          <p:attrName>ppt_x</p:attrName>
                                        </p:attrNameLst>
                                      </p:cBhvr>
                                      <p:tavLst>
                                        <p:tav tm="0">
                                          <p:val>
                                            <p:strVal val="#ppt_x-.2"/>
                                          </p:val>
                                        </p:tav>
                                        <p:tav tm="100000">
                                          <p:val>
                                            <p:strVal val="#ppt_x"/>
                                          </p:val>
                                        </p:tav>
                                      </p:tavLst>
                                    </p:anim>
                                    <p:anim calcmode="lin" valueType="num">
                                      <p:cBhvr>
                                        <p:cTn id="28" dur="500" fill="hold"/>
                                        <p:tgtEl>
                                          <p:spTgt spid="44035">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9" dur="500"/>
                                        <p:tgtEl>
                                          <p:spTgt spid="44035">
                                            <p:txEl>
                                              <p:pRg st="4" end="4"/>
                                            </p:txEl>
                                          </p:spTgt>
                                        </p:tgtEl>
                                      </p:cBhvr>
                                    </p:animEffect>
                                  </p:childTnLst>
                                </p:cTn>
                              </p:par>
                              <p:par>
                                <p:cTn id="30" presetID="29" presetClass="entr" presetSubtype="0" fill="hold" nodeType="withEffect">
                                  <p:stCondLst>
                                    <p:cond delay="0"/>
                                  </p:stCondLst>
                                  <p:childTnLst>
                                    <p:set>
                                      <p:cBhvr>
                                        <p:cTn id="31" dur="1" fill="hold">
                                          <p:stCondLst>
                                            <p:cond delay="0"/>
                                          </p:stCondLst>
                                        </p:cTn>
                                        <p:tgtEl>
                                          <p:spTgt spid="44035">
                                            <p:txEl>
                                              <p:pRg st="5" end="5"/>
                                            </p:txEl>
                                          </p:spTgt>
                                        </p:tgtEl>
                                        <p:attrNameLst>
                                          <p:attrName>style.visibility</p:attrName>
                                        </p:attrNameLst>
                                      </p:cBhvr>
                                      <p:to>
                                        <p:strVal val="visible"/>
                                      </p:to>
                                    </p:set>
                                    <p:anim calcmode="lin" valueType="num">
                                      <p:cBhvr>
                                        <p:cTn id="32" dur="500" fill="hold"/>
                                        <p:tgtEl>
                                          <p:spTgt spid="44035">
                                            <p:txEl>
                                              <p:pRg st="5" end="5"/>
                                            </p:txEl>
                                          </p:spTgt>
                                        </p:tgtEl>
                                        <p:attrNameLst>
                                          <p:attrName>ppt_x</p:attrName>
                                        </p:attrNameLst>
                                      </p:cBhvr>
                                      <p:tavLst>
                                        <p:tav tm="0">
                                          <p:val>
                                            <p:strVal val="#ppt_x-.2"/>
                                          </p:val>
                                        </p:tav>
                                        <p:tav tm="100000">
                                          <p:val>
                                            <p:strVal val="#ppt_x"/>
                                          </p:val>
                                        </p:tav>
                                      </p:tavLst>
                                    </p:anim>
                                    <p:anim calcmode="lin" valueType="num">
                                      <p:cBhvr>
                                        <p:cTn id="33" dur="500" fill="hold"/>
                                        <p:tgtEl>
                                          <p:spTgt spid="44035">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4" dur="500"/>
                                        <p:tgtEl>
                                          <p:spTgt spid="44035">
                                            <p:txEl>
                                              <p:pRg st="5" end="5"/>
                                            </p:txEl>
                                          </p:spTgt>
                                        </p:tgtEl>
                                      </p:cBhvr>
                                    </p:animEffect>
                                  </p:childTnLst>
                                </p:cTn>
                              </p:par>
                              <p:par>
                                <p:cTn id="35" presetID="29" presetClass="entr" presetSubtype="0" fill="hold" nodeType="withEffect">
                                  <p:stCondLst>
                                    <p:cond delay="0"/>
                                  </p:stCondLst>
                                  <p:childTnLst>
                                    <p:set>
                                      <p:cBhvr>
                                        <p:cTn id="36" dur="1" fill="hold">
                                          <p:stCondLst>
                                            <p:cond delay="0"/>
                                          </p:stCondLst>
                                        </p:cTn>
                                        <p:tgtEl>
                                          <p:spTgt spid="44035">
                                            <p:txEl>
                                              <p:pRg st="6" end="6"/>
                                            </p:txEl>
                                          </p:spTgt>
                                        </p:tgtEl>
                                        <p:attrNameLst>
                                          <p:attrName>style.visibility</p:attrName>
                                        </p:attrNameLst>
                                      </p:cBhvr>
                                      <p:to>
                                        <p:strVal val="visible"/>
                                      </p:to>
                                    </p:set>
                                    <p:anim calcmode="lin" valueType="num">
                                      <p:cBhvr>
                                        <p:cTn id="37" dur="500" fill="hold"/>
                                        <p:tgtEl>
                                          <p:spTgt spid="44035">
                                            <p:txEl>
                                              <p:pRg st="6" end="6"/>
                                            </p:txEl>
                                          </p:spTgt>
                                        </p:tgtEl>
                                        <p:attrNameLst>
                                          <p:attrName>ppt_x</p:attrName>
                                        </p:attrNameLst>
                                      </p:cBhvr>
                                      <p:tavLst>
                                        <p:tav tm="0">
                                          <p:val>
                                            <p:strVal val="#ppt_x-.2"/>
                                          </p:val>
                                        </p:tav>
                                        <p:tav tm="100000">
                                          <p:val>
                                            <p:strVal val="#ppt_x"/>
                                          </p:val>
                                        </p:tav>
                                      </p:tavLst>
                                    </p:anim>
                                    <p:anim calcmode="lin" valueType="num">
                                      <p:cBhvr>
                                        <p:cTn id="38" dur="500" fill="hold"/>
                                        <p:tgtEl>
                                          <p:spTgt spid="44035">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9" dur="500"/>
                                        <p:tgtEl>
                                          <p:spTgt spid="44035">
                                            <p:txEl>
                                              <p:pRg st="6" end="6"/>
                                            </p:txEl>
                                          </p:spTgt>
                                        </p:tgtEl>
                                      </p:cBhvr>
                                    </p:animEffect>
                                  </p:childTnLst>
                                </p:cTn>
                              </p:par>
                              <p:par>
                                <p:cTn id="40" presetID="29" presetClass="entr" presetSubtype="0" fill="hold" nodeType="withEffect">
                                  <p:stCondLst>
                                    <p:cond delay="0"/>
                                  </p:stCondLst>
                                  <p:childTnLst>
                                    <p:set>
                                      <p:cBhvr>
                                        <p:cTn id="41" dur="1" fill="hold">
                                          <p:stCondLst>
                                            <p:cond delay="0"/>
                                          </p:stCondLst>
                                        </p:cTn>
                                        <p:tgtEl>
                                          <p:spTgt spid="44035">
                                            <p:txEl>
                                              <p:pRg st="7" end="7"/>
                                            </p:txEl>
                                          </p:spTgt>
                                        </p:tgtEl>
                                        <p:attrNameLst>
                                          <p:attrName>style.visibility</p:attrName>
                                        </p:attrNameLst>
                                      </p:cBhvr>
                                      <p:to>
                                        <p:strVal val="visible"/>
                                      </p:to>
                                    </p:set>
                                    <p:anim calcmode="lin" valueType="num">
                                      <p:cBhvr>
                                        <p:cTn id="42" dur="500" fill="hold"/>
                                        <p:tgtEl>
                                          <p:spTgt spid="44035">
                                            <p:txEl>
                                              <p:pRg st="7" end="7"/>
                                            </p:txEl>
                                          </p:spTgt>
                                        </p:tgtEl>
                                        <p:attrNameLst>
                                          <p:attrName>ppt_x</p:attrName>
                                        </p:attrNameLst>
                                      </p:cBhvr>
                                      <p:tavLst>
                                        <p:tav tm="0">
                                          <p:val>
                                            <p:strVal val="#ppt_x-.2"/>
                                          </p:val>
                                        </p:tav>
                                        <p:tav tm="100000">
                                          <p:val>
                                            <p:strVal val="#ppt_x"/>
                                          </p:val>
                                        </p:tav>
                                      </p:tavLst>
                                    </p:anim>
                                    <p:anim calcmode="lin" valueType="num">
                                      <p:cBhvr>
                                        <p:cTn id="43" dur="500" fill="hold"/>
                                        <p:tgtEl>
                                          <p:spTgt spid="44035">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4" dur="500"/>
                                        <p:tgtEl>
                                          <p:spTgt spid="44035">
                                            <p:txEl>
                                              <p:pRg st="7" end="7"/>
                                            </p:txEl>
                                          </p:spTgt>
                                        </p:tgtEl>
                                      </p:cBhvr>
                                    </p:animEffect>
                                  </p:childTnLst>
                                </p:cTn>
                              </p:par>
                              <p:par>
                                <p:cTn id="45" presetID="29" presetClass="entr" presetSubtype="0" fill="hold" nodeType="withEffect">
                                  <p:stCondLst>
                                    <p:cond delay="0"/>
                                  </p:stCondLst>
                                  <p:childTnLst>
                                    <p:set>
                                      <p:cBhvr>
                                        <p:cTn id="46" dur="1" fill="hold">
                                          <p:stCondLst>
                                            <p:cond delay="0"/>
                                          </p:stCondLst>
                                        </p:cTn>
                                        <p:tgtEl>
                                          <p:spTgt spid="44035">
                                            <p:txEl>
                                              <p:pRg st="8" end="8"/>
                                            </p:txEl>
                                          </p:spTgt>
                                        </p:tgtEl>
                                        <p:attrNameLst>
                                          <p:attrName>style.visibility</p:attrName>
                                        </p:attrNameLst>
                                      </p:cBhvr>
                                      <p:to>
                                        <p:strVal val="visible"/>
                                      </p:to>
                                    </p:set>
                                    <p:anim calcmode="lin" valueType="num">
                                      <p:cBhvr>
                                        <p:cTn id="47" dur="500" fill="hold"/>
                                        <p:tgtEl>
                                          <p:spTgt spid="44035">
                                            <p:txEl>
                                              <p:pRg st="8" end="8"/>
                                            </p:txEl>
                                          </p:spTgt>
                                        </p:tgtEl>
                                        <p:attrNameLst>
                                          <p:attrName>ppt_x</p:attrName>
                                        </p:attrNameLst>
                                      </p:cBhvr>
                                      <p:tavLst>
                                        <p:tav tm="0">
                                          <p:val>
                                            <p:strVal val="#ppt_x-.2"/>
                                          </p:val>
                                        </p:tav>
                                        <p:tav tm="100000">
                                          <p:val>
                                            <p:strVal val="#ppt_x"/>
                                          </p:val>
                                        </p:tav>
                                      </p:tavLst>
                                    </p:anim>
                                    <p:anim calcmode="lin" valueType="num">
                                      <p:cBhvr>
                                        <p:cTn id="48" dur="500" fill="hold"/>
                                        <p:tgtEl>
                                          <p:spTgt spid="44035">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49" dur="500"/>
                                        <p:tgtEl>
                                          <p:spTgt spid="44035">
                                            <p:txEl>
                                              <p:pRg st="8" end="8"/>
                                            </p:txEl>
                                          </p:spTgt>
                                        </p:tgtEl>
                                      </p:cBhvr>
                                    </p:animEffect>
                                  </p:childTnLst>
                                </p:cTn>
                              </p:par>
                              <p:par>
                                <p:cTn id="50" presetID="29" presetClass="entr" presetSubtype="0" fill="hold" nodeType="withEffect">
                                  <p:stCondLst>
                                    <p:cond delay="0"/>
                                  </p:stCondLst>
                                  <p:childTnLst>
                                    <p:set>
                                      <p:cBhvr>
                                        <p:cTn id="51" dur="1" fill="hold">
                                          <p:stCondLst>
                                            <p:cond delay="0"/>
                                          </p:stCondLst>
                                        </p:cTn>
                                        <p:tgtEl>
                                          <p:spTgt spid="44035">
                                            <p:txEl>
                                              <p:pRg st="9" end="9"/>
                                            </p:txEl>
                                          </p:spTgt>
                                        </p:tgtEl>
                                        <p:attrNameLst>
                                          <p:attrName>style.visibility</p:attrName>
                                        </p:attrNameLst>
                                      </p:cBhvr>
                                      <p:to>
                                        <p:strVal val="visible"/>
                                      </p:to>
                                    </p:set>
                                    <p:anim calcmode="lin" valueType="num">
                                      <p:cBhvr>
                                        <p:cTn id="52" dur="500" fill="hold"/>
                                        <p:tgtEl>
                                          <p:spTgt spid="44035">
                                            <p:txEl>
                                              <p:pRg st="9" end="9"/>
                                            </p:txEl>
                                          </p:spTgt>
                                        </p:tgtEl>
                                        <p:attrNameLst>
                                          <p:attrName>ppt_x</p:attrName>
                                        </p:attrNameLst>
                                      </p:cBhvr>
                                      <p:tavLst>
                                        <p:tav tm="0">
                                          <p:val>
                                            <p:strVal val="#ppt_x-.2"/>
                                          </p:val>
                                        </p:tav>
                                        <p:tav tm="100000">
                                          <p:val>
                                            <p:strVal val="#ppt_x"/>
                                          </p:val>
                                        </p:tav>
                                      </p:tavLst>
                                    </p:anim>
                                    <p:anim calcmode="lin" valueType="num">
                                      <p:cBhvr>
                                        <p:cTn id="53" dur="500" fill="hold"/>
                                        <p:tgtEl>
                                          <p:spTgt spid="44035">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54" dur="500"/>
                                        <p:tgtEl>
                                          <p:spTgt spid="44035">
                                            <p:txEl>
                                              <p:pRg st="9" end="9"/>
                                            </p:txEl>
                                          </p:spTgt>
                                        </p:tgtEl>
                                      </p:cBhvr>
                                    </p:animEffect>
                                  </p:childTnLst>
                                </p:cTn>
                              </p:par>
                              <p:par>
                                <p:cTn id="55" presetID="29" presetClass="entr" presetSubtype="0" fill="hold" nodeType="withEffect">
                                  <p:stCondLst>
                                    <p:cond delay="0"/>
                                  </p:stCondLst>
                                  <p:childTnLst>
                                    <p:set>
                                      <p:cBhvr>
                                        <p:cTn id="56" dur="1" fill="hold">
                                          <p:stCondLst>
                                            <p:cond delay="0"/>
                                          </p:stCondLst>
                                        </p:cTn>
                                        <p:tgtEl>
                                          <p:spTgt spid="44035">
                                            <p:txEl>
                                              <p:pRg st="10" end="10"/>
                                            </p:txEl>
                                          </p:spTgt>
                                        </p:tgtEl>
                                        <p:attrNameLst>
                                          <p:attrName>style.visibility</p:attrName>
                                        </p:attrNameLst>
                                      </p:cBhvr>
                                      <p:to>
                                        <p:strVal val="visible"/>
                                      </p:to>
                                    </p:set>
                                    <p:anim calcmode="lin" valueType="num">
                                      <p:cBhvr>
                                        <p:cTn id="57" dur="500" fill="hold"/>
                                        <p:tgtEl>
                                          <p:spTgt spid="44035">
                                            <p:txEl>
                                              <p:pRg st="10" end="10"/>
                                            </p:txEl>
                                          </p:spTgt>
                                        </p:tgtEl>
                                        <p:attrNameLst>
                                          <p:attrName>ppt_x</p:attrName>
                                        </p:attrNameLst>
                                      </p:cBhvr>
                                      <p:tavLst>
                                        <p:tav tm="0">
                                          <p:val>
                                            <p:strVal val="#ppt_x-.2"/>
                                          </p:val>
                                        </p:tav>
                                        <p:tav tm="100000">
                                          <p:val>
                                            <p:strVal val="#ppt_x"/>
                                          </p:val>
                                        </p:tav>
                                      </p:tavLst>
                                    </p:anim>
                                    <p:anim calcmode="lin" valueType="num">
                                      <p:cBhvr>
                                        <p:cTn id="58" dur="500" fill="hold"/>
                                        <p:tgtEl>
                                          <p:spTgt spid="44035">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59" dur="500"/>
                                        <p:tgtEl>
                                          <p:spTgt spid="440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45057"/>
          <p:cNvSpPr>
            <a:spLocks noGrp="1" noChangeArrowheads="1"/>
          </p:cNvSpPr>
          <p:nvPr>
            <p:ph type="title"/>
          </p:nvPr>
        </p:nvSpPr>
        <p:spPr/>
        <p:txBody>
          <a:bodyPr/>
          <a:lstStyle/>
          <a:p>
            <a:r>
              <a:rPr lang="en-US" altLang="zh-CN" sz="3500"/>
              <a:t>6.4.2  </a:t>
            </a:r>
            <a:r>
              <a:rPr lang="zh-CN" altLang="en-US" sz="3500"/>
              <a:t>目录操作</a:t>
            </a:r>
            <a:endParaRPr lang="zh-CN" altLang="en-US" sz="3500"/>
          </a:p>
        </p:txBody>
      </p:sp>
      <p:sp>
        <p:nvSpPr>
          <p:cNvPr id="45059" name="内容占位符 45058"/>
          <p:cNvSpPr>
            <a:spLocks noGrp="1" noChangeArrowheads="1"/>
          </p:cNvSpPr>
          <p:nvPr>
            <p:ph idx="1"/>
          </p:nvPr>
        </p:nvSpPr>
        <p:spPr/>
        <p:txBody>
          <a:bodyPr/>
          <a:lstStyle/>
          <a:p>
            <a:pPr>
              <a:buFont typeface="Wingdings" panose="05000000000000000000" pitchFamily="2" charset="2"/>
              <a:buNone/>
            </a:pPr>
            <a:r>
              <a:rPr lang="en-US" altLang="zh-CN" sz="2600"/>
              <a:t>   1</a:t>
            </a:r>
            <a:r>
              <a:rPr lang="zh-CN" altLang="en-US" sz="2600"/>
              <a:t>．创建目录</a:t>
            </a:r>
            <a:r>
              <a:rPr lang="en-US" altLang="zh-CN" sz="2600"/>
              <a:t>create</a:t>
            </a:r>
            <a:endParaRPr lang="en-US" altLang="zh-CN" sz="2600"/>
          </a:p>
          <a:p>
            <a:pPr>
              <a:buFont typeface="Wingdings" panose="05000000000000000000" pitchFamily="2" charset="2"/>
              <a:buNone/>
            </a:pPr>
            <a:r>
              <a:rPr lang="en-US" altLang="zh-CN" sz="2600"/>
              <a:t>   2</a:t>
            </a:r>
            <a:r>
              <a:rPr lang="zh-CN" altLang="en-US" sz="2600"/>
              <a:t>．删除目录</a:t>
            </a:r>
            <a:r>
              <a:rPr lang="en-US" altLang="zh-CN" sz="2600"/>
              <a:t>delete</a:t>
            </a:r>
            <a:endParaRPr lang="en-US" altLang="zh-CN" sz="2600"/>
          </a:p>
          <a:p>
            <a:pPr>
              <a:buFont typeface="Wingdings" panose="05000000000000000000" pitchFamily="2" charset="2"/>
              <a:buNone/>
            </a:pPr>
            <a:r>
              <a:rPr lang="en-US" altLang="zh-CN" sz="2600"/>
              <a:t>   3</a:t>
            </a:r>
            <a:r>
              <a:rPr lang="zh-CN" altLang="en-US" sz="2600"/>
              <a:t>．打开目录</a:t>
            </a:r>
            <a:r>
              <a:rPr lang="en-US" altLang="zh-CN" sz="2600"/>
              <a:t>opendir</a:t>
            </a:r>
            <a:endParaRPr lang="en-US" altLang="zh-CN" sz="2600"/>
          </a:p>
          <a:p>
            <a:pPr>
              <a:buFont typeface="Wingdings" panose="05000000000000000000" pitchFamily="2" charset="2"/>
              <a:buNone/>
            </a:pPr>
            <a:r>
              <a:rPr lang="en-US" altLang="zh-CN" sz="2600"/>
              <a:t>   4</a:t>
            </a:r>
            <a:r>
              <a:rPr lang="zh-CN" altLang="en-US" sz="2600"/>
              <a:t>．关闭目录</a:t>
            </a:r>
            <a:r>
              <a:rPr lang="en-US" altLang="zh-CN" sz="2600"/>
              <a:t>closedir</a:t>
            </a:r>
            <a:endParaRPr lang="en-US" altLang="zh-CN" sz="2600"/>
          </a:p>
          <a:p>
            <a:pPr>
              <a:buFont typeface="Wingdings" panose="05000000000000000000" pitchFamily="2" charset="2"/>
              <a:buNone/>
            </a:pPr>
            <a:r>
              <a:rPr lang="en-US" altLang="zh-CN" sz="2600"/>
              <a:t>   5</a:t>
            </a:r>
            <a:r>
              <a:rPr lang="zh-CN" altLang="en-US" sz="2600"/>
              <a:t>．读目录</a:t>
            </a:r>
            <a:r>
              <a:rPr lang="en-US" altLang="zh-CN" sz="2600"/>
              <a:t>readdir</a:t>
            </a:r>
            <a:endParaRPr lang="en-US" altLang="zh-CN" sz="2600"/>
          </a:p>
          <a:p>
            <a:pPr>
              <a:buFont typeface="Wingdings" panose="05000000000000000000" pitchFamily="2" charset="2"/>
              <a:buNone/>
            </a:pPr>
            <a:r>
              <a:rPr lang="en-US" altLang="zh-CN" sz="2600"/>
              <a:t>   6</a:t>
            </a:r>
            <a:r>
              <a:rPr lang="zh-CN" altLang="en-US" sz="2600"/>
              <a:t>．重新命名目录</a:t>
            </a:r>
            <a:r>
              <a:rPr lang="en-US" altLang="zh-CN" sz="2600"/>
              <a:t>rename</a:t>
            </a:r>
            <a:endParaRPr lang="en-US" altLang="zh-CN" sz="2600"/>
          </a:p>
          <a:p>
            <a:pPr>
              <a:buFont typeface="Wingdings" panose="05000000000000000000" pitchFamily="2" charset="2"/>
              <a:buNone/>
            </a:pPr>
            <a:r>
              <a:rPr lang="en-US" altLang="zh-CN" sz="2600"/>
              <a:t>   7</a:t>
            </a:r>
            <a:r>
              <a:rPr lang="zh-CN" altLang="en-US" sz="2600"/>
              <a:t>．链接文件</a:t>
            </a:r>
            <a:r>
              <a:rPr lang="en-US" altLang="zh-CN" sz="2600"/>
              <a:t>link</a:t>
            </a:r>
            <a:endParaRPr lang="en-US" altLang="zh-CN" sz="2600"/>
          </a:p>
          <a:p>
            <a:pPr>
              <a:buFont typeface="Wingdings" panose="05000000000000000000" pitchFamily="2" charset="2"/>
              <a:buNone/>
            </a:pPr>
            <a:r>
              <a:rPr lang="en-US" altLang="zh-CN" sz="2600"/>
              <a:t>   8</a:t>
            </a:r>
            <a:r>
              <a:rPr lang="zh-CN" altLang="en-US" sz="2600"/>
              <a:t>．解除链接</a:t>
            </a:r>
            <a:r>
              <a:rPr lang="en-US" altLang="zh-CN" sz="2600"/>
              <a:t>unlink</a:t>
            </a:r>
            <a:endParaRPr lang="en-US" altLang="zh-CN" sz="2600"/>
          </a:p>
          <a:p>
            <a:endParaRPr lang="en-US" altLang="zh-CN" sz="26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p:cTn id="7" dur="500" fill="hold"/>
                                        <p:tgtEl>
                                          <p:spTgt spid="45059">
                                            <p:txEl>
                                              <p:pRg st="0" end="0"/>
                                            </p:txEl>
                                          </p:spTgt>
                                        </p:tgtEl>
                                        <p:attrNameLst>
                                          <p:attrName>ppt_x</p:attrName>
                                        </p:attrNameLst>
                                      </p:cBhvr>
                                      <p:tavLst>
                                        <p:tav tm="0">
                                          <p:val>
                                            <p:strVal val="#ppt_x-.2"/>
                                          </p:val>
                                        </p:tav>
                                        <p:tav tm="100000">
                                          <p:val>
                                            <p:strVal val="#ppt_x"/>
                                          </p:val>
                                        </p:tav>
                                      </p:tavLst>
                                    </p:anim>
                                    <p:anim calcmode="lin" valueType="num">
                                      <p:cBhvr>
                                        <p:cTn id="8" dur="500" fill="hold"/>
                                        <p:tgtEl>
                                          <p:spTgt spid="45059">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500"/>
                                        <p:tgtEl>
                                          <p:spTgt spid="45059">
                                            <p:txEl>
                                              <p:pRg st="0" end="0"/>
                                            </p:txEl>
                                          </p:spTgt>
                                        </p:tgtEl>
                                      </p:cBhvr>
                                    </p:animEffect>
                                  </p:childTnLst>
                                </p:cTn>
                              </p:par>
                              <p:par>
                                <p:cTn id="10" presetID="29" presetClass="entr" presetSubtype="0" fill="hold" nodeType="with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 calcmode="lin" valueType="num">
                                      <p:cBhvr>
                                        <p:cTn id="12" dur="500" fill="hold"/>
                                        <p:tgtEl>
                                          <p:spTgt spid="45059">
                                            <p:txEl>
                                              <p:pRg st="1" end="1"/>
                                            </p:txEl>
                                          </p:spTgt>
                                        </p:tgtEl>
                                        <p:attrNameLst>
                                          <p:attrName>ppt_x</p:attrName>
                                        </p:attrNameLst>
                                      </p:cBhvr>
                                      <p:tavLst>
                                        <p:tav tm="0">
                                          <p:val>
                                            <p:strVal val="#ppt_x-.2"/>
                                          </p:val>
                                        </p:tav>
                                        <p:tav tm="100000">
                                          <p:val>
                                            <p:strVal val="#ppt_x"/>
                                          </p:val>
                                        </p:tav>
                                      </p:tavLst>
                                    </p:anim>
                                    <p:anim calcmode="lin" valueType="num">
                                      <p:cBhvr>
                                        <p:cTn id="13" dur="500" fill="hold"/>
                                        <p:tgtEl>
                                          <p:spTgt spid="45059">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4" dur="500"/>
                                        <p:tgtEl>
                                          <p:spTgt spid="45059">
                                            <p:txEl>
                                              <p:pRg st="1" end="1"/>
                                            </p:txEl>
                                          </p:spTgt>
                                        </p:tgtEl>
                                      </p:cBhvr>
                                    </p:animEffect>
                                  </p:childTnLst>
                                </p:cTn>
                              </p:par>
                              <p:par>
                                <p:cTn id="15" presetID="29" presetClass="entr" presetSubtype="0" fill="hold" nodeType="with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 calcmode="lin" valueType="num">
                                      <p:cBhvr>
                                        <p:cTn id="17" dur="500" fill="hold"/>
                                        <p:tgtEl>
                                          <p:spTgt spid="45059">
                                            <p:txEl>
                                              <p:pRg st="2" end="2"/>
                                            </p:txEl>
                                          </p:spTgt>
                                        </p:tgtEl>
                                        <p:attrNameLst>
                                          <p:attrName>ppt_x</p:attrName>
                                        </p:attrNameLst>
                                      </p:cBhvr>
                                      <p:tavLst>
                                        <p:tav tm="0">
                                          <p:val>
                                            <p:strVal val="#ppt_x-.2"/>
                                          </p:val>
                                        </p:tav>
                                        <p:tav tm="100000">
                                          <p:val>
                                            <p:strVal val="#ppt_x"/>
                                          </p:val>
                                        </p:tav>
                                      </p:tavLst>
                                    </p:anim>
                                    <p:anim calcmode="lin" valueType="num">
                                      <p:cBhvr>
                                        <p:cTn id="18" dur="500" fill="hold"/>
                                        <p:tgtEl>
                                          <p:spTgt spid="45059">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9" dur="500"/>
                                        <p:tgtEl>
                                          <p:spTgt spid="45059">
                                            <p:txEl>
                                              <p:pRg st="2" end="2"/>
                                            </p:txEl>
                                          </p:spTgt>
                                        </p:tgtEl>
                                      </p:cBhvr>
                                    </p:animEffect>
                                  </p:childTnLst>
                                </p:cTn>
                              </p:par>
                              <p:par>
                                <p:cTn id="20" presetID="29" presetClass="entr" presetSubtype="0" fill="hold" nodeType="withEffect">
                                  <p:stCondLst>
                                    <p:cond delay="0"/>
                                  </p:stCondLst>
                                  <p:childTnLst>
                                    <p:set>
                                      <p:cBhvr>
                                        <p:cTn id="21" dur="1" fill="hold">
                                          <p:stCondLst>
                                            <p:cond delay="0"/>
                                          </p:stCondLst>
                                        </p:cTn>
                                        <p:tgtEl>
                                          <p:spTgt spid="45059">
                                            <p:txEl>
                                              <p:pRg st="3" end="3"/>
                                            </p:txEl>
                                          </p:spTgt>
                                        </p:tgtEl>
                                        <p:attrNameLst>
                                          <p:attrName>style.visibility</p:attrName>
                                        </p:attrNameLst>
                                      </p:cBhvr>
                                      <p:to>
                                        <p:strVal val="visible"/>
                                      </p:to>
                                    </p:set>
                                    <p:anim calcmode="lin" valueType="num">
                                      <p:cBhvr>
                                        <p:cTn id="22" dur="500" fill="hold"/>
                                        <p:tgtEl>
                                          <p:spTgt spid="45059">
                                            <p:txEl>
                                              <p:pRg st="3" end="3"/>
                                            </p:txEl>
                                          </p:spTgt>
                                        </p:tgtEl>
                                        <p:attrNameLst>
                                          <p:attrName>ppt_x</p:attrName>
                                        </p:attrNameLst>
                                      </p:cBhvr>
                                      <p:tavLst>
                                        <p:tav tm="0">
                                          <p:val>
                                            <p:strVal val="#ppt_x-.2"/>
                                          </p:val>
                                        </p:tav>
                                        <p:tav tm="100000">
                                          <p:val>
                                            <p:strVal val="#ppt_x"/>
                                          </p:val>
                                        </p:tav>
                                      </p:tavLst>
                                    </p:anim>
                                    <p:anim calcmode="lin" valueType="num">
                                      <p:cBhvr>
                                        <p:cTn id="23" dur="500" fill="hold"/>
                                        <p:tgtEl>
                                          <p:spTgt spid="45059">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4" dur="500"/>
                                        <p:tgtEl>
                                          <p:spTgt spid="45059">
                                            <p:txEl>
                                              <p:pRg st="3" end="3"/>
                                            </p:txEl>
                                          </p:spTgt>
                                        </p:tgtEl>
                                      </p:cBhvr>
                                    </p:animEffect>
                                  </p:childTnLst>
                                </p:cTn>
                              </p:par>
                              <p:par>
                                <p:cTn id="25" presetID="29" presetClass="entr" presetSubtype="0" fill="hold" nodeType="withEffect">
                                  <p:stCondLst>
                                    <p:cond delay="0"/>
                                  </p:stCondLst>
                                  <p:childTnLst>
                                    <p:set>
                                      <p:cBhvr>
                                        <p:cTn id="26" dur="1" fill="hold">
                                          <p:stCondLst>
                                            <p:cond delay="0"/>
                                          </p:stCondLst>
                                        </p:cTn>
                                        <p:tgtEl>
                                          <p:spTgt spid="45059">
                                            <p:txEl>
                                              <p:pRg st="4" end="4"/>
                                            </p:txEl>
                                          </p:spTgt>
                                        </p:tgtEl>
                                        <p:attrNameLst>
                                          <p:attrName>style.visibility</p:attrName>
                                        </p:attrNameLst>
                                      </p:cBhvr>
                                      <p:to>
                                        <p:strVal val="visible"/>
                                      </p:to>
                                    </p:set>
                                    <p:anim calcmode="lin" valueType="num">
                                      <p:cBhvr>
                                        <p:cTn id="27" dur="500" fill="hold"/>
                                        <p:tgtEl>
                                          <p:spTgt spid="45059">
                                            <p:txEl>
                                              <p:pRg st="4" end="4"/>
                                            </p:txEl>
                                          </p:spTgt>
                                        </p:tgtEl>
                                        <p:attrNameLst>
                                          <p:attrName>ppt_x</p:attrName>
                                        </p:attrNameLst>
                                      </p:cBhvr>
                                      <p:tavLst>
                                        <p:tav tm="0">
                                          <p:val>
                                            <p:strVal val="#ppt_x-.2"/>
                                          </p:val>
                                        </p:tav>
                                        <p:tav tm="100000">
                                          <p:val>
                                            <p:strVal val="#ppt_x"/>
                                          </p:val>
                                        </p:tav>
                                      </p:tavLst>
                                    </p:anim>
                                    <p:anim calcmode="lin" valueType="num">
                                      <p:cBhvr>
                                        <p:cTn id="28" dur="500" fill="hold"/>
                                        <p:tgtEl>
                                          <p:spTgt spid="45059">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9" dur="500"/>
                                        <p:tgtEl>
                                          <p:spTgt spid="45059">
                                            <p:txEl>
                                              <p:pRg st="4" end="4"/>
                                            </p:txEl>
                                          </p:spTgt>
                                        </p:tgtEl>
                                      </p:cBhvr>
                                    </p:animEffect>
                                  </p:childTnLst>
                                </p:cTn>
                              </p:par>
                              <p:par>
                                <p:cTn id="30" presetID="29" presetClass="entr" presetSubtype="0" fill="hold" nodeType="withEffect">
                                  <p:stCondLst>
                                    <p:cond delay="0"/>
                                  </p:stCondLst>
                                  <p:childTnLst>
                                    <p:set>
                                      <p:cBhvr>
                                        <p:cTn id="31" dur="1" fill="hold">
                                          <p:stCondLst>
                                            <p:cond delay="0"/>
                                          </p:stCondLst>
                                        </p:cTn>
                                        <p:tgtEl>
                                          <p:spTgt spid="45059">
                                            <p:txEl>
                                              <p:pRg st="5" end="5"/>
                                            </p:txEl>
                                          </p:spTgt>
                                        </p:tgtEl>
                                        <p:attrNameLst>
                                          <p:attrName>style.visibility</p:attrName>
                                        </p:attrNameLst>
                                      </p:cBhvr>
                                      <p:to>
                                        <p:strVal val="visible"/>
                                      </p:to>
                                    </p:set>
                                    <p:anim calcmode="lin" valueType="num">
                                      <p:cBhvr>
                                        <p:cTn id="32" dur="500" fill="hold"/>
                                        <p:tgtEl>
                                          <p:spTgt spid="45059">
                                            <p:txEl>
                                              <p:pRg st="5" end="5"/>
                                            </p:txEl>
                                          </p:spTgt>
                                        </p:tgtEl>
                                        <p:attrNameLst>
                                          <p:attrName>ppt_x</p:attrName>
                                        </p:attrNameLst>
                                      </p:cBhvr>
                                      <p:tavLst>
                                        <p:tav tm="0">
                                          <p:val>
                                            <p:strVal val="#ppt_x-.2"/>
                                          </p:val>
                                        </p:tav>
                                        <p:tav tm="100000">
                                          <p:val>
                                            <p:strVal val="#ppt_x"/>
                                          </p:val>
                                        </p:tav>
                                      </p:tavLst>
                                    </p:anim>
                                    <p:anim calcmode="lin" valueType="num">
                                      <p:cBhvr>
                                        <p:cTn id="33" dur="500" fill="hold"/>
                                        <p:tgtEl>
                                          <p:spTgt spid="4505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4" dur="500"/>
                                        <p:tgtEl>
                                          <p:spTgt spid="45059">
                                            <p:txEl>
                                              <p:pRg st="5" end="5"/>
                                            </p:txEl>
                                          </p:spTgt>
                                        </p:tgtEl>
                                      </p:cBhvr>
                                    </p:animEffect>
                                  </p:childTnLst>
                                </p:cTn>
                              </p:par>
                              <p:par>
                                <p:cTn id="35" presetID="29" presetClass="entr" presetSubtype="0" fill="hold" nodeType="withEffect">
                                  <p:stCondLst>
                                    <p:cond delay="0"/>
                                  </p:stCondLst>
                                  <p:childTnLst>
                                    <p:set>
                                      <p:cBhvr>
                                        <p:cTn id="36" dur="1" fill="hold">
                                          <p:stCondLst>
                                            <p:cond delay="0"/>
                                          </p:stCondLst>
                                        </p:cTn>
                                        <p:tgtEl>
                                          <p:spTgt spid="45059">
                                            <p:txEl>
                                              <p:pRg st="6" end="6"/>
                                            </p:txEl>
                                          </p:spTgt>
                                        </p:tgtEl>
                                        <p:attrNameLst>
                                          <p:attrName>style.visibility</p:attrName>
                                        </p:attrNameLst>
                                      </p:cBhvr>
                                      <p:to>
                                        <p:strVal val="visible"/>
                                      </p:to>
                                    </p:set>
                                    <p:anim calcmode="lin" valueType="num">
                                      <p:cBhvr>
                                        <p:cTn id="37" dur="500" fill="hold"/>
                                        <p:tgtEl>
                                          <p:spTgt spid="45059">
                                            <p:txEl>
                                              <p:pRg st="6" end="6"/>
                                            </p:txEl>
                                          </p:spTgt>
                                        </p:tgtEl>
                                        <p:attrNameLst>
                                          <p:attrName>ppt_x</p:attrName>
                                        </p:attrNameLst>
                                      </p:cBhvr>
                                      <p:tavLst>
                                        <p:tav tm="0">
                                          <p:val>
                                            <p:strVal val="#ppt_x-.2"/>
                                          </p:val>
                                        </p:tav>
                                        <p:tav tm="100000">
                                          <p:val>
                                            <p:strVal val="#ppt_x"/>
                                          </p:val>
                                        </p:tav>
                                      </p:tavLst>
                                    </p:anim>
                                    <p:anim calcmode="lin" valueType="num">
                                      <p:cBhvr>
                                        <p:cTn id="38" dur="500" fill="hold"/>
                                        <p:tgtEl>
                                          <p:spTgt spid="45059">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9" dur="500"/>
                                        <p:tgtEl>
                                          <p:spTgt spid="45059">
                                            <p:txEl>
                                              <p:pRg st="6" end="6"/>
                                            </p:txEl>
                                          </p:spTgt>
                                        </p:tgtEl>
                                      </p:cBhvr>
                                    </p:animEffect>
                                  </p:childTnLst>
                                </p:cTn>
                              </p:par>
                              <p:par>
                                <p:cTn id="40" presetID="29" presetClass="entr" presetSubtype="0" fill="hold" nodeType="withEffect">
                                  <p:stCondLst>
                                    <p:cond delay="0"/>
                                  </p:stCondLst>
                                  <p:childTnLst>
                                    <p:set>
                                      <p:cBhvr>
                                        <p:cTn id="41" dur="1" fill="hold">
                                          <p:stCondLst>
                                            <p:cond delay="0"/>
                                          </p:stCondLst>
                                        </p:cTn>
                                        <p:tgtEl>
                                          <p:spTgt spid="45059">
                                            <p:txEl>
                                              <p:pRg st="7" end="7"/>
                                            </p:txEl>
                                          </p:spTgt>
                                        </p:tgtEl>
                                        <p:attrNameLst>
                                          <p:attrName>style.visibility</p:attrName>
                                        </p:attrNameLst>
                                      </p:cBhvr>
                                      <p:to>
                                        <p:strVal val="visible"/>
                                      </p:to>
                                    </p:set>
                                    <p:anim calcmode="lin" valueType="num">
                                      <p:cBhvr>
                                        <p:cTn id="42" dur="500" fill="hold"/>
                                        <p:tgtEl>
                                          <p:spTgt spid="45059">
                                            <p:txEl>
                                              <p:pRg st="7" end="7"/>
                                            </p:txEl>
                                          </p:spTgt>
                                        </p:tgtEl>
                                        <p:attrNameLst>
                                          <p:attrName>ppt_x</p:attrName>
                                        </p:attrNameLst>
                                      </p:cBhvr>
                                      <p:tavLst>
                                        <p:tav tm="0">
                                          <p:val>
                                            <p:strVal val="#ppt_x-.2"/>
                                          </p:val>
                                        </p:tav>
                                        <p:tav tm="100000">
                                          <p:val>
                                            <p:strVal val="#ppt_x"/>
                                          </p:val>
                                        </p:tav>
                                      </p:tavLst>
                                    </p:anim>
                                    <p:anim calcmode="lin" valueType="num">
                                      <p:cBhvr>
                                        <p:cTn id="43" dur="500" fill="hold"/>
                                        <p:tgtEl>
                                          <p:spTgt spid="45059">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4" dur="500"/>
                                        <p:tgtEl>
                                          <p:spTgt spid="450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46081"/>
          <p:cNvSpPr>
            <a:spLocks noGrp="1" noChangeArrowheads="1"/>
          </p:cNvSpPr>
          <p:nvPr>
            <p:ph type="title"/>
          </p:nvPr>
        </p:nvSpPr>
        <p:spPr/>
        <p:txBody>
          <a:bodyPr/>
          <a:lstStyle/>
          <a:p>
            <a:r>
              <a:rPr lang="en-US" altLang="zh-CN" sz="3500"/>
              <a:t>6.5  </a:t>
            </a:r>
            <a:r>
              <a:rPr lang="zh-CN" altLang="en-US" sz="3500"/>
              <a:t>文件系统的实现</a:t>
            </a:r>
            <a:endParaRPr lang="zh-CN" altLang="en-US" sz="3500"/>
          </a:p>
        </p:txBody>
      </p:sp>
      <p:sp>
        <p:nvSpPr>
          <p:cNvPr id="46083" name="内容占位符 46082"/>
          <p:cNvSpPr>
            <a:spLocks noGrp="1" noChangeArrowheads="1"/>
          </p:cNvSpPr>
          <p:nvPr>
            <p:ph idx="1"/>
          </p:nvPr>
        </p:nvSpPr>
        <p:spPr>
          <a:xfrm>
            <a:off x="685800" y="1719263"/>
            <a:ext cx="7924800" cy="4411662"/>
          </a:xfrm>
        </p:spPr>
        <p:txBody>
          <a:bodyPr/>
          <a:lstStyle/>
          <a:p>
            <a:pPr>
              <a:lnSpc>
                <a:spcPct val="90000"/>
              </a:lnSpc>
              <a:buFont typeface="Wingdings" panose="05000000000000000000" pitchFamily="2" charset="2"/>
              <a:buNone/>
            </a:pPr>
            <a:r>
              <a:rPr lang="en-US" altLang="zh-CN"/>
              <a:t>6.5.1  </a:t>
            </a:r>
            <a:r>
              <a:rPr lang="zh-CN" altLang="en-US"/>
              <a:t>文件系统的格式</a:t>
            </a:r>
            <a:endParaRPr lang="zh-CN" altLang="en-US"/>
          </a:p>
          <a:p>
            <a:pPr>
              <a:lnSpc>
                <a:spcPct val="90000"/>
              </a:lnSpc>
              <a:buFont typeface="Wingdings" panose="05000000000000000000" pitchFamily="2" charset="2"/>
              <a:buNone/>
            </a:pPr>
            <a:r>
              <a:rPr lang="zh-CN" altLang="en-US"/>
              <a:t>  </a:t>
            </a:r>
            <a:r>
              <a:rPr lang="en-US" altLang="zh-CN"/>
              <a:t>1</a:t>
            </a:r>
            <a:r>
              <a:rPr lang="zh-CN" altLang="en-US"/>
              <a:t>．文件系统的不同含义</a:t>
            </a:r>
            <a:endParaRPr lang="zh-CN" altLang="en-US"/>
          </a:p>
          <a:p>
            <a:pPr>
              <a:lnSpc>
                <a:spcPct val="90000"/>
              </a:lnSpc>
              <a:buFont typeface="Wingdings" panose="05000000000000000000" pitchFamily="2" charset="2"/>
              <a:buNone/>
            </a:pPr>
            <a:r>
              <a:rPr lang="zh-CN" altLang="en-US">
                <a:solidFill>
                  <a:srgbClr val="0033CC"/>
                </a:solidFill>
              </a:rPr>
              <a:t>文件</a:t>
            </a:r>
            <a:r>
              <a:rPr lang="en-US" altLang="zh-CN">
                <a:solidFill>
                  <a:srgbClr val="0033CC"/>
                </a:solidFill>
              </a:rPr>
              <a:t>---</a:t>
            </a:r>
            <a:r>
              <a:rPr lang="zh-CN" altLang="en-US"/>
              <a:t>主要指磁盘文件。 </a:t>
            </a:r>
            <a:r>
              <a:rPr lang="en-US" altLang="zh-CN"/>
              <a:t>(</a:t>
            </a:r>
            <a:r>
              <a:rPr lang="zh-CN" altLang="en-US"/>
              <a:t>偶包括内存虚拟盘存储的文件</a:t>
            </a:r>
            <a:r>
              <a:rPr lang="en-US" altLang="zh-CN"/>
              <a:t>\</a:t>
            </a:r>
            <a:r>
              <a:rPr lang="zh-CN" altLang="en-US"/>
              <a:t>外部设备</a:t>
            </a:r>
            <a:r>
              <a:rPr lang="en-US" altLang="zh-CN"/>
              <a:t>)</a:t>
            </a:r>
            <a:r>
              <a:rPr lang="zh-CN" altLang="en-US"/>
              <a:t>。</a:t>
            </a:r>
            <a:endParaRPr lang="zh-CN" altLang="en-US"/>
          </a:p>
          <a:p>
            <a:pPr>
              <a:lnSpc>
                <a:spcPct val="90000"/>
              </a:lnSpc>
              <a:buFont typeface="Wingdings" panose="05000000000000000000" pitchFamily="2" charset="2"/>
              <a:buNone/>
            </a:pPr>
            <a:r>
              <a:rPr lang="zh-CN" altLang="en-US">
                <a:solidFill>
                  <a:srgbClr val="0033CC"/>
                </a:solidFill>
              </a:rPr>
              <a:t>文件系统</a:t>
            </a:r>
            <a:r>
              <a:rPr lang="en-US" altLang="zh-CN">
                <a:solidFill>
                  <a:srgbClr val="0033CC"/>
                </a:solidFill>
              </a:rPr>
              <a:t>—</a:t>
            </a:r>
            <a:r>
              <a:rPr lang="zh-CN" altLang="en-US"/>
              <a:t>在操作系统内部用来对文件进行控制和管理的一套机制及其实现。</a:t>
            </a:r>
            <a:endParaRPr lang="zh-CN" altLang="en-US"/>
          </a:p>
          <a:p>
            <a:pPr>
              <a:lnSpc>
                <a:spcPct val="90000"/>
              </a:lnSpc>
              <a:buFont typeface="Wingdings" panose="05000000000000000000" pitchFamily="2" charset="2"/>
              <a:buNone/>
            </a:pPr>
            <a:r>
              <a:rPr lang="zh-CN" altLang="en-US">
                <a:solidFill>
                  <a:srgbClr val="FF0000"/>
                </a:solidFill>
              </a:rPr>
              <a:t>例如</a:t>
            </a:r>
            <a:r>
              <a:rPr lang="en-US" altLang="zh-CN"/>
              <a:t>,Linux</a:t>
            </a:r>
            <a:r>
              <a:rPr lang="zh-CN" altLang="en-US"/>
              <a:t>文件系统是</a:t>
            </a:r>
            <a:r>
              <a:rPr lang="en-US" altLang="zh-CN"/>
              <a:t>ext2, Windows NT</a:t>
            </a:r>
            <a:r>
              <a:rPr lang="zh-CN" altLang="en-US"/>
              <a:t>的文件系统是</a:t>
            </a:r>
            <a:r>
              <a:rPr lang="en-US" altLang="zh-CN"/>
              <a:t>NTFS</a:t>
            </a:r>
            <a:r>
              <a:rPr lang="zh-CN" altLang="en-US"/>
              <a:t>或</a:t>
            </a:r>
            <a:r>
              <a:rPr lang="en-US" altLang="zh-CN"/>
              <a:t>FAT32</a:t>
            </a:r>
            <a:r>
              <a:rPr lang="zh-CN" altLang="en-US"/>
              <a:t>。</a:t>
            </a:r>
            <a:endParaRPr lang="zh-CN" altLang="en-US"/>
          </a:p>
          <a:p>
            <a:pPr>
              <a:lnSpc>
                <a:spcPct val="90000"/>
              </a:lnSpc>
              <a:buFont typeface="Wingdings" panose="05000000000000000000" pitchFamily="2" charset="2"/>
              <a:buNone/>
            </a:pPr>
            <a:r>
              <a:rPr lang="zh-CN" altLang="en-US"/>
              <a:t>  </a:t>
            </a:r>
            <a:endParaRPr lang="zh-CN" altLang="en-US">
              <a:solidFill>
                <a:srgbClr val="0033CC"/>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ox(in)">
                                      <p:cBhvr>
                                        <p:cTn id="7" dur="500"/>
                                        <p:tgtEl>
                                          <p:spTgt spid="46083">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6083">
                                            <p:txEl>
                                              <p:pRg st="2" end="2"/>
                                            </p:txEl>
                                          </p:spTgt>
                                        </p:tgtEl>
                                        <p:attrNameLst>
                                          <p:attrName>style.visibility</p:attrName>
                                        </p:attrNameLst>
                                      </p:cBhvr>
                                      <p:to>
                                        <p:strVal val="visible"/>
                                      </p:to>
                                    </p:set>
                                    <p:animEffect transition="in" filter="box(in)">
                                      <p:cBhvr>
                                        <p:cTn id="10" dur="500"/>
                                        <p:tgtEl>
                                          <p:spTgt spid="46083">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animEffect transition="in" filter="box(in)">
                                      <p:cBhvr>
                                        <p:cTn id="13" dur="500"/>
                                        <p:tgtEl>
                                          <p:spTgt spid="46083">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46083">
                                            <p:txEl>
                                              <p:pRg st="4" end="4"/>
                                            </p:txEl>
                                          </p:spTgt>
                                        </p:tgtEl>
                                        <p:attrNameLst>
                                          <p:attrName>style.visibility</p:attrName>
                                        </p:attrNameLst>
                                      </p:cBhvr>
                                      <p:to>
                                        <p:strVal val="visible"/>
                                      </p:to>
                                    </p:set>
                                    <p:animEffect transition="in" filter="box(in)">
                                      <p:cBhvr>
                                        <p:cTn id="16" dur="500"/>
                                        <p:tgtEl>
                                          <p:spTgt spid="46083">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46083">
                                            <p:txEl>
                                              <p:pRg st="5" end="5"/>
                                            </p:txEl>
                                          </p:spTgt>
                                        </p:tgtEl>
                                        <p:attrNameLst>
                                          <p:attrName>style.visibility</p:attrName>
                                        </p:attrNameLst>
                                      </p:cBhvr>
                                      <p:to>
                                        <p:strVal val="visible"/>
                                      </p:to>
                                    </p:set>
                                    <p:animEffect transition="in" filter="box(in)">
                                      <p:cBhvr>
                                        <p:cTn id="19" dur="500"/>
                                        <p:tgtEl>
                                          <p:spTgt spid="460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09569"/>
          <p:cNvSpPr>
            <a:spLocks noGrp="1" noChangeArrowheads="1"/>
          </p:cNvSpPr>
          <p:nvPr>
            <p:ph type="title"/>
          </p:nvPr>
        </p:nvSpPr>
        <p:spPr/>
        <p:txBody>
          <a:bodyPr/>
          <a:lstStyle/>
          <a:p>
            <a:endParaRPr lang="zh-CN" altLang="en-US"/>
          </a:p>
        </p:txBody>
      </p:sp>
      <p:sp>
        <p:nvSpPr>
          <p:cNvPr id="41986" name="文本占位符 109570"/>
          <p:cNvSpPr>
            <a:spLocks noGrp="1" noChangeArrowheads="1"/>
          </p:cNvSpPr>
          <p:nvPr>
            <p:ph idx="1"/>
          </p:nvPr>
        </p:nvSpPr>
        <p:spPr/>
        <p:txBody>
          <a:bodyPr/>
          <a:lstStyle/>
          <a:p>
            <a:pPr>
              <a:buFont typeface="Wingdings" panose="05000000000000000000" pitchFamily="2" charset="2"/>
              <a:buNone/>
            </a:pPr>
            <a:r>
              <a:rPr lang="en-US" altLang="zh-CN"/>
              <a:t>2</a:t>
            </a:r>
            <a:r>
              <a:rPr lang="zh-CN" altLang="en-US"/>
              <a:t>．</a:t>
            </a:r>
            <a:r>
              <a:rPr lang="zh-CN" altLang="en-US">
                <a:solidFill>
                  <a:srgbClr val="0033CC"/>
                </a:solidFill>
              </a:rPr>
              <a:t>文件系统的格式</a:t>
            </a:r>
            <a:endParaRPr lang="zh-CN" altLang="en-US">
              <a:solidFill>
                <a:srgbClr val="0033CC"/>
              </a:solidFill>
            </a:endParaRPr>
          </a:p>
          <a:p>
            <a:r>
              <a:rPr lang="zh-CN" altLang="en-US"/>
              <a:t>通过硬盘分区，</a:t>
            </a:r>
            <a:r>
              <a:rPr lang="zh-CN" altLang="en-US">
                <a:solidFill>
                  <a:srgbClr val="0033CC"/>
                </a:solidFill>
              </a:rPr>
              <a:t>多个操作系统</a:t>
            </a:r>
            <a:r>
              <a:rPr lang="zh-CN" altLang="en-US"/>
              <a:t>可以共存一个硬盘里。</a:t>
            </a:r>
            <a:endParaRPr lang="zh-CN" altLang="en-US"/>
          </a:p>
          <a:p>
            <a:r>
              <a:rPr lang="zh-CN" altLang="en-US"/>
              <a:t>提高访问效率。</a:t>
            </a:r>
            <a:endParaRPr lang="zh-CN" altLang="en-US"/>
          </a:p>
          <a:p>
            <a:r>
              <a:rPr lang="zh-CN" altLang="en-US"/>
              <a:t>方便不同操作系统的管理和维护。</a:t>
            </a:r>
            <a:endParaRPr lang="zh-CN" altLang="en-US"/>
          </a:p>
          <a:p>
            <a:r>
              <a:rPr lang="zh-CN" altLang="en-US">
                <a:solidFill>
                  <a:srgbClr val="FF0000"/>
                </a:solidFill>
              </a:rPr>
              <a:t>硬盘分区信息在第一个扇区里</a:t>
            </a:r>
            <a:r>
              <a:rPr lang="en-US" altLang="zh-CN"/>
              <a:t>—</a:t>
            </a:r>
            <a:r>
              <a:rPr lang="zh-CN" altLang="en-US"/>
              <a:t>存储整个硬盘的</a:t>
            </a:r>
            <a:r>
              <a:rPr lang="zh-CN" altLang="en-US">
                <a:solidFill>
                  <a:srgbClr val="FF0000"/>
                </a:solidFill>
              </a:rPr>
              <a:t>主引导记录</a:t>
            </a:r>
            <a:r>
              <a:rPr lang="en-US" altLang="zh-CN"/>
              <a:t>MBR</a:t>
            </a:r>
            <a:r>
              <a:rPr lang="zh-CN" altLang="en-US"/>
              <a:t>。</a:t>
            </a:r>
            <a:endParaRPr lang="zh-CN" altLang="en-US"/>
          </a:p>
        </p:txBody>
      </p:sp>
    </p:spTree>
  </p:cSld>
  <p:clrMapOvr>
    <a:masterClrMapping/>
  </p:clrMapOvr>
  <p:transition spd="slow">
    <p:pull dir="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39265"/>
          <p:cNvSpPr>
            <a:spLocks noGrp="1" noChangeArrowheads="1"/>
          </p:cNvSpPr>
          <p:nvPr>
            <p:ph type="title"/>
          </p:nvPr>
        </p:nvSpPr>
        <p:spPr/>
        <p:txBody>
          <a:bodyPr/>
          <a:lstStyle/>
          <a:p>
            <a:endParaRPr lang="zh-CN" altLang="en-US"/>
          </a:p>
        </p:txBody>
      </p:sp>
      <p:sp>
        <p:nvSpPr>
          <p:cNvPr id="43010" name="文本占位符 139266"/>
          <p:cNvSpPr>
            <a:spLocks noGrp="1" noChangeArrowheads="1"/>
          </p:cNvSpPr>
          <p:nvPr>
            <p:ph idx="1"/>
          </p:nvPr>
        </p:nvSpPr>
        <p:spPr/>
        <p:txBody>
          <a:bodyPr/>
          <a:lstStyle/>
          <a:p>
            <a:r>
              <a:rPr lang="zh-CN" altLang="en-US"/>
              <a:t>硬盘分区的信息存放在它的第</a:t>
            </a:r>
            <a:r>
              <a:rPr lang="en-US" altLang="zh-CN"/>
              <a:t>1</a:t>
            </a:r>
            <a:r>
              <a:rPr lang="zh-CN" altLang="en-US"/>
              <a:t>个扇区（对应于</a:t>
            </a:r>
            <a:r>
              <a:rPr lang="en-US" altLang="zh-CN"/>
              <a:t>0</a:t>
            </a:r>
            <a:r>
              <a:rPr lang="zh-CN" altLang="en-US"/>
              <a:t>号磁头的</a:t>
            </a:r>
            <a:r>
              <a:rPr lang="en-US" altLang="zh-CN"/>
              <a:t>0</a:t>
            </a:r>
            <a:r>
              <a:rPr lang="zh-CN" altLang="en-US"/>
              <a:t>号柱面</a:t>
            </a:r>
            <a:r>
              <a:rPr lang="en-US" altLang="zh-CN"/>
              <a:t>0</a:t>
            </a:r>
            <a:r>
              <a:rPr lang="zh-CN" altLang="en-US"/>
              <a:t>扇区），该扇区就是整个硬盘的主引导记录</a:t>
            </a:r>
            <a:r>
              <a:rPr lang="en-US" altLang="zh-CN"/>
              <a:t>MBR</a:t>
            </a:r>
            <a:r>
              <a:rPr lang="zh-CN" altLang="en-US"/>
              <a:t>。</a:t>
            </a:r>
            <a:endParaRPr lang="zh-CN" altLang="en-US"/>
          </a:p>
          <a:p>
            <a:r>
              <a:rPr lang="zh-CN" altLang="en-US"/>
              <a:t>计算机启动引导时，</a:t>
            </a:r>
            <a:r>
              <a:rPr lang="en-US" altLang="zh-CN"/>
              <a:t>BIOS</a:t>
            </a:r>
            <a:r>
              <a:rPr lang="zh-CN" altLang="en-US"/>
              <a:t>从该扇区读入并且执行其中的程序。即读入分区表，检查系统的活动分区（即默认引导分区），读入该活动分区的启动扇区）。</a:t>
            </a:r>
            <a:endParaRPr lang="zh-CN" altLang="en-US"/>
          </a:p>
        </p:txBody>
      </p:sp>
    </p:spTree>
  </p:cSld>
  <p:clrMapOvr>
    <a:masterClrMapping/>
  </p:clrMapOvr>
  <p:transition spd="slow">
    <p:pull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47105"/>
          <p:cNvSpPr>
            <a:spLocks noGrp="1" noChangeArrowheads="1"/>
          </p:cNvSpPr>
          <p:nvPr>
            <p:ph type="title"/>
          </p:nvPr>
        </p:nvSpPr>
        <p:spPr/>
        <p:txBody>
          <a:bodyPr/>
          <a:lstStyle/>
          <a:p>
            <a:r>
              <a:rPr lang="zh-CN" altLang="en-US"/>
              <a:t>硬盘分区</a:t>
            </a:r>
            <a:endParaRPr lang="zh-CN" altLang="en-US"/>
          </a:p>
        </p:txBody>
      </p:sp>
      <p:pic>
        <p:nvPicPr>
          <p:cNvPr id="44034" name="文本占位符 47107" descr="B61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919163" y="1719263"/>
            <a:ext cx="7459662" cy="4035425"/>
          </a:xfrm>
        </p:spPr>
      </p:pic>
      <p:sp>
        <p:nvSpPr>
          <p:cNvPr id="44035" name="矩形 47108"/>
          <p:cNvSpPr>
            <a:spLocks noChangeArrowheads="1"/>
          </p:cNvSpPr>
          <p:nvPr/>
        </p:nvSpPr>
        <p:spPr bwMode="auto">
          <a:xfrm>
            <a:off x="2438400" y="5791200"/>
            <a:ext cx="3529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6-14  </a:t>
            </a:r>
            <a:r>
              <a:rPr lang="zh-CN" altLang="en-US">
                <a:latin typeface="Tahoma" panose="020B0604030504040204" pitchFamily="34" charset="0"/>
              </a:rPr>
              <a:t>一种可能的文件系统格式</a:t>
            </a:r>
            <a:endParaRPr lang="zh-CN" altLang="en-US">
              <a:latin typeface="Tahoma" panose="020B0604030504040204" pitchFamily="34" charset="0"/>
            </a:endParaRPr>
          </a:p>
        </p:txBody>
      </p:sp>
    </p:spTree>
  </p:cSld>
  <p:clrMapOvr>
    <a:masterClrMapping/>
  </p:clrMapOvr>
  <p:transition spd="slow">
    <p:pull dir="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10593"/>
          <p:cNvSpPr>
            <a:spLocks noGrp="1" noChangeArrowheads="1"/>
          </p:cNvSpPr>
          <p:nvPr>
            <p:ph type="title"/>
          </p:nvPr>
        </p:nvSpPr>
        <p:spPr/>
        <p:txBody>
          <a:bodyPr/>
          <a:lstStyle/>
          <a:p>
            <a:endParaRPr lang="zh-CN" altLang="en-US"/>
          </a:p>
        </p:txBody>
      </p:sp>
      <p:sp>
        <p:nvSpPr>
          <p:cNvPr id="45058" name="文本占位符 110594"/>
          <p:cNvSpPr>
            <a:spLocks noGrp="1" noChangeArrowheads="1"/>
          </p:cNvSpPr>
          <p:nvPr>
            <p:ph idx="1"/>
          </p:nvPr>
        </p:nvSpPr>
        <p:spPr/>
        <p:txBody>
          <a:bodyPr/>
          <a:lstStyle/>
          <a:p>
            <a:r>
              <a:rPr lang="zh-CN" altLang="en-US" sz="2600"/>
              <a:t>每个文件系统分区格式有很大差别。</a:t>
            </a:r>
            <a:endParaRPr lang="zh-CN" altLang="en-US" sz="2600"/>
          </a:p>
          <a:p>
            <a:r>
              <a:rPr lang="zh-CN" altLang="en-US" sz="2600">
                <a:solidFill>
                  <a:schemeClr val="tx2"/>
                </a:solidFill>
              </a:rPr>
              <a:t>引导块</a:t>
            </a:r>
            <a:r>
              <a:rPr lang="zh-CN" altLang="en-US" sz="2600"/>
              <a:t>：为引导操作系统而设。磁盘分区都以引导块开头。</a:t>
            </a:r>
            <a:endParaRPr lang="zh-CN" altLang="en-US" sz="2600"/>
          </a:p>
          <a:p>
            <a:r>
              <a:rPr lang="zh-CN" altLang="en-US" sz="2600">
                <a:solidFill>
                  <a:schemeClr val="tx2"/>
                </a:solidFill>
              </a:rPr>
              <a:t>超级块</a:t>
            </a:r>
            <a:r>
              <a:rPr lang="zh-CN" altLang="en-US" sz="2600"/>
              <a:t>：包含该文件系统全部关键参数。</a:t>
            </a:r>
            <a:endParaRPr lang="zh-CN" altLang="en-US" sz="2600"/>
          </a:p>
          <a:p>
            <a:r>
              <a:rPr lang="en-US" altLang="zh-CN" sz="2600"/>
              <a:t>……</a:t>
            </a:r>
            <a:endParaRPr lang="en-US" altLang="zh-CN" sz="2600"/>
          </a:p>
          <a:p>
            <a:r>
              <a:rPr lang="zh-CN" altLang="en-US" sz="2600">
                <a:solidFill>
                  <a:schemeClr val="tx2"/>
                </a:solidFill>
              </a:rPr>
              <a:t>每个文件一个</a:t>
            </a:r>
            <a:r>
              <a:rPr lang="en-US" altLang="zh-CN" sz="2600">
                <a:solidFill>
                  <a:schemeClr val="tx2"/>
                </a:solidFill>
              </a:rPr>
              <a:t>I</a:t>
            </a:r>
            <a:r>
              <a:rPr lang="zh-CN" altLang="en-US" sz="2600">
                <a:solidFill>
                  <a:schemeClr val="tx2"/>
                </a:solidFill>
              </a:rPr>
              <a:t>节点</a:t>
            </a:r>
            <a:r>
              <a:rPr lang="zh-CN" altLang="en-US" sz="2600"/>
              <a:t>，包含该文件的全部管理信息。</a:t>
            </a:r>
            <a:endParaRPr lang="zh-CN" altLang="en-US" sz="2600"/>
          </a:p>
          <a:p>
            <a:r>
              <a:rPr lang="en-US" altLang="zh-CN" sz="2600"/>
              <a:t>  </a:t>
            </a:r>
            <a:r>
              <a:rPr lang="zh-CN" altLang="en-US" sz="1600"/>
              <a:t>（通过幻数告诉</a:t>
            </a:r>
            <a:r>
              <a:rPr lang="en-US" altLang="zh-CN" sz="1600"/>
              <a:t>UNIX   </a:t>
            </a:r>
            <a:r>
              <a:rPr lang="zh-CN" altLang="en-US" sz="1600"/>
              <a:t>操作系统此文件是二进制可执行文件</a:t>
            </a:r>
            <a:r>
              <a:rPr lang="en-US" altLang="zh-CN" sz="1600"/>
              <a:t>,   </a:t>
            </a:r>
            <a:r>
              <a:rPr lang="zh-CN" altLang="en-US" sz="1600"/>
              <a:t>和其中包含的其它类型</a:t>
            </a:r>
            <a:r>
              <a:rPr lang="en-US" altLang="zh-CN" sz="1600"/>
              <a:t>.   </a:t>
            </a:r>
            <a:r>
              <a:rPr lang="zh-CN" altLang="en-US" sz="1600"/>
              <a:t>幻数的概念已经扩展到数据文件</a:t>
            </a:r>
            <a:r>
              <a:rPr lang="en-US" altLang="zh-CN" sz="1600"/>
              <a:t>.</a:t>
            </a:r>
            <a:r>
              <a:rPr lang="zh-CN" altLang="en-US" sz="1600"/>
              <a:t>任何在文件固定位置有与文件类型相关的不变标识符的文件都可以这样表示</a:t>
            </a:r>
            <a:r>
              <a:rPr lang="en-US" altLang="zh-CN" sz="1600"/>
              <a:t>.   </a:t>
            </a:r>
            <a:r>
              <a:rPr lang="zh-CN" altLang="en-US" sz="1600"/>
              <a:t>这些文件中的信息可以从幻数文件</a:t>
            </a:r>
            <a:r>
              <a:rPr lang="en-US" altLang="zh-CN" sz="1600"/>
              <a:t>/usr/share/magic </a:t>
            </a:r>
            <a:r>
              <a:rPr lang="zh-CN" altLang="en-US" sz="1600"/>
              <a:t>中读取</a:t>
            </a:r>
            <a:r>
              <a:rPr lang="en-US" altLang="zh-CN" sz="1600"/>
              <a:t>.  </a:t>
            </a:r>
            <a:r>
              <a:rPr lang="zh-CN" altLang="en-US" sz="1600"/>
              <a:t>） </a:t>
            </a:r>
            <a:r>
              <a:rPr lang="en-US" altLang="zh-CN" sz="1600"/>
              <a:t> </a:t>
            </a:r>
            <a:r>
              <a:rPr lang="en-US" altLang="zh-CN" sz="2600"/>
              <a:t> </a:t>
            </a:r>
            <a:endParaRPr lang="en-US" altLang="zh-CN" sz="2600"/>
          </a:p>
        </p:txBody>
      </p:sp>
    </p:spTree>
  </p:cSld>
  <p:clrMapOvr>
    <a:masterClrMapping/>
  </p:clrMapOvr>
  <p:transition spd="slow">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48129"/>
          <p:cNvSpPr>
            <a:spLocks noGrp="1" noChangeArrowheads="1"/>
          </p:cNvSpPr>
          <p:nvPr>
            <p:ph type="title"/>
          </p:nvPr>
        </p:nvSpPr>
        <p:spPr/>
        <p:txBody>
          <a:bodyPr/>
          <a:lstStyle/>
          <a:p>
            <a:r>
              <a:rPr lang="en-US" altLang="zh-CN" sz="3500"/>
              <a:t>6.5.2  </a:t>
            </a:r>
            <a:r>
              <a:rPr lang="zh-CN" altLang="en-US" sz="3500"/>
              <a:t>文件存储分配</a:t>
            </a:r>
            <a:br>
              <a:rPr lang="zh-CN" altLang="en-US" sz="3500"/>
            </a:br>
            <a:endParaRPr lang="zh-CN" altLang="en-US" sz="3500"/>
          </a:p>
        </p:txBody>
      </p:sp>
      <p:sp>
        <p:nvSpPr>
          <p:cNvPr id="48131" name="内容占位符 48130"/>
          <p:cNvSpPr>
            <a:spLocks noGrp="1" noChangeArrowheads="1"/>
          </p:cNvSpPr>
          <p:nvPr>
            <p:ph idx="1"/>
          </p:nvPr>
        </p:nvSpPr>
        <p:spPr>
          <a:xfrm>
            <a:off x="457200" y="1219200"/>
            <a:ext cx="8229600" cy="5257800"/>
          </a:xfrm>
        </p:spPr>
        <p:txBody>
          <a:bodyPr/>
          <a:lstStyle/>
          <a:p>
            <a:pPr>
              <a:lnSpc>
                <a:spcPct val="90000"/>
              </a:lnSpc>
            </a:pPr>
            <a:r>
              <a:rPr lang="zh-CN" altLang="en-US" sz="2400"/>
              <a:t>文件的</a:t>
            </a:r>
            <a:r>
              <a:rPr lang="zh-CN" altLang="en-US" sz="2400">
                <a:solidFill>
                  <a:srgbClr val="FF0000"/>
                </a:solidFill>
              </a:rPr>
              <a:t>物理组织</a:t>
            </a:r>
            <a:r>
              <a:rPr lang="zh-CN" altLang="en-US" sz="2400"/>
              <a:t>涉及一个文件在存储设备上是如何放置的。</a:t>
            </a:r>
            <a:endParaRPr lang="zh-CN" altLang="en-US" sz="2400"/>
          </a:p>
          <a:p>
            <a:pPr>
              <a:lnSpc>
                <a:spcPct val="90000"/>
              </a:lnSpc>
            </a:pPr>
            <a:r>
              <a:rPr lang="zh-CN" altLang="en-US" sz="2400"/>
              <a:t>它和文件的</a:t>
            </a:r>
            <a:r>
              <a:rPr lang="zh-CN" altLang="en-US" sz="2400">
                <a:solidFill>
                  <a:srgbClr val="FF0000"/>
                </a:solidFill>
              </a:rPr>
              <a:t>存取方法</a:t>
            </a:r>
            <a:r>
              <a:rPr lang="zh-CN" altLang="en-US" sz="2400"/>
              <a:t>有密切关系，另外也取决于</a:t>
            </a:r>
            <a:r>
              <a:rPr lang="zh-CN" altLang="en-US" sz="2400">
                <a:solidFill>
                  <a:srgbClr val="FF0000"/>
                </a:solidFill>
              </a:rPr>
              <a:t>存储设备</a:t>
            </a:r>
            <a:r>
              <a:rPr lang="zh-CN" altLang="en-US" sz="2400"/>
              <a:t>的物理特性。</a:t>
            </a:r>
            <a:endParaRPr lang="zh-CN" altLang="en-US" sz="2400"/>
          </a:p>
          <a:p>
            <a:pPr>
              <a:lnSpc>
                <a:spcPct val="90000"/>
              </a:lnSpc>
            </a:pPr>
            <a:r>
              <a:rPr lang="zh-CN" altLang="en-US" sz="2400"/>
              <a:t>文件的存储分配涉及以下</a:t>
            </a:r>
            <a:r>
              <a:rPr lang="zh-CN" altLang="en-US" sz="2400">
                <a:solidFill>
                  <a:srgbClr val="FF0000"/>
                </a:solidFill>
              </a:rPr>
              <a:t>三个问题</a:t>
            </a:r>
            <a:r>
              <a:rPr lang="zh-CN" altLang="en-US" sz="2400"/>
              <a:t>：</a:t>
            </a:r>
            <a:endParaRPr lang="zh-CN" altLang="en-US" sz="2400"/>
          </a:p>
          <a:p>
            <a:pPr>
              <a:lnSpc>
                <a:spcPct val="90000"/>
              </a:lnSpc>
              <a:buFont typeface="Wingdings" panose="05000000000000000000" pitchFamily="2" charset="2"/>
              <a:buNone/>
            </a:pPr>
            <a:r>
              <a:rPr lang="zh-CN" altLang="en-US" sz="2400"/>
              <a:t>   </a:t>
            </a:r>
            <a:r>
              <a:rPr lang="en-US" altLang="zh-CN" sz="2400"/>
              <a:t>① </a:t>
            </a:r>
            <a:r>
              <a:rPr lang="zh-CN" altLang="en-US" sz="2400"/>
              <a:t>当创建新文件时，是否一次性为该文件分配所需的</a:t>
            </a:r>
            <a:r>
              <a:rPr lang="zh-CN" altLang="en-US" sz="2400">
                <a:solidFill>
                  <a:srgbClr val="FF0000"/>
                </a:solidFill>
              </a:rPr>
              <a:t>最大</a:t>
            </a:r>
            <a:r>
              <a:rPr lang="zh-CN" altLang="en-US" sz="2400"/>
              <a:t>空间？</a:t>
            </a:r>
            <a:endParaRPr lang="zh-CN" altLang="en-US" sz="2400"/>
          </a:p>
          <a:p>
            <a:pPr>
              <a:lnSpc>
                <a:spcPct val="90000"/>
              </a:lnSpc>
              <a:buFont typeface="Wingdings" panose="05000000000000000000" pitchFamily="2" charset="2"/>
              <a:buNone/>
            </a:pPr>
            <a:r>
              <a:rPr lang="zh-CN" altLang="en-US" sz="2400"/>
              <a:t>   </a:t>
            </a:r>
            <a:r>
              <a:rPr lang="en-US" altLang="zh-CN" sz="2400"/>
              <a:t>② </a:t>
            </a:r>
            <a:r>
              <a:rPr lang="zh-CN" altLang="en-US" sz="2400"/>
              <a:t>为文件分配的空间可以是一个或多个</a:t>
            </a:r>
            <a:r>
              <a:rPr lang="zh-CN" altLang="en-US" sz="2400">
                <a:solidFill>
                  <a:srgbClr val="FF0000"/>
                </a:solidFill>
              </a:rPr>
              <a:t>连续</a:t>
            </a:r>
            <a:r>
              <a:rPr lang="zh-CN" altLang="en-US" sz="2400"/>
              <a:t>的单位。</a:t>
            </a:r>
            <a:endParaRPr lang="zh-CN" altLang="en-US" sz="2400"/>
          </a:p>
          <a:p>
            <a:pPr>
              <a:lnSpc>
                <a:spcPct val="90000"/>
              </a:lnSpc>
              <a:buFont typeface="Wingdings" panose="05000000000000000000" pitchFamily="2" charset="2"/>
              <a:buNone/>
            </a:pPr>
            <a:r>
              <a:rPr lang="zh-CN" altLang="en-US" sz="2400"/>
              <a:t>   分配文件空间时应采用的</a:t>
            </a:r>
            <a:r>
              <a:rPr lang="zh-CN" altLang="en-US" sz="2400">
                <a:solidFill>
                  <a:srgbClr val="FF0000"/>
                </a:solidFill>
              </a:rPr>
              <a:t>单位有多大</a:t>
            </a:r>
            <a:r>
              <a:rPr lang="zh-CN" altLang="en-US" sz="2400"/>
              <a:t>？</a:t>
            </a:r>
            <a:endParaRPr lang="zh-CN" altLang="en-US" sz="2400"/>
          </a:p>
          <a:p>
            <a:pPr>
              <a:lnSpc>
                <a:spcPct val="90000"/>
              </a:lnSpc>
              <a:buFont typeface="Wingdings" panose="05000000000000000000" pitchFamily="2" charset="2"/>
              <a:buNone/>
            </a:pPr>
            <a:r>
              <a:rPr lang="zh-CN" altLang="en-US" sz="2400"/>
              <a:t>   </a:t>
            </a:r>
            <a:r>
              <a:rPr lang="en-US" altLang="zh-CN" sz="2400"/>
              <a:t>③ </a:t>
            </a:r>
            <a:r>
              <a:rPr lang="zh-CN" altLang="en-US" sz="2400"/>
              <a:t>为了记录分配给各个文件的连续单位的情况，应该使用哪种形式的</a:t>
            </a:r>
            <a:r>
              <a:rPr lang="zh-CN" altLang="en-US" sz="2400">
                <a:solidFill>
                  <a:srgbClr val="FF0000"/>
                </a:solidFill>
              </a:rPr>
              <a:t>数据结构或表格</a:t>
            </a:r>
            <a:r>
              <a:rPr lang="zh-CN" altLang="en-US" sz="2400"/>
              <a:t>？典型的文件分配表</a:t>
            </a:r>
            <a:r>
              <a:rPr lang="en-US" altLang="zh-CN" sz="2400"/>
              <a:t>FAT</a:t>
            </a:r>
            <a:r>
              <a:rPr lang="zh-CN" altLang="en-US" sz="2400"/>
              <a:t>。</a:t>
            </a:r>
            <a:endParaRPr lang="zh-CN" altLang="en-US" sz="2400"/>
          </a:p>
          <a:p>
            <a:pPr>
              <a:lnSpc>
                <a:spcPct val="90000"/>
              </a:lnSpc>
              <a:buFont typeface="Wingdings" panose="05000000000000000000" pitchFamily="2" charset="2"/>
              <a:buNone/>
            </a:pPr>
            <a:endParaRPr lang="zh-CN" altLang="en-US" sz="2800"/>
          </a:p>
          <a:p>
            <a:pPr>
              <a:lnSpc>
                <a:spcPct val="90000"/>
              </a:lnSpc>
              <a:buFont typeface="Wingdings" panose="05000000000000000000" pitchFamily="2" charset="2"/>
              <a:buNone/>
            </a:pPr>
            <a:r>
              <a:rPr lang="zh-CN" altLang="en-US" sz="2800"/>
              <a:t>    常用文件分配方法有</a:t>
            </a:r>
            <a:r>
              <a:rPr lang="en-US" altLang="zh-CN" sz="2800"/>
              <a:t>:</a:t>
            </a:r>
            <a:r>
              <a:rPr lang="zh-CN" altLang="en-US" sz="2800">
                <a:solidFill>
                  <a:srgbClr val="0033CC"/>
                </a:solidFill>
              </a:rPr>
              <a:t>连续分配、链接分配、索引分配</a:t>
            </a:r>
            <a:r>
              <a:rPr lang="zh-CN" altLang="en-US" sz="2800"/>
              <a:t>三种。</a:t>
            </a:r>
            <a:endParaRPr lang="zh-CN" altLang="en-US" sz="28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blinds(horizontal)">
                                      <p:cBhvr>
                                        <p:cTn id="7" dur="500"/>
                                        <p:tgtEl>
                                          <p:spTgt spid="481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131">
                                            <p:txEl>
                                              <p:pRg st="1" end="1"/>
                                            </p:txEl>
                                          </p:spTgt>
                                        </p:tgtEl>
                                        <p:attrNameLst>
                                          <p:attrName>style.visibility</p:attrName>
                                        </p:attrNameLst>
                                      </p:cBhvr>
                                      <p:to>
                                        <p:strVal val="visible"/>
                                      </p:to>
                                    </p:set>
                                    <p:animEffect transition="in" filter="blinds(horizontal)">
                                      <p:cBhvr>
                                        <p:cTn id="10" dur="500"/>
                                        <p:tgtEl>
                                          <p:spTgt spid="4813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131">
                                            <p:txEl>
                                              <p:pRg st="2" end="2"/>
                                            </p:txEl>
                                          </p:spTgt>
                                        </p:tgtEl>
                                        <p:attrNameLst>
                                          <p:attrName>style.visibility</p:attrName>
                                        </p:attrNameLst>
                                      </p:cBhvr>
                                      <p:to>
                                        <p:strVal val="visible"/>
                                      </p:to>
                                    </p:set>
                                    <p:animEffect transition="in" filter="blinds(horizontal)">
                                      <p:cBhvr>
                                        <p:cTn id="13" dur="500"/>
                                        <p:tgtEl>
                                          <p:spTgt spid="48131">
                                            <p:txEl>
                                              <p:pRg st="2" end="2"/>
                                            </p:txEl>
                                          </p:spTgt>
                                        </p:tgtEl>
                                      </p:cBhvr>
                                    </p:animEffect>
                                  </p:childTnLst>
                                </p:cTn>
                              </p:par>
                              <p:par>
                                <p:cTn id="14" presetID="2" presetClass="entr" presetSubtype="4" fill="hold" nodeType="withEffect">
                                  <p:stCondLst>
                                    <p:cond delay="0"/>
                                  </p:stCondLst>
                                  <p:childTnLst>
                                    <p:set>
                                      <p:cBhvr>
                                        <p:cTn id="15" dur="1" fill="hold">
                                          <p:stCondLst>
                                            <p:cond delay="0"/>
                                          </p:stCondLst>
                                        </p:cTn>
                                        <p:tgtEl>
                                          <p:spTgt spid="48131">
                                            <p:txEl>
                                              <p:pRg st="3" end="3"/>
                                            </p:txEl>
                                          </p:spTgt>
                                        </p:tgtEl>
                                        <p:attrNameLst>
                                          <p:attrName>style.visibility</p:attrName>
                                        </p:attrNameLst>
                                      </p:cBhvr>
                                      <p:to>
                                        <p:strVal val="visible"/>
                                      </p:to>
                                    </p:set>
                                    <p:anim calcmode="lin" valueType="num">
                                      <p:cBhvr additive="base">
                                        <p:cTn id="16" dur="500" fill="hold"/>
                                        <p:tgtEl>
                                          <p:spTgt spid="48131">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8131">
                                            <p:txEl>
                                              <p:pRg st="3" end="3"/>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8131">
                                            <p:txEl>
                                              <p:pRg st="4" end="4"/>
                                            </p:txEl>
                                          </p:spTgt>
                                        </p:tgtEl>
                                        <p:attrNameLst>
                                          <p:attrName>style.visibility</p:attrName>
                                        </p:attrNameLst>
                                      </p:cBhvr>
                                      <p:to>
                                        <p:strVal val="visible"/>
                                      </p:to>
                                    </p:set>
                                    <p:anim calcmode="lin" valueType="num">
                                      <p:cBhvr additive="base">
                                        <p:cTn id="20" dur="500" fill="hold"/>
                                        <p:tgtEl>
                                          <p:spTgt spid="48131">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8131">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48131">
                                            <p:txEl>
                                              <p:pRg st="5" end="5"/>
                                            </p:txEl>
                                          </p:spTgt>
                                        </p:tgtEl>
                                        <p:attrNameLst>
                                          <p:attrName>style.visibility</p:attrName>
                                        </p:attrNameLst>
                                      </p:cBhvr>
                                      <p:to>
                                        <p:strVal val="visible"/>
                                      </p:to>
                                    </p:set>
                                    <p:anim calcmode="lin" valueType="num">
                                      <p:cBhvr additive="base">
                                        <p:cTn id="24" dur="500" fill="hold"/>
                                        <p:tgtEl>
                                          <p:spTgt spid="48131">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8131">
                                            <p:txEl>
                                              <p:pRg st="5" end="5"/>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48131">
                                            <p:txEl>
                                              <p:pRg st="6" end="6"/>
                                            </p:txEl>
                                          </p:spTgt>
                                        </p:tgtEl>
                                        <p:attrNameLst>
                                          <p:attrName>style.visibility</p:attrName>
                                        </p:attrNameLst>
                                      </p:cBhvr>
                                      <p:to>
                                        <p:strVal val="visible"/>
                                      </p:to>
                                    </p:set>
                                    <p:anim calcmode="lin" valueType="num">
                                      <p:cBhvr additive="base">
                                        <p:cTn id="28" dur="500" fill="hold"/>
                                        <p:tgtEl>
                                          <p:spTgt spid="48131">
                                            <p:txEl>
                                              <p:pRg st="6" end="6"/>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48131">
                                            <p:txEl>
                                              <p:pRg st="6" end="6"/>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48131">
                                            <p:txEl>
                                              <p:pRg st="8" end="8"/>
                                            </p:txEl>
                                          </p:spTgt>
                                        </p:tgtEl>
                                        <p:attrNameLst>
                                          <p:attrName>style.visibility</p:attrName>
                                        </p:attrNameLst>
                                      </p:cBhvr>
                                      <p:to>
                                        <p:strVal val="visible"/>
                                      </p:to>
                                    </p:set>
                                    <p:anim calcmode="lin" valueType="num">
                                      <p:cBhvr additive="base">
                                        <p:cTn id="32" dur="500" fill="hold"/>
                                        <p:tgtEl>
                                          <p:spTgt spid="48131">
                                            <p:txEl>
                                              <p:pRg st="8" end="8"/>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81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49153"/>
          <p:cNvSpPr>
            <a:spLocks noGrp="1" noChangeArrowheads="1"/>
          </p:cNvSpPr>
          <p:nvPr>
            <p:ph type="title"/>
          </p:nvPr>
        </p:nvSpPr>
        <p:spPr/>
        <p:txBody>
          <a:bodyPr/>
          <a:lstStyle/>
          <a:p>
            <a:r>
              <a:rPr lang="en-US" altLang="zh-CN" sz="3500"/>
              <a:t>1</a:t>
            </a:r>
            <a:r>
              <a:rPr lang="zh-CN" altLang="en-US" sz="3500"/>
              <a:t>．连续分配</a:t>
            </a:r>
            <a:br>
              <a:rPr lang="zh-CN" altLang="en-US" sz="3500"/>
            </a:br>
            <a:endParaRPr lang="zh-CN" altLang="en-US" sz="3500"/>
          </a:p>
        </p:txBody>
      </p:sp>
      <p:pic>
        <p:nvPicPr>
          <p:cNvPr id="47106" name="文本占位符 49155" descr="B615"/>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304800" y="1143000"/>
            <a:ext cx="8305800" cy="5254625"/>
          </a:xfrm>
        </p:spPr>
      </p:pic>
      <p:sp>
        <p:nvSpPr>
          <p:cNvPr id="47107" name="矩形 49156"/>
          <p:cNvSpPr>
            <a:spLocks noChangeArrowheads="1"/>
          </p:cNvSpPr>
          <p:nvPr/>
        </p:nvSpPr>
        <p:spPr bwMode="auto">
          <a:xfrm>
            <a:off x="2971800" y="6096000"/>
            <a:ext cx="2386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6-15  </a:t>
            </a:r>
            <a:r>
              <a:rPr lang="zh-CN" altLang="en-US">
                <a:latin typeface="Tahoma" panose="020B0604030504040204" pitchFamily="34" charset="0"/>
              </a:rPr>
              <a:t>连续文件分配</a:t>
            </a:r>
            <a:endParaRPr lang="zh-CN" altLang="en-US">
              <a:latin typeface="Tahoma" panose="020B0604030504040204" pitchFamily="34" charset="0"/>
            </a:endParaRPr>
          </a:p>
        </p:txBody>
      </p:sp>
    </p:spTree>
  </p:cSld>
  <p:clrMapOvr>
    <a:masterClrMapping/>
  </p:clrMapOvr>
  <p:transition spd="slow">
    <p:pull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内容占位符 50178"/>
          <p:cNvSpPr>
            <a:spLocks noGrp="1" noChangeArrowheads="1"/>
          </p:cNvSpPr>
          <p:nvPr>
            <p:ph idx="1"/>
          </p:nvPr>
        </p:nvSpPr>
        <p:spPr>
          <a:xfrm>
            <a:off x="457200" y="609600"/>
            <a:ext cx="8153400" cy="5410200"/>
          </a:xfrm>
        </p:spPr>
        <p:txBody>
          <a:bodyPr/>
          <a:lstStyle/>
          <a:p>
            <a:endParaRPr lang="en-US" altLang="zh-CN" sz="2600"/>
          </a:p>
          <a:p>
            <a:r>
              <a:rPr lang="zh-CN" altLang="en-US" sz="2600">
                <a:solidFill>
                  <a:srgbClr val="0033CC"/>
                </a:solidFill>
              </a:rPr>
              <a:t>连续文件</a:t>
            </a:r>
            <a:r>
              <a:rPr lang="en-US" altLang="zh-CN" sz="2600">
                <a:solidFill>
                  <a:srgbClr val="0033CC"/>
                </a:solidFill>
              </a:rPr>
              <a:t>--</a:t>
            </a:r>
            <a:r>
              <a:rPr lang="zh-CN" altLang="en-US" sz="2600"/>
              <a:t>采用连续分配方法可把逻辑文件中的信息顺序地存放到一组邻接的物理盘块中，这样形成的物理文件称为</a:t>
            </a:r>
            <a:r>
              <a:rPr lang="zh-CN" altLang="en-US" sz="2600">
                <a:solidFill>
                  <a:srgbClr val="0033CC"/>
                </a:solidFill>
              </a:rPr>
              <a:t>连续文件</a:t>
            </a:r>
            <a:r>
              <a:rPr lang="zh-CN" altLang="en-US" sz="2600"/>
              <a:t>（或</a:t>
            </a:r>
            <a:r>
              <a:rPr lang="zh-CN" altLang="en-US" sz="2600">
                <a:solidFill>
                  <a:srgbClr val="0033CC"/>
                </a:solidFill>
              </a:rPr>
              <a:t>顺序文件</a:t>
            </a:r>
            <a:r>
              <a:rPr lang="zh-CN" altLang="en-US" sz="2600"/>
              <a:t>）。</a:t>
            </a:r>
            <a:endParaRPr lang="zh-CN" altLang="en-US" sz="2600"/>
          </a:p>
          <a:p>
            <a:r>
              <a:rPr lang="zh-CN" altLang="en-US" sz="2600"/>
              <a:t>优点是在顺序存取时速度较快，一次可以存取多个盘块，改进了</a:t>
            </a:r>
            <a:r>
              <a:rPr lang="en-US" altLang="zh-CN" sz="2600"/>
              <a:t>I/O</a:t>
            </a:r>
            <a:r>
              <a:rPr lang="zh-CN" altLang="en-US" sz="2600"/>
              <a:t>性能。另外，也很容易直接存取文件中的任意一块。</a:t>
            </a:r>
            <a:endParaRPr lang="zh-CN" altLang="en-US" sz="2600"/>
          </a:p>
          <a:p>
            <a:r>
              <a:rPr lang="zh-CN" altLang="en-US" sz="2600"/>
              <a:t>连续分配也存在如下</a:t>
            </a:r>
            <a:r>
              <a:rPr lang="zh-CN" altLang="en-US" sz="2600">
                <a:solidFill>
                  <a:srgbClr val="FF0000"/>
                </a:solidFill>
              </a:rPr>
              <a:t>缺点</a:t>
            </a:r>
            <a:r>
              <a:rPr lang="zh-CN" altLang="en-US" sz="2600"/>
              <a:t>：</a:t>
            </a:r>
            <a:endParaRPr lang="zh-CN" altLang="en-US" sz="2600"/>
          </a:p>
          <a:p>
            <a:pPr>
              <a:buFont typeface="Wingdings" panose="05000000000000000000" pitchFamily="2" charset="2"/>
              <a:buNone/>
            </a:pPr>
            <a:r>
              <a:rPr lang="zh-CN" altLang="en-US" sz="2600"/>
              <a:t>   </a:t>
            </a:r>
            <a:r>
              <a:rPr lang="en-US" altLang="zh-CN" sz="2600"/>
              <a:t>① </a:t>
            </a:r>
            <a:r>
              <a:rPr lang="zh-CN" altLang="en-US" sz="2600"/>
              <a:t>要求建立文件时就确定它的长度，依此来分配相应的存储空间，这往往很难实现。</a:t>
            </a:r>
            <a:endParaRPr lang="zh-CN" altLang="en-US" sz="2600"/>
          </a:p>
          <a:p>
            <a:pPr>
              <a:buFont typeface="Wingdings" panose="05000000000000000000" pitchFamily="2" charset="2"/>
              <a:buNone/>
            </a:pPr>
            <a:r>
              <a:rPr lang="zh-CN" altLang="en-US" sz="2600"/>
              <a:t>   </a:t>
            </a:r>
            <a:r>
              <a:rPr lang="en-US" altLang="zh-CN" sz="2600"/>
              <a:t>② </a:t>
            </a:r>
            <a:r>
              <a:rPr lang="zh-CN" altLang="en-US" sz="2600"/>
              <a:t>它不便于文件的动态扩充。</a:t>
            </a:r>
            <a:endParaRPr lang="zh-CN" altLang="en-US" sz="2600"/>
          </a:p>
          <a:p>
            <a:pPr>
              <a:buFont typeface="Wingdings" panose="05000000000000000000" pitchFamily="2" charset="2"/>
              <a:buNone/>
            </a:pPr>
            <a:r>
              <a:rPr lang="zh-CN" altLang="en-US" sz="2600"/>
              <a:t>   </a:t>
            </a:r>
            <a:r>
              <a:rPr lang="en-US" altLang="zh-CN" sz="2600"/>
              <a:t>③ </a:t>
            </a:r>
            <a:r>
              <a:rPr lang="zh-CN" altLang="en-US" sz="2600"/>
              <a:t>可能出现外部碎片。 </a:t>
            </a:r>
            <a:endParaRPr lang="zh-CN" altLang="en-US" sz="26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animEffect transition="in" filter="blinds(horizontal)">
                                      <p:cBhvr>
                                        <p:cTn id="7" dur="500"/>
                                        <p:tgtEl>
                                          <p:spTgt spid="5017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0179">
                                            <p:txEl>
                                              <p:pRg st="2" end="2"/>
                                            </p:txEl>
                                          </p:spTgt>
                                        </p:tgtEl>
                                        <p:attrNameLst>
                                          <p:attrName>style.visibility</p:attrName>
                                        </p:attrNameLst>
                                      </p:cBhvr>
                                      <p:to>
                                        <p:strVal val="visible"/>
                                      </p:to>
                                    </p:set>
                                    <p:animEffect transition="in" filter="blinds(horizontal)">
                                      <p:cBhvr>
                                        <p:cTn id="10" dur="500"/>
                                        <p:tgtEl>
                                          <p:spTgt spid="5017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0179">
                                            <p:txEl>
                                              <p:pRg st="3" end="3"/>
                                            </p:txEl>
                                          </p:spTgt>
                                        </p:tgtEl>
                                        <p:attrNameLst>
                                          <p:attrName>style.visibility</p:attrName>
                                        </p:attrNameLst>
                                      </p:cBhvr>
                                      <p:to>
                                        <p:strVal val="visible"/>
                                      </p:to>
                                    </p:set>
                                    <p:animEffect transition="in" filter="blinds(horizontal)">
                                      <p:cBhvr>
                                        <p:cTn id="13" dur="500"/>
                                        <p:tgtEl>
                                          <p:spTgt spid="50179">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50179">
                                            <p:txEl>
                                              <p:pRg st="4" end="4"/>
                                            </p:txEl>
                                          </p:spTgt>
                                        </p:tgtEl>
                                        <p:attrNameLst>
                                          <p:attrName>style.visibility</p:attrName>
                                        </p:attrNameLst>
                                      </p:cBhvr>
                                      <p:to>
                                        <p:strVal val="visible"/>
                                      </p:to>
                                    </p:set>
                                    <p:animEffect transition="in" filter="box(in)">
                                      <p:cBhvr>
                                        <p:cTn id="16" dur="500"/>
                                        <p:tgtEl>
                                          <p:spTgt spid="50179">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50179">
                                            <p:txEl>
                                              <p:pRg st="5" end="5"/>
                                            </p:txEl>
                                          </p:spTgt>
                                        </p:tgtEl>
                                        <p:attrNameLst>
                                          <p:attrName>style.visibility</p:attrName>
                                        </p:attrNameLst>
                                      </p:cBhvr>
                                      <p:to>
                                        <p:strVal val="visible"/>
                                      </p:to>
                                    </p:set>
                                    <p:animEffect transition="in" filter="box(in)">
                                      <p:cBhvr>
                                        <p:cTn id="19" dur="500"/>
                                        <p:tgtEl>
                                          <p:spTgt spid="50179">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50179">
                                            <p:txEl>
                                              <p:pRg st="6" end="6"/>
                                            </p:txEl>
                                          </p:spTgt>
                                        </p:tgtEl>
                                        <p:attrNameLst>
                                          <p:attrName>style.visibility</p:attrName>
                                        </p:attrNameLst>
                                      </p:cBhvr>
                                      <p:to>
                                        <p:strVal val="visible"/>
                                      </p:to>
                                    </p:set>
                                    <p:animEffect transition="in" filter="box(in)">
                                      <p:cBhvr>
                                        <p:cTn id="22" dur="500"/>
                                        <p:tgtEl>
                                          <p:spTgt spid="501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51201"/>
          <p:cNvSpPr>
            <a:spLocks noGrp="1" noChangeArrowheads="1"/>
          </p:cNvSpPr>
          <p:nvPr>
            <p:ph type="title"/>
          </p:nvPr>
        </p:nvSpPr>
        <p:spPr>
          <a:xfrm>
            <a:off x="457200" y="122238"/>
            <a:ext cx="7543800" cy="652462"/>
          </a:xfrm>
        </p:spPr>
        <p:txBody>
          <a:bodyPr/>
          <a:lstStyle/>
          <a:p>
            <a:r>
              <a:rPr lang="en-US" altLang="zh-CN" sz="3500"/>
              <a:t>2</a:t>
            </a:r>
            <a:r>
              <a:rPr lang="zh-CN" altLang="en-US" sz="3500"/>
              <a:t>．链接分配</a:t>
            </a:r>
            <a:endParaRPr lang="zh-CN" altLang="en-US" sz="3500"/>
          </a:p>
        </p:txBody>
      </p:sp>
      <p:sp>
        <p:nvSpPr>
          <p:cNvPr id="49154" name="文本占位符 51202"/>
          <p:cNvSpPr>
            <a:spLocks noGrp="1" noChangeArrowheads="1"/>
          </p:cNvSpPr>
          <p:nvPr>
            <p:ph idx="1"/>
          </p:nvPr>
        </p:nvSpPr>
        <p:spPr>
          <a:xfrm>
            <a:off x="457200" y="914400"/>
            <a:ext cx="8229600" cy="5105400"/>
          </a:xfrm>
        </p:spPr>
        <p:txBody>
          <a:bodyPr/>
          <a:lstStyle/>
          <a:p>
            <a:r>
              <a:rPr lang="zh-CN" altLang="en-US"/>
              <a:t>把一个逻辑上连续的文件分散存放在不同的物理块中，这些物理块不要求连续，也不必规则排列。 </a:t>
            </a:r>
            <a:r>
              <a:rPr lang="en-US" altLang="zh-CN" sz="2800">
                <a:solidFill>
                  <a:srgbClr val="FF0000"/>
                </a:solidFill>
              </a:rPr>
              <a:t>FAT</a:t>
            </a:r>
            <a:r>
              <a:rPr lang="zh-CN" altLang="en-US" sz="2800">
                <a:solidFill>
                  <a:srgbClr val="FF0000"/>
                </a:solidFill>
              </a:rPr>
              <a:t>表，每个文件</a:t>
            </a:r>
            <a:r>
              <a:rPr lang="zh-CN" altLang="en-US" sz="2800"/>
              <a:t>在表中占一项。</a:t>
            </a:r>
            <a:r>
              <a:rPr lang="zh-CN" altLang="en-US"/>
              <a:t> </a:t>
            </a:r>
            <a:endParaRPr lang="zh-CN" altLang="en-US"/>
          </a:p>
        </p:txBody>
      </p:sp>
      <p:pic>
        <p:nvPicPr>
          <p:cNvPr id="49155" name="图片 51203" descr="B6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2362200"/>
            <a:ext cx="7772400" cy="429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矩形 51204"/>
          <p:cNvSpPr>
            <a:spLocks noChangeArrowheads="1"/>
          </p:cNvSpPr>
          <p:nvPr/>
        </p:nvSpPr>
        <p:spPr bwMode="auto">
          <a:xfrm>
            <a:off x="3429000" y="6491288"/>
            <a:ext cx="23860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6-16  </a:t>
            </a:r>
            <a:r>
              <a:rPr lang="zh-CN" altLang="en-US">
                <a:latin typeface="Tahoma" panose="020B0604030504040204" pitchFamily="34" charset="0"/>
              </a:rPr>
              <a:t>链接文件分配</a:t>
            </a:r>
            <a:endParaRPr lang="zh-CN" altLang="en-US">
              <a:latin typeface="Tahoma" panose="020B0604030504040204" pitchFamily="34" charset="0"/>
            </a:endParaRPr>
          </a:p>
        </p:txBody>
      </p:sp>
    </p:spTree>
  </p:cSld>
  <p:clrMapOvr>
    <a:masterClrMapping/>
  </p:clrMapOvr>
  <p:transition spd="slow">
    <p:pull dir="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内容占位符 52226"/>
          <p:cNvSpPr>
            <a:spLocks noGrp="1" noChangeArrowheads="1"/>
          </p:cNvSpPr>
          <p:nvPr>
            <p:ph idx="1"/>
          </p:nvPr>
        </p:nvSpPr>
        <p:spPr>
          <a:xfrm>
            <a:off x="457200" y="685800"/>
            <a:ext cx="8229600" cy="5791200"/>
          </a:xfrm>
        </p:spPr>
        <p:txBody>
          <a:bodyPr/>
          <a:lstStyle/>
          <a:p>
            <a:r>
              <a:rPr lang="zh-CN" altLang="en-US"/>
              <a:t>采用链接分配</a:t>
            </a:r>
            <a:r>
              <a:rPr lang="zh-CN" altLang="en-US">
                <a:solidFill>
                  <a:srgbClr val="FF0000"/>
                </a:solidFill>
              </a:rPr>
              <a:t>不会</a:t>
            </a:r>
            <a:r>
              <a:rPr lang="zh-CN" altLang="en-US"/>
              <a:t>产生磁盘的</a:t>
            </a:r>
            <a:r>
              <a:rPr lang="zh-CN" altLang="en-US">
                <a:solidFill>
                  <a:srgbClr val="FF0000"/>
                </a:solidFill>
              </a:rPr>
              <a:t>外部碎片</a:t>
            </a:r>
            <a:r>
              <a:rPr lang="zh-CN" altLang="en-US"/>
              <a:t>。</a:t>
            </a:r>
            <a:endParaRPr lang="zh-CN" altLang="en-US"/>
          </a:p>
          <a:p>
            <a:r>
              <a:rPr lang="zh-CN" altLang="en-US"/>
              <a:t>文件可以</a:t>
            </a:r>
            <a:r>
              <a:rPr lang="zh-CN" altLang="en-US">
                <a:solidFill>
                  <a:srgbClr val="FF0000"/>
                </a:solidFill>
              </a:rPr>
              <a:t>动态增长</a:t>
            </a:r>
            <a:r>
              <a:rPr lang="zh-CN" altLang="en-US"/>
              <a:t>。</a:t>
            </a:r>
            <a:endParaRPr lang="zh-CN" altLang="en-US"/>
          </a:p>
          <a:p>
            <a:r>
              <a:rPr lang="zh-CN" altLang="en-US">
                <a:solidFill>
                  <a:srgbClr val="FF0000"/>
                </a:solidFill>
              </a:rPr>
              <a:t>不需要紧缩</a:t>
            </a:r>
            <a:r>
              <a:rPr lang="zh-CN" altLang="en-US"/>
              <a:t>磁盘空间。</a:t>
            </a:r>
            <a:endParaRPr lang="zh-CN" altLang="en-US"/>
          </a:p>
          <a:p>
            <a:r>
              <a:rPr lang="zh-CN" altLang="en-US"/>
              <a:t>这种物理结构形式的文件称做</a:t>
            </a:r>
            <a:r>
              <a:rPr lang="zh-CN" altLang="en-US" b="0">
                <a:solidFill>
                  <a:srgbClr val="0033CC"/>
                </a:solidFill>
              </a:rPr>
              <a:t>链接文件</a:t>
            </a:r>
            <a:r>
              <a:rPr lang="zh-CN" altLang="en-US"/>
              <a:t>或</a:t>
            </a:r>
            <a:r>
              <a:rPr lang="zh-CN" altLang="en-US" b="0">
                <a:solidFill>
                  <a:srgbClr val="0033CC"/>
                </a:solidFill>
              </a:rPr>
              <a:t>串连文件</a:t>
            </a:r>
            <a:r>
              <a:rPr lang="zh-CN" altLang="en-US">
                <a:solidFill>
                  <a:srgbClr val="0033CC"/>
                </a:solidFill>
              </a:rPr>
              <a:t>。</a:t>
            </a:r>
            <a:endParaRPr lang="zh-CN" altLang="en-US">
              <a:solidFill>
                <a:srgbClr val="0033CC"/>
              </a:solidFill>
            </a:endParaRPr>
          </a:p>
          <a:p>
            <a:r>
              <a:rPr lang="zh-CN" altLang="en-US"/>
              <a:t>带来以下三个新的问题：</a:t>
            </a:r>
            <a:endParaRPr lang="zh-CN" altLang="en-US"/>
          </a:p>
          <a:p>
            <a:pPr>
              <a:buFont typeface="Wingdings" panose="05000000000000000000" pitchFamily="2" charset="2"/>
              <a:buNone/>
            </a:pPr>
            <a:r>
              <a:rPr lang="zh-CN" altLang="en-US"/>
              <a:t>   </a:t>
            </a:r>
            <a:r>
              <a:rPr lang="en-US" altLang="zh-CN"/>
              <a:t>① </a:t>
            </a:r>
            <a:r>
              <a:rPr lang="zh-CN" altLang="en-US"/>
              <a:t>一般仅适于对信息的</a:t>
            </a:r>
            <a:r>
              <a:rPr lang="zh-CN" altLang="en-US">
                <a:solidFill>
                  <a:srgbClr val="FF0000"/>
                </a:solidFill>
              </a:rPr>
              <a:t>顺序访问</a:t>
            </a:r>
            <a:r>
              <a:rPr lang="zh-CN" altLang="en-US"/>
              <a:t>，而不利于对文件的随机存取。</a:t>
            </a:r>
            <a:endParaRPr lang="zh-CN" altLang="en-US"/>
          </a:p>
          <a:p>
            <a:pPr>
              <a:buFont typeface="Wingdings" panose="05000000000000000000" pitchFamily="2" charset="2"/>
              <a:buNone/>
            </a:pPr>
            <a:r>
              <a:rPr lang="zh-CN" altLang="en-US"/>
              <a:t>   </a:t>
            </a:r>
            <a:r>
              <a:rPr lang="en-US" altLang="zh-CN"/>
              <a:t>② </a:t>
            </a:r>
            <a:r>
              <a:rPr lang="zh-CN" altLang="en-US"/>
              <a:t>每个物理块上增加一个</a:t>
            </a:r>
            <a:r>
              <a:rPr lang="zh-CN" altLang="en-US">
                <a:solidFill>
                  <a:srgbClr val="FF0000"/>
                </a:solidFill>
              </a:rPr>
              <a:t>链接字</a:t>
            </a:r>
            <a:r>
              <a:rPr lang="zh-CN" altLang="en-US"/>
              <a:t>。</a:t>
            </a:r>
            <a:endParaRPr lang="zh-CN" altLang="en-US"/>
          </a:p>
          <a:p>
            <a:pPr>
              <a:buFont typeface="Wingdings" panose="05000000000000000000" pitchFamily="2" charset="2"/>
              <a:buNone/>
            </a:pPr>
            <a:r>
              <a:rPr lang="zh-CN" altLang="en-US"/>
              <a:t>   </a:t>
            </a:r>
            <a:r>
              <a:rPr lang="en-US" altLang="zh-CN"/>
              <a:t>③ </a:t>
            </a:r>
            <a:r>
              <a:rPr lang="zh-CN" altLang="en-US">
                <a:solidFill>
                  <a:srgbClr val="FF0000"/>
                </a:solidFill>
              </a:rPr>
              <a:t>可靠性不佳</a:t>
            </a:r>
            <a:r>
              <a:rPr lang="zh-CN" altLang="en-US"/>
              <a:t>。丢失、故障。</a:t>
            </a:r>
            <a:endParaRPr lang="zh-CN" altLang="en-US"/>
          </a:p>
          <a:p>
            <a:endParaRPr lang="zh-CN" altLang="en-US" sz="28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Effect transition="in" filter="strips(downLeft)">
                                      <p:cBhvr>
                                        <p:cTn id="7" dur="500"/>
                                        <p:tgtEl>
                                          <p:spTgt spid="52227">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52227">
                                            <p:txEl>
                                              <p:pRg st="1" end="1"/>
                                            </p:txEl>
                                          </p:spTgt>
                                        </p:tgtEl>
                                        <p:attrNameLst>
                                          <p:attrName>style.visibility</p:attrName>
                                        </p:attrNameLst>
                                      </p:cBhvr>
                                      <p:to>
                                        <p:strVal val="visible"/>
                                      </p:to>
                                    </p:set>
                                    <p:animEffect transition="in" filter="strips(downLeft)">
                                      <p:cBhvr>
                                        <p:cTn id="10" dur="500"/>
                                        <p:tgtEl>
                                          <p:spTgt spid="52227">
                                            <p:txEl>
                                              <p:pRg st="1" end="1"/>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52227">
                                            <p:txEl>
                                              <p:pRg st="2" end="2"/>
                                            </p:txEl>
                                          </p:spTgt>
                                        </p:tgtEl>
                                        <p:attrNameLst>
                                          <p:attrName>style.visibility</p:attrName>
                                        </p:attrNameLst>
                                      </p:cBhvr>
                                      <p:to>
                                        <p:strVal val="visible"/>
                                      </p:to>
                                    </p:set>
                                    <p:animEffect transition="in" filter="strips(downLeft)">
                                      <p:cBhvr>
                                        <p:cTn id="13" dur="500"/>
                                        <p:tgtEl>
                                          <p:spTgt spid="5222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2227">
                                            <p:txEl>
                                              <p:pRg st="3" end="3"/>
                                            </p:txEl>
                                          </p:spTgt>
                                        </p:tgtEl>
                                        <p:attrNameLst>
                                          <p:attrName>style.visibility</p:attrName>
                                        </p:attrNameLst>
                                      </p:cBhvr>
                                      <p:to>
                                        <p:strVal val="visible"/>
                                      </p:to>
                                    </p:set>
                                    <p:animEffect transition="in" filter="blinds(horizontal)">
                                      <p:cBhvr>
                                        <p:cTn id="16" dur="500"/>
                                        <p:tgtEl>
                                          <p:spTgt spid="52227">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52227">
                                            <p:txEl>
                                              <p:pRg st="4" end="4"/>
                                            </p:txEl>
                                          </p:spTgt>
                                        </p:tgtEl>
                                        <p:attrNameLst>
                                          <p:attrName>style.visibility</p:attrName>
                                        </p:attrNameLst>
                                      </p:cBhvr>
                                      <p:to>
                                        <p:strVal val="visible"/>
                                      </p:to>
                                    </p:set>
                                    <p:animEffect transition="in" filter="box(in)">
                                      <p:cBhvr>
                                        <p:cTn id="19" dur="500"/>
                                        <p:tgtEl>
                                          <p:spTgt spid="52227">
                                            <p:txEl>
                                              <p:pRg st="4" end="4"/>
                                            </p:txEl>
                                          </p:spTgt>
                                        </p:tgtEl>
                                      </p:cBhvr>
                                    </p:animEffect>
                                  </p:childTnLst>
                                </p:cTn>
                              </p:par>
                              <p:par>
                                <p:cTn id="20" presetID="2" presetClass="entr" presetSubtype="4" fill="hold" nodeType="withEffect">
                                  <p:stCondLst>
                                    <p:cond delay="0"/>
                                  </p:stCondLst>
                                  <p:childTnLst>
                                    <p:set>
                                      <p:cBhvr>
                                        <p:cTn id="21" dur="1" fill="hold">
                                          <p:stCondLst>
                                            <p:cond delay="0"/>
                                          </p:stCondLst>
                                        </p:cTn>
                                        <p:tgtEl>
                                          <p:spTgt spid="52227">
                                            <p:txEl>
                                              <p:pRg st="5" end="5"/>
                                            </p:txEl>
                                          </p:spTgt>
                                        </p:tgtEl>
                                        <p:attrNameLst>
                                          <p:attrName>style.visibility</p:attrName>
                                        </p:attrNameLst>
                                      </p:cBhvr>
                                      <p:to>
                                        <p:strVal val="visible"/>
                                      </p:to>
                                    </p:set>
                                    <p:anim calcmode="lin" valueType="num">
                                      <p:cBhvr additive="base">
                                        <p:cTn id="22" dur="500" fill="hold"/>
                                        <p:tgtEl>
                                          <p:spTgt spid="52227">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2227">
                                            <p:txEl>
                                              <p:pRg st="5" end="5"/>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52227">
                                            <p:txEl>
                                              <p:pRg st="6" end="6"/>
                                            </p:txEl>
                                          </p:spTgt>
                                        </p:tgtEl>
                                        <p:attrNameLst>
                                          <p:attrName>style.visibility</p:attrName>
                                        </p:attrNameLst>
                                      </p:cBhvr>
                                      <p:to>
                                        <p:strVal val="visible"/>
                                      </p:to>
                                    </p:set>
                                    <p:anim calcmode="lin" valueType="num">
                                      <p:cBhvr additive="base">
                                        <p:cTn id="26" dur="500" fill="hold"/>
                                        <p:tgtEl>
                                          <p:spTgt spid="52227">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2227">
                                            <p:txEl>
                                              <p:pRg st="6" end="6"/>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52227">
                                            <p:txEl>
                                              <p:charRg st="129" end="145"/>
                                            </p:txEl>
                                          </p:spTgt>
                                        </p:tgtEl>
                                        <p:attrNameLst>
                                          <p:attrName>style.visibility</p:attrName>
                                        </p:attrNameLst>
                                      </p:cBhvr>
                                      <p:to>
                                        <p:strVal val="visible"/>
                                      </p:to>
                                    </p:set>
                                    <p:anim calcmode="lin" valueType="num">
                                      <p:cBhvr additive="base">
                                        <p:cTn id="30" dur="500" fill="hold"/>
                                        <p:tgtEl>
                                          <p:spTgt spid="52227">
                                            <p:txEl>
                                              <p:charRg st="129" end="14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2227">
                                            <p:txEl>
                                              <p:charRg st="129" end="14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53249"/>
          <p:cNvSpPr>
            <a:spLocks noGrp="1" noChangeArrowheads="1"/>
          </p:cNvSpPr>
          <p:nvPr>
            <p:ph type="title"/>
          </p:nvPr>
        </p:nvSpPr>
        <p:spPr/>
        <p:txBody>
          <a:bodyPr/>
          <a:lstStyle/>
          <a:p>
            <a:endParaRPr lang="zh-CN" altLang="en-US" sz="3500"/>
          </a:p>
        </p:txBody>
      </p:sp>
      <p:sp>
        <p:nvSpPr>
          <p:cNvPr id="51202" name="文本占位符 53250"/>
          <p:cNvSpPr>
            <a:spLocks noGrp="1" noChangeArrowheads="1"/>
          </p:cNvSpPr>
          <p:nvPr>
            <p:ph idx="1"/>
          </p:nvPr>
        </p:nvSpPr>
        <p:spPr>
          <a:xfrm>
            <a:off x="457200" y="990600"/>
            <a:ext cx="8229600" cy="5029200"/>
          </a:xfrm>
        </p:spPr>
        <p:txBody>
          <a:bodyPr/>
          <a:lstStyle/>
          <a:p>
            <a:endParaRPr lang="en-US" altLang="zh-CN" sz="2800"/>
          </a:p>
          <a:p>
            <a:endParaRPr lang="en-US" altLang="zh-CN" sz="1900"/>
          </a:p>
        </p:txBody>
      </p:sp>
      <p:pic>
        <p:nvPicPr>
          <p:cNvPr id="51203" name="图片 53251" descr="B6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914400"/>
            <a:ext cx="8229600" cy="552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矩形 53252"/>
          <p:cNvSpPr>
            <a:spLocks noChangeArrowheads="1"/>
          </p:cNvSpPr>
          <p:nvPr/>
        </p:nvSpPr>
        <p:spPr bwMode="auto">
          <a:xfrm>
            <a:off x="1219200" y="5715000"/>
            <a:ext cx="300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6-17  </a:t>
            </a:r>
            <a:r>
              <a:rPr lang="zh-CN" altLang="en-US">
                <a:latin typeface="Tahoma" panose="020B0604030504040204" pitchFamily="34" charset="0"/>
              </a:rPr>
              <a:t>文件分配表（</a:t>
            </a:r>
            <a:r>
              <a:rPr lang="en-US" altLang="zh-CN">
                <a:latin typeface="Tahoma" panose="020B0604030504040204" pitchFamily="34" charset="0"/>
              </a:rPr>
              <a:t>FAT</a:t>
            </a:r>
            <a:r>
              <a:rPr lang="zh-CN" altLang="en-US">
                <a:latin typeface="Tahoma" panose="020B0604030504040204" pitchFamily="34" charset="0"/>
              </a:rPr>
              <a:t>）</a:t>
            </a:r>
            <a:endParaRPr lang="zh-CN" altLang="en-US">
              <a:latin typeface="Tahoma" panose="020B0604030504040204" pitchFamily="34" charset="0"/>
            </a:endParaRPr>
          </a:p>
        </p:txBody>
      </p:sp>
    </p:spTree>
  </p:cSld>
  <p:clrMapOvr>
    <a:masterClrMapping/>
  </p:clrMapOvr>
  <p:transition spd="slow">
    <p:pull dir="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45409"/>
          <p:cNvSpPr>
            <a:spLocks noGrp="1" noChangeArrowheads="1"/>
          </p:cNvSpPr>
          <p:nvPr>
            <p:ph type="title"/>
          </p:nvPr>
        </p:nvSpPr>
        <p:spPr/>
        <p:txBody>
          <a:bodyPr/>
          <a:lstStyle/>
          <a:p>
            <a:r>
              <a:rPr lang="en-US" altLang="zh-CN" sz="3500" b="0"/>
              <a:t>3</a:t>
            </a:r>
            <a:r>
              <a:rPr lang="zh-CN" altLang="en-US" sz="3500" b="0"/>
              <a:t>．</a:t>
            </a:r>
            <a:r>
              <a:rPr lang="zh-CN" altLang="en-US" sz="3500"/>
              <a:t>索引分配</a:t>
            </a:r>
            <a:br>
              <a:rPr lang="zh-CN" altLang="en-US" sz="3500"/>
            </a:br>
            <a:endParaRPr lang="zh-CN" altLang="en-US" sz="3500"/>
          </a:p>
        </p:txBody>
      </p:sp>
      <p:sp>
        <p:nvSpPr>
          <p:cNvPr id="52226" name="文本占位符 145410"/>
          <p:cNvSpPr>
            <a:spLocks noGrp="1" noChangeArrowheads="1"/>
          </p:cNvSpPr>
          <p:nvPr>
            <p:ph idx="1"/>
          </p:nvPr>
        </p:nvSpPr>
        <p:spPr>
          <a:xfrm>
            <a:off x="457200" y="1371600"/>
            <a:ext cx="8229600" cy="4648200"/>
          </a:xfrm>
        </p:spPr>
        <p:txBody>
          <a:bodyPr/>
          <a:lstStyle/>
          <a:p>
            <a:r>
              <a:rPr lang="zh-CN" altLang="en-US" sz="2800"/>
              <a:t>系统为每个文件建立一个索引表，其中的表项指出存放该文件的各个物理块号。</a:t>
            </a:r>
            <a:endParaRPr lang="zh-CN" altLang="en-US" sz="2800"/>
          </a:p>
          <a:p>
            <a:endParaRPr lang="zh-CN" altLang="en-US" sz="2800"/>
          </a:p>
          <a:p>
            <a:endParaRPr lang="zh-CN" altLang="en-US" sz="1900"/>
          </a:p>
        </p:txBody>
      </p:sp>
    </p:spTree>
  </p:cSld>
  <p:clrMapOvr>
    <a:masterClrMapping/>
  </p:clrMapOvr>
  <p:transition spd="slow">
    <p:pull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49" name="标题 54275" descr="B618"/>
          <p:cNvPicPr>
            <a:picLocks noGrp="1" noChangeAspect="1" noChangeArrowheads="1"/>
          </p:cNvPicPr>
          <p:nvPr>
            <p:ph type="title"/>
          </p:nvPr>
        </p:nvPicPr>
        <p:blipFill>
          <a:blip r:embed="rId1">
            <a:extLst>
              <a:ext uri="{28A0092B-C50C-407E-A947-70E740481C1C}">
                <a14:useLocalDpi xmlns:a14="http://schemas.microsoft.com/office/drawing/2010/main" val="0"/>
              </a:ext>
            </a:extLst>
          </a:blip>
          <a:srcRect/>
          <a:stretch>
            <a:fillRect/>
          </a:stretch>
        </p:blipFill>
        <p:spPr>
          <a:xfrm>
            <a:off x="457200" y="304800"/>
            <a:ext cx="7620000" cy="6210300"/>
          </a:xfrm>
        </p:spPr>
      </p:pic>
      <p:sp>
        <p:nvSpPr>
          <p:cNvPr id="53250" name="矩形 54276"/>
          <p:cNvSpPr>
            <a:spLocks noChangeArrowheads="1"/>
          </p:cNvSpPr>
          <p:nvPr/>
        </p:nvSpPr>
        <p:spPr bwMode="auto">
          <a:xfrm>
            <a:off x="3124200" y="6491288"/>
            <a:ext cx="23860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6-18  </a:t>
            </a:r>
            <a:r>
              <a:rPr lang="zh-CN" altLang="en-US">
                <a:latin typeface="Tahoma" panose="020B0604030504040204" pitchFamily="34" charset="0"/>
              </a:rPr>
              <a:t>索引文件分配</a:t>
            </a:r>
            <a:endParaRPr lang="zh-CN" altLang="en-US">
              <a:latin typeface="Tahoma" panose="020B0604030504040204" pitchFamily="34" charset="0"/>
            </a:endParaRPr>
          </a:p>
        </p:txBody>
      </p:sp>
      <p:sp>
        <p:nvSpPr>
          <p:cNvPr id="53251" name="矩形 54277"/>
          <p:cNvSpPr>
            <a:spLocks noChangeArrowheads="1"/>
          </p:cNvSpPr>
          <p:nvPr/>
        </p:nvSpPr>
        <p:spPr bwMode="auto">
          <a:xfrm>
            <a:off x="6400800" y="990600"/>
            <a:ext cx="914400" cy="7620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53252" name="矩形 54278"/>
          <p:cNvSpPr>
            <a:spLocks noChangeArrowheads="1"/>
          </p:cNvSpPr>
          <p:nvPr/>
        </p:nvSpPr>
        <p:spPr bwMode="auto">
          <a:xfrm>
            <a:off x="2667000" y="3657600"/>
            <a:ext cx="762000" cy="6096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55297"/>
          <p:cNvSpPr>
            <a:spLocks noGrp="1" noChangeArrowheads="1"/>
          </p:cNvSpPr>
          <p:nvPr>
            <p:ph type="title"/>
          </p:nvPr>
        </p:nvSpPr>
        <p:spPr/>
        <p:txBody>
          <a:bodyPr/>
          <a:lstStyle/>
          <a:p>
            <a:endParaRPr lang="zh-CN" altLang="en-US"/>
          </a:p>
        </p:txBody>
      </p:sp>
      <p:sp>
        <p:nvSpPr>
          <p:cNvPr id="55299" name="内容占位符 55298"/>
          <p:cNvSpPr>
            <a:spLocks noGrp="1" noChangeArrowheads="1"/>
          </p:cNvSpPr>
          <p:nvPr>
            <p:ph idx="1"/>
          </p:nvPr>
        </p:nvSpPr>
        <p:spPr/>
        <p:txBody>
          <a:bodyPr/>
          <a:lstStyle/>
          <a:p>
            <a:r>
              <a:rPr lang="zh-CN" altLang="en-US"/>
              <a:t>索引文件除了具备链接文件的优点外，还克服了它的缺点。它可以方便地进行</a:t>
            </a:r>
            <a:r>
              <a:rPr lang="zh-CN" altLang="en-US">
                <a:solidFill>
                  <a:srgbClr val="FF0000"/>
                </a:solidFill>
              </a:rPr>
              <a:t>随机存取</a:t>
            </a:r>
            <a:r>
              <a:rPr lang="zh-CN" altLang="en-US"/>
              <a:t>。但是这种组织形式需要增加</a:t>
            </a:r>
            <a:r>
              <a:rPr lang="zh-CN" altLang="en-US">
                <a:solidFill>
                  <a:srgbClr val="FF0000"/>
                </a:solidFill>
              </a:rPr>
              <a:t>索引表</a:t>
            </a:r>
            <a:r>
              <a:rPr lang="zh-CN" altLang="en-US"/>
              <a:t>带来的空间开销。</a:t>
            </a:r>
            <a:endParaRPr lang="zh-CN" altLang="en-US"/>
          </a:p>
          <a:p>
            <a:r>
              <a:rPr lang="zh-CN" altLang="en-US"/>
              <a:t>存取文件的速度有影响。</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Effect transition="in" filter="dissolve">
                                      <p:cBhvr>
                                        <p:cTn id="7" dur="500"/>
                                        <p:tgtEl>
                                          <p:spTgt spid="55299">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5299">
                                            <p:txEl>
                                              <p:pRg st="1" end="1"/>
                                            </p:txEl>
                                          </p:spTgt>
                                        </p:tgtEl>
                                        <p:attrNameLst>
                                          <p:attrName>style.visibility</p:attrName>
                                        </p:attrNameLst>
                                      </p:cBhvr>
                                      <p:to>
                                        <p:strVal val="visible"/>
                                      </p:to>
                                    </p:set>
                                    <p:animEffect transition="in" filter="dissolve">
                                      <p:cBhvr>
                                        <p:cTn id="10" dur="500"/>
                                        <p:tgtEl>
                                          <p:spTgt spid="552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56321"/>
          <p:cNvSpPr>
            <a:spLocks noGrp="1" noChangeArrowheads="1"/>
          </p:cNvSpPr>
          <p:nvPr>
            <p:ph type="title"/>
          </p:nvPr>
        </p:nvSpPr>
        <p:spPr/>
        <p:txBody>
          <a:bodyPr/>
          <a:lstStyle/>
          <a:p>
            <a:r>
              <a:rPr lang="en-US" altLang="zh-CN" sz="3500"/>
              <a:t>4</a:t>
            </a:r>
            <a:r>
              <a:rPr lang="zh-CN" altLang="en-US" sz="3500"/>
              <a:t>．多重索引文件分配</a:t>
            </a:r>
            <a:br>
              <a:rPr lang="zh-CN" altLang="en-US" sz="3500"/>
            </a:br>
            <a:endParaRPr lang="zh-CN" altLang="en-US" sz="3500"/>
          </a:p>
        </p:txBody>
      </p:sp>
      <p:pic>
        <p:nvPicPr>
          <p:cNvPr id="55298" name="文本占位符 56323" descr="B619"/>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381000" y="838200"/>
            <a:ext cx="5283200" cy="6019800"/>
          </a:xfrm>
        </p:spPr>
      </p:pic>
      <p:sp>
        <p:nvSpPr>
          <p:cNvPr id="55299" name="矩形 56324"/>
          <p:cNvSpPr>
            <a:spLocks noChangeArrowheads="1"/>
          </p:cNvSpPr>
          <p:nvPr/>
        </p:nvSpPr>
        <p:spPr bwMode="auto">
          <a:xfrm rot="5400000">
            <a:off x="5473700" y="3136900"/>
            <a:ext cx="35925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6-19  UNIX</a:t>
            </a:r>
            <a:r>
              <a:rPr lang="zh-CN" altLang="en-US">
                <a:latin typeface="Tahoma" panose="020B0604030504040204" pitchFamily="34" charset="0"/>
              </a:rPr>
              <a:t>的多重索引文件结构</a:t>
            </a:r>
            <a:endParaRPr lang="zh-CN" altLang="en-US">
              <a:latin typeface="Tahoma" panose="020B0604030504040204" pitchFamily="34" charset="0"/>
            </a:endParaRPr>
          </a:p>
        </p:txBody>
      </p:sp>
      <p:sp>
        <p:nvSpPr>
          <p:cNvPr id="55300" name="矩形 56326"/>
          <p:cNvSpPr>
            <a:spLocks noChangeArrowheads="1"/>
          </p:cNvSpPr>
          <p:nvPr/>
        </p:nvSpPr>
        <p:spPr bwMode="auto">
          <a:xfrm>
            <a:off x="5791200" y="609600"/>
            <a:ext cx="3200400" cy="685800"/>
          </a:xfrm>
          <a:prstGeom prst="rect">
            <a:avLst/>
          </a:prstGeom>
          <a:solidFill>
            <a:srgbClr val="FFFFE7"/>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b="1"/>
              <a:t>每个文件一个</a:t>
            </a:r>
            <a:r>
              <a:rPr lang="en-US" altLang="zh-CN" b="1"/>
              <a:t>I</a:t>
            </a:r>
            <a:r>
              <a:rPr lang="zh-CN" altLang="en-US" b="1"/>
              <a:t>节点，包</a:t>
            </a:r>
            <a:endParaRPr lang="zh-CN" altLang="en-US" b="1"/>
          </a:p>
          <a:p>
            <a:pPr algn="ctr"/>
            <a:r>
              <a:rPr lang="zh-CN" altLang="en-US" b="1"/>
              <a:t>含该文件的全部管理信息。</a:t>
            </a:r>
            <a:endParaRPr lang="zh-CN" altLang="en-US" b="1"/>
          </a:p>
        </p:txBody>
      </p:sp>
    </p:spTree>
  </p:cSld>
  <p:clrMapOvr>
    <a:masterClrMapping/>
  </p:clrMapOvr>
  <p:transition spd="slow">
    <p:pull dir="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57345"/>
          <p:cNvSpPr>
            <a:spLocks noGrp="1" noChangeArrowheads="1"/>
          </p:cNvSpPr>
          <p:nvPr>
            <p:ph type="title"/>
          </p:nvPr>
        </p:nvSpPr>
        <p:spPr/>
        <p:txBody>
          <a:bodyPr/>
          <a:lstStyle/>
          <a:p>
            <a:endParaRPr lang="zh-CN" altLang="en-US"/>
          </a:p>
        </p:txBody>
      </p:sp>
      <p:sp>
        <p:nvSpPr>
          <p:cNvPr id="57347" name="内容占位符 57346"/>
          <p:cNvSpPr>
            <a:spLocks noGrp="1" noChangeArrowheads="1"/>
          </p:cNvSpPr>
          <p:nvPr>
            <p:ph idx="1"/>
          </p:nvPr>
        </p:nvSpPr>
        <p:spPr/>
        <p:txBody>
          <a:bodyPr/>
          <a:lstStyle/>
          <a:p>
            <a:pPr>
              <a:buFont typeface="Wingdings" panose="05000000000000000000" pitchFamily="2" charset="2"/>
              <a:buNone/>
            </a:pPr>
            <a:r>
              <a:rPr lang="zh-CN" altLang="en-US"/>
              <a:t>每个文件对应一个</a:t>
            </a:r>
            <a:r>
              <a:rPr lang="en-US" altLang="zh-CN"/>
              <a:t>I</a:t>
            </a:r>
            <a:r>
              <a:rPr lang="zh-CN" altLang="en-US"/>
              <a:t>节点</a:t>
            </a:r>
            <a:r>
              <a:rPr lang="en-US" altLang="zh-CN">
                <a:solidFill>
                  <a:srgbClr val="0033CC"/>
                </a:solidFill>
              </a:rPr>
              <a:t>—</a:t>
            </a:r>
            <a:r>
              <a:rPr lang="zh-CN" altLang="en-US">
                <a:solidFill>
                  <a:srgbClr val="0033CC"/>
                </a:solidFill>
              </a:rPr>
              <a:t>文件控制块。</a:t>
            </a:r>
            <a:endParaRPr lang="zh-CN" altLang="en-US">
              <a:solidFill>
                <a:srgbClr val="0033CC"/>
              </a:solidFill>
            </a:endParaRPr>
          </a:p>
          <a:p>
            <a:r>
              <a:rPr lang="zh-CN" altLang="en-US">
                <a:solidFill>
                  <a:srgbClr val="0033CC"/>
                </a:solidFill>
              </a:rPr>
              <a:t>直接块：</a:t>
            </a:r>
            <a:r>
              <a:rPr lang="zh-CN" altLang="en-US"/>
              <a:t>放有该文件的数据。</a:t>
            </a:r>
            <a:endParaRPr lang="zh-CN" altLang="en-US"/>
          </a:p>
          <a:p>
            <a:r>
              <a:rPr lang="zh-CN" altLang="en-US">
                <a:solidFill>
                  <a:srgbClr val="0033CC"/>
                </a:solidFill>
              </a:rPr>
              <a:t>间接块：</a:t>
            </a:r>
            <a:r>
              <a:rPr lang="zh-CN" altLang="en-US"/>
              <a:t>放有</a:t>
            </a:r>
            <a:r>
              <a:rPr lang="zh-CN" altLang="en-US">
                <a:solidFill>
                  <a:srgbClr val="FF0000"/>
                </a:solidFill>
              </a:rPr>
              <a:t>直接</a:t>
            </a:r>
            <a:r>
              <a:rPr lang="zh-CN" altLang="en-US"/>
              <a:t>盘块或</a:t>
            </a:r>
            <a:r>
              <a:rPr lang="zh-CN" altLang="en-US">
                <a:solidFill>
                  <a:srgbClr val="FF0000"/>
                </a:solidFill>
              </a:rPr>
              <a:t>间接</a:t>
            </a:r>
            <a:r>
              <a:rPr lang="zh-CN" altLang="en-US"/>
              <a:t>的块号表。</a:t>
            </a:r>
            <a:endParaRPr lang="zh-CN" altLang="en-US"/>
          </a:p>
          <a:p>
            <a:pPr>
              <a:buFont typeface="Wingdings" panose="05000000000000000000" pitchFamily="2" charset="2"/>
              <a:buNone/>
            </a:pPr>
            <a:r>
              <a:rPr lang="zh-CN" altLang="en-US" sz="2400">
                <a:solidFill>
                  <a:srgbClr val="0033CC"/>
                </a:solidFill>
              </a:rPr>
              <a:t>           </a:t>
            </a:r>
            <a:r>
              <a:rPr lang="zh-CN" altLang="en-US" sz="2400"/>
              <a:t>一般文件，大小在</a:t>
            </a:r>
            <a:r>
              <a:rPr lang="en-US" altLang="zh-CN" sz="2400"/>
              <a:t>10</a:t>
            </a:r>
            <a:r>
              <a:rPr lang="zh-CN" altLang="en-US" sz="2400"/>
              <a:t>块之内。</a:t>
            </a:r>
            <a:endParaRPr lang="zh-CN" altLang="en-US" sz="2400"/>
          </a:p>
          <a:p>
            <a:pPr>
              <a:buFont typeface="Wingdings" panose="05000000000000000000" pitchFamily="2" charset="2"/>
              <a:buNone/>
            </a:pPr>
            <a:r>
              <a:rPr lang="zh-CN" altLang="en-US" sz="2400"/>
              <a:t>           大于</a:t>
            </a:r>
            <a:r>
              <a:rPr lang="en-US" altLang="zh-CN" sz="2400"/>
              <a:t>10</a:t>
            </a:r>
            <a:r>
              <a:rPr lang="zh-CN" altLang="en-US" sz="2400"/>
              <a:t>块的大型文件： 对</a:t>
            </a:r>
            <a:r>
              <a:rPr lang="en-US" altLang="zh-CN" sz="2400"/>
              <a:t>10</a:t>
            </a:r>
            <a:r>
              <a:rPr lang="zh-CN" altLang="en-US" sz="2400"/>
              <a:t>块以上部分</a:t>
            </a:r>
            <a:r>
              <a:rPr lang="zh-CN" altLang="en-US" sz="2400">
                <a:solidFill>
                  <a:srgbClr val="FF0000"/>
                </a:solidFill>
              </a:rPr>
              <a:t>一次间接</a:t>
            </a:r>
            <a:r>
              <a:rPr lang="zh-CN" altLang="en-US" sz="2400"/>
              <a:t>。 </a:t>
            </a:r>
            <a:endParaRPr lang="zh-CN" altLang="en-US" sz="2400"/>
          </a:p>
          <a:p>
            <a:pPr>
              <a:buFont typeface="Wingdings" panose="05000000000000000000" pitchFamily="2" charset="2"/>
              <a:buNone/>
            </a:pPr>
            <a:r>
              <a:rPr lang="zh-CN" altLang="en-US" sz="2400"/>
              <a:t>           以此类推更大的文件可采取</a:t>
            </a:r>
            <a:r>
              <a:rPr lang="zh-CN" altLang="en-US" sz="2400">
                <a:solidFill>
                  <a:srgbClr val="FF0000"/>
                </a:solidFill>
              </a:rPr>
              <a:t>二次间接</a:t>
            </a:r>
            <a:r>
              <a:rPr lang="zh-CN" altLang="en-US" sz="2400"/>
              <a:t>、</a:t>
            </a:r>
            <a:r>
              <a:rPr lang="zh-CN" altLang="en-US" sz="2400">
                <a:solidFill>
                  <a:srgbClr val="FF0000"/>
                </a:solidFill>
              </a:rPr>
              <a:t>三次间接</a:t>
            </a:r>
            <a:r>
              <a:rPr lang="zh-CN" altLang="en-US" sz="2400"/>
              <a:t>。</a:t>
            </a:r>
            <a:endParaRPr lang="zh-CN" altLang="en-US" sz="2400"/>
          </a:p>
          <a:p>
            <a:r>
              <a:rPr lang="zh-CN" altLang="en-US"/>
              <a:t>这种方法具有一般索引文件的优点，但也存在着间接索引需要多次访盘而影响速度的缺点。</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57347">
                                            <p:txEl>
                                              <p:pRg st="1" end="1"/>
                                            </p:txEl>
                                          </p:spTgt>
                                        </p:tgtEl>
                                        <p:attrNameLst>
                                          <p:attrName>style.visibility</p:attrName>
                                        </p:attrNameLst>
                                      </p:cBhvr>
                                      <p:to>
                                        <p:strVal val="visible"/>
                                      </p:to>
                                    </p:set>
                                    <p:animEffect transition="in" filter="barn(inHorizontal)">
                                      <p:cBhvr>
                                        <p:cTn id="7" dur="500"/>
                                        <p:tgtEl>
                                          <p:spTgt spid="57347">
                                            <p:txEl>
                                              <p:pRg st="1" end="1"/>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57347">
                                            <p:txEl>
                                              <p:pRg st="0" end="0"/>
                                            </p:txEl>
                                          </p:spTgt>
                                        </p:tgtEl>
                                        <p:attrNameLst>
                                          <p:attrName>style.visibility</p:attrName>
                                        </p:attrNameLst>
                                      </p:cBhvr>
                                      <p:to>
                                        <p:strVal val="visible"/>
                                      </p:to>
                                    </p:set>
                                    <p:animEffect transition="in" filter="barn(inHorizontal)">
                                      <p:cBhvr>
                                        <p:cTn id="10" dur="500"/>
                                        <p:tgtEl>
                                          <p:spTgt spid="57347">
                                            <p:txEl>
                                              <p:pRg st="0" end="0"/>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57347">
                                            <p:txEl>
                                              <p:pRg st="2" end="2"/>
                                            </p:txEl>
                                          </p:spTgt>
                                        </p:tgtEl>
                                        <p:attrNameLst>
                                          <p:attrName>style.visibility</p:attrName>
                                        </p:attrNameLst>
                                      </p:cBhvr>
                                      <p:to>
                                        <p:strVal val="visible"/>
                                      </p:to>
                                    </p:set>
                                    <p:animEffect transition="in" filter="barn(inHorizontal)">
                                      <p:cBhvr>
                                        <p:cTn id="13" dur="500"/>
                                        <p:tgtEl>
                                          <p:spTgt spid="57347">
                                            <p:txEl>
                                              <p:pRg st="2" end="2"/>
                                            </p:txEl>
                                          </p:spTgt>
                                        </p:tgtEl>
                                      </p:cBhvr>
                                    </p:animEffect>
                                  </p:childTnLst>
                                </p:cTn>
                              </p:par>
                              <p:par>
                                <p:cTn id="14" presetID="16" presetClass="entr" presetSubtype="26" fill="hold" nodeType="withEffect">
                                  <p:stCondLst>
                                    <p:cond delay="0"/>
                                  </p:stCondLst>
                                  <p:childTnLst>
                                    <p:set>
                                      <p:cBhvr>
                                        <p:cTn id="15" dur="1" fill="hold">
                                          <p:stCondLst>
                                            <p:cond delay="0"/>
                                          </p:stCondLst>
                                        </p:cTn>
                                        <p:tgtEl>
                                          <p:spTgt spid="57347">
                                            <p:txEl>
                                              <p:pRg st="3" end="3"/>
                                            </p:txEl>
                                          </p:spTgt>
                                        </p:tgtEl>
                                        <p:attrNameLst>
                                          <p:attrName>style.visibility</p:attrName>
                                        </p:attrNameLst>
                                      </p:cBhvr>
                                      <p:to>
                                        <p:strVal val="visible"/>
                                      </p:to>
                                    </p:set>
                                    <p:animEffect transition="in" filter="barn(inHorizontal)">
                                      <p:cBhvr>
                                        <p:cTn id="16" dur="500"/>
                                        <p:tgtEl>
                                          <p:spTgt spid="57347">
                                            <p:txEl>
                                              <p:pRg st="3" end="3"/>
                                            </p:txEl>
                                          </p:spTgt>
                                        </p:tgtEl>
                                      </p:cBhvr>
                                    </p:animEffect>
                                  </p:childTnLst>
                                </p:cTn>
                              </p:par>
                              <p:par>
                                <p:cTn id="17" presetID="16" presetClass="entr" presetSubtype="26" fill="hold" nodeType="withEffect">
                                  <p:stCondLst>
                                    <p:cond delay="0"/>
                                  </p:stCondLst>
                                  <p:childTnLst>
                                    <p:set>
                                      <p:cBhvr>
                                        <p:cTn id="18" dur="1" fill="hold">
                                          <p:stCondLst>
                                            <p:cond delay="0"/>
                                          </p:stCondLst>
                                        </p:cTn>
                                        <p:tgtEl>
                                          <p:spTgt spid="57347">
                                            <p:txEl>
                                              <p:pRg st="4" end="4"/>
                                            </p:txEl>
                                          </p:spTgt>
                                        </p:tgtEl>
                                        <p:attrNameLst>
                                          <p:attrName>style.visibility</p:attrName>
                                        </p:attrNameLst>
                                      </p:cBhvr>
                                      <p:to>
                                        <p:strVal val="visible"/>
                                      </p:to>
                                    </p:set>
                                    <p:animEffect transition="in" filter="barn(inHorizontal)">
                                      <p:cBhvr>
                                        <p:cTn id="19" dur="500"/>
                                        <p:tgtEl>
                                          <p:spTgt spid="57347">
                                            <p:txEl>
                                              <p:pRg st="4" end="4"/>
                                            </p:txEl>
                                          </p:spTgt>
                                        </p:tgtEl>
                                      </p:cBhvr>
                                    </p:animEffect>
                                  </p:childTnLst>
                                </p:cTn>
                              </p:par>
                              <p:par>
                                <p:cTn id="20" presetID="16" presetClass="entr" presetSubtype="26" fill="hold" nodeType="withEffect">
                                  <p:stCondLst>
                                    <p:cond delay="0"/>
                                  </p:stCondLst>
                                  <p:childTnLst>
                                    <p:set>
                                      <p:cBhvr>
                                        <p:cTn id="21" dur="1" fill="hold">
                                          <p:stCondLst>
                                            <p:cond delay="0"/>
                                          </p:stCondLst>
                                        </p:cTn>
                                        <p:tgtEl>
                                          <p:spTgt spid="57347">
                                            <p:txEl>
                                              <p:pRg st="5" end="5"/>
                                            </p:txEl>
                                          </p:spTgt>
                                        </p:tgtEl>
                                        <p:attrNameLst>
                                          <p:attrName>style.visibility</p:attrName>
                                        </p:attrNameLst>
                                      </p:cBhvr>
                                      <p:to>
                                        <p:strVal val="visible"/>
                                      </p:to>
                                    </p:set>
                                    <p:animEffect transition="in" filter="barn(inHorizontal)">
                                      <p:cBhvr>
                                        <p:cTn id="22" dur="500"/>
                                        <p:tgtEl>
                                          <p:spTgt spid="57347">
                                            <p:txEl>
                                              <p:pRg st="5" end="5"/>
                                            </p:txEl>
                                          </p:spTgt>
                                        </p:tgtEl>
                                      </p:cBhvr>
                                    </p:animEffect>
                                  </p:childTnLst>
                                </p:cTn>
                              </p:par>
                              <p:par>
                                <p:cTn id="23" presetID="18" presetClass="entr" presetSubtype="12" fill="hold" nodeType="withEffect">
                                  <p:stCondLst>
                                    <p:cond delay="0"/>
                                  </p:stCondLst>
                                  <p:childTnLst>
                                    <p:set>
                                      <p:cBhvr>
                                        <p:cTn id="24" dur="1" fill="hold">
                                          <p:stCondLst>
                                            <p:cond delay="0"/>
                                          </p:stCondLst>
                                        </p:cTn>
                                        <p:tgtEl>
                                          <p:spTgt spid="57347">
                                            <p:txEl>
                                              <p:pRg st="6" end="6"/>
                                            </p:txEl>
                                          </p:spTgt>
                                        </p:tgtEl>
                                        <p:attrNameLst>
                                          <p:attrName>style.visibility</p:attrName>
                                        </p:attrNameLst>
                                      </p:cBhvr>
                                      <p:to>
                                        <p:strVal val="visible"/>
                                      </p:to>
                                    </p:set>
                                    <p:animEffect transition="in" filter="strips(downLeft)">
                                      <p:cBhvr>
                                        <p:cTn id="25" dur="500"/>
                                        <p:tgtEl>
                                          <p:spTgt spid="573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58369"/>
          <p:cNvSpPr>
            <a:spLocks noGrp="1" noChangeArrowheads="1"/>
          </p:cNvSpPr>
          <p:nvPr>
            <p:ph type="title"/>
          </p:nvPr>
        </p:nvSpPr>
        <p:spPr/>
        <p:txBody>
          <a:bodyPr/>
          <a:lstStyle/>
          <a:p>
            <a:r>
              <a:rPr lang="en-US" altLang="zh-CN"/>
              <a:t>6.5.3  </a:t>
            </a:r>
            <a:r>
              <a:rPr lang="zh-CN" altLang="en-US"/>
              <a:t>空闲存储空间的管理</a:t>
            </a:r>
            <a:endParaRPr lang="zh-CN" altLang="en-US"/>
          </a:p>
        </p:txBody>
      </p:sp>
      <p:sp>
        <p:nvSpPr>
          <p:cNvPr id="58371" name="内容占位符 58370"/>
          <p:cNvSpPr>
            <a:spLocks noGrp="1" noChangeArrowheads="1"/>
          </p:cNvSpPr>
          <p:nvPr>
            <p:ph idx="1"/>
          </p:nvPr>
        </p:nvSpPr>
        <p:spPr>
          <a:xfrm>
            <a:off x="457200" y="1524000"/>
            <a:ext cx="8229600" cy="4411663"/>
          </a:xfrm>
        </p:spPr>
        <p:txBody>
          <a:bodyPr/>
          <a:lstStyle/>
          <a:p>
            <a:r>
              <a:rPr lang="en-US" altLang="zh-CN"/>
              <a:t>1</a:t>
            </a:r>
            <a:r>
              <a:rPr lang="zh-CN" altLang="en-US"/>
              <a:t>．空闲空间表法</a:t>
            </a:r>
            <a:endParaRPr lang="zh-CN" altLang="en-US"/>
          </a:p>
          <a:p>
            <a:pPr>
              <a:buFont typeface="Wingdings" panose="05000000000000000000" pitchFamily="2" charset="2"/>
              <a:buNone/>
            </a:pPr>
            <a:r>
              <a:rPr lang="zh-CN" altLang="en-US"/>
              <a:t> （</a:t>
            </a:r>
            <a:r>
              <a:rPr lang="en-US" altLang="zh-CN"/>
              <a:t>1</a:t>
            </a:r>
            <a:r>
              <a:rPr lang="zh-CN" altLang="en-US"/>
              <a:t>）空闲空间表</a:t>
            </a:r>
            <a:endParaRPr lang="zh-CN" altLang="en-US"/>
          </a:p>
        </p:txBody>
      </p:sp>
      <p:pic>
        <p:nvPicPr>
          <p:cNvPr id="57347" name="图片 58371" descr="B6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819400"/>
            <a:ext cx="8534400" cy="340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矩形 58372"/>
          <p:cNvSpPr>
            <a:spLocks noChangeArrowheads="1"/>
          </p:cNvSpPr>
          <p:nvPr/>
        </p:nvSpPr>
        <p:spPr bwMode="auto">
          <a:xfrm>
            <a:off x="3657600" y="6248400"/>
            <a:ext cx="21574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latin typeface="Tahoma" panose="020B0604030504040204" pitchFamily="34" charset="0"/>
              </a:rPr>
              <a:t>图</a:t>
            </a:r>
            <a:r>
              <a:rPr lang="en-US" altLang="zh-CN">
                <a:latin typeface="Tahoma" panose="020B0604030504040204" pitchFamily="34" charset="0"/>
              </a:rPr>
              <a:t>6-20  </a:t>
            </a:r>
            <a:r>
              <a:rPr lang="zh-CN" altLang="en-US">
                <a:latin typeface="Tahoma" panose="020B0604030504040204" pitchFamily="34" charset="0"/>
              </a:rPr>
              <a:t>空闲空间表</a:t>
            </a:r>
            <a:endParaRPr lang="zh-CN" altLang="en-US">
              <a:latin typeface="Tahoma" panose="020B0604030504040204" pitchFamily="34" charset="0"/>
            </a:endParaRPr>
          </a:p>
        </p:txBody>
      </p:sp>
      <p:sp>
        <p:nvSpPr>
          <p:cNvPr id="57349" name="动作按钮: 前进或下一项 58373"/>
          <p:cNvSpPr>
            <a:spLocks noChangeArrowheads="1"/>
          </p:cNvSpPr>
          <p:nvPr/>
        </p:nvSpPr>
        <p:spPr bwMode="auto">
          <a:xfrm>
            <a:off x="7848600" y="6400800"/>
            <a:ext cx="914400" cy="30480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371">
                                            <p:txEl>
                                              <p:pRg st="1" end="1"/>
                                            </p:txEl>
                                          </p:spTgt>
                                        </p:tgtEl>
                                        <p:attrNameLst>
                                          <p:attrName>style.visibility</p:attrName>
                                        </p:attrNameLst>
                                      </p:cBhvr>
                                      <p:to>
                                        <p:strVal val="visible"/>
                                      </p:to>
                                    </p:set>
                                    <p:anim calcmode="lin" valueType="num">
                                      <p:cBhvr additive="base">
                                        <p:cTn id="7" dur="500" fill="hold"/>
                                        <p:tgtEl>
                                          <p:spTgt spid="583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59393"/>
          <p:cNvSpPr>
            <a:spLocks noGrp="1" noChangeArrowheads="1"/>
          </p:cNvSpPr>
          <p:nvPr>
            <p:ph type="title"/>
          </p:nvPr>
        </p:nvSpPr>
        <p:spPr/>
        <p:txBody>
          <a:bodyPr/>
          <a:lstStyle/>
          <a:p>
            <a:endParaRPr lang="zh-CN" altLang="en-US"/>
          </a:p>
        </p:txBody>
      </p:sp>
      <p:sp>
        <p:nvSpPr>
          <p:cNvPr id="59395" name="内容占位符 59394"/>
          <p:cNvSpPr>
            <a:spLocks noGrp="1" noChangeArrowheads="1"/>
          </p:cNvSpPr>
          <p:nvPr>
            <p:ph idx="1"/>
          </p:nvPr>
        </p:nvSpPr>
        <p:spPr/>
        <p:txBody>
          <a:bodyPr/>
          <a:lstStyle/>
          <a:p>
            <a:pPr>
              <a:lnSpc>
                <a:spcPct val="80000"/>
              </a:lnSpc>
              <a:buFont typeface="Wingdings" panose="05000000000000000000" pitchFamily="2" charset="2"/>
              <a:buNone/>
            </a:pPr>
            <a:r>
              <a:rPr lang="zh-CN" altLang="en-US"/>
              <a:t>（</a:t>
            </a:r>
            <a:r>
              <a:rPr lang="en-US" altLang="zh-CN"/>
              <a:t>2</a:t>
            </a:r>
            <a:r>
              <a:rPr lang="zh-CN" altLang="en-US"/>
              <a:t>）空闲块分配</a:t>
            </a:r>
            <a:endParaRPr lang="zh-CN" altLang="en-US"/>
          </a:p>
          <a:p>
            <a:pPr>
              <a:lnSpc>
                <a:spcPct val="80000"/>
              </a:lnSpc>
            </a:pPr>
            <a:r>
              <a:rPr lang="zh-CN" altLang="en-US" sz="2400"/>
              <a:t>     </a:t>
            </a:r>
            <a:r>
              <a:rPr lang="zh-CN" altLang="en-US" sz="2800"/>
              <a:t>如果对应空闲区大小恰是所申请的值</a:t>
            </a:r>
            <a:r>
              <a:rPr lang="en-US" altLang="zh-CN" sz="2800"/>
              <a:t>—</a:t>
            </a:r>
            <a:r>
              <a:rPr lang="zh-CN" altLang="en-US" sz="2800"/>
              <a:t>从表</a:t>
            </a:r>
            <a:r>
              <a:rPr lang="zh-CN" altLang="en-US" sz="2800">
                <a:solidFill>
                  <a:srgbClr val="FF0000"/>
                </a:solidFill>
              </a:rPr>
              <a:t>清除</a:t>
            </a:r>
            <a:r>
              <a:rPr lang="zh-CN" altLang="en-US" sz="2800"/>
              <a:t>该项。</a:t>
            </a:r>
            <a:endParaRPr lang="zh-CN" altLang="en-US" sz="2800"/>
          </a:p>
          <a:p>
            <a:pPr>
              <a:lnSpc>
                <a:spcPct val="80000"/>
              </a:lnSpc>
            </a:pPr>
            <a:r>
              <a:rPr lang="zh-CN" altLang="en-US" sz="2800"/>
              <a:t>     如果该分区大于所需数量</a:t>
            </a:r>
            <a:r>
              <a:rPr lang="en-US" altLang="zh-CN" sz="2800"/>
              <a:t>—</a:t>
            </a:r>
            <a:r>
              <a:rPr lang="zh-CN" altLang="en-US" sz="2800">
                <a:solidFill>
                  <a:srgbClr val="FF0000"/>
                </a:solidFill>
              </a:rPr>
              <a:t>剩余</a:t>
            </a:r>
            <a:r>
              <a:rPr lang="zh-CN" altLang="en-US" sz="2800"/>
              <a:t>部分记在表项中。</a:t>
            </a:r>
            <a:endParaRPr lang="zh-CN" altLang="en-US" sz="2800"/>
          </a:p>
          <a:p>
            <a:pPr>
              <a:lnSpc>
                <a:spcPct val="80000"/>
              </a:lnSpc>
              <a:buFont typeface="Wingdings" panose="05000000000000000000" pitchFamily="2" charset="2"/>
              <a:buNone/>
            </a:pPr>
            <a:r>
              <a:rPr lang="zh-CN" altLang="en-US"/>
              <a:t>（</a:t>
            </a:r>
            <a:r>
              <a:rPr lang="en-US" altLang="zh-CN"/>
              <a:t>3</a:t>
            </a:r>
            <a:r>
              <a:rPr lang="zh-CN" altLang="en-US"/>
              <a:t>）空闲块回收</a:t>
            </a:r>
            <a:endParaRPr lang="zh-CN" altLang="en-US"/>
          </a:p>
          <a:p>
            <a:pPr>
              <a:lnSpc>
                <a:spcPct val="80000"/>
              </a:lnSpc>
              <a:buFont typeface="Wingdings" panose="05000000000000000000" pitchFamily="2" charset="2"/>
              <a:buNone/>
            </a:pPr>
            <a:r>
              <a:rPr lang="zh-CN" altLang="en-US" sz="2800"/>
              <a:t>    回收空闲块信息填回空闲空间表，</a:t>
            </a:r>
            <a:r>
              <a:rPr lang="zh-CN" altLang="en-US" sz="2800">
                <a:solidFill>
                  <a:srgbClr val="FF0000"/>
                </a:solidFill>
              </a:rPr>
              <a:t>合并</a:t>
            </a:r>
            <a:r>
              <a:rPr lang="zh-CN" altLang="en-US" sz="2800"/>
              <a:t>。</a:t>
            </a:r>
            <a:endParaRPr lang="zh-CN" altLang="en-US" sz="2800"/>
          </a:p>
          <a:p>
            <a:pPr>
              <a:lnSpc>
                <a:spcPct val="80000"/>
              </a:lnSpc>
              <a:buFont typeface="Wingdings" panose="05000000000000000000" pitchFamily="2" charset="2"/>
              <a:buNone/>
            </a:pPr>
            <a:r>
              <a:rPr lang="zh-CN" altLang="en-US"/>
              <a:t> </a:t>
            </a:r>
            <a:endParaRPr lang="zh-CN" altLang="en-US"/>
          </a:p>
          <a:p>
            <a:pPr>
              <a:lnSpc>
                <a:spcPct val="80000"/>
              </a:lnSpc>
            </a:pPr>
            <a:r>
              <a:rPr lang="zh-CN" altLang="en-US"/>
              <a:t>特别适于存放连续文件，但是若存储空间有大量的小空闲区时，检索效率降低。</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with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p:cTn id="7" dur="1000" fill="hold"/>
                                        <p:tgtEl>
                                          <p:spTgt spid="59395">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59395">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9395">
                                            <p:txEl>
                                              <p:pRg st="0" end="0"/>
                                            </p:txEl>
                                          </p:spTgt>
                                        </p:tgtEl>
                                      </p:cBhvr>
                                    </p:animEffect>
                                  </p:childTnLst>
                                </p:cTn>
                              </p:par>
                              <p:par>
                                <p:cTn id="10" presetID="29" presetClass="entr" presetSubtype="0" fill="hold" nodeType="withEffect">
                                  <p:stCondLst>
                                    <p:cond delay="0"/>
                                  </p:stCondLst>
                                  <p:childTnLst>
                                    <p:set>
                                      <p:cBhvr>
                                        <p:cTn id="11" dur="1" fill="hold">
                                          <p:stCondLst>
                                            <p:cond delay="0"/>
                                          </p:stCondLst>
                                        </p:cTn>
                                        <p:tgtEl>
                                          <p:spTgt spid="59395">
                                            <p:txEl>
                                              <p:pRg st="1" end="1"/>
                                            </p:txEl>
                                          </p:spTgt>
                                        </p:tgtEl>
                                        <p:attrNameLst>
                                          <p:attrName>style.visibility</p:attrName>
                                        </p:attrNameLst>
                                      </p:cBhvr>
                                      <p:to>
                                        <p:strVal val="visible"/>
                                      </p:to>
                                    </p:set>
                                    <p:anim calcmode="lin" valueType="num">
                                      <p:cBhvr>
                                        <p:cTn id="12" dur="1000" fill="hold"/>
                                        <p:tgtEl>
                                          <p:spTgt spid="59395">
                                            <p:txEl>
                                              <p:pRg st="1" end="1"/>
                                            </p:txEl>
                                          </p:spTgt>
                                        </p:tgtEl>
                                        <p:attrNameLst>
                                          <p:attrName>ppt_x</p:attrName>
                                        </p:attrNameLst>
                                      </p:cBhvr>
                                      <p:tavLst>
                                        <p:tav tm="0">
                                          <p:val>
                                            <p:strVal val="#ppt_x-.2"/>
                                          </p:val>
                                        </p:tav>
                                        <p:tav tm="100000">
                                          <p:val>
                                            <p:strVal val="#ppt_x"/>
                                          </p:val>
                                        </p:tav>
                                      </p:tavLst>
                                    </p:anim>
                                    <p:anim calcmode="lin" valueType="num">
                                      <p:cBhvr>
                                        <p:cTn id="13" dur="1000" fill="hold"/>
                                        <p:tgtEl>
                                          <p:spTgt spid="59395">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59395">
                                            <p:txEl>
                                              <p:pRg st="1" end="1"/>
                                            </p:txEl>
                                          </p:spTgt>
                                        </p:tgtEl>
                                      </p:cBhvr>
                                    </p:animEffect>
                                  </p:childTnLst>
                                </p:cTn>
                              </p:par>
                              <p:par>
                                <p:cTn id="15" presetID="29" presetClass="entr" presetSubtype="0" fill="hold" nodeType="withEffect">
                                  <p:stCondLst>
                                    <p:cond delay="0"/>
                                  </p:stCondLst>
                                  <p:childTnLst>
                                    <p:set>
                                      <p:cBhvr>
                                        <p:cTn id="16" dur="1" fill="hold">
                                          <p:stCondLst>
                                            <p:cond delay="0"/>
                                          </p:stCondLst>
                                        </p:cTn>
                                        <p:tgtEl>
                                          <p:spTgt spid="59395">
                                            <p:txEl>
                                              <p:pRg st="2" end="2"/>
                                            </p:txEl>
                                          </p:spTgt>
                                        </p:tgtEl>
                                        <p:attrNameLst>
                                          <p:attrName>style.visibility</p:attrName>
                                        </p:attrNameLst>
                                      </p:cBhvr>
                                      <p:to>
                                        <p:strVal val="visible"/>
                                      </p:to>
                                    </p:set>
                                    <p:anim calcmode="lin" valueType="num">
                                      <p:cBhvr>
                                        <p:cTn id="17" dur="1000" fill="hold"/>
                                        <p:tgtEl>
                                          <p:spTgt spid="59395">
                                            <p:txEl>
                                              <p:pRg st="2" end="2"/>
                                            </p:txEl>
                                          </p:spTgt>
                                        </p:tgtEl>
                                        <p:attrNameLst>
                                          <p:attrName>ppt_x</p:attrName>
                                        </p:attrNameLst>
                                      </p:cBhvr>
                                      <p:tavLst>
                                        <p:tav tm="0">
                                          <p:val>
                                            <p:strVal val="#ppt_x-.2"/>
                                          </p:val>
                                        </p:tav>
                                        <p:tav tm="100000">
                                          <p:val>
                                            <p:strVal val="#ppt_x"/>
                                          </p:val>
                                        </p:tav>
                                      </p:tavLst>
                                    </p:anim>
                                    <p:anim calcmode="lin" valueType="num">
                                      <p:cBhvr>
                                        <p:cTn id="18" dur="1000" fill="hold"/>
                                        <p:tgtEl>
                                          <p:spTgt spid="59395">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9" dur="1000"/>
                                        <p:tgtEl>
                                          <p:spTgt spid="59395">
                                            <p:txEl>
                                              <p:pRg st="2" end="2"/>
                                            </p:txEl>
                                          </p:spTgt>
                                        </p:tgtEl>
                                      </p:cBhvr>
                                    </p:animEffect>
                                  </p:childTnLst>
                                </p:cTn>
                              </p:par>
                              <p:par>
                                <p:cTn id="20" presetID="29" presetClass="entr" presetSubtype="0" fill="hold" nodeType="withEffect">
                                  <p:stCondLst>
                                    <p:cond delay="0"/>
                                  </p:stCondLst>
                                  <p:childTnLst>
                                    <p:set>
                                      <p:cBhvr>
                                        <p:cTn id="21" dur="1" fill="hold">
                                          <p:stCondLst>
                                            <p:cond delay="0"/>
                                          </p:stCondLst>
                                        </p:cTn>
                                        <p:tgtEl>
                                          <p:spTgt spid="59395">
                                            <p:txEl>
                                              <p:pRg st="3" end="3"/>
                                            </p:txEl>
                                          </p:spTgt>
                                        </p:tgtEl>
                                        <p:attrNameLst>
                                          <p:attrName>style.visibility</p:attrName>
                                        </p:attrNameLst>
                                      </p:cBhvr>
                                      <p:to>
                                        <p:strVal val="visible"/>
                                      </p:to>
                                    </p:set>
                                    <p:anim calcmode="lin" valueType="num">
                                      <p:cBhvr>
                                        <p:cTn id="22" dur="1000" fill="hold"/>
                                        <p:tgtEl>
                                          <p:spTgt spid="59395">
                                            <p:txEl>
                                              <p:pRg st="3" end="3"/>
                                            </p:txEl>
                                          </p:spTgt>
                                        </p:tgtEl>
                                        <p:attrNameLst>
                                          <p:attrName>ppt_x</p:attrName>
                                        </p:attrNameLst>
                                      </p:cBhvr>
                                      <p:tavLst>
                                        <p:tav tm="0">
                                          <p:val>
                                            <p:strVal val="#ppt_x-.2"/>
                                          </p:val>
                                        </p:tav>
                                        <p:tav tm="100000">
                                          <p:val>
                                            <p:strVal val="#ppt_x"/>
                                          </p:val>
                                        </p:tav>
                                      </p:tavLst>
                                    </p:anim>
                                    <p:anim calcmode="lin" valueType="num">
                                      <p:cBhvr>
                                        <p:cTn id="23" dur="1000" fill="hold"/>
                                        <p:tgtEl>
                                          <p:spTgt spid="59395">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4" dur="1000"/>
                                        <p:tgtEl>
                                          <p:spTgt spid="59395">
                                            <p:txEl>
                                              <p:pRg st="3" end="3"/>
                                            </p:txEl>
                                          </p:spTgt>
                                        </p:tgtEl>
                                      </p:cBhvr>
                                    </p:animEffect>
                                  </p:childTnLst>
                                </p:cTn>
                              </p:par>
                              <p:par>
                                <p:cTn id="25" presetID="29" presetClass="entr" presetSubtype="0" fill="hold" nodeType="withEffect">
                                  <p:stCondLst>
                                    <p:cond delay="0"/>
                                  </p:stCondLst>
                                  <p:childTnLst>
                                    <p:set>
                                      <p:cBhvr>
                                        <p:cTn id="26" dur="1" fill="hold">
                                          <p:stCondLst>
                                            <p:cond delay="0"/>
                                          </p:stCondLst>
                                        </p:cTn>
                                        <p:tgtEl>
                                          <p:spTgt spid="59395">
                                            <p:txEl>
                                              <p:pRg st="4" end="4"/>
                                            </p:txEl>
                                          </p:spTgt>
                                        </p:tgtEl>
                                        <p:attrNameLst>
                                          <p:attrName>style.visibility</p:attrName>
                                        </p:attrNameLst>
                                      </p:cBhvr>
                                      <p:to>
                                        <p:strVal val="visible"/>
                                      </p:to>
                                    </p:set>
                                    <p:anim calcmode="lin" valueType="num">
                                      <p:cBhvr>
                                        <p:cTn id="27" dur="1000" fill="hold"/>
                                        <p:tgtEl>
                                          <p:spTgt spid="59395">
                                            <p:txEl>
                                              <p:pRg st="4" end="4"/>
                                            </p:txEl>
                                          </p:spTgt>
                                        </p:tgtEl>
                                        <p:attrNameLst>
                                          <p:attrName>ppt_x</p:attrName>
                                        </p:attrNameLst>
                                      </p:cBhvr>
                                      <p:tavLst>
                                        <p:tav tm="0">
                                          <p:val>
                                            <p:strVal val="#ppt_x-.2"/>
                                          </p:val>
                                        </p:tav>
                                        <p:tav tm="100000">
                                          <p:val>
                                            <p:strVal val="#ppt_x"/>
                                          </p:val>
                                        </p:tav>
                                      </p:tavLst>
                                    </p:anim>
                                    <p:anim calcmode="lin" valueType="num">
                                      <p:cBhvr>
                                        <p:cTn id="28" dur="1000" fill="hold"/>
                                        <p:tgtEl>
                                          <p:spTgt spid="59395">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9" dur="1000"/>
                                        <p:tgtEl>
                                          <p:spTgt spid="59395">
                                            <p:txEl>
                                              <p:pRg st="4" end="4"/>
                                            </p:txEl>
                                          </p:spTgt>
                                        </p:tgtEl>
                                      </p:cBhvr>
                                    </p:animEffect>
                                  </p:childTnLst>
                                </p:cTn>
                              </p:par>
                              <p:par>
                                <p:cTn id="30" presetID="16" presetClass="entr" presetSubtype="26" fill="hold" nodeType="withEffect">
                                  <p:stCondLst>
                                    <p:cond delay="0"/>
                                  </p:stCondLst>
                                  <p:childTnLst>
                                    <p:set>
                                      <p:cBhvr>
                                        <p:cTn id="31" dur="1" fill="hold">
                                          <p:stCondLst>
                                            <p:cond delay="0"/>
                                          </p:stCondLst>
                                        </p:cTn>
                                        <p:tgtEl>
                                          <p:spTgt spid="59395">
                                            <p:txEl>
                                              <p:pRg st="5" end="5"/>
                                            </p:txEl>
                                          </p:spTgt>
                                        </p:tgtEl>
                                        <p:attrNameLst>
                                          <p:attrName>style.visibility</p:attrName>
                                        </p:attrNameLst>
                                      </p:cBhvr>
                                      <p:to>
                                        <p:strVal val="visible"/>
                                      </p:to>
                                    </p:set>
                                    <p:animEffect transition="in" filter="barn(inHorizontal)">
                                      <p:cBhvr>
                                        <p:cTn id="32" dur="500"/>
                                        <p:tgtEl>
                                          <p:spTgt spid="59395">
                                            <p:txEl>
                                              <p:pRg st="5" end="5"/>
                                            </p:txEl>
                                          </p:spTgt>
                                        </p:tgtEl>
                                      </p:cBhvr>
                                    </p:animEffect>
                                  </p:childTnLst>
                                </p:cTn>
                              </p:par>
                              <p:par>
                                <p:cTn id="33" presetID="16" presetClass="entr" presetSubtype="26" fill="hold" nodeType="withEffect">
                                  <p:stCondLst>
                                    <p:cond delay="0"/>
                                  </p:stCondLst>
                                  <p:childTnLst>
                                    <p:set>
                                      <p:cBhvr>
                                        <p:cTn id="34" dur="1" fill="hold">
                                          <p:stCondLst>
                                            <p:cond delay="0"/>
                                          </p:stCondLst>
                                        </p:cTn>
                                        <p:tgtEl>
                                          <p:spTgt spid="59395">
                                            <p:txEl>
                                              <p:pRg st="6" end="6"/>
                                            </p:txEl>
                                          </p:spTgt>
                                        </p:tgtEl>
                                        <p:attrNameLst>
                                          <p:attrName>style.visibility</p:attrName>
                                        </p:attrNameLst>
                                      </p:cBhvr>
                                      <p:to>
                                        <p:strVal val="visible"/>
                                      </p:to>
                                    </p:set>
                                    <p:animEffect transition="in" filter="barn(inHorizontal)">
                                      <p:cBhvr>
                                        <p:cTn id="35" dur="500"/>
                                        <p:tgtEl>
                                          <p:spTgt spid="593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60417"/>
          <p:cNvSpPr>
            <a:spLocks noGrp="1" noChangeArrowheads="1"/>
          </p:cNvSpPr>
          <p:nvPr>
            <p:ph type="title"/>
          </p:nvPr>
        </p:nvSpPr>
        <p:spPr/>
        <p:txBody>
          <a:bodyPr/>
          <a:lstStyle/>
          <a:p>
            <a:r>
              <a:rPr lang="en-US" altLang="zh-CN" sz="3500"/>
              <a:t>2</a:t>
            </a:r>
            <a:r>
              <a:rPr lang="zh-CN" altLang="en-US" sz="3500"/>
              <a:t>．空闲块链接法</a:t>
            </a:r>
            <a:br>
              <a:rPr lang="zh-CN" altLang="en-US" sz="3500"/>
            </a:br>
            <a:endParaRPr lang="zh-CN" altLang="en-US" sz="3500"/>
          </a:p>
        </p:txBody>
      </p:sp>
      <p:pic>
        <p:nvPicPr>
          <p:cNvPr id="59394" name="文本占位符 60419" descr="b62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3962400" y="533400"/>
            <a:ext cx="3733800" cy="5486400"/>
          </a:xfrm>
        </p:spPr>
      </p:pic>
      <p:sp>
        <p:nvSpPr>
          <p:cNvPr id="59395" name="矩形 60420"/>
          <p:cNvSpPr>
            <a:spLocks noChangeArrowheads="1"/>
          </p:cNvSpPr>
          <p:nvPr/>
        </p:nvSpPr>
        <p:spPr bwMode="auto">
          <a:xfrm>
            <a:off x="5410200" y="6172200"/>
            <a:ext cx="21574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6-21  </a:t>
            </a:r>
            <a:r>
              <a:rPr lang="zh-CN" altLang="en-US">
                <a:latin typeface="Tahoma" panose="020B0604030504040204" pitchFamily="34" charset="0"/>
              </a:rPr>
              <a:t>空闲块链接</a:t>
            </a:r>
            <a:endParaRPr lang="zh-CN" altLang="en-US">
              <a:latin typeface="Tahoma" panose="020B0604030504040204" pitchFamily="34" charset="0"/>
            </a:endParaRPr>
          </a:p>
        </p:txBody>
      </p:sp>
      <p:sp>
        <p:nvSpPr>
          <p:cNvPr id="60422" name="矩形 60421"/>
          <p:cNvSpPr>
            <a:spLocks noChangeArrowheads="1"/>
          </p:cNvSpPr>
          <p:nvPr/>
        </p:nvSpPr>
        <p:spPr bwMode="auto">
          <a:xfrm>
            <a:off x="914400" y="4557713"/>
            <a:ext cx="2590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a:latin typeface="Tahoma" panose="020B0604030504040204" pitchFamily="34" charset="0"/>
              </a:rPr>
              <a:t>易于实现</a:t>
            </a:r>
            <a:endParaRPr lang="zh-CN" altLang="en-US" sz="2400">
              <a:latin typeface="Tahoma" panose="020B0604030504040204" pitchFamily="34" charset="0"/>
            </a:endParaRPr>
          </a:p>
          <a:p>
            <a:pPr algn="ctr"/>
            <a:r>
              <a:rPr lang="zh-CN" altLang="en-US" sz="2400">
                <a:latin typeface="Tahoma" panose="020B0604030504040204" pitchFamily="34" charset="0"/>
              </a:rPr>
              <a:t>但其工作效率低。</a:t>
            </a:r>
            <a:endParaRPr lang="zh-CN" altLang="en-US" sz="2400">
              <a:latin typeface="Tahoma" panose="020B0604030504040204" pitchFamily="34" charset="0"/>
            </a:endParaRPr>
          </a:p>
        </p:txBody>
      </p:sp>
      <p:sp>
        <p:nvSpPr>
          <p:cNvPr id="59397" name="矩形 60422"/>
          <p:cNvSpPr>
            <a:spLocks noChangeArrowheads="1"/>
          </p:cNvSpPr>
          <p:nvPr/>
        </p:nvSpPr>
        <p:spPr bwMode="auto">
          <a:xfrm>
            <a:off x="838200" y="2133600"/>
            <a:ext cx="2667000" cy="1295400"/>
          </a:xfrm>
          <a:prstGeom prst="rect">
            <a:avLst/>
          </a:prstGeom>
          <a:solidFill>
            <a:srgbClr val="FFFFE7"/>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a:t>只需内存有一个</a:t>
            </a:r>
            <a:endParaRPr lang="zh-CN" altLang="en-US" sz="2400"/>
          </a:p>
          <a:p>
            <a:pPr algn="ctr"/>
            <a:r>
              <a:rPr lang="zh-CN" altLang="en-US" sz="2400"/>
              <a:t>单元保留链头指针。</a:t>
            </a:r>
            <a:endParaRPr lang="zh-CN" altLang="en-US" sz="24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iterate type="lt">
                                    <p:tmAbs val="0"/>
                                  </p:iterate>
                                  <p:childTnLst>
                                    <p:set>
                                      <p:cBhvr>
                                        <p:cTn id="6" dur="1" fill="hold">
                                          <p:stCondLst>
                                            <p:cond delay="0"/>
                                          </p:stCondLst>
                                        </p:cTn>
                                        <p:tgtEl>
                                          <p:spTgt spid="60422">
                                            <p:txEl>
                                              <p:pRg st="0" end="0"/>
                                            </p:txEl>
                                          </p:spTgt>
                                        </p:tgtEl>
                                        <p:attrNameLst>
                                          <p:attrName>style.visibility</p:attrName>
                                        </p:attrNameLst>
                                      </p:cBhvr>
                                      <p:to>
                                        <p:strVal val="visible"/>
                                      </p:to>
                                    </p:set>
                                    <p:animEffect transition="in" filter="dissolve">
                                      <p:cBhvr>
                                        <p:cTn id="7" dur="500"/>
                                        <p:tgtEl>
                                          <p:spTgt spid="60422">
                                            <p:txEl>
                                              <p:pRg st="0" end="0"/>
                                            </p:txEl>
                                          </p:spTgt>
                                        </p:tgtEl>
                                      </p:cBhvr>
                                    </p:animEffect>
                                  </p:childTnLst>
                                </p:cTn>
                              </p:par>
                              <p:par>
                                <p:cTn id="8" presetID="9" presetClass="entr" presetSubtype="0" fill="hold" nodeType="withEffect">
                                  <p:stCondLst>
                                    <p:cond delay="0"/>
                                  </p:stCondLst>
                                  <p:iterate type="lt">
                                    <p:tmAbs val="0"/>
                                  </p:iterate>
                                  <p:childTnLst>
                                    <p:set>
                                      <p:cBhvr>
                                        <p:cTn id="9" dur="1" fill="hold">
                                          <p:stCondLst>
                                            <p:cond delay="0"/>
                                          </p:stCondLst>
                                        </p:cTn>
                                        <p:tgtEl>
                                          <p:spTgt spid="60422">
                                            <p:txEl>
                                              <p:pRg st="1" end="1"/>
                                            </p:txEl>
                                          </p:spTgt>
                                        </p:tgtEl>
                                        <p:attrNameLst>
                                          <p:attrName>style.visibility</p:attrName>
                                        </p:attrNameLst>
                                      </p:cBhvr>
                                      <p:to>
                                        <p:strVal val="visible"/>
                                      </p:to>
                                    </p:set>
                                    <p:animEffect transition="in" filter="dissolve">
                                      <p:cBhvr>
                                        <p:cTn id="10" dur="500"/>
                                        <p:tgtEl>
                                          <p:spTgt spid="6042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mph" presetSubtype="0" fill="hold" nodeType="clickEffect">
                                  <p:stCondLst>
                                    <p:cond delay="0"/>
                                  </p:stCondLst>
                                  <p:iterate type="lt">
                                    <p:tmPct val="4000"/>
                                  </p:iterate>
                                  <p:childTnLst>
                                    <p:set>
                                      <p:cBhvr override="childStyle">
                                        <p:cTn id="14" dur="500" fill="hold"/>
                                        <p:tgtEl>
                                          <p:spTgt spid="60422">
                                            <p:txEl>
                                              <p:pRg st="0" end="0"/>
                                            </p:txEl>
                                          </p:spTgt>
                                        </p:tgtEl>
                                        <p:attrNameLst>
                                          <p:attrName>style.color</p:attrName>
                                        </p:attrNameLst>
                                      </p:cBhvr>
                                      <p:to>
                                        <p:clrVal>
                                          <a:schemeClr val="accent2"/>
                                        </p:clrVal>
                                      </p:to>
                                    </p:set>
                                    <p:set>
                                      <p:cBhvr>
                                        <p:cTn id="15" dur="500" fill="hold"/>
                                        <p:tgtEl>
                                          <p:spTgt spid="60422">
                                            <p:txEl>
                                              <p:pRg st="0" end="0"/>
                                            </p:txEl>
                                          </p:spTgt>
                                        </p:tgtEl>
                                        <p:attrNameLst>
                                          <p:attrName>fillcolor</p:attrName>
                                        </p:attrNameLst>
                                      </p:cBhvr>
                                      <p:to>
                                        <p:clrVal>
                                          <a:schemeClr val="accent2"/>
                                        </p:clrVal>
                                      </p:to>
                                    </p:set>
                                    <p:set>
                                      <p:cBhvr>
                                        <p:cTn id="16" dur="500" fill="hold"/>
                                        <p:tgtEl>
                                          <p:spTgt spid="60422">
                                            <p:txEl>
                                              <p:pRg st="0" end="0"/>
                                            </p:txEl>
                                          </p:spTgt>
                                        </p:tgtEl>
                                        <p:attrNameLst>
                                          <p:attrName>fill.type</p:attrName>
                                        </p:attrNameLst>
                                      </p:cBhvr>
                                      <p:to>
                                        <p:strVal val="solid"/>
                                      </p:to>
                                    </p:set>
                                  </p:childTnLst>
                                </p:cTn>
                              </p:par>
                              <p:par>
                                <p:cTn id="17" presetID="16" presetClass="emph" presetSubtype="0" fill="hold" nodeType="withEffect">
                                  <p:stCondLst>
                                    <p:cond delay="0"/>
                                  </p:stCondLst>
                                  <p:iterate type="lt">
                                    <p:tmPct val="4000"/>
                                  </p:iterate>
                                  <p:childTnLst>
                                    <p:set>
                                      <p:cBhvr override="childStyle">
                                        <p:cTn id="18" dur="500" fill="hold"/>
                                        <p:tgtEl>
                                          <p:spTgt spid="60422">
                                            <p:txEl>
                                              <p:pRg st="1" end="1"/>
                                            </p:txEl>
                                          </p:spTgt>
                                        </p:tgtEl>
                                        <p:attrNameLst>
                                          <p:attrName>style.color</p:attrName>
                                        </p:attrNameLst>
                                      </p:cBhvr>
                                      <p:to>
                                        <p:clrVal>
                                          <a:schemeClr val="accent2"/>
                                        </p:clrVal>
                                      </p:to>
                                    </p:set>
                                    <p:set>
                                      <p:cBhvr>
                                        <p:cTn id="19" dur="500" fill="hold"/>
                                        <p:tgtEl>
                                          <p:spTgt spid="60422">
                                            <p:txEl>
                                              <p:pRg st="1" end="1"/>
                                            </p:txEl>
                                          </p:spTgt>
                                        </p:tgtEl>
                                        <p:attrNameLst>
                                          <p:attrName>fillcolor</p:attrName>
                                        </p:attrNameLst>
                                      </p:cBhvr>
                                      <p:to>
                                        <p:clrVal>
                                          <a:schemeClr val="accent2"/>
                                        </p:clrVal>
                                      </p:to>
                                    </p:set>
                                    <p:set>
                                      <p:cBhvr>
                                        <p:cTn id="20" dur="500" fill="hold"/>
                                        <p:tgtEl>
                                          <p:spTgt spid="60422">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61441"/>
          <p:cNvSpPr>
            <a:spLocks noGrp="1" noChangeArrowheads="1"/>
          </p:cNvSpPr>
          <p:nvPr>
            <p:ph type="title"/>
          </p:nvPr>
        </p:nvSpPr>
        <p:spPr/>
        <p:txBody>
          <a:bodyPr/>
          <a:lstStyle/>
          <a:p>
            <a:r>
              <a:rPr lang="en-US" altLang="zh-CN" sz="3500"/>
              <a:t>3</a:t>
            </a:r>
            <a:r>
              <a:rPr lang="zh-CN" altLang="en-US" sz="3500"/>
              <a:t>．位示图（</a:t>
            </a:r>
            <a:r>
              <a:rPr lang="en-US" altLang="zh-CN" sz="3500"/>
              <a:t>Bit Map</a:t>
            </a:r>
            <a:r>
              <a:rPr lang="zh-CN" altLang="en-US" sz="3500"/>
              <a:t>）法</a:t>
            </a:r>
            <a:br>
              <a:rPr lang="zh-CN" altLang="en-US" sz="3500"/>
            </a:br>
            <a:endParaRPr lang="zh-CN" altLang="en-US" sz="3500"/>
          </a:p>
        </p:txBody>
      </p:sp>
      <p:sp>
        <p:nvSpPr>
          <p:cNvPr id="61443" name="内容占位符 61442"/>
          <p:cNvSpPr>
            <a:spLocks noGrp="1" noChangeArrowheads="1"/>
          </p:cNvSpPr>
          <p:nvPr>
            <p:ph idx="1"/>
          </p:nvPr>
        </p:nvSpPr>
        <p:spPr/>
        <p:txBody>
          <a:bodyPr/>
          <a:lstStyle/>
          <a:p>
            <a:r>
              <a:rPr lang="zh-CN" altLang="en-US"/>
              <a:t>也称位向量（</a:t>
            </a:r>
            <a:r>
              <a:rPr lang="en-US" altLang="zh-CN"/>
              <a:t>Bit Vector</a:t>
            </a:r>
            <a:r>
              <a:rPr lang="zh-CN" altLang="en-US"/>
              <a:t>）法。空闲为</a:t>
            </a:r>
            <a:r>
              <a:rPr lang="en-US" altLang="zh-CN"/>
              <a:t>1</a:t>
            </a:r>
            <a:r>
              <a:rPr lang="zh-CN" altLang="en-US"/>
              <a:t>。</a:t>
            </a:r>
            <a:endParaRPr lang="zh-CN" altLang="en-US"/>
          </a:p>
          <a:p>
            <a:r>
              <a:rPr lang="zh-CN" altLang="en-US"/>
              <a:t>设下列盘块是空闲的：</a:t>
            </a:r>
            <a:r>
              <a:rPr lang="en-US" altLang="zh-CN"/>
              <a:t>2, 3, 4, 5, 8, 9, 10, 11, 12, 13, 17, 18, 25, 26, 27,……</a:t>
            </a:r>
            <a:r>
              <a:rPr lang="zh-CN" altLang="en-US"/>
              <a:t>，则位示图向量是：</a:t>
            </a:r>
            <a:endParaRPr lang="zh-CN" altLang="en-US"/>
          </a:p>
          <a:p>
            <a:pPr>
              <a:buFont typeface="Wingdings" panose="05000000000000000000" pitchFamily="2" charset="2"/>
              <a:buNone/>
            </a:pPr>
            <a:r>
              <a:rPr lang="zh-CN" altLang="en-US"/>
              <a:t>     </a:t>
            </a:r>
            <a:r>
              <a:rPr lang="en-US" altLang="zh-CN"/>
              <a:t>0011110011111100011000000111…</a:t>
            </a:r>
            <a:endParaRPr lang="en-US" altLang="zh-CN"/>
          </a:p>
          <a:p>
            <a:r>
              <a:rPr lang="zh-CN" altLang="en-US"/>
              <a:t>块号的计算公式如下：</a:t>
            </a:r>
            <a:endParaRPr lang="zh-CN" altLang="en-US"/>
          </a:p>
          <a:p>
            <a:pPr>
              <a:buFont typeface="Wingdings" panose="05000000000000000000" pitchFamily="2" charset="2"/>
              <a:buNone/>
            </a:pPr>
            <a:r>
              <a:rPr lang="zh-CN" altLang="en-US" sz="2800"/>
              <a:t>             字长</a:t>
            </a:r>
            <a:r>
              <a:rPr lang="en-US" altLang="zh-CN" sz="2800"/>
              <a:t>×“0”</a:t>
            </a:r>
            <a:r>
              <a:rPr lang="zh-CN" altLang="en-US" sz="2800"/>
              <a:t>值字数 </a:t>
            </a:r>
            <a:r>
              <a:rPr lang="en-US" altLang="zh-CN" sz="2800"/>
              <a:t>+ </a:t>
            </a:r>
            <a:r>
              <a:rPr lang="zh-CN" altLang="en-US" sz="2800"/>
              <a:t>首位“</a:t>
            </a:r>
            <a:r>
              <a:rPr lang="en-US" altLang="zh-CN" sz="2800"/>
              <a:t>1”</a:t>
            </a:r>
            <a:r>
              <a:rPr lang="zh-CN" altLang="en-US" sz="2800"/>
              <a:t>的偏移</a:t>
            </a:r>
            <a:endParaRPr lang="zh-CN" altLang="en-US" sz="2800"/>
          </a:p>
          <a:p>
            <a:pPr>
              <a:buFont typeface="Wingdings" panose="05000000000000000000" pitchFamily="2" charset="2"/>
              <a:buNone/>
            </a:pPr>
            <a:r>
              <a:rPr lang="zh-CN" altLang="en-US" sz="2800"/>
              <a:t>位示图大小由盘块总数确定。</a:t>
            </a:r>
            <a:endParaRPr lang="zh-CN" altLang="en-US" sz="2800"/>
          </a:p>
          <a:p>
            <a:pPr>
              <a:buFont typeface="Wingdings" panose="05000000000000000000" pitchFamily="2" charset="2"/>
              <a:buNone/>
            </a:pPr>
            <a:endParaRPr lang="zh-CN" altLang="en-US" sz="28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strips(downLeft)">
                                      <p:cBhvr>
                                        <p:cTn id="7" dur="500"/>
                                        <p:tgtEl>
                                          <p:spTgt spid="61443">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61443">
                                            <p:txEl>
                                              <p:pRg st="1" end="1"/>
                                            </p:txEl>
                                          </p:spTgt>
                                        </p:tgtEl>
                                        <p:attrNameLst>
                                          <p:attrName>style.visibility</p:attrName>
                                        </p:attrNameLst>
                                      </p:cBhvr>
                                      <p:to>
                                        <p:strVal val="visible"/>
                                      </p:to>
                                    </p:set>
                                    <p:animEffect transition="in" filter="barn(inHorizontal)">
                                      <p:cBhvr>
                                        <p:cTn id="10" dur="500"/>
                                        <p:tgtEl>
                                          <p:spTgt spid="61443">
                                            <p:txEl>
                                              <p:pRg st="1" end="1"/>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61443">
                                            <p:txEl>
                                              <p:pRg st="3" end="3"/>
                                            </p:txEl>
                                          </p:spTgt>
                                        </p:tgtEl>
                                        <p:attrNameLst>
                                          <p:attrName>style.visibility</p:attrName>
                                        </p:attrNameLst>
                                      </p:cBhvr>
                                      <p:to>
                                        <p:strVal val="visible"/>
                                      </p:to>
                                    </p:set>
                                    <p:animEffect transition="in" filter="barn(inHorizontal)">
                                      <p:cBhvr>
                                        <p:cTn id="13" dur="500"/>
                                        <p:tgtEl>
                                          <p:spTgt spid="61443">
                                            <p:txEl>
                                              <p:pRg st="3" end="3"/>
                                            </p:txEl>
                                          </p:spTgt>
                                        </p:tgtEl>
                                      </p:cBhvr>
                                    </p:animEffect>
                                  </p:childTnLst>
                                </p:cTn>
                              </p:par>
                              <p:par>
                                <p:cTn id="14" presetID="16" presetClass="entr" presetSubtype="26" fill="hold" nodeType="withEffect">
                                  <p:stCondLst>
                                    <p:cond delay="0"/>
                                  </p:stCondLst>
                                  <p:childTnLst>
                                    <p:set>
                                      <p:cBhvr>
                                        <p:cTn id="15" dur="1" fill="hold">
                                          <p:stCondLst>
                                            <p:cond delay="0"/>
                                          </p:stCondLst>
                                        </p:cTn>
                                        <p:tgtEl>
                                          <p:spTgt spid="61443">
                                            <p:txEl>
                                              <p:pRg st="4" end="4"/>
                                            </p:txEl>
                                          </p:spTgt>
                                        </p:tgtEl>
                                        <p:attrNameLst>
                                          <p:attrName>style.visibility</p:attrName>
                                        </p:attrNameLst>
                                      </p:cBhvr>
                                      <p:to>
                                        <p:strVal val="visible"/>
                                      </p:to>
                                    </p:set>
                                    <p:animEffect transition="in" filter="barn(inHorizontal)">
                                      <p:cBhvr>
                                        <p:cTn id="16" dur="500"/>
                                        <p:tgtEl>
                                          <p:spTgt spid="61443">
                                            <p:txEl>
                                              <p:pRg st="4" end="4"/>
                                            </p:txEl>
                                          </p:spTgt>
                                        </p:tgtEl>
                                      </p:cBhvr>
                                    </p:animEffect>
                                  </p:childTnLst>
                                </p:cTn>
                              </p:par>
                              <p:par>
                                <p:cTn id="17" presetID="16" presetClass="entr" presetSubtype="26" fill="hold" nodeType="withEffect">
                                  <p:stCondLst>
                                    <p:cond delay="0"/>
                                  </p:stCondLst>
                                  <p:childTnLst>
                                    <p:set>
                                      <p:cBhvr>
                                        <p:cTn id="18" dur="1" fill="hold">
                                          <p:stCondLst>
                                            <p:cond delay="0"/>
                                          </p:stCondLst>
                                        </p:cTn>
                                        <p:tgtEl>
                                          <p:spTgt spid="61443">
                                            <p:txEl>
                                              <p:pRg st="5" end="5"/>
                                            </p:txEl>
                                          </p:spTgt>
                                        </p:tgtEl>
                                        <p:attrNameLst>
                                          <p:attrName>style.visibility</p:attrName>
                                        </p:attrNameLst>
                                      </p:cBhvr>
                                      <p:to>
                                        <p:strVal val="visible"/>
                                      </p:to>
                                    </p:set>
                                    <p:animEffect transition="in" filter="barn(inHorizontal)">
                                      <p:cBhvr>
                                        <p:cTn id="19" dur="500"/>
                                        <p:tgtEl>
                                          <p:spTgt spid="61443">
                                            <p:txEl>
                                              <p:pRg st="5" end="5"/>
                                            </p:txEl>
                                          </p:spTgt>
                                        </p:tgtEl>
                                      </p:cBhvr>
                                    </p:animEffect>
                                  </p:childTnLst>
                                </p:cTn>
                              </p:par>
                              <p:par>
                                <p:cTn id="20" presetID="2" presetClass="entr" presetSubtype="4" fill="hold" nodeType="withEffect">
                                  <p:stCondLst>
                                    <p:cond delay="0"/>
                                  </p:stCondLst>
                                  <p:childTnLst>
                                    <p:set>
                                      <p:cBhvr>
                                        <p:cTn id="21" dur="1" fill="hold">
                                          <p:stCondLst>
                                            <p:cond delay="0"/>
                                          </p:stCondLst>
                                        </p:cTn>
                                        <p:tgtEl>
                                          <p:spTgt spid="61443">
                                            <p:txEl>
                                              <p:pRg st="2" end="2"/>
                                            </p:txEl>
                                          </p:spTgt>
                                        </p:tgtEl>
                                        <p:attrNameLst>
                                          <p:attrName>style.visibility</p:attrName>
                                        </p:attrNameLst>
                                      </p:cBhvr>
                                      <p:to>
                                        <p:strVal val="visible"/>
                                      </p:to>
                                    </p:set>
                                    <p:anim calcmode="lin" valueType="num">
                                      <p:cBhvr additive="base">
                                        <p:cTn id="22" dur="500" fill="hold"/>
                                        <p:tgtEl>
                                          <p:spTgt spid="6144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144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62465"/>
          <p:cNvSpPr>
            <a:spLocks noGrp="1" noChangeArrowheads="1"/>
          </p:cNvSpPr>
          <p:nvPr>
            <p:ph type="title"/>
          </p:nvPr>
        </p:nvSpPr>
        <p:spPr/>
        <p:txBody>
          <a:bodyPr/>
          <a:lstStyle/>
          <a:p>
            <a:r>
              <a:rPr lang="en-US" altLang="zh-CN" sz="3500"/>
              <a:t>4</a:t>
            </a:r>
            <a:r>
              <a:rPr lang="zh-CN" altLang="en-US" sz="3500"/>
              <a:t>．空闲块</a:t>
            </a:r>
            <a:r>
              <a:rPr lang="zh-CN" altLang="en-US" sz="3500">
                <a:solidFill>
                  <a:srgbClr val="FF0000"/>
                </a:solidFill>
              </a:rPr>
              <a:t>成组</a:t>
            </a:r>
            <a:r>
              <a:rPr lang="zh-CN" altLang="en-US" sz="3500"/>
              <a:t>链接法</a:t>
            </a:r>
            <a:br>
              <a:rPr lang="zh-CN" altLang="en-US" sz="3500"/>
            </a:br>
            <a:endParaRPr lang="zh-CN" altLang="en-US" sz="3500"/>
          </a:p>
        </p:txBody>
      </p:sp>
      <p:sp>
        <p:nvSpPr>
          <p:cNvPr id="61442" name="文本占位符 62466"/>
          <p:cNvSpPr>
            <a:spLocks noGrp="1" noChangeArrowheads="1"/>
          </p:cNvSpPr>
          <p:nvPr>
            <p:ph idx="1"/>
          </p:nvPr>
        </p:nvSpPr>
        <p:spPr>
          <a:xfrm>
            <a:off x="457200" y="914400"/>
            <a:ext cx="8229600" cy="5105400"/>
          </a:xfrm>
        </p:spPr>
        <p:txBody>
          <a:bodyPr/>
          <a:lstStyle/>
          <a:p>
            <a:pPr>
              <a:buFont typeface="Wingdings" panose="05000000000000000000" pitchFamily="2" charset="2"/>
              <a:buNone/>
            </a:pPr>
            <a:r>
              <a:rPr lang="zh-CN" altLang="en-US"/>
              <a:t>（</a:t>
            </a:r>
            <a:r>
              <a:rPr lang="en-US" altLang="zh-CN"/>
              <a:t>1</a:t>
            </a:r>
            <a:r>
              <a:rPr lang="zh-CN" altLang="en-US"/>
              <a:t>）空闲块成组链接</a:t>
            </a:r>
            <a:endParaRPr lang="zh-CN" altLang="en-US"/>
          </a:p>
        </p:txBody>
      </p:sp>
      <p:pic>
        <p:nvPicPr>
          <p:cNvPr id="61443" name="图片 62467" descr="B6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1420813"/>
            <a:ext cx="7086600" cy="543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矩形 62468"/>
          <p:cNvSpPr>
            <a:spLocks noChangeArrowheads="1"/>
          </p:cNvSpPr>
          <p:nvPr/>
        </p:nvSpPr>
        <p:spPr bwMode="auto">
          <a:xfrm rot="5400000">
            <a:off x="6877050" y="3638550"/>
            <a:ext cx="26146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a:latin typeface="Tahoma" panose="020B0604030504040204" pitchFamily="34" charset="0"/>
              </a:rPr>
              <a:t>图</a:t>
            </a:r>
            <a:r>
              <a:rPr lang="en-US" altLang="zh-CN">
                <a:latin typeface="Tahoma" panose="020B0604030504040204" pitchFamily="34" charset="0"/>
              </a:rPr>
              <a:t>6-22  </a:t>
            </a:r>
            <a:r>
              <a:rPr lang="zh-CN" altLang="en-US">
                <a:latin typeface="Tahoma" panose="020B0604030504040204" pitchFamily="34" charset="0"/>
              </a:rPr>
              <a:t>空闲块成组链接</a:t>
            </a:r>
            <a:endParaRPr lang="zh-CN" altLang="en-US">
              <a:latin typeface="Tahoma" panose="020B0604030504040204" pitchFamily="34" charset="0"/>
            </a:endParaRPr>
          </a:p>
        </p:txBody>
      </p:sp>
    </p:spTree>
  </p:cSld>
  <p:clrMapOvr>
    <a:masterClrMapping/>
  </p:clrMapOvr>
  <p:transition spd="slow">
    <p:pull dir="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63489"/>
          <p:cNvSpPr>
            <a:spLocks noGrp="1" noChangeArrowheads="1"/>
          </p:cNvSpPr>
          <p:nvPr>
            <p:ph type="title"/>
          </p:nvPr>
        </p:nvSpPr>
        <p:spPr/>
        <p:txBody>
          <a:bodyPr/>
          <a:lstStyle/>
          <a:p>
            <a:endParaRPr lang="zh-CN" altLang="en-US"/>
          </a:p>
        </p:txBody>
      </p:sp>
      <p:sp>
        <p:nvSpPr>
          <p:cNvPr id="63491" name="内容占位符 63490"/>
          <p:cNvSpPr>
            <a:spLocks noGrp="1" noChangeArrowheads="1"/>
          </p:cNvSpPr>
          <p:nvPr>
            <p:ph idx="1"/>
          </p:nvPr>
        </p:nvSpPr>
        <p:spPr/>
        <p:txBody>
          <a:bodyPr/>
          <a:lstStyle/>
          <a:p>
            <a:pPr>
              <a:spcBef>
                <a:spcPct val="0"/>
              </a:spcBef>
              <a:buClrTx/>
              <a:buSzTx/>
              <a:buFont typeface="Wingdings" panose="05000000000000000000" pitchFamily="2" charset="2"/>
              <a:buNone/>
            </a:pPr>
            <a:r>
              <a:rPr lang="zh-CN" altLang="en-US"/>
              <a:t>（</a:t>
            </a:r>
            <a:r>
              <a:rPr lang="en-US" altLang="zh-CN"/>
              <a:t>1</a:t>
            </a:r>
            <a:r>
              <a:rPr lang="zh-CN" altLang="en-US"/>
              <a:t>）空闲块成组链接。</a:t>
            </a:r>
            <a:endParaRPr lang="zh-CN" altLang="en-US"/>
          </a:p>
          <a:p>
            <a:pPr>
              <a:buFont typeface="Wingdings" panose="05000000000000000000" pitchFamily="2" charset="2"/>
              <a:buNone/>
            </a:pPr>
            <a:r>
              <a:rPr lang="zh-CN" altLang="en-US"/>
              <a:t>（</a:t>
            </a:r>
            <a:r>
              <a:rPr lang="en-US" altLang="zh-CN"/>
              <a:t>2</a:t>
            </a:r>
            <a:r>
              <a:rPr lang="zh-CN" altLang="en-US"/>
              <a:t>）空闲块分配</a:t>
            </a:r>
            <a:r>
              <a:rPr lang="en-US" altLang="zh-CN"/>
              <a:t>—</a:t>
            </a:r>
            <a:r>
              <a:rPr lang="zh-CN" altLang="en-US">
                <a:solidFill>
                  <a:srgbClr val="FF0000"/>
                </a:solidFill>
              </a:rPr>
              <a:t>从下到上</a:t>
            </a:r>
            <a:r>
              <a:rPr lang="zh-CN" altLang="en-US"/>
              <a:t>。</a:t>
            </a:r>
            <a:endParaRPr lang="zh-CN" altLang="en-US"/>
          </a:p>
          <a:p>
            <a:pPr>
              <a:buFont typeface="Wingdings" panose="05000000000000000000" pitchFamily="2" charset="2"/>
              <a:buNone/>
            </a:pPr>
            <a:r>
              <a:rPr lang="zh-CN" altLang="en-US"/>
              <a:t>          </a:t>
            </a:r>
            <a:r>
              <a:rPr lang="zh-CN" altLang="en-US">
                <a:solidFill>
                  <a:srgbClr val="FF0000"/>
                </a:solidFill>
              </a:rPr>
              <a:t>栈深减一</a:t>
            </a:r>
            <a:r>
              <a:rPr lang="zh-CN" altLang="en-US"/>
              <a:t>，如</a:t>
            </a:r>
            <a:r>
              <a:rPr lang="en-US" altLang="zh-CN"/>
              <a:t>40-1=39</a:t>
            </a:r>
            <a:r>
              <a:rPr lang="zh-CN" altLang="en-US"/>
              <a:t>检索超级块中空闲块号栈的索引，得到盘块号</a:t>
            </a:r>
            <a:r>
              <a:rPr lang="en-US" altLang="zh-CN"/>
              <a:t>111</a:t>
            </a:r>
            <a:r>
              <a:rPr lang="zh-CN" altLang="en-US"/>
              <a:t>，第一个分出去的空闲块，以此类推。</a:t>
            </a:r>
            <a:endParaRPr lang="zh-CN" altLang="en-US"/>
          </a:p>
          <a:p>
            <a:pPr>
              <a:buFont typeface="Wingdings" panose="05000000000000000000" pitchFamily="2" charset="2"/>
              <a:buNone/>
            </a:pPr>
            <a:r>
              <a:rPr lang="zh-CN" altLang="en-US"/>
              <a:t>    例如</a:t>
            </a:r>
            <a:r>
              <a:rPr lang="en-US" altLang="zh-CN"/>
              <a:t>p210.</a:t>
            </a:r>
            <a:endParaRPr lang="en-US" altLang="zh-CN"/>
          </a:p>
          <a:p>
            <a:pPr>
              <a:buFont typeface="Wingdings" panose="05000000000000000000" pitchFamily="2" charset="2"/>
              <a:buNone/>
            </a:pPr>
            <a:r>
              <a:rPr lang="zh-CN" altLang="en-US"/>
              <a:t>（</a:t>
            </a:r>
            <a:r>
              <a:rPr lang="en-US" altLang="zh-CN"/>
              <a:t>3</a:t>
            </a:r>
            <a:r>
              <a:rPr lang="zh-CN" altLang="en-US"/>
              <a:t>）空闲块释放</a:t>
            </a:r>
            <a:r>
              <a:rPr lang="en-US" altLang="zh-CN"/>
              <a:t>, </a:t>
            </a:r>
            <a:r>
              <a:rPr lang="zh-CN" altLang="en-US"/>
              <a:t>栈深加一。</a:t>
            </a:r>
            <a:endParaRPr lang="zh-CN" altLang="en-US"/>
          </a:p>
          <a:p>
            <a:pPr>
              <a:buFont typeface="Wingdings" panose="05000000000000000000" pitchFamily="2" charset="2"/>
              <a:buNone/>
            </a:pPr>
            <a:r>
              <a:rPr lang="zh-CN" altLang="en-US"/>
              <a:t>    例如</a:t>
            </a:r>
            <a:r>
              <a:rPr lang="en-US" altLang="zh-CN"/>
              <a:t>p210</a:t>
            </a:r>
            <a:endParaRPr lang="en-US" altLang="zh-CN"/>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animEffect transition="in" filter="strips(downLeft)">
                                      <p:cBhvr>
                                        <p:cTn id="7" dur="500"/>
                                        <p:tgtEl>
                                          <p:spTgt spid="63491">
                                            <p:txEl>
                                              <p:pRg st="1" end="1"/>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63491">
                                            <p:txEl>
                                              <p:pRg st="2" end="2"/>
                                            </p:txEl>
                                          </p:spTgt>
                                        </p:tgtEl>
                                        <p:attrNameLst>
                                          <p:attrName>style.visibility</p:attrName>
                                        </p:attrNameLst>
                                      </p:cBhvr>
                                      <p:to>
                                        <p:strVal val="visible"/>
                                      </p:to>
                                    </p:set>
                                    <p:animEffect transition="in" filter="strips(downLeft)">
                                      <p:cBhvr>
                                        <p:cTn id="10" dur="500"/>
                                        <p:tgtEl>
                                          <p:spTgt spid="63491">
                                            <p:txEl>
                                              <p:pRg st="2" end="2"/>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63491">
                                            <p:txEl>
                                              <p:pRg st="3" end="3"/>
                                            </p:txEl>
                                          </p:spTgt>
                                        </p:tgtEl>
                                        <p:attrNameLst>
                                          <p:attrName>style.visibility</p:attrName>
                                        </p:attrNameLst>
                                      </p:cBhvr>
                                      <p:to>
                                        <p:strVal val="visible"/>
                                      </p:to>
                                    </p:set>
                                    <p:animEffect transition="in" filter="strips(downLeft)">
                                      <p:cBhvr>
                                        <p:cTn id="13" dur="500"/>
                                        <p:tgtEl>
                                          <p:spTgt spid="63491">
                                            <p:txEl>
                                              <p:pRg st="3" end="3"/>
                                            </p:txEl>
                                          </p:spTgt>
                                        </p:tgtEl>
                                      </p:cBhvr>
                                    </p:animEffect>
                                  </p:childTnLst>
                                </p:cTn>
                              </p:par>
                              <p:par>
                                <p:cTn id="14" presetID="18" presetClass="entr" presetSubtype="12" fill="hold" nodeType="withEffect">
                                  <p:stCondLst>
                                    <p:cond delay="0"/>
                                  </p:stCondLst>
                                  <p:childTnLst>
                                    <p:set>
                                      <p:cBhvr>
                                        <p:cTn id="15" dur="1" fill="hold">
                                          <p:stCondLst>
                                            <p:cond delay="0"/>
                                          </p:stCondLst>
                                        </p:cTn>
                                        <p:tgtEl>
                                          <p:spTgt spid="63491">
                                            <p:txEl>
                                              <p:pRg st="4" end="4"/>
                                            </p:txEl>
                                          </p:spTgt>
                                        </p:tgtEl>
                                        <p:attrNameLst>
                                          <p:attrName>style.visibility</p:attrName>
                                        </p:attrNameLst>
                                      </p:cBhvr>
                                      <p:to>
                                        <p:strVal val="visible"/>
                                      </p:to>
                                    </p:set>
                                    <p:animEffect transition="in" filter="strips(downLeft)">
                                      <p:cBhvr>
                                        <p:cTn id="16" dur="500"/>
                                        <p:tgtEl>
                                          <p:spTgt spid="63491">
                                            <p:txEl>
                                              <p:pRg st="4" end="4"/>
                                            </p:txEl>
                                          </p:spTgt>
                                        </p:tgtEl>
                                      </p:cBhvr>
                                    </p:animEffect>
                                  </p:childTnLst>
                                </p:cTn>
                              </p:par>
                              <p:par>
                                <p:cTn id="17" presetID="18" presetClass="entr" presetSubtype="12" fill="hold" nodeType="withEffect">
                                  <p:stCondLst>
                                    <p:cond delay="0"/>
                                  </p:stCondLst>
                                  <p:childTnLst>
                                    <p:set>
                                      <p:cBhvr>
                                        <p:cTn id="18" dur="1" fill="hold">
                                          <p:stCondLst>
                                            <p:cond delay="0"/>
                                          </p:stCondLst>
                                        </p:cTn>
                                        <p:tgtEl>
                                          <p:spTgt spid="63491">
                                            <p:txEl>
                                              <p:pRg st="5" end="5"/>
                                            </p:txEl>
                                          </p:spTgt>
                                        </p:tgtEl>
                                        <p:attrNameLst>
                                          <p:attrName>style.visibility</p:attrName>
                                        </p:attrNameLst>
                                      </p:cBhvr>
                                      <p:to>
                                        <p:strVal val="visible"/>
                                      </p:to>
                                    </p:set>
                                    <p:animEffect transition="in" filter="strips(downLeft)">
                                      <p:cBhvr>
                                        <p:cTn id="19" dur="500"/>
                                        <p:tgtEl>
                                          <p:spTgt spid="634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65537"/>
          <p:cNvSpPr>
            <a:spLocks noGrp="1" noChangeArrowheads="1"/>
          </p:cNvSpPr>
          <p:nvPr>
            <p:ph type="title"/>
          </p:nvPr>
        </p:nvSpPr>
        <p:spPr/>
        <p:txBody>
          <a:bodyPr/>
          <a:lstStyle/>
          <a:p>
            <a:r>
              <a:rPr lang="en-US" altLang="zh-CN" sz="3500"/>
              <a:t>6.6  </a:t>
            </a:r>
            <a:r>
              <a:rPr lang="zh-CN" altLang="en-US" sz="3500"/>
              <a:t>管 道 文 件</a:t>
            </a:r>
            <a:br>
              <a:rPr lang="zh-CN" altLang="en-US" sz="3500"/>
            </a:br>
            <a:endParaRPr lang="zh-CN" altLang="en-US" sz="3500"/>
          </a:p>
        </p:txBody>
      </p:sp>
      <p:sp>
        <p:nvSpPr>
          <p:cNvPr id="63490" name="文本占位符 65538"/>
          <p:cNvSpPr>
            <a:spLocks noGrp="1" noChangeArrowheads="1"/>
          </p:cNvSpPr>
          <p:nvPr>
            <p:ph idx="1"/>
          </p:nvPr>
        </p:nvSpPr>
        <p:spPr>
          <a:xfrm>
            <a:off x="304800" y="1752600"/>
            <a:ext cx="8458200" cy="4411663"/>
          </a:xfrm>
        </p:spPr>
        <p:txBody>
          <a:bodyPr/>
          <a:lstStyle/>
          <a:p>
            <a:pPr>
              <a:lnSpc>
                <a:spcPct val="90000"/>
              </a:lnSpc>
              <a:buFont typeface="Wingdings" panose="05000000000000000000" pitchFamily="2" charset="2"/>
              <a:buNone/>
            </a:pPr>
            <a:r>
              <a:rPr lang="en-US" altLang="zh-CN"/>
              <a:t>      $ who | wc -l</a:t>
            </a:r>
            <a:endParaRPr lang="en-US" altLang="zh-CN"/>
          </a:p>
          <a:p>
            <a:pPr>
              <a:lnSpc>
                <a:spcPct val="90000"/>
              </a:lnSpc>
              <a:buFont typeface="Wingdings" panose="05000000000000000000" pitchFamily="2" charset="2"/>
              <a:buNone/>
            </a:pPr>
            <a:r>
              <a:rPr lang="en-US" altLang="zh-CN"/>
              <a:t>               5              </a:t>
            </a:r>
            <a:r>
              <a:rPr lang="zh-CN" altLang="en-US" sz="2400"/>
              <a:t>当前系统有</a:t>
            </a:r>
            <a:r>
              <a:rPr lang="en-US" altLang="zh-CN" sz="2400"/>
              <a:t>5</a:t>
            </a:r>
            <a:r>
              <a:rPr lang="zh-CN" altLang="en-US" sz="2400"/>
              <a:t>个用户在工作。</a:t>
            </a:r>
            <a:endParaRPr lang="zh-CN" altLang="en-US" sz="2400"/>
          </a:p>
          <a:p>
            <a:pPr>
              <a:lnSpc>
                <a:spcPct val="90000"/>
              </a:lnSpc>
            </a:pPr>
            <a:r>
              <a:rPr lang="zh-CN" altLang="en-US"/>
              <a:t>利用管道可以实现两个或多个进程间</a:t>
            </a:r>
            <a:r>
              <a:rPr lang="zh-CN" altLang="en-US">
                <a:solidFill>
                  <a:srgbClr val="FF0000"/>
                </a:solidFill>
              </a:rPr>
              <a:t>直接</a:t>
            </a:r>
            <a:r>
              <a:rPr lang="zh-CN" altLang="en-US"/>
              <a:t>通信。</a:t>
            </a:r>
            <a:endParaRPr lang="zh-CN" altLang="en-US"/>
          </a:p>
          <a:p>
            <a:pPr>
              <a:lnSpc>
                <a:spcPct val="90000"/>
              </a:lnSpc>
            </a:pPr>
            <a:r>
              <a:rPr lang="zh-CN" altLang="en-US"/>
              <a:t>一个管道线就是连接两个进程的一个</a:t>
            </a:r>
            <a:r>
              <a:rPr lang="zh-CN" altLang="en-US">
                <a:solidFill>
                  <a:srgbClr val="FF0000"/>
                </a:solidFill>
              </a:rPr>
              <a:t>打开</a:t>
            </a:r>
            <a:r>
              <a:rPr lang="zh-CN" altLang="en-US"/>
              <a:t>文件。不属于用户的文件，是利用系统调用</a:t>
            </a:r>
            <a:r>
              <a:rPr lang="en-US" altLang="zh-CN"/>
              <a:t>pipe</a:t>
            </a:r>
            <a:r>
              <a:rPr lang="zh-CN" altLang="en-US"/>
              <a:t>创建的，进程可以利用相关系统调用对它进行调用。     一个进程向该文件写入信息，另一个进程从该文件中读出信息，由系统自动处理二者间的同步、调度和缓冲。</a:t>
            </a:r>
            <a:endParaRPr lang="zh-CN" altLang="en-US"/>
          </a:p>
        </p:txBody>
      </p:sp>
    </p:spTree>
  </p:cSld>
  <p:clrMapOvr>
    <a:masterClrMapping/>
  </p:clrMapOvr>
  <p:transition spd="slow">
    <p:pull dir="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66561"/>
          <p:cNvSpPr>
            <a:spLocks noGrp="1" noChangeArrowheads="1"/>
          </p:cNvSpPr>
          <p:nvPr>
            <p:ph type="title"/>
          </p:nvPr>
        </p:nvSpPr>
        <p:spPr/>
        <p:txBody>
          <a:bodyPr/>
          <a:lstStyle/>
          <a:p>
            <a:endParaRPr lang="zh-CN" altLang="en-US"/>
          </a:p>
        </p:txBody>
      </p:sp>
      <p:pic>
        <p:nvPicPr>
          <p:cNvPr id="64514" name="文本占位符 66563" descr="B62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609600" y="739775"/>
            <a:ext cx="6096000" cy="4975225"/>
          </a:xfrm>
        </p:spPr>
      </p:pic>
      <p:sp>
        <p:nvSpPr>
          <p:cNvPr id="64515" name="矩形 66564"/>
          <p:cNvSpPr>
            <a:spLocks noChangeArrowheads="1"/>
          </p:cNvSpPr>
          <p:nvPr/>
        </p:nvSpPr>
        <p:spPr bwMode="auto">
          <a:xfrm>
            <a:off x="2514600" y="6172200"/>
            <a:ext cx="39862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zh-CN" altLang="en-US">
                <a:latin typeface="Tahoma" panose="020B0604030504040204" pitchFamily="34" charset="0"/>
              </a:rPr>
              <a:t>图</a:t>
            </a:r>
            <a:r>
              <a:rPr lang="en-US" altLang="zh-CN">
                <a:latin typeface="Tahoma" panose="020B0604030504040204" pitchFamily="34" charset="0"/>
              </a:rPr>
              <a:t>6-23  </a:t>
            </a:r>
            <a:r>
              <a:rPr lang="zh-CN" altLang="en-US">
                <a:latin typeface="Tahoma" panose="020B0604030504040204" pitchFamily="34" charset="0"/>
              </a:rPr>
              <a:t>管道文件机制</a:t>
            </a:r>
            <a:endParaRPr lang="zh-CN" altLang="en-US">
              <a:latin typeface="Tahoma" panose="020B0604030504040204" pitchFamily="34" charset="0"/>
            </a:endParaRPr>
          </a:p>
        </p:txBody>
      </p:sp>
      <p:sp>
        <p:nvSpPr>
          <p:cNvPr id="64516" name="动作按钮: 后退或前一项 66565">
            <a:hlinkClick r:id="rId2" action="ppaction://hlinksldjump" highlightClick="1"/>
          </p:cNvPr>
          <p:cNvSpPr>
            <a:spLocks noChangeArrowheads="1"/>
          </p:cNvSpPr>
          <p:nvPr/>
        </p:nvSpPr>
        <p:spPr bwMode="auto">
          <a:xfrm>
            <a:off x="7620000" y="6019800"/>
            <a:ext cx="9906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33121"/>
          <p:cNvSpPr>
            <a:spLocks noGrp="1" noChangeArrowheads="1"/>
          </p:cNvSpPr>
          <p:nvPr>
            <p:ph type="title"/>
          </p:nvPr>
        </p:nvSpPr>
        <p:spPr/>
        <p:txBody>
          <a:bodyPr/>
          <a:lstStyle/>
          <a:p>
            <a:r>
              <a:rPr lang="en-US" altLang="zh-CN" sz="3500"/>
              <a:t>6.7  </a:t>
            </a:r>
            <a:r>
              <a:rPr lang="zh-CN" altLang="en-US" sz="3500"/>
              <a:t>文件系统的可靠性</a:t>
            </a:r>
            <a:br>
              <a:rPr lang="zh-CN" altLang="en-US" sz="3500"/>
            </a:br>
            <a:endParaRPr lang="zh-CN" altLang="en-US" sz="3500"/>
          </a:p>
        </p:txBody>
      </p:sp>
      <p:sp>
        <p:nvSpPr>
          <p:cNvPr id="133123" name="内容占位符 133122"/>
          <p:cNvSpPr>
            <a:spLocks noGrp="1" noChangeArrowheads="1"/>
          </p:cNvSpPr>
          <p:nvPr>
            <p:ph idx="1"/>
          </p:nvPr>
        </p:nvSpPr>
        <p:spPr/>
        <p:txBody>
          <a:bodyPr/>
          <a:lstStyle/>
          <a:p>
            <a:pPr>
              <a:buFont typeface="Wingdings" panose="05000000000000000000" pitchFamily="2" charset="2"/>
              <a:buNone/>
            </a:pPr>
            <a:r>
              <a:rPr lang="en-US" altLang="zh-CN"/>
              <a:t>6.7.1  </a:t>
            </a:r>
            <a:r>
              <a:rPr lang="zh-CN" altLang="en-US">
                <a:solidFill>
                  <a:srgbClr val="FF0000"/>
                </a:solidFill>
              </a:rPr>
              <a:t>磁盘坏块管理</a:t>
            </a:r>
            <a:endParaRPr lang="zh-CN" altLang="en-US">
              <a:solidFill>
                <a:srgbClr val="FF0000"/>
              </a:solidFill>
            </a:endParaRPr>
          </a:p>
          <a:p>
            <a:pPr>
              <a:buFont typeface="Wingdings" panose="05000000000000000000" pitchFamily="2" charset="2"/>
              <a:buNone/>
            </a:pPr>
            <a:r>
              <a:rPr lang="zh-CN" altLang="en-US">
                <a:solidFill>
                  <a:schemeClr val="accent2"/>
                </a:solidFill>
              </a:rPr>
              <a:t>   </a:t>
            </a:r>
            <a:r>
              <a:rPr lang="zh-CN" altLang="en-US">
                <a:solidFill>
                  <a:srgbClr val="0033CC"/>
                </a:solidFill>
              </a:rPr>
              <a:t>硬件方案</a:t>
            </a:r>
            <a:r>
              <a:rPr lang="zh-CN" altLang="en-US"/>
              <a:t>是在磁盘的一个扇区上记载坏块清单。</a:t>
            </a:r>
            <a:endParaRPr lang="zh-CN" altLang="en-US"/>
          </a:p>
          <a:p>
            <a:pPr>
              <a:buFont typeface="Wingdings" panose="05000000000000000000" pitchFamily="2" charset="2"/>
              <a:buNone/>
            </a:pPr>
            <a:r>
              <a:rPr lang="zh-CN" altLang="en-US">
                <a:solidFill>
                  <a:schemeClr val="accent2"/>
                </a:solidFill>
              </a:rPr>
              <a:t>   </a:t>
            </a:r>
            <a:r>
              <a:rPr lang="zh-CN" altLang="en-US">
                <a:solidFill>
                  <a:srgbClr val="0033CC"/>
                </a:solidFill>
              </a:rPr>
              <a:t>软件方案</a:t>
            </a:r>
            <a:r>
              <a:rPr lang="zh-CN" altLang="en-US"/>
              <a:t>需要用户或文件系统仔细地构造一个文件，它包含全部坏块。</a:t>
            </a:r>
            <a:endParaRPr lang="zh-CN" altLang="en-US"/>
          </a:p>
        </p:txBody>
      </p:sp>
      <p:sp>
        <p:nvSpPr>
          <p:cNvPr id="65539" name="动作按钮: 后退或前一项 133123">
            <a:hlinkClick r:id="rId1" action="ppaction://hlinksldjump" highlightClick="1"/>
          </p:cNvPr>
          <p:cNvSpPr>
            <a:spLocks noChangeArrowheads="1"/>
          </p:cNvSpPr>
          <p:nvPr/>
        </p:nvSpPr>
        <p:spPr bwMode="auto">
          <a:xfrm>
            <a:off x="7696200" y="5943600"/>
            <a:ext cx="838200" cy="45720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blinds(horizontal)">
                                      <p:cBhvr>
                                        <p:cTn id="7" dur="500"/>
                                        <p:tgtEl>
                                          <p:spTgt spid="13312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3123">
                                            <p:txEl>
                                              <p:pRg st="1" end="1"/>
                                            </p:txEl>
                                          </p:spTgt>
                                        </p:tgtEl>
                                        <p:attrNameLst>
                                          <p:attrName>style.visibility</p:attrName>
                                        </p:attrNameLst>
                                      </p:cBhvr>
                                      <p:to>
                                        <p:strVal val="visible"/>
                                      </p:to>
                                    </p:set>
                                    <p:animEffect transition="in" filter="blinds(horizontal)">
                                      <p:cBhvr>
                                        <p:cTn id="10" dur="500"/>
                                        <p:tgtEl>
                                          <p:spTgt spid="13312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33123">
                                            <p:txEl>
                                              <p:pRg st="2" end="2"/>
                                            </p:txEl>
                                          </p:spTgt>
                                        </p:tgtEl>
                                        <p:attrNameLst>
                                          <p:attrName>style.visibility</p:attrName>
                                        </p:attrNameLst>
                                      </p:cBhvr>
                                      <p:to>
                                        <p:strVal val="visible"/>
                                      </p:to>
                                    </p:set>
                                    <p:animEffect transition="in" filter="blinds(horizontal)">
                                      <p:cBhvr>
                                        <p:cTn id="13" dur="500"/>
                                        <p:tgtEl>
                                          <p:spTgt spid="133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34145"/>
          <p:cNvSpPr>
            <a:spLocks noGrp="1" noChangeArrowheads="1"/>
          </p:cNvSpPr>
          <p:nvPr>
            <p:ph type="title"/>
          </p:nvPr>
        </p:nvSpPr>
        <p:spPr/>
        <p:txBody>
          <a:bodyPr/>
          <a:lstStyle/>
          <a:p>
            <a:r>
              <a:rPr lang="en-US" altLang="zh-CN" sz="3500"/>
              <a:t>6.7.2  </a:t>
            </a:r>
            <a:r>
              <a:rPr lang="zh-CN" altLang="en-US" sz="3500"/>
              <a:t>后备</a:t>
            </a:r>
            <a:br>
              <a:rPr lang="zh-CN" altLang="en-US" sz="3500"/>
            </a:br>
            <a:endParaRPr lang="zh-CN" altLang="en-US" sz="3500"/>
          </a:p>
        </p:txBody>
      </p:sp>
      <p:sp>
        <p:nvSpPr>
          <p:cNvPr id="134147" name="内容占位符 134146"/>
          <p:cNvSpPr>
            <a:spLocks noGrp="1" noChangeArrowheads="1"/>
          </p:cNvSpPr>
          <p:nvPr>
            <p:ph idx="1"/>
          </p:nvPr>
        </p:nvSpPr>
        <p:spPr>
          <a:xfrm>
            <a:off x="1295400" y="1719263"/>
            <a:ext cx="7391400" cy="4411662"/>
          </a:xfrm>
        </p:spPr>
        <p:txBody>
          <a:bodyPr/>
          <a:lstStyle/>
          <a:p>
            <a:pPr>
              <a:buFont typeface="Wingdings" panose="05000000000000000000" pitchFamily="2" charset="2"/>
              <a:buNone/>
            </a:pPr>
            <a:r>
              <a:rPr lang="en-US" altLang="zh-CN"/>
              <a:t>1</a:t>
            </a:r>
            <a:r>
              <a:rPr lang="zh-CN" altLang="en-US"/>
              <a:t>．</a:t>
            </a:r>
            <a:r>
              <a:rPr lang="zh-CN" altLang="en-US">
                <a:solidFill>
                  <a:srgbClr val="FF0000"/>
                </a:solidFill>
              </a:rPr>
              <a:t>备份介质</a:t>
            </a:r>
            <a:endParaRPr lang="zh-CN" altLang="en-US">
              <a:solidFill>
                <a:srgbClr val="FF0000"/>
              </a:solidFill>
            </a:endParaRPr>
          </a:p>
          <a:p>
            <a:pPr>
              <a:buFont typeface="Wingdings" panose="05000000000000000000" pitchFamily="2" charset="2"/>
              <a:buNone/>
            </a:pPr>
            <a:r>
              <a:rPr lang="zh-CN" altLang="en-US"/>
              <a:t>常用的软盘、磁带、光盘和硬盘等。 </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box(in)">
                                      <p:cBhvr>
                                        <p:cTn id="7" dur="500"/>
                                        <p:tgtEl>
                                          <p:spTgt spid="134147">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34147">
                                            <p:txEl>
                                              <p:pRg st="1" end="1"/>
                                            </p:txEl>
                                          </p:spTgt>
                                        </p:tgtEl>
                                        <p:attrNameLst>
                                          <p:attrName>style.visibility</p:attrName>
                                        </p:attrNameLst>
                                      </p:cBhvr>
                                      <p:to>
                                        <p:strVal val="visible"/>
                                      </p:to>
                                    </p:set>
                                    <p:animEffect transition="in" filter="box(in)">
                                      <p:cBhvr>
                                        <p:cTn id="10" dur="500"/>
                                        <p:tgtEl>
                                          <p:spTgt spid="134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35169"/>
          <p:cNvSpPr>
            <a:spLocks noGrp="1" noChangeArrowheads="1"/>
          </p:cNvSpPr>
          <p:nvPr>
            <p:ph type="title"/>
          </p:nvPr>
        </p:nvSpPr>
        <p:spPr/>
        <p:txBody>
          <a:bodyPr/>
          <a:lstStyle/>
          <a:p>
            <a:r>
              <a:rPr lang="en-US" altLang="zh-CN" sz="3500"/>
              <a:t>2</a:t>
            </a:r>
            <a:r>
              <a:rPr lang="zh-CN" altLang="en-US" sz="3500"/>
              <a:t>．备份策略</a:t>
            </a:r>
            <a:br>
              <a:rPr lang="zh-CN" altLang="en-US" sz="3500"/>
            </a:br>
            <a:endParaRPr lang="zh-CN" altLang="en-US" sz="3500"/>
          </a:p>
        </p:txBody>
      </p:sp>
      <p:sp>
        <p:nvSpPr>
          <p:cNvPr id="135171" name="内容占位符 135170"/>
          <p:cNvSpPr>
            <a:spLocks noGrp="1" noChangeArrowheads="1"/>
          </p:cNvSpPr>
          <p:nvPr>
            <p:ph idx="1"/>
          </p:nvPr>
        </p:nvSpPr>
        <p:spPr>
          <a:xfrm>
            <a:off x="457200" y="1066800"/>
            <a:ext cx="8229600" cy="5064125"/>
          </a:xfrm>
        </p:spPr>
        <p:txBody>
          <a:bodyPr/>
          <a:lstStyle/>
          <a:p>
            <a:pPr>
              <a:lnSpc>
                <a:spcPct val="90000"/>
              </a:lnSpc>
              <a:buFont typeface="Wingdings" panose="05000000000000000000" pitchFamily="2" charset="2"/>
              <a:buNone/>
            </a:pPr>
            <a:r>
              <a:rPr lang="zh-CN" altLang="en-US" sz="2600"/>
              <a:t>（</a:t>
            </a:r>
            <a:r>
              <a:rPr lang="en-US" altLang="zh-CN" sz="2600"/>
              <a:t>1</a:t>
            </a:r>
            <a:r>
              <a:rPr lang="zh-CN" altLang="en-US" sz="2600"/>
              <a:t>）</a:t>
            </a:r>
            <a:r>
              <a:rPr lang="zh-CN" altLang="en-US" sz="2600">
                <a:solidFill>
                  <a:srgbClr val="FF0000"/>
                </a:solidFill>
              </a:rPr>
              <a:t>完全备份</a:t>
            </a:r>
            <a:endParaRPr lang="zh-CN" altLang="en-US" sz="2600">
              <a:solidFill>
                <a:srgbClr val="FF0000"/>
              </a:solidFill>
            </a:endParaRPr>
          </a:p>
          <a:p>
            <a:pPr>
              <a:lnSpc>
                <a:spcPct val="90000"/>
              </a:lnSpc>
            </a:pPr>
            <a:r>
              <a:rPr lang="zh-CN" altLang="en-US" sz="2600">
                <a:solidFill>
                  <a:srgbClr val="0033CC"/>
                </a:solidFill>
              </a:rPr>
              <a:t>完全备份</a:t>
            </a:r>
            <a:r>
              <a:rPr lang="zh-CN" altLang="en-US" sz="2600"/>
              <a:t>也称简单备份，即每隔一定时间就对系统做一次全面备份。</a:t>
            </a:r>
            <a:endParaRPr lang="zh-CN" altLang="en-US" sz="2600"/>
          </a:p>
          <a:p>
            <a:pPr>
              <a:lnSpc>
                <a:spcPct val="90000"/>
              </a:lnSpc>
              <a:buFont typeface="Wingdings" panose="05000000000000000000" pitchFamily="2" charset="2"/>
              <a:buNone/>
            </a:pPr>
            <a:r>
              <a:rPr lang="zh-CN" altLang="en-US" sz="2600"/>
              <a:t>（</a:t>
            </a:r>
            <a:r>
              <a:rPr lang="en-US" altLang="zh-CN" sz="2600"/>
              <a:t>2</a:t>
            </a:r>
            <a:r>
              <a:rPr lang="zh-CN" altLang="en-US" sz="2600"/>
              <a:t>）</a:t>
            </a:r>
            <a:r>
              <a:rPr lang="zh-CN" altLang="en-US" sz="2600">
                <a:solidFill>
                  <a:srgbClr val="FF0000"/>
                </a:solidFill>
              </a:rPr>
              <a:t>增量备份</a:t>
            </a:r>
            <a:endParaRPr lang="zh-CN" altLang="en-US" sz="2600">
              <a:solidFill>
                <a:srgbClr val="FF0000"/>
              </a:solidFill>
            </a:endParaRPr>
          </a:p>
          <a:p>
            <a:pPr>
              <a:lnSpc>
                <a:spcPct val="90000"/>
              </a:lnSpc>
            </a:pPr>
            <a:r>
              <a:rPr lang="zh-CN" altLang="en-US" sz="2600"/>
              <a:t>首先进行一次完全备份，然后每隔一个较短的时间段进行一次备份，但仅仅备份在这段时间间隔内修改过的数据。周期反复。</a:t>
            </a:r>
            <a:endParaRPr lang="zh-CN" altLang="en-US" sz="2600"/>
          </a:p>
          <a:p>
            <a:pPr>
              <a:lnSpc>
                <a:spcPct val="90000"/>
              </a:lnSpc>
              <a:buFont typeface="Wingdings" panose="05000000000000000000" pitchFamily="2" charset="2"/>
              <a:buNone/>
            </a:pPr>
            <a:r>
              <a:rPr lang="zh-CN" altLang="en-US" sz="2600"/>
              <a:t>（</a:t>
            </a:r>
            <a:r>
              <a:rPr lang="en-US" altLang="zh-CN" sz="2600"/>
              <a:t>3</a:t>
            </a:r>
            <a:r>
              <a:rPr lang="zh-CN" altLang="en-US" sz="2600"/>
              <a:t>）</a:t>
            </a:r>
            <a:r>
              <a:rPr lang="zh-CN" altLang="en-US" sz="2600">
                <a:solidFill>
                  <a:srgbClr val="FF0000"/>
                </a:solidFill>
              </a:rPr>
              <a:t>更新备份</a:t>
            </a:r>
            <a:endParaRPr lang="zh-CN" altLang="en-US" sz="2600">
              <a:solidFill>
                <a:srgbClr val="FF0000"/>
              </a:solidFill>
            </a:endParaRPr>
          </a:p>
          <a:p>
            <a:pPr>
              <a:lnSpc>
                <a:spcPct val="90000"/>
              </a:lnSpc>
            </a:pPr>
            <a:r>
              <a:rPr lang="zh-CN" altLang="en-US" sz="2600"/>
              <a:t>每隔一段时间进行一次完全备份。备份的是从上次进行完全备份后至今更改的全部数据文件。</a:t>
            </a:r>
            <a:endParaRPr lang="zh-CN" altLang="en-US" sz="2600"/>
          </a:p>
          <a:p>
            <a:pPr>
              <a:lnSpc>
                <a:spcPct val="90000"/>
              </a:lnSpc>
              <a:buFont typeface="Wingdings" panose="05000000000000000000" pitchFamily="2" charset="2"/>
              <a:buNone/>
            </a:pPr>
            <a:r>
              <a:rPr lang="zh-CN" altLang="en-US" sz="2600">
                <a:solidFill>
                  <a:schemeClr val="accent2"/>
                </a:solidFill>
              </a:rPr>
              <a:t>☆</a:t>
            </a:r>
            <a:r>
              <a:rPr lang="zh-CN" altLang="en-US" sz="2600">
                <a:solidFill>
                  <a:srgbClr val="0033CC"/>
                </a:solidFill>
              </a:rPr>
              <a:t>增量备份</a:t>
            </a:r>
            <a:r>
              <a:rPr lang="zh-CN" altLang="en-US" sz="2600"/>
              <a:t>是备份当天更改的数据，而</a:t>
            </a:r>
            <a:r>
              <a:rPr lang="zh-CN" altLang="en-US" sz="2600">
                <a:solidFill>
                  <a:srgbClr val="0033CC"/>
                </a:solidFill>
              </a:rPr>
              <a:t>更新备份</a:t>
            </a:r>
            <a:r>
              <a:rPr lang="zh-CN" altLang="en-US" sz="2600"/>
              <a:t>是备份从上次进行完全备份后至今更改的全部数据文件。</a:t>
            </a:r>
            <a:endParaRPr lang="zh-CN" altLang="en-US" sz="260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box(in)">
                                      <p:cBhvr>
                                        <p:cTn id="7" dur="500"/>
                                        <p:tgtEl>
                                          <p:spTgt spid="135171">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35171">
                                            <p:txEl>
                                              <p:pRg st="1" end="1"/>
                                            </p:txEl>
                                          </p:spTgt>
                                        </p:tgtEl>
                                        <p:attrNameLst>
                                          <p:attrName>style.visibility</p:attrName>
                                        </p:attrNameLst>
                                      </p:cBhvr>
                                      <p:to>
                                        <p:strVal val="visible"/>
                                      </p:to>
                                    </p:set>
                                    <p:animEffect transition="in" filter="box(in)">
                                      <p:cBhvr>
                                        <p:cTn id="10" dur="500"/>
                                        <p:tgtEl>
                                          <p:spTgt spid="135171">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35171">
                                            <p:txEl>
                                              <p:pRg st="2" end="2"/>
                                            </p:txEl>
                                          </p:spTgt>
                                        </p:tgtEl>
                                        <p:attrNameLst>
                                          <p:attrName>style.visibility</p:attrName>
                                        </p:attrNameLst>
                                      </p:cBhvr>
                                      <p:to>
                                        <p:strVal val="visible"/>
                                      </p:to>
                                    </p:set>
                                    <p:animEffect transition="in" filter="box(in)">
                                      <p:cBhvr>
                                        <p:cTn id="13" dur="500"/>
                                        <p:tgtEl>
                                          <p:spTgt spid="135171">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35171">
                                            <p:txEl>
                                              <p:pRg st="3" end="3"/>
                                            </p:txEl>
                                          </p:spTgt>
                                        </p:tgtEl>
                                        <p:attrNameLst>
                                          <p:attrName>style.visibility</p:attrName>
                                        </p:attrNameLst>
                                      </p:cBhvr>
                                      <p:to>
                                        <p:strVal val="visible"/>
                                      </p:to>
                                    </p:set>
                                    <p:animEffect transition="in" filter="box(in)">
                                      <p:cBhvr>
                                        <p:cTn id="16" dur="500"/>
                                        <p:tgtEl>
                                          <p:spTgt spid="135171">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135171">
                                            <p:txEl>
                                              <p:pRg st="4" end="4"/>
                                            </p:txEl>
                                          </p:spTgt>
                                        </p:tgtEl>
                                        <p:attrNameLst>
                                          <p:attrName>style.visibility</p:attrName>
                                        </p:attrNameLst>
                                      </p:cBhvr>
                                      <p:to>
                                        <p:strVal val="visible"/>
                                      </p:to>
                                    </p:set>
                                    <p:animEffect transition="in" filter="box(in)">
                                      <p:cBhvr>
                                        <p:cTn id="19" dur="500"/>
                                        <p:tgtEl>
                                          <p:spTgt spid="135171">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135171">
                                            <p:txEl>
                                              <p:pRg st="5" end="5"/>
                                            </p:txEl>
                                          </p:spTgt>
                                        </p:tgtEl>
                                        <p:attrNameLst>
                                          <p:attrName>style.visibility</p:attrName>
                                        </p:attrNameLst>
                                      </p:cBhvr>
                                      <p:to>
                                        <p:strVal val="visible"/>
                                      </p:to>
                                    </p:set>
                                    <p:animEffect transition="in" filter="box(in)">
                                      <p:cBhvr>
                                        <p:cTn id="22" dur="500"/>
                                        <p:tgtEl>
                                          <p:spTgt spid="13517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mph" presetSubtype="0" fill="hold" nodeType="clickEffect">
                                  <p:stCondLst>
                                    <p:cond delay="0"/>
                                  </p:stCondLst>
                                  <p:iterate type="lt">
                                    <p:tmPct val="4000"/>
                                  </p:iterate>
                                  <p:childTnLst>
                                    <p:set>
                                      <p:cBhvr override="childStyle">
                                        <p:cTn id="26" dur="500" fill="hold"/>
                                        <p:tgtEl>
                                          <p:spTgt spid="135171">
                                            <p:txEl>
                                              <p:pRg st="6" end="6"/>
                                            </p:txEl>
                                          </p:spTgt>
                                        </p:tgtEl>
                                        <p:attrNameLst>
                                          <p:attrName>style.color</p:attrName>
                                        </p:attrNameLst>
                                      </p:cBhvr>
                                      <p:to>
                                        <p:clrVal>
                                          <a:schemeClr val="accent2"/>
                                        </p:clrVal>
                                      </p:to>
                                    </p:set>
                                    <p:set>
                                      <p:cBhvr>
                                        <p:cTn id="27" dur="500" fill="hold"/>
                                        <p:tgtEl>
                                          <p:spTgt spid="135171">
                                            <p:txEl>
                                              <p:pRg st="6" end="6"/>
                                            </p:txEl>
                                          </p:spTgt>
                                        </p:tgtEl>
                                        <p:attrNameLst>
                                          <p:attrName>fillcolor</p:attrName>
                                        </p:attrNameLst>
                                      </p:cBhvr>
                                      <p:to>
                                        <p:clrVal>
                                          <a:schemeClr val="accent2"/>
                                        </p:clrVal>
                                      </p:to>
                                    </p:set>
                                    <p:set>
                                      <p:cBhvr>
                                        <p:cTn id="28" dur="500" fill="hold"/>
                                        <p:tgtEl>
                                          <p:spTgt spid="135171">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36193"/>
          <p:cNvSpPr>
            <a:spLocks noGrp="1" noChangeArrowheads="1"/>
          </p:cNvSpPr>
          <p:nvPr>
            <p:ph type="title"/>
          </p:nvPr>
        </p:nvSpPr>
        <p:spPr/>
        <p:txBody>
          <a:bodyPr/>
          <a:lstStyle/>
          <a:p>
            <a:r>
              <a:rPr lang="en-US" altLang="zh-CN" sz="3500"/>
              <a:t>3</a:t>
            </a:r>
            <a:r>
              <a:rPr lang="zh-CN" altLang="en-US" sz="3500"/>
              <a:t>．备份工具</a:t>
            </a:r>
            <a:br>
              <a:rPr lang="zh-CN" altLang="en-US" sz="3500"/>
            </a:br>
            <a:endParaRPr lang="zh-CN" altLang="en-US" sz="3500"/>
          </a:p>
        </p:txBody>
      </p:sp>
      <p:sp>
        <p:nvSpPr>
          <p:cNvPr id="136195" name="内容占位符 136194"/>
          <p:cNvSpPr>
            <a:spLocks noGrp="1" noChangeArrowheads="1"/>
          </p:cNvSpPr>
          <p:nvPr>
            <p:ph idx="1"/>
          </p:nvPr>
        </p:nvSpPr>
        <p:spPr/>
        <p:txBody>
          <a:bodyPr/>
          <a:lstStyle/>
          <a:p>
            <a:r>
              <a:rPr lang="zh-CN" altLang="en-US"/>
              <a:t>备份软件有</a:t>
            </a:r>
            <a:r>
              <a:rPr lang="en-US" altLang="zh-CN"/>
              <a:t>tar, cpio, dump</a:t>
            </a:r>
            <a:r>
              <a:rPr lang="zh-CN" altLang="en-US"/>
              <a:t>等。</a:t>
            </a:r>
            <a:endParaRPr lang="zh-CN" altLang="en-US"/>
          </a:p>
          <a:p>
            <a:r>
              <a:rPr lang="zh-CN" altLang="en-US">
                <a:solidFill>
                  <a:srgbClr val="FF0000"/>
                </a:solidFill>
              </a:rPr>
              <a:t>物理转储：</a:t>
            </a:r>
            <a:endParaRPr lang="zh-CN" altLang="en-US">
              <a:solidFill>
                <a:srgbClr val="FF0000"/>
              </a:solidFill>
            </a:endParaRPr>
          </a:p>
          <a:p>
            <a:pPr>
              <a:buFont typeface="Wingdings" panose="05000000000000000000" pitchFamily="2" charset="2"/>
              <a:buNone/>
            </a:pPr>
            <a:r>
              <a:rPr lang="zh-CN" altLang="en-US"/>
              <a:t>           从磁盘上第</a:t>
            </a:r>
            <a:r>
              <a:rPr lang="en-US" altLang="zh-CN"/>
              <a:t>0</a:t>
            </a:r>
            <a:r>
              <a:rPr lang="zh-CN" altLang="en-US"/>
              <a:t>块开始，所有</a:t>
            </a:r>
            <a:r>
              <a:rPr lang="zh-CN" altLang="en-US">
                <a:solidFill>
                  <a:srgbClr val="0033CC"/>
                </a:solidFill>
              </a:rPr>
              <a:t>盘块</a:t>
            </a:r>
            <a:r>
              <a:rPr lang="zh-CN" altLang="en-US"/>
              <a:t>按顺序写到磁盘上，直到最后一块，转储结束。</a:t>
            </a:r>
            <a:endParaRPr lang="zh-CN" altLang="en-US"/>
          </a:p>
          <a:p>
            <a:r>
              <a:rPr lang="zh-CN" altLang="en-US">
                <a:solidFill>
                  <a:srgbClr val="FF0000"/>
                </a:solidFill>
              </a:rPr>
              <a:t>逻辑转储：</a:t>
            </a:r>
            <a:endParaRPr lang="zh-CN" altLang="en-US">
              <a:solidFill>
                <a:srgbClr val="FF0000"/>
              </a:solidFill>
            </a:endParaRPr>
          </a:p>
          <a:p>
            <a:pPr>
              <a:buFont typeface="Wingdings" panose="05000000000000000000" pitchFamily="2" charset="2"/>
              <a:buNone/>
            </a:pPr>
            <a:r>
              <a:rPr lang="zh-CN" altLang="en-US"/>
              <a:t>           从一个或多个指定</a:t>
            </a:r>
            <a:r>
              <a:rPr lang="zh-CN" altLang="en-US">
                <a:solidFill>
                  <a:srgbClr val="0033CC"/>
                </a:solidFill>
              </a:rPr>
              <a:t>目录</a:t>
            </a:r>
            <a:r>
              <a:rPr lang="zh-CN" altLang="en-US"/>
              <a:t>开始，递归转储自某个日期以来被修改过的所有文件和目录。</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strips(downLeft)">
                                      <p:cBhvr>
                                        <p:cTn id="7" dur="500"/>
                                        <p:tgtEl>
                                          <p:spTgt spid="136195">
                                            <p:txEl>
                                              <p:pRg st="0" end="0"/>
                                            </p:txEl>
                                          </p:spTgt>
                                        </p:tgtEl>
                                      </p:cBhvr>
                                    </p:animEffect>
                                  </p:childTnLst>
                                </p:cTn>
                              </p:par>
                              <p:par>
                                <p:cTn id="8" presetID="18" presetClass="entr" presetSubtype="12" fill="hold" nodeType="withEffect">
                                  <p:stCondLst>
                                    <p:cond delay="0"/>
                                  </p:stCondLst>
                                  <p:childTnLst>
                                    <p:set>
                                      <p:cBhvr>
                                        <p:cTn id="9" dur="1" fill="hold">
                                          <p:stCondLst>
                                            <p:cond delay="0"/>
                                          </p:stCondLst>
                                        </p:cTn>
                                        <p:tgtEl>
                                          <p:spTgt spid="136195">
                                            <p:txEl>
                                              <p:pRg st="1" end="1"/>
                                            </p:txEl>
                                          </p:spTgt>
                                        </p:tgtEl>
                                        <p:attrNameLst>
                                          <p:attrName>style.visibility</p:attrName>
                                        </p:attrNameLst>
                                      </p:cBhvr>
                                      <p:to>
                                        <p:strVal val="visible"/>
                                      </p:to>
                                    </p:set>
                                    <p:animEffect transition="in" filter="strips(downLeft)">
                                      <p:cBhvr>
                                        <p:cTn id="10" dur="500"/>
                                        <p:tgtEl>
                                          <p:spTgt spid="136195">
                                            <p:txEl>
                                              <p:pRg st="1" end="1"/>
                                            </p:txEl>
                                          </p:spTgt>
                                        </p:tgtEl>
                                      </p:cBhvr>
                                    </p:animEffect>
                                  </p:childTnLst>
                                </p:cTn>
                              </p:par>
                              <p:par>
                                <p:cTn id="11" presetID="18" presetClass="entr" presetSubtype="12" fill="hold" nodeType="withEffect">
                                  <p:stCondLst>
                                    <p:cond delay="0"/>
                                  </p:stCondLst>
                                  <p:childTnLst>
                                    <p:set>
                                      <p:cBhvr>
                                        <p:cTn id="12" dur="1" fill="hold">
                                          <p:stCondLst>
                                            <p:cond delay="0"/>
                                          </p:stCondLst>
                                        </p:cTn>
                                        <p:tgtEl>
                                          <p:spTgt spid="136195">
                                            <p:txEl>
                                              <p:pRg st="2" end="2"/>
                                            </p:txEl>
                                          </p:spTgt>
                                        </p:tgtEl>
                                        <p:attrNameLst>
                                          <p:attrName>style.visibility</p:attrName>
                                        </p:attrNameLst>
                                      </p:cBhvr>
                                      <p:to>
                                        <p:strVal val="visible"/>
                                      </p:to>
                                    </p:set>
                                    <p:animEffect transition="in" filter="strips(downLeft)">
                                      <p:cBhvr>
                                        <p:cTn id="13" dur="500"/>
                                        <p:tgtEl>
                                          <p:spTgt spid="136195">
                                            <p:txEl>
                                              <p:pRg st="2" end="2"/>
                                            </p:txEl>
                                          </p:spTgt>
                                        </p:tgtEl>
                                      </p:cBhvr>
                                    </p:animEffect>
                                  </p:childTnLst>
                                </p:cTn>
                              </p:par>
                              <p:par>
                                <p:cTn id="14" presetID="18" presetClass="entr" presetSubtype="12" fill="hold" nodeType="withEffect">
                                  <p:stCondLst>
                                    <p:cond delay="0"/>
                                  </p:stCondLst>
                                  <p:childTnLst>
                                    <p:set>
                                      <p:cBhvr>
                                        <p:cTn id="15" dur="1" fill="hold">
                                          <p:stCondLst>
                                            <p:cond delay="0"/>
                                          </p:stCondLst>
                                        </p:cTn>
                                        <p:tgtEl>
                                          <p:spTgt spid="136195">
                                            <p:txEl>
                                              <p:pRg st="3" end="3"/>
                                            </p:txEl>
                                          </p:spTgt>
                                        </p:tgtEl>
                                        <p:attrNameLst>
                                          <p:attrName>style.visibility</p:attrName>
                                        </p:attrNameLst>
                                      </p:cBhvr>
                                      <p:to>
                                        <p:strVal val="visible"/>
                                      </p:to>
                                    </p:set>
                                    <p:animEffect transition="in" filter="strips(downLeft)">
                                      <p:cBhvr>
                                        <p:cTn id="16" dur="500"/>
                                        <p:tgtEl>
                                          <p:spTgt spid="136195">
                                            <p:txEl>
                                              <p:pRg st="3" end="3"/>
                                            </p:txEl>
                                          </p:spTgt>
                                        </p:tgtEl>
                                      </p:cBhvr>
                                    </p:animEffect>
                                  </p:childTnLst>
                                </p:cTn>
                              </p:par>
                              <p:par>
                                <p:cTn id="17" presetID="18" presetClass="entr" presetSubtype="12" fill="hold" nodeType="withEffect">
                                  <p:stCondLst>
                                    <p:cond delay="0"/>
                                  </p:stCondLst>
                                  <p:childTnLst>
                                    <p:set>
                                      <p:cBhvr>
                                        <p:cTn id="18" dur="1" fill="hold">
                                          <p:stCondLst>
                                            <p:cond delay="0"/>
                                          </p:stCondLst>
                                        </p:cTn>
                                        <p:tgtEl>
                                          <p:spTgt spid="136195">
                                            <p:txEl>
                                              <p:pRg st="4" end="4"/>
                                            </p:txEl>
                                          </p:spTgt>
                                        </p:tgtEl>
                                        <p:attrNameLst>
                                          <p:attrName>style.visibility</p:attrName>
                                        </p:attrNameLst>
                                      </p:cBhvr>
                                      <p:to>
                                        <p:strVal val="visible"/>
                                      </p:to>
                                    </p:set>
                                    <p:animEffect transition="in" filter="strips(downLeft)">
                                      <p:cBhvr>
                                        <p:cTn id="19" dur="500"/>
                                        <p:tgtEl>
                                          <p:spTgt spid="136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37217"/>
          <p:cNvSpPr>
            <a:spLocks noGrp="1" noChangeArrowheads="1"/>
          </p:cNvSpPr>
          <p:nvPr>
            <p:ph type="title"/>
          </p:nvPr>
        </p:nvSpPr>
        <p:spPr/>
        <p:txBody>
          <a:bodyPr/>
          <a:lstStyle/>
          <a:p>
            <a:r>
              <a:rPr lang="en-US" altLang="zh-CN"/>
              <a:t>6.7.3  </a:t>
            </a:r>
            <a:r>
              <a:rPr lang="zh-CN" altLang="en-US"/>
              <a:t>文件系统和一致性</a:t>
            </a:r>
            <a:endParaRPr lang="zh-CN" altLang="en-US"/>
          </a:p>
        </p:txBody>
      </p:sp>
      <p:sp>
        <p:nvSpPr>
          <p:cNvPr id="137219" name="内容占位符 137218"/>
          <p:cNvSpPr>
            <a:spLocks noGrp="1" noChangeArrowheads="1"/>
          </p:cNvSpPr>
          <p:nvPr>
            <p:ph idx="1"/>
          </p:nvPr>
        </p:nvSpPr>
        <p:spPr>
          <a:xfrm>
            <a:off x="609600" y="1752600"/>
            <a:ext cx="8077200" cy="4411663"/>
          </a:xfrm>
        </p:spPr>
        <p:txBody>
          <a:bodyPr/>
          <a:lstStyle/>
          <a:p>
            <a:pPr>
              <a:buFont typeface="Wingdings" panose="05000000000000000000" pitchFamily="2" charset="2"/>
              <a:buNone/>
            </a:pPr>
            <a:r>
              <a:rPr lang="en-US" altLang="zh-CN"/>
              <a:t>1</a:t>
            </a:r>
            <a:r>
              <a:rPr lang="zh-CN" altLang="en-US"/>
              <a:t>．盘块一致性检查</a:t>
            </a:r>
            <a:endParaRPr lang="zh-CN" altLang="en-US"/>
          </a:p>
          <a:p>
            <a:pPr>
              <a:buFont typeface="Wingdings" panose="05000000000000000000" pitchFamily="2" charset="2"/>
              <a:buNone/>
            </a:pPr>
            <a:r>
              <a:rPr lang="zh-CN" altLang="en-US"/>
              <a:t>           检查系统建立两个表格：</a:t>
            </a:r>
            <a:r>
              <a:rPr lang="zh-CN" altLang="en-US">
                <a:solidFill>
                  <a:srgbClr val="FF0000"/>
                </a:solidFill>
              </a:rPr>
              <a:t>使用表</a:t>
            </a:r>
            <a:r>
              <a:rPr lang="zh-CN" altLang="en-US"/>
              <a:t>和</a:t>
            </a:r>
            <a:r>
              <a:rPr lang="zh-CN" altLang="en-US">
                <a:solidFill>
                  <a:srgbClr val="FF0000"/>
                </a:solidFill>
              </a:rPr>
              <a:t>空闲表</a:t>
            </a:r>
            <a:r>
              <a:rPr lang="zh-CN" altLang="en-US"/>
              <a:t>，使用表记载各个盘块在文件中出现的次数，空闲表记录各个盘块在自由链中出现的次数。</a:t>
            </a:r>
            <a:endParaRPr lang="zh-CN" altLang="en-US"/>
          </a:p>
          <a:p>
            <a:pPr>
              <a:buFont typeface="Wingdings" panose="05000000000000000000" pitchFamily="2" charset="2"/>
              <a:buNone/>
            </a:pPr>
            <a:r>
              <a:rPr lang="zh-CN" altLang="en-US"/>
              <a:t>           例</a:t>
            </a:r>
            <a:r>
              <a:rPr lang="en-US" altLang="zh-CN"/>
              <a:t>p215</a:t>
            </a:r>
            <a:r>
              <a:rPr lang="zh-CN" altLang="en-US"/>
              <a:t>，例图。使用计数表。</a:t>
            </a:r>
            <a:endParaRPr lang="zh-CN" altLang="en-US"/>
          </a:p>
          <a:p>
            <a:pPr>
              <a:buFont typeface="Wingdings" panose="05000000000000000000" pitchFamily="2" charset="2"/>
              <a:buNone/>
            </a:pPr>
            <a:endParaRPr lang="zh-CN" altLang="en-US"/>
          </a:p>
          <a:p>
            <a:pPr>
              <a:buFont typeface="Wingdings" panose="05000000000000000000" pitchFamily="2" charset="2"/>
              <a:buNone/>
            </a:pP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with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barn(inHorizontal)">
                                      <p:cBhvr>
                                        <p:cTn id="7" dur="500"/>
                                        <p:tgtEl>
                                          <p:spTgt spid="137219">
                                            <p:txEl>
                                              <p:pRg st="0" end="0"/>
                                            </p:txEl>
                                          </p:spTgt>
                                        </p:tgtEl>
                                      </p:cBhvr>
                                    </p:animEffect>
                                  </p:childTnLst>
                                </p:cTn>
                              </p:par>
                              <p:par>
                                <p:cTn id="8" presetID="16" presetClass="entr" presetSubtype="26" fill="hold" nodeType="withEffect">
                                  <p:stCondLst>
                                    <p:cond delay="0"/>
                                  </p:stCondLst>
                                  <p:childTnLst>
                                    <p:set>
                                      <p:cBhvr>
                                        <p:cTn id="9" dur="1" fill="hold">
                                          <p:stCondLst>
                                            <p:cond delay="0"/>
                                          </p:stCondLst>
                                        </p:cTn>
                                        <p:tgtEl>
                                          <p:spTgt spid="137219">
                                            <p:txEl>
                                              <p:pRg st="1" end="1"/>
                                            </p:txEl>
                                          </p:spTgt>
                                        </p:tgtEl>
                                        <p:attrNameLst>
                                          <p:attrName>style.visibility</p:attrName>
                                        </p:attrNameLst>
                                      </p:cBhvr>
                                      <p:to>
                                        <p:strVal val="visible"/>
                                      </p:to>
                                    </p:set>
                                    <p:animEffect transition="in" filter="barn(inHorizontal)">
                                      <p:cBhvr>
                                        <p:cTn id="10" dur="500"/>
                                        <p:tgtEl>
                                          <p:spTgt spid="137219">
                                            <p:txEl>
                                              <p:pRg st="1" end="1"/>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137219">
                                            <p:txEl>
                                              <p:pRg st="2" end="2"/>
                                            </p:txEl>
                                          </p:spTgt>
                                        </p:tgtEl>
                                        <p:attrNameLst>
                                          <p:attrName>style.visibility</p:attrName>
                                        </p:attrNameLst>
                                      </p:cBhvr>
                                      <p:to>
                                        <p:strVal val="visible"/>
                                      </p:to>
                                    </p:set>
                                    <p:animEffect transition="in" filter="barn(inHorizontal)">
                                      <p:cBhvr>
                                        <p:cTn id="13" dur="500"/>
                                        <p:tgtEl>
                                          <p:spTgt spid="137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文本框 140289"/>
          <p:cNvSpPr txBox="1">
            <a:spLocks noChangeArrowheads="1"/>
          </p:cNvSpPr>
          <p:nvPr/>
        </p:nvSpPr>
        <p:spPr bwMode="auto">
          <a:xfrm>
            <a:off x="914400" y="762000"/>
            <a:ext cx="333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2. </a:t>
            </a:r>
            <a:r>
              <a:rPr lang="zh-CN" altLang="en-US" sz="2400" b="1">
                <a:latin typeface="Times New Roman" panose="02020603050405020304" pitchFamily="18" charset="0"/>
              </a:rPr>
              <a:t>盘块号一致性的检查 </a:t>
            </a:r>
            <a:endParaRPr lang="zh-CN" altLang="en-US" sz="2400" b="1">
              <a:latin typeface="Times New Roman" panose="02020603050405020304" pitchFamily="18" charset="0"/>
            </a:endParaRPr>
          </a:p>
        </p:txBody>
      </p:sp>
      <p:sp>
        <p:nvSpPr>
          <p:cNvPr id="70658" name="文本框 140290"/>
          <p:cNvSpPr txBox="1">
            <a:spLocks noChangeArrowheads="1"/>
          </p:cNvSpPr>
          <p:nvPr/>
        </p:nvSpPr>
        <p:spPr bwMode="auto">
          <a:xfrm>
            <a:off x="2971800" y="6248400"/>
            <a:ext cx="432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6-29 </a:t>
            </a:r>
            <a:r>
              <a:rPr lang="zh-CN" altLang="en-US" sz="2400">
                <a:latin typeface="Times New Roman" panose="02020603050405020304" pitchFamily="18" charset="0"/>
              </a:rPr>
              <a:t>检查盘块号一致性情况 </a:t>
            </a:r>
            <a:endParaRPr lang="zh-CN" altLang="en-US" sz="2400">
              <a:latin typeface="Times New Roman" panose="02020603050405020304" pitchFamily="18" charset="0"/>
            </a:endParaRPr>
          </a:p>
        </p:txBody>
      </p:sp>
      <p:pic>
        <p:nvPicPr>
          <p:cNvPr id="70659" name="图片 140291" descr="未标题-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524000"/>
            <a:ext cx="9144000" cy="454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矩形 140292"/>
          <p:cNvSpPr>
            <a:spLocks noChangeArrowheads="1"/>
          </p:cNvSpPr>
          <p:nvPr/>
        </p:nvSpPr>
        <p:spPr bwMode="auto">
          <a:xfrm>
            <a:off x="3581400" y="4876800"/>
            <a:ext cx="228600" cy="8382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文本框 141313"/>
          <p:cNvSpPr txBox="1">
            <a:spLocks noChangeArrowheads="1"/>
          </p:cNvSpPr>
          <p:nvPr/>
        </p:nvSpPr>
        <p:spPr bwMode="auto">
          <a:xfrm>
            <a:off x="2971800" y="5943600"/>
            <a:ext cx="431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6-29 </a:t>
            </a:r>
            <a:r>
              <a:rPr lang="zh-CN" altLang="en-US" sz="2400">
                <a:latin typeface="Times New Roman" panose="02020603050405020304" pitchFamily="18" charset="0"/>
              </a:rPr>
              <a:t>检查盘块号一致性情况 </a:t>
            </a:r>
            <a:endParaRPr lang="zh-CN" altLang="en-US" sz="2400">
              <a:latin typeface="Times New Roman" panose="02020603050405020304" pitchFamily="18" charset="0"/>
            </a:endParaRPr>
          </a:p>
        </p:txBody>
      </p:sp>
      <p:pic>
        <p:nvPicPr>
          <p:cNvPr id="71682" name="图片 141314" descr="未标题-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143000"/>
            <a:ext cx="9144000" cy="447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矩形 141315"/>
          <p:cNvSpPr>
            <a:spLocks noChangeArrowheads="1"/>
          </p:cNvSpPr>
          <p:nvPr/>
        </p:nvSpPr>
        <p:spPr bwMode="auto">
          <a:xfrm>
            <a:off x="4267200" y="2057400"/>
            <a:ext cx="381000" cy="7620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71684" name="矩形 141316"/>
          <p:cNvSpPr>
            <a:spLocks noChangeArrowheads="1"/>
          </p:cNvSpPr>
          <p:nvPr/>
        </p:nvSpPr>
        <p:spPr bwMode="auto">
          <a:xfrm>
            <a:off x="4648200" y="4419600"/>
            <a:ext cx="304800" cy="7620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42337"/>
          <p:cNvSpPr>
            <a:spLocks noGrp="1" noChangeArrowheads="1"/>
          </p:cNvSpPr>
          <p:nvPr>
            <p:ph type="title"/>
          </p:nvPr>
        </p:nvSpPr>
        <p:spPr/>
        <p:txBody>
          <a:bodyPr/>
          <a:lstStyle/>
          <a:p>
            <a:endParaRPr lang="zh-CN" altLang="en-US"/>
          </a:p>
        </p:txBody>
      </p:sp>
      <p:sp>
        <p:nvSpPr>
          <p:cNvPr id="72706" name="文本占位符 142338"/>
          <p:cNvSpPr>
            <a:spLocks noGrp="1" noChangeArrowheads="1"/>
          </p:cNvSpPr>
          <p:nvPr>
            <p:ph idx="1"/>
          </p:nvPr>
        </p:nvSpPr>
        <p:spPr/>
        <p:txBody>
          <a:bodyPr/>
          <a:lstStyle/>
          <a:p>
            <a:pPr>
              <a:buFont typeface="Wingdings" panose="05000000000000000000" pitchFamily="2" charset="2"/>
              <a:buNone/>
            </a:pPr>
            <a:r>
              <a:rPr lang="en-US" altLang="zh-CN"/>
              <a:t>2</a:t>
            </a:r>
            <a:r>
              <a:rPr lang="zh-CN" altLang="en-US"/>
              <a:t>．文件一致性检查</a:t>
            </a:r>
            <a:endParaRPr lang="zh-CN" altLang="en-US"/>
          </a:p>
          <a:p>
            <a:pPr>
              <a:buFont typeface="Wingdings" panose="05000000000000000000" pitchFamily="2" charset="2"/>
              <a:buNone/>
            </a:pPr>
            <a:r>
              <a:rPr lang="zh-CN" altLang="en-US"/>
              <a:t>           目录系统沿目录树递归向下查找，对</a:t>
            </a:r>
            <a:r>
              <a:rPr lang="en-US" altLang="zh-CN"/>
              <a:t>I</a:t>
            </a:r>
            <a:r>
              <a:rPr lang="zh-CN" altLang="en-US"/>
              <a:t>节点计数器，同</a:t>
            </a:r>
            <a:r>
              <a:rPr lang="en-US" altLang="zh-CN"/>
              <a:t>I</a:t>
            </a:r>
            <a:r>
              <a:rPr lang="zh-CN" altLang="en-US"/>
              <a:t>节点的链接计数进行比较，是否一致。</a:t>
            </a:r>
            <a:endParaRPr lang="zh-CN" altLang="en-US"/>
          </a:p>
        </p:txBody>
      </p:sp>
    </p:spTree>
  </p:cSld>
  <p:clrMapOvr>
    <a:masterClrMapping/>
  </p:clrMapOvr>
  <p:transition spd="slow">
    <p:pull dir="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文本框 143361"/>
          <p:cNvSpPr txBox="1">
            <a:spLocks noChangeArrowheads="1"/>
          </p:cNvSpPr>
          <p:nvPr/>
        </p:nvSpPr>
        <p:spPr bwMode="auto">
          <a:xfrm>
            <a:off x="1143000" y="838200"/>
            <a:ext cx="662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3. </a:t>
            </a:r>
            <a:r>
              <a:rPr lang="zh-CN" altLang="en-US" sz="2400" b="1">
                <a:latin typeface="Times New Roman" panose="02020603050405020304" pitchFamily="18" charset="0"/>
              </a:rPr>
              <a:t>链接数一致性检查 </a:t>
            </a:r>
            <a:endParaRPr lang="zh-CN" altLang="en-US" sz="2400" b="1">
              <a:latin typeface="Times New Roman" panose="02020603050405020304" pitchFamily="18" charset="0"/>
            </a:endParaRPr>
          </a:p>
        </p:txBody>
      </p:sp>
      <p:sp>
        <p:nvSpPr>
          <p:cNvPr id="73730" name="文本框 143362"/>
          <p:cNvSpPr txBox="1">
            <a:spLocks noChangeArrowheads="1"/>
          </p:cNvSpPr>
          <p:nvPr/>
        </p:nvSpPr>
        <p:spPr bwMode="auto">
          <a:xfrm>
            <a:off x="533400" y="1524000"/>
            <a:ext cx="8229600"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50000"/>
              </a:lnSpc>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为每个盘块建立一个表项，其中含有该索引结点号的计数值。 在进行检查时，从根目录开始查找，每当在目录中遇到该索引结点号时， 便在该计数器表中相应文件的表项上加</a:t>
            </a:r>
            <a:r>
              <a:rPr lang="en-US" altLang="zh-CN" sz="2400">
                <a:latin typeface="Times New Roman" panose="02020603050405020304" pitchFamily="18" charset="0"/>
              </a:rPr>
              <a:t>1</a:t>
            </a:r>
            <a:r>
              <a:rPr lang="zh-CN" altLang="en-US" sz="2400">
                <a:latin typeface="Times New Roman" panose="02020603050405020304" pitchFamily="18" charset="0"/>
              </a:rPr>
              <a:t>。当把所有目录都检查完后，便可将该计数器表中每个表项中的索引结点号计数值与该文件索引结点中的链接计数</a:t>
            </a:r>
            <a:r>
              <a:rPr lang="en-US" altLang="zh-CN" sz="2400">
                <a:latin typeface="Times New Roman" panose="02020603050405020304" pitchFamily="18" charset="0"/>
              </a:rPr>
              <a:t>count</a:t>
            </a:r>
            <a:r>
              <a:rPr lang="zh-CN" altLang="en-US" sz="2400">
                <a:latin typeface="Times New Roman" panose="02020603050405020304" pitchFamily="18" charset="0"/>
              </a:rPr>
              <a:t>值加以比较， 如果两者一致，表示是正确的；否则，便是发生了链接数据不一致的错误。 </a:t>
            </a:r>
            <a:endParaRPr lang="zh-CN" altLang="en-US" sz="2400">
              <a:latin typeface="Times New Roman" panose="02020603050405020304" pitchFamily="18" charset="0"/>
            </a:endParaRPr>
          </a:p>
        </p:txBody>
      </p:sp>
      <p:sp>
        <p:nvSpPr>
          <p:cNvPr id="73731" name="矩形 143363"/>
          <p:cNvSpPr>
            <a:spLocks noChangeArrowheads="1"/>
          </p:cNvSpPr>
          <p:nvPr/>
        </p:nvSpPr>
        <p:spPr bwMode="auto">
          <a:xfrm>
            <a:off x="4724400" y="228600"/>
            <a:ext cx="2895600" cy="457200"/>
          </a:xfrm>
          <a:prstGeom prst="rect">
            <a:avLst/>
          </a:prstGeom>
          <a:solidFill>
            <a:schemeClr val="accent1"/>
          </a:solidFill>
          <a:ln w="9525">
            <a:solidFill>
              <a:schemeClr val="tx1"/>
            </a:solidFill>
            <a:miter lim="800000"/>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a:t>后面添加内容，可略</a:t>
            </a:r>
            <a:endParaRPr lang="zh-CN" altLang="en-US"/>
          </a:p>
        </p:txBody>
      </p:sp>
    </p:spTree>
  </p:cSld>
  <p:clrMapOvr>
    <a:masterClrMapping/>
  </p:clrMapOvr>
  <p:transition spd="slow">
    <p:pull dir="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文本框 112641"/>
          <p:cNvSpPr txBox="1">
            <a:spLocks noChangeArrowheads="1"/>
          </p:cNvSpPr>
          <p:nvPr/>
        </p:nvSpPr>
        <p:spPr bwMode="auto">
          <a:xfrm>
            <a:off x="2362200" y="609600"/>
            <a:ext cx="4581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3200" b="1">
                <a:latin typeface="Times New Roman" panose="02020603050405020304" pitchFamily="18" charset="0"/>
              </a:rPr>
              <a:t>6.6  </a:t>
            </a:r>
            <a:r>
              <a:rPr lang="zh-CN" altLang="en-US" sz="3200" b="1">
                <a:latin typeface="Times New Roman" panose="02020603050405020304" pitchFamily="18" charset="0"/>
              </a:rPr>
              <a:t>文件共享与文件保护</a:t>
            </a:r>
            <a:endParaRPr lang="zh-CN" altLang="en-US" sz="3200" b="1">
              <a:latin typeface="Times New Roman" panose="02020603050405020304" pitchFamily="18" charset="0"/>
            </a:endParaRPr>
          </a:p>
        </p:txBody>
      </p:sp>
      <p:graphicFrame>
        <p:nvGraphicFramePr>
          <p:cNvPr id="74754" name="对象 112642"/>
          <p:cNvGraphicFramePr/>
          <p:nvPr/>
        </p:nvGraphicFramePr>
        <p:xfrm>
          <a:off x="914400" y="1447800"/>
          <a:ext cx="6858000" cy="4043363"/>
        </p:xfrm>
        <a:graphic>
          <a:graphicData uri="http://schemas.openxmlformats.org/presentationml/2006/ole">
            <mc:AlternateContent xmlns:mc="http://schemas.openxmlformats.org/markup-compatibility/2006">
              <mc:Choice xmlns:v="urn:schemas-microsoft-com:vml" Requires="v">
                <p:oleObj spid="_x0000_s2102" name="" r:id="rId1" imgW="2857500" imgH="1684020" progId="Visio.Drawing.4">
                  <p:embed/>
                </p:oleObj>
              </mc:Choice>
              <mc:Fallback>
                <p:oleObj name="" r:id="rId1" imgW="2857500" imgH="1684020" progId="Visio.Drawing.4">
                  <p:embed/>
                  <p:pic>
                    <p:nvPicPr>
                      <p:cNvPr id="0" name="对象 11264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447800"/>
                        <a:ext cx="6858000" cy="404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4755" name="文本框 112643"/>
          <p:cNvSpPr txBox="1">
            <a:spLocks noChangeArrowheads="1"/>
          </p:cNvSpPr>
          <p:nvPr/>
        </p:nvSpPr>
        <p:spPr bwMode="auto">
          <a:xfrm>
            <a:off x="2362200" y="6019800"/>
            <a:ext cx="493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6-23 </a:t>
            </a:r>
            <a:r>
              <a:rPr lang="zh-CN" altLang="en-US" sz="2400">
                <a:latin typeface="Times New Roman" panose="02020603050405020304" pitchFamily="18" charset="0"/>
              </a:rPr>
              <a:t>包含有共享文件的文件系统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文本框 113665"/>
          <p:cNvSpPr txBox="1">
            <a:spLocks noChangeArrowheads="1"/>
          </p:cNvSpPr>
          <p:nvPr/>
        </p:nvSpPr>
        <p:spPr bwMode="auto">
          <a:xfrm>
            <a:off x="2743200" y="5867400"/>
            <a:ext cx="462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6-24 </a:t>
            </a:r>
            <a:r>
              <a:rPr lang="zh-CN" altLang="en-US" sz="2400">
                <a:latin typeface="Times New Roman" panose="02020603050405020304" pitchFamily="18" charset="0"/>
              </a:rPr>
              <a:t>基于索引结点的共享方式 </a:t>
            </a:r>
            <a:endParaRPr lang="zh-CN" altLang="en-US" sz="2400">
              <a:latin typeface="Times New Roman" panose="02020603050405020304" pitchFamily="18" charset="0"/>
            </a:endParaRPr>
          </a:p>
        </p:txBody>
      </p:sp>
      <p:graphicFrame>
        <p:nvGraphicFramePr>
          <p:cNvPr id="75778" name="对象 113666"/>
          <p:cNvGraphicFramePr/>
          <p:nvPr/>
        </p:nvGraphicFramePr>
        <p:xfrm>
          <a:off x="533400" y="533400"/>
          <a:ext cx="8153400" cy="5359400"/>
        </p:xfrm>
        <a:graphic>
          <a:graphicData uri="http://schemas.openxmlformats.org/presentationml/2006/ole">
            <mc:AlternateContent xmlns:mc="http://schemas.openxmlformats.org/markup-compatibility/2006">
              <mc:Choice xmlns:v="urn:schemas-microsoft-com:vml" Requires="v">
                <p:oleObj spid="_x0000_s2102" name="" r:id="rId1" imgW="3307080" imgH="1935480" progId="Visio.Drawing.4">
                  <p:embed/>
                </p:oleObj>
              </mc:Choice>
              <mc:Fallback>
                <p:oleObj name="" r:id="rId1" imgW="3307080" imgH="1935480" progId="Visio.Drawing.4">
                  <p:embed/>
                  <p:pic>
                    <p:nvPicPr>
                      <p:cNvPr id="0" name="对象 11366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33400"/>
                        <a:ext cx="8153400" cy="535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pull dir="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文本框 114689"/>
          <p:cNvSpPr txBox="1">
            <a:spLocks noChangeArrowheads="1"/>
          </p:cNvSpPr>
          <p:nvPr/>
        </p:nvSpPr>
        <p:spPr bwMode="auto">
          <a:xfrm>
            <a:off x="2819400" y="6019800"/>
            <a:ext cx="422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6-25 </a:t>
            </a:r>
            <a:r>
              <a:rPr lang="zh-CN" altLang="en-US" sz="2400">
                <a:latin typeface="Times New Roman" panose="02020603050405020304" pitchFamily="18" charset="0"/>
              </a:rPr>
              <a:t>进程</a:t>
            </a:r>
            <a:r>
              <a:rPr lang="en-US" altLang="zh-CN" sz="2400">
                <a:latin typeface="Times New Roman" panose="02020603050405020304" pitchFamily="18" charset="0"/>
              </a:rPr>
              <a:t>B</a:t>
            </a:r>
            <a:r>
              <a:rPr lang="zh-CN" altLang="en-US" sz="2400">
                <a:latin typeface="Times New Roman" panose="02020603050405020304" pitchFamily="18" charset="0"/>
              </a:rPr>
              <a:t>链接前后的情况 </a:t>
            </a:r>
            <a:endParaRPr lang="zh-CN" altLang="en-US" sz="2400">
              <a:latin typeface="Times New Roman" panose="02020603050405020304" pitchFamily="18" charset="0"/>
            </a:endParaRPr>
          </a:p>
        </p:txBody>
      </p:sp>
      <p:graphicFrame>
        <p:nvGraphicFramePr>
          <p:cNvPr id="76802" name="对象 114690"/>
          <p:cNvGraphicFramePr/>
          <p:nvPr/>
        </p:nvGraphicFramePr>
        <p:xfrm>
          <a:off x="0" y="914400"/>
          <a:ext cx="9144000" cy="5046663"/>
        </p:xfrm>
        <a:graphic>
          <a:graphicData uri="http://schemas.openxmlformats.org/presentationml/2006/ole">
            <mc:AlternateContent xmlns:mc="http://schemas.openxmlformats.org/markup-compatibility/2006">
              <mc:Choice xmlns:v="urn:schemas-microsoft-com:vml" Requires="v">
                <p:oleObj spid="_x0000_s2102" name="" r:id="rId1" imgW="3383280" imgH="1866900" progId="Visio.Drawing.4">
                  <p:embed/>
                </p:oleObj>
              </mc:Choice>
              <mc:Fallback>
                <p:oleObj name="" r:id="rId1" imgW="3383280" imgH="1866900" progId="Visio.Drawing.4">
                  <p:embed/>
                  <p:pic>
                    <p:nvPicPr>
                      <p:cNvPr id="0" name="对象 11469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144000" cy="504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pull dir="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44385"/>
          <p:cNvSpPr>
            <a:spLocks noGrp="1" noChangeArrowheads="1"/>
          </p:cNvSpPr>
          <p:nvPr>
            <p:ph type="title"/>
          </p:nvPr>
        </p:nvSpPr>
        <p:spPr/>
        <p:txBody>
          <a:bodyPr/>
          <a:lstStyle/>
          <a:p>
            <a:endParaRPr lang="zh-CN" altLang="en-US"/>
          </a:p>
        </p:txBody>
      </p:sp>
      <p:sp>
        <p:nvSpPr>
          <p:cNvPr id="77826" name="文本占位符 144386"/>
          <p:cNvSpPr>
            <a:spLocks noGrp="1" noChangeArrowheads="1"/>
          </p:cNvSpPr>
          <p:nvPr>
            <p:ph idx="1"/>
          </p:nvPr>
        </p:nvSpPr>
        <p:spPr/>
        <p:txBody>
          <a:bodyPr/>
          <a:lstStyle/>
          <a:p>
            <a:r>
              <a:rPr lang="zh-CN" altLang="en-US"/>
              <a:t>以下几页内容为增加内容。可选择来讲。</a:t>
            </a:r>
            <a:endParaRPr lang="zh-CN" altLang="en-US"/>
          </a:p>
        </p:txBody>
      </p:sp>
    </p:spTree>
  </p:cSld>
  <p:clrMapOvr>
    <a:masterClrMapping/>
  </p:clrMapOvr>
  <p:transition spd="slow">
    <p:pull dir="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文本框 115713"/>
          <p:cNvSpPr txBox="1">
            <a:spLocks noChangeArrowheads="1"/>
          </p:cNvSpPr>
          <p:nvPr/>
        </p:nvSpPr>
        <p:spPr bwMode="auto">
          <a:xfrm>
            <a:off x="609600" y="533400"/>
            <a:ext cx="5073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latin typeface="Times New Roman" panose="02020603050405020304" pitchFamily="18" charset="0"/>
              </a:rPr>
              <a:t>6.6.2  </a:t>
            </a:r>
            <a:r>
              <a:rPr lang="zh-CN" altLang="en-US" sz="2800" b="1">
                <a:latin typeface="Times New Roman" panose="02020603050405020304" pitchFamily="18" charset="0"/>
              </a:rPr>
              <a:t>利用符号链实现文件共享 </a:t>
            </a:r>
            <a:endParaRPr lang="zh-CN" altLang="en-US" sz="2800" b="1">
              <a:latin typeface="Times New Roman" panose="02020603050405020304" pitchFamily="18" charset="0"/>
            </a:endParaRPr>
          </a:p>
        </p:txBody>
      </p:sp>
      <p:sp>
        <p:nvSpPr>
          <p:cNvPr id="78850" name="文本框 115714"/>
          <p:cNvSpPr txBox="1">
            <a:spLocks noChangeArrowheads="1"/>
          </p:cNvSpPr>
          <p:nvPr/>
        </p:nvSpPr>
        <p:spPr bwMode="auto">
          <a:xfrm>
            <a:off x="457200" y="1371600"/>
            <a:ext cx="82296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50000"/>
              </a:lnSpc>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在利用符号链方式实现文件共享时， 只是</a:t>
            </a:r>
            <a:r>
              <a:rPr lang="zh-CN" altLang="en-US" sz="2400" b="1">
                <a:latin typeface="Times New Roman" panose="02020603050405020304" pitchFamily="18" charset="0"/>
              </a:rPr>
              <a:t>文件主</a:t>
            </a:r>
            <a:r>
              <a:rPr lang="zh-CN" altLang="en-US" sz="2400">
                <a:latin typeface="Times New Roman" panose="02020603050405020304" pitchFamily="18" charset="0"/>
              </a:rPr>
              <a:t>才拥有</a:t>
            </a:r>
            <a:r>
              <a:rPr lang="zh-CN" altLang="en-US" sz="2400" b="1">
                <a:latin typeface="Times New Roman" panose="02020603050405020304" pitchFamily="18" charset="0"/>
              </a:rPr>
              <a:t>指向其索引结点的指针</a:t>
            </a:r>
            <a:r>
              <a:rPr lang="zh-CN" altLang="en-US" sz="2400">
                <a:latin typeface="Times New Roman" panose="02020603050405020304" pitchFamily="18" charset="0"/>
              </a:rPr>
              <a:t>；而共享该文件的</a:t>
            </a:r>
            <a:r>
              <a:rPr lang="zh-CN" altLang="en-US" sz="2400" b="1">
                <a:latin typeface="Times New Roman" panose="02020603050405020304" pitchFamily="18" charset="0"/>
              </a:rPr>
              <a:t>其他用户</a:t>
            </a:r>
            <a:r>
              <a:rPr lang="zh-CN" altLang="en-US" sz="2400">
                <a:latin typeface="Times New Roman" panose="02020603050405020304" pitchFamily="18" charset="0"/>
              </a:rPr>
              <a:t>，则只有该文件的</a:t>
            </a:r>
            <a:r>
              <a:rPr lang="zh-CN" altLang="en-US" sz="2400" b="1">
                <a:latin typeface="Times New Roman" panose="02020603050405020304" pitchFamily="18" charset="0"/>
              </a:rPr>
              <a:t>路径名</a:t>
            </a:r>
            <a:r>
              <a:rPr lang="zh-CN" altLang="en-US" sz="2400">
                <a:latin typeface="Times New Roman" panose="02020603050405020304" pitchFamily="18" charset="0"/>
              </a:rPr>
              <a:t>，并不拥有指向其索引结点的指针。这样， 也就不会发生在文件主删除一共享文件后留下一悬空指针的情况。</a:t>
            </a:r>
            <a:endParaRPr lang="zh-CN" altLang="en-US" sz="2400">
              <a:latin typeface="Times New Roman" panose="02020603050405020304" pitchFamily="18" charset="0"/>
            </a:endParaRPr>
          </a:p>
          <a:p>
            <a:pPr algn="just">
              <a:lnSpc>
                <a:spcPct val="150000"/>
              </a:lnSpc>
              <a:spcBef>
                <a:spcPct val="50000"/>
              </a:spcBef>
            </a:pPr>
            <a:r>
              <a:rPr lang="zh-CN" altLang="en-US" sz="2400">
                <a:latin typeface="Times New Roman" panose="02020603050405020304" pitchFamily="18" charset="0"/>
              </a:rPr>
              <a:t>           当文件的拥有者把一个共享文件删除后， 其他用户试图通过符号链去访问一个已被删除的共享文件时，会因系统找不到该文件而使访问失败，于是再将符号链删除，此时不会产生任何影响。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文本框 116737"/>
          <p:cNvSpPr txBox="1">
            <a:spLocks noChangeArrowheads="1"/>
          </p:cNvSpPr>
          <p:nvPr/>
        </p:nvSpPr>
        <p:spPr bwMode="auto">
          <a:xfrm>
            <a:off x="1143000" y="838200"/>
            <a:ext cx="3225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latin typeface="Times New Roman" panose="02020603050405020304" pitchFamily="18" charset="0"/>
              </a:rPr>
              <a:t>6.6.3  </a:t>
            </a:r>
            <a:r>
              <a:rPr lang="zh-CN" altLang="en-US" sz="2800" b="1">
                <a:latin typeface="Times New Roman" panose="02020603050405020304" pitchFamily="18" charset="0"/>
              </a:rPr>
              <a:t>磁盘容错技术</a:t>
            </a:r>
            <a:endParaRPr lang="zh-CN" altLang="en-US" sz="2800" b="1">
              <a:latin typeface="Times New Roman" panose="02020603050405020304" pitchFamily="18" charset="0"/>
            </a:endParaRPr>
          </a:p>
        </p:txBody>
      </p:sp>
      <p:sp>
        <p:nvSpPr>
          <p:cNvPr id="79874" name="文本框 116738"/>
          <p:cNvSpPr txBox="1">
            <a:spLocks noChangeArrowheads="1"/>
          </p:cNvSpPr>
          <p:nvPr/>
        </p:nvSpPr>
        <p:spPr bwMode="auto">
          <a:xfrm>
            <a:off x="609600" y="1752600"/>
            <a:ext cx="8001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60000"/>
              </a:lnSpc>
              <a:spcBef>
                <a:spcPct val="50000"/>
              </a:spcBef>
            </a:pPr>
            <a:r>
              <a:rPr lang="en-US" altLang="zh-CN" sz="2400">
                <a:latin typeface="Times New Roman" panose="02020603050405020304" pitchFamily="18" charset="0"/>
              </a:rPr>
              <a:t>       (1) </a:t>
            </a:r>
            <a:r>
              <a:rPr lang="zh-CN" altLang="en-US" sz="2400">
                <a:latin typeface="Times New Roman" panose="02020603050405020304" pitchFamily="18" charset="0"/>
              </a:rPr>
              <a:t>通过</a:t>
            </a:r>
            <a:r>
              <a:rPr lang="zh-CN" altLang="en-US" sz="2400" b="1">
                <a:latin typeface="Times New Roman" panose="02020603050405020304" pitchFamily="18" charset="0"/>
              </a:rPr>
              <a:t>存取控制</a:t>
            </a:r>
            <a:r>
              <a:rPr lang="zh-CN" altLang="en-US" sz="2400">
                <a:latin typeface="Times New Roman" panose="02020603050405020304" pitchFamily="18" charset="0"/>
              </a:rPr>
              <a:t>机制来防止由</a:t>
            </a:r>
            <a:r>
              <a:rPr lang="zh-CN" altLang="en-US" sz="2400" b="1">
                <a:latin typeface="Times New Roman" panose="02020603050405020304" pitchFamily="18" charset="0"/>
              </a:rPr>
              <a:t>人为</a:t>
            </a:r>
            <a:r>
              <a:rPr lang="zh-CN" altLang="en-US" sz="2400">
                <a:latin typeface="Times New Roman" panose="02020603050405020304" pitchFamily="18" charset="0"/>
              </a:rPr>
              <a:t>因素所造成的文件不安全性。</a:t>
            </a:r>
            <a:endParaRPr lang="zh-CN" altLang="en-US" sz="2400">
              <a:latin typeface="Times New Roman" panose="02020603050405020304" pitchFamily="18" charset="0"/>
            </a:endParaRPr>
          </a:p>
          <a:p>
            <a:pPr algn="just">
              <a:lnSpc>
                <a:spcPct val="160000"/>
              </a:lnSpc>
              <a:spcBef>
                <a:spcPct val="50000"/>
              </a:spcBef>
            </a:pPr>
            <a:r>
              <a:rPr lang="zh-CN" altLang="en-US" sz="2400">
                <a:latin typeface="Times New Roman" panose="02020603050405020304" pitchFamily="18" charset="0"/>
              </a:rPr>
              <a:t>       </a:t>
            </a:r>
            <a:r>
              <a:rPr lang="en-US" altLang="zh-CN" sz="2400">
                <a:latin typeface="Times New Roman" panose="02020603050405020304" pitchFamily="18" charset="0"/>
              </a:rPr>
              <a:t>(2) </a:t>
            </a:r>
            <a:r>
              <a:rPr lang="zh-CN" altLang="en-US" sz="2400">
                <a:latin typeface="Times New Roman" panose="02020603050405020304" pitchFamily="18" charset="0"/>
              </a:rPr>
              <a:t>通过</a:t>
            </a:r>
            <a:r>
              <a:rPr lang="zh-CN" altLang="en-US" sz="2400" b="1">
                <a:latin typeface="Times New Roman" panose="02020603050405020304" pitchFamily="18" charset="0"/>
              </a:rPr>
              <a:t>磁盘容错</a:t>
            </a:r>
            <a:r>
              <a:rPr lang="zh-CN" altLang="en-US" sz="2400">
                <a:latin typeface="Times New Roman" panose="02020603050405020304" pitchFamily="18" charset="0"/>
              </a:rPr>
              <a:t>技术， 来防止由磁盘部分的</a:t>
            </a:r>
            <a:r>
              <a:rPr lang="zh-CN" altLang="en-US" sz="2400" b="1">
                <a:latin typeface="Times New Roman" panose="02020603050405020304" pitchFamily="18" charset="0"/>
              </a:rPr>
              <a:t>故障</a:t>
            </a:r>
            <a:r>
              <a:rPr lang="zh-CN" altLang="en-US" sz="2400">
                <a:latin typeface="Times New Roman" panose="02020603050405020304" pitchFamily="18" charset="0"/>
              </a:rPr>
              <a:t>所造成的文件不安全性。</a:t>
            </a:r>
            <a:endParaRPr lang="zh-CN" altLang="en-US" sz="2400">
              <a:latin typeface="Times New Roman" panose="02020603050405020304" pitchFamily="18" charset="0"/>
            </a:endParaRPr>
          </a:p>
          <a:p>
            <a:pPr>
              <a:lnSpc>
                <a:spcPct val="160000"/>
              </a:lnSpc>
              <a:spcBef>
                <a:spcPct val="50000"/>
              </a:spcBef>
            </a:pPr>
            <a:r>
              <a:rPr lang="zh-CN" altLang="en-US" sz="2400">
                <a:latin typeface="Times New Roman" panose="02020603050405020304" pitchFamily="18" charset="0"/>
              </a:rPr>
              <a:t>       </a:t>
            </a:r>
            <a:r>
              <a:rPr lang="en-US" altLang="zh-CN" sz="2400">
                <a:latin typeface="Times New Roman" panose="02020603050405020304" pitchFamily="18" charset="0"/>
              </a:rPr>
              <a:t>(3) </a:t>
            </a:r>
            <a:r>
              <a:rPr lang="zh-CN" altLang="en-US" sz="2400">
                <a:latin typeface="Times New Roman" panose="02020603050405020304" pitchFamily="18" charset="0"/>
              </a:rPr>
              <a:t>通过“</a:t>
            </a:r>
            <a:r>
              <a:rPr lang="zh-CN" altLang="en-US" sz="2400" b="1">
                <a:latin typeface="Times New Roman" panose="02020603050405020304" pitchFamily="18" charset="0"/>
              </a:rPr>
              <a:t>后备系统</a:t>
            </a:r>
            <a:r>
              <a:rPr lang="zh-CN" altLang="en-US" sz="2400">
                <a:latin typeface="Times New Roman" panose="02020603050405020304" pitchFamily="18" charset="0"/>
              </a:rPr>
              <a:t>”来防止由自然因素所造成的不安全性。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文本框 117761"/>
          <p:cNvSpPr txBox="1">
            <a:spLocks noChangeArrowheads="1"/>
          </p:cNvSpPr>
          <p:nvPr/>
        </p:nvSpPr>
        <p:spPr bwMode="auto">
          <a:xfrm>
            <a:off x="1143000" y="533400"/>
            <a:ext cx="366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1. </a:t>
            </a:r>
            <a:r>
              <a:rPr lang="zh-CN" altLang="en-US" sz="2400" b="1">
                <a:latin typeface="Times New Roman" panose="02020603050405020304" pitchFamily="18" charset="0"/>
              </a:rPr>
              <a:t>第一级容错技术</a:t>
            </a:r>
            <a:r>
              <a:rPr lang="en-US" altLang="zh-CN" sz="2400" b="1">
                <a:latin typeface="Times New Roman" panose="02020603050405020304" pitchFamily="18" charset="0"/>
              </a:rPr>
              <a:t>SFT-Ⅰ </a:t>
            </a:r>
            <a:endParaRPr lang="en-US" altLang="zh-CN" sz="2400" b="1">
              <a:latin typeface="Times New Roman" panose="02020603050405020304" pitchFamily="18" charset="0"/>
            </a:endParaRPr>
          </a:p>
        </p:txBody>
      </p:sp>
      <p:sp>
        <p:nvSpPr>
          <p:cNvPr id="80898" name="文本框 117762"/>
          <p:cNvSpPr txBox="1">
            <a:spLocks noChangeArrowheads="1"/>
          </p:cNvSpPr>
          <p:nvPr/>
        </p:nvSpPr>
        <p:spPr bwMode="auto">
          <a:xfrm>
            <a:off x="685800" y="1219200"/>
            <a:ext cx="8001000" cy="488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45000"/>
              </a:lnSpc>
              <a:spcBef>
                <a:spcPct val="50000"/>
              </a:spcBef>
            </a:pPr>
            <a:r>
              <a:rPr lang="en-US" altLang="zh-CN" sz="2400">
                <a:latin typeface="Times New Roman" panose="02020603050405020304" pitchFamily="18" charset="0"/>
              </a:rPr>
              <a:t>        1) </a:t>
            </a:r>
            <a:r>
              <a:rPr lang="zh-CN" altLang="en-US" sz="2400">
                <a:latin typeface="Times New Roman" panose="02020603050405020304" pitchFamily="18" charset="0"/>
              </a:rPr>
              <a:t>双份目录和双份文件分配表</a:t>
            </a:r>
            <a:endParaRPr lang="zh-CN" altLang="en-US" sz="2400">
              <a:latin typeface="Times New Roman" panose="02020603050405020304" pitchFamily="18" charset="0"/>
            </a:endParaRPr>
          </a:p>
          <a:p>
            <a:pPr algn="just">
              <a:lnSpc>
                <a:spcPct val="145000"/>
              </a:lnSpc>
              <a:spcBef>
                <a:spcPct val="50000"/>
              </a:spcBef>
            </a:pPr>
            <a:r>
              <a:rPr lang="zh-CN" altLang="en-US" sz="2400">
                <a:latin typeface="Times New Roman" panose="02020603050405020304" pitchFamily="18" charset="0"/>
              </a:rPr>
              <a:t>        在磁盘上存放的</a:t>
            </a:r>
            <a:r>
              <a:rPr lang="zh-CN" altLang="en-US" sz="2400" b="1">
                <a:latin typeface="Times New Roman" panose="02020603050405020304" pitchFamily="18" charset="0"/>
              </a:rPr>
              <a:t>文件目录</a:t>
            </a:r>
            <a:r>
              <a:rPr lang="zh-CN" altLang="en-US" sz="2400">
                <a:latin typeface="Times New Roman" panose="02020603050405020304" pitchFamily="18" charset="0"/>
              </a:rPr>
              <a:t>和</a:t>
            </a:r>
            <a:r>
              <a:rPr lang="zh-CN" altLang="en-US" sz="2400" b="1">
                <a:latin typeface="Times New Roman" panose="02020603050405020304" pitchFamily="18" charset="0"/>
              </a:rPr>
              <a:t>文件分配表</a:t>
            </a:r>
            <a:r>
              <a:rPr lang="en-US" altLang="zh-CN" sz="2400" b="1">
                <a:latin typeface="Times New Roman" panose="02020603050405020304" pitchFamily="18" charset="0"/>
              </a:rPr>
              <a:t>FAT</a:t>
            </a:r>
            <a:r>
              <a:rPr lang="zh-CN" altLang="en-US" sz="2400">
                <a:latin typeface="Times New Roman" panose="02020603050405020304" pitchFamily="18" charset="0"/>
              </a:rPr>
              <a:t>， 是文件管理所用的重要数据结构。</a:t>
            </a:r>
            <a:endParaRPr lang="zh-CN" altLang="en-US" sz="2400">
              <a:latin typeface="Times New Roman" panose="02020603050405020304" pitchFamily="18" charset="0"/>
            </a:endParaRPr>
          </a:p>
          <a:p>
            <a:pPr algn="just">
              <a:lnSpc>
                <a:spcPct val="145000"/>
              </a:lnSpc>
              <a:spcBef>
                <a:spcPct val="50000"/>
              </a:spcBef>
            </a:pPr>
            <a:r>
              <a:rPr lang="zh-CN" altLang="en-US" sz="2400">
                <a:latin typeface="Times New Roman" panose="02020603050405020304" pitchFamily="18" charset="0"/>
              </a:rPr>
              <a:t>       如果这些表格被破坏， 将导致磁盘上的部分或全部文件成为不可访问的，因而也就等效于文件的丢失。</a:t>
            </a:r>
            <a:endParaRPr lang="zh-CN" altLang="en-US" sz="2400">
              <a:latin typeface="Times New Roman" panose="02020603050405020304" pitchFamily="18" charset="0"/>
            </a:endParaRPr>
          </a:p>
          <a:p>
            <a:pPr algn="just">
              <a:lnSpc>
                <a:spcPct val="145000"/>
              </a:lnSpc>
              <a:spcBef>
                <a:spcPct val="50000"/>
              </a:spcBef>
            </a:pPr>
            <a:r>
              <a:rPr lang="zh-CN" altLang="en-US" sz="2400">
                <a:latin typeface="Times New Roman" panose="02020603050405020304" pitchFamily="18" charset="0"/>
              </a:rPr>
              <a:t>       为了防止这类情况发生，可在不同的磁盘上或在磁盘的不同区域中，分别建立</a:t>
            </a:r>
            <a:r>
              <a:rPr lang="en-US" altLang="zh-CN" sz="2400">
                <a:latin typeface="Times New Roman" panose="02020603050405020304" pitchFamily="18" charset="0"/>
              </a:rPr>
              <a:t>(</a:t>
            </a:r>
            <a:r>
              <a:rPr lang="zh-CN" altLang="en-US" sz="2400">
                <a:latin typeface="Times New Roman" panose="02020603050405020304" pitchFamily="18" charset="0"/>
              </a:rPr>
              <a:t>双份</a:t>
            </a:r>
            <a:r>
              <a:rPr lang="en-US" altLang="zh-CN" sz="2400">
                <a:latin typeface="Times New Roman" panose="02020603050405020304" pitchFamily="18" charset="0"/>
              </a:rPr>
              <a:t>)</a:t>
            </a:r>
            <a:r>
              <a:rPr lang="zh-CN" altLang="en-US" sz="2400">
                <a:latin typeface="Times New Roman" panose="02020603050405020304" pitchFamily="18" charset="0"/>
              </a:rPr>
              <a:t>目录表和</a:t>
            </a:r>
            <a:r>
              <a:rPr lang="en-US" altLang="zh-CN" sz="2400">
                <a:latin typeface="Times New Roman" panose="02020603050405020304" pitchFamily="18" charset="0"/>
              </a:rPr>
              <a:t>FAT</a:t>
            </a:r>
            <a:r>
              <a:rPr lang="zh-CN" altLang="en-US" sz="2400">
                <a:latin typeface="Times New Roman" panose="02020603050405020304" pitchFamily="18" charset="0"/>
              </a:rPr>
              <a:t>。 一份被称为主目录及主</a:t>
            </a:r>
            <a:r>
              <a:rPr lang="en-US" altLang="zh-CN" sz="2400">
                <a:latin typeface="Times New Roman" panose="02020603050405020304" pitchFamily="18" charset="0"/>
              </a:rPr>
              <a:t>FAT</a:t>
            </a:r>
            <a:r>
              <a:rPr lang="zh-CN" altLang="en-US" sz="2400">
                <a:latin typeface="Times New Roman" panose="02020603050405020304" pitchFamily="18" charset="0"/>
              </a:rPr>
              <a:t>； 另一份称为备份目录及备份</a:t>
            </a:r>
            <a:r>
              <a:rPr lang="en-US" altLang="zh-CN" sz="2400">
                <a:latin typeface="Times New Roman" panose="02020603050405020304" pitchFamily="18" charset="0"/>
              </a:rPr>
              <a:t>FAT</a:t>
            </a:r>
            <a:r>
              <a:rPr lang="zh-CN" altLang="en-US" sz="2400">
                <a:latin typeface="Times New Roman" panose="02020603050405020304" pitchFamily="18" charset="0"/>
              </a:rPr>
              <a:t>。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文本框 119809"/>
          <p:cNvSpPr txBox="1">
            <a:spLocks noChangeArrowheads="1"/>
          </p:cNvSpPr>
          <p:nvPr/>
        </p:nvSpPr>
        <p:spPr bwMode="auto">
          <a:xfrm>
            <a:off x="1066800" y="762000"/>
            <a:ext cx="368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2. </a:t>
            </a:r>
            <a:r>
              <a:rPr lang="zh-CN" altLang="en-US" sz="2400" b="1">
                <a:latin typeface="Times New Roman" panose="02020603050405020304" pitchFamily="18" charset="0"/>
              </a:rPr>
              <a:t>第二级容错技术</a:t>
            </a:r>
            <a:r>
              <a:rPr lang="en-US" altLang="zh-CN" sz="2400" b="1">
                <a:latin typeface="Times New Roman" panose="02020603050405020304" pitchFamily="18" charset="0"/>
              </a:rPr>
              <a:t>SFT-Ⅱ </a:t>
            </a:r>
            <a:endParaRPr lang="en-US" altLang="zh-CN" sz="2400" b="1">
              <a:latin typeface="Times New Roman" panose="02020603050405020304" pitchFamily="18" charset="0"/>
            </a:endParaRPr>
          </a:p>
        </p:txBody>
      </p:sp>
      <p:sp>
        <p:nvSpPr>
          <p:cNvPr id="81922" name="文本框 119810"/>
          <p:cNvSpPr txBox="1">
            <a:spLocks noChangeArrowheads="1"/>
          </p:cNvSpPr>
          <p:nvPr/>
        </p:nvSpPr>
        <p:spPr bwMode="auto">
          <a:xfrm>
            <a:off x="1050925" y="1489075"/>
            <a:ext cx="427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latin typeface="Times New Roman" panose="02020603050405020304" pitchFamily="18" charset="0"/>
              </a:rPr>
              <a:t>(1) </a:t>
            </a:r>
            <a:r>
              <a:rPr lang="zh-CN" altLang="en-US" sz="2400">
                <a:latin typeface="Times New Roman" panose="02020603050405020304" pitchFamily="18" charset="0"/>
              </a:rPr>
              <a:t>磁盘镜像</a:t>
            </a:r>
            <a:r>
              <a:rPr lang="en-US" altLang="zh-CN" sz="2400">
                <a:latin typeface="Times New Roman" panose="02020603050405020304" pitchFamily="18" charset="0"/>
              </a:rPr>
              <a:t>(Disk Mirroring)</a:t>
            </a:r>
            <a:r>
              <a:rPr lang="zh-CN" altLang="en-US" sz="2400">
                <a:latin typeface="Times New Roman" panose="02020603050405020304" pitchFamily="18" charset="0"/>
              </a:rPr>
              <a:t>。 </a:t>
            </a:r>
            <a:endParaRPr lang="zh-CN" altLang="en-US" sz="2400">
              <a:latin typeface="Times New Roman" panose="02020603050405020304" pitchFamily="18" charset="0"/>
            </a:endParaRPr>
          </a:p>
        </p:txBody>
      </p:sp>
      <p:graphicFrame>
        <p:nvGraphicFramePr>
          <p:cNvPr id="81923" name="对象 119811"/>
          <p:cNvGraphicFramePr/>
          <p:nvPr/>
        </p:nvGraphicFramePr>
        <p:xfrm>
          <a:off x="1524000" y="2590800"/>
          <a:ext cx="6019800" cy="2586038"/>
        </p:xfrm>
        <a:graphic>
          <a:graphicData uri="http://schemas.openxmlformats.org/presentationml/2006/ole">
            <mc:AlternateContent xmlns:mc="http://schemas.openxmlformats.org/markup-compatibility/2006">
              <mc:Choice xmlns:v="urn:schemas-microsoft-com:vml" Requires="v">
                <p:oleObj spid="_x0000_s2102" name="" r:id="rId1" imgW="1828800" imgH="784860" progId="Visio.Drawing.4">
                  <p:embed/>
                </p:oleObj>
              </mc:Choice>
              <mc:Fallback>
                <p:oleObj name="" r:id="rId1" imgW="1828800" imgH="784860" progId="Visio.Drawing.4">
                  <p:embed/>
                  <p:pic>
                    <p:nvPicPr>
                      <p:cNvPr id="0" name="对象 11981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90800"/>
                        <a:ext cx="60198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24" name="文本框 119812"/>
          <p:cNvSpPr txBox="1">
            <a:spLocks noChangeArrowheads="1"/>
          </p:cNvSpPr>
          <p:nvPr/>
        </p:nvSpPr>
        <p:spPr bwMode="auto">
          <a:xfrm>
            <a:off x="2971800" y="5486400"/>
            <a:ext cx="310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6-26 </a:t>
            </a:r>
            <a:r>
              <a:rPr lang="zh-CN" altLang="en-US" sz="2400">
                <a:latin typeface="Times New Roman" panose="02020603050405020304" pitchFamily="18" charset="0"/>
              </a:rPr>
              <a:t>磁盘镜像示意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文本框 120833"/>
          <p:cNvSpPr txBox="1">
            <a:spLocks noChangeArrowheads="1"/>
          </p:cNvSpPr>
          <p:nvPr/>
        </p:nvSpPr>
        <p:spPr bwMode="auto">
          <a:xfrm>
            <a:off x="1066800" y="838200"/>
            <a:ext cx="4443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(2) </a:t>
            </a:r>
            <a:r>
              <a:rPr lang="zh-CN" altLang="en-US" sz="2400" b="1">
                <a:latin typeface="Times New Roman" panose="02020603050405020304" pitchFamily="18" charset="0"/>
              </a:rPr>
              <a:t>磁盘双工</a:t>
            </a:r>
            <a:r>
              <a:rPr lang="en-US" altLang="zh-CN" sz="2400" b="1">
                <a:latin typeface="Times New Roman" panose="02020603050405020304" pitchFamily="18" charset="0"/>
              </a:rPr>
              <a:t>(Disk Duplexing)</a:t>
            </a:r>
            <a:r>
              <a:rPr lang="zh-CN" altLang="en-US" sz="2400" b="1">
                <a:latin typeface="Times New Roman" panose="02020603050405020304" pitchFamily="18" charset="0"/>
              </a:rPr>
              <a:t>。 </a:t>
            </a:r>
            <a:endParaRPr lang="zh-CN" altLang="en-US" sz="2400" b="1">
              <a:latin typeface="Times New Roman" panose="02020603050405020304" pitchFamily="18" charset="0"/>
            </a:endParaRPr>
          </a:p>
        </p:txBody>
      </p:sp>
      <p:sp>
        <p:nvSpPr>
          <p:cNvPr id="82946" name="文本框 120834"/>
          <p:cNvSpPr txBox="1">
            <a:spLocks noChangeArrowheads="1"/>
          </p:cNvSpPr>
          <p:nvPr/>
        </p:nvSpPr>
        <p:spPr bwMode="auto">
          <a:xfrm>
            <a:off x="3124200" y="5791200"/>
            <a:ext cx="310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6-27 </a:t>
            </a:r>
            <a:r>
              <a:rPr lang="zh-CN" altLang="en-US" sz="2400">
                <a:latin typeface="Times New Roman" panose="02020603050405020304" pitchFamily="18" charset="0"/>
              </a:rPr>
              <a:t>磁盘双工示意 </a:t>
            </a:r>
            <a:endParaRPr lang="zh-CN" altLang="en-US" sz="2400">
              <a:latin typeface="Times New Roman" panose="02020603050405020304" pitchFamily="18" charset="0"/>
            </a:endParaRPr>
          </a:p>
        </p:txBody>
      </p:sp>
      <p:graphicFrame>
        <p:nvGraphicFramePr>
          <p:cNvPr id="82947" name="对象 120835"/>
          <p:cNvGraphicFramePr/>
          <p:nvPr/>
        </p:nvGraphicFramePr>
        <p:xfrm>
          <a:off x="1828800" y="1676400"/>
          <a:ext cx="5867400" cy="3902075"/>
        </p:xfrm>
        <a:graphic>
          <a:graphicData uri="http://schemas.openxmlformats.org/presentationml/2006/ole">
            <mc:AlternateContent xmlns:mc="http://schemas.openxmlformats.org/markup-compatibility/2006">
              <mc:Choice xmlns:v="urn:schemas-microsoft-com:vml" Requires="v">
                <p:oleObj spid="_x0000_s2102" name="" r:id="rId1" imgW="1722120" imgH="1143000" progId="Visio.Drawing.4">
                  <p:embed/>
                </p:oleObj>
              </mc:Choice>
              <mc:Fallback>
                <p:oleObj name="" r:id="rId1" imgW="1722120" imgH="1143000" progId="Visio.Drawing.4">
                  <p:embed/>
                  <p:pic>
                    <p:nvPicPr>
                      <p:cNvPr id="0" name="对象 12083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76400"/>
                        <a:ext cx="5867400" cy="390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48" name="动作按钮: 后退或前一项 120836">
            <a:hlinkClick r:id="" action="ppaction://hlinkshowjump?jump=firstslide" highlightClick="1"/>
          </p:cNvPr>
          <p:cNvSpPr>
            <a:spLocks noChangeArrowheads="1"/>
          </p:cNvSpPr>
          <p:nvPr/>
        </p:nvSpPr>
        <p:spPr bwMode="auto">
          <a:xfrm>
            <a:off x="8101013" y="5805488"/>
            <a:ext cx="762000" cy="457200"/>
          </a:xfrm>
          <a:prstGeom prst="actionButtonBackPrevious">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文本框 121857"/>
          <p:cNvSpPr txBox="1">
            <a:spLocks noChangeArrowheads="1"/>
          </p:cNvSpPr>
          <p:nvPr/>
        </p:nvSpPr>
        <p:spPr bwMode="auto">
          <a:xfrm>
            <a:off x="2971800" y="838200"/>
            <a:ext cx="3762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3200" b="1">
                <a:latin typeface="Times New Roman" panose="02020603050405020304" pitchFamily="18" charset="0"/>
              </a:rPr>
              <a:t>6.7 </a:t>
            </a:r>
            <a:r>
              <a:rPr lang="zh-CN" altLang="en-US" sz="3200" b="1">
                <a:latin typeface="Times New Roman" panose="02020603050405020304" pitchFamily="18" charset="0"/>
              </a:rPr>
              <a:t>数据一致性控制 </a:t>
            </a:r>
            <a:endParaRPr lang="zh-CN" altLang="en-US" sz="3200" b="1">
              <a:latin typeface="Times New Roman" panose="02020603050405020304" pitchFamily="18" charset="0"/>
            </a:endParaRPr>
          </a:p>
        </p:txBody>
      </p:sp>
      <p:sp>
        <p:nvSpPr>
          <p:cNvPr id="83970" name="文本框 121858"/>
          <p:cNvSpPr txBox="1">
            <a:spLocks noChangeArrowheads="1"/>
          </p:cNvSpPr>
          <p:nvPr/>
        </p:nvSpPr>
        <p:spPr bwMode="auto">
          <a:xfrm>
            <a:off x="1143000" y="1295400"/>
            <a:ext cx="1784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latin typeface="Times New Roman" panose="02020603050405020304" pitchFamily="18" charset="0"/>
              </a:rPr>
              <a:t>6.7.1 </a:t>
            </a:r>
            <a:r>
              <a:rPr lang="zh-CN" altLang="en-US" sz="2800" b="1">
                <a:latin typeface="Times New Roman" panose="02020603050405020304" pitchFamily="18" charset="0"/>
              </a:rPr>
              <a:t>事务 </a:t>
            </a:r>
            <a:endParaRPr lang="zh-CN" altLang="en-US" sz="2800" b="1">
              <a:latin typeface="Times New Roman" panose="02020603050405020304" pitchFamily="18" charset="0"/>
            </a:endParaRPr>
          </a:p>
        </p:txBody>
      </p:sp>
      <p:sp>
        <p:nvSpPr>
          <p:cNvPr id="83971" name="文本框 121859"/>
          <p:cNvSpPr txBox="1">
            <a:spLocks noChangeArrowheads="1"/>
          </p:cNvSpPr>
          <p:nvPr/>
        </p:nvSpPr>
        <p:spPr bwMode="auto">
          <a:xfrm>
            <a:off x="304800" y="1828800"/>
            <a:ext cx="8458200" cy="472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30000"/>
              </a:lnSpc>
              <a:spcBef>
                <a:spcPct val="50000"/>
              </a:spcBef>
            </a:pPr>
            <a:r>
              <a:rPr lang="en-US" altLang="zh-CN" sz="2400" b="1">
                <a:latin typeface="Times New Roman" panose="02020603050405020304" pitchFamily="18" charset="0"/>
              </a:rPr>
              <a:t>         1. </a:t>
            </a:r>
            <a:r>
              <a:rPr lang="zh-CN" altLang="en-US" sz="2400" b="1">
                <a:latin typeface="Times New Roman" panose="02020603050405020304" pitchFamily="18" charset="0"/>
              </a:rPr>
              <a:t>事务的定义</a:t>
            </a:r>
            <a:endParaRPr lang="zh-CN" altLang="en-US" sz="2400" b="1">
              <a:latin typeface="Times New Roman" panose="02020603050405020304" pitchFamily="18" charset="0"/>
            </a:endParaRPr>
          </a:p>
          <a:p>
            <a:pPr algn="just">
              <a:lnSpc>
                <a:spcPct val="130000"/>
              </a:lnSpc>
              <a:spcBef>
                <a:spcPct val="50000"/>
              </a:spcBef>
            </a:pPr>
            <a:r>
              <a:rPr lang="zh-CN" altLang="en-US" sz="2400">
                <a:latin typeface="Times New Roman" panose="02020603050405020304" pitchFamily="18" charset="0"/>
              </a:rPr>
              <a:t>        事务是用于访问和修改各种数据项的一个</a:t>
            </a:r>
            <a:r>
              <a:rPr lang="zh-CN" altLang="en-US" sz="2400" b="1">
                <a:latin typeface="Times New Roman" panose="02020603050405020304" pitchFamily="18" charset="0"/>
              </a:rPr>
              <a:t>程序单位</a:t>
            </a:r>
            <a:r>
              <a:rPr lang="zh-CN" altLang="en-US" sz="2400">
                <a:latin typeface="Times New Roman" panose="02020603050405020304" pitchFamily="18" charset="0"/>
              </a:rPr>
              <a:t>。事务也可以被看作是一系列相关读和写操作。被访问的数据可以分散地存放在同一文件的不同记录中，也可放在多个文件中。</a:t>
            </a:r>
            <a:endParaRPr lang="zh-CN" altLang="en-US" sz="2400">
              <a:latin typeface="Times New Roman" panose="02020603050405020304" pitchFamily="18" charset="0"/>
            </a:endParaRPr>
          </a:p>
          <a:p>
            <a:pPr algn="just">
              <a:lnSpc>
                <a:spcPct val="130000"/>
              </a:lnSpc>
              <a:spcBef>
                <a:spcPct val="50000"/>
              </a:spcBef>
            </a:pPr>
            <a:r>
              <a:rPr lang="zh-CN" altLang="en-US" sz="2400">
                <a:latin typeface="Times New Roman" panose="02020603050405020304" pitchFamily="18" charset="0"/>
              </a:rPr>
              <a:t>         只有对分布在不同位置的同一数据所进行的读和写</a:t>
            </a:r>
            <a:r>
              <a:rPr lang="en-US" altLang="zh-CN" sz="2400">
                <a:latin typeface="Times New Roman" panose="02020603050405020304" pitchFamily="18" charset="0"/>
              </a:rPr>
              <a:t>(</a:t>
            </a:r>
            <a:r>
              <a:rPr lang="zh-CN" altLang="en-US" sz="2400">
                <a:latin typeface="Times New Roman" panose="02020603050405020304" pitchFamily="18" charset="0"/>
              </a:rPr>
              <a:t>含修改</a:t>
            </a:r>
            <a:r>
              <a:rPr lang="en-US" altLang="zh-CN" sz="2400">
                <a:latin typeface="Times New Roman" panose="02020603050405020304" pitchFamily="18" charset="0"/>
              </a:rPr>
              <a:t>)</a:t>
            </a:r>
            <a:r>
              <a:rPr lang="zh-CN" altLang="en-US" sz="2400">
                <a:latin typeface="Times New Roman" panose="02020603050405020304" pitchFamily="18" charset="0"/>
              </a:rPr>
              <a:t>操作</a:t>
            </a:r>
            <a:r>
              <a:rPr lang="zh-CN" altLang="en-US" sz="2400" b="1">
                <a:latin typeface="Times New Roman" panose="02020603050405020304" pitchFamily="18" charset="0"/>
              </a:rPr>
              <a:t>全部</a:t>
            </a:r>
            <a:r>
              <a:rPr lang="zh-CN" altLang="en-US" sz="2400">
                <a:latin typeface="Times New Roman" panose="02020603050405020304" pitchFamily="18" charset="0"/>
              </a:rPr>
              <a:t>完成时，才能再以托付操作</a:t>
            </a:r>
            <a:r>
              <a:rPr lang="en-US" altLang="zh-CN" sz="2400">
                <a:latin typeface="Times New Roman" panose="02020603050405020304" pitchFamily="18" charset="0"/>
              </a:rPr>
              <a:t>(Commit Operation)</a:t>
            </a:r>
            <a:r>
              <a:rPr lang="zh-CN" altLang="en-US" sz="2400">
                <a:latin typeface="Times New Roman" panose="02020603050405020304" pitchFamily="18" charset="0"/>
              </a:rPr>
              <a:t>来终止事务。只要有一个读、写或修改操作失败，便须执行夭折操作</a:t>
            </a:r>
            <a:r>
              <a:rPr lang="en-US" altLang="zh-CN" sz="2400">
                <a:latin typeface="Times New Roman" panose="02020603050405020304" pitchFamily="18" charset="0"/>
              </a:rPr>
              <a:t>(Abort Operation)</a:t>
            </a:r>
            <a:r>
              <a:rPr lang="zh-CN" altLang="en-US" sz="2400">
                <a:latin typeface="Times New Roman" panose="02020603050405020304" pitchFamily="18" charset="0"/>
              </a:rPr>
              <a:t>。读或写操作的失败可能是由于逻辑错误， 也可能是系统故障所导致的。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文本框 122881"/>
          <p:cNvSpPr txBox="1">
            <a:spLocks noChangeArrowheads="1"/>
          </p:cNvSpPr>
          <p:nvPr/>
        </p:nvSpPr>
        <p:spPr bwMode="auto">
          <a:xfrm>
            <a:off x="1127125" y="879475"/>
            <a:ext cx="5805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2. </a:t>
            </a:r>
            <a:r>
              <a:rPr lang="zh-CN" altLang="en-US" sz="2400" b="1">
                <a:latin typeface="Times New Roman" panose="02020603050405020304" pitchFamily="18" charset="0"/>
              </a:rPr>
              <a:t>事务记录</a:t>
            </a:r>
            <a:r>
              <a:rPr lang="en-US" altLang="zh-CN" sz="2400" b="1">
                <a:latin typeface="Times New Roman" panose="02020603050405020304" pitchFamily="18" charset="0"/>
              </a:rPr>
              <a:t>(Transaction Record)</a:t>
            </a:r>
            <a:r>
              <a:rPr lang="zh-CN" altLang="en-US" sz="2400" b="1">
                <a:latin typeface="Times New Roman" panose="02020603050405020304" pitchFamily="18" charset="0"/>
              </a:rPr>
              <a:t>：原子性 </a:t>
            </a:r>
            <a:endParaRPr lang="zh-CN" altLang="en-US" sz="2400" b="1">
              <a:latin typeface="Times New Roman" panose="02020603050405020304" pitchFamily="18" charset="0"/>
            </a:endParaRPr>
          </a:p>
        </p:txBody>
      </p:sp>
      <p:sp>
        <p:nvSpPr>
          <p:cNvPr id="84994" name="文本框 122882"/>
          <p:cNvSpPr txBox="1">
            <a:spLocks noChangeArrowheads="1"/>
          </p:cNvSpPr>
          <p:nvPr/>
        </p:nvSpPr>
        <p:spPr bwMode="auto">
          <a:xfrm>
            <a:off x="1066800" y="1600200"/>
            <a:ext cx="6234113" cy="265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75000"/>
              </a:lnSpc>
            </a:pPr>
            <a:r>
              <a:rPr lang="en-US" altLang="zh-CN" sz="2400">
                <a:latin typeface="Courier New" panose="02070309020205020404" pitchFamily="49" charset="0"/>
              </a:rPr>
              <a:t>·</a:t>
            </a:r>
            <a:r>
              <a:rPr lang="zh-CN" altLang="en-US" sz="2400">
                <a:latin typeface="Times New Roman" panose="02020603050405020304" pitchFamily="18" charset="0"/>
              </a:rPr>
              <a:t>事务名： 用于标识该事务的惟一名字；</a:t>
            </a:r>
            <a:endParaRPr lang="zh-CN" altLang="en-US" sz="2400">
              <a:latin typeface="Times New Roman" panose="02020603050405020304" pitchFamily="18" charset="0"/>
            </a:endParaRPr>
          </a:p>
          <a:p>
            <a:pPr>
              <a:lnSpc>
                <a:spcPct val="175000"/>
              </a:lnSpc>
            </a:pPr>
            <a:r>
              <a:rPr lang="en-US" altLang="zh-CN" sz="2400">
                <a:latin typeface="Courier New" panose="02070309020205020404" pitchFamily="49" charset="0"/>
              </a:rPr>
              <a:t>·</a:t>
            </a:r>
            <a:r>
              <a:rPr lang="zh-CN" altLang="en-US" sz="2400">
                <a:latin typeface="Times New Roman" panose="02020603050405020304" pitchFamily="18" charset="0"/>
              </a:rPr>
              <a:t>数据项名： 它是被修改数据项的惟一名字；</a:t>
            </a:r>
            <a:endParaRPr lang="zh-CN" altLang="en-US" sz="2400">
              <a:latin typeface="Times New Roman" panose="02020603050405020304" pitchFamily="18" charset="0"/>
            </a:endParaRPr>
          </a:p>
          <a:p>
            <a:pPr>
              <a:lnSpc>
                <a:spcPct val="175000"/>
              </a:lnSpc>
            </a:pPr>
            <a:r>
              <a:rPr lang="en-US" altLang="zh-CN" sz="2400">
                <a:latin typeface="Courier New" panose="02070309020205020404" pitchFamily="49" charset="0"/>
              </a:rPr>
              <a:t>·</a:t>
            </a:r>
            <a:r>
              <a:rPr lang="zh-CN" altLang="en-US" sz="2400">
                <a:latin typeface="Times New Roman" panose="02020603050405020304" pitchFamily="18" charset="0"/>
              </a:rPr>
              <a:t>旧值： 修改前数据项的值；</a:t>
            </a:r>
            <a:endParaRPr lang="zh-CN" altLang="en-US" sz="2400">
              <a:latin typeface="Times New Roman" panose="02020603050405020304" pitchFamily="18" charset="0"/>
            </a:endParaRPr>
          </a:p>
          <a:p>
            <a:pPr>
              <a:lnSpc>
                <a:spcPct val="175000"/>
              </a:lnSpc>
            </a:pPr>
            <a:r>
              <a:rPr lang="en-US" altLang="zh-CN" sz="2400">
                <a:latin typeface="Times New Roman" panose="02020603050405020304" pitchFamily="18" charset="0"/>
              </a:rPr>
              <a:t>·  </a:t>
            </a:r>
            <a:r>
              <a:rPr lang="zh-CN" altLang="en-US" sz="2400">
                <a:latin typeface="Times New Roman" panose="02020603050405020304" pitchFamily="18" charset="0"/>
              </a:rPr>
              <a:t>新值： 修改后数据项的值。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文本框 123905"/>
          <p:cNvSpPr txBox="1">
            <a:spLocks noChangeArrowheads="1"/>
          </p:cNvSpPr>
          <p:nvPr/>
        </p:nvSpPr>
        <p:spPr bwMode="auto">
          <a:xfrm>
            <a:off x="1143000" y="838200"/>
            <a:ext cx="179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3. </a:t>
            </a:r>
            <a:r>
              <a:rPr lang="zh-CN" altLang="en-US" sz="2400" b="1">
                <a:latin typeface="Times New Roman" panose="02020603050405020304" pitchFamily="18" charset="0"/>
              </a:rPr>
              <a:t>恢复算法 </a:t>
            </a:r>
            <a:endParaRPr lang="zh-CN" altLang="en-US" sz="2400" b="1">
              <a:latin typeface="Times New Roman" panose="02020603050405020304" pitchFamily="18" charset="0"/>
            </a:endParaRPr>
          </a:p>
        </p:txBody>
      </p:sp>
      <p:sp>
        <p:nvSpPr>
          <p:cNvPr id="86018" name="文本框 123906"/>
          <p:cNvSpPr txBox="1">
            <a:spLocks noChangeArrowheads="1"/>
          </p:cNvSpPr>
          <p:nvPr/>
        </p:nvSpPr>
        <p:spPr bwMode="auto">
          <a:xfrm>
            <a:off x="533400" y="1600200"/>
            <a:ext cx="81534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45000"/>
              </a:lnSpc>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恢复算法可利用以下两个过程：</a:t>
            </a:r>
            <a:endParaRPr lang="zh-CN" altLang="en-US" sz="2400">
              <a:latin typeface="Times New Roman" panose="02020603050405020304" pitchFamily="18" charset="0"/>
            </a:endParaRPr>
          </a:p>
          <a:p>
            <a:pPr algn="just">
              <a:lnSpc>
                <a:spcPct val="145000"/>
              </a:lnSpc>
              <a:spcBef>
                <a:spcPct val="50000"/>
              </a:spcBef>
            </a:pPr>
            <a:r>
              <a:rPr lang="zh-CN" altLang="en-US" sz="2400">
                <a:latin typeface="Times New Roman" panose="02020603050405020304" pitchFamily="18" charset="0"/>
              </a:rPr>
              <a:t>        </a:t>
            </a:r>
            <a:r>
              <a:rPr lang="en-US" altLang="zh-CN" sz="2400">
                <a:latin typeface="Times New Roman" panose="02020603050405020304" pitchFamily="18" charset="0"/>
              </a:rPr>
              <a:t>(1) undo</a:t>
            </a:r>
            <a:r>
              <a:rPr lang="zh-CN" altLang="en-US" sz="2400">
                <a:latin typeface="Times New Roman" panose="02020603050405020304" pitchFamily="18" charset="0"/>
              </a:rPr>
              <a:t>〈</a:t>
            </a:r>
            <a:r>
              <a:rPr lang="en-US" altLang="zh-CN" sz="2400">
                <a:latin typeface="Times New Roman" panose="02020603050405020304" pitchFamily="18" charset="0"/>
              </a:rPr>
              <a:t>T</a:t>
            </a:r>
            <a:r>
              <a:rPr lang="en-US" altLang="zh-CN" sz="2400" baseline="-25000">
                <a:latin typeface="Times New Roman" panose="02020603050405020304" pitchFamily="18" charset="0"/>
              </a:rPr>
              <a:t>i</a:t>
            </a:r>
            <a:r>
              <a:rPr lang="zh-CN" altLang="en-US" sz="2400">
                <a:latin typeface="Times New Roman" panose="02020603050405020304" pitchFamily="18" charset="0"/>
              </a:rPr>
              <a:t>〉。该过程把所有被事务</a:t>
            </a:r>
            <a:r>
              <a:rPr lang="en-US" altLang="zh-CN" sz="2400">
                <a:latin typeface="Times New Roman" panose="02020603050405020304" pitchFamily="18" charset="0"/>
              </a:rPr>
              <a:t>T</a:t>
            </a:r>
            <a:r>
              <a:rPr lang="en-US" altLang="zh-CN" sz="2400" baseline="-25000">
                <a:latin typeface="Times New Roman" panose="02020603050405020304" pitchFamily="18" charset="0"/>
              </a:rPr>
              <a:t>i</a:t>
            </a:r>
            <a:r>
              <a:rPr lang="zh-CN" altLang="en-US" sz="2400">
                <a:latin typeface="Times New Roman" panose="02020603050405020304" pitchFamily="18" charset="0"/>
              </a:rPr>
              <a:t>修改过的数据，恢复为修改前的值。</a:t>
            </a:r>
            <a:endParaRPr lang="zh-CN" altLang="en-US" sz="2400">
              <a:latin typeface="Times New Roman" panose="02020603050405020304" pitchFamily="18" charset="0"/>
            </a:endParaRPr>
          </a:p>
          <a:p>
            <a:pPr algn="just">
              <a:lnSpc>
                <a:spcPct val="145000"/>
              </a:lnSpc>
              <a:spcBef>
                <a:spcPct val="50000"/>
              </a:spcBef>
            </a:pPr>
            <a:r>
              <a:rPr lang="zh-CN" altLang="en-US" sz="2400">
                <a:latin typeface="Times New Roman" panose="02020603050405020304" pitchFamily="18" charset="0"/>
              </a:rPr>
              <a:t>        </a:t>
            </a:r>
            <a:r>
              <a:rPr lang="en-US" altLang="zh-CN" sz="2400">
                <a:latin typeface="Times New Roman" panose="02020603050405020304" pitchFamily="18" charset="0"/>
              </a:rPr>
              <a:t>(2) redo</a:t>
            </a:r>
            <a:r>
              <a:rPr lang="zh-CN" altLang="en-US" sz="2400">
                <a:latin typeface="Times New Roman" panose="02020603050405020304" pitchFamily="18" charset="0"/>
              </a:rPr>
              <a:t>〈</a:t>
            </a:r>
            <a:r>
              <a:rPr lang="en-US" altLang="zh-CN" sz="2400">
                <a:latin typeface="Times New Roman" panose="02020603050405020304" pitchFamily="18" charset="0"/>
              </a:rPr>
              <a:t>T</a:t>
            </a:r>
            <a:r>
              <a:rPr lang="en-US" altLang="zh-CN" sz="2400" baseline="-25000">
                <a:latin typeface="Times New Roman" panose="02020603050405020304" pitchFamily="18" charset="0"/>
              </a:rPr>
              <a:t>i</a:t>
            </a:r>
            <a:r>
              <a:rPr lang="zh-CN" altLang="en-US" sz="2400">
                <a:latin typeface="Times New Roman" panose="02020603050405020304" pitchFamily="18" charset="0"/>
              </a:rPr>
              <a:t>〉。该过程能把所有被事务</a:t>
            </a:r>
            <a:r>
              <a:rPr lang="en-US" altLang="zh-CN" sz="2400">
                <a:latin typeface="Times New Roman" panose="02020603050405020304" pitchFamily="18" charset="0"/>
              </a:rPr>
              <a:t>T</a:t>
            </a:r>
            <a:r>
              <a:rPr lang="en-US" altLang="zh-CN" sz="2400" baseline="-25000">
                <a:latin typeface="Times New Roman" panose="02020603050405020304" pitchFamily="18" charset="0"/>
              </a:rPr>
              <a:t>i</a:t>
            </a:r>
            <a:r>
              <a:rPr lang="zh-CN" altLang="en-US" sz="2400">
                <a:latin typeface="Times New Roman" panose="02020603050405020304" pitchFamily="18" charset="0"/>
              </a:rPr>
              <a:t>修改过的数据设置为新值。</a:t>
            </a:r>
            <a:endParaRPr lang="zh-CN" altLang="en-US" sz="2400">
              <a:latin typeface="Times New Roman" panose="02020603050405020304" pitchFamily="18" charset="0"/>
            </a:endParaRPr>
          </a:p>
          <a:p>
            <a:pPr>
              <a:lnSpc>
                <a:spcPct val="145000"/>
              </a:lnSpc>
              <a:spcBef>
                <a:spcPct val="50000"/>
              </a:spcBef>
            </a:pPr>
            <a:r>
              <a:rPr lang="zh-CN" altLang="en-US" sz="2400">
                <a:latin typeface="Times New Roman" panose="02020603050405020304" pitchFamily="18" charset="0"/>
              </a:rPr>
              <a:t>         如果系统发生故障， 系统应对以前所发生的事务进行清理。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文本框 128001"/>
          <p:cNvSpPr txBox="1">
            <a:spLocks noChangeArrowheads="1"/>
          </p:cNvSpPr>
          <p:nvPr/>
        </p:nvSpPr>
        <p:spPr bwMode="auto">
          <a:xfrm>
            <a:off x="1143000" y="787400"/>
            <a:ext cx="5378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800" b="1">
                <a:latin typeface="Times New Roman" panose="02020603050405020304" pitchFamily="18" charset="0"/>
              </a:rPr>
              <a:t>6.7.4 </a:t>
            </a:r>
            <a:r>
              <a:rPr lang="zh-CN" altLang="en-US" sz="2800" b="1">
                <a:latin typeface="Times New Roman" panose="02020603050405020304" pitchFamily="18" charset="0"/>
              </a:rPr>
              <a:t>重复数据的数据一致性问题 </a:t>
            </a:r>
            <a:endParaRPr lang="zh-CN" altLang="en-US" sz="2800" b="1">
              <a:latin typeface="Times New Roman" panose="02020603050405020304" pitchFamily="18" charset="0"/>
            </a:endParaRPr>
          </a:p>
        </p:txBody>
      </p:sp>
      <p:sp>
        <p:nvSpPr>
          <p:cNvPr id="87042" name="文本框 128002"/>
          <p:cNvSpPr txBox="1">
            <a:spLocks noChangeArrowheads="1"/>
          </p:cNvSpPr>
          <p:nvPr/>
        </p:nvSpPr>
        <p:spPr bwMode="auto">
          <a:xfrm>
            <a:off x="1219200" y="1600200"/>
            <a:ext cx="301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1. </a:t>
            </a:r>
            <a:r>
              <a:rPr lang="zh-CN" altLang="en-US" sz="2400" b="1">
                <a:latin typeface="Times New Roman" panose="02020603050405020304" pitchFamily="18" charset="0"/>
              </a:rPr>
              <a:t>重复文件的一致性 </a:t>
            </a:r>
            <a:endParaRPr lang="zh-CN" altLang="en-US" sz="2400" b="1">
              <a:latin typeface="Times New Roman" panose="02020603050405020304" pitchFamily="18" charset="0"/>
            </a:endParaRPr>
          </a:p>
        </p:txBody>
      </p:sp>
      <p:sp>
        <p:nvSpPr>
          <p:cNvPr id="87043" name="文本框 128003"/>
          <p:cNvSpPr txBox="1">
            <a:spLocks noChangeArrowheads="1"/>
          </p:cNvSpPr>
          <p:nvPr/>
        </p:nvSpPr>
        <p:spPr bwMode="auto">
          <a:xfrm>
            <a:off x="2895600" y="5867400"/>
            <a:ext cx="356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6-28 UNIX</a:t>
            </a:r>
            <a:r>
              <a:rPr lang="zh-CN" altLang="en-US" sz="2400">
                <a:latin typeface="Times New Roman" panose="02020603050405020304" pitchFamily="18" charset="0"/>
              </a:rPr>
              <a:t>类型的目录 </a:t>
            </a:r>
            <a:endParaRPr lang="zh-CN" altLang="en-US" sz="2400">
              <a:latin typeface="Times New Roman" panose="02020603050405020304" pitchFamily="18" charset="0"/>
            </a:endParaRPr>
          </a:p>
        </p:txBody>
      </p:sp>
      <p:pic>
        <p:nvPicPr>
          <p:cNvPr id="87044" name="图片 128004" descr="未标题-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2667000"/>
            <a:ext cx="8267700"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dir="ru"/>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文本框 129025"/>
          <p:cNvSpPr txBox="1">
            <a:spLocks noChangeArrowheads="1"/>
          </p:cNvSpPr>
          <p:nvPr/>
        </p:nvSpPr>
        <p:spPr bwMode="auto">
          <a:xfrm>
            <a:off x="914400" y="762000"/>
            <a:ext cx="333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2. </a:t>
            </a:r>
            <a:r>
              <a:rPr lang="zh-CN" altLang="en-US" sz="2400" b="1">
                <a:latin typeface="Times New Roman" panose="02020603050405020304" pitchFamily="18" charset="0"/>
              </a:rPr>
              <a:t>盘块号一致性的检查 </a:t>
            </a:r>
            <a:endParaRPr lang="zh-CN" altLang="en-US" sz="2400" b="1">
              <a:latin typeface="Times New Roman" panose="02020603050405020304" pitchFamily="18" charset="0"/>
            </a:endParaRPr>
          </a:p>
        </p:txBody>
      </p:sp>
      <p:sp>
        <p:nvSpPr>
          <p:cNvPr id="88066" name="文本框 129026"/>
          <p:cNvSpPr txBox="1">
            <a:spLocks noChangeArrowheads="1"/>
          </p:cNvSpPr>
          <p:nvPr/>
        </p:nvSpPr>
        <p:spPr bwMode="auto">
          <a:xfrm>
            <a:off x="2971800" y="6248400"/>
            <a:ext cx="432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6-29 </a:t>
            </a:r>
            <a:r>
              <a:rPr lang="zh-CN" altLang="en-US" sz="2400">
                <a:latin typeface="Times New Roman" panose="02020603050405020304" pitchFamily="18" charset="0"/>
              </a:rPr>
              <a:t>检查盘块号一致性情况 </a:t>
            </a:r>
            <a:endParaRPr lang="zh-CN" altLang="en-US" sz="2400">
              <a:latin typeface="Times New Roman" panose="02020603050405020304" pitchFamily="18" charset="0"/>
            </a:endParaRPr>
          </a:p>
        </p:txBody>
      </p:sp>
      <p:pic>
        <p:nvPicPr>
          <p:cNvPr id="88067" name="图片 129027" descr="未标题-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524000"/>
            <a:ext cx="9144000" cy="454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矩形 129028"/>
          <p:cNvSpPr>
            <a:spLocks noChangeArrowheads="1"/>
          </p:cNvSpPr>
          <p:nvPr/>
        </p:nvSpPr>
        <p:spPr bwMode="auto">
          <a:xfrm>
            <a:off x="3581400" y="4876800"/>
            <a:ext cx="228600" cy="8382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文本框 130049"/>
          <p:cNvSpPr txBox="1">
            <a:spLocks noChangeArrowheads="1"/>
          </p:cNvSpPr>
          <p:nvPr/>
        </p:nvSpPr>
        <p:spPr bwMode="auto">
          <a:xfrm>
            <a:off x="2971800" y="5943600"/>
            <a:ext cx="431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rPr>
              <a:t>图 </a:t>
            </a:r>
            <a:r>
              <a:rPr lang="en-US" altLang="zh-CN" sz="2400">
                <a:latin typeface="Times New Roman" panose="02020603050405020304" pitchFamily="18" charset="0"/>
              </a:rPr>
              <a:t>6-29 </a:t>
            </a:r>
            <a:r>
              <a:rPr lang="zh-CN" altLang="en-US" sz="2400">
                <a:latin typeface="Times New Roman" panose="02020603050405020304" pitchFamily="18" charset="0"/>
              </a:rPr>
              <a:t>检查盘块号一致性情况 </a:t>
            </a:r>
            <a:endParaRPr lang="zh-CN" altLang="en-US" sz="2400">
              <a:latin typeface="Times New Roman" panose="02020603050405020304" pitchFamily="18" charset="0"/>
            </a:endParaRPr>
          </a:p>
        </p:txBody>
      </p:sp>
      <p:pic>
        <p:nvPicPr>
          <p:cNvPr id="89090" name="图片 130050" descr="未标题-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143000"/>
            <a:ext cx="9144000" cy="447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矩形 130051"/>
          <p:cNvSpPr>
            <a:spLocks noChangeArrowheads="1"/>
          </p:cNvSpPr>
          <p:nvPr/>
        </p:nvSpPr>
        <p:spPr bwMode="auto">
          <a:xfrm>
            <a:off x="4267200" y="2057400"/>
            <a:ext cx="381000" cy="7620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89092" name="矩形 130052"/>
          <p:cNvSpPr>
            <a:spLocks noChangeArrowheads="1"/>
          </p:cNvSpPr>
          <p:nvPr/>
        </p:nvSpPr>
        <p:spPr bwMode="auto">
          <a:xfrm>
            <a:off x="4648200" y="4419600"/>
            <a:ext cx="304800" cy="762000"/>
          </a:xfrm>
          <a:prstGeom prst="rect">
            <a:avLst/>
          </a:prstGeom>
          <a:solidFill>
            <a:schemeClr val="accent1">
              <a:alpha val="0"/>
            </a:schemeClr>
          </a:solidFill>
          <a:ln w="38100">
            <a:solidFill>
              <a:srgbClr val="FF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文本框 131073"/>
          <p:cNvSpPr txBox="1">
            <a:spLocks noChangeArrowheads="1"/>
          </p:cNvSpPr>
          <p:nvPr/>
        </p:nvSpPr>
        <p:spPr bwMode="auto">
          <a:xfrm>
            <a:off x="1143000" y="838200"/>
            <a:ext cx="302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latin typeface="Times New Roman" panose="02020603050405020304" pitchFamily="18" charset="0"/>
              </a:rPr>
              <a:t>3. </a:t>
            </a:r>
            <a:r>
              <a:rPr lang="zh-CN" altLang="en-US" sz="2400" b="1">
                <a:latin typeface="Times New Roman" panose="02020603050405020304" pitchFamily="18" charset="0"/>
              </a:rPr>
              <a:t>链接数一致性检查 </a:t>
            </a:r>
            <a:endParaRPr lang="zh-CN" altLang="en-US" sz="2400" b="1">
              <a:latin typeface="Times New Roman" panose="02020603050405020304" pitchFamily="18" charset="0"/>
            </a:endParaRPr>
          </a:p>
        </p:txBody>
      </p:sp>
      <p:sp>
        <p:nvSpPr>
          <p:cNvPr id="90114" name="文本框 131074"/>
          <p:cNvSpPr txBox="1">
            <a:spLocks noChangeArrowheads="1"/>
          </p:cNvSpPr>
          <p:nvPr/>
        </p:nvSpPr>
        <p:spPr bwMode="auto">
          <a:xfrm>
            <a:off x="533400" y="1524000"/>
            <a:ext cx="8229600"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50000"/>
              </a:lnSpc>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为每个盘块建立一个表项，其中含有该索引结点号的计数值。 在进行检查时，从根目录开始查找，每当在目录中遇到该索引结点号时， 便在该计数器表中相应文件的表项上加</a:t>
            </a:r>
            <a:r>
              <a:rPr lang="en-US" altLang="zh-CN" sz="2400">
                <a:latin typeface="Times New Roman" panose="02020603050405020304" pitchFamily="18" charset="0"/>
              </a:rPr>
              <a:t>1</a:t>
            </a:r>
            <a:r>
              <a:rPr lang="zh-CN" altLang="en-US" sz="2400">
                <a:latin typeface="Times New Roman" panose="02020603050405020304" pitchFamily="18" charset="0"/>
              </a:rPr>
              <a:t>。当把所有目录都检查完后，便可将该计数器表中每个表项中的索引结点号计数值与该文件索引结点中的链接计数</a:t>
            </a:r>
            <a:r>
              <a:rPr lang="en-US" altLang="zh-CN" sz="2400">
                <a:latin typeface="Times New Roman" panose="02020603050405020304" pitchFamily="18" charset="0"/>
              </a:rPr>
              <a:t>count</a:t>
            </a:r>
            <a:r>
              <a:rPr lang="zh-CN" altLang="en-US" sz="2400">
                <a:latin typeface="Times New Roman" panose="02020603050405020304" pitchFamily="18" charset="0"/>
              </a:rPr>
              <a:t>值加以比较， 如果两者一致，表示是正确的；否则，便是发生了链接数据不一致的错误。 </a:t>
            </a:r>
            <a:endParaRPr lang="zh-CN" altLang="en-US" sz="2400">
              <a:latin typeface="Times New Roman" panose="02020603050405020304" pitchFamily="18" charset="0"/>
            </a:endParaRPr>
          </a:p>
        </p:txBody>
      </p:sp>
    </p:spTree>
  </p:cSld>
  <p:clrMapOvr>
    <a:masterClrMapping/>
  </p:clrMapOvr>
  <p:transition spd="slow">
    <p:pull dir="ru"/>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文本框 132097"/>
          <p:cNvSpPr txBox="1">
            <a:spLocks noChangeArrowheads="1"/>
          </p:cNvSpPr>
          <p:nvPr/>
        </p:nvSpPr>
        <p:spPr bwMode="auto">
          <a:xfrm>
            <a:off x="304800" y="457200"/>
            <a:ext cx="8534400" cy="616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115000"/>
              </a:lnSpc>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如果索引结点中的链接计数</a:t>
            </a:r>
            <a:r>
              <a:rPr lang="en-US" altLang="zh-CN" sz="2400">
                <a:latin typeface="Times New Roman" panose="02020603050405020304" pitchFamily="18" charset="0"/>
              </a:rPr>
              <a:t>count</a:t>
            </a:r>
            <a:r>
              <a:rPr lang="zh-CN" altLang="en-US" sz="2400">
                <a:latin typeface="Times New Roman" panose="02020603050405020304" pitchFamily="18" charset="0"/>
              </a:rPr>
              <a:t>值大于计数器表中相应索引结点号的计数值，则即使在所有共享此文件的用户都不再使用此文件时，其</a:t>
            </a:r>
            <a:r>
              <a:rPr lang="en-US" altLang="zh-CN" sz="2400">
                <a:latin typeface="Times New Roman" panose="02020603050405020304" pitchFamily="18" charset="0"/>
              </a:rPr>
              <a:t>count</a:t>
            </a:r>
            <a:r>
              <a:rPr lang="zh-CN" altLang="en-US" sz="2400">
                <a:latin typeface="Times New Roman" panose="02020603050405020304" pitchFamily="18" charset="0"/>
              </a:rPr>
              <a:t>值仍不为</a:t>
            </a:r>
            <a:r>
              <a:rPr lang="en-US" altLang="zh-CN" sz="2400">
                <a:latin typeface="Times New Roman" panose="02020603050405020304" pitchFamily="18" charset="0"/>
              </a:rPr>
              <a:t>0</a:t>
            </a:r>
            <a:r>
              <a:rPr lang="zh-CN" altLang="en-US" sz="2400">
                <a:latin typeface="Times New Roman" panose="02020603050405020304" pitchFamily="18" charset="0"/>
              </a:rPr>
              <a:t>，因而该文件不会被删除。这种错误的后果是使一些已无用户需要的文件仍驻留在磁盘上，浪费了存储空间。解决的方法是用计数器表中的正确的计数值去为</a:t>
            </a:r>
            <a:r>
              <a:rPr lang="en-US" altLang="zh-CN" sz="2400">
                <a:latin typeface="Times New Roman" panose="02020603050405020304" pitchFamily="18" charset="0"/>
              </a:rPr>
              <a:t>count</a:t>
            </a:r>
            <a:r>
              <a:rPr lang="zh-CN" altLang="en-US" sz="2400">
                <a:latin typeface="Times New Roman" panose="02020603050405020304" pitchFamily="18" charset="0"/>
              </a:rPr>
              <a:t>重新赋值。</a:t>
            </a:r>
            <a:endParaRPr lang="zh-CN" altLang="en-US" sz="2400">
              <a:latin typeface="Times New Roman" panose="02020603050405020304" pitchFamily="18" charset="0"/>
            </a:endParaRPr>
          </a:p>
          <a:p>
            <a:pPr algn="just">
              <a:lnSpc>
                <a:spcPct val="115000"/>
              </a:lnSpc>
              <a:spcBef>
                <a:spcPct val="50000"/>
              </a:spcBef>
            </a:pPr>
            <a:r>
              <a:rPr lang="zh-CN" altLang="en-US" sz="2400">
                <a:latin typeface="Times New Roman" panose="02020603050405020304" pitchFamily="18" charset="0"/>
              </a:rPr>
              <a:t>        反之，如果出现</a:t>
            </a:r>
            <a:r>
              <a:rPr lang="en-US" altLang="zh-CN" sz="2400">
                <a:latin typeface="Times New Roman" panose="02020603050405020304" pitchFamily="18" charset="0"/>
              </a:rPr>
              <a:t>count</a:t>
            </a:r>
            <a:r>
              <a:rPr lang="zh-CN" altLang="en-US" sz="2400">
                <a:latin typeface="Times New Roman" panose="02020603050405020304" pitchFamily="18" charset="0"/>
              </a:rPr>
              <a:t>值小于计数器表中索引结点号计数值的情况时，就有潜在的危险。假如有两个用户共享一个文件，但是</a:t>
            </a:r>
            <a:r>
              <a:rPr lang="en-US" altLang="zh-CN" sz="2400">
                <a:latin typeface="Times New Roman" panose="02020603050405020304" pitchFamily="18" charset="0"/>
              </a:rPr>
              <a:t>count</a:t>
            </a:r>
            <a:r>
              <a:rPr lang="zh-CN" altLang="en-US" sz="2400">
                <a:latin typeface="Times New Roman" panose="02020603050405020304" pitchFamily="18" charset="0"/>
              </a:rPr>
              <a:t>值仍为</a:t>
            </a:r>
            <a:r>
              <a:rPr lang="en-US" altLang="zh-CN" sz="2400">
                <a:latin typeface="Times New Roman" panose="02020603050405020304" pitchFamily="18" charset="0"/>
              </a:rPr>
              <a:t>1</a:t>
            </a:r>
            <a:r>
              <a:rPr lang="zh-CN" altLang="en-US" sz="2400">
                <a:latin typeface="Times New Roman" panose="02020603050405020304" pitchFamily="18" charset="0"/>
              </a:rPr>
              <a:t>， 这样， 只要其中有一个用户不再需要此文件时， </a:t>
            </a:r>
            <a:r>
              <a:rPr lang="en-US" altLang="zh-CN" sz="2400">
                <a:latin typeface="Times New Roman" panose="02020603050405020304" pitchFamily="18" charset="0"/>
              </a:rPr>
              <a:t>count</a:t>
            </a:r>
            <a:r>
              <a:rPr lang="zh-CN" altLang="en-US" sz="2400">
                <a:latin typeface="Times New Roman" panose="02020603050405020304" pitchFamily="18" charset="0"/>
              </a:rPr>
              <a:t>值就会减为</a:t>
            </a:r>
            <a:r>
              <a:rPr lang="en-US" altLang="zh-CN" sz="2400">
                <a:latin typeface="Times New Roman" panose="02020603050405020304" pitchFamily="18" charset="0"/>
              </a:rPr>
              <a:t>0</a:t>
            </a:r>
            <a:r>
              <a:rPr lang="zh-CN" altLang="en-US" sz="2400">
                <a:latin typeface="Times New Roman" panose="02020603050405020304" pitchFamily="18" charset="0"/>
              </a:rPr>
              <a:t>，从而使系统将此文件删除， 并释放其索引结点及文件所占用的盘块，导致另一共享此文件的用户所对应的目录项，指向了一个空索引结点，最终是使该用户再无法访问此文件。如果该索引结点很快又被分配给其它文件，则又会带来潜在的危险。 解决的方法是将</a:t>
            </a:r>
            <a:r>
              <a:rPr lang="en-US" altLang="zh-CN" sz="2400">
                <a:latin typeface="Times New Roman" panose="02020603050405020304" pitchFamily="18" charset="0"/>
              </a:rPr>
              <a:t>count</a:t>
            </a:r>
            <a:r>
              <a:rPr lang="zh-CN" altLang="en-US" sz="2400">
                <a:latin typeface="Times New Roman" panose="02020603050405020304" pitchFamily="18" charset="0"/>
              </a:rPr>
              <a:t>值置为正确值。 </a:t>
            </a:r>
            <a:endParaRPr lang="zh-CN" altLang="en-US" sz="2400">
              <a:latin typeface="Times New Roman" panose="02020603050405020304" pitchFamily="18" charset="0"/>
            </a:endParaRPr>
          </a:p>
        </p:txBody>
      </p:sp>
      <p:sp>
        <p:nvSpPr>
          <p:cNvPr id="91138" name="动作按钮: 后退或前一项 132098">
            <a:hlinkClick r:id="" action="ppaction://hlinkshowjump?jump=firstslide" highlightClick="1"/>
          </p:cNvPr>
          <p:cNvSpPr>
            <a:spLocks noChangeArrowheads="1"/>
          </p:cNvSpPr>
          <p:nvPr/>
        </p:nvSpPr>
        <p:spPr bwMode="auto">
          <a:xfrm>
            <a:off x="8382000" y="6394450"/>
            <a:ext cx="762000" cy="457200"/>
          </a:xfrm>
          <a:prstGeom prst="actionButtonBackPrevious">
            <a:avLst/>
          </a:prstGeom>
          <a:solidFill>
            <a:schemeClr val="accent1"/>
          </a:solidFill>
          <a:ln w="9525">
            <a:solidFill>
              <a:schemeClr val="tx1"/>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ransition spd="slow">
    <p:pull dir="ru"/>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191" y="858441"/>
          <a:ext cx="1191" cy="1191"/>
        </p:xfrm>
        <a:graphic>
          <a:graphicData uri="http://schemas.openxmlformats.org/presentationml/2006/ole">
            <mc:AlternateContent xmlns:mc="http://schemas.openxmlformats.org/markup-compatibility/2006">
              <mc:Choice xmlns:v="urn:schemas-microsoft-com:vml" Requires="v">
                <p:oleObj spid="_x0000_s2102" name="think-cell Slide" r:id="rId2" imgW="9525" imgH="9525" progId="TCLayout.ActiveDocument.1">
                  <p:embed/>
                </p:oleObj>
              </mc:Choice>
              <mc:Fallback>
                <p:oleObj name="think-cell Slide" r:id="rId2" imgW="9525" imgH="9525" progId="TCLayout.ActiveDocument.1">
                  <p:embed/>
                  <p:pic>
                    <p:nvPicPr>
                      <p:cNvPr id="0" name="对象 2" hidden="1"/>
                      <p:cNvPicPr/>
                      <p:nvPr/>
                    </p:nvPicPr>
                    <p:blipFill>
                      <a:blip r:embed="rId3"/>
                      <a:stretch>
                        <a:fillRect/>
                      </a:stretch>
                    </p:blipFill>
                    <p:spPr>
                      <a:xfrm>
                        <a:off x="1191" y="858441"/>
                        <a:ext cx="1191" cy="1191"/>
                      </a:xfrm>
                      <a:prstGeom prst="rect">
                        <a:avLst/>
                      </a:prstGeom>
                    </p:spPr>
                  </p:pic>
                </p:oleObj>
              </mc:Fallback>
            </mc:AlternateContent>
          </a:graphicData>
        </a:graphic>
      </p:graphicFrame>
      <p:sp>
        <p:nvSpPr>
          <p:cNvPr id="2" name="矩形 1" hidden="1"/>
          <p:cNvSpPr/>
          <p:nvPr>
            <p:custDataLst>
              <p:tags r:id="rId4"/>
            </p:custDataLst>
          </p:nvPr>
        </p:nvSpPr>
        <p:spPr>
          <a:xfrm>
            <a:off x="0" y="857250"/>
            <a:ext cx="119063" cy="11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3000" b="1" dirty="0">
              <a:cs typeface="+mn-ea"/>
              <a:sym typeface="+mn-lt"/>
            </a:endParaRPr>
          </a:p>
        </p:txBody>
      </p:sp>
      <p:sp>
        <p:nvSpPr>
          <p:cNvPr id="4" name="标题 3"/>
          <p:cNvSpPr>
            <a:spLocks noGrp="1"/>
          </p:cNvSpPr>
          <p:nvPr>
            <p:ph type="ctrTitle"/>
          </p:nvPr>
        </p:nvSpPr>
        <p:spPr>
          <a:xfrm>
            <a:off x="502444" y="1846841"/>
            <a:ext cx="8137922" cy="2352675"/>
          </a:xfrm>
        </p:spPr>
        <p:txBody>
          <a:bodyPr>
            <a:normAutofit/>
          </a:bodyPr>
          <a:lstStyle/>
          <a:p>
            <a:r>
              <a:rPr lang="zh-CN" altLang="en-US" sz="3600" dirty="0">
                <a:latin typeface="+mn-lt"/>
                <a:ea typeface="+mn-ea"/>
                <a:cs typeface="+mn-ea"/>
                <a:sym typeface="+mn-lt"/>
              </a:rPr>
              <a:t>第</a:t>
            </a:r>
            <a:r>
              <a:rPr lang="zh-CN" altLang="en-US" sz="3600" dirty="0">
                <a:latin typeface="Arial" panose="020B0604020202020204" pitchFamily="34" charset="0"/>
                <a:ea typeface="+mn-ea"/>
                <a:cs typeface="Arial" panose="020B0604020202020204" pitchFamily="34" charset="0"/>
                <a:sym typeface="+mn-lt"/>
              </a:rPr>
              <a:t>6</a:t>
            </a:r>
            <a:r>
              <a:rPr lang="zh-CN" altLang="en-US" sz="3600" dirty="0">
                <a:latin typeface="+mn-lt"/>
                <a:ea typeface="+mn-ea"/>
                <a:cs typeface="+mn-ea"/>
                <a:sym typeface="+mn-lt"/>
              </a:rPr>
              <a:t>章 虚拟存储器</a:t>
            </a:r>
            <a:endParaRPr lang="zh-CN" altLang="en-US" sz="1500" b="0" dirty="0">
              <a:latin typeface="+mn-lt"/>
              <a:ea typeface="+mn-ea"/>
              <a:cs typeface="+mn-ea"/>
              <a:sym typeface="+mn-lt"/>
            </a:endParaRPr>
          </a:p>
        </p:txBody>
      </p:sp>
      <p:sp>
        <p:nvSpPr>
          <p:cNvPr id="29" name="任意多边形: 形状 28"/>
          <p:cNvSpPr/>
          <p:nvPr/>
        </p:nvSpPr>
        <p:spPr>
          <a:xfrm>
            <a:off x="8226219" y="1344035"/>
            <a:ext cx="414147" cy="2922156"/>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458389" y="1223962"/>
            <a:ext cx="473870" cy="473870"/>
          </a:xfrm>
          <a:prstGeom prst="rect">
            <a:avLst/>
          </a:prstGeom>
        </p:spPr>
      </p:pic>
      <p:sp>
        <p:nvSpPr>
          <p:cNvPr id="11" name="矩形 10"/>
          <p:cNvSpPr/>
          <p:nvPr/>
        </p:nvSpPr>
        <p:spPr>
          <a:xfrm>
            <a:off x="906771" y="1299314"/>
            <a:ext cx="3575018" cy="346249"/>
          </a:xfrm>
          <a:prstGeom prst="rect">
            <a:avLst/>
          </a:prstGeom>
        </p:spPr>
        <p:txBody>
          <a:bodyPr wrap="none">
            <a:spAutoFit/>
          </a:bodyPr>
          <a:lstStyle/>
          <a:p>
            <a:pPr algn="ctr"/>
            <a:r>
              <a:rPr lang="zh-CN" altLang="en-US" sz="1650" dirty="0">
                <a:solidFill>
                  <a:schemeClr val="bg1"/>
                </a:solidFill>
                <a:cs typeface="+mn-ea"/>
                <a:sym typeface="+mn-lt"/>
              </a:rPr>
              <a:t>经典教材《计算机操作系统》</a:t>
            </a:r>
            <a:r>
              <a:rPr lang="zh-CN" altLang="en-US" sz="1650" b="1" dirty="0">
                <a:solidFill>
                  <a:schemeClr val="accent2"/>
                </a:solidFill>
                <a:cs typeface="+mn-ea"/>
                <a:sym typeface="+mn-lt"/>
              </a:rPr>
              <a:t>最新版</a:t>
            </a:r>
            <a:endParaRPr lang="zh-CN" altLang="en-US" sz="1650" b="1" dirty="0">
              <a:solidFill>
                <a:schemeClr val="accent2"/>
              </a:solidFill>
              <a:cs typeface="+mn-ea"/>
              <a:sym typeface="+mn-lt"/>
            </a:endParaRPr>
          </a:p>
        </p:txBody>
      </p:sp>
      <p:sp>
        <p:nvSpPr>
          <p:cNvPr id="17" name="矩形: 圆角 21"/>
          <p:cNvSpPr/>
          <p:nvPr/>
        </p:nvSpPr>
        <p:spPr>
          <a:xfrm>
            <a:off x="600074" y="4291835"/>
            <a:ext cx="3176655" cy="344454"/>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主讲教师：</a:t>
            </a:r>
            <a:endParaRPr lang="en-US" altLang="zh-CN" b="1" dirty="0">
              <a:solidFill>
                <a:schemeClr val="tx1"/>
              </a:solidFill>
              <a:cs typeface="+mn-ea"/>
              <a:sym typeface="+mn-lt"/>
            </a:endParaRPr>
          </a:p>
        </p:txBody>
      </p:sp>
      <p:pic>
        <p:nvPicPr>
          <p:cNvPr id="12" name="图片 11"/>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7263091" y="5352040"/>
            <a:ext cx="1555868" cy="323849"/>
          </a:xfrm>
          <a:prstGeom prst="rect">
            <a:avLst/>
          </a:prstGeom>
        </p:spPr>
      </p:pic>
      <p:pic>
        <p:nvPicPr>
          <p:cNvPr id="14" name="图片 13"/>
          <p:cNvPicPr>
            <a:picLocks noChangeAspect="1"/>
          </p:cNvPicPr>
          <p:nvPr/>
        </p:nvPicPr>
        <p:blipFill>
          <a:blip r:embed="rId7"/>
          <a:stretch>
            <a:fillRect/>
          </a:stretch>
        </p:blipFill>
        <p:spPr>
          <a:xfrm>
            <a:off x="5291325" y="1490844"/>
            <a:ext cx="2255322" cy="3196156"/>
          </a:xfrm>
          <a:prstGeom prst="rect">
            <a:avLst/>
          </a:prstGeom>
        </p:spPr>
      </p:pic>
      <p:sp>
        <p:nvSpPr>
          <p:cNvPr id="6" name="矩形 5"/>
          <p:cNvSpPr/>
          <p:nvPr/>
        </p:nvSpPr>
        <p:spPr>
          <a:xfrm>
            <a:off x="700088" y="4632960"/>
            <a:ext cx="4591526" cy="420693"/>
          </a:xfrm>
          <a:prstGeom prst="rect">
            <a:avLst/>
          </a:prstGeom>
        </p:spPr>
        <p:txBody>
          <a:bodyPr wrap="square">
            <a:spAutoFit/>
          </a:bodyPr>
          <a:lstStyle/>
          <a:p>
            <a:pPr algn="l">
              <a:lnSpc>
                <a:spcPct val="132000"/>
              </a:lnSpc>
            </a:pPr>
            <a:endParaRPr lang="en-US" altLang="zh-CN" dirty="0">
              <a:solidFill>
                <a:srgbClr val="0000FF"/>
              </a:solidFill>
              <a:latin typeface="Times New Roman" panose="02020603050405020304" pitchFamily="18" charset="0"/>
              <a:ea typeface="微软雅黑" panose="020B0503020204020204" charset="-122"/>
              <a:cs typeface="+mn-ea"/>
              <a:sym typeface="Times New Roman" panose="02020603050405020304" pitchFamily="18" charset="0"/>
            </a:endParaRPr>
          </a:p>
        </p:txBody>
      </p:sp>
    </p:spTree>
  </p:cSld>
  <p:clrMapOvr>
    <a:masterClrMapping/>
  </p:clrMapOvr>
  <p:transition spd="slow">
    <p:pull dir="ru"/>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578644" y="1050622"/>
            <a:ext cx="1959191" cy="415498"/>
          </a:xfrm>
          <a:prstGeom prst="rect">
            <a:avLst/>
          </a:prstGeom>
        </p:spPr>
        <p:txBody>
          <a:bodyPr wrap="none">
            <a:spAutoFit/>
          </a:bodyPr>
          <a:lstStyle/>
          <a:p>
            <a:r>
              <a:rPr lang="zh-CN" altLang="en-US" sz="2100" b="1" dirty="0">
                <a:solidFill>
                  <a:schemeClr val="bg1"/>
                </a:solidFill>
                <a:cs typeface="+mn-ea"/>
                <a:sym typeface="+mn-lt"/>
              </a:rPr>
              <a:t>第</a:t>
            </a:r>
            <a:r>
              <a:rPr lang="en-US" altLang="zh-CN" sz="2100" b="1" dirty="0">
                <a:solidFill>
                  <a:schemeClr val="bg1"/>
                </a:solidFill>
                <a:cs typeface="+mn-ea"/>
                <a:sym typeface="+mn-lt"/>
              </a:rPr>
              <a:t>6</a:t>
            </a:r>
            <a:r>
              <a:rPr lang="zh-CN" altLang="en-US" sz="2100" b="1" dirty="0">
                <a:solidFill>
                  <a:schemeClr val="bg1"/>
                </a:solidFill>
                <a:cs typeface="+mn-ea"/>
                <a:sym typeface="+mn-lt"/>
              </a:rPr>
              <a:t>章知识导图</a:t>
            </a:r>
            <a:endParaRPr lang="zh-CN" altLang="en-US" sz="2100" b="1" dirty="0">
              <a:solidFill>
                <a:schemeClr val="bg1"/>
              </a:solidFill>
              <a:cs typeface="+mn-ea"/>
              <a:sym typeface="+mn-lt"/>
            </a:endParaRPr>
          </a:p>
        </p:txBody>
      </p:sp>
      <p:graphicFrame>
        <p:nvGraphicFramePr>
          <p:cNvPr id="30" name="表格 29"/>
          <p:cNvGraphicFramePr/>
          <p:nvPr>
            <p:custDataLst>
              <p:tags r:id="rId1"/>
            </p:custDataLst>
          </p:nvPr>
        </p:nvGraphicFramePr>
        <p:xfrm>
          <a:off x="346824" y="2082903"/>
          <a:ext cx="3130472" cy="3592092"/>
        </p:xfrm>
        <a:graphic>
          <a:graphicData uri="http://schemas.openxmlformats.org/drawingml/2006/table">
            <a:tbl>
              <a:tblPr firstRow="1" bandRow="1">
                <a:tableStyleId>{72833802-FEF1-4C79-8D5D-14CF1EAF98D9}</a:tableStyleId>
              </a:tblPr>
              <a:tblGrid>
                <a:gridCol w="915779"/>
                <a:gridCol w="2214693"/>
              </a:tblGrid>
              <a:tr h="299341">
                <a:tc>
                  <a:txBody>
                    <a:bodyPr/>
                    <a:lstStyle/>
                    <a:p>
                      <a:pPr marL="71755" indent="0" algn="ctr">
                        <a:lnSpc>
                          <a:spcPct val="100000"/>
                        </a:lnSpc>
                        <a:spcBef>
                          <a:spcPts val="300"/>
                        </a:spcBef>
                        <a:spcAft>
                          <a:spcPts val="300"/>
                        </a:spcAft>
                        <a:buNone/>
                      </a:pPr>
                      <a:r>
                        <a:rPr lang="en-US" sz="1500" b="0" dirty="0">
                          <a:solidFill>
                            <a:schemeClr val="tx1"/>
                          </a:solidFill>
                          <a:latin typeface="+mn-lt"/>
                          <a:ea typeface="+mn-ea"/>
                          <a:cs typeface="+mn-ea"/>
                          <a:sym typeface="+mn-lt"/>
                        </a:rPr>
                        <a:t>第1章</a:t>
                      </a:r>
                      <a:endParaRPr lang="en-US" altLang="en-US" sz="1500" b="0" dirty="0">
                        <a:solidFill>
                          <a:schemeClr val="tx1"/>
                        </a:solidFill>
                        <a:latin typeface="+mn-lt"/>
                        <a:ea typeface="+mn-ea"/>
                        <a:cs typeface="+mn-ea"/>
                        <a:sym typeface="+mn-lt"/>
                      </a:endParaRPr>
                    </a:p>
                  </a:txBody>
                  <a:tcPr marL="74054" marR="74054" marT="0" marB="0" anchor="ctr">
                    <a:noFill/>
                  </a:tcPr>
                </a:tc>
                <a:tc>
                  <a:txBody>
                    <a:bodyPr/>
                    <a:lstStyle/>
                    <a:p>
                      <a:pPr marL="71755" indent="0" algn="l">
                        <a:lnSpc>
                          <a:spcPct val="100000"/>
                        </a:lnSpc>
                        <a:spcBef>
                          <a:spcPts val="300"/>
                        </a:spcBef>
                        <a:spcAft>
                          <a:spcPts val="300"/>
                        </a:spcAft>
                        <a:buNone/>
                      </a:pPr>
                      <a:r>
                        <a:rPr lang="en-US" sz="1500" b="0" dirty="0" err="1">
                          <a:solidFill>
                            <a:schemeClr val="tx1"/>
                          </a:solidFill>
                          <a:latin typeface="+mn-lt"/>
                          <a:ea typeface="+mn-ea"/>
                          <a:cs typeface="+mn-ea"/>
                          <a:sym typeface="+mn-lt"/>
                        </a:rPr>
                        <a:t>操作系统引论</a:t>
                      </a:r>
                      <a:endParaRPr lang="en-US" altLang="en-US" sz="1500" b="0" dirty="0">
                        <a:solidFill>
                          <a:schemeClr val="tx1"/>
                        </a:solidFill>
                        <a:latin typeface="+mn-lt"/>
                        <a:ea typeface="+mn-ea"/>
                        <a:cs typeface="+mn-ea"/>
                        <a:sym typeface="+mn-lt"/>
                      </a:endParaRPr>
                    </a:p>
                  </a:txBody>
                  <a:tcPr marL="74054" marR="74054" marT="0" marB="0" anchor="ctr">
                    <a:noFill/>
                  </a:tcP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第2章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进程的描述与控制</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dirty="0">
                          <a:latin typeface="+mn-lt"/>
                          <a:ea typeface="+mn-ea"/>
                          <a:cs typeface="+mn-ea"/>
                          <a:sym typeface="+mn-lt"/>
                        </a:rPr>
                        <a:t>第3章</a:t>
                      </a:r>
                      <a:endParaRPr lang="en-US" altLang="en-US" sz="1500" b="0" dirty="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处理机调度与死锁</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dirty="0">
                          <a:latin typeface="+mn-lt"/>
                          <a:ea typeface="+mn-ea"/>
                          <a:cs typeface="+mn-ea"/>
                          <a:sym typeface="+mn-lt"/>
                        </a:rPr>
                        <a:t>第4章</a:t>
                      </a:r>
                      <a:endParaRPr lang="en-US" altLang="en-US" sz="1500" b="0" dirty="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进程同步</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第5章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存储器管理</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b="1" dirty="0">
                          <a:solidFill>
                            <a:schemeClr val="bg1"/>
                          </a:solidFill>
                          <a:latin typeface="+mn-lt"/>
                          <a:ea typeface="+mn-ea"/>
                          <a:cs typeface="+mn-ea"/>
                          <a:sym typeface="+mn-lt"/>
                        </a:rPr>
                        <a:t>第6章</a:t>
                      </a:r>
                      <a:endParaRPr lang="en-US" altLang="en-US" sz="1500" b="1" dirty="0">
                        <a:solidFill>
                          <a:schemeClr val="bg1"/>
                        </a:solidFill>
                        <a:latin typeface="+mn-lt"/>
                        <a:ea typeface="+mn-ea"/>
                        <a:cs typeface="+mn-ea"/>
                        <a:sym typeface="+mn-lt"/>
                      </a:endParaRPr>
                    </a:p>
                  </a:txBody>
                  <a:tcPr marL="74054" marR="74054" marT="0" marB="0" anchor="ctr">
                    <a:solidFill>
                      <a:schemeClr val="accent2"/>
                    </a:solidFill>
                  </a:tcPr>
                </a:tc>
                <a:tc>
                  <a:txBody>
                    <a:bodyPr/>
                    <a:lstStyle/>
                    <a:p>
                      <a:pPr marL="71755" indent="0" algn="l">
                        <a:lnSpc>
                          <a:spcPct val="100000"/>
                        </a:lnSpc>
                        <a:spcBef>
                          <a:spcPts val="300"/>
                        </a:spcBef>
                        <a:spcAft>
                          <a:spcPts val="300"/>
                        </a:spcAft>
                        <a:buNone/>
                      </a:pPr>
                      <a:r>
                        <a:rPr lang="en-US" sz="1500" b="1" dirty="0" err="1">
                          <a:solidFill>
                            <a:schemeClr val="bg1"/>
                          </a:solidFill>
                          <a:latin typeface="+mn-lt"/>
                          <a:ea typeface="+mn-ea"/>
                          <a:cs typeface="+mn-ea"/>
                          <a:sym typeface="+mn-lt"/>
                        </a:rPr>
                        <a:t>虚拟存储器</a:t>
                      </a:r>
                      <a:endParaRPr lang="en-US" altLang="en-US" sz="1500" b="1" dirty="0">
                        <a:solidFill>
                          <a:schemeClr val="bg1"/>
                        </a:solidFill>
                        <a:latin typeface="+mn-lt"/>
                        <a:ea typeface="+mn-ea"/>
                        <a:cs typeface="+mn-ea"/>
                        <a:sym typeface="+mn-lt"/>
                      </a:endParaRPr>
                    </a:p>
                  </a:txBody>
                  <a:tcPr marL="74054" marR="74054" marT="0" marB="0" anchor="ctr">
                    <a:solidFill>
                      <a:schemeClr val="accent2"/>
                    </a:solidFill>
                  </a:tcP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第7章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输入</a:t>
                      </a:r>
                      <a:r>
                        <a:rPr lang="en-US" sz="1500" dirty="0">
                          <a:latin typeface="+mn-lt"/>
                          <a:ea typeface="+mn-ea"/>
                          <a:cs typeface="+mn-ea"/>
                          <a:sym typeface="+mn-lt"/>
                        </a:rPr>
                        <a:t>/</a:t>
                      </a:r>
                      <a:r>
                        <a:rPr lang="en-US" sz="1500" dirty="0" err="1">
                          <a:latin typeface="+mn-lt"/>
                          <a:ea typeface="+mn-ea"/>
                          <a:cs typeface="+mn-ea"/>
                          <a:sym typeface="+mn-lt"/>
                        </a:rPr>
                        <a:t>输出系统</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第8章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文件管理</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第9章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磁盘存储器管理</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第10章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多处理机操作系统</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第11章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虚拟化和云计算</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第12章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保护和安全</a:t>
                      </a:r>
                      <a:endParaRPr lang="en-US" altLang="en-US" sz="1500" b="0" dirty="0">
                        <a:solidFill>
                          <a:srgbClr val="000000"/>
                        </a:solidFill>
                        <a:latin typeface="+mn-lt"/>
                        <a:ea typeface="+mn-ea"/>
                        <a:cs typeface="+mn-ea"/>
                        <a:sym typeface="+mn-lt"/>
                      </a:endParaRPr>
                    </a:p>
                  </a:txBody>
                  <a:tcPr marL="74054" marR="74054" marT="0" marB="0" anchor="ctr"/>
                </a:tc>
              </a:tr>
            </a:tbl>
          </a:graphicData>
        </a:graphic>
      </p:graphicFrame>
      <p:sp>
        <p:nvSpPr>
          <p:cNvPr id="8" name="任意多边形: 形状 7"/>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2" name="图片 1" descr="第6章 知识导图"/>
          <p:cNvPicPr>
            <a:picLocks noChangeAspect="1"/>
          </p:cNvPicPr>
          <p:nvPr/>
        </p:nvPicPr>
        <p:blipFill>
          <a:blip r:embed="rId3"/>
          <a:stretch>
            <a:fillRect/>
          </a:stretch>
        </p:blipFill>
        <p:spPr>
          <a:xfrm>
            <a:off x="3516154" y="2145982"/>
            <a:ext cx="5599271" cy="3378518"/>
          </a:xfrm>
          <a:prstGeom prst="rect">
            <a:avLst/>
          </a:prstGeom>
        </p:spPr>
      </p:pic>
    </p:spTree>
  </p:cSld>
  <p:clrMapOvr>
    <a:masterClrMapping/>
  </p:clrMapOvr>
  <p:transition spd="slow">
    <p:pull dir="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第6章 知识导图"/>
          <p:cNvPicPr>
            <a:picLocks noChangeAspect="1"/>
          </p:cNvPicPr>
          <p:nvPr/>
        </p:nvPicPr>
        <p:blipFill>
          <a:blip r:embed="rId1"/>
          <a:stretch>
            <a:fillRect/>
          </a:stretch>
        </p:blipFill>
        <p:spPr>
          <a:xfrm>
            <a:off x="76200" y="609600"/>
            <a:ext cx="9023350" cy="5445760"/>
          </a:xfrm>
          <a:prstGeom prst="rect">
            <a:avLst/>
          </a:prstGeom>
        </p:spPr>
      </p:pic>
    </p:spTree>
  </p:cSld>
  <p:clrMapOvr>
    <a:masterClrMapping/>
  </p:clrMapOvr>
  <p:transition spd="slow">
    <p:pull dir="ru"/>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cs typeface="+mn-ea"/>
                <a:sym typeface="+mn-lt"/>
              </a:rPr>
              <a:t>Date</a:t>
            </a:r>
            <a:endParaRPr lang="zh-CN" altLang="en-US" sz="1125" dirty="0">
              <a:cs typeface="+mn-ea"/>
              <a:sym typeface="+mn-lt"/>
            </a:endParaRPr>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cs typeface="+mn-ea"/>
                <a:sym typeface="+mn-lt"/>
              </a:rPr>
              <a:t>内容导航：</a:t>
            </a:r>
            <a:endParaRPr lang="zh-CN" altLang="en-US" sz="2100" b="1" dirty="0">
              <a:solidFill>
                <a:schemeClr val="bg1"/>
              </a:solidFill>
              <a:cs typeface="+mn-ea"/>
              <a:sym typeface="+mn-lt"/>
            </a:endParaRPr>
          </a:p>
        </p:txBody>
      </p:sp>
      <p:sp>
        <p:nvSpPr>
          <p:cNvPr id="22" name="矩形 21"/>
          <p:cNvSpPr/>
          <p:nvPr/>
        </p:nvSpPr>
        <p:spPr>
          <a:xfrm>
            <a:off x="1272352" y="2160374"/>
            <a:ext cx="3375110" cy="369332"/>
          </a:xfrm>
          <a:prstGeom prst="rect">
            <a:avLst/>
          </a:prstGeom>
        </p:spPr>
        <p:txBody>
          <a:bodyPr wrap="square">
            <a:spAutoFit/>
          </a:bodyPr>
          <a:lstStyle/>
          <a:p>
            <a:r>
              <a:rPr lang="en-US" altLang="zh-CN" b="1" dirty="0">
                <a:solidFill>
                  <a:srgbClr val="0000FF"/>
                </a:solidFill>
                <a:cs typeface="+mn-ea"/>
                <a:sym typeface="+mn-lt"/>
              </a:rPr>
              <a:t>6.1 </a:t>
            </a:r>
            <a:r>
              <a:rPr lang="zh-CN" altLang="en-US" b="1" dirty="0">
                <a:solidFill>
                  <a:srgbClr val="0000FF"/>
                </a:solidFill>
                <a:cs typeface="+mn-ea"/>
                <a:sym typeface="+mn-lt"/>
              </a:rPr>
              <a:t>虚拟存储器概述</a:t>
            </a:r>
            <a:endParaRPr lang="zh-CN" altLang="en-US" b="1" dirty="0">
              <a:solidFill>
                <a:srgbClr val="0000FF"/>
              </a:solidFill>
              <a:cs typeface="+mn-ea"/>
              <a:sym typeface="+mn-lt"/>
            </a:endParaRPr>
          </a:p>
        </p:txBody>
      </p:sp>
      <p:sp>
        <p:nvSpPr>
          <p:cNvPr id="23" name="矩形 22"/>
          <p:cNvSpPr/>
          <p:nvPr/>
        </p:nvSpPr>
        <p:spPr>
          <a:xfrm>
            <a:off x="1272352" y="2639005"/>
            <a:ext cx="3299648" cy="369332"/>
          </a:xfrm>
          <a:prstGeom prst="rect">
            <a:avLst/>
          </a:prstGeom>
        </p:spPr>
        <p:txBody>
          <a:bodyPr wrap="square">
            <a:spAutoFit/>
          </a:bodyPr>
          <a:lstStyle/>
          <a:p>
            <a:r>
              <a:rPr lang="en-US" altLang="zh-CN" dirty="0">
                <a:cs typeface="+mn-ea"/>
                <a:sym typeface="+mn-lt"/>
              </a:rPr>
              <a:t>6.2 </a:t>
            </a:r>
            <a:r>
              <a:rPr lang="zh-CN" altLang="en-US" dirty="0">
                <a:cs typeface="+mn-ea"/>
                <a:sym typeface="+mn-lt"/>
              </a:rPr>
              <a:t>请求分页存储管理方式</a:t>
            </a:r>
            <a:endParaRPr lang="en-US" altLang="zh-CN" dirty="0">
              <a:cs typeface="+mn-ea"/>
              <a:sym typeface="+mn-lt"/>
            </a:endParaRPr>
          </a:p>
        </p:txBody>
      </p:sp>
      <p:sp>
        <p:nvSpPr>
          <p:cNvPr id="24" name="矩形 23"/>
          <p:cNvSpPr/>
          <p:nvPr/>
        </p:nvSpPr>
        <p:spPr>
          <a:xfrm>
            <a:off x="1272352" y="3103349"/>
            <a:ext cx="2616725" cy="369332"/>
          </a:xfrm>
          <a:prstGeom prst="rect">
            <a:avLst/>
          </a:prstGeom>
        </p:spPr>
        <p:txBody>
          <a:bodyPr wrap="square">
            <a:spAutoFit/>
          </a:bodyPr>
          <a:lstStyle/>
          <a:p>
            <a:r>
              <a:rPr lang="en-US" altLang="zh-CN" dirty="0">
                <a:cs typeface="+mn-ea"/>
                <a:sym typeface="+mn-lt"/>
              </a:rPr>
              <a:t>6.3 </a:t>
            </a:r>
            <a:r>
              <a:rPr lang="zh-CN" altLang="en-US" dirty="0">
                <a:cs typeface="+mn-ea"/>
                <a:sym typeface="+mn-lt"/>
              </a:rPr>
              <a:t>页面置换算法</a:t>
            </a:r>
            <a:endParaRPr lang="en-US" altLang="zh-CN" dirty="0">
              <a:cs typeface="+mn-ea"/>
              <a:sym typeface="+mn-lt"/>
            </a:endParaRPr>
          </a:p>
        </p:txBody>
      </p:sp>
      <p:sp>
        <p:nvSpPr>
          <p:cNvPr id="25" name="矩形 24"/>
          <p:cNvSpPr/>
          <p:nvPr/>
        </p:nvSpPr>
        <p:spPr>
          <a:xfrm>
            <a:off x="1272352" y="3567692"/>
            <a:ext cx="2616725" cy="369332"/>
          </a:xfrm>
          <a:prstGeom prst="rect">
            <a:avLst/>
          </a:prstGeom>
        </p:spPr>
        <p:txBody>
          <a:bodyPr wrap="square">
            <a:spAutoFit/>
          </a:bodyPr>
          <a:lstStyle/>
          <a:p>
            <a:r>
              <a:rPr lang="en-US" altLang="zh-CN" dirty="0">
                <a:cs typeface="+mn-ea"/>
                <a:sym typeface="+mn-lt"/>
              </a:rPr>
              <a:t>6.4 </a:t>
            </a:r>
            <a:r>
              <a:rPr lang="zh-CN" altLang="en-US" dirty="0">
                <a:cs typeface="+mn-ea"/>
                <a:sym typeface="+mn-lt"/>
              </a:rPr>
              <a:t>抖动与工作集</a:t>
            </a:r>
            <a:endParaRPr lang="zh-CN" altLang="en-US" dirty="0">
              <a:cs typeface="+mn-ea"/>
              <a:sym typeface="+mn-lt"/>
            </a:endParaRPr>
          </a:p>
        </p:txBody>
      </p:sp>
      <p:sp>
        <p:nvSpPr>
          <p:cNvPr id="27" name="矩形 26"/>
          <p:cNvSpPr/>
          <p:nvPr/>
        </p:nvSpPr>
        <p:spPr>
          <a:xfrm>
            <a:off x="1272352" y="4032036"/>
            <a:ext cx="2929007" cy="369332"/>
          </a:xfrm>
          <a:prstGeom prst="rect">
            <a:avLst/>
          </a:prstGeom>
        </p:spPr>
        <p:txBody>
          <a:bodyPr wrap="square">
            <a:spAutoFit/>
          </a:bodyPr>
          <a:lstStyle/>
          <a:p>
            <a:r>
              <a:rPr lang="en-US" altLang="zh-CN" dirty="0">
                <a:cs typeface="+mn-ea"/>
                <a:sym typeface="+mn-lt"/>
              </a:rPr>
              <a:t>6.5 </a:t>
            </a:r>
            <a:r>
              <a:rPr lang="zh-CN" altLang="en-US" dirty="0">
                <a:cs typeface="+mn-ea"/>
                <a:sym typeface="+mn-lt"/>
              </a:rPr>
              <a:t>请求分段存储管理方式</a:t>
            </a:r>
            <a:endParaRPr lang="zh-CN" altLang="en-US" dirty="0">
              <a:cs typeface="+mn-ea"/>
              <a:sym typeface="+mn-lt"/>
            </a:endParaRPr>
          </a:p>
        </p:txBody>
      </p:sp>
      <p:sp>
        <p:nvSpPr>
          <p:cNvPr id="28" name="矩形 27"/>
          <p:cNvSpPr/>
          <p:nvPr/>
        </p:nvSpPr>
        <p:spPr>
          <a:xfrm>
            <a:off x="1272352" y="4496380"/>
            <a:ext cx="2761613" cy="369332"/>
          </a:xfrm>
          <a:prstGeom prst="rect">
            <a:avLst/>
          </a:prstGeom>
        </p:spPr>
        <p:txBody>
          <a:bodyPr wrap="square">
            <a:spAutoFit/>
          </a:bodyPr>
          <a:lstStyle/>
          <a:p>
            <a:r>
              <a:rPr lang="en-US" altLang="zh-CN" dirty="0">
                <a:cs typeface="+mn-ea"/>
                <a:sym typeface="+mn-lt"/>
              </a:rPr>
              <a:t>6.6 </a:t>
            </a:r>
            <a:r>
              <a:rPr lang="zh-CN" altLang="en-US" dirty="0">
                <a:cs typeface="+mn-ea"/>
                <a:sym typeface="+mn-lt"/>
              </a:rPr>
              <a:t>虚拟存储器实现实例</a:t>
            </a:r>
            <a:endParaRPr lang="zh-CN" altLang="en-US" dirty="0">
              <a:cs typeface="+mn-ea"/>
              <a:sym typeface="+mn-lt"/>
            </a:endParaRPr>
          </a:p>
        </p:txBody>
      </p:sp>
      <p:sp>
        <p:nvSpPr>
          <p:cNvPr id="3" name="矩形 2"/>
          <p:cNvSpPr/>
          <p:nvPr/>
        </p:nvSpPr>
        <p:spPr>
          <a:xfrm>
            <a:off x="5546325" y="2647003"/>
            <a:ext cx="2896947" cy="507831"/>
          </a:xfrm>
          <a:prstGeom prst="rect">
            <a:avLst/>
          </a:prstGeom>
        </p:spPr>
        <p:txBody>
          <a:bodyPr wrap="none">
            <a:spAutoFit/>
          </a:bodyPr>
          <a:lstStyle/>
          <a:p>
            <a:r>
              <a:rPr lang="zh-CN" altLang="en-US" sz="2700" dirty="0">
                <a:solidFill>
                  <a:srgbClr val="000000"/>
                </a:solidFill>
                <a:cs typeface="+mn-ea"/>
                <a:sym typeface="+mn-lt"/>
              </a:rPr>
              <a:t>第</a:t>
            </a:r>
            <a:r>
              <a:rPr lang="en-US" altLang="zh-CN" sz="2700" dirty="0">
                <a:solidFill>
                  <a:srgbClr val="000000"/>
                </a:solidFill>
                <a:cs typeface="+mn-ea"/>
                <a:sym typeface="+mn-lt"/>
              </a:rPr>
              <a:t>6</a:t>
            </a:r>
            <a:r>
              <a:rPr lang="zh-CN" altLang="en-US" sz="2700" dirty="0">
                <a:solidFill>
                  <a:srgbClr val="000000"/>
                </a:solidFill>
                <a:cs typeface="+mn-ea"/>
                <a:sym typeface="+mn-lt"/>
              </a:rPr>
              <a:t>章 虚拟存储器</a:t>
            </a:r>
            <a:endParaRPr lang="zh-CN" altLang="en-US" sz="2700" dirty="0">
              <a:cs typeface="+mn-ea"/>
              <a:sym typeface="+mn-lt"/>
            </a:endParaRPr>
          </a:p>
        </p:txBody>
      </p:sp>
      <p:cxnSp>
        <p:nvCxnSpPr>
          <p:cNvPr id="5" name="直接连接符 4"/>
          <p:cNvCxnSpPr/>
          <p:nvPr/>
        </p:nvCxnSpPr>
        <p:spPr>
          <a:xfrm>
            <a:off x="5566300" y="3250103"/>
            <a:ext cx="309404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6653"/>
          </a:xfrm>
          <a:prstGeom prst="rect">
            <a:avLst/>
          </a:prstGeom>
        </p:spPr>
        <p:txBody>
          <a:bodyPr wrap="square">
            <a:spAutoFit/>
          </a:bodyPr>
          <a:lstStyle/>
          <a:p>
            <a:pPr algn="ctr">
              <a:lnSpc>
                <a:spcPct val="132000"/>
              </a:lnSpc>
            </a:pPr>
            <a:r>
              <a:rPr lang="zh-CN" altLang="en-US" dirty="0">
                <a:solidFill>
                  <a:srgbClr val="002060"/>
                </a:solidFill>
                <a:cs typeface="+mn-ea"/>
                <a:sym typeface="+mn-lt"/>
              </a:rPr>
              <a:t>   主审：汤小丹</a:t>
            </a:r>
            <a:endParaRPr lang="en-US" altLang="zh-CN" dirty="0">
              <a:solidFill>
                <a:srgbClr val="002060"/>
              </a:solidFill>
              <a:cs typeface="+mn-ea"/>
              <a:sym typeface="+mn-lt"/>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132616"/>
            <a:ext cx="395288" cy="395288"/>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571471"/>
            <a:ext cx="395288" cy="395288"/>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063073"/>
            <a:ext cx="395288" cy="395288"/>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526927"/>
            <a:ext cx="395288" cy="395288"/>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996487"/>
            <a:ext cx="395288" cy="395288"/>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4474772"/>
            <a:ext cx="395288" cy="395288"/>
          </a:xfrm>
          <a:prstGeom prst="rect">
            <a:avLst/>
          </a:prstGeom>
          <a:ln>
            <a:noFill/>
          </a:ln>
          <a:effectLst>
            <a:softEdge rad="0"/>
          </a:effectLst>
        </p:spPr>
      </p:pic>
    </p:spTree>
  </p:cSld>
  <p:clrMapOvr>
    <a:masterClrMapping/>
  </p:clrMapOvr>
  <p:transition spd="slow">
    <p:pull dir="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cs typeface="+mn-ea"/>
                <a:sym typeface="+mn-lt"/>
              </a:rPr>
              <a:t>6.1 </a:t>
            </a:r>
            <a:r>
              <a:rPr lang="zh-CN" altLang="en-US" sz="2100" b="1" dirty="0">
                <a:solidFill>
                  <a:schemeClr val="bg1"/>
                </a:solidFill>
                <a:cs typeface="+mn-ea"/>
                <a:sym typeface="+mn-lt"/>
              </a:rPr>
              <a:t>虚拟存储器概述</a:t>
            </a:r>
            <a:endParaRPr lang="zh-CN" altLang="en-US" sz="2100" b="1" dirty="0">
              <a:solidFill>
                <a:schemeClr val="bg1"/>
              </a:solidFill>
              <a:cs typeface="+mn-ea"/>
              <a:sym typeface="+mn-lt"/>
            </a:endParaRPr>
          </a:p>
        </p:txBody>
      </p:sp>
      <p:sp>
        <p:nvSpPr>
          <p:cNvPr id="4" name="文本框 3"/>
          <p:cNvSpPr txBox="1"/>
          <p:nvPr/>
        </p:nvSpPr>
        <p:spPr>
          <a:xfrm>
            <a:off x="661244" y="1852942"/>
            <a:ext cx="8016226" cy="738728"/>
          </a:xfrm>
          <a:prstGeom prst="rect">
            <a:avLst/>
          </a:prstGeom>
          <a:noFill/>
        </p:spPr>
        <p:txBody>
          <a:bodyPr wrap="square" rtlCol="0">
            <a:spAutoFit/>
          </a:bodyPr>
          <a:lstStyle/>
          <a:p>
            <a:pPr indent="342900" algn="just">
              <a:lnSpc>
                <a:spcPct val="123000"/>
              </a:lnSpc>
              <a:spcAft>
                <a:spcPts val="450"/>
              </a:spcAft>
            </a:pPr>
            <a:r>
              <a:rPr lang="zh-CN" altLang="en-US" dirty="0">
                <a:cs typeface="+mn-ea"/>
                <a:sym typeface="+mn-lt"/>
              </a:rPr>
              <a:t>前面所介绍的各种存储器管理方式，有一个</a:t>
            </a:r>
            <a:r>
              <a:rPr lang="zh-CN" altLang="en-US" dirty="0">
                <a:solidFill>
                  <a:srgbClr val="0000FF"/>
                </a:solidFill>
                <a:cs typeface="+mn-ea"/>
                <a:sym typeface="+mn-lt"/>
              </a:rPr>
              <a:t>共同特点</a:t>
            </a:r>
            <a:r>
              <a:rPr lang="zh-CN" altLang="en-US" dirty="0">
                <a:cs typeface="+mn-ea"/>
                <a:sym typeface="+mn-lt"/>
              </a:rPr>
              <a:t>：</a:t>
            </a:r>
            <a:r>
              <a:rPr lang="zh-CN" altLang="en-US" u="sng" dirty="0">
                <a:solidFill>
                  <a:srgbClr val="FF0000"/>
                </a:solidFill>
                <a:cs typeface="+mn-ea"/>
                <a:sym typeface="+mn-lt"/>
              </a:rPr>
              <a:t>作业全部装入内存后方能运行。</a:t>
            </a:r>
            <a:endParaRPr lang="zh-CN" altLang="en-US" u="sng" dirty="0">
              <a:solidFill>
                <a:srgbClr val="FF0000"/>
              </a:solidFill>
              <a:cs typeface="+mn-ea"/>
              <a:sym typeface="+mn-lt"/>
            </a:endParaRPr>
          </a:p>
        </p:txBody>
      </p:sp>
      <p:sp>
        <p:nvSpPr>
          <p:cNvPr id="9" name="文本框 8"/>
          <p:cNvSpPr txBox="1"/>
          <p:nvPr/>
        </p:nvSpPr>
        <p:spPr>
          <a:xfrm>
            <a:off x="1515191" y="2723351"/>
            <a:ext cx="5181856" cy="2718116"/>
          </a:xfrm>
          <a:prstGeom prst="rect">
            <a:avLst/>
          </a:prstGeom>
          <a:noFill/>
        </p:spPr>
        <p:txBody>
          <a:bodyPr wrap="square" rtlCol="0">
            <a:spAutoFit/>
          </a:bodyPr>
          <a:lstStyle/>
          <a:p>
            <a:pPr algn="just">
              <a:lnSpc>
                <a:spcPct val="150000"/>
              </a:lnSpc>
              <a:spcAft>
                <a:spcPts val="450"/>
              </a:spcAft>
            </a:pPr>
            <a:r>
              <a:rPr lang="zh-CN" altLang="en-US" dirty="0">
                <a:cs typeface="+mn-ea"/>
                <a:sym typeface="+mn-lt"/>
              </a:rPr>
              <a:t>问题：</a:t>
            </a:r>
            <a:endParaRPr lang="zh-CN" altLang="en-US" dirty="0">
              <a:cs typeface="+mn-ea"/>
              <a:sym typeface="+mn-lt"/>
            </a:endParaRPr>
          </a:p>
          <a:p>
            <a:pPr marL="257175" indent="-257175" algn="just">
              <a:lnSpc>
                <a:spcPct val="150000"/>
              </a:lnSpc>
              <a:spcAft>
                <a:spcPts val="450"/>
              </a:spcAft>
              <a:buClr>
                <a:srgbClr val="0000FF"/>
              </a:buClr>
              <a:buFont typeface="Wingdings" panose="05000000000000000000" pitchFamily="2" charset="2"/>
              <a:buChar char="Ø"/>
            </a:pPr>
            <a:r>
              <a:rPr lang="zh-CN" altLang="en-US" sz="1650" dirty="0">
                <a:cs typeface="+mn-ea"/>
                <a:sym typeface="+mn-lt"/>
              </a:rPr>
              <a:t>大作业装不下</a:t>
            </a:r>
            <a:endParaRPr lang="zh-CN" altLang="en-US" sz="1650" dirty="0">
              <a:cs typeface="+mn-ea"/>
              <a:sym typeface="+mn-lt"/>
            </a:endParaRPr>
          </a:p>
          <a:p>
            <a:pPr marL="257175" indent="-257175" algn="just">
              <a:lnSpc>
                <a:spcPct val="150000"/>
              </a:lnSpc>
              <a:spcAft>
                <a:spcPts val="450"/>
              </a:spcAft>
              <a:buClr>
                <a:srgbClr val="0000FF"/>
              </a:buClr>
              <a:buFont typeface="Wingdings" panose="05000000000000000000" pitchFamily="2" charset="2"/>
              <a:buChar char="Ø"/>
            </a:pPr>
            <a:r>
              <a:rPr lang="zh-CN" altLang="en-US" sz="1650" dirty="0">
                <a:cs typeface="+mn-ea"/>
                <a:sym typeface="+mn-lt"/>
              </a:rPr>
              <a:t>少量作业得以运行</a:t>
            </a:r>
            <a:endParaRPr lang="zh-CN" altLang="en-US" sz="1650" dirty="0">
              <a:cs typeface="+mn-ea"/>
              <a:sym typeface="+mn-lt"/>
            </a:endParaRPr>
          </a:p>
          <a:p>
            <a:pPr algn="just">
              <a:lnSpc>
                <a:spcPct val="150000"/>
              </a:lnSpc>
              <a:spcAft>
                <a:spcPts val="450"/>
              </a:spcAft>
            </a:pPr>
            <a:r>
              <a:rPr lang="zh-CN" altLang="en-US" dirty="0">
                <a:cs typeface="+mn-ea"/>
                <a:sym typeface="+mn-lt"/>
              </a:rPr>
              <a:t>解决办法：</a:t>
            </a:r>
            <a:endParaRPr lang="zh-CN" altLang="en-US" dirty="0">
              <a:cs typeface="+mn-ea"/>
              <a:sym typeface="+mn-lt"/>
            </a:endParaRPr>
          </a:p>
          <a:p>
            <a:pPr marL="257175" indent="-257175" algn="just">
              <a:lnSpc>
                <a:spcPct val="150000"/>
              </a:lnSpc>
              <a:spcAft>
                <a:spcPts val="450"/>
              </a:spcAft>
              <a:buClr>
                <a:srgbClr val="0000FF"/>
              </a:buClr>
              <a:buFont typeface="Wingdings" panose="05000000000000000000" pitchFamily="2" charset="2"/>
              <a:buChar char="Ø"/>
            </a:pPr>
            <a:r>
              <a:rPr lang="zh-CN" altLang="en-US" sz="1650" dirty="0">
                <a:cs typeface="+mn-ea"/>
                <a:sym typeface="+mn-lt"/>
              </a:rPr>
              <a:t>扩充内存</a:t>
            </a:r>
            <a:endParaRPr lang="zh-CN" altLang="en-US" sz="1650" dirty="0">
              <a:cs typeface="+mn-ea"/>
              <a:sym typeface="+mn-lt"/>
            </a:endParaRPr>
          </a:p>
          <a:p>
            <a:pPr marL="257175" indent="-257175" algn="just">
              <a:lnSpc>
                <a:spcPct val="150000"/>
              </a:lnSpc>
              <a:spcAft>
                <a:spcPts val="450"/>
              </a:spcAft>
              <a:buClr>
                <a:srgbClr val="0000FF"/>
              </a:buClr>
              <a:buFont typeface="Wingdings" panose="05000000000000000000" pitchFamily="2" charset="2"/>
              <a:buChar char="Ø"/>
            </a:pPr>
            <a:r>
              <a:rPr lang="zh-CN" altLang="en-US" sz="1650" dirty="0">
                <a:cs typeface="+mn-ea"/>
                <a:sym typeface="+mn-lt"/>
              </a:rPr>
              <a:t>逻辑上扩充内存容量</a:t>
            </a:r>
            <a:r>
              <a:rPr lang="en-US" altLang="zh-CN" sz="1650" dirty="0">
                <a:cs typeface="+mn-ea"/>
                <a:sym typeface="+mn-lt"/>
              </a:rPr>
              <a:t>--</a:t>
            </a:r>
            <a:r>
              <a:rPr lang="zh-CN" altLang="en-US" sz="1650" dirty="0">
                <a:cs typeface="+mn-ea"/>
                <a:sym typeface="+mn-lt"/>
              </a:rPr>
              <a:t>（虚拟存储器）</a:t>
            </a:r>
            <a:endParaRPr lang="zh-CN" altLang="en-US" sz="1650" dirty="0">
              <a:cs typeface="+mn-ea"/>
              <a:sym typeface="+mn-lt"/>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36521" y="2807434"/>
            <a:ext cx="395288" cy="395288"/>
          </a:xfrm>
          <a:prstGeom prst="rect">
            <a:avLst/>
          </a:prstGeom>
          <a:ln>
            <a:noFill/>
          </a:ln>
          <a:effectLst>
            <a:softEdge rad="0"/>
          </a:effectLst>
        </p:spPr>
      </p:pic>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036521" y="4126990"/>
            <a:ext cx="395288" cy="395288"/>
          </a:xfrm>
          <a:prstGeom prst="rect">
            <a:avLst/>
          </a:prstGeom>
          <a:ln>
            <a:noFill/>
          </a:ln>
          <a:effectLst>
            <a:softEdge rad="0"/>
          </a:effectLst>
        </p:spPr>
      </p:pic>
    </p:spTree>
  </p:cSld>
  <p:clrMapOvr>
    <a:masterClrMapping/>
  </p:clrMapOvr>
  <p:transition spd="slow">
    <p:pull dir="ru"/>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微机操作系统的发展</a:t>
            </a:r>
            <a:endParaRPr lang="zh-CN" altLang="en-US" sz="2100" b="1" dirty="0">
              <a:solidFill>
                <a:schemeClr val="bg1"/>
              </a:solidFill>
              <a:cs typeface="+mn-ea"/>
              <a:sym typeface="+mn-lt"/>
            </a:endParaRPr>
          </a:p>
        </p:txBody>
      </p:sp>
      <p:sp>
        <p:nvSpPr>
          <p:cNvPr id="220" name="íšḻîḋè"/>
          <p:cNvSpPr/>
          <p:nvPr/>
        </p:nvSpPr>
        <p:spPr>
          <a:xfrm>
            <a:off x="1351861" y="4652974"/>
            <a:ext cx="7430577" cy="907154"/>
          </a:xfrm>
          <a:prstGeom prst="rect">
            <a:avLst/>
          </a:prstGeom>
          <a:noFill/>
          <a:ln>
            <a:noFill/>
          </a:ln>
        </p:spPr>
        <p:txBody>
          <a:bodyPr wrap="square" lIns="68580" tIns="34290" rIns="68580" bIns="34290" anchor="t" anchorCtr="0">
            <a:normAutofit fontScale="85000" lnSpcReduction="20000"/>
          </a:bodyPr>
          <a:lstStyle/>
          <a:p>
            <a:pPr marL="257175" indent="-257175">
              <a:lnSpc>
                <a:spcPct val="133000"/>
              </a:lnSpc>
              <a:spcBef>
                <a:spcPts val="450"/>
              </a:spcBef>
              <a:buClr>
                <a:srgbClr val="FF0000"/>
              </a:buClr>
              <a:buFont typeface="Wingdings" panose="05000000000000000000" pitchFamily="2" charset="2"/>
              <a:buChar char="Ø"/>
            </a:pPr>
            <a:r>
              <a:rPr lang="zh-CN" altLang="en-US" dirty="0">
                <a:cs typeface="+mn-ea"/>
                <a:sym typeface="+mn-lt"/>
              </a:rPr>
              <a:t>时间局部性：一条指令被执行了，则在不久的将来它可能再被执行。</a:t>
            </a:r>
            <a:endParaRPr lang="zh-CN" altLang="en-US" dirty="0">
              <a:cs typeface="+mn-ea"/>
              <a:sym typeface="+mn-lt"/>
            </a:endParaRPr>
          </a:p>
          <a:p>
            <a:pPr marL="257175" indent="-257175">
              <a:lnSpc>
                <a:spcPct val="133000"/>
              </a:lnSpc>
              <a:spcBef>
                <a:spcPts val="450"/>
              </a:spcBef>
              <a:buClr>
                <a:srgbClr val="FF0000"/>
              </a:buClr>
              <a:buFont typeface="Wingdings" panose="05000000000000000000" pitchFamily="2" charset="2"/>
              <a:buChar char="Ø"/>
            </a:pPr>
            <a:r>
              <a:rPr lang="zh-CN" altLang="en-US" dirty="0">
                <a:cs typeface="+mn-ea"/>
                <a:sym typeface="+mn-lt"/>
              </a:rPr>
              <a:t>空间局部性：若某一存储单元被使用，则在一定时间内，与该存储单元相邻的单元可能被使用。</a:t>
            </a:r>
            <a:endParaRPr lang="zh-CN" altLang="en-US" dirty="0">
              <a:cs typeface="+mn-ea"/>
              <a:sym typeface="+mn-lt"/>
            </a:endParaRPr>
          </a:p>
        </p:txBody>
      </p:sp>
      <p:sp>
        <p:nvSpPr>
          <p:cNvPr id="221" name="i$lîďê"/>
          <p:cNvSpPr/>
          <p:nvPr/>
        </p:nvSpPr>
        <p:spPr>
          <a:xfrm>
            <a:off x="1351861" y="4322638"/>
            <a:ext cx="2772038" cy="294658"/>
          </a:xfrm>
          <a:prstGeom prst="rect">
            <a:avLst/>
          </a:prstGeom>
          <a:noFill/>
          <a:ln>
            <a:noFill/>
          </a:ln>
        </p:spPr>
        <p:txBody>
          <a:bodyPr wrap="square" lIns="68580" tIns="34290" rIns="68580" bIns="34290" anchor="ctr" anchorCtr="0">
            <a:noAutofit/>
          </a:bodyPr>
          <a:lstStyle/>
          <a:p>
            <a:r>
              <a:rPr lang="zh-CN" altLang="en-US" dirty="0">
                <a:cs typeface="+mn-ea"/>
                <a:sym typeface="+mn-lt"/>
              </a:rPr>
              <a:t>表现：</a:t>
            </a:r>
            <a:endParaRPr lang="zh-CN" altLang="en-US" dirty="0">
              <a:cs typeface="+mn-ea"/>
              <a:sym typeface="+mn-lt"/>
            </a:endParaRPr>
          </a:p>
        </p:txBody>
      </p:sp>
      <p:sp>
        <p:nvSpPr>
          <p:cNvPr id="224" name="îs1iďé"/>
          <p:cNvSpPr/>
          <p:nvPr/>
        </p:nvSpPr>
        <p:spPr>
          <a:xfrm>
            <a:off x="1351861" y="2213127"/>
            <a:ext cx="7199645" cy="2360039"/>
          </a:xfrm>
          <a:prstGeom prst="rect">
            <a:avLst/>
          </a:prstGeom>
          <a:noFill/>
          <a:ln>
            <a:noFill/>
          </a:ln>
        </p:spPr>
        <p:txBody>
          <a:bodyPr wrap="square" lIns="68580" tIns="34290" rIns="68580" bIns="34290" anchor="t" anchorCtr="0">
            <a:noAutofit/>
          </a:bodyPr>
          <a:lstStyle/>
          <a:p>
            <a:pPr marL="257175" indent="-257175">
              <a:lnSpc>
                <a:spcPct val="123000"/>
              </a:lnSpc>
              <a:spcBef>
                <a:spcPts val="450"/>
              </a:spcBef>
              <a:buClr>
                <a:srgbClr val="FF0000"/>
              </a:buClr>
              <a:buFont typeface="Wingdings" panose="05000000000000000000" pitchFamily="2" charset="2"/>
              <a:buChar char="Ø"/>
            </a:pPr>
            <a:r>
              <a:rPr lang="zh-CN" altLang="en-US" sz="1500" dirty="0">
                <a:cs typeface="+mn-ea"/>
                <a:sym typeface="+mn-lt"/>
              </a:rPr>
              <a:t>程序执行时，除了少部分的转移和过程调用外，在大多数情况下仍然是顺序执行的。</a:t>
            </a:r>
            <a:endParaRPr lang="zh-CN" altLang="en-US" sz="1500" dirty="0">
              <a:cs typeface="+mn-ea"/>
              <a:sym typeface="+mn-lt"/>
            </a:endParaRPr>
          </a:p>
          <a:p>
            <a:pPr marL="257175" indent="-257175">
              <a:lnSpc>
                <a:spcPct val="123000"/>
              </a:lnSpc>
              <a:spcBef>
                <a:spcPts val="450"/>
              </a:spcBef>
              <a:buClr>
                <a:srgbClr val="FF0000"/>
              </a:buClr>
              <a:buFont typeface="Wingdings" panose="05000000000000000000" pitchFamily="2" charset="2"/>
              <a:buChar char="Ø"/>
            </a:pPr>
            <a:r>
              <a:rPr lang="zh-CN" altLang="en-US" sz="1500" dirty="0">
                <a:cs typeface="+mn-ea"/>
                <a:sym typeface="+mn-lt"/>
              </a:rPr>
              <a:t>过程调用将会使程序的执行轨迹由一部分区域转至另一部分区域，过程调用的深度一般小于</a:t>
            </a:r>
            <a:r>
              <a:rPr lang="en-US" altLang="zh-CN" sz="1500" dirty="0">
                <a:cs typeface="+mn-ea"/>
                <a:sym typeface="+mn-lt"/>
              </a:rPr>
              <a:t>5</a:t>
            </a:r>
            <a:r>
              <a:rPr lang="zh-CN" altLang="en-US" sz="1500" dirty="0">
                <a:cs typeface="+mn-ea"/>
                <a:sym typeface="+mn-lt"/>
              </a:rPr>
              <a:t>。程序将会在一段时间内都局限在这些过程的范围内运行。</a:t>
            </a:r>
            <a:endParaRPr lang="zh-CN" altLang="en-US" sz="1500" dirty="0">
              <a:cs typeface="+mn-ea"/>
              <a:sym typeface="+mn-lt"/>
            </a:endParaRPr>
          </a:p>
          <a:p>
            <a:pPr marL="257175" indent="-257175">
              <a:lnSpc>
                <a:spcPct val="123000"/>
              </a:lnSpc>
              <a:spcBef>
                <a:spcPts val="450"/>
              </a:spcBef>
              <a:buClr>
                <a:srgbClr val="FF0000"/>
              </a:buClr>
              <a:buFont typeface="Wingdings" panose="05000000000000000000" pitchFamily="2" charset="2"/>
              <a:buChar char="Ø"/>
            </a:pPr>
            <a:r>
              <a:rPr lang="zh-CN" altLang="en-US" sz="1500" dirty="0">
                <a:cs typeface="+mn-ea"/>
                <a:sym typeface="+mn-lt"/>
              </a:rPr>
              <a:t>程序中存在许多循环结构，多次执行。</a:t>
            </a:r>
            <a:endParaRPr lang="zh-CN" altLang="en-US" sz="1500" dirty="0">
              <a:cs typeface="+mn-ea"/>
              <a:sym typeface="+mn-lt"/>
            </a:endParaRPr>
          </a:p>
          <a:p>
            <a:pPr marL="257175" indent="-257175">
              <a:lnSpc>
                <a:spcPct val="123000"/>
              </a:lnSpc>
              <a:spcBef>
                <a:spcPts val="450"/>
              </a:spcBef>
              <a:buClr>
                <a:srgbClr val="FF0000"/>
              </a:buClr>
              <a:buFont typeface="Wingdings" panose="05000000000000000000" pitchFamily="2" charset="2"/>
              <a:buChar char="Ø"/>
            </a:pPr>
            <a:r>
              <a:rPr lang="zh-CN" altLang="en-US" sz="1500" dirty="0">
                <a:cs typeface="+mn-ea"/>
                <a:sym typeface="+mn-lt"/>
              </a:rPr>
              <a:t>对数据结构的处理局限于很小的范围。</a:t>
            </a:r>
            <a:endParaRPr lang="zh-CN" altLang="en-US" sz="1500" dirty="0">
              <a:cs typeface="+mn-ea"/>
              <a:sym typeface="+mn-lt"/>
            </a:endParaRPr>
          </a:p>
        </p:txBody>
      </p:sp>
      <p:sp>
        <p:nvSpPr>
          <p:cNvPr id="225" name="íšḻíḑê"/>
          <p:cNvSpPr/>
          <p:nvPr/>
        </p:nvSpPr>
        <p:spPr>
          <a:xfrm>
            <a:off x="1352074" y="1900714"/>
            <a:ext cx="5262563" cy="304324"/>
          </a:xfrm>
          <a:prstGeom prst="rect">
            <a:avLst/>
          </a:prstGeom>
          <a:noFill/>
          <a:ln>
            <a:noFill/>
          </a:ln>
        </p:spPr>
        <p:txBody>
          <a:bodyPr wrap="square" lIns="68580" tIns="34290" rIns="68580" bIns="34290" anchor="ctr" anchorCtr="0">
            <a:noAutofit/>
          </a:bodyPr>
          <a:lstStyle/>
          <a:p>
            <a:r>
              <a:rPr lang="en-US" altLang="zh-CN" dirty="0">
                <a:cs typeface="+mn-ea"/>
                <a:sym typeface="+mn-lt"/>
              </a:rPr>
              <a:t>1968</a:t>
            </a:r>
            <a:r>
              <a:rPr lang="zh-CN" altLang="en-US" dirty="0">
                <a:cs typeface="+mn-ea"/>
                <a:sym typeface="+mn-lt"/>
              </a:rPr>
              <a:t>年，</a:t>
            </a:r>
            <a:r>
              <a:rPr lang="en-US" altLang="zh-CN" dirty="0">
                <a:cs typeface="+mn-ea"/>
                <a:sym typeface="+mn-lt"/>
              </a:rPr>
              <a:t>P. denning </a:t>
            </a:r>
            <a:r>
              <a:rPr lang="zh-CN" altLang="en-US" dirty="0">
                <a:cs typeface="+mn-ea"/>
                <a:sym typeface="+mn-lt"/>
              </a:rPr>
              <a:t>提出</a:t>
            </a:r>
            <a:r>
              <a:rPr lang="zh-CN" altLang="en-US" dirty="0">
                <a:solidFill>
                  <a:srgbClr val="FF0000"/>
                </a:solidFill>
                <a:cs typeface="+mn-ea"/>
                <a:sym typeface="+mn-lt"/>
              </a:rPr>
              <a:t>局部性</a:t>
            </a:r>
            <a:r>
              <a:rPr lang="zh-CN" altLang="en-US" dirty="0">
                <a:cs typeface="+mn-ea"/>
                <a:sym typeface="+mn-lt"/>
              </a:rPr>
              <a:t>原理：</a:t>
            </a:r>
            <a:endParaRPr lang="zh-CN" altLang="en-US" dirty="0">
              <a:cs typeface="+mn-ea"/>
              <a:sym typeface="+mn-lt"/>
            </a:endParaRPr>
          </a:p>
        </p:txBody>
      </p:sp>
      <p:sp>
        <p:nvSpPr>
          <p:cNvPr id="226" name="îSļiḓè"/>
          <p:cNvSpPr/>
          <p:nvPr/>
        </p:nvSpPr>
        <p:spPr>
          <a:xfrm>
            <a:off x="839235" y="1890546"/>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8" name="îşļiḓè"/>
          <p:cNvSpPr/>
          <p:nvPr/>
        </p:nvSpPr>
        <p:spPr>
          <a:xfrm>
            <a:off x="839235" y="4314859"/>
            <a:ext cx="470900" cy="470900"/>
          </a:xfrm>
          <a:prstGeom prst="ellipse">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9" name="îṡḷíďe"/>
          <p:cNvSpPr/>
          <p:nvPr/>
        </p:nvSpPr>
        <p:spPr>
          <a:xfrm>
            <a:off x="981926" y="2037649"/>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30" name="íSlíḋe"/>
          <p:cNvSpPr/>
          <p:nvPr/>
        </p:nvSpPr>
        <p:spPr>
          <a:xfrm>
            <a:off x="981925" y="4481371"/>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lumMod val="50000"/>
            </a:schemeClr>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Tree>
  </p:cSld>
  <p:clrMapOvr>
    <a:masterClrMapping/>
  </p:clrMapOvr>
  <p:transition spd="slow">
    <p:pull dir="ru"/>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5121"/>
          <p:cNvSpPr>
            <a:spLocks noGrp="1"/>
          </p:cNvSpPr>
          <p:nvPr>
            <p:ph type="title"/>
          </p:nvPr>
        </p:nvSpPr>
        <p:spPr>
          <a:xfrm>
            <a:off x="1657350" y="1485900"/>
            <a:ext cx="6122194" cy="571500"/>
          </a:xfrm>
        </p:spPr>
        <p:txBody>
          <a:bodyPr anchor="ctr" anchorCtr="0"/>
          <a:lstStyle/>
          <a:p>
            <a:r>
              <a:rPr lang="en-US" altLang="zh-CN" b="0" dirty="0"/>
              <a:t> </a:t>
            </a:r>
            <a:r>
              <a:rPr lang="zh-CN" altLang="en-US" b="0" dirty="0"/>
              <a:t>虚拟存储器</a:t>
            </a:r>
            <a:endParaRPr lang="zh-CN" altLang="en-US" b="0" dirty="0"/>
          </a:p>
        </p:txBody>
      </p:sp>
      <p:sp>
        <p:nvSpPr>
          <p:cNvPr id="5123" name="内容占位符 5122"/>
          <p:cNvSpPr>
            <a:spLocks noGrp="1"/>
          </p:cNvSpPr>
          <p:nvPr>
            <p:ph idx="1"/>
          </p:nvPr>
        </p:nvSpPr>
        <p:spPr>
          <a:xfrm>
            <a:off x="1600200" y="2343150"/>
            <a:ext cx="6172200" cy="3429000"/>
          </a:xfrm>
        </p:spPr>
        <p:txBody>
          <a:bodyPr anchor="t" anchorCtr="0"/>
          <a:lstStyle/>
          <a:p>
            <a:pPr>
              <a:buNone/>
            </a:pPr>
            <a:r>
              <a:rPr lang="en-US" altLang="zh-CN" sz="1800" dirty="0">
                <a:solidFill>
                  <a:srgbClr val="000000"/>
                </a:solidFill>
              </a:rPr>
              <a:t> </a:t>
            </a:r>
            <a:r>
              <a:rPr lang="zh-CN" altLang="en-US" sz="1800" dirty="0">
                <a:solidFill>
                  <a:srgbClr val="000000"/>
                </a:solidFill>
              </a:rPr>
              <a:t>虚拟存储器的概念</a:t>
            </a:r>
            <a:endParaRPr lang="zh-CN" altLang="en-US" sz="1800" dirty="0">
              <a:solidFill>
                <a:srgbClr val="000000"/>
              </a:solidFill>
            </a:endParaRPr>
          </a:p>
          <a:p>
            <a:r>
              <a:rPr lang="zh-CN" altLang="en-US" sz="1800" dirty="0">
                <a:solidFill>
                  <a:srgbClr val="000000"/>
                </a:solidFill>
              </a:rPr>
              <a:t>考虑只把当前运行</a:t>
            </a:r>
            <a:r>
              <a:rPr lang="zh-CN" altLang="en-US" sz="1800" dirty="0">
                <a:solidFill>
                  <a:srgbClr val="FF0000"/>
                </a:solidFill>
              </a:rPr>
              <a:t>需要的部分</a:t>
            </a:r>
            <a:r>
              <a:rPr lang="zh-CN" altLang="en-US" sz="1800" dirty="0">
                <a:solidFill>
                  <a:srgbClr val="000000"/>
                </a:solidFill>
              </a:rPr>
              <a:t>程序和数据</a:t>
            </a:r>
            <a:r>
              <a:rPr lang="zh-CN" altLang="en-US" sz="1800" dirty="0">
                <a:solidFill>
                  <a:srgbClr val="FF0000"/>
                </a:solidFill>
              </a:rPr>
              <a:t>装入内存</a:t>
            </a:r>
            <a:r>
              <a:rPr lang="zh-CN" altLang="en-US" sz="1800" dirty="0">
                <a:solidFill>
                  <a:srgbClr val="000000"/>
                </a:solidFill>
              </a:rPr>
              <a:t>，即启动程序，其他部分</a:t>
            </a:r>
            <a:r>
              <a:rPr lang="zh-CN" altLang="en-US" sz="1800" dirty="0">
                <a:solidFill>
                  <a:srgbClr val="FF0000"/>
                </a:solidFill>
              </a:rPr>
              <a:t>暂放在外存</a:t>
            </a:r>
            <a:r>
              <a:rPr lang="zh-CN" altLang="en-US" sz="1800" dirty="0">
                <a:solidFill>
                  <a:srgbClr val="000000"/>
                </a:solidFill>
              </a:rPr>
              <a:t>上，需要时再调入。</a:t>
            </a:r>
            <a:endParaRPr lang="zh-CN" altLang="en-US" sz="1800" dirty="0">
              <a:solidFill>
                <a:srgbClr val="000000"/>
              </a:solidFill>
            </a:endParaRPr>
          </a:p>
          <a:p>
            <a:endParaRPr lang="zh-CN" altLang="en-US" sz="1800" dirty="0">
              <a:solidFill>
                <a:srgbClr val="000000"/>
              </a:solidFill>
            </a:endParaRPr>
          </a:p>
          <a:p>
            <a:r>
              <a:rPr lang="zh-CN" altLang="en-US" sz="1800" dirty="0">
                <a:solidFill>
                  <a:srgbClr val="000000"/>
                </a:solidFill>
              </a:rPr>
              <a:t>这样，</a:t>
            </a:r>
            <a:endParaRPr lang="zh-CN" altLang="en-US" sz="1800" dirty="0">
              <a:solidFill>
                <a:srgbClr val="000000"/>
              </a:solidFill>
            </a:endParaRPr>
          </a:p>
          <a:p>
            <a:pPr lvl="1"/>
            <a:r>
              <a:rPr lang="zh-CN" altLang="en-US" sz="1800" dirty="0">
                <a:solidFill>
                  <a:srgbClr val="000000"/>
                </a:solidFill>
              </a:rPr>
              <a:t>用户编制程序时不必考虑内存容量的限制。</a:t>
            </a:r>
            <a:endParaRPr lang="zh-CN" altLang="en-US" sz="1800" dirty="0">
              <a:solidFill>
                <a:srgbClr val="000000"/>
              </a:solidFill>
            </a:endParaRPr>
          </a:p>
          <a:p>
            <a:pPr lvl="1"/>
            <a:r>
              <a:rPr lang="zh-CN" altLang="en-US" sz="1800" dirty="0">
                <a:solidFill>
                  <a:srgbClr val="000000"/>
                </a:solidFill>
              </a:rPr>
              <a:t>在一定容量的内存中就可同时装入更多的进程。</a:t>
            </a:r>
            <a:endParaRPr lang="zh-CN" altLang="en-US" sz="1800" dirty="0">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slide(fromBottom)">
                                      <p:cBhvr>
                                        <p:cTn id="7" dur="500"/>
                                        <p:tgtEl>
                                          <p:spTgt spid="5123">
                                            <p:txEl>
                                              <p:pRg st="0" end="0"/>
                                            </p:txEl>
                                          </p:spTgt>
                                        </p:tgtEl>
                                      </p:cBhvr>
                                    </p:animEffect>
                                  </p:childTnLst>
                                </p:cTn>
                              </p:par>
                            </p:childTnLst>
                          </p:cTn>
                        </p:par>
                        <p:par>
                          <p:cTn id="8" fill="hold">
                            <p:stCondLst>
                              <p:cond delay="500"/>
                            </p:stCondLst>
                            <p:childTnLst>
                              <p:par>
                                <p:cTn id="9" presetID="12" presetClass="entr" presetSubtype="4" fill="hold" grpId="0" nodeType="afterEffect">
                                  <p:stCondLst>
                                    <p:cond delay="1000"/>
                                  </p:stCondLst>
                                  <p:childTnLst>
                                    <p:set>
                                      <p:cBhvr>
                                        <p:cTn id="10" dur="1" fill="hold">
                                          <p:stCondLst>
                                            <p:cond delay="0"/>
                                          </p:stCondLst>
                                        </p:cTn>
                                        <p:tgtEl>
                                          <p:spTgt spid="5123">
                                            <p:txEl>
                                              <p:pRg st="1" end="1"/>
                                            </p:txEl>
                                          </p:spTgt>
                                        </p:tgtEl>
                                        <p:attrNameLst>
                                          <p:attrName>style.visibility</p:attrName>
                                        </p:attrNameLst>
                                      </p:cBhvr>
                                      <p:to>
                                        <p:strVal val="visible"/>
                                      </p:to>
                                    </p:set>
                                    <p:animEffect transition="in" filter="slide(fromBottom)">
                                      <p:cBhvr>
                                        <p:cTn id="11" dur="500"/>
                                        <p:tgtEl>
                                          <p:spTgt spid="5123">
                                            <p:txEl>
                                              <p:pRg st="1" end="1"/>
                                            </p:txEl>
                                          </p:spTgt>
                                        </p:tgtEl>
                                      </p:cBhvr>
                                    </p:animEffect>
                                  </p:childTnLst>
                                </p:cTn>
                              </p:par>
                            </p:childTnLst>
                          </p:cTn>
                        </p:par>
                        <p:par>
                          <p:cTn id="12" fill="hold">
                            <p:stCondLst>
                              <p:cond delay="2000"/>
                            </p:stCondLst>
                            <p:childTnLst>
                              <p:par>
                                <p:cTn id="13" presetID="12" presetClass="entr" presetSubtype="4" fill="hold" grpId="0" nodeType="afterEffect">
                                  <p:stCondLst>
                                    <p:cond delay="1000"/>
                                  </p:stCondLst>
                                  <p:childTnLst>
                                    <p:set>
                                      <p:cBhvr>
                                        <p:cTn id="14" dur="1" fill="hold">
                                          <p:stCondLst>
                                            <p:cond delay="0"/>
                                          </p:stCondLst>
                                        </p:cTn>
                                        <p:tgtEl>
                                          <p:spTgt spid="5123">
                                            <p:txEl>
                                              <p:pRg st="3" end="3"/>
                                            </p:txEl>
                                          </p:spTgt>
                                        </p:tgtEl>
                                        <p:attrNameLst>
                                          <p:attrName>style.visibility</p:attrName>
                                        </p:attrNameLst>
                                      </p:cBhvr>
                                      <p:to>
                                        <p:strVal val="visible"/>
                                      </p:to>
                                    </p:set>
                                    <p:animEffect transition="in" filter="slide(fromBottom)">
                                      <p:cBhvr>
                                        <p:cTn id="15" dur="500"/>
                                        <p:tgtEl>
                                          <p:spTgt spid="5123">
                                            <p:txEl>
                                              <p:pRg st="3" end="3"/>
                                            </p:txEl>
                                          </p:spTgt>
                                        </p:tgtEl>
                                      </p:cBhvr>
                                    </p:animEffect>
                                  </p:childTnLst>
                                </p:cTn>
                              </p:par>
                            </p:childTnLst>
                          </p:cTn>
                        </p:par>
                        <p:par>
                          <p:cTn id="16" fill="hold">
                            <p:stCondLst>
                              <p:cond delay="3500"/>
                            </p:stCondLst>
                            <p:childTnLst>
                              <p:par>
                                <p:cTn id="17" presetID="12" presetClass="entr" presetSubtype="4" fill="hold" grpId="0" nodeType="afterEffect">
                                  <p:stCondLst>
                                    <p:cond delay="1000"/>
                                  </p:stCondLst>
                                  <p:childTnLst>
                                    <p:set>
                                      <p:cBhvr>
                                        <p:cTn id="18" dur="1" fill="hold">
                                          <p:stCondLst>
                                            <p:cond delay="0"/>
                                          </p:stCondLst>
                                        </p:cTn>
                                        <p:tgtEl>
                                          <p:spTgt spid="5123">
                                            <p:txEl>
                                              <p:pRg st="4" end="4"/>
                                            </p:txEl>
                                          </p:spTgt>
                                        </p:tgtEl>
                                        <p:attrNameLst>
                                          <p:attrName>style.visibility</p:attrName>
                                        </p:attrNameLst>
                                      </p:cBhvr>
                                      <p:to>
                                        <p:strVal val="visible"/>
                                      </p:to>
                                    </p:set>
                                    <p:animEffect transition="in" filter="slide(fromBottom)">
                                      <p:cBhvr>
                                        <p:cTn id="19" dur="500"/>
                                        <p:tgtEl>
                                          <p:spTgt spid="5123">
                                            <p:txEl>
                                              <p:pRg st="4" end="4"/>
                                            </p:txEl>
                                          </p:spTgt>
                                        </p:tgtEl>
                                      </p:cBhvr>
                                    </p:animEffect>
                                  </p:childTnLst>
                                </p:cTn>
                              </p:par>
                            </p:childTnLst>
                          </p:cTn>
                        </p:par>
                        <p:par>
                          <p:cTn id="20" fill="hold">
                            <p:stCondLst>
                              <p:cond delay="5000"/>
                            </p:stCondLst>
                            <p:childTnLst>
                              <p:par>
                                <p:cTn id="21" presetID="12" presetClass="entr" presetSubtype="4" fill="hold" grpId="0" nodeType="afterEffect">
                                  <p:stCondLst>
                                    <p:cond delay="1000"/>
                                  </p:stCondLst>
                                  <p:childTnLst>
                                    <p:set>
                                      <p:cBhvr>
                                        <p:cTn id="22" dur="1" fill="hold">
                                          <p:stCondLst>
                                            <p:cond delay="0"/>
                                          </p:stCondLst>
                                        </p:cTn>
                                        <p:tgtEl>
                                          <p:spTgt spid="5123">
                                            <p:txEl>
                                              <p:pRg st="5" end="5"/>
                                            </p:txEl>
                                          </p:spTgt>
                                        </p:tgtEl>
                                        <p:attrNameLst>
                                          <p:attrName>style.visibility</p:attrName>
                                        </p:attrNameLst>
                                      </p:cBhvr>
                                      <p:to>
                                        <p:strVal val="visible"/>
                                      </p:to>
                                    </p:set>
                                    <p:animEffect transition="in" filter="slide(fromBottom)">
                                      <p:cBhvr>
                                        <p:cTn id="23" dur="5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ldLvl="2" advAuto="100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内容占位符 7169"/>
          <p:cNvSpPr>
            <a:spLocks noGrp="1"/>
          </p:cNvSpPr>
          <p:nvPr>
            <p:ph idx="1"/>
          </p:nvPr>
        </p:nvSpPr>
        <p:spPr>
          <a:xfrm>
            <a:off x="1547813" y="1863329"/>
            <a:ext cx="6172200" cy="2971800"/>
          </a:xfrm>
        </p:spPr>
        <p:txBody>
          <a:bodyPr anchor="t" anchorCtr="0"/>
          <a:lstStyle/>
          <a:p>
            <a:pPr marL="0" indent="0">
              <a:buNone/>
            </a:pPr>
            <a:r>
              <a:rPr lang="zh-CN" altLang="en-US" sz="1800" dirty="0">
                <a:solidFill>
                  <a:srgbClr val="000000"/>
                </a:solidFill>
              </a:rPr>
              <a:t>虚拟存储器容量主要受两方面的限制：</a:t>
            </a:r>
            <a:endParaRPr lang="zh-CN" altLang="en-US" sz="1800" dirty="0">
              <a:solidFill>
                <a:srgbClr val="000000"/>
              </a:solidFill>
            </a:endParaRPr>
          </a:p>
          <a:p>
            <a:r>
              <a:rPr lang="zh-CN" altLang="en-US" sz="1800" dirty="0">
                <a:solidFill>
                  <a:srgbClr val="000000"/>
                </a:solidFill>
              </a:rPr>
              <a:t>指令中表示地址的字长：</a:t>
            </a:r>
            <a:endParaRPr lang="zh-CN" altLang="en-US" sz="1800" dirty="0">
              <a:solidFill>
                <a:srgbClr val="000000"/>
              </a:solidFill>
            </a:endParaRPr>
          </a:p>
          <a:p>
            <a:pPr lvl="1"/>
            <a:r>
              <a:rPr lang="zh-CN" altLang="en-US" sz="1800" dirty="0">
                <a:solidFill>
                  <a:srgbClr val="000000"/>
                </a:solidFill>
                <a:latin typeface="宋体" panose="02010600030101010101" pitchFamily="2" charset="-122"/>
              </a:rPr>
              <a:t>如：若</a:t>
            </a:r>
            <a:r>
              <a:rPr lang="en-US" altLang="zh-CN" sz="1800">
                <a:solidFill>
                  <a:srgbClr val="000000"/>
                </a:solidFill>
                <a:latin typeface="Arial Unicode MS" pitchFamily="34" charset="-122"/>
                <a:ea typeface="Arial Unicode MS" pitchFamily="34" charset="-122"/>
              </a:rPr>
              <a:t>CPU</a:t>
            </a:r>
            <a:r>
              <a:rPr lang="zh-CN" altLang="en-US" sz="1800" dirty="0">
                <a:solidFill>
                  <a:srgbClr val="000000"/>
                </a:solidFill>
                <a:latin typeface="宋体" panose="02010600030101010101" pitchFamily="2" charset="-122"/>
              </a:rPr>
              <a:t>的有效地址长度为</a:t>
            </a:r>
            <a:r>
              <a:rPr lang="en-US" altLang="zh-CN" sz="1800">
                <a:solidFill>
                  <a:srgbClr val="000000"/>
                </a:solidFill>
                <a:latin typeface="Arial Unicode MS" pitchFamily="34" charset="-122"/>
                <a:ea typeface="Arial Unicode MS" pitchFamily="34" charset="-122"/>
              </a:rPr>
              <a:t>32</a:t>
            </a:r>
            <a:r>
              <a:rPr lang="zh-CN" altLang="en-US" sz="1800" dirty="0">
                <a:solidFill>
                  <a:srgbClr val="000000"/>
                </a:solidFill>
                <a:latin typeface="宋体" panose="02010600030101010101" pitchFamily="2" charset="-122"/>
              </a:rPr>
              <a:t>位，则程序可以寻址范围是</a:t>
            </a:r>
            <a:r>
              <a:rPr lang="en-US" altLang="zh-CN" sz="1800">
                <a:solidFill>
                  <a:srgbClr val="000000"/>
                </a:solidFill>
                <a:latin typeface="Arial Unicode MS" pitchFamily="34" charset="-122"/>
                <a:ea typeface="Arial Unicode MS" pitchFamily="34" charset="-122"/>
              </a:rPr>
              <a:t>0</a:t>
            </a:r>
            <a:r>
              <a:rPr lang="zh-CN" altLang="en-US" sz="1800">
                <a:solidFill>
                  <a:srgbClr val="000000"/>
                </a:solidFill>
                <a:latin typeface="宋体" panose="02010600030101010101" pitchFamily="2" charset="-122"/>
              </a:rPr>
              <a:t>～</a:t>
            </a:r>
            <a:r>
              <a:rPr lang="en-US" altLang="zh-CN" sz="1800">
                <a:solidFill>
                  <a:srgbClr val="000000"/>
                </a:solidFill>
                <a:latin typeface="Arial Unicode MS" pitchFamily="34" charset="-122"/>
                <a:ea typeface="Arial Unicode MS" pitchFamily="34" charset="-122"/>
              </a:rPr>
              <a:t>(2^32)-1 </a:t>
            </a:r>
            <a:r>
              <a:rPr lang="zh-CN" altLang="en-US" sz="1800" dirty="0">
                <a:solidFill>
                  <a:srgbClr val="000000"/>
                </a:solidFill>
                <a:latin typeface="宋体" panose="02010600030101010101" pitchFamily="2" charset="-122"/>
              </a:rPr>
              <a:t>，即虚存容量为</a:t>
            </a:r>
            <a:r>
              <a:rPr lang="zh-CN" altLang="en-US" sz="1800" dirty="0">
                <a:solidFill>
                  <a:srgbClr val="000000"/>
                </a:solidFill>
                <a:latin typeface="Arial Unicode MS" pitchFamily="34" charset="-122"/>
                <a:ea typeface="Arial Unicode MS" pitchFamily="34" charset="-122"/>
              </a:rPr>
              <a:t> </a:t>
            </a:r>
            <a:r>
              <a:rPr lang="en-US" altLang="zh-CN" sz="1800">
                <a:solidFill>
                  <a:srgbClr val="000000"/>
                </a:solidFill>
                <a:latin typeface="Arial Unicode MS" pitchFamily="34" charset="-122"/>
                <a:ea typeface="Arial Unicode MS" pitchFamily="34" charset="-122"/>
              </a:rPr>
              <a:t>4GB</a:t>
            </a:r>
            <a:r>
              <a:rPr lang="zh-CN" altLang="en-US" sz="1800">
                <a:solidFill>
                  <a:srgbClr val="000000"/>
                </a:solidFill>
                <a:latin typeface="宋体" panose="02010600030101010101" pitchFamily="2" charset="-122"/>
              </a:rPr>
              <a:t>。</a:t>
            </a:r>
            <a:r>
              <a:rPr lang="zh-CN" altLang="en-US" sz="1800">
                <a:solidFill>
                  <a:srgbClr val="000000"/>
                </a:solidFill>
              </a:rPr>
              <a:t> </a:t>
            </a:r>
            <a:endParaRPr lang="zh-CN" altLang="en-US" sz="1800">
              <a:solidFill>
                <a:srgbClr val="000000"/>
              </a:solidFill>
            </a:endParaRPr>
          </a:p>
          <a:p>
            <a:r>
              <a:rPr lang="zh-CN" altLang="en-US" sz="1800" dirty="0">
                <a:solidFill>
                  <a:srgbClr val="000000"/>
                </a:solidFill>
              </a:rPr>
              <a:t>外存的容量。</a:t>
            </a:r>
            <a:endParaRPr lang="zh-CN" altLang="en-US" sz="1800" dirty="0">
              <a:solidFill>
                <a:srgbClr val="000000"/>
              </a:solidFill>
            </a:endParaRPr>
          </a:p>
          <a:p>
            <a:endParaRPr lang="zh-CN" altLang="en-US" sz="1800" dirty="0">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checkerboard(across)">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8193"/>
          <p:cNvSpPr>
            <a:spLocks noGrp="1"/>
          </p:cNvSpPr>
          <p:nvPr>
            <p:ph idx="1"/>
          </p:nvPr>
        </p:nvSpPr>
        <p:spPr/>
        <p:txBody>
          <a:bodyPr anchor="t" anchorCtr="0"/>
          <a:lstStyle/>
          <a:p>
            <a:pPr>
              <a:buNone/>
            </a:pPr>
            <a:r>
              <a:rPr lang="zh-CN" altLang="en-US" sz="1800" dirty="0">
                <a:solidFill>
                  <a:srgbClr val="000000"/>
                </a:solidFill>
              </a:rPr>
              <a:t>虚拟存储器的特征</a:t>
            </a:r>
            <a:endParaRPr lang="zh-CN" altLang="en-US" sz="1800" dirty="0">
              <a:solidFill>
                <a:srgbClr val="000000"/>
              </a:solidFill>
            </a:endParaRPr>
          </a:p>
          <a:p>
            <a:pPr>
              <a:buNone/>
            </a:pPr>
            <a:endParaRPr lang="zh-CN" altLang="en-US" sz="1800" dirty="0">
              <a:solidFill>
                <a:srgbClr val="000000"/>
              </a:solidFill>
            </a:endParaRPr>
          </a:p>
          <a:p>
            <a:pPr>
              <a:buNone/>
            </a:pPr>
            <a:r>
              <a:rPr lang="en-US" altLang="zh-CN" sz="1800" dirty="0">
                <a:solidFill>
                  <a:srgbClr val="000000"/>
                </a:solidFill>
              </a:rPr>
              <a:t>① </a:t>
            </a:r>
            <a:r>
              <a:rPr lang="zh-CN" altLang="en-US" sz="1800" dirty="0">
                <a:solidFill>
                  <a:srgbClr val="000000"/>
                </a:solidFill>
              </a:rPr>
              <a:t>虚拟扩充。</a:t>
            </a:r>
            <a:endParaRPr lang="zh-CN" altLang="en-US" sz="1800" dirty="0">
              <a:solidFill>
                <a:srgbClr val="000000"/>
              </a:solidFill>
            </a:endParaRPr>
          </a:p>
          <a:p>
            <a:pPr>
              <a:buNone/>
            </a:pPr>
            <a:r>
              <a:rPr lang="en-US" altLang="zh-CN" sz="1800" dirty="0">
                <a:solidFill>
                  <a:srgbClr val="000000"/>
                </a:solidFill>
              </a:rPr>
              <a:t>② </a:t>
            </a:r>
            <a:r>
              <a:rPr lang="zh-CN" altLang="en-US" sz="1800" dirty="0">
                <a:solidFill>
                  <a:srgbClr val="000000"/>
                </a:solidFill>
              </a:rPr>
              <a:t>部分装入。</a:t>
            </a:r>
            <a:endParaRPr lang="zh-CN" altLang="en-US" sz="1800" dirty="0">
              <a:solidFill>
                <a:srgbClr val="000000"/>
              </a:solidFill>
            </a:endParaRPr>
          </a:p>
          <a:p>
            <a:pPr>
              <a:buNone/>
            </a:pPr>
            <a:r>
              <a:rPr lang="en-US" altLang="zh-CN" sz="1800" dirty="0">
                <a:solidFill>
                  <a:srgbClr val="000000"/>
                </a:solidFill>
              </a:rPr>
              <a:t>③ </a:t>
            </a:r>
            <a:r>
              <a:rPr lang="zh-CN" altLang="en-US" sz="1800" dirty="0">
                <a:solidFill>
                  <a:srgbClr val="000000"/>
                </a:solidFill>
              </a:rPr>
              <a:t>离散分配。</a:t>
            </a:r>
            <a:endParaRPr lang="zh-CN" altLang="en-US" sz="1800" dirty="0">
              <a:solidFill>
                <a:srgbClr val="000000"/>
              </a:solidFill>
            </a:endParaRPr>
          </a:p>
          <a:p>
            <a:pPr>
              <a:buNone/>
            </a:pPr>
            <a:r>
              <a:rPr lang="en-US" altLang="zh-CN" sz="1800" dirty="0">
                <a:solidFill>
                  <a:srgbClr val="000000"/>
                </a:solidFill>
              </a:rPr>
              <a:t>④ </a:t>
            </a:r>
            <a:r>
              <a:rPr lang="zh-CN" altLang="en-US" sz="1800" dirty="0">
                <a:solidFill>
                  <a:srgbClr val="000000"/>
                </a:solidFill>
              </a:rPr>
              <a:t>多次对换。 </a:t>
            </a:r>
            <a:endParaRPr lang="zh-CN" altLang="en-US" sz="1800" dirty="0">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8194">
                                            <p:txEl>
                                              <p:charRg st="17" end="25"/>
                                            </p:txEl>
                                          </p:spTgt>
                                        </p:tgtEl>
                                        <p:attrNameLst>
                                          <p:attrName>style.visibility</p:attrName>
                                        </p:attrNameLst>
                                      </p:cBhvr>
                                      <p:to>
                                        <p:strVal val="visible"/>
                                      </p:to>
                                    </p:set>
                                    <p:animEffect transition="in" filter="circle(in)">
                                      <p:cBhvr>
                                        <p:cTn id="7" dur="1000"/>
                                        <p:tgtEl>
                                          <p:spTgt spid="8194">
                                            <p:txEl>
                                              <p:charRg st="17" end="25"/>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8194">
                                            <p:txEl>
                                              <p:charRg st="25" end="33"/>
                                            </p:txEl>
                                          </p:spTgt>
                                        </p:tgtEl>
                                        <p:attrNameLst>
                                          <p:attrName>style.visibility</p:attrName>
                                        </p:attrNameLst>
                                      </p:cBhvr>
                                      <p:to>
                                        <p:strVal val="visible"/>
                                      </p:to>
                                    </p:set>
                                    <p:animEffect transition="in" filter="circle(in)">
                                      <p:cBhvr>
                                        <p:cTn id="10" dur="1000"/>
                                        <p:tgtEl>
                                          <p:spTgt spid="8194">
                                            <p:txEl>
                                              <p:charRg st="25" end="33"/>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8194">
                                            <p:txEl>
                                              <p:charRg st="33" end="41"/>
                                            </p:txEl>
                                          </p:spTgt>
                                        </p:tgtEl>
                                        <p:attrNameLst>
                                          <p:attrName>style.visibility</p:attrName>
                                        </p:attrNameLst>
                                      </p:cBhvr>
                                      <p:to>
                                        <p:strVal val="visible"/>
                                      </p:to>
                                    </p:set>
                                    <p:animEffect transition="in" filter="circle(in)">
                                      <p:cBhvr>
                                        <p:cTn id="13" dur="1000"/>
                                        <p:tgtEl>
                                          <p:spTgt spid="8194">
                                            <p:txEl>
                                              <p:charRg st="33" end="41"/>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8194">
                                            <p:txEl>
                                              <p:charRg st="41" end="43"/>
                                            </p:txEl>
                                          </p:spTgt>
                                        </p:tgtEl>
                                        <p:attrNameLst>
                                          <p:attrName>style.visibility</p:attrName>
                                        </p:attrNameLst>
                                      </p:cBhvr>
                                      <p:to>
                                        <p:strVal val="visible"/>
                                      </p:to>
                                    </p:set>
                                    <p:animEffect transition="in" filter="circle(in)">
                                      <p:cBhvr>
                                        <p:cTn id="16" dur="1000"/>
                                        <p:tgtEl>
                                          <p:spTgt spid="8194">
                                            <p:txEl>
                                              <p:charRg st="41" end="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虚拟存储器的实现方法</a:t>
            </a:r>
            <a:endParaRPr lang="zh-CN" altLang="en-US" sz="2100" b="1" dirty="0">
              <a:solidFill>
                <a:schemeClr val="bg1"/>
              </a:solidFill>
              <a:cs typeface="+mn-ea"/>
              <a:sym typeface="+mn-lt"/>
            </a:endParaRPr>
          </a:p>
        </p:txBody>
      </p:sp>
      <p:sp>
        <p:nvSpPr>
          <p:cNvPr id="220" name="íšḻîḋè"/>
          <p:cNvSpPr/>
          <p:nvPr/>
        </p:nvSpPr>
        <p:spPr>
          <a:xfrm>
            <a:off x="1325704" y="3568004"/>
            <a:ext cx="6492592" cy="707963"/>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cs typeface="+mn-ea"/>
                <a:sym typeface="+mn-lt"/>
              </a:rPr>
              <a:t>硬件支持：段表、缺段中断、地址变换机构。</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cs typeface="+mn-ea"/>
                <a:sym typeface="+mn-lt"/>
              </a:rPr>
              <a:t>软件支持：请求调段软件、段置换软件。</a:t>
            </a:r>
            <a:endParaRPr lang="zh-CN" altLang="en-US" dirty="0">
              <a:cs typeface="+mn-ea"/>
              <a:sym typeface="+mn-lt"/>
            </a:endParaRPr>
          </a:p>
        </p:txBody>
      </p:sp>
      <p:sp>
        <p:nvSpPr>
          <p:cNvPr id="221" name="i$lîďê"/>
          <p:cNvSpPr/>
          <p:nvPr/>
        </p:nvSpPr>
        <p:spPr>
          <a:xfrm>
            <a:off x="1367431" y="3212367"/>
            <a:ext cx="2772038" cy="294658"/>
          </a:xfrm>
          <a:prstGeom prst="rect">
            <a:avLst/>
          </a:prstGeom>
          <a:noFill/>
          <a:ln>
            <a:noFill/>
          </a:ln>
        </p:spPr>
        <p:txBody>
          <a:bodyPr wrap="square" lIns="68580" tIns="34290" rIns="68580" bIns="34290" anchor="ctr" anchorCtr="0">
            <a:noAutofit/>
          </a:bodyPr>
          <a:lstStyle/>
          <a:p>
            <a:r>
              <a:rPr lang="zh-CN" altLang="en-US" dirty="0">
                <a:solidFill>
                  <a:srgbClr val="0000FF"/>
                </a:solidFill>
                <a:cs typeface="+mn-ea"/>
                <a:sym typeface="+mn-lt"/>
              </a:rPr>
              <a:t>请求分段系统</a:t>
            </a:r>
            <a:endParaRPr lang="zh-CN" altLang="en-US" dirty="0">
              <a:solidFill>
                <a:srgbClr val="0000FF"/>
              </a:solidFill>
              <a:cs typeface="+mn-ea"/>
              <a:sym typeface="+mn-lt"/>
            </a:endParaRPr>
          </a:p>
        </p:txBody>
      </p:sp>
      <p:sp>
        <p:nvSpPr>
          <p:cNvPr id="222" name="î$ļíḋè"/>
          <p:cNvSpPr/>
          <p:nvPr/>
        </p:nvSpPr>
        <p:spPr>
          <a:xfrm>
            <a:off x="1351861" y="4930987"/>
            <a:ext cx="4094519" cy="392978"/>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cs typeface="+mn-ea"/>
                <a:sym typeface="+mn-lt"/>
              </a:rPr>
              <a:t>增加请求调页和页面置换。</a:t>
            </a:r>
            <a:endParaRPr lang="zh-CN" altLang="en-US" dirty="0">
              <a:cs typeface="+mn-ea"/>
              <a:sym typeface="+mn-lt"/>
            </a:endParaRPr>
          </a:p>
        </p:txBody>
      </p:sp>
      <p:sp>
        <p:nvSpPr>
          <p:cNvPr id="223" name="ïṧḷïḋè"/>
          <p:cNvSpPr/>
          <p:nvPr/>
        </p:nvSpPr>
        <p:spPr>
          <a:xfrm>
            <a:off x="1351861" y="4546405"/>
            <a:ext cx="2772038" cy="311327"/>
          </a:xfrm>
          <a:prstGeom prst="rect">
            <a:avLst/>
          </a:prstGeom>
          <a:noFill/>
          <a:ln>
            <a:noFill/>
          </a:ln>
        </p:spPr>
        <p:txBody>
          <a:bodyPr wrap="square" lIns="68580" tIns="34290" rIns="68580" bIns="34290" anchor="ctr" anchorCtr="0">
            <a:noAutofit/>
          </a:bodyPr>
          <a:lstStyle/>
          <a:p>
            <a:r>
              <a:rPr lang="zh-CN" altLang="en-US" dirty="0">
                <a:solidFill>
                  <a:srgbClr val="0000FF"/>
                </a:solidFill>
                <a:cs typeface="+mn-ea"/>
                <a:sym typeface="+mn-lt"/>
              </a:rPr>
              <a:t>段页式虚拟存储器</a:t>
            </a:r>
            <a:endParaRPr lang="zh-CN" altLang="en-US" dirty="0">
              <a:solidFill>
                <a:srgbClr val="0000FF"/>
              </a:solidFill>
              <a:cs typeface="+mn-ea"/>
              <a:sym typeface="+mn-lt"/>
            </a:endParaRPr>
          </a:p>
        </p:txBody>
      </p:sp>
      <p:sp>
        <p:nvSpPr>
          <p:cNvPr id="224" name="îs1iďé"/>
          <p:cNvSpPr/>
          <p:nvPr/>
        </p:nvSpPr>
        <p:spPr>
          <a:xfrm>
            <a:off x="1366153" y="2229839"/>
            <a:ext cx="7283426" cy="872561"/>
          </a:xfrm>
          <a:prstGeom prst="rect">
            <a:avLst/>
          </a:prstGeom>
          <a:noFill/>
          <a:ln>
            <a:noFill/>
          </a:ln>
        </p:spPr>
        <p:txBody>
          <a:bodyPr wrap="square" lIns="68580" tIns="34290" rIns="68580" bIns="34290" anchor="t" anchorCtr="0">
            <a:noAutofit/>
          </a:bodyPr>
          <a:lstStyle/>
          <a:p>
            <a:pPr marL="257175" indent="-257175">
              <a:lnSpc>
                <a:spcPct val="120000"/>
              </a:lnSpc>
              <a:spcBef>
                <a:spcPts val="600"/>
              </a:spcBef>
              <a:buClr>
                <a:srgbClr val="FF0000"/>
              </a:buClr>
              <a:buFont typeface="Wingdings" panose="05000000000000000000" pitchFamily="2" charset="2"/>
              <a:buChar char="Ø"/>
            </a:pPr>
            <a:r>
              <a:rPr lang="zh-CN" altLang="en-US" dirty="0">
                <a:cs typeface="+mn-ea"/>
                <a:sym typeface="+mn-lt"/>
              </a:rPr>
              <a:t>硬件支持：页表、缺页中断、地址变换机构。</a:t>
            </a:r>
            <a:endParaRPr lang="zh-CN" altLang="en-US" dirty="0">
              <a:cs typeface="+mn-ea"/>
              <a:sym typeface="+mn-lt"/>
            </a:endParaRPr>
          </a:p>
          <a:p>
            <a:pPr marL="257175" indent="-257175">
              <a:lnSpc>
                <a:spcPct val="120000"/>
              </a:lnSpc>
              <a:spcBef>
                <a:spcPts val="600"/>
              </a:spcBef>
              <a:buClr>
                <a:srgbClr val="FF0000"/>
              </a:buClr>
              <a:buFont typeface="Wingdings" panose="05000000000000000000" pitchFamily="2" charset="2"/>
              <a:buChar char="Ø"/>
            </a:pPr>
            <a:r>
              <a:rPr lang="zh-CN" altLang="en-US" dirty="0">
                <a:cs typeface="+mn-ea"/>
                <a:sym typeface="+mn-lt"/>
              </a:rPr>
              <a:t>软件支持：请求调页软件、页面置换软件。</a:t>
            </a:r>
            <a:endParaRPr lang="zh-CN" altLang="en-US" dirty="0">
              <a:cs typeface="+mn-ea"/>
              <a:sym typeface="+mn-lt"/>
            </a:endParaRPr>
          </a:p>
        </p:txBody>
      </p:sp>
      <p:sp>
        <p:nvSpPr>
          <p:cNvPr id="225" name="íšḻíḑê"/>
          <p:cNvSpPr/>
          <p:nvPr/>
        </p:nvSpPr>
        <p:spPr>
          <a:xfrm>
            <a:off x="1351861" y="1878418"/>
            <a:ext cx="2772038" cy="304310"/>
          </a:xfrm>
          <a:prstGeom prst="rect">
            <a:avLst/>
          </a:prstGeom>
          <a:noFill/>
          <a:ln>
            <a:noFill/>
          </a:ln>
        </p:spPr>
        <p:txBody>
          <a:bodyPr wrap="square" lIns="68580" tIns="34290" rIns="68580" bIns="34290" anchor="ctr" anchorCtr="0">
            <a:noAutofit/>
          </a:bodyPr>
          <a:lstStyle/>
          <a:p>
            <a:r>
              <a:rPr lang="zh-CN" altLang="en-US" dirty="0">
                <a:solidFill>
                  <a:srgbClr val="FF0000"/>
                </a:solidFill>
                <a:cs typeface="+mn-ea"/>
                <a:sym typeface="+mn-lt"/>
              </a:rPr>
              <a:t>请求分页系统</a:t>
            </a:r>
            <a:endParaRPr lang="zh-CN" altLang="en-US" dirty="0">
              <a:solidFill>
                <a:srgbClr val="FF0000"/>
              </a:solidFill>
              <a:cs typeface="+mn-ea"/>
              <a:sym typeface="+mn-lt"/>
            </a:endParaRPr>
          </a:p>
        </p:txBody>
      </p:sp>
      <p:sp>
        <p:nvSpPr>
          <p:cNvPr id="226" name="îSļiḓè"/>
          <p:cNvSpPr/>
          <p:nvPr/>
        </p:nvSpPr>
        <p:spPr>
          <a:xfrm>
            <a:off x="839233" y="1868246"/>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7" name="íṥḻîḓe"/>
          <p:cNvSpPr/>
          <p:nvPr/>
        </p:nvSpPr>
        <p:spPr>
          <a:xfrm>
            <a:off x="839233" y="4484454"/>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8" name="îşļiḓè"/>
          <p:cNvSpPr/>
          <p:nvPr/>
        </p:nvSpPr>
        <p:spPr>
          <a:xfrm>
            <a:off x="854805" y="3136973"/>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9" name="îṡḷíďe"/>
          <p:cNvSpPr/>
          <p:nvPr/>
        </p:nvSpPr>
        <p:spPr>
          <a:xfrm>
            <a:off x="981925" y="2015349"/>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30" name="íSlíḋe"/>
          <p:cNvSpPr/>
          <p:nvPr/>
        </p:nvSpPr>
        <p:spPr>
          <a:xfrm>
            <a:off x="997495" y="3303485"/>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31" name="ïśḷïḓe"/>
          <p:cNvSpPr/>
          <p:nvPr/>
        </p:nvSpPr>
        <p:spPr>
          <a:xfrm>
            <a:off x="1003628" y="4626548"/>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3" name="î$ļíḋè"/>
          <p:cNvSpPr/>
          <p:nvPr/>
        </p:nvSpPr>
        <p:spPr>
          <a:xfrm>
            <a:off x="4682889" y="4955354"/>
            <a:ext cx="4094519" cy="392978"/>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en-US" altLang="zh-CN" dirty="0">
                <a:cs typeface="+mn-ea"/>
                <a:sym typeface="+mn-lt"/>
              </a:rPr>
              <a:t>Intel 80386 </a:t>
            </a:r>
            <a:r>
              <a:rPr lang="zh-CN" altLang="en-US" dirty="0">
                <a:cs typeface="+mn-ea"/>
                <a:sym typeface="+mn-lt"/>
              </a:rPr>
              <a:t>及以后。</a:t>
            </a:r>
            <a:endParaRPr lang="zh-CN" altLang="en-US" dirty="0">
              <a:cs typeface="+mn-ea"/>
              <a:sym typeface="+mn-lt"/>
            </a:endParaRPr>
          </a:p>
        </p:txBody>
      </p:sp>
    </p:spTree>
  </p:cSld>
  <p:clrMapOvr>
    <a:masterClrMapping/>
  </p:clrMapOvr>
  <p:transition spd="slow">
    <p:pull dir="ru"/>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cs typeface="+mn-ea"/>
                <a:sym typeface="+mn-lt"/>
              </a:rPr>
              <a:t>Date</a:t>
            </a:r>
            <a:endParaRPr lang="zh-CN" altLang="en-US" sz="1125" dirty="0">
              <a:cs typeface="+mn-ea"/>
              <a:sym typeface="+mn-lt"/>
            </a:endParaRPr>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cs typeface="+mn-ea"/>
                <a:sym typeface="+mn-lt"/>
              </a:rPr>
              <a:t>内容导航：</a:t>
            </a:r>
            <a:endParaRPr lang="zh-CN" altLang="en-US" sz="2100" b="1" dirty="0">
              <a:solidFill>
                <a:schemeClr val="bg1"/>
              </a:solidFill>
              <a:cs typeface="+mn-ea"/>
              <a:sym typeface="+mn-lt"/>
            </a:endParaRPr>
          </a:p>
        </p:txBody>
      </p:sp>
      <p:sp>
        <p:nvSpPr>
          <p:cNvPr id="22" name="矩形 21"/>
          <p:cNvSpPr/>
          <p:nvPr/>
        </p:nvSpPr>
        <p:spPr>
          <a:xfrm>
            <a:off x="1272352" y="2160374"/>
            <a:ext cx="3375110" cy="369332"/>
          </a:xfrm>
          <a:prstGeom prst="rect">
            <a:avLst/>
          </a:prstGeom>
        </p:spPr>
        <p:txBody>
          <a:bodyPr wrap="square">
            <a:spAutoFit/>
          </a:bodyPr>
          <a:lstStyle/>
          <a:p>
            <a:r>
              <a:rPr lang="en-US" altLang="zh-CN" dirty="0">
                <a:cs typeface="+mn-ea"/>
                <a:sym typeface="+mn-lt"/>
              </a:rPr>
              <a:t>6.1 </a:t>
            </a:r>
            <a:r>
              <a:rPr lang="zh-CN" altLang="en-US" dirty="0">
                <a:cs typeface="+mn-ea"/>
                <a:sym typeface="+mn-lt"/>
              </a:rPr>
              <a:t>虚拟存储器概述</a:t>
            </a:r>
            <a:endParaRPr lang="zh-CN" altLang="en-US" dirty="0">
              <a:cs typeface="+mn-ea"/>
              <a:sym typeface="+mn-lt"/>
            </a:endParaRPr>
          </a:p>
        </p:txBody>
      </p:sp>
      <p:sp>
        <p:nvSpPr>
          <p:cNvPr id="23" name="矩形 22"/>
          <p:cNvSpPr/>
          <p:nvPr/>
        </p:nvSpPr>
        <p:spPr>
          <a:xfrm>
            <a:off x="1272352" y="2639005"/>
            <a:ext cx="3299648" cy="369332"/>
          </a:xfrm>
          <a:prstGeom prst="rect">
            <a:avLst/>
          </a:prstGeom>
        </p:spPr>
        <p:txBody>
          <a:bodyPr wrap="square">
            <a:spAutoFit/>
          </a:bodyPr>
          <a:lstStyle/>
          <a:p>
            <a:r>
              <a:rPr lang="en-US" altLang="zh-CN" b="1" dirty="0">
                <a:solidFill>
                  <a:srgbClr val="0000FF"/>
                </a:solidFill>
                <a:cs typeface="+mn-ea"/>
                <a:sym typeface="+mn-lt"/>
              </a:rPr>
              <a:t>6.2 </a:t>
            </a:r>
            <a:r>
              <a:rPr lang="zh-CN" altLang="en-US" b="1" dirty="0">
                <a:solidFill>
                  <a:srgbClr val="0000FF"/>
                </a:solidFill>
                <a:cs typeface="+mn-ea"/>
                <a:sym typeface="+mn-lt"/>
              </a:rPr>
              <a:t>请求分页存储管理方式</a:t>
            </a:r>
            <a:endParaRPr lang="en-US" altLang="zh-CN" b="1" dirty="0">
              <a:solidFill>
                <a:srgbClr val="0000FF"/>
              </a:solidFill>
              <a:cs typeface="+mn-ea"/>
              <a:sym typeface="+mn-lt"/>
            </a:endParaRPr>
          </a:p>
        </p:txBody>
      </p:sp>
      <p:sp>
        <p:nvSpPr>
          <p:cNvPr id="24" name="矩形 23"/>
          <p:cNvSpPr/>
          <p:nvPr/>
        </p:nvSpPr>
        <p:spPr>
          <a:xfrm>
            <a:off x="1272352" y="3103349"/>
            <a:ext cx="2616725" cy="369332"/>
          </a:xfrm>
          <a:prstGeom prst="rect">
            <a:avLst/>
          </a:prstGeom>
        </p:spPr>
        <p:txBody>
          <a:bodyPr wrap="square">
            <a:spAutoFit/>
          </a:bodyPr>
          <a:lstStyle/>
          <a:p>
            <a:r>
              <a:rPr lang="en-US" altLang="zh-CN" dirty="0">
                <a:cs typeface="+mn-ea"/>
                <a:sym typeface="+mn-lt"/>
              </a:rPr>
              <a:t>6.3 </a:t>
            </a:r>
            <a:r>
              <a:rPr lang="zh-CN" altLang="en-US" dirty="0">
                <a:cs typeface="+mn-ea"/>
                <a:sym typeface="+mn-lt"/>
              </a:rPr>
              <a:t>页面置换算法</a:t>
            </a:r>
            <a:endParaRPr lang="en-US" altLang="zh-CN" dirty="0">
              <a:cs typeface="+mn-ea"/>
              <a:sym typeface="+mn-lt"/>
            </a:endParaRPr>
          </a:p>
        </p:txBody>
      </p:sp>
      <p:sp>
        <p:nvSpPr>
          <p:cNvPr id="25" name="矩形 24"/>
          <p:cNvSpPr/>
          <p:nvPr/>
        </p:nvSpPr>
        <p:spPr>
          <a:xfrm>
            <a:off x="1272352" y="3567692"/>
            <a:ext cx="2616725" cy="369332"/>
          </a:xfrm>
          <a:prstGeom prst="rect">
            <a:avLst/>
          </a:prstGeom>
        </p:spPr>
        <p:txBody>
          <a:bodyPr wrap="square">
            <a:spAutoFit/>
          </a:bodyPr>
          <a:lstStyle/>
          <a:p>
            <a:r>
              <a:rPr lang="en-US" altLang="zh-CN" dirty="0">
                <a:cs typeface="+mn-ea"/>
                <a:sym typeface="+mn-lt"/>
              </a:rPr>
              <a:t>6.4 </a:t>
            </a:r>
            <a:r>
              <a:rPr lang="zh-CN" altLang="en-US" dirty="0">
                <a:cs typeface="+mn-ea"/>
                <a:sym typeface="+mn-lt"/>
              </a:rPr>
              <a:t>抖动与工作集</a:t>
            </a:r>
            <a:endParaRPr lang="zh-CN" altLang="en-US" dirty="0">
              <a:cs typeface="+mn-ea"/>
              <a:sym typeface="+mn-lt"/>
            </a:endParaRPr>
          </a:p>
        </p:txBody>
      </p:sp>
      <p:sp>
        <p:nvSpPr>
          <p:cNvPr id="27" name="矩形 26"/>
          <p:cNvSpPr/>
          <p:nvPr/>
        </p:nvSpPr>
        <p:spPr>
          <a:xfrm>
            <a:off x="1272352" y="4032036"/>
            <a:ext cx="2929007" cy="369332"/>
          </a:xfrm>
          <a:prstGeom prst="rect">
            <a:avLst/>
          </a:prstGeom>
        </p:spPr>
        <p:txBody>
          <a:bodyPr wrap="square">
            <a:spAutoFit/>
          </a:bodyPr>
          <a:lstStyle/>
          <a:p>
            <a:r>
              <a:rPr lang="en-US" altLang="zh-CN" dirty="0">
                <a:cs typeface="+mn-ea"/>
                <a:sym typeface="+mn-lt"/>
              </a:rPr>
              <a:t>6.5 </a:t>
            </a:r>
            <a:r>
              <a:rPr lang="zh-CN" altLang="en-US" dirty="0">
                <a:cs typeface="+mn-ea"/>
                <a:sym typeface="+mn-lt"/>
              </a:rPr>
              <a:t>请求分段存储管理方式</a:t>
            </a:r>
            <a:endParaRPr lang="zh-CN" altLang="en-US" dirty="0">
              <a:cs typeface="+mn-ea"/>
              <a:sym typeface="+mn-lt"/>
            </a:endParaRPr>
          </a:p>
        </p:txBody>
      </p:sp>
      <p:sp>
        <p:nvSpPr>
          <p:cNvPr id="28" name="矩形 27"/>
          <p:cNvSpPr/>
          <p:nvPr/>
        </p:nvSpPr>
        <p:spPr>
          <a:xfrm>
            <a:off x="1272352" y="4496380"/>
            <a:ext cx="2761613" cy="369332"/>
          </a:xfrm>
          <a:prstGeom prst="rect">
            <a:avLst/>
          </a:prstGeom>
        </p:spPr>
        <p:txBody>
          <a:bodyPr wrap="square">
            <a:spAutoFit/>
          </a:bodyPr>
          <a:lstStyle/>
          <a:p>
            <a:r>
              <a:rPr lang="en-US" altLang="zh-CN" dirty="0">
                <a:cs typeface="+mn-ea"/>
                <a:sym typeface="+mn-lt"/>
              </a:rPr>
              <a:t>6.6 </a:t>
            </a:r>
            <a:r>
              <a:rPr lang="zh-CN" altLang="en-US" dirty="0">
                <a:cs typeface="+mn-ea"/>
                <a:sym typeface="+mn-lt"/>
              </a:rPr>
              <a:t>虚拟存储器实现实例</a:t>
            </a:r>
            <a:endParaRPr lang="zh-CN" altLang="en-US" dirty="0">
              <a:cs typeface="+mn-ea"/>
              <a:sym typeface="+mn-lt"/>
            </a:endParaRPr>
          </a:p>
        </p:txBody>
      </p:sp>
      <p:sp>
        <p:nvSpPr>
          <p:cNvPr id="3" name="矩形 2"/>
          <p:cNvSpPr/>
          <p:nvPr/>
        </p:nvSpPr>
        <p:spPr>
          <a:xfrm>
            <a:off x="5546325" y="2647003"/>
            <a:ext cx="2896947" cy="507831"/>
          </a:xfrm>
          <a:prstGeom prst="rect">
            <a:avLst/>
          </a:prstGeom>
        </p:spPr>
        <p:txBody>
          <a:bodyPr wrap="none">
            <a:spAutoFit/>
          </a:bodyPr>
          <a:lstStyle/>
          <a:p>
            <a:r>
              <a:rPr lang="zh-CN" altLang="en-US" sz="2700" dirty="0">
                <a:solidFill>
                  <a:srgbClr val="000000"/>
                </a:solidFill>
                <a:cs typeface="+mn-ea"/>
                <a:sym typeface="+mn-lt"/>
              </a:rPr>
              <a:t>第</a:t>
            </a:r>
            <a:r>
              <a:rPr lang="en-US" altLang="zh-CN" sz="2700" dirty="0">
                <a:solidFill>
                  <a:srgbClr val="000000"/>
                </a:solidFill>
                <a:cs typeface="+mn-ea"/>
                <a:sym typeface="+mn-lt"/>
              </a:rPr>
              <a:t>6</a:t>
            </a:r>
            <a:r>
              <a:rPr lang="zh-CN" altLang="en-US" sz="2700" dirty="0">
                <a:solidFill>
                  <a:srgbClr val="000000"/>
                </a:solidFill>
                <a:cs typeface="+mn-ea"/>
                <a:sym typeface="+mn-lt"/>
              </a:rPr>
              <a:t>章 虚拟存储器</a:t>
            </a:r>
            <a:endParaRPr lang="zh-CN" altLang="en-US" sz="2700" dirty="0">
              <a:cs typeface="+mn-ea"/>
              <a:sym typeface="+mn-lt"/>
            </a:endParaRPr>
          </a:p>
        </p:txBody>
      </p:sp>
      <p:cxnSp>
        <p:nvCxnSpPr>
          <p:cNvPr id="5" name="直接连接符 4"/>
          <p:cNvCxnSpPr/>
          <p:nvPr/>
        </p:nvCxnSpPr>
        <p:spPr>
          <a:xfrm>
            <a:off x="5566300" y="3250103"/>
            <a:ext cx="309404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6653"/>
          </a:xfrm>
          <a:prstGeom prst="rect">
            <a:avLst/>
          </a:prstGeom>
        </p:spPr>
        <p:txBody>
          <a:bodyPr wrap="square">
            <a:spAutoFit/>
          </a:bodyPr>
          <a:lstStyle/>
          <a:p>
            <a:pPr algn="ctr">
              <a:lnSpc>
                <a:spcPct val="132000"/>
              </a:lnSpc>
            </a:pPr>
            <a:r>
              <a:rPr lang="zh-CN" altLang="en-US" dirty="0">
                <a:solidFill>
                  <a:srgbClr val="002060"/>
                </a:solidFill>
                <a:cs typeface="+mn-ea"/>
                <a:sym typeface="+mn-lt"/>
              </a:rPr>
              <a:t>主讲：王红玲    主审：汤小丹</a:t>
            </a:r>
            <a:endParaRPr lang="en-US" altLang="zh-CN" dirty="0">
              <a:solidFill>
                <a:srgbClr val="002060"/>
              </a:solidFill>
              <a:cs typeface="+mn-ea"/>
              <a:sym typeface="+mn-lt"/>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132616"/>
            <a:ext cx="395288" cy="395288"/>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571471"/>
            <a:ext cx="395288" cy="395288"/>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063073"/>
            <a:ext cx="395288" cy="395288"/>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526927"/>
            <a:ext cx="395288" cy="395288"/>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996487"/>
            <a:ext cx="395288" cy="395288"/>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4474772"/>
            <a:ext cx="395288" cy="395288"/>
          </a:xfrm>
          <a:prstGeom prst="rect">
            <a:avLst/>
          </a:prstGeom>
          <a:ln>
            <a:noFill/>
          </a:ln>
          <a:effectLst>
            <a:softEdge rad="0"/>
          </a:effectLst>
        </p:spPr>
      </p:pic>
    </p:spTree>
  </p:cSld>
  <p:clrMapOvr>
    <a:masterClrMapping/>
  </p:clrMapOvr>
  <p:transition spd="slow">
    <p:pull dir="ru"/>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9217"/>
          <p:cNvSpPr>
            <a:spLocks noGrp="1"/>
          </p:cNvSpPr>
          <p:nvPr>
            <p:ph type="title"/>
          </p:nvPr>
        </p:nvSpPr>
        <p:spPr>
          <a:xfrm>
            <a:off x="1656160" y="1484710"/>
            <a:ext cx="6122194" cy="571500"/>
          </a:xfrm>
        </p:spPr>
        <p:txBody>
          <a:bodyPr anchor="ctr" anchorCtr="0"/>
          <a:lstStyle/>
          <a:p>
            <a:r>
              <a:rPr lang="zh-CN" altLang="en-US" dirty="0"/>
              <a:t>请求分页技术</a:t>
            </a:r>
            <a:endParaRPr lang="zh-CN" altLang="en-US" dirty="0"/>
          </a:p>
        </p:txBody>
      </p:sp>
      <p:sp>
        <p:nvSpPr>
          <p:cNvPr id="9219" name="内容占位符 9218"/>
          <p:cNvSpPr>
            <a:spLocks noGrp="1"/>
          </p:cNvSpPr>
          <p:nvPr>
            <p:ph idx="1"/>
          </p:nvPr>
        </p:nvSpPr>
        <p:spPr>
          <a:xfrm>
            <a:off x="1058704" y="2457450"/>
            <a:ext cx="7139940" cy="3028950"/>
          </a:xfrm>
        </p:spPr>
        <p:txBody>
          <a:bodyPr anchor="t" anchorCtr="0"/>
          <a:lstStyle/>
          <a:p>
            <a:pPr>
              <a:lnSpc>
                <a:spcPct val="90000"/>
              </a:lnSpc>
              <a:buNone/>
            </a:pPr>
            <a:endParaRPr lang="en-US" altLang="zh-CN" sz="2700" dirty="0">
              <a:solidFill>
                <a:srgbClr val="000000"/>
              </a:solidFill>
            </a:endParaRPr>
          </a:p>
          <a:p>
            <a:pPr>
              <a:lnSpc>
                <a:spcPct val="90000"/>
              </a:lnSpc>
            </a:pPr>
            <a:r>
              <a:rPr lang="zh-CN" altLang="en-US" sz="1800" dirty="0">
                <a:solidFill>
                  <a:srgbClr val="000000"/>
                </a:solidFill>
              </a:rPr>
              <a:t>请求分页存储管理技术是在单纯分页技术基础上发展起来的，二者的根本区别在于</a:t>
            </a:r>
            <a:r>
              <a:rPr lang="zh-CN" altLang="en-US" sz="1800" dirty="0"/>
              <a:t>请求分页提供</a:t>
            </a:r>
            <a:r>
              <a:rPr lang="zh-CN" altLang="en-US" sz="1800" dirty="0">
                <a:solidFill>
                  <a:srgbClr val="FF0000"/>
                </a:solidFill>
              </a:rPr>
              <a:t>虚拟存储器</a:t>
            </a:r>
            <a:r>
              <a:rPr lang="zh-CN" altLang="en-US" sz="1800" dirty="0">
                <a:solidFill>
                  <a:srgbClr val="000000"/>
                </a:solidFill>
              </a:rPr>
              <a:t>。</a:t>
            </a:r>
            <a:endParaRPr lang="zh-CN" altLang="en-US" sz="1800" dirty="0">
              <a:solidFill>
                <a:srgbClr val="000000"/>
              </a:solidFill>
            </a:endParaRPr>
          </a:p>
          <a:p>
            <a:pPr>
              <a:lnSpc>
                <a:spcPct val="90000"/>
              </a:lnSpc>
            </a:pPr>
            <a:endParaRPr lang="zh-CN" altLang="en-US" sz="1800" dirty="0">
              <a:solidFill>
                <a:srgbClr val="000000"/>
              </a:solidFill>
            </a:endParaRPr>
          </a:p>
          <a:p>
            <a:pPr>
              <a:lnSpc>
                <a:spcPct val="90000"/>
              </a:lnSpc>
            </a:pPr>
            <a:r>
              <a:rPr lang="zh-CN" altLang="en-US" sz="1800" dirty="0">
                <a:solidFill>
                  <a:srgbClr val="000000"/>
                </a:solidFill>
              </a:rPr>
              <a:t>基本思想是：当一个进程的</a:t>
            </a:r>
            <a:r>
              <a:rPr lang="zh-CN" altLang="en-US" sz="1800" dirty="0">
                <a:solidFill>
                  <a:srgbClr val="FF0000"/>
                </a:solidFill>
              </a:rPr>
              <a:t>部分页面</a:t>
            </a:r>
            <a:r>
              <a:rPr lang="zh-CN" altLang="en-US" sz="1800" dirty="0">
                <a:solidFill>
                  <a:srgbClr val="000000"/>
                </a:solidFill>
              </a:rPr>
              <a:t>在内存时就可调度它运行；在运行过程中若用到的页面尚未在内存，则把它们</a:t>
            </a:r>
            <a:r>
              <a:rPr lang="zh-CN" altLang="en-US" sz="1800" dirty="0">
                <a:solidFill>
                  <a:srgbClr val="FF0000"/>
                </a:solidFill>
              </a:rPr>
              <a:t>动态换入</a:t>
            </a:r>
            <a:r>
              <a:rPr lang="zh-CN" altLang="en-US" sz="1800" dirty="0">
                <a:solidFill>
                  <a:srgbClr val="000000"/>
                </a:solidFill>
              </a:rPr>
              <a:t>内存。</a:t>
            </a:r>
            <a:endParaRPr lang="zh-CN" altLang="en-US" sz="1800" dirty="0">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blinds(horizontal)">
                                      <p:cBhvr>
                                        <p:cTn id="7"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请求分页存储管理</a:t>
            </a:r>
            <a:endParaRPr lang="zh-CN" altLang="en-US" sz="2100" b="1" dirty="0">
              <a:solidFill>
                <a:schemeClr val="bg1"/>
              </a:solidFill>
              <a:cs typeface="+mn-ea"/>
              <a:sym typeface="+mn-lt"/>
            </a:endParaRPr>
          </a:p>
        </p:txBody>
      </p:sp>
      <p:sp>
        <p:nvSpPr>
          <p:cNvPr id="220" name="íšḻîḋè"/>
          <p:cNvSpPr/>
          <p:nvPr/>
        </p:nvSpPr>
        <p:spPr>
          <a:xfrm>
            <a:off x="1051084" y="4876800"/>
            <a:ext cx="3798570" cy="1041083"/>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endParaRPr lang="zh-CN" altLang="en-US" sz="1650" dirty="0">
              <a:cs typeface="+mn-ea"/>
              <a:sym typeface="+mn-lt"/>
            </a:endParaRPr>
          </a:p>
        </p:txBody>
      </p:sp>
      <p:sp>
        <p:nvSpPr>
          <p:cNvPr id="221" name="i$lîďê"/>
          <p:cNvSpPr/>
          <p:nvPr/>
        </p:nvSpPr>
        <p:spPr>
          <a:xfrm>
            <a:off x="1092638" y="4521051"/>
            <a:ext cx="2772038" cy="294658"/>
          </a:xfrm>
          <a:prstGeom prst="rect">
            <a:avLst/>
          </a:prstGeom>
          <a:noFill/>
          <a:ln>
            <a:noFill/>
          </a:ln>
        </p:spPr>
        <p:txBody>
          <a:bodyPr wrap="square" lIns="68580" tIns="34290" rIns="68580" bIns="34290" anchor="ctr" anchorCtr="0">
            <a:noAutofit/>
          </a:bodyPr>
          <a:lstStyle/>
          <a:p>
            <a:endParaRPr lang="zh-CN" altLang="en-US" dirty="0">
              <a:cs typeface="+mn-ea"/>
              <a:sym typeface="+mn-lt"/>
            </a:endParaRPr>
          </a:p>
        </p:txBody>
      </p:sp>
      <p:sp>
        <p:nvSpPr>
          <p:cNvPr id="224" name="îs1iďé"/>
          <p:cNvSpPr/>
          <p:nvPr/>
        </p:nvSpPr>
        <p:spPr>
          <a:xfrm>
            <a:off x="1106931" y="2550868"/>
            <a:ext cx="7283426" cy="1428425"/>
          </a:xfrm>
          <a:prstGeom prst="rect">
            <a:avLst/>
          </a:prstGeom>
          <a:noFill/>
          <a:ln>
            <a:noFill/>
          </a:ln>
        </p:spPr>
        <p:txBody>
          <a:bodyPr wrap="square" lIns="68580" tIns="34290" rIns="68580" bIns="34290" anchor="t" anchorCtr="0">
            <a:noAutofit/>
          </a:bodyPr>
          <a:lstStyle/>
          <a:p>
            <a:pPr marL="257175" indent="-257175">
              <a:lnSpc>
                <a:spcPct val="120000"/>
              </a:lnSpc>
              <a:spcBef>
                <a:spcPts val="450"/>
              </a:spcBef>
              <a:buClr>
                <a:srgbClr val="FF0000"/>
              </a:buClr>
              <a:buFont typeface="Wingdings" panose="05000000000000000000" pitchFamily="2" charset="2"/>
              <a:buChar char="Ø"/>
            </a:pPr>
            <a:r>
              <a:rPr lang="zh-CN" altLang="en-US" sz="1650" dirty="0">
                <a:cs typeface="+mn-ea"/>
                <a:sym typeface="+mn-lt"/>
              </a:rPr>
              <a:t>状态位</a:t>
            </a:r>
            <a:r>
              <a:rPr lang="en-US" altLang="zh-CN" sz="1650" dirty="0">
                <a:cs typeface="+mn-ea"/>
                <a:sym typeface="+mn-lt"/>
              </a:rPr>
              <a:t>P</a:t>
            </a:r>
            <a:r>
              <a:rPr lang="zh-CN" altLang="en-US" sz="1650" dirty="0">
                <a:cs typeface="+mn-ea"/>
                <a:sym typeface="+mn-lt"/>
              </a:rPr>
              <a:t>：指示该页是否在内存</a:t>
            </a:r>
            <a:endParaRPr lang="zh-CN" altLang="en-US" sz="1650" dirty="0">
              <a:cs typeface="+mn-ea"/>
              <a:sym typeface="+mn-lt"/>
            </a:endParaRPr>
          </a:p>
          <a:p>
            <a:pPr marL="257175" indent="-257175">
              <a:lnSpc>
                <a:spcPct val="120000"/>
              </a:lnSpc>
              <a:spcBef>
                <a:spcPts val="450"/>
              </a:spcBef>
              <a:buClr>
                <a:srgbClr val="FF0000"/>
              </a:buClr>
              <a:buFont typeface="Wingdings" panose="05000000000000000000" pitchFamily="2" charset="2"/>
              <a:buChar char="Ø"/>
            </a:pPr>
            <a:r>
              <a:rPr lang="zh-CN" altLang="en-US" sz="1650" dirty="0">
                <a:cs typeface="+mn-ea"/>
                <a:sym typeface="+mn-lt"/>
              </a:rPr>
              <a:t>访问字段</a:t>
            </a:r>
            <a:r>
              <a:rPr lang="en-US" altLang="zh-CN" sz="1650" dirty="0">
                <a:cs typeface="+mn-ea"/>
                <a:sym typeface="+mn-lt"/>
              </a:rPr>
              <a:t>A</a:t>
            </a:r>
            <a:r>
              <a:rPr lang="zh-CN" altLang="en-US" sz="1650" dirty="0">
                <a:cs typeface="+mn-ea"/>
                <a:sym typeface="+mn-lt"/>
              </a:rPr>
              <a:t>：记录该页在一段时间内被访问的次数</a:t>
            </a:r>
            <a:endParaRPr lang="zh-CN" altLang="en-US" sz="1650" dirty="0">
              <a:cs typeface="+mn-ea"/>
              <a:sym typeface="+mn-lt"/>
            </a:endParaRPr>
          </a:p>
          <a:p>
            <a:pPr marL="257175" indent="-257175">
              <a:lnSpc>
                <a:spcPct val="120000"/>
              </a:lnSpc>
              <a:spcBef>
                <a:spcPts val="450"/>
              </a:spcBef>
              <a:buClr>
                <a:srgbClr val="FF0000"/>
              </a:buClr>
              <a:buFont typeface="Wingdings" panose="05000000000000000000" pitchFamily="2" charset="2"/>
              <a:buChar char="Ø"/>
            </a:pPr>
            <a:r>
              <a:rPr lang="zh-CN" altLang="en-US" sz="1650" dirty="0">
                <a:cs typeface="+mn-ea"/>
                <a:sym typeface="+mn-lt"/>
              </a:rPr>
              <a:t>修改位</a:t>
            </a:r>
            <a:r>
              <a:rPr lang="en-US" altLang="zh-CN" sz="1650" dirty="0">
                <a:cs typeface="+mn-ea"/>
                <a:sym typeface="+mn-lt"/>
              </a:rPr>
              <a:t>M</a:t>
            </a:r>
            <a:r>
              <a:rPr lang="zh-CN" altLang="en-US" sz="1650" dirty="0">
                <a:cs typeface="+mn-ea"/>
                <a:sym typeface="+mn-lt"/>
              </a:rPr>
              <a:t>：也称脏位，标志该页是否被修改过</a:t>
            </a:r>
            <a:endParaRPr lang="zh-CN" altLang="en-US" sz="1650" dirty="0">
              <a:cs typeface="+mn-ea"/>
              <a:sym typeface="+mn-lt"/>
            </a:endParaRPr>
          </a:p>
          <a:p>
            <a:pPr marL="257175" indent="-257175">
              <a:lnSpc>
                <a:spcPct val="120000"/>
              </a:lnSpc>
              <a:spcBef>
                <a:spcPts val="450"/>
              </a:spcBef>
              <a:buClr>
                <a:srgbClr val="FF0000"/>
              </a:buClr>
              <a:buFont typeface="Wingdings" panose="05000000000000000000" pitchFamily="2" charset="2"/>
              <a:buChar char="Ø"/>
            </a:pPr>
            <a:r>
              <a:rPr lang="zh-CN" altLang="en-US" sz="1650" dirty="0">
                <a:cs typeface="+mn-ea"/>
                <a:sym typeface="+mn-lt"/>
              </a:rPr>
              <a:t>外存地址：指示该页在外存中的地址（物理块号）</a:t>
            </a:r>
            <a:endParaRPr lang="zh-CN" altLang="en-US" sz="1650" dirty="0">
              <a:cs typeface="+mn-ea"/>
              <a:sym typeface="+mn-lt"/>
            </a:endParaRPr>
          </a:p>
        </p:txBody>
      </p:sp>
      <p:sp>
        <p:nvSpPr>
          <p:cNvPr id="225" name="íšḻíḑê"/>
          <p:cNvSpPr/>
          <p:nvPr/>
        </p:nvSpPr>
        <p:spPr>
          <a:xfrm>
            <a:off x="1092639" y="2199447"/>
            <a:ext cx="2772038" cy="304310"/>
          </a:xfrm>
          <a:prstGeom prst="rect">
            <a:avLst/>
          </a:prstGeom>
          <a:noFill/>
          <a:ln>
            <a:noFill/>
          </a:ln>
        </p:spPr>
        <p:txBody>
          <a:bodyPr wrap="square" lIns="68580" tIns="34290" rIns="68580" bIns="34290" anchor="ctr" anchorCtr="0">
            <a:noAutofit/>
          </a:bodyPr>
          <a:lstStyle/>
          <a:p>
            <a:r>
              <a:rPr lang="zh-CN" altLang="en-US" dirty="0">
                <a:solidFill>
                  <a:srgbClr val="FF0000"/>
                </a:solidFill>
                <a:cs typeface="+mn-ea"/>
                <a:sym typeface="+mn-lt"/>
              </a:rPr>
              <a:t>请求页表机制</a:t>
            </a:r>
            <a:endParaRPr lang="zh-CN" altLang="en-US" dirty="0">
              <a:solidFill>
                <a:srgbClr val="FF0000"/>
              </a:solidFill>
              <a:cs typeface="+mn-ea"/>
              <a:sym typeface="+mn-lt"/>
            </a:endParaRPr>
          </a:p>
        </p:txBody>
      </p:sp>
      <p:sp>
        <p:nvSpPr>
          <p:cNvPr id="226" name="îSļiḓè"/>
          <p:cNvSpPr/>
          <p:nvPr/>
        </p:nvSpPr>
        <p:spPr>
          <a:xfrm>
            <a:off x="580012" y="2189275"/>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9" name="îṡḷíďe"/>
          <p:cNvSpPr/>
          <p:nvPr/>
        </p:nvSpPr>
        <p:spPr>
          <a:xfrm>
            <a:off x="722703" y="2336378"/>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16" name="íšḻíḑê"/>
          <p:cNvSpPr/>
          <p:nvPr/>
        </p:nvSpPr>
        <p:spPr>
          <a:xfrm>
            <a:off x="594305" y="1764196"/>
            <a:ext cx="2772038" cy="304310"/>
          </a:xfrm>
          <a:prstGeom prst="rect">
            <a:avLst/>
          </a:prstGeom>
          <a:noFill/>
          <a:ln>
            <a:noFill/>
          </a:ln>
        </p:spPr>
        <p:txBody>
          <a:bodyPr wrap="square" lIns="68580" tIns="34290" rIns="68580" bIns="34290" anchor="ctr" anchorCtr="0">
            <a:noAutofit/>
          </a:bodyPr>
          <a:lstStyle/>
          <a:p>
            <a:r>
              <a:rPr lang="zh-CN" altLang="en-US" dirty="0">
                <a:cs typeface="+mn-ea"/>
                <a:sym typeface="+mn-lt"/>
              </a:rPr>
              <a:t>请求分页中的硬件支持</a:t>
            </a:r>
            <a:endParaRPr lang="zh-CN" altLang="en-US" dirty="0">
              <a:cs typeface="+mn-ea"/>
              <a:sym typeface="+mn-lt"/>
            </a:endParaRPr>
          </a:p>
        </p:txBody>
      </p:sp>
      <p:graphicFrame>
        <p:nvGraphicFramePr>
          <p:cNvPr id="17" name="表格 16"/>
          <p:cNvGraphicFramePr>
            <a:graphicFrameLocks noGrp="1"/>
          </p:cNvGraphicFramePr>
          <p:nvPr/>
        </p:nvGraphicFramePr>
        <p:xfrm>
          <a:off x="1092468" y="4473620"/>
          <a:ext cx="7489918" cy="274320"/>
        </p:xfrm>
        <a:graphic>
          <a:graphicData uri="http://schemas.openxmlformats.org/drawingml/2006/table">
            <a:tbl>
              <a:tblPr>
                <a:tableStyleId>{5C22544A-7EE6-4342-B048-85BDC9FD1C3A}</a:tableStyleId>
              </a:tblPr>
              <a:tblGrid>
                <a:gridCol w="934309"/>
                <a:gridCol w="1386021"/>
                <a:gridCol w="1386021"/>
                <a:gridCol w="1386021"/>
                <a:gridCol w="1162096"/>
                <a:gridCol w="1235450"/>
              </a:tblGrid>
              <a:tr h="274320">
                <a:tc>
                  <a:txBody>
                    <a:bodyPr/>
                    <a:lstStyle/>
                    <a:p>
                      <a:pPr indent="0" algn="ctr" fontAlgn="auto">
                        <a:spcAft>
                          <a:spcPts val="0"/>
                        </a:spcAft>
                      </a:pPr>
                      <a:r>
                        <a:rPr lang="zh-CN" sz="1800" kern="1050" dirty="0">
                          <a:solidFill>
                            <a:schemeClr val="bg1"/>
                          </a:solidFill>
                          <a:effectLst/>
                          <a:latin typeface="+mn-lt"/>
                          <a:ea typeface="+mn-ea"/>
                          <a:cs typeface="+mn-ea"/>
                          <a:sym typeface="+mn-lt"/>
                        </a:rPr>
                        <a:t>页号</a:t>
                      </a:r>
                      <a:endParaRPr lang="zh-CN" sz="1800" kern="1050" dirty="0">
                        <a:solidFill>
                          <a:schemeClr val="bg1"/>
                        </a:solidFill>
                        <a:effectLst/>
                        <a:latin typeface="+mn-lt"/>
                        <a:ea typeface="+mn-ea"/>
                        <a:cs typeface="+mn-ea"/>
                        <a:sym typeface="+mn-lt"/>
                      </a:endParaRPr>
                    </a:p>
                  </a:txBody>
                  <a:tcPr marL="51435" marR="51435" marT="0" marB="0" anchor="ctr">
                    <a:solidFill>
                      <a:srgbClr val="FFC000"/>
                    </a:solidFill>
                  </a:tcPr>
                </a:tc>
                <a:tc>
                  <a:txBody>
                    <a:bodyPr/>
                    <a:lstStyle/>
                    <a:p>
                      <a:pPr indent="0" algn="ctr" fontAlgn="auto">
                        <a:spcAft>
                          <a:spcPts val="0"/>
                        </a:spcAft>
                      </a:pPr>
                      <a:r>
                        <a:rPr lang="zh-CN" sz="1800" kern="1050" dirty="0">
                          <a:solidFill>
                            <a:schemeClr val="bg1"/>
                          </a:solidFill>
                          <a:effectLst/>
                          <a:latin typeface="+mn-lt"/>
                          <a:ea typeface="+mn-ea"/>
                          <a:cs typeface="+mn-ea"/>
                          <a:sym typeface="+mn-lt"/>
                        </a:rPr>
                        <a:t>物理块号</a:t>
                      </a:r>
                      <a:endParaRPr lang="zh-CN" sz="1800" kern="1050" dirty="0">
                        <a:solidFill>
                          <a:schemeClr val="bg1"/>
                        </a:solidFill>
                        <a:effectLst/>
                        <a:latin typeface="+mn-lt"/>
                        <a:ea typeface="+mn-ea"/>
                        <a:cs typeface="+mn-ea"/>
                        <a:sym typeface="+mn-lt"/>
                      </a:endParaRPr>
                    </a:p>
                  </a:txBody>
                  <a:tcPr marL="51435" marR="51435" marT="0" marB="0" anchor="ctr">
                    <a:solidFill>
                      <a:srgbClr val="FFC000"/>
                    </a:solidFill>
                  </a:tcPr>
                </a:tc>
                <a:tc>
                  <a:txBody>
                    <a:bodyPr/>
                    <a:lstStyle/>
                    <a:p>
                      <a:pPr indent="0" algn="ctr" fontAlgn="auto">
                        <a:spcAft>
                          <a:spcPts val="0"/>
                        </a:spcAft>
                      </a:pPr>
                      <a:r>
                        <a:rPr lang="zh-CN" sz="1800" kern="1050" dirty="0">
                          <a:solidFill>
                            <a:schemeClr val="bg1"/>
                          </a:solidFill>
                          <a:effectLst/>
                          <a:latin typeface="+mn-lt"/>
                          <a:ea typeface="+mn-ea"/>
                          <a:cs typeface="+mn-ea"/>
                          <a:sym typeface="+mn-lt"/>
                        </a:rPr>
                        <a:t>状态位</a:t>
                      </a:r>
                      <a:r>
                        <a:rPr lang="en-US" sz="1800" kern="1050" dirty="0">
                          <a:solidFill>
                            <a:schemeClr val="bg1"/>
                          </a:solidFill>
                          <a:effectLst/>
                          <a:latin typeface="+mn-lt"/>
                          <a:ea typeface="+mn-ea"/>
                          <a:cs typeface="+mn-ea"/>
                          <a:sym typeface="+mn-lt"/>
                        </a:rPr>
                        <a:t>P</a:t>
                      </a:r>
                      <a:endParaRPr lang="zh-CN" sz="1800" kern="1050" dirty="0">
                        <a:solidFill>
                          <a:schemeClr val="bg1"/>
                        </a:solidFill>
                        <a:effectLst/>
                        <a:latin typeface="+mn-lt"/>
                        <a:ea typeface="+mn-ea"/>
                        <a:cs typeface="+mn-ea"/>
                        <a:sym typeface="+mn-lt"/>
                      </a:endParaRPr>
                    </a:p>
                  </a:txBody>
                  <a:tcPr marL="51435" marR="51435" marT="0" marB="0" anchor="ctr">
                    <a:solidFill>
                      <a:srgbClr val="FFC000"/>
                    </a:solidFill>
                  </a:tcPr>
                </a:tc>
                <a:tc>
                  <a:txBody>
                    <a:bodyPr/>
                    <a:lstStyle/>
                    <a:p>
                      <a:pPr indent="0" algn="ctr" fontAlgn="auto">
                        <a:spcAft>
                          <a:spcPts val="0"/>
                        </a:spcAft>
                      </a:pPr>
                      <a:r>
                        <a:rPr lang="zh-CN" sz="1800" kern="1050" dirty="0">
                          <a:solidFill>
                            <a:srgbClr val="FF0000"/>
                          </a:solidFill>
                          <a:effectLst/>
                          <a:latin typeface="+mn-lt"/>
                          <a:ea typeface="+mn-ea"/>
                          <a:cs typeface="+mn-ea"/>
                          <a:sym typeface="+mn-lt"/>
                        </a:rPr>
                        <a:t>访问字段</a:t>
                      </a:r>
                      <a:r>
                        <a:rPr lang="en-US" sz="1800" kern="1050" dirty="0">
                          <a:solidFill>
                            <a:srgbClr val="FF0000"/>
                          </a:solidFill>
                          <a:effectLst/>
                          <a:latin typeface="+mn-lt"/>
                          <a:ea typeface="+mn-ea"/>
                          <a:cs typeface="+mn-ea"/>
                          <a:sym typeface="+mn-lt"/>
                        </a:rPr>
                        <a:t>A</a:t>
                      </a:r>
                      <a:endParaRPr lang="en-US" sz="1800" kern="1050" dirty="0">
                        <a:solidFill>
                          <a:srgbClr val="FF0000"/>
                        </a:solidFill>
                        <a:effectLst/>
                        <a:latin typeface="+mn-lt"/>
                        <a:ea typeface="+mn-ea"/>
                        <a:cs typeface="+mn-ea"/>
                        <a:sym typeface="+mn-lt"/>
                      </a:endParaRPr>
                    </a:p>
                  </a:txBody>
                  <a:tcPr marL="51435" marR="51435" marT="0" marB="0" anchor="ctr">
                    <a:solidFill>
                      <a:srgbClr val="FFC000"/>
                    </a:solidFill>
                  </a:tcPr>
                </a:tc>
                <a:tc>
                  <a:txBody>
                    <a:bodyPr/>
                    <a:lstStyle/>
                    <a:p>
                      <a:pPr indent="0" algn="ctr" fontAlgn="auto">
                        <a:spcAft>
                          <a:spcPts val="0"/>
                        </a:spcAft>
                      </a:pPr>
                      <a:r>
                        <a:rPr lang="zh-CN" sz="1800" kern="1050" dirty="0">
                          <a:solidFill>
                            <a:schemeClr val="bg1"/>
                          </a:solidFill>
                          <a:effectLst/>
                          <a:latin typeface="+mn-lt"/>
                          <a:ea typeface="+mn-ea"/>
                          <a:cs typeface="+mn-ea"/>
                          <a:sym typeface="+mn-lt"/>
                        </a:rPr>
                        <a:t>修改位</a:t>
                      </a:r>
                      <a:r>
                        <a:rPr lang="en-US" sz="1800" kern="1050" dirty="0">
                          <a:solidFill>
                            <a:schemeClr val="bg1"/>
                          </a:solidFill>
                          <a:effectLst/>
                          <a:latin typeface="+mn-lt"/>
                          <a:ea typeface="+mn-ea"/>
                          <a:cs typeface="+mn-ea"/>
                          <a:sym typeface="+mn-lt"/>
                        </a:rPr>
                        <a:t>M</a:t>
                      </a:r>
                      <a:endParaRPr lang="zh-CN" sz="1800" kern="1050" dirty="0">
                        <a:solidFill>
                          <a:schemeClr val="bg1"/>
                        </a:solidFill>
                        <a:effectLst/>
                        <a:latin typeface="+mn-lt"/>
                        <a:ea typeface="+mn-ea"/>
                        <a:cs typeface="+mn-ea"/>
                        <a:sym typeface="+mn-lt"/>
                      </a:endParaRPr>
                    </a:p>
                  </a:txBody>
                  <a:tcPr marL="51435" marR="51435" marT="0" marB="0" anchor="ctr">
                    <a:solidFill>
                      <a:srgbClr val="FFC000"/>
                    </a:solidFill>
                  </a:tcPr>
                </a:tc>
                <a:tc>
                  <a:txBody>
                    <a:bodyPr/>
                    <a:lstStyle/>
                    <a:p>
                      <a:pPr indent="0" algn="ctr" fontAlgn="auto">
                        <a:spcAft>
                          <a:spcPts val="0"/>
                        </a:spcAft>
                      </a:pPr>
                      <a:r>
                        <a:rPr lang="zh-CN" sz="1800" kern="1050" dirty="0">
                          <a:solidFill>
                            <a:schemeClr val="bg1"/>
                          </a:solidFill>
                          <a:effectLst/>
                          <a:latin typeface="+mn-lt"/>
                          <a:ea typeface="+mn-ea"/>
                          <a:cs typeface="+mn-ea"/>
                          <a:sym typeface="+mn-lt"/>
                        </a:rPr>
                        <a:t>外存地址</a:t>
                      </a:r>
                      <a:endParaRPr lang="zh-CN" sz="1800" kern="1050" dirty="0">
                        <a:solidFill>
                          <a:schemeClr val="bg1"/>
                        </a:solidFill>
                        <a:effectLst/>
                        <a:latin typeface="+mn-lt"/>
                        <a:ea typeface="+mn-ea"/>
                        <a:cs typeface="+mn-ea"/>
                        <a:sym typeface="+mn-lt"/>
                      </a:endParaRPr>
                    </a:p>
                  </a:txBody>
                  <a:tcPr marL="51435" marR="51435" marT="0" marB="0" anchor="ctr">
                    <a:solidFill>
                      <a:srgbClr val="FFC000"/>
                    </a:solidFill>
                  </a:tcPr>
                </a:tc>
              </a:tr>
            </a:tbl>
          </a:graphicData>
        </a:graphic>
      </p:graphicFrame>
    </p:spTree>
  </p:cSld>
  <p:clrMapOvr>
    <a:masterClrMapping/>
  </p:clrMapOvr>
  <p:transition spd="slow">
    <p:pull dir="ru"/>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占位符 11266"/>
          <p:cNvSpPr>
            <a:spLocks noGrp="1"/>
          </p:cNvSpPr>
          <p:nvPr>
            <p:ph idx="1"/>
          </p:nvPr>
        </p:nvSpPr>
        <p:spPr>
          <a:xfrm>
            <a:off x="1980010" y="2187179"/>
            <a:ext cx="5829300" cy="3086100"/>
          </a:xfrm>
        </p:spPr>
        <p:txBody>
          <a:bodyPr anchor="t" anchorCtr="0"/>
          <a:lstStyle/>
          <a:p>
            <a:pPr>
              <a:buNone/>
            </a:pPr>
            <a:r>
              <a:rPr lang="zh-CN" altLang="en-US" sz="1800" dirty="0">
                <a:solidFill>
                  <a:srgbClr val="000000"/>
                </a:solidFill>
              </a:rPr>
              <a:t>页表机制</a:t>
            </a:r>
            <a:endParaRPr lang="zh-CN" altLang="en-US" sz="1800" dirty="0">
              <a:solidFill>
                <a:srgbClr val="000000"/>
              </a:solidFill>
            </a:endParaRPr>
          </a:p>
          <a:p>
            <a:r>
              <a:rPr lang="zh-CN" altLang="en-US" sz="1800" dirty="0">
                <a:solidFill>
                  <a:srgbClr val="000000"/>
                </a:solidFill>
              </a:rPr>
              <a:t>页表项通常包含下列</a:t>
            </a:r>
            <a:r>
              <a:rPr lang="en-US" altLang="zh-CN" sz="1800" dirty="0">
                <a:solidFill>
                  <a:srgbClr val="000000"/>
                </a:solidFill>
              </a:rPr>
              <a:t>5</a:t>
            </a:r>
            <a:r>
              <a:rPr lang="zh-CN" altLang="en-US" sz="1800" dirty="0">
                <a:solidFill>
                  <a:srgbClr val="000000"/>
                </a:solidFill>
              </a:rPr>
              <a:t>种信息：</a:t>
            </a:r>
            <a:endParaRPr lang="zh-CN" altLang="en-US" sz="1800" dirty="0">
              <a:solidFill>
                <a:srgbClr val="000000"/>
              </a:solidFill>
            </a:endParaRPr>
          </a:p>
        </p:txBody>
      </p:sp>
      <p:pic>
        <p:nvPicPr>
          <p:cNvPr id="18435" name="图片 11267" descr="B533"/>
          <p:cNvPicPr>
            <a:picLocks noChangeAspect="1"/>
          </p:cNvPicPr>
          <p:nvPr/>
        </p:nvPicPr>
        <p:blipFill>
          <a:blip r:embed="rId1"/>
          <a:stretch>
            <a:fillRect/>
          </a:stretch>
        </p:blipFill>
        <p:spPr>
          <a:xfrm>
            <a:off x="1845469" y="3371850"/>
            <a:ext cx="5069681" cy="1543050"/>
          </a:xfrm>
          <a:prstGeom prst="rect">
            <a:avLst/>
          </a:prstGeom>
          <a:noFill/>
          <a:ln w="9525">
            <a:noFill/>
          </a:ln>
        </p:spPr>
      </p:pic>
      <p:sp>
        <p:nvSpPr>
          <p:cNvPr id="18436" name="矩形 11268"/>
          <p:cNvSpPr/>
          <p:nvPr/>
        </p:nvSpPr>
        <p:spPr>
          <a:xfrm>
            <a:off x="3493653" y="4982052"/>
            <a:ext cx="1944763" cy="369332"/>
          </a:xfrm>
          <a:prstGeom prst="rect">
            <a:avLst/>
          </a:prstGeom>
          <a:noFill/>
          <a:ln w="9525">
            <a:noFill/>
          </a:ln>
        </p:spPr>
        <p:txBody>
          <a:bodyPr wrap="none" anchor="ctr" anchorCtr="0">
            <a:spAutoFit/>
          </a:bodyPr>
          <a:lstStyle/>
          <a:p>
            <a:pPr algn="just"/>
            <a:r>
              <a:rPr lang="zh-CN" altLang="en-US" dirty="0">
                <a:latin typeface="Tahoma" panose="020B0604030504040204" pitchFamily="34" charset="0"/>
              </a:rPr>
              <a:t>图  典型的页表项</a:t>
            </a:r>
            <a:endParaRPr lang="zh-CN" altLang="en-US" dirty="0">
              <a:latin typeface="Tahoma" panose="020B0604030504040204" pitchFamily="34" charset="0"/>
            </a:endParaRPr>
          </a:p>
        </p:txBody>
      </p:sp>
    </p:spTree>
  </p:cSld>
  <p:clrMapOvr>
    <a:masterClrMapping/>
  </p:clrMapOvr>
  <p:transition spd="slow">
    <p:pull dir="ru"/>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请求分页中的内存分配</a:t>
            </a:r>
            <a:endParaRPr lang="zh-CN" altLang="en-US" sz="2100" b="1" dirty="0">
              <a:solidFill>
                <a:schemeClr val="bg1"/>
              </a:solidFill>
              <a:cs typeface="+mn-ea"/>
              <a:sym typeface="+mn-lt"/>
            </a:endParaRPr>
          </a:p>
        </p:txBody>
      </p:sp>
      <p:sp>
        <p:nvSpPr>
          <p:cNvPr id="18" name="íšḻîḋè"/>
          <p:cNvSpPr/>
          <p:nvPr/>
        </p:nvSpPr>
        <p:spPr>
          <a:xfrm>
            <a:off x="1310133" y="3116218"/>
            <a:ext cx="2478413" cy="1116764"/>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solidFill>
                  <a:srgbClr val="FF0000"/>
                </a:solidFill>
                <a:cs typeface="+mn-ea"/>
                <a:sym typeface="+mn-lt"/>
              </a:rPr>
              <a:t>固定</a:t>
            </a:r>
            <a:r>
              <a:rPr lang="zh-CN" altLang="en-US" dirty="0">
                <a:cs typeface="+mn-ea"/>
                <a:sym typeface="+mn-lt"/>
              </a:rPr>
              <a:t>分配 </a:t>
            </a:r>
            <a:r>
              <a:rPr lang="zh-CN" altLang="en-US" dirty="0">
                <a:solidFill>
                  <a:srgbClr val="0000FF"/>
                </a:solidFill>
                <a:cs typeface="+mn-ea"/>
                <a:sym typeface="+mn-lt"/>
              </a:rPr>
              <a:t>局部</a:t>
            </a:r>
            <a:r>
              <a:rPr lang="zh-CN" altLang="en-US" dirty="0">
                <a:cs typeface="+mn-ea"/>
                <a:sym typeface="+mn-lt"/>
              </a:rPr>
              <a:t>置换；</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solidFill>
                  <a:srgbClr val="FF0000"/>
                </a:solidFill>
                <a:cs typeface="+mn-ea"/>
                <a:sym typeface="+mn-lt"/>
              </a:rPr>
              <a:t>可变</a:t>
            </a:r>
            <a:r>
              <a:rPr lang="zh-CN" altLang="en-US" dirty="0">
                <a:cs typeface="+mn-ea"/>
                <a:sym typeface="+mn-lt"/>
              </a:rPr>
              <a:t>分配 </a:t>
            </a:r>
            <a:r>
              <a:rPr lang="zh-CN" altLang="en-US" dirty="0">
                <a:solidFill>
                  <a:srgbClr val="0000FF"/>
                </a:solidFill>
                <a:cs typeface="+mn-ea"/>
                <a:sym typeface="+mn-lt"/>
              </a:rPr>
              <a:t>全局</a:t>
            </a:r>
            <a:r>
              <a:rPr lang="zh-CN" altLang="en-US" dirty="0">
                <a:cs typeface="+mn-ea"/>
                <a:sym typeface="+mn-lt"/>
              </a:rPr>
              <a:t>置换；</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solidFill>
                  <a:srgbClr val="FF0000"/>
                </a:solidFill>
                <a:cs typeface="+mn-ea"/>
                <a:sym typeface="+mn-lt"/>
              </a:rPr>
              <a:t>可变</a:t>
            </a:r>
            <a:r>
              <a:rPr lang="zh-CN" altLang="en-US" dirty="0">
                <a:cs typeface="+mn-ea"/>
                <a:sym typeface="+mn-lt"/>
              </a:rPr>
              <a:t>分配 </a:t>
            </a:r>
            <a:r>
              <a:rPr lang="zh-CN" altLang="en-US" dirty="0">
                <a:solidFill>
                  <a:srgbClr val="0000FF"/>
                </a:solidFill>
                <a:cs typeface="+mn-ea"/>
                <a:sym typeface="+mn-lt"/>
              </a:rPr>
              <a:t>局部</a:t>
            </a:r>
            <a:r>
              <a:rPr lang="zh-CN" altLang="en-US" dirty="0">
                <a:cs typeface="+mn-ea"/>
                <a:sym typeface="+mn-lt"/>
              </a:rPr>
              <a:t>置换。</a:t>
            </a:r>
            <a:endParaRPr lang="zh-CN" altLang="en-US" dirty="0">
              <a:cs typeface="+mn-ea"/>
              <a:sym typeface="+mn-lt"/>
            </a:endParaRPr>
          </a:p>
        </p:txBody>
      </p:sp>
      <p:sp>
        <p:nvSpPr>
          <p:cNvPr id="19" name="i$lîďê"/>
          <p:cNvSpPr/>
          <p:nvPr/>
        </p:nvSpPr>
        <p:spPr>
          <a:xfrm>
            <a:off x="1351860" y="2793874"/>
            <a:ext cx="2772038" cy="294658"/>
          </a:xfrm>
          <a:prstGeom prst="rect">
            <a:avLst/>
          </a:prstGeom>
          <a:noFill/>
          <a:ln>
            <a:noFill/>
          </a:ln>
        </p:spPr>
        <p:txBody>
          <a:bodyPr wrap="square" lIns="68580" tIns="34290" rIns="68580" bIns="34290" anchor="ctr" anchorCtr="0">
            <a:noAutofit/>
          </a:bodyPr>
          <a:lstStyle/>
          <a:p>
            <a:r>
              <a:rPr lang="zh-CN" altLang="en-US" dirty="0">
                <a:cs typeface="+mn-ea"/>
                <a:sym typeface="+mn-lt"/>
              </a:rPr>
              <a:t>物理块的分配策略：</a:t>
            </a:r>
            <a:endParaRPr lang="zh-CN" altLang="en-US" dirty="0">
              <a:cs typeface="+mn-ea"/>
              <a:sym typeface="+mn-lt"/>
            </a:endParaRPr>
          </a:p>
        </p:txBody>
      </p:sp>
      <p:sp>
        <p:nvSpPr>
          <p:cNvPr id="21" name="î$ļíḋè"/>
          <p:cNvSpPr/>
          <p:nvPr/>
        </p:nvSpPr>
        <p:spPr>
          <a:xfrm>
            <a:off x="1366153" y="4650369"/>
            <a:ext cx="4094519" cy="392978"/>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cs typeface="+mn-ea"/>
                <a:sym typeface="+mn-lt"/>
              </a:rPr>
              <a:t>平均分配算法；</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solidFill>
                  <a:srgbClr val="FF0000"/>
                </a:solidFill>
                <a:cs typeface="+mn-ea"/>
                <a:sym typeface="+mn-lt"/>
              </a:rPr>
              <a:t>按比例分配算法；</a:t>
            </a:r>
            <a:endParaRPr lang="zh-CN" altLang="en-US" dirty="0">
              <a:solidFill>
                <a:srgbClr val="FF0000"/>
              </a:solidFill>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cs typeface="+mn-ea"/>
                <a:sym typeface="+mn-lt"/>
              </a:rPr>
              <a:t>考虑优先权的分配算法；</a:t>
            </a:r>
            <a:endParaRPr lang="zh-CN" altLang="en-US" dirty="0">
              <a:cs typeface="+mn-ea"/>
              <a:sym typeface="+mn-lt"/>
            </a:endParaRPr>
          </a:p>
        </p:txBody>
      </p:sp>
      <p:sp>
        <p:nvSpPr>
          <p:cNvPr id="22" name="ïṧḷïḋè"/>
          <p:cNvSpPr/>
          <p:nvPr/>
        </p:nvSpPr>
        <p:spPr>
          <a:xfrm>
            <a:off x="1366153" y="4299079"/>
            <a:ext cx="2772038" cy="311327"/>
          </a:xfrm>
          <a:prstGeom prst="rect">
            <a:avLst/>
          </a:prstGeom>
          <a:noFill/>
          <a:ln>
            <a:noFill/>
          </a:ln>
        </p:spPr>
        <p:txBody>
          <a:bodyPr wrap="square" lIns="68580" tIns="34290" rIns="68580" bIns="34290" anchor="ctr" anchorCtr="0">
            <a:noAutofit/>
          </a:bodyPr>
          <a:lstStyle/>
          <a:p>
            <a:r>
              <a:rPr lang="zh-CN" altLang="en-US" dirty="0">
                <a:cs typeface="+mn-ea"/>
                <a:sym typeface="+mn-lt"/>
              </a:rPr>
              <a:t>物理块分配算法：</a:t>
            </a:r>
            <a:endParaRPr lang="zh-CN" altLang="en-US" dirty="0">
              <a:cs typeface="+mn-ea"/>
              <a:sym typeface="+mn-lt"/>
            </a:endParaRPr>
          </a:p>
        </p:txBody>
      </p:sp>
      <p:sp>
        <p:nvSpPr>
          <p:cNvPr id="23" name="îs1iďé"/>
          <p:cNvSpPr/>
          <p:nvPr/>
        </p:nvSpPr>
        <p:spPr>
          <a:xfrm>
            <a:off x="1366153" y="2229839"/>
            <a:ext cx="7283426" cy="872561"/>
          </a:xfrm>
          <a:prstGeom prst="rect">
            <a:avLst/>
          </a:prstGeom>
          <a:noFill/>
          <a:ln>
            <a:noFill/>
          </a:ln>
        </p:spPr>
        <p:txBody>
          <a:bodyPr wrap="square" lIns="68580" tIns="34290" rIns="68580" bIns="34290" anchor="t" anchorCtr="0">
            <a:noAutofit/>
          </a:bodyPr>
          <a:lstStyle/>
          <a:p>
            <a:pPr marL="257175" indent="-257175">
              <a:lnSpc>
                <a:spcPct val="120000"/>
              </a:lnSpc>
              <a:spcBef>
                <a:spcPts val="600"/>
              </a:spcBef>
              <a:buClr>
                <a:srgbClr val="FF0000"/>
              </a:buClr>
              <a:buFont typeface="Wingdings" panose="05000000000000000000" pitchFamily="2" charset="2"/>
              <a:buChar char="Ø"/>
            </a:pPr>
            <a:r>
              <a:rPr lang="zh-CN" altLang="en-US" dirty="0">
                <a:cs typeface="+mn-ea"/>
                <a:sym typeface="+mn-lt"/>
              </a:rPr>
              <a:t>保证进程正常运行所需的最小物理块数。</a:t>
            </a:r>
            <a:endParaRPr lang="zh-CN" altLang="en-US" dirty="0">
              <a:cs typeface="+mn-ea"/>
              <a:sym typeface="+mn-lt"/>
            </a:endParaRPr>
          </a:p>
        </p:txBody>
      </p:sp>
      <p:sp>
        <p:nvSpPr>
          <p:cNvPr id="24" name="íšḻíḑê"/>
          <p:cNvSpPr/>
          <p:nvPr/>
        </p:nvSpPr>
        <p:spPr>
          <a:xfrm>
            <a:off x="1351861" y="1878418"/>
            <a:ext cx="2772038" cy="304310"/>
          </a:xfrm>
          <a:prstGeom prst="rect">
            <a:avLst/>
          </a:prstGeom>
          <a:noFill/>
          <a:ln>
            <a:noFill/>
          </a:ln>
        </p:spPr>
        <p:txBody>
          <a:bodyPr wrap="square" lIns="68580" tIns="34290" rIns="68580" bIns="34290" anchor="ctr" anchorCtr="0">
            <a:noAutofit/>
          </a:bodyPr>
          <a:lstStyle/>
          <a:p>
            <a:r>
              <a:rPr lang="zh-CN" altLang="en-US" dirty="0">
                <a:cs typeface="+mn-ea"/>
                <a:sym typeface="+mn-lt"/>
              </a:rPr>
              <a:t>最小物理块数的确定：</a:t>
            </a:r>
            <a:endParaRPr lang="zh-CN" altLang="en-US" dirty="0">
              <a:cs typeface="+mn-ea"/>
              <a:sym typeface="+mn-lt"/>
            </a:endParaRPr>
          </a:p>
        </p:txBody>
      </p:sp>
      <p:sp>
        <p:nvSpPr>
          <p:cNvPr id="25" name="îSļiḓè"/>
          <p:cNvSpPr/>
          <p:nvPr/>
        </p:nvSpPr>
        <p:spPr>
          <a:xfrm>
            <a:off x="839233" y="1868246"/>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6" name="íṥḻîḓe"/>
          <p:cNvSpPr/>
          <p:nvPr/>
        </p:nvSpPr>
        <p:spPr>
          <a:xfrm>
            <a:off x="853525" y="4237129"/>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7" name="îşļiḓè"/>
          <p:cNvSpPr/>
          <p:nvPr/>
        </p:nvSpPr>
        <p:spPr>
          <a:xfrm>
            <a:off x="839233" y="2718480"/>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8" name="îṡḷíďe"/>
          <p:cNvSpPr/>
          <p:nvPr/>
        </p:nvSpPr>
        <p:spPr>
          <a:xfrm>
            <a:off x="981925" y="2015349"/>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9" name="íSlíḋe"/>
          <p:cNvSpPr/>
          <p:nvPr/>
        </p:nvSpPr>
        <p:spPr>
          <a:xfrm>
            <a:off x="981923" y="2884992"/>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30" name="ïśḷïḓe"/>
          <p:cNvSpPr/>
          <p:nvPr/>
        </p:nvSpPr>
        <p:spPr>
          <a:xfrm>
            <a:off x="1017920" y="4379223"/>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pic>
        <p:nvPicPr>
          <p:cNvPr id="33" name="图片 32"/>
          <p:cNvPicPr>
            <a:picLocks noChangeAspect="1"/>
          </p:cNvPicPr>
          <p:nvPr/>
        </p:nvPicPr>
        <p:blipFill>
          <a:blip r:embed="rId1"/>
          <a:stretch>
            <a:fillRect/>
          </a:stretch>
        </p:blipFill>
        <p:spPr>
          <a:xfrm>
            <a:off x="7332242" y="4602056"/>
            <a:ext cx="938324" cy="567799"/>
          </a:xfrm>
          <a:prstGeom prst="rect">
            <a:avLst/>
          </a:prstGeom>
        </p:spPr>
      </p:pic>
      <p:pic>
        <p:nvPicPr>
          <p:cNvPr id="34" name="图片 33"/>
          <p:cNvPicPr>
            <a:picLocks noChangeAspect="1"/>
          </p:cNvPicPr>
          <p:nvPr/>
        </p:nvPicPr>
        <p:blipFill>
          <a:blip r:embed="rId2"/>
          <a:stretch>
            <a:fillRect/>
          </a:stretch>
        </p:blipFill>
        <p:spPr>
          <a:xfrm>
            <a:off x="7300770" y="3719703"/>
            <a:ext cx="946331" cy="659520"/>
          </a:xfrm>
          <a:prstGeom prst="rect">
            <a:avLst/>
          </a:prstGeom>
        </p:spPr>
      </p:pic>
      <p:sp>
        <p:nvSpPr>
          <p:cNvPr id="35" name="TextBox 1"/>
          <p:cNvSpPr txBox="1"/>
          <p:nvPr/>
        </p:nvSpPr>
        <p:spPr>
          <a:xfrm>
            <a:off x="5041393" y="3787545"/>
            <a:ext cx="2216669" cy="1477328"/>
          </a:xfrm>
          <a:prstGeom prst="rect">
            <a:avLst/>
          </a:prstGeom>
          <a:noFill/>
        </p:spPr>
        <p:txBody>
          <a:bodyPr wrap="square" rIns="0" rtlCol="0">
            <a:spAutoFit/>
          </a:bodyPr>
          <a:lstStyle/>
          <a:p>
            <a:pPr marL="257175" indent="-257175">
              <a:buClr>
                <a:srgbClr val="FFC000"/>
              </a:buClr>
              <a:buFont typeface="Wingdings" panose="05000000000000000000" pitchFamily="2" charset="2"/>
              <a:buChar char="p"/>
            </a:pPr>
            <a:r>
              <a:rPr lang="zh-CN" altLang="en-US" dirty="0">
                <a:cs typeface="+mn-ea"/>
                <a:sym typeface="+mn-lt"/>
              </a:rPr>
              <a:t>计算各进程页面总和</a:t>
            </a:r>
            <a:r>
              <a:rPr lang="en-US" altLang="zh-CN" i="1" dirty="0">
                <a:cs typeface="+mn-ea"/>
                <a:sym typeface="+mn-lt"/>
              </a:rPr>
              <a:t>S</a:t>
            </a:r>
            <a:endParaRPr lang="en-US" altLang="zh-CN" dirty="0">
              <a:cs typeface="+mn-ea"/>
              <a:sym typeface="+mn-lt"/>
            </a:endParaRPr>
          </a:p>
          <a:p>
            <a:pPr marL="257175" indent="-257175">
              <a:buClr>
                <a:srgbClr val="FFC000"/>
              </a:buClr>
              <a:buFont typeface="Wingdings" panose="05000000000000000000" pitchFamily="2" charset="2"/>
              <a:buChar char="p"/>
            </a:pPr>
            <a:endParaRPr lang="en-US" altLang="zh-CN" dirty="0">
              <a:cs typeface="+mn-ea"/>
              <a:sym typeface="+mn-lt"/>
            </a:endParaRPr>
          </a:p>
          <a:p>
            <a:pPr marL="257175" indent="-257175">
              <a:buClr>
                <a:srgbClr val="FFC000"/>
              </a:buClr>
              <a:buFont typeface="Wingdings" panose="05000000000000000000" pitchFamily="2" charset="2"/>
              <a:buChar char="p"/>
            </a:pPr>
            <a:r>
              <a:rPr lang="zh-CN" altLang="en-US" dirty="0">
                <a:cs typeface="+mn-ea"/>
                <a:sym typeface="+mn-lt"/>
              </a:rPr>
              <a:t>计算</a:t>
            </a:r>
            <a:r>
              <a:rPr lang="zh-CN" altLang="zh-CN" dirty="0">
                <a:cs typeface="+mn-ea"/>
                <a:sym typeface="+mn-lt"/>
              </a:rPr>
              <a:t>每个进程所能分到的物理块数</a:t>
            </a:r>
            <a:r>
              <a:rPr lang="en-US" altLang="zh-CN" i="1" dirty="0">
                <a:cs typeface="+mn-ea"/>
                <a:sym typeface="+mn-lt"/>
              </a:rPr>
              <a:t>b</a:t>
            </a:r>
            <a:r>
              <a:rPr lang="en-US" altLang="zh-CN" i="1" baseline="-25000" dirty="0">
                <a:cs typeface="+mn-ea"/>
                <a:sym typeface="+mn-lt"/>
              </a:rPr>
              <a:t>i</a:t>
            </a:r>
            <a:endParaRPr lang="zh-CN" altLang="en-US" dirty="0">
              <a:cs typeface="+mn-ea"/>
              <a:sym typeface="+mn-lt"/>
            </a:endParaRPr>
          </a:p>
        </p:txBody>
      </p:sp>
      <p:sp>
        <p:nvSpPr>
          <p:cNvPr id="2" name="对话气泡: 圆角矩形 1"/>
          <p:cNvSpPr/>
          <p:nvPr/>
        </p:nvSpPr>
        <p:spPr>
          <a:xfrm>
            <a:off x="4793941" y="3653716"/>
            <a:ext cx="3728622" cy="1657904"/>
          </a:xfrm>
          <a:prstGeom prst="wedgeRoundRectCallout">
            <a:avLst>
              <a:gd name="adj1" fmla="val -84758"/>
              <a:gd name="adj2" fmla="val 41830"/>
              <a:gd name="adj3" fmla="val 16667"/>
            </a:avLst>
          </a:prstGeom>
          <a:noFill/>
          <a:ln w="19050">
            <a:solidFill>
              <a:srgbClr val="FFC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p:transition spd="slow">
    <p:pull dir="ru"/>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页面调入策略</a:t>
            </a:r>
            <a:r>
              <a:rPr lang="en-US" altLang="zh-CN" sz="2100" b="1" dirty="0">
                <a:solidFill>
                  <a:schemeClr val="bg1"/>
                </a:solidFill>
                <a:cs typeface="+mn-ea"/>
                <a:sym typeface="+mn-lt"/>
              </a:rPr>
              <a:t>(1)</a:t>
            </a:r>
            <a:endParaRPr lang="zh-CN" altLang="en-US" sz="2100" b="1" dirty="0">
              <a:solidFill>
                <a:schemeClr val="bg1"/>
              </a:solidFill>
              <a:cs typeface="+mn-ea"/>
              <a:sym typeface="+mn-lt"/>
            </a:endParaRPr>
          </a:p>
        </p:txBody>
      </p:sp>
      <p:sp>
        <p:nvSpPr>
          <p:cNvPr id="18" name="íšḻîḋè"/>
          <p:cNvSpPr/>
          <p:nvPr/>
        </p:nvSpPr>
        <p:spPr>
          <a:xfrm>
            <a:off x="1310132" y="3329284"/>
            <a:ext cx="7132532" cy="1116764"/>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cs typeface="+mn-ea"/>
                <a:sym typeface="+mn-lt"/>
              </a:rPr>
              <a:t>如系统拥有足够的对换区空间，全部从</a:t>
            </a:r>
            <a:r>
              <a:rPr lang="zh-CN" altLang="en-US" dirty="0">
                <a:solidFill>
                  <a:srgbClr val="FF0000"/>
                </a:solidFill>
                <a:cs typeface="+mn-ea"/>
                <a:sym typeface="+mn-lt"/>
              </a:rPr>
              <a:t>对换区调入</a:t>
            </a:r>
            <a:r>
              <a:rPr lang="zh-CN" altLang="en-US" dirty="0">
                <a:cs typeface="+mn-ea"/>
                <a:sym typeface="+mn-lt"/>
              </a:rPr>
              <a:t>所需页面</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cs typeface="+mn-ea"/>
                <a:sym typeface="+mn-lt"/>
              </a:rPr>
              <a:t>如系统缺少足够的对换区空间，凡是不会被修改的文件，都直接从</a:t>
            </a:r>
            <a:r>
              <a:rPr lang="zh-CN" altLang="en-US" dirty="0">
                <a:solidFill>
                  <a:srgbClr val="FF0000"/>
                </a:solidFill>
                <a:cs typeface="+mn-ea"/>
                <a:sym typeface="+mn-lt"/>
              </a:rPr>
              <a:t>文件区调入</a:t>
            </a:r>
            <a:r>
              <a:rPr lang="zh-CN" altLang="en-US" dirty="0">
                <a:cs typeface="+mn-ea"/>
                <a:sym typeface="+mn-lt"/>
              </a:rPr>
              <a:t>；当换出这些页面时，由于未被修改而不必再将它们重写磁盘，以后再调入时，仍从文件区直接调入</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en-US" altLang="zh-CN" dirty="0">
                <a:cs typeface="+mn-ea"/>
                <a:sym typeface="+mn-lt"/>
              </a:rPr>
              <a:t>UNIX</a:t>
            </a:r>
            <a:r>
              <a:rPr lang="zh-CN" altLang="en-US" dirty="0">
                <a:cs typeface="+mn-ea"/>
                <a:sym typeface="+mn-lt"/>
              </a:rPr>
              <a:t>方式：未运行过的页面，从文件区调入；曾经运行过但又被换出的页面，从对换区调入</a:t>
            </a:r>
            <a:endParaRPr lang="zh-CN" altLang="en-US" dirty="0">
              <a:cs typeface="+mn-ea"/>
              <a:sym typeface="+mn-lt"/>
            </a:endParaRPr>
          </a:p>
        </p:txBody>
      </p:sp>
      <p:sp>
        <p:nvSpPr>
          <p:cNvPr id="19" name="i$lîďê"/>
          <p:cNvSpPr/>
          <p:nvPr>
            <p:custDataLst>
              <p:tags r:id="rId1"/>
            </p:custDataLst>
          </p:nvPr>
        </p:nvSpPr>
        <p:spPr>
          <a:xfrm>
            <a:off x="1351860" y="3006940"/>
            <a:ext cx="2772038" cy="294658"/>
          </a:xfrm>
          <a:prstGeom prst="rect">
            <a:avLst/>
          </a:prstGeom>
          <a:noFill/>
          <a:ln>
            <a:noFill/>
          </a:ln>
        </p:spPr>
        <p:txBody>
          <a:bodyPr wrap="square" lIns="68580" tIns="34290" rIns="68580" bIns="34290" anchor="ctr" anchorCtr="0">
            <a:noAutofit/>
          </a:bodyPr>
          <a:lstStyle/>
          <a:p>
            <a:r>
              <a:rPr lang="zh-CN" altLang="en-US" dirty="0">
                <a:cs typeface="+mn-ea"/>
                <a:sym typeface="+mn-lt"/>
              </a:rPr>
              <a:t>从何处调入页面</a:t>
            </a:r>
            <a:endParaRPr lang="zh-CN" altLang="en-US" dirty="0">
              <a:cs typeface="+mn-ea"/>
              <a:sym typeface="+mn-lt"/>
            </a:endParaRPr>
          </a:p>
        </p:txBody>
      </p:sp>
      <p:sp>
        <p:nvSpPr>
          <p:cNvPr id="22" name="ïṧḷïḋè"/>
          <p:cNvSpPr/>
          <p:nvPr>
            <p:custDataLst>
              <p:tags r:id="rId2"/>
            </p:custDataLst>
          </p:nvPr>
        </p:nvSpPr>
        <p:spPr>
          <a:xfrm>
            <a:off x="1366153" y="5404350"/>
            <a:ext cx="2772038" cy="311327"/>
          </a:xfrm>
          <a:prstGeom prst="rect">
            <a:avLst/>
          </a:prstGeom>
          <a:noFill/>
          <a:ln>
            <a:noFill/>
          </a:ln>
        </p:spPr>
        <p:txBody>
          <a:bodyPr wrap="square" lIns="68580" tIns="34290" rIns="68580" bIns="34290" anchor="ctr" anchorCtr="0">
            <a:noAutofit/>
          </a:bodyPr>
          <a:lstStyle/>
          <a:p>
            <a:r>
              <a:rPr lang="zh-CN" altLang="en-US" dirty="0">
                <a:solidFill>
                  <a:srgbClr val="FF0000"/>
                </a:solidFill>
                <a:cs typeface="+mn-ea"/>
                <a:sym typeface="+mn-lt"/>
              </a:rPr>
              <a:t>如何调入页面？</a:t>
            </a:r>
            <a:endParaRPr lang="zh-CN" altLang="en-US" dirty="0">
              <a:solidFill>
                <a:srgbClr val="FF0000"/>
              </a:solidFill>
              <a:cs typeface="+mn-ea"/>
              <a:sym typeface="+mn-lt"/>
            </a:endParaRPr>
          </a:p>
        </p:txBody>
      </p:sp>
      <p:sp>
        <p:nvSpPr>
          <p:cNvPr id="23" name="îs1iďé"/>
          <p:cNvSpPr/>
          <p:nvPr/>
        </p:nvSpPr>
        <p:spPr>
          <a:xfrm>
            <a:off x="1366153" y="2103330"/>
            <a:ext cx="7283426" cy="872561"/>
          </a:xfrm>
          <a:prstGeom prst="rect">
            <a:avLst/>
          </a:prstGeom>
          <a:noFill/>
          <a:ln>
            <a:noFill/>
          </a:ln>
        </p:spPr>
        <p:txBody>
          <a:bodyPr wrap="square" lIns="68580" tIns="34290" rIns="68580" bIns="34290" anchor="t" anchorCtr="0">
            <a:noAutofit/>
          </a:bodyPr>
          <a:lstStyle/>
          <a:p>
            <a:pPr marL="257175" indent="-257175">
              <a:lnSpc>
                <a:spcPct val="120000"/>
              </a:lnSpc>
              <a:spcBef>
                <a:spcPts val="600"/>
              </a:spcBef>
              <a:buClr>
                <a:srgbClr val="FF0000"/>
              </a:buClr>
              <a:buFont typeface="Wingdings" panose="05000000000000000000" pitchFamily="2" charset="2"/>
              <a:buChar char="Ø"/>
            </a:pPr>
            <a:r>
              <a:rPr lang="zh-CN" altLang="en-US" dirty="0">
                <a:cs typeface="+mn-ea"/>
                <a:sym typeface="+mn-lt"/>
              </a:rPr>
              <a:t>预调页策略：</a:t>
            </a:r>
            <a:r>
              <a:rPr lang="zh-CN" altLang="en-US" dirty="0">
                <a:solidFill>
                  <a:srgbClr val="FF0000"/>
                </a:solidFill>
                <a:cs typeface="+mn-ea"/>
                <a:sym typeface="+mn-lt"/>
              </a:rPr>
              <a:t>预先调入</a:t>
            </a:r>
            <a:r>
              <a:rPr lang="zh-CN" altLang="en-US" dirty="0">
                <a:cs typeface="+mn-ea"/>
                <a:sym typeface="+mn-lt"/>
              </a:rPr>
              <a:t>一些页面到内存</a:t>
            </a:r>
            <a:endParaRPr lang="zh-CN" altLang="en-US" dirty="0">
              <a:cs typeface="+mn-ea"/>
              <a:sym typeface="+mn-lt"/>
            </a:endParaRPr>
          </a:p>
          <a:p>
            <a:pPr marL="257175" indent="-257175">
              <a:lnSpc>
                <a:spcPct val="120000"/>
              </a:lnSpc>
              <a:spcBef>
                <a:spcPts val="600"/>
              </a:spcBef>
              <a:buClr>
                <a:srgbClr val="FF0000"/>
              </a:buClr>
              <a:buFont typeface="Wingdings" panose="05000000000000000000" pitchFamily="2" charset="2"/>
              <a:buChar char="Ø"/>
            </a:pPr>
            <a:r>
              <a:rPr lang="zh-CN" altLang="en-US" dirty="0">
                <a:solidFill>
                  <a:srgbClr val="FF0000"/>
                </a:solidFill>
                <a:cs typeface="+mn-ea"/>
                <a:sym typeface="+mn-lt"/>
              </a:rPr>
              <a:t>请求调页</a:t>
            </a:r>
            <a:r>
              <a:rPr lang="zh-CN" altLang="en-US" dirty="0">
                <a:cs typeface="+mn-ea"/>
                <a:sym typeface="+mn-lt"/>
              </a:rPr>
              <a:t>策略：发现需要访问的页面不在内存时，</a:t>
            </a:r>
            <a:r>
              <a:rPr lang="zh-CN" altLang="en-US" dirty="0">
                <a:solidFill>
                  <a:srgbClr val="FF0000"/>
                </a:solidFill>
                <a:cs typeface="+mn-ea"/>
                <a:sym typeface="+mn-lt"/>
              </a:rPr>
              <a:t>调入</a:t>
            </a:r>
            <a:r>
              <a:rPr lang="zh-CN" altLang="en-US" dirty="0">
                <a:cs typeface="+mn-ea"/>
                <a:sym typeface="+mn-lt"/>
              </a:rPr>
              <a:t>内存</a:t>
            </a:r>
            <a:endParaRPr lang="zh-CN" altLang="en-US" dirty="0">
              <a:cs typeface="+mn-ea"/>
              <a:sym typeface="+mn-lt"/>
            </a:endParaRPr>
          </a:p>
        </p:txBody>
      </p:sp>
      <p:sp>
        <p:nvSpPr>
          <p:cNvPr id="24" name="íšḻíḑê"/>
          <p:cNvSpPr/>
          <p:nvPr>
            <p:custDataLst>
              <p:tags r:id="rId3"/>
            </p:custDataLst>
          </p:nvPr>
        </p:nvSpPr>
        <p:spPr>
          <a:xfrm>
            <a:off x="1351861" y="1751908"/>
            <a:ext cx="2772038" cy="304310"/>
          </a:xfrm>
          <a:prstGeom prst="rect">
            <a:avLst/>
          </a:prstGeom>
          <a:noFill/>
          <a:ln>
            <a:noFill/>
          </a:ln>
        </p:spPr>
        <p:txBody>
          <a:bodyPr wrap="square" lIns="68580" tIns="34290" rIns="68580" bIns="34290" anchor="ctr" anchorCtr="0">
            <a:noAutofit/>
          </a:bodyPr>
          <a:lstStyle/>
          <a:p>
            <a:r>
              <a:rPr lang="zh-CN" altLang="en-US" dirty="0">
                <a:cs typeface="+mn-ea"/>
                <a:sym typeface="+mn-lt"/>
              </a:rPr>
              <a:t>何时调入页面</a:t>
            </a:r>
            <a:endParaRPr lang="zh-CN" altLang="en-US" dirty="0">
              <a:cs typeface="+mn-ea"/>
              <a:sym typeface="+mn-lt"/>
            </a:endParaRPr>
          </a:p>
        </p:txBody>
      </p:sp>
      <p:sp>
        <p:nvSpPr>
          <p:cNvPr id="25" name="îSļiḓè"/>
          <p:cNvSpPr/>
          <p:nvPr>
            <p:custDataLst>
              <p:tags r:id="rId4"/>
            </p:custDataLst>
          </p:nvPr>
        </p:nvSpPr>
        <p:spPr>
          <a:xfrm>
            <a:off x="839233" y="1741737"/>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6" name="íṥḻîḓe"/>
          <p:cNvSpPr/>
          <p:nvPr>
            <p:custDataLst>
              <p:tags r:id="rId5"/>
            </p:custDataLst>
          </p:nvPr>
        </p:nvSpPr>
        <p:spPr>
          <a:xfrm>
            <a:off x="853525" y="5342399"/>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7" name="îşļiḓè"/>
          <p:cNvSpPr/>
          <p:nvPr>
            <p:custDataLst>
              <p:tags r:id="rId6"/>
            </p:custDataLst>
          </p:nvPr>
        </p:nvSpPr>
        <p:spPr>
          <a:xfrm>
            <a:off x="839233" y="2931546"/>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8" name="îṡḷíďe"/>
          <p:cNvSpPr/>
          <p:nvPr>
            <p:custDataLst>
              <p:tags r:id="rId7"/>
            </p:custDataLst>
          </p:nvPr>
        </p:nvSpPr>
        <p:spPr>
          <a:xfrm>
            <a:off x="981925" y="1888840"/>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9" name="íSlíḋe"/>
          <p:cNvSpPr/>
          <p:nvPr>
            <p:custDataLst>
              <p:tags r:id="rId8"/>
            </p:custDataLst>
          </p:nvPr>
        </p:nvSpPr>
        <p:spPr>
          <a:xfrm>
            <a:off x="981923" y="3098058"/>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30" name="ïśḷïḓe"/>
          <p:cNvSpPr/>
          <p:nvPr>
            <p:custDataLst>
              <p:tags r:id="rId9"/>
            </p:custDataLst>
          </p:nvPr>
        </p:nvSpPr>
        <p:spPr>
          <a:xfrm>
            <a:off x="1017920" y="5484493"/>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Tree>
  </p:cSld>
  <p:clrMapOvr>
    <a:masterClrMapping/>
  </p:clrMapOvr>
  <p:transition spd="slow">
    <p:pull dir="ru"/>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4337"/>
          <p:cNvSpPr>
            <a:spLocks noGrp="1"/>
          </p:cNvSpPr>
          <p:nvPr>
            <p:ph type="title"/>
          </p:nvPr>
        </p:nvSpPr>
        <p:spPr>
          <a:xfrm>
            <a:off x="1371601" y="2000251"/>
            <a:ext cx="660797" cy="3726656"/>
          </a:xfrm>
        </p:spPr>
        <p:txBody>
          <a:bodyPr wrap="square" anchor="ctr" anchorCtr="0"/>
          <a:lstStyle/>
          <a:p>
            <a:r>
              <a:rPr lang="en-US" altLang="zh-CN" sz="3000" dirty="0"/>
              <a:t>2</a:t>
            </a:r>
            <a:r>
              <a:rPr lang="zh-CN" altLang="en-US" sz="3000" dirty="0"/>
              <a:t>缺页中断机构</a:t>
            </a:r>
            <a:br>
              <a:rPr lang="zh-CN" altLang="en-US" sz="3000" dirty="0"/>
            </a:br>
            <a:endParaRPr lang="zh-CN" altLang="en-US" sz="3000" dirty="0"/>
          </a:p>
        </p:txBody>
      </p:sp>
      <p:pic>
        <p:nvPicPr>
          <p:cNvPr id="21506" name="图片 14338" descr="B534"/>
          <p:cNvPicPr>
            <a:picLocks noChangeAspect="1"/>
          </p:cNvPicPr>
          <p:nvPr/>
        </p:nvPicPr>
        <p:blipFill>
          <a:blip r:embed="rId1"/>
          <a:stretch>
            <a:fillRect/>
          </a:stretch>
        </p:blipFill>
        <p:spPr>
          <a:xfrm>
            <a:off x="2057400" y="857250"/>
            <a:ext cx="5715000" cy="5143500"/>
          </a:xfrm>
          <a:prstGeom prst="rect">
            <a:avLst/>
          </a:prstGeom>
          <a:noFill/>
          <a:ln w="9525">
            <a:noFill/>
          </a:ln>
        </p:spPr>
      </p:pic>
      <p:sp>
        <p:nvSpPr>
          <p:cNvPr id="21507" name="直接连接符 14339"/>
          <p:cNvSpPr/>
          <p:nvPr/>
        </p:nvSpPr>
        <p:spPr>
          <a:xfrm>
            <a:off x="2250281" y="3105150"/>
            <a:ext cx="5200650" cy="0"/>
          </a:xfrm>
          <a:prstGeom prst="line">
            <a:avLst/>
          </a:prstGeom>
          <a:ln w="28575" cap="flat" cmpd="sng">
            <a:solidFill>
              <a:srgbClr val="FF0000"/>
            </a:solidFill>
            <a:prstDash val="solid"/>
            <a:round/>
            <a:headEnd type="none" w="med" len="med"/>
            <a:tailEnd type="none" w="med" len="med"/>
          </a:ln>
        </p:spPr>
        <p:txBody>
          <a:bodyPr anchor="t" anchorCtr="0"/>
          <a:lstStyle/>
          <a:p>
            <a:endParaRPr lang="zh-CN" altLang="en-US">
              <a:latin typeface="Arial" panose="020B0604020202020204" pitchFamily="34" charset="0"/>
            </a:endParaRPr>
          </a:p>
        </p:txBody>
      </p:sp>
    </p:spTree>
  </p:cSld>
  <p:clrMapOvr>
    <a:masterClrMapping/>
  </p:clrMapOvr>
  <p:transition spd="slow">
    <p:pull dir="ru"/>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页面调入方法（略）</a:t>
            </a:r>
            <a:endParaRPr lang="zh-CN" altLang="en-US" sz="2100" b="1" dirty="0">
              <a:solidFill>
                <a:schemeClr val="bg1"/>
              </a:solidFill>
              <a:cs typeface="+mn-ea"/>
              <a:sym typeface="+mn-lt"/>
            </a:endParaRPr>
          </a:p>
        </p:txBody>
      </p:sp>
      <p:sp>
        <p:nvSpPr>
          <p:cNvPr id="61" name="iśḷíḑe"/>
          <p:cNvSpPr/>
          <p:nvPr/>
        </p:nvSpPr>
        <p:spPr>
          <a:xfrm>
            <a:off x="981064" y="1772016"/>
            <a:ext cx="580574" cy="5805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defTabSz="913765">
              <a:defRPr/>
            </a:pPr>
            <a:r>
              <a:rPr lang="en-US" altLang="zh-CN" b="1" kern="0" dirty="0">
                <a:solidFill>
                  <a:prstClr val="white"/>
                </a:solidFill>
                <a:cs typeface="+mn-ea"/>
                <a:sym typeface="+mn-lt"/>
              </a:rPr>
              <a:t>01</a:t>
            </a:r>
            <a:endParaRPr lang="zh-CN" altLang="en-US" b="1" kern="0" dirty="0">
              <a:solidFill>
                <a:prstClr val="white"/>
              </a:solidFill>
              <a:cs typeface="+mn-ea"/>
              <a:sym typeface="+mn-lt"/>
            </a:endParaRPr>
          </a:p>
        </p:txBody>
      </p:sp>
      <p:sp>
        <p:nvSpPr>
          <p:cNvPr id="62" name="ïś1ïḑè"/>
          <p:cNvSpPr/>
          <p:nvPr/>
        </p:nvSpPr>
        <p:spPr>
          <a:xfrm>
            <a:off x="981064" y="2536207"/>
            <a:ext cx="580574" cy="58057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defTabSz="913765">
              <a:defRPr/>
            </a:pPr>
            <a:r>
              <a:rPr lang="en-US" altLang="zh-CN" b="1" kern="0" dirty="0">
                <a:solidFill>
                  <a:prstClr val="white"/>
                </a:solidFill>
                <a:cs typeface="+mn-ea"/>
                <a:sym typeface="+mn-lt"/>
              </a:rPr>
              <a:t>02</a:t>
            </a:r>
            <a:endParaRPr lang="zh-CN" altLang="en-US" b="1" kern="0" dirty="0">
              <a:solidFill>
                <a:prstClr val="white"/>
              </a:solidFill>
              <a:cs typeface="+mn-ea"/>
              <a:sym typeface="+mn-lt"/>
            </a:endParaRPr>
          </a:p>
        </p:txBody>
      </p:sp>
      <p:sp>
        <p:nvSpPr>
          <p:cNvPr id="83" name="iśḷíḑe"/>
          <p:cNvSpPr/>
          <p:nvPr/>
        </p:nvSpPr>
        <p:spPr>
          <a:xfrm>
            <a:off x="981064" y="4123815"/>
            <a:ext cx="580574" cy="58057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defTabSz="913765">
              <a:defRPr/>
            </a:pPr>
            <a:r>
              <a:rPr lang="en-US" altLang="zh-CN" b="1" kern="0" dirty="0">
                <a:solidFill>
                  <a:prstClr val="white"/>
                </a:solidFill>
                <a:cs typeface="+mn-ea"/>
                <a:sym typeface="+mn-lt"/>
              </a:rPr>
              <a:t>03</a:t>
            </a:r>
            <a:endParaRPr lang="zh-CN" altLang="en-US" b="1" kern="0" dirty="0">
              <a:solidFill>
                <a:prstClr val="white"/>
              </a:solidFill>
              <a:cs typeface="+mn-ea"/>
              <a:sym typeface="+mn-lt"/>
            </a:endParaRPr>
          </a:p>
        </p:txBody>
      </p:sp>
      <p:sp>
        <p:nvSpPr>
          <p:cNvPr id="84" name="ïś1ïḑè"/>
          <p:cNvSpPr/>
          <p:nvPr/>
        </p:nvSpPr>
        <p:spPr>
          <a:xfrm>
            <a:off x="981064" y="4950205"/>
            <a:ext cx="580574" cy="580574"/>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defTabSz="913765">
              <a:defRPr/>
            </a:pPr>
            <a:r>
              <a:rPr lang="en-US" altLang="zh-CN" b="1" kern="0" dirty="0">
                <a:solidFill>
                  <a:prstClr val="white"/>
                </a:solidFill>
                <a:cs typeface="+mn-ea"/>
                <a:sym typeface="+mn-lt"/>
              </a:rPr>
              <a:t>04</a:t>
            </a:r>
            <a:endParaRPr lang="zh-CN" altLang="en-US" b="1" kern="0" dirty="0">
              <a:solidFill>
                <a:prstClr val="white"/>
              </a:solidFill>
              <a:cs typeface="+mn-ea"/>
              <a:sym typeface="+mn-lt"/>
            </a:endParaRPr>
          </a:p>
        </p:txBody>
      </p:sp>
      <p:sp>
        <p:nvSpPr>
          <p:cNvPr id="85" name="内容占位符 2"/>
          <p:cNvSpPr txBox="1"/>
          <p:nvPr/>
        </p:nvSpPr>
        <p:spPr>
          <a:xfrm>
            <a:off x="1693696" y="1813758"/>
            <a:ext cx="3876317" cy="4834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1950" dirty="0">
                <a:cs typeface="+mn-ea"/>
                <a:sym typeface="+mn-lt"/>
              </a:rPr>
              <a:t>查找所需页在磁盘上的位置。</a:t>
            </a:r>
            <a:endParaRPr lang="zh-CN" altLang="en-US" sz="1950" dirty="0">
              <a:cs typeface="+mn-ea"/>
              <a:sym typeface="+mn-lt"/>
            </a:endParaRPr>
          </a:p>
        </p:txBody>
      </p:sp>
      <p:sp>
        <p:nvSpPr>
          <p:cNvPr id="86" name="内容占位符 2"/>
          <p:cNvSpPr txBox="1"/>
          <p:nvPr/>
        </p:nvSpPr>
        <p:spPr>
          <a:xfrm>
            <a:off x="1693695" y="2629477"/>
            <a:ext cx="2460043" cy="2742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950" dirty="0">
                <a:cs typeface="+mn-ea"/>
                <a:sym typeface="+mn-lt"/>
              </a:rPr>
              <a:t>查找一内存空闲块：</a:t>
            </a:r>
            <a:endParaRPr lang="zh-CN" altLang="en-US" sz="1950" dirty="0">
              <a:cs typeface="+mn-ea"/>
              <a:sym typeface="+mn-lt"/>
            </a:endParaRPr>
          </a:p>
        </p:txBody>
      </p:sp>
      <p:sp>
        <p:nvSpPr>
          <p:cNvPr id="87" name="内容占位符 2"/>
          <p:cNvSpPr txBox="1"/>
          <p:nvPr/>
        </p:nvSpPr>
        <p:spPr>
          <a:xfrm>
            <a:off x="1693695" y="4308774"/>
            <a:ext cx="4471292" cy="2755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950" dirty="0">
                <a:cs typeface="+mn-ea"/>
                <a:sym typeface="+mn-lt"/>
              </a:rPr>
              <a:t>将所需页读入（新）空闲块，更新页表。</a:t>
            </a:r>
            <a:endParaRPr lang="zh-CN" altLang="en-US" sz="1950" dirty="0">
              <a:cs typeface="+mn-ea"/>
              <a:sym typeface="+mn-lt"/>
            </a:endParaRPr>
          </a:p>
        </p:txBody>
      </p:sp>
      <p:sp>
        <p:nvSpPr>
          <p:cNvPr id="88" name="内容占位符 2"/>
          <p:cNvSpPr txBox="1"/>
          <p:nvPr/>
        </p:nvSpPr>
        <p:spPr>
          <a:xfrm>
            <a:off x="1693695" y="5111703"/>
            <a:ext cx="1717520" cy="2575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950" dirty="0">
                <a:cs typeface="+mn-ea"/>
                <a:sym typeface="+mn-lt"/>
              </a:rPr>
              <a:t>重启用户进程。</a:t>
            </a:r>
            <a:endParaRPr lang="zh-CN" altLang="en-US" sz="1950" dirty="0">
              <a:cs typeface="+mn-ea"/>
              <a:sym typeface="+mn-lt"/>
            </a:endParaRPr>
          </a:p>
        </p:txBody>
      </p:sp>
      <p:sp>
        <p:nvSpPr>
          <p:cNvPr id="21" name="内容占位符 2"/>
          <p:cNvSpPr txBox="1"/>
          <p:nvPr/>
        </p:nvSpPr>
        <p:spPr>
          <a:xfrm>
            <a:off x="1344967" y="2914328"/>
            <a:ext cx="7289255" cy="11480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2000"/>
              </a:lnSpc>
              <a:spcBef>
                <a:spcPts val="0"/>
              </a:spcBef>
              <a:buClr>
                <a:srgbClr val="0000FF"/>
              </a:buClr>
              <a:buFont typeface="Wingdings" panose="05000000000000000000" pitchFamily="2" charset="2"/>
              <a:buChar char="Ø"/>
            </a:pPr>
            <a:r>
              <a:rPr lang="zh-CN" altLang="en-US" sz="1800" dirty="0">
                <a:cs typeface="+mn-ea"/>
                <a:sym typeface="+mn-lt"/>
              </a:rPr>
              <a:t>如果有空闲块，就直接使用它；</a:t>
            </a:r>
            <a:endParaRPr lang="zh-CN" altLang="en-US" sz="1800" dirty="0">
              <a:cs typeface="+mn-ea"/>
              <a:sym typeface="+mn-lt"/>
            </a:endParaRPr>
          </a:p>
          <a:p>
            <a:pPr lvl="1">
              <a:lnSpc>
                <a:spcPct val="132000"/>
              </a:lnSpc>
              <a:spcBef>
                <a:spcPts val="0"/>
              </a:spcBef>
              <a:buClr>
                <a:srgbClr val="0000FF"/>
              </a:buClr>
              <a:buFont typeface="Wingdings" panose="05000000000000000000" pitchFamily="2" charset="2"/>
              <a:buChar char="Ø"/>
            </a:pPr>
            <a:r>
              <a:rPr lang="zh-CN" altLang="en-US" sz="1800" dirty="0">
                <a:cs typeface="+mn-ea"/>
                <a:sym typeface="+mn-lt"/>
              </a:rPr>
              <a:t> 如果没有空闲块，使用页面置换算法选择一个“牺牲”内存块；</a:t>
            </a:r>
            <a:endParaRPr lang="zh-CN" altLang="en-US" sz="1800" dirty="0">
              <a:cs typeface="+mn-ea"/>
              <a:sym typeface="+mn-lt"/>
            </a:endParaRPr>
          </a:p>
          <a:p>
            <a:pPr lvl="1">
              <a:lnSpc>
                <a:spcPct val="132000"/>
              </a:lnSpc>
              <a:spcBef>
                <a:spcPts val="0"/>
              </a:spcBef>
              <a:buClr>
                <a:srgbClr val="0000FF"/>
              </a:buClr>
              <a:buFont typeface="Wingdings" panose="05000000000000000000" pitchFamily="2" charset="2"/>
              <a:buChar char="Ø"/>
            </a:pPr>
            <a:r>
              <a:rPr lang="zh-CN" altLang="en-US" sz="1800" dirty="0">
                <a:cs typeface="+mn-ea"/>
                <a:sym typeface="+mn-lt"/>
              </a:rPr>
              <a:t>将“牺牲”块的内容写到磁盘上，更新页表和物理块表。</a:t>
            </a:r>
            <a:endParaRPr lang="zh-CN" altLang="en-US" sz="1800" dirty="0">
              <a:cs typeface="+mn-ea"/>
              <a:sym typeface="+mn-lt"/>
            </a:endParaRPr>
          </a:p>
        </p:txBody>
      </p:sp>
    </p:spTree>
  </p:cSld>
  <p:clrMapOvr>
    <a:masterClrMapping/>
  </p:clrMapOvr>
  <p:transition spd="slow">
    <p:pull dir="ru"/>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页面调入策略</a:t>
            </a:r>
            <a:r>
              <a:rPr lang="en-US" altLang="zh-CN" sz="2100" b="1" dirty="0">
                <a:solidFill>
                  <a:schemeClr val="bg1"/>
                </a:solidFill>
                <a:cs typeface="+mn-ea"/>
                <a:sym typeface="+mn-lt"/>
              </a:rPr>
              <a:t>(2)</a:t>
            </a:r>
            <a:endParaRPr lang="zh-CN" altLang="en-US" sz="2100" b="1" dirty="0">
              <a:solidFill>
                <a:schemeClr val="bg1"/>
              </a:solidFill>
              <a:cs typeface="+mn-ea"/>
              <a:sym typeface="+mn-lt"/>
            </a:endParaRPr>
          </a:p>
        </p:txBody>
      </p:sp>
      <p:sp>
        <p:nvSpPr>
          <p:cNvPr id="22" name="内容占位符 2"/>
          <p:cNvSpPr txBox="1"/>
          <p:nvPr/>
        </p:nvSpPr>
        <p:spPr>
          <a:xfrm>
            <a:off x="603274" y="1710888"/>
            <a:ext cx="3876317" cy="4834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buNone/>
            </a:pPr>
            <a:r>
              <a:rPr lang="zh-CN" altLang="en-US" sz="2175" dirty="0">
                <a:solidFill>
                  <a:srgbClr val="FF0000"/>
                </a:solidFill>
                <a:cs typeface="+mn-ea"/>
                <a:sym typeface="+mn-lt"/>
              </a:rPr>
              <a:t>缺页率</a:t>
            </a:r>
            <a:endParaRPr lang="zh-CN" altLang="en-US" sz="2175" dirty="0">
              <a:solidFill>
                <a:srgbClr val="FF0000"/>
              </a:solidFill>
              <a:cs typeface="+mn-ea"/>
              <a:sym typeface="+mn-lt"/>
            </a:endParaRPr>
          </a:p>
        </p:txBody>
      </p:sp>
      <p:sp>
        <p:nvSpPr>
          <p:cNvPr id="23" name="内容占位符 2"/>
          <p:cNvSpPr txBox="1"/>
          <p:nvPr/>
        </p:nvSpPr>
        <p:spPr>
          <a:xfrm>
            <a:off x="934879" y="2361248"/>
            <a:ext cx="8209121" cy="35471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1" indent="0">
              <a:lnSpc>
                <a:spcPct val="123000"/>
              </a:lnSpc>
              <a:spcBef>
                <a:spcPts val="600"/>
              </a:spcBef>
              <a:spcAft>
                <a:spcPts val="450"/>
              </a:spcAft>
              <a:buNone/>
            </a:pPr>
            <a:r>
              <a:rPr lang="zh-CN" altLang="en-US" sz="1800" dirty="0">
                <a:cs typeface="+mn-ea"/>
                <a:sym typeface="+mn-lt"/>
              </a:rPr>
              <a:t>访问页面成功</a:t>
            </a:r>
            <a:r>
              <a:rPr lang="en-US" altLang="zh-CN" sz="1800" dirty="0">
                <a:cs typeface="+mn-ea"/>
                <a:sym typeface="+mn-lt"/>
              </a:rPr>
              <a:t>(</a:t>
            </a:r>
            <a:r>
              <a:rPr lang="zh-CN" altLang="en-US" sz="1800" dirty="0">
                <a:cs typeface="+mn-ea"/>
                <a:sym typeface="+mn-lt"/>
              </a:rPr>
              <a:t>在内存</a:t>
            </a:r>
            <a:r>
              <a:rPr lang="en-US" altLang="zh-CN" sz="1800" dirty="0">
                <a:cs typeface="+mn-ea"/>
                <a:sym typeface="+mn-lt"/>
              </a:rPr>
              <a:t>)</a:t>
            </a:r>
            <a:r>
              <a:rPr lang="zh-CN" altLang="en-US" sz="1800" dirty="0">
                <a:cs typeface="+mn-ea"/>
                <a:sym typeface="+mn-lt"/>
              </a:rPr>
              <a:t>的次数为</a:t>
            </a:r>
            <a:r>
              <a:rPr lang="en-US" altLang="zh-CN" sz="1800" dirty="0">
                <a:cs typeface="+mn-ea"/>
                <a:sym typeface="+mn-lt"/>
              </a:rPr>
              <a:t>S</a:t>
            </a:r>
            <a:r>
              <a:rPr lang="zh-CN" altLang="en-US" sz="1800" dirty="0">
                <a:cs typeface="+mn-ea"/>
                <a:sym typeface="+mn-lt"/>
              </a:rPr>
              <a:t>，访问页面失败</a:t>
            </a:r>
            <a:r>
              <a:rPr lang="en-US" altLang="zh-CN" sz="1800" dirty="0">
                <a:cs typeface="+mn-ea"/>
                <a:sym typeface="+mn-lt"/>
              </a:rPr>
              <a:t>(</a:t>
            </a:r>
            <a:r>
              <a:rPr lang="zh-CN" altLang="en-US" sz="1800" dirty="0">
                <a:cs typeface="+mn-ea"/>
                <a:sym typeface="+mn-lt"/>
              </a:rPr>
              <a:t>不在内存</a:t>
            </a:r>
            <a:r>
              <a:rPr lang="en-US" altLang="zh-CN" sz="1800" dirty="0">
                <a:cs typeface="+mn-ea"/>
                <a:sym typeface="+mn-lt"/>
              </a:rPr>
              <a:t>)</a:t>
            </a:r>
            <a:r>
              <a:rPr lang="zh-CN" altLang="en-US" sz="1800" dirty="0">
                <a:cs typeface="+mn-ea"/>
                <a:sym typeface="+mn-lt"/>
              </a:rPr>
              <a:t>的次数为</a:t>
            </a:r>
            <a:r>
              <a:rPr lang="en-US" altLang="zh-CN" sz="1800" dirty="0">
                <a:cs typeface="+mn-ea"/>
                <a:sym typeface="+mn-lt"/>
              </a:rPr>
              <a:t>F</a:t>
            </a:r>
            <a:endParaRPr lang="en-US" altLang="zh-CN" sz="1800" dirty="0">
              <a:cs typeface="+mn-ea"/>
              <a:sym typeface="+mn-lt"/>
            </a:endParaRPr>
          </a:p>
          <a:p>
            <a:pPr marL="342900" lvl="1" indent="0">
              <a:lnSpc>
                <a:spcPct val="123000"/>
              </a:lnSpc>
              <a:spcBef>
                <a:spcPts val="600"/>
              </a:spcBef>
              <a:spcAft>
                <a:spcPts val="450"/>
              </a:spcAft>
              <a:buNone/>
            </a:pPr>
            <a:r>
              <a:rPr lang="zh-CN" altLang="en-US" sz="1800" dirty="0">
                <a:cs typeface="+mn-ea"/>
                <a:sym typeface="+mn-lt"/>
              </a:rPr>
              <a:t>总访问次数为</a:t>
            </a:r>
            <a:r>
              <a:rPr lang="en-US" altLang="zh-CN" sz="1800" dirty="0">
                <a:cs typeface="+mn-ea"/>
                <a:sym typeface="+mn-lt"/>
              </a:rPr>
              <a:t>A=S+F</a:t>
            </a:r>
            <a:endParaRPr lang="en-US" altLang="zh-CN" sz="1800" dirty="0">
              <a:cs typeface="+mn-ea"/>
              <a:sym typeface="+mn-lt"/>
            </a:endParaRPr>
          </a:p>
          <a:p>
            <a:pPr marL="342900" lvl="1" indent="0">
              <a:lnSpc>
                <a:spcPct val="123000"/>
              </a:lnSpc>
              <a:spcBef>
                <a:spcPts val="600"/>
              </a:spcBef>
              <a:spcAft>
                <a:spcPts val="450"/>
              </a:spcAft>
              <a:buNone/>
            </a:pPr>
            <a:r>
              <a:rPr lang="zh-CN" altLang="en-US" sz="1800" dirty="0">
                <a:solidFill>
                  <a:srgbClr val="FF0000"/>
                </a:solidFill>
                <a:cs typeface="+mn-ea"/>
                <a:sym typeface="+mn-lt"/>
              </a:rPr>
              <a:t>缺页率 </a:t>
            </a:r>
            <a:r>
              <a:rPr lang="en-US" altLang="zh-CN" sz="1800" dirty="0">
                <a:solidFill>
                  <a:srgbClr val="FF0000"/>
                </a:solidFill>
                <a:cs typeface="+mn-ea"/>
                <a:sym typeface="+mn-lt"/>
              </a:rPr>
              <a:t>p= F/A</a:t>
            </a:r>
            <a:r>
              <a:rPr lang="zh-CN" altLang="en-US" sz="1800" dirty="0">
                <a:solidFill>
                  <a:srgbClr val="FF0000"/>
                </a:solidFill>
                <a:cs typeface="+mn-ea"/>
                <a:sym typeface="+mn-lt"/>
              </a:rPr>
              <a:t>，命中率</a:t>
            </a:r>
            <a:r>
              <a:rPr lang="en-US" altLang="zh-CN" sz="1800" dirty="0">
                <a:solidFill>
                  <a:srgbClr val="FF0000"/>
                </a:solidFill>
                <a:cs typeface="+mn-ea"/>
                <a:sym typeface="+mn-lt"/>
              </a:rPr>
              <a:t>=S/A</a:t>
            </a:r>
            <a:endParaRPr lang="en-US" altLang="zh-CN" sz="1800" dirty="0">
              <a:solidFill>
                <a:srgbClr val="FF0000"/>
              </a:solidFill>
              <a:cs typeface="+mn-ea"/>
              <a:sym typeface="+mn-lt"/>
            </a:endParaRPr>
          </a:p>
          <a:p>
            <a:pPr marL="342900" lvl="1" indent="0">
              <a:lnSpc>
                <a:spcPct val="123000"/>
              </a:lnSpc>
              <a:spcBef>
                <a:spcPts val="600"/>
              </a:spcBef>
              <a:spcAft>
                <a:spcPts val="450"/>
              </a:spcAft>
              <a:buNone/>
            </a:pPr>
            <a:r>
              <a:rPr lang="zh-CN" altLang="en-US" sz="1800" dirty="0">
                <a:cs typeface="+mn-ea"/>
                <a:sym typeface="+mn-lt"/>
              </a:rPr>
              <a:t>影响因素：页面大小、分配内存块的数目、页面置换算法、程序局部性属性</a:t>
            </a:r>
            <a:endParaRPr lang="en-US" altLang="zh-CN" sz="1800" dirty="0">
              <a:cs typeface="+mn-ea"/>
              <a:sym typeface="+mn-lt"/>
            </a:endParaRPr>
          </a:p>
          <a:p>
            <a:pPr marL="685800" lvl="2" indent="0">
              <a:lnSpc>
                <a:spcPct val="123000"/>
              </a:lnSpc>
              <a:spcBef>
                <a:spcPts val="600"/>
              </a:spcBef>
              <a:spcAft>
                <a:spcPts val="450"/>
              </a:spcAft>
              <a:buNone/>
            </a:pPr>
            <a:endParaRPr lang="zh-CN" altLang="en-US" sz="1800" i="1" dirty="0">
              <a:cs typeface="+mn-ea"/>
              <a:sym typeface="+mn-lt"/>
            </a:endParaRPr>
          </a:p>
          <a:p>
            <a:pPr marL="685800" lvl="2" indent="0">
              <a:lnSpc>
                <a:spcPct val="123000"/>
              </a:lnSpc>
              <a:spcBef>
                <a:spcPts val="600"/>
              </a:spcBef>
              <a:spcAft>
                <a:spcPts val="450"/>
              </a:spcAft>
              <a:buNone/>
            </a:pPr>
            <a:r>
              <a:rPr lang="zh-CN" altLang="en-US" sz="1800" i="1" dirty="0">
                <a:cs typeface="+mn-ea"/>
                <a:sym typeface="+mn-lt"/>
              </a:rPr>
              <a:t>平均一次有效存取时间</a:t>
            </a:r>
            <a:r>
              <a:rPr lang="en-US" altLang="zh-CN" sz="1800" i="1" dirty="0">
                <a:cs typeface="+mn-ea"/>
                <a:sym typeface="+mn-lt"/>
              </a:rPr>
              <a:t>t </a:t>
            </a:r>
            <a:r>
              <a:rPr lang="en-US" altLang="zh-CN" sz="1800" dirty="0">
                <a:cs typeface="+mn-ea"/>
                <a:sym typeface="+mn-lt"/>
              </a:rPr>
              <a:t>= </a:t>
            </a:r>
            <a:r>
              <a:rPr lang="en-US" altLang="zh-CN" sz="1800" b="1">
                <a:solidFill>
                  <a:srgbClr val="000000"/>
                </a:solidFill>
                <a:sym typeface="+mn-ea"/>
              </a:rPr>
              <a:t>(1-</a:t>
            </a:r>
            <a:r>
              <a:rPr lang="en-US" altLang="zh-CN" sz="1800" b="1" i="1">
                <a:solidFill>
                  <a:srgbClr val="000000"/>
                </a:solidFill>
                <a:sym typeface="+mn-ea"/>
              </a:rPr>
              <a:t>p</a:t>
            </a:r>
            <a:r>
              <a:rPr lang="en-US" altLang="zh-CN" sz="1800" b="1">
                <a:solidFill>
                  <a:srgbClr val="000000"/>
                </a:solidFill>
                <a:sym typeface="+mn-ea"/>
              </a:rPr>
              <a:t>)×ma</a:t>
            </a:r>
            <a:r>
              <a:rPr lang="zh-CN" altLang="en-US" sz="1800" b="1">
                <a:solidFill>
                  <a:srgbClr val="000000"/>
                </a:solidFill>
                <a:sym typeface="+mn-ea"/>
              </a:rPr>
              <a:t>（内存）</a:t>
            </a:r>
            <a:r>
              <a:rPr lang="en-US" altLang="zh-CN" sz="1800" b="1">
                <a:solidFill>
                  <a:srgbClr val="000000"/>
                </a:solidFill>
                <a:sym typeface="+mn-ea"/>
              </a:rPr>
              <a:t> + </a:t>
            </a:r>
            <a:r>
              <a:rPr lang="en-US" altLang="zh-CN" sz="1800" b="1" i="1">
                <a:solidFill>
                  <a:srgbClr val="000000"/>
                </a:solidFill>
                <a:sym typeface="+mn-ea"/>
              </a:rPr>
              <a:t>p</a:t>
            </a:r>
            <a:r>
              <a:rPr lang="en-US" altLang="zh-CN" sz="1800" b="1" dirty="0">
                <a:solidFill>
                  <a:srgbClr val="000000"/>
                </a:solidFill>
                <a:sym typeface="+mn-ea"/>
              </a:rPr>
              <a:t>×</a:t>
            </a:r>
            <a:r>
              <a:rPr lang="zh-CN" altLang="en-US" sz="1800" b="1" dirty="0">
                <a:solidFill>
                  <a:srgbClr val="000000"/>
                </a:solidFill>
                <a:sym typeface="+mn-ea"/>
              </a:rPr>
              <a:t>缺页处理时间</a:t>
            </a:r>
            <a:endParaRPr lang="zh-CN" altLang="en-US" sz="1800" baseline="-25000" dirty="0">
              <a:cs typeface="+mn-ea"/>
              <a:sym typeface="+mn-lt"/>
            </a:endParaRPr>
          </a:p>
        </p:txBody>
      </p:sp>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7099" y="2409669"/>
            <a:ext cx="395288" cy="395288"/>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7099" y="3340126"/>
            <a:ext cx="395288" cy="395288"/>
          </a:xfrm>
          <a:prstGeom prst="rect">
            <a:avLst/>
          </a:prstGeom>
          <a:ln>
            <a:noFill/>
          </a:ln>
          <a:effectLst>
            <a:softEdge rad="0"/>
          </a:effectLst>
        </p:spPr>
      </p:pic>
      <p:pic>
        <p:nvPicPr>
          <p:cNvPr id="27" name="图片 2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7099" y="3803980"/>
            <a:ext cx="395288" cy="395288"/>
          </a:xfrm>
          <a:prstGeom prst="rect">
            <a:avLst/>
          </a:prstGeom>
          <a:ln>
            <a:noFill/>
          </a:ln>
          <a:effectLst>
            <a:softEdge rad="0"/>
          </a:effectLst>
        </p:spPr>
      </p:pic>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37099" y="4751825"/>
            <a:ext cx="395288" cy="395288"/>
          </a:xfrm>
          <a:prstGeom prst="rect">
            <a:avLst/>
          </a:prstGeom>
          <a:ln>
            <a:noFill/>
          </a:ln>
          <a:effectLst>
            <a:softEdge rad="0"/>
          </a:effectLst>
        </p:spPr>
      </p:pic>
    </p:spTree>
  </p:cSld>
  <p:clrMapOvr>
    <a:masterClrMapping/>
  </p:clrMapOvr>
  <p:transition spd="slow">
    <p:pull dir="ru"/>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4337"/>
          <p:cNvSpPr>
            <a:spLocks noGrp="1"/>
          </p:cNvSpPr>
          <p:nvPr>
            <p:ph type="title"/>
          </p:nvPr>
        </p:nvSpPr>
        <p:spPr/>
        <p:txBody>
          <a:bodyPr anchor="ctr" anchorCtr="0"/>
          <a:lstStyle/>
          <a:p>
            <a:r>
              <a:rPr lang="en-US" altLang="zh-CN" dirty="0"/>
              <a:t>2011</a:t>
            </a:r>
            <a:r>
              <a:rPr lang="zh-CN" altLang="en-US" dirty="0"/>
              <a:t>年真题</a:t>
            </a:r>
            <a:endParaRPr lang="zh-CN" altLang="en-US" dirty="0"/>
          </a:p>
        </p:txBody>
      </p:sp>
      <p:sp>
        <p:nvSpPr>
          <p:cNvPr id="12290" name="文本占位符 14338"/>
          <p:cNvSpPr>
            <a:spLocks noGrp="1"/>
          </p:cNvSpPr>
          <p:nvPr>
            <p:ph idx="1"/>
          </p:nvPr>
        </p:nvSpPr>
        <p:spPr>
          <a:xfrm>
            <a:off x="1595914" y="2590800"/>
            <a:ext cx="6148388" cy="2045018"/>
          </a:xfrm>
        </p:spPr>
        <p:txBody>
          <a:bodyPr anchor="t" anchorCtr="0">
            <a:normAutofit lnSpcReduction="10000"/>
          </a:bodyPr>
          <a:lstStyle/>
          <a:p>
            <a:pPr marL="0" indent="0">
              <a:buNone/>
            </a:pPr>
            <a:r>
              <a:rPr lang="en-US" altLang="zh-CN" sz="1800" dirty="0"/>
              <a:t>1.  </a:t>
            </a:r>
            <a:r>
              <a:rPr lang="zh-CN" altLang="en-US" sz="1800" dirty="0"/>
              <a:t>在缺页处理过程中，操作系统执行的操作可能是（  ）。</a:t>
            </a:r>
            <a:endParaRPr lang="zh-CN" altLang="en-US" sz="1800" dirty="0"/>
          </a:p>
          <a:p>
            <a:pPr marL="0" indent="0">
              <a:buNone/>
            </a:pPr>
            <a:r>
              <a:rPr lang="en-US" altLang="zh-CN" sz="1800" dirty="0"/>
              <a:t>             </a:t>
            </a:r>
            <a:endParaRPr lang="en-US" altLang="zh-CN" sz="1800" dirty="0"/>
          </a:p>
          <a:p>
            <a:pPr marL="0" indent="0">
              <a:buNone/>
            </a:pPr>
            <a:r>
              <a:rPr lang="en-US" altLang="zh-CN" sz="1800" dirty="0"/>
              <a:t>  1</a:t>
            </a:r>
            <a:r>
              <a:rPr lang="zh-CN" altLang="en-US" sz="1800" dirty="0"/>
              <a:t>修改页表</a:t>
            </a:r>
            <a:r>
              <a:rPr lang="en-US" altLang="zh-CN" sz="1800" dirty="0"/>
              <a:t>    </a:t>
            </a:r>
            <a:r>
              <a:rPr lang="zh-CN" altLang="en-US" sz="1800" dirty="0"/>
              <a:t>  </a:t>
            </a:r>
            <a:r>
              <a:rPr lang="en-US" altLang="zh-CN" sz="1800" dirty="0"/>
              <a:t>2</a:t>
            </a:r>
            <a:r>
              <a:rPr lang="zh-CN" altLang="en-US" sz="1800" dirty="0"/>
              <a:t>磁盘</a:t>
            </a:r>
            <a:r>
              <a:rPr lang="en-US" altLang="zh-CN" sz="1800" dirty="0"/>
              <a:t>I/O       3</a:t>
            </a:r>
            <a:r>
              <a:rPr lang="zh-CN" altLang="en-US" sz="1800" dirty="0"/>
              <a:t>分配页框</a:t>
            </a:r>
            <a:endParaRPr lang="zh-CN" altLang="en-US" sz="1800" dirty="0"/>
          </a:p>
          <a:p>
            <a:endParaRPr lang="zh-CN" altLang="en-US" sz="1800" dirty="0"/>
          </a:p>
          <a:p>
            <a:pPr marL="0" indent="0">
              <a:buNone/>
            </a:pPr>
            <a:r>
              <a:rPr lang="en-US" altLang="zh-CN" sz="1800" dirty="0"/>
              <a:t>  A.</a:t>
            </a:r>
            <a:r>
              <a:rPr lang="zh-CN" altLang="en-US" sz="1800" dirty="0"/>
              <a:t>仅</a:t>
            </a:r>
            <a:r>
              <a:rPr lang="en-US" altLang="zh-CN" sz="1800" dirty="0"/>
              <a:t>1,2                B.</a:t>
            </a:r>
            <a:r>
              <a:rPr lang="zh-CN" altLang="en-US" sz="1800" dirty="0"/>
              <a:t>仅</a:t>
            </a:r>
            <a:r>
              <a:rPr lang="en-US" altLang="zh-CN" sz="1800" dirty="0"/>
              <a:t>2                 C.</a:t>
            </a:r>
            <a:r>
              <a:rPr lang="zh-CN" altLang="en-US" sz="1800" dirty="0"/>
              <a:t>仅</a:t>
            </a:r>
            <a:r>
              <a:rPr lang="en-US" altLang="zh-CN" sz="1800"/>
              <a:t>3                 </a:t>
            </a:r>
            <a:r>
              <a:rPr lang="en-US" altLang="zh-CN" sz="1800">
                <a:solidFill>
                  <a:schemeClr val="hlink"/>
                </a:solidFill>
              </a:rPr>
              <a:t>D</a:t>
            </a:r>
            <a:r>
              <a:rPr lang="en-US" altLang="zh-CN" sz="1800"/>
              <a:t>.1,2,3</a:t>
            </a:r>
            <a:endParaRPr lang="en-US" altLang="zh-CN" sz="1800"/>
          </a:p>
        </p:txBody>
      </p:sp>
    </p:spTree>
  </p:cSld>
  <p:clrMapOvr>
    <a:masterClrMapping/>
  </p:clrMapOvr>
  <p:transition spd="slow">
    <p:pull dir="ru"/>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缺页中断处理时间的例子</a:t>
            </a:r>
            <a:endParaRPr lang="zh-CN" altLang="en-US" sz="2100" b="1" dirty="0">
              <a:solidFill>
                <a:schemeClr val="bg1"/>
              </a:solidFill>
              <a:cs typeface="+mn-ea"/>
              <a:sym typeface="+mn-lt"/>
            </a:endParaRPr>
          </a:p>
        </p:txBody>
      </p:sp>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23289" y="1808929"/>
            <a:ext cx="395288" cy="395288"/>
          </a:xfrm>
          <a:prstGeom prst="rect">
            <a:avLst/>
          </a:prstGeom>
          <a:ln>
            <a:noFill/>
          </a:ln>
          <a:effectLst>
            <a:softEdge rad="0"/>
          </a:effectLst>
        </p:spPr>
      </p:pic>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23289" y="2247784"/>
            <a:ext cx="395288" cy="395288"/>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23289" y="2739385"/>
            <a:ext cx="395288" cy="395288"/>
          </a:xfrm>
          <a:prstGeom prst="rect">
            <a:avLst/>
          </a:prstGeom>
          <a:ln>
            <a:noFill/>
          </a:ln>
          <a:effectLst>
            <a:softEdge rad="0"/>
          </a:effectLst>
        </p:spPr>
      </p:pic>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23289" y="4057866"/>
            <a:ext cx="395288" cy="395288"/>
          </a:xfrm>
          <a:prstGeom prst="rect">
            <a:avLst/>
          </a:prstGeom>
          <a:ln>
            <a:noFill/>
          </a:ln>
          <a:effectLst>
            <a:softEdge rad="0"/>
          </a:effectLst>
        </p:spPr>
      </p:pic>
      <p:sp>
        <p:nvSpPr>
          <p:cNvPr id="11" name="内容占位符 2"/>
          <p:cNvSpPr txBox="1"/>
          <p:nvPr/>
        </p:nvSpPr>
        <p:spPr>
          <a:xfrm>
            <a:off x="1377739" y="1780449"/>
            <a:ext cx="6718696" cy="26574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450"/>
              </a:spcBef>
              <a:spcAft>
                <a:spcPts val="450"/>
              </a:spcAft>
              <a:buNone/>
              <a:tabLst>
                <a:tab pos="1330960" algn="l"/>
                <a:tab pos="1709420" algn="l"/>
              </a:tabLst>
            </a:pPr>
            <a:r>
              <a:rPr lang="zh-CN" altLang="en-US" dirty="0">
                <a:solidFill>
                  <a:srgbClr val="0000FF"/>
                </a:solidFill>
                <a:cs typeface="+mn-ea"/>
                <a:sym typeface="+mn-lt"/>
              </a:rPr>
              <a:t>存取内存的</a:t>
            </a:r>
            <a:r>
              <a:rPr lang="zh-CN" altLang="en-US" dirty="0">
                <a:cs typeface="+mn-ea"/>
                <a:sym typeface="+mn-lt"/>
              </a:rPr>
              <a:t>时间</a:t>
            </a:r>
            <a:r>
              <a:rPr lang="en-US" altLang="zh-CN" dirty="0">
                <a:cs typeface="+mn-ea"/>
                <a:sym typeface="+mn-lt"/>
              </a:rPr>
              <a:t>= 200 nanoseconds (ns)</a:t>
            </a:r>
            <a:endParaRPr lang="en-US" altLang="zh-CN" dirty="0">
              <a:cs typeface="+mn-ea"/>
              <a:sym typeface="+mn-lt"/>
            </a:endParaRPr>
          </a:p>
          <a:p>
            <a:pPr marL="0" indent="0">
              <a:lnSpc>
                <a:spcPct val="123000"/>
              </a:lnSpc>
              <a:spcBef>
                <a:spcPts val="450"/>
              </a:spcBef>
              <a:spcAft>
                <a:spcPts val="450"/>
              </a:spcAft>
              <a:buNone/>
              <a:tabLst>
                <a:tab pos="1330960" algn="l"/>
                <a:tab pos="1709420" algn="l"/>
              </a:tabLst>
            </a:pPr>
            <a:r>
              <a:rPr lang="zh-CN" altLang="en-US" dirty="0">
                <a:solidFill>
                  <a:srgbClr val="0000FF"/>
                </a:solidFill>
                <a:cs typeface="+mn-ea"/>
                <a:sym typeface="+mn-lt"/>
              </a:rPr>
              <a:t>平均缺页处理</a:t>
            </a:r>
            <a:r>
              <a:rPr lang="zh-CN" altLang="en-US" dirty="0">
                <a:cs typeface="+mn-ea"/>
                <a:sym typeface="+mn-lt"/>
              </a:rPr>
              <a:t>时间 </a:t>
            </a:r>
            <a:r>
              <a:rPr lang="en-US" altLang="zh-CN" dirty="0">
                <a:cs typeface="+mn-ea"/>
                <a:sym typeface="+mn-lt"/>
              </a:rPr>
              <a:t>= 8 milliseconds (</a:t>
            </a:r>
            <a:r>
              <a:rPr lang="en-US" altLang="zh-CN" dirty="0" err="1">
                <a:cs typeface="+mn-ea"/>
                <a:sym typeface="+mn-lt"/>
              </a:rPr>
              <a:t>ms</a:t>
            </a:r>
            <a:r>
              <a:rPr lang="en-US" altLang="zh-CN" dirty="0">
                <a:cs typeface="+mn-ea"/>
                <a:sym typeface="+mn-lt"/>
              </a:rPr>
              <a:t>)</a:t>
            </a:r>
            <a:endParaRPr lang="en-US" altLang="zh-CN" dirty="0">
              <a:cs typeface="+mn-ea"/>
              <a:sym typeface="+mn-lt"/>
            </a:endParaRPr>
          </a:p>
          <a:p>
            <a:pPr marL="0" indent="0">
              <a:lnSpc>
                <a:spcPct val="123000"/>
              </a:lnSpc>
              <a:spcBef>
                <a:spcPts val="450"/>
              </a:spcBef>
              <a:spcAft>
                <a:spcPts val="450"/>
              </a:spcAft>
              <a:buNone/>
              <a:tabLst>
                <a:tab pos="1330960" algn="l"/>
                <a:tab pos="1709420" algn="l"/>
              </a:tabLst>
            </a:pPr>
            <a:r>
              <a:rPr lang="en-US" altLang="zh-CN" i="1" dirty="0">
                <a:cs typeface="+mn-ea"/>
                <a:sym typeface="+mn-lt"/>
              </a:rPr>
              <a:t>t</a:t>
            </a:r>
            <a:r>
              <a:rPr lang="en-US" altLang="zh-CN" dirty="0">
                <a:cs typeface="+mn-ea"/>
                <a:sym typeface="+mn-lt"/>
              </a:rPr>
              <a:t> = (1 – p) </a:t>
            </a:r>
            <a:r>
              <a:rPr lang="zh-CN" altLang="en-US" dirty="0">
                <a:cs typeface="+mn-ea"/>
                <a:sym typeface="+mn-lt"/>
              </a:rPr>
              <a:t>×</a:t>
            </a:r>
            <a:r>
              <a:rPr lang="en-US" altLang="zh-CN" dirty="0">
                <a:cs typeface="+mn-ea"/>
                <a:sym typeface="+mn-lt"/>
              </a:rPr>
              <a:t> 200ns + p </a:t>
            </a:r>
            <a:r>
              <a:rPr lang="zh-CN" altLang="en-US" dirty="0">
                <a:cs typeface="+mn-ea"/>
                <a:sym typeface="+mn-lt"/>
              </a:rPr>
              <a:t>×</a:t>
            </a:r>
            <a:r>
              <a:rPr lang="en-US" altLang="zh-CN" dirty="0">
                <a:cs typeface="+mn-ea"/>
                <a:sym typeface="+mn-lt"/>
              </a:rPr>
              <a:t> 8ms </a:t>
            </a:r>
            <a:endParaRPr lang="en-US" altLang="zh-CN" dirty="0">
              <a:cs typeface="+mn-ea"/>
              <a:sym typeface="+mn-lt"/>
            </a:endParaRPr>
          </a:p>
          <a:p>
            <a:pPr marL="0" indent="0">
              <a:lnSpc>
                <a:spcPct val="123000"/>
              </a:lnSpc>
              <a:spcBef>
                <a:spcPts val="450"/>
              </a:spcBef>
              <a:spcAft>
                <a:spcPts val="450"/>
              </a:spcAft>
              <a:buNone/>
              <a:tabLst>
                <a:tab pos="1330960" algn="l"/>
                <a:tab pos="1709420" algn="l"/>
              </a:tabLst>
            </a:pPr>
            <a:r>
              <a:rPr lang="en-US" altLang="zh-CN" dirty="0">
                <a:cs typeface="+mn-ea"/>
                <a:sym typeface="+mn-lt"/>
              </a:rPr>
              <a:t>  = (1 – p) </a:t>
            </a:r>
            <a:r>
              <a:rPr lang="zh-CN" altLang="en-US" dirty="0">
                <a:cs typeface="+mn-ea"/>
                <a:sym typeface="+mn-lt"/>
              </a:rPr>
              <a:t>×</a:t>
            </a:r>
            <a:r>
              <a:rPr lang="en-US" altLang="zh-CN" dirty="0">
                <a:cs typeface="+mn-ea"/>
                <a:sym typeface="+mn-lt"/>
              </a:rPr>
              <a:t> 200ns + p </a:t>
            </a:r>
            <a:r>
              <a:rPr lang="zh-CN" altLang="en-US" dirty="0">
                <a:cs typeface="+mn-ea"/>
                <a:sym typeface="+mn-lt"/>
              </a:rPr>
              <a:t>×</a:t>
            </a:r>
            <a:r>
              <a:rPr lang="en-US" altLang="zh-CN" dirty="0">
                <a:cs typeface="+mn-ea"/>
                <a:sym typeface="+mn-lt"/>
              </a:rPr>
              <a:t>8,000,000ns </a:t>
            </a:r>
            <a:endParaRPr lang="en-US" altLang="zh-CN" dirty="0">
              <a:cs typeface="+mn-ea"/>
              <a:sym typeface="+mn-lt"/>
            </a:endParaRPr>
          </a:p>
          <a:p>
            <a:pPr marL="0" indent="0">
              <a:lnSpc>
                <a:spcPct val="123000"/>
              </a:lnSpc>
              <a:spcBef>
                <a:spcPts val="450"/>
              </a:spcBef>
              <a:spcAft>
                <a:spcPts val="450"/>
              </a:spcAft>
              <a:buNone/>
              <a:tabLst>
                <a:tab pos="1330960" algn="l"/>
                <a:tab pos="1709420" algn="l"/>
              </a:tabLst>
            </a:pPr>
            <a:r>
              <a:rPr lang="en-US" altLang="zh-CN" dirty="0">
                <a:cs typeface="+mn-ea"/>
                <a:sym typeface="+mn-lt"/>
              </a:rPr>
              <a:t>  = 200ns + p </a:t>
            </a:r>
            <a:r>
              <a:rPr lang="zh-CN" altLang="en-US" dirty="0">
                <a:cs typeface="+mn-ea"/>
                <a:sym typeface="+mn-lt"/>
              </a:rPr>
              <a:t>×</a:t>
            </a:r>
            <a:r>
              <a:rPr lang="en-US" altLang="zh-CN" dirty="0">
                <a:cs typeface="+mn-ea"/>
                <a:sym typeface="+mn-lt"/>
              </a:rPr>
              <a:t> 7,999,800ns</a:t>
            </a:r>
            <a:endParaRPr lang="en-US" altLang="zh-CN" dirty="0">
              <a:cs typeface="+mn-ea"/>
              <a:sym typeface="+mn-lt"/>
            </a:endParaRPr>
          </a:p>
          <a:p>
            <a:pPr marL="0" indent="0">
              <a:lnSpc>
                <a:spcPct val="123000"/>
              </a:lnSpc>
              <a:spcBef>
                <a:spcPts val="450"/>
              </a:spcBef>
              <a:spcAft>
                <a:spcPts val="450"/>
              </a:spcAft>
              <a:buNone/>
              <a:tabLst>
                <a:tab pos="1330960" algn="l"/>
                <a:tab pos="1709420" algn="l"/>
              </a:tabLst>
            </a:pPr>
            <a:r>
              <a:rPr lang="zh-CN" altLang="en-US" dirty="0">
                <a:cs typeface="+mn-ea"/>
                <a:sym typeface="+mn-lt"/>
              </a:rPr>
              <a:t>如果每</a:t>
            </a:r>
            <a:r>
              <a:rPr lang="en-US" altLang="zh-CN" dirty="0">
                <a:cs typeface="+mn-ea"/>
                <a:sym typeface="+mn-lt"/>
              </a:rPr>
              <a:t>1,000</a:t>
            </a:r>
            <a:r>
              <a:rPr lang="zh-CN" altLang="en-US" dirty="0">
                <a:cs typeface="+mn-ea"/>
                <a:sym typeface="+mn-lt"/>
              </a:rPr>
              <a:t>次访问中有一个缺页中断，那么：</a:t>
            </a:r>
            <a:endParaRPr lang="zh-CN" altLang="en-US" dirty="0">
              <a:cs typeface="+mn-ea"/>
              <a:sym typeface="+mn-lt"/>
            </a:endParaRPr>
          </a:p>
          <a:p>
            <a:pPr marL="0" indent="0">
              <a:lnSpc>
                <a:spcPct val="123000"/>
              </a:lnSpc>
              <a:spcBef>
                <a:spcPts val="450"/>
              </a:spcBef>
              <a:spcAft>
                <a:spcPts val="450"/>
              </a:spcAft>
              <a:buNone/>
              <a:tabLst>
                <a:tab pos="1330960" algn="l"/>
                <a:tab pos="1709420" algn="l"/>
              </a:tabLst>
            </a:pPr>
            <a:r>
              <a:rPr lang="en-US" altLang="zh-CN" dirty="0">
                <a:cs typeface="+mn-ea"/>
                <a:sym typeface="+mn-lt"/>
              </a:rPr>
              <a:t>     </a:t>
            </a:r>
            <a:r>
              <a:rPr lang="en-US" altLang="zh-CN" i="1" dirty="0">
                <a:cs typeface="+mn-ea"/>
                <a:sym typeface="+mn-lt"/>
              </a:rPr>
              <a:t>t </a:t>
            </a:r>
            <a:r>
              <a:rPr lang="en-US" altLang="zh-CN" dirty="0">
                <a:cs typeface="+mn-ea"/>
                <a:sym typeface="+mn-lt"/>
              </a:rPr>
              <a:t>= 8.2 </a:t>
            </a:r>
            <a:r>
              <a:rPr lang="en-US" altLang="zh-CN" dirty="0" err="1">
                <a:cs typeface="+mn-ea"/>
                <a:sym typeface="+mn-lt"/>
              </a:rPr>
              <a:t>ms</a:t>
            </a:r>
            <a:r>
              <a:rPr lang="en-US" altLang="zh-CN" dirty="0">
                <a:cs typeface="+mn-ea"/>
                <a:sym typeface="+mn-lt"/>
              </a:rPr>
              <a:t> </a:t>
            </a:r>
            <a:endParaRPr lang="en-US" altLang="zh-CN" dirty="0">
              <a:cs typeface="+mn-ea"/>
              <a:sym typeface="+mn-lt"/>
            </a:endParaRPr>
          </a:p>
          <a:p>
            <a:pPr marL="0" indent="0">
              <a:lnSpc>
                <a:spcPct val="123000"/>
              </a:lnSpc>
              <a:spcBef>
                <a:spcPts val="450"/>
              </a:spcBef>
              <a:spcAft>
                <a:spcPts val="450"/>
              </a:spcAft>
              <a:buNone/>
              <a:tabLst>
                <a:tab pos="1330960" algn="l"/>
                <a:tab pos="1709420" algn="l"/>
              </a:tabLst>
            </a:pPr>
            <a:r>
              <a:rPr lang="zh-CN" altLang="en-US" b="1" dirty="0">
                <a:solidFill>
                  <a:srgbClr val="FF0000"/>
                </a:solidFill>
                <a:cs typeface="+mn-ea"/>
                <a:sym typeface="+mn-lt"/>
              </a:rPr>
              <a:t>    这是导致计算机速度放慢</a:t>
            </a:r>
            <a:r>
              <a:rPr lang="en-US" altLang="zh-CN" b="1" dirty="0">
                <a:solidFill>
                  <a:srgbClr val="FF0000"/>
                </a:solidFill>
                <a:cs typeface="+mn-ea"/>
                <a:sym typeface="+mn-lt"/>
              </a:rPr>
              <a:t>40</a:t>
            </a:r>
            <a:r>
              <a:rPr lang="zh-CN" altLang="en-US" b="1" dirty="0">
                <a:solidFill>
                  <a:srgbClr val="FF0000"/>
                </a:solidFill>
                <a:cs typeface="+mn-ea"/>
                <a:sym typeface="+mn-lt"/>
              </a:rPr>
              <a:t>倍的影响因子！</a:t>
            </a:r>
            <a:endParaRPr lang="en-US" altLang="zh-CN" b="1" dirty="0">
              <a:cs typeface="+mn-ea"/>
              <a:sym typeface="+mn-lt"/>
            </a:endParaRPr>
          </a:p>
          <a:p>
            <a:pPr marL="0" indent="0">
              <a:lnSpc>
                <a:spcPct val="123000"/>
              </a:lnSpc>
              <a:spcBef>
                <a:spcPts val="450"/>
              </a:spcBef>
              <a:spcAft>
                <a:spcPts val="450"/>
              </a:spcAft>
              <a:buNone/>
              <a:tabLst>
                <a:tab pos="1330960" algn="l"/>
                <a:tab pos="1709420" algn="l"/>
              </a:tabLst>
            </a:pPr>
            <a:endParaRPr lang="zh-CN" altLang="en-US" dirty="0">
              <a:cs typeface="+mn-ea"/>
              <a:sym typeface="+mn-lt"/>
            </a:endParaRPr>
          </a:p>
        </p:txBody>
      </p:sp>
    </p:spTree>
  </p:cSld>
  <p:clrMapOvr>
    <a:masterClrMapping/>
  </p:clrMapOvr>
  <p:transition spd="slow">
    <p:pull dir="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cs typeface="+mn-ea"/>
                <a:sym typeface="+mn-lt"/>
              </a:rPr>
              <a:t>Date</a:t>
            </a:r>
            <a:endParaRPr lang="zh-CN" altLang="en-US" sz="1125" dirty="0">
              <a:cs typeface="+mn-ea"/>
              <a:sym typeface="+mn-lt"/>
            </a:endParaRPr>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cs typeface="+mn-ea"/>
                <a:sym typeface="+mn-lt"/>
              </a:rPr>
              <a:t>内容导航：</a:t>
            </a:r>
            <a:endParaRPr lang="zh-CN" altLang="en-US" sz="2100" b="1" dirty="0">
              <a:solidFill>
                <a:schemeClr val="bg1"/>
              </a:solidFill>
              <a:cs typeface="+mn-ea"/>
              <a:sym typeface="+mn-lt"/>
            </a:endParaRPr>
          </a:p>
        </p:txBody>
      </p:sp>
      <p:sp>
        <p:nvSpPr>
          <p:cNvPr id="22" name="矩形 21"/>
          <p:cNvSpPr/>
          <p:nvPr/>
        </p:nvSpPr>
        <p:spPr>
          <a:xfrm>
            <a:off x="1272352" y="2160374"/>
            <a:ext cx="3375110" cy="369332"/>
          </a:xfrm>
          <a:prstGeom prst="rect">
            <a:avLst/>
          </a:prstGeom>
        </p:spPr>
        <p:txBody>
          <a:bodyPr wrap="square">
            <a:spAutoFit/>
          </a:bodyPr>
          <a:lstStyle/>
          <a:p>
            <a:r>
              <a:rPr lang="en-US" altLang="zh-CN" dirty="0">
                <a:cs typeface="+mn-ea"/>
                <a:sym typeface="+mn-lt"/>
              </a:rPr>
              <a:t>6.1 </a:t>
            </a:r>
            <a:r>
              <a:rPr lang="zh-CN" altLang="en-US" dirty="0">
                <a:cs typeface="+mn-ea"/>
                <a:sym typeface="+mn-lt"/>
              </a:rPr>
              <a:t>虚拟存储器概述</a:t>
            </a:r>
            <a:endParaRPr lang="zh-CN" altLang="en-US" dirty="0">
              <a:cs typeface="+mn-ea"/>
              <a:sym typeface="+mn-lt"/>
            </a:endParaRPr>
          </a:p>
        </p:txBody>
      </p:sp>
      <p:sp>
        <p:nvSpPr>
          <p:cNvPr id="23" name="矩形 22"/>
          <p:cNvSpPr/>
          <p:nvPr/>
        </p:nvSpPr>
        <p:spPr>
          <a:xfrm>
            <a:off x="1272352" y="2639005"/>
            <a:ext cx="3299648" cy="369332"/>
          </a:xfrm>
          <a:prstGeom prst="rect">
            <a:avLst/>
          </a:prstGeom>
        </p:spPr>
        <p:txBody>
          <a:bodyPr wrap="square">
            <a:spAutoFit/>
          </a:bodyPr>
          <a:lstStyle/>
          <a:p>
            <a:r>
              <a:rPr lang="en-US" altLang="zh-CN" dirty="0">
                <a:cs typeface="+mn-ea"/>
                <a:sym typeface="+mn-lt"/>
              </a:rPr>
              <a:t>6.2 </a:t>
            </a:r>
            <a:r>
              <a:rPr lang="zh-CN" altLang="en-US" dirty="0">
                <a:cs typeface="+mn-ea"/>
                <a:sym typeface="+mn-lt"/>
              </a:rPr>
              <a:t>请求分页存储管理方式</a:t>
            </a:r>
            <a:endParaRPr lang="en-US" altLang="zh-CN" dirty="0">
              <a:cs typeface="+mn-ea"/>
              <a:sym typeface="+mn-lt"/>
            </a:endParaRPr>
          </a:p>
        </p:txBody>
      </p:sp>
      <p:sp>
        <p:nvSpPr>
          <p:cNvPr id="24" name="矩形 23"/>
          <p:cNvSpPr/>
          <p:nvPr/>
        </p:nvSpPr>
        <p:spPr>
          <a:xfrm>
            <a:off x="1272352" y="3103349"/>
            <a:ext cx="2616725" cy="369332"/>
          </a:xfrm>
          <a:prstGeom prst="rect">
            <a:avLst/>
          </a:prstGeom>
        </p:spPr>
        <p:txBody>
          <a:bodyPr wrap="square">
            <a:spAutoFit/>
          </a:bodyPr>
          <a:lstStyle/>
          <a:p>
            <a:r>
              <a:rPr lang="en-US" altLang="zh-CN" b="1" dirty="0">
                <a:solidFill>
                  <a:srgbClr val="0000FF"/>
                </a:solidFill>
                <a:cs typeface="+mn-ea"/>
                <a:sym typeface="+mn-lt"/>
              </a:rPr>
              <a:t>6.3 </a:t>
            </a:r>
            <a:r>
              <a:rPr lang="zh-CN" altLang="en-US" b="1" dirty="0">
                <a:solidFill>
                  <a:srgbClr val="0000FF"/>
                </a:solidFill>
                <a:cs typeface="+mn-ea"/>
                <a:sym typeface="+mn-lt"/>
              </a:rPr>
              <a:t>页面置换算法</a:t>
            </a:r>
            <a:endParaRPr lang="en-US" altLang="zh-CN" b="1" dirty="0">
              <a:solidFill>
                <a:srgbClr val="0000FF"/>
              </a:solidFill>
              <a:cs typeface="+mn-ea"/>
              <a:sym typeface="+mn-lt"/>
            </a:endParaRPr>
          </a:p>
        </p:txBody>
      </p:sp>
      <p:sp>
        <p:nvSpPr>
          <p:cNvPr id="25" name="矩形 24"/>
          <p:cNvSpPr/>
          <p:nvPr/>
        </p:nvSpPr>
        <p:spPr>
          <a:xfrm>
            <a:off x="1272352" y="3567692"/>
            <a:ext cx="2616725" cy="369332"/>
          </a:xfrm>
          <a:prstGeom prst="rect">
            <a:avLst/>
          </a:prstGeom>
        </p:spPr>
        <p:txBody>
          <a:bodyPr wrap="square">
            <a:spAutoFit/>
          </a:bodyPr>
          <a:lstStyle/>
          <a:p>
            <a:r>
              <a:rPr lang="en-US" altLang="zh-CN" dirty="0">
                <a:cs typeface="+mn-ea"/>
                <a:sym typeface="+mn-lt"/>
              </a:rPr>
              <a:t>6.4 </a:t>
            </a:r>
            <a:r>
              <a:rPr lang="zh-CN" altLang="en-US" dirty="0">
                <a:cs typeface="+mn-ea"/>
                <a:sym typeface="+mn-lt"/>
              </a:rPr>
              <a:t>抖动与工作集</a:t>
            </a:r>
            <a:endParaRPr lang="zh-CN" altLang="en-US" dirty="0">
              <a:cs typeface="+mn-ea"/>
              <a:sym typeface="+mn-lt"/>
            </a:endParaRPr>
          </a:p>
        </p:txBody>
      </p:sp>
      <p:sp>
        <p:nvSpPr>
          <p:cNvPr id="27" name="矩形 26"/>
          <p:cNvSpPr/>
          <p:nvPr/>
        </p:nvSpPr>
        <p:spPr>
          <a:xfrm>
            <a:off x="1272352" y="4032036"/>
            <a:ext cx="2929007" cy="369332"/>
          </a:xfrm>
          <a:prstGeom prst="rect">
            <a:avLst/>
          </a:prstGeom>
        </p:spPr>
        <p:txBody>
          <a:bodyPr wrap="square">
            <a:spAutoFit/>
          </a:bodyPr>
          <a:lstStyle/>
          <a:p>
            <a:r>
              <a:rPr lang="en-US" altLang="zh-CN" dirty="0">
                <a:cs typeface="+mn-ea"/>
                <a:sym typeface="+mn-lt"/>
              </a:rPr>
              <a:t>6.5 </a:t>
            </a:r>
            <a:r>
              <a:rPr lang="zh-CN" altLang="en-US" dirty="0">
                <a:cs typeface="+mn-ea"/>
                <a:sym typeface="+mn-lt"/>
              </a:rPr>
              <a:t>请求分段存储管理方式</a:t>
            </a:r>
            <a:endParaRPr lang="zh-CN" altLang="en-US" dirty="0">
              <a:cs typeface="+mn-ea"/>
              <a:sym typeface="+mn-lt"/>
            </a:endParaRPr>
          </a:p>
        </p:txBody>
      </p:sp>
      <p:sp>
        <p:nvSpPr>
          <p:cNvPr id="28" name="矩形 27"/>
          <p:cNvSpPr/>
          <p:nvPr/>
        </p:nvSpPr>
        <p:spPr>
          <a:xfrm>
            <a:off x="1272352" y="4496380"/>
            <a:ext cx="2761613" cy="369332"/>
          </a:xfrm>
          <a:prstGeom prst="rect">
            <a:avLst/>
          </a:prstGeom>
        </p:spPr>
        <p:txBody>
          <a:bodyPr wrap="square">
            <a:spAutoFit/>
          </a:bodyPr>
          <a:lstStyle/>
          <a:p>
            <a:r>
              <a:rPr lang="en-US" altLang="zh-CN" dirty="0">
                <a:cs typeface="+mn-ea"/>
                <a:sym typeface="+mn-lt"/>
              </a:rPr>
              <a:t>6.6 </a:t>
            </a:r>
            <a:r>
              <a:rPr lang="zh-CN" altLang="en-US" dirty="0">
                <a:cs typeface="+mn-ea"/>
                <a:sym typeface="+mn-lt"/>
              </a:rPr>
              <a:t>虚拟存储器实现实例</a:t>
            </a:r>
            <a:endParaRPr lang="zh-CN" altLang="en-US" dirty="0">
              <a:cs typeface="+mn-ea"/>
              <a:sym typeface="+mn-lt"/>
            </a:endParaRPr>
          </a:p>
        </p:txBody>
      </p:sp>
      <p:sp>
        <p:nvSpPr>
          <p:cNvPr id="3" name="矩形 2"/>
          <p:cNvSpPr/>
          <p:nvPr/>
        </p:nvSpPr>
        <p:spPr>
          <a:xfrm>
            <a:off x="5546325" y="2647003"/>
            <a:ext cx="2896947" cy="507831"/>
          </a:xfrm>
          <a:prstGeom prst="rect">
            <a:avLst/>
          </a:prstGeom>
        </p:spPr>
        <p:txBody>
          <a:bodyPr wrap="none">
            <a:spAutoFit/>
          </a:bodyPr>
          <a:lstStyle/>
          <a:p>
            <a:r>
              <a:rPr lang="zh-CN" altLang="en-US" sz="2700" dirty="0">
                <a:solidFill>
                  <a:srgbClr val="000000"/>
                </a:solidFill>
                <a:cs typeface="+mn-ea"/>
                <a:sym typeface="+mn-lt"/>
              </a:rPr>
              <a:t>第</a:t>
            </a:r>
            <a:r>
              <a:rPr lang="en-US" altLang="zh-CN" sz="2700" dirty="0">
                <a:solidFill>
                  <a:srgbClr val="000000"/>
                </a:solidFill>
                <a:cs typeface="+mn-ea"/>
                <a:sym typeface="+mn-lt"/>
              </a:rPr>
              <a:t>6</a:t>
            </a:r>
            <a:r>
              <a:rPr lang="zh-CN" altLang="en-US" sz="2700" dirty="0">
                <a:solidFill>
                  <a:srgbClr val="000000"/>
                </a:solidFill>
                <a:cs typeface="+mn-ea"/>
                <a:sym typeface="+mn-lt"/>
              </a:rPr>
              <a:t>章 虚拟存储器</a:t>
            </a:r>
            <a:endParaRPr lang="zh-CN" altLang="en-US" sz="2700" dirty="0">
              <a:cs typeface="+mn-ea"/>
              <a:sym typeface="+mn-lt"/>
            </a:endParaRPr>
          </a:p>
        </p:txBody>
      </p:sp>
      <p:cxnSp>
        <p:nvCxnSpPr>
          <p:cNvPr id="5" name="直接连接符 4"/>
          <p:cNvCxnSpPr/>
          <p:nvPr/>
        </p:nvCxnSpPr>
        <p:spPr>
          <a:xfrm>
            <a:off x="5566300" y="3250103"/>
            <a:ext cx="309404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6653"/>
          </a:xfrm>
          <a:prstGeom prst="rect">
            <a:avLst/>
          </a:prstGeom>
        </p:spPr>
        <p:txBody>
          <a:bodyPr wrap="square">
            <a:spAutoFit/>
          </a:bodyPr>
          <a:lstStyle/>
          <a:p>
            <a:pPr algn="ctr">
              <a:lnSpc>
                <a:spcPct val="132000"/>
              </a:lnSpc>
            </a:pPr>
            <a:r>
              <a:rPr lang="zh-CN" altLang="en-US" dirty="0">
                <a:solidFill>
                  <a:srgbClr val="002060"/>
                </a:solidFill>
                <a:cs typeface="+mn-ea"/>
                <a:sym typeface="+mn-lt"/>
              </a:rPr>
              <a:t>主讲：王红玲    主审：汤小丹</a:t>
            </a:r>
            <a:endParaRPr lang="en-US" altLang="zh-CN" dirty="0">
              <a:solidFill>
                <a:srgbClr val="002060"/>
              </a:solidFill>
              <a:cs typeface="+mn-ea"/>
              <a:sym typeface="+mn-lt"/>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132616"/>
            <a:ext cx="395288" cy="395288"/>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571471"/>
            <a:ext cx="395288" cy="395288"/>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063073"/>
            <a:ext cx="395288" cy="395288"/>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526927"/>
            <a:ext cx="395288" cy="395288"/>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996487"/>
            <a:ext cx="395288" cy="395288"/>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4474772"/>
            <a:ext cx="395288" cy="395288"/>
          </a:xfrm>
          <a:prstGeom prst="rect">
            <a:avLst/>
          </a:prstGeom>
          <a:ln>
            <a:noFill/>
          </a:ln>
          <a:effectLst>
            <a:softEdge rad="0"/>
          </a:effectLst>
        </p:spPr>
      </p:pic>
    </p:spTree>
  </p:cSld>
  <p:clrMapOvr>
    <a:masterClrMapping/>
  </p:clrMapOvr>
  <p:transition spd="slow">
    <p:pull dir="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8433"/>
          <p:cNvSpPr>
            <a:spLocks noGrp="1"/>
          </p:cNvSpPr>
          <p:nvPr>
            <p:ph type="title"/>
          </p:nvPr>
        </p:nvSpPr>
        <p:spPr>
          <a:xfrm>
            <a:off x="1925241" y="1107281"/>
            <a:ext cx="5829300" cy="748904"/>
          </a:xfrm>
        </p:spPr>
        <p:txBody>
          <a:bodyPr anchor="ctr" anchorCtr="0">
            <a:normAutofit fontScale="90000"/>
          </a:bodyPr>
          <a:lstStyle/>
          <a:p>
            <a:r>
              <a:rPr lang="en-US" altLang="zh-CN" sz="3000" dirty="0"/>
              <a:t>5.10  </a:t>
            </a:r>
            <a:r>
              <a:rPr lang="zh-CN" altLang="en-US" sz="3000" dirty="0"/>
              <a:t>页面置换算法</a:t>
            </a:r>
            <a:br>
              <a:rPr lang="zh-CN" altLang="en-US" sz="3000" dirty="0"/>
            </a:br>
            <a:r>
              <a:rPr lang="zh-CN" altLang="en-US" sz="2700" dirty="0"/>
              <a:t>页面置换</a:t>
            </a:r>
            <a:endParaRPr lang="zh-CN" altLang="en-US" sz="2700" dirty="0"/>
          </a:p>
        </p:txBody>
      </p:sp>
      <p:pic>
        <p:nvPicPr>
          <p:cNvPr id="18435" name="图片 18434" descr="B535"/>
          <p:cNvPicPr>
            <a:picLocks noChangeAspect="1"/>
          </p:cNvPicPr>
          <p:nvPr/>
        </p:nvPicPr>
        <p:blipFill>
          <a:blip r:embed="rId1"/>
          <a:stretch>
            <a:fillRect/>
          </a:stretch>
        </p:blipFill>
        <p:spPr>
          <a:xfrm>
            <a:off x="2141935" y="1865710"/>
            <a:ext cx="5715000" cy="4135040"/>
          </a:xfrm>
          <a:prstGeom prst="rect">
            <a:avLst/>
          </a:prstGeom>
          <a:noFill/>
          <a:ln w="9525">
            <a:noFill/>
          </a:ln>
        </p:spPr>
      </p:pic>
      <p:sp>
        <p:nvSpPr>
          <p:cNvPr id="29700" name="矩形 18436"/>
          <p:cNvSpPr/>
          <p:nvPr/>
        </p:nvSpPr>
        <p:spPr>
          <a:xfrm>
            <a:off x="2303860" y="3861197"/>
            <a:ext cx="863203" cy="270272"/>
          </a:xfrm>
          <a:prstGeom prst="rect">
            <a:avLst/>
          </a:prstGeom>
          <a:solidFill>
            <a:schemeClr val="accent1">
              <a:alpha val="0"/>
            </a:schemeClr>
          </a:solidFill>
          <a:ln w="38100" cap="flat" cmpd="sng">
            <a:solidFill>
              <a:srgbClr val="FF000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linds(horizontal)">
                                      <p:cBhvr>
                                        <p:cTn id="7" dur="5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页面置换</a:t>
            </a:r>
            <a:endParaRPr lang="zh-CN" altLang="en-US" sz="2100" b="1" dirty="0">
              <a:solidFill>
                <a:schemeClr val="bg1"/>
              </a:solidFill>
              <a:cs typeface="+mn-ea"/>
              <a:sym typeface="+mn-lt"/>
            </a:endParaRPr>
          </a:p>
        </p:txBody>
      </p:sp>
      <p:sp>
        <p:nvSpPr>
          <p:cNvPr id="22" name="îśḻiďé"/>
          <p:cNvSpPr/>
          <p:nvPr/>
        </p:nvSpPr>
        <p:spPr bwMode="auto">
          <a:xfrm>
            <a:off x="932932" y="2092339"/>
            <a:ext cx="634823" cy="634823"/>
          </a:xfrm>
          <a:prstGeom prst="ellipse">
            <a:avLst/>
          </a:prstGeom>
          <a:solidFill>
            <a:schemeClr val="accent2"/>
          </a:solidFill>
          <a:ln>
            <a:noFill/>
          </a:ln>
        </p:spPr>
        <p:txBody>
          <a:bodyPr vert="horz" wrap="square" lIns="68580" tIns="34290" rIns="68580" bIns="34290" numCol="1" anchor="t" anchorCtr="0" compatLnSpc="1">
            <a:normAutofit/>
          </a:bodyPr>
          <a:lstStyle/>
          <a:p>
            <a:endParaRPr lang="en-US">
              <a:cs typeface="+mn-ea"/>
              <a:sym typeface="+mn-lt"/>
            </a:endParaRPr>
          </a:p>
        </p:txBody>
      </p:sp>
      <p:sp>
        <p:nvSpPr>
          <p:cNvPr id="23" name="išľiďe"/>
          <p:cNvSpPr/>
          <p:nvPr/>
        </p:nvSpPr>
        <p:spPr bwMode="auto">
          <a:xfrm>
            <a:off x="1018271" y="3510378"/>
            <a:ext cx="635548" cy="634823"/>
          </a:xfrm>
          <a:prstGeom prst="ellipse">
            <a:avLst/>
          </a:prstGeom>
          <a:solidFill>
            <a:schemeClr val="accent3"/>
          </a:solidFill>
          <a:ln>
            <a:noFill/>
          </a:ln>
        </p:spPr>
        <p:txBody>
          <a:bodyPr vert="horz" wrap="square" lIns="68580" tIns="34290" rIns="68580" bIns="34290" numCol="1" anchor="t" anchorCtr="0" compatLnSpc="1">
            <a:normAutofit/>
          </a:bodyPr>
          <a:lstStyle/>
          <a:p>
            <a:endParaRPr lang="en-US">
              <a:cs typeface="+mn-ea"/>
              <a:sym typeface="+mn-lt"/>
            </a:endParaRPr>
          </a:p>
        </p:txBody>
      </p:sp>
      <p:sp>
        <p:nvSpPr>
          <p:cNvPr id="25" name="ïṡḷidè"/>
          <p:cNvSpPr/>
          <p:nvPr/>
        </p:nvSpPr>
        <p:spPr bwMode="auto">
          <a:xfrm>
            <a:off x="1653500" y="3622042"/>
            <a:ext cx="258533" cy="258142"/>
          </a:xfrm>
          <a:custGeom>
            <a:avLst/>
            <a:gdLst>
              <a:gd name="connsiteX0" fmla="*/ 106370 w 607639"/>
              <a:gd name="connsiteY0" fmla="*/ 436610 h 606722"/>
              <a:gd name="connsiteX1" fmla="*/ 61329 w 607639"/>
              <a:gd name="connsiteY1" fmla="*/ 480515 h 606722"/>
              <a:gd name="connsiteX2" fmla="*/ 126397 w 607639"/>
              <a:gd name="connsiteY2" fmla="*/ 545485 h 606722"/>
              <a:gd name="connsiteX3" fmla="*/ 170369 w 607639"/>
              <a:gd name="connsiteY3" fmla="*/ 500513 h 606722"/>
              <a:gd name="connsiteX4" fmla="*/ 455714 w 607639"/>
              <a:gd name="connsiteY4" fmla="*/ 404481 h 606722"/>
              <a:gd name="connsiteX5" fmla="*/ 531614 w 607639"/>
              <a:gd name="connsiteY5" fmla="*/ 404481 h 606722"/>
              <a:gd name="connsiteX6" fmla="*/ 531703 w 607639"/>
              <a:gd name="connsiteY6" fmla="*/ 404481 h 606722"/>
              <a:gd name="connsiteX7" fmla="*/ 531792 w 607639"/>
              <a:gd name="connsiteY7" fmla="*/ 404481 h 606722"/>
              <a:gd name="connsiteX8" fmla="*/ 548075 w 607639"/>
              <a:gd name="connsiteY8" fmla="*/ 410525 h 606722"/>
              <a:gd name="connsiteX9" fmla="*/ 551456 w 607639"/>
              <a:gd name="connsiteY9" fmla="*/ 413991 h 606722"/>
              <a:gd name="connsiteX10" fmla="*/ 556973 w 607639"/>
              <a:gd name="connsiteY10" fmla="*/ 429012 h 606722"/>
              <a:gd name="connsiteX11" fmla="*/ 556973 w 607639"/>
              <a:gd name="connsiteY11" fmla="*/ 429811 h 606722"/>
              <a:gd name="connsiteX12" fmla="*/ 556973 w 607639"/>
              <a:gd name="connsiteY12" fmla="*/ 505625 h 606722"/>
              <a:gd name="connsiteX13" fmla="*/ 531614 w 607639"/>
              <a:gd name="connsiteY13" fmla="*/ 530867 h 606722"/>
              <a:gd name="connsiteX14" fmla="*/ 506343 w 607639"/>
              <a:gd name="connsiteY14" fmla="*/ 505625 h 606722"/>
              <a:gd name="connsiteX15" fmla="*/ 476001 w 607639"/>
              <a:gd name="connsiteY15" fmla="*/ 546065 h 606722"/>
              <a:gd name="connsiteX16" fmla="*/ 455714 w 607639"/>
              <a:gd name="connsiteY16" fmla="*/ 556197 h 606722"/>
              <a:gd name="connsiteX17" fmla="*/ 440498 w 607639"/>
              <a:gd name="connsiteY17" fmla="*/ 551131 h 606722"/>
              <a:gd name="connsiteX18" fmla="*/ 435515 w 607639"/>
              <a:gd name="connsiteY18" fmla="*/ 515757 h 606722"/>
              <a:gd name="connsiteX19" fmla="*/ 481073 w 607639"/>
              <a:gd name="connsiteY19" fmla="*/ 455053 h 606722"/>
              <a:gd name="connsiteX20" fmla="*/ 455714 w 607639"/>
              <a:gd name="connsiteY20" fmla="*/ 455053 h 606722"/>
              <a:gd name="connsiteX21" fmla="*/ 430443 w 607639"/>
              <a:gd name="connsiteY21" fmla="*/ 429811 h 606722"/>
              <a:gd name="connsiteX22" fmla="*/ 455714 w 607639"/>
              <a:gd name="connsiteY22" fmla="*/ 404481 h 606722"/>
              <a:gd name="connsiteX23" fmla="*/ 157786 w 607639"/>
              <a:gd name="connsiteY23" fmla="*/ 282117 h 606722"/>
              <a:gd name="connsiteX24" fmla="*/ 175710 w 607639"/>
              <a:gd name="connsiteY24" fmla="*/ 289516 h 606722"/>
              <a:gd name="connsiteX25" fmla="*/ 317685 w 607639"/>
              <a:gd name="connsiteY25" fmla="*/ 431277 h 606722"/>
              <a:gd name="connsiteX26" fmla="*/ 317685 w 607639"/>
              <a:gd name="connsiteY26" fmla="*/ 467006 h 606722"/>
              <a:gd name="connsiteX27" fmla="*/ 245229 w 607639"/>
              <a:gd name="connsiteY27" fmla="*/ 539441 h 606722"/>
              <a:gd name="connsiteX28" fmla="*/ 227248 w 607639"/>
              <a:gd name="connsiteY28" fmla="*/ 546818 h 606722"/>
              <a:gd name="connsiteX29" fmla="*/ 209357 w 607639"/>
              <a:gd name="connsiteY29" fmla="*/ 539441 h 606722"/>
              <a:gd name="connsiteX30" fmla="*/ 206241 w 607639"/>
              <a:gd name="connsiteY30" fmla="*/ 536242 h 606722"/>
              <a:gd name="connsiteX31" fmla="*/ 144734 w 607639"/>
              <a:gd name="connsiteY31" fmla="*/ 599079 h 606722"/>
              <a:gd name="connsiteX32" fmla="*/ 126753 w 607639"/>
              <a:gd name="connsiteY32" fmla="*/ 606722 h 606722"/>
              <a:gd name="connsiteX33" fmla="*/ 126575 w 607639"/>
              <a:gd name="connsiteY33" fmla="*/ 606722 h 606722"/>
              <a:gd name="connsiteX34" fmla="*/ 108684 w 607639"/>
              <a:gd name="connsiteY34" fmla="*/ 599256 h 606722"/>
              <a:gd name="connsiteX35" fmla="*/ 7388 w 607639"/>
              <a:gd name="connsiteY35" fmla="*/ 498113 h 606722"/>
              <a:gd name="connsiteX36" fmla="*/ 0 w 607639"/>
              <a:gd name="connsiteY36" fmla="*/ 480160 h 606722"/>
              <a:gd name="connsiteX37" fmla="*/ 7655 w 607639"/>
              <a:gd name="connsiteY37" fmla="*/ 462206 h 606722"/>
              <a:gd name="connsiteX38" fmla="*/ 70587 w 607639"/>
              <a:gd name="connsiteY38" fmla="*/ 400792 h 606722"/>
              <a:gd name="connsiteX39" fmla="*/ 67382 w 607639"/>
              <a:gd name="connsiteY39" fmla="*/ 397681 h 606722"/>
              <a:gd name="connsiteX40" fmla="*/ 59994 w 607639"/>
              <a:gd name="connsiteY40" fmla="*/ 379728 h 606722"/>
              <a:gd name="connsiteX41" fmla="*/ 67382 w 607639"/>
              <a:gd name="connsiteY41" fmla="*/ 361863 h 606722"/>
              <a:gd name="connsiteX42" fmla="*/ 139927 w 607639"/>
              <a:gd name="connsiteY42" fmla="*/ 289516 h 606722"/>
              <a:gd name="connsiteX43" fmla="*/ 157786 w 607639"/>
              <a:gd name="connsiteY43" fmla="*/ 282117 h 606722"/>
              <a:gd name="connsiteX44" fmla="*/ 363724 w 607639"/>
              <a:gd name="connsiteY44" fmla="*/ 101159 h 606722"/>
              <a:gd name="connsiteX45" fmla="*/ 353254 w 607639"/>
              <a:gd name="connsiteY45" fmla="*/ 105492 h 606722"/>
              <a:gd name="connsiteX46" fmla="*/ 320945 w 607639"/>
              <a:gd name="connsiteY46" fmla="*/ 137752 h 606722"/>
              <a:gd name="connsiteX47" fmla="*/ 323793 w 607639"/>
              <a:gd name="connsiteY47" fmla="*/ 139974 h 606722"/>
              <a:gd name="connsiteX48" fmla="*/ 335898 w 607639"/>
              <a:gd name="connsiteY48" fmla="*/ 148417 h 606722"/>
              <a:gd name="connsiteX49" fmla="*/ 341149 w 607639"/>
              <a:gd name="connsiteY49" fmla="*/ 151794 h 606722"/>
              <a:gd name="connsiteX50" fmla="*/ 359930 w 607639"/>
              <a:gd name="connsiteY50" fmla="*/ 162459 h 606722"/>
              <a:gd name="connsiteX51" fmla="*/ 408439 w 607639"/>
              <a:gd name="connsiteY51" fmla="*/ 198897 h 606722"/>
              <a:gd name="connsiteX52" fmla="*/ 444933 w 607639"/>
              <a:gd name="connsiteY52" fmla="*/ 247243 h 606722"/>
              <a:gd name="connsiteX53" fmla="*/ 455614 w 607639"/>
              <a:gd name="connsiteY53" fmla="*/ 266084 h 606722"/>
              <a:gd name="connsiteX54" fmla="*/ 458907 w 607639"/>
              <a:gd name="connsiteY54" fmla="*/ 271239 h 606722"/>
              <a:gd name="connsiteX55" fmla="*/ 467452 w 607639"/>
              <a:gd name="connsiteY55" fmla="*/ 283326 h 606722"/>
              <a:gd name="connsiteX56" fmla="*/ 469677 w 607639"/>
              <a:gd name="connsiteY56" fmla="*/ 286258 h 606722"/>
              <a:gd name="connsiteX57" fmla="*/ 501987 w 607639"/>
              <a:gd name="connsiteY57" fmla="*/ 253998 h 606722"/>
              <a:gd name="connsiteX58" fmla="*/ 501987 w 607639"/>
              <a:gd name="connsiteY58" fmla="*/ 233024 h 606722"/>
              <a:gd name="connsiteX59" fmla="*/ 374260 w 607639"/>
              <a:gd name="connsiteY59" fmla="*/ 105492 h 606722"/>
              <a:gd name="connsiteX60" fmla="*/ 363724 w 607639"/>
              <a:gd name="connsiteY60" fmla="*/ 101159 h 606722"/>
              <a:gd name="connsiteX61" fmla="*/ 177209 w 607639"/>
              <a:gd name="connsiteY61" fmla="*/ 50521 h 606722"/>
              <a:gd name="connsiteX62" fmla="*/ 195096 w 607639"/>
              <a:gd name="connsiteY62" fmla="*/ 57919 h 606722"/>
              <a:gd name="connsiteX63" fmla="*/ 195096 w 607639"/>
              <a:gd name="connsiteY63" fmla="*/ 93644 h 606722"/>
              <a:gd name="connsiteX64" fmla="*/ 137075 w 607639"/>
              <a:gd name="connsiteY64" fmla="*/ 151675 h 606722"/>
              <a:gd name="connsiteX65" fmla="*/ 151936 w 607639"/>
              <a:gd name="connsiteY65" fmla="*/ 151675 h 606722"/>
              <a:gd name="connsiteX66" fmla="*/ 177209 w 607639"/>
              <a:gd name="connsiteY66" fmla="*/ 176914 h 606722"/>
              <a:gd name="connsiteX67" fmla="*/ 151936 w 607639"/>
              <a:gd name="connsiteY67" fmla="*/ 202241 h 606722"/>
              <a:gd name="connsiteX68" fmla="*/ 75939 w 607639"/>
              <a:gd name="connsiteY68" fmla="*/ 202241 h 606722"/>
              <a:gd name="connsiteX69" fmla="*/ 59387 w 607639"/>
              <a:gd name="connsiteY69" fmla="*/ 196020 h 606722"/>
              <a:gd name="connsiteX70" fmla="*/ 55916 w 607639"/>
              <a:gd name="connsiteY70" fmla="*/ 192288 h 606722"/>
              <a:gd name="connsiteX71" fmla="*/ 50755 w 607639"/>
              <a:gd name="connsiteY71" fmla="*/ 178691 h 606722"/>
              <a:gd name="connsiteX72" fmla="*/ 50666 w 607639"/>
              <a:gd name="connsiteY72" fmla="*/ 176736 h 606722"/>
              <a:gd name="connsiteX73" fmla="*/ 50666 w 607639"/>
              <a:gd name="connsiteY73" fmla="*/ 101109 h 606722"/>
              <a:gd name="connsiteX74" fmla="*/ 75939 w 607639"/>
              <a:gd name="connsiteY74" fmla="*/ 75782 h 606722"/>
              <a:gd name="connsiteX75" fmla="*/ 101301 w 607639"/>
              <a:gd name="connsiteY75" fmla="*/ 101109 h 606722"/>
              <a:gd name="connsiteX76" fmla="*/ 101301 w 607639"/>
              <a:gd name="connsiteY76" fmla="*/ 115861 h 606722"/>
              <a:gd name="connsiteX77" fmla="*/ 159322 w 607639"/>
              <a:gd name="connsiteY77" fmla="*/ 57919 h 606722"/>
              <a:gd name="connsiteX78" fmla="*/ 177209 w 607639"/>
              <a:gd name="connsiteY78" fmla="*/ 50521 h 606722"/>
              <a:gd name="connsiteX79" fmla="*/ 480892 w 607639"/>
              <a:gd name="connsiteY79" fmla="*/ 0 h 606722"/>
              <a:gd name="connsiteX80" fmla="*/ 498960 w 607639"/>
              <a:gd name="connsiteY80" fmla="*/ 7376 h 606722"/>
              <a:gd name="connsiteX81" fmla="*/ 600162 w 607639"/>
              <a:gd name="connsiteY81" fmla="*/ 108513 h 606722"/>
              <a:gd name="connsiteX82" fmla="*/ 607639 w 607639"/>
              <a:gd name="connsiteY82" fmla="*/ 126554 h 606722"/>
              <a:gd name="connsiteX83" fmla="*/ 599984 w 607639"/>
              <a:gd name="connsiteY83" fmla="*/ 144507 h 606722"/>
              <a:gd name="connsiteX84" fmla="*/ 541417 w 607639"/>
              <a:gd name="connsiteY84" fmla="*/ 201741 h 606722"/>
              <a:gd name="connsiteX85" fmla="*/ 537768 w 607639"/>
              <a:gd name="connsiteY85" fmla="*/ 289724 h 606722"/>
              <a:gd name="connsiteX86" fmla="*/ 486499 w 607639"/>
              <a:gd name="connsiteY86" fmla="*/ 340915 h 606722"/>
              <a:gd name="connsiteX87" fmla="*/ 484719 w 607639"/>
              <a:gd name="connsiteY87" fmla="*/ 342159 h 606722"/>
              <a:gd name="connsiteX88" fmla="*/ 480002 w 607639"/>
              <a:gd name="connsiteY88" fmla="*/ 345270 h 606722"/>
              <a:gd name="connsiteX89" fmla="*/ 476530 w 607639"/>
              <a:gd name="connsiteY89" fmla="*/ 346869 h 606722"/>
              <a:gd name="connsiteX90" fmla="*/ 471190 w 607639"/>
              <a:gd name="connsiteY90" fmla="*/ 347847 h 606722"/>
              <a:gd name="connsiteX91" fmla="*/ 468609 w 607639"/>
              <a:gd name="connsiteY91" fmla="*/ 348380 h 606722"/>
              <a:gd name="connsiteX92" fmla="*/ 467452 w 607639"/>
              <a:gd name="connsiteY92" fmla="*/ 348114 h 606722"/>
              <a:gd name="connsiteX93" fmla="*/ 462111 w 607639"/>
              <a:gd name="connsiteY93" fmla="*/ 347047 h 606722"/>
              <a:gd name="connsiteX94" fmla="*/ 458373 w 607639"/>
              <a:gd name="connsiteY94" fmla="*/ 345981 h 606722"/>
              <a:gd name="connsiteX95" fmla="*/ 457305 w 607639"/>
              <a:gd name="connsiteY95" fmla="*/ 345714 h 606722"/>
              <a:gd name="connsiteX96" fmla="*/ 428911 w 607639"/>
              <a:gd name="connsiteY96" fmla="*/ 331494 h 606722"/>
              <a:gd name="connsiteX97" fmla="*/ 407282 w 607639"/>
              <a:gd name="connsiteY97" fmla="*/ 335049 h 606722"/>
              <a:gd name="connsiteX98" fmla="*/ 376308 w 607639"/>
              <a:gd name="connsiteY98" fmla="*/ 365888 h 606722"/>
              <a:gd name="connsiteX99" fmla="*/ 344265 w 607639"/>
              <a:gd name="connsiteY99" fmla="*/ 379219 h 606722"/>
              <a:gd name="connsiteX100" fmla="*/ 312133 w 607639"/>
              <a:gd name="connsiteY100" fmla="*/ 365888 h 606722"/>
              <a:gd name="connsiteX101" fmla="*/ 241194 w 607639"/>
              <a:gd name="connsiteY101" fmla="*/ 295057 h 606722"/>
              <a:gd name="connsiteX102" fmla="*/ 241194 w 607639"/>
              <a:gd name="connsiteY102" fmla="*/ 230891 h 606722"/>
              <a:gd name="connsiteX103" fmla="*/ 272079 w 607639"/>
              <a:gd name="connsiteY103" fmla="*/ 200052 h 606722"/>
              <a:gd name="connsiteX104" fmla="*/ 275551 w 607639"/>
              <a:gd name="connsiteY104" fmla="*/ 178456 h 606722"/>
              <a:gd name="connsiteX105" fmla="*/ 261398 w 607639"/>
              <a:gd name="connsiteY105" fmla="*/ 150106 h 606722"/>
              <a:gd name="connsiteX106" fmla="*/ 261131 w 607639"/>
              <a:gd name="connsiteY106" fmla="*/ 149039 h 606722"/>
              <a:gd name="connsiteX107" fmla="*/ 260063 w 607639"/>
              <a:gd name="connsiteY107" fmla="*/ 145307 h 606722"/>
              <a:gd name="connsiteX108" fmla="*/ 258995 w 607639"/>
              <a:gd name="connsiteY108" fmla="*/ 139974 h 606722"/>
              <a:gd name="connsiteX109" fmla="*/ 259262 w 607639"/>
              <a:gd name="connsiteY109" fmla="*/ 136242 h 606722"/>
              <a:gd name="connsiteX110" fmla="*/ 260241 w 607639"/>
              <a:gd name="connsiteY110" fmla="*/ 130909 h 606722"/>
              <a:gd name="connsiteX111" fmla="*/ 261754 w 607639"/>
              <a:gd name="connsiteY111" fmla="*/ 127443 h 606722"/>
              <a:gd name="connsiteX112" fmla="*/ 264959 w 607639"/>
              <a:gd name="connsiteY112" fmla="*/ 122733 h 606722"/>
              <a:gd name="connsiteX113" fmla="*/ 266116 w 607639"/>
              <a:gd name="connsiteY113" fmla="*/ 120955 h 606722"/>
              <a:gd name="connsiteX114" fmla="*/ 317384 w 607639"/>
              <a:gd name="connsiteY114" fmla="*/ 69676 h 606722"/>
              <a:gd name="connsiteX115" fmla="*/ 405591 w 607639"/>
              <a:gd name="connsiteY115" fmla="*/ 66121 h 606722"/>
              <a:gd name="connsiteX116" fmla="*/ 462912 w 607639"/>
              <a:gd name="connsiteY116" fmla="*/ 7554 h 606722"/>
              <a:gd name="connsiteX117" fmla="*/ 480892 w 607639"/>
              <a:gd name="connsiteY11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607639" h="606722">
                <a:moveTo>
                  <a:pt x="106370" y="436610"/>
                </a:moveTo>
                <a:lnTo>
                  <a:pt x="61329" y="480515"/>
                </a:lnTo>
                <a:lnTo>
                  <a:pt x="126397" y="545485"/>
                </a:lnTo>
                <a:lnTo>
                  <a:pt x="170369" y="500513"/>
                </a:lnTo>
                <a:close/>
                <a:moveTo>
                  <a:pt x="455714" y="404481"/>
                </a:moveTo>
                <a:lnTo>
                  <a:pt x="531614" y="404481"/>
                </a:lnTo>
                <a:lnTo>
                  <a:pt x="531703" y="404481"/>
                </a:lnTo>
                <a:lnTo>
                  <a:pt x="531792" y="404481"/>
                </a:lnTo>
                <a:cubicBezTo>
                  <a:pt x="538020" y="404481"/>
                  <a:pt x="543715" y="406792"/>
                  <a:pt x="548075" y="410525"/>
                </a:cubicBezTo>
                <a:cubicBezTo>
                  <a:pt x="549321" y="411591"/>
                  <a:pt x="550388" y="412747"/>
                  <a:pt x="551456" y="413991"/>
                </a:cubicBezTo>
                <a:cubicBezTo>
                  <a:pt x="554748" y="418079"/>
                  <a:pt x="556795" y="423323"/>
                  <a:pt x="556973" y="429012"/>
                </a:cubicBezTo>
                <a:cubicBezTo>
                  <a:pt x="556973" y="429278"/>
                  <a:pt x="556973" y="429545"/>
                  <a:pt x="556973" y="429811"/>
                </a:cubicBezTo>
                <a:lnTo>
                  <a:pt x="556973" y="505625"/>
                </a:lnTo>
                <a:cubicBezTo>
                  <a:pt x="556973" y="519579"/>
                  <a:pt x="545673" y="530867"/>
                  <a:pt x="531614" y="530867"/>
                </a:cubicBezTo>
                <a:cubicBezTo>
                  <a:pt x="517644" y="530867"/>
                  <a:pt x="506343" y="519579"/>
                  <a:pt x="506343" y="505625"/>
                </a:cubicBezTo>
                <a:lnTo>
                  <a:pt x="476001" y="546065"/>
                </a:lnTo>
                <a:cubicBezTo>
                  <a:pt x="471018" y="552731"/>
                  <a:pt x="463366" y="556197"/>
                  <a:pt x="455714" y="556197"/>
                </a:cubicBezTo>
                <a:cubicBezTo>
                  <a:pt x="450375" y="556197"/>
                  <a:pt x="445125" y="554508"/>
                  <a:pt x="440498" y="551131"/>
                </a:cubicBezTo>
                <a:cubicBezTo>
                  <a:pt x="429375" y="542776"/>
                  <a:pt x="427062" y="526867"/>
                  <a:pt x="435515" y="515757"/>
                </a:cubicBezTo>
                <a:lnTo>
                  <a:pt x="481073" y="455053"/>
                </a:lnTo>
                <a:lnTo>
                  <a:pt x="455714" y="455053"/>
                </a:lnTo>
                <a:cubicBezTo>
                  <a:pt x="441744" y="455053"/>
                  <a:pt x="430443" y="443765"/>
                  <a:pt x="430443" y="429811"/>
                </a:cubicBezTo>
                <a:cubicBezTo>
                  <a:pt x="430443" y="415857"/>
                  <a:pt x="441744" y="404481"/>
                  <a:pt x="455714" y="404481"/>
                </a:cubicBezTo>
                <a:close/>
                <a:moveTo>
                  <a:pt x="157786" y="282117"/>
                </a:moveTo>
                <a:cubicBezTo>
                  <a:pt x="164272" y="282117"/>
                  <a:pt x="170770" y="284584"/>
                  <a:pt x="175710" y="289516"/>
                </a:cubicBezTo>
                <a:lnTo>
                  <a:pt x="317685" y="431277"/>
                </a:lnTo>
                <a:cubicBezTo>
                  <a:pt x="327565" y="441142"/>
                  <a:pt x="327565" y="457140"/>
                  <a:pt x="317685" y="467006"/>
                </a:cubicBezTo>
                <a:lnTo>
                  <a:pt x="245229" y="539441"/>
                </a:lnTo>
                <a:cubicBezTo>
                  <a:pt x="240422" y="544152"/>
                  <a:pt x="234013" y="546818"/>
                  <a:pt x="227248" y="546818"/>
                </a:cubicBezTo>
                <a:cubicBezTo>
                  <a:pt x="220572" y="546818"/>
                  <a:pt x="214163" y="544152"/>
                  <a:pt x="209357" y="539441"/>
                </a:cubicBezTo>
                <a:lnTo>
                  <a:pt x="206241" y="536242"/>
                </a:lnTo>
                <a:lnTo>
                  <a:pt x="144734" y="599079"/>
                </a:lnTo>
                <a:cubicBezTo>
                  <a:pt x="140016" y="603967"/>
                  <a:pt x="133518" y="606633"/>
                  <a:pt x="126753" y="606722"/>
                </a:cubicBezTo>
                <a:lnTo>
                  <a:pt x="126575" y="606722"/>
                </a:lnTo>
                <a:cubicBezTo>
                  <a:pt x="119899" y="606722"/>
                  <a:pt x="113491" y="604056"/>
                  <a:pt x="108684" y="599256"/>
                </a:cubicBezTo>
                <a:lnTo>
                  <a:pt x="7388" y="498113"/>
                </a:lnTo>
                <a:cubicBezTo>
                  <a:pt x="2670" y="493403"/>
                  <a:pt x="0" y="486914"/>
                  <a:pt x="0" y="480160"/>
                </a:cubicBezTo>
                <a:cubicBezTo>
                  <a:pt x="89" y="473405"/>
                  <a:pt x="2759" y="466917"/>
                  <a:pt x="7655" y="462206"/>
                </a:cubicBezTo>
                <a:lnTo>
                  <a:pt x="70587" y="400792"/>
                </a:lnTo>
                <a:lnTo>
                  <a:pt x="67382" y="397681"/>
                </a:lnTo>
                <a:cubicBezTo>
                  <a:pt x="62665" y="392882"/>
                  <a:pt x="59994" y="386482"/>
                  <a:pt x="59994" y="379728"/>
                </a:cubicBezTo>
                <a:cubicBezTo>
                  <a:pt x="59994" y="373062"/>
                  <a:pt x="62665" y="366663"/>
                  <a:pt x="67382" y="361863"/>
                </a:cubicBezTo>
                <a:lnTo>
                  <a:pt x="139927" y="289516"/>
                </a:lnTo>
                <a:cubicBezTo>
                  <a:pt x="144823" y="284584"/>
                  <a:pt x="151299" y="282117"/>
                  <a:pt x="157786" y="282117"/>
                </a:cubicBezTo>
                <a:close/>
                <a:moveTo>
                  <a:pt x="363724" y="101159"/>
                </a:moveTo>
                <a:cubicBezTo>
                  <a:pt x="359930" y="101159"/>
                  <a:pt x="356147" y="102604"/>
                  <a:pt x="353254" y="105492"/>
                </a:cubicBezTo>
                <a:lnTo>
                  <a:pt x="320945" y="137752"/>
                </a:lnTo>
                <a:cubicBezTo>
                  <a:pt x="321835" y="138463"/>
                  <a:pt x="322814" y="139174"/>
                  <a:pt x="323793" y="139974"/>
                </a:cubicBezTo>
                <a:cubicBezTo>
                  <a:pt x="327709" y="142818"/>
                  <a:pt x="331715" y="145662"/>
                  <a:pt x="335898" y="148417"/>
                </a:cubicBezTo>
                <a:cubicBezTo>
                  <a:pt x="337678" y="149572"/>
                  <a:pt x="339369" y="150728"/>
                  <a:pt x="341149" y="151794"/>
                </a:cubicBezTo>
                <a:cubicBezTo>
                  <a:pt x="347113" y="155527"/>
                  <a:pt x="353254" y="159082"/>
                  <a:pt x="359930" y="162459"/>
                </a:cubicBezTo>
                <a:cubicBezTo>
                  <a:pt x="376040" y="170724"/>
                  <a:pt x="392863" y="183344"/>
                  <a:pt x="408439" y="198897"/>
                </a:cubicBezTo>
                <a:cubicBezTo>
                  <a:pt x="424016" y="214449"/>
                  <a:pt x="436655" y="231246"/>
                  <a:pt x="444933" y="247243"/>
                </a:cubicBezTo>
                <a:cubicBezTo>
                  <a:pt x="448315" y="253998"/>
                  <a:pt x="451875" y="260130"/>
                  <a:pt x="455614" y="266084"/>
                </a:cubicBezTo>
                <a:cubicBezTo>
                  <a:pt x="456682" y="267862"/>
                  <a:pt x="457839" y="269550"/>
                  <a:pt x="458907" y="271239"/>
                </a:cubicBezTo>
                <a:cubicBezTo>
                  <a:pt x="461666" y="275416"/>
                  <a:pt x="464514" y="279504"/>
                  <a:pt x="467452" y="283326"/>
                </a:cubicBezTo>
                <a:cubicBezTo>
                  <a:pt x="468164" y="284303"/>
                  <a:pt x="468876" y="285281"/>
                  <a:pt x="469677" y="286258"/>
                </a:cubicBezTo>
                <a:lnTo>
                  <a:pt x="501987" y="253998"/>
                </a:lnTo>
                <a:cubicBezTo>
                  <a:pt x="507772" y="248221"/>
                  <a:pt x="507772" y="238800"/>
                  <a:pt x="501987" y="233024"/>
                </a:cubicBezTo>
                <a:lnTo>
                  <a:pt x="374260" y="105492"/>
                </a:lnTo>
                <a:cubicBezTo>
                  <a:pt x="371323" y="102604"/>
                  <a:pt x="367518" y="101159"/>
                  <a:pt x="363724" y="101159"/>
                </a:cubicBezTo>
                <a:close/>
                <a:moveTo>
                  <a:pt x="177209" y="50521"/>
                </a:moveTo>
                <a:cubicBezTo>
                  <a:pt x="183683" y="50521"/>
                  <a:pt x="190157" y="52987"/>
                  <a:pt x="195096" y="57919"/>
                </a:cubicBezTo>
                <a:cubicBezTo>
                  <a:pt x="205063" y="67784"/>
                  <a:pt x="205063" y="83869"/>
                  <a:pt x="195096" y="93644"/>
                </a:cubicBezTo>
                <a:lnTo>
                  <a:pt x="137075" y="151675"/>
                </a:lnTo>
                <a:lnTo>
                  <a:pt x="151936" y="151675"/>
                </a:lnTo>
                <a:cubicBezTo>
                  <a:pt x="165908" y="151675"/>
                  <a:pt x="177209" y="162961"/>
                  <a:pt x="177209" y="176914"/>
                </a:cubicBezTo>
                <a:cubicBezTo>
                  <a:pt x="177209" y="190866"/>
                  <a:pt x="165908" y="202241"/>
                  <a:pt x="151936" y="202241"/>
                </a:cubicBezTo>
                <a:lnTo>
                  <a:pt x="75939" y="202241"/>
                </a:lnTo>
                <a:cubicBezTo>
                  <a:pt x="69621" y="202241"/>
                  <a:pt x="63836" y="199842"/>
                  <a:pt x="59387" y="196020"/>
                </a:cubicBezTo>
                <a:cubicBezTo>
                  <a:pt x="58141" y="194954"/>
                  <a:pt x="56984" y="193710"/>
                  <a:pt x="55916" y="192288"/>
                </a:cubicBezTo>
                <a:cubicBezTo>
                  <a:pt x="52980" y="188466"/>
                  <a:pt x="51111" y="183845"/>
                  <a:pt x="50755" y="178691"/>
                </a:cubicBezTo>
                <a:cubicBezTo>
                  <a:pt x="50666" y="178069"/>
                  <a:pt x="50666" y="177447"/>
                  <a:pt x="50666" y="176736"/>
                </a:cubicBezTo>
                <a:lnTo>
                  <a:pt x="50666" y="101109"/>
                </a:lnTo>
                <a:cubicBezTo>
                  <a:pt x="50666" y="87157"/>
                  <a:pt x="61968" y="75782"/>
                  <a:pt x="75939" y="75782"/>
                </a:cubicBezTo>
                <a:cubicBezTo>
                  <a:pt x="89910" y="75782"/>
                  <a:pt x="101301" y="87157"/>
                  <a:pt x="101301" y="101109"/>
                </a:cubicBezTo>
                <a:lnTo>
                  <a:pt x="101301" y="115861"/>
                </a:lnTo>
                <a:lnTo>
                  <a:pt x="159322" y="57919"/>
                </a:lnTo>
                <a:cubicBezTo>
                  <a:pt x="164261" y="52987"/>
                  <a:pt x="170735" y="50521"/>
                  <a:pt x="177209" y="50521"/>
                </a:cubicBezTo>
                <a:close/>
                <a:moveTo>
                  <a:pt x="480892" y="0"/>
                </a:moveTo>
                <a:cubicBezTo>
                  <a:pt x="487122" y="0"/>
                  <a:pt x="494154" y="2666"/>
                  <a:pt x="498960" y="7376"/>
                </a:cubicBezTo>
                <a:lnTo>
                  <a:pt x="600162" y="108513"/>
                </a:lnTo>
                <a:cubicBezTo>
                  <a:pt x="604969" y="113312"/>
                  <a:pt x="607639" y="119800"/>
                  <a:pt x="607639" y="126554"/>
                </a:cubicBezTo>
                <a:cubicBezTo>
                  <a:pt x="607550" y="133309"/>
                  <a:pt x="604880" y="139708"/>
                  <a:pt x="599984" y="144507"/>
                </a:cubicBezTo>
                <a:lnTo>
                  <a:pt x="541417" y="201741"/>
                </a:lnTo>
                <a:cubicBezTo>
                  <a:pt x="562957" y="227425"/>
                  <a:pt x="561978" y="265640"/>
                  <a:pt x="537768" y="289724"/>
                </a:cubicBezTo>
                <a:lnTo>
                  <a:pt x="486499" y="340915"/>
                </a:lnTo>
                <a:cubicBezTo>
                  <a:pt x="485965" y="341537"/>
                  <a:pt x="485342" y="341715"/>
                  <a:pt x="484719" y="342159"/>
                </a:cubicBezTo>
                <a:cubicBezTo>
                  <a:pt x="483206" y="343403"/>
                  <a:pt x="481693" y="344470"/>
                  <a:pt x="480002" y="345270"/>
                </a:cubicBezTo>
                <a:cubicBezTo>
                  <a:pt x="478845" y="345892"/>
                  <a:pt x="477688" y="346425"/>
                  <a:pt x="476530" y="346869"/>
                </a:cubicBezTo>
                <a:cubicBezTo>
                  <a:pt x="474750" y="347403"/>
                  <a:pt x="472970" y="347669"/>
                  <a:pt x="471190" y="347847"/>
                </a:cubicBezTo>
                <a:cubicBezTo>
                  <a:pt x="470300" y="347936"/>
                  <a:pt x="469499" y="348380"/>
                  <a:pt x="468609" y="348380"/>
                </a:cubicBezTo>
                <a:cubicBezTo>
                  <a:pt x="468253" y="348380"/>
                  <a:pt x="467808" y="348114"/>
                  <a:pt x="467452" y="348114"/>
                </a:cubicBezTo>
                <a:cubicBezTo>
                  <a:pt x="465582" y="348025"/>
                  <a:pt x="463891" y="347580"/>
                  <a:pt x="462111" y="347047"/>
                </a:cubicBezTo>
                <a:cubicBezTo>
                  <a:pt x="460776" y="346692"/>
                  <a:pt x="459530" y="346514"/>
                  <a:pt x="458373" y="345981"/>
                </a:cubicBezTo>
                <a:cubicBezTo>
                  <a:pt x="458017" y="345892"/>
                  <a:pt x="457661" y="345892"/>
                  <a:pt x="457305" y="345714"/>
                </a:cubicBezTo>
                <a:lnTo>
                  <a:pt x="428911" y="331494"/>
                </a:lnTo>
                <a:cubicBezTo>
                  <a:pt x="421702" y="327940"/>
                  <a:pt x="412979" y="329273"/>
                  <a:pt x="407282" y="335049"/>
                </a:cubicBezTo>
                <a:lnTo>
                  <a:pt x="376308" y="365888"/>
                </a:lnTo>
                <a:cubicBezTo>
                  <a:pt x="367763" y="374509"/>
                  <a:pt x="356370" y="379219"/>
                  <a:pt x="344265" y="379219"/>
                </a:cubicBezTo>
                <a:cubicBezTo>
                  <a:pt x="332160" y="379219"/>
                  <a:pt x="320678" y="374509"/>
                  <a:pt x="312133" y="365888"/>
                </a:cubicBezTo>
                <a:lnTo>
                  <a:pt x="241194" y="295057"/>
                </a:lnTo>
                <a:cubicBezTo>
                  <a:pt x="223481" y="277371"/>
                  <a:pt x="223481" y="248576"/>
                  <a:pt x="241194" y="230891"/>
                </a:cubicBezTo>
                <a:lnTo>
                  <a:pt x="272079" y="200052"/>
                </a:lnTo>
                <a:cubicBezTo>
                  <a:pt x="277776" y="194364"/>
                  <a:pt x="279200" y="185655"/>
                  <a:pt x="275551" y="178456"/>
                </a:cubicBezTo>
                <a:lnTo>
                  <a:pt x="261398" y="150106"/>
                </a:lnTo>
                <a:cubicBezTo>
                  <a:pt x="261220" y="149750"/>
                  <a:pt x="261220" y="149395"/>
                  <a:pt x="261131" y="149039"/>
                </a:cubicBezTo>
                <a:cubicBezTo>
                  <a:pt x="260508" y="147884"/>
                  <a:pt x="260330" y="146640"/>
                  <a:pt x="260063" y="145307"/>
                </a:cubicBezTo>
                <a:cubicBezTo>
                  <a:pt x="259529" y="143529"/>
                  <a:pt x="259084" y="141841"/>
                  <a:pt x="258995" y="139974"/>
                </a:cubicBezTo>
                <a:cubicBezTo>
                  <a:pt x="258906" y="138730"/>
                  <a:pt x="259084" y="137486"/>
                  <a:pt x="259262" y="136242"/>
                </a:cubicBezTo>
                <a:cubicBezTo>
                  <a:pt x="259440" y="134375"/>
                  <a:pt x="259707" y="132687"/>
                  <a:pt x="260241" y="130909"/>
                </a:cubicBezTo>
                <a:cubicBezTo>
                  <a:pt x="260686" y="129754"/>
                  <a:pt x="261220" y="128599"/>
                  <a:pt x="261754" y="127443"/>
                </a:cubicBezTo>
                <a:cubicBezTo>
                  <a:pt x="262644" y="125755"/>
                  <a:pt x="263713" y="124155"/>
                  <a:pt x="264959" y="122733"/>
                </a:cubicBezTo>
                <a:cubicBezTo>
                  <a:pt x="265404" y="122111"/>
                  <a:pt x="265582" y="121400"/>
                  <a:pt x="266116" y="120955"/>
                </a:cubicBezTo>
                <a:lnTo>
                  <a:pt x="317384" y="69676"/>
                </a:lnTo>
                <a:cubicBezTo>
                  <a:pt x="341505" y="45592"/>
                  <a:pt x="379868" y="44525"/>
                  <a:pt x="405591" y="66121"/>
                </a:cubicBezTo>
                <a:lnTo>
                  <a:pt x="462912" y="7554"/>
                </a:lnTo>
                <a:cubicBezTo>
                  <a:pt x="467719" y="2755"/>
                  <a:pt x="474127" y="89"/>
                  <a:pt x="480892" y="0"/>
                </a:cubicBezTo>
                <a:close/>
              </a:path>
            </a:pathLst>
          </a:custGeom>
          <a:solidFill>
            <a:schemeClr val="bg1"/>
          </a:solidFill>
          <a:ln>
            <a:noFill/>
          </a:ln>
        </p:spPr>
        <p:txBody>
          <a:bodyPr vert="horz" wrap="square" lIns="68580" tIns="34290" rIns="68580" bIns="3429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sz="1350">
              <a:cs typeface="+mn-ea"/>
              <a:sym typeface="+mn-lt"/>
            </a:endParaRPr>
          </a:p>
        </p:txBody>
      </p:sp>
      <p:sp>
        <p:nvSpPr>
          <p:cNvPr id="27" name="ïslíḓé"/>
          <p:cNvSpPr/>
          <p:nvPr/>
        </p:nvSpPr>
        <p:spPr bwMode="auto">
          <a:xfrm>
            <a:off x="1121548" y="2282377"/>
            <a:ext cx="257591" cy="254747"/>
          </a:xfrm>
          <a:custGeom>
            <a:avLst/>
            <a:gdLst>
              <a:gd name="connsiteX0" fmla="*/ 466437 w 600511"/>
              <a:gd name="connsiteY0" fmla="*/ 421770 h 593879"/>
              <a:gd name="connsiteX1" fmla="*/ 504684 w 600511"/>
              <a:gd name="connsiteY1" fmla="*/ 459981 h 593879"/>
              <a:gd name="connsiteX2" fmla="*/ 466437 w 600511"/>
              <a:gd name="connsiteY2" fmla="*/ 498192 h 593879"/>
              <a:gd name="connsiteX3" fmla="*/ 428190 w 600511"/>
              <a:gd name="connsiteY3" fmla="*/ 459981 h 593879"/>
              <a:gd name="connsiteX4" fmla="*/ 466437 w 600511"/>
              <a:gd name="connsiteY4" fmla="*/ 421770 h 593879"/>
              <a:gd name="connsiteX5" fmla="*/ 453390 w 600511"/>
              <a:gd name="connsiteY5" fmla="*/ 375066 h 593879"/>
              <a:gd name="connsiteX6" fmla="*/ 421127 w 600511"/>
              <a:gd name="connsiteY6" fmla="*/ 386990 h 593879"/>
              <a:gd name="connsiteX7" fmla="*/ 418868 w 600511"/>
              <a:gd name="connsiteY7" fmla="*/ 392146 h 593879"/>
              <a:gd name="connsiteX8" fmla="*/ 424031 w 600511"/>
              <a:gd name="connsiteY8" fmla="*/ 406325 h 593879"/>
              <a:gd name="connsiteX9" fmla="*/ 423385 w 600511"/>
              <a:gd name="connsiteY9" fmla="*/ 411481 h 593879"/>
              <a:gd name="connsiteX10" fmla="*/ 416287 w 600511"/>
              <a:gd name="connsiteY10" fmla="*/ 413737 h 593879"/>
              <a:gd name="connsiteX11" fmla="*/ 402414 w 600511"/>
              <a:gd name="connsiteY11" fmla="*/ 407292 h 593879"/>
              <a:gd name="connsiteX12" fmla="*/ 397252 w 600511"/>
              <a:gd name="connsiteY12" fmla="*/ 409226 h 593879"/>
              <a:gd name="connsiteX13" fmla="*/ 383056 w 600511"/>
              <a:gd name="connsiteY13" fmla="*/ 440485 h 593879"/>
              <a:gd name="connsiteX14" fmla="*/ 384669 w 600511"/>
              <a:gd name="connsiteY14" fmla="*/ 445318 h 593879"/>
              <a:gd name="connsiteX15" fmla="*/ 398542 w 600511"/>
              <a:gd name="connsiteY15" fmla="*/ 451764 h 593879"/>
              <a:gd name="connsiteX16" fmla="*/ 401769 w 600511"/>
              <a:gd name="connsiteY16" fmla="*/ 455953 h 593879"/>
              <a:gd name="connsiteX17" fmla="*/ 398220 w 600511"/>
              <a:gd name="connsiteY17" fmla="*/ 462720 h 593879"/>
              <a:gd name="connsiteX18" fmla="*/ 384024 w 600511"/>
              <a:gd name="connsiteY18" fmla="*/ 467876 h 593879"/>
              <a:gd name="connsiteX19" fmla="*/ 381766 w 600511"/>
              <a:gd name="connsiteY19" fmla="*/ 472710 h 593879"/>
              <a:gd name="connsiteX20" fmla="*/ 393380 w 600511"/>
              <a:gd name="connsiteY20" fmla="*/ 504936 h 593879"/>
              <a:gd name="connsiteX21" fmla="*/ 398542 w 600511"/>
              <a:gd name="connsiteY21" fmla="*/ 507192 h 593879"/>
              <a:gd name="connsiteX22" fmla="*/ 412738 w 600511"/>
              <a:gd name="connsiteY22" fmla="*/ 502036 h 593879"/>
              <a:gd name="connsiteX23" fmla="*/ 417900 w 600511"/>
              <a:gd name="connsiteY23" fmla="*/ 502680 h 593879"/>
              <a:gd name="connsiteX24" fmla="*/ 420159 w 600511"/>
              <a:gd name="connsiteY24" fmla="*/ 510092 h 593879"/>
              <a:gd name="connsiteX25" fmla="*/ 413706 w 600511"/>
              <a:gd name="connsiteY25" fmla="*/ 523949 h 593879"/>
              <a:gd name="connsiteX26" fmla="*/ 415642 w 600511"/>
              <a:gd name="connsiteY26" fmla="*/ 528783 h 593879"/>
              <a:gd name="connsiteX27" fmla="*/ 446937 w 600511"/>
              <a:gd name="connsiteY27" fmla="*/ 543285 h 593879"/>
              <a:gd name="connsiteX28" fmla="*/ 451777 w 600511"/>
              <a:gd name="connsiteY28" fmla="*/ 541351 h 593879"/>
              <a:gd name="connsiteX29" fmla="*/ 458230 w 600511"/>
              <a:gd name="connsiteY29" fmla="*/ 527494 h 593879"/>
              <a:gd name="connsiteX30" fmla="*/ 462424 w 600511"/>
              <a:gd name="connsiteY30" fmla="*/ 524272 h 593879"/>
              <a:gd name="connsiteX31" fmla="*/ 469199 w 600511"/>
              <a:gd name="connsiteY31" fmla="*/ 528139 h 593879"/>
              <a:gd name="connsiteX32" fmla="*/ 474361 w 600511"/>
              <a:gd name="connsiteY32" fmla="*/ 542318 h 593879"/>
              <a:gd name="connsiteX33" fmla="*/ 479201 w 600511"/>
              <a:gd name="connsiteY33" fmla="*/ 544574 h 593879"/>
              <a:gd name="connsiteX34" fmla="*/ 511464 w 600511"/>
              <a:gd name="connsiteY34" fmla="*/ 532650 h 593879"/>
              <a:gd name="connsiteX35" fmla="*/ 513723 w 600511"/>
              <a:gd name="connsiteY35" fmla="*/ 527816 h 593879"/>
              <a:gd name="connsiteX36" fmla="*/ 508560 w 600511"/>
              <a:gd name="connsiteY36" fmla="*/ 513315 h 593879"/>
              <a:gd name="connsiteX37" fmla="*/ 509206 w 600511"/>
              <a:gd name="connsiteY37" fmla="*/ 508159 h 593879"/>
              <a:gd name="connsiteX38" fmla="*/ 516626 w 600511"/>
              <a:gd name="connsiteY38" fmla="*/ 506225 h 593879"/>
              <a:gd name="connsiteX39" fmla="*/ 530500 w 600511"/>
              <a:gd name="connsiteY39" fmla="*/ 512348 h 593879"/>
              <a:gd name="connsiteX40" fmla="*/ 535339 w 600511"/>
              <a:gd name="connsiteY40" fmla="*/ 510737 h 593879"/>
              <a:gd name="connsiteX41" fmla="*/ 549858 w 600511"/>
              <a:gd name="connsiteY41" fmla="*/ 479478 h 593879"/>
              <a:gd name="connsiteX42" fmla="*/ 547922 w 600511"/>
              <a:gd name="connsiteY42" fmla="*/ 474322 h 593879"/>
              <a:gd name="connsiteX43" fmla="*/ 534049 w 600511"/>
              <a:gd name="connsiteY43" fmla="*/ 467876 h 593879"/>
              <a:gd name="connsiteX44" fmla="*/ 531145 w 600511"/>
              <a:gd name="connsiteY44" fmla="*/ 461109 h 593879"/>
              <a:gd name="connsiteX45" fmla="*/ 534694 w 600511"/>
              <a:gd name="connsiteY45" fmla="*/ 457242 h 593879"/>
              <a:gd name="connsiteX46" fmla="*/ 548890 w 600511"/>
              <a:gd name="connsiteY46" fmla="*/ 451764 h 593879"/>
              <a:gd name="connsiteX47" fmla="*/ 551148 w 600511"/>
              <a:gd name="connsiteY47" fmla="*/ 446930 h 593879"/>
              <a:gd name="connsiteX48" fmla="*/ 539211 w 600511"/>
              <a:gd name="connsiteY48" fmla="*/ 414704 h 593879"/>
              <a:gd name="connsiteX49" fmla="*/ 534371 w 600511"/>
              <a:gd name="connsiteY49" fmla="*/ 412448 h 593879"/>
              <a:gd name="connsiteX50" fmla="*/ 520175 w 600511"/>
              <a:gd name="connsiteY50" fmla="*/ 417604 h 593879"/>
              <a:gd name="connsiteX51" fmla="*/ 514691 w 600511"/>
              <a:gd name="connsiteY51" fmla="*/ 416960 h 593879"/>
              <a:gd name="connsiteX52" fmla="*/ 512755 w 600511"/>
              <a:gd name="connsiteY52" fmla="*/ 409548 h 593879"/>
              <a:gd name="connsiteX53" fmla="*/ 518885 w 600511"/>
              <a:gd name="connsiteY53" fmla="*/ 396013 h 593879"/>
              <a:gd name="connsiteX54" fmla="*/ 516949 w 600511"/>
              <a:gd name="connsiteY54" fmla="*/ 390857 h 593879"/>
              <a:gd name="connsiteX55" fmla="*/ 485976 w 600511"/>
              <a:gd name="connsiteY55" fmla="*/ 376355 h 593879"/>
              <a:gd name="connsiteX56" fmla="*/ 480814 w 600511"/>
              <a:gd name="connsiteY56" fmla="*/ 378289 h 593879"/>
              <a:gd name="connsiteX57" fmla="*/ 474361 w 600511"/>
              <a:gd name="connsiteY57" fmla="*/ 392146 h 593879"/>
              <a:gd name="connsiteX58" fmla="*/ 470167 w 600511"/>
              <a:gd name="connsiteY58" fmla="*/ 395368 h 593879"/>
              <a:gd name="connsiteX59" fmla="*/ 463714 w 600511"/>
              <a:gd name="connsiteY59" fmla="*/ 391824 h 593879"/>
              <a:gd name="connsiteX60" fmla="*/ 458230 w 600511"/>
              <a:gd name="connsiteY60" fmla="*/ 377322 h 593879"/>
              <a:gd name="connsiteX61" fmla="*/ 453390 w 600511"/>
              <a:gd name="connsiteY61" fmla="*/ 375066 h 593879"/>
              <a:gd name="connsiteX62" fmla="*/ 0 w 600511"/>
              <a:gd name="connsiteY62" fmla="*/ 372515 h 593879"/>
              <a:gd name="connsiteX63" fmla="*/ 233292 w 600511"/>
              <a:gd name="connsiteY63" fmla="*/ 465626 h 593879"/>
              <a:gd name="connsiteX64" fmla="*/ 305248 w 600511"/>
              <a:gd name="connsiteY64" fmla="*/ 461116 h 593879"/>
              <a:gd name="connsiteX65" fmla="*/ 332998 w 600511"/>
              <a:gd name="connsiteY65" fmla="*/ 549716 h 593879"/>
              <a:gd name="connsiteX66" fmla="*/ 233292 w 600511"/>
              <a:gd name="connsiteY66" fmla="*/ 558737 h 593879"/>
              <a:gd name="connsiteX67" fmla="*/ 0 w 600511"/>
              <a:gd name="connsiteY67" fmla="*/ 465626 h 593879"/>
              <a:gd name="connsiteX68" fmla="*/ 466295 w 600511"/>
              <a:gd name="connsiteY68" fmla="*/ 326083 h 593879"/>
              <a:gd name="connsiteX69" fmla="*/ 600511 w 600511"/>
              <a:gd name="connsiteY69" fmla="*/ 459820 h 593879"/>
              <a:gd name="connsiteX70" fmla="*/ 466295 w 600511"/>
              <a:gd name="connsiteY70" fmla="*/ 593879 h 593879"/>
              <a:gd name="connsiteX71" fmla="*/ 332080 w 600511"/>
              <a:gd name="connsiteY71" fmla="*/ 459820 h 593879"/>
              <a:gd name="connsiteX72" fmla="*/ 466295 w 600511"/>
              <a:gd name="connsiteY72" fmla="*/ 326083 h 593879"/>
              <a:gd name="connsiteX73" fmla="*/ 0 w 600511"/>
              <a:gd name="connsiteY73" fmla="*/ 232654 h 593879"/>
              <a:gd name="connsiteX74" fmla="*/ 233309 w 600511"/>
              <a:gd name="connsiteY74" fmla="*/ 326103 h 593879"/>
              <a:gd name="connsiteX75" fmla="*/ 466296 w 600511"/>
              <a:gd name="connsiteY75" fmla="*/ 232654 h 593879"/>
              <a:gd name="connsiteX76" fmla="*/ 466296 w 600511"/>
              <a:gd name="connsiteY76" fmla="*/ 299035 h 593879"/>
              <a:gd name="connsiteX77" fmla="*/ 312370 w 600511"/>
              <a:gd name="connsiteY77" fmla="*/ 413429 h 593879"/>
              <a:gd name="connsiteX78" fmla="*/ 233309 w 600511"/>
              <a:gd name="connsiteY78" fmla="*/ 419229 h 593879"/>
              <a:gd name="connsiteX79" fmla="*/ 0 w 600511"/>
              <a:gd name="connsiteY79" fmla="*/ 326103 h 593879"/>
              <a:gd name="connsiteX80" fmla="*/ 233309 w 600511"/>
              <a:gd name="connsiteY80" fmla="*/ 23200 h 593879"/>
              <a:gd name="connsiteX81" fmla="*/ 23234 w 600511"/>
              <a:gd name="connsiteY81" fmla="*/ 93123 h 593879"/>
              <a:gd name="connsiteX82" fmla="*/ 233309 w 600511"/>
              <a:gd name="connsiteY82" fmla="*/ 163046 h 593879"/>
              <a:gd name="connsiteX83" fmla="*/ 443062 w 600511"/>
              <a:gd name="connsiteY83" fmla="*/ 93123 h 593879"/>
              <a:gd name="connsiteX84" fmla="*/ 233309 w 600511"/>
              <a:gd name="connsiteY84" fmla="*/ 23200 h 593879"/>
              <a:gd name="connsiteX85" fmla="*/ 233309 w 600511"/>
              <a:gd name="connsiteY85" fmla="*/ 0 h 593879"/>
              <a:gd name="connsiteX86" fmla="*/ 466296 w 600511"/>
              <a:gd name="connsiteY86" fmla="*/ 93123 h 593879"/>
              <a:gd name="connsiteX87" fmla="*/ 466296 w 600511"/>
              <a:gd name="connsiteY87" fmla="*/ 186246 h 593879"/>
              <a:gd name="connsiteX88" fmla="*/ 233309 w 600511"/>
              <a:gd name="connsiteY88" fmla="*/ 279369 h 593879"/>
              <a:gd name="connsiteX89" fmla="*/ 0 w 600511"/>
              <a:gd name="connsiteY89" fmla="*/ 186246 h 593879"/>
              <a:gd name="connsiteX90" fmla="*/ 0 w 600511"/>
              <a:gd name="connsiteY90" fmla="*/ 93123 h 593879"/>
              <a:gd name="connsiteX91" fmla="*/ 233309 w 600511"/>
              <a:gd name="connsiteY91" fmla="*/ 0 h 59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0511" h="593879">
                <a:moveTo>
                  <a:pt x="466437" y="421770"/>
                </a:moveTo>
                <a:cubicBezTo>
                  <a:pt x="487560" y="421770"/>
                  <a:pt x="504684" y="438878"/>
                  <a:pt x="504684" y="459981"/>
                </a:cubicBezTo>
                <a:cubicBezTo>
                  <a:pt x="504684" y="481084"/>
                  <a:pt x="487560" y="498192"/>
                  <a:pt x="466437" y="498192"/>
                </a:cubicBezTo>
                <a:cubicBezTo>
                  <a:pt x="445314" y="498192"/>
                  <a:pt x="428190" y="481084"/>
                  <a:pt x="428190" y="459981"/>
                </a:cubicBezTo>
                <a:cubicBezTo>
                  <a:pt x="428190" y="438878"/>
                  <a:pt x="445314" y="421770"/>
                  <a:pt x="466437" y="421770"/>
                </a:cubicBezTo>
                <a:close/>
                <a:moveTo>
                  <a:pt x="453390" y="375066"/>
                </a:moveTo>
                <a:lnTo>
                  <a:pt x="421127" y="386990"/>
                </a:lnTo>
                <a:cubicBezTo>
                  <a:pt x="419191" y="387957"/>
                  <a:pt x="418223" y="389890"/>
                  <a:pt x="418868" y="392146"/>
                </a:cubicBezTo>
                <a:lnTo>
                  <a:pt x="424031" y="406325"/>
                </a:lnTo>
                <a:cubicBezTo>
                  <a:pt x="424998" y="408259"/>
                  <a:pt x="424676" y="410515"/>
                  <a:pt x="423385" y="411481"/>
                </a:cubicBezTo>
                <a:cubicBezTo>
                  <a:pt x="422417" y="412448"/>
                  <a:pt x="418223" y="414382"/>
                  <a:pt x="416287" y="413737"/>
                </a:cubicBezTo>
                <a:lnTo>
                  <a:pt x="402414" y="407292"/>
                </a:lnTo>
                <a:cubicBezTo>
                  <a:pt x="400478" y="406325"/>
                  <a:pt x="398220" y="407292"/>
                  <a:pt x="397252" y="409226"/>
                </a:cubicBezTo>
                <a:lnTo>
                  <a:pt x="383056" y="440485"/>
                </a:lnTo>
                <a:cubicBezTo>
                  <a:pt x="382088" y="442096"/>
                  <a:pt x="383056" y="444674"/>
                  <a:pt x="384669" y="445318"/>
                </a:cubicBezTo>
                <a:lnTo>
                  <a:pt x="398542" y="451764"/>
                </a:lnTo>
                <a:cubicBezTo>
                  <a:pt x="400478" y="452730"/>
                  <a:pt x="402091" y="454664"/>
                  <a:pt x="401769" y="455953"/>
                </a:cubicBezTo>
                <a:cubicBezTo>
                  <a:pt x="401769" y="457564"/>
                  <a:pt x="400156" y="462076"/>
                  <a:pt x="398220" y="462720"/>
                </a:cubicBezTo>
                <a:lnTo>
                  <a:pt x="384024" y="467876"/>
                </a:lnTo>
                <a:cubicBezTo>
                  <a:pt x="382088" y="468521"/>
                  <a:pt x="381120" y="470777"/>
                  <a:pt x="381766" y="472710"/>
                </a:cubicBezTo>
                <a:lnTo>
                  <a:pt x="393380" y="504936"/>
                </a:lnTo>
                <a:cubicBezTo>
                  <a:pt x="394348" y="506870"/>
                  <a:pt x="396607" y="507836"/>
                  <a:pt x="398542" y="507192"/>
                </a:cubicBezTo>
                <a:lnTo>
                  <a:pt x="412738" y="502036"/>
                </a:lnTo>
                <a:cubicBezTo>
                  <a:pt x="414674" y="501391"/>
                  <a:pt x="417255" y="501713"/>
                  <a:pt x="417900" y="502680"/>
                </a:cubicBezTo>
                <a:cubicBezTo>
                  <a:pt x="418868" y="503969"/>
                  <a:pt x="421127" y="508159"/>
                  <a:pt x="420159" y="510092"/>
                </a:cubicBezTo>
                <a:lnTo>
                  <a:pt x="413706" y="523949"/>
                </a:lnTo>
                <a:cubicBezTo>
                  <a:pt x="412738" y="525561"/>
                  <a:pt x="413706" y="527816"/>
                  <a:pt x="415642" y="528783"/>
                </a:cubicBezTo>
                <a:lnTo>
                  <a:pt x="446937" y="543285"/>
                </a:lnTo>
                <a:cubicBezTo>
                  <a:pt x="448873" y="544251"/>
                  <a:pt x="451132" y="543285"/>
                  <a:pt x="451777" y="541351"/>
                </a:cubicBezTo>
                <a:lnTo>
                  <a:pt x="458230" y="527494"/>
                </a:lnTo>
                <a:cubicBezTo>
                  <a:pt x="459198" y="525561"/>
                  <a:pt x="461133" y="524272"/>
                  <a:pt x="462424" y="524272"/>
                </a:cubicBezTo>
                <a:cubicBezTo>
                  <a:pt x="464037" y="524272"/>
                  <a:pt x="468554" y="525883"/>
                  <a:pt x="469199" y="528139"/>
                </a:cubicBezTo>
                <a:lnTo>
                  <a:pt x="474361" y="542318"/>
                </a:lnTo>
                <a:cubicBezTo>
                  <a:pt x="475007" y="544251"/>
                  <a:pt x="477265" y="545218"/>
                  <a:pt x="479201" y="544574"/>
                </a:cubicBezTo>
                <a:lnTo>
                  <a:pt x="511464" y="532650"/>
                </a:lnTo>
                <a:cubicBezTo>
                  <a:pt x="513400" y="532006"/>
                  <a:pt x="514368" y="529750"/>
                  <a:pt x="513723" y="527816"/>
                </a:cubicBezTo>
                <a:lnTo>
                  <a:pt x="508560" y="513315"/>
                </a:lnTo>
                <a:cubicBezTo>
                  <a:pt x="507915" y="511381"/>
                  <a:pt x="508238" y="509125"/>
                  <a:pt x="509206" y="508159"/>
                </a:cubicBezTo>
                <a:cubicBezTo>
                  <a:pt x="510496" y="507192"/>
                  <a:pt x="514691" y="505258"/>
                  <a:pt x="516626" y="506225"/>
                </a:cubicBezTo>
                <a:lnTo>
                  <a:pt x="530500" y="512348"/>
                </a:lnTo>
                <a:cubicBezTo>
                  <a:pt x="532435" y="513315"/>
                  <a:pt x="534694" y="512348"/>
                  <a:pt x="535339" y="510737"/>
                </a:cubicBezTo>
                <a:lnTo>
                  <a:pt x="549858" y="479478"/>
                </a:lnTo>
                <a:cubicBezTo>
                  <a:pt x="550825" y="477544"/>
                  <a:pt x="549858" y="475288"/>
                  <a:pt x="547922" y="474322"/>
                </a:cubicBezTo>
                <a:lnTo>
                  <a:pt x="534049" y="467876"/>
                </a:lnTo>
                <a:cubicBezTo>
                  <a:pt x="532113" y="467232"/>
                  <a:pt x="531145" y="462398"/>
                  <a:pt x="531145" y="461109"/>
                </a:cubicBezTo>
                <a:cubicBezTo>
                  <a:pt x="531145" y="459498"/>
                  <a:pt x="532435" y="457886"/>
                  <a:pt x="534694" y="457242"/>
                </a:cubicBezTo>
                <a:lnTo>
                  <a:pt x="548890" y="451764"/>
                </a:lnTo>
                <a:cubicBezTo>
                  <a:pt x="550825" y="451119"/>
                  <a:pt x="551793" y="448863"/>
                  <a:pt x="551148" y="446930"/>
                </a:cubicBezTo>
                <a:lnTo>
                  <a:pt x="539211" y="414704"/>
                </a:lnTo>
                <a:cubicBezTo>
                  <a:pt x="538565" y="412770"/>
                  <a:pt x="536307" y="411804"/>
                  <a:pt x="534371" y="412448"/>
                </a:cubicBezTo>
                <a:lnTo>
                  <a:pt x="520175" y="417604"/>
                </a:lnTo>
                <a:cubicBezTo>
                  <a:pt x="517917" y="418571"/>
                  <a:pt x="515658" y="418249"/>
                  <a:pt x="514691" y="416960"/>
                </a:cubicBezTo>
                <a:cubicBezTo>
                  <a:pt x="513723" y="415993"/>
                  <a:pt x="511787" y="411481"/>
                  <a:pt x="512755" y="409548"/>
                </a:cubicBezTo>
                <a:lnTo>
                  <a:pt x="518885" y="396013"/>
                </a:lnTo>
                <a:cubicBezTo>
                  <a:pt x="519853" y="394079"/>
                  <a:pt x="518885" y="391824"/>
                  <a:pt x="516949" y="390857"/>
                </a:cubicBezTo>
                <a:lnTo>
                  <a:pt x="485976" y="376355"/>
                </a:lnTo>
                <a:cubicBezTo>
                  <a:pt x="484040" y="375711"/>
                  <a:pt x="481782" y="376355"/>
                  <a:pt x="480814" y="378289"/>
                </a:cubicBezTo>
                <a:lnTo>
                  <a:pt x="474361" y="392146"/>
                </a:lnTo>
                <a:cubicBezTo>
                  <a:pt x="473716" y="394079"/>
                  <a:pt x="471780" y="395691"/>
                  <a:pt x="470167" y="395368"/>
                </a:cubicBezTo>
                <a:cubicBezTo>
                  <a:pt x="468877" y="395368"/>
                  <a:pt x="464360" y="393757"/>
                  <a:pt x="463714" y="391824"/>
                </a:cubicBezTo>
                <a:lnTo>
                  <a:pt x="458230" y="377322"/>
                </a:lnTo>
                <a:cubicBezTo>
                  <a:pt x="457584" y="375389"/>
                  <a:pt x="455326" y="374422"/>
                  <a:pt x="453390" y="375066"/>
                </a:cubicBezTo>
                <a:close/>
                <a:moveTo>
                  <a:pt x="0" y="372515"/>
                </a:moveTo>
                <a:cubicBezTo>
                  <a:pt x="0" y="424064"/>
                  <a:pt x="104223" y="465626"/>
                  <a:pt x="233292" y="465626"/>
                </a:cubicBezTo>
                <a:cubicBezTo>
                  <a:pt x="258461" y="465626"/>
                  <a:pt x="282661" y="464015"/>
                  <a:pt x="305248" y="461116"/>
                </a:cubicBezTo>
                <a:cubicBezTo>
                  <a:pt x="305571" y="493978"/>
                  <a:pt x="315574" y="524264"/>
                  <a:pt x="332998" y="549716"/>
                </a:cubicBezTo>
                <a:cubicBezTo>
                  <a:pt x="302667" y="555515"/>
                  <a:pt x="268786" y="558737"/>
                  <a:pt x="233292" y="558737"/>
                </a:cubicBezTo>
                <a:cubicBezTo>
                  <a:pt x="104546" y="558737"/>
                  <a:pt x="0" y="517175"/>
                  <a:pt x="0" y="465626"/>
                </a:cubicBezTo>
                <a:close/>
                <a:moveTo>
                  <a:pt x="466295" y="326083"/>
                </a:moveTo>
                <a:cubicBezTo>
                  <a:pt x="540501" y="326083"/>
                  <a:pt x="600511" y="386023"/>
                  <a:pt x="600511" y="459820"/>
                </a:cubicBezTo>
                <a:cubicBezTo>
                  <a:pt x="600511" y="533939"/>
                  <a:pt x="540501" y="593879"/>
                  <a:pt x="466295" y="593879"/>
                </a:cubicBezTo>
                <a:cubicBezTo>
                  <a:pt x="392412" y="593879"/>
                  <a:pt x="332080" y="533939"/>
                  <a:pt x="332080" y="459820"/>
                </a:cubicBezTo>
                <a:cubicBezTo>
                  <a:pt x="332080" y="386023"/>
                  <a:pt x="392412" y="326083"/>
                  <a:pt x="466295" y="326083"/>
                </a:cubicBezTo>
                <a:close/>
                <a:moveTo>
                  <a:pt x="0" y="232654"/>
                </a:moveTo>
                <a:cubicBezTo>
                  <a:pt x="0" y="284212"/>
                  <a:pt x="104554" y="326103"/>
                  <a:pt x="233309" y="326103"/>
                </a:cubicBezTo>
                <a:cubicBezTo>
                  <a:pt x="362065" y="326103"/>
                  <a:pt x="466296" y="284212"/>
                  <a:pt x="466296" y="232654"/>
                </a:cubicBezTo>
                <a:lnTo>
                  <a:pt x="466296" y="299035"/>
                </a:lnTo>
                <a:cubicBezTo>
                  <a:pt x="393689" y="299035"/>
                  <a:pt x="332377" y="347370"/>
                  <a:pt x="312370" y="413429"/>
                </a:cubicBezTo>
                <a:cubicBezTo>
                  <a:pt x="287522" y="416973"/>
                  <a:pt x="261061" y="419229"/>
                  <a:pt x="233309" y="419229"/>
                </a:cubicBezTo>
                <a:cubicBezTo>
                  <a:pt x="104231" y="419229"/>
                  <a:pt x="0" y="377338"/>
                  <a:pt x="0" y="326103"/>
                </a:cubicBezTo>
                <a:close/>
                <a:moveTo>
                  <a:pt x="233309" y="23200"/>
                </a:moveTo>
                <a:cubicBezTo>
                  <a:pt x="105199" y="23200"/>
                  <a:pt x="23234" y="64445"/>
                  <a:pt x="23234" y="93123"/>
                </a:cubicBezTo>
                <a:cubicBezTo>
                  <a:pt x="23234" y="121479"/>
                  <a:pt x="105199" y="163046"/>
                  <a:pt x="233309" y="163046"/>
                </a:cubicBezTo>
                <a:cubicBezTo>
                  <a:pt x="361420" y="163046"/>
                  <a:pt x="443062" y="121479"/>
                  <a:pt x="443062" y="93123"/>
                </a:cubicBezTo>
                <a:cubicBezTo>
                  <a:pt x="443062" y="64445"/>
                  <a:pt x="361420" y="23200"/>
                  <a:pt x="233309" y="23200"/>
                </a:cubicBezTo>
                <a:close/>
                <a:moveTo>
                  <a:pt x="233309" y="0"/>
                </a:moveTo>
                <a:cubicBezTo>
                  <a:pt x="362065" y="0"/>
                  <a:pt x="466296" y="41567"/>
                  <a:pt x="466296" y="93123"/>
                </a:cubicBezTo>
                <a:lnTo>
                  <a:pt x="466296" y="186246"/>
                </a:lnTo>
                <a:cubicBezTo>
                  <a:pt x="466296" y="237802"/>
                  <a:pt x="362065" y="279369"/>
                  <a:pt x="233309" y="279369"/>
                </a:cubicBezTo>
                <a:cubicBezTo>
                  <a:pt x="104231" y="279369"/>
                  <a:pt x="0" y="237802"/>
                  <a:pt x="0" y="186246"/>
                </a:cubicBezTo>
                <a:lnTo>
                  <a:pt x="0" y="93123"/>
                </a:lnTo>
                <a:cubicBezTo>
                  <a:pt x="0" y="41567"/>
                  <a:pt x="104554" y="0"/>
                  <a:pt x="233309" y="0"/>
                </a:cubicBezTo>
                <a:close/>
              </a:path>
            </a:pathLst>
          </a:custGeom>
          <a:solidFill>
            <a:schemeClr val="bg1"/>
          </a:solidFill>
          <a:ln>
            <a:noFill/>
          </a:ln>
        </p:spPr>
        <p:txBody>
          <a:bodyPr vert="horz" wrap="square" lIns="68580" tIns="34290" rIns="68580" bIns="34290" numCol="1" anchor="t" anchorCtr="0" compatLnSpc="1">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sz="1350">
              <a:cs typeface="+mn-ea"/>
              <a:sym typeface="+mn-lt"/>
            </a:endParaRPr>
          </a:p>
        </p:txBody>
      </p:sp>
      <p:sp>
        <p:nvSpPr>
          <p:cNvPr id="28" name="ïṣľîḋê"/>
          <p:cNvSpPr/>
          <p:nvPr/>
        </p:nvSpPr>
        <p:spPr>
          <a:xfrm>
            <a:off x="1756370" y="1996089"/>
            <a:ext cx="6038963" cy="1249272"/>
          </a:xfrm>
          <a:prstGeom prst="rect">
            <a:avLst/>
          </a:prstGeom>
        </p:spPr>
        <p:txBody>
          <a:bodyPr wrap="square" lIns="68580" tIns="34290" rIns="68580" bIns="34290" anchor="ctr" anchorCtr="0">
            <a:normAutofit/>
          </a:bodyPr>
          <a:lstStyle/>
          <a:p>
            <a:pPr>
              <a:lnSpc>
                <a:spcPct val="123000"/>
              </a:lnSpc>
            </a:pPr>
            <a:r>
              <a:rPr lang="zh-CN" altLang="en-US" dirty="0">
                <a:cs typeface="+mn-ea"/>
                <a:sym typeface="+mn-lt"/>
              </a:rPr>
              <a:t>页面置换：找到内存中不再用或很久以后才用的页换出。</a:t>
            </a:r>
            <a:endParaRPr lang="zh-CN" altLang="en-US" dirty="0">
              <a:cs typeface="+mn-ea"/>
              <a:sym typeface="+mn-lt"/>
            </a:endParaRPr>
          </a:p>
          <a:p>
            <a:pPr marL="257175" indent="-257175">
              <a:lnSpc>
                <a:spcPct val="123000"/>
              </a:lnSpc>
              <a:buClr>
                <a:schemeClr val="tx1"/>
              </a:buClr>
              <a:buFont typeface="Wingdings" panose="05000000000000000000" pitchFamily="2" charset="2"/>
              <a:buChar char="Ø"/>
            </a:pPr>
            <a:r>
              <a:rPr lang="zh-CN" altLang="en-US" dirty="0">
                <a:cs typeface="+mn-ea"/>
                <a:sym typeface="+mn-lt"/>
              </a:rPr>
              <a:t>选择导致最小缺页数的算法</a:t>
            </a:r>
            <a:endParaRPr lang="zh-CN" altLang="en-US" dirty="0">
              <a:cs typeface="+mn-ea"/>
              <a:sym typeface="+mn-lt"/>
            </a:endParaRPr>
          </a:p>
        </p:txBody>
      </p:sp>
      <p:sp>
        <p:nvSpPr>
          <p:cNvPr id="29" name="îṧľïdè"/>
          <p:cNvSpPr/>
          <p:nvPr/>
        </p:nvSpPr>
        <p:spPr>
          <a:xfrm>
            <a:off x="1911983" y="3510310"/>
            <a:ext cx="4884180" cy="799673"/>
          </a:xfrm>
          <a:prstGeom prst="rect">
            <a:avLst/>
          </a:prstGeom>
        </p:spPr>
        <p:txBody>
          <a:bodyPr wrap="square" lIns="68580" tIns="34290" rIns="68580" bIns="34290" anchor="ctr" anchorCtr="0">
            <a:normAutofit/>
          </a:bodyPr>
          <a:lstStyle/>
          <a:p>
            <a:pPr>
              <a:lnSpc>
                <a:spcPct val="132000"/>
              </a:lnSpc>
            </a:pPr>
            <a:r>
              <a:rPr lang="zh-CN" altLang="en-US" dirty="0">
                <a:solidFill>
                  <a:srgbClr val="0000FF"/>
                </a:solidFill>
                <a:cs typeface="+mn-ea"/>
                <a:sym typeface="+mn-lt"/>
              </a:rPr>
              <a:t>同一个页可能会被装入内存多次</a:t>
            </a:r>
            <a:endParaRPr lang="zh-CN" altLang="en-US" dirty="0">
              <a:solidFill>
                <a:srgbClr val="0000FF"/>
              </a:solidFill>
              <a:cs typeface="+mn-ea"/>
              <a:sym typeface="+mn-lt"/>
            </a:endParaRPr>
          </a:p>
        </p:txBody>
      </p:sp>
    </p:spTree>
  </p:cSld>
  <p:clrMapOvr>
    <a:masterClrMapping/>
  </p:clrMapOvr>
  <p:transition spd="slow">
    <p:pull dir="ru"/>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页面置换算法</a:t>
            </a:r>
            <a:endParaRPr lang="zh-CN" altLang="en-US" sz="2100" b="1" dirty="0">
              <a:solidFill>
                <a:schemeClr val="bg1"/>
              </a:solidFill>
              <a:cs typeface="+mn-ea"/>
              <a:sym typeface="+mn-lt"/>
            </a:endParaRPr>
          </a:p>
        </p:txBody>
      </p:sp>
      <p:sp>
        <p:nvSpPr>
          <p:cNvPr id="4" name="i$lîďê"/>
          <p:cNvSpPr/>
          <p:nvPr/>
        </p:nvSpPr>
        <p:spPr>
          <a:xfrm>
            <a:off x="1351860" y="3728051"/>
            <a:ext cx="2772038" cy="294658"/>
          </a:xfrm>
          <a:prstGeom prst="rect">
            <a:avLst/>
          </a:prstGeom>
          <a:noFill/>
          <a:ln>
            <a:noFill/>
          </a:ln>
        </p:spPr>
        <p:txBody>
          <a:bodyPr wrap="square" lIns="68580" tIns="34290" rIns="68580" bIns="34290" anchor="ctr" anchorCtr="0">
            <a:noAutofit/>
          </a:bodyPr>
          <a:lstStyle/>
          <a:p>
            <a:r>
              <a:rPr lang="zh-CN" altLang="en-US" dirty="0">
                <a:cs typeface="+mn-ea"/>
                <a:sym typeface="+mn-lt"/>
              </a:rPr>
              <a:t>目标：最小缺页率</a:t>
            </a:r>
            <a:endParaRPr lang="zh-CN" altLang="en-US" dirty="0">
              <a:cs typeface="+mn-ea"/>
              <a:sym typeface="+mn-lt"/>
            </a:endParaRPr>
          </a:p>
        </p:txBody>
      </p:sp>
      <p:sp>
        <p:nvSpPr>
          <p:cNvPr id="6" name="ïṧḷïḋè"/>
          <p:cNvSpPr/>
          <p:nvPr/>
        </p:nvSpPr>
        <p:spPr>
          <a:xfrm>
            <a:off x="1351861" y="4291608"/>
            <a:ext cx="7230627" cy="633836"/>
          </a:xfrm>
          <a:prstGeom prst="rect">
            <a:avLst/>
          </a:prstGeom>
          <a:noFill/>
          <a:ln>
            <a:noFill/>
          </a:ln>
        </p:spPr>
        <p:txBody>
          <a:bodyPr wrap="square" lIns="68580" tIns="34290" rIns="68580" bIns="34290" anchor="ctr" anchorCtr="0">
            <a:noAutofit/>
          </a:bodyPr>
          <a:lstStyle/>
          <a:p>
            <a:r>
              <a:rPr lang="zh-CN" altLang="en-US" dirty="0">
                <a:cs typeface="+mn-ea"/>
                <a:sym typeface="+mn-lt"/>
              </a:rPr>
              <a:t>页面走向：通过运行一个内存访问的特殊序列（访问序列），计算这个序列的缺页次数（见下页）</a:t>
            </a:r>
            <a:endParaRPr lang="en-US" altLang="zh-CN" dirty="0">
              <a:cs typeface="+mn-ea"/>
              <a:sym typeface="+mn-lt"/>
            </a:endParaRPr>
          </a:p>
        </p:txBody>
      </p:sp>
      <p:sp>
        <p:nvSpPr>
          <p:cNvPr id="7" name="îs1iďé"/>
          <p:cNvSpPr/>
          <p:nvPr/>
        </p:nvSpPr>
        <p:spPr>
          <a:xfrm>
            <a:off x="1366151" y="2384906"/>
            <a:ext cx="3487715" cy="1148964"/>
          </a:xfrm>
          <a:prstGeom prst="rect">
            <a:avLst/>
          </a:prstGeom>
          <a:noFill/>
          <a:ln>
            <a:noFill/>
          </a:ln>
        </p:spPr>
        <p:txBody>
          <a:bodyPr wrap="square" lIns="68580" tIns="34290" rIns="68580" bIns="34290" anchor="t" anchorCtr="0">
            <a:normAutofit/>
          </a:bodyPr>
          <a:lstStyle/>
          <a:p>
            <a:pPr marL="257175" indent="-257175">
              <a:lnSpc>
                <a:spcPct val="120000"/>
              </a:lnSpc>
              <a:spcBef>
                <a:spcPts val="450"/>
              </a:spcBef>
              <a:buClr>
                <a:srgbClr val="FF0000"/>
              </a:buClr>
              <a:buFont typeface="Wingdings" panose="05000000000000000000" pitchFamily="2" charset="2"/>
              <a:buChar char="Ø"/>
            </a:pPr>
            <a:r>
              <a:rPr lang="zh-CN" altLang="en-US" sz="1650" dirty="0">
                <a:solidFill>
                  <a:srgbClr val="FF0000"/>
                </a:solidFill>
                <a:cs typeface="+mn-ea"/>
                <a:sym typeface="+mn-lt"/>
              </a:rPr>
              <a:t>最佳置换算法（</a:t>
            </a:r>
            <a:r>
              <a:rPr lang="en-US" altLang="zh-CN" sz="1650" dirty="0">
                <a:solidFill>
                  <a:srgbClr val="FF0000"/>
                </a:solidFill>
                <a:cs typeface="+mn-ea"/>
                <a:sym typeface="+mn-lt"/>
              </a:rPr>
              <a:t>OPT</a:t>
            </a:r>
            <a:r>
              <a:rPr lang="zh-CN" altLang="en-US" sz="1650" dirty="0">
                <a:solidFill>
                  <a:srgbClr val="FF0000"/>
                </a:solidFill>
                <a:cs typeface="+mn-ea"/>
                <a:sym typeface="+mn-lt"/>
              </a:rPr>
              <a:t>）</a:t>
            </a:r>
            <a:endParaRPr lang="zh-CN" altLang="en-US" sz="1650" dirty="0">
              <a:solidFill>
                <a:srgbClr val="FF0000"/>
              </a:solidFill>
              <a:cs typeface="+mn-ea"/>
              <a:sym typeface="+mn-lt"/>
            </a:endParaRPr>
          </a:p>
          <a:p>
            <a:pPr marL="257175" indent="-257175">
              <a:lnSpc>
                <a:spcPct val="120000"/>
              </a:lnSpc>
              <a:spcBef>
                <a:spcPts val="450"/>
              </a:spcBef>
              <a:buClr>
                <a:srgbClr val="FF0000"/>
              </a:buClr>
              <a:buFont typeface="Wingdings" panose="05000000000000000000" pitchFamily="2" charset="2"/>
              <a:buChar char="Ø"/>
            </a:pPr>
            <a:r>
              <a:rPr lang="zh-CN" altLang="en-US" sz="1650" dirty="0">
                <a:solidFill>
                  <a:srgbClr val="FF0000"/>
                </a:solidFill>
                <a:cs typeface="+mn-ea"/>
                <a:sym typeface="+mn-lt"/>
              </a:rPr>
              <a:t>先进先出置换算法（</a:t>
            </a:r>
            <a:r>
              <a:rPr lang="en-US" altLang="zh-CN" sz="1650" dirty="0">
                <a:solidFill>
                  <a:srgbClr val="FF0000"/>
                </a:solidFill>
                <a:cs typeface="+mn-ea"/>
                <a:sym typeface="+mn-lt"/>
              </a:rPr>
              <a:t>FIFO</a:t>
            </a:r>
            <a:r>
              <a:rPr lang="zh-CN" altLang="en-US" sz="1650" dirty="0">
                <a:solidFill>
                  <a:srgbClr val="FF0000"/>
                </a:solidFill>
                <a:cs typeface="+mn-ea"/>
                <a:sym typeface="+mn-lt"/>
              </a:rPr>
              <a:t>）</a:t>
            </a:r>
            <a:endParaRPr lang="zh-CN" altLang="en-US" sz="1650" dirty="0">
              <a:solidFill>
                <a:srgbClr val="FF0000"/>
              </a:solidFill>
              <a:cs typeface="+mn-ea"/>
              <a:sym typeface="+mn-lt"/>
            </a:endParaRPr>
          </a:p>
          <a:p>
            <a:pPr marL="257175" indent="-257175">
              <a:lnSpc>
                <a:spcPct val="120000"/>
              </a:lnSpc>
              <a:spcBef>
                <a:spcPts val="450"/>
              </a:spcBef>
              <a:buClr>
                <a:srgbClr val="FF0000"/>
              </a:buClr>
              <a:buFont typeface="Wingdings" panose="05000000000000000000" pitchFamily="2" charset="2"/>
              <a:buChar char="Ø"/>
            </a:pPr>
            <a:r>
              <a:rPr lang="zh-CN" altLang="en-US" sz="1650" dirty="0">
                <a:solidFill>
                  <a:srgbClr val="FF0000"/>
                </a:solidFill>
                <a:cs typeface="+mn-ea"/>
                <a:sym typeface="+mn-lt"/>
              </a:rPr>
              <a:t>最近最久未使用置换算法（</a:t>
            </a:r>
            <a:r>
              <a:rPr lang="en-US" altLang="zh-CN" sz="1650" dirty="0">
                <a:solidFill>
                  <a:srgbClr val="FF0000"/>
                </a:solidFill>
                <a:cs typeface="+mn-ea"/>
                <a:sym typeface="+mn-lt"/>
              </a:rPr>
              <a:t>LRU</a:t>
            </a:r>
            <a:r>
              <a:rPr lang="zh-CN" altLang="en-US" sz="1650" dirty="0">
                <a:solidFill>
                  <a:srgbClr val="FF0000"/>
                </a:solidFill>
                <a:cs typeface="+mn-ea"/>
                <a:sym typeface="+mn-lt"/>
              </a:rPr>
              <a:t>）</a:t>
            </a:r>
            <a:endParaRPr lang="zh-CN" altLang="en-US" sz="1650" dirty="0">
              <a:solidFill>
                <a:srgbClr val="FF0000"/>
              </a:solidFill>
              <a:cs typeface="+mn-ea"/>
              <a:sym typeface="+mn-lt"/>
            </a:endParaRPr>
          </a:p>
        </p:txBody>
      </p:sp>
      <p:sp>
        <p:nvSpPr>
          <p:cNvPr id="8" name="íšḻíḑê"/>
          <p:cNvSpPr/>
          <p:nvPr/>
        </p:nvSpPr>
        <p:spPr>
          <a:xfrm>
            <a:off x="1351861" y="2034840"/>
            <a:ext cx="2772038" cy="304310"/>
          </a:xfrm>
          <a:prstGeom prst="rect">
            <a:avLst/>
          </a:prstGeom>
          <a:noFill/>
          <a:ln>
            <a:noFill/>
          </a:ln>
        </p:spPr>
        <p:txBody>
          <a:bodyPr wrap="square" lIns="68580" tIns="34290" rIns="68580" bIns="34290" anchor="ctr" anchorCtr="0">
            <a:noAutofit/>
          </a:bodyPr>
          <a:lstStyle/>
          <a:p>
            <a:r>
              <a:rPr lang="zh-CN" altLang="en-US" dirty="0">
                <a:solidFill>
                  <a:srgbClr val="0000FF"/>
                </a:solidFill>
                <a:cs typeface="+mn-ea"/>
                <a:sym typeface="+mn-lt"/>
              </a:rPr>
              <a:t>页面置换算法</a:t>
            </a:r>
            <a:endParaRPr lang="zh-CN" altLang="en-US" dirty="0">
              <a:solidFill>
                <a:srgbClr val="0000FF"/>
              </a:solidFill>
              <a:cs typeface="+mn-ea"/>
              <a:sym typeface="+mn-lt"/>
            </a:endParaRPr>
          </a:p>
        </p:txBody>
      </p:sp>
      <p:sp>
        <p:nvSpPr>
          <p:cNvPr id="9" name="îSļiḓè"/>
          <p:cNvSpPr/>
          <p:nvPr/>
        </p:nvSpPr>
        <p:spPr>
          <a:xfrm>
            <a:off x="839233" y="2024668"/>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10" name="íṥḻîḓe"/>
          <p:cNvSpPr/>
          <p:nvPr/>
        </p:nvSpPr>
        <p:spPr>
          <a:xfrm>
            <a:off x="839233" y="4258635"/>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11" name="îşļiḓè"/>
          <p:cNvSpPr/>
          <p:nvPr/>
        </p:nvSpPr>
        <p:spPr>
          <a:xfrm>
            <a:off x="839233" y="3624709"/>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12" name="îṡḷíďe"/>
          <p:cNvSpPr/>
          <p:nvPr/>
        </p:nvSpPr>
        <p:spPr>
          <a:xfrm>
            <a:off x="981925" y="2171771"/>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13" name="íSlíḋe"/>
          <p:cNvSpPr/>
          <p:nvPr/>
        </p:nvSpPr>
        <p:spPr>
          <a:xfrm>
            <a:off x="981923" y="3791221"/>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14" name="ïśḷïḓe"/>
          <p:cNvSpPr/>
          <p:nvPr/>
        </p:nvSpPr>
        <p:spPr>
          <a:xfrm>
            <a:off x="1003628" y="4400729"/>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15" name="îs1iďé"/>
          <p:cNvSpPr/>
          <p:nvPr/>
        </p:nvSpPr>
        <p:spPr>
          <a:xfrm>
            <a:off x="5034848" y="2404283"/>
            <a:ext cx="3487715" cy="1129587"/>
          </a:xfrm>
          <a:prstGeom prst="rect">
            <a:avLst/>
          </a:prstGeom>
          <a:noFill/>
          <a:ln>
            <a:noFill/>
          </a:ln>
        </p:spPr>
        <p:txBody>
          <a:bodyPr wrap="square" lIns="68580" tIns="34290" rIns="68580" bIns="34290" anchor="t" anchorCtr="0">
            <a:normAutofit/>
          </a:bodyPr>
          <a:lstStyle/>
          <a:p>
            <a:pPr marL="257175" indent="-257175">
              <a:lnSpc>
                <a:spcPct val="120000"/>
              </a:lnSpc>
              <a:spcBef>
                <a:spcPts val="450"/>
              </a:spcBef>
              <a:buClr>
                <a:srgbClr val="FF0000"/>
              </a:buClr>
              <a:buFont typeface="Wingdings" panose="05000000000000000000" pitchFamily="2" charset="2"/>
              <a:buChar char="Ø"/>
            </a:pPr>
            <a:r>
              <a:rPr lang="zh-CN" altLang="en-US" sz="1650" dirty="0">
                <a:solidFill>
                  <a:srgbClr val="FF0000"/>
                </a:solidFill>
                <a:cs typeface="+mn-ea"/>
                <a:sym typeface="+mn-lt"/>
              </a:rPr>
              <a:t>最少使用算法（</a:t>
            </a:r>
            <a:r>
              <a:rPr lang="en-US" altLang="zh-CN" sz="1650" dirty="0">
                <a:solidFill>
                  <a:srgbClr val="FF0000"/>
                </a:solidFill>
                <a:cs typeface="+mn-ea"/>
                <a:sym typeface="+mn-lt"/>
              </a:rPr>
              <a:t>LFU</a:t>
            </a:r>
            <a:r>
              <a:rPr lang="zh-CN" altLang="en-US" sz="1650" dirty="0">
                <a:solidFill>
                  <a:srgbClr val="FF0000"/>
                </a:solidFill>
                <a:cs typeface="+mn-ea"/>
                <a:sym typeface="+mn-lt"/>
              </a:rPr>
              <a:t>）</a:t>
            </a:r>
            <a:endParaRPr lang="zh-CN" altLang="en-US" sz="1650" dirty="0">
              <a:solidFill>
                <a:srgbClr val="FF0000"/>
              </a:solidFill>
              <a:cs typeface="+mn-ea"/>
              <a:sym typeface="+mn-lt"/>
            </a:endParaRPr>
          </a:p>
          <a:p>
            <a:pPr marL="257175" indent="-257175">
              <a:lnSpc>
                <a:spcPct val="120000"/>
              </a:lnSpc>
              <a:spcBef>
                <a:spcPts val="450"/>
              </a:spcBef>
              <a:buClr>
                <a:srgbClr val="FF0000"/>
              </a:buClr>
              <a:buFont typeface="Wingdings" panose="05000000000000000000" pitchFamily="2" charset="2"/>
              <a:buChar char="Ø"/>
            </a:pPr>
            <a:r>
              <a:rPr lang="en-US" altLang="zh-CN" sz="1650" dirty="0">
                <a:solidFill>
                  <a:srgbClr val="FF0000"/>
                </a:solidFill>
                <a:cs typeface="+mn-ea"/>
                <a:sym typeface="+mn-lt"/>
              </a:rPr>
              <a:t>Clock</a:t>
            </a:r>
            <a:r>
              <a:rPr lang="zh-CN" altLang="en-US" sz="1650" dirty="0">
                <a:solidFill>
                  <a:srgbClr val="FF0000"/>
                </a:solidFill>
                <a:cs typeface="+mn-ea"/>
                <a:sym typeface="+mn-lt"/>
              </a:rPr>
              <a:t>置换算法</a:t>
            </a:r>
            <a:endParaRPr lang="zh-CN" altLang="en-US" sz="1650" dirty="0">
              <a:solidFill>
                <a:srgbClr val="FF0000"/>
              </a:solidFill>
              <a:cs typeface="+mn-ea"/>
              <a:sym typeface="+mn-lt"/>
            </a:endParaRPr>
          </a:p>
          <a:p>
            <a:pPr marL="257175" indent="-257175">
              <a:lnSpc>
                <a:spcPct val="120000"/>
              </a:lnSpc>
              <a:spcBef>
                <a:spcPts val="450"/>
              </a:spcBef>
              <a:buClr>
                <a:srgbClr val="FF0000"/>
              </a:buClr>
              <a:buFont typeface="Wingdings" panose="05000000000000000000" pitchFamily="2" charset="2"/>
              <a:buChar char="Ø"/>
            </a:pPr>
            <a:r>
              <a:rPr lang="zh-CN" altLang="en-US" sz="1650" dirty="0">
                <a:solidFill>
                  <a:srgbClr val="FF0000"/>
                </a:solidFill>
                <a:cs typeface="+mn-ea"/>
                <a:sym typeface="+mn-lt"/>
              </a:rPr>
              <a:t>页面缓冲算法</a:t>
            </a:r>
            <a:endParaRPr lang="zh-CN" altLang="en-US" sz="1650" dirty="0">
              <a:solidFill>
                <a:srgbClr val="FF0000"/>
              </a:solidFill>
              <a:cs typeface="+mn-ea"/>
              <a:sym typeface="+mn-lt"/>
            </a:endParaRPr>
          </a:p>
        </p:txBody>
      </p:sp>
    </p:spTree>
  </p:cSld>
  <p:clrMapOvr>
    <a:masterClrMapping/>
  </p:clrMapOvr>
  <p:transition spd="slow">
    <p:pull dir="ru"/>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21505"/>
          <p:cNvSpPr>
            <a:spLocks noGrp="1"/>
          </p:cNvSpPr>
          <p:nvPr>
            <p:ph type="title"/>
          </p:nvPr>
        </p:nvSpPr>
        <p:spPr>
          <a:xfrm>
            <a:off x="1485900" y="1327547"/>
            <a:ext cx="6172200" cy="503634"/>
          </a:xfrm>
        </p:spPr>
        <p:txBody>
          <a:bodyPr anchor="ctr" anchorCtr="0">
            <a:normAutofit fontScale="90000"/>
          </a:bodyPr>
          <a:lstStyle/>
          <a:p>
            <a:r>
              <a:rPr lang="zh-CN" altLang="en-US" sz="3000" dirty="0"/>
              <a:t>页面走向</a:t>
            </a:r>
            <a:endParaRPr lang="zh-CN" altLang="en-US" sz="3000" dirty="0"/>
          </a:p>
        </p:txBody>
      </p:sp>
      <p:sp>
        <p:nvSpPr>
          <p:cNvPr id="21507" name="文本占位符 21506"/>
          <p:cNvSpPr>
            <a:spLocks noGrp="1"/>
          </p:cNvSpPr>
          <p:nvPr>
            <p:ph idx="1"/>
          </p:nvPr>
        </p:nvSpPr>
        <p:spPr>
          <a:xfrm>
            <a:off x="1485900" y="2294573"/>
            <a:ext cx="6172200" cy="3076099"/>
          </a:xfrm>
          <a:ln>
            <a:miter/>
          </a:ln>
        </p:spPr>
        <p:txBody>
          <a:bodyPr anchor="t"/>
          <a:lstStyle/>
          <a:p>
            <a:pPr fontAlgn="base">
              <a:lnSpc>
                <a:spcPct val="90000"/>
              </a:lnSpc>
            </a:pPr>
            <a:r>
              <a:rPr lang="zh-CN" altLang="en-US" sz="2100" noProof="1">
                <a:solidFill>
                  <a:srgbClr val="006600"/>
                </a:solidFill>
                <a:effectLst>
                  <a:outerShdw blurRad="38100" dist="38100" dir="2700000">
                    <a:srgbClr val="C0C0C0"/>
                  </a:outerShdw>
                </a:effectLst>
              </a:rPr>
              <a:t>页面走向举例</a:t>
            </a:r>
            <a:endParaRPr lang="zh-CN" altLang="en-US" sz="2100" noProof="1">
              <a:solidFill>
                <a:srgbClr val="006600"/>
              </a:solidFill>
              <a:effectLst>
                <a:outerShdw blurRad="38100" dist="38100" dir="2700000">
                  <a:srgbClr val="C0C0C0"/>
                </a:outerShdw>
              </a:effectLst>
            </a:endParaRPr>
          </a:p>
          <a:p>
            <a:pPr fontAlgn="base">
              <a:lnSpc>
                <a:spcPct val="90000"/>
              </a:lnSpc>
              <a:buNone/>
            </a:pPr>
            <a:r>
              <a:rPr lang="zh-CN" altLang="en-US" sz="1800" noProof="1"/>
              <a:t>　 </a:t>
            </a:r>
            <a:r>
              <a:rPr lang="en-US" altLang="zh-CN" sz="1800" noProof="1">
                <a:solidFill>
                  <a:srgbClr val="000000"/>
                </a:solidFill>
              </a:rPr>
              <a:t>0100</a:t>
            </a:r>
            <a:r>
              <a:rPr lang="zh-CN" altLang="en-US" sz="1800" noProof="1">
                <a:solidFill>
                  <a:srgbClr val="000000"/>
                </a:solidFill>
              </a:rPr>
              <a:t>，</a:t>
            </a:r>
            <a:r>
              <a:rPr lang="en-US" altLang="zh-CN" sz="1800" noProof="1">
                <a:solidFill>
                  <a:srgbClr val="000000"/>
                </a:solidFill>
              </a:rPr>
              <a:t>0432</a:t>
            </a:r>
            <a:r>
              <a:rPr lang="zh-CN" altLang="en-US" sz="1800" noProof="1">
                <a:solidFill>
                  <a:srgbClr val="000000"/>
                </a:solidFill>
              </a:rPr>
              <a:t>，</a:t>
            </a:r>
            <a:r>
              <a:rPr lang="en-US" altLang="zh-CN" sz="1800" noProof="1">
                <a:solidFill>
                  <a:srgbClr val="000000"/>
                </a:solidFill>
              </a:rPr>
              <a:t>0101</a:t>
            </a:r>
            <a:r>
              <a:rPr lang="zh-CN" altLang="en-US" sz="1800" noProof="1">
                <a:solidFill>
                  <a:srgbClr val="000000"/>
                </a:solidFill>
              </a:rPr>
              <a:t>，</a:t>
            </a:r>
            <a:r>
              <a:rPr lang="en-US" altLang="zh-CN" sz="1800" noProof="1">
                <a:solidFill>
                  <a:srgbClr val="000000"/>
                </a:solidFill>
              </a:rPr>
              <a:t>0612</a:t>
            </a:r>
            <a:r>
              <a:rPr lang="zh-CN" altLang="en-US" sz="1800" noProof="1">
                <a:solidFill>
                  <a:srgbClr val="000000"/>
                </a:solidFill>
              </a:rPr>
              <a:t>，</a:t>
            </a:r>
            <a:r>
              <a:rPr lang="en-US" altLang="zh-CN" sz="1800" noProof="1">
                <a:solidFill>
                  <a:srgbClr val="000000"/>
                </a:solidFill>
              </a:rPr>
              <a:t>0102</a:t>
            </a:r>
            <a:r>
              <a:rPr lang="zh-CN" altLang="en-US" sz="1800" noProof="1">
                <a:solidFill>
                  <a:srgbClr val="000000"/>
                </a:solidFill>
              </a:rPr>
              <a:t>，</a:t>
            </a:r>
            <a:r>
              <a:rPr lang="en-US" altLang="zh-CN" sz="1800" noProof="1">
                <a:solidFill>
                  <a:srgbClr val="000000"/>
                </a:solidFill>
              </a:rPr>
              <a:t>0103</a:t>
            </a:r>
            <a:r>
              <a:rPr lang="zh-CN" altLang="en-US" sz="1800" noProof="1">
                <a:solidFill>
                  <a:srgbClr val="000000"/>
                </a:solidFill>
              </a:rPr>
              <a:t>，</a:t>
            </a:r>
            <a:r>
              <a:rPr lang="en-US" altLang="zh-CN" sz="1800" noProof="1">
                <a:solidFill>
                  <a:srgbClr val="000000"/>
                </a:solidFill>
              </a:rPr>
              <a:t>0104</a:t>
            </a:r>
            <a:r>
              <a:rPr lang="zh-CN" altLang="en-US" sz="1800" noProof="1">
                <a:solidFill>
                  <a:srgbClr val="000000"/>
                </a:solidFill>
              </a:rPr>
              <a:t>，</a:t>
            </a:r>
            <a:r>
              <a:rPr lang="en-US" altLang="zh-CN" sz="1800" noProof="1">
                <a:solidFill>
                  <a:srgbClr val="000000"/>
                </a:solidFill>
              </a:rPr>
              <a:t>0101</a:t>
            </a:r>
            <a:r>
              <a:rPr lang="zh-CN" altLang="en-US" sz="1800" noProof="1">
                <a:solidFill>
                  <a:srgbClr val="000000"/>
                </a:solidFill>
              </a:rPr>
              <a:t>，</a:t>
            </a:r>
            <a:r>
              <a:rPr lang="en-US" altLang="zh-CN" sz="1800" noProof="1">
                <a:solidFill>
                  <a:srgbClr val="000000"/>
                </a:solidFill>
              </a:rPr>
              <a:t>0611</a:t>
            </a:r>
            <a:r>
              <a:rPr lang="zh-CN" altLang="en-US" sz="1800" noProof="1">
                <a:solidFill>
                  <a:srgbClr val="000000"/>
                </a:solidFill>
              </a:rPr>
              <a:t>，</a:t>
            </a:r>
            <a:r>
              <a:rPr lang="en-US" altLang="zh-CN" sz="1800" noProof="1">
                <a:solidFill>
                  <a:srgbClr val="000000"/>
                </a:solidFill>
              </a:rPr>
              <a:t>0102</a:t>
            </a:r>
            <a:r>
              <a:rPr lang="zh-CN" altLang="en-US" sz="1800" noProof="1">
                <a:solidFill>
                  <a:srgbClr val="000000"/>
                </a:solidFill>
              </a:rPr>
              <a:t>，</a:t>
            </a:r>
            <a:r>
              <a:rPr lang="en-US" altLang="zh-CN" sz="1800" noProof="1">
                <a:solidFill>
                  <a:srgbClr val="000000"/>
                </a:solidFill>
              </a:rPr>
              <a:t>0103</a:t>
            </a:r>
            <a:r>
              <a:rPr lang="zh-CN" altLang="en-US" sz="1800" noProof="1">
                <a:solidFill>
                  <a:srgbClr val="000000"/>
                </a:solidFill>
              </a:rPr>
              <a:t>，</a:t>
            </a:r>
            <a:r>
              <a:rPr lang="en-US" altLang="zh-CN" sz="1800" noProof="1">
                <a:solidFill>
                  <a:srgbClr val="000000"/>
                </a:solidFill>
              </a:rPr>
              <a:t>0104</a:t>
            </a:r>
            <a:r>
              <a:rPr lang="zh-CN" altLang="en-US" sz="1800" noProof="1">
                <a:solidFill>
                  <a:srgbClr val="000000"/>
                </a:solidFill>
              </a:rPr>
              <a:t>，</a:t>
            </a:r>
            <a:r>
              <a:rPr lang="en-US" altLang="zh-CN" sz="1800" noProof="1">
                <a:solidFill>
                  <a:srgbClr val="000000"/>
                </a:solidFill>
              </a:rPr>
              <a:t>0101</a:t>
            </a:r>
            <a:r>
              <a:rPr lang="zh-CN" altLang="en-US" sz="1800" noProof="1">
                <a:solidFill>
                  <a:srgbClr val="000000"/>
                </a:solidFill>
              </a:rPr>
              <a:t>，</a:t>
            </a:r>
            <a:r>
              <a:rPr lang="en-US" altLang="zh-CN" sz="1800" noProof="1">
                <a:solidFill>
                  <a:srgbClr val="000000"/>
                </a:solidFill>
              </a:rPr>
              <a:t>0610</a:t>
            </a:r>
            <a:r>
              <a:rPr lang="zh-CN" altLang="en-US" sz="1800" noProof="1">
                <a:solidFill>
                  <a:srgbClr val="000000"/>
                </a:solidFill>
              </a:rPr>
              <a:t>，</a:t>
            </a:r>
            <a:r>
              <a:rPr lang="en-US" altLang="zh-CN" sz="1800" noProof="1">
                <a:solidFill>
                  <a:srgbClr val="000000"/>
                </a:solidFill>
              </a:rPr>
              <a:t>0102</a:t>
            </a:r>
            <a:r>
              <a:rPr lang="zh-CN" altLang="en-US" sz="1800" noProof="1">
                <a:solidFill>
                  <a:srgbClr val="000000"/>
                </a:solidFill>
              </a:rPr>
              <a:t>，</a:t>
            </a:r>
            <a:r>
              <a:rPr lang="en-US" altLang="zh-CN" sz="1800" noProof="1">
                <a:solidFill>
                  <a:srgbClr val="000000"/>
                </a:solidFill>
              </a:rPr>
              <a:t>0103</a:t>
            </a:r>
            <a:r>
              <a:rPr lang="zh-CN" altLang="en-US" sz="1800" noProof="1">
                <a:solidFill>
                  <a:srgbClr val="000000"/>
                </a:solidFill>
              </a:rPr>
              <a:t>，</a:t>
            </a:r>
            <a:r>
              <a:rPr lang="en-US" altLang="zh-CN" sz="1800" noProof="1">
                <a:solidFill>
                  <a:srgbClr val="000000"/>
                </a:solidFill>
              </a:rPr>
              <a:t>0104</a:t>
            </a:r>
            <a:r>
              <a:rPr lang="zh-CN" altLang="en-US" sz="1800" noProof="1">
                <a:solidFill>
                  <a:srgbClr val="000000"/>
                </a:solidFill>
              </a:rPr>
              <a:t>，</a:t>
            </a:r>
            <a:r>
              <a:rPr lang="en-US" altLang="zh-CN" sz="1800" noProof="1">
                <a:solidFill>
                  <a:srgbClr val="000000"/>
                </a:solidFill>
              </a:rPr>
              <a:t>0101</a:t>
            </a:r>
            <a:r>
              <a:rPr lang="zh-CN" altLang="en-US" sz="1800" noProof="1">
                <a:solidFill>
                  <a:srgbClr val="000000"/>
                </a:solidFill>
              </a:rPr>
              <a:t>，</a:t>
            </a:r>
            <a:r>
              <a:rPr lang="en-US" altLang="zh-CN" sz="1800" noProof="1">
                <a:solidFill>
                  <a:srgbClr val="000000"/>
                </a:solidFill>
              </a:rPr>
              <a:t>0609</a:t>
            </a:r>
            <a:r>
              <a:rPr lang="zh-CN" altLang="en-US" sz="1800" noProof="1">
                <a:solidFill>
                  <a:srgbClr val="000000"/>
                </a:solidFill>
              </a:rPr>
              <a:t>，</a:t>
            </a:r>
            <a:r>
              <a:rPr lang="en-US" altLang="zh-CN" sz="1800" noProof="1">
                <a:solidFill>
                  <a:srgbClr val="000000"/>
                </a:solidFill>
              </a:rPr>
              <a:t>0102</a:t>
            </a:r>
            <a:r>
              <a:rPr lang="zh-CN" altLang="en-US" sz="1800" noProof="1">
                <a:solidFill>
                  <a:srgbClr val="000000"/>
                </a:solidFill>
              </a:rPr>
              <a:t>，</a:t>
            </a:r>
            <a:r>
              <a:rPr lang="en-US" altLang="zh-CN" sz="1800" noProof="1">
                <a:solidFill>
                  <a:srgbClr val="000000"/>
                </a:solidFill>
              </a:rPr>
              <a:t>0105</a:t>
            </a:r>
            <a:endParaRPr lang="en-US" altLang="zh-CN" sz="1800" noProof="1">
              <a:solidFill>
                <a:srgbClr val="000000"/>
              </a:solidFill>
            </a:endParaRPr>
          </a:p>
          <a:p>
            <a:pPr fontAlgn="base">
              <a:lnSpc>
                <a:spcPct val="90000"/>
              </a:lnSpc>
            </a:pPr>
            <a:endParaRPr lang="en-US" altLang="zh-CN" sz="1800" noProof="1">
              <a:solidFill>
                <a:srgbClr val="000000"/>
              </a:solidFill>
            </a:endParaRPr>
          </a:p>
          <a:p>
            <a:pPr fontAlgn="base">
              <a:lnSpc>
                <a:spcPct val="90000"/>
              </a:lnSpc>
            </a:pPr>
            <a:r>
              <a:rPr lang="zh-CN" altLang="en-US" sz="1800" noProof="1">
                <a:solidFill>
                  <a:srgbClr val="000000"/>
                </a:solidFill>
              </a:rPr>
              <a:t>若每页</a:t>
            </a:r>
            <a:r>
              <a:rPr lang="en-US" altLang="zh-CN" sz="1800" noProof="1">
                <a:solidFill>
                  <a:srgbClr val="000000"/>
                </a:solidFill>
              </a:rPr>
              <a:t>100</a:t>
            </a:r>
            <a:r>
              <a:rPr lang="zh-CN" altLang="en-US" sz="1800" noProof="1">
                <a:solidFill>
                  <a:srgbClr val="000000"/>
                </a:solidFill>
              </a:rPr>
              <a:t>个字节，则页面走向简化为：</a:t>
            </a:r>
            <a:endParaRPr lang="zh-CN" altLang="en-US" sz="1800" noProof="1">
              <a:solidFill>
                <a:srgbClr val="000000"/>
              </a:solidFill>
            </a:endParaRPr>
          </a:p>
          <a:p>
            <a:pPr fontAlgn="base">
              <a:lnSpc>
                <a:spcPct val="90000"/>
              </a:lnSpc>
              <a:buNone/>
            </a:pPr>
            <a:r>
              <a:rPr lang="zh-CN" altLang="en-US" sz="1800" noProof="1">
                <a:solidFill>
                  <a:srgbClr val="000000"/>
                </a:solidFill>
              </a:rPr>
              <a:t>    </a:t>
            </a:r>
            <a:r>
              <a:rPr lang="en-US" altLang="zh-CN" sz="1800" noProof="1">
                <a:solidFill>
                  <a:srgbClr val="000000"/>
                </a:solidFill>
              </a:rPr>
              <a:t>1</a:t>
            </a:r>
            <a:r>
              <a:rPr lang="zh-CN" altLang="en-US" sz="1800" noProof="1">
                <a:solidFill>
                  <a:srgbClr val="000000"/>
                </a:solidFill>
              </a:rPr>
              <a:t>，</a:t>
            </a:r>
            <a:r>
              <a:rPr lang="en-US" altLang="zh-CN" sz="1800" noProof="1">
                <a:solidFill>
                  <a:srgbClr val="000000"/>
                </a:solidFill>
              </a:rPr>
              <a:t>4</a:t>
            </a:r>
            <a:r>
              <a:rPr lang="zh-CN" altLang="en-US" sz="1800" noProof="1">
                <a:solidFill>
                  <a:srgbClr val="000000"/>
                </a:solidFill>
              </a:rPr>
              <a:t>，</a:t>
            </a:r>
            <a:r>
              <a:rPr lang="en-US" altLang="zh-CN" sz="1800" noProof="1">
                <a:solidFill>
                  <a:srgbClr val="000000"/>
                </a:solidFill>
              </a:rPr>
              <a:t>1</a:t>
            </a:r>
            <a:r>
              <a:rPr lang="zh-CN" altLang="en-US" sz="1800" noProof="1">
                <a:solidFill>
                  <a:srgbClr val="000000"/>
                </a:solidFill>
              </a:rPr>
              <a:t>，</a:t>
            </a:r>
            <a:r>
              <a:rPr lang="en-US" altLang="zh-CN" sz="1800" noProof="1">
                <a:solidFill>
                  <a:srgbClr val="000000"/>
                </a:solidFill>
              </a:rPr>
              <a:t>6</a:t>
            </a:r>
            <a:r>
              <a:rPr lang="zh-CN" altLang="en-US" sz="1800" noProof="1">
                <a:solidFill>
                  <a:srgbClr val="000000"/>
                </a:solidFill>
              </a:rPr>
              <a:t>，</a:t>
            </a:r>
            <a:r>
              <a:rPr lang="en-US" altLang="zh-CN" sz="1800" noProof="1">
                <a:solidFill>
                  <a:srgbClr val="000000"/>
                </a:solidFill>
              </a:rPr>
              <a:t>1</a:t>
            </a:r>
            <a:r>
              <a:rPr lang="zh-CN" altLang="en-US" sz="1800" noProof="1">
                <a:solidFill>
                  <a:srgbClr val="000000"/>
                </a:solidFill>
              </a:rPr>
              <a:t>，</a:t>
            </a:r>
            <a:r>
              <a:rPr lang="en-US" altLang="zh-CN" sz="1800" noProof="1">
                <a:solidFill>
                  <a:srgbClr val="000000"/>
                </a:solidFill>
              </a:rPr>
              <a:t>6</a:t>
            </a:r>
            <a:r>
              <a:rPr lang="zh-CN" altLang="en-US" sz="1800" noProof="1">
                <a:solidFill>
                  <a:srgbClr val="000000"/>
                </a:solidFill>
              </a:rPr>
              <a:t>，</a:t>
            </a:r>
            <a:r>
              <a:rPr lang="en-US" altLang="zh-CN" sz="1800" noProof="1">
                <a:solidFill>
                  <a:srgbClr val="000000"/>
                </a:solidFill>
              </a:rPr>
              <a:t>1</a:t>
            </a:r>
            <a:r>
              <a:rPr lang="zh-CN" altLang="en-US" sz="1800" noProof="1">
                <a:solidFill>
                  <a:srgbClr val="000000"/>
                </a:solidFill>
              </a:rPr>
              <a:t>，</a:t>
            </a:r>
            <a:r>
              <a:rPr lang="en-US" altLang="zh-CN" sz="1800" noProof="1">
                <a:solidFill>
                  <a:srgbClr val="000000"/>
                </a:solidFill>
              </a:rPr>
              <a:t>6</a:t>
            </a:r>
            <a:r>
              <a:rPr lang="zh-CN" altLang="en-US" sz="1800" noProof="1">
                <a:solidFill>
                  <a:srgbClr val="000000"/>
                </a:solidFill>
              </a:rPr>
              <a:t>，</a:t>
            </a:r>
            <a:r>
              <a:rPr lang="en-US" altLang="zh-CN" sz="1800" noProof="1">
                <a:solidFill>
                  <a:srgbClr val="000000"/>
                </a:solidFill>
              </a:rPr>
              <a:t>1</a:t>
            </a:r>
            <a:r>
              <a:rPr lang="zh-CN" altLang="en-US" sz="1800" noProof="1">
                <a:solidFill>
                  <a:srgbClr val="000000"/>
                </a:solidFill>
              </a:rPr>
              <a:t>，</a:t>
            </a:r>
            <a:r>
              <a:rPr lang="en-US" altLang="zh-CN" sz="1800" noProof="1">
                <a:solidFill>
                  <a:srgbClr val="000000"/>
                </a:solidFill>
              </a:rPr>
              <a:t>6</a:t>
            </a:r>
            <a:r>
              <a:rPr lang="zh-CN" altLang="en-US" sz="1800" noProof="1">
                <a:solidFill>
                  <a:srgbClr val="000000"/>
                </a:solidFill>
              </a:rPr>
              <a:t>，</a:t>
            </a:r>
            <a:r>
              <a:rPr lang="en-US" altLang="zh-CN" sz="1800" noProof="1">
                <a:solidFill>
                  <a:srgbClr val="000000"/>
                </a:solidFill>
              </a:rPr>
              <a:t>1</a:t>
            </a:r>
            <a:endParaRPr lang="en-US" altLang="zh-CN" sz="1800" noProof="1">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slide(fromBottom)">
                                      <p:cBhvr>
                                        <p:cTn id="7"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最佳置换算法</a:t>
            </a:r>
            <a:r>
              <a:rPr lang="en-US" altLang="zh-CN" sz="2100" b="1" dirty="0">
                <a:solidFill>
                  <a:schemeClr val="bg1"/>
                </a:solidFill>
                <a:cs typeface="+mn-ea"/>
                <a:sym typeface="+mn-lt"/>
              </a:rPr>
              <a:t>OPT</a:t>
            </a:r>
            <a:endParaRPr lang="zh-CN" altLang="en-US" sz="2100" b="1" dirty="0">
              <a:solidFill>
                <a:schemeClr val="bg1"/>
              </a:solidFill>
              <a:cs typeface="+mn-ea"/>
              <a:sym typeface="+mn-lt"/>
            </a:endParaRPr>
          </a:p>
        </p:txBody>
      </p:sp>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16760" y="1890918"/>
            <a:ext cx="395288" cy="395288"/>
          </a:xfrm>
          <a:prstGeom prst="rect">
            <a:avLst/>
          </a:prstGeom>
          <a:ln>
            <a:noFill/>
          </a:ln>
          <a:effectLst>
            <a:softEdge rad="0"/>
          </a:effectLst>
        </p:spPr>
      </p:pic>
      <p:sp>
        <p:nvSpPr>
          <p:cNvPr id="31" name="内容占位符 2"/>
          <p:cNvSpPr txBox="1"/>
          <p:nvPr/>
        </p:nvSpPr>
        <p:spPr>
          <a:xfrm>
            <a:off x="1512570" y="1890712"/>
            <a:ext cx="7021354" cy="402240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buNone/>
              <a:tabLst>
                <a:tab pos="1417320" algn="l"/>
              </a:tabLst>
            </a:pPr>
            <a:r>
              <a:rPr lang="zh-CN" altLang="en-US" dirty="0">
                <a:cs typeface="+mn-ea"/>
                <a:sym typeface="+mn-lt"/>
              </a:rPr>
              <a:t>被置换的页将是之后不用或最长时间不被使用的页。</a:t>
            </a:r>
            <a:endParaRPr lang="zh-CN" altLang="en-US" dirty="0">
              <a:cs typeface="+mn-ea"/>
              <a:sym typeface="+mn-lt"/>
            </a:endParaRPr>
          </a:p>
          <a:p>
            <a:pPr marL="0" indent="0">
              <a:lnSpc>
                <a:spcPct val="123000"/>
              </a:lnSpc>
              <a:buNone/>
              <a:tabLst>
                <a:tab pos="1417320" algn="l"/>
              </a:tabLst>
            </a:pPr>
            <a:r>
              <a:rPr lang="en-US" altLang="zh-CN" dirty="0">
                <a:cs typeface="+mn-ea"/>
                <a:sym typeface="+mn-lt"/>
              </a:rPr>
              <a:t>	</a:t>
            </a:r>
            <a:endParaRPr lang="en-US" altLang="zh-CN" dirty="0">
              <a:cs typeface="+mn-ea"/>
              <a:sym typeface="+mn-lt"/>
            </a:endParaRPr>
          </a:p>
          <a:p>
            <a:pPr marL="0" indent="0">
              <a:lnSpc>
                <a:spcPct val="123000"/>
              </a:lnSpc>
              <a:buNone/>
              <a:tabLst>
                <a:tab pos="1417320" algn="l"/>
              </a:tabLst>
            </a:pPr>
            <a:endParaRPr lang="zh-CN" altLang="en-US" dirty="0">
              <a:cs typeface="+mn-ea"/>
              <a:sym typeface="+mn-lt"/>
            </a:endParaRPr>
          </a:p>
          <a:p>
            <a:pPr marL="0" indent="0">
              <a:lnSpc>
                <a:spcPct val="123000"/>
              </a:lnSpc>
              <a:buNone/>
              <a:tabLst>
                <a:tab pos="1417320" algn="l"/>
              </a:tabLst>
            </a:pPr>
            <a:endParaRPr lang="zh-CN" altLang="en-US" dirty="0">
              <a:cs typeface="+mn-ea"/>
              <a:sym typeface="+mn-lt"/>
            </a:endParaRPr>
          </a:p>
          <a:p>
            <a:pPr marL="0" indent="0">
              <a:lnSpc>
                <a:spcPct val="123000"/>
              </a:lnSpc>
              <a:buNone/>
              <a:tabLst>
                <a:tab pos="1417320" algn="l"/>
              </a:tabLst>
            </a:pPr>
            <a:endParaRPr lang="zh-CN" altLang="en-US" dirty="0">
              <a:cs typeface="+mn-ea"/>
              <a:sym typeface="+mn-lt"/>
            </a:endParaRPr>
          </a:p>
          <a:p>
            <a:pPr marL="0" indent="0">
              <a:lnSpc>
                <a:spcPct val="123000"/>
              </a:lnSpc>
              <a:buNone/>
              <a:tabLst>
                <a:tab pos="1417320" algn="l"/>
              </a:tabLst>
            </a:pPr>
            <a:endParaRPr lang="zh-CN" altLang="en-US" dirty="0">
              <a:cs typeface="+mn-ea"/>
              <a:sym typeface="+mn-lt"/>
            </a:endParaRPr>
          </a:p>
          <a:p>
            <a:pPr marL="0" indent="0">
              <a:lnSpc>
                <a:spcPct val="123000"/>
              </a:lnSpc>
              <a:buNone/>
              <a:tabLst>
                <a:tab pos="1417320" algn="l"/>
              </a:tabLst>
            </a:pPr>
            <a:endParaRPr lang="zh-CN" altLang="en-US" dirty="0">
              <a:cs typeface="+mn-ea"/>
              <a:sym typeface="+mn-lt"/>
            </a:endParaRPr>
          </a:p>
          <a:p>
            <a:pPr marL="0" indent="0">
              <a:lnSpc>
                <a:spcPct val="123000"/>
              </a:lnSpc>
              <a:buNone/>
              <a:tabLst>
                <a:tab pos="1417320" algn="l"/>
              </a:tabLst>
            </a:pPr>
            <a:r>
              <a:rPr lang="zh-CN" altLang="en-US" dirty="0">
                <a:cs typeface="+mn-ea"/>
                <a:sym typeface="+mn-lt"/>
              </a:rPr>
              <a:t>怎样知道被置换的页是之后最长时间不被使用的页？无法实现的算法事后诸葛亮：可用来评价其他算法。</a:t>
            </a:r>
            <a:endParaRPr lang="zh-CN" altLang="en-US" dirty="0">
              <a:cs typeface="+mn-ea"/>
              <a:sym typeface="+mn-lt"/>
            </a:endParaRPr>
          </a:p>
        </p:txBody>
      </p:sp>
      <p:pic>
        <p:nvPicPr>
          <p:cNvPr id="16" name="Picture 5"/>
          <p:cNvPicPr>
            <a:picLocks noChangeAspect="1" noChangeArrowheads="1"/>
          </p:cNvPicPr>
          <p:nvPr/>
        </p:nvPicPr>
        <p:blipFill>
          <a:blip r:embed="rId2">
            <a:extLst>
              <a:ext uri="{28A0092B-C50C-407E-A947-70E740481C1C}">
                <a14:useLocalDpi xmlns:a14="http://schemas.microsoft.com/office/drawing/2010/main" val="0"/>
              </a:ext>
            </a:extLst>
          </a:blip>
          <a:srcRect l="471" t="32074" r="781" b="32076"/>
          <a:stretch>
            <a:fillRect/>
          </a:stretch>
        </p:blipFill>
        <p:spPr bwMode="auto">
          <a:xfrm>
            <a:off x="209074" y="2519242"/>
            <a:ext cx="8726420" cy="1819423"/>
          </a:xfrm>
          <a:prstGeom prst="rect">
            <a:avLst/>
          </a:prstGeom>
          <a:noFill/>
          <a:ln w="38100" cmpd="dbl">
            <a:solidFill>
              <a:schemeClr val="accent2">
                <a:lumMod val="40000"/>
                <a:lumOff val="6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dir="ru"/>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先进先出置换算法（</a:t>
            </a:r>
            <a:r>
              <a:rPr lang="en-US" altLang="zh-CN" sz="2100" b="1" dirty="0">
                <a:solidFill>
                  <a:schemeClr val="bg1"/>
                </a:solidFill>
                <a:cs typeface="+mn-ea"/>
                <a:sym typeface="+mn-lt"/>
              </a:rPr>
              <a:t>FIFO</a:t>
            </a:r>
            <a:r>
              <a:rPr lang="zh-CN" altLang="en-US" sz="2100" b="1" dirty="0">
                <a:solidFill>
                  <a:schemeClr val="bg1"/>
                </a:solidFill>
                <a:cs typeface="+mn-ea"/>
                <a:sym typeface="+mn-lt"/>
              </a:rPr>
              <a:t>）</a:t>
            </a:r>
            <a:endParaRPr lang="zh-CN" altLang="en-US" sz="2100" b="1" dirty="0">
              <a:solidFill>
                <a:schemeClr val="bg1"/>
              </a:solidFill>
              <a:cs typeface="+mn-ea"/>
              <a:sym typeface="+mn-lt"/>
            </a:endParaRPr>
          </a:p>
        </p:txBody>
      </p:sp>
      <p:sp>
        <p:nvSpPr>
          <p:cNvPr id="22" name="内容占位符 2"/>
          <p:cNvSpPr txBox="1"/>
          <p:nvPr/>
        </p:nvSpPr>
        <p:spPr>
          <a:xfrm>
            <a:off x="1584484" y="1828324"/>
            <a:ext cx="6753701" cy="22183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3000"/>
              </a:lnSpc>
              <a:spcBef>
                <a:spcPts val="450"/>
              </a:spcBef>
              <a:spcAft>
                <a:spcPts val="450"/>
              </a:spcAft>
              <a:buNone/>
            </a:pPr>
            <a:r>
              <a:rPr lang="zh-CN" altLang="en-US" dirty="0">
                <a:solidFill>
                  <a:srgbClr val="FF0000"/>
                </a:solidFill>
              </a:rPr>
              <a:t>总是淘汰最先进入内存的页面</a:t>
            </a:r>
            <a:r>
              <a:rPr lang="zh-CN" altLang="en-US" dirty="0"/>
              <a:t>，即选择在内存中驻留时间最久的页面予以淘汰，</a:t>
            </a:r>
            <a:endParaRPr lang="en-US" altLang="zh-CN" dirty="0"/>
          </a:p>
          <a:p>
            <a:pPr marL="0" indent="0">
              <a:lnSpc>
                <a:spcPct val="123000"/>
              </a:lnSpc>
              <a:spcBef>
                <a:spcPts val="450"/>
              </a:spcBef>
              <a:spcAft>
                <a:spcPts val="450"/>
              </a:spcAft>
              <a:buNone/>
            </a:pPr>
            <a:r>
              <a:rPr lang="zh-CN" altLang="en-US" dirty="0"/>
              <a:t>引用串 </a:t>
            </a:r>
            <a:r>
              <a:rPr lang="en-US" altLang="zh-CN" dirty="0"/>
              <a:t>: 1, 2, 3, 4, 1, 2, 5, 1, 2, 3, 4, 5</a:t>
            </a:r>
            <a:endParaRPr lang="en-US" altLang="zh-CN" dirty="0"/>
          </a:p>
          <a:p>
            <a:pPr lvl="1">
              <a:lnSpc>
                <a:spcPct val="123000"/>
              </a:lnSpc>
              <a:spcBef>
                <a:spcPts val="450"/>
              </a:spcBef>
              <a:spcAft>
                <a:spcPts val="450"/>
              </a:spcAft>
              <a:buClr>
                <a:srgbClr val="FF0000"/>
              </a:buClr>
              <a:buFont typeface="Wingdings" panose="05000000000000000000" pitchFamily="2" charset="2"/>
              <a:buChar char="Ø"/>
            </a:pPr>
            <a:r>
              <a:rPr lang="en-US" altLang="zh-CN" sz="1800" dirty="0"/>
              <a:t>3 </a:t>
            </a:r>
            <a:r>
              <a:rPr lang="zh-CN" altLang="en-US" sz="1800" dirty="0"/>
              <a:t>个页：</a:t>
            </a:r>
            <a:r>
              <a:rPr lang="en-US" altLang="zh-CN" sz="1800" dirty="0"/>
              <a:t>9</a:t>
            </a:r>
            <a:r>
              <a:rPr lang="zh-CN" altLang="en-US" sz="1800" dirty="0"/>
              <a:t>次缺页</a:t>
            </a:r>
            <a:endParaRPr lang="en-US" altLang="zh-CN" sz="1800" dirty="0"/>
          </a:p>
          <a:p>
            <a:pPr lvl="1">
              <a:lnSpc>
                <a:spcPct val="123000"/>
              </a:lnSpc>
              <a:spcBef>
                <a:spcPts val="450"/>
              </a:spcBef>
              <a:spcAft>
                <a:spcPts val="450"/>
              </a:spcAft>
              <a:buClr>
                <a:srgbClr val="FF0000"/>
              </a:buClr>
              <a:buFont typeface="Wingdings" panose="05000000000000000000" pitchFamily="2" charset="2"/>
              <a:buChar char="Ø"/>
            </a:pPr>
            <a:r>
              <a:rPr lang="en-US" altLang="zh-CN" sz="1800" dirty="0"/>
              <a:t>4 </a:t>
            </a:r>
            <a:r>
              <a:rPr lang="zh-CN" altLang="en-US" sz="1800" dirty="0"/>
              <a:t>个页框：</a:t>
            </a:r>
            <a:r>
              <a:rPr lang="en-US" altLang="zh-CN" sz="1800" dirty="0"/>
              <a:t>10</a:t>
            </a:r>
            <a:r>
              <a:rPr lang="zh-CN" altLang="en-US" sz="1800" dirty="0"/>
              <a:t>次缺页</a:t>
            </a:r>
            <a:endParaRPr lang="zh-CN" altLang="en-US" sz="1800" dirty="0"/>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16760" y="1890918"/>
            <a:ext cx="395288" cy="395288"/>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16760" y="2602764"/>
            <a:ext cx="395288" cy="395288"/>
          </a:xfrm>
          <a:prstGeom prst="rect">
            <a:avLst/>
          </a:prstGeom>
          <a:ln>
            <a:noFill/>
          </a:ln>
          <a:effectLst>
            <a:softEdge rad="0"/>
          </a:effectLst>
        </p:spPr>
      </p:pic>
      <p:grpSp>
        <p:nvGrpSpPr>
          <p:cNvPr id="3" name="组合 2"/>
          <p:cNvGrpSpPr/>
          <p:nvPr/>
        </p:nvGrpSpPr>
        <p:grpSpPr>
          <a:xfrm>
            <a:off x="5433135" y="2698431"/>
            <a:ext cx="3002872" cy="2493985"/>
            <a:chOff x="6871317" y="2854402"/>
            <a:chExt cx="4003829" cy="3325313"/>
          </a:xfrm>
        </p:grpSpPr>
        <p:grpSp>
          <p:nvGrpSpPr>
            <p:cNvPr id="25" name="组合 3"/>
            <p:cNvGrpSpPr/>
            <p:nvPr/>
          </p:nvGrpSpPr>
          <p:grpSpPr bwMode="auto">
            <a:xfrm>
              <a:off x="6969709" y="2976393"/>
              <a:ext cx="3670805" cy="3106736"/>
              <a:chOff x="3222789" y="2159479"/>
              <a:chExt cx="3142900" cy="3729670"/>
            </a:xfrm>
          </p:grpSpPr>
          <p:sp>
            <p:nvSpPr>
              <p:cNvPr id="26" name="Rectangle 4"/>
              <p:cNvSpPr>
                <a:spLocks noChangeArrowheads="1"/>
              </p:cNvSpPr>
              <p:nvPr/>
            </p:nvSpPr>
            <p:spPr bwMode="auto">
              <a:xfrm>
                <a:off x="3657600" y="22383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sz="1800" b="0">
                    <a:latin typeface="+mn-ea"/>
                    <a:ea typeface="+mn-ea"/>
                  </a:rPr>
                  <a:t>1</a:t>
                </a:r>
                <a:endParaRPr lang="zh-CN" altLang="en-US" sz="1800" b="0">
                  <a:latin typeface="+mn-ea"/>
                  <a:ea typeface="+mn-ea"/>
                </a:endParaRPr>
              </a:p>
            </p:txBody>
          </p:sp>
          <p:sp>
            <p:nvSpPr>
              <p:cNvPr id="27" name="Rectangle 5"/>
              <p:cNvSpPr>
                <a:spLocks noChangeArrowheads="1"/>
              </p:cNvSpPr>
              <p:nvPr/>
            </p:nvSpPr>
            <p:spPr bwMode="auto">
              <a:xfrm>
                <a:off x="3657600" y="26955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sz="1800" b="0">
                    <a:latin typeface="+mn-ea"/>
                    <a:ea typeface="+mn-ea"/>
                  </a:rPr>
                  <a:t>2</a:t>
                </a:r>
                <a:endParaRPr lang="zh-CN" altLang="en-US" sz="1800" b="0">
                  <a:latin typeface="+mn-ea"/>
                  <a:ea typeface="+mn-ea"/>
                </a:endParaRPr>
              </a:p>
            </p:txBody>
          </p:sp>
          <p:sp>
            <p:nvSpPr>
              <p:cNvPr id="28" name="Rectangle 6"/>
              <p:cNvSpPr>
                <a:spLocks noChangeArrowheads="1"/>
              </p:cNvSpPr>
              <p:nvPr/>
            </p:nvSpPr>
            <p:spPr bwMode="auto">
              <a:xfrm>
                <a:off x="3657600" y="3152775"/>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sz="1800" b="0">
                    <a:latin typeface="+mn-ea"/>
                    <a:ea typeface="+mn-ea"/>
                  </a:rPr>
                  <a:t>3</a:t>
                </a:r>
                <a:endParaRPr lang="zh-CN" altLang="en-US" sz="1800" b="0">
                  <a:latin typeface="+mn-ea"/>
                  <a:ea typeface="+mn-ea"/>
                </a:endParaRPr>
              </a:p>
            </p:txBody>
          </p:sp>
          <p:sp>
            <p:nvSpPr>
              <p:cNvPr id="29" name="Text Box 7"/>
              <p:cNvSpPr txBox="1">
                <a:spLocks noChangeArrowheads="1"/>
              </p:cNvSpPr>
              <p:nvPr/>
            </p:nvSpPr>
            <p:spPr bwMode="auto">
              <a:xfrm>
                <a:off x="3254540" y="2159479"/>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1</a:t>
                </a:r>
                <a:endParaRPr lang="zh-CN" altLang="en-US" sz="1800" b="0">
                  <a:latin typeface="+mn-ea"/>
                  <a:ea typeface="+mn-ea"/>
                </a:endParaRPr>
              </a:p>
            </p:txBody>
          </p:sp>
          <p:sp>
            <p:nvSpPr>
              <p:cNvPr id="30" name="Text Box 8"/>
              <p:cNvSpPr txBox="1">
                <a:spLocks noChangeArrowheads="1"/>
              </p:cNvSpPr>
              <p:nvPr/>
            </p:nvSpPr>
            <p:spPr bwMode="auto">
              <a:xfrm>
                <a:off x="3254540" y="2602391"/>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2</a:t>
                </a:r>
                <a:endParaRPr lang="zh-CN" altLang="en-US" sz="1800" b="0">
                  <a:latin typeface="+mn-ea"/>
                  <a:ea typeface="+mn-ea"/>
                </a:endParaRPr>
              </a:p>
            </p:txBody>
          </p:sp>
          <p:sp>
            <p:nvSpPr>
              <p:cNvPr id="31" name="Text Box 9"/>
              <p:cNvSpPr txBox="1">
                <a:spLocks noChangeArrowheads="1"/>
              </p:cNvSpPr>
              <p:nvPr/>
            </p:nvSpPr>
            <p:spPr bwMode="auto">
              <a:xfrm>
                <a:off x="3254540" y="3078641"/>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3</a:t>
                </a:r>
                <a:endParaRPr lang="zh-CN" altLang="en-US" sz="1800" b="0">
                  <a:latin typeface="+mn-ea"/>
                  <a:ea typeface="+mn-ea"/>
                </a:endParaRPr>
              </a:p>
            </p:txBody>
          </p:sp>
          <p:sp>
            <p:nvSpPr>
              <p:cNvPr id="32" name="Text Box 10"/>
              <p:cNvSpPr txBox="1">
                <a:spLocks noChangeArrowheads="1"/>
              </p:cNvSpPr>
              <p:nvPr/>
            </p:nvSpPr>
            <p:spPr bwMode="auto">
              <a:xfrm>
                <a:off x="4099091" y="2197578"/>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4</a:t>
                </a:r>
                <a:endParaRPr lang="zh-CN" altLang="en-US" sz="1800" b="0">
                  <a:latin typeface="+mn-ea"/>
                  <a:ea typeface="+mn-ea"/>
                </a:endParaRPr>
              </a:p>
            </p:txBody>
          </p:sp>
          <p:sp>
            <p:nvSpPr>
              <p:cNvPr id="33" name="Text Box 11"/>
              <p:cNvSpPr txBox="1">
                <a:spLocks noChangeArrowheads="1"/>
              </p:cNvSpPr>
              <p:nvPr/>
            </p:nvSpPr>
            <p:spPr bwMode="auto">
              <a:xfrm>
                <a:off x="4099091" y="2640490"/>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1</a:t>
                </a:r>
                <a:endParaRPr lang="zh-CN" altLang="en-US" sz="1800" b="0">
                  <a:latin typeface="+mn-ea"/>
                  <a:ea typeface="+mn-ea"/>
                </a:endParaRPr>
              </a:p>
            </p:txBody>
          </p:sp>
          <p:sp>
            <p:nvSpPr>
              <p:cNvPr id="34" name="Text Box 12"/>
              <p:cNvSpPr txBox="1">
                <a:spLocks noChangeArrowheads="1"/>
              </p:cNvSpPr>
              <p:nvPr/>
            </p:nvSpPr>
            <p:spPr bwMode="auto">
              <a:xfrm>
                <a:off x="4099091" y="3116741"/>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2</a:t>
                </a:r>
                <a:endParaRPr lang="zh-CN" altLang="en-US" sz="1800" b="0">
                  <a:latin typeface="+mn-ea"/>
                  <a:ea typeface="+mn-ea"/>
                </a:endParaRPr>
              </a:p>
            </p:txBody>
          </p:sp>
          <p:sp>
            <p:nvSpPr>
              <p:cNvPr id="35" name="Text Box 13"/>
              <p:cNvSpPr txBox="1">
                <a:spLocks noChangeArrowheads="1"/>
              </p:cNvSpPr>
              <p:nvPr/>
            </p:nvSpPr>
            <p:spPr bwMode="auto">
              <a:xfrm>
                <a:off x="4480089" y="2197578"/>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5</a:t>
                </a:r>
                <a:endParaRPr lang="zh-CN" altLang="en-US" sz="1800" b="0">
                  <a:latin typeface="+mn-ea"/>
                  <a:ea typeface="+mn-ea"/>
                </a:endParaRPr>
              </a:p>
            </p:txBody>
          </p:sp>
          <p:sp>
            <p:nvSpPr>
              <p:cNvPr id="36" name="Text Box 14"/>
              <p:cNvSpPr txBox="1">
                <a:spLocks noChangeArrowheads="1"/>
              </p:cNvSpPr>
              <p:nvPr/>
            </p:nvSpPr>
            <p:spPr bwMode="auto">
              <a:xfrm>
                <a:off x="4480089" y="2640490"/>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dirty="0">
                    <a:latin typeface="+mn-ea"/>
                    <a:ea typeface="+mn-ea"/>
                  </a:rPr>
                  <a:t>3</a:t>
                </a:r>
                <a:endParaRPr lang="zh-CN" altLang="en-US" sz="1800" b="0" dirty="0">
                  <a:latin typeface="+mn-ea"/>
                  <a:ea typeface="+mn-ea"/>
                </a:endParaRPr>
              </a:p>
            </p:txBody>
          </p:sp>
          <p:sp>
            <p:nvSpPr>
              <p:cNvPr id="37" name="Text Box 15"/>
              <p:cNvSpPr txBox="1">
                <a:spLocks noChangeArrowheads="1"/>
              </p:cNvSpPr>
              <p:nvPr/>
            </p:nvSpPr>
            <p:spPr bwMode="auto">
              <a:xfrm>
                <a:off x="4480089" y="3116741"/>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4</a:t>
                </a:r>
                <a:endParaRPr lang="zh-CN" altLang="en-US" sz="1800" b="0">
                  <a:latin typeface="+mn-ea"/>
                  <a:ea typeface="+mn-ea"/>
                </a:endParaRPr>
              </a:p>
            </p:txBody>
          </p:sp>
          <p:sp>
            <p:nvSpPr>
              <p:cNvPr id="38" name="Text Box 16"/>
              <p:cNvSpPr txBox="1">
                <a:spLocks noChangeArrowheads="1"/>
              </p:cNvSpPr>
              <p:nvPr/>
            </p:nvSpPr>
            <p:spPr bwMode="auto">
              <a:xfrm>
                <a:off x="5066691" y="2640490"/>
                <a:ext cx="1264871"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9 次缺页</a:t>
                </a:r>
                <a:endParaRPr lang="en-US" altLang="zh-CN" sz="1800" b="0">
                  <a:latin typeface="+mn-ea"/>
                  <a:ea typeface="+mn-ea"/>
                </a:endParaRPr>
              </a:p>
            </p:txBody>
          </p:sp>
          <p:sp>
            <p:nvSpPr>
              <p:cNvPr id="39" name="Rectangle 17"/>
              <p:cNvSpPr>
                <a:spLocks noChangeArrowheads="1"/>
              </p:cNvSpPr>
              <p:nvPr/>
            </p:nvSpPr>
            <p:spPr bwMode="auto">
              <a:xfrm>
                <a:off x="3625850" y="39624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sz="1800" b="0">
                    <a:latin typeface="+mn-ea"/>
                    <a:ea typeface="+mn-ea"/>
                  </a:rPr>
                  <a:t>1</a:t>
                </a:r>
                <a:endParaRPr lang="zh-CN" altLang="en-US" sz="1800" b="0">
                  <a:latin typeface="+mn-ea"/>
                  <a:ea typeface="+mn-ea"/>
                </a:endParaRPr>
              </a:p>
            </p:txBody>
          </p:sp>
          <p:sp>
            <p:nvSpPr>
              <p:cNvPr id="40" name="Rectangle 18"/>
              <p:cNvSpPr>
                <a:spLocks noChangeArrowheads="1"/>
              </p:cNvSpPr>
              <p:nvPr/>
            </p:nvSpPr>
            <p:spPr bwMode="auto">
              <a:xfrm>
                <a:off x="3625850" y="44196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sz="1800" b="0">
                    <a:latin typeface="+mn-ea"/>
                    <a:ea typeface="+mn-ea"/>
                  </a:rPr>
                  <a:t>2</a:t>
                </a:r>
                <a:endParaRPr lang="zh-CN" altLang="en-US" sz="1800" b="0">
                  <a:latin typeface="+mn-ea"/>
                  <a:ea typeface="+mn-ea"/>
                </a:endParaRPr>
              </a:p>
            </p:txBody>
          </p:sp>
          <p:sp>
            <p:nvSpPr>
              <p:cNvPr id="41" name="Rectangle 19"/>
              <p:cNvSpPr>
                <a:spLocks noChangeArrowheads="1"/>
              </p:cNvSpPr>
              <p:nvPr/>
            </p:nvSpPr>
            <p:spPr bwMode="auto">
              <a:xfrm>
                <a:off x="3625850" y="48768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sz="1800" b="0">
                    <a:latin typeface="+mn-ea"/>
                    <a:ea typeface="+mn-ea"/>
                  </a:rPr>
                  <a:t>3</a:t>
                </a:r>
                <a:endParaRPr lang="zh-CN" altLang="en-US" sz="1800" b="0">
                  <a:latin typeface="+mn-ea"/>
                  <a:ea typeface="+mn-ea"/>
                </a:endParaRPr>
              </a:p>
            </p:txBody>
          </p:sp>
          <p:sp>
            <p:nvSpPr>
              <p:cNvPr id="42" name="Text Box 20"/>
              <p:cNvSpPr txBox="1">
                <a:spLocks noChangeArrowheads="1"/>
              </p:cNvSpPr>
              <p:nvPr/>
            </p:nvSpPr>
            <p:spPr bwMode="auto">
              <a:xfrm>
                <a:off x="3222790" y="3883504"/>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1</a:t>
                </a:r>
                <a:endParaRPr lang="zh-CN" altLang="en-US" sz="1800" b="0">
                  <a:latin typeface="+mn-ea"/>
                  <a:ea typeface="+mn-ea"/>
                </a:endParaRPr>
              </a:p>
            </p:txBody>
          </p:sp>
          <p:sp>
            <p:nvSpPr>
              <p:cNvPr id="43" name="Text Box 21"/>
              <p:cNvSpPr txBox="1">
                <a:spLocks noChangeArrowheads="1"/>
              </p:cNvSpPr>
              <p:nvPr/>
            </p:nvSpPr>
            <p:spPr bwMode="auto">
              <a:xfrm>
                <a:off x="3222789" y="4326414"/>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2</a:t>
                </a:r>
                <a:endParaRPr lang="zh-CN" altLang="en-US" sz="1800" b="0">
                  <a:latin typeface="+mn-ea"/>
                  <a:ea typeface="+mn-ea"/>
                </a:endParaRPr>
              </a:p>
            </p:txBody>
          </p:sp>
          <p:sp>
            <p:nvSpPr>
              <p:cNvPr id="44" name="Text Box 22"/>
              <p:cNvSpPr txBox="1">
                <a:spLocks noChangeArrowheads="1"/>
              </p:cNvSpPr>
              <p:nvPr/>
            </p:nvSpPr>
            <p:spPr bwMode="auto">
              <a:xfrm>
                <a:off x="3222789" y="4802666"/>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dirty="0">
                    <a:latin typeface="+mn-ea"/>
                    <a:ea typeface="+mn-ea"/>
                  </a:rPr>
                  <a:t>3</a:t>
                </a:r>
                <a:endParaRPr lang="zh-CN" altLang="en-US" sz="1800" b="0" dirty="0">
                  <a:latin typeface="+mn-ea"/>
                  <a:ea typeface="+mn-ea"/>
                </a:endParaRPr>
              </a:p>
            </p:txBody>
          </p:sp>
          <p:sp>
            <p:nvSpPr>
              <p:cNvPr id="45" name="Text Box 23"/>
              <p:cNvSpPr txBox="1">
                <a:spLocks noChangeArrowheads="1"/>
              </p:cNvSpPr>
              <p:nvPr/>
            </p:nvSpPr>
            <p:spPr bwMode="auto">
              <a:xfrm>
                <a:off x="4067340" y="3921605"/>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5</a:t>
                </a:r>
                <a:endParaRPr lang="zh-CN" altLang="en-US" sz="1800" b="0">
                  <a:latin typeface="+mn-ea"/>
                  <a:ea typeface="+mn-ea"/>
                </a:endParaRPr>
              </a:p>
            </p:txBody>
          </p:sp>
          <p:sp>
            <p:nvSpPr>
              <p:cNvPr id="46" name="Text Box 24"/>
              <p:cNvSpPr txBox="1">
                <a:spLocks noChangeArrowheads="1"/>
              </p:cNvSpPr>
              <p:nvPr/>
            </p:nvSpPr>
            <p:spPr bwMode="auto">
              <a:xfrm>
                <a:off x="4067340" y="4364516"/>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1</a:t>
                </a:r>
                <a:endParaRPr lang="zh-CN" altLang="en-US" sz="1800" b="0">
                  <a:latin typeface="+mn-ea"/>
                  <a:ea typeface="+mn-ea"/>
                </a:endParaRPr>
              </a:p>
            </p:txBody>
          </p:sp>
          <p:sp>
            <p:nvSpPr>
              <p:cNvPr id="47" name="Text Box 25"/>
              <p:cNvSpPr txBox="1">
                <a:spLocks noChangeArrowheads="1"/>
              </p:cNvSpPr>
              <p:nvPr/>
            </p:nvSpPr>
            <p:spPr bwMode="auto">
              <a:xfrm>
                <a:off x="4067340" y="4840767"/>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2</a:t>
                </a:r>
                <a:endParaRPr lang="zh-CN" altLang="en-US" sz="1800" b="0">
                  <a:latin typeface="+mn-ea"/>
                  <a:ea typeface="+mn-ea"/>
                </a:endParaRPr>
              </a:p>
            </p:txBody>
          </p:sp>
          <p:sp>
            <p:nvSpPr>
              <p:cNvPr id="48" name="Text Box 26"/>
              <p:cNvSpPr txBox="1">
                <a:spLocks noChangeArrowheads="1"/>
              </p:cNvSpPr>
              <p:nvPr/>
            </p:nvSpPr>
            <p:spPr bwMode="auto">
              <a:xfrm>
                <a:off x="4448340" y="3921605"/>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4</a:t>
                </a:r>
                <a:endParaRPr lang="zh-CN" altLang="en-US" sz="1800" b="0">
                  <a:latin typeface="+mn-ea"/>
                  <a:ea typeface="+mn-ea"/>
                </a:endParaRPr>
              </a:p>
            </p:txBody>
          </p:sp>
          <p:sp>
            <p:nvSpPr>
              <p:cNvPr id="49" name="Text Box 28"/>
              <p:cNvSpPr txBox="1">
                <a:spLocks noChangeArrowheads="1"/>
              </p:cNvSpPr>
              <p:nvPr/>
            </p:nvSpPr>
            <p:spPr bwMode="auto">
              <a:xfrm>
                <a:off x="4448340" y="4383566"/>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5</a:t>
                </a:r>
                <a:endParaRPr lang="zh-CN" altLang="en-US" sz="1800" b="0">
                  <a:latin typeface="+mn-ea"/>
                  <a:ea typeface="+mn-ea"/>
                </a:endParaRPr>
              </a:p>
            </p:txBody>
          </p:sp>
          <p:sp>
            <p:nvSpPr>
              <p:cNvPr id="50" name="Text Box 29"/>
              <p:cNvSpPr txBox="1">
                <a:spLocks noChangeArrowheads="1"/>
              </p:cNvSpPr>
              <p:nvPr/>
            </p:nvSpPr>
            <p:spPr bwMode="auto">
              <a:xfrm>
                <a:off x="4969060" y="4364516"/>
                <a:ext cx="1396629"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dirty="0">
                    <a:latin typeface="+mn-ea"/>
                    <a:ea typeface="+mn-ea"/>
                  </a:rPr>
                  <a:t>10 次缺页</a:t>
                </a:r>
                <a:endParaRPr lang="en-US" altLang="zh-CN" sz="1800" b="0" dirty="0">
                  <a:latin typeface="+mn-ea"/>
                  <a:ea typeface="+mn-ea"/>
                </a:endParaRPr>
              </a:p>
            </p:txBody>
          </p:sp>
          <p:sp>
            <p:nvSpPr>
              <p:cNvPr id="51" name="Rectangle 30"/>
              <p:cNvSpPr>
                <a:spLocks noChangeArrowheads="1"/>
              </p:cNvSpPr>
              <p:nvPr/>
            </p:nvSpPr>
            <p:spPr bwMode="auto">
              <a:xfrm>
                <a:off x="3625850" y="5334000"/>
                <a:ext cx="381000" cy="457200"/>
              </a:xfrm>
              <a:prstGeom prst="rect">
                <a:avLst/>
              </a:prstGeom>
              <a:solidFill>
                <a:srgbClr val="FFFF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r>
                  <a:rPr lang="zh-CN" altLang="en-US" sz="1800" b="0" dirty="0">
                    <a:latin typeface="+mn-ea"/>
                    <a:ea typeface="+mn-ea"/>
                  </a:rPr>
                  <a:t>4</a:t>
                </a:r>
                <a:endParaRPr lang="zh-CN" altLang="en-US" sz="1800" b="0" dirty="0">
                  <a:latin typeface="+mn-ea"/>
                  <a:ea typeface="+mn-ea"/>
                </a:endParaRPr>
              </a:p>
            </p:txBody>
          </p:sp>
          <p:sp>
            <p:nvSpPr>
              <p:cNvPr id="52" name="Text Box 31"/>
              <p:cNvSpPr txBox="1">
                <a:spLocks noChangeArrowheads="1"/>
              </p:cNvSpPr>
              <p:nvPr/>
            </p:nvSpPr>
            <p:spPr bwMode="auto">
              <a:xfrm>
                <a:off x="3229140" y="5297966"/>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4</a:t>
                </a:r>
                <a:endParaRPr lang="zh-CN" altLang="en-US" sz="1800" b="0">
                  <a:latin typeface="+mn-ea"/>
                  <a:ea typeface="+mn-ea"/>
                </a:endParaRPr>
              </a:p>
            </p:txBody>
          </p:sp>
          <p:sp>
            <p:nvSpPr>
              <p:cNvPr id="53" name="Text Box 32"/>
              <p:cNvSpPr txBox="1">
                <a:spLocks noChangeArrowheads="1"/>
              </p:cNvSpPr>
              <p:nvPr/>
            </p:nvSpPr>
            <p:spPr bwMode="auto">
              <a:xfrm>
                <a:off x="4067340" y="5297966"/>
                <a:ext cx="342570" cy="59118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tx1"/>
                    </a:solidFill>
                    <a:latin typeface="Arial" panose="020B0604020202020204" pitchFamily="34" charset="0"/>
                    <a:ea typeface="华文新魏" panose="02010800040101010101" pitchFamily="2" charset="-122"/>
                  </a:defRPr>
                </a:lvl1pPr>
                <a:lvl2pPr marL="742950" indent="-285750">
                  <a:defRPr sz="2400" b="1">
                    <a:solidFill>
                      <a:schemeClr val="tx1"/>
                    </a:solidFill>
                    <a:latin typeface="Arial" panose="020B0604020202020204" pitchFamily="34" charset="0"/>
                    <a:ea typeface="华文新魏" panose="02010800040101010101" pitchFamily="2" charset="-122"/>
                  </a:defRPr>
                </a:lvl2pPr>
                <a:lvl3pPr marL="1143000" indent="-228600">
                  <a:defRPr sz="2400" b="1">
                    <a:solidFill>
                      <a:schemeClr val="tx1"/>
                    </a:solidFill>
                    <a:latin typeface="Arial" panose="020B0604020202020204" pitchFamily="34" charset="0"/>
                    <a:ea typeface="华文新魏" panose="02010800040101010101" pitchFamily="2" charset="-122"/>
                  </a:defRPr>
                </a:lvl3pPr>
                <a:lvl4pPr marL="1600200" indent="-228600">
                  <a:defRPr sz="2400" b="1">
                    <a:solidFill>
                      <a:schemeClr val="tx1"/>
                    </a:solidFill>
                    <a:latin typeface="Arial" panose="020B0604020202020204" pitchFamily="34" charset="0"/>
                    <a:ea typeface="华文新魏" panose="02010800040101010101" pitchFamily="2" charset="-122"/>
                  </a:defRPr>
                </a:lvl4pPr>
                <a:lvl5pPr marL="2057400" indent="-228600">
                  <a:defRPr sz="2400" b="1">
                    <a:solidFill>
                      <a:schemeClr val="tx1"/>
                    </a:solidFill>
                    <a:latin typeface="Arial" panose="020B0604020202020204" pitchFamily="34" charset="0"/>
                    <a:ea typeface="华文新魏" panose="0201080004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华文新魏" panose="02010800040101010101" pitchFamily="2" charset="-122"/>
                  </a:defRPr>
                </a:lvl9pPr>
              </a:lstStyle>
              <a:p>
                <a:pPr algn="ctr">
                  <a:spcBef>
                    <a:spcPct val="50000"/>
                  </a:spcBef>
                </a:pPr>
                <a:r>
                  <a:rPr lang="zh-CN" altLang="en-US" sz="1800" b="0">
                    <a:latin typeface="+mn-ea"/>
                    <a:ea typeface="+mn-ea"/>
                  </a:rPr>
                  <a:t>3</a:t>
                </a:r>
                <a:endParaRPr lang="zh-CN" altLang="en-US" sz="1800" b="0">
                  <a:latin typeface="+mn-ea"/>
                  <a:ea typeface="+mn-ea"/>
                </a:endParaRPr>
              </a:p>
            </p:txBody>
          </p:sp>
        </p:grpSp>
        <p:sp>
          <p:nvSpPr>
            <p:cNvPr id="2" name="矩形 1"/>
            <p:cNvSpPr/>
            <p:nvPr/>
          </p:nvSpPr>
          <p:spPr>
            <a:xfrm>
              <a:off x="6871317" y="2854402"/>
              <a:ext cx="4003829" cy="33253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pull dir="ru"/>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先进先出置换算法例子</a:t>
            </a:r>
            <a:endParaRPr lang="zh-CN" altLang="en-US" sz="2100" b="1" dirty="0">
              <a:solidFill>
                <a:schemeClr val="bg1"/>
              </a:solidFill>
              <a:cs typeface="+mn-ea"/>
              <a:sym typeface="+mn-lt"/>
            </a:endParaRPr>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l="655" t="32359" r="452" b="32361"/>
          <a:stretch>
            <a:fillRect/>
          </a:stretch>
        </p:blipFill>
        <p:spPr bwMode="auto">
          <a:xfrm>
            <a:off x="83270" y="2385397"/>
            <a:ext cx="8977460" cy="1800979"/>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dir="ru"/>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占位符 28673"/>
          <p:cNvSpPr>
            <a:spLocks noGrp="1"/>
          </p:cNvSpPr>
          <p:nvPr>
            <p:ph idx="1"/>
          </p:nvPr>
        </p:nvSpPr>
        <p:spPr>
          <a:xfrm>
            <a:off x="985838" y="1988344"/>
            <a:ext cx="7334726" cy="3555206"/>
          </a:xfrm>
        </p:spPr>
        <p:txBody>
          <a:bodyPr anchor="t" anchorCtr="0"/>
          <a:lstStyle/>
          <a:p>
            <a:r>
              <a:rPr lang="zh-CN" altLang="en-US" sz="1800" dirty="0">
                <a:solidFill>
                  <a:srgbClr val="000000"/>
                </a:solidFill>
              </a:rPr>
              <a:t>优点</a:t>
            </a:r>
            <a:r>
              <a:rPr lang="en-US" altLang="zh-CN" sz="1800" dirty="0">
                <a:solidFill>
                  <a:srgbClr val="000000"/>
                </a:solidFill>
              </a:rPr>
              <a:t>:</a:t>
            </a:r>
            <a:r>
              <a:rPr lang="zh-CN" altLang="en-US" sz="1800" dirty="0">
                <a:solidFill>
                  <a:srgbClr val="000000"/>
                </a:solidFill>
              </a:rPr>
              <a:t>容易理解且</a:t>
            </a:r>
            <a:r>
              <a:rPr lang="zh-CN" altLang="en-US" sz="1800" dirty="0">
                <a:solidFill>
                  <a:srgbClr val="FF0000"/>
                </a:solidFill>
              </a:rPr>
              <a:t>方便</a:t>
            </a:r>
            <a:r>
              <a:rPr lang="zh-CN" altLang="en-US" sz="1800" dirty="0">
                <a:solidFill>
                  <a:srgbClr val="000000"/>
                </a:solidFill>
              </a:rPr>
              <a:t>程序设计，为每个页面设置一个进入内存的时间。</a:t>
            </a:r>
            <a:endParaRPr lang="zh-CN" altLang="en-US" sz="1800" dirty="0">
              <a:solidFill>
                <a:srgbClr val="000000"/>
              </a:solidFill>
            </a:endParaRPr>
          </a:p>
          <a:p>
            <a:r>
              <a:rPr lang="zh-CN" altLang="en-US" sz="1800" dirty="0">
                <a:solidFill>
                  <a:srgbClr val="000000"/>
                </a:solidFill>
              </a:rPr>
              <a:t>缺点</a:t>
            </a:r>
            <a:r>
              <a:rPr lang="en-US" altLang="zh-CN" sz="1800">
                <a:solidFill>
                  <a:srgbClr val="000000"/>
                </a:solidFill>
              </a:rPr>
              <a:t>:</a:t>
            </a:r>
            <a:endParaRPr lang="en-US" altLang="zh-CN" sz="1800">
              <a:solidFill>
                <a:srgbClr val="000000"/>
              </a:solidFill>
            </a:endParaRPr>
          </a:p>
          <a:p>
            <a:pPr lvl="1"/>
            <a:r>
              <a:rPr lang="zh-CN" altLang="en-US" sz="1800" dirty="0">
                <a:solidFill>
                  <a:srgbClr val="000000"/>
                </a:solidFill>
              </a:rPr>
              <a:t>性能并不很好。</a:t>
            </a:r>
            <a:endParaRPr lang="zh-CN" altLang="en-US" sz="1800" dirty="0">
              <a:solidFill>
                <a:srgbClr val="000000"/>
              </a:solidFill>
            </a:endParaRPr>
          </a:p>
          <a:p>
            <a:pPr lvl="1"/>
            <a:r>
              <a:rPr lang="zh-CN" altLang="en-US" sz="1800" dirty="0">
                <a:solidFill>
                  <a:srgbClr val="000000"/>
                </a:solidFill>
              </a:rPr>
              <a:t>存在</a:t>
            </a:r>
            <a:r>
              <a:rPr lang="en-US" altLang="zh-CN" sz="1800" err="1">
                <a:solidFill>
                  <a:srgbClr val="FF0000"/>
                </a:solidFill>
              </a:rPr>
              <a:t>Belady</a:t>
            </a:r>
            <a:r>
              <a:rPr lang="zh-CN" altLang="en-US" sz="1800" dirty="0">
                <a:solidFill>
                  <a:srgbClr val="FF0000"/>
                </a:solidFill>
              </a:rPr>
              <a:t>异常</a:t>
            </a:r>
            <a:r>
              <a:rPr lang="zh-CN" altLang="en-US" sz="1800" dirty="0">
                <a:solidFill>
                  <a:srgbClr val="000000"/>
                </a:solidFill>
              </a:rPr>
              <a:t>现象，即</a:t>
            </a:r>
            <a:r>
              <a:rPr lang="zh-CN" altLang="en-US" sz="1800" dirty="0">
                <a:solidFill>
                  <a:srgbClr val="FF0000"/>
                </a:solidFill>
              </a:rPr>
              <a:t>缺页率随内存块增加而增加</a:t>
            </a:r>
            <a:r>
              <a:rPr lang="zh-CN" altLang="en-US" sz="1800" dirty="0">
                <a:solidFill>
                  <a:srgbClr val="000000"/>
                </a:solidFill>
              </a:rPr>
              <a:t>。</a:t>
            </a:r>
            <a:endParaRPr lang="zh-CN" altLang="en-US" sz="1800" dirty="0">
              <a:solidFill>
                <a:srgbClr val="000000"/>
              </a:solidFill>
            </a:endParaRPr>
          </a:p>
        </p:txBody>
      </p:sp>
      <p:pic>
        <p:nvPicPr>
          <p:cNvPr id="40962" name="图片 28674" descr="B538"/>
          <p:cNvPicPr>
            <a:picLocks noChangeAspect="1"/>
          </p:cNvPicPr>
          <p:nvPr/>
        </p:nvPicPr>
        <p:blipFill>
          <a:blip r:embed="rId1"/>
          <a:stretch>
            <a:fillRect/>
          </a:stretch>
        </p:blipFill>
        <p:spPr>
          <a:xfrm>
            <a:off x="2204561" y="3386137"/>
            <a:ext cx="4559618" cy="2157413"/>
          </a:xfrm>
          <a:prstGeom prst="rect">
            <a:avLst/>
          </a:prstGeom>
          <a:noFill/>
          <a:ln w="9525">
            <a:noFill/>
          </a:ln>
        </p:spPr>
      </p:pic>
      <p:sp>
        <p:nvSpPr>
          <p:cNvPr id="2" name="文本框 1"/>
          <p:cNvSpPr txBox="1"/>
          <p:nvPr/>
        </p:nvSpPr>
        <p:spPr>
          <a:xfrm>
            <a:off x="1122998" y="1482567"/>
            <a:ext cx="3048000" cy="368141"/>
          </a:xfrm>
          <a:prstGeom prst="rect">
            <a:avLst/>
          </a:prstGeom>
          <a:noFill/>
        </p:spPr>
        <p:txBody>
          <a:bodyPr wrap="square" rtlCol="0">
            <a:noAutofit/>
          </a:bodyPr>
          <a:lstStyle/>
          <a:p>
            <a:r>
              <a:rPr lang="en-US" altLang="zh-CN"/>
              <a:t>FIFO</a:t>
            </a:r>
            <a:r>
              <a:rPr lang="zh-CN" altLang="en-US"/>
              <a:t>算法</a:t>
            </a:r>
            <a:endParaRPr lang="zh-CN" altLang="en-US"/>
          </a:p>
        </p:txBody>
      </p:sp>
    </p:spTree>
  </p:cSld>
  <p:clrMapOvr>
    <a:masterClrMapping/>
  </p:clrMapOvr>
  <p:transition spd="slow">
    <p:pull dir="ru"/>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最近最少使用算法</a:t>
            </a:r>
            <a:r>
              <a:rPr lang="en-US" altLang="zh-CN" sz="2100" b="1" dirty="0">
                <a:solidFill>
                  <a:schemeClr val="bg1"/>
                </a:solidFill>
                <a:cs typeface="+mn-ea"/>
                <a:sym typeface="+mn-lt"/>
              </a:rPr>
              <a:t>(LRU) </a:t>
            </a:r>
            <a:endParaRPr lang="zh-CN" altLang="en-US" sz="2100" b="1" dirty="0">
              <a:solidFill>
                <a:schemeClr val="bg1"/>
              </a:solidFill>
              <a:cs typeface="+mn-ea"/>
              <a:sym typeface="+mn-lt"/>
            </a:endParaRPr>
          </a:p>
        </p:txBody>
      </p:sp>
      <p:pic>
        <p:nvPicPr>
          <p:cNvPr id="5" name="Picture 7"/>
          <p:cNvPicPr>
            <a:picLocks noChangeAspect="1" noChangeArrowheads="1"/>
          </p:cNvPicPr>
          <p:nvPr/>
        </p:nvPicPr>
        <p:blipFill>
          <a:blip r:embed="rId1">
            <a:extLst>
              <a:ext uri="{28A0092B-C50C-407E-A947-70E740481C1C}">
                <a14:useLocalDpi xmlns:a14="http://schemas.microsoft.com/office/drawing/2010/main" val="0"/>
              </a:ext>
            </a:extLst>
          </a:blip>
          <a:srcRect l="809" t="32875" r="789" b="32362"/>
          <a:stretch>
            <a:fillRect/>
          </a:stretch>
        </p:blipFill>
        <p:spPr bwMode="auto">
          <a:xfrm>
            <a:off x="209000" y="2832255"/>
            <a:ext cx="8726000" cy="1733642"/>
          </a:xfrm>
          <a:prstGeom prst="rect">
            <a:avLst/>
          </a:prstGeom>
          <a:noFill/>
          <a:ln w="38100" cmpd="dbl">
            <a:solidFill>
              <a:srgbClr val="CC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i$lîďê"/>
          <p:cNvSpPr/>
          <p:nvPr/>
        </p:nvSpPr>
        <p:spPr>
          <a:xfrm>
            <a:off x="209000" y="2172256"/>
            <a:ext cx="5316869" cy="294658"/>
          </a:xfrm>
          <a:prstGeom prst="rect">
            <a:avLst/>
          </a:prstGeom>
          <a:noFill/>
          <a:ln>
            <a:noFill/>
          </a:ln>
        </p:spPr>
        <p:txBody>
          <a:bodyPr wrap="square" lIns="68580" tIns="34290" rIns="68580" bIns="34290" anchor="ctr" anchorCtr="0">
            <a:noAutofit/>
          </a:bodyPr>
          <a:lstStyle/>
          <a:p>
            <a:r>
              <a:rPr lang="zh-CN" altLang="en-US" sz="2400" dirty="0"/>
              <a:t>选择</a:t>
            </a:r>
            <a:r>
              <a:rPr lang="zh-CN" altLang="en-US" sz="2400" dirty="0">
                <a:solidFill>
                  <a:srgbClr val="FF0000"/>
                </a:solidFill>
              </a:rPr>
              <a:t>最近最久未使用的页面</a:t>
            </a:r>
            <a:r>
              <a:rPr lang="zh-CN" altLang="en-US" sz="2400" dirty="0"/>
              <a:t>予以淘汰</a:t>
            </a:r>
            <a:endParaRPr lang="zh-CN" altLang="en-US" sz="2400" dirty="0"/>
          </a:p>
        </p:txBody>
      </p:sp>
    </p:spTree>
  </p:cSld>
  <p:clrMapOvr>
    <a:masterClrMapping/>
  </p:clrMapOvr>
  <p:transition spd="slow">
    <p:pull dir="ru"/>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6145"/>
          <p:cNvSpPr>
            <a:spLocks noGrp="1"/>
          </p:cNvSpPr>
          <p:nvPr>
            <p:ph type="title"/>
          </p:nvPr>
        </p:nvSpPr>
        <p:spPr>
          <a:xfrm>
            <a:off x="1321118" y="1018222"/>
            <a:ext cx="6836569" cy="1096328"/>
          </a:xfrm>
        </p:spPr>
        <p:txBody>
          <a:bodyPr anchor="ctr" anchorCtr="0"/>
          <a:lstStyle/>
          <a:p>
            <a:pPr algn="l"/>
            <a:r>
              <a:rPr lang="en-US" altLang="zh-CN" sz="1800" dirty="0"/>
              <a:t>46.</a:t>
            </a:r>
            <a:r>
              <a:rPr lang="zh-CN" altLang="en-US" sz="1800" dirty="0"/>
              <a:t>（</a:t>
            </a:r>
            <a:r>
              <a:rPr lang="en-US" altLang="zh-CN" sz="1800" dirty="0"/>
              <a:t>8</a:t>
            </a:r>
            <a:r>
              <a:rPr lang="zh-CN" altLang="en-US" sz="1800" dirty="0"/>
              <a:t>分）请求分页管理系统中，</a:t>
            </a:r>
            <a:br>
              <a:rPr lang="zh-CN" altLang="en-US" sz="1800" dirty="0"/>
            </a:br>
            <a:r>
              <a:rPr lang="zh-CN" altLang="en-US" sz="1800" dirty="0"/>
              <a:t>假设某进程的页表内容如下表所示。</a:t>
            </a:r>
            <a:endParaRPr lang="zh-CN" altLang="en-US" sz="1800" dirty="0"/>
          </a:p>
        </p:txBody>
      </p:sp>
      <p:sp>
        <p:nvSpPr>
          <p:cNvPr id="4098" name="文本占位符 6146"/>
          <p:cNvSpPr>
            <a:spLocks noGrp="1"/>
          </p:cNvSpPr>
          <p:nvPr>
            <p:ph type="body" sz="half" idx="1"/>
          </p:nvPr>
        </p:nvSpPr>
        <p:spPr>
          <a:xfrm>
            <a:off x="1023937" y="2240756"/>
            <a:ext cx="7445693" cy="3456623"/>
          </a:xfrm>
        </p:spPr>
        <p:txBody>
          <a:bodyPr anchor="t" anchorCtr="0">
            <a:noAutofit/>
          </a:bodyPr>
          <a:lstStyle/>
          <a:p>
            <a:pPr defTabSz="685800" fontAlgn="auto">
              <a:buClrTx/>
              <a:buSzTx/>
              <a:buFontTx/>
            </a:pPr>
            <a:r>
              <a:rPr lang="zh-CN" altLang="en-US" sz="1725" dirty="0"/>
              <a:t>页面大小为</a:t>
            </a:r>
            <a:r>
              <a:rPr lang="en-US" altLang="zh-CN" sz="1725" dirty="0">
                <a:solidFill>
                  <a:srgbClr val="FF0000"/>
                </a:solidFill>
              </a:rPr>
              <a:t>4KB</a:t>
            </a:r>
            <a:r>
              <a:rPr lang="zh-CN" altLang="en-US" sz="1725" dirty="0"/>
              <a:t>，一次内存的访问时间是</a:t>
            </a:r>
            <a:r>
              <a:rPr lang="en-US" altLang="zh-CN" sz="1725" dirty="0">
                <a:solidFill>
                  <a:srgbClr val="FF0000"/>
                </a:solidFill>
              </a:rPr>
              <a:t>100ns</a:t>
            </a:r>
            <a:r>
              <a:rPr lang="zh-CN" altLang="en-US" sz="1725" dirty="0"/>
              <a:t>，一次快表（</a:t>
            </a:r>
            <a:r>
              <a:rPr lang="en-US" altLang="zh-CN" sz="1725" dirty="0"/>
              <a:t>TLB</a:t>
            </a:r>
            <a:r>
              <a:rPr lang="zh-CN" altLang="en-US" sz="1725" dirty="0"/>
              <a:t>）的访问时间是</a:t>
            </a:r>
            <a:r>
              <a:rPr lang="en-US" altLang="zh-CN" sz="1725" dirty="0">
                <a:solidFill>
                  <a:srgbClr val="FF0000"/>
                </a:solidFill>
              </a:rPr>
              <a:t>10ns</a:t>
            </a:r>
            <a:r>
              <a:rPr lang="zh-CN" altLang="en-US" sz="1725" dirty="0"/>
              <a:t>，处理一次缺页的平均时间为</a:t>
            </a:r>
            <a:r>
              <a:rPr lang="en-US" altLang="zh-CN" sz="1725">
                <a:solidFill>
                  <a:srgbClr val="FF0000"/>
                </a:solidFill>
              </a:rPr>
              <a:t>10</a:t>
            </a:r>
            <a:r>
              <a:rPr lang="en-US" altLang="zh-CN" sz="1725" baseline="30000">
                <a:solidFill>
                  <a:srgbClr val="FF0000"/>
                </a:solidFill>
              </a:rPr>
              <a:t>8</a:t>
            </a:r>
            <a:r>
              <a:rPr lang="en-US" altLang="zh-CN" sz="1725" dirty="0">
                <a:solidFill>
                  <a:srgbClr val="FF0000"/>
                </a:solidFill>
              </a:rPr>
              <a:t>ns</a:t>
            </a:r>
            <a:r>
              <a:rPr lang="zh-CN" altLang="en-US" sz="1725" dirty="0"/>
              <a:t>（已含更新</a:t>
            </a:r>
            <a:r>
              <a:rPr lang="en-US" altLang="zh-CN" sz="1725" dirty="0"/>
              <a:t>TLB</a:t>
            </a:r>
            <a:r>
              <a:rPr lang="zh-CN" altLang="en-US" sz="1725" dirty="0"/>
              <a:t>和页表的时间），进程的驻留集大小固定为</a:t>
            </a:r>
            <a:r>
              <a:rPr lang="en-US" altLang="zh-CN" sz="1725" dirty="0">
                <a:solidFill>
                  <a:srgbClr val="FF0000"/>
                </a:solidFill>
              </a:rPr>
              <a:t>2</a:t>
            </a:r>
            <a:r>
              <a:rPr lang="zh-CN" altLang="en-US" sz="1725" dirty="0"/>
              <a:t>，采用最近最少使用置换算法（</a:t>
            </a:r>
            <a:r>
              <a:rPr lang="en-US" altLang="zh-CN" sz="1725" dirty="0">
                <a:solidFill>
                  <a:srgbClr val="FF0000"/>
                </a:solidFill>
              </a:rPr>
              <a:t>LRU</a:t>
            </a:r>
            <a:r>
              <a:rPr lang="zh-CN" altLang="en-US" sz="1725" dirty="0"/>
              <a:t>）和局部淘汰策略。假设</a:t>
            </a:r>
            <a:endParaRPr lang="zh-CN" altLang="en-US" sz="1725" dirty="0"/>
          </a:p>
          <a:p>
            <a:pPr defTabSz="685800" fontAlgn="auto">
              <a:buClrTx/>
              <a:buSzTx/>
              <a:buFontTx/>
            </a:pPr>
            <a:r>
              <a:rPr lang="en-US" altLang="zh-CN" sz="1725" dirty="0"/>
              <a:t>①TLB</a:t>
            </a:r>
            <a:r>
              <a:rPr lang="zh-CN" altLang="en-US" sz="1725" dirty="0"/>
              <a:t>初始为空；</a:t>
            </a:r>
            <a:r>
              <a:rPr lang="en-US" altLang="zh-CN" sz="1725" dirty="0"/>
              <a:t>②</a:t>
            </a:r>
            <a:r>
              <a:rPr lang="zh-CN" altLang="en-US" sz="1725" dirty="0"/>
              <a:t>地址转换时先访问</a:t>
            </a:r>
            <a:r>
              <a:rPr lang="en-US" altLang="zh-CN" sz="1725" dirty="0"/>
              <a:t>TLB</a:t>
            </a:r>
            <a:r>
              <a:rPr lang="zh-CN" altLang="en-US" sz="1725" dirty="0"/>
              <a:t>，若</a:t>
            </a:r>
            <a:r>
              <a:rPr lang="en-US" altLang="zh-CN" sz="1725" dirty="0"/>
              <a:t>TLB</a:t>
            </a:r>
            <a:r>
              <a:rPr lang="zh-CN" altLang="en-US" sz="1725" dirty="0"/>
              <a:t>未命中，再访问页表（忽略访问页表之后的</a:t>
            </a:r>
            <a:r>
              <a:rPr lang="en-US" altLang="zh-CN" sz="1725" dirty="0"/>
              <a:t>TLB</a:t>
            </a:r>
            <a:r>
              <a:rPr lang="zh-CN" altLang="en-US" sz="1725" dirty="0"/>
              <a:t>更新时间）；</a:t>
            </a:r>
            <a:r>
              <a:rPr lang="en-US" altLang="zh-CN" sz="1725" dirty="0"/>
              <a:t>③</a:t>
            </a:r>
            <a:r>
              <a:rPr lang="zh-CN" altLang="en-US" sz="1725" dirty="0"/>
              <a:t>有效位为</a:t>
            </a:r>
            <a:r>
              <a:rPr lang="en-US" altLang="zh-CN" sz="1725" dirty="0"/>
              <a:t>0</a:t>
            </a:r>
            <a:r>
              <a:rPr lang="zh-CN" altLang="en-US" sz="1725" dirty="0"/>
              <a:t>表示页面不在内存，产生缺页中断，缺页中断处理后，返回到产生缺页中断的指令处重新执行。设有虚地址访问序列</a:t>
            </a:r>
            <a:r>
              <a:rPr lang="en-US" altLang="zh-CN" sz="1725" dirty="0">
                <a:solidFill>
                  <a:schemeClr val="accent3">
                    <a:lumMod val="75000"/>
                    <a:lumOff val="25000"/>
                  </a:schemeClr>
                </a:solidFill>
              </a:rPr>
              <a:t>2362H</a:t>
            </a:r>
            <a:r>
              <a:rPr lang="zh-CN" altLang="en-US" sz="1725" dirty="0">
                <a:solidFill>
                  <a:schemeClr val="accent3">
                    <a:lumMod val="75000"/>
                    <a:lumOff val="25000"/>
                  </a:schemeClr>
                </a:solidFill>
              </a:rPr>
              <a:t>、</a:t>
            </a:r>
            <a:r>
              <a:rPr lang="en-US" altLang="zh-CN" sz="1725" dirty="0">
                <a:solidFill>
                  <a:schemeClr val="accent3">
                    <a:lumMod val="75000"/>
                    <a:lumOff val="25000"/>
                  </a:schemeClr>
                </a:solidFill>
              </a:rPr>
              <a:t>1565H</a:t>
            </a:r>
            <a:r>
              <a:rPr lang="zh-CN" altLang="en-US" sz="1725" dirty="0">
                <a:solidFill>
                  <a:schemeClr val="accent3">
                    <a:lumMod val="75000"/>
                    <a:lumOff val="25000"/>
                  </a:schemeClr>
                </a:solidFill>
              </a:rPr>
              <a:t>、</a:t>
            </a:r>
            <a:r>
              <a:rPr lang="en-US" altLang="zh-CN" sz="1725" dirty="0">
                <a:solidFill>
                  <a:schemeClr val="accent3">
                    <a:lumMod val="75000"/>
                    <a:lumOff val="25000"/>
                  </a:schemeClr>
                </a:solidFill>
              </a:rPr>
              <a:t>25A5H</a:t>
            </a:r>
            <a:r>
              <a:rPr lang="zh-CN" altLang="en-US" sz="1725" dirty="0"/>
              <a:t>，请问：</a:t>
            </a:r>
            <a:r>
              <a:rPr lang="en-US" altLang="zh-CN" sz="1725" dirty="0"/>
              <a:t>  </a:t>
            </a:r>
            <a:endParaRPr lang="en-US" altLang="zh-CN" sz="1725" dirty="0"/>
          </a:p>
          <a:p>
            <a:pPr defTabSz="685800" fontAlgn="auto">
              <a:buClrTx/>
              <a:buSzTx/>
              <a:buFontTx/>
            </a:pPr>
            <a:endParaRPr lang="en-US" altLang="zh-CN" sz="1725" dirty="0"/>
          </a:p>
          <a:p>
            <a:pPr marL="0" indent="0" defTabSz="685800" fontAlgn="auto">
              <a:buClrTx/>
              <a:buSzTx/>
              <a:buNone/>
            </a:pPr>
            <a:r>
              <a:rPr lang="zh-CN" altLang="en-US" sz="1725" dirty="0"/>
              <a:t>（</a:t>
            </a:r>
            <a:r>
              <a:rPr lang="en-US" altLang="zh-CN" sz="1725" dirty="0"/>
              <a:t>1</a:t>
            </a:r>
            <a:r>
              <a:rPr lang="zh-CN" altLang="en-US" sz="1725" dirty="0"/>
              <a:t>）</a:t>
            </a:r>
            <a:r>
              <a:rPr lang="en-US" altLang="zh-CN" sz="1725" dirty="0"/>
              <a:t> </a:t>
            </a:r>
            <a:r>
              <a:rPr lang="zh-CN" altLang="en-US" sz="1725" dirty="0"/>
              <a:t>依次访问上述三个虚地址，各需多少时间？给出计算过程。</a:t>
            </a:r>
            <a:r>
              <a:rPr lang="en-US" altLang="zh-CN" sz="1725" dirty="0"/>
              <a:t>  </a:t>
            </a:r>
            <a:endParaRPr lang="en-US" altLang="zh-CN" sz="1725" dirty="0"/>
          </a:p>
          <a:p>
            <a:pPr marL="0" indent="0" defTabSz="685800" fontAlgn="auto">
              <a:buClrTx/>
              <a:buSzTx/>
              <a:buNone/>
            </a:pPr>
            <a:r>
              <a:rPr lang="zh-CN" altLang="en-US" sz="1725" dirty="0"/>
              <a:t>（</a:t>
            </a:r>
            <a:r>
              <a:rPr lang="en-US" altLang="zh-CN" sz="1725" dirty="0"/>
              <a:t>2</a:t>
            </a:r>
            <a:r>
              <a:rPr lang="zh-CN" altLang="en-US" sz="1725" dirty="0"/>
              <a:t>）</a:t>
            </a:r>
            <a:r>
              <a:rPr lang="en-US" altLang="zh-CN" sz="1725" dirty="0"/>
              <a:t> </a:t>
            </a:r>
            <a:r>
              <a:rPr lang="zh-CN" altLang="en-US" sz="1725" dirty="0"/>
              <a:t>基于上述访问序列，虚地址</a:t>
            </a:r>
            <a:r>
              <a:rPr lang="en-US" altLang="zh-CN" sz="1725" dirty="0"/>
              <a:t>1565H</a:t>
            </a:r>
            <a:r>
              <a:rPr lang="zh-CN" altLang="en-US" sz="1725" dirty="0"/>
              <a:t>的物理地址是多少？请说明理由。</a:t>
            </a:r>
            <a:r>
              <a:rPr lang="en-US" altLang="zh-CN" sz="1725" dirty="0"/>
              <a:t>    </a:t>
            </a:r>
            <a:endParaRPr lang="en-US" altLang="zh-CN" sz="1725" dirty="0"/>
          </a:p>
        </p:txBody>
      </p:sp>
      <p:graphicFrame>
        <p:nvGraphicFramePr>
          <p:cNvPr id="6148" name="内容占位符 6147"/>
          <p:cNvGraphicFramePr>
            <a:graphicFrameLocks noGrp="1"/>
          </p:cNvGraphicFramePr>
          <p:nvPr>
            <p:ph sz="half" idx="2"/>
            <p:custDataLst>
              <p:tags r:id="rId1"/>
            </p:custDataLst>
          </p:nvPr>
        </p:nvGraphicFramePr>
        <p:xfrm>
          <a:off x="5543550" y="1052512"/>
          <a:ext cx="2346484" cy="1187769"/>
        </p:xfrm>
        <a:graphic>
          <a:graphicData uri="http://schemas.openxmlformats.org/drawingml/2006/table">
            <a:tbl>
              <a:tblPr/>
              <a:tblGrid>
                <a:gridCol w="572453"/>
                <a:gridCol w="730091"/>
                <a:gridCol w="1043940"/>
              </a:tblGrid>
              <a:tr h="424815">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zh-CN" altLang="en-US" sz="900" b="1" dirty="0">
                          <a:latin typeface="Times New Roman" panose="02020603050405020304" pitchFamily="18" charset="0"/>
                          <a:ea typeface="Times New Roman" panose="02020603050405020304" pitchFamily="18" charset="0"/>
                        </a:rPr>
                        <a:t>页号</a:t>
                      </a:r>
                      <a:endParaRPr lang="zh-CN" altLang="en-US" sz="1400" dirty="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zh-CN" altLang="en-US" sz="900" b="1" dirty="0">
                          <a:latin typeface="Times New Roman" panose="02020603050405020304" pitchFamily="18" charset="0"/>
                          <a:ea typeface="Times New Roman" panose="02020603050405020304" pitchFamily="18" charset="0"/>
                        </a:rPr>
                        <a:t>页框号</a:t>
                      </a:r>
                      <a:endParaRPr lang="zh-CN" altLang="en-US" sz="1400" dirty="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zh-CN" altLang="en-US" sz="900" b="1" dirty="0">
                          <a:latin typeface="Times New Roman" panose="02020603050405020304" pitchFamily="18" charset="0"/>
                          <a:ea typeface="Times New Roman" panose="02020603050405020304" pitchFamily="18" charset="0"/>
                        </a:rPr>
                        <a:t>有效位</a:t>
                      </a:r>
                      <a:endParaRPr lang="zh-CN" altLang="en-US" sz="800" dirty="0">
                        <a:latin typeface="Times New Roman" panose="02020603050405020304" pitchFamily="18" charset="0"/>
                        <a:ea typeface="Times New Roman" panose="02020603050405020304" pitchFamily="18" charset="0"/>
                      </a:endParaRPr>
                    </a:p>
                    <a:p>
                      <a:pPr lvl="0" eaLnBrk="0" hangingPunct="0">
                        <a:spcBef>
                          <a:spcPct val="0"/>
                        </a:spcBef>
                        <a:buNone/>
                      </a:pPr>
                      <a:r>
                        <a:rPr lang="zh-CN" altLang="en-US" sz="900" b="1" dirty="0">
                          <a:latin typeface="Times New Roman" panose="02020603050405020304" pitchFamily="18" charset="0"/>
                          <a:ea typeface="Times New Roman" panose="02020603050405020304" pitchFamily="18" charset="0"/>
                        </a:rPr>
                        <a:t>（存在位）</a:t>
                      </a:r>
                      <a:endParaRPr lang="zh-CN" altLang="en-US" sz="1400" dirty="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318">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0</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101H</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1</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318">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1</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0</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54318">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2</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254H</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spcBef>
                          <a:spcPct val="0"/>
                        </a:spcBef>
                        <a:buNone/>
                      </a:pPr>
                      <a:r>
                        <a:rPr lang="en-US" altLang="zh-CN" sz="900" b="1">
                          <a:latin typeface="Times New Roman" panose="02020603050405020304" pitchFamily="18" charset="0"/>
                          <a:ea typeface="Times New Roman" panose="02020603050405020304" pitchFamily="18" charset="0"/>
                        </a:rPr>
                        <a:t>1</a:t>
                      </a:r>
                      <a:endParaRPr lang="en-US" altLang="zh-CN" sz="1400"/>
                    </a:p>
                  </a:txBody>
                  <a:tcPr marL="68580" marR="68580" marT="34290" marB="3429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pull dir="ru"/>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文本占位符 7169"/>
          <p:cNvSpPr>
            <a:spLocks noGrp="1"/>
          </p:cNvSpPr>
          <p:nvPr>
            <p:ph idx="1"/>
          </p:nvPr>
        </p:nvSpPr>
        <p:spPr>
          <a:xfrm>
            <a:off x="771526" y="1276351"/>
            <a:ext cx="7740491" cy="4724876"/>
          </a:xfrm>
        </p:spPr>
        <p:txBody>
          <a:bodyPr anchor="t" anchorCtr="0">
            <a:normAutofit lnSpcReduction="10000"/>
          </a:bodyPr>
          <a:lstStyle/>
          <a:p>
            <a:pPr marL="0" indent="0" fontAlgn="auto">
              <a:buNone/>
            </a:pPr>
            <a:endParaRPr lang="en-US" altLang="zh-CN" sz="1800"/>
          </a:p>
          <a:p>
            <a:pPr marL="0" indent="0" fontAlgn="auto">
              <a:buNone/>
            </a:pPr>
            <a:r>
              <a:rPr lang="en-US" altLang="zh-CN" sz="1800" dirty="0"/>
              <a:t> </a:t>
            </a:r>
            <a:r>
              <a:rPr lang="zh-CN" altLang="en-US" sz="1800" dirty="0"/>
              <a:t>（</a:t>
            </a:r>
            <a:r>
              <a:rPr lang="en-US" altLang="zh-CN" sz="1800" dirty="0"/>
              <a:t>1</a:t>
            </a:r>
            <a:r>
              <a:rPr lang="zh-CN" altLang="en-US" sz="1800" dirty="0"/>
              <a:t>）根据页式管理的工作原理，应先考虑页面大小，以便将页号和页内位移分解出来。页面大小为</a:t>
            </a:r>
            <a:r>
              <a:rPr lang="en-US" altLang="zh-CN" sz="1800" dirty="0"/>
              <a:t>4KB</a:t>
            </a:r>
            <a:r>
              <a:rPr lang="zh-CN" altLang="en-US" sz="1800" dirty="0"/>
              <a:t>，即</a:t>
            </a:r>
            <a:r>
              <a:rPr lang="en-US" altLang="zh-CN" sz="1800">
                <a:solidFill>
                  <a:srgbClr val="FF0000"/>
                </a:solidFill>
              </a:rPr>
              <a:t>2</a:t>
            </a:r>
            <a:r>
              <a:rPr lang="en-US" altLang="zh-CN" sz="1800" baseline="30000">
                <a:solidFill>
                  <a:srgbClr val="FF0000"/>
                </a:solidFill>
              </a:rPr>
              <a:t>12</a:t>
            </a:r>
            <a:r>
              <a:rPr lang="zh-CN" altLang="en-US" sz="1800" dirty="0"/>
              <a:t>，则得到页内位移占虚地址的</a:t>
            </a:r>
            <a:r>
              <a:rPr lang="zh-CN" altLang="en-US" sz="1800" dirty="0">
                <a:solidFill>
                  <a:srgbClr val="FF0000"/>
                </a:solidFill>
              </a:rPr>
              <a:t>低</a:t>
            </a:r>
            <a:r>
              <a:rPr lang="en-US" altLang="zh-CN" sz="1800" dirty="0">
                <a:solidFill>
                  <a:srgbClr val="FF0000"/>
                </a:solidFill>
              </a:rPr>
              <a:t>12</a:t>
            </a:r>
            <a:r>
              <a:rPr lang="zh-CN" altLang="en-US" sz="1800" dirty="0">
                <a:solidFill>
                  <a:srgbClr val="FF0000"/>
                </a:solidFill>
              </a:rPr>
              <a:t>位</a:t>
            </a:r>
            <a:r>
              <a:rPr lang="zh-CN" altLang="en-US" sz="1800" dirty="0"/>
              <a:t>，页号占剩余高位。可得三个虚地址的页号</a:t>
            </a:r>
            <a:r>
              <a:rPr lang="en-US" altLang="zh-CN" sz="1800" dirty="0"/>
              <a:t>P</a:t>
            </a:r>
            <a:r>
              <a:rPr lang="zh-CN" altLang="en-US" sz="1800" dirty="0"/>
              <a:t>如下（十六进制的一位数字转换成</a:t>
            </a:r>
            <a:r>
              <a:rPr lang="en-US" altLang="zh-CN" sz="1800" dirty="0"/>
              <a:t>4</a:t>
            </a:r>
            <a:r>
              <a:rPr lang="zh-CN" altLang="en-US" sz="1800" dirty="0"/>
              <a:t>位二进制，因此，十六进制的</a:t>
            </a:r>
            <a:r>
              <a:rPr lang="zh-CN" altLang="en-US" sz="1800" dirty="0">
                <a:solidFill>
                  <a:srgbClr val="FF0000"/>
                </a:solidFill>
              </a:rPr>
              <a:t>低三位正好为页内位移，最高位为页号</a:t>
            </a:r>
            <a:r>
              <a:rPr lang="zh-CN" altLang="en-US" sz="1800" dirty="0"/>
              <a:t>）</a:t>
            </a:r>
            <a:endParaRPr lang="en-US" altLang="zh-CN" sz="1800" dirty="0"/>
          </a:p>
          <a:p>
            <a:pPr fontAlgn="auto">
              <a:lnSpc>
                <a:spcPct val="100000"/>
              </a:lnSpc>
            </a:pPr>
            <a:r>
              <a:rPr lang="en-US" altLang="zh-CN" sz="1800" dirty="0">
                <a:latin typeface="仿宋" panose="02010609060101010101" charset="-122"/>
                <a:ea typeface="仿宋" panose="02010609060101010101" charset="-122"/>
                <a:cs typeface="仿宋" panose="02010609060101010101" charset="-122"/>
              </a:rPr>
              <a:t> 2362H</a:t>
            </a:r>
            <a:r>
              <a:rPr lang="zh-CN" altLang="en-US" sz="1800" dirty="0">
                <a:latin typeface="仿宋" panose="02010609060101010101" charset="-122"/>
                <a:ea typeface="仿宋" panose="02010609060101010101" charset="-122"/>
                <a:cs typeface="仿宋" panose="02010609060101010101" charset="-122"/>
              </a:rPr>
              <a:t>：</a:t>
            </a:r>
            <a:r>
              <a:rPr lang="en-US" altLang="zh-CN" sz="1800" dirty="0">
                <a:latin typeface="仿宋" panose="02010609060101010101" charset="-122"/>
                <a:ea typeface="仿宋" panose="02010609060101010101" charset="-122"/>
                <a:cs typeface="仿宋" panose="02010609060101010101" charset="-122"/>
              </a:rPr>
              <a:t>P=2</a:t>
            </a:r>
            <a:r>
              <a:rPr lang="zh-CN" altLang="en-US" sz="1800" dirty="0">
                <a:latin typeface="仿宋" panose="02010609060101010101" charset="-122"/>
                <a:ea typeface="仿宋" panose="02010609060101010101" charset="-122"/>
                <a:cs typeface="仿宋" panose="02010609060101010101" charset="-122"/>
              </a:rPr>
              <a:t>，访问快表</a:t>
            </a:r>
            <a:r>
              <a:rPr lang="en-US" altLang="zh-CN" sz="1800" dirty="0">
                <a:latin typeface="仿宋" panose="02010609060101010101" charset="-122"/>
                <a:ea typeface="仿宋" panose="02010609060101010101" charset="-122"/>
                <a:cs typeface="仿宋" panose="02010609060101010101" charset="-122"/>
              </a:rPr>
              <a:t>10ns</a:t>
            </a:r>
            <a:r>
              <a:rPr lang="zh-CN" altLang="en-US" sz="1800" dirty="0">
                <a:latin typeface="仿宋" panose="02010609060101010101" charset="-122"/>
                <a:ea typeface="仿宋" panose="02010609060101010101" charset="-122"/>
                <a:cs typeface="仿宋" panose="02010609060101010101" charset="-122"/>
              </a:rPr>
              <a:t>，因初始为空，访问页表</a:t>
            </a:r>
            <a:r>
              <a:rPr lang="en-US" altLang="zh-CN" sz="1800" dirty="0">
                <a:latin typeface="仿宋" panose="02010609060101010101" charset="-122"/>
                <a:ea typeface="仿宋" panose="02010609060101010101" charset="-122"/>
                <a:cs typeface="仿宋" panose="02010609060101010101" charset="-122"/>
              </a:rPr>
              <a:t>100ns</a:t>
            </a:r>
            <a:r>
              <a:rPr lang="zh-CN" altLang="en-US" sz="1800" dirty="0">
                <a:latin typeface="仿宋" panose="02010609060101010101" charset="-122"/>
                <a:ea typeface="仿宋" panose="02010609060101010101" charset="-122"/>
                <a:cs typeface="仿宋" panose="02010609060101010101" charset="-122"/>
              </a:rPr>
              <a:t>得到页框号，合成物理地址后访问主存</a:t>
            </a:r>
            <a:r>
              <a:rPr lang="en-US" altLang="zh-CN" sz="1800" dirty="0">
                <a:latin typeface="仿宋" panose="02010609060101010101" charset="-122"/>
                <a:ea typeface="仿宋" panose="02010609060101010101" charset="-122"/>
                <a:cs typeface="仿宋" panose="02010609060101010101" charset="-122"/>
              </a:rPr>
              <a:t>100ns</a:t>
            </a:r>
            <a:r>
              <a:rPr lang="zh-CN" altLang="en-US" sz="1800" dirty="0">
                <a:latin typeface="仿宋" panose="02010609060101010101" charset="-122"/>
                <a:ea typeface="仿宋" panose="02010609060101010101" charset="-122"/>
                <a:cs typeface="仿宋" panose="02010609060101010101" charset="-122"/>
              </a:rPr>
              <a:t>，共计</a:t>
            </a:r>
            <a:r>
              <a:rPr lang="en-US" altLang="zh-CN" sz="1800" dirty="0">
                <a:latin typeface="仿宋" panose="02010609060101010101" charset="-122"/>
                <a:ea typeface="仿宋" panose="02010609060101010101" charset="-122"/>
                <a:cs typeface="仿宋" panose="02010609060101010101" charset="-122"/>
              </a:rPr>
              <a:t>10ns+100ns+100ns=210ns</a:t>
            </a:r>
            <a:r>
              <a:rPr lang="zh-CN" altLang="en-US" sz="1800" dirty="0">
                <a:latin typeface="仿宋" panose="02010609060101010101" charset="-122"/>
                <a:ea typeface="仿宋" panose="02010609060101010101" charset="-122"/>
                <a:cs typeface="仿宋" panose="02010609060101010101" charset="-122"/>
              </a:rPr>
              <a:t>。</a:t>
            </a:r>
            <a:r>
              <a:rPr lang="en-US" altLang="zh-CN" sz="1800" dirty="0">
                <a:latin typeface="仿宋" panose="02010609060101010101" charset="-122"/>
                <a:ea typeface="仿宋" panose="02010609060101010101" charset="-122"/>
                <a:cs typeface="仿宋" panose="02010609060101010101" charset="-122"/>
              </a:rPr>
              <a:t>  </a:t>
            </a:r>
            <a:endParaRPr lang="en-US" altLang="zh-CN" sz="1800" dirty="0">
              <a:latin typeface="仿宋" panose="02010609060101010101" charset="-122"/>
              <a:ea typeface="仿宋" panose="02010609060101010101" charset="-122"/>
              <a:cs typeface="仿宋" panose="02010609060101010101" charset="-122"/>
            </a:endParaRPr>
          </a:p>
          <a:p>
            <a:pPr fontAlgn="auto">
              <a:lnSpc>
                <a:spcPct val="100000"/>
              </a:lnSpc>
            </a:pPr>
            <a:r>
              <a:rPr lang="en-US" altLang="zh-CN" sz="1800" dirty="0">
                <a:latin typeface="仿宋" panose="02010609060101010101" charset="-122"/>
                <a:ea typeface="仿宋" panose="02010609060101010101" charset="-122"/>
                <a:cs typeface="仿宋" panose="02010609060101010101" charset="-122"/>
              </a:rPr>
              <a:t> 1565H</a:t>
            </a:r>
            <a:r>
              <a:rPr lang="zh-CN" altLang="en-US" sz="1800" dirty="0">
                <a:latin typeface="仿宋" panose="02010609060101010101" charset="-122"/>
                <a:ea typeface="仿宋" panose="02010609060101010101" charset="-122"/>
                <a:cs typeface="仿宋" panose="02010609060101010101" charset="-122"/>
              </a:rPr>
              <a:t>：</a:t>
            </a:r>
            <a:r>
              <a:rPr lang="en-US" altLang="zh-CN" sz="1800" dirty="0">
                <a:latin typeface="仿宋" panose="02010609060101010101" charset="-122"/>
                <a:ea typeface="仿宋" panose="02010609060101010101" charset="-122"/>
                <a:cs typeface="仿宋" panose="02010609060101010101" charset="-122"/>
              </a:rPr>
              <a:t>P=1</a:t>
            </a:r>
            <a:r>
              <a:rPr lang="zh-CN" altLang="en-US" sz="1800" dirty="0">
                <a:latin typeface="仿宋" panose="02010609060101010101" charset="-122"/>
                <a:ea typeface="仿宋" panose="02010609060101010101" charset="-122"/>
                <a:cs typeface="仿宋" panose="02010609060101010101" charset="-122"/>
              </a:rPr>
              <a:t>，访问快表</a:t>
            </a:r>
            <a:r>
              <a:rPr lang="en-US" altLang="zh-CN" sz="1800" dirty="0">
                <a:latin typeface="仿宋" panose="02010609060101010101" charset="-122"/>
                <a:ea typeface="仿宋" panose="02010609060101010101" charset="-122"/>
                <a:cs typeface="仿宋" panose="02010609060101010101" charset="-122"/>
              </a:rPr>
              <a:t>10ns</a:t>
            </a:r>
            <a:r>
              <a:rPr lang="zh-CN" altLang="en-US" sz="1800" dirty="0">
                <a:latin typeface="仿宋" panose="02010609060101010101" charset="-122"/>
                <a:ea typeface="仿宋" panose="02010609060101010101" charset="-122"/>
                <a:cs typeface="仿宋" panose="02010609060101010101" charset="-122"/>
              </a:rPr>
              <a:t>，落空，访问页表</a:t>
            </a:r>
            <a:r>
              <a:rPr lang="en-US" altLang="zh-CN" sz="1800" dirty="0">
                <a:latin typeface="仿宋" panose="02010609060101010101" charset="-122"/>
                <a:ea typeface="仿宋" panose="02010609060101010101" charset="-122"/>
                <a:cs typeface="仿宋" panose="02010609060101010101" charset="-122"/>
              </a:rPr>
              <a:t>100ns</a:t>
            </a:r>
            <a:r>
              <a:rPr lang="zh-CN" altLang="en-US" sz="1800" dirty="0">
                <a:latin typeface="仿宋" panose="02010609060101010101" charset="-122"/>
                <a:ea typeface="仿宋" panose="02010609060101010101" charset="-122"/>
                <a:cs typeface="仿宋" panose="02010609060101010101" charset="-122"/>
              </a:rPr>
              <a:t>落空，进行缺页中断处理</a:t>
            </a:r>
            <a:r>
              <a:rPr lang="en-US" altLang="zh-CN" sz="1800">
                <a:latin typeface="仿宋" panose="02010609060101010101" charset="-122"/>
                <a:ea typeface="仿宋" panose="02010609060101010101" charset="-122"/>
                <a:cs typeface="仿宋" panose="02010609060101010101" charset="-122"/>
              </a:rPr>
              <a:t>10</a:t>
            </a:r>
            <a:r>
              <a:rPr lang="en-US" altLang="zh-CN" sz="1800" baseline="30000">
                <a:latin typeface="仿宋" panose="02010609060101010101" charset="-122"/>
                <a:ea typeface="仿宋" panose="02010609060101010101" charset="-122"/>
                <a:cs typeface="仿宋" panose="02010609060101010101" charset="-122"/>
              </a:rPr>
              <a:t>8</a:t>
            </a:r>
            <a:r>
              <a:rPr lang="en-US" altLang="zh-CN" sz="1800" dirty="0">
                <a:latin typeface="仿宋" panose="02010609060101010101" charset="-122"/>
                <a:ea typeface="仿宋" panose="02010609060101010101" charset="-122"/>
                <a:cs typeface="仿宋" panose="02010609060101010101" charset="-122"/>
              </a:rPr>
              <a:t>ns</a:t>
            </a:r>
            <a:r>
              <a:rPr lang="zh-CN" altLang="en-US" sz="1800" dirty="0">
                <a:latin typeface="仿宋" panose="02010609060101010101" charset="-122"/>
                <a:ea typeface="仿宋" panose="02010609060101010101" charset="-122"/>
                <a:cs typeface="仿宋" panose="02010609060101010101" charset="-122"/>
              </a:rPr>
              <a:t>，合成物理地址后访问主存</a:t>
            </a:r>
            <a:r>
              <a:rPr lang="en-US" altLang="zh-CN" sz="1800" dirty="0">
                <a:latin typeface="仿宋" panose="02010609060101010101" charset="-122"/>
                <a:ea typeface="仿宋" panose="02010609060101010101" charset="-122"/>
                <a:cs typeface="仿宋" panose="02010609060101010101" charset="-122"/>
              </a:rPr>
              <a:t>100ns</a:t>
            </a:r>
            <a:r>
              <a:rPr lang="zh-CN" altLang="en-US" sz="1800" dirty="0">
                <a:latin typeface="仿宋" panose="02010609060101010101" charset="-122"/>
                <a:ea typeface="仿宋" panose="02010609060101010101" charset="-122"/>
                <a:cs typeface="仿宋" panose="02010609060101010101" charset="-122"/>
              </a:rPr>
              <a:t>，共计</a:t>
            </a:r>
            <a:r>
              <a:rPr lang="en-US" altLang="zh-CN" sz="1800">
                <a:latin typeface="仿宋" panose="02010609060101010101" charset="-122"/>
                <a:ea typeface="仿宋" panose="02010609060101010101" charset="-122"/>
                <a:cs typeface="仿宋" panose="02010609060101010101" charset="-122"/>
              </a:rPr>
              <a:t>10ns+100ns+10</a:t>
            </a:r>
            <a:r>
              <a:rPr lang="en-US" altLang="zh-CN" sz="1800" baseline="30000">
                <a:latin typeface="仿宋" panose="02010609060101010101" charset="-122"/>
                <a:ea typeface="仿宋" panose="02010609060101010101" charset="-122"/>
                <a:cs typeface="仿宋" panose="02010609060101010101" charset="-122"/>
              </a:rPr>
              <a:t>8</a:t>
            </a:r>
            <a:r>
              <a:rPr lang="en-US" altLang="zh-CN" sz="1800">
                <a:latin typeface="仿宋" panose="02010609060101010101" charset="-122"/>
                <a:ea typeface="仿宋" panose="02010609060101010101" charset="-122"/>
                <a:cs typeface="仿宋" panose="02010609060101010101" charset="-122"/>
              </a:rPr>
              <a:t>ns+100ns≈10</a:t>
            </a:r>
            <a:r>
              <a:rPr lang="en-US" altLang="zh-CN" sz="1800" baseline="30000">
                <a:latin typeface="仿宋" panose="02010609060101010101" charset="-122"/>
                <a:ea typeface="仿宋" panose="02010609060101010101" charset="-122"/>
                <a:cs typeface="仿宋" panose="02010609060101010101" charset="-122"/>
              </a:rPr>
              <a:t>8</a:t>
            </a:r>
            <a:r>
              <a:rPr lang="en-US" altLang="zh-CN" sz="1800" dirty="0">
                <a:latin typeface="仿宋" panose="02010609060101010101" charset="-122"/>
                <a:ea typeface="仿宋" panose="02010609060101010101" charset="-122"/>
                <a:cs typeface="仿宋" panose="02010609060101010101" charset="-122"/>
              </a:rPr>
              <a:t>ns</a:t>
            </a:r>
            <a:r>
              <a:rPr lang="zh-CN" altLang="en-US" sz="1800" dirty="0">
                <a:latin typeface="仿宋" panose="02010609060101010101" charset="-122"/>
                <a:ea typeface="仿宋" panose="02010609060101010101" charset="-122"/>
                <a:cs typeface="仿宋" panose="02010609060101010101" charset="-122"/>
              </a:rPr>
              <a:t>。</a:t>
            </a:r>
            <a:r>
              <a:rPr lang="en-US" altLang="zh-CN" sz="1800" dirty="0">
                <a:latin typeface="仿宋" panose="02010609060101010101" charset="-122"/>
                <a:ea typeface="仿宋" panose="02010609060101010101" charset="-122"/>
                <a:cs typeface="仿宋" panose="02010609060101010101" charset="-122"/>
              </a:rPr>
              <a:t>  </a:t>
            </a:r>
            <a:endParaRPr lang="en-US" altLang="zh-CN" sz="1800" dirty="0">
              <a:latin typeface="仿宋" panose="02010609060101010101" charset="-122"/>
              <a:ea typeface="仿宋" panose="02010609060101010101" charset="-122"/>
              <a:cs typeface="仿宋" panose="02010609060101010101" charset="-122"/>
            </a:endParaRPr>
          </a:p>
          <a:p>
            <a:pPr fontAlgn="auto">
              <a:lnSpc>
                <a:spcPct val="100000"/>
              </a:lnSpc>
            </a:pPr>
            <a:r>
              <a:rPr lang="en-US" altLang="zh-CN" sz="1800" dirty="0">
                <a:latin typeface="仿宋" panose="02010609060101010101" charset="-122"/>
                <a:ea typeface="仿宋" panose="02010609060101010101" charset="-122"/>
                <a:cs typeface="仿宋" panose="02010609060101010101" charset="-122"/>
              </a:rPr>
              <a:t> 25A5H</a:t>
            </a:r>
            <a:r>
              <a:rPr lang="zh-CN" altLang="en-US" sz="1800" dirty="0">
                <a:latin typeface="仿宋" panose="02010609060101010101" charset="-122"/>
                <a:ea typeface="仿宋" panose="02010609060101010101" charset="-122"/>
                <a:cs typeface="仿宋" panose="02010609060101010101" charset="-122"/>
              </a:rPr>
              <a:t>：</a:t>
            </a:r>
            <a:r>
              <a:rPr lang="en-US" altLang="zh-CN" sz="1800" dirty="0">
                <a:latin typeface="仿宋" panose="02010609060101010101" charset="-122"/>
                <a:ea typeface="仿宋" panose="02010609060101010101" charset="-122"/>
                <a:cs typeface="仿宋" panose="02010609060101010101" charset="-122"/>
              </a:rPr>
              <a:t>P=2</a:t>
            </a:r>
            <a:r>
              <a:rPr lang="zh-CN" altLang="en-US" sz="1800" dirty="0">
                <a:latin typeface="仿宋" panose="02010609060101010101" charset="-122"/>
                <a:ea typeface="仿宋" panose="02010609060101010101" charset="-122"/>
                <a:cs typeface="仿宋" panose="02010609060101010101" charset="-122"/>
              </a:rPr>
              <a:t>，访问快表，因第一次访问已将该页号放入快表，因此花费</a:t>
            </a:r>
            <a:r>
              <a:rPr lang="en-US" altLang="zh-CN" sz="1800" dirty="0">
                <a:latin typeface="仿宋" panose="02010609060101010101" charset="-122"/>
                <a:ea typeface="仿宋" panose="02010609060101010101" charset="-122"/>
                <a:cs typeface="仿宋" panose="02010609060101010101" charset="-122"/>
              </a:rPr>
              <a:t>10ns</a:t>
            </a:r>
            <a:r>
              <a:rPr lang="zh-CN" altLang="en-US" sz="1800" dirty="0">
                <a:latin typeface="仿宋" panose="02010609060101010101" charset="-122"/>
                <a:ea typeface="仿宋" panose="02010609060101010101" charset="-122"/>
                <a:cs typeface="仿宋" panose="02010609060101010101" charset="-122"/>
              </a:rPr>
              <a:t>便可合成物理地址，访问主存</a:t>
            </a:r>
            <a:r>
              <a:rPr lang="en-US" altLang="zh-CN" sz="1800" dirty="0">
                <a:latin typeface="仿宋" panose="02010609060101010101" charset="-122"/>
                <a:ea typeface="仿宋" panose="02010609060101010101" charset="-122"/>
                <a:cs typeface="仿宋" panose="02010609060101010101" charset="-122"/>
              </a:rPr>
              <a:t>100ns</a:t>
            </a:r>
            <a:r>
              <a:rPr lang="zh-CN" altLang="en-US" sz="1800" dirty="0">
                <a:latin typeface="仿宋" panose="02010609060101010101" charset="-122"/>
                <a:ea typeface="仿宋" panose="02010609060101010101" charset="-122"/>
                <a:cs typeface="仿宋" panose="02010609060101010101" charset="-122"/>
              </a:rPr>
              <a:t>，共计</a:t>
            </a:r>
            <a:r>
              <a:rPr lang="en-US" altLang="zh-CN" sz="1800" dirty="0">
                <a:latin typeface="仿宋" panose="02010609060101010101" charset="-122"/>
                <a:ea typeface="仿宋" panose="02010609060101010101" charset="-122"/>
                <a:cs typeface="仿宋" panose="02010609060101010101" charset="-122"/>
              </a:rPr>
              <a:t>10ns+100ns=110ns</a:t>
            </a:r>
            <a:r>
              <a:rPr lang="zh-CN" altLang="en-US" sz="1800" dirty="0">
                <a:latin typeface="仿宋" panose="02010609060101010101" charset="-122"/>
                <a:ea typeface="仿宋" panose="02010609060101010101" charset="-122"/>
                <a:cs typeface="仿宋" panose="02010609060101010101" charset="-122"/>
              </a:rPr>
              <a:t>。</a:t>
            </a:r>
            <a:r>
              <a:rPr lang="en-US" altLang="zh-CN" sz="1800" dirty="0">
                <a:latin typeface="仿宋" panose="02010609060101010101" charset="-122"/>
                <a:ea typeface="仿宋" panose="02010609060101010101" charset="-122"/>
                <a:cs typeface="仿宋" panose="02010609060101010101" charset="-122"/>
              </a:rPr>
              <a:t>  </a:t>
            </a:r>
            <a:endParaRPr lang="en-US" altLang="zh-CN" sz="1800" dirty="0">
              <a:latin typeface="仿宋" panose="02010609060101010101" charset="-122"/>
              <a:ea typeface="仿宋" panose="02010609060101010101" charset="-122"/>
              <a:cs typeface="仿宋" panose="02010609060101010101" charset="-122"/>
            </a:endParaRPr>
          </a:p>
          <a:p>
            <a:pPr fontAlgn="auto">
              <a:lnSpc>
                <a:spcPct val="100000"/>
              </a:lnSpc>
            </a:pPr>
            <a:r>
              <a:rPr lang="zh-CN" altLang="en-US" sz="1800" dirty="0">
                <a:sym typeface="+mn-ea"/>
              </a:rPr>
              <a:t>（</a:t>
            </a:r>
            <a:r>
              <a:rPr lang="en-US" altLang="zh-CN" sz="1800" dirty="0">
                <a:sym typeface="+mn-ea"/>
              </a:rPr>
              <a:t>2</a:t>
            </a:r>
            <a:r>
              <a:rPr lang="zh-CN" altLang="en-US" sz="1800" dirty="0">
                <a:sym typeface="+mn-ea"/>
              </a:rPr>
              <a:t>）当访问虚地址</a:t>
            </a:r>
            <a:r>
              <a:rPr lang="en-US" altLang="zh-CN" sz="1800" dirty="0">
                <a:sym typeface="+mn-ea"/>
              </a:rPr>
              <a:t>1565H</a:t>
            </a:r>
            <a:r>
              <a:rPr lang="zh-CN" altLang="en-US" sz="1800" dirty="0">
                <a:sym typeface="+mn-ea"/>
              </a:rPr>
              <a:t>时，产生缺页中断，合法驻留集为</a:t>
            </a:r>
            <a:r>
              <a:rPr lang="en-US" altLang="zh-CN" sz="1800" dirty="0">
                <a:sym typeface="+mn-ea"/>
              </a:rPr>
              <a:t>2</a:t>
            </a:r>
            <a:r>
              <a:rPr lang="zh-CN" altLang="en-US" sz="1800" dirty="0">
                <a:sym typeface="+mn-ea"/>
              </a:rPr>
              <a:t>，必须从页表中淘汰一个页面，根据题目的置换算法，应淘汰</a:t>
            </a:r>
            <a:r>
              <a:rPr lang="en-US" altLang="zh-CN" sz="1800" dirty="0">
                <a:sym typeface="+mn-ea"/>
              </a:rPr>
              <a:t>0</a:t>
            </a:r>
            <a:r>
              <a:rPr lang="zh-CN" altLang="en-US" sz="1800" dirty="0">
                <a:sym typeface="+mn-ea"/>
              </a:rPr>
              <a:t>号页面，因此</a:t>
            </a:r>
            <a:r>
              <a:rPr lang="en-US" altLang="zh-CN" sz="1800" dirty="0">
                <a:sym typeface="+mn-ea"/>
              </a:rPr>
              <a:t>1565H</a:t>
            </a:r>
            <a:r>
              <a:rPr lang="zh-CN" altLang="en-US" sz="1800" dirty="0">
                <a:sym typeface="+mn-ea"/>
              </a:rPr>
              <a:t>的对应页框号为</a:t>
            </a:r>
            <a:r>
              <a:rPr lang="en-US" altLang="zh-CN" sz="1800" dirty="0">
                <a:sym typeface="+mn-ea"/>
              </a:rPr>
              <a:t>101H</a:t>
            </a:r>
            <a:r>
              <a:rPr lang="zh-CN" altLang="en-US" sz="1800" dirty="0">
                <a:sym typeface="+mn-ea"/>
              </a:rPr>
              <a:t>。由此可得</a:t>
            </a:r>
            <a:r>
              <a:rPr lang="en-US" altLang="zh-CN" sz="1800" dirty="0">
                <a:sym typeface="+mn-ea"/>
              </a:rPr>
              <a:t>1565H</a:t>
            </a:r>
            <a:r>
              <a:rPr lang="zh-CN" altLang="en-US" sz="1800" dirty="0">
                <a:sym typeface="+mn-ea"/>
              </a:rPr>
              <a:t>的物理地址为</a:t>
            </a:r>
            <a:r>
              <a:rPr lang="en-US" altLang="zh-CN" sz="1800" dirty="0">
                <a:sym typeface="+mn-ea"/>
              </a:rPr>
              <a:t>101565H</a:t>
            </a:r>
            <a:r>
              <a:rPr lang="zh-CN" altLang="en-US" sz="1800" dirty="0">
                <a:sym typeface="+mn-ea"/>
              </a:rPr>
              <a:t>。</a:t>
            </a:r>
            <a:r>
              <a:rPr lang="en-US" altLang="zh-CN" sz="1800" dirty="0">
                <a:sym typeface="+mn-ea"/>
              </a:rPr>
              <a:t>  </a:t>
            </a:r>
            <a:endParaRPr lang="en-US" altLang="zh-CN" sz="1800" dirty="0"/>
          </a:p>
          <a:p>
            <a:pPr fontAlgn="auto">
              <a:lnSpc>
                <a:spcPct val="100000"/>
              </a:lnSpc>
            </a:pPr>
            <a:endParaRPr lang="en-US" altLang="zh-CN" sz="1800" dirty="0"/>
          </a:p>
          <a:p>
            <a:pPr fontAlgn="auto">
              <a:lnSpc>
                <a:spcPct val="100000"/>
              </a:lnSpc>
            </a:pPr>
            <a:endParaRPr lang="en-US" altLang="zh-CN" sz="1800" dirty="0"/>
          </a:p>
        </p:txBody>
      </p:sp>
    </p:spTree>
  </p:cSld>
  <p:clrMapOvr>
    <a:masterClrMapping/>
  </p:clrMapOvr>
  <p:transition spd="slow">
    <p:pull dir="ru"/>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cs typeface="+mn-ea"/>
                <a:sym typeface="+mn-lt"/>
              </a:rPr>
              <a:t>LRU</a:t>
            </a:r>
            <a:r>
              <a:rPr lang="zh-CN" altLang="en-US" sz="2100" b="1" dirty="0">
                <a:solidFill>
                  <a:schemeClr val="bg1"/>
                </a:solidFill>
                <a:cs typeface="+mn-ea"/>
                <a:sym typeface="+mn-lt"/>
              </a:rPr>
              <a:t>算法的硬件支持</a:t>
            </a:r>
            <a:endParaRPr lang="zh-CN" altLang="en-US" sz="2100" b="1" dirty="0">
              <a:solidFill>
                <a:schemeClr val="bg1"/>
              </a:solidFill>
              <a:cs typeface="+mn-ea"/>
              <a:sym typeface="+mn-lt"/>
            </a:endParaRPr>
          </a:p>
        </p:txBody>
      </p:sp>
      <p:grpSp>
        <p:nvGrpSpPr>
          <p:cNvPr id="6" name="272399"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469583" y="1402081"/>
            <a:ext cx="7906826" cy="2800826"/>
            <a:chOff x="660400" y="1469968"/>
            <a:chExt cx="7896871" cy="3734183"/>
          </a:xfrm>
        </p:grpSpPr>
        <p:grpSp>
          <p:nvGrpSpPr>
            <p:cNvPr id="10" name="iṡļiḓe"/>
            <p:cNvGrpSpPr/>
            <p:nvPr/>
          </p:nvGrpSpPr>
          <p:grpSpPr>
            <a:xfrm>
              <a:off x="660400" y="1469968"/>
              <a:ext cx="7896871" cy="1990363"/>
              <a:chOff x="660400" y="1469968"/>
              <a:chExt cx="7896871" cy="1990363"/>
            </a:xfrm>
          </p:grpSpPr>
          <p:grpSp>
            <p:nvGrpSpPr>
              <p:cNvPr id="21" name="iSḻíḓè"/>
              <p:cNvGrpSpPr/>
              <p:nvPr/>
            </p:nvGrpSpPr>
            <p:grpSpPr>
              <a:xfrm>
                <a:off x="1530874" y="1562342"/>
                <a:ext cx="7026397" cy="1897989"/>
                <a:chOff x="1592087" y="1562342"/>
                <a:chExt cx="8862047" cy="1897989"/>
              </a:xfrm>
            </p:grpSpPr>
            <p:sp>
              <p:nvSpPr>
                <p:cNvPr id="25" name="îṧľîḋé"/>
                <p:cNvSpPr txBox="1"/>
                <p:nvPr/>
              </p:nvSpPr>
              <p:spPr>
                <a:xfrm>
                  <a:off x="1592243" y="1562342"/>
                  <a:ext cx="8861891" cy="523217"/>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cs typeface="+mn-ea"/>
                      <a:sym typeface="+mn-lt"/>
                    </a:rPr>
                    <a:t>寄存器：为内存中的每个页面设置一个移位寄存器</a:t>
                  </a:r>
                  <a:endParaRPr lang="zh-CN" altLang="en-US" dirty="0">
                    <a:cs typeface="+mn-ea"/>
                    <a:sym typeface="+mn-lt"/>
                  </a:endParaRPr>
                </a:p>
              </p:txBody>
            </p:sp>
            <p:sp>
              <p:nvSpPr>
                <p:cNvPr id="26" name="íşļîḓé"/>
                <p:cNvSpPr/>
                <p:nvPr/>
              </p:nvSpPr>
              <p:spPr bwMode="auto">
                <a:xfrm>
                  <a:off x="1592087" y="2085794"/>
                  <a:ext cx="8861891" cy="137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57175" lvl="1" indent="-257175">
                    <a:lnSpc>
                      <a:spcPct val="132000"/>
                    </a:lnSpc>
                    <a:buClr>
                      <a:schemeClr val="accent4">
                        <a:lumMod val="40000"/>
                        <a:lumOff val="60000"/>
                      </a:schemeClr>
                    </a:buClr>
                    <a:buFont typeface="Wingdings" panose="05000000000000000000" pitchFamily="2" charset="2"/>
                    <a:buChar char="Ø"/>
                  </a:pPr>
                  <a:r>
                    <a:rPr lang="zh-CN" altLang="en-US" dirty="0">
                      <a:cs typeface="+mn-ea"/>
                      <a:sym typeface="+mn-lt"/>
                    </a:rPr>
                    <a:t>被访问的页面对应寄存器的</a:t>
                  </a:r>
                  <a:r>
                    <a:rPr lang="en-US" altLang="zh-CN" dirty="0">
                      <a:cs typeface="+mn-ea"/>
                      <a:sym typeface="+mn-lt"/>
                    </a:rPr>
                    <a:t>Rn-1</a:t>
                  </a:r>
                  <a:r>
                    <a:rPr lang="zh-CN" altLang="en-US" dirty="0">
                      <a:cs typeface="+mn-ea"/>
                      <a:sym typeface="+mn-lt"/>
                    </a:rPr>
                    <a:t>位置为</a:t>
                  </a:r>
                  <a:r>
                    <a:rPr lang="en-US" altLang="zh-CN" dirty="0">
                      <a:cs typeface="+mn-ea"/>
                      <a:sym typeface="+mn-lt"/>
                    </a:rPr>
                    <a:t>1</a:t>
                  </a:r>
                  <a:r>
                    <a:rPr lang="zh-CN" altLang="en-US" dirty="0">
                      <a:cs typeface="+mn-ea"/>
                      <a:sym typeface="+mn-lt"/>
                    </a:rPr>
                    <a:t>，定时右移</a:t>
                  </a:r>
                  <a:endParaRPr lang="zh-CN" altLang="en-US" dirty="0">
                    <a:cs typeface="+mn-ea"/>
                    <a:sym typeface="+mn-lt"/>
                  </a:endParaRPr>
                </a:p>
                <a:p>
                  <a:pPr marL="257175" lvl="1" indent="-257175">
                    <a:lnSpc>
                      <a:spcPct val="132000"/>
                    </a:lnSpc>
                    <a:buClr>
                      <a:schemeClr val="accent4">
                        <a:lumMod val="40000"/>
                        <a:lumOff val="60000"/>
                      </a:schemeClr>
                    </a:buClr>
                    <a:buFont typeface="Wingdings" panose="05000000000000000000" pitchFamily="2" charset="2"/>
                    <a:buChar char="Ø"/>
                  </a:pPr>
                  <a:r>
                    <a:rPr lang="zh-CN" altLang="en-US" dirty="0">
                      <a:solidFill>
                        <a:srgbClr val="FF0000"/>
                      </a:solidFill>
                      <a:cs typeface="+mn-ea"/>
                      <a:sym typeface="+mn-lt"/>
                    </a:rPr>
                    <a:t>具有最小数值的寄存器所对应的页面为淘汰页</a:t>
                  </a:r>
                  <a:endParaRPr lang="zh-CN" altLang="en-US" dirty="0">
                    <a:solidFill>
                      <a:srgbClr val="FF0000"/>
                    </a:solidFill>
                    <a:cs typeface="+mn-ea"/>
                    <a:sym typeface="+mn-lt"/>
                  </a:endParaRPr>
                </a:p>
              </p:txBody>
            </p:sp>
          </p:grpSp>
          <p:grpSp>
            <p:nvGrpSpPr>
              <p:cNvPr id="22" name="ïS1íḋé"/>
              <p:cNvGrpSpPr/>
              <p:nvPr/>
            </p:nvGrpSpPr>
            <p:grpSpPr>
              <a:xfrm>
                <a:off x="660400" y="1469968"/>
                <a:ext cx="733394" cy="733394"/>
                <a:chOff x="660400" y="1469968"/>
                <a:chExt cx="733394" cy="733394"/>
              </a:xfrm>
            </p:grpSpPr>
            <p:sp>
              <p:nvSpPr>
                <p:cNvPr id="23" name="islîḋe"/>
                <p:cNvSpPr/>
                <p:nvPr/>
              </p:nvSpPr>
              <p:spPr>
                <a:xfrm>
                  <a:off x="660400" y="1469968"/>
                  <a:ext cx="733394" cy="733394"/>
                </a:xfrm>
                <a:prstGeom prst="ellipse">
                  <a:avLst/>
                </a:prstGeom>
                <a:solidFill>
                  <a:schemeClr val="accent1"/>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200" dirty="0">
                    <a:solidFill>
                      <a:schemeClr val="bg1"/>
                    </a:solidFill>
                    <a:cs typeface="+mn-ea"/>
                    <a:sym typeface="+mn-lt"/>
                  </a:endParaRPr>
                </a:p>
              </p:txBody>
            </p:sp>
            <p:sp>
              <p:nvSpPr>
                <p:cNvPr id="24" name="îŝlîďe"/>
                <p:cNvSpPr/>
                <p:nvPr/>
              </p:nvSpPr>
              <p:spPr>
                <a:xfrm>
                  <a:off x="797603" y="1654839"/>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725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cs typeface="+mn-ea"/>
                    <a:sym typeface="+mn-lt"/>
                  </a:endParaRPr>
                </a:p>
              </p:txBody>
            </p:sp>
          </p:grpSp>
        </p:grpSp>
        <p:grpSp>
          <p:nvGrpSpPr>
            <p:cNvPr id="11" name="iŝļïḓê"/>
            <p:cNvGrpSpPr/>
            <p:nvPr/>
          </p:nvGrpSpPr>
          <p:grpSpPr>
            <a:xfrm>
              <a:off x="660400" y="3662045"/>
              <a:ext cx="7071684" cy="1542106"/>
              <a:chOff x="660400" y="1270701"/>
              <a:chExt cx="7071684" cy="1542106"/>
            </a:xfrm>
          </p:grpSpPr>
          <p:grpSp>
            <p:nvGrpSpPr>
              <p:cNvPr id="13" name="ïṧļïḓe"/>
              <p:cNvGrpSpPr/>
              <p:nvPr/>
            </p:nvGrpSpPr>
            <p:grpSpPr>
              <a:xfrm>
                <a:off x="1148891" y="1270701"/>
                <a:ext cx="6583193" cy="1542106"/>
                <a:chOff x="1110310" y="1270701"/>
                <a:chExt cx="8303055" cy="1542106"/>
              </a:xfrm>
            </p:grpSpPr>
            <p:sp>
              <p:nvSpPr>
                <p:cNvPr id="18" name="ïšļíďè"/>
                <p:cNvSpPr txBox="1"/>
                <p:nvPr/>
              </p:nvSpPr>
              <p:spPr>
                <a:xfrm>
                  <a:off x="1110310" y="1270701"/>
                  <a:ext cx="8303055" cy="389423"/>
                </a:xfrm>
                <a:prstGeom prst="rect">
                  <a:avLst/>
                </a:prstGeom>
                <a:noFill/>
              </p:spPr>
              <p:txBody>
                <a:bodyPr wrap="square" lIns="68580" tIns="34290" rIns="68580" bIns="3429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dirty="0">
                      <a:cs typeface="+mn-ea"/>
                      <a:sym typeface="+mn-lt"/>
                    </a:rPr>
                    <a:t>栈：保存当前使用的各个页面的页面号</a:t>
                  </a:r>
                  <a:endParaRPr lang="zh-CN" altLang="en-US" dirty="0">
                    <a:cs typeface="+mn-ea"/>
                    <a:sym typeface="+mn-lt"/>
                  </a:endParaRPr>
                </a:p>
              </p:txBody>
            </p:sp>
            <p:sp>
              <p:nvSpPr>
                <p:cNvPr id="19" name="íşľíḑè"/>
                <p:cNvSpPr/>
                <p:nvPr/>
              </p:nvSpPr>
              <p:spPr bwMode="auto">
                <a:xfrm>
                  <a:off x="1419312" y="1726269"/>
                  <a:ext cx="7413448" cy="108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57175" lvl="1" indent="-257175">
                    <a:lnSpc>
                      <a:spcPct val="123000"/>
                    </a:lnSpc>
                    <a:buFont typeface="Wingdings" panose="05000000000000000000" pitchFamily="2" charset="2"/>
                    <a:buChar char="Ø"/>
                  </a:pPr>
                  <a:r>
                    <a:rPr lang="zh-CN" altLang="en-US" dirty="0">
                      <a:cs typeface="+mn-ea"/>
                      <a:sym typeface="+mn-lt"/>
                    </a:rPr>
                    <a:t>被访问的页，移到栈顶</a:t>
                  </a:r>
                  <a:endParaRPr lang="zh-CN" altLang="en-US" dirty="0">
                    <a:cs typeface="+mn-ea"/>
                    <a:sym typeface="+mn-lt"/>
                  </a:endParaRPr>
                </a:p>
                <a:p>
                  <a:pPr marL="257175" lvl="1" indent="-257175">
                    <a:lnSpc>
                      <a:spcPct val="123000"/>
                    </a:lnSpc>
                    <a:buFont typeface="Wingdings" panose="05000000000000000000" pitchFamily="2" charset="2"/>
                    <a:buChar char="Ø"/>
                  </a:pPr>
                  <a:r>
                    <a:rPr lang="zh-CN" altLang="en-US" dirty="0">
                      <a:cs typeface="+mn-ea"/>
                      <a:sym typeface="+mn-lt"/>
                    </a:rPr>
                    <a:t>栈底是最近最久未使用页面的页面号</a:t>
                  </a:r>
                  <a:endParaRPr lang="zh-CN" altLang="en-US" dirty="0">
                    <a:cs typeface="+mn-ea"/>
                    <a:sym typeface="+mn-lt"/>
                  </a:endParaRPr>
                </a:p>
              </p:txBody>
            </p:sp>
          </p:grpSp>
          <p:grpSp>
            <p:nvGrpSpPr>
              <p:cNvPr id="15" name="ïŝľídè"/>
              <p:cNvGrpSpPr/>
              <p:nvPr/>
            </p:nvGrpSpPr>
            <p:grpSpPr>
              <a:xfrm>
                <a:off x="660400" y="1860585"/>
                <a:ext cx="733394" cy="733394"/>
                <a:chOff x="660400" y="1860585"/>
                <a:chExt cx="733394" cy="733394"/>
              </a:xfrm>
            </p:grpSpPr>
            <p:sp>
              <p:nvSpPr>
                <p:cNvPr id="16" name="ïṡľïde"/>
                <p:cNvSpPr/>
                <p:nvPr/>
              </p:nvSpPr>
              <p:spPr>
                <a:xfrm>
                  <a:off x="660400" y="1860585"/>
                  <a:ext cx="733394" cy="733394"/>
                </a:xfrm>
                <a:prstGeom prst="ellipse">
                  <a:avLst/>
                </a:prstGeom>
                <a:solidFill>
                  <a:schemeClr val="tx1">
                    <a:lumMod val="50000"/>
                    <a:lumOff val="50000"/>
                  </a:schemeClr>
                </a:solidFill>
                <a:ln w="1905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200" dirty="0">
                    <a:solidFill>
                      <a:schemeClr val="bg1"/>
                    </a:solidFill>
                    <a:cs typeface="+mn-ea"/>
                    <a:sym typeface="+mn-lt"/>
                  </a:endParaRPr>
                </a:p>
              </p:txBody>
            </p:sp>
            <p:sp>
              <p:nvSpPr>
                <p:cNvPr id="17" name="ïšliḍe"/>
                <p:cNvSpPr/>
                <p:nvPr/>
              </p:nvSpPr>
              <p:spPr>
                <a:xfrm>
                  <a:off x="806481" y="2072090"/>
                  <a:ext cx="381389" cy="346064"/>
                </a:xfrm>
                <a:custGeom>
                  <a:avLst/>
                  <a:gdLst>
                    <a:gd name="connsiteX0" fmla="*/ 116112 w 607919"/>
                    <a:gd name="connsiteY0" fmla="*/ 473652 h 551610"/>
                    <a:gd name="connsiteX1" fmla="*/ 118901 w 607919"/>
                    <a:gd name="connsiteY1" fmla="*/ 480423 h 551610"/>
                    <a:gd name="connsiteX2" fmla="*/ 118901 w 607919"/>
                    <a:gd name="connsiteY2" fmla="*/ 551610 h 551610"/>
                    <a:gd name="connsiteX3" fmla="*/ 55604 w 607919"/>
                    <a:gd name="connsiteY3" fmla="*/ 551610 h 551610"/>
                    <a:gd name="connsiteX4" fmla="*/ 55604 w 607919"/>
                    <a:gd name="connsiteY4" fmla="*/ 540851 h 551610"/>
                    <a:gd name="connsiteX5" fmla="*/ 65255 w 607919"/>
                    <a:gd name="connsiteY5" fmla="*/ 520583 h 551610"/>
                    <a:gd name="connsiteX6" fmla="*/ 83555 w 607919"/>
                    <a:gd name="connsiteY6" fmla="*/ 502317 h 551610"/>
                    <a:gd name="connsiteX7" fmla="*/ 109375 w 607919"/>
                    <a:gd name="connsiteY7" fmla="*/ 476545 h 551610"/>
                    <a:gd name="connsiteX8" fmla="*/ 116112 w 607919"/>
                    <a:gd name="connsiteY8" fmla="*/ 473652 h 551610"/>
                    <a:gd name="connsiteX9" fmla="*/ 199155 w 607919"/>
                    <a:gd name="connsiteY9" fmla="*/ 390799 h 551610"/>
                    <a:gd name="connsiteX10" fmla="*/ 201956 w 607919"/>
                    <a:gd name="connsiteY10" fmla="*/ 397632 h 551610"/>
                    <a:gd name="connsiteX11" fmla="*/ 201956 w 607919"/>
                    <a:gd name="connsiteY11" fmla="*/ 551610 h 551610"/>
                    <a:gd name="connsiteX12" fmla="*/ 145363 w 607919"/>
                    <a:gd name="connsiteY12" fmla="*/ 551610 h 551610"/>
                    <a:gd name="connsiteX13" fmla="*/ 145363 w 607919"/>
                    <a:gd name="connsiteY13" fmla="*/ 454170 h 551610"/>
                    <a:gd name="connsiteX14" fmla="*/ 154879 w 607919"/>
                    <a:gd name="connsiteY14" fmla="*/ 431030 h 551610"/>
                    <a:gd name="connsiteX15" fmla="*/ 192315 w 607919"/>
                    <a:gd name="connsiteY15" fmla="*/ 393630 h 551610"/>
                    <a:gd name="connsiteX16" fmla="*/ 199155 w 607919"/>
                    <a:gd name="connsiteY16" fmla="*/ 390799 h 551610"/>
                    <a:gd name="connsiteX17" fmla="*/ 231082 w 607919"/>
                    <a:gd name="connsiteY17" fmla="*/ 388245 h 551610"/>
                    <a:gd name="connsiteX18" fmla="*/ 237930 w 607919"/>
                    <a:gd name="connsiteY18" fmla="*/ 391091 h 551610"/>
                    <a:gd name="connsiteX19" fmla="*/ 266763 w 607919"/>
                    <a:gd name="connsiteY19" fmla="*/ 419867 h 551610"/>
                    <a:gd name="connsiteX20" fmla="*/ 275915 w 607919"/>
                    <a:gd name="connsiteY20" fmla="*/ 428875 h 551610"/>
                    <a:gd name="connsiteX21" fmla="*/ 284941 w 607919"/>
                    <a:gd name="connsiteY21" fmla="*/ 451520 h 551610"/>
                    <a:gd name="connsiteX22" fmla="*/ 284941 w 607919"/>
                    <a:gd name="connsiteY22" fmla="*/ 551610 h 551610"/>
                    <a:gd name="connsiteX23" fmla="*/ 228277 w 607919"/>
                    <a:gd name="connsiteY23" fmla="*/ 551610 h 551610"/>
                    <a:gd name="connsiteX24" fmla="*/ 228277 w 607919"/>
                    <a:gd name="connsiteY24" fmla="*/ 394969 h 551610"/>
                    <a:gd name="connsiteX25" fmla="*/ 231082 w 607919"/>
                    <a:gd name="connsiteY25" fmla="*/ 388245 h 551610"/>
                    <a:gd name="connsiteX26" fmla="*/ 365148 w 607919"/>
                    <a:gd name="connsiteY26" fmla="*/ 381336 h 551610"/>
                    <a:gd name="connsiteX27" fmla="*/ 367997 w 607919"/>
                    <a:gd name="connsiteY27" fmla="*/ 388122 h 551610"/>
                    <a:gd name="connsiteX28" fmla="*/ 367997 w 607919"/>
                    <a:gd name="connsiteY28" fmla="*/ 551610 h 551610"/>
                    <a:gd name="connsiteX29" fmla="*/ 311262 w 607919"/>
                    <a:gd name="connsiteY29" fmla="*/ 551610 h 551610"/>
                    <a:gd name="connsiteX30" fmla="*/ 311262 w 607919"/>
                    <a:gd name="connsiteY30" fmla="*/ 444661 h 551610"/>
                    <a:gd name="connsiteX31" fmla="*/ 316898 w 607919"/>
                    <a:gd name="connsiteY31" fmla="*/ 425523 h 551610"/>
                    <a:gd name="connsiteX32" fmla="*/ 322534 w 607919"/>
                    <a:gd name="connsiteY32" fmla="*/ 419894 h 551610"/>
                    <a:gd name="connsiteX33" fmla="*/ 358353 w 607919"/>
                    <a:gd name="connsiteY33" fmla="*/ 384120 h 551610"/>
                    <a:gd name="connsiteX34" fmla="*/ 365148 w 607919"/>
                    <a:gd name="connsiteY34" fmla="*/ 381336 h 551610"/>
                    <a:gd name="connsiteX35" fmla="*/ 448177 w 607919"/>
                    <a:gd name="connsiteY35" fmla="*/ 298352 h 551610"/>
                    <a:gd name="connsiteX36" fmla="*/ 450982 w 607919"/>
                    <a:gd name="connsiteY36" fmla="*/ 305139 h 551610"/>
                    <a:gd name="connsiteX37" fmla="*/ 450982 w 607919"/>
                    <a:gd name="connsiteY37" fmla="*/ 551610 h 551610"/>
                    <a:gd name="connsiteX38" fmla="*/ 394318 w 607919"/>
                    <a:gd name="connsiteY38" fmla="*/ 551610 h 551610"/>
                    <a:gd name="connsiteX39" fmla="*/ 394318 w 607919"/>
                    <a:gd name="connsiteY39" fmla="*/ 361815 h 551610"/>
                    <a:gd name="connsiteX40" fmla="*/ 403846 w 607919"/>
                    <a:gd name="connsiteY40" fmla="*/ 338669 h 551610"/>
                    <a:gd name="connsiteX41" fmla="*/ 441329 w 607919"/>
                    <a:gd name="connsiteY41" fmla="*/ 301136 h 551610"/>
                    <a:gd name="connsiteX42" fmla="*/ 448177 w 607919"/>
                    <a:gd name="connsiteY42" fmla="*/ 298352 h 551610"/>
                    <a:gd name="connsiteX43" fmla="*/ 527085 w 607919"/>
                    <a:gd name="connsiteY43" fmla="*/ 219452 h 551610"/>
                    <a:gd name="connsiteX44" fmla="*/ 529874 w 607919"/>
                    <a:gd name="connsiteY44" fmla="*/ 226177 h 551610"/>
                    <a:gd name="connsiteX45" fmla="*/ 529874 w 607919"/>
                    <a:gd name="connsiteY45" fmla="*/ 551610 h 551610"/>
                    <a:gd name="connsiteX46" fmla="*/ 477232 w 607919"/>
                    <a:gd name="connsiteY46" fmla="*/ 551610 h 551610"/>
                    <a:gd name="connsiteX47" fmla="*/ 477232 w 607919"/>
                    <a:gd name="connsiteY47" fmla="*/ 278727 h 551610"/>
                    <a:gd name="connsiteX48" fmla="*/ 486883 w 607919"/>
                    <a:gd name="connsiteY48" fmla="*/ 255580 h 551610"/>
                    <a:gd name="connsiteX49" fmla="*/ 520348 w 607919"/>
                    <a:gd name="connsiteY49" fmla="*/ 222298 h 551610"/>
                    <a:gd name="connsiteX50" fmla="*/ 527085 w 607919"/>
                    <a:gd name="connsiteY50" fmla="*/ 219452 h 551610"/>
                    <a:gd name="connsiteX51" fmla="*/ 387769 w 607919"/>
                    <a:gd name="connsiteY51" fmla="*/ 0 h 551610"/>
                    <a:gd name="connsiteX52" fmla="*/ 580729 w 607919"/>
                    <a:gd name="connsiteY52" fmla="*/ 0 h 551610"/>
                    <a:gd name="connsiteX53" fmla="*/ 607919 w 607919"/>
                    <a:gd name="connsiteY53" fmla="*/ 26022 h 551610"/>
                    <a:gd name="connsiteX54" fmla="*/ 607919 w 607919"/>
                    <a:gd name="connsiteY54" fmla="*/ 219812 h 551610"/>
                    <a:gd name="connsiteX55" fmla="*/ 598271 w 607919"/>
                    <a:gd name="connsiteY55" fmla="*/ 223815 h 551610"/>
                    <a:gd name="connsiteX56" fmla="*/ 530610 w 607919"/>
                    <a:gd name="connsiteY56" fmla="*/ 156258 h 551610"/>
                    <a:gd name="connsiteX57" fmla="*/ 304320 w 607919"/>
                    <a:gd name="connsiteY57" fmla="*/ 382325 h 551610"/>
                    <a:gd name="connsiteX58" fmla="*/ 285024 w 607919"/>
                    <a:gd name="connsiteY58" fmla="*/ 382325 h 551610"/>
                    <a:gd name="connsiteX59" fmla="*/ 216360 w 607919"/>
                    <a:gd name="connsiteY59" fmla="*/ 313767 h 551610"/>
                    <a:gd name="connsiteX60" fmla="*/ 94068 w 607919"/>
                    <a:gd name="connsiteY60" fmla="*/ 435996 h 551610"/>
                    <a:gd name="connsiteX61" fmla="*/ 17260 w 607919"/>
                    <a:gd name="connsiteY61" fmla="*/ 435996 h 551610"/>
                    <a:gd name="connsiteX62" fmla="*/ 15882 w 607919"/>
                    <a:gd name="connsiteY62" fmla="*/ 434745 h 551610"/>
                    <a:gd name="connsiteX63" fmla="*/ 15882 w 607919"/>
                    <a:gd name="connsiteY63" fmla="*/ 358055 h 551610"/>
                    <a:gd name="connsiteX64" fmla="*/ 206837 w 607919"/>
                    <a:gd name="connsiteY64" fmla="*/ 167267 h 551610"/>
                    <a:gd name="connsiteX65" fmla="*/ 226008 w 607919"/>
                    <a:gd name="connsiteY65" fmla="*/ 167267 h 551610"/>
                    <a:gd name="connsiteX66" fmla="*/ 294672 w 607919"/>
                    <a:gd name="connsiteY66" fmla="*/ 235701 h 551610"/>
                    <a:gd name="connsiteX67" fmla="*/ 424481 w 607919"/>
                    <a:gd name="connsiteY67" fmla="*/ 105965 h 551610"/>
                    <a:gd name="connsiteX68" fmla="*/ 452423 w 607919"/>
                    <a:gd name="connsiteY68" fmla="*/ 78192 h 551610"/>
                    <a:gd name="connsiteX69" fmla="*/ 383885 w 607919"/>
                    <a:gd name="connsiteY69" fmla="*/ 9633 h 551610"/>
                    <a:gd name="connsiteX70" fmla="*/ 387769 w 607919"/>
                    <a:gd name="connsiteY70" fmla="*/ 0 h 55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07919" h="551610">
                      <a:moveTo>
                        <a:pt x="116112" y="473652"/>
                      </a:moveTo>
                      <a:cubicBezTo>
                        <a:pt x="117836" y="474356"/>
                        <a:pt x="118901" y="476670"/>
                        <a:pt x="118901" y="480423"/>
                      </a:cubicBezTo>
                      <a:lnTo>
                        <a:pt x="118901" y="551610"/>
                      </a:lnTo>
                      <a:lnTo>
                        <a:pt x="55604" y="551610"/>
                      </a:lnTo>
                      <a:lnTo>
                        <a:pt x="55604" y="540851"/>
                      </a:lnTo>
                      <a:cubicBezTo>
                        <a:pt x="55604" y="534971"/>
                        <a:pt x="59991" y="525838"/>
                        <a:pt x="65255" y="520583"/>
                      </a:cubicBezTo>
                      <a:lnTo>
                        <a:pt x="83555" y="502317"/>
                      </a:lnTo>
                      <a:lnTo>
                        <a:pt x="109375" y="476545"/>
                      </a:lnTo>
                      <a:cubicBezTo>
                        <a:pt x="112007" y="473855"/>
                        <a:pt x="114389" y="472948"/>
                        <a:pt x="116112" y="473652"/>
                      </a:cubicBezTo>
                      <a:close/>
                      <a:moveTo>
                        <a:pt x="199155" y="390799"/>
                      </a:moveTo>
                      <a:cubicBezTo>
                        <a:pt x="200892" y="391534"/>
                        <a:pt x="201956" y="393880"/>
                        <a:pt x="201956" y="397632"/>
                      </a:cubicBezTo>
                      <a:lnTo>
                        <a:pt x="201956" y="551610"/>
                      </a:lnTo>
                      <a:lnTo>
                        <a:pt x="145363" y="551610"/>
                      </a:lnTo>
                      <a:lnTo>
                        <a:pt x="145363" y="454170"/>
                      </a:lnTo>
                      <a:cubicBezTo>
                        <a:pt x="145363" y="446665"/>
                        <a:pt x="149620" y="436283"/>
                        <a:pt x="154879" y="431030"/>
                      </a:cubicBezTo>
                      <a:lnTo>
                        <a:pt x="192315" y="393630"/>
                      </a:lnTo>
                      <a:cubicBezTo>
                        <a:pt x="195007" y="390941"/>
                        <a:pt x="197417" y="390065"/>
                        <a:pt x="199155" y="390799"/>
                      </a:cubicBezTo>
                      <a:close/>
                      <a:moveTo>
                        <a:pt x="231082" y="388245"/>
                      </a:moveTo>
                      <a:cubicBezTo>
                        <a:pt x="232822" y="387525"/>
                        <a:pt x="235235" y="388401"/>
                        <a:pt x="237930" y="391091"/>
                      </a:cubicBezTo>
                      <a:lnTo>
                        <a:pt x="266763" y="419867"/>
                      </a:lnTo>
                      <a:lnTo>
                        <a:pt x="275915" y="428875"/>
                      </a:lnTo>
                      <a:cubicBezTo>
                        <a:pt x="280929" y="433879"/>
                        <a:pt x="284941" y="444013"/>
                        <a:pt x="284941" y="451520"/>
                      </a:cubicBezTo>
                      <a:lnTo>
                        <a:pt x="284941" y="551610"/>
                      </a:lnTo>
                      <a:lnTo>
                        <a:pt x="228277" y="551610"/>
                      </a:lnTo>
                      <a:lnTo>
                        <a:pt x="228277" y="394969"/>
                      </a:lnTo>
                      <a:cubicBezTo>
                        <a:pt x="228277" y="391278"/>
                        <a:pt x="229343" y="388964"/>
                        <a:pt x="231082" y="388245"/>
                      </a:cubicBezTo>
                      <a:close/>
                      <a:moveTo>
                        <a:pt x="365148" y="381336"/>
                      </a:moveTo>
                      <a:cubicBezTo>
                        <a:pt x="366901" y="382055"/>
                        <a:pt x="367997" y="384370"/>
                        <a:pt x="367997" y="388122"/>
                      </a:cubicBezTo>
                      <a:lnTo>
                        <a:pt x="367997" y="551610"/>
                      </a:lnTo>
                      <a:lnTo>
                        <a:pt x="311262" y="551610"/>
                      </a:lnTo>
                      <a:lnTo>
                        <a:pt x="311262" y="444661"/>
                      </a:lnTo>
                      <a:cubicBezTo>
                        <a:pt x="311262" y="437156"/>
                        <a:pt x="313767" y="428650"/>
                        <a:pt x="316898" y="425523"/>
                      </a:cubicBezTo>
                      <a:cubicBezTo>
                        <a:pt x="320029" y="422396"/>
                        <a:pt x="322534" y="419894"/>
                        <a:pt x="322534" y="419894"/>
                      </a:cubicBezTo>
                      <a:lnTo>
                        <a:pt x="358353" y="384120"/>
                      </a:lnTo>
                      <a:cubicBezTo>
                        <a:pt x="360983" y="381493"/>
                        <a:pt x="363394" y="380617"/>
                        <a:pt x="365148" y="381336"/>
                      </a:cubicBezTo>
                      <a:close/>
                      <a:moveTo>
                        <a:pt x="448177" y="298352"/>
                      </a:moveTo>
                      <a:cubicBezTo>
                        <a:pt x="449916" y="299071"/>
                        <a:pt x="450982" y="301386"/>
                        <a:pt x="450982" y="305139"/>
                      </a:cubicBezTo>
                      <a:lnTo>
                        <a:pt x="450982" y="551610"/>
                      </a:lnTo>
                      <a:lnTo>
                        <a:pt x="394318" y="551610"/>
                      </a:lnTo>
                      <a:lnTo>
                        <a:pt x="394318" y="361815"/>
                      </a:lnTo>
                      <a:cubicBezTo>
                        <a:pt x="394318" y="354308"/>
                        <a:pt x="398580" y="343924"/>
                        <a:pt x="403846" y="338669"/>
                      </a:cubicBezTo>
                      <a:lnTo>
                        <a:pt x="441329" y="301136"/>
                      </a:lnTo>
                      <a:cubicBezTo>
                        <a:pt x="444024" y="298508"/>
                        <a:pt x="446438" y="297633"/>
                        <a:pt x="448177" y="298352"/>
                      </a:cubicBezTo>
                      <a:close/>
                      <a:moveTo>
                        <a:pt x="527085" y="219452"/>
                      </a:moveTo>
                      <a:cubicBezTo>
                        <a:pt x="528809" y="220171"/>
                        <a:pt x="529874" y="222486"/>
                        <a:pt x="529874" y="226177"/>
                      </a:cubicBezTo>
                      <a:lnTo>
                        <a:pt x="529874" y="551610"/>
                      </a:lnTo>
                      <a:lnTo>
                        <a:pt x="477232" y="551610"/>
                      </a:lnTo>
                      <a:lnTo>
                        <a:pt x="477232" y="278727"/>
                      </a:lnTo>
                      <a:cubicBezTo>
                        <a:pt x="477232" y="271345"/>
                        <a:pt x="481494" y="260960"/>
                        <a:pt x="486883" y="255580"/>
                      </a:cubicBezTo>
                      <a:lnTo>
                        <a:pt x="520348" y="222298"/>
                      </a:lnTo>
                      <a:cubicBezTo>
                        <a:pt x="522980" y="219608"/>
                        <a:pt x="525362" y="218732"/>
                        <a:pt x="527085" y="219452"/>
                      </a:cubicBezTo>
                      <a:close/>
                      <a:moveTo>
                        <a:pt x="387769" y="0"/>
                      </a:moveTo>
                      <a:lnTo>
                        <a:pt x="580729" y="0"/>
                      </a:lnTo>
                      <a:cubicBezTo>
                        <a:pt x="594512" y="0"/>
                        <a:pt x="607919" y="12135"/>
                        <a:pt x="607919" y="26022"/>
                      </a:cubicBezTo>
                      <a:lnTo>
                        <a:pt x="607919" y="219812"/>
                      </a:lnTo>
                      <a:cubicBezTo>
                        <a:pt x="607919" y="227318"/>
                        <a:pt x="603534" y="229070"/>
                        <a:pt x="598271" y="223815"/>
                      </a:cubicBezTo>
                      <a:lnTo>
                        <a:pt x="530610" y="156258"/>
                      </a:lnTo>
                      <a:lnTo>
                        <a:pt x="304320" y="382325"/>
                      </a:lnTo>
                      <a:cubicBezTo>
                        <a:pt x="298932" y="387580"/>
                        <a:pt x="290412" y="387580"/>
                        <a:pt x="285024" y="382325"/>
                      </a:cubicBezTo>
                      <a:lnTo>
                        <a:pt x="216360" y="313767"/>
                      </a:lnTo>
                      <a:lnTo>
                        <a:pt x="94068" y="435996"/>
                      </a:lnTo>
                      <a:cubicBezTo>
                        <a:pt x="72767" y="457264"/>
                        <a:pt x="38435" y="457264"/>
                        <a:pt x="17260" y="435996"/>
                      </a:cubicBezTo>
                      <a:lnTo>
                        <a:pt x="15882" y="434745"/>
                      </a:lnTo>
                      <a:cubicBezTo>
                        <a:pt x="-5294" y="413477"/>
                        <a:pt x="-5294" y="379198"/>
                        <a:pt x="15882" y="358055"/>
                      </a:cubicBezTo>
                      <a:lnTo>
                        <a:pt x="206837" y="167267"/>
                      </a:lnTo>
                      <a:cubicBezTo>
                        <a:pt x="212100" y="161888"/>
                        <a:pt x="220745" y="161888"/>
                        <a:pt x="226008" y="167267"/>
                      </a:cubicBezTo>
                      <a:lnTo>
                        <a:pt x="294672" y="235701"/>
                      </a:lnTo>
                      <a:lnTo>
                        <a:pt x="424481" y="105965"/>
                      </a:lnTo>
                      <a:lnTo>
                        <a:pt x="452423" y="78192"/>
                      </a:lnTo>
                      <a:lnTo>
                        <a:pt x="383885" y="9633"/>
                      </a:lnTo>
                      <a:cubicBezTo>
                        <a:pt x="378497" y="4379"/>
                        <a:pt x="380376" y="0"/>
                        <a:pt x="387769" y="0"/>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normAutofit fontScale="725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lang="zh-CN" altLang="en-US" sz="1500" b="1" dirty="0">
                    <a:solidFill>
                      <a:schemeClr val="bg1"/>
                    </a:solidFill>
                    <a:cs typeface="+mn-ea"/>
                    <a:sym typeface="+mn-lt"/>
                  </a:endParaRPr>
                </a:p>
              </p:txBody>
            </p:sp>
          </p:grpSp>
        </p:grpSp>
        <p:cxnSp>
          <p:nvCxnSpPr>
            <p:cNvPr id="12" name="直接连接符 11"/>
            <p:cNvCxnSpPr/>
            <p:nvPr/>
          </p:nvCxnSpPr>
          <p:spPr>
            <a:xfrm>
              <a:off x="693366" y="4034536"/>
              <a:ext cx="759663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pic>
        <p:nvPicPr>
          <p:cNvPr id="44034" name="图片 75778" descr="B541"/>
          <p:cNvPicPr>
            <a:picLocks noChangeAspect="1"/>
          </p:cNvPicPr>
          <p:nvPr/>
        </p:nvPicPr>
        <p:blipFill>
          <a:blip r:embed="rId2"/>
          <a:stretch>
            <a:fillRect/>
          </a:stretch>
        </p:blipFill>
        <p:spPr>
          <a:xfrm>
            <a:off x="5176361" y="3489484"/>
            <a:ext cx="3582353" cy="1943100"/>
          </a:xfrm>
          <a:prstGeom prst="rect">
            <a:avLst/>
          </a:prstGeom>
          <a:noFill/>
          <a:ln w="9525">
            <a:noFill/>
          </a:ln>
        </p:spPr>
      </p:pic>
    </p:spTree>
  </p:cSld>
  <p:clrMapOvr>
    <a:masterClrMapping/>
  </p:clrMapOvr>
  <p:transition spd="slow">
    <p:pull dir="ru"/>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最少使用置换算法</a:t>
            </a:r>
            <a:r>
              <a:rPr lang="en-US" altLang="zh-CN" sz="2100" b="1" dirty="0">
                <a:solidFill>
                  <a:schemeClr val="bg1"/>
                </a:solidFill>
                <a:cs typeface="+mn-ea"/>
                <a:sym typeface="+mn-lt"/>
              </a:rPr>
              <a:t>LFU</a:t>
            </a:r>
            <a:endParaRPr lang="zh-CN" altLang="en-US" sz="2100" b="1" dirty="0">
              <a:solidFill>
                <a:schemeClr val="bg1"/>
              </a:solidFill>
              <a:cs typeface="+mn-ea"/>
              <a:sym typeface="+mn-lt"/>
            </a:endParaRPr>
          </a:p>
        </p:txBody>
      </p:sp>
      <p:sp>
        <p:nvSpPr>
          <p:cNvPr id="6" name="íSľïdé"/>
          <p:cNvSpPr/>
          <p:nvPr/>
        </p:nvSpPr>
        <p:spPr>
          <a:xfrm>
            <a:off x="1430195" y="2300872"/>
            <a:ext cx="425777" cy="383952"/>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580" tIns="34290" rIns="68580" bIns="34290" numCol="1" spcCol="1270" anchor="ctr"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733425">
              <a:lnSpc>
                <a:spcPct val="90000"/>
              </a:lnSpc>
              <a:spcAft>
                <a:spcPct val="35000"/>
              </a:spcAft>
            </a:pPr>
            <a:endParaRPr lang="en-US" sz="1650">
              <a:cs typeface="+mn-ea"/>
              <a:sym typeface="+mn-lt"/>
            </a:endParaRPr>
          </a:p>
        </p:txBody>
      </p:sp>
      <p:sp>
        <p:nvSpPr>
          <p:cNvPr id="7" name="ïŝļíḓê"/>
          <p:cNvSpPr/>
          <p:nvPr/>
        </p:nvSpPr>
        <p:spPr bwMode="auto">
          <a:xfrm>
            <a:off x="6516969" y="2774758"/>
            <a:ext cx="417581" cy="41520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accent1"/>
          </a:solidFill>
          <a:ln>
            <a:noFill/>
          </a:ln>
        </p:spPr>
        <p:txBody>
          <a:bodyPr wrap="square" lIns="68580" tIns="34290" rIns="68580" bIns="34290">
            <a:normAutofit/>
          </a:bodyPr>
          <a:lstStyle/>
          <a:p>
            <a:endParaRPr lang="zh-CN" altLang="en-US">
              <a:cs typeface="+mn-ea"/>
              <a:sym typeface="+mn-lt"/>
            </a:endParaRPr>
          </a:p>
        </p:txBody>
      </p:sp>
      <p:sp>
        <p:nvSpPr>
          <p:cNvPr id="8" name="îṧľîdé"/>
          <p:cNvSpPr/>
          <p:nvPr/>
        </p:nvSpPr>
        <p:spPr>
          <a:xfrm>
            <a:off x="2959087" y="1988945"/>
            <a:ext cx="3026201" cy="1571625"/>
          </a:xfrm>
          <a:prstGeom prst="leftRightRibbon">
            <a:avLst>
              <a:gd name="adj1" fmla="val 50000"/>
              <a:gd name="adj2" fmla="val 50000"/>
              <a:gd name="adj3" fmla="val 33333"/>
            </a:avLst>
          </a:prstGeom>
          <a:solidFill>
            <a:schemeClr val="bg1">
              <a:lumMod val="8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zh-CN" altLang="en-US">
              <a:cs typeface="+mn-ea"/>
              <a:sym typeface="+mn-lt"/>
            </a:endParaRPr>
          </a:p>
        </p:txBody>
      </p:sp>
      <p:sp>
        <p:nvSpPr>
          <p:cNvPr id="9" name="内容占位符 2"/>
          <p:cNvSpPr txBox="1"/>
          <p:nvPr/>
        </p:nvSpPr>
        <p:spPr>
          <a:xfrm>
            <a:off x="671027" y="2774757"/>
            <a:ext cx="2824556" cy="231320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435"/>
              </a:spcBef>
              <a:buNone/>
              <a:defRPr/>
            </a:pPr>
            <a:r>
              <a:rPr lang="zh-CN" altLang="en-US" dirty="0">
                <a:cs typeface="+mn-ea"/>
                <a:sym typeface="+mn-lt"/>
              </a:rPr>
              <a:t>为内存中的每个页面设置一个移位寄存器，用来记录该页面的被访问频率</a:t>
            </a:r>
            <a:endParaRPr lang="zh-CN" altLang="en-US" dirty="0">
              <a:cs typeface="+mn-ea"/>
              <a:sym typeface="+mn-lt"/>
            </a:endParaRPr>
          </a:p>
        </p:txBody>
      </p:sp>
      <p:sp>
        <p:nvSpPr>
          <p:cNvPr id="10" name="内容占位符 2"/>
          <p:cNvSpPr txBox="1"/>
          <p:nvPr/>
        </p:nvSpPr>
        <p:spPr>
          <a:xfrm>
            <a:off x="5772150" y="3283534"/>
            <a:ext cx="3046562" cy="8362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2000"/>
              </a:lnSpc>
              <a:spcBef>
                <a:spcPts val="435"/>
              </a:spcBef>
              <a:buNone/>
              <a:defRPr/>
            </a:pPr>
            <a:r>
              <a:rPr lang="en-US" altLang="zh-CN" dirty="0">
                <a:cs typeface="+mn-ea"/>
                <a:sym typeface="+mn-lt"/>
              </a:rPr>
              <a:t>LFU </a:t>
            </a:r>
            <a:r>
              <a:rPr lang="zh-CN" altLang="en-US" dirty="0">
                <a:cs typeface="+mn-ea"/>
                <a:sym typeface="+mn-lt"/>
              </a:rPr>
              <a:t>选择在</a:t>
            </a:r>
            <a:r>
              <a:rPr lang="zh-CN" altLang="en-US" dirty="0">
                <a:solidFill>
                  <a:srgbClr val="FF0000"/>
                </a:solidFill>
                <a:cs typeface="+mn-ea"/>
                <a:sym typeface="+mn-lt"/>
              </a:rPr>
              <a:t>最近时期使用最少的页面</a:t>
            </a:r>
            <a:r>
              <a:rPr lang="zh-CN" altLang="en-US" dirty="0">
                <a:cs typeface="+mn-ea"/>
                <a:sym typeface="+mn-lt"/>
              </a:rPr>
              <a:t>作为淘汰页</a:t>
            </a:r>
            <a:endParaRPr lang="zh-CN" altLang="en-US" dirty="0">
              <a:cs typeface="+mn-ea"/>
              <a:sym typeface="+mn-lt"/>
            </a:endParaRPr>
          </a:p>
        </p:txBody>
      </p:sp>
    </p:spTree>
  </p:cSld>
  <p:clrMapOvr>
    <a:masterClrMapping/>
  </p:clrMapOvr>
  <p:transition spd="slow">
    <p:pull dir="ru"/>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en-US" altLang="zh-CN" sz="2100" b="1" dirty="0">
                <a:solidFill>
                  <a:schemeClr val="bg1"/>
                </a:solidFill>
                <a:cs typeface="+mn-ea"/>
                <a:sym typeface="+mn-lt"/>
              </a:rPr>
              <a:t>Clock</a:t>
            </a:r>
            <a:r>
              <a:rPr lang="zh-CN" altLang="en-US" sz="2100" b="1" dirty="0">
                <a:solidFill>
                  <a:schemeClr val="bg1"/>
                </a:solidFill>
                <a:cs typeface="+mn-ea"/>
                <a:sym typeface="+mn-lt"/>
              </a:rPr>
              <a:t>置换算法</a:t>
            </a:r>
            <a:endParaRPr lang="zh-CN" altLang="en-US" sz="2100" b="1" dirty="0">
              <a:solidFill>
                <a:schemeClr val="bg1"/>
              </a:solidFill>
              <a:cs typeface="+mn-ea"/>
              <a:sym typeface="+mn-lt"/>
            </a:endParaRPr>
          </a:p>
        </p:txBody>
      </p:sp>
      <p:sp>
        <p:nvSpPr>
          <p:cNvPr id="11" name="矩形 10"/>
          <p:cNvSpPr/>
          <p:nvPr/>
        </p:nvSpPr>
        <p:spPr>
          <a:xfrm>
            <a:off x="1094107" y="1634954"/>
            <a:ext cx="6995669" cy="968977"/>
          </a:xfrm>
          <a:prstGeom prst="rect">
            <a:avLst/>
          </a:prstGeom>
        </p:spPr>
        <p:txBody>
          <a:bodyPr wrap="square">
            <a:noAutofit/>
          </a:bodyPr>
          <a:lstStyle/>
          <a:p>
            <a:pPr>
              <a:lnSpc>
                <a:spcPct val="132000"/>
              </a:lnSpc>
              <a:spcBef>
                <a:spcPts val="450"/>
              </a:spcBef>
              <a:spcAft>
                <a:spcPts val="450"/>
              </a:spcAft>
            </a:pPr>
            <a:r>
              <a:rPr lang="zh-CN" altLang="en-US" dirty="0">
                <a:cs typeface="+mn-ea"/>
                <a:sym typeface="+mn-lt"/>
              </a:rPr>
              <a:t>时钟置换法：又称最近未用</a:t>
            </a:r>
            <a:r>
              <a:rPr lang="en-US" altLang="zh-CN" dirty="0">
                <a:cs typeface="+mn-ea"/>
                <a:sym typeface="+mn-lt"/>
              </a:rPr>
              <a:t>(NRU)</a:t>
            </a:r>
            <a:r>
              <a:rPr lang="zh-CN" altLang="en-US" dirty="0">
                <a:cs typeface="+mn-ea"/>
                <a:sym typeface="+mn-lt"/>
              </a:rPr>
              <a:t>、第二次机会页面置换算法</a:t>
            </a:r>
            <a:endParaRPr lang="zh-CN" altLang="en-US" dirty="0">
              <a:cs typeface="+mn-ea"/>
              <a:sym typeface="+mn-lt"/>
            </a:endParaRPr>
          </a:p>
          <a:p>
            <a:pPr>
              <a:lnSpc>
                <a:spcPct val="132000"/>
              </a:lnSpc>
              <a:spcBef>
                <a:spcPts val="450"/>
              </a:spcBef>
              <a:spcAft>
                <a:spcPts val="450"/>
              </a:spcAft>
            </a:pPr>
            <a:r>
              <a:rPr lang="zh-CN" altLang="en-US" dirty="0">
                <a:solidFill>
                  <a:srgbClr val="FF0000"/>
                </a:solidFill>
                <a:cs typeface="+mn-ea"/>
                <a:sym typeface="+mn-lt"/>
              </a:rPr>
              <a:t>简单的</a:t>
            </a:r>
            <a:r>
              <a:rPr lang="en-US" altLang="zh-CN" dirty="0">
                <a:cs typeface="+mn-ea"/>
                <a:sym typeface="+mn-lt"/>
              </a:rPr>
              <a:t>Clock</a:t>
            </a:r>
            <a:r>
              <a:rPr lang="zh-CN" altLang="en-US" dirty="0">
                <a:cs typeface="+mn-ea"/>
                <a:sym typeface="+mn-lt"/>
              </a:rPr>
              <a:t>算法</a:t>
            </a:r>
            <a:endParaRPr lang="zh-CN" altLang="en-US" dirty="0">
              <a:cs typeface="+mn-ea"/>
              <a:sym typeface="+mn-lt"/>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6103" y="1669360"/>
            <a:ext cx="395288" cy="395288"/>
          </a:xfrm>
          <a:prstGeom prst="rect">
            <a:avLst/>
          </a:prstGeom>
          <a:ln>
            <a:noFill/>
          </a:ln>
          <a:effectLst>
            <a:softEdge rad="0"/>
          </a:effectLst>
        </p:spPr>
      </p:pic>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66103" y="2156219"/>
            <a:ext cx="395288" cy="395288"/>
          </a:xfrm>
          <a:prstGeom prst="rect">
            <a:avLst/>
          </a:prstGeom>
          <a:ln>
            <a:noFill/>
          </a:ln>
          <a:effectLst>
            <a:softEdge rad="0"/>
          </a:effectLst>
        </p:spPr>
      </p:pic>
      <p:sp>
        <p:nvSpPr>
          <p:cNvPr id="14" name="矩形 13"/>
          <p:cNvSpPr/>
          <p:nvPr/>
        </p:nvSpPr>
        <p:spPr>
          <a:xfrm>
            <a:off x="1126824" y="2518968"/>
            <a:ext cx="6303787" cy="1168036"/>
          </a:xfrm>
          <a:prstGeom prst="rect">
            <a:avLst/>
          </a:prstGeom>
        </p:spPr>
        <p:txBody>
          <a:bodyPr wrap="square">
            <a:noAutofit/>
          </a:bodyPr>
          <a:lstStyle/>
          <a:p>
            <a:pPr marL="257175" indent="-257175">
              <a:lnSpc>
                <a:spcPct val="123000"/>
              </a:lnSpc>
              <a:buClr>
                <a:srgbClr val="FF0000"/>
              </a:buClr>
              <a:buFont typeface="Wingdings" panose="05000000000000000000" pitchFamily="2" charset="2"/>
              <a:buChar char="Ø"/>
            </a:pPr>
            <a:r>
              <a:rPr lang="zh-CN" altLang="en-US" dirty="0">
                <a:cs typeface="+mn-ea"/>
                <a:sym typeface="+mn-lt"/>
              </a:rPr>
              <a:t>每个页都与一个</a:t>
            </a:r>
            <a:r>
              <a:rPr lang="zh-CN" altLang="en-US" dirty="0">
                <a:solidFill>
                  <a:srgbClr val="FF0000"/>
                </a:solidFill>
                <a:cs typeface="+mn-ea"/>
                <a:sym typeface="+mn-lt"/>
              </a:rPr>
              <a:t>访问位（引用位）</a:t>
            </a:r>
            <a:r>
              <a:rPr lang="zh-CN" altLang="en-US" dirty="0">
                <a:cs typeface="+mn-ea"/>
                <a:sym typeface="+mn-lt"/>
              </a:rPr>
              <a:t>相关联，初始值位</a:t>
            </a:r>
            <a:r>
              <a:rPr lang="en-US" altLang="zh-CN" dirty="0">
                <a:cs typeface="+mn-ea"/>
                <a:sym typeface="+mn-lt"/>
              </a:rPr>
              <a:t>0</a:t>
            </a:r>
            <a:endParaRPr lang="en-US" altLang="zh-CN" dirty="0">
              <a:cs typeface="+mn-ea"/>
              <a:sym typeface="+mn-lt"/>
            </a:endParaRPr>
          </a:p>
          <a:p>
            <a:pPr marL="257175" indent="-257175">
              <a:lnSpc>
                <a:spcPct val="123000"/>
              </a:lnSpc>
              <a:buClr>
                <a:srgbClr val="FF0000"/>
              </a:buClr>
              <a:buFont typeface="Wingdings" panose="05000000000000000000" pitchFamily="2" charset="2"/>
              <a:buChar char="Ø"/>
            </a:pPr>
            <a:r>
              <a:rPr lang="zh-CN" altLang="en-US" dirty="0">
                <a:cs typeface="+mn-ea"/>
                <a:sym typeface="+mn-lt"/>
              </a:rPr>
              <a:t>当页被访问时置访问位为</a:t>
            </a:r>
            <a:r>
              <a:rPr lang="en-US" altLang="zh-CN" dirty="0">
                <a:cs typeface="+mn-ea"/>
                <a:sym typeface="+mn-lt"/>
              </a:rPr>
              <a:t>1</a:t>
            </a:r>
            <a:endParaRPr lang="en-US" altLang="zh-CN" dirty="0">
              <a:cs typeface="+mn-ea"/>
              <a:sym typeface="+mn-lt"/>
            </a:endParaRPr>
          </a:p>
          <a:p>
            <a:pPr marL="257175" indent="-257175">
              <a:lnSpc>
                <a:spcPct val="123000"/>
              </a:lnSpc>
              <a:buClr>
                <a:srgbClr val="FF0000"/>
              </a:buClr>
              <a:buFont typeface="Wingdings" panose="05000000000000000000" pitchFamily="2" charset="2"/>
              <a:buChar char="Ø"/>
            </a:pPr>
            <a:r>
              <a:rPr lang="zh-CN" altLang="en-US" dirty="0">
                <a:cs typeface="+mn-ea"/>
                <a:sym typeface="+mn-lt"/>
              </a:rPr>
              <a:t>置换时选择访问位为</a:t>
            </a:r>
            <a:r>
              <a:rPr lang="en-US" altLang="zh-CN" dirty="0">
                <a:cs typeface="+mn-ea"/>
                <a:sym typeface="+mn-lt"/>
              </a:rPr>
              <a:t>0</a:t>
            </a:r>
            <a:r>
              <a:rPr lang="zh-CN" altLang="en-US" dirty="0">
                <a:cs typeface="+mn-ea"/>
                <a:sym typeface="+mn-lt"/>
              </a:rPr>
              <a:t>的页 ；若为</a:t>
            </a:r>
            <a:r>
              <a:rPr lang="en-US" altLang="zh-CN" dirty="0">
                <a:cs typeface="+mn-ea"/>
                <a:sym typeface="+mn-lt"/>
              </a:rPr>
              <a:t>1</a:t>
            </a:r>
            <a:r>
              <a:rPr lang="zh-CN" altLang="en-US" dirty="0">
                <a:cs typeface="+mn-ea"/>
                <a:sym typeface="+mn-lt"/>
              </a:rPr>
              <a:t>，重新置为</a:t>
            </a:r>
            <a:r>
              <a:rPr lang="en-US" altLang="zh-CN" dirty="0">
                <a:cs typeface="+mn-ea"/>
                <a:sym typeface="+mn-lt"/>
              </a:rPr>
              <a:t>0</a:t>
            </a:r>
            <a:endParaRPr lang="en-US" altLang="zh-CN" dirty="0">
              <a:cs typeface="+mn-ea"/>
              <a:sym typeface="+mn-lt"/>
            </a:endParaRPr>
          </a:p>
        </p:txBody>
      </p:sp>
      <p:pic>
        <p:nvPicPr>
          <p:cNvPr id="51204" name="Picture 4" descr="B543"/>
          <p:cNvPicPr>
            <a:picLocks noChangeAspect="1"/>
          </p:cNvPicPr>
          <p:nvPr/>
        </p:nvPicPr>
        <p:blipFill>
          <a:blip r:embed="rId2"/>
          <a:stretch>
            <a:fillRect/>
          </a:stretch>
        </p:blipFill>
        <p:spPr>
          <a:xfrm>
            <a:off x="1540193" y="3687127"/>
            <a:ext cx="2779871" cy="2224088"/>
          </a:xfrm>
          <a:prstGeom prst="rect">
            <a:avLst/>
          </a:prstGeom>
          <a:noFill/>
          <a:ln w="9525">
            <a:noFill/>
          </a:ln>
        </p:spPr>
      </p:pic>
      <p:sp>
        <p:nvSpPr>
          <p:cNvPr id="2" name="文本框 1"/>
          <p:cNvSpPr txBox="1"/>
          <p:nvPr/>
        </p:nvSpPr>
        <p:spPr>
          <a:xfrm>
            <a:off x="4928711" y="4194810"/>
            <a:ext cx="3048000" cy="487680"/>
          </a:xfrm>
          <a:prstGeom prst="rect">
            <a:avLst/>
          </a:prstGeom>
          <a:noFill/>
        </p:spPr>
        <p:txBody>
          <a:bodyPr wrap="square" rtlCol="0">
            <a:noAutofit/>
          </a:bodyPr>
          <a:lstStyle/>
          <a:p>
            <a:pPr marL="257175" indent="-257175" defTabSz="685800">
              <a:lnSpc>
                <a:spcPct val="80000"/>
              </a:lnSpc>
              <a:spcBef>
                <a:spcPct val="20000"/>
              </a:spcBef>
              <a:buClr>
                <a:schemeClr val="bg2"/>
              </a:buClr>
              <a:buSzPct val="75000"/>
              <a:buFont typeface="Wingdings" panose="05000000000000000000" pitchFamily="2" charset="2"/>
              <a:buChar char="n"/>
              <a:defRPr/>
            </a:pPr>
            <a:r>
              <a:rPr lang="zh-CN" altLang="en-US" b="1" noProof="0" dirty="0">
                <a:ln>
                  <a:noFill/>
                </a:ln>
                <a:solidFill>
                  <a:schemeClr val="dk1"/>
                </a:solidFill>
                <a:effectLst/>
                <a:uLnTx/>
                <a:uFillTx/>
                <a:latin typeface="Tahoma" panose="020B0604030504040204" pitchFamily="34" charset="0"/>
                <a:sym typeface="+mn-ea"/>
              </a:rPr>
              <a:t>所以</a:t>
            </a:r>
            <a:r>
              <a:rPr lang="zh-CN" altLang="en-US" b="1" noProof="0" dirty="0">
                <a:ln>
                  <a:noFill/>
                </a:ln>
                <a:effectLst/>
                <a:uLnTx/>
                <a:uFillTx/>
                <a:latin typeface="Tahoma" panose="020B0604030504040204" pitchFamily="34" charset="0"/>
                <a:sym typeface="+mn-ea"/>
              </a:rPr>
              <a:t>也称</a:t>
            </a:r>
            <a:r>
              <a:rPr lang="zh-CN" altLang="en-US" b="1" noProof="0" dirty="0">
                <a:ln>
                  <a:noFill/>
                </a:ln>
                <a:solidFill>
                  <a:srgbClr val="C00000"/>
                </a:solidFill>
                <a:effectLst/>
                <a:uLnTx/>
                <a:uFillTx/>
                <a:sym typeface="+mn-ea"/>
              </a:rPr>
              <a:t>“</a:t>
            </a:r>
            <a:r>
              <a:rPr lang="zh-CN" altLang="en-US" b="1" noProof="0" dirty="0">
                <a:ln>
                  <a:noFill/>
                </a:ln>
                <a:solidFill>
                  <a:srgbClr val="C00000"/>
                </a:solidFill>
                <a:effectLst/>
                <a:uLnTx/>
                <a:uFillTx/>
                <a:latin typeface="Tahoma" panose="020B0604030504040204" pitchFamily="34" charset="0"/>
                <a:sym typeface="+mn-ea"/>
              </a:rPr>
              <a:t>最近未使用置换法</a:t>
            </a:r>
            <a:r>
              <a:rPr lang="en-US" altLang="zh-CN" b="1" noProof="0" dirty="0">
                <a:ln>
                  <a:noFill/>
                </a:ln>
                <a:solidFill>
                  <a:srgbClr val="C00000"/>
                </a:solidFill>
                <a:effectLst/>
                <a:uLnTx/>
                <a:uFillTx/>
                <a:latin typeface="Tahoma" panose="020B0604030504040204" pitchFamily="34" charset="0"/>
                <a:sym typeface="+mn-ea"/>
              </a:rPr>
              <a:t>NRU(Not Recently Used)</a:t>
            </a:r>
            <a:r>
              <a:rPr lang="en-US" altLang="zh-CN" b="1" noProof="0" dirty="0">
                <a:ln>
                  <a:noFill/>
                </a:ln>
                <a:solidFill>
                  <a:srgbClr val="C00000"/>
                </a:solidFill>
                <a:effectLst/>
                <a:uLnTx/>
                <a:uFillTx/>
                <a:sym typeface="+mn-ea"/>
              </a:rPr>
              <a:t>”</a:t>
            </a:r>
            <a:r>
              <a:rPr lang="zh-CN" altLang="en-US" b="1" noProof="0" dirty="0">
                <a:ln>
                  <a:noFill/>
                </a:ln>
                <a:solidFill>
                  <a:srgbClr val="C00000"/>
                </a:solidFill>
                <a:effectLst/>
                <a:uLnTx/>
                <a:uFillTx/>
                <a:latin typeface="Tahoma" panose="020B0604030504040204" pitchFamily="34" charset="0"/>
                <a:sym typeface="+mn-ea"/>
              </a:rPr>
              <a:t>。</a:t>
            </a:r>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fade">
                                      <p:cBhvr>
                                        <p:cTn id="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33793"/>
          <p:cNvSpPr>
            <a:spLocks noGrp="1"/>
          </p:cNvSpPr>
          <p:nvPr>
            <p:ph type="title"/>
          </p:nvPr>
        </p:nvSpPr>
        <p:spPr>
          <a:xfrm>
            <a:off x="1485900" y="1657350"/>
            <a:ext cx="6172200" cy="571500"/>
          </a:xfrm>
        </p:spPr>
        <p:txBody>
          <a:bodyPr anchor="ctr" anchorCtr="0">
            <a:normAutofit fontScale="90000"/>
          </a:bodyPr>
          <a:lstStyle/>
          <a:p>
            <a:r>
              <a:rPr lang="zh-CN" altLang="en-US" sz="3000" b="0" dirty="0"/>
              <a:t>改进时钟置换法</a:t>
            </a:r>
            <a:r>
              <a:rPr lang="zh-CN" altLang="en-US" sz="3000" b="0"/>
              <a:t>（</a:t>
            </a:r>
            <a:r>
              <a:rPr lang="en-US" altLang="zh-CN" sz="3000" b="0"/>
              <a:t>Clock</a:t>
            </a:r>
            <a:r>
              <a:rPr lang="zh-CN" altLang="en-US" sz="3000" b="0"/>
              <a:t>）</a:t>
            </a:r>
            <a:br>
              <a:rPr lang="zh-CN" altLang="en-US" sz="3000"/>
            </a:br>
            <a:endParaRPr lang="zh-CN" altLang="en-US" sz="3000"/>
          </a:p>
        </p:txBody>
      </p:sp>
      <p:sp>
        <p:nvSpPr>
          <p:cNvPr id="49154" name="矩形 33794"/>
          <p:cNvSpPr/>
          <p:nvPr/>
        </p:nvSpPr>
        <p:spPr>
          <a:xfrm>
            <a:off x="1656160" y="5168593"/>
            <a:ext cx="184731" cy="646331"/>
          </a:xfrm>
          <a:prstGeom prst="rect">
            <a:avLst/>
          </a:prstGeom>
          <a:noFill/>
          <a:ln w="9525">
            <a:noFill/>
          </a:ln>
        </p:spPr>
        <p:txBody>
          <a:bodyPr wrap="none" bIns="0" anchor="ctr" anchorCtr="0">
            <a:spAutoFit/>
          </a:bodyPr>
          <a:lstStyle/>
          <a:p>
            <a:endParaRPr lang="en-US" altLang="zh-CN" sz="2100" dirty="0">
              <a:latin typeface="Tahoma" panose="020B0604030504040204" pitchFamily="34" charset="0"/>
            </a:endParaRPr>
          </a:p>
          <a:p>
            <a:pPr eaLnBrk="0" hangingPunct="0"/>
            <a:endParaRPr lang="en-US" altLang="zh-CN" dirty="0">
              <a:latin typeface="Arial" panose="020B0604020202020204" pitchFamily="34" charset="0"/>
            </a:endParaRPr>
          </a:p>
        </p:txBody>
      </p:sp>
      <p:sp>
        <p:nvSpPr>
          <p:cNvPr id="33796" name="内容占位符 33795"/>
          <p:cNvSpPr>
            <a:spLocks noGrp="1"/>
          </p:cNvSpPr>
          <p:nvPr>
            <p:ph idx="1"/>
          </p:nvPr>
        </p:nvSpPr>
        <p:spPr>
          <a:xfrm>
            <a:off x="1097757" y="1943100"/>
            <a:ext cx="7022306" cy="3943350"/>
          </a:xfrm>
        </p:spPr>
        <p:txBody>
          <a:bodyPr anchor="t" anchorCtr="0"/>
          <a:lstStyle/>
          <a:p>
            <a:pPr>
              <a:lnSpc>
                <a:spcPct val="90000"/>
              </a:lnSpc>
            </a:pPr>
            <a:r>
              <a:rPr lang="en-US" altLang="zh-CN" b="1" dirty="0">
                <a:solidFill>
                  <a:schemeClr val="bg2">
                    <a:lumMod val="40000"/>
                    <a:lumOff val="60000"/>
                  </a:schemeClr>
                </a:solidFill>
              </a:rPr>
              <a:t>2</a:t>
            </a:r>
            <a:r>
              <a:rPr lang="zh-CN" altLang="en-US" b="1" dirty="0">
                <a:solidFill>
                  <a:schemeClr val="bg2">
                    <a:lumMod val="40000"/>
                    <a:lumOff val="60000"/>
                  </a:schemeClr>
                </a:solidFill>
              </a:rPr>
              <a:t>．改进的时钟置换法</a:t>
            </a:r>
            <a:endParaRPr lang="zh-CN" altLang="en-US" b="1" dirty="0">
              <a:solidFill>
                <a:schemeClr val="bg2">
                  <a:lumMod val="40000"/>
                  <a:lumOff val="60000"/>
                </a:schemeClr>
              </a:solidFill>
            </a:endParaRPr>
          </a:p>
          <a:p>
            <a:pPr>
              <a:lnSpc>
                <a:spcPct val="90000"/>
              </a:lnSpc>
            </a:pPr>
            <a:r>
              <a:rPr lang="zh-CN" altLang="en-US" sz="1800" dirty="0">
                <a:solidFill>
                  <a:srgbClr val="000000"/>
                </a:solidFill>
              </a:rPr>
              <a:t>操作系统为收集有关哪些页面正被使用，哪些页面没被使用的统计信息，系统为每个页面设置了</a:t>
            </a:r>
            <a:r>
              <a:rPr lang="zh-CN" altLang="en-US" sz="1800" dirty="0">
                <a:solidFill>
                  <a:srgbClr val="FF0000"/>
                </a:solidFill>
              </a:rPr>
              <a:t>引用位</a:t>
            </a:r>
            <a:r>
              <a:rPr lang="zh-CN" altLang="en-US" sz="1800" dirty="0"/>
              <a:t>和</a:t>
            </a:r>
            <a:r>
              <a:rPr lang="zh-CN" altLang="en-US" sz="1800" dirty="0">
                <a:solidFill>
                  <a:srgbClr val="FF0000"/>
                </a:solidFill>
              </a:rPr>
              <a:t>修改位</a:t>
            </a:r>
            <a:r>
              <a:rPr lang="zh-CN" altLang="en-US" sz="1800" dirty="0">
                <a:solidFill>
                  <a:srgbClr val="000000"/>
                </a:solidFill>
              </a:rPr>
              <a:t>。</a:t>
            </a:r>
            <a:endParaRPr lang="zh-CN" altLang="en-US" sz="1800" dirty="0">
              <a:solidFill>
                <a:srgbClr val="000000"/>
              </a:solidFill>
            </a:endParaRPr>
          </a:p>
          <a:p>
            <a:pPr>
              <a:lnSpc>
                <a:spcPct val="90000"/>
              </a:lnSpc>
            </a:pPr>
            <a:r>
              <a:rPr lang="zh-CN" altLang="en-US" sz="1800" dirty="0">
                <a:solidFill>
                  <a:srgbClr val="000000"/>
                </a:solidFill>
              </a:rPr>
              <a:t>当启动一个进程时，它的所有页面的引用位和修改位由ＯＳ设置为</a:t>
            </a:r>
            <a:r>
              <a:rPr lang="zh-CN" altLang="en-US" sz="1800" dirty="0">
                <a:solidFill>
                  <a:srgbClr val="FF0000"/>
                </a:solidFill>
              </a:rPr>
              <a:t>００</a:t>
            </a:r>
            <a:r>
              <a:rPr lang="zh-CN" altLang="en-US" sz="1800" dirty="0">
                <a:solidFill>
                  <a:srgbClr val="000000"/>
                </a:solidFill>
              </a:rPr>
              <a:t>。</a:t>
            </a:r>
            <a:endParaRPr lang="zh-CN" altLang="en-US" sz="1800" dirty="0">
              <a:solidFill>
                <a:srgbClr val="000000"/>
              </a:solidFill>
            </a:endParaRPr>
          </a:p>
          <a:p>
            <a:pPr>
              <a:lnSpc>
                <a:spcPct val="90000"/>
              </a:lnSpc>
            </a:pPr>
            <a:r>
              <a:rPr lang="zh-CN" altLang="en-US" sz="1800" dirty="0">
                <a:solidFill>
                  <a:srgbClr val="FF0000"/>
                </a:solidFill>
              </a:rPr>
              <a:t>引用位</a:t>
            </a:r>
            <a:r>
              <a:rPr lang="zh-CN" altLang="en-US" sz="1800" dirty="0">
                <a:solidFill>
                  <a:srgbClr val="000000"/>
                </a:solidFill>
              </a:rPr>
              <a:t>可在</a:t>
            </a:r>
            <a:r>
              <a:rPr lang="zh-CN" altLang="en-US" sz="1800" dirty="0">
                <a:solidFill>
                  <a:srgbClr val="FF0000"/>
                </a:solidFill>
              </a:rPr>
              <a:t>每次时钟中断时清零</a:t>
            </a:r>
            <a:r>
              <a:rPr lang="zh-CN" altLang="en-US" sz="1800" dirty="0">
                <a:solidFill>
                  <a:srgbClr val="000000"/>
                </a:solidFill>
              </a:rPr>
              <a:t>，以区别最近没有被访问的页面和被访问的页面。</a:t>
            </a:r>
            <a:endParaRPr lang="zh-CN" altLang="en-US" sz="1800" dirty="0">
              <a:solidFill>
                <a:srgbClr val="000000"/>
              </a:solidFill>
            </a:endParaRPr>
          </a:p>
          <a:p>
            <a:pPr>
              <a:lnSpc>
                <a:spcPct val="90000"/>
              </a:lnSpc>
            </a:pPr>
            <a:r>
              <a:rPr lang="zh-CN" altLang="en-US" sz="1800" dirty="0">
                <a:solidFill>
                  <a:srgbClr val="FF0000"/>
                </a:solidFill>
              </a:rPr>
              <a:t>修改位</a:t>
            </a:r>
            <a:r>
              <a:rPr lang="zh-CN" altLang="en-US" sz="1800" dirty="0">
                <a:solidFill>
                  <a:srgbClr val="000000"/>
                </a:solidFill>
              </a:rPr>
              <a:t>在页面被修改过后标记为</a:t>
            </a:r>
            <a:r>
              <a:rPr lang="en-US" altLang="zh-CN" sz="1800">
                <a:solidFill>
                  <a:srgbClr val="FF0000"/>
                </a:solidFill>
              </a:rPr>
              <a:t>1</a:t>
            </a:r>
            <a:r>
              <a:rPr lang="zh-CN" altLang="en-US" sz="1800" dirty="0">
                <a:solidFill>
                  <a:srgbClr val="000000"/>
                </a:solidFill>
              </a:rPr>
              <a:t>，并不被时钟中断修改。</a:t>
            </a:r>
            <a:endParaRPr lang="zh-CN" altLang="en-US" sz="1800" dirty="0">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796">
                                            <p:txEl>
                                              <p:pRg st="0" end="0"/>
                                            </p:txEl>
                                          </p:spTgt>
                                        </p:tgtEl>
                                        <p:attrNameLst>
                                          <p:attrName>style.visibility</p:attrName>
                                        </p:attrNameLst>
                                      </p:cBhvr>
                                      <p:to>
                                        <p:strVal val="visible"/>
                                      </p:to>
                                    </p:set>
                                    <p:anim calcmode="lin" valueType="num">
                                      <p:cBhvr additive="base">
                                        <p:cTn id="7" dur="500" fill="hold"/>
                                        <p:tgtEl>
                                          <p:spTgt spid="3379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796">
                                            <p:txEl>
                                              <p:pRg st="1" end="1"/>
                                            </p:txEl>
                                          </p:spTgt>
                                        </p:tgtEl>
                                        <p:attrNameLst>
                                          <p:attrName>style.visibility</p:attrName>
                                        </p:attrNameLst>
                                      </p:cBhvr>
                                      <p:to>
                                        <p:strVal val="visible"/>
                                      </p:to>
                                    </p:set>
                                    <p:anim calcmode="lin" valueType="num">
                                      <p:cBhvr additive="base">
                                        <p:cTn id="13" dur="500" fill="hold"/>
                                        <p:tgtEl>
                                          <p:spTgt spid="3379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379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3796">
                                            <p:txEl>
                                              <p:pRg st="2" end="2"/>
                                            </p:txEl>
                                          </p:spTgt>
                                        </p:tgtEl>
                                        <p:attrNameLst>
                                          <p:attrName>style.visibility</p:attrName>
                                        </p:attrNameLst>
                                      </p:cBhvr>
                                      <p:to>
                                        <p:strVal val="visible"/>
                                      </p:to>
                                    </p:set>
                                    <p:anim calcmode="lin" valueType="num">
                                      <p:cBhvr additive="base">
                                        <p:cTn id="19" dur="500" fill="hold"/>
                                        <p:tgtEl>
                                          <p:spTgt spid="3379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379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3796">
                                            <p:txEl>
                                              <p:pRg st="3" end="3"/>
                                            </p:txEl>
                                          </p:spTgt>
                                        </p:tgtEl>
                                        <p:attrNameLst>
                                          <p:attrName>style.visibility</p:attrName>
                                        </p:attrNameLst>
                                      </p:cBhvr>
                                      <p:to>
                                        <p:strVal val="visible"/>
                                      </p:to>
                                    </p:set>
                                    <p:anim calcmode="lin" valueType="num">
                                      <p:cBhvr additive="base">
                                        <p:cTn id="25" dur="500" fill="hold"/>
                                        <p:tgtEl>
                                          <p:spTgt spid="3379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379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3796">
                                            <p:txEl>
                                              <p:pRg st="4" end="4"/>
                                            </p:txEl>
                                          </p:spTgt>
                                        </p:tgtEl>
                                        <p:attrNameLst>
                                          <p:attrName>style.visibility</p:attrName>
                                        </p:attrNameLst>
                                      </p:cBhvr>
                                      <p:to>
                                        <p:strVal val="visible"/>
                                      </p:to>
                                    </p:set>
                                    <p:anim calcmode="lin" valueType="num">
                                      <p:cBhvr additive="base">
                                        <p:cTn id="31" dur="500" fill="hold"/>
                                        <p:tgtEl>
                                          <p:spTgt spid="3379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379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34817"/>
          <p:cNvSpPr>
            <a:spLocks noGrp="1"/>
          </p:cNvSpPr>
          <p:nvPr>
            <p:ph type="title"/>
          </p:nvPr>
        </p:nvSpPr>
        <p:spPr>
          <a:xfrm>
            <a:off x="1485900" y="1287066"/>
            <a:ext cx="6172200" cy="941784"/>
          </a:xfrm>
        </p:spPr>
        <p:txBody>
          <a:bodyPr anchor="ctr" anchorCtr="0">
            <a:normAutofit/>
          </a:bodyPr>
          <a:lstStyle/>
          <a:p>
            <a:br>
              <a:rPr lang="zh-CN" altLang="en-US" sz="3000"/>
            </a:br>
            <a:endParaRPr lang="zh-CN" altLang="en-US" sz="3000"/>
          </a:p>
        </p:txBody>
      </p:sp>
      <p:sp>
        <p:nvSpPr>
          <p:cNvPr id="50178" name="矩形 34818"/>
          <p:cNvSpPr/>
          <p:nvPr/>
        </p:nvSpPr>
        <p:spPr>
          <a:xfrm>
            <a:off x="1656160" y="5168593"/>
            <a:ext cx="184731" cy="646331"/>
          </a:xfrm>
          <a:prstGeom prst="rect">
            <a:avLst/>
          </a:prstGeom>
          <a:noFill/>
          <a:ln w="9525">
            <a:noFill/>
          </a:ln>
        </p:spPr>
        <p:txBody>
          <a:bodyPr wrap="none" bIns="0" anchor="ctr" anchorCtr="0">
            <a:spAutoFit/>
          </a:bodyPr>
          <a:lstStyle/>
          <a:p>
            <a:endParaRPr lang="en-US" altLang="zh-CN" sz="2100" dirty="0">
              <a:latin typeface="Tahoma" panose="020B0604030504040204" pitchFamily="34" charset="0"/>
            </a:endParaRPr>
          </a:p>
          <a:p>
            <a:pPr eaLnBrk="0" hangingPunct="0"/>
            <a:endParaRPr lang="en-US" altLang="zh-CN" dirty="0">
              <a:latin typeface="Arial" panose="020B0604020202020204" pitchFamily="34" charset="0"/>
            </a:endParaRPr>
          </a:p>
        </p:txBody>
      </p:sp>
      <p:sp>
        <p:nvSpPr>
          <p:cNvPr id="34820" name="内容占位符 34819"/>
          <p:cNvSpPr>
            <a:spLocks noGrp="1"/>
          </p:cNvSpPr>
          <p:nvPr>
            <p:ph idx="1"/>
          </p:nvPr>
        </p:nvSpPr>
        <p:spPr>
          <a:xfrm>
            <a:off x="1238250" y="1970722"/>
            <a:ext cx="6300788" cy="3858578"/>
          </a:xfrm>
        </p:spPr>
        <p:txBody>
          <a:bodyPr anchor="t" anchorCtr="0"/>
          <a:lstStyle/>
          <a:p>
            <a:pPr>
              <a:lnSpc>
                <a:spcPct val="90000"/>
              </a:lnSpc>
            </a:pPr>
            <a:r>
              <a:rPr lang="en-US" altLang="zh-CN" sz="2100" dirty="0">
                <a:solidFill>
                  <a:srgbClr val="000000"/>
                </a:solidFill>
              </a:rPr>
              <a:t>2</a:t>
            </a:r>
            <a:r>
              <a:rPr lang="zh-CN" altLang="en-US" sz="2100" dirty="0">
                <a:solidFill>
                  <a:srgbClr val="000000"/>
                </a:solidFill>
              </a:rPr>
              <a:t>．改进的时钟置换法</a:t>
            </a:r>
            <a:endParaRPr lang="zh-CN" altLang="en-US" sz="2100" dirty="0">
              <a:solidFill>
                <a:srgbClr val="000000"/>
              </a:solidFill>
            </a:endParaRPr>
          </a:p>
          <a:p>
            <a:pPr>
              <a:lnSpc>
                <a:spcPct val="90000"/>
              </a:lnSpc>
            </a:pPr>
            <a:r>
              <a:rPr lang="zh-CN" altLang="en-US" sz="2100" dirty="0">
                <a:solidFill>
                  <a:srgbClr val="000000"/>
                </a:solidFill>
              </a:rPr>
              <a:t>当发生缺页时，ＯＳ检查所有的页面并根据它们当前的引用位和修改位的值，将页面分为</a:t>
            </a:r>
            <a:r>
              <a:rPr lang="zh-CN" altLang="en-US" sz="2100" dirty="0">
                <a:solidFill>
                  <a:srgbClr val="FF0000"/>
                </a:solidFill>
              </a:rPr>
              <a:t>４种情况</a:t>
            </a:r>
            <a:r>
              <a:rPr lang="zh-CN" altLang="en-US" sz="2100" dirty="0">
                <a:solidFill>
                  <a:srgbClr val="000000"/>
                </a:solidFill>
              </a:rPr>
              <a:t>：</a:t>
            </a:r>
            <a:br>
              <a:rPr lang="zh-CN" altLang="en-US" sz="2100" dirty="0">
                <a:solidFill>
                  <a:srgbClr val="000000"/>
                </a:solidFill>
              </a:rPr>
            </a:br>
            <a:endParaRPr lang="zh-CN" altLang="en-US" sz="2100" dirty="0">
              <a:solidFill>
                <a:srgbClr val="000000"/>
              </a:solidFill>
            </a:endParaRPr>
          </a:p>
          <a:p>
            <a:pPr marL="0" indent="0">
              <a:lnSpc>
                <a:spcPct val="90000"/>
              </a:lnSpc>
              <a:buNone/>
            </a:pPr>
            <a:r>
              <a:rPr lang="zh-CN" altLang="en-US" sz="2100" dirty="0">
                <a:solidFill>
                  <a:srgbClr val="000000"/>
                </a:solidFill>
              </a:rPr>
              <a:t>００：最近未访问，没有被修改</a:t>
            </a:r>
            <a:br>
              <a:rPr lang="zh-CN" altLang="en-US" sz="2100" dirty="0">
                <a:solidFill>
                  <a:srgbClr val="000000"/>
                </a:solidFill>
              </a:rPr>
            </a:br>
            <a:r>
              <a:rPr lang="zh-CN" altLang="en-US" sz="2100" dirty="0">
                <a:solidFill>
                  <a:srgbClr val="000000"/>
                </a:solidFill>
              </a:rPr>
              <a:t>０１：最近未访问，已被修改</a:t>
            </a:r>
            <a:br>
              <a:rPr lang="zh-CN" altLang="en-US" sz="2100" dirty="0">
                <a:solidFill>
                  <a:srgbClr val="000000"/>
                </a:solidFill>
              </a:rPr>
            </a:br>
            <a:r>
              <a:rPr lang="zh-CN" altLang="en-US" sz="2100" dirty="0">
                <a:solidFill>
                  <a:srgbClr val="000000"/>
                </a:solidFill>
              </a:rPr>
              <a:t>１０：最近被访问，没被修改</a:t>
            </a:r>
            <a:br>
              <a:rPr lang="zh-CN" altLang="en-US" sz="2100" dirty="0">
                <a:solidFill>
                  <a:srgbClr val="000000"/>
                </a:solidFill>
              </a:rPr>
            </a:br>
            <a:r>
              <a:rPr lang="zh-CN" altLang="en-US" sz="2100" dirty="0">
                <a:solidFill>
                  <a:srgbClr val="000000"/>
                </a:solidFill>
              </a:rPr>
              <a:t>１１：最近被访问，已被修改</a:t>
            </a:r>
            <a:endParaRPr lang="zh-CN" altLang="en-US" sz="2100" dirty="0">
              <a:solidFill>
                <a:srgbClr val="000000"/>
              </a:solidFill>
            </a:endParaRPr>
          </a:p>
          <a:p>
            <a:pPr>
              <a:lnSpc>
                <a:spcPct val="90000"/>
              </a:lnSpc>
            </a:pPr>
            <a:endParaRPr lang="zh-CN" altLang="en-US" sz="2100" dirty="0">
              <a:solidFill>
                <a:srgbClr val="000000"/>
              </a:solidFill>
            </a:endParaRPr>
          </a:p>
          <a:p>
            <a:pPr>
              <a:lnSpc>
                <a:spcPct val="90000"/>
              </a:lnSpc>
            </a:pPr>
            <a:r>
              <a:rPr lang="zh-CN" altLang="en-US" sz="2100" dirty="0">
                <a:solidFill>
                  <a:srgbClr val="000000"/>
                </a:solidFill>
              </a:rPr>
              <a:t>内存中的每个页面必定是上述四类中的一类。</a:t>
            </a:r>
            <a:endParaRPr lang="zh-CN" altLang="en-US" sz="2100" dirty="0">
              <a:solidFill>
                <a:srgbClr val="000000"/>
              </a:solidFill>
            </a:endParaRPr>
          </a:p>
        </p:txBody>
      </p:sp>
      <p:sp>
        <p:nvSpPr>
          <p:cNvPr id="2" name="圆角矩形标注 1"/>
          <p:cNvSpPr/>
          <p:nvPr/>
        </p:nvSpPr>
        <p:spPr>
          <a:xfrm>
            <a:off x="5208746" y="3325654"/>
            <a:ext cx="1253490" cy="1530668"/>
          </a:xfrm>
          <a:prstGeom prst="wedgeRoundRectCallout">
            <a:avLst>
              <a:gd name="adj1" fmla="val -82294"/>
              <a:gd name="adj2" fmla="val -746"/>
              <a:gd name="adj3" fmla="val 16667"/>
            </a:avLst>
          </a:prstGeom>
          <a:solidFill>
            <a:schemeClr val="accent1"/>
          </a:solidFill>
          <a:ln w="9525" cap="flat" cmpd="sng">
            <a:solidFill>
              <a:schemeClr val="tx1"/>
            </a:solidFill>
            <a:prstDash val="solid"/>
            <a:miter/>
            <a:headEnd type="none" w="med" len="med"/>
            <a:tailEnd type="none" w="med" len="med"/>
          </a:ln>
        </p:spPr>
        <p:txBody>
          <a:bodyPr anchor="t" anchorCtr="0"/>
          <a:lstStyle/>
          <a:p>
            <a:pPr algn="ctr"/>
            <a:r>
              <a:rPr lang="zh-CN" altLang="en-US" sz="2100" b="1" dirty="0">
                <a:solidFill>
                  <a:schemeClr val="bg1"/>
                </a:solidFill>
                <a:latin typeface="Times New Roman" panose="02020603050405020304" pitchFamily="18" charset="0"/>
              </a:rPr>
              <a:t>引用位清零后就成了第０类</a:t>
            </a:r>
            <a:endParaRPr lang="zh-CN" altLang="en-US" sz="2100" b="1" dirty="0">
              <a:solidFill>
                <a:schemeClr val="bg1"/>
              </a:solidFill>
              <a:latin typeface="Times New Roman" panose="02020603050405020304" pitchFamily="18" charset="0"/>
            </a:endParaRPr>
          </a:p>
        </p:txBody>
      </p:sp>
      <p:pic>
        <p:nvPicPr>
          <p:cNvPr id="51204" name="Picture 4" descr="B543"/>
          <p:cNvPicPr>
            <a:picLocks noChangeAspect="1"/>
          </p:cNvPicPr>
          <p:nvPr/>
        </p:nvPicPr>
        <p:blipFill>
          <a:blip r:embed="rId1"/>
          <a:stretch>
            <a:fillRect/>
          </a:stretch>
        </p:blipFill>
        <p:spPr>
          <a:xfrm>
            <a:off x="6761322" y="3046572"/>
            <a:ext cx="2009299" cy="1913096"/>
          </a:xfrm>
          <a:prstGeom prst="rect">
            <a:avLst/>
          </a:prstGeom>
          <a:noFill/>
          <a:ln w="9525">
            <a:noFill/>
          </a:ln>
        </p:spPr>
      </p:pic>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 calcmode="lin" valueType="num">
                                      <p:cBhvr additive="base">
                                        <p:cTn id="7" dur="500" fill="hold"/>
                                        <p:tgtEl>
                                          <p:spTgt spid="3482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8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20">
                                            <p:txEl>
                                              <p:pRg st="1" end="1"/>
                                            </p:txEl>
                                          </p:spTgt>
                                        </p:tgtEl>
                                        <p:attrNameLst>
                                          <p:attrName>style.visibility</p:attrName>
                                        </p:attrNameLst>
                                      </p:cBhvr>
                                      <p:to>
                                        <p:strVal val="visible"/>
                                      </p:to>
                                    </p:set>
                                    <p:anim calcmode="lin" valueType="num">
                                      <p:cBhvr additive="base">
                                        <p:cTn id="13" dur="500" fill="hold"/>
                                        <p:tgtEl>
                                          <p:spTgt spid="3482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8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820">
                                            <p:txEl>
                                              <p:pRg st="2" end="2"/>
                                            </p:txEl>
                                          </p:spTgt>
                                        </p:tgtEl>
                                        <p:attrNameLst>
                                          <p:attrName>style.visibility</p:attrName>
                                        </p:attrNameLst>
                                      </p:cBhvr>
                                      <p:to>
                                        <p:strVal val="visible"/>
                                      </p:to>
                                    </p:set>
                                    <p:anim calcmode="lin" valueType="num">
                                      <p:cBhvr additive="base">
                                        <p:cTn id="19" dur="500" fill="hold"/>
                                        <p:tgtEl>
                                          <p:spTgt spid="3482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8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4820">
                                            <p:txEl>
                                              <p:pRg st="4" end="4"/>
                                            </p:txEl>
                                          </p:spTgt>
                                        </p:tgtEl>
                                        <p:attrNameLst>
                                          <p:attrName>style.visibility</p:attrName>
                                        </p:attrNameLst>
                                      </p:cBhvr>
                                      <p:to>
                                        <p:strVal val="visible"/>
                                      </p:to>
                                    </p:set>
                                    <p:anim calcmode="lin" valueType="num">
                                      <p:cBhvr additive="base">
                                        <p:cTn id="25" dur="500" fill="hold"/>
                                        <p:tgtEl>
                                          <p:spTgt spid="34820">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482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1204"/>
                                        </p:tgtEl>
                                        <p:attrNameLst>
                                          <p:attrName>style.visibility</p:attrName>
                                        </p:attrNameLst>
                                      </p:cBhvr>
                                      <p:to>
                                        <p:strVal val="visible"/>
                                      </p:to>
                                    </p:set>
                                    <p:animEffect transition="in" filter="fade">
                                      <p:cBhvr>
                                        <p:cTn id="37" dur="500"/>
                                        <p:tgtEl>
                                          <p:spTgt spid="51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p"/>
      <p:bldP spid="2" grpId="0" bldLvl="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矩形 35842"/>
          <p:cNvSpPr/>
          <p:nvPr/>
        </p:nvSpPr>
        <p:spPr>
          <a:xfrm>
            <a:off x="1656160" y="5168593"/>
            <a:ext cx="184731" cy="646331"/>
          </a:xfrm>
          <a:prstGeom prst="rect">
            <a:avLst/>
          </a:prstGeom>
          <a:noFill/>
          <a:ln w="9525">
            <a:noFill/>
          </a:ln>
        </p:spPr>
        <p:txBody>
          <a:bodyPr wrap="none" bIns="0" anchor="ctr" anchorCtr="0">
            <a:spAutoFit/>
          </a:bodyPr>
          <a:lstStyle/>
          <a:p>
            <a:endParaRPr lang="en-US" altLang="zh-CN" sz="2100" dirty="0">
              <a:latin typeface="Tahoma" panose="020B0604030504040204" pitchFamily="34" charset="0"/>
            </a:endParaRPr>
          </a:p>
          <a:p>
            <a:pPr eaLnBrk="0" hangingPunct="0"/>
            <a:endParaRPr lang="en-US" altLang="zh-CN" dirty="0">
              <a:latin typeface="Arial" panose="020B0604020202020204" pitchFamily="34" charset="0"/>
            </a:endParaRPr>
          </a:p>
        </p:txBody>
      </p:sp>
      <p:sp>
        <p:nvSpPr>
          <p:cNvPr id="51203" name="文本占位符 35843"/>
          <p:cNvSpPr>
            <a:spLocks noGrp="1"/>
          </p:cNvSpPr>
          <p:nvPr>
            <p:ph idx="1"/>
          </p:nvPr>
        </p:nvSpPr>
        <p:spPr>
          <a:xfrm>
            <a:off x="1231583" y="1863566"/>
            <a:ext cx="6635115" cy="4030028"/>
          </a:xfrm>
        </p:spPr>
        <p:txBody>
          <a:bodyPr anchor="t" anchorCtr="0"/>
          <a:lstStyle/>
          <a:p>
            <a:pPr>
              <a:lnSpc>
                <a:spcPct val="90000"/>
              </a:lnSpc>
            </a:pPr>
            <a:r>
              <a:rPr lang="en-US" altLang="zh-CN" sz="1800" dirty="0">
                <a:solidFill>
                  <a:srgbClr val="000000"/>
                </a:solidFill>
              </a:rPr>
              <a:t>2</a:t>
            </a:r>
            <a:r>
              <a:rPr lang="zh-CN" altLang="en-US" sz="1800" dirty="0">
                <a:solidFill>
                  <a:srgbClr val="000000"/>
                </a:solidFill>
              </a:rPr>
              <a:t>．改进的时钟置换法</a:t>
            </a:r>
            <a:endParaRPr lang="zh-CN" altLang="en-US" sz="1800" dirty="0">
              <a:solidFill>
                <a:srgbClr val="000000"/>
              </a:solidFill>
            </a:endParaRPr>
          </a:p>
          <a:p>
            <a:pPr>
              <a:lnSpc>
                <a:spcPct val="90000"/>
              </a:lnSpc>
            </a:pPr>
            <a:r>
              <a:rPr lang="zh-CN" altLang="en-US" sz="1800" dirty="0">
                <a:solidFill>
                  <a:srgbClr val="000000"/>
                </a:solidFill>
              </a:rPr>
              <a:t>从指针所指示的</a:t>
            </a:r>
            <a:r>
              <a:rPr lang="zh-CN" altLang="en-US" sz="1800" dirty="0">
                <a:solidFill>
                  <a:srgbClr val="FF0000"/>
                </a:solidFill>
              </a:rPr>
              <a:t>当前位置</a:t>
            </a:r>
            <a:r>
              <a:rPr lang="zh-CN" altLang="en-US" sz="1800" dirty="0">
                <a:solidFill>
                  <a:srgbClr val="000000"/>
                </a:solidFill>
              </a:rPr>
              <a:t>开始， 扫描循环队列， 将所遇到的第一个</a:t>
            </a:r>
            <a:r>
              <a:rPr lang="zh-CN" altLang="en-US" sz="1800" dirty="0">
                <a:solidFill>
                  <a:srgbClr val="FF0000"/>
                </a:solidFill>
              </a:rPr>
              <a:t>第０类页面</a:t>
            </a:r>
            <a:r>
              <a:rPr lang="zh-CN" altLang="en-US" sz="1800" dirty="0">
                <a:solidFill>
                  <a:srgbClr val="000000"/>
                </a:solidFill>
              </a:rPr>
              <a:t>作为所选中的</a:t>
            </a:r>
            <a:r>
              <a:rPr lang="zh-CN" altLang="en-US" sz="1800" dirty="0">
                <a:solidFill>
                  <a:srgbClr val="FF0000"/>
                </a:solidFill>
              </a:rPr>
              <a:t>淘汰页</a:t>
            </a:r>
            <a:r>
              <a:rPr lang="zh-CN" altLang="en-US" sz="1800" dirty="0">
                <a:solidFill>
                  <a:srgbClr val="000000"/>
                </a:solidFill>
              </a:rPr>
              <a:t>。 第一次扫描期间不改变引用位。</a:t>
            </a:r>
            <a:endParaRPr lang="zh-CN" altLang="en-US" sz="1800" dirty="0">
              <a:solidFill>
                <a:srgbClr val="000000"/>
              </a:solidFill>
            </a:endParaRPr>
          </a:p>
          <a:p>
            <a:pPr>
              <a:lnSpc>
                <a:spcPct val="90000"/>
              </a:lnSpc>
            </a:pPr>
            <a:r>
              <a:rPr lang="zh-CN" altLang="en-US" sz="1800" dirty="0">
                <a:solidFill>
                  <a:srgbClr val="000000"/>
                </a:solidFill>
              </a:rPr>
              <a:t>如果查找一周后未遇到第０类页面， 则开始</a:t>
            </a:r>
            <a:r>
              <a:rPr lang="zh-CN" altLang="en-US" sz="1800" dirty="0">
                <a:solidFill>
                  <a:srgbClr val="FF0000"/>
                </a:solidFill>
              </a:rPr>
              <a:t>第二轮扫描</a:t>
            </a:r>
            <a:r>
              <a:rPr lang="zh-CN" altLang="en-US" sz="1800" dirty="0">
                <a:solidFill>
                  <a:srgbClr val="000000"/>
                </a:solidFill>
              </a:rPr>
              <a:t>，寻找</a:t>
            </a:r>
            <a:r>
              <a:rPr lang="zh-CN" altLang="en-US" sz="1800" dirty="0">
                <a:solidFill>
                  <a:srgbClr val="FF0000"/>
                </a:solidFill>
              </a:rPr>
              <a:t>第１类页面</a:t>
            </a:r>
            <a:r>
              <a:rPr lang="zh-CN" altLang="en-US" sz="1800" dirty="0">
                <a:solidFill>
                  <a:srgbClr val="000000"/>
                </a:solidFill>
              </a:rPr>
              <a:t>，将所遇到的第一个这类页面作为</a:t>
            </a:r>
            <a:r>
              <a:rPr lang="zh-CN" altLang="en-US" sz="1800" dirty="0">
                <a:solidFill>
                  <a:srgbClr val="FF0000"/>
                </a:solidFill>
              </a:rPr>
              <a:t>淘汰页</a:t>
            </a:r>
            <a:r>
              <a:rPr lang="zh-CN" altLang="en-US" sz="1800" dirty="0">
                <a:solidFill>
                  <a:srgbClr val="000000"/>
                </a:solidFill>
              </a:rPr>
              <a:t>。在第二轮扫描期间，将所有扫描过的页面的引用位都</a:t>
            </a:r>
            <a:r>
              <a:rPr lang="zh-CN" altLang="en-US" sz="1800" dirty="0">
                <a:solidFill>
                  <a:srgbClr val="FF0000"/>
                </a:solidFill>
              </a:rPr>
              <a:t>置</a:t>
            </a:r>
            <a:r>
              <a:rPr lang="en-US" altLang="zh-CN" sz="1800" dirty="0">
                <a:solidFill>
                  <a:srgbClr val="FF0000"/>
                </a:solidFill>
              </a:rPr>
              <a:t>0</a:t>
            </a:r>
            <a:r>
              <a:rPr lang="zh-CN" altLang="en-US" sz="1800" dirty="0">
                <a:solidFill>
                  <a:srgbClr val="FF0000"/>
                </a:solidFill>
              </a:rPr>
              <a:t>。</a:t>
            </a:r>
            <a:endParaRPr lang="zh-CN" altLang="en-US" sz="1800" dirty="0">
              <a:solidFill>
                <a:srgbClr val="FF0000"/>
              </a:solidFill>
            </a:endParaRPr>
          </a:p>
          <a:p>
            <a:pPr>
              <a:lnSpc>
                <a:spcPct val="90000"/>
              </a:lnSpc>
            </a:pPr>
            <a:endParaRPr lang="zh-CN" altLang="en-US" sz="1800" dirty="0">
              <a:solidFill>
                <a:srgbClr val="FF0000"/>
              </a:solidFill>
            </a:endParaRPr>
          </a:p>
          <a:p>
            <a:pPr>
              <a:lnSpc>
                <a:spcPct val="90000"/>
              </a:lnSpc>
            </a:pPr>
            <a:r>
              <a:rPr lang="zh-CN" altLang="en-US" sz="1800" dirty="0">
                <a:solidFill>
                  <a:srgbClr val="000000"/>
                </a:solidFill>
              </a:rPr>
              <a:t>如果也未找到第１类页面，则将指针返回到开始的位置，并将所有的引用位复</a:t>
            </a:r>
            <a:r>
              <a:rPr lang="en-US" altLang="zh-CN" sz="1800" dirty="0">
                <a:solidFill>
                  <a:srgbClr val="000000"/>
                </a:solidFill>
              </a:rPr>
              <a:t>0</a:t>
            </a:r>
            <a:r>
              <a:rPr lang="zh-CN" altLang="en-US" sz="1800" dirty="0">
                <a:solidFill>
                  <a:srgbClr val="000000"/>
                </a:solidFill>
              </a:rPr>
              <a:t>。 然后重复第一步，如果仍失败，必要时再</a:t>
            </a:r>
            <a:r>
              <a:rPr lang="zh-CN" altLang="en-US" sz="1800" dirty="0">
                <a:solidFill>
                  <a:srgbClr val="FF0000"/>
                </a:solidFill>
              </a:rPr>
              <a:t>重复</a:t>
            </a:r>
            <a:r>
              <a:rPr lang="zh-CN" altLang="en-US" sz="1800" dirty="0">
                <a:solidFill>
                  <a:srgbClr val="000000"/>
                </a:solidFill>
              </a:rPr>
              <a:t>第二步，此时就一定能找到被淘汰的页。</a:t>
            </a:r>
            <a:endParaRPr lang="zh-CN" altLang="en-US" sz="1800" dirty="0">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35843"/>
                                        </p:tgtEl>
                                        <p:attrNameLst>
                                          <p:attrName>style.visibility</p:attrName>
                                        </p:attrNameLst>
                                      </p:cBhvr>
                                      <p:to>
                                        <p:strVal val="visible"/>
                                      </p:to>
                                    </p:set>
                                    <p:animEffect transition="in" filter="fade">
                                      <p:cBhvr>
                                        <p:cTn id="7" dur="1000"/>
                                        <p:tgtEl>
                                          <p:spTgt spid="35843"/>
                                        </p:tgtEl>
                                      </p:cBhvr>
                                    </p:animEffect>
                                    <p:anim calcmode="lin" valueType="num">
                                      <p:cBhvr>
                                        <p:cTn id="8" dur="1000" fill="hold"/>
                                        <p:tgtEl>
                                          <p:spTgt spid="35843"/>
                                        </p:tgtEl>
                                        <p:attrNameLst>
                                          <p:attrName>ppt_x</p:attrName>
                                        </p:attrNameLst>
                                      </p:cBhvr>
                                      <p:tavLst>
                                        <p:tav tm="0">
                                          <p:val>
                                            <p:strVal val="#ppt_x"/>
                                          </p:val>
                                        </p:tav>
                                        <p:tav tm="100000">
                                          <p:val>
                                            <p:strVal val="#ppt_x"/>
                                          </p:val>
                                        </p:tav>
                                      </p:tavLst>
                                    </p:anim>
                                    <p:anim calcmode="lin" valueType="num">
                                      <p:cBhvr>
                                        <p:cTn id="9" dur="1000" fill="hold"/>
                                        <p:tgtEl>
                                          <p:spTgt spid="358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文本占位符 11266"/>
          <p:cNvSpPr>
            <a:spLocks noGrp="1"/>
          </p:cNvSpPr>
          <p:nvPr>
            <p:ph type="body" sz="half" idx="1"/>
          </p:nvPr>
        </p:nvSpPr>
        <p:spPr>
          <a:xfrm>
            <a:off x="704850" y="1320641"/>
            <a:ext cx="7740968" cy="1620203"/>
          </a:xfrm>
        </p:spPr>
        <p:txBody>
          <a:bodyPr anchor="t" anchorCtr="0"/>
          <a:lstStyle/>
          <a:p>
            <a:pPr defTabSz="685800" fontAlgn="auto">
              <a:buClrTx/>
              <a:buSzTx/>
              <a:buFontTx/>
            </a:pPr>
            <a:r>
              <a:rPr lang="en-US" altLang="zh-CN" sz="1800" dirty="0">
                <a:latin typeface="宋体" panose="02010600030101010101" pitchFamily="2" charset="-122"/>
                <a:ea typeface="宋体" panose="02010600030101010101" pitchFamily="2" charset="-122"/>
                <a:cs typeface="宋体" panose="02010600030101010101" pitchFamily="2" charset="-122"/>
              </a:rPr>
              <a:t>46.</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latin typeface="宋体" panose="02010600030101010101" pitchFamily="2" charset="-122"/>
                <a:ea typeface="宋体" panose="02010600030101010101" pitchFamily="2" charset="-122"/>
                <a:cs typeface="宋体" panose="02010600030101010101" pitchFamily="2" charset="-122"/>
              </a:rPr>
              <a:t>8</a:t>
            </a:r>
            <a:r>
              <a:rPr lang="zh-CN" altLang="en-US" sz="1800" dirty="0">
                <a:latin typeface="宋体" panose="02010600030101010101" pitchFamily="2" charset="-122"/>
                <a:ea typeface="宋体" panose="02010600030101010101" pitchFamily="2" charset="-122"/>
                <a:cs typeface="宋体" panose="02010600030101010101" pitchFamily="2" charset="-122"/>
              </a:rPr>
              <a:t>分）设某计算机的逻辑地址空间和物理地址空间均为</a:t>
            </a:r>
            <a:r>
              <a:rPr lang="en-US" altLang="zh-CN" sz="1800" dirty="0">
                <a:solidFill>
                  <a:srgbClr val="FF0000"/>
                </a:solidFill>
                <a:latin typeface="宋体" panose="02010600030101010101" pitchFamily="2" charset="-122"/>
                <a:ea typeface="宋体" panose="02010600030101010101" pitchFamily="2" charset="-122"/>
                <a:cs typeface="宋体" panose="02010600030101010101" pitchFamily="2" charset="-122"/>
              </a:rPr>
              <a:t>64KB</a:t>
            </a:r>
            <a:r>
              <a:rPr lang="en-US" altLang="zh-CN" sz="1800" dirty="0">
                <a:latin typeface="宋体" panose="02010600030101010101" pitchFamily="2" charset="-122"/>
                <a:ea typeface="宋体" panose="02010600030101010101" pitchFamily="2" charset="-122"/>
                <a:cs typeface="宋体" panose="02010600030101010101" pitchFamily="2" charset="-122"/>
              </a:rPr>
              <a:t>.</a:t>
            </a:r>
            <a:r>
              <a:rPr lang="zh-CN" altLang="en-US" sz="1800" dirty="0">
                <a:latin typeface="宋体" panose="02010600030101010101" pitchFamily="2" charset="-122"/>
                <a:ea typeface="宋体" panose="02010600030101010101" pitchFamily="2" charset="-122"/>
                <a:cs typeface="宋体" panose="02010600030101010101" pitchFamily="2" charset="-122"/>
              </a:rPr>
              <a:t>按字节编址。若某进程最多需要</a:t>
            </a:r>
            <a:r>
              <a:rPr lang="en-US" altLang="zh-CN" sz="1800" dirty="0">
                <a:solidFill>
                  <a:srgbClr val="FF0000"/>
                </a:solidFill>
                <a:latin typeface="宋体" panose="02010600030101010101" pitchFamily="2" charset="-122"/>
                <a:ea typeface="宋体" panose="02010600030101010101" pitchFamily="2" charset="-122"/>
                <a:cs typeface="宋体" panose="02010600030101010101" pitchFamily="2" charset="-122"/>
              </a:rPr>
              <a:t>6</a:t>
            </a:r>
            <a:r>
              <a:rPr lang="zh-CN" altLang="en-US" sz="1800" dirty="0">
                <a:solidFill>
                  <a:srgbClr val="FF0000"/>
                </a:solidFill>
                <a:latin typeface="宋体" panose="02010600030101010101" pitchFamily="2" charset="-122"/>
                <a:ea typeface="宋体" panose="02010600030101010101" pitchFamily="2" charset="-122"/>
                <a:cs typeface="宋体" panose="02010600030101010101" pitchFamily="2" charset="-122"/>
              </a:rPr>
              <a:t>页</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latin typeface="宋体" panose="02010600030101010101" pitchFamily="2" charset="-122"/>
                <a:ea typeface="宋体" panose="02010600030101010101" pitchFamily="2" charset="-122"/>
                <a:cs typeface="宋体" panose="02010600030101010101" pitchFamily="2" charset="-122"/>
              </a:rPr>
              <a:t>Page</a:t>
            </a:r>
            <a:r>
              <a:rPr lang="zh-CN" altLang="en-US" sz="1800" dirty="0">
                <a:latin typeface="宋体" panose="02010600030101010101" pitchFamily="2" charset="-122"/>
                <a:ea typeface="宋体" panose="02010600030101010101" pitchFamily="2" charset="-122"/>
                <a:cs typeface="宋体" panose="02010600030101010101" pitchFamily="2" charset="-122"/>
              </a:rPr>
              <a:t>）数据存储空间，页的大小为</a:t>
            </a:r>
            <a:r>
              <a:rPr lang="en-US" altLang="zh-CN" sz="1800" dirty="0">
                <a:solidFill>
                  <a:srgbClr val="FF0000"/>
                </a:solidFill>
                <a:latin typeface="宋体" panose="02010600030101010101" pitchFamily="2" charset="-122"/>
                <a:ea typeface="宋体" panose="02010600030101010101" pitchFamily="2" charset="-122"/>
                <a:cs typeface="宋体" panose="02010600030101010101" pitchFamily="2" charset="-122"/>
              </a:rPr>
              <a:t>1KB</a:t>
            </a:r>
            <a:r>
              <a:rPr lang="en-US" altLang="zh-CN" sz="1800" dirty="0">
                <a:latin typeface="宋体" panose="02010600030101010101" pitchFamily="2" charset="-122"/>
                <a:ea typeface="宋体" panose="02010600030101010101" pitchFamily="2" charset="-122"/>
                <a:cs typeface="宋体" panose="02010600030101010101" pitchFamily="2" charset="-122"/>
              </a:rPr>
              <a:t>.</a:t>
            </a:r>
            <a:r>
              <a:rPr lang="zh-CN" altLang="en-US" sz="1800" dirty="0">
                <a:latin typeface="宋体" panose="02010600030101010101" pitchFamily="2" charset="-122"/>
                <a:ea typeface="宋体" panose="02010600030101010101" pitchFamily="2" charset="-122"/>
                <a:cs typeface="宋体" panose="02010600030101010101" pitchFamily="2" charset="-122"/>
              </a:rPr>
              <a:t>操作系统采用固定分配局部置换策略为此进程分配</a:t>
            </a:r>
            <a:r>
              <a:rPr lang="en-US" altLang="zh-CN" sz="1800" dirty="0">
                <a:solidFill>
                  <a:srgbClr val="FF0000"/>
                </a:solidFill>
                <a:latin typeface="宋体" panose="02010600030101010101" pitchFamily="2" charset="-122"/>
                <a:ea typeface="宋体" panose="02010600030101010101" pitchFamily="2" charset="-122"/>
                <a:cs typeface="宋体" panose="02010600030101010101" pitchFamily="2" charset="-122"/>
              </a:rPr>
              <a:t>4</a:t>
            </a:r>
            <a:r>
              <a:rPr lang="zh-CN" altLang="en-US" sz="1800" dirty="0">
                <a:solidFill>
                  <a:srgbClr val="FF0000"/>
                </a:solidFill>
                <a:latin typeface="宋体" panose="02010600030101010101" pitchFamily="2" charset="-122"/>
                <a:ea typeface="宋体" panose="02010600030101010101" pitchFamily="2" charset="-122"/>
                <a:cs typeface="宋体" panose="02010600030101010101" pitchFamily="2" charset="-122"/>
              </a:rPr>
              <a:t>个页框</a:t>
            </a:r>
            <a:r>
              <a:rPr lang="zh-CN" altLang="en-US" sz="1800" dirty="0">
                <a:latin typeface="宋体" panose="02010600030101010101" pitchFamily="2" charset="-122"/>
                <a:ea typeface="宋体" panose="02010600030101010101" pitchFamily="2" charset="-122"/>
                <a:cs typeface="宋体" panose="02010600030101010101" pitchFamily="2" charset="-122"/>
              </a:rPr>
              <a:t>（</a:t>
            </a:r>
            <a:r>
              <a:rPr lang="en-US" altLang="zh-CN" sz="1800" dirty="0">
                <a:latin typeface="宋体" panose="02010600030101010101" pitchFamily="2" charset="-122"/>
                <a:ea typeface="宋体" panose="02010600030101010101" pitchFamily="2" charset="-122"/>
                <a:cs typeface="宋体" panose="02010600030101010101" pitchFamily="2" charset="-122"/>
              </a:rPr>
              <a:t>Page Fame</a:t>
            </a:r>
            <a:r>
              <a:rPr lang="zh-CN" altLang="en-US" sz="1800" dirty="0">
                <a:latin typeface="宋体" panose="02010600030101010101" pitchFamily="2" charset="-122"/>
                <a:ea typeface="宋体" panose="02010600030101010101" pitchFamily="2" charset="-122"/>
                <a:cs typeface="宋体" panose="02010600030101010101" pitchFamily="2" charset="-122"/>
              </a:rPr>
              <a:t>） 。</a:t>
            </a:r>
            <a:endParaRPr lang="zh-CN" altLang="en-US" sz="180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1268" name="内容占位符 11267"/>
          <p:cNvGraphicFramePr>
            <a:graphicFrameLocks noGrp="1"/>
          </p:cNvGraphicFramePr>
          <p:nvPr>
            <p:ph sz="half" idx="2"/>
            <p:custDataLst>
              <p:tags r:id="rId1"/>
            </p:custDataLst>
          </p:nvPr>
        </p:nvGraphicFramePr>
        <p:xfrm>
          <a:off x="1626394" y="2607469"/>
          <a:ext cx="5557839" cy="1943100"/>
        </p:xfrm>
        <a:graphic>
          <a:graphicData uri="http://schemas.openxmlformats.org/drawingml/2006/table">
            <a:tbl>
              <a:tblPr/>
              <a:tblGrid>
                <a:gridCol w="1389698"/>
                <a:gridCol w="1415415"/>
                <a:gridCol w="1363028"/>
                <a:gridCol w="1389698"/>
              </a:tblGrid>
              <a:tr h="388620">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100" dirty="0"/>
                        <a:t>页号</a:t>
                      </a:r>
                      <a:endParaRPr lang="zh-CN" altLang="en-US" sz="2100" dirty="0"/>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100" dirty="0"/>
                        <a:t>页框号</a:t>
                      </a:r>
                      <a:endParaRPr lang="zh-CN" altLang="en-US" sz="2100" dirty="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100" dirty="0"/>
                        <a:t>装入时间</a:t>
                      </a:r>
                      <a:endParaRPr lang="zh-CN" altLang="en-US" sz="2100" dirty="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zh-CN" altLang="en-US" sz="2100" dirty="0"/>
                        <a:t>访问位</a:t>
                      </a:r>
                      <a:endParaRPr lang="zh-CN" altLang="en-US" sz="2100" dirty="0"/>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88620">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0</a:t>
                      </a:r>
                      <a:endParaRPr lang="en-US" altLang="zh-CN" sz="2100"/>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7</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130</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1</a:t>
                      </a:r>
                      <a:endParaRPr lang="en-US" altLang="zh-CN" sz="2100"/>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88620">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1</a:t>
                      </a:r>
                      <a:endParaRPr lang="en-US" altLang="zh-CN" sz="2100"/>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4</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230</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1</a:t>
                      </a:r>
                      <a:endParaRPr lang="en-US" altLang="zh-CN" sz="2100"/>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88620">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2</a:t>
                      </a:r>
                      <a:endParaRPr lang="en-US" altLang="zh-CN" sz="2100"/>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2</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200</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1</a:t>
                      </a:r>
                      <a:endParaRPr lang="en-US" altLang="zh-CN" sz="2100"/>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88620">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3</a:t>
                      </a:r>
                      <a:endParaRPr lang="en-US" altLang="zh-CN" sz="2100"/>
                    </a:p>
                  </a:txBody>
                  <a:tcPr marL="68580" marR="68580" marT="34290" marB="3429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9</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160</a:t>
                      </a:r>
                      <a:endParaRPr lang="en-US" altLang="zh-CN" sz="2100"/>
                    </a:p>
                  </a:txBody>
                  <a:tcPr marL="68580" marR="68580" marT="34290" marB="3429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marL="0" lvl="0" indent="0">
                        <a:buNone/>
                      </a:pPr>
                      <a:r>
                        <a:rPr lang="en-US" altLang="zh-CN" sz="2100"/>
                        <a:t>1</a:t>
                      </a:r>
                      <a:endParaRPr lang="en-US" altLang="zh-CN" sz="2100"/>
                    </a:p>
                  </a:txBody>
                  <a:tcPr marL="68580" marR="68580" marT="34290" marB="3429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250" name="矩形 11299"/>
          <p:cNvSpPr/>
          <p:nvPr/>
        </p:nvSpPr>
        <p:spPr>
          <a:xfrm>
            <a:off x="1121093" y="4730115"/>
            <a:ext cx="6777990" cy="539115"/>
          </a:xfrm>
          <a:prstGeom prst="rect">
            <a:avLst/>
          </a:prstGeom>
          <a:solidFill>
            <a:schemeClr val="accent1">
              <a:alpha val="0"/>
            </a:schemeClr>
          </a:solidFill>
          <a:ln w="9525" cap="flat" cmpd="sng">
            <a:solidFill>
              <a:schemeClr val="bg1"/>
            </a:solidFill>
            <a:prstDash val="solid"/>
            <a:miter/>
            <a:headEnd type="none" w="med" len="med"/>
            <a:tailEnd type="none" w="med" len="med"/>
          </a:ln>
        </p:spPr>
        <p:txBody>
          <a:bodyPr wrap="none" anchor="ctr" anchorCtr="0"/>
          <a:lstStyle/>
          <a:p>
            <a:r>
              <a:rPr lang="zh-CN" altLang="en-US" dirty="0">
                <a:latin typeface="Tahoma" panose="020B0604030504040204" pitchFamily="34" charset="0"/>
              </a:rPr>
              <a:t>当该进程执行到时刻</a:t>
            </a:r>
            <a:r>
              <a:rPr lang="en-US" altLang="zh-CN" dirty="0">
                <a:latin typeface="Tahoma" panose="020B0604030504040204" pitchFamily="34" charset="0"/>
              </a:rPr>
              <a:t>260</a:t>
            </a:r>
            <a:r>
              <a:rPr lang="zh-CN" altLang="en-US" dirty="0">
                <a:latin typeface="Tahoma" panose="020B0604030504040204" pitchFamily="34" charset="0"/>
              </a:rPr>
              <a:t>时，要访问逻辑地址为</a:t>
            </a:r>
            <a:r>
              <a:rPr lang="en-US" altLang="zh-CN" dirty="0">
                <a:latin typeface="Tahoma" panose="020B0604030504040204" pitchFamily="34" charset="0"/>
              </a:rPr>
              <a:t>17CAH</a:t>
            </a:r>
            <a:r>
              <a:rPr lang="zh-CN" altLang="en-US" dirty="0">
                <a:latin typeface="Tahoma" panose="020B0604030504040204" pitchFamily="34" charset="0"/>
              </a:rPr>
              <a:t>的数据，</a:t>
            </a:r>
            <a:endParaRPr lang="zh-CN" altLang="en-US" dirty="0">
              <a:latin typeface="Tahoma" panose="020B0604030504040204" pitchFamily="34" charset="0"/>
            </a:endParaRPr>
          </a:p>
          <a:p>
            <a:r>
              <a:rPr lang="zh-CN" altLang="en-US" dirty="0">
                <a:latin typeface="Tahoma" panose="020B0604030504040204" pitchFamily="34" charset="0"/>
              </a:rPr>
              <a:t>请问答下列问题：</a:t>
            </a:r>
            <a:endParaRPr lang="zh-CN" altLang="en-US" dirty="0">
              <a:latin typeface="Tahoma" panose="020B0604030504040204" pitchFamily="34" charset="0"/>
            </a:endParaRPr>
          </a:p>
        </p:txBody>
      </p:sp>
    </p:spTree>
  </p:cSld>
  <p:clrMapOvr>
    <a:masterClrMapping/>
  </p:clrMapOvr>
  <p:transition spd="slow">
    <p:pull dir="ru"/>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文本占位符 12289"/>
          <p:cNvSpPr>
            <a:spLocks noGrp="1"/>
          </p:cNvSpPr>
          <p:nvPr>
            <p:ph idx="1"/>
          </p:nvPr>
        </p:nvSpPr>
        <p:spPr>
          <a:xfrm>
            <a:off x="957739" y="1482566"/>
            <a:ext cx="7648099" cy="2056448"/>
          </a:xfrm>
        </p:spPr>
        <p:txBody>
          <a:bodyPr anchor="t" anchorCtr="0">
            <a:normAutofit/>
          </a:bodyPr>
          <a:lstStyle/>
          <a:p>
            <a:pPr fontAlgn="auto">
              <a:lnSpc>
                <a:spcPct val="100000"/>
              </a:lnSpc>
            </a:pPr>
            <a:r>
              <a:rPr lang="zh-CN" altLang="en-US" sz="1800" dirty="0"/>
              <a:t>（</a:t>
            </a:r>
            <a:r>
              <a:rPr lang="en-US" altLang="zh-CN" sz="1800" dirty="0"/>
              <a:t>1</a:t>
            </a:r>
            <a:r>
              <a:rPr lang="zh-CN" altLang="en-US" sz="1800" dirty="0"/>
              <a:t>）该逻辑地址对应的页号是多少？</a:t>
            </a:r>
            <a:endParaRPr lang="zh-CN" altLang="en-US" sz="1800" dirty="0"/>
          </a:p>
          <a:p>
            <a:pPr fontAlgn="auto">
              <a:lnSpc>
                <a:spcPct val="100000"/>
              </a:lnSpc>
            </a:pPr>
            <a:r>
              <a:rPr lang="zh-CN" altLang="en-US" sz="1800" dirty="0"/>
              <a:t>（</a:t>
            </a:r>
            <a:r>
              <a:rPr lang="en-US" altLang="zh-CN" sz="1800" dirty="0"/>
              <a:t>2</a:t>
            </a:r>
            <a:r>
              <a:rPr lang="zh-CN" altLang="en-US" sz="1800" dirty="0"/>
              <a:t>）若采用先进先出（</a:t>
            </a:r>
            <a:r>
              <a:rPr lang="en-US" altLang="zh-CN" sz="1800" dirty="0"/>
              <a:t>FIFO</a:t>
            </a:r>
            <a:r>
              <a:rPr lang="zh-CN" altLang="en-US" sz="1800" dirty="0"/>
              <a:t>）置换算法，该逻辑地址对应的物理地址是多少？要求给出计算过程。</a:t>
            </a:r>
            <a:endParaRPr lang="zh-CN" altLang="en-US" sz="1800" dirty="0"/>
          </a:p>
          <a:p>
            <a:pPr fontAlgn="auto">
              <a:lnSpc>
                <a:spcPct val="100000"/>
              </a:lnSpc>
            </a:pPr>
            <a:r>
              <a:rPr lang="zh-CN" altLang="en-US" sz="1800" dirty="0"/>
              <a:t>（</a:t>
            </a:r>
            <a:r>
              <a:rPr lang="en-US" altLang="zh-CN" sz="1800" dirty="0"/>
              <a:t>3</a:t>
            </a:r>
            <a:r>
              <a:rPr lang="zh-CN" altLang="en-US" sz="1800" dirty="0"/>
              <a:t>）若采用时钟（</a:t>
            </a:r>
            <a:r>
              <a:rPr lang="en-US" altLang="zh-CN" sz="1800" dirty="0"/>
              <a:t>CLOCK</a:t>
            </a:r>
            <a:r>
              <a:rPr lang="zh-CN" altLang="en-US" sz="1800" dirty="0"/>
              <a:t>）置换算法，该逻辑地址对应的物理地址是多少？要求给出计算过程。（设搜索下一页的指针沿顺时针方向移动，且当前指向</a:t>
            </a:r>
            <a:r>
              <a:rPr lang="en-US" altLang="zh-CN" sz="1800" dirty="0"/>
              <a:t>2</a:t>
            </a:r>
            <a:r>
              <a:rPr lang="zh-CN" altLang="en-US" sz="1800" dirty="0"/>
              <a:t>号页框，示意图如下。）</a:t>
            </a:r>
            <a:endParaRPr lang="zh-CN" altLang="en-US" sz="1800" dirty="0"/>
          </a:p>
        </p:txBody>
      </p:sp>
      <p:pic>
        <p:nvPicPr>
          <p:cNvPr id="10242" name="图片 12290" descr="W020100112393976017288"/>
          <p:cNvPicPr>
            <a:picLocks noChangeAspect="1"/>
          </p:cNvPicPr>
          <p:nvPr/>
        </p:nvPicPr>
        <p:blipFill>
          <a:blip r:embed="rId1"/>
          <a:stretch>
            <a:fillRect/>
          </a:stretch>
        </p:blipFill>
        <p:spPr>
          <a:xfrm>
            <a:off x="2465785" y="3429000"/>
            <a:ext cx="4374356" cy="2256235"/>
          </a:xfrm>
          <a:prstGeom prst="rect">
            <a:avLst/>
          </a:prstGeom>
          <a:noFill/>
          <a:ln w="9525">
            <a:noFill/>
          </a:ln>
        </p:spPr>
      </p:pic>
      <p:sp>
        <p:nvSpPr>
          <p:cNvPr id="10243" name="直接连接符 12291"/>
          <p:cNvSpPr/>
          <p:nvPr/>
        </p:nvSpPr>
        <p:spPr>
          <a:xfrm flipV="1">
            <a:off x="4625579" y="4238625"/>
            <a:ext cx="216694" cy="325041"/>
          </a:xfrm>
          <a:prstGeom prst="line">
            <a:avLst/>
          </a:prstGeom>
          <a:ln w="9525" cap="flat" cmpd="sng">
            <a:solidFill>
              <a:schemeClr val="hlink"/>
            </a:solidFill>
            <a:prstDash val="solid"/>
            <a:round/>
            <a:headEnd type="none" w="med" len="med"/>
            <a:tailEnd type="triangle" w="med" len="med"/>
          </a:ln>
        </p:spPr>
        <p:txBody>
          <a:bodyPr anchor="t" anchorCtr="0"/>
          <a:lstStyle/>
          <a:p>
            <a:endParaRPr lang="zh-CN" altLang="en-US">
              <a:latin typeface="Arial" panose="020B0604020202020204" pitchFamily="34" charset="0"/>
              <a:ea typeface="宋体" panose="02010600030101010101" pitchFamily="2" charset="-122"/>
            </a:endParaRPr>
          </a:p>
        </p:txBody>
      </p:sp>
    </p:spTree>
  </p:cSld>
  <p:clrMapOvr>
    <a:masterClrMapping/>
  </p:clrMapOvr>
  <p:transition spd="slow">
    <p:pull dir="ru"/>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3313"/>
          <p:cNvSpPr>
            <a:spLocks noGrp="1"/>
          </p:cNvSpPr>
          <p:nvPr>
            <p:ph type="title"/>
          </p:nvPr>
        </p:nvSpPr>
        <p:spPr/>
        <p:txBody>
          <a:bodyPr anchor="ctr" anchorCtr="0"/>
          <a:lstStyle/>
          <a:p>
            <a:endParaRPr lang="zh-CN" altLang="en-US" dirty="0"/>
          </a:p>
        </p:txBody>
      </p:sp>
      <p:sp>
        <p:nvSpPr>
          <p:cNvPr id="11266" name="文本占位符 13314"/>
          <p:cNvSpPr>
            <a:spLocks noGrp="1"/>
          </p:cNvSpPr>
          <p:nvPr>
            <p:ph idx="1"/>
          </p:nvPr>
        </p:nvSpPr>
        <p:spPr/>
        <p:txBody>
          <a:bodyPr anchor="t" anchorCtr="0"/>
          <a:lstStyle/>
          <a:p>
            <a:pPr>
              <a:lnSpc>
                <a:spcPct val="90000"/>
              </a:lnSpc>
            </a:pPr>
            <a:r>
              <a:rPr lang="zh-CN" altLang="en-US" sz="1800" dirty="0"/>
              <a:t>解答：</a:t>
            </a:r>
            <a:r>
              <a:rPr lang="en-US" altLang="zh-CN" sz="1800" dirty="0"/>
              <a:t>17CAH=(0001 0111 1100 1010)</a:t>
            </a:r>
            <a:r>
              <a:rPr lang="en-US" altLang="zh-CN" sz="1800" baseline="-25000" dirty="0">
                <a:solidFill>
                  <a:srgbClr val="FF0000"/>
                </a:solidFill>
              </a:rPr>
              <a:t>2</a:t>
            </a:r>
            <a:r>
              <a:rPr lang="zh-CN" altLang="en-US" sz="1800" dirty="0"/>
              <a:t>，</a:t>
            </a:r>
            <a:endParaRPr lang="zh-CN" altLang="en-US" sz="1800" dirty="0"/>
          </a:p>
          <a:p>
            <a:pPr>
              <a:lnSpc>
                <a:spcPct val="90000"/>
              </a:lnSpc>
            </a:pPr>
            <a:endParaRPr lang="zh-CN" altLang="en-US" sz="1800" dirty="0"/>
          </a:p>
          <a:p>
            <a:pPr>
              <a:lnSpc>
                <a:spcPct val="90000"/>
              </a:lnSpc>
            </a:pPr>
            <a:r>
              <a:rPr lang="zh-CN" altLang="en-US" sz="1800" dirty="0"/>
              <a:t>（</a:t>
            </a:r>
            <a:r>
              <a:rPr lang="en-US" altLang="zh-CN" sz="1800" dirty="0"/>
              <a:t>1</a:t>
            </a:r>
            <a:r>
              <a:rPr lang="zh-CN" altLang="en-US" sz="1800" dirty="0"/>
              <a:t>）页大小为</a:t>
            </a:r>
            <a:r>
              <a:rPr lang="en-US" altLang="zh-CN" sz="1800" dirty="0"/>
              <a:t>1K</a:t>
            </a:r>
            <a:r>
              <a:rPr lang="zh-CN" altLang="en-US" sz="1800" dirty="0"/>
              <a:t>，所以页内偏移地址为</a:t>
            </a:r>
            <a:r>
              <a:rPr lang="en-US" altLang="zh-CN" sz="1800" dirty="0"/>
              <a:t>10</a:t>
            </a:r>
            <a:r>
              <a:rPr lang="zh-CN" altLang="en-US" sz="1800" dirty="0"/>
              <a:t>位，于是</a:t>
            </a:r>
            <a:r>
              <a:rPr lang="zh-CN" altLang="en-US" sz="1800" dirty="0">
                <a:solidFill>
                  <a:srgbClr val="FF0000"/>
                </a:solidFill>
              </a:rPr>
              <a:t>前</a:t>
            </a:r>
            <a:r>
              <a:rPr lang="en-US" altLang="zh-CN" sz="1800" dirty="0">
                <a:solidFill>
                  <a:srgbClr val="FF0000"/>
                </a:solidFill>
              </a:rPr>
              <a:t>6</a:t>
            </a:r>
            <a:r>
              <a:rPr lang="zh-CN" altLang="en-US" sz="1800" dirty="0">
                <a:solidFill>
                  <a:srgbClr val="FF0000"/>
                </a:solidFill>
              </a:rPr>
              <a:t>位是页号</a:t>
            </a:r>
            <a:r>
              <a:rPr lang="zh-CN" altLang="en-US" sz="1800" dirty="0"/>
              <a:t>，所以第一问的解为：</a:t>
            </a:r>
            <a:r>
              <a:rPr lang="en-US" altLang="zh-CN" sz="1800" dirty="0"/>
              <a:t>5</a:t>
            </a:r>
            <a:r>
              <a:rPr lang="zh-CN" altLang="en-US" sz="1800" dirty="0"/>
              <a:t>。</a:t>
            </a:r>
            <a:endParaRPr lang="zh-CN" altLang="en-US" sz="1800" dirty="0"/>
          </a:p>
          <a:p>
            <a:pPr>
              <a:lnSpc>
                <a:spcPct val="90000"/>
              </a:lnSpc>
            </a:pPr>
            <a:endParaRPr lang="zh-CN" altLang="en-US" sz="1800" dirty="0"/>
          </a:p>
          <a:p>
            <a:pPr>
              <a:lnSpc>
                <a:spcPct val="90000"/>
              </a:lnSpc>
            </a:pPr>
            <a:r>
              <a:rPr lang="zh-CN" altLang="en-US" sz="1800" dirty="0"/>
              <a:t>（</a:t>
            </a:r>
            <a:r>
              <a:rPr lang="en-US" altLang="zh-CN" sz="1800" dirty="0"/>
              <a:t>2</a:t>
            </a:r>
            <a:r>
              <a:rPr lang="zh-CN" altLang="en-US" sz="1800" dirty="0"/>
              <a:t>）</a:t>
            </a:r>
            <a:r>
              <a:rPr lang="en-US" altLang="zh-CN" sz="1800" dirty="0"/>
              <a:t>FIFO</a:t>
            </a:r>
            <a:r>
              <a:rPr lang="zh-CN" altLang="en-US" sz="1800" dirty="0"/>
              <a:t>，则被置换的页面所在页框为</a:t>
            </a:r>
            <a:r>
              <a:rPr lang="en-US" altLang="zh-CN" sz="1800" dirty="0">
                <a:solidFill>
                  <a:srgbClr val="FF0000"/>
                </a:solidFill>
              </a:rPr>
              <a:t>7</a:t>
            </a:r>
            <a:r>
              <a:rPr lang="zh-CN" altLang="en-US" sz="1800" dirty="0"/>
              <a:t>，所以对应的物理地址为（</a:t>
            </a:r>
            <a:r>
              <a:rPr lang="en-US" altLang="zh-CN" sz="1800" dirty="0"/>
              <a:t>0001 1111 1100 1010</a:t>
            </a:r>
            <a:r>
              <a:rPr lang="zh-CN" altLang="en-US" sz="1800" dirty="0"/>
              <a:t>）</a:t>
            </a:r>
            <a:r>
              <a:rPr lang="en-US" altLang="zh-CN" sz="1800" baseline="-25000" dirty="0"/>
              <a:t>2</a:t>
            </a:r>
            <a:r>
              <a:rPr lang="en-US" altLang="zh-CN" sz="1800" dirty="0"/>
              <a:t>-1FCAH</a:t>
            </a:r>
            <a:r>
              <a:rPr lang="zh-CN" altLang="en-US" sz="1800" dirty="0"/>
              <a:t>。</a:t>
            </a:r>
            <a:endParaRPr lang="zh-CN" altLang="en-US" sz="1800" dirty="0"/>
          </a:p>
          <a:p>
            <a:pPr>
              <a:lnSpc>
                <a:spcPct val="90000"/>
              </a:lnSpc>
            </a:pPr>
            <a:endParaRPr lang="zh-CN" altLang="en-US" sz="1800" dirty="0"/>
          </a:p>
          <a:p>
            <a:pPr>
              <a:lnSpc>
                <a:spcPct val="90000"/>
              </a:lnSpc>
            </a:pPr>
            <a:r>
              <a:rPr lang="zh-CN" altLang="en-US" sz="1800" dirty="0"/>
              <a:t>（</a:t>
            </a:r>
            <a:r>
              <a:rPr lang="en-US" altLang="zh-CN" sz="1800" dirty="0"/>
              <a:t>3</a:t>
            </a:r>
            <a:r>
              <a:rPr lang="zh-CN" altLang="en-US" sz="1800" dirty="0"/>
              <a:t>）</a:t>
            </a:r>
            <a:r>
              <a:rPr lang="en-US" altLang="zh-CN" sz="1800" dirty="0"/>
              <a:t>CLOCK,</a:t>
            </a:r>
            <a:r>
              <a:rPr lang="zh-CN" altLang="en-US" sz="1800" dirty="0"/>
              <a:t>则被置换的页面所在页框为</a:t>
            </a:r>
            <a:r>
              <a:rPr lang="en-US" altLang="zh-CN" sz="1800" dirty="0">
                <a:solidFill>
                  <a:srgbClr val="FF0000"/>
                </a:solidFill>
              </a:rPr>
              <a:t>2</a:t>
            </a:r>
            <a:r>
              <a:rPr lang="zh-CN" altLang="en-US" sz="1800" dirty="0"/>
              <a:t>，所以对应的物理地址为（</a:t>
            </a:r>
            <a:r>
              <a:rPr lang="en-US" altLang="zh-CN" sz="1800" dirty="0"/>
              <a:t>0000 1011 1100 1010</a:t>
            </a:r>
            <a:r>
              <a:rPr lang="zh-CN" altLang="en-US" sz="1800" dirty="0"/>
              <a:t>）</a:t>
            </a:r>
            <a:r>
              <a:rPr lang="en-US" altLang="zh-CN" sz="1800" dirty="0"/>
              <a:t>2-0BCAH</a:t>
            </a:r>
            <a:r>
              <a:rPr lang="zh-CN" altLang="en-US" sz="1800" dirty="0"/>
              <a:t>。</a:t>
            </a:r>
            <a:endParaRPr lang="zh-CN" altLang="en-US" sz="1800" dirty="0"/>
          </a:p>
        </p:txBody>
      </p:sp>
    </p:spTree>
  </p:cSld>
  <p:clrMapOvr>
    <a:masterClrMapping/>
  </p:clrMapOvr>
  <p:transition spd="slow">
    <p:pull dir="ru"/>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页面缓冲算法</a:t>
            </a:r>
            <a:r>
              <a:rPr lang="en-US" altLang="zh-CN" sz="2100" b="1" dirty="0">
                <a:solidFill>
                  <a:schemeClr val="bg1"/>
                </a:solidFill>
                <a:cs typeface="+mn-ea"/>
                <a:sym typeface="+mn-lt"/>
              </a:rPr>
              <a:t>PBA</a:t>
            </a:r>
            <a:endParaRPr lang="zh-CN" altLang="en-US" sz="2100" b="1" dirty="0">
              <a:solidFill>
                <a:schemeClr val="bg1"/>
              </a:solidFill>
              <a:cs typeface="+mn-ea"/>
              <a:sym typeface="+mn-lt"/>
            </a:endParaRPr>
          </a:p>
        </p:txBody>
      </p:sp>
      <p:sp>
        <p:nvSpPr>
          <p:cNvPr id="220" name="íšḻîḋè"/>
          <p:cNvSpPr/>
          <p:nvPr/>
        </p:nvSpPr>
        <p:spPr>
          <a:xfrm>
            <a:off x="1324425" y="2915527"/>
            <a:ext cx="6291622" cy="699851"/>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cs typeface="+mn-ea"/>
                <a:sym typeface="+mn-lt"/>
              </a:rPr>
              <a:t>显著降低页面换进、换出的频率，减少了开销</a:t>
            </a:r>
            <a:endParaRPr lang="zh-CN" altLang="en-US" sz="1650" dirty="0">
              <a:cs typeface="+mn-ea"/>
              <a:sym typeface="+mn-lt"/>
            </a:endParaRPr>
          </a:p>
          <a:p>
            <a:pPr marL="257175" indent="-257175">
              <a:lnSpc>
                <a:spcPct val="120000"/>
              </a:lnSpc>
              <a:buClr>
                <a:srgbClr val="FF0000"/>
              </a:buClr>
              <a:buFont typeface="Wingdings" panose="05000000000000000000" pitchFamily="2" charset="2"/>
              <a:buChar char="Ø"/>
            </a:pPr>
            <a:r>
              <a:rPr lang="zh-CN" altLang="en-US" sz="1650" dirty="0">
                <a:cs typeface="+mn-ea"/>
                <a:sym typeface="+mn-lt"/>
              </a:rPr>
              <a:t>可采用较简单的置换策略，不需要硬件支持</a:t>
            </a:r>
            <a:endParaRPr lang="zh-CN" altLang="en-US" sz="1650" dirty="0">
              <a:cs typeface="+mn-ea"/>
              <a:sym typeface="+mn-lt"/>
            </a:endParaRPr>
          </a:p>
        </p:txBody>
      </p:sp>
      <p:sp>
        <p:nvSpPr>
          <p:cNvPr id="221" name="i$lîďê"/>
          <p:cNvSpPr/>
          <p:nvPr/>
        </p:nvSpPr>
        <p:spPr>
          <a:xfrm>
            <a:off x="1366152" y="2577183"/>
            <a:ext cx="2772038" cy="294658"/>
          </a:xfrm>
          <a:prstGeom prst="rect">
            <a:avLst/>
          </a:prstGeom>
          <a:noFill/>
          <a:ln>
            <a:noFill/>
          </a:ln>
        </p:spPr>
        <p:txBody>
          <a:bodyPr wrap="square" lIns="68580" tIns="34290" rIns="68580" bIns="34290" anchor="ctr" anchorCtr="0">
            <a:noAutofit/>
          </a:bodyPr>
          <a:lstStyle/>
          <a:p>
            <a:r>
              <a:rPr lang="zh-CN" altLang="en-US" dirty="0">
                <a:cs typeface="+mn-ea"/>
                <a:sym typeface="+mn-lt"/>
              </a:rPr>
              <a:t>目的：</a:t>
            </a:r>
            <a:endParaRPr lang="zh-CN" altLang="en-US" dirty="0">
              <a:cs typeface="+mn-ea"/>
              <a:sym typeface="+mn-lt"/>
            </a:endParaRPr>
          </a:p>
        </p:txBody>
      </p:sp>
      <p:sp>
        <p:nvSpPr>
          <p:cNvPr id="222" name="î$ļíḋè"/>
          <p:cNvSpPr/>
          <p:nvPr/>
        </p:nvSpPr>
        <p:spPr>
          <a:xfrm>
            <a:off x="1366151" y="3991391"/>
            <a:ext cx="7297718" cy="459926"/>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b="1" dirty="0">
                <a:solidFill>
                  <a:srgbClr val="000000"/>
                </a:solidFill>
                <a:sym typeface="+mn-ea"/>
              </a:rPr>
              <a:t>用</a:t>
            </a:r>
            <a:r>
              <a:rPr lang="en-US" altLang="zh-CN" sz="1650" b="1" dirty="0">
                <a:solidFill>
                  <a:srgbClr val="000000"/>
                </a:solidFill>
                <a:sym typeface="+mn-ea"/>
              </a:rPr>
              <a:t>FIFO</a:t>
            </a:r>
            <a:r>
              <a:rPr lang="zh-CN" altLang="en-US" sz="1650" b="1" dirty="0">
                <a:solidFill>
                  <a:srgbClr val="000000"/>
                </a:solidFill>
                <a:sym typeface="+mn-ea"/>
              </a:rPr>
              <a:t>算法选择被置换页，把被置换的页面放入</a:t>
            </a:r>
            <a:r>
              <a:rPr lang="zh-CN" altLang="en-US" sz="1650" b="1" dirty="0">
                <a:solidFill>
                  <a:srgbClr val="FF0000"/>
                </a:solidFill>
                <a:sym typeface="+mn-ea"/>
              </a:rPr>
              <a:t>两个链表</a:t>
            </a:r>
            <a:r>
              <a:rPr lang="zh-CN" altLang="en-US" sz="1650" b="1" dirty="0">
                <a:solidFill>
                  <a:srgbClr val="000000"/>
                </a:solidFill>
                <a:sym typeface="+mn-ea"/>
              </a:rPr>
              <a:t>之一。</a:t>
            </a:r>
            <a:endParaRPr lang="zh-CN" altLang="en-US" sz="1650" dirty="0">
              <a:cs typeface="+mn-ea"/>
              <a:sym typeface="+mn-lt"/>
            </a:endParaRPr>
          </a:p>
          <a:p>
            <a:pPr marL="257175" indent="-257175">
              <a:lnSpc>
                <a:spcPct val="120000"/>
              </a:lnSpc>
              <a:buClr>
                <a:srgbClr val="FF0000"/>
              </a:buClr>
              <a:buFont typeface="Wingdings" panose="05000000000000000000" pitchFamily="2" charset="2"/>
              <a:buChar char="Ø"/>
            </a:pPr>
            <a:r>
              <a:rPr lang="zh-CN" altLang="en-US" sz="1650" dirty="0">
                <a:cs typeface="+mn-ea"/>
                <a:sym typeface="+mn-lt"/>
              </a:rPr>
              <a:t>设置两个链表：</a:t>
            </a:r>
            <a:endParaRPr lang="en-US" altLang="zh-CN" sz="1650" dirty="0">
              <a:cs typeface="+mn-ea"/>
              <a:sym typeface="+mn-lt"/>
            </a:endParaRPr>
          </a:p>
          <a:p>
            <a:pPr lvl="1">
              <a:lnSpc>
                <a:spcPct val="120000"/>
              </a:lnSpc>
              <a:buClr>
                <a:srgbClr val="FF0000"/>
              </a:buClr>
            </a:pPr>
            <a:r>
              <a:rPr lang="zh-CN" altLang="en-US" sz="1650" dirty="0">
                <a:cs typeface="+mn-ea"/>
                <a:sym typeface="+mn-lt"/>
              </a:rPr>
              <a:t>①</a:t>
            </a:r>
            <a:r>
              <a:rPr lang="zh-CN" altLang="en-US" sz="1650" dirty="0">
                <a:solidFill>
                  <a:srgbClr val="FF0000"/>
                </a:solidFill>
                <a:cs typeface="+mn-ea"/>
                <a:sym typeface="+mn-lt"/>
              </a:rPr>
              <a:t>空闲</a:t>
            </a:r>
            <a:r>
              <a:rPr lang="zh-CN" altLang="en-US" sz="1650" dirty="0">
                <a:cs typeface="+mn-ea"/>
                <a:sym typeface="+mn-lt"/>
              </a:rPr>
              <a:t>页面链表：保存空闲物理块</a:t>
            </a:r>
            <a:endParaRPr lang="zh-CN" altLang="en-US" sz="1650" dirty="0">
              <a:cs typeface="+mn-ea"/>
              <a:sym typeface="+mn-lt"/>
            </a:endParaRPr>
          </a:p>
          <a:p>
            <a:pPr lvl="1">
              <a:lnSpc>
                <a:spcPct val="120000"/>
              </a:lnSpc>
              <a:buClr>
                <a:srgbClr val="FF0000"/>
              </a:buClr>
            </a:pPr>
            <a:r>
              <a:rPr lang="zh-CN" altLang="en-US" sz="1650" dirty="0">
                <a:cs typeface="+mn-ea"/>
                <a:sym typeface="+mn-lt"/>
              </a:rPr>
              <a:t>②</a:t>
            </a:r>
            <a:r>
              <a:rPr lang="zh-CN" altLang="en-US" sz="1650" dirty="0">
                <a:solidFill>
                  <a:srgbClr val="FF0000"/>
                </a:solidFill>
                <a:cs typeface="+mn-ea"/>
                <a:sym typeface="+mn-lt"/>
              </a:rPr>
              <a:t>修改</a:t>
            </a:r>
            <a:r>
              <a:rPr lang="zh-CN" altLang="en-US" sz="1650" dirty="0">
                <a:cs typeface="+mn-ea"/>
                <a:sym typeface="+mn-lt"/>
              </a:rPr>
              <a:t>页面链表：保存已修改且需要被换出的页面等被换出的页面数目达到一定值时，再一起换出外存。</a:t>
            </a:r>
            <a:endParaRPr lang="zh-CN" altLang="en-US" sz="1650" dirty="0">
              <a:cs typeface="+mn-ea"/>
              <a:sym typeface="+mn-lt"/>
            </a:endParaRPr>
          </a:p>
        </p:txBody>
      </p:sp>
      <p:sp>
        <p:nvSpPr>
          <p:cNvPr id="223" name="ïṧḷïḋè"/>
          <p:cNvSpPr/>
          <p:nvPr/>
        </p:nvSpPr>
        <p:spPr>
          <a:xfrm>
            <a:off x="1366153" y="3680064"/>
            <a:ext cx="2772038" cy="311327"/>
          </a:xfrm>
          <a:prstGeom prst="rect">
            <a:avLst/>
          </a:prstGeom>
          <a:noFill/>
          <a:ln>
            <a:noFill/>
          </a:ln>
        </p:spPr>
        <p:txBody>
          <a:bodyPr wrap="square" lIns="68580" tIns="34290" rIns="68580" bIns="34290" anchor="ctr" anchorCtr="0">
            <a:noAutofit/>
          </a:bodyPr>
          <a:lstStyle/>
          <a:p>
            <a:r>
              <a:rPr lang="zh-CN" altLang="en-US" b="1" dirty="0">
                <a:solidFill>
                  <a:srgbClr val="FF0000"/>
                </a:solidFill>
                <a:cs typeface="+mn-ea"/>
                <a:sym typeface="+mn-lt"/>
              </a:rPr>
              <a:t>具体做法</a:t>
            </a:r>
            <a:r>
              <a:rPr lang="zh-CN" altLang="en-US" dirty="0">
                <a:cs typeface="+mn-ea"/>
                <a:sym typeface="+mn-lt"/>
              </a:rPr>
              <a:t>：</a:t>
            </a:r>
            <a:endParaRPr lang="zh-CN" altLang="en-US" dirty="0">
              <a:cs typeface="+mn-ea"/>
              <a:sym typeface="+mn-lt"/>
            </a:endParaRPr>
          </a:p>
        </p:txBody>
      </p:sp>
      <p:sp>
        <p:nvSpPr>
          <p:cNvPr id="224" name="îs1iďé"/>
          <p:cNvSpPr/>
          <p:nvPr/>
        </p:nvSpPr>
        <p:spPr>
          <a:xfrm>
            <a:off x="1366151" y="2085283"/>
            <a:ext cx="7283426" cy="1117958"/>
          </a:xfrm>
          <a:prstGeom prst="rect">
            <a:avLst/>
          </a:prstGeom>
          <a:noFill/>
          <a:ln>
            <a:noFill/>
          </a:ln>
        </p:spPr>
        <p:txBody>
          <a:bodyPr wrap="square" lIns="68580" tIns="34290" rIns="68580" bIns="34290" anchor="t" anchorCtr="0">
            <a:normAutofit/>
          </a:bodyPr>
          <a:lstStyle/>
          <a:p>
            <a:pPr marL="257175" indent="-257175">
              <a:lnSpc>
                <a:spcPct val="120000"/>
              </a:lnSpc>
              <a:spcBef>
                <a:spcPts val="450"/>
              </a:spcBef>
              <a:buClr>
                <a:srgbClr val="FF0000"/>
              </a:buClr>
              <a:buFont typeface="Wingdings" panose="05000000000000000000" pitchFamily="2" charset="2"/>
              <a:buChar char="Ø"/>
            </a:pPr>
            <a:r>
              <a:rPr lang="zh-CN" altLang="en-US" sz="1650" dirty="0">
                <a:cs typeface="+mn-ea"/>
                <a:sym typeface="+mn-lt"/>
              </a:rPr>
              <a:t>页面置换算法、写回磁盘的频率、读入内存的频率</a:t>
            </a:r>
            <a:endParaRPr lang="zh-CN" altLang="en-US" sz="1650" dirty="0">
              <a:cs typeface="+mn-ea"/>
              <a:sym typeface="+mn-lt"/>
            </a:endParaRPr>
          </a:p>
        </p:txBody>
      </p:sp>
      <p:sp>
        <p:nvSpPr>
          <p:cNvPr id="225" name="íšḻíḑê"/>
          <p:cNvSpPr/>
          <p:nvPr/>
        </p:nvSpPr>
        <p:spPr>
          <a:xfrm>
            <a:off x="1351861" y="1781825"/>
            <a:ext cx="2772038" cy="304310"/>
          </a:xfrm>
          <a:prstGeom prst="rect">
            <a:avLst/>
          </a:prstGeom>
          <a:noFill/>
          <a:ln>
            <a:noFill/>
          </a:ln>
        </p:spPr>
        <p:txBody>
          <a:bodyPr wrap="square" lIns="68580" tIns="34290" rIns="68580" bIns="34290" anchor="ctr" anchorCtr="0">
            <a:noAutofit/>
          </a:bodyPr>
          <a:lstStyle/>
          <a:p>
            <a:r>
              <a:rPr lang="zh-CN" altLang="en-US" dirty="0"/>
              <a:t>影响效率的因素：</a:t>
            </a:r>
            <a:endParaRPr lang="en-US" altLang="zh-CN" dirty="0"/>
          </a:p>
        </p:txBody>
      </p:sp>
      <p:sp>
        <p:nvSpPr>
          <p:cNvPr id="226" name="îSļiḓè"/>
          <p:cNvSpPr/>
          <p:nvPr/>
        </p:nvSpPr>
        <p:spPr>
          <a:xfrm>
            <a:off x="839233" y="1771654"/>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7" name="íṥḻîḓe"/>
          <p:cNvSpPr/>
          <p:nvPr/>
        </p:nvSpPr>
        <p:spPr>
          <a:xfrm>
            <a:off x="853525" y="3647091"/>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8" name="îşļiḓè"/>
          <p:cNvSpPr/>
          <p:nvPr/>
        </p:nvSpPr>
        <p:spPr>
          <a:xfrm>
            <a:off x="853525" y="2540426"/>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29" name="îṡḷíďe"/>
          <p:cNvSpPr/>
          <p:nvPr/>
        </p:nvSpPr>
        <p:spPr>
          <a:xfrm>
            <a:off x="981925" y="1918756"/>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30" name="íSlíḋe"/>
          <p:cNvSpPr/>
          <p:nvPr/>
        </p:nvSpPr>
        <p:spPr>
          <a:xfrm>
            <a:off x="996215" y="2706938"/>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231" name="ïśḷïḓe"/>
          <p:cNvSpPr/>
          <p:nvPr/>
        </p:nvSpPr>
        <p:spPr>
          <a:xfrm>
            <a:off x="1017920" y="3789185"/>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Tree>
  </p:cSld>
  <p:clrMapOvr>
    <a:masterClrMapping/>
  </p:clrMapOvr>
  <p:transition spd="slow">
    <p:pull dir="ru"/>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占位符 38913"/>
          <p:cNvSpPr>
            <a:spLocks noGrp="1"/>
          </p:cNvSpPr>
          <p:nvPr>
            <p:ph idx="1"/>
          </p:nvPr>
        </p:nvSpPr>
        <p:spPr>
          <a:xfrm>
            <a:off x="1279208" y="1959292"/>
            <a:ext cx="6865144" cy="3412808"/>
          </a:xfrm>
          <a:ln>
            <a:miter/>
          </a:ln>
        </p:spPr>
        <p:txBody>
          <a:bodyPr anchor="t"/>
          <a:lstStyle/>
          <a:p>
            <a:pPr fontAlgn="base">
              <a:lnSpc>
                <a:spcPct val="90000"/>
              </a:lnSpc>
            </a:pPr>
            <a:r>
              <a:rPr lang="zh-CN" altLang="en-US" sz="1800" noProof="1"/>
              <a:t>需要调入新的物理页面时，将</a:t>
            </a:r>
            <a:r>
              <a:rPr lang="zh-CN" altLang="en-US" sz="1800" noProof="1">
                <a:solidFill>
                  <a:srgbClr val="006600"/>
                </a:solidFill>
              </a:rPr>
              <a:t>新页面</a:t>
            </a:r>
            <a:r>
              <a:rPr lang="zh-CN" altLang="en-US" sz="1800" noProof="1"/>
              <a:t>内容读入到</a:t>
            </a:r>
            <a:r>
              <a:rPr lang="zh-CN" altLang="en-US" sz="1800" noProof="1">
                <a:solidFill>
                  <a:srgbClr val="006600"/>
                </a:solidFill>
              </a:rPr>
              <a:t>空闲页面链表的第一项</a:t>
            </a:r>
            <a:r>
              <a:rPr lang="zh-CN" altLang="en-US" sz="1800" noProof="1"/>
              <a:t>所指的页面，然后将第一项删除。</a:t>
            </a:r>
            <a:endParaRPr lang="zh-CN" altLang="en-US" sz="1800" noProof="1"/>
          </a:p>
          <a:p>
            <a:pPr marL="0" indent="0">
              <a:lnSpc>
                <a:spcPct val="90000"/>
              </a:lnSpc>
              <a:buNone/>
            </a:pPr>
            <a:endParaRPr lang="zh-CN" altLang="en-US" sz="1800" noProof="1"/>
          </a:p>
          <a:p>
            <a:pPr marL="0" indent="0">
              <a:lnSpc>
                <a:spcPct val="90000"/>
              </a:lnSpc>
              <a:buNone/>
            </a:pPr>
            <a:r>
              <a:rPr lang="zh-CN" altLang="en-US" sz="1800" noProof="1">
                <a:solidFill>
                  <a:srgbClr val="FF0000"/>
                </a:solidFill>
              </a:rPr>
              <a:t>优点：</a:t>
            </a:r>
            <a:endParaRPr lang="zh-CN" altLang="en-US" sz="1800" noProof="1">
              <a:solidFill>
                <a:srgbClr val="FF0000"/>
              </a:solidFill>
            </a:endParaRPr>
          </a:p>
          <a:p>
            <a:pPr fontAlgn="base">
              <a:lnSpc>
                <a:spcPct val="90000"/>
              </a:lnSpc>
            </a:pPr>
            <a:r>
              <a:rPr lang="zh-CN" altLang="en-US" sz="1800" noProof="1"/>
              <a:t>空闲页面和已修改页面，</a:t>
            </a:r>
            <a:r>
              <a:rPr lang="zh-CN" altLang="en-US" sz="1800" noProof="1">
                <a:solidFill>
                  <a:srgbClr val="FF0000"/>
                </a:solidFill>
              </a:rPr>
              <a:t>仍停留在内存中一段时间</a:t>
            </a:r>
            <a:r>
              <a:rPr lang="zh-CN" altLang="en-US" sz="1800" noProof="1"/>
              <a:t>。如果这些页面</a:t>
            </a:r>
            <a:r>
              <a:rPr lang="zh-CN" altLang="en-US" sz="1800" noProof="1">
                <a:solidFill>
                  <a:srgbClr val="006600"/>
                </a:solidFill>
              </a:rPr>
              <a:t>被再次访问</a:t>
            </a:r>
            <a:r>
              <a:rPr lang="zh-CN" altLang="en-US" sz="1800" noProof="1"/>
              <a:t>，只需较小开销，而被访问的页面可以</a:t>
            </a:r>
            <a:r>
              <a:rPr lang="zh-CN" altLang="en-US" sz="1800" noProof="1">
                <a:solidFill>
                  <a:srgbClr val="006600"/>
                </a:solidFill>
              </a:rPr>
              <a:t>返还</a:t>
            </a:r>
            <a:r>
              <a:rPr lang="zh-CN" altLang="en-US" sz="1800" noProof="1"/>
              <a:t>作为进程的内存页。</a:t>
            </a:r>
            <a:endParaRPr lang="zh-CN" altLang="en-US" sz="1800" noProof="1"/>
          </a:p>
          <a:p>
            <a:pPr fontAlgn="base">
              <a:lnSpc>
                <a:spcPct val="90000"/>
              </a:lnSpc>
            </a:pPr>
            <a:r>
              <a:rPr lang="zh-CN" altLang="en-US" sz="1800" noProof="1"/>
              <a:t>当</a:t>
            </a:r>
            <a:r>
              <a:rPr lang="zh-CN" altLang="en-US" sz="1800" noProof="1">
                <a:solidFill>
                  <a:srgbClr val="006600"/>
                </a:solidFill>
              </a:rPr>
              <a:t>已修改页面达到一定数目</a:t>
            </a:r>
            <a:r>
              <a:rPr lang="zh-CN" altLang="en-US" sz="1800" noProof="1"/>
              <a:t>后，再将它们</a:t>
            </a:r>
            <a:r>
              <a:rPr lang="zh-CN" altLang="en-US" sz="1800" noProof="1">
                <a:solidFill>
                  <a:srgbClr val="FF0000"/>
                </a:solidFill>
              </a:rPr>
              <a:t>一起调出到外存</a:t>
            </a:r>
            <a:r>
              <a:rPr lang="zh-CN" altLang="en-US" sz="1800" noProof="1"/>
              <a:t>，然后将它们归入空闲页面链表，这样能大大</a:t>
            </a:r>
            <a:r>
              <a:rPr lang="zh-CN" altLang="en-US" sz="1800" noProof="1">
                <a:solidFill>
                  <a:srgbClr val="006600"/>
                </a:solidFill>
              </a:rPr>
              <a:t>减少</a:t>
            </a:r>
            <a:r>
              <a:rPr lang="en-US" altLang="zh-CN" sz="1800" noProof="1">
                <a:solidFill>
                  <a:srgbClr val="006600"/>
                </a:solidFill>
              </a:rPr>
              <a:t>I/O</a:t>
            </a:r>
            <a:r>
              <a:rPr lang="zh-CN" altLang="en-US" sz="1800" noProof="1">
                <a:solidFill>
                  <a:srgbClr val="006600"/>
                </a:solidFill>
              </a:rPr>
              <a:t>操作的次数</a:t>
            </a:r>
            <a:r>
              <a:rPr lang="zh-CN" altLang="en-US" sz="1800" noProof="1"/>
              <a:t>。</a:t>
            </a:r>
            <a:endParaRPr lang="zh-CN" altLang="en-US" sz="1800" noProof="1"/>
          </a:p>
        </p:txBody>
      </p:sp>
    </p:spTree>
  </p:cSld>
  <p:clrMapOvr>
    <a:masterClrMapping/>
  </p:clrMapOvr>
  <p:transition spd="slow">
    <p:pull dir="ru"/>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cs typeface="+mn-ea"/>
                <a:sym typeface="+mn-lt"/>
              </a:rPr>
              <a:t>Date</a:t>
            </a:r>
            <a:endParaRPr lang="zh-CN" altLang="en-US" sz="1125" dirty="0">
              <a:cs typeface="+mn-ea"/>
              <a:sym typeface="+mn-lt"/>
            </a:endParaRPr>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cs typeface="+mn-ea"/>
                <a:sym typeface="+mn-lt"/>
              </a:rPr>
              <a:t>内容导航：</a:t>
            </a:r>
            <a:endParaRPr lang="zh-CN" altLang="en-US" sz="2100" b="1" dirty="0">
              <a:solidFill>
                <a:schemeClr val="bg1"/>
              </a:solidFill>
              <a:cs typeface="+mn-ea"/>
              <a:sym typeface="+mn-lt"/>
            </a:endParaRPr>
          </a:p>
        </p:txBody>
      </p:sp>
      <p:sp>
        <p:nvSpPr>
          <p:cNvPr id="22" name="矩形 21"/>
          <p:cNvSpPr/>
          <p:nvPr/>
        </p:nvSpPr>
        <p:spPr>
          <a:xfrm>
            <a:off x="1272352" y="2160374"/>
            <a:ext cx="3375110" cy="369332"/>
          </a:xfrm>
          <a:prstGeom prst="rect">
            <a:avLst/>
          </a:prstGeom>
        </p:spPr>
        <p:txBody>
          <a:bodyPr wrap="square">
            <a:spAutoFit/>
          </a:bodyPr>
          <a:lstStyle/>
          <a:p>
            <a:r>
              <a:rPr lang="en-US" altLang="zh-CN" dirty="0">
                <a:cs typeface="+mn-ea"/>
                <a:sym typeface="+mn-lt"/>
              </a:rPr>
              <a:t>6.1 </a:t>
            </a:r>
            <a:r>
              <a:rPr lang="zh-CN" altLang="en-US" dirty="0">
                <a:cs typeface="+mn-ea"/>
                <a:sym typeface="+mn-lt"/>
              </a:rPr>
              <a:t>虚拟存储器概述</a:t>
            </a:r>
            <a:endParaRPr lang="zh-CN" altLang="en-US" dirty="0">
              <a:cs typeface="+mn-ea"/>
              <a:sym typeface="+mn-lt"/>
            </a:endParaRPr>
          </a:p>
        </p:txBody>
      </p:sp>
      <p:sp>
        <p:nvSpPr>
          <p:cNvPr id="23" name="矩形 22"/>
          <p:cNvSpPr/>
          <p:nvPr/>
        </p:nvSpPr>
        <p:spPr>
          <a:xfrm>
            <a:off x="1272352" y="2639005"/>
            <a:ext cx="3299648" cy="369332"/>
          </a:xfrm>
          <a:prstGeom prst="rect">
            <a:avLst/>
          </a:prstGeom>
        </p:spPr>
        <p:txBody>
          <a:bodyPr wrap="square">
            <a:spAutoFit/>
          </a:bodyPr>
          <a:lstStyle/>
          <a:p>
            <a:r>
              <a:rPr lang="en-US" altLang="zh-CN" dirty="0">
                <a:cs typeface="+mn-ea"/>
                <a:sym typeface="+mn-lt"/>
              </a:rPr>
              <a:t>6.2 </a:t>
            </a:r>
            <a:r>
              <a:rPr lang="zh-CN" altLang="en-US" dirty="0">
                <a:cs typeface="+mn-ea"/>
                <a:sym typeface="+mn-lt"/>
              </a:rPr>
              <a:t>请求分页存储管理方式</a:t>
            </a:r>
            <a:endParaRPr lang="en-US" altLang="zh-CN" dirty="0">
              <a:cs typeface="+mn-ea"/>
              <a:sym typeface="+mn-lt"/>
            </a:endParaRPr>
          </a:p>
        </p:txBody>
      </p:sp>
      <p:sp>
        <p:nvSpPr>
          <p:cNvPr id="24" name="矩形 23"/>
          <p:cNvSpPr/>
          <p:nvPr/>
        </p:nvSpPr>
        <p:spPr>
          <a:xfrm>
            <a:off x="1272352" y="3103349"/>
            <a:ext cx="2616725" cy="369332"/>
          </a:xfrm>
          <a:prstGeom prst="rect">
            <a:avLst/>
          </a:prstGeom>
        </p:spPr>
        <p:txBody>
          <a:bodyPr wrap="square">
            <a:spAutoFit/>
          </a:bodyPr>
          <a:lstStyle/>
          <a:p>
            <a:r>
              <a:rPr lang="en-US" altLang="zh-CN" dirty="0">
                <a:cs typeface="+mn-ea"/>
                <a:sym typeface="+mn-lt"/>
              </a:rPr>
              <a:t>6.3 </a:t>
            </a:r>
            <a:r>
              <a:rPr lang="zh-CN" altLang="en-US" dirty="0">
                <a:cs typeface="+mn-ea"/>
                <a:sym typeface="+mn-lt"/>
              </a:rPr>
              <a:t>页面置换算法</a:t>
            </a:r>
            <a:endParaRPr lang="en-US" altLang="zh-CN" dirty="0">
              <a:cs typeface="+mn-ea"/>
              <a:sym typeface="+mn-lt"/>
            </a:endParaRPr>
          </a:p>
        </p:txBody>
      </p:sp>
      <p:sp>
        <p:nvSpPr>
          <p:cNvPr id="25" name="矩形 24"/>
          <p:cNvSpPr/>
          <p:nvPr/>
        </p:nvSpPr>
        <p:spPr>
          <a:xfrm>
            <a:off x="1272352" y="3567692"/>
            <a:ext cx="2616725" cy="369332"/>
          </a:xfrm>
          <a:prstGeom prst="rect">
            <a:avLst/>
          </a:prstGeom>
        </p:spPr>
        <p:txBody>
          <a:bodyPr wrap="square">
            <a:spAutoFit/>
          </a:bodyPr>
          <a:lstStyle/>
          <a:p>
            <a:r>
              <a:rPr lang="en-US" altLang="zh-CN" b="1" dirty="0">
                <a:solidFill>
                  <a:srgbClr val="0000FF"/>
                </a:solidFill>
                <a:cs typeface="+mn-ea"/>
                <a:sym typeface="+mn-lt"/>
              </a:rPr>
              <a:t>6.4 </a:t>
            </a:r>
            <a:r>
              <a:rPr lang="zh-CN" altLang="en-US" b="1" dirty="0">
                <a:solidFill>
                  <a:srgbClr val="0000FF"/>
                </a:solidFill>
                <a:cs typeface="+mn-ea"/>
                <a:sym typeface="+mn-lt"/>
              </a:rPr>
              <a:t>抖动与工作集</a:t>
            </a:r>
            <a:endParaRPr lang="zh-CN" altLang="en-US" b="1" dirty="0">
              <a:solidFill>
                <a:srgbClr val="0000FF"/>
              </a:solidFill>
              <a:cs typeface="+mn-ea"/>
              <a:sym typeface="+mn-lt"/>
            </a:endParaRPr>
          </a:p>
        </p:txBody>
      </p:sp>
      <p:sp>
        <p:nvSpPr>
          <p:cNvPr id="27" name="矩形 26"/>
          <p:cNvSpPr/>
          <p:nvPr/>
        </p:nvSpPr>
        <p:spPr>
          <a:xfrm>
            <a:off x="1272352" y="4032036"/>
            <a:ext cx="2929007" cy="369332"/>
          </a:xfrm>
          <a:prstGeom prst="rect">
            <a:avLst/>
          </a:prstGeom>
        </p:spPr>
        <p:txBody>
          <a:bodyPr wrap="square">
            <a:spAutoFit/>
          </a:bodyPr>
          <a:lstStyle/>
          <a:p>
            <a:r>
              <a:rPr lang="en-US" altLang="zh-CN" dirty="0">
                <a:cs typeface="+mn-ea"/>
                <a:sym typeface="+mn-lt"/>
              </a:rPr>
              <a:t>6.5 </a:t>
            </a:r>
            <a:r>
              <a:rPr lang="zh-CN" altLang="en-US" dirty="0">
                <a:cs typeface="+mn-ea"/>
                <a:sym typeface="+mn-lt"/>
              </a:rPr>
              <a:t>请求分段存储管理方式</a:t>
            </a:r>
            <a:endParaRPr lang="zh-CN" altLang="en-US" dirty="0">
              <a:cs typeface="+mn-ea"/>
              <a:sym typeface="+mn-lt"/>
            </a:endParaRPr>
          </a:p>
        </p:txBody>
      </p:sp>
      <p:sp>
        <p:nvSpPr>
          <p:cNvPr id="28" name="矩形 27"/>
          <p:cNvSpPr/>
          <p:nvPr/>
        </p:nvSpPr>
        <p:spPr>
          <a:xfrm>
            <a:off x="1272352" y="4496380"/>
            <a:ext cx="2761613" cy="369332"/>
          </a:xfrm>
          <a:prstGeom prst="rect">
            <a:avLst/>
          </a:prstGeom>
        </p:spPr>
        <p:txBody>
          <a:bodyPr wrap="square">
            <a:spAutoFit/>
          </a:bodyPr>
          <a:lstStyle/>
          <a:p>
            <a:r>
              <a:rPr lang="en-US" altLang="zh-CN" dirty="0">
                <a:cs typeface="+mn-ea"/>
                <a:sym typeface="+mn-lt"/>
              </a:rPr>
              <a:t>6.6 </a:t>
            </a:r>
            <a:r>
              <a:rPr lang="zh-CN" altLang="en-US" dirty="0">
                <a:cs typeface="+mn-ea"/>
                <a:sym typeface="+mn-lt"/>
              </a:rPr>
              <a:t>虚拟存储器实现实例</a:t>
            </a:r>
            <a:endParaRPr lang="zh-CN" altLang="en-US" dirty="0">
              <a:cs typeface="+mn-ea"/>
              <a:sym typeface="+mn-lt"/>
            </a:endParaRPr>
          </a:p>
        </p:txBody>
      </p:sp>
      <p:sp>
        <p:nvSpPr>
          <p:cNvPr id="3" name="矩形 2"/>
          <p:cNvSpPr/>
          <p:nvPr/>
        </p:nvSpPr>
        <p:spPr>
          <a:xfrm>
            <a:off x="5546325" y="2647003"/>
            <a:ext cx="2896947" cy="507831"/>
          </a:xfrm>
          <a:prstGeom prst="rect">
            <a:avLst/>
          </a:prstGeom>
        </p:spPr>
        <p:txBody>
          <a:bodyPr wrap="none">
            <a:spAutoFit/>
          </a:bodyPr>
          <a:lstStyle/>
          <a:p>
            <a:r>
              <a:rPr lang="zh-CN" altLang="en-US" sz="2700" dirty="0">
                <a:solidFill>
                  <a:srgbClr val="000000"/>
                </a:solidFill>
                <a:cs typeface="+mn-ea"/>
                <a:sym typeface="+mn-lt"/>
              </a:rPr>
              <a:t>第</a:t>
            </a:r>
            <a:r>
              <a:rPr lang="en-US" altLang="zh-CN" sz="2700" dirty="0">
                <a:solidFill>
                  <a:srgbClr val="000000"/>
                </a:solidFill>
                <a:cs typeface="+mn-ea"/>
                <a:sym typeface="+mn-lt"/>
              </a:rPr>
              <a:t>6</a:t>
            </a:r>
            <a:r>
              <a:rPr lang="zh-CN" altLang="en-US" sz="2700" dirty="0">
                <a:solidFill>
                  <a:srgbClr val="000000"/>
                </a:solidFill>
                <a:cs typeface="+mn-ea"/>
                <a:sym typeface="+mn-lt"/>
              </a:rPr>
              <a:t>章 虚拟存储器</a:t>
            </a:r>
            <a:endParaRPr lang="zh-CN" altLang="en-US" sz="2700" dirty="0">
              <a:cs typeface="+mn-ea"/>
              <a:sym typeface="+mn-lt"/>
            </a:endParaRPr>
          </a:p>
        </p:txBody>
      </p:sp>
      <p:cxnSp>
        <p:nvCxnSpPr>
          <p:cNvPr id="5" name="直接连接符 4"/>
          <p:cNvCxnSpPr/>
          <p:nvPr/>
        </p:nvCxnSpPr>
        <p:spPr>
          <a:xfrm>
            <a:off x="5566300" y="3250103"/>
            <a:ext cx="309404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6653"/>
          </a:xfrm>
          <a:prstGeom prst="rect">
            <a:avLst/>
          </a:prstGeom>
        </p:spPr>
        <p:txBody>
          <a:bodyPr wrap="square">
            <a:spAutoFit/>
          </a:bodyPr>
          <a:lstStyle/>
          <a:p>
            <a:pPr algn="ctr">
              <a:lnSpc>
                <a:spcPct val="132000"/>
              </a:lnSpc>
            </a:pPr>
            <a:r>
              <a:rPr lang="zh-CN" altLang="en-US" dirty="0">
                <a:solidFill>
                  <a:srgbClr val="002060"/>
                </a:solidFill>
                <a:cs typeface="+mn-ea"/>
                <a:sym typeface="+mn-lt"/>
              </a:rPr>
              <a:t>主讲：王红玲    主审：汤小丹</a:t>
            </a:r>
            <a:endParaRPr lang="en-US" altLang="zh-CN" dirty="0">
              <a:solidFill>
                <a:srgbClr val="002060"/>
              </a:solidFill>
              <a:cs typeface="+mn-ea"/>
              <a:sym typeface="+mn-lt"/>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132616"/>
            <a:ext cx="395288" cy="395288"/>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571471"/>
            <a:ext cx="395288" cy="395288"/>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063073"/>
            <a:ext cx="395288" cy="395288"/>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526927"/>
            <a:ext cx="395288" cy="395288"/>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996487"/>
            <a:ext cx="395288" cy="395288"/>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4474772"/>
            <a:ext cx="395288" cy="395288"/>
          </a:xfrm>
          <a:prstGeom prst="rect">
            <a:avLst/>
          </a:prstGeom>
          <a:ln>
            <a:noFill/>
          </a:ln>
          <a:effectLst>
            <a:softEdge rad="0"/>
          </a:effectLst>
        </p:spPr>
      </p:pic>
    </p:spTree>
  </p:cSld>
  <p:clrMapOvr>
    <a:masterClrMapping/>
  </p:clrMapOvr>
  <p:transition spd="slow">
    <p:pull dir="ru"/>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抖动</a:t>
            </a:r>
            <a:endParaRPr lang="zh-CN" altLang="en-US" sz="2100" b="1" dirty="0">
              <a:solidFill>
                <a:schemeClr val="bg1"/>
              </a:solidFill>
              <a:cs typeface="+mn-ea"/>
              <a:sym typeface="+mn-lt"/>
            </a:endParaRPr>
          </a:p>
        </p:txBody>
      </p:sp>
      <p:sp>
        <p:nvSpPr>
          <p:cNvPr id="11" name="内容占位符 2"/>
          <p:cNvSpPr txBox="1"/>
          <p:nvPr/>
        </p:nvSpPr>
        <p:spPr>
          <a:xfrm>
            <a:off x="1445419" y="2075974"/>
            <a:ext cx="6311265" cy="292655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50000"/>
              </a:lnSpc>
              <a:spcBef>
                <a:spcPts val="450"/>
              </a:spcBef>
              <a:spcAft>
                <a:spcPts val="450"/>
              </a:spcAft>
              <a:buNone/>
            </a:pPr>
            <a:r>
              <a:rPr lang="en-US" altLang="zh-CN" dirty="0">
                <a:solidFill>
                  <a:srgbClr val="000000"/>
                </a:solidFill>
                <a:sym typeface="+mn-ea"/>
              </a:rPr>
              <a:t>“</a:t>
            </a:r>
            <a:r>
              <a:rPr lang="zh-CN" altLang="en-US" dirty="0">
                <a:solidFill>
                  <a:srgbClr val="FF0000"/>
                </a:solidFill>
                <a:effectLst>
                  <a:outerShdw blurRad="38100" dist="38100" dir="2700000">
                    <a:srgbClr val="C0C0C0"/>
                  </a:outerShdw>
                </a:effectLst>
                <a:sym typeface="+mn-ea"/>
              </a:rPr>
              <a:t>抖动</a:t>
            </a:r>
            <a:r>
              <a:rPr lang="zh-CN" altLang="en-US" dirty="0">
                <a:solidFill>
                  <a:srgbClr val="000000"/>
                </a:solidFill>
                <a:sym typeface="+mn-ea"/>
              </a:rPr>
              <a:t>”：若采用的置换算法不合适，可能出现这样的现象：刚被换出的页，很快又被访问，为把它调入而换出另一页，之后又访问刚被换出的页，</a:t>
            </a:r>
            <a:r>
              <a:rPr lang="en-US" altLang="zh-CN" dirty="0">
                <a:solidFill>
                  <a:srgbClr val="000000"/>
                </a:solidFill>
                <a:sym typeface="+mn-ea"/>
              </a:rPr>
              <a:t>……</a:t>
            </a:r>
            <a:r>
              <a:rPr lang="zh-CN" altLang="en-US" dirty="0">
                <a:solidFill>
                  <a:srgbClr val="000000"/>
                </a:solidFill>
                <a:sym typeface="+mn-ea"/>
              </a:rPr>
              <a:t>如此</a:t>
            </a:r>
            <a:r>
              <a:rPr lang="zh-CN" altLang="en-US" dirty="0">
                <a:solidFill>
                  <a:srgbClr val="FF0000"/>
                </a:solidFill>
                <a:sym typeface="+mn-ea"/>
              </a:rPr>
              <a:t>频繁地更换</a:t>
            </a:r>
            <a:r>
              <a:rPr lang="zh-CN" altLang="en-US" dirty="0">
                <a:solidFill>
                  <a:srgbClr val="000000"/>
                </a:solidFill>
                <a:sym typeface="+mn-ea"/>
              </a:rPr>
              <a:t>页面。</a:t>
            </a:r>
            <a:endParaRPr lang="zh-CN" altLang="en-US" noProof="1">
              <a:solidFill>
                <a:srgbClr val="000000"/>
              </a:solidFill>
            </a:endParaRPr>
          </a:p>
          <a:p>
            <a:pPr marL="0" indent="0">
              <a:lnSpc>
                <a:spcPct val="120000"/>
              </a:lnSpc>
              <a:spcBef>
                <a:spcPts val="450"/>
              </a:spcBef>
              <a:spcAft>
                <a:spcPts val="450"/>
              </a:spcAft>
              <a:buNone/>
            </a:pPr>
            <a:endParaRPr lang="zh-CN" altLang="en-US" dirty="0"/>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18864" y="2076126"/>
            <a:ext cx="395288" cy="395288"/>
          </a:xfrm>
          <a:prstGeom prst="rect">
            <a:avLst/>
          </a:prstGeom>
          <a:ln>
            <a:noFill/>
          </a:ln>
          <a:effectLst>
            <a:softEdge rad="0"/>
          </a:effectLst>
        </p:spPr>
      </p:pic>
    </p:spTree>
  </p:cSld>
  <p:clrMapOvr>
    <a:masterClrMapping/>
  </p:clrMapOvr>
  <p:transition spd="slow">
    <p:pull dir="ru"/>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处理机的利用率</a:t>
            </a:r>
            <a:endParaRPr lang="zh-CN" altLang="en-US" sz="2100" b="1" dirty="0">
              <a:solidFill>
                <a:schemeClr val="bg1"/>
              </a:solidFill>
              <a:cs typeface="+mn-ea"/>
              <a:sym typeface="+mn-lt"/>
            </a:endParaRPr>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450" y="1658832"/>
            <a:ext cx="6800255" cy="383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dir="ru"/>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产生“抖动”的原因</a:t>
            </a:r>
            <a:endParaRPr lang="zh-CN" altLang="en-US" sz="2100" b="1" dirty="0">
              <a:solidFill>
                <a:schemeClr val="bg1"/>
              </a:solidFill>
              <a:cs typeface="+mn-ea"/>
              <a:sym typeface="+mn-l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18864" y="2162683"/>
            <a:ext cx="395288" cy="395288"/>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118864" y="4572922"/>
            <a:ext cx="395288" cy="395288"/>
          </a:xfrm>
          <a:prstGeom prst="rect">
            <a:avLst/>
          </a:prstGeom>
          <a:ln>
            <a:noFill/>
          </a:ln>
          <a:effectLst>
            <a:softEdge rad="0"/>
          </a:effectLst>
        </p:spPr>
      </p:pic>
      <p:sp>
        <p:nvSpPr>
          <p:cNvPr id="8" name="内容占位符 2"/>
          <p:cNvSpPr txBox="1"/>
          <p:nvPr/>
        </p:nvSpPr>
        <p:spPr>
          <a:xfrm>
            <a:off x="1632109" y="1812131"/>
            <a:ext cx="6215539" cy="254603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450"/>
              </a:spcBef>
              <a:spcAft>
                <a:spcPts val="450"/>
              </a:spcAft>
              <a:buNone/>
            </a:pPr>
            <a:r>
              <a:rPr lang="zh-CN" altLang="en-US" dirty="0">
                <a:solidFill>
                  <a:srgbClr val="FF0000"/>
                </a:solidFill>
              </a:rPr>
              <a:t>根本原因：</a:t>
            </a:r>
            <a:endParaRPr lang="en-US" altLang="zh-CN" dirty="0"/>
          </a:p>
          <a:p>
            <a:pPr lvl="1">
              <a:lnSpc>
                <a:spcPct val="120000"/>
              </a:lnSpc>
              <a:spcBef>
                <a:spcPts val="450"/>
              </a:spcBef>
              <a:spcAft>
                <a:spcPts val="450"/>
              </a:spcAft>
              <a:buClr>
                <a:srgbClr val="FF0000"/>
              </a:buClr>
              <a:buFont typeface="Wingdings" panose="05000000000000000000" pitchFamily="2" charset="2"/>
              <a:buChar char="Ø"/>
            </a:pPr>
            <a:r>
              <a:rPr lang="zh-CN" altLang="en-US" sz="1800" dirty="0"/>
              <a:t>同时在系统中运行的</a:t>
            </a:r>
            <a:r>
              <a:rPr lang="zh-CN" altLang="en-US" sz="1800" dirty="0">
                <a:solidFill>
                  <a:srgbClr val="FF0000"/>
                </a:solidFill>
              </a:rPr>
              <a:t>进程太多</a:t>
            </a:r>
            <a:r>
              <a:rPr lang="zh-CN" altLang="en-US" sz="1800" dirty="0"/>
              <a:t>；</a:t>
            </a:r>
            <a:endParaRPr lang="en-US" altLang="zh-CN" sz="1800" dirty="0"/>
          </a:p>
          <a:p>
            <a:pPr lvl="1">
              <a:lnSpc>
                <a:spcPct val="120000"/>
              </a:lnSpc>
              <a:spcBef>
                <a:spcPts val="450"/>
              </a:spcBef>
              <a:spcAft>
                <a:spcPts val="450"/>
              </a:spcAft>
              <a:buClr>
                <a:srgbClr val="FF0000"/>
              </a:buClr>
              <a:buFont typeface="Wingdings" panose="05000000000000000000" pitchFamily="2" charset="2"/>
              <a:buChar char="Ø"/>
            </a:pPr>
            <a:r>
              <a:rPr lang="zh-CN" altLang="en-US" sz="1800" dirty="0"/>
              <a:t>因此分配给每一个</a:t>
            </a:r>
            <a:r>
              <a:rPr lang="zh-CN" altLang="en-US" sz="1800" dirty="0">
                <a:solidFill>
                  <a:srgbClr val="FF0000"/>
                </a:solidFill>
              </a:rPr>
              <a:t>进程的物理块太少</a:t>
            </a:r>
            <a:r>
              <a:rPr lang="zh-CN" altLang="en-US" sz="1800" dirty="0"/>
              <a:t>，不能满足进程运行的基本要求，致使进程在运行时，频繁缺页，必须请求系统将所缺页面调入内存。</a:t>
            </a:r>
            <a:endParaRPr lang="en-US" altLang="zh-CN" sz="1800" dirty="0"/>
          </a:p>
          <a:p>
            <a:pPr marL="342900" lvl="1" indent="0">
              <a:lnSpc>
                <a:spcPct val="120000"/>
              </a:lnSpc>
              <a:spcBef>
                <a:spcPts val="450"/>
              </a:spcBef>
              <a:spcAft>
                <a:spcPts val="450"/>
              </a:spcAft>
              <a:buNone/>
            </a:pPr>
            <a:endParaRPr lang="en-US" altLang="zh-CN" sz="1800" dirty="0"/>
          </a:p>
          <a:p>
            <a:pPr marL="0" indent="0">
              <a:lnSpc>
                <a:spcPct val="120000"/>
              </a:lnSpc>
              <a:spcBef>
                <a:spcPts val="450"/>
              </a:spcBef>
              <a:spcAft>
                <a:spcPts val="450"/>
              </a:spcAft>
              <a:buNone/>
            </a:pPr>
            <a:r>
              <a:rPr lang="zh-CN" altLang="zh-CN" dirty="0"/>
              <a:t>抖动的发生与系统为进程分配物理块的多少有关。</a:t>
            </a:r>
            <a:endParaRPr lang="zh-CN" altLang="zh-CN" dirty="0"/>
          </a:p>
          <a:p>
            <a:pPr marL="0" indent="0">
              <a:lnSpc>
                <a:spcPct val="120000"/>
              </a:lnSpc>
              <a:spcBef>
                <a:spcPts val="450"/>
              </a:spcBef>
              <a:spcAft>
                <a:spcPts val="450"/>
              </a:spcAft>
              <a:buNone/>
            </a:pPr>
            <a:r>
              <a:rPr lang="zh-CN" altLang="en-US" dirty="0"/>
              <a:t>解决办法：给某些进程增加物理块，需撤销或挂起某些其他进程释放内存空间。</a:t>
            </a:r>
            <a:endParaRPr lang="zh-CN" altLang="en-US" dirty="0"/>
          </a:p>
        </p:txBody>
      </p:sp>
    </p:spTree>
  </p:cSld>
  <p:clrMapOvr>
    <a:masterClrMapping/>
  </p:clrMapOvr>
  <p:transition spd="slow">
    <p:pull dir="ru"/>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缺页率与物理块数之间的关系</a:t>
            </a:r>
            <a:endParaRPr lang="zh-CN" altLang="en-US" sz="2100" b="1" dirty="0">
              <a:solidFill>
                <a:schemeClr val="bg1"/>
              </a:solidFill>
              <a:cs typeface="+mn-ea"/>
              <a:sym typeface="+mn-l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462493" y="2102759"/>
            <a:ext cx="395288" cy="395288"/>
          </a:xfrm>
          <a:prstGeom prst="rect">
            <a:avLst/>
          </a:prstGeom>
          <a:ln>
            <a:noFill/>
          </a:ln>
          <a:effectLst>
            <a:softEdge rad="0"/>
          </a:effectLst>
        </p:spPr>
      </p:pic>
      <p:sp>
        <p:nvSpPr>
          <p:cNvPr id="8" name="内容占位符 2"/>
          <p:cNvSpPr txBox="1"/>
          <p:nvPr/>
        </p:nvSpPr>
        <p:spPr>
          <a:xfrm>
            <a:off x="1019289" y="2096150"/>
            <a:ext cx="2243253" cy="3191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450"/>
              </a:spcBef>
              <a:spcAft>
                <a:spcPts val="450"/>
              </a:spcAft>
              <a:buNone/>
            </a:pPr>
            <a:r>
              <a:rPr lang="zh-CN" altLang="en-US" dirty="0"/>
              <a:t>根据程序运行的局部性原理，如果能够</a:t>
            </a:r>
            <a:r>
              <a:rPr lang="zh-CN" altLang="en-US" dirty="0">
                <a:solidFill>
                  <a:srgbClr val="FF0000"/>
                </a:solidFill>
              </a:rPr>
              <a:t>预知</a:t>
            </a:r>
            <a:r>
              <a:rPr lang="zh-CN" altLang="en-US" dirty="0">
                <a:solidFill>
                  <a:schemeClr val="accent1"/>
                </a:solidFill>
              </a:rPr>
              <a:t>某段时间内程序</a:t>
            </a:r>
            <a:r>
              <a:rPr lang="zh-CN" altLang="en-US" dirty="0">
                <a:solidFill>
                  <a:srgbClr val="FF0000"/>
                </a:solidFill>
              </a:rPr>
              <a:t>要访问的页面</a:t>
            </a:r>
            <a:r>
              <a:rPr lang="zh-CN" altLang="en-US" dirty="0"/>
              <a:t>，并将它们预先调入内存，将会大大降低缺页率。</a:t>
            </a:r>
            <a:endParaRPr lang="zh-CN" altLang="en-US" dirty="0"/>
          </a:p>
          <a:p>
            <a:pPr marL="0" indent="0">
              <a:lnSpc>
                <a:spcPct val="120000"/>
              </a:lnSpc>
              <a:spcBef>
                <a:spcPts val="450"/>
              </a:spcBef>
              <a:spcAft>
                <a:spcPts val="450"/>
              </a:spcAft>
              <a:buNone/>
            </a:pPr>
            <a:r>
              <a:rPr lang="en-US" altLang="zh-CN" dirty="0"/>
              <a:t>---</a:t>
            </a:r>
            <a:r>
              <a:rPr lang="zh-CN" altLang="en-US" dirty="0"/>
              <a:t>工作集</a:t>
            </a:r>
            <a:endParaRPr lang="en-US" altLang="zh-CN" dirty="0"/>
          </a:p>
        </p:txBody>
      </p:sp>
      <p:pic>
        <p:nvPicPr>
          <p:cNvPr id="6" name="图片 5"/>
          <p:cNvPicPr>
            <a:picLocks noChangeAspect="1"/>
          </p:cNvPicPr>
          <p:nvPr/>
        </p:nvPicPr>
        <p:blipFill>
          <a:blip r:embed="rId2">
            <a:clrChange>
              <a:clrFrom>
                <a:srgbClr val="FFFFFF"/>
              </a:clrFrom>
              <a:clrTo>
                <a:srgbClr val="FFFFFF">
                  <a:alpha val="0"/>
                </a:srgbClr>
              </a:clrTo>
            </a:clrChange>
          </a:blip>
          <a:stretch>
            <a:fillRect/>
          </a:stretch>
        </p:blipFill>
        <p:spPr>
          <a:xfrm>
            <a:off x="3337894" y="2391514"/>
            <a:ext cx="5444228" cy="2804441"/>
          </a:xfrm>
          <a:prstGeom prst="rect">
            <a:avLst/>
          </a:prstGeom>
        </p:spPr>
      </p:pic>
    </p:spTree>
  </p:cSld>
  <p:clrMapOvr>
    <a:masterClrMapping/>
  </p:clrMapOvr>
  <p:transition spd="slow">
    <p:pull dir="ru"/>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工作集定义</a:t>
            </a:r>
            <a:endParaRPr lang="zh-CN" altLang="en-US" sz="2100" b="1" dirty="0">
              <a:solidFill>
                <a:schemeClr val="bg1"/>
              </a:solidFill>
              <a:cs typeface="+mn-ea"/>
              <a:sym typeface="+mn-l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462493" y="2102759"/>
            <a:ext cx="395288" cy="395288"/>
          </a:xfrm>
          <a:prstGeom prst="rect">
            <a:avLst/>
          </a:prstGeom>
          <a:ln>
            <a:noFill/>
          </a:ln>
          <a:effectLst>
            <a:softEdge rad="0"/>
          </a:effectLst>
        </p:spPr>
      </p:pic>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462493" y="2608739"/>
            <a:ext cx="395288" cy="395288"/>
          </a:xfrm>
          <a:prstGeom prst="rect">
            <a:avLst/>
          </a:prstGeom>
          <a:ln>
            <a:noFill/>
          </a:ln>
          <a:effectLst>
            <a:softEdge rad="0"/>
          </a:effectLst>
        </p:spPr>
      </p:pic>
      <p:sp>
        <p:nvSpPr>
          <p:cNvPr id="8" name="内容占位符 2"/>
          <p:cNvSpPr txBox="1"/>
          <p:nvPr/>
        </p:nvSpPr>
        <p:spPr>
          <a:xfrm>
            <a:off x="790576" y="2095976"/>
            <a:ext cx="8108156" cy="34413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450"/>
              </a:spcBef>
              <a:spcAft>
                <a:spcPts val="450"/>
              </a:spcAft>
              <a:buNone/>
            </a:pPr>
            <a:r>
              <a:rPr lang="zh-CN" altLang="en-US" dirty="0"/>
              <a:t>所谓</a:t>
            </a:r>
            <a:r>
              <a:rPr lang="zh-CN" altLang="en-US" dirty="0">
                <a:solidFill>
                  <a:srgbClr val="FF0000"/>
                </a:solidFill>
              </a:rPr>
              <a:t>工作集</a:t>
            </a:r>
            <a:r>
              <a:rPr lang="zh-CN" altLang="en-US" dirty="0"/>
              <a:t>，指在某段时间间隔</a:t>
            </a:r>
            <a:r>
              <a:rPr lang="en-US" altLang="zh-CN" dirty="0">
                <a:solidFill>
                  <a:schemeClr val="accent3">
                    <a:lumMod val="50000"/>
                    <a:lumOff val="50000"/>
                  </a:schemeClr>
                </a:solidFill>
              </a:rPr>
              <a:t>Δ</a:t>
            </a:r>
            <a:r>
              <a:rPr lang="zh-CN" altLang="en-US" dirty="0"/>
              <a:t>里进程实际要访问页面的集合。</a:t>
            </a:r>
            <a:endParaRPr lang="en-US" altLang="zh-CN" dirty="0"/>
          </a:p>
          <a:p>
            <a:pPr marL="0" indent="0">
              <a:lnSpc>
                <a:spcPct val="120000"/>
              </a:lnSpc>
              <a:spcBef>
                <a:spcPts val="450"/>
              </a:spcBef>
              <a:spcAft>
                <a:spcPts val="450"/>
              </a:spcAft>
              <a:buNone/>
            </a:pPr>
            <a:r>
              <a:rPr lang="zh-CN" altLang="en-US" dirty="0"/>
              <a:t>把某进程在时间</a:t>
            </a:r>
            <a:r>
              <a:rPr lang="en-US" altLang="zh-CN" dirty="0"/>
              <a:t>t</a:t>
            </a:r>
            <a:r>
              <a:rPr lang="zh-CN" altLang="en-US" dirty="0"/>
              <a:t>的工作集记为</a:t>
            </a:r>
            <a:r>
              <a:rPr lang="en-US" altLang="zh-CN" dirty="0"/>
              <a:t>w(t</a:t>
            </a:r>
            <a:r>
              <a:rPr lang="zh-CN" altLang="en-US" dirty="0"/>
              <a:t>，</a:t>
            </a:r>
            <a:r>
              <a:rPr lang="en-US" altLang="zh-CN" dirty="0"/>
              <a:t>Δ),</a:t>
            </a:r>
            <a:r>
              <a:rPr lang="zh-CN" altLang="en-US" dirty="0"/>
              <a:t>其中的变量</a:t>
            </a:r>
            <a:r>
              <a:rPr lang="en-US" altLang="zh-CN" dirty="0"/>
              <a:t>Δ</a:t>
            </a:r>
            <a:r>
              <a:rPr lang="zh-CN" altLang="en-US" dirty="0"/>
              <a:t>称为工作集的“</a:t>
            </a:r>
            <a:r>
              <a:rPr lang="zh-CN" altLang="en-US" dirty="0">
                <a:solidFill>
                  <a:schemeClr val="accent3">
                    <a:lumMod val="50000"/>
                    <a:lumOff val="50000"/>
                  </a:schemeClr>
                </a:solidFill>
              </a:rPr>
              <a:t>窗口</a:t>
            </a:r>
            <a:r>
              <a:rPr lang="zh-CN" altLang="en-US" dirty="0"/>
              <a:t>尺寸”。</a:t>
            </a:r>
            <a:endParaRPr lang="zh-CN" altLang="en-US" dirty="0"/>
          </a:p>
          <a:p>
            <a:pPr marL="0" indent="0">
              <a:lnSpc>
                <a:spcPct val="120000"/>
              </a:lnSpc>
              <a:spcBef>
                <a:spcPts val="450"/>
              </a:spcBef>
              <a:spcAft>
                <a:spcPts val="450"/>
              </a:spcAft>
              <a:buClr>
                <a:srgbClr val="0000FF"/>
              </a:buClr>
              <a:buNone/>
            </a:pPr>
            <a:endParaRPr lang="zh-CN" altLang="en-US" dirty="0"/>
          </a:p>
        </p:txBody>
      </p:sp>
      <p:pic>
        <p:nvPicPr>
          <p:cNvPr id="58370" name="图片 66562" descr="B548"/>
          <p:cNvPicPr>
            <a:picLocks noChangeAspect="1"/>
          </p:cNvPicPr>
          <p:nvPr/>
        </p:nvPicPr>
        <p:blipFill>
          <a:blip r:embed="rId2"/>
          <a:stretch>
            <a:fillRect/>
          </a:stretch>
        </p:blipFill>
        <p:spPr>
          <a:xfrm>
            <a:off x="858203" y="3602355"/>
            <a:ext cx="8041005" cy="1843564"/>
          </a:xfrm>
          <a:prstGeom prst="rect">
            <a:avLst/>
          </a:prstGeom>
          <a:noFill/>
          <a:ln w="9525">
            <a:noFill/>
          </a:ln>
        </p:spPr>
      </p:pic>
    </p:spTree>
  </p:cSld>
  <p:clrMapOvr>
    <a:masterClrMapping/>
  </p:clrMapOvr>
  <p:transition spd="slow">
    <p:pull dir="ru"/>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内容占位符 68612"/>
          <p:cNvSpPr>
            <a:spLocks noGrp="1"/>
          </p:cNvSpPr>
          <p:nvPr>
            <p:ph idx="1"/>
          </p:nvPr>
        </p:nvSpPr>
        <p:spPr>
          <a:xfrm>
            <a:off x="1111567" y="2115503"/>
            <a:ext cx="6910388" cy="2865120"/>
          </a:xfrm>
        </p:spPr>
        <p:txBody>
          <a:bodyPr anchor="t" anchorCtr="0"/>
          <a:lstStyle/>
          <a:p>
            <a:r>
              <a:rPr lang="zh-CN" altLang="en-US" sz="1800" dirty="0">
                <a:solidFill>
                  <a:srgbClr val="006600"/>
                </a:solidFill>
              </a:rPr>
              <a:t>工作集模型</a:t>
            </a:r>
            <a:endParaRPr lang="zh-CN" altLang="en-US" sz="1800" dirty="0">
              <a:solidFill>
                <a:srgbClr val="006600"/>
              </a:solidFill>
            </a:endParaRPr>
          </a:p>
          <a:p>
            <a:endParaRPr lang="zh-CN" altLang="en-US" sz="1800">
              <a:solidFill>
                <a:srgbClr val="006600"/>
              </a:solidFill>
            </a:endParaRPr>
          </a:p>
          <a:p>
            <a:r>
              <a:rPr lang="zh-CN" altLang="en-US" sz="1800" dirty="0"/>
              <a:t>分页系统设法</a:t>
            </a:r>
            <a:r>
              <a:rPr lang="zh-CN" altLang="en-US" sz="1800" dirty="0">
                <a:solidFill>
                  <a:srgbClr val="FF0000"/>
                </a:solidFill>
              </a:rPr>
              <a:t>跟踪</a:t>
            </a:r>
            <a:r>
              <a:rPr lang="zh-CN" altLang="en-US" sz="1800" dirty="0"/>
              <a:t>进程的工作集，让进程运行以前，它的工作集就已在内存中。该方法为</a:t>
            </a:r>
            <a:r>
              <a:rPr lang="zh-CN" altLang="en-US" sz="1800" dirty="0">
                <a:solidFill>
                  <a:srgbClr val="FF0000"/>
                </a:solidFill>
              </a:rPr>
              <a:t>工作集模型</a:t>
            </a:r>
            <a:r>
              <a:rPr lang="zh-CN" altLang="en-US" sz="1800" dirty="0"/>
              <a:t>。其目的在于大大</a:t>
            </a:r>
            <a:r>
              <a:rPr lang="zh-CN" altLang="en-US" sz="1800" dirty="0">
                <a:solidFill>
                  <a:srgbClr val="FF0000"/>
                </a:solidFill>
              </a:rPr>
              <a:t>减少页面失效率</a:t>
            </a:r>
            <a:r>
              <a:rPr lang="zh-CN" altLang="en-US" sz="1800" dirty="0"/>
              <a:t>。</a:t>
            </a:r>
            <a:endParaRPr lang="zh-CN" altLang="en-US" sz="1800" dirty="0"/>
          </a:p>
          <a:p>
            <a:endParaRPr lang="zh-CN" altLang="en-US" sz="1800" dirty="0"/>
          </a:p>
          <a:p>
            <a:r>
              <a:rPr lang="zh-CN" altLang="en-US" sz="1800" dirty="0"/>
              <a:t>基于工作集的页面置换算法</a:t>
            </a:r>
            <a:endParaRPr lang="zh-CN" altLang="en-US" sz="1800" dirty="0"/>
          </a:p>
          <a:p>
            <a:pPr lvl="1"/>
            <a:r>
              <a:rPr lang="zh-CN" altLang="en-US" sz="1800" dirty="0"/>
              <a:t>基本思想：</a:t>
            </a:r>
            <a:r>
              <a:rPr lang="zh-CN" altLang="en-US" sz="1800" dirty="0">
                <a:solidFill>
                  <a:srgbClr val="FF0000"/>
                </a:solidFill>
              </a:rPr>
              <a:t>找出一个不在工作集中的页面并淘汰之。</a:t>
            </a:r>
            <a:endParaRPr lang="zh-CN" altLang="en-US" sz="1800">
              <a:solidFill>
                <a:srgbClr val="FF0000"/>
              </a:solidFill>
            </a:endParaRPr>
          </a:p>
        </p:txBody>
      </p:sp>
      <p:pic>
        <p:nvPicPr>
          <p:cNvPr id="58370" name="图片 66562" descr="B548"/>
          <p:cNvPicPr>
            <a:picLocks noChangeAspect="1"/>
          </p:cNvPicPr>
          <p:nvPr/>
        </p:nvPicPr>
        <p:blipFill>
          <a:blip r:embed="rId1"/>
          <a:stretch>
            <a:fillRect/>
          </a:stretch>
        </p:blipFill>
        <p:spPr>
          <a:xfrm>
            <a:off x="1502569" y="4782503"/>
            <a:ext cx="6256496" cy="997744"/>
          </a:xfrm>
          <a:prstGeom prst="rect">
            <a:avLst/>
          </a:prstGeom>
          <a:noFill/>
          <a:ln w="9525">
            <a:noFill/>
          </a:ln>
        </p:spPr>
      </p:pic>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8613"/>
                                        </p:tgtEl>
                                        <p:attrNameLst>
                                          <p:attrName>style.visibility</p:attrName>
                                        </p:attrNameLst>
                                      </p:cBhvr>
                                      <p:to>
                                        <p:strVal val="visible"/>
                                      </p:to>
                                    </p:set>
                                    <p:animEffect transition="in" filter="blinds(horizontal)">
                                      <p:cBhvr>
                                        <p:cTn id="7" dur="500"/>
                                        <p:tgtEl>
                                          <p:spTgt spid="68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对象 67585"/>
          <p:cNvGraphicFramePr/>
          <p:nvPr/>
        </p:nvGraphicFramePr>
        <p:xfrm>
          <a:off x="3771900" y="2942749"/>
          <a:ext cx="1600200" cy="914400"/>
        </p:xfrm>
        <a:graphic>
          <a:graphicData uri="http://schemas.openxmlformats.org/presentationml/2006/ole">
            <mc:AlternateContent xmlns:mc="http://schemas.openxmlformats.org/markup-compatibility/2006">
              <mc:Choice xmlns:v="urn:schemas-microsoft-com:vml" Requires="v">
                <p:oleObj spid="_x0000_s2102" name="" r:id="rId1" imgW="762635" imgH="406400" progId="Equation.3">
                  <p:embed/>
                </p:oleObj>
              </mc:Choice>
              <mc:Fallback>
                <p:oleObj name="" r:id="rId1" imgW="762635" imgH="406400" progId="Equation.3">
                  <p:embed/>
                  <p:pic>
                    <p:nvPicPr>
                      <p:cNvPr id="0" name="对象 67585"/>
                      <p:cNvPicPr/>
                      <p:nvPr/>
                    </p:nvPicPr>
                    <p:blipFill>
                      <a:blip r:embed="rId2"/>
                      <a:stretch>
                        <a:fillRect/>
                      </a:stretch>
                    </p:blipFill>
                    <p:spPr>
                      <a:xfrm>
                        <a:off x="3771900" y="2942749"/>
                        <a:ext cx="1600200" cy="914400"/>
                      </a:xfrm>
                      <a:prstGeom prst="rect">
                        <a:avLst/>
                      </a:prstGeom>
                      <a:noFill/>
                      <a:ln w="38100">
                        <a:noFill/>
                        <a:miter/>
                      </a:ln>
                    </p:spPr>
                  </p:pic>
                </p:oleObj>
              </mc:Fallback>
            </mc:AlternateContent>
          </a:graphicData>
        </a:graphic>
      </p:graphicFrame>
      <p:sp>
        <p:nvSpPr>
          <p:cNvPr id="67587" name="矩形 67586"/>
          <p:cNvSpPr/>
          <p:nvPr/>
        </p:nvSpPr>
        <p:spPr>
          <a:xfrm>
            <a:off x="1371600" y="4275729"/>
            <a:ext cx="6400800" cy="600164"/>
          </a:xfrm>
          <a:prstGeom prst="rect">
            <a:avLst/>
          </a:prstGeom>
          <a:noFill/>
          <a:ln w="9525">
            <a:noFill/>
          </a:ln>
        </p:spPr>
        <p:txBody>
          <a:bodyPr bIns="0" anchor="ctr" anchorCtr="0">
            <a:spAutoFit/>
          </a:bodyPr>
          <a:lstStyle/>
          <a:p>
            <a:pPr indent="200025"/>
            <a:r>
              <a:rPr lang="en-US" altLang="zh-CN" i="1">
                <a:latin typeface="Times New Roman" panose="02020603050405020304" pitchFamily="18" charset="0"/>
              </a:rPr>
              <a:t>D</a:t>
            </a:r>
            <a:r>
              <a:rPr lang="zh-CN" altLang="en-US" dirty="0">
                <a:latin typeface="Times New Roman" panose="02020603050405020304" pitchFamily="18" charset="0"/>
              </a:rPr>
              <a:t>是系统中全部（</a:t>
            </a:r>
            <a:r>
              <a:rPr lang="en-US" altLang="zh-CN" i="1">
                <a:latin typeface="Times New Roman" panose="02020603050405020304" pitchFamily="18" charset="0"/>
              </a:rPr>
              <a:t>n</a:t>
            </a:r>
            <a:r>
              <a:rPr lang="zh-CN" altLang="en-US" dirty="0">
                <a:latin typeface="Times New Roman" panose="02020603050405020304" pitchFamily="18" charset="0"/>
              </a:rPr>
              <a:t>个）进程对内存块的总请求量。</a:t>
            </a:r>
            <a:r>
              <a:rPr lang="zh-CN" altLang="en-US" dirty="0">
                <a:latin typeface="Tahoma" panose="020B0604030504040204" pitchFamily="34" charset="0"/>
              </a:rPr>
              <a:t> </a:t>
            </a:r>
            <a:r>
              <a:rPr lang="zh-CN" altLang="en-US" dirty="0">
                <a:latin typeface="Times New Roman" panose="02020603050405020304" pitchFamily="18" charset="0"/>
              </a:rPr>
              <a:t>若请求值</a:t>
            </a:r>
            <a:r>
              <a:rPr lang="en-US" altLang="zh-CN" i="1">
                <a:latin typeface="Times New Roman" panose="02020603050405020304" pitchFamily="18" charset="0"/>
              </a:rPr>
              <a:t>D</a:t>
            </a:r>
            <a:r>
              <a:rPr lang="zh-CN" altLang="en-US" dirty="0">
                <a:latin typeface="Times New Roman" panose="02020603050405020304" pitchFamily="18" charset="0"/>
              </a:rPr>
              <a:t>大于可用内存块的总量</a:t>
            </a:r>
            <a:r>
              <a:rPr lang="en-US" altLang="zh-CN" i="1">
                <a:latin typeface="Times New Roman" panose="02020603050405020304" pitchFamily="18" charset="0"/>
              </a:rPr>
              <a:t>m</a:t>
            </a:r>
            <a:r>
              <a:rPr lang="en-US" altLang="zh-CN">
                <a:latin typeface="Times New Roman" panose="02020603050405020304" pitchFamily="18" charset="0"/>
              </a:rPr>
              <a:t>(</a:t>
            </a:r>
            <a:r>
              <a:rPr lang="en-US" altLang="zh-CN" i="1">
                <a:latin typeface="Times New Roman" panose="02020603050405020304" pitchFamily="18" charset="0"/>
              </a:rPr>
              <a:t>D</a:t>
            </a:r>
            <a:r>
              <a:rPr lang="zh-CN" altLang="en-US">
                <a:latin typeface="Times New Roman" panose="02020603050405020304" pitchFamily="18" charset="0"/>
              </a:rPr>
              <a:t>＞</a:t>
            </a:r>
            <a:r>
              <a:rPr lang="en-US" altLang="zh-CN" i="1">
                <a:latin typeface="Times New Roman" panose="02020603050405020304" pitchFamily="18" charset="0"/>
              </a:rPr>
              <a:t>m</a:t>
            </a:r>
            <a:r>
              <a:rPr lang="en-US" altLang="zh-CN">
                <a:latin typeface="Times New Roman" panose="02020603050405020304" pitchFamily="18" charset="0"/>
              </a:rPr>
              <a:t>)</a:t>
            </a:r>
            <a:r>
              <a:rPr lang="zh-CN" altLang="en-US" dirty="0">
                <a:latin typeface="Times New Roman" panose="02020603050405020304" pitchFamily="18" charset="0"/>
              </a:rPr>
              <a:t>，将出现</a:t>
            </a:r>
            <a:r>
              <a:rPr lang="zh-CN" altLang="en-US" dirty="0">
                <a:solidFill>
                  <a:srgbClr val="FF0000"/>
                </a:solidFill>
                <a:latin typeface="Times New Roman" panose="02020603050405020304" pitchFamily="18" charset="0"/>
              </a:rPr>
              <a:t>抖动。</a:t>
            </a:r>
            <a:endParaRPr lang="zh-CN" altLang="en-US" dirty="0">
              <a:solidFill>
                <a:srgbClr val="FF0000"/>
              </a:solidFill>
              <a:latin typeface="Tahoma" panose="020B0604030504040204" pitchFamily="34" charset="0"/>
              <a:ea typeface="黑体" panose="02010609060101010101" pitchFamily="49" charset="-122"/>
            </a:endParaRPr>
          </a:p>
        </p:txBody>
      </p:sp>
      <p:sp>
        <p:nvSpPr>
          <p:cNvPr id="67588" name="矩形 67587"/>
          <p:cNvSpPr/>
          <p:nvPr/>
        </p:nvSpPr>
        <p:spPr>
          <a:xfrm>
            <a:off x="1371124" y="2146430"/>
            <a:ext cx="6172676" cy="646331"/>
          </a:xfrm>
          <a:prstGeom prst="rect">
            <a:avLst/>
          </a:prstGeom>
          <a:noFill/>
          <a:ln w="9525">
            <a:noFill/>
          </a:ln>
        </p:spPr>
        <p:txBody>
          <a:bodyPr wrap="square" anchor="ctr" anchorCtr="0">
            <a:spAutoFit/>
          </a:bodyPr>
          <a:lstStyle/>
          <a:p>
            <a:pPr indent="218440"/>
            <a:r>
              <a:rPr lang="en-US" altLang="zh-CN" dirty="0">
                <a:latin typeface="Tahoma" panose="020B0604030504040204" pitchFamily="34" charset="0"/>
              </a:rPr>
              <a:t> </a:t>
            </a:r>
            <a:r>
              <a:rPr lang="zh-CN" altLang="en-US" dirty="0">
                <a:latin typeface="Tahoma" panose="020B0604030504040204" pitchFamily="34" charset="0"/>
              </a:rPr>
              <a:t>工作集依赖于程序的行为，并且其大小与</a:t>
            </a:r>
            <a:r>
              <a:rPr lang="en-US" altLang="zh-CN" dirty="0">
                <a:latin typeface="Tahoma" panose="020B0604030504040204" pitchFamily="34" charset="0"/>
                <a:sym typeface="Symbol" panose="05050102010706020507" pitchFamily="18" charset="2"/>
              </a:rPr>
              <a:t></a:t>
            </a:r>
            <a:r>
              <a:rPr lang="zh-CN" altLang="en-US" dirty="0">
                <a:latin typeface="Tahoma" panose="020B0604030504040204" pitchFamily="34" charset="0"/>
              </a:rPr>
              <a:t>的取值有关。</a:t>
            </a:r>
            <a:r>
              <a:rPr lang="zh-CN" altLang="en-US" dirty="0">
                <a:latin typeface="Tahoma" panose="020B0604030504040204" pitchFamily="34" charset="0"/>
                <a:sym typeface="Symbol" panose="05050102010706020507" pitchFamily="18" charset="2"/>
              </a:rPr>
              <a:t>每个进程的工作集大小为</a:t>
            </a:r>
            <a:r>
              <a:rPr lang="en-US" altLang="zh-CN" err="1">
                <a:latin typeface="Tahoma" panose="020B0604030504040204" pitchFamily="34" charset="0"/>
                <a:sym typeface="Symbol" panose="05050102010706020507" pitchFamily="18" charset="2"/>
              </a:rPr>
              <a:t>WSS</a:t>
            </a:r>
            <a:r>
              <a:rPr lang="en-US" altLang="zh-CN" i="1" baseline="-25000" err="1">
                <a:latin typeface="Tahoma" panose="020B0604030504040204" pitchFamily="34" charset="0"/>
                <a:sym typeface="Symbol" panose="05050102010706020507" pitchFamily="18" charset="2"/>
              </a:rPr>
              <a:t>i</a:t>
            </a:r>
            <a:r>
              <a:rPr lang="zh-CN" altLang="en-US" dirty="0">
                <a:latin typeface="Tahoma" panose="020B0604030504040204" pitchFamily="34" charset="0"/>
                <a:sym typeface="Symbol" panose="05050102010706020507" pitchFamily="18" charset="2"/>
              </a:rPr>
              <a:t>，那么</a:t>
            </a:r>
            <a:endParaRPr lang="zh-CN" altLang="en-US" dirty="0">
              <a:latin typeface="Tahoma" panose="020B0604030504040204" pitchFamily="34" charset="0"/>
              <a:sym typeface="Symbol" panose="05050102010706020507" pitchFamily="18" charset="2"/>
            </a:endParaRPr>
          </a:p>
        </p:txBody>
      </p:sp>
      <p:sp>
        <p:nvSpPr>
          <p:cNvPr id="2" name="文本框 1"/>
          <p:cNvSpPr txBox="1"/>
          <p:nvPr/>
        </p:nvSpPr>
        <p:spPr>
          <a:xfrm>
            <a:off x="1600200" y="1674972"/>
            <a:ext cx="3048000" cy="483394"/>
          </a:xfrm>
          <a:prstGeom prst="rect">
            <a:avLst/>
          </a:prstGeom>
          <a:noFill/>
        </p:spPr>
        <p:txBody>
          <a:bodyPr wrap="square" rtlCol="0">
            <a:noAutofit/>
          </a:bodyPr>
          <a:lstStyle/>
          <a:p>
            <a:r>
              <a:rPr lang="zh-CN" altLang="en-US" b="1" dirty="0">
                <a:solidFill>
                  <a:srgbClr val="FF0000"/>
                </a:solidFill>
                <a:latin typeface="Times New Roman" panose="02020603050405020304" pitchFamily="18" charset="0"/>
                <a:sym typeface="+mn-ea"/>
              </a:rPr>
              <a:t>测试抖动</a:t>
            </a:r>
            <a:endParaRPr lang="zh-CN" altLang="en-US" b="1"/>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checkerboard(across)">
                                      <p:cBhvr>
                                        <p:cTn id="7" dur="500"/>
                                        <p:tgtEl>
                                          <p:spTgt spid="67588"/>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67586"/>
                                        </p:tgtEl>
                                        <p:attrNameLst>
                                          <p:attrName>style.visibility</p:attrName>
                                        </p:attrNameLst>
                                      </p:cBhvr>
                                      <p:to>
                                        <p:strVal val="visible"/>
                                      </p:to>
                                    </p:set>
                                    <p:animEffect transition="in" filter="checkerboard(across)">
                                      <p:cBhvr>
                                        <p:cTn id="11" dur="500"/>
                                        <p:tgtEl>
                                          <p:spTgt spid="67586"/>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67587"/>
                                        </p:tgtEl>
                                        <p:attrNameLst>
                                          <p:attrName>style.visibility</p:attrName>
                                        </p:attrNameLst>
                                      </p:cBhvr>
                                      <p:to>
                                        <p:strVal val="visible"/>
                                      </p:to>
                                    </p:set>
                                    <p:animEffect transition="in" filter="checkerboard(across)">
                                      <p:cBhvr>
                                        <p:cTn id="15" dur="500"/>
                                        <p:tgtEl>
                                          <p:spTgt spid="67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p:bldP spid="67588"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5361"/>
          <p:cNvSpPr>
            <a:spLocks noGrp="1"/>
          </p:cNvSpPr>
          <p:nvPr>
            <p:ph type="title"/>
          </p:nvPr>
        </p:nvSpPr>
        <p:spPr/>
        <p:txBody>
          <a:bodyPr anchor="ctr" anchorCtr="0"/>
          <a:lstStyle/>
          <a:p>
            <a:endParaRPr lang="zh-CN" altLang="en-US" dirty="0"/>
          </a:p>
        </p:txBody>
      </p:sp>
      <p:sp>
        <p:nvSpPr>
          <p:cNvPr id="13314" name="文本占位符 15362"/>
          <p:cNvSpPr>
            <a:spLocks noGrp="1"/>
          </p:cNvSpPr>
          <p:nvPr>
            <p:ph idx="1"/>
          </p:nvPr>
        </p:nvSpPr>
        <p:spPr>
          <a:xfrm>
            <a:off x="1718786" y="2326958"/>
            <a:ext cx="6921818" cy="3138011"/>
          </a:xfrm>
        </p:spPr>
        <p:txBody>
          <a:bodyPr anchor="t" anchorCtr="0"/>
          <a:lstStyle/>
          <a:p>
            <a:pPr marL="0" indent="0">
              <a:buNone/>
            </a:pPr>
            <a:r>
              <a:rPr lang="en-US" sz="1800" dirty="0"/>
              <a:t>2.</a:t>
            </a:r>
            <a:r>
              <a:rPr lang="zh-CN" altLang="en-US" sz="1800" dirty="0"/>
              <a:t>当系统发生抖动时，可以采取的有效措施是（ ）</a:t>
            </a:r>
            <a:endParaRPr lang="zh-CN" altLang="en-US" sz="1800" dirty="0"/>
          </a:p>
          <a:p>
            <a:r>
              <a:rPr lang="en-US" altLang="zh-CN" sz="1800" dirty="0"/>
              <a:t>1</a:t>
            </a:r>
            <a:r>
              <a:rPr lang="zh-CN" altLang="en-US" sz="1800" dirty="0"/>
              <a:t>撤销部分进程</a:t>
            </a:r>
            <a:endParaRPr lang="zh-CN" altLang="en-US" sz="1800" dirty="0"/>
          </a:p>
          <a:p>
            <a:r>
              <a:rPr lang="en-US" altLang="zh-CN" sz="1800" dirty="0"/>
              <a:t>2</a:t>
            </a:r>
            <a:r>
              <a:rPr lang="zh-CN" altLang="en-US" sz="1800" dirty="0"/>
              <a:t>增加磁盘交换区的容量</a:t>
            </a:r>
            <a:endParaRPr lang="zh-CN" altLang="en-US" sz="1800" dirty="0"/>
          </a:p>
          <a:p>
            <a:r>
              <a:rPr lang="en-US" altLang="zh-CN" sz="1800" dirty="0"/>
              <a:t>3</a:t>
            </a:r>
            <a:r>
              <a:rPr lang="zh-CN" altLang="en-US" sz="1800" dirty="0"/>
              <a:t>提高用户进程的优先级</a:t>
            </a:r>
            <a:endParaRPr lang="zh-CN" altLang="en-US" sz="1800" dirty="0"/>
          </a:p>
          <a:p>
            <a:endParaRPr lang="zh-CN" altLang="en-US" sz="1800" dirty="0"/>
          </a:p>
          <a:p>
            <a:pPr>
              <a:buNone/>
            </a:pPr>
            <a:r>
              <a:rPr lang="zh-CN" altLang="en-US" sz="1800"/>
              <a:t> </a:t>
            </a:r>
            <a:r>
              <a:rPr lang="en-US" altLang="zh-CN" sz="1800">
                <a:solidFill>
                  <a:schemeClr val="hlink"/>
                </a:solidFill>
              </a:rPr>
              <a:t>A</a:t>
            </a:r>
            <a:r>
              <a:rPr lang="en-US" altLang="zh-CN" sz="1800" dirty="0"/>
              <a:t>.</a:t>
            </a:r>
            <a:r>
              <a:rPr lang="zh-CN" altLang="en-US" sz="1800" dirty="0"/>
              <a:t>仅</a:t>
            </a:r>
            <a:r>
              <a:rPr lang="en-US" altLang="zh-CN" sz="1800" dirty="0"/>
              <a:t>1    B.</a:t>
            </a:r>
            <a:r>
              <a:rPr lang="zh-CN" altLang="en-US" sz="1800" dirty="0"/>
              <a:t>仅</a:t>
            </a:r>
            <a:r>
              <a:rPr lang="en-US" altLang="zh-CN" sz="1800" dirty="0"/>
              <a:t>2     C.</a:t>
            </a:r>
            <a:r>
              <a:rPr lang="zh-CN" altLang="en-US" sz="1800" dirty="0"/>
              <a:t>仅</a:t>
            </a:r>
            <a:r>
              <a:rPr lang="en-US" altLang="zh-CN" sz="1800" dirty="0"/>
              <a:t>3    D.</a:t>
            </a:r>
            <a:r>
              <a:rPr lang="zh-CN" altLang="en-US" sz="1800" dirty="0"/>
              <a:t>仅</a:t>
            </a:r>
            <a:r>
              <a:rPr lang="en-US" altLang="zh-CN" sz="1800" dirty="0"/>
              <a:t>1</a:t>
            </a:r>
            <a:r>
              <a:rPr lang="zh-CN" altLang="en-US" sz="1800" dirty="0"/>
              <a:t>和</a:t>
            </a:r>
            <a:r>
              <a:rPr lang="en-US" altLang="zh-CN" sz="1800"/>
              <a:t>2</a:t>
            </a:r>
            <a:endParaRPr lang="en-US" altLang="zh-CN" sz="1800"/>
          </a:p>
        </p:txBody>
      </p:sp>
    </p:spTree>
  </p:cSld>
  <p:clrMapOvr>
    <a:masterClrMapping/>
  </p:clrMapOvr>
  <p:transition spd="slow">
    <p:pull dir="ru"/>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81921"/>
          <p:cNvSpPr>
            <a:spLocks noGrp="1"/>
          </p:cNvSpPr>
          <p:nvPr>
            <p:ph type="title"/>
          </p:nvPr>
        </p:nvSpPr>
        <p:spPr/>
        <p:txBody>
          <a:bodyPr anchor="ctr" anchorCtr="0"/>
          <a:lstStyle/>
          <a:p>
            <a:r>
              <a:rPr lang="zh-CN" altLang="en-US" sz="2700" dirty="0"/>
              <a:t>置换算法举例</a:t>
            </a:r>
            <a:r>
              <a:rPr lang="en-US" altLang="zh-CN" sz="2700"/>
              <a:t>1</a:t>
            </a:r>
            <a:endParaRPr lang="en-US" altLang="zh-CN" sz="2700"/>
          </a:p>
        </p:txBody>
      </p:sp>
      <p:sp>
        <p:nvSpPr>
          <p:cNvPr id="61442" name="文本占位符 81922"/>
          <p:cNvSpPr>
            <a:spLocks noGrp="1"/>
          </p:cNvSpPr>
          <p:nvPr>
            <p:ph idx="1"/>
          </p:nvPr>
        </p:nvSpPr>
        <p:spPr>
          <a:xfrm>
            <a:off x="1035368" y="1700213"/>
            <a:ext cx="7094220" cy="3764756"/>
          </a:xfrm>
        </p:spPr>
        <p:txBody>
          <a:bodyPr anchor="t" anchorCtr="0"/>
          <a:lstStyle/>
          <a:p>
            <a:pPr marL="0" indent="0" fontAlgn="auto">
              <a:buNone/>
            </a:pPr>
            <a:r>
              <a:rPr lang="zh-CN" altLang="en-US" sz="1800" dirty="0"/>
              <a:t>练习</a:t>
            </a:r>
            <a:r>
              <a:rPr lang="en-US" altLang="zh-CN" sz="1800" dirty="0"/>
              <a:t>1.</a:t>
            </a:r>
            <a:r>
              <a:rPr lang="zh-CN" altLang="en-US" sz="1800" dirty="0"/>
              <a:t>一个程序共有</a:t>
            </a:r>
            <a:r>
              <a:rPr lang="en-US" altLang="zh-CN" sz="1800" dirty="0"/>
              <a:t>5</a:t>
            </a:r>
            <a:r>
              <a:rPr lang="zh-CN" altLang="en-US" sz="1800" dirty="0"/>
              <a:t>个页面组成，分别为</a:t>
            </a:r>
            <a:r>
              <a:rPr lang="en-US" altLang="zh-CN" sz="1800" dirty="0"/>
              <a:t>P1</a:t>
            </a:r>
            <a:r>
              <a:rPr lang="zh-CN" altLang="en-US" sz="1800" dirty="0"/>
              <a:t>～</a:t>
            </a:r>
            <a:r>
              <a:rPr lang="en-US" altLang="zh-CN" sz="1800" dirty="0"/>
              <a:t>P5</a:t>
            </a:r>
            <a:r>
              <a:rPr lang="zh-CN" altLang="en-US" sz="1800" dirty="0"/>
              <a:t>。程序执行过程中的页地址流（即程序执行中依次用到的页面）如下：</a:t>
            </a:r>
            <a:endParaRPr lang="zh-CN" altLang="en-US" sz="1800" dirty="0"/>
          </a:p>
          <a:p>
            <a:pPr algn="ctr" fontAlgn="auto">
              <a:lnSpc>
                <a:spcPct val="100000"/>
              </a:lnSpc>
              <a:buNone/>
            </a:pPr>
            <a:r>
              <a:rPr lang="en-US" altLang="zh-CN" sz="1800"/>
              <a:t>P1</a:t>
            </a:r>
            <a:r>
              <a:rPr lang="zh-CN" altLang="en-US" sz="1800"/>
              <a:t>，</a:t>
            </a:r>
            <a:r>
              <a:rPr lang="en-US" altLang="zh-CN" sz="1800"/>
              <a:t>P2</a:t>
            </a:r>
            <a:r>
              <a:rPr lang="zh-CN" altLang="en-US" sz="1800"/>
              <a:t>，</a:t>
            </a:r>
            <a:r>
              <a:rPr lang="en-US" altLang="zh-CN" sz="1800"/>
              <a:t>P1</a:t>
            </a:r>
            <a:r>
              <a:rPr lang="zh-CN" altLang="en-US" sz="1800"/>
              <a:t>，</a:t>
            </a:r>
            <a:r>
              <a:rPr lang="en-US" altLang="zh-CN" sz="1800"/>
              <a:t>P5</a:t>
            </a:r>
            <a:r>
              <a:rPr lang="zh-CN" altLang="en-US" sz="1800"/>
              <a:t>，</a:t>
            </a:r>
            <a:r>
              <a:rPr lang="en-US" altLang="zh-CN" sz="1800"/>
              <a:t>P5</a:t>
            </a:r>
            <a:r>
              <a:rPr lang="zh-CN" altLang="en-US" sz="1800"/>
              <a:t>，</a:t>
            </a:r>
            <a:r>
              <a:rPr lang="en-US" altLang="zh-CN" sz="1800"/>
              <a:t>P1</a:t>
            </a:r>
            <a:r>
              <a:rPr lang="zh-CN" altLang="en-US" sz="1800"/>
              <a:t>，</a:t>
            </a:r>
            <a:r>
              <a:rPr lang="en-US" altLang="zh-CN" sz="1800"/>
              <a:t>P3</a:t>
            </a:r>
            <a:r>
              <a:rPr lang="zh-CN" altLang="en-US" sz="1800"/>
              <a:t>，</a:t>
            </a:r>
            <a:r>
              <a:rPr lang="en-US" altLang="zh-CN" sz="1800"/>
              <a:t>P4</a:t>
            </a:r>
            <a:r>
              <a:rPr lang="zh-CN" altLang="en-US" sz="1800"/>
              <a:t>，</a:t>
            </a:r>
            <a:r>
              <a:rPr lang="en-US" altLang="zh-CN" sz="1800"/>
              <a:t>P3</a:t>
            </a:r>
            <a:r>
              <a:rPr lang="zh-CN" altLang="en-US" sz="1800"/>
              <a:t>，</a:t>
            </a:r>
            <a:r>
              <a:rPr lang="en-US" altLang="zh-CN" sz="1800"/>
              <a:t>P4</a:t>
            </a:r>
            <a:endParaRPr lang="en-US" altLang="zh-CN" sz="1800"/>
          </a:p>
          <a:p>
            <a:pPr fontAlgn="auto">
              <a:lnSpc>
                <a:spcPct val="100000"/>
              </a:lnSpc>
              <a:buNone/>
            </a:pPr>
            <a:r>
              <a:rPr lang="zh-CN" altLang="en-US" sz="1800" dirty="0">
                <a:latin typeface="宋体" panose="02010600030101010101" pitchFamily="2" charset="-122"/>
              </a:rPr>
              <a:t>假设分配给这个程序的主存储器共有</a:t>
            </a:r>
            <a:r>
              <a:rPr lang="en-US" altLang="zh-CN" sz="1800" dirty="0">
                <a:latin typeface="宋体" panose="02010600030101010101" pitchFamily="2" charset="-122"/>
              </a:rPr>
              <a:t>3</a:t>
            </a:r>
            <a:r>
              <a:rPr lang="zh-CN" altLang="en-US" sz="1800" dirty="0">
                <a:latin typeface="宋体" panose="02010600030101010101" pitchFamily="2" charset="-122"/>
              </a:rPr>
              <a:t>个页面。</a:t>
            </a:r>
            <a:endParaRPr lang="zh-CN" altLang="en-US" sz="1800" dirty="0">
              <a:latin typeface="宋体" panose="02010600030101010101" pitchFamily="2" charset="-122"/>
            </a:endParaRPr>
          </a:p>
          <a:p>
            <a:pPr fontAlgn="auto">
              <a:lnSpc>
                <a:spcPct val="100000"/>
              </a:lnSpc>
              <a:buNone/>
            </a:pPr>
            <a:r>
              <a:rPr lang="en-US" altLang="zh-CN" sz="1800" dirty="0">
                <a:latin typeface="宋体" panose="02010600030101010101" pitchFamily="2" charset="-122"/>
              </a:rPr>
              <a:t>     </a:t>
            </a:r>
            <a:endParaRPr lang="en-US" altLang="zh-CN" sz="1800" dirty="0">
              <a:latin typeface="宋体" panose="02010600030101010101" pitchFamily="2" charset="-122"/>
            </a:endParaRPr>
          </a:p>
          <a:p>
            <a:pPr fontAlgn="auto">
              <a:lnSpc>
                <a:spcPct val="100000"/>
              </a:lnSpc>
              <a:buNone/>
            </a:pPr>
            <a:r>
              <a:rPr lang="zh-CN" altLang="en-US" sz="1800" dirty="0">
                <a:latin typeface="宋体" panose="02010600030101010101" pitchFamily="2" charset="-122"/>
              </a:rPr>
              <a:t>给出</a:t>
            </a:r>
            <a:r>
              <a:rPr lang="en-US" altLang="zh-CN" sz="1800" dirty="0">
                <a:latin typeface="宋体" panose="02010600030101010101" pitchFamily="2" charset="-122"/>
              </a:rPr>
              <a:t>FIFO</a:t>
            </a:r>
            <a:r>
              <a:rPr lang="zh-CN" altLang="en-US" sz="1800" dirty="0">
                <a:latin typeface="宋体" panose="02010600030101010101" pitchFamily="2" charset="-122"/>
              </a:rPr>
              <a:t>、</a:t>
            </a:r>
            <a:r>
              <a:rPr lang="en-US" altLang="zh-CN" sz="1800" dirty="0">
                <a:latin typeface="宋体" panose="02010600030101010101" pitchFamily="2" charset="-122"/>
              </a:rPr>
              <a:t>LRU</a:t>
            </a:r>
            <a:r>
              <a:rPr lang="zh-CN" altLang="en-US" sz="1800" dirty="0">
                <a:latin typeface="宋体" panose="02010600030101010101" pitchFamily="2" charset="-122"/>
              </a:rPr>
              <a:t>和</a:t>
            </a:r>
            <a:r>
              <a:rPr lang="en-US" altLang="zh-CN" sz="1800" dirty="0">
                <a:latin typeface="宋体" panose="02010600030101010101" pitchFamily="2" charset="-122"/>
              </a:rPr>
              <a:t>OPT</a:t>
            </a:r>
            <a:r>
              <a:rPr lang="zh-CN" altLang="en-US" sz="1800" dirty="0">
                <a:latin typeface="宋体" panose="02010600030101010101" pitchFamily="2" charset="-122"/>
              </a:rPr>
              <a:t>三种页面替换算法对这</a:t>
            </a:r>
            <a:r>
              <a:rPr lang="en-US" altLang="zh-CN" sz="1800" dirty="0">
                <a:latin typeface="宋体" panose="02010600030101010101" pitchFamily="2" charset="-122"/>
              </a:rPr>
              <a:t>3</a:t>
            </a:r>
            <a:r>
              <a:rPr lang="zh-CN" altLang="en-US" sz="1800" dirty="0">
                <a:latin typeface="宋体" panose="02010600030101010101" pitchFamily="2" charset="-122"/>
              </a:rPr>
              <a:t>页主存的使用情况，</a:t>
            </a:r>
            <a:r>
              <a:rPr lang="en-US" altLang="zh-CN" sz="1800" dirty="0">
                <a:latin typeface="宋体" panose="02010600030101010101" pitchFamily="2" charset="-122"/>
              </a:rPr>
              <a:t>  </a:t>
            </a:r>
            <a:r>
              <a:rPr lang="zh-CN" altLang="en-US" sz="1800" dirty="0">
                <a:latin typeface="宋体" panose="02010600030101010101" pitchFamily="2" charset="-122"/>
              </a:rPr>
              <a:t>包括调入、替换、命中、</a:t>
            </a:r>
            <a:r>
              <a:rPr lang="zh-CN" altLang="en-US" sz="1800" dirty="0">
                <a:solidFill>
                  <a:srgbClr val="FF0000"/>
                </a:solidFill>
                <a:latin typeface="宋体" panose="02010600030101010101" pitchFamily="2" charset="-122"/>
              </a:rPr>
              <a:t>缺页</a:t>
            </a:r>
            <a:r>
              <a:rPr lang="zh-CN" altLang="en-US" sz="1800" dirty="0">
                <a:latin typeface="宋体" panose="02010600030101010101" pitchFamily="2" charset="-122"/>
              </a:rPr>
              <a:t>。</a:t>
            </a:r>
            <a:r>
              <a:rPr lang="zh-CN" altLang="en-US" sz="2100" dirty="0"/>
              <a:t> </a:t>
            </a:r>
            <a:endParaRPr lang="zh-CN" altLang="en-US" sz="2100"/>
          </a:p>
        </p:txBody>
      </p:sp>
    </p:spTree>
  </p:cSld>
  <p:clrMapOvr>
    <a:masterClrMapping/>
  </p:clrMapOvr>
  <p:transition spd="slow">
    <p:pull dir="ru"/>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矩形 82945"/>
          <p:cNvSpPr/>
          <p:nvPr/>
        </p:nvSpPr>
        <p:spPr>
          <a:xfrm>
            <a:off x="1143000" y="-1541859"/>
            <a:ext cx="6858000" cy="507831"/>
          </a:xfrm>
          <a:prstGeom prst="rect">
            <a:avLst/>
          </a:prstGeom>
          <a:noFill/>
          <a:ln w="9525">
            <a:noFill/>
          </a:ln>
        </p:spPr>
        <p:txBody>
          <a:bodyPr anchor="t" anchorCtr="0">
            <a:spAutoFit/>
          </a:bodyPr>
          <a:lstStyle/>
          <a:p>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eaLnBrk="0" hangingPunct="0"/>
            <a:endParaRPr lang="en-US" altLang="zh-CN" dirty="0">
              <a:latin typeface="Times New Roman" panose="02020603050405020304" pitchFamily="18" charset="0"/>
            </a:endParaRPr>
          </a:p>
        </p:txBody>
      </p:sp>
      <p:grpSp>
        <p:nvGrpSpPr>
          <p:cNvPr id="62466" name="组合 82946"/>
          <p:cNvGrpSpPr/>
          <p:nvPr/>
        </p:nvGrpSpPr>
        <p:grpSpPr>
          <a:xfrm>
            <a:off x="1143000" y="1464946"/>
            <a:ext cx="6858000" cy="4275296"/>
            <a:chOff x="-3" y="400"/>
            <a:chExt cx="4109" cy="5993"/>
          </a:xfrm>
        </p:grpSpPr>
        <p:grpSp>
          <p:nvGrpSpPr>
            <p:cNvPr id="62467" name="组合 82947"/>
            <p:cNvGrpSpPr/>
            <p:nvPr/>
          </p:nvGrpSpPr>
          <p:grpSpPr>
            <a:xfrm>
              <a:off x="0" y="403"/>
              <a:ext cx="4103" cy="5987"/>
              <a:chOff x="0" y="403"/>
              <a:chExt cx="4103" cy="5987"/>
            </a:xfrm>
          </p:grpSpPr>
          <p:grpSp>
            <p:nvGrpSpPr>
              <p:cNvPr id="62468" name="组合 82948"/>
              <p:cNvGrpSpPr/>
              <p:nvPr/>
            </p:nvGrpSpPr>
            <p:grpSpPr>
              <a:xfrm>
                <a:off x="0" y="403"/>
                <a:ext cx="816" cy="403"/>
                <a:chOff x="0" y="403"/>
                <a:chExt cx="816" cy="403"/>
              </a:xfrm>
            </p:grpSpPr>
            <p:sp>
              <p:nvSpPr>
                <p:cNvPr id="62469" name="矩形 82949"/>
                <p:cNvSpPr/>
                <p:nvPr/>
              </p:nvSpPr>
              <p:spPr>
                <a:xfrm>
                  <a:off x="0" y="403"/>
                  <a:ext cx="816" cy="403"/>
                </a:xfrm>
                <a:prstGeom prst="rect">
                  <a:avLst/>
                </a:prstGeom>
                <a:noFill/>
                <a:ln w="9525">
                  <a:noFill/>
                </a:ln>
              </p:spPr>
              <p:txBody>
                <a:bodyPr anchor="t" anchorCtr="0"/>
                <a:lstStyle/>
                <a:p>
                  <a:pPr algn="ctr"/>
                  <a:r>
                    <a:rPr lang="zh-CN" altLang="en-US" sz="900" dirty="0">
                      <a:latin typeface="Times New Roman" panose="02020603050405020304" pitchFamily="18" charset="0"/>
                    </a:rPr>
                    <a:t>时间</a:t>
                  </a:r>
                  <a:r>
                    <a:rPr lang="en-US" altLang="zh-CN" sz="900">
                      <a:latin typeface="Times New Roman" panose="02020603050405020304" pitchFamily="18" charset="0"/>
                    </a:rPr>
                    <a:t>t</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470" name="矩形 82950"/>
                <p:cNvSpPr/>
                <p:nvPr/>
              </p:nvSpPr>
              <p:spPr>
                <a:xfrm>
                  <a:off x="0" y="403"/>
                  <a:ext cx="816"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71" name="组合 82951"/>
              <p:cNvGrpSpPr/>
              <p:nvPr/>
            </p:nvGrpSpPr>
            <p:grpSpPr>
              <a:xfrm>
                <a:off x="816" y="403"/>
                <a:ext cx="274" cy="403"/>
                <a:chOff x="816" y="403"/>
                <a:chExt cx="274" cy="403"/>
              </a:xfrm>
            </p:grpSpPr>
            <p:sp>
              <p:nvSpPr>
                <p:cNvPr id="62472" name="矩形 82952"/>
                <p:cNvSpPr/>
                <p:nvPr/>
              </p:nvSpPr>
              <p:spPr>
                <a:xfrm>
                  <a:off x="816"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73" name="矩形 82953"/>
                <p:cNvSpPr/>
                <p:nvPr/>
              </p:nvSpPr>
              <p:spPr>
                <a:xfrm>
                  <a:off x="816"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74" name="组合 82954"/>
              <p:cNvGrpSpPr/>
              <p:nvPr/>
            </p:nvGrpSpPr>
            <p:grpSpPr>
              <a:xfrm>
                <a:off x="1090" y="403"/>
                <a:ext cx="274" cy="403"/>
                <a:chOff x="1090" y="403"/>
                <a:chExt cx="274" cy="403"/>
              </a:xfrm>
            </p:grpSpPr>
            <p:sp>
              <p:nvSpPr>
                <p:cNvPr id="62475" name="矩形 82955"/>
                <p:cNvSpPr/>
                <p:nvPr/>
              </p:nvSpPr>
              <p:spPr>
                <a:xfrm>
                  <a:off x="1090"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76" name="矩形 82956"/>
                <p:cNvSpPr/>
                <p:nvPr/>
              </p:nvSpPr>
              <p:spPr>
                <a:xfrm>
                  <a:off x="1090"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77" name="组合 82957"/>
              <p:cNvGrpSpPr/>
              <p:nvPr/>
            </p:nvGrpSpPr>
            <p:grpSpPr>
              <a:xfrm>
                <a:off x="1364" y="403"/>
                <a:ext cx="274" cy="403"/>
                <a:chOff x="1364" y="403"/>
                <a:chExt cx="274" cy="403"/>
              </a:xfrm>
            </p:grpSpPr>
            <p:sp>
              <p:nvSpPr>
                <p:cNvPr id="62478" name="矩形 82958"/>
                <p:cNvSpPr/>
                <p:nvPr/>
              </p:nvSpPr>
              <p:spPr>
                <a:xfrm>
                  <a:off x="1364"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79" name="矩形 82959"/>
                <p:cNvSpPr/>
                <p:nvPr/>
              </p:nvSpPr>
              <p:spPr>
                <a:xfrm>
                  <a:off x="1364"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80" name="组合 82960"/>
              <p:cNvGrpSpPr/>
              <p:nvPr/>
            </p:nvGrpSpPr>
            <p:grpSpPr>
              <a:xfrm>
                <a:off x="1638" y="403"/>
                <a:ext cx="274" cy="403"/>
                <a:chOff x="1638" y="403"/>
                <a:chExt cx="274" cy="403"/>
              </a:xfrm>
            </p:grpSpPr>
            <p:sp>
              <p:nvSpPr>
                <p:cNvPr id="62481" name="矩形 82961"/>
                <p:cNvSpPr/>
                <p:nvPr/>
              </p:nvSpPr>
              <p:spPr>
                <a:xfrm>
                  <a:off x="1638"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82" name="矩形 82962"/>
                <p:cNvSpPr/>
                <p:nvPr/>
              </p:nvSpPr>
              <p:spPr>
                <a:xfrm>
                  <a:off x="1638"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83" name="组合 82963"/>
              <p:cNvGrpSpPr/>
              <p:nvPr/>
            </p:nvGrpSpPr>
            <p:grpSpPr>
              <a:xfrm>
                <a:off x="1912" y="403"/>
                <a:ext cx="274" cy="403"/>
                <a:chOff x="1912" y="403"/>
                <a:chExt cx="274" cy="403"/>
              </a:xfrm>
            </p:grpSpPr>
            <p:sp>
              <p:nvSpPr>
                <p:cNvPr id="62484" name="矩形 82964"/>
                <p:cNvSpPr/>
                <p:nvPr/>
              </p:nvSpPr>
              <p:spPr>
                <a:xfrm>
                  <a:off x="1912"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85" name="矩形 82965"/>
                <p:cNvSpPr/>
                <p:nvPr/>
              </p:nvSpPr>
              <p:spPr>
                <a:xfrm>
                  <a:off x="1912"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86" name="组合 82966"/>
              <p:cNvGrpSpPr/>
              <p:nvPr/>
            </p:nvGrpSpPr>
            <p:grpSpPr>
              <a:xfrm>
                <a:off x="2186" y="403"/>
                <a:ext cx="274" cy="403"/>
                <a:chOff x="2186" y="403"/>
                <a:chExt cx="274" cy="403"/>
              </a:xfrm>
            </p:grpSpPr>
            <p:sp>
              <p:nvSpPr>
                <p:cNvPr id="62487" name="矩形 82967"/>
                <p:cNvSpPr/>
                <p:nvPr/>
              </p:nvSpPr>
              <p:spPr>
                <a:xfrm>
                  <a:off x="2186"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6</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88" name="矩形 82968"/>
                <p:cNvSpPr/>
                <p:nvPr/>
              </p:nvSpPr>
              <p:spPr>
                <a:xfrm>
                  <a:off x="2186"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89" name="组合 82969"/>
              <p:cNvGrpSpPr/>
              <p:nvPr/>
            </p:nvGrpSpPr>
            <p:grpSpPr>
              <a:xfrm>
                <a:off x="2460" y="403"/>
                <a:ext cx="274" cy="403"/>
                <a:chOff x="2460" y="403"/>
                <a:chExt cx="274" cy="403"/>
              </a:xfrm>
            </p:grpSpPr>
            <p:sp>
              <p:nvSpPr>
                <p:cNvPr id="62490" name="矩形 82970"/>
                <p:cNvSpPr/>
                <p:nvPr/>
              </p:nvSpPr>
              <p:spPr>
                <a:xfrm>
                  <a:off x="2460"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7</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91" name="矩形 82971"/>
                <p:cNvSpPr/>
                <p:nvPr/>
              </p:nvSpPr>
              <p:spPr>
                <a:xfrm>
                  <a:off x="2460"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92" name="组合 82972"/>
              <p:cNvGrpSpPr/>
              <p:nvPr/>
            </p:nvGrpSpPr>
            <p:grpSpPr>
              <a:xfrm>
                <a:off x="2734" y="403"/>
                <a:ext cx="274" cy="403"/>
                <a:chOff x="2734" y="403"/>
                <a:chExt cx="274" cy="403"/>
              </a:xfrm>
            </p:grpSpPr>
            <p:sp>
              <p:nvSpPr>
                <p:cNvPr id="62493" name="矩形 82973"/>
                <p:cNvSpPr/>
                <p:nvPr/>
              </p:nvSpPr>
              <p:spPr>
                <a:xfrm>
                  <a:off x="2734"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8</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94" name="矩形 82974"/>
                <p:cNvSpPr/>
                <p:nvPr/>
              </p:nvSpPr>
              <p:spPr>
                <a:xfrm>
                  <a:off x="2734"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95" name="组合 82975"/>
              <p:cNvGrpSpPr/>
              <p:nvPr/>
            </p:nvGrpSpPr>
            <p:grpSpPr>
              <a:xfrm>
                <a:off x="3008" y="403"/>
                <a:ext cx="274" cy="403"/>
                <a:chOff x="3008" y="403"/>
                <a:chExt cx="274" cy="403"/>
              </a:xfrm>
            </p:grpSpPr>
            <p:sp>
              <p:nvSpPr>
                <p:cNvPr id="62496" name="矩形 82976"/>
                <p:cNvSpPr/>
                <p:nvPr/>
              </p:nvSpPr>
              <p:spPr>
                <a:xfrm>
                  <a:off x="3008"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9</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497" name="矩形 82977"/>
                <p:cNvSpPr/>
                <p:nvPr/>
              </p:nvSpPr>
              <p:spPr>
                <a:xfrm>
                  <a:off x="3008"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498" name="组合 82978"/>
              <p:cNvGrpSpPr/>
              <p:nvPr/>
            </p:nvGrpSpPr>
            <p:grpSpPr>
              <a:xfrm>
                <a:off x="3282" y="403"/>
                <a:ext cx="274" cy="403"/>
                <a:chOff x="3282" y="403"/>
                <a:chExt cx="274" cy="403"/>
              </a:xfrm>
            </p:grpSpPr>
            <p:sp>
              <p:nvSpPr>
                <p:cNvPr id="62499" name="矩形 82979"/>
                <p:cNvSpPr/>
                <p:nvPr/>
              </p:nvSpPr>
              <p:spPr>
                <a:xfrm>
                  <a:off x="3282" y="40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10</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00" name="矩形 82980"/>
                <p:cNvSpPr/>
                <p:nvPr/>
              </p:nvSpPr>
              <p:spPr>
                <a:xfrm>
                  <a:off x="3282" y="40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01" name="组合 82981"/>
              <p:cNvGrpSpPr/>
              <p:nvPr/>
            </p:nvGrpSpPr>
            <p:grpSpPr>
              <a:xfrm>
                <a:off x="3556" y="403"/>
                <a:ext cx="547" cy="403"/>
                <a:chOff x="3556" y="403"/>
                <a:chExt cx="547" cy="403"/>
              </a:xfrm>
            </p:grpSpPr>
            <p:sp>
              <p:nvSpPr>
                <p:cNvPr id="62502" name="矩形 82982"/>
                <p:cNvSpPr/>
                <p:nvPr/>
              </p:nvSpPr>
              <p:spPr>
                <a:xfrm>
                  <a:off x="3556" y="403"/>
                  <a:ext cx="547" cy="403"/>
                </a:xfrm>
                <a:prstGeom prst="rect">
                  <a:avLst/>
                </a:prstGeom>
                <a:noFill/>
                <a:ln w="9525">
                  <a:noFill/>
                </a:ln>
              </p:spPr>
              <p:txBody>
                <a:bodyPr anchor="t" anchorCtr="0"/>
                <a:lstStyle/>
                <a:p>
                  <a:pPr algn="ctr"/>
                  <a:r>
                    <a:rPr lang="zh-CN" altLang="en-US" sz="900" dirty="0">
                      <a:latin typeface="Times New Roman" panose="02020603050405020304" pitchFamily="18" charset="0"/>
                    </a:rPr>
                    <a:t>实际</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503" name="矩形 82983"/>
                <p:cNvSpPr/>
                <p:nvPr/>
              </p:nvSpPr>
              <p:spPr>
                <a:xfrm>
                  <a:off x="3556" y="403"/>
                  <a:ext cx="547"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04" name="组合 82984"/>
              <p:cNvGrpSpPr/>
              <p:nvPr/>
            </p:nvGrpSpPr>
            <p:grpSpPr>
              <a:xfrm>
                <a:off x="0" y="806"/>
                <a:ext cx="816" cy="403"/>
                <a:chOff x="0" y="806"/>
                <a:chExt cx="816" cy="403"/>
              </a:xfrm>
            </p:grpSpPr>
            <p:sp>
              <p:nvSpPr>
                <p:cNvPr id="62505" name="矩形 82985"/>
                <p:cNvSpPr/>
                <p:nvPr/>
              </p:nvSpPr>
              <p:spPr>
                <a:xfrm>
                  <a:off x="0" y="806"/>
                  <a:ext cx="816" cy="403"/>
                </a:xfrm>
                <a:prstGeom prst="rect">
                  <a:avLst/>
                </a:prstGeom>
                <a:noFill/>
                <a:ln w="9525">
                  <a:noFill/>
                </a:ln>
              </p:spPr>
              <p:txBody>
                <a:bodyPr anchor="t" anchorCtr="0"/>
                <a:lstStyle/>
                <a:p>
                  <a:pPr algn="ctr"/>
                  <a:r>
                    <a:rPr lang="zh-CN" altLang="en-US" sz="900" dirty="0">
                      <a:latin typeface="Times New Roman" panose="02020603050405020304" pitchFamily="18" charset="0"/>
                    </a:rPr>
                    <a:t>页地址流</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506" name="矩形 82986"/>
                <p:cNvSpPr/>
                <p:nvPr/>
              </p:nvSpPr>
              <p:spPr>
                <a:xfrm>
                  <a:off x="0" y="806"/>
                  <a:ext cx="816"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07" name="组合 82987"/>
              <p:cNvGrpSpPr/>
              <p:nvPr/>
            </p:nvGrpSpPr>
            <p:grpSpPr>
              <a:xfrm>
                <a:off x="816" y="806"/>
                <a:ext cx="274" cy="403"/>
                <a:chOff x="816" y="806"/>
                <a:chExt cx="274" cy="403"/>
              </a:xfrm>
            </p:grpSpPr>
            <p:sp>
              <p:nvSpPr>
                <p:cNvPr id="62508" name="矩形 82988"/>
                <p:cNvSpPr/>
                <p:nvPr/>
              </p:nvSpPr>
              <p:spPr>
                <a:xfrm>
                  <a:off x="816"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P1</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09" name="矩形 82989"/>
                <p:cNvSpPr/>
                <p:nvPr/>
              </p:nvSpPr>
              <p:spPr>
                <a:xfrm>
                  <a:off x="816"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10" name="组合 82990"/>
              <p:cNvGrpSpPr/>
              <p:nvPr/>
            </p:nvGrpSpPr>
            <p:grpSpPr>
              <a:xfrm>
                <a:off x="1090" y="806"/>
                <a:ext cx="274" cy="403"/>
                <a:chOff x="1090" y="806"/>
                <a:chExt cx="274" cy="403"/>
              </a:xfrm>
            </p:grpSpPr>
            <p:sp>
              <p:nvSpPr>
                <p:cNvPr id="62511" name="矩形 82991"/>
                <p:cNvSpPr/>
                <p:nvPr/>
              </p:nvSpPr>
              <p:spPr>
                <a:xfrm>
                  <a:off x="1090"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P2</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12" name="矩形 82992"/>
                <p:cNvSpPr/>
                <p:nvPr/>
              </p:nvSpPr>
              <p:spPr>
                <a:xfrm>
                  <a:off x="1090"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13" name="组合 82993"/>
              <p:cNvGrpSpPr/>
              <p:nvPr/>
            </p:nvGrpSpPr>
            <p:grpSpPr>
              <a:xfrm>
                <a:off x="1364" y="806"/>
                <a:ext cx="274" cy="403"/>
                <a:chOff x="1364" y="806"/>
                <a:chExt cx="274" cy="403"/>
              </a:xfrm>
            </p:grpSpPr>
            <p:sp>
              <p:nvSpPr>
                <p:cNvPr id="62514" name="矩形 82994"/>
                <p:cNvSpPr/>
                <p:nvPr/>
              </p:nvSpPr>
              <p:spPr>
                <a:xfrm>
                  <a:off x="1364"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P1</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15" name="矩形 82995"/>
                <p:cNvSpPr/>
                <p:nvPr/>
              </p:nvSpPr>
              <p:spPr>
                <a:xfrm>
                  <a:off x="1364"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16" name="组合 82996"/>
              <p:cNvGrpSpPr/>
              <p:nvPr/>
            </p:nvGrpSpPr>
            <p:grpSpPr>
              <a:xfrm>
                <a:off x="1638" y="806"/>
                <a:ext cx="274" cy="403"/>
                <a:chOff x="1638" y="806"/>
                <a:chExt cx="274" cy="403"/>
              </a:xfrm>
            </p:grpSpPr>
            <p:sp>
              <p:nvSpPr>
                <p:cNvPr id="62517" name="矩形 82997"/>
                <p:cNvSpPr/>
                <p:nvPr/>
              </p:nvSpPr>
              <p:spPr>
                <a:xfrm>
                  <a:off x="1638"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P5</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18" name="矩形 82998"/>
                <p:cNvSpPr/>
                <p:nvPr/>
              </p:nvSpPr>
              <p:spPr>
                <a:xfrm>
                  <a:off x="1638"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19" name="组合 82999"/>
              <p:cNvGrpSpPr/>
              <p:nvPr/>
            </p:nvGrpSpPr>
            <p:grpSpPr>
              <a:xfrm>
                <a:off x="1912" y="806"/>
                <a:ext cx="274" cy="403"/>
                <a:chOff x="1912" y="806"/>
                <a:chExt cx="274" cy="403"/>
              </a:xfrm>
            </p:grpSpPr>
            <p:sp>
              <p:nvSpPr>
                <p:cNvPr id="62520" name="矩形 83000"/>
                <p:cNvSpPr/>
                <p:nvPr/>
              </p:nvSpPr>
              <p:spPr>
                <a:xfrm>
                  <a:off x="1912"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P4</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21" name="矩形 83001"/>
                <p:cNvSpPr/>
                <p:nvPr/>
              </p:nvSpPr>
              <p:spPr>
                <a:xfrm>
                  <a:off x="1912"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22" name="组合 83002"/>
              <p:cNvGrpSpPr/>
              <p:nvPr/>
            </p:nvGrpSpPr>
            <p:grpSpPr>
              <a:xfrm>
                <a:off x="2186" y="806"/>
                <a:ext cx="274" cy="403"/>
                <a:chOff x="2186" y="806"/>
                <a:chExt cx="274" cy="403"/>
              </a:xfrm>
            </p:grpSpPr>
            <p:sp>
              <p:nvSpPr>
                <p:cNvPr id="62523" name="矩形 83003"/>
                <p:cNvSpPr/>
                <p:nvPr/>
              </p:nvSpPr>
              <p:spPr>
                <a:xfrm>
                  <a:off x="2186"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P1</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24" name="矩形 83004"/>
                <p:cNvSpPr/>
                <p:nvPr/>
              </p:nvSpPr>
              <p:spPr>
                <a:xfrm>
                  <a:off x="2186"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25" name="组合 83005"/>
              <p:cNvGrpSpPr/>
              <p:nvPr/>
            </p:nvGrpSpPr>
            <p:grpSpPr>
              <a:xfrm>
                <a:off x="2460" y="806"/>
                <a:ext cx="274" cy="403"/>
                <a:chOff x="2460" y="806"/>
                <a:chExt cx="274" cy="403"/>
              </a:xfrm>
            </p:grpSpPr>
            <p:sp>
              <p:nvSpPr>
                <p:cNvPr id="62526" name="矩形 83006"/>
                <p:cNvSpPr/>
                <p:nvPr/>
              </p:nvSpPr>
              <p:spPr>
                <a:xfrm>
                  <a:off x="2460"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P3</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27" name="矩形 83007"/>
                <p:cNvSpPr/>
                <p:nvPr/>
              </p:nvSpPr>
              <p:spPr>
                <a:xfrm>
                  <a:off x="2460"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28" name="组合 83008"/>
              <p:cNvGrpSpPr/>
              <p:nvPr/>
            </p:nvGrpSpPr>
            <p:grpSpPr>
              <a:xfrm>
                <a:off x="2734" y="806"/>
                <a:ext cx="274" cy="403"/>
                <a:chOff x="2734" y="806"/>
                <a:chExt cx="274" cy="403"/>
              </a:xfrm>
            </p:grpSpPr>
            <p:sp>
              <p:nvSpPr>
                <p:cNvPr id="62529" name="矩形 83009"/>
                <p:cNvSpPr/>
                <p:nvPr/>
              </p:nvSpPr>
              <p:spPr>
                <a:xfrm>
                  <a:off x="2734"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P4</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30" name="矩形 83010"/>
                <p:cNvSpPr/>
                <p:nvPr/>
              </p:nvSpPr>
              <p:spPr>
                <a:xfrm>
                  <a:off x="2734"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31" name="组合 83011"/>
              <p:cNvGrpSpPr/>
              <p:nvPr/>
            </p:nvGrpSpPr>
            <p:grpSpPr>
              <a:xfrm>
                <a:off x="3008" y="806"/>
                <a:ext cx="274" cy="403"/>
                <a:chOff x="3008" y="806"/>
                <a:chExt cx="274" cy="403"/>
              </a:xfrm>
            </p:grpSpPr>
            <p:sp>
              <p:nvSpPr>
                <p:cNvPr id="62532" name="矩形 83012"/>
                <p:cNvSpPr/>
                <p:nvPr/>
              </p:nvSpPr>
              <p:spPr>
                <a:xfrm>
                  <a:off x="3008"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P2</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33" name="矩形 83013"/>
                <p:cNvSpPr/>
                <p:nvPr/>
              </p:nvSpPr>
              <p:spPr>
                <a:xfrm>
                  <a:off x="3008"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34" name="组合 83014"/>
              <p:cNvGrpSpPr/>
              <p:nvPr/>
            </p:nvGrpSpPr>
            <p:grpSpPr>
              <a:xfrm>
                <a:off x="3282" y="806"/>
                <a:ext cx="274" cy="403"/>
                <a:chOff x="3282" y="806"/>
                <a:chExt cx="274" cy="403"/>
              </a:xfrm>
            </p:grpSpPr>
            <p:sp>
              <p:nvSpPr>
                <p:cNvPr id="62535" name="矩形 83015"/>
                <p:cNvSpPr/>
                <p:nvPr/>
              </p:nvSpPr>
              <p:spPr>
                <a:xfrm>
                  <a:off x="3282" y="80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P4</a:t>
                  </a:r>
                  <a:endParaRPr lang="en-US" altLang="zh-CN" sz="900">
                    <a:latin typeface="Times New Roman" panose="02020603050405020304" pitchFamily="18" charset="0"/>
                  </a:endParaRPr>
                </a:p>
                <a:p>
                  <a:pPr algn="ctr" eaLnBrk="0" hangingPunct="0"/>
                  <a:endParaRPr lang="en-US" altLang="zh-CN">
                    <a:latin typeface="Times New Roman" panose="02020603050405020304" pitchFamily="18" charset="0"/>
                  </a:endParaRPr>
                </a:p>
              </p:txBody>
            </p:sp>
            <p:sp>
              <p:nvSpPr>
                <p:cNvPr id="62536" name="矩形 83016"/>
                <p:cNvSpPr/>
                <p:nvPr/>
              </p:nvSpPr>
              <p:spPr>
                <a:xfrm>
                  <a:off x="3282" y="80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37" name="组合 83017"/>
              <p:cNvGrpSpPr/>
              <p:nvPr/>
            </p:nvGrpSpPr>
            <p:grpSpPr>
              <a:xfrm>
                <a:off x="3556" y="806"/>
                <a:ext cx="547" cy="403"/>
                <a:chOff x="3556" y="806"/>
                <a:chExt cx="547" cy="403"/>
              </a:xfrm>
            </p:grpSpPr>
            <p:sp>
              <p:nvSpPr>
                <p:cNvPr id="62538" name="矩形 83018"/>
                <p:cNvSpPr/>
                <p:nvPr/>
              </p:nvSpPr>
              <p:spPr>
                <a:xfrm>
                  <a:off x="3556" y="806"/>
                  <a:ext cx="547" cy="403"/>
                </a:xfrm>
                <a:prstGeom prst="rect">
                  <a:avLst/>
                </a:prstGeom>
                <a:noFill/>
                <a:ln w="9525">
                  <a:noFill/>
                </a:ln>
              </p:spPr>
              <p:txBody>
                <a:bodyPr anchor="t" anchorCtr="0"/>
                <a:lstStyle/>
                <a:p>
                  <a:pPr algn="ctr"/>
                  <a:r>
                    <a:rPr lang="zh-CN" altLang="en-US" sz="900" dirty="0">
                      <a:latin typeface="Times New Roman" panose="02020603050405020304" pitchFamily="18" charset="0"/>
                    </a:rPr>
                    <a:t>命中次数</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539" name="矩形 83019"/>
                <p:cNvSpPr/>
                <p:nvPr/>
              </p:nvSpPr>
              <p:spPr>
                <a:xfrm>
                  <a:off x="3556" y="806"/>
                  <a:ext cx="547"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40" name="组合 83020"/>
              <p:cNvGrpSpPr/>
              <p:nvPr/>
            </p:nvGrpSpPr>
            <p:grpSpPr>
              <a:xfrm>
                <a:off x="0" y="1209"/>
                <a:ext cx="816" cy="1727"/>
                <a:chOff x="0" y="1209"/>
                <a:chExt cx="816" cy="1727"/>
              </a:xfrm>
            </p:grpSpPr>
            <p:sp>
              <p:nvSpPr>
                <p:cNvPr id="62541" name="矩形 83021"/>
                <p:cNvSpPr/>
                <p:nvPr/>
              </p:nvSpPr>
              <p:spPr>
                <a:xfrm>
                  <a:off x="0" y="1209"/>
                  <a:ext cx="816" cy="1727"/>
                </a:xfrm>
                <a:prstGeom prst="rect">
                  <a:avLst/>
                </a:prstGeom>
                <a:noFill/>
                <a:ln w="9525">
                  <a:noFill/>
                </a:ln>
              </p:spPr>
              <p:txBody>
                <a:bodyPr anchor="t" anchorCtr="0"/>
                <a:lstStyle/>
                <a:p>
                  <a:pPr algn="ctr"/>
                  <a:r>
                    <a:rPr lang="zh-CN" altLang="en-US" sz="900" dirty="0">
                      <a:latin typeface="Times New Roman" panose="02020603050405020304" pitchFamily="18" charset="0"/>
                    </a:rPr>
                    <a:t>先进先出算法</a:t>
                  </a:r>
                  <a:endParaRPr lang="zh-CN" altLang="en-US" sz="900" dirty="0">
                    <a:latin typeface="Times New Roman" panose="02020603050405020304" pitchFamily="18" charset="0"/>
                  </a:endParaRPr>
                </a:p>
                <a:p>
                  <a:pPr algn="ctr" eaLnBrk="0" hangingPunct="0"/>
                  <a:r>
                    <a:rPr lang="zh-CN" altLang="en-US" sz="900" dirty="0">
                      <a:latin typeface="Times New Roman" panose="02020603050405020304" pitchFamily="18" charset="0"/>
                    </a:rPr>
                    <a:t>（</a:t>
                  </a:r>
                  <a:r>
                    <a:rPr lang="en-US" altLang="zh-CN" sz="900" dirty="0">
                      <a:latin typeface="Times New Roman" panose="02020603050405020304" pitchFamily="18" charset="0"/>
                    </a:rPr>
                    <a:t>FIFO</a:t>
                  </a:r>
                  <a:r>
                    <a:rPr lang="zh-CN" altLang="en-US" sz="900" dirty="0">
                      <a:latin typeface="Times New Roman" panose="02020603050405020304" pitchFamily="18" charset="0"/>
                    </a:rPr>
                    <a:t>算法）</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542" name="矩形 83022"/>
                <p:cNvSpPr/>
                <p:nvPr/>
              </p:nvSpPr>
              <p:spPr>
                <a:xfrm>
                  <a:off x="0" y="1209"/>
                  <a:ext cx="816" cy="1727"/>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43" name="组合 83023"/>
              <p:cNvGrpSpPr/>
              <p:nvPr/>
            </p:nvGrpSpPr>
            <p:grpSpPr>
              <a:xfrm>
                <a:off x="816" y="1209"/>
                <a:ext cx="274" cy="403"/>
                <a:chOff x="816" y="1209"/>
                <a:chExt cx="274" cy="403"/>
              </a:xfrm>
            </p:grpSpPr>
            <p:sp>
              <p:nvSpPr>
                <p:cNvPr id="62544" name="矩形 83024"/>
                <p:cNvSpPr/>
                <p:nvPr/>
              </p:nvSpPr>
              <p:spPr>
                <a:xfrm>
                  <a:off x="816"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45" name="矩形 83025"/>
                <p:cNvSpPr/>
                <p:nvPr/>
              </p:nvSpPr>
              <p:spPr>
                <a:xfrm>
                  <a:off x="816"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46" name="组合 83026"/>
              <p:cNvGrpSpPr/>
              <p:nvPr/>
            </p:nvGrpSpPr>
            <p:grpSpPr>
              <a:xfrm>
                <a:off x="1090" y="1209"/>
                <a:ext cx="274" cy="403"/>
                <a:chOff x="1090" y="1209"/>
                <a:chExt cx="274" cy="403"/>
              </a:xfrm>
            </p:grpSpPr>
            <p:sp>
              <p:nvSpPr>
                <p:cNvPr id="62547" name="矩形 83027"/>
                <p:cNvSpPr/>
                <p:nvPr/>
              </p:nvSpPr>
              <p:spPr>
                <a:xfrm>
                  <a:off x="1090"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48" name="矩形 83028"/>
                <p:cNvSpPr/>
                <p:nvPr/>
              </p:nvSpPr>
              <p:spPr>
                <a:xfrm>
                  <a:off x="1090"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49" name="组合 83029"/>
              <p:cNvGrpSpPr/>
              <p:nvPr/>
            </p:nvGrpSpPr>
            <p:grpSpPr>
              <a:xfrm>
                <a:off x="1364" y="1209"/>
                <a:ext cx="274" cy="403"/>
                <a:chOff x="1364" y="1209"/>
                <a:chExt cx="274" cy="403"/>
              </a:xfrm>
            </p:grpSpPr>
            <p:sp>
              <p:nvSpPr>
                <p:cNvPr id="62550" name="矩形 83030"/>
                <p:cNvSpPr/>
                <p:nvPr/>
              </p:nvSpPr>
              <p:spPr>
                <a:xfrm>
                  <a:off x="1364"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51" name="矩形 83031"/>
                <p:cNvSpPr/>
                <p:nvPr/>
              </p:nvSpPr>
              <p:spPr>
                <a:xfrm>
                  <a:off x="1364"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52" name="组合 83032"/>
              <p:cNvGrpSpPr/>
              <p:nvPr/>
            </p:nvGrpSpPr>
            <p:grpSpPr>
              <a:xfrm>
                <a:off x="1638" y="1209"/>
                <a:ext cx="274" cy="403"/>
                <a:chOff x="1638" y="1209"/>
                <a:chExt cx="274" cy="403"/>
              </a:xfrm>
            </p:grpSpPr>
            <p:sp>
              <p:nvSpPr>
                <p:cNvPr id="62553" name="矩形 83033"/>
                <p:cNvSpPr/>
                <p:nvPr/>
              </p:nvSpPr>
              <p:spPr>
                <a:xfrm>
                  <a:off x="1638"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54" name="矩形 83034"/>
                <p:cNvSpPr/>
                <p:nvPr/>
              </p:nvSpPr>
              <p:spPr>
                <a:xfrm>
                  <a:off x="1638"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55" name="组合 83035"/>
              <p:cNvGrpSpPr/>
              <p:nvPr/>
            </p:nvGrpSpPr>
            <p:grpSpPr>
              <a:xfrm>
                <a:off x="1912" y="1209"/>
                <a:ext cx="274" cy="403"/>
                <a:chOff x="1912" y="1209"/>
                <a:chExt cx="274" cy="403"/>
              </a:xfrm>
            </p:grpSpPr>
            <p:sp>
              <p:nvSpPr>
                <p:cNvPr id="62556" name="矩形 83036"/>
                <p:cNvSpPr/>
                <p:nvPr/>
              </p:nvSpPr>
              <p:spPr>
                <a:xfrm>
                  <a:off x="1912"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57" name="矩形 83037"/>
                <p:cNvSpPr/>
                <p:nvPr/>
              </p:nvSpPr>
              <p:spPr>
                <a:xfrm>
                  <a:off x="1912"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58" name="组合 83038"/>
              <p:cNvGrpSpPr/>
              <p:nvPr/>
            </p:nvGrpSpPr>
            <p:grpSpPr>
              <a:xfrm>
                <a:off x="2186" y="1209"/>
                <a:ext cx="274" cy="403"/>
                <a:chOff x="2186" y="1209"/>
                <a:chExt cx="274" cy="403"/>
              </a:xfrm>
            </p:grpSpPr>
            <p:sp>
              <p:nvSpPr>
                <p:cNvPr id="62559" name="矩形 83039"/>
                <p:cNvSpPr/>
                <p:nvPr/>
              </p:nvSpPr>
              <p:spPr>
                <a:xfrm>
                  <a:off x="2186"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60" name="矩形 83040"/>
                <p:cNvSpPr/>
                <p:nvPr/>
              </p:nvSpPr>
              <p:spPr>
                <a:xfrm>
                  <a:off x="2186"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61" name="组合 83041"/>
              <p:cNvGrpSpPr/>
              <p:nvPr/>
            </p:nvGrpSpPr>
            <p:grpSpPr>
              <a:xfrm>
                <a:off x="2460" y="1209"/>
                <a:ext cx="274" cy="403"/>
                <a:chOff x="2460" y="1209"/>
                <a:chExt cx="274" cy="403"/>
              </a:xfrm>
            </p:grpSpPr>
            <p:sp>
              <p:nvSpPr>
                <p:cNvPr id="62562" name="矩形 83042"/>
                <p:cNvSpPr/>
                <p:nvPr/>
              </p:nvSpPr>
              <p:spPr>
                <a:xfrm>
                  <a:off x="2460"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63" name="矩形 83043"/>
                <p:cNvSpPr/>
                <p:nvPr/>
              </p:nvSpPr>
              <p:spPr>
                <a:xfrm>
                  <a:off x="2460"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64" name="组合 83044"/>
              <p:cNvGrpSpPr/>
              <p:nvPr/>
            </p:nvGrpSpPr>
            <p:grpSpPr>
              <a:xfrm>
                <a:off x="2734" y="1209"/>
                <a:ext cx="274" cy="403"/>
                <a:chOff x="2734" y="1209"/>
                <a:chExt cx="274" cy="403"/>
              </a:xfrm>
            </p:grpSpPr>
            <p:sp>
              <p:nvSpPr>
                <p:cNvPr id="62565" name="矩形 83045"/>
                <p:cNvSpPr/>
                <p:nvPr/>
              </p:nvSpPr>
              <p:spPr>
                <a:xfrm>
                  <a:off x="2734"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66" name="矩形 83046"/>
                <p:cNvSpPr/>
                <p:nvPr/>
              </p:nvSpPr>
              <p:spPr>
                <a:xfrm>
                  <a:off x="2734"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67" name="组合 83047"/>
              <p:cNvGrpSpPr/>
              <p:nvPr/>
            </p:nvGrpSpPr>
            <p:grpSpPr>
              <a:xfrm>
                <a:off x="3008" y="1209"/>
                <a:ext cx="274" cy="403"/>
                <a:chOff x="3008" y="1209"/>
                <a:chExt cx="274" cy="403"/>
              </a:xfrm>
            </p:grpSpPr>
            <p:sp>
              <p:nvSpPr>
                <p:cNvPr id="62568" name="矩形 83048"/>
                <p:cNvSpPr/>
                <p:nvPr/>
              </p:nvSpPr>
              <p:spPr>
                <a:xfrm>
                  <a:off x="3008"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69" name="矩形 83049"/>
                <p:cNvSpPr/>
                <p:nvPr/>
              </p:nvSpPr>
              <p:spPr>
                <a:xfrm>
                  <a:off x="3008"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70" name="组合 83050"/>
              <p:cNvGrpSpPr/>
              <p:nvPr/>
            </p:nvGrpSpPr>
            <p:grpSpPr>
              <a:xfrm>
                <a:off x="3282" y="1209"/>
                <a:ext cx="274" cy="403"/>
                <a:chOff x="3282" y="1209"/>
                <a:chExt cx="274" cy="403"/>
              </a:xfrm>
            </p:grpSpPr>
            <p:sp>
              <p:nvSpPr>
                <p:cNvPr id="62571" name="矩形 83051"/>
                <p:cNvSpPr/>
                <p:nvPr/>
              </p:nvSpPr>
              <p:spPr>
                <a:xfrm>
                  <a:off x="3282" y="120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72" name="矩形 83052"/>
                <p:cNvSpPr/>
                <p:nvPr/>
              </p:nvSpPr>
              <p:spPr>
                <a:xfrm>
                  <a:off x="3282" y="120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73" name="组合 83053"/>
              <p:cNvGrpSpPr/>
              <p:nvPr/>
            </p:nvGrpSpPr>
            <p:grpSpPr>
              <a:xfrm>
                <a:off x="3556" y="1209"/>
                <a:ext cx="547" cy="1727"/>
                <a:chOff x="3556" y="1209"/>
                <a:chExt cx="547" cy="1727"/>
              </a:xfrm>
            </p:grpSpPr>
            <p:sp>
              <p:nvSpPr>
                <p:cNvPr id="62574" name="矩形 83054"/>
                <p:cNvSpPr/>
                <p:nvPr/>
              </p:nvSpPr>
              <p:spPr>
                <a:xfrm>
                  <a:off x="3556" y="1209"/>
                  <a:ext cx="547" cy="1727"/>
                </a:xfrm>
                <a:prstGeom prst="rect">
                  <a:avLst/>
                </a:prstGeom>
                <a:noFill/>
                <a:ln w="9525">
                  <a:noFill/>
                </a:ln>
              </p:spPr>
              <p:txBody>
                <a:bodyPr anchor="t" anchorCtr="0"/>
                <a:lstStyle/>
                <a:p>
                  <a:pPr algn="ctr"/>
                  <a:r>
                    <a:rPr lang="en-US" altLang="zh-CN" sz="900" dirty="0">
                      <a:latin typeface="Times New Roman" panose="02020603050405020304" pitchFamily="18" charset="0"/>
                    </a:rPr>
                    <a:t>2</a:t>
                  </a:r>
                  <a:r>
                    <a:rPr lang="zh-CN" altLang="en-US" sz="900" dirty="0">
                      <a:latin typeface="Times New Roman" panose="02020603050405020304" pitchFamily="18" charset="0"/>
                    </a:rPr>
                    <a:t>次</a:t>
                  </a:r>
                  <a:endParaRPr lang="zh-CN" altLang="en-US" sz="900" dirty="0">
                    <a:latin typeface="Times New Roman" panose="02020603050405020304" pitchFamily="18" charset="0"/>
                  </a:endParaRPr>
                </a:p>
                <a:p>
                  <a:pPr algn="ctr"/>
                  <a:r>
                    <a:rPr lang="zh-CN" altLang="en-US" sz="900" dirty="0">
                      <a:solidFill>
                        <a:srgbClr val="FF0000"/>
                      </a:solidFill>
                      <a:latin typeface="Times New Roman" panose="02020603050405020304" pitchFamily="18" charset="0"/>
                    </a:rPr>
                    <a:t>缺页</a:t>
                  </a:r>
                  <a:r>
                    <a:rPr lang="en-US" altLang="zh-CN" sz="900" dirty="0">
                      <a:solidFill>
                        <a:srgbClr val="FF0000"/>
                      </a:solidFill>
                      <a:latin typeface="Times New Roman" panose="02020603050405020304" pitchFamily="18" charset="0"/>
                    </a:rPr>
                    <a:t>8</a:t>
                  </a:r>
                  <a:r>
                    <a:rPr lang="zh-CN" altLang="en-US" sz="900" dirty="0">
                      <a:solidFill>
                        <a:srgbClr val="FF0000"/>
                      </a:solidFill>
                      <a:latin typeface="Times New Roman" panose="02020603050405020304" pitchFamily="18" charset="0"/>
                    </a:rPr>
                    <a:t>次</a:t>
                  </a:r>
                  <a:endParaRPr lang="zh-CN" altLang="en-US" sz="900" dirty="0">
                    <a:solidFill>
                      <a:srgbClr val="FF0000"/>
                    </a:solidFill>
                    <a:latin typeface="Times New Roman" panose="02020603050405020304" pitchFamily="18" charset="0"/>
                  </a:endParaRPr>
                </a:p>
                <a:p>
                  <a:pPr algn="ctr" eaLnBrk="0" hangingPunct="0"/>
                  <a:endParaRPr lang="zh-CN" altLang="en-US" sz="900" dirty="0">
                    <a:solidFill>
                      <a:srgbClr val="FF0000"/>
                    </a:solidFill>
                    <a:latin typeface="Times New Roman" panose="02020603050405020304" pitchFamily="18" charset="0"/>
                  </a:endParaRPr>
                </a:p>
              </p:txBody>
            </p:sp>
            <p:sp>
              <p:nvSpPr>
                <p:cNvPr id="62575" name="矩形 83055"/>
                <p:cNvSpPr/>
                <p:nvPr/>
              </p:nvSpPr>
              <p:spPr>
                <a:xfrm>
                  <a:off x="3556" y="1209"/>
                  <a:ext cx="547" cy="1727"/>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76" name="组合 83056"/>
              <p:cNvGrpSpPr/>
              <p:nvPr/>
            </p:nvGrpSpPr>
            <p:grpSpPr>
              <a:xfrm>
                <a:off x="816" y="1612"/>
                <a:ext cx="274" cy="403"/>
                <a:chOff x="816" y="1612"/>
                <a:chExt cx="274" cy="403"/>
              </a:xfrm>
            </p:grpSpPr>
            <p:sp>
              <p:nvSpPr>
                <p:cNvPr id="62577" name="矩形 83057"/>
                <p:cNvSpPr/>
                <p:nvPr/>
              </p:nvSpPr>
              <p:spPr>
                <a:xfrm>
                  <a:off x="816" y="1612"/>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578" name="组合 83058"/>
                <p:cNvGrpSpPr/>
                <p:nvPr/>
              </p:nvGrpSpPr>
              <p:grpSpPr>
                <a:xfrm>
                  <a:off x="816" y="1612"/>
                  <a:ext cx="274" cy="403"/>
                  <a:chOff x="816" y="1612"/>
                  <a:chExt cx="274" cy="403"/>
                </a:xfrm>
              </p:grpSpPr>
              <p:sp>
                <p:nvSpPr>
                  <p:cNvPr id="62579" name="矩形 83059"/>
                  <p:cNvSpPr/>
                  <p:nvPr/>
                </p:nvSpPr>
                <p:spPr>
                  <a:xfrm>
                    <a:off x="816" y="1612"/>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80" name="矩形 83060"/>
                  <p:cNvSpPr/>
                  <p:nvPr/>
                </p:nvSpPr>
                <p:spPr>
                  <a:xfrm>
                    <a:off x="816"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581" name="组合 83061"/>
              <p:cNvGrpSpPr/>
              <p:nvPr/>
            </p:nvGrpSpPr>
            <p:grpSpPr>
              <a:xfrm>
                <a:off x="1090" y="1612"/>
                <a:ext cx="274" cy="403"/>
                <a:chOff x="1090" y="1612"/>
                <a:chExt cx="274" cy="403"/>
              </a:xfrm>
            </p:grpSpPr>
            <p:sp>
              <p:nvSpPr>
                <p:cNvPr id="62582" name="矩形 83062"/>
                <p:cNvSpPr/>
                <p:nvPr/>
              </p:nvSpPr>
              <p:spPr>
                <a:xfrm>
                  <a:off x="1090"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83" name="矩形 83063"/>
                <p:cNvSpPr/>
                <p:nvPr/>
              </p:nvSpPr>
              <p:spPr>
                <a:xfrm>
                  <a:off x="1090"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84" name="组合 83064"/>
              <p:cNvGrpSpPr/>
              <p:nvPr/>
            </p:nvGrpSpPr>
            <p:grpSpPr>
              <a:xfrm>
                <a:off x="1364" y="1612"/>
                <a:ext cx="274" cy="403"/>
                <a:chOff x="1364" y="1612"/>
                <a:chExt cx="274" cy="403"/>
              </a:xfrm>
            </p:grpSpPr>
            <p:sp>
              <p:nvSpPr>
                <p:cNvPr id="62585" name="矩形 83065"/>
                <p:cNvSpPr/>
                <p:nvPr/>
              </p:nvSpPr>
              <p:spPr>
                <a:xfrm>
                  <a:off x="1364"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86" name="矩形 83066"/>
                <p:cNvSpPr/>
                <p:nvPr/>
              </p:nvSpPr>
              <p:spPr>
                <a:xfrm>
                  <a:off x="1364"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87" name="组合 83067"/>
              <p:cNvGrpSpPr/>
              <p:nvPr/>
            </p:nvGrpSpPr>
            <p:grpSpPr>
              <a:xfrm>
                <a:off x="1638" y="1612"/>
                <a:ext cx="274" cy="403"/>
                <a:chOff x="1638" y="1612"/>
                <a:chExt cx="274" cy="403"/>
              </a:xfrm>
            </p:grpSpPr>
            <p:sp>
              <p:nvSpPr>
                <p:cNvPr id="62588" name="矩形 83068"/>
                <p:cNvSpPr/>
                <p:nvPr/>
              </p:nvSpPr>
              <p:spPr>
                <a:xfrm>
                  <a:off x="1638"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89" name="矩形 83069"/>
                <p:cNvSpPr/>
                <p:nvPr/>
              </p:nvSpPr>
              <p:spPr>
                <a:xfrm>
                  <a:off x="1638"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90" name="组合 83070"/>
              <p:cNvGrpSpPr/>
              <p:nvPr/>
            </p:nvGrpSpPr>
            <p:grpSpPr>
              <a:xfrm>
                <a:off x="1912" y="1612"/>
                <a:ext cx="274" cy="403"/>
                <a:chOff x="1912" y="1612"/>
                <a:chExt cx="274" cy="403"/>
              </a:xfrm>
            </p:grpSpPr>
            <p:sp>
              <p:nvSpPr>
                <p:cNvPr id="62591" name="矩形 83071"/>
                <p:cNvSpPr/>
                <p:nvPr/>
              </p:nvSpPr>
              <p:spPr>
                <a:xfrm>
                  <a:off x="1912"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92" name="矩形 83072"/>
                <p:cNvSpPr/>
                <p:nvPr/>
              </p:nvSpPr>
              <p:spPr>
                <a:xfrm>
                  <a:off x="1912"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93" name="组合 83073"/>
              <p:cNvGrpSpPr/>
              <p:nvPr/>
            </p:nvGrpSpPr>
            <p:grpSpPr>
              <a:xfrm>
                <a:off x="2186" y="1612"/>
                <a:ext cx="274" cy="403"/>
                <a:chOff x="2186" y="1612"/>
                <a:chExt cx="274" cy="403"/>
              </a:xfrm>
            </p:grpSpPr>
            <p:sp>
              <p:nvSpPr>
                <p:cNvPr id="62594" name="矩形 83074"/>
                <p:cNvSpPr/>
                <p:nvPr/>
              </p:nvSpPr>
              <p:spPr>
                <a:xfrm>
                  <a:off x="2186"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95" name="矩形 83075"/>
                <p:cNvSpPr/>
                <p:nvPr/>
              </p:nvSpPr>
              <p:spPr>
                <a:xfrm>
                  <a:off x="2186"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96" name="组合 83076"/>
              <p:cNvGrpSpPr/>
              <p:nvPr/>
            </p:nvGrpSpPr>
            <p:grpSpPr>
              <a:xfrm>
                <a:off x="2460" y="1612"/>
                <a:ext cx="274" cy="403"/>
                <a:chOff x="2460" y="1612"/>
                <a:chExt cx="274" cy="403"/>
              </a:xfrm>
            </p:grpSpPr>
            <p:sp>
              <p:nvSpPr>
                <p:cNvPr id="62597" name="矩形 83077"/>
                <p:cNvSpPr/>
                <p:nvPr/>
              </p:nvSpPr>
              <p:spPr>
                <a:xfrm>
                  <a:off x="2460"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598" name="矩形 83078"/>
                <p:cNvSpPr/>
                <p:nvPr/>
              </p:nvSpPr>
              <p:spPr>
                <a:xfrm>
                  <a:off x="2460"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599" name="组合 83079"/>
              <p:cNvGrpSpPr/>
              <p:nvPr/>
            </p:nvGrpSpPr>
            <p:grpSpPr>
              <a:xfrm>
                <a:off x="2734" y="1612"/>
                <a:ext cx="274" cy="403"/>
                <a:chOff x="2734" y="1612"/>
                <a:chExt cx="274" cy="403"/>
              </a:xfrm>
            </p:grpSpPr>
            <p:sp>
              <p:nvSpPr>
                <p:cNvPr id="62600" name="矩形 83080"/>
                <p:cNvSpPr/>
                <p:nvPr/>
              </p:nvSpPr>
              <p:spPr>
                <a:xfrm>
                  <a:off x="2734"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01" name="矩形 83081"/>
                <p:cNvSpPr/>
                <p:nvPr/>
              </p:nvSpPr>
              <p:spPr>
                <a:xfrm>
                  <a:off x="2734"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02" name="组合 83082"/>
              <p:cNvGrpSpPr/>
              <p:nvPr/>
            </p:nvGrpSpPr>
            <p:grpSpPr>
              <a:xfrm>
                <a:off x="3008" y="1612"/>
                <a:ext cx="274" cy="403"/>
                <a:chOff x="3008" y="1612"/>
                <a:chExt cx="274" cy="403"/>
              </a:xfrm>
            </p:grpSpPr>
            <p:sp>
              <p:nvSpPr>
                <p:cNvPr id="62603" name="矩形 83083"/>
                <p:cNvSpPr/>
                <p:nvPr/>
              </p:nvSpPr>
              <p:spPr>
                <a:xfrm>
                  <a:off x="3008"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04" name="矩形 83084"/>
                <p:cNvSpPr/>
                <p:nvPr/>
              </p:nvSpPr>
              <p:spPr>
                <a:xfrm>
                  <a:off x="3008"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05" name="组合 83085"/>
              <p:cNvGrpSpPr/>
              <p:nvPr/>
            </p:nvGrpSpPr>
            <p:grpSpPr>
              <a:xfrm>
                <a:off x="3282" y="1612"/>
                <a:ext cx="274" cy="403"/>
                <a:chOff x="3282" y="1612"/>
                <a:chExt cx="274" cy="403"/>
              </a:xfrm>
            </p:grpSpPr>
            <p:sp>
              <p:nvSpPr>
                <p:cNvPr id="62606" name="矩形 83086"/>
                <p:cNvSpPr/>
                <p:nvPr/>
              </p:nvSpPr>
              <p:spPr>
                <a:xfrm>
                  <a:off x="3282" y="161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07" name="矩形 83087"/>
                <p:cNvSpPr/>
                <p:nvPr/>
              </p:nvSpPr>
              <p:spPr>
                <a:xfrm>
                  <a:off x="3282" y="161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08" name="组合 83088"/>
              <p:cNvGrpSpPr/>
              <p:nvPr/>
            </p:nvGrpSpPr>
            <p:grpSpPr>
              <a:xfrm>
                <a:off x="816" y="2015"/>
                <a:ext cx="274" cy="403"/>
                <a:chOff x="816" y="2015"/>
                <a:chExt cx="274" cy="403"/>
              </a:xfrm>
            </p:grpSpPr>
            <p:sp>
              <p:nvSpPr>
                <p:cNvPr id="62609" name="矩形 83089"/>
                <p:cNvSpPr/>
                <p:nvPr/>
              </p:nvSpPr>
              <p:spPr>
                <a:xfrm>
                  <a:off x="816" y="2015"/>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610" name="组合 83090"/>
                <p:cNvGrpSpPr/>
                <p:nvPr/>
              </p:nvGrpSpPr>
              <p:grpSpPr>
                <a:xfrm>
                  <a:off x="816" y="2015"/>
                  <a:ext cx="274" cy="403"/>
                  <a:chOff x="816" y="2015"/>
                  <a:chExt cx="274" cy="403"/>
                </a:xfrm>
              </p:grpSpPr>
              <p:sp>
                <p:nvSpPr>
                  <p:cNvPr id="62611" name="矩形 83091"/>
                  <p:cNvSpPr/>
                  <p:nvPr/>
                </p:nvSpPr>
                <p:spPr>
                  <a:xfrm>
                    <a:off x="816" y="2015"/>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12" name="矩形 83092"/>
                  <p:cNvSpPr/>
                  <p:nvPr/>
                </p:nvSpPr>
                <p:spPr>
                  <a:xfrm>
                    <a:off x="816"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613" name="组合 83093"/>
              <p:cNvGrpSpPr/>
              <p:nvPr/>
            </p:nvGrpSpPr>
            <p:grpSpPr>
              <a:xfrm>
                <a:off x="1090" y="2015"/>
                <a:ext cx="274" cy="403"/>
                <a:chOff x="1090" y="2015"/>
                <a:chExt cx="274" cy="403"/>
              </a:xfrm>
            </p:grpSpPr>
            <p:sp>
              <p:nvSpPr>
                <p:cNvPr id="62614" name="矩形 83094"/>
                <p:cNvSpPr/>
                <p:nvPr/>
              </p:nvSpPr>
              <p:spPr>
                <a:xfrm>
                  <a:off x="1090" y="2015"/>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615" name="组合 83095"/>
                <p:cNvGrpSpPr/>
                <p:nvPr/>
              </p:nvGrpSpPr>
              <p:grpSpPr>
                <a:xfrm>
                  <a:off x="1090" y="2015"/>
                  <a:ext cx="274" cy="403"/>
                  <a:chOff x="1090" y="2015"/>
                  <a:chExt cx="274" cy="403"/>
                </a:xfrm>
              </p:grpSpPr>
              <p:sp>
                <p:nvSpPr>
                  <p:cNvPr id="62616" name="矩形 83096"/>
                  <p:cNvSpPr/>
                  <p:nvPr/>
                </p:nvSpPr>
                <p:spPr>
                  <a:xfrm>
                    <a:off x="1090" y="2015"/>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17" name="矩形 83097"/>
                  <p:cNvSpPr/>
                  <p:nvPr/>
                </p:nvSpPr>
                <p:spPr>
                  <a:xfrm>
                    <a:off x="1090"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618" name="组合 83098"/>
              <p:cNvGrpSpPr/>
              <p:nvPr/>
            </p:nvGrpSpPr>
            <p:grpSpPr>
              <a:xfrm>
                <a:off x="1364" y="2015"/>
                <a:ext cx="274" cy="403"/>
                <a:chOff x="1364" y="2015"/>
                <a:chExt cx="274" cy="403"/>
              </a:xfrm>
            </p:grpSpPr>
            <p:sp>
              <p:nvSpPr>
                <p:cNvPr id="62619" name="矩形 83099"/>
                <p:cNvSpPr/>
                <p:nvPr/>
              </p:nvSpPr>
              <p:spPr>
                <a:xfrm>
                  <a:off x="1364" y="2015"/>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620" name="组合 83100"/>
                <p:cNvGrpSpPr/>
                <p:nvPr/>
              </p:nvGrpSpPr>
              <p:grpSpPr>
                <a:xfrm>
                  <a:off x="1364" y="2015"/>
                  <a:ext cx="274" cy="403"/>
                  <a:chOff x="1364" y="2015"/>
                  <a:chExt cx="274" cy="403"/>
                </a:xfrm>
              </p:grpSpPr>
              <p:sp>
                <p:nvSpPr>
                  <p:cNvPr id="62621" name="矩形 83101"/>
                  <p:cNvSpPr/>
                  <p:nvPr/>
                </p:nvSpPr>
                <p:spPr>
                  <a:xfrm>
                    <a:off x="1364" y="2015"/>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22" name="矩形 83102"/>
                  <p:cNvSpPr/>
                  <p:nvPr/>
                </p:nvSpPr>
                <p:spPr>
                  <a:xfrm>
                    <a:off x="1364"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623" name="组合 83103"/>
              <p:cNvGrpSpPr/>
              <p:nvPr/>
            </p:nvGrpSpPr>
            <p:grpSpPr>
              <a:xfrm>
                <a:off x="1638" y="2015"/>
                <a:ext cx="274" cy="403"/>
                <a:chOff x="1638" y="2015"/>
                <a:chExt cx="274" cy="403"/>
              </a:xfrm>
            </p:grpSpPr>
            <p:sp>
              <p:nvSpPr>
                <p:cNvPr id="62624" name="矩形 83104"/>
                <p:cNvSpPr/>
                <p:nvPr/>
              </p:nvSpPr>
              <p:spPr>
                <a:xfrm>
                  <a:off x="1638" y="2015"/>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25" name="矩形 83105"/>
                <p:cNvSpPr/>
                <p:nvPr/>
              </p:nvSpPr>
              <p:spPr>
                <a:xfrm>
                  <a:off x="1638"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26" name="组合 83106"/>
              <p:cNvGrpSpPr/>
              <p:nvPr/>
            </p:nvGrpSpPr>
            <p:grpSpPr>
              <a:xfrm>
                <a:off x="1912" y="2015"/>
                <a:ext cx="274" cy="403"/>
                <a:chOff x="1912" y="2015"/>
                <a:chExt cx="274" cy="403"/>
              </a:xfrm>
            </p:grpSpPr>
            <p:sp>
              <p:nvSpPr>
                <p:cNvPr id="62627" name="矩形 83107"/>
                <p:cNvSpPr/>
                <p:nvPr/>
              </p:nvSpPr>
              <p:spPr>
                <a:xfrm>
                  <a:off x="1912" y="2015"/>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28" name="矩形 83108"/>
                <p:cNvSpPr/>
                <p:nvPr/>
              </p:nvSpPr>
              <p:spPr>
                <a:xfrm>
                  <a:off x="1912"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29" name="组合 83109"/>
              <p:cNvGrpSpPr/>
              <p:nvPr/>
            </p:nvGrpSpPr>
            <p:grpSpPr>
              <a:xfrm>
                <a:off x="2186" y="2015"/>
                <a:ext cx="274" cy="403"/>
                <a:chOff x="2186" y="2015"/>
                <a:chExt cx="274" cy="403"/>
              </a:xfrm>
            </p:grpSpPr>
            <p:sp>
              <p:nvSpPr>
                <p:cNvPr id="62630" name="矩形 83110"/>
                <p:cNvSpPr/>
                <p:nvPr/>
              </p:nvSpPr>
              <p:spPr>
                <a:xfrm>
                  <a:off x="2186" y="2015"/>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31" name="矩形 83111"/>
                <p:cNvSpPr/>
                <p:nvPr/>
              </p:nvSpPr>
              <p:spPr>
                <a:xfrm>
                  <a:off x="2186"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32" name="组合 83112"/>
              <p:cNvGrpSpPr/>
              <p:nvPr/>
            </p:nvGrpSpPr>
            <p:grpSpPr>
              <a:xfrm>
                <a:off x="2460" y="2015"/>
                <a:ext cx="274" cy="403"/>
                <a:chOff x="2460" y="2015"/>
                <a:chExt cx="274" cy="403"/>
              </a:xfrm>
            </p:grpSpPr>
            <p:sp>
              <p:nvSpPr>
                <p:cNvPr id="62633" name="矩形 83113"/>
                <p:cNvSpPr/>
                <p:nvPr/>
              </p:nvSpPr>
              <p:spPr>
                <a:xfrm>
                  <a:off x="2460" y="2015"/>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34" name="矩形 83114"/>
                <p:cNvSpPr/>
                <p:nvPr/>
              </p:nvSpPr>
              <p:spPr>
                <a:xfrm>
                  <a:off x="2460"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35" name="组合 83115"/>
              <p:cNvGrpSpPr/>
              <p:nvPr/>
            </p:nvGrpSpPr>
            <p:grpSpPr>
              <a:xfrm>
                <a:off x="2734" y="2015"/>
                <a:ext cx="274" cy="403"/>
                <a:chOff x="2734" y="2015"/>
                <a:chExt cx="274" cy="403"/>
              </a:xfrm>
            </p:grpSpPr>
            <p:sp>
              <p:nvSpPr>
                <p:cNvPr id="62636" name="矩形 83116"/>
                <p:cNvSpPr/>
                <p:nvPr/>
              </p:nvSpPr>
              <p:spPr>
                <a:xfrm>
                  <a:off x="2734" y="2015"/>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37" name="矩形 83117"/>
                <p:cNvSpPr/>
                <p:nvPr/>
              </p:nvSpPr>
              <p:spPr>
                <a:xfrm>
                  <a:off x="2734"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38" name="组合 83118"/>
              <p:cNvGrpSpPr/>
              <p:nvPr/>
            </p:nvGrpSpPr>
            <p:grpSpPr>
              <a:xfrm>
                <a:off x="3008" y="2015"/>
                <a:ext cx="274" cy="403"/>
                <a:chOff x="3008" y="2015"/>
                <a:chExt cx="274" cy="403"/>
              </a:xfrm>
            </p:grpSpPr>
            <p:sp>
              <p:nvSpPr>
                <p:cNvPr id="62639" name="矩形 83119"/>
                <p:cNvSpPr/>
                <p:nvPr/>
              </p:nvSpPr>
              <p:spPr>
                <a:xfrm>
                  <a:off x="3008" y="2015"/>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40" name="矩形 83120"/>
                <p:cNvSpPr/>
                <p:nvPr/>
              </p:nvSpPr>
              <p:spPr>
                <a:xfrm>
                  <a:off x="3008"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41" name="组合 83121"/>
              <p:cNvGrpSpPr/>
              <p:nvPr/>
            </p:nvGrpSpPr>
            <p:grpSpPr>
              <a:xfrm>
                <a:off x="3282" y="2015"/>
                <a:ext cx="274" cy="403"/>
                <a:chOff x="3282" y="2015"/>
                <a:chExt cx="274" cy="403"/>
              </a:xfrm>
            </p:grpSpPr>
            <p:sp>
              <p:nvSpPr>
                <p:cNvPr id="62642" name="矩形 83122"/>
                <p:cNvSpPr/>
                <p:nvPr/>
              </p:nvSpPr>
              <p:spPr>
                <a:xfrm>
                  <a:off x="3282" y="2015"/>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43" name="矩形 83123"/>
                <p:cNvSpPr/>
                <p:nvPr/>
              </p:nvSpPr>
              <p:spPr>
                <a:xfrm>
                  <a:off x="3282" y="2015"/>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44" name="组合 83124"/>
              <p:cNvGrpSpPr/>
              <p:nvPr/>
            </p:nvGrpSpPr>
            <p:grpSpPr>
              <a:xfrm>
                <a:off x="816" y="2418"/>
                <a:ext cx="274" cy="518"/>
                <a:chOff x="816" y="2418"/>
                <a:chExt cx="274" cy="518"/>
              </a:xfrm>
            </p:grpSpPr>
            <p:sp>
              <p:nvSpPr>
                <p:cNvPr id="62645" name="矩形 83125"/>
                <p:cNvSpPr/>
                <p:nvPr/>
              </p:nvSpPr>
              <p:spPr>
                <a:xfrm>
                  <a:off x="816"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46" name="矩形 83126"/>
                <p:cNvSpPr/>
                <p:nvPr/>
              </p:nvSpPr>
              <p:spPr>
                <a:xfrm>
                  <a:off x="816"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47" name="组合 83127"/>
              <p:cNvGrpSpPr/>
              <p:nvPr/>
            </p:nvGrpSpPr>
            <p:grpSpPr>
              <a:xfrm>
                <a:off x="1090" y="2418"/>
                <a:ext cx="274" cy="518"/>
                <a:chOff x="1090" y="2418"/>
                <a:chExt cx="274" cy="518"/>
              </a:xfrm>
            </p:grpSpPr>
            <p:sp>
              <p:nvSpPr>
                <p:cNvPr id="62648" name="矩形 83128"/>
                <p:cNvSpPr/>
                <p:nvPr/>
              </p:nvSpPr>
              <p:spPr>
                <a:xfrm>
                  <a:off x="1090"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49" name="矩形 83129"/>
                <p:cNvSpPr/>
                <p:nvPr/>
              </p:nvSpPr>
              <p:spPr>
                <a:xfrm>
                  <a:off x="1090"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50" name="组合 83130"/>
              <p:cNvGrpSpPr/>
              <p:nvPr/>
            </p:nvGrpSpPr>
            <p:grpSpPr>
              <a:xfrm>
                <a:off x="1364" y="2418"/>
                <a:ext cx="274" cy="518"/>
                <a:chOff x="1364" y="2418"/>
                <a:chExt cx="274" cy="518"/>
              </a:xfrm>
            </p:grpSpPr>
            <p:sp>
              <p:nvSpPr>
                <p:cNvPr id="62651" name="矩形 83131"/>
                <p:cNvSpPr/>
                <p:nvPr/>
              </p:nvSpPr>
              <p:spPr>
                <a:xfrm>
                  <a:off x="1364"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52" name="矩形 83132"/>
                <p:cNvSpPr/>
                <p:nvPr/>
              </p:nvSpPr>
              <p:spPr>
                <a:xfrm>
                  <a:off x="1364"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53" name="组合 83133"/>
              <p:cNvGrpSpPr/>
              <p:nvPr/>
            </p:nvGrpSpPr>
            <p:grpSpPr>
              <a:xfrm>
                <a:off x="1638" y="2418"/>
                <a:ext cx="274" cy="518"/>
                <a:chOff x="1638" y="2418"/>
                <a:chExt cx="274" cy="518"/>
              </a:xfrm>
            </p:grpSpPr>
            <p:sp>
              <p:nvSpPr>
                <p:cNvPr id="62654" name="矩形 83134"/>
                <p:cNvSpPr/>
                <p:nvPr/>
              </p:nvSpPr>
              <p:spPr>
                <a:xfrm>
                  <a:off x="1638"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55" name="矩形 83135"/>
                <p:cNvSpPr/>
                <p:nvPr/>
              </p:nvSpPr>
              <p:spPr>
                <a:xfrm>
                  <a:off x="1638"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56" name="组合 83136"/>
              <p:cNvGrpSpPr/>
              <p:nvPr/>
            </p:nvGrpSpPr>
            <p:grpSpPr>
              <a:xfrm>
                <a:off x="1912" y="2418"/>
                <a:ext cx="274" cy="518"/>
                <a:chOff x="1912" y="2418"/>
                <a:chExt cx="274" cy="518"/>
              </a:xfrm>
            </p:grpSpPr>
            <p:sp>
              <p:nvSpPr>
                <p:cNvPr id="62657" name="矩形 83137"/>
                <p:cNvSpPr/>
                <p:nvPr/>
              </p:nvSpPr>
              <p:spPr>
                <a:xfrm>
                  <a:off x="1912"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58" name="矩形 83138"/>
                <p:cNvSpPr/>
                <p:nvPr/>
              </p:nvSpPr>
              <p:spPr>
                <a:xfrm>
                  <a:off x="1912"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59" name="组合 83139"/>
              <p:cNvGrpSpPr/>
              <p:nvPr/>
            </p:nvGrpSpPr>
            <p:grpSpPr>
              <a:xfrm>
                <a:off x="2186" y="2418"/>
                <a:ext cx="274" cy="518"/>
                <a:chOff x="2186" y="2418"/>
                <a:chExt cx="274" cy="518"/>
              </a:xfrm>
            </p:grpSpPr>
            <p:sp>
              <p:nvSpPr>
                <p:cNvPr id="62660" name="矩形 83140"/>
                <p:cNvSpPr/>
                <p:nvPr/>
              </p:nvSpPr>
              <p:spPr>
                <a:xfrm>
                  <a:off x="2186"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61" name="矩形 83141"/>
                <p:cNvSpPr/>
                <p:nvPr/>
              </p:nvSpPr>
              <p:spPr>
                <a:xfrm>
                  <a:off x="2186"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62" name="组合 83142"/>
              <p:cNvGrpSpPr/>
              <p:nvPr/>
            </p:nvGrpSpPr>
            <p:grpSpPr>
              <a:xfrm>
                <a:off x="2460" y="2418"/>
                <a:ext cx="274" cy="518"/>
                <a:chOff x="2460" y="2418"/>
                <a:chExt cx="274" cy="518"/>
              </a:xfrm>
            </p:grpSpPr>
            <p:sp>
              <p:nvSpPr>
                <p:cNvPr id="62663" name="矩形 83143"/>
                <p:cNvSpPr/>
                <p:nvPr/>
              </p:nvSpPr>
              <p:spPr>
                <a:xfrm>
                  <a:off x="2460"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64" name="矩形 83144"/>
                <p:cNvSpPr/>
                <p:nvPr/>
              </p:nvSpPr>
              <p:spPr>
                <a:xfrm>
                  <a:off x="2460"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65" name="组合 83145"/>
              <p:cNvGrpSpPr/>
              <p:nvPr/>
            </p:nvGrpSpPr>
            <p:grpSpPr>
              <a:xfrm>
                <a:off x="2734" y="2418"/>
                <a:ext cx="274" cy="518"/>
                <a:chOff x="2734" y="2418"/>
                <a:chExt cx="274" cy="518"/>
              </a:xfrm>
            </p:grpSpPr>
            <p:sp>
              <p:nvSpPr>
                <p:cNvPr id="62666" name="矩形 83146"/>
                <p:cNvSpPr/>
                <p:nvPr/>
              </p:nvSpPr>
              <p:spPr>
                <a:xfrm>
                  <a:off x="2734"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67" name="矩形 83147"/>
                <p:cNvSpPr/>
                <p:nvPr/>
              </p:nvSpPr>
              <p:spPr>
                <a:xfrm>
                  <a:off x="2734"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68" name="组合 83148"/>
              <p:cNvGrpSpPr/>
              <p:nvPr/>
            </p:nvGrpSpPr>
            <p:grpSpPr>
              <a:xfrm>
                <a:off x="3008" y="2418"/>
                <a:ext cx="274" cy="518"/>
                <a:chOff x="3008" y="2418"/>
                <a:chExt cx="274" cy="518"/>
              </a:xfrm>
            </p:grpSpPr>
            <p:sp>
              <p:nvSpPr>
                <p:cNvPr id="62669" name="矩形 83149"/>
                <p:cNvSpPr/>
                <p:nvPr/>
              </p:nvSpPr>
              <p:spPr>
                <a:xfrm>
                  <a:off x="3008"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70" name="矩形 83150"/>
                <p:cNvSpPr/>
                <p:nvPr/>
              </p:nvSpPr>
              <p:spPr>
                <a:xfrm>
                  <a:off x="3008"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71" name="组合 83151"/>
              <p:cNvGrpSpPr/>
              <p:nvPr/>
            </p:nvGrpSpPr>
            <p:grpSpPr>
              <a:xfrm>
                <a:off x="3282" y="2418"/>
                <a:ext cx="274" cy="518"/>
                <a:chOff x="3282" y="2418"/>
                <a:chExt cx="274" cy="518"/>
              </a:xfrm>
            </p:grpSpPr>
            <p:sp>
              <p:nvSpPr>
                <p:cNvPr id="62672" name="矩形 83152"/>
                <p:cNvSpPr/>
                <p:nvPr/>
              </p:nvSpPr>
              <p:spPr>
                <a:xfrm>
                  <a:off x="3282" y="2418"/>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73" name="矩形 83153"/>
                <p:cNvSpPr/>
                <p:nvPr/>
              </p:nvSpPr>
              <p:spPr>
                <a:xfrm>
                  <a:off x="3282" y="2418"/>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74" name="组合 83154"/>
              <p:cNvGrpSpPr/>
              <p:nvPr/>
            </p:nvGrpSpPr>
            <p:grpSpPr>
              <a:xfrm>
                <a:off x="0" y="2936"/>
                <a:ext cx="816" cy="1727"/>
                <a:chOff x="0" y="2936"/>
                <a:chExt cx="816" cy="1727"/>
              </a:xfrm>
            </p:grpSpPr>
            <p:sp>
              <p:nvSpPr>
                <p:cNvPr id="62675" name="矩形 83155"/>
                <p:cNvSpPr/>
                <p:nvPr/>
              </p:nvSpPr>
              <p:spPr>
                <a:xfrm>
                  <a:off x="0" y="2936"/>
                  <a:ext cx="816" cy="1727"/>
                </a:xfrm>
                <a:prstGeom prst="rect">
                  <a:avLst/>
                </a:prstGeom>
                <a:noFill/>
                <a:ln w="9525">
                  <a:noFill/>
                </a:ln>
              </p:spPr>
              <p:txBody>
                <a:bodyPr anchor="t" anchorCtr="0"/>
                <a:lstStyle/>
                <a:p>
                  <a:pPr algn="ctr"/>
                  <a:r>
                    <a:rPr lang="zh-CN" altLang="en-US" sz="900" dirty="0">
                      <a:latin typeface="Times New Roman" panose="02020603050405020304" pitchFamily="18" charset="0"/>
                    </a:rPr>
                    <a:t>最久没有使用算法</a:t>
                  </a:r>
                  <a:endParaRPr lang="zh-CN" altLang="en-US" sz="900" dirty="0">
                    <a:latin typeface="Times New Roman" panose="02020603050405020304" pitchFamily="18" charset="0"/>
                  </a:endParaRPr>
                </a:p>
                <a:p>
                  <a:pPr algn="ctr" eaLnBrk="0" hangingPunct="0"/>
                  <a:r>
                    <a:rPr lang="zh-CN" altLang="en-US" sz="900" dirty="0">
                      <a:latin typeface="Times New Roman" panose="02020603050405020304" pitchFamily="18" charset="0"/>
                    </a:rPr>
                    <a:t>（</a:t>
                  </a:r>
                  <a:r>
                    <a:rPr lang="en-US" altLang="zh-CN" sz="900" dirty="0">
                      <a:latin typeface="Times New Roman" panose="02020603050405020304" pitchFamily="18" charset="0"/>
                    </a:rPr>
                    <a:t>LRU</a:t>
                  </a:r>
                  <a:r>
                    <a:rPr lang="zh-CN" altLang="en-US" sz="900" dirty="0">
                      <a:latin typeface="Times New Roman" panose="02020603050405020304" pitchFamily="18" charset="0"/>
                    </a:rPr>
                    <a:t>算法）</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676" name="矩形 83156"/>
                <p:cNvSpPr/>
                <p:nvPr/>
              </p:nvSpPr>
              <p:spPr>
                <a:xfrm>
                  <a:off x="0" y="2936"/>
                  <a:ext cx="816" cy="1727"/>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77" name="组合 83157"/>
              <p:cNvGrpSpPr/>
              <p:nvPr/>
            </p:nvGrpSpPr>
            <p:grpSpPr>
              <a:xfrm>
                <a:off x="816" y="2936"/>
                <a:ext cx="274" cy="403"/>
                <a:chOff x="816" y="2936"/>
                <a:chExt cx="274" cy="403"/>
              </a:xfrm>
            </p:grpSpPr>
            <p:sp>
              <p:nvSpPr>
                <p:cNvPr id="62678" name="矩形 83158"/>
                <p:cNvSpPr/>
                <p:nvPr/>
              </p:nvSpPr>
              <p:spPr>
                <a:xfrm>
                  <a:off x="816"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79" name="矩形 83159"/>
                <p:cNvSpPr/>
                <p:nvPr/>
              </p:nvSpPr>
              <p:spPr>
                <a:xfrm>
                  <a:off x="816"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80" name="组合 83160"/>
              <p:cNvGrpSpPr/>
              <p:nvPr/>
            </p:nvGrpSpPr>
            <p:grpSpPr>
              <a:xfrm>
                <a:off x="1090" y="2936"/>
                <a:ext cx="274" cy="403"/>
                <a:chOff x="1090" y="2936"/>
                <a:chExt cx="274" cy="403"/>
              </a:xfrm>
            </p:grpSpPr>
            <p:sp>
              <p:nvSpPr>
                <p:cNvPr id="62681" name="矩形 83161"/>
                <p:cNvSpPr/>
                <p:nvPr/>
              </p:nvSpPr>
              <p:spPr>
                <a:xfrm>
                  <a:off x="1090"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82" name="矩形 83162"/>
                <p:cNvSpPr/>
                <p:nvPr/>
              </p:nvSpPr>
              <p:spPr>
                <a:xfrm>
                  <a:off x="1090"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83" name="组合 83163"/>
              <p:cNvGrpSpPr/>
              <p:nvPr/>
            </p:nvGrpSpPr>
            <p:grpSpPr>
              <a:xfrm>
                <a:off x="1364" y="2936"/>
                <a:ext cx="274" cy="403"/>
                <a:chOff x="1364" y="2936"/>
                <a:chExt cx="274" cy="403"/>
              </a:xfrm>
            </p:grpSpPr>
            <p:sp>
              <p:nvSpPr>
                <p:cNvPr id="62684" name="矩形 83164"/>
                <p:cNvSpPr/>
                <p:nvPr/>
              </p:nvSpPr>
              <p:spPr>
                <a:xfrm>
                  <a:off x="1364"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85" name="矩形 83165"/>
                <p:cNvSpPr/>
                <p:nvPr/>
              </p:nvSpPr>
              <p:spPr>
                <a:xfrm>
                  <a:off x="1364"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86" name="组合 83166"/>
              <p:cNvGrpSpPr/>
              <p:nvPr/>
            </p:nvGrpSpPr>
            <p:grpSpPr>
              <a:xfrm>
                <a:off x="1638" y="2936"/>
                <a:ext cx="274" cy="403"/>
                <a:chOff x="1638" y="2936"/>
                <a:chExt cx="274" cy="403"/>
              </a:xfrm>
            </p:grpSpPr>
            <p:sp>
              <p:nvSpPr>
                <p:cNvPr id="62687" name="矩形 83167"/>
                <p:cNvSpPr/>
                <p:nvPr/>
              </p:nvSpPr>
              <p:spPr>
                <a:xfrm>
                  <a:off x="1638"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88" name="矩形 83168"/>
                <p:cNvSpPr/>
                <p:nvPr/>
              </p:nvSpPr>
              <p:spPr>
                <a:xfrm>
                  <a:off x="1638"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89" name="组合 83169"/>
              <p:cNvGrpSpPr/>
              <p:nvPr/>
            </p:nvGrpSpPr>
            <p:grpSpPr>
              <a:xfrm>
                <a:off x="1912" y="2936"/>
                <a:ext cx="274" cy="403"/>
                <a:chOff x="1912" y="2936"/>
                <a:chExt cx="274" cy="403"/>
              </a:xfrm>
            </p:grpSpPr>
            <p:sp>
              <p:nvSpPr>
                <p:cNvPr id="62690" name="矩形 83170"/>
                <p:cNvSpPr/>
                <p:nvPr/>
              </p:nvSpPr>
              <p:spPr>
                <a:xfrm>
                  <a:off x="1912"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91" name="矩形 83171"/>
                <p:cNvSpPr/>
                <p:nvPr/>
              </p:nvSpPr>
              <p:spPr>
                <a:xfrm>
                  <a:off x="1912"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92" name="组合 83172"/>
              <p:cNvGrpSpPr/>
              <p:nvPr/>
            </p:nvGrpSpPr>
            <p:grpSpPr>
              <a:xfrm>
                <a:off x="2186" y="2936"/>
                <a:ext cx="274" cy="403"/>
                <a:chOff x="2186" y="2936"/>
                <a:chExt cx="274" cy="403"/>
              </a:xfrm>
            </p:grpSpPr>
            <p:sp>
              <p:nvSpPr>
                <p:cNvPr id="62693" name="矩形 83173"/>
                <p:cNvSpPr/>
                <p:nvPr/>
              </p:nvSpPr>
              <p:spPr>
                <a:xfrm>
                  <a:off x="2186"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94" name="矩形 83174"/>
                <p:cNvSpPr/>
                <p:nvPr/>
              </p:nvSpPr>
              <p:spPr>
                <a:xfrm>
                  <a:off x="2186"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95" name="组合 83175"/>
              <p:cNvGrpSpPr/>
              <p:nvPr/>
            </p:nvGrpSpPr>
            <p:grpSpPr>
              <a:xfrm>
                <a:off x="2460" y="2936"/>
                <a:ext cx="274" cy="403"/>
                <a:chOff x="2460" y="2936"/>
                <a:chExt cx="274" cy="403"/>
              </a:xfrm>
            </p:grpSpPr>
            <p:sp>
              <p:nvSpPr>
                <p:cNvPr id="62696" name="矩形 83176"/>
                <p:cNvSpPr/>
                <p:nvPr/>
              </p:nvSpPr>
              <p:spPr>
                <a:xfrm>
                  <a:off x="2460"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697" name="矩形 83177"/>
                <p:cNvSpPr/>
                <p:nvPr/>
              </p:nvSpPr>
              <p:spPr>
                <a:xfrm>
                  <a:off x="2460"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698" name="组合 83178"/>
              <p:cNvGrpSpPr/>
              <p:nvPr/>
            </p:nvGrpSpPr>
            <p:grpSpPr>
              <a:xfrm>
                <a:off x="2734" y="2936"/>
                <a:ext cx="274" cy="403"/>
                <a:chOff x="2734" y="2936"/>
                <a:chExt cx="274" cy="403"/>
              </a:xfrm>
            </p:grpSpPr>
            <p:sp>
              <p:nvSpPr>
                <p:cNvPr id="62699" name="矩形 83179"/>
                <p:cNvSpPr/>
                <p:nvPr/>
              </p:nvSpPr>
              <p:spPr>
                <a:xfrm>
                  <a:off x="2734"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00" name="矩形 83180"/>
                <p:cNvSpPr/>
                <p:nvPr/>
              </p:nvSpPr>
              <p:spPr>
                <a:xfrm>
                  <a:off x="2734"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01" name="组合 83181"/>
              <p:cNvGrpSpPr/>
              <p:nvPr/>
            </p:nvGrpSpPr>
            <p:grpSpPr>
              <a:xfrm>
                <a:off x="3008" y="2936"/>
                <a:ext cx="274" cy="403"/>
                <a:chOff x="3008" y="2936"/>
                <a:chExt cx="274" cy="403"/>
              </a:xfrm>
            </p:grpSpPr>
            <p:sp>
              <p:nvSpPr>
                <p:cNvPr id="62702" name="矩形 83182"/>
                <p:cNvSpPr/>
                <p:nvPr/>
              </p:nvSpPr>
              <p:spPr>
                <a:xfrm>
                  <a:off x="3008"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03" name="矩形 83183"/>
                <p:cNvSpPr/>
                <p:nvPr/>
              </p:nvSpPr>
              <p:spPr>
                <a:xfrm>
                  <a:off x="3008"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04" name="组合 83184"/>
              <p:cNvGrpSpPr/>
              <p:nvPr/>
            </p:nvGrpSpPr>
            <p:grpSpPr>
              <a:xfrm>
                <a:off x="3282" y="2936"/>
                <a:ext cx="274" cy="403"/>
                <a:chOff x="3282" y="2936"/>
                <a:chExt cx="274" cy="403"/>
              </a:xfrm>
            </p:grpSpPr>
            <p:sp>
              <p:nvSpPr>
                <p:cNvPr id="62705" name="矩形 83185"/>
                <p:cNvSpPr/>
                <p:nvPr/>
              </p:nvSpPr>
              <p:spPr>
                <a:xfrm>
                  <a:off x="3282" y="293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06" name="矩形 83186"/>
                <p:cNvSpPr/>
                <p:nvPr/>
              </p:nvSpPr>
              <p:spPr>
                <a:xfrm>
                  <a:off x="3282" y="293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07" name="组合 83187"/>
              <p:cNvGrpSpPr/>
              <p:nvPr/>
            </p:nvGrpSpPr>
            <p:grpSpPr>
              <a:xfrm>
                <a:off x="3556" y="2936"/>
                <a:ext cx="547" cy="1727"/>
                <a:chOff x="3556" y="2936"/>
                <a:chExt cx="547" cy="1727"/>
              </a:xfrm>
            </p:grpSpPr>
            <p:sp>
              <p:nvSpPr>
                <p:cNvPr id="62708" name="矩形 83188"/>
                <p:cNvSpPr/>
                <p:nvPr/>
              </p:nvSpPr>
              <p:spPr>
                <a:xfrm>
                  <a:off x="3556" y="2936"/>
                  <a:ext cx="547" cy="1727"/>
                </a:xfrm>
                <a:prstGeom prst="rect">
                  <a:avLst/>
                </a:prstGeom>
                <a:noFill/>
                <a:ln w="9525">
                  <a:noFill/>
                </a:ln>
              </p:spPr>
              <p:txBody>
                <a:bodyPr anchor="t" anchorCtr="0"/>
                <a:lstStyle/>
                <a:p>
                  <a:pPr algn="ctr"/>
                  <a:r>
                    <a:rPr lang="en-US" altLang="zh-CN" sz="900" dirty="0">
                      <a:latin typeface="Times New Roman" panose="02020603050405020304" pitchFamily="18" charset="0"/>
                    </a:rPr>
                    <a:t>4</a:t>
                  </a:r>
                  <a:r>
                    <a:rPr lang="zh-CN" altLang="en-US" sz="900" dirty="0">
                      <a:latin typeface="Times New Roman" panose="02020603050405020304" pitchFamily="18" charset="0"/>
                    </a:rPr>
                    <a:t>次</a:t>
                  </a:r>
                  <a:endParaRPr lang="zh-CN" altLang="en-US" sz="900" dirty="0">
                    <a:latin typeface="Times New Roman" panose="02020603050405020304" pitchFamily="18" charset="0"/>
                  </a:endParaRPr>
                </a:p>
                <a:p>
                  <a:pPr algn="ctr"/>
                  <a:r>
                    <a:rPr lang="zh-CN" altLang="en-US" sz="900" dirty="0">
                      <a:solidFill>
                        <a:srgbClr val="FF0000"/>
                      </a:solidFill>
                      <a:latin typeface="Times New Roman" panose="02020603050405020304" pitchFamily="18" charset="0"/>
                      <a:sym typeface="+mn-ea"/>
                    </a:rPr>
                    <a:t>缺页</a:t>
                  </a:r>
                  <a:r>
                    <a:rPr lang="en-US" altLang="zh-CN" sz="900" dirty="0">
                      <a:solidFill>
                        <a:srgbClr val="FF0000"/>
                      </a:solidFill>
                      <a:latin typeface="Times New Roman" panose="02020603050405020304" pitchFamily="18" charset="0"/>
                      <a:sym typeface="+mn-ea"/>
                    </a:rPr>
                    <a:t>6</a:t>
                  </a:r>
                  <a:r>
                    <a:rPr lang="zh-CN" altLang="en-US" sz="900" dirty="0">
                      <a:solidFill>
                        <a:srgbClr val="FF0000"/>
                      </a:solidFill>
                      <a:latin typeface="Times New Roman" panose="02020603050405020304" pitchFamily="18" charset="0"/>
                      <a:sym typeface="+mn-ea"/>
                    </a:rPr>
                    <a:t>次</a:t>
                  </a:r>
                  <a:endParaRPr lang="zh-CN" altLang="en-US" sz="900" dirty="0">
                    <a:solidFill>
                      <a:srgbClr val="FF0000"/>
                    </a:solidFill>
                    <a:latin typeface="Times New Roman" panose="02020603050405020304" pitchFamily="18" charset="0"/>
                  </a:endParaRPr>
                </a:p>
                <a:p>
                  <a:pPr algn="ctr" eaLnBrk="0" hangingPunct="0"/>
                  <a:endParaRPr lang="zh-CN" altLang="en-US" sz="900" dirty="0">
                    <a:solidFill>
                      <a:srgbClr val="FF0000"/>
                    </a:solidFill>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09" name="矩形 83189"/>
                <p:cNvSpPr/>
                <p:nvPr/>
              </p:nvSpPr>
              <p:spPr>
                <a:xfrm>
                  <a:off x="3556" y="2936"/>
                  <a:ext cx="547" cy="1727"/>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10" name="组合 83190"/>
              <p:cNvGrpSpPr/>
              <p:nvPr/>
            </p:nvGrpSpPr>
            <p:grpSpPr>
              <a:xfrm>
                <a:off x="816" y="3339"/>
                <a:ext cx="274" cy="403"/>
                <a:chOff x="816" y="3339"/>
                <a:chExt cx="274" cy="403"/>
              </a:xfrm>
            </p:grpSpPr>
            <p:sp>
              <p:nvSpPr>
                <p:cNvPr id="62711" name="矩形 83191"/>
                <p:cNvSpPr/>
                <p:nvPr/>
              </p:nvSpPr>
              <p:spPr>
                <a:xfrm>
                  <a:off x="816" y="3339"/>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712" name="组合 83192"/>
                <p:cNvGrpSpPr/>
                <p:nvPr/>
              </p:nvGrpSpPr>
              <p:grpSpPr>
                <a:xfrm>
                  <a:off x="816" y="3339"/>
                  <a:ext cx="274" cy="403"/>
                  <a:chOff x="816" y="3339"/>
                  <a:chExt cx="274" cy="403"/>
                </a:xfrm>
              </p:grpSpPr>
              <p:sp>
                <p:nvSpPr>
                  <p:cNvPr id="62713" name="矩形 83193"/>
                  <p:cNvSpPr/>
                  <p:nvPr/>
                </p:nvSpPr>
                <p:spPr>
                  <a:xfrm>
                    <a:off x="816" y="3339"/>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14" name="矩形 83194"/>
                  <p:cNvSpPr/>
                  <p:nvPr/>
                </p:nvSpPr>
                <p:spPr>
                  <a:xfrm>
                    <a:off x="816"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715" name="组合 83195"/>
              <p:cNvGrpSpPr/>
              <p:nvPr/>
            </p:nvGrpSpPr>
            <p:grpSpPr>
              <a:xfrm>
                <a:off x="1090" y="3339"/>
                <a:ext cx="274" cy="403"/>
                <a:chOff x="1090" y="3339"/>
                <a:chExt cx="274" cy="403"/>
              </a:xfrm>
            </p:grpSpPr>
            <p:sp>
              <p:nvSpPr>
                <p:cNvPr id="62716" name="矩形 83196"/>
                <p:cNvSpPr/>
                <p:nvPr/>
              </p:nvSpPr>
              <p:spPr>
                <a:xfrm>
                  <a:off x="1090"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17" name="矩形 83197"/>
                <p:cNvSpPr/>
                <p:nvPr/>
              </p:nvSpPr>
              <p:spPr>
                <a:xfrm>
                  <a:off x="1090"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18" name="组合 83198"/>
              <p:cNvGrpSpPr/>
              <p:nvPr/>
            </p:nvGrpSpPr>
            <p:grpSpPr>
              <a:xfrm>
                <a:off x="1364" y="3339"/>
                <a:ext cx="274" cy="403"/>
                <a:chOff x="1364" y="3339"/>
                <a:chExt cx="274" cy="403"/>
              </a:xfrm>
            </p:grpSpPr>
            <p:sp>
              <p:nvSpPr>
                <p:cNvPr id="62719" name="矩形 83199"/>
                <p:cNvSpPr/>
                <p:nvPr/>
              </p:nvSpPr>
              <p:spPr>
                <a:xfrm>
                  <a:off x="1364"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20" name="矩形 83200"/>
                <p:cNvSpPr/>
                <p:nvPr/>
              </p:nvSpPr>
              <p:spPr>
                <a:xfrm>
                  <a:off x="1364"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21" name="组合 83201"/>
              <p:cNvGrpSpPr/>
              <p:nvPr/>
            </p:nvGrpSpPr>
            <p:grpSpPr>
              <a:xfrm>
                <a:off x="1638" y="3339"/>
                <a:ext cx="274" cy="403"/>
                <a:chOff x="1638" y="3339"/>
                <a:chExt cx="274" cy="403"/>
              </a:xfrm>
            </p:grpSpPr>
            <p:sp>
              <p:nvSpPr>
                <p:cNvPr id="62722" name="矩形 83202"/>
                <p:cNvSpPr/>
                <p:nvPr/>
              </p:nvSpPr>
              <p:spPr>
                <a:xfrm>
                  <a:off x="1638"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23" name="矩形 83203"/>
                <p:cNvSpPr/>
                <p:nvPr/>
              </p:nvSpPr>
              <p:spPr>
                <a:xfrm>
                  <a:off x="1638"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24" name="组合 83204"/>
              <p:cNvGrpSpPr/>
              <p:nvPr/>
            </p:nvGrpSpPr>
            <p:grpSpPr>
              <a:xfrm>
                <a:off x="1912" y="3339"/>
                <a:ext cx="274" cy="403"/>
                <a:chOff x="1912" y="3339"/>
                <a:chExt cx="274" cy="403"/>
              </a:xfrm>
            </p:grpSpPr>
            <p:sp>
              <p:nvSpPr>
                <p:cNvPr id="62725" name="矩形 83205"/>
                <p:cNvSpPr/>
                <p:nvPr/>
              </p:nvSpPr>
              <p:spPr>
                <a:xfrm>
                  <a:off x="1912"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26" name="矩形 83206"/>
                <p:cNvSpPr/>
                <p:nvPr/>
              </p:nvSpPr>
              <p:spPr>
                <a:xfrm>
                  <a:off x="1912"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27" name="组合 83207"/>
              <p:cNvGrpSpPr/>
              <p:nvPr/>
            </p:nvGrpSpPr>
            <p:grpSpPr>
              <a:xfrm>
                <a:off x="2186" y="3339"/>
                <a:ext cx="274" cy="403"/>
                <a:chOff x="2186" y="3339"/>
                <a:chExt cx="274" cy="403"/>
              </a:xfrm>
            </p:grpSpPr>
            <p:sp>
              <p:nvSpPr>
                <p:cNvPr id="62728" name="矩形 83208"/>
                <p:cNvSpPr/>
                <p:nvPr/>
              </p:nvSpPr>
              <p:spPr>
                <a:xfrm>
                  <a:off x="2186"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29" name="矩形 83209"/>
                <p:cNvSpPr/>
                <p:nvPr/>
              </p:nvSpPr>
              <p:spPr>
                <a:xfrm>
                  <a:off x="2186"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30" name="组合 83210"/>
              <p:cNvGrpSpPr/>
              <p:nvPr/>
            </p:nvGrpSpPr>
            <p:grpSpPr>
              <a:xfrm>
                <a:off x="2460" y="3339"/>
                <a:ext cx="274" cy="403"/>
                <a:chOff x="2460" y="3339"/>
                <a:chExt cx="274" cy="403"/>
              </a:xfrm>
            </p:grpSpPr>
            <p:sp>
              <p:nvSpPr>
                <p:cNvPr id="62731" name="矩形 83211"/>
                <p:cNvSpPr/>
                <p:nvPr/>
              </p:nvSpPr>
              <p:spPr>
                <a:xfrm>
                  <a:off x="2460"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32" name="矩形 83212"/>
                <p:cNvSpPr/>
                <p:nvPr/>
              </p:nvSpPr>
              <p:spPr>
                <a:xfrm>
                  <a:off x="2460"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33" name="组合 83213"/>
              <p:cNvGrpSpPr/>
              <p:nvPr/>
            </p:nvGrpSpPr>
            <p:grpSpPr>
              <a:xfrm>
                <a:off x="2734" y="3339"/>
                <a:ext cx="274" cy="403"/>
                <a:chOff x="2734" y="3339"/>
                <a:chExt cx="274" cy="403"/>
              </a:xfrm>
            </p:grpSpPr>
            <p:sp>
              <p:nvSpPr>
                <p:cNvPr id="62734" name="矩形 83214"/>
                <p:cNvSpPr/>
                <p:nvPr/>
              </p:nvSpPr>
              <p:spPr>
                <a:xfrm>
                  <a:off x="2734"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35" name="矩形 83215"/>
                <p:cNvSpPr/>
                <p:nvPr/>
              </p:nvSpPr>
              <p:spPr>
                <a:xfrm>
                  <a:off x="2734"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36" name="组合 83216"/>
              <p:cNvGrpSpPr/>
              <p:nvPr/>
            </p:nvGrpSpPr>
            <p:grpSpPr>
              <a:xfrm>
                <a:off x="3008" y="3339"/>
                <a:ext cx="274" cy="403"/>
                <a:chOff x="3008" y="3339"/>
                <a:chExt cx="274" cy="403"/>
              </a:xfrm>
            </p:grpSpPr>
            <p:sp>
              <p:nvSpPr>
                <p:cNvPr id="62737" name="矩形 83217"/>
                <p:cNvSpPr/>
                <p:nvPr/>
              </p:nvSpPr>
              <p:spPr>
                <a:xfrm>
                  <a:off x="3008"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38" name="矩形 83218"/>
                <p:cNvSpPr/>
                <p:nvPr/>
              </p:nvSpPr>
              <p:spPr>
                <a:xfrm>
                  <a:off x="3008"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39" name="组合 83219"/>
              <p:cNvGrpSpPr/>
              <p:nvPr/>
            </p:nvGrpSpPr>
            <p:grpSpPr>
              <a:xfrm>
                <a:off x="3282" y="3339"/>
                <a:ext cx="274" cy="403"/>
                <a:chOff x="3282" y="3339"/>
                <a:chExt cx="274" cy="403"/>
              </a:xfrm>
            </p:grpSpPr>
            <p:sp>
              <p:nvSpPr>
                <p:cNvPr id="62740" name="矩形 83220"/>
                <p:cNvSpPr/>
                <p:nvPr/>
              </p:nvSpPr>
              <p:spPr>
                <a:xfrm>
                  <a:off x="3282" y="333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41" name="矩形 83221"/>
                <p:cNvSpPr/>
                <p:nvPr/>
              </p:nvSpPr>
              <p:spPr>
                <a:xfrm>
                  <a:off x="3282" y="333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42" name="组合 83222"/>
              <p:cNvGrpSpPr/>
              <p:nvPr/>
            </p:nvGrpSpPr>
            <p:grpSpPr>
              <a:xfrm>
                <a:off x="816" y="3742"/>
                <a:ext cx="274" cy="403"/>
                <a:chOff x="816" y="3742"/>
                <a:chExt cx="274" cy="403"/>
              </a:xfrm>
            </p:grpSpPr>
            <p:sp>
              <p:nvSpPr>
                <p:cNvPr id="62743" name="矩形 83223"/>
                <p:cNvSpPr/>
                <p:nvPr/>
              </p:nvSpPr>
              <p:spPr>
                <a:xfrm>
                  <a:off x="816" y="3742"/>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744" name="组合 83224"/>
                <p:cNvGrpSpPr/>
                <p:nvPr/>
              </p:nvGrpSpPr>
              <p:grpSpPr>
                <a:xfrm>
                  <a:off x="816" y="3742"/>
                  <a:ext cx="274" cy="403"/>
                  <a:chOff x="816" y="3742"/>
                  <a:chExt cx="274" cy="403"/>
                </a:xfrm>
              </p:grpSpPr>
              <p:sp>
                <p:nvSpPr>
                  <p:cNvPr id="62745" name="矩形 83225"/>
                  <p:cNvSpPr/>
                  <p:nvPr/>
                </p:nvSpPr>
                <p:spPr>
                  <a:xfrm>
                    <a:off x="816" y="3742"/>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46" name="矩形 83226"/>
                  <p:cNvSpPr/>
                  <p:nvPr/>
                </p:nvSpPr>
                <p:spPr>
                  <a:xfrm>
                    <a:off x="816"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747" name="组合 83227"/>
              <p:cNvGrpSpPr/>
              <p:nvPr/>
            </p:nvGrpSpPr>
            <p:grpSpPr>
              <a:xfrm>
                <a:off x="1090" y="3742"/>
                <a:ext cx="274" cy="403"/>
                <a:chOff x="1090" y="3742"/>
                <a:chExt cx="274" cy="403"/>
              </a:xfrm>
            </p:grpSpPr>
            <p:sp>
              <p:nvSpPr>
                <p:cNvPr id="62748" name="矩形 83228"/>
                <p:cNvSpPr/>
                <p:nvPr/>
              </p:nvSpPr>
              <p:spPr>
                <a:xfrm>
                  <a:off x="1090" y="3742"/>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749" name="组合 83229"/>
                <p:cNvGrpSpPr/>
                <p:nvPr/>
              </p:nvGrpSpPr>
              <p:grpSpPr>
                <a:xfrm>
                  <a:off x="1090" y="3742"/>
                  <a:ext cx="274" cy="403"/>
                  <a:chOff x="1090" y="3742"/>
                  <a:chExt cx="274" cy="403"/>
                </a:xfrm>
              </p:grpSpPr>
              <p:sp>
                <p:nvSpPr>
                  <p:cNvPr id="62750" name="矩形 83230"/>
                  <p:cNvSpPr/>
                  <p:nvPr/>
                </p:nvSpPr>
                <p:spPr>
                  <a:xfrm>
                    <a:off x="1090" y="3742"/>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51" name="矩形 83231"/>
                  <p:cNvSpPr/>
                  <p:nvPr/>
                </p:nvSpPr>
                <p:spPr>
                  <a:xfrm>
                    <a:off x="1090"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752" name="组合 83232"/>
              <p:cNvGrpSpPr/>
              <p:nvPr/>
            </p:nvGrpSpPr>
            <p:grpSpPr>
              <a:xfrm>
                <a:off x="1364" y="3742"/>
                <a:ext cx="274" cy="403"/>
                <a:chOff x="1364" y="3742"/>
                <a:chExt cx="274" cy="403"/>
              </a:xfrm>
            </p:grpSpPr>
            <p:sp>
              <p:nvSpPr>
                <p:cNvPr id="62753" name="矩形 83233"/>
                <p:cNvSpPr/>
                <p:nvPr/>
              </p:nvSpPr>
              <p:spPr>
                <a:xfrm>
                  <a:off x="1364" y="3742"/>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754" name="组合 83234"/>
                <p:cNvGrpSpPr/>
                <p:nvPr/>
              </p:nvGrpSpPr>
              <p:grpSpPr>
                <a:xfrm>
                  <a:off x="1364" y="3742"/>
                  <a:ext cx="274" cy="403"/>
                  <a:chOff x="1364" y="3742"/>
                  <a:chExt cx="274" cy="403"/>
                </a:xfrm>
              </p:grpSpPr>
              <p:sp>
                <p:nvSpPr>
                  <p:cNvPr id="62755" name="矩形 83235"/>
                  <p:cNvSpPr/>
                  <p:nvPr/>
                </p:nvSpPr>
                <p:spPr>
                  <a:xfrm>
                    <a:off x="1364" y="3742"/>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56" name="矩形 83236"/>
                  <p:cNvSpPr/>
                  <p:nvPr/>
                </p:nvSpPr>
                <p:spPr>
                  <a:xfrm>
                    <a:off x="1364"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757" name="组合 83237"/>
              <p:cNvGrpSpPr/>
              <p:nvPr/>
            </p:nvGrpSpPr>
            <p:grpSpPr>
              <a:xfrm>
                <a:off x="1638" y="3742"/>
                <a:ext cx="274" cy="403"/>
                <a:chOff x="1638" y="3742"/>
                <a:chExt cx="274" cy="403"/>
              </a:xfrm>
            </p:grpSpPr>
            <p:sp>
              <p:nvSpPr>
                <p:cNvPr id="62758" name="矩形 83238"/>
                <p:cNvSpPr/>
                <p:nvPr/>
              </p:nvSpPr>
              <p:spPr>
                <a:xfrm>
                  <a:off x="1638" y="374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59" name="矩形 83239"/>
                <p:cNvSpPr/>
                <p:nvPr/>
              </p:nvSpPr>
              <p:spPr>
                <a:xfrm>
                  <a:off x="1638"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60" name="组合 83240"/>
              <p:cNvGrpSpPr/>
              <p:nvPr/>
            </p:nvGrpSpPr>
            <p:grpSpPr>
              <a:xfrm>
                <a:off x="1912" y="3742"/>
                <a:ext cx="274" cy="403"/>
                <a:chOff x="1912" y="3742"/>
                <a:chExt cx="274" cy="403"/>
              </a:xfrm>
            </p:grpSpPr>
            <p:sp>
              <p:nvSpPr>
                <p:cNvPr id="62761" name="矩形 83241"/>
                <p:cNvSpPr/>
                <p:nvPr/>
              </p:nvSpPr>
              <p:spPr>
                <a:xfrm>
                  <a:off x="1912" y="374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62" name="矩形 83242"/>
                <p:cNvSpPr/>
                <p:nvPr/>
              </p:nvSpPr>
              <p:spPr>
                <a:xfrm>
                  <a:off x="1912"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63" name="组合 83243"/>
              <p:cNvGrpSpPr/>
              <p:nvPr/>
            </p:nvGrpSpPr>
            <p:grpSpPr>
              <a:xfrm>
                <a:off x="2186" y="3742"/>
                <a:ext cx="274" cy="403"/>
                <a:chOff x="2186" y="3742"/>
                <a:chExt cx="274" cy="403"/>
              </a:xfrm>
            </p:grpSpPr>
            <p:sp>
              <p:nvSpPr>
                <p:cNvPr id="62764" name="矩形 83244"/>
                <p:cNvSpPr/>
                <p:nvPr/>
              </p:nvSpPr>
              <p:spPr>
                <a:xfrm>
                  <a:off x="2186" y="374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65" name="矩形 83245"/>
                <p:cNvSpPr/>
                <p:nvPr/>
              </p:nvSpPr>
              <p:spPr>
                <a:xfrm>
                  <a:off x="2186"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66" name="组合 83246"/>
              <p:cNvGrpSpPr/>
              <p:nvPr/>
            </p:nvGrpSpPr>
            <p:grpSpPr>
              <a:xfrm>
                <a:off x="2460" y="3742"/>
                <a:ext cx="274" cy="403"/>
                <a:chOff x="2460" y="3742"/>
                <a:chExt cx="274" cy="403"/>
              </a:xfrm>
            </p:grpSpPr>
            <p:sp>
              <p:nvSpPr>
                <p:cNvPr id="62767" name="矩形 83247"/>
                <p:cNvSpPr/>
                <p:nvPr/>
              </p:nvSpPr>
              <p:spPr>
                <a:xfrm>
                  <a:off x="2460" y="374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68" name="矩形 83248"/>
                <p:cNvSpPr/>
                <p:nvPr/>
              </p:nvSpPr>
              <p:spPr>
                <a:xfrm>
                  <a:off x="2460"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69" name="组合 83249"/>
              <p:cNvGrpSpPr/>
              <p:nvPr/>
            </p:nvGrpSpPr>
            <p:grpSpPr>
              <a:xfrm>
                <a:off x="2734" y="3742"/>
                <a:ext cx="274" cy="403"/>
                <a:chOff x="2734" y="3742"/>
                <a:chExt cx="274" cy="403"/>
              </a:xfrm>
            </p:grpSpPr>
            <p:sp>
              <p:nvSpPr>
                <p:cNvPr id="62770" name="矩形 83250"/>
                <p:cNvSpPr/>
                <p:nvPr/>
              </p:nvSpPr>
              <p:spPr>
                <a:xfrm>
                  <a:off x="2734" y="374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71" name="矩形 83251"/>
                <p:cNvSpPr/>
                <p:nvPr/>
              </p:nvSpPr>
              <p:spPr>
                <a:xfrm>
                  <a:off x="2734"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72" name="组合 83252"/>
              <p:cNvGrpSpPr/>
              <p:nvPr/>
            </p:nvGrpSpPr>
            <p:grpSpPr>
              <a:xfrm>
                <a:off x="3008" y="3742"/>
                <a:ext cx="274" cy="403"/>
                <a:chOff x="3008" y="3742"/>
                <a:chExt cx="274" cy="403"/>
              </a:xfrm>
            </p:grpSpPr>
            <p:sp>
              <p:nvSpPr>
                <p:cNvPr id="62773" name="矩形 83253"/>
                <p:cNvSpPr/>
                <p:nvPr/>
              </p:nvSpPr>
              <p:spPr>
                <a:xfrm>
                  <a:off x="3008" y="374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74" name="矩形 83254"/>
                <p:cNvSpPr/>
                <p:nvPr/>
              </p:nvSpPr>
              <p:spPr>
                <a:xfrm>
                  <a:off x="3008"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75" name="组合 83255"/>
              <p:cNvGrpSpPr/>
              <p:nvPr/>
            </p:nvGrpSpPr>
            <p:grpSpPr>
              <a:xfrm>
                <a:off x="3282" y="3742"/>
                <a:ext cx="274" cy="403"/>
                <a:chOff x="3282" y="3742"/>
                <a:chExt cx="274" cy="403"/>
              </a:xfrm>
            </p:grpSpPr>
            <p:sp>
              <p:nvSpPr>
                <p:cNvPr id="62776" name="矩形 83256"/>
                <p:cNvSpPr/>
                <p:nvPr/>
              </p:nvSpPr>
              <p:spPr>
                <a:xfrm>
                  <a:off x="3282" y="3742"/>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777" name="矩形 83257"/>
                <p:cNvSpPr/>
                <p:nvPr/>
              </p:nvSpPr>
              <p:spPr>
                <a:xfrm>
                  <a:off x="3282" y="3742"/>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78" name="组合 83258"/>
              <p:cNvGrpSpPr/>
              <p:nvPr/>
            </p:nvGrpSpPr>
            <p:grpSpPr>
              <a:xfrm>
                <a:off x="816" y="4145"/>
                <a:ext cx="274" cy="518"/>
                <a:chOff x="816" y="4145"/>
                <a:chExt cx="274" cy="518"/>
              </a:xfrm>
            </p:grpSpPr>
            <p:sp>
              <p:nvSpPr>
                <p:cNvPr id="62779" name="矩形 83259"/>
                <p:cNvSpPr/>
                <p:nvPr/>
              </p:nvSpPr>
              <p:spPr>
                <a:xfrm>
                  <a:off x="816"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80" name="矩形 83260"/>
                <p:cNvSpPr/>
                <p:nvPr/>
              </p:nvSpPr>
              <p:spPr>
                <a:xfrm>
                  <a:off x="816"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81" name="组合 83261"/>
              <p:cNvGrpSpPr/>
              <p:nvPr/>
            </p:nvGrpSpPr>
            <p:grpSpPr>
              <a:xfrm>
                <a:off x="1090" y="4145"/>
                <a:ext cx="274" cy="518"/>
                <a:chOff x="1090" y="4145"/>
                <a:chExt cx="274" cy="518"/>
              </a:xfrm>
            </p:grpSpPr>
            <p:sp>
              <p:nvSpPr>
                <p:cNvPr id="62782" name="矩形 83262"/>
                <p:cNvSpPr/>
                <p:nvPr/>
              </p:nvSpPr>
              <p:spPr>
                <a:xfrm>
                  <a:off x="1090"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83" name="矩形 83263"/>
                <p:cNvSpPr/>
                <p:nvPr/>
              </p:nvSpPr>
              <p:spPr>
                <a:xfrm>
                  <a:off x="1090"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84" name="组合 83264"/>
              <p:cNvGrpSpPr/>
              <p:nvPr/>
            </p:nvGrpSpPr>
            <p:grpSpPr>
              <a:xfrm>
                <a:off x="1364" y="4145"/>
                <a:ext cx="274" cy="518"/>
                <a:chOff x="1364" y="4145"/>
                <a:chExt cx="274" cy="518"/>
              </a:xfrm>
            </p:grpSpPr>
            <p:sp>
              <p:nvSpPr>
                <p:cNvPr id="62785" name="矩形 83265"/>
                <p:cNvSpPr/>
                <p:nvPr/>
              </p:nvSpPr>
              <p:spPr>
                <a:xfrm>
                  <a:off x="1364"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86" name="矩形 83266"/>
                <p:cNvSpPr/>
                <p:nvPr/>
              </p:nvSpPr>
              <p:spPr>
                <a:xfrm>
                  <a:off x="1364"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87" name="组合 83267"/>
              <p:cNvGrpSpPr/>
              <p:nvPr/>
            </p:nvGrpSpPr>
            <p:grpSpPr>
              <a:xfrm>
                <a:off x="1638" y="4145"/>
                <a:ext cx="274" cy="518"/>
                <a:chOff x="1638" y="4145"/>
                <a:chExt cx="274" cy="518"/>
              </a:xfrm>
            </p:grpSpPr>
            <p:sp>
              <p:nvSpPr>
                <p:cNvPr id="62788" name="矩形 83268"/>
                <p:cNvSpPr/>
                <p:nvPr/>
              </p:nvSpPr>
              <p:spPr>
                <a:xfrm>
                  <a:off x="1638"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89" name="矩形 83269"/>
                <p:cNvSpPr/>
                <p:nvPr/>
              </p:nvSpPr>
              <p:spPr>
                <a:xfrm>
                  <a:off x="1638"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90" name="组合 83270"/>
              <p:cNvGrpSpPr/>
              <p:nvPr/>
            </p:nvGrpSpPr>
            <p:grpSpPr>
              <a:xfrm>
                <a:off x="1912" y="4145"/>
                <a:ext cx="274" cy="518"/>
                <a:chOff x="1912" y="4145"/>
                <a:chExt cx="274" cy="518"/>
              </a:xfrm>
            </p:grpSpPr>
            <p:sp>
              <p:nvSpPr>
                <p:cNvPr id="62791" name="矩形 83271"/>
                <p:cNvSpPr/>
                <p:nvPr/>
              </p:nvSpPr>
              <p:spPr>
                <a:xfrm>
                  <a:off x="1912"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92" name="矩形 83272"/>
                <p:cNvSpPr/>
                <p:nvPr/>
              </p:nvSpPr>
              <p:spPr>
                <a:xfrm>
                  <a:off x="1912"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93" name="组合 83273"/>
              <p:cNvGrpSpPr/>
              <p:nvPr/>
            </p:nvGrpSpPr>
            <p:grpSpPr>
              <a:xfrm>
                <a:off x="2186" y="4145"/>
                <a:ext cx="274" cy="518"/>
                <a:chOff x="2186" y="4145"/>
                <a:chExt cx="274" cy="518"/>
              </a:xfrm>
            </p:grpSpPr>
            <p:sp>
              <p:nvSpPr>
                <p:cNvPr id="62794" name="矩形 83274"/>
                <p:cNvSpPr/>
                <p:nvPr/>
              </p:nvSpPr>
              <p:spPr>
                <a:xfrm>
                  <a:off x="2186"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95" name="矩形 83275"/>
                <p:cNvSpPr/>
                <p:nvPr/>
              </p:nvSpPr>
              <p:spPr>
                <a:xfrm>
                  <a:off x="2186"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96" name="组合 83276"/>
              <p:cNvGrpSpPr/>
              <p:nvPr/>
            </p:nvGrpSpPr>
            <p:grpSpPr>
              <a:xfrm>
                <a:off x="2460" y="4145"/>
                <a:ext cx="274" cy="518"/>
                <a:chOff x="2460" y="4145"/>
                <a:chExt cx="274" cy="518"/>
              </a:xfrm>
            </p:grpSpPr>
            <p:sp>
              <p:nvSpPr>
                <p:cNvPr id="62797" name="矩形 83277"/>
                <p:cNvSpPr/>
                <p:nvPr/>
              </p:nvSpPr>
              <p:spPr>
                <a:xfrm>
                  <a:off x="2460"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798" name="矩形 83278"/>
                <p:cNvSpPr/>
                <p:nvPr/>
              </p:nvSpPr>
              <p:spPr>
                <a:xfrm>
                  <a:off x="2460"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799" name="组合 83279"/>
              <p:cNvGrpSpPr/>
              <p:nvPr/>
            </p:nvGrpSpPr>
            <p:grpSpPr>
              <a:xfrm>
                <a:off x="2734" y="4145"/>
                <a:ext cx="274" cy="518"/>
                <a:chOff x="2734" y="4145"/>
                <a:chExt cx="274" cy="518"/>
              </a:xfrm>
            </p:grpSpPr>
            <p:sp>
              <p:nvSpPr>
                <p:cNvPr id="62800" name="矩形 83280"/>
                <p:cNvSpPr/>
                <p:nvPr/>
              </p:nvSpPr>
              <p:spPr>
                <a:xfrm>
                  <a:off x="2734"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801" name="矩形 83281"/>
                <p:cNvSpPr/>
                <p:nvPr/>
              </p:nvSpPr>
              <p:spPr>
                <a:xfrm>
                  <a:off x="2734"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02" name="组合 83282"/>
              <p:cNvGrpSpPr/>
              <p:nvPr/>
            </p:nvGrpSpPr>
            <p:grpSpPr>
              <a:xfrm>
                <a:off x="3008" y="4145"/>
                <a:ext cx="274" cy="518"/>
                <a:chOff x="3008" y="4145"/>
                <a:chExt cx="274" cy="518"/>
              </a:xfrm>
            </p:grpSpPr>
            <p:sp>
              <p:nvSpPr>
                <p:cNvPr id="62803" name="矩形 83283"/>
                <p:cNvSpPr/>
                <p:nvPr/>
              </p:nvSpPr>
              <p:spPr>
                <a:xfrm>
                  <a:off x="3008"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804" name="矩形 83284"/>
                <p:cNvSpPr/>
                <p:nvPr/>
              </p:nvSpPr>
              <p:spPr>
                <a:xfrm>
                  <a:off x="3008"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05" name="组合 83285"/>
              <p:cNvGrpSpPr/>
              <p:nvPr/>
            </p:nvGrpSpPr>
            <p:grpSpPr>
              <a:xfrm>
                <a:off x="3282" y="4145"/>
                <a:ext cx="274" cy="518"/>
                <a:chOff x="3282" y="4145"/>
                <a:chExt cx="274" cy="518"/>
              </a:xfrm>
            </p:grpSpPr>
            <p:sp>
              <p:nvSpPr>
                <p:cNvPr id="62806" name="矩形 83286"/>
                <p:cNvSpPr/>
                <p:nvPr/>
              </p:nvSpPr>
              <p:spPr>
                <a:xfrm>
                  <a:off x="3282" y="4145"/>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807" name="矩形 83287"/>
                <p:cNvSpPr/>
                <p:nvPr/>
              </p:nvSpPr>
              <p:spPr>
                <a:xfrm>
                  <a:off x="3282" y="4145"/>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08" name="组合 83288"/>
              <p:cNvGrpSpPr/>
              <p:nvPr/>
            </p:nvGrpSpPr>
            <p:grpSpPr>
              <a:xfrm>
                <a:off x="0" y="4663"/>
                <a:ext cx="816" cy="1727"/>
                <a:chOff x="0" y="4663"/>
                <a:chExt cx="816" cy="1727"/>
              </a:xfrm>
            </p:grpSpPr>
            <p:sp>
              <p:nvSpPr>
                <p:cNvPr id="62809" name="矩形 83289"/>
                <p:cNvSpPr/>
                <p:nvPr/>
              </p:nvSpPr>
              <p:spPr>
                <a:xfrm>
                  <a:off x="0" y="4663"/>
                  <a:ext cx="816" cy="1727"/>
                </a:xfrm>
                <a:prstGeom prst="rect">
                  <a:avLst/>
                </a:prstGeom>
                <a:noFill/>
                <a:ln w="9525">
                  <a:noFill/>
                </a:ln>
              </p:spPr>
              <p:txBody>
                <a:bodyPr anchor="t" anchorCtr="0"/>
                <a:lstStyle/>
                <a:p>
                  <a:pPr algn="ctr"/>
                  <a:r>
                    <a:rPr lang="zh-CN" altLang="en-US" sz="900" dirty="0">
                      <a:latin typeface="Times New Roman" panose="02020603050405020304" pitchFamily="18" charset="0"/>
                    </a:rPr>
                    <a:t>最优替换算法</a:t>
                  </a:r>
                  <a:endParaRPr lang="zh-CN" altLang="en-US" sz="900" dirty="0">
                    <a:latin typeface="Times New Roman" panose="02020603050405020304" pitchFamily="18" charset="0"/>
                  </a:endParaRPr>
                </a:p>
                <a:p>
                  <a:pPr algn="ctr" eaLnBrk="0" hangingPunct="0"/>
                  <a:r>
                    <a:rPr lang="zh-CN" altLang="en-US" sz="900" dirty="0">
                      <a:latin typeface="Times New Roman" panose="02020603050405020304" pitchFamily="18" charset="0"/>
                    </a:rPr>
                    <a:t>（</a:t>
                  </a:r>
                  <a:r>
                    <a:rPr lang="en-US" altLang="zh-CN" sz="900" dirty="0">
                      <a:latin typeface="Times New Roman" panose="02020603050405020304" pitchFamily="18" charset="0"/>
                    </a:rPr>
                    <a:t>OPT</a:t>
                  </a:r>
                  <a:r>
                    <a:rPr lang="zh-CN" altLang="en-US" sz="900" dirty="0">
                      <a:latin typeface="Times New Roman" panose="02020603050405020304" pitchFamily="18" charset="0"/>
                    </a:rPr>
                    <a:t>算法）</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810" name="矩形 83290"/>
                <p:cNvSpPr/>
                <p:nvPr/>
              </p:nvSpPr>
              <p:spPr>
                <a:xfrm>
                  <a:off x="0" y="4663"/>
                  <a:ext cx="816" cy="1727"/>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11" name="组合 83291"/>
              <p:cNvGrpSpPr/>
              <p:nvPr/>
            </p:nvGrpSpPr>
            <p:grpSpPr>
              <a:xfrm>
                <a:off x="816" y="4663"/>
                <a:ext cx="274" cy="403"/>
                <a:chOff x="816" y="4663"/>
                <a:chExt cx="274" cy="403"/>
              </a:xfrm>
            </p:grpSpPr>
            <p:sp>
              <p:nvSpPr>
                <p:cNvPr id="62812" name="矩形 83292"/>
                <p:cNvSpPr/>
                <p:nvPr/>
              </p:nvSpPr>
              <p:spPr>
                <a:xfrm>
                  <a:off x="816"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13" name="矩形 83293"/>
                <p:cNvSpPr/>
                <p:nvPr/>
              </p:nvSpPr>
              <p:spPr>
                <a:xfrm>
                  <a:off x="816"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14" name="组合 83294"/>
              <p:cNvGrpSpPr/>
              <p:nvPr/>
            </p:nvGrpSpPr>
            <p:grpSpPr>
              <a:xfrm>
                <a:off x="1090" y="4663"/>
                <a:ext cx="274" cy="403"/>
                <a:chOff x="1090" y="4663"/>
                <a:chExt cx="274" cy="403"/>
              </a:xfrm>
            </p:grpSpPr>
            <p:sp>
              <p:nvSpPr>
                <p:cNvPr id="62815" name="矩形 83295"/>
                <p:cNvSpPr/>
                <p:nvPr/>
              </p:nvSpPr>
              <p:spPr>
                <a:xfrm>
                  <a:off x="1090"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16" name="矩形 83296"/>
                <p:cNvSpPr/>
                <p:nvPr/>
              </p:nvSpPr>
              <p:spPr>
                <a:xfrm>
                  <a:off x="1090"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17" name="组合 83297"/>
              <p:cNvGrpSpPr/>
              <p:nvPr/>
            </p:nvGrpSpPr>
            <p:grpSpPr>
              <a:xfrm>
                <a:off x="1364" y="4663"/>
                <a:ext cx="274" cy="403"/>
                <a:chOff x="1364" y="4663"/>
                <a:chExt cx="274" cy="403"/>
              </a:xfrm>
            </p:grpSpPr>
            <p:sp>
              <p:nvSpPr>
                <p:cNvPr id="62818" name="矩形 83298"/>
                <p:cNvSpPr/>
                <p:nvPr/>
              </p:nvSpPr>
              <p:spPr>
                <a:xfrm>
                  <a:off x="1364"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19" name="矩形 83299"/>
                <p:cNvSpPr/>
                <p:nvPr/>
              </p:nvSpPr>
              <p:spPr>
                <a:xfrm>
                  <a:off x="1364"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20" name="组合 83300"/>
              <p:cNvGrpSpPr/>
              <p:nvPr/>
            </p:nvGrpSpPr>
            <p:grpSpPr>
              <a:xfrm>
                <a:off x="1638" y="4663"/>
                <a:ext cx="274" cy="403"/>
                <a:chOff x="1638" y="4663"/>
                <a:chExt cx="274" cy="403"/>
              </a:xfrm>
            </p:grpSpPr>
            <p:sp>
              <p:nvSpPr>
                <p:cNvPr id="62821" name="矩形 83301"/>
                <p:cNvSpPr/>
                <p:nvPr/>
              </p:nvSpPr>
              <p:spPr>
                <a:xfrm>
                  <a:off x="1638"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22" name="矩形 83302"/>
                <p:cNvSpPr/>
                <p:nvPr/>
              </p:nvSpPr>
              <p:spPr>
                <a:xfrm>
                  <a:off x="1638"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23" name="组合 83303"/>
              <p:cNvGrpSpPr/>
              <p:nvPr/>
            </p:nvGrpSpPr>
            <p:grpSpPr>
              <a:xfrm>
                <a:off x="1912" y="4663"/>
                <a:ext cx="274" cy="403"/>
                <a:chOff x="1912" y="4663"/>
                <a:chExt cx="274" cy="403"/>
              </a:xfrm>
            </p:grpSpPr>
            <p:sp>
              <p:nvSpPr>
                <p:cNvPr id="62824" name="矩形 83304"/>
                <p:cNvSpPr/>
                <p:nvPr/>
              </p:nvSpPr>
              <p:spPr>
                <a:xfrm>
                  <a:off x="1912"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25" name="矩形 83305"/>
                <p:cNvSpPr/>
                <p:nvPr/>
              </p:nvSpPr>
              <p:spPr>
                <a:xfrm>
                  <a:off x="1912"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26" name="组合 83306"/>
              <p:cNvGrpSpPr/>
              <p:nvPr/>
            </p:nvGrpSpPr>
            <p:grpSpPr>
              <a:xfrm>
                <a:off x="2186" y="4663"/>
                <a:ext cx="274" cy="403"/>
                <a:chOff x="2186" y="4663"/>
                <a:chExt cx="274" cy="403"/>
              </a:xfrm>
            </p:grpSpPr>
            <p:sp>
              <p:nvSpPr>
                <p:cNvPr id="62827" name="矩形 83307"/>
                <p:cNvSpPr/>
                <p:nvPr/>
              </p:nvSpPr>
              <p:spPr>
                <a:xfrm>
                  <a:off x="2186"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1*</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28" name="矩形 83308"/>
                <p:cNvSpPr/>
                <p:nvPr/>
              </p:nvSpPr>
              <p:spPr>
                <a:xfrm>
                  <a:off x="2186"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29" name="组合 83309"/>
              <p:cNvGrpSpPr/>
              <p:nvPr/>
            </p:nvGrpSpPr>
            <p:grpSpPr>
              <a:xfrm>
                <a:off x="2460" y="4663"/>
                <a:ext cx="274" cy="403"/>
                <a:chOff x="2460" y="4663"/>
                <a:chExt cx="274" cy="403"/>
              </a:xfrm>
            </p:grpSpPr>
            <p:sp>
              <p:nvSpPr>
                <p:cNvPr id="62830" name="矩形 83310"/>
                <p:cNvSpPr/>
                <p:nvPr/>
              </p:nvSpPr>
              <p:spPr>
                <a:xfrm>
                  <a:off x="2460"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31" name="矩形 83311"/>
                <p:cNvSpPr/>
                <p:nvPr/>
              </p:nvSpPr>
              <p:spPr>
                <a:xfrm>
                  <a:off x="2460"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32" name="组合 83312"/>
              <p:cNvGrpSpPr/>
              <p:nvPr/>
            </p:nvGrpSpPr>
            <p:grpSpPr>
              <a:xfrm>
                <a:off x="2734" y="4663"/>
                <a:ext cx="274" cy="403"/>
                <a:chOff x="2734" y="4663"/>
                <a:chExt cx="274" cy="403"/>
              </a:xfrm>
            </p:grpSpPr>
            <p:sp>
              <p:nvSpPr>
                <p:cNvPr id="62833" name="矩形 83313"/>
                <p:cNvSpPr/>
                <p:nvPr/>
              </p:nvSpPr>
              <p:spPr>
                <a:xfrm>
                  <a:off x="2734"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34" name="矩形 83314"/>
                <p:cNvSpPr/>
                <p:nvPr/>
              </p:nvSpPr>
              <p:spPr>
                <a:xfrm>
                  <a:off x="2734"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35" name="组合 83315"/>
              <p:cNvGrpSpPr/>
              <p:nvPr/>
            </p:nvGrpSpPr>
            <p:grpSpPr>
              <a:xfrm>
                <a:off x="3008" y="4663"/>
                <a:ext cx="274" cy="403"/>
                <a:chOff x="3008" y="4663"/>
                <a:chExt cx="274" cy="403"/>
              </a:xfrm>
            </p:grpSpPr>
            <p:sp>
              <p:nvSpPr>
                <p:cNvPr id="62836" name="矩形 83316"/>
                <p:cNvSpPr/>
                <p:nvPr/>
              </p:nvSpPr>
              <p:spPr>
                <a:xfrm>
                  <a:off x="3008"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37" name="矩形 83317"/>
                <p:cNvSpPr/>
                <p:nvPr/>
              </p:nvSpPr>
              <p:spPr>
                <a:xfrm>
                  <a:off x="3008"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38" name="组合 83318"/>
              <p:cNvGrpSpPr/>
              <p:nvPr/>
            </p:nvGrpSpPr>
            <p:grpSpPr>
              <a:xfrm>
                <a:off x="3282" y="4663"/>
                <a:ext cx="274" cy="403"/>
                <a:chOff x="3282" y="4663"/>
                <a:chExt cx="274" cy="403"/>
              </a:xfrm>
            </p:grpSpPr>
            <p:sp>
              <p:nvSpPr>
                <p:cNvPr id="62839" name="矩形 83319"/>
                <p:cNvSpPr/>
                <p:nvPr/>
              </p:nvSpPr>
              <p:spPr>
                <a:xfrm>
                  <a:off x="3282" y="4663"/>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3</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40" name="矩形 83320"/>
                <p:cNvSpPr/>
                <p:nvPr/>
              </p:nvSpPr>
              <p:spPr>
                <a:xfrm>
                  <a:off x="3282" y="4663"/>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41" name="组合 83321"/>
              <p:cNvGrpSpPr/>
              <p:nvPr/>
            </p:nvGrpSpPr>
            <p:grpSpPr>
              <a:xfrm>
                <a:off x="3556" y="4663"/>
                <a:ext cx="547" cy="1727"/>
                <a:chOff x="3556" y="4663"/>
                <a:chExt cx="547" cy="1727"/>
              </a:xfrm>
            </p:grpSpPr>
            <p:sp>
              <p:nvSpPr>
                <p:cNvPr id="62842" name="矩形 83322"/>
                <p:cNvSpPr/>
                <p:nvPr/>
              </p:nvSpPr>
              <p:spPr>
                <a:xfrm>
                  <a:off x="3556" y="4663"/>
                  <a:ext cx="547" cy="1727"/>
                </a:xfrm>
                <a:prstGeom prst="rect">
                  <a:avLst/>
                </a:prstGeom>
                <a:noFill/>
                <a:ln w="9525">
                  <a:noFill/>
                </a:ln>
              </p:spPr>
              <p:txBody>
                <a:bodyPr anchor="t" anchorCtr="0"/>
                <a:lstStyle/>
                <a:p>
                  <a:pPr algn="ctr"/>
                  <a:r>
                    <a:rPr lang="en-US" altLang="zh-CN" sz="900" dirty="0">
                      <a:latin typeface="Times New Roman" panose="02020603050405020304" pitchFamily="18" charset="0"/>
                    </a:rPr>
                    <a:t>5</a:t>
                  </a:r>
                  <a:r>
                    <a:rPr lang="zh-CN" altLang="en-US" sz="900" dirty="0">
                      <a:latin typeface="Times New Roman" panose="02020603050405020304" pitchFamily="18" charset="0"/>
                    </a:rPr>
                    <a:t>次</a:t>
                  </a:r>
                  <a:endParaRPr lang="zh-CN" altLang="en-US" sz="900" dirty="0">
                    <a:latin typeface="Times New Roman" panose="02020603050405020304" pitchFamily="18" charset="0"/>
                  </a:endParaRPr>
                </a:p>
                <a:p>
                  <a:pPr algn="ctr"/>
                  <a:r>
                    <a:rPr lang="zh-CN" altLang="en-US" sz="900" dirty="0">
                      <a:solidFill>
                        <a:srgbClr val="FF0000"/>
                      </a:solidFill>
                      <a:latin typeface="Times New Roman" panose="02020603050405020304" pitchFamily="18" charset="0"/>
                      <a:sym typeface="+mn-ea"/>
                    </a:rPr>
                    <a:t>缺页</a:t>
                  </a:r>
                  <a:r>
                    <a:rPr lang="en-US" altLang="zh-CN" sz="900" dirty="0">
                      <a:solidFill>
                        <a:srgbClr val="FF0000"/>
                      </a:solidFill>
                      <a:latin typeface="Times New Roman" panose="02020603050405020304" pitchFamily="18" charset="0"/>
                      <a:sym typeface="+mn-ea"/>
                    </a:rPr>
                    <a:t>5</a:t>
                  </a:r>
                  <a:r>
                    <a:rPr lang="zh-CN" altLang="en-US" sz="900" dirty="0">
                      <a:solidFill>
                        <a:srgbClr val="FF0000"/>
                      </a:solidFill>
                      <a:latin typeface="Times New Roman" panose="02020603050405020304" pitchFamily="18" charset="0"/>
                      <a:sym typeface="+mn-ea"/>
                    </a:rPr>
                    <a:t>次</a:t>
                  </a:r>
                  <a:endParaRPr lang="zh-CN" altLang="en-US" sz="900" dirty="0">
                    <a:solidFill>
                      <a:srgbClr val="FF0000"/>
                    </a:solidFill>
                    <a:latin typeface="Times New Roman" panose="02020603050405020304" pitchFamily="18" charset="0"/>
                  </a:endParaRPr>
                </a:p>
                <a:p>
                  <a:pPr algn="ctr" eaLnBrk="0" hangingPunct="0"/>
                  <a:endParaRPr lang="zh-CN" altLang="en-US" sz="900" dirty="0">
                    <a:solidFill>
                      <a:srgbClr val="FF0000"/>
                    </a:solidFill>
                    <a:latin typeface="Times New Roman" panose="02020603050405020304" pitchFamily="18" charset="0"/>
                  </a:endParaRPr>
                </a:p>
                <a:p>
                  <a:pPr algn="ct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843" name="矩形 83323"/>
                <p:cNvSpPr/>
                <p:nvPr/>
              </p:nvSpPr>
              <p:spPr>
                <a:xfrm>
                  <a:off x="3556" y="4663"/>
                  <a:ext cx="547" cy="1727"/>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44" name="组合 83324"/>
              <p:cNvGrpSpPr/>
              <p:nvPr/>
            </p:nvGrpSpPr>
            <p:grpSpPr>
              <a:xfrm>
                <a:off x="816" y="5066"/>
                <a:ext cx="274" cy="403"/>
                <a:chOff x="816" y="5066"/>
                <a:chExt cx="274" cy="403"/>
              </a:xfrm>
            </p:grpSpPr>
            <p:sp>
              <p:nvSpPr>
                <p:cNvPr id="62845" name="矩形 83325"/>
                <p:cNvSpPr/>
                <p:nvPr/>
              </p:nvSpPr>
              <p:spPr>
                <a:xfrm>
                  <a:off x="816" y="5066"/>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846" name="组合 83326"/>
                <p:cNvGrpSpPr/>
                <p:nvPr/>
              </p:nvGrpSpPr>
              <p:grpSpPr>
                <a:xfrm>
                  <a:off x="816" y="5066"/>
                  <a:ext cx="274" cy="403"/>
                  <a:chOff x="816" y="5066"/>
                  <a:chExt cx="274" cy="403"/>
                </a:xfrm>
              </p:grpSpPr>
              <p:sp>
                <p:nvSpPr>
                  <p:cNvPr id="62847" name="矩形 83327"/>
                  <p:cNvSpPr/>
                  <p:nvPr/>
                </p:nvSpPr>
                <p:spPr>
                  <a:xfrm>
                    <a:off x="816" y="5066"/>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48" name="矩形 83328"/>
                  <p:cNvSpPr/>
                  <p:nvPr/>
                </p:nvSpPr>
                <p:spPr>
                  <a:xfrm>
                    <a:off x="816"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849" name="组合 83329"/>
              <p:cNvGrpSpPr/>
              <p:nvPr/>
            </p:nvGrpSpPr>
            <p:grpSpPr>
              <a:xfrm>
                <a:off x="1090" y="5066"/>
                <a:ext cx="274" cy="403"/>
                <a:chOff x="1090" y="5066"/>
                <a:chExt cx="274" cy="403"/>
              </a:xfrm>
            </p:grpSpPr>
            <p:sp>
              <p:nvSpPr>
                <p:cNvPr id="62850" name="矩形 83330"/>
                <p:cNvSpPr/>
                <p:nvPr/>
              </p:nvSpPr>
              <p:spPr>
                <a:xfrm>
                  <a:off x="1090"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51" name="矩形 83331"/>
                <p:cNvSpPr/>
                <p:nvPr/>
              </p:nvSpPr>
              <p:spPr>
                <a:xfrm>
                  <a:off x="1090"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52" name="组合 83332"/>
              <p:cNvGrpSpPr/>
              <p:nvPr/>
            </p:nvGrpSpPr>
            <p:grpSpPr>
              <a:xfrm>
                <a:off x="1364" y="5066"/>
                <a:ext cx="274" cy="403"/>
                <a:chOff x="1364" y="5066"/>
                <a:chExt cx="274" cy="403"/>
              </a:xfrm>
            </p:grpSpPr>
            <p:sp>
              <p:nvSpPr>
                <p:cNvPr id="62853" name="矩形 83333"/>
                <p:cNvSpPr/>
                <p:nvPr/>
              </p:nvSpPr>
              <p:spPr>
                <a:xfrm>
                  <a:off x="1364"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54" name="矩形 83334"/>
                <p:cNvSpPr/>
                <p:nvPr/>
              </p:nvSpPr>
              <p:spPr>
                <a:xfrm>
                  <a:off x="1364"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55" name="组合 83335"/>
              <p:cNvGrpSpPr/>
              <p:nvPr/>
            </p:nvGrpSpPr>
            <p:grpSpPr>
              <a:xfrm>
                <a:off x="1638" y="5066"/>
                <a:ext cx="274" cy="403"/>
                <a:chOff x="1638" y="5066"/>
                <a:chExt cx="274" cy="403"/>
              </a:xfrm>
            </p:grpSpPr>
            <p:sp>
              <p:nvSpPr>
                <p:cNvPr id="62856" name="矩形 83336"/>
                <p:cNvSpPr/>
                <p:nvPr/>
              </p:nvSpPr>
              <p:spPr>
                <a:xfrm>
                  <a:off x="1638"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57" name="矩形 83337"/>
                <p:cNvSpPr/>
                <p:nvPr/>
              </p:nvSpPr>
              <p:spPr>
                <a:xfrm>
                  <a:off x="1638"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58" name="组合 83338"/>
              <p:cNvGrpSpPr/>
              <p:nvPr/>
            </p:nvGrpSpPr>
            <p:grpSpPr>
              <a:xfrm>
                <a:off x="1912" y="5066"/>
                <a:ext cx="274" cy="403"/>
                <a:chOff x="1912" y="5066"/>
                <a:chExt cx="274" cy="403"/>
              </a:xfrm>
            </p:grpSpPr>
            <p:sp>
              <p:nvSpPr>
                <p:cNvPr id="62859" name="矩形 83339"/>
                <p:cNvSpPr/>
                <p:nvPr/>
              </p:nvSpPr>
              <p:spPr>
                <a:xfrm>
                  <a:off x="1912"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60" name="矩形 83340"/>
                <p:cNvSpPr/>
                <p:nvPr/>
              </p:nvSpPr>
              <p:spPr>
                <a:xfrm>
                  <a:off x="1912"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61" name="组合 83341"/>
              <p:cNvGrpSpPr/>
              <p:nvPr/>
            </p:nvGrpSpPr>
            <p:grpSpPr>
              <a:xfrm>
                <a:off x="2186" y="5066"/>
                <a:ext cx="274" cy="403"/>
                <a:chOff x="2186" y="5066"/>
                <a:chExt cx="274" cy="403"/>
              </a:xfrm>
            </p:grpSpPr>
            <p:sp>
              <p:nvSpPr>
                <p:cNvPr id="62862" name="矩形 83342"/>
                <p:cNvSpPr/>
                <p:nvPr/>
              </p:nvSpPr>
              <p:spPr>
                <a:xfrm>
                  <a:off x="2186"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63" name="矩形 83343"/>
                <p:cNvSpPr/>
                <p:nvPr/>
              </p:nvSpPr>
              <p:spPr>
                <a:xfrm>
                  <a:off x="2186"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64" name="组合 83344"/>
              <p:cNvGrpSpPr/>
              <p:nvPr/>
            </p:nvGrpSpPr>
            <p:grpSpPr>
              <a:xfrm>
                <a:off x="2460" y="5066"/>
                <a:ext cx="274" cy="403"/>
                <a:chOff x="2460" y="5066"/>
                <a:chExt cx="274" cy="403"/>
              </a:xfrm>
            </p:grpSpPr>
            <p:sp>
              <p:nvSpPr>
                <p:cNvPr id="62865" name="矩形 83345"/>
                <p:cNvSpPr/>
                <p:nvPr/>
              </p:nvSpPr>
              <p:spPr>
                <a:xfrm>
                  <a:off x="2460"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66" name="矩形 83346"/>
                <p:cNvSpPr/>
                <p:nvPr/>
              </p:nvSpPr>
              <p:spPr>
                <a:xfrm>
                  <a:off x="2460"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67" name="组合 83347"/>
              <p:cNvGrpSpPr/>
              <p:nvPr/>
            </p:nvGrpSpPr>
            <p:grpSpPr>
              <a:xfrm>
                <a:off x="2734" y="5066"/>
                <a:ext cx="274" cy="403"/>
                <a:chOff x="2734" y="5066"/>
                <a:chExt cx="274" cy="403"/>
              </a:xfrm>
            </p:grpSpPr>
            <p:sp>
              <p:nvSpPr>
                <p:cNvPr id="62868" name="矩形 83348"/>
                <p:cNvSpPr/>
                <p:nvPr/>
              </p:nvSpPr>
              <p:spPr>
                <a:xfrm>
                  <a:off x="2734"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69" name="矩形 83349"/>
                <p:cNvSpPr/>
                <p:nvPr/>
              </p:nvSpPr>
              <p:spPr>
                <a:xfrm>
                  <a:off x="2734"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70" name="组合 83350"/>
              <p:cNvGrpSpPr/>
              <p:nvPr/>
            </p:nvGrpSpPr>
            <p:grpSpPr>
              <a:xfrm>
                <a:off x="3008" y="5066"/>
                <a:ext cx="274" cy="403"/>
                <a:chOff x="3008" y="5066"/>
                <a:chExt cx="274" cy="403"/>
              </a:xfrm>
            </p:grpSpPr>
            <p:sp>
              <p:nvSpPr>
                <p:cNvPr id="62871" name="矩形 83351"/>
                <p:cNvSpPr/>
                <p:nvPr/>
              </p:nvSpPr>
              <p:spPr>
                <a:xfrm>
                  <a:off x="3008"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72" name="矩形 83352"/>
                <p:cNvSpPr/>
                <p:nvPr/>
              </p:nvSpPr>
              <p:spPr>
                <a:xfrm>
                  <a:off x="3008"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73" name="组合 83353"/>
              <p:cNvGrpSpPr/>
              <p:nvPr/>
            </p:nvGrpSpPr>
            <p:grpSpPr>
              <a:xfrm>
                <a:off x="3282" y="5066"/>
                <a:ext cx="274" cy="403"/>
                <a:chOff x="3282" y="5066"/>
                <a:chExt cx="274" cy="403"/>
              </a:xfrm>
            </p:grpSpPr>
            <p:sp>
              <p:nvSpPr>
                <p:cNvPr id="62874" name="矩形 83354"/>
                <p:cNvSpPr/>
                <p:nvPr/>
              </p:nvSpPr>
              <p:spPr>
                <a:xfrm>
                  <a:off x="3282" y="5066"/>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2</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75" name="矩形 83355"/>
                <p:cNvSpPr/>
                <p:nvPr/>
              </p:nvSpPr>
              <p:spPr>
                <a:xfrm>
                  <a:off x="3282" y="5066"/>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76" name="组合 83356"/>
              <p:cNvGrpSpPr/>
              <p:nvPr/>
            </p:nvGrpSpPr>
            <p:grpSpPr>
              <a:xfrm>
                <a:off x="816" y="5469"/>
                <a:ext cx="274" cy="403"/>
                <a:chOff x="816" y="5469"/>
                <a:chExt cx="274" cy="403"/>
              </a:xfrm>
            </p:grpSpPr>
            <p:sp>
              <p:nvSpPr>
                <p:cNvPr id="62877" name="矩形 83357"/>
                <p:cNvSpPr/>
                <p:nvPr/>
              </p:nvSpPr>
              <p:spPr>
                <a:xfrm>
                  <a:off x="816" y="5469"/>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878" name="组合 83358"/>
                <p:cNvGrpSpPr/>
                <p:nvPr/>
              </p:nvGrpSpPr>
              <p:grpSpPr>
                <a:xfrm>
                  <a:off x="816" y="5469"/>
                  <a:ext cx="274" cy="403"/>
                  <a:chOff x="816" y="5469"/>
                  <a:chExt cx="274" cy="403"/>
                </a:xfrm>
              </p:grpSpPr>
              <p:sp>
                <p:nvSpPr>
                  <p:cNvPr id="62879" name="矩形 83359"/>
                  <p:cNvSpPr/>
                  <p:nvPr/>
                </p:nvSpPr>
                <p:spPr>
                  <a:xfrm>
                    <a:off x="816" y="5469"/>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80" name="矩形 83360"/>
                  <p:cNvSpPr/>
                  <p:nvPr/>
                </p:nvSpPr>
                <p:spPr>
                  <a:xfrm>
                    <a:off x="816"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881" name="组合 83361"/>
              <p:cNvGrpSpPr/>
              <p:nvPr/>
            </p:nvGrpSpPr>
            <p:grpSpPr>
              <a:xfrm>
                <a:off x="1090" y="5469"/>
                <a:ext cx="274" cy="403"/>
                <a:chOff x="1090" y="5469"/>
                <a:chExt cx="274" cy="403"/>
              </a:xfrm>
            </p:grpSpPr>
            <p:sp>
              <p:nvSpPr>
                <p:cNvPr id="62882" name="矩形 83362"/>
                <p:cNvSpPr/>
                <p:nvPr/>
              </p:nvSpPr>
              <p:spPr>
                <a:xfrm>
                  <a:off x="1090" y="5469"/>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883" name="组合 83363"/>
                <p:cNvGrpSpPr/>
                <p:nvPr/>
              </p:nvGrpSpPr>
              <p:grpSpPr>
                <a:xfrm>
                  <a:off x="1090" y="5469"/>
                  <a:ext cx="274" cy="403"/>
                  <a:chOff x="1090" y="5469"/>
                  <a:chExt cx="274" cy="403"/>
                </a:xfrm>
              </p:grpSpPr>
              <p:sp>
                <p:nvSpPr>
                  <p:cNvPr id="62884" name="矩形 83364"/>
                  <p:cNvSpPr/>
                  <p:nvPr/>
                </p:nvSpPr>
                <p:spPr>
                  <a:xfrm>
                    <a:off x="1090" y="5469"/>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85" name="矩形 83365"/>
                  <p:cNvSpPr/>
                  <p:nvPr/>
                </p:nvSpPr>
                <p:spPr>
                  <a:xfrm>
                    <a:off x="1090"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886" name="组合 83366"/>
              <p:cNvGrpSpPr/>
              <p:nvPr/>
            </p:nvGrpSpPr>
            <p:grpSpPr>
              <a:xfrm>
                <a:off x="1364" y="5469"/>
                <a:ext cx="274" cy="403"/>
                <a:chOff x="1364" y="5469"/>
                <a:chExt cx="274" cy="403"/>
              </a:xfrm>
            </p:grpSpPr>
            <p:sp>
              <p:nvSpPr>
                <p:cNvPr id="62887" name="矩形 83367"/>
                <p:cNvSpPr/>
                <p:nvPr/>
              </p:nvSpPr>
              <p:spPr>
                <a:xfrm>
                  <a:off x="1364" y="5469"/>
                  <a:ext cx="274" cy="403"/>
                </a:xfrm>
                <a:prstGeom prst="rect">
                  <a:avLst/>
                </a:prstGeom>
                <a:solidFill>
                  <a:srgbClr val="DDDDDD"/>
                </a:solidFill>
                <a:ln w="9525">
                  <a:noFill/>
                </a:ln>
              </p:spPr>
              <p:txBody>
                <a:bodyPr anchor="t" anchorCtr="0"/>
                <a:lstStyle/>
                <a:p>
                  <a:endParaRPr lang="zh-CN" altLang="en-US">
                    <a:latin typeface="Arial" panose="020B0604020202020204" pitchFamily="34" charset="0"/>
                  </a:endParaRPr>
                </a:p>
              </p:txBody>
            </p:sp>
            <p:grpSp>
              <p:nvGrpSpPr>
                <p:cNvPr id="62888" name="组合 83368"/>
                <p:cNvGrpSpPr/>
                <p:nvPr/>
              </p:nvGrpSpPr>
              <p:grpSpPr>
                <a:xfrm>
                  <a:off x="1364" y="5469"/>
                  <a:ext cx="274" cy="403"/>
                  <a:chOff x="1364" y="5469"/>
                  <a:chExt cx="274" cy="403"/>
                </a:xfrm>
              </p:grpSpPr>
              <p:sp>
                <p:nvSpPr>
                  <p:cNvPr id="62889" name="矩形 83369"/>
                  <p:cNvSpPr/>
                  <p:nvPr/>
                </p:nvSpPr>
                <p:spPr>
                  <a:xfrm>
                    <a:off x="1364" y="5469"/>
                    <a:ext cx="274" cy="403"/>
                  </a:xfrm>
                  <a:prstGeom prst="rect">
                    <a:avLst/>
                  </a:prstGeom>
                  <a:solidFill>
                    <a:srgbClr val="DDDDDD"/>
                  </a:solidFill>
                  <a:ln w="9525">
                    <a:noFill/>
                  </a:ln>
                </p:spPr>
                <p:txBody>
                  <a:bodyPr anchor="t" anchorCtr="0"/>
                  <a:lstStyle/>
                  <a:p>
                    <a:pPr algn="ctr"/>
                    <a:r>
                      <a:rPr lang="en-US" altLang="zh-CN" sz="900" dirty="0">
                        <a:latin typeface="Times New Roman" panose="02020603050405020304" pitchFamily="18" charset="0"/>
                      </a:rPr>
                      <a:t> </a:t>
                    </a:r>
                    <a:endParaRPr lang="en-US" altLang="zh-CN" sz="900" dirty="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90" name="矩形 83370"/>
                  <p:cNvSpPr/>
                  <p:nvPr/>
                </p:nvSpPr>
                <p:spPr>
                  <a:xfrm>
                    <a:off x="1364"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grpSp>
            <p:nvGrpSpPr>
              <p:cNvPr id="62891" name="组合 83371"/>
              <p:cNvGrpSpPr/>
              <p:nvPr/>
            </p:nvGrpSpPr>
            <p:grpSpPr>
              <a:xfrm>
                <a:off x="1638" y="5469"/>
                <a:ext cx="274" cy="403"/>
                <a:chOff x="1638" y="5469"/>
                <a:chExt cx="274" cy="403"/>
              </a:xfrm>
            </p:grpSpPr>
            <p:sp>
              <p:nvSpPr>
                <p:cNvPr id="62892" name="矩形 83372"/>
                <p:cNvSpPr/>
                <p:nvPr/>
              </p:nvSpPr>
              <p:spPr>
                <a:xfrm>
                  <a:off x="1638" y="546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5*</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93" name="矩形 83373"/>
                <p:cNvSpPr/>
                <p:nvPr/>
              </p:nvSpPr>
              <p:spPr>
                <a:xfrm>
                  <a:off x="1638"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94" name="组合 83374"/>
              <p:cNvGrpSpPr/>
              <p:nvPr/>
            </p:nvGrpSpPr>
            <p:grpSpPr>
              <a:xfrm>
                <a:off x="1912" y="5469"/>
                <a:ext cx="274" cy="403"/>
                <a:chOff x="1912" y="5469"/>
                <a:chExt cx="274" cy="403"/>
              </a:xfrm>
            </p:grpSpPr>
            <p:sp>
              <p:nvSpPr>
                <p:cNvPr id="62895" name="矩形 83375"/>
                <p:cNvSpPr/>
                <p:nvPr/>
              </p:nvSpPr>
              <p:spPr>
                <a:xfrm>
                  <a:off x="1912" y="546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96" name="矩形 83376"/>
                <p:cNvSpPr/>
                <p:nvPr/>
              </p:nvSpPr>
              <p:spPr>
                <a:xfrm>
                  <a:off x="1912"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897" name="组合 83377"/>
              <p:cNvGrpSpPr/>
              <p:nvPr/>
            </p:nvGrpSpPr>
            <p:grpSpPr>
              <a:xfrm>
                <a:off x="2186" y="5469"/>
                <a:ext cx="274" cy="403"/>
                <a:chOff x="2186" y="5469"/>
                <a:chExt cx="274" cy="403"/>
              </a:xfrm>
            </p:grpSpPr>
            <p:sp>
              <p:nvSpPr>
                <p:cNvPr id="62898" name="矩形 83378"/>
                <p:cNvSpPr/>
                <p:nvPr/>
              </p:nvSpPr>
              <p:spPr>
                <a:xfrm>
                  <a:off x="2186" y="546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899" name="矩形 83379"/>
                <p:cNvSpPr/>
                <p:nvPr/>
              </p:nvSpPr>
              <p:spPr>
                <a:xfrm>
                  <a:off x="2186"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00" name="组合 83380"/>
              <p:cNvGrpSpPr/>
              <p:nvPr/>
            </p:nvGrpSpPr>
            <p:grpSpPr>
              <a:xfrm>
                <a:off x="2460" y="5469"/>
                <a:ext cx="274" cy="403"/>
                <a:chOff x="2460" y="5469"/>
                <a:chExt cx="274" cy="403"/>
              </a:xfrm>
            </p:grpSpPr>
            <p:sp>
              <p:nvSpPr>
                <p:cNvPr id="62901" name="矩形 83381"/>
                <p:cNvSpPr/>
                <p:nvPr/>
              </p:nvSpPr>
              <p:spPr>
                <a:xfrm>
                  <a:off x="2460" y="546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902" name="矩形 83382"/>
                <p:cNvSpPr/>
                <p:nvPr/>
              </p:nvSpPr>
              <p:spPr>
                <a:xfrm>
                  <a:off x="2460"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03" name="组合 83383"/>
              <p:cNvGrpSpPr/>
              <p:nvPr/>
            </p:nvGrpSpPr>
            <p:grpSpPr>
              <a:xfrm>
                <a:off x="2734" y="5469"/>
                <a:ext cx="274" cy="403"/>
                <a:chOff x="2734" y="5469"/>
                <a:chExt cx="274" cy="403"/>
              </a:xfrm>
            </p:grpSpPr>
            <p:sp>
              <p:nvSpPr>
                <p:cNvPr id="62904" name="矩形 83384"/>
                <p:cNvSpPr/>
                <p:nvPr/>
              </p:nvSpPr>
              <p:spPr>
                <a:xfrm>
                  <a:off x="2734" y="546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905" name="矩形 83385"/>
                <p:cNvSpPr/>
                <p:nvPr/>
              </p:nvSpPr>
              <p:spPr>
                <a:xfrm>
                  <a:off x="2734"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06" name="组合 83386"/>
              <p:cNvGrpSpPr/>
              <p:nvPr/>
            </p:nvGrpSpPr>
            <p:grpSpPr>
              <a:xfrm>
                <a:off x="3008" y="5469"/>
                <a:ext cx="274" cy="403"/>
                <a:chOff x="3008" y="5469"/>
                <a:chExt cx="274" cy="403"/>
              </a:xfrm>
            </p:grpSpPr>
            <p:sp>
              <p:nvSpPr>
                <p:cNvPr id="62907" name="矩形 83387"/>
                <p:cNvSpPr/>
                <p:nvPr/>
              </p:nvSpPr>
              <p:spPr>
                <a:xfrm>
                  <a:off x="3008" y="546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908" name="矩形 83388"/>
                <p:cNvSpPr/>
                <p:nvPr/>
              </p:nvSpPr>
              <p:spPr>
                <a:xfrm>
                  <a:off x="3008"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09" name="组合 83389"/>
              <p:cNvGrpSpPr/>
              <p:nvPr/>
            </p:nvGrpSpPr>
            <p:grpSpPr>
              <a:xfrm>
                <a:off x="3282" y="5469"/>
                <a:ext cx="274" cy="403"/>
                <a:chOff x="3282" y="5469"/>
                <a:chExt cx="274" cy="403"/>
              </a:xfrm>
            </p:grpSpPr>
            <p:sp>
              <p:nvSpPr>
                <p:cNvPr id="62910" name="矩形 83390"/>
                <p:cNvSpPr/>
                <p:nvPr/>
              </p:nvSpPr>
              <p:spPr>
                <a:xfrm>
                  <a:off x="3282" y="5469"/>
                  <a:ext cx="274" cy="403"/>
                </a:xfrm>
                <a:prstGeom prst="rect">
                  <a:avLst/>
                </a:prstGeom>
                <a:noFill/>
                <a:ln w="9525">
                  <a:noFill/>
                </a:ln>
              </p:spPr>
              <p:txBody>
                <a:bodyPr anchor="t" anchorCtr="0"/>
                <a:lstStyle/>
                <a:p>
                  <a:pPr algn="ctr"/>
                  <a:r>
                    <a:rPr lang="en-US" altLang="zh-CN" sz="900">
                      <a:latin typeface="Times New Roman" panose="02020603050405020304" pitchFamily="18" charset="0"/>
                    </a:rPr>
                    <a:t>4</a:t>
                  </a:r>
                  <a:endParaRPr lang="en-US" altLang="zh-CN" sz="900">
                    <a:latin typeface="Times New Roman" panose="02020603050405020304" pitchFamily="18" charset="0"/>
                  </a:endParaRPr>
                </a:p>
                <a:p>
                  <a:pPr algn="ctr" eaLnBrk="0" hangingPunct="0"/>
                  <a:endParaRPr lang="en-US" altLang="zh-CN" dirty="0">
                    <a:latin typeface="Times New Roman" panose="02020603050405020304" pitchFamily="18" charset="0"/>
                  </a:endParaRPr>
                </a:p>
              </p:txBody>
            </p:sp>
            <p:sp>
              <p:nvSpPr>
                <p:cNvPr id="62911" name="矩形 83391"/>
                <p:cNvSpPr/>
                <p:nvPr/>
              </p:nvSpPr>
              <p:spPr>
                <a:xfrm>
                  <a:off x="3282" y="5469"/>
                  <a:ext cx="274" cy="403"/>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12" name="组合 83392"/>
              <p:cNvGrpSpPr/>
              <p:nvPr/>
            </p:nvGrpSpPr>
            <p:grpSpPr>
              <a:xfrm>
                <a:off x="816" y="5872"/>
                <a:ext cx="274" cy="518"/>
                <a:chOff x="816" y="5872"/>
                <a:chExt cx="274" cy="518"/>
              </a:xfrm>
            </p:grpSpPr>
            <p:sp>
              <p:nvSpPr>
                <p:cNvPr id="62913" name="矩形 83393"/>
                <p:cNvSpPr/>
                <p:nvPr/>
              </p:nvSpPr>
              <p:spPr>
                <a:xfrm>
                  <a:off x="816"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14" name="矩形 83394"/>
                <p:cNvSpPr/>
                <p:nvPr/>
              </p:nvSpPr>
              <p:spPr>
                <a:xfrm>
                  <a:off x="816"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15" name="组合 83395"/>
              <p:cNvGrpSpPr/>
              <p:nvPr/>
            </p:nvGrpSpPr>
            <p:grpSpPr>
              <a:xfrm>
                <a:off x="1090" y="5872"/>
                <a:ext cx="274" cy="518"/>
                <a:chOff x="1090" y="5872"/>
                <a:chExt cx="274" cy="518"/>
              </a:xfrm>
            </p:grpSpPr>
            <p:sp>
              <p:nvSpPr>
                <p:cNvPr id="62916" name="矩形 83396"/>
                <p:cNvSpPr/>
                <p:nvPr/>
              </p:nvSpPr>
              <p:spPr>
                <a:xfrm>
                  <a:off x="1090"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17" name="矩形 83397"/>
                <p:cNvSpPr/>
                <p:nvPr/>
              </p:nvSpPr>
              <p:spPr>
                <a:xfrm>
                  <a:off x="1090"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18" name="组合 83398"/>
              <p:cNvGrpSpPr/>
              <p:nvPr/>
            </p:nvGrpSpPr>
            <p:grpSpPr>
              <a:xfrm>
                <a:off x="1364" y="5872"/>
                <a:ext cx="274" cy="518"/>
                <a:chOff x="1364" y="5872"/>
                <a:chExt cx="274" cy="518"/>
              </a:xfrm>
            </p:grpSpPr>
            <p:sp>
              <p:nvSpPr>
                <p:cNvPr id="62919" name="矩形 83399"/>
                <p:cNvSpPr/>
                <p:nvPr/>
              </p:nvSpPr>
              <p:spPr>
                <a:xfrm>
                  <a:off x="1364"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20" name="矩形 83400"/>
                <p:cNvSpPr/>
                <p:nvPr/>
              </p:nvSpPr>
              <p:spPr>
                <a:xfrm>
                  <a:off x="1364"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21" name="组合 83401"/>
              <p:cNvGrpSpPr/>
              <p:nvPr/>
            </p:nvGrpSpPr>
            <p:grpSpPr>
              <a:xfrm>
                <a:off x="1638" y="5872"/>
                <a:ext cx="274" cy="518"/>
                <a:chOff x="1638" y="5872"/>
                <a:chExt cx="274" cy="518"/>
              </a:xfrm>
            </p:grpSpPr>
            <p:sp>
              <p:nvSpPr>
                <p:cNvPr id="62922" name="矩形 83402"/>
                <p:cNvSpPr/>
                <p:nvPr/>
              </p:nvSpPr>
              <p:spPr>
                <a:xfrm>
                  <a:off x="1638"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调入</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23" name="矩形 83403"/>
                <p:cNvSpPr/>
                <p:nvPr/>
              </p:nvSpPr>
              <p:spPr>
                <a:xfrm>
                  <a:off x="1638"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24" name="组合 83404"/>
              <p:cNvGrpSpPr/>
              <p:nvPr/>
            </p:nvGrpSpPr>
            <p:grpSpPr>
              <a:xfrm>
                <a:off x="1912" y="5872"/>
                <a:ext cx="274" cy="518"/>
                <a:chOff x="1912" y="5872"/>
                <a:chExt cx="274" cy="518"/>
              </a:xfrm>
            </p:grpSpPr>
            <p:sp>
              <p:nvSpPr>
                <p:cNvPr id="62925" name="矩形 83405"/>
                <p:cNvSpPr/>
                <p:nvPr/>
              </p:nvSpPr>
              <p:spPr>
                <a:xfrm>
                  <a:off x="1912"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26" name="矩形 83406"/>
                <p:cNvSpPr/>
                <p:nvPr/>
              </p:nvSpPr>
              <p:spPr>
                <a:xfrm>
                  <a:off x="1912"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27" name="组合 83407"/>
              <p:cNvGrpSpPr/>
              <p:nvPr/>
            </p:nvGrpSpPr>
            <p:grpSpPr>
              <a:xfrm>
                <a:off x="2186" y="5872"/>
                <a:ext cx="274" cy="518"/>
                <a:chOff x="2186" y="5872"/>
                <a:chExt cx="274" cy="518"/>
              </a:xfrm>
            </p:grpSpPr>
            <p:sp>
              <p:nvSpPr>
                <p:cNvPr id="62928" name="矩形 83408"/>
                <p:cNvSpPr/>
                <p:nvPr/>
              </p:nvSpPr>
              <p:spPr>
                <a:xfrm>
                  <a:off x="2186"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29" name="矩形 83409"/>
                <p:cNvSpPr/>
                <p:nvPr/>
              </p:nvSpPr>
              <p:spPr>
                <a:xfrm>
                  <a:off x="2186"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30" name="组合 83410"/>
              <p:cNvGrpSpPr/>
              <p:nvPr/>
            </p:nvGrpSpPr>
            <p:grpSpPr>
              <a:xfrm>
                <a:off x="2460" y="5872"/>
                <a:ext cx="274" cy="518"/>
                <a:chOff x="2460" y="5872"/>
                <a:chExt cx="274" cy="518"/>
              </a:xfrm>
            </p:grpSpPr>
            <p:sp>
              <p:nvSpPr>
                <p:cNvPr id="62931" name="矩形 83411"/>
                <p:cNvSpPr/>
                <p:nvPr/>
              </p:nvSpPr>
              <p:spPr>
                <a:xfrm>
                  <a:off x="2460"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替换</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32" name="矩形 83412"/>
                <p:cNvSpPr/>
                <p:nvPr/>
              </p:nvSpPr>
              <p:spPr>
                <a:xfrm>
                  <a:off x="2460"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33" name="组合 83413"/>
              <p:cNvGrpSpPr/>
              <p:nvPr/>
            </p:nvGrpSpPr>
            <p:grpSpPr>
              <a:xfrm>
                <a:off x="2734" y="5872"/>
                <a:ext cx="274" cy="518"/>
                <a:chOff x="2734" y="5872"/>
                <a:chExt cx="274" cy="518"/>
              </a:xfrm>
            </p:grpSpPr>
            <p:sp>
              <p:nvSpPr>
                <p:cNvPr id="62934" name="矩形 83414"/>
                <p:cNvSpPr/>
                <p:nvPr/>
              </p:nvSpPr>
              <p:spPr>
                <a:xfrm>
                  <a:off x="2734"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35" name="矩形 83415"/>
                <p:cNvSpPr/>
                <p:nvPr/>
              </p:nvSpPr>
              <p:spPr>
                <a:xfrm>
                  <a:off x="2734"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36" name="组合 83416"/>
              <p:cNvGrpSpPr/>
              <p:nvPr/>
            </p:nvGrpSpPr>
            <p:grpSpPr>
              <a:xfrm>
                <a:off x="3008" y="5872"/>
                <a:ext cx="274" cy="518"/>
                <a:chOff x="3008" y="5872"/>
                <a:chExt cx="274" cy="518"/>
              </a:xfrm>
            </p:grpSpPr>
            <p:sp>
              <p:nvSpPr>
                <p:cNvPr id="62937" name="矩形 83417"/>
                <p:cNvSpPr/>
                <p:nvPr/>
              </p:nvSpPr>
              <p:spPr>
                <a:xfrm>
                  <a:off x="3008"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38" name="矩形 83418"/>
                <p:cNvSpPr/>
                <p:nvPr/>
              </p:nvSpPr>
              <p:spPr>
                <a:xfrm>
                  <a:off x="3008"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nvGrpSpPr>
              <p:cNvPr id="62939" name="组合 83419"/>
              <p:cNvGrpSpPr/>
              <p:nvPr/>
            </p:nvGrpSpPr>
            <p:grpSpPr>
              <a:xfrm>
                <a:off x="3282" y="5872"/>
                <a:ext cx="274" cy="518"/>
                <a:chOff x="3282" y="5872"/>
                <a:chExt cx="274" cy="518"/>
              </a:xfrm>
            </p:grpSpPr>
            <p:sp>
              <p:nvSpPr>
                <p:cNvPr id="62940" name="矩形 83420"/>
                <p:cNvSpPr/>
                <p:nvPr/>
              </p:nvSpPr>
              <p:spPr>
                <a:xfrm>
                  <a:off x="3282" y="5872"/>
                  <a:ext cx="274" cy="518"/>
                </a:xfrm>
                <a:prstGeom prst="rect">
                  <a:avLst/>
                </a:prstGeom>
                <a:noFill/>
                <a:ln w="9525">
                  <a:noFill/>
                </a:ln>
              </p:spPr>
              <p:txBody>
                <a:bodyPr anchor="t" anchorCtr="0"/>
                <a:lstStyle/>
                <a:p>
                  <a:pPr algn="ctr"/>
                  <a:r>
                    <a:rPr lang="zh-CN" altLang="en-US" sz="900" dirty="0">
                      <a:latin typeface="Times New Roman" panose="02020603050405020304" pitchFamily="18" charset="0"/>
                    </a:rPr>
                    <a:t>命中</a:t>
                  </a:r>
                  <a:endParaRPr lang="zh-CN" altLang="en-US" sz="900" dirty="0">
                    <a:latin typeface="Times New Roman" panose="02020603050405020304" pitchFamily="18" charset="0"/>
                  </a:endParaRPr>
                </a:p>
                <a:p>
                  <a:pPr algn="ctr" eaLnBrk="0" hangingPunct="0"/>
                  <a:endParaRPr lang="zh-CN" altLang="en-US" dirty="0">
                    <a:latin typeface="Times New Roman" panose="02020603050405020304" pitchFamily="18" charset="0"/>
                  </a:endParaRPr>
                </a:p>
              </p:txBody>
            </p:sp>
            <p:sp>
              <p:nvSpPr>
                <p:cNvPr id="62941" name="矩形 83421"/>
                <p:cNvSpPr/>
                <p:nvPr/>
              </p:nvSpPr>
              <p:spPr>
                <a:xfrm>
                  <a:off x="3282" y="5872"/>
                  <a:ext cx="274" cy="518"/>
                </a:xfrm>
                <a:prstGeom prst="rect">
                  <a:avLst/>
                </a:prstGeom>
                <a:noFill/>
                <a:ln w="7"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grpSp>
        <p:sp>
          <p:nvSpPr>
            <p:cNvPr id="62942" name="矩形 83422"/>
            <p:cNvSpPr/>
            <p:nvPr/>
          </p:nvSpPr>
          <p:spPr>
            <a:xfrm>
              <a:off x="-3" y="400"/>
              <a:ext cx="4109" cy="5993"/>
            </a:xfrm>
            <a:prstGeom prst="rect">
              <a:avLst/>
            </a:prstGeom>
            <a:noFill/>
            <a:ln w="11112" cap="flat" cmpd="sng">
              <a:solidFill>
                <a:srgbClr val="A0A0A0"/>
              </a:solidFill>
              <a:prstDash val="solid"/>
              <a:miter/>
              <a:headEnd type="none" w="med" len="med"/>
              <a:tailEnd type="none" w="med" len="med"/>
            </a:ln>
          </p:spPr>
          <p:txBody>
            <a:bodyPr anchor="t" anchorCtr="0"/>
            <a:lstStyle/>
            <a:p>
              <a:endParaRPr lang="zh-CN" altLang="en-US">
                <a:latin typeface="Arial" panose="020B0604020202020204" pitchFamily="34" charset="0"/>
              </a:endParaRPr>
            </a:p>
          </p:txBody>
        </p:sp>
      </p:grpSp>
    </p:spTree>
  </p:cSld>
  <p:clrMapOvr>
    <a:masterClrMapping/>
  </p:clrMapOvr>
  <p:transition spd="slow">
    <p:pull dir="ru"/>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cs typeface="+mn-ea"/>
                <a:sym typeface="+mn-lt"/>
              </a:rPr>
              <a:t>Date</a:t>
            </a:r>
            <a:endParaRPr lang="zh-CN" altLang="en-US" sz="1125" dirty="0">
              <a:cs typeface="+mn-ea"/>
              <a:sym typeface="+mn-lt"/>
            </a:endParaRPr>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cs typeface="+mn-ea"/>
                <a:sym typeface="+mn-lt"/>
              </a:rPr>
              <a:t>内容导航：</a:t>
            </a:r>
            <a:endParaRPr lang="zh-CN" altLang="en-US" sz="2100" b="1" dirty="0">
              <a:solidFill>
                <a:schemeClr val="bg1"/>
              </a:solidFill>
              <a:cs typeface="+mn-ea"/>
              <a:sym typeface="+mn-lt"/>
            </a:endParaRPr>
          </a:p>
        </p:txBody>
      </p:sp>
      <p:sp>
        <p:nvSpPr>
          <p:cNvPr id="22" name="矩形 21"/>
          <p:cNvSpPr/>
          <p:nvPr/>
        </p:nvSpPr>
        <p:spPr>
          <a:xfrm>
            <a:off x="1272352" y="2160374"/>
            <a:ext cx="3375110" cy="369332"/>
          </a:xfrm>
          <a:prstGeom prst="rect">
            <a:avLst/>
          </a:prstGeom>
        </p:spPr>
        <p:txBody>
          <a:bodyPr wrap="square">
            <a:spAutoFit/>
          </a:bodyPr>
          <a:lstStyle/>
          <a:p>
            <a:r>
              <a:rPr lang="en-US" altLang="zh-CN" dirty="0">
                <a:cs typeface="+mn-ea"/>
                <a:sym typeface="+mn-lt"/>
              </a:rPr>
              <a:t>6.1 </a:t>
            </a:r>
            <a:r>
              <a:rPr lang="zh-CN" altLang="en-US" dirty="0">
                <a:cs typeface="+mn-ea"/>
                <a:sym typeface="+mn-lt"/>
              </a:rPr>
              <a:t>虚拟存储器概述</a:t>
            </a:r>
            <a:endParaRPr lang="zh-CN" altLang="en-US" dirty="0">
              <a:cs typeface="+mn-ea"/>
              <a:sym typeface="+mn-lt"/>
            </a:endParaRPr>
          </a:p>
        </p:txBody>
      </p:sp>
      <p:sp>
        <p:nvSpPr>
          <p:cNvPr id="23" name="矩形 22"/>
          <p:cNvSpPr/>
          <p:nvPr/>
        </p:nvSpPr>
        <p:spPr>
          <a:xfrm>
            <a:off x="1272352" y="2639005"/>
            <a:ext cx="3299648" cy="369332"/>
          </a:xfrm>
          <a:prstGeom prst="rect">
            <a:avLst/>
          </a:prstGeom>
        </p:spPr>
        <p:txBody>
          <a:bodyPr wrap="square">
            <a:spAutoFit/>
          </a:bodyPr>
          <a:lstStyle/>
          <a:p>
            <a:r>
              <a:rPr lang="en-US" altLang="zh-CN" dirty="0">
                <a:cs typeface="+mn-ea"/>
                <a:sym typeface="+mn-lt"/>
              </a:rPr>
              <a:t>6.2 </a:t>
            </a:r>
            <a:r>
              <a:rPr lang="zh-CN" altLang="en-US" dirty="0">
                <a:cs typeface="+mn-ea"/>
                <a:sym typeface="+mn-lt"/>
              </a:rPr>
              <a:t>请求分页存储管理方式</a:t>
            </a:r>
            <a:endParaRPr lang="en-US" altLang="zh-CN" dirty="0">
              <a:cs typeface="+mn-ea"/>
              <a:sym typeface="+mn-lt"/>
            </a:endParaRPr>
          </a:p>
        </p:txBody>
      </p:sp>
      <p:sp>
        <p:nvSpPr>
          <p:cNvPr id="24" name="矩形 23"/>
          <p:cNvSpPr/>
          <p:nvPr/>
        </p:nvSpPr>
        <p:spPr>
          <a:xfrm>
            <a:off x="1272352" y="3103349"/>
            <a:ext cx="2616725" cy="369332"/>
          </a:xfrm>
          <a:prstGeom prst="rect">
            <a:avLst/>
          </a:prstGeom>
        </p:spPr>
        <p:txBody>
          <a:bodyPr wrap="square">
            <a:spAutoFit/>
          </a:bodyPr>
          <a:lstStyle/>
          <a:p>
            <a:r>
              <a:rPr lang="en-US" altLang="zh-CN" dirty="0">
                <a:cs typeface="+mn-ea"/>
                <a:sym typeface="+mn-lt"/>
              </a:rPr>
              <a:t>6.3 </a:t>
            </a:r>
            <a:r>
              <a:rPr lang="zh-CN" altLang="en-US" dirty="0">
                <a:cs typeface="+mn-ea"/>
                <a:sym typeface="+mn-lt"/>
              </a:rPr>
              <a:t>页面置换算法</a:t>
            </a:r>
            <a:endParaRPr lang="en-US" altLang="zh-CN" dirty="0">
              <a:cs typeface="+mn-ea"/>
              <a:sym typeface="+mn-lt"/>
            </a:endParaRPr>
          </a:p>
        </p:txBody>
      </p:sp>
      <p:sp>
        <p:nvSpPr>
          <p:cNvPr id="25" name="矩形 24"/>
          <p:cNvSpPr/>
          <p:nvPr/>
        </p:nvSpPr>
        <p:spPr>
          <a:xfrm>
            <a:off x="1272352" y="3567692"/>
            <a:ext cx="2616725" cy="369332"/>
          </a:xfrm>
          <a:prstGeom prst="rect">
            <a:avLst/>
          </a:prstGeom>
        </p:spPr>
        <p:txBody>
          <a:bodyPr wrap="square">
            <a:spAutoFit/>
          </a:bodyPr>
          <a:lstStyle/>
          <a:p>
            <a:r>
              <a:rPr lang="en-US" altLang="zh-CN" dirty="0">
                <a:cs typeface="+mn-ea"/>
                <a:sym typeface="+mn-lt"/>
              </a:rPr>
              <a:t>6.4 </a:t>
            </a:r>
            <a:r>
              <a:rPr lang="zh-CN" altLang="en-US" dirty="0">
                <a:cs typeface="+mn-ea"/>
                <a:sym typeface="+mn-lt"/>
              </a:rPr>
              <a:t>抖动与工作集</a:t>
            </a:r>
            <a:endParaRPr lang="zh-CN" altLang="en-US" dirty="0">
              <a:cs typeface="+mn-ea"/>
              <a:sym typeface="+mn-lt"/>
            </a:endParaRPr>
          </a:p>
        </p:txBody>
      </p:sp>
      <p:sp>
        <p:nvSpPr>
          <p:cNvPr id="27" name="矩形 26"/>
          <p:cNvSpPr/>
          <p:nvPr/>
        </p:nvSpPr>
        <p:spPr>
          <a:xfrm>
            <a:off x="1272352" y="4032036"/>
            <a:ext cx="2929007" cy="369332"/>
          </a:xfrm>
          <a:prstGeom prst="rect">
            <a:avLst/>
          </a:prstGeom>
        </p:spPr>
        <p:txBody>
          <a:bodyPr wrap="square">
            <a:spAutoFit/>
          </a:bodyPr>
          <a:lstStyle/>
          <a:p>
            <a:r>
              <a:rPr lang="en-US" altLang="zh-CN" b="1" dirty="0">
                <a:solidFill>
                  <a:srgbClr val="0000FF"/>
                </a:solidFill>
                <a:cs typeface="+mn-ea"/>
                <a:sym typeface="+mn-lt"/>
              </a:rPr>
              <a:t>6.5 </a:t>
            </a:r>
            <a:r>
              <a:rPr lang="zh-CN" altLang="en-US" b="1" dirty="0">
                <a:solidFill>
                  <a:srgbClr val="0000FF"/>
                </a:solidFill>
                <a:cs typeface="+mn-ea"/>
                <a:sym typeface="+mn-lt"/>
              </a:rPr>
              <a:t>请求分段存储管理方式</a:t>
            </a:r>
            <a:endParaRPr lang="zh-CN" altLang="en-US" b="1" dirty="0">
              <a:solidFill>
                <a:srgbClr val="0000FF"/>
              </a:solidFill>
              <a:cs typeface="+mn-ea"/>
              <a:sym typeface="+mn-lt"/>
            </a:endParaRPr>
          </a:p>
        </p:txBody>
      </p:sp>
      <p:sp>
        <p:nvSpPr>
          <p:cNvPr id="28" name="矩形 27"/>
          <p:cNvSpPr/>
          <p:nvPr/>
        </p:nvSpPr>
        <p:spPr>
          <a:xfrm>
            <a:off x="1272352" y="4496380"/>
            <a:ext cx="2761613" cy="369332"/>
          </a:xfrm>
          <a:prstGeom prst="rect">
            <a:avLst/>
          </a:prstGeom>
        </p:spPr>
        <p:txBody>
          <a:bodyPr wrap="square">
            <a:spAutoFit/>
          </a:bodyPr>
          <a:lstStyle/>
          <a:p>
            <a:r>
              <a:rPr lang="en-US" altLang="zh-CN" dirty="0">
                <a:cs typeface="+mn-ea"/>
                <a:sym typeface="+mn-lt"/>
              </a:rPr>
              <a:t>6.6 </a:t>
            </a:r>
            <a:r>
              <a:rPr lang="zh-CN" altLang="en-US" dirty="0">
                <a:cs typeface="+mn-ea"/>
                <a:sym typeface="+mn-lt"/>
              </a:rPr>
              <a:t>虚拟存储器实现实例</a:t>
            </a:r>
            <a:endParaRPr lang="zh-CN" altLang="en-US" dirty="0">
              <a:cs typeface="+mn-ea"/>
              <a:sym typeface="+mn-lt"/>
            </a:endParaRPr>
          </a:p>
        </p:txBody>
      </p:sp>
      <p:sp>
        <p:nvSpPr>
          <p:cNvPr id="3" name="矩形 2"/>
          <p:cNvSpPr/>
          <p:nvPr/>
        </p:nvSpPr>
        <p:spPr>
          <a:xfrm>
            <a:off x="5546325" y="2647003"/>
            <a:ext cx="2896947" cy="507831"/>
          </a:xfrm>
          <a:prstGeom prst="rect">
            <a:avLst/>
          </a:prstGeom>
        </p:spPr>
        <p:txBody>
          <a:bodyPr wrap="none">
            <a:spAutoFit/>
          </a:bodyPr>
          <a:lstStyle/>
          <a:p>
            <a:r>
              <a:rPr lang="zh-CN" altLang="en-US" sz="2700" dirty="0">
                <a:solidFill>
                  <a:srgbClr val="000000"/>
                </a:solidFill>
                <a:cs typeface="+mn-ea"/>
                <a:sym typeface="+mn-lt"/>
              </a:rPr>
              <a:t>第</a:t>
            </a:r>
            <a:r>
              <a:rPr lang="en-US" altLang="zh-CN" sz="2700" dirty="0">
                <a:solidFill>
                  <a:srgbClr val="000000"/>
                </a:solidFill>
                <a:cs typeface="+mn-ea"/>
                <a:sym typeface="+mn-lt"/>
              </a:rPr>
              <a:t>6</a:t>
            </a:r>
            <a:r>
              <a:rPr lang="zh-CN" altLang="en-US" sz="2700" dirty="0">
                <a:solidFill>
                  <a:srgbClr val="000000"/>
                </a:solidFill>
                <a:cs typeface="+mn-ea"/>
                <a:sym typeface="+mn-lt"/>
              </a:rPr>
              <a:t>章 虚拟存储器</a:t>
            </a:r>
            <a:endParaRPr lang="zh-CN" altLang="en-US" sz="2700" dirty="0">
              <a:cs typeface="+mn-ea"/>
              <a:sym typeface="+mn-lt"/>
            </a:endParaRPr>
          </a:p>
        </p:txBody>
      </p:sp>
      <p:cxnSp>
        <p:nvCxnSpPr>
          <p:cNvPr id="5" name="直接连接符 4"/>
          <p:cNvCxnSpPr/>
          <p:nvPr/>
        </p:nvCxnSpPr>
        <p:spPr>
          <a:xfrm>
            <a:off x="5566300" y="3250103"/>
            <a:ext cx="309404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6653"/>
          </a:xfrm>
          <a:prstGeom prst="rect">
            <a:avLst/>
          </a:prstGeom>
        </p:spPr>
        <p:txBody>
          <a:bodyPr wrap="square">
            <a:spAutoFit/>
          </a:bodyPr>
          <a:lstStyle/>
          <a:p>
            <a:pPr algn="ctr">
              <a:lnSpc>
                <a:spcPct val="132000"/>
              </a:lnSpc>
            </a:pPr>
            <a:r>
              <a:rPr lang="zh-CN" altLang="en-US" dirty="0">
                <a:solidFill>
                  <a:srgbClr val="002060"/>
                </a:solidFill>
                <a:cs typeface="+mn-ea"/>
                <a:sym typeface="+mn-lt"/>
              </a:rPr>
              <a:t>主讲：王红玲    主审：汤小丹</a:t>
            </a:r>
            <a:endParaRPr lang="en-US" altLang="zh-CN" dirty="0">
              <a:solidFill>
                <a:srgbClr val="002060"/>
              </a:solidFill>
              <a:cs typeface="+mn-ea"/>
              <a:sym typeface="+mn-lt"/>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132616"/>
            <a:ext cx="395288" cy="395288"/>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571471"/>
            <a:ext cx="395288" cy="395288"/>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063073"/>
            <a:ext cx="395288" cy="395288"/>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526927"/>
            <a:ext cx="395288" cy="395288"/>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996487"/>
            <a:ext cx="395288" cy="395288"/>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4474772"/>
            <a:ext cx="395288" cy="395288"/>
          </a:xfrm>
          <a:prstGeom prst="rect">
            <a:avLst/>
          </a:prstGeom>
          <a:ln>
            <a:noFill/>
          </a:ln>
          <a:effectLst>
            <a:softEdge rad="0"/>
          </a:effectLst>
        </p:spPr>
      </p:pic>
    </p:spTree>
  </p:cSld>
  <p:clrMapOvr>
    <a:masterClrMapping/>
  </p:clrMapOvr>
  <p:transition spd="slow">
    <p:pull dir="ru"/>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请求分段中的硬件支持（</a:t>
            </a:r>
            <a:r>
              <a:rPr lang="en-US" altLang="zh-CN" sz="2100" b="1" dirty="0">
                <a:solidFill>
                  <a:schemeClr val="bg1"/>
                </a:solidFill>
                <a:cs typeface="+mn-ea"/>
                <a:sym typeface="+mn-lt"/>
              </a:rPr>
              <a:t>1</a:t>
            </a:r>
            <a:r>
              <a:rPr lang="zh-CN" altLang="en-US" sz="2100" b="1" dirty="0">
                <a:solidFill>
                  <a:schemeClr val="bg1"/>
                </a:solidFill>
                <a:cs typeface="+mn-ea"/>
                <a:sym typeface="+mn-lt"/>
              </a:rPr>
              <a:t>）</a:t>
            </a:r>
            <a:endParaRPr lang="zh-CN" altLang="en-US" sz="2100" b="1" dirty="0">
              <a:solidFill>
                <a:schemeClr val="bg1"/>
              </a:solidFill>
              <a:cs typeface="+mn-ea"/>
              <a:sym typeface="+mn-lt"/>
            </a:endParaRPr>
          </a:p>
        </p:txBody>
      </p:sp>
      <p:sp>
        <p:nvSpPr>
          <p:cNvPr id="5" name="矩形: 圆角 4"/>
          <p:cNvSpPr/>
          <p:nvPr/>
        </p:nvSpPr>
        <p:spPr>
          <a:xfrm>
            <a:off x="661295" y="1856068"/>
            <a:ext cx="1595853" cy="42776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dirty="0">
                <a:solidFill>
                  <a:schemeClr val="bg1"/>
                </a:solidFill>
                <a:sym typeface="Wingdings" panose="05000000000000000000" pitchFamily="2" charset="2"/>
              </a:rPr>
              <a:t>请求段表机制</a:t>
            </a:r>
            <a:endParaRPr lang="zh-CN" altLang="en-US" dirty="0">
              <a:solidFill>
                <a:schemeClr val="bg1"/>
              </a:solidFill>
              <a:sym typeface="Wingdings" panose="05000000000000000000" pitchFamily="2" charset="2"/>
            </a:endParaRPr>
          </a:p>
        </p:txBody>
      </p:sp>
      <p:sp>
        <p:nvSpPr>
          <p:cNvPr id="6" name="内容占位符 2"/>
          <p:cNvSpPr txBox="1"/>
          <p:nvPr/>
        </p:nvSpPr>
        <p:spPr>
          <a:xfrm>
            <a:off x="661294" y="2398006"/>
            <a:ext cx="7741421" cy="24941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6540" lvl="1" indent="-400050">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存取方式：表示段存取属性为只执行、只读或允许读</a:t>
            </a:r>
            <a:r>
              <a:rPr lang="en-US" altLang="zh-CN" sz="1800" dirty="0">
                <a:cs typeface="+mn-ea"/>
                <a:sym typeface="+mn-lt"/>
              </a:rPr>
              <a:t>/</a:t>
            </a:r>
            <a:r>
              <a:rPr lang="zh-CN" altLang="en-US" sz="1800" dirty="0">
                <a:cs typeface="+mn-ea"/>
                <a:sym typeface="+mn-lt"/>
              </a:rPr>
              <a:t>写</a:t>
            </a:r>
            <a:endParaRPr lang="zh-CN" altLang="en-US" sz="1800" dirty="0">
              <a:cs typeface="+mn-ea"/>
              <a:sym typeface="+mn-lt"/>
            </a:endParaRPr>
          </a:p>
          <a:p>
            <a:pPr marL="256540" lvl="1" indent="-400050">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访问字段</a:t>
            </a:r>
            <a:r>
              <a:rPr lang="en-US" altLang="zh-CN" sz="1800" dirty="0">
                <a:cs typeface="+mn-ea"/>
                <a:sym typeface="+mn-lt"/>
              </a:rPr>
              <a:t>A</a:t>
            </a:r>
            <a:r>
              <a:rPr lang="zh-CN" altLang="en-US" sz="1800" dirty="0">
                <a:cs typeface="+mn-ea"/>
                <a:sym typeface="+mn-lt"/>
              </a:rPr>
              <a:t>：记录该段在一段时间内被访问的次数</a:t>
            </a:r>
            <a:endParaRPr lang="zh-CN" altLang="en-US" sz="1800" dirty="0">
              <a:cs typeface="+mn-ea"/>
              <a:sym typeface="+mn-lt"/>
            </a:endParaRPr>
          </a:p>
          <a:p>
            <a:pPr marL="256540" lvl="1" indent="-400050">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修改位</a:t>
            </a:r>
            <a:r>
              <a:rPr lang="en-US" altLang="zh-CN" sz="1800" dirty="0">
                <a:cs typeface="+mn-ea"/>
                <a:sym typeface="+mn-lt"/>
              </a:rPr>
              <a:t>M</a:t>
            </a:r>
            <a:r>
              <a:rPr lang="zh-CN" altLang="en-US" sz="1800" dirty="0">
                <a:cs typeface="+mn-ea"/>
                <a:sym typeface="+mn-lt"/>
              </a:rPr>
              <a:t>：标志该段调入内存后是否被修改过</a:t>
            </a:r>
            <a:endParaRPr lang="zh-CN" altLang="en-US" sz="1800" dirty="0">
              <a:cs typeface="+mn-ea"/>
              <a:sym typeface="+mn-lt"/>
            </a:endParaRPr>
          </a:p>
          <a:p>
            <a:pPr marL="256540" lvl="1" indent="-400050">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存在位</a:t>
            </a:r>
            <a:r>
              <a:rPr lang="en-US" altLang="zh-CN" sz="1800" dirty="0">
                <a:cs typeface="+mn-ea"/>
                <a:sym typeface="+mn-lt"/>
              </a:rPr>
              <a:t>P</a:t>
            </a:r>
            <a:r>
              <a:rPr lang="zh-CN" altLang="en-US" sz="1800" dirty="0">
                <a:cs typeface="+mn-ea"/>
                <a:sym typeface="+mn-lt"/>
              </a:rPr>
              <a:t>：指示该段是否在内存</a:t>
            </a:r>
            <a:endParaRPr lang="zh-CN" altLang="en-US" sz="1800" dirty="0">
              <a:cs typeface="+mn-ea"/>
              <a:sym typeface="+mn-lt"/>
            </a:endParaRPr>
          </a:p>
          <a:p>
            <a:pPr marL="256540" lvl="1" indent="-400050">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增补位：表示该段在运行过程中是否做过动态增长</a:t>
            </a:r>
            <a:endParaRPr lang="zh-CN" altLang="en-US" sz="1800" dirty="0">
              <a:cs typeface="+mn-ea"/>
              <a:sym typeface="+mn-lt"/>
            </a:endParaRPr>
          </a:p>
          <a:p>
            <a:pPr marL="256540" lvl="1" indent="-400050">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外存始址：指示该段在外存中的起始地址（盘块号）</a:t>
            </a:r>
            <a:endParaRPr lang="zh-CN" altLang="en-US" sz="1800" dirty="0">
              <a:cs typeface="+mn-ea"/>
              <a:sym typeface="+mn-lt"/>
            </a:endParaRPr>
          </a:p>
        </p:txBody>
      </p:sp>
      <p:graphicFrame>
        <p:nvGraphicFramePr>
          <p:cNvPr id="11" name="表格 10"/>
          <p:cNvGraphicFramePr>
            <a:graphicFrameLocks noGrp="1"/>
          </p:cNvGraphicFramePr>
          <p:nvPr/>
        </p:nvGraphicFramePr>
        <p:xfrm>
          <a:off x="608027" y="4998101"/>
          <a:ext cx="8247450" cy="392414"/>
        </p:xfrm>
        <a:graphic>
          <a:graphicData uri="http://schemas.openxmlformats.org/drawingml/2006/table">
            <a:tbl>
              <a:tblPr>
                <a:tableStyleId>{5C22544A-7EE6-4342-B048-85BDC9FD1C3A}</a:tableStyleId>
              </a:tblPr>
              <a:tblGrid>
                <a:gridCol w="658111"/>
                <a:gridCol w="667139"/>
                <a:gridCol w="1063411"/>
                <a:gridCol w="1012247"/>
                <a:gridCol w="1183796"/>
                <a:gridCol w="934997"/>
                <a:gridCol w="923964"/>
                <a:gridCol w="795552"/>
                <a:gridCol w="1008233"/>
              </a:tblGrid>
              <a:tr h="392414">
                <a:tc>
                  <a:txBody>
                    <a:bodyPr/>
                    <a:lstStyle/>
                    <a:p>
                      <a:pPr indent="0" algn="ctr" fontAlgn="auto">
                        <a:spcAft>
                          <a:spcPts val="0"/>
                        </a:spcAft>
                      </a:pPr>
                      <a:r>
                        <a:rPr lang="zh-CN" sz="1700" kern="1050" dirty="0">
                          <a:solidFill>
                            <a:schemeClr val="bg1"/>
                          </a:solidFill>
                          <a:effectLst/>
                          <a:latin typeface="+mn-ea"/>
                          <a:ea typeface="+mn-ea"/>
                        </a:rPr>
                        <a:t>段名</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段长</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段的始址</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存取方式</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访问字段</a:t>
                      </a:r>
                      <a:r>
                        <a:rPr lang="en-US" sz="1700" kern="1050" dirty="0">
                          <a:solidFill>
                            <a:schemeClr val="bg1"/>
                          </a:solidFill>
                          <a:effectLst/>
                          <a:latin typeface="+mn-ea"/>
                          <a:ea typeface="+mn-ea"/>
                        </a:rPr>
                        <a:t>A</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修改位</a:t>
                      </a:r>
                      <a:r>
                        <a:rPr lang="en-US" sz="1700" kern="1050" dirty="0">
                          <a:solidFill>
                            <a:schemeClr val="bg1"/>
                          </a:solidFill>
                          <a:effectLst/>
                          <a:latin typeface="+mn-ea"/>
                          <a:ea typeface="+mn-ea"/>
                        </a:rPr>
                        <a:t>M</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存在位</a:t>
                      </a:r>
                      <a:r>
                        <a:rPr lang="en-US" sz="1700" kern="1050" dirty="0">
                          <a:solidFill>
                            <a:schemeClr val="bg1"/>
                          </a:solidFill>
                          <a:effectLst/>
                          <a:latin typeface="+mn-ea"/>
                          <a:ea typeface="+mn-ea"/>
                        </a:rPr>
                        <a:t>P</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增补位</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c>
                  <a:txBody>
                    <a:bodyPr/>
                    <a:lstStyle/>
                    <a:p>
                      <a:pPr indent="0" algn="ctr" fontAlgn="auto">
                        <a:spcAft>
                          <a:spcPts val="0"/>
                        </a:spcAft>
                      </a:pPr>
                      <a:r>
                        <a:rPr lang="zh-CN" sz="1700" kern="1050" dirty="0">
                          <a:solidFill>
                            <a:schemeClr val="bg1"/>
                          </a:solidFill>
                          <a:effectLst/>
                          <a:latin typeface="+mn-ea"/>
                          <a:ea typeface="+mn-ea"/>
                        </a:rPr>
                        <a:t>外存始址</a:t>
                      </a:r>
                      <a:endParaRPr lang="zh-CN" sz="1700" kern="1050" dirty="0">
                        <a:solidFill>
                          <a:schemeClr val="bg1"/>
                        </a:solidFill>
                        <a:effectLst/>
                        <a:latin typeface="+mn-ea"/>
                        <a:ea typeface="+mn-ea"/>
                        <a:cs typeface="Courier New" panose="02070309020205020404"/>
                      </a:endParaRPr>
                    </a:p>
                  </a:txBody>
                  <a:tcPr marL="0" marR="0" marT="0" marB="0" anchor="ctr">
                    <a:solidFill>
                      <a:schemeClr val="accent1">
                        <a:lumMod val="40000"/>
                        <a:lumOff val="60000"/>
                      </a:schemeClr>
                    </a:solidFill>
                  </a:tcPr>
                </a:tc>
              </a:tr>
            </a:tbl>
          </a:graphicData>
        </a:graphic>
      </p:graphicFrame>
    </p:spTree>
  </p:cSld>
  <p:clrMapOvr>
    <a:masterClrMapping/>
  </p:clrMapOvr>
  <p:transition spd="slow">
    <p:pull dir="ru"/>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请求分段中的硬件支持（</a:t>
            </a:r>
            <a:r>
              <a:rPr lang="en-US" altLang="zh-CN" sz="2100" b="1" dirty="0">
                <a:solidFill>
                  <a:schemeClr val="bg1"/>
                </a:solidFill>
                <a:cs typeface="+mn-ea"/>
                <a:sym typeface="+mn-lt"/>
              </a:rPr>
              <a:t>2</a:t>
            </a:r>
            <a:r>
              <a:rPr lang="zh-CN" altLang="en-US" sz="2100" b="1" dirty="0">
                <a:solidFill>
                  <a:schemeClr val="bg1"/>
                </a:solidFill>
                <a:cs typeface="+mn-ea"/>
                <a:sym typeface="+mn-lt"/>
              </a:rPr>
              <a:t>）</a:t>
            </a:r>
            <a:endParaRPr lang="zh-CN" altLang="en-US" sz="2100" b="1" dirty="0">
              <a:solidFill>
                <a:schemeClr val="bg1"/>
              </a:solidFill>
              <a:cs typeface="+mn-ea"/>
              <a:sym typeface="+mn-lt"/>
            </a:endParaRPr>
          </a:p>
        </p:txBody>
      </p:sp>
      <p:sp>
        <p:nvSpPr>
          <p:cNvPr id="5" name="矩形: 圆角 4"/>
          <p:cNvSpPr/>
          <p:nvPr/>
        </p:nvSpPr>
        <p:spPr>
          <a:xfrm>
            <a:off x="661294" y="1856068"/>
            <a:ext cx="1682411" cy="42776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dirty="0">
                <a:sym typeface="Wingdings" panose="05000000000000000000" pitchFamily="2" charset="2"/>
              </a:rPr>
              <a:t>缺段中断机构</a:t>
            </a:r>
            <a:endParaRPr lang="zh-CN" altLang="en-US" dirty="0">
              <a:sym typeface="Wingdings" panose="05000000000000000000" pitchFamily="2" charset="2"/>
            </a:endParaRPr>
          </a:p>
        </p:txBody>
      </p:sp>
      <p:sp>
        <p:nvSpPr>
          <p:cNvPr id="7" name="矩形: 圆角 4"/>
          <p:cNvSpPr/>
          <p:nvPr/>
        </p:nvSpPr>
        <p:spPr>
          <a:xfrm>
            <a:off x="5042491" y="1856068"/>
            <a:ext cx="1581767" cy="42776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dirty="0"/>
              <a:t>地址变换机构</a:t>
            </a:r>
            <a:endParaRPr lang="en-US" altLang="zh-CN" dirty="0"/>
          </a:p>
        </p:txBody>
      </p:sp>
      <p:sp>
        <p:nvSpPr>
          <p:cNvPr id="8" name="内容占位符 2"/>
          <p:cNvSpPr txBox="1"/>
          <p:nvPr/>
        </p:nvSpPr>
        <p:spPr>
          <a:xfrm>
            <a:off x="5042491" y="2398006"/>
            <a:ext cx="3440213" cy="11691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lvl="1" indent="-257175">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若段不在内存中，则必须先将所缺的段调入内存，并修改段表，然后利用段表进行地址变换。</a:t>
            </a:r>
            <a:endParaRPr lang="zh-CN" altLang="en-US" sz="1800" dirty="0">
              <a:cs typeface="+mn-ea"/>
              <a:sym typeface="+mn-lt"/>
            </a:endParaRPr>
          </a:p>
        </p:txBody>
      </p:sp>
      <p:cxnSp>
        <p:nvCxnSpPr>
          <p:cNvPr id="4" name="直接连接符 3"/>
          <p:cNvCxnSpPr/>
          <p:nvPr/>
        </p:nvCxnSpPr>
        <p:spPr>
          <a:xfrm>
            <a:off x="4671392" y="1960493"/>
            <a:ext cx="0" cy="3419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532243" y="4991928"/>
            <a:ext cx="424400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532243" y="5141015"/>
            <a:ext cx="4244009"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内容占位符 2"/>
          <p:cNvSpPr txBox="1"/>
          <p:nvPr/>
        </p:nvSpPr>
        <p:spPr>
          <a:xfrm>
            <a:off x="661294" y="2398006"/>
            <a:ext cx="3440213" cy="274300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7175" lvl="1" indent="-257175">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在指令执行期间产生和处理中断信号</a:t>
            </a:r>
            <a:endParaRPr lang="zh-CN" altLang="en-US" sz="1800" dirty="0">
              <a:cs typeface="+mn-ea"/>
              <a:sym typeface="+mn-lt"/>
            </a:endParaRPr>
          </a:p>
          <a:p>
            <a:pPr marL="257175" lvl="1" indent="-257175">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一条指令在执行期间，可能产生多次缺段中断</a:t>
            </a:r>
            <a:endParaRPr lang="zh-CN" altLang="en-US" sz="1800" dirty="0">
              <a:cs typeface="+mn-ea"/>
              <a:sym typeface="+mn-lt"/>
            </a:endParaRPr>
          </a:p>
          <a:p>
            <a:pPr marL="257175" lvl="1" indent="-257175">
              <a:lnSpc>
                <a:spcPct val="132000"/>
              </a:lnSpc>
              <a:spcBef>
                <a:spcPts val="280"/>
              </a:spcBef>
              <a:buClr>
                <a:srgbClr val="E71101"/>
              </a:buClr>
              <a:buSzPct val="100000"/>
              <a:buFont typeface="Wingdings" panose="05000000000000000000" pitchFamily="2" charset="2"/>
              <a:buChar char="n"/>
              <a:defRPr/>
            </a:pPr>
            <a:r>
              <a:rPr lang="zh-CN" altLang="en-US" sz="1800" dirty="0">
                <a:cs typeface="+mn-ea"/>
                <a:sym typeface="+mn-lt"/>
              </a:rPr>
              <a:t>由于段不是定长的，对缺段中断的处理要比对缺页中断的处理复杂</a:t>
            </a:r>
            <a:endParaRPr lang="zh-CN" altLang="en-US" sz="1800" dirty="0">
              <a:cs typeface="+mn-ea"/>
              <a:sym typeface="+mn-lt"/>
            </a:endParaRPr>
          </a:p>
        </p:txBody>
      </p:sp>
    </p:spTree>
  </p:cSld>
  <p:clrMapOvr>
    <a:masterClrMapping/>
  </p:clrMapOvr>
  <p:transition spd="slow">
    <p:pull dir="ru"/>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分段的共享</a:t>
            </a:r>
            <a:endParaRPr lang="zh-CN" altLang="en-US" sz="2100" b="1" dirty="0">
              <a:solidFill>
                <a:schemeClr val="bg1"/>
              </a:solidFill>
              <a:cs typeface="+mn-ea"/>
              <a:sym typeface="+mn-lt"/>
            </a:endParaRPr>
          </a:p>
        </p:txBody>
      </p:sp>
      <p:sp>
        <p:nvSpPr>
          <p:cNvPr id="21" name="íšḻîḋè"/>
          <p:cNvSpPr/>
          <p:nvPr/>
        </p:nvSpPr>
        <p:spPr>
          <a:xfrm>
            <a:off x="1002312" y="3087734"/>
            <a:ext cx="7839848" cy="1265099"/>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500" dirty="0">
                <a:cs typeface="+mn-ea"/>
                <a:sym typeface="+mn-lt"/>
              </a:rPr>
              <a:t>对首次请求使用共享段的用户，分配内存，调入共享段，修改该进程段表相应项，再为共享段表增加一项，</a:t>
            </a:r>
            <a:r>
              <a:rPr lang="en-US" altLang="zh-CN" sz="1500" dirty="0">
                <a:cs typeface="+mn-ea"/>
                <a:sym typeface="+mn-lt"/>
              </a:rPr>
              <a:t>count=1</a:t>
            </a:r>
            <a:endParaRPr lang="en-US" altLang="zh-CN" sz="1500" dirty="0">
              <a:cs typeface="+mn-ea"/>
              <a:sym typeface="+mn-lt"/>
            </a:endParaRPr>
          </a:p>
          <a:p>
            <a:pPr marL="257175" indent="-257175">
              <a:lnSpc>
                <a:spcPct val="120000"/>
              </a:lnSpc>
              <a:buClr>
                <a:srgbClr val="FF0000"/>
              </a:buClr>
              <a:buFont typeface="Wingdings" panose="05000000000000000000" pitchFamily="2" charset="2"/>
              <a:buChar char="Ø"/>
            </a:pPr>
            <a:r>
              <a:rPr lang="zh-CN" altLang="en-US" sz="1500" dirty="0">
                <a:cs typeface="+mn-ea"/>
                <a:sym typeface="+mn-lt"/>
              </a:rPr>
              <a:t>对其他使用共享段的用户，修改该进程段表相应项，再为共享段表增加一项，</a:t>
            </a:r>
            <a:r>
              <a:rPr lang="en-US" altLang="zh-CN" sz="1500" dirty="0">
                <a:cs typeface="+mn-ea"/>
                <a:sym typeface="+mn-lt"/>
              </a:rPr>
              <a:t>count=count+1</a:t>
            </a:r>
            <a:endParaRPr lang="en-US" altLang="zh-CN" sz="1500" dirty="0">
              <a:cs typeface="+mn-ea"/>
              <a:sym typeface="+mn-lt"/>
            </a:endParaRPr>
          </a:p>
        </p:txBody>
      </p:sp>
      <p:sp>
        <p:nvSpPr>
          <p:cNvPr id="22" name="i$lîďê"/>
          <p:cNvSpPr/>
          <p:nvPr/>
        </p:nvSpPr>
        <p:spPr>
          <a:xfrm>
            <a:off x="1044038" y="2749390"/>
            <a:ext cx="2772038" cy="294658"/>
          </a:xfrm>
          <a:prstGeom prst="rect">
            <a:avLst/>
          </a:prstGeom>
          <a:noFill/>
          <a:ln>
            <a:noFill/>
          </a:ln>
        </p:spPr>
        <p:txBody>
          <a:bodyPr wrap="square" lIns="68580" tIns="34290" rIns="68580" bIns="34290" anchor="ctr" anchorCtr="0">
            <a:noAutofit/>
          </a:bodyPr>
          <a:lstStyle/>
          <a:p>
            <a:r>
              <a:rPr lang="zh-CN" altLang="en-US" dirty="0">
                <a:cs typeface="+mn-ea"/>
                <a:sym typeface="+mn-lt"/>
              </a:rPr>
              <a:t>共享段的分配</a:t>
            </a:r>
            <a:endParaRPr lang="zh-CN" altLang="en-US" dirty="0">
              <a:cs typeface="+mn-ea"/>
              <a:sym typeface="+mn-lt"/>
            </a:endParaRPr>
          </a:p>
        </p:txBody>
      </p:sp>
      <p:sp>
        <p:nvSpPr>
          <p:cNvPr id="23" name="î$ļíḋè"/>
          <p:cNvSpPr/>
          <p:nvPr/>
        </p:nvSpPr>
        <p:spPr>
          <a:xfrm>
            <a:off x="1044037" y="4674396"/>
            <a:ext cx="7232171" cy="1023404"/>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500" dirty="0">
                <a:cs typeface="+mn-ea"/>
                <a:sym typeface="+mn-lt"/>
              </a:rPr>
              <a:t>撤销在该进程段表中共享段所对应的表项，并执行</a:t>
            </a:r>
            <a:r>
              <a:rPr lang="en-US" altLang="zh-CN" sz="1500" dirty="0">
                <a:cs typeface="+mn-ea"/>
                <a:sym typeface="+mn-lt"/>
              </a:rPr>
              <a:t>count=count-1</a:t>
            </a:r>
            <a:r>
              <a:rPr lang="zh-CN" altLang="en-US" sz="1500" dirty="0">
                <a:cs typeface="+mn-ea"/>
                <a:sym typeface="+mn-lt"/>
              </a:rPr>
              <a:t>操作</a:t>
            </a:r>
            <a:endParaRPr lang="zh-CN" altLang="en-US" sz="1500" dirty="0">
              <a:cs typeface="+mn-ea"/>
              <a:sym typeface="+mn-lt"/>
            </a:endParaRPr>
          </a:p>
          <a:p>
            <a:pPr marL="257175" indent="-257175">
              <a:lnSpc>
                <a:spcPct val="120000"/>
              </a:lnSpc>
              <a:buClr>
                <a:srgbClr val="FF0000"/>
              </a:buClr>
              <a:buFont typeface="Wingdings" panose="05000000000000000000" pitchFamily="2" charset="2"/>
              <a:buChar char="Ø"/>
            </a:pPr>
            <a:r>
              <a:rPr lang="zh-CN" altLang="en-US" sz="1500" dirty="0">
                <a:cs typeface="+mn-ea"/>
                <a:sym typeface="+mn-lt"/>
              </a:rPr>
              <a:t>若为</a:t>
            </a:r>
            <a:r>
              <a:rPr lang="en-US" altLang="zh-CN" sz="1500" dirty="0">
                <a:cs typeface="+mn-ea"/>
                <a:sym typeface="+mn-lt"/>
              </a:rPr>
              <a:t>0</a:t>
            </a:r>
            <a:r>
              <a:rPr lang="zh-CN" altLang="en-US" sz="1500" dirty="0">
                <a:cs typeface="+mn-ea"/>
                <a:sym typeface="+mn-lt"/>
              </a:rPr>
              <a:t>，回收该共享段的内存，并取消共享段表中对应的表项</a:t>
            </a:r>
            <a:endParaRPr lang="zh-CN" altLang="en-US" sz="1500" dirty="0">
              <a:cs typeface="+mn-ea"/>
              <a:sym typeface="+mn-lt"/>
            </a:endParaRPr>
          </a:p>
          <a:p>
            <a:pPr marL="257175" indent="-257175">
              <a:lnSpc>
                <a:spcPct val="120000"/>
              </a:lnSpc>
              <a:buClr>
                <a:srgbClr val="FF0000"/>
              </a:buClr>
              <a:buFont typeface="Wingdings" panose="05000000000000000000" pitchFamily="2" charset="2"/>
              <a:buChar char="Ø"/>
            </a:pPr>
            <a:r>
              <a:rPr lang="zh-CN" altLang="en-US" sz="1500" dirty="0">
                <a:cs typeface="+mn-ea"/>
                <a:sym typeface="+mn-lt"/>
              </a:rPr>
              <a:t>若不为</a:t>
            </a:r>
            <a:r>
              <a:rPr lang="en-US" altLang="zh-CN" sz="1500" dirty="0">
                <a:cs typeface="+mn-ea"/>
                <a:sym typeface="+mn-lt"/>
              </a:rPr>
              <a:t>0</a:t>
            </a:r>
            <a:r>
              <a:rPr lang="zh-CN" altLang="en-US" sz="1500" dirty="0">
                <a:cs typeface="+mn-ea"/>
                <a:sym typeface="+mn-lt"/>
              </a:rPr>
              <a:t>，只取消调用者进程在共享段表中的有关记录</a:t>
            </a:r>
            <a:endParaRPr lang="zh-CN" altLang="en-US" sz="1500" dirty="0">
              <a:cs typeface="+mn-ea"/>
              <a:sym typeface="+mn-lt"/>
            </a:endParaRPr>
          </a:p>
        </p:txBody>
      </p:sp>
      <p:sp>
        <p:nvSpPr>
          <p:cNvPr id="24" name="ïṧḷïḋè"/>
          <p:cNvSpPr/>
          <p:nvPr/>
        </p:nvSpPr>
        <p:spPr>
          <a:xfrm>
            <a:off x="1044040" y="4334091"/>
            <a:ext cx="2772038" cy="311327"/>
          </a:xfrm>
          <a:prstGeom prst="rect">
            <a:avLst/>
          </a:prstGeom>
          <a:noFill/>
          <a:ln>
            <a:noFill/>
          </a:ln>
        </p:spPr>
        <p:txBody>
          <a:bodyPr wrap="square" lIns="68580" tIns="34290" rIns="68580" bIns="34290" anchor="ctr" anchorCtr="0">
            <a:noAutofit/>
          </a:bodyPr>
          <a:lstStyle/>
          <a:p>
            <a:r>
              <a:rPr lang="zh-CN" altLang="en-US" dirty="0">
                <a:cs typeface="+mn-ea"/>
                <a:sym typeface="+mn-lt"/>
              </a:rPr>
              <a:t>共享段的回收</a:t>
            </a:r>
            <a:endParaRPr lang="zh-CN" altLang="en-US" dirty="0">
              <a:cs typeface="+mn-ea"/>
              <a:sym typeface="+mn-lt"/>
            </a:endParaRPr>
          </a:p>
        </p:txBody>
      </p:sp>
      <p:sp>
        <p:nvSpPr>
          <p:cNvPr id="26" name="íšḻíḑê"/>
          <p:cNvSpPr/>
          <p:nvPr/>
        </p:nvSpPr>
        <p:spPr>
          <a:xfrm>
            <a:off x="1044037" y="1799056"/>
            <a:ext cx="3670901" cy="304310"/>
          </a:xfrm>
          <a:prstGeom prst="rect">
            <a:avLst/>
          </a:prstGeom>
          <a:noFill/>
          <a:ln>
            <a:noFill/>
          </a:ln>
        </p:spPr>
        <p:txBody>
          <a:bodyPr wrap="square" lIns="68580" tIns="34290" rIns="68580" bIns="34290" anchor="ctr" anchorCtr="0">
            <a:noAutofit/>
          </a:bodyPr>
          <a:lstStyle/>
          <a:p>
            <a:r>
              <a:rPr lang="zh-CN" altLang="en-US" dirty="0">
                <a:solidFill>
                  <a:srgbClr val="FF0000"/>
                </a:solidFill>
                <a:cs typeface="+mn-ea"/>
                <a:sym typeface="+mn-lt"/>
              </a:rPr>
              <a:t>共享段表：</a:t>
            </a:r>
            <a:r>
              <a:rPr lang="zh-CN" altLang="en-US" dirty="0">
                <a:cs typeface="+mn-ea"/>
                <a:sym typeface="+mn-lt"/>
              </a:rPr>
              <a:t>保存所有的共享段</a:t>
            </a:r>
            <a:endParaRPr lang="zh-CN" altLang="en-US" dirty="0">
              <a:cs typeface="+mn-ea"/>
              <a:sym typeface="+mn-lt"/>
            </a:endParaRPr>
          </a:p>
        </p:txBody>
      </p:sp>
      <p:sp>
        <p:nvSpPr>
          <p:cNvPr id="27" name="îSļiḓè"/>
          <p:cNvSpPr/>
          <p:nvPr/>
        </p:nvSpPr>
        <p:spPr>
          <a:xfrm>
            <a:off x="531412" y="1715761"/>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8" name="íṥḻîḓe"/>
          <p:cNvSpPr/>
          <p:nvPr/>
        </p:nvSpPr>
        <p:spPr>
          <a:xfrm>
            <a:off x="531412" y="4301118"/>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9" name="îşļiḓè"/>
          <p:cNvSpPr/>
          <p:nvPr/>
        </p:nvSpPr>
        <p:spPr>
          <a:xfrm>
            <a:off x="531412" y="2725949"/>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30" name="îṡḷíďe"/>
          <p:cNvSpPr/>
          <p:nvPr/>
        </p:nvSpPr>
        <p:spPr>
          <a:xfrm>
            <a:off x="674103" y="1862864"/>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31" name="íSlíḋe"/>
          <p:cNvSpPr/>
          <p:nvPr/>
        </p:nvSpPr>
        <p:spPr>
          <a:xfrm>
            <a:off x="674102" y="2879145"/>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32" name="ïśḷïḓe"/>
          <p:cNvSpPr/>
          <p:nvPr/>
        </p:nvSpPr>
        <p:spPr>
          <a:xfrm>
            <a:off x="695806" y="4443212"/>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14" name="íšḻîḋè"/>
          <p:cNvSpPr/>
          <p:nvPr/>
        </p:nvSpPr>
        <p:spPr>
          <a:xfrm>
            <a:off x="1044038" y="2166792"/>
            <a:ext cx="2165240" cy="469407"/>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cs typeface="+mn-ea"/>
                <a:sym typeface="+mn-lt"/>
              </a:rPr>
              <a:t>共享进程计数</a:t>
            </a:r>
            <a:r>
              <a:rPr lang="en-US" altLang="zh-CN" sz="1650" dirty="0">
                <a:cs typeface="+mn-ea"/>
                <a:sym typeface="+mn-lt"/>
              </a:rPr>
              <a:t>count</a:t>
            </a:r>
            <a:endParaRPr lang="en-US" altLang="zh-CN" sz="1650" dirty="0">
              <a:cs typeface="+mn-ea"/>
              <a:sym typeface="+mn-lt"/>
            </a:endParaRPr>
          </a:p>
        </p:txBody>
      </p:sp>
      <p:sp>
        <p:nvSpPr>
          <p:cNvPr id="15" name="íšḻîḋè"/>
          <p:cNvSpPr/>
          <p:nvPr/>
        </p:nvSpPr>
        <p:spPr>
          <a:xfrm>
            <a:off x="3251005" y="2160890"/>
            <a:ext cx="2165240" cy="374958"/>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cs typeface="+mn-ea"/>
                <a:sym typeface="+mn-lt"/>
              </a:rPr>
              <a:t>存取控制字段</a:t>
            </a:r>
            <a:endParaRPr lang="zh-CN" altLang="en-US" sz="1650" dirty="0">
              <a:cs typeface="+mn-ea"/>
              <a:sym typeface="+mn-lt"/>
            </a:endParaRPr>
          </a:p>
        </p:txBody>
      </p:sp>
      <p:sp>
        <p:nvSpPr>
          <p:cNvPr id="16" name="íšḻîḋè"/>
          <p:cNvSpPr/>
          <p:nvPr/>
        </p:nvSpPr>
        <p:spPr>
          <a:xfrm>
            <a:off x="3251005" y="2516289"/>
            <a:ext cx="2165240" cy="374958"/>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sz="1650" dirty="0">
                <a:cs typeface="+mn-ea"/>
                <a:sym typeface="+mn-lt"/>
              </a:rPr>
              <a:t>段号</a:t>
            </a:r>
            <a:endParaRPr lang="zh-CN" altLang="en-US" sz="1650" dirty="0">
              <a:cs typeface="+mn-ea"/>
              <a:sym typeface="+mn-lt"/>
            </a:endParaRPr>
          </a:p>
        </p:txBody>
      </p:sp>
      <p:pic>
        <p:nvPicPr>
          <p:cNvPr id="17" name="图片 16"/>
          <p:cNvPicPr>
            <a:picLocks noChangeAspect="1"/>
          </p:cNvPicPr>
          <p:nvPr/>
        </p:nvPicPr>
        <p:blipFill>
          <a:blip r:embed="rId1"/>
          <a:stretch>
            <a:fillRect/>
          </a:stretch>
        </p:blipFill>
        <p:spPr>
          <a:xfrm>
            <a:off x="5052714" y="1668181"/>
            <a:ext cx="3789446" cy="1439798"/>
          </a:xfrm>
          <a:prstGeom prst="rect">
            <a:avLst/>
          </a:prstGeom>
        </p:spPr>
      </p:pic>
    </p:spTree>
  </p:cSld>
  <p:clrMapOvr>
    <a:masterClrMapping/>
  </p:clrMapOvr>
  <p:transition spd="slow">
    <p:pull dir="ru"/>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分段保护</a:t>
            </a:r>
            <a:endParaRPr lang="zh-CN" altLang="en-US" sz="2100" b="1" dirty="0">
              <a:solidFill>
                <a:schemeClr val="bg1"/>
              </a:solidFill>
              <a:cs typeface="+mn-ea"/>
              <a:sym typeface="+mn-lt"/>
            </a:endParaRPr>
          </a:p>
        </p:txBody>
      </p:sp>
      <p:sp>
        <p:nvSpPr>
          <p:cNvPr id="14" name="íšḻîḋè"/>
          <p:cNvSpPr/>
          <p:nvPr/>
        </p:nvSpPr>
        <p:spPr>
          <a:xfrm>
            <a:off x="1002312" y="3354064"/>
            <a:ext cx="7839848" cy="726220"/>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cs typeface="+mn-ea"/>
                <a:sym typeface="+mn-lt"/>
              </a:rPr>
              <a:t>通过“存取控制”字段决定段的访问方式；</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cs typeface="+mn-ea"/>
                <a:sym typeface="+mn-lt"/>
              </a:rPr>
              <a:t>基于硬件实现。</a:t>
            </a:r>
            <a:endParaRPr lang="zh-CN" altLang="en-US" dirty="0">
              <a:cs typeface="+mn-ea"/>
              <a:sym typeface="+mn-lt"/>
            </a:endParaRPr>
          </a:p>
        </p:txBody>
      </p:sp>
      <p:sp>
        <p:nvSpPr>
          <p:cNvPr id="15" name="i$lîďê"/>
          <p:cNvSpPr/>
          <p:nvPr/>
        </p:nvSpPr>
        <p:spPr>
          <a:xfrm>
            <a:off x="1044038" y="3022379"/>
            <a:ext cx="4372207" cy="294658"/>
          </a:xfrm>
          <a:prstGeom prst="rect">
            <a:avLst/>
          </a:prstGeom>
          <a:noFill/>
          <a:ln>
            <a:noFill/>
          </a:ln>
        </p:spPr>
        <p:txBody>
          <a:bodyPr wrap="square" lIns="68580" tIns="34290" rIns="68580" bIns="34290" anchor="ctr" anchorCtr="0">
            <a:noAutofit/>
          </a:bodyPr>
          <a:lstStyle/>
          <a:p>
            <a:r>
              <a:rPr lang="zh-CN" altLang="en-US" dirty="0">
                <a:solidFill>
                  <a:srgbClr val="FF0000"/>
                </a:solidFill>
                <a:cs typeface="+mn-ea"/>
                <a:sym typeface="+mn-lt"/>
              </a:rPr>
              <a:t>存取控制检查：</a:t>
            </a:r>
            <a:r>
              <a:rPr lang="zh-CN" altLang="en-US" dirty="0">
                <a:solidFill>
                  <a:srgbClr val="0000FF"/>
                </a:solidFill>
                <a:cs typeface="+mn-ea"/>
                <a:sym typeface="+mn-lt"/>
              </a:rPr>
              <a:t>以段为基本单位</a:t>
            </a:r>
            <a:r>
              <a:rPr lang="zh-CN" altLang="en-US" dirty="0">
                <a:cs typeface="+mn-ea"/>
                <a:sym typeface="+mn-lt"/>
              </a:rPr>
              <a:t>进行。</a:t>
            </a:r>
            <a:endParaRPr lang="zh-CN" altLang="en-US" dirty="0">
              <a:cs typeface="+mn-ea"/>
              <a:sym typeface="+mn-lt"/>
            </a:endParaRPr>
          </a:p>
        </p:txBody>
      </p:sp>
      <p:sp>
        <p:nvSpPr>
          <p:cNvPr id="16" name="î$ļíḋè"/>
          <p:cNvSpPr/>
          <p:nvPr/>
        </p:nvSpPr>
        <p:spPr>
          <a:xfrm>
            <a:off x="1044037" y="4547889"/>
            <a:ext cx="7232171" cy="1023404"/>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cs typeface="+mn-ea"/>
                <a:sym typeface="+mn-lt"/>
              </a:rPr>
              <a:t>低编号的环具有高优先权；</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cs typeface="+mn-ea"/>
                <a:sym typeface="+mn-lt"/>
              </a:rPr>
              <a:t>一个程序可以访问驻留在相同环或较低特权环（外环）中的数据；</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cs typeface="+mn-ea"/>
                <a:sym typeface="+mn-lt"/>
              </a:rPr>
              <a:t>一个程序可以调用驻留在相同环或较高特权环（内环）中的服务。</a:t>
            </a:r>
            <a:endParaRPr lang="zh-CN" altLang="en-US" dirty="0">
              <a:cs typeface="+mn-ea"/>
              <a:sym typeface="+mn-lt"/>
            </a:endParaRPr>
          </a:p>
        </p:txBody>
      </p:sp>
      <p:sp>
        <p:nvSpPr>
          <p:cNvPr id="17" name="ïṧḷïḋè"/>
          <p:cNvSpPr/>
          <p:nvPr/>
        </p:nvSpPr>
        <p:spPr>
          <a:xfrm>
            <a:off x="1044040" y="4207584"/>
            <a:ext cx="2772038" cy="311327"/>
          </a:xfrm>
          <a:prstGeom prst="rect">
            <a:avLst/>
          </a:prstGeom>
          <a:noFill/>
          <a:ln>
            <a:noFill/>
          </a:ln>
        </p:spPr>
        <p:txBody>
          <a:bodyPr wrap="square" lIns="68580" tIns="34290" rIns="68580" bIns="34290" anchor="ctr" anchorCtr="0">
            <a:noAutofit/>
          </a:bodyPr>
          <a:lstStyle/>
          <a:p>
            <a:r>
              <a:rPr lang="zh-CN" altLang="en-US" dirty="0">
                <a:solidFill>
                  <a:srgbClr val="FF0000"/>
                </a:solidFill>
                <a:cs typeface="+mn-ea"/>
                <a:sym typeface="+mn-lt"/>
              </a:rPr>
              <a:t>环保护机构：</a:t>
            </a:r>
            <a:endParaRPr lang="zh-CN" altLang="en-US" dirty="0">
              <a:solidFill>
                <a:srgbClr val="FF0000"/>
              </a:solidFill>
              <a:cs typeface="+mn-ea"/>
              <a:sym typeface="+mn-lt"/>
            </a:endParaRPr>
          </a:p>
        </p:txBody>
      </p:sp>
      <p:sp>
        <p:nvSpPr>
          <p:cNvPr id="18" name="íšḻíḑê"/>
          <p:cNvSpPr/>
          <p:nvPr/>
        </p:nvSpPr>
        <p:spPr>
          <a:xfrm>
            <a:off x="1044037" y="1799056"/>
            <a:ext cx="3670901" cy="304310"/>
          </a:xfrm>
          <a:prstGeom prst="rect">
            <a:avLst/>
          </a:prstGeom>
          <a:noFill/>
          <a:ln>
            <a:noFill/>
          </a:ln>
        </p:spPr>
        <p:txBody>
          <a:bodyPr wrap="square" lIns="68580" tIns="34290" rIns="68580" bIns="34290" anchor="ctr" anchorCtr="0">
            <a:noAutofit/>
          </a:bodyPr>
          <a:lstStyle/>
          <a:p>
            <a:r>
              <a:rPr lang="zh-CN" altLang="en-US" dirty="0">
                <a:solidFill>
                  <a:srgbClr val="FF0000"/>
                </a:solidFill>
                <a:cs typeface="+mn-ea"/>
                <a:sym typeface="+mn-lt"/>
              </a:rPr>
              <a:t>越界检查：</a:t>
            </a:r>
            <a:endParaRPr lang="zh-CN" altLang="en-US" dirty="0">
              <a:solidFill>
                <a:srgbClr val="FF0000"/>
              </a:solidFill>
              <a:cs typeface="+mn-ea"/>
              <a:sym typeface="+mn-lt"/>
            </a:endParaRPr>
          </a:p>
        </p:txBody>
      </p:sp>
      <p:sp>
        <p:nvSpPr>
          <p:cNvPr id="19" name="îSļiḓè"/>
          <p:cNvSpPr/>
          <p:nvPr/>
        </p:nvSpPr>
        <p:spPr>
          <a:xfrm>
            <a:off x="531412" y="1715761"/>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25" name="íṥḻîḓe"/>
          <p:cNvSpPr/>
          <p:nvPr/>
        </p:nvSpPr>
        <p:spPr>
          <a:xfrm>
            <a:off x="531412" y="4174611"/>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33" name="îşļiḓè"/>
          <p:cNvSpPr/>
          <p:nvPr/>
        </p:nvSpPr>
        <p:spPr>
          <a:xfrm>
            <a:off x="531412" y="2998938"/>
            <a:ext cx="470900" cy="470900"/>
          </a:xfrm>
          <a:prstGeom prst="ellipse">
            <a:avLst/>
          </a:prstGeom>
          <a:solidFill>
            <a:srgbClr val="00005C"/>
          </a:solidFill>
          <a:ln>
            <a:solidFill>
              <a:srgbClr val="00005C"/>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rmAutofit/>
          </a:bodyPr>
          <a:lstStyle/>
          <a:p>
            <a:pPr algn="ctr"/>
            <a:endParaRPr>
              <a:cs typeface="+mn-ea"/>
              <a:sym typeface="+mn-lt"/>
            </a:endParaRPr>
          </a:p>
        </p:txBody>
      </p:sp>
      <p:sp>
        <p:nvSpPr>
          <p:cNvPr id="34" name="îṡḷíďe"/>
          <p:cNvSpPr/>
          <p:nvPr/>
        </p:nvSpPr>
        <p:spPr>
          <a:xfrm>
            <a:off x="674103" y="1862864"/>
            <a:ext cx="195860" cy="185903"/>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35" name="íSlíḋe"/>
          <p:cNvSpPr/>
          <p:nvPr/>
        </p:nvSpPr>
        <p:spPr>
          <a:xfrm>
            <a:off x="674102" y="3152134"/>
            <a:ext cx="195861" cy="171603"/>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36" name="ïśḷïḓe"/>
          <p:cNvSpPr/>
          <p:nvPr/>
        </p:nvSpPr>
        <p:spPr>
          <a:xfrm>
            <a:off x="695806" y="4316705"/>
            <a:ext cx="158689" cy="194480"/>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wrap="square" lIns="68580" tIns="34290" rIns="68580" bIns="34290" anchor="ctr">
            <a:normAutofit fontScale="25000" lnSpcReduction="20000"/>
          </a:bodyPr>
          <a:lstStyle/>
          <a:p>
            <a:pPr algn="ctr"/>
            <a:endParaRPr>
              <a:cs typeface="+mn-ea"/>
              <a:sym typeface="+mn-lt"/>
            </a:endParaRPr>
          </a:p>
        </p:txBody>
      </p:sp>
      <p:sp>
        <p:nvSpPr>
          <p:cNvPr id="37" name="íšḻîḋè"/>
          <p:cNvSpPr/>
          <p:nvPr/>
        </p:nvSpPr>
        <p:spPr>
          <a:xfrm>
            <a:off x="1044037" y="2140158"/>
            <a:ext cx="5574266" cy="469407"/>
          </a:xfrm>
          <a:prstGeom prst="rect">
            <a:avLst/>
          </a:prstGeom>
          <a:noFill/>
          <a:ln>
            <a:noFill/>
          </a:ln>
        </p:spPr>
        <p:txBody>
          <a:bodyPr wrap="square" lIns="68580" tIns="34290" rIns="68580" bIns="34290" anchor="t" anchorCtr="0">
            <a:noAutofit/>
          </a:bodyPr>
          <a:lstStyle/>
          <a:p>
            <a:pPr marL="257175" indent="-257175">
              <a:lnSpc>
                <a:spcPct val="120000"/>
              </a:lnSpc>
              <a:buClr>
                <a:srgbClr val="FF0000"/>
              </a:buClr>
              <a:buFont typeface="Wingdings" panose="05000000000000000000" pitchFamily="2" charset="2"/>
              <a:buChar char="Ø"/>
            </a:pPr>
            <a:r>
              <a:rPr lang="zh-CN" altLang="en-US" dirty="0">
                <a:cs typeface="+mn-ea"/>
                <a:sym typeface="+mn-lt"/>
              </a:rPr>
              <a:t>由地址变换机构来完成；</a:t>
            </a:r>
            <a:endParaRPr lang="zh-CN" altLang="en-US" dirty="0">
              <a:cs typeface="+mn-ea"/>
              <a:sym typeface="+mn-lt"/>
            </a:endParaRPr>
          </a:p>
          <a:p>
            <a:pPr marL="257175" indent="-257175">
              <a:lnSpc>
                <a:spcPct val="120000"/>
              </a:lnSpc>
              <a:buClr>
                <a:srgbClr val="FF0000"/>
              </a:buClr>
              <a:buFont typeface="Wingdings" panose="05000000000000000000" pitchFamily="2" charset="2"/>
              <a:buChar char="Ø"/>
            </a:pPr>
            <a:r>
              <a:rPr lang="zh-CN" altLang="en-US" dirty="0">
                <a:cs typeface="+mn-ea"/>
                <a:sym typeface="+mn-lt"/>
              </a:rPr>
              <a:t>比较段号与段表长度；段内地址与段表长度。</a:t>
            </a:r>
            <a:endParaRPr lang="zh-CN" altLang="en-US" dirty="0">
              <a:cs typeface="+mn-ea"/>
              <a:sym typeface="+mn-lt"/>
            </a:endParaRPr>
          </a:p>
        </p:txBody>
      </p:sp>
    </p:spTree>
  </p:cSld>
  <p:clrMapOvr>
    <a:masterClrMapping/>
  </p:clrMapOvr>
  <p:transition spd="slow">
    <p:pull dir="ru"/>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3"/>
          <p:cNvSpPr txBox="1"/>
          <p:nvPr/>
        </p:nvSpPr>
        <p:spPr>
          <a:xfrm>
            <a:off x="502444" y="5059446"/>
            <a:ext cx="8137922" cy="222203"/>
          </a:xfrm>
          <a:prstGeom prst="rect">
            <a:avLst/>
          </a:prstGeom>
        </p:spPr>
        <p:txBody>
          <a:bodyPr vert="horz" anchor="ctr">
            <a:noAutofit/>
          </a:bodyPr>
          <a:lstStyle>
            <a:lvl1pPr marL="0" indent="0" algn="r" defTabSz="914400" rtl="0" eaLnBrk="1" latinLnBrk="0" hangingPunct="1">
              <a:lnSpc>
                <a:spcPct val="90000"/>
              </a:lnSpc>
              <a:spcBef>
                <a:spcPts val="1000"/>
              </a:spcBef>
              <a:buFont typeface="Arial" panose="020B0604020202020204" pitchFamily="34" charset="0"/>
              <a:buNone/>
              <a:defRPr sz="1500" b="0" kern="12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125">
                <a:cs typeface="+mn-ea"/>
                <a:sym typeface="+mn-lt"/>
              </a:rPr>
              <a:t>Date</a:t>
            </a:r>
            <a:endParaRPr lang="zh-CN" altLang="en-US" sz="1125" dirty="0">
              <a:cs typeface="+mn-ea"/>
              <a:sym typeface="+mn-lt"/>
            </a:endParaRPr>
          </a:p>
        </p:txBody>
      </p:sp>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578644" y="1050622"/>
            <a:ext cx="1539204" cy="415498"/>
          </a:xfrm>
          <a:prstGeom prst="rect">
            <a:avLst/>
          </a:prstGeom>
        </p:spPr>
        <p:txBody>
          <a:bodyPr wrap="none">
            <a:spAutoFit/>
          </a:bodyPr>
          <a:lstStyle/>
          <a:p>
            <a:r>
              <a:rPr lang="zh-CN" altLang="en-US" sz="2100" b="1" dirty="0">
                <a:solidFill>
                  <a:schemeClr val="bg1"/>
                </a:solidFill>
                <a:cs typeface="+mn-ea"/>
                <a:sym typeface="+mn-lt"/>
              </a:rPr>
              <a:t>内容导航：</a:t>
            </a:r>
            <a:endParaRPr lang="zh-CN" altLang="en-US" sz="2100" b="1" dirty="0">
              <a:solidFill>
                <a:schemeClr val="bg1"/>
              </a:solidFill>
              <a:cs typeface="+mn-ea"/>
              <a:sym typeface="+mn-lt"/>
            </a:endParaRPr>
          </a:p>
        </p:txBody>
      </p:sp>
      <p:sp>
        <p:nvSpPr>
          <p:cNvPr id="22" name="矩形 21"/>
          <p:cNvSpPr/>
          <p:nvPr/>
        </p:nvSpPr>
        <p:spPr>
          <a:xfrm>
            <a:off x="1272352" y="2160374"/>
            <a:ext cx="3375110" cy="369332"/>
          </a:xfrm>
          <a:prstGeom prst="rect">
            <a:avLst/>
          </a:prstGeom>
        </p:spPr>
        <p:txBody>
          <a:bodyPr wrap="square">
            <a:spAutoFit/>
          </a:bodyPr>
          <a:lstStyle/>
          <a:p>
            <a:r>
              <a:rPr lang="en-US" altLang="zh-CN" dirty="0">
                <a:cs typeface="+mn-ea"/>
                <a:sym typeface="+mn-lt"/>
              </a:rPr>
              <a:t>6.1 </a:t>
            </a:r>
            <a:r>
              <a:rPr lang="zh-CN" altLang="en-US" dirty="0">
                <a:cs typeface="+mn-ea"/>
                <a:sym typeface="+mn-lt"/>
              </a:rPr>
              <a:t>虚拟存储器概述</a:t>
            </a:r>
            <a:endParaRPr lang="zh-CN" altLang="en-US" dirty="0">
              <a:cs typeface="+mn-ea"/>
              <a:sym typeface="+mn-lt"/>
            </a:endParaRPr>
          </a:p>
        </p:txBody>
      </p:sp>
      <p:sp>
        <p:nvSpPr>
          <p:cNvPr id="23" name="矩形 22"/>
          <p:cNvSpPr/>
          <p:nvPr/>
        </p:nvSpPr>
        <p:spPr>
          <a:xfrm>
            <a:off x="1272352" y="2639005"/>
            <a:ext cx="3299648" cy="369332"/>
          </a:xfrm>
          <a:prstGeom prst="rect">
            <a:avLst/>
          </a:prstGeom>
        </p:spPr>
        <p:txBody>
          <a:bodyPr wrap="square">
            <a:spAutoFit/>
          </a:bodyPr>
          <a:lstStyle/>
          <a:p>
            <a:r>
              <a:rPr lang="en-US" altLang="zh-CN" dirty="0">
                <a:cs typeface="+mn-ea"/>
                <a:sym typeface="+mn-lt"/>
              </a:rPr>
              <a:t>6.2 </a:t>
            </a:r>
            <a:r>
              <a:rPr lang="zh-CN" altLang="en-US" dirty="0">
                <a:cs typeface="+mn-ea"/>
                <a:sym typeface="+mn-lt"/>
              </a:rPr>
              <a:t>请求分页存储管理方式</a:t>
            </a:r>
            <a:endParaRPr lang="en-US" altLang="zh-CN" dirty="0">
              <a:cs typeface="+mn-ea"/>
              <a:sym typeface="+mn-lt"/>
            </a:endParaRPr>
          </a:p>
        </p:txBody>
      </p:sp>
      <p:sp>
        <p:nvSpPr>
          <p:cNvPr id="24" name="矩形 23"/>
          <p:cNvSpPr/>
          <p:nvPr/>
        </p:nvSpPr>
        <p:spPr>
          <a:xfrm>
            <a:off x="1272352" y="3103349"/>
            <a:ext cx="2616725" cy="369332"/>
          </a:xfrm>
          <a:prstGeom prst="rect">
            <a:avLst/>
          </a:prstGeom>
        </p:spPr>
        <p:txBody>
          <a:bodyPr wrap="square">
            <a:spAutoFit/>
          </a:bodyPr>
          <a:lstStyle/>
          <a:p>
            <a:r>
              <a:rPr lang="en-US" altLang="zh-CN" dirty="0">
                <a:cs typeface="+mn-ea"/>
                <a:sym typeface="+mn-lt"/>
              </a:rPr>
              <a:t>6.3 </a:t>
            </a:r>
            <a:r>
              <a:rPr lang="zh-CN" altLang="en-US" dirty="0">
                <a:cs typeface="+mn-ea"/>
                <a:sym typeface="+mn-lt"/>
              </a:rPr>
              <a:t>页面置换算法</a:t>
            </a:r>
            <a:endParaRPr lang="en-US" altLang="zh-CN" dirty="0">
              <a:cs typeface="+mn-ea"/>
              <a:sym typeface="+mn-lt"/>
            </a:endParaRPr>
          </a:p>
        </p:txBody>
      </p:sp>
      <p:sp>
        <p:nvSpPr>
          <p:cNvPr id="25" name="矩形 24"/>
          <p:cNvSpPr/>
          <p:nvPr/>
        </p:nvSpPr>
        <p:spPr>
          <a:xfrm>
            <a:off x="1272352" y="3567692"/>
            <a:ext cx="2616725" cy="369332"/>
          </a:xfrm>
          <a:prstGeom prst="rect">
            <a:avLst/>
          </a:prstGeom>
        </p:spPr>
        <p:txBody>
          <a:bodyPr wrap="square">
            <a:spAutoFit/>
          </a:bodyPr>
          <a:lstStyle/>
          <a:p>
            <a:r>
              <a:rPr lang="en-US" altLang="zh-CN" dirty="0">
                <a:cs typeface="+mn-ea"/>
                <a:sym typeface="+mn-lt"/>
              </a:rPr>
              <a:t>6.4 </a:t>
            </a:r>
            <a:r>
              <a:rPr lang="zh-CN" altLang="en-US" dirty="0">
                <a:cs typeface="+mn-ea"/>
                <a:sym typeface="+mn-lt"/>
              </a:rPr>
              <a:t>抖动与工作集</a:t>
            </a:r>
            <a:endParaRPr lang="zh-CN" altLang="en-US" dirty="0">
              <a:cs typeface="+mn-ea"/>
              <a:sym typeface="+mn-lt"/>
            </a:endParaRPr>
          </a:p>
        </p:txBody>
      </p:sp>
      <p:sp>
        <p:nvSpPr>
          <p:cNvPr id="27" name="矩形 26"/>
          <p:cNvSpPr/>
          <p:nvPr/>
        </p:nvSpPr>
        <p:spPr>
          <a:xfrm>
            <a:off x="1272352" y="4032036"/>
            <a:ext cx="2929007" cy="369332"/>
          </a:xfrm>
          <a:prstGeom prst="rect">
            <a:avLst/>
          </a:prstGeom>
        </p:spPr>
        <p:txBody>
          <a:bodyPr wrap="square">
            <a:spAutoFit/>
          </a:bodyPr>
          <a:lstStyle/>
          <a:p>
            <a:r>
              <a:rPr lang="en-US" altLang="zh-CN" dirty="0">
                <a:cs typeface="+mn-ea"/>
                <a:sym typeface="+mn-lt"/>
              </a:rPr>
              <a:t>6.5 </a:t>
            </a:r>
            <a:r>
              <a:rPr lang="zh-CN" altLang="en-US" dirty="0">
                <a:cs typeface="+mn-ea"/>
                <a:sym typeface="+mn-lt"/>
              </a:rPr>
              <a:t>请求分段存储管理方式</a:t>
            </a:r>
            <a:endParaRPr lang="zh-CN" altLang="en-US" dirty="0">
              <a:cs typeface="+mn-ea"/>
              <a:sym typeface="+mn-lt"/>
            </a:endParaRPr>
          </a:p>
        </p:txBody>
      </p:sp>
      <p:sp>
        <p:nvSpPr>
          <p:cNvPr id="28" name="矩形 27"/>
          <p:cNvSpPr/>
          <p:nvPr/>
        </p:nvSpPr>
        <p:spPr>
          <a:xfrm>
            <a:off x="1272352" y="4496380"/>
            <a:ext cx="2761613" cy="369332"/>
          </a:xfrm>
          <a:prstGeom prst="rect">
            <a:avLst/>
          </a:prstGeom>
        </p:spPr>
        <p:txBody>
          <a:bodyPr wrap="square">
            <a:spAutoFit/>
          </a:bodyPr>
          <a:lstStyle/>
          <a:p>
            <a:r>
              <a:rPr lang="en-US" altLang="zh-CN" b="1" dirty="0">
                <a:solidFill>
                  <a:srgbClr val="0000FF"/>
                </a:solidFill>
                <a:cs typeface="+mn-ea"/>
                <a:sym typeface="+mn-lt"/>
              </a:rPr>
              <a:t>6.6 </a:t>
            </a:r>
            <a:r>
              <a:rPr lang="zh-CN" altLang="en-US" b="1" dirty="0">
                <a:solidFill>
                  <a:srgbClr val="0000FF"/>
                </a:solidFill>
                <a:cs typeface="+mn-ea"/>
                <a:sym typeface="+mn-lt"/>
              </a:rPr>
              <a:t>虚拟存储器实现实例</a:t>
            </a:r>
            <a:endParaRPr lang="zh-CN" altLang="en-US" b="1" dirty="0">
              <a:solidFill>
                <a:srgbClr val="0000FF"/>
              </a:solidFill>
              <a:cs typeface="+mn-ea"/>
              <a:sym typeface="+mn-lt"/>
            </a:endParaRPr>
          </a:p>
        </p:txBody>
      </p:sp>
      <p:sp>
        <p:nvSpPr>
          <p:cNvPr id="3" name="矩形 2"/>
          <p:cNvSpPr/>
          <p:nvPr/>
        </p:nvSpPr>
        <p:spPr>
          <a:xfrm>
            <a:off x="5546325" y="2647003"/>
            <a:ext cx="2896947" cy="507831"/>
          </a:xfrm>
          <a:prstGeom prst="rect">
            <a:avLst/>
          </a:prstGeom>
        </p:spPr>
        <p:txBody>
          <a:bodyPr wrap="none">
            <a:spAutoFit/>
          </a:bodyPr>
          <a:lstStyle/>
          <a:p>
            <a:r>
              <a:rPr lang="zh-CN" altLang="en-US" sz="2700" dirty="0">
                <a:solidFill>
                  <a:srgbClr val="000000"/>
                </a:solidFill>
                <a:cs typeface="+mn-ea"/>
                <a:sym typeface="+mn-lt"/>
              </a:rPr>
              <a:t>第</a:t>
            </a:r>
            <a:r>
              <a:rPr lang="en-US" altLang="zh-CN" sz="2700" dirty="0">
                <a:solidFill>
                  <a:srgbClr val="000000"/>
                </a:solidFill>
                <a:cs typeface="+mn-ea"/>
                <a:sym typeface="+mn-lt"/>
              </a:rPr>
              <a:t>6</a:t>
            </a:r>
            <a:r>
              <a:rPr lang="zh-CN" altLang="en-US" sz="2700" dirty="0">
                <a:solidFill>
                  <a:srgbClr val="000000"/>
                </a:solidFill>
                <a:cs typeface="+mn-ea"/>
                <a:sym typeface="+mn-lt"/>
              </a:rPr>
              <a:t>章 虚拟存储器</a:t>
            </a:r>
            <a:endParaRPr lang="zh-CN" altLang="en-US" sz="2700" dirty="0">
              <a:cs typeface="+mn-ea"/>
              <a:sym typeface="+mn-lt"/>
            </a:endParaRPr>
          </a:p>
        </p:txBody>
      </p:sp>
      <p:cxnSp>
        <p:nvCxnSpPr>
          <p:cNvPr id="5" name="直接连接符 4"/>
          <p:cNvCxnSpPr/>
          <p:nvPr/>
        </p:nvCxnSpPr>
        <p:spPr>
          <a:xfrm>
            <a:off x="5566300" y="3250103"/>
            <a:ext cx="3094042"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5521248" y="3292521"/>
            <a:ext cx="3247181" cy="416653"/>
          </a:xfrm>
          <a:prstGeom prst="rect">
            <a:avLst/>
          </a:prstGeom>
        </p:spPr>
        <p:txBody>
          <a:bodyPr wrap="square">
            <a:spAutoFit/>
          </a:bodyPr>
          <a:lstStyle/>
          <a:p>
            <a:pPr algn="ctr">
              <a:lnSpc>
                <a:spcPct val="132000"/>
              </a:lnSpc>
            </a:pPr>
            <a:r>
              <a:rPr lang="zh-CN" altLang="en-US" dirty="0">
                <a:solidFill>
                  <a:srgbClr val="002060"/>
                </a:solidFill>
                <a:cs typeface="+mn-ea"/>
                <a:sym typeface="+mn-lt"/>
              </a:rPr>
              <a:t>主讲：王红玲    主审：汤小丹</a:t>
            </a:r>
            <a:endParaRPr lang="en-US" altLang="zh-CN" dirty="0">
              <a:solidFill>
                <a:srgbClr val="002060"/>
              </a:solidFill>
              <a:cs typeface="+mn-ea"/>
              <a:sym typeface="+mn-lt"/>
            </a:endParaRPr>
          </a:p>
        </p:txBody>
      </p:sp>
      <p:sp>
        <p:nvSpPr>
          <p:cNvPr id="8" name="矩形 7"/>
          <p:cNvSpPr/>
          <p:nvPr/>
        </p:nvSpPr>
        <p:spPr>
          <a:xfrm>
            <a:off x="-7145" y="5638531"/>
            <a:ext cx="9151145" cy="3622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任意多边形: 形状 25"/>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pic>
        <p:nvPicPr>
          <p:cNvPr id="30" name="图片 2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132616"/>
            <a:ext cx="395288" cy="395288"/>
          </a:xfrm>
          <a:prstGeom prst="rect">
            <a:avLst/>
          </a:prstGeom>
          <a:ln>
            <a:noFill/>
          </a:ln>
          <a:effectLst>
            <a:softEdge rad="0"/>
          </a:effectLst>
        </p:spPr>
      </p:pic>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2571471"/>
            <a:ext cx="395288" cy="395288"/>
          </a:xfrm>
          <a:prstGeom prst="rect">
            <a:avLst/>
          </a:prstGeom>
          <a:ln>
            <a:noFill/>
          </a:ln>
          <a:effectLst>
            <a:softEdge rad="0"/>
          </a:effectLst>
        </p:spPr>
      </p:pic>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063073"/>
            <a:ext cx="395288" cy="395288"/>
          </a:xfrm>
          <a:prstGeom prst="rect">
            <a:avLst/>
          </a:prstGeom>
          <a:ln>
            <a:noFill/>
          </a:ln>
          <a:effectLst>
            <a:softEdge rad="0"/>
          </a:effectLst>
        </p:spPr>
      </p:pic>
      <p:pic>
        <p:nvPicPr>
          <p:cNvPr id="41" name="图片 40"/>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526927"/>
            <a:ext cx="395288" cy="395288"/>
          </a:xfrm>
          <a:prstGeom prst="rect">
            <a:avLst/>
          </a:prstGeom>
          <a:ln>
            <a:noFill/>
          </a:ln>
          <a:effectLst>
            <a:softEdge rad="0"/>
          </a:effectLst>
        </p:spPr>
      </p:pic>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3996487"/>
            <a:ext cx="395288" cy="395288"/>
          </a:xfrm>
          <a:prstGeom prst="rect">
            <a:avLst/>
          </a:prstGeom>
          <a:ln>
            <a:noFill/>
          </a:ln>
          <a:effectLst>
            <a:softEdge rad="0"/>
          </a:effectLst>
        </p:spPr>
      </p:pic>
      <p:pic>
        <p:nvPicPr>
          <p:cNvPr id="43" name="图片 4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877063" y="4474772"/>
            <a:ext cx="395288" cy="395288"/>
          </a:xfrm>
          <a:prstGeom prst="rect">
            <a:avLst/>
          </a:prstGeom>
          <a:ln>
            <a:noFill/>
          </a:ln>
          <a:effectLst>
            <a:softEdge rad="0"/>
          </a:effectLst>
        </p:spPr>
      </p:pic>
    </p:spTree>
  </p:cSld>
  <p:clrMapOvr>
    <a:masterClrMapping/>
  </p:clrMapOvr>
  <p:transition spd="slow">
    <p:pull dir="ru"/>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实例</a:t>
            </a:r>
            <a:r>
              <a:rPr lang="en-US" altLang="zh-CN" sz="2100" b="1" dirty="0">
                <a:solidFill>
                  <a:schemeClr val="bg1"/>
                </a:solidFill>
                <a:cs typeface="+mn-ea"/>
                <a:sym typeface="+mn-lt"/>
              </a:rPr>
              <a:t>1</a:t>
            </a:r>
            <a:r>
              <a:rPr lang="zh-CN" altLang="en-US" sz="2100" b="1" dirty="0">
                <a:solidFill>
                  <a:schemeClr val="bg1"/>
                </a:solidFill>
                <a:cs typeface="+mn-ea"/>
                <a:sym typeface="+mn-lt"/>
              </a:rPr>
              <a:t>：</a:t>
            </a:r>
            <a:r>
              <a:rPr lang="en-US" altLang="zh-CN" sz="2100" b="1" dirty="0">
                <a:solidFill>
                  <a:schemeClr val="bg1"/>
                </a:solidFill>
                <a:cs typeface="+mn-ea"/>
                <a:sym typeface="+mn-lt"/>
              </a:rPr>
              <a:t>Windows XP</a:t>
            </a:r>
            <a:r>
              <a:rPr lang="zh-CN" altLang="en-US" sz="2100" b="1" dirty="0">
                <a:solidFill>
                  <a:schemeClr val="bg1"/>
                </a:solidFill>
                <a:cs typeface="+mn-ea"/>
                <a:sym typeface="+mn-lt"/>
              </a:rPr>
              <a:t>系统</a:t>
            </a:r>
            <a:endParaRPr lang="zh-CN" altLang="en-US" sz="2100" b="1" dirty="0">
              <a:solidFill>
                <a:schemeClr val="bg1"/>
              </a:solidFill>
              <a:cs typeface="+mn-ea"/>
              <a:sym typeface="+mn-lt"/>
            </a:endParaRPr>
          </a:p>
        </p:txBody>
      </p:sp>
      <p:sp>
        <p:nvSpPr>
          <p:cNvPr id="22" name="内容占位符 2"/>
          <p:cNvSpPr txBox="1"/>
          <p:nvPr/>
        </p:nvSpPr>
        <p:spPr>
          <a:xfrm>
            <a:off x="1058663" y="1671638"/>
            <a:ext cx="7630356" cy="410606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450"/>
              </a:spcBef>
              <a:spcAft>
                <a:spcPts val="450"/>
              </a:spcAft>
              <a:buNone/>
            </a:pPr>
            <a:r>
              <a:rPr lang="zh-CN" altLang="en-US" dirty="0"/>
              <a:t>采用</a:t>
            </a:r>
            <a:r>
              <a:rPr lang="zh-CN" altLang="zh-CN" dirty="0">
                <a:solidFill>
                  <a:srgbClr val="FF0000"/>
                </a:solidFill>
              </a:rPr>
              <a:t>请求页面调度</a:t>
            </a:r>
            <a:r>
              <a:rPr lang="zh-CN" altLang="zh-CN" dirty="0"/>
              <a:t>以及</a:t>
            </a:r>
            <a:r>
              <a:rPr lang="zh-CN" altLang="zh-CN" dirty="0">
                <a:solidFill>
                  <a:srgbClr val="FF0000"/>
                </a:solidFill>
              </a:rPr>
              <a:t>簇</a:t>
            </a:r>
            <a:r>
              <a:rPr lang="zh-CN" altLang="zh-CN" dirty="0"/>
              <a:t>来实现</a:t>
            </a:r>
            <a:r>
              <a:rPr lang="zh-CN" altLang="zh-CN" dirty="0">
                <a:solidFill>
                  <a:srgbClr val="0000FF"/>
                </a:solidFill>
              </a:rPr>
              <a:t>虚拟存储器</a:t>
            </a:r>
            <a:endParaRPr lang="en-US" altLang="zh-CN" dirty="0"/>
          </a:p>
          <a:p>
            <a:pPr marL="0" indent="0">
              <a:lnSpc>
                <a:spcPct val="110000"/>
              </a:lnSpc>
              <a:spcBef>
                <a:spcPts val="450"/>
              </a:spcBef>
              <a:spcAft>
                <a:spcPts val="450"/>
              </a:spcAft>
              <a:buNone/>
            </a:pPr>
            <a:r>
              <a:rPr lang="zh-CN" altLang="en-US" dirty="0"/>
              <a:t>使用</a:t>
            </a:r>
            <a:r>
              <a:rPr lang="zh-CN" altLang="zh-CN" dirty="0"/>
              <a:t>簇在处理缺页中断时，不但会调入不在内存中的页（出错页），还会调入出错页周围的页</a:t>
            </a:r>
            <a:endParaRPr lang="en-US" altLang="zh-CN" dirty="0"/>
          </a:p>
          <a:p>
            <a:pPr marL="0" indent="0">
              <a:lnSpc>
                <a:spcPct val="110000"/>
              </a:lnSpc>
              <a:spcBef>
                <a:spcPts val="450"/>
              </a:spcBef>
              <a:spcAft>
                <a:spcPts val="450"/>
              </a:spcAft>
              <a:buNone/>
            </a:pPr>
            <a:r>
              <a:rPr lang="zh-CN" altLang="zh-CN" dirty="0"/>
              <a:t>创建进程时，系统会为</a:t>
            </a:r>
            <a:r>
              <a:rPr lang="zh-CN" altLang="en-US" dirty="0"/>
              <a:t>其</a:t>
            </a:r>
            <a:r>
              <a:rPr lang="zh-CN" altLang="zh-CN" dirty="0"/>
              <a:t>分配工作集的最小值和最大值</a:t>
            </a:r>
            <a:endParaRPr lang="en-US" altLang="zh-CN" dirty="0"/>
          </a:p>
          <a:p>
            <a:pPr lvl="1" indent="-269875">
              <a:lnSpc>
                <a:spcPct val="110000"/>
              </a:lnSpc>
              <a:spcBef>
                <a:spcPts val="450"/>
              </a:spcBef>
              <a:spcAft>
                <a:spcPts val="450"/>
              </a:spcAft>
              <a:buClr>
                <a:srgbClr val="FF0000"/>
              </a:buClr>
              <a:buFont typeface="Wingdings" panose="05000000000000000000" pitchFamily="2" charset="2"/>
              <a:buChar char="p"/>
            </a:pPr>
            <a:r>
              <a:rPr lang="zh-CN" altLang="en-US" sz="1800" dirty="0"/>
              <a:t>最小值：</a:t>
            </a:r>
            <a:r>
              <a:rPr lang="zh-CN" altLang="zh-CN" sz="1800" dirty="0"/>
              <a:t>进程在内存中时所保证页面数的最小值</a:t>
            </a:r>
            <a:endParaRPr lang="en-US" altLang="zh-CN" sz="1800" dirty="0"/>
          </a:p>
          <a:p>
            <a:pPr lvl="1" indent="-269875">
              <a:lnSpc>
                <a:spcPct val="110000"/>
              </a:lnSpc>
              <a:spcBef>
                <a:spcPts val="450"/>
              </a:spcBef>
              <a:spcAft>
                <a:spcPts val="450"/>
              </a:spcAft>
              <a:buClr>
                <a:srgbClr val="FF0000"/>
              </a:buClr>
              <a:buFont typeface="Wingdings" panose="05000000000000000000" pitchFamily="2" charset="2"/>
              <a:buChar char="p"/>
            </a:pPr>
            <a:r>
              <a:rPr lang="zh-CN" altLang="en-US" sz="1800" dirty="0"/>
              <a:t>若内存足够，可分配更多的页面，直到达到最大值</a:t>
            </a:r>
            <a:endParaRPr lang="en-US" altLang="zh-CN" sz="1800" dirty="0"/>
          </a:p>
          <a:p>
            <a:pPr lvl="1" indent="-269875">
              <a:lnSpc>
                <a:spcPct val="110000"/>
              </a:lnSpc>
              <a:spcBef>
                <a:spcPts val="450"/>
              </a:spcBef>
              <a:spcAft>
                <a:spcPts val="450"/>
              </a:spcAft>
              <a:buClr>
                <a:srgbClr val="FF0000"/>
              </a:buClr>
              <a:buFont typeface="Wingdings" panose="05000000000000000000" pitchFamily="2" charset="2"/>
              <a:buChar char="p"/>
            </a:pPr>
            <a:r>
              <a:rPr lang="zh-CN" altLang="en-US" sz="1800" dirty="0"/>
              <a:t>通过维护空闲块链表（与一个阈值关联）来实现</a:t>
            </a:r>
            <a:endParaRPr lang="en-US" altLang="zh-CN" sz="1800" dirty="0"/>
          </a:p>
          <a:p>
            <a:pPr lvl="1" indent="-269875">
              <a:lnSpc>
                <a:spcPct val="110000"/>
              </a:lnSpc>
              <a:spcBef>
                <a:spcPts val="450"/>
              </a:spcBef>
              <a:spcAft>
                <a:spcPts val="450"/>
              </a:spcAft>
              <a:buClr>
                <a:srgbClr val="FF0000"/>
              </a:buClr>
              <a:buFont typeface="Wingdings" panose="05000000000000000000" pitchFamily="2" charset="2"/>
              <a:buChar char="p"/>
            </a:pPr>
            <a:r>
              <a:rPr lang="zh-CN" altLang="en-US" sz="1800" dirty="0"/>
              <a:t>采用局部置换方式</a:t>
            </a:r>
            <a:endParaRPr lang="en-US" altLang="zh-CN" sz="1800" dirty="0"/>
          </a:p>
          <a:p>
            <a:pPr marL="0" indent="0">
              <a:lnSpc>
                <a:spcPct val="110000"/>
              </a:lnSpc>
              <a:spcBef>
                <a:spcPts val="450"/>
              </a:spcBef>
              <a:spcAft>
                <a:spcPts val="450"/>
              </a:spcAft>
              <a:buNone/>
            </a:pPr>
            <a:r>
              <a:rPr lang="zh-CN" altLang="en-US" dirty="0"/>
              <a:t>置换算法与处理器类型有关</a:t>
            </a:r>
            <a:endParaRPr lang="en-US" altLang="zh-CN" dirty="0"/>
          </a:p>
          <a:p>
            <a:pPr lvl="1" indent="-269875">
              <a:lnSpc>
                <a:spcPct val="110000"/>
              </a:lnSpc>
              <a:spcBef>
                <a:spcPts val="450"/>
              </a:spcBef>
              <a:spcAft>
                <a:spcPts val="450"/>
              </a:spcAft>
              <a:buClr>
                <a:srgbClr val="FF0000"/>
              </a:buClr>
              <a:buFont typeface="Wingdings" panose="05000000000000000000" pitchFamily="2" charset="2"/>
              <a:buChar char="p"/>
            </a:pPr>
            <a:r>
              <a:rPr lang="zh-CN" altLang="en-US" sz="1800" dirty="0"/>
              <a:t>如</a:t>
            </a:r>
            <a:r>
              <a:rPr lang="en-US" altLang="zh-CN" sz="1800" dirty="0"/>
              <a:t>80x86</a:t>
            </a:r>
            <a:r>
              <a:rPr lang="zh-CN" altLang="en-US" sz="1800" dirty="0"/>
              <a:t>系统，采用</a:t>
            </a:r>
            <a:r>
              <a:rPr lang="zh-CN" altLang="en-US" sz="1800" dirty="0">
                <a:solidFill>
                  <a:srgbClr val="FF0000"/>
                </a:solidFill>
              </a:rPr>
              <a:t>改进型</a:t>
            </a:r>
            <a:r>
              <a:rPr lang="en-US" altLang="zh-CN" sz="1800" dirty="0"/>
              <a:t>Clock</a:t>
            </a:r>
            <a:r>
              <a:rPr lang="zh-CN" altLang="en-US" sz="1800" dirty="0"/>
              <a:t>算法</a:t>
            </a:r>
            <a:endParaRPr lang="zh-CN" altLang="en-US" sz="1800" dirty="0"/>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70784" y="1639401"/>
            <a:ext cx="395288" cy="395288"/>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70784" y="2078256"/>
            <a:ext cx="395288" cy="395288"/>
          </a:xfrm>
          <a:prstGeom prst="rect">
            <a:avLst/>
          </a:prstGeom>
          <a:ln>
            <a:noFill/>
          </a:ln>
          <a:effectLst>
            <a:softEdge rad="0"/>
          </a:effectLst>
        </p:spPr>
      </p:pic>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70784" y="2767501"/>
            <a:ext cx="395288" cy="395288"/>
          </a:xfrm>
          <a:prstGeom prst="rect">
            <a:avLst/>
          </a:prstGeom>
          <a:ln>
            <a:noFill/>
          </a:ln>
          <a:effectLst>
            <a:softEdge rad="0"/>
          </a:effectLst>
        </p:spPr>
      </p:pic>
      <p:pic>
        <p:nvPicPr>
          <p:cNvPr id="26" name="图片 2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70784" y="4823311"/>
            <a:ext cx="395288" cy="395288"/>
          </a:xfrm>
          <a:prstGeom prst="rect">
            <a:avLst/>
          </a:prstGeom>
          <a:ln>
            <a:noFill/>
          </a:ln>
          <a:effectLst>
            <a:softEdge rad="0"/>
          </a:effectLst>
        </p:spPr>
      </p:pic>
    </p:spTree>
  </p:cSld>
  <p:clrMapOvr>
    <a:masterClrMapping/>
  </p:clrMapOvr>
  <p:transition spd="slow">
    <p:pull dir="ru"/>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实例</a:t>
            </a:r>
            <a:r>
              <a:rPr lang="en-US" altLang="zh-CN" sz="2100" b="1" dirty="0">
                <a:solidFill>
                  <a:schemeClr val="bg1"/>
                </a:solidFill>
                <a:cs typeface="+mn-ea"/>
                <a:sym typeface="+mn-lt"/>
              </a:rPr>
              <a:t>2</a:t>
            </a:r>
            <a:r>
              <a:rPr lang="zh-CN" altLang="en-US" sz="2100" b="1" dirty="0">
                <a:solidFill>
                  <a:schemeClr val="bg1"/>
                </a:solidFill>
                <a:cs typeface="+mn-ea"/>
                <a:sym typeface="+mn-lt"/>
              </a:rPr>
              <a:t>：</a:t>
            </a:r>
            <a:r>
              <a:rPr lang="en-US" altLang="zh-CN" sz="2100" b="1" dirty="0">
                <a:solidFill>
                  <a:schemeClr val="bg1"/>
                </a:solidFill>
                <a:cs typeface="+mn-ea"/>
                <a:sym typeface="+mn-lt"/>
              </a:rPr>
              <a:t>Linux</a:t>
            </a:r>
            <a:r>
              <a:rPr lang="zh-CN" altLang="en-US" sz="2100" b="1" dirty="0">
                <a:solidFill>
                  <a:schemeClr val="bg1"/>
                </a:solidFill>
                <a:cs typeface="+mn-ea"/>
                <a:sym typeface="+mn-lt"/>
              </a:rPr>
              <a:t>系统（以</a:t>
            </a:r>
            <a:r>
              <a:rPr lang="en-US" altLang="zh-CN" sz="2100" b="1" dirty="0">
                <a:solidFill>
                  <a:schemeClr val="bg1"/>
                </a:solidFill>
                <a:cs typeface="+mn-ea"/>
                <a:sym typeface="+mn-lt"/>
              </a:rPr>
              <a:t>32</a:t>
            </a:r>
            <a:r>
              <a:rPr lang="zh-CN" altLang="en-US" sz="2100" b="1" dirty="0">
                <a:solidFill>
                  <a:schemeClr val="bg1"/>
                </a:solidFill>
                <a:cs typeface="+mn-ea"/>
                <a:sym typeface="+mn-lt"/>
              </a:rPr>
              <a:t>位为例）</a:t>
            </a:r>
            <a:endParaRPr lang="zh-CN" altLang="en-US" sz="2100" b="1" dirty="0">
              <a:solidFill>
                <a:schemeClr val="bg1"/>
              </a:solidFill>
              <a:cs typeface="+mn-ea"/>
              <a:sym typeface="+mn-lt"/>
            </a:endParaRPr>
          </a:p>
        </p:txBody>
      </p:sp>
      <p:sp>
        <p:nvSpPr>
          <p:cNvPr id="22" name="内容占位符 2"/>
          <p:cNvSpPr txBox="1"/>
          <p:nvPr/>
        </p:nvSpPr>
        <p:spPr>
          <a:xfrm>
            <a:off x="990323" y="1798769"/>
            <a:ext cx="4376229" cy="32604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450"/>
              </a:spcBef>
              <a:spcAft>
                <a:spcPts val="450"/>
              </a:spcAft>
              <a:buNone/>
            </a:pPr>
            <a:r>
              <a:rPr lang="zh-CN" altLang="en-US" dirty="0">
                <a:solidFill>
                  <a:srgbClr val="0000FF"/>
                </a:solidFill>
              </a:rPr>
              <a:t>虚拟存储器</a:t>
            </a:r>
            <a:r>
              <a:rPr lang="zh-CN" altLang="en-US" dirty="0"/>
              <a:t>是大小为</a:t>
            </a:r>
            <a:r>
              <a:rPr lang="en-US" altLang="zh-CN" dirty="0"/>
              <a:t>4GB</a:t>
            </a:r>
            <a:r>
              <a:rPr lang="zh-CN" altLang="en-US" dirty="0"/>
              <a:t>的线性虚拟空间。</a:t>
            </a:r>
            <a:endParaRPr lang="zh-CN" altLang="en-US" dirty="0"/>
          </a:p>
          <a:p>
            <a:pPr marL="0" indent="0">
              <a:lnSpc>
                <a:spcPct val="110000"/>
              </a:lnSpc>
              <a:spcBef>
                <a:spcPts val="450"/>
              </a:spcBef>
              <a:spcAft>
                <a:spcPts val="450"/>
              </a:spcAft>
              <a:buNone/>
            </a:pPr>
            <a:r>
              <a:rPr lang="en-US" altLang="zh-CN" dirty="0"/>
              <a:t>4GB</a:t>
            </a:r>
            <a:r>
              <a:rPr lang="zh-CN" altLang="en-US" dirty="0"/>
              <a:t>的地址空间</a:t>
            </a:r>
            <a:r>
              <a:rPr lang="zh-CN" altLang="en-US" dirty="0">
                <a:solidFill>
                  <a:srgbClr val="FF0000"/>
                </a:solidFill>
              </a:rPr>
              <a:t>分为两个部分</a:t>
            </a:r>
            <a:r>
              <a:rPr lang="zh-CN" altLang="en-US" dirty="0"/>
              <a:t>：</a:t>
            </a:r>
            <a:endParaRPr lang="en-US" altLang="zh-CN" dirty="0"/>
          </a:p>
          <a:p>
            <a:pPr indent="-269875">
              <a:lnSpc>
                <a:spcPct val="110000"/>
              </a:lnSpc>
              <a:spcBef>
                <a:spcPts val="450"/>
              </a:spcBef>
              <a:spcAft>
                <a:spcPts val="450"/>
              </a:spcAft>
              <a:buClr>
                <a:srgbClr val="FF0000"/>
              </a:buClr>
              <a:buFont typeface="Wingdings" panose="05000000000000000000" pitchFamily="2" charset="2"/>
              <a:buChar char="p"/>
            </a:pPr>
            <a:r>
              <a:rPr lang="zh-CN" altLang="en-US" dirty="0"/>
              <a:t>用户空间占据</a:t>
            </a:r>
            <a:r>
              <a:rPr lang="en-US" altLang="zh-CN" dirty="0"/>
              <a:t>0~3GB</a:t>
            </a:r>
            <a:r>
              <a:rPr lang="zh-CN" altLang="en-US" dirty="0"/>
              <a:t>（</a:t>
            </a:r>
            <a:r>
              <a:rPr lang="en-US" altLang="zh-CN" dirty="0"/>
              <a:t>0xC0000000</a:t>
            </a:r>
            <a:r>
              <a:rPr lang="zh-CN" altLang="en-US" dirty="0"/>
              <a:t>）</a:t>
            </a:r>
            <a:endParaRPr lang="zh-CN" altLang="en-US" dirty="0"/>
          </a:p>
          <a:p>
            <a:pPr lvl="1" indent="-269875">
              <a:lnSpc>
                <a:spcPct val="110000"/>
              </a:lnSpc>
              <a:spcBef>
                <a:spcPts val="450"/>
              </a:spcBef>
              <a:spcAft>
                <a:spcPts val="450"/>
              </a:spcAft>
              <a:buClr>
                <a:srgbClr val="FF0000"/>
              </a:buClr>
              <a:buFont typeface="Wingdings" panose="05000000000000000000" pitchFamily="2" charset="2"/>
              <a:buChar char="Ø"/>
            </a:pPr>
            <a:r>
              <a:rPr lang="zh-CN" altLang="en-US" sz="1650" dirty="0"/>
              <a:t>由用户进程使用（</a:t>
            </a:r>
            <a:r>
              <a:rPr lang="en-US" altLang="zh-CN" sz="1650" dirty="0">
                <a:solidFill>
                  <a:srgbClr val="FFC000"/>
                </a:solidFill>
              </a:rPr>
              <a:t>MMU</a:t>
            </a:r>
            <a:r>
              <a:rPr lang="zh-CN" altLang="en-US" sz="1650" dirty="0"/>
              <a:t>）</a:t>
            </a:r>
            <a:endParaRPr lang="zh-CN" altLang="en-US" sz="1650" dirty="0"/>
          </a:p>
          <a:p>
            <a:pPr lvl="1" indent="-269875">
              <a:lnSpc>
                <a:spcPct val="110000"/>
              </a:lnSpc>
              <a:spcBef>
                <a:spcPts val="450"/>
              </a:spcBef>
              <a:spcAft>
                <a:spcPts val="450"/>
              </a:spcAft>
              <a:buClr>
                <a:srgbClr val="FF0000"/>
              </a:buClr>
              <a:buFont typeface="Wingdings" panose="05000000000000000000" pitchFamily="2" charset="2"/>
              <a:buChar char="Ø"/>
            </a:pPr>
            <a:r>
              <a:rPr lang="zh-CN" altLang="en-US" sz="1650" dirty="0"/>
              <a:t>使用请求页式存储管理</a:t>
            </a:r>
            <a:endParaRPr lang="zh-CN" altLang="en-US" sz="1650" dirty="0"/>
          </a:p>
          <a:p>
            <a:pPr indent="-269875">
              <a:lnSpc>
                <a:spcPct val="110000"/>
              </a:lnSpc>
              <a:spcBef>
                <a:spcPts val="450"/>
              </a:spcBef>
              <a:spcAft>
                <a:spcPts val="450"/>
              </a:spcAft>
              <a:buClr>
                <a:srgbClr val="FF0000"/>
              </a:buClr>
              <a:buFont typeface="Wingdings" panose="05000000000000000000" pitchFamily="2" charset="2"/>
              <a:buChar char="p"/>
            </a:pPr>
            <a:r>
              <a:rPr lang="zh-CN" altLang="en-US" dirty="0"/>
              <a:t>内核空间占据</a:t>
            </a:r>
            <a:r>
              <a:rPr lang="en-US" altLang="zh-CN" dirty="0"/>
              <a:t>3GB~4GB</a:t>
            </a:r>
            <a:endParaRPr lang="en-US" altLang="zh-CN" dirty="0"/>
          </a:p>
          <a:p>
            <a:pPr lvl="1" indent="-269875">
              <a:lnSpc>
                <a:spcPct val="110000"/>
              </a:lnSpc>
              <a:spcBef>
                <a:spcPts val="450"/>
              </a:spcBef>
              <a:spcAft>
                <a:spcPts val="450"/>
              </a:spcAft>
              <a:buClr>
                <a:srgbClr val="FF0000"/>
              </a:buClr>
              <a:buFont typeface="Wingdings" panose="05000000000000000000" pitchFamily="2" charset="2"/>
              <a:buChar char="Ø"/>
            </a:pPr>
            <a:r>
              <a:rPr lang="zh-CN" altLang="en-US" sz="1650" dirty="0"/>
              <a:t>由内核负责</a:t>
            </a:r>
            <a:endParaRPr lang="zh-CN" altLang="en-US" sz="1650" dirty="0"/>
          </a:p>
          <a:p>
            <a:pPr lvl="1" indent="-269875">
              <a:lnSpc>
                <a:spcPct val="110000"/>
              </a:lnSpc>
              <a:spcBef>
                <a:spcPts val="450"/>
              </a:spcBef>
              <a:spcAft>
                <a:spcPts val="450"/>
              </a:spcAft>
              <a:buClr>
                <a:srgbClr val="FF0000"/>
              </a:buClr>
              <a:buFont typeface="Wingdings" panose="05000000000000000000" pitchFamily="2" charset="2"/>
              <a:buChar char="Ø"/>
            </a:pPr>
            <a:r>
              <a:rPr lang="zh-CN" altLang="en-US" sz="1650" dirty="0"/>
              <a:t>使用</a:t>
            </a:r>
            <a:r>
              <a:rPr lang="en-US" altLang="zh-CN" sz="1650" dirty="0"/>
              <a:t>buddy</a:t>
            </a:r>
            <a:r>
              <a:rPr lang="zh-CN" altLang="en-US" sz="1650" dirty="0"/>
              <a:t>和</a:t>
            </a:r>
            <a:r>
              <a:rPr lang="en-US" altLang="zh-CN" sz="1650" dirty="0"/>
              <a:t>slab</a:t>
            </a:r>
            <a:r>
              <a:rPr lang="zh-CN" altLang="en-US" sz="1650" dirty="0"/>
              <a:t>内存管理</a:t>
            </a:r>
            <a:br>
              <a:rPr lang="en-US" altLang="zh-CN" sz="1650" dirty="0"/>
            </a:br>
            <a:r>
              <a:rPr lang="zh-CN" altLang="en-US" sz="1650" dirty="0"/>
              <a:t>（</a:t>
            </a:r>
            <a:r>
              <a:rPr lang="en-US" altLang="zh-CN" sz="1650" dirty="0">
                <a:solidFill>
                  <a:srgbClr val="FFC000"/>
                </a:solidFill>
              </a:rPr>
              <a:t>zoned buddy </a:t>
            </a:r>
            <a:r>
              <a:rPr lang="zh-CN" altLang="en-US" sz="1650" dirty="0">
                <a:solidFill>
                  <a:srgbClr val="FFC000"/>
                </a:solidFill>
              </a:rPr>
              <a:t>分配器和</a:t>
            </a:r>
            <a:r>
              <a:rPr lang="en-US" altLang="zh-CN" sz="1650" dirty="0">
                <a:solidFill>
                  <a:srgbClr val="FFC000"/>
                </a:solidFill>
              </a:rPr>
              <a:t>slab</a:t>
            </a:r>
            <a:r>
              <a:rPr lang="zh-CN" altLang="en-US" sz="1650" dirty="0">
                <a:solidFill>
                  <a:srgbClr val="FFC000"/>
                </a:solidFill>
              </a:rPr>
              <a:t>分配器</a:t>
            </a:r>
            <a:r>
              <a:rPr lang="zh-CN" altLang="en-US" sz="1650" dirty="0"/>
              <a:t>）</a:t>
            </a:r>
            <a:endParaRPr lang="zh-CN" altLang="en-US" sz="1650" dirty="0"/>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2444" y="1766532"/>
            <a:ext cx="395288" cy="395288"/>
          </a:xfrm>
          <a:prstGeom prst="rect">
            <a:avLst/>
          </a:prstGeom>
          <a:ln>
            <a:noFill/>
          </a:ln>
          <a:effectLst>
            <a:softEdge rad="0"/>
          </a:effectLst>
        </p:spPr>
      </p:pic>
      <p:pic>
        <p:nvPicPr>
          <p:cNvPr id="24" name="图片 2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2444" y="2205387"/>
            <a:ext cx="395288" cy="395288"/>
          </a:xfrm>
          <a:prstGeom prst="rect">
            <a:avLst/>
          </a:prstGeom>
          <a:ln>
            <a:noFill/>
          </a:ln>
          <a:effectLst>
            <a:softEdge rad="0"/>
          </a:effectLst>
        </p:spPr>
      </p:pic>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502444" y="2894632"/>
            <a:ext cx="395288" cy="395288"/>
          </a:xfrm>
          <a:prstGeom prst="rect">
            <a:avLst/>
          </a:prstGeom>
          <a:ln>
            <a:noFill/>
          </a:ln>
          <a:effectLst>
            <a:softEdge rad="0"/>
          </a:effectLst>
        </p:spPr>
      </p:pic>
      <p:pic>
        <p:nvPicPr>
          <p:cNvPr id="8" name="图片 7"/>
          <p:cNvPicPr>
            <a:picLocks noChangeAspect="1"/>
          </p:cNvPicPr>
          <p:nvPr/>
        </p:nvPicPr>
        <p:blipFill>
          <a:blip r:embed="rId2">
            <a:clrChange>
              <a:clrFrom>
                <a:srgbClr val="FFFFFF"/>
              </a:clrFrom>
              <a:clrTo>
                <a:srgbClr val="FFFFFF">
                  <a:alpha val="0"/>
                </a:srgbClr>
              </a:clrTo>
            </a:clrChange>
          </a:blip>
          <a:stretch>
            <a:fillRect/>
          </a:stretch>
        </p:blipFill>
        <p:spPr>
          <a:xfrm>
            <a:off x="4166308" y="2796466"/>
            <a:ext cx="4218351" cy="2433688"/>
          </a:xfrm>
          <a:prstGeom prst="rect">
            <a:avLst/>
          </a:prstGeom>
        </p:spPr>
      </p:pic>
    </p:spTree>
  </p:cSld>
  <p:clrMapOvr>
    <a:masterClrMapping/>
  </p:clrMapOvr>
  <p:transition spd="slow">
    <p:pull dir="ru"/>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第6章 知识导图"/>
          <p:cNvPicPr>
            <a:picLocks noChangeAspect="1"/>
          </p:cNvPicPr>
          <p:nvPr/>
        </p:nvPicPr>
        <p:blipFill>
          <a:blip r:embed="rId1"/>
          <a:stretch>
            <a:fillRect/>
          </a:stretch>
        </p:blipFill>
        <p:spPr>
          <a:xfrm>
            <a:off x="3507582" y="2124551"/>
            <a:ext cx="5599271" cy="3378518"/>
          </a:xfrm>
          <a:prstGeom prst="rect">
            <a:avLst/>
          </a:prstGeom>
        </p:spPr>
      </p:pic>
      <p:sp>
        <p:nvSpPr>
          <p:cNvPr id="19" name="任意多边形: 形状 18"/>
          <p:cNvSpPr/>
          <p:nvPr/>
        </p:nvSpPr>
        <p:spPr>
          <a:xfrm>
            <a:off x="-7144" y="857250"/>
            <a:ext cx="9151144" cy="941305"/>
          </a:xfrm>
          <a:custGeom>
            <a:avLst/>
            <a:gdLst>
              <a:gd name="connsiteX0" fmla="*/ 19050 w 12201525"/>
              <a:gd name="connsiteY0" fmla="*/ 0 h 1028700"/>
              <a:gd name="connsiteX1" fmla="*/ 0 w 12201525"/>
              <a:gd name="connsiteY1" fmla="*/ 1028700 h 1028700"/>
              <a:gd name="connsiteX2" fmla="*/ 1743075 w 12201525"/>
              <a:gd name="connsiteY2" fmla="*/ 1028700 h 1028700"/>
              <a:gd name="connsiteX3" fmla="*/ 4381500 w 12201525"/>
              <a:gd name="connsiteY3" fmla="*/ 466725 h 1028700"/>
              <a:gd name="connsiteX4" fmla="*/ 6572250 w 12201525"/>
              <a:gd name="connsiteY4" fmla="*/ 285750 h 1028700"/>
              <a:gd name="connsiteX5" fmla="*/ 9115425 w 12201525"/>
              <a:gd name="connsiteY5" fmla="*/ 352425 h 1028700"/>
              <a:gd name="connsiteX6" fmla="*/ 11220450 w 12201525"/>
              <a:gd name="connsiteY6" fmla="*/ 619125 h 1028700"/>
              <a:gd name="connsiteX7" fmla="*/ 12201525 w 12201525"/>
              <a:gd name="connsiteY7" fmla="*/ 762000 h 1028700"/>
              <a:gd name="connsiteX8" fmla="*/ 12182475 w 12201525"/>
              <a:gd name="connsiteY8" fmla="*/ 0 h 1028700"/>
              <a:gd name="connsiteX9" fmla="*/ 19050 w 12201525"/>
              <a:gd name="connsiteY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1525" h="1028700">
                <a:moveTo>
                  <a:pt x="19050" y="0"/>
                </a:moveTo>
                <a:lnTo>
                  <a:pt x="0" y="1028700"/>
                </a:lnTo>
                <a:lnTo>
                  <a:pt x="1743075" y="1028700"/>
                </a:lnTo>
                <a:lnTo>
                  <a:pt x="4381500" y="466725"/>
                </a:lnTo>
                <a:lnTo>
                  <a:pt x="6572250" y="285750"/>
                </a:lnTo>
                <a:lnTo>
                  <a:pt x="9115425" y="352425"/>
                </a:lnTo>
                <a:lnTo>
                  <a:pt x="11220450" y="619125"/>
                </a:lnTo>
                <a:lnTo>
                  <a:pt x="12201525" y="762000"/>
                </a:lnTo>
                <a:lnTo>
                  <a:pt x="12182475" y="0"/>
                </a:lnTo>
                <a:lnTo>
                  <a:pt x="19050" y="0"/>
                </a:lnTo>
                <a:close/>
              </a:path>
            </a:pathLst>
          </a:custGeom>
          <a:solidFill>
            <a:schemeClr val="accent3">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任意多边形: 形状 10"/>
          <p:cNvSpPr/>
          <p:nvPr/>
        </p:nvSpPr>
        <p:spPr bwMode="auto">
          <a:xfrm>
            <a:off x="-7144" y="1046806"/>
            <a:ext cx="9151144" cy="846542"/>
          </a:xfrm>
          <a:custGeom>
            <a:avLst/>
            <a:gdLst>
              <a:gd name="connsiteX0" fmla="*/ 7144392 w 12325350"/>
              <a:gd name="connsiteY0" fmla="*/ 261 h 6478847"/>
              <a:gd name="connsiteX1" fmla="*/ 8214533 w 12325350"/>
              <a:gd name="connsiteY1" fmla="*/ 121934 h 6478847"/>
              <a:gd name="connsiteX2" fmla="*/ 10903294 w 12325350"/>
              <a:gd name="connsiteY2" fmla="*/ 1454273 h 6478847"/>
              <a:gd name="connsiteX3" fmla="*/ 12325350 w 12325350"/>
              <a:gd name="connsiteY3" fmla="*/ 2857357 h 6478847"/>
              <a:gd name="connsiteX4" fmla="*/ 12325350 w 12325350"/>
              <a:gd name="connsiteY4" fmla="*/ 5321595 h 6478847"/>
              <a:gd name="connsiteX5" fmla="*/ 6864178 w 12325350"/>
              <a:gd name="connsiteY5" fmla="*/ 1555476 h 6478847"/>
              <a:gd name="connsiteX6" fmla="*/ 3518165 w 12325350"/>
              <a:gd name="connsiteY6" fmla="*/ 4703571 h 6478847"/>
              <a:gd name="connsiteX7" fmla="*/ 4850 w 12325350"/>
              <a:gd name="connsiteY7" fmla="*/ 6371943 h 6478847"/>
              <a:gd name="connsiteX8" fmla="*/ 0 w 12325350"/>
              <a:gd name="connsiteY8" fmla="*/ 6083424 h 6478847"/>
              <a:gd name="connsiteX9" fmla="*/ 0 w 12325350"/>
              <a:gd name="connsiteY9" fmla="*/ 4957873 h 6478847"/>
              <a:gd name="connsiteX10" fmla="*/ 27210 w 12325350"/>
              <a:gd name="connsiteY10" fmla="*/ 4967674 h 6478847"/>
              <a:gd name="connsiteX11" fmla="*/ 2335110 w 12325350"/>
              <a:gd name="connsiteY11" fmla="*/ 3646345 h 6478847"/>
              <a:gd name="connsiteX12" fmla="*/ 7144392 w 12325350"/>
              <a:gd name="connsiteY12" fmla="*/ 261 h 6478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5350" h="6478847">
                <a:moveTo>
                  <a:pt x="7144392" y="261"/>
                </a:moveTo>
                <a:cubicBezTo>
                  <a:pt x="7479248" y="-3556"/>
                  <a:pt x="7835119" y="34487"/>
                  <a:pt x="8214533" y="121934"/>
                </a:cubicBezTo>
                <a:cubicBezTo>
                  <a:pt x="9475264" y="412769"/>
                  <a:pt x="10281892" y="1000335"/>
                  <a:pt x="10903294" y="1454273"/>
                </a:cubicBezTo>
                <a:cubicBezTo>
                  <a:pt x="11940956" y="2211820"/>
                  <a:pt x="12295475" y="2846549"/>
                  <a:pt x="12325350" y="2857357"/>
                </a:cubicBezTo>
                <a:cubicBezTo>
                  <a:pt x="12325350" y="5321595"/>
                  <a:pt x="12325350" y="5321595"/>
                  <a:pt x="12325350" y="5321595"/>
                </a:cubicBezTo>
                <a:cubicBezTo>
                  <a:pt x="12325350" y="5321595"/>
                  <a:pt x="9373688" y="1135927"/>
                  <a:pt x="6864178" y="1555476"/>
                </a:cubicBezTo>
                <a:cubicBezTo>
                  <a:pt x="5941038" y="1709737"/>
                  <a:pt x="5250922" y="2295337"/>
                  <a:pt x="3518165" y="4703571"/>
                </a:cubicBezTo>
                <a:cubicBezTo>
                  <a:pt x="1785408" y="7110821"/>
                  <a:pt x="4850" y="6371943"/>
                  <a:pt x="4850" y="6371943"/>
                </a:cubicBezTo>
                <a:lnTo>
                  <a:pt x="0" y="6083424"/>
                </a:lnTo>
                <a:lnTo>
                  <a:pt x="0" y="4957873"/>
                </a:lnTo>
                <a:lnTo>
                  <a:pt x="27210" y="4967674"/>
                </a:lnTo>
                <a:cubicBezTo>
                  <a:pt x="239930" y="5036640"/>
                  <a:pt x="1164005" y="5214497"/>
                  <a:pt x="2335110" y="3646345"/>
                </a:cubicBezTo>
                <a:cubicBezTo>
                  <a:pt x="3486174" y="2104845"/>
                  <a:pt x="4800399" y="26979"/>
                  <a:pt x="7144392" y="261"/>
                </a:cubicBezTo>
                <a:close/>
              </a:path>
            </a:pathLst>
          </a:custGeom>
          <a:gradFill flip="none" rotWithShape="1">
            <a:gsLst>
              <a:gs pos="14000">
                <a:schemeClr val="accent2"/>
              </a:gs>
              <a:gs pos="84000">
                <a:srgbClr val="FFFF00"/>
              </a:gs>
            </a:gsLst>
            <a:lin ang="4800000" scaled="0"/>
            <a:tileRect/>
          </a:gradFill>
          <a:ln>
            <a:noFill/>
          </a:ln>
        </p:spPr>
        <p:txBody>
          <a:bodyPr vert="horz" wrap="square" lIns="68580" tIns="34290" rIns="68580" bIns="34290" numCol="1" anchor="t" anchorCtr="0" compatLnSpc="1">
            <a:noAutofit/>
          </a:bodyPr>
          <a:lstStyle/>
          <a:p>
            <a:endParaRPr lang="zh-CN" altLang="en-US">
              <a:gradFill>
                <a:gsLst>
                  <a:gs pos="100000">
                    <a:schemeClr val="accent3"/>
                  </a:gs>
                  <a:gs pos="0">
                    <a:schemeClr val="accent4"/>
                  </a:gs>
                </a:gsLst>
                <a:lin ang="13500000" scaled="1"/>
              </a:gradFill>
              <a:cs typeface="+mn-ea"/>
              <a:sym typeface="+mn-lt"/>
            </a:endParaRPr>
          </a:p>
        </p:txBody>
      </p:sp>
      <p:sp>
        <p:nvSpPr>
          <p:cNvPr id="20" name="矩形 19"/>
          <p:cNvSpPr/>
          <p:nvPr/>
        </p:nvSpPr>
        <p:spPr>
          <a:xfrm>
            <a:off x="578644" y="1050622"/>
            <a:ext cx="3313728" cy="415498"/>
          </a:xfrm>
          <a:prstGeom prst="rect">
            <a:avLst/>
          </a:prstGeom>
        </p:spPr>
        <p:txBody>
          <a:bodyPr wrap="none">
            <a:spAutoFit/>
          </a:bodyPr>
          <a:lstStyle/>
          <a:p>
            <a:r>
              <a:rPr lang="zh-CN" altLang="en-US" sz="2100" b="1" dirty="0">
                <a:solidFill>
                  <a:schemeClr val="bg1"/>
                </a:solidFill>
                <a:cs typeface="+mn-ea"/>
                <a:sym typeface="+mn-lt"/>
              </a:rPr>
              <a:t>学而时习之（第</a:t>
            </a:r>
            <a:r>
              <a:rPr lang="en-US" altLang="zh-CN" sz="2100" b="1" dirty="0">
                <a:solidFill>
                  <a:schemeClr val="bg1"/>
                </a:solidFill>
                <a:cs typeface="+mn-ea"/>
                <a:sym typeface="+mn-lt"/>
              </a:rPr>
              <a:t>6</a:t>
            </a:r>
            <a:r>
              <a:rPr lang="zh-CN" altLang="en-US" sz="2100" b="1" dirty="0">
                <a:solidFill>
                  <a:schemeClr val="bg1"/>
                </a:solidFill>
                <a:cs typeface="+mn-ea"/>
                <a:sym typeface="+mn-lt"/>
              </a:rPr>
              <a:t>章总结）</a:t>
            </a:r>
            <a:endParaRPr lang="zh-CN" altLang="en-US" sz="2100" b="1" dirty="0">
              <a:solidFill>
                <a:schemeClr val="bg1"/>
              </a:solidFill>
              <a:cs typeface="+mn-ea"/>
              <a:sym typeface="+mn-lt"/>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83356" y="1053357"/>
            <a:ext cx="395288" cy="395288"/>
          </a:xfrm>
          <a:prstGeom prst="rect">
            <a:avLst/>
          </a:prstGeom>
        </p:spPr>
      </p:pic>
      <p:graphicFrame>
        <p:nvGraphicFramePr>
          <p:cNvPr id="8" name="表格 7"/>
          <p:cNvGraphicFramePr/>
          <p:nvPr>
            <p:custDataLst>
              <p:tags r:id="rId3"/>
            </p:custDataLst>
          </p:nvPr>
        </p:nvGraphicFramePr>
        <p:xfrm>
          <a:off x="346824" y="2082903"/>
          <a:ext cx="3130472" cy="3592092"/>
        </p:xfrm>
        <a:graphic>
          <a:graphicData uri="http://schemas.openxmlformats.org/drawingml/2006/table">
            <a:tbl>
              <a:tblPr firstRow="1" bandRow="1">
                <a:tableStyleId>{72833802-FEF1-4C79-8D5D-14CF1EAF98D9}</a:tableStyleId>
              </a:tblPr>
              <a:tblGrid>
                <a:gridCol w="915779"/>
                <a:gridCol w="2214693"/>
              </a:tblGrid>
              <a:tr h="299341">
                <a:tc>
                  <a:txBody>
                    <a:bodyPr/>
                    <a:lstStyle/>
                    <a:p>
                      <a:pPr marL="71755" indent="0" algn="ctr">
                        <a:lnSpc>
                          <a:spcPct val="100000"/>
                        </a:lnSpc>
                        <a:spcBef>
                          <a:spcPts val="300"/>
                        </a:spcBef>
                        <a:spcAft>
                          <a:spcPts val="300"/>
                        </a:spcAft>
                        <a:buNone/>
                      </a:pPr>
                      <a:r>
                        <a:rPr lang="en-US" sz="1500" b="0" dirty="0">
                          <a:solidFill>
                            <a:schemeClr val="tx1"/>
                          </a:solidFill>
                          <a:latin typeface="+mn-lt"/>
                          <a:ea typeface="+mn-ea"/>
                          <a:cs typeface="+mn-ea"/>
                          <a:sym typeface="+mn-lt"/>
                        </a:rPr>
                        <a:t>第1章</a:t>
                      </a:r>
                      <a:endParaRPr lang="en-US" altLang="en-US" sz="1500" b="0" dirty="0">
                        <a:solidFill>
                          <a:schemeClr val="tx1"/>
                        </a:solidFill>
                        <a:latin typeface="+mn-lt"/>
                        <a:ea typeface="+mn-ea"/>
                        <a:cs typeface="+mn-ea"/>
                        <a:sym typeface="+mn-lt"/>
                      </a:endParaRPr>
                    </a:p>
                  </a:txBody>
                  <a:tcPr marL="74054" marR="74054" marT="0" marB="0" anchor="ctr">
                    <a:noFill/>
                  </a:tcPr>
                </a:tc>
                <a:tc>
                  <a:txBody>
                    <a:bodyPr/>
                    <a:lstStyle/>
                    <a:p>
                      <a:pPr marL="71755" indent="0" algn="l">
                        <a:lnSpc>
                          <a:spcPct val="100000"/>
                        </a:lnSpc>
                        <a:spcBef>
                          <a:spcPts val="300"/>
                        </a:spcBef>
                        <a:spcAft>
                          <a:spcPts val="300"/>
                        </a:spcAft>
                        <a:buNone/>
                      </a:pPr>
                      <a:r>
                        <a:rPr lang="en-US" sz="1500" b="0" dirty="0" err="1">
                          <a:solidFill>
                            <a:schemeClr val="tx1"/>
                          </a:solidFill>
                          <a:latin typeface="+mn-lt"/>
                          <a:ea typeface="+mn-ea"/>
                          <a:cs typeface="+mn-ea"/>
                          <a:sym typeface="+mn-lt"/>
                        </a:rPr>
                        <a:t>操作系统引论</a:t>
                      </a:r>
                      <a:endParaRPr lang="en-US" altLang="en-US" sz="1500" b="0" dirty="0">
                        <a:solidFill>
                          <a:schemeClr val="tx1"/>
                        </a:solidFill>
                        <a:latin typeface="+mn-lt"/>
                        <a:ea typeface="+mn-ea"/>
                        <a:cs typeface="+mn-ea"/>
                        <a:sym typeface="+mn-lt"/>
                      </a:endParaRPr>
                    </a:p>
                  </a:txBody>
                  <a:tcPr marL="74054" marR="74054" marT="0" marB="0" anchor="ctr">
                    <a:noFill/>
                  </a:tcP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第2章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进程的描述与控制</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dirty="0">
                          <a:latin typeface="+mn-lt"/>
                          <a:ea typeface="+mn-ea"/>
                          <a:cs typeface="+mn-ea"/>
                          <a:sym typeface="+mn-lt"/>
                        </a:rPr>
                        <a:t>第3章</a:t>
                      </a:r>
                      <a:endParaRPr lang="en-US" altLang="en-US" sz="1500" b="0" dirty="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处理机调度与死锁</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dirty="0">
                          <a:latin typeface="+mn-lt"/>
                          <a:ea typeface="+mn-ea"/>
                          <a:cs typeface="+mn-ea"/>
                          <a:sym typeface="+mn-lt"/>
                        </a:rPr>
                        <a:t>第4章</a:t>
                      </a:r>
                      <a:endParaRPr lang="en-US" altLang="en-US" sz="1500" b="0" dirty="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进程同步</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第5章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存储器管理</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b="1" dirty="0">
                          <a:solidFill>
                            <a:schemeClr val="bg1"/>
                          </a:solidFill>
                          <a:latin typeface="+mn-lt"/>
                          <a:ea typeface="+mn-ea"/>
                          <a:cs typeface="+mn-ea"/>
                          <a:sym typeface="+mn-lt"/>
                        </a:rPr>
                        <a:t>第6章</a:t>
                      </a:r>
                      <a:endParaRPr lang="en-US" altLang="en-US" sz="1500" b="1" dirty="0">
                        <a:solidFill>
                          <a:schemeClr val="bg1"/>
                        </a:solidFill>
                        <a:latin typeface="+mn-lt"/>
                        <a:ea typeface="+mn-ea"/>
                        <a:cs typeface="+mn-ea"/>
                        <a:sym typeface="+mn-lt"/>
                      </a:endParaRPr>
                    </a:p>
                  </a:txBody>
                  <a:tcPr marL="74054" marR="74054" marT="0" marB="0" anchor="ctr">
                    <a:solidFill>
                      <a:schemeClr val="accent2"/>
                    </a:solidFill>
                  </a:tcPr>
                </a:tc>
                <a:tc>
                  <a:txBody>
                    <a:bodyPr/>
                    <a:lstStyle/>
                    <a:p>
                      <a:pPr marL="71755" indent="0" algn="l">
                        <a:lnSpc>
                          <a:spcPct val="100000"/>
                        </a:lnSpc>
                        <a:spcBef>
                          <a:spcPts val="300"/>
                        </a:spcBef>
                        <a:spcAft>
                          <a:spcPts val="300"/>
                        </a:spcAft>
                        <a:buNone/>
                      </a:pPr>
                      <a:r>
                        <a:rPr lang="en-US" sz="1500" b="1" dirty="0" err="1">
                          <a:solidFill>
                            <a:schemeClr val="bg1"/>
                          </a:solidFill>
                          <a:latin typeface="+mn-lt"/>
                          <a:ea typeface="+mn-ea"/>
                          <a:cs typeface="+mn-ea"/>
                          <a:sym typeface="+mn-lt"/>
                        </a:rPr>
                        <a:t>虚拟存储器</a:t>
                      </a:r>
                      <a:endParaRPr lang="en-US" altLang="en-US" sz="1500" b="1" dirty="0">
                        <a:solidFill>
                          <a:schemeClr val="bg1"/>
                        </a:solidFill>
                        <a:latin typeface="+mn-lt"/>
                        <a:ea typeface="+mn-ea"/>
                        <a:cs typeface="+mn-ea"/>
                        <a:sym typeface="+mn-lt"/>
                      </a:endParaRPr>
                    </a:p>
                  </a:txBody>
                  <a:tcPr marL="74054" marR="74054" marT="0" marB="0" anchor="ctr">
                    <a:solidFill>
                      <a:schemeClr val="accent2"/>
                    </a:solidFill>
                  </a:tcP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第7章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输入</a:t>
                      </a:r>
                      <a:r>
                        <a:rPr lang="en-US" sz="1500" dirty="0">
                          <a:latin typeface="+mn-lt"/>
                          <a:ea typeface="+mn-ea"/>
                          <a:cs typeface="+mn-ea"/>
                          <a:sym typeface="+mn-lt"/>
                        </a:rPr>
                        <a:t>/</a:t>
                      </a:r>
                      <a:r>
                        <a:rPr lang="en-US" sz="1500" dirty="0" err="1">
                          <a:latin typeface="+mn-lt"/>
                          <a:ea typeface="+mn-ea"/>
                          <a:cs typeface="+mn-ea"/>
                          <a:sym typeface="+mn-lt"/>
                        </a:rPr>
                        <a:t>输出系统</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第8章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文件管理</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第9章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磁盘存储器管理</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第10章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多处理机操作系统</a:t>
                      </a:r>
                      <a:endParaRPr lang="en-US" altLang="en-US" sz="1500" b="0" dirty="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第11章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a:latin typeface="+mn-lt"/>
                          <a:ea typeface="+mn-ea"/>
                          <a:cs typeface="+mn-ea"/>
                          <a:sym typeface="+mn-lt"/>
                        </a:rPr>
                        <a:t>虚拟化和云计算</a:t>
                      </a:r>
                      <a:endParaRPr lang="en-US" altLang="en-US" sz="1500" b="0">
                        <a:solidFill>
                          <a:srgbClr val="000000"/>
                        </a:solidFill>
                        <a:latin typeface="+mn-lt"/>
                        <a:ea typeface="+mn-ea"/>
                        <a:cs typeface="+mn-ea"/>
                        <a:sym typeface="+mn-lt"/>
                      </a:endParaRPr>
                    </a:p>
                  </a:txBody>
                  <a:tcPr marL="74054" marR="74054" marT="0" marB="0" anchor="ctr"/>
                </a:tc>
              </a:tr>
              <a:tr h="299341">
                <a:tc>
                  <a:txBody>
                    <a:bodyPr/>
                    <a:lstStyle/>
                    <a:p>
                      <a:pPr marL="71755" indent="0" algn="ctr">
                        <a:lnSpc>
                          <a:spcPct val="100000"/>
                        </a:lnSpc>
                        <a:spcBef>
                          <a:spcPts val="300"/>
                        </a:spcBef>
                        <a:spcAft>
                          <a:spcPts val="300"/>
                        </a:spcAft>
                        <a:buNone/>
                      </a:pPr>
                      <a:r>
                        <a:rPr lang="en-US" sz="1500">
                          <a:latin typeface="+mn-lt"/>
                          <a:ea typeface="+mn-ea"/>
                          <a:cs typeface="+mn-ea"/>
                          <a:sym typeface="+mn-lt"/>
                        </a:rPr>
                        <a:t>第12章</a:t>
                      </a:r>
                      <a:endParaRPr lang="en-US" altLang="en-US" sz="1500" b="0">
                        <a:solidFill>
                          <a:srgbClr val="000000"/>
                        </a:solidFill>
                        <a:latin typeface="+mn-lt"/>
                        <a:ea typeface="+mn-ea"/>
                        <a:cs typeface="+mn-ea"/>
                        <a:sym typeface="+mn-lt"/>
                      </a:endParaRPr>
                    </a:p>
                  </a:txBody>
                  <a:tcPr marL="74054" marR="74054" marT="0" marB="0" anchor="ctr"/>
                </a:tc>
                <a:tc>
                  <a:txBody>
                    <a:bodyPr/>
                    <a:lstStyle/>
                    <a:p>
                      <a:pPr marL="71755" indent="0" algn="l">
                        <a:lnSpc>
                          <a:spcPct val="100000"/>
                        </a:lnSpc>
                        <a:spcBef>
                          <a:spcPts val="300"/>
                        </a:spcBef>
                        <a:spcAft>
                          <a:spcPts val="300"/>
                        </a:spcAft>
                        <a:buNone/>
                      </a:pPr>
                      <a:r>
                        <a:rPr lang="en-US" sz="1500" dirty="0" err="1">
                          <a:latin typeface="+mn-lt"/>
                          <a:ea typeface="+mn-ea"/>
                          <a:cs typeface="+mn-ea"/>
                          <a:sym typeface="+mn-lt"/>
                        </a:rPr>
                        <a:t>保护和安全</a:t>
                      </a:r>
                      <a:endParaRPr lang="en-US" altLang="en-US" sz="1500" b="0" dirty="0">
                        <a:solidFill>
                          <a:srgbClr val="000000"/>
                        </a:solidFill>
                        <a:latin typeface="+mn-lt"/>
                        <a:ea typeface="+mn-ea"/>
                        <a:cs typeface="+mn-ea"/>
                        <a:sym typeface="+mn-lt"/>
                      </a:endParaRPr>
                    </a:p>
                  </a:txBody>
                  <a:tcPr marL="74054" marR="74054" marT="0" marB="0" anchor="ctr"/>
                </a:tc>
              </a:tr>
            </a:tbl>
          </a:graphicData>
        </a:graphic>
      </p:graphicFrame>
      <p:sp>
        <p:nvSpPr>
          <p:cNvPr id="14" name="前凸带形 3"/>
          <p:cNvSpPr/>
          <p:nvPr/>
        </p:nvSpPr>
        <p:spPr>
          <a:xfrm>
            <a:off x="7542372" y="5574982"/>
            <a:ext cx="1443514" cy="294323"/>
          </a:xfrm>
          <a:prstGeom prst="ribbon">
            <a:avLst>
              <a:gd name="adj1" fmla="val 16667"/>
              <a:gd name="adj2" fmla="val 67555"/>
            </a:avLst>
          </a:prstGeom>
          <a:solidFill>
            <a:srgbClr val="00005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bg1"/>
                </a:solidFill>
                <a:cs typeface="+mn-ea"/>
                <a:sym typeface="+mn-lt"/>
              </a:rPr>
              <a:t>本章学习结束</a:t>
            </a:r>
            <a:endParaRPr lang="zh-CN" altLang="en-US" sz="1050" b="1" dirty="0">
              <a:solidFill>
                <a:schemeClr val="bg1"/>
              </a:solidFill>
              <a:cs typeface="+mn-ea"/>
              <a:sym typeface="+mn-lt"/>
            </a:endParaRPr>
          </a:p>
        </p:txBody>
      </p:sp>
    </p:spTree>
  </p:cSld>
  <p:clrMapOvr>
    <a:masterClrMapping/>
  </p:clrMapOvr>
  <p:transition spd="slow">
    <p:pull dir="ru"/>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课程思政小讲堂</a:t>
            </a:r>
            <a:endParaRPr lang="zh-CN" altLang="en-US" sz="2100" b="1" dirty="0">
              <a:solidFill>
                <a:schemeClr val="bg1"/>
              </a:solidFill>
              <a:cs typeface="+mn-ea"/>
              <a:sym typeface="+mn-lt"/>
            </a:endParaRPr>
          </a:p>
        </p:txBody>
      </p:sp>
      <p:sp>
        <p:nvSpPr>
          <p:cNvPr id="52" name="内容占位符 3"/>
          <p:cNvSpPr txBox="1"/>
          <p:nvPr/>
        </p:nvSpPr>
        <p:spPr>
          <a:xfrm>
            <a:off x="502444" y="1702651"/>
            <a:ext cx="8066728" cy="40721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225"/>
              </a:spcBef>
              <a:spcAft>
                <a:spcPts val="225"/>
              </a:spcAft>
              <a:buNone/>
            </a:pPr>
            <a:r>
              <a:rPr lang="zh-CN" altLang="en-US" dirty="0">
                <a:solidFill>
                  <a:srgbClr val="0000FF"/>
                </a:solidFill>
                <a:cs typeface="+mn-ea"/>
                <a:sym typeface="+mn-lt"/>
              </a:rPr>
              <a:t>积极推进操作系统产品化</a:t>
            </a:r>
            <a:endParaRPr lang="zh-CN" altLang="en-US" dirty="0">
              <a:solidFill>
                <a:srgbClr val="0000FF"/>
              </a:solidFill>
              <a:cs typeface="+mn-ea"/>
              <a:sym typeface="+mn-lt"/>
            </a:endParaRPr>
          </a:p>
          <a:p>
            <a:pPr marL="0" indent="0" algn="ctr">
              <a:lnSpc>
                <a:spcPct val="125000"/>
              </a:lnSpc>
              <a:spcBef>
                <a:spcPts val="225"/>
              </a:spcBef>
              <a:spcAft>
                <a:spcPts val="225"/>
              </a:spcAft>
              <a:buNone/>
            </a:pPr>
            <a:r>
              <a:rPr lang="zh-CN" altLang="en-US" dirty="0">
                <a:solidFill>
                  <a:srgbClr val="0000FF"/>
                </a:solidFill>
                <a:cs typeface="+mn-ea"/>
                <a:sym typeface="+mn-lt"/>
              </a:rPr>
              <a:t>坚决构建基于国产操作系统的产业氛围</a:t>
            </a:r>
            <a:endParaRPr lang="zh-CN" altLang="en-US" dirty="0">
              <a:solidFill>
                <a:srgbClr val="0000FF"/>
              </a:solidFill>
              <a:cs typeface="+mn-ea"/>
              <a:sym typeface="+mn-lt"/>
            </a:endParaRPr>
          </a:p>
          <a:p>
            <a:pPr marL="0" indent="342900" algn="just">
              <a:lnSpc>
                <a:spcPct val="125000"/>
              </a:lnSpc>
              <a:spcBef>
                <a:spcPts val="225"/>
              </a:spcBef>
              <a:spcAft>
                <a:spcPts val="225"/>
              </a:spcAft>
              <a:buNone/>
            </a:pPr>
            <a:r>
              <a:rPr lang="zh-CN" altLang="en-US" sz="1650" dirty="0">
                <a:cs typeface="+mn-ea"/>
                <a:sym typeface="+mn-lt"/>
              </a:rPr>
              <a:t>国内</a:t>
            </a:r>
            <a:r>
              <a:rPr lang="en-US" altLang="zh-CN" sz="1650" dirty="0">
                <a:cs typeface="+mn-ea"/>
                <a:sym typeface="+mn-lt"/>
              </a:rPr>
              <a:t>Linux</a:t>
            </a:r>
            <a:r>
              <a:rPr lang="zh-CN" altLang="en-US" sz="1650" dirty="0">
                <a:cs typeface="+mn-ea"/>
                <a:sym typeface="+mn-lt"/>
              </a:rPr>
              <a:t>系统的发展与国际上</a:t>
            </a:r>
            <a:r>
              <a:rPr lang="en-US" altLang="zh-CN" sz="1650" dirty="0">
                <a:cs typeface="+mn-ea"/>
                <a:sym typeface="+mn-lt"/>
              </a:rPr>
              <a:t>Linux</a:t>
            </a:r>
            <a:r>
              <a:rPr lang="zh-CN" altLang="en-US" sz="1650" dirty="0">
                <a:cs typeface="+mn-ea"/>
                <a:sym typeface="+mn-lt"/>
              </a:rPr>
              <a:t>系统的市场占有情况密切相关。</a:t>
            </a:r>
            <a:endParaRPr lang="zh-CN" altLang="en-US" sz="1650" dirty="0">
              <a:cs typeface="+mn-ea"/>
              <a:sym typeface="+mn-lt"/>
            </a:endParaRPr>
          </a:p>
          <a:p>
            <a:pPr marL="0" indent="342900" algn="just">
              <a:lnSpc>
                <a:spcPct val="125000"/>
              </a:lnSpc>
              <a:spcBef>
                <a:spcPts val="225"/>
              </a:spcBef>
              <a:spcAft>
                <a:spcPts val="225"/>
              </a:spcAft>
              <a:buNone/>
            </a:pPr>
            <a:r>
              <a:rPr lang="zh-CN" altLang="en-US" sz="1650" dirty="0">
                <a:cs typeface="+mn-ea"/>
                <a:sym typeface="+mn-lt"/>
              </a:rPr>
              <a:t>随着大数据与云计算等前沿技术的快速发展，越来越多的互联网公司开始构建自主控制与维护的云计算平台。具有开源与跨平台等属性的</a:t>
            </a:r>
            <a:r>
              <a:rPr lang="en-US" altLang="zh-CN" sz="1650" dirty="0">
                <a:cs typeface="+mn-ea"/>
                <a:sym typeface="+mn-lt"/>
              </a:rPr>
              <a:t>Linux</a:t>
            </a:r>
            <a:r>
              <a:rPr lang="zh-CN" altLang="en-US" sz="1650" dirty="0">
                <a:cs typeface="+mn-ea"/>
                <a:sym typeface="+mn-lt"/>
              </a:rPr>
              <a:t>系统，搭配采用</a:t>
            </a:r>
            <a:r>
              <a:rPr lang="en-US" altLang="zh-CN" sz="1650" dirty="0">
                <a:cs typeface="+mn-ea"/>
                <a:sym typeface="+mn-lt"/>
              </a:rPr>
              <a:t>Arm64</a:t>
            </a:r>
            <a:r>
              <a:rPr lang="zh-CN" altLang="en-US" sz="1650" dirty="0">
                <a:cs typeface="+mn-ea"/>
                <a:sym typeface="+mn-lt"/>
              </a:rPr>
              <a:t>芯片的计算平台，成为了这些互联网公司的首选技术方案。与此同时，</a:t>
            </a:r>
            <a:r>
              <a:rPr lang="en-US" altLang="zh-CN" sz="1650" dirty="0">
                <a:cs typeface="+mn-ea"/>
                <a:sym typeface="+mn-lt"/>
              </a:rPr>
              <a:t>Linux</a:t>
            </a:r>
            <a:r>
              <a:rPr lang="zh-CN" altLang="en-US" sz="1650" dirty="0">
                <a:cs typeface="+mn-ea"/>
                <a:sym typeface="+mn-lt"/>
              </a:rPr>
              <a:t>服务器端解决方案通过互联网企业迅速应用到了大数据与云计算的市场环境中。</a:t>
            </a:r>
            <a:endParaRPr lang="zh-CN" altLang="en-US" sz="1650" dirty="0">
              <a:cs typeface="+mn-ea"/>
              <a:sym typeface="+mn-lt"/>
            </a:endParaRPr>
          </a:p>
          <a:p>
            <a:pPr marL="0" indent="342900" algn="just">
              <a:lnSpc>
                <a:spcPct val="125000"/>
              </a:lnSpc>
              <a:spcBef>
                <a:spcPts val="225"/>
              </a:spcBef>
              <a:spcAft>
                <a:spcPts val="225"/>
              </a:spcAft>
              <a:buNone/>
            </a:pPr>
            <a:r>
              <a:rPr lang="zh-CN" altLang="en-US" sz="1650" dirty="0">
                <a:cs typeface="+mn-ea"/>
                <a:sym typeface="+mn-lt"/>
              </a:rPr>
              <a:t>但是，互联网企业使用</a:t>
            </a:r>
            <a:r>
              <a:rPr lang="en-US" altLang="zh-CN" sz="1650" dirty="0">
                <a:cs typeface="+mn-ea"/>
                <a:sym typeface="+mn-lt"/>
              </a:rPr>
              <a:t>Linux</a:t>
            </a:r>
            <a:r>
              <a:rPr lang="zh-CN" altLang="en-US" sz="1650" dirty="0">
                <a:cs typeface="+mn-ea"/>
                <a:sym typeface="+mn-lt"/>
              </a:rPr>
              <a:t>服务器端时，并未因采用</a:t>
            </a:r>
            <a:r>
              <a:rPr lang="en-US" altLang="zh-CN" sz="1650" dirty="0">
                <a:cs typeface="+mn-ea"/>
                <a:sym typeface="+mn-lt"/>
              </a:rPr>
              <a:t>Linux</a:t>
            </a:r>
            <a:r>
              <a:rPr lang="zh-CN" altLang="en-US" sz="1650" dirty="0">
                <a:cs typeface="+mn-ea"/>
                <a:sym typeface="+mn-lt"/>
              </a:rPr>
              <a:t>系统而形成典型的操作系统销售市场，专业的</a:t>
            </a:r>
            <a:r>
              <a:rPr lang="en-US" altLang="zh-CN" sz="1650" dirty="0">
                <a:cs typeface="+mn-ea"/>
                <a:sym typeface="+mn-lt"/>
              </a:rPr>
              <a:t>Linux</a:t>
            </a:r>
            <a:r>
              <a:rPr lang="zh-CN" altLang="en-US" sz="1650" dirty="0">
                <a:cs typeface="+mn-ea"/>
                <a:sym typeface="+mn-lt"/>
              </a:rPr>
              <a:t>系统厂商在服务器市场中还未形成较大的市场影响力。目前，国内海量的应用软件都是基于</a:t>
            </a:r>
            <a:r>
              <a:rPr lang="en-US" altLang="zh-CN" sz="1650" dirty="0">
                <a:cs typeface="+mn-ea"/>
                <a:sym typeface="+mn-lt"/>
              </a:rPr>
              <a:t>Windows</a:t>
            </a:r>
            <a:r>
              <a:rPr lang="zh-CN" altLang="en-US" sz="1650" dirty="0">
                <a:cs typeface="+mn-ea"/>
                <a:sym typeface="+mn-lt"/>
              </a:rPr>
              <a:t>系统的，因为该系统用户学习成本低、熟练程度高；而针对</a:t>
            </a:r>
            <a:r>
              <a:rPr lang="en-US" altLang="zh-CN" sz="1650" dirty="0">
                <a:cs typeface="+mn-ea"/>
                <a:sym typeface="+mn-lt"/>
              </a:rPr>
              <a:t>Linux</a:t>
            </a:r>
            <a:r>
              <a:rPr lang="zh-CN" altLang="en-US" sz="1650" dirty="0">
                <a:cs typeface="+mn-ea"/>
                <a:sym typeface="+mn-lt"/>
              </a:rPr>
              <a:t>系统，存在用户熟练程度低、对专业技术支持团队的依赖程度高、使用和维护成本高等问题。</a:t>
            </a:r>
            <a:endParaRPr lang="zh-CN" altLang="en-US" sz="1650" dirty="0">
              <a:cs typeface="+mn-ea"/>
              <a:sym typeface="+mn-lt"/>
            </a:endParaRPr>
          </a:p>
        </p:txBody>
      </p:sp>
    </p:spTree>
  </p:cSld>
  <p:clrMapOvr>
    <a:masterClrMapping/>
  </p:clrMapOvr>
  <p:transition spd="slow">
    <p:pull dir="ru"/>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2444" y="916251"/>
            <a:ext cx="5269706" cy="415498"/>
          </a:xfrm>
          <a:prstGeom prst="rect">
            <a:avLst/>
          </a:prstGeom>
        </p:spPr>
        <p:txBody>
          <a:bodyPr wrap="square">
            <a:spAutoFit/>
          </a:bodyPr>
          <a:lstStyle/>
          <a:p>
            <a:r>
              <a:rPr lang="zh-CN" altLang="en-US" sz="2100" b="1" dirty="0">
                <a:solidFill>
                  <a:schemeClr val="bg1"/>
                </a:solidFill>
                <a:cs typeface="+mn-ea"/>
                <a:sym typeface="+mn-lt"/>
              </a:rPr>
              <a:t>课程思政小讲堂</a:t>
            </a:r>
            <a:endParaRPr lang="zh-CN" altLang="en-US" sz="2100" b="1" dirty="0">
              <a:solidFill>
                <a:schemeClr val="bg1"/>
              </a:solidFill>
              <a:cs typeface="+mn-ea"/>
              <a:sym typeface="+mn-lt"/>
            </a:endParaRPr>
          </a:p>
        </p:txBody>
      </p:sp>
      <p:sp>
        <p:nvSpPr>
          <p:cNvPr id="52" name="内容占位符 3"/>
          <p:cNvSpPr txBox="1"/>
          <p:nvPr/>
        </p:nvSpPr>
        <p:spPr>
          <a:xfrm>
            <a:off x="502444" y="1689335"/>
            <a:ext cx="8000144" cy="40721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5000"/>
              </a:lnSpc>
              <a:spcBef>
                <a:spcPts val="225"/>
              </a:spcBef>
              <a:spcAft>
                <a:spcPts val="225"/>
              </a:spcAft>
              <a:buNone/>
            </a:pPr>
            <a:r>
              <a:rPr lang="zh-CN" altLang="en-US" dirty="0">
                <a:solidFill>
                  <a:srgbClr val="0000FF"/>
                </a:solidFill>
                <a:cs typeface="+mn-ea"/>
                <a:sym typeface="+mn-lt"/>
              </a:rPr>
              <a:t>积极推进操作系统产品化</a:t>
            </a:r>
            <a:endParaRPr lang="zh-CN" altLang="en-US" dirty="0">
              <a:solidFill>
                <a:srgbClr val="0000FF"/>
              </a:solidFill>
              <a:cs typeface="+mn-ea"/>
              <a:sym typeface="+mn-lt"/>
            </a:endParaRPr>
          </a:p>
          <a:p>
            <a:pPr marL="0" indent="0" algn="ctr">
              <a:lnSpc>
                <a:spcPct val="125000"/>
              </a:lnSpc>
              <a:spcBef>
                <a:spcPts val="225"/>
              </a:spcBef>
              <a:spcAft>
                <a:spcPts val="225"/>
              </a:spcAft>
              <a:buNone/>
            </a:pPr>
            <a:r>
              <a:rPr lang="zh-CN" altLang="en-US" dirty="0">
                <a:solidFill>
                  <a:srgbClr val="0000FF"/>
                </a:solidFill>
                <a:cs typeface="+mn-ea"/>
                <a:sym typeface="+mn-lt"/>
              </a:rPr>
              <a:t>坚决构建基于国产操作系统的产业氛围</a:t>
            </a:r>
            <a:endParaRPr lang="zh-CN" altLang="en-US" dirty="0">
              <a:solidFill>
                <a:srgbClr val="0000FF"/>
              </a:solidFill>
              <a:cs typeface="+mn-ea"/>
              <a:sym typeface="+mn-lt"/>
            </a:endParaRPr>
          </a:p>
          <a:p>
            <a:pPr marL="0" indent="342900" algn="just">
              <a:lnSpc>
                <a:spcPct val="125000"/>
              </a:lnSpc>
              <a:spcBef>
                <a:spcPts val="225"/>
              </a:spcBef>
              <a:spcAft>
                <a:spcPts val="225"/>
              </a:spcAft>
              <a:buNone/>
            </a:pPr>
            <a:r>
              <a:rPr lang="zh-CN" altLang="en-US" dirty="0">
                <a:cs typeface="+mn-ea"/>
                <a:sym typeface="+mn-lt"/>
              </a:rPr>
              <a:t>为了更好、更快地解决上述问题，亟须建立顺畅的产品服务情况与用户使用预期的沟通渠道，通过了解并满足用户针对操作系统在使用、维护等方面的多种需求，提升国产（基于</a:t>
            </a:r>
            <a:r>
              <a:rPr lang="en-US" altLang="zh-CN" dirty="0">
                <a:cs typeface="+mn-ea"/>
                <a:sym typeface="+mn-lt"/>
              </a:rPr>
              <a:t>Linux</a:t>
            </a:r>
            <a:r>
              <a:rPr lang="zh-CN" altLang="en-US" dirty="0">
                <a:cs typeface="+mn-ea"/>
                <a:sym typeface="+mn-lt"/>
              </a:rPr>
              <a:t>系统进行二次开发的）操作系统的整体性能。同时，亟须确定一个兼具稳定性和一致性的开发接口，以使开发</a:t>
            </a:r>
            <a:r>
              <a:rPr lang="en-US" altLang="zh-CN" dirty="0">
                <a:cs typeface="+mn-ea"/>
                <a:sym typeface="+mn-lt"/>
              </a:rPr>
              <a:t>Linux</a:t>
            </a:r>
            <a:r>
              <a:rPr lang="zh-CN" altLang="en-US" dirty="0">
                <a:cs typeface="+mn-ea"/>
                <a:sym typeface="+mn-lt"/>
              </a:rPr>
              <a:t>系统应用软件的代码可以跨平台落地，进而减少因操作系统不同而导致的应用软件重复开发与测试工作，最终形成基于较为成熟的国产操作系统的产业氛围。</a:t>
            </a:r>
            <a:endParaRPr lang="zh-CN" altLang="en-US" dirty="0">
              <a:cs typeface="+mn-ea"/>
              <a:sym typeface="+mn-lt"/>
            </a:endParaRPr>
          </a:p>
          <a:p>
            <a:pPr marL="0" indent="342900" algn="just">
              <a:lnSpc>
                <a:spcPct val="125000"/>
              </a:lnSpc>
              <a:spcBef>
                <a:spcPts val="225"/>
              </a:spcBef>
              <a:spcAft>
                <a:spcPts val="225"/>
              </a:spcAft>
              <a:buNone/>
            </a:pPr>
            <a:r>
              <a:rPr lang="zh-CN" altLang="en-US" dirty="0">
                <a:cs typeface="+mn-ea"/>
                <a:sym typeface="+mn-lt"/>
              </a:rPr>
              <a:t>那么，应该如何建立产品服务情况与用户使用预期的沟通渠道？又应该如何确定兼具稳定性和一致性的开发接口呢？</a:t>
            </a:r>
            <a:endParaRPr lang="zh-CN" altLang="en-US" dirty="0">
              <a:cs typeface="+mn-ea"/>
              <a:sym typeface="+mn-lt"/>
            </a:endParaRPr>
          </a:p>
        </p:txBody>
      </p:sp>
    </p:spTree>
  </p:cSld>
  <p:clrMapOvr>
    <a:masterClrMapping/>
  </p:clrMapOvr>
  <p:transition spd="slow">
    <p:pull dir="ru"/>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p:custDataLst>
              <p:tags r:id="rId1"/>
            </p:custDataLst>
          </p:nvPr>
        </p:nvGraphicFramePr>
        <p:xfrm>
          <a:off x="1191" y="858441"/>
          <a:ext cx="1191" cy="1191"/>
        </p:xfrm>
        <a:graphic>
          <a:graphicData uri="http://schemas.openxmlformats.org/presentationml/2006/ole">
            <mc:AlternateContent xmlns:mc="http://schemas.openxmlformats.org/markup-compatibility/2006">
              <mc:Choice xmlns:v="urn:schemas-microsoft-com:vml" Requires="v">
                <p:oleObj spid="_x0000_s2102" name="think-cell Slide" r:id="rId2" imgW="9525" imgH="9525" progId="TCLayout.ActiveDocument.1">
                  <p:embed/>
                </p:oleObj>
              </mc:Choice>
              <mc:Fallback>
                <p:oleObj name="think-cell Slide" r:id="rId2" imgW="9525" imgH="9525" progId="TCLayout.ActiveDocument.1">
                  <p:embed/>
                  <p:pic>
                    <p:nvPicPr>
                      <p:cNvPr id="0" name="对象 2" hidden="1"/>
                      <p:cNvPicPr/>
                      <p:nvPr/>
                    </p:nvPicPr>
                    <p:blipFill>
                      <a:blip r:embed="rId3"/>
                      <a:stretch>
                        <a:fillRect/>
                      </a:stretch>
                    </p:blipFill>
                    <p:spPr>
                      <a:xfrm>
                        <a:off x="1191" y="858441"/>
                        <a:ext cx="1191" cy="1191"/>
                      </a:xfrm>
                      <a:prstGeom prst="rect">
                        <a:avLst/>
                      </a:prstGeom>
                    </p:spPr>
                  </p:pic>
                </p:oleObj>
              </mc:Fallback>
            </mc:AlternateContent>
          </a:graphicData>
        </a:graphic>
      </p:graphicFrame>
      <p:sp>
        <p:nvSpPr>
          <p:cNvPr id="2" name="矩形 1" hidden="1"/>
          <p:cNvSpPr/>
          <p:nvPr>
            <p:custDataLst>
              <p:tags r:id="rId4"/>
            </p:custDataLst>
          </p:nvPr>
        </p:nvSpPr>
        <p:spPr>
          <a:xfrm>
            <a:off x="0" y="857250"/>
            <a:ext cx="119063" cy="119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dirty="0">
              <a:cs typeface="+mn-ea"/>
              <a:sym typeface="+mn-lt"/>
            </a:endParaRPr>
          </a:p>
        </p:txBody>
      </p:sp>
      <p:sp>
        <p:nvSpPr>
          <p:cNvPr id="5" name="标题 4"/>
          <p:cNvSpPr>
            <a:spLocks noGrp="1"/>
          </p:cNvSpPr>
          <p:nvPr>
            <p:ph type="ctrTitle"/>
          </p:nvPr>
        </p:nvSpPr>
        <p:spPr>
          <a:xfrm>
            <a:off x="3556569" y="2415740"/>
            <a:ext cx="4902653" cy="1792820"/>
          </a:xfrm>
        </p:spPr>
        <p:txBody>
          <a:bodyPr>
            <a:normAutofit/>
          </a:bodyPr>
          <a:lstStyle/>
          <a:p>
            <a:r>
              <a:rPr lang="zh-CN" altLang="en-US" sz="4950" dirty="0">
                <a:latin typeface="+mn-lt"/>
                <a:ea typeface="+mn-ea"/>
                <a:cs typeface="+mn-ea"/>
                <a:sym typeface="+mn-lt"/>
              </a:rPr>
              <a:t>学 习 进 步 ！</a:t>
            </a:r>
            <a:endParaRPr lang="zh-CN" altLang="en-US" sz="3000" dirty="0">
              <a:latin typeface="+mn-lt"/>
              <a:ea typeface="+mn-ea"/>
              <a:cs typeface="+mn-ea"/>
              <a:sym typeface="+mn-lt"/>
            </a:endParaRPr>
          </a:p>
        </p:txBody>
      </p:sp>
      <p:sp>
        <p:nvSpPr>
          <p:cNvPr id="8" name="任意多边形: 形状 7"/>
          <p:cNvSpPr/>
          <p:nvPr/>
        </p:nvSpPr>
        <p:spPr>
          <a:xfrm>
            <a:off x="502444" y="2615441"/>
            <a:ext cx="414147" cy="2922156"/>
          </a:xfrm>
          <a:custGeom>
            <a:avLst/>
            <a:gdLst>
              <a:gd name="connsiteX0" fmla="*/ 438280 w 513703"/>
              <a:gd name="connsiteY0" fmla="*/ 3473760 h 3624606"/>
              <a:gd name="connsiteX1" fmla="*/ 513703 w 513703"/>
              <a:gd name="connsiteY1" fmla="*/ 3549183 h 3624606"/>
              <a:gd name="connsiteX2" fmla="*/ 438280 w 513703"/>
              <a:gd name="connsiteY2" fmla="*/ 3624606 h 3624606"/>
              <a:gd name="connsiteX3" fmla="*/ 362857 w 513703"/>
              <a:gd name="connsiteY3" fmla="*/ 3549183 h 3624606"/>
              <a:gd name="connsiteX4" fmla="*/ 438280 w 513703"/>
              <a:gd name="connsiteY4" fmla="*/ 3473760 h 3624606"/>
              <a:gd name="connsiteX5" fmla="*/ 75423 w 513703"/>
              <a:gd name="connsiteY5" fmla="*/ 3473760 h 3624606"/>
              <a:gd name="connsiteX6" fmla="*/ 150846 w 513703"/>
              <a:gd name="connsiteY6" fmla="*/ 3549183 h 3624606"/>
              <a:gd name="connsiteX7" fmla="*/ 75423 w 513703"/>
              <a:gd name="connsiteY7" fmla="*/ 3624606 h 3624606"/>
              <a:gd name="connsiteX8" fmla="*/ 0 w 513703"/>
              <a:gd name="connsiteY8" fmla="*/ 3549183 h 3624606"/>
              <a:gd name="connsiteX9" fmla="*/ 75423 w 513703"/>
              <a:gd name="connsiteY9" fmla="*/ 3473760 h 3624606"/>
              <a:gd name="connsiteX10" fmla="*/ 438280 w 513703"/>
              <a:gd name="connsiteY10" fmla="*/ 3126882 h 3624606"/>
              <a:gd name="connsiteX11" fmla="*/ 513703 w 513703"/>
              <a:gd name="connsiteY11" fmla="*/ 3202305 h 3624606"/>
              <a:gd name="connsiteX12" fmla="*/ 438280 w 513703"/>
              <a:gd name="connsiteY12" fmla="*/ 3277728 h 3624606"/>
              <a:gd name="connsiteX13" fmla="*/ 362857 w 513703"/>
              <a:gd name="connsiteY13" fmla="*/ 3202305 h 3624606"/>
              <a:gd name="connsiteX14" fmla="*/ 438280 w 513703"/>
              <a:gd name="connsiteY14" fmla="*/ 3126882 h 3624606"/>
              <a:gd name="connsiteX15" fmla="*/ 75423 w 513703"/>
              <a:gd name="connsiteY15" fmla="*/ 3126882 h 3624606"/>
              <a:gd name="connsiteX16" fmla="*/ 150846 w 513703"/>
              <a:gd name="connsiteY16" fmla="*/ 3202305 h 3624606"/>
              <a:gd name="connsiteX17" fmla="*/ 75423 w 513703"/>
              <a:gd name="connsiteY17" fmla="*/ 3277728 h 3624606"/>
              <a:gd name="connsiteX18" fmla="*/ 0 w 513703"/>
              <a:gd name="connsiteY18" fmla="*/ 3202305 h 3624606"/>
              <a:gd name="connsiteX19" fmla="*/ 75423 w 513703"/>
              <a:gd name="connsiteY19" fmla="*/ 3126882 h 3624606"/>
              <a:gd name="connsiteX20" fmla="*/ 438280 w 513703"/>
              <a:gd name="connsiteY20" fmla="*/ 2780004 h 3624606"/>
              <a:gd name="connsiteX21" fmla="*/ 513703 w 513703"/>
              <a:gd name="connsiteY21" fmla="*/ 2855427 h 3624606"/>
              <a:gd name="connsiteX22" fmla="*/ 438280 w 513703"/>
              <a:gd name="connsiteY22" fmla="*/ 2930850 h 3624606"/>
              <a:gd name="connsiteX23" fmla="*/ 362857 w 513703"/>
              <a:gd name="connsiteY23" fmla="*/ 2855427 h 3624606"/>
              <a:gd name="connsiteX24" fmla="*/ 438280 w 513703"/>
              <a:gd name="connsiteY24" fmla="*/ 2780004 h 3624606"/>
              <a:gd name="connsiteX25" fmla="*/ 75423 w 513703"/>
              <a:gd name="connsiteY25" fmla="*/ 2780004 h 3624606"/>
              <a:gd name="connsiteX26" fmla="*/ 150846 w 513703"/>
              <a:gd name="connsiteY26" fmla="*/ 2855427 h 3624606"/>
              <a:gd name="connsiteX27" fmla="*/ 75423 w 513703"/>
              <a:gd name="connsiteY27" fmla="*/ 2930850 h 3624606"/>
              <a:gd name="connsiteX28" fmla="*/ 0 w 513703"/>
              <a:gd name="connsiteY28" fmla="*/ 2855427 h 3624606"/>
              <a:gd name="connsiteX29" fmla="*/ 75423 w 513703"/>
              <a:gd name="connsiteY29" fmla="*/ 2780004 h 3624606"/>
              <a:gd name="connsiteX30" fmla="*/ 438280 w 513703"/>
              <a:gd name="connsiteY30" fmla="*/ 2433126 h 3624606"/>
              <a:gd name="connsiteX31" fmla="*/ 513703 w 513703"/>
              <a:gd name="connsiteY31" fmla="*/ 2508549 h 3624606"/>
              <a:gd name="connsiteX32" fmla="*/ 438280 w 513703"/>
              <a:gd name="connsiteY32" fmla="*/ 2583972 h 3624606"/>
              <a:gd name="connsiteX33" fmla="*/ 362857 w 513703"/>
              <a:gd name="connsiteY33" fmla="*/ 2508549 h 3624606"/>
              <a:gd name="connsiteX34" fmla="*/ 438280 w 513703"/>
              <a:gd name="connsiteY34" fmla="*/ 2433126 h 3624606"/>
              <a:gd name="connsiteX35" fmla="*/ 75423 w 513703"/>
              <a:gd name="connsiteY35" fmla="*/ 2433126 h 3624606"/>
              <a:gd name="connsiteX36" fmla="*/ 150846 w 513703"/>
              <a:gd name="connsiteY36" fmla="*/ 2508549 h 3624606"/>
              <a:gd name="connsiteX37" fmla="*/ 75423 w 513703"/>
              <a:gd name="connsiteY37" fmla="*/ 2583972 h 3624606"/>
              <a:gd name="connsiteX38" fmla="*/ 0 w 513703"/>
              <a:gd name="connsiteY38" fmla="*/ 2508549 h 3624606"/>
              <a:gd name="connsiteX39" fmla="*/ 75423 w 513703"/>
              <a:gd name="connsiteY39" fmla="*/ 2433126 h 3624606"/>
              <a:gd name="connsiteX40" fmla="*/ 438280 w 513703"/>
              <a:gd name="connsiteY40" fmla="*/ 2086248 h 3624606"/>
              <a:gd name="connsiteX41" fmla="*/ 513703 w 513703"/>
              <a:gd name="connsiteY41" fmla="*/ 2161671 h 3624606"/>
              <a:gd name="connsiteX42" fmla="*/ 438280 w 513703"/>
              <a:gd name="connsiteY42" fmla="*/ 2237094 h 3624606"/>
              <a:gd name="connsiteX43" fmla="*/ 362857 w 513703"/>
              <a:gd name="connsiteY43" fmla="*/ 2161671 h 3624606"/>
              <a:gd name="connsiteX44" fmla="*/ 438280 w 513703"/>
              <a:gd name="connsiteY44" fmla="*/ 2086248 h 3624606"/>
              <a:gd name="connsiteX45" fmla="*/ 75423 w 513703"/>
              <a:gd name="connsiteY45" fmla="*/ 2086248 h 3624606"/>
              <a:gd name="connsiteX46" fmla="*/ 150846 w 513703"/>
              <a:gd name="connsiteY46" fmla="*/ 2161671 h 3624606"/>
              <a:gd name="connsiteX47" fmla="*/ 75423 w 513703"/>
              <a:gd name="connsiteY47" fmla="*/ 2237094 h 3624606"/>
              <a:gd name="connsiteX48" fmla="*/ 0 w 513703"/>
              <a:gd name="connsiteY48" fmla="*/ 2161671 h 3624606"/>
              <a:gd name="connsiteX49" fmla="*/ 75423 w 513703"/>
              <a:gd name="connsiteY49" fmla="*/ 2086248 h 3624606"/>
              <a:gd name="connsiteX50" fmla="*/ 438280 w 513703"/>
              <a:gd name="connsiteY50" fmla="*/ 1734390 h 3624606"/>
              <a:gd name="connsiteX51" fmla="*/ 513703 w 513703"/>
              <a:gd name="connsiteY51" fmla="*/ 1809813 h 3624606"/>
              <a:gd name="connsiteX52" fmla="*/ 513200 w 513703"/>
              <a:gd name="connsiteY52" fmla="*/ 1812303 h 3624606"/>
              <a:gd name="connsiteX53" fmla="*/ 513703 w 513703"/>
              <a:gd name="connsiteY53" fmla="*/ 1814793 h 3624606"/>
              <a:gd name="connsiteX54" fmla="*/ 438280 w 513703"/>
              <a:gd name="connsiteY54" fmla="*/ 1890216 h 3624606"/>
              <a:gd name="connsiteX55" fmla="*/ 362857 w 513703"/>
              <a:gd name="connsiteY55" fmla="*/ 1814793 h 3624606"/>
              <a:gd name="connsiteX56" fmla="*/ 363360 w 513703"/>
              <a:gd name="connsiteY56" fmla="*/ 1812303 h 3624606"/>
              <a:gd name="connsiteX57" fmla="*/ 362857 w 513703"/>
              <a:gd name="connsiteY57" fmla="*/ 1809813 h 3624606"/>
              <a:gd name="connsiteX58" fmla="*/ 438280 w 513703"/>
              <a:gd name="connsiteY58" fmla="*/ 1734390 h 3624606"/>
              <a:gd name="connsiteX59" fmla="*/ 75423 w 513703"/>
              <a:gd name="connsiteY59" fmla="*/ 1734390 h 3624606"/>
              <a:gd name="connsiteX60" fmla="*/ 150846 w 513703"/>
              <a:gd name="connsiteY60" fmla="*/ 1809813 h 3624606"/>
              <a:gd name="connsiteX61" fmla="*/ 150343 w 513703"/>
              <a:gd name="connsiteY61" fmla="*/ 1812303 h 3624606"/>
              <a:gd name="connsiteX62" fmla="*/ 150846 w 513703"/>
              <a:gd name="connsiteY62" fmla="*/ 1814793 h 3624606"/>
              <a:gd name="connsiteX63" fmla="*/ 75423 w 513703"/>
              <a:gd name="connsiteY63" fmla="*/ 1890216 h 3624606"/>
              <a:gd name="connsiteX64" fmla="*/ 0 w 513703"/>
              <a:gd name="connsiteY64" fmla="*/ 1814793 h 3624606"/>
              <a:gd name="connsiteX65" fmla="*/ 503 w 513703"/>
              <a:gd name="connsiteY65" fmla="*/ 1812303 h 3624606"/>
              <a:gd name="connsiteX66" fmla="*/ 0 w 513703"/>
              <a:gd name="connsiteY66" fmla="*/ 1809813 h 3624606"/>
              <a:gd name="connsiteX67" fmla="*/ 75423 w 513703"/>
              <a:gd name="connsiteY67" fmla="*/ 1734390 h 3624606"/>
              <a:gd name="connsiteX68" fmla="*/ 438280 w 513703"/>
              <a:gd name="connsiteY68" fmla="*/ 1387512 h 3624606"/>
              <a:gd name="connsiteX69" fmla="*/ 513703 w 513703"/>
              <a:gd name="connsiteY69" fmla="*/ 1462935 h 3624606"/>
              <a:gd name="connsiteX70" fmla="*/ 438280 w 513703"/>
              <a:gd name="connsiteY70" fmla="*/ 1538358 h 3624606"/>
              <a:gd name="connsiteX71" fmla="*/ 362857 w 513703"/>
              <a:gd name="connsiteY71" fmla="*/ 1462935 h 3624606"/>
              <a:gd name="connsiteX72" fmla="*/ 438280 w 513703"/>
              <a:gd name="connsiteY72" fmla="*/ 1387512 h 3624606"/>
              <a:gd name="connsiteX73" fmla="*/ 75423 w 513703"/>
              <a:gd name="connsiteY73" fmla="*/ 1387512 h 3624606"/>
              <a:gd name="connsiteX74" fmla="*/ 150846 w 513703"/>
              <a:gd name="connsiteY74" fmla="*/ 1462935 h 3624606"/>
              <a:gd name="connsiteX75" fmla="*/ 75423 w 513703"/>
              <a:gd name="connsiteY75" fmla="*/ 1538358 h 3624606"/>
              <a:gd name="connsiteX76" fmla="*/ 0 w 513703"/>
              <a:gd name="connsiteY76" fmla="*/ 1462935 h 3624606"/>
              <a:gd name="connsiteX77" fmla="*/ 75423 w 513703"/>
              <a:gd name="connsiteY77" fmla="*/ 1387512 h 3624606"/>
              <a:gd name="connsiteX78" fmla="*/ 75423 w 513703"/>
              <a:gd name="connsiteY78" fmla="*/ 1040634 h 3624606"/>
              <a:gd name="connsiteX79" fmla="*/ 150846 w 513703"/>
              <a:gd name="connsiteY79" fmla="*/ 1116057 h 3624606"/>
              <a:gd name="connsiteX80" fmla="*/ 75423 w 513703"/>
              <a:gd name="connsiteY80" fmla="*/ 1191480 h 3624606"/>
              <a:gd name="connsiteX81" fmla="*/ 0 w 513703"/>
              <a:gd name="connsiteY81" fmla="*/ 1116057 h 3624606"/>
              <a:gd name="connsiteX82" fmla="*/ 75423 w 513703"/>
              <a:gd name="connsiteY82" fmla="*/ 1040634 h 3624606"/>
              <a:gd name="connsiteX83" fmla="*/ 438280 w 513703"/>
              <a:gd name="connsiteY83" fmla="*/ 1040634 h 3624606"/>
              <a:gd name="connsiteX84" fmla="*/ 513703 w 513703"/>
              <a:gd name="connsiteY84" fmla="*/ 1116057 h 3624606"/>
              <a:gd name="connsiteX85" fmla="*/ 438280 w 513703"/>
              <a:gd name="connsiteY85" fmla="*/ 1191480 h 3624606"/>
              <a:gd name="connsiteX86" fmla="*/ 362857 w 513703"/>
              <a:gd name="connsiteY86" fmla="*/ 1116057 h 3624606"/>
              <a:gd name="connsiteX87" fmla="*/ 438280 w 513703"/>
              <a:gd name="connsiteY87" fmla="*/ 1040634 h 3624606"/>
              <a:gd name="connsiteX88" fmla="*/ 438280 w 513703"/>
              <a:gd name="connsiteY88" fmla="*/ 693756 h 3624606"/>
              <a:gd name="connsiteX89" fmla="*/ 513703 w 513703"/>
              <a:gd name="connsiteY89" fmla="*/ 769179 h 3624606"/>
              <a:gd name="connsiteX90" fmla="*/ 438280 w 513703"/>
              <a:gd name="connsiteY90" fmla="*/ 844602 h 3624606"/>
              <a:gd name="connsiteX91" fmla="*/ 362857 w 513703"/>
              <a:gd name="connsiteY91" fmla="*/ 769179 h 3624606"/>
              <a:gd name="connsiteX92" fmla="*/ 438280 w 513703"/>
              <a:gd name="connsiteY92" fmla="*/ 693756 h 3624606"/>
              <a:gd name="connsiteX93" fmla="*/ 75423 w 513703"/>
              <a:gd name="connsiteY93" fmla="*/ 693756 h 3624606"/>
              <a:gd name="connsiteX94" fmla="*/ 150846 w 513703"/>
              <a:gd name="connsiteY94" fmla="*/ 769179 h 3624606"/>
              <a:gd name="connsiteX95" fmla="*/ 75423 w 513703"/>
              <a:gd name="connsiteY95" fmla="*/ 844602 h 3624606"/>
              <a:gd name="connsiteX96" fmla="*/ 0 w 513703"/>
              <a:gd name="connsiteY96" fmla="*/ 769179 h 3624606"/>
              <a:gd name="connsiteX97" fmla="*/ 75423 w 513703"/>
              <a:gd name="connsiteY97" fmla="*/ 693756 h 3624606"/>
              <a:gd name="connsiteX98" fmla="*/ 75423 w 513703"/>
              <a:gd name="connsiteY98" fmla="*/ 346879 h 3624606"/>
              <a:gd name="connsiteX99" fmla="*/ 150846 w 513703"/>
              <a:gd name="connsiteY99" fmla="*/ 422302 h 3624606"/>
              <a:gd name="connsiteX100" fmla="*/ 75423 w 513703"/>
              <a:gd name="connsiteY100" fmla="*/ 497724 h 3624606"/>
              <a:gd name="connsiteX101" fmla="*/ 0 w 513703"/>
              <a:gd name="connsiteY101" fmla="*/ 422302 h 3624606"/>
              <a:gd name="connsiteX102" fmla="*/ 75423 w 513703"/>
              <a:gd name="connsiteY102" fmla="*/ 346879 h 3624606"/>
              <a:gd name="connsiteX103" fmla="*/ 438280 w 513703"/>
              <a:gd name="connsiteY103" fmla="*/ 346878 h 3624606"/>
              <a:gd name="connsiteX104" fmla="*/ 513703 w 513703"/>
              <a:gd name="connsiteY104" fmla="*/ 422301 h 3624606"/>
              <a:gd name="connsiteX105" fmla="*/ 438280 w 513703"/>
              <a:gd name="connsiteY105" fmla="*/ 497724 h 3624606"/>
              <a:gd name="connsiteX106" fmla="*/ 362857 w 513703"/>
              <a:gd name="connsiteY106" fmla="*/ 422301 h 3624606"/>
              <a:gd name="connsiteX107" fmla="*/ 438280 w 513703"/>
              <a:gd name="connsiteY107" fmla="*/ 346878 h 3624606"/>
              <a:gd name="connsiteX108" fmla="*/ 75423 w 513703"/>
              <a:gd name="connsiteY108" fmla="*/ 1 h 3624606"/>
              <a:gd name="connsiteX109" fmla="*/ 150846 w 513703"/>
              <a:gd name="connsiteY109" fmla="*/ 75424 h 3624606"/>
              <a:gd name="connsiteX110" fmla="*/ 75423 w 513703"/>
              <a:gd name="connsiteY110" fmla="*/ 150847 h 3624606"/>
              <a:gd name="connsiteX111" fmla="*/ 0 w 513703"/>
              <a:gd name="connsiteY111" fmla="*/ 75424 h 3624606"/>
              <a:gd name="connsiteX112" fmla="*/ 75423 w 513703"/>
              <a:gd name="connsiteY112" fmla="*/ 1 h 3624606"/>
              <a:gd name="connsiteX113" fmla="*/ 438280 w 513703"/>
              <a:gd name="connsiteY113" fmla="*/ 0 h 3624606"/>
              <a:gd name="connsiteX114" fmla="*/ 513703 w 513703"/>
              <a:gd name="connsiteY114" fmla="*/ 75424 h 3624606"/>
              <a:gd name="connsiteX115" fmla="*/ 438280 w 513703"/>
              <a:gd name="connsiteY115" fmla="*/ 150847 h 3624606"/>
              <a:gd name="connsiteX116" fmla="*/ 362857 w 513703"/>
              <a:gd name="connsiteY116" fmla="*/ 75424 h 3624606"/>
              <a:gd name="connsiteX117" fmla="*/ 438280 w 513703"/>
              <a:gd name="connsiteY117" fmla="*/ 0 h 362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513703" h="3624606">
                <a:moveTo>
                  <a:pt x="438280" y="3473760"/>
                </a:moveTo>
                <a:cubicBezTo>
                  <a:pt x="479935" y="3473760"/>
                  <a:pt x="513703" y="3507528"/>
                  <a:pt x="513703" y="3549183"/>
                </a:cubicBezTo>
                <a:cubicBezTo>
                  <a:pt x="513703" y="3590838"/>
                  <a:pt x="479935" y="3624606"/>
                  <a:pt x="438280" y="3624606"/>
                </a:cubicBezTo>
                <a:cubicBezTo>
                  <a:pt x="396625" y="3624606"/>
                  <a:pt x="362857" y="3590838"/>
                  <a:pt x="362857" y="3549183"/>
                </a:cubicBezTo>
                <a:cubicBezTo>
                  <a:pt x="362857" y="3507528"/>
                  <a:pt x="396625" y="3473760"/>
                  <a:pt x="438280" y="3473760"/>
                </a:cubicBezTo>
                <a:close/>
                <a:moveTo>
                  <a:pt x="75423" y="3473760"/>
                </a:moveTo>
                <a:cubicBezTo>
                  <a:pt x="117078" y="3473760"/>
                  <a:pt x="150846" y="3507528"/>
                  <a:pt x="150846" y="3549183"/>
                </a:cubicBezTo>
                <a:cubicBezTo>
                  <a:pt x="150846" y="3590838"/>
                  <a:pt x="117078" y="3624606"/>
                  <a:pt x="75423" y="3624606"/>
                </a:cubicBezTo>
                <a:cubicBezTo>
                  <a:pt x="33768" y="3624606"/>
                  <a:pt x="0" y="3590838"/>
                  <a:pt x="0" y="3549183"/>
                </a:cubicBezTo>
                <a:cubicBezTo>
                  <a:pt x="0" y="3507528"/>
                  <a:pt x="33768" y="3473760"/>
                  <a:pt x="75423" y="3473760"/>
                </a:cubicBezTo>
                <a:close/>
                <a:moveTo>
                  <a:pt x="438280" y="3126882"/>
                </a:moveTo>
                <a:cubicBezTo>
                  <a:pt x="479935" y="3126882"/>
                  <a:pt x="513703" y="3160650"/>
                  <a:pt x="513703" y="3202305"/>
                </a:cubicBezTo>
                <a:cubicBezTo>
                  <a:pt x="513703" y="3243960"/>
                  <a:pt x="479935" y="3277728"/>
                  <a:pt x="438280" y="3277728"/>
                </a:cubicBezTo>
                <a:cubicBezTo>
                  <a:pt x="396625" y="3277728"/>
                  <a:pt x="362857" y="3243960"/>
                  <a:pt x="362857" y="3202305"/>
                </a:cubicBezTo>
                <a:cubicBezTo>
                  <a:pt x="362857" y="3160650"/>
                  <a:pt x="396625" y="3126882"/>
                  <a:pt x="438280" y="3126882"/>
                </a:cubicBezTo>
                <a:close/>
                <a:moveTo>
                  <a:pt x="75423" y="3126882"/>
                </a:moveTo>
                <a:cubicBezTo>
                  <a:pt x="117078" y="3126882"/>
                  <a:pt x="150846" y="3160650"/>
                  <a:pt x="150846" y="3202305"/>
                </a:cubicBezTo>
                <a:cubicBezTo>
                  <a:pt x="150846" y="3243960"/>
                  <a:pt x="117078" y="3277728"/>
                  <a:pt x="75423" y="3277728"/>
                </a:cubicBezTo>
                <a:cubicBezTo>
                  <a:pt x="33768" y="3277728"/>
                  <a:pt x="0" y="3243960"/>
                  <a:pt x="0" y="3202305"/>
                </a:cubicBezTo>
                <a:cubicBezTo>
                  <a:pt x="0" y="3160650"/>
                  <a:pt x="33768" y="3126882"/>
                  <a:pt x="75423" y="3126882"/>
                </a:cubicBezTo>
                <a:close/>
                <a:moveTo>
                  <a:pt x="438280" y="2780004"/>
                </a:moveTo>
                <a:cubicBezTo>
                  <a:pt x="479935" y="2780004"/>
                  <a:pt x="513703" y="2813772"/>
                  <a:pt x="513703" y="2855427"/>
                </a:cubicBezTo>
                <a:cubicBezTo>
                  <a:pt x="513703" y="2897082"/>
                  <a:pt x="479935" y="2930850"/>
                  <a:pt x="438280" y="2930850"/>
                </a:cubicBezTo>
                <a:cubicBezTo>
                  <a:pt x="396625" y="2930850"/>
                  <a:pt x="362857" y="2897082"/>
                  <a:pt x="362857" y="2855427"/>
                </a:cubicBezTo>
                <a:cubicBezTo>
                  <a:pt x="362857" y="2813772"/>
                  <a:pt x="396625" y="2780004"/>
                  <a:pt x="438280" y="2780004"/>
                </a:cubicBezTo>
                <a:close/>
                <a:moveTo>
                  <a:pt x="75423" y="2780004"/>
                </a:moveTo>
                <a:cubicBezTo>
                  <a:pt x="117078" y="2780004"/>
                  <a:pt x="150846" y="2813772"/>
                  <a:pt x="150846" y="2855427"/>
                </a:cubicBezTo>
                <a:cubicBezTo>
                  <a:pt x="150846" y="2897082"/>
                  <a:pt x="117078" y="2930850"/>
                  <a:pt x="75423" y="2930850"/>
                </a:cubicBezTo>
                <a:cubicBezTo>
                  <a:pt x="33768" y="2930850"/>
                  <a:pt x="0" y="2897082"/>
                  <a:pt x="0" y="2855427"/>
                </a:cubicBezTo>
                <a:cubicBezTo>
                  <a:pt x="0" y="2813772"/>
                  <a:pt x="33768" y="2780004"/>
                  <a:pt x="75423" y="2780004"/>
                </a:cubicBezTo>
                <a:close/>
                <a:moveTo>
                  <a:pt x="438280" y="2433126"/>
                </a:moveTo>
                <a:cubicBezTo>
                  <a:pt x="479935" y="2433126"/>
                  <a:pt x="513703" y="2466894"/>
                  <a:pt x="513703" y="2508549"/>
                </a:cubicBezTo>
                <a:cubicBezTo>
                  <a:pt x="513703" y="2550204"/>
                  <a:pt x="479935" y="2583972"/>
                  <a:pt x="438280" y="2583972"/>
                </a:cubicBezTo>
                <a:cubicBezTo>
                  <a:pt x="396625" y="2583972"/>
                  <a:pt x="362857" y="2550204"/>
                  <a:pt x="362857" y="2508549"/>
                </a:cubicBezTo>
                <a:cubicBezTo>
                  <a:pt x="362857" y="2466894"/>
                  <a:pt x="396625" y="2433126"/>
                  <a:pt x="438280" y="2433126"/>
                </a:cubicBezTo>
                <a:close/>
                <a:moveTo>
                  <a:pt x="75423" y="2433126"/>
                </a:moveTo>
                <a:cubicBezTo>
                  <a:pt x="117078" y="2433126"/>
                  <a:pt x="150846" y="2466894"/>
                  <a:pt x="150846" y="2508549"/>
                </a:cubicBezTo>
                <a:cubicBezTo>
                  <a:pt x="150846" y="2550204"/>
                  <a:pt x="117078" y="2583972"/>
                  <a:pt x="75423" y="2583972"/>
                </a:cubicBezTo>
                <a:cubicBezTo>
                  <a:pt x="33768" y="2583972"/>
                  <a:pt x="0" y="2550204"/>
                  <a:pt x="0" y="2508549"/>
                </a:cubicBezTo>
                <a:cubicBezTo>
                  <a:pt x="0" y="2466894"/>
                  <a:pt x="33768" y="2433126"/>
                  <a:pt x="75423" y="2433126"/>
                </a:cubicBezTo>
                <a:close/>
                <a:moveTo>
                  <a:pt x="438280" y="2086248"/>
                </a:moveTo>
                <a:cubicBezTo>
                  <a:pt x="479935" y="2086248"/>
                  <a:pt x="513703" y="2120016"/>
                  <a:pt x="513703" y="2161671"/>
                </a:cubicBezTo>
                <a:cubicBezTo>
                  <a:pt x="513703" y="2203326"/>
                  <a:pt x="479935" y="2237094"/>
                  <a:pt x="438280" y="2237094"/>
                </a:cubicBezTo>
                <a:cubicBezTo>
                  <a:pt x="396625" y="2237094"/>
                  <a:pt x="362857" y="2203326"/>
                  <a:pt x="362857" y="2161671"/>
                </a:cubicBezTo>
                <a:cubicBezTo>
                  <a:pt x="362857" y="2120016"/>
                  <a:pt x="396625" y="2086248"/>
                  <a:pt x="438280" y="2086248"/>
                </a:cubicBezTo>
                <a:close/>
                <a:moveTo>
                  <a:pt x="75423" y="2086248"/>
                </a:moveTo>
                <a:cubicBezTo>
                  <a:pt x="117078" y="2086248"/>
                  <a:pt x="150846" y="2120016"/>
                  <a:pt x="150846" y="2161671"/>
                </a:cubicBezTo>
                <a:cubicBezTo>
                  <a:pt x="150846" y="2203326"/>
                  <a:pt x="117078" y="2237094"/>
                  <a:pt x="75423" y="2237094"/>
                </a:cubicBezTo>
                <a:cubicBezTo>
                  <a:pt x="33768" y="2237094"/>
                  <a:pt x="0" y="2203326"/>
                  <a:pt x="0" y="2161671"/>
                </a:cubicBezTo>
                <a:cubicBezTo>
                  <a:pt x="0" y="2120016"/>
                  <a:pt x="33768" y="2086248"/>
                  <a:pt x="75423" y="2086248"/>
                </a:cubicBezTo>
                <a:close/>
                <a:moveTo>
                  <a:pt x="438280" y="1734390"/>
                </a:moveTo>
                <a:cubicBezTo>
                  <a:pt x="479935" y="1734390"/>
                  <a:pt x="513703" y="1768158"/>
                  <a:pt x="513703" y="1809813"/>
                </a:cubicBezTo>
                <a:lnTo>
                  <a:pt x="513200" y="1812303"/>
                </a:lnTo>
                <a:lnTo>
                  <a:pt x="513703" y="1814793"/>
                </a:lnTo>
                <a:cubicBezTo>
                  <a:pt x="513703" y="1856448"/>
                  <a:pt x="479935" y="1890216"/>
                  <a:pt x="438280" y="1890216"/>
                </a:cubicBezTo>
                <a:cubicBezTo>
                  <a:pt x="396625" y="1890216"/>
                  <a:pt x="362857" y="1856448"/>
                  <a:pt x="362857" y="1814793"/>
                </a:cubicBezTo>
                <a:lnTo>
                  <a:pt x="363360" y="1812303"/>
                </a:lnTo>
                <a:lnTo>
                  <a:pt x="362857" y="1809813"/>
                </a:lnTo>
                <a:cubicBezTo>
                  <a:pt x="362857" y="1768158"/>
                  <a:pt x="396625" y="1734390"/>
                  <a:pt x="438280" y="1734390"/>
                </a:cubicBezTo>
                <a:close/>
                <a:moveTo>
                  <a:pt x="75423" y="1734390"/>
                </a:moveTo>
                <a:cubicBezTo>
                  <a:pt x="117078" y="1734390"/>
                  <a:pt x="150846" y="1768158"/>
                  <a:pt x="150846" y="1809813"/>
                </a:cubicBezTo>
                <a:lnTo>
                  <a:pt x="150343" y="1812303"/>
                </a:lnTo>
                <a:lnTo>
                  <a:pt x="150846" y="1814793"/>
                </a:lnTo>
                <a:cubicBezTo>
                  <a:pt x="150846" y="1856448"/>
                  <a:pt x="117078" y="1890216"/>
                  <a:pt x="75423" y="1890216"/>
                </a:cubicBezTo>
                <a:cubicBezTo>
                  <a:pt x="33768" y="1890216"/>
                  <a:pt x="0" y="1856448"/>
                  <a:pt x="0" y="1814793"/>
                </a:cubicBezTo>
                <a:lnTo>
                  <a:pt x="503" y="1812303"/>
                </a:lnTo>
                <a:lnTo>
                  <a:pt x="0" y="1809813"/>
                </a:lnTo>
                <a:cubicBezTo>
                  <a:pt x="0" y="1768158"/>
                  <a:pt x="33768" y="1734390"/>
                  <a:pt x="75423" y="1734390"/>
                </a:cubicBezTo>
                <a:close/>
                <a:moveTo>
                  <a:pt x="438280" y="1387512"/>
                </a:moveTo>
                <a:cubicBezTo>
                  <a:pt x="479935" y="1387512"/>
                  <a:pt x="513703" y="1421280"/>
                  <a:pt x="513703" y="1462935"/>
                </a:cubicBezTo>
                <a:cubicBezTo>
                  <a:pt x="513703" y="1504590"/>
                  <a:pt x="479935" y="1538358"/>
                  <a:pt x="438280" y="1538358"/>
                </a:cubicBezTo>
                <a:cubicBezTo>
                  <a:pt x="396625" y="1538358"/>
                  <a:pt x="362857" y="1504590"/>
                  <a:pt x="362857" y="1462935"/>
                </a:cubicBezTo>
                <a:cubicBezTo>
                  <a:pt x="362857" y="1421280"/>
                  <a:pt x="396625" y="1387512"/>
                  <a:pt x="438280" y="1387512"/>
                </a:cubicBezTo>
                <a:close/>
                <a:moveTo>
                  <a:pt x="75423" y="1387512"/>
                </a:moveTo>
                <a:cubicBezTo>
                  <a:pt x="117078" y="1387512"/>
                  <a:pt x="150846" y="1421280"/>
                  <a:pt x="150846" y="1462935"/>
                </a:cubicBezTo>
                <a:cubicBezTo>
                  <a:pt x="150846" y="1504590"/>
                  <a:pt x="117078" y="1538358"/>
                  <a:pt x="75423" y="1538358"/>
                </a:cubicBezTo>
                <a:cubicBezTo>
                  <a:pt x="33768" y="1538358"/>
                  <a:pt x="0" y="1504590"/>
                  <a:pt x="0" y="1462935"/>
                </a:cubicBezTo>
                <a:cubicBezTo>
                  <a:pt x="0" y="1421280"/>
                  <a:pt x="33768" y="1387512"/>
                  <a:pt x="75423" y="1387512"/>
                </a:cubicBezTo>
                <a:close/>
                <a:moveTo>
                  <a:pt x="75423" y="1040634"/>
                </a:moveTo>
                <a:cubicBezTo>
                  <a:pt x="117078" y="1040634"/>
                  <a:pt x="150846" y="1074403"/>
                  <a:pt x="150846" y="1116057"/>
                </a:cubicBezTo>
                <a:cubicBezTo>
                  <a:pt x="150846" y="1157713"/>
                  <a:pt x="117078" y="1191480"/>
                  <a:pt x="75423" y="1191480"/>
                </a:cubicBezTo>
                <a:cubicBezTo>
                  <a:pt x="33768" y="1191480"/>
                  <a:pt x="0" y="1157713"/>
                  <a:pt x="0" y="1116057"/>
                </a:cubicBezTo>
                <a:cubicBezTo>
                  <a:pt x="0" y="1074403"/>
                  <a:pt x="33768" y="1040634"/>
                  <a:pt x="75423" y="1040634"/>
                </a:cubicBezTo>
                <a:close/>
                <a:moveTo>
                  <a:pt x="438280" y="1040634"/>
                </a:moveTo>
                <a:cubicBezTo>
                  <a:pt x="479935" y="1040634"/>
                  <a:pt x="513703" y="1074402"/>
                  <a:pt x="513703" y="1116057"/>
                </a:cubicBezTo>
                <a:cubicBezTo>
                  <a:pt x="513703" y="1157712"/>
                  <a:pt x="479935" y="1191480"/>
                  <a:pt x="438280" y="1191480"/>
                </a:cubicBezTo>
                <a:cubicBezTo>
                  <a:pt x="396625" y="1191480"/>
                  <a:pt x="362857" y="1157712"/>
                  <a:pt x="362857" y="1116057"/>
                </a:cubicBezTo>
                <a:cubicBezTo>
                  <a:pt x="362857" y="1074402"/>
                  <a:pt x="396625" y="1040634"/>
                  <a:pt x="438280" y="1040634"/>
                </a:cubicBezTo>
                <a:close/>
                <a:moveTo>
                  <a:pt x="438280" y="693756"/>
                </a:moveTo>
                <a:cubicBezTo>
                  <a:pt x="479935" y="693756"/>
                  <a:pt x="513703" y="727524"/>
                  <a:pt x="513703" y="769179"/>
                </a:cubicBezTo>
                <a:cubicBezTo>
                  <a:pt x="513703" y="810834"/>
                  <a:pt x="479935" y="844602"/>
                  <a:pt x="438280" y="844602"/>
                </a:cubicBezTo>
                <a:cubicBezTo>
                  <a:pt x="396625" y="844602"/>
                  <a:pt x="362857" y="810834"/>
                  <a:pt x="362857" y="769179"/>
                </a:cubicBezTo>
                <a:cubicBezTo>
                  <a:pt x="362857" y="727524"/>
                  <a:pt x="396625" y="693756"/>
                  <a:pt x="438280" y="693756"/>
                </a:cubicBezTo>
                <a:close/>
                <a:moveTo>
                  <a:pt x="75423" y="693756"/>
                </a:moveTo>
                <a:cubicBezTo>
                  <a:pt x="117078" y="693756"/>
                  <a:pt x="150846" y="727525"/>
                  <a:pt x="150846" y="769179"/>
                </a:cubicBezTo>
                <a:cubicBezTo>
                  <a:pt x="150846" y="810834"/>
                  <a:pt x="117078" y="844602"/>
                  <a:pt x="75423" y="844602"/>
                </a:cubicBezTo>
                <a:cubicBezTo>
                  <a:pt x="33768" y="844602"/>
                  <a:pt x="0" y="810834"/>
                  <a:pt x="0" y="769179"/>
                </a:cubicBezTo>
                <a:cubicBezTo>
                  <a:pt x="0" y="727525"/>
                  <a:pt x="33768" y="693756"/>
                  <a:pt x="75423" y="693756"/>
                </a:cubicBezTo>
                <a:close/>
                <a:moveTo>
                  <a:pt x="75423" y="346879"/>
                </a:moveTo>
                <a:cubicBezTo>
                  <a:pt x="117078" y="346879"/>
                  <a:pt x="150846" y="380647"/>
                  <a:pt x="150846" y="422302"/>
                </a:cubicBezTo>
                <a:cubicBezTo>
                  <a:pt x="150846" y="463957"/>
                  <a:pt x="117078" y="497724"/>
                  <a:pt x="75423" y="497724"/>
                </a:cubicBezTo>
                <a:cubicBezTo>
                  <a:pt x="33768" y="497724"/>
                  <a:pt x="0" y="463957"/>
                  <a:pt x="0" y="422302"/>
                </a:cubicBezTo>
                <a:cubicBezTo>
                  <a:pt x="0" y="380647"/>
                  <a:pt x="33768" y="346879"/>
                  <a:pt x="75423" y="346879"/>
                </a:cubicBezTo>
                <a:close/>
                <a:moveTo>
                  <a:pt x="438280" y="346878"/>
                </a:moveTo>
                <a:cubicBezTo>
                  <a:pt x="479935" y="346878"/>
                  <a:pt x="513703" y="380646"/>
                  <a:pt x="513703" y="422301"/>
                </a:cubicBezTo>
                <a:cubicBezTo>
                  <a:pt x="513703" y="463956"/>
                  <a:pt x="479935" y="497724"/>
                  <a:pt x="438280" y="497724"/>
                </a:cubicBezTo>
                <a:cubicBezTo>
                  <a:pt x="396625" y="497724"/>
                  <a:pt x="362857" y="463956"/>
                  <a:pt x="362857" y="422301"/>
                </a:cubicBezTo>
                <a:cubicBezTo>
                  <a:pt x="362857" y="380646"/>
                  <a:pt x="396625" y="346878"/>
                  <a:pt x="438280" y="346878"/>
                </a:cubicBezTo>
                <a:close/>
                <a:moveTo>
                  <a:pt x="75423" y="1"/>
                </a:moveTo>
                <a:cubicBezTo>
                  <a:pt x="117078" y="1"/>
                  <a:pt x="150846" y="33769"/>
                  <a:pt x="150846" y="75424"/>
                </a:cubicBezTo>
                <a:cubicBezTo>
                  <a:pt x="150846" y="117079"/>
                  <a:pt x="117078" y="150847"/>
                  <a:pt x="75423" y="150847"/>
                </a:cubicBezTo>
                <a:cubicBezTo>
                  <a:pt x="33768" y="150847"/>
                  <a:pt x="0" y="117079"/>
                  <a:pt x="0" y="75424"/>
                </a:cubicBezTo>
                <a:cubicBezTo>
                  <a:pt x="0" y="33769"/>
                  <a:pt x="33768" y="1"/>
                  <a:pt x="75423" y="1"/>
                </a:cubicBezTo>
                <a:close/>
                <a:moveTo>
                  <a:pt x="438280" y="0"/>
                </a:moveTo>
                <a:cubicBezTo>
                  <a:pt x="479935" y="0"/>
                  <a:pt x="513703" y="33769"/>
                  <a:pt x="513703" y="75424"/>
                </a:cubicBezTo>
                <a:cubicBezTo>
                  <a:pt x="513703" y="117079"/>
                  <a:pt x="479935" y="150847"/>
                  <a:pt x="438280" y="150847"/>
                </a:cubicBezTo>
                <a:cubicBezTo>
                  <a:pt x="396625" y="150847"/>
                  <a:pt x="362857" y="117079"/>
                  <a:pt x="362857" y="75424"/>
                </a:cubicBezTo>
                <a:cubicBezTo>
                  <a:pt x="362857" y="33769"/>
                  <a:pt x="396625" y="0"/>
                  <a:pt x="438280" y="0"/>
                </a:cubicBezTo>
                <a:close/>
              </a:path>
            </a:pathLst>
          </a:custGeom>
          <a:gradFill>
            <a:gsLst>
              <a:gs pos="74000">
                <a:schemeClr val="accent2">
                  <a:alpha val="70000"/>
                </a:schemeClr>
              </a:gs>
              <a:gs pos="0">
                <a:schemeClr val="accent4">
                  <a:alpha val="7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圆角 13"/>
          <p:cNvSpPr/>
          <p:nvPr/>
        </p:nvSpPr>
        <p:spPr>
          <a:xfrm>
            <a:off x="558057" y="5552303"/>
            <a:ext cx="3274857" cy="344454"/>
          </a:xfrm>
          <a:prstGeom prst="roundRect">
            <a:avLst>
              <a:gd name="adj" fmla="val 5000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cs typeface="+mn-ea"/>
                <a:sym typeface="+mn-lt"/>
              </a:rPr>
              <a:t>作者：汤小丹、王红玲、姜华、汤子瀛</a:t>
            </a:r>
            <a:endParaRPr lang="zh-CN" altLang="en-US" b="1" dirty="0">
              <a:solidFill>
                <a:schemeClr val="tx1"/>
              </a:solidFill>
              <a:cs typeface="+mn-ea"/>
              <a:sym typeface="+mn-lt"/>
            </a:endParaRPr>
          </a:p>
        </p:txBody>
      </p:sp>
      <p:sp>
        <p:nvSpPr>
          <p:cNvPr id="11" name="矩形 10"/>
          <p:cNvSpPr/>
          <p:nvPr/>
        </p:nvSpPr>
        <p:spPr>
          <a:xfrm>
            <a:off x="906771" y="1308973"/>
            <a:ext cx="3575018" cy="346249"/>
          </a:xfrm>
          <a:prstGeom prst="rect">
            <a:avLst/>
          </a:prstGeom>
        </p:spPr>
        <p:txBody>
          <a:bodyPr wrap="none">
            <a:spAutoFit/>
          </a:bodyPr>
          <a:lstStyle/>
          <a:p>
            <a:pPr algn="ctr"/>
            <a:r>
              <a:rPr lang="zh-CN" altLang="en-US" sz="1650" dirty="0">
                <a:solidFill>
                  <a:schemeClr val="bg1"/>
                </a:solidFill>
                <a:cs typeface="+mn-ea"/>
                <a:sym typeface="+mn-lt"/>
              </a:rPr>
              <a:t>经典教材《计算机操作系统》</a:t>
            </a:r>
            <a:r>
              <a:rPr lang="zh-CN" altLang="en-US" sz="1650" b="1" dirty="0">
                <a:solidFill>
                  <a:schemeClr val="accent2"/>
                </a:solidFill>
                <a:cs typeface="+mn-ea"/>
                <a:sym typeface="+mn-lt"/>
              </a:rPr>
              <a:t>最新版</a:t>
            </a:r>
            <a:endParaRPr lang="zh-CN" altLang="en-US" sz="1650" b="1" dirty="0">
              <a:solidFill>
                <a:schemeClr val="accent2"/>
              </a:solidFill>
              <a:cs typeface="+mn-ea"/>
              <a:sym typeface="+mn-lt"/>
            </a:endParaRPr>
          </a:p>
        </p:txBody>
      </p:sp>
      <p:pic>
        <p:nvPicPr>
          <p:cNvPr id="12" name="图片 11"/>
          <p:cNvPicPr>
            <a:picLocks noChangeAspect="1"/>
          </p:cNvPicPr>
          <p:nvPr/>
        </p:nvPicPr>
        <p:blipFill>
          <a:blip r:embed="rId5"/>
          <a:stretch>
            <a:fillRect/>
          </a:stretch>
        </p:blipFill>
        <p:spPr>
          <a:xfrm>
            <a:off x="1255106" y="2801607"/>
            <a:ext cx="1881000" cy="2665681"/>
          </a:xfrm>
          <a:prstGeom prst="rect">
            <a:avLst/>
          </a:prstGeom>
        </p:spPr>
      </p:pic>
      <p:pic>
        <p:nvPicPr>
          <p:cNvPr id="13" name="图片 12"/>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304800" y="1249320"/>
            <a:ext cx="395288" cy="395288"/>
          </a:xfrm>
          <a:prstGeom prst="rect">
            <a:avLst/>
          </a:prstGeom>
        </p:spPr>
      </p:pic>
    </p:spTree>
  </p:cSld>
  <p:clrMapOvr>
    <a:masterClrMapping/>
  </p:clrMapOvr>
  <p:transition spd="slow">
    <p:pull dir="ru"/>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idx="1"/>
          </p:nvPr>
        </p:nvSpPr>
        <p:spPr>
          <a:xfrm>
            <a:off x="381000" y="838200"/>
            <a:ext cx="8382000" cy="3657600"/>
          </a:xfrm>
        </p:spPr>
        <p:txBody>
          <a:bodyPr vert="horz" wrap="square" lIns="91440" tIns="45720" rIns="91440" bIns="45720" numCol="1" anchor="t" anchorCtr="0" compatLnSpc="1"/>
          <a:lstStyle/>
          <a:p>
            <a:pPr marL="514350" marR="0" lvl="0" indent="-514350" algn="l" defTabSz="914400" rtl="0" eaLnBrk="1" fontAlgn="base" latinLnBrk="0" hangingPunct="1">
              <a:lnSpc>
                <a:spcPct val="90000"/>
              </a:lnSpc>
              <a:spcBef>
                <a:spcPct val="20000"/>
              </a:spcBef>
              <a:spcAft>
                <a:spcPct val="0"/>
              </a:spcAft>
              <a:buClrTx/>
              <a:buSzTx/>
              <a:buFont typeface="+mj-lt"/>
              <a:buAutoNum type="arabi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虚拟存储管理系统的基础是程序的（）理论。</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动态性</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虚拟性</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局部性</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全局性</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答案：</a:t>
            </a:r>
            <a:r>
              <a:rPr kumimoji="0" lang="en-US" altLang="zh-CN" sz="3200" b="1" i="0" u="none" strike="noStrike" kern="1200" cap="none" spc="0" normalizeH="0" baseline="0" noProof="1">
                <a:ln>
                  <a:noFill/>
                </a:ln>
                <a:solidFill>
                  <a:schemeClr val="tx1"/>
                </a:solidFill>
                <a:effectLst/>
                <a:uLnTx/>
                <a:uFillTx/>
                <a:latin typeface="+mn-lt"/>
                <a:ea typeface="+mn-ea"/>
                <a:cs typeface="+mn-cs"/>
              </a:rPr>
              <a:t>C</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p:txBody>
      </p:sp>
      <p:sp>
        <p:nvSpPr>
          <p:cNvPr id="148503" name="标题 1"/>
          <p:cNvSpPr txBox="1"/>
          <p:nvPr/>
        </p:nvSpPr>
        <p:spPr>
          <a:xfrm>
            <a:off x="179705" y="157480"/>
            <a:ext cx="1271905" cy="574675"/>
          </a:xfrm>
          <a:prstGeom prst="rect">
            <a:avLst/>
          </a:prstGeom>
          <a:solidFill>
            <a:srgbClr val="FFFF00"/>
          </a:solidFill>
          <a:ln w="9525">
            <a:noFill/>
          </a:ln>
        </p:spPr>
        <p:txBody>
          <a:bodyPr anchor="b" anchorCtr="0"/>
          <a:lstStyle>
            <a:lvl1pPr marL="457200" indent="-457200" algn="l" rtl="0" eaLnBrk="0" fontAlgn="base" hangingPunct="0">
              <a:spcBef>
                <a:spcPct val="20000"/>
              </a:spcBef>
              <a:spcAft>
                <a:spcPct val="0"/>
              </a:spcAft>
              <a:buClr>
                <a:srgbClr val="A50021"/>
              </a:buClr>
              <a:buSzPct val="75000"/>
              <a:buFont typeface="Wingdings" panose="05000000000000000000" pitchFamily="2" charset="2"/>
              <a:buChar char="n"/>
              <a:defRPr sz="3200" b="0" kern="1200">
                <a:solidFill>
                  <a:schemeClr val="tx1"/>
                </a:solidFill>
                <a:latin typeface="+mn-lt"/>
                <a:ea typeface="+mn-ea"/>
                <a:cs typeface="+mn-cs"/>
              </a:defRPr>
            </a:lvl1pPr>
            <a:lvl2pPr marL="1027430" indent="-455930" algn="l" rtl="0" eaLnBrk="0" fontAlgn="base" hangingPunct="0">
              <a:spcBef>
                <a:spcPct val="20000"/>
              </a:spcBef>
              <a:spcAft>
                <a:spcPct val="0"/>
              </a:spcAft>
              <a:buClr>
                <a:srgbClr val="A50021"/>
              </a:buClr>
              <a:buSzPct val="75000"/>
              <a:buFont typeface="Wingdings" panose="05000000000000000000" pitchFamily="2" charset="2"/>
              <a:buChar char="n"/>
              <a:defRPr sz="2800" kern="1200">
                <a:solidFill>
                  <a:schemeClr val="tx1"/>
                </a:solidFill>
                <a:latin typeface="+mn-lt"/>
                <a:ea typeface="+mn-ea"/>
                <a:cs typeface="+mn-cs"/>
              </a:defRPr>
            </a:lvl2pPr>
            <a:lvl3pPr marL="1370330" indent="-228600" algn="l" rtl="0" eaLnBrk="0" fontAlgn="base" hangingPunct="0">
              <a:spcBef>
                <a:spcPct val="20000"/>
              </a:spcBef>
              <a:spcAft>
                <a:spcPct val="0"/>
              </a:spcAft>
              <a:buClr>
                <a:srgbClr val="A50021"/>
              </a:buClr>
              <a:buSzPct val="75000"/>
              <a:buFont typeface="Wingdings" panose="05000000000000000000" pitchFamily="2" charset="2"/>
              <a:buChar char="n"/>
              <a:defRPr sz="2400" kern="1200">
                <a:solidFill>
                  <a:schemeClr val="tx1"/>
                </a:solidFill>
                <a:latin typeface="+mn-lt"/>
                <a:ea typeface="+mn-ea"/>
                <a:cs typeface="+mn-cs"/>
              </a:defRPr>
            </a:lvl3pPr>
            <a:lvl4pPr marL="1713230" indent="-228600" algn="l" rtl="0" eaLnBrk="0" fontAlgn="base" hangingPunct="0">
              <a:spcBef>
                <a:spcPct val="20000"/>
              </a:spcBef>
              <a:spcAft>
                <a:spcPct val="0"/>
              </a:spcAft>
              <a:buSzPct val="7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75000"/>
              <a:buFont typeface="Wingdings" panose="05000000000000000000" pitchFamily="2" charset="2"/>
              <a:buChar char="n"/>
              <a:defRPr sz="2000" kern="1200">
                <a:solidFill>
                  <a:schemeClr val="tx1"/>
                </a:solidFill>
                <a:latin typeface="+mn-lt"/>
                <a:ea typeface="+mn-ea"/>
                <a:cs typeface="+mn-cs"/>
              </a:defRPr>
            </a:lvl5pPr>
          </a:lstStyle>
          <a:p>
            <a:pPr marL="0" lvl="0" indent="0" algn="ctr">
              <a:spcBef>
                <a:spcPct val="0"/>
              </a:spcBef>
              <a:buClrTx/>
              <a:buSzTx/>
              <a:buFontTx/>
              <a:buNone/>
            </a:pPr>
            <a:r>
              <a:rPr lang="zh-CN" altLang="en-US" b="1" dirty="0">
                <a:solidFill>
                  <a:srgbClr val="FF0000"/>
                </a:solidFill>
              </a:rPr>
              <a:t>练习</a:t>
            </a:r>
            <a:endParaRPr lang="zh-CN" altLang="en-US" b="1" dirty="0">
              <a:solidFill>
                <a:srgbClr val="FF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4">
                                            <p:txEl>
                                              <p:pRg st="5" end="5"/>
                                            </p:txEl>
                                          </p:spTgt>
                                        </p:tgtEl>
                                        <p:attrNameLst>
                                          <p:attrName>style.visibility</p:attrName>
                                        </p:attrNameLst>
                                      </p:cBhvr>
                                      <p:to>
                                        <p:strVal val="visible"/>
                                      </p:to>
                                    </p:set>
                                    <p:animEffect transition="in" filter="blinds(horizontal)">
                                      <p:cBhvr>
                                        <p:cTn id="7" dur="500"/>
                                        <p:tgtEl>
                                          <p:spTgt spid="133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占位符 18434"/>
          <p:cNvSpPr>
            <a:spLocks noGrp="1" noChangeArrowheads="1"/>
          </p:cNvSpPr>
          <p:nvPr>
            <p:ph idx="1"/>
          </p:nvPr>
        </p:nvSpPr>
        <p:spPr>
          <a:xfrm>
            <a:off x="602615" y="516255"/>
            <a:ext cx="8091170" cy="575945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cs"/>
              </a:rPr>
              <a:t>2. </a:t>
            </a:r>
            <a:r>
              <a:rPr kumimoji="0" lang="zh-CN" altLang="en-US" sz="2800" b="1" i="0" u="none" strike="noStrike" kern="1200" cap="none" spc="0" normalizeH="0" baseline="0" noProof="0" dirty="0">
                <a:ln>
                  <a:noFill/>
                </a:ln>
                <a:solidFill>
                  <a:schemeClr val="tx1"/>
                </a:solidFill>
                <a:effectLst/>
                <a:uLnTx/>
                <a:uFillTx/>
                <a:latin typeface="+mn-lt"/>
                <a:ea typeface="+mn-ea"/>
                <a:cs typeface="+mn-cs"/>
              </a:rPr>
              <a:t>对于采用虚拟内存管理方式的系统，下列关于进程虚拟地址空间的叙述中，错误的是</a:t>
            </a:r>
            <a:r>
              <a:rPr kumimoji="0" lang="en-US" altLang="zh-CN" sz="28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8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8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2400"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i="0" u="none" strike="noStrike" kern="1200" cap="none" spc="0" normalizeH="0" baseline="0" noProof="0" dirty="0">
                <a:ln>
                  <a:noFill/>
                </a:ln>
                <a:solidFill>
                  <a:schemeClr val="tx1"/>
                </a:solidFill>
                <a:effectLst/>
                <a:uLnTx/>
                <a:uFillTx/>
                <a:latin typeface="+mn-lt"/>
                <a:ea typeface="+mn-ea"/>
                <a:cs typeface="+mn-cs"/>
              </a:rPr>
              <a:t>全国联考</a:t>
            </a:r>
            <a:r>
              <a:rPr kumimoji="0" lang="en-US" altLang="zh-CN" sz="2400" i="0" u="none" strike="noStrike" kern="1200" cap="none" spc="0" normalizeH="0" baseline="0" noProof="0" dirty="0">
                <a:ln>
                  <a:noFill/>
                </a:ln>
                <a:solidFill>
                  <a:schemeClr val="tx1"/>
                </a:solidFill>
                <a:effectLst/>
                <a:uLnTx/>
                <a:uFillTx/>
                <a:latin typeface="+mn-lt"/>
                <a:ea typeface="+mn-ea"/>
                <a:cs typeface="+mn-cs"/>
              </a:rPr>
              <a:t>2023</a:t>
            </a:r>
            <a:r>
              <a:rPr kumimoji="0" lang="zh-CN" altLang="en-US" sz="2400" i="0" u="none" strike="noStrike" kern="1200" cap="none" spc="0" normalizeH="0" baseline="0" noProof="0" dirty="0">
                <a:ln>
                  <a:noFill/>
                </a:ln>
                <a:solidFill>
                  <a:schemeClr val="tx1"/>
                </a:solidFill>
                <a:effectLst/>
                <a:uLnTx/>
                <a:uFillTx/>
                <a:latin typeface="+mn-lt"/>
                <a:ea typeface="+mn-ea"/>
                <a:cs typeface="+mn-cs"/>
              </a:rPr>
              <a:t>年</a:t>
            </a:r>
            <a:r>
              <a:rPr kumimoji="0" lang="en-US" altLang="zh-CN" sz="240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endParaRPr kumimoji="0" lang="en-US" altLang="zh-CN"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cs"/>
              </a:rPr>
              <a:t>A.</a:t>
            </a:r>
            <a:r>
              <a:rPr kumimoji="0" lang="zh-CN" altLang="en-US" sz="2800" b="1" i="0" u="none" strike="noStrike" kern="1200" cap="none" spc="0" normalizeH="0" baseline="0" noProof="0" dirty="0">
                <a:ln>
                  <a:noFill/>
                </a:ln>
                <a:solidFill>
                  <a:schemeClr val="tx1"/>
                </a:solidFill>
                <a:effectLst/>
                <a:uLnTx/>
                <a:uFillTx/>
                <a:latin typeface="+mn-lt"/>
                <a:ea typeface="+mn-ea"/>
                <a:cs typeface="+mn-cs"/>
              </a:rPr>
              <a:t>每个进程都有自已独立的虚拟地址空间</a:t>
            </a: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cs"/>
              </a:rPr>
              <a:t>B.C</a:t>
            </a:r>
            <a:r>
              <a:rPr kumimoji="0" lang="zh-CN" altLang="en-US" sz="2800" b="1" i="0" u="none" strike="noStrike" kern="1200" cap="none" spc="0" normalizeH="0" baseline="0" noProof="0" dirty="0">
                <a:ln>
                  <a:noFill/>
                </a:ln>
                <a:solidFill>
                  <a:schemeClr val="tx1"/>
                </a:solidFill>
                <a:effectLst/>
                <a:uLnTx/>
                <a:uFillTx/>
                <a:latin typeface="+mn-lt"/>
                <a:ea typeface="+mn-ea"/>
                <a:cs typeface="+mn-cs"/>
              </a:rPr>
              <a:t>语言中</a:t>
            </a:r>
            <a:r>
              <a:rPr kumimoji="0" lang="en-US" altLang="zh-CN" sz="2800" b="1" i="0" u="none" strike="noStrike" kern="1200" cap="none" spc="0" normalizeH="0" baseline="0" noProof="0" dirty="0">
                <a:ln>
                  <a:noFill/>
                </a:ln>
                <a:solidFill>
                  <a:schemeClr val="tx1"/>
                </a:solidFill>
                <a:effectLst/>
                <a:uLnTx/>
                <a:uFillTx/>
                <a:latin typeface="+mn-lt"/>
                <a:ea typeface="+mn-ea"/>
                <a:cs typeface="+mn-cs"/>
              </a:rPr>
              <a:t>malloc()</a:t>
            </a:r>
            <a:r>
              <a:rPr kumimoji="0" lang="zh-CN" altLang="en-US" sz="2800" b="1" i="0" u="none" strike="noStrike" kern="1200" cap="none" spc="0" normalizeH="0" baseline="0" noProof="0" dirty="0">
                <a:ln>
                  <a:noFill/>
                </a:ln>
                <a:solidFill>
                  <a:schemeClr val="tx1"/>
                </a:solidFill>
                <a:effectLst/>
                <a:uLnTx/>
                <a:uFillTx/>
                <a:latin typeface="+mn-lt"/>
                <a:ea typeface="+mn-ea"/>
                <a:cs typeface="+mn-cs"/>
              </a:rPr>
              <a:t>函数返回的是虚拟地址</a:t>
            </a: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cs"/>
              </a:rPr>
              <a:t>C.</a:t>
            </a:r>
            <a:r>
              <a:rPr kumimoji="0" lang="zh-CN" altLang="en-US" sz="2800" b="1" i="0" u="none" strike="noStrike" kern="1200" cap="none" spc="0" normalizeH="0" baseline="0" noProof="0" dirty="0">
                <a:ln>
                  <a:noFill/>
                </a:ln>
                <a:solidFill>
                  <a:schemeClr val="tx1"/>
                </a:solidFill>
                <a:effectLst/>
                <a:uLnTx/>
                <a:uFillTx/>
                <a:latin typeface="+mn-lt"/>
                <a:ea typeface="+mn-ea"/>
                <a:cs typeface="+mn-cs"/>
              </a:rPr>
              <a:t>进程对数据段和代码段可以有不同的访问权限</a:t>
            </a: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2800" b="1" i="0" u="none" strike="noStrike" kern="1200" cap="none" spc="0" normalizeH="0" baseline="0" noProof="0" dirty="0">
                <a:ln>
                  <a:noFill/>
                </a:ln>
                <a:solidFill>
                  <a:schemeClr val="tx1"/>
                </a:solidFill>
                <a:effectLst/>
                <a:uLnTx/>
                <a:uFillTx/>
                <a:latin typeface="+mn-lt"/>
                <a:ea typeface="+mn-ea"/>
                <a:cs typeface="+mn-cs"/>
              </a:rPr>
              <a:t>D.</a:t>
            </a:r>
            <a:r>
              <a:rPr kumimoji="0" lang="zh-CN" altLang="en-US" sz="2800" b="1" i="0" u="none" strike="noStrike" kern="1200" cap="none" spc="0" normalizeH="0" baseline="0" noProof="0" dirty="0">
                <a:ln>
                  <a:noFill/>
                </a:ln>
                <a:solidFill>
                  <a:schemeClr val="tx1"/>
                </a:solidFill>
                <a:effectLst/>
                <a:uLnTx/>
                <a:uFillTx/>
                <a:latin typeface="+mn-lt"/>
                <a:ea typeface="+mn-ea"/>
                <a:cs typeface="+mn-cs"/>
              </a:rPr>
              <a:t>虚拟地址的大小由主存和硬盘的大小决定</a:t>
            </a: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endParaRPr kumimoji="0" lang="zh-CN" altLang="en-US" sz="28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uLnTx/>
                <a:uFillTx/>
                <a:latin typeface="+mn-lt"/>
                <a:ea typeface="+mn-ea"/>
                <a:cs typeface="+mn-cs"/>
              </a:rPr>
              <a:t>答案：</a:t>
            </a:r>
            <a:r>
              <a:rPr kumimoji="0" lang="en-US" altLang="zh-CN" sz="2800" b="1" i="0" u="none" strike="noStrike" kern="1200" cap="none" spc="0" normalizeH="0" baseline="0" noProof="0" dirty="0">
                <a:ln>
                  <a:noFill/>
                </a:ln>
                <a:solidFill>
                  <a:schemeClr val="tx1"/>
                </a:solidFill>
                <a:effectLst/>
                <a:uLnTx/>
                <a:uFillTx/>
                <a:latin typeface="+mn-lt"/>
                <a:ea typeface="+mn-ea"/>
                <a:cs typeface="+mn-cs"/>
              </a:rPr>
              <a:t>D</a:t>
            </a:r>
            <a:endParaRPr kumimoji="0" lang="en-US" altLang="zh-CN" sz="28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lang="en-US" altLang="zh-CN" sz="2400">
                <a:sym typeface="+mn-ea"/>
              </a:rPr>
              <a:t>D</a:t>
            </a:r>
            <a:r>
              <a:rPr lang="zh-CN" altLang="en-US" sz="2400">
                <a:sym typeface="+mn-ea"/>
              </a:rPr>
              <a:t>选项说明：虚拟地址的大小受到内存和外存可利用的总容量限制，但具体大小主要由计算机的地址位数决定。</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86">
                                            <p:txEl>
                                              <p:pRg st="7" end="7"/>
                                            </p:txEl>
                                          </p:spTgt>
                                        </p:tgtEl>
                                        <p:attrNameLst>
                                          <p:attrName>style.visibility</p:attrName>
                                        </p:attrNameLst>
                                      </p:cBhvr>
                                      <p:to>
                                        <p:strVal val="visible"/>
                                      </p:to>
                                    </p:set>
                                    <p:animEffect transition="in" filter="fade">
                                      <p:cBhvr>
                                        <p:cTn id="7" dur="500"/>
                                        <p:tgtEl>
                                          <p:spTgt spid="1638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86">
                                            <p:txEl>
                                              <p:pRg st="8" end="8"/>
                                            </p:txEl>
                                          </p:spTgt>
                                        </p:tgtEl>
                                        <p:attrNameLst>
                                          <p:attrName>style.visibility</p:attrName>
                                        </p:attrNameLst>
                                      </p:cBhvr>
                                      <p:to>
                                        <p:strVal val="visible"/>
                                      </p:to>
                                    </p:set>
                                    <p:animEffect transition="in" filter="fade">
                                      <p:cBhvr>
                                        <p:cTn id="12" dur="500"/>
                                        <p:tgtEl>
                                          <p:spTgt spid="1638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idx="1"/>
          </p:nvPr>
        </p:nvSpPr>
        <p:spPr>
          <a:xfrm>
            <a:off x="628650" y="838200"/>
            <a:ext cx="8133080" cy="4154170"/>
          </a:xfrm>
        </p:spPr>
        <p:txBody>
          <a:bodyPr vert="horz" wrap="square" lIns="91440" tIns="45720" rIns="91440" bIns="45720" numCol="1" anchor="t" anchorCtr="0" compatLnSpc="1"/>
          <a:lstStyle/>
          <a:p>
            <a:pPr marL="0" marR="0" lvl="0" indent="0" algn="l" defTabSz="914400" rtl="0" eaLnBrk="1" fontAlgn="base" latinLnBrk="0" hangingPunct="1">
              <a:lnSpc>
                <a:spcPct val="90000"/>
              </a:lnSpc>
              <a:spcBef>
                <a:spcPct val="20000"/>
              </a:spcBef>
              <a:spcAft>
                <a:spcPct val="0"/>
              </a:spcAft>
              <a:buClrTx/>
              <a:buSzTx/>
              <a:buNone/>
              <a:defRPr/>
            </a:pPr>
            <a:r>
              <a:rPr lang="en-US" altLang="zh-CN" b="1">
                <a:ln>
                  <a:noFill/>
                </a:ln>
                <a:effectLst/>
                <a:uLnTx/>
                <a:uFillTx/>
                <a:sym typeface="+mn-ea"/>
              </a:rPr>
              <a:t>3.</a:t>
            </a:r>
            <a:r>
              <a:rPr lang="zh-CN" altLang="en-US" b="1">
                <a:ln>
                  <a:noFill/>
                </a:ln>
                <a:effectLst/>
                <a:uLnTx/>
                <a:uFillTx/>
                <a:sym typeface="+mn-ea"/>
              </a:rPr>
              <a:t>下列选项中，不会影响系统缺页率的是（</a:t>
            </a:r>
            <a:r>
              <a:rPr lang="en-US" altLang="zh-CN" b="1">
                <a:ln>
                  <a:noFill/>
                </a:ln>
                <a:effectLst/>
                <a:uLnTx/>
                <a:uFillTx/>
                <a:sym typeface="+mn-ea"/>
              </a:rPr>
              <a:t> </a:t>
            </a:r>
            <a:r>
              <a:rPr lang="zh-CN" altLang="en-US" b="1">
                <a:ln>
                  <a:noFill/>
                </a:ln>
                <a:effectLst/>
                <a:uLnTx/>
                <a:uFillTx/>
                <a:sym typeface="+mn-ea"/>
              </a:rPr>
              <a:t>）。</a:t>
            </a:r>
            <a:r>
              <a:rPr lang="en-US" altLang="zh-CN" sz="2400" noProof="0" dirty="0">
                <a:ln>
                  <a:noFill/>
                </a:ln>
                <a:effectLst/>
                <a:uLnTx/>
                <a:uFillTx/>
                <a:sym typeface="+mn-ea"/>
              </a:rPr>
              <a:t>[</a:t>
            </a:r>
            <a:r>
              <a:rPr lang="zh-CN" altLang="en-US" sz="2400" noProof="0" dirty="0">
                <a:ln>
                  <a:noFill/>
                </a:ln>
                <a:effectLst/>
                <a:uLnTx/>
                <a:uFillTx/>
                <a:sym typeface="+mn-ea"/>
              </a:rPr>
              <a:t>全国联考</a:t>
            </a:r>
            <a:r>
              <a:rPr lang="en-US" altLang="zh-CN" sz="2400" noProof="0" dirty="0">
                <a:ln>
                  <a:noFill/>
                </a:ln>
                <a:effectLst/>
                <a:uLnTx/>
                <a:uFillTx/>
                <a:sym typeface="+mn-ea"/>
              </a:rPr>
              <a:t>2022</a:t>
            </a:r>
            <a:r>
              <a:rPr lang="zh-CN" altLang="en-US" sz="2400" noProof="0" dirty="0">
                <a:ln>
                  <a:noFill/>
                </a:ln>
                <a:effectLst/>
                <a:uLnTx/>
                <a:uFillTx/>
                <a:sym typeface="+mn-ea"/>
              </a:rPr>
              <a:t>年</a:t>
            </a:r>
            <a:r>
              <a:rPr lang="en-US" altLang="zh-CN" sz="2400" noProof="0" dirty="0">
                <a:ln>
                  <a:noFill/>
                </a:ln>
                <a:effectLst/>
                <a:uLnTx/>
                <a:uFillTx/>
                <a:sym typeface="+mn-ea"/>
              </a:rPr>
              <a:t>]</a:t>
            </a:r>
            <a:endParaRPr kumimoji="0" lang="en-US" altLang="zh-CN"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Tx/>
              <a:buSzTx/>
              <a:buNone/>
              <a:defRPr/>
            </a:pPr>
            <a:r>
              <a:rPr lang="en-US" altLang="zh-CN" b="1">
                <a:ln>
                  <a:noFill/>
                </a:ln>
                <a:effectLst/>
                <a:uLnTx/>
                <a:uFillTx/>
                <a:sym typeface="+mn-ea"/>
              </a:rPr>
              <a:t>A.</a:t>
            </a:r>
            <a:r>
              <a:rPr lang="zh-CN" altLang="en-US" b="1">
                <a:ln>
                  <a:noFill/>
                </a:ln>
                <a:effectLst/>
                <a:uLnTx/>
                <a:uFillTx/>
                <a:sym typeface="+mn-ea"/>
              </a:rPr>
              <a:t>页置换算法</a:t>
            </a:r>
            <a:endParaRPr kumimoji="0" lang="zh-CN" altLang="en-US"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Tx/>
              <a:buSzTx/>
              <a:buNone/>
              <a:defRPr/>
            </a:pPr>
            <a:r>
              <a:rPr lang="en-US" altLang="zh-CN" b="1">
                <a:ln>
                  <a:noFill/>
                </a:ln>
                <a:effectLst/>
                <a:uLnTx/>
                <a:uFillTx/>
                <a:sym typeface="+mn-ea"/>
              </a:rPr>
              <a:t>B.</a:t>
            </a:r>
            <a:r>
              <a:rPr lang="zh-CN" altLang="en-US" b="1">
                <a:ln>
                  <a:noFill/>
                </a:ln>
                <a:effectLst/>
                <a:uLnTx/>
                <a:uFillTx/>
                <a:sym typeface="+mn-ea"/>
              </a:rPr>
              <a:t>工作集的大小</a:t>
            </a:r>
            <a:endParaRPr kumimoji="0" lang="zh-CN" altLang="en-US"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Tx/>
              <a:buSzTx/>
              <a:buNone/>
              <a:defRPr/>
            </a:pPr>
            <a:r>
              <a:rPr lang="en-US" altLang="zh-CN" b="1">
                <a:ln>
                  <a:noFill/>
                </a:ln>
                <a:effectLst/>
                <a:uLnTx/>
                <a:uFillTx/>
                <a:sym typeface="+mn-ea"/>
              </a:rPr>
              <a:t>C.</a:t>
            </a:r>
            <a:r>
              <a:rPr lang="zh-CN" altLang="en-US" b="1">
                <a:ln>
                  <a:noFill/>
                </a:ln>
                <a:effectLst/>
                <a:uLnTx/>
                <a:uFillTx/>
                <a:sym typeface="+mn-ea"/>
              </a:rPr>
              <a:t>进程的数量</a:t>
            </a:r>
            <a:endParaRPr kumimoji="0" lang="zh-CN" altLang="en-US"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Tx/>
              <a:buSzTx/>
              <a:buNone/>
              <a:defRPr/>
            </a:pPr>
            <a:r>
              <a:rPr lang="en-US" altLang="zh-CN" b="1">
                <a:ln>
                  <a:noFill/>
                </a:ln>
                <a:effectLst/>
                <a:uLnTx/>
                <a:uFillTx/>
                <a:sym typeface="+mn-ea"/>
              </a:rPr>
              <a:t>D.</a:t>
            </a:r>
            <a:r>
              <a:rPr lang="zh-CN" altLang="en-US" b="1">
                <a:ln>
                  <a:noFill/>
                </a:ln>
                <a:effectLst/>
                <a:uLnTx/>
                <a:uFillTx/>
                <a:sym typeface="+mn-ea"/>
              </a:rPr>
              <a:t>页缓冲队列的长度</a:t>
            </a:r>
            <a:endParaRPr kumimoji="0" lang="zh-CN" altLang="en-US"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答案：</a:t>
            </a:r>
            <a:r>
              <a:rPr kumimoji="0" lang="en-US" altLang="zh-CN" sz="3200" b="1" i="0" u="none" strike="noStrike" kern="1200" cap="none" spc="0" normalizeH="0" baseline="0" noProof="1">
                <a:ln>
                  <a:noFill/>
                </a:ln>
                <a:solidFill>
                  <a:schemeClr val="tx1"/>
                </a:solidFill>
                <a:effectLst/>
                <a:uLnTx/>
                <a:uFillTx/>
                <a:latin typeface="+mn-lt"/>
                <a:ea typeface="+mn-ea"/>
                <a:cs typeface="+mn-cs"/>
              </a:rPr>
              <a:t>D</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Tx/>
              <a:buSzTx/>
              <a:buNone/>
              <a:defRPr/>
            </a:pP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38">
                                            <p:txEl>
                                              <p:pRg st="6" end="6"/>
                                            </p:txEl>
                                          </p:spTgt>
                                        </p:tgtEl>
                                        <p:attrNameLst>
                                          <p:attrName>style.visibility</p:attrName>
                                        </p:attrNameLst>
                                      </p:cBhvr>
                                      <p:to>
                                        <p:strVal val="visible"/>
                                      </p:to>
                                    </p:set>
                                    <p:animEffect transition="in" filter="fade">
                                      <p:cBhvr>
                                        <p:cTn id="7" dur="500"/>
                                        <p:tgtEl>
                                          <p:spTgt spid="1433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idx="1"/>
          </p:nvPr>
        </p:nvSpPr>
        <p:spPr>
          <a:xfrm>
            <a:off x="381000" y="668020"/>
            <a:ext cx="8380730" cy="5674995"/>
          </a:xfrm>
        </p:spPr>
        <p:txBody>
          <a:bodyPr vert="horz" wrap="square" lIns="91440" tIns="45720" rIns="91440" bIns="45720" numCol="1" anchor="t" anchorCtr="0" compatLnSpc="1"/>
          <a:lstStyle/>
          <a:p>
            <a:pPr marL="514350" marR="0" lvl="0" indent="-514350" algn="l" defTabSz="914400" rtl="0" eaLnBrk="1" fontAlgn="base" latinLnBrk="0" hangingPunct="1">
              <a:lnSpc>
                <a:spcPct val="90000"/>
              </a:lnSpc>
              <a:spcBef>
                <a:spcPct val="20000"/>
              </a:spcBef>
              <a:spcAft>
                <a:spcPct val="0"/>
              </a:spcAft>
              <a:buClrTx/>
              <a:buSzTx/>
              <a:buFont typeface="+mj-lt"/>
              <a:buAutoNum type="arabicPeriod" startAt="4"/>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在页式虚拟存储管理系统中，采用某些页面置换算法，会出现</a:t>
            </a:r>
            <a:r>
              <a:rPr kumimoji="0" lang="en-US" altLang="zh-CN" sz="3200" b="1" i="0" u="none" strike="noStrike" kern="1200" cap="none" spc="0" normalizeH="0" baseline="0" noProof="1">
                <a:ln>
                  <a:noFill/>
                </a:ln>
                <a:solidFill>
                  <a:schemeClr val="tx1"/>
                </a:solidFill>
                <a:effectLst/>
                <a:uLnTx/>
                <a:uFillTx/>
                <a:latin typeface="+mn-lt"/>
                <a:ea typeface="+mn-ea"/>
                <a:cs typeface="+mn-cs"/>
              </a:rPr>
              <a:t>Belady</a:t>
            </a:r>
            <a:r>
              <a:rPr kumimoji="0" lang="zh-CN" altLang="en-US" sz="3200" b="1" i="0" u="none" strike="noStrike" kern="1200" cap="none" spc="0" normalizeH="0" baseline="0" noProof="1">
                <a:ln>
                  <a:noFill/>
                </a:ln>
                <a:solidFill>
                  <a:schemeClr val="tx1"/>
                </a:solidFill>
                <a:effectLst/>
                <a:uLnTx/>
                <a:uFillTx/>
                <a:latin typeface="+mn-lt"/>
                <a:ea typeface="+mn-ea"/>
                <a:cs typeface="+mn-cs"/>
              </a:rPr>
              <a:t>异常现象，即进程的缺页次数会随着分配给该进程的页框个数的增加。下列算法中，可能出现</a:t>
            </a:r>
            <a:r>
              <a:rPr kumimoji="0" lang="en-US" altLang="zh-CN" sz="3200" b="1" i="0" u="none" strike="noStrike" kern="1200" cap="none" spc="0" normalizeH="0" baseline="0" noProof="1">
                <a:ln>
                  <a:noFill/>
                </a:ln>
                <a:solidFill>
                  <a:schemeClr val="tx1"/>
                </a:solidFill>
                <a:effectLst/>
                <a:uLnTx/>
                <a:uFillTx/>
                <a:latin typeface="+mn-lt"/>
                <a:ea typeface="+mn-ea"/>
                <a:cs typeface="+mn-cs"/>
              </a:rPr>
              <a:t>Belady</a:t>
            </a:r>
            <a:r>
              <a:rPr kumimoji="0" lang="zh-CN" altLang="en-US" sz="3200" b="1" i="0" u="none" strike="noStrike" kern="1200" cap="none" spc="0" normalizeH="0" baseline="0" noProof="1">
                <a:ln>
                  <a:noFill/>
                </a:ln>
                <a:solidFill>
                  <a:schemeClr val="tx1"/>
                </a:solidFill>
                <a:effectLst/>
                <a:uLnTx/>
                <a:uFillTx/>
                <a:latin typeface="+mn-lt"/>
                <a:ea typeface="+mn-ea"/>
                <a:cs typeface="+mn-cs"/>
              </a:rPr>
              <a:t>异常现象的是（）。</a:t>
            </a:r>
            <a:r>
              <a:rPr kumimoji="0" lang="en-US" altLang="zh-CN" sz="2400" i="0" u="none" strike="noStrike" kern="1200" cap="none" spc="0" normalizeH="0" baseline="0" noProof="1">
                <a:ln>
                  <a:noFill/>
                </a:ln>
                <a:solidFill>
                  <a:schemeClr val="tx1"/>
                </a:solidFill>
                <a:effectLst/>
                <a:uLnTx/>
                <a:uFillTx/>
                <a:latin typeface="+mn-lt"/>
                <a:ea typeface="+mn-ea"/>
                <a:cs typeface="+mn-cs"/>
              </a:rPr>
              <a:t>[</a:t>
            </a:r>
            <a:r>
              <a:rPr kumimoji="0" lang="zh-CN" altLang="en-US" sz="2400" i="0" u="none" strike="noStrike" kern="1200" cap="none" spc="0" normalizeH="0" baseline="0" noProof="1">
                <a:ln>
                  <a:noFill/>
                </a:ln>
                <a:solidFill>
                  <a:schemeClr val="tx1"/>
                </a:solidFill>
                <a:effectLst/>
                <a:uLnTx/>
                <a:uFillTx/>
                <a:latin typeface="+mn-lt"/>
                <a:ea typeface="+mn-ea"/>
                <a:cs typeface="+mn-cs"/>
              </a:rPr>
              <a:t>全国联考</a:t>
            </a:r>
            <a:r>
              <a:rPr kumimoji="0" lang="en-US" altLang="zh-CN" sz="2400" i="0" u="none" strike="noStrike" kern="1200" cap="none" spc="0" normalizeH="0" baseline="0" noProof="1">
                <a:ln>
                  <a:noFill/>
                </a:ln>
                <a:solidFill>
                  <a:schemeClr val="tx1"/>
                </a:solidFill>
                <a:effectLst/>
                <a:uLnTx/>
                <a:uFillTx/>
                <a:latin typeface="+mn-lt"/>
                <a:ea typeface="+mn-ea"/>
                <a:cs typeface="+mn-cs"/>
              </a:rPr>
              <a:t>2014</a:t>
            </a:r>
            <a:r>
              <a:rPr kumimoji="0" lang="zh-CN" altLang="en-US" sz="2400" i="0" u="none" strike="noStrike" kern="1200" cap="none" spc="0" normalizeH="0" baseline="0" noProof="1">
                <a:ln>
                  <a:noFill/>
                </a:ln>
                <a:solidFill>
                  <a:schemeClr val="tx1"/>
                </a:solidFill>
                <a:effectLst/>
                <a:uLnTx/>
                <a:uFillTx/>
                <a:latin typeface="+mn-lt"/>
                <a:ea typeface="+mn-ea"/>
                <a:cs typeface="+mn-cs"/>
              </a:rPr>
              <a:t>年</a:t>
            </a:r>
            <a:r>
              <a:rPr kumimoji="0" lang="en-US" altLang="zh-CN" sz="2400" i="0" u="none" strike="noStrike" kern="1200" cap="none" spc="0" normalizeH="0" baseline="0" noProof="1">
                <a:ln>
                  <a:noFill/>
                </a:ln>
                <a:solidFill>
                  <a:schemeClr val="tx1"/>
                </a:solidFill>
                <a:effectLst/>
                <a:uLnTx/>
                <a:uFillTx/>
                <a:latin typeface="+mn-lt"/>
                <a:ea typeface="+mn-ea"/>
                <a:cs typeface="+mn-cs"/>
              </a:rPr>
              <a:t>]</a:t>
            </a:r>
            <a:endParaRPr kumimoji="0" lang="en-US" altLang="zh-CN" sz="2400"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20000"/>
              </a:spcBef>
              <a:spcAft>
                <a:spcPct val="0"/>
              </a:spcAft>
              <a:buClrTx/>
              <a:buSzTx/>
              <a:buFontTx/>
              <a:buNone/>
              <a:defRPr/>
            </a:pP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        a. LRU</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算法  </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b.</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 </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FIFO</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算法</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  c. OPT</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算法</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仅</a:t>
            </a:r>
            <a:r>
              <a:rPr kumimoji="0" lang="en-US" altLang="zh-CN" sz="3200" b="1" i="0" u="none" strike="noStrike" kern="1200" cap="none" spc="0" normalizeH="0" baseline="0" noProof="1">
                <a:ln>
                  <a:noFill/>
                </a:ln>
                <a:solidFill>
                  <a:schemeClr val="tx1"/>
                </a:solidFill>
                <a:effectLst/>
                <a:uLnTx/>
                <a:uFillTx/>
                <a:latin typeface="+mn-lt"/>
                <a:ea typeface="+mn-ea"/>
                <a:cs typeface="+mn-cs"/>
              </a:rPr>
              <a:t>b</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仅</a:t>
            </a:r>
            <a:r>
              <a:rPr kumimoji="0" lang="en-US" altLang="zh-CN" sz="3200" b="1" i="0" u="none" strike="noStrike" kern="1200" cap="none" spc="0" normalizeH="0" baseline="0" noProof="1">
                <a:ln>
                  <a:noFill/>
                </a:ln>
                <a:solidFill>
                  <a:schemeClr val="tx1"/>
                </a:solidFill>
                <a:effectLst/>
                <a:uLnTx/>
                <a:uFillTx/>
                <a:latin typeface="+mn-lt"/>
                <a:ea typeface="+mn-ea"/>
                <a:cs typeface="+mn-cs"/>
              </a:rPr>
              <a:t>a</a:t>
            </a:r>
            <a:r>
              <a:rPr kumimoji="0" lang="zh-CN" altLang="en-US" sz="3200" b="1" i="0" u="none" strike="noStrike" kern="1200" cap="none" spc="0" normalizeH="0" baseline="0" noProof="1">
                <a:ln>
                  <a:noFill/>
                </a:ln>
                <a:solidFill>
                  <a:schemeClr val="tx1"/>
                </a:solidFill>
                <a:effectLst/>
                <a:uLnTx/>
                <a:uFillTx/>
                <a:latin typeface="+mn-lt"/>
                <a:ea typeface="+mn-ea"/>
                <a:cs typeface="+mn-cs"/>
              </a:rPr>
              <a:t>、</a:t>
            </a:r>
            <a:r>
              <a:rPr kumimoji="0" lang="en-US" altLang="zh-CN" sz="3200" b="1" i="0" u="none" strike="noStrike" kern="1200" cap="none" spc="0" normalizeH="0" baseline="0" noProof="1">
                <a:ln>
                  <a:noFill/>
                </a:ln>
                <a:solidFill>
                  <a:schemeClr val="tx1"/>
                </a:solidFill>
                <a:effectLst/>
                <a:uLnTx/>
                <a:uFillTx/>
                <a:latin typeface="+mn-lt"/>
                <a:ea typeface="+mn-ea"/>
                <a:cs typeface="+mn-cs"/>
              </a:rPr>
              <a:t>b</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仅</a:t>
            </a:r>
            <a:r>
              <a:rPr kumimoji="0" lang="en-US" altLang="zh-CN" sz="3200" b="1" i="0" u="none" strike="noStrike" kern="1200" cap="none" spc="0" normalizeH="0" baseline="0" noProof="1">
                <a:ln>
                  <a:noFill/>
                </a:ln>
                <a:solidFill>
                  <a:schemeClr val="tx1"/>
                </a:solidFill>
                <a:effectLst/>
                <a:uLnTx/>
                <a:uFillTx/>
                <a:latin typeface="+mn-lt"/>
                <a:ea typeface="+mn-ea"/>
                <a:cs typeface="+mn-cs"/>
              </a:rPr>
              <a:t>a</a:t>
            </a:r>
            <a:r>
              <a:rPr kumimoji="0" lang="zh-CN" altLang="en-US" sz="3200" b="1" i="0" u="none" strike="noStrike" kern="1200" cap="none" spc="0" normalizeH="0" baseline="0" noProof="1">
                <a:ln>
                  <a:noFill/>
                </a:ln>
                <a:solidFill>
                  <a:schemeClr val="tx1"/>
                </a:solidFill>
                <a:effectLst/>
                <a:uLnTx/>
                <a:uFillTx/>
                <a:latin typeface="+mn-lt"/>
                <a:ea typeface="+mn-ea"/>
                <a:cs typeface="+mn-cs"/>
              </a:rPr>
              <a:t>、</a:t>
            </a:r>
            <a:r>
              <a:rPr kumimoji="0" lang="en-US" altLang="zh-CN" sz="3200" b="1" i="0" u="none" strike="noStrike" kern="1200" cap="none" spc="0" normalizeH="0" baseline="0" noProof="1">
                <a:ln>
                  <a:noFill/>
                </a:ln>
                <a:solidFill>
                  <a:schemeClr val="tx1"/>
                </a:solidFill>
                <a:effectLst/>
                <a:uLnTx/>
                <a:uFillTx/>
                <a:latin typeface="+mn-lt"/>
                <a:ea typeface="+mn-ea"/>
                <a:cs typeface="+mn-cs"/>
              </a:rPr>
              <a:t>c</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9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仅</a:t>
            </a:r>
            <a:r>
              <a:rPr kumimoji="0" lang="en-US" altLang="zh-CN" sz="3200" b="1" i="0" u="none" strike="noStrike" kern="1200" cap="none" spc="0" normalizeH="0" baseline="0" noProof="1">
                <a:ln>
                  <a:noFill/>
                </a:ln>
                <a:solidFill>
                  <a:schemeClr val="tx1"/>
                </a:solidFill>
                <a:effectLst/>
                <a:uLnTx/>
                <a:uFillTx/>
                <a:latin typeface="+mn-lt"/>
                <a:ea typeface="+mn-ea"/>
                <a:cs typeface="+mn-cs"/>
              </a:rPr>
              <a:t>b</a:t>
            </a:r>
            <a:r>
              <a:rPr kumimoji="0" lang="zh-CN" altLang="en-US" sz="3200" b="1" i="0" u="none" strike="noStrike" kern="1200" cap="none" spc="0" normalizeH="0" baseline="0" noProof="1">
                <a:ln>
                  <a:noFill/>
                </a:ln>
                <a:solidFill>
                  <a:schemeClr val="tx1"/>
                </a:solidFill>
                <a:effectLst/>
                <a:uLnTx/>
                <a:uFillTx/>
                <a:latin typeface="+mn-lt"/>
                <a:ea typeface="+mn-ea"/>
                <a:cs typeface="+mn-cs"/>
              </a:rPr>
              <a:t>、</a:t>
            </a:r>
            <a:r>
              <a:rPr kumimoji="0" lang="en-US" altLang="zh-CN" sz="3200" b="1" i="0" u="none" strike="noStrike" kern="1200" cap="none" spc="0" normalizeH="0" baseline="0" noProof="1">
                <a:ln>
                  <a:noFill/>
                </a:ln>
                <a:solidFill>
                  <a:schemeClr val="tx1"/>
                </a:solidFill>
                <a:effectLst/>
                <a:uLnTx/>
                <a:uFillTx/>
                <a:latin typeface="+mn-lt"/>
                <a:ea typeface="+mn-ea"/>
                <a:cs typeface="+mn-cs"/>
              </a:rPr>
              <a:t>c</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uLnTx/>
                <a:uFillTx/>
                <a:latin typeface="+mn-lt"/>
                <a:ea typeface="+mn-ea"/>
                <a:cs typeface="+mn-cs"/>
              </a:rPr>
              <a:t>答案：</a:t>
            </a:r>
            <a:r>
              <a:rPr kumimoji="0" lang="en-US" altLang="zh-CN" sz="3200" b="1" i="0" u="none" strike="noStrike" kern="1200" cap="none" spc="0" normalizeH="0" baseline="0" noProof="1">
                <a:ln>
                  <a:noFill/>
                </a:ln>
                <a:solidFill>
                  <a:schemeClr val="tx1"/>
                </a:solidFill>
                <a:effectLst/>
                <a:uLnTx/>
                <a:uFillTx/>
                <a:latin typeface="+mn-lt"/>
                <a:ea typeface="+mn-ea"/>
                <a:cs typeface="+mn-cs"/>
              </a:rPr>
              <a:t>A</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8">
                                            <p:txEl>
                                              <p:pRg st="6" end="6"/>
                                            </p:txEl>
                                          </p:spTgt>
                                        </p:tgtEl>
                                        <p:attrNameLst>
                                          <p:attrName>style.visibility</p:attrName>
                                        </p:attrNameLst>
                                      </p:cBhvr>
                                      <p:to>
                                        <p:strVal val="visible"/>
                                      </p:to>
                                    </p:set>
                                    <p:animEffect transition="in" filter="blinds(horizontal)">
                                      <p:cBhvr>
                                        <p:cTn id="7" dur="500"/>
                                        <p:tgtEl>
                                          <p:spTgt spid="1433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文本占位符 15362"/>
          <p:cNvSpPr>
            <a:spLocks noGrp="1" noChangeArrowheads="1"/>
          </p:cNvSpPr>
          <p:nvPr>
            <p:ph idx="1"/>
          </p:nvPr>
        </p:nvSpPr>
        <p:spPr>
          <a:xfrm>
            <a:off x="457200" y="567690"/>
            <a:ext cx="8382000" cy="5253355"/>
          </a:xfrm>
        </p:spPr>
        <p:txBody>
          <a:bodyPr vert="horz" wrap="square" lIns="91440" tIns="45720" rIns="91440" bIns="45720" numCol="1" anchor="t" anchorCtr="0" compatLnSpc="1"/>
          <a:lstStyle/>
          <a:p>
            <a:pPr marL="514350" marR="0" lvl="0" indent="-514350" algn="l" defTabSz="914400" rtl="0" eaLnBrk="0" fontAlgn="base" latinLnBrk="0" hangingPunct="0">
              <a:lnSpc>
                <a:spcPct val="100000"/>
              </a:lnSpc>
              <a:spcBef>
                <a:spcPct val="20000"/>
              </a:spcBef>
              <a:spcAft>
                <a:spcPct val="0"/>
              </a:spcAft>
              <a:buClrTx/>
              <a:buSzTx/>
              <a:buFont typeface="+mj-lt"/>
              <a:buAutoNum type="arabicPeriod" startAt="5"/>
              <a:defRPr/>
            </a:pPr>
            <a:r>
              <a:rPr kumimoji="0" lang="zh-CN" altLang="en-US" sz="3200" b="1" i="0" u="none" strike="noStrike" kern="1200" cap="none" spc="0" normalizeH="0" baseline="0" noProof="0" dirty="0">
                <a:ln>
                  <a:noFill/>
                </a:ln>
                <a:solidFill>
                  <a:schemeClr val="tx1"/>
                </a:solidFill>
                <a:effectLst/>
                <a:uLnTx/>
                <a:uFillTx/>
                <a:latin typeface="+mn-lt"/>
                <a:ea typeface="+mn-ea"/>
                <a:cs typeface="+mn-cs"/>
              </a:rPr>
              <a:t>某进程访问的页</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b </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不在内存中，导致产生缺页异常，该缺页异常处理过程中不一定包含的操作是（</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2800" i="0" u="none" strike="noStrike" kern="1200" cap="none" spc="0" normalizeH="0" baseline="0" noProof="0" dirty="0">
                <a:ln>
                  <a:noFill/>
                </a:ln>
                <a:solidFill>
                  <a:schemeClr val="tx1"/>
                </a:solidFill>
                <a:effectLst/>
                <a:uLnTx/>
                <a:uFillTx/>
                <a:latin typeface="+mn-lt"/>
                <a:ea typeface="+mn-ea"/>
                <a:cs typeface="+mn-cs"/>
              </a:rPr>
              <a:t> </a:t>
            </a:r>
            <a:r>
              <a:rPr kumimoji="0" lang="en-US" altLang="zh-CN" sz="2400" i="0" u="none" strike="noStrike" kern="1200" cap="none" spc="0" normalizeH="0" baseline="0" noProof="0" dirty="0">
                <a:ln>
                  <a:noFill/>
                </a:ln>
                <a:solidFill>
                  <a:schemeClr val="tx1"/>
                </a:solidFill>
                <a:effectLst/>
                <a:uLnTx/>
                <a:uFillTx/>
                <a:latin typeface="+mn-lt"/>
                <a:ea typeface="+mn-ea"/>
                <a:cs typeface="+mn-cs"/>
              </a:rPr>
              <a:t>[</a:t>
            </a:r>
            <a:r>
              <a:rPr kumimoji="0" lang="zh-CN" altLang="en-US" sz="2400" i="0" u="none" strike="noStrike" kern="1200" cap="none" spc="0" normalizeH="0" baseline="0" noProof="0" dirty="0">
                <a:ln>
                  <a:noFill/>
                </a:ln>
                <a:solidFill>
                  <a:schemeClr val="tx1"/>
                </a:solidFill>
                <a:effectLst/>
                <a:uLnTx/>
                <a:uFillTx/>
                <a:latin typeface="+mn-lt"/>
                <a:ea typeface="+mn-ea"/>
                <a:cs typeface="+mn-cs"/>
              </a:rPr>
              <a:t>全国联考</a:t>
            </a:r>
            <a:r>
              <a:rPr kumimoji="0" lang="en-US" altLang="zh-CN" sz="2400" i="0" u="none" strike="noStrike" kern="1200" cap="none" spc="0" normalizeH="0" baseline="0" noProof="0" dirty="0">
                <a:ln>
                  <a:noFill/>
                </a:ln>
                <a:solidFill>
                  <a:schemeClr val="tx1"/>
                </a:solidFill>
                <a:effectLst/>
                <a:uLnTx/>
                <a:uFillTx/>
                <a:latin typeface="+mn-lt"/>
                <a:ea typeface="+mn-ea"/>
                <a:cs typeface="+mn-cs"/>
              </a:rPr>
              <a:t>2022</a:t>
            </a:r>
            <a:r>
              <a:rPr kumimoji="0" lang="zh-CN" altLang="en-US" sz="2400" i="0" u="none" strike="noStrike" kern="1200" cap="none" spc="0" normalizeH="0" baseline="0" noProof="0" dirty="0">
                <a:ln>
                  <a:noFill/>
                </a:ln>
                <a:solidFill>
                  <a:schemeClr val="tx1"/>
                </a:solidFill>
                <a:effectLst/>
                <a:uLnTx/>
                <a:uFillTx/>
                <a:latin typeface="+mn-lt"/>
                <a:ea typeface="+mn-ea"/>
                <a:cs typeface="+mn-cs"/>
              </a:rPr>
              <a:t>年</a:t>
            </a:r>
            <a:r>
              <a:rPr kumimoji="0" lang="en-US" altLang="zh-CN" sz="240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A.</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淘汰内存中的页</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B.</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建立页号与页框号的对应关系</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C.</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将页</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b </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从外存读入内存</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mj-lt"/>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D.</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修改页表中页</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b </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对应的存在位</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tx1"/>
                </a:solidFill>
                <a:effectLst/>
                <a:uLnTx/>
                <a:uFillTx/>
                <a:latin typeface="+mn-lt"/>
                <a:ea typeface="+mn-ea"/>
                <a:cs typeface="+mn-cs"/>
              </a:rPr>
              <a:t>答案：</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A</a:t>
            </a:r>
            <a:endParaRPr kumimoji="0" lang="en-US" altLang="zh-CN" sz="3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4">
                                            <p:txEl>
                                              <p:pRg st="6" end="6"/>
                                            </p:txEl>
                                          </p:spTgt>
                                        </p:tgtEl>
                                        <p:attrNameLst>
                                          <p:attrName>style.visibility</p:attrName>
                                        </p:attrNameLst>
                                      </p:cBhvr>
                                      <p:to>
                                        <p:strVal val="visible"/>
                                      </p:to>
                                    </p:set>
                                    <p:animEffect transition="in" filter="fade">
                                      <p:cBhvr>
                                        <p:cTn id="7" dur="500"/>
                                        <p:tgtEl>
                                          <p:spTgt spid="133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文本占位符 15362"/>
          <p:cNvSpPr>
            <a:spLocks noGrp="1" noChangeArrowheads="1"/>
          </p:cNvSpPr>
          <p:nvPr>
            <p:ph idx="1"/>
          </p:nvPr>
        </p:nvSpPr>
        <p:spPr>
          <a:xfrm>
            <a:off x="457200" y="896620"/>
            <a:ext cx="8382000" cy="3657600"/>
          </a:xfrm>
        </p:spPr>
        <p:txBody>
          <a:bodyPr vert="horz" wrap="square" lIns="91440" tIns="45720" rIns="91440" bIns="45720" numCol="1" anchor="t" anchorCtr="0" compatLnSpc="1"/>
          <a:lstStyle/>
          <a:p>
            <a:pPr marL="514350" marR="0" lvl="0" indent="-514350" algn="l" defTabSz="914400" rtl="0" eaLnBrk="0" fontAlgn="base" latinLnBrk="0" hangingPunct="0">
              <a:lnSpc>
                <a:spcPct val="100000"/>
              </a:lnSpc>
              <a:spcBef>
                <a:spcPct val="20000"/>
              </a:spcBef>
              <a:spcAft>
                <a:spcPct val="0"/>
              </a:spcAft>
              <a:buClrTx/>
              <a:buSzTx/>
              <a:buFont typeface="+mj-lt"/>
              <a:buAutoNum type="arabicPeriod" startAt="6"/>
              <a:defRPr/>
            </a:pP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当系统发生抖动时，可以采取的有效措施是（ ）。</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1.</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撤销部分进程</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2.</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增加磁盘交换区的容量</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3.</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提高用户进程的优先级</a:t>
            </a:r>
            <a:endParaRPr kumimoji="0" lang="zh-CN" altLang="en-US" sz="32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3200" b="1" i="0" u="none" strike="noStrike" kern="1200" cap="none" spc="0" normalizeH="0" baseline="0" noProof="0" dirty="0">
                <a:ln>
                  <a:noFill/>
                </a:ln>
                <a:solidFill>
                  <a:srgbClr val="120044"/>
                </a:solidFill>
                <a:effectLst/>
                <a:uLnTx/>
                <a:uFillTx/>
                <a:latin typeface="+mn-lt"/>
                <a:ea typeface="+mn-ea"/>
                <a:cs typeface="+mn-cs"/>
              </a:rPr>
              <a:t>A.</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仅</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1    B.</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仅</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2     C.</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仅</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3    D.</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仅</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3200" b="1" i="0" u="none" strike="noStrike" kern="1200" cap="none" spc="0" normalizeH="0" baseline="0" noProof="0" dirty="0">
                <a:ln>
                  <a:noFill/>
                </a:ln>
                <a:solidFill>
                  <a:schemeClr val="tx1"/>
                </a:solidFill>
                <a:effectLst/>
                <a:uLnTx/>
                <a:uFillTx/>
                <a:latin typeface="+mn-lt"/>
                <a:ea typeface="+mn-ea"/>
                <a:cs typeface="+mn-cs"/>
              </a:rPr>
              <a:t>和</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2</a:t>
            </a:r>
            <a:endParaRPr kumimoji="0" lang="en-US" altLang="zh-CN" sz="32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defRPr/>
            </a:pPr>
            <a:endParaRPr kumimoji="0" lang="en-US" altLang="zh-CN" sz="32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dirty="0">
                <a:ln>
                  <a:noFill/>
                </a:ln>
                <a:solidFill>
                  <a:schemeClr val="tx1"/>
                </a:solidFill>
                <a:effectLst/>
                <a:uLnTx/>
                <a:uFillTx/>
                <a:latin typeface="+mn-lt"/>
                <a:ea typeface="+mn-ea"/>
                <a:cs typeface="+mn-cs"/>
              </a:rPr>
              <a:t>答案：</a:t>
            </a:r>
            <a:r>
              <a:rPr kumimoji="0" lang="en-US" altLang="zh-CN" sz="3200" b="1" i="0" u="none" strike="noStrike" kern="1200" cap="none" spc="0" normalizeH="0" baseline="0" noProof="0" dirty="0">
                <a:ln>
                  <a:noFill/>
                </a:ln>
                <a:solidFill>
                  <a:schemeClr val="tx1"/>
                </a:solidFill>
                <a:effectLst/>
                <a:uLnTx/>
                <a:uFillTx/>
                <a:latin typeface="+mn-lt"/>
                <a:ea typeface="+mn-ea"/>
                <a:cs typeface="+mn-cs"/>
              </a:rPr>
              <a:t>A</a:t>
            </a:r>
            <a:endParaRPr kumimoji="0" lang="en-US" altLang="zh-CN" sz="32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4">
                                            <p:txEl>
                                              <p:pRg st="6" end="6"/>
                                            </p:txEl>
                                          </p:spTgt>
                                        </p:tgtEl>
                                        <p:attrNameLst>
                                          <p:attrName>style.visibility</p:attrName>
                                        </p:attrNameLst>
                                      </p:cBhvr>
                                      <p:to>
                                        <p:strVal val="visible"/>
                                      </p:to>
                                    </p:set>
                                    <p:animEffect transition="in" filter="blinds(horizontal)">
                                      <p:cBhvr>
                                        <p:cTn id="7" dur="500"/>
                                        <p:tgtEl>
                                          <p:spTgt spid="133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3400" y="844550"/>
            <a:ext cx="8229600" cy="4696460"/>
          </a:xfrm>
        </p:spPr>
        <p:txBody>
          <a:bodyPr vert="horz" wrap="square" lIns="91440" tIns="45720" rIns="91440" bIns="45720" numCol="1" anchor="t" anchorCtr="0" compatLnSpc="1"/>
          <a:lstStyle/>
          <a:p>
            <a:pPr marL="514350" marR="0" lvl="0" indent="-514350" algn="l" defTabSz="914400" rtl="0" eaLnBrk="1" fontAlgn="base" latinLnBrk="0" hangingPunct="1">
              <a:lnSpc>
                <a:spcPct val="100000"/>
              </a:lnSpc>
              <a:spcBef>
                <a:spcPct val="20000"/>
              </a:spcBef>
              <a:spcAft>
                <a:spcPct val="0"/>
              </a:spcAft>
              <a:buClrTx/>
              <a:buSzTx/>
              <a:buFont typeface="+mj-lt"/>
              <a:buAutoNum type="arabicPeriod" startAt="7"/>
              <a:defRPr/>
            </a:pP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在缺页处理过程中，操作系统执行的操作可能是（）。</a:t>
            </a:r>
            <a:endParaRPr kumimoji="0" lang="zh-CN" altLang="en-US" sz="32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        a.</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修改页表    </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b.</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磁盘</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I/O    c.</a:t>
            </a: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分配</a:t>
            </a:r>
            <a:r>
              <a:rPr kumimoji="0" lang="zh-CN" altLang="en-US" sz="3200" b="1" i="0" u="none" strike="noStrike" kern="1200" cap="none" spc="0" normalizeH="0" baseline="0" noProof="1">
                <a:ln>
                  <a:noFill/>
                </a:ln>
                <a:solidFill>
                  <a:srgbClr val="FF0000"/>
                </a:solidFill>
                <a:effectLst/>
                <a:uLnTx/>
                <a:uFillTx/>
                <a:latin typeface="+mn-lt"/>
                <a:ea typeface="+mn-ea"/>
                <a:cs typeface="+mn-cs"/>
                <a:sym typeface="+mn-ea"/>
              </a:rPr>
              <a:t>页框</a:t>
            </a:r>
            <a:endParaRPr kumimoji="0" lang="zh-CN" altLang="en-US" sz="3200" b="1" i="0" u="none" strike="noStrike" kern="1200" cap="none" spc="0" normalizeH="0" baseline="0" noProof="1">
              <a:ln>
                <a:noFill/>
              </a:ln>
              <a:solidFill>
                <a:srgbClr val="FF0000"/>
              </a:solidFill>
              <a:effectLst/>
              <a:uLnTx/>
              <a:uFillTx/>
              <a:latin typeface="+mn-lt"/>
              <a:ea typeface="+mn-ea"/>
              <a:cs typeface="+mn-cs"/>
            </a:endParaRPr>
          </a:p>
          <a:p>
            <a:pPr marL="971550" marR="0" lvl="1" indent="-514350" algn="l" defTabSz="914400" rtl="0" eaLnBrk="1" fontAlgn="base" latinLnBrk="0" hangingPunct="1">
              <a:lnSpc>
                <a:spcPct val="10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仅</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a</a:t>
            </a:r>
            <a:r>
              <a:rPr kumimoji="0" lang="en-US" altLang="en-US" sz="3200" b="1" i="0" u="none" strike="noStrike" kern="1200" cap="none" spc="0" normalizeH="0" baseline="0" noProof="1">
                <a:ln>
                  <a:noFill/>
                </a:ln>
                <a:solidFill>
                  <a:schemeClr val="tx1"/>
                </a:solidFill>
                <a:effectLst/>
                <a:uLnTx/>
                <a:uFillTx/>
                <a:latin typeface="+mn-lt"/>
                <a:ea typeface="+mn-ea"/>
                <a:cs typeface="+mn-cs"/>
                <a:sym typeface="+mn-ea"/>
              </a:rPr>
              <a:t>、</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b</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10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仅</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b</a:t>
            </a:r>
            <a:endParaRPr kumimoji="0" lang="en-US" altLang="en-US"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100000"/>
              </a:lnSpc>
              <a:spcBef>
                <a:spcPct val="20000"/>
              </a:spcBef>
              <a:spcAft>
                <a:spcPct val="0"/>
              </a:spcAft>
              <a:buClrTx/>
              <a:buSzTx/>
              <a:buFont typeface="Comic Sans MS" panose="030F0702030302020204" pitchFamily="66" charset="0"/>
              <a:buAutoNum type="alphaUcPeriod"/>
              <a:defRPr/>
            </a:pP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仅</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c</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a:p>
            <a:pPr marL="971550" marR="0" lvl="1" indent="-514350" algn="l" defTabSz="914400" rtl="0" eaLnBrk="1" fontAlgn="base" latinLnBrk="0" hangingPunct="1">
              <a:lnSpc>
                <a:spcPct val="100000"/>
              </a:lnSpc>
              <a:spcBef>
                <a:spcPct val="20000"/>
              </a:spcBef>
              <a:spcAft>
                <a:spcPct val="0"/>
              </a:spcAft>
              <a:buClrTx/>
              <a:buSzTx/>
              <a:buFont typeface="Comic Sans MS" panose="030F0702030302020204" pitchFamily="66" charset="0"/>
              <a:buAutoNum type="alphaUcPeriod"/>
              <a:defRPr/>
            </a:pP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a</a:t>
            </a:r>
            <a:r>
              <a:rPr kumimoji="0" lang="en-US" altLang="en-US" sz="3200" b="1" i="0" u="none" strike="noStrike" kern="1200" cap="none" spc="0" normalizeH="0" baseline="0" noProof="1">
                <a:ln>
                  <a:noFill/>
                </a:ln>
                <a:solidFill>
                  <a:schemeClr val="tx1"/>
                </a:solidFill>
                <a:effectLst/>
                <a:uLnTx/>
                <a:uFillTx/>
                <a:latin typeface="+mn-lt"/>
                <a:ea typeface="+mn-ea"/>
                <a:cs typeface="+mn-cs"/>
                <a:sym typeface="+mn-ea"/>
              </a:rPr>
              <a:t>、</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b</a:t>
            </a:r>
            <a:r>
              <a:rPr kumimoji="0" lang="en-US" altLang="en-US" sz="3200" b="1" i="0" u="none" strike="noStrike" kern="1200" cap="none" spc="0" normalizeH="0" baseline="0" noProof="1">
                <a:ln>
                  <a:noFill/>
                </a:ln>
                <a:solidFill>
                  <a:schemeClr val="tx1"/>
                </a:solidFill>
                <a:effectLst/>
                <a:uLnTx/>
                <a:uFillTx/>
                <a:latin typeface="+mn-lt"/>
                <a:ea typeface="+mn-ea"/>
                <a:cs typeface="+mn-cs"/>
                <a:sym typeface="+mn-ea"/>
              </a:rPr>
              <a:t>、</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c</a:t>
            </a:r>
            <a:endParaRPr kumimoji="0" lang="en-US" altLang="zh-CN" sz="3200" b="1" i="0" u="none" strike="noStrike" kern="1200" cap="none" spc="0" normalizeH="0" baseline="0" noProof="1">
              <a:ln>
                <a:noFill/>
              </a:ln>
              <a:solidFill>
                <a:schemeClr val="tx1"/>
              </a:solidFill>
              <a:effectLst/>
              <a:uLnTx/>
              <a:uFillTx/>
              <a:latin typeface="+mn-lt"/>
              <a:ea typeface="+mn-ea"/>
              <a:cs typeface="+mn-cs"/>
              <a:sym typeface="+mn-ea"/>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3200" b="1" i="0" u="none" strike="noStrike" kern="1200" cap="none" spc="0" normalizeH="0" baseline="0" noProof="1">
                <a:ln>
                  <a:noFill/>
                </a:ln>
                <a:solidFill>
                  <a:schemeClr val="tx1"/>
                </a:solidFill>
                <a:effectLst/>
                <a:uLnTx/>
                <a:uFillTx/>
                <a:latin typeface="+mn-lt"/>
                <a:ea typeface="+mn-ea"/>
                <a:cs typeface="+mn-cs"/>
                <a:sym typeface="+mn-ea"/>
              </a:rPr>
              <a:t>答案：</a:t>
            </a:r>
            <a:r>
              <a:rPr kumimoji="0" lang="en-US" altLang="zh-CN" sz="3200" b="1" i="0" u="none" strike="noStrike" kern="1200" cap="none" spc="0" normalizeH="0" baseline="0" noProof="1">
                <a:ln>
                  <a:noFill/>
                </a:ln>
                <a:solidFill>
                  <a:schemeClr val="tx1"/>
                </a:solidFill>
                <a:effectLst/>
                <a:uLnTx/>
                <a:uFillTx/>
                <a:latin typeface="+mn-lt"/>
                <a:ea typeface="+mn-ea"/>
                <a:cs typeface="+mn-cs"/>
                <a:sym typeface="+mn-ea"/>
              </a:rPr>
              <a:t>D</a:t>
            </a:r>
            <a:endParaRPr kumimoji="0" lang="en-US" altLang="zh-CN" sz="32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en-US" altLang="en-US" sz="32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blinds(horizontal)">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23554"/>
          <p:cNvSpPr txBox="1">
            <a:spLocks noChangeArrowheads="1"/>
          </p:cNvSpPr>
          <p:nvPr/>
        </p:nvSpPr>
        <p:spPr bwMode="auto">
          <a:xfrm>
            <a:off x="457200" y="829310"/>
            <a:ext cx="8112760" cy="452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514350" marR="0" lvl="0" indent="-514350" algn="l" defTabSz="914400" rtl="0" eaLnBrk="0" fontAlgn="base" latinLnBrk="0" hangingPunct="0">
              <a:lnSpc>
                <a:spcPct val="80000"/>
              </a:lnSpc>
              <a:spcBef>
                <a:spcPct val="20000"/>
              </a:spcBef>
              <a:spcAft>
                <a:spcPct val="0"/>
              </a:spcAft>
              <a:buClrTx/>
              <a:buSzTx/>
              <a:buFont typeface="+mj-lt"/>
              <a:buAutoNum type="arabicPeriod" startAt="8"/>
              <a:defRPr/>
            </a:pP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若用户进程访问内存时产生缺页，则下列选项中，操作系统可能执行的操作是：</a:t>
            </a:r>
            <a:endPar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    I. </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处理越界错</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  II. </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置换页</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   III. </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分配内存</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 </a:t>
            </a:r>
            <a:endPar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   A. </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仅</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II        </a:t>
            </a:r>
            <a:r>
              <a:rPr kumimoji="0" lang="en-US" altLang="zh-CN" sz="2800" b="1" i="0" u="none" strike="noStrike" kern="1200" cap="none" spc="0" normalizeH="0" baseline="0" noProof="0" dirty="0">
                <a:ln>
                  <a:noFill/>
                </a:ln>
                <a:solidFill>
                  <a:schemeClr val="tx1">
                    <a:lumMod val="95000"/>
                    <a:lumOff val="5000"/>
                  </a:schemeClr>
                </a:solidFill>
                <a:effectLst/>
                <a:uLnTx/>
                <a:uFillTx/>
                <a:latin typeface="Comic Sans MS" panose="030F0702030302020204" pitchFamily="66" charset="0"/>
                <a:ea typeface="宋体" panose="02010600030101010101" pitchFamily="2" charset="-122"/>
                <a:cs typeface="+mn-cs"/>
              </a:rPr>
              <a:t>  B.</a:t>
            </a:r>
            <a:r>
              <a:rPr kumimoji="0" lang="en-US" altLang="zh-CN" sz="2800" b="1" i="0" u="none" strike="noStrike" kern="1200" cap="none" spc="0" normalizeH="0" baseline="0" noProof="0" dirty="0">
                <a:ln>
                  <a:noFill/>
                </a:ln>
                <a:solidFill>
                  <a:schemeClr val="accent2"/>
                </a:solidFill>
                <a:effectLst/>
                <a:uLnTx/>
                <a:uFillTx/>
                <a:latin typeface="Comic Sans MS" panose="030F0702030302020204" pitchFamily="66" charset="0"/>
                <a:ea typeface="宋体" panose="02010600030101010101" pitchFamily="2" charset="-122"/>
                <a:cs typeface="+mn-cs"/>
              </a:rPr>
              <a:t> </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仅</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II</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III          </a:t>
            </a:r>
            <a:endPar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   C. </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仅</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III         D. I</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II</a:t>
            </a: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和</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III </a:t>
            </a:r>
            <a:endPar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  </a:t>
            </a:r>
            <a:endPar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zh-CN" altLang="en-US"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答案：</a:t>
            </a:r>
            <a:r>
              <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B</a:t>
            </a:r>
            <a:endParaRPr kumimoji="0" lang="en-US" altLang="zh-CN" sz="28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342900" marR="0" lvl="0" indent="-342900" algn="l" defTabSz="914400" rtl="0" eaLnBrk="0" fontAlgn="base" latinLnBrk="0" hangingPunct="0">
              <a:lnSpc>
                <a:spcPct val="80000"/>
              </a:lnSpc>
              <a:spcBef>
                <a:spcPct val="20000"/>
              </a:spcBef>
              <a:spcAft>
                <a:spcPct val="0"/>
              </a:spcAft>
              <a:buClrTx/>
              <a:buSzTx/>
              <a:buFontTx/>
              <a:buChar char="•"/>
              <a:defRPr/>
            </a:pPr>
            <a:r>
              <a:rPr kumimoji="0" lang="zh-CN" altLang="en-US" sz="24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解析：用户进程访问内存时缺页会发生缺页中断。发生缺页中断，系统执行的操作可能是置换页面或分配内存。系统内没有越界的错误，不会进行越界出错处理。</a:t>
            </a:r>
            <a:endParaRPr kumimoji="0" lang="zh-CN" altLang="en-US" sz="24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500"/>
                                        <p:tgtEl>
                                          <p:spTgt spid="4">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7" end="7"/>
                                            </p:txEl>
                                          </p:spTgt>
                                        </p:tgtEl>
                                        <p:attrNameLst>
                                          <p:attrName>style.visibility</p:attrName>
                                        </p:attrNameLst>
                                      </p:cBhvr>
                                      <p:to>
                                        <p:strVal val="visible"/>
                                      </p:to>
                                    </p:set>
                                    <p:animEffect transition="in" filter="fade">
                                      <p:cBhvr>
                                        <p:cTn id="10"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13080" y="474345"/>
            <a:ext cx="8151495" cy="5764530"/>
          </a:xfrm>
          <a:prstGeom prst="rect">
            <a:avLst/>
          </a:prstGeom>
        </p:spPr>
        <p:txBody>
          <a:bodyPr>
            <a:noAutofit/>
          </a:bodyPr>
          <a:lstStyle/>
          <a:p>
            <a:pPr marL="457200" indent="-457200" algn="l" eaLnBrk="1" hangingPunct="1">
              <a:lnSpc>
                <a:spcPct val="100000"/>
              </a:lnSpc>
              <a:spcBef>
                <a:spcPct val="20000"/>
              </a:spcBef>
              <a:buClr>
                <a:srgbClr val="000000"/>
              </a:buClr>
              <a:buSzPct val="100000"/>
              <a:buFont typeface="+mj-lt"/>
              <a:buAutoNum type="arabicPeriod" startAt="9"/>
            </a:pPr>
            <a:r>
              <a:rPr lang="zh-CN" altLang="en-US" sz="2000" dirty="0">
                <a:solidFill>
                  <a:schemeClr val="tx2"/>
                </a:solidFill>
                <a:latin typeface="+mn-lt"/>
                <a:ea typeface="+mn-ea"/>
                <a:sym typeface="+mn-ea"/>
              </a:rPr>
              <a:t>某请求分页存储系统的页大小为</a:t>
            </a:r>
            <a:r>
              <a:rPr lang="en-US" altLang="zh-CN" sz="2000" dirty="0">
                <a:solidFill>
                  <a:schemeClr val="tx2"/>
                </a:solidFill>
                <a:latin typeface="+mn-lt"/>
                <a:ea typeface="+mn-ea"/>
                <a:sym typeface="+mn-ea"/>
              </a:rPr>
              <a:t>4KB</a:t>
            </a:r>
            <a:r>
              <a:rPr lang="zh-CN" altLang="en-US" sz="2000" dirty="0">
                <a:solidFill>
                  <a:schemeClr val="tx2"/>
                </a:solidFill>
                <a:latin typeface="+mn-lt"/>
                <a:ea typeface="+mn-ea"/>
                <a:sym typeface="+mn-ea"/>
              </a:rPr>
              <a:t>，按字节编址。系统给进程</a:t>
            </a:r>
            <a:r>
              <a:rPr lang="en-US" altLang="zh-CN" sz="2000" dirty="0">
                <a:solidFill>
                  <a:schemeClr val="tx2"/>
                </a:solidFill>
                <a:latin typeface="+mn-lt"/>
                <a:ea typeface="+mn-ea"/>
                <a:sym typeface="+mn-ea"/>
              </a:rPr>
              <a:t>P</a:t>
            </a:r>
            <a:r>
              <a:rPr lang="zh-CN" altLang="en-US" sz="2000" dirty="0">
                <a:solidFill>
                  <a:schemeClr val="tx2"/>
                </a:solidFill>
                <a:latin typeface="+mn-lt"/>
                <a:ea typeface="+mn-ea"/>
                <a:sym typeface="+mn-ea"/>
              </a:rPr>
              <a:t>分</a:t>
            </a:r>
            <a:r>
              <a:rPr lang="en-US" altLang="zh-CN" sz="2000" dirty="0">
                <a:solidFill>
                  <a:schemeClr val="tx2"/>
                </a:solidFill>
                <a:latin typeface="+mn-lt"/>
                <a:ea typeface="+mn-ea"/>
                <a:sym typeface="+mn-ea"/>
              </a:rPr>
              <a:t>  </a:t>
            </a:r>
            <a:r>
              <a:rPr lang="zh-CN" altLang="en-US" sz="2000" dirty="0">
                <a:solidFill>
                  <a:schemeClr val="tx2"/>
                </a:solidFill>
                <a:latin typeface="+mn-lt"/>
                <a:ea typeface="+mn-ea"/>
                <a:sym typeface="+mn-ea"/>
              </a:rPr>
              <a:t>配</a:t>
            </a:r>
            <a:r>
              <a:rPr lang="en-US" altLang="zh-CN" sz="2000" dirty="0">
                <a:solidFill>
                  <a:schemeClr val="tx2"/>
                </a:solidFill>
                <a:latin typeface="+mn-lt"/>
                <a:ea typeface="+mn-ea"/>
                <a:sym typeface="+mn-ea"/>
              </a:rPr>
              <a:t>2</a:t>
            </a:r>
            <a:r>
              <a:rPr lang="zh-CN" altLang="en-US" sz="2000" dirty="0">
                <a:solidFill>
                  <a:schemeClr val="tx2"/>
                </a:solidFill>
                <a:latin typeface="+mn-lt"/>
                <a:ea typeface="+mn-ea"/>
                <a:sym typeface="+mn-ea"/>
              </a:rPr>
              <a:t>个固定的页框，并采用改进型</a:t>
            </a:r>
            <a:r>
              <a:rPr lang="en-US" altLang="zh-CN" sz="2000" dirty="0">
                <a:solidFill>
                  <a:schemeClr val="tx2"/>
                </a:solidFill>
                <a:latin typeface="+mn-lt"/>
                <a:ea typeface="+mn-ea"/>
                <a:sym typeface="+mn-ea"/>
              </a:rPr>
              <a:t>Clock</a:t>
            </a:r>
            <a:r>
              <a:rPr lang="zh-CN" altLang="en-US" sz="2000" dirty="0">
                <a:solidFill>
                  <a:schemeClr val="tx2"/>
                </a:solidFill>
                <a:latin typeface="+mn-lt"/>
                <a:ea typeface="+mn-ea"/>
                <a:sym typeface="+mn-ea"/>
              </a:rPr>
              <a:t>置换算法，进程</a:t>
            </a:r>
            <a:r>
              <a:rPr lang="en-US" altLang="zh-CN" sz="2000" dirty="0">
                <a:solidFill>
                  <a:schemeClr val="tx2"/>
                </a:solidFill>
                <a:latin typeface="+mn-lt"/>
                <a:ea typeface="+mn-ea"/>
                <a:sym typeface="+mn-ea"/>
              </a:rPr>
              <a:t>P</a:t>
            </a:r>
            <a:r>
              <a:rPr lang="zh-CN" altLang="en-US" sz="2000" dirty="0">
                <a:solidFill>
                  <a:schemeClr val="tx2"/>
                </a:solidFill>
                <a:latin typeface="+mn-lt"/>
                <a:ea typeface="+mn-ea"/>
                <a:sym typeface="+mn-ea"/>
              </a:rPr>
              <a:t>页表的部分内容如下表所示。</a:t>
            </a:r>
            <a:endParaRPr lang="zh-CN" altLang="en-US"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en-US"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en-US"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en-US"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en-US"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en-US"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en-US"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zh-CN" altLang="en-US" sz="2000" dirty="0">
                <a:solidFill>
                  <a:schemeClr val="tx2"/>
                </a:solidFill>
                <a:latin typeface="+mn-lt"/>
                <a:ea typeface="+mn-ea"/>
                <a:sym typeface="+mn-ea"/>
              </a:rPr>
              <a:t>若</a:t>
            </a:r>
            <a:r>
              <a:rPr lang="en-US" altLang="zh-CN" sz="2000" dirty="0">
                <a:solidFill>
                  <a:schemeClr val="tx2"/>
                </a:solidFill>
                <a:latin typeface="+mn-lt"/>
                <a:ea typeface="+mn-ea"/>
                <a:sym typeface="+mn-ea"/>
              </a:rPr>
              <a:t>P</a:t>
            </a:r>
            <a:r>
              <a:rPr lang="zh-CN" altLang="en-US" sz="2000" dirty="0">
                <a:solidFill>
                  <a:schemeClr val="tx2"/>
                </a:solidFill>
                <a:latin typeface="+mn-lt"/>
                <a:ea typeface="+mn-ea"/>
                <a:sym typeface="+mn-ea"/>
              </a:rPr>
              <a:t>访问虚拟地址为</a:t>
            </a:r>
            <a:r>
              <a:rPr lang="en-US" altLang="zh-CN" sz="2000" dirty="0">
                <a:solidFill>
                  <a:schemeClr val="tx2"/>
                </a:solidFill>
                <a:latin typeface="+mn-lt"/>
                <a:ea typeface="+mn-ea"/>
                <a:sym typeface="+mn-ea"/>
              </a:rPr>
              <a:t>02A01H</a:t>
            </a:r>
            <a:r>
              <a:rPr lang="zh-CN" altLang="en-US" sz="2000" dirty="0">
                <a:solidFill>
                  <a:schemeClr val="tx2"/>
                </a:solidFill>
                <a:latin typeface="+mn-lt"/>
                <a:ea typeface="+mn-ea"/>
                <a:sym typeface="+mn-ea"/>
              </a:rPr>
              <a:t>的存储单元，则经地址变换后得到的物理地址是</a:t>
            </a:r>
            <a:r>
              <a:rPr lang="en-US" altLang="zh-CN" sz="2000" dirty="0">
                <a:solidFill>
                  <a:schemeClr val="tx2"/>
                </a:solidFill>
                <a:latin typeface="+mn-lt"/>
                <a:ea typeface="+mn-ea"/>
                <a:sym typeface="+mn-ea"/>
              </a:rPr>
              <a:t>(		)</a:t>
            </a:r>
            <a:r>
              <a:rPr lang="zh-CN" altLang="en-US" sz="2000" dirty="0">
                <a:solidFill>
                  <a:schemeClr val="tx2"/>
                </a:solidFill>
                <a:latin typeface="+mn-lt"/>
                <a:ea typeface="+mn-ea"/>
                <a:sym typeface="+mn-ea"/>
              </a:rPr>
              <a:t>。</a:t>
            </a:r>
            <a:r>
              <a:rPr lang="en-US" altLang="zh-CN" sz="2000" dirty="0">
                <a:solidFill>
                  <a:schemeClr val="tx2"/>
                </a:solidFill>
                <a:latin typeface="+mn-lt"/>
                <a:ea typeface="+mn-ea"/>
                <a:sym typeface="+mn-ea"/>
              </a:rPr>
              <a:t>  </a:t>
            </a:r>
            <a:r>
              <a:rPr lang="en-US" altLang="zh-CN" sz="2000" b="0" dirty="0">
                <a:solidFill>
                  <a:schemeClr val="tx2"/>
                </a:solidFill>
                <a:latin typeface="+mn-lt"/>
                <a:ea typeface="+mn-ea"/>
                <a:sym typeface="+mn-ea"/>
              </a:rPr>
              <a:t>[</a:t>
            </a:r>
            <a:r>
              <a:rPr lang="zh-CN" altLang="en-US" sz="2000" b="0" dirty="0">
                <a:solidFill>
                  <a:schemeClr val="tx2"/>
                </a:solidFill>
                <a:latin typeface="+mn-lt"/>
                <a:ea typeface="+mn-ea"/>
                <a:sym typeface="+mn-ea"/>
              </a:rPr>
              <a:t>全国联考</a:t>
            </a:r>
            <a:r>
              <a:rPr lang="en-US" altLang="zh-CN" sz="2000" b="0" dirty="0">
                <a:solidFill>
                  <a:schemeClr val="tx2"/>
                </a:solidFill>
                <a:latin typeface="+mn-lt"/>
                <a:ea typeface="+mn-ea"/>
                <a:sym typeface="+mn-ea"/>
              </a:rPr>
              <a:t>2021</a:t>
            </a:r>
            <a:r>
              <a:rPr lang="zh-CN" altLang="en-US" sz="2000" b="0" dirty="0">
                <a:solidFill>
                  <a:schemeClr val="tx2"/>
                </a:solidFill>
                <a:latin typeface="+mn-lt"/>
                <a:ea typeface="+mn-ea"/>
                <a:sym typeface="+mn-ea"/>
              </a:rPr>
              <a:t>年</a:t>
            </a:r>
            <a:r>
              <a:rPr lang="en-US" altLang="zh-CN" sz="2000" b="0" dirty="0">
                <a:solidFill>
                  <a:schemeClr val="tx2"/>
                </a:solidFill>
                <a:latin typeface="+mn-lt"/>
                <a:ea typeface="+mn-ea"/>
                <a:sym typeface="+mn-ea"/>
              </a:rPr>
              <a:t>]</a:t>
            </a:r>
            <a:endParaRPr lang="en-US" altLang="zh-CN"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000" dirty="0">
                <a:solidFill>
                  <a:schemeClr val="tx2"/>
                </a:solidFill>
                <a:latin typeface="+mn-lt"/>
                <a:ea typeface="+mn-ea"/>
                <a:sym typeface="+mn-ea"/>
              </a:rPr>
              <a:t>A.00A01H</a:t>
            </a:r>
            <a:endParaRPr lang="en-US" altLang="zh-CN"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000" dirty="0">
                <a:solidFill>
                  <a:schemeClr val="tx2"/>
                </a:solidFill>
                <a:latin typeface="+mn-lt"/>
                <a:ea typeface="+mn-ea"/>
                <a:sym typeface="+mn-ea"/>
              </a:rPr>
              <a:t>B.20A01H</a:t>
            </a:r>
            <a:endParaRPr lang="en-US" altLang="zh-CN"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000" dirty="0">
                <a:solidFill>
                  <a:schemeClr val="tx2"/>
                </a:solidFill>
                <a:latin typeface="+mn-lt"/>
                <a:ea typeface="+mn-ea"/>
                <a:sym typeface="+mn-ea"/>
              </a:rPr>
              <a:t>C.60A01H</a:t>
            </a:r>
            <a:endParaRPr lang="en-US" altLang="zh-CN"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000" dirty="0">
                <a:solidFill>
                  <a:schemeClr val="tx2"/>
                </a:solidFill>
                <a:latin typeface="+mn-lt"/>
                <a:ea typeface="+mn-ea"/>
                <a:sym typeface="+mn-ea"/>
              </a:rPr>
              <a:t>D.80A01H</a:t>
            </a:r>
            <a:endParaRPr lang="en-US" altLang="zh-CN" sz="20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zh-CN" altLang="zh-CN" sz="2000" dirty="0">
                <a:solidFill>
                  <a:schemeClr val="tx2"/>
                </a:solidFill>
                <a:latin typeface="+mn-lt"/>
                <a:ea typeface="+mn-ea"/>
                <a:sym typeface="+mn-ea"/>
              </a:rPr>
              <a:t>答案：</a:t>
            </a:r>
            <a:r>
              <a:rPr lang="en-US" altLang="zh-CN" sz="2000" dirty="0">
                <a:solidFill>
                  <a:schemeClr val="tx2"/>
                </a:solidFill>
                <a:latin typeface="+mn-lt"/>
                <a:ea typeface="+mn-ea"/>
                <a:sym typeface="+mn-ea"/>
              </a:rPr>
              <a:t>C</a:t>
            </a:r>
            <a:endParaRPr lang="en-US" altLang="zh-CN" sz="2000" dirty="0">
              <a:solidFill>
                <a:schemeClr val="tx2"/>
              </a:solidFill>
              <a:latin typeface="+mn-lt"/>
              <a:ea typeface="+mn-ea"/>
              <a:sym typeface="+mn-ea"/>
            </a:endParaRPr>
          </a:p>
        </p:txBody>
      </p:sp>
      <p:graphicFrame>
        <p:nvGraphicFramePr>
          <p:cNvPr id="2" name="表格 1"/>
          <p:cNvGraphicFramePr/>
          <p:nvPr>
            <p:custDataLst>
              <p:tags r:id="rId1"/>
            </p:custDataLst>
          </p:nvPr>
        </p:nvGraphicFramePr>
        <p:xfrm>
          <a:off x="1179830" y="1511935"/>
          <a:ext cx="7042785" cy="2096770"/>
        </p:xfrm>
        <a:graphic>
          <a:graphicData uri="http://schemas.openxmlformats.org/drawingml/2006/table">
            <a:tbl>
              <a:tblPr/>
              <a:tblGrid>
                <a:gridCol w="699135"/>
                <a:gridCol w="833755"/>
                <a:gridCol w="1808480"/>
                <a:gridCol w="1807210"/>
                <a:gridCol w="1894205"/>
              </a:tblGrid>
              <a:tr h="578485">
                <a:tc>
                  <a:txBody>
                    <a:bodyPr/>
                    <a:lstStyle/>
                    <a:p>
                      <a:pPr marL="0" indent="0" algn="ctr">
                        <a:spcBef>
                          <a:spcPct val="0"/>
                        </a:spcBef>
                        <a:spcAft>
                          <a:spcPct val="0"/>
                        </a:spcAft>
                      </a:pPr>
                      <a:r>
                        <a:rPr lang="zh-CN" sz="1800">
                          <a:latin typeface="宋体" panose="02010600030101010101" pitchFamily="2" charset="-122"/>
                          <a:ea typeface="宋体" panose="02010600030101010101" pitchFamily="2" charset="-122"/>
                        </a:rPr>
                        <a:t>页号</a:t>
                      </a:r>
                      <a:endParaRPr 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0" algn="ctr">
                        <a:spcBef>
                          <a:spcPct val="0"/>
                        </a:spcBef>
                        <a:spcAft>
                          <a:spcPct val="0"/>
                        </a:spcAft>
                      </a:pPr>
                      <a:r>
                        <a:rPr lang="zh-CN" sz="1800">
                          <a:latin typeface="宋体" panose="02010600030101010101" pitchFamily="2" charset="-122"/>
                          <a:ea typeface="宋体" panose="02010600030101010101" pitchFamily="2" charset="-122"/>
                        </a:rPr>
                        <a:t>页框号</a:t>
                      </a:r>
                      <a:endParaRPr 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0" algn="ctr">
                        <a:spcBef>
                          <a:spcPct val="0"/>
                        </a:spcBef>
                        <a:spcAft>
                          <a:spcPct val="0"/>
                        </a:spcAft>
                      </a:pPr>
                      <a:r>
                        <a:rPr lang="zh-CN" sz="1800">
                          <a:latin typeface="宋体" panose="02010600030101010101" pitchFamily="2" charset="-122"/>
                          <a:ea typeface="宋体" panose="02010600030101010101" pitchFamily="2" charset="-122"/>
                        </a:rPr>
                        <a:t>存在位</a:t>
                      </a:r>
                      <a:r>
                        <a:rPr lang="en-US" altLang="zh-CN" sz="1800">
                          <a:latin typeface="宋体" panose="02010600030101010101" pitchFamily="2" charset="-122"/>
                          <a:ea typeface="宋体" panose="02010600030101010101" pitchFamily="2" charset="-122"/>
                        </a:rPr>
                        <a:t>(1</a:t>
                      </a:r>
                      <a:r>
                        <a:rPr lang="zh-CN" altLang="en-US" sz="1800">
                          <a:latin typeface="宋体" panose="02010600030101010101" pitchFamily="2" charset="-122"/>
                          <a:ea typeface="宋体" panose="02010600030101010101" pitchFamily="2" charset="-122"/>
                        </a:rPr>
                        <a:t>：存在，</a:t>
                      </a:r>
                      <a:r>
                        <a:rPr lang="en-US" altLang="zh-CN" sz="1800">
                          <a:latin typeface="宋体" panose="02010600030101010101" pitchFamily="2" charset="-122"/>
                          <a:ea typeface="宋体" panose="02010600030101010101" pitchFamily="2" charset="-122"/>
                        </a:rPr>
                        <a:t>0</a:t>
                      </a:r>
                      <a:r>
                        <a:rPr lang="zh-CN" altLang="en-US" sz="1800">
                          <a:latin typeface="宋体" panose="02010600030101010101" pitchFamily="2" charset="-122"/>
                          <a:ea typeface="宋体" panose="02010600030101010101" pitchFamily="2" charset="-122"/>
                        </a:rPr>
                        <a:t>：不存在</a:t>
                      </a: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0" algn="ctr">
                        <a:spcBef>
                          <a:spcPct val="0"/>
                        </a:spcBef>
                        <a:spcAft>
                          <a:spcPct val="0"/>
                        </a:spcAft>
                      </a:pPr>
                      <a:r>
                        <a:rPr lang="zh-CN" sz="1800">
                          <a:latin typeface="宋体" panose="02010600030101010101" pitchFamily="2" charset="-122"/>
                          <a:ea typeface="宋体" panose="02010600030101010101" pitchFamily="2" charset="-122"/>
                        </a:rPr>
                        <a:t>访问位</a:t>
                      </a:r>
                      <a:r>
                        <a:rPr lang="en-US" altLang="zh-CN" sz="1800">
                          <a:latin typeface="宋体" panose="02010600030101010101" pitchFamily="2" charset="-122"/>
                          <a:ea typeface="宋体" panose="02010600030101010101" pitchFamily="2" charset="-122"/>
                        </a:rPr>
                        <a:t>(1</a:t>
                      </a:r>
                      <a:r>
                        <a:rPr lang="zh-CN" altLang="en-US" sz="1800">
                          <a:latin typeface="宋体" panose="02010600030101010101" pitchFamily="2" charset="-122"/>
                          <a:ea typeface="宋体" panose="02010600030101010101" pitchFamily="2" charset="-122"/>
                        </a:rPr>
                        <a:t>：访问，</a:t>
                      </a:r>
                      <a:r>
                        <a:rPr lang="en-US" altLang="zh-CN" sz="1800">
                          <a:latin typeface="宋体" panose="02010600030101010101" pitchFamily="2" charset="-122"/>
                          <a:ea typeface="宋体" panose="02010600030101010101" pitchFamily="2" charset="-122"/>
                        </a:rPr>
                        <a:t>0</a:t>
                      </a:r>
                      <a:r>
                        <a:rPr lang="zh-CN" altLang="en-US" sz="1800">
                          <a:latin typeface="宋体" panose="02010600030101010101" pitchFamily="2" charset="-122"/>
                          <a:ea typeface="宋体" panose="02010600030101010101" pitchFamily="2" charset="-122"/>
                        </a:rPr>
                        <a:t>：未访问</a:t>
                      </a: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c>
                  <a:txBody>
                    <a:bodyPr/>
                    <a:lstStyle/>
                    <a:p>
                      <a:pPr marL="0" indent="0" algn="ctr">
                        <a:spcBef>
                          <a:spcPct val="0"/>
                        </a:spcBef>
                        <a:spcAft>
                          <a:spcPct val="0"/>
                        </a:spcAft>
                      </a:pPr>
                      <a:r>
                        <a:rPr lang="zh-CN" sz="1800">
                          <a:latin typeface="宋体" panose="02010600030101010101" pitchFamily="2" charset="-122"/>
                          <a:ea typeface="宋体" panose="02010600030101010101" pitchFamily="2" charset="-122"/>
                        </a:rPr>
                        <a:t>修改位</a:t>
                      </a:r>
                      <a:r>
                        <a:rPr lang="en-US" altLang="zh-CN" sz="1800">
                          <a:latin typeface="宋体" panose="02010600030101010101" pitchFamily="2" charset="-122"/>
                          <a:ea typeface="宋体" panose="02010600030101010101" pitchFamily="2" charset="-122"/>
                        </a:rPr>
                        <a:t>(1</a:t>
                      </a:r>
                      <a:r>
                        <a:rPr lang="zh-CN" altLang="en-US" sz="1800">
                          <a:latin typeface="宋体" panose="02010600030101010101" pitchFamily="2" charset="-122"/>
                          <a:ea typeface="宋体" panose="02010600030101010101" pitchFamily="2" charset="-122"/>
                        </a:rPr>
                        <a:t>：修改，</a:t>
                      </a:r>
                      <a:r>
                        <a:rPr lang="en-US" altLang="zh-CN" sz="1800">
                          <a:latin typeface="宋体" panose="02010600030101010101" pitchFamily="2" charset="-122"/>
                          <a:ea typeface="宋体" panose="02010600030101010101" pitchFamily="2" charset="-122"/>
                        </a:rPr>
                        <a:t>0</a:t>
                      </a:r>
                      <a:r>
                        <a:rPr lang="zh-CN" altLang="en-US" sz="1800">
                          <a:latin typeface="宋体" panose="02010600030101010101" pitchFamily="2" charset="-122"/>
                          <a:ea typeface="宋体" panose="02010600030101010101" pitchFamily="2" charset="-122"/>
                        </a:rPr>
                        <a:t>：未修改</a:t>
                      </a: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E7E6E6"/>
                    </a:solidFill>
                  </a:tcPr>
                </a:tc>
              </a:tr>
              <a:tr h="266065">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850">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2</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20H</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0</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0</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0</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3215">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3</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60H</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0</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22580">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4</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80H</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1</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36855">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800">
                          <a:latin typeface="宋体" panose="02010600030101010101" pitchFamily="2" charset="-122"/>
                          <a:ea typeface="宋体" panose="02010600030101010101" pitchFamily="2" charset="-122"/>
                        </a:rPr>
                        <a:t>…</a:t>
                      </a:r>
                      <a:endParaRPr lang="en-US" altLang="zh-CN" sz="18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12" end="12"/>
                                            </p:txEl>
                                          </p:spTgt>
                                        </p:tgtEl>
                                        <p:attrNameLst>
                                          <p:attrName>style.visibility</p:attrName>
                                        </p:attrNameLst>
                                      </p:cBhvr>
                                      <p:to>
                                        <p:strVal val="visible"/>
                                      </p:to>
                                    </p:set>
                                    <p:animEffect transition="in" filter="fade">
                                      <p:cBhvr>
                                        <p:cTn id="7" dur="500"/>
                                        <p:tgtEl>
                                          <p:spTgt spid="10">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13080" y="777240"/>
            <a:ext cx="8151495" cy="5162550"/>
          </a:xfrm>
          <a:prstGeom prst="rect">
            <a:avLst/>
          </a:prstGeom>
        </p:spPr>
        <p:txBody>
          <a:bodyPr>
            <a:noAutofit/>
          </a:bodyPr>
          <a:lstStyle/>
          <a:p>
            <a:pPr marL="514350" indent="-514350" algn="l" eaLnBrk="1" hangingPunct="1">
              <a:lnSpc>
                <a:spcPct val="100000"/>
              </a:lnSpc>
              <a:spcBef>
                <a:spcPct val="20000"/>
              </a:spcBef>
              <a:buClr>
                <a:srgbClr val="000000"/>
              </a:buClr>
              <a:buSzPct val="100000"/>
              <a:buFont typeface="+mj-lt"/>
              <a:buAutoNum type="arabicPeriod" startAt="10"/>
            </a:pPr>
            <a:r>
              <a:rPr lang="zh-CN" altLang="en-US" sz="2800" dirty="0">
                <a:solidFill>
                  <a:schemeClr val="tx2"/>
                </a:solidFill>
                <a:latin typeface="+mn-lt"/>
                <a:ea typeface="+mn-ea"/>
                <a:sym typeface="+mn-ea"/>
              </a:rPr>
              <a:t>在采用二级页表的分页系统中</a:t>
            </a:r>
            <a:r>
              <a:rPr lang="en-US" altLang="zh-CN" sz="2800" dirty="0">
                <a:solidFill>
                  <a:schemeClr val="tx2"/>
                </a:solidFill>
                <a:latin typeface="+mn-lt"/>
                <a:ea typeface="+mn-ea"/>
                <a:sym typeface="+mn-ea"/>
              </a:rPr>
              <a:t>,CPU</a:t>
            </a:r>
            <a:r>
              <a:rPr lang="zh-CN" altLang="en-US" sz="2800" dirty="0">
                <a:solidFill>
                  <a:schemeClr val="tx2"/>
                </a:solidFill>
                <a:latin typeface="+mn-lt"/>
                <a:ea typeface="+mn-ea"/>
                <a:sym typeface="+mn-ea"/>
              </a:rPr>
              <a:t>页表基址寄存器中的内容是</a:t>
            </a:r>
            <a:r>
              <a:rPr lang="en-US" altLang="zh-CN" sz="2800" dirty="0">
                <a:solidFill>
                  <a:schemeClr val="tx2"/>
                </a:solidFill>
                <a:latin typeface="+mn-lt"/>
                <a:ea typeface="+mn-ea"/>
                <a:sym typeface="+mn-ea"/>
              </a:rPr>
              <a:t>(	)</a:t>
            </a:r>
            <a:r>
              <a:rPr lang="zh-CN" altLang="en-US" sz="2800" dirty="0">
                <a:solidFill>
                  <a:schemeClr val="tx2"/>
                </a:solidFill>
                <a:latin typeface="+mn-lt"/>
                <a:ea typeface="+mn-ea"/>
                <a:sym typeface="+mn-ea"/>
              </a:rPr>
              <a:t>。</a:t>
            </a:r>
            <a:r>
              <a:rPr lang="en-US" altLang="zh-CN" b="0" dirty="0">
                <a:solidFill>
                  <a:schemeClr val="tx2"/>
                </a:solidFill>
                <a:latin typeface="+mn-lt"/>
                <a:ea typeface="+mn-ea"/>
                <a:sym typeface="+mn-ea"/>
              </a:rPr>
              <a:t>[</a:t>
            </a:r>
            <a:r>
              <a:rPr lang="zh-CN" altLang="en-US" b="0" dirty="0">
                <a:solidFill>
                  <a:schemeClr val="tx2"/>
                </a:solidFill>
                <a:latin typeface="+mn-lt"/>
                <a:ea typeface="+mn-ea"/>
                <a:sym typeface="+mn-ea"/>
              </a:rPr>
              <a:t>全国联考</a:t>
            </a:r>
            <a:r>
              <a:rPr lang="en-US" altLang="zh-CN" b="0" dirty="0">
                <a:solidFill>
                  <a:schemeClr val="tx2"/>
                </a:solidFill>
                <a:latin typeface="+mn-lt"/>
                <a:ea typeface="+mn-ea"/>
                <a:sym typeface="+mn-ea"/>
              </a:rPr>
              <a:t>2021</a:t>
            </a:r>
            <a:r>
              <a:rPr lang="zh-CN" altLang="en-US" b="0" dirty="0">
                <a:solidFill>
                  <a:schemeClr val="tx2"/>
                </a:solidFill>
                <a:latin typeface="+mn-lt"/>
                <a:ea typeface="+mn-ea"/>
                <a:sym typeface="+mn-ea"/>
              </a:rPr>
              <a:t>年</a:t>
            </a:r>
            <a:r>
              <a:rPr lang="en-US" altLang="zh-CN" b="0" dirty="0">
                <a:solidFill>
                  <a:schemeClr val="tx2"/>
                </a:solidFill>
                <a:latin typeface="+mn-lt"/>
                <a:ea typeface="+mn-ea"/>
                <a:sym typeface="+mn-ea"/>
              </a:rPr>
              <a:t>]</a:t>
            </a:r>
            <a:endParaRPr lang="en-US" altLang="zh-CN" b="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en-US"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A.</a:t>
            </a:r>
            <a:r>
              <a:rPr lang="zh-CN" altLang="en-US" sz="2800" dirty="0">
                <a:solidFill>
                  <a:schemeClr val="tx2"/>
                </a:solidFill>
                <a:latin typeface="+mn-lt"/>
                <a:ea typeface="+mn-ea"/>
                <a:sym typeface="+mn-ea"/>
              </a:rPr>
              <a:t>当前进程的一级页表的起始虚拟地址</a:t>
            </a:r>
            <a:endParaRPr lang="zh-CN" altLang="en-US"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B.</a:t>
            </a:r>
            <a:r>
              <a:rPr lang="zh-CN" altLang="en-US" sz="2800" dirty="0">
                <a:solidFill>
                  <a:schemeClr val="tx2"/>
                </a:solidFill>
                <a:latin typeface="+mn-lt"/>
                <a:ea typeface="+mn-ea"/>
                <a:sym typeface="+mn-ea"/>
              </a:rPr>
              <a:t>当前进程的一级页表的起始物理地址</a:t>
            </a:r>
            <a:endParaRPr lang="zh-CN" altLang="en-US"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C.</a:t>
            </a:r>
            <a:r>
              <a:rPr lang="zh-CN" altLang="en-US" sz="2800" dirty="0">
                <a:solidFill>
                  <a:schemeClr val="tx2"/>
                </a:solidFill>
                <a:latin typeface="+mn-lt"/>
                <a:ea typeface="+mn-ea"/>
                <a:sym typeface="+mn-ea"/>
              </a:rPr>
              <a:t>当前进程的二级页表的起始虚拟地址</a:t>
            </a:r>
            <a:endParaRPr lang="zh-CN" altLang="en-US"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D.</a:t>
            </a:r>
            <a:r>
              <a:rPr lang="zh-CN" altLang="en-US" sz="2800" dirty="0">
                <a:solidFill>
                  <a:schemeClr val="tx2"/>
                </a:solidFill>
                <a:latin typeface="+mn-lt"/>
                <a:ea typeface="+mn-ea"/>
                <a:sym typeface="+mn-ea"/>
              </a:rPr>
              <a:t>当前进程的二级页表的起始物理地址</a:t>
            </a:r>
            <a:endParaRPr lang="zh-CN" altLang="en-US"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zh-CN" altLang="zh-CN" sz="2800" dirty="0">
                <a:solidFill>
                  <a:schemeClr val="tx2"/>
                </a:solidFill>
                <a:latin typeface="+mn-lt"/>
                <a:ea typeface="+mn-ea"/>
                <a:sym typeface="+mn-ea"/>
              </a:rPr>
              <a:t>答案：</a:t>
            </a:r>
            <a:r>
              <a:rPr lang="en-US" altLang="zh-CN" sz="2800" dirty="0">
                <a:solidFill>
                  <a:schemeClr val="tx2"/>
                </a:solidFill>
                <a:latin typeface="+mn-lt"/>
                <a:ea typeface="+mn-ea"/>
                <a:sym typeface="+mn-ea"/>
              </a:rPr>
              <a:t>B</a:t>
            </a:r>
            <a:endParaRPr lang="en-US" altLang="zh-CN" sz="2800" dirty="0">
              <a:solidFill>
                <a:schemeClr val="tx2"/>
              </a:solidFill>
              <a:latin typeface="+mn-lt"/>
              <a:ea typeface="+mn-ea"/>
              <a:sym typeface="+mn-ea"/>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animEffect transition="in" filter="fade">
                                      <p:cBhvr>
                                        <p:cTn id="7"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51155" y="628650"/>
            <a:ext cx="8480425" cy="5382895"/>
          </a:xfrm>
          <a:prstGeom prst="rect">
            <a:avLst/>
          </a:prstGeom>
        </p:spPr>
        <p:txBody>
          <a:bodyPr>
            <a:noAutofit/>
          </a:bodyPr>
          <a:lstStyle/>
          <a:p>
            <a:pPr marL="514350" indent="-514350" algn="l" eaLnBrk="1" hangingPunct="1">
              <a:lnSpc>
                <a:spcPct val="100000"/>
              </a:lnSpc>
              <a:spcBef>
                <a:spcPct val="20000"/>
              </a:spcBef>
              <a:buClr>
                <a:srgbClr val="000000"/>
              </a:buClr>
              <a:buSzPct val="100000"/>
              <a:buFont typeface="+mj-lt"/>
              <a:buAutoNum type="arabicPeriod" startAt="11"/>
            </a:pPr>
            <a:r>
              <a:rPr lang="zh-CN" altLang="en-US" sz="2800" dirty="0">
                <a:solidFill>
                  <a:schemeClr val="tx2"/>
                </a:solidFill>
                <a:latin typeface="+mn-lt"/>
                <a:ea typeface="+mn-ea"/>
                <a:sym typeface="+mn-ea"/>
              </a:rPr>
              <a:t>某计算机主存按字节编址，采用二级分页存储管理，地址结构如下所示。虚拟地址</a:t>
            </a:r>
            <a:r>
              <a:rPr lang="en-US" altLang="zh-CN" sz="2800" dirty="0">
                <a:solidFill>
                  <a:schemeClr val="tx2"/>
                </a:solidFill>
                <a:latin typeface="+mn-lt"/>
                <a:ea typeface="+mn-ea"/>
                <a:sym typeface="+mn-ea"/>
              </a:rPr>
              <a:t>2050 1225H</a:t>
            </a:r>
            <a:r>
              <a:rPr lang="zh-CN" altLang="en-US" sz="2800" dirty="0">
                <a:solidFill>
                  <a:schemeClr val="tx2"/>
                </a:solidFill>
                <a:latin typeface="+mn-lt"/>
                <a:ea typeface="+mn-ea"/>
                <a:sym typeface="+mn-ea"/>
              </a:rPr>
              <a:t>对应的页目录号、页号分别是</a:t>
            </a:r>
            <a:r>
              <a:rPr lang="en-US" altLang="zh-CN" sz="2800" dirty="0">
                <a:solidFill>
                  <a:schemeClr val="tx2"/>
                </a:solidFill>
                <a:latin typeface="+mn-lt"/>
                <a:ea typeface="+mn-ea"/>
                <a:sym typeface="+mn-ea"/>
              </a:rPr>
              <a:t>( )</a:t>
            </a:r>
            <a:r>
              <a:rPr lang="zh-CN" altLang="en-US" sz="2800" dirty="0">
                <a:solidFill>
                  <a:schemeClr val="tx2"/>
                </a:solidFill>
                <a:latin typeface="+mn-lt"/>
                <a:ea typeface="+mn-ea"/>
                <a:sym typeface="+mn-ea"/>
              </a:rPr>
              <a:t>。</a:t>
            </a:r>
            <a:r>
              <a:rPr lang="en-US" altLang="zh-CN" b="0" dirty="0">
                <a:solidFill>
                  <a:schemeClr val="tx2"/>
                </a:solidFill>
                <a:latin typeface="+mn-lt"/>
                <a:ea typeface="+mn-ea"/>
                <a:sym typeface="+mn-ea"/>
              </a:rPr>
              <a:t>[</a:t>
            </a:r>
            <a:r>
              <a:rPr lang="zh-CN" altLang="en-US" b="0" dirty="0">
                <a:solidFill>
                  <a:schemeClr val="tx2"/>
                </a:solidFill>
                <a:latin typeface="+mn-lt"/>
                <a:ea typeface="+mn-ea"/>
                <a:sym typeface="+mn-ea"/>
              </a:rPr>
              <a:t>全国联考</a:t>
            </a:r>
            <a:r>
              <a:rPr lang="en-US" altLang="zh-CN" b="0" dirty="0">
                <a:solidFill>
                  <a:schemeClr val="tx2"/>
                </a:solidFill>
                <a:latin typeface="+mn-lt"/>
                <a:ea typeface="+mn-ea"/>
                <a:sym typeface="+mn-ea"/>
              </a:rPr>
              <a:t>2019</a:t>
            </a:r>
            <a:r>
              <a:rPr lang="zh-CN" altLang="en-US" b="0" dirty="0">
                <a:solidFill>
                  <a:schemeClr val="tx2"/>
                </a:solidFill>
                <a:latin typeface="+mn-lt"/>
                <a:ea typeface="+mn-ea"/>
                <a:sym typeface="+mn-ea"/>
              </a:rPr>
              <a:t>年</a:t>
            </a:r>
            <a:r>
              <a:rPr lang="en-US" altLang="zh-CN" b="0" dirty="0">
                <a:solidFill>
                  <a:schemeClr val="tx2"/>
                </a:solidFill>
                <a:latin typeface="+mn-lt"/>
                <a:ea typeface="+mn-ea"/>
                <a:sym typeface="+mn-ea"/>
              </a:rPr>
              <a:t>]</a:t>
            </a:r>
            <a:endParaRPr lang="en-US" altLang="zh-CN" b="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en-US"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en-US"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A.081H</a:t>
            </a:r>
            <a:r>
              <a:rPr lang="zh-CN" altLang="en-US" sz="2800" dirty="0">
                <a:solidFill>
                  <a:schemeClr val="tx2"/>
                </a:solidFill>
                <a:latin typeface="+mn-lt"/>
                <a:ea typeface="+mn-ea"/>
                <a:sym typeface="+mn-ea"/>
              </a:rPr>
              <a:t>、</a:t>
            </a:r>
            <a:r>
              <a:rPr lang="en-US" altLang="zh-CN" sz="2800" dirty="0">
                <a:solidFill>
                  <a:schemeClr val="tx2"/>
                </a:solidFill>
                <a:latin typeface="+mn-lt"/>
                <a:ea typeface="+mn-ea"/>
                <a:sym typeface="+mn-ea"/>
              </a:rPr>
              <a:t>101H</a:t>
            </a:r>
            <a:endParaRPr lang="en-US"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B.081H</a:t>
            </a:r>
            <a:r>
              <a:rPr lang="zh-CN" altLang="en-US" sz="2800" dirty="0">
                <a:solidFill>
                  <a:schemeClr val="tx2"/>
                </a:solidFill>
                <a:latin typeface="+mn-lt"/>
                <a:ea typeface="+mn-ea"/>
                <a:sym typeface="+mn-ea"/>
              </a:rPr>
              <a:t>、</a:t>
            </a:r>
            <a:r>
              <a:rPr lang="en-US" altLang="zh-CN" sz="2800" dirty="0">
                <a:solidFill>
                  <a:schemeClr val="tx2"/>
                </a:solidFill>
                <a:latin typeface="+mn-lt"/>
                <a:ea typeface="+mn-ea"/>
                <a:sym typeface="+mn-ea"/>
              </a:rPr>
              <a:t>401H</a:t>
            </a:r>
            <a:endParaRPr lang="en-US"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C.201H</a:t>
            </a:r>
            <a:r>
              <a:rPr lang="zh-CN" altLang="en-US" sz="2800" dirty="0">
                <a:solidFill>
                  <a:schemeClr val="tx2"/>
                </a:solidFill>
                <a:latin typeface="+mn-lt"/>
                <a:ea typeface="+mn-ea"/>
                <a:sym typeface="+mn-ea"/>
              </a:rPr>
              <a:t>、</a:t>
            </a:r>
            <a:r>
              <a:rPr lang="en-US" altLang="zh-CN" sz="2800" dirty="0">
                <a:solidFill>
                  <a:schemeClr val="tx2"/>
                </a:solidFill>
                <a:latin typeface="+mn-lt"/>
                <a:ea typeface="+mn-ea"/>
                <a:sym typeface="+mn-ea"/>
              </a:rPr>
              <a:t>101H</a:t>
            </a:r>
            <a:endParaRPr lang="en-US"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en-US" altLang="zh-CN" sz="2800" dirty="0">
                <a:solidFill>
                  <a:schemeClr val="tx2"/>
                </a:solidFill>
                <a:latin typeface="+mn-lt"/>
                <a:ea typeface="+mn-ea"/>
                <a:sym typeface="+mn-ea"/>
              </a:rPr>
              <a:t>D.201H</a:t>
            </a:r>
            <a:r>
              <a:rPr lang="zh-CN" altLang="en-US" sz="2800" dirty="0">
                <a:solidFill>
                  <a:schemeClr val="tx2"/>
                </a:solidFill>
                <a:latin typeface="+mn-lt"/>
                <a:ea typeface="+mn-ea"/>
                <a:sym typeface="+mn-ea"/>
              </a:rPr>
              <a:t>、</a:t>
            </a:r>
            <a:r>
              <a:rPr lang="en-US" altLang="zh-CN" sz="2800" dirty="0">
                <a:solidFill>
                  <a:schemeClr val="tx2"/>
                </a:solidFill>
                <a:latin typeface="+mn-lt"/>
                <a:ea typeface="+mn-ea"/>
                <a:sym typeface="+mn-ea"/>
              </a:rPr>
              <a:t>401H</a:t>
            </a:r>
            <a:endParaRPr lang="en-US"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endParaRPr lang="zh-CN" altLang="zh-CN" sz="2800" dirty="0">
              <a:solidFill>
                <a:schemeClr val="tx2"/>
              </a:solidFill>
              <a:latin typeface="+mn-lt"/>
              <a:ea typeface="+mn-ea"/>
              <a:sym typeface="+mn-ea"/>
            </a:endParaRPr>
          </a:p>
          <a:p>
            <a:pPr algn="l" eaLnBrk="1" hangingPunct="1">
              <a:lnSpc>
                <a:spcPct val="100000"/>
              </a:lnSpc>
              <a:spcBef>
                <a:spcPct val="20000"/>
              </a:spcBef>
              <a:buClr>
                <a:srgbClr val="A50021"/>
              </a:buClr>
              <a:buSzPct val="75000"/>
              <a:buFont typeface="Wingdings" panose="05000000000000000000" pitchFamily="2" charset="2"/>
            </a:pPr>
            <a:r>
              <a:rPr lang="zh-CN" altLang="zh-CN" sz="2800" dirty="0">
                <a:solidFill>
                  <a:schemeClr val="tx2"/>
                </a:solidFill>
                <a:latin typeface="+mn-lt"/>
                <a:ea typeface="+mn-ea"/>
                <a:sym typeface="+mn-ea"/>
              </a:rPr>
              <a:t>答案：</a:t>
            </a:r>
            <a:r>
              <a:rPr lang="en-US" altLang="zh-CN" sz="2800" dirty="0">
                <a:solidFill>
                  <a:schemeClr val="tx2"/>
                </a:solidFill>
                <a:latin typeface="+mn-lt"/>
                <a:ea typeface="+mn-ea"/>
                <a:sym typeface="+mn-ea"/>
              </a:rPr>
              <a:t>A</a:t>
            </a:r>
            <a:endParaRPr lang="en-US" altLang="zh-CN" sz="2800" dirty="0">
              <a:solidFill>
                <a:schemeClr val="tx2"/>
              </a:solidFill>
              <a:latin typeface="+mn-lt"/>
              <a:ea typeface="+mn-ea"/>
              <a:sym typeface="+mn-ea"/>
            </a:endParaRPr>
          </a:p>
        </p:txBody>
      </p:sp>
      <p:graphicFrame>
        <p:nvGraphicFramePr>
          <p:cNvPr id="6" name="表格 5"/>
          <p:cNvGraphicFramePr/>
          <p:nvPr>
            <p:custDataLst>
              <p:tags r:id="rId1"/>
            </p:custDataLst>
          </p:nvPr>
        </p:nvGraphicFramePr>
        <p:xfrm>
          <a:off x="481965" y="2205355"/>
          <a:ext cx="8235315" cy="426720"/>
        </p:xfrm>
        <a:graphic>
          <a:graphicData uri="http://schemas.openxmlformats.org/drawingml/2006/table">
            <a:tbl>
              <a:tblPr/>
              <a:tblGrid>
                <a:gridCol w="2745105"/>
                <a:gridCol w="2745105"/>
                <a:gridCol w="2745105"/>
              </a:tblGrid>
              <a:tr h="403225">
                <a:tc>
                  <a:txBody>
                    <a:bodyPr/>
                    <a:lstStyle/>
                    <a:p>
                      <a:pPr marL="0" indent="0" algn="ctr">
                        <a:spcBef>
                          <a:spcPct val="0"/>
                        </a:spcBef>
                        <a:spcAft>
                          <a:spcPct val="0"/>
                        </a:spcAft>
                      </a:pPr>
                      <a:r>
                        <a:rPr lang="zh-CN" sz="2400">
                          <a:latin typeface="宋体" panose="02010600030101010101" pitchFamily="2" charset="-122"/>
                          <a:ea typeface="宋体" panose="02010600030101010101" pitchFamily="2" charset="-122"/>
                        </a:rPr>
                        <a:t>页目录号（</a:t>
                      </a:r>
                      <a:r>
                        <a:rPr lang="en-US" altLang="zh-CN" sz="2400">
                          <a:latin typeface="宋体" panose="02010600030101010101" pitchFamily="2" charset="-122"/>
                          <a:ea typeface="宋体" panose="02010600030101010101" pitchFamily="2" charset="-122"/>
                        </a:rPr>
                        <a:t>10</a:t>
                      </a:r>
                      <a:r>
                        <a:rPr lang="zh-CN" sz="2400">
                          <a:latin typeface="宋体" panose="02010600030101010101" pitchFamily="2" charset="-122"/>
                          <a:ea typeface="宋体" panose="02010600030101010101" pitchFamily="2" charset="-122"/>
                        </a:rPr>
                        <a:t>位）</a:t>
                      </a:r>
                      <a:endParaRPr lang="zh-CN" sz="2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2">
                        <a:lumMod val="60000"/>
                        <a:lumOff val="40000"/>
                      </a:schemeClr>
                    </a:solidFill>
                  </a:tcPr>
                </a:tc>
                <a:tc>
                  <a:txBody>
                    <a:bodyPr/>
                    <a:lstStyle/>
                    <a:p>
                      <a:pPr marL="0" indent="0" algn="ctr">
                        <a:spcBef>
                          <a:spcPct val="0"/>
                        </a:spcBef>
                        <a:spcAft>
                          <a:spcPct val="0"/>
                        </a:spcAft>
                      </a:pPr>
                      <a:r>
                        <a:rPr lang="zh-CN" sz="2400">
                          <a:latin typeface="宋体" panose="02010600030101010101" pitchFamily="2" charset="-122"/>
                          <a:ea typeface="宋体" panose="02010600030101010101" pitchFamily="2" charset="-122"/>
                        </a:rPr>
                        <a:t>页号（</a:t>
                      </a:r>
                      <a:r>
                        <a:rPr lang="en-US" altLang="zh-CN" sz="2400">
                          <a:latin typeface="宋体" panose="02010600030101010101" pitchFamily="2" charset="-122"/>
                          <a:ea typeface="宋体" panose="02010600030101010101" pitchFamily="2" charset="-122"/>
                        </a:rPr>
                        <a:t>10</a:t>
                      </a:r>
                      <a:r>
                        <a:rPr lang="zh-CN" altLang="en-US" sz="2400">
                          <a:latin typeface="宋体" panose="02010600030101010101" pitchFamily="2" charset="-122"/>
                          <a:ea typeface="宋体" panose="02010600030101010101" pitchFamily="2" charset="-122"/>
                        </a:rPr>
                        <a:t>）位</a:t>
                      </a:r>
                      <a:endParaRPr lang="zh-CN" altLang="en-US" sz="2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2">
                        <a:lumMod val="60000"/>
                        <a:lumOff val="40000"/>
                      </a:schemeClr>
                    </a:solidFill>
                  </a:tcPr>
                </a:tc>
                <a:tc>
                  <a:txBody>
                    <a:bodyPr/>
                    <a:lstStyle/>
                    <a:p>
                      <a:pPr marL="0" indent="0" algn="ctr">
                        <a:spcBef>
                          <a:spcPct val="0"/>
                        </a:spcBef>
                        <a:spcAft>
                          <a:spcPct val="0"/>
                        </a:spcAft>
                      </a:pPr>
                      <a:r>
                        <a:rPr lang="zh-CN" sz="2400">
                          <a:latin typeface="宋体" panose="02010600030101010101" pitchFamily="2" charset="-122"/>
                          <a:ea typeface="宋体" panose="02010600030101010101" pitchFamily="2" charset="-122"/>
                        </a:rPr>
                        <a:t>页内偏移（</a:t>
                      </a:r>
                      <a:r>
                        <a:rPr lang="en-US" altLang="zh-CN" sz="2400">
                          <a:latin typeface="宋体" panose="02010600030101010101" pitchFamily="2" charset="-122"/>
                          <a:ea typeface="宋体" panose="02010600030101010101" pitchFamily="2" charset="-122"/>
                        </a:rPr>
                        <a:t>12</a:t>
                      </a:r>
                      <a:r>
                        <a:rPr lang="zh-CN" sz="2400">
                          <a:latin typeface="宋体" panose="02010600030101010101" pitchFamily="2" charset="-122"/>
                          <a:ea typeface="宋体" panose="02010600030101010101" pitchFamily="2" charset="-122"/>
                        </a:rPr>
                        <a:t>位）</a:t>
                      </a:r>
                      <a:endParaRPr lang="zh-CN" sz="2400">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2">
                        <a:lumMod val="60000"/>
                        <a:lumOff val="40000"/>
                      </a:schemeClr>
                    </a:solid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8" end="8"/>
                                            </p:txEl>
                                          </p:spTgt>
                                        </p:tgtEl>
                                        <p:attrNameLst>
                                          <p:attrName>style.visibility</p:attrName>
                                        </p:attrNameLst>
                                      </p:cBhvr>
                                      <p:to>
                                        <p:strVal val="visible"/>
                                      </p:to>
                                    </p:set>
                                    <p:animEffect transition="in" filter="fade">
                                      <p:cBhvr>
                                        <p:cTn id="7" dur="5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a:xfrm>
            <a:off x="457200" y="316865"/>
            <a:ext cx="8177530" cy="1515110"/>
          </a:xfrm>
        </p:spPr>
        <p:txBody>
          <a:bodyPr vert="horz" wrap="square" lIns="91440" tIns="45720" rIns="91440" bIns="45720" anchor="ctr" anchorCtr="0"/>
          <a:lstStyle/>
          <a:p>
            <a:pPr marL="457200" indent="-457200" eaLnBrk="1" hangingPunct="1">
              <a:buFont typeface="+mj-lt"/>
              <a:buAutoNum type="arabicPeriod" startAt="12"/>
            </a:pPr>
            <a:r>
              <a:rPr lang="en-US" altLang="en-US" sz="2400" b="1" dirty="0">
                <a:latin typeface="+mn-lt"/>
                <a:ea typeface="+mn-ea"/>
                <a:cs typeface="+mn-cs"/>
                <a:sym typeface="+mn-ea"/>
              </a:rPr>
              <a:t>有一内存访问序列</a:t>
            </a:r>
            <a:r>
              <a:rPr lang="zh-CN" altLang="en-US" sz="2400" b="1" dirty="0">
                <a:latin typeface="+mn-lt"/>
                <a:ea typeface="+mn-ea"/>
                <a:cs typeface="+mn-cs"/>
                <a:sym typeface="+mn-ea"/>
              </a:rPr>
              <a:t>：</a:t>
            </a:r>
            <a:r>
              <a:rPr lang="zh-CN" altLang="en-US" sz="2800" b="1" dirty="0">
                <a:sym typeface="+mn-ea"/>
              </a:rPr>
              <a:t>2、3、2、1、5、2、4、5、3、2、5、2，</a:t>
            </a:r>
            <a:r>
              <a:rPr lang="zh-CN" altLang="en-US" sz="2400" b="1" dirty="0">
                <a:sym typeface="+mn-ea"/>
              </a:rPr>
              <a:t>给每个作业分配3个内存块。请分别采用OPT、LRU、FIFO算法计算置换次数。</a:t>
            </a:r>
            <a:endParaRPr lang="zh-CN" altLang="en-US" sz="2400" b="1" dirty="0">
              <a:sym typeface="+mn-ea"/>
            </a:endParaRPr>
          </a:p>
        </p:txBody>
      </p:sp>
      <p:pic>
        <p:nvPicPr>
          <p:cNvPr id="71682" name="图片 12"/>
          <p:cNvPicPr>
            <a:picLocks noChangeAspect="1"/>
          </p:cNvPicPr>
          <p:nvPr/>
        </p:nvPicPr>
        <p:blipFill>
          <a:blip r:embed="rId1"/>
          <a:stretch>
            <a:fillRect/>
          </a:stretch>
        </p:blipFill>
        <p:spPr>
          <a:xfrm>
            <a:off x="203835" y="1988820"/>
            <a:ext cx="8672830" cy="4088765"/>
          </a:xfrm>
          <a:prstGeom prst="rect">
            <a:avLst/>
          </a:prstGeom>
          <a:noFill/>
          <a:ln w="9525">
            <a:noFill/>
          </a:ln>
        </p:spPr>
      </p:pic>
      <p:sp>
        <p:nvSpPr>
          <p:cNvPr id="23" name="圆角矩形标注 22"/>
          <p:cNvSpPr/>
          <p:nvPr/>
        </p:nvSpPr>
        <p:spPr>
          <a:xfrm rot="-10800000" flipV="1">
            <a:off x="2123440" y="6093460"/>
            <a:ext cx="4772025" cy="461645"/>
          </a:xfrm>
          <a:prstGeom prst="wedgeRoundRectCallout">
            <a:avLst>
              <a:gd name="adj1" fmla="val 17273"/>
              <a:gd name="adj2" fmla="val -49093"/>
              <a:gd name="adj3" fmla="val 16667"/>
            </a:avLst>
          </a:prstGeom>
          <a:solidFill>
            <a:srgbClr val="FFFF00"/>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7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7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bg2"/>
              </a:buClr>
              <a:buSzPct val="75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000" b="1" dirty="0">
                <a:solidFill>
                  <a:srgbClr val="000000"/>
                </a:solidFill>
              </a:rPr>
              <a:t>结果：</a:t>
            </a:r>
            <a:r>
              <a:rPr lang="en-US" altLang="zh-CN" sz="2000" b="1" dirty="0">
                <a:solidFill>
                  <a:srgbClr val="000000"/>
                </a:solidFill>
              </a:rPr>
              <a:t>OPT 3</a:t>
            </a:r>
            <a:r>
              <a:rPr lang="zh-CN" altLang="en-US" sz="2000" b="1" dirty="0">
                <a:solidFill>
                  <a:srgbClr val="000000"/>
                </a:solidFill>
              </a:rPr>
              <a:t>次，</a:t>
            </a:r>
            <a:r>
              <a:rPr lang="en-US" altLang="zh-CN" sz="2000" b="1" dirty="0">
                <a:solidFill>
                  <a:srgbClr val="000000"/>
                </a:solidFill>
              </a:rPr>
              <a:t>LRU 4</a:t>
            </a:r>
            <a:r>
              <a:rPr lang="zh-CN" altLang="en-US" sz="2000" b="1" dirty="0">
                <a:solidFill>
                  <a:srgbClr val="000000"/>
                </a:solidFill>
              </a:rPr>
              <a:t>次，</a:t>
            </a:r>
            <a:r>
              <a:rPr lang="en-US" altLang="zh-CN" sz="2000" b="1" dirty="0">
                <a:solidFill>
                  <a:srgbClr val="000000"/>
                </a:solidFill>
              </a:rPr>
              <a:t>FIFO </a:t>
            </a:r>
            <a:r>
              <a:rPr lang="en-US" sz="2000" b="1" dirty="0">
                <a:solidFill>
                  <a:srgbClr val="000000"/>
                </a:solidFill>
              </a:rPr>
              <a:t>6</a:t>
            </a:r>
            <a:r>
              <a:rPr lang="zh-CN" altLang="en-US" sz="2000" b="1" dirty="0">
                <a:solidFill>
                  <a:srgbClr val="000000"/>
                </a:solidFill>
              </a:rPr>
              <a:t>次</a:t>
            </a:r>
            <a:endParaRPr lang="zh-CN" altLang="en-US" sz="2000" b="1" dirty="0">
              <a:solidFill>
                <a:srgbClr val="00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fade">
                                      <p:cBhvr>
                                        <p:cTn id="7" dur="500"/>
                                        <p:tgtEl>
                                          <p:spTgt spid="716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3" grpId="1"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idx="1"/>
          </p:nvPr>
        </p:nvSpPr>
        <p:spPr>
          <a:xfrm>
            <a:off x="313690" y="228600"/>
            <a:ext cx="8601710" cy="3048000"/>
          </a:xfrm>
        </p:spPr>
        <p:txBody>
          <a:bodyPr vert="horz" wrap="square" lIns="91440" tIns="45720" rIns="91440" bIns="45720" numCol="1" anchor="t" anchorCtr="0" compatLnSpc="1"/>
          <a:lstStyle/>
          <a:p>
            <a:pPr marL="457200" marR="0" lvl="0" indent="-457200" algn="l" rtl="0" eaLnBrk="1" fontAlgn="base" latinLnBrk="0" hangingPunct="1">
              <a:lnSpc>
                <a:spcPct val="100000"/>
              </a:lnSpc>
              <a:spcBef>
                <a:spcPct val="20000"/>
              </a:spcBef>
              <a:buClrTx/>
              <a:buSzTx/>
              <a:buFont typeface="+mj-lt"/>
              <a:buAutoNum type="arabicPeriod" startAt="13"/>
            </a:pPr>
            <a:r>
              <a:rPr kumimoji="0" lang="en-US" altLang="en-US" sz="2400" b="1" i="0" u="none" strike="noStrike" kern="1200" cap="none" spc="0" normalizeH="0" baseline="0" dirty="0">
                <a:solidFill>
                  <a:schemeClr val="tx1"/>
                </a:solidFill>
                <a:latin typeface="+mn-lt"/>
                <a:ea typeface="+mn-ea"/>
                <a:cs typeface="+mn-cs"/>
              </a:rPr>
              <a:t>考虑一个仅460字节的程序的下述内存访问序列（该序列的下标均从0开始）10，11，104，170，73，309，185，245，246，434，458，364，且页面大小为100字节，问：</a:t>
            </a:r>
            <a:endParaRPr kumimoji="0" lang="en-US" altLang="en-US" sz="2400" b="1" i="0" u="none" strike="noStrike" kern="1200" cap="none" spc="0" normalizeH="0" baseline="0" dirty="0">
              <a:solidFill>
                <a:schemeClr val="tx1"/>
              </a:solidFill>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Tx/>
              <a:buSzTx/>
              <a:buFont typeface="+mj-lt"/>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）写出页面的访问序列；</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Tx/>
              <a:buSzTx/>
              <a:buFont typeface="+mj-lt"/>
              <a:buNone/>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）设内存中仅有</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200</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字节供程序使用，计算</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FIFO</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和</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LRU</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缺页次数。</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rgbClr val="0070C0"/>
                </a:solidFill>
                <a:effectLst/>
                <a:uLnTx/>
                <a:uFillTx/>
                <a:latin typeface="+mn-lt"/>
                <a:ea typeface="+mn-ea"/>
                <a:cs typeface="+mn-cs"/>
              </a:rPr>
              <a:t>解答</a:t>
            </a:r>
            <a:r>
              <a:rPr kumimoji="0" lang="zh-CN" altLang="en-US" sz="2000" b="1" i="0" u="none" strike="noStrike" kern="1200" cap="none" spc="0" normalizeH="0" baseline="0" noProof="0" dirty="0">
                <a:ln>
                  <a:noFill/>
                </a:ln>
                <a:solidFill>
                  <a:srgbClr val="0070C0"/>
                </a:solidFill>
                <a:effectLst/>
                <a:uLnTx/>
                <a:uFillTx/>
                <a:latin typeface="+mn-lt"/>
                <a:ea typeface="+mn-ea"/>
                <a:cs typeface="+mn-cs"/>
                <a:sym typeface="Wingdings" panose="05000000000000000000" pitchFamily="2" charset="2"/>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sym typeface="Wingdings" panose="05000000000000000000" pitchFamily="2" charset="2"/>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页面访问序列：</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0</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0</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4</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                </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FIFO</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缺页</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6</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次，</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 LRU</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缺页</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7</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次。</a:t>
            </a:r>
            <a:endParaRPr kumimoji="0" lang="zh-CN" altLang="zh-CN" sz="2000" b="1"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3" name="Group 3"/>
          <p:cNvGraphicFramePr>
            <a:graphicFrameLocks noGrp="1"/>
          </p:cNvGraphicFramePr>
          <p:nvPr/>
        </p:nvGraphicFramePr>
        <p:xfrm>
          <a:off x="2174240" y="2989580"/>
          <a:ext cx="4495801" cy="1584325"/>
        </p:xfrm>
        <a:graphic>
          <a:graphicData uri="http://schemas.openxmlformats.org/drawingml/2006/table">
            <a:tbl>
              <a:tblPr/>
              <a:tblGrid>
                <a:gridCol w="1216073"/>
                <a:gridCol w="405359"/>
                <a:gridCol w="405359"/>
                <a:gridCol w="405359"/>
                <a:gridCol w="405359"/>
                <a:gridCol w="405359"/>
                <a:gridCol w="405359"/>
                <a:gridCol w="405359"/>
                <a:gridCol w="442215"/>
              </a:tblGrid>
              <a:tr h="396081">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页面走向</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4</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块</a:t>
                      </a:r>
                      <a:r>
                        <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4</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4</a:t>
                      </a: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块</a:t>
                      </a: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缺页？</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91442" marR="91442" marT="45662" marB="4566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3"/>
          <p:cNvGraphicFramePr>
            <a:graphicFrameLocks noGrp="1"/>
          </p:cNvGraphicFramePr>
          <p:nvPr/>
        </p:nvGraphicFramePr>
        <p:xfrm>
          <a:off x="2174240" y="4665980"/>
          <a:ext cx="4495801" cy="1657351"/>
        </p:xfrm>
        <a:graphic>
          <a:graphicData uri="http://schemas.openxmlformats.org/drawingml/2006/table">
            <a:tbl>
              <a:tblPr/>
              <a:tblGrid>
                <a:gridCol w="1447868"/>
                <a:gridCol w="380992"/>
                <a:gridCol w="380992"/>
                <a:gridCol w="380992"/>
                <a:gridCol w="380992"/>
                <a:gridCol w="380992"/>
                <a:gridCol w="380992"/>
                <a:gridCol w="380992"/>
                <a:gridCol w="380989"/>
              </a:tblGrid>
              <a:tr h="468952">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页面走向</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4</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33">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块</a:t>
                      </a: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0</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4</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4</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33">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块</a:t>
                      </a: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1</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3</a:t>
                      </a: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33">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缺页？</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omic Sans MS" panose="030F0702030302020204" pitchFamily="66" charset="0"/>
                          <a:ea typeface="宋体" panose="02010600030101010101" pitchFamily="2" charset="-122"/>
                        </a:defRPr>
                      </a:lvl1pPr>
                      <a:lvl2pPr>
                        <a:spcBef>
                          <a:spcPct val="20000"/>
                        </a:spcBef>
                        <a:defRPr sz="2400">
                          <a:solidFill>
                            <a:schemeClr val="tx1"/>
                          </a:solidFill>
                          <a:latin typeface="Comic Sans MS" panose="030F0702030302020204" pitchFamily="66" charset="0"/>
                          <a:ea typeface="宋体" panose="02010600030101010101" pitchFamily="2" charset="-122"/>
                        </a:defRPr>
                      </a:lvl2pPr>
                      <a:lvl3pPr>
                        <a:spcBef>
                          <a:spcPct val="20000"/>
                        </a:spcBef>
                        <a:defRPr sz="2000">
                          <a:solidFill>
                            <a:schemeClr val="tx1"/>
                          </a:solidFill>
                          <a:latin typeface="Comic Sans MS" panose="030F0702030302020204" pitchFamily="66" charset="0"/>
                          <a:ea typeface="宋体" panose="02010600030101010101" pitchFamily="2" charset="-122"/>
                        </a:defRPr>
                      </a:lvl3pPr>
                      <a:lvl4pPr>
                        <a:spcBef>
                          <a:spcPct val="20000"/>
                        </a:spcBef>
                        <a:defRPr>
                          <a:solidFill>
                            <a:schemeClr val="tx1"/>
                          </a:solidFill>
                          <a:latin typeface="Comic Sans MS" panose="030F0702030302020204" pitchFamily="66" charset="0"/>
                          <a:ea typeface="宋体" panose="02010600030101010101" pitchFamily="2" charset="-122"/>
                        </a:defRPr>
                      </a:lvl4pPr>
                      <a:lvl5pPr>
                        <a:spcBef>
                          <a:spcPct val="20000"/>
                        </a:spcBef>
                        <a:defRPr>
                          <a:solidFill>
                            <a:schemeClr val="tx1"/>
                          </a:solidFill>
                          <a:latin typeface="Comic Sans MS" panose="030F0702030302020204" pitchFamily="66" charset="0"/>
                          <a:ea typeface="宋体" panose="02010600030101010101" pitchFamily="2" charset="-122"/>
                        </a:defRPr>
                      </a:lvl5pPr>
                      <a:lvl6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fontAlgn="base">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是</a:t>
                      </a:r>
                      <a:endParaRPr kumimoji="0" 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T="45673" marB="4567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14">
                                            <p:txEl>
                                              <p:charRg st="146" end="176"/>
                                            </p:txEl>
                                          </p:spTgt>
                                        </p:tgtEl>
                                        <p:attrNameLst>
                                          <p:attrName>style.visibility</p:attrName>
                                        </p:attrNameLst>
                                      </p:cBhvr>
                                      <p:to>
                                        <p:strVal val="visible"/>
                                      </p:to>
                                    </p:set>
                                    <p:animEffect transition="in" filter="fade">
                                      <p:cBhvr>
                                        <p:cTn id="7" dur="500"/>
                                        <p:tgtEl>
                                          <p:spTgt spid="38914">
                                            <p:txEl>
                                              <p:charRg st="146" end="17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914">
                                            <p:txEl>
                                              <p:charRg st="176" end="208"/>
                                            </p:txEl>
                                          </p:spTgt>
                                        </p:tgtEl>
                                        <p:attrNameLst>
                                          <p:attrName>style.visibility</p:attrName>
                                        </p:attrNameLst>
                                      </p:cBhvr>
                                      <p:to>
                                        <p:strVal val="visible"/>
                                      </p:to>
                                    </p:set>
                                    <p:animEffect transition="in" filter="fade">
                                      <p:cBhvr>
                                        <p:cTn id="12" dur="500"/>
                                        <p:tgtEl>
                                          <p:spTgt spid="38914">
                                            <p:txEl>
                                              <p:charRg st="176" end="208"/>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2"/>
          <p:cNvSpPr>
            <a:spLocks noGrp="1"/>
          </p:cNvSpPr>
          <p:nvPr>
            <p:ph idx="1"/>
          </p:nvPr>
        </p:nvSpPr>
        <p:spPr>
          <a:xfrm>
            <a:off x="76200" y="152400"/>
            <a:ext cx="8915400" cy="6572250"/>
          </a:xfrm>
        </p:spPr>
        <p:txBody>
          <a:bodyPr vert="horz" wrap="square" lIns="91440" tIns="45720" rIns="91440" bIns="45720" anchor="t" anchorCtr="0"/>
          <a:lstStyle/>
          <a:p>
            <a:pPr marL="457200" indent="-457200" eaLnBrk="1" hangingPunct="1">
              <a:buSzPct val="100000"/>
              <a:buFont typeface="+mj-lt"/>
              <a:buAutoNum type="arabicPeriod" startAt="14"/>
            </a:pPr>
            <a:r>
              <a:rPr lang="zh-CN" altLang="en-US" sz="2400" b="1" dirty="0">
                <a:sym typeface="宋体" panose="02010600030101010101" pitchFamily="2" charset="-122"/>
              </a:rPr>
              <a:t>设某计算机系统的逻辑地址空间和物理地址空间均为</a:t>
            </a:r>
            <a:r>
              <a:rPr lang="en-US" altLang="zh-CN" sz="2400" b="1" dirty="0">
                <a:sym typeface="宋体" panose="02010600030101010101" pitchFamily="2" charset="-122"/>
              </a:rPr>
              <a:t>64KB</a:t>
            </a:r>
            <a:r>
              <a:rPr lang="zh-CN" altLang="en-US" sz="2400" b="1" dirty="0">
                <a:sym typeface="宋体" panose="02010600030101010101" pitchFamily="2" charset="-122"/>
              </a:rPr>
              <a:t>，按字节编址。若某进程最多需要</a:t>
            </a:r>
            <a:r>
              <a:rPr lang="en-US" altLang="zh-CN" sz="2400" b="1" dirty="0">
                <a:sym typeface="宋体" panose="02010600030101010101" pitchFamily="2" charset="-122"/>
              </a:rPr>
              <a:t>6</a:t>
            </a:r>
            <a:r>
              <a:rPr lang="zh-CN" altLang="en-US" sz="2400" b="1" dirty="0">
                <a:sym typeface="宋体" panose="02010600030101010101" pitchFamily="2" charset="-122"/>
              </a:rPr>
              <a:t>页数据存储空间，页的大小为</a:t>
            </a:r>
            <a:r>
              <a:rPr lang="en-US" altLang="zh-CN" sz="2400" b="1" dirty="0">
                <a:sym typeface="宋体" panose="02010600030101010101" pitchFamily="2" charset="-122"/>
              </a:rPr>
              <a:t>1KB</a:t>
            </a:r>
            <a:r>
              <a:rPr lang="zh-CN" altLang="en-US" sz="2400" b="1" dirty="0">
                <a:sym typeface="宋体" panose="02010600030101010101" pitchFamily="2" charset="-122"/>
              </a:rPr>
              <a:t>。操作系统采用固定分配局部置换策略为此进程分配</a:t>
            </a:r>
            <a:r>
              <a:rPr lang="en-US" altLang="zh-CN" sz="2400" b="1" dirty="0">
                <a:sym typeface="宋体" panose="02010600030101010101" pitchFamily="2" charset="-122"/>
              </a:rPr>
              <a:t>4</a:t>
            </a:r>
            <a:r>
              <a:rPr lang="zh-CN" altLang="en-US" sz="2400" b="1" dirty="0">
                <a:sym typeface="宋体" panose="02010600030101010101" pitchFamily="2" charset="-122"/>
              </a:rPr>
              <a:t>个页框，如表所示。当该进程执行到</a:t>
            </a:r>
            <a:r>
              <a:rPr lang="en-US" altLang="zh-CN" sz="2400" b="1" dirty="0">
                <a:sym typeface="宋体" panose="02010600030101010101" pitchFamily="2" charset="-122"/>
              </a:rPr>
              <a:t>260</a:t>
            </a:r>
            <a:r>
              <a:rPr lang="zh-CN" altLang="en-US" sz="2400" b="1" dirty="0">
                <a:sym typeface="宋体" panose="02010600030101010101" pitchFamily="2" charset="-122"/>
              </a:rPr>
              <a:t>时刻时，要访问逻辑地址</a:t>
            </a:r>
            <a:r>
              <a:rPr lang="en-US" altLang="zh-CN" sz="2400" b="1" dirty="0">
                <a:sym typeface="宋体" panose="02010600030101010101" pitchFamily="2" charset="-122"/>
              </a:rPr>
              <a:t>17CAH</a:t>
            </a:r>
            <a:r>
              <a:rPr lang="zh-CN" altLang="en-US" sz="2400" b="1" dirty="0">
                <a:sym typeface="宋体" panose="02010600030101010101" pitchFamily="2" charset="-122"/>
              </a:rPr>
              <a:t>的数据，请回答下列问题：</a:t>
            </a:r>
            <a:endParaRPr lang="zh-CN" altLang="en-US" sz="2400" b="1" dirty="0">
              <a:sym typeface="宋体" panose="02010600030101010101" pitchFamily="2" charset="-122"/>
            </a:endParaRPr>
          </a:p>
        </p:txBody>
      </p:sp>
      <p:graphicFrame>
        <p:nvGraphicFramePr>
          <p:cNvPr id="2" name="表格 1"/>
          <p:cNvGraphicFramePr/>
          <p:nvPr/>
        </p:nvGraphicFramePr>
        <p:xfrm>
          <a:off x="457200" y="2057400"/>
          <a:ext cx="3733800" cy="1828800"/>
        </p:xfrm>
        <a:graphic>
          <a:graphicData uri="http://schemas.openxmlformats.org/drawingml/2006/table">
            <a:tbl>
              <a:tblPr firstRow="1" bandRow="1">
                <a:tableStyleId>{5C22544A-7EE6-4342-B048-85BDC9FD1C3A}</a:tableStyleId>
              </a:tblPr>
              <a:tblGrid>
                <a:gridCol w="762000"/>
                <a:gridCol w="912853"/>
                <a:gridCol w="1180327"/>
                <a:gridCol w="878620"/>
              </a:tblGrid>
              <a:tr h="228594">
                <a:tc>
                  <a:txBody>
                    <a:bodyPr/>
                    <a:lstStyle/>
                    <a:p>
                      <a:pPr algn="ctr">
                        <a:buNone/>
                      </a:pPr>
                      <a:r>
                        <a:rPr lang="zh-CN" altLang="en-US" b="1">
                          <a:solidFill>
                            <a:srgbClr val="0070C0"/>
                          </a:solidFill>
                        </a:rPr>
                        <a:t>页号</a:t>
                      </a:r>
                      <a:endParaRPr lang="zh-CN" altLang="en-US" b="1">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b="1" dirty="0">
                          <a:solidFill>
                            <a:srgbClr val="0070C0"/>
                          </a:solidFill>
                        </a:rPr>
                        <a:t>页框号</a:t>
                      </a:r>
                      <a:endParaRPr lang="zh-CN" altLang="en-US" b="1" dirty="0">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b="1" dirty="0">
                          <a:solidFill>
                            <a:srgbClr val="0070C0"/>
                          </a:solidFill>
                        </a:rPr>
                        <a:t>装入时刻</a:t>
                      </a:r>
                      <a:endParaRPr lang="zh-CN" altLang="en-US" b="1" dirty="0">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b="1" dirty="0">
                          <a:solidFill>
                            <a:srgbClr val="0070C0"/>
                          </a:solidFill>
                        </a:rPr>
                        <a:t>访问位</a:t>
                      </a:r>
                      <a:endParaRPr lang="zh-CN" altLang="en-US" b="1" dirty="0">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0</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7</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130</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1</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1</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4</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230</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2</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2</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200</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3</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9</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160</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文本占位符 13314"/>
          <p:cNvSpPr txBox="1">
            <a:spLocks noChangeArrowheads="1"/>
          </p:cNvSpPr>
          <p:nvPr/>
        </p:nvSpPr>
        <p:spPr bwMode="auto">
          <a:xfrm>
            <a:off x="228600" y="4953000"/>
            <a:ext cx="8923338"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highlight>
                  <a:srgbClr val="FFFF00"/>
                </a:highlight>
                <a:uLnTx/>
                <a:uFillTx/>
                <a:latin typeface="Comic Sans MS" panose="030F0702030302020204" pitchFamily="66" charset="0"/>
                <a:ea typeface="宋体" panose="02010600030101010101" pitchFamily="2" charset="-122"/>
                <a:cs typeface="+mn-cs"/>
              </a:rPr>
              <a:t>解答</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17CAH=(0001 0111 1100 1010)²</a:t>
            </a:r>
            <a:endPar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1</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）页大小为</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1K</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，所以页内偏移地址为</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10</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位，于是前</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6</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位是页号，</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17CAH </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对应的页号是</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5</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endPar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a:p>
            <a:pPr marL="0" marR="0" lvl="0" indent="0" algn="l" defTabSz="914400" rtl="0" eaLnBrk="0" fontAlgn="base" latinLnBrk="0" hangingPunct="0">
              <a:lnSpc>
                <a:spcPct val="9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2</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FIFO</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，则被置换的页面所在页框为</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7</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，所以对应的物理地址为</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(0001 1111 1100 1010)²</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，即</a:t>
            </a:r>
            <a:r>
              <a:rPr kumimoji="0" lang="en-US" altLang="zh-CN"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1FCAH</a:t>
            </a:r>
            <a:r>
              <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rPr>
              <a:t>。</a:t>
            </a:r>
            <a:endParaRPr kumimoji="0" lang="zh-CN" altLang="en-US" sz="2000" b="1" i="0" u="none" strike="noStrike" kern="1200" cap="none" spc="0" normalizeH="0" baseline="0" noProof="0" dirty="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文本占位符 13314"/>
          <p:cNvSpPr txBox="1"/>
          <p:nvPr/>
        </p:nvSpPr>
        <p:spPr>
          <a:xfrm>
            <a:off x="76200" y="4114800"/>
            <a:ext cx="8915400" cy="838200"/>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buNone/>
            </a:pPr>
            <a:r>
              <a:rPr lang="zh-CN" altLang="en-US" sz="2000" b="1" dirty="0">
                <a:solidFill>
                  <a:srgbClr val="C00000"/>
                </a:solidFill>
                <a:sym typeface="宋体" panose="02010600030101010101" pitchFamily="2" charset="-122"/>
              </a:rPr>
              <a:t>（</a:t>
            </a:r>
            <a:r>
              <a:rPr lang="en-US" altLang="zh-CN" sz="2000" b="1" dirty="0">
                <a:solidFill>
                  <a:srgbClr val="C00000"/>
                </a:solidFill>
                <a:sym typeface="宋体" panose="02010600030101010101" pitchFamily="2" charset="-122"/>
              </a:rPr>
              <a:t>1</a:t>
            </a:r>
            <a:r>
              <a:rPr lang="zh-CN" altLang="en-US" sz="2000" b="1" dirty="0">
                <a:solidFill>
                  <a:srgbClr val="C00000"/>
                </a:solidFill>
                <a:sym typeface="宋体" panose="02010600030101010101" pitchFamily="2" charset="-122"/>
              </a:rPr>
              <a:t>）该逻辑地址对应的页号是多少？</a:t>
            </a:r>
            <a:endParaRPr lang="zh-CN" altLang="en-US" sz="2000" b="1" dirty="0">
              <a:solidFill>
                <a:srgbClr val="C00000"/>
              </a:solidFill>
              <a:sym typeface="宋体" panose="02010600030101010101" pitchFamily="2" charset="-122"/>
            </a:endParaRPr>
          </a:p>
          <a:p>
            <a:pPr marL="0" lvl="0" indent="0" eaLnBrk="1" hangingPunct="1">
              <a:buNone/>
            </a:pPr>
            <a:r>
              <a:rPr lang="zh-CN" altLang="en-US" sz="2000" b="1" dirty="0">
                <a:solidFill>
                  <a:srgbClr val="C00000"/>
                </a:solidFill>
                <a:sym typeface="宋体" panose="02010600030101010101" pitchFamily="2" charset="-122"/>
              </a:rPr>
              <a:t>（</a:t>
            </a:r>
            <a:r>
              <a:rPr lang="en-US" altLang="zh-CN" sz="2000" b="1" dirty="0">
                <a:solidFill>
                  <a:srgbClr val="C00000"/>
                </a:solidFill>
                <a:sym typeface="宋体" panose="02010600030101010101" pitchFamily="2" charset="-122"/>
              </a:rPr>
              <a:t>2</a:t>
            </a:r>
            <a:r>
              <a:rPr lang="zh-CN" altLang="en-US" sz="2000" b="1" dirty="0">
                <a:solidFill>
                  <a:srgbClr val="C00000"/>
                </a:solidFill>
                <a:sym typeface="宋体" panose="02010600030101010101" pitchFamily="2" charset="-122"/>
              </a:rPr>
              <a:t>）若采用</a:t>
            </a:r>
            <a:r>
              <a:rPr lang="en-US" altLang="zh-CN" sz="2000" b="1" dirty="0">
                <a:solidFill>
                  <a:srgbClr val="C00000"/>
                </a:solidFill>
                <a:sym typeface="宋体" panose="02010600030101010101" pitchFamily="2" charset="-122"/>
              </a:rPr>
              <a:t>FIFO</a:t>
            </a:r>
            <a:r>
              <a:rPr lang="zh-CN" altLang="en-US" sz="2000" b="1" dirty="0">
                <a:solidFill>
                  <a:srgbClr val="C00000"/>
                </a:solidFill>
                <a:sym typeface="宋体" panose="02010600030101010101" pitchFamily="2" charset="-122"/>
              </a:rPr>
              <a:t>置换算法，求该逻辑地址对应的物理地址？给出计算过程。</a:t>
            </a:r>
            <a:endParaRPr lang="zh-CN" altLang="en-US" sz="2000" b="1" dirty="0">
              <a:solidFill>
                <a:srgbClr val="C00000"/>
              </a:solidFill>
              <a:sym typeface="宋体" panose="02010600030101010101" pitchFamily="2" charset="-12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p:cNvSpPr>
            <a:spLocks noGrp="1"/>
          </p:cNvSpPr>
          <p:nvPr>
            <p:ph idx="1"/>
          </p:nvPr>
        </p:nvSpPr>
        <p:spPr>
          <a:xfrm>
            <a:off x="76200" y="152400"/>
            <a:ext cx="8915400" cy="1752600"/>
          </a:xfrm>
        </p:spPr>
        <p:txBody>
          <a:bodyPr vert="horz" wrap="square" lIns="91440" tIns="45720" rIns="91440" bIns="45720" anchor="t" anchorCtr="0"/>
          <a:lstStyle/>
          <a:p>
            <a:pPr marL="457200" indent="-457200" eaLnBrk="1" hangingPunct="1">
              <a:buSzPct val="100000"/>
              <a:buFont typeface="+mj-lt"/>
              <a:buAutoNum type="arabicPeriod" startAt="15"/>
            </a:pPr>
            <a:r>
              <a:rPr lang="zh-CN" altLang="en-US" sz="2400" b="1" dirty="0">
                <a:sym typeface="宋体" panose="02010600030101010101" pitchFamily="2" charset="-122"/>
              </a:rPr>
              <a:t>设某计算机系统的逻辑地址空间和物理地址空间均为</a:t>
            </a:r>
            <a:r>
              <a:rPr lang="en-US" altLang="zh-CN" sz="2400" b="1" dirty="0">
                <a:sym typeface="宋体" panose="02010600030101010101" pitchFamily="2" charset="-122"/>
              </a:rPr>
              <a:t>64KB</a:t>
            </a:r>
            <a:r>
              <a:rPr lang="zh-CN" altLang="en-US" sz="2400" b="1" dirty="0">
                <a:sym typeface="宋体" panose="02010600030101010101" pitchFamily="2" charset="-122"/>
              </a:rPr>
              <a:t>，按字节编址。若某进程最多需要</a:t>
            </a:r>
            <a:r>
              <a:rPr lang="en-US" altLang="zh-CN" sz="2400" b="1" dirty="0">
                <a:sym typeface="宋体" panose="02010600030101010101" pitchFamily="2" charset="-122"/>
              </a:rPr>
              <a:t>6</a:t>
            </a:r>
            <a:r>
              <a:rPr lang="zh-CN" altLang="en-US" sz="2400" b="1" dirty="0">
                <a:sym typeface="宋体" panose="02010600030101010101" pitchFamily="2" charset="-122"/>
              </a:rPr>
              <a:t>页数据存储空间，页的大小为</a:t>
            </a:r>
            <a:r>
              <a:rPr lang="en-US" altLang="zh-CN" sz="2400" b="1" dirty="0">
                <a:sym typeface="宋体" panose="02010600030101010101" pitchFamily="2" charset="-122"/>
              </a:rPr>
              <a:t>1KB</a:t>
            </a:r>
            <a:r>
              <a:rPr lang="zh-CN" altLang="en-US" sz="2400" b="1" dirty="0">
                <a:sym typeface="宋体" panose="02010600030101010101" pitchFamily="2" charset="-122"/>
              </a:rPr>
              <a:t>。操作系统采用固定分配局部置换策略为此进程分配</a:t>
            </a:r>
            <a:r>
              <a:rPr lang="en-US" altLang="zh-CN" sz="2400" b="1" dirty="0">
                <a:sym typeface="宋体" panose="02010600030101010101" pitchFamily="2" charset="-122"/>
              </a:rPr>
              <a:t>4</a:t>
            </a:r>
            <a:r>
              <a:rPr lang="zh-CN" altLang="en-US" sz="2400" b="1" dirty="0">
                <a:sym typeface="宋体" panose="02010600030101010101" pitchFamily="2" charset="-122"/>
              </a:rPr>
              <a:t>个页框，如表所示。当该进程执行到</a:t>
            </a:r>
            <a:r>
              <a:rPr lang="en-US" altLang="zh-CN" sz="2400" b="1" dirty="0">
                <a:sym typeface="宋体" panose="02010600030101010101" pitchFamily="2" charset="-122"/>
              </a:rPr>
              <a:t>260</a:t>
            </a:r>
            <a:r>
              <a:rPr lang="zh-CN" altLang="en-US" sz="2400" b="1" dirty="0">
                <a:sym typeface="宋体" panose="02010600030101010101" pitchFamily="2" charset="-122"/>
              </a:rPr>
              <a:t>时刻时，要访问逻辑地址</a:t>
            </a:r>
            <a:r>
              <a:rPr lang="en-US" altLang="zh-CN" sz="2400" b="1" dirty="0">
                <a:sym typeface="宋体" panose="02010600030101010101" pitchFamily="2" charset="-122"/>
              </a:rPr>
              <a:t>17CAH</a:t>
            </a:r>
            <a:r>
              <a:rPr lang="zh-CN" altLang="en-US" sz="2400" b="1" dirty="0">
                <a:sym typeface="宋体" panose="02010600030101010101" pitchFamily="2" charset="-122"/>
              </a:rPr>
              <a:t>的数据，请回答下列问题：</a:t>
            </a:r>
            <a:endParaRPr lang="zh-CN" altLang="en-US" sz="2400" b="1" dirty="0">
              <a:sym typeface="宋体" panose="02010600030101010101" pitchFamily="2" charset="-122"/>
            </a:endParaRPr>
          </a:p>
        </p:txBody>
      </p:sp>
      <p:graphicFrame>
        <p:nvGraphicFramePr>
          <p:cNvPr id="2" name="表格 1"/>
          <p:cNvGraphicFramePr/>
          <p:nvPr/>
        </p:nvGraphicFramePr>
        <p:xfrm>
          <a:off x="457200" y="2057400"/>
          <a:ext cx="3733800" cy="1828800"/>
        </p:xfrm>
        <a:graphic>
          <a:graphicData uri="http://schemas.openxmlformats.org/drawingml/2006/table">
            <a:tbl>
              <a:tblPr firstRow="1" bandRow="1">
                <a:tableStyleId>{5C22544A-7EE6-4342-B048-85BDC9FD1C3A}</a:tableStyleId>
              </a:tblPr>
              <a:tblGrid>
                <a:gridCol w="762000"/>
                <a:gridCol w="912853"/>
                <a:gridCol w="1180327"/>
                <a:gridCol w="878620"/>
              </a:tblGrid>
              <a:tr h="228594">
                <a:tc>
                  <a:txBody>
                    <a:bodyPr/>
                    <a:lstStyle/>
                    <a:p>
                      <a:pPr algn="ctr">
                        <a:buNone/>
                      </a:pPr>
                      <a:r>
                        <a:rPr lang="zh-CN" altLang="en-US" b="1">
                          <a:solidFill>
                            <a:srgbClr val="0070C0"/>
                          </a:solidFill>
                        </a:rPr>
                        <a:t>页号</a:t>
                      </a:r>
                      <a:endParaRPr lang="zh-CN" altLang="en-US" b="1">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b="1" dirty="0">
                          <a:solidFill>
                            <a:srgbClr val="0070C0"/>
                          </a:solidFill>
                        </a:rPr>
                        <a:t>页框号</a:t>
                      </a:r>
                      <a:endParaRPr lang="zh-CN" altLang="en-US" b="1" dirty="0">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b="1" dirty="0">
                          <a:solidFill>
                            <a:srgbClr val="0070C0"/>
                          </a:solidFill>
                        </a:rPr>
                        <a:t>装入时刻</a:t>
                      </a:r>
                      <a:endParaRPr lang="zh-CN" altLang="en-US" b="1" dirty="0">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zh-CN" altLang="en-US" b="1" dirty="0">
                          <a:solidFill>
                            <a:srgbClr val="0070C0"/>
                          </a:solidFill>
                        </a:rPr>
                        <a:t>访问位</a:t>
                      </a:r>
                      <a:endParaRPr lang="zh-CN" altLang="en-US" b="1" dirty="0">
                        <a:solidFill>
                          <a:srgbClr val="0070C0"/>
                        </a:solidFill>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0</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7</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130</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1</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1</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4</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230</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2</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2</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200</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28594">
                <a:tc>
                  <a:txBody>
                    <a:bodyPr/>
                    <a:lstStyle/>
                    <a:p>
                      <a:pPr algn="ctr">
                        <a:buNone/>
                      </a:pPr>
                      <a:r>
                        <a:rPr lang="en-US" altLang="zh-CN" b="1"/>
                        <a:t>3</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a:t>9</a:t>
                      </a:r>
                      <a:endParaRPr lang="en-US" altLang="zh-CN" b="1"/>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160</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altLang="zh-CN" b="1" dirty="0"/>
                        <a:t>1</a:t>
                      </a:r>
                      <a:endParaRPr lang="en-US" altLang="zh-CN" b="1" dirty="0"/>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37923" name="图片 12290" descr="W020100112393976017288"/>
          <p:cNvPicPr>
            <a:picLocks noChangeAspect="1"/>
          </p:cNvPicPr>
          <p:nvPr/>
        </p:nvPicPr>
        <p:blipFill>
          <a:blip r:embed="rId1"/>
          <a:stretch>
            <a:fillRect/>
          </a:stretch>
        </p:blipFill>
        <p:spPr>
          <a:xfrm>
            <a:off x="4419600" y="2057400"/>
            <a:ext cx="4343400" cy="2274888"/>
          </a:xfrm>
          <a:prstGeom prst="rect">
            <a:avLst/>
          </a:prstGeom>
          <a:noFill/>
          <a:ln w="9525">
            <a:noFill/>
          </a:ln>
        </p:spPr>
      </p:pic>
      <p:cxnSp>
        <p:nvCxnSpPr>
          <p:cNvPr id="37924" name="直接箭头连接符 5"/>
          <p:cNvCxnSpPr/>
          <p:nvPr/>
        </p:nvCxnSpPr>
        <p:spPr>
          <a:xfrm flipH="1">
            <a:off x="7620000" y="2743200"/>
            <a:ext cx="1066800" cy="80963"/>
          </a:xfrm>
          <a:prstGeom prst="straightConnector1">
            <a:avLst/>
          </a:prstGeom>
          <a:ln w="38100" cap="flat" cmpd="sng">
            <a:solidFill>
              <a:srgbClr val="FF0000"/>
            </a:solidFill>
            <a:prstDash val="solid"/>
            <a:headEnd type="none" w="med" len="med"/>
            <a:tailEnd type="triangle" w="med" len="med"/>
          </a:ln>
        </p:spPr>
      </p:cxnSp>
      <p:sp>
        <p:nvSpPr>
          <p:cNvPr id="37925" name="文本占位符 13314"/>
          <p:cNvSpPr txBox="1"/>
          <p:nvPr/>
        </p:nvSpPr>
        <p:spPr>
          <a:xfrm>
            <a:off x="228600" y="4433888"/>
            <a:ext cx="8763000" cy="685800"/>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buNone/>
            </a:pPr>
            <a:r>
              <a:rPr lang="zh-CN" altLang="en-US" sz="2000" b="1" dirty="0">
                <a:solidFill>
                  <a:srgbClr val="C00000"/>
                </a:solidFill>
              </a:rPr>
              <a:t>（</a:t>
            </a:r>
            <a:r>
              <a:rPr lang="en-US" altLang="zh-CN" sz="2000" b="1" dirty="0">
                <a:solidFill>
                  <a:srgbClr val="C00000"/>
                </a:solidFill>
              </a:rPr>
              <a:t>3</a:t>
            </a:r>
            <a:r>
              <a:rPr lang="zh-CN" altLang="en-US" sz="2000" b="1" dirty="0">
                <a:solidFill>
                  <a:srgbClr val="C00000"/>
                </a:solidFill>
              </a:rPr>
              <a:t>）若采用</a:t>
            </a:r>
            <a:r>
              <a:rPr lang="en-US" altLang="zh-CN" sz="2000" b="1" dirty="0">
                <a:solidFill>
                  <a:srgbClr val="C00000"/>
                </a:solidFill>
              </a:rPr>
              <a:t>CLOCK</a:t>
            </a:r>
            <a:r>
              <a:rPr lang="zh-CN" altLang="zh-CN" sz="2000" b="1" dirty="0">
                <a:solidFill>
                  <a:srgbClr val="C00000"/>
                </a:solidFill>
              </a:rPr>
              <a:t>置换算法，该逻辑地址对应的物理地址是什么？要求给出计算过程。（设搜索下一页的指针沿顺时针方向移动，当前指向</a:t>
            </a:r>
            <a:r>
              <a:rPr lang="en-US" altLang="zh-CN" sz="2000" b="1" dirty="0">
                <a:solidFill>
                  <a:srgbClr val="C00000"/>
                </a:solidFill>
              </a:rPr>
              <a:t>2</a:t>
            </a:r>
            <a:r>
              <a:rPr lang="zh-CN" altLang="en-US" sz="2000" b="1" dirty="0">
                <a:solidFill>
                  <a:srgbClr val="C00000"/>
                </a:solidFill>
              </a:rPr>
              <a:t>号页框</a:t>
            </a:r>
            <a:r>
              <a:rPr lang="zh-CN" altLang="zh-CN" sz="2000" b="1" dirty="0">
                <a:solidFill>
                  <a:srgbClr val="C00000"/>
                </a:solidFill>
              </a:rPr>
              <a:t>）</a:t>
            </a:r>
            <a:endParaRPr lang="zh-CN" altLang="zh-CN" sz="2000" b="1" dirty="0">
              <a:solidFill>
                <a:srgbClr val="C00000"/>
              </a:solidFill>
            </a:endParaRPr>
          </a:p>
        </p:txBody>
      </p:sp>
      <p:sp>
        <p:nvSpPr>
          <p:cNvPr id="11" name="文本占位符 13314"/>
          <p:cNvSpPr txBox="1"/>
          <p:nvPr/>
        </p:nvSpPr>
        <p:spPr>
          <a:xfrm>
            <a:off x="76200" y="5410200"/>
            <a:ext cx="8763000" cy="685800"/>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342900" lvl="0" indent="-342900">
              <a:lnSpc>
                <a:spcPct val="90000"/>
              </a:lnSpc>
            </a:pPr>
            <a:r>
              <a:rPr lang="zh-CN" altLang="en-US" sz="2000" b="1" dirty="0">
                <a:highlight>
                  <a:srgbClr val="FFFF00"/>
                </a:highlight>
              </a:rPr>
              <a:t>解答</a:t>
            </a:r>
            <a:r>
              <a:rPr lang="zh-CN" altLang="en-US" sz="2000" b="1" dirty="0"/>
              <a:t>：</a:t>
            </a:r>
            <a:r>
              <a:rPr lang="en-US" altLang="zh-CN" sz="2000" b="1" dirty="0"/>
              <a:t>CLOCK</a:t>
            </a:r>
            <a:r>
              <a:rPr lang="zh-CN" altLang="en-US" sz="2000" b="1" dirty="0"/>
              <a:t>，则被置换的页面所在页框为</a:t>
            </a:r>
            <a:r>
              <a:rPr lang="en-US" altLang="zh-CN" sz="2000" b="1" dirty="0"/>
              <a:t>2</a:t>
            </a:r>
            <a:r>
              <a:rPr lang="zh-CN" altLang="en-US" sz="2000" b="1" dirty="0"/>
              <a:t>，所以对应的物理地址为</a:t>
            </a:r>
            <a:r>
              <a:rPr lang="en-US" altLang="zh-CN" sz="2000" b="1" dirty="0"/>
              <a:t>(0000 1011 1100 1010)²</a:t>
            </a:r>
            <a:r>
              <a:rPr lang="zh-CN" altLang="en-US" sz="2000" b="1" dirty="0"/>
              <a:t>，即</a:t>
            </a:r>
            <a:r>
              <a:rPr lang="en-US" altLang="zh-CN" sz="2000" b="1" dirty="0"/>
              <a:t>0BCAH</a:t>
            </a:r>
            <a:r>
              <a:rPr lang="zh-CN" altLang="en-US" sz="2000" b="1" dirty="0"/>
              <a:t>。</a:t>
            </a:r>
            <a:endParaRPr lang="zh-CN" altLang="en-US" sz="2000" b="1" dirty="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charRg st="0" end="63"/>
                                            </p:txEl>
                                          </p:spTgt>
                                        </p:tgtEl>
                                        <p:attrNameLst>
                                          <p:attrName>style.visibility</p:attrName>
                                        </p:attrNameLst>
                                      </p:cBhvr>
                                      <p:to>
                                        <p:strVal val="visible"/>
                                      </p:to>
                                    </p:set>
                                    <p:animEffect transition="in" filter="fade">
                                      <p:cBhvr>
                                        <p:cTn id="7" dur="500"/>
                                        <p:tgtEl>
                                          <p:spTgt spid="11">
                                            <p:txEl>
                                              <p:charRg st="0" end="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8" name="内容占位符 6147"/>
          <p:cNvGraphicFramePr>
            <a:graphicFrameLocks noGrp="1"/>
          </p:cNvGraphicFramePr>
          <p:nvPr>
            <p:ph sz="half" idx="4294967295"/>
          </p:nvPr>
        </p:nvGraphicFramePr>
        <p:xfrm>
          <a:off x="4875213" y="76200"/>
          <a:ext cx="4192588" cy="1463676"/>
        </p:xfrm>
        <a:graphic>
          <a:graphicData uri="http://schemas.openxmlformats.org/drawingml/2006/table">
            <a:tbl>
              <a:tblPr>
                <a:tableStyleId>{616DA210-FB5B-4158-B5E0-FEB733F419BA}</a:tableStyleId>
              </a:tblPr>
              <a:tblGrid>
                <a:gridCol w="1238720"/>
                <a:gridCol w="1088444"/>
                <a:gridCol w="1865424"/>
              </a:tblGrid>
              <a:tr h="365919">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zh-CN" altLang="en-US" sz="1800" b="1" dirty="0"/>
                        <a:t>页号</a:t>
                      </a:r>
                      <a:endParaRPr lang="zh-CN" altLang="en-US"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zh-CN" altLang="en-US" sz="1800" b="1" dirty="0"/>
                        <a:t>页框号</a:t>
                      </a:r>
                      <a:endParaRPr lang="zh-CN" altLang="en-US"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zh-CN" altLang="en-US" sz="1800" b="1" dirty="0"/>
                        <a:t>有效位（存在位）</a:t>
                      </a:r>
                      <a:endParaRPr lang="zh-CN" altLang="en-US"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r h="365919">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dirty="0"/>
                        <a:t>0</a:t>
                      </a:r>
                      <a:endParaRPr lang="en-US" altLang="zh-CN"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101H</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1</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r h="365919">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1</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0</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r h="365919">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2</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254H</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dirty="0"/>
                        <a:t>1</a:t>
                      </a:r>
                      <a:endParaRPr lang="en-US" altLang="zh-CN"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bl>
          </a:graphicData>
        </a:graphic>
      </p:graphicFrame>
      <p:sp>
        <p:nvSpPr>
          <p:cNvPr id="2" name="文本框 1"/>
          <p:cNvSpPr txBox="1"/>
          <p:nvPr/>
        </p:nvSpPr>
        <p:spPr>
          <a:xfrm>
            <a:off x="163513" y="1524000"/>
            <a:ext cx="8828087" cy="1016000"/>
          </a:xfrm>
          <a:prstGeom prst="rect">
            <a:avLst/>
          </a:prstGeom>
          <a:gradFill rotWithShape="1">
            <a:gsLst>
              <a:gs pos="0">
                <a:srgbClr val="BEF397">
                  <a:alpha val="100000"/>
                </a:srgbClr>
              </a:gs>
              <a:gs pos="50000">
                <a:srgbClr val="D5F6C0">
                  <a:alpha val="100000"/>
                </a:srgbClr>
              </a:gs>
              <a:gs pos="100000">
                <a:srgbClr val="EAFAE0">
                  <a:alpha val="100000"/>
                </a:srgbClr>
              </a:gs>
            </a:gsLst>
            <a:lin ang="0" scaled="1"/>
            <a:tileRect/>
          </a:gradFill>
          <a:ln w="9525" cap="flat" cmpd="sng">
            <a:solidFill>
              <a:srgbClr val="120044"/>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zh-CN" altLang="en-US" sz="2000" b="1" dirty="0"/>
              <a:t>页面大小</a:t>
            </a:r>
            <a:r>
              <a:rPr lang="en-US" altLang="zh-CN" sz="2000" b="1" dirty="0"/>
              <a:t>4K</a:t>
            </a:r>
            <a:r>
              <a:rPr lang="zh-CN" altLang="en-US" sz="2000" b="1" dirty="0"/>
              <a:t>，一次内存访问时间</a:t>
            </a:r>
            <a:r>
              <a:rPr lang="en-US" altLang="zh-CN" sz="2000" b="1" dirty="0"/>
              <a:t>100ns</a:t>
            </a:r>
            <a:r>
              <a:rPr lang="zh-CN" altLang="en-US" sz="2000" b="1" dirty="0"/>
              <a:t>，一次快表（</a:t>
            </a:r>
            <a:r>
              <a:rPr lang="en-US" altLang="zh-CN" sz="2000" b="1" dirty="0"/>
              <a:t>TLB</a:t>
            </a:r>
            <a:r>
              <a:rPr lang="zh-CN" altLang="en-US" sz="2000" b="1" dirty="0"/>
              <a:t>）访问时间</a:t>
            </a:r>
            <a:r>
              <a:rPr lang="en-US" altLang="zh-CN" sz="2000" b="1" dirty="0"/>
              <a:t>10ns</a:t>
            </a:r>
            <a:r>
              <a:rPr lang="zh-CN" altLang="en-US" sz="2000" b="1" dirty="0"/>
              <a:t>，处理一次缺页的平均时间</a:t>
            </a:r>
            <a:r>
              <a:rPr lang="en-US" altLang="zh-CN" sz="2000" b="1" dirty="0"/>
              <a:t>10</a:t>
            </a:r>
            <a:r>
              <a:rPr lang="en-US" altLang="zh-CN" sz="2000" b="1" baseline="30000" dirty="0"/>
              <a:t>8</a:t>
            </a:r>
            <a:r>
              <a:rPr lang="en-US" altLang="zh-CN" sz="2000" b="1" dirty="0"/>
              <a:t>ns</a:t>
            </a:r>
            <a:r>
              <a:rPr lang="zh-CN" altLang="en-US" sz="2000" b="1" dirty="0"/>
              <a:t>（已含更新</a:t>
            </a:r>
            <a:r>
              <a:rPr lang="en-US" altLang="zh-CN" sz="2000" b="1" dirty="0"/>
              <a:t>TLB</a:t>
            </a:r>
            <a:r>
              <a:rPr lang="zh-CN" altLang="en-US" sz="2000" b="1" dirty="0"/>
              <a:t>和页表的时间），进程的驻留集大小固定为</a:t>
            </a:r>
            <a:r>
              <a:rPr lang="en-US" altLang="zh-CN" sz="2000" b="1" dirty="0"/>
              <a:t>2</a:t>
            </a:r>
            <a:r>
              <a:rPr lang="zh-CN" altLang="en-US" sz="2000" b="1" dirty="0"/>
              <a:t>，采用最近最少使用置换算法（</a:t>
            </a:r>
            <a:r>
              <a:rPr lang="en-US" altLang="zh-CN" sz="2000" b="1" dirty="0"/>
              <a:t>LRU</a:t>
            </a:r>
            <a:r>
              <a:rPr lang="zh-CN" altLang="en-US" sz="2000" b="1" dirty="0"/>
              <a:t>）和局部淘汰策略。</a:t>
            </a:r>
            <a:endParaRPr lang="zh-CN" altLang="en-US" sz="2000" dirty="0"/>
          </a:p>
        </p:txBody>
      </p:sp>
      <p:sp>
        <p:nvSpPr>
          <p:cNvPr id="6" name="文本框 5"/>
          <p:cNvSpPr txBox="1"/>
          <p:nvPr/>
        </p:nvSpPr>
        <p:spPr>
          <a:xfrm>
            <a:off x="163513" y="2514600"/>
            <a:ext cx="8828088" cy="10160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120044"/>
            </a:solidFill>
          </a:ln>
        </p:spPr>
        <p:txBody>
          <a:bodyPr>
            <a:spAutoFit/>
          </a:bodyPr>
          <a:lstStyle/>
          <a:p>
            <a:pPr marR="0" defTabSz="914400">
              <a:buClrTx/>
              <a:buSzTx/>
              <a:buFontTx/>
              <a:buNone/>
              <a:defRPr/>
            </a:pP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假设：</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①TLB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初始为空；</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②</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地址转换时先访问</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，若</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未命中，再访问页表（忽略访问页表之后的</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更新时间）；</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③</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有效位为</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0</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表示页面不在内存，产生缺页中断，缺页中断处理后，返回到产生缺页中断的指令处重新执行。</a:t>
            </a:r>
            <a:endParaRPr kumimoji="0" lang="zh-CN" altLang="en-US" sz="2000" kern="1200" cap="none" spc="0" normalizeH="0" baseline="0" noProof="0" dirty="0">
              <a:latin typeface="Comic Sans MS" panose="030F0702030302020204" pitchFamily="66" charset="0"/>
              <a:ea typeface="宋体" panose="02010600030101010101" pitchFamily="2" charset="-122"/>
              <a:cs typeface="+mn-cs"/>
            </a:endParaRPr>
          </a:p>
        </p:txBody>
      </p:sp>
      <p:sp>
        <p:nvSpPr>
          <p:cNvPr id="7" name="文本框 6"/>
          <p:cNvSpPr txBox="1"/>
          <p:nvPr/>
        </p:nvSpPr>
        <p:spPr>
          <a:xfrm>
            <a:off x="152400" y="3505200"/>
            <a:ext cx="8839200" cy="708025"/>
          </a:xfrm>
          <a:prstGeom prst="rect">
            <a:avLst/>
          </a:prstGeom>
          <a:blipFill rotWithShape="1">
            <a:blip r:embed="rId1"/>
          </a:blipFill>
          <a:ln w="9525" cap="flat" cmpd="sng">
            <a:solidFill>
              <a:srgbClr val="120044"/>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zh-CN" altLang="en-US" sz="2000" b="1" dirty="0"/>
              <a:t>设有虚地址访问序列</a:t>
            </a:r>
            <a:r>
              <a:rPr lang="en-US" altLang="zh-CN" sz="2000" b="1" dirty="0"/>
              <a:t>2362H</a:t>
            </a:r>
            <a:r>
              <a:rPr lang="zh-CN" altLang="en-US" sz="2000" b="1" dirty="0"/>
              <a:t>、</a:t>
            </a:r>
            <a:r>
              <a:rPr lang="en-US" altLang="zh-CN" sz="2000" b="1" dirty="0"/>
              <a:t>1565H</a:t>
            </a:r>
            <a:r>
              <a:rPr lang="zh-CN" altLang="en-US" sz="2000" b="1" dirty="0"/>
              <a:t>、</a:t>
            </a:r>
            <a:r>
              <a:rPr lang="en-US" altLang="zh-CN" sz="2000" b="1" dirty="0"/>
              <a:t>25A5H</a:t>
            </a:r>
            <a:r>
              <a:rPr lang="zh-CN" altLang="en-US" sz="2000" b="1" dirty="0"/>
              <a:t>，请问：</a:t>
            </a:r>
            <a:r>
              <a:rPr lang="en-US" altLang="zh-CN" sz="2000" b="1" dirty="0"/>
              <a:t>  </a:t>
            </a:r>
            <a:endParaRPr lang="en-US" altLang="zh-CN" sz="2000" b="1" dirty="0"/>
          </a:p>
          <a:p>
            <a:pPr marL="0" lvl="0" indent="0">
              <a:spcBef>
                <a:spcPct val="0"/>
              </a:spcBef>
              <a:buNone/>
            </a:pPr>
            <a:r>
              <a:rPr lang="zh-CN" altLang="en-US" sz="2000" b="1" dirty="0">
                <a:solidFill>
                  <a:srgbClr val="C00000"/>
                </a:solidFill>
              </a:rPr>
              <a:t>（</a:t>
            </a:r>
            <a:r>
              <a:rPr lang="en-US" altLang="zh-CN" sz="2000" b="1" dirty="0">
                <a:solidFill>
                  <a:srgbClr val="C00000"/>
                </a:solidFill>
              </a:rPr>
              <a:t>1</a:t>
            </a:r>
            <a:r>
              <a:rPr lang="zh-CN" altLang="en-US" sz="2000" b="1" dirty="0">
                <a:solidFill>
                  <a:srgbClr val="C00000"/>
                </a:solidFill>
              </a:rPr>
              <a:t>）依次访问上述三个虚地址，各需多少时间？给出计算过程。</a:t>
            </a:r>
            <a:r>
              <a:rPr lang="en-US" altLang="zh-CN" sz="2000" b="1" dirty="0">
                <a:solidFill>
                  <a:srgbClr val="C00000"/>
                </a:solidFill>
              </a:rPr>
              <a:t> </a:t>
            </a:r>
            <a:r>
              <a:rPr lang="en-US" altLang="zh-CN" sz="2000" b="1" dirty="0"/>
              <a:t> </a:t>
            </a:r>
            <a:endParaRPr lang="en-US" altLang="zh-CN" sz="2000" b="1" dirty="0"/>
          </a:p>
        </p:txBody>
      </p:sp>
      <p:sp>
        <p:nvSpPr>
          <p:cNvPr id="8" name="文本占位符 7169"/>
          <p:cNvSpPr txBox="1">
            <a:spLocks noChangeArrowheads="1"/>
          </p:cNvSpPr>
          <p:nvPr/>
        </p:nvSpPr>
        <p:spPr bwMode="auto">
          <a:xfrm>
            <a:off x="152400" y="4343400"/>
            <a:ext cx="8878888"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0" fontAlgn="base" latinLnBrk="0" hangingPunct="0">
              <a:lnSpc>
                <a:spcPct val="80000"/>
              </a:lnSpc>
              <a:spcBef>
                <a:spcPct val="2000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highlight>
                  <a:srgbClr val="FFFF00"/>
                </a:highlight>
                <a:uLnTx/>
                <a:uFillTx/>
                <a:latin typeface="+mn-lt"/>
                <a:ea typeface="+mn-ea"/>
                <a:cs typeface="+mn-cs"/>
              </a:rPr>
              <a:t>解答</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：页面大小</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4K=</a:t>
            </a: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2</a:t>
            </a:r>
            <a:r>
              <a:rPr kumimoji="0" lang="en-US" altLang="zh-CN" sz="2000" b="1" i="0" u="none" strike="noStrike" kern="1200" cap="none" spc="0" normalizeH="0" baseline="30000" noProof="0" dirty="0">
                <a:ln>
                  <a:noFill/>
                </a:ln>
                <a:solidFill>
                  <a:srgbClr val="FF0000"/>
                </a:solidFill>
                <a:effectLst/>
                <a:uLnTx/>
                <a:uFillTx/>
                <a:latin typeface="+mn-lt"/>
                <a:ea typeface="+mn-ea"/>
                <a:cs typeface="+mn-cs"/>
              </a:rPr>
              <a:t>12</a:t>
            </a: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K</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，页内位移占虚地址的低</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位，页号占剩余高位。</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Wingdings" panose="05000000000000000000" pitchFamily="2" charset="2"/>
              <a:buChar char="Ø"/>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 2362H</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P=2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，访问快表</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，因初始为空，访问页表</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得到页框号，合成物理地址后访问主存</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，共计</a:t>
            </a:r>
            <a:r>
              <a:rPr kumimoji="0" lang="en-US" altLang="zh-CN" sz="2000" b="1" i="0" u="none" strike="noStrike" kern="1200" cap="none" spc="0" normalizeH="0" baseline="0" noProof="0" dirty="0">
                <a:ln>
                  <a:noFill/>
                </a:ln>
                <a:solidFill>
                  <a:srgbClr val="0070C0"/>
                </a:solidFill>
                <a:effectLst/>
                <a:uLnTx/>
                <a:uFillTx/>
                <a:latin typeface="+mn-lt"/>
                <a:ea typeface="+mn-ea"/>
                <a:cs typeface="+mn-cs"/>
              </a:rPr>
              <a:t>10ns+100ns+100ns=210ns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Wingdings" panose="05000000000000000000" pitchFamily="2" charset="2"/>
              <a:buChar char="Ø"/>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 1565H</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P=1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，访问快表</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，落空，访问页表</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落空，缺页中断处理</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a:t>
            </a:r>
            <a:r>
              <a:rPr kumimoji="0" lang="en-US" altLang="zh-CN" sz="2000" b="1" i="0" u="none" strike="noStrike" kern="1200" cap="none" spc="0" normalizeH="0" baseline="30000" noProof="0" dirty="0">
                <a:ln>
                  <a:noFill/>
                </a:ln>
                <a:solidFill>
                  <a:schemeClr val="tx1"/>
                </a:solidFill>
                <a:effectLst/>
                <a:uLnTx/>
                <a:uFillTx/>
                <a:latin typeface="+mn-lt"/>
                <a:ea typeface="+mn-ea"/>
                <a:cs typeface="+mn-cs"/>
              </a:rPr>
              <a:t>8</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，然后重新访问快表</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，最后按照物理地址访问主存</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rgbClr val="0070C0"/>
                </a:solidFill>
                <a:effectLst/>
                <a:uLnTx/>
                <a:uFillTx/>
                <a:latin typeface="+mn-lt"/>
                <a:ea typeface="+mn-ea"/>
                <a:cs typeface="+mn-cs"/>
              </a:rPr>
              <a:t>10ns+100ns+10</a:t>
            </a:r>
            <a:r>
              <a:rPr kumimoji="0" lang="en-US" altLang="zh-CN" sz="2000" b="1" i="0" u="none" strike="noStrike" kern="1200" cap="none" spc="0" normalizeH="0" baseline="30000" noProof="0" dirty="0">
                <a:ln>
                  <a:noFill/>
                </a:ln>
                <a:solidFill>
                  <a:srgbClr val="0070C0"/>
                </a:solidFill>
                <a:effectLst/>
                <a:uLnTx/>
                <a:uFillTx/>
                <a:latin typeface="+mn-lt"/>
                <a:ea typeface="+mn-ea"/>
                <a:cs typeface="+mn-cs"/>
              </a:rPr>
              <a:t>8</a:t>
            </a:r>
            <a:r>
              <a:rPr kumimoji="0" lang="en-US" altLang="zh-CN" sz="2000" b="1" i="0" u="none" strike="noStrike" kern="1200" cap="none" spc="0" normalizeH="0" baseline="0" noProof="0" dirty="0">
                <a:ln>
                  <a:noFill/>
                </a:ln>
                <a:solidFill>
                  <a:srgbClr val="0070C0"/>
                </a:solidFill>
                <a:effectLst/>
                <a:uLnTx/>
                <a:uFillTx/>
                <a:latin typeface="+mn-lt"/>
                <a:ea typeface="+mn-ea"/>
                <a:cs typeface="+mn-cs"/>
              </a:rPr>
              <a:t>ns+10ns+100ns=220ns+10</a:t>
            </a:r>
            <a:r>
              <a:rPr kumimoji="0" lang="en-US" altLang="zh-CN" sz="2000" b="1" i="0" u="none" strike="noStrike" kern="1200" cap="none" spc="0" normalizeH="0" baseline="30000" noProof="0" dirty="0">
                <a:ln>
                  <a:noFill/>
                </a:ln>
                <a:solidFill>
                  <a:srgbClr val="0070C0"/>
                </a:solidFill>
                <a:effectLst/>
                <a:uLnTx/>
                <a:uFillTx/>
                <a:latin typeface="+mn-lt"/>
                <a:ea typeface="+mn-ea"/>
                <a:cs typeface="+mn-cs"/>
              </a:rPr>
              <a:t>8</a:t>
            </a:r>
            <a:r>
              <a:rPr kumimoji="0" lang="en-US" altLang="zh-CN" sz="2000" b="1" i="0" u="none" strike="noStrike" kern="1200" cap="none" spc="0" normalizeH="0" baseline="0" noProof="0" dirty="0">
                <a:ln>
                  <a:noFill/>
                </a:ln>
                <a:solidFill>
                  <a:srgbClr val="0070C0"/>
                </a:solidFill>
                <a:effectLst/>
                <a:uLnTx/>
                <a:uFillTx/>
                <a:latin typeface="+mn-lt"/>
                <a:ea typeface="+mn-ea"/>
                <a:cs typeface="+mn-cs"/>
              </a:rPr>
              <a:t>ns=100000220ns</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80000"/>
              </a:lnSpc>
              <a:spcBef>
                <a:spcPct val="20000"/>
              </a:spcBef>
              <a:spcAft>
                <a:spcPct val="0"/>
              </a:spcAft>
              <a:buClrTx/>
              <a:buSzTx/>
              <a:buFont typeface="Wingdings" panose="05000000000000000000" pitchFamily="2" charset="2"/>
              <a:buChar char="Ø"/>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 25A5H</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P=2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，访问快表，因第一次访问已将该页号放入快表，因此花费</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便可合成物理地址，访问主存</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100ns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，共计</a:t>
            </a:r>
            <a:r>
              <a:rPr kumimoji="0" lang="en-US" altLang="zh-CN" sz="2000" b="1" i="0" u="none" strike="noStrike" kern="1200" cap="none" spc="0" normalizeH="0" baseline="0" noProof="0" dirty="0">
                <a:ln>
                  <a:noFill/>
                </a:ln>
                <a:solidFill>
                  <a:srgbClr val="0070C0"/>
                </a:solidFill>
                <a:effectLst/>
                <a:uLnTx/>
                <a:uFillTx/>
                <a:latin typeface="+mn-lt"/>
                <a:ea typeface="+mn-ea"/>
                <a:cs typeface="+mn-cs"/>
              </a:rPr>
              <a:t>10ns+100ns=110ns</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39942" name="标题 6145"/>
          <p:cNvSpPr>
            <a:spLocks noGrp="1"/>
          </p:cNvSpPr>
          <p:nvPr>
            <p:ph type="title"/>
          </p:nvPr>
        </p:nvSpPr>
        <p:spPr>
          <a:xfrm>
            <a:off x="163830" y="198755"/>
            <a:ext cx="4805680" cy="914400"/>
          </a:xfrm>
        </p:spPr>
        <p:txBody>
          <a:bodyPr vert="horz" wrap="square" lIns="91440" tIns="45720" rIns="91440" bIns="45720" anchor="b" anchorCtr="0"/>
          <a:lstStyle/>
          <a:p>
            <a:pPr marL="457200" indent="-457200" algn="l">
              <a:buFont typeface="+mj-lt"/>
              <a:buAutoNum type="arabicPeriod" startAt="16"/>
            </a:pPr>
            <a:r>
              <a:rPr lang="zh-CN" altLang="en-US" sz="2400" b="1" dirty="0"/>
              <a:t>请求分页管理系统中，假设某进程的页表内容如表所示。</a:t>
            </a:r>
            <a:endParaRPr lang="zh-CN" altLang="en-US" sz="2400" b="1" dirty="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fade">
                                      <p:cBhvr>
                                        <p:cTn id="27" dur="500"/>
                                        <p:tgtEl>
                                          <p:spTgt spid="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charRg st="126" end="217"/>
                                            </p:txEl>
                                          </p:spTgt>
                                        </p:tgtEl>
                                        <p:attrNameLst>
                                          <p:attrName>style.visibility</p:attrName>
                                        </p:attrNameLst>
                                      </p:cBhvr>
                                      <p:to>
                                        <p:strVal val="visible"/>
                                      </p:to>
                                    </p:set>
                                    <p:animEffect transition="in" filter="fade">
                                      <p:cBhvr>
                                        <p:cTn id="32" dur="500"/>
                                        <p:tgtEl>
                                          <p:spTgt spid="8">
                                            <p:txEl>
                                              <p:charRg st="126" end="21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charRg st="217" end="298"/>
                                            </p:txEl>
                                          </p:spTgt>
                                        </p:tgtEl>
                                        <p:attrNameLst>
                                          <p:attrName>style.visibility</p:attrName>
                                        </p:attrNameLst>
                                      </p:cBhvr>
                                      <p:to>
                                        <p:strVal val="visible"/>
                                      </p:to>
                                    </p:set>
                                    <p:animEffect transition="in" filter="fade">
                                      <p:cBhvr>
                                        <p:cTn id="37" dur="500"/>
                                        <p:tgtEl>
                                          <p:spTgt spid="8">
                                            <p:txEl>
                                              <p:charRg st="217" end="29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6" grpId="0" bldLvl="0" animBg="1"/>
      <p:bldP spid="7" grpId="0" bldLvl="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文本框 1"/>
          <p:cNvSpPr txBox="1"/>
          <p:nvPr/>
        </p:nvSpPr>
        <p:spPr>
          <a:xfrm>
            <a:off x="163513" y="1524000"/>
            <a:ext cx="8828087" cy="1016000"/>
          </a:xfrm>
          <a:prstGeom prst="rect">
            <a:avLst/>
          </a:prstGeom>
          <a:gradFill rotWithShape="1">
            <a:gsLst>
              <a:gs pos="0">
                <a:srgbClr val="BEF397">
                  <a:alpha val="100000"/>
                </a:srgbClr>
              </a:gs>
              <a:gs pos="50000">
                <a:srgbClr val="D5F6C0">
                  <a:alpha val="100000"/>
                </a:srgbClr>
              </a:gs>
              <a:gs pos="100000">
                <a:srgbClr val="EAFAE0">
                  <a:alpha val="100000"/>
                </a:srgbClr>
              </a:gs>
            </a:gsLst>
            <a:lin ang="0" scaled="1"/>
            <a:tileRect/>
          </a:gradFill>
          <a:ln w="9525" cap="flat" cmpd="sng">
            <a:solidFill>
              <a:srgbClr val="120044"/>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zh-CN" altLang="en-US" sz="2000" b="1" dirty="0"/>
              <a:t>页面大小</a:t>
            </a:r>
            <a:r>
              <a:rPr lang="en-US" altLang="zh-CN" sz="2000" b="1" dirty="0"/>
              <a:t>4K</a:t>
            </a:r>
            <a:r>
              <a:rPr lang="zh-CN" altLang="en-US" sz="2000" b="1" dirty="0"/>
              <a:t>，一次内存访问时间</a:t>
            </a:r>
            <a:r>
              <a:rPr lang="en-US" altLang="zh-CN" sz="2000" b="1" dirty="0"/>
              <a:t>100ns</a:t>
            </a:r>
            <a:r>
              <a:rPr lang="zh-CN" altLang="en-US" sz="2000" b="1" dirty="0"/>
              <a:t>，一次快表（</a:t>
            </a:r>
            <a:r>
              <a:rPr lang="en-US" altLang="zh-CN" sz="2000" b="1" dirty="0"/>
              <a:t>TLB</a:t>
            </a:r>
            <a:r>
              <a:rPr lang="zh-CN" altLang="en-US" sz="2000" b="1" dirty="0"/>
              <a:t>）访问时间</a:t>
            </a:r>
            <a:r>
              <a:rPr lang="en-US" altLang="zh-CN" sz="2000" b="1" dirty="0"/>
              <a:t>10ns</a:t>
            </a:r>
            <a:r>
              <a:rPr lang="zh-CN" altLang="en-US" sz="2000" b="1" dirty="0"/>
              <a:t>，处理一次缺页的平均时间</a:t>
            </a:r>
            <a:r>
              <a:rPr lang="en-US" altLang="zh-CN" sz="2000" b="1" dirty="0"/>
              <a:t>10</a:t>
            </a:r>
            <a:r>
              <a:rPr lang="en-US" altLang="zh-CN" sz="2000" b="1" baseline="30000" dirty="0"/>
              <a:t>8</a:t>
            </a:r>
            <a:r>
              <a:rPr lang="en-US" altLang="zh-CN" sz="2000" b="1" dirty="0"/>
              <a:t>ns</a:t>
            </a:r>
            <a:r>
              <a:rPr lang="zh-CN" altLang="en-US" sz="2000" b="1" dirty="0"/>
              <a:t>（已含更新</a:t>
            </a:r>
            <a:r>
              <a:rPr lang="en-US" altLang="zh-CN" sz="2000" b="1" dirty="0"/>
              <a:t>TLB</a:t>
            </a:r>
            <a:r>
              <a:rPr lang="zh-CN" altLang="en-US" sz="2000" b="1" dirty="0"/>
              <a:t>和页表的时间），进程的驻留集大小固定为</a:t>
            </a:r>
            <a:r>
              <a:rPr lang="en-US" altLang="zh-CN" sz="2000" b="1" dirty="0"/>
              <a:t>2</a:t>
            </a:r>
            <a:r>
              <a:rPr lang="zh-CN" altLang="en-US" sz="2000" b="1" dirty="0"/>
              <a:t>，采用最近最少使用置换算法（</a:t>
            </a:r>
            <a:r>
              <a:rPr lang="en-US" altLang="zh-CN" sz="2000" b="1" dirty="0"/>
              <a:t>LRU</a:t>
            </a:r>
            <a:r>
              <a:rPr lang="zh-CN" altLang="en-US" sz="2000" b="1" dirty="0"/>
              <a:t>）和局部淘汰策略。</a:t>
            </a:r>
            <a:endParaRPr lang="zh-CN" altLang="en-US" sz="2000" dirty="0"/>
          </a:p>
        </p:txBody>
      </p:sp>
      <p:sp>
        <p:nvSpPr>
          <p:cNvPr id="6" name="文本框 5"/>
          <p:cNvSpPr txBox="1"/>
          <p:nvPr/>
        </p:nvSpPr>
        <p:spPr>
          <a:xfrm>
            <a:off x="163513" y="2514600"/>
            <a:ext cx="8828088" cy="10160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solidFill>
              <a:srgbClr val="120044"/>
            </a:solidFill>
          </a:ln>
        </p:spPr>
        <p:txBody>
          <a:bodyPr>
            <a:spAutoFit/>
          </a:bodyPr>
          <a:lstStyle/>
          <a:p>
            <a:pPr marR="0" defTabSz="914400">
              <a:buClrTx/>
              <a:buSzTx/>
              <a:buFontTx/>
              <a:buNone/>
              <a:defRPr/>
            </a:pP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假设：</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①TLB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初始为空；</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②</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地址转换时先访问</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，若</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未命中，再访问页表（忽略访问页表之后的</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TLB</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更新时间）；</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③</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有效位为</a:t>
            </a:r>
            <a:r>
              <a:rPr kumimoji="0" lang="en-US" altLang="zh-CN" sz="2000" b="1" kern="1200" cap="none" spc="0" normalizeH="0" baseline="0" noProof="0" dirty="0">
                <a:latin typeface="Comic Sans MS" panose="030F0702030302020204" pitchFamily="66" charset="0"/>
                <a:ea typeface="宋体" panose="02010600030101010101" pitchFamily="2" charset="-122"/>
                <a:cs typeface="+mn-cs"/>
              </a:rPr>
              <a:t>0</a:t>
            </a:r>
            <a:r>
              <a:rPr kumimoji="0" lang="zh-CN" altLang="en-US" sz="2000" b="1" kern="1200" cap="none" spc="0" normalizeH="0" baseline="0" noProof="0" dirty="0">
                <a:latin typeface="Comic Sans MS" panose="030F0702030302020204" pitchFamily="66" charset="0"/>
                <a:ea typeface="宋体" panose="02010600030101010101" pitchFamily="2" charset="-122"/>
                <a:cs typeface="+mn-cs"/>
              </a:rPr>
              <a:t>表示页面不在内存，产生缺页中断，缺页中断处理后，返回到产生缺页中断的指令处重新执行。</a:t>
            </a:r>
            <a:endParaRPr kumimoji="0" lang="zh-CN" altLang="en-US" sz="2000" kern="1200" cap="none" spc="0" normalizeH="0" baseline="0" noProof="0" dirty="0">
              <a:latin typeface="Comic Sans MS" panose="030F0702030302020204" pitchFamily="66" charset="0"/>
              <a:ea typeface="宋体" panose="02010600030101010101" pitchFamily="2" charset="-122"/>
              <a:cs typeface="+mn-cs"/>
            </a:endParaRPr>
          </a:p>
        </p:txBody>
      </p:sp>
      <p:sp>
        <p:nvSpPr>
          <p:cNvPr id="39940" name="文本框 6"/>
          <p:cNvSpPr txBox="1"/>
          <p:nvPr/>
        </p:nvSpPr>
        <p:spPr>
          <a:xfrm>
            <a:off x="152400" y="3505200"/>
            <a:ext cx="8839200" cy="708025"/>
          </a:xfrm>
          <a:prstGeom prst="rect">
            <a:avLst/>
          </a:prstGeom>
          <a:blipFill rotWithShape="1">
            <a:blip r:embed="rId1"/>
          </a:blipFill>
          <a:ln w="9525" cap="flat" cmpd="sng">
            <a:solidFill>
              <a:srgbClr val="120044"/>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zh-CN" altLang="en-US" sz="2000" b="1" dirty="0"/>
              <a:t>设有虚地址访问序列</a:t>
            </a:r>
            <a:r>
              <a:rPr lang="en-US" altLang="zh-CN" sz="2000" b="1" dirty="0"/>
              <a:t>2362H</a:t>
            </a:r>
            <a:r>
              <a:rPr lang="zh-CN" altLang="en-US" sz="2000" b="1" dirty="0"/>
              <a:t>、</a:t>
            </a:r>
            <a:r>
              <a:rPr lang="en-US" altLang="zh-CN" sz="2000" b="1" dirty="0"/>
              <a:t>1565H</a:t>
            </a:r>
            <a:r>
              <a:rPr lang="zh-CN" altLang="en-US" sz="2000" b="1" dirty="0"/>
              <a:t>、</a:t>
            </a:r>
            <a:r>
              <a:rPr lang="en-US" altLang="zh-CN" sz="2000" b="1" dirty="0"/>
              <a:t>25A5H</a:t>
            </a:r>
            <a:r>
              <a:rPr lang="zh-CN" altLang="en-US" sz="2000" b="1" dirty="0"/>
              <a:t>，请问：</a:t>
            </a:r>
            <a:r>
              <a:rPr lang="en-US" altLang="zh-CN" sz="2000" b="1" dirty="0"/>
              <a:t>   </a:t>
            </a:r>
            <a:endParaRPr lang="en-US" altLang="zh-CN" sz="2000" b="1" dirty="0"/>
          </a:p>
          <a:p>
            <a:pPr marL="0" lvl="0" indent="0">
              <a:spcBef>
                <a:spcPct val="0"/>
              </a:spcBef>
              <a:buNone/>
            </a:pPr>
            <a:r>
              <a:rPr lang="zh-CN" altLang="en-US" sz="2000" b="1" dirty="0">
                <a:solidFill>
                  <a:srgbClr val="C00000"/>
                </a:solidFill>
              </a:rPr>
              <a:t>（</a:t>
            </a:r>
            <a:r>
              <a:rPr lang="en-US" altLang="zh-CN" sz="2000" b="1" dirty="0">
                <a:solidFill>
                  <a:srgbClr val="C00000"/>
                </a:solidFill>
              </a:rPr>
              <a:t>2</a:t>
            </a:r>
            <a:r>
              <a:rPr lang="zh-CN" altLang="en-US" sz="2000" b="1" dirty="0">
                <a:solidFill>
                  <a:srgbClr val="C00000"/>
                </a:solidFill>
              </a:rPr>
              <a:t>）基于上述访问序列，求虚地址</a:t>
            </a:r>
            <a:r>
              <a:rPr lang="en-US" altLang="zh-CN" sz="2000" b="1" dirty="0">
                <a:solidFill>
                  <a:srgbClr val="C00000"/>
                </a:solidFill>
              </a:rPr>
              <a:t>1565H</a:t>
            </a:r>
            <a:r>
              <a:rPr lang="zh-CN" altLang="en-US" sz="2000" b="1" dirty="0">
                <a:solidFill>
                  <a:srgbClr val="C00000"/>
                </a:solidFill>
              </a:rPr>
              <a:t>的物理地址。请说明理由。</a:t>
            </a:r>
            <a:endParaRPr lang="zh-CN" altLang="en-US" sz="2000" dirty="0">
              <a:solidFill>
                <a:srgbClr val="C00000"/>
              </a:solidFill>
            </a:endParaRPr>
          </a:p>
        </p:txBody>
      </p:sp>
      <p:sp>
        <p:nvSpPr>
          <p:cNvPr id="9" name="文本占位符 8194"/>
          <p:cNvSpPr txBox="1"/>
          <p:nvPr/>
        </p:nvSpPr>
        <p:spPr>
          <a:xfrm>
            <a:off x="152400" y="4495800"/>
            <a:ext cx="8839200" cy="1295400"/>
          </a:xfrm>
          <a:prstGeom prst="rect">
            <a:avLst/>
          </a:prstGeom>
          <a:noFill/>
          <a:ln w="9525">
            <a:noFill/>
          </a:ln>
        </p:spPr>
        <p:txBody>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342900" lvl="0" indent="-342900">
              <a:buFont typeface="Wingdings" panose="05000000000000000000" pitchFamily="2" charset="2"/>
              <a:buChar char="Ø"/>
            </a:pPr>
            <a:r>
              <a:rPr lang="zh-CN" altLang="en-US" sz="2000" b="1" dirty="0">
                <a:highlight>
                  <a:srgbClr val="FFFF00"/>
                </a:highlight>
              </a:rPr>
              <a:t>解答</a:t>
            </a:r>
            <a:r>
              <a:rPr lang="zh-CN" altLang="en-US" sz="2000" b="1" dirty="0"/>
              <a:t>：（</a:t>
            </a:r>
            <a:r>
              <a:rPr lang="en-US" altLang="zh-CN" sz="2000" b="1" dirty="0"/>
              <a:t>2</a:t>
            </a:r>
            <a:r>
              <a:rPr lang="zh-CN" altLang="en-US" sz="2000" b="1" dirty="0"/>
              <a:t>）当访问虚地址</a:t>
            </a:r>
            <a:r>
              <a:rPr lang="en-US" altLang="zh-CN" sz="2000" b="1" dirty="0"/>
              <a:t>1565H</a:t>
            </a:r>
            <a:r>
              <a:rPr lang="zh-CN" altLang="en-US" sz="2000" b="1" dirty="0"/>
              <a:t>时，产生缺页中断，合法驻留集为</a:t>
            </a:r>
            <a:r>
              <a:rPr lang="en-US" altLang="zh-CN" sz="2000" b="1" dirty="0"/>
              <a:t>2</a:t>
            </a:r>
            <a:r>
              <a:rPr lang="zh-CN" altLang="en-US" sz="2000" b="1" dirty="0"/>
              <a:t>，必须从页表中淘汰一个页面，根据题目的置换算法，应淘汰</a:t>
            </a:r>
            <a:r>
              <a:rPr lang="en-US" altLang="zh-CN" sz="2000" b="1" dirty="0"/>
              <a:t>0</a:t>
            </a:r>
            <a:r>
              <a:rPr lang="zh-CN" altLang="en-US" sz="2000" b="1" dirty="0"/>
              <a:t>号页面，因此</a:t>
            </a:r>
            <a:r>
              <a:rPr lang="en-US" altLang="zh-CN" sz="2000" b="1" dirty="0"/>
              <a:t>1565H</a:t>
            </a:r>
            <a:r>
              <a:rPr lang="zh-CN" altLang="en-US" sz="2000" b="1" dirty="0"/>
              <a:t>的对应页框号为</a:t>
            </a:r>
            <a:r>
              <a:rPr lang="en-US" altLang="zh-CN" sz="2000" b="1" dirty="0"/>
              <a:t>101H</a:t>
            </a:r>
            <a:r>
              <a:rPr lang="zh-CN" altLang="en-US" sz="2000" b="1" dirty="0"/>
              <a:t>。由此可得</a:t>
            </a:r>
            <a:r>
              <a:rPr lang="en-US" altLang="zh-CN" sz="2000" b="1" dirty="0"/>
              <a:t>1565H</a:t>
            </a:r>
            <a:r>
              <a:rPr lang="zh-CN" altLang="en-US" sz="2000" b="1" dirty="0"/>
              <a:t>的物理地址为</a:t>
            </a:r>
            <a:r>
              <a:rPr lang="en-US" altLang="zh-CN" sz="2000" b="1" dirty="0"/>
              <a:t>101565H</a:t>
            </a:r>
            <a:r>
              <a:rPr lang="zh-CN" altLang="en-US" sz="2000" b="1" dirty="0"/>
              <a:t>。</a:t>
            </a:r>
            <a:r>
              <a:rPr lang="en-US" altLang="zh-CN" sz="2000" b="1" dirty="0"/>
              <a:t>  </a:t>
            </a:r>
            <a:endParaRPr lang="en-US" altLang="zh-CN" sz="2000" b="1" dirty="0"/>
          </a:p>
          <a:p>
            <a:pPr marL="342900" lvl="0" indent="-342900">
              <a:buFont typeface="Wingdings" panose="05000000000000000000" pitchFamily="2" charset="2"/>
              <a:buChar char="Ø"/>
            </a:pPr>
            <a:endParaRPr lang="en-US" altLang="zh-CN" sz="2000" b="1" dirty="0"/>
          </a:p>
        </p:txBody>
      </p:sp>
      <p:graphicFrame>
        <p:nvGraphicFramePr>
          <p:cNvPr id="11" name="内容占位符 6147"/>
          <p:cNvGraphicFramePr/>
          <p:nvPr/>
        </p:nvGraphicFramePr>
        <p:xfrm>
          <a:off x="4875213" y="76200"/>
          <a:ext cx="4192588" cy="1463676"/>
        </p:xfrm>
        <a:graphic>
          <a:graphicData uri="http://schemas.openxmlformats.org/drawingml/2006/table">
            <a:tbl>
              <a:tblPr>
                <a:tableStyleId>{616DA210-FB5B-4158-B5E0-FEB733F419BA}</a:tableStyleId>
              </a:tblPr>
              <a:tblGrid>
                <a:gridCol w="1238720"/>
                <a:gridCol w="1088444"/>
                <a:gridCol w="1865424"/>
              </a:tblGrid>
              <a:tr h="365760">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zh-CN" altLang="en-US" sz="1800" b="1" dirty="0"/>
                        <a:t>页号</a:t>
                      </a:r>
                      <a:endParaRPr lang="zh-CN" altLang="en-US"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zh-CN" altLang="en-US" sz="1800" b="1" dirty="0"/>
                        <a:t>页框号</a:t>
                      </a:r>
                      <a:endParaRPr lang="zh-CN" altLang="en-US"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zh-CN" altLang="en-US" sz="1800" b="1" dirty="0"/>
                        <a:t>有效位（存在位）</a:t>
                      </a:r>
                      <a:endParaRPr lang="zh-CN" altLang="en-US"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r h="365919">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dirty="0"/>
                        <a:t>0</a:t>
                      </a:r>
                      <a:endParaRPr lang="en-US" altLang="zh-CN"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101H</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1</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r h="365919">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1</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0</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r h="365919">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2</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a:t>254H</a:t>
                      </a:r>
                      <a:endParaRPr lang="en-US" altLang="zh-CN" sz="2800" b="1"/>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1pPr>
                      <a:lvl2pPr marL="742950" lvl="1" indent="-285750">
                        <a:defRPr sz="2400" kern="1200"/>
                      </a:lvl2pPr>
                      <a:lvl3pPr marL="1143000" lvl="2" indent="-228600">
                        <a:defRPr sz="2000" kern="1200"/>
                      </a:lvl3pPr>
                      <a:lvl4pPr marL="1600200" lvl="3" indent="-228600">
                        <a:defRPr sz="1800" kern="1200"/>
                      </a:lvl4pPr>
                      <a:lvl5pPr marL="2057400" lvl="4" indent="-228600">
                        <a:defRPr sz="1800" kern="1200"/>
                      </a:lvl5pPr>
                    </a:lstStyle>
                    <a:p>
                      <a:pPr lvl="0" algn="ctr">
                        <a:spcBef>
                          <a:spcPct val="0"/>
                        </a:spcBef>
                        <a:buNone/>
                      </a:pPr>
                      <a:r>
                        <a:rPr lang="en-US" altLang="zh-CN" sz="1800" b="1" dirty="0"/>
                        <a:t>1</a:t>
                      </a:r>
                      <a:endParaRPr lang="en-US" altLang="zh-CN" sz="2800" b="1" dirty="0"/>
                    </a:p>
                  </a:txBody>
                  <a:tcPr marL="91445" marR="91445" marT="45725" marB="45725">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r>
            </a:tbl>
          </a:graphicData>
        </a:graphic>
      </p:graphicFrame>
      <p:sp>
        <p:nvSpPr>
          <p:cNvPr id="3" name="标题 6145"/>
          <p:cNvSpPr>
            <a:spLocks noGrp="1"/>
          </p:cNvSpPr>
          <p:nvPr>
            <p:ph type="title"/>
          </p:nvPr>
        </p:nvSpPr>
        <p:spPr>
          <a:xfrm>
            <a:off x="163830" y="198755"/>
            <a:ext cx="4805680" cy="914400"/>
          </a:xfrm>
        </p:spPr>
        <p:txBody>
          <a:bodyPr vert="horz" wrap="square" lIns="91440" tIns="45720" rIns="91440" bIns="45720" anchor="b" anchorCtr="0"/>
          <a:lstStyle/>
          <a:p>
            <a:pPr marL="457200" indent="-457200" algn="l">
              <a:buFont typeface="+mj-lt"/>
              <a:buAutoNum type="arabicPeriod" startAt="16"/>
            </a:pPr>
            <a:r>
              <a:rPr lang="zh-CN" altLang="en-US" sz="2400" b="1" dirty="0"/>
              <a:t>请求分页管理系统中，假设某进程的页表内容如表所示。</a:t>
            </a:r>
            <a:endParaRPr lang="zh-CN" altLang="en-US" sz="2400" b="1" dirty="0"/>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文本占位符 19458"/>
          <p:cNvSpPr>
            <a:spLocks noGrp="1"/>
          </p:cNvSpPr>
          <p:nvPr>
            <p:ph idx="1"/>
          </p:nvPr>
        </p:nvSpPr>
        <p:spPr>
          <a:xfrm>
            <a:off x="152400" y="76200"/>
            <a:ext cx="88392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Char char="Ø"/>
              <a:defRPr/>
            </a:pPr>
            <a:r>
              <a:rPr kumimoji="0" lang="zh-CN" altLang="en-US" sz="2800" b="1" i="0" u="sng" strike="noStrike" kern="1200" cap="none" spc="0" normalizeH="0" baseline="0" noProof="1">
                <a:ln>
                  <a:noFill/>
                </a:ln>
                <a:solidFill>
                  <a:schemeClr val="tx1">
                    <a:lumMod val="60000"/>
                    <a:lumOff val="40000"/>
                  </a:schemeClr>
                </a:solidFill>
                <a:effectLst/>
                <a:highlight>
                  <a:srgbClr val="00FFFF"/>
                </a:highlight>
                <a:uLnTx/>
                <a:uFillTx/>
                <a:latin typeface="+mn-lt"/>
                <a:ea typeface="+mn-ea"/>
                <a:cs typeface="+mn-cs"/>
              </a:rPr>
              <a:t>练习题</a:t>
            </a:r>
            <a:r>
              <a:rPr kumimoji="0" lang="zh-CN" altLang="en-US" sz="2000" b="1" i="0" u="none" strike="noStrike" kern="1200" cap="none" spc="0" normalizeH="0" baseline="0" noProof="1">
                <a:ln>
                  <a:noFill/>
                </a:ln>
                <a:solidFill>
                  <a:schemeClr val="tx1"/>
                </a:solidFill>
                <a:effectLst/>
                <a:uLnTx/>
                <a:uFillTx/>
                <a:latin typeface="+mn-lt"/>
                <a:ea typeface="+mn-ea"/>
                <a:cs typeface="+mn-cs"/>
              </a:rPr>
              <a:t>：某请求分页系统的局部页面置换策略如下：</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系统从</a:t>
            </a:r>
            <a:r>
              <a:rPr kumimoji="0" lang="en-US" altLang="zh-CN" sz="2000" b="1" i="0" u="none" strike="noStrike" kern="1200" cap="none" spc="0" normalizeH="0" baseline="0" noProof="1">
                <a:ln>
                  <a:noFill/>
                </a:ln>
                <a:solidFill>
                  <a:schemeClr val="tx1"/>
                </a:solidFill>
                <a:effectLst/>
                <a:uLnTx/>
                <a:uFillTx/>
                <a:latin typeface="+mn-lt"/>
                <a:ea typeface="+mn-ea"/>
                <a:cs typeface="+mn-cs"/>
              </a:rPr>
              <a:t>0</a:t>
            </a:r>
            <a:r>
              <a:rPr kumimoji="0" lang="zh-CN" altLang="en-US" sz="2000" b="1" i="0" u="none" strike="noStrike" kern="1200" cap="none" spc="0" normalizeH="0" baseline="0" noProof="1">
                <a:ln>
                  <a:noFill/>
                </a:ln>
                <a:solidFill>
                  <a:schemeClr val="tx1"/>
                </a:solidFill>
                <a:effectLst/>
                <a:uLnTx/>
                <a:uFillTx/>
                <a:latin typeface="+mn-lt"/>
                <a:ea typeface="+mn-ea"/>
                <a:cs typeface="+mn-cs"/>
              </a:rPr>
              <a:t>时刻开始扫描，每隔</a:t>
            </a:r>
            <a:r>
              <a:rPr kumimoji="0" lang="en-US" altLang="zh-CN" sz="2000" b="1" i="0" u="none" strike="noStrike" kern="1200" cap="none" spc="0" normalizeH="0" baseline="0" noProof="1">
                <a:solidFill>
                  <a:srgbClr val="0070C0"/>
                </a:solidFill>
                <a:effectLst>
                  <a:outerShdw blurRad="38100" dist="25400" dir="5400000" algn="ctr" rotWithShape="0">
                    <a:srgbClr val="6E747A">
                      <a:alpha val="43000"/>
                    </a:srgbClr>
                  </a:outerShdw>
                </a:effectLst>
                <a:uLnTx/>
                <a:uFillTx/>
                <a:latin typeface="+mn-lt"/>
                <a:ea typeface="+mn-ea"/>
                <a:cs typeface="+mn-cs"/>
              </a:rPr>
              <a:t>5</a:t>
            </a:r>
            <a:r>
              <a:rPr kumimoji="0" lang="zh-CN" altLang="en-US" sz="2000" b="1" i="0" u="none" strike="noStrike" kern="1200" cap="none" spc="0" normalizeH="0" baseline="0" noProof="1">
                <a:ln>
                  <a:noFill/>
                </a:ln>
                <a:solidFill>
                  <a:schemeClr val="tx1"/>
                </a:solidFill>
                <a:effectLst/>
                <a:uLnTx/>
                <a:uFillTx/>
                <a:latin typeface="+mn-lt"/>
                <a:ea typeface="+mn-ea"/>
                <a:cs typeface="+mn-cs"/>
              </a:rPr>
              <a:t>个时间单位扫描一轮驻留集（扫描时间忽略不计），本轮</a:t>
            </a:r>
            <a:r>
              <a:rPr kumimoji="0" lang="zh-CN" altLang="en-US" sz="2000" b="1" i="0" u="none" strike="noStrike" kern="1200" cap="none" spc="0" normalizeH="0" baseline="0" noProof="1">
                <a:ln>
                  <a:noFill/>
                </a:ln>
                <a:solidFill>
                  <a:srgbClr val="FF0000"/>
                </a:solidFill>
                <a:effectLst/>
                <a:uLnTx/>
                <a:uFillTx/>
                <a:latin typeface="+mn-lt"/>
                <a:ea typeface="+mn-ea"/>
                <a:cs typeface="+mn-cs"/>
              </a:rPr>
              <a:t>没有访问过的页框（内存块）</a:t>
            </a:r>
            <a:r>
              <a:rPr kumimoji="0" lang="zh-CN" altLang="en-US" sz="2000" b="1" i="0" u="none" strike="noStrike" kern="1200" cap="none" spc="0" normalizeH="0" baseline="0" noProof="1">
                <a:ln>
                  <a:noFill/>
                </a:ln>
                <a:solidFill>
                  <a:schemeClr val="tx1"/>
                </a:solidFill>
                <a:effectLst/>
                <a:uLnTx/>
                <a:uFillTx/>
                <a:latin typeface="+mn-lt"/>
                <a:ea typeface="+mn-ea"/>
                <a:cs typeface="+mn-cs"/>
              </a:rPr>
              <a:t>将被系统回收，并放入到空闲页框链尾，其内容在下一次被分配之前不被清空。当发生</a:t>
            </a:r>
            <a:r>
              <a:rPr kumimoji="0" lang="zh-CN" altLang="en-US" sz="2000" b="1" i="0" u="none" strike="noStrike" kern="1200" cap="none" spc="0" normalizeH="0" baseline="0" noProof="1">
                <a:ln>
                  <a:noFill/>
                </a:ln>
                <a:solidFill>
                  <a:srgbClr val="FF0000"/>
                </a:solidFill>
                <a:effectLst/>
                <a:uLnTx/>
                <a:uFillTx/>
                <a:latin typeface="+mn-lt"/>
                <a:ea typeface="+mn-ea"/>
                <a:cs typeface="+mn-cs"/>
              </a:rPr>
              <a:t>缺页时</a:t>
            </a:r>
            <a:r>
              <a:rPr kumimoji="0" lang="zh-CN" altLang="en-US" sz="2000" b="1" i="0" u="none" strike="noStrike" kern="1200" cap="none" spc="0" normalizeH="0" baseline="0" noProof="1">
                <a:ln>
                  <a:noFill/>
                </a:ln>
                <a:solidFill>
                  <a:schemeClr val="tx1"/>
                </a:solidFill>
                <a:effectLst/>
                <a:uLnTx/>
                <a:uFillTx/>
                <a:latin typeface="+mn-lt"/>
                <a:ea typeface="+mn-ea"/>
                <a:cs typeface="+mn-cs"/>
              </a:rPr>
              <a:t>，若该页曾被使用过且还在空闲页框链表中，则</a:t>
            </a:r>
            <a:r>
              <a:rPr kumimoji="0" lang="zh-CN" altLang="en-US" sz="2000" b="1" i="0" u="none" strike="noStrike" kern="1200" cap="none" spc="0" normalizeH="0" baseline="0" noProof="1">
                <a:ln>
                  <a:noFill/>
                </a:ln>
                <a:solidFill>
                  <a:srgbClr val="FF0000"/>
                </a:solidFill>
                <a:effectLst/>
                <a:uLnTx/>
                <a:uFillTx/>
                <a:latin typeface="+mn-lt"/>
                <a:ea typeface="+mn-ea"/>
                <a:cs typeface="+mn-cs"/>
              </a:rPr>
              <a:t>重新放回进程的驻留集中</a:t>
            </a:r>
            <a:r>
              <a:rPr kumimoji="0" lang="zh-CN" altLang="en-US" sz="2000" b="1" i="0" u="none" strike="noStrike" kern="1200" cap="none" spc="0" normalizeH="0" baseline="0" noProof="1">
                <a:ln>
                  <a:noFill/>
                </a:ln>
                <a:solidFill>
                  <a:schemeClr val="tx1"/>
                </a:solidFill>
                <a:effectLst/>
                <a:uLnTx/>
                <a:uFillTx/>
                <a:latin typeface="+mn-lt"/>
                <a:ea typeface="+mn-ea"/>
                <a:cs typeface="+mn-cs"/>
              </a:rPr>
              <a:t>；否则从空闲页框链表头部取出一个页框分配。</a:t>
            </a:r>
            <a:endParaRPr kumimoji="0" lang="en-US" altLang="zh-CN" sz="20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假设不考虑其他进程的影响和系统开销，初始时进程驻留集为空。目前系统空闲页框链表中页框号依次为</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32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15</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41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。进程</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P</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依次访问的</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虚拟页号，访问时刻</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是</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&lt;1,1&gt;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&lt;3,2&gt;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&lt;0,4&gt;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&lt;0,6&gt;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&lt;1,11&gt;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&lt;0,13&gt;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&lt;2,14&gt;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，请回答下列问题。</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）访问</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a:t>
            </a:r>
            <a:r>
              <a:rPr kumimoji="0" lang="en-US" altLang="zh-CN" sz="2000" b="1" i="0" u="none" strike="noStrike" kern="1200" cap="none" spc="0" normalizeH="0" baseline="0" noProof="0" dirty="0">
                <a:ln>
                  <a:noFill/>
                </a:ln>
                <a:solidFill>
                  <a:srgbClr val="0070C0"/>
                </a:solidFill>
                <a:effectLst/>
                <a:uLnTx/>
                <a:uFillTx/>
                <a:latin typeface="+mn-lt"/>
                <a:ea typeface="+mn-ea"/>
                <a:cs typeface="+mn-cs"/>
              </a:rPr>
              <a:t>0</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,4&gt;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时，对应的页框号是什么？</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）访问</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a:t>
            </a:r>
            <a:r>
              <a:rPr kumimoji="0" lang="en-US" altLang="zh-CN" sz="2000" b="1" i="0" u="none" strike="noStrike" kern="1200" cap="none" spc="0" normalizeH="0" baseline="0" noProof="0" dirty="0">
                <a:ln>
                  <a:noFill/>
                </a:ln>
                <a:solidFill>
                  <a:srgbClr val="0070C0"/>
                </a:solidFill>
                <a:effectLst/>
                <a:uLnTx/>
                <a:uFillTx/>
                <a:latin typeface="+mn-lt"/>
                <a:ea typeface="+mn-ea"/>
                <a:cs typeface="+mn-cs"/>
              </a:rPr>
              <a:t>1</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,11&gt;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时，对应的页框号是什么？说明理由。</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）访问</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&lt;2,14&gt;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时，对应的页框号是什么？说明理由。</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90000"/>
              </a:lnSpc>
              <a:spcBef>
                <a:spcPct val="20000"/>
              </a:spcBef>
              <a:spcAft>
                <a:spcPct val="0"/>
              </a:spcAft>
              <a:buClrTx/>
              <a:buSzTx/>
              <a:buFontTx/>
              <a:buChar char="•"/>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4</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）该策略是否适合于时间局部性好的程序？说明理由。</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3" name="矩形 1"/>
          <p:cNvSpPr/>
          <p:nvPr/>
        </p:nvSpPr>
        <p:spPr>
          <a:xfrm>
            <a:off x="2514600" y="5093653"/>
            <a:ext cx="533400" cy="533400"/>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solidFill>
                <a:srgbClr val="000000"/>
              </a:solidFill>
            </a:endParaRPr>
          </a:p>
        </p:txBody>
      </p:sp>
      <p:sp>
        <p:nvSpPr>
          <p:cNvPr id="92164" name="文本框 2"/>
          <p:cNvSpPr txBox="1"/>
          <p:nvPr/>
        </p:nvSpPr>
        <p:spPr>
          <a:xfrm>
            <a:off x="381000" y="5080953"/>
            <a:ext cx="20574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zh-CN" altLang="en-US" sz="2400" b="1" dirty="0">
                <a:solidFill>
                  <a:srgbClr val="000000"/>
                </a:solidFill>
              </a:rPr>
              <a:t>空闲页框链表</a:t>
            </a:r>
            <a:endParaRPr lang="zh-CN" altLang="en-US" sz="2400" b="1" dirty="0">
              <a:solidFill>
                <a:srgbClr val="000000"/>
              </a:solidFill>
            </a:endParaRPr>
          </a:p>
        </p:txBody>
      </p:sp>
      <p:sp>
        <p:nvSpPr>
          <p:cNvPr id="5" name="矩形 4"/>
          <p:cNvSpPr/>
          <p:nvPr/>
        </p:nvSpPr>
        <p:spPr>
          <a:xfrm>
            <a:off x="3248025" y="5106353"/>
            <a:ext cx="533400" cy="508000"/>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solidFill>
                <a:srgbClr val="000000"/>
              </a:solidFill>
            </a:endParaRPr>
          </a:p>
        </p:txBody>
      </p:sp>
      <p:sp>
        <p:nvSpPr>
          <p:cNvPr id="6" name="矩形 5"/>
          <p:cNvSpPr/>
          <p:nvPr/>
        </p:nvSpPr>
        <p:spPr>
          <a:xfrm>
            <a:off x="4005263" y="5080953"/>
            <a:ext cx="533400" cy="533400"/>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solidFill>
                <a:srgbClr val="000000"/>
              </a:solidFill>
            </a:endParaRPr>
          </a:p>
        </p:txBody>
      </p:sp>
      <p:sp>
        <p:nvSpPr>
          <p:cNvPr id="7" name="减号 6"/>
          <p:cNvSpPr/>
          <p:nvPr/>
        </p:nvSpPr>
        <p:spPr bwMode="auto">
          <a:xfrm>
            <a:off x="3014663" y="5301615"/>
            <a:ext cx="261938" cy="84138"/>
          </a:xfrm>
          <a:prstGeom prst="mathMinus">
            <a:avLst/>
          </a:prstGeom>
          <a:solidFill>
            <a:schemeClr val="accent1"/>
          </a:solidFill>
          <a:ln w="9525" cap="flat" cmpd="sng" algn="ctr">
            <a:solidFill>
              <a:schemeClr val="tx1"/>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
        <p:nvSpPr>
          <p:cNvPr id="8" name="减号 7"/>
          <p:cNvSpPr/>
          <p:nvPr/>
        </p:nvSpPr>
        <p:spPr bwMode="auto">
          <a:xfrm>
            <a:off x="3762375" y="5288915"/>
            <a:ext cx="261938" cy="84138"/>
          </a:xfrm>
          <a:prstGeom prst="mathMinus">
            <a:avLst/>
          </a:prstGeom>
          <a:solidFill>
            <a:schemeClr val="accent1"/>
          </a:solidFill>
          <a:ln w="9525" cap="flat" cmpd="sng" algn="ctr">
            <a:solidFill>
              <a:schemeClr val="tx1"/>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sp>
        <p:nvSpPr>
          <p:cNvPr id="9" name="文本框 7"/>
          <p:cNvSpPr txBox="1"/>
          <p:nvPr/>
        </p:nvSpPr>
        <p:spPr>
          <a:xfrm>
            <a:off x="2528888" y="4711065"/>
            <a:ext cx="2009775"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32      15      21</a:t>
            </a:r>
            <a:endParaRPr lang="zh-CN" altLang="en-US" sz="2000" dirty="0">
              <a:solidFill>
                <a:srgbClr val="000000"/>
              </a:solidFill>
            </a:endParaRPr>
          </a:p>
        </p:txBody>
      </p:sp>
      <p:sp>
        <p:nvSpPr>
          <p:cNvPr id="10" name="文本框 14"/>
          <p:cNvSpPr txBox="1"/>
          <p:nvPr/>
        </p:nvSpPr>
        <p:spPr>
          <a:xfrm>
            <a:off x="2557463" y="5214303"/>
            <a:ext cx="19621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FF0000"/>
                </a:solidFill>
              </a:rPr>
              <a:t> 1        3        0     </a:t>
            </a:r>
            <a:endParaRPr lang="zh-CN" altLang="en-US" sz="2000" dirty="0">
              <a:solidFill>
                <a:srgbClr val="FF0000"/>
              </a:solidFill>
            </a:endParaRPr>
          </a:p>
        </p:txBody>
      </p:sp>
      <p:grpSp>
        <p:nvGrpSpPr>
          <p:cNvPr id="11" name="组合 10"/>
          <p:cNvGrpSpPr/>
          <p:nvPr/>
        </p:nvGrpSpPr>
        <p:grpSpPr>
          <a:xfrm>
            <a:off x="2952750" y="4753928"/>
            <a:ext cx="838200" cy="879475"/>
            <a:chOff x="3048000" y="2438400"/>
            <a:chExt cx="838200" cy="879475"/>
          </a:xfrm>
        </p:grpSpPr>
        <p:sp>
          <p:nvSpPr>
            <p:cNvPr id="92186" name="矩形 19"/>
            <p:cNvSpPr/>
            <p:nvPr/>
          </p:nvSpPr>
          <p:spPr>
            <a:xfrm>
              <a:off x="3276600" y="2781300"/>
              <a:ext cx="566738" cy="536575"/>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solidFill>
                  <a:srgbClr val="000000"/>
                </a:solidFill>
              </a:endParaRPr>
            </a:p>
          </p:txBody>
        </p:sp>
        <p:sp>
          <p:nvSpPr>
            <p:cNvPr id="92187" name="文本框 20"/>
            <p:cNvSpPr txBox="1"/>
            <p:nvPr/>
          </p:nvSpPr>
          <p:spPr>
            <a:xfrm>
              <a:off x="3328988" y="2438400"/>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32</a:t>
              </a:r>
              <a:endParaRPr lang="zh-CN" altLang="en-US" sz="2000" dirty="0">
                <a:solidFill>
                  <a:srgbClr val="000000"/>
                </a:solidFill>
              </a:endParaRPr>
            </a:p>
          </p:txBody>
        </p:sp>
        <p:sp>
          <p:nvSpPr>
            <p:cNvPr id="92188" name="文本框 21"/>
            <p:cNvSpPr txBox="1"/>
            <p:nvPr/>
          </p:nvSpPr>
          <p:spPr>
            <a:xfrm>
              <a:off x="3352800" y="2876550"/>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 1</a:t>
              </a:r>
              <a:endParaRPr lang="zh-CN" altLang="en-US" sz="2000" dirty="0">
                <a:solidFill>
                  <a:srgbClr val="000000"/>
                </a:solidFill>
              </a:endParaRPr>
            </a:p>
          </p:txBody>
        </p:sp>
        <p:sp>
          <p:nvSpPr>
            <p:cNvPr id="15" name="减号 14"/>
            <p:cNvSpPr/>
            <p:nvPr/>
          </p:nvSpPr>
          <p:spPr bwMode="auto">
            <a:xfrm>
              <a:off x="3048000" y="2971800"/>
              <a:ext cx="261938" cy="84137"/>
            </a:xfrm>
            <a:prstGeom prst="mathMinus">
              <a:avLst/>
            </a:prstGeom>
            <a:solidFill>
              <a:schemeClr val="accent1"/>
            </a:solidFill>
            <a:ln w="9525" cap="flat" cmpd="sng" algn="ctr">
              <a:solidFill>
                <a:schemeClr val="tx1"/>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grpSp>
      <p:grpSp>
        <p:nvGrpSpPr>
          <p:cNvPr id="16" name="组合 15"/>
          <p:cNvGrpSpPr/>
          <p:nvPr/>
        </p:nvGrpSpPr>
        <p:grpSpPr>
          <a:xfrm>
            <a:off x="3714750" y="4739640"/>
            <a:ext cx="838200" cy="879475"/>
            <a:chOff x="3810020" y="2438426"/>
            <a:chExt cx="838200" cy="879475"/>
          </a:xfrm>
        </p:grpSpPr>
        <p:sp>
          <p:nvSpPr>
            <p:cNvPr id="92182" name="矩形 19"/>
            <p:cNvSpPr/>
            <p:nvPr/>
          </p:nvSpPr>
          <p:spPr>
            <a:xfrm>
              <a:off x="4038620" y="2781326"/>
              <a:ext cx="566738" cy="536575"/>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solidFill>
                  <a:srgbClr val="000000"/>
                </a:solidFill>
              </a:endParaRPr>
            </a:p>
          </p:txBody>
        </p:sp>
        <p:sp>
          <p:nvSpPr>
            <p:cNvPr id="92183" name="文本框 20"/>
            <p:cNvSpPr txBox="1"/>
            <p:nvPr/>
          </p:nvSpPr>
          <p:spPr>
            <a:xfrm>
              <a:off x="4091008" y="2438426"/>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15</a:t>
              </a:r>
              <a:endParaRPr lang="zh-CN" altLang="en-US" sz="2000" dirty="0">
                <a:solidFill>
                  <a:srgbClr val="000000"/>
                </a:solidFill>
              </a:endParaRPr>
            </a:p>
          </p:txBody>
        </p:sp>
        <p:sp>
          <p:nvSpPr>
            <p:cNvPr id="92184" name="文本框 21"/>
            <p:cNvSpPr txBox="1"/>
            <p:nvPr/>
          </p:nvSpPr>
          <p:spPr>
            <a:xfrm>
              <a:off x="4114820" y="2876576"/>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3</a:t>
              </a:r>
              <a:endParaRPr lang="zh-CN" altLang="en-US" sz="2000" dirty="0">
                <a:solidFill>
                  <a:srgbClr val="000000"/>
                </a:solidFill>
              </a:endParaRPr>
            </a:p>
          </p:txBody>
        </p:sp>
        <p:sp>
          <p:nvSpPr>
            <p:cNvPr id="20" name="减号 19"/>
            <p:cNvSpPr/>
            <p:nvPr/>
          </p:nvSpPr>
          <p:spPr bwMode="auto">
            <a:xfrm>
              <a:off x="3810020" y="2971826"/>
              <a:ext cx="261938" cy="84138"/>
            </a:xfrm>
            <a:prstGeom prst="mathMinus">
              <a:avLst/>
            </a:prstGeom>
            <a:solidFill>
              <a:schemeClr val="accent1"/>
            </a:solidFill>
            <a:ln w="9525" cap="flat" cmpd="sng" algn="ctr">
              <a:solidFill>
                <a:schemeClr val="tx1"/>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grpSp>
      <p:sp>
        <p:nvSpPr>
          <p:cNvPr id="21" name="文本框 17"/>
          <p:cNvSpPr txBox="1"/>
          <p:nvPr/>
        </p:nvSpPr>
        <p:spPr>
          <a:xfrm>
            <a:off x="381000" y="6248400"/>
            <a:ext cx="20574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zh-CN" altLang="en-US" sz="2400" b="1" dirty="0">
                <a:solidFill>
                  <a:srgbClr val="000000"/>
                </a:solidFill>
              </a:rPr>
              <a:t>空闲页框链表</a:t>
            </a:r>
            <a:endParaRPr lang="zh-CN" altLang="en-US" sz="2400" b="1" dirty="0">
              <a:solidFill>
                <a:srgbClr val="000000"/>
              </a:solidFill>
            </a:endParaRPr>
          </a:p>
        </p:txBody>
      </p:sp>
      <p:sp>
        <p:nvSpPr>
          <p:cNvPr id="22" name="矩形 19"/>
          <p:cNvSpPr/>
          <p:nvPr/>
        </p:nvSpPr>
        <p:spPr>
          <a:xfrm>
            <a:off x="2514600" y="6210300"/>
            <a:ext cx="566738" cy="536575"/>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solidFill>
                <a:srgbClr val="000000"/>
              </a:solidFill>
            </a:endParaRPr>
          </a:p>
        </p:txBody>
      </p:sp>
      <p:sp>
        <p:nvSpPr>
          <p:cNvPr id="23" name="文本框 20"/>
          <p:cNvSpPr txBox="1"/>
          <p:nvPr/>
        </p:nvSpPr>
        <p:spPr>
          <a:xfrm>
            <a:off x="2566988" y="5867400"/>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15</a:t>
            </a:r>
            <a:endParaRPr lang="zh-CN" altLang="en-US" sz="2000" dirty="0">
              <a:solidFill>
                <a:srgbClr val="000000"/>
              </a:solidFill>
            </a:endParaRPr>
          </a:p>
        </p:txBody>
      </p:sp>
      <p:sp>
        <p:nvSpPr>
          <p:cNvPr id="24" name="文本框 21"/>
          <p:cNvSpPr txBox="1"/>
          <p:nvPr/>
        </p:nvSpPr>
        <p:spPr>
          <a:xfrm>
            <a:off x="2590800" y="6305550"/>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 3</a:t>
            </a:r>
            <a:endParaRPr lang="zh-CN" altLang="en-US" sz="2000" dirty="0">
              <a:solidFill>
                <a:srgbClr val="000000"/>
              </a:solidFill>
            </a:endParaRPr>
          </a:p>
        </p:txBody>
      </p:sp>
      <p:sp>
        <p:nvSpPr>
          <p:cNvPr id="25" name="减号 24"/>
          <p:cNvSpPr/>
          <p:nvPr/>
        </p:nvSpPr>
        <p:spPr bwMode="auto">
          <a:xfrm>
            <a:off x="4519613" y="5303203"/>
            <a:ext cx="261938" cy="82550"/>
          </a:xfrm>
          <a:prstGeom prst="mathMinus">
            <a:avLst/>
          </a:prstGeom>
          <a:solidFill>
            <a:schemeClr val="accent1"/>
          </a:solidFill>
          <a:ln w="9525" cap="flat" cmpd="sng" algn="ctr">
            <a:solidFill>
              <a:schemeClr val="tx1"/>
            </a:solidFill>
            <a:prstDash val="solid"/>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cs typeface="+mn-cs"/>
            </a:endParaRPr>
          </a:p>
        </p:txBody>
      </p:sp>
      <p:grpSp>
        <p:nvGrpSpPr>
          <p:cNvPr id="26" name="组合 25"/>
          <p:cNvGrpSpPr/>
          <p:nvPr/>
        </p:nvGrpSpPr>
        <p:grpSpPr>
          <a:xfrm>
            <a:off x="4762500" y="4733290"/>
            <a:ext cx="552450" cy="893763"/>
            <a:chOff x="5010124" y="783501"/>
            <a:chExt cx="552450" cy="894556"/>
          </a:xfrm>
        </p:grpSpPr>
        <p:sp>
          <p:nvSpPr>
            <p:cNvPr id="92180" name="矩形 11"/>
            <p:cNvSpPr/>
            <p:nvPr/>
          </p:nvSpPr>
          <p:spPr>
            <a:xfrm>
              <a:off x="5010124" y="1144657"/>
              <a:ext cx="533400" cy="533400"/>
            </a:xfrm>
            <a:prstGeom prst="rect">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eaLnBrk="1" hangingPunct="1">
                <a:spcBef>
                  <a:spcPct val="0"/>
                </a:spcBef>
                <a:buNone/>
              </a:pPr>
              <a:endParaRPr lang="zh-CN" altLang="en-US" sz="1800" dirty="0">
                <a:solidFill>
                  <a:srgbClr val="000000"/>
                </a:solidFill>
              </a:endParaRPr>
            </a:p>
          </p:txBody>
        </p:sp>
        <p:sp>
          <p:nvSpPr>
            <p:cNvPr id="92181" name="文本框 16"/>
            <p:cNvSpPr txBox="1"/>
            <p:nvPr/>
          </p:nvSpPr>
          <p:spPr>
            <a:xfrm>
              <a:off x="5029174" y="783501"/>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41</a:t>
              </a:r>
              <a:endParaRPr lang="zh-CN" altLang="en-US" sz="2000" dirty="0">
                <a:solidFill>
                  <a:srgbClr val="000000"/>
                </a:solidFill>
              </a:endParaRPr>
            </a:p>
          </p:txBody>
        </p:sp>
      </p:grpSp>
      <p:sp>
        <p:nvSpPr>
          <p:cNvPr id="29" name="文本框 21"/>
          <p:cNvSpPr txBox="1"/>
          <p:nvPr/>
        </p:nvSpPr>
        <p:spPr>
          <a:xfrm>
            <a:off x="2495550" y="5168265"/>
            <a:ext cx="53340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2000" dirty="0">
                <a:solidFill>
                  <a:srgbClr val="000000"/>
                </a:solidFill>
              </a:rPr>
              <a:t> </a:t>
            </a:r>
            <a:r>
              <a:rPr lang="en-US" altLang="zh-CN" sz="2000" dirty="0">
                <a:solidFill>
                  <a:srgbClr val="FF0000"/>
                </a:solidFill>
              </a:rPr>
              <a:t>2</a:t>
            </a:r>
            <a:endParaRPr lang="zh-CN" altLang="en-US" sz="2000" dirty="0">
              <a:solidFill>
                <a:srgbClr val="FF0000"/>
              </a:solidFill>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1" nodeType="clickEffect">
                                  <p:stCondLst>
                                    <p:cond delay="0"/>
                                  </p:stCondLst>
                                  <p:childTnLst>
                                    <p:animEffect transition="out" filter="wipe(left)">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par>
                                <p:cTn id="13" presetID="22" presetClass="exit" presetSubtype="8" fill="hold" grpId="0" nodeType="withEffect">
                                  <p:stCondLst>
                                    <p:cond delay="0"/>
                                  </p:stCondLst>
                                  <p:childTnLst>
                                    <p:animEffect transition="out" filter="wipe(left)">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par>
                                <p:cTn id="16" presetID="22" presetClass="exit" presetSubtype="8" fill="hold" grpId="0" nodeType="withEffect">
                                  <p:stCondLst>
                                    <p:cond delay="0"/>
                                  </p:stCondLst>
                                  <p:childTnLst>
                                    <p:animEffect transition="out" filter="wipe(left)">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par>
                                <p:cTn id="19" presetID="22" presetClass="exit" presetSubtype="8" fill="hold" grpId="0" nodeType="withEffect">
                                  <p:stCondLst>
                                    <p:cond delay="0"/>
                                  </p:stCondLst>
                                  <p:childTnLst>
                                    <p:animEffect transition="out" filter="wipe(left)">
                                      <p:cBhvr>
                                        <p:cTn id="20" dur="500"/>
                                        <p:tgtEl>
                                          <p:spTgt spid="6"/>
                                        </p:tgtEl>
                                      </p:cBhvr>
                                    </p:animEffect>
                                    <p:set>
                                      <p:cBhvr>
                                        <p:cTn id="21" dur="1" fill="hold">
                                          <p:stCondLst>
                                            <p:cond delay="499"/>
                                          </p:stCondLst>
                                        </p:cTn>
                                        <p:tgtEl>
                                          <p:spTgt spid="6"/>
                                        </p:tgtEl>
                                        <p:attrNameLst>
                                          <p:attrName>style.visibility</p:attrName>
                                        </p:attrNameLst>
                                      </p:cBhvr>
                                      <p:to>
                                        <p:strVal val="hidden"/>
                                      </p:to>
                                    </p:set>
                                  </p:childTnLst>
                                </p:cTn>
                              </p:par>
                              <p:par>
                                <p:cTn id="22" presetID="22" presetClass="exit" presetSubtype="8" fill="hold" nodeType="withEffect">
                                  <p:stCondLst>
                                    <p:cond delay="0"/>
                                  </p:stCondLst>
                                  <p:childTnLst>
                                    <p:animEffect transition="out" filter="wipe(left)">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par>
                                <p:cTn id="25" presetID="22" presetClass="exit" presetSubtype="8" fill="hold" nodeType="withEffect">
                                  <p:stCondLst>
                                    <p:cond delay="0"/>
                                  </p:stCondLst>
                                  <p:childTnLst>
                                    <p:animEffect transition="out" filter="wipe(left)">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par>
                                <p:cTn id="28" presetID="22" presetClass="exit" presetSubtype="8" fill="hold" grpId="0" nodeType="withEffect">
                                  <p:stCondLst>
                                    <p:cond delay="0"/>
                                  </p:stCondLst>
                                  <p:childTnLst>
                                    <p:animEffect transition="out" filter="wipe(left)">
                                      <p:cBhvr>
                                        <p:cTn id="29" dur="500"/>
                                        <p:tgtEl>
                                          <p:spTgt spid="9"/>
                                        </p:tgtEl>
                                      </p:cBhvr>
                                    </p:animEffect>
                                    <p:set>
                                      <p:cBhvr>
                                        <p:cTn id="30" dur="1" fill="hold">
                                          <p:stCondLst>
                                            <p:cond delay="499"/>
                                          </p:stCondLst>
                                        </p:cTn>
                                        <p:tgtEl>
                                          <p:spTgt spid="9"/>
                                        </p:tgtEl>
                                        <p:attrNameLst>
                                          <p:attrName>style.visibility</p:attrName>
                                        </p:attrNameLst>
                                      </p:cBhvr>
                                      <p:to>
                                        <p:strVal val="hidden"/>
                                      </p:to>
                                    </p:set>
                                  </p:childTnLst>
                                </p:cTn>
                              </p:par>
                              <p:par>
                                <p:cTn id="31" presetID="22" presetClass="exit" presetSubtype="8" fill="hold" nodeType="withEffect">
                                  <p:stCondLst>
                                    <p:cond delay="0"/>
                                  </p:stCondLst>
                                  <p:childTnLst>
                                    <p:animEffect transition="out" filter="wipe(left)">
                                      <p:cBhvr>
                                        <p:cTn id="32" dur="500"/>
                                        <p:tgtEl>
                                          <p:spTgt spid="25"/>
                                        </p:tgtEl>
                                      </p:cBhvr>
                                    </p:animEffect>
                                    <p:set>
                                      <p:cBhvr>
                                        <p:cTn id="33" dur="1" fill="hold">
                                          <p:stCondLst>
                                            <p:cond delay="499"/>
                                          </p:stCondLst>
                                        </p:cTn>
                                        <p:tgtEl>
                                          <p:spTgt spid="25"/>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35" presetClass="path" presetSubtype="0" accel="50000" decel="50000" fill="hold" nodeType="clickEffect">
                                  <p:stCondLst>
                                    <p:cond delay="0"/>
                                  </p:stCondLst>
                                  <p:childTnLst>
                                    <p:animMotion origin="layout" path="M -1.66667E-6 -2.59259E-6 L -0.25 -2.59259E-6 " pathEditMode="relative" rAng="0" ptsTypes="AA">
                                      <p:cBhvr>
                                        <p:cTn id="37" dur="2000" fill="hold"/>
                                        <p:tgtEl>
                                          <p:spTgt spid="26"/>
                                        </p:tgtEl>
                                        <p:attrNameLst>
                                          <p:attrName>ppt_x</p:attrName>
                                          <p:attrName>ppt_y</p:attrName>
                                        </p:attrNameLst>
                                      </p:cBhvr>
                                      <p:rCtr x="-12500" y="0"/>
                                    </p:animMotion>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nodeType="clickEffect">
                                  <p:stCondLst>
                                    <p:cond delay="0"/>
                                  </p:stCondLst>
                                  <p:childTnLst>
                                    <p:animEffect transition="out" filter="fade">
                                      <p:cBhvr>
                                        <p:cTn id="51" dur="500"/>
                                        <p:tgtEl>
                                          <p:spTgt spid="11"/>
                                        </p:tgtEl>
                                      </p:cBhvr>
                                    </p:animEffect>
                                    <p:set>
                                      <p:cBhvr>
                                        <p:cTn id="52" dur="1" fill="hold">
                                          <p:stCondLst>
                                            <p:cond delay="499"/>
                                          </p:stCondLst>
                                        </p:cTn>
                                        <p:tgtEl>
                                          <p:spTgt spid="1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5" presetClass="path" presetSubtype="0" accel="50000" decel="50000" fill="hold" nodeType="clickEffect">
                                  <p:stCondLst>
                                    <p:cond delay="0"/>
                                  </p:stCondLst>
                                  <p:childTnLst>
                                    <p:animMotion origin="layout" path="M -3.33333E-6 -2.59259E-6 L -0.08541 0.00301 " pathEditMode="relative" rAng="0" ptsTypes="AA">
                                      <p:cBhvr>
                                        <p:cTn id="56" dur="2000" fill="hold"/>
                                        <p:tgtEl>
                                          <p:spTgt spid="16"/>
                                        </p:tgtEl>
                                        <p:attrNameLst>
                                          <p:attrName>ppt_x</p:attrName>
                                          <p:attrName>ppt_y</p:attrName>
                                        </p:attrNameLst>
                                      </p:cBhvr>
                                      <p:rCtr x="-4300" y="100"/>
                                    </p:animMotion>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9" grpId="0"/>
      <p:bldP spid="10" grpId="0"/>
      <p:bldP spid="10" grpId="1"/>
      <p:bldP spid="21" grpId="0"/>
      <p:bldP spid="22" grpId="0" bldLvl="0" animBg="1"/>
      <p:bldP spid="23" grpId="0"/>
      <p:bldP spid="24" grpId="0"/>
      <p:bldP spid="29"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文本占位符 21506"/>
          <p:cNvSpPr>
            <a:spLocks noGrp="1"/>
          </p:cNvSpPr>
          <p:nvPr>
            <p:ph idx="1"/>
          </p:nvPr>
        </p:nvSpPr>
        <p:spPr>
          <a:xfrm>
            <a:off x="304800" y="533400"/>
            <a:ext cx="8497888" cy="5446713"/>
          </a:xfrm>
        </p:spPr>
        <p:txBody>
          <a:bodyPr vert="horz" wrap="square" lIns="91440" tIns="45720" rIns="91440" bIns="45720" anchor="t" anchorCtr="0"/>
          <a:lstStyle/>
          <a:p>
            <a:pPr>
              <a:lnSpc>
                <a:spcPct val="90000"/>
              </a:lnSpc>
              <a:buNone/>
            </a:pPr>
            <a:r>
              <a:rPr lang="zh-CN" altLang="en-US" sz="2400" b="1" dirty="0">
                <a:solidFill>
                  <a:schemeClr val="tx1"/>
                </a:solidFill>
                <a:highlight>
                  <a:srgbClr val="FFFF00"/>
                </a:highlight>
                <a:sym typeface="+mn-ea"/>
              </a:rPr>
              <a:t>【参考答案】</a:t>
            </a:r>
            <a:endParaRPr lang="zh-CN" altLang="en-US" sz="2400" b="1" dirty="0">
              <a:solidFill>
                <a:schemeClr val="tx1"/>
              </a:solidFill>
              <a:highlight>
                <a:srgbClr val="FFFF00"/>
              </a:highlight>
              <a:latin typeface="+mn-lt"/>
              <a:ea typeface="+mn-ea"/>
            </a:endParaRPr>
          </a:p>
          <a:p>
            <a:pPr>
              <a:lnSpc>
                <a:spcPct val="90000"/>
              </a:lnSpc>
              <a:buNone/>
            </a:pPr>
            <a:r>
              <a:rPr lang="zh-CN" altLang="en-US" sz="2400" b="1" dirty="0"/>
              <a:t>（</a:t>
            </a:r>
            <a:r>
              <a:rPr lang="en-US" altLang="zh-CN" sz="2400" b="1" dirty="0"/>
              <a:t>1</a:t>
            </a:r>
            <a:r>
              <a:rPr lang="zh-CN" altLang="en-US" sz="2400" b="1" dirty="0"/>
              <a:t>）页框号为</a:t>
            </a:r>
            <a:r>
              <a:rPr lang="en-US" altLang="zh-CN" sz="2400" b="1" dirty="0">
                <a:solidFill>
                  <a:srgbClr val="0070C0"/>
                </a:solidFill>
              </a:rPr>
              <a:t>21</a:t>
            </a:r>
            <a:r>
              <a:rPr lang="zh-CN" altLang="en-US" sz="2400" b="1" dirty="0"/>
              <a:t>。驻留集为空，</a:t>
            </a:r>
            <a:r>
              <a:rPr lang="en-US" altLang="zh-CN" sz="2400" b="1" dirty="0"/>
              <a:t>0</a:t>
            </a:r>
            <a:r>
              <a:rPr lang="zh-CN" altLang="en-US" sz="2400" b="1" dirty="0"/>
              <a:t>页对应页框为空闲页框链表中的第三个空闲页框</a:t>
            </a:r>
            <a:r>
              <a:rPr lang="en-US" altLang="zh-CN" sz="2400" b="1" dirty="0"/>
              <a:t>21</a:t>
            </a:r>
            <a:r>
              <a:rPr lang="zh-CN" altLang="en-US" sz="2400" b="1" dirty="0"/>
              <a:t>。</a:t>
            </a:r>
            <a:endParaRPr lang="zh-CN" altLang="en-US" sz="2400" b="1" dirty="0"/>
          </a:p>
          <a:p>
            <a:pPr>
              <a:lnSpc>
                <a:spcPct val="90000"/>
              </a:lnSpc>
              <a:buNone/>
            </a:pPr>
            <a:r>
              <a:rPr lang="zh-CN" altLang="en-US" sz="2400" b="1" dirty="0"/>
              <a:t>（</a:t>
            </a:r>
            <a:r>
              <a:rPr lang="en-US" altLang="zh-CN" sz="2400" b="1" dirty="0"/>
              <a:t>2</a:t>
            </a:r>
            <a:r>
              <a:rPr lang="zh-CN" altLang="en-US" sz="2400" b="1" dirty="0"/>
              <a:t>）页框号为</a:t>
            </a:r>
            <a:r>
              <a:rPr lang="en-US" altLang="zh-CN" sz="2400" b="1" dirty="0">
                <a:solidFill>
                  <a:srgbClr val="0070C0"/>
                </a:solidFill>
              </a:rPr>
              <a:t>32</a:t>
            </a:r>
            <a:r>
              <a:rPr lang="zh-CN" altLang="en-US" sz="2400" b="1" dirty="0"/>
              <a:t>。</a:t>
            </a:r>
            <a:r>
              <a:rPr lang="en-US" altLang="zh-CN" sz="2400" b="1" dirty="0"/>
              <a:t>11&gt;10</a:t>
            </a:r>
            <a:r>
              <a:rPr lang="zh-CN" altLang="en-US" sz="2400" b="1" dirty="0"/>
              <a:t>，发生第三轮扫描，页号为１的页框第二轮已处于空闲页框链表中，此刻被重新访问，被重新放回驻留集中，页框号为</a:t>
            </a:r>
            <a:r>
              <a:rPr lang="en-US" altLang="zh-CN" sz="2400" b="1" dirty="0">
                <a:solidFill>
                  <a:srgbClr val="120044"/>
                </a:solidFill>
              </a:rPr>
              <a:t>32</a:t>
            </a:r>
            <a:r>
              <a:rPr lang="zh-CN" altLang="en-US" sz="2400" b="1" dirty="0"/>
              <a:t>。</a:t>
            </a:r>
            <a:endParaRPr lang="zh-CN" altLang="en-US" sz="2400" b="1" dirty="0"/>
          </a:p>
          <a:p>
            <a:pPr>
              <a:lnSpc>
                <a:spcPct val="90000"/>
              </a:lnSpc>
              <a:buNone/>
            </a:pPr>
            <a:r>
              <a:rPr lang="zh-CN" altLang="en-US" sz="2400" b="1" dirty="0"/>
              <a:t>（</a:t>
            </a:r>
            <a:r>
              <a:rPr lang="en-US" altLang="zh-CN" sz="2400" b="1" dirty="0"/>
              <a:t>3</a:t>
            </a:r>
            <a:r>
              <a:rPr lang="zh-CN" altLang="en-US" sz="2400" b="1" dirty="0"/>
              <a:t>）页框号为</a:t>
            </a:r>
            <a:r>
              <a:rPr lang="en-US" altLang="zh-CN" sz="2400" b="1" dirty="0">
                <a:solidFill>
                  <a:srgbClr val="0070C0"/>
                </a:solidFill>
              </a:rPr>
              <a:t>41</a:t>
            </a:r>
            <a:r>
              <a:rPr lang="zh-CN" altLang="en-US" sz="2400" b="1" dirty="0"/>
              <a:t>。第二页从没被访问过，不在驻留集中，因此从空闲页框链表中取出链表头的页框</a:t>
            </a:r>
            <a:r>
              <a:rPr lang="en-US" altLang="zh-CN" sz="2400" b="1" dirty="0">
                <a:solidFill>
                  <a:srgbClr val="120044"/>
                </a:solidFill>
              </a:rPr>
              <a:t>41 </a:t>
            </a:r>
            <a:r>
              <a:rPr lang="zh-CN" altLang="en-US" sz="2400" b="1" dirty="0"/>
              <a:t>，页框号为</a:t>
            </a:r>
            <a:r>
              <a:rPr lang="en-US" altLang="zh-CN" sz="2400" b="1" dirty="0">
                <a:solidFill>
                  <a:srgbClr val="120044"/>
                </a:solidFill>
              </a:rPr>
              <a:t>41</a:t>
            </a:r>
            <a:r>
              <a:rPr lang="zh-CN" altLang="en-US" sz="2400" b="1" dirty="0"/>
              <a:t>。</a:t>
            </a:r>
            <a:endParaRPr lang="zh-CN" altLang="en-US" sz="2400" b="1" dirty="0"/>
          </a:p>
          <a:p>
            <a:pPr>
              <a:lnSpc>
                <a:spcPct val="90000"/>
              </a:lnSpc>
              <a:buNone/>
            </a:pPr>
            <a:r>
              <a:rPr lang="zh-CN" altLang="en-US" sz="2400" b="1" dirty="0"/>
              <a:t>（</a:t>
            </a:r>
            <a:r>
              <a:rPr lang="en-US" altLang="zh-CN" sz="2400" b="1" dirty="0"/>
              <a:t>4</a:t>
            </a:r>
            <a:r>
              <a:rPr lang="zh-CN" altLang="en-US" sz="2400" b="1" dirty="0"/>
              <a:t>）</a:t>
            </a:r>
            <a:r>
              <a:rPr lang="zh-CN" altLang="en-US" sz="2400" b="1" dirty="0">
                <a:solidFill>
                  <a:srgbClr val="0070C0"/>
                </a:solidFill>
              </a:rPr>
              <a:t>适合</a:t>
            </a:r>
            <a:r>
              <a:rPr lang="zh-CN" altLang="en-US" sz="2400" b="1" dirty="0"/>
              <a:t>。程序的时间局部性越好，从空闲页框链表中重新取回的机会越大，该策略优势越明显。</a:t>
            </a:r>
            <a:endParaRPr lang="zh-CN" altLang="en-US" sz="2400" b="1" dirty="0"/>
          </a:p>
        </p:txBody>
      </p:sp>
    </p:spTree>
  </p:cSld>
  <p:clrMapOvr>
    <a:masterClrMapping/>
  </p:clrMapOvr>
  <p:transition spd="slow">
    <p:pull dir="ru"/>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p:nvPr>
            <p:custDataLst>
              <p:tags r:id="rId1"/>
            </p:custDataLst>
          </p:nvPr>
        </p:nvGraphicFramePr>
        <p:xfrm>
          <a:off x="1979930" y="1699895"/>
          <a:ext cx="5057775" cy="885825"/>
        </p:xfrm>
        <a:graphic>
          <a:graphicData uri="http://schemas.openxmlformats.org/drawingml/2006/table">
            <a:tbl>
              <a:tblPr/>
              <a:tblGrid>
                <a:gridCol w="1685925"/>
                <a:gridCol w="1685925"/>
                <a:gridCol w="1685925"/>
              </a:tblGrid>
              <a:tr h="411480">
                <a:tc>
                  <a:txBody>
                    <a:bodyPr/>
                    <a:lstStyle/>
                    <a:p>
                      <a:pPr indent="0" algn="l" fontAlgn="auto">
                        <a:lnSpc>
                          <a:spcPct val="150000"/>
                        </a:lnSpc>
                        <a:spcBef>
                          <a:spcPct val="0"/>
                        </a:spcBef>
                        <a:spcAft>
                          <a:spcPct val="0"/>
                        </a:spcAft>
                      </a:pPr>
                      <a:r>
                        <a:rPr lang="en-US" altLang="zh-CN" sz="2000" b="1">
                          <a:latin typeface="Times New Roman" panose="02020603050405020304"/>
                          <a:ea typeface="宋体" panose="02010600030101010101" pitchFamily="2" charset="-122"/>
                        </a:rPr>
                        <a:t>10</a:t>
                      </a:r>
                      <a:r>
                        <a:rPr lang="zh-CN" sz="2000" b="1">
                          <a:latin typeface="宋体" panose="02010600030101010101" pitchFamily="2" charset="-122"/>
                          <a:ea typeface="宋体" panose="02010600030101010101" pitchFamily="2" charset="-122"/>
                        </a:rPr>
                        <a:t>位</a:t>
                      </a:r>
                      <a:endParaRPr lang="zh-CN" sz="20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c>
                  <a:txBody>
                    <a:bodyPr/>
                    <a:lstStyle/>
                    <a:p>
                      <a:pPr indent="0" algn="l" fontAlgn="auto">
                        <a:lnSpc>
                          <a:spcPct val="150000"/>
                        </a:lnSpc>
                        <a:spcBef>
                          <a:spcPct val="0"/>
                        </a:spcBef>
                        <a:spcAft>
                          <a:spcPct val="0"/>
                        </a:spcAft>
                      </a:pPr>
                      <a:r>
                        <a:rPr lang="en-US" altLang="zh-CN" sz="2000" b="1">
                          <a:latin typeface="Times New Roman" panose="02020603050405020304"/>
                          <a:ea typeface="宋体" panose="02010600030101010101" pitchFamily="2" charset="-122"/>
                        </a:rPr>
                        <a:t>10</a:t>
                      </a:r>
                      <a:r>
                        <a:rPr lang="zh-CN" sz="2000" b="1">
                          <a:latin typeface="宋体" panose="02010600030101010101" pitchFamily="2" charset="-122"/>
                          <a:ea typeface="宋体" panose="02010600030101010101" pitchFamily="2" charset="-122"/>
                        </a:rPr>
                        <a:t>位</a:t>
                      </a:r>
                      <a:endParaRPr lang="zh-CN" sz="20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c>
                  <a:txBody>
                    <a:bodyPr/>
                    <a:lstStyle/>
                    <a:p>
                      <a:pPr indent="0" algn="l" fontAlgn="auto">
                        <a:lnSpc>
                          <a:spcPct val="150000"/>
                        </a:lnSpc>
                        <a:spcBef>
                          <a:spcPct val="0"/>
                        </a:spcBef>
                        <a:spcAft>
                          <a:spcPct val="0"/>
                        </a:spcAft>
                      </a:pPr>
                      <a:r>
                        <a:rPr lang="en-US" altLang="zh-CN" sz="2000" b="1">
                          <a:latin typeface="Times New Roman" panose="02020603050405020304"/>
                          <a:ea typeface="宋体" panose="02010600030101010101" pitchFamily="2" charset="-122"/>
                        </a:rPr>
                        <a:t>12</a:t>
                      </a:r>
                      <a:r>
                        <a:rPr lang="zh-CN" sz="2000" b="1">
                          <a:latin typeface="宋体" panose="02010600030101010101" pitchFamily="2" charset="-122"/>
                          <a:ea typeface="宋体" panose="02010600030101010101" pitchFamily="2" charset="-122"/>
                        </a:rPr>
                        <a:t>位</a:t>
                      </a:r>
                      <a:endParaRPr lang="zh-CN" sz="20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r>
              <a:tr h="474345">
                <a:tc>
                  <a:txBody>
                    <a:bodyPr/>
                    <a:lstStyle/>
                    <a:p>
                      <a:pPr indent="0" algn="l" fontAlgn="auto">
                        <a:lnSpc>
                          <a:spcPct val="150000"/>
                        </a:lnSpc>
                        <a:spcBef>
                          <a:spcPct val="0"/>
                        </a:spcBef>
                        <a:spcAft>
                          <a:spcPct val="0"/>
                        </a:spcAft>
                      </a:pPr>
                      <a:r>
                        <a:rPr lang="zh-CN" sz="2000" b="1">
                          <a:latin typeface="宋体" panose="02010600030101010101" pitchFamily="2" charset="-122"/>
                          <a:ea typeface="宋体" panose="02010600030101010101" pitchFamily="2" charset="-122"/>
                        </a:rPr>
                        <a:t>页目录号</a:t>
                      </a:r>
                      <a:endParaRPr lang="zh-CN" sz="20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c>
                  <a:txBody>
                    <a:bodyPr/>
                    <a:lstStyle/>
                    <a:p>
                      <a:pPr indent="0" algn="l" fontAlgn="auto">
                        <a:lnSpc>
                          <a:spcPct val="150000"/>
                        </a:lnSpc>
                        <a:spcBef>
                          <a:spcPct val="0"/>
                        </a:spcBef>
                        <a:spcAft>
                          <a:spcPct val="0"/>
                        </a:spcAft>
                      </a:pPr>
                      <a:r>
                        <a:rPr lang="zh-CN" sz="2000" b="1">
                          <a:latin typeface="宋体" panose="02010600030101010101" pitchFamily="2" charset="-122"/>
                          <a:ea typeface="宋体" panose="02010600030101010101" pitchFamily="2" charset="-122"/>
                        </a:rPr>
                        <a:t>页表索引</a:t>
                      </a:r>
                      <a:endParaRPr lang="zh-CN" sz="20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c>
                  <a:txBody>
                    <a:bodyPr/>
                    <a:lstStyle/>
                    <a:p>
                      <a:pPr indent="0" algn="l" fontAlgn="auto">
                        <a:lnSpc>
                          <a:spcPct val="150000"/>
                        </a:lnSpc>
                        <a:spcBef>
                          <a:spcPct val="0"/>
                        </a:spcBef>
                        <a:spcAft>
                          <a:spcPct val="0"/>
                        </a:spcAft>
                      </a:pPr>
                      <a:r>
                        <a:rPr lang="zh-CN" sz="2000" b="1">
                          <a:latin typeface="宋体" panose="02010600030101010101" pitchFamily="2" charset="-122"/>
                          <a:ea typeface="宋体" panose="02010600030101010101" pitchFamily="2" charset="-122"/>
                        </a:rPr>
                        <a:t>页内偏移量</a:t>
                      </a:r>
                      <a:endParaRPr lang="zh-CN" sz="20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r>
            </a:tbl>
          </a:graphicData>
        </a:graphic>
      </p:graphicFrame>
      <p:sp>
        <p:nvSpPr>
          <p:cNvPr id="10" name="文本框 9"/>
          <p:cNvSpPr txBox="1"/>
          <p:nvPr/>
        </p:nvSpPr>
        <p:spPr>
          <a:xfrm>
            <a:off x="346075" y="2852420"/>
            <a:ext cx="8520430" cy="2905760"/>
          </a:xfrm>
          <a:prstGeom prst="rect">
            <a:avLst/>
          </a:prstGeom>
        </p:spPr>
        <p:txBody>
          <a:bodyPr>
            <a:noAutofit/>
          </a:bodyPr>
          <a:lstStyle/>
          <a:p>
            <a:pPr marL="457200"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rPr>
              <a:t>某C程序中数组a[1024][1024]的起始虚拟地址为1080 0000H ，数组元素占4字节，该程序运行时，其进程的页目录起始物理地址为0020 1000H，请回答下列问题：</a:t>
            </a:r>
            <a:endParaRPr lang="zh-CN" altLang="en-US" sz="2000" dirty="0">
              <a:solidFill>
                <a:schemeClr val="tx2"/>
              </a:solidFill>
              <a:latin typeface="+mn-lt"/>
              <a:ea typeface="+mn-ea"/>
            </a:endParaRPr>
          </a:p>
          <a:p>
            <a:pPr marL="457200"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rPr>
              <a:t>（1）数组元素a[1][2]的虚拟地址是什么？对应的页目录号和页号分别是什么？对应的页目录项的物理地址是什么？若该目录项中存放的页框号为00301H，则a[1][2]所在页对应的页表项的物理地址是什么？</a:t>
            </a:r>
            <a:endParaRPr lang="zh-CN" altLang="en-US" sz="2000" dirty="0">
              <a:solidFill>
                <a:schemeClr val="tx2"/>
              </a:solidFill>
              <a:latin typeface="+mn-lt"/>
              <a:ea typeface="+mn-ea"/>
            </a:endParaRPr>
          </a:p>
          <a:p>
            <a:pPr marL="457200"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rPr>
              <a:t>（2）数组a在虚拟地址空间中所占区域是否必须连续？在物理地址空间中所占区域是否必须连续？</a:t>
            </a:r>
            <a:endParaRPr lang="zh-CN" altLang="en-US" sz="2000" dirty="0">
              <a:solidFill>
                <a:schemeClr val="tx2"/>
              </a:solidFill>
              <a:latin typeface="+mn-lt"/>
              <a:ea typeface="+mn-ea"/>
            </a:endParaRPr>
          </a:p>
          <a:p>
            <a:pPr marL="457200"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rPr>
              <a:t>（3）已知数组a按行优先方式存放，若对数组a分别按行遍历和按列遍历，则哪一种遍历方式的局部性更好？</a:t>
            </a:r>
            <a:endParaRPr lang="zh-CN" altLang="en-US" sz="2000" dirty="0">
              <a:solidFill>
                <a:schemeClr val="tx2"/>
              </a:solidFill>
              <a:latin typeface="+mn-lt"/>
              <a:ea typeface="+mn-ea"/>
            </a:endParaRPr>
          </a:p>
        </p:txBody>
      </p:sp>
      <p:sp>
        <p:nvSpPr>
          <p:cNvPr id="11" name="Rectangle 2"/>
          <p:cNvSpPr>
            <a:spLocks noGrp="1"/>
          </p:cNvSpPr>
          <p:nvPr>
            <p:ph idx="1"/>
          </p:nvPr>
        </p:nvSpPr>
        <p:spPr>
          <a:xfrm>
            <a:off x="251460" y="404495"/>
            <a:ext cx="8510905" cy="886460"/>
          </a:xfrm>
        </p:spPr>
        <p:txBody>
          <a:bodyPr vert="horz" wrap="square" lIns="91440" tIns="45720" rIns="91440" bIns="45720" anchor="t" anchorCtr="0"/>
          <a:lstStyle/>
          <a:p>
            <a:pPr eaLnBrk="1" hangingPunct="1"/>
            <a:r>
              <a:rPr lang="zh-CN" altLang="en-US" sz="2800" b="1" dirty="0">
                <a:solidFill>
                  <a:schemeClr val="tx2"/>
                </a:solidFill>
                <a:highlight>
                  <a:srgbClr val="00FFFF"/>
                </a:highlight>
                <a:sym typeface="+mn-ea"/>
              </a:rPr>
              <a:t>练习题</a:t>
            </a:r>
            <a:r>
              <a:rPr lang="zh-CN" altLang="en-US" sz="2400" b="1" dirty="0">
                <a:solidFill>
                  <a:schemeClr val="tx2"/>
                </a:solidFill>
              </a:rPr>
              <a:t>：</a:t>
            </a:r>
            <a:r>
              <a:rPr lang="zh-CN" altLang="en-US" sz="2400" b="1" dirty="0">
                <a:solidFill>
                  <a:schemeClr val="tx2"/>
                </a:solidFill>
                <a:sym typeface="+mn-ea"/>
              </a:rPr>
              <a:t>某32位系统采用基于二级页表的请求分页存储管理方式，按字节编址，页目录项和页表项长度均为4字节，虚拟地址结构如下：</a:t>
            </a:r>
            <a:endParaRPr lang="zh-CN" altLang="en-US" sz="2400" b="1" dirty="0">
              <a:solidFill>
                <a:schemeClr val="tx2"/>
              </a:solidFill>
              <a:sym typeface="+mn-ea"/>
            </a:endParaRPr>
          </a:p>
        </p:txBody>
      </p:sp>
    </p:spTree>
  </p:cSld>
  <p:clrMapOvr>
    <a:masterClrMapping/>
  </p:clrMapOvr>
  <p:transition spd="slow">
    <p:pull dir="ru"/>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63525" y="405765"/>
            <a:ext cx="8611870" cy="5846445"/>
          </a:xfrm>
          <a:prstGeom prst="rect">
            <a:avLst/>
          </a:prstGeom>
        </p:spPr>
        <p:txBody>
          <a:bodyPr>
            <a:noAutofit/>
          </a:bodyPr>
          <a:lstStyle/>
          <a:p>
            <a:pPr algn="l" eaLnBrk="1" hangingPunct="1">
              <a:lnSpc>
                <a:spcPct val="100000"/>
              </a:lnSpc>
              <a:spcBef>
                <a:spcPct val="20000"/>
              </a:spcBef>
              <a:buClr>
                <a:srgbClr val="A50021"/>
              </a:buClr>
              <a:buSzPct val="75000"/>
              <a:buFont typeface="Wingdings" panose="05000000000000000000" pitchFamily="2" charset="2"/>
            </a:pPr>
            <a:r>
              <a:rPr lang="zh-CN" altLang="en-US" sz="2000" dirty="0">
                <a:solidFill>
                  <a:schemeClr val="tx2"/>
                </a:solidFill>
                <a:highlight>
                  <a:srgbClr val="FFFF00"/>
                </a:highlight>
                <a:latin typeface="+mn-lt"/>
                <a:ea typeface="+mn-ea"/>
                <a:sym typeface="+mn-ea"/>
              </a:rPr>
              <a:t>【参考答案】</a:t>
            </a:r>
            <a:endParaRPr lang="zh-CN" altLang="en-US" sz="2000" b="1" dirty="0">
              <a:solidFill>
                <a:schemeClr val="tx2"/>
              </a:solidFill>
              <a:highlight>
                <a:srgbClr val="FFFF00"/>
              </a:highlight>
              <a:latin typeface="+mn-lt"/>
              <a:ea typeface="+mn-ea"/>
            </a:endParaRPr>
          </a:p>
          <a:p>
            <a:pPr marL="457200"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sym typeface="+mn-ea"/>
              </a:rPr>
              <a:t>（1）页面大小=2</a:t>
            </a:r>
            <a:r>
              <a:rPr lang="zh-CN" altLang="en-US" sz="2000" baseline="30000" dirty="0">
                <a:solidFill>
                  <a:schemeClr val="tx2"/>
                </a:solidFill>
                <a:latin typeface="+mn-lt"/>
                <a:ea typeface="+mn-ea"/>
                <a:sym typeface="+mn-ea"/>
              </a:rPr>
              <a:t>12</a:t>
            </a:r>
            <a:r>
              <a:rPr lang="zh-CN" altLang="en-US" sz="2000" dirty="0">
                <a:solidFill>
                  <a:schemeClr val="tx2"/>
                </a:solidFill>
                <a:latin typeface="+mn-lt"/>
                <a:ea typeface="+mn-ea"/>
                <a:sym typeface="+mn-ea"/>
              </a:rPr>
              <a:t>B = 4KB，数组元素占4字节，每个页面存放1K个数组元素，1080 000H的虚页号为1080H，二维数组a一行的元素个数与每个页面存放的元素个数相同，故a[0]存放的虚页号为1080H，a[1]存放的虚页号为1081H，a[1][2]的虚地址为1081 0000H + 2</a:t>
            </a:r>
            <a:r>
              <a:rPr lang="en-US" altLang="zh-CN" sz="2000" dirty="0">
                <a:solidFill>
                  <a:schemeClr val="tx2"/>
                </a:solidFill>
                <a:latin typeface="+mn-lt"/>
                <a:ea typeface="+mn-ea"/>
                <a:sym typeface="+mn-ea"/>
              </a:rPr>
              <a:t>*4</a:t>
            </a:r>
            <a:r>
              <a:rPr lang="zh-CN" altLang="en-US" sz="2000" baseline="30000" dirty="0">
                <a:solidFill>
                  <a:schemeClr val="tx2"/>
                </a:solidFill>
                <a:latin typeface="+mn-lt"/>
                <a:ea typeface="+mn-ea"/>
                <a:sym typeface="+mn-ea"/>
              </a:rPr>
              <a:t> </a:t>
            </a:r>
            <a:r>
              <a:rPr lang="zh-CN" altLang="en-US" sz="2000" dirty="0">
                <a:solidFill>
                  <a:schemeClr val="tx2"/>
                </a:solidFill>
                <a:latin typeface="+mn-lt"/>
                <a:ea typeface="+mn-ea"/>
                <a:sym typeface="+mn-ea"/>
              </a:rPr>
              <a:t>=1081 0008H。</a:t>
            </a:r>
            <a:endParaRPr lang="zh-CN" altLang="en-US" sz="2000" b="1" dirty="0">
              <a:solidFill>
                <a:schemeClr val="tx2"/>
              </a:solidFill>
              <a:latin typeface="+mn-lt"/>
              <a:ea typeface="+mn-ea"/>
            </a:endParaRPr>
          </a:p>
          <a:p>
            <a:pPr lvl="2"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sym typeface="+mn-ea"/>
              </a:rPr>
              <a:t>1081 0008H =0001 0000 1000 0001 0000 0000 0000 1000，对应的页目录号为66，页号为 1。</a:t>
            </a:r>
            <a:endParaRPr lang="zh-CN" altLang="en-US" sz="2000" b="1" dirty="0">
              <a:solidFill>
                <a:schemeClr val="tx2"/>
              </a:solidFill>
              <a:latin typeface="+mn-lt"/>
              <a:ea typeface="+mn-ea"/>
            </a:endParaRPr>
          </a:p>
          <a:p>
            <a:pPr marL="914400" lvl="1"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sym typeface="+mn-ea"/>
              </a:rPr>
              <a:t>页目录项的长度为4B，66号页目录项的物理地址是0020 1000H + </a:t>
            </a:r>
            <a:r>
              <a:rPr lang="en-US" altLang="zh-CN" sz="2000" dirty="0">
                <a:solidFill>
                  <a:schemeClr val="tx2"/>
                </a:solidFill>
                <a:latin typeface="+mn-lt"/>
                <a:ea typeface="+mn-ea"/>
                <a:sym typeface="+mn-ea"/>
              </a:rPr>
              <a:t>2</a:t>
            </a:r>
            <a:r>
              <a:rPr lang="zh-CN" altLang="en-US" sz="2000" dirty="0">
                <a:solidFill>
                  <a:schemeClr val="tx2"/>
                </a:solidFill>
                <a:latin typeface="+mn-lt"/>
                <a:ea typeface="+mn-ea"/>
                <a:sym typeface="+mn-ea"/>
              </a:rPr>
              <a:t>64</a:t>
            </a:r>
            <a:r>
              <a:rPr lang="en-US" altLang="zh-CN" sz="2000" dirty="0">
                <a:solidFill>
                  <a:schemeClr val="tx2"/>
                </a:solidFill>
                <a:latin typeface="+mn-lt"/>
                <a:ea typeface="+mn-ea"/>
                <a:sym typeface="+mn-ea"/>
              </a:rPr>
              <a:t> </a:t>
            </a:r>
            <a:r>
              <a:rPr lang="zh-CN" altLang="en-US" sz="2000" dirty="0">
                <a:solidFill>
                  <a:schemeClr val="tx2"/>
                </a:solidFill>
                <a:latin typeface="+mn-lt"/>
                <a:ea typeface="+mn-ea"/>
                <a:sym typeface="+mn-ea"/>
              </a:rPr>
              <a:t>=0020 1108H。该目录项中存放的页框号是00301H，则该页框的起始地址是0030 1000H，a[1][2]所在页面的页号为1，每个页表项为4B，对应的页表项物理地址为0030 1000H+4 =0030 100</a:t>
            </a:r>
            <a:r>
              <a:rPr lang="en-US" altLang="zh-CN" sz="2000" dirty="0">
                <a:solidFill>
                  <a:schemeClr val="tx2"/>
                </a:solidFill>
                <a:latin typeface="+mn-lt"/>
                <a:ea typeface="+mn-ea"/>
                <a:sym typeface="+mn-ea"/>
              </a:rPr>
              <a:t>4</a:t>
            </a:r>
            <a:r>
              <a:rPr lang="zh-CN" altLang="en-US" sz="2000" dirty="0">
                <a:solidFill>
                  <a:schemeClr val="tx2"/>
                </a:solidFill>
                <a:latin typeface="+mn-lt"/>
                <a:ea typeface="+mn-ea"/>
                <a:sym typeface="+mn-ea"/>
              </a:rPr>
              <a:t>H。</a:t>
            </a:r>
            <a:endParaRPr lang="zh-CN" altLang="en-US" sz="2000" b="1" dirty="0">
              <a:solidFill>
                <a:schemeClr val="tx2"/>
              </a:solidFill>
              <a:latin typeface="+mn-lt"/>
              <a:ea typeface="+mn-ea"/>
            </a:endParaRPr>
          </a:p>
          <a:p>
            <a:pPr marL="457200"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sym typeface="+mn-ea"/>
              </a:rPr>
              <a:t>（2）虚地址空间中所占区域必须连续，物理地址空间中所占区域可以不连续；</a:t>
            </a:r>
            <a:endParaRPr lang="zh-CN" altLang="en-US" sz="2000" b="1" dirty="0">
              <a:solidFill>
                <a:schemeClr val="tx2"/>
              </a:solidFill>
              <a:latin typeface="+mn-lt"/>
              <a:ea typeface="+mn-ea"/>
            </a:endParaRPr>
          </a:p>
          <a:p>
            <a:pPr marL="457200" indent="-457200" algn="l" eaLnBrk="1" hangingPunct="1">
              <a:lnSpc>
                <a:spcPct val="100000"/>
              </a:lnSpc>
              <a:spcBef>
                <a:spcPct val="20000"/>
              </a:spcBef>
              <a:buClr>
                <a:srgbClr val="A50021"/>
              </a:buClr>
              <a:buSzPct val="75000"/>
              <a:buFont typeface="Wingdings" panose="05000000000000000000" pitchFamily="2" charset="2"/>
              <a:buChar char="n"/>
            </a:pPr>
            <a:r>
              <a:rPr lang="zh-CN" altLang="en-US" sz="2000" dirty="0">
                <a:solidFill>
                  <a:schemeClr val="tx2"/>
                </a:solidFill>
                <a:latin typeface="+mn-lt"/>
                <a:ea typeface="+mn-ea"/>
                <a:sym typeface="+mn-ea"/>
              </a:rPr>
              <a:t>（3）按行遍历的局部性更好，二维数组a中行的元素个数与每个页面存放的元素个数相同，故一行所有元素均可以存放在同一个页面中，行遍历时遍历同一行中的所有元素访问的是同一个页面。</a:t>
            </a:r>
            <a:endParaRPr lang="zh-CN" altLang="en-US" sz="2000" dirty="0">
              <a:solidFill>
                <a:schemeClr val="tx2"/>
              </a:solidFill>
              <a:latin typeface="+mn-lt"/>
              <a:ea typeface="+mn-ea"/>
              <a:sym typeface="+mn-ea"/>
            </a:endParaRPr>
          </a:p>
        </p:txBody>
      </p:sp>
    </p:spTree>
  </p:cSld>
  <p:clrMapOvr>
    <a:masterClrMapping/>
  </p:clrMapOvr>
  <p:transition spd="slow">
    <p:pull dir="ru"/>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 name="图片 614"/>
          <p:cNvPicPr>
            <a:picLocks noChangeAspect="1"/>
          </p:cNvPicPr>
          <p:nvPr/>
        </p:nvPicPr>
        <p:blipFill>
          <a:blip r:embed="rId1"/>
          <a:stretch>
            <a:fillRect/>
          </a:stretch>
        </p:blipFill>
        <p:spPr>
          <a:xfrm>
            <a:off x="2339975" y="4077335"/>
            <a:ext cx="6716395" cy="2340610"/>
          </a:xfrm>
          <a:prstGeom prst="rect">
            <a:avLst/>
          </a:prstGeom>
        </p:spPr>
      </p:pic>
      <p:sp>
        <p:nvSpPr>
          <p:cNvPr id="10" name="文本框 9"/>
          <p:cNvSpPr txBox="1"/>
          <p:nvPr/>
        </p:nvSpPr>
        <p:spPr>
          <a:xfrm>
            <a:off x="346075" y="2202180"/>
            <a:ext cx="8520430" cy="2310130"/>
          </a:xfrm>
          <a:prstGeom prst="rect">
            <a:avLst/>
          </a:prstGeom>
        </p:spPr>
        <p:txBody>
          <a:bodyPr>
            <a:noAutofit/>
          </a:bodyPr>
          <a:lstStyle/>
          <a:p>
            <a:pPr algn="l" eaLnBrk="1" hangingPunct="1">
              <a:lnSpc>
                <a:spcPct val="100000"/>
              </a:lnSpc>
              <a:spcBef>
                <a:spcPct val="20000"/>
              </a:spcBef>
              <a:buClr>
                <a:srgbClr val="A50021"/>
              </a:buClr>
              <a:buSzPct val="75000"/>
              <a:buFont typeface="Wingdings" panose="05000000000000000000" pitchFamily="2" charset="2"/>
            </a:pPr>
            <a:r>
              <a:rPr lang="zh-CN" altLang="en-US" sz="2000" dirty="0">
                <a:solidFill>
                  <a:schemeClr val="tx2"/>
                </a:solidFill>
                <a:sym typeface="+mn-ea"/>
              </a:rPr>
              <a:t>（1）若使用一级页表的分页存储管理方式，则页的大小是多少字节？页表最大占用多少字节？</a:t>
            </a:r>
            <a:endParaRPr lang="zh-CN" altLang="en-US" sz="2000" b="1" dirty="0">
              <a:solidFill>
                <a:schemeClr val="tx2"/>
              </a:solidFill>
              <a:latin typeface="+mn-lt"/>
              <a:ea typeface="+mn-ea"/>
            </a:endParaRPr>
          </a:p>
          <a:p>
            <a:pPr algn="l" eaLnBrk="1" hangingPunct="1">
              <a:lnSpc>
                <a:spcPct val="100000"/>
              </a:lnSpc>
              <a:spcBef>
                <a:spcPct val="20000"/>
              </a:spcBef>
              <a:buClr>
                <a:srgbClr val="A50021"/>
              </a:buClr>
              <a:buSzPct val="75000"/>
              <a:buFont typeface="Wingdings" panose="05000000000000000000" pitchFamily="2" charset="2"/>
            </a:pPr>
            <a:r>
              <a:rPr lang="zh-CN" altLang="en-US" sz="2000" dirty="0">
                <a:solidFill>
                  <a:schemeClr val="tx2"/>
                </a:solidFill>
                <a:latin typeface="+mn-lt"/>
                <a:ea typeface="+mn-ea"/>
                <a:sym typeface="+mn-ea"/>
              </a:rPr>
              <a:t>（2）一个代码段起始逻辑地址为0000 8000H，其长度为8KB，被装载到从物理地址0090 0000H开始的连续主存空间中。页表从主存0020 0000H开始的物理地址处连续存放，如图所示（地址大小自下向上递增）。请计算出该代码段对应的2个页表项的物理地址，这2个页表项中的页框号以及代码页面2的起始物理地址。</a:t>
            </a:r>
            <a:endParaRPr lang="zh-CN" altLang="en-US" sz="2000" dirty="0">
              <a:solidFill>
                <a:schemeClr val="tx2"/>
              </a:solidFill>
              <a:latin typeface="+mn-lt"/>
              <a:ea typeface="+mn-ea"/>
            </a:endParaRPr>
          </a:p>
        </p:txBody>
      </p:sp>
      <p:sp>
        <p:nvSpPr>
          <p:cNvPr id="11" name="Rectangle 2"/>
          <p:cNvSpPr>
            <a:spLocks noGrp="1"/>
          </p:cNvSpPr>
          <p:nvPr>
            <p:ph idx="1"/>
          </p:nvPr>
        </p:nvSpPr>
        <p:spPr>
          <a:xfrm>
            <a:off x="251460" y="404495"/>
            <a:ext cx="8510905" cy="886460"/>
          </a:xfrm>
        </p:spPr>
        <p:txBody>
          <a:bodyPr vert="horz" wrap="square" lIns="91440" tIns="45720" rIns="91440" bIns="45720" anchor="t" anchorCtr="0"/>
          <a:lstStyle/>
          <a:p>
            <a:pPr eaLnBrk="1" hangingPunct="1"/>
            <a:r>
              <a:rPr lang="zh-CN" altLang="en-US" sz="2800" b="1" dirty="0">
                <a:solidFill>
                  <a:schemeClr val="tx2"/>
                </a:solidFill>
                <a:highlight>
                  <a:srgbClr val="00FFFF"/>
                </a:highlight>
                <a:sym typeface="+mn-ea"/>
              </a:rPr>
              <a:t>练习题</a:t>
            </a:r>
            <a:r>
              <a:rPr lang="zh-CN" altLang="en-US" sz="2400" b="1" dirty="0">
                <a:solidFill>
                  <a:schemeClr val="tx2"/>
                </a:solidFill>
              </a:rPr>
              <a:t>：</a:t>
            </a:r>
            <a:r>
              <a:rPr lang="zh-CN" altLang="en-US" sz="2400" b="1" dirty="0">
                <a:solidFill>
                  <a:schemeClr val="tx2"/>
                </a:solidFill>
                <a:sym typeface="+mn-ea"/>
              </a:rPr>
              <a:t>某计算机主机按字节编址，逻辑地址和物理地址都是32位，页表项大小为4字节。请回答下列问题。</a:t>
            </a:r>
            <a:endParaRPr lang="zh-CN" altLang="en-US" sz="2400" b="1" dirty="0">
              <a:solidFill>
                <a:schemeClr val="tx2"/>
              </a:solidFill>
              <a:sym typeface="+mn-ea"/>
            </a:endParaRPr>
          </a:p>
          <a:p>
            <a:pPr eaLnBrk="1" hangingPunct="1"/>
            <a:endParaRPr lang="zh-CN" altLang="en-US" sz="2400" b="1" dirty="0">
              <a:solidFill>
                <a:schemeClr val="tx2"/>
              </a:solidFill>
              <a:sym typeface="+mn-ea"/>
            </a:endParaRPr>
          </a:p>
        </p:txBody>
      </p:sp>
      <p:graphicFrame>
        <p:nvGraphicFramePr>
          <p:cNvPr id="2" name="表格 1"/>
          <p:cNvGraphicFramePr/>
          <p:nvPr>
            <p:custDataLst>
              <p:tags r:id="rId2"/>
            </p:custDataLst>
          </p:nvPr>
        </p:nvGraphicFramePr>
        <p:xfrm>
          <a:off x="2411730" y="1412875"/>
          <a:ext cx="4237990" cy="541020"/>
        </p:xfrm>
        <a:graphic>
          <a:graphicData uri="http://schemas.openxmlformats.org/drawingml/2006/table">
            <a:tbl>
              <a:tblPr/>
              <a:tblGrid>
                <a:gridCol w="2038350"/>
                <a:gridCol w="2199640"/>
              </a:tblGrid>
              <a:tr h="541020">
                <a:tc>
                  <a:txBody>
                    <a:bodyPr/>
                    <a:lstStyle/>
                    <a:p>
                      <a:pPr indent="0" algn="l" fontAlgn="auto">
                        <a:lnSpc>
                          <a:spcPct val="150000"/>
                        </a:lnSpc>
                        <a:spcBef>
                          <a:spcPct val="0"/>
                        </a:spcBef>
                        <a:spcAft>
                          <a:spcPct val="0"/>
                        </a:spcAft>
                      </a:pPr>
                      <a:r>
                        <a:rPr lang="zh-CN" sz="1800" b="1">
                          <a:latin typeface="宋体" panose="02010600030101010101" pitchFamily="2" charset="-122"/>
                          <a:ea typeface="宋体" panose="02010600030101010101" pitchFamily="2" charset="-122"/>
                        </a:rPr>
                        <a:t>页表索引（</a:t>
                      </a:r>
                      <a:r>
                        <a:rPr lang="en-US" altLang="zh-CN" sz="1800" b="1">
                          <a:latin typeface="宋体" panose="02010600030101010101" pitchFamily="2" charset="-122"/>
                          <a:ea typeface="宋体" panose="02010600030101010101" pitchFamily="2" charset="-122"/>
                        </a:rPr>
                        <a:t>20</a:t>
                      </a:r>
                      <a:r>
                        <a:rPr lang="zh-CN" altLang="en-US" sz="1800" b="1">
                          <a:latin typeface="宋体" panose="02010600030101010101" pitchFamily="2" charset="-122"/>
                          <a:ea typeface="宋体" panose="02010600030101010101" pitchFamily="2" charset="-122"/>
                        </a:rPr>
                        <a:t>位</a:t>
                      </a:r>
                      <a:r>
                        <a:rPr lang="zh-CN" sz="1800" b="1">
                          <a:latin typeface="宋体" panose="02010600030101010101" pitchFamily="2" charset="-122"/>
                          <a:ea typeface="宋体" panose="02010600030101010101" pitchFamily="2" charset="-122"/>
                        </a:rPr>
                        <a:t>）</a:t>
                      </a:r>
                      <a:endParaRPr lang="zh-CN" sz="18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c>
                  <a:txBody>
                    <a:bodyPr/>
                    <a:lstStyle/>
                    <a:p>
                      <a:pPr indent="0" algn="l" fontAlgn="auto">
                        <a:lnSpc>
                          <a:spcPct val="150000"/>
                        </a:lnSpc>
                        <a:spcBef>
                          <a:spcPct val="0"/>
                        </a:spcBef>
                        <a:spcAft>
                          <a:spcPct val="0"/>
                        </a:spcAft>
                      </a:pPr>
                      <a:r>
                        <a:rPr lang="zh-CN" sz="1800" b="1">
                          <a:latin typeface="宋体" panose="02010600030101010101" pitchFamily="2" charset="-122"/>
                          <a:ea typeface="宋体" panose="02010600030101010101" pitchFamily="2" charset="-122"/>
                        </a:rPr>
                        <a:t>页内偏移量（</a:t>
                      </a:r>
                      <a:r>
                        <a:rPr lang="en-US" altLang="zh-CN" sz="1800" b="1">
                          <a:latin typeface="宋体" panose="02010600030101010101" pitchFamily="2" charset="-122"/>
                          <a:ea typeface="宋体" panose="02010600030101010101" pitchFamily="2" charset="-122"/>
                        </a:rPr>
                        <a:t>12</a:t>
                      </a:r>
                      <a:r>
                        <a:rPr lang="zh-CN" altLang="en-US" sz="1800" b="1">
                          <a:latin typeface="宋体" panose="02010600030101010101" pitchFamily="2" charset="-122"/>
                          <a:ea typeface="宋体" panose="02010600030101010101" pitchFamily="2" charset="-122"/>
                        </a:rPr>
                        <a:t>位）</a:t>
                      </a:r>
                      <a:endParaRPr lang="zh-CN" altLang="en-US" sz="1800" b="1">
                        <a:latin typeface="宋体" panose="02010600030101010101" pitchFamily="2" charset="-122"/>
                        <a:ea typeface="宋体" panose="02010600030101010101" pitchFamily="2"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tx2">
                        <a:lumMod val="20000"/>
                        <a:lumOff val="80000"/>
                      </a:schemeClr>
                    </a:solidFill>
                  </a:tcPr>
                </a:tc>
              </a:tr>
            </a:tbl>
          </a:graphicData>
        </a:graphic>
      </p:graphicFrame>
    </p:spTree>
  </p:cSld>
  <p:clrMapOvr>
    <a:masterClrMapping/>
  </p:clrMapOvr>
  <p:transition spd="slow">
    <p:pull dir="ru"/>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13080" y="405765"/>
            <a:ext cx="8151495" cy="5846445"/>
          </a:xfrm>
          <a:prstGeom prst="rect">
            <a:avLst/>
          </a:prstGeom>
        </p:spPr>
        <p:txBody>
          <a:bodyPr>
            <a:noAutofit/>
          </a:bodyPr>
          <a:lstStyle/>
          <a:p>
            <a:pPr algn="l" eaLnBrk="1" hangingPunct="1">
              <a:lnSpc>
                <a:spcPct val="100000"/>
              </a:lnSpc>
              <a:spcBef>
                <a:spcPct val="20000"/>
              </a:spcBef>
              <a:buClr>
                <a:srgbClr val="A50021"/>
              </a:buClr>
              <a:buSzPct val="75000"/>
              <a:buFont typeface="Wingdings" panose="05000000000000000000" pitchFamily="2" charset="2"/>
            </a:pPr>
            <a:r>
              <a:rPr lang="zh-CN" altLang="en-US" sz="2000" dirty="0">
                <a:solidFill>
                  <a:schemeClr val="tx2"/>
                </a:solidFill>
                <a:highlight>
                  <a:srgbClr val="FFFF00"/>
                </a:highlight>
                <a:latin typeface="+mn-lt"/>
                <a:ea typeface="+mn-ea"/>
                <a:sym typeface="+mn-ea"/>
              </a:rPr>
              <a:t>【参考答案】</a:t>
            </a:r>
            <a:endParaRPr lang="zh-CN" altLang="en-US" sz="2000" b="1" dirty="0">
              <a:solidFill>
                <a:schemeClr val="tx2"/>
              </a:solidFill>
              <a:highlight>
                <a:srgbClr val="FFFF00"/>
              </a:highlight>
              <a:latin typeface="+mn-lt"/>
              <a:ea typeface="+mn-ea"/>
            </a:endParaRPr>
          </a:p>
          <a:p>
            <a:pPr algn="l" eaLnBrk="1" hangingPunct="1">
              <a:lnSpc>
                <a:spcPct val="100000"/>
              </a:lnSpc>
              <a:spcBef>
                <a:spcPct val="20000"/>
              </a:spcBef>
              <a:buClr>
                <a:srgbClr val="A50021"/>
              </a:buClr>
              <a:buSzPct val="75000"/>
              <a:buFont typeface="Wingdings" panose="05000000000000000000" pitchFamily="2" charset="2"/>
            </a:pPr>
            <a:r>
              <a:rPr lang="zh-CN" altLang="en-US" sz="2000" dirty="0">
                <a:solidFill>
                  <a:schemeClr val="tx2"/>
                </a:solidFill>
                <a:sym typeface="+mn-ea"/>
              </a:rPr>
              <a:t>（1）页内偏移量是12位，故页的大小为2</a:t>
            </a:r>
            <a:r>
              <a:rPr lang="zh-CN" altLang="en-US" sz="2000" baseline="30000" dirty="0">
                <a:solidFill>
                  <a:schemeClr val="tx2"/>
                </a:solidFill>
                <a:sym typeface="+mn-ea"/>
              </a:rPr>
              <a:t>12</a:t>
            </a:r>
            <a:r>
              <a:rPr lang="zh-CN" altLang="en-US" sz="2000" dirty="0">
                <a:solidFill>
                  <a:schemeClr val="tx2"/>
                </a:solidFill>
                <a:sym typeface="+mn-ea"/>
              </a:rPr>
              <a:t>B=4KB。页表项数=2</a:t>
            </a:r>
            <a:r>
              <a:rPr lang="zh-CN" altLang="en-US" sz="2000" baseline="30000" dirty="0">
                <a:solidFill>
                  <a:schemeClr val="tx2"/>
                </a:solidFill>
                <a:sym typeface="+mn-ea"/>
              </a:rPr>
              <a:t>20</a:t>
            </a:r>
            <a:r>
              <a:rPr lang="zh-CN" altLang="en-US" sz="2000" dirty="0">
                <a:solidFill>
                  <a:schemeClr val="tx2"/>
                </a:solidFill>
                <a:sym typeface="+mn-ea"/>
              </a:rPr>
              <a:t>，故页表最大占用2</a:t>
            </a:r>
            <a:r>
              <a:rPr lang="zh-CN" altLang="en-US" sz="2000" baseline="30000" dirty="0">
                <a:solidFill>
                  <a:schemeClr val="tx2"/>
                </a:solidFill>
                <a:sym typeface="+mn-ea"/>
              </a:rPr>
              <a:t>20</a:t>
            </a:r>
            <a:r>
              <a:rPr lang="zh-CN" altLang="en-US" sz="2000" dirty="0">
                <a:solidFill>
                  <a:schemeClr val="tx2"/>
                </a:solidFill>
                <a:sym typeface="+mn-ea"/>
              </a:rPr>
              <a:t>×4B=4MB。</a:t>
            </a:r>
            <a:endParaRPr lang="zh-CN" altLang="en-US" sz="2000" b="1" dirty="0">
              <a:solidFill>
                <a:schemeClr val="tx2"/>
              </a:solidFill>
              <a:sym typeface="+mn-ea"/>
            </a:endParaRPr>
          </a:p>
          <a:p>
            <a:pPr algn="l" eaLnBrk="1" hangingPunct="1">
              <a:lnSpc>
                <a:spcPct val="100000"/>
              </a:lnSpc>
              <a:spcBef>
                <a:spcPct val="20000"/>
              </a:spcBef>
              <a:buClr>
                <a:srgbClr val="A50021"/>
              </a:buClr>
              <a:buSzPct val="75000"/>
              <a:buFont typeface="Wingdings" panose="05000000000000000000" pitchFamily="2" charset="2"/>
            </a:pPr>
            <a:r>
              <a:rPr lang="zh-CN" altLang="en-US" sz="2000" dirty="0">
                <a:solidFill>
                  <a:schemeClr val="tx2"/>
                </a:solidFill>
                <a:sym typeface="+mn-ea"/>
              </a:rPr>
              <a:t>（2）代码段的起始逻辑地址为0000 8000H，页号为0 0008H，即其位于第8页中，对应页表中的第8个页表项，物理地址1=起始物理地址+页号×页表项大小=0020 0000H+8×4=0020 0020H。又因为页的大小为4 KB，代码段长度为8KB，因此代码段需用2页存放，物理地址2=物理地址1+1×页表项大小=0020 0020+1×4= 0020 0024H。由图可知页框号1=0 0900H，因此页框号2=页框号1+1=0 0901H，物理地址3 =0090 1000H。</a:t>
            </a:r>
            <a:endParaRPr lang="zh-CN" altLang="en-US" sz="2000" dirty="0">
              <a:solidFill>
                <a:schemeClr val="tx2"/>
              </a:solidFill>
              <a:latin typeface="+mn-lt"/>
              <a:ea typeface="+mn-ea"/>
              <a:sym typeface="+mn-ea"/>
            </a:endParaRPr>
          </a:p>
        </p:txBody>
      </p:sp>
    </p:spTree>
  </p:cSld>
  <p:clrMapOvr>
    <a:masterClrMapping/>
  </p:clrMapOvr>
  <p:transition spd="slow">
    <p:pull dir="ru"/>
  </p:transition>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A6S0wzOvQ8a50SA42PUNRg"/>
</p:tagLst>
</file>

<file path=ppt/tags/tag3.xml><?xml version="1.0" encoding="utf-8"?>
<p:tagLst xmlns:p="http://schemas.openxmlformats.org/presentationml/2006/main">
  <p:tag name="KSO_WM_UNIT_TABLE_BEAUTIFY" val="smartTable{58a06314-7e72-4d48-85a8-7253ed818c17}"/>
</p:tagLst>
</file>

<file path=ppt/tags/tag4.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5.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6.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7.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8.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9.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10.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11.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12.xml><?xml version="1.0" encoding="utf-8"?>
<p:tagLst xmlns:p="http://schemas.openxmlformats.org/presentationml/2006/main">
  <p:tag name="KSO_WM_DIAGRAM_VIRTUALLY_FRAME" val="{&quot;height&quot;:427.4606299212599,&quot;left&quot;:88.10842519685039,&quot;top&quot;:92.85944881889763,&quot;width&quot;:346.34732283464564}"/>
</p:tagLst>
</file>

<file path=ppt/tags/tag13.xml><?xml version="1.0" encoding="utf-8"?>
<p:tagLst xmlns:p="http://schemas.openxmlformats.org/presentationml/2006/main">
  <p:tag name="TABLE_ENDDRAG_ORIGIN_RECT" val="246*124"/>
  <p:tag name="TABLE_ENDDRAG_RECT" val="582*20*246*124"/>
</p:tagLst>
</file>

<file path=ppt/tags/tag14.xml><?xml version="1.0" encoding="utf-8"?>
<p:tagLst xmlns:p="http://schemas.openxmlformats.org/presentationml/2006/main">
  <p:tag name="ISLIDE.DIAGRAM" val="272399"/>
</p:tagLst>
</file>

<file path=ppt/tags/tag15.xml><?xml version="1.0" encoding="utf-8"?>
<p:tagLst xmlns:p="http://schemas.openxmlformats.org/presentationml/2006/main">
  <p:tag name="TABLE_ENDDRAG_ORIGIN_RECT" val="583*189"/>
  <p:tag name="TABLE_ENDDRAG_RECT" val="170*183*583*189"/>
</p:tagLst>
</file>

<file path=ppt/tags/tag16.xml><?xml version="1.0" encoding="utf-8"?>
<p:tagLst xmlns:p="http://schemas.openxmlformats.org/presentationml/2006/main">
  <p:tag name="KSO_WM_UNIT_TABLE_BEAUTIFY" val="smartTable{58a06314-7e72-4d48-85a8-7253ed818c17}"/>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THINKCELLSHAPEDONOTDELETE" val="t1Smkff3fSzGMOuItfjj3Fw"/>
</p:tagLst>
</file>

<file path=ppt/tags/tag19.xml><?xml version="1.0" encoding="utf-8"?>
<p:tagLst xmlns:p="http://schemas.openxmlformats.org/presentationml/2006/main">
  <p:tag name="TABLE_ENDDRAG_ORIGIN_RECT" val="617*203"/>
  <p:tag name="TABLE_ENDDRAG_RECT" val="40*119*617*203"/>
</p:tagLst>
</file>

<file path=ppt/tags/tag20.xml><?xml version="1.0" encoding="utf-8"?>
<p:tagLst xmlns:p="http://schemas.openxmlformats.org/presentationml/2006/main">
  <p:tag name="TABLE_ENDDRAG_ORIGIN_RECT" val="648*33"/>
  <p:tag name="TABLE_ENDDRAG_RECT" val="37*184*648*33"/>
</p:tagLst>
</file>

<file path=ppt/tags/tag21.xml><?xml version="1.0" encoding="utf-8"?>
<p:tagLst xmlns:p="http://schemas.openxmlformats.org/presentationml/2006/main">
  <p:tag name="TABLE_ENDDRAG_ORIGIN_RECT" val="398*68"/>
  <p:tag name="TABLE_ENDDRAG_RECT" val="160*150*398*68"/>
</p:tagLst>
</file>

<file path=ppt/tags/tag22.xml><?xml version="1.0" encoding="utf-8"?>
<p:tagLst xmlns:p="http://schemas.openxmlformats.org/presentationml/2006/main">
  <p:tag name="TABLE_ENDDRAG_ORIGIN_RECT" val="333*42"/>
  <p:tag name="TABLE_ENDDRAG_RECT" val="61*107*333*42"/>
</p:tagLst>
</file>

<file path=ppt/theme/theme1.xml><?xml version="1.0" encoding="utf-8"?>
<a:theme xmlns:a="http://schemas.openxmlformats.org/drawingml/2006/main" name="Network">
  <a:themeElements>
    <a:clrScheme name="">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B8989"/>
      </a:accent6>
      <a:hlink>
        <a:srgbClr val="7E9CE8"/>
      </a:hlink>
      <a:folHlink>
        <a:srgbClr val="D8D8E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25409</Words>
  <Application>WPS 演示</Application>
  <PresentationFormat>全屏显示(4:3)</PresentationFormat>
  <Paragraphs>2615</Paragraphs>
  <Slides>177</Slides>
  <Notes>10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8</vt:i4>
      </vt:variant>
      <vt:variant>
        <vt:lpstr>幻灯片标题</vt:lpstr>
      </vt:variant>
      <vt:variant>
        <vt:i4>177</vt:i4>
      </vt:variant>
    </vt:vector>
  </HeadingPairs>
  <TitlesOfParts>
    <vt:vector size="203" baseType="lpstr">
      <vt:lpstr>Arial</vt:lpstr>
      <vt:lpstr>宋体</vt:lpstr>
      <vt:lpstr>Wingdings</vt:lpstr>
      <vt:lpstr>Tahoma</vt:lpstr>
      <vt:lpstr>微软雅黑</vt:lpstr>
      <vt:lpstr>Arial Unicode MS</vt:lpstr>
      <vt:lpstr>等线</vt:lpstr>
      <vt:lpstr>Times New Roman</vt:lpstr>
      <vt:lpstr>Courier New</vt:lpstr>
      <vt:lpstr>Arial Unicode MS</vt:lpstr>
      <vt:lpstr>华文新魏</vt:lpstr>
      <vt:lpstr>仿宋</vt:lpstr>
      <vt:lpstr>黑体</vt:lpstr>
      <vt:lpstr>Symbol</vt:lpstr>
      <vt:lpstr>Courier New</vt:lpstr>
      <vt:lpstr>Comic Sans MS</vt:lpstr>
      <vt:lpstr>Times New Roman</vt:lpstr>
      <vt:lpstr>Network</vt:lpstr>
      <vt:lpstr>Visio.Drawing.4</vt:lpstr>
      <vt:lpstr>Visio.Drawing.4</vt:lpstr>
      <vt:lpstr>Visio.Drawing.4</vt:lpstr>
      <vt:lpstr>Visio.Drawing.4</vt:lpstr>
      <vt:lpstr>Visio.Drawing.4</vt:lpstr>
      <vt:lpstr>TCLayout.ActiveDocument.1</vt:lpstr>
      <vt:lpstr>Equation.3</vt:lpstr>
      <vt:lpstr>TCLayout.ActiveDocument.1</vt:lpstr>
      <vt:lpstr>第6章  文 件 系 统</vt:lpstr>
      <vt:lpstr>6.1  概    述</vt:lpstr>
      <vt:lpstr>2．文件类型</vt:lpstr>
      <vt:lpstr>PowerPoint 演示文稿</vt:lpstr>
      <vt:lpstr>PowerPoint 演示文稿</vt:lpstr>
      <vt:lpstr>PowerPoint 演示文稿</vt:lpstr>
      <vt:lpstr>（5）在UNIX/Linux和MS-DOS系统中，按文件的内部构造和处理方式分类：</vt:lpstr>
      <vt:lpstr>（5）在UNIX/Linux和MS-DOS系统中，按文件的内部构造和处理方式分类   （ 续 ）</vt:lpstr>
      <vt:lpstr>PowerPoint 演示文稿</vt:lpstr>
      <vt:lpstr>6.1.2  文件命名 </vt:lpstr>
      <vt:lpstr>PowerPoint 演示文稿</vt:lpstr>
      <vt:lpstr>6.1.3  文件属性</vt:lpstr>
      <vt:lpstr>提前介绍概念 </vt:lpstr>
      <vt:lpstr>6.1.4  文件存取方法 </vt:lpstr>
      <vt:lpstr>PowerPoint 演示文稿</vt:lpstr>
      <vt:lpstr>2．随机存取方法 </vt:lpstr>
      <vt:lpstr>3．其他存取方法-建立在随机存取方法之上 </vt:lpstr>
      <vt:lpstr>6.1.5  文件结构 </vt:lpstr>
      <vt:lpstr>PowerPoint 演示文稿</vt:lpstr>
      <vt:lpstr>6.2  文件系统的功能和结构  6.2.1  文件系统的功能</vt:lpstr>
      <vt:lpstr>6.2.2  文件系统的结构 </vt:lpstr>
      <vt:lpstr>PowerPoint 演示文稿</vt:lpstr>
      <vt:lpstr>PowerPoint 演示文稿</vt:lpstr>
      <vt:lpstr>6.3  目录结构和目录查询</vt:lpstr>
      <vt:lpstr>6.3.1  文件控制块和文件目录</vt:lpstr>
      <vt:lpstr>PowerPoint 演示文稿</vt:lpstr>
      <vt:lpstr>6.3.2  单级目录结构</vt:lpstr>
      <vt:lpstr>PowerPoint 演示文稿</vt:lpstr>
      <vt:lpstr>6.3.3  二级目录结构 每个用户有自己的用户文件目录。</vt:lpstr>
      <vt:lpstr>PowerPoint 演示文稿</vt:lpstr>
      <vt:lpstr>6.3.4  树形目录结构</vt:lpstr>
      <vt:lpstr>PowerPoint 演示文稿</vt:lpstr>
      <vt:lpstr>2．路径名 </vt:lpstr>
      <vt:lpstr>6.3.5  非循环图目录结构 </vt:lpstr>
      <vt:lpstr>6.3.6 目录查询方法</vt:lpstr>
      <vt:lpstr>6.4.1  文件操作</vt:lpstr>
      <vt:lpstr>6.4.2  目录操作</vt:lpstr>
      <vt:lpstr>6.5  文件系统的实现</vt:lpstr>
      <vt:lpstr>PowerPoint 演示文稿</vt:lpstr>
      <vt:lpstr>PowerPoint 演示文稿</vt:lpstr>
      <vt:lpstr>硬盘分区</vt:lpstr>
      <vt:lpstr>PowerPoint 演示文稿</vt:lpstr>
      <vt:lpstr>6.5.2  文件存储分配 </vt:lpstr>
      <vt:lpstr>1．连续分配 </vt:lpstr>
      <vt:lpstr>PowerPoint 演示文稿</vt:lpstr>
      <vt:lpstr>2．链接分配</vt:lpstr>
      <vt:lpstr>PowerPoint 演示文稿</vt:lpstr>
      <vt:lpstr>PowerPoint 演示文稿</vt:lpstr>
      <vt:lpstr>3．索引分配 </vt:lpstr>
      <vt:lpstr>PowerPoint 演示文稿</vt:lpstr>
      <vt:lpstr>PowerPoint 演示文稿</vt:lpstr>
      <vt:lpstr>4．多重索引文件分配 </vt:lpstr>
      <vt:lpstr>PowerPoint 演示文稿</vt:lpstr>
      <vt:lpstr>6.5.3  空闲存储空间的管理</vt:lpstr>
      <vt:lpstr>PowerPoint 演示文稿</vt:lpstr>
      <vt:lpstr>2．空闲块链接法 </vt:lpstr>
      <vt:lpstr>3．位示图（Bit Map）法 </vt:lpstr>
      <vt:lpstr>4．空闲块成组链接法 </vt:lpstr>
      <vt:lpstr>PowerPoint 演示文稿</vt:lpstr>
      <vt:lpstr>6.6  管 道 文 件 </vt:lpstr>
      <vt:lpstr>PowerPoint 演示文稿</vt:lpstr>
      <vt:lpstr>6.7  文件系统的可靠性 </vt:lpstr>
      <vt:lpstr>6.7.2  后备 </vt:lpstr>
      <vt:lpstr>2．备份策略 </vt:lpstr>
      <vt:lpstr>3．备份工具 </vt:lpstr>
      <vt:lpstr>6.7.3  文件系统和一致性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第6章 虚拟存储器</vt:lpstr>
      <vt:lpstr>PowerPoint 演示文稿</vt:lpstr>
      <vt:lpstr>PowerPoint 演示文稿</vt:lpstr>
      <vt:lpstr>PowerPoint 演示文稿</vt:lpstr>
      <vt:lpstr>PowerPoint 演示文稿</vt:lpstr>
      <vt:lpstr>PowerPoint 演示文稿</vt:lpstr>
      <vt:lpstr> 虚拟存储器</vt:lpstr>
      <vt:lpstr>PowerPoint 演示文稿</vt:lpstr>
      <vt:lpstr>PowerPoint 演示文稿</vt:lpstr>
      <vt:lpstr>PowerPoint 演示文稿</vt:lpstr>
      <vt:lpstr>PowerPoint 演示文稿</vt:lpstr>
      <vt:lpstr>请求分页技术</vt:lpstr>
      <vt:lpstr>PowerPoint 演示文稿</vt:lpstr>
      <vt:lpstr>PowerPoint 演示文稿</vt:lpstr>
      <vt:lpstr>PowerPoint 演示文稿</vt:lpstr>
      <vt:lpstr>PowerPoint 演示文稿</vt:lpstr>
      <vt:lpstr>2缺页中断机构 </vt:lpstr>
      <vt:lpstr>PowerPoint 演示文稿</vt:lpstr>
      <vt:lpstr>PowerPoint 演示文稿</vt:lpstr>
      <vt:lpstr>2011年真题</vt:lpstr>
      <vt:lpstr>PowerPoint 演示文稿</vt:lpstr>
      <vt:lpstr>PowerPoint 演示文稿</vt:lpstr>
      <vt:lpstr>5.10  页面置换算法 页面置换</vt:lpstr>
      <vt:lpstr>PowerPoint 演示文稿</vt:lpstr>
      <vt:lpstr>PowerPoint 演示文稿</vt:lpstr>
      <vt:lpstr>页面走向</vt:lpstr>
      <vt:lpstr>PowerPoint 演示文稿</vt:lpstr>
      <vt:lpstr>PowerPoint 演示文稿</vt:lpstr>
      <vt:lpstr>PowerPoint 演示文稿</vt:lpstr>
      <vt:lpstr>PowerPoint 演示文稿</vt:lpstr>
      <vt:lpstr>PowerPoint 演示文稿</vt:lpstr>
      <vt:lpstr>46.（8分）请求分页管理系统中， 假设某进程的页表内容如下表所示。</vt:lpstr>
      <vt:lpstr>PowerPoint 演示文稿</vt:lpstr>
      <vt:lpstr>PowerPoint 演示文稿</vt:lpstr>
      <vt:lpstr>PowerPoint 演示文稿</vt:lpstr>
      <vt:lpstr>PowerPoint 演示文稿</vt:lpstr>
      <vt:lpstr>改进时钟置换法（Clock）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置换算法举例1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学 习 进 步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有一内存访问序列：2、3、2、1、5、2、4、5、3、2、5、2，给每个作业分配3个内存块。请分别采用OPT、LRU、FIFO算法计算置换次数。</vt:lpstr>
      <vt:lpstr>PowerPoint 演示文稿</vt:lpstr>
      <vt:lpstr>PowerPoint 演示文稿</vt:lpstr>
      <vt:lpstr>PowerPoint 演示文稿</vt:lpstr>
      <vt:lpstr>请求分页管理系统中，假设某进程的页表内容如表所示。</vt:lpstr>
      <vt:lpstr>请求分页管理系统中，假设某进程的页表内容如表所示。</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第6章 文件系统</dc:title>
  <dc:creator/>
  <cp:lastModifiedBy>吕仔贤</cp:lastModifiedBy>
  <cp:revision>69</cp:revision>
  <dcterms:created xsi:type="dcterms:W3CDTF">2015-12-03T02:15:00Z</dcterms:created>
  <dcterms:modified xsi:type="dcterms:W3CDTF">2026-01-16T01:21:52Z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2052-12.1.0.24657</vt:lpwstr>
  </property>
  <property fmtid="{D5CDD505-2E9C-101B-9397-08002B2CF9AE}" pid="4" name="ICV">
    <vt:lpwstr>6DE7893E465945E19395CAC206549C46_12</vt:lpwstr>
  </property>
</Properties>
</file>