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7"/>
  </p:notesMasterIdLst>
  <p:sldIdLst>
    <p:sldId id="311" r:id="rId3"/>
    <p:sldId id="312" r:id="rId4"/>
    <p:sldId id="472" r:id="rId5"/>
    <p:sldId id="315" r:id="rId6"/>
    <p:sldId id="296" r:id="rId7"/>
    <p:sldId id="297" r:id="rId8"/>
    <p:sldId id="299" r:id="rId9"/>
    <p:sldId id="363" r:id="rId10"/>
    <p:sldId id="365" r:id="rId11"/>
    <p:sldId id="300" r:id="rId12"/>
    <p:sldId id="364" r:id="rId13"/>
    <p:sldId id="362" r:id="rId14"/>
    <p:sldId id="430" r:id="rId15"/>
    <p:sldId id="367" r:id="rId16"/>
    <p:sldId id="427" r:id="rId17"/>
    <p:sldId id="428" r:id="rId18"/>
    <p:sldId id="366" r:id="rId19"/>
    <p:sldId id="368" r:id="rId20"/>
    <p:sldId id="370" r:id="rId21"/>
    <p:sldId id="302" r:id="rId22"/>
    <p:sldId id="304" r:id="rId23"/>
    <p:sldId id="374" r:id="rId24"/>
    <p:sldId id="371" r:id="rId25"/>
    <p:sldId id="373" r:id="rId26"/>
    <p:sldId id="377" r:id="rId27"/>
    <p:sldId id="436" r:id="rId28"/>
    <p:sldId id="376" r:id="rId29"/>
    <p:sldId id="305" r:id="rId30"/>
    <p:sldId id="319" r:id="rId31"/>
    <p:sldId id="378" r:id="rId32"/>
    <p:sldId id="379" r:id="rId33"/>
    <p:sldId id="437" r:id="rId34"/>
    <p:sldId id="380" r:id="rId35"/>
    <p:sldId id="369" r:id="rId36"/>
    <p:sldId id="381" r:id="rId37"/>
    <p:sldId id="438" r:id="rId38"/>
    <p:sldId id="382" r:id="rId39"/>
    <p:sldId id="383" r:id="rId40"/>
    <p:sldId id="440" r:id="rId41"/>
    <p:sldId id="323" r:id="rId42"/>
    <p:sldId id="441" r:id="rId43"/>
    <p:sldId id="442" r:id="rId44"/>
    <p:sldId id="429" r:id="rId45"/>
    <p:sldId id="388" r:id="rId46"/>
    <p:sldId id="387" r:id="rId47"/>
    <p:sldId id="443" r:id="rId48"/>
    <p:sldId id="389" r:id="rId49"/>
    <p:sldId id="320" r:id="rId50"/>
    <p:sldId id="386" r:id="rId51"/>
    <p:sldId id="449" r:id="rId52"/>
    <p:sldId id="444" r:id="rId53"/>
    <p:sldId id="450" r:id="rId54"/>
    <p:sldId id="445" r:id="rId55"/>
    <p:sldId id="446" r:id="rId56"/>
    <p:sldId id="393" r:id="rId58"/>
    <p:sldId id="453" r:id="rId59"/>
    <p:sldId id="451" r:id="rId60"/>
    <p:sldId id="452" r:id="rId61"/>
    <p:sldId id="454" r:id="rId62"/>
    <p:sldId id="455" r:id="rId63"/>
    <p:sldId id="398" r:id="rId64"/>
    <p:sldId id="456" r:id="rId65"/>
    <p:sldId id="460" r:id="rId66"/>
    <p:sldId id="462" r:id="rId67"/>
    <p:sldId id="463" r:id="rId68"/>
    <p:sldId id="394" r:id="rId69"/>
    <p:sldId id="457" r:id="rId70"/>
    <p:sldId id="396" r:id="rId71"/>
    <p:sldId id="458" r:id="rId72"/>
    <p:sldId id="399" r:id="rId73"/>
    <p:sldId id="461" r:id="rId74"/>
    <p:sldId id="459" r:id="rId75"/>
    <p:sldId id="464" r:id="rId76"/>
    <p:sldId id="465" r:id="rId77"/>
    <p:sldId id="466" r:id="rId78"/>
    <p:sldId id="307" r:id="rId79"/>
    <p:sldId id="321" r:id="rId80"/>
    <p:sldId id="402" r:id="rId81"/>
    <p:sldId id="400" r:id="rId82"/>
    <p:sldId id="467" r:id="rId83"/>
    <p:sldId id="405" r:id="rId84"/>
    <p:sldId id="403" r:id="rId85"/>
    <p:sldId id="407" r:id="rId86"/>
    <p:sldId id="408" r:id="rId87"/>
    <p:sldId id="468" r:id="rId88"/>
    <p:sldId id="411" r:id="rId89"/>
    <p:sldId id="326" r:id="rId90"/>
    <p:sldId id="410" r:id="rId91"/>
    <p:sldId id="412" r:id="rId92"/>
    <p:sldId id="414" r:id="rId93"/>
    <p:sldId id="413" r:id="rId94"/>
    <p:sldId id="416" r:id="rId95"/>
    <p:sldId id="417" r:id="rId96"/>
    <p:sldId id="306" r:id="rId97"/>
    <p:sldId id="419" r:id="rId98"/>
    <p:sldId id="418" r:id="rId99"/>
    <p:sldId id="471" r:id="rId100"/>
    <p:sldId id="421" r:id="rId101"/>
    <p:sldId id="420" r:id="rId102"/>
    <p:sldId id="415" r:id="rId103"/>
    <p:sldId id="423" r:id="rId104"/>
    <p:sldId id="424" r:id="rId105"/>
    <p:sldId id="351" r:id="rId106"/>
    <p:sldId id="353" r:id="rId107"/>
    <p:sldId id="426" r:id="rId108"/>
    <p:sldId id="261" r:id="rId109"/>
  </p:sldIdLst>
  <p:sldSz cx="12192000" cy="6858000"/>
  <p:notesSz cx="6858000" cy="9144000"/>
  <p:custDataLst>
    <p:tags r:id="rId1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61765395" name="Alex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FF00"/>
    <a:srgbClr val="0000FF"/>
    <a:srgbClr val="FFC000"/>
    <a:srgbClr val="00005C"/>
    <a:srgbClr val="FFF700"/>
    <a:srgbClr val="06D24C"/>
    <a:srgbClr val="035920"/>
    <a:srgbClr val="F6F5F3"/>
    <a:srgbClr val="0486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6182" autoAdjust="0"/>
  </p:normalViewPr>
  <p:slideViewPr>
    <p:cSldViewPr snapToGrid="0" showGuides="1">
      <p:cViewPr varScale="1">
        <p:scale>
          <a:sx n="114" d="100"/>
          <a:sy n="114" d="100"/>
        </p:scale>
        <p:origin x="-300" y="-108"/>
      </p:cViewPr>
      <p:guideLst>
        <p:guide orient="horz" pos="207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4" Type="http://schemas.openxmlformats.org/officeDocument/2006/relationships/tags" Target="tags/tag55.xml"/><Relationship Id="rId113" Type="http://schemas.openxmlformats.org/officeDocument/2006/relationships/commentAuthors" Target="commentAuthors.xml"/><Relationship Id="rId112" Type="http://schemas.openxmlformats.org/officeDocument/2006/relationships/tableStyles" Target="tableStyles.xml"/><Relationship Id="rId111" Type="http://schemas.openxmlformats.org/officeDocument/2006/relationships/viewProps" Target="viewProps.xml"/><Relationship Id="rId110" Type="http://schemas.openxmlformats.org/officeDocument/2006/relationships/presProps" Target="presProps.xml"/><Relationship Id="rId11" Type="http://schemas.openxmlformats.org/officeDocument/2006/relationships/slide" Target="slides/slide9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661765395" dt="2025-04-23T15:52:51.898" idx="1">
    <p:pos x="10" y="10"/>
    <p:text/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7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buFont typeface="Arial" panose="020B0604020202020204" pitchFamily="34" charset="0"/>
              <a:buChar char="•"/>
            </a:pPr>
            <a:fld id="{9A0DB2DC-4C9A-4742-B13C-FB6460FD3503}" type="slidenum">
              <a:rPr lang="zh-CN" altLang="en-US" sz="1200" b="0" dirty="0">
                <a:solidFill>
                  <a:schemeClr val="tx1"/>
                </a:solidFill>
              </a:rPr>
            </a:fld>
            <a:endParaRPr lang="zh-CN" altLang="en-US" sz="12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标题幻灯片">
    <p:bg>
      <p:bgPr>
        <a:solidFill>
          <a:srgbClr val="00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3" name="任意多边形: 形状 22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0" name="任意多边形: 形状 19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5" y="5306656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5" y="5602927"/>
            <a:ext cx="1085056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4456729"/>
            <a:ext cx="10850563" cy="558799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5" y="1028701"/>
            <a:ext cx="10850563" cy="3136900"/>
          </a:xfrm>
        </p:spPr>
        <p:txBody>
          <a:bodyPr anchor="b" anchorCtr="0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2_1"/>
          <p:cNvSpPr>
            <a:spLocks noChangeArrowheads="1"/>
          </p:cNvSpPr>
          <p:nvPr userDrawn="1"/>
        </p:nvSpPr>
        <p:spPr bwMode="auto">
          <a:xfrm>
            <a:off x="190500" y="3192312"/>
            <a:ext cx="12192000" cy="3429000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93255" b="-31457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2488168" y="2033814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2489284" y="2929164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-9525" y="-9525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9"/>
          <p:cNvSpPr/>
          <p:nvPr userDrawn="1"/>
        </p:nvSpPr>
        <p:spPr bwMode="auto">
          <a:xfrm flipH="1" flipV="1">
            <a:off x="-1219199" y="239311"/>
            <a:ext cx="13411199" cy="801180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 rot="10800000">
            <a:off x="-28575" y="6321199"/>
            <a:ext cx="12220575" cy="942975"/>
          </a:xfrm>
          <a:custGeom>
            <a:avLst/>
            <a:gdLst>
              <a:gd name="connsiteX0" fmla="*/ 0 w 12220575"/>
              <a:gd name="connsiteY0" fmla="*/ 0 h 942975"/>
              <a:gd name="connsiteX1" fmla="*/ 9525 w 12220575"/>
              <a:gd name="connsiteY1" fmla="*/ 647700 h 942975"/>
              <a:gd name="connsiteX2" fmla="*/ 2686050 w 12220575"/>
              <a:gd name="connsiteY2" fmla="*/ 942975 h 942975"/>
              <a:gd name="connsiteX3" fmla="*/ 5124450 w 12220575"/>
              <a:gd name="connsiteY3" fmla="*/ 923925 h 942975"/>
              <a:gd name="connsiteX4" fmla="*/ 7277100 w 12220575"/>
              <a:gd name="connsiteY4" fmla="*/ 809625 h 942975"/>
              <a:gd name="connsiteX5" fmla="*/ 9296400 w 12220575"/>
              <a:gd name="connsiteY5" fmla="*/ 466725 h 942975"/>
              <a:gd name="connsiteX6" fmla="*/ 11325225 w 12220575"/>
              <a:gd name="connsiteY6" fmla="*/ 314325 h 942975"/>
              <a:gd name="connsiteX7" fmla="*/ 12220575 w 12220575"/>
              <a:gd name="connsiteY7" fmla="*/ 352425 h 942975"/>
              <a:gd name="connsiteX8" fmla="*/ 12182475 w 12220575"/>
              <a:gd name="connsiteY8" fmla="*/ 9525 h 942975"/>
              <a:gd name="connsiteX9" fmla="*/ 0 w 12220575"/>
              <a:gd name="connsiteY9" fmla="*/ 0 h 942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575" h="942975">
                <a:moveTo>
                  <a:pt x="0" y="0"/>
                </a:moveTo>
                <a:lnTo>
                  <a:pt x="9525" y="647700"/>
                </a:lnTo>
                <a:lnTo>
                  <a:pt x="2686050" y="942975"/>
                </a:lnTo>
                <a:lnTo>
                  <a:pt x="5124450" y="923925"/>
                </a:lnTo>
                <a:lnTo>
                  <a:pt x="7277100" y="809625"/>
                </a:lnTo>
                <a:lnTo>
                  <a:pt x="9296400" y="466725"/>
                </a:lnTo>
                <a:lnTo>
                  <a:pt x="11325225" y="314325"/>
                </a:lnTo>
                <a:lnTo>
                  <a:pt x="12220575" y="352425"/>
                </a:lnTo>
                <a:lnTo>
                  <a:pt x="12182475" y="95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 bwMode="auto">
          <a:xfrm>
            <a:off x="-9525" y="6230938"/>
            <a:ext cx="12201525" cy="801179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FF00"/>
              </a:gs>
              <a:gs pos="11000">
                <a:srgbClr val="FFC0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520488" y="6486465"/>
            <a:ext cx="671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9552D3-A968-4710-B841-1063F5B640DF}" type="slidenum">
              <a:rPr lang="zh-CN" altLang="en-US" sz="2000" b="1" smtClean="0">
                <a:solidFill>
                  <a:schemeClr val="accent2">
                    <a:lumMod val="50000"/>
                  </a:schemeClr>
                </a:solidFill>
              </a:rPr>
            </a:fld>
            <a:endParaRPr lang="zh-CN" alt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410" y="24187"/>
            <a:ext cx="527050" cy="5270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26766-F62E-419D-BB7F-91C9CEBCA24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2_1"/>
          <p:cNvSpPr>
            <a:spLocks noChangeArrowheads="1"/>
          </p:cNvSpPr>
          <p:nvPr userDrawn="1"/>
        </p:nvSpPr>
        <p:spPr bwMode="auto">
          <a:xfrm>
            <a:off x="0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 t="-28757" b="-15909"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0" name="任意多边形: 形状 9"/>
          <p:cNvSpPr>
            <a:spLocks noChangeArrowheads="1"/>
          </p:cNvSpPr>
          <p:nvPr userDrawn="1"/>
        </p:nvSpPr>
        <p:spPr bwMode="auto">
          <a:xfrm>
            <a:off x="-794" y="1531703"/>
            <a:ext cx="12192000" cy="5326297"/>
          </a:xfrm>
          <a:custGeom>
            <a:avLst/>
            <a:gdLst>
              <a:gd name="connsiteX0" fmla="*/ 7259662 w 12192000"/>
              <a:gd name="connsiteY0" fmla="*/ 57321 h 5381035"/>
              <a:gd name="connsiteX1" fmla="*/ 12192000 w 12192000"/>
              <a:gd name="connsiteY1" fmla="*/ 3668162 h 5381035"/>
              <a:gd name="connsiteX2" fmla="*/ 12192000 w 12192000"/>
              <a:gd name="connsiteY2" fmla="*/ 5381035 h 5381035"/>
              <a:gd name="connsiteX3" fmla="*/ 0 w 12192000"/>
              <a:gd name="connsiteY3" fmla="*/ 5381035 h 5381035"/>
              <a:gd name="connsiteX4" fmla="*/ 0 w 12192000"/>
              <a:gd name="connsiteY4" fmla="*/ 4393412 h 5381035"/>
              <a:gd name="connsiteX5" fmla="*/ 4798 w 12192000"/>
              <a:gd name="connsiteY5" fmla="*/ 4668077 h 5381035"/>
              <a:gd name="connsiteX6" fmla="*/ 3480102 w 12192000"/>
              <a:gd name="connsiteY6" fmla="*/ 3079813 h 5381035"/>
              <a:gd name="connsiteX7" fmla="*/ 6789914 w 12192000"/>
              <a:gd name="connsiteY7" fmla="*/ 82876 h 5381035"/>
              <a:gd name="connsiteX8" fmla="*/ 7259662 w 12192000"/>
              <a:gd name="connsiteY8" fmla="*/ 57321 h 5381035"/>
              <a:gd name="connsiteX9" fmla="*/ 10803922 w 12192000"/>
              <a:gd name="connsiteY9" fmla="*/ 0 h 5381035"/>
              <a:gd name="connsiteX10" fmla="*/ 12192000 w 12192000"/>
              <a:gd name="connsiteY10" fmla="*/ 0 h 5381035"/>
              <a:gd name="connsiteX11" fmla="*/ 12192000 w 12192000"/>
              <a:gd name="connsiteY11" fmla="*/ 1322246 h 5381035"/>
              <a:gd name="connsiteX12" fmla="*/ 10969953 w 12192000"/>
              <a:gd name="connsiteY12" fmla="*/ 120266 h 5381035"/>
              <a:gd name="connsiteX13" fmla="*/ 0 w 12192000"/>
              <a:gd name="connsiteY13" fmla="*/ 0 h 5381035"/>
              <a:gd name="connsiteX14" fmla="*/ 4032282 w 12192000"/>
              <a:gd name="connsiteY14" fmla="*/ 0 h 5381035"/>
              <a:gd name="connsiteX15" fmla="*/ 3968734 w 12192000"/>
              <a:gd name="connsiteY15" fmla="*/ 60350 h 5381035"/>
              <a:gd name="connsiteX16" fmla="*/ 2309846 w 12192000"/>
              <a:gd name="connsiteY16" fmla="*/ 2073351 h 5381035"/>
              <a:gd name="connsiteX17" fmla="*/ 26916 w 12192000"/>
              <a:gd name="connsiteY17" fmla="*/ 3331235 h 5381035"/>
              <a:gd name="connsiteX18" fmla="*/ 0 w 12192000"/>
              <a:gd name="connsiteY18" fmla="*/ 3321905 h 5381035"/>
              <a:gd name="connsiteX0-1" fmla="*/ 7259662 w 12192000"/>
              <a:gd name="connsiteY0-2" fmla="*/ 57321 h 5381035"/>
              <a:gd name="connsiteX1-3" fmla="*/ 12192000 w 12192000"/>
              <a:gd name="connsiteY1-4" fmla="*/ 3668162 h 5381035"/>
              <a:gd name="connsiteX2-5" fmla="*/ 12192000 w 12192000"/>
              <a:gd name="connsiteY2-6" fmla="*/ 5381035 h 5381035"/>
              <a:gd name="connsiteX3-7" fmla="*/ 0 w 12192000"/>
              <a:gd name="connsiteY3-8" fmla="*/ 5381035 h 5381035"/>
              <a:gd name="connsiteX4-9" fmla="*/ 0 w 12192000"/>
              <a:gd name="connsiteY4-10" fmla="*/ 4393412 h 5381035"/>
              <a:gd name="connsiteX5-11" fmla="*/ 4798 w 12192000"/>
              <a:gd name="connsiteY5-12" fmla="*/ 4668077 h 5381035"/>
              <a:gd name="connsiteX6-13" fmla="*/ 3480102 w 12192000"/>
              <a:gd name="connsiteY6-14" fmla="*/ 3079813 h 5381035"/>
              <a:gd name="connsiteX7-15" fmla="*/ 6789914 w 12192000"/>
              <a:gd name="connsiteY7-16" fmla="*/ 82876 h 5381035"/>
              <a:gd name="connsiteX8-17" fmla="*/ 7259662 w 12192000"/>
              <a:gd name="connsiteY8-18" fmla="*/ 57321 h 5381035"/>
              <a:gd name="connsiteX9-19" fmla="*/ 10803922 w 12192000"/>
              <a:gd name="connsiteY9-20" fmla="*/ 0 h 5381035"/>
              <a:gd name="connsiteX10-21" fmla="*/ 12192000 w 12192000"/>
              <a:gd name="connsiteY10-22" fmla="*/ 0 h 5381035"/>
              <a:gd name="connsiteX11-23" fmla="*/ 12192000 w 12192000"/>
              <a:gd name="connsiteY11-24" fmla="*/ 1322246 h 5381035"/>
              <a:gd name="connsiteX12-25" fmla="*/ 10969953 w 12192000"/>
              <a:gd name="connsiteY12-26" fmla="*/ 120266 h 5381035"/>
              <a:gd name="connsiteX13-27" fmla="*/ 10803922 w 12192000"/>
              <a:gd name="connsiteY13-28" fmla="*/ 0 h 5381035"/>
              <a:gd name="connsiteX14-29" fmla="*/ 0 w 12192000"/>
              <a:gd name="connsiteY14-30" fmla="*/ 3321905 h 5381035"/>
              <a:gd name="connsiteX15-31" fmla="*/ 4032282 w 12192000"/>
              <a:gd name="connsiteY15-32" fmla="*/ 0 h 5381035"/>
              <a:gd name="connsiteX16-33" fmla="*/ 3968734 w 12192000"/>
              <a:gd name="connsiteY16-34" fmla="*/ 60350 h 5381035"/>
              <a:gd name="connsiteX17-35" fmla="*/ 2309846 w 12192000"/>
              <a:gd name="connsiteY17-36" fmla="*/ 2073351 h 5381035"/>
              <a:gd name="connsiteX18-37" fmla="*/ 26916 w 12192000"/>
              <a:gd name="connsiteY18-38" fmla="*/ 3331235 h 5381035"/>
              <a:gd name="connsiteX19" fmla="*/ 0 w 12192000"/>
              <a:gd name="connsiteY19" fmla="*/ 3321905 h 5381035"/>
              <a:gd name="connsiteX0-39" fmla="*/ 7259662 w 12192000"/>
              <a:gd name="connsiteY0-40" fmla="*/ 57321 h 5381035"/>
              <a:gd name="connsiteX1-41" fmla="*/ 12192000 w 12192000"/>
              <a:gd name="connsiteY1-42" fmla="*/ 3668162 h 5381035"/>
              <a:gd name="connsiteX2-43" fmla="*/ 12192000 w 12192000"/>
              <a:gd name="connsiteY2-44" fmla="*/ 5381035 h 5381035"/>
              <a:gd name="connsiteX3-45" fmla="*/ 0 w 12192000"/>
              <a:gd name="connsiteY3-46" fmla="*/ 5381035 h 5381035"/>
              <a:gd name="connsiteX4-47" fmla="*/ 0 w 12192000"/>
              <a:gd name="connsiteY4-48" fmla="*/ 4393412 h 5381035"/>
              <a:gd name="connsiteX5-49" fmla="*/ 4798 w 12192000"/>
              <a:gd name="connsiteY5-50" fmla="*/ 4668077 h 5381035"/>
              <a:gd name="connsiteX6-51" fmla="*/ 3480102 w 12192000"/>
              <a:gd name="connsiteY6-52" fmla="*/ 3079813 h 5381035"/>
              <a:gd name="connsiteX7-53" fmla="*/ 6789914 w 12192000"/>
              <a:gd name="connsiteY7-54" fmla="*/ 82876 h 5381035"/>
              <a:gd name="connsiteX8-55" fmla="*/ 7259662 w 12192000"/>
              <a:gd name="connsiteY8-56" fmla="*/ 57321 h 5381035"/>
              <a:gd name="connsiteX9-57" fmla="*/ 10803922 w 12192000"/>
              <a:gd name="connsiteY9-58" fmla="*/ 0 h 5381035"/>
              <a:gd name="connsiteX10-59" fmla="*/ 12192000 w 12192000"/>
              <a:gd name="connsiteY10-60" fmla="*/ 0 h 5381035"/>
              <a:gd name="connsiteX11-61" fmla="*/ 12192000 w 12192000"/>
              <a:gd name="connsiteY11-62" fmla="*/ 1322246 h 5381035"/>
              <a:gd name="connsiteX12-63" fmla="*/ 10969953 w 12192000"/>
              <a:gd name="connsiteY12-64" fmla="*/ 120266 h 5381035"/>
              <a:gd name="connsiteX13-65" fmla="*/ 10803922 w 12192000"/>
              <a:gd name="connsiteY13-66" fmla="*/ 0 h 5381035"/>
              <a:gd name="connsiteX14-67" fmla="*/ 0 w 12192000"/>
              <a:gd name="connsiteY14-68" fmla="*/ 3321905 h 5381035"/>
              <a:gd name="connsiteX15-69" fmla="*/ 4032282 w 12192000"/>
              <a:gd name="connsiteY15-70" fmla="*/ 0 h 5381035"/>
              <a:gd name="connsiteX16-71" fmla="*/ 2309846 w 12192000"/>
              <a:gd name="connsiteY16-72" fmla="*/ 2073351 h 5381035"/>
              <a:gd name="connsiteX17-73" fmla="*/ 26916 w 12192000"/>
              <a:gd name="connsiteY17-74" fmla="*/ 3331235 h 5381035"/>
              <a:gd name="connsiteX18-75" fmla="*/ 0 w 12192000"/>
              <a:gd name="connsiteY18-76" fmla="*/ 3321905 h 5381035"/>
              <a:gd name="connsiteX0-77" fmla="*/ 7259662 w 12192000"/>
              <a:gd name="connsiteY0-78" fmla="*/ 57321 h 5381035"/>
              <a:gd name="connsiteX1-79" fmla="*/ 12192000 w 12192000"/>
              <a:gd name="connsiteY1-80" fmla="*/ 3668162 h 5381035"/>
              <a:gd name="connsiteX2-81" fmla="*/ 12192000 w 12192000"/>
              <a:gd name="connsiteY2-82" fmla="*/ 5381035 h 5381035"/>
              <a:gd name="connsiteX3-83" fmla="*/ 0 w 12192000"/>
              <a:gd name="connsiteY3-84" fmla="*/ 5381035 h 5381035"/>
              <a:gd name="connsiteX4-85" fmla="*/ 0 w 12192000"/>
              <a:gd name="connsiteY4-86" fmla="*/ 4393412 h 5381035"/>
              <a:gd name="connsiteX5-87" fmla="*/ 4798 w 12192000"/>
              <a:gd name="connsiteY5-88" fmla="*/ 4668077 h 5381035"/>
              <a:gd name="connsiteX6-89" fmla="*/ 3480102 w 12192000"/>
              <a:gd name="connsiteY6-90" fmla="*/ 3079813 h 5381035"/>
              <a:gd name="connsiteX7-91" fmla="*/ 6789914 w 12192000"/>
              <a:gd name="connsiteY7-92" fmla="*/ 82876 h 5381035"/>
              <a:gd name="connsiteX8-93" fmla="*/ 7259662 w 12192000"/>
              <a:gd name="connsiteY8-94" fmla="*/ 57321 h 5381035"/>
              <a:gd name="connsiteX9-95" fmla="*/ 10803922 w 12192000"/>
              <a:gd name="connsiteY9-96" fmla="*/ 0 h 5381035"/>
              <a:gd name="connsiteX10-97" fmla="*/ 12192000 w 12192000"/>
              <a:gd name="connsiteY10-98" fmla="*/ 0 h 5381035"/>
              <a:gd name="connsiteX11-99" fmla="*/ 12192000 w 12192000"/>
              <a:gd name="connsiteY11-100" fmla="*/ 1322246 h 5381035"/>
              <a:gd name="connsiteX12-101" fmla="*/ 10969953 w 12192000"/>
              <a:gd name="connsiteY12-102" fmla="*/ 120266 h 5381035"/>
              <a:gd name="connsiteX13-103" fmla="*/ 10803922 w 12192000"/>
              <a:gd name="connsiteY13-104" fmla="*/ 0 h 5381035"/>
              <a:gd name="connsiteX14-105" fmla="*/ 0 w 12192000"/>
              <a:gd name="connsiteY14-106" fmla="*/ 3321905 h 5381035"/>
              <a:gd name="connsiteX15-107" fmla="*/ 2309846 w 12192000"/>
              <a:gd name="connsiteY15-108" fmla="*/ 2073351 h 5381035"/>
              <a:gd name="connsiteX16-109" fmla="*/ 26916 w 12192000"/>
              <a:gd name="connsiteY16-110" fmla="*/ 3331235 h 5381035"/>
              <a:gd name="connsiteX17-111" fmla="*/ 0 w 12192000"/>
              <a:gd name="connsiteY17-112" fmla="*/ 3321905 h 5381035"/>
              <a:gd name="connsiteX0-113" fmla="*/ 7259662 w 12192000"/>
              <a:gd name="connsiteY0-114" fmla="*/ 57321 h 5381035"/>
              <a:gd name="connsiteX1-115" fmla="*/ 12192000 w 12192000"/>
              <a:gd name="connsiteY1-116" fmla="*/ 3668162 h 5381035"/>
              <a:gd name="connsiteX2-117" fmla="*/ 12192000 w 12192000"/>
              <a:gd name="connsiteY2-118" fmla="*/ 5381035 h 5381035"/>
              <a:gd name="connsiteX3-119" fmla="*/ 0 w 12192000"/>
              <a:gd name="connsiteY3-120" fmla="*/ 5381035 h 5381035"/>
              <a:gd name="connsiteX4-121" fmla="*/ 0 w 12192000"/>
              <a:gd name="connsiteY4-122" fmla="*/ 4393412 h 5381035"/>
              <a:gd name="connsiteX5-123" fmla="*/ 4798 w 12192000"/>
              <a:gd name="connsiteY5-124" fmla="*/ 4668077 h 5381035"/>
              <a:gd name="connsiteX6-125" fmla="*/ 3480102 w 12192000"/>
              <a:gd name="connsiteY6-126" fmla="*/ 3079813 h 5381035"/>
              <a:gd name="connsiteX7-127" fmla="*/ 6789914 w 12192000"/>
              <a:gd name="connsiteY7-128" fmla="*/ 82876 h 5381035"/>
              <a:gd name="connsiteX8-129" fmla="*/ 7259662 w 12192000"/>
              <a:gd name="connsiteY8-130" fmla="*/ 57321 h 5381035"/>
              <a:gd name="connsiteX9-131" fmla="*/ 10803922 w 12192000"/>
              <a:gd name="connsiteY9-132" fmla="*/ 0 h 5381035"/>
              <a:gd name="connsiteX10-133" fmla="*/ 12192000 w 12192000"/>
              <a:gd name="connsiteY10-134" fmla="*/ 0 h 5381035"/>
              <a:gd name="connsiteX11-135" fmla="*/ 12192000 w 12192000"/>
              <a:gd name="connsiteY11-136" fmla="*/ 1322246 h 5381035"/>
              <a:gd name="connsiteX12-137" fmla="*/ 10969953 w 12192000"/>
              <a:gd name="connsiteY12-138" fmla="*/ 120266 h 5381035"/>
              <a:gd name="connsiteX13-139" fmla="*/ 10803922 w 12192000"/>
              <a:gd name="connsiteY13-140" fmla="*/ 0 h 5381035"/>
              <a:gd name="connsiteX14-141" fmla="*/ 26916 w 12192000"/>
              <a:gd name="connsiteY14-142" fmla="*/ 3331235 h 5381035"/>
              <a:gd name="connsiteX15-143" fmla="*/ 2309846 w 12192000"/>
              <a:gd name="connsiteY15-144" fmla="*/ 2073351 h 5381035"/>
              <a:gd name="connsiteX16-145" fmla="*/ 26916 w 12192000"/>
              <a:gd name="connsiteY16-146" fmla="*/ 3331235 h 5381035"/>
              <a:gd name="connsiteX0-147" fmla="*/ 7259662 w 12192000"/>
              <a:gd name="connsiteY0-148" fmla="*/ 57321 h 5381035"/>
              <a:gd name="connsiteX1-149" fmla="*/ 12192000 w 12192000"/>
              <a:gd name="connsiteY1-150" fmla="*/ 3668162 h 5381035"/>
              <a:gd name="connsiteX2-151" fmla="*/ 12192000 w 12192000"/>
              <a:gd name="connsiteY2-152" fmla="*/ 5381035 h 5381035"/>
              <a:gd name="connsiteX3-153" fmla="*/ 0 w 12192000"/>
              <a:gd name="connsiteY3-154" fmla="*/ 5381035 h 5381035"/>
              <a:gd name="connsiteX4-155" fmla="*/ 0 w 12192000"/>
              <a:gd name="connsiteY4-156" fmla="*/ 4393412 h 5381035"/>
              <a:gd name="connsiteX5-157" fmla="*/ 4798 w 12192000"/>
              <a:gd name="connsiteY5-158" fmla="*/ 4668077 h 5381035"/>
              <a:gd name="connsiteX6-159" fmla="*/ 3480102 w 12192000"/>
              <a:gd name="connsiteY6-160" fmla="*/ 3079813 h 5381035"/>
              <a:gd name="connsiteX7-161" fmla="*/ 6789914 w 12192000"/>
              <a:gd name="connsiteY7-162" fmla="*/ 82876 h 5381035"/>
              <a:gd name="connsiteX8-163" fmla="*/ 7259662 w 12192000"/>
              <a:gd name="connsiteY8-164" fmla="*/ 57321 h 5381035"/>
              <a:gd name="connsiteX9-165" fmla="*/ 10803922 w 12192000"/>
              <a:gd name="connsiteY9-166" fmla="*/ 0 h 5381035"/>
              <a:gd name="connsiteX10-167" fmla="*/ 12192000 w 12192000"/>
              <a:gd name="connsiteY10-168" fmla="*/ 0 h 5381035"/>
              <a:gd name="connsiteX11-169" fmla="*/ 12192000 w 12192000"/>
              <a:gd name="connsiteY11-170" fmla="*/ 1322246 h 5381035"/>
              <a:gd name="connsiteX12-171" fmla="*/ 10969953 w 12192000"/>
              <a:gd name="connsiteY12-172" fmla="*/ 120266 h 5381035"/>
              <a:gd name="connsiteX13-173" fmla="*/ 10803922 w 12192000"/>
              <a:gd name="connsiteY13-174" fmla="*/ 0 h 5381035"/>
              <a:gd name="connsiteX0-175" fmla="*/ 7259662 w 12192000"/>
              <a:gd name="connsiteY0-176" fmla="*/ 57321 h 5381035"/>
              <a:gd name="connsiteX1-177" fmla="*/ 12192000 w 12192000"/>
              <a:gd name="connsiteY1-178" fmla="*/ 3668162 h 5381035"/>
              <a:gd name="connsiteX2-179" fmla="*/ 12192000 w 12192000"/>
              <a:gd name="connsiteY2-180" fmla="*/ 5381035 h 5381035"/>
              <a:gd name="connsiteX3-181" fmla="*/ 0 w 12192000"/>
              <a:gd name="connsiteY3-182" fmla="*/ 5381035 h 5381035"/>
              <a:gd name="connsiteX4-183" fmla="*/ 0 w 12192000"/>
              <a:gd name="connsiteY4-184" fmla="*/ 4393412 h 5381035"/>
              <a:gd name="connsiteX5-185" fmla="*/ 4798 w 12192000"/>
              <a:gd name="connsiteY5-186" fmla="*/ 4668077 h 5381035"/>
              <a:gd name="connsiteX6-187" fmla="*/ 3480102 w 12192000"/>
              <a:gd name="connsiteY6-188" fmla="*/ 3079813 h 5381035"/>
              <a:gd name="connsiteX7-189" fmla="*/ 6789914 w 12192000"/>
              <a:gd name="connsiteY7-190" fmla="*/ 82876 h 5381035"/>
              <a:gd name="connsiteX8-191" fmla="*/ 7259662 w 12192000"/>
              <a:gd name="connsiteY8-192" fmla="*/ 57321 h 5381035"/>
              <a:gd name="connsiteX9-193" fmla="*/ 10803922 w 12192000"/>
              <a:gd name="connsiteY9-194" fmla="*/ 0 h 5381035"/>
              <a:gd name="connsiteX10-195" fmla="*/ 12192000 w 12192000"/>
              <a:gd name="connsiteY10-196" fmla="*/ 1322246 h 5381035"/>
              <a:gd name="connsiteX11-197" fmla="*/ 10969953 w 12192000"/>
              <a:gd name="connsiteY11-198" fmla="*/ 120266 h 5381035"/>
              <a:gd name="connsiteX12-199" fmla="*/ 10803922 w 12192000"/>
              <a:gd name="connsiteY12-200" fmla="*/ 0 h 5381035"/>
              <a:gd name="connsiteX0-201" fmla="*/ 7259662 w 12192000"/>
              <a:gd name="connsiteY0-202" fmla="*/ 2583 h 5326297"/>
              <a:gd name="connsiteX1-203" fmla="*/ 12192000 w 12192000"/>
              <a:gd name="connsiteY1-204" fmla="*/ 3613424 h 5326297"/>
              <a:gd name="connsiteX2-205" fmla="*/ 12192000 w 12192000"/>
              <a:gd name="connsiteY2-206" fmla="*/ 5326297 h 5326297"/>
              <a:gd name="connsiteX3-207" fmla="*/ 0 w 12192000"/>
              <a:gd name="connsiteY3-208" fmla="*/ 5326297 h 5326297"/>
              <a:gd name="connsiteX4-209" fmla="*/ 0 w 12192000"/>
              <a:gd name="connsiteY4-210" fmla="*/ 4338674 h 5326297"/>
              <a:gd name="connsiteX5-211" fmla="*/ 4798 w 12192000"/>
              <a:gd name="connsiteY5-212" fmla="*/ 4613339 h 5326297"/>
              <a:gd name="connsiteX6-213" fmla="*/ 3480102 w 12192000"/>
              <a:gd name="connsiteY6-214" fmla="*/ 3025075 h 5326297"/>
              <a:gd name="connsiteX7-215" fmla="*/ 6789914 w 12192000"/>
              <a:gd name="connsiteY7-216" fmla="*/ 28138 h 5326297"/>
              <a:gd name="connsiteX8-217" fmla="*/ 7259662 w 12192000"/>
              <a:gd name="connsiteY8-218" fmla="*/ 2583 h 5326297"/>
              <a:gd name="connsiteX9-219" fmla="*/ 10969953 w 12192000"/>
              <a:gd name="connsiteY9-220" fmla="*/ 65528 h 5326297"/>
              <a:gd name="connsiteX10-221" fmla="*/ 12192000 w 12192000"/>
              <a:gd name="connsiteY10-222" fmla="*/ 1267508 h 5326297"/>
              <a:gd name="connsiteX11-223" fmla="*/ 10969953 w 12192000"/>
              <a:gd name="connsiteY11-224" fmla="*/ 65528 h 5326297"/>
              <a:gd name="connsiteX0-225" fmla="*/ 7259662 w 12192000"/>
              <a:gd name="connsiteY0-226" fmla="*/ 2583 h 5326297"/>
              <a:gd name="connsiteX1-227" fmla="*/ 12192000 w 12192000"/>
              <a:gd name="connsiteY1-228" fmla="*/ 3613424 h 5326297"/>
              <a:gd name="connsiteX2-229" fmla="*/ 12192000 w 12192000"/>
              <a:gd name="connsiteY2-230" fmla="*/ 5326297 h 5326297"/>
              <a:gd name="connsiteX3-231" fmla="*/ 0 w 12192000"/>
              <a:gd name="connsiteY3-232" fmla="*/ 5326297 h 5326297"/>
              <a:gd name="connsiteX4-233" fmla="*/ 0 w 12192000"/>
              <a:gd name="connsiteY4-234" fmla="*/ 4338674 h 5326297"/>
              <a:gd name="connsiteX5-235" fmla="*/ 4798 w 12192000"/>
              <a:gd name="connsiteY5-236" fmla="*/ 4613339 h 5326297"/>
              <a:gd name="connsiteX6-237" fmla="*/ 3480102 w 12192000"/>
              <a:gd name="connsiteY6-238" fmla="*/ 3025075 h 5326297"/>
              <a:gd name="connsiteX7-239" fmla="*/ 6789914 w 12192000"/>
              <a:gd name="connsiteY7-240" fmla="*/ 28138 h 5326297"/>
              <a:gd name="connsiteX8-241" fmla="*/ 7259662 w 12192000"/>
              <a:gd name="connsiteY8-242" fmla="*/ 2583 h 532629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2192000" h="5326297">
                <a:moveTo>
                  <a:pt x="7259662" y="2583"/>
                </a:moveTo>
                <a:cubicBezTo>
                  <a:pt x="9625834" y="111255"/>
                  <a:pt x="12192000" y="3613424"/>
                  <a:pt x="12192000" y="3613424"/>
                </a:cubicBezTo>
                <a:lnTo>
                  <a:pt x="12192000" y="5326297"/>
                </a:lnTo>
                <a:lnTo>
                  <a:pt x="0" y="5326297"/>
                </a:lnTo>
                <a:lnTo>
                  <a:pt x="0" y="4338674"/>
                </a:lnTo>
                <a:cubicBezTo>
                  <a:pt x="1599" y="4430229"/>
                  <a:pt x="3199" y="4521784"/>
                  <a:pt x="4798" y="4613339"/>
                </a:cubicBezTo>
                <a:cubicBezTo>
                  <a:pt x="4798" y="4613339"/>
                  <a:pt x="1766092" y="5316740"/>
                  <a:pt x="3480102" y="3025075"/>
                </a:cubicBezTo>
                <a:cubicBezTo>
                  <a:pt x="5194112" y="732474"/>
                  <a:pt x="5876761" y="174992"/>
                  <a:pt x="6789914" y="28138"/>
                </a:cubicBezTo>
                <a:cubicBezTo>
                  <a:pt x="6945061" y="3175"/>
                  <a:pt x="7101917" y="-4662"/>
                  <a:pt x="7259662" y="2583"/>
                </a:cubicBezTo>
                <a:close/>
              </a:path>
            </a:pathLst>
          </a:custGeom>
          <a:solidFill>
            <a:srgbClr val="FFC000">
              <a:alpha val="2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034971" y="2163199"/>
            <a:ext cx="6536871" cy="2390427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034971" y="5238353"/>
            <a:ext cx="6536871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034973" y="4942082"/>
            <a:ext cx="6536871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1" name="任意多边形: 形状 10"/>
          <p:cNvSpPr/>
          <p:nvPr userDrawn="1"/>
        </p:nvSpPr>
        <p:spPr bwMode="auto">
          <a:xfrm>
            <a:off x="0" y="543509"/>
            <a:ext cx="12192000" cy="6167761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78000">
                <a:srgbClr val="FFC000"/>
              </a:gs>
              <a:gs pos="11000">
                <a:schemeClr val="accent1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 dirty="0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联机映像占位符 3"/>
          <p:cNvSpPr>
            <a:spLocks noGrp="1"/>
          </p:cNvSpPr>
          <p:nvPr>
            <p:ph type="clipArt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endParaRPr 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>
                <a:srgbClr val="000000"/>
              </a:buClr>
            </a:pPr>
            <a:fld id="{9A0DB2DC-4C9A-4742-B13C-FB6460FD3503}" type="slidenum">
              <a:rPr lang="zh-CN" strike="noStrike" noProof="1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7FE44A0-2E53-457E-9AC0-11D6EE9FA3B5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ags" Target="../tags/tag2.xml"/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jpeg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audio1.wav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6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5.emf"/><Relationship Id="rId1" Type="http://schemas.openxmlformats.org/officeDocument/2006/relationships/oleObject" Target="../embeddings/oleObject3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5.bin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jpe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1" Type="http://schemas.openxmlformats.org/officeDocument/2006/relationships/oleObject" Target="../embeddings/oleObject6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5.png"/><Relationship Id="rId3" Type="http://schemas.openxmlformats.org/officeDocument/2006/relationships/oleObject" Target="../embeddings/oleObject8.bin"/><Relationship Id="rId2" Type="http://schemas.openxmlformats.org/officeDocument/2006/relationships/image" Target="../media/image24.png"/><Relationship Id="rId1" Type="http://schemas.openxmlformats.org/officeDocument/2006/relationships/oleObject" Target="../embeddings/oleObject7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0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1.wmf"/><Relationship Id="rId1" Type="http://schemas.openxmlformats.org/officeDocument/2006/relationships/oleObject" Target="../embeddings/oleObject9.bin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2.w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" Target="slide32.xml"/><Relationship Id="rId1" Type="http://schemas.openxmlformats.org/officeDocument/2006/relationships/image" Target="../media/image33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" Target="slide36.xml"/><Relationship Id="rId1" Type="http://schemas.openxmlformats.org/officeDocument/2006/relationships/image" Target="../media/image34.png"/></Relationships>
</file>

<file path=ppt/slides/_rels/slide8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2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7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8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8.xml"/></Relationships>
</file>

<file path=ppt/slides/_rels/slide9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40.jpeg"/><Relationship Id="rId3" Type="http://schemas.openxmlformats.org/officeDocument/2006/relationships/image" Target="../media/image9.jpeg"/><Relationship Id="rId2" Type="http://schemas.openxmlformats.org/officeDocument/2006/relationships/image" Target="../media/image39.jpeg"/><Relationship Id="rId1" Type="http://schemas.openxmlformats.org/officeDocument/2006/relationships/tags" Target="../tags/tag39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1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2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jpe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3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4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9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image" Target="../media/image45.jpeg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4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6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7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8.png"/></Relationships>
</file>

<file path=ppt/slides/_rels/slide10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52.xml"/><Relationship Id="rId2" Type="http://schemas.openxmlformats.org/officeDocument/2006/relationships/image" Target="../media/image2.png"/><Relationship Id="rId1" Type="http://schemas.openxmlformats.org/officeDocument/2006/relationships/image" Target="../media/image7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tags" Target="../tags/tag54.xml"/><Relationship Id="rId3" Type="http://schemas.openxmlformats.org/officeDocument/2006/relationships/image" Target="../media/image3.emf"/><Relationship Id="rId2" Type="http://schemas.openxmlformats.org/officeDocument/2006/relationships/oleObject" Target="../embeddings/oleObject10.bin"/><Relationship Id="rId1" Type="http://schemas.openxmlformats.org/officeDocument/2006/relationships/tags" Target="../tags/tag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0" name="图片 107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5" y="1319455"/>
            <a:ext cx="10850563" cy="3136900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第</a:t>
            </a:r>
            <a:r>
              <a:rPr lang="en-US" altLang="zh-CN" sz="4800" dirty="0"/>
              <a:t>5</a:t>
            </a:r>
            <a:r>
              <a:rPr lang="zh-CN" altLang="en-US" sz="4800" dirty="0"/>
              <a:t>章 存储器管理</a:t>
            </a:r>
            <a:endParaRPr lang="zh-CN" altLang="en-US" sz="2000" b="0" dirty="0"/>
          </a:p>
        </p:txBody>
      </p:sp>
      <p:sp>
        <p:nvSpPr>
          <p:cNvPr id="29" name="任意多边形: 形状 28"/>
          <p:cNvSpPr/>
          <p:nvPr/>
        </p:nvSpPr>
        <p:spPr>
          <a:xfrm>
            <a:off x="10968292" y="649047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6" y="488949"/>
            <a:ext cx="631826" cy="631826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243012" y="589418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sp>
        <p:nvSpPr>
          <p:cNvPr id="17" name="矩形: 圆角 21"/>
          <p:cNvSpPr/>
          <p:nvPr/>
        </p:nvSpPr>
        <p:spPr>
          <a:xfrm>
            <a:off x="800099" y="4579447"/>
            <a:ext cx="4235540" cy="45927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主讲教师：姚清爽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84121" y="5993053"/>
            <a:ext cx="2074491" cy="43179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5100" y="844791"/>
            <a:ext cx="3007096" cy="42615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25394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第</a:t>
            </a:r>
            <a:r>
              <a:rPr lang="en-US" altLang="zh-CN" sz="2800" b="1" dirty="0">
                <a:solidFill>
                  <a:schemeClr val="bg1"/>
                </a:solidFill>
              </a:rPr>
              <a:t>5</a:t>
            </a:r>
            <a:r>
              <a:rPr lang="zh-CN" altLang="en-US" sz="2800" b="1" dirty="0">
                <a:solidFill>
                  <a:schemeClr val="bg1"/>
                </a:solidFill>
              </a:rPr>
              <a:t>章知识导图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0" name="表格 29"/>
          <p:cNvGraphicFramePr/>
          <p:nvPr>
            <p:custDataLst>
              <p:tags r:id="rId1"/>
            </p:custDataLst>
          </p:nvPr>
        </p:nvGraphicFramePr>
        <p:xfrm>
          <a:off x="462431" y="1634204"/>
          <a:ext cx="4173963" cy="478945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221039"/>
                <a:gridCol w="2952924"/>
              </a:tblGrid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第1章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操作系统引论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进程的描述与控制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第3章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处理机调度与死锁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第4章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进程同步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第5章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存储器管理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第6章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虚拟存储器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第7章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输入</a:t>
                      </a:r>
                      <a:r>
                        <a:rPr lang="en-US" sz="2000" dirty="0">
                          <a:latin typeface="微软雅黑 (正文)"/>
                        </a:rPr>
                        <a:t>/</a:t>
                      </a:r>
                      <a:r>
                        <a:rPr lang="en-US" sz="2000" dirty="0" err="1">
                          <a:latin typeface="微软雅黑 (正文)"/>
                        </a:rPr>
                        <a:t>输出系统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第8章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文件管理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第9章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磁盘存储器管理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第10章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多处理机操作系统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第11章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虚拟化和云计算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保护和安全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</a:tbl>
          </a:graphicData>
        </a:graphic>
      </p:graphicFrame>
      <p:sp>
        <p:nvSpPr>
          <p:cNvPr id="8" name="任意多边形: 形状 7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2" name="图片 1" descr="第5章 知识导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220" y="1159510"/>
            <a:ext cx="7277100" cy="56222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第5章 知识导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810" y="6350"/>
            <a:ext cx="8866505" cy="6851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  <a:ea typeface="+mj-ea"/>
              </a:rPr>
              <a:t>5.1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  <a:ea typeface="+mj-ea"/>
              </a:rPr>
              <a:t>存储器的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  <a:ea typeface="+mj-ea"/>
              </a:rPr>
              <a:t>层次结构</a:t>
            </a:r>
            <a:endParaRPr lang="zh-CN" altLang="en-US" sz="2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5.2 </a:t>
            </a:r>
            <a:r>
              <a:rPr lang="zh-CN" altLang="en-US" sz="2400" dirty="0">
                <a:latin typeface="+mj-ea"/>
              </a:rPr>
              <a:t>程序的装入和</a:t>
            </a:r>
            <a:r>
              <a:rPr lang="zh-CN" altLang="en-US" sz="2400" dirty="0" smtClean="0">
                <a:latin typeface="+mj-ea"/>
              </a:rPr>
              <a:t>链接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5.3 </a:t>
            </a:r>
            <a:r>
              <a:rPr lang="zh-CN" altLang="en-US" sz="2400" dirty="0">
                <a:latin typeface="+mj-ea"/>
              </a:rPr>
              <a:t>对换与</a:t>
            </a:r>
            <a:r>
              <a:rPr lang="zh-CN" altLang="en-US" sz="2400" dirty="0" smtClean="0">
                <a:latin typeface="+mj-ea"/>
              </a:rPr>
              <a:t>覆盖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5.4 </a:t>
            </a:r>
            <a:r>
              <a:rPr lang="zh-CN" altLang="en-US" sz="2400" dirty="0">
                <a:latin typeface="+mj-ea"/>
              </a:rPr>
              <a:t>连续分配存储管理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5.5 </a:t>
            </a:r>
            <a:r>
              <a:rPr lang="zh-CN" altLang="en-US" sz="2400" dirty="0">
                <a:latin typeface="+mj-ea"/>
              </a:rPr>
              <a:t>分页存储管理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5.6 </a:t>
            </a:r>
            <a:r>
              <a:rPr lang="zh-CN" altLang="en-US" sz="2400" dirty="0">
                <a:latin typeface="+mj-ea"/>
              </a:rPr>
              <a:t>分段存储管理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40217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5.7 </a:t>
            </a:r>
            <a:r>
              <a:rPr lang="zh-CN" altLang="en-US" sz="2400" dirty="0">
                <a:latin typeface="+mj-ea"/>
              </a:rPr>
              <a:t>基于</a:t>
            </a:r>
            <a:r>
              <a:rPr lang="en-US" altLang="zh-CN" sz="2400" dirty="0">
                <a:latin typeface="+mj-ea"/>
              </a:rPr>
              <a:t>IA-32/x86-64</a:t>
            </a:r>
            <a:r>
              <a:rPr lang="zh-CN" altLang="en-US" sz="2400" dirty="0">
                <a:latin typeface="+mj-ea"/>
              </a:rPr>
              <a:t>架构</a:t>
            </a:r>
            <a:endParaRPr lang="zh-CN" altLang="en-US" sz="2400" dirty="0">
              <a:latin typeface="+mj-ea"/>
            </a:endParaRPr>
          </a:p>
          <a:p>
            <a:r>
              <a:rPr lang="zh-CN" altLang="en-US" sz="2400" dirty="0">
                <a:latin typeface="+mj-ea"/>
              </a:rPr>
              <a:t>      的内存管理策略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5</a:t>
            </a:r>
            <a:r>
              <a:rPr lang="zh-CN" altLang="en-US" sz="3600" dirty="0">
                <a:solidFill>
                  <a:srgbClr val="000000"/>
                </a:solidFill>
              </a:rPr>
              <a:t>章 </a:t>
            </a:r>
            <a:r>
              <a:rPr lang="zh-CN" altLang="en-US" sz="3600" dirty="0" smtClean="0">
                <a:solidFill>
                  <a:srgbClr val="000000"/>
                </a:solidFill>
              </a:rPr>
              <a:t>   存储器管理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主讲：王红玲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存储器的层次结构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22564" y="1429474"/>
            <a:ext cx="10198376" cy="3030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存储层次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+mn-ea"/>
              </a:rPr>
              <a:t>CPU</a:t>
            </a:r>
            <a:r>
              <a:rPr lang="zh-CN" altLang="en-US" sz="2200" dirty="0">
                <a:latin typeface="+mn-ea"/>
              </a:rPr>
              <a:t>寄存器</a:t>
            </a:r>
            <a:endParaRPr lang="zh-CN" altLang="en-US" sz="2200" dirty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zh-CN" altLang="en-US" sz="2200" dirty="0" smtClean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+mn-ea"/>
              </a:rPr>
              <a:t>辅</a:t>
            </a:r>
            <a:r>
              <a:rPr lang="zh-CN" altLang="en-US" sz="2200" dirty="0">
                <a:latin typeface="+mn-ea"/>
              </a:rPr>
              <a:t>存：固定磁盘、可移动</a:t>
            </a:r>
            <a:r>
              <a:rPr lang="zh-CN" altLang="en-US" sz="2200" dirty="0" smtClean="0">
                <a:latin typeface="+mn-ea"/>
              </a:rPr>
              <a:t>介质</a:t>
            </a:r>
            <a:endParaRPr lang="zh-CN" altLang="en-US" sz="2200" dirty="0">
              <a:latin typeface="+mn-ea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层次越高，访问速度越快，价格也越高，存储容量也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最小。</a:t>
            </a:r>
            <a:endParaRPr lang="zh-CN" altLang="en-US" sz="2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09559" y="4602820"/>
            <a:ext cx="6338680" cy="127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寄存器和主存掉电后存储的信息不再存在</a:t>
            </a:r>
            <a:endParaRPr lang="zh-CN" altLang="en-US" sz="2400" dirty="0">
              <a:latin typeface="+mn-ea"/>
            </a:endParaRPr>
          </a:p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辅存的信息长期保存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9455" y="152634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5340" y="393273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10" name="文本框 9"/>
          <p:cNvSpPr txBox="1"/>
          <p:nvPr/>
        </p:nvSpPr>
        <p:spPr>
          <a:xfrm>
            <a:off x="1622356" y="1943360"/>
            <a:ext cx="6338680" cy="118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None/>
            </a:pPr>
            <a:endParaRPr lang="zh-CN" altLang="en-US" sz="2200" dirty="0" smtClean="0">
              <a:latin typeface="+mn-ea"/>
            </a:endParaRP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latin typeface="+mn-ea"/>
              </a:rPr>
              <a:t>主存</a:t>
            </a:r>
            <a:r>
              <a:rPr lang="zh-CN" altLang="en-US" sz="2200" dirty="0">
                <a:latin typeface="+mn-ea"/>
              </a:rPr>
              <a:t>：高速缓存、主存储器、磁盘</a:t>
            </a:r>
            <a:r>
              <a:rPr lang="zh-CN" altLang="en-US" sz="2200" dirty="0" smtClean="0">
                <a:latin typeface="+mn-ea"/>
              </a:rPr>
              <a:t>缓存</a:t>
            </a:r>
            <a:endParaRPr lang="zh-CN" altLang="en-US" sz="2200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5340" y="477601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计算机存储层次示意图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4" name="组合 41"/>
          <p:cNvGrpSpPr/>
          <p:nvPr/>
        </p:nvGrpSpPr>
        <p:grpSpPr bwMode="auto">
          <a:xfrm>
            <a:off x="2698637" y="1514541"/>
            <a:ext cx="7127942" cy="4285358"/>
            <a:chOff x="1038179" y="1916832"/>
            <a:chExt cx="5988084" cy="3600400"/>
          </a:xfrm>
        </p:grpSpPr>
        <p:sp>
          <p:nvSpPr>
            <p:cNvPr id="15" name="梯形 14"/>
            <p:cNvSpPr/>
            <p:nvPr/>
          </p:nvSpPr>
          <p:spPr>
            <a:xfrm>
              <a:off x="2418238" y="1916832"/>
              <a:ext cx="4608025" cy="3600400"/>
            </a:xfrm>
            <a:prstGeom prst="trapezoid">
              <a:avLst/>
            </a:prstGeom>
            <a:solidFill>
              <a:srgbClr val="FFFF0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2400" dirty="0">
                <a:latin typeface="+mn-ea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3132537" y="2564523"/>
              <a:ext cx="316831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2988090" y="3140777"/>
              <a:ext cx="3455621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5" idx="1"/>
              <a:endCxn id="15" idx="3"/>
            </p:cNvCxnSpPr>
            <p:nvPr/>
          </p:nvCxnSpPr>
          <p:spPr>
            <a:xfrm>
              <a:off x="2867453" y="3717032"/>
              <a:ext cx="3708008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2699196" y="4364723"/>
              <a:ext cx="403341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2556336" y="4940977"/>
              <a:ext cx="4319130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9"/>
            <p:cNvSpPr txBox="1">
              <a:spLocks noChangeArrowheads="1"/>
            </p:cNvSpPr>
            <p:nvPr/>
          </p:nvSpPr>
          <p:spPr bwMode="auto">
            <a:xfrm>
              <a:off x="4211960" y="2060847"/>
              <a:ext cx="1080120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latin typeface="+mn-ea"/>
                  <a:ea typeface="+mn-ea"/>
                </a:rPr>
                <a:t>寄存器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23" name="文本框 30"/>
            <p:cNvSpPr txBox="1">
              <a:spLocks noChangeArrowheads="1"/>
            </p:cNvSpPr>
            <p:nvPr/>
          </p:nvSpPr>
          <p:spPr bwMode="auto">
            <a:xfrm>
              <a:off x="4211960" y="2699628"/>
              <a:ext cx="1224136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+mn-ea"/>
                  <a:ea typeface="+mn-ea"/>
                </a:rPr>
                <a:t>高速缓存</a:t>
              </a: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4" name="文本框 31"/>
            <p:cNvSpPr txBox="1">
              <a:spLocks noChangeArrowheads="1"/>
            </p:cNvSpPr>
            <p:nvPr/>
          </p:nvSpPr>
          <p:spPr bwMode="auto">
            <a:xfrm>
              <a:off x="4211960" y="3275692"/>
              <a:ext cx="1224136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+mn-ea"/>
                  <a:ea typeface="+mn-ea"/>
                </a:rPr>
                <a:t>主存储器</a:t>
              </a: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5" name="文本框 32"/>
            <p:cNvSpPr txBox="1">
              <a:spLocks noChangeArrowheads="1"/>
            </p:cNvSpPr>
            <p:nvPr/>
          </p:nvSpPr>
          <p:spPr bwMode="auto">
            <a:xfrm>
              <a:off x="4283968" y="3872123"/>
              <a:ext cx="1224136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+mn-ea"/>
                  <a:ea typeface="+mn-ea"/>
                </a:rPr>
                <a:t>磁盘缓存</a:t>
              </a: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6" name="文本框 33"/>
            <p:cNvSpPr txBox="1">
              <a:spLocks noChangeArrowheads="1"/>
            </p:cNvSpPr>
            <p:nvPr/>
          </p:nvSpPr>
          <p:spPr bwMode="auto">
            <a:xfrm>
              <a:off x="4283968" y="4478450"/>
              <a:ext cx="1224136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+mn-ea"/>
                  <a:ea typeface="+mn-ea"/>
                </a:rPr>
                <a:t>固定磁盘</a:t>
              </a: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27" name="文本框 34"/>
            <p:cNvSpPr txBox="1">
              <a:spLocks noChangeArrowheads="1"/>
            </p:cNvSpPr>
            <p:nvPr/>
          </p:nvSpPr>
          <p:spPr bwMode="auto">
            <a:xfrm>
              <a:off x="3995935" y="5084658"/>
              <a:ext cx="2099863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latin typeface="+mn-ea"/>
                  <a:ea typeface="+mn-ea"/>
                </a:rPr>
                <a:t>可移动存储介质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28" name="文本框 35"/>
            <p:cNvSpPr txBox="1">
              <a:spLocks noChangeArrowheads="1"/>
            </p:cNvSpPr>
            <p:nvPr/>
          </p:nvSpPr>
          <p:spPr bwMode="auto">
            <a:xfrm>
              <a:off x="1043608" y="2060847"/>
              <a:ext cx="1512168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latin typeface="+mn-ea"/>
                  <a:ea typeface="+mn-ea"/>
                  <a:cs typeface="黑体" panose="02010609060101010101" charset="-122"/>
                </a:rPr>
                <a:t>CPU</a:t>
              </a:r>
              <a:r>
                <a:rPr lang="zh-CN" altLang="en-US" sz="2400">
                  <a:latin typeface="+mn-ea"/>
                  <a:ea typeface="+mn-ea"/>
                  <a:cs typeface="黑体" panose="02010609060101010101" charset="-122"/>
                </a:rPr>
                <a:t>寄存器</a:t>
              </a:r>
              <a:endParaRPr lang="zh-CN" altLang="en-US" sz="2400">
                <a:latin typeface="+mn-ea"/>
                <a:ea typeface="+mn-ea"/>
                <a:cs typeface="黑体" panose="02010609060101010101" charset="-122"/>
              </a:endParaRPr>
            </a:p>
          </p:txBody>
        </p:sp>
        <p:sp>
          <p:nvSpPr>
            <p:cNvPr id="29" name="文本框 36"/>
            <p:cNvSpPr txBox="1">
              <a:spLocks noChangeArrowheads="1"/>
            </p:cNvSpPr>
            <p:nvPr/>
          </p:nvSpPr>
          <p:spPr bwMode="auto">
            <a:xfrm>
              <a:off x="1339839" y="3275692"/>
              <a:ext cx="716611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>
                  <a:latin typeface="+mn-ea"/>
                  <a:ea typeface="+mn-ea"/>
                </a:rPr>
                <a:t>主存</a:t>
              </a:r>
              <a:endParaRPr lang="zh-CN" altLang="en-US" sz="2400">
                <a:latin typeface="+mn-ea"/>
                <a:ea typeface="+mn-ea"/>
              </a:endParaRPr>
            </a:p>
          </p:txBody>
        </p:sp>
        <p:sp>
          <p:nvSpPr>
            <p:cNvPr id="30" name="文本框 37"/>
            <p:cNvSpPr txBox="1">
              <a:spLocks noChangeArrowheads="1"/>
            </p:cNvSpPr>
            <p:nvPr/>
          </p:nvSpPr>
          <p:spPr bwMode="auto">
            <a:xfrm>
              <a:off x="1038179" y="4715326"/>
              <a:ext cx="725510" cy="387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dirty="0">
                  <a:latin typeface="+mn-ea"/>
                  <a:ea typeface="+mn-ea"/>
                </a:rPr>
                <a:t>辅存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31" name="左大括号 30"/>
            <p:cNvSpPr/>
            <p:nvPr/>
          </p:nvSpPr>
          <p:spPr>
            <a:xfrm>
              <a:off x="2556336" y="1916832"/>
              <a:ext cx="142860" cy="647691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32" name="左大括号 31"/>
            <p:cNvSpPr/>
            <p:nvPr/>
          </p:nvSpPr>
          <p:spPr>
            <a:xfrm>
              <a:off x="2286489" y="2564523"/>
              <a:ext cx="125399" cy="1730351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33" name="左大括号 32"/>
            <p:cNvSpPr/>
            <p:nvPr/>
          </p:nvSpPr>
          <p:spPr>
            <a:xfrm>
              <a:off x="1910291" y="4364723"/>
              <a:ext cx="141273" cy="115250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 sz="240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关于各级存储器的说明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61" name="iśḷíḑe"/>
          <p:cNvSpPr/>
          <p:nvPr/>
        </p:nvSpPr>
        <p:spPr>
          <a:xfrm>
            <a:off x="835818" y="1124483"/>
            <a:ext cx="774099" cy="7740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1218565">
              <a:defRPr/>
            </a:pPr>
            <a:r>
              <a:rPr lang="en-US" altLang="zh-CN" sz="2400" b="1" kern="0" dirty="0">
                <a:solidFill>
                  <a:prstClr val="white"/>
                </a:solidFill>
              </a:rPr>
              <a:t>01</a:t>
            </a:r>
            <a:endParaRPr lang="zh-CN" altLang="en-US" sz="2400" b="1" kern="0" dirty="0">
              <a:solidFill>
                <a:prstClr val="white"/>
              </a:solidFill>
            </a:endParaRPr>
          </a:p>
        </p:txBody>
      </p:sp>
      <p:sp>
        <p:nvSpPr>
          <p:cNvPr id="62" name="ïś1ïḑè"/>
          <p:cNvSpPr/>
          <p:nvPr/>
        </p:nvSpPr>
        <p:spPr>
          <a:xfrm>
            <a:off x="6766391" y="1140993"/>
            <a:ext cx="774099" cy="77409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1218565">
              <a:defRPr/>
            </a:pPr>
            <a:r>
              <a:rPr lang="en-US" altLang="zh-CN" sz="2400" b="1" kern="0" dirty="0">
                <a:solidFill>
                  <a:prstClr val="white"/>
                </a:solidFill>
              </a:rPr>
              <a:t>02</a:t>
            </a:r>
            <a:endParaRPr lang="zh-CN" altLang="en-US" sz="2400" b="1" kern="0" dirty="0">
              <a:solidFill>
                <a:prstClr val="white"/>
              </a:solidFill>
            </a:endParaRPr>
          </a:p>
        </p:txBody>
      </p:sp>
      <p:sp>
        <p:nvSpPr>
          <p:cNvPr id="83" name="iśḷíḑe"/>
          <p:cNvSpPr/>
          <p:nvPr/>
        </p:nvSpPr>
        <p:spPr>
          <a:xfrm>
            <a:off x="835817" y="1915351"/>
            <a:ext cx="774099" cy="7740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1218565">
              <a:defRPr/>
            </a:pPr>
            <a:r>
              <a:rPr lang="en-US" altLang="zh-CN" sz="2400" b="1" kern="0" dirty="0">
                <a:solidFill>
                  <a:prstClr val="white"/>
                </a:solidFill>
              </a:rPr>
              <a:t>03</a:t>
            </a:r>
            <a:endParaRPr lang="zh-CN" altLang="en-US" sz="2400" b="1" kern="0" dirty="0">
              <a:solidFill>
                <a:prstClr val="white"/>
              </a:solidFill>
            </a:endParaRPr>
          </a:p>
        </p:txBody>
      </p:sp>
      <p:sp>
        <p:nvSpPr>
          <p:cNvPr id="84" name="ïś1ïḑè"/>
          <p:cNvSpPr/>
          <p:nvPr/>
        </p:nvSpPr>
        <p:spPr>
          <a:xfrm>
            <a:off x="835817" y="2752727"/>
            <a:ext cx="774099" cy="77409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1218565">
              <a:defRPr/>
            </a:pPr>
            <a:r>
              <a:rPr lang="en-US" altLang="zh-CN" sz="2400" b="1" kern="0" dirty="0">
                <a:solidFill>
                  <a:prstClr val="white"/>
                </a:solidFill>
              </a:rPr>
              <a:t>04</a:t>
            </a:r>
            <a:endParaRPr lang="zh-CN" altLang="en-US" sz="2400" b="1" kern="0" dirty="0">
              <a:solidFill>
                <a:prstClr val="white"/>
              </a:solidFill>
            </a:endParaRPr>
          </a:p>
        </p:txBody>
      </p:sp>
      <p:sp>
        <p:nvSpPr>
          <p:cNvPr id="85" name="内容占位符 2"/>
          <p:cNvSpPr txBox="1"/>
          <p:nvPr/>
        </p:nvSpPr>
        <p:spPr>
          <a:xfrm>
            <a:off x="1825999" y="1234678"/>
            <a:ext cx="8826198" cy="5260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buNone/>
            </a:pPr>
            <a:r>
              <a:rPr lang="zh-CN" altLang="en-US" sz="2400" dirty="0"/>
              <a:t>可执行存储器：寄存器和主存储器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86" name="内容占位符 2"/>
          <p:cNvSpPr txBox="1"/>
          <p:nvPr/>
        </p:nvSpPr>
        <p:spPr>
          <a:xfrm>
            <a:off x="7696835" y="1344930"/>
            <a:ext cx="4292600" cy="3657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主存储器：</a:t>
            </a:r>
            <a:r>
              <a:rPr lang="zh-CN" altLang="en-US" sz="2400" dirty="0">
                <a:solidFill>
                  <a:srgbClr val="FF0000"/>
                </a:solidFill>
              </a:rPr>
              <a:t>内存或主存</a:t>
            </a:r>
            <a:r>
              <a:rPr lang="zh-CN" altLang="en-US" sz="2400" dirty="0" smtClean="0">
                <a:solidFill>
                  <a:srgbClr val="FF0000"/>
                </a:solidFill>
              </a:rPr>
              <a:t>。</a:t>
            </a:r>
            <a:r>
              <a:rPr lang="en-US" altLang="zh-CN" sz="2400" dirty="0">
                <a:solidFill>
                  <a:srgbClr val="0000FF"/>
                </a:solidFill>
                <a:sym typeface="+mn-ea"/>
              </a:rPr>
              <a:t>RAM</a:t>
            </a:r>
            <a:endParaRPr lang="en-US" altLang="zh-CN" sz="2400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87" name="内容占位符 2"/>
          <p:cNvSpPr txBox="1"/>
          <p:nvPr/>
        </p:nvSpPr>
        <p:spPr>
          <a:xfrm>
            <a:off x="1826397" y="2120885"/>
            <a:ext cx="7176660" cy="367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 smtClean="0">
                <a:solidFill>
                  <a:srgbClr val="0000FF"/>
                </a:solidFill>
              </a:rPr>
              <a:t>寄存器</a:t>
            </a:r>
            <a:r>
              <a:rPr lang="zh-CN" altLang="en-US" sz="2400" dirty="0">
                <a:solidFill>
                  <a:srgbClr val="0000FF"/>
                </a:solidFill>
              </a:rPr>
              <a:t>：</a:t>
            </a:r>
            <a:r>
              <a:rPr lang="zh-CN" altLang="en-US" sz="2400" dirty="0"/>
              <a:t>访问速度最快，与</a:t>
            </a:r>
            <a:r>
              <a:rPr lang="en-US" altLang="zh-CN" sz="2400" dirty="0"/>
              <a:t>CPU</a:t>
            </a:r>
            <a:r>
              <a:rPr lang="zh-CN" altLang="en-US" sz="2400" dirty="0"/>
              <a:t>协调工作，价格贵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88" name="内容占位符 2"/>
          <p:cNvSpPr txBox="1"/>
          <p:nvPr/>
        </p:nvSpPr>
        <p:spPr>
          <a:xfrm>
            <a:off x="1826260" y="2890520"/>
            <a:ext cx="9368790" cy="4749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高速缓存：</a:t>
            </a:r>
            <a:r>
              <a:rPr lang="zh-CN" altLang="en-US" sz="2400" dirty="0"/>
              <a:t>介于寄存器和存储器之间。常分三层，集成在</a:t>
            </a:r>
            <a:r>
              <a:rPr lang="en-US" altLang="zh-CN" sz="2400" dirty="0"/>
              <a:t>CPU</a:t>
            </a:r>
            <a:r>
              <a:rPr lang="zh-CN" altLang="en-US" sz="2400" dirty="0"/>
              <a:t>内部</a:t>
            </a:r>
            <a:endParaRPr lang="zh-CN" altLang="en-US" sz="2400" dirty="0"/>
          </a:p>
        </p:txBody>
      </p:sp>
      <p:sp>
        <p:nvSpPr>
          <p:cNvPr id="89" name="iśḷíḑe"/>
          <p:cNvSpPr/>
          <p:nvPr/>
        </p:nvSpPr>
        <p:spPr>
          <a:xfrm>
            <a:off x="835817" y="4357304"/>
            <a:ext cx="774099" cy="7740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1218565">
              <a:defRPr/>
            </a:pPr>
            <a:r>
              <a:rPr lang="en-US" altLang="zh-CN" sz="2400" b="1" kern="0" dirty="0">
                <a:solidFill>
                  <a:prstClr val="white"/>
                </a:solidFill>
              </a:rPr>
              <a:t>05</a:t>
            </a:r>
            <a:endParaRPr lang="zh-CN" altLang="en-US" sz="2400" b="1" kern="0" dirty="0">
              <a:solidFill>
                <a:prstClr val="white"/>
              </a:solidFill>
            </a:endParaRPr>
          </a:p>
        </p:txBody>
      </p:sp>
      <p:sp>
        <p:nvSpPr>
          <p:cNvPr id="90" name="内容占位符 2"/>
          <p:cNvSpPr txBox="1"/>
          <p:nvPr/>
        </p:nvSpPr>
        <p:spPr>
          <a:xfrm>
            <a:off x="1785994" y="4495745"/>
            <a:ext cx="2290026" cy="367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磁盘缓存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21" name="内容占位符 2"/>
          <p:cNvSpPr txBox="1"/>
          <p:nvPr/>
        </p:nvSpPr>
        <p:spPr>
          <a:xfrm>
            <a:off x="1345565" y="4911725"/>
            <a:ext cx="10644505" cy="16046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暂时存放频繁使用的一部分磁盘数据和信息；</a:t>
            </a:r>
            <a:endParaRPr lang="zh-CN" altLang="en-US" sz="2200" dirty="0"/>
          </a:p>
          <a:p>
            <a:pPr lvl="1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缓和主存和</a:t>
            </a:r>
            <a:r>
              <a:rPr lang="en-US" altLang="zh-CN" sz="2200" dirty="0"/>
              <a:t>I/O</a:t>
            </a:r>
            <a:r>
              <a:rPr lang="zh-CN" altLang="en-US" sz="2200" dirty="0"/>
              <a:t>设备在速度上的不匹配；</a:t>
            </a:r>
            <a:endParaRPr lang="zh-CN" altLang="en-US" sz="2200" dirty="0"/>
          </a:p>
          <a:p>
            <a:pPr lvl="1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利用主存的部分空间，主存可看成辅存的高速缓存。或磁盘控制器里的磁盘内部缓存。</a:t>
            </a:r>
            <a:endParaRPr lang="zh-CN" altLang="en-US" sz="2200" dirty="0"/>
          </a:p>
        </p:txBody>
      </p:sp>
      <p:sp>
        <p:nvSpPr>
          <p:cNvPr id="22" name="内容占位符 2"/>
          <p:cNvSpPr txBox="1"/>
          <p:nvPr/>
        </p:nvSpPr>
        <p:spPr>
          <a:xfrm>
            <a:off x="1379220" y="3305810"/>
            <a:ext cx="10419715" cy="10553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备份主存主常用数据，减少对主存储器的访问次数；</a:t>
            </a:r>
            <a:r>
              <a:rPr lang="zh-CN" altLang="en-US" sz="2200" dirty="0">
                <a:sym typeface="+mn-ea"/>
              </a:rPr>
              <a:t>缓存命中，局部性原理</a:t>
            </a:r>
            <a:endParaRPr lang="zh-CN" altLang="en-US" sz="2200" dirty="0"/>
          </a:p>
          <a:p>
            <a:pPr lvl="1">
              <a:lnSpc>
                <a:spcPct val="132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缓和内存与处理机之间的矛盾。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5.1 </a:t>
            </a:r>
            <a:r>
              <a:rPr lang="zh-CN" altLang="en-US" sz="2400" dirty="0">
                <a:latin typeface="+mj-ea"/>
                <a:ea typeface="+mj-ea"/>
              </a:rPr>
              <a:t>存储器的</a:t>
            </a:r>
            <a:r>
              <a:rPr lang="zh-CN" altLang="en-US" sz="2400" dirty="0" smtClean="0">
                <a:latin typeface="+mj-ea"/>
                <a:ea typeface="+mj-ea"/>
              </a:rPr>
              <a:t>层次结构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</a:rPr>
              <a:t>5.2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程序的装入和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</a:rPr>
              <a:t>链接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5.3 </a:t>
            </a:r>
            <a:r>
              <a:rPr lang="zh-CN" altLang="en-US" sz="2400" dirty="0">
                <a:latin typeface="+mj-ea"/>
              </a:rPr>
              <a:t>对换与</a:t>
            </a:r>
            <a:r>
              <a:rPr lang="zh-CN" altLang="en-US" sz="2400" dirty="0" smtClean="0">
                <a:latin typeface="+mj-ea"/>
              </a:rPr>
              <a:t>覆盖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5.4 </a:t>
            </a:r>
            <a:r>
              <a:rPr lang="zh-CN" altLang="en-US" sz="2400" dirty="0">
                <a:latin typeface="+mj-ea"/>
              </a:rPr>
              <a:t>连续分配存储管理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5.5 </a:t>
            </a:r>
            <a:r>
              <a:rPr lang="zh-CN" altLang="en-US" sz="2400" dirty="0">
                <a:latin typeface="+mj-ea"/>
              </a:rPr>
              <a:t>分页存储管理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5.6 </a:t>
            </a:r>
            <a:r>
              <a:rPr lang="zh-CN" altLang="en-US" sz="2400" dirty="0">
                <a:latin typeface="+mj-ea"/>
              </a:rPr>
              <a:t>分段存储管理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40217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5.7 </a:t>
            </a:r>
            <a:r>
              <a:rPr lang="zh-CN" altLang="en-US" sz="2400" dirty="0">
                <a:latin typeface="+mj-ea"/>
              </a:rPr>
              <a:t>基于</a:t>
            </a:r>
            <a:r>
              <a:rPr lang="en-US" altLang="zh-CN" sz="2400" dirty="0">
                <a:latin typeface="+mj-ea"/>
              </a:rPr>
              <a:t>IA-32/x86-64</a:t>
            </a:r>
            <a:r>
              <a:rPr lang="zh-CN" altLang="en-US" sz="2400" dirty="0">
                <a:latin typeface="+mj-ea"/>
              </a:rPr>
              <a:t>架构</a:t>
            </a:r>
            <a:endParaRPr lang="zh-CN" altLang="en-US" sz="2400" dirty="0">
              <a:latin typeface="+mj-ea"/>
            </a:endParaRPr>
          </a:p>
          <a:p>
            <a:r>
              <a:rPr lang="zh-CN" altLang="en-US" sz="2400" dirty="0">
                <a:latin typeface="+mj-ea"/>
              </a:rPr>
              <a:t>      的内存管理策略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5</a:t>
            </a:r>
            <a:r>
              <a:rPr lang="zh-CN" altLang="en-US" sz="3600" dirty="0">
                <a:solidFill>
                  <a:srgbClr val="000000"/>
                </a:solidFill>
              </a:rPr>
              <a:t>章 </a:t>
            </a:r>
            <a:r>
              <a:rPr lang="zh-CN" altLang="en-US" sz="3600" dirty="0" smtClean="0">
                <a:solidFill>
                  <a:srgbClr val="000000"/>
                </a:solidFill>
              </a:rPr>
              <a:t>   存储器管理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主讲：王红玲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/>
          <p:cNvSpPr txBox="1"/>
          <p:nvPr/>
        </p:nvSpPr>
        <p:spPr>
          <a:xfrm>
            <a:off x="669925" y="3864215"/>
            <a:ext cx="10850563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程序的装入和链接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7" name="i$1îḑe"/>
          <p:cNvSpPr/>
          <p:nvPr/>
        </p:nvSpPr>
        <p:spPr>
          <a:xfrm>
            <a:off x="669925" y="3515841"/>
            <a:ext cx="624349" cy="624349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3</a:t>
            </a:r>
            <a:endParaRPr lang="en-US" altLang="zh-CN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í$1îḍe"/>
          <p:cNvSpPr txBox="1"/>
          <p:nvPr/>
        </p:nvSpPr>
        <p:spPr>
          <a:xfrm>
            <a:off x="1623687" y="3541426"/>
            <a:ext cx="8627896" cy="487739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装入：</a:t>
            </a:r>
            <a:r>
              <a:rPr lang="zh-CN" altLang="en-US" sz="2400" dirty="0"/>
              <a:t>由装入程序</a:t>
            </a:r>
            <a:r>
              <a:rPr lang="en-US" altLang="zh-CN" sz="2400" dirty="0"/>
              <a:t>(Loader)</a:t>
            </a:r>
            <a:r>
              <a:rPr lang="zh-CN" altLang="en-US" sz="2400" dirty="0"/>
              <a:t>将装入模块装入内存</a:t>
            </a:r>
            <a:endParaRPr lang="zh-CN" altLang="en-US" sz="2400" dirty="0"/>
          </a:p>
        </p:txBody>
      </p:sp>
      <p:sp>
        <p:nvSpPr>
          <p:cNvPr id="30" name="ïSļïḓè"/>
          <p:cNvSpPr/>
          <p:nvPr/>
        </p:nvSpPr>
        <p:spPr>
          <a:xfrm>
            <a:off x="669925" y="2547121"/>
            <a:ext cx="624349" cy="624349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2</a:t>
            </a:r>
            <a:endParaRPr lang="en-US" altLang="zh-CN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" name="iŝļíďè"/>
          <p:cNvSpPr txBox="1"/>
          <p:nvPr/>
        </p:nvSpPr>
        <p:spPr>
          <a:xfrm>
            <a:off x="1623687" y="2344895"/>
            <a:ext cx="9619569" cy="1032638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链接：</a:t>
            </a:r>
            <a:r>
              <a:rPr lang="zh-CN" altLang="en-US" sz="2400" dirty="0"/>
              <a:t>由链接程序</a:t>
            </a:r>
            <a:r>
              <a:rPr lang="en-US" altLang="zh-CN" sz="2400" dirty="0"/>
              <a:t>(Linker)</a:t>
            </a:r>
            <a:r>
              <a:rPr lang="zh-CN" altLang="en-US" sz="2400" dirty="0"/>
              <a:t>将目标模块和它们所需要的库函数链接在一起，形成一个完整的装入模块</a:t>
            </a:r>
            <a:endParaRPr lang="zh-CN" altLang="en-US" sz="2400" dirty="0"/>
          </a:p>
        </p:txBody>
      </p:sp>
      <p:sp>
        <p:nvSpPr>
          <p:cNvPr id="33" name="ïśľiďe"/>
          <p:cNvSpPr/>
          <p:nvPr/>
        </p:nvSpPr>
        <p:spPr>
          <a:xfrm>
            <a:off x="669927" y="1681416"/>
            <a:ext cx="624349" cy="624349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1</a:t>
            </a:r>
            <a:endParaRPr lang="en-US" altLang="zh-CN" sz="28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îṡ1ide"/>
          <p:cNvSpPr txBox="1"/>
          <p:nvPr/>
        </p:nvSpPr>
        <p:spPr>
          <a:xfrm>
            <a:off x="1623687" y="1687590"/>
            <a:ext cx="9896801" cy="556258"/>
          </a:xfrm>
          <a:prstGeom prst="rect">
            <a:avLst/>
          </a:prstGeom>
          <a:noFill/>
        </p:spPr>
        <p:txBody>
          <a:bodyPr wrap="square" lIns="91440" tIns="45720" rIns="91440" bIns="4572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编译：</a:t>
            </a:r>
            <a:r>
              <a:rPr lang="zh-CN" altLang="en-US" sz="2400" dirty="0"/>
              <a:t>由编译程序</a:t>
            </a:r>
            <a:r>
              <a:rPr lang="en-US" altLang="zh-CN" sz="2400" dirty="0"/>
              <a:t>(Compiler)</a:t>
            </a:r>
            <a:r>
              <a:rPr lang="zh-CN" altLang="en-US" sz="2400" dirty="0"/>
              <a:t>对源程序进行编译，形成若干个目标模块</a:t>
            </a:r>
            <a:endParaRPr lang="zh-CN" altLang="en-US" sz="2400" dirty="0"/>
          </a:p>
        </p:txBody>
      </p:sp>
      <p:cxnSp>
        <p:nvCxnSpPr>
          <p:cNvPr id="36" name="直接连接符 35"/>
          <p:cNvCxnSpPr/>
          <p:nvPr/>
        </p:nvCxnSpPr>
        <p:spPr>
          <a:xfrm>
            <a:off x="1752475" y="3407964"/>
            <a:ext cx="9490781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1752475" y="2331523"/>
            <a:ext cx="9490781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1688082" y="4058686"/>
            <a:ext cx="6645560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38"/>
          <p:cNvGrpSpPr/>
          <p:nvPr/>
        </p:nvGrpSpPr>
        <p:grpSpPr bwMode="auto">
          <a:xfrm>
            <a:off x="883983" y="3611052"/>
            <a:ext cx="10107303" cy="3201300"/>
            <a:chOff x="-336" y="252"/>
            <a:chExt cx="5664" cy="2991"/>
          </a:xfrm>
        </p:grpSpPr>
        <p:sp>
          <p:nvSpPr>
            <p:cNvPr id="29" name="Text Box 3"/>
            <p:cNvSpPr txBox="1">
              <a:spLocks noChangeArrowheads="1"/>
            </p:cNvSpPr>
            <p:nvPr/>
          </p:nvSpPr>
          <p:spPr bwMode="auto">
            <a:xfrm>
              <a:off x="-336" y="1380"/>
              <a:ext cx="1483" cy="93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3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汇编程序或编译程序产生的目标模块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32" name="AutoShape 4"/>
            <p:cNvSpPr/>
            <p:nvPr/>
          </p:nvSpPr>
          <p:spPr bwMode="auto">
            <a:xfrm>
              <a:off x="1200" y="1440"/>
              <a:ext cx="96" cy="1104"/>
            </a:xfrm>
            <a:prstGeom prst="leftBrace">
              <a:avLst>
                <a:gd name="adj1" fmla="val 95833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" name="Rectangle 5"/>
            <p:cNvSpPr>
              <a:spLocks noChangeArrowheads="1"/>
            </p:cNvSpPr>
            <p:nvPr/>
          </p:nvSpPr>
          <p:spPr bwMode="auto">
            <a:xfrm>
              <a:off x="1344" y="1440"/>
              <a:ext cx="720" cy="24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" name="Rectangle 6"/>
            <p:cNvSpPr>
              <a:spLocks noChangeArrowheads="1"/>
            </p:cNvSpPr>
            <p:nvPr/>
          </p:nvSpPr>
          <p:spPr bwMode="auto">
            <a:xfrm>
              <a:off x="1344" y="1824"/>
              <a:ext cx="720" cy="24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" name="Text Box 7"/>
            <p:cNvSpPr txBox="1">
              <a:spLocks noChangeArrowheads="1"/>
            </p:cNvSpPr>
            <p:nvPr/>
          </p:nvSpPr>
          <p:spPr bwMode="auto">
            <a:xfrm>
              <a:off x="1532" y="2160"/>
              <a:ext cx="29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>
                  <a:solidFill>
                    <a:schemeClr val="accent2"/>
                  </a:solidFill>
                </a:rPr>
                <a:t>…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42" name="AutoShape 8"/>
            <p:cNvSpPr/>
            <p:nvPr/>
          </p:nvSpPr>
          <p:spPr bwMode="auto">
            <a:xfrm rot="-5400000">
              <a:off x="1296" y="1776"/>
              <a:ext cx="144" cy="1872"/>
            </a:xfrm>
            <a:prstGeom prst="leftBrace">
              <a:avLst>
                <a:gd name="adj1" fmla="val 108333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" name="Text Box 10"/>
            <p:cNvSpPr txBox="1">
              <a:spLocks noChangeArrowheads="1"/>
            </p:cNvSpPr>
            <p:nvPr/>
          </p:nvSpPr>
          <p:spPr bwMode="auto">
            <a:xfrm>
              <a:off x="1056" y="2842"/>
              <a:ext cx="624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第一步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44" name="AutoShape 11"/>
            <p:cNvSpPr>
              <a:spLocks noChangeArrowheads="1"/>
            </p:cNvSpPr>
            <p:nvPr/>
          </p:nvSpPr>
          <p:spPr bwMode="auto">
            <a:xfrm>
              <a:off x="1296" y="768"/>
              <a:ext cx="448" cy="473"/>
            </a:xfrm>
            <a:prstGeom prst="flowChartOnlineStorage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库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cxnSp>
          <p:nvCxnSpPr>
            <p:cNvPr id="45" name="AutoShape 12"/>
            <p:cNvCxnSpPr>
              <a:cxnSpLocks noChangeShapeType="1"/>
              <a:stCxn id="44" idx="3"/>
            </p:cNvCxnSpPr>
            <p:nvPr/>
          </p:nvCxnSpPr>
          <p:spPr bwMode="auto">
            <a:xfrm>
              <a:off x="1669" y="1005"/>
              <a:ext cx="635" cy="1443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6" name="Line 14"/>
            <p:cNvSpPr>
              <a:spLocks noChangeShapeType="1"/>
            </p:cNvSpPr>
            <p:nvPr/>
          </p:nvSpPr>
          <p:spPr bwMode="auto">
            <a:xfrm>
              <a:off x="2064" y="15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7" name="Line 15"/>
            <p:cNvSpPr>
              <a:spLocks noChangeShapeType="1"/>
            </p:cNvSpPr>
            <p:nvPr/>
          </p:nvSpPr>
          <p:spPr bwMode="auto">
            <a:xfrm>
              <a:off x="2064" y="192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8" name="Line 16"/>
            <p:cNvSpPr>
              <a:spLocks noChangeShapeType="1"/>
            </p:cNvSpPr>
            <p:nvPr/>
          </p:nvSpPr>
          <p:spPr bwMode="auto">
            <a:xfrm>
              <a:off x="2304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49" name="Text Box 17"/>
            <p:cNvSpPr txBox="1">
              <a:spLocks noChangeArrowheads="1"/>
            </p:cNvSpPr>
            <p:nvPr/>
          </p:nvSpPr>
          <p:spPr bwMode="auto">
            <a:xfrm>
              <a:off x="2640" y="1416"/>
              <a:ext cx="528" cy="67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u="sng">
                  <a:latin typeface="+mn-ea"/>
                  <a:ea typeface="+mn-ea"/>
                </a:rPr>
                <a:t>链接</a:t>
              </a:r>
              <a:endParaRPr lang="zh-CN" altLang="en-US" sz="2400" u="sng">
                <a:latin typeface="+mn-ea"/>
                <a:ea typeface="+mn-ea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u="sng">
                  <a:latin typeface="+mn-ea"/>
                  <a:ea typeface="+mn-ea"/>
                </a:rPr>
                <a:t>程序</a:t>
              </a:r>
              <a:endParaRPr lang="zh-CN" altLang="en-US" sz="2400" u="sng">
                <a:latin typeface="+mn-ea"/>
                <a:ea typeface="+mn-ea"/>
              </a:endParaRPr>
            </a:p>
          </p:txBody>
        </p:sp>
        <p:sp>
          <p:nvSpPr>
            <p:cNvPr id="50" name="Text Box 18"/>
            <p:cNvSpPr txBox="1">
              <a:spLocks noChangeArrowheads="1"/>
            </p:cNvSpPr>
            <p:nvPr/>
          </p:nvSpPr>
          <p:spPr bwMode="auto">
            <a:xfrm>
              <a:off x="3360" y="1416"/>
              <a:ext cx="528" cy="67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装入</a:t>
              </a:r>
              <a:endParaRPr lang="zh-CN" altLang="en-US" sz="2400" dirty="0">
                <a:latin typeface="+mn-ea"/>
                <a:ea typeface="+mn-ea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模块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51" name="Text Box 19"/>
            <p:cNvSpPr txBox="1">
              <a:spLocks noChangeArrowheads="1"/>
            </p:cNvSpPr>
            <p:nvPr/>
          </p:nvSpPr>
          <p:spPr bwMode="auto">
            <a:xfrm>
              <a:off x="4080" y="1416"/>
              <a:ext cx="528" cy="67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u="sng">
                  <a:latin typeface="+mn-ea"/>
                  <a:ea typeface="+mn-ea"/>
                </a:rPr>
                <a:t>装入</a:t>
              </a:r>
              <a:endParaRPr lang="zh-CN" altLang="en-US" sz="2400" u="sng">
                <a:latin typeface="+mn-ea"/>
                <a:ea typeface="+mn-ea"/>
              </a:endParaRPr>
            </a:p>
            <a:p>
              <a:pPr algn="ctr"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u="sng">
                  <a:latin typeface="+mn-ea"/>
                  <a:ea typeface="+mn-ea"/>
                </a:rPr>
                <a:t>程序</a:t>
              </a:r>
              <a:endParaRPr lang="zh-CN" altLang="en-US" sz="2400" u="sng">
                <a:latin typeface="+mn-ea"/>
                <a:ea typeface="+mn-ea"/>
              </a:endParaRPr>
            </a:p>
          </p:txBody>
        </p:sp>
        <p:sp>
          <p:nvSpPr>
            <p:cNvPr id="52" name="AutoShape 20"/>
            <p:cNvSpPr>
              <a:spLocks noChangeArrowheads="1"/>
            </p:cNvSpPr>
            <p:nvPr/>
          </p:nvSpPr>
          <p:spPr bwMode="auto">
            <a:xfrm>
              <a:off x="4896" y="672"/>
              <a:ext cx="432" cy="1968"/>
            </a:xfrm>
            <a:prstGeom prst="flowChartPunchedTape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" name="Line 21"/>
            <p:cNvSpPr>
              <a:spLocks noChangeShapeType="1"/>
            </p:cNvSpPr>
            <p:nvPr/>
          </p:nvSpPr>
          <p:spPr bwMode="auto">
            <a:xfrm>
              <a:off x="4896" y="1392"/>
              <a:ext cx="432" cy="0"/>
            </a:xfrm>
            <a:prstGeom prst="line">
              <a:avLst/>
            </a:prstGeom>
            <a:noFill/>
            <a:ln w="9525">
              <a:solidFill>
                <a:srgbClr val="27FFB7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>
              <a:off x="4896" y="1968"/>
              <a:ext cx="432" cy="0"/>
            </a:xfrm>
            <a:prstGeom prst="line">
              <a:avLst/>
            </a:prstGeom>
            <a:noFill/>
            <a:ln w="9525">
              <a:solidFill>
                <a:srgbClr val="27FFB7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5" name="Rectangle 23" descr="浅色上对角线"/>
            <p:cNvSpPr>
              <a:spLocks noChangeArrowheads="1"/>
            </p:cNvSpPr>
            <p:nvPr/>
          </p:nvSpPr>
          <p:spPr bwMode="auto">
            <a:xfrm>
              <a:off x="4896" y="1392"/>
              <a:ext cx="432" cy="576"/>
            </a:xfrm>
            <a:prstGeom prst="rect">
              <a:avLst/>
            </a:prstGeom>
            <a:blipFill dpi="0" rotWithShape="0">
              <a:blip r:embed="rId1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" name="AutoShape 24"/>
            <p:cNvSpPr/>
            <p:nvPr/>
          </p:nvSpPr>
          <p:spPr bwMode="auto">
            <a:xfrm>
              <a:off x="4800" y="1392"/>
              <a:ext cx="48" cy="576"/>
            </a:xfrm>
            <a:prstGeom prst="leftBrace">
              <a:avLst>
                <a:gd name="adj1" fmla="val 10000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" name="Line 25"/>
            <p:cNvSpPr>
              <a:spLocks noChangeShapeType="1"/>
            </p:cNvSpPr>
            <p:nvPr/>
          </p:nvSpPr>
          <p:spPr bwMode="auto">
            <a:xfrm>
              <a:off x="4608" y="171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8" name="Line 26"/>
            <p:cNvSpPr>
              <a:spLocks noChangeShapeType="1"/>
            </p:cNvSpPr>
            <p:nvPr/>
          </p:nvSpPr>
          <p:spPr bwMode="auto">
            <a:xfrm>
              <a:off x="3168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59" name="Line 27"/>
            <p:cNvSpPr>
              <a:spLocks noChangeShapeType="1"/>
            </p:cNvSpPr>
            <p:nvPr/>
          </p:nvSpPr>
          <p:spPr bwMode="auto">
            <a:xfrm>
              <a:off x="3888" y="172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60" name="Text Box 28"/>
            <p:cNvSpPr txBox="1">
              <a:spLocks noChangeArrowheads="1"/>
            </p:cNvSpPr>
            <p:nvPr/>
          </p:nvSpPr>
          <p:spPr bwMode="auto">
            <a:xfrm>
              <a:off x="4848" y="252"/>
              <a:ext cx="480" cy="3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内存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61" name="AutoShape 29"/>
            <p:cNvSpPr/>
            <p:nvPr/>
          </p:nvSpPr>
          <p:spPr bwMode="auto">
            <a:xfrm rot="-5400000">
              <a:off x="3144" y="1944"/>
              <a:ext cx="144" cy="1536"/>
            </a:xfrm>
            <a:prstGeom prst="leftBrace">
              <a:avLst>
                <a:gd name="adj1" fmla="val 8888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" name="Text Box 30"/>
            <p:cNvSpPr txBox="1">
              <a:spLocks noChangeArrowheads="1"/>
            </p:cNvSpPr>
            <p:nvPr/>
          </p:nvSpPr>
          <p:spPr bwMode="auto">
            <a:xfrm>
              <a:off x="2928" y="2880"/>
              <a:ext cx="624" cy="363"/>
            </a:xfrm>
            <a:prstGeom prst="rect">
              <a:avLst/>
            </a:prstGeom>
            <a:solidFill>
              <a:srgbClr val="0000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</a:rPr>
                <a:t>第二步</a:t>
              </a:r>
              <a:endParaRPr lang="zh-CN" altLang="en-US" sz="24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63" name="AutoShape 31"/>
            <p:cNvSpPr/>
            <p:nvPr/>
          </p:nvSpPr>
          <p:spPr bwMode="auto">
            <a:xfrm rot="-5400000">
              <a:off x="4368" y="2256"/>
              <a:ext cx="144" cy="912"/>
            </a:xfrm>
            <a:prstGeom prst="leftBrace">
              <a:avLst>
                <a:gd name="adj1" fmla="val 52778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4" name="Text Box 32"/>
            <p:cNvSpPr txBox="1">
              <a:spLocks noChangeArrowheads="1"/>
            </p:cNvSpPr>
            <p:nvPr/>
          </p:nvSpPr>
          <p:spPr bwMode="auto">
            <a:xfrm>
              <a:off x="4224" y="2880"/>
              <a:ext cx="624" cy="363"/>
            </a:xfrm>
            <a:prstGeom prst="rect">
              <a:avLst/>
            </a:prstGeom>
            <a:solidFill>
              <a:srgbClr val="00005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1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solidFill>
                    <a:schemeClr val="bg1"/>
                  </a:solidFill>
                  <a:latin typeface="+mn-ea"/>
                  <a:ea typeface="+mn-ea"/>
                </a:rPr>
                <a:t>第三步</a:t>
              </a:r>
              <a:endParaRPr lang="zh-CN" altLang="en-US" sz="24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65" name="Line 34"/>
            <p:cNvSpPr>
              <a:spLocks noChangeShapeType="1"/>
            </p:cNvSpPr>
            <p:nvPr/>
          </p:nvSpPr>
          <p:spPr bwMode="auto">
            <a:xfrm>
              <a:off x="392" y="2304"/>
              <a:ext cx="0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66" name="Line 35"/>
            <p:cNvSpPr>
              <a:spLocks noChangeShapeType="1"/>
            </p:cNvSpPr>
            <p:nvPr/>
          </p:nvSpPr>
          <p:spPr bwMode="auto">
            <a:xfrm>
              <a:off x="2304" y="2352"/>
              <a:ext cx="0" cy="38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67" name="Line 36"/>
            <p:cNvSpPr>
              <a:spLocks noChangeShapeType="1"/>
            </p:cNvSpPr>
            <p:nvPr/>
          </p:nvSpPr>
          <p:spPr bwMode="auto">
            <a:xfrm>
              <a:off x="2448" y="1824"/>
              <a:ext cx="0" cy="8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  <p:sp>
          <p:nvSpPr>
            <p:cNvPr id="68" name="Line 37"/>
            <p:cNvSpPr>
              <a:spLocks noChangeShapeType="1"/>
            </p:cNvSpPr>
            <p:nvPr/>
          </p:nvSpPr>
          <p:spPr bwMode="auto">
            <a:xfrm>
              <a:off x="3984" y="1776"/>
              <a:ext cx="0" cy="91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69" name="矩形 68"/>
          <p:cNvSpPr/>
          <p:nvPr/>
        </p:nvSpPr>
        <p:spPr>
          <a:xfrm>
            <a:off x="224305" y="1074766"/>
            <a:ext cx="10850563" cy="49364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32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latin typeface="+mn-ea"/>
              </a:rPr>
              <a:t>程序的运行步骤</a:t>
            </a:r>
            <a:endParaRPr lang="zh-CN" altLang="en-US" sz="24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物理地址和逻辑地址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6" name="27239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1128057"/>
            <a:ext cx="11531600" cy="5232378"/>
            <a:chOff x="660400" y="1128057"/>
            <a:chExt cx="11531600" cy="5232378"/>
          </a:xfrm>
        </p:grpSpPr>
        <p:sp>
          <p:nvSpPr>
            <p:cNvPr id="7" name="iṥlídè"/>
            <p:cNvSpPr/>
            <p:nvPr/>
          </p:nvSpPr>
          <p:spPr>
            <a:xfrm>
              <a:off x="8805545" y="1128057"/>
              <a:ext cx="3386455" cy="5008245"/>
            </a:xfrm>
            <a:prstGeom prst="rect">
              <a:avLst/>
            </a:prstGeom>
            <a:blipFill>
              <a:blip r:embed="rId2"/>
              <a:stretch>
                <a:fillRect t="-27413" b="-27272"/>
              </a:stretch>
            </a:blipFill>
            <a:ln w="28575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grpSp>
          <p:nvGrpSpPr>
            <p:cNvPr id="10" name="iṡļiḓe"/>
            <p:cNvGrpSpPr/>
            <p:nvPr/>
          </p:nvGrpSpPr>
          <p:grpSpPr>
            <a:xfrm>
              <a:off x="660400" y="1434838"/>
              <a:ext cx="7633347" cy="1978025"/>
              <a:chOff x="660400" y="1434838"/>
              <a:chExt cx="7633347" cy="1978025"/>
            </a:xfrm>
          </p:grpSpPr>
          <p:grpSp>
            <p:nvGrpSpPr>
              <p:cNvPr id="21" name="iSḻíḓè"/>
              <p:cNvGrpSpPr/>
              <p:nvPr/>
            </p:nvGrpSpPr>
            <p:grpSpPr>
              <a:xfrm>
                <a:off x="1530997" y="1434838"/>
                <a:ext cx="6762750" cy="1978025"/>
                <a:chOff x="1592242" y="1434838"/>
                <a:chExt cx="8529521" cy="1978025"/>
              </a:xfrm>
            </p:grpSpPr>
            <p:sp>
              <p:nvSpPr>
                <p:cNvPr id="25" name="îṧľîḋé"/>
                <p:cNvSpPr txBox="1"/>
                <p:nvPr/>
              </p:nvSpPr>
              <p:spPr>
                <a:xfrm>
                  <a:off x="1592242" y="1434838"/>
                  <a:ext cx="6293555" cy="38942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zh-CN" altLang="en-US" sz="2800" dirty="0">
                      <a:solidFill>
                        <a:srgbClr val="0000FF"/>
                      </a:solidFill>
                    </a:rPr>
                    <a:t>物理地址（绝对地址）</a:t>
                  </a:r>
                  <a:endParaRPr lang="zh-CN" altLang="en-US" sz="2800" dirty="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26" name="íşļîḓé"/>
                <p:cNvSpPr/>
                <p:nvPr/>
              </p:nvSpPr>
              <p:spPr bwMode="auto">
                <a:xfrm>
                  <a:off x="1592242" y="1878703"/>
                  <a:ext cx="8529521" cy="15341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342900" lvl="1" indent="-342900">
                    <a:lnSpc>
                      <a:spcPct val="120000"/>
                    </a:lnSpc>
                    <a:buClr>
                      <a:schemeClr val="accent4">
                        <a:lumMod val="40000"/>
                        <a:lumOff val="60000"/>
                      </a:schemeClr>
                    </a:buClr>
                    <a:buFont typeface="Wingdings" panose="05000000000000000000" pitchFamily="2" charset="2"/>
                    <a:buChar char="Ø"/>
                  </a:pPr>
                  <a:r>
                    <a:rPr lang="zh-CN" altLang="en-US" sz="2400" dirty="0"/>
                    <a:t>物理内存的地址，</a:t>
                  </a:r>
                  <a:r>
                    <a:rPr lang="zh-CN" altLang="en-US" sz="2400" dirty="0">
                      <a:solidFill>
                        <a:srgbClr val="FF0000"/>
                      </a:solidFill>
                    </a:rPr>
                    <a:t>内存</a:t>
                  </a:r>
                  <a:r>
                    <a:rPr lang="zh-CN" altLang="en-US" sz="2400" dirty="0"/>
                    <a:t>以字节为单位编址，从</a:t>
                  </a:r>
                  <a:r>
                    <a:rPr lang="en-US" altLang="zh-CN" sz="2400" dirty="0"/>
                    <a:t>0</a:t>
                  </a:r>
                  <a:r>
                    <a:rPr lang="zh-CN" altLang="en-US" sz="2400" dirty="0"/>
                    <a:t>字节开始编址</a:t>
                  </a:r>
                  <a:endParaRPr lang="zh-CN" altLang="en-US" sz="2400" dirty="0"/>
                </a:p>
                <a:p>
                  <a:pPr marL="342900" lvl="1" indent="-342900">
                    <a:lnSpc>
                      <a:spcPct val="120000"/>
                    </a:lnSpc>
                    <a:buClr>
                      <a:schemeClr val="accent4">
                        <a:lumMod val="40000"/>
                        <a:lumOff val="60000"/>
                      </a:schemeClr>
                    </a:buClr>
                    <a:buFont typeface="Wingdings" panose="05000000000000000000" pitchFamily="2" charset="2"/>
                    <a:buChar char="Ø"/>
                  </a:pPr>
                  <a:r>
                    <a:rPr lang="zh-CN" altLang="en-US" sz="2400" dirty="0"/>
                    <a:t>物理地址空间：所有物理地址的集合</a:t>
                  </a:r>
                  <a:endParaRPr lang="zh-CN" altLang="en-US" sz="2400" dirty="0"/>
                </a:p>
              </p:txBody>
            </p:sp>
          </p:grpSp>
          <p:grpSp>
            <p:nvGrpSpPr>
              <p:cNvPr id="22" name="ïS1íḋé"/>
              <p:cNvGrpSpPr/>
              <p:nvPr/>
            </p:nvGrpSpPr>
            <p:grpSpPr>
              <a:xfrm>
                <a:off x="660400" y="1461336"/>
                <a:ext cx="733394" cy="733394"/>
                <a:chOff x="660400" y="1461336"/>
                <a:chExt cx="733394" cy="733394"/>
              </a:xfrm>
            </p:grpSpPr>
            <p:sp>
              <p:nvSpPr>
                <p:cNvPr id="23" name="islîḋe"/>
                <p:cNvSpPr/>
                <p:nvPr/>
              </p:nvSpPr>
              <p:spPr>
                <a:xfrm>
                  <a:off x="660400" y="1461336"/>
                  <a:ext cx="733394" cy="733394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bg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îŝlîďe"/>
                <p:cNvSpPr/>
                <p:nvPr/>
              </p:nvSpPr>
              <p:spPr>
                <a:xfrm>
                  <a:off x="797603" y="1646207"/>
                  <a:ext cx="381389" cy="346064"/>
                </a:xfrm>
                <a:custGeom>
                  <a:avLst/>
                  <a:gdLst>
                    <a:gd name="connsiteX0" fmla="*/ 116112 w 607919"/>
                    <a:gd name="connsiteY0" fmla="*/ 473652 h 551610"/>
                    <a:gd name="connsiteX1" fmla="*/ 118901 w 607919"/>
                    <a:gd name="connsiteY1" fmla="*/ 480423 h 551610"/>
                    <a:gd name="connsiteX2" fmla="*/ 118901 w 607919"/>
                    <a:gd name="connsiteY2" fmla="*/ 551610 h 551610"/>
                    <a:gd name="connsiteX3" fmla="*/ 55604 w 607919"/>
                    <a:gd name="connsiteY3" fmla="*/ 551610 h 551610"/>
                    <a:gd name="connsiteX4" fmla="*/ 55604 w 607919"/>
                    <a:gd name="connsiteY4" fmla="*/ 540851 h 551610"/>
                    <a:gd name="connsiteX5" fmla="*/ 65255 w 607919"/>
                    <a:gd name="connsiteY5" fmla="*/ 520583 h 551610"/>
                    <a:gd name="connsiteX6" fmla="*/ 83555 w 607919"/>
                    <a:gd name="connsiteY6" fmla="*/ 502317 h 551610"/>
                    <a:gd name="connsiteX7" fmla="*/ 109375 w 607919"/>
                    <a:gd name="connsiteY7" fmla="*/ 476545 h 551610"/>
                    <a:gd name="connsiteX8" fmla="*/ 116112 w 607919"/>
                    <a:gd name="connsiteY8" fmla="*/ 473652 h 551610"/>
                    <a:gd name="connsiteX9" fmla="*/ 199155 w 607919"/>
                    <a:gd name="connsiteY9" fmla="*/ 390799 h 551610"/>
                    <a:gd name="connsiteX10" fmla="*/ 201956 w 607919"/>
                    <a:gd name="connsiteY10" fmla="*/ 397632 h 551610"/>
                    <a:gd name="connsiteX11" fmla="*/ 201956 w 607919"/>
                    <a:gd name="connsiteY11" fmla="*/ 551610 h 551610"/>
                    <a:gd name="connsiteX12" fmla="*/ 145363 w 607919"/>
                    <a:gd name="connsiteY12" fmla="*/ 551610 h 551610"/>
                    <a:gd name="connsiteX13" fmla="*/ 145363 w 607919"/>
                    <a:gd name="connsiteY13" fmla="*/ 454170 h 551610"/>
                    <a:gd name="connsiteX14" fmla="*/ 154879 w 607919"/>
                    <a:gd name="connsiteY14" fmla="*/ 431030 h 551610"/>
                    <a:gd name="connsiteX15" fmla="*/ 192315 w 607919"/>
                    <a:gd name="connsiteY15" fmla="*/ 393630 h 551610"/>
                    <a:gd name="connsiteX16" fmla="*/ 199155 w 607919"/>
                    <a:gd name="connsiteY16" fmla="*/ 390799 h 551610"/>
                    <a:gd name="connsiteX17" fmla="*/ 231082 w 607919"/>
                    <a:gd name="connsiteY17" fmla="*/ 388245 h 551610"/>
                    <a:gd name="connsiteX18" fmla="*/ 237930 w 607919"/>
                    <a:gd name="connsiteY18" fmla="*/ 391091 h 551610"/>
                    <a:gd name="connsiteX19" fmla="*/ 266763 w 607919"/>
                    <a:gd name="connsiteY19" fmla="*/ 419867 h 551610"/>
                    <a:gd name="connsiteX20" fmla="*/ 275915 w 607919"/>
                    <a:gd name="connsiteY20" fmla="*/ 428875 h 551610"/>
                    <a:gd name="connsiteX21" fmla="*/ 284941 w 607919"/>
                    <a:gd name="connsiteY21" fmla="*/ 451520 h 551610"/>
                    <a:gd name="connsiteX22" fmla="*/ 284941 w 607919"/>
                    <a:gd name="connsiteY22" fmla="*/ 551610 h 551610"/>
                    <a:gd name="connsiteX23" fmla="*/ 228277 w 607919"/>
                    <a:gd name="connsiteY23" fmla="*/ 551610 h 551610"/>
                    <a:gd name="connsiteX24" fmla="*/ 228277 w 607919"/>
                    <a:gd name="connsiteY24" fmla="*/ 394969 h 551610"/>
                    <a:gd name="connsiteX25" fmla="*/ 231082 w 607919"/>
                    <a:gd name="connsiteY25" fmla="*/ 388245 h 551610"/>
                    <a:gd name="connsiteX26" fmla="*/ 365148 w 607919"/>
                    <a:gd name="connsiteY26" fmla="*/ 381336 h 551610"/>
                    <a:gd name="connsiteX27" fmla="*/ 367997 w 607919"/>
                    <a:gd name="connsiteY27" fmla="*/ 388122 h 551610"/>
                    <a:gd name="connsiteX28" fmla="*/ 367997 w 607919"/>
                    <a:gd name="connsiteY28" fmla="*/ 551610 h 551610"/>
                    <a:gd name="connsiteX29" fmla="*/ 311262 w 607919"/>
                    <a:gd name="connsiteY29" fmla="*/ 551610 h 551610"/>
                    <a:gd name="connsiteX30" fmla="*/ 311262 w 607919"/>
                    <a:gd name="connsiteY30" fmla="*/ 444661 h 551610"/>
                    <a:gd name="connsiteX31" fmla="*/ 316898 w 607919"/>
                    <a:gd name="connsiteY31" fmla="*/ 425523 h 551610"/>
                    <a:gd name="connsiteX32" fmla="*/ 322534 w 607919"/>
                    <a:gd name="connsiteY32" fmla="*/ 419894 h 551610"/>
                    <a:gd name="connsiteX33" fmla="*/ 358353 w 607919"/>
                    <a:gd name="connsiteY33" fmla="*/ 384120 h 551610"/>
                    <a:gd name="connsiteX34" fmla="*/ 365148 w 607919"/>
                    <a:gd name="connsiteY34" fmla="*/ 381336 h 551610"/>
                    <a:gd name="connsiteX35" fmla="*/ 448177 w 607919"/>
                    <a:gd name="connsiteY35" fmla="*/ 298352 h 551610"/>
                    <a:gd name="connsiteX36" fmla="*/ 450982 w 607919"/>
                    <a:gd name="connsiteY36" fmla="*/ 305139 h 551610"/>
                    <a:gd name="connsiteX37" fmla="*/ 450982 w 607919"/>
                    <a:gd name="connsiteY37" fmla="*/ 551610 h 551610"/>
                    <a:gd name="connsiteX38" fmla="*/ 394318 w 607919"/>
                    <a:gd name="connsiteY38" fmla="*/ 551610 h 551610"/>
                    <a:gd name="connsiteX39" fmla="*/ 394318 w 607919"/>
                    <a:gd name="connsiteY39" fmla="*/ 361815 h 551610"/>
                    <a:gd name="connsiteX40" fmla="*/ 403846 w 607919"/>
                    <a:gd name="connsiteY40" fmla="*/ 338669 h 551610"/>
                    <a:gd name="connsiteX41" fmla="*/ 441329 w 607919"/>
                    <a:gd name="connsiteY41" fmla="*/ 301136 h 551610"/>
                    <a:gd name="connsiteX42" fmla="*/ 448177 w 607919"/>
                    <a:gd name="connsiteY42" fmla="*/ 298352 h 551610"/>
                    <a:gd name="connsiteX43" fmla="*/ 527085 w 607919"/>
                    <a:gd name="connsiteY43" fmla="*/ 219452 h 551610"/>
                    <a:gd name="connsiteX44" fmla="*/ 529874 w 607919"/>
                    <a:gd name="connsiteY44" fmla="*/ 226177 h 551610"/>
                    <a:gd name="connsiteX45" fmla="*/ 529874 w 607919"/>
                    <a:gd name="connsiteY45" fmla="*/ 551610 h 551610"/>
                    <a:gd name="connsiteX46" fmla="*/ 477232 w 607919"/>
                    <a:gd name="connsiteY46" fmla="*/ 551610 h 551610"/>
                    <a:gd name="connsiteX47" fmla="*/ 477232 w 607919"/>
                    <a:gd name="connsiteY47" fmla="*/ 278727 h 551610"/>
                    <a:gd name="connsiteX48" fmla="*/ 486883 w 607919"/>
                    <a:gd name="connsiteY48" fmla="*/ 255580 h 551610"/>
                    <a:gd name="connsiteX49" fmla="*/ 520348 w 607919"/>
                    <a:gd name="connsiteY49" fmla="*/ 222298 h 551610"/>
                    <a:gd name="connsiteX50" fmla="*/ 527085 w 607919"/>
                    <a:gd name="connsiteY50" fmla="*/ 219452 h 551610"/>
                    <a:gd name="connsiteX51" fmla="*/ 387769 w 607919"/>
                    <a:gd name="connsiteY51" fmla="*/ 0 h 551610"/>
                    <a:gd name="connsiteX52" fmla="*/ 580729 w 607919"/>
                    <a:gd name="connsiteY52" fmla="*/ 0 h 551610"/>
                    <a:gd name="connsiteX53" fmla="*/ 607919 w 607919"/>
                    <a:gd name="connsiteY53" fmla="*/ 26022 h 551610"/>
                    <a:gd name="connsiteX54" fmla="*/ 607919 w 607919"/>
                    <a:gd name="connsiteY54" fmla="*/ 219812 h 551610"/>
                    <a:gd name="connsiteX55" fmla="*/ 598271 w 607919"/>
                    <a:gd name="connsiteY55" fmla="*/ 223815 h 551610"/>
                    <a:gd name="connsiteX56" fmla="*/ 530610 w 607919"/>
                    <a:gd name="connsiteY56" fmla="*/ 156258 h 551610"/>
                    <a:gd name="connsiteX57" fmla="*/ 304320 w 607919"/>
                    <a:gd name="connsiteY57" fmla="*/ 382325 h 551610"/>
                    <a:gd name="connsiteX58" fmla="*/ 285024 w 607919"/>
                    <a:gd name="connsiteY58" fmla="*/ 382325 h 551610"/>
                    <a:gd name="connsiteX59" fmla="*/ 216360 w 607919"/>
                    <a:gd name="connsiteY59" fmla="*/ 313767 h 551610"/>
                    <a:gd name="connsiteX60" fmla="*/ 94068 w 607919"/>
                    <a:gd name="connsiteY60" fmla="*/ 435996 h 551610"/>
                    <a:gd name="connsiteX61" fmla="*/ 17260 w 607919"/>
                    <a:gd name="connsiteY61" fmla="*/ 435996 h 551610"/>
                    <a:gd name="connsiteX62" fmla="*/ 15882 w 607919"/>
                    <a:gd name="connsiteY62" fmla="*/ 434745 h 551610"/>
                    <a:gd name="connsiteX63" fmla="*/ 15882 w 607919"/>
                    <a:gd name="connsiteY63" fmla="*/ 358055 h 551610"/>
                    <a:gd name="connsiteX64" fmla="*/ 206837 w 607919"/>
                    <a:gd name="connsiteY64" fmla="*/ 167267 h 551610"/>
                    <a:gd name="connsiteX65" fmla="*/ 226008 w 607919"/>
                    <a:gd name="connsiteY65" fmla="*/ 167267 h 551610"/>
                    <a:gd name="connsiteX66" fmla="*/ 294672 w 607919"/>
                    <a:gd name="connsiteY66" fmla="*/ 235701 h 551610"/>
                    <a:gd name="connsiteX67" fmla="*/ 424481 w 607919"/>
                    <a:gd name="connsiteY67" fmla="*/ 105965 h 551610"/>
                    <a:gd name="connsiteX68" fmla="*/ 452423 w 607919"/>
                    <a:gd name="connsiteY68" fmla="*/ 78192 h 551610"/>
                    <a:gd name="connsiteX69" fmla="*/ 383885 w 607919"/>
                    <a:gd name="connsiteY69" fmla="*/ 9633 h 551610"/>
                    <a:gd name="connsiteX70" fmla="*/ 387769 w 607919"/>
                    <a:gd name="connsiteY70" fmla="*/ 0 h 551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07919" h="551610">
                      <a:moveTo>
                        <a:pt x="116112" y="473652"/>
                      </a:moveTo>
                      <a:cubicBezTo>
                        <a:pt x="117836" y="474356"/>
                        <a:pt x="118901" y="476670"/>
                        <a:pt x="118901" y="480423"/>
                      </a:cubicBezTo>
                      <a:lnTo>
                        <a:pt x="118901" y="551610"/>
                      </a:lnTo>
                      <a:lnTo>
                        <a:pt x="55604" y="551610"/>
                      </a:lnTo>
                      <a:lnTo>
                        <a:pt x="55604" y="540851"/>
                      </a:lnTo>
                      <a:cubicBezTo>
                        <a:pt x="55604" y="534971"/>
                        <a:pt x="59991" y="525838"/>
                        <a:pt x="65255" y="520583"/>
                      </a:cubicBezTo>
                      <a:lnTo>
                        <a:pt x="83555" y="502317"/>
                      </a:lnTo>
                      <a:lnTo>
                        <a:pt x="109375" y="476545"/>
                      </a:lnTo>
                      <a:cubicBezTo>
                        <a:pt x="112007" y="473855"/>
                        <a:pt x="114389" y="472948"/>
                        <a:pt x="116112" y="473652"/>
                      </a:cubicBezTo>
                      <a:close/>
                      <a:moveTo>
                        <a:pt x="199155" y="390799"/>
                      </a:moveTo>
                      <a:cubicBezTo>
                        <a:pt x="200892" y="391534"/>
                        <a:pt x="201956" y="393880"/>
                        <a:pt x="201956" y="397632"/>
                      </a:cubicBezTo>
                      <a:lnTo>
                        <a:pt x="201956" y="551610"/>
                      </a:lnTo>
                      <a:lnTo>
                        <a:pt x="145363" y="551610"/>
                      </a:lnTo>
                      <a:lnTo>
                        <a:pt x="145363" y="454170"/>
                      </a:lnTo>
                      <a:cubicBezTo>
                        <a:pt x="145363" y="446665"/>
                        <a:pt x="149620" y="436283"/>
                        <a:pt x="154879" y="431030"/>
                      </a:cubicBezTo>
                      <a:lnTo>
                        <a:pt x="192315" y="393630"/>
                      </a:lnTo>
                      <a:cubicBezTo>
                        <a:pt x="195007" y="390941"/>
                        <a:pt x="197417" y="390065"/>
                        <a:pt x="199155" y="390799"/>
                      </a:cubicBezTo>
                      <a:close/>
                      <a:moveTo>
                        <a:pt x="231082" y="388245"/>
                      </a:moveTo>
                      <a:cubicBezTo>
                        <a:pt x="232822" y="387525"/>
                        <a:pt x="235235" y="388401"/>
                        <a:pt x="237930" y="391091"/>
                      </a:cubicBezTo>
                      <a:lnTo>
                        <a:pt x="266763" y="419867"/>
                      </a:lnTo>
                      <a:lnTo>
                        <a:pt x="275915" y="428875"/>
                      </a:lnTo>
                      <a:cubicBezTo>
                        <a:pt x="280929" y="433879"/>
                        <a:pt x="284941" y="444013"/>
                        <a:pt x="284941" y="451520"/>
                      </a:cubicBezTo>
                      <a:lnTo>
                        <a:pt x="284941" y="551610"/>
                      </a:lnTo>
                      <a:lnTo>
                        <a:pt x="228277" y="551610"/>
                      </a:lnTo>
                      <a:lnTo>
                        <a:pt x="228277" y="394969"/>
                      </a:lnTo>
                      <a:cubicBezTo>
                        <a:pt x="228277" y="391278"/>
                        <a:pt x="229343" y="388964"/>
                        <a:pt x="231082" y="388245"/>
                      </a:cubicBezTo>
                      <a:close/>
                      <a:moveTo>
                        <a:pt x="365148" y="381336"/>
                      </a:moveTo>
                      <a:cubicBezTo>
                        <a:pt x="366901" y="382055"/>
                        <a:pt x="367997" y="384370"/>
                        <a:pt x="367997" y="388122"/>
                      </a:cubicBezTo>
                      <a:lnTo>
                        <a:pt x="367997" y="551610"/>
                      </a:lnTo>
                      <a:lnTo>
                        <a:pt x="311262" y="551610"/>
                      </a:lnTo>
                      <a:lnTo>
                        <a:pt x="311262" y="444661"/>
                      </a:lnTo>
                      <a:cubicBezTo>
                        <a:pt x="311262" y="437156"/>
                        <a:pt x="313767" y="428650"/>
                        <a:pt x="316898" y="425523"/>
                      </a:cubicBezTo>
                      <a:cubicBezTo>
                        <a:pt x="320029" y="422396"/>
                        <a:pt x="322534" y="419894"/>
                        <a:pt x="322534" y="419894"/>
                      </a:cubicBezTo>
                      <a:lnTo>
                        <a:pt x="358353" y="384120"/>
                      </a:lnTo>
                      <a:cubicBezTo>
                        <a:pt x="360983" y="381493"/>
                        <a:pt x="363394" y="380617"/>
                        <a:pt x="365148" y="381336"/>
                      </a:cubicBezTo>
                      <a:close/>
                      <a:moveTo>
                        <a:pt x="448177" y="298352"/>
                      </a:moveTo>
                      <a:cubicBezTo>
                        <a:pt x="449916" y="299071"/>
                        <a:pt x="450982" y="301386"/>
                        <a:pt x="450982" y="305139"/>
                      </a:cubicBezTo>
                      <a:lnTo>
                        <a:pt x="450982" y="551610"/>
                      </a:lnTo>
                      <a:lnTo>
                        <a:pt x="394318" y="551610"/>
                      </a:lnTo>
                      <a:lnTo>
                        <a:pt x="394318" y="361815"/>
                      </a:lnTo>
                      <a:cubicBezTo>
                        <a:pt x="394318" y="354308"/>
                        <a:pt x="398580" y="343924"/>
                        <a:pt x="403846" y="338669"/>
                      </a:cubicBezTo>
                      <a:lnTo>
                        <a:pt x="441329" y="301136"/>
                      </a:lnTo>
                      <a:cubicBezTo>
                        <a:pt x="444024" y="298508"/>
                        <a:pt x="446438" y="297633"/>
                        <a:pt x="448177" y="298352"/>
                      </a:cubicBezTo>
                      <a:close/>
                      <a:moveTo>
                        <a:pt x="527085" y="219452"/>
                      </a:moveTo>
                      <a:cubicBezTo>
                        <a:pt x="528809" y="220171"/>
                        <a:pt x="529874" y="222486"/>
                        <a:pt x="529874" y="226177"/>
                      </a:cubicBezTo>
                      <a:lnTo>
                        <a:pt x="529874" y="551610"/>
                      </a:lnTo>
                      <a:lnTo>
                        <a:pt x="477232" y="551610"/>
                      </a:lnTo>
                      <a:lnTo>
                        <a:pt x="477232" y="278727"/>
                      </a:lnTo>
                      <a:cubicBezTo>
                        <a:pt x="477232" y="271345"/>
                        <a:pt x="481494" y="260960"/>
                        <a:pt x="486883" y="255580"/>
                      </a:cubicBezTo>
                      <a:lnTo>
                        <a:pt x="520348" y="222298"/>
                      </a:lnTo>
                      <a:cubicBezTo>
                        <a:pt x="522980" y="219608"/>
                        <a:pt x="525362" y="218732"/>
                        <a:pt x="527085" y="219452"/>
                      </a:cubicBezTo>
                      <a:close/>
                      <a:moveTo>
                        <a:pt x="387769" y="0"/>
                      </a:moveTo>
                      <a:lnTo>
                        <a:pt x="580729" y="0"/>
                      </a:lnTo>
                      <a:cubicBezTo>
                        <a:pt x="594512" y="0"/>
                        <a:pt x="607919" y="12135"/>
                        <a:pt x="607919" y="26022"/>
                      </a:cubicBezTo>
                      <a:lnTo>
                        <a:pt x="607919" y="219812"/>
                      </a:lnTo>
                      <a:cubicBezTo>
                        <a:pt x="607919" y="227318"/>
                        <a:pt x="603534" y="229070"/>
                        <a:pt x="598271" y="223815"/>
                      </a:cubicBezTo>
                      <a:lnTo>
                        <a:pt x="530610" y="156258"/>
                      </a:lnTo>
                      <a:lnTo>
                        <a:pt x="304320" y="382325"/>
                      </a:lnTo>
                      <a:cubicBezTo>
                        <a:pt x="298932" y="387580"/>
                        <a:pt x="290412" y="387580"/>
                        <a:pt x="285024" y="382325"/>
                      </a:cubicBezTo>
                      <a:lnTo>
                        <a:pt x="216360" y="313767"/>
                      </a:lnTo>
                      <a:lnTo>
                        <a:pt x="94068" y="435996"/>
                      </a:lnTo>
                      <a:cubicBezTo>
                        <a:pt x="72767" y="457264"/>
                        <a:pt x="38435" y="457264"/>
                        <a:pt x="17260" y="435996"/>
                      </a:cubicBezTo>
                      <a:lnTo>
                        <a:pt x="15882" y="434745"/>
                      </a:lnTo>
                      <a:cubicBezTo>
                        <a:pt x="-5294" y="413477"/>
                        <a:pt x="-5294" y="379198"/>
                        <a:pt x="15882" y="358055"/>
                      </a:cubicBezTo>
                      <a:lnTo>
                        <a:pt x="206837" y="167267"/>
                      </a:lnTo>
                      <a:cubicBezTo>
                        <a:pt x="212100" y="161888"/>
                        <a:pt x="220745" y="161888"/>
                        <a:pt x="226008" y="167267"/>
                      </a:cubicBezTo>
                      <a:lnTo>
                        <a:pt x="294672" y="235701"/>
                      </a:lnTo>
                      <a:lnTo>
                        <a:pt x="424481" y="105965"/>
                      </a:lnTo>
                      <a:lnTo>
                        <a:pt x="452423" y="78192"/>
                      </a:lnTo>
                      <a:lnTo>
                        <a:pt x="383885" y="9633"/>
                      </a:lnTo>
                      <a:cubicBezTo>
                        <a:pt x="378497" y="4379"/>
                        <a:pt x="380376" y="0"/>
                        <a:pt x="38776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1" name="iŝļïḓê"/>
            <p:cNvGrpSpPr/>
            <p:nvPr/>
          </p:nvGrpSpPr>
          <p:grpSpPr>
            <a:xfrm>
              <a:off x="660400" y="3826925"/>
              <a:ext cx="7509510" cy="2533510"/>
              <a:chOff x="660400" y="1435581"/>
              <a:chExt cx="7509510" cy="2533510"/>
            </a:xfrm>
          </p:grpSpPr>
          <p:grpSp>
            <p:nvGrpSpPr>
              <p:cNvPr id="13" name="ïṧļïḓe"/>
              <p:cNvGrpSpPr/>
              <p:nvPr/>
            </p:nvGrpSpPr>
            <p:grpSpPr>
              <a:xfrm>
                <a:off x="1539875" y="1464651"/>
                <a:ext cx="6630035" cy="2504440"/>
                <a:chOff x="1603439" y="1464651"/>
                <a:chExt cx="8362135" cy="2504440"/>
              </a:xfrm>
            </p:grpSpPr>
            <p:sp>
              <p:nvSpPr>
                <p:cNvPr id="18" name="ïšļíďè"/>
                <p:cNvSpPr txBox="1"/>
                <p:nvPr/>
              </p:nvSpPr>
              <p:spPr>
                <a:xfrm>
                  <a:off x="1603439" y="1464651"/>
                  <a:ext cx="6833922" cy="389423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 rtlCol="0" anchor="ctr" anchorCtr="0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r>
                    <a:rPr lang="zh-CN" altLang="en-US" sz="2800" dirty="0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</a:rPr>
                    <a:t>逻辑地址（相对地址</a:t>
                  </a:r>
                  <a:r>
                    <a:rPr lang="en-US" altLang="zh-CN" sz="2800" dirty="0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</a:rPr>
                    <a:t>\</a:t>
                  </a:r>
                  <a:r>
                    <a:rPr lang="zh-CN" altLang="en-US" sz="2800" dirty="0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sym typeface="+mn-ea"/>
                    </a:rPr>
                    <a:t>虚拟地址</a:t>
                  </a:r>
                  <a:r>
                    <a:rPr lang="zh-CN" altLang="en-US" sz="2800" dirty="0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</a:rPr>
                    <a:t>）</a:t>
                  </a:r>
                  <a:endParaRPr lang="zh-CN" altLang="en-US" sz="28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19" name="íşľíḑè"/>
                <p:cNvSpPr/>
                <p:nvPr/>
              </p:nvSpPr>
              <p:spPr bwMode="auto">
                <a:xfrm>
                  <a:off x="1619457" y="1959951"/>
                  <a:ext cx="8346117" cy="20091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342900" lvl="1" indent="-342900">
                    <a:lnSpc>
                      <a:spcPct val="120000"/>
                    </a:lnSpc>
                    <a:buFont typeface="Wingdings" panose="05000000000000000000" pitchFamily="2" charset="2"/>
                    <a:buChar char="Ø"/>
                  </a:pPr>
                  <a:r>
                    <a:rPr lang="zh-CN" altLang="en-US" sz="2400" dirty="0"/>
                    <a:t>由</a:t>
                  </a:r>
                  <a:r>
                    <a:rPr lang="en-US" altLang="zh-CN" sz="2400" dirty="0"/>
                    <a:t>CPU</a:t>
                  </a:r>
                  <a:r>
                    <a:rPr lang="zh-CN" altLang="en-US" sz="2400" dirty="0"/>
                    <a:t>产生的地址，即程序</a:t>
                  </a:r>
                  <a:r>
                    <a:rPr lang="zh-CN" altLang="en-US" sz="2400" dirty="0">
                      <a:solidFill>
                        <a:srgbClr val="FF0000"/>
                      </a:solidFill>
                    </a:rPr>
                    <a:t>编译</a:t>
                  </a:r>
                  <a:r>
                    <a:rPr lang="zh-CN" altLang="en-US" sz="2400" dirty="0"/>
                    <a:t>后使用的相对于</a:t>
                  </a:r>
                  <a:r>
                    <a:rPr lang="en-US" altLang="zh-CN" sz="2400" dirty="0"/>
                    <a:t>0</a:t>
                  </a:r>
                  <a:r>
                    <a:rPr lang="zh-CN" altLang="en-US" sz="2400" dirty="0"/>
                    <a:t>字节的地址</a:t>
                  </a:r>
                  <a:endParaRPr lang="zh-CN" altLang="en-US" sz="2400" dirty="0"/>
                </a:p>
                <a:p>
                  <a:pPr marL="342900" lvl="1" indent="-342900">
                    <a:lnSpc>
                      <a:spcPct val="120000"/>
                    </a:lnSpc>
                    <a:buFont typeface="Wingdings" panose="05000000000000000000" pitchFamily="2" charset="2"/>
                    <a:buChar char="Ø"/>
                  </a:pPr>
                  <a:r>
                    <a:rPr lang="zh-CN" altLang="en-US" sz="2400" dirty="0"/>
                    <a:t>逻辑地址空间：由程序所生成的所有逻辑地址的集合</a:t>
                  </a:r>
                  <a:endParaRPr lang="zh-CN" altLang="en-US" sz="2400" dirty="0"/>
                </a:p>
              </p:txBody>
            </p:sp>
          </p:grpSp>
          <p:grpSp>
            <p:nvGrpSpPr>
              <p:cNvPr id="15" name="ïŝľídè"/>
              <p:cNvGrpSpPr/>
              <p:nvPr/>
            </p:nvGrpSpPr>
            <p:grpSpPr>
              <a:xfrm>
                <a:off x="660400" y="1435581"/>
                <a:ext cx="733394" cy="733394"/>
                <a:chOff x="660400" y="1435581"/>
                <a:chExt cx="733394" cy="733394"/>
              </a:xfrm>
            </p:grpSpPr>
            <p:sp>
              <p:nvSpPr>
                <p:cNvPr id="16" name="ïṡľïde"/>
                <p:cNvSpPr/>
                <p:nvPr/>
              </p:nvSpPr>
              <p:spPr>
                <a:xfrm>
                  <a:off x="660400" y="1435581"/>
                  <a:ext cx="733394" cy="733394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9050">
                  <a:solidFill>
                    <a:schemeClr val="bg1"/>
                  </a:solidFill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16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ïšliḍe"/>
                <p:cNvSpPr/>
                <p:nvPr/>
              </p:nvSpPr>
              <p:spPr>
                <a:xfrm>
                  <a:off x="806481" y="1647086"/>
                  <a:ext cx="381389" cy="346064"/>
                </a:xfrm>
                <a:custGeom>
                  <a:avLst/>
                  <a:gdLst>
                    <a:gd name="connsiteX0" fmla="*/ 116112 w 607919"/>
                    <a:gd name="connsiteY0" fmla="*/ 473652 h 551610"/>
                    <a:gd name="connsiteX1" fmla="*/ 118901 w 607919"/>
                    <a:gd name="connsiteY1" fmla="*/ 480423 h 551610"/>
                    <a:gd name="connsiteX2" fmla="*/ 118901 w 607919"/>
                    <a:gd name="connsiteY2" fmla="*/ 551610 h 551610"/>
                    <a:gd name="connsiteX3" fmla="*/ 55604 w 607919"/>
                    <a:gd name="connsiteY3" fmla="*/ 551610 h 551610"/>
                    <a:gd name="connsiteX4" fmla="*/ 55604 w 607919"/>
                    <a:gd name="connsiteY4" fmla="*/ 540851 h 551610"/>
                    <a:gd name="connsiteX5" fmla="*/ 65255 w 607919"/>
                    <a:gd name="connsiteY5" fmla="*/ 520583 h 551610"/>
                    <a:gd name="connsiteX6" fmla="*/ 83555 w 607919"/>
                    <a:gd name="connsiteY6" fmla="*/ 502317 h 551610"/>
                    <a:gd name="connsiteX7" fmla="*/ 109375 w 607919"/>
                    <a:gd name="connsiteY7" fmla="*/ 476545 h 551610"/>
                    <a:gd name="connsiteX8" fmla="*/ 116112 w 607919"/>
                    <a:gd name="connsiteY8" fmla="*/ 473652 h 551610"/>
                    <a:gd name="connsiteX9" fmla="*/ 199155 w 607919"/>
                    <a:gd name="connsiteY9" fmla="*/ 390799 h 551610"/>
                    <a:gd name="connsiteX10" fmla="*/ 201956 w 607919"/>
                    <a:gd name="connsiteY10" fmla="*/ 397632 h 551610"/>
                    <a:gd name="connsiteX11" fmla="*/ 201956 w 607919"/>
                    <a:gd name="connsiteY11" fmla="*/ 551610 h 551610"/>
                    <a:gd name="connsiteX12" fmla="*/ 145363 w 607919"/>
                    <a:gd name="connsiteY12" fmla="*/ 551610 h 551610"/>
                    <a:gd name="connsiteX13" fmla="*/ 145363 w 607919"/>
                    <a:gd name="connsiteY13" fmla="*/ 454170 h 551610"/>
                    <a:gd name="connsiteX14" fmla="*/ 154879 w 607919"/>
                    <a:gd name="connsiteY14" fmla="*/ 431030 h 551610"/>
                    <a:gd name="connsiteX15" fmla="*/ 192315 w 607919"/>
                    <a:gd name="connsiteY15" fmla="*/ 393630 h 551610"/>
                    <a:gd name="connsiteX16" fmla="*/ 199155 w 607919"/>
                    <a:gd name="connsiteY16" fmla="*/ 390799 h 551610"/>
                    <a:gd name="connsiteX17" fmla="*/ 231082 w 607919"/>
                    <a:gd name="connsiteY17" fmla="*/ 388245 h 551610"/>
                    <a:gd name="connsiteX18" fmla="*/ 237930 w 607919"/>
                    <a:gd name="connsiteY18" fmla="*/ 391091 h 551610"/>
                    <a:gd name="connsiteX19" fmla="*/ 266763 w 607919"/>
                    <a:gd name="connsiteY19" fmla="*/ 419867 h 551610"/>
                    <a:gd name="connsiteX20" fmla="*/ 275915 w 607919"/>
                    <a:gd name="connsiteY20" fmla="*/ 428875 h 551610"/>
                    <a:gd name="connsiteX21" fmla="*/ 284941 w 607919"/>
                    <a:gd name="connsiteY21" fmla="*/ 451520 h 551610"/>
                    <a:gd name="connsiteX22" fmla="*/ 284941 w 607919"/>
                    <a:gd name="connsiteY22" fmla="*/ 551610 h 551610"/>
                    <a:gd name="connsiteX23" fmla="*/ 228277 w 607919"/>
                    <a:gd name="connsiteY23" fmla="*/ 551610 h 551610"/>
                    <a:gd name="connsiteX24" fmla="*/ 228277 w 607919"/>
                    <a:gd name="connsiteY24" fmla="*/ 394969 h 551610"/>
                    <a:gd name="connsiteX25" fmla="*/ 231082 w 607919"/>
                    <a:gd name="connsiteY25" fmla="*/ 388245 h 551610"/>
                    <a:gd name="connsiteX26" fmla="*/ 365148 w 607919"/>
                    <a:gd name="connsiteY26" fmla="*/ 381336 h 551610"/>
                    <a:gd name="connsiteX27" fmla="*/ 367997 w 607919"/>
                    <a:gd name="connsiteY27" fmla="*/ 388122 h 551610"/>
                    <a:gd name="connsiteX28" fmla="*/ 367997 w 607919"/>
                    <a:gd name="connsiteY28" fmla="*/ 551610 h 551610"/>
                    <a:gd name="connsiteX29" fmla="*/ 311262 w 607919"/>
                    <a:gd name="connsiteY29" fmla="*/ 551610 h 551610"/>
                    <a:gd name="connsiteX30" fmla="*/ 311262 w 607919"/>
                    <a:gd name="connsiteY30" fmla="*/ 444661 h 551610"/>
                    <a:gd name="connsiteX31" fmla="*/ 316898 w 607919"/>
                    <a:gd name="connsiteY31" fmla="*/ 425523 h 551610"/>
                    <a:gd name="connsiteX32" fmla="*/ 322534 w 607919"/>
                    <a:gd name="connsiteY32" fmla="*/ 419894 h 551610"/>
                    <a:gd name="connsiteX33" fmla="*/ 358353 w 607919"/>
                    <a:gd name="connsiteY33" fmla="*/ 384120 h 551610"/>
                    <a:gd name="connsiteX34" fmla="*/ 365148 w 607919"/>
                    <a:gd name="connsiteY34" fmla="*/ 381336 h 551610"/>
                    <a:gd name="connsiteX35" fmla="*/ 448177 w 607919"/>
                    <a:gd name="connsiteY35" fmla="*/ 298352 h 551610"/>
                    <a:gd name="connsiteX36" fmla="*/ 450982 w 607919"/>
                    <a:gd name="connsiteY36" fmla="*/ 305139 h 551610"/>
                    <a:gd name="connsiteX37" fmla="*/ 450982 w 607919"/>
                    <a:gd name="connsiteY37" fmla="*/ 551610 h 551610"/>
                    <a:gd name="connsiteX38" fmla="*/ 394318 w 607919"/>
                    <a:gd name="connsiteY38" fmla="*/ 551610 h 551610"/>
                    <a:gd name="connsiteX39" fmla="*/ 394318 w 607919"/>
                    <a:gd name="connsiteY39" fmla="*/ 361815 h 551610"/>
                    <a:gd name="connsiteX40" fmla="*/ 403846 w 607919"/>
                    <a:gd name="connsiteY40" fmla="*/ 338669 h 551610"/>
                    <a:gd name="connsiteX41" fmla="*/ 441329 w 607919"/>
                    <a:gd name="connsiteY41" fmla="*/ 301136 h 551610"/>
                    <a:gd name="connsiteX42" fmla="*/ 448177 w 607919"/>
                    <a:gd name="connsiteY42" fmla="*/ 298352 h 551610"/>
                    <a:gd name="connsiteX43" fmla="*/ 527085 w 607919"/>
                    <a:gd name="connsiteY43" fmla="*/ 219452 h 551610"/>
                    <a:gd name="connsiteX44" fmla="*/ 529874 w 607919"/>
                    <a:gd name="connsiteY44" fmla="*/ 226177 h 551610"/>
                    <a:gd name="connsiteX45" fmla="*/ 529874 w 607919"/>
                    <a:gd name="connsiteY45" fmla="*/ 551610 h 551610"/>
                    <a:gd name="connsiteX46" fmla="*/ 477232 w 607919"/>
                    <a:gd name="connsiteY46" fmla="*/ 551610 h 551610"/>
                    <a:gd name="connsiteX47" fmla="*/ 477232 w 607919"/>
                    <a:gd name="connsiteY47" fmla="*/ 278727 h 551610"/>
                    <a:gd name="connsiteX48" fmla="*/ 486883 w 607919"/>
                    <a:gd name="connsiteY48" fmla="*/ 255580 h 551610"/>
                    <a:gd name="connsiteX49" fmla="*/ 520348 w 607919"/>
                    <a:gd name="connsiteY49" fmla="*/ 222298 h 551610"/>
                    <a:gd name="connsiteX50" fmla="*/ 527085 w 607919"/>
                    <a:gd name="connsiteY50" fmla="*/ 219452 h 551610"/>
                    <a:gd name="connsiteX51" fmla="*/ 387769 w 607919"/>
                    <a:gd name="connsiteY51" fmla="*/ 0 h 551610"/>
                    <a:gd name="connsiteX52" fmla="*/ 580729 w 607919"/>
                    <a:gd name="connsiteY52" fmla="*/ 0 h 551610"/>
                    <a:gd name="connsiteX53" fmla="*/ 607919 w 607919"/>
                    <a:gd name="connsiteY53" fmla="*/ 26022 h 551610"/>
                    <a:gd name="connsiteX54" fmla="*/ 607919 w 607919"/>
                    <a:gd name="connsiteY54" fmla="*/ 219812 h 551610"/>
                    <a:gd name="connsiteX55" fmla="*/ 598271 w 607919"/>
                    <a:gd name="connsiteY55" fmla="*/ 223815 h 551610"/>
                    <a:gd name="connsiteX56" fmla="*/ 530610 w 607919"/>
                    <a:gd name="connsiteY56" fmla="*/ 156258 h 551610"/>
                    <a:gd name="connsiteX57" fmla="*/ 304320 w 607919"/>
                    <a:gd name="connsiteY57" fmla="*/ 382325 h 551610"/>
                    <a:gd name="connsiteX58" fmla="*/ 285024 w 607919"/>
                    <a:gd name="connsiteY58" fmla="*/ 382325 h 551610"/>
                    <a:gd name="connsiteX59" fmla="*/ 216360 w 607919"/>
                    <a:gd name="connsiteY59" fmla="*/ 313767 h 551610"/>
                    <a:gd name="connsiteX60" fmla="*/ 94068 w 607919"/>
                    <a:gd name="connsiteY60" fmla="*/ 435996 h 551610"/>
                    <a:gd name="connsiteX61" fmla="*/ 17260 w 607919"/>
                    <a:gd name="connsiteY61" fmla="*/ 435996 h 551610"/>
                    <a:gd name="connsiteX62" fmla="*/ 15882 w 607919"/>
                    <a:gd name="connsiteY62" fmla="*/ 434745 h 551610"/>
                    <a:gd name="connsiteX63" fmla="*/ 15882 w 607919"/>
                    <a:gd name="connsiteY63" fmla="*/ 358055 h 551610"/>
                    <a:gd name="connsiteX64" fmla="*/ 206837 w 607919"/>
                    <a:gd name="connsiteY64" fmla="*/ 167267 h 551610"/>
                    <a:gd name="connsiteX65" fmla="*/ 226008 w 607919"/>
                    <a:gd name="connsiteY65" fmla="*/ 167267 h 551610"/>
                    <a:gd name="connsiteX66" fmla="*/ 294672 w 607919"/>
                    <a:gd name="connsiteY66" fmla="*/ 235701 h 551610"/>
                    <a:gd name="connsiteX67" fmla="*/ 424481 w 607919"/>
                    <a:gd name="connsiteY67" fmla="*/ 105965 h 551610"/>
                    <a:gd name="connsiteX68" fmla="*/ 452423 w 607919"/>
                    <a:gd name="connsiteY68" fmla="*/ 78192 h 551610"/>
                    <a:gd name="connsiteX69" fmla="*/ 383885 w 607919"/>
                    <a:gd name="connsiteY69" fmla="*/ 9633 h 551610"/>
                    <a:gd name="connsiteX70" fmla="*/ 387769 w 607919"/>
                    <a:gd name="connsiteY70" fmla="*/ 0 h 5516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07919" h="551610">
                      <a:moveTo>
                        <a:pt x="116112" y="473652"/>
                      </a:moveTo>
                      <a:cubicBezTo>
                        <a:pt x="117836" y="474356"/>
                        <a:pt x="118901" y="476670"/>
                        <a:pt x="118901" y="480423"/>
                      </a:cubicBezTo>
                      <a:lnTo>
                        <a:pt x="118901" y="551610"/>
                      </a:lnTo>
                      <a:lnTo>
                        <a:pt x="55604" y="551610"/>
                      </a:lnTo>
                      <a:lnTo>
                        <a:pt x="55604" y="540851"/>
                      </a:lnTo>
                      <a:cubicBezTo>
                        <a:pt x="55604" y="534971"/>
                        <a:pt x="59991" y="525838"/>
                        <a:pt x="65255" y="520583"/>
                      </a:cubicBezTo>
                      <a:lnTo>
                        <a:pt x="83555" y="502317"/>
                      </a:lnTo>
                      <a:lnTo>
                        <a:pt x="109375" y="476545"/>
                      </a:lnTo>
                      <a:cubicBezTo>
                        <a:pt x="112007" y="473855"/>
                        <a:pt x="114389" y="472948"/>
                        <a:pt x="116112" y="473652"/>
                      </a:cubicBezTo>
                      <a:close/>
                      <a:moveTo>
                        <a:pt x="199155" y="390799"/>
                      </a:moveTo>
                      <a:cubicBezTo>
                        <a:pt x="200892" y="391534"/>
                        <a:pt x="201956" y="393880"/>
                        <a:pt x="201956" y="397632"/>
                      </a:cubicBezTo>
                      <a:lnTo>
                        <a:pt x="201956" y="551610"/>
                      </a:lnTo>
                      <a:lnTo>
                        <a:pt x="145363" y="551610"/>
                      </a:lnTo>
                      <a:lnTo>
                        <a:pt x="145363" y="454170"/>
                      </a:lnTo>
                      <a:cubicBezTo>
                        <a:pt x="145363" y="446665"/>
                        <a:pt x="149620" y="436283"/>
                        <a:pt x="154879" y="431030"/>
                      </a:cubicBezTo>
                      <a:lnTo>
                        <a:pt x="192315" y="393630"/>
                      </a:lnTo>
                      <a:cubicBezTo>
                        <a:pt x="195007" y="390941"/>
                        <a:pt x="197417" y="390065"/>
                        <a:pt x="199155" y="390799"/>
                      </a:cubicBezTo>
                      <a:close/>
                      <a:moveTo>
                        <a:pt x="231082" y="388245"/>
                      </a:moveTo>
                      <a:cubicBezTo>
                        <a:pt x="232822" y="387525"/>
                        <a:pt x="235235" y="388401"/>
                        <a:pt x="237930" y="391091"/>
                      </a:cubicBezTo>
                      <a:lnTo>
                        <a:pt x="266763" y="419867"/>
                      </a:lnTo>
                      <a:lnTo>
                        <a:pt x="275915" y="428875"/>
                      </a:lnTo>
                      <a:cubicBezTo>
                        <a:pt x="280929" y="433879"/>
                        <a:pt x="284941" y="444013"/>
                        <a:pt x="284941" y="451520"/>
                      </a:cubicBezTo>
                      <a:lnTo>
                        <a:pt x="284941" y="551610"/>
                      </a:lnTo>
                      <a:lnTo>
                        <a:pt x="228277" y="551610"/>
                      </a:lnTo>
                      <a:lnTo>
                        <a:pt x="228277" y="394969"/>
                      </a:lnTo>
                      <a:cubicBezTo>
                        <a:pt x="228277" y="391278"/>
                        <a:pt x="229343" y="388964"/>
                        <a:pt x="231082" y="388245"/>
                      </a:cubicBezTo>
                      <a:close/>
                      <a:moveTo>
                        <a:pt x="365148" y="381336"/>
                      </a:moveTo>
                      <a:cubicBezTo>
                        <a:pt x="366901" y="382055"/>
                        <a:pt x="367997" y="384370"/>
                        <a:pt x="367997" y="388122"/>
                      </a:cubicBezTo>
                      <a:lnTo>
                        <a:pt x="367997" y="551610"/>
                      </a:lnTo>
                      <a:lnTo>
                        <a:pt x="311262" y="551610"/>
                      </a:lnTo>
                      <a:lnTo>
                        <a:pt x="311262" y="444661"/>
                      </a:lnTo>
                      <a:cubicBezTo>
                        <a:pt x="311262" y="437156"/>
                        <a:pt x="313767" y="428650"/>
                        <a:pt x="316898" y="425523"/>
                      </a:cubicBezTo>
                      <a:cubicBezTo>
                        <a:pt x="320029" y="422396"/>
                        <a:pt x="322534" y="419894"/>
                        <a:pt x="322534" y="419894"/>
                      </a:cubicBezTo>
                      <a:lnTo>
                        <a:pt x="358353" y="384120"/>
                      </a:lnTo>
                      <a:cubicBezTo>
                        <a:pt x="360983" y="381493"/>
                        <a:pt x="363394" y="380617"/>
                        <a:pt x="365148" y="381336"/>
                      </a:cubicBezTo>
                      <a:close/>
                      <a:moveTo>
                        <a:pt x="448177" y="298352"/>
                      </a:moveTo>
                      <a:cubicBezTo>
                        <a:pt x="449916" y="299071"/>
                        <a:pt x="450982" y="301386"/>
                        <a:pt x="450982" y="305139"/>
                      </a:cubicBezTo>
                      <a:lnTo>
                        <a:pt x="450982" y="551610"/>
                      </a:lnTo>
                      <a:lnTo>
                        <a:pt x="394318" y="551610"/>
                      </a:lnTo>
                      <a:lnTo>
                        <a:pt x="394318" y="361815"/>
                      </a:lnTo>
                      <a:cubicBezTo>
                        <a:pt x="394318" y="354308"/>
                        <a:pt x="398580" y="343924"/>
                        <a:pt x="403846" y="338669"/>
                      </a:cubicBezTo>
                      <a:lnTo>
                        <a:pt x="441329" y="301136"/>
                      </a:lnTo>
                      <a:cubicBezTo>
                        <a:pt x="444024" y="298508"/>
                        <a:pt x="446438" y="297633"/>
                        <a:pt x="448177" y="298352"/>
                      </a:cubicBezTo>
                      <a:close/>
                      <a:moveTo>
                        <a:pt x="527085" y="219452"/>
                      </a:moveTo>
                      <a:cubicBezTo>
                        <a:pt x="528809" y="220171"/>
                        <a:pt x="529874" y="222486"/>
                        <a:pt x="529874" y="226177"/>
                      </a:cubicBezTo>
                      <a:lnTo>
                        <a:pt x="529874" y="551610"/>
                      </a:lnTo>
                      <a:lnTo>
                        <a:pt x="477232" y="551610"/>
                      </a:lnTo>
                      <a:lnTo>
                        <a:pt x="477232" y="278727"/>
                      </a:lnTo>
                      <a:cubicBezTo>
                        <a:pt x="477232" y="271345"/>
                        <a:pt x="481494" y="260960"/>
                        <a:pt x="486883" y="255580"/>
                      </a:cubicBezTo>
                      <a:lnTo>
                        <a:pt x="520348" y="222298"/>
                      </a:lnTo>
                      <a:cubicBezTo>
                        <a:pt x="522980" y="219608"/>
                        <a:pt x="525362" y="218732"/>
                        <a:pt x="527085" y="219452"/>
                      </a:cubicBezTo>
                      <a:close/>
                      <a:moveTo>
                        <a:pt x="387769" y="0"/>
                      </a:moveTo>
                      <a:lnTo>
                        <a:pt x="580729" y="0"/>
                      </a:lnTo>
                      <a:cubicBezTo>
                        <a:pt x="594512" y="0"/>
                        <a:pt x="607919" y="12135"/>
                        <a:pt x="607919" y="26022"/>
                      </a:cubicBezTo>
                      <a:lnTo>
                        <a:pt x="607919" y="219812"/>
                      </a:lnTo>
                      <a:cubicBezTo>
                        <a:pt x="607919" y="227318"/>
                        <a:pt x="603534" y="229070"/>
                        <a:pt x="598271" y="223815"/>
                      </a:cubicBezTo>
                      <a:lnTo>
                        <a:pt x="530610" y="156258"/>
                      </a:lnTo>
                      <a:lnTo>
                        <a:pt x="304320" y="382325"/>
                      </a:lnTo>
                      <a:cubicBezTo>
                        <a:pt x="298932" y="387580"/>
                        <a:pt x="290412" y="387580"/>
                        <a:pt x="285024" y="382325"/>
                      </a:cubicBezTo>
                      <a:lnTo>
                        <a:pt x="216360" y="313767"/>
                      </a:lnTo>
                      <a:lnTo>
                        <a:pt x="94068" y="435996"/>
                      </a:lnTo>
                      <a:cubicBezTo>
                        <a:pt x="72767" y="457264"/>
                        <a:pt x="38435" y="457264"/>
                        <a:pt x="17260" y="435996"/>
                      </a:cubicBezTo>
                      <a:lnTo>
                        <a:pt x="15882" y="434745"/>
                      </a:lnTo>
                      <a:cubicBezTo>
                        <a:pt x="-5294" y="413477"/>
                        <a:pt x="-5294" y="379198"/>
                        <a:pt x="15882" y="358055"/>
                      </a:cubicBezTo>
                      <a:lnTo>
                        <a:pt x="206837" y="167267"/>
                      </a:lnTo>
                      <a:cubicBezTo>
                        <a:pt x="212100" y="161888"/>
                        <a:pt x="220745" y="161888"/>
                        <a:pt x="226008" y="167267"/>
                      </a:cubicBezTo>
                      <a:lnTo>
                        <a:pt x="294672" y="235701"/>
                      </a:lnTo>
                      <a:lnTo>
                        <a:pt x="424481" y="105965"/>
                      </a:lnTo>
                      <a:lnTo>
                        <a:pt x="452423" y="78192"/>
                      </a:lnTo>
                      <a:lnTo>
                        <a:pt x="383885" y="9633"/>
                      </a:lnTo>
                      <a:cubicBezTo>
                        <a:pt x="378497" y="4379"/>
                        <a:pt x="380376" y="0"/>
                        <a:pt x="38776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400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cxnSp>
          <p:nvCxnSpPr>
            <p:cNvPr id="12" name="直接连接符 11"/>
            <p:cNvCxnSpPr/>
            <p:nvPr/>
          </p:nvCxnSpPr>
          <p:spPr>
            <a:xfrm>
              <a:off x="660400" y="3632200"/>
              <a:ext cx="540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示例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23" name="Group 2"/>
          <p:cNvGrpSpPr/>
          <p:nvPr/>
        </p:nvGrpSpPr>
        <p:grpSpPr bwMode="auto">
          <a:xfrm>
            <a:off x="1304290" y="1305560"/>
            <a:ext cx="9348470" cy="4779965"/>
            <a:chOff x="384" y="1728"/>
            <a:chExt cx="4507" cy="2390"/>
          </a:xfrm>
        </p:grpSpPr>
        <p:sp>
          <p:nvSpPr>
            <p:cNvPr id="26" name="Rectangle 3"/>
            <p:cNvSpPr>
              <a:spLocks noChangeArrowheads="1"/>
            </p:cNvSpPr>
            <p:nvPr/>
          </p:nvSpPr>
          <p:spPr bwMode="auto">
            <a:xfrm>
              <a:off x="624" y="2064"/>
              <a:ext cx="961" cy="1776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92075" tIns="46038" rIns="92075" bIns="46038" anchor="ctr"/>
            <a:lstStyle/>
            <a:p>
              <a:pPr algn="ctr" eaLnBrk="1" hangingPunct="1">
                <a:buFont typeface="Monotype Sorts" pitchFamily="2" charset="2"/>
                <a:buNone/>
                <a:defRPr/>
              </a:pPr>
              <a:endParaRPr lang="zh-CN" altLang="zh-CN" sz="2400" dirty="0"/>
            </a:p>
          </p:txBody>
        </p:sp>
        <p:sp>
          <p:nvSpPr>
            <p:cNvPr id="29" name="Rectangle 4"/>
            <p:cNvSpPr>
              <a:spLocks noChangeArrowheads="1"/>
            </p:cNvSpPr>
            <p:nvPr/>
          </p:nvSpPr>
          <p:spPr bwMode="auto">
            <a:xfrm>
              <a:off x="666" y="2112"/>
              <a:ext cx="912" cy="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程  序</a:t>
              </a:r>
              <a:endParaRPr lang="zh-CN" altLang="en-US" sz="2400" dirty="0">
                <a:latin typeface="+mn-ea"/>
                <a:ea typeface="+mn-ea"/>
              </a:endParaRPr>
            </a:p>
            <a:p>
              <a:pPr eaLnBrk="1" hangingPunct="1">
                <a:buFont typeface="Monotype Sorts" pitchFamily="2" charset="2"/>
                <a:buNone/>
              </a:pPr>
              <a:r>
                <a:rPr lang="en-US" altLang="zh-CN" sz="2400" dirty="0"/>
                <a:t>JUMP </a:t>
              </a:r>
              <a:r>
                <a:rPr lang="en-US" altLang="zh-CN" sz="2400" dirty="0" err="1" smtClean="0"/>
                <a:t>i</a:t>
              </a:r>
              <a:endParaRPr lang="en-US" altLang="zh-CN" sz="2400" dirty="0"/>
            </a:p>
            <a:p>
              <a:pPr eaLnBrk="1" hangingPunct="1">
                <a:buFont typeface="Monotype Sorts" pitchFamily="2" charset="2"/>
                <a:buNone/>
              </a:pPr>
              <a:r>
                <a:rPr lang="en-US" altLang="zh-CN" sz="2400" dirty="0"/>
                <a:t>LOAD j DATA</a:t>
              </a:r>
              <a:endParaRPr lang="en-US" altLang="zh-CN" sz="2400" dirty="0"/>
            </a:p>
          </p:txBody>
        </p:sp>
        <p:sp>
          <p:nvSpPr>
            <p:cNvPr id="32" name="Text Box 5"/>
            <p:cNvSpPr txBox="1">
              <a:spLocks noChangeArrowheads="1"/>
            </p:cNvSpPr>
            <p:nvPr/>
          </p:nvSpPr>
          <p:spPr bwMode="auto">
            <a:xfrm>
              <a:off x="960" y="3888"/>
              <a:ext cx="48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7FFB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(a)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5" name="Text Box 6"/>
            <p:cNvSpPr txBox="1">
              <a:spLocks noChangeArrowheads="1"/>
            </p:cNvSpPr>
            <p:nvPr/>
          </p:nvSpPr>
          <p:spPr bwMode="auto">
            <a:xfrm>
              <a:off x="744" y="1731"/>
              <a:ext cx="81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7FFB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kumimoji="1" lang="zh-CN" altLang="en-US" sz="2400" dirty="0">
                  <a:latin typeface="+mn-ea"/>
                  <a:ea typeface="+mn-ea"/>
                </a:rPr>
                <a:t>符号地址</a:t>
              </a:r>
              <a:endParaRPr kumimoji="1"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40" name="Text Box 7"/>
            <p:cNvSpPr txBox="1">
              <a:spLocks noChangeArrowheads="1"/>
            </p:cNvSpPr>
            <p:nvPr/>
          </p:nvSpPr>
          <p:spPr bwMode="auto">
            <a:xfrm>
              <a:off x="384" y="3264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7FFB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j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1" name="Line 8"/>
            <p:cNvSpPr>
              <a:spLocks noChangeShapeType="1"/>
            </p:cNvSpPr>
            <p:nvPr/>
          </p:nvSpPr>
          <p:spPr bwMode="auto">
            <a:xfrm flipH="1">
              <a:off x="1392" y="3360"/>
              <a:ext cx="480" cy="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92075" tIns="46038" rIns="92075" bIns="46038"/>
            <a:lstStyle/>
            <a:p>
              <a:pPr eaLnBrk="1" hangingPunct="1">
                <a:defRPr/>
              </a:pPr>
              <a:endParaRPr lang="zh-CN" altLang="en-US" sz="2400"/>
            </a:p>
          </p:txBody>
        </p:sp>
        <p:sp>
          <p:nvSpPr>
            <p:cNvPr id="42" name="Line 9"/>
            <p:cNvSpPr>
              <a:spLocks noChangeShapeType="1"/>
            </p:cNvSpPr>
            <p:nvPr/>
          </p:nvSpPr>
          <p:spPr bwMode="auto">
            <a:xfrm>
              <a:off x="1392" y="2832"/>
              <a:ext cx="4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92075" tIns="46038" rIns="92075" bIns="46038"/>
            <a:lstStyle/>
            <a:p>
              <a:pPr eaLnBrk="1" hangingPunct="1">
                <a:defRPr/>
              </a:pPr>
              <a:endParaRPr lang="zh-CN" altLang="en-US" sz="2400"/>
            </a:p>
          </p:txBody>
        </p:sp>
        <p:sp>
          <p:nvSpPr>
            <p:cNvPr id="43" name="Line 10"/>
            <p:cNvSpPr>
              <a:spLocks noChangeShapeType="1"/>
            </p:cNvSpPr>
            <p:nvPr/>
          </p:nvSpPr>
          <p:spPr bwMode="auto">
            <a:xfrm>
              <a:off x="1872" y="2832"/>
              <a:ext cx="0" cy="5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92075" tIns="46038" rIns="92075" bIns="46038"/>
            <a:lstStyle/>
            <a:p>
              <a:pPr eaLnBrk="1" hangingPunct="1">
                <a:defRPr/>
              </a:pPr>
              <a:endParaRPr lang="zh-CN" altLang="en-US" sz="2400"/>
            </a:p>
          </p:txBody>
        </p:sp>
        <p:sp>
          <p:nvSpPr>
            <p:cNvPr id="44" name="Line 11"/>
            <p:cNvSpPr>
              <a:spLocks noChangeShapeType="1"/>
            </p:cNvSpPr>
            <p:nvPr/>
          </p:nvSpPr>
          <p:spPr bwMode="auto">
            <a:xfrm>
              <a:off x="624" y="2976"/>
              <a:ext cx="960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/>
            </a:p>
          </p:txBody>
        </p:sp>
        <p:sp>
          <p:nvSpPr>
            <p:cNvPr id="45" name="Line 12"/>
            <p:cNvSpPr>
              <a:spLocks noChangeShapeType="1"/>
            </p:cNvSpPr>
            <p:nvPr/>
          </p:nvSpPr>
          <p:spPr bwMode="auto">
            <a:xfrm flipH="1">
              <a:off x="1392" y="2688"/>
              <a:ext cx="480" cy="0"/>
            </a:xfrm>
            <a:prstGeom prst="line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92075" tIns="46038" rIns="92075" bIns="46038"/>
            <a:lstStyle/>
            <a:p>
              <a:pPr eaLnBrk="1" hangingPunct="1">
                <a:defRPr/>
              </a:pPr>
              <a:endParaRPr lang="zh-CN" altLang="en-US" sz="2400"/>
            </a:p>
          </p:txBody>
        </p:sp>
        <p:sp>
          <p:nvSpPr>
            <p:cNvPr id="46" name="Line 13"/>
            <p:cNvSpPr>
              <a:spLocks noChangeShapeType="1"/>
            </p:cNvSpPr>
            <p:nvPr/>
          </p:nvSpPr>
          <p:spPr bwMode="auto">
            <a:xfrm>
              <a:off x="1392" y="2400"/>
              <a:ext cx="48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92075" tIns="46038" rIns="92075" bIns="46038"/>
            <a:lstStyle/>
            <a:p>
              <a:pPr eaLnBrk="1" hangingPunct="1">
                <a:defRPr/>
              </a:pPr>
              <a:endParaRPr lang="zh-CN" altLang="en-US" sz="2400"/>
            </a:p>
          </p:txBody>
        </p:sp>
        <p:sp>
          <p:nvSpPr>
            <p:cNvPr id="47" name="Line 14"/>
            <p:cNvSpPr>
              <a:spLocks noChangeShapeType="1"/>
            </p:cNvSpPr>
            <p:nvPr/>
          </p:nvSpPr>
          <p:spPr bwMode="auto">
            <a:xfrm>
              <a:off x="1872" y="2400"/>
              <a:ext cx="0" cy="2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92075" tIns="46038" rIns="92075" bIns="46038"/>
            <a:lstStyle/>
            <a:p>
              <a:pPr eaLnBrk="1" hangingPunct="1">
                <a:defRPr/>
              </a:pPr>
              <a:endParaRPr lang="zh-CN" altLang="en-US" sz="2400"/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384" y="2642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7FFB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i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49" name="Rectangle 16"/>
            <p:cNvSpPr>
              <a:spLocks noChangeArrowheads="1"/>
            </p:cNvSpPr>
            <p:nvPr/>
          </p:nvSpPr>
          <p:spPr bwMode="auto">
            <a:xfrm>
              <a:off x="2352" y="2064"/>
              <a:ext cx="983" cy="17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Monotype Sorts" pitchFamily="2" charset="2"/>
                <a:buNone/>
              </a:pPr>
              <a:endParaRPr lang="zh-CN" altLang="zh-CN" sz="2400"/>
            </a:p>
          </p:txBody>
        </p:sp>
        <p:sp>
          <p:nvSpPr>
            <p:cNvPr id="50" name="Rectangle 17"/>
            <p:cNvSpPr>
              <a:spLocks noChangeArrowheads="1"/>
            </p:cNvSpPr>
            <p:nvPr/>
          </p:nvSpPr>
          <p:spPr bwMode="auto">
            <a:xfrm>
              <a:off x="2383" y="2094"/>
              <a:ext cx="935" cy="9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Monotype Sorts" pitchFamily="2" charset="2"/>
                <a:buNone/>
              </a:pPr>
              <a:r>
                <a:rPr lang="en-US" altLang="zh-CN" sz="2400" dirty="0"/>
                <a:t> </a:t>
              </a:r>
              <a:endParaRPr lang="en-US" altLang="zh-CN" sz="2400" dirty="0"/>
            </a:p>
            <a:p>
              <a:pPr eaLnBrk="1" hangingPunct="1">
                <a:buFont typeface="Monotype Sorts" pitchFamily="2" charset="2"/>
                <a:buNone/>
              </a:pPr>
              <a:r>
                <a:rPr lang="en-US" altLang="zh-CN" sz="2400" dirty="0"/>
                <a:t>JUMP 1424</a:t>
              </a:r>
              <a:endParaRPr lang="en-US" altLang="zh-CN" sz="2400" dirty="0"/>
            </a:p>
            <a:p>
              <a:pPr eaLnBrk="1" hangingPunct="1">
                <a:buFont typeface="Monotype Sorts" pitchFamily="2" charset="2"/>
                <a:buNone/>
              </a:pPr>
              <a:endParaRPr lang="en-US" altLang="zh-CN" sz="2400" dirty="0"/>
            </a:p>
            <a:p>
              <a:pPr eaLnBrk="1" hangingPunct="1">
                <a:buFont typeface="Monotype Sorts" pitchFamily="2" charset="2"/>
                <a:buNone/>
              </a:pPr>
              <a:r>
                <a:rPr lang="en-US" altLang="zh-CN" sz="2400" dirty="0"/>
                <a:t>LOAD 2224</a:t>
              </a:r>
              <a:endParaRPr lang="en-US" altLang="zh-CN" sz="2400" dirty="0"/>
            </a:p>
            <a:p>
              <a:pPr eaLnBrk="1" hangingPunct="1">
                <a:buFont typeface="Monotype Sorts" pitchFamily="2" charset="2"/>
                <a:buNone/>
              </a:pPr>
              <a:r>
                <a:rPr lang="en-US" altLang="zh-CN" sz="2400" dirty="0"/>
                <a:t> </a:t>
              </a:r>
              <a:endParaRPr lang="en-US" altLang="zh-CN" sz="2400" dirty="0"/>
            </a:p>
          </p:txBody>
        </p:sp>
        <p:sp>
          <p:nvSpPr>
            <p:cNvPr id="51" name="Text Box 18"/>
            <p:cNvSpPr txBox="1">
              <a:spLocks noChangeArrowheads="1"/>
            </p:cNvSpPr>
            <p:nvPr/>
          </p:nvSpPr>
          <p:spPr bwMode="auto">
            <a:xfrm>
              <a:off x="2544" y="3888"/>
              <a:ext cx="48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7FFB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(b)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2" name="Text Box 19"/>
            <p:cNvSpPr txBox="1">
              <a:spLocks noChangeArrowheads="1"/>
            </p:cNvSpPr>
            <p:nvPr/>
          </p:nvSpPr>
          <p:spPr bwMode="auto">
            <a:xfrm>
              <a:off x="2451" y="1728"/>
              <a:ext cx="81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7FFB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kumimoji="1" lang="zh-CN" altLang="en-US" sz="2400" dirty="0">
                  <a:solidFill>
                    <a:srgbClr val="0000FF"/>
                  </a:solidFill>
                  <a:latin typeface="+mn-ea"/>
                  <a:ea typeface="+mn-ea"/>
                </a:rPr>
                <a:t>物理地址</a:t>
              </a:r>
              <a:endParaRPr kumimoji="1" lang="zh-CN" altLang="en-US" sz="2400" dirty="0">
                <a:solidFill>
                  <a:srgbClr val="0000FF"/>
                </a:solidFill>
                <a:latin typeface="+mn-ea"/>
                <a:ea typeface="+mn-ea"/>
              </a:endParaRPr>
            </a:p>
          </p:txBody>
        </p:sp>
        <p:sp>
          <p:nvSpPr>
            <p:cNvPr id="53" name="Text Box 20"/>
            <p:cNvSpPr txBox="1">
              <a:spLocks noChangeArrowheads="1"/>
            </p:cNvSpPr>
            <p:nvPr/>
          </p:nvSpPr>
          <p:spPr bwMode="auto">
            <a:xfrm>
              <a:off x="1872" y="3264"/>
              <a:ext cx="48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7FFB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kumimoji="1" lang="en-US" altLang="zh-CN" sz="2400" dirty="0">
                  <a:latin typeface="Times New Roman" panose="02020603050405020304" pitchFamily="18" charset="0"/>
                </a:rPr>
                <a:t>2224</a:t>
              </a:r>
              <a:endParaRPr kumimoji="1"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4" name="Line 21"/>
            <p:cNvSpPr>
              <a:spLocks noChangeShapeType="1"/>
            </p:cNvSpPr>
            <p:nvPr/>
          </p:nvSpPr>
          <p:spPr bwMode="auto">
            <a:xfrm>
              <a:off x="2352" y="2976"/>
              <a:ext cx="983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/>
            </a:p>
          </p:txBody>
        </p:sp>
        <p:sp>
          <p:nvSpPr>
            <p:cNvPr id="55" name="Text Box 22"/>
            <p:cNvSpPr txBox="1">
              <a:spLocks noChangeArrowheads="1"/>
            </p:cNvSpPr>
            <p:nvPr/>
          </p:nvSpPr>
          <p:spPr bwMode="auto">
            <a:xfrm>
              <a:off x="1872" y="2599"/>
              <a:ext cx="48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7FFB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1424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6" name="Rectangle 23"/>
            <p:cNvSpPr>
              <a:spLocks noChangeArrowheads="1"/>
            </p:cNvSpPr>
            <p:nvPr/>
          </p:nvSpPr>
          <p:spPr bwMode="auto">
            <a:xfrm>
              <a:off x="3936" y="2064"/>
              <a:ext cx="955" cy="17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Monotype Sorts" pitchFamily="2" charset="2"/>
                <a:buNone/>
              </a:pPr>
              <a:endParaRPr lang="zh-CN" altLang="zh-CN" sz="2400"/>
            </a:p>
          </p:txBody>
        </p:sp>
        <p:sp>
          <p:nvSpPr>
            <p:cNvPr id="57" name="Rectangle 24"/>
            <p:cNvSpPr>
              <a:spLocks noChangeArrowheads="1"/>
            </p:cNvSpPr>
            <p:nvPr/>
          </p:nvSpPr>
          <p:spPr bwMode="auto">
            <a:xfrm>
              <a:off x="3950" y="2076"/>
              <a:ext cx="935" cy="9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Monotype Sorts" pitchFamily="2" charset="2"/>
                <a:buNone/>
              </a:pPr>
              <a:r>
                <a:rPr lang="en-US" altLang="zh-CN" sz="2400" dirty="0"/>
                <a:t> </a:t>
              </a:r>
              <a:endParaRPr lang="en-US" altLang="zh-CN" sz="2400" dirty="0"/>
            </a:p>
            <a:p>
              <a:pPr eaLnBrk="1" hangingPunct="1">
                <a:buFont typeface="Monotype Sorts" pitchFamily="2" charset="2"/>
                <a:buNone/>
              </a:pPr>
              <a:r>
                <a:rPr lang="en-US" altLang="zh-CN" sz="2400" dirty="0"/>
                <a:t>JUMP 400</a:t>
              </a:r>
              <a:endParaRPr lang="en-US" altLang="zh-CN" sz="2400" dirty="0"/>
            </a:p>
            <a:p>
              <a:pPr eaLnBrk="1" hangingPunct="1">
                <a:buFont typeface="Monotype Sorts" pitchFamily="2" charset="2"/>
                <a:buNone/>
              </a:pPr>
              <a:endParaRPr lang="en-US" altLang="zh-CN" sz="2400" dirty="0"/>
            </a:p>
            <a:p>
              <a:pPr eaLnBrk="1" hangingPunct="1">
                <a:buFont typeface="Monotype Sorts" pitchFamily="2" charset="2"/>
                <a:buNone/>
              </a:pPr>
              <a:r>
                <a:rPr lang="en-US" altLang="zh-CN" sz="2400" dirty="0"/>
                <a:t>LOAD 1200</a:t>
              </a:r>
              <a:endParaRPr lang="en-US" altLang="zh-CN" sz="2400" dirty="0"/>
            </a:p>
            <a:p>
              <a:pPr eaLnBrk="1" hangingPunct="1">
                <a:buFont typeface="Monotype Sorts" pitchFamily="2" charset="2"/>
                <a:buNone/>
              </a:pPr>
              <a:r>
                <a:rPr lang="en-US" altLang="zh-CN" sz="2400" dirty="0"/>
                <a:t> </a:t>
              </a:r>
              <a:endParaRPr lang="en-US" altLang="zh-CN" sz="2400" dirty="0"/>
            </a:p>
          </p:txBody>
        </p:sp>
        <p:sp>
          <p:nvSpPr>
            <p:cNvPr id="58" name="Text Box 25"/>
            <p:cNvSpPr txBox="1">
              <a:spLocks noChangeArrowheads="1"/>
            </p:cNvSpPr>
            <p:nvPr/>
          </p:nvSpPr>
          <p:spPr bwMode="auto">
            <a:xfrm>
              <a:off x="4128" y="3888"/>
              <a:ext cx="48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7FFB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(c)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59" name="Text Box 26"/>
            <p:cNvSpPr txBox="1">
              <a:spLocks noChangeArrowheads="1"/>
            </p:cNvSpPr>
            <p:nvPr/>
          </p:nvSpPr>
          <p:spPr bwMode="auto">
            <a:xfrm>
              <a:off x="4009" y="1728"/>
              <a:ext cx="816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7FFB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kumimoji="1" lang="zh-CN" altLang="en-US" sz="2400" dirty="0">
                  <a:solidFill>
                    <a:srgbClr val="FF0000"/>
                  </a:solidFill>
                  <a:latin typeface="+mn-ea"/>
                  <a:ea typeface="+mn-ea"/>
                </a:rPr>
                <a:t>逻辑地址</a:t>
              </a:r>
              <a:endParaRPr kumimoji="1" lang="zh-CN" altLang="en-US" sz="2400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sp>
          <p:nvSpPr>
            <p:cNvPr id="60" name="Text Box 27"/>
            <p:cNvSpPr txBox="1">
              <a:spLocks noChangeArrowheads="1"/>
            </p:cNvSpPr>
            <p:nvPr/>
          </p:nvSpPr>
          <p:spPr bwMode="auto">
            <a:xfrm>
              <a:off x="3456" y="3264"/>
              <a:ext cx="48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7FFB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1200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1" name="Line 28"/>
            <p:cNvSpPr>
              <a:spLocks noChangeShapeType="1"/>
            </p:cNvSpPr>
            <p:nvPr/>
          </p:nvSpPr>
          <p:spPr bwMode="auto">
            <a:xfrm>
              <a:off x="3936" y="2976"/>
              <a:ext cx="955" cy="0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/>
            </a:p>
          </p:txBody>
        </p:sp>
        <p:sp>
          <p:nvSpPr>
            <p:cNvPr id="62" name="Text Box 29"/>
            <p:cNvSpPr txBox="1">
              <a:spLocks noChangeArrowheads="1"/>
            </p:cNvSpPr>
            <p:nvPr/>
          </p:nvSpPr>
          <p:spPr bwMode="auto">
            <a:xfrm>
              <a:off x="3456" y="2599"/>
              <a:ext cx="384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7FFB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400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3" name="Text Box 30"/>
            <p:cNvSpPr txBox="1">
              <a:spLocks noChangeArrowheads="1"/>
            </p:cNvSpPr>
            <p:nvPr/>
          </p:nvSpPr>
          <p:spPr bwMode="auto">
            <a:xfrm>
              <a:off x="1872" y="1944"/>
              <a:ext cx="48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7FFB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1024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4" name="Text Box 31"/>
            <p:cNvSpPr txBox="1">
              <a:spLocks noChangeArrowheads="1"/>
            </p:cNvSpPr>
            <p:nvPr/>
          </p:nvSpPr>
          <p:spPr bwMode="auto">
            <a:xfrm>
              <a:off x="3600" y="1987"/>
              <a:ext cx="288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27FFB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marL="457200" indent="-457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0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程序的装入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1" name="îŝļiḋe"/>
          <p:cNvSpPr/>
          <p:nvPr/>
        </p:nvSpPr>
        <p:spPr>
          <a:xfrm>
            <a:off x="828675" y="971550"/>
            <a:ext cx="657225" cy="5307965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42" name="í$1iďè"/>
          <p:cNvGrpSpPr/>
          <p:nvPr/>
        </p:nvGrpSpPr>
        <p:grpSpPr>
          <a:xfrm>
            <a:off x="953001" y="970988"/>
            <a:ext cx="10436860" cy="1414780"/>
            <a:chOff x="4136995" y="1170303"/>
            <a:chExt cx="10436860" cy="1414780"/>
          </a:xfrm>
        </p:grpSpPr>
        <p:sp>
          <p:nvSpPr>
            <p:cNvPr id="43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ïSḻiḍé"/>
            <p:cNvSpPr txBox="1"/>
            <p:nvPr/>
          </p:nvSpPr>
          <p:spPr>
            <a:xfrm>
              <a:off x="4882485" y="1170303"/>
              <a:ext cx="9691370" cy="141478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zh-CN" altLang="en-US" sz="2400" dirty="0">
                  <a:solidFill>
                    <a:srgbClr val="0000FF"/>
                  </a:solidFill>
                  <a:latin typeface="+mj-ea"/>
                  <a:ea typeface="+mj-ea"/>
                </a:rPr>
                <a:t>绝对装入</a:t>
              </a:r>
              <a:r>
                <a:rPr lang="zh-CN" altLang="en-US" sz="2400" dirty="0" smtClean="0">
                  <a:solidFill>
                    <a:srgbClr val="0000FF"/>
                  </a:solidFill>
                  <a:latin typeface="+mj-ea"/>
                  <a:ea typeface="+mj-ea"/>
                </a:rPr>
                <a:t>方式</a:t>
              </a:r>
              <a:endParaRPr lang="zh-CN" altLang="en-US" sz="2400" dirty="0">
                <a:solidFill>
                  <a:srgbClr val="0000FF"/>
                </a:solidFill>
                <a:latin typeface="+mj-ea"/>
                <a:ea typeface="+mj-ea"/>
              </a:endParaRPr>
            </a:p>
            <a:p>
              <a:pPr marL="342900" indent="-342900" algn="just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latin typeface="+mj-ea"/>
                  <a:ea typeface="+mj-ea"/>
                </a:rPr>
                <a:t>编译时产生的地址使用绝对地址</a:t>
              </a:r>
              <a:endParaRPr lang="zh-CN" altLang="en-US" sz="2400" dirty="0">
                <a:latin typeface="+mj-ea"/>
                <a:ea typeface="+mj-ea"/>
              </a:endParaRPr>
            </a:p>
            <a:p>
              <a:pPr marL="342900" indent="-342900" algn="just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latin typeface="+mj-ea"/>
                  <a:ea typeface="+mj-ea"/>
                </a:rPr>
                <a:t>程序或数据被修改时，需要重新编译程序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</p:grpSp>
      <p:grpSp>
        <p:nvGrpSpPr>
          <p:cNvPr id="45" name="išḷîḓé"/>
          <p:cNvGrpSpPr/>
          <p:nvPr/>
        </p:nvGrpSpPr>
        <p:grpSpPr>
          <a:xfrm>
            <a:off x="828675" y="2632710"/>
            <a:ext cx="10435590" cy="2838450"/>
            <a:chOff x="4136995" y="2089294"/>
            <a:chExt cx="10435590" cy="2838450"/>
          </a:xfrm>
        </p:grpSpPr>
        <p:sp>
          <p:nvSpPr>
            <p:cNvPr id="46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47" name="îŝľîḓè"/>
            <p:cNvSpPr txBox="1"/>
            <p:nvPr/>
          </p:nvSpPr>
          <p:spPr>
            <a:xfrm>
              <a:off x="4882485" y="2089294"/>
              <a:ext cx="9690100" cy="283845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2400" dirty="0">
                  <a:solidFill>
                    <a:srgbClr val="0000FF"/>
                  </a:solidFill>
                </a:rPr>
                <a:t>可重定位装入方式</a:t>
              </a:r>
              <a:endParaRPr lang="zh-CN" altLang="en-US" sz="2400" dirty="0">
                <a:solidFill>
                  <a:srgbClr val="0000FF"/>
                </a:solidFill>
              </a:endParaRPr>
            </a:p>
            <a:p>
              <a:pPr marL="342900" indent="-3429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2400" dirty="0">
                  <a:solidFill>
                    <a:srgbClr val="FF0000"/>
                  </a:solidFill>
                </a:rPr>
                <a:t>重定位：</a:t>
              </a:r>
              <a:r>
                <a:rPr lang="zh-CN" altLang="en-US" sz="2400" dirty="0">
                  <a:sym typeface="+mn-ea"/>
                </a:rPr>
                <a:t>逻辑地址转换为物理地址的过程，也称为地址变换</a:t>
              </a:r>
              <a:r>
                <a:rPr lang="zh-CN" altLang="en-US" sz="2400" dirty="0">
                  <a:sym typeface="+mn-ea"/>
                </a:rPr>
                <a:t>或</a:t>
              </a:r>
              <a:r>
                <a:rPr lang="zh-CN" altLang="en-US" sz="2400" dirty="0">
                  <a:sym typeface="+mn-ea"/>
                </a:rPr>
                <a:t>映射。</a:t>
              </a:r>
              <a:endParaRPr lang="zh-CN" altLang="en-US" sz="2400" dirty="0">
                <a:solidFill>
                  <a:srgbClr val="FF0000"/>
                </a:solidFill>
              </a:endParaRPr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编译后的目标模块使用相对地址，存入内存后访问使用绝对地址。</a:t>
              </a:r>
              <a:endParaRPr lang="zh-CN" altLang="en-US" sz="2400" dirty="0"/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solidFill>
                    <a:srgbClr val="FF0000"/>
                  </a:solidFill>
                  <a:sym typeface="+mn-ea"/>
                </a:rPr>
                <a:t>静态重定位</a:t>
              </a:r>
              <a:r>
                <a:rPr lang="zh-CN" altLang="en-US" sz="2400" dirty="0"/>
                <a:t>在</a:t>
              </a:r>
              <a:r>
                <a:rPr lang="zh-CN" alt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装入</a:t>
              </a:r>
              <a:r>
                <a:rPr lang="zh-CN" altLang="en-US" sz="2400" dirty="0"/>
                <a:t>时</a:t>
              </a:r>
              <a:r>
                <a:rPr lang="zh-CN" altLang="en-US" sz="2400" dirty="0">
                  <a:solidFill>
                    <a:srgbClr val="FF0000"/>
                  </a:solidFill>
                </a:rPr>
                <a:t>软件</a:t>
              </a:r>
              <a:r>
                <a:rPr lang="zh-CN" altLang="en-US" sz="2400" dirty="0"/>
                <a:t>完成静态重定位，转换成绝对地址。</a:t>
              </a:r>
              <a:endParaRPr lang="zh-CN" altLang="en-US" sz="2400" dirty="0"/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>
                  <a:solidFill>
                    <a:srgbClr val="000000"/>
                  </a:solidFill>
                  <a:sym typeface="+mn-ea"/>
                </a:rPr>
                <a:t>程序装入内存</a:t>
              </a:r>
              <a:r>
                <a:rPr lang="zh-CN" altLang="en-US" sz="2000">
                  <a:solidFill>
                    <a:srgbClr val="FF0000"/>
                  </a:solidFill>
                  <a:sym typeface="+mn-ea"/>
                </a:rPr>
                <a:t>后不能移动</a:t>
              </a:r>
              <a:r>
                <a:rPr lang="zh-CN" altLang="en-US" sz="2000">
                  <a:solidFill>
                    <a:srgbClr val="000000"/>
                  </a:solidFill>
                  <a:sym typeface="+mn-ea"/>
                </a:rPr>
                <a:t>。不易实现共享。</a:t>
              </a:r>
              <a:endParaRPr lang="zh-CN" altLang="en-US" sz="2000">
                <a:solidFill>
                  <a:srgbClr val="000000"/>
                </a:solidFill>
              </a:endParaRPr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endParaRPr lang="zh-CN" altLang="en-US" sz="2400" dirty="0"/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endParaRPr lang="zh-CN" altLang="en-US" sz="2400" dirty="0"/>
            </a:p>
          </p:txBody>
        </p:sp>
      </p:grpSp>
      <p:grpSp>
        <p:nvGrpSpPr>
          <p:cNvPr id="48" name="ïSlíḍê"/>
          <p:cNvGrpSpPr/>
          <p:nvPr/>
        </p:nvGrpSpPr>
        <p:grpSpPr>
          <a:xfrm>
            <a:off x="828541" y="5039363"/>
            <a:ext cx="10435590" cy="1905635"/>
            <a:chOff x="4136995" y="4467909"/>
            <a:chExt cx="10435590" cy="1905635"/>
          </a:xfrm>
        </p:grpSpPr>
        <p:sp>
          <p:nvSpPr>
            <p:cNvPr id="49" name="ïsľíḓê"/>
            <p:cNvSpPr/>
            <p:nvPr/>
          </p:nvSpPr>
          <p:spPr>
            <a:xfrm>
              <a:off x="4136995" y="5187860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0" name="íṧļîḋê"/>
            <p:cNvSpPr txBox="1"/>
            <p:nvPr/>
          </p:nvSpPr>
          <p:spPr>
            <a:xfrm>
              <a:off x="4881850" y="4467909"/>
              <a:ext cx="9690735" cy="19056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2400" dirty="0" smtClean="0">
                  <a:solidFill>
                    <a:srgbClr val="0000FF"/>
                  </a:solidFill>
                </a:rPr>
                <a:t>动态</a:t>
              </a:r>
              <a:r>
                <a:rPr lang="zh-CN" altLang="en-US" sz="2400" dirty="0">
                  <a:solidFill>
                    <a:srgbClr val="0000FF"/>
                  </a:solidFill>
                </a:rPr>
                <a:t>运行时装入方式</a:t>
              </a:r>
              <a:endParaRPr lang="zh-CN" altLang="en-US" sz="2400" dirty="0">
                <a:solidFill>
                  <a:srgbClr val="0000FF"/>
                </a:solidFill>
              </a:endParaRPr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编译后的目标模块、装入时的加载模块都使用相对地址存入内存。</a:t>
              </a:r>
              <a:endParaRPr lang="zh-CN" altLang="en-US" sz="2400" dirty="0"/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在</a:t>
              </a:r>
              <a:r>
                <a:rPr lang="zh-CN" altLang="en-US" sz="2400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运行</a:t>
              </a:r>
              <a:r>
                <a:rPr lang="zh-CN" altLang="en-US" sz="2400" dirty="0"/>
                <a:t>时，完成重定位（</a:t>
              </a:r>
              <a:r>
                <a:rPr lang="zh-CN" altLang="en-US" sz="2400" dirty="0">
                  <a:solidFill>
                    <a:srgbClr val="FF0000"/>
                  </a:solidFill>
                </a:rPr>
                <a:t>动态重定位</a:t>
              </a:r>
              <a:r>
                <a:rPr lang="zh-CN" altLang="en-US" sz="2400" dirty="0"/>
                <a:t>）</a:t>
              </a:r>
              <a:r>
                <a:rPr lang="zh-CN" altLang="en-US" sz="2400" dirty="0">
                  <a:solidFill>
                    <a:srgbClr val="FF0000"/>
                  </a:solidFill>
                  <a:sym typeface="+mn-ea"/>
                </a:rPr>
                <a:t>需硬件支持：重定位寄存器。</a:t>
              </a:r>
              <a:endParaRPr lang="zh-CN" altLang="en-US" sz="2400" dirty="0">
                <a:solidFill>
                  <a:srgbClr val="FF0000"/>
                </a:solidFill>
                <a:sym typeface="+mn-ea"/>
              </a:endParaRPr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000" dirty="0">
                  <a:solidFill>
                    <a:srgbClr val="000000"/>
                  </a:solidFill>
                  <a:sym typeface="+mn-ea"/>
                </a:rPr>
                <a:t>可以移动程序。有利于实现共享。它是虚拟存储的基础。</a:t>
              </a:r>
              <a:endParaRPr lang="zh-CN" altLang="en-US" sz="2400" b="1" dirty="0">
                <a:solidFill>
                  <a:srgbClr val="000000"/>
                </a:solidFill>
              </a:endParaRPr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endParaRPr lang="zh-CN" altLang="en-US" sz="2400" dirty="0"/>
            </a:p>
            <a:p>
              <a:pPr marL="342900" indent="-342900">
                <a:lnSpc>
                  <a:spcPct val="13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endParaRPr lang="zh-CN" alt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713865" y="1887855"/>
            <a:ext cx="9112250" cy="21405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sym typeface="+mn-ea"/>
              </a:rPr>
              <a:t>      </a:t>
            </a:r>
            <a:r>
              <a:rPr lang="zh-CN" altLang="en-US" sz="2400" dirty="0">
                <a:solidFill>
                  <a:srgbClr val="000000"/>
                </a:solidFill>
                <a:sym typeface="+mn-ea"/>
              </a:rPr>
              <a:t>动态重定位是虚拟存储的基础：在程序运行之前可以只装入它的部分代码即可运行，然后再运行期间，根据需要动态申请内存。</a:t>
            </a:r>
            <a:endParaRPr lang="zh-CN" altLang="en-US" sz="2400" dirty="0">
              <a:solidFill>
                <a:srgbClr val="00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作业装入内存示意图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4" name="Group 41"/>
          <p:cNvGrpSpPr/>
          <p:nvPr/>
        </p:nvGrpSpPr>
        <p:grpSpPr bwMode="auto">
          <a:xfrm>
            <a:off x="984500" y="1110801"/>
            <a:ext cx="8802722" cy="5064657"/>
            <a:chOff x="340" y="1008"/>
            <a:chExt cx="4552" cy="2619"/>
          </a:xfrm>
        </p:grpSpPr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>
              <a:off x="1014" y="1248"/>
              <a:ext cx="1242" cy="172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 smtClean="0">
                <a:latin typeface="+mn-ea"/>
                <a:ea typeface="+mn-ea"/>
              </a:endParaRPr>
            </a:p>
          </p:txBody>
        </p:sp>
        <p:sp>
          <p:nvSpPr>
            <p:cNvPr id="17" name="Line 6"/>
            <p:cNvSpPr>
              <a:spLocks noChangeShapeType="1"/>
            </p:cNvSpPr>
            <p:nvPr/>
          </p:nvSpPr>
          <p:spPr bwMode="auto">
            <a:xfrm>
              <a:off x="1014" y="1608"/>
              <a:ext cx="124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8" name="Line 7"/>
            <p:cNvSpPr>
              <a:spLocks noChangeShapeType="1"/>
            </p:cNvSpPr>
            <p:nvPr/>
          </p:nvSpPr>
          <p:spPr bwMode="auto">
            <a:xfrm>
              <a:off x="1032" y="1955"/>
              <a:ext cx="122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19" name="Line 8"/>
            <p:cNvSpPr>
              <a:spLocks noChangeShapeType="1"/>
            </p:cNvSpPr>
            <p:nvPr/>
          </p:nvSpPr>
          <p:spPr bwMode="auto">
            <a:xfrm>
              <a:off x="1032" y="2256"/>
              <a:ext cx="122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1" name="Line 9"/>
            <p:cNvSpPr>
              <a:spLocks noChangeShapeType="1"/>
            </p:cNvSpPr>
            <p:nvPr/>
          </p:nvSpPr>
          <p:spPr bwMode="auto">
            <a:xfrm>
              <a:off x="1032" y="2663"/>
              <a:ext cx="122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22" name="Text Box 10"/>
            <p:cNvSpPr txBox="1">
              <a:spLocks noChangeArrowheads="1"/>
            </p:cNvSpPr>
            <p:nvPr/>
          </p:nvSpPr>
          <p:spPr bwMode="auto">
            <a:xfrm>
              <a:off x="1032" y="1678"/>
              <a:ext cx="117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27FFB7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LOAD 1</a:t>
              </a:r>
              <a:r>
                <a:rPr lang="zh-CN" altLang="en-US" sz="2400" dirty="0">
                  <a:latin typeface="+mn-ea"/>
                  <a:ea typeface="+mn-ea"/>
                </a:rPr>
                <a:t>，</a:t>
              </a:r>
              <a:r>
                <a:rPr lang="en-US" altLang="zh-CN" sz="2400" dirty="0">
                  <a:latin typeface="+mn-ea"/>
                  <a:ea typeface="+mn-ea"/>
                </a:rPr>
                <a:t>2500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23" name="Text Box 11"/>
            <p:cNvSpPr txBox="1">
              <a:spLocks noChangeArrowheads="1"/>
            </p:cNvSpPr>
            <p:nvPr/>
          </p:nvSpPr>
          <p:spPr bwMode="auto">
            <a:xfrm>
              <a:off x="1110" y="2339"/>
              <a:ext cx="96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365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24" name="Text Box 12"/>
            <p:cNvSpPr txBox="1">
              <a:spLocks noChangeArrowheads="1"/>
            </p:cNvSpPr>
            <p:nvPr/>
          </p:nvSpPr>
          <p:spPr bwMode="auto">
            <a:xfrm>
              <a:off x="1067" y="3121"/>
              <a:ext cx="1104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作业地址空间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25" name="Text Box 13"/>
            <p:cNvSpPr txBox="1">
              <a:spLocks noChangeArrowheads="1"/>
            </p:cNvSpPr>
            <p:nvPr/>
          </p:nvSpPr>
          <p:spPr bwMode="auto">
            <a:xfrm>
              <a:off x="340" y="1200"/>
              <a:ext cx="674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0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26" name="Text Box 14"/>
            <p:cNvSpPr txBox="1">
              <a:spLocks noChangeArrowheads="1"/>
            </p:cNvSpPr>
            <p:nvPr/>
          </p:nvSpPr>
          <p:spPr bwMode="auto">
            <a:xfrm>
              <a:off x="340" y="1536"/>
              <a:ext cx="674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1000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27" name="Text Box 15"/>
            <p:cNvSpPr txBox="1">
              <a:spLocks noChangeArrowheads="1"/>
            </p:cNvSpPr>
            <p:nvPr/>
          </p:nvSpPr>
          <p:spPr bwMode="auto">
            <a:xfrm>
              <a:off x="358" y="2124"/>
              <a:ext cx="674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2500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28" name="Text Box 16"/>
            <p:cNvSpPr txBox="1">
              <a:spLocks noChangeArrowheads="1"/>
            </p:cNvSpPr>
            <p:nvPr/>
          </p:nvSpPr>
          <p:spPr bwMode="auto">
            <a:xfrm>
              <a:off x="340" y="2784"/>
              <a:ext cx="674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5000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29" name="Rectangle 17"/>
            <p:cNvSpPr>
              <a:spLocks noChangeArrowheads="1"/>
            </p:cNvSpPr>
            <p:nvPr/>
          </p:nvSpPr>
          <p:spPr bwMode="auto">
            <a:xfrm>
              <a:off x="3644" y="1008"/>
              <a:ext cx="1248" cy="235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solidFill>
                <a:srgbClr val="27FFB7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 smtClean="0">
                <a:latin typeface="+mn-ea"/>
                <a:ea typeface="+mn-ea"/>
              </a:endParaRPr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>
              <a:off x="3646" y="1728"/>
              <a:ext cx="124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>
              <a:off x="3646" y="2043"/>
              <a:ext cx="124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>
              <a:off x="3646" y="2256"/>
              <a:ext cx="12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33" name="Line 21"/>
            <p:cNvSpPr>
              <a:spLocks noChangeShapeType="1"/>
            </p:cNvSpPr>
            <p:nvPr/>
          </p:nvSpPr>
          <p:spPr bwMode="auto">
            <a:xfrm>
              <a:off x="3646" y="2544"/>
              <a:ext cx="12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34" name="Text Box 22"/>
            <p:cNvSpPr txBox="1">
              <a:spLocks noChangeArrowheads="1"/>
            </p:cNvSpPr>
            <p:nvPr/>
          </p:nvSpPr>
          <p:spPr bwMode="auto">
            <a:xfrm>
              <a:off x="3646" y="1763"/>
              <a:ext cx="1244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LOAD 1</a:t>
              </a:r>
              <a:r>
                <a:rPr lang="zh-CN" altLang="en-US" sz="2400" dirty="0">
                  <a:latin typeface="+mn-ea"/>
                  <a:ea typeface="+mn-ea"/>
                </a:rPr>
                <a:t>，</a:t>
              </a:r>
              <a:r>
                <a:rPr lang="en-US" altLang="zh-CN" sz="2400" dirty="0">
                  <a:latin typeface="+mn-ea"/>
                  <a:ea typeface="+mn-ea"/>
                </a:rPr>
                <a:t>2500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35" name="Text Box 23"/>
            <p:cNvSpPr txBox="1">
              <a:spLocks noChangeArrowheads="1"/>
            </p:cNvSpPr>
            <p:nvPr/>
          </p:nvSpPr>
          <p:spPr bwMode="auto">
            <a:xfrm>
              <a:off x="3744" y="2315"/>
              <a:ext cx="96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365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36" name="Text Box 24"/>
            <p:cNvSpPr txBox="1">
              <a:spLocks noChangeArrowheads="1"/>
            </p:cNvSpPr>
            <p:nvPr/>
          </p:nvSpPr>
          <p:spPr bwMode="auto">
            <a:xfrm>
              <a:off x="3744" y="3388"/>
              <a:ext cx="96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内存空间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37" name="Text Box 25"/>
            <p:cNvSpPr txBox="1">
              <a:spLocks noChangeArrowheads="1"/>
            </p:cNvSpPr>
            <p:nvPr/>
          </p:nvSpPr>
          <p:spPr bwMode="auto">
            <a:xfrm>
              <a:off x="2930" y="1344"/>
              <a:ext cx="668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10000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38" name="Text Box 26"/>
            <p:cNvSpPr txBox="1">
              <a:spLocks noChangeArrowheads="1"/>
            </p:cNvSpPr>
            <p:nvPr/>
          </p:nvSpPr>
          <p:spPr bwMode="auto">
            <a:xfrm>
              <a:off x="3001" y="1632"/>
              <a:ext cx="597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11000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39" name="Text Box 27"/>
            <p:cNvSpPr txBox="1">
              <a:spLocks noChangeArrowheads="1"/>
            </p:cNvSpPr>
            <p:nvPr/>
          </p:nvSpPr>
          <p:spPr bwMode="auto">
            <a:xfrm>
              <a:off x="2976" y="2160"/>
              <a:ext cx="622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+mn-ea"/>
                  <a:ea typeface="+mn-ea"/>
                </a:rPr>
                <a:t>12500</a:t>
              </a:r>
              <a:endParaRPr lang="en-US" altLang="zh-CN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40" name="Text Box 28"/>
            <p:cNvSpPr txBox="1">
              <a:spLocks noChangeArrowheads="1"/>
            </p:cNvSpPr>
            <p:nvPr/>
          </p:nvSpPr>
          <p:spPr bwMode="auto">
            <a:xfrm>
              <a:off x="2976" y="2880"/>
              <a:ext cx="622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15000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51" name="Line 29"/>
            <p:cNvSpPr>
              <a:spLocks noChangeShapeType="1"/>
            </p:cNvSpPr>
            <p:nvPr/>
          </p:nvSpPr>
          <p:spPr bwMode="auto">
            <a:xfrm>
              <a:off x="3646" y="1392"/>
              <a:ext cx="124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52" name="Line 30"/>
            <p:cNvSpPr>
              <a:spLocks noChangeShapeType="1"/>
            </p:cNvSpPr>
            <p:nvPr/>
          </p:nvSpPr>
          <p:spPr bwMode="auto">
            <a:xfrm>
              <a:off x="2158" y="1248"/>
              <a:ext cx="1488" cy="144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53" name="Line 31"/>
            <p:cNvSpPr>
              <a:spLocks noChangeShapeType="1"/>
            </p:cNvSpPr>
            <p:nvPr/>
          </p:nvSpPr>
          <p:spPr bwMode="auto">
            <a:xfrm>
              <a:off x="3644" y="2817"/>
              <a:ext cx="1246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54" name="Text Box 32"/>
            <p:cNvSpPr txBox="1">
              <a:spLocks noChangeArrowheads="1"/>
            </p:cNvSpPr>
            <p:nvPr/>
          </p:nvSpPr>
          <p:spPr bwMode="auto">
            <a:xfrm>
              <a:off x="3502" y="2544"/>
              <a:ext cx="24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≈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55" name="Text Box 33"/>
            <p:cNvSpPr txBox="1">
              <a:spLocks noChangeArrowheads="1"/>
            </p:cNvSpPr>
            <p:nvPr/>
          </p:nvSpPr>
          <p:spPr bwMode="auto">
            <a:xfrm>
              <a:off x="4557" y="2561"/>
              <a:ext cx="24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≈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56" name="Text Box 34"/>
            <p:cNvSpPr txBox="1">
              <a:spLocks noChangeArrowheads="1"/>
            </p:cNvSpPr>
            <p:nvPr/>
          </p:nvSpPr>
          <p:spPr bwMode="auto">
            <a:xfrm>
              <a:off x="3502" y="3024"/>
              <a:ext cx="24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≈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57" name="Text Box 35"/>
            <p:cNvSpPr txBox="1">
              <a:spLocks noChangeArrowheads="1"/>
            </p:cNvSpPr>
            <p:nvPr/>
          </p:nvSpPr>
          <p:spPr bwMode="auto">
            <a:xfrm>
              <a:off x="4555" y="2999"/>
              <a:ext cx="240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≈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58" name="Line 36"/>
            <p:cNvSpPr>
              <a:spLocks noChangeShapeType="1"/>
            </p:cNvSpPr>
            <p:nvPr/>
          </p:nvSpPr>
          <p:spPr bwMode="auto">
            <a:xfrm flipV="1">
              <a:off x="2206" y="2784"/>
              <a:ext cx="1440" cy="96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59" name="AutoShape 37"/>
            <p:cNvSpPr>
              <a:spLocks noChangeArrowheads="1"/>
            </p:cNvSpPr>
            <p:nvPr/>
          </p:nvSpPr>
          <p:spPr bwMode="auto">
            <a:xfrm>
              <a:off x="2302" y="1968"/>
              <a:ext cx="1200" cy="144"/>
            </a:xfrm>
            <a:prstGeom prst="rightArrow">
              <a:avLst>
                <a:gd name="adj1" fmla="val 50000"/>
                <a:gd name="adj2" fmla="val 208333"/>
              </a:avLst>
            </a:prstGeom>
            <a:solidFill>
              <a:schemeClr val="accent1"/>
            </a:solidFill>
            <a:ln w="2857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标题 22529"/>
          <p:cNvSpPr>
            <a:spLocks noGrp="1"/>
          </p:cNvSpPr>
          <p:nvPr>
            <p:ph type="title"/>
          </p:nvPr>
        </p:nvSpPr>
        <p:spPr>
          <a:xfrm>
            <a:off x="3886200" y="685800"/>
            <a:ext cx="6781800" cy="685800"/>
          </a:xfrm>
        </p:spPr>
        <p:txBody>
          <a:bodyPr anchor="b" anchorCtr="0"/>
          <a:p>
            <a:r>
              <a:rPr lang="en-US" altLang="zh-CN" sz="340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3400">
                <a:latin typeface="黑体" panose="02010609060101010101" charset="-122"/>
                <a:ea typeface="黑体" panose="02010609060101010101" charset="-122"/>
              </a:rPr>
              <a:t>可重定位装入方式（静态重定位）</a:t>
            </a:r>
            <a:endParaRPr lang="en-US" altLang="zh-CN" sz="34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530" name="矩形 22530"/>
          <p:cNvSpPr/>
          <p:nvPr/>
        </p:nvSpPr>
        <p:spPr>
          <a:xfrm>
            <a:off x="4267200" y="5867400"/>
            <a:ext cx="385699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图  作业装入内存时的情况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2531" name="对象 22531"/>
          <p:cNvGraphicFramePr>
            <a:graphicFrameLocks noChangeAspect="1"/>
          </p:cNvGraphicFramePr>
          <p:nvPr/>
        </p:nvGraphicFramePr>
        <p:xfrm>
          <a:off x="3179763" y="1616075"/>
          <a:ext cx="7488237" cy="524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848350" imgH="4419600" progId="PBrush">
                  <p:embed/>
                </p:oleObj>
              </mc:Choice>
              <mc:Fallback>
                <p:oleObj name="" r:id="rId1" imgW="5848350" imgH="4419600" progId="PBrush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79763" y="1616075"/>
                        <a:ext cx="7488237" cy="5241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文本框 22532" descr="羊皮纸"/>
          <p:cNvSpPr txBox="1"/>
          <p:nvPr/>
        </p:nvSpPr>
        <p:spPr>
          <a:xfrm>
            <a:off x="1981200" y="762000"/>
            <a:ext cx="2057400" cy="645160"/>
          </a:xfrm>
          <a:prstGeom prst="rect">
            <a:avLst/>
          </a:prstGeom>
          <a:blipFill rotWithShape="0">
            <a:blip r:embed="rId3"/>
          </a:blip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600" b="1">
                <a:solidFill>
                  <a:srgbClr val="000000"/>
                </a:solidFill>
                <a:latin typeface="Times New Roman" panose="02020603050405020304" pitchFamily="18" charset="0"/>
                <a:ea typeface="华文隶书" panose="02010800040101010101" pitchFamily="2" charset="-122"/>
              </a:rPr>
              <a:t>装入方式</a:t>
            </a:r>
            <a:endParaRPr lang="zh-CN" altLang="en-US" sz="3600" b="1">
              <a:solidFill>
                <a:srgbClr val="000000"/>
              </a:solidFill>
              <a:latin typeface="Times New Roman" panose="02020603050405020304" pitchFamily="18" charset="0"/>
              <a:ea typeface="华文隶书" panose="0201080004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标题 24577"/>
          <p:cNvSpPr>
            <a:spLocks noGrp="1"/>
          </p:cNvSpPr>
          <p:nvPr>
            <p:ph type="title"/>
          </p:nvPr>
        </p:nvSpPr>
        <p:spPr>
          <a:xfrm>
            <a:off x="2438400" y="381000"/>
            <a:ext cx="7397750" cy="1066800"/>
          </a:xfrm>
        </p:spPr>
        <p:txBody>
          <a:bodyPr anchor="b" anchorCtr="0"/>
          <a:p>
            <a:br>
              <a:rPr lang="en-US" altLang="zh-CN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000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zh-CN" altLang="en-US" sz="3000">
                <a:latin typeface="黑体" panose="02010609060101010101" charset="-122"/>
                <a:ea typeface="黑体" panose="02010609060101010101" charset="-122"/>
              </a:rPr>
              <a:t>动态</a:t>
            </a:r>
            <a:r>
              <a:rPr lang="zh-CN" altLang="en-US" sz="3400">
                <a:latin typeface="黑体" panose="02010609060101010101" charset="-122"/>
                <a:ea typeface="黑体" panose="02010609060101010101" charset="-122"/>
              </a:rPr>
              <a:t>重定位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24579" name="内容占位符 24578"/>
          <p:cNvSpPr>
            <a:spLocks noGrp="1"/>
          </p:cNvSpPr>
          <p:nvPr>
            <p:ph idx="1"/>
          </p:nvPr>
        </p:nvSpPr>
        <p:spPr>
          <a:xfrm>
            <a:off x="1383665" y="1484630"/>
            <a:ext cx="9258935" cy="4114800"/>
          </a:xfrm>
        </p:spPr>
        <p:txBody>
          <a:bodyPr anchor="t" anchorCtr="0"/>
          <a:p>
            <a:pPr algn="just">
              <a:lnSpc>
                <a:spcPct val="135000"/>
              </a:lnSpc>
              <a:buNone/>
            </a:pPr>
            <a:r>
              <a:rPr lang="zh-CN" altLang="en-US" sz="2100" b="1">
                <a:solidFill>
                  <a:srgbClr val="000000"/>
                </a:solidFill>
                <a:latin typeface="宋体" panose="02010600030101010101" pitchFamily="2" charset="-122"/>
              </a:rPr>
              <a:t>       如下图（动态重定位），作业</a:t>
            </a:r>
            <a:r>
              <a:rPr lang="en-US" altLang="zh-CN" sz="2100" b="1">
                <a:solidFill>
                  <a:srgbClr val="000000"/>
                </a:solidFill>
                <a:latin typeface="Arial Unicode MS" pitchFamily="2" charset="-122"/>
                <a:ea typeface="Arial Unicode MS" pitchFamily="2" charset="-122"/>
              </a:rPr>
              <a:t>i</a:t>
            </a:r>
            <a:r>
              <a:rPr lang="zh-CN" altLang="en-US" sz="2100" b="1">
                <a:solidFill>
                  <a:srgbClr val="000000"/>
                </a:solidFill>
                <a:latin typeface="宋体" panose="02010600030101010101" pitchFamily="2" charset="-122"/>
              </a:rPr>
              <a:t>经过重定位，把地址集合映射到以</a:t>
            </a:r>
            <a:r>
              <a:rPr lang="en-US" altLang="zh-CN" sz="2100" b="1">
                <a:solidFill>
                  <a:srgbClr val="000000"/>
                </a:solidFill>
                <a:latin typeface="Arial Unicode MS" pitchFamily="2" charset="-122"/>
                <a:ea typeface="Arial Unicode MS" pitchFamily="2" charset="-122"/>
              </a:rPr>
              <a:t>1000</a:t>
            </a:r>
            <a:r>
              <a:rPr lang="zh-CN" altLang="en-US" sz="2100" b="1">
                <a:solidFill>
                  <a:srgbClr val="000000"/>
                </a:solidFill>
                <a:latin typeface="宋体" panose="02010600030101010101" pitchFamily="2" charset="-122"/>
              </a:rPr>
              <a:t>为始址的内存中，作为作业</a:t>
            </a:r>
            <a:r>
              <a:rPr lang="en-US" altLang="zh-CN" sz="2100" b="1">
                <a:solidFill>
                  <a:srgbClr val="000000"/>
                </a:solidFill>
                <a:latin typeface="Arial Unicode MS" pitchFamily="2" charset="-122"/>
                <a:ea typeface="Arial Unicode MS" pitchFamily="2" charset="-122"/>
              </a:rPr>
              <a:t>i</a:t>
            </a:r>
            <a:r>
              <a:rPr lang="zh-CN" altLang="en-US" sz="2100" b="1">
                <a:solidFill>
                  <a:srgbClr val="000000"/>
                </a:solidFill>
                <a:latin typeface="宋体" panose="02010600030101010101" pitchFamily="2" charset="-122"/>
              </a:rPr>
              <a:t>的存储空间。思</a:t>
            </a:r>
            <a:r>
              <a:rPr lang="zh-CN" altLang="en-US" sz="2100" b="1">
                <a:solidFill>
                  <a:srgbClr val="FF0000"/>
                </a:solidFill>
                <a:latin typeface="宋体" panose="02010600030101010101" pitchFamily="2" charset="-122"/>
              </a:rPr>
              <a:t>考：重定位寄存器有几个？</a:t>
            </a:r>
            <a:endParaRPr lang="zh-CN" altLang="en-US" sz="21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pic>
        <p:nvPicPr>
          <p:cNvPr id="24580" name="图片 2457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5890" y="2721610"/>
            <a:ext cx="7384415" cy="3629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8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uild="p"/>
      <p:bldP spid="2457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程序的链接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3" name="íšḻîḋè"/>
          <p:cNvSpPr/>
          <p:nvPr/>
        </p:nvSpPr>
        <p:spPr>
          <a:xfrm>
            <a:off x="1495052" y="3375285"/>
            <a:ext cx="9238835" cy="10084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在</a:t>
            </a:r>
            <a:r>
              <a:rPr lang="zh-CN" altLang="en-US" sz="2200" dirty="0">
                <a:solidFill>
                  <a:srgbClr val="FF0000"/>
                </a:solidFill>
              </a:rPr>
              <a:t>装入</a:t>
            </a:r>
            <a:r>
              <a:rPr lang="zh-CN" altLang="en-US" sz="2200" dirty="0"/>
              <a:t>内存时，采用边装入边链接的链接方式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便于修改和</a:t>
            </a:r>
            <a:r>
              <a:rPr lang="zh-CN" altLang="en-US" sz="2200" dirty="0" smtClean="0"/>
              <a:t>更新</a:t>
            </a:r>
            <a:endParaRPr lang="zh-CN" altLang="en-US" sz="2200" dirty="0" smtClean="0"/>
          </a:p>
        </p:txBody>
      </p:sp>
      <p:sp>
        <p:nvSpPr>
          <p:cNvPr id="26" name="i$lîďê"/>
          <p:cNvSpPr/>
          <p:nvPr/>
        </p:nvSpPr>
        <p:spPr>
          <a:xfrm>
            <a:off x="1550688" y="2911376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b="1" dirty="0"/>
              <a:t>装入时动态链接</a:t>
            </a:r>
            <a:endParaRPr lang="zh-CN" altLang="en-US" sz="2400" b="1" dirty="0"/>
          </a:p>
        </p:txBody>
      </p:sp>
      <p:sp>
        <p:nvSpPr>
          <p:cNvPr id="29" name="î$ļíḋè"/>
          <p:cNvSpPr/>
          <p:nvPr/>
        </p:nvSpPr>
        <p:spPr>
          <a:xfrm>
            <a:off x="1550688" y="4835433"/>
            <a:ext cx="10177484" cy="17112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将某些目标模块的链接推迟到执行时才链接。即在执行过程中，若发现一个被调用模块尚未装入内存时，立即由</a:t>
            </a:r>
            <a:r>
              <a:rPr lang="en-US" altLang="zh-CN" sz="2200" dirty="0"/>
              <a:t>OS</a:t>
            </a:r>
            <a:r>
              <a:rPr lang="zh-CN" altLang="en-US" sz="2200" dirty="0"/>
              <a:t>去找到该模块并将它装入内存，并把它链接到调用者模块上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加快装入过程，节省大量的内存空间</a:t>
            </a:r>
            <a:endParaRPr lang="zh-CN" altLang="en-US" sz="2200" dirty="0"/>
          </a:p>
        </p:txBody>
      </p:sp>
      <p:sp>
        <p:nvSpPr>
          <p:cNvPr id="32" name="ïṧḷïḋè"/>
          <p:cNvSpPr/>
          <p:nvPr/>
        </p:nvSpPr>
        <p:spPr>
          <a:xfrm>
            <a:off x="1550690" y="4388793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b="1" dirty="0"/>
              <a:t>运行时动态链接</a:t>
            </a:r>
            <a:endParaRPr lang="zh-CN" altLang="en-US" sz="2400" b="1" dirty="0"/>
          </a:p>
        </p:txBody>
      </p:sp>
      <p:sp>
        <p:nvSpPr>
          <p:cNvPr id="35" name="îs1iďé"/>
          <p:cNvSpPr/>
          <p:nvPr/>
        </p:nvSpPr>
        <p:spPr>
          <a:xfrm>
            <a:off x="1569746" y="1517508"/>
            <a:ext cx="9711234" cy="135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在程序</a:t>
            </a:r>
            <a:r>
              <a:rPr lang="zh-CN" altLang="en-US" sz="2200" dirty="0">
                <a:solidFill>
                  <a:srgbClr val="FF0000"/>
                </a:solidFill>
              </a:rPr>
              <a:t>运行前，</a:t>
            </a:r>
            <a:r>
              <a:rPr lang="zh-CN" altLang="en-US" sz="2200" dirty="0"/>
              <a:t>将各目标模块及它们所需的库函数链接成一个完整的装配模块，以后不再拆开（下页图）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对相对地址进行修改；变换外部调用符号</a:t>
            </a:r>
            <a:endParaRPr lang="zh-CN" altLang="en-US" sz="2200" dirty="0"/>
          </a:p>
        </p:txBody>
      </p:sp>
      <p:sp>
        <p:nvSpPr>
          <p:cNvPr id="40" name="íšḻíḑê"/>
          <p:cNvSpPr/>
          <p:nvPr/>
        </p:nvSpPr>
        <p:spPr>
          <a:xfrm>
            <a:off x="1550689" y="1100462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b="1" dirty="0"/>
              <a:t>静态链接</a:t>
            </a:r>
            <a:endParaRPr lang="zh-CN" altLang="en-US" sz="2400" b="1" dirty="0"/>
          </a:p>
        </p:txBody>
      </p:sp>
      <p:sp>
        <p:nvSpPr>
          <p:cNvPr id="41" name="îSļiḓè"/>
          <p:cNvSpPr/>
          <p:nvPr/>
        </p:nvSpPr>
        <p:spPr>
          <a:xfrm>
            <a:off x="867186" y="108690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42" name="íṥḻîḓe"/>
          <p:cNvSpPr/>
          <p:nvPr/>
        </p:nvSpPr>
        <p:spPr>
          <a:xfrm>
            <a:off x="867186" y="430619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43" name="îşļiḓè"/>
          <p:cNvSpPr/>
          <p:nvPr/>
        </p:nvSpPr>
        <p:spPr>
          <a:xfrm>
            <a:off x="867186" y="281085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44" name="îṡḷíďe"/>
          <p:cNvSpPr/>
          <p:nvPr/>
        </p:nvSpPr>
        <p:spPr>
          <a:xfrm>
            <a:off x="1057441" y="1283038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45" name="íSlíḋe"/>
          <p:cNvSpPr/>
          <p:nvPr/>
        </p:nvSpPr>
        <p:spPr>
          <a:xfrm>
            <a:off x="1057440" y="3032867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46" name="ïśḷïḓe"/>
          <p:cNvSpPr/>
          <p:nvPr/>
        </p:nvSpPr>
        <p:spPr>
          <a:xfrm>
            <a:off x="1086379" y="4495651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52" name="íšḻîḋè"/>
          <p:cNvSpPr/>
          <p:nvPr/>
        </p:nvSpPr>
        <p:spPr>
          <a:xfrm>
            <a:off x="4463539" y="3907082"/>
            <a:ext cx="4468427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/>
              <a:t>便于实现对目标模块的共享</a:t>
            </a:r>
            <a:endParaRPr lang="zh-CN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链接示意图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736993" y="1168490"/>
            <a:ext cx="7114113" cy="5312603"/>
            <a:chOff x="2046797" y="228600"/>
            <a:chExt cx="6967650" cy="5312603"/>
          </a:xfrm>
          <a:noFill/>
        </p:grpSpPr>
        <p:sp>
          <p:nvSpPr>
            <p:cNvPr id="26" name="Rectangle 2"/>
            <p:cNvSpPr>
              <a:spLocks noChangeArrowheads="1"/>
            </p:cNvSpPr>
            <p:nvPr/>
          </p:nvSpPr>
          <p:spPr bwMode="auto">
            <a:xfrm>
              <a:off x="2895600" y="2100808"/>
              <a:ext cx="1828800" cy="1600200"/>
            </a:xfrm>
            <a:prstGeom prst="rect">
              <a:avLst/>
            </a:prstGeom>
            <a:grpFill/>
            <a:ln w="28575">
              <a:solidFill>
                <a:srgbClr val="C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zh-CN" altLang="en-U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模块</a:t>
              </a:r>
              <a:r>
                <a:rPr lang="en-US" altLang="zh-CN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B</a:t>
              </a:r>
              <a:endParaRPr lang="en-US" altLang="zh-CN" sz="2400" dirty="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CALL C</a:t>
              </a:r>
              <a:r>
                <a:rPr lang="zh-CN" altLang="en-US" sz="2400" dirty="0">
                  <a:latin typeface="Arial" panose="020B0604020202020204" pitchFamily="34" charset="0"/>
                </a:rPr>
                <a:t>；</a:t>
              </a:r>
              <a:endParaRPr lang="zh-CN" altLang="en-US" sz="2400" dirty="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Return;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29" name="Text Box 4"/>
            <p:cNvSpPr txBox="1">
              <a:spLocks noChangeArrowheads="1"/>
            </p:cNvSpPr>
            <p:nvPr/>
          </p:nvSpPr>
          <p:spPr bwMode="auto">
            <a:xfrm>
              <a:off x="2046797" y="1524000"/>
              <a:ext cx="646160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L-1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32" name="Rectangle 5"/>
            <p:cNvSpPr>
              <a:spLocks noChangeArrowheads="1"/>
            </p:cNvSpPr>
            <p:nvPr/>
          </p:nvSpPr>
          <p:spPr bwMode="auto">
            <a:xfrm>
              <a:off x="2895600" y="228600"/>
              <a:ext cx="1828800" cy="1600200"/>
            </a:xfrm>
            <a:prstGeom prst="rect">
              <a:avLst/>
            </a:prstGeom>
            <a:grpFill/>
            <a:ln w="28575">
              <a:solidFill>
                <a:srgbClr val="C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zh-CN" altLang="en-US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模块</a:t>
              </a:r>
              <a:r>
                <a:rPr lang="en-US" altLang="zh-CN" sz="2400" dirty="0">
                  <a:solidFill>
                    <a:srgbClr val="0000FF"/>
                  </a:solidFill>
                  <a:latin typeface="Arial" panose="020B0604020202020204" pitchFamily="34" charset="0"/>
                </a:rPr>
                <a:t>A</a:t>
              </a:r>
              <a:endParaRPr lang="en-US" altLang="zh-CN" sz="2400" dirty="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CALL B</a:t>
              </a:r>
              <a:r>
                <a:rPr lang="zh-CN" altLang="en-US" sz="2400" dirty="0">
                  <a:latin typeface="Arial" panose="020B0604020202020204" pitchFamily="34" charset="0"/>
                </a:rPr>
                <a:t>；</a:t>
              </a:r>
              <a:endParaRPr lang="zh-CN" altLang="en-US" sz="2400" dirty="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Return;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35" name="Rectangle 8"/>
            <p:cNvSpPr>
              <a:spLocks noChangeArrowheads="1"/>
            </p:cNvSpPr>
            <p:nvPr/>
          </p:nvSpPr>
          <p:spPr bwMode="auto">
            <a:xfrm>
              <a:off x="2895600" y="3886200"/>
              <a:ext cx="1828800" cy="1600200"/>
            </a:xfrm>
            <a:prstGeom prst="rect">
              <a:avLst/>
            </a:prstGeom>
            <a:grpFill/>
            <a:ln w="28575">
              <a:solidFill>
                <a:srgbClr val="C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zh-CN" altLang="en-US" sz="2400">
                  <a:solidFill>
                    <a:srgbClr val="0000FF"/>
                  </a:solidFill>
                  <a:latin typeface="Arial" panose="020B0604020202020204" pitchFamily="34" charset="0"/>
                </a:rPr>
                <a:t>模块</a:t>
              </a:r>
              <a:r>
                <a:rPr lang="en-US" altLang="zh-CN" sz="2400">
                  <a:solidFill>
                    <a:srgbClr val="0000FF"/>
                  </a:solidFill>
                  <a:latin typeface="Arial" panose="020B0604020202020204" pitchFamily="34" charset="0"/>
                </a:rPr>
                <a:t>C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 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Return;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0" name="Text Box 9"/>
            <p:cNvSpPr txBox="1">
              <a:spLocks noChangeArrowheads="1"/>
            </p:cNvSpPr>
            <p:nvPr/>
          </p:nvSpPr>
          <p:spPr bwMode="auto">
            <a:xfrm>
              <a:off x="2438400" y="3810000"/>
              <a:ext cx="381000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0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1" name="Text Box 10"/>
            <p:cNvSpPr txBox="1">
              <a:spLocks noChangeArrowheads="1"/>
            </p:cNvSpPr>
            <p:nvPr/>
          </p:nvSpPr>
          <p:spPr bwMode="auto">
            <a:xfrm>
              <a:off x="2159559" y="5078896"/>
              <a:ext cx="685800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N-1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2" name="Rectangle 11"/>
            <p:cNvSpPr>
              <a:spLocks noChangeArrowheads="1"/>
            </p:cNvSpPr>
            <p:nvPr/>
          </p:nvSpPr>
          <p:spPr bwMode="auto">
            <a:xfrm>
              <a:off x="6248400" y="304800"/>
              <a:ext cx="1828800" cy="1600200"/>
            </a:xfrm>
            <a:prstGeom prst="rect">
              <a:avLst/>
            </a:prstGeom>
            <a:grpFill/>
            <a:ln w="28575">
              <a:solidFill>
                <a:srgbClr val="C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zh-CN" altLang="en-US" sz="2400">
                  <a:solidFill>
                    <a:srgbClr val="0000FF"/>
                  </a:solidFill>
                  <a:latin typeface="Arial" panose="020B0604020202020204" pitchFamily="34" charset="0"/>
                </a:rPr>
                <a:t>模块</a:t>
              </a:r>
              <a:r>
                <a:rPr lang="en-US" altLang="zh-CN" sz="2400">
                  <a:solidFill>
                    <a:srgbClr val="0000FF"/>
                  </a:solidFill>
                  <a:latin typeface="Arial" panose="020B0604020202020204" pitchFamily="34" charset="0"/>
                </a:rPr>
                <a:t>A</a:t>
              </a:r>
              <a:endParaRPr lang="en-US" altLang="zh-CN" sz="2400">
                <a:solidFill>
                  <a:srgbClr val="0000FF"/>
                </a:solidFill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JSR “L”</a:t>
              </a:r>
              <a:r>
                <a:rPr lang="zh-CN" altLang="en-US" sz="2400">
                  <a:latin typeface="Arial" panose="020B0604020202020204" pitchFamily="34" charset="0"/>
                </a:rPr>
                <a:t>；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Return;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" name="Text Box 12"/>
            <p:cNvSpPr txBox="1">
              <a:spLocks noChangeArrowheads="1"/>
            </p:cNvSpPr>
            <p:nvPr/>
          </p:nvSpPr>
          <p:spPr bwMode="auto">
            <a:xfrm>
              <a:off x="5791200" y="228600"/>
              <a:ext cx="381000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0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4" name="Text Box 13"/>
            <p:cNvSpPr txBox="1">
              <a:spLocks noChangeArrowheads="1"/>
            </p:cNvSpPr>
            <p:nvPr/>
          </p:nvSpPr>
          <p:spPr bwMode="auto">
            <a:xfrm>
              <a:off x="5544835" y="1497496"/>
              <a:ext cx="627366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L-1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5" name="Rectangle 17"/>
            <p:cNvSpPr>
              <a:spLocks noChangeArrowheads="1"/>
            </p:cNvSpPr>
            <p:nvPr/>
          </p:nvSpPr>
          <p:spPr bwMode="auto">
            <a:xfrm>
              <a:off x="6248400" y="1905000"/>
              <a:ext cx="1828800" cy="1600200"/>
            </a:xfrm>
            <a:prstGeom prst="rect">
              <a:avLst/>
            </a:prstGeom>
            <a:grpFill/>
            <a:ln w="28575">
              <a:solidFill>
                <a:srgbClr val="C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zh-CN" altLang="en-US" sz="2400">
                  <a:solidFill>
                    <a:srgbClr val="0000FF"/>
                  </a:solidFill>
                  <a:latin typeface="Arial" panose="020B0604020202020204" pitchFamily="34" charset="0"/>
                </a:rPr>
                <a:t>模块</a:t>
              </a:r>
              <a:r>
                <a:rPr lang="en-US" altLang="zh-CN" sz="2400">
                  <a:solidFill>
                    <a:srgbClr val="0000FF"/>
                  </a:solidFill>
                  <a:latin typeface="Arial" panose="020B0604020202020204" pitchFamily="34" charset="0"/>
                </a:rPr>
                <a:t>B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JSR “L+M”</a:t>
              </a:r>
              <a:r>
                <a:rPr lang="zh-CN" altLang="en-US" sz="2400">
                  <a:latin typeface="Arial" panose="020B0604020202020204" pitchFamily="34" charset="0"/>
                </a:rPr>
                <a:t>；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Return;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6" name="Text Box 18"/>
            <p:cNvSpPr txBox="1">
              <a:spLocks noChangeArrowheads="1"/>
            </p:cNvSpPr>
            <p:nvPr/>
          </p:nvSpPr>
          <p:spPr bwMode="auto">
            <a:xfrm>
              <a:off x="5544835" y="1881808"/>
              <a:ext cx="627366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L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7" name="Text Box 19"/>
            <p:cNvSpPr txBox="1">
              <a:spLocks noChangeArrowheads="1"/>
            </p:cNvSpPr>
            <p:nvPr/>
          </p:nvSpPr>
          <p:spPr bwMode="auto">
            <a:xfrm>
              <a:off x="5141961" y="3071192"/>
              <a:ext cx="1182640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L+M-1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8" name="Rectangle 20"/>
            <p:cNvSpPr>
              <a:spLocks noChangeArrowheads="1"/>
            </p:cNvSpPr>
            <p:nvPr/>
          </p:nvSpPr>
          <p:spPr bwMode="auto">
            <a:xfrm>
              <a:off x="6248400" y="3505200"/>
              <a:ext cx="1828800" cy="1600200"/>
            </a:xfrm>
            <a:prstGeom prst="rect">
              <a:avLst/>
            </a:prstGeom>
            <a:grpFill/>
            <a:ln w="28575">
              <a:solidFill>
                <a:srgbClr val="C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zh-CN" altLang="en-US" sz="2400">
                  <a:solidFill>
                    <a:srgbClr val="0000FF"/>
                  </a:solidFill>
                  <a:latin typeface="Arial" panose="020B0604020202020204" pitchFamily="34" charset="0"/>
                </a:rPr>
                <a:t>模块</a:t>
              </a:r>
              <a:r>
                <a:rPr lang="en-US" altLang="zh-CN" sz="2400">
                  <a:solidFill>
                    <a:srgbClr val="0000FF"/>
                  </a:solidFill>
                  <a:latin typeface="Arial" panose="020B0604020202020204" pitchFamily="34" charset="0"/>
                </a:rPr>
                <a:t>C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 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algn="ctr" eaLnBrk="1" hangingPunct="1"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Return;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9" name="Text Box 21"/>
            <p:cNvSpPr txBox="1">
              <a:spLocks noChangeArrowheads="1"/>
            </p:cNvSpPr>
            <p:nvPr/>
          </p:nvSpPr>
          <p:spPr bwMode="auto">
            <a:xfrm>
              <a:off x="5333999" y="3442252"/>
              <a:ext cx="838201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L+M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50" name="Text Box 22"/>
            <p:cNvSpPr txBox="1">
              <a:spLocks noChangeArrowheads="1"/>
            </p:cNvSpPr>
            <p:nvPr/>
          </p:nvSpPr>
          <p:spPr bwMode="auto">
            <a:xfrm>
              <a:off x="4800601" y="4724400"/>
              <a:ext cx="1524000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L+M+N-1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2438400" y="2057400"/>
              <a:ext cx="381000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>
                  <a:latin typeface="Arial" panose="020B0604020202020204" pitchFamily="34" charset="0"/>
                </a:rPr>
                <a:t>0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2" name="Text Box 24"/>
            <p:cNvSpPr txBox="1">
              <a:spLocks noChangeArrowheads="1"/>
            </p:cNvSpPr>
            <p:nvPr/>
          </p:nvSpPr>
          <p:spPr bwMode="auto">
            <a:xfrm>
              <a:off x="2075165" y="3349488"/>
              <a:ext cx="744235" cy="462307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M-1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53" name="Line 25"/>
            <p:cNvSpPr>
              <a:spLocks noChangeShapeType="1"/>
            </p:cNvSpPr>
            <p:nvPr/>
          </p:nvSpPr>
          <p:spPr bwMode="auto">
            <a:xfrm>
              <a:off x="7947646" y="1066800"/>
              <a:ext cx="1066800" cy="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1" hangingPunct="1">
                <a:defRPr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4" name="Line 26"/>
            <p:cNvSpPr>
              <a:spLocks noChangeShapeType="1"/>
            </p:cNvSpPr>
            <p:nvPr/>
          </p:nvSpPr>
          <p:spPr bwMode="auto">
            <a:xfrm>
              <a:off x="9014447" y="1066800"/>
              <a:ext cx="0" cy="129540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1" hangingPunct="1">
                <a:defRPr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5" name="Line 27"/>
            <p:cNvSpPr>
              <a:spLocks noChangeShapeType="1"/>
            </p:cNvSpPr>
            <p:nvPr/>
          </p:nvSpPr>
          <p:spPr bwMode="auto">
            <a:xfrm flipH="1">
              <a:off x="7947646" y="2362200"/>
              <a:ext cx="1066800" cy="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1" hangingPunct="1">
                <a:defRPr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6" name="Line 28"/>
            <p:cNvSpPr>
              <a:spLocks noChangeShapeType="1"/>
            </p:cNvSpPr>
            <p:nvPr/>
          </p:nvSpPr>
          <p:spPr bwMode="auto">
            <a:xfrm>
              <a:off x="7940588" y="2743200"/>
              <a:ext cx="1066800" cy="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1" hangingPunct="1">
                <a:defRPr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7" name="Line 29"/>
            <p:cNvSpPr>
              <a:spLocks noChangeShapeType="1"/>
            </p:cNvSpPr>
            <p:nvPr/>
          </p:nvSpPr>
          <p:spPr bwMode="auto">
            <a:xfrm>
              <a:off x="9007389" y="2743200"/>
              <a:ext cx="0" cy="1295400"/>
            </a:xfrm>
            <a:prstGeom prst="line">
              <a:avLst/>
            </a:prstGeom>
            <a:grpFill/>
            <a:ln w="28575">
              <a:solidFill>
                <a:srgbClr val="C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1" hangingPunct="1">
                <a:defRPr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8" name="Line 30"/>
            <p:cNvSpPr>
              <a:spLocks noChangeShapeType="1"/>
            </p:cNvSpPr>
            <p:nvPr/>
          </p:nvSpPr>
          <p:spPr bwMode="auto">
            <a:xfrm flipH="1">
              <a:off x="7836755" y="4038599"/>
              <a:ext cx="1170633" cy="1"/>
            </a:xfrm>
            <a:prstGeom prst="line">
              <a:avLst/>
            </a:prstGeom>
            <a:grpFill/>
            <a:ln w="28575">
              <a:solidFill>
                <a:srgbClr val="C00000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eaLnBrk="1" hangingPunct="1">
                <a:defRPr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5.1 </a:t>
            </a:r>
            <a:r>
              <a:rPr lang="zh-CN" altLang="en-US" sz="2400" dirty="0">
                <a:latin typeface="+mj-ea"/>
                <a:ea typeface="+mj-ea"/>
              </a:rPr>
              <a:t>存储器的</a:t>
            </a:r>
            <a:r>
              <a:rPr lang="zh-CN" altLang="en-US" sz="2400" dirty="0" smtClean="0">
                <a:latin typeface="+mj-ea"/>
                <a:ea typeface="+mj-ea"/>
              </a:rPr>
              <a:t>层次结构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5.2 </a:t>
            </a:r>
            <a:r>
              <a:rPr lang="zh-CN" altLang="en-US" sz="2400" dirty="0">
                <a:latin typeface="+mj-ea"/>
              </a:rPr>
              <a:t>程序的装入和</a:t>
            </a:r>
            <a:r>
              <a:rPr lang="zh-CN" altLang="en-US" sz="2400" dirty="0" smtClean="0">
                <a:latin typeface="+mj-ea"/>
              </a:rPr>
              <a:t>链接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+mj-ea"/>
              </a:rPr>
              <a:t>5.3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对换与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</a:rPr>
              <a:t>覆盖</a:t>
            </a:r>
            <a:endParaRPr lang="en-US" altLang="zh-CN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5.4 </a:t>
            </a:r>
            <a:r>
              <a:rPr lang="zh-CN" altLang="en-US" sz="2400" dirty="0">
                <a:latin typeface="+mj-ea"/>
              </a:rPr>
              <a:t>连续分配存储管理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5.5 </a:t>
            </a:r>
            <a:r>
              <a:rPr lang="zh-CN" altLang="en-US" sz="2400" dirty="0">
                <a:latin typeface="+mj-ea"/>
              </a:rPr>
              <a:t>分页存储管理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5.6 </a:t>
            </a:r>
            <a:r>
              <a:rPr lang="zh-CN" altLang="en-US" sz="2400" dirty="0">
                <a:latin typeface="+mj-ea"/>
              </a:rPr>
              <a:t>分段存储管理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40217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5.7 </a:t>
            </a:r>
            <a:r>
              <a:rPr lang="zh-CN" altLang="en-US" sz="2400" dirty="0">
                <a:latin typeface="+mj-ea"/>
              </a:rPr>
              <a:t>基于</a:t>
            </a:r>
            <a:r>
              <a:rPr lang="en-US" altLang="zh-CN" sz="2400" dirty="0">
                <a:latin typeface="+mj-ea"/>
              </a:rPr>
              <a:t>IA-32/x86-64</a:t>
            </a:r>
            <a:r>
              <a:rPr lang="zh-CN" altLang="en-US" sz="2400" dirty="0">
                <a:latin typeface="+mj-ea"/>
              </a:rPr>
              <a:t>架构</a:t>
            </a:r>
            <a:endParaRPr lang="zh-CN" altLang="en-US" sz="2400" dirty="0">
              <a:latin typeface="+mj-ea"/>
            </a:endParaRPr>
          </a:p>
          <a:p>
            <a:r>
              <a:rPr lang="zh-CN" altLang="en-US" sz="2400" dirty="0">
                <a:latin typeface="+mj-ea"/>
              </a:rPr>
              <a:t>      的内存管理策略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5</a:t>
            </a:r>
            <a:r>
              <a:rPr lang="zh-CN" altLang="en-US" sz="3600" dirty="0">
                <a:solidFill>
                  <a:srgbClr val="000000"/>
                </a:solidFill>
              </a:rPr>
              <a:t>章 </a:t>
            </a:r>
            <a:r>
              <a:rPr lang="zh-CN" altLang="en-US" sz="3600" dirty="0" smtClean="0">
                <a:solidFill>
                  <a:srgbClr val="000000"/>
                </a:solidFill>
              </a:rPr>
              <a:t>   存储器管理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78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对换</a:t>
            </a:r>
            <a:r>
              <a:rPr lang="en-US" altLang="zh-CN" sz="2800" b="1" dirty="0">
                <a:solidFill>
                  <a:schemeClr val="bg1"/>
                </a:solidFill>
              </a:rPr>
              <a:t>(Swapping)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958998" y="2130973"/>
            <a:ext cx="10425926" cy="26401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265" lvl="1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一方面</a:t>
            </a:r>
            <a:r>
              <a:rPr lang="zh-CN" altLang="en-US" sz="2400" dirty="0"/>
              <a:t>，在内存中的某些进程由于某事件尚未发生而被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阻塞</a:t>
            </a:r>
            <a:r>
              <a:rPr lang="zh-CN" altLang="en-US" sz="2400" dirty="0"/>
              <a:t>运行，但它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却占用了大量的内存空间</a:t>
            </a:r>
            <a:r>
              <a:rPr lang="zh-CN" altLang="en-US" sz="2400" dirty="0"/>
              <a:t>，甚至有时可能出现在内存中所有进程都被阻塞而迫使</a:t>
            </a:r>
            <a:r>
              <a:rPr lang="en-US" altLang="zh-CN" sz="2400" dirty="0"/>
              <a:t>CPU</a:t>
            </a:r>
            <a:r>
              <a:rPr lang="zh-CN" altLang="en-US" sz="2400" dirty="0"/>
              <a:t>停止下来等待的情况；</a:t>
            </a:r>
            <a:endParaRPr lang="zh-CN" altLang="en-US" sz="2400" dirty="0"/>
          </a:p>
          <a:p>
            <a:pPr marL="342265" lvl="1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另一方面</a:t>
            </a:r>
            <a:r>
              <a:rPr lang="zh-CN" altLang="en-US" sz="2400" dirty="0"/>
              <a:t>，却又有着许多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作业在外存上等待</a:t>
            </a:r>
            <a:r>
              <a:rPr lang="zh-CN" altLang="en-US" sz="2400" dirty="0"/>
              <a:t>，因无内存而不能进入内存运行的情况。</a:t>
            </a:r>
            <a:endParaRPr lang="zh-CN" altLang="en-US" sz="2400" dirty="0"/>
          </a:p>
        </p:txBody>
      </p:sp>
      <p:sp>
        <p:nvSpPr>
          <p:cNvPr id="11" name="内容占位符 2"/>
          <p:cNvSpPr txBox="1"/>
          <p:nvPr/>
        </p:nvSpPr>
        <p:spPr>
          <a:xfrm>
            <a:off x="958998" y="1402837"/>
            <a:ext cx="4978348" cy="6320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在多道程序环境下：</a:t>
            </a:r>
            <a:endParaRPr lang="zh-CN" altLang="en-US" sz="2400" dirty="0"/>
          </a:p>
        </p:txBody>
      </p:sp>
      <p:sp>
        <p:nvSpPr>
          <p:cNvPr id="12" name="内容占位符 2"/>
          <p:cNvSpPr txBox="1"/>
          <p:nvPr/>
        </p:nvSpPr>
        <p:spPr>
          <a:xfrm>
            <a:off x="958998" y="4867254"/>
            <a:ext cx="4978348" cy="6320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浪费内存资源，降低系统吞吐量。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对换的概念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6" name="íSľïdé"/>
          <p:cNvSpPr/>
          <p:nvPr/>
        </p:nvSpPr>
        <p:spPr>
          <a:xfrm>
            <a:off x="1906927" y="1924829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7" name="ïŝļíḓê"/>
          <p:cNvSpPr/>
          <p:nvPr/>
        </p:nvSpPr>
        <p:spPr bwMode="auto">
          <a:xfrm>
            <a:off x="8689292" y="2556677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8" name="îṧľîdé"/>
          <p:cNvSpPr/>
          <p:nvPr/>
        </p:nvSpPr>
        <p:spPr>
          <a:xfrm>
            <a:off x="3945450" y="1508926"/>
            <a:ext cx="4034934" cy="2095500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内容占位符 2"/>
          <p:cNvSpPr txBox="1"/>
          <p:nvPr/>
        </p:nvSpPr>
        <p:spPr>
          <a:xfrm>
            <a:off x="894703" y="2556676"/>
            <a:ext cx="3831843" cy="30842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3000"/>
              </a:lnSpc>
              <a:spcBef>
                <a:spcPts val="580"/>
              </a:spcBef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对换：</a:t>
            </a:r>
            <a:r>
              <a:rPr lang="zh-CN" altLang="en-US" sz="2400" dirty="0"/>
              <a:t>把内存中暂时不能运行的进程或者暂时不用的程序和数据，调出到外存上，以便腾出足够的内存空间，再把已具备运行条件的进程或进程所需的程序或数据，调入内存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10" name="内容占位符 2"/>
          <p:cNvSpPr txBox="1"/>
          <p:nvPr/>
        </p:nvSpPr>
        <p:spPr>
          <a:xfrm>
            <a:off x="7696200" y="3235046"/>
            <a:ext cx="4062082" cy="114377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400" dirty="0"/>
              <a:t>对换是</a:t>
            </a:r>
            <a:r>
              <a:rPr lang="zh-CN" altLang="en-US" sz="2400" u="sng" dirty="0"/>
              <a:t>提</a:t>
            </a:r>
            <a:r>
              <a:rPr lang="zh-CN" altLang="en-US" sz="24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高内存利用率</a:t>
            </a:r>
            <a:r>
              <a:rPr lang="zh-CN" altLang="en-US" sz="2400" dirty="0"/>
              <a:t>的有效措施，广泛应用于</a:t>
            </a:r>
            <a:r>
              <a:rPr lang="en-US" altLang="zh-CN" sz="2400" dirty="0"/>
              <a:t>OS</a:t>
            </a:r>
            <a:r>
              <a:rPr lang="zh-CN" altLang="en-US" sz="2400" dirty="0" smtClean="0"/>
              <a:t>中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对换的示意图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00479" y="1149028"/>
            <a:ext cx="7416800" cy="52343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对换的类型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2" name="íšḻîḋè"/>
          <p:cNvSpPr/>
          <p:nvPr/>
        </p:nvSpPr>
        <p:spPr>
          <a:xfrm>
            <a:off x="1765900" y="3713955"/>
            <a:ext cx="5362294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目的是为了支持虚拟存储系统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zh-CN" altLang="en-US" sz="2200" dirty="0"/>
          </a:p>
        </p:txBody>
      </p:sp>
      <p:sp>
        <p:nvSpPr>
          <p:cNvPr id="13" name="i$lîďê"/>
          <p:cNvSpPr/>
          <p:nvPr/>
        </p:nvSpPr>
        <p:spPr>
          <a:xfrm>
            <a:off x="1821535" y="2836055"/>
            <a:ext cx="9518051" cy="7593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23000"/>
              </a:lnSpc>
            </a:pPr>
            <a:r>
              <a:rPr lang="zh-CN" altLang="en-US" sz="2400" dirty="0"/>
              <a:t>页面</a:t>
            </a:r>
            <a:r>
              <a:rPr lang="en-US" altLang="zh-CN" sz="2400" dirty="0"/>
              <a:t>(</a:t>
            </a:r>
            <a:r>
              <a:rPr lang="zh-CN" altLang="en-US" sz="2400" dirty="0"/>
              <a:t>分段</a:t>
            </a:r>
            <a:r>
              <a:rPr lang="en-US" altLang="zh-CN" sz="2400" dirty="0"/>
              <a:t>)</a:t>
            </a:r>
            <a:r>
              <a:rPr lang="zh-CN" altLang="en-US" sz="2400" dirty="0"/>
              <a:t>对换：对换是以“页”或“段”为单位进行的，又统称为“</a:t>
            </a:r>
            <a:r>
              <a:rPr lang="zh-CN" altLang="en-US" sz="2400" dirty="0">
                <a:solidFill>
                  <a:srgbClr val="FF0000"/>
                </a:solidFill>
              </a:rPr>
              <a:t>部分对换</a:t>
            </a:r>
            <a:r>
              <a:rPr lang="zh-CN" altLang="en-US" sz="2400" dirty="0"/>
              <a:t>”</a:t>
            </a:r>
            <a:endParaRPr lang="zh-CN" altLang="en-US" sz="2400" dirty="0"/>
          </a:p>
        </p:txBody>
      </p:sp>
      <p:sp>
        <p:nvSpPr>
          <p:cNvPr id="14" name="î$ļíḋè"/>
          <p:cNvSpPr/>
          <p:nvPr/>
        </p:nvSpPr>
        <p:spPr>
          <a:xfrm>
            <a:off x="1821537" y="5025400"/>
            <a:ext cx="5459358" cy="13568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对换空间的管理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进程的换出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进程的换入</a:t>
            </a:r>
            <a:endParaRPr lang="zh-CN" altLang="en-US" sz="2200" dirty="0"/>
          </a:p>
        </p:txBody>
      </p:sp>
      <p:sp>
        <p:nvSpPr>
          <p:cNvPr id="15" name="ïṧḷïḋè"/>
          <p:cNvSpPr/>
          <p:nvPr/>
        </p:nvSpPr>
        <p:spPr>
          <a:xfrm>
            <a:off x="1821537" y="4512625"/>
            <a:ext cx="8526375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为了实现</a:t>
            </a: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进程对换</a:t>
            </a:r>
            <a:r>
              <a:rPr lang="zh-CN" altLang="en-US" sz="2400" dirty="0"/>
              <a:t>，系统必须能实现三方面的功能：</a:t>
            </a:r>
            <a:endParaRPr lang="zh-CN" altLang="en-US" sz="2400" dirty="0"/>
          </a:p>
        </p:txBody>
      </p:sp>
      <p:sp>
        <p:nvSpPr>
          <p:cNvPr id="16" name="îs1iďé"/>
          <p:cNvSpPr/>
          <p:nvPr/>
        </p:nvSpPr>
        <p:spPr>
          <a:xfrm>
            <a:off x="1821537" y="1830118"/>
            <a:ext cx="9711234" cy="1490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被广泛应用于多道程序系统，并作为处理机中级调度</a:t>
            </a:r>
            <a:endParaRPr lang="zh-CN" altLang="en-US" sz="2400" dirty="0"/>
          </a:p>
        </p:txBody>
      </p:sp>
      <p:sp>
        <p:nvSpPr>
          <p:cNvPr id="17" name="íšḻíḑê"/>
          <p:cNvSpPr/>
          <p:nvPr/>
        </p:nvSpPr>
        <p:spPr>
          <a:xfrm>
            <a:off x="1802480" y="1361556"/>
            <a:ext cx="8255920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整体对换</a:t>
            </a:r>
            <a:r>
              <a:rPr lang="zh-CN" altLang="en-US" sz="2400" dirty="0"/>
              <a:t>：对换以整个进程为单位，也称为</a:t>
            </a:r>
            <a:r>
              <a:rPr lang="zh-CN" altLang="en-US" sz="2400" dirty="0">
                <a:solidFill>
                  <a:srgbClr val="FF0000"/>
                </a:solidFill>
              </a:rPr>
              <a:t>进程对换。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8" name="îSļiḓè"/>
          <p:cNvSpPr/>
          <p:nvPr/>
        </p:nvSpPr>
        <p:spPr>
          <a:xfrm>
            <a:off x="1118977" y="1347994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9" name="íṥḻîḓe"/>
          <p:cNvSpPr/>
          <p:nvPr/>
        </p:nvSpPr>
        <p:spPr>
          <a:xfrm>
            <a:off x="1138033" y="4430023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1" name="îşļiḓè"/>
          <p:cNvSpPr/>
          <p:nvPr/>
        </p:nvSpPr>
        <p:spPr>
          <a:xfrm>
            <a:off x="1138033" y="273552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" name="îṡḷíďe"/>
          <p:cNvSpPr/>
          <p:nvPr/>
        </p:nvSpPr>
        <p:spPr>
          <a:xfrm>
            <a:off x="1309232" y="1544132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3" name="íSlíḋe"/>
          <p:cNvSpPr/>
          <p:nvPr/>
        </p:nvSpPr>
        <p:spPr>
          <a:xfrm>
            <a:off x="1328287" y="2957546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4" name="ïśḷïḓe"/>
          <p:cNvSpPr/>
          <p:nvPr/>
        </p:nvSpPr>
        <p:spPr>
          <a:xfrm>
            <a:off x="1357226" y="4619483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对换区的管理（磁盘上）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2" name="íšḻîḋè"/>
          <p:cNvSpPr/>
          <p:nvPr/>
        </p:nvSpPr>
        <p:spPr>
          <a:xfrm>
            <a:off x="1802480" y="3852792"/>
            <a:ext cx="9464477" cy="121898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用于记录外存对换区中的空闲盘块的使用情况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与</a:t>
            </a:r>
            <a:r>
              <a:rPr lang="zh-CN" altLang="en-US" sz="2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动态分区</a:t>
            </a:r>
            <a:r>
              <a:rPr lang="zh-CN" altLang="en-US" sz="2200" dirty="0"/>
              <a:t>分配方式相似（见稍后）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空闲分区表</a:t>
            </a:r>
            <a:r>
              <a:rPr lang="en-US" altLang="zh-CN" sz="2200" dirty="0"/>
              <a:t>/</a:t>
            </a:r>
            <a:r>
              <a:rPr lang="zh-CN" altLang="en-US" sz="2200" dirty="0"/>
              <a:t>空闲分区链：包含对换区首址及大小</a:t>
            </a:r>
            <a:endParaRPr lang="zh-CN" altLang="en-US" sz="2200" dirty="0"/>
          </a:p>
        </p:txBody>
      </p:sp>
      <p:sp>
        <p:nvSpPr>
          <p:cNvPr id="13" name="i$lîďê"/>
          <p:cNvSpPr/>
          <p:nvPr/>
        </p:nvSpPr>
        <p:spPr>
          <a:xfrm>
            <a:off x="1821535" y="3351209"/>
            <a:ext cx="9518051" cy="52734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23000"/>
              </a:lnSpc>
            </a:pPr>
            <a:r>
              <a:rPr lang="zh-CN" altLang="en-US" sz="2400" dirty="0"/>
              <a:t>盘块管理中的数据结构</a:t>
            </a:r>
            <a:endParaRPr lang="zh-CN" altLang="en-US" sz="2400" dirty="0"/>
          </a:p>
        </p:txBody>
      </p:sp>
      <p:sp>
        <p:nvSpPr>
          <p:cNvPr id="14" name="î$ļíḋè"/>
          <p:cNvSpPr/>
          <p:nvPr/>
        </p:nvSpPr>
        <p:spPr>
          <a:xfrm>
            <a:off x="1821536" y="5733739"/>
            <a:ext cx="7760345" cy="52758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与动态分区方式的内存分配与回收方法相似</a:t>
            </a:r>
            <a:endParaRPr lang="zh-CN" altLang="en-US" sz="2200" dirty="0"/>
          </a:p>
        </p:txBody>
      </p:sp>
      <p:sp>
        <p:nvSpPr>
          <p:cNvPr id="15" name="ïṧḷïḋè"/>
          <p:cNvSpPr/>
          <p:nvPr/>
        </p:nvSpPr>
        <p:spPr>
          <a:xfrm>
            <a:off x="1821537" y="5298238"/>
            <a:ext cx="8526375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对换区的分配与回收</a:t>
            </a:r>
            <a:endParaRPr lang="zh-CN" altLang="en-US" sz="2400" dirty="0"/>
          </a:p>
        </p:txBody>
      </p:sp>
      <p:sp>
        <p:nvSpPr>
          <p:cNvPr id="16" name="îs1iďé"/>
          <p:cNvSpPr/>
          <p:nvPr/>
        </p:nvSpPr>
        <p:spPr>
          <a:xfrm>
            <a:off x="1821537" y="1662691"/>
            <a:ext cx="9711234" cy="1490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提高进程换入和换出的速度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提高文件存储空间的利用率次之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应采用</a:t>
            </a:r>
            <a:r>
              <a:rPr lang="zh-CN" altLang="en-US" sz="2400" dirty="0">
                <a:solidFill>
                  <a:srgbClr val="FF0000"/>
                </a:solidFill>
              </a:rPr>
              <a:t>连续分配方式</a:t>
            </a:r>
            <a:r>
              <a:rPr lang="zh-CN" altLang="en-US" sz="2400" dirty="0"/>
              <a:t>，很少考虑碎片问题</a:t>
            </a:r>
            <a:endParaRPr lang="zh-CN" altLang="en-US" sz="2400" dirty="0"/>
          </a:p>
        </p:txBody>
      </p:sp>
      <p:sp>
        <p:nvSpPr>
          <p:cNvPr id="17" name="íšḻíḑê"/>
          <p:cNvSpPr/>
          <p:nvPr/>
        </p:nvSpPr>
        <p:spPr>
          <a:xfrm>
            <a:off x="1802480" y="1194129"/>
            <a:ext cx="8255920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对换区管理的主要目标</a:t>
            </a:r>
            <a:endParaRPr lang="zh-CN" altLang="en-US" sz="2400" dirty="0"/>
          </a:p>
        </p:txBody>
      </p:sp>
      <p:sp>
        <p:nvSpPr>
          <p:cNvPr id="18" name="îSļiḓè"/>
          <p:cNvSpPr/>
          <p:nvPr/>
        </p:nvSpPr>
        <p:spPr>
          <a:xfrm>
            <a:off x="1118977" y="118056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19" name="íṥḻîḓe"/>
          <p:cNvSpPr/>
          <p:nvPr/>
        </p:nvSpPr>
        <p:spPr>
          <a:xfrm>
            <a:off x="1138033" y="5215636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1" name="îşļiḓè"/>
          <p:cNvSpPr/>
          <p:nvPr/>
        </p:nvSpPr>
        <p:spPr>
          <a:xfrm>
            <a:off x="1138033" y="328932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" name="îṡḷíďe"/>
          <p:cNvSpPr/>
          <p:nvPr/>
        </p:nvSpPr>
        <p:spPr>
          <a:xfrm>
            <a:off x="1309232" y="1376705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3" name="íSlíḋe"/>
          <p:cNvSpPr/>
          <p:nvPr/>
        </p:nvSpPr>
        <p:spPr>
          <a:xfrm>
            <a:off x="1328287" y="3511337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4" name="ïśḷïḓe"/>
          <p:cNvSpPr/>
          <p:nvPr/>
        </p:nvSpPr>
        <p:spPr>
          <a:xfrm>
            <a:off x="1357226" y="5405096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5.1 </a:t>
            </a:r>
            <a:r>
              <a:rPr lang="zh-CN" altLang="en-US" sz="2400" dirty="0">
                <a:latin typeface="+mj-ea"/>
                <a:ea typeface="+mj-ea"/>
              </a:rPr>
              <a:t>存储器的</a:t>
            </a:r>
            <a:r>
              <a:rPr lang="zh-CN" altLang="en-US" sz="2400" dirty="0" smtClean="0">
                <a:latin typeface="+mj-ea"/>
                <a:ea typeface="+mj-ea"/>
              </a:rPr>
              <a:t>层次结构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5.2 </a:t>
            </a:r>
            <a:r>
              <a:rPr lang="zh-CN" altLang="en-US" sz="2400" dirty="0">
                <a:latin typeface="+mj-ea"/>
              </a:rPr>
              <a:t>程序的装入和</a:t>
            </a:r>
            <a:r>
              <a:rPr lang="zh-CN" altLang="en-US" sz="2400" dirty="0" smtClean="0">
                <a:latin typeface="+mj-ea"/>
              </a:rPr>
              <a:t>链接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5.3 </a:t>
            </a:r>
            <a:r>
              <a:rPr lang="zh-CN" altLang="en-US" sz="2400" dirty="0">
                <a:latin typeface="+mj-ea"/>
              </a:rPr>
              <a:t>对换与</a:t>
            </a:r>
            <a:r>
              <a:rPr lang="zh-CN" altLang="en-US" sz="2400" dirty="0" smtClean="0">
                <a:latin typeface="+mj-ea"/>
              </a:rPr>
              <a:t>覆盖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+mj-ea"/>
              </a:rPr>
              <a:t>5.4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连续分配存储管理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</a:rPr>
              <a:t>方式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5.5 </a:t>
            </a:r>
            <a:r>
              <a:rPr lang="zh-CN" altLang="en-US" sz="2400" dirty="0">
                <a:latin typeface="+mj-ea"/>
              </a:rPr>
              <a:t>分页存储管理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5.6 </a:t>
            </a:r>
            <a:r>
              <a:rPr lang="zh-CN" altLang="en-US" sz="2400" dirty="0">
                <a:latin typeface="+mj-ea"/>
              </a:rPr>
              <a:t>分段存储管理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40217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5.7 </a:t>
            </a:r>
            <a:r>
              <a:rPr lang="zh-CN" altLang="en-US" sz="2400" dirty="0">
                <a:latin typeface="+mj-ea"/>
              </a:rPr>
              <a:t>基于</a:t>
            </a:r>
            <a:r>
              <a:rPr lang="en-US" altLang="zh-CN" sz="2400" dirty="0">
                <a:latin typeface="+mj-ea"/>
              </a:rPr>
              <a:t>IA-32/x86-64</a:t>
            </a:r>
            <a:r>
              <a:rPr lang="zh-CN" altLang="en-US" sz="2400" dirty="0">
                <a:latin typeface="+mj-ea"/>
              </a:rPr>
              <a:t>架构</a:t>
            </a:r>
            <a:endParaRPr lang="zh-CN" altLang="en-US" sz="2400" dirty="0">
              <a:latin typeface="+mj-ea"/>
            </a:endParaRPr>
          </a:p>
          <a:p>
            <a:r>
              <a:rPr lang="zh-CN" altLang="en-US" sz="2400" dirty="0">
                <a:latin typeface="+mj-ea"/>
              </a:rPr>
              <a:t>      的内存管理策略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5</a:t>
            </a:r>
            <a:r>
              <a:rPr lang="zh-CN" altLang="en-US" sz="3600" dirty="0">
                <a:solidFill>
                  <a:srgbClr val="000000"/>
                </a:solidFill>
              </a:rPr>
              <a:t>章 </a:t>
            </a:r>
            <a:r>
              <a:rPr lang="zh-CN" altLang="en-US" sz="3600" dirty="0" smtClean="0">
                <a:solidFill>
                  <a:srgbClr val="000000"/>
                </a:solidFill>
              </a:rPr>
              <a:t>   存储器管理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主讲：王红玲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6082" name="Picture 2" descr="b513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2063750" y="981075"/>
            <a:ext cx="8353425" cy="4505325"/>
          </a:xfrm>
        </p:spPr>
      </p:pic>
      <p:sp>
        <p:nvSpPr>
          <p:cNvPr id="46083" name="Rectangle 3"/>
          <p:cNvSpPr/>
          <p:nvPr/>
        </p:nvSpPr>
        <p:spPr>
          <a:xfrm>
            <a:off x="4663917" y="5714207"/>
            <a:ext cx="29641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4572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7430" indent="-4559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03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32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000000"/>
                </a:solidFill>
                <a:latin typeface="Tahoma" panose="020B0604030504040204" pitchFamily="2" charset="0"/>
              </a:rPr>
              <a:t>图    多道程序对换技术示例</a:t>
            </a:r>
            <a:endParaRPr lang="zh-CN" altLang="en-US" sz="1800" b="1" dirty="0">
              <a:solidFill>
                <a:srgbClr val="000000"/>
              </a:solidFill>
              <a:latin typeface="Tahoma" panose="020B0604030504040204" pitchFamily="2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连续分配存储管理方式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669925" y="1222533"/>
            <a:ext cx="10585885" cy="61914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连续分配方式：</a:t>
            </a:r>
            <a:r>
              <a:rPr lang="zh-CN" altLang="en-US" sz="2400" dirty="0"/>
              <a:t>为一个用户程序分配一个连续的内存空间。</a:t>
            </a:r>
            <a:r>
              <a:rPr lang="en-US" altLang="zh-CN" sz="2400" dirty="0"/>
              <a:t>---</a:t>
            </a:r>
            <a:r>
              <a:rPr lang="zh-CN" altLang="en-US" sz="2400" dirty="0"/>
              <a:t>内存分区</a:t>
            </a:r>
            <a:endParaRPr lang="zh-CN" altLang="en-US" sz="2400" dirty="0"/>
          </a:p>
        </p:txBody>
      </p:sp>
      <p:sp>
        <p:nvSpPr>
          <p:cNvPr id="12" name="内容占位符 2"/>
          <p:cNvSpPr txBox="1"/>
          <p:nvPr/>
        </p:nvSpPr>
        <p:spPr>
          <a:xfrm>
            <a:off x="669925" y="1843178"/>
            <a:ext cx="10585885" cy="61914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dirty="0" smtClean="0"/>
              <a:t>分类：</a:t>
            </a:r>
            <a:endParaRPr lang="zh-CN" altLang="en-US" sz="2400" dirty="0"/>
          </a:p>
        </p:txBody>
      </p:sp>
      <p:grpSp>
        <p:nvGrpSpPr>
          <p:cNvPr id="13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2833583"/>
            <a:ext cx="10845800" cy="2533182"/>
            <a:chOff x="673100" y="1929384"/>
            <a:chExt cx="10845800" cy="2533182"/>
          </a:xfrm>
        </p:grpSpPr>
        <p:sp>
          <p:nvSpPr>
            <p:cNvPr id="14" name="ïsḷîḋê"/>
            <p:cNvSpPr/>
            <p:nvPr>
              <p:custDataLst>
                <p:tags r:id="rId2"/>
              </p:custDataLst>
            </p:nvPr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ïṩḻíḑe"/>
            <p:cNvSpPr/>
            <p:nvPr>
              <p:custDataLst>
                <p:tags r:id="rId3"/>
              </p:custDataLst>
            </p:nvPr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is1íḑe"/>
            <p:cNvSpPr/>
            <p:nvPr>
              <p:custDataLst>
                <p:tags r:id="rId4"/>
              </p:custDataLst>
            </p:nvPr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íṡ1ïḋé"/>
            <p:cNvSpPr/>
            <p:nvPr>
              <p:custDataLst>
                <p:tags r:id="rId5"/>
              </p:custDataLst>
            </p:nvPr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8" name="îṡlíḓè"/>
            <p:cNvSpPr/>
            <p:nvPr>
              <p:custDataLst>
                <p:tags r:id="rId6"/>
              </p:custDataLst>
            </p:nvPr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9" name="ï$1iḍe"/>
            <p:cNvSpPr txBox="1"/>
            <p:nvPr>
              <p:custDataLst>
                <p:tags r:id="rId7"/>
              </p:custDataLst>
            </p:nvPr>
          </p:nvSpPr>
          <p:spPr>
            <a:xfrm>
              <a:off x="673100" y="4070054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dirty="0">
                  <a:solidFill>
                    <a:srgbClr val="0000FF"/>
                  </a:solidFill>
                </a:rPr>
                <a:t>单一连续分配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22" name="íṩ1ïḑe"/>
            <p:cNvSpPr txBox="1"/>
            <p:nvPr>
              <p:custDataLst>
                <p:tags r:id="rId8"/>
              </p:custDataLst>
            </p:nvPr>
          </p:nvSpPr>
          <p:spPr>
            <a:xfrm>
              <a:off x="3502940" y="4070054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dirty="0">
                  <a:solidFill>
                    <a:srgbClr val="0000FF"/>
                  </a:solidFill>
                </a:rPr>
                <a:t>固定分区分配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23" name="ïsḻiďê"/>
            <p:cNvSpPr txBox="1"/>
            <p:nvPr>
              <p:custDataLst>
                <p:tags r:id="rId9"/>
              </p:custDataLst>
            </p:nvPr>
          </p:nvSpPr>
          <p:spPr>
            <a:xfrm>
              <a:off x="6332780" y="4070054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dirty="0">
                  <a:solidFill>
                    <a:srgbClr val="FF0000"/>
                  </a:solidFill>
                </a:rPr>
                <a:t>动态分区分配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24" name="isḷiḋé"/>
            <p:cNvSpPr txBox="1"/>
            <p:nvPr>
              <p:custDataLst>
                <p:tags r:id="rId10"/>
              </p:custDataLst>
            </p:nvPr>
          </p:nvSpPr>
          <p:spPr>
            <a:xfrm>
              <a:off x="9162620" y="4070054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dirty="0">
                  <a:solidFill>
                    <a:srgbClr val="FF0000"/>
                  </a:solidFill>
                </a:rPr>
                <a:t>动态可重定位分区分配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25" name="îṣḻidé"/>
            <p:cNvSpPr txBox="1"/>
            <p:nvPr>
              <p:custDataLst>
                <p:tags r:id="rId11"/>
              </p:custDataLst>
            </p:nvPr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01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6" name="ïŝ1ïḋè"/>
            <p:cNvSpPr txBox="1"/>
            <p:nvPr>
              <p:custDataLst>
                <p:tags r:id="rId12"/>
              </p:custDataLst>
            </p:nvPr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02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7" name="í$lîdé"/>
            <p:cNvSpPr txBox="1"/>
            <p:nvPr>
              <p:custDataLst>
                <p:tags r:id="rId13"/>
              </p:custDataLst>
            </p:nvPr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03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8" name="išḻïďè"/>
            <p:cNvSpPr txBox="1"/>
            <p:nvPr>
              <p:custDataLst>
                <p:tags r:id="rId14"/>
              </p:custDataLst>
            </p:nvPr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04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单一连续分配（略）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  <p:sp>
        <p:nvSpPr>
          <p:cNvPr id="220" name="íšḻîḋè"/>
          <p:cNvSpPr/>
          <p:nvPr/>
        </p:nvSpPr>
        <p:spPr>
          <a:xfrm>
            <a:off x="2305810" y="3115933"/>
            <a:ext cx="8748514" cy="144030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内存分配管理十分简单，内存利用率低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用于</a:t>
            </a:r>
            <a:r>
              <a:rPr lang="zh-CN" altLang="en-US" sz="2400" dirty="0">
                <a:solidFill>
                  <a:srgbClr val="FF0000"/>
                </a:solidFill>
              </a:rPr>
              <a:t>单用户、单任务</a:t>
            </a:r>
            <a:r>
              <a:rPr lang="en-US" altLang="zh-CN" sz="2400" dirty="0">
                <a:solidFill>
                  <a:srgbClr val="FF0000"/>
                </a:solidFill>
              </a:rPr>
              <a:t>OS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indent="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endParaRPr lang="en-US" altLang="zh-CN" sz="2400" dirty="0"/>
          </a:p>
        </p:txBody>
      </p:sp>
      <p:sp>
        <p:nvSpPr>
          <p:cNvPr id="221" name="i$lîďê"/>
          <p:cNvSpPr/>
          <p:nvPr/>
        </p:nvSpPr>
        <p:spPr>
          <a:xfrm>
            <a:off x="2176780" y="2308225"/>
            <a:ext cx="8877300" cy="807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</a:rPr>
              <a:t>分配方式</a:t>
            </a:r>
            <a:r>
              <a:rPr lang="zh-CN" altLang="en-US" sz="2400" dirty="0"/>
              <a:t>：单道程序环境下，仅装有</a:t>
            </a:r>
            <a:r>
              <a:rPr lang="zh-CN" altLang="en-US" sz="2400" dirty="0">
                <a:solidFill>
                  <a:srgbClr val="FF0000"/>
                </a:solidFill>
              </a:rPr>
              <a:t>一道</a:t>
            </a:r>
            <a:r>
              <a:rPr lang="zh-CN" altLang="en-US" sz="2400" dirty="0"/>
              <a:t>用户程序，即整个内存的用户空间由该程序独占。</a:t>
            </a:r>
            <a:endParaRPr lang="zh-CN" altLang="en-US" sz="2400" dirty="0"/>
          </a:p>
        </p:txBody>
      </p:sp>
      <p:sp>
        <p:nvSpPr>
          <p:cNvPr id="222" name="î$ļíḋè"/>
          <p:cNvSpPr/>
          <p:nvPr/>
        </p:nvSpPr>
        <p:spPr>
          <a:xfrm>
            <a:off x="3128821" y="5341079"/>
            <a:ext cx="2257252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节省硬件</a:t>
            </a:r>
            <a:endParaRPr lang="zh-CN" altLang="en-US" sz="2400" dirty="0"/>
          </a:p>
        </p:txBody>
      </p:sp>
      <p:sp>
        <p:nvSpPr>
          <p:cNvPr id="223" name="ïṧḷïḋè"/>
          <p:cNvSpPr/>
          <p:nvPr/>
        </p:nvSpPr>
        <p:spPr>
          <a:xfrm>
            <a:off x="3128821" y="4828304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未采取存储器保护措施</a:t>
            </a:r>
            <a:endParaRPr lang="zh-CN" altLang="en-US" sz="2400" dirty="0"/>
          </a:p>
        </p:txBody>
      </p:sp>
      <p:sp>
        <p:nvSpPr>
          <p:cNvPr id="224" name="îs1iďé"/>
          <p:cNvSpPr/>
          <p:nvPr/>
        </p:nvSpPr>
        <p:spPr>
          <a:xfrm>
            <a:off x="1493387" y="1662759"/>
            <a:ext cx="4855897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rmAutofit lnSpcReduction="10000"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系统区：供</a:t>
            </a:r>
            <a:r>
              <a:rPr lang="en-US" altLang="zh-CN" sz="2400" dirty="0"/>
              <a:t>OS</a:t>
            </a:r>
            <a:r>
              <a:rPr lang="zh-CN" altLang="en-US" sz="2400" dirty="0"/>
              <a:t>使用、低址</a:t>
            </a:r>
            <a:r>
              <a:rPr lang="zh-CN" altLang="en-US" sz="2400" dirty="0" smtClean="0"/>
              <a:t>部分</a:t>
            </a:r>
            <a:endParaRPr lang="zh-CN" altLang="en-US" sz="2400" dirty="0"/>
          </a:p>
        </p:txBody>
      </p:sp>
      <p:sp>
        <p:nvSpPr>
          <p:cNvPr id="225" name="íšḻíḑê"/>
          <p:cNvSpPr/>
          <p:nvPr/>
        </p:nvSpPr>
        <p:spPr>
          <a:xfrm>
            <a:off x="1493389" y="1246212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内存</a:t>
            </a:r>
            <a:endParaRPr lang="zh-CN" altLang="en-US" sz="2400" dirty="0"/>
          </a:p>
        </p:txBody>
      </p:sp>
      <p:sp>
        <p:nvSpPr>
          <p:cNvPr id="226" name="îSļiḓè"/>
          <p:cNvSpPr/>
          <p:nvPr/>
        </p:nvSpPr>
        <p:spPr>
          <a:xfrm>
            <a:off x="809886" y="1232650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7" name="íṥḻîḓe"/>
          <p:cNvSpPr/>
          <p:nvPr/>
        </p:nvSpPr>
        <p:spPr>
          <a:xfrm>
            <a:off x="2445317" y="4745702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8" name="îşļiḓè"/>
          <p:cNvSpPr/>
          <p:nvPr/>
        </p:nvSpPr>
        <p:spPr>
          <a:xfrm>
            <a:off x="1493389" y="2381554"/>
            <a:ext cx="627867" cy="627867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9" name="îṡḷíďe"/>
          <p:cNvSpPr/>
          <p:nvPr/>
        </p:nvSpPr>
        <p:spPr>
          <a:xfrm>
            <a:off x="1000141" y="1428788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30" name="íSlíḋe"/>
          <p:cNvSpPr/>
          <p:nvPr/>
        </p:nvSpPr>
        <p:spPr>
          <a:xfrm>
            <a:off x="1683643" y="2603571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31" name="ïśḷïḓe"/>
          <p:cNvSpPr/>
          <p:nvPr/>
        </p:nvSpPr>
        <p:spPr>
          <a:xfrm>
            <a:off x="2664510" y="4935162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36" name="î$ļíḋè"/>
          <p:cNvSpPr/>
          <p:nvPr/>
        </p:nvSpPr>
        <p:spPr>
          <a:xfrm>
            <a:off x="5189440" y="5341079"/>
            <a:ext cx="2006347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方案可行</a:t>
            </a:r>
            <a:endParaRPr lang="zh-CN" altLang="en-US" sz="2400" dirty="0"/>
          </a:p>
        </p:txBody>
      </p:sp>
      <p:sp>
        <p:nvSpPr>
          <p:cNvPr id="18" name="îs1iďé"/>
          <p:cNvSpPr/>
          <p:nvPr/>
        </p:nvSpPr>
        <p:spPr>
          <a:xfrm>
            <a:off x="6735826" y="1662759"/>
            <a:ext cx="3747578" cy="52397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/>
              <a:t>用户</a:t>
            </a:r>
            <a:r>
              <a:rPr lang="zh-CN" altLang="en-US" sz="2400" dirty="0"/>
              <a:t>区：供用户使用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固定分区分配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1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39101" y="1156652"/>
            <a:ext cx="10876624" cy="3759329"/>
            <a:chOff x="642276" y="1929384"/>
            <a:chExt cx="10876624" cy="3759329"/>
          </a:xfrm>
        </p:grpSpPr>
        <p:sp>
          <p:nvSpPr>
            <p:cNvPr id="12" name="ïsḷîḋê"/>
            <p:cNvSpPr/>
            <p:nvPr/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ïṩḻíḑe"/>
            <p:cNvSpPr/>
            <p:nvPr/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4" name="is1íḑe"/>
            <p:cNvSpPr/>
            <p:nvPr/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íṡ1ïḋé"/>
            <p:cNvSpPr/>
            <p:nvPr/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îṡlíḓè"/>
            <p:cNvSpPr/>
            <p:nvPr/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8" name="isľîdê"/>
            <p:cNvSpPr txBox="1"/>
            <p:nvPr/>
          </p:nvSpPr>
          <p:spPr>
            <a:xfrm>
              <a:off x="642276" y="4175481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400" dirty="0"/>
                <a:t>最早的、也是最简单的一种可运行多道程序的存储管理方式。</a:t>
              </a:r>
              <a:endParaRPr lang="zh-CN" altLang="en-US" sz="2400" dirty="0"/>
            </a:p>
          </p:txBody>
        </p:sp>
        <p:sp>
          <p:nvSpPr>
            <p:cNvPr id="26" name="îṣḻidé"/>
            <p:cNvSpPr txBox="1"/>
            <p:nvPr/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7" name="ïŝ1ïḋè"/>
            <p:cNvSpPr txBox="1"/>
            <p:nvPr/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8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29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4" name="isľîdê"/>
            <p:cNvSpPr txBox="1"/>
            <p:nvPr/>
          </p:nvSpPr>
          <p:spPr>
            <a:xfrm>
              <a:off x="3414210" y="4226997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400" dirty="0"/>
                <a:t>预先把可分配的主存储器空间分割成若干个连续区域，称为一个</a:t>
              </a:r>
              <a:r>
                <a:rPr lang="zh-CN" altLang="en-US" sz="2400" dirty="0">
                  <a:solidFill>
                    <a:srgbClr val="FF0000"/>
                  </a:solidFill>
                </a:rPr>
                <a:t>分区</a:t>
              </a:r>
              <a:r>
                <a:rPr lang="zh-CN" altLang="en-US" sz="2400" dirty="0"/>
                <a:t>。</a:t>
              </a:r>
              <a:endParaRPr lang="zh-CN" altLang="en-US" sz="2400" dirty="0"/>
            </a:p>
          </p:txBody>
        </p:sp>
        <p:sp>
          <p:nvSpPr>
            <p:cNvPr id="35" name="isľîdê"/>
            <p:cNvSpPr txBox="1"/>
            <p:nvPr/>
          </p:nvSpPr>
          <p:spPr>
            <a:xfrm>
              <a:off x="6255660" y="4175481"/>
              <a:ext cx="2357253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400" dirty="0"/>
                <a:t>每个分区的大小可以相同也可以不同。但分区大小固定不变，每个分区装一个且只能装一个作业。</a:t>
              </a:r>
              <a:endParaRPr lang="zh-CN" altLang="en-US" sz="2400" dirty="0"/>
            </a:p>
          </p:txBody>
        </p:sp>
        <p:sp>
          <p:nvSpPr>
            <p:cNvPr id="36" name="isľîdê"/>
            <p:cNvSpPr txBox="1"/>
            <p:nvPr/>
          </p:nvSpPr>
          <p:spPr>
            <a:xfrm>
              <a:off x="8985160" y="4175481"/>
              <a:ext cx="2533740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400" dirty="0"/>
                <a:t>内存分配：如果有一个空闲区，则分配给进程。</a:t>
              </a:r>
              <a:endParaRPr lang="zh-CN" altLang="en-US" sz="2400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划分分区的方法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984757" y="1846912"/>
            <a:ext cx="2742976" cy="57035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ym typeface="Wingdings" panose="05000000000000000000" pitchFamily="2" charset="2"/>
              </a:rPr>
              <a:t>分区大小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一样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984756" y="2569496"/>
            <a:ext cx="4102399" cy="311008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265" lvl="1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缺乏灵活性</a:t>
            </a:r>
            <a:endParaRPr lang="zh-CN" altLang="en-US" sz="2400" b="1" dirty="0"/>
          </a:p>
          <a:p>
            <a:pPr marL="799465" lvl="2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/>
              <a:t>程序太小：浪费内存</a:t>
            </a:r>
            <a:endParaRPr lang="zh-CN" altLang="en-US" sz="2200" dirty="0"/>
          </a:p>
          <a:p>
            <a:pPr marL="799465" lvl="2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/>
              <a:t>程序太大：装不下</a:t>
            </a:r>
            <a:endParaRPr lang="zh-CN" altLang="en-US" sz="2200" dirty="0"/>
          </a:p>
          <a:p>
            <a:pPr marL="342265" lvl="1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有些场合适用，如利用一台计算机同时控制多个相同对象。</a:t>
            </a:r>
            <a:endParaRPr lang="zh-CN" altLang="en-US" sz="2400" dirty="0"/>
          </a:p>
        </p:txBody>
      </p:sp>
      <p:sp>
        <p:nvSpPr>
          <p:cNvPr id="7" name="矩形: 圆角 4"/>
          <p:cNvSpPr/>
          <p:nvPr/>
        </p:nvSpPr>
        <p:spPr>
          <a:xfrm>
            <a:off x="7071052" y="1846912"/>
            <a:ext cx="2961592" cy="57035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ym typeface="Wingdings" panose="05000000000000000000" pitchFamily="2" charset="2"/>
              </a:rPr>
              <a:t>分区大小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不等</a:t>
            </a:r>
            <a:endParaRPr lang="zh-CN" altLang="en-US" sz="240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8" name="内容占位符 2"/>
          <p:cNvSpPr txBox="1"/>
          <p:nvPr/>
        </p:nvSpPr>
        <p:spPr>
          <a:xfrm>
            <a:off x="7071051" y="2569497"/>
            <a:ext cx="3244927" cy="179644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多个小分区</a:t>
            </a:r>
            <a:endParaRPr lang="zh-CN" altLang="en-US" sz="2400" dirty="0"/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适量中分区</a:t>
            </a:r>
            <a:endParaRPr lang="zh-CN" altLang="en-US" sz="2400" dirty="0"/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少量大分区</a:t>
            </a:r>
            <a:endParaRPr lang="zh-CN" altLang="en-US" sz="2400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5893671" y="1986146"/>
            <a:ext cx="0" cy="35323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731099" y="4932608"/>
            <a:ext cx="552503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5705341" y="4675031"/>
            <a:ext cx="5525036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841" name="对象 35841"/>
          <p:cNvGraphicFramePr>
            <a:graphicFrameLocks noChangeAspect="1"/>
          </p:cNvGraphicFramePr>
          <p:nvPr/>
        </p:nvGraphicFramePr>
        <p:xfrm>
          <a:off x="5086985" y="1085215"/>
          <a:ext cx="1572260" cy="533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662430" imgH="3567430" progId="">
                  <p:embed/>
                </p:oleObj>
              </mc:Choice>
              <mc:Fallback>
                <p:oleObj name="" r:id="rId1" imgW="1662430" imgH="3567430" progId="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86985" y="1085215"/>
                        <a:ext cx="1572260" cy="533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2" name="对象 35842"/>
          <p:cNvGraphicFramePr>
            <a:graphicFrameLocks noChangeAspect="1"/>
          </p:cNvGraphicFramePr>
          <p:nvPr/>
        </p:nvGraphicFramePr>
        <p:xfrm>
          <a:off x="10220325" y="856615"/>
          <a:ext cx="1506855" cy="556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432560" imgH="3719830" progId="">
                  <p:embed/>
                </p:oleObj>
              </mc:Choice>
              <mc:Fallback>
                <p:oleObj name="" r:id="rId3" imgW="1432560" imgH="3719830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20325" y="856615"/>
                        <a:ext cx="1506855" cy="556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</a:rPr>
              <a:t>内存分配例子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10" name="Group 14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64963" y="1332888"/>
          <a:ext cx="5902509" cy="3947449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195444"/>
                <a:gridCol w="1270161"/>
                <a:gridCol w="2166743"/>
                <a:gridCol w="1270161"/>
              </a:tblGrid>
              <a:tr h="799177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分区号</a:t>
                      </a:r>
                      <a:endParaRPr kumimoji="1" lang="zh-CN" alt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大小</a:t>
                      </a: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(K)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起始地址</a:t>
                      </a: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(K)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状态</a:t>
                      </a:r>
                      <a:endParaRPr kumimoji="1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</a:tr>
              <a:tr h="77495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12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已分配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</a:tr>
              <a:tr h="82339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已分配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</a:tr>
              <a:tr h="77495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64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64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已分配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</a:tr>
              <a:tr h="77495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128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128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未分配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65" marR="92065" marT="46051" marB="46051" anchor="ctr" horzOverflow="overflow"/>
                </a:tc>
              </a:tr>
            </a:tbl>
          </a:graphicData>
        </a:graphic>
      </p:graphicFrame>
      <p:graphicFrame>
        <p:nvGraphicFramePr>
          <p:cNvPr id="12" name="Group 129"/>
          <p:cNvGraphicFramePr>
            <a:graphicFrameLocks noGrp="1"/>
          </p:cNvGraphicFramePr>
          <p:nvPr/>
        </p:nvGraphicFramePr>
        <p:xfrm>
          <a:off x="7696200" y="1332888"/>
          <a:ext cx="2915992" cy="4622800"/>
        </p:xfrm>
        <a:graphic>
          <a:graphicData uri="http://schemas.openxmlformats.org/drawingml/2006/table">
            <a:tbl>
              <a:tblPr/>
              <a:tblGrid>
                <a:gridCol w="1073532"/>
                <a:gridCol w="1842460"/>
              </a:tblGrid>
              <a:tr h="609642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20K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b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操作系统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700"/>
                    </a:solidFill>
                  </a:tcPr>
                </a:tc>
              </a:tr>
              <a:tr h="51883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32K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b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作业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081162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64K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b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作业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60030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128K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b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作业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1285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256K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b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内容占位符 2"/>
          <p:cNvSpPr txBox="1"/>
          <p:nvPr/>
        </p:nvSpPr>
        <p:spPr>
          <a:xfrm>
            <a:off x="2657269" y="5452451"/>
            <a:ext cx="2527300" cy="5032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zh-CN" altLang="en-US" sz="2400" dirty="0" smtClean="0"/>
              <a:t>固定分区使用表</a:t>
            </a:r>
            <a:endParaRPr lang="zh-CN" altLang="en-US" sz="2400" dirty="0" smtClean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89" name="图片 37889" descr="b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4825" y="476250"/>
            <a:ext cx="6911975" cy="568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0" name="矩形 37890"/>
          <p:cNvSpPr/>
          <p:nvPr/>
        </p:nvSpPr>
        <p:spPr>
          <a:xfrm rot="5400000">
            <a:off x="8092599" y="3164682"/>
            <a:ext cx="277431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图</a:t>
            </a:r>
            <a:r>
              <a:rPr lang="en-US" altLang="zh-CN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5-6  </a:t>
            </a:r>
            <a:r>
              <a:rPr lang="zh-CN" altLang="en-US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固定分区内存分配</a:t>
            </a:r>
            <a:endParaRPr lang="zh-CN" altLang="en-US" b="1">
              <a:solidFill>
                <a:srgbClr val="000000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动态分区分配：内存随需要而划分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24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34086" y="1451710"/>
            <a:ext cx="11315396" cy="4137025"/>
            <a:chOff x="604685" y="1464590"/>
            <a:chExt cx="11315396" cy="4137025"/>
          </a:xfrm>
        </p:grpSpPr>
        <p:sp>
          <p:nvSpPr>
            <p:cNvPr id="25" name="ïsḷîḋê"/>
            <p:cNvSpPr/>
            <p:nvPr>
              <p:custDataLst>
                <p:tags r:id="rId2"/>
              </p:custDataLst>
            </p:nvPr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ïṩḻíḑe"/>
            <p:cNvSpPr/>
            <p:nvPr>
              <p:custDataLst>
                <p:tags r:id="rId3"/>
              </p:custDataLst>
            </p:nvPr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7" name="is1íḑe"/>
            <p:cNvSpPr/>
            <p:nvPr>
              <p:custDataLst>
                <p:tags r:id="rId4"/>
              </p:custDataLst>
            </p:nvPr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íṡ1ïḋé"/>
            <p:cNvSpPr/>
            <p:nvPr>
              <p:custDataLst>
                <p:tags r:id="rId5"/>
              </p:custDataLst>
            </p:nvPr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9" name="îṡlíḓè"/>
            <p:cNvSpPr/>
            <p:nvPr>
              <p:custDataLst>
                <p:tags r:id="rId6"/>
              </p:custDataLst>
            </p:nvPr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0" name="ï$1iḍe"/>
            <p:cNvSpPr txBox="1"/>
            <p:nvPr>
              <p:custDataLst>
                <p:tags r:id="rId7"/>
              </p:custDataLst>
            </p:nvPr>
          </p:nvSpPr>
          <p:spPr>
            <a:xfrm>
              <a:off x="738159" y="1491721"/>
              <a:ext cx="2687137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动态分区分配：</a:t>
              </a:r>
              <a:endParaRPr lang="zh-CN" altLang="en-US" sz="2400" b="1" dirty="0"/>
            </a:p>
          </p:txBody>
        </p:sp>
        <p:sp>
          <p:nvSpPr>
            <p:cNvPr id="31" name="isľîdê"/>
            <p:cNvSpPr txBox="1"/>
            <p:nvPr/>
          </p:nvSpPr>
          <p:spPr>
            <a:xfrm>
              <a:off x="604685" y="4100515"/>
              <a:ext cx="2715405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 smtClean="0"/>
                <a:t>又</a:t>
              </a:r>
              <a:r>
                <a:rPr lang="zh-CN" altLang="en-US" sz="2400" dirty="0"/>
                <a:t>称为</a:t>
              </a:r>
              <a:r>
                <a:rPr lang="zh-CN" altLang="en-US" sz="2400" dirty="0">
                  <a:solidFill>
                    <a:srgbClr val="FF0000"/>
                  </a:solidFill>
                </a:rPr>
                <a:t>可变分区</a:t>
              </a:r>
              <a:r>
                <a:rPr lang="zh-CN" altLang="en-US" sz="2400" dirty="0">
                  <a:solidFill>
                    <a:schemeClr val="tx1"/>
                  </a:solidFill>
                </a:rPr>
                <a:t>分配，</a:t>
              </a:r>
              <a:r>
                <a:rPr lang="zh-CN" altLang="en-US" sz="2400" dirty="0"/>
                <a:t>根据进程的实际需要，动态地为之分配内存空间。</a:t>
              </a:r>
              <a:endParaRPr lang="zh-CN" altLang="en-US" sz="2400" dirty="0"/>
            </a:p>
          </p:txBody>
        </p:sp>
        <p:sp>
          <p:nvSpPr>
            <p:cNvPr id="32" name="íṩ1ïḑe"/>
            <p:cNvSpPr txBox="1"/>
            <p:nvPr>
              <p:custDataLst>
                <p:tags r:id="rId8"/>
              </p:custDataLst>
            </p:nvPr>
          </p:nvSpPr>
          <p:spPr>
            <a:xfrm>
              <a:off x="3077666" y="1464590"/>
              <a:ext cx="3316591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2400" b="1" dirty="0"/>
                <a:t>数据结构</a:t>
              </a:r>
              <a:endParaRPr lang="zh-CN" altLang="en-US" sz="2400" b="1" dirty="0"/>
            </a:p>
          </p:txBody>
        </p:sp>
        <p:sp>
          <p:nvSpPr>
            <p:cNvPr id="33" name="ïsḻiďê"/>
            <p:cNvSpPr txBox="1"/>
            <p:nvPr>
              <p:custDataLst>
                <p:tags r:id="rId9"/>
              </p:custDataLst>
            </p:nvPr>
          </p:nvSpPr>
          <p:spPr>
            <a:xfrm>
              <a:off x="6366706" y="1478156"/>
              <a:ext cx="235628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分配算法</a:t>
              </a:r>
              <a:endParaRPr lang="zh-CN" altLang="en-US" sz="2400" b="1" dirty="0"/>
            </a:p>
          </p:txBody>
        </p:sp>
        <p:sp>
          <p:nvSpPr>
            <p:cNvPr id="34" name="isḷiḋé"/>
            <p:cNvSpPr txBox="1"/>
            <p:nvPr>
              <p:custDataLst>
                <p:tags r:id="rId10"/>
              </p:custDataLst>
            </p:nvPr>
          </p:nvSpPr>
          <p:spPr>
            <a:xfrm>
              <a:off x="8833059" y="1491721"/>
              <a:ext cx="3087022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/>
              <a:r>
                <a:rPr lang="zh-CN" altLang="en-US" sz="2400" b="1" dirty="0"/>
                <a:t>分配操作</a:t>
              </a:r>
              <a:endParaRPr lang="zh-CN" altLang="en-US" sz="2400" b="1" dirty="0"/>
            </a:p>
          </p:txBody>
        </p:sp>
        <p:sp>
          <p:nvSpPr>
            <p:cNvPr id="35" name="îṣḻidé"/>
            <p:cNvSpPr txBox="1"/>
            <p:nvPr>
              <p:custDataLst>
                <p:tags r:id="rId11"/>
              </p:custDataLst>
            </p:nvPr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6" name="ïŝ1ïḋè"/>
            <p:cNvSpPr txBox="1"/>
            <p:nvPr>
              <p:custDataLst>
                <p:tags r:id="rId12"/>
              </p:custDataLst>
            </p:nvPr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7" name="í$lîdé"/>
            <p:cNvSpPr txBox="1"/>
            <p:nvPr>
              <p:custDataLst>
                <p:tags r:id="rId13"/>
              </p:custDataLst>
            </p:nvPr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8" name="išḻïďè"/>
            <p:cNvSpPr txBox="1"/>
            <p:nvPr>
              <p:custDataLst>
                <p:tags r:id="rId14"/>
              </p:custDataLst>
            </p:nvPr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 smtClean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39" name="isľîdê"/>
            <p:cNvSpPr txBox="1"/>
            <p:nvPr/>
          </p:nvSpPr>
          <p:spPr>
            <a:xfrm>
              <a:off x="3540236" y="4127645"/>
              <a:ext cx="2276119" cy="858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空闲分区表</a:t>
              </a:r>
              <a:endParaRPr lang="zh-CN" altLang="en-US" sz="2400" dirty="0"/>
            </a:p>
            <a:p>
              <a:pPr marL="342900" indent="-342900">
                <a:lnSpc>
                  <a:spcPct val="120000"/>
                </a:lnSpc>
                <a:buClr>
                  <a:srgbClr val="FF0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空闲分区链</a:t>
              </a:r>
              <a:endParaRPr lang="zh-CN" altLang="en-US" sz="2400" dirty="0"/>
            </a:p>
          </p:txBody>
        </p:sp>
        <p:sp>
          <p:nvSpPr>
            <p:cNvPr id="40" name="isľîdê"/>
            <p:cNvSpPr txBox="1"/>
            <p:nvPr/>
          </p:nvSpPr>
          <p:spPr>
            <a:xfrm>
              <a:off x="5980595" y="4127780"/>
              <a:ext cx="3297555" cy="14738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顺序式分配算法</a:t>
              </a:r>
              <a:endParaRPr lang="zh-CN" altLang="en-US" sz="2400" dirty="0"/>
            </a:p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索引式分配算法（略）</a:t>
              </a:r>
              <a:endParaRPr lang="zh-CN" altLang="en-US" sz="2400" dirty="0"/>
            </a:p>
          </p:txBody>
        </p:sp>
        <p:sp>
          <p:nvSpPr>
            <p:cNvPr id="41" name="isľîdê"/>
            <p:cNvSpPr txBox="1"/>
            <p:nvPr/>
          </p:nvSpPr>
          <p:spPr>
            <a:xfrm>
              <a:off x="9430508" y="4151140"/>
              <a:ext cx="2369079" cy="8352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分配内存</a:t>
              </a:r>
              <a:endParaRPr lang="zh-CN" altLang="en-US" sz="2400" dirty="0"/>
            </a:p>
            <a:p>
              <a:pPr marL="342900" indent="-342900">
                <a:lnSpc>
                  <a:spcPct val="120000"/>
                </a:lnSpc>
                <a:buClr>
                  <a:srgbClr val="00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回收内存</a:t>
              </a:r>
              <a:endParaRPr lang="zh-CN" altLang="en-US" sz="2400" dirty="0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动态分区分配中的数据结构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855969" y="1331757"/>
            <a:ext cx="2742976" cy="57035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defRPr/>
            </a:pPr>
            <a:r>
              <a:rPr lang="zh-CN" altLang="en-US" sz="2400" dirty="0">
                <a:sym typeface="Wingdings" panose="05000000000000000000" pitchFamily="2" charset="2"/>
              </a:rPr>
              <a:t>空闲分区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表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26" name="内容占位符 2"/>
          <p:cNvSpPr txBox="1"/>
          <p:nvPr/>
        </p:nvSpPr>
        <p:spPr>
          <a:xfrm>
            <a:off x="855968" y="2054341"/>
            <a:ext cx="4102399" cy="311008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265" lvl="1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一个空闲分区占一个表目</a:t>
            </a:r>
            <a:endParaRPr lang="zh-CN" altLang="en-US" sz="2400" dirty="0"/>
          </a:p>
          <a:p>
            <a:pPr marL="342265" lvl="1" indent="-5334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分区序号、分区始址、分区大小、状态等</a:t>
            </a:r>
            <a:endParaRPr lang="zh-CN" altLang="en-US" sz="2400" dirty="0"/>
          </a:p>
        </p:txBody>
      </p:sp>
      <p:sp>
        <p:nvSpPr>
          <p:cNvPr id="29" name="矩形: 圆角 4"/>
          <p:cNvSpPr/>
          <p:nvPr/>
        </p:nvSpPr>
        <p:spPr>
          <a:xfrm>
            <a:off x="6414230" y="1331756"/>
            <a:ext cx="2961592" cy="57035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  <a:defRPr/>
            </a:pPr>
            <a:r>
              <a:rPr lang="zh-CN" altLang="en-US" sz="2400" dirty="0">
                <a:sym typeface="Wingdings" panose="05000000000000000000" pitchFamily="2" charset="2"/>
              </a:rPr>
              <a:t>空闲分区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链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32" name="内容占位符 2"/>
          <p:cNvSpPr txBox="1"/>
          <p:nvPr/>
        </p:nvSpPr>
        <p:spPr>
          <a:xfrm>
            <a:off x="6414228" y="2054341"/>
            <a:ext cx="5202515" cy="353509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10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为了实现对空闲分区的分配和链接，在每个分区的起始部分，设置一些用于控制分区分配的信息，以及用于链接各分区所用的前向指针；在分区的尾部设置后向指针，通过前、后向指针，可将所有的空闲分区链接成一个双向链。（</a:t>
            </a:r>
            <a:r>
              <a:rPr lang="zh-CN" altLang="en-US" sz="2400" dirty="0">
                <a:sym typeface="+mn-ea"/>
              </a:rPr>
              <a:t>下页图</a:t>
            </a:r>
            <a:r>
              <a:rPr lang="zh-CN" altLang="en-US" sz="2400" dirty="0"/>
              <a:t>）</a:t>
            </a:r>
            <a:endParaRPr lang="zh-CN" altLang="en-US" sz="2400" dirty="0"/>
          </a:p>
        </p:txBody>
      </p:sp>
      <p:cxnSp>
        <p:nvCxnSpPr>
          <p:cNvPr id="35" name="直接连接符 34"/>
          <p:cNvCxnSpPr/>
          <p:nvPr/>
        </p:nvCxnSpPr>
        <p:spPr>
          <a:xfrm>
            <a:off x="5829278" y="2192208"/>
            <a:ext cx="0" cy="371919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968" y="3850783"/>
            <a:ext cx="4608513" cy="22701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空闲链结构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Group 104"/>
          <p:cNvGraphicFramePr>
            <a:graphicFrameLocks noGrp="1"/>
          </p:cNvGraphicFramePr>
          <p:nvPr/>
        </p:nvGraphicFramePr>
        <p:xfrm>
          <a:off x="2742127" y="1774446"/>
          <a:ext cx="1447800" cy="584200"/>
        </p:xfrm>
        <a:graphic>
          <a:graphicData uri="http://schemas.openxmlformats.org/drawingml/2006/table">
            <a:tbl>
              <a:tblPr/>
              <a:tblGrid>
                <a:gridCol w="304800"/>
                <a:gridCol w="838200"/>
                <a:gridCol w="304800"/>
              </a:tblGrid>
              <a:tr h="5842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Group 105"/>
          <p:cNvGraphicFramePr>
            <a:graphicFrameLocks noGrp="1"/>
          </p:cNvGraphicFramePr>
          <p:nvPr/>
        </p:nvGraphicFramePr>
        <p:xfrm>
          <a:off x="5104327" y="1774446"/>
          <a:ext cx="1447800" cy="584200"/>
        </p:xfrm>
        <a:graphic>
          <a:graphicData uri="http://schemas.openxmlformats.org/drawingml/2006/table">
            <a:tbl>
              <a:tblPr/>
              <a:tblGrid>
                <a:gridCol w="304800"/>
                <a:gridCol w="838200"/>
                <a:gridCol w="304800"/>
              </a:tblGrid>
              <a:tr h="5842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Group 106"/>
          <p:cNvGraphicFramePr>
            <a:graphicFrameLocks noGrp="1"/>
          </p:cNvGraphicFramePr>
          <p:nvPr/>
        </p:nvGraphicFramePr>
        <p:xfrm>
          <a:off x="7466527" y="1774446"/>
          <a:ext cx="1447800" cy="584200"/>
        </p:xfrm>
        <a:graphic>
          <a:graphicData uri="http://schemas.openxmlformats.org/drawingml/2006/table">
            <a:tbl>
              <a:tblPr/>
              <a:tblGrid>
                <a:gridCol w="304800"/>
                <a:gridCol w="838200"/>
                <a:gridCol w="304800"/>
              </a:tblGrid>
              <a:tr h="5842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Group 97"/>
          <p:cNvGraphicFramePr>
            <a:graphicFrameLocks noGrp="1"/>
          </p:cNvGraphicFramePr>
          <p:nvPr/>
        </p:nvGraphicFramePr>
        <p:xfrm>
          <a:off x="3998532" y="2841246"/>
          <a:ext cx="3886200" cy="2911476"/>
        </p:xfrm>
        <a:graphic>
          <a:graphicData uri="http://schemas.openxmlformats.org/drawingml/2006/table">
            <a:tbl>
              <a:tblPr/>
              <a:tblGrid>
                <a:gridCol w="660400"/>
                <a:gridCol w="2616200"/>
                <a:gridCol w="609600"/>
              </a:tblGrid>
              <a:tr h="13112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前向指针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个字节可用</a:t>
                      </a:r>
                      <a:endParaRPr kumimoji="1" lang="zh-CN" alt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后向指针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0965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b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b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b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b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</a:b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055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Line 83"/>
          <p:cNvSpPr>
            <a:spLocks noChangeShapeType="1"/>
          </p:cNvSpPr>
          <p:nvPr/>
        </p:nvSpPr>
        <p:spPr bwMode="auto">
          <a:xfrm>
            <a:off x="4037527" y="1926846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4" name="Line 84"/>
          <p:cNvSpPr>
            <a:spLocks noChangeShapeType="1"/>
          </p:cNvSpPr>
          <p:nvPr/>
        </p:nvSpPr>
        <p:spPr bwMode="auto">
          <a:xfrm>
            <a:off x="6399727" y="1926846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5" name="Line 85"/>
          <p:cNvSpPr>
            <a:spLocks noChangeShapeType="1"/>
          </p:cNvSpPr>
          <p:nvPr/>
        </p:nvSpPr>
        <p:spPr bwMode="auto">
          <a:xfrm>
            <a:off x="4189927" y="2155446"/>
            <a:ext cx="1066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6" name="Line 86"/>
          <p:cNvSpPr>
            <a:spLocks noChangeShapeType="1"/>
          </p:cNvSpPr>
          <p:nvPr/>
        </p:nvSpPr>
        <p:spPr bwMode="auto">
          <a:xfrm>
            <a:off x="6552127" y="2155446"/>
            <a:ext cx="1066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7" name="Line 87"/>
          <p:cNvSpPr>
            <a:spLocks noChangeShapeType="1"/>
          </p:cNvSpPr>
          <p:nvPr/>
        </p:nvSpPr>
        <p:spPr bwMode="auto">
          <a:xfrm flipV="1">
            <a:off x="4266127" y="2384046"/>
            <a:ext cx="838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18" name="Line 88"/>
          <p:cNvSpPr>
            <a:spLocks noChangeShapeType="1"/>
          </p:cNvSpPr>
          <p:nvPr/>
        </p:nvSpPr>
        <p:spPr bwMode="auto">
          <a:xfrm>
            <a:off x="6552127" y="2307846"/>
            <a:ext cx="114300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6084" name="圆角矩形标注 46084"/>
          <p:cNvSpPr/>
          <p:nvPr/>
        </p:nvSpPr>
        <p:spPr>
          <a:xfrm>
            <a:off x="2122805" y="3864293"/>
            <a:ext cx="1582738" cy="865187"/>
          </a:xfrm>
          <a:prstGeom prst="wedgeRoundRectCallout">
            <a:avLst>
              <a:gd name="adj1" fmla="val 79889"/>
              <a:gd name="adj2" fmla="val 55139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分区大小</a:t>
            </a:r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3" name="圆角矩形标注 46083"/>
          <p:cNvSpPr/>
          <p:nvPr/>
        </p:nvSpPr>
        <p:spPr>
          <a:xfrm>
            <a:off x="8326120" y="4729163"/>
            <a:ext cx="1873250" cy="719137"/>
          </a:xfrm>
          <a:prstGeom prst="wedgeRoundRectCallout">
            <a:avLst>
              <a:gd name="adj1" fmla="val -77542"/>
              <a:gd name="adj2" fmla="val 52208"/>
              <a:gd name="adj3" fmla="val 1666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r>
              <a:rPr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状态位</a:t>
            </a:r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009" name="图片 43009" descr="b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9144000" cy="6400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10" name="矩形 43010"/>
          <p:cNvSpPr/>
          <p:nvPr/>
        </p:nvSpPr>
        <p:spPr>
          <a:xfrm>
            <a:off x="3581877" y="6490494"/>
            <a:ext cx="374396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just"/>
            <a:r>
              <a:rPr lang="zh-CN" altLang="en-US">
                <a:latin typeface="Tahoma" panose="020B0604030504040204" pitchFamily="2" charset="0"/>
                <a:ea typeface="宋体" panose="02010600030101010101" pitchFamily="2" charset="-122"/>
              </a:rPr>
              <a:t>图  </a:t>
            </a:r>
            <a:r>
              <a:rPr lang="en-US" altLang="zh-CN">
                <a:latin typeface="Tahoma" panose="020B0604030504040204" pitchFamily="2" charset="0"/>
                <a:ea typeface="宋体" panose="02010600030101010101" pitchFamily="2" charset="-122"/>
              </a:rPr>
              <a:t>MVT</a:t>
            </a:r>
            <a:r>
              <a:rPr lang="zh-CN" altLang="en-US">
                <a:latin typeface="Tahoma" panose="020B0604030504040204" pitchFamily="2" charset="0"/>
                <a:ea typeface="宋体" panose="02010600030101010101" pitchFamily="2" charset="-122"/>
              </a:rPr>
              <a:t>的内存分配和进程调度情况</a:t>
            </a:r>
            <a:endParaRPr lang="zh-CN" altLang="en-US"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分配算法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iṥlídè"/>
          <p:cNvSpPr/>
          <p:nvPr/>
        </p:nvSpPr>
        <p:spPr>
          <a:xfrm>
            <a:off x="9712325" y="1127760"/>
            <a:ext cx="2030730" cy="5008245"/>
          </a:xfrm>
          <a:prstGeom prst="rect">
            <a:avLst/>
          </a:prstGeom>
          <a:blipFill>
            <a:blip r:embed="rId1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0" name="iṡļiḓe"/>
          <p:cNvGrpSpPr/>
          <p:nvPr/>
        </p:nvGrpSpPr>
        <p:grpSpPr>
          <a:xfrm>
            <a:off x="660400" y="1298467"/>
            <a:ext cx="8406026" cy="2333571"/>
            <a:chOff x="660400" y="1787149"/>
            <a:chExt cx="8406026" cy="2333571"/>
          </a:xfrm>
        </p:grpSpPr>
        <p:grpSp>
          <p:nvGrpSpPr>
            <p:cNvPr id="11" name="iSḻíḓè"/>
            <p:cNvGrpSpPr/>
            <p:nvPr/>
          </p:nvGrpSpPr>
          <p:grpSpPr>
            <a:xfrm>
              <a:off x="1296566" y="1835355"/>
              <a:ext cx="7769860" cy="2285365"/>
              <a:chOff x="1296566" y="1835355"/>
              <a:chExt cx="9799739" cy="2285365"/>
            </a:xfrm>
          </p:grpSpPr>
          <p:sp>
            <p:nvSpPr>
              <p:cNvPr id="15" name="îṧľîḋé"/>
              <p:cNvSpPr txBox="1"/>
              <p:nvPr/>
            </p:nvSpPr>
            <p:spPr>
              <a:xfrm>
                <a:off x="1296567" y="1835355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基于</a:t>
                </a:r>
                <a:r>
                  <a:rPr lang="zh-CN" altLang="en-US" sz="2400" dirty="0">
                    <a:solidFill>
                      <a:srgbClr val="0000FF"/>
                    </a:solidFill>
                  </a:rPr>
                  <a:t>顺序搜索</a:t>
                </a:r>
                <a:r>
                  <a:rPr lang="zh-CN" altLang="en-US" sz="2400" dirty="0"/>
                  <a:t>的动态分区分配算法</a:t>
                </a:r>
                <a:endParaRPr lang="zh-CN" altLang="en-US" sz="2400" dirty="0"/>
              </a:p>
            </p:txBody>
          </p:sp>
          <p:sp>
            <p:nvSpPr>
              <p:cNvPr id="16" name="íşļîḓé"/>
              <p:cNvSpPr/>
              <p:nvPr/>
            </p:nvSpPr>
            <p:spPr bwMode="auto">
              <a:xfrm>
                <a:off x="1296566" y="2279220"/>
                <a:ext cx="9799739" cy="1841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依次搜索空闲分区链（表）上的空闲分区，寻找一个其大小能够满足要求的分区</a:t>
                </a:r>
                <a:endParaRPr lang="zh-CN" altLang="en-US" sz="2400" dirty="0"/>
              </a:p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首次适应算法、循环首次适应算法、最佳适应算法、最坏适应</a:t>
                </a:r>
                <a:r>
                  <a:rPr lang="zh-CN" altLang="en-US" sz="2400" dirty="0" smtClean="0"/>
                  <a:t>算法</a:t>
                </a:r>
                <a:endParaRPr lang="zh-CN" altLang="en-US" sz="2400" dirty="0"/>
              </a:p>
            </p:txBody>
          </p:sp>
        </p:grpSp>
        <p:grpSp>
          <p:nvGrpSpPr>
            <p:cNvPr id="12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13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7" name="iŝļïḓê"/>
          <p:cNvGrpSpPr/>
          <p:nvPr/>
        </p:nvGrpSpPr>
        <p:grpSpPr>
          <a:xfrm>
            <a:off x="660400" y="3994675"/>
            <a:ext cx="8550807" cy="1984375"/>
            <a:chOff x="660400" y="2092935"/>
            <a:chExt cx="8550807" cy="1984375"/>
          </a:xfrm>
        </p:grpSpPr>
        <p:grpSp>
          <p:nvGrpSpPr>
            <p:cNvPr id="18" name="ïṧļïḓe"/>
            <p:cNvGrpSpPr/>
            <p:nvPr/>
          </p:nvGrpSpPr>
          <p:grpSpPr>
            <a:xfrm>
              <a:off x="1296567" y="2092935"/>
              <a:ext cx="7914640" cy="1984375"/>
              <a:chOff x="1296567" y="2092935"/>
              <a:chExt cx="9982340" cy="1984375"/>
            </a:xfrm>
          </p:grpSpPr>
          <p:sp>
            <p:nvSpPr>
              <p:cNvPr id="24" name="ïšļíďè"/>
              <p:cNvSpPr txBox="1"/>
              <p:nvPr/>
            </p:nvSpPr>
            <p:spPr>
              <a:xfrm>
                <a:off x="1296567" y="2092935"/>
                <a:ext cx="7140794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基于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索引搜索</a:t>
                </a:r>
                <a:r>
                  <a:rPr lang="zh-CN" altLang="en-US" sz="2400" dirty="0"/>
                  <a:t>的动态分区分配算法（略）</a:t>
                </a:r>
                <a:endParaRPr lang="en-US" altLang="zh-CN" sz="2400" dirty="0"/>
              </a:p>
            </p:txBody>
          </p:sp>
          <p:sp>
            <p:nvSpPr>
              <p:cNvPr id="25" name="íşľíḑè"/>
              <p:cNvSpPr/>
              <p:nvPr/>
            </p:nvSpPr>
            <p:spPr bwMode="auto">
              <a:xfrm>
                <a:off x="1312585" y="2588235"/>
                <a:ext cx="9966322" cy="1489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提高搜索空闲分区的速度，在大、中型系统中采用</a:t>
                </a:r>
                <a:endParaRPr lang="zh-CN" altLang="en-US" sz="2400" dirty="0"/>
              </a:p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快速适应算法、伙伴系统和哈希算法</a:t>
                </a:r>
                <a:endParaRPr lang="zh-CN" altLang="en-US" sz="2400" dirty="0"/>
              </a:p>
            </p:txBody>
          </p:sp>
        </p:grpSp>
        <p:grpSp>
          <p:nvGrpSpPr>
            <p:cNvPr id="19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21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基于顺序搜索的分配算法</a:t>
            </a:r>
            <a:r>
              <a:rPr lang="en-US" altLang="zh-CN" sz="2800" b="1" dirty="0">
                <a:solidFill>
                  <a:schemeClr val="bg1"/>
                </a:solidFill>
              </a:rPr>
              <a:t>(1)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0" name="iṡļiḓe"/>
          <p:cNvGrpSpPr/>
          <p:nvPr/>
        </p:nvGrpSpPr>
        <p:grpSpPr>
          <a:xfrm>
            <a:off x="669925" y="1010552"/>
            <a:ext cx="11332741" cy="2741241"/>
            <a:chOff x="660400" y="1787149"/>
            <a:chExt cx="11332741" cy="2741241"/>
          </a:xfrm>
        </p:grpSpPr>
        <p:grpSp>
          <p:nvGrpSpPr>
            <p:cNvPr id="11" name="iSḻíḓè"/>
            <p:cNvGrpSpPr/>
            <p:nvPr/>
          </p:nvGrpSpPr>
          <p:grpSpPr>
            <a:xfrm>
              <a:off x="1296566" y="1835355"/>
              <a:ext cx="10696575" cy="2693035"/>
              <a:chOff x="1296566" y="1835355"/>
              <a:chExt cx="13491060" cy="2693035"/>
            </a:xfrm>
          </p:grpSpPr>
          <p:sp>
            <p:nvSpPr>
              <p:cNvPr id="15" name="îṧľîḋé"/>
              <p:cNvSpPr txBox="1"/>
              <p:nvPr/>
            </p:nvSpPr>
            <p:spPr>
              <a:xfrm>
                <a:off x="1296567" y="1835355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首次适应算法</a:t>
                </a:r>
                <a:endParaRPr lang="zh-CN" altLang="en-US" sz="2400" dirty="0"/>
              </a:p>
            </p:txBody>
          </p:sp>
          <p:sp>
            <p:nvSpPr>
              <p:cNvPr id="16" name="íşļîḓé"/>
              <p:cNvSpPr/>
              <p:nvPr/>
            </p:nvSpPr>
            <p:spPr bwMode="auto">
              <a:xfrm>
                <a:off x="1296566" y="2279220"/>
                <a:ext cx="13491060" cy="2249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空闲分区链以</a:t>
                </a:r>
                <a:r>
                  <a:rPr lang="zh-CN" altLang="en-US" sz="2400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地址递增</a:t>
                </a:r>
                <a:r>
                  <a:rPr lang="zh-CN" altLang="en-US" sz="2400" dirty="0"/>
                  <a:t>的次序链接</a:t>
                </a:r>
                <a:endParaRPr lang="zh-CN" altLang="en-US" sz="2400" dirty="0"/>
              </a:p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从链首开始顺序查找，直到找到第一个大小能满足要求的空闲分区为止。</a:t>
                </a:r>
                <a:endParaRPr lang="zh-CN" altLang="en-US" sz="2400" dirty="0"/>
              </a:p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切割分区：分配、留下。或大小相等拿走。缺点：低址部分留下许多小碎片。查找时间性能下降。优点：大的空闲分区保留在高地址区。（下页图）</a:t>
                </a:r>
                <a:endParaRPr lang="zh-CN" altLang="en-US" sz="2400" dirty="0"/>
              </a:p>
            </p:txBody>
          </p:sp>
        </p:grpSp>
        <p:grpSp>
          <p:nvGrpSpPr>
            <p:cNvPr id="12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13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7" name="iŝļïḓê"/>
          <p:cNvGrpSpPr/>
          <p:nvPr/>
        </p:nvGrpSpPr>
        <p:grpSpPr>
          <a:xfrm>
            <a:off x="660400" y="3788611"/>
            <a:ext cx="10956187" cy="2840990"/>
            <a:chOff x="660400" y="2092935"/>
            <a:chExt cx="10956187" cy="2840990"/>
          </a:xfrm>
        </p:grpSpPr>
        <p:grpSp>
          <p:nvGrpSpPr>
            <p:cNvPr id="18" name="ïṧļïḓe"/>
            <p:cNvGrpSpPr/>
            <p:nvPr/>
          </p:nvGrpSpPr>
          <p:grpSpPr>
            <a:xfrm>
              <a:off x="1296567" y="2092935"/>
              <a:ext cx="10320020" cy="2840990"/>
              <a:chOff x="1296567" y="2092935"/>
              <a:chExt cx="13016126" cy="2840990"/>
            </a:xfrm>
          </p:grpSpPr>
          <p:sp>
            <p:nvSpPr>
              <p:cNvPr id="24" name="ïšļíďè"/>
              <p:cNvSpPr txBox="1"/>
              <p:nvPr/>
            </p:nvSpPr>
            <p:spPr>
              <a:xfrm>
                <a:off x="1296567" y="2092935"/>
                <a:ext cx="7140794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循环首次适应算法</a:t>
                </a:r>
                <a:endParaRPr lang="zh-CN" altLang="en-US" sz="2400" dirty="0"/>
              </a:p>
            </p:txBody>
          </p:sp>
          <p:sp>
            <p:nvSpPr>
              <p:cNvPr id="25" name="íşľíḑè"/>
              <p:cNvSpPr/>
              <p:nvPr/>
            </p:nvSpPr>
            <p:spPr bwMode="auto">
              <a:xfrm>
                <a:off x="1312585" y="2588235"/>
                <a:ext cx="13000108" cy="23456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chemeClr val="tx1"/>
                    </a:solidFill>
                  </a:rPr>
                  <a:t>从上次找到的空闲分区（</a:t>
                </a:r>
                <a:r>
                  <a:rPr lang="zh-CN" altLang="en-US" sz="2400" dirty="0">
                    <a:solidFill>
                      <a:srgbClr val="FF0000"/>
                    </a:solidFill>
                    <a:sym typeface="+mn-ea"/>
                  </a:rPr>
                  <a:t>留指针</a:t>
                </a:r>
                <a:r>
                  <a:rPr lang="zh-CN" altLang="en-US" sz="2400" dirty="0">
                    <a:solidFill>
                      <a:schemeClr val="tx1"/>
                    </a:solidFill>
                  </a:rPr>
                  <a:t>）的下一个空闲分区开始查找</a:t>
                </a:r>
                <a:r>
                  <a:rPr lang="zh-CN" altLang="en-US" sz="2400" dirty="0"/>
                  <a:t>，直到找到第一个能满足要求的空闲分区、分配。</a:t>
                </a:r>
                <a:endParaRPr lang="zh-CN" altLang="en-US" sz="2400" dirty="0"/>
              </a:p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空闲分区分布更均匀，减少了查找的开销</a:t>
                </a:r>
                <a:endParaRPr lang="zh-CN" altLang="en-US" sz="2400" dirty="0"/>
              </a:p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大的空闲分区不易保留</a:t>
                </a:r>
                <a:endParaRPr lang="zh-CN" altLang="en-US" sz="2400" dirty="0"/>
              </a:p>
            </p:txBody>
          </p:sp>
        </p:grpSp>
        <p:grpSp>
          <p:nvGrpSpPr>
            <p:cNvPr id="19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21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3" name="直接连接符 2"/>
          <p:cNvCxnSpPr/>
          <p:nvPr/>
        </p:nvCxnSpPr>
        <p:spPr>
          <a:xfrm>
            <a:off x="669925" y="3680200"/>
            <a:ext cx="1103697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标题 49153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endParaRPr lang="zh-CN" altLang="en-US"/>
          </a:p>
        </p:txBody>
      </p:sp>
      <p:sp>
        <p:nvSpPr>
          <p:cNvPr id="49155" name="内容占位符 49154"/>
          <p:cNvSpPr>
            <a:spLocks noGrp="1"/>
          </p:cNvSpPr>
          <p:nvPr>
            <p:ph idx="1"/>
          </p:nvPr>
        </p:nvSpPr>
        <p:spPr>
          <a:xfrm>
            <a:off x="1528445" y="5128895"/>
            <a:ext cx="9665970" cy="1729105"/>
          </a:xfrm>
        </p:spPr>
        <p:txBody>
          <a:bodyPr anchor="t" anchorCtr="0"/>
          <a:p>
            <a:pPr lvl="1">
              <a:lnSpc>
                <a:spcPct val="80000"/>
              </a:lnSpc>
            </a:pPr>
            <a:r>
              <a:rPr lang="zh-CN" altLang="en-US" sz="2400">
                <a:solidFill>
                  <a:srgbClr val="000000"/>
                </a:solidFill>
              </a:rPr>
              <a:t>该算法的分配和释放的时间性能较好，较大的空闲分区可以被保留在内存高端。</a:t>
            </a:r>
            <a:endParaRPr lang="zh-CN" altLang="en-US" sz="2400">
              <a:solidFill>
                <a:srgbClr val="000000"/>
              </a:solidFill>
            </a:endParaRPr>
          </a:p>
          <a:p>
            <a:pPr lvl="1">
              <a:lnSpc>
                <a:spcPct val="80000"/>
              </a:lnSpc>
            </a:pPr>
            <a:r>
              <a:rPr lang="zh-CN" altLang="en-US" sz="2400">
                <a:solidFill>
                  <a:srgbClr val="000000"/>
                </a:solidFill>
              </a:rPr>
              <a:t>但随着低端分区不断划分而产生较多小分区，每次分配时查找时间开销会增大。</a:t>
            </a:r>
            <a:endParaRPr lang="zh-CN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2" name="对象 49155"/>
          <p:cNvGraphicFramePr>
            <a:graphicFrameLocks noChangeAspect="1"/>
          </p:cNvGraphicFramePr>
          <p:nvPr/>
        </p:nvGraphicFramePr>
        <p:xfrm>
          <a:off x="2532063" y="1029335"/>
          <a:ext cx="7633335" cy="3812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6829425" imgH="2381250" progId="PBrush">
                  <p:embed/>
                </p:oleObj>
              </mc:Choice>
              <mc:Fallback>
                <p:oleObj name="" r:id="rId1" imgW="6829425" imgH="2381250" progId="PBrush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32063" y="1029335"/>
                        <a:ext cx="7633335" cy="38125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charRg st="0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charRg st="36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9155">
                                            <p:txEl>
                                              <p:charRg st="36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基于顺序搜索的分配算法</a:t>
            </a:r>
            <a:r>
              <a:rPr lang="en-US" altLang="zh-CN" sz="2800" b="1" dirty="0">
                <a:solidFill>
                  <a:schemeClr val="bg1"/>
                </a:solidFill>
              </a:rPr>
              <a:t>(2)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" name="ïşľîďè"/>
          <p:cNvSpPr/>
          <p:nvPr/>
        </p:nvSpPr>
        <p:spPr>
          <a:xfrm>
            <a:off x="321310" y="1143000"/>
            <a:ext cx="2067560" cy="5003800"/>
          </a:xfrm>
          <a:prstGeom prst="rect">
            <a:avLst/>
          </a:prstGeom>
          <a:blipFill>
            <a:blip r:embed="rId1"/>
            <a:stretch>
              <a:fillRect l="-30450" r="-30284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îŝļiḋe"/>
          <p:cNvSpPr/>
          <p:nvPr/>
        </p:nvSpPr>
        <p:spPr>
          <a:xfrm>
            <a:off x="2569210" y="1143000"/>
            <a:ext cx="371475" cy="5003800"/>
          </a:xfrm>
          <a:prstGeom prst="rect">
            <a:avLst/>
          </a:prstGeom>
          <a:solidFill>
            <a:schemeClr val="accent1">
              <a:alpha val="70000"/>
            </a:schemeClr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4400"/>
            <a:endParaRPr lang="zh-CN" altLang="en-US" sz="2000" b="1" dirty="0">
              <a:solidFill>
                <a:schemeClr val="bg1"/>
              </a:solidFill>
            </a:endParaRPr>
          </a:p>
        </p:txBody>
      </p:sp>
      <p:grpSp>
        <p:nvGrpSpPr>
          <p:cNvPr id="11" name="í$1iďè"/>
          <p:cNvGrpSpPr/>
          <p:nvPr/>
        </p:nvGrpSpPr>
        <p:grpSpPr>
          <a:xfrm>
            <a:off x="3569017" y="1607317"/>
            <a:ext cx="7995920" cy="1702435"/>
            <a:chOff x="3522950" y="1337039"/>
            <a:chExt cx="7995920" cy="1702435"/>
          </a:xfrm>
        </p:grpSpPr>
        <p:sp>
          <p:nvSpPr>
            <p:cNvPr id="37" name="îslîďê"/>
            <p:cNvSpPr/>
            <p:nvPr/>
          </p:nvSpPr>
          <p:spPr>
            <a:xfrm>
              <a:off x="4136995" y="1712614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9" name="ïSḻiḍé"/>
            <p:cNvSpPr txBox="1"/>
            <p:nvPr/>
          </p:nvSpPr>
          <p:spPr>
            <a:xfrm>
              <a:off x="3522950" y="1337039"/>
              <a:ext cx="7995920" cy="170243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zh-CN" altLang="en-US" sz="2400" b="1" dirty="0">
                  <a:latin typeface="+mj-ea"/>
                  <a:ea typeface="+mj-ea"/>
                </a:rPr>
                <a:t>最佳适应算法</a:t>
              </a:r>
              <a:endParaRPr lang="zh-CN" altLang="en-US" sz="2400" b="1" dirty="0">
                <a:latin typeface="+mj-ea"/>
                <a:ea typeface="+mj-ea"/>
              </a:endParaRPr>
            </a:p>
            <a:p>
              <a:pPr marL="342900" indent="-34290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latin typeface="+mj-ea"/>
                  <a:ea typeface="+mj-ea"/>
                  <a:sym typeface="+mn-ea"/>
                </a:rPr>
                <a:t>空闲分区按其</a:t>
              </a:r>
              <a:r>
                <a:rPr lang="zh-CN" altLang="en-US" sz="2400" dirty="0">
                  <a:solidFill>
                    <a:srgbClr val="FF0000"/>
                  </a:solidFill>
                  <a:latin typeface="+mj-ea"/>
                  <a:ea typeface="+mj-ea"/>
                  <a:sym typeface="+mn-ea"/>
                </a:rPr>
                <a:t>容量从小到大</a:t>
              </a:r>
              <a:r>
                <a:rPr lang="zh-CN" altLang="en-US" sz="2400" dirty="0">
                  <a:latin typeface="+mj-ea"/>
                  <a:ea typeface="+mj-ea"/>
                  <a:sym typeface="+mn-ea"/>
                </a:rPr>
                <a:t>的顺序链接</a:t>
              </a:r>
              <a:endParaRPr lang="zh-CN" altLang="en-US" sz="2400" dirty="0">
                <a:latin typeface="+mj-ea"/>
                <a:ea typeface="+mj-ea"/>
                <a:sym typeface="+mn-ea"/>
              </a:endParaRPr>
            </a:p>
            <a:p>
              <a:pPr marL="342900" indent="-34290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latin typeface="+mj-ea"/>
                  <a:ea typeface="+mj-ea"/>
                </a:rPr>
                <a:t>顺序搜索整个序列（表），找到适合条件的最小的分区进行分配（下页图）</a:t>
              </a:r>
              <a:endParaRPr lang="zh-CN" altLang="en-US" sz="2400" dirty="0">
                <a:latin typeface="+mj-ea"/>
                <a:ea typeface="+mj-ea"/>
              </a:endParaRPr>
            </a:p>
            <a:p>
              <a:pPr marL="342900" indent="-342900" algn="just">
                <a:lnSpc>
                  <a:spcPct val="12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latin typeface="+mj-ea"/>
                  <a:ea typeface="+mj-ea"/>
                </a:rPr>
                <a:t>用最小空间满足要求；但留下许多难以利用的小碎片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</p:grpSp>
      <p:grpSp>
        <p:nvGrpSpPr>
          <p:cNvPr id="12" name="išḷîḓé"/>
          <p:cNvGrpSpPr/>
          <p:nvPr/>
        </p:nvGrpSpPr>
        <p:grpSpPr>
          <a:xfrm>
            <a:off x="3569652" y="3800144"/>
            <a:ext cx="8336280" cy="1763395"/>
            <a:chOff x="3523585" y="3233565"/>
            <a:chExt cx="8336280" cy="1763395"/>
          </a:xfrm>
        </p:grpSpPr>
        <p:sp>
          <p:nvSpPr>
            <p:cNvPr id="33" name="íśľïḋé"/>
            <p:cNvSpPr/>
            <p:nvPr/>
          </p:nvSpPr>
          <p:spPr>
            <a:xfrm>
              <a:off x="4136995" y="3450237"/>
              <a:ext cx="408372" cy="363926"/>
            </a:xfrm>
            <a:custGeom>
              <a:avLst/>
              <a:gdLst>
                <a:gd name="connsiteX0" fmla="*/ 514822 w 607336"/>
                <a:gd name="connsiteY0" fmla="*/ 287718 h 541236"/>
                <a:gd name="connsiteX1" fmla="*/ 501327 w 607336"/>
                <a:gd name="connsiteY1" fmla="*/ 301190 h 541236"/>
                <a:gd name="connsiteX2" fmla="*/ 501327 w 607336"/>
                <a:gd name="connsiteY2" fmla="*/ 357185 h 541236"/>
                <a:gd name="connsiteX3" fmla="*/ 514822 w 607336"/>
                <a:gd name="connsiteY3" fmla="*/ 370656 h 541236"/>
                <a:gd name="connsiteX4" fmla="*/ 528317 w 607336"/>
                <a:gd name="connsiteY4" fmla="*/ 357185 h 541236"/>
                <a:gd name="connsiteX5" fmla="*/ 528317 w 607336"/>
                <a:gd name="connsiteY5" fmla="*/ 301190 h 541236"/>
                <a:gd name="connsiteX6" fmla="*/ 514822 w 607336"/>
                <a:gd name="connsiteY6" fmla="*/ 287718 h 541236"/>
                <a:gd name="connsiteX7" fmla="*/ 513884 w 607336"/>
                <a:gd name="connsiteY7" fmla="*/ 257846 h 541236"/>
                <a:gd name="connsiteX8" fmla="*/ 524093 w 607336"/>
                <a:gd name="connsiteY8" fmla="*/ 258315 h 541236"/>
                <a:gd name="connsiteX9" fmla="*/ 591098 w 607336"/>
                <a:gd name="connsiteY9" fmla="*/ 286664 h 541236"/>
                <a:gd name="connsiteX10" fmla="*/ 596496 w 607336"/>
                <a:gd name="connsiteY10" fmla="*/ 294630 h 541236"/>
                <a:gd name="connsiteX11" fmla="*/ 605297 w 607336"/>
                <a:gd name="connsiteY11" fmla="*/ 403457 h 541236"/>
                <a:gd name="connsiteX12" fmla="*/ 581123 w 607336"/>
                <a:gd name="connsiteY12" fmla="*/ 508770 h 541236"/>
                <a:gd name="connsiteX13" fmla="*/ 575725 w 607336"/>
                <a:gd name="connsiteY13" fmla="*/ 516736 h 541236"/>
                <a:gd name="connsiteX14" fmla="*/ 514822 w 607336"/>
                <a:gd name="connsiteY14" fmla="*/ 536650 h 541236"/>
                <a:gd name="connsiteX15" fmla="*/ 453919 w 607336"/>
                <a:gd name="connsiteY15" fmla="*/ 516736 h 541236"/>
                <a:gd name="connsiteX16" fmla="*/ 448521 w 607336"/>
                <a:gd name="connsiteY16" fmla="*/ 508770 h 541236"/>
                <a:gd name="connsiteX17" fmla="*/ 424348 w 607336"/>
                <a:gd name="connsiteY17" fmla="*/ 403457 h 541236"/>
                <a:gd name="connsiteX18" fmla="*/ 433149 w 607336"/>
                <a:gd name="connsiteY18" fmla="*/ 294630 h 541236"/>
                <a:gd name="connsiteX19" fmla="*/ 438547 w 607336"/>
                <a:gd name="connsiteY19" fmla="*/ 286664 h 541236"/>
                <a:gd name="connsiteX20" fmla="*/ 502970 w 607336"/>
                <a:gd name="connsiteY20" fmla="*/ 258315 h 541236"/>
                <a:gd name="connsiteX21" fmla="*/ 513884 w 607336"/>
                <a:gd name="connsiteY21" fmla="*/ 257846 h 541236"/>
                <a:gd name="connsiteX22" fmla="*/ 23466 w 607336"/>
                <a:gd name="connsiteY22" fmla="*/ 0 h 541236"/>
                <a:gd name="connsiteX23" fmla="*/ 555312 w 607336"/>
                <a:gd name="connsiteY23" fmla="*/ 0 h 541236"/>
                <a:gd name="connsiteX24" fmla="*/ 578778 w 607336"/>
                <a:gd name="connsiteY24" fmla="*/ 23430 h 541236"/>
                <a:gd name="connsiteX25" fmla="*/ 578778 w 607336"/>
                <a:gd name="connsiteY25" fmla="*/ 253163 h 541236"/>
                <a:gd name="connsiteX26" fmla="*/ 531847 w 607336"/>
                <a:gd name="connsiteY26" fmla="*/ 239339 h 541236"/>
                <a:gd name="connsiteX27" fmla="*/ 531847 w 607336"/>
                <a:gd name="connsiteY27" fmla="*/ 46861 h 541236"/>
                <a:gd name="connsiteX28" fmla="*/ 46931 w 607336"/>
                <a:gd name="connsiteY28" fmla="*/ 46861 h 541236"/>
                <a:gd name="connsiteX29" fmla="*/ 46931 w 607336"/>
                <a:gd name="connsiteY29" fmla="*/ 346766 h 541236"/>
                <a:gd name="connsiteX30" fmla="*/ 404898 w 607336"/>
                <a:gd name="connsiteY30" fmla="*/ 346766 h 541236"/>
                <a:gd name="connsiteX31" fmla="*/ 405837 w 607336"/>
                <a:gd name="connsiteY31" fmla="*/ 410730 h 541236"/>
                <a:gd name="connsiteX32" fmla="*/ 409005 w 607336"/>
                <a:gd name="connsiteY32" fmla="*/ 432638 h 541236"/>
                <a:gd name="connsiteX33" fmla="*/ 368175 w 607336"/>
                <a:gd name="connsiteY33" fmla="*/ 432638 h 541236"/>
                <a:gd name="connsiteX34" fmla="*/ 388120 w 607336"/>
                <a:gd name="connsiteY34" fmla="*/ 500585 h 541236"/>
                <a:gd name="connsiteX35" fmla="*/ 412407 w 607336"/>
                <a:gd name="connsiteY35" fmla="*/ 500585 h 541236"/>
                <a:gd name="connsiteX36" fmla="*/ 423553 w 607336"/>
                <a:gd name="connsiteY36" fmla="*/ 511714 h 541236"/>
                <a:gd name="connsiteX37" fmla="*/ 423553 w 607336"/>
                <a:gd name="connsiteY37" fmla="*/ 530107 h 541236"/>
                <a:gd name="connsiteX38" fmla="*/ 412407 w 607336"/>
                <a:gd name="connsiteY38" fmla="*/ 541236 h 541236"/>
                <a:gd name="connsiteX39" fmla="*/ 166371 w 607336"/>
                <a:gd name="connsiteY39" fmla="*/ 541236 h 541236"/>
                <a:gd name="connsiteX40" fmla="*/ 155225 w 607336"/>
                <a:gd name="connsiteY40" fmla="*/ 530107 h 541236"/>
                <a:gd name="connsiteX41" fmla="*/ 155225 w 607336"/>
                <a:gd name="connsiteY41" fmla="*/ 511714 h 541236"/>
                <a:gd name="connsiteX42" fmla="*/ 166371 w 607336"/>
                <a:gd name="connsiteY42" fmla="*/ 500585 h 541236"/>
                <a:gd name="connsiteX43" fmla="*/ 190658 w 607336"/>
                <a:gd name="connsiteY43" fmla="*/ 500585 h 541236"/>
                <a:gd name="connsiteX44" fmla="*/ 210721 w 607336"/>
                <a:gd name="connsiteY44" fmla="*/ 432638 h 541236"/>
                <a:gd name="connsiteX45" fmla="*/ 23466 w 607336"/>
                <a:gd name="connsiteY45" fmla="*/ 432638 h 541236"/>
                <a:gd name="connsiteX46" fmla="*/ 0 w 607336"/>
                <a:gd name="connsiteY46" fmla="*/ 409207 h 541236"/>
                <a:gd name="connsiteX47" fmla="*/ 0 w 607336"/>
                <a:gd name="connsiteY47" fmla="*/ 23430 h 541236"/>
                <a:gd name="connsiteX48" fmla="*/ 23466 w 607336"/>
                <a:gd name="connsiteY48" fmla="*/ 0 h 54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607336" h="541236">
                  <a:moveTo>
                    <a:pt x="514822" y="287718"/>
                  </a:moveTo>
                  <a:cubicBezTo>
                    <a:pt x="507429" y="287718"/>
                    <a:pt x="501327" y="293810"/>
                    <a:pt x="501327" y="301190"/>
                  </a:cubicBezTo>
                  <a:lnTo>
                    <a:pt x="501327" y="357185"/>
                  </a:lnTo>
                  <a:cubicBezTo>
                    <a:pt x="501327" y="364682"/>
                    <a:pt x="507429" y="370656"/>
                    <a:pt x="514822" y="370656"/>
                  </a:cubicBezTo>
                  <a:cubicBezTo>
                    <a:pt x="522215" y="370656"/>
                    <a:pt x="528317" y="364682"/>
                    <a:pt x="528317" y="357185"/>
                  </a:cubicBezTo>
                  <a:lnTo>
                    <a:pt x="528317" y="301190"/>
                  </a:lnTo>
                  <a:cubicBezTo>
                    <a:pt x="528317" y="293810"/>
                    <a:pt x="522215" y="287718"/>
                    <a:pt x="514822" y="287718"/>
                  </a:cubicBezTo>
                  <a:close/>
                  <a:moveTo>
                    <a:pt x="513884" y="257846"/>
                  </a:moveTo>
                  <a:cubicBezTo>
                    <a:pt x="521042" y="257846"/>
                    <a:pt x="524093" y="258315"/>
                    <a:pt x="524093" y="258315"/>
                  </a:cubicBezTo>
                  <a:cubicBezTo>
                    <a:pt x="546506" y="260423"/>
                    <a:pt x="569037" y="269795"/>
                    <a:pt x="591098" y="286664"/>
                  </a:cubicBezTo>
                  <a:cubicBezTo>
                    <a:pt x="593679" y="288655"/>
                    <a:pt x="595557" y="291467"/>
                    <a:pt x="596496" y="294630"/>
                  </a:cubicBezTo>
                  <a:cubicBezTo>
                    <a:pt x="606940" y="330710"/>
                    <a:pt x="609756" y="365268"/>
                    <a:pt x="605297" y="403457"/>
                  </a:cubicBezTo>
                  <a:cubicBezTo>
                    <a:pt x="601307" y="437312"/>
                    <a:pt x="592037" y="471166"/>
                    <a:pt x="581123" y="508770"/>
                  </a:cubicBezTo>
                  <a:cubicBezTo>
                    <a:pt x="580185" y="511933"/>
                    <a:pt x="578307" y="514744"/>
                    <a:pt x="575725" y="516736"/>
                  </a:cubicBezTo>
                  <a:cubicBezTo>
                    <a:pt x="559062" y="529622"/>
                    <a:pt x="537470" y="536650"/>
                    <a:pt x="514822" y="536650"/>
                  </a:cubicBezTo>
                  <a:cubicBezTo>
                    <a:pt x="492174" y="536650"/>
                    <a:pt x="470583" y="529622"/>
                    <a:pt x="453919" y="516736"/>
                  </a:cubicBezTo>
                  <a:cubicBezTo>
                    <a:pt x="451338" y="514744"/>
                    <a:pt x="449460" y="511933"/>
                    <a:pt x="448521" y="508770"/>
                  </a:cubicBezTo>
                  <a:cubicBezTo>
                    <a:pt x="437608" y="471166"/>
                    <a:pt x="428338" y="437312"/>
                    <a:pt x="424348" y="403457"/>
                  </a:cubicBezTo>
                  <a:cubicBezTo>
                    <a:pt x="420006" y="365268"/>
                    <a:pt x="422705" y="330710"/>
                    <a:pt x="433149" y="294630"/>
                  </a:cubicBezTo>
                  <a:cubicBezTo>
                    <a:pt x="434088" y="291467"/>
                    <a:pt x="435965" y="288655"/>
                    <a:pt x="438547" y="286664"/>
                  </a:cubicBezTo>
                  <a:cubicBezTo>
                    <a:pt x="459787" y="270381"/>
                    <a:pt x="481378" y="260892"/>
                    <a:pt x="502970" y="258315"/>
                  </a:cubicBezTo>
                  <a:cubicBezTo>
                    <a:pt x="502970" y="258315"/>
                    <a:pt x="506725" y="257846"/>
                    <a:pt x="513884" y="257846"/>
                  </a:cubicBezTo>
                  <a:close/>
                  <a:moveTo>
                    <a:pt x="23466" y="0"/>
                  </a:moveTo>
                  <a:lnTo>
                    <a:pt x="555312" y="0"/>
                  </a:lnTo>
                  <a:cubicBezTo>
                    <a:pt x="568336" y="0"/>
                    <a:pt x="578778" y="10544"/>
                    <a:pt x="578778" y="23430"/>
                  </a:cubicBezTo>
                  <a:lnTo>
                    <a:pt x="578778" y="253163"/>
                  </a:lnTo>
                  <a:cubicBezTo>
                    <a:pt x="563408" y="245548"/>
                    <a:pt x="547686" y="240979"/>
                    <a:pt x="531847" y="239339"/>
                  </a:cubicBezTo>
                  <a:lnTo>
                    <a:pt x="531847" y="46861"/>
                  </a:lnTo>
                  <a:lnTo>
                    <a:pt x="46931" y="46861"/>
                  </a:lnTo>
                  <a:lnTo>
                    <a:pt x="46931" y="346766"/>
                  </a:lnTo>
                  <a:lnTo>
                    <a:pt x="404898" y="346766"/>
                  </a:lnTo>
                  <a:cubicBezTo>
                    <a:pt x="402904" y="367502"/>
                    <a:pt x="403256" y="388589"/>
                    <a:pt x="405837" y="410730"/>
                  </a:cubicBezTo>
                  <a:cubicBezTo>
                    <a:pt x="406658" y="418111"/>
                    <a:pt x="407714" y="425374"/>
                    <a:pt x="409005" y="432638"/>
                  </a:cubicBezTo>
                  <a:lnTo>
                    <a:pt x="368175" y="432638"/>
                  </a:lnTo>
                  <a:lnTo>
                    <a:pt x="388120" y="500585"/>
                  </a:lnTo>
                  <a:lnTo>
                    <a:pt x="412407" y="500585"/>
                  </a:lnTo>
                  <a:cubicBezTo>
                    <a:pt x="418626" y="500585"/>
                    <a:pt x="423553" y="505622"/>
                    <a:pt x="423553" y="511714"/>
                  </a:cubicBezTo>
                  <a:lnTo>
                    <a:pt x="423553" y="530107"/>
                  </a:lnTo>
                  <a:cubicBezTo>
                    <a:pt x="423553" y="536199"/>
                    <a:pt x="418626" y="541236"/>
                    <a:pt x="412407" y="541236"/>
                  </a:cubicBezTo>
                  <a:lnTo>
                    <a:pt x="166371" y="541236"/>
                  </a:lnTo>
                  <a:cubicBezTo>
                    <a:pt x="160270" y="541236"/>
                    <a:pt x="155225" y="536199"/>
                    <a:pt x="155225" y="530107"/>
                  </a:cubicBezTo>
                  <a:lnTo>
                    <a:pt x="155225" y="511714"/>
                  </a:lnTo>
                  <a:cubicBezTo>
                    <a:pt x="155225" y="505622"/>
                    <a:pt x="160270" y="500585"/>
                    <a:pt x="166371" y="500585"/>
                  </a:cubicBezTo>
                  <a:lnTo>
                    <a:pt x="190658" y="500585"/>
                  </a:lnTo>
                  <a:lnTo>
                    <a:pt x="210721" y="432638"/>
                  </a:lnTo>
                  <a:lnTo>
                    <a:pt x="23466" y="432638"/>
                  </a:lnTo>
                  <a:cubicBezTo>
                    <a:pt x="10560" y="432638"/>
                    <a:pt x="0" y="422211"/>
                    <a:pt x="0" y="409207"/>
                  </a:cubicBezTo>
                  <a:lnTo>
                    <a:pt x="0" y="23430"/>
                  </a:lnTo>
                  <a:cubicBezTo>
                    <a:pt x="0" y="10544"/>
                    <a:pt x="10560" y="0"/>
                    <a:pt x="23466" y="0"/>
                  </a:cubicBezTo>
                  <a:close/>
                </a:path>
              </a:pathLst>
            </a:cu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îŝľîḓè"/>
            <p:cNvSpPr txBox="1"/>
            <p:nvPr/>
          </p:nvSpPr>
          <p:spPr>
            <a:xfrm>
              <a:off x="3523585" y="3233565"/>
              <a:ext cx="8336280" cy="176339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endParaRPr lang="zh-CN" altLang="en-US" sz="2400" b="1" dirty="0"/>
            </a:p>
            <a:p>
              <a:pPr>
                <a:lnSpc>
                  <a:spcPct val="130000"/>
                </a:lnSpc>
              </a:pPr>
              <a:r>
                <a:rPr lang="zh-CN" altLang="en-US" sz="2400" b="1" dirty="0"/>
                <a:t>最坏适配算法</a:t>
              </a:r>
              <a:endParaRPr lang="zh-CN" altLang="en-US" sz="2400" b="1" dirty="0"/>
            </a:p>
            <a:p>
              <a:pPr marL="342900" indent="-342900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搜索整个序列，寻找最大的分区进行分配</a:t>
              </a:r>
              <a:endParaRPr lang="zh-CN" altLang="en-US" sz="2400" dirty="0"/>
            </a:p>
            <a:p>
              <a:pPr marL="342900" indent="-342900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空闲分区按其</a:t>
              </a:r>
              <a:r>
                <a:rPr lang="zh-CN" altLang="en-US" sz="2400" dirty="0">
                  <a:solidFill>
                    <a:srgbClr val="FF0000"/>
                  </a:solidFill>
                </a:rPr>
                <a:t>容量从大到小</a:t>
              </a:r>
              <a:r>
                <a:rPr lang="zh-CN" altLang="en-US" sz="2400" dirty="0"/>
                <a:t>的顺序链接</a:t>
              </a:r>
              <a:endParaRPr lang="zh-CN" altLang="en-US" sz="2400" dirty="0"/>
            </a:p>
            <a:p>
              <a:pPr marL="342900" indent="-342900">
                <a:lnSpc>
                  <a:spcPct val="130000"/>
                </a:lnSpc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分割后空闲块仍为较大空块；缺乏大的空闲分区</a:t>
              </a:r>
              <a:endParaRPr lang="zh-CN" alt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标题 51201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endParaRPr lang="zh-CN" altLang="en-US"/>
          </a:p>
        </p:txBody>
      </p:sp>
      <p:sp>
        <p:nvSpPr>
          <p:cNvPr id="51203" name="内容占位符 51202"/>
          <p:cNvSpPr>
            <a:spLocks noGrp="1"/>
          </p:cNvSpPr>
          <p:nvPr>
            <p:ph idx="1"/>
          </p:nvPr>
        </p:nvSpPr>
        <p:spPr>
          <a:xfrm>
            <a:off x="2135188" y="5084763"/>
            <a:ext cx="8064500" cy="1203325"/>
          </a:xfrm>
        </p:spPr>
        <p:txBody>
          <a:bodyPr anchor="t" anchorCtr="0"/>
          <a:p>
            <a:r>
              <a:rPr lang="zh-CN" altLang="en-US" sz="2400">
                <a:solidFill>
                  <a:srgbClr val="000000"/>
                </a:solidFill>
              </a:rPr>
              <a:t>个别来看，碎片较小，但从整体来看，会形成较多外碎片。较大的空闲分区可以被保留。</a:t>
            </a:r>
            <a:endParaRPr lang="zh-CN" altLang="en-US" sz="2400">
              <a:solidFill>
                <a:srgbClr val="000000"/>
              </a:solidFill>
            </a:endParaRPr>
          </a:p>
        </p:txBody>
      </p:sp>
      <p:graphicFrame>
        <p:nvGraphicFramePr>
          <p:cNvPr id="2" name="对象 51203"/>
          <p:cNvGraphicFramePr>
            <a:graphicFrameLocks noChangeAspect="1"/>
          </p:cNvGraphicFramePr>
          <p:nvPr/>
        </p:nvGraphicFramePr>
        <p:xfrm>
          <a:off x="2279650" y="1029335"/>
          <a:ext cx="7920355" cy="3912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6772275" imgH="2238375" progId="PBrush">
                  <p:embed/>
                </p:oleObj>
              </mc:Choice>
              <mc:Fallback>
                <p:oleObj name="" r:id="rId1" imgW="6772275" imgH="2238375" progId="PBrush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9650" y="1029335"/>
                        <a:ext cx="7920355" cy="39128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charRg st="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4273" name="图片 54273" descr="b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381000"/>
            <a:ext cx="8382000" cy="6019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274" name="矩形 54274"/>
          <p:cNvSpPr/>
          <p:nvPr/>
        </p:nvSpPr>
        <p:spPr>
          <a:xfrm>
            <a:off x="4521042" y="6489859"/>
            <a:ext cx="457517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图</a:t>
            </a:r>
            <a:r>
              <a:rPr lang="en-US" altLang="zh-CN">
                <a:solidFill>
                  <a:schemeClr val="bg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分配</a:t>
            </a:r>
            <a:r>
              <a:rPr lang="en-US" altLang="zh-CN">
                <a:solidFill>
                  <a:schemeClr val="bg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16 KB</a:t>
            </a:r>
            <a:r>
              <a:rPr lang="zh-CN" altLang="en-US">
                <a:solidFill>
                  <a:schemeClr val="bg1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内存块之前和之后的内存配置</a:t>
            </a:r>
            <a:endParaRPr lang="zh-CN" altLang="en-US">
              <a:solidFill>
                <a:schemeClr val="bg1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90980" y="1569720"/>
            <a:ext cx="9411335" cy="2643505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某基于动态分区存储管理的计算机，其主存容量为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55MB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（初始为空），采用最佳适配算法，分配和释放的顺序为：分配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15MB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，分配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30MB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，释放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15MB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，分配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8MB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，分配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6MB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，此时主存中最大空闲分区的大小是（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   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A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7MB        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</a:rPr>
              <a:t>B</a:t>
            </a:r>
            <a:r>
              <a:rPr lang="zh-CN" altLang="en-US" sz="24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9MB        C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10MB       D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．</a:t>
            </a:r>
            <a:r>
              <a:rPr lang="en-US" altLang="zh-CN" sz="2400">
                <a:latin typeface="Times New Roman" panose="02020603050405020304"/>
                <a:ea typeface="Times New Roman" panose="02020603050405020304"/>
              </a:rPr>
              <a:t>15MB</a:t>
            </a:r>
            <a:endParaRPr lang="en-US" altLang="zh-CN" sz="2400"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内存回收：有相邻空闲分区，一律</a:t>
            </a:r>
            <a:r>
              <a:rPr lang="en-US" altLang="zh-CN" sz="2800" b="1" dirty="0">
                <a:solidFill>
                  <a:schemeClr val="bg1"/>
                </a:solidFill>
              </a:rPr>
              <a:t>“</a:t>
            </a:r>
            <a:r>
              <a:rPr lang="zh-CN" altLang="en-US" sz="2800" b="1" dirty="0">
                <a:solidFill>
                  <a:srgbClr val="FFFF00"/>
                </a:solidFill>
              </a:rPr>
              <a:t>合并</a:t>
            </a:r>
            <a:r>
              <a:rPr lang="en-US" altLang="zh-CN" sz="2800" b="1" dirty="0">
                <a:solidFill>
                  <a:schemeClr val="bg1"/>
                </a:solidFill>
              </a:rPr>
              <a:t>”</a:t>
            </a:r>
            <a:r>
              <a:rPr lang="zh-CN" altLang="en-US" sz="2800" b="1" dirty="0">
                <a:solidFill>
                  <a:schemeClr val="bg1"/>
                </a:solidFill>
              </a:rPr>
              <a:t>。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55"/>
          <p:cNvGraphicFramePr>
            <a:graphicFrameLocks noGrp="1"/>
          </p:cNvGraphicFramePr>
          <p:nvPr/>
        </p:nvGraphicFramePr>
        <p:xfrm>
          <a:off x="2182822" y="1468191"/>
          <a:ext cx="1792457" cy="4345350"/>
        </p:xfrm>
        <a:graphic>
          <a:graphicData uri="http://schemas.openxmlformats.org/drawingml/2006/table">
            <a:tbl>
              <a:tblPr/>
              <a:tblGrid>
                <a:gridCol w="1792457"/>
              </a:tblGrid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F1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回收区</a:t>
                      </a:r>
                      <a:endParaRPr kumimoji="1" lang="zh-CN" altLang="en-US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7FFB7"/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Group 56"/>
          <p:cNvGraphicFramePr>
            <a:graphicFrameLocks noGrp="1"/>
          </p:cNvGraphicFramePr>
          <p:nvPr/>
        </p:nvGraphicFramePr>
        <p:xfrm>
          <a:off x="4192597" y="1504704"/>
          <a:ext cx="1792457" cy="4345350"/>
        </p:xfrm>
        <a:graphic>
          <a:graphicData uri="http://schemas.openxmlformats.org/drawingml/2006/table">
            <a:tbl>
              <a:tblPr/>
              <a:tblGrid>
                <a:gridCol w="1792457"/>
              </a:tblGrid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回收区</a:t>
                      </a:r>
                      <a:endParaRPr kumimoji="1" lang="zh-CN" altLang="en-US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7FFB7"/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F2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Group 58"/>
          <p:cNvGraphicFramePr>
            <a:graphicFrameLocks noGrp="1"/>
          </p:cNvGraphicFramePr>
          <p:nvPr/>
        </p:nvGraphicFramePr>
        <p:xfrm>
          <a:off x="6208722" y="1504704"/>
          <a:ext cx="1792457" cy="4345350"/>
        </p:xfrm>
        <a:graphic>
          <a:graphicData uri="http://schemas.openxmlformats.org/drawingml/2006/table">
            <a:tbl>
              <a:tblPr/>
              <a:tblGrid>
                <a:gridCol w="1792457"/>
              </a:tblGrid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F1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回收区</a:t>
                      </a:r>
                      <a:endParaRPr kumimoji="1" lang="zh-CN" altLang="en-US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7FFB7"/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F2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Group 55"/>
          <p:cNvGraphicFramePr>
            <a:graphicFrameLocks noGrp="1"/>
          </p:cNvGraphicFramePr>
          <p:nvPr/>
        </p:nvGraphicFramePr>
        <p:xfrm>
          <a:off x="8224847" y="1504704"/>
          <a:ext cx="1792457" cy="4345350"/>
        </p:xfrm>
        <a:graphic>
          <a:graphicData uri="http://schemas.openxmlformats.org/drawingml/2006/table">
            <a:tbl>
              <a:tblPr/>
              <a:tblGrid>
                <a:gridCol w="1792457"/>
              </a:tblGrid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回收区</a:t>
                      </a:r>
                      <a:endParaRPr kumimoji="1" lang="zh-CN" altLang="en-US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7FFB7"/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86907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3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3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8449" marR="98449" marT="49225" marB="4922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内存分配流程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11" name="Group 33"/>
          <p:cNvGrpSpPr/>
          <p:nvPr/>
        </p:nvGrpSpPr>
        <p:grpSpPr bwMode="auto">
          <a:xfrm>
            <a:off x="862958" y="1100813"/>
            <a:ext cx="8394959" cy="5620213"/>
            <a:chOff x="-336" y="144"/>
            <a:chExt cx="4608" cy="3483"/>
          </a:xfrm>
          <a:noFill/>
        </p:grpSpPr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656" y="144"/>
              <a:ext cx="1296" cy="286"/>
            </a:xfrm>
            <a:prstGeom prst="rect">
              <a:avLst/>
            </a:prstGeom>
            <a:grpFill/>
            <a:ln w="28575">
              <a:solidFill>
                <a:srgbClr val="FFC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从头开始查表</a:t>
              </a:r>
              <a:endPara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2736" y="1240"/>
              <a:ext cx="1536" cy="336"/>
            </a:xfrm>
            <a:prstGeom prst="rect">
              <a:avLst/>
            </a:prstGeom>
            <a:grpFill/>
            <a:ln w="28575">
              <a:solidFill>
                <a:srgbClr val="FFC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继续检索下一个表项</a:t>
              </a:r>
              <a:endPara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2607" y="2251"/>
              <a:ext cx="1536" cy="344"/>
            </a:xfrm>
            <a:prstGeom prst="rect">
              <a:avLst/>
            </a:prstGeom>
            <a:grpFill/>
            <a:ln w="28575">
              <a:solidFill>
                <a:srgbClr val="FFC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将该分区从链中移出</a:t>
              </a:r>
              <a:endPara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72" y="2264"/>
              <a:ext cx="2412" cy="343"/>
            </a:xfrm>
            <a:prstGeom prst="rect">
              <a:avLst/>
            </a:prstGeom>
            <a:grpFill/>
            <a:ln w="28575">
              <a:solidFill>
                <a:srgbClr val="FFC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从该分区中划</a:t>
              </a:r>
              <a:r>
                <a:rPr lang="zh-CN" altLang="en-US" sz="2000" b="1" dirty="0" smtClean="0">
                  <a:solidFill>
                    <a:srgbClr val="C00000"/>
                  </a:solidFill>
                  <a:latin typeface="Arial" panose="020B0604020202020204" pitchFamily="34" charset="0"/>
                </a:rPr>
                <a:t>出</a:t>
              </a:r>
              <a:r>
                <a:rPr lang="en-US" altLang="zh-CN" sz="2000" b="1" dirty="0" err="1" smtClean="0">
                  <a:solidFill>
                    <a:srgbClr val="C00000"/>
                  </a:solidFill>
                  <a:latin typeface="Arial" panose="020B0604020202020204" pitchFamily="34" charset="0"/>
                </a:rPr>
                <a:t>u.size</a:t>
              </a: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大小的分区</a:t>
              </a:r>
              <a:endPara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-336" y="2880"/>
              <a:ext cx="3245" cy="313"/>
            </a:xfrm>
            <a:prstGeom prst="rect">
              <a:avLst/>
            </a:prstGeom>
            <a:grpFill/>
            <a:ln w="28575">
              <a:solidFill>
                <a:srgbClr val="FFC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将该分区分配给请求者</a:t>
              </a:r>
              <a:r>
                <a:rPr lang="zh-CN" altLang="en-US" sz="2000" b="1" dirty="0" smtClean="0">
                  <a:solidFill>
                    <a:srgbClr val="C00000"/>
                  </a:solidFill>
                  <a:latin typeface="Arial" panose="020B0604020202020204" pitchFamily="34" charset="0"/>
                </a:rPr>
                <a:t>，修改</a:t>
              </a: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有关数据结构</a:t>
              </a:r>
              <a:endPara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AutoShape 9"/>
            <p:cNvSpPr>
              <a:spLocks noChangeArrowheads="1"/>
            </p:cNvSpPr>
            <p:nvPr/>
          </p:nvSpPr>
          <p:spPr bwMode="auto">
            <a:xfrm>
              <a:off x="498" y="672"/>
              <a:ext cx="1592" cy="384"/>
            </a:xfrm>
            <a:prstGeom prst="flowChartDecision">
              <a:avLst/>
            </a:prstGeom>
            <a:grpFill/>
            <a:ln w="28575">
              <a:solidFill>
                <a:srgbClr val="FFC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检索完否？</a:t>
              </a:r>
              <a:endParaRPr lang="zh-CN" altLang="en-US" b="1" dirty="0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AutoShape 10"/>
            <p:cNvSpPr>
              <a:spLocks noChangeArrowheads="1"/>
            </p:cNvSpPr>
            <p:nvPr/>
          </p:nvSpPr>
          <p:spPr bwMode="auto">
            <a:xfrm>
              <a:off x="490" y="1208"/>
              <a:ext cx="1592" cy="384"/>
            </a:xfrm>
            <a:prstGeom prst="flowChartDecision">
              <a:avLst/>
            </a:prstGeom>
            <a:grpFill/>
            <a:ln w="28575">
              <a:solidFill>
                <a:srgbClr val="FFC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en-US" altLang="zh-CN" sz="2000" b="1" dirty="0" err="1">
                  <a:solidFill>
                    <a:srgbClr val="C00000"/>
                  </a:solidFill>
                  <a:latin typeface="Arial" panose="020B0604020202020204" pitchFamily="34" charset="0"/>
                </a:rPr>
                <a:t>m.size</a:t>
              </a:r>
              <a:r>
                <a:rPr lang="en-US" altLang="zh-CN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&gt;</a:t>
              </a:r>
              <a:r>
                <a:rPr lang="en-US" altLang="zh-CN" sz="2000" b="1" dirty="0" err="1">
                  <a:solidFill>
                    <a:srgbClr val="C00000"/>
                  </a:solidFill>
                  <a:latin typeface="Arial" panose="020B0604020202020204" pitchFamily="34" charset="0"/>
                </a:rPr>
                <a:t>u.size</a:t>
              </a:r>
              <a:r>
                <a:rPr lang="en-US" altLang="zh-CN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?</a:t>
              </a:r>
              <a:endPara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AutoShape 11"/>
            <p:cNvSpPr>
              <a:spLocks noChangeArrowheads="1"/>
            </p:cNvSpPr>
            <p:nvPr/>
          </p:nvSpPr>
          <p:spPr bwMode="auto">
            <a:xfrm>
              <a:off x="215" y="1728"/>
              <a:ext cx="2137" cy="384"/>
            </a:xfrm>
            <a:prstGeom prst="flowChartDecision">
              <a:avLst/>
            </a:prstGeom>
            <a:grpFill/>
            <a:ln w="28575">
              <a:solidFill>
                <a:srgbClr val="FFC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en-US" altLang="zh-CN" sz="2000" b="1" dirty="0" err="1">
                  <a:solidFill>
                    <a:srgbClr val="C00000"/>
                  </a:solidFill>
                  <a:latin typeface="Arial" panose="020B0604020202020204" pitchFamily="34" charset="0"/>
                </a:rPr>
                <a:t>m.size-u.size</a:t>
              </a:r>
              <a:r>
                <a:rPr lang="en-US" altLang="zh-CN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&lt;=size?</a:t>
              </a:r>
              <a:endPara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1" name="AutoShape 12"/>
            <p:cNvCxnSpPr>
              <a:cxnSpLocks noChangeShapeType="1"/>
              <a:stCxn id="12" idx="2"/>
              <a:endCxn id="17" idx="0"/>
            </p:cNvCxnSpPr>
            <p:nvPr/>
          </p:nvCxnSpPr>
          <p:spPr bwMode="auto">
            <a:xfrm flipH="1">
              <a:off x="1294" y="430"/>
              <a:ext cx="10" cy="242"/>
            </a:xfrm>
            <a:prstGeom prst="straightConnector1">
              <a:avLst/>
            </a:prstGeom>
            <a:grpFill/>
            <a:ln w="28575">
              <a:solidFill>
                <a:srgbClr val="FFC000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AutoShape 13"/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 flipH="1">
              <a:off x="1286" y="1056"/>
              <a:ext cx="8" cy="152"/>
            </a:xfrm>
            <a:prstGeom prst="straightConnector1">
              <a:avLst/>
            </a:prstGeom>
            <a:grpFill/>
            <a:ln w="28575">
              <a:solidFill>
                <a:srgbClr val="FFC000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14"/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 flipH="1">
              <a:off x="1283" y="1592"/>
              <a:ext cx="3" cy="136"/>
            </a:xfrm>
            <a:prstGeom prst="straightConnector1">
              <a:avLst/>
            </a:prstGeom>
            <a:grpFill/>
            <a:ln w="28575">
              <a:solidFill>
                <a:srgbClr val="FFC000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AutoShape 15"/>
            <p:cNvCxnSpPr>
              <a:cxnSpLocks noChangeShapeType="1"/>
              <a:stCxn id="19" idx="2"/>
              <a:endCxn id="15" idx="0"/>
            </p:cNvCxnSpPr>
            <p:nvPr/>
          </p:nvCxnSpPr>
          <p:spPr bwMode="auto">
            <a:xfrm flipH="1">
              <a:off x="1278" y="2112"/>
              <a:ext cx="5" cy="152"/>
            </a:xfrm>
            <a:prstGeom prst="straightConnector1">
              <a:avLst/>
            </a:prstGeom>
            <a:grpFill/>
            <a:ln w="28575">
              <a:solidFill>
                <a:srgbClr val="FFC000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5" name="AutoShape 16"/>
            <p:cNvCxnSpPr>
              <a:cxnSpLocks noChangeShapeType="1"/>
              <a:stCxn id="15" idx="2"/>
            </p:cNvCxnSpPr>
            <p:nvPr/>
          </p:nvCxnSpPr>
          <p:spPr bwMode="auto">
            <a:xfrm>
              <a:off x="1278" y="2607"/>
              <a:ext cx="0" cy="260"/>
            </a:xfrm>
            <a:prstGeom prst="straightConnector1">
              <a:avLst/>
            </a:prstGeom>
            <a:grpFill/>
            <a:ln w="28575">
              <a:solidFill>
                <a:srgbClr val="FFC000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6" name="AutoShape 17"/>
            <p:cNvSpPr>
              <a:spLocks noChangeArrowheads="1"/>
            </p:cNvSpPr>
            <p:nvPr/>
          </p:nvSpPr>
          <p:spPr bwMode="auto">
            <a:xfrm>
              <a:off x="3064" y="688"/>
              <a:ext cx="816" cy="336"/>
            </a:xfrm>
            <a:prstGeom prst="flowChartAlternateProcess">
              <a:avLst/>
            </a:prstGeom>
            <a:grpFill/>
            <a:ln w="28575">
              <a:solidFill>
                <a:srgbClr val="FFC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000" b="1">
                  <a:solidFill>
                    <a:srgbClr val="C00000"/>
                  </a:solidFill>
                  <a:latin typeface="Arial" panose="020B0604020202020204" pitchFamily="34" charset="0"/>
                </a:rPr>
                <a:t>返回</a:t>
              </a:r>
              <a:endParaRPr lang="zh-CN" altLang="en-US" sz="2000" b="1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AutoShape 18"/>
            <p:cNvSpPr>
              <a:spLocks noChangeArrowheads="1"/>
            </p:cNvSpPr>
            <p:nvPr/>
          </p:nvSpPr>
          <p:spPr bwMode="auto">
            <a:xfrm>
              <a:off x="870" y="3355"/>
              <a:ext cx="816" cy="272"/>
            </a:xfrm>
            <a:prstGeom prst="flowChartAlternateProcess">
              <a:avLst/>
            </a:prstGeom>
            <a:grpFill/>
            <a:ln w="28575">
              <a:solidFill>
                <a:srgbClr val="FFC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000" b="1" dirty="0">
                  <a:solidFill>
                    <a:srgbClr val="C00000"/>
                  </a:solidFill>
                  <a:latin typeface="Arial" panose="020B0604020202020204" pitchFamily="34" charset="0"/>
                </a:rPr>
                <a:t>返回</a:t>
              </a:r>
              <a:endParaRPr lang="zh-CN" altLang="en-US" sz="2000" b="1" dirty="0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8" name="AutoShape 19"/>
            <p:cNvCxnSpPr>
              <a:cxnSpLocks noChangeShapeType="1"/>
              <a:stCxn id="16" idx="2"/>
            </p:cNvCxnSpPr>
            <p:nvPr/>
          </p:nvCxnSpPr>
          <p:spPr bwMode="auto">
            <a:xfrm flipH="1">
              <a:off x="1286" y="3193"/>
              <a:ext cx="1" cy="168"/>
            </a:xfrm>
            <a:prstGeom prst="straightConnector1">
              <a:avLst/>
            </a:prstGeom>
            <a:grpFill/>
            <a:ln w="28575">
              <a:solidFill>
                <a:srgbClr val="FFC000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0" name="AutoShape 20"/>
            <p:cNvCxnSpPr>
              <a:cxnSpLocks noChangeShapeType="1"/>
              <a:stCxn id="19" idx="3"/>
              <a:endCxn id="14" idx="0"/>
            </p:cNvCxnSpPr>
            <p:nvPr/>
          </p:nvCxnSpPr>
          <p:spPr bwMode="auto">
            <a:xfrm>
              <a:off x="2352" y="1920"/>
              <a:ext cx="1023" cy="331"/>
            </a:xfrm>
            <a:prstGeom prst="bentConnector2">
              <a:avLst/>
            </a:prstGeom>
            <a:grpFill/>
            <a:ln w="28575">
              <a:solidFill>
                <a:srgbClr val="FFC000"/>
              </a:solidFill>
              <a:miter lim="800000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" name="AutoShape 22"/>
            <p:cNvCxnSpPr>
              <a:cxnSpLocks noChangeShapeType="1"/>
            </p:cNvCxnSpPr>
            <p:nvPr/>
          </p:nvCxnSpPr>
          <p:spPr bwMode="auto">
            <a:xfrm rot="5400000">
              <a:off x="2284" y="1620"/>
              <a:ext cx="103" cy="2080"/>
            </a:xfrm>
            <a:prstGeom prst="bentConnector2">
              <a:avLst/>
            </a:prstGeom>
            <a:grpFill/>
            <a:ln w="28575">
              <a:solidFill>
                <a:srgbClr val="FFC000"/>
              </a:solidFill>
              <a:miter lim="800000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5" name="AutoShape 23"/>
            <p:cNvCxnSpPr>
              <a:cxnSpLocks noChangeShapeType="1"/>
              <a:stCxn id="13" idx="3"/>
            </p:cNvCxnSpPr>
            <p:nvPr/>
          </p:nvCxnSpPr>
          <p:spPr bwMode="auto">
            <a:xfrm flipH="1" flipV="1">
              <a:off x="1317" y="575"/>
              <a:ext cx="2955" cy="833"/>
            </a:xfrm>
            <a:prstGeom prst="bentConnector3">
              <a:avLst>
                <a:gd name="adj1" fmla="val -4419"/>
              </a:avLst>
            </a:prstGeom>
            <a:grpFill/>
            <a:ln w="28575">
              <a:solidFill>
                <a:srgbClr val="FFC000"/>
              </a:solidFill>
              <a:miter lim="800000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AutoShape 24"/>
            <p:cNvCxnSpPr>
              <a:cxnSpLocks noChangeShapeType="1"/>
              <a:stCxn id="18" idx="3"/>
              <a:endCxn id="13" idx="1"/>
            </p:cNvCxnSpPr>
            <p:nvPr/>
          </p:nvCxnSpPr>
          <p:spPr bwMode="auto">
            <a:xfrm>
              <a:off x="2082" y="1400"/>
              <a:ext cx="654" cy="8"/>
            </a:xfrm>
            <a:prstGeom prst="straightConnector1">
              <a:avLst/>
            </a:prstGeom>
            <a:grpFill/>
            <a:ln w="28575">
              <a:solidFill>
                <a:srgbClr val="FFC000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AutoShape 25"/>
            <p:cNvCxnSpPr>
              <a:cxnSpLocks noChangeShapeType="1"/>
              <a:stCxn id="17" idx="3"/>
              <a:endCxn id="26" idx="1"/>
            </p:cNvCxnSpPr>
            <p:nvPr/>
          </p:nvCxnSpPr>
          <p:spPr bwMode="auto">
            <a:xfrm flipV="1">
              <a:off x="2090" y="856"/>
              <a:ext cx="974" cy="8"/>
            </a:xfrm>
            <a:prstGeom prst="straightConnector1">
              <a:avLst/>
            </a:prstGeom>
            <a:grpFill/>
            <a:ln w="28575">
              <a:solidFill>
                <a:srgbClr val="FFC000"/>
              </a:solidFill>
              <a:rou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" name="Text Box 26"/>
            <p:cNvSpPr txBox="1">
              <a:spLocks noChangeArrowheads="1"/>
            </p:cNvSpPr>
            <p:nvPr/>
          </p:nvSpPr>
          <p:spPr bwMode="auto">
            <a:xfrm>
              <a:off x="2496" y="1688"/>
              <a:ext cx="288" cy="250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000" b="1">
                  <a:solidFill>
                    <a:srgbClr val="C00000"/>
                  </a:solidFill>
                  <a:latin typeface="Arial" panose="020B0604020202020204" pitchFamily="34" charset="0"/>
                </a:rPr>
                <a:t>Y</a:t>
              </a:r>
              <a:endParaRPr lang="en-US" altLang="zh-CN" sz="2000" b="1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Text Box 27"/>
            <p:cNvSpPr txBox="1">
              <a:spLocks noChangeArrowheads="1"/>
            </p:cNvSpPr>
            <p:nvPr/>
          </p:nvSpPr>
          <p:spPr bwMode="auto">
            <a:xfrm>
              <a:off x="2400" y="632"/>
              <a:ext cx="288" cy="250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000" b="1">
                  <a:solidFill>
                    <a:srgbClr val="C00000"/>
                  </a:solidFill>
                  <a:latin typeface="Arial" panose="020B0604020202020204" pitchFamily="34" charset="0"/>
                </a:rPr>
                <a:t>Y</a:t>
              </a:r>
              <a:endParaRPr lang="en-US" altLang="zh-CN" sz="2000" b="1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Text Box 28"/>
            <p:cNvSpPr txBox="1">
              <a:spLocks noChangeArrowheads="1"/>
            </p:cNvSpPr>
            <p:nvPr/>
          </p:nvSpPr>
          <p:spPr bwMode="auto">
            <a:xfrm>
              <a:off x="1344" y="1544"/>
              <a:ext cx="288" cy="250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000" b="1">
                  <a:solidFill>
                    <a:srgbClr val="C00000"/>
                  </a:solidFill>
                  <a:latin typeface="Arial" panose="020B0604020202020204" pitchFamily="34" charset="0"/>
                </a:rPr>
                <a:t>Y</a:t>
              </a:r>
              <a:endParaRPr lang="en-US" altLang="zh-CN" sz="2000" b="1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Text Box 29"/>
            <p:cNvSpPr txBox="1">
              <a:spLocks noChangeArrowheads="1"/>
            </p:cNvSpPr>
            <p:nvPr/>
          </p:nvSpPr>
          <p:spPr bwMode="auto">
            <a:xfrm>
              <a:off x="1392" y="2024"/>
              <a:ext cx="288" cy="250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000" b="1">
                  <a:solidFill>
                    <a:srgbClr val="C00000"/>
                  </a:solidFill>
                  <a:latin typeface="Arial" panose="020B0604020202020204" pitchFamily="34" charset="0"/>
                </a:rPr>
                <a:t>N</a:t>
              </a:r>
              <a:endParaRPr lang="en-US" altLang="zh-CN" sz="2000" b="1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Text Box 30"/>
            <p:cNvSpPr txBox="1">
              <a:spLocks noChangeArrowheads="1"/>
            </p:cNvSpPr>
            <p:nvPr/>
          </p:nvSpPr>
          <p:spPr bwMode="auto">
            <a:xfrm>
              <a:off x="1344" y="968"/>
              <a:ext cx="288" cy="250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000" b="1">
                  <a:solidFill>
                    <a:srgbClr val="C00000"/>
                  </a:solidFill>
                  <a:latin typeface="Arial" panose="020B0604020202020204" pitchFamily="34" charset="0"/>
                </a:rPr>
                <a:t>N</a:t>
              </a:r>
              <a:endParaRPr lang="en-US" altLang="zh-CN" sz="2000" b="1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Text Box 31"/>
            <p:cNvSpPr txBox="1">
              <a:spLocks noChangeArrowheads="1"/>
            </p:cNvSpPr>
            <p:nvPr/>
          </p:nvSpPr>
          <p:spPr bwMode="auto">
            <a:xfrm>
              <a:off x="2064" y="1160"/>
              <a:ext cx="288" cy="250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50000"/>
                </a:spcBef>
                <a:buFont typeface="Monotype Sorts" pitchFamily="2" charset="2"/>
                <a:buNone/>
                <a:defRPr/>
              </a:pPr>
              <a:r>
                <a:rPr lang="en-US" altLang="zh-CN" sz="2000" b="1">
                  <a:solidFill>
                    <a:srgbClr val="C00000"/>
                  </a:solidFill>
                  <a:latin typeface="Arial" panose="020B0604020202020204" pitchFamily="34" charset="0"/>
                </a:rPr>
                <a:t>N</a:t>
              </a:r>
              <a:endParaRPr lang="en-US" altLang="zh-CN" sz="2000" b="1">
                <a:solidFill>
                  <a:srgbClr val="C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内容占位符 58369"/>
          <p:cNvSpPr>
            <a:spLocks noGrp="1"/>
          </p:cNvSpPr>
          <p:nvPr>
            <p:ph idx="1"/>
          </p:nvPr>
        </p:nvSpPr>
        <p:spPr>
          <a:xfrm>
            <a:off x="1452880" y="1497965"/>
            <a:ext cx="9424670" cy="4521835"/>
          </a:xfrm>
        </p:spPr>
        <p:txBody>
          <a:bodyPr anchor="t" anchorCtr="0"/>
          <a:p>
            <a:r>
              <a:rPr lang="zh-CN" altLang="en-US" sz="2000">
                <a:solidFill>
                  <a:srgbClr val="000000"/>
                </a:solidFill>
                <a:latin typeface="宋体" panose="02010600030101010101" pitchFamily="2" charset="-122"/>
              </a:rPr>
              <a:t>内部碎片与外部碎片</a:t>
            </a:r>
            <a:endParaRPr lang="zh-CN" altLang="en-US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1"/>
            <a:r>
              <a:rPr lang="zh-CN" altLang="en-US" sz="2000">
                <a:solidFill>
                  <a:srgbClr val="000000"/>
                </a:solidFill>
              </a:rPr>
              <a:t>在一个分区内部出现的碎片（即被浪费的空间）称做</a:t>
            </a:r>
            <a:r>
              <a:rPr lang="zh-CN" altLang="en-US" sz="2000">
                <a:solidFill>
                  <a:srgbClr val="FF0000"/>
                </a:solidFill>
              </a:rPr>
              <a:t>内部碎片</a:t>
            </a:r>
            <a:r>
              <a:rPr lang="zh-CN" altLang="en-US" sz="2000">
                <a:solidFill>
                  <a:srgbClr val="000000"/>
                </a:solidFill>
              </a:rPr>
              <a:t>，如固定分区法会产生内部碎片。</a:t>
            </a:r>
            <a:endParaRPr lang="zh-CN" altLang="en-US" sz="2000">
              <a:solidFill>
                <a:srgbClr val="000000"/>
              </a:solidFill>
            </a:endParaRPr>
          </a:p>
          <a:p>
            <a:pPr lvl="1"/>
            <a:r>
              <a:rPr lang="zh-CN" altLang="en-US" sz="2000">
                <a:solidFill>
                  <a:srgbClr val="000000"/>
                </a:solidFill>
              </a:rPr>
              <a:t>在所有分区之外新增的碎片称做</a:t>
            </a:r>
            <a:r>
              <a:rPr lang="zh-CN" altLang="en-US" sz="2000">
                <a:solidFill>
                  <a:srgbClr val="FF0000"/>
                </a:solidFill>
              </a:rPr>
              <a:t>外部碎片。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2" name="矩形 58370"/>
          <p:cNvSpPr/>
          <p:nvPr/>
        </p:nvSpPr>
        <p:spPr>
          <a:xfrm>
            <a:off x="1666875" y="831850"/>
            <a:ext cx="7315200" cy="6667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r>
              <a:rPr lang="en-US" altLang="zh-CN" sz="400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1.</a:t>
            </a:r>
            <a:r>
              <a:rPr lang="zh-CN" altLang="en-US" sz="36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碎片问题</a:t>
            </a:r>
            <a:endParaRPr lang="zh-CN" altLang="en-US" sz="400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charset="-122"/>
            </a:endParaRPr>
          </a:p>
        </p:txBody>
      </p:sp>
      <p:graphicFrame>
        <p:nvGraphicFramePr>
          <p:cNvPr id="59394" name="对象 59394"/>
          <p:cNvGraphicFramePr>
            <a:graphicFrameLocks noChangeAspect="1"/>
          </p:cNvGraphicFramePr>
          <p:nvPr/>
        </p:nvGraphicFramePr>
        <p:xfrm>
          <a:off x="1891030" y="2914015"/>
          <a:ext cx="3954145" cy="3342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5819775" imgH="4057650" progId="PBrush">
                  <p:embed/>
                </p:oleObj>
              </mc:Choice>
              <mc:Fallback>
                <p:oleObj name="" r:id="rId1" imgW="5819775" imgH="4057650" progId="PBrush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91030" y="2914015"/>
                        <a:ext cx="3954145" cy="33426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8" name="对象 60418"/>
          <p:cNvGraphicFramePr>
            <a:graphicFrameLocks noChangeAspect="1"/>
          </p:cNvGraphicFramePr>
          <p:nvPr/>
        </p:nvGraphicFramePr>
        <p:xfrm>
          <a:off x="7303770" y="2747645"/>
          <a:ext cx="3973195" cy="3596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2809875" imgH="2362200" progId="PBrush">
                  <p:embed/>
                </p:oleObj>
              </mc:Choice>
              <mc:Fallback>
                <p:oleObj name="" r:id="rId3" imgW="2809875" imgH="2362200" progId="PBrush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03770" y="2747645"/>
                        <a:ext cx="3973195" cy="35960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内存回收流程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042418" y="653404"/>
            <a:ext cx="7333401" cy="58715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动态可重定位分区分配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1" name="i$lîďê"/>
          <p:cNvSpPr/>
          <p:nvPr/>
        </p:nvSpPr>
        <p:spPr>
          <a:xfrm>
            <a:off x="1802479" y="4233983"/>
            <a:ext cx="9730292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动态重定位：在指令运行时，实现地址转换</a:t>
            </a:r>
            <a:r>
              <a:rPr lang="en-US" altLang="zh-CN" sz="2400" dirty="0"/>
              <a:t>(</a:t>
            </a:r>
            <a:r>
              <a:rPr lang="zh-CN" altLang="en-US" sz="2400" dirty="0"/>
              <a:t>相对地址转换为绝对地址</a:t>
            </a:r>
            <a:r>
              <a:rPr lang="en-US" altLang="zh-CN" sz="2400" dirty="0"/>
              <a:t>)</a:t>
            </a:r>
            <a:endParaRPr lang="en-US" altLang="zh-CN" sz="2400" dirty="0"/>
          </a:p>
        </p:txBody>
      </p:sp>
      <p:sp>
        <p:nvSpPr>
          <p:cNvPr id="223" name="ïṧḷïḋè"/>
          <p:cNvSpPr/>
          <p:nvPr/>
        </p:nvSpPr>
        <p:spPr>
          <a:xfrm>
            <a:off x="1802481" y="5086300"/>
            <a:ext cx="9350623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分配算法：类似于动态分区分配算法，增加了紧凑的功能</a:t>
            </a:r>
            <a:endParaRPr lang="zh-CN" altLang="en-US" sz="2400" dirty="0"/>
          </a:p>
        </p:txBody>
      </p:sp>
      <p:sp>
        <p:nvSpPr>
          <p:cNvPr id="224" name="îs1iďé"/>
          <p:cNvSpPr/>
          <p:nvPr/>
        </p:nvSpPr>
        <p:spPr>
          <a:xfrm>
            <a:off x="1821537" y="1997545"/>
            <a:ext cx="9711234" cy="14906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碎片</a:t>
            </a:r>
            <a:r>
              <a:rPr lang="zh-CN" altLang="en-US" sz="2400" dirty="0"/>
              <a:t>：不能被利用的小分区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解决方案：紧凑，前提：要求代码和数据可以在内存中移动</a:t>
            </a:r>
            <a:endParaRPr lang="zh-CN" altLang="en-US" sz="2400" dirty="0"/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</a:rPr>
              <a:t>紧凑</a:t>
            </a:r>
            <a:r>
              <a:rPr lang="zh-CN" altLang="en-US" sz="2400" dirty="0"/>
              <a:t>：通过移动内存中的作业位置，以把原来多个分散的小分区拼接成一个大分区的方法，也叫“拼接”</a:t>
            </a:r>
            <a:endParaRPr lang="zh-CN" altLang="en-US" sz="2400" dirty="0"/>
          </a:p>
        </p:txBody>
      </p:sp>
      <p:sp>
        <p:nvSpPr>
          <p:cNvPr id="225" name="íšḻíḑê"/>
          <p:cNvSpPr/>
          <p:nvPr/>
        </p:nvSpPr>
        <p:spPr>
          <a:xfrm>
            <a:off x="1802480" y="1528983"/>
            <a:ext cx="3696051" cy="40574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连续分配方式存在的问题 </a:t>
            </a:r>
            <a:endParaRPr lang="zh-CN" altLang="en-US" sz="2400" dirty="0"/>
          </a:p>
        </p:txBody>
      </p:sp>
      <p:sp>
        <p:nvSpPr>
          <p:cNvPr id="226" name="îSļiḓè"/>
          <p:cNvSpPr/>
          <p:nvPr/>
        </p:nvSpPr>
        <p:spPr>
          <a:xfrm>
            <a:off x="1118977" y="151542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7" name="íṥḻîḓe"/>
          <p:cNvSpPr/>
          <p:nvPr/>
        </p:nvSpPr>
        <p:spPr>
          <a:xfrm>
            <a:off x="1118977" y="5003698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8" name="îşļiḓè"/>
          <p:cNvSpPr/>
          <p:nvPr/>
        </p:nvSpPr>
        <p:spPr>
          <a:xfrm>
            <a:off x="1118977" y="4133457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9" name="îṡḷíďe"/>
          <p:cNvSpPr/>
          <p:nvPr/>
        </p:nvSpPr>
        <p:spPr>
          <a:xfrm>
            <a:off x="1309232" y="1711559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30" name="íSlíḋe"/>
          <p:cNvSpPr/>
          <p:nvPr/>
        </p:nvSpPr>
        <p:spPr>
          <a:xfrm>
            <a:off x="1309231" y="4355474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31" name="ïśḷïḓe"/>
          <p:cNvSpPr/>
          <p:nvPr/>
        </p:nvSpPr>
        <p:spPr>
          <a:xfrm>
            <a:off x="1338170" y="5193158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紧凑例子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1" name="Picture 4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" t="10748" r="948" b="10780"/>
          <a:stretch>
            <a:fillRect/>
          </a:stretch>
        </p:blipFill>
        <p:spPr bwMode="auto">
          <a:xfrm>
            <a:off x="2278219" y="1081825"/>
            <a:ext cx="7962223" cy="5365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标注 1"/>
          <p:cNvSpPr/>
          <p:nvPr/>
        </p:nvSpPr>
        <p:spPr>
          <a:xfrm>
            <a:off x="10226040" y="5784850"/>
            <a:ext cx="1304925" cy="521970"/>
          </a:xfrm>
          <a:prstGeom prst="wedge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/>
                </a:solidFill>
              </a:rPr>
              <a:t>最优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动态分区分配算法流程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25164" y="938226"/>
            <a:ext cx="9838055" cy="5373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内存保护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16" name="íSľïdé"/>
          <p:cNvSpPr/>
          <p:nvPr/>
        </p:nvSpPr>
        <p:spPr>
          <a:xfrm>
            <a:off x="1533439" y="1345276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17" name="ïŝļíḓê"/>
          <p:cNvSpPr/>
          <p:nvPr/>
        </p:nvSpPr>
        <p:spPr bwMode="auto">
          <a:xfrm>
            <a:off x="7834630" y="1241425"/>
            <a:ext cx="556895" cy="473075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18" name="îṧľîdé"/>
          <p:cNvSpPr/>
          <p:nvPr/>
        </p:nvSpPr>
        <p:spPr>
          <a:xfrm>
            <a:off x="3352496" y="1242376"/>
            <a:ext cx="3083480" cy="1469496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0" name="内容占位符 2"/>
          <p:cNvSpPr txBox="1"/>
          <p:nvPr/>
        </p:nvSpPr>
        <p:spPr>
          <a:xfrm>
            <a:off x="521215" y="1977124"/>
            <a:ext cx="4034934" cy="173003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400" dirty="0"/>
              <a:t>内存保护的目的</a:t>
            </a:r>
            <a:endParaRPr lang="zh-CN" altLang="en-US" sz="2400" dirty="0"/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保护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OS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不被用户访问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lvl="1" indent="-342900">
              <a:lnSpc>
                <a:spcPct val="132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保护用户进程不会相互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影响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内容占位符 2"/>
          <p:cNvSpPr txBox="1"/>
          <p:nvPr/>
        </p:nvSpPr>
        <p:spPr>
          <a:xfrm>
            <a:off x="5790565" y="1857375"/>
            <a:ext cx="6070600" cy="356870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400" dirty="0"/>
              <a:t>内存保护的实现：</a:t>
            </a:r>
            <a:r>
              <a:rPr lang="zh-CN" altLang="en-US" sz="2400" dirty="0">
                <a:solidFill>
                  <a:srgbClr val="FF0000"/>
                </a:solidFill>
              </a:rPr>
              <a:t>硬件（一对寄存器）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0" lvl="1" indent="-342900">
              <a:lnSpc>
                <a:spcPct val="120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基地址寄存器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：保存最小的合法物理内存地址（基地址）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342900">
              <a:lnSpc>
                <a:spcPct val="120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界限寄存器（限长寄存器）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：保存合法的逻辑地址范围（界地址），</a:t>
            </a:r>
            <a:r>
              <a:rPr lang="zh-CN" altLang="en-US" sz="2400" dirty="0">
                <a:solidFill>
                  <a:srgbClr val="FF0000"/>
                </a:solidFill>
              </a:rPr>
              <a:t>一段长度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0">
              <a:lnSpc>
                <a:spcPct val="120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342900">
              <a:lnSpc>
                <a:spcPct val="120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内存空间保护的实现：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14300" lvl="2" indent="0">
              <a:lnSpc>
                <a:spcPct val="120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判断“</a:t>
            </a:r>
            <a:r>
              <a:rPr lang="zh-CN" altLang="en-US" sz="2400" dirty="0">
                <a:solidFill>
                  <a:srgbClr val="FF0000"/>
                </a:solidFill>
              </a:rPr>
              <a:t>基地址≤物理地址＜（基地址</a:t>
            </a:r>
            <a:r>
              <a:rPr lang="en-US" altLang="zh-CN" sz="2400" dirty="0">
                <a:solidFill>
                  <a:srgbClr val="FF0000"/>
                </a:solidFill>
              </a:rPr>
              <a:t>+</a:t>
            </a:r>
            <a:r>
              <a:rPr lang="zh-CN" altLang="en-US" sz="2400" dirty="0">
                <a:solidFill>
                  <a:srgbClr val="FF0000"/>
                </a:solidFill>
              </a:rPr>
              <a:t>界限地址）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”是否成立。</a:t>
            </a:r>
            <a:r>
              <a:rPr lang="zh-CN" alt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纯小于长度</a:t>
            </a:r>
            <a:endParaRPr lang="zh-CN" altLang="en-US" sz="1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114300" lvl="2" indent="0">
              <a:lnSpc>
                <a:spcPct val="120000"/>
              </a:lnSpc>
              <a:spcBef>
                <a:spcPts val="370"/>
              </a:spcBef>
              <a:buClr>
                <a:srgbClr val="E71101"/>
              </a:buClr>
              <a:buSzPct val="60000"/>
              <a:buFont typeface="Wingdings" panose="05000000000000000000" pitchFamily="2" charset="2"/>
              <a:buNone/>
              <a:defRPr/>
            </a:pPr>
            <a:endParaRPr lang="zh-CN" altLang="en-US" sz="18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动态重定位示意图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Group 70"/>
          <p:cNvGraphicFramePr>
            <a:graphicFrameLocks noGrp="1"/>
          </p:cNvGraphicFramePr>
          <p:nvPr/>
        </p:nvGraphicFramePr>
        <p:xfrm>
          <a:off x="2133600" y="1657350"/>
          <a:ext cx="1752600" cy="3251200"/>
        </p:xfrm>
        <a:graphic>
          <a:graphicData uri="http://schemas.openxmlformats.org/drawingml/2006/table">
            <a:tbl>
              <a:tblPr/>
              <a:tblGrid>
                <a:gridCol w="1752600"/>
              </a:tblGrid>
              <a:tr h="5334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LOAD 1,2500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88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365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128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Group 59"/>
          <p:cNvGraphicFramePr>
            <a:graphicFrameLocks noGrp="1"/>
          </p:cNvGraphicFramePr>
          <p:nvPr/>
        </p:nvGraphicFramePr>
        <p:xfrm>
          <a:off x="8610600" y="1581150"/>
          <a:ext cx="2362200" cy="4212466"/>
        </p:xfrm>
        <a:graphic>
          <a:graphicData uri="http://schemas.openxmlformats.org/drawingml/2006/table">
            <a:tbl>
              <a:tblPr/>
              <a:tblGrid>
                <a:gridCol w="2362200"/>
              </a:tblGrid>
              <a:tr h="68089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5967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5967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LOAD 1,2500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115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5967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365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4512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80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Line 40"/>
          <p:cNvSpPr>
            <a:spLocks noChangeShapeType="1"/>
          </p:cNvSpPr>
          <p:nvPr/>
        </p:nvSpPr>
        <p:spPr bwMode="auto">
          <a:xfrm>
            <a:off x="6172200" y="1219200"/>
            <a:ext cx="0" cy="457441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 sz="2400"/>
          </a:p>
        </p:txBody>
      </p:sp>
      <p:sp>
        <p:nvSpPr>
          <p:cNvPr id="7" name="Rectangle 42"/>
          <p:cNvSpPr>
            <a:spLocks noChangeArrowheads="1"/>
          </p:cNvSpPr>
          <p:nvPr/>
        </p:nvSpPr>
        <p:spPr bwMode="auto">
          <a:xfrm>
            <a:off x="4572000" y="1566863"/>
            <a:ext cx="1066800" cy="457200"/>
          </a:xfrm>
          <a:prstGeom prst="rect">
            <a:avLst/>
          </a:prstGeom>
          <a:solidFill>
            <a:srgbClr val="FFC000"/>
          </a:solidFill>
          <a:ln w="31750">
            <a:solidFill>
              <a:schemeClr val="tx1"/>
            </a:solidFill>
            <a:miter lim="800000"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/>
              <a:t>2500</a:t>
            </a:r>
            <a:endParaRPr lang="en-US" altLang="zh-CN" sz="2400" b="1"/>
          </a:p>
        </p:txBody>
      </p:sp>
      <p:sp>
        <p:nvSpPr>
          <p:cNvPr id="8" name="Rectangle 43"/>
          <p:cNvSpPr>
            <a:spLocks noChangeArrowheads="1"/>
          </p:cNvSpPr>
          <p:nvPr/>
        </p:nvSpPr>
        <p:spPr bwMode="auto">
          <a:xfrm>
            <a:off x="6553200" y="1581150"/>
            <a:ext cx="1066800" cy="457200"/>
          </a:xfrm>
          <a:prstGeom prst="rect">
            <a:avLst/>
          </a:prstGeom>
          <a:solidFill>
            <a:srgbClr val="FFC000"/>
          </a:solidFill>
          <a:ln w="31750">
            <a:solidFill>
              <a:schemeClr val="tx1"/>
            </a:solidFill>
            <a:miter lim="800000"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/>
              <a:t>10000</a:t>
            </a:r>
            <a:endParaRPr lang="en-US" altLang="zh-CN" sz="2400" b="1"/>
          </a:p>
        </p:txBody>
      </p:sp>
      <p:sp>
        <p:nvSpPr>
          <p:cNvPr id="9" name="Rectangle 54"/>
          <p:cNvSpPr>
            <a:spLocks noChangeArrowheads="1"/>
          </p:cNvSpPr>
          <p:nvPr/>
        </p:nvSpPr>
        <p:spPr bwMode="auto">
          <a:xfrm>
            <a:off x="9067800" y="5946016"/>
            <a:ext cx="1066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zh-CN" altLang="en-US" sz="2400" b="1" dirty="0">
                <a:latin typeface="+mn-ea"/>
                <a:ea typeface="+mn-ea"/>
              </a:rPr>
              <a:t>主存</a:t>
            </a:r>
            <a:endParaRPr lang="zh-CN" altLang="en-US" sz="2400" b="1" dirty="0">
              <a:latin typeface="+mn-ea"/>
              <a:ea typeface="+mn-ea"/>
            </a:endParaRPr>
          </a:p>
        </p:txBody>
      </p:sp>
      <p:cxnSp>
        <p:nvCxnSpPr>
          <p:cNvPr id="10" name="AutoShape 55"/>
          <p:cNvCxnSpPr>
            <a:cxnSpLocks noChangeShapeType="1"/>
            <a:stCxn id="7" idx="2"/>
          </p:cNvCxnSpPr>
          <p:nvPr/>
        </p:nvCxnSpPr>
        <p:spPr bwMode="auto">
          <a:xfrm rot="16200000" flipH="1">
            <a:off x="5610225" y="1538288"/>
            <a:ext cx="2419350" cy="3429000"/>
          </a:xfrm>
          <a:prstGeom prst="bentConnector2">
            <a:avLst/>
          </a:prstGeom>
          <a:noFill/>
          <a:ln w="38100">
            <a:solidFill>
              <a:schemeClr val="tx1"/>
            </a:solidFill>
            <a:prstDash val="sysDot"/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60"/>
          <p:cNvCxnSpPr>
            <a:cxnSpLocks noChangeShapeType="1"/>
            <a:endCxn id="7" idx="1"/>
          </p:cNvCxnSpPr>
          <p:nvPr/>
        </p:nvCxnSpPr>
        <p:spPr bwMode="auto">
          <a:xfrm flipV="1">
            <a:off x="3886200" y="1795463"/>
            <a:ext cx="666750" cy="647700"/>
          </a:xfrm>
          <a:prstGeom prst="bentConnector3">
            <a:avLst>
              <a:gd name="adj1" fmla="val 51431"/>
            </a:avLst>
          </a:prstGeom>
          <a:noFill/>
          <a:ln w="28575">
            <a:solidFill>
              <a:schemeClr val="tx1"/>
            </a:solidFill>
            <a:prstDash val="dash"/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Rectangle 61"/>
          <p:cNvSpPr>
            <a:spLocks noChangeArrowheads="1"/>
          </p:cNvSpPr>
          <p:nvPr/>
        </p:nvSpPr>
        <p:spPr bwMode="auto">
          <a:xfrm>
            <a:off x="6570370" y="1123684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zh-CN" altLang="en-US" sz="2400" b="1" dirty="0">
                <a:latin typeface="+mn-ea"/>
                <a:ea typeface="+mn-ea"/>
              </a:rPr>
              <a:t>重定位寄存器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3" name="Rectangle 62"/>
          <p:cNvSpPr>
            <a:spLocks noChangeArrowheads="1"/>
          </p:cNvSpPr>
          <p:nvPr/>
        </p:nvSpPr>
        <p:spPr bwMode="auto">
          <a:xfrm>
            <a:off x="4381500" y="1140050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zh-CN" altLang="en-US" sz="2400" b="1" dirty="0">
                <a:latin typeface="+mn-ea"/>
                <a:ea typeface="+mn-ea"/>
              </a:rPr>
              <a:t>相对地址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4" name="Rectangle 63"/>
          <p:cNvSpPr>
            <a:spLocks noChangeArrowheads="1"/>
          </p:cNvSpPr>
          <p:nvPr/>
        </p:nvSpPr>
        <p:spPr bwMode="auto">
          <a:xfrm>
            <a:off x="6332380" y="547238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zh-CN" altLang="en-US" sz="2400" b="1">
                <a:latin typeface="+mn-ea"/>
                <a:ea typeface="+mn-ea"/>
              </a:rPr>
              <a:t>存储器一侧</a:t>
            </a: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15" name="Rectangle 64"/>
          <p:cNvSpPr>
            <a:spLocks noChangeArrowheads="1"/>
          </p:cNvSpPr>
          <p:nvPr/>
        </p:nvSpPr>
        <p:spPr bwMode="auto">
          <a:xfrm>
            <a:off x="4548657" y="5472381"/>
            <a:ext cx="1447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zh-CN" altLang="en-US" sz="2400" b="1" dirty="0">
                <a:latin typeface="+mn-ea"/>
                <a:ea typeface="+mn-ea"/>
              </a:rPr>
              <a:t>处理机一侧</a:t>
            </a:r>
            <a:endParaRPr lang="zh-CN" altLang="en-US" sz="2400" b="1" dirty="0">
              <a:latin typeface="+mn-ea"/>
              <a:ea typeface="+mn-ea"/>
            </a:endParaRPr>
          </a:p>
        </p:txBody>
      </p:sp>
      <p:cxnSp>
        <p:nvCxnSpPr>
          <p:cNvPr id="16" name="AutoShape 65"/>
          <p:cNvCxnSpPr>
            <a:cxnSpLocks noChangeShapeType="1"/>
            <a:stCxn id="8" idx="2"/>
            <a:endCxn id="17" idx="0"/>
          </p:cNvCxnSpPr>
          <p:nvPr/>
        </p:nvCxnSpPr>
        <p:spPr bwMode="auto">
          <a:xfrm>
            <a:off x="7086600" y="2057400"/>
            <a:ext cx="0" cy="21717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Oval 66"/>
          <p:cNvSpPr>
            <a:spLocks noChangeArrowheads="1"/>
          </p:cNvSpPr>
          <p:nvPr/>
        </p:nvSpPr>
        <p:spPr bwMode="auto">
          <a:xfrm>
            <a:off x="6858000" y="4248150"/>
            <a:ext cx="457200" cy="457200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  <a:rou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/>
              <a:t>+</a:t>
            </a:r>
            <a:endParaRPr lang="en-US" altLang="zh-CN" sz="2400" b="1"/>
          </a:p>
        </p:txBody>
      </p:sp>
      <p:sp>
        <p:nvSpPr>
          <p:cNvPr id="18" name="Rectangle 71"/>
          <p:cNvSpPr>
            <a:spLocks noChangeArrowheads="1"/>
          </p:cNvSpPr>
          <p:nvPr/>
        </p:nvSpPr>
        <p:spPr bwMode="auto">
          <a:xfrm>
            <a:off x="2551113" y="5037138"/>
            <a:ext cx="97472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zh-CN" altLang="en-US" sz="2400" b="1" dirty="0">
                <a:latin typeface="+mn-ea"/>
                <a:ea typeface="+mn-ea"/>
              </a:rPr>
              <a:t>作业</a:t>
            </a:r>
            <a:r>
              <a:rPr lang="en-US" altLang="zh-CN" sz="2400" b="1" dirty="0">
                <a:latin typeface="+mn-ea"/>
                <a:ea typeface="+mn-ea"/>
              </a:rPr>
              <a:t>J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19" name="Rectangle 72"/>
          <p:cNvSpPr>
            <a:spLocks noChangeArrowheads="1"/>
          </p:cNvSpPr>
          <p:nvPr/>
        </p:nvSpPr>
        <p:spPr bwMode="auto">
          <a:xfrm>
            <a:off x="7797084" y="5058444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 dirty="0"/>
              <a:t>15000</a:t>
            </a:r>
            <a:endParaRPr lang="en-US" altLang="zh-CN" sz="2400" b="1" dirty="0"/>
          </a:p>
        </p:txBody>
      </p:sp>
      <p:sp>
        <p:nvSpPr>
          <p:cNvPr id="21" name="Rectangle 73"/>
          <p:cNvSpPr>
            <a:spLocks noChangeArrowheads="1"/>
          </p:cNvSpPr>
          <p:nvPr/>
        </p:nvSpPr>
        <p:spPr bwMode="auto">
          <a:xfrm>
            <a:off x="1356575" y="45720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 dirty="0"/>
              <a:t>5000</a:t>
            </a:r>
            <a:endParaRPr lang="en-US" altLang="zh-CN" sz="2400" b="1" dirty="0"/>
          </a:p>
        </p:txBody>
      </p:sp>
      <p:sp>
        <p:nvSpPr>
          <p:cNvPr id="22" name="Rectangle 74"/>
          <p:cNvSpPr>
            <a:spLocks noChangeArrowheads="1"/>
          </p:cNvSpPr>
          <p:nvPr/>
        </p:nvSpPr>
        <p:spPr bwMode="auto">
          <a:xfrm>
            <a:off x="1356575" y="20447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/>
              <a:t>100</a:t>
            </a:r>
            <a:endParaRPr lang="en-US" altLang="zh-CN" sz="2400" b="1"/>
          </a:p>
        </p:txBody>
      </p:sp>
      <p:sp>
        <p:nvSpPr>
          <p:cNvPr id="23" name="Rectangle 75"/>
          <p:cNvSpPr>
            <a:spLocks noChangeArrowheads="1"/>
          </p:cNvSpPr>
          <p:nvPr/>
        </p:nvSpPr>
        <p:spPr bwMode="auto">
          <a:xfrm>
            <a:off x="1356575" y="32766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/>
              <a:t>2500</a:t>
            </a:r>
            <a:endParaRPr lang="en-US" altLang="zh-CN" sz="2400" b="1"/>
          </a:p>
        </p:txBody>
      </p:sp>
      <p:sp>
        <p:nvSpPr>
          <p:cNvPr id="24" name="Rectangle 76"/>
          <p:cNvSpPr>
            <a:spLocks noChangeArrowheads="1"/>
          </p:cNvSpPr>
          <p:nvPr/>
        </p:nvSpPr>
        <p:spPr bwMode="auto">
          <a:xfrm>
            <a:off x="1356575" y="1539875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/>
              <a:t>0</a:t>
            </a:r>
            <a:endParaRPr lang="en-US" altLang="zh-CN" sz="2400" b="1"/>
          </a:p>
        </p:txBody>
      </p:sp>
      <p:sp>
        <p:nvSpPr>
          <p:cNvPr id="25" name="Rectangle 77"/>
          <p:cNvSpPr>
            <a:spLocks noChangeArrowheads="1"/>
          </p:cNvSpPr>
          <p:nvPr/>
        </p:nvSpPr>
        <p:spPr bwMode="auto">
          <a:xfrm>
            <a:off x="1739720" y="295275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 dirty="0"/>
              <a:t>≈</a:t>
            </a:r>
            <a:endParaRPr lang="en-US" altLang="zh-CN" sz="2400" b="1" dirty="0"/>
          </a:p>
        </p:txBody>
      </p:sp>
      <p:sp>
        <p:nvSpPr>
          <p:cNvPr id="26" name="Rectangle 78"/>
          <p:cNvSpPr>
            <a:spLocks noChangeArrowheads="1"/>
          </p:cNvSpPr>
          <p:nvPr/>
        </p:nvSpPr>
        <p:spPr bwMode="auto">
          <a:xfrm>
            <a:off x="3568520" y="295275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/>
              <a:t>≈</a:t>
            </a:r>
            <a:endParaRPr lang="en-US" altLang="zh-CN" sz="2400" b="1"/>
          </a:p>
        </p:txBody>
      </p:sp>
      <p:sp>
        <p:nvSpPr>
          <p:cNvPr id="27" name="Rectangle 79"/>
          <p:cNvSpPr>
            <a:spLocks noChangeArrowheads="1"/>
          </p:cNvSpPr>
          <p:nvPr/>
        </p:nvSpPr>
        <p:spPr bwMode="auto">
          <a:xfrm>
            <a:off x="8281116" y="356235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 dirty="0"/>
              <a:t>≈</a:t>
            </a:r>
            <a:endParaRPr lang="en-US" altLang="zh-CN" sz="2400" b="1" dirty="0"/>
          </a:p>
        </p:txBody>
      </p:sp>
      <p:sp>
        <p:nvSpPr>
          <p:cNvPr id="28" name="Rectangle 80"/>
          <p:cNvSpPr>
            <a:spLocks noChangeArrowheads="1"/>
          </p:cNvSpPr>
          <p:nvPr/>
        </p:nvSpPr>
        <p:spPr bwMode="auto">
          <a:xfrm>
            <a:off x="10624001" y="34290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 dirty="0"/>
              <a:t>≈</a:t>
            </a:r>
            <a:endParaRPr lang="en-US" altLang="zh-CN" sz="2400" b="1" dirty="0"/>
          </a:p>
        </p:txBody>
      </p:sp>
      <p:sp>
        <p:nvSpPr>
          <p:cNvPr id="29" name="Rectangle 81"/>
          <p:cNvSpPr>
            <a:spLocks noChangeArrowheads="1"/>
          </p:cNvSpPr>
          <p:nvPr/>
        </p:nvSpPr>
        <p:spPr bwMode="auto">
          <a:xfrm>
            <a:off x="7797084" y="3840318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 dirty="0"/>
              <a:t>12500</a:t>
            </a:r>
            <a:endParaRPr lang="en-US" altLang="zh-CN" sz="2400" b="1" dirty="0"/>
          </a:p>
        </p:txBody>
      </p:sp>
      <p:sp>
        <p:nvSpPr>
          <p:cNvPr id="30" name="Rectangle 82"/>
          <p:cNvSpPr>
            <a:spLocks noChangeArrowheads="1"/>
          </p:cNvSpPr>
          <p:nvPr/>
        </p:nvSpPr>
        <p:spPr bwMode="auto">
          <a:xfrm>
            <a:off x="7808889" y="2609313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/>
              <a:t>10100</a:t>
            </a:r>
            <a:endParaRPr lang="en-US" altLang="zh-CN" sz="2400" b="1"/>
          </a:p>
        </p:txBody>
      </p:sp>
      <p:sp>
        <p:nvSpPr>
          <p:cNvPr id="32" name="Rectangle 83"/>
          <p:cNvSpPr>
            <a:spLocks noChangeArrowheads="1"/>
          </p:cNvSpPr>
          <p:nvPr/>
        </p:nvSpPr>
        <p:spPr bwMode="auto">
          <a:xfrm>
            <a:off x="7808889" y="2075913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sz="2400" b="1" dirty="0"/>
              <a:t>10000</a:t>
            </a:r>
            <a:endParaRPr lang="en-US" altLang="zh-CN" sz="24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4040505" y="140970"/>
            <a:ext cx="2529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只能保证不低于首地址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xfrm>
            <a:off x="2590800" y="333375"/>
            <a:ext cx="777240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内存保护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915035" y="4797425"/>
            <a:ext cx="10276840" cy="18002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000000"/>
                </a:solidFill>
              </a:rPr>
              <a:t>当</a:t>
            </a:r>
            <a:r>
              <a:rPr lang="en-US" altLang="zh-CN" sz="2400" dirty="0">
                <a:solidFill>
                  <a:srgbClr val="000000"/>
                </a:solidFill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</a:rPr>
              <a:t>调度进程来执行时，派遣程序会初始化基址位寄存器和限长寄存器。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000000"/>
                </a:solidFill>
              </a:rPr>
              <a:t>每一个地址都需要与寄存器进行核对。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solidFill>
                  <a:srgbClr val="000000"/>
                </a:solidFill>
              </a:rPr>
              <a:t>每个逻辑地址值必须</a:t>
            </a:r>
            <a:r>
              <a:rPr lang="zh-CN" altLang="en-US" sz="2400" dirty="0">
                <a:solidFill>
                  <a:srgbClr val="FF0000"/>
                </a:solidFill>
              </a:rPr>
              <a:t>纯</a:t>
            </a:r>
            <a:r>
              <a:rPr lang="zh-CN" altLang="en-US" sz="2400" dirty="0">
                <a:solidFill>
                  <a:srgbClr val="000000"/>
                </a:solidFill>
              </a:rPr>
              <a:t>小于限长寄存器。</a:t>
            </a:r>
            <a:endParaRPr lang="zh-CN" altLang="en-US" sz="2400" dirty="0">
              <a:solidFill>
                <a:srgbClr val="000000"/>
              </a:solidFill>
            </a:endParaRPr>
          </a:p>
        </p:txBody>
      </p:sp>
      <p:grpSp>
        <p:nvGrpSpPr>
          <p:cNvPr id="39940" name="Group 4"/>
          <p:cNvGrpSpPr/>
          <p:nvPr/>
        </p:nvGrpSpPr>
        <p:grpSpPr>
          <a:xfrm>
            <a:off x="2063750" y="1773238"/>
            <a:ext cx="8353425" cy="2765425"/>
            <a:chOff x="0" y="0"/>
            <a:chExt cx="5262" cy="1742"/>
          </a:xfrm>
        </p:grpSpPr>
        <p:sp>
          <p:nvSpPr>
            <p:cNvPr id="39941" name="Rectangle 5"/>
            <p:cNvSpPr/>
            <p:nvPr/>
          </p:nvSpPr>
          <p:spPr>
            <a:xfrm>
              <a:off x="0" y="681"/>
              <a:ext cx="635" cy="363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457200" indent="-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7430" indent="-4559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703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132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sz="2400" b="1" dirty="0">
                  <a:solidFill>
                    <a:schemeClr val="bg1"/>
                  </a:solidFill>
                </a:rPr>
                <a:t>CPU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9942" name="Rectangle 6"/>
            <p:cNvSpPr/>
            <p:nvPr/>
          </p:nvSpPr>
          <p:spPr>
            <a:xfrm>
              <a:off x="1043" y="0"/>
              <a:ext cx="1406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457200" indent="-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7430" indent="-4559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703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132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chemeClr val="bg1"/>
                  </a:solidFill>
                </a:rPr>
                <a:t>限长寄存器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9943" name="Rectangle 7"/>
            <p:cNvSpPr/>
            <p:nvPr/>
          </p:nvSpPr>
          <p:spPr>
            <a:xfrm>
              <a:off x="2767" y="0"/>
              <a:ext cx="1406" cy="3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457200" indent="-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7430" indent="-4559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703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132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chemeClr val="bg1"/>
                  </a:solidFill>
                </a:rPr>
                <a:t>基址寄存器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9944" name="Rectangle 8"/>
            <p:cNvSpPr/>
            <p:nvPr/>
          </p:nvSpPr>
          <p:spPr>
            <a:xfrm>
              <a:off x="4627" y="545"/>
              <a:ext cx="635" cy="68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457200" indent="-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7430" indent="-4559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703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132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chemeClr val="bg1"/>
                  </a:solidFill>
                </a:rPr>
                <a:t>内存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9945" name="Oval 9"/>
            <p:cNvSpPr/>
            <p:nvPr/>
          </p:nvSpPr>
          <p:spPr>
            <a:xfrm>
              <a:off x="3175" y="708"/>
              <a:ext cx="453" cy="408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457200" indent="-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7430" indent="-4559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703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132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bg1"/>
                  </a:solidFill>
                </a:rPr>
                <a:t>+</a:t>
              </a:r>
              <a:endParaRPr lang="en-US" altLang="zh-CN" b="1" dirty="0">
                <a:solidFill>
                  <a:schemeClr val="bg1"/>
                </a:solidFill>
              </a:endParaRPr>
            </a:p>
          </p:txBody>
        </p:sp>
        <p:sp>
          <p:nvSpPr>
            <p:cNvPr id="39946" name="AutoShape 10"/>
            <p:cNvSpPr/>
            <p:nvPr/>
          </p:nvSpPr>
          <p:spPr>
            <a:xfrm>
              <a:off x="1451" y="635"/>
              <a:ext cx="544" cy="499"/>
            </a:xfrm>
            <a:prstGeom prst="diamond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457200" indent="-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7430" indent="-4559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703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132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bg1"/>
                  </a:solidFill>
                </a:rPr>
                <a:t>&lt;</a:t>
              </a:r>
              <a:endParaRPr lang="en-US" altLang="zh-CN" b="1" dirty="0">
                <a:solidFill>
                  <a:schemeClr val="bg1"/>
                </a:solidFill>
              </a:endParaRPr>
            </a:p>
          </p:txBody>
        </p:sp>
        <p:sp>
          <p:nvSpPr>
            <p:cNvPr id="39947" name="Line 11"/>
            <p:cNvSpPr/>
            <p:nvPr/>
          </p:nvSpPr>
          <p:spPr>
            <a:xfrm>
              <a:off x="1724" y="318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48" name="Line 12"/>
            <p:cNvSpPr/>
            <p:nvPr/>
          </p:nvSpPr>
          <p:spPr>
            <a:xfrm>
              <a:off x="635" y="862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49" name="Line 13"/>
            <p:cNvSpPr/>
            <p:nvPr/>
          </p:nvSpPr>
          <p:spPr>
            <a:xfrm>
              <a:off x="1724" y="1134"/>
              <a:ext cx="0" cy="31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50" name="Line 14"/>
            <p:cNvSpPr/>
            <p:nvPr/>
          </p:nvSpPr>
          <p:spPr>
            <a:xfrm>
              <a:off x="3447" y="318"/>
              <a:ext cx="0" cy="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51" name="Line 15"/>
            <p:cNvSpPr/>
            <p:nvPr/>
          </p:nvSpPr>
          <p:spPr>
            <a:xfrm>
              <a:off x="1996" y="862"/>
              <a:ext cx="12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52" name="Line 16"/>
            <p:cNvSpPr/>
            <p:nvPr/>
          </p:nvSpPr>
          <p:spPr>
            <a:xfrm>
              <a:off x="3674" y="862"/>
              <a:ext cx="9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53" name="Text Box 17"/>
            <p:cNvSpPr txBox="1"/>
            <p:nvPr/>
          </p:nvSpPr>
          <p:spPr>
            <a:xfrm>
              <a:off x="771" y="590"/>
              <a:ext cx="635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57200" indent="-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7430" indent="-4559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703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132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</a:rPr>
                <a:t>逻辑地址</a:t>
              </a:r>
              <a:endParaRPr lang="zh-CN" altLang="en-US" sz="2400" b="1" dirty="0">
                <a:solidFill>
                  <a:srgbClr val="000000"/>
                </a:solidFill>
              </a:endParaRPr>
            </a:p>
          </p:txBody>
        </p:sp>
        <p:sp>
          <p:nvSpPr>
            <p:cNvPr id="39954" name="Text Box 18"/>
            <p:cNvSpPr txBox="1"/>
            <p:nvPr/>
          </p:nvSpPr>
          <p:spPr>
            <a:xfrm>
              <a:off x="2222" y="590"/>
              <a:ext cx="27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57200" indent="-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7430" indent="-4559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703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132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</a:rPr>
                <a:t>是</a:t>
              </a:r>
              <a:endParaRPr lang="zh-CN" altLang="en-US" sz="2400" b="1" dirty="0">
                <a:solidFill>
                  <a:srgbClr val="000000"/>
                </a:solidFill>
              </a:endParaRPr>
            </a:p>
          </p:txBody>
        </p:sp>
        <p:sp>
          <p:nvSpPr>
            <p:cNvPr id="39955" name="Text Box 19"/>
            <p:cNvSpPr txBox="1"/>
            <p:nvPr/>
          </p:nvSpPr>
          <p:spPr>
            <a:xfrm>
              <a:off x="1724" y="1089"/>
              <a:ext cx="31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57200" indent="-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7430" indent="-4559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703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132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</a:rPr>
                <a:t>否</a:t>
              </a:r>
              <a:endParaRPr lang="zh-CN" altLang="en-US" sz="2400" b="1" dirty="0">
                <a:solidFill>
                  <a:srgbClr val="000000"/>
                </a:solidFill>
              </a:endParaRPr>
            </a:p>
          </p:txBody>
        </p:sp>
        <p:sp>
          <p:nvSpPr>
            <p:cNvPr id="39956" name="Text Box 20"/>
            <p:cNvSpPr txBox="1"/>
            <p:nvPr/>
          </p:nvSpPr>
          <p:spPr>
            <a:xfrm>
              <a:off x="3810" y="590"/>
              <a:ext cx="635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57200" indent="-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7430" indent="-4559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703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132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</a:rPr>
                <a:t>物理地址</a:t>
              </a:r>
              <a:endParaRPr lang="zh-CN" altLang="en-US" sz="2400" b="1" dirty="0">
                <a:solidFill>
                  <a:srgbClr val="000000"/>
                </a:solidFill>
              </a:endParaRPr>
            </a:p>
          </p:txBody>
        </p:sp>
        <p:sp>
          <p:nvSpPr>
            <p:cNvPr id="39957" name="Text Box 21"/>
            <p:cNvSpPr txBox="1"/>
            <p:nvPr/>
          </p:nvSpPr>
          <p:spPr>
            <a:xfrm>
              <a:off x="1315" y="1452"/>
              <a:ext cx="117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457200" indent="-4572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32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027430" indent="-4559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3703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A50021"/>
                </a:buClr>
                <a:buSzPct val="75000"/>
                <a:buFont typeface="Wingdings" panose="05000000000000000000" pitchFamily="2" charset="2"/>
                <a:buChar char="n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1323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</a:rPr>
                <a:t>地址错误</a:t>
              </a:r>
              <a:endParaRPr lang="zh-CN" altLang="en-US" sz="2400" b="1" dirty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38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charRg st="38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56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9939">
                                            <p:txEl>
                                              <p:charRg st="56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62" name="Picture 2" descr="B5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705" y="524510"/>
            <a:ext cx="8964295" cy="50787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3" name="Rectangle 3"/>
          <p:cNvSpPr/>
          <p:nvPr/>
        </p:nvSpPr>
        <p:spPr>
          <a:xfrm>
            <a:off x="3375184" y="5876767"/>
            <a:ext cx="511683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4572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7430" indent="-4559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03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32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 b="1" dirty="0">
                <a:solidFill>
                  <a:srgbClr val="0000FF"/>
                </a:solidFill>
                <a:latin typeface="Tahoma" panose="020B0604030504040204" pitchFamily="2" charset="0"/>
              </a:rPr>
              <a:t>图  动态重定位的实现过程（同时实现内存保护）</a:t>
            </a:r>
            <a:endParaRPr lang="zh-CN" altLang="en-US" sz="1800" b="1" dirty="0">
              <a:solidFill>
                <a:srgbClr val="0000FF"/>
              </a:solidFill>
              <a:latin typeface="Tahoma" panose="020B0604030504040204" pitchFamily="2" charset="0"/>
            </a:endParaRPr>
          </a:p>
        </p:txBody>
      </p:sp>
      <p:sp>
        <p:nvSpPr>
          <p:cNvPr id="40964" name="矩形标注 1"/>
          <p:cNvSpPr/>
          <p:nvPr/>
        </p:nvSpPr>
        <p:spPr>
          <a:xfrm>
            <a:off x="1558925" y="5445125"/>
            <a:ext cx="1529080" cy="431800"/>
          </a:xfrm>
          <a:prstGeom prst="wedgeRectCallout">
            <a:avLst>
              <a:gd name="adj1" fmla="val 12144"/>
              <a:gd name="adj2" fmla="val -152500"/>
            </a:avLst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>
            <a:lvl1pPr marL="4572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27430" indent="-4559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03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323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FF0000"/>
                </a:solidFill>
              </a:rPr>
              <a:t>24K-1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5.1 </a:t>
            </a:r>
            <a:r>
              <a:rPr lang="zh-CN" altLang="en-US" sz="2400" dirty="0">
                <a:latin typeface="+mj-ea"/>
                <a:ea typeface="+mj-ea"/>
              </a:rPr>
              <a:t>存储器的</a:t>
            </a:r>
            <a:r>
              <a:rPr lang="zh-CN" altLang="en-US" sz="2400" dirty="0" smtClean="0">
                <a:latin typeface="+mj-ea"/>
                <a:ea typeface="+mj-ea"/>
              </a:rPr>
              <a:t>层次结构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5.2 </a:t>
            </a:r>
            <a:r>
              <a:rPr lang="zh-CN" altLang="en-US" sz="2400" dirty="0">
                <a:latin typeface="+mj-ea"/>
              </a:rPr>
              <a:t>程序的装入和</a:t>
            </a:r>
            <a:r>
              <a:rPr lang="zh-CN" altLang="en-US" sz="2400" dirty="0" smtClean="0">
                <a:latin typeface="+mj-ea"/>
              </a:rPr>
              <a:t>链接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5.3 </a:t>
            </a:r>
            <a:r>
              <a:rPr lang="zh-CN" altLang="en-US" sz="2400" dirty="0">
                <a:latin typeface="+mj-ea"/>
              </a:rPr>
              <a:t>对换与</a:t>
            </a:r>
            <a:r>
              <a:rPr lang="zh-CN" altLang="en-US" sz="2400" dirty="0" smtClean="0">
                <a:latin typeface="+mj-ea"/>
              </a:rPr>
              <a:t>覆盖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5.4 </a:t>
            </a:r>
            <a:r>
              <a:rPr lang="zh-CN" altLang="en-US" sz="2400" dirty="0">
                <a:latin typeface="+mj-ea"/>
              </a:rPr>
              <a:t>连续分配存储管理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+mj-ea"/>
              </a:rPr>
              <a:t>5.5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分页存储管理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</a:rPr>
              <a:t>方式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5.6 </a:t>
            </a:r>
            <a:r>
              <a:rPr lang="zh-CN" altLang="en-US" sz="2400" dirty="0">
                <a:latin typeface="+mj-ea"/>
              </a:rPr>
              <a:t>分段存储管理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40217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5.7 </a:t>
            </a:r>
            <a:r>
              <a:rPr lang="zh-CN" altLang="en-US" sz="2400" dirty="0">
                <a:latin typeface="+mj-ea"/>
              </a:rPr>
              <a:t>基于</a:t>
            </a:r>
            <a:r>
              <a:rPr lang="en-US" altLang="zh-CN" sz="2400" dirty="0">
                <a:latin typeface="+mj-ea"/>
              </a:rPr>
              <a:t>IA-32/x86-64</a:t>
            </a:r>
            <a:r>
              <a:rPr lang="zh-CN" altLang="en-US" sz="2400" dirty="0">
                <a:latin typeface="+mj-ea"/>
              </a:rPr>
              <a:t>架构</a:t>
            </a:r>
            <a:endParaRPr lang="zh-CN" altLang="en-US" sz="2400" dirty="0">
              <a:latin typeface="+mj-ea"/>
            </a:endParaRPr>
          </a:p>
          <a:p>
            <a:r>
              <a:rPr lang="zh-CN" altLang="en-US" sz="2400" dirty="0">
                <a:latin typeface="+mj-ea"/>
              </a:rPr>
              <a:t>      的内存管理策略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5</a:t>
            </a:r>
            <a:r>
              <a:rPr lang="zh-CN" altLang="en-US" sz="3600" dirty="0">
                <a:solidFill>
                  <a:srgbClr val="000000"/>
                </a:solidFill>
              </a:rPr>
              <a:t>章 </a:t>
            </a:r>
            <a:r>
              <a:rPr lang="zh-CN" altLang="en-US" sz="3600" dirty="0" smtClean="0">
                <a:solidFill>
                  <a:srgbClr val="000000"/>
                </a:solidFill>
              </a:rPr>
              <a:t>   存储器管理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78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标题 82945"/>
          <p:cNvSpPr>
            <a:spLocks noGrp="1"/>
          </p:cNvSpPr>
          <p:nvPr>
            <p:ph type="title"/>
          </p:nvPr>
        </p:nvSpPr>
        <p:spPr>
          <a:xfrm>
            <a:off x="2100263" y="306388"/>
            <a:ext cx="7985125" cy="1196975"/>
          </a:xfrm>
        </p:spPr>
        <p:txBody>
          <a:bodyPr anchor="b" anchorCtr="0"/>
          <a:p>
            <a:r>
              <a:rPr lang="zh-CN" altLang="en-US" sz="3000" b="1"/>
              <a:t>页面与页表的概念</a:t>
            </a:r>
            <a:endParaRPr lang="zh-CN" altLang="en-US" sz="1900" b="1"/>
          </a:p>
        </p:txBody>
      </p:sp>
      <p:sp>
        <p:nvSpPr>
          <p:cNvPr id="6146" name="文本占位符 82946"/>
          <p:cNvSpPr>
            <a:spLocks noGrp="1"/>
          </p:cNvSpPr>
          <p:nvPr>
            <p:ph type="body" sz="half" idx="1"/>
          </p:nvPr>
        </p:nvSpPr>
        <p:spPr>
          <a:xfrm>
            <a:off x="2438400" y="2017713"/>
            <a:ext cx="7315200" cy="4114800"/>
          </a:xfrm>
        </p:spPr>
        <p:txBody>
          <a:bodyPr anchor="t" anchorCtr="0"/>
          <a:p>
            <a:pPr defTabSz="914400"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lang="en-US" altLang="zh-CN" sz="2600" b="1">
                <a:latin typeface="宋体" panose="02010600030101010101" pitchFamily="2" charset="-122"/>
              </a:rPr>
              <a:t>1. </a:t>
            </a:r>
            <a:r>
              <a:rPr lang="zh-CN" altLang="en-US" sz="2600" b="1">
                <a:latin typeface="宋体" panose="02010600030101010101" pitchFamily="2" charset="-122"/>
              </a:rPr>
              <a:t>分页存储管理的基本概念</a:t>
            </a:r>
            <a:endParaRPr lang="zh-CN" altLang="en-US" sz="2600" b="1">
              <a:latin typeface="宋体" panose="02010600030101010101" pitchFamily="2" charset="-122"/>
            </a:endParaRPr>
          </a:p>
          <a:p>
            <a:pPr defTabSz="914400"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lang="zh-CN" altLang="en-US" sz="2600" b="1">
                <a:latin typeface="宋体" panose="02010600030101010101" pitchFamily="2" charset="-122"/>
              </a:rPr>
              <a:t>（</a:t>
            </a:r>
            <a:r>
              <a:rPr lang="en-US" altLang="zh-CN" sz="2600" b="1">
                <a:latin typeface="宋体" panose="02010600030101010101" pitchFamily="2" charset="-122"/>
              </a:rPr>
              <a:t>1</a:t>
            </a:r>
            <a:r>
              <a:rPr lang="zh-CN" altLang="en-US" sz="2600" b="1">
                <a:latin typeface="宋体" panose="02010600030101010101" pitchFamily="2" charset="-122"/>
              </a:rPr>
              <a:t>）</a:t>
            </a:r>
            <a:r>
              <a:rPr lang="zh-CN" altLang="en-US" sz="2600" b="1">
                <a:solidFill>
                  <a:srgbClr val="CC0000"/>
                </a:solidFill>
                <a:latin typeface="宋体" panose="02010600030101010101" pitchFamily="2" charset="-122"/>
              </a:rPr>
              <a:t>页面</a:t>
            </a:r>
            <a:r>
              <a:rPr lang="zh-CN" altLang="en-US" sz="2600" b="1">
                <a:latin typeface="宋体" panose="02010600030101010101" pitchFamily="2" charset="-122"/>
              </a:rPr>
              <a:t>：将一个进程的逻辑地址空间分成若干个大小相等的部分，称为页面或页。编号如第</a:t>
            </a:r>
            <a:r>
              <a:rPr lang="en-US" altLang="zh-CN" sz="2600" b="1">
                <a:latin typeface="宋体" panose="02010600030101010101" pitchFamily="2" charset="-122"/>
              </a:rPr>
              <a:t>0</a:t>
            </a:r>
            <a:r>
              <a:rPr lang="zh-CN" altLang="en-US" sz="2600" b="1">
                <a:latin typeface="宋体" panose="02010600030101010101" pitchFamily="2" charset="-122"/>
              </a:rPr>
              <a:t>页，第</a:t>
            </a:r>
            <a:r>
              <a:rPr lang="en-US" altLang="zh-CN" sz="2600" b="1">
                <a:latin typeface="宋体" panose="02010600030101010101" pitchFamily="2" charset="-122"/>
              </a:rPr>
              <a:t>1</a:t>
            </a:r>
            <a:r>
              <a:rPr lang="zh-CN" altLang="en-US" sz="2600" b="1">
                <a:latin typeface="宋体" panose="02010600030101010101" pitchFamily="2" charset="-122"/>
              </a:rPr>
              <a:t>页等。</a:t>
            </a:r>
            <a:endParaRPr lang="zh-CN" altLang="en-US" sz="2600" b="1">
              <a:latin typeface="宋体" panose="02010600030101010101" pitchFamily="2" charset="-122"/>
            </a:endParaRPr>
          </a:p>
          <a:p>
            <a:pPr defTabSz="914400"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lang="zh-CN" altLang="en-US" sz="2600" b="1">
                <a:latin typeface="宋体" panose="02010600030101010101" pitchFamily="2" charset="-122"/>
                <a:sym typeface="+mn-ea"/>
              </a:rPr>
              <a:t>（</a:t>
            </a:r>
            <a:r>
              <a:rPr lang="en-US" altLang="zh-CN" sz="2600" b="1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600" b="1">
                <a:latin typeface="宋体" panose="02010600030101010101" pitchFamily="2" charset="-122"/>
                <a:sym typeface="+mn-ea"/>
              </a:rPr>
              <a:t>）</a:t>
            </a:r>
            <a:r>
              <a:rPr lang="zh-CN" altLang="en-US" sz="2600" b="1">
                <a:solidFill>
                  <a:srgbClr val="CC0000"/>
                </a:solidFill>
                <a:latin typeface="宋体" panose="02010600030101010101" pitchFamily="2" charset="-122"/>
                <a:sym typeface="+mn-ea"/>
              </a:rPr>
              <a:t>内存块</a:t>
            </a:r>
            <a:r>
              <a:rPr lang="zh-CN" altLang="en-US" sz="2600" b="1">
                <a:latin typeface="宋体" panose="02010600030101010101" pitchFamily="2" charset="-122"/>
                <a:sym typeface="+mn-ea"/>
              </a:rPr>
              <a:t>：把内存划分成与页面大小相等的存储块，称为内存块或页框。编号如</a:t>
            </a:r>
            <a:r>
              <a:rPr lang="en-US" altLang="zh-CN" sz="2600" b="1">
                <a:latin typeface="宋体" panose="02010600030101010101" pitchFamily="2" charset="-122"/>
                <a:sym typeface="+mn-ea"/>
              </a:rPr>
              <a:t>0#</a:t>
            </a:r>
            <a:r>
              <a:rPr lang="zh-CN" altLang="en-US" sz="2600" b="1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600" b="1">
                <a:latin typeface="宋体" panose="02010600030101010101" pitchFamily="2" charset="-122"/>
                <a:sym typeface="+mn-ea"/>
              </a:rPr>
              <a:t>1#</a:t>
            </a:r>
            <a:r>
              <a:rPr lang="zh-CN" altLang="en-US" sz="2600" b="1">
                <a:latin typeface="宋体" panose="02010600030101010101" pitchFamily="2" charset="-122"/>
                <a:sym typeface="+mn-ea"/>
              </a:rPr>
              <a:t>等。</a:t>
            </a:r>
            <a:endParaRPr lang="zh-CN" altLang="en-US" sz="2600" b="1">
              <a:latin typeface="宋体" panose="02010600030101010101" pitchFamily="2" charset="-122"/>
            </a:endParaRPr>
          </a:p>
          <a:p>
            <a:pPr defTabSz="914400"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lang="zh-CN" altLang="en-US" sz="26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5" name="图片 88065" descr="B5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1088" y="692150"/>
            <a:ext cx="7620000" cy="5715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6" name="矩形 88066"/>
          <p:cNvSpPr/>
          <p:nvPr/>
        </p:nvSpPr>
        <p:spPr>
          <a:xfrm>
            <a:off x="3810318" y="6490494"/>
            <a:ext cx="238379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just"/>
            <a:r>
              <a:rPr lang="zh-CN" altLang="en-US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图  分页存储管理系统</a:t>
            </a:r>
            <a:endParaRPr lang="zh-CN" altLang="en-US">
              <a:solidFill>
                <a:srgbClr val="000000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11267" name="矩形 88067"/>
          <p:cNvSpPr/>
          <p:nvPr/>
        </p:nvSpPr>
        <p:spPr>
          <a:xfrm>
            <a:off x="3536950" y="765175"/>
            <a:ext cx="4295775" cy="37306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8" name="矩形 88068"/>
          <p:cNvSpPr/>
          <p:nvPr/>
        </p:nvSpPr>
        <p:spPr>
          <a:xfrm>
            <a:off x="5016500" y="4221163"/>
            <a:ext cx="935038" cy="50323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9" name="矩形 88069"/>
          <p:cNvSpPr/>
          <p:nvPr/>
        </p:nvSpPr>
        <p:spPr>
          <a:xfrm>
            <a:off x="7848600" y="838200"/>
            <a:ext cx="1447800" cy="11430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0" name="矩形 88070"/>
          <p:cNvSpPr/>
          <p:nvPr/>
        </p:nvSpPr>
        <p:spPr>
          <a:xfrm>
            <a:off x="7848600" y="2286000"/>
            <a:ext cx="1447800" cy="3810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1" name="矩形 88071"/>
          <p:cNvSpPr/>
          <p:nvPr/>
        </p:nvSpPr>
        <p:spPr>
          <a:xfrm>
            <a:off x="7891463" y="4060825"/>
            <a:ext cx="1371600" cy="3810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2" name="矩形 88072"/>
          <p:cNvSpPr/>
          <p:nvPr/>
        </p:nvSpPr>
        <p:spPr>
          <a:xfrm>
            <a:off x="7870825" y="4789488"/>
            <a:ext cx="1425575" cy="1535112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3" name="矩形 88073"/>
          <p:cNvSpPr/>
          <p:nvPr/>
        </p:nvSpPr>
        <p:spPr>
          <a:xfrm>
            <a:off x="8077200" y="2035175"/>
            <a:ext cx="914400" cy="2286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4" name="矩形 88074"/>
          <p:cNvSpPr/>
          <p:nvPr/>
        </p:nvSpPr>
        <p:spPr>
          <a:xfrm>
            <a:off x="8131175" y="2720975"/>
            <a:ext cx="914400" cy="2286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5" name="矩形 88075"/>
          <p:cNvSpPr/>
          <p:nvPr/>
        </p:nvSpPr>
        <p:spPr>
          <a:xfrm>
            <a:off x="8150225" y="3048000"/>
            <a:ext cx="914400" cy="2286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6" name="矩形 88076"/>
          <p:cNvSpPr/>
          <p:nvPr/>
        </p:nvSpPr>
        <p:spPr>
          <a:xfrm>
            <a:off x="8069263" y="3397250"/>
            <a:ext cx="1063625" cy="206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7" name="矩形 88077"/>
          <p:cNvSpPr/>
          <p:nvPr/>
        </p:nvSpPr>
        <p:spPr>
          <a:xfrm>
            <a:off x="8121650" y="3771900"/>
            <a:ext cx="1063625" cy="206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8" name="矩形 88078"/>
          <p:cNvSpPr/>
          <p:nvPr/>
        </p:nvSpPr>
        <p:spPr>
          <a:xfrm>
            <a:off x="8085138" y="4479925"/>
            <a:ext cx="1063625" cy="206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9" name="直接连接符 88079"/>
          <p:cNvSpPr/>
          <p:nvPr/>
        </p:nvSpPr>
        <p:spPr>
          <a:xfrm>
            <a:off x="2590800" y="3276600"/>
            <a:ext cx="914400" cy="0"/>
          </a:xfrm>
          <a:prstGeom prst="line">
            <a:avLst/>
          </a:prstGeom>
          <a:ln w="158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280" name="矩形 88080"/>
          <p:cNvSpPr/>
          <p:nvPr/>
        </p:nvSpPr>
        <p:spPr>
          <a:xfrm>
            <a:off x="2438400" y="3297238"/>
            <a:ext cx="1371600" cy="14271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81" name="文本框 88081"/>
          <p:cNvSpPr txBox="1"/>
          <p:nvPr/>
        </p:nvSpPr>
        <p:spPr>
          <a:xfrm>
            <a:off x="2797175" y="2971800"/>
            <a:ext cx="533400" cy="30670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 </a:t>
            </a:r>
            <a:r>
              <a: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页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82" name="文本框 88082"/>
          <p:cNvSpPr txBox="1"/>
          <p:nvPr/>
        </p:nvSpPr>
        <p:spPr>
          <a:xfrm>
            <a:off x="2362200" y="3505200"/>
            <a:ext cx="18288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进程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地址空间</a:t>
            </a: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89" name="图片 89089" descr="B5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200" y="685800"/>
            <a:ext cx="7620000" cy="5715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0" name="矩形 89090"/>
          <p:cNvSpPr/>
          <p:nvPr/>
        </p:nvSpPr>
        <p:spPr>
          <a:xfrm>
            <a:off x="4114800" y="5928361"/>
            <a:ext cx="2971800" cy="39878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just"/>
            <a:r>
              <a:rPr lang="zh-CN" altLang="en-US" sz="20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图</a:t>
            </a:r>
            <a:r>
              <a:rPr lang="en-US" altLang="zh-CN" sz="2000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2</a:t>
            </a:r>
            <a:r>
              <a:rPr lang="en-US" altLang="zh-CN" sz="20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 </a:t>
            </a:r>
            <a:r>
              <a:rPr lang="zh-CN" altLang="en-US" sz="20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分页存储管理系统</a:t>
            </a:r>
            <a:endParaRPr lang="zh-CN" altLang="en-US" sz="2000" b="1">
              <a:solidFill>
                <a:srgbClr val="000000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12291" name="矩形 89091"/>
          <p:cNvSpPr/>
          <p:nvPr/>
        </p:nvSpPr>
        <p:spPr>
          <a:xfrm>
            <a:off x="3581400" y="838200"/>
            <a:ext cx="4206875" cy="35242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2" name="矩形 89092"/>
          <p:cNvSpPr/>
          <p:nvPr/>
        </p:nvSpPr>
        <p:spPr>
          <a:xfrm>
            <a:off x="5029200" y="4191000"/>
            <a:ext cx="935038" cy="5032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3" name="直接连接符 89093"/>
          <p:cNvSpPr/>
          <p:nvPr/>
        </p:nvSpPr>
        <p:spPr>
          <a:xfrm>
            <a:off x="3505200" y="1371600"/>
            <a:ext cx="4321175" cy="719138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294" name="直接连接符 89094"/>
          <p:cNvSpPr/>
          <p:nvPr/>
        </p:nvSpPr>
        <p:spPr>
          <a:xfrm>
            <a:off x="3505200" y="1752600"/>
            <a:ext cx="4343400" cy="99060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295" name="直接连接符 89095"/>
          <p:cNvSpPr/>
          <p:nvPr/>
        </p:nvSpPr>
        <p:spPr>
          <a:xfrm>
            <a:off x="3505200" y="2057400"/>
            <a:ext cx="4392613" cy="1008063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296" name="直接连接符 89096"/>
          <p:cNvSpPr/>
          <p:nvPr/>
        </p:nvSpPr>
        <p:spPr>
          <a:xfrm>
            <a:off x="3505200" y="2438400"/>
            <a:ext cx="4419600" cy="205740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297" name="直接连接符 89097"/>
          <p:cNvSpPr/>
          <p:nvPr/>
        </p:nvSpPr>
        <p:spPr>
          <a:xfrm>
            <a:off x="3505200" y="2743200"/>
            <a:ext cx="4392613" cy="1160463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298" name="直接连接符 89098"/>
          <p:cNvSpPr/>
          <p:nvPr/>
        </p:nvSpPr>
        <p:spPr>
          <a:xfrm>
            <a:off x="3505200" y="3124200"/>
            <a:ext cx="4391025" cy="376238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299" name="直接连接符 89099"/>
          <p:cNvSpPr/>
          <p:nvPr/>
        </p:nvSpPr>
        <p:spPr>
          <a:xfrm>
            <a:off x="2590800" y="3276600"/>
            <a:ext cx="914400" cy="0"/>
          </a:xfrm>
          <a:prstGeom prst="line">
            <a:avLst/>
          </a:prstGeom>
          <a:ln w="158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300" name="文本框 89100"/>
          <p:cNvSpPr txBox="1"/>
          <p:nvPr/>
        </p:nvSpPr>
        <p:spPr>
          <a:xfrm>
            <a:off x="2797175" y="2971800"/>
            <a:ext cx="533400" cy="30670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 </a:t>
            </a:r>
            <a:r>
              <a: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页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1" name="矩形 89101"/>
          <p:cNvSpPr/>
          <p:nvPr/>
        </p:nvSpPr>
        <p:spPr>
          <a:xfrm>
            <a:off x="2438400" y="3297238"/>
            <a:ext cx="1371600" cy="14271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2" name="文本框 89102"/>
          <p:cNvSpPr txBox="1"/>
          <p:nvPr/>
        </p:nvSpPr>
        <p:spPr>
          <a:xfrm>
            <a:off x="2362200" y="3505200"/>
            <a:ext cx="182880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进程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地址空间</a:t>
            </a:r>
            <a:endParaRPr lang="zh-CN" altLang="en-US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3" name="文本框 89103"/>
          <p:cNvSpPr txBox="1"/>
          <p:nvPr/>
        </p:nvSpPr>
        <p:spPr>
          <a:xfrm>
            <a:off x="8599488" y="3352800"/>
            <a:ext cx="533400" cy="30670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 </a:t>
            </a:r>
            <a:r>
              <a:rPr lang="zh-CN" altLang="en-US" sz="1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页</a:t>
            </a:r>
            <a:endParaRPr lang="zh-CN" altLang="en-US" sz="14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4" name="矩形 89104"/>
          <p:cNvSpPr/>
          <p:nvPr/>
        </p:nvSpPr>
        <p:spPr>
          <a:xfrm>
            <a:off x="7848600" y="838200"/>
            <a:ext cx="1447800" cy="11430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5" name="矩形 89105"/>
          <p:cNvSpPr/>
          <p:nvPr/>
        </p:nvSpPr>
        <p:spPr>
          <a:xfrm>
            <a:off x="7848600" y="2286000"/>
            <a:ext cx="1447800" cy="3810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6" name="矩形 89106"/>
          <p:cNvSpPr/>
          <p:nvPr/>
        </p:nvSpPr>
        <p:spPr>
          <a:xfrm>
            <a:off x="7848600" y="4038600"/>
            <a:ext cx="1447800" cy="3810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7" name="矩形 89107"/>
          <p:cNvSpPr/>
          <p:nvPr/>
        </p:nvSpPr>
        <p:spPr>
          <a:xfrm>
            <a:off x="7848600" y="4800600"/>
            <a:ext cx="1425575" cy="1535113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08" name="直接连接符 89108"/>
          <p:cNvSpPr/>
          <p:nvPr/>
        </p:nvSpPr>
        <p:spPr>
          <a:xfrm>
            <a:off x="3505200" y="2438400"/>
            <a:ext cx="4419600" cy="205740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309" name="直接连接符 89109"/>
          <p:cNvSpPr/>
          <p:nvPr/>
        </p:nvSpPr>
        <p:spPr>
          <a:xfrm>
            <a:off x="3505200" y="2743200"/>
            <a:ext cx="4392613" cy="1160463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310" name="直接连接符 89110"/>
          <p:cNvSpPr/>
          <p:nvPr/>
        </p:nvSpPr>
        <p:spPr>
          <a:xfrm>
            <a:off x="3505200" y="3124200"/>
            <a:ext cx="4391025" cy="376238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311" name="直接连接符 89111"/>
          <p:cNvSpPr/>
          <p:nvPr/>
        </p:nvSpPr>
        <p:spPr>
          <a:xfrm>
            <a:off x="3505200" y="2438400"/>
            <a:ext cx="4419600" cy="205740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312" name="直接连接符 89112"/>
          <p:cNvSpPr/>
          <p:nvPr/>
        </p:nvSpPr>
        <p:spPr>
          <a:xfrm>
            <a:off x="3505200" y="2743200"/>
            <a:ext cx="4392613" cy="1160463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313" name="直接连接符 89113"/>
          <p:cNvSpPr/>
          <p:nvPr/>
        </p:nvSpPr>
        <p:spPr>
          <a:xfrm>
            <a:off x="3505200" y="2057400"/>
            <a:ext cx="4392613" cy="1008063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314" name="直接连接符 89114"/>
          <p:cNvSpPr/>
          <p:nvPr/>
        </p:nvSpPr>
        <p:spPr>
          <a:xfrm>
            <a:off x="3505200" y="3124200"/>
            <a:ext cx="4391025" cy="376238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315" name="直接连接符 89115"/>
          <p:cNvSpPr/>
          <p:nvPr/>
        </p:nvSpPr>
        <p:spPr>
          <a:xfrm>
            <a:off x="3505200" y="2438400"/>
            <a:ext cx="4419600" cy="205740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316" name="直接连接符 89116"/>
          <p:cNvSpPr/>
          <p:nvPr/>
        </p:nvSpPr>
        <p:spPr>
          <a:xfrm>
            <a:off x="3505200" y="2743200"/>
            <a:ext cx="4392613" cy="1160463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317" name="直接连接符 89117"/>
          <p:cNvSpPr/>
          <p:nvPr/>
        </p:nvSpPr>
        <p:spPr>
          <a:xfrm>
            <a:off x="3505200" y="1752600"/>
            <a:ext cx="4343400" cy="99060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318" name="直接连接符 89118"/>
          <p:cNvSpPr/>
          <p:nvPr/>
        </p:nvSpPr>
        <p:spPr>
          <a:xfrm>
            <a:off x="3505200" y="2057400"/>
            <a:ext cx="4392613" cy="1008063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319" name="直接连接符 89119"/>
          <p:cNvSpPr/>
          <p:nvPr/>
        </p:nvSpPr>
        <p:spPr>
          <a:xfrm>
            <a:off x="3505200" y="3124200"/>
            <a:ext cx="4391025" cy="376238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320" name="直接连接符 89120"/>
          <p:cNvSpPr/>
          <p:nvPr/>
        </p:nvSpPr>
        <p:spPr>
          <a:xfrm>
            <a:off x="3505200" y="2438400"/>
            <a:ext cx="4419600" cy="2057400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sp>
        <p:nvSpPr>
          <p:cNvPr id="12321" name="直接连接符 89121"/>
          <p:cNvSpPr/>
          <p:nvPr/>
        </p:nvSpPr>
        <p:spPr>
          <a:xfrm>
            <a:off x="3505200" y="2743200"/>
            <a:ext cx="4392613" cy="1160463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lg" len="lg"/>
          </a:ln>
        </p:spPr>
      </p:sp>
      <p:grpSp>
        <p:nvGrpSpPr>
          <p:cNvPr id="12322" name="组合 89122"/>
          <p:cNvGrpSpPr/>
          <p:nvPr/>
        </p:nvGrpSpPr>
        <p:grpSpPr>
          <a:xfrm>
            <a:off x="3505200" y="1371600"/>
            <a:ext cx="4419600" cy="3124200"/>
            <a:chOff x="0" y="0"/>
            <a:chExt cx="2784" cy="1968"/>
          </a:xfrm>
        </p:grpSpPr>
        <p:sp>
          <p:nvSpPr>
            <p:cNvPr id="12323" name="直接连接符 89123"/>
            <p:cNvSpPr/>
            <p:nvPr/>
          </p:nvSpPr>
          <p:spPr>
            <a:xfrm>
              <a:off x="0" y="0"/>
              <a:ext cx="2722" cy="453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2324" name="直接连接符 89124"/>
            <p:cNvSpPr/>
            <p:nvPr/>
          </p:nvSpPr>
          <p:spPr>
            <a:xfrm>
              <a:off x="0" y="240"/>
              <a:ext cx="2736" cy="624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2325" name="直接连接符 89125"/>
            <p:cNvSpPr/>
            <p:nvPr/>
          </p:nvSpPr>
          <p:spPr>
            <a:xfrm>
              <a:off x="0" y="432"/>
              <a:ext cx="2767" cy="63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2326" name="直接连接符 89126"/>
            <p:cNvSpPr/>
            <p:nvPr/>
          </p:nvSpPr>
          <p:spPr>
            <a:xfrm>
              <a:off x="0" y="1104"/>
              <a:ext cx="2766" cy="23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2327" name="直接连接符 89127"/>
            <p:cNvSpPr/>
            <p:nvPr/>
          </p:nvSpPr>
          <p:spPr>
            <a:xfrm>
              <a:off x="0" y="672"/>
              <a:ext cx="2784" cy="1296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12328" name="直接连接符 89128"/>
            <p:cNvSpPr/>
            <p:nvPr/>
          </p:nvSpPr>
          <p:spPr>
            <a:xfrm>
              <a:off x="0" y="864"/>
              <a:ext cx="2767" cy="73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lg" len="lg"/>
            </a:ln>
          </p:spPr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标题 87041"/>
          <p:cNvSpPr>
            <a:spLocks noGrp="1"/>
          </p:cNvSpPr>
          <p:nvPr>
            <p:ph type="title"/>
          </p:nvPr>
        </p:nvSpPr>
        <p:spPr>
          <a:xfrm>
            <a:off x="2100263" y="306388"/>
            <a:ext cx="7985125" cy="1196975"/>
          </a:xfrm>
        </p:spPr>
        <p:txBody>
          <a:bodyPr anchor="b" anchorCtr="0"/>
          <a:p>
            <a:r>
              <a:rPr lang="en-US" altLang="zh-CN" sz="3000"/>
              <a:t> </a:t>
            </a:r>
            <a:r>
              <a:rPr lang="zh-CN" altLang="en-US" sz="3000" b="1"/>
              <a:t>页面与页表的概念</a:t>
            </a:r>
            <a:endParaRPr lang="zh-CN" altLang="en-US" sz="3000" b="1"/>
          </a:p>
        </p:txBody>
      </p:sp>
      <p:sp>
        <p:nvSpPr>
          <p:cNvPr id="10242" name="文本占位符 87042"/>
          <p:cNvSpPr>
            <a:spLocks noGrp="1"/>
          </p:cNvSpPr>
          <p:nvPr>
            <p:ph type="body" sz="half" idx="1"/>
          </p:nvPr>
        </p:nvSpPr>
        <p:spPr>
          <a:xfrm>
            <a:off x="1496695" y="1828800"/>
            <a:ext cx="9416415" cy="4258945"/>
          </a:xfrm>
        </p:spPr>
        <p:txBody>
          <a:bodyPr anchor="t" anchorCtr="0">
            <a:normAutofit fontScale="70000"/>
          </a:bodyPr>
          <a:p>
            <a:pPr defTabSz="914400"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lang="en-US" altLang="zh-CN" sz="2600" b="1">
                <a:latin typeface="宋体" panose="02010600030101010101" pitchFamily="2" charset="-122"/>
              </a:rPr>
              <a:t>1. </a:t>
            </a:r>
            <a:r>
              <a:rPr lang="zh-CN" altLang="en-US" sz="2600" b="1">
                <a:latin typeface="宋体" panose="02010600030101010101" pitchFamily="2" charset="-122"/>
              </a:rPr>
              <a:t>分页存储管理的基本概念</a:t>
            </a:r>
            <a:endParaRPr lang="zh-CN" altLang="en-US" sz="2600" b="1">
              <a:latin typeface="宋体" panose="02010600030101010101" pitchFamily="2" charset="-122"/>
            </a:endParaRPr>
          </a:p>
          <a:p>
            <a:pPr defTabSz="914400" fontAlgn="auto"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lang="zh-CN" altLang="en-US" sz="2600" b="1">
                <a:solidFill>
                  <a:srgbClr val="969696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600" b="1">
                <a:solidFill>
                  <a:srgbClr val="969696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600" b="1">
                <a:solidFill>
                  <a:srgbClr val="969696"/>
                </a:solidFill>
                <a:latin typeface="宋体" panose="02010600030101010101" pitchFamily="2" charset="-122"/>
              </a:rPr>
              <a:t>）页面</a:t>
            </a:r>
            <a:endParaRPr lang="zh-CN" altLang="en-US" sz="2600" b="1">
              <a:solidFill>
                <a:srgbClr val="969696"/>
              </a:solidFill>
              <a:latin typeface="宋体" panose="02010600030101010101" pitchFamily="2" charset="-122"/>
            </a:endParaRPr>
          </a:p>
          <a:p>
            <a:pPr defTabSz="914400" fontAlgn="auto"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lang="zh-CN" altLang="en-US" sz="2600" b="1">
                <a:solidFill>
                  <a:srgbClr val="969696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600" b="1">
                <a:solidFill>
                  <a:srgbClr val="969696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600" b="1">
                <a:solidFill>
                  <a:srgbClr val="969696"/>
                </a:solidFill>
                <a:latin typeface="宋体" panose="02010600030101010101" pitchFamily="2" charset="-122"/>
              </a:rPr>
              <a:t>）内存块</a:t>
            </a:r>
            <a:endParaRPr lang="zh-CN" altLang="en-US" sz="2600" b="1">
              <a:solidFill>
                <a:srgbClr val="969696"/>
              </a:solidFill>
              <a:latin typeface="宋体" panose="02010600030101010101" pitchFamily="2" charset="-122"/>
            </a:endParaRPr>
          </a:p>
          <a:p>
            <a:pPr defTabSz="914400" fontAlgn="auto">
              <a:lnSpc>
                <a:spcPct val="120000"/>
              </a:lnSpc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lang="zh-CN" altLang="en-US" sz="2600" b="1">
                <a:latin typeface="宋体" panose="02010600030101010101" pitchFamily="2" charset="-122"/>
              </a:rPr>
              <a:t>（</a:t>
            </a:r>
            <a:r>
              <a:rPr lang="en-US" altLang="zh-CN" sz="2600" b="1">
                <a:latin typeface="宋体" panose="02010600030101010101" pitchFamily="2" charset="-122"/>
              </a:rPr>
              <a:t>3</a:t>
            </a:r>
            <a:r>
              <a:rPr lang="zh-CN" altLang="en-US" sz="2600" b="1">
                <a:latin typeface="宋体" panose="02010600030101010101" pitchFamily="2" charset="-122"/>
              </a:rPr>
              <a:t>）</a:t>
            </a:r>
            <a:r>
              <a:rPr lang="zh-CN" altLang="en-US" sz="2600" b="1">
                <a:solidFill>
                  <a:srgbClr val="CC0000"/>
                </a:solidFill>
                <a:latin typeface="宋体" panose="02010600030101010101" pitchFamily="2" charset="-122"/>
              </a:rPr>
              <a:t>内存分配</a:t>
            </a:r>
            <a:r>
              <a:rPr lang="zh-CN" altLang="en-US" sz="2600" b="1">
                <a:latin typeface="宋体" panose="02010600030101010101" pitchFamily="2" charset="-122"/>
              </a:rPr>
              <a:t>：把一个进程页面分别装入到一些物理上不连续的内存块中。进程的每个页面对应某一个内存块。</a:t>
            </a:r>
            <a:endParaRPr lang="zh-CN" altLang="en-US" sz="2600" b="1">
              <a:latin typeface="宋体" panose="02010600030101010101" pitchFamily="2" charset="-122"/>
            </a:endParaRPr>
          </a:p>
          <a:p>
            <a:pPr defTabSz="914400">
              <a:buClr>
                <a:schemeClr val="accent2"/>
              </a:buClr>
              <a:buSzTx/>
              <a:buFont typeface="Wingdings" panose="05000000000000000000" pitchFamily="2" charset="2"/>
            </a:pPr>
            <a:r>
              <a:rPr lang="en-US" altLang="zh-CN" sz="2600">
                <a:sym typeface="+mn-ea"/>
              </a:rPr>
              <a:t>2.  </a:t>
            </a:r>
            <a:r>
              <a:rPr lang="zh-CN" altLang="en-US" sz="2600" b="1">
                <a:solidFill>
                  <a:schemeClr val="accent2"/>
                </a:solidFill>
                <a:sym typeface="+mn-ea"/>
              </a:rPr>
              <a:t>页表</a:t>
            </a:r>
            <a:endParaRPr lang="zh-CN" altLang="en-US" sz="2600" b="1">
              <a:solidFill>
                <a:schemeClr val="accent2"/>
              </a:solidFill>
            </a:endParaRPr>
          </a:p>
          <a:p>
            <a:pPr defTabSz="914400"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600" b="1">
                <a:sym typeface="+mn-ea"/>
              </a:rPr>
              <a:t>        系统为</a:t>
            </a:r>
            <a:r>
              <a:rPr lang="zh-CN" altLang="en-US" sz="2600" b="1">
                <a:solidFill>
                  <a:srgbClr val="FF0000"/>
                </a:solidFill>
                <a:sym typeface="+mn-ea"/>
              </a:rPr>
              <a:t>每一个</a:t>
            </a:r>
            <a:r>
              <a:rPr lang="zh-CN" altLang="en-US" sz="2600" b="1">
                <a:sym typeface="+mn-ea"/>
              </a:rPr>
              <a:t>进程在</a:t>
            </a:r>
            <a:r>
              <a:rPr lang="zh-CN" altLang="en-US" sz="2600" b="1">
                <a:solidFill>
                  <a:schemeClr val="accent2"/>
                </a:solidFill>
                <a:sym typeface="+mn-ea"/>
              </a:rPr>
              <a:t>内存</a:t>
            </a:r>
            <a:r>
              <a:rPr lang="zh-CN" altLang="en-US" sz="2600" b="1">
                <a:sym typeface="+mn-ea"/>
              </a:rPr>
              <a:t>中建立了一张</a:t>
            </a:r>
            <a:r>
              <a:rPr lang="zh-CN" altLang="en-US" sz="2600" b="1">
                <a:solidFill>
                  <a:schemeClr val="accent2"/>
                </a:solidFill>
                <a:sym typeface="+mn-ea"/>
              </a:rPr>
              <a:t>页面映像表</a:t>
            </a:r>
            <a:r>
              <a:rPr lang="zh-CN" altLang="en-US" sz="2600" b="1">
                <a:sym typeface="+mn-ea"/>
              </a:rPr>
              <a:t>；</a:t>
            </a:r>
            <a:endParaRPr lang="zh-CN" altLang="en-US" sz="2600" b="1"/>
          </a:p>
          <a:p>
            <a:pPr defTabSz="914400"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600" b="1">
                <a:sym typeface="+mn-ea"/>
              </a:rPr>
              <a:t>        作用</a:t>
            </a:r>
            <a:r>
              <a:rPr lang="en-US" altLang="zh-CN" sz="2600" b="1">
                <a:sym typeface="+mn-ea"/>
              </a:rPr>
              <a:t>:</a:t>
            </a:r>
            <a:r>
              <a:rPr lang="zh-CN" altLang="en-US" sz="2600" b="1">
                <a:sym typeface="+mn-ea"/>
              </a:rPr>
              <a:t>表示</a:t>
            </a:r>
            <a:r>
              <a:rPr lang="zh-CN" altLang="en-US" sz="2600" b="1">
                <a:solidFill>
                  <a:srgbClr val="CC0000"/>
                </a:solidFill>
                <a:sym typeface="+mn-ea"/>
              </a:rPr>
              <a:t>页号</a:t>
            </a:r>
            <a:r>
              <a:rPr lang="zh-CN" altLang="en-US" sz="2600" b="1">
                <a:sym typeface="+mn-ea"/>
              </a:rPr>
              <a:t>到</a:t>
            </a:r>
            <a:r>
              <a:rPr lang="zh-CN" altLang="en-US" sz="2600" b="1">
                <a:solidFill>
                  <a:srgbClr val="CC0000"/>
                </a:solidFill>
                <a:sym typeface="+mn-ea"/>
              </a:rPr>
              <a:t>物理块号</a:t>
            </a:r>
            <a:r>
              <a:rPr lang="zh-CN" altLang="en-US" sz="2600" b="1">
                <a:sym typeface="+mn-ea"/>
              </a:rPr>
              <a:t>的</a:t>
            </a:r>
            <a:r>
              <a:rPr lang="zh-CN" altLang="en-US" sz="2600" b="1">
                <a:solidFill>
                  <a:srgbClr val="CC0000"/>
                </a:solidFill>
                <a:sym typeface="+mn-ea"/>
              </a:rPr>
              <a:t>地址映射。</a:t>
            </a:r>
            <a:endParaRPr lang="zh-CN" altLang="en-US" sz="2600" b="1">
              <a:solidFill>
                <a:srgbClr val="CC0000"/>
              </a:solidFill>
              <a:sym typeface="+mn-ea"/>
            </a:endParaRPr>
          </a:p>
          <a:p>
            <a:pPr defTabSz="914400" fontAlgn="auto">
              <a:lnSpc>
                <a:spcPct val="120000"/>
              </a:lnSpc>
              <a:buClr>
                <a:schemeClr val="accent2"/>
              </a:buClr>
              <a:buSzTx/>
            </a:pPr>
            <a:r>
              <a:rPr lang="en-US" altLang="zh-CN" sz="2600" b="1">
                <a:solidFill>
                  <a:srgbClr val="CC0000"/>
                </a:solidFill>
                <a:sym typeface="+mn-ea"/>
              </a:rPr>
              <a:t>3.</a:t>
            </a:r>
            <a:r>
              <a:rPr lang="zh-CN" altLang="en-US" sz="2600" b="1">
                <a:solidFill>
                  <a:srgbClr val="CC0000"/>
                </a:solidFill>
                <a:sym typeface="+mn-ea"/>
              </a:rPr>
              <a:t>内存块表：</a:t>
            </a:r>
            <a:r>
              <a:rPr lang="zh-CN" altLang="en-US" sz="2600" b="1">
                <a:solidFill>
                  <a:srgbClr val="000000"/>
                </a:solidFill>
                <a:sym typeface="+mn-ea"/>
              </a:rPr>
              <a:t>整个系统有一个</a:t>
            </a:r>
            <a:r>
              <a:rPr lang="zh-CN" altLang="en-US" sz="2600" b="1">
                <a:solidFill>
                  <a:schemeClr val="accent2"/>
                </a:solidFill>
                <a:sym typeface="+mn-ea"/>
              </a:rPr>
              <a:t>内存块表</a:t>
            </a:r>
            <a:r>
              <a:rPr lang="zh-CN" altLang="en-US" sz="2600" b="1">
                <a:solidFill>
                  <a:srgbClr val="000000"/>
                </a:solidFill>
                <a:sym typeface="+mn-ea"/>
              </a:rPr>
              <a:t>。每个内存块在内存块表中占一项，表明该块当前空闲还是已分出去了。</a:t>
            </a:r>
            <a:endParaRPr lang="zh-CN" altLang="en-US" sz="2600" b="1">
              <a:solidFill>
                <a:srgbClr val="000000"/>
              </a:solidFill>
            </a:endParaRPr>
          </a:p>
          <a:p>
            <a:pPr defTabSz="914400"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lang="zh-CN" altLang="en-US" sz="2600" b="1">
              <a:latin typeface="宋体" panose="02010600030101010101" pitchFamily="2" charset="-122"/>
            </a:endParaRPr>
          </a:p>
          <a:p>
            <a:pPr defTabSz="914400"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lang="zh-CN" altLang="en-US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标题 93185"/>
          <p:cNvSpPr>
            <a:spLocks noGrp="1"/>
          </p:cNvSpPr>
          <p:nvPr>
            <p:ph type="title"/>
          </p:nvPr>
        </p:nvSpPr>
        <p:spPr/>
        <p:txBody>
          <a:bodyPr anchor="b" anchorCtr="0"/>
          <a:p>
            <a:endParaRPr lang="zh-CN" altLang="en-US"/>
          </a:p>
        </p:txBody>
      </p:sp>
      <p:pic>
        <p:nvPicPr>
          <p:cNvPr id="16386" name="Picture 6" descr="B51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67000" y="304800"/>
            <a:ext cx="7391400" cy="6059488"/>
          </a:xfrm>
        </p:spPr>
      </p:pic>
      <p:sp>
        <p:nvSpPr>
          <p:cNvPr id="16387" name="矩形 93187"/>
          <p:cNvSpPr/>
          <p:nvPr/>
        </p:nvSpPr>
        <p:spPr>
          <a:xfrm>
            <a:off x="3657600" y="5842000"/>
            <a:ext cx="2743200" cy="398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000" b="1">
                <a:latin typeface="Tahoma" panose="020B0604030504040204" pitchFamily="2" charset="0"/>
                <a:ea typeface="宋体" panose="02010600030101010101" pitchFamily="2" charset="-122"/>
              </a:rPr>
              <a:t>图</a:t>
            </a:r>
            <a:r>
              <a:rPr lang="en-US" altLang="zh-CN" sz="2000" b="1">
                <a:latin typeface="Tahoma" panose="020B0604030504040204" pitchFamily="2" charset="0"/>
                <a:ea typeface="宋体" panose="02010600030101010101" pitchFamily="2" charset="-122"/>
              </a:rPr>
              <a:t>5  </a:t>
            </a:r>
            <a:r>
              <a:rPr lang="zh-CN" altLang="en-US" sz="2000" b="1">
                <a:latin typeface="Tahoma" panose="020B0604030504040204" pitchFamily="2" charset="0"/>
                <a:ea typeface="宋体" panose="02010600030101010101" pitchFamily="2" charset="-122"/>
              </a:rPr>
              <a:t>页表的作用</a:t>
            </a:r>
            <a:endParaRPr lang="zh-CN" altLang="en-US" sz="2000" b="1"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93189" name="圆角矩形 93188"/>
          <p:cNvSpPr/>
          <p:nvPr/>
        </p:nvSpPr>
        <p:spPr>
          <a:xfrm>
            <a:off x="4800600" y="381000"/>
            <a:ext cx="1752600" cy="4191000"/>
          </a:xfrm>
          <a:prstGeom prst="roundRect">
            <a:avLst>
              <a:gd name="adj" fmla="val 16667"/>
            </a:avLst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190" name="圆角矩形 93189"/>
          <p:cNvSpPr/>
          <p:nvPr/>
        </p:nvSpPr>
        <p:spPr>
          <a:xfrm>
            <a:off x="2209800" y="5486400"/>
            <a:ext cx="8229600" cy="8382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800" b="1">
                <a:solidFill>
                  <a:srgbClr val="CC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思考</a:t>
            </a:r>
            <a:r>
              <a:rPr lang="en-US" altLang="zh-CN" sz="2800" b="1">
                <a:solidFill>
                  <a:srgbClr val="CC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: </a:t>
            </a:r>
            <a:r>
              <a:rPr lang="en-US" altLang="zh-CN" sz="2800" b="1">
                <a:latin typeface="Tahoma" panose="020B0604030504040204" pitchFamily="2" charset="0"/>
                <a:ea typeface="宋体" panose="02010600030101010101" pitchFamily="2" charset="-122"/>
              </a:rPr>
              <a:t>CPU</a:t>
            </a:r>
            <a:r>
              <a:rPr lang="zh-CN" altLang="en-US" sz="2800" b="1">
                <a:latin typeface="Tahoma" panose="020B0604030504040204" pitchFamily="2" charset="0"/>
                <a:ea typeface="宋体" panose="02010600030101010101" pitchFamily="2" charset="-122"/>
              </a:rPr>
              <a:t>每次存取一个数据</a:t>
            </a:r>
            <a:r>
              <a:rPr lang="en-US" altLang="zh-CN" sz="2800" b="1">
                <a:latin typeface="Tahoma" panose="020B0604030504040204" pitchFamily="2" charset="0"/>
                <a:ea typeface="宋体" panose="02010600030101010101" pitchFamily="2" charset="-122"/>
              </a:rPr>
              <a:t>,</a:t>
            </a:r>
            <a:r>
              <a:rPr lang="zh-CN" altLang="en-US" sz="2800" b="1">
                <a:latin typeface="Tahoma" panose="020B0604030504040204" pitchFamily="2" charset="0"/>
                <a:ea typeface="宋体" panose="02010600030101010101" pitchFamily="2" charset="-122"/>
              </a:rPr>
              <a:t>访问内存几次</a:t>
            </a:r>
            <a:r>
              <a:rPr lang="en-US" altLang="zh-CN" sz="2800" b="1">
                <a:latin typeface="Tahoma" panose="020B0604030504040204" pitchFamily="2" charset="0"/>
                <a:ea typeface="宋体" panose="02010600030101010101" pitchFamily="2" charset="-122"/>
              </a:rPr>
              <a:t>.</a:t>
            </a:r>
            <a:r>
              <a:rPr lang="zh-CN" altLang="en-US" sz="2800" b="1">
                <a:latin typeface="Tahoma" panose="020B0604030504040204" pitchFamily="2" charset="0"/>
                <a:ea typeface="宋体" panose="02010600030101010101" pitchFamily="2" charset="-122"/>
              </a:rPr>
              <a:t>（</a:t>
            </a:r>
            <a:r>
              <a:rPr lang="en-US" altLang="zh-CN" sz="2800" b="1">
                <a:latin typeface="Tahoma" panose="020B0604030504040204" pitchFamily="2" charset="0"/>
                <a:ea typeface="宋体" panose="02010600030101010101" pitchFamily="2" charset="-122"/>
              </a:rPr>
              <a:t>2</a:t>
            </a:r>
            <a:r>
              <a:rPr lang="zh-CN" altLang="en-US" sz="2800" b="1">
                <a:latin typeface="Tahoma" panose="020B0604030504040204" pitchFamily="2" charset="0"/>
                <a:ea typeface="宋体" panose="02010600030101010101" pitchFamily="2" charset="-122"/>
              </a:rPr>
              <a:t>）</a:t>
            </a:r>
            <a:endParaRPr lang="zh-CN" altLang="en-US" sz="2800" b="1"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pPr algn="ctr"/>
            <a:endParaRPr lang="zh-CN" altLang="en-US"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90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页表的作用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10" name="Group 229"/>
          <p:cNvGraphicFramePr>
            <a:graphicFrameLocks noGrp="1"/>
          </p:cNvGraphicFramePr>
          <p:nvPr/>
        </p:nvGraphicFramePr>
        <p:xfrm>
          <a:off x="2590800" y="1517721"/>
          <a:ext cx="1447800" cy="4475165"/>
        </p:xfrm>
        <a:graphic>
          <a:graphicData uri="http://schemas.openxmlformats.org/drawingml/2006/table">
            <a:tbl>
              <a:tblPr/>
              <a:tblGrid>
                <a:gridCol w="1447800"/>
              </a:tblGrid>
              <a:tr h="45786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用户程序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6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6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090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6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6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6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918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……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6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41" marB="4604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Group 228"/>
          <p:cNvGraphicFramePr>
            <a:graphicFrameLocks noGrp="1"/>
          </p:cNvGraphicFramePr>
          <p:nvPr/>
        </p:nvGraphicFramePr>
        <p:xfrm>
          <a:off x="5105400" y="1060513"/>
          <a:ext cx="1828800" cy="4932373"/>
        </p:xfrm>
        <a:graphic>
          <a:graphicData uri="http://schemas.openxmlformats.org/drawingml/2006/table">
            <a:tbl>
              <a:tblPr/>
              <a:tblGrid>
                <a:gridCol w="990600"/>
                <a:gridCol w="838200"/>
              </a:tblGrid>
              <a:tr h="457821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578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页号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块号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578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5507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578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578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578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19022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…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…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578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</a:t>
                      </a: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1" marB="4603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Group 23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154472" y="1060513"/>
          <a:ext cx="1750454" cy="5951348"/>
        </p:xfrm>
        <a:graphic>
          <a:graphicData uri="http://schemas.openxmlformats.org/drawingml/2006/table">
            <a:tbl>
              <a:tblPr/>
              <a:tblGrid>
                <a:gridCol w="1196662"/>
                <a:gridCol w="553792"/>
              </a:tblGrid>
              <a:tr h="412773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内存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18" marB="4601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Line 221"/>
          <p:cNvSpPr>
            <a:spLocks noChangeShapeType="1"/>
          </p:cNvSpPr>
          <p:nvPr/>
        </p:nvSpPr>
        <p:spPr bwMode="auto">
          <a:xfrm>
            <a:off x="6934200" y="2290829"/>
            <a:ext cx="1219200" cy="44609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4" name="Line 222"/>
          <p:cNvSpPr>
            <a:spLocks noChangeShapeType="1"/>
          </p:cNvSpPr>
          <p:nvPr/>
        </p:nvSpPr>
        <p:spPr bwMode="auto">
          <a:xfrm>
            <a:off x="6934200" y="2605156"/>
            <a:ext cx="1177925" cy="43656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5" name="Line 223"/>
          <p:cNvSpPr>
            <a:spLocks noChangeShapeType="1"/>
          </p:cNvSpPr>
          <p:nvPr/>
        </p:nvSpPr>
        <p:spPr bwMode="auto">
          <a:xfrm>
            <a:off x="6934200" y="3281428"/>
            <a:ext cx="1177925" cy="114443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6" name="Line 224"/>
          <p:cNvSpPr>
            <a:spLocks noChangeShapeType="1"/>
          </p:cNvSpPr>
          <p:nvPr/>
        </p:nvSpPr>
        <p:spPr bwMode="auto">
          <a:xfrm>
            <a:off x="6934200" y="3802296"/>
            <a:ext cx="1219200" cy="152685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7" name="Line 225"/>
          <p:cNvSpPr>
            <a:spLocks noChangeShapeType="1"/>
          </p:cNvSpPr>
          <p:nvPr/>
        </p:nvSpPr>
        <p:spPr bwMode="auto">
          <a:xfrm>
            <a:off x="6934200" y="4184720"/>
            <a:ext cx="1219200" cy="1751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标题 90113"/>
          <p:cNvSpPr>
            <a:spLocks noGrp="1"/>
          </p:cNvSpPr>
          <p:nvPr>
            <p:ph type="title"/>
          </p:nvPr>
        </p:nvSpPr>
        <p:spPr>
          <a:xfrm>
            <a:off x="2100263" y="1144588"/>
            <a:ext cx="7985125" cy="358775"/>
          </a:xfrm>
        </p:spPr>
        <p:txBody>
          <a:bodyPr anchor="b" anchorCtr="0">
            <a:normAutofit fontScale="90000"/>
          </a:bodyPr>
          <a:p>
            <a:br>
              <a:rPr lang="en-US" altLang="zh-CN" sz="3000" b="1"/>
            </a:br>
            <a:r>
              <a:rPr lang="en-US" altLang="zh-CN" sz="3000" b="1"/>
              <a:t> </a:t>
            </a:r>
            <a:r>
              <a:rPr lang="en-US" altLang="zh-CN" sz="3000"/>
              <a:t> </a:t>
            </a:r>
            <a:r>
              <a:rPr lang="zh-CN" altLang="en-US" sz="3000" b="1"/>
              <a:t>页面与页表的概念</a:t>
            </a:r>
            <a:endParaRPr lang="zh-CN" altLang="en-US" sz="3000" b="1"/>
          </a:p>
        </p:txBody>
      </p:sp>
      <p:sp>
        <p:nvSpPr>
          <p:cNvPr id="13314" name="文本占位符 90114"/>
          <p:cNvSpPr>
            <a:spLocks noGrp="1"/>
          </p:cNvSpPr>
          <p:nvPr>
            <p:ph idx="1"/>
          </p:nvPr>
        </p:nvSpPr>
        <p:spPr>
          <a:xfrm>
            <a:off x="2286000" y="1981200"/>
            <a:ext cx="7772400" cy="4419600"/>
          </a:xfrm>
        </p:spPr>
        <p:txBody>
          <a:bodyPr anchor="t" anchorCtr="0"/>
          <a:p>
            <a:r>
              <a:rPr lang="zh-CN" altLang="en-US" sz="2600" b="1"/>
              <a:t>说明：</a:t>
            </a:r>
            <a:endParaRPr lang="zh-CN" altLang="en-US" sz="2600" b="1"/>
          </a:p>
          <a:p>
            <a:r>
              <a:rPr lang="zh-CN" altLang="en-US" sz="2600" b="1"/>
              <a:t>页面尺寸</a:t>
            </a:r>
            <a:endParaRPr lang="zh-CN" altLang="en-US" sz="2600" b="1"/>
          </a:p>
          <a:p>
            <a:endParaRPr lang="zh-CN" altLang="en-US" sz="2600" b="1"/>
          </a:p>
          <a:p>
            <a:pPr>
              <a:buNone/>
            </a:pPr>
            <a:r>
              <a:rPr lang="zh-CN" altLang="en-US" sz="2600"/>
              <a:t>                                </a:t>
            </a:r>
            <a:endParaRPr lang="zh-CN" altLang="en-US" sz="2600"/>
          </a:p>
        </p:txBody>
      </p:sp>
      <p:sp>
        <p:nvSpPr>
          <p:cNvPr id="90116" name="矩形 90115"/>
          <p:cNvSpPr/>
          <p:nvPr/>
        </p:nvSpPr>
        <p:spPr>
          <a:xfrm>
            <a:off x="2590800" y="3276600"/>
            <a:ext cx="7467600" cy="228600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Font typeface="Arial" panose="020B0604020202020204" pitchFamily="34" charset="0"/>
              <a:buChar char="•"/>
            </a:pPr>
            <a:r>
              <a:rPr lang="zh-CN" altLang="en-US" sz="2800" b="1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页和块的大小是由硬件（系统）来取定的，</a:t>
            </a:r>
            <a:endParaRPr lang="zh-CN" altLang="en-US" sz="2800" b="1">
              <a:solidFill>
                <a:schemeClr val="tx2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r>
              <a:rPr lang="zh-CN" altLang="en-US" sz="2800" b="1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  不同机器有区别。</a:t>
            </a:r>
            <a:endParaRPr lang="zh-CN" altLang="en-US" sz="2800" b="1">
              <a:solidFill>
                <a:schemeClr val="tx2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b="1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表示为</a:t>
            </a:r>
            <a:r>
              <a:rPr lang="en-US" altLang="zh-CN" sz="2800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2</a:t>
            </a:r>
            <a:r>
              <a:rPr lang="zh-CN" altLang="en-US" sz="2800" b="1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的</a:t>
            </a:r>
            <a:r>
              <a:rPr lang="en-US" altLang="zh-CN" sz="2800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n</a:t>
            </a:r>
            <a:r>
              <a:rPr lang="zh-CN" altLang="en-US" sz="2800" b="1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次幂。一般是</a:t>
            </a:r>
            <a:r>
              <a:rPr lang="en-US" altLang="zh-CN" sz="2800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512B</a:t>
            </a:r>
            <a:r>
              <a:rPr lang="zh-CN" altLang="en-US" sz="2800" b="1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到</a:t>
            </a:r>
            <a:r>
              <a:rPr lang="en-US" altLang="zh-CN" sz="2800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8KB</a:t>
            </a:r>
            <a:r>
              <a:rPr lang="zh-CN" altLang="en-US" sz="2800" b="1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之间。</a:t>
            </a:r>
            <a:endParaRPr lang="zh-CN" altLang="en-US" sz="2800" b="1">
              <a:solidFill>
                <a:schemeClr val="tx2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r>
              <a:rPr lang="zh-CN" altLang="en-US" sz="2800" b="1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 例如</a:t>
            </a:r>
            <a:r>
              <a:rPr lang="en-US" altLang="zh-CN" sz="2800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Intel80386</a:t>
            </a:r>
            <a:r>
              <a:rPr lang="zh-CN" altLang="en-US" sz="2800" b="1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的页面大小为</a:t>
            </a:r>
            <a:r>
              <a:rPr lang="en-US" altLang="zh-CN" sz="2800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4KB</a:t>
            </a:r>
            <a:r>
              <a:rPr lang="zh-CN" altLang="en-US" sz="2800" b="1">
                <a:solidFill>
                  <a:schemeClr val="tx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。</a:t>
            </a:r>
            <a:endParaRPr lang="zh-CN" altLang="en-US" sz="2800" b="1">
              <a:solidFill>
                <a:schemeClr val="tx2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6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9" name="内容占位符 101378"/>
          <p:cNvSpPr>
            <a:spLocks noGrp="1"/>
          </p:cNvSpPr>
          <p:nvPr>
            <p:ph idx="1"/>
          </p:nvPr>
        </p:nvSpPr>
        <p:spPr>
          <a:xfrm>
            <a:off x="2362200" y="1981200"/>
            <a:ext cx="7696200" cy="4114800"/>
          </a:xfrm>
        </p:spPr>
        <p:txBody>
          <a:bodyPr anchor="t" anchorCtr="0"/>
          <a:p>
            <a:r>
              <a:rPr lang="zh-CN" altLang="en-US" sz="2600" b="1">
                <a:solidFill>
                  <a:srgbClr val="CC0000"/>
                </a:solidFill>
              </a:rPr>
              <a:t>思考</a:t>
            </a:r>
            <a:r>
              <a:rPr lang="en-US" altLang="zh-CN" sz="2600" b="1">
                <a:solidFill>
                  <a:srgbClr val="CC0000"/>
                </a:solidFill>
              </a:rPr>
              <a:t>:    </a:t>
            </a:r>
            <a:r>
              <a:rPr lang="zh-CN" altLang="en-US" sz="2600" b="1"/>
              <a:t>分页技术的碎片？</a:t>
            </a:r>
            <a:endParaRPr lang="zh-CN" altLang="en-US" sz="2600" b="1"/>
          </a:p>
          <a:p>
            <a:endParaRPr lang="zh-CN" altLang="en-US" sz="2600" b="1"/>
          </a:p>
          <a:p>
            <a:endParaRPr lang="zh-CN" altLang="en-US" sz="2600" b="1"/>
          </a:p>
          <a:p>
            <a:r>
              <a:rPr lang="zh-CN" altLang="en-US" sz="2600" b="1">
                <a:solidFill>
                  <a:srgbClr val="000000"/>
                </a:solidFill>
              </a:rPr>
              <a:t>分页系统不存在外部碎片。</a:t>
            </a:r>
            <a:endParaRPr lang="zh-CN" altLang="en-US" sz="2600" b="1">
              <a:solidFill>
                <a:srgbClr val="000000"/>
              </a:solidFill>
            </a:endParaRPr>
          </a:p>
          <a:p>
            <a:r>
              <a:rPr lang="zh-CN" altLang="en-US" sz="2600" b="1"/>
              <a:t>每个进程的最后一页</a:t>
            </a:r>
            <a:r>
              <a:rPr lang="zh-CN" altLang="en-US" sz="2600" b="1">
                <a:solidFill>
                  <a:srgbClr val="000000"/>
                </a:solidFill>
              </a:rPr>
              <a:t>平均有半个页面的</a:t>
            </a:r>
            <a:r>
              <a:rPr lang="zh-CN" altLang="en-US" sz="2600" b="1">
                <a:solidFill>
                  <a:schemeClr val="accent2"/>
                </a:solidFill>
              </a:rPr>
              <a:t>内部碎片</a:t>
            </a:r>
            <a:r>
              <a:rPr lang="zh-CN" altLang="en-US" sz="2600" b="1">
                <a:solidFill>
                  <a:srgbClr val="000000"/>
                </a:solidFill>
              </a:rPr>
              <a:t>。</a:t>
            </a:r>
            <a:endParaRPr lang="zh-CN" altLang="en-US" sz="26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137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137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137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charRg st="18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1379">
                                            <p:txEl>
                                              <p:charRg st="18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1379">
                                            <p:txEl>
                                              <p:charRg st="18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1379">
                                            <p:txEl>
                                              <p:charRg st="18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charRg st="3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1379">
                                            <p:txEl>
                                              <p:charRg st="31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1379">
                                            <p:txEl>
                                              <p:charRg st="3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1379">
                                            <p:txEl>
                                              <p:charRg st="31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标题 104449"/>
          <p:cNvSpPr>
            <a:spLocks noGrp="1"/>
          </p:cNvSpPr>
          <p:nvPr>
            <p:ph type="title"/>
          </p:nvPr>
        </p:nvSpPr>
        <p:spPr>
          <a:xfrm>
            <a:off x="1774825" y="857568"/>
            <a:ext cx="8001000" cy="584200"/>
          </a:xfrm>
        </p:spPr>
        <p:txBody>
          <a:bodyPr anchor="b" anchorCtr="0">
            <a:normAutofit fontScale="90000"/>
          </a:bodyPr>
          <a:p>
            <a:r>
              <a:rPr lang="en-US" altLang="zh-CN" sz="3400">
                <a:solidFill>
                  <a:srgbClr val="006600"/>
                </a:solidFill>
              </a:rPr>
              <a:t>4.  </a:t>
            </a:r>
            <a:r>
              <a:rPr lang="zh-CN" altLang="en-US" sz="3400">
                <a:solidFill>
                  <a:srgbClr val="006600"/>
                </a:solidFill>
              </a:rPr>
              <a:t>页面尺寸</a:t>
            </a:r>
            <a:endParaRPr lang="zh-CN" altLang="en-US" sz="3400">
              <a:solidFill>
                <a:srgbClr val="006600"/>
              </a:solidFill>
            </a:endParaRPr>
          </a:p>
        </p:txBody>
      </p:sp>
      <p:sp>
        <p:nvSpPr>
          <p:cNvPr id="27650" name="矩形 104450"/>
          <p:cNvSpPr/>
          <p:nvPr/>
        </p:nvSpPr>
        <p:spPr>
          <a:xfrm>
            <a:off x="1774825" y="4719162"/>
            <a:ext cx="8675688" cy="13836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/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即，由页表和内部碎片带来的总开销是： </a:t>
            </a:r>
            <a:r>
              <a:rPr lang="en-US" altLang="zh-CN" sz="28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s </a:t>
            </a:r>
            <a:r>
              <a:rPr lang="en-US" altLang="zh-CN" sz="2800" b="1" baseline="20000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. </a:t>
            </a:r>
            <a:r>
              <a:rPr lang="en-US" altLang="zh-CN" sz="28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e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endParaRPr lang="en-US" altLang="zh-CN" sz="2800" b="1">
              <a:solidFill>
                <a:srgbClr val="000000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pPr algn="ctr"/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求导，令其等于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，得到方程：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 s . e /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800" b="1" baseline="3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+ 1/2=0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7651" name="矩形 104451"/>
          <p:cNvSpPr/>
          <p:nvPr/>
        </p:nvSpPr>
        <p:spPr>
          <a:xfrm>
            <a:off x="2362200" y="1557338"/>
            <a:ext cx="7848600" cy="224536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28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设进程的平均大小为</a:t>
            </a:r>
            <a:r>
              <a:rPr lang="en-US" altLang="zh-CN" sz="2800" b="1" i="1">
                <a:solidFill>
                  <a:schemeClr val="accent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s</a:t>
            </a:r>
            <a:r>
              <a:rPr lang="zh-CN" altLang="en-US" sz="2800" b="1">
                <a:solidFill>
                  <a:schemeClr val="accent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字节</a:t>
            </a:r>
            <a:r>
              <a:rPr lang="zh-CN" altLang="en-US" sz="28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，页面尺寸为</a:t>
            </a:r>
            <a:r>
              <a:rPr lang="en-US" altLang="zh-CN" sz="2800" b="1" i="1">
                <a:solidFill>
                  <a:schemeClr val="accent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p</a:t>
            </a:r>
            <a:r>
              <a:rPr lang="zh-CN" altLang="en-US" sz="2800" b="1">
                <a:solidFill>
                  <a:schemeClr val="accent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字节</a:t>
            </a:r>
            <a:r>
              <a:rPr lang="zh-CN" altLang="en-US" sz="28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，</a:t>
            </a:r>
            <a:endParaRPr lang="zh-CN" altLang="en-US" sz="2800" b="1">
              <a:solidFill>
                <a:srgbClr val="000000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r>
              <a:rPr lang="zh-CN" altLang="en-US" sz="28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每个页表项占</a:t>
            </a:r>
            <a:r>
              <a:rPr lang="en-US" altLang="zh-CN" sz="2800" b="1" i="1">
                <a:solidFill>
                  <a:schemeClr val="accent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e</a:t>
            </a:r>
            <a:r>
              <a:rPr lang="zh-CN" altLang="en-US" sz="2800" b="1">
                <a:solidFill>
                  <a:schemeClr val="accent2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字节</a:t>
            </a:r>
            <a:r>
              <a:rPr lang="zh-CN" altLang="en-US" sz="28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。</a:t>
            </a:r>
            <a:endParaRPr lang="zh-CN" altLang="en-US" sz="2800" b="1">
              <a:solidFill>
                <a:srgbClr val="000000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r>
              <a:rPr lang="zh-CN" altLang="en-US" sz="28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由页表和内部碎片带来的总开销是：</a:t>
            </a:r>
            <a:endParaRPr lang="zh-CN" altLang="en-US" sz="2800" b="1">
              <a:solidFill>
                <a:srgbClr val="000000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r>
              <a:rPr lang="zh-CN" altLang="en-US" sz="28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      页表大小</a:t>
            </a:r>
            <a:r>
              <a:rPr lang="en-US" altLang="zh-CN" sz="28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+</a:t>
            </a:r>
            <a:r>
              <a:rPr lang="zh-CN" altLang="en-US" sz="28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内部碎片大小</a:t>
            </a:r>
            <a:endParaRPr lang="zh-CN" altLang="en-US" sz="2800" b="1">
              <a:solidFill>
                <a:srgbClr val="000000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endParaRPr lang="zh-CN" altLang="en-US" sz="2800" b="1">
              <a:solidFill>
                <a:srgbClr val="000000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27652" name="矩形标注 104452"/>
          <p:cNvSpPr/>
          <p:nvPr/>
        </p:nvSpPr>
        <p:spPr>
          <a:xfrm>
            <a:off x="2279650" y="3716338"/>
            <a:ext cx="1655763" cy="792162"/>
          </a:xfrm>
          <a:prstGeom prst="wedgeRectCallout">
            <a:avLst>
              <a:gd name="adj1" fmla="val 34278"/>
              <a:gd name="adj2" fmla="val -10811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r>
              <a:rPr lang="en-US" altLang="zh-CN" sz="36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 . e /</a:t>
            </a:r>
            <a:r>
              <a:rPr lang="en-US" altLang="zh-CN" sz="3600" i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lang="en-US" altLang="zh-CN" sz="3600" i="1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3" name="矩形标注 104453"/>
          <p:cNvSpPr/>
          <p:nvPr/>
        </p:nvSpPr>
        <p:spPr>
          <a:xfrm>
            <a:off x="5951538" y="3789363"/>
            <a:ext cx="1512887" cy="792162"/>
          </a:xfrm>
          <a:prstGeom prst="wedgeRectCallout">
            <a:avLst>
              <a:gd name="adj1" fmla="val -79065"/>
              <a:gd name="adj2" fmla="val -105509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r>
              <a:rPr lang="en-US" altLang="zh-CN" sz="3200" i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32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endParaRPr lang="en-US" altLang="zh-CN" sz="320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5474" name="对象 105473"/>
          <p:cNvGraphicFramePr>
            <a:graphicFrameLocks noChangeAspect="1"/>
          </p:cNvGraphicFramePr>
          <p:nvPr/>
        </p:nvGraphicFramePr>
        <p:xfrm>
          <a:off x="4367213" y="2924175"/>
          <a:ext cx="3024187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60400" imgH="241300" progId="Equation.3">
                  <p:embed/>
                </p:oleObj>
              </mc:Choice>
              <mc:Fallback>
                <p:oleObj name="" r:id="rId1" imgW="660400" imgH="241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67213" y="2924175"/>
                        <a:ext cx="3024187" cy="1103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4" name="矩形 105474"/>
          <p:cNvSpPr/>
          <p:nvPr/>
        </p:nvSpPr>
        <p:spPr>
          <a:xfrm>
            <a:off x="1992313" y="1986598"/>
            <a:ext cx="8305800" cy="79883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indent="269875" defTabSz="914400" eaLnBrk="0" fontAlgn="ctr" hangingPunct="0">
              <a:buFont typeface="Arial" panose="020B0604020202020204" pitchFamily="34" charset="0"/>
              <a:buChar char="•"/>
              <a:tabLst>
                <a:tab pos="266700" algn="l"/>
                <a:tab pos="533400" algn="l"/>
              </a:tabLst>
            </a:pPr>
            <a:r>
              <a:rPr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得出最佳页面尺寸公式（仅考虑上述两个因素）：</a:t>
            </a:r>
            <a:endParaRPr lang="zh-CN" altLang="en-US" sz="2800">
              <a:solidFill>
                <a:srgbClr val="000000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pPr indent="269875" defTabSz="914400" eaLnBrk="0" hangingPunct="0">
              <a:tabLst>
                <a:tab pos="266700" algn="l"/>
                <a:tab pos="533400" algn="l"/>
              </a:tabLs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476" name="矩形 105475"/>
          <p:cNvSpPr/>
          <p:nvPr/>
        </p:nvSpPr>
        <p:spPr>
          <a:xfrm>
            <a:off x="1981200" y="4567238"/>
            <a:ext cx="8435975" cy="1076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如果进程</a:t>
            </a:r>
            <a:r>
              <a:rPr lang="en-US" altLang="zh-CN" sz="32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 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1 MB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，页表项</a:t>
            </a:r>
            <a:r>
              <a:rPr lang="en-US" altLang="zh-CN" sz="3200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 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8 B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，则最佳页面尺寸是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 KB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32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标题 105476"/>
          <p:cNvSpPr>
            <a:spLocks noGrp="1"/>
          </p:cNvSpPr>
          <p:nvPr>
            <p:ph type="title"/>
          </p:nvPr>
        </p:nvSpPr>
        <p:spPr>
          <a:xfrm>
            <a:off x="1446530" y="828358"/>
            <a:ext cx="8001000" cy="584200"/>
          </a:xfrm>
        </p:spPr>
        <p:txBody>
          <a:bodyPr anchor="b" anchorCtr="0"/>
          <a:p>
            <a:r>
              <a:rPr lang="en-US" altLang="zh-CN">
                <a:solidFill>
                  <a:srgbClr val="006600"/>
                </a:solidFill>
              </a:rPr>
              <a:t>4.  </a:t>
            </a:r>
            <a:r>
              <a:rPr lang="zh-CN" altLang="en-US">
                <a:solidFill>
                  <a:srgbClr val="006600"/>
                </a:solidFill>
              </a:rPr>
              <a:t>页面尺寸</a:t>
            </a:r>
            <a:endParaRPr lang="zh-CN" altLang="en-US">
              <a:solidFill>
                <a:srgbClr val="00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地址结构</a:t>
            </a:r>
            <a:r>
              <a:rPr lang="en-US" altLang="zh-CN" sz="2800" b="1" dirty="0">
                <a:solidFill>
                  <a:schemeClr val="bg1"/>
                </a:solidFill>
              </a:rPr>
              <a:t>(1)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1" name="Group 23"/>
          <p:cNvGrpSpPr/>
          <p:nvPr/>
        </p:nvGrpSpPr>
        <p:grpSpPr bwMode="auto">
          <a:xfrm>
            <a:off x="1317491" y="1085067"/>
            <a:ext cx="9110163" cy="1207371"/>
            <a:chOff x="912" y="1114"/>
            <a:chExt cx="3984" cy="528"/>
          </a:xfrm>
        </p:grpSpPr>
        <p:sp>
          <p:nvSpPr>
            <p:cNvPr id="32" name="Rectangle 7"/>
            <p:cNvSpPr>
              <a:spLocks noChangeArrowheads="1"/>
            </p:cNvSpPr>
            <p:nvPr/>
          </p:nvSpPr>
          <p:spPr bwMode="auto">
            <a:xfrm>
              <a:off x="2880" y="1392"/>
              <a:ext cx="1920" cy="2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kumimoji="1" lang="zh-CN" altLang="en-US" sz="2400" b="1" dirty="0">
                  <a:solidFill>
                    <a:schemeClr val="bg1"/>
                  </a:solidFill>
                  <a:latin typeface="+mn-ea"/>
                  <a:ea typeface="+mn-ea"/>
                </a:rPr>
                <a:t>位移量</a:t>
              </a:r>
              <a:r>
                <a:rPr kumimoji="1" lang="en-US" altLang="zh-CN" sz="2400" b="1" dirty="0">
                  <a:solidFill>
                    <a:schemeClr val="bg1"/>
                  </a:solidFill>
                  <a:latin typeface="+mn-ea"/>
                  <a:ea typeface="+mn-ea"/>
                </a:rPr>
                <a:t>W</a:t>
              </a:r>
              <a:r>
                <a:rPr kumimoji="1" lang="zh-CN" altLang="en-US" sz="2400" b="1" dirty="0">
                  <a:solidFill>
                    <a:schemeClr val="bg1"/>
                  </a:solidFill>
                  <a:latin typeface="+mn-ea"/>
                  <a:ea typeface="+mn-ea"/>
                </a:rPr>
                <a:t>（页内地址）</a:t>
              </a:r>
              <a:endParaRPr kumimoji="1" lang="zh-CN" altLang="en-US" sz="24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960" y="1392"/>
              <a:ext cx="1920" cy="250"/>
            </a:xfrm>
            <a:prstGeom prst="rect">
              <a:avLst/>
            </a:prstGeom>
            <a:solidFill>
              <a:srgbClr val="FFC000"/>
            </a:solidFill>
            <a:ln w="9525">
              <a:solidFill>
                <a:srgbClr val="FFC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400" b="1">
                  <a:solidFill>
                    <a:schemeClr val="bg1"/>
                  </a:solidFill>
                  <a:latin typeface="+mn-ea"/>
                  <a:ea typeface="+mn-ea"/>
                </a:rPr>
                <a:t>页号</a:t>
              </a:r>
              <a:r>
                <a:rPr lang="en-US" altLang="zh-CN" sz="2400" b="1">
                  <a:solidFill>
                    <a:schemeClr val="bg1"/>
                  </a:solidFill>
                  <a:latin typeface="+mn-ea"/>
                  <a:ea typeface="+mn-ea"/>
                </a:rPr>
                <a:t>P</a:t>
              </a:r>
              <a:endParaRPr lang="en-US" altLang="zh-CN" sz="2400" b="1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36" name="Line 8"/>
            <p:cNvSpPr>
              <a:spLocks noChangeShapeType="1"/>
            </p:cNvSpPr>
            <p:nvPr/>
          </p:nvSpPr>
          <p:spPr bwMode="auto">
            <a:xfrm>
              <a:off x="960" y="1392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38" name="Line 9"/>
            <p:cNvSpPr>
              <a:spLocks noChangeShapeType="1"/>
            </p:cNvSpPr>
            <p:nvPr/>
          </p:nvSpPr>
          <p:spPr bwMode="auto">
            <a:xfrm>
              <a:off x="960" y="1642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39" name="Line 10"/>
            <p:cNvSpPr>
              <a:spLocks noChangeShapeType="1"/>
            </p:cNvSpPr>
            <p:nvPr/>
          </p:nvSpPr>
          <p:spPr bwMode="auto">
            <a:xfrm>
              <a:off x="960" y="1392"/>
              <a:ext cx="0" cy="2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40" name="Line 11"/>
            <p:cNvSpPr>
              <a:spLocks noChangeShapeType="1"/>
            </p:cNvSpPr>
            <p:nvPr/>
          </p:nvSpPr>
          <p:spPr bwMode="auto">
            <a:xfrm>
              <a:off x="2880" y="1392"/>
              <a:ext cx="0" cy="2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42" name="Line 12"/>
            <p:cNvSpPr>
              <a:spLocks noChangeShapeType="1"/>
            </p:cNvSpPr>
            <p:nvPr/>
          </p:nvSpPr>
          <p:spPr bwMode="auto">
            <a:xfrm>
              <a:off x="4800" y="1392"/>
              <a:ext cx="0" cy="25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 sz="2400">
                <a:latin typeface="+mn-ea"/>
              </a:endParaRPr>
            </a:p>
          </p:txBody>
        </p:sp>
        <p:sp>
          <p:nvSpPr>
            <p:cNvPr id="44" name="Text Box 19"/>
            <p:cNvSpPr txBox="1">
              <a:spLocks noChangeArrowheads="1"/>
            </p:cNvSpPr>
            <p:nvPr/>
          </p:nvSpPr>
          <p:spPr bwMode="auto">
            <a:xfrm>
              <a:off x="912" y="1114"/>
              <a:ext cx="288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31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45" name="Text Box 20"/>
            <p:cNvSpPr txBox="1">
              <a:spLocks noChangeArrowheads="1"/>
            </p:cNvSpPr>
            <p:nvPr/>
          </p:nvSpPr>
          <p:spPr bwMode="auto">
            <a:xfrm>
              <a:off x="2650" y="1114"/>
              <a:ext cx="288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12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46" name="Text Box 21"/>
            <p:cNvSpPr txBox="1">
              <a:spLocks noChangeArrowheads="1"/>
            </p:cNvSpPr>
            <p:nvPr/>
          </p:nvSpPr>
          <p:spPr bwMode="auto">
            <a:xfrm>
              <a:off x="2870" y="1123"/>
              <a:ext cx="288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11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47" name="Text Box 22"/>
            <p:cNvSpPr txBox="1">
              <a:spLocks noChangeArrowheads="1"/>
            </p:cNvSpPr>
            <p:nvPr/>
          </p:nvSpPr>
          <p:spPr bwMode="auto">
            <a:xfrm>
              <a:off x="4608" y="1114"/>
              <a:ext cx="288" cy="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>
                  <a:latin typeface="+mn-ea"/>
                  <a:ea typeface="+mn-ea"/>
                </a:rPr>
                <a:t>0</a:t>
              </a:r>
              <a:endParaRPr lang="en-US" altLang="zh-CN" sz="2400">
                <a:latin typeface="+mn-ea"/>
                <a:ea typeface="+mn-ea"/>
              </a:endParaRPr>
            </a:p>
          </p:txBody>
        </p:sp>
      </p:grpSp>
      <p:sp>
        <p:nvSpPr>
          <p:cNvPr id="48" name="Rectangle 3"/>
          <p:cNvSpPr txBox="1">
            <a:spLocks noChangeArrowheads="1"/>
          </p:cNvSpPr>
          <p:nvPr/>
        </p:nvSpPr>
        <p:spPr>
          <a:xfrm>
            <a:off x="1699579" y="3189522"/>
            <a:ext cx="8728075" cy="29241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23000"/>
              </a:lnSpc>
              <a:buNone/>
            </a:pPr>
            <a:r>
              <a:rPr lang="zh-CN" altLang="en-US" sz="2400" b="1" dirty="0" smtClean="0">
                <a:sym typeface="Wingdings" panose="05000000000000000000" pitchFamily="2" charset="2"/>
              </a:rPr>
              <a:t>页号</a:t>
            </a:r>
            <a:r>
              <a:rPr lang="en-US" altLang="zh-CN" sz="2400" b="1" dirty="0" smtClean="0">
                <a:sym typeface="Wingdings" panose="05000000000000000000" pitchFamily="2" charset="2"/>
              </a:rPr>
              <a:t>P</a:t>
            </a:r>
            <a:endParaRPr lang="en-US" altLang="zh-CN" sz="2400" b="1" dirty="0" smtClean="0">
              <a:sym typeface="Wingdings" panose="05000000000000000000" pitchFamily="2" charset="2"/>
            </a:endParaRPr>
          </a:p>
          <a:p>
            <a:pPr lvl="2">
              <a:lnSpc>
                <a:spcPct val="123000"/>
              </a:lnSpc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en-US" altLang="zh-CN" sz="2400" dirty="0" smtClean="0">
                <a:sym typeface="Wingdings" panose="05000000000000000000" pitchFamily="2" charset="2"/>
              </a:rPr>
              <a:t>12-31</a:t>
            </a:r>
            <a:r>
              <a:rPr lang="zh-CN" altLang="en-US" sz="2400" dirty="0" smtClean="0">
                <a:sym typeface="Wingdings" panose="05000000000000000000" pitchFamily="2" charset="2"/>
              </a:rPr>
              <a:t>位：</a:t>
            </a:r>
            <a:r>
              <a:rPr lang="en-US" altLang="zh-CN" sz="2400" dirty="0" smtClean="0">
                <a:sym typeface="Wingdings" panose="05000000000000000000" pitchFamily="2" charset="2"/>
              </a:rPr>
              <a:t>20</a:t>
            </a:r>
            <a:r>
              <a:rPr lang="zh-CN" altLang="en-US" sz="2400" dirty="0" smtClean="0">
                <a:sym typeface="Wingdings" panose="05000000000000000000" pitchFamily="2" charset="2"/>
              </a:rPr>
              <a:t>位</a:t>
            </a:r>
            <a:endParaRPr lang="zh-CN" altLang="en-US" sz="2400" dirty="0" smtClean="0">
              <a:sym typeface="Wingdings" panose="05000000000000000000" pitchFamily="2" charset="2"/>
            </a:endParaRPr>
          </a:p>
          <a:p>
            <a:pPr lvl="2">
              <a:lnSpc>
                <a:spcPct val="123000"/>
              </a:lnSpc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ym typeface="Wingdings" panose="05000000000000000000" pitchFamily="2" charset="2"/>
              </a:rPr>
              <a:t>地址空间最多允许有</a:t>
            </a:r>
            <a:r>
              <a:rPr lang="en-US" altLang="zh-CN" sz="2400" dirty="0" smtClean="0">
                <a:sym typeface="Wingdings" panose="05000000000000000000" pitchFamily="2" charset="2"/>
              </a:rPr>
              <a:t>1M</a:t>
            </a:r>
            <a:r>
              <a:rPr lang="zh-CN" altLang="en-US" sz="2400" dirty="0" smtClean="0">
                <a:sym typeface="Wingdings" panose="05000000000000000000" pitchFamily="2" charset="2"/>
              </a:rPr>
              <a:t>（</a:t>
            </a:r>
            <a:r>
              <a:rPr lang="en-US" altLang="zh-CN" sz="2400" dirty="0" smtClean="0">
                <a:sym typeface="Wingdings" panose="05000000000000000000" pitchFamily="2" charset="2"/>
              </a:rPr>
              <a:t>2</a:t>
            </a:r>
            <a:r>
              <a:rPr lang="en-US" altLang="zh-CN" sz="2400" baseline="30000" dirty="0" smtClean="0">
                <a:sym typeface="Wingdings" panose="05000000000000000000" pitchFamily="2" charset="2"/>
              </a:rPr>
              <a:t>20</a:t>
            </a:r>
            <a:r>
              <a:rPr lang="zh-CN" altLang="en-US" sz="2400" dirty="0" smtClean="0">
                <a:sym typeface="Wingdings" panose="05000000000000000000" pitchFamily="2" charset="2"/>
              </a:rPr>
              <a:t>）页</a:t>
            </a:r>
            <a:endParaRPr lang="zh-CN" altLang="en-US" sz="2400" dirty="0" smtClean="0">
              <a:sym typeface="Wingdings" panose="05000000000000000000" pitchFamily="2" charset="2"/>
            </a:endParaRPr>
          </a:p>
          <a:p>
            <a:pPr marL="457200" lvl="1" indent="0">
              <a:lnSpc>
                <a:spcPct val="123000"/>
              </a:lnSpc>
              <a:buNone/>
            </a:pPr>
            <a:r>
              <a:rPr lang="zh-CN" altLang="en-US" sz="2400" b="1" dirty="0" smtClean="0">
                <a:sym typeface="Wingdings" panose="05000000000000000000" pitchFamily="2" charset="2"/>
              </a:rPr>
              <a:t>位移量</a:t>
            </a:r>
            <a:r>
              <a:rPr lang="en-US" altLang="zh-CN" sz="2400" b="1" dirty="0" smtClean="0">
                <a:sym typeface="Wingdings" panose="05000000000000000000" pitchFamily="2" charset="2"/>
              </a:rPr>
              <a:t>W</a:t>
            </a:r>
            <a:r>
              <a:rPr lang="zh-CN" altLang="en-US" sz="2400" b="1" dirty="0" smtClean="0">
                <a:sym typeface="Wingdings" panose="05000000000000000000" pitchFamily="2" charset="2"/>
              </a:rPr>
              <a:t>（页内地址）</a:t>
            </a:r>
            <a:endParaRPr lang="zh-CN" altLang="en-US" sz="2400" b="1" dirty="0" smtClean="0">
              <a:sym typeface="Wingdings" panose="05000000000000000000" pitchFamily="2" charset="2"/>
            </a:endParaRPr>
          </a:p>
          <a:p>
            <a:pPr lvl="2">
              <a:lnSpc>
                <a:spcPct val="123000"/>
              </a:lnSpc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en-US" altLang="zh-CN" sz="2400" dirty="0" smtClean="0">
                <a:sym typeface="Wingdings" panose="05000000000000000000" pitchFamily="2" charset="2"/>
              </a:rPr>
              <a:t>0-11</a:t>
            </a:r>
            <a:r>
              <a:rPr lang="zh-CN" altLang="en-US" sz="2400" dirty="0" smtClean="0">
                <a:sym typeface="Wingdings" panose="05000000000000000000" pitchFamily="2" charset="2"/>
              </a:rPr>
              <a:t>：</a:t>
            </a:r>
            <a:r>
              <a:rPr lang="en-US" altLang="zh-CN" sz="2400" dirty="0" smtClean="0">
                <a:sym typeface="Wingdings" panose="05000000000000000000" pitchFamily="2" charset="2"/>
              </a:rPr>
              <a:t>12</a:t>
            </a:r>
            <a:r>
              <a:rPr lang="zh-CN" altLang="en-US" sz="2400" dirty="0" smtClean="0">
                <a:sym typeface="Wingdings" panose="05000000000000000000" pitchFamily="2" charset="2"/>
              </a:rPr>
              <a:t>位</a:t>
            </a:r>
            <a:endParaRPr lang="zh-CN" altLang="en-US" sz="2400" dirty="0" smtClean="0">
              <a:sym typeface="Wingdings" panose="05000000000000000000" pitchFamily="2" charset="2"/>
            </a:endParaRPr>
          </a:p>
          <a:p>
            <a:pPr lvl="2">
              <a:lnSpc>
                <a:spcPct val="123000"/>
              </a:lnSpc>
              <a:buClr>
                <a:srgbClr val="FFC000"/>
              </a:buClr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sym typeface="Wingdings" panose="05000000000000000000" pitchFamily="2" charset="2"/>
              </a:rPr>
              <a:t>每页大小为</a:t>
            </a:r>
            <a:r>
              <a:rPr lang="en-US" altLang="zh-CN" sz="2400" dirty="0" smtClean="0">
                <a:sym typeface="Wingdings" panose="05000000000000000000" pitchFamily="2" charset="2"/>
              </a:rPr>
              <a:t>4KB </a:t>
            </a:r>
            <a:r>
              <a:rPr lang="zh-CN" altLang="en-US" sz="2400" dirty="0" smtClean="0">
                <a:sym typeface="Wingdings" panose="05000000000000000000" pitchFamily="2" charset="2"/>
              </a:rPr>
              <a:t>（</a:t>
            </a:r>
            <a:r>
              <a:rPr lang="en-US" altLang="zh-CN" sz="2400" dirty="0" smtClean="0">
                <a:sym typeface="Wingdings" panose="05000000000000000000" pitchFamily="2" charset="2"/>
              </a:rPr>
              <a:t>2</a:t>
            </a:r>
            <a:r>
              <a:rPr lang="en-US" altLang="zh-CN" sz="2400" baseline="30000" dirty="0" smtClean="0">
                <a:sym typeface="Wingdings" panose="05000000000000000000" pitchFamily="2" charset="2"/>
              </a:rPr>
              <a:t>12</a:t>
            </a:r>
            <a:r>
              <a:rPr lang="zh-CN" altLang="en-US" sz="2400" dirty="0" smtClean="0">
                <a:sym typeface="Wingdings" panose="05000000000000000000" pitchFamily="2" charset="2"/>
              </a:rPr>
              <a:t>）</a:t>
            </a:r>
            <a:endParaRPr lang="zh-CN" altLang="en-US" sz="2400" dirty="0" smtClean="0">
              <a:sym typeface="Wingdings" panose="05000000000000000000" pitchFamily="2" charset="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317491" y="2549313"/>
            <a:ext cx="10277467" cy="5860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lvl="1"/>
            <a:r>
              <a:rPr lang="zh-CN" altLang="en-US" sz="2400" b="1" dirty="0">
                <a:solidFill>
                  <a:srgbClr val="C00000"/>
                </a:solidFill>
              </a:rPr>
              <a:t>分页地址中的结构（</a:t>
            </a:r>
            <a:r>
              <a:rPr lang="en-US" altLang="zh-CN" sz="2400" b="1" dirty="0">
                <a:solidFill>
                  <a:srgbClr val="C00000"/>
                </a:solidFill>
              </a:rPr>
              <a:t>32</a:t>
            </a:r>
            <a:r>
              <a:rPr lang="zh-CN" altLang="en-US" sz="2400" b="1" dirty="0">
                <a:solidFill>
                  <a:srgbClr val="C00000"/>
                </a:solidFill>
              </a:rPr>
              <a:t>位），</a:t>
            </a:r>
            <a:r>
              <a:rPr lang="zh-CN" altLang="en-US" sz="2400" dirty="0">
                <a:sym typeface="Wingdings" panose="05000000000000000000" pitchFamily="2" charset="2"/>
              </a:rPr>
              <a:t>对某特定机器，地址结构是一定的。</a:t>
            </a:r>
            <a:endParaRPr lang="zh-CN" altLang="en-US" sz="2400" dirty="0">
              <a:sym typeface="Wingdings" panose="05000000000000000000" pitchFamily="2" charset="2"/>
            </a:endParaRPr>
          </a:p>
          <a:p>
            <a:endParaRPr lang="zh-CN" altLang="en-US" sz="2400" b="1" dirty="0">
              <a:solidFill>
                <a:srgbClr val="C00000"/>
              </a:solidFill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7252" y="3178862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7252" y="475567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标题 95233"/>
          <p:cNvSpPr>
            <a:spLocks noGrp="1"/>
          </p:cNvSpPr>
          <p:nvPr>
            <p:ph type="title"/>
          </p:nvPr>
        </p:nvSpPr>
        <p:spPr>
          <a:xfrm>
            <a:off x="669924" y="507366"/>
            <a:ext cx="10850563" cy="1028699"/>
          </a:xfrm>
        </p:spPr>
        <p:txBody>
          <a:bodyPr anchor="b" anchorCtr="0"/>
          <a:p>
            <a:r>
              <a:rPr lang="zh-CN" altLang="en-US" sz="3000" b="1"/>
              <a:t>页面与页表的概念</a:t>
            </a:r>
            <a:endParaRPr lang="zh-CN" altLang="en-US" sz="3000" b="1"/>
          </a:p>
        </p:txBody>
      </p:sp>
      <p:sp>
        <p:nvSpPr>
          <p:cNvPr id="95235" name="内容占位符 95234"/>
          <p:cNvSpPr>
            <a:spLocks noGrp="1"/>
          </p:cNvSpPr>
          <p:nvPr>
            <p:ph idx="1"/>
          </p:nvPr>
        </p:nvSpPr>
        <p:spPr>
          <a:xfrm>
            <a:off x="1981200" y="2017713"/>
            <a:ext cx="8001000" cy="4383087"/>
          </a:xfrm>
        </p:spPr>
        <p:txBody>
          <a:bodyPr anchor="t" anchorCtr="0"/>
          <a:p>
            <a:pPr>
              <a:lnSpc>
                <a:spcPct val="90000"/>
              </a:lnSpc>
            </a:pPr>
            <a:r>
              <a:rPr lang="en-US" altLang="zh-CN" sz="2600" b="1">
                <a:latin typeface="宋体" panose="02010600030101010101" pitchFamily="2" charset="-122"/>
              </a:rPr>
              <a:t>3. </a:t>
            </a:r>
            <a:r>
              <a:rPr lang="zh-CN" altLang="en-US" sz="2600" b="1">
                <a:latin typeface="宋体" panose="02010600030101010101" pitchFamily="2" charset="-122"/>
              </a:rPr>
              <a:t>分页地址结构</a:t>
            </a:r>
            <a:endParaRPr lang="zh-CN" altLang="en-US" sz="2600" b="1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600" b="1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b="1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b="1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sz="2600" b="1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600" b="1">
                <a:latin typeface="宋体" panose="02010600030101010101" pitchFamily="2" charset="-122"/>
              </a:rPr>
              <a:t>若</a:t>
            </a:r>
            <a:r>
              <a:rPr lang="en-US" altLang="zh-CN" sz="2600" b="1">
                <a:latin typeface="宋体" panose="02010600030101010101" pitchFamily="2" charset="-122"/>
              </a:rPr>
              <a:t>A</a:t>
            </a:r>
            <a:r>
              <a:rPr lang="zh-CN" altLang="en-US" sz="2600" b="1">
                <a:latin typeface="宋体" panose="02010600030101010101" pitchFamily="2" charset="-122"/>
              </a:rPr>
              <a:t>为逻辑地址，</a:t>
            </a:r>
            <a:r>
              <a:rPr lang="en-US" altLang="zh-CN" sz="2600" b="1">
                <a:latin typeface="宋体" panose="02010600030101010101" pitchFamily="2" charset="-122"/>
              </a:rPr>
              <a:t>L</a:t>
            </a:r>
            <a:r>
              <a:rPr lang="zh-CN" altLang="en-US" sz="2600" b="1">
                <a:latin typeface="宋体" panose="02010600030101010101" pitchFamily="2" charset="-122"/>
              </a:rPr>
              <a:t>为页面大小。页号</a:t>
            </a:r>
            <a:r>
              <a:rPr lang="en-US" altLang="zh-CN" sz="2600" b="1">
                <a:latin typeface="宋体" panose="02010600030101010101" pitchFamily="2" charset="-122"/>
              </a:rPr>
              <a:t>P</a:t>
            </a:r>
            <a:r>
              <a:rPr lang="zh-CN" altLang="en-US" sz="2600" b="1">
                <a:latin typeface="宋体" panose="02010600030101010101" pitchFamily="2" charset="-122"/>
              </a:rPr>
              <a:t>和页内地址</a:t>
            </a:r>
            <a:r>
              <a:rPr lang="en-US" altLang="zh-CN" sz="2600" b="1">
                <a:latin typeface="宋体" panose="02010600030101010101" pitchFamily="2" charset="-122"/>
              </a:rPr>
              <a:t>d</a:t>
            </a:r>
            <a:r>
              <a:rPr lang="zh-CN" altLang="en-US" sz="2600" b="1">
                <a:latin typeface="宋体" panose="02010600030101010101" pitchFamily="2" charset="-122"/>
              </a:rPr>
              <a:t>可按下式求出</a:t>
            </a:r>
            <a:r>
              <a:rPr lang="en-US" altLang="zh-CN" sz="2600" b="1">
                <a:latin typeface="宋体" panose="02010600030101010101" pitchFamily="2" charset="-122"/>
              </a:rPr>
              <a:t>(</a:t>
            </a:r>
            <a:r>
              <a:rPr lang="zh-CN" altLang="en-US" sz="2600" b="1">
                <a:latin typeface="宋体" panose="02010600030101010101" pitchFamily="2" charset="-122"/>
              </a:rPr>
              <a:t>分页地址映像硬件</a:t>
            </a:r>
            <a:r>
              <a:rPr lang="en-US" altLang="zh-CN" sz="2600" b="1">
                <a:latin typeface="宋体" panose="02010600030101010101" pitchFamily="2" charset="-122"/>
              </a:rPr>
              <a:t>)</a:t>
            </a:r>
            <a:r>
              <a:rPr lang="zh-CN" altLang="en-US" sz="2600" b="1">
                <a:latin typeface="宋体" panose="02010600030101010101" pitchFamily="2" charset="-122"/>
              </a:rPr>
              <a:t>：        </a:t>
            </a:r>
            <a:endParaRPr lang="zh-CN" altLang="en-US" sz="2600" b="1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600" b="1">
                <a:latin typeface="宋体" panose="02010600030101010101" pitchFamily="2" charset="-122"/>
              </a:rPr>
              <a:t>         </a:t>
            </a:r>
            <a:r>
              <a:rPr lang="en-US" altLang="zh-CN" sz="2800" b="1">
                <a:solidFill>
                  <a:srgbClr val="CC0000"/>
                </a:solidFill>
                <a:latin typeface="宋体" panose="02010600030101010101" pitchFamily="2" charset="-122"/>
              </a:rPr>
              <a:t>P=INT [A/L]  d=[A] MOD L</a:t>
            </a:r>
            <a:endParaRPr lang="en-US" altLang="zh-CN" sz="2800" b="1">
              <a:solidFill>
                <a:srgbClr val="CC0000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600" b="1">
                <a:latin typeface="宋体" panose="02010600030101010101" pitchFamily="2" charset="-122"/>
              </a:rPr>
              <a:t>  </a:t>
            </a:r>
            <a:r>
              <a:rPr lang="zh-CN" altLang="en-US" sz="2600" b="1">
                <a:latin typeface="宋体" panose="02010600030101010101" pitchFamily="2" charset="-122"/>
              </a:rPr>
              <a:t>例如</a:t>
            </a:r>
            <a:r>
              <a:rPr lang="en-US" altLang="zh-CN" sz="2600" b="1">
                <a:latin typeface="宋体" panose="02010600030101010101" pitchFamily="2" charset="-122"/>
              </a:rPr>
              <a:t>A=2170B,L=1KB,</a:t>
            </a:r>
            <a:r>
              <a:rPr lang="zh-CN" altLang="en-US" sz="2600" b="1">
                <a:latin typeface="宋体" panose="02010600030101010101" pitchFamily="2" charset="-122"/>
              </a:rPr>
              <a:t>则</a:t>
            </a:r>
            <a:r>
              <a:rPr lang="en-US" altLang="zh-CN" sz="2600" b="1">
                <a:latin typeface="宋体" panose="02010600030101010101" pitchFamily="2" charset="-122"/>
              </a:rPr>
              <a:t>P=2,d=122</a:t>
            </a:r>
            <a:r>
              <a:rPr lang="en-US" altLang="zh-CN" sz="2600" b="1"/>
              <a:t>.</a:t>
            </a:r>
            <a:r>
              <a:rPr lang="zh-CN" altLang="en-US" sz="2600" b="1"/>
              <a:t>表示的含义是？</a:t>
            </a:r>
            <a:endParaRPr lang="zh-CN" altLang="en-US" sz="2600" b="1"/>
          </a:p>
          <a:p>
            <a:pPr>
              <a:lnSpc>
                <a:spcPct val="90000"/>
              </a:lnSpc>
              <a:buNone/>
            </a:pPr>
            <a:endParaRPr lang="zh-CN" altLang="en-US" sz="2600" b="1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2600" b="1"/>
          </a:p>
        </p:txBody>
      </p:sp>
      <p:sp>
        <p:nvSpPr>
          <p:cNvPr id="18435" name="Rectangle 5"/>
          <p:cNvSpPr/>
          <p:nvPr/>
        </p:nvSpPr>
        <p:spPr>
          <a:xfrm>
            <a:off x="4495800" y="3809048"/>
            <a:ext cx="3962400" cy="39878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just"/>
            <a:r>
              <a:rPr lang="zh-CN" altLang="en-US" sz="2000" b="1">
                <a:latin typeface="Tahoma" panose="020B0604030504040204" pitchFamily="2" charset="0"/>
                <a:ea typeface="宋体" panose="02010600030101010101" pitchFamily="2" charset="-122"/>
              </a:rPr>
              <a:t>图</a:t>
            </a:r>
            <a:r>
              <a:rPr lang="en-US" altLang="zh-CN" sz="2000" b="1">
                <a:latin typeface="Tahoma" panose="020B0604030504040204" pitchFamily="2" charset="0"/>
                <a:ea typeface="宋体" panose="02010600030101010101" pitchFamily="2" charset="-122"/>
              </a:rPr>
              <a:t>3  32</a:t>
            </a:r>
            <a:r>
              <a:rPr lang="zh-CN" altLang="en-US" sz="2000" b="1">
                <a:latin typeface="Tahoma" panose="020B0604030504040204" pitchFamily="2" charset="0"/>
                <a:ea typeface="宋体" panose="02010600030101010101" pitchFamily="2" charset="-122"/>
              </a:rPr>
              <a:t>位分页系统的地址结构</a:t>
            </a:r>
            <a:endParaRPr lang="zh-CN" altLang="en-US" sz="2000" b="1"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  <p:grpSp>
        <p:nvGrpSpPr>
          <p:cNvPr id="18436" name="组合 95236"/>
          <p:cNvGrpSpPr/>
          <p:nvPr/>
        </p:nvGrpSpPr>
        <p:grpSpPr>
          <a:xfrm>
            <a:off x="3124200" y="2514600"/>
            <a:ext cx="5943600" cy="1295400"/>
            <a:chOff x="0" y="0"/>
            <a:chExt cx="3456" cy="672"/>
          </a:xfrm>
        </p:grpSpPr>
        <p:sp>
          <p:nvSpPr>
            <p:cNvPr id="18437" name="矩形 95237"/>
            <p:cNvSpPr/>
            <p:nvPr/>
          </p:nvSpPr>
          <p:spPr>
            <a:xfrm>
              <a:off x="0" y="288"/>
              <a:ext cx="3456" cy="384"/>
            </a:xfrm>
            <a:prstGeom prst="rect">
              <a:avLst/>
            </a:prstGeom>
            <a:solidFill>
              <a:srgbClr val="CCE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400" b="1">
                  <a:latin typeface="Tahoma" panose="020B0604030504040204" pitchFamily="2" charset="0"/>
                  <a:ea typeface="宋体" panose="02010600030101010101" pitchFamily="2" charset="-122"/>
                </a:rPr>
                <a:t>页号</a:t>
              </a:r>
              <a:r>
                <a:rPr lang="en-US" altLang="zh-CN" sz="2400" b="1">
                  <a:latin typeface="Tahoma" panose="020B0604030504040204" pitchFamily="2" charset="0"/>
                  <a:ea typeface="宋体" panose="02010600030101010101" pitchFamily="2" charset="-122"/>
                </a:rPr>
                <a:t>P</a:t>
              </a:r>
              <a:r>
                <a:rPr lang="en-US" altLang="zh-CN" sz="2400">
                  <a:latin typeface="Tahoma" panose="020B0604030504040204" pitchFamily="2" charset="0"/>
                  <a:ea typeface="宋体" panose="02010600030101010101" pitchFamily="2" charset="-122"/>
                </a:rPr>
                <a:t>                        </a:t>
              </a:r>
              <a:r>
                <a:rPr lang="zh-CN" altLang="en-US" sz="2400" b="1">
                  <a:latin typeface="Tahoma" panose="020B0604030504040204" pitchFamily="2" charset="0"/>
                  <a:ea typeface="宋体" panose="02010600030101010101" pitchFamily="2" charset="-122"/>
                </a:rPr>
                <a:t>页内地址</a:t>
              </a:r>
              <a:r>
                <a:rPr lang="en-US" altLang="zh-CN" sz="2400" b="1">
                  <a:latin typeface="Tahoma" panose="020B0604030504040204" pitchFamily="2" charset="0"/>
                  <a:ea typeface="宋体" panose="02010600030101010101" pitchFamily="2" charset="-122"/>
                </a:rPr>
                <a:t>d</a:t>
              </a:r>
              <a:endParaRPr lang="en-US" altLang="zh-CN" sz="2400" b="1">
                <a:latin typeface="Tahoma" panose="020B06040305040402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8438" name="直接连接符 95238"/>
            <p:cNvSpPr/>
            <p:nvPr/>
          </p:nvSpPr>
          <p:spPr>
            <a:xfrm>
              <a:off x="2112" y="28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439" name="矩形 95239"/>
            <p:cNvSpPr/>
            <p:nvPr/>
          </p:nvSpPr>
          <p:spPr>
            <a:xfrm>
              <a:off x="0" y="0"/>
              <a:ext cx="240" cy="240"/>
            </a:xfrm>
            <a:prstGeom prst="rect">
              <a:avLst/>
            </a:prstGeom>
            <a:solidFill>
              <a:schemeClr val="bg1"/>
            </a:solidFill>
            <a:ln w="0" cap="rnd" cmpd="sng">
              <a:solidFill>
                <a:schemeClr val="bg1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>
                  <a:latin typeface="Tahoma" panose="020B0604030504040204" pitchFamily="2" charset="0"/>
                  <a:ea typeface="宋体" panose="02010600030101010101" pitchFamily="2" charset="-122"/>
                </a:rPr>
                <a:t>31</a:t>
              </a:r>
              <a:endParaRPr lang="en-US" altLang="zh-CN">
                <a:latin typeface="Tahoma" panose="020B06040305040402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8440" name="矩形 95240"/>
            <p:cNvSpPr/>
            <p:nvPr/>
          </p:nvSpPr>
          <p:spPr>
            <a:xfrm>
              <a:off x="1872" y="0"/>
              <a:ext cx="480" cy="24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>
                  <a:latin typeface="Tahoma" panose="020B0604030504040204" pitchFamily="2" charset="0"/>
                  <a:ea typeface="宋体" panose="02010600030101010101" pitchFamily="2" charset="-122"/>
                </a:rPr>
                <a:t>12  11</a:t>
              </a:r>
              <a:endParaRPr lang="en-US" altLang="zh-CN">
                <a:latin typeface="Tahoma" panose="020B0604030504040204" pitchFamily="2" charset="0"/>
                <a:ea typeface="宋体" panose="02010600030101010101" pitchFamily="2" charset="-122"/>
              </a:endParaRPr>
            </a:p>
          </p:txBody>
        </p:sp>
        <p:sp>
          <p:nvSpPr>
            <p:cNvPr id="18441" name="矩形 95241"/>
            <p:cNvSpPr/>
            <p:nvPr/>
          </p:nvSpPr>
          <p:spPr>
            <a:xfrm>
              <a:off x="3168" y="0"/>
              <a:ext cx="288" cy="24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>
                  <a:latin typeface="Tahoma" panose="020B0604030504040204" pitchFamily="2" charset="0"/>
                  <a:ea typeface="宋体" panose="02010600030101010101" pitchFamily="2" charset="-122"/>
                </a:rPr>
                <a:t>0</a:t>
              </a:r>
              <a:endParaRPr lang="en-US" altLang="zh-CN">
                <a:latin typeface="Tahoma" panose="020B0604030504040204" pitchFamily="2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523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523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523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charRg st="14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5235">
                                            <p:txEl>
                                              <p:charRg st="14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5235">
                                            <p:txEl>
                                              <p:charRg st="14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5235">
                                            <p:txEl>
                                              <p:charRg st="14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charRg st="64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5235">
                                            <p:txEl>
                                              <p:charRg st="64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5235">
                                            <p:txEl>
                                              <p:charRg st="64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5235">
                                            <p:txEl>
                                              <p:charRg st="64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charRg st="98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5235">
                                            <p:txEl>
                                              <p:charRg st="98" end="1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5235">
                                            <p:txEl>
                                              <p:charRg st="98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5235">
                                            <p:txEl>
                                              <p:charRg st="98" end="1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页表的实现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1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41137" y="1221045"/>
            <a:ext cx="11269345" cy="5162550"/>
            <a:chOff x="673100" y="1929384"/>
            <a:chExt cx="11269345" cy="5162550"/>
          </a:xfrm>
        </p:grpSpPr>
        <p:sp>
          <p:nvSpPr>
            <p:cNvPr id="32" name="ïsḷîḋê"/>
            <p:cNvSpPr/>
            <p:nvPr/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4" name="ïṩḻíḑe"/>
            <p:cNvSpPr/>
            <p:nvPr/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6" name="is1íḑe"/>
            <p:cNvSpPr/>
            <p:nvPr/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íṡ1ïḋé"/>
            <p:cNvSpPr/>
            <p:nvPr/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39" name="îṡlíḓè"/>
            <p:cNvSpPr/>
            <p:nvPr/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42" name="isľîdê"/>
            <p:cNvSpPr txBox="1"/>
            <p:nvPr/>
          </p:nvSpPr>
          <p:spPr>
            <a:xfrm>
              <a:off x="905989" y="4127645"/>
              <a:ext cx="2082045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20000"/>
                </a:lnSpc>
                <a:buClr>
                  <a:srgbClr val="FF0000"/>
                </a:buClr>
              </a:pPr>
              <a:r>
                <a:rPr lang="zh-CN" altLang="en-US" sz="2400" dirty="0"/>
                <a:t>页表被保存在主存中</a:t>
              </a:r>
              <a:endParaRPr lang="zh-CN" altLang="en-US" sz="2400" dirty="0"/>
            </a:p>
          </p:txBody>
        </p:sp>
        <p:sp>
          <p:nvSpPr>
            <p:cNvPr id="47" name="îṣḻidé"/>
            <p:cNvSpPr txBox="1"/>
            <p:nvPr/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8" name="ïŝ1ïḋè"/>
            <p:cNvSpPr txBox="1"/>
            <p:nvPr/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49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50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51" name="isľîdê"/>
            <p:cNvSpPr txBox="1"/>
            <p:nvPr/>
          </p:nvSpPr>
          <p:spPr>
            <a:xfrm>
              <a:off x="3247884" y="4151140"/>
              <a:ext cx="2601746" cy="15105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0" lvl="1" algn="ctr">
                <a:lnSpc>
                  <a:spcPct val="120000"/>
                </a:lnSpc>
              </a:pPr>
              <a:r>
                <a:rPr lang="zh-CN" altLang="en-US" sz="2400" dirty="0"/>
                <a:t>硬件：页表寄存器</a:t>
              </a:r>
              <a:r>
                <a:rPr lang="en-US" altLang="zh-CN" sz="2400" dirty="0"/>
                <a:t>(PTR)</a:t>
              </a:r>
              <a:r>
                <a:rPr lang="zh-CN" altLang="en-US" sz="2400" dirty="0"/>
                <a:t>指向页表的起始地址和长度</a:t>
              </a:r>
              <a:endParaRPr lang="zh-CN" altLang="en-US" sz="2400" dirty="0"/>
            </a:p>
          </p:txBody>
        </p:sp>
        <p:sp>
          <p:nvSpPr>
            <p:cNvPr id="52" name="isľîdê"/>
            <p:cNvSpPr txBox="1"/>
            <p:nvPr/>
          </p:nvSpPr>
          <p:spPr>
            <a:xfrm>
              <a:off x="6109335" y="4200144"/>
              <a:ext cx="2723515" cy="28917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>
                <a:lnSpc>
                  <a:spcPct val="120000"/>
                </a:lnSpc>
                <a:buClr>
                  <a:srgbClr val="0000FF"/>
                </a:buClr>
              </a:pPr>
              <a:r>
                <a:rPr lang="zh-CN" altLang="en-US" sz="2400" dirty="0"/>
                <a:t>在这个机制中，每一次的数据</a:t>
              </a:r>
              <a:r>
                <a:rPr lang="en-US" altLang="zh-CN" sz="2400" dirty="0"/>
                <a:t>/</a:t>
              </a:r>
              <a:r>
                <a:rPr lang="zh-CN" altLang="en-US" sz="2400" dirty="0"/>
                <a:t>指令存取需要</a:t>
              </a:r>
              <a:r>
                <a:rPr lang="zh-CN" altLang="en-US" sz="2400" dirty="0">
                  <a:solidFill>
                    <a:srgbClr val="FF0000"/>
                  </a:solidFill>
                </a:rPr>
                <a:t>两次内存访问</a:t>
              </a:r>
              <a:r>
                <a:rPr lang="zh-CN" altLang="en-US" sz="2400" dirty="0"/>
                <a:t>，一次是访问页表，一次是访问数据</a:t>
              </a:r>
              <a:r>
                <a:rPr lang="en-US" altLang="zh-CN" sz="2400" dirty="0"/>
                <a:t>/</a:t>
              </a:r>
              <a:r>
                <a:rPr lang="zh-CN" altLang="en-US" sz="2400" dirty="0"/>
                <a:t>指令</a:t>
              </a:r>
              <a:endParaRPr lang="zh-CN" altLang="en-US" sz="2400" dirty="0"/>
            </a:p>
          </p:txBody>
        </p:sp>
        <p:sp>
          <p:nvSpPr>
            <p:cNvPr id="53" name="isľîdê"/>
            <p:cNvSpPr txBox="1"/>
            <p:nvPr/>
          </p:nvSpPr>
          <p:spPr>
            <a:xfrm>
              <a:off x="9105900" y="4151249"/>
              <a:ext cx="2836545" cy="2940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>
                <a:lnSpc>
                  <a:spcPct val="120000"/>
                </a:lnSpc>
                <a:buClr>
                  <a:srgbClr val="0000FF"/>
                </a:buClr>
              </a:pPr>
              <a:r>
                <a:rPr lang="zh-CN" altLang="en-US" sz="2400" dirty="0"/>
                <a:t>解决两次访问的问题，采用小但专用且快速的硬件缓冲，这种缓冲称为转换表缓冲器</a:t>
              </a:r>
              <a:r>
                <a:rPr lang="en-US" altLang="zh-CN" sz="2400" dirty="0"/>
                <a:t>(TLB)</a:t>
              </a:r>
              <a:r>
                <a:rPr lang="zh-CN" altLang="en-US" sz="2400" dirty="0"/>
                <a:t>或联想寄存器。快表</a:t>
              </a:r>
              <a:endParaRPr lang="zh-CN" alt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标题 97281"/>
          <p:cNvSpPr>
            <a:spLocks noGrp="1"/>
          </p:cNvSpPr>
          <p:nvPr>
            <p:ph type="title"/>
          </p:nvPr>
        </p:nvSpPr>
        <p:spPr>
          <a:xfrm>
            <a:off x="669924" y="421006"/>
            <a:ext cx="10850563" cy="1028699"/>
          </a:xfrm>
        </p:spPr>
        <p:txBody>
          <a:bodyPr anchor="b" anchorCtr="0"/>
          <a:p>
            <a:r>
              <a:rPr lang="zh-CN" altLang="en-US" sz="3000" b="1"/>
              <a:t>地址变换机构</a:t>
            </a:r>
            <a:endParaRPr lang="zh-CN" altLang="en-US" sz="3000" b="1"/>
          </a:p>
        </p:txBody>
      </p:sp>
      <p:sp>
        <p:nvSpPr>
          <p:cNvPr id="97283" name="内容占位符 97282"/>
          <p:cNvSpPr>
            <a:spLocks noGrp="1"/>
          </p:cNvSpPr>
          <p:nvPr>
            <p:ph idx="1"/>
          </p:nvPr>
        </p:nvSpPr>
        <p:spPr>
          <a:xfrm>
            <a:off x="2362200" y="2057400"/>
            <a:ext cx="7772400" cy="4114800"/>
          </a:xfrm>
        </p:spPr>
        <p:txBody>
          <a:bodyPr anchor="t" anchorCtr="0"/>
          <a:p>
            <a:r>
              <a:rPr lang="zh-CN" altLang="en-US" sz="2600" b="1">
                <a:solidFill>
                  <a:schemeClr val="hlink"/>
                </a:solidFill>
              </a:rPr>
              <a:t>任务</a:t>
            </a:r>
            <a:r>
              <a:rPr lang="zh-CN" altLang="en-US" sz="2600" b="1"/>
              <a:t>：逻辑地址到物理地址的转换。</a:t>
            </a:r>
            <a:endParaRPr lang="zh-CN" altLang="en-US" sz="2600" b="1"/>
          </a:p>
          <a:p>
            <a:pPr marL="0" indent="0">
              <a:buNone/>
            </a:pPr>
            <a:endParaRPr lang="en-US" altLang="zh-CN" sz="2600" b="1"/>
          </a:p>
          <a:p>
            <a:endParaRPr lang="en-US" altLang="zh-CN" sz="2600" b="1"/>
          </a:p>
          <a:p>
            <a:r>
              <a:rPr lang="zh-CN" altLang="en-US" sz="2600" b="1">
                <a:solidFill>
                  <a:schemeClr val="hlink"/>
                </a:solidFill>
              </a:rPr>
              <a:t>转换原则</a:t>
            </a:r>
            <a:r>
              <a:rPr lang="zh-CN" altLang="en-US" sz="2600" b="1"/>
              <a:t>：</a:t>
            </a:r>
            <a:endParaRPr lang="zh-CN" altLang="en-US" sz="2600" b="1"/>
          </a:p>
          <a:p>
            <a:r>
              <a:rPr lang="zh-CN" altLang="en-US" sz="2600" b="1"/>
              <a:t>   逻辑地址的</a:t>
            </a:r>
            <a:r>
              <a:rPr lang="zh-CN" altLang="en-US" sz="2600" b="1" u="sng">
                <a:solidFill>
                  <a:schemeClr val="tx2"/>
                </a:solidFill>
              </a:rPr>
              <a:t>页号</a:t>
            </a:r>
            <a:r>
              <a:rPr lang="zh-CN" altLang="en-US" sz="2600" b="1"/>
              <a:t>转换为内存的</a:t>
            </a:r>
            <a:r>
              <a:rPr lang="zh-CN" altLang="en-US" sz="2600" b="1" u="sng">
                <a:solidFill>
                  <a:schemeClr val="tx2"/>
                </a:solidFill>
              </a:rPr>
              <a:t>物理块号</a:t>
            </a:r>
            <a:r>
              <a:rPr lang="zh-CN" altLang="en-US" sz="2600" b="1"/>
              <a:t>；</a:t>
            </a:r>
            <a:endParaRPr lang="zh-CN" altLang="en-US" sz="2600" b="1"/>
          </a:p>
          <a:p>
            <a:r>
              <a:rPr lang="zh-CN" altLang="en-US" sz="2600" b="1"/>
              <a:t>   </a:t>
            </a:r>
            <a:r>
              <a:rPr lang="zh-CN" altLang="en-US" sz="2600" b="1" u="sng">
                <a:solidFill>
                  <a:schemeClr val="tx2"/>
                </a:solidFill>
              </a:rPr>
              <a:t>页内地址</a:t>
            </a:r>
            <a:r>
              <a:rPr lang="zh-CN" altLang="en-US" sz="2600" b="1"/>
              <a:t>不变。</a:t>
            </a:r>
            <a:endParaRPr lang="zh-CN" altLang="en-US" sz="2600" b="1"/>
          </a:p>
        </p:txBody>
      </p:sp>
      <p:pic>
        <p:nvPicPr>
          <p:cNvPr id="20483" name="图片 97283" descr="PE01931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724400"/>
            <a:ext cx="1295400" cy="1087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28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728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728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charRg st="26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7283">
                                            <p:txEl>
                                              <p:charRg st="26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7283">
                                            <p:txEl>
                                              <p:charRg st="26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7283">
                                            <p:txEl>
                                              <p:charRg st="26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charRg st="32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7283">
                                            <p:txEl>
                                              <p:charRg st="32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7283">
                                            <p:txEl>
                                              <p:charRg st="32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7283">
                                            <p:txEl>
                                              <p:charRg st="32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charRg st="54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7283">
                                            <p:txEl>
                                              <p:charRg st="54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7283">
                                            <p:txEl>
                                              <p:charRg st="54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7283">
                                            <p:txEl>
                                              <p:charRg st="54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基本的地址变换机构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32"/>
          <p:cNvGraphicFramePr>
            <a:graphicFrameLocks noGrp="1"/>
          </p:cNvGraphicFramePr>
          <p:nvPr/>
        </p:nvGraphicFramePr>
        <p:xfrm>
          <a:off x="1223493" y="1191296"/>
          <a:ext cx="3068391" cy="1066800"/>
        </p:xfrm>
        <a:graphic>
          <a:graphicData uri="http://schemas.openxmlformats.org/drawingml/2006/table">
            <a:tbl>
              <a:tblPr/>
              <a:tblGrid>
                <a:gridCol w="1552997"/>
                <a:gridCol w="1515394"/>
              </a:tblGrid>
              <a:tr h="533400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页表寄存器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(PTR)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334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页表始址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页表长度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2" name="Oval 27"/>
          <p:cNvSpPr>
            <a:spLocks noChangeArrowheads="1"/>
          </p:cNvSpPr>
          <p:nvPr/>
        </p:nvSpPr>
        <p:spPr bwMode="auto">
          <a:xfrm>
            <a:off x="2234484" y="2586507"/>
            <a:ext cx="457200" cy="4572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  <a:round/>
          </a:ln>
          <a:effectLst/>
        </p:spPr>
        <p:txBody>
          <a:bodyPr wrap="none" lIns="92075" tIns="46038" rIns="92075" bIns="46038" anchor="ctr"/>
          <a:lstStyle/>
          <a:p>
            <a:pPr algn="ctr">
              <a:buFont typeface="Monotype Sorts" pitchFamily="2" charset="2"/>
              <a:buNone/>
              <a:defRPr/>
            </a:pPr>
            <a:r>
              <a:rPr lang="en-US" altLang="zh-CN" b="1" dirty="0">
                <a:latin typeface="Arial" panose="020B0604020202020204" pitchFamily="34" charset="0"/>
              </a:rPr>
              <a:t>+</a:t>
            </a:r>
            <a:endParaRPr lang="en-US" altLang="zh-CN" b="1" dirty="0">
              <a:latin typeface="Arial" panose="020B0604020202020204" pitchFamily="34" charset="0"/>
            </a:endParaRPr>
          </a:p>
        </p:txBody>
      </p:sp>
      <p:sp>
        <p:nvSpPr>
          <p:cNvPr id="34" name="Line 46"/>
          <p:cNvSpPr>
            <a:spLocks noChangeShapeType="1"/>
          </p:cNvSpPr>
          <p:nvPr/>
        </p:nvSpPr>
        <p:spPr bwMode="auto">
          <a:xfrm>
            <a:off x="4749084" y="3155321"/>
            <a:ext cx="8382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6" name="Line 53"/>
          <p:cNvSpPr>
            <a:spLocks noChangeShapeType="1"/>
          </p:cNvSpPr>
          <p:nvPr/>
        </p:nvSpPr>
        <p:spPr bwMode="auto">
          <a:xfrm>
            <a:off x="4749084" y="3155321"/>
            <a:ext cx="0" cy="39687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8" name="Line 55"/>
          <p:cNvSpPr>
            <a:spLocks noChangeShapeType="1"/>
          </p:cNvSpPr>
          <p:nvPr/>
        </p:nvSpPr>
        <p:spPr bwMode="auto">
          <a:xfrm>
            <a:off x="7187484" y="3155321"/>
            <a:ext cx="0" cy="39687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39" name="Line 59"/>
          <p:cNvSpPr>
            <a:spLocks noChangeShapeType="1"/>
          </p:cNvSpPr>
          <p:nvPr/>
        </p:nvSpPr>
        <p:spPr bwMode="auto">
          <a:xfrm>
            <a:off x="5587284" y="3155321"/>
            <a:ext cx="16002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" name="Line 60"/>
          <p:cNvSpPr>
            <a:spLocks noChangeShapeType="1"/>
          </p:cNvSpPr>
          <p:nvPr/>
        </p:nvSpPr>
        <p:spPr bwMode="auto">
          <a:xfrm>
            <a:off x="4749084" y="3552196"/>
            <a:ext cx="0" cy="52705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2" name="Line 68"/>
          <p:cNvSpPr>
            <a:spLocks noChangeShapeType="1"/>
          </p:cNvSpPr>
          <p:nvPr/>
        </p:nvSpPr>
        <p:spPr bwMode="auto">
          <a:xfrm>
            <a:off x="4749084" y="4079246"/>
            <a:ext cx="0" cy="5302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4" name="Line 71"/>
          <p:cNvSpPr>
            <a:spLocks noChangeShapeType="1"/>
          </p:cNvSpPr>
          <p:nvPr/>
        </p:nvSpPr>
        <p:spPr bwMode="auto">
          <a:xfrm>
            <a:off x="4749084" y="4609471"/>
            <a:ext cx="0" cy="5302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5" name="Line 74"/>
          <p:cNvSpPr>
            <a:spLocks noChangeShapeType="1"/>
          </p:cNvSpPr>
          <p:nvPr/>
        </p:nvSpPr>
        <p:spPr bwMode="auto">
          <a:xfrm>
            <a:off x="4749084" y="5139696"/>
            <a:ext cx="0" cy="52705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6" name="Line 77"/>
          <p:cNvSpPr>
            <a:spLocks noChangeShapeType="1"/>
          </p:cNvSpPr>
          <p:nvPr/>
        </p:nvSpPr>
        <p:spPr bwMode="auto">
          <a:xfrm>
            <a:off x="4749084" y="5666746"/>
            <a:ext cx="0" cy="5302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7" name="Rectangle 96"/>
          <p:cNvSpPr>
            <a:spLocks noChangeArrowheads="1"/>
          </p:cNvSpPr>
          <p:nvPr/>
        </p:nvSpPr>
        <p:spPr bwMode="auto">
          <a:xfrm>
            <a:off x="5511084" y="5361946"/>
            <a:ext cx="1600200" cy="5302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txBody>
          <a:bodyPr lIns="92075" tIns="46038" rIns="92075" bIns="46038" anchor="ctr"/>
          <a:lstStyle>
            <a:lvl1pPr>
              <a:buClr>
                <a:schemeClr val="tx2"/>
              </a:buClr>
              <a:buSzPct val="75000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buClr>
                <a:schemeClr val="tx1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buClr>
                <a:schemeClr val="accent2"/>
              </a:buClr>
              <a:buSzPct val="65000"/>
              <a:buChar char="u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buClr>
                <a:schemeClr val="tx1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  <a:defRPr/>
            </a:pPr>
            <a:endParaRPr lang="zh-CN" altLang="zh-CN" sz="2000" b="1"/>
          </a:p>
        </p:txBody>
      </p:sp>
      <p:sp>
        <p:nvSpPr>
          <p:cNvPr id="48" name="Rectangle 45"/>
          <p:cNvSpPr>
            <a:spLocks noChangeArrowheads="1"/>
          </p:cNvSpPr>
          <p:nvPr/>
        </p:nvSpPr>
        <p:spPr bwMode="auto">
          <a:xfrm>
            <a:off x="5511084" y="5892171"/>
            <a:ext cx="16002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页表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49" name="Rectangle 43"/>
          <p:cNvSpPr>
            <a:spLocks noChangeArrowheads="1"/>
          </p:cNvSpPr>
          <p:nvPr/>
        </p:nvSpPr>
        <p:spPr bwMode="auto">
          <a:xfrm>
            <a:off x="5511084" y="4834896"/>
            <a:ext cx="1600200" cy="527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txBody>
          <a:bodyPr lIns="92075" tIns="46038" rIns="92075" bIns="46038" anchor="ctr"/>
          <a:lstStyle>
            <a:lvl1pPr>
              <a:buClr>
                <a:schemeClr val="tx2"/>
              </a:buClr>
              <a:buSzPct val="75000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buClr>
                <a:schemeClr val="tx1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buClr>
                <a:schemeClr val="accent2"/>
              </a:buClr>
              <a:buSzPct val="65000"/>
              <a:buChar char="u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buClr>
                <a:schemeClr val="tx1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  <a:defRPr/>
            </a:pPr>
            <a:r>
              <a:rPr lang="en-US" altLang="zh-CN" b="1" dirty="0" smtClean="0">
                <a:latin typeface="+mj-lt"/>
              </a:rPr>
              <a:t>b</a:t>
            </a:r>
            <a:endParaRPr lang="en-US" altLang="zh-CN" b="1" dirty="0">
              <a:latin typeface="+mj-lt"/>
            </a:endParaRPr>
          </a:p>
        </p:txBody>
      </p:sp>
      <p:sp>
        <p:nvSpPr>
          <p:cNvPr id="50" name="Rectangle 42"/>
          <p:cNvSpPr>
            <a:spLocks noChangeArrowheads="1"/>
          </p:cNvSpPr>
          <p:nvPr/>
        </p:nvSpPr>
        <p:spPr bwMode="auto">
          <a:xfrm>
            <a:off x="4672884" y="4834896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600" b="1">
                <a:latin typeface="+mj-lt"/>
              </a:rPr>
              <a:t>3</a:t>
            </a:r>
            <a:endParaRPr kumimoji="1" lang="en-US" altLang="zh-CN" sz="2600" b="1">
              <a:latin typeface="+mj-lt"/>
            </a:endParaRPr>
          </a:p>
        </p:txBody>
      </p:sp>
      <p:sp>
        <p:nvSpPr>
          <p:cNvPr id="51" name="Rectangle 41"/>
          <p:cNvSpPr>
            <a:spLocks noChangeArrowheads="1"/>
          </p:cNvSpPr>
          <p:nvPr/>
        </p:nvSpPr>
        <p:spPr bwMode="auto">
          <a:xfrm>
            <a:off x="5511084" y="4304671"/>
            <a:ext cx="1600200" cy="5302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txBody>
          <a:bodyPr lIns="92075" tIns="46038" rIns="92075" bIns="46038" anchor="ctr"/>
          <a:lstStyle>
            <a:lvl1pPr>
              <a:buClr>
                <a:schemeClr val="tx2"/>
              </a:buClr>
              <a:buSzPct val="75000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buClr>
                <a:schemeClr val="tx1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buClr>
                <a:schemeClr val="accent2"/>
              </a:buClr>
              <a:buSzPct val="65000"/>
              <a:buChar char="u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buClr>
                <a:schemeClr val="tx1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  <a:defRPr/>
            </a:pPr>
            <a:endParaRPr lang="zh-CN" altLang="zh-CN" sz="2000" b="1"/>
          </a:p>
        </p:txBody>
      </p:sp>
      <p:sp>
        <p:nvSpPr>
          <p:cNvPr id="52" name="Rectangle 40"/>
          <p:cNvSpPr>
            <a:spLocks noChangeArrowheads="1"/>
          </p:cNvSpPr>
          <p:nvPr/>
        </p:nvSpPr>
        <p:spPr bwMode="auto">
          <a:xfrm>
            <a:off x="4672884" y="4304671"/>
            <a:ext cx="8382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600" b="1">
                <a:latin typeface="+mj-lt"/>
              </a:rPr>
              <a:t>2</a:t>
            </a:r>
            <a:endParaRPr kumimoji="1" lang="en-US" altLang="zh-CN" sz="2600" b="1">
              <a:latin typeface="+mj-lt"/>
            </a:endParaRPr>
          </a:p>
        </p:txBody>
      </p:sp>
      <p:sp>
        <p:nvSpPr>
          <p:cNvPr id="53" name="Rectangle 39"/>
          <p:cNvSpPr>
            <a:spLocks noChangeArrowheads="1"/>
          </p:cNvSpPr>
          <p:nvPr/>
        </p:nvSpPr>
        <p:spPr bwMode="auto">
          <a:xfrm>
            <a:off x="5511084" y="3774446"/>
            <a:ext cx="1600200" cy="5302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txBody>
          <a:bodyPr lIns="92075" tIns="46038" rIns="92075" bIns="46038" anchor="ctr"/>
          <a:lstStyle>
            <a:lvl1pPr>
              <a:buClr>
                <a:schemeClr val="tx2"/>
              </a:buClr>
              <a:buSzPct val="75000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buClr>
                <a:schemeClr val="tx1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buClr>
                <a:schemeClr val="accent2"/>
              </a:buClr>
              <a:buSzPct val="65000"/>
              <a:buChar char="u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buClr>
                <a:schemeClr val="tx1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  <a:defRPr/>
            </a:pPr>
            <a:endParaRPr lang="zh-CN" altLang="zh-CN" sz="2000" b="1"/>
          </a:p>
        </p:txBody>
      </p:sp>
      <p:sp>
        <p:nvSpPr>
          <p:cNvPr id="54" name="Rectangle 38"/>
          <p:cNvSpPr>
            <a:spLocks noChangeArrowheads="1"/>
          </p:cNvSpPr>
          <p:nvPr/>
        </p:nvSpPr>
        <p:spPr bwMode="auto">
          <a:xfrm>
            <a:off x="4672884" y="3774446"/>
            <a:ext cx="838200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600" b="1">
                <a:latin typeface="+mj-lt"/>
              </a:rPr>
              <a:t>1</a:t>
            </a:r>
            <a:endParaRPr kumimoji="1" lang="en-US" altLang="zh-CN" sz="2600" b="1">
              <a:latin typeface="+mj-lt"/>
            </a:endParaRPr>
          </a:p>
        </p:txBody>
      </p:sp>
      <p:sp>
        <p:nvSpPr>
          <p:cNvPr id="55" name="Rectangle 37"/>
          <p:cNvSpPr>
            <a:spLocks noChangeArrowheads="1"/>
          </p:cNvSpPr>
          <p:nvPr/>
        </p:nvSpPr>
        <p:spPr bwMode="auto">
          <a:xfrm>
            <a:off x="5511084" y="3231521"/>
            <a:ext cx="1600200" cy="527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  <a:effectLst/>
        </p:spPr>
        <p:txBody>
          <a:bodyPr lIns="92075" tIns="46038" rIns="92075" bIns="46038" anchor="ctr"/>
          <a:lstStyle>
            <a:lvl1pPr>
              <a:buClr>
                <a:schemeClr val="tx2"/>
              </a:buClr>
              <a:buSzPct val="75000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buClr>
                <a:schemeClr val="tx1"/>
              </a:buClr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buClr>
                <a:schemeClr val="accent2"/>
              </a:buClr>
              <a:buSzPct val="65000"/>
              <a:buChar char="u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buClr>
                <a:schemeClr val="tx1"/>
              </a:buClr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  <a:defRPr/>
            </a:pPr>
            <a:r>
              <a:rPr lang="en-US" altLang="zh-CN" b="1" dirty="0">
                <a:latin typeface="+mj-lt"/>
              </a:rPr>
              <a:t>1</a:t>
            </a:r>
            <a:endParaRPr lang="en-US" altLang="zh-CN" b="1" dirty="0">
              <a:latin typeface="+mj-lt"/>
            </a:endParaRPr>
          </a:p>
        </p:txBody>
      </p:sp>
      <p:sp>
        <p:nvSpPr>
          <p:cNvPr id="56" name="Rectangle 36"/>
          <p:cNvSpPr>
            <a:spLocks noChangeArrowheads="1"/>
          </p:cNvSpPr>
          <p:nvPr/>
        </p:nvSpPr>
        <p:spPr bwMode="auto">
          <a:xfrm>
            <a:off x="4672884" y="3247396"/>
            <a:ext cx="838200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en-US" altLang="zh-CN" sz="2600" b="1" dirty="0">
                <a:latin typeface="+mj-lt"/>
              </a:rPr>
              <a:t>0</a:t>
            </a:r>
            <a:endParaRPr kumimoji="1" lang="en-US" altLang="zh-CN" sz="2600" b="1" dirty="0">
              <a:latin typeface="+mj-lt"/>
            </a:endParaRPr>
          </a:p>
        </p:txBody>
      </p:sp>
      <p:sp>
        <p:nvSpPr>
          <p:cNvPr id="57" name="Rectangle 35"/>
          <p:cNvSpPr>
            <a:spLocks noChangeArrowheads="1"/>
          </p:cNvSpPr>
          <p:nvPr/>
        </p:nvSpPr>
        <p:spPr bwMode="auto">
          <a:xfrm>
            <a:off x="5511084" y="2850521"/>
            <a:ext cx="1600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zh-CN" altLang="en-US" sz="2000" b="1" dirty="0">
                <a:latin typeface="+mn-ea"/>
                <a:ea typeface="+mn-ea"/>
              </a:rPr>
              <a:t>块号</a:t>
            </a:r>
            <a:endParaRPr kumimoji="1" lang="zh-CN" altLang="en-US" sz="2000" b="1" dirty="0">
              <a:latin typeface="+mn-ea"/>
              <a:ea typeface="+mn-ea"/>
            </a:endParaRPr>
          </a:p>
        </p:txBody>
      </p:sp>
      <p:sp>
        <p:nvSpPr>
          <p:cNvPr id="58" name="Rectangle 34"/>
          <p:cNvSpPr>
            <a:spLocks noChangeArrowheads="1"/>
          </p:cNvSpPr>
          <p:nvPr/>
        </p:nvSpPr>
        <p:spPr bwMode="auto">
          <a:xfrm>
            <a:off x="4672884" y="2850521"/>
            <a:ext cx="838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kumimoji="1" lang="zh-CN" altLang="en-US" sz="2000" b="1" dirty="0">
                <a:latin typeface="+mn-ea"/>
                <a:ea typeface="+mn-ea"/>
              </a:rPr>
              <a:t>页号</a:t>
            </a:r>
            <a:endParaRPr kumimoji="1" lang="zh-CN" altLang="en-US" sz="2000" b="1" dirty="0">
              <a:latin typeface="+mn-ea"/>
              <a:ea typeface="+mn-ea"/>
            </a:endParaRPr>
          </a:p>
        </p:txBody>
      </p:sp>
      <p:sp>
        <p:nvSpPr>
          <p:cNvPr id="59" name="Line 47"/>
          <p:cNvSpPr>
            <a:spLocks noChangeShapeType="1"/>
          </p:cNvSpPr>
          <p:nvPr/>
        </p:nvSpPr>
        <p:spPr bwMode="auto">
          <a:xfrm>
            <a:off x="4672884" y="3247396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0" name="Line 70"/>
          <p:cNvSpPr>
            <a:spLocks noChangeShapeType="1"/>
          </p:cNvSpPr>
          <p:nvPr/>
        </p:nvSpPr>
        <p:spPr bwMode="auto">
          <a:xfrm>
            <a:off x="5511084" y="3774446"/>
            <a:ext cx="16002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1" name="Line 73"/>
          <p:cNvSpPr>
            <a:spLocks noChangeShapeType="1"/>
          </p:cNvSpPr>
          <p:nvPr/>
        </p:nvSpPr>
        <p:spPr bwMode="auto">
          <a:xfrm>
            <a:off x="5511084" y="4304671"/>
            <a:ext cx="1600200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2" name="Line 76"/>
          <p:cNvSpPr>
            <a:spLocks noChangeShapeType="1"/>
          </p:cNvSpPr>
          <p:nvPr/>
        </p:nvSpPr>
        <p:spPr bwMode="auto">
          <a:xfrm>
            <a:off x="5511084" y="4834896"/>
            <a:ext cx="160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3" name="Line 79"/>
          <p:cNvSpPr>
            <a:spLocks noChangeShapeType="1"/>
          </p:cNvSpPr>
          <p:nvPr/>
        </p:nvSpPr>
        <p:spPr bwMode="auto">
          <a:xfrm>
            <a:off x="5511084" y="5361946"/>
            <a:ext cx="160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4" name="Line 82"/>
          <p:cNvSpPr>
            <a:spLocks noChangeShapeType="1"/>
          </p:cNvSpPr>
          <p:nvPr/>
        </p:nvSpPr>
        <p:spPr bwMode="auto">
          <a:xfrm>
            <a:off x="5511084" y="2850521"/>
            <a:ext cx="0" cy="396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5" name="Line 67"/>
          <p:cNvSpPr>
            <a:spLocks noChangeShapeType="1"/>
          </p:cNvSpPr>
          <p:nvPr/>
        </p:nvSpPr>
        <p:spPr bwMode="auto">
          <a:xfrm>
            <a:off x="5511084" y="3247396"/>
            <a:ext cx="1600200" cy="0"/>
          </a:xfrm>
          <a:prstGeom prst="line">
            <a:avLst/>
          </a:prstGeom>
          <a:noFill/>
          <a:ln w="3175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6" name="Line 61"/>
          <p:cNvSpPr>
            <a:spLocks noChangeShapeType="1"/>
          </p:cNvSpPr>
          <p:nvPr/>
        </p:nvSpPr>
        <p:spPr bwMode="auto">
          <a:xfrm>
            <a:off x="5511084" y="3247396"/>
            <a:ext cx="0" cy="2644775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7" name="Line 62"/>
          <p:cNvSpPr>
            <a:spLocks noChangeShapeType="1"/>
          </p:cNvSpPr>
          <p:nvPr/>
        </p:nvSpPr>
        <p:spPr bwMode="auto">
          <a:xfrm>
            <a:off x="7111284" y="3247396"/>
            <a:ext cx="0" cy="2644775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8" name="Line 97"/>
          <p:cNvSpPr>
            <a:spLocks noChangeShapeType="1"/>
          </p:cNvSpPr>
          <p:nvPr/>
        </p:nvSpPr>
        <p:spPr bwMode="auto">
          <a:xfrm>
            <a:off x="5511084" y="5892171"/>
            <a:ext cx="160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9" name="Line 94"/>
          <p:cNvSpPr>
            <a:spLocks noChangeShapeType="1"/>
          </p:cNvSpPr>
          <p:nvPr/>
        </p:nvSpPr>
        <p:spPr bwMode="auto">
          <a:xfrm>
            <a:off x="5206284" y="5085721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graphicFrame>
        <p:nvGraphicFramePr>
          <p:cNvPr id="70" name="Group 133"/>
          <p:cNvGraphicFramePr>
            <a:graphicFrameLocks noGrp="1"/>
          </p:cNvGraphicFramePr>
          <p:nvPr/>
        </p:nvGraphicFramePr>
        <p:xfrm>
          <a:off x="7873284" y="5229896"/>
          <a:ext cx="2209800" cy="915672"/>
        </p:xfrm>
        <a:graphic>
          <a:graphicData uri="http://schemas.openxmlformats.org/drawingml/2006/table">
            <a:tbl>
              <a:tblPr/>
              <a:tblGrid>
                <a:gridCol w="762000"/>
                <a:gridCol w="1447800"/>
              </a:tblGrid>
              <a:tr h="44291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kumimoji="1" lang="zh-CN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kumimoji="1" lang="zh-CN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42913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物理地址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71" name="Group 134"/>
          <p:cNvGraphicFramePr>
            <a:graphicFrameLocks noGrp="1"/>
          </p:cNvGraphicFramePr>
          <p:nvPr/>
        </p:nvGraphicFramePr>
        <p:xfrm>
          <a:off x="7339884" y="1267496"/>
          <a:ext cx="3276599" cy="1066800"/>
        </p:xfrm>
        <a:graphic>
          <a:graphicData uri="http://schemas.openxmlformats.org/drawingml/2006/table">
            <a:tbl>
              <a:tblPr/>
              <a:tblGrid>
                <a:gridCol w="1311148"/>
                <a:gridCol w="1965451"/>
              </a:tblGrid>
              <a:tr h="533400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逻辑地址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83" marR="92083" marT="46038" marB="46038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334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页号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(3)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83" marR="92083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页内地址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83" marR="92083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pSp>
        <p:nvGrpSpPr>
          <p:cNvPr id="72" name="Group 158"/>
          <p:cNvGrpSpPr/>
          <p:nvPr/>
        </p:nvGrpSpPr>
        <p:grpSpPr bwMode="auto">
          <a:xfrm>
            <a:off x="5434884" y="1038896"/>
            <a:ext cx="1447800" cy="1295400"/>
            <a:chOff x="2544" y="624"/>
            <a:chExt cx="912" cy="816"/>
          </a:xfrm>
        </p:grpSpPr>
        <p:sp>
          <p:nvSpPr>
            <p:cNvPr id="73" name="Oval 146"/>
            <p:cNvSpPr>
              <a:spLocks noChangeArrowheads="1"/>
            </p:cNvSpPr>
            <p:nvPr/>
          </p:nvSpPr>
          <p:spPr bwMode="auto">
            <a:xfrm>
              <a:off x="2880" y="1152"/>
              <a:ext cx="288" cy="288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buFont typeface="Monotype Sorts" pitchFamily="2" charset="2"/>
                <a:buNone/>
                <a:defRPr/>
              </a:pPr>
              <a:r>
                <a:rPr lang="en-US" altLang="zh-CN" dirty="0">
                  <a:latin typeface="Arial" panose="020B0604020202020204" pitchFamily="34" charset="0"/>
                </a:rPr>
                <a:t>&gt;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74" name="Text Box 147"/>
            <p:cNvSpPr txBox="1">
              <a:spLocks noChangeArrowheads="1"/>
            </p:cNvSpPr>
            <p:nvPr/>
          </p:nvSpPr>
          <p:spPr bwMode="auto">
            <a:xfrm>
              <a:off x="2544" y="624"/>
              <a:ext cx="9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越界中断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75" name="Line 148"/>
            <p:cNvSpPr>
              <a:spLocks noChangeShapeType="1"/>
            </p:cNvSpPr>
            <p:nvPr/>
          </p:nvSpPr>
          <p:spPr bwMode="auto">
            <a:xfrm flipV="1">
              <a:off x="3024" y="864"/>
              <a:ext cx="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/>
            </a:p>
          </p:txBody>
        </p:sp>
      </p:grpSp>
      <p:sp>
        <p:nvSpPr>
          <p:cNvPr id="76" name="Oval 149"/>
          <p:cNvSpPr>
            <a:spLocks noChangeArrowheads="1"/>
          </p:cNvSpPr>
          <p:nvPr/>
        </p:nvSpPr>
        <p:spPr bwMode="auto">
          <a:xfrm>
            <a:off x="6120684" y="2700269"/>
            <a:ext cx="152400" cy="1524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2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7" name="Line 150"/>
          <p:cNvSpPr>
            <a:spLocks noChangeShapeType="1"/>
          </p:cNvSpPr>
          <p:nvPr/>
        </p:nvSpPr>
        <p:spPr bwMode="auto">
          <a:xfrm flipV="1">
            <a:off x="6196884" y="2334295"/>
            <a:ext cx="0" cy="44432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8" name="Line 151"/>
          <p:cNvSpPr>
            <a:spLocks noChangeShapeType="1"/>
          </p:cNvSpPr>
          <p:nvPr/>
        </p:nvSpPr>
        <p:spPr bwMode="auto">
          <a:xfrm>
            <a:off x="8178084" y="3248696"/>
            <a:ext cx="0" cy="2286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9" name="Line 153"/>
          <p:cNvSpPr>
            <a:spLocks noChangeShapeType="1"/>
          </p:cNvSpPr>
          <p:nvPr/>
        </p:nvSpPr>
        <p:spPr bwMode="auto">
          <a:xfrm>
            <a:off x="9397284" y="2334296"/>
            <a:ext cx="0" cy="2895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0" name="Line 154"/>
          <p:cNvSpPr>
            <a:spLocks noChangeShapeType="1"/>
          </p:cNvSpPr>
          <p:nvPr/>
        </p:nvSpPr>
        <p:spPr bwMode="auto">
          <a:xfrm>
            <a:off x="7111284" y="5458496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1" name="Line 155"/>
          <p:cNvSpPr>
            <a:spLocks noChangeShapeType="1"/>
          </p:cNvSpPr>
          <p:nvPr/>
        </p:nvSpPr>
        <p:spPr bwMode="auto">
          <a:xfrm>
            <a:off x="8101884" y="2334296"/>
            <a:ext cx="0" cy="44432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2" name="Line 156"/>
          <p:cNvSpPr>
            <a:spLocks noChangeShapeType="1"/>
          </p:cNvSpPr>
          <p:nvPr/>
        </p:nvSpPr>
        <p:spPr bwMode="auto">
          <a:xfrm flipH="1">
            <a:off x="2691684" y="2779102"/>
            <a:ext cx="5410200" cy="344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3" name="Line 157"/>
          <p:cNvSpPr>
            <a:spLocks noChangeShapeType="1"/>
          </p:cNvSpPr>
          <p:nvPr/>
        </p:nvSpPr>
        <p:spPr bwMode="auto">
          <a:xfrm>
            <a:off x="2463084" y="2258096"/>
            <a:ext cx="0" cy="29192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4" name="Line 159"/>
          <p:cNvSpPr>
            <a:spLocks noChangeShapeType="1"/>
          </p:cNvSpPr>
          <p:nvPr/>
        </p:nvSpPr>
        <p:spPr bwMode="auto">
          <a:xfrm>
            <a:off x="2463084" y="3172496"/>
            <a:ext cx="0" cy="2286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5" name="Line 160"/>
          <p:cNvSpPr>
            <a:spLocks noChangeShapeType="1"/>
          </p:cNvSpPr>
          <p:nvPr/>
        </p:nvSpPr>
        <p:spPr bwMode="auto">
          <a:xfrm>
            <a:off x="2463084" y="5420396"/>
            <a:ext cx="2514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86" name="Line 94"/>
          <p:cNvSpPr>
            <a:spLocks noChangeShapeType="1"/>
          </p:cNvSpPr>
          <p:nvPr/>
        </p:nvSpPr>
        <p:spPr bwMode="auto">
          <a:xfrm flipV="1">
            <a:off x="4291884" y="2081566"/>
            <a:ext cx="1676400" cy="2413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文本占位符 102401"/>
          <p:cNvSpPr>
            <a:spLocks noGrp="1"/>
          </p:cNvSpPr>
          <p:nvPr>
            <p:ph idx="1"/>
          </p:nvPr>
        </p:nvSpPr>
        <p:spPr>
          <a:xfrm>
            <a:off x="2133600" y="1828800"/>
            <a:ext cx="4648200" cy="4572000"/>
          </a:xfrm>
        </p:spPr>
        <p:txBody>
          <a:bodyPr anchor="t" anchorCtr="0"/>
          <a:p>
            <a:r>
              <a:rPr lang="zh-CN" altLang="en-US" sz="2600" b="1">
                <a:latin typeface="宋体" panose="02010600030101010101" pitchFamily="2" charset="-122"/>
              </a:rPr>
              <a:t>在采用页式存储管理的系统中，某作业</a:t>
            </a:r>
            <a:r>
              <a:rPr lang="en-US" altLang="zh-CN" sz="2600" b="1">
                <a:latin typeface="宋体" panose="02010600030101010101" pitchFamily="2" charset="-122"/>
              </a:rPr>
              <a:t>J</a:t>
            </a:r>
            <a:r>
              <a:rPr lang="zh-CN" altLang="en-US" sz="2600" b="1">
                <a:latin typeface="宋体" panose="02010600030101010101" pitchFamily="2" charset="-122"/>
              </a:rPr>
              <a:t>的逻辑地址空间为</a:t>
            </a:r>
            <a:r>
              <a:rPr lang="en-US" altLang="zh-CN" sz="2600" b="1">
                <a:latin typeface="宋体" panose="02010600030101010101" pitchFamily="2" charset="-122"/>
              </a:rPr>
              <a:t>5</a:t>
            </a:r>
            <a:r>
              <a:rPr lang="zh-CN" altLang="en-US" sz="2600" b="1">
                <a:latin typeface="宋体" panose="02010600030101010101" pitchFamily="2" charset="-122"/>
              </a:rPr>
              <a:t>个页，每页</a:t>
            </a:r>
            <a:r>
              <a:rPr lang="en-US" altLang="zh-CN" sz="2600" b="1">
                <a:latin typeface="宋体" panose="02010600030101010101" pitchFamily="2" charset="-122"/>
              </a:rPr>
              <a:t>2048</a:t>
            </a:r>
            <a:r>
              <a:rPr lang="zh-CN" altLang="en-US" sz="2600" b="1">
                <a:latin typeface="宋体" panose="02010600030101010101" pitchFamily="2" charset="-122"/>
              </a:rPr>
              <a:t>字节，且已知该作业的页表如下：</a:t>
            </a:r>
            <a:endParaRPr lang="zh-CN" altLang="en-US" sz="2600" b="1">
              <a:latin typeface="宋体" panose="02010600030101010101" pitchFamily="2" charset="-122"/>
            </a:endParaRPr>
          </a:p>
          <a:p>
            <a:r>
              <a:rPr lang="zh-CN" altLang="en-US" sz="2600" b="1">
                <a:latin typeface="宋体" panose="02010600030101010101" pitchFamily="2" charset="-122"/>
              </a:rPr>
              <a:t>请画出地址转换图，求出有效逻辑地址</a:t>
            </a:r>
            <a:r>
              <a:rPr lang="en-US" altLang="zh-CN" sz="2600" b="1">
                <a:latin typeface="宋体" panose="02010600030101010101" pitchFamily="2" charset="-122"/>
              </a:rPr>
              <a:t>4865B</a:t>
            </a:r>
            <a:r>
              <a:rPr lang="zh-CN" altLang="en-US" sz="2600" b="1">
                <a:latin typeface="宋体" panose="02010600030101010101" pitchFamily="2" charset="-122"/>
              </a:rPr>
              <a:t>所对应的物理地址。</a:t>
            </a:r>
            <a:endParaRPr lang="zh-CN" altLang="en-US" sz="2600" b="1">
              <a:latin typeface="宋体" panose="02010600030101010101" pitchFamily="2" charset="-122"/>
            </a:endParaRPr>
          </a:p>
          <a:p>
            <a:endParaRPr lang="zh-CN" altLang="en-US" b="1">
              <a:latin typeface="宋体" panose="02010600030101010101" pitchFamily="2" charset="-122"/>
            </a:endParaRPr>
          </a:p>
          <a:p>
            <a:endParaRPr lang="zh-CN" altLang="en-US" b="1">
              <a:latin typeface="宋体" panose="02010600030101010101" pitchFamily="2" charset="-122"/>
            </a:endParaRPr>
          </a:p>
        </p:txBody>
      </p:sp>
      <p:graphicFrame>
        <p:nvGraphicFramePr>
          <p:cNvPr id="102403" name="表格 102402"/>
          <p:cNvGraphicFramePr/>
          <p:nvPr/>
        </p:nvGraphicFramePr>
        <p:xfrm>
          <a:off x="7086600" y="2362200"/>
          <a:ext cx="2438400" cy="3681095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</a:tblGrid>
              <a:tr h="1030605">
                <a:tc>
                  <a:txBody>
                    <a:bodyPr wrap="square"/>
                    <a:lstStyle>
                      <a:lvl1pPr marL="469900" lvl="0" indent="-469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6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>
                        <a:defRPr sz="2200" kern="1200"/>
                      </a:lvl2pPr>
                      <a:lvl3pPr marL="1304925" lvl="2" indent="-394970">
                        <a:defRPr sz="21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/>
                        <a:t>页号</a:t>
                      </a:r>
                      <a:endParaRPr lang="zh-CN" altLang="en-US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469900" lvl="0" indent="-469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6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>
                        <a:defRPr sz="2200" kern="1200"/>
                      </a:lvl2pPr>
                      <a:lvl3pPr marL="1304925" lvl="2" indent="-394970">
                        <a:defRPr sz="21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zh-CN" altLang="en-US"/>
                        <a:t>块号</a:t>
                      </a:r>
                      <a:endParaRPr lang="zh-CN" altLang="en-US"/>
                    </a:p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145">
                <a:tc>
                  <a:txBody>
                    <a:bodyPr wrap="square"/>
                    <a:lstStyle>
                      <a:lvl1pPr marL="469900" lvl="0" indent="-469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6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>
                        <a:defRPr sz="2200" kern="1200"/>
                      </a:lvl2pPr>
                      <a:lvl3pPr marL="1304925" lvl="2" indent="-394970">
                        <a:defRPr sz="21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469900" lvl="0" indent="-469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6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>
                        <a:defRPr sz="2200" kern="1200"/>
                      </a:lvl2pPr>
                      <a:lvl3pPr marL="1304925" lvl="2" indent="-394970">
                        <a:defRPr sz="21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3</a:t>
                      </a:r>
                      <a:endParaRPr lang="zh-CN" altLang="en-US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145">
                <a:tc>
                  <a:txBody>
                    <a:bodyPr wrap="square"/>
                    <a:lstStyle>
                      <a:lvl1pPr marL="469900" lvl="0" indent="-469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6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>
                        <a:defRPr sz="2200" kern="1200"/>
                      </a:lvl2pPr>
                      <a:lvl3pPr marL="1304925" lvl="2" indent="-394970">
                        <a:defRPr sz="21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469900" lvl="0" indent="-469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6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>
                        <a:defRPr sz="2200" kern="1200"/>
                      </a:lvl2pPr>
                      <a:lvl3pPr marL="1304925" lvl="2" indent="-394970">
                        <a:defRPr sz="21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8</a:t>
                      </a:r>
                      <a:endParaRPr lang="zh-CN" altLang="en-US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3420">
                <a:tc>
                  <a:txBody>
                    <a:bodyPr wrap="square"/>
                    <a:lstStyle>
                      <a:lvl1pPr marL="469900" lvl="0" indent="-469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6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>
                        <a:defRPr sz="2200" kern="1200"/>
                      </a:lvl2pPr>
                      <a:lvl3pPr marL="1304925" lvl="2" indent="-394970">
                        <a:defRPr sz="21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3</a:t>
                      </a:r>
                      <a:endParaRPr lang="zh-CN" altLang="en-US"/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469900" lvl="0" indent="-469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6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>
                        <a:defRPr sz="2200" kern="1200"/>
                      </a:lvl2pPr>
                      <a:lvl3pPr marL="1304925" lvl="2" indent="-394970">
                        <a:defRPr sz="21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6</a:t>
                      </a:r>
                      <a:endParaRPr lang="zh-CN" altLang="en-US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2780">
                <a:tc>
                  <a:txBody>
                    <a:bodyPr wrap="square"/>
                    <a:lstStyle>
                      <a:lvl1pPr marL="469900" lvl="0" indent="-469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6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>
                        <a:defRPr sz="2200" kern="1200"/>
                      </a:lvl2pPr>
                      <a:lvl3pPr marL="1304925" lvl="2" indent="-394970">
                        <a:defRPr sz="21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4</a:t>
                      </a:r>
                      <a:endParaRPr lang="zh-CN" altLang="en-US"/>
                    </a:p>
                  </a:txBody>
                  <a:tcPr vert="horz" anchor="t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469900" lvl="0" indent="-469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buChar char="o"/>
                        <a:defRPr sz="2600" b="0" i="0" u="none" kern="1200" baseline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908050" lvl="1" indent="-436245">
                        <a:defRPr sz="2200" kern="1200"/>
                      </a:lvl2pPr>
                      <a:lvl3pPr marL="1304925" lvl="2" indent="-394970">
                        <a:defRPr sz="2100" kern="1200"/>
                      </a:lvl3pPr>
                      <a:lvl4pPr marL="1694180" lvl="3" indent="-387350">
                        <a:defRPr sz="1800" kern="1200"/>
                      </a:lvl4pPr>
                      <a:lvl5pPr marL="2094230" lvl="4" indent="-398780">
                        <a:spcBef>
                          <a:spcPct val="25000"/>
                        </a:spcBef>
                        <a:defRPr sz="1800" kern="1200"/>
                      </a:lvl5pPr>
                    </a:lstStyle>
                    <a:p>
                      <a:pPr marL="0" lvl="0" indent="0" algn="ctr">
                        <a:buNone/>
                      </a:pPr>
                      <a:r>
                        <a:rPr lang="en-US" altLang="zh-CN"/>
                        <a:t>5</a:t>
                      </a:r>
                      <a:endParaRPr lang="zh-CN" altLang="en-US"/>
                    </a:p>
                  </a:txBody>
                  <a:tcPr vert="horz" anchor="t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622" name="标题 102422"/>
          <p:cNvSpPr>
            <a:spLocks noGrp="1"/>
          </p:cNvSpPr>
          <p:nvPr>
            <p:ph type="title"/>
          </p:nvPr>
        </p:nvSpPr>
        <p:spPr>
          <a:xfrm>
            <a:off x="2100263" y="306388"/>
            <a:ext cx="7985125" cy="1196975"/>
          </a:xfrm>
        </p:spPr>
        <p:txBody>
          <a:bodyPr anchor="b" anchorCtr="0"/>
          <a:p>
            <a:r>
              <a:rPr lang="zh-CN" altLang="en-US"/>
              <a:t>练习</a:t>
            </a:r>
            <a:endParaRPr lang="zh-CN" altLang="en-US"/>
          </a:p>
        </p:txBody>
      </p:sp>
      <p:sp>
        <p:nvSpPr>
          <p:cNvPr id="25623" name="直接连接符 102423"/>
          <p:cNvSpPr/>
          <p:nvPr/>
        </p:nvSpPr>
        <p:spPr>
          <a:xfrm>
            <a:off x="7086600" y="2819400"/>
            <a:ext cx="2438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2425" name="矩形 102424"/>
          <p:cNvSpPr/>
          <p:nvPr/>
        </p:nvSpPr>
        <p:spPr>
          <a:xfrm>
            <a:off x="2590800" y="5486400"/>
            <a:ext cx="4114800" cy="914400"/>
          </a:xfrm>
          <a:prstGeom prst="rect">
            <a:avLst/>
          </a:prstGeom>
          <a:solidFill>
            <a:schemeClr val="accent1">
              <a:alpha val="0"/>
            </a:schemeClr>
          </a:solidFill>
          <a:ln w="5715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en-US" altLang="zh-CN" sz="2400" b="1"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pPr algn="ctr"/>
            <a:r>
              <a:rPr lang="zh-CN" altLang="en-US" sz="2400" b="1">
                <a:latin typeface="Tahoma" panose="020B0604030504040204" pitchFamily="2" charset="0"/>
                <a:ea typeface="宋体" panose="02010600030101010101" pitchFamily="2" charset="-122"/>
              </a:rPr>
              <a:t>提示</a:t>
            </a:r>
            <a:r>
              <a:rPr lang="en-US" altLang="zh-CN" sz="2400" b="1">
                <a:latin typeface="Tahoma" panose="020B0604030504040204" pitchFamily="2" charset="0"/>
                <a:ea typeface="宋体" panose="02010600030101010101" pitchFamily="2" charset="-122"/>
              </a:rPr>
              <a:t>:</a:t>
            </a:r>
            <a:r>
              <a:rPr lang="en-US" altLang="zh-CN" sz="2400">
                <a:latin typeface="Tahoma" panose="020B0604030504040204" pitchFamily="2" charset="0"/>
                <a:ea typeface="宋体" panose="02010600030101010101" pitchFamily="2" charset="-122"/>
              </a:rPr>
              <a:t>A=4865B,L=2048B,</a:t>
            </a:r>
            <a:endParaRPr lang="en-US" altLang="zh-CN" sz="2400"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2400" b="1">
                <a:latin typeface="Tahoma" panose="020B0604030504040204" pitchFamily="2" charset="0"/>
                <a:ea typeface="宋体" panose="02010600030101010101" pitchFamily="2" charset="-122"/>
              </a:rPr>
              <a:t>     </a:t>
            </a:r>
            <a:r>
              <a:rPr lang="zh-CN" altLang="en-US" sz="2400" b="1">
                <a:latin typeface="Tahoma" panose="020B0604030504040204" pitchFamily="2" charset="0"/>
                <a:ea typeface="宋体" panose="02010600030101010101" pitchFamily="2" charset="-122"/>
              </a:rPr>
              <a:t>则  </a:t>
            </a:r>
            <a:r>
              <a:rPr lang="en-US" altLang="zh-CN" sz="2400" b="1">
                <a:solidFill>
                  <a:srgbClr val="CC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P=2,  d=769</a:t>
            </a:r>
            <a:r>
              <a:rPr lang="en-US" altLang="zh-CN" sz="2400" b="1">
                <a:latin typeface="Tahoma" panose="020B0604030504040204" pitchFamily="2" charset="0"/>
                <a:ea typeface="宋体" panose="02010600030101010101" pitchFamily="2" charset="-122"/>
              </a:rPr>
              <a:t>.</a:t>
            </a:r>
            <a:endParaRPr lang="en-US" altLang="zh-CN" sz="2400" b="1"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pPr algn="ctr"/>
            <a:endParaRPr lang="en-US" altLang="zh-CN" sz="2400"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102426" name="圆角矩形 102425"/>
          <p:cNvSpPr/>
          <p:nvPr/>
        </p:nvSpPr>
        <p:spPr>
          <a:xfrm>
            <a:off x="7032625" y="3933825"/>
            <a:ext cx="2590800" cy="685800"/>
          </a:xfrm>
          <a:prstGeom prst="roundRect">
            <a:avLst>
              <a:gd name="adj" fmla="val 16667"/>
            </a:avLst>
          </a:prstGeom>
          <a:solidFill>
            <a:schemeClr val="accent1">
              <a:alpha val="1999"/>
            </a:schemeClr>
          </a:solidFill>
          <a:ln w="571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2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5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标题 100353"/>
          <p:cNvSpPr>
            <a:spLocks noGrp="1"/>
          </p:cNvSpPr>
          <p:nvPr>
            <p:ph type="title"/>
          </p:nvPr>
        </p:nvSpPr>
        <p:spPr>
          <a:xfrm>
            <a:off x="669289" y="528956"/>
            <a:ext cx="10850563" cy="1028699"/>
          </a:xfrm>
        </p:spPr>
        <p:txBody>
          <a:bodyPr anchor="b" anchorCtr="0"/>
          <a:p>
            <a:r>
              <a:rPr lang="en-US" altLang="zh-CN" sz="3400"/>
              <a:t>5.3.2 </a:t>
            </a:r>
            <a:r>
              <a:rPr lang="zh-CN" altLang="en-US" sz="3400" b="1"/>
              <a:t>地址变换机构  </a:t>
            </a:r>
            <a:r>
              <a:rPr lang="zh-CN" altLang="en-US" sz="2500" b="1"/>
              <a:t>自读</a:t>
            </a:r>
            <a:endParaRPr lang="zh-CN" altLang="en-US" sz="2500" b="1"/>
          </a:p>
        </p:txBody>
      </p:sp>
      <p:sp>
        <p:nvSpPr>
          <p:cNvPr id="23554" name="文本占位符 100354"/>
          <p:cNvSpPr>
            <a:spLocks noGrp="1"/>
          </p:cNvSpPr>
          <p:nvPr>
            <p:ph idx="1"/>
          </p:nvPr>
        </p:nvSpPr>
        <p:spPr>
          <a:xfrm>
            <a:off x="1642110" y="1557655"/>
            <a:ext cx="8888095" cy="4114800"/>
          </a:xfrm>
        </p:spPr>
        <p:txBody>
          <a:bodyPr anchor="t" anchorCtr="0">
            <a:normAutofit fontScale="90000" lnSpcReduction="10000"/>
          </a:bodyPr>
          <a:p>
            <a:pPr fontAlgn="auto">
              <a:lnSpc>
                <a:spcPct val="150000"/>
              </a:lnSpc>
            </a:pPr>
            <a:r>
              <a:rPr lang="zh-CN" altLang="en-US" sz="2400"/>
              <a:t>页式地址变换的四个步骤：</a:t>
            </a:r>
            <a:endParaRPr lang="zh-CN" altLang="en-US" sz="2400"/>
          </a:p>
          <a:p>
            <a:pPr fontAlgn="auto">
              <a:lnSpc>
                <a:spcPct val="150000"/>
              </a:lnSpc>
            </a:pPr>
            <a:r>
              <a:rPr lang="en-US" altLang="zh-CN" sz="2400"/>
              <a:t>1.</a:t>
            </a:r>
            <a:r>
              <a:rPr lang="zh-CN" altLang="en-US" sz="2400"/>
              <a:t>将要访问的逻辑地址分为两部分：页号</a:t>
            </a:r>
            <a:r>
              <a:rPr lang="en-US" altLang="zh-CN" sz="2400"/>
              <a:t>p</a:t>
            </a:r>
            <a:r>
              <a:rPr lang="zh-CN" altLang="en-US" sz="2400"/>
              <a:t>和页内地址</a:t>
            </a:r>
            <a:r>
              <a:rPr lang="en-US" altLang="zh-CN" sz="2400"/>
              <a:t>d</a:t>
            </a:r>
            <a:r>
              <a:rPr lang="zh-CN" altLang="en-US" sz="2400"/>
              <a:t>。</a:t>
            </a:r>
            <a:endParaRPr lang="zh-CN" altLang="en-US" sz="2400"/>
          </a:p>
          <a:p>
            <a:pPr fontAlgn="auto">
              <a:lnSpc>
                <a:spcPct val="150000"/>
              </a:lnSpc>
            </a:pPr>
            <a:r>
              <a:rPr lang="en-US" altLang="zh-CN" sz="2400"/>
              <a:t>2.</a:t>
            </a:r>
            <a:r>
              <a:rPr lang="zh-CN" altLang="en-US" sz="2400"/>
              <a:t>越界检验。将页号与页表长度进行比较，如果页号大于或等于页表长度，此地址超越进程的地址空间，系统产生越界中断。</a:t>
            </a:r>
            <a:endParaRPr lang="zh-CN" altLang="en-US" sz="2400"/>
          </a:p>
          <a:p>
            <a:pPr fontAlgn="auto">
              <a:lnSpc>
                <a:spcPct val="150000"/>
              </a:lnSpc>
            </a:pPr>
            <a:r>
              <a:rPr lang="en-US" altLang="zh-CN" sz="2400"/>
              <a:t>3.</a:t>
            </a:r>
            <a:r>
              <a:rPr lang="zh-CN" altLang="en-US" sz="2400"/>
              <a:t>没有越界错误，根据页表始址与页号，从页表中得到该页对应的物理块号，装入物理地址寄存器中。</a:t>
            </a:r>
            <a:endParaRPr lang="zh-CN" altLang="en-US" sz="2400"/>
          </a:p>
          <a:p>
            <a:pPr fontAlgn="auto">
              <a:lnSpc>
                <a:spcPct val="150000"/>
              </a:lnSpc>
            </a:pPr>
            <a:r>
              <a:rPr lang="en-US" altLang="zh-CN" sz="2400"/>
              <a:t>4. </a:t>
            </a:r>
            <a:r>
              <a:rPr lang="zh-CN" altLang="en-US" sz="2400"/>
              <a:t>同时将页内地址</a:t>
            </a:r>
            <a:r>
              <a:rPr lang="en-US" altLang="zh-CN" sz="2400"/>
              <a:t>d</a:t>
            </a:r>
            <a:r>
              <a:rPr lang="zh-CN" altLang="en-US" sz="2400"/>
              <a:t>送入对应的物理地址寄存器中的块内地址字段中。</a:t>
            </a:r>
            <a:endParaRPr lang="zh-CN" altLang="en-US" sz="2400"/>
          </a:p>
          <a:p>
            <a:pPr>
              <a:lnSpc>
                <a:spcPct val="90000"/>
              </a:lnSpc>
            </a:pPr>
            <a:endParaRPr lang="zh-CN" altLang="en-US" sz="2800" b="1"/>
          </a:p>
          <a:p>
            <a:pPr>
              <a:lnSpc>
                <a:spcPct val="90000"/>
              </a:lnSpc>
            </a:pPr>
            <a:endParaRPr lang="zh-CN" altLang="en-US" sz="28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标题 106497"/>
          <p:cNvSpPr>
            <a:spLocks noGrp="1"/>
          </p:cNvSpPr>
          <p:nvPr>
            <p:ph type="title"/>
          </p:nvPr>
        </p:nvSpPr>
        <p:spPr>
          <a:xfrm>
            <a:off x="2098675" y="790893"/>
            <a:ext cx="8001000" cy="1112837"/>
          </a:xfrm>
        </p:spPr>
        <p:txBody>
          <a:bodyPr anchor="b" anchorCtr="0"/>
          <a:p>
            <a:r>
              <a:rPr lang="zh-CN" altLang="en-US" sz="3400">
                <a:solidFill>
                  <a:srgbClr val="006600"/>
                </a:solidFill>
              </a:rPr>
              <a:t>快表：联想寄存器</a:t>
            </a:r>
            <a:br>
              <a:rPr lang="zh-CN" altLang="en-US" sz="3400">
                <a:solidFill>
                  <a:srgbClr val="006600"/>
                </a:solidFill>
              </a:rPr>
            </a:br>
            <a:endParaRPr lang="zh-CN" altLang="en-US" sz="3400">
              <a:solidFill>
                <a:srgbClr val="006600"/>
              </a:solidFill>
            </a:endParaRPr>
          </a:p>
        </p:txBody>
      </p:sp>
      <p:sp>
        <p:nvSpPr>
          <p:cNvPr id="29698" name="文本占位符 106498"/>
          <p:cNvSpPr>
            <a:spLocks noGrp="1"/>
          </p:cNvSpPr>
          <p:nvPr>
            <p:ph idx="1"/>
          </p:nvPr>
        </p:nvSpPr>
        <p:spPr>
          <a:xfrm>
            <a:off x="1663065" y="1700530"/>
            <a:ext cx="8836025" cy="4953000"/>
          </a:xfrm>
        </p:spPr>
        <p:txBody>
          <a:bodyPr anchor="t" anchorCtr="0"/>
          <a:p>
            <a:pPr fontAlgn="auto">
              <a:lnSpc>
                <a:spcPct val="140000"/>
              </a:lnSpc>
            </a:pPr>
            <a:r>
              <a:rPr lang="zh-CN" altLang="en-US" sz="2400">
                <a:solidFill>
                  <a:srgbClr val="000000"/>
                </a:solidFill>
              </a:rPr>
              <a:t>通常将页表保存在</a:t>
            </a:r>
            <a:r>
              <a:rPr lang="zh-CN" altLang="en-US" sz="2400">
                <a:solidFill>
                  <a:schemeClr val="accent2"/>
                </a:solidFill>
              </a:rPr>
              <a:t>内存</a:t>
            </a:r>
            <a:r>
              <a:rPr lang="zh-CN" altLang="en-US" sz="2400">
                <a:solidFill>
                  <a:srgbClr val="000000"/>
                </a:solidFill>
              </a:rPr>
              <a:t>中，由一个</a:t>
            </a:r>
            <a:r>
              <a:rPr lang="zh-CN" altLang="en-US" sz="2400">
                <a:solidFill>
                  <a:schemeClr val="accent2"/>
                </a:solidFill>
              </a:rPr>
              <a:t>页表基址寄存器</a:t>
            </a:r>
            <a:r>
              <a:rPr lang="en-US" altLang="zh-CN" sz="2400">
                <a:solidFill>
                  <a:srgbClr val="000000"/>
                </a:solidFill>
              </a:rPr>
              <a:t>PTBR</a:t>
            </a:r>
            <a:r>
              <a:rPr lang="zh-CN" altLang="en-US" sz="2400">
                <a:solidFill>
                  <a:srgbClr val="000000"/>
                </a:solidFill>
              </a:rPr>
              <a:t>指向该页表。</a:t>
            </a:r>
            <a:r>
              <a:rPr lang="zh-CN" altLang="en-US" sz="2400">
                <a:solidFill>
                  <a:schemeClr val="hlink"/>
                </a:solidFill>
              </a:rPr>
              <a:t>整个系统只有一个</a:t>
            </a:r>
            <a:r>
              <a:rPr lang="en-US" altLang="zh-CN" sz="2400">
                <a:solidFill>
                  <a:schemeClr val="hlink"/>
                </a:solidFill>
              </a:rPr>
              <a:t>PTBR</a:t>
            </a:r>
            <a:r>
              <a:rPr lang="zh-CN" altLang="en-US" sz="2400">
                <a:solidFill>
                  <a:schemeClr val="hlink"/>
                </a:solidFill>
              </a:rPr>
              <a:t>。</a:t>
            </a:r>
            <a:endParaRPr lang="zh-CN" altLang="en-US" sz="2400">
              <a:solidFill>
                <a:schemeClr val="hlink"/>
              </a:solidFill>
            </a:endParaRPr>
          </a:p>
          <a:p>
            <a:pPr fontAlgn="auto">
              <a:lnSpc>
                <a:spcPct val="140000"/>
              </a:lnSpc>
            </a:pPr>
            <a:r>
              <a:rPr lang="zh-CN" altLang="en-US" sz="2400">
                <a:solidFill>
                  <a:srgbClr val="000000"/>
                </a:solidFill>
              </a:rPr>
              <a:t>页表越长，带来存取速度下降的矛盾。</a:t>
            </a:r>
            <a:endParaRPr lang="zh-CN" altLang="en-US" sz="2400">
              <a:solidFill>
                <a:srgbClr val="000000"/>
              </a:solidFill>
            </a:endParaRPr>
          </a:p>
          <a:p>
            <a:pPr fontAlgn="auto">
              <a:lnSpc>
                <a:spcPct val="140000"/>
              </a:lnSpc>
            </a:pPr>
            <a:r>
              <a:rPr lang="zh-CN" altLang="en-US" sz="2400">
                <a:solidFill>
                  <a:schemeClr val="accent2"/>
                </a:solidFill>
              </a:rPr>
              <a:t>快表</a:t>
            </a:r>
            <a:r>
              <a:rPr lang="zh-CN" altLang="en-US" sz="2400">
                <a:solidFill>
                  <a:srgbClr val="000000"/>
                </a:solidFill>
              </a:rPr>
              <a:t>（或</a:t>
            </a:r>
            <a:r>
              <a:rPr lang="en-US" altLang="zh-CN" sz="2400">
                <a:solidFill>
                  <a:srgbClr val="000000"/>
                </a:solidFill>
              </a:rPr>
              <a:t>Translation Lookaside Buffer, TLB</a:t>
            </a:r>
            <a:r>
              <a:rPr lang="zh-CN" altLang="en-US" sz="2400">
                <a:solidFill>
                  <a:srgbClr val="000000"/>
                </a:solidFill>
              </a:rPr>
              <a:t>）。快表每项包括键号和值两部分，键号是当前进程正在使用的某个页面号，值是该页面所对应的物理块号。</a:t>
            </a:r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具有快表的地址变换机构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87" name="Group 157"/>
          <p:cNvGraphicFramePr>
            <a:graphicFrameLocks noGrp="1"/>
          </p:cNvGraphicFramePr>
          <p:nvPr/>
        </p:nvGraphicFramePr>
        <p:xfrm>
          <a:off x="1017431" y="927278"/>
          <a:ext cx="2991118" cy="1087485"/>
        </p:xfrm>
        <a:graphic>
          <a:graphicData uri="http://schemas.openxmlformats.org/drawingml/2006/table">
            <a:tbl>
              <a:tblPr/>
              <a:tblGrid>
                <a:gridCol w="1578646"/>
                <a:gridCol w="1412472"/>
              </a:tblGrid>
              <a:tr h="553792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页表寄存器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(PTR)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63" marB="46063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3369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页表始址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63" marB="4606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页表长度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63" marB="4606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" name="Oval 17"/>
          <p:cNvSpPr>
            <a:spLocks noChangeArrowheads="1"/>
          </p:cNvSpPr>
          <p:nvPr/>
        </p:nvSpPr>
        <p:spPr bwMode="auto">
          <a:xfrm>
            <a:off x="1951149" y="2258094"/>
            <a:ext cx="457200" cy="4572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  <a:rou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b="1">
                <a:latin typeface="+mn-ea"/>
                <a:ea typeface="+mn-ea"/>
              </a:rPr>
              <a:t>+</a:t>
            </a:r>
            <a:endParaRPr lang="en-US" altLang="zh-CN" b="1">
              <a:latin typeface="+mn-ea"/>
              <a:ea typeface="+mn-ea"/>
            </a:endParaRPr>
          </a:p>
        </p:txBody>
      </p:sp>
      <p:sp>
        <p:nvSpPr>
          <p:cNvPr id="89" name="Rectangle 21"/>
          <p:cNvSpPr>
            <a:spLocks noChangeArrowheads="1"/>
          </p:cNvSpPr>
          <p:nvPr/>
        </p:nvSpPr>
        <p:spPr bwMode="auto">
          <a:xfrm>
            <a:off x="4389549" y="5808459"/>
            <a:ext cx="83820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tx2"/>
              </a:buClr>
              <a:buSzPct val="75000"/>
              <a:buFont typeface="Monotype Sorts" pitchFamily="2" charset="2"/>
              <a:buNone/>
            </a:pPr>
            <a:endParaRPr kumimoji="1" lang="zh-CN" altLang="zh-CN" sz="2000" b="1">
              <a:latin typeface="+mn-ea"/>
              <a:ea typeface="+mn-ea"/>
            </a:endParaRPr>
          </a:p>
        </p:txBody>
      </p:sp>
      <p:grpSp>
        <p:nvGrpSpPr>
          <p:cNvPr id="90" name="Group 146"/>
          <p:cNvGrpSpPr/>
          <p:nvPr/>
        </p:nvGrpSpPr>
        <p:grpSpPr bwMode="auto">
          <a:xfrm>
            <a:off x="2636949" y="2714219"/>
            <a:ext cx="1905000" cy="3581400"/>
            <a:chOff x="912" y="1584"/>
            <a:chExt cx="1200" cy="2256"/>
          </a:xfrm>
          <a:noFill/>
        </p:grpSpPr>
        <p:sp>
          <p:nvSpPr>
            <p:cNvPr id="91" name="Rectangle 18"/>
            <p:cNvSpPr>
              <a:spLocks noChangeArrowheads="1"/>
            </p:cNvSpPr>
            <p:nvPr/>
          </p:nvSpPr>
          <p:spPr bwMode="auto">
            <a:xfrm>
              <a:off x="1440" y="3166"/>
              <a:ext cx="672" cy="33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endParaRPr lang="zh-CN" altLang="zh-CN" sz="2400">
                <a:latin typeface="+mn-ea"/>
                <a:ea typeface="+mn-ea"/>
              </a:endParaRPr>
            </a:p>
          </p:txBody>
        </p:sp>
        <p:sp>
          <p:nvSpPr>
            <p:cNvPr id="92" name="Rectangle 19"/>
            <p:cNvSpPr>
              <a:spLocks noChangeArrowheads="1"/>
            </p:cNvSpPr>
            <p:nvPr/>
          </p:nvSpPr>
          <p:spPr bwMode="auto">
            <a:xfrm>
              <a:off x="912" y="3166"/>
              <a:ext cx="528" cy="33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endParaRPr lang="zh-CN" altLang="zh-CN" sz="2400">
                <a:latin typeface="+mn-ea"/>
                <a:ea typeface="+mn-ea"/>
              </a:endParaRPr>
            </a:p>
          </p:txBody>
        </p:sp>
        <p:sp>
          <p:nvSpPr>
            <p:cNvPr id="93" name="Rectangle 20"/>
            <p:cNvSpPr>
              <a:spLocks noChangeArrowheads="1"/>
            </p:cNvSpPr>
            <p:nvPr/>
          </p:nvSpPr>
          <p:spPr bwMode="auto">
            <a:xfrm>
              <a:off x="1440" y="3500"/>
              <a:ext cx="672" cy="34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400" dirty="0">
                  <a:latin typeface="+mn-ea"/>
                  <a:ea typeface="+mn-ea"/>
                </a:rPr>
                <a:t>页表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94" name="Rectangle 22"/>
            <p:cNvSpPr>
              <a:spLocks noChangeArrowheads="1"/>
            </p:cNvSpPr>
            <p:nvPr/>
          </p:nvSpPr>
          <p:spPr bwMode="auto">
            <a:xfrm>
              <a:off x="1440" y="2834"/>
              <a:ext cx="672" cy="33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endParaRPr lang="zh-CN" altLang="zh-CN" sz="2400">
                <a:latin typeface="+mn-ea"/>
                <a:ea typeface="+mn-ea"/>
              </a:endParaRPr>
            </a:p>
          </p:txBody>
        </p:sp>
        <p:sp>
          <p:nvSpPr>
            <p:cNvPr id="95" name="Rectangle 24"/>
            <p:cNvSpPr>
              <a:spLocks noChangeArrowheads="1"/>
            </p:cNvSpPr>
            <p:nvPr/>
          </p:nvSpPr>
          <p:spPr bwMode="auto">
            <a:xfrm>
              <a:off x="1440" y="2500"/>
              <a:ext cx="672" cy="33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endParaRPr lang="zh-CN" altLang="zh-CN" sz="2400">
                <a:latin typeface="+mn-ea"/>
                <a:ea typeface="+mn-ea"/>
              </a:endParaRPr>
            </a:p>
          </p:txBody>
        </p:sp>
        <p:sp>
          <p:nvSpPr>
            <p:cNvPr id="96" name="Rectangle 26"/>
            <p:cNvSpPr>
              <a:spLocks noChangeArrowheads="1"/>
            </p:cNvSpPr>
            <p:nvPr/>
          </p:nvSpPr>
          <p:spPr bwMode="auto">
            <a:xfrm>
              <a:off x="1440" y="2166"/>
              <a:ext cx="672" cy="33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r>
                <a:rPr lang="en-US" altLang="zh-CN" sz="2400" dirty="0">
                  <a:latin typeface="+mn-ea"/>
                  <a:ea typeface="+mn-ea"/>
                </a:rPr>
                <a:t>b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97" name="Rectangle 28"/>
            <p:cNvSpPr>
              <a:spLocks noChangeArrowheads="1"/>
            </p:cNvSpPr>
            <p:nvPr/>
          </p:nvSpPr>
          <p:spPr bwMode="auto">
            <a:xfrm>
              <a:off x="1440" y="1824"/>
              <a:ext cx="672" cy="33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endParaRPr lang="zh-CN" altLang="zh-CN" sz="2400">
                <a:latin typeface="+mn-ea"/>
                <a:ea typeface="+mn-ea"/>
              </a:endParaRPr>
            </a:p>
          </p:txBody>
        </p:sp>
        <p:sp>
          <p:nvSpPr>
            <p:cNvPr id="98" name="Rectangle 30"/>
            <p:cNvSpPr>
              <a:spLocks noChangeArrowheads="1"/>
            </p:cNvSpPr>
            <p:nvPr/>
          </p:nvSpPr>
          <p:spPr bwMode="auto">
            <a:xfrm>
              <a:off x="1440" y="1584"/>
              <a:ext cx="672" cy="25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400" dirty="0">
                  <a:latin typeface="+mn-ea"/>
                  <a:ea typeface="+mn-ea"/>
                </a:rPr>
                <a:t>块号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99" name="Rectangle 31"/>
            <p:cNvSpPr>
              <a:spLocks noChangeArrowheads="1"/>
            </p:cNvSpPr>
            <p:nvPr/>
          </p:nvSpPr>
          <p:spPr bwMode="auto">
            <a:xfrm>
              <a:off x="912" y="1584"/>
              <a:ext cx="528" cy="25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>
                <a:buClr>
                  <a:schemeClr val="tx2"/>
                </a:buClr>
                <a:buSzPct val="75000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buClr>
                  <a:schemeClr val="tx1"/>
                </a:buClr>
                <a:buChar char="–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buClr>
                  <a:schemeClr val="accent2"/>
                </a:buClr>
                <a:buSzPct val="65000"/>
                <a:buChar char="u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buClr>
                  <a:schemeClr val="tx1"/>
                </a:buClr>
                <a:buChar char="–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•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buFont typeface="Monotype Sorts" pitchFamily="2" charset="2"/>
                <a:buNone/>
                <a:defRPr/>
              </a:pPr>
              <a:r>
                <a:rPr lang="zh-CN" altLang="en-US" sz="2400" dirty="0">
                  <a:latin typeface="+mn-ea"/>
                  <a:ea typeface="+mn-ea"/>
                </a:rPr>
                <a:t>页号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100" name="Line 32"/>
            <p:cNvSpPr>
              <a:spLocks noChangeShapeType="1"/>
            </p:cNvSpPr>
            <p:nvPr/>
          </p:nvSpPr>
          <p:spPr bwMode="auto">
            <a:xfrm>
              <a:off x="912" y="1834"/>
              <a:ext cx="528" cy="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prstDash val="sys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1" name="Line 33"/>
            <p:cNvSpPr>
              <a:spLocks noChangeShapeType="1"/>
            </p:cNvSpPr>
            <p:nvPr/>
          </p:nvSpPr>
          <p:spPr bwMode="auto">
            <a:xfrm flipV="1">
              <a:off x="1440" y="2160"/>
              <a:ext cx="672" cy="6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2" name="Line 34"/>
            <p:cNvSpPr>
              <a:spLocks noChangeShapeType="1"/>
            </p:cNvSpPr>
            <p:nvPr/>
          </p:nvSpPr>
          <p:spPr bwMode="auto">
            <a:xfrm flipV="1">
              <a:off x="1440" y="2496"/>
              <a:ext cx="672" cy="4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3" name="Line 35"/>
            <p:cNvSpPr>
              <a:spLocks noChangeShapeType="1"/>
            </p:cNvSpPr>
            <p:nvPr/>
          </p:nvSpPr>
          <p:spPr bwMode="auto">
            <a:xfrm flipV="1">
              <a:off x="1440" y="2832"/>
              <a:ext cx="672" cy="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4" name="Line 36"/>
            <p:cNvSpPr>
              <a:spLocks noChangeShapeType="1"/>
            </p:cNvSpPr>
            <p:nvPr/>
          </p:nvSpPr>
          <p:spPr bwMode="auto">
            <a:xfrm>
              <a:off x="1440" y="3166"/>
              <a:ext cx="672" cy="2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5" name="Line 37"/>
            <p:cNvSpPr>
              <a:spLocks noChangeShapeType="1"/>
            </p:cNvSpPr>
            <p:nvPr/>
          </p:nvSpPr>
          <p:spPr bwMode="auto">
            <a:xfrm>
              <a:off x="1440" y="1584"/>
              <a:ext cx="0" cy="25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6" name="Line 38"/>
            <p:cNvSpPr>
              <a:spLocks noChangeShapeType="1"/>
            </p:cNvSpPr>
            <p:nvPr/>
          </p:nvSpPr>
          <p:spPr bwMode="auto">
            <a:xfrm flipV="1">
              <a:off x="1440" y="1824"/>
              <a:ext cx="672" cy="10"/>
            </a:xfrm>
            <a:prstGeom prst="line">
              <a:avLst/>
            </a:prstGeom>
            <a:grpFill/>
            <a:ln w="25400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7" name="Line 39"/>
            <p:cNvSpPr>
              <a:spLocks noChangeShapeType="1"/>
            </p:cNvSpPr>
            <p:nvPr/>
          </p:nvSpPr>
          <p:spPr bwMode="auto">
            <a:xfrm>
              <a:off x="1440" y="1834"/>
              <a:ext cx="0" cy="1666"/>
            </a:xfrm>
            <a:prstGeom prst="line">
              <a:avLst/>
            </a:prstGeom>
            <a:grpFill/>
            <a:ln w="25400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8" name="Line 40"/>
            <p:cNvSpPr>
              <a:spLocks noChangeShapeType="1"/>
            </p:cNvSpPr>
            <p:nvPr/>
          </p:nvSpPr>
          <p:spPr bwMode="auto">
            <a:xfrm>
              <a:off x="2112" y="1824"/>
              <a:ext cx="0" cy="1666"/>
            </a:xfrm>
            <a:prstGeom prst="line">
              <a:avLst/>
            </a:prstGeom>
            <a:grpFill/>
            <a:ln w="25400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  <p:sp>
          <p:nvSpPr>
            <p:cNvPr id="109" name="Line 41"/>
            <p:cNvSpPr>
              <a:spLocks noChangeShapeType="1"/>
            </p:cNvSpPr>
            <p:nvPr/>
          </p:nvSpPr>
          <p:spPr bwMode="auto">
            <a:xfrm>
              <a:off x="1440" y="3500"/>
              <a:ext cx="672" cy="4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>
                <a:defRPr/>
              </a:pPr>
              <a:endParaRPr lang="zh-CN" altLang="en-US" sz="2400">
                <a:latin typeface="+mn-ea"/>
              </a:endParaRPr>
            </a:p>
          </p:txBody>
        </p:sp>
      </p:grpSp>
      <p:sp>
        <p:nvSpPr>
          <p:cNvPr id="110" name="Line 42"/>
          <p:cNvSpPr>
            <a:spLocks noChangeShapeType="1"/>
          </p:cNvSpPr>
          <p:nvPr/>
        </p:nvSpPr>
        <p:spPr bwMode="auto">
          <a:xfrm>
            <a:off x="2179749" y="3857219"/>
            <a:ext cx="1295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graphicFrame>
        <p:nvGraphicFramePr>
          <p:cNvPr id="111" name="Group 145"/>
          <p:cNvGraphicFramePr>
            <a:graphicFrameLocks noGrp="1"/>
          </p:cNvGraphicFramePr>
          <p:nvPr/>
        </p:nvGraphicFramePr>
        <p:xfrm>
          <a:off x="7818549" y="6069866"/>
          <a:ext cx="2209800" cy="915672"/>
        </p:xfrm>
        <a:graphic>
          <a:graphicData uri="http://schemas.openxmlformats.org/drawingml/2006/table">
            <a:tbl>
              <a:tblPr/>
              <a:tblGrid>
                <a:gridCol w="762000"/>
                <a:gridCol w="1447800"/>
              </a:tblGrid>
              <a:tr h="4572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42913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物理地址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112" name="Group 159"/>
          <p:cNvGraphicFramePr>
            <a:graphicFrameLocks noGrp="1"/>
          </p:cNvGraphicFramePr>
          <p:nvPr/>
        </p:nvGraphicFramePr>
        <p:xfrm>
          <a:off x="7208949" y="1003478"/>
          <a:ext cx="3145665" cy="1066800"/>
        </p:xfrm>
        <a:graphic>
          <a:graphicData uri="http://schemas.openxmlformats.org/drawingml/2006/table">
            <a:tbl>
              <a:tblPr/>
              <a:tblGrid>
                <a:gridCol w="1384420"/>
                <a:gridCol w="1761245"/>
              </a:tblGrid>
              <a:tr h="533400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逻辑地址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5334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页号</a:t>
                      </a: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页内地址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" name="Oval 68"/>
          <p:cNvSpPr>
            <a:spLocks noChangeArrowheads="1"/>
          </p:cNvSpPr>
          <p:nvPr/>
        </p:nvSpPr>
        <p:spPr bwMode="auto">
          <a:xfrm>
            <a:off x="4694349" y="1536878"/>
            <a:ext cx="457200" cy="4572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tx1"/>
            </a:solidFill>
            <a:round/>
          </a:ln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b="1">
                <a:latin typeface="+mn-ea"/>
                <a:ea typeface="+mn-ea"/>
              </a:rPr>
              <a:t>&gt;</a:t>
            </a:r>
            <a:endParaRPr lang="en-US" altLang="zh-CN" b="1">
              <a:latin typeface="+mn-ea"/>
              <a:ea typeface="+mn-ea"/>
            </a:endParaRPr>
          </a:p>
        </p:txBody>
      </p:sp>
      <p:sp>
        <p:nvSpPr>
          <p:cNvPr id="114" name="Text Box 69"/>
          <p:cNvSpPr txBox="1">
            <a:spLocks noChangeArrowheads="1"/>
          </p:cNvSpPr>
          <p:nvPr/>
        </p:nvSpPr>
        <p:spPr bwMode="auto">
          <a:xfrm>
            <a:off x="5608749" y="1536878"/>
            <a:ext cx="1447800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越界中断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15" name="Line 70"/>
          <p:cNvSpPr>
            <a:spLocks noChangeShapeType="1"/>
          </p:cNvSpPr>
          <p:nvPr/>
        </p:nvSpPr>
        <p:spPr bwMode="auto">
          <a:xfrm flipV="1">
            <a:off x="5151549" y="1765478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16" name="Oval 71"/>
          <p:cNvSpPr>
            <a:spLocks noChangeArrowheads="1"/>
          </p:cNvSpPr>
          <p:nvPr/>
        </p:nvSpPr>
        <p:spPr bwMode="auto">
          <a:xfrm>
            <a:off x="4846749" y="2603678"/>
            <a:ext cx="152400" cy="152400"/>
          </a:xfrm>
          <a:prstGeom prst="ellipse">
            <a:avLst/>
          </a:prstGeom>
          <a:noFill/>
          <a:ln w="9525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17" name="Line 72"/>
          <p:cNvSpPr>
            <a:spLocks noChangeShapeType="1"/>
          </p:cNvSpPr>
          <p:nvPr/>
        </p:nvSpPr>
        <p:spPr bwMode="auto">
          <a:xfrm flipV="1">
            <a:off x="4008549" y="1765478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18" name="Line 73"/>
          <p:cNvSpPr>
            <a:spLocks noChangeShapeType="1"/>
          </p:cNvSpPr>
          <p:nvPr/>
        </p:nvSpPr>
        <p:spPr bwMode="auto">
          <a:xfrm>
            <a:off x="9113949" y="1941488"/>
            <a:ext cx="0" cy="411549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19" name="Line 75"/>
          <p:cNvSpPr>
            <a:spLocks noChangeShapeType="1"/>
          </p:cNvSpPr>
          <p:nvPr/>
        </p:nvSpPr>
        <p:spPr bwMode="auto">
          <a:xfrm>
            <a:off x="7818549" y="2070278"/>
            <a:ext cx="0" cy="36489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20" name="Line 76"/>
          <p:cNvSpPr>
            <a:spLocks noChangeShapeType="1"/>
          </p:cNvSpPr>
          <p:nvPr/>
        </p:nvSpPr>
        <p:spPr bwMode="auto">
          <a:xfrm flipH="1">
            <a:off x="2408349" y="2435177"/>
            <a:ext cx="5410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21" name="Line 77"/>
          <p:cNvSpPr>
            <a:spLocks noChangeShapeType="1"/>
          </p:cNvSpPr>
          <p:nvPr/>
        </p:nvSpPr>
        <p:spPr bwMode="auto">
          <a:xfrm>
            <a:off x="2179749" y="1994078"/>
            <a:ext cx="0" cy="31124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22" name="Line 78"/>
          <p:cNvSpPr>
            <a:spLocks noChangeShapeType="1"/>
          </p:cNvSpPr>
          <p:nvPr/>
        </p:nvSpPr>
        <p:spPr bwMode="auto">
          <a:xfrm>
            <a:off x="2179749" y="2756077"/>
            <a:ext cx="0" cy="110114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graphicFrame>
        <p:nvGraphicFramePr>
          <p:cNvPr id="123" name="Group 138"/>
          <p:cNvGraphicFramePr>
            <a:graphicFrameLocks noGrp="1"/>
          </p:cNvGraphicFramePr>
          <p:nvPr/>
        </p:nvGraphicFramePr>
        <p:xfrm>
          <a:off x="6218349" y="2714219"/>
          <a:ext cx="1654936" cy="3204852"/>
        </p:xfrm>
        <a:graphic>
          <a:graphicData uri="http://schemas.openxmlformats.org/drawingml/2006/table">
            <a:tbl>
              <a:tblPr/>
              <a:tblGrid>
                <a:gridCol w="827468"/>
                <a:gridCol w="827468"/>
              </a:tblGrid>
              <a:tr h="45257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页号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块号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932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57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p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57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57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57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2571">
                <a:tc grid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快表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24" name="Rectangle 117"/>
          <p:cNvSpPr>
            <a:spLocks noChangeArrowheads="1"/>
          </p:cNvSpPr>
          <p:nvPr/>
        </p:nvSpPr>
        <p:spPr bwMode="auto">
          <a:xfrm>
            <a:off x="5020613" y="2942819"/>
            <a:ext cx="511936" cy="2286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zh-CN" altLang="en-US" sz="2400" b="1" dirty="0">
                <a:latin typeface="+mn-ea"/>
                <a:ea typeface="+mn-ea"/>
              </a:rPr>
              <a:t>输</a:t>
            </a:r>
            <a:endParaRPr lang="zh-CN" altLang="en-US" sz="2400" b="1" dirty="0">
              <a:latin typeface="+mn-ea"/>
              <a:ea typeface="+mn-ea"/>
            </a:endParaRPr>
          </a:p>
          <a:p>
            <a:pPr algn="ctr">
              <a:buFont typeface="Monotype Sorts" pitchFamily="2" charset="2"/>
              <a:buNone/>
            </a:pPr>
            <a:r>
              <a:rPr lang="zh-CN" altLang="en-US" sz="2400" b="1" dirty="0">
                <a:latin typeface="+mn-ea"/>
                <a:ea typeface="+mn-ea"/>
              </a:rPr>
              <a:t>入</a:t>
            </a:r>
            <a:endParaRPr lang="zh-CN" altLang="en-US" sz="2400" b="1" dirty="0">
              <a:latin typeface="+mn-ea"/>
              <a:ea typeface="+mn-ea"/>
            </a:endParaRPr>
          </a:p>
          <a:p>
            <a:pPr algn="ctr">
              <a:buFont typeface="Monotype Sorts" pitchFamily="2" charset="2"/>
              <a:buNone/>
            </a:pPr>
            <a:r>
              <a:rPr lang="zh-CN" altLang="en-US" sz="2400" b="1" dirty="0">
                <a:latin typeface="+mn-ea"/>
                <a:ea typeface="+mn-ea"/>
              </a:rPr>
              <a:t>寄</a:t>
            </a:r>
            <a:endParaRPr lang="zh-CN" altLang="en-US" sz="2400" b="1" dirty="0">
              <a:latin typeface="+mn-ea"/>
              <a:ea typeface="+mn-ea"/>
            </a:endParaRPr>
          </a:p>
          <a:p>
            <a:pPr algn="ctr">
              <a:buFont typeface="Monotype Sorts" pitchFamily="2" charset="2"/>
              <a:buNone/>
            </a:pPr>
            <a:r>
              <a:rPr lang="zh-CN" altLang="en-US" sz="2400" b="1" dirty="0">
                <a:latin typeface="+mn-ea"/>
                <a:ea typeface="+mn-ea"/>
              </a:rPr>
              <a:t>存</a:t>
            </a:r>
            <a:endParaRPr lang="zh-CN" altLang="en-US" sz="2400" b="1" dirty="0">
              <a:latin typeface="+mn-ea"/>
              <a:ea typeface="+mn-ea"/>
            </a:endParaRPr>
          </a:p>
          <a:p>
            <a:pPr algn="ctr">
              <a:buFont typeface="Monotype Sorts" pitchFamily="2" charset="2"/>
              <a:buNone/>
            </a:pPr>
            <a:r>
              <a:rPr lang="zh-CN" altLang="en-US" sz="2400" b="1" dirty="0">
                <a:latin typeface="+mn-ea"/>
                <a:ea typeface="+mn-ea"/>
              </a:rPr>
              <a:t>器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125" name="Line 118"/>
          <p:cNvSpPr>
            <a:spLocks noChangeShapeType="1"/>
          </p:cNvSpPr>
          <p:nvPr/>
        </p:nvSpPr>
        <p:spPr bwMode="auto">
          <a:xfrm flipV="1">
            <a:off x="5532549" y="3224009"/>
            <a:ext cx="68580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26" name="Line 119"/>
          <p:cNvSpPr>
            <a:spLocks noChangeShapeType="1"/>
          </p:cNvSpPr>
          <p:nvPr/>
        </p:nvSpPr>
        <p:spPr bwMode="auto">
          <a:xfrm flipV="1">
            <a:off x="5532549" y="3681209"/>
            <a:ext cx="6858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27" name="Line 120"/>
          <p:cNvSpPr>
            <a:spLocks noChangeShapeType="1"/>
          </p:cNvSpPr>
          <p:nvPr/>
        </p:nvSpPr>
        <p:spPr bwMode="auto">
          <a:xfrm flipV="1">
            <a:off x="5532549" y="4062209"/>
            <a:ext cx="6858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28" name="Line 121"/>
          <p:cNvSpPr>
            <a:spLocks noChangeShapeType="1"/>
          </p:cNvSpPr>
          <p:nvPr/>
        </p:nvSpPr>
        <p:spPr bwMode="auto">
          <a:xfrm flipV="1">
            <a:off x="5532549" y="4443209"/>
            <a:ext cx="685800" cy="76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29" name="Line 122"/>
          <p:cNvSpPr>
            <a:spLocks noChangeShapeType="1"/>
          </p:cNvSpPr>
          <p:nvPr/>
        </p:nvSpPr>
        <p:spPr bwMode="auto">
          <a:xfrm>
            <a:off x="5532549" y="4824209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30" name="Line 139"/>
          <p:cNvSpPr>
            <a:spLocks noChangeShapeType="1"/>
          </p:cNvSpPr>
          <p:nvPr/>
        </p:nvSpPr>
        <p:spPr bwMode="auto">
          <a:xfrm>
            <a:off x="4541949" y="3933419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31" name="Line 140"/>
          <p:cNvSpPr>
            <a:spLocks noChangeShapeType="1"/>
          </p:cNvSpPr>
          <p:nvPr/>
        </p:nvSpPr>
        <p:spPr bwMode="auto">
          <a:xfrm>
            <a:off x="4846749" y="3933419"/>
            <a:ext cx="0" cy="198565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32" name="Line 141"/>
          <p:cNvSpPr>
            <a:spLocks noChangeShapeType="1"/>
          </p:cNvSpPr>
          <p:nvPr/>
        </p:nvSpPr>
        <p:spPr bwMode="auto">
          <a:xfrm>
            <a:off x="7666149" y="3704819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33" name="Line 143"/>
          <p:cNvSpPr>
            <a:spLocks noChangeShapeType="1"/>
          </p:cNvSpPr>
          <p:nvPr/>
        </p:nvSpPr>
        <p:spPr bwMode="auto">
          <a:xfrm>
            <a:off x="8351949" y="3704819"/>
            <a:ext cx="0" cy="235216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34" name="Line 144"/>
          <p:cNvSpPr>
            <a:spLocks noChangeShapeType="1"/>
          </p:cNvSpPr>
          <p:nvPr/>
        </p:nvSpPr>
        <p:spPr bwMode="auto">
          <a:xfrm flipV="1">
            <a:off x="4846749" y="5893313"/>
            <a:ext cx="3505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35" name="Oval 147"/>
          <p:cNvSpPr>
            <a:spLocks noChangeArrowheads="1"/>
          </p:cNvSpPr>
          <p:nvPr/>
        </p:nvSpPr>
        <p:spPr bwMode="auto">
          <a:xfrm>
            <a:off x="5227749" y="2603678"/>
            <a:ext cx="152400" cy="152400"/>
          </a:xfrm>
          <a:prstGeom prst="ellipse">
            <a:avLst/>
          </a:prstGeom>
          <a:noFill/>
          <a:ln w="9525">
            <a:solidFill>
              <a:schemeClr val="bg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36" name="Line 148"/>
          <p:cNvSpPr>
            <a:spLocks noChangeShapeType="1"/>
          </p:cNvSpPr>
          <p:nvPr/>
        </p:nvSpPr>
        <p:spPr bwMode="auto">
          <a:xfrm>
            <a:off x="5303949" y="2485619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  <p:sp>
        <p:nvSpPr>
          <p:cNvPr id="137" name="Line 151"/>
          <p:cNvSpPr>
            <a:spLocks noChangeShapeType="1"/>
          </p:cNvSpPr>
          <p:nvPr/>
        </p:nvSpPr>
        <p:spPr bwMode="auto">
          <a:xfrm flipH="1" flipV="1">
            <a:off x="4922949" y="1994077"/>
            <a:ext cx="0" cy="441099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745" name="文本占位符 108545" descr="b517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63750" y="0"/>
            <a:ext cx="7924800" cy="6858000"/>
          </a:xfrm>
        </p:spPr>
      </p:pic>
      <p:sp>
        <p:nvSpPr>
          <p:cNvPr id="31746" name="文本框 108546"/>
          <p:cNvSpPr txBox="1"/>
          <p:nvPr/>
        </p:nvSpPr>
        <p:spPr>
          <a:xfrm>
            <a:off x="9981248" y="1219200"/>
            <a:ext cx="459740" cy="4800600"/>
          </a:xfrm>
          <a:prstGeom prst="rect">
            <a:avLst/>
          </a:prstGeom>
          <a:noFill/>
          <a:ln w="9525">
            <a:noFill/>
          </a:ln>
        </p:spPr>
        <p:txBody>
          <a:bodyPr vert="eaVert"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图  利用快表实现地址转换</a:t>
            </a:r>
            <a:endParaRPr lang="zh-CN" altLang="en-US">
              <a:solidFill>
                <a:srgbClr val="000000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31747" name="动作按钮: 前进或下一项 108547">
            <a:hlinkClick r:id="rId2" action="ppaction://hlinksldjump"/>
          </p:cNvPr>
          <p:cNvSpPr/>
          <p:nvPr/>
        </p:nvSpPr>
        <p:spPr>
          <a:xfrm>
            <a:off x="9551988" y="6165850"/>
            <a:ext cx="720725" cy="358775"/>
          </a:xfrm>
          <a:prstGeom prst="actionButtonForwardNext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8" name="矩形 108548"/>
          <p:cNvSpPr/>
          <p:nvPr/>
        </p:nvSpPr>
        <p:spPr>
          <a:xfrm>
            <a:off x="5735638" y="1916113"/>
            <a:ext cx="2808287" cy="2233612"/>
          </a:xfrm>
          <a:prstGeom prst="rect">
            <a:avLst/>
          </a:prstGeom>
          <a:solidFill>
            <a:schemeClr val="accent1">
              <a:alpha val="0"/>
            </a:schemeClr>
          </a:solidFill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引入快表后的有效访问时间</a:t>
            </a:r>
            <a:r>
              <a:rPr lang="en-US" altLang="zh-CN" sz="2800" b="1" dirty="0">
                <a:solidFill>
                  <a:schemeClr val="bg1"/>
                </a:solidFill>
              </a:rPr>
              <a:t>EAT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58" name="21764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05135"/>
            <a:ext cx="11114244" cy="4330179"/>
            <a:chOff x="673099" y="1929384"/>
            <a:chExt cx="11114244" cy="4330179"/>
          </a:xfrm>
        </p:grpSpPr>
        <p:sp>
          <p:nvSpPr>
            <p:cNvPr id="59" name="ïsḷîḋê"/>
            <p:cNvSpPr/>
            <p:nvPr/>
          </p:nvSpPr>
          <p:spPr>
            <a:xfrm>
              <a:off x="673100" y="1929384"/>
              <a:ext cx="10845800" cy="2125980"/>
            </a:xfrm>
            <a:prstGeom prst="rightArrow">
              <a:avLst>
                <a:gd name="adj1" fmla="val 50000"/>
                <a:gd name="adj2" fmla="val 42258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0" name="ïṩḻíḑe"/>
            <p:cNvSpPr/>
            <p:nvPr/>
          </p:nvSpPr>
          <p:spPr>
            <a:xfrm rot="2700000">
              <a:off x="1148317" y="2189617"/>
              <a:ext cx="1605516" cy="1605516"/>
            </a:xfrm>
            <a:custGeom>
              <a:avLst/>
              <a:gdLst>
                <a:gd name="connsiteX0" fmla="*/ 135628 w 1605516"/>
                <a:gd name="connsiteY0" fmla="*/ 135628 h 1605516"/>
                <a:gd name="connsiteX1" fmla="*/ 463063 w 1605516"/>
                <a:gd name="connsiteY1" fmla="*/ 0 h 1605516"/>
                <a:gd name="connsiteX2" fmla="*/ 1142453 w 1605516"/>
                <a:gd name="connsiteY2" fmla="*/ 0 h 1605516"/>
                <a:gd name="connsiteX3" fmla="*/ 1605516 w 1605516"/>
                <a:gd name="connsiteY3" fmla="*/ 463063 h 1605516"/>
                <a:gd name="connsiteX4" fmla="*/ 1605516 w 1605516"/>
                <a:gd name="connsiteY4" fmla="*/ 1142453 h 1605516"/>
                <a:gd name="connsiteX5" fmla="*/ 1142453 w 1605516"/>
                <a:gd name="connsiteY5" fmla="*/ 1605516 h 1605516"/>
                <a:gd name="connsiteX6" fmla="*/ 463063 w 1605516"/>
                <a:gd name="connsiteY6" fmla="*/ 1605516 h 1605516"/>
                <a:gd name="connsiteX7" fmla="*/ 282818 w 1605516"/>
                <a:gd name="connsiteY7" fmla="*/ 1569126 h 1605516"/>
                <a:gd name="connsiteX8" fmla="*/ 247355 w 1605516"/>
                <a:gd name="connsiteY8" fmla="*/ 1549878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637 w 1605516"/>
                <a:gd name="connsiteY14" fmla="*/ 1358159 h 1605516"/>
                <a:gd name="connsiteX15" fmla="*/ 36390 w 1605516"/>
                <a:gd name="connsiteY15" fmla="*/ 1322698 h 1605516"/>
                <a:gd name="connsiteX16" fmla="*/ 0 w 1605516"/>
                <a:gd name="connsiteY16" fmla="*/ 1142453 h 1605516"/>
                <a:gd name="connsiteX17" fmla="*/ 0 w 1605516"/>
                <a:gd name="connsiteY17" fmla="*/ 463063 h 1605516"/>
                <a:gd name="connsiteX18" fmla="*/ 135628 w 1605516"/>
                <a:gd name="connsiteY18" fmla="*/ 135628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628" y="135628"/>
                  </a:moveTo>
                  <a:cubicBezTo>
                    <a:pt x="219426" y="51830"/>
                    <a:pt x="335192" y="0"/>
                    <a:pt x="463063" y="0"/>
                  </a:cubicBezTo>
                  <a:lnTo>
                    <a:pt x="1142453" y="0"/>
                  </a:lnTo>
                  <a:cubicBezTo>
                    <a:pt x="1398196" y="0"/>
                    <a:pt x="1605516" y="207320"/>
                    <a:pt x="1605516" y="463063"/>
                  </a:cubicBezTo>
                  <a:lnTo>
                    <a:pt x="1605516" y="1142453"/>
                  </a:lnTo>
                  <a:cubicBezTo>
                    <a:pt x="1605516" y="1398196"/>
                    <a:pt x="1398196" y="1605516"/>
                    <a:pt x="1142453" y="1605516"/>
                  </a:cubicBezTo>
                  <a:lnTo>
                    <a:pt x="463063" y="1605516"/>
                  </a:lnTo>
                  <a:cubicBezTo>
                    <a:pt x="399127" y="1605516"/>
                    <a:pt x="338218" y="1592559"/>
                    <a:pt x="282818" y="1569126"/>
                  </a:cubicBezTo>
                  <a:lnTo>
                    <a:pt x="247355" y="1549878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637" y="1358159"/>
                  </a:lnTo>
                  <a:lnTo>
                    <a:pt x="36390" y="1322698"/>
                  </a:lnTo>
                  <a:cubicBezTo>
                    <a:pt x="12957" y="1267298"/>
                    <a:pt x="0" y="1206389"/>
                    <a:pt x="0" y="1142453"/>
                  </a:cubicBezTo>
                  <a:lnTo>
                    <a:pt x="0" y="463063"/>
                  </a:lnTo>
                  <a:cubicBezTo>
                    <a:pt x="0" y="335192"/>
                    <a:pt x="51830" y="219426"/>
                    <a:pt x="135628" y="13562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61" name="is1íḑe"/>
            <p:cNvSpPr/>
            <p:nvPr/>
          </p:nvSpPr>
          <p:spPr>
            <a:xfrm rot="2700000">
              <a:off x="3911600" y="2189617"/>
              <a:ext cx="1605516" cy="1605516"/>
            </a:xfrm>
            <a:custGeom>
              <a:avLst/>
              <a:gdLst>
                <a:gd name="connsiteX0" fmla="*/ 135459 w 1605516"/>
                <a:gd name="connsiteY0" fmla="*/ 135459 h 1605516"/>
                <a:gd name="connsiteX1" fmla="*/ 462485 w 1605516"/>
                <a:gd name="connsiteY1" fmla="*/ 0 h 1605516"/>
                <a:gd name="connsiteX2" fmla="*/ 1143031 w 1605516"/>
                <a:gd name="connsiteY2" fmla="*/ 0 h 1605516"/>
                <a:gd name="connsiteX3" fmla="*/ 1605516 w 1605516"/>
                <a:gd name="connsiteY3" fmla="*/ 462485 h 1605516"/>
                <a:gd name="connsiteX4" fmla="*/ 1605516 w 1605516"/>
                <a:gd name="connsiteY4" fmla="*/ 1143031 h 1605516"/>
                <a:gd name="connsiteX5" fmla="*/ 1143031 w 1605516"/>
                <a:gd name="connsiteY5" fmla="*/ 1605516 h 1605516"/>
                <a:gd name="connsiteX6" fmla="*/ 462485 w 1605516"/>
                <a:gd name="connsiteY6" fmla="*/ 1605516 h 1605516"/>
                <a:gd name="connsiteX7" fmla="*/ 282465 w 1605516"/>
                <a:gd name="connsiteY7" fmla="*/ 1569172 h 1605516"/>
                <a:gd name="connsiteX8" fmla="*/ 247202 w 1605516"/>
                <a:gd name="connsiteY8" fmla="*/ 1550031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84 w 1605516"/>
                <a:gd name="connsiteY14" fmla="*/ 1358313 h 1605516"/>
                <a:gd name="connsiteX15" fmla="*/ 36345 w 1605516"/>
                <a:gd name="connsiteY15" fmla="*/ 1323051 h 1605516"/>
                <a:gd name="connsiteX16" fmla="*/ 0 w 1605516"/>
                <a:gd name="connsiteY16" fmla="*/ 1143031 h 1605516"/>
                <a:gd name="connsiteX17" fmla="*/ 0 w 1605516"/>
                <a:gd name="connsiteY17" fmla="*/ 462485 h 1605516"/>
                <a:gd name="connsiteX18" fmla="*/ 135459 w 1605516"/>
                <a:gd name="connsiteY18" fmla="*/ 135459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59" y="135459"/>
                  </a:moveTo>
                  <a:cubicBezTo>
                    <a:pt x="219152" y="51765"/>
                    <a:pt x="334773" y="0"/>
                    <a:pt x="462485" y="0"/>
                  </a:cubicBezTo>
                  <a:lnTo>
                    <a:pt x="1143031" y="0"/>
                  </a:lnTo>
                  <a:cubicBezTo>
                    <a:pt x="1398454" y="0"/>
                    <a:pt x="1605516" y="207062"/>
                    <a:pt x="1605516" y="462485"/>
                  </a:cubicBezTo>
                  <a:lnTo>
                    <a:pt x="1605516" y="1143031"/>
                  </a:lnTo>
                  <a:cubicBezTo>
                    <a:pt x="1605516" y="1398454"/>
                    <a:pt x="1398454" y="1605516"/>
                    <a:pt x="1143031" y="1605516"/>
                  </a:cubicBezTo>
                  <a:lnTo>
                    <a:pt x="462485" y="1605516"/>
                  </a:lnTo>
                  <a:cubicBezTo>
                    <a:pt x="398629" y="1605516"/>
                    <a:pt x="337796" y="1592575"/>
                    <a:pt x="282465" y="1569172"/>
                  </a:cubicBezTo>
                  <a:lnTo>
                    <a:pt x="247202" y="1550031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84" y="1358313"/>
                  </a:lnTo>
                  <a:lnTo>
                    <a:pt x="36345" y="1323051"/>
                  </a:lnTo>
                  <a:cubicBezTo>
                    <a:pt x="12941" y="1267720"/>
                    <a:pt x="0" y="1206887"/>
                    <a:pt x="0" y="1143031"/>
                  </a:cubicBezTo>
                  <a:lnTo>
                    <a:pt x="0" y="462485"/>
                  </a:lnTo>
                  <a:cubicBezTo>
                    <a:pt x="0" y="334773"/>
                    <a:pt x="51765" y="219152"/>
                    <a:pt x="135459" y="13545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2" name="íṡ1ïḋé"/>
            <p:cNvSpPr/>
            <p:nvPr/>
          </p:nvSpPr>
          <p:spPr>
            <a:xfrm rot="2700000">
              <a:off x="6674883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7 w 1605516"/>
                <a:gd name="connsiteY7" fmla="*/ 1569179 h 1605516"/>
                <a:gd name="connsiteX8" fmla="*/ 247177 w 1605516"/>
                <a:gd name="connsiteY8" fmla="*/ 1550057 h 1605516"/>
                <a:gd name="connsiteX9" fmla="*/ 706899 w 1605516"/>
                <a:gd name="connsiteY9" fmla="*/ 1090335 h 1605516"/>
                <a:gd name="connsiteX10" fmla="*/ 802758 w 1605516"/>
                <a:gd name="connsiteY10" fmla="*/ 1186194 h 1605516"/>
                <a:gd name="connsiteX11" fmla="*/ 802758 w 1605516"/>
                <a:gd name="connsiteY11" fmla="*/ 802758 h 1605516"/>
                <a:gd name="connsiteX12" fmla="*/ 419322 w 1605516"/>
                <a:gd name="connsiteY12" fmla="*/ 802758 h 1605516"/>
                <a:gd name="connsiteX13" fmla="*/ 515181 w 1605516"/>
                <a:gd name="connsiteY13" fmla="*/ 898617 h 1605516"/>
                <a:gd name="connsiteX14" fmla="*/ 55459 w 1605516"/>
                <a:gd name="connsiteY14" fmla="*/ 1358339 h 1605516"/>
                <a:gd name="connsiteX15" fmla="*/ 36337 w 1605516"/>
                <a:gd name="connsiteY15" fmla="*/ 1323109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6" y="1605516"/>
                    <a:pt x="337726" y="1592577"/>
                    <a:pt x="282407" y="1569179"/>
                  </a:cubicBezTo>
                  <a:lnTo>
                    <a:pt x="247177" y="1550057"/>
                  </a:lnTo>
                  <a:lnTo>
                    <a:pt x="706899" y="1090335"/>
                  </a:lnTo>
                  <a:lnTo>
                    <a:pt x="802758" y="1186194"/>
                  </a:lnTo>
                  <a:lnTo>
                    <a:pt x="802758" y="802758"/>
                  </a:lnTo>
                  <a:lnTo>
                    <a:pt x="419322" y="802758"/>
                  </a:lnTo>
                  <a:lnTo>
                    <a:pt x="515181" y="898617"/>
                  </a:lnTo>
                  <a:lnTo>
                    <a:pt x="55459" y="1358339"/>
                  </a:lnTo>
                  <a:lnTo>
                    <a:pt x="36337" y="1323109"/>
                  </a:lnTo>
                  <a:cubicBezTo>
                    <a:pt x="12939" y="1267790"/>
                    <a:pt x="0" y="1206970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63" name="îṡlíḓè"/>
            <p:cNvSpPr/>
            <p:nvPr/>
          </p:nvSpPr>
          <p:spPr>
            <a:xfrm rot="2700000">
              <a:off x="9438167" y="2189617"/>
              <a:ext cx="1605516" cy="1605516"/>
            </a:xfrm>
            <a:custGeom>
              <a:avLst/>
              <a:gdLst>
                <a:gd name="connsiteX0" fmla="*/ 135431 w 1605516"/>
                <a:gd name="connsiteY0" fmla="*/ 135431 h 1605516"/>
                <a:gd name="connsiteX1" fmla="*/ 462389 w 1605516"/>
                <a:gd name="connsiteY1" fmla="*/ 0 h 1605516"/>
                <a:gd name="connsiteX2" fmla="*/ 1143127 w 1605516"/>
                <a:gd name="connsiteY2" fmla="*/ 0 h 1605516"/>
                <a:gd name="connsiteX3" fmla="*/ 1605516 w 1605516"/>
                <a:gd name="connsiteY3" fmla="*/ 462389 h 1605516"/>
                <a:gd name="connsiteX4" fmla="*/ 1605516 w 1605516"/>
                <a:gd name="connsiteY4" fmla="*/ 1143127 h 1605516"/>
                <a:gd name="connsiteX5" fmla="*/ 1143127 w 1605516"/>
                <a:gd name="connsiteY5" fmla="*/ 1605516 h 1605516"/>
                <a:gd name="connsiteX6" fmla="*/ 462389 w 1605516"/>
                <a:gd name="connsiteY6" fmla="*/ 1605516 h 1605516"/>
                <a:gd name="connsiteX7" fmla="*/ 282406 w 1605516"/>
                <a:gd name="connsiteY7" fmla="*/ 1569179 h 1605516"/>
                <a:gd name="connsiteX8" fmla="*/ 247176 w 1605516"/>
                <a:gd name="connsiteY8" fmla="*/ 1550057 h 1605516"/>
                <a:gd name="connsiteX9" fmla="*/ 706898 w 1605516"/>
                <a:gd name="connsiteY9" fmla="*/ 1090334 h 1605516"/>
                <a:gd name="connsiteX10" fmla="*/ 802757 w 1605516"/>
                <a:gd name="connsiteY10" fmla="*/ 1186193 h 1605516"/>
                <a:gd name="connsiteX11" fmla="*/ 802757 w 1605516"/>
                <a:gd name="connsiteY11" fmla="*/ 802757 h 1605516"/>
                <a:gd name="connsiteX12" fmla="*/ 419322 w 1605516"/>
                <a:gd name="connsiteY12" fmla="*/ 802757 h 1605516"/>
                <a:gd name="connsiteX13" fmla="*/ 515181 w 1605516"/>
                <a:gd name="connsiteY13" fmla="*/ 898616 h 1605516"/>
                <a:gd name="connsiteX14" fmla="*/ 55459 w 1605516"/>
                <a:gd name="connsiteY14" fmla="*/ 1358338 h 1605516"/>
                <a:gd name="connsiteX15" fmla="*/ 36337 w 1605516"/>
                <a:gd name="connsiteY15" fmla="*/ 1323110 h 1605516"/>
                <a:gd name="connsiteX16" fmla="*/ 0 w 1605516"/>
                <a:gd name="connsiteY16" fmla="*/ 1143127 h 1605516"/>
                <a:gd name="connsiteX17" fmla="*/ 0 w 1605516"/>
                <a:gd name="connsiteY17" fmla="*/ 462389 h 1605516"/>
                <a:gd name="connsiteX18" fmla="*/ 135431 w 1605516"/>
                <a:gd name="connsiteY18" fmla="*/ 135431 h 1605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5516" h="1605516">
                  <a:moveTo>
                    <a:pt x="135431" y="135431"/>
                  </a:moveTo>
                  <a:cubicBezTo>
                    <a:pt x="219107" y="51755"/>
                    <a:pt x="334704" y="0"/>
                    <a:pt x="462389" y="0"/>
                  </a:cubicBezTo>
                  <a:lnTo>
                    <a:pt x="1143127" y="0"/>
                  </a:lnTo>
                  <a:cubicBezTo>
                    <a:pt x="1398497" y="0"/>
                    <a:pt x="1605516" y="207019"/>
                    <a:pt x="1605516" y="462389"/>
                  </a:cubicBezTo>
                  <a:lnTo>
                    <a:pt x="1605516" y="1143127"/>
                  </a:lnTo>
                  <a:cubicBezTo>
                    <a:pt x="1605516" y="1398497"/>
                    <a:pt x="1398497" y="1605516"/>
                    <a:pt x="1143127" y="1605516"/>
                  </a:cubicBezTo>
                  <a:lnTo>
                    <a:pt x="462389" y="1605516"/>
                  </a:lnTo>
                  <a:cubicBezTo>
                    <a:pt x="398547" y="1605516"/>
                    <a:pt x="337726" y="1592577"/>
                    <a:pt x="282406" y="1569179"/>
                  </a:cubicBezTo>
                  <a:lnTo>
                    <a:pt x="247176" y="1550057"/>
                  </a:lnTo>
                  <a:lnTo>
                    <a:pt x="706898" y="1090334"/>
                  </a:lnTo>
                  <a:lnTo>
                    <a:pt x="802757" y="1186193"/>
                  </a:lnTo>
                  <a:lnTo>
                    <a:pt x="802757" y="802757"/>
                  </a:lnTo>
                  <a:lnTo>
                    <a:pt x="419322" y="802757"/>
                  </a:lnTo>
                  <a:lnTo>
                    <a:pt x="515181" y="898616"/>
                  </a:lnTo>
                  <a:lnTo>
                    <a:pt x="55459" y="1358338"/>
                  </a:lnTo>
                  <a:lnTo>
                    <a:pt x="36337" y="1323110"/>
                  </a:lnTo>
                  <a:cubicBezTo>
                    <a:pt x="12939" y="1267790"/>
                    <a:pt x="0" y="1206969"/>
                    <a:pt x="0" y="1143127"/>
                  </a:cubicBezTo>
                  <a:lnTo>
                    <a:pt x="0" y="462389"/>
                  </a:lnTo>
                  <a:cubicBezTo>
                    <a:pt x="0" y="334704"/>
                    <a:pt x="51755" y="219107"/>
                    <a:pt x="135431" y="1354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65" name="isľîdê"/>
            <p:cNvSpPr txBox="1"/>
            <p:nvPr/>
          </p:nvSpPr>
          <p:spPr>
            <a:xfrm>
              <a:off x="673099" y="3982299"/>
              <a:ext cx="2598408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C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查找快表需要的时间为 </a:t>
              </a:r>
              <a:r>
                <a:rPr lang="en-US" altLang="zh-CN" sz="2400" dirty="0"/>
                <a:t>λ</a:t>
              </a:r>
              <a:endParaRPr lang="en-US" altLang="zh-CN" sz="2400" dirty="0"/>
            </a:p>
          </p:txBody>
        </p:sp>
        <p:sp>
          <p:nvSpPr>
            <p:cNvPr id="69" name="îṣḻidé"/>
            <p:cNvSpPr txBox="1"/>
            <p:nvPr/>
          </p:nvSpPr>
          <p:spPr>
            <a:xfrm>
              <a:off x="19606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70" name="ïŝ1ïḋè"/>
            <p:cNvSpPr txBox="1"/>
            <p:nvPr/>
          </p:nvSpPr>
          <p:spPr>
            <a:xfrm>
              <a:off x="4741597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71" name="í$lîdé"/>
            <p:cNvSpPr txBox="1"/>
            <p:nvPr/>
          </p:nvSpPr>
          <p:spPr>
            <a:xfrm>
              <a:off x="7522530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72" name="išḻïďè"/>
            <p:cNvSpPr txBox="1"/>
            <p:nvPr/>
          </p:nvSpPr>
          <p:spPr>
            <a:xfrm>
              <a:off x="10303464" y="2605404"/>
              <a:ext cx="708108" cy="67824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3200" b="1" i="1" dirty="0">
                  <a:solidFill>
                    <a:schemeClr val="bg1"/>
                  </a:solidFill>
                </a:rPr>
                <a:t>00</a:t>
              </a:r>
              <a:endParaRPr lang="zh-CN" altLang="en-US" sz="3200" b="1" i="1" dirty="0">
                <a:solidFill>
                  <a:schemeClr val="bg1"/>
                </a:solidFill>
              </a:endParaRPr>
            </a:p>
          </p:txBody>
        </p:sp>
        <p:sp>
          <p:nvSpPr>
            <p:cNvPr id="77" name="isľîdê"/>
            <p:cNvSpPr txBox="1"/>
            <p:nvPr/>
          </p:nvSpPr>
          <p:spPr>
            <a:xfrm>
              <a:off x="3123499" y="3989020"/>
              <a:ext cx="2788393" cy="22705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lvl="1" indent="-342900">
                <a:lnSpc>
                  <a:spcPct val="120000"/>
                </a:lnSpc>
                <a:buClr>
                  <a:srgbClr val="FFC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假设访问内存一次需要的时间为</a:t>
              </a:r>
              <a:r>
                <a:rPr lang="en-US" altLang="zh-CN" sz="2400" dirty="0" smtClean="0"/>
                <a:t>t</a:t>
              </a:r>
              <a:endParaRPr lang="en-US" altLang="zh-CN" sz="2400" dirty="0" smtClean="0"/>
            </a:p>
            <a:p>
              <a:pPr marL="0" lvl="1">
                <a:lnSpc>
                  <a:spcPct val="120000"/>
                </a:lnSpc>
              </a:pPr>
              <a:r>
                <a:rPr lang="en-US" altLang="zh-CN" sz="2400" dirty="0">
                  <a:sym typeface="Symbol" panose="05050102010706020507" pitchFamily="18" charset="2"/>
                </a:rPr>
                <a:t>EAT = t + t = 2t (</a:t>
              </a:r>
              <a:r>
                <a:rPr lang="zh-CN" altLang="en-US" sz="2400" dirty="0">
                  <a:sym typeface="Symbol" panose="05050102010706020507" pitchFamily="18" charset="2"/>
                </a:rPr>
                <a:t>基本分页存储系统中</a:t>
              </a:r>
              <a:r>
                <a:rPr lang="en-US" altLang="zh-CN" sz="2400" dirty="0">
                  <a:sym typeface="Symbol" panose="05050102010706020507" pitchFamily="18" charset="2"/>
                </a:rPr>
                <a:t>)</a:t>
              </a:r>
              <a:endParaRPr lang="en-US" altLang="zh-CN" sz="2400" dirty="0">
                <a:sym typeface="Symbol" panose="05050102010706020507" pitchFamily="18" charset="2"/>
              </a:endParaRPr>
            </a:p>
            <a:p>
              <a:pPr marL="0" lvl="1">
                <a:lnSpc>
                  <a:spcPct val="120000"/>
                </a:lnSpc>
              </a:pPr>
              <a:endParaRPr lang="en-US" altLang="zh-CN" sz="2400" dirty="0"/>
            </a:p>
          </p:txBody>
        </p:sp>
        <p:sp>
          <p:nvSpPr>
            <p:cNvPr id="78" name="isľîdê"/>
            <p:cNvSpPr txBox="1"/>
            <p:nvPr/>
          </p:nvSpPr>
          <p:spPr>
            <a:xfrm>
              <a:off x="5985896" y="4058259"/>
              <a:ext cx="3045753" cy="14617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C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命中率</a:t>
              </a:r>
              <a:r>
                <a:rPr lang="en-US" altLang="zh-CN" sz="2400" dirty="0"/>
                <a:t>—</a:t>
              </a:r>
              <a:r>
                <a:rPr lang="zh-CN" altLang="en-US" sz="2400" dirty="0"/>
                <a:t>在联想寄存器中找到页号的百分比，比率与联想寄存器的大小有关，假设为</a:t>
              </a:r>
              <a:r>
                <a:rPr lang="en-US" altLang="zh-CN" sz="2400" dirty="0"/>
                <a:t>a</a:t>
              </a:r>
              <a:endParaRPr lang="en-US" altLang="zh-CN" sz="2400" dirty="0"/>
            </a:p>
          </p:txBody>
        </p:sp>
        <p:sp>
          <p:nvSpPr>
            <p:cNvPr id="79" name="isľîdê"/>
            <p:cNvSpPr txBox="1"/>
            <p:nvPr/>
          </p:nvSpPr>
          <p:spPr>
            <a:xfrm>
              <a:off x="9105653" y="4058259"/>
              <a:ext cx="2681690" cy="19019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Autofit/>
            </a:bodyPr>
            <a:lstStyle/>
            <a:p>
              <a:pPr marL="342900" indent="-342900">
                <a:lnSpc>
                  <a:spcPct val="120000"/>
                </a:lnSpc>
                <a:buClr>
                  <a:srgbClr val="FFC000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/>
                <a:t>引入快表的</a:t>
              </a:r>
              <a:r>
                <a:rPr lang="zh-CN" altLang="en-US" sz="2400" dirty="0">
                  <a:solidFill>
                    <a:srgbClr val="FF0000"/>
                  </a:solidFill>
                </a:rPr>
                <a:t>有效访问时间</a:t>
              </a:r>
              <a:r>
                <a:rPr lang="zh-CN" altLang="en-US" sz="2400" dirty="0"/>
                <a:t> </a:t>
              </a:r>
              <a:r>
                <a:rPr lang="en-US" altLang="zh-CN" sz="2400" dirty="0"/>
                <a:t>(EAT</a:t>
              </a:r>
              <a:r>
                <a:rPr lang="en-US" altLang="zh-CN" sz="2400" dirty="0" smtClean="0"/>
                <a:t>)</a:t>
              </a:r>
              <a:endParaRPr lang="en-US" altLang="zh-CN" sz="2400" dirty="0" smtClean="0"/>
            </a:p>
            <a:p>
              <a:pPr>
                <a:lnSpc>
                  <a:spcPct val="120000"/>
                </a:lnSpc>
                <a:buClr>
                  <a:srgbClr val="0000FF"/>
                </a:buClr>
              </a:pPr>
              <a:r>
                <a:rPr lang="en-US" altLang="zh-CN" sz="2400" dirty="0"/>
                <a:t>EAT = </a:t>
              </a:r>
              <a:r>
                <a:rPr lang="el-GR" altLang="zh-CN" sz="2400" dirty="0">
                  <a:sym typeface="Symbol" panose="05050102010706020507" pitchFamily="18" charset="2"/>
                </a:rPr>
                <a:t>λ</a:t>
              </a:r>
              <a:r>
                <a:rPr lang="en-US" altLang="zh-CN" sz="2400" dirty="0">
                  <a:sym typeface="Symbol" panose="05050102010706020507" pitchFamily="18" charset="2"/>
                </a:rPr>
                <a:t> </a:t>
              </a:r>
              <a:r>
                <a:rPr lang="zh-CN" altLang="en-US" sz="2400" dirty="0">
                  <a:sym typeface="Symbol" panose="05050102010706020507" pitchFamily="18" charset="2"/>
                </a:rPr>
                <a:t>* </a:t>
              </a:r>
              <a:r>
                <a:rPr lang="en-US" altLang="zh-CN" sz="2400" dirty="0">
                  <a:sym typeface="Symbol" panose="05050102010706020507" pitchFamily="18" charset="2"/>
                </a:rPr>
                <a:t>a + (t + </a:t>
              </a:r>
              <a:r>
                <a:rPr lang="el-GR" altLang="zh-CN" sz="2400" dirty="0">
                  <a:sym typeface="Symbol" panose="05050102010706020507" pitchFamily="18" charset="2"/>
                </a:rPr>
                <a:t>λ</a:t>
              </a:r>
              <a:r>
                <a:rPr lang="en-US" altLang="zh-CN" sz="2400" dirty="0">
                  <a:sym typeface="Symbol" panose="05050102010706020507" pitchFamily="18" charset="2"/>
                </a:rPr>
                <a:t>)(1 – a)</a:t>
              </a:r>
              <a:r>
                <a:rPr lang="en-US" altLang="zh-CN" sz="2400" dirty="0"/>
                <a:t> +  </a:t>
              </a:r>
              <a:r>
                <a:rPr lang="en-US" altLang="zh-CN" sz="2400" dirty="0" smtClean="0"/>
                <a:t>t</a:t>
              </a:r>
              <a:endParaRPr lang="en-US" altLang="zh-CN" sz="2400" dirty="0"/>
            </a:p>
          </p:txBody>
        </p:sp>
      </p:grpSp>
      <p:sp>
        <p:nvSpPr>
          <p:cNvPr id="21" name="矩形 20"/>
          <p:cNvSpPr/>
          <p:nvPr/>
        </p:nvSpPr>
        <p:spPr>
          <a:xfrm>
            <a:off x="669925" y="5687441"/>
            <a:ext cx="11024092" cy="586042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快表大小：</a:t>
            </a:r>
            <a:r>
              <a:rPr lang="en-US" altLang="zh-CN" sz="2400" dirty="0">
                <a:solidFill>
                  <a:srgbClr val="C00000"/>
                </a:solidFill>
              </a:rPr>
              <a:t>16-512</a:t>
            </a:r>
            <a:r>
              <a:rPr lang="zh-CN" altLang="en-US" sz="2400" dirty="0">
                <a:solidFill>
                  <a:srgbClr val="C00000"/>
                </a:solidFill>
              </a:rPr>
              <a:t>个页表项。</a:t>
            </a:r>
            <a:endParaRPr lang="en-US" altLang="zh-CN" sz="24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页表结构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0" name="íšḻîḋè"/>
          <p:cNvSpPr/>
          <p:nvPr/>
        </p:nvSpPr>
        <p:spPr>
          <a:xfrm>
            <a:off x="1746844" y="3158391"/>
            <a:ext cx="8388829" cy="93313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对页表所需要的内存空间，采用</a:t>
            </a:r>
            <a:r>
              <a:rPr lang="zh-CN" altLang="en-US" sz="2200" dirty="0">
                <a:solidFill>
                  <a:srgbClr val="FF0000"/>
                </a:solidFill>
              </a:rPr>
              <a:t>离散分配</a:t>
            </a:r>
            <a:r>
              <a:rPr lang="zh-CN" altLang="en-US" sz="2200" dirty="0"/>
              <a:t>方式，即页表也分页。</a:t>
            </a:r>
            <a:endParaRPr lang="zh-CN" altLang="en-US" sz="2200" dirty="0"/>
          </a:p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/>
              <a:t>部分页表调入内存</a:t>
            </a:r>
            <a:endParaRPr lang="zh-CN" altLang="en-US" sz="2200" dirty="0"/>
          </a:p>
        </p:txBody>
      </p:sp>
      <p:sp>
        <p:nvSpPr>
          <p:cNvPr id="221" name="i$lîďê"/>
          <p:cNvSpPr/>
          <p:nvPr/>
        </p:nvSpPr>
        <p:spPr>
          <a:xfrm>
            <a:off x="1802479" y="2707265"/>
            <a:ext cx="3696051" cy="3928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>
                <a:sym typeface="Wingdings" panose="05000000000000000000" pitchFamily="2" charset="2"/>
              </a:rPr>
              <a:t>解决办法：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sp>
        <p:nvSpPr>
          <p:cNvPr id="222" name="î$ļíḋè"/>
          <p:cNvSpPr/>
          <p:nvPr/>
        </p:nvSpPr>
        <p:spPr>
          <a:xfrm>
            <a:off x="1802479" y="4923824"/>
            <a:ext cx="1934634" cy="14054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FF0000"/>
                </a:solidFill>
              </a:rPr>
              <a:t>两级</a:t>
            </a:r>
            <a:r>
              <a:rPr lang="zh-CN" altLang="en-US" sz="2200" dirty="0" smtClean="0">
                <a:solidFill>
                  <a:srgbClr val="FF0000"/>
                </a:solidFill>
              </a:rPr>
              <a:t>页表</a:t>
            </a:r>
            <a:endParaRPr lang="zh-CN" altLang="en-US" sz="2200" dirty="0">
              <a:solidFill>
                <a:srgbClr val="FF0000"/>
              </a:solidFill>
            </a:endParaRPr>
          </a:p>
        </p:txBody>
      </p:sp>
      <p:sp>
        <p:nvSpPr>
          <p:cNvPr id="223" name="ïṧḷïḋè"/>
          <p:cNvSpPr/>
          <p:nvPr/>
        </p:nvSpPr>
        <p:spPr>
          <a:xfrm>
            <a:off x="1802481" y="4422474"/>
            <a:ext cx="3696051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页表结构</a:t>
            </a:r>
            <a:endParaRPr lang="en-US" altLang="zh-CN" sz="2400" dirty="0"/>
          </a:p>
        </p:txBody>
      </p:sp>
      <p:sp>
        <p:nvSpPr>
          <p:cNvPr id="225" name="íšḻíḑê"/>
          <p:cNvSpPr/>
          <p:nvPr/>
        </p:nvSpPr>
        <p:spPr>
          <a:xfrm>
            <a:off x="1802480" y="1413072"/>
            <a:ext cx="9730289" cy="939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现代的大多数计算机系统，都支持非常大的逻辑地址空间。在这样的环境下，页表就变得非常大，要占用相当大的内存空间。</a:t>
            </a:r>
            <a:endParaRPr lang="zh-CN" altLang="en-US" sz="2400" dirty="0"/>
          </a:p>
        </p:txBody>
      </p:sp>
      <p:sp>
        <p:nvSpPr>
          <p:cNvPr id="226" name="îSļiḓè"/>
          <p:cNvSpPr/>
          <p:nvPr/>
        </p:nvSpPr>
        <p:spPr>
          <a:xfrm>
            <a:off x="1118977" y="139951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7" name="íṥḻîḓe"/>
          <p:cNvSpPr/>
          <p:nvPr/>
        </p:nvSpPr>
        <p:spPr>
          <a:xfrm>
            <a:off x="1118977" y="4378509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8" name="îşļiḓè"/>
          <p:cNvSpPr/>
          <p:nvPr/>
        </p:nvSpPr>
        <p:spPr>
          <a:xfrm>
            <a:off x="1118977" y="2658255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29" name="îṡḷíďe"/>
          <p:cNvSpPr/>
          <p:nvPr/>
        </p:nvSpPr>
        <p:spPr>
          <a:xfrm>
            <a:off x="1309232" y="1595648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30" name="íSlíḋe"/>
          <p:cNvSpPr/>
          <p:nvPr/>
        </p:nvSpPr>
        <p:spPr>
          <a:xfrm>
            <a:off x="1309231" y="2880272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231" name="ïśḷïḓe"/>
          <p:cNvSpPr/>
          <p:nvPr/>
        </p:nvSpPr>
        <p:spPr>
          <a:xfrm>
            <a:off x="1338170" y="4567969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15" name="î$ļíḋè"/>
          <p:cNvSpPr/>
          <p:nvPr/>
        </p:nvSpPr>
        <p:spPr>
          <a:xfrm>
            <a:off x="3914614" y="4923823"/>
            <a:ext cx="2366916" cy="14054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solidFill>
                  <a:srgbClr val="FF0000"/>
                </a:solidFill>
              </a:rPr>
              <a:t>多级页表</a:t>
            </a:r>
            <a:endParaRPr lang="zh-CN" altLang="en-US" sz="2200" dirty="0">
              <a:solidFill>
                <a:srgbClr val="FF0000"/>
              </a:solidFill>
            </a:endParaRPr>
          </a:p>
        </p:txBody>
      </p:sp>
      <p:sp>
        <p:nvSpPr>
          <p:cNvPr id="16" name="î$ļíḋè"/>
          <p:cNvSpPr/>
          <p:nvPr/>
        </p:nvSpPr>
        <p:spPr>
          <a:xfrm>
            <a:off x="6082384" y="4923823"/>
            <a:ext cx="2366916" cy="14054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342900" indent="-342900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200" dirty="0" smtClean="0">
                <a:solidFill>
                  <a:srgbClr val="FF0000"/>
                </a:solidFill>
              </a:rPr>
              <a:t>反</a:t>
            </a:r>
            <a:r>
              <a:rPr lang="zh-CN" altLang="en-US" sz="2200" dirty="0">
                <a:solidFill>
                  <a:srgbClr val="FF0000"/>
                </a:solidFill>
              </a:rPr>
              <a:t>置页表</a:t>
            </a:r>
            <a:endParaRPr lang="zh-CN" alt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两级页表结构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50" name="Group 266"/>
          <p:cNvGraphicFramePr>
            <a:graphicFrameLocks noGrp="1"/>
          </p:cNvGraphicFramePr>
          <p:nvPr/>
        </p:nvGraphicFramePr>
        <p:xfrm>
          <a:off x="2157904" y="2225901"/>
          <a:ext cx="1752600" cy="3775075"/>
        </p:xfrm>
        <a:graphic>
          <a:graphicData uri="http://schemas.openxmlformats.org/drawingml/2006/table">
            <a:tbl>
              <a:tblPr/>
              <a:tblGrid>
                <a:gridCol w="533400"/>
                <a:gridCol w="1219200"/>
              </a:tblGrid>
              <a:tr h="51752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35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1078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938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435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1742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752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外层页表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1" name="Group 206"/>
          <p:cNvGraphicFramePr>
            <a:graphicFrameLocks noGrp="1"/>
          </p:cNvGraphicFramePr>
          <p:nvPr/>
        </p:nvGraphicFramePr>
        <p:xfrm>
          <a:off x="7960216" y="601888"/>
          <a:ext cx="2286000" cy="5953140"/>
        </p:xfrm>
        <a:graphic>
          <a:graphicData uri="http://schemas.openxmlformats.org/drawingml/2006/table">
            <a:tbl>
              <a:tblPr/>
              <a:tblGrid>
                <a:gridCol w="1485900"/>
                <a:gridCol w="800100"/>
              </a:tblGrid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298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802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1468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内存空间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2" name="Group 101"/>
          <p:cNvGraphicFramePr>
            <a:graphicFrameLocks noGrp="1"/>
          </p:cNvGraphicFramePr>
          <p:nvPr/>
        </p:nvGraphicFramePr>
        <p:xfrm>
          <a:off x="4830460" y="953613"/>
          <a:ext cx="1828800" cy="1935804"/>
        </p:xfrm>
        <a:graphic>
          <a:graphicData uri="http://schemas.openxmlformats.org/drawingml/2006/table">
            <a:tbl>
              <a:tblPr/>
              <a:tblGrid>
                <a:gridCol w="647700"/>
                <a:gridCol w="1181100"/>
              </a:tblGrid>
              <a:tr h="33585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0# 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06" marB="4600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89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1412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89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42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89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1023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Group 207"/>
          <p:cNvGraphicFramePr>
            <a:graphicFrameLocks noGrp="1"/>
          </p:cNvGraphicFramePr>
          <p:nvPr/>
        </p:nvGraphicFramePr>
        <p:xfrm>
          <a:off x="4830460" y="2870553"/>
          <a:ext cx="1828800" cy="1935804"/>
        </p:xfrm>
        <a:graphic>
          <a:graphicData uri="http://schemas.openxmlformats.org/drawingml/2006/table">
            <a:tbl>
              <a:tblPr/>
              <a:tblGrid>
                <a:gridCol w="647700"/>
                <a:gridCol w="1181100"/>
              </a:tblGrid>
              <a:tr h="33585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1#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页表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06" marB="4600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89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114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89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115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89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42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89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1023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6" marB="460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4" name="Group 163"/>
          <p:cNvGraphicFramePr>
            <a:graphicFrameLocks noGrp="1"/>
          </p:cNvGraphicFramePr>
          <p:nvPr/>
        </p:nvGraphicFramePr>
        <p:xfrm>
          <a:off x="4830460" y="4800230"/>
          <a:ext cx="1828800" cy="2057772"/>
        </p:xfrm>
        <a:graphic>
          <a:graphicData uri="http://schemas.openxmlformats.org/drawingml/2006/table">
            <a:tbl>
              <a:tblPr/>
              <a:tblGrid>
                <a:gridCol w="647700"/>
                <a:gridCol w="1181100"/>
              </a:tblGrid>
              <a:tr h="42163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n# 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页表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57" marB="4605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2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1468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2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2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732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2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1023</a:t>
                      </a:r>
                      <a:endParaRPr kumimoji="1" lang="en-US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7" marB="4605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5" name="Line 194"/>
          <p:cNvSpPr>
            <a:spLocks noChangeShapeType="1"/>
          </p:cNvSpPr>
          <p:nvPr/>
        </p:nvSpPr>
        <p:spPr bwMode="auto">
          <a:xfrm flipV="1">
            <a:off x="3693017" y="1308452"/>
            <a:ext cx="1793384" cy="11222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6" name="Line 195"/>
          <p:cNvSpPr>
            <a:spLocks noChangeShapeType="1"/>
          </p:cNvSpPr>
          <p:nvPr/>
        </p:nvSpPr>
        <p:spPr bwMode="auto">
          <a:xfrm>
            <a:off x="3693016" y="2964088"/>
            <a:ext cx="1793385" cy="21609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7" name="Line 196"/>
          <p:cNvSpPr>
            <a:spLocks noChangeShapeType="1"/>
          </p:cNvSpPr>
          <p:nvPr/>
        </p:nvSpPr>
        <p:spPr bwMode="auto">
          <a:xfrm flipV="1">
            <a:off x="3616816" y="5177307"/>
            <a:ext cx="1869585" cy="14898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8" name="Line 197"/>
          <p:cNvSpPr>
            <a:spLocks noChangeShapeType="1"/>
          </p:cNvSpPr>
          <p:nvPr/>
        </p:nvSpPr>
        <p:spPr bwMode="auto">
          <a:xfrm flipV="1">
            <a:off x="6591790" y="999398"/>
            <a:ext cx="1368425" cy="485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9" name="Line 198"/>
          <p:cNvSpPr>
            <a:spLocks noChangeShapeType="1"/>
          </p:cNvSpPr>
          <p:nvPr/>
        </p:nvSpPr>
        <p:spPr bwMode="auto">
          <a:xfrm>
            <a:off x="6512416" y="1743424"/>
            <a:ext cx="1447800" cy="44342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0" name="Line 199"/>
          <p:cNvSpPr>
            <a:spLocks noChangeShapeType="1"/>
          </p:cNvSpPr>
          <p:nvPr/>
        </p:nvSpPr>
        <p:spPr bwMode="auto">
          <a:xfrm>
            <a:off x="6552896" y="1962970"/>
            <a:ext cx="1407319" cy="102334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1" name="Line 200"/>
          <p:cNvSpPr>
            <a:spLocks noChangeShapeType="1"/>
          </p:cNvSpPr>
          <p:nvPr/>
        </p:nvSpPr>
        <p:spPr bwMode="auto">
          <a:xfrm>
            <a:off x="6552896" y="3328384"/>
            <a:ext cx="1407319" cy="8701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2" name="Line 201"/>
          <p:cNvSpPr>
            <a:spLocks noChangeShapeType="1"/>
          </p:cNvSpPr>
          <p:nvPr/>
        </p:nvSpPr>
        <p:spPr bwMode="auto">
          <a:xfrm>
            <a:off x="6512416" y="3637824"/>
            <a:ext cx="1447799" cy="93417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3" name="Line 202"/>
          <p:cNvSpPr>
            <a:spLocks noChangeShapeType="1"/>
          </p:cNvSpPr>
          <p:nvPr/>
        </p:nvSpPr>
        <p:spPr bwMode="auto">
          <a:xfrm>
            <a:off x="6552897" y="5326287"/>
            <a:ext cx="1407318" cy="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两级页表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69924" y="1128133"/>
            <a:ext cx="10277467" cy="5860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例子（</a:t>
            </a:r>
            <a:r>
              <a:rPr lang="en-US" altLang="zh-CN" sz="2400" b="1" dirty="0">
                <a:solidFill>
                  <a:srgbClr val="C00000"/>
                </a:solidFill>
              </a:rPr>
              <a:t>32</a:t>
            </a:r>
            <a:r>
              <a:rPr lang="zh-CN" altLang="en-US" sz="2400" b="1" dirty="0">
                <a:solidFill>
                  <a:srgbClr val="C00000"/>
                </a:solidFill>
              </a:rPr>
              <a:t>位逻辑地址空间）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31" name="îśḻiďé"/>
          <p:cNvSpPr/>
          <p:nvPr/>
        </p:nvSpPr>
        <p:spPr bwMode="auto">
          <a:xfrm>
            <a:off x="1022217" y="1840349"/>
            <a:ext cx="846430" cy="8464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32" name="išľiďe"/>
          <p:cNvSpPr/>
          <p:nvPr/>
        </p:nvSpPr>
        <p:spPr bwMode="auto">
          <a:xfrm>
            <a:off x="1022217" y="3037435"/>
            <a:ext cx="847397" cy="84643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34" name="íśľîḋé"/>
          <p:cNvSpPr/>
          <p:nvPr/>
        </p:nvSpPr>
        <p:spPr bwMode="auto">
          <a:xfrm>
            <a:off x="1022217" y="4404525"/>
            <a:ext cx="846430" cy="8473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endParaRPr lang="en-US"/>
          </a:p>
        </p:txBody>
      </p:sp>
      <p:sp>
        <p:nvSpPr>
          <p:cNvPr id="36" name="ïṡḷidè"/>
          <p:cNvSpPr/>
          <p:nvPr/>
        </p:nvSpPr>
        <p:spPr bwMode="auto">
          <a:xfrm>
            <a:off x="1279797" y="3288555"/>
            <a:ext cx="344710" cy="344189"/>
          </a:xfrm>
          <a:custGeom>
            <a:avLst/>
            <a:gdLst>
              <a:gd name="connsiteX0" fmla="*/ 106370 w 607639"/>
              <a:gd name="connsiteY0" fmla="*/ 436610 h 606722"/>
              <a:gd name="connsiteX1" fmla="*/ 61329 w 607639"/>
              <a:gd name="connsiteY1" fmla="*/ 480515 h 606722"/>
              <a:gd name="connsiteX2" fmla="*/ 126397 w 607639"/>
              <a:gd name="connsiteY2" fmla="*/ 545485 h 606722"/>
              <a:gd name="connsiteX3" fmla="*/ 170369 w 607639"/>
              <a:gd name="connsiteY3" fmla="*/ 500513 h 606722"/>
              <a:gd name="connsiteX4" fmla="*/ 455714 w 607639"/>
              <a:gd name="connsiteY4" fmla="*/ 404481 h 606722"/>
              <a:gd name="connsiteX5" fmla="*/ 531614 w 607639"/>
              <a:gd name="connsiteY5" fmla="*/ 404481 h 606722"/>
              <a:gd name="connsiteX6" fmla="*/ 531703 w 607639"/>
              <a:gd name="connsiteY6" fmla="*/ 404481 h 606722"/>
              <a:gd name="connsiteX7" fmla="*/ 531792 w 607639"/>
              <a:gd name="connsiteY7" fmla="*/ 404481 h 606722"/>
              <a:gd name="connsiteX8" fmla="*/ 548075 w 607639"/>
              <a:gd name="connsiteY8" fmla="*/ 410525 h 606722"/>
              <a:gd name="connsiteX9" fmla="*/ 551456 w 607639"/>
              <a:gd name="connsiteY9" fmla="*/ 413991 h 606722"/>
              <a:gd name="connsiteX10" fmla="*/ 556973 w 607639"/>
              <a:gd name="connsiteY10" fmla="*/ 429012 h 606722"/>
              <a:gd name="connsiteX11" fmla="*/ 556973 w 607639"/>
              <a:gd name="connsiteY11" fmla="*/ 429811 h 606722"/>
              <a:gd name="connsiteX12" fmla="*/ 556973 w 607639"/>
              <a:gd name="connsiteY12" fmla="*/ 505625 h 606722"/>
              <a:gd name="connsiteX13" fmla="*/ 531614 w 607639"/>
              <a:gd name="connsiteY13" fmla="*/ 530867 h 606722"/>
              <a:gd name="connsiteX14" fmla="*/ 506343 w 607639"/>
              <a:gd name="connsiteY14" fmla="*/ 505625 h 606722"/>
              <a:gd name="connsiteX15" fmla="*/ 476001 w 607639"/>
              <a:gd name="connsiteY15" fmla="*/ 546065 h 606722"/>
              <a:gd name="connsiteX16" fmla="*/ 455714 w 607639"/>
              <a:gd name="connsiteY16" fmla="*/ 556197 h 606722"/>
              <a:gd name="connsiteX17" fmla="*/ 440498 w 607639"/>
              <a:gd name="connsiteY17" fmla="*/ 551131 h 606722"/>
              <a:gd name="connsiteX18" fmla="*/ 435515 w 607639"/>
              <a:gd name="connsiteY18" fmla="*/ 515757 h 606722"/>
              <a:gd name="connsiteX19" fmla="*/ 481073 w 607639"/>
              <a:gd name="connsiteY19" fmla="*/ 455053 h 606722"/>
              <a:gd name="connsiteX20" fmla="*/ 455714 w 607639"/>
              <a:gd name="connsiteY20" fmla="*/ 455053 h 606722"/>
              <a:gd name="connsiteX21" fmla="*/ 430443 w 607639"/>
              <a:gd name="connsiteY21" fmla="*/ 429811 h 606722"/>
              <a:gd name="connsiteX22" fmla="*/ 455714 w 607639"/>
              <a:gd name="connsiteY22" fmla="*/ 404481 h 606722"/>
              <a:gd name="connsiteX23" fmla="*/ 157786 w 607639"/>
              <a:gd name="connsiteY23" fmla="*/ 282117 h 606722"/>
              <a:gd name="connsiteX24" fmla="*/ 175710 w 607639"/>
              <a:gd name="connsiteY24" fmla="*/ 289516 h 606722"/>
              <a:gd name="connsiteX25" fmla="*/ 317685 w 607639"/>
              <a:gd name="connsiteY25" fmla="*/ 431277 h 606722"/>
              <a:gd name="connsiteX26" fmla="*/ 317685 w 607639"/>
              <a:gd name="connsiteY26" fmla="*/ 467006 h 606722"/>
              <a:gd name="connsiteX27" fmla="*/ 245229 w 607639"/>
              <a:gd name="connsiteY27" fmla="*/ 539441 h 606722"/>
              <a:gd name="connsiteX28" fmla="*/ 227248 w 607639"/>
              <a:gd name="connsiteY28" fmla="*/ 546818 h 606722"/>
              <a:gd name="connsiteX29" fmla="*/ 209357 w 607639"/>
              <a:gd name="connsiteY29" fmla="*/ 539441 h 606722"/>
              <a:gd name="connsiteX30" fmla="*/ 206241 w 607639"/>
              <a:gd name="connsiteY30" fmla="*/ 536242 h 606722"/>
              <a:gd name="connsiteX31" fmla="*/ 144734 w 607639"/>
              <a:gd name="connsiteY31" fmla="*/ 599079 h 606722"/>
              <a:gd name="connsiteX32" fmla="*/ 126753 w 607639"/>
              <a:gd name="connsiteY32" fmla="*/ 606722 h 606722"/>
              <a:gd name="connsiteX33" fmla="*/ 126575 w 607639"/>
              <a:gd name="connsiteY33" fmla="*/ 606722 h 606722"/>
              <a:gd name="connsiteX34" fmla="*/ 108684 w 607639"/>
              <a:gd name="connsiteY34" fmla="*/ 599256 h 606722"/>
              <a:gd name="connsiteX35" fmla="*/ 7388 w 607639"/>
              <a:gd name="connsiteY35" fmla="*/ 498113 h 606722"/>
              <a:gd name="connsiteX36" fmla="*/ 0 w 607639"/>
              <a:gd name="connsiteY36" fmla="*/ 480160 h 606722"/>
              <a:gd name="connsiteX37" fmla="*/ 7655 w 607639"/>
              <a:gd name="connsiteY37" fmla="*/ 462206 h 606722"/>
              <a:gd name="connsiteX38" fmla="*/ 70587 w 607639"/>
              <a:gd name="connsiteY38" fmla="*/ 400792 h 606722"/>
              <a:gd name="connsiteX39" fmla="*/ 67382 w 607639"/>
              <a:gd name="connsiteY39" fmla="*/ 397681 h 606722"/>
              <a:gd name="connsiteX40" fmla="*/ 59994 w 607639"/>
              <a:gd name="connsiteY40" fmla="*/ 379728 h 606722"/>
              <a:gd name="connsiteX41" fmla="*/ 67382 w 607639"/>
              <a:gd name="connsiteY41" fmla="*/ 361863 h 606722"/>
              <a:gd name="connsiteX42" fmla="*/ 139927 w 607639"/>
              <a:gd name="connsiteY42" fmla="*/ 289516 h 606722"/>
              <a:gd name="connsiteX43" fmla="*/ 157786 w 607639"/>
              <a:gd name="connsiteY43" fmla="*/ 282117 h 606722"/>
              <a:gd name="connsiteX44" fmla="*/ 363724 w 607639"/>
              <a:gd name="connsiteY44" fmla="*/ 101159 h 606722"/>
              <a:gd name="connsiteX45" fmla="*/ 353254 w 607639"/>
              <a:gd name="connsiteY45" fmla="*/ 105492 h 606722"/>
              <a:gd name="connsiteX46" fmla="*/ 320945 w 607639"/>
              <a:gd name="connsiteY46" fmla="*/ 137752 h 606722"/>
              <a:gd name="connsiteX47" fmla="*/ 323793 w 607639"/>
              <a:gd name="connsiteY47" fmla="*/ 139974 h 606722"/>
              <a:gd name="connsiteX48" fmla="*/ 335898 w 607639"/>
              <a:gd name="connsiteY48" fmla="*/ 148417 h 606722"/>
              <a:gd name="connsiteX49" fmla="*/ 341149 w 607639"/>
              <a:gd name="connsiteY49" fmla="*/ 151794 h 606722"/>
              <a:gd name="connsiteX50" fmla="*/ 359930 w 607639"/>
              <a:gd name="connsiteY50" fmla="*/ 162459 h 606722"/>
              <a:gd name="connsiteX51" fmla="*/ 408439 w 607639"/>
              <a:gd name="connsiteY51" fmla="*/ 198897 h 606722"/>
              <a:gd name="connsiteX52" fmla="*/ 444933 w 607639"/>
              <a:gd name="connsiteY52" fmla="*/ 247243 h 606722"/>
              <a:gd name="connsiteX53" fmla="*/ 455614 w 607639"/>
              <a:gd name="connsiteY53" fmla="*/ 266084 h 606722"/>
              <a:gd name="connsiteX54" fmla="*/ 458907 w 607639"/>
              <a:gd name="connsiteY54" fmla="*/ 271239 h 606722"/>
              <a:gd name="connsiteX55" fmla="*/ 467452 w 607639"/>
              <a:gd name="connsiteY55" fmla="*/ 283326 h 606722"/>
              <a:gd name="connsiteX56" fmla="*/ 469677 w 607639"/>
              <a:gd name="connsiteY56" fmla="*/ 286258 h 606722"/>
              <a:gd name="connsiteX57" fmla="*/ 501987 w 607639"/>
              <a:gd name="connsiteY57" fmla="*/ 253998 h 606722"/>
              <a:gd name="connsiteX58" fmla="*/ 501987 w 607639"/>
              <a:gd name="connsiteY58" fmla="*/ 233024 h 606722"/>
              <a:gd name="connsiteX59" fmla="*/ 374260 w 607639"/>
              <a:gd name="connsiteY59" fmla="*/ 105492 h 606722"/>
              <a:gd name="connsiteX60" fmla="*/ 363724 w 607639"/>
              <a:gd name="connsiteY60" fmla="*/ 101159 h 606722"/>
              <a:gd name="connsiteX61" fmla="*/ 177209 w 607639"/>
              <a:gd name="connsiteY61" fmla="*/ 50521 h 606722"/>
              <a:gd name="connsiteX62" fmla="*/ 195096 w 607639"/>
              <a:gd name="connsiteY62" fmla="*/ 57919 h 606722"/>
              <a:gd name="connsiteX63" fmla="*/ 195096 w 607639"/>
              <a:gd name="connsiteY63" fmla="*/ 93644 h 606722"/>
              <a:gd name="connsiteX64" fmla="*/ 137075 w 607639"/>
              <a:gd name="connsiteY64" fmla="*/ 151675 h 606722"/>
              <a:gd name="connsiteX65" fmla="*/ 151936 w 607639"/>
              <a:gd name="connsiteY65" fmla="*/ 151675 h 606722"/>
              <a:gd name="connsiteX66" fmla="*/ 177209 w 607639"/>
              <a:gd name="connsiteY66" fmla="*/ 176914 h 606722"/>
              <a:gd name="connsiteX67" fmla="*/ 151936 w 607639"/>
              <a:gd name="connsiteY67" fmla="*/ 202241 h 606722"/>
              <a:gd name="connsiteX68" fmla="*/ 75939 w 607639"/>
              <a:gd name="connsiteY68" fmla="*/ 202241 h 606722"/>
              <a:gd name="connsiteX69" fmla="*/ 59387 w 607639"/>
              <a:gd name="connsiteY69" fmla="*/ 196020 h 606722"/>
              <a:gd name="connsiteX70" fmla="*/ 55916 w 607639"/>
              <a:gd name="connsiteY70" fmla="*/ 192288 h 606722"/>
              <a:gd name="connsiteX71" fmla="*/ 50755 w 607639"/>
              <a:gd name="connsiteY71" fmla="*/ 178691 h 606722"/>
              <a:gd name="connsiteX72" fmla="*/ 50666 w 607639"/>
              <a:gd name="connsiteY72" fmla="*/ 176736 h 606722"/>
              <a:gd name="connsiteX73" fmla="*/ 50666 w 607639"/>
              <a:gd name="connsiteY73" fmla="*/ 101109 h 606722"/>
              <a:gd name="connsiteX74" fmla="*/ 75939 w 607639"/>
              <a:gd name="connsiteY74" fmla="*/ 75782 h 606722"/>
              <a:gd name="connsiteX75" fmla="*/ 101301 w 607639"/>
              <a:gd name="connsiteY75" fmla="*/ 101109 h 606722"/>
              <a:gd name="connsiteX76" fmla="*/ 101301 w 607639"/>
              <a:gd name="connsiteY76" fmla="*/ 115861 h 606722"/>
              <a:gd name="connsiteX77" fmla="*/ 159322 w 607639"/>
              <a:gd name="connsiteY77" fmla="*/ 57919 h 606722"/>
              <a:gd name="connsiteX78" fmla="*/ 177209 w 607639"/>
              <a:gd name="connsiteY78" fmla="*/ 50521 h 606722"/>
              <a:gd name="connsiteX79" fmla="*/ 480892 w 607639"/>
              <a:gd name="connsiteY79" fmla="*/ 0 h 606722"/>
              <a:gd name="connsiteX80" fmla="*/ 498960 w 607639"/>
              <a:gd name="connsiteY80" fmla="*/ 7376 h 606722"/>
              <a:gd name="connsiteX81" fmla="*/ 600162 w 607639"/>
              <a:gd name="connsiteY81" fmla="*/ 108513 h 606722"/>
              <a:gd name="connsiteX82" fmla="*/ 607639 w 607639"/>
              <a:gd name="connsiteY82" fmla="*/ 126554 h 606722"/>
              <a:gd name="connsiteX83" fmla="*/ 599984 w 607639"/>
              <a:gd name="connsiteY83" fmla="*/ 144507 h 606722"/>
              <a:gd name="connsiteX84" fmla="*/ 541417 w 607639"/>
              <a:gd name="connsiteY84" fmla="*/ 201741 h 606722"/>
              <a:gd name="connsiteX85" fmla="*/ 537768 w 607639"/>
              <a:gd name="connsiteY85" fmla="*/ 289724 h 606722"/>
              <a:gd name="connsiteX86" fmla="*/ 486499 w 607639"/>
              <a:gd name="connsiteY86" fmla="*/ 340915 h 606722"/>
              <a:gd name="connsiteX87" fmla="*/ 484719 w 607639"/>
              <a:gd name="connsiteY87" fmla="*/ 342159 h 606722"/>
              <a:gd name="connsiteX88" fmla="*/ 480002 w 607639"/>
              <a:gd name="connsiteY88" fmla="*/ 345270 h 606722"/>
              <a:gd name="connsiteX89" fmla="*/ 476530 w 607639"/>
              <a:gd name="connsiteY89" fmla="*/ 346869 h 606722"/>
              <a:gd name="connsiteX90" fmla="*/ 471190 w 607639"/>
              <a:gd name="connsiteY90" fmla="*/ 347847 h 606722"/>
              <a:gd name="connsiteX91" fmla="*/ 468609 w 607639"/>
              <a:gd name="connsiteY91" fmla="*/ 348380 h 606722"/>
              <a:gd name="connsiteX92" fmla="*/ 467452 w 607639"/>
              <a:gd name="connsiteY92" fmla="*/ 348114 h 606722"/>
              <a:gd name="connsiteX93" fmla="*/ 462111 w 607639"/>
              <a:gd name="connsiteY93" fmla="*/ 347047 h 606722"/>
              <a:gd name="connsiteX94" fmla="*/ 458373 w 607639"/>
              <a:gd name="connsiteY94" fmla="*/ 345981 h 606722"/>
              <a:gd name="connsiteX95" fmla="*/ 457305 w 607639"/>
              <a:gd name="connsiteY95" fmla="*/ 345714 h 606722"/>
              <a:gd name="connsiteX96" fmla="*/ 428911 w 607639"/>
              <a:gd name="connsiteY96" fmla="*/ 331494 h 606722"/>
              <a:gd name="connsiteX97" fmla="*/ 407282 w 607639"/>
              <a:gd name="connsiteY97" fmla="*/ 335049 h 606722"/>
              <a:gd name="connsiteX98" fmla="*/ 376308 w 607639"/>
              <a:gd name="connsiteY98" fmla="*/ 365888 h 606722"/>
              <a:gd name="connsiteX99" fmla="*/ 344265 w 607639"/>
              <a:gd name="connsiteY99" fmla="*/ 379219 h 606722"/>
              <a:gd name="connsiteX100" fmla="*/ 312133 w 607639"/>
              <a:gd name="connsiteY100" fmla="*/ 365888 h 606722"/>
              <a:gd name="connsiteX101" fmla="*/ 241194 w 607639"/>
              <a:gd name="connsiteY101" fmla="*/ 295057 h 606722"/>
              <a:gd name="connsiteX102" fmla="*/ 241194 w 607639"/>
              <a:gd name="connsiteY102" fmla="*/ 230891 h 606722"/>
              <a:gd name="connsiteX103" fmla="*/ 272079 w 607639"/>
              <a:gd name="connsiteY103" fmla="*/ 200052 h 606722"/>
              <a:gd name="connsiteX104" fmla="*/ 275551 w 607639"/>
              <a:gd name="connsiteY104" fmla="*/ 178456 h 606722"/>
              <a:gd name="connsiteX105" fmla="*/ 261398 w 607639"/>
              <a:gd name="connsiteY105" fmla="*/ 150106 h 606722"/>
              <a:gd name="connsiteX106" fmla="*/ 261131 w 607639"/>
              <a:gd name="connsiteY106" fmla="*/ 149039 h 606722"/>
              <a:gd name="connsiteX107" fmla="*/ 260063 w 607639"/>
              <a:gd name="connsiteY107" fmla="*/ 145307 h 606722"/>
              <a:gd name="connsiteX108" fmla="*/ 258995 w 607639"/>
              <a:gd name="connsiteY108" fmla="*/ 139974 h 606722"/>
              <a:gd name="connsiteX109" fmla="*/ 259262 w 607639"/>
              <a:gd name="connsiteY109" fmla="*/ 136242 h 606722"/>
              <a:gd name="connsiteX110" fmla="*/ 260241 w 607639"/>
              <a:gd name="connsiteY110" fmla="*/ 130909 h 606722"/>
              <a:gd name="connsiteX111" fmla="*/ 261754 w 607639"/>
              <a:gd name="connsiteY111" fmla="*/ 127443 h 606722"/>
              <a:gd name="connsiteX112" fmla="*/ 264959 w 607639"/>
              <a:gd name="connsiteY112" fmla="*/ 122733 h 606722"/>
              <a:gd name="connsiteX113" fmla="*/ 266116 w 607639"/>
              <a:gd name="connsiteY113" fmla="*/ 120955 h 606722"/>
              <a:gd name="connsiteX114" fmla="*/ 317384 w 607639"/>
              <a:gd name="connsiteY114" fmla="*/ 69676 h 606722"/>
              <a:gd name="connsiteX115" fmla="*/ 405591 w 607639"/>
              <a:gd name="connsiteY115" fmla="*/ 66121 h 606722"/>
              <a:gd name="connsiteX116" fmla="*/ 462912 w 607639"/>
              <a:gd name="connsiteY116" fmla="*/ 7554 h 606722"/>
              <a:gd name="connsiteX117" fmla="*/ 480892 w 607639"/>
              <a:gd name="connsiteY117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607639" h="606722">
                <a:moveTo>
                  <a:pt x="106370" y="436610"/>
                </a:moveTo>
                <a:lnTo>
                  <a:pt x="61329" y="480515"/>
                </a:lnTo>
                <a:lnTo>
                  <a:pt x="126397" y="545485"/>
                </a:lnTo>
                <a:lnTo>
                  <a:pt x="170369" y="500513"/>
                </a:lnTo>
                <a:close/>
                <a:moveTo>
                  <a:pt x="455714" y="404481"/>
                </a:moveTo>
                <a:lnTo>
                  <a:pt x="531614" y="404481"/>
                </a:lnTo>
                <a:lnTo>
                  <a:pt x="531703" y="404481"/>
                </a:lnTo>
                <a:lnTo>
                  <a:pt x="531792" y="404481"/>
                </a:lnTo>
                <a:cubicBezTo>
                  <a:pt x="538020" y="404481"/>
                  <a:pt x="543715" y="406792"/>
                  <a:pt x="548075" y="410525"/>
                </a:cubicBezTo>
                <a:cubicBezTo>
                  <a:pt x="549321" y="411591"/>
                  <a:pt x="550388" y="412747"/>
                  <a:pt x="551456" y="413991"/>
                </a:cubicBezTo>
                <a:cubicBezTo>
                  <a:pt x="554748" y="418079"/>
                  <a:pt x="556795" y="423323"/>
                  <a:pt x="556973" y="429012"/>
                </a:cubicBezTo>
                <a:cubicBezTo>
                  <a:pt x="556973" y="429278"/>
                  <a:pt x="556973" y="429545"/>
                  <a:pt x="556973" y="429811"/>
                </a:cubicBezTo>
                <a:lnTo>
                  <a:pt x="556973" y="505625"/>
                </a:lnTo>
                <a:cubicBezTo>
                  <a:pt x="556973" y="519579"/>
                  <a:pt x="545673" y="530867"/>
                  <a:pt x="531614" y="530867"/>
                </a:cubicBezTo>
                <a:cubicBezTo>
                  <a:pt x="517644" y="530867"/>
                  <a:pt x="506343" y="519579"/>
                  <a:pt x="506343" y="505625"/>
                </a:cubicBezTo>
                <a:lnTo>
                  <a:pt x="476001" y="546065"/>
                </a:lnTo>
                <a:cubicBezTo>
                  <a:pt x="471018" y="552731"/>
                  <a:pt x="463366" y="556197"/>
                  <a:pt x="455714" y="556197"/>
                </a:cubicBezTo>
                <a:cubicBezTo>
                  <a:pt x="450375" y="556197"/>
                  <a:pt x="445125" y="554508"/>
                  <a:pt x="440498" y="551131"/>
                </a:cubicBezTo>
                <a:cubicBezTo>
                  <a:pt x="429375" y="542776"/>
                  <a:pt x="427062" y="526867"/>
                  <a:pt x="435515" y="515757"/>
                </a:cubicBezTo>
                <a:lnTo>
                  <a:pt x="481073" y="455053"/>
                </a:lnTo>
                <a:lnTo>
                  <a:pt x="455714" y="455053"/>
                </a:lnTo>
                <a:cubicBezTo>
                  <a:pt x="441744" y="455053"/>
                  <a:pt x="430443" y="443765"/>
                  <a:pt x="430443" y="429811"/>
                </a:cubicBezTo>
                <a:cubicBezTo>
                  <a:pt x="430443" y="415857"/>
                  <a:pt x="441744" y="404481"/>
                  <a:pt x="455714" y="404481"/>
                </a:cubicBezTo>
                <a:close/>
                <a:moveTo>
                  <a:pt x="157786" y="282117"/>
                </a:moveTo>
                <a:cubicBezTo>
                  <a:pt x="164272" y="282117"/>
                  <a:pt x="170770" y="284584"/>
                  <a:pt x="175710" y="289516"/>
                </a:cubicBezTo>
                <a:lnTo>
                  <a:pt x="317685" y="431277"/>
                </a:lnTo>
                <a:cubicBezTo>
                  <a:pt x="327565" y="441142"/>
                  <a:pt x="327565" y="457140"/>
                  <a:pt x="317685" y="467006"/>
                </a:cubicBezTo>
                <a:lnTo>
                  <a:pt x="245229" y="539441"/>
                </a:lnTo>
                <a:cubicBezTo>
                  <a:pt x="240422" y="544152"/>
                  <a:pt x="234013" y="546818"/>
                  <a:pt x="227248" y="546818"/>
                </a:cubicBezTo>
                <a:cubicBezTo>
                  <a:pt x="220572" y="546818"/>
                  <a:pt x="214163" y="544152"/>
                  <a:pt x="209357" y="539441"/>
                </a:cubicBezTo>
                <a:lnTo>
                  <a:pt x="206241" y="536242"/>
                </a:lnTo>
                <a:lnTo>
                  <a:pt x="144734" y="599079"/>
                </a:lnTo>
                <a:cubicBezTo>
                  <a:pt x="140016" y="603967"/>
                  <a:pt x="133518" y="606633"/>
                  <a:pt x="126753" y="606722"/>
                </a:cubicBezTo>
                <a:lnTo>
                  <a:pt x="126575" y="606722"/>
                </a:lnTo>
                <a:cubicBezTo>
                  <a:pt x="119899" y="606722"/>
                  <a:pt x="113491" y="604056"/>
                  <a:pt x="108684" y="599256"/>
                </a:cubicBezTo>
                <a:lnTo>
                  <a:pt x="7388" y="498113"/>
                </a:lnTo>
                <a:cubicBezTo>
                  <a:pt x="2670" y="493403"/>
                  <a:pt x="0" y="486914"/>
                  <a:pt x="0" y="480160"/>
                </a:cubicBezTo>
                <a:cubicBezTo>
                  <a:pt x="89" y="473405"/>
                  <a:pt x="2759" y="466917"/>
                  <a:pt x="7655" y="462206"/>
                </a:cubicBezTo>
                <a:lnTo>
                  <a:pt x="70587" y="400792"/>
                </a:lnTo>
                <a:lnTo>
                  <a:pt x="67382" y="397681"/>
                </a:lnTo>
                <a:cubicBezTo>
                  <a:pt x="62665" y="392882"/>
                  <a:pt x="59994" y="386482"/>
                  <a:pt x="59994" y="379728"/>
                </a:cubicBezTo>
                <a:cubicBezTo>
                  <a:pt x="59994" y="373062"/>
                  <a:pt x="62665" y="366663"/>
                  <a:pt x="67382" y="361863"/>
                </a:cubicBezTo>
                <a:lnTo>
                  <a:pt x="139927" y="289516"/>
                </a:lnTo>
                <a:cubicBezTo>
                  <a:pt x="144823" y="284584"/>
                  <a:pt x="151299" y="282117"/>
                  <a:pt x="157786" y="282117"/>
                </a:cubicBezTo>
                <a:close/>
                <a:moveTo>
                  <a:pt x="363724" y="101159"/>
                </a:moveTo>
                <a:cubicBezTo>
                  <a:pt x="359930" y="101159"/>
                  <a:pt x="356147" y="102604"/>
                  <a:pt x="353254" y="105492"/>
                </a:cubicBezTo>
                <a:lnTo>
                  <a:pt x="320945" y="137752"/>
                </a:lnTo>
                <a:cubicBezTo>
                  <a:pt x="321835" y="138463"/>
                  <a:pt x="322814" y="139174"/>
                  <a:pt x="323793" y="139974"/>
                </a:cubicBezTo>
                <a:cubicBezTo>
                  <a:pt x="327709" y="142818"/>
                  <a:pt x="331715" y="145662"/>
                  <a:pt x="335898" y="148417"/>
                </a:cubicBezTo>
                <a:cubicBezTo>
                  <a:pt x="337678" y="149572"/>
                  <a:pt x="339369" y="150728"/>
                  <a:pt x="341149" y="151794"/>
                </a:cubicBezTo>
                <a:cubicBezTo>
                  <a:pt x="347113" y="155527"/>
                  <a:pt x="353254" y="159082"/>
                  <a:pt x="359930" y="162459"/>
                </a:cubicBezTo>
                <a:cubicBezTo>
                  <a:pt x="376040" y="170724"/>
                  <a:pt x="392863" y="183344"/>
                  <a:pt x="408439" y="198897"/>
                </a:cubicBezTo>
                <a:cubicBezTo>
                  <a:pt x="424016" y="214449"/>
                  <a:pt x="436655" y="231246"/>
                  <a:pt x="444933" y="247243"/>
                </a:cubicBezTo>
                <a:cubicBezTo>
                  <a:pt x="448315" y="253998"/>
                  <a:pt x="451875" y="260130"/>
                  <a:pt x="455614" y="266084"/>
                </a:cubicBezTo>
                <a:cubicBezTo>
                  <a:pt x="456682" y="267862"/>
                  <a:pt x="457839" y="269550"/>
                  <a:pt x="458907" y="271239"/>
                </a:cubicBezTo>
                <a:cubicBezTo>
                  <a:pt x="461666" y="275416"/>
                  <a:pt x="464514" y="279504"/>
                  <a:pt x="467452" y="283326"/>
                </a:cubicBezTo>
                <a:cubicBezTo>
                  <a:pt x="468164" y="284303"/>
                  <a:pt x="468876" y="285281"/>
                  <a:pt x="469677" y="286258"/>
                </a:cubicBezTo>
                <a:lnTo>
                  <a:pt x="501987" y="253998"/>
                </a:lnTo>
                <a:cubicBezTo>
                  <a:pt x="507772" y="248221"/>
                  <a:pt x="507772" y="238800"/>
                  <a:pt x="501987" y="233024"/>
                </a:cubicBezTo>
                <a:lnTo>
                  <a:pt x="374260" y="105492"/>
                </a:lnTo>
                <a:cubicBezTo>
                  <a:pt x="371323" y="102604"/>
                  <a:pt x="367518" y="101159"/>
                  <a:pt x="363724" y="101159"/>
                </a:cubicBezTo>
                <a:close/>
                <a:moveTo>
                  <a:pt x="177209" y="50521"/>
                </a:moveTo>
                <a:cubicBezTo>
                  <a:pt x="183683" y="50521"/>
                  <a:pt x="190157" y="52987"/>
                  <a:pt x="195096" y="57919"/>
                </a:cubicBezTo>
                <a:cubicBezTo>
                  <a:pt x="205063" y="67784"/>
                  <a:pt x="205063" y="83869"/>
                  <a:pt x="195096" y="93644"/>
                </a:cubicBezTo>
                <a:lnTo>
                  <a:pt x="137075" y="151675"/>
                </a:lnTo>
                <a:lnTo>
                  <a:pt x="151936" y="151675"/>
                </a:lnTo>
                <a:cubicBezTo>
                  <a:pt x="165908" y="151675"/>
                  <a:pt x="177209" y="162961"/>
                  <a:pt x="177209" y="176914"/>
                </a:cubicBezTo>
                <a:cubicBezTo>
                  <a:pt x="177209" y="190866"/>
                  <a:pt x="165908" y="202241"/>
                  <a:pt x="151936" y="202241"/>
                </a:cubicBezTo>
                <a:lnTo>
                  <a:pt x="75939" y="202241"/>
                </a:lnTo>
                <a:cubicBezTo>
                  <a:pt x="69621" y="202241"/>
                  <a:pt x="63836" y="199842"/>
                  <a:pt x="59387" y="196020"/>
                </a:cubicBezTo>
                <a:cubicBezTo>
                  <a:pt x="58141" y="194954"/>
                  <a:pt x="56984" y="193710"/>
                  <a:pt x="55916" y="192288"/>
                </a:cubicBezTo>
                <a:cubicBezTo>
                  <a:pt x="52980" y="188466"/>
                  <a:pt x="51111" y="183845"/>
                  <a:pt x="50755" y="178691"/>
                </a:cubicBezTo>
                <a:cubicBezTo>
                  <a:pt x="50666" y="178069"/>
                  <a:pt x="50666" y="177447"/>
                  <a:pt x="50666" y="176736"/>
                </a:cubicBezTo>
                <a:lnTo>
                  <a:pt x="50666" y="101109"/>
                </a:lnTo>
                <a:cubicBezTo>
                  <a:pt x="50666" y="87157"/>
                  <a:pt x="61968" y="75782"/>
                  <a:pt x="75939" y="75782"/>
                </a:cubicBezTo>
                <a:cubicBezTo>
                  <a:pt x="89910" y="75782"/>
                  <a:pt x="101301" y="87157"/>
                  <a:pt x="101301" y="101109"/>
                </a:cubicBezTo>
                <a:lnTo>
                  <a:pt x="101301" y="115861"/>
                </a:lnTo>
                <a:lnTo>
                  <a:pt x="159322" y="57919"/>
                </a:lnTo>
                <a:cubicBezTo>
                  <a:pt x="164261" y="52987"/>
                  <a:pt x="170735" y="50521"/>
                  <a:pt x="177209" y="50521"/>
                </a:cubicBezTo>
                <a:close/>
                <a:moveTo>
                  <a:pt x="480892" y="0"/>
                </a:moveTo>
                <a:cubicBezTo>
                  <a:pt x="487122" y="0"/>
                  <a:pt x="494154" y="2666"/>
                  <a:pt x="498960" y="7376"/>
                </a:cubicBezTo>
                <a:lnTo>
                  <a:pt x="600162" y="108513"/>
                </a:lnTo>
                <a:cubicBezTo>
                  <a:pt x="604969" y="113312"/>
                  <a:pt x="607639" y="119800"/>
                  <a:pt x="607639" y="126554"/>
                </a:cubicBezTo>
                <a:cubicBezTo>
                  <a:pt x="607550" y="133309"/>
                  <a:pt x="604880" y="139708"/>
                  <a:pt x="599984" y="144507"/>
                </a:cubicBezTo>
                <a:lnTo>
                  <a:pt x="541417" y="201741"/>
                </a:lnTo>
                <a:cubicBezTo>
                  <a:pt x="562957" y="227425"/>
                  <a:pt x="561978" y="265640"/>
                  <a:pt x="537768" y="289724"/>
                </a:cubicBezTo>
                <a:lnTo>
                  <a:pt x="486499" y="340915"/>
                </a:lnTo>
                <a:cubicBezTo>
                  <a:pt x="485965" y="341537"/>
                  <a:pt x="485342" y="341715"/>
                  <a:pt x="484719" y="342159"/>
                </a:cubicBezTo>
                <a:cubicBezTo>
                  <a:pt x="483206" y="343403"/>
                  <a:pt x="481693" y="344470"/>
                  <a:pt x="480002" y="345270"/>
                </a:cubicBezTo>
                <a:cubicBezTo>
                  <a:pt x="478845" y="345892"/>
                  <a:pt x="477688" y="346425"/>
                  <a:pt x="476530" y="346869"/>
                </a:cubicBezTo>
                <a:cubicBezTo>
                  <a:pt x="474750" y="347403"/>
                  <a:pt x="472970" y="347669"/>
                  <a:pt x="471190" y="347847"/>
                </a:cubicBezTo>
                <a:cubicBezTo>
                  <a:pt x="470300" y="347936"/>
                  <a:pt x="469499" y="348380"/>
                  <a:pt x="468609" y="348380"/>
                </a:cubicBezTo>
                <a:cubicBezTo>
                  <a:pt x="468253" y="348380"/>
                  <a:pt x="467808" y="348114"/>
                  <a:pt x="467452" y="348114"/>
                </a:cubicBezTo>
                <a:cubicBezTo>
                  <a:pt x="465582" y="348025"/>
                  <a:pt x="463891" y="347580"/>
                  <a:pt x="462111" y="347047"/>
                </a:cubicBezTo>
                <a:cubicBezTo>
                  <a:pt x="460776" y="346692"/>
                  <a:pt x="459530" y="346514"/>
                  <a:pt x="458373" y="345981"/>
                </a:cubicBezTo>
                <a:cubicBezTo>
                  <a:pt x="458017" y="345892"/>
                  <a:pt x="457661" y="345892"/>
                  <a:pt x="457305" y="345714"/>
                </a:cubicBezTo>
                <a:lnTo>
                  <a:pt x="428911" y="331494"/>
                </a:lnTo>
                <a:cubicBezTo>
                  <a:pt x="421702" y="327940"/>
                  <a:pt x="412979" y="329273"/>
                  <a:pt x="407282" y="335049"/>
                </a:cubicBezTo>
                <a:lnTo>
                  <a:pt x="376308" y="365888"/>
                </a:lnTo>
                <a:cubicBezTo>
                  <a:pt x="367763" y="374509"/>
                  <a:pt x="356370" y="379219"/>
                  <a:pt x="344265" y="379219"/>
                </a:cubicBezTo>
                <a:cubicBezTo>
                  <a:pt x="332160" y="379219"/>
                  <a:pt x="320678" y="374509"/>
                  <a:pt x="312133" y="365888"/>
                </a:cubicBezTo>
                <a:lnTo>
                  <a:pt x="241194" y="295057"/>
                </a:lnTo>
                <a:cubicBezTo>
                  <a:pt x="223481" y="277371"/>
                  <a:pt x="223481" y="248576"/>
                  <a:pt x="241194" y="230891"/>
                </a:cubicBezTo>
                <a:lnTo>
                  <a:pt x="272079" y="200052"/>
                </a:lnTo>
                <a:cubicBezTo>
                  <a:pt x="277776" y="194364"/>
                  <a:pt x="279200" y="185655"/>
                  <a:pt x="275551" y="178456"/>
                </a:cubicBezTo>
                <a:lnTo>
                  <a:pt x="261398" y="150106"/>
                </a:lnTo>
                <a:cubicBezTo>
                  <a:pt x="261220" y="149750"/>
                  <a:pt x="261220" y="149395"/>
                  <a:pt x="261131" y="149039"/>
                </a:cubicBezTo>
                <a:cubicBezTo>
                  <a:pt x="260508" y="147884"/>
                  <a:pt x="260330" y="146640"/>
                  <a:pt x="260063" y="145307"/>
                </a:cubicBezTo>
                <a:cubicBezTo>
                  <a:pt x="259529" y="143529"/>
                  <a:pt x="259084" y="141841"/>
                  <a:pt x="258995" y="139974"/>
                </a:cubicBezTo>
                <a:cubicBezTo>
                  <a:pt x="258906" y="138730"/>
                  <a:pt x="259084" y="137486"/>
                  <a:pt x="259262" y="136242"/>
                </a:cubicBezTo>
                <a:cubicBezTo>
                  <a:pt x="259440" y="134375"/>
                  <a:pt x="259707" y="132687"/>
                  <a:pt x="260241" y="130909"/>
                </a:cubicBezTo>
                <a:cubicBezTo>
                  <a:pt x="260686" y="129754"/>
                  <a:pt x="261220" y="128599"/>
                  <a:pt x="261754" y="127443"/>
                </a:cubicBezTo>
                <a:cubicBezTo>
                  <a:pt x="262644" y="125755"/>
                  <a:pt x="263713" y="124155"/>
                  <a:pt x="264959" y="122733"/>
                </a:cubicBezTo>
                <a:cubicBezTo>
                  <a:pt x="265404" y="122111"/>
                  <a:pt x="265582" y="121400"/>
                  <a:pt x="266116" y="120955"/>
                </a:cubicBezTo>
                <a:lnTo>
                  <a:pt x="317384" y="69676"/>
                </a:lnTo>
                <a:cubicBezTo>
                  <a:pt x="341505" y="45592"/>
                  <a:pt x="379868" y="44525"/>
                  <a:pt x="405591" y="66121"/>
                </a:cubicBezTo>
                <a:lnTo>
                  <a:pt x="462912" y="7554"/>
                </a:lnTo>
                <a:cubicBezTo>
                  <a:pt x="467719" y="2755"/>
                  <a:pt x="474127" y="89"/>
                  <a:pt x="4808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38" name="iṡļîḍé"/>
          <p:cNvSpPr/>
          <p:nvPr/>
        </p:nvSpPr>
        <p:spPr bwMode="auto">
          <a:xfrm>
            <a:off x="1279797" y="4656129"/>
            <a:ext cx="344710" cy="344189"/>
          </a:xfrm>
          <a:custGeom>
            <a:avLst/>
            <a:gdLst>
              <a:gd name="connsiteX0" fmla="*/ 257564 w 607639"/>
              <a:gd name="connsiteY0" fmla="*/ 92370 h 606722"/>
              <a:gd name="connsiteX1" fmla="*/ 277411 w 607639"/>
              <a:gd name="connsiteY1" fmla="*/ 112098 h 606722"/>
              <a:gd name="connsiteX2" fmla="*/ 277411 w 607639"/>
              <a:gd name="connsiteY2" fmla="*/ 329729 h 606722"/>
              <a:gd name="connsiteX3" fmla="*/ 495281 w 607639"/>
              <a:gd name="connsiteY3" fmla="*/ 329729 h 606722"/>
              <a:gd name="connsiteX4" fmla="*/ 515128 w 607639"/>
              <a:gd name="connsiteY4" fmla="*/ 349546 h 606722"/>
              <a:gd name="connsiteX5" fmla="*/ 257564 w 607639"/>
              <a:gd name="connsiteY5" fmla="*/ 606722 h 606722"/>
              <a:gd name="connsiteX6" fmla="*/ 0 w 607639"/>
              <a:gd name="connsiteY6" fmla="*/ 349546 h 606722"/>
              <a:gd name="connsiteX7" fmla="*/ 257564 w 607639"/>
              <a:gd name="connsiteY7" fmla="*/ 92370 h 606722"/>
              <a:gd name="connsiteX8" fmla="*/ 350027 w 607639"/>
              <a:gd name="connsiteY8" fmla="*/ 0 h 606722"/>
              <a:gd name="connsiteX9" fmla="*/ 607639 w 607639"/>
              <a:gd name="connsiteY9" fmla="*/ 257220 h 606722"/>
              <a:gd name="connsiteX10" fmla="*/ 587788 w 607639"/>
              <a:gd name="connsiteY10" fmla="*/ 277040 h 606722"/>
              <a:gd name="connsiteX11" fmla="*/ 350027 w 607639"/>
              <a:gd name="connsiteY11" fmla="*/ 277040 h 606722"/>
              <a:gd name="connsiteX12" fmla="*/ 330176 w 607639"/>
              <a:gd name="connsiteY12" fmla="*/ 257220 h 606722"/>
              <a:gd name="connsiteX13" fmla="*/ 330176 w 607639"/>
              <a:gd name="connsiteY13" fmla="*/ 19820 h 606722"/>
              <a:gd name="connsiteX14" fmla="*/ 350027 w 607639"/>
              <a:gd name="connsiteY14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7639" h="606722">
                <a:moveTo>
                  <a:pt x="257564" y="92370"/>
                </a:moveTo>
                <a:cubicBezTo>
                  <a:pt x="268511" y="92370"/>
                  <a:pt x="277411" y="101168"/>
                  <a:pt x="277411" y="112098"/>
                </a:cubicBezTo>
                <a:lnTo>
                  <a:pt x="277411" y="329729"/>
                </a:lnTo>
                <a:lnTo>
                  <a:pt x="495281" y="329729"/>
                </a:lnTo>
                <a:cubicBezTo>
                  <a:pt x="506228" y="329729"/>
                  <a:pt x="515128" y="338616"/>
                  <a:pt x="515128" y="349546"/>
                </a:cubicBezTo>
                <a:cubicBezTo>
                  <a:pt x="515128" y="491286"/>
                  <a:pt x="399607" y="606722"/>
                  <a:pt x="257564" y="606722"/>
                </a:cubicBezTo>
                <a:cubicBezTo>
                  <a:pt x="115521" y="606722"/>
                  <a:pt x="0" y="491286"/>
                  <a:pt x="0" y="349546"/>
                </a:cubicBezTo>
                <a:cubicBezTo>
                  <a:pt x="0" y="207717"/>
                  <a:pt x="115521" y="92370"/>
                  <a:pt x="257564" y="92370"/>
                </a:cubicBezTo>
                <a:close/>
                <a:moveTo>
                  <a:pt x="350027" y="0"/>
                </a:moveTo>
                <a:cubicBezTo>
                  <a:pt x="492007" y="0"/>
                  <a:pt x="607639" y="115367"/>
                  <a:pt x="607639" y="257220"/>
                </a:cubicBezTo>
                <a:cubicBezTo>
                  <a:pt x="607639" y="268152"/>
                  <a:pt x="598737" y="277040"/>
                  <a:pt x="587788" y="277040"/>
                </a:cubicBezTo>
                <a:lnTo>
                  <a:pt x="350027" y="277040"/>
                </a:lnTo>
                <a:cubicBezTo>
                  <a:pt x="339078" y="277040"/>
                  <a:pt x="330176" y="268152"/>
                  <a:pt x="330176" y="257220"/>
                </a:cubicBezTo>
                <a:lnTo>
                  <a:pt x="330176" y="19820"/>
                </a:lnTo>
                <a:cubicBezTo>
                  <a:pt x="330176" y="8888"/>
                  <a:pt x="339078" y="0"/>
                  <a:pt x="3500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39" name="ïslíḓé"/>
          <p:cNvSpPr/>
          <p:nvPr/>
        </p:nvSpPr>
        <p:spPr bwMode="auto">
          <a:xfrm>
            <a:off x="1279797" y="2093733"/>
            <a:ext cx="343455" cy="339662"/>
          </a:xfrm>
          <a:custGeom>
            <a:avLst/>
            <a:gdLst>
              <a:gd name="connsiteX0" fmla="*/ 466437 w 600511"/>
              <a:gd name="connsiteY0" fmla="*/ 421770 h 593879"/>
              <a:gd name="connsiteX1" fmla="*/ 504684 w 600511"/>
              <a:gd name="connsiteY1" fmla="*/ 459981 h 593879"/>
              <a:gd name="connsiteX2" fmla="*/ 466437 w 600511"/>
              <a:gd name="connsiteY2" fmla="*/ 498192 h 593879"/>
              <a:gd name="connsiteX3" fmla="*/ 428190 w 600511"/>
              <a:gd name="connsiteY3" fmla="*/ 459981 h 593879"/>
              <a:gd name="connsiteX4" fmla="*/ 466437 w 600511"/>
              <a:gd name="connsiteY4" fmla="*/ 421770 h 593879"/>
              <a:gd name="connsiteX5" fmla="*/ 453390 w 600511"/>
              <a:gd name="connsiteY5" fmla="*/ 375066 h 593879"/>
              <a:gd name="connsiteX6" fmla="*/ 421127 w 600511"/>
              <a:gd name="connsiteY6" fmla="*/ 386990 h 593879"/>
              <a:gd name="connsiteX7" fmla="*/ 418868 w 600511"/>
              <a:gd name="connsiteY7" fmla="*/ 392146 h 593879"/>
              <a:gd name="connsiteX8" fmla="*/ 424031 w 600511"/>
              <a:gd name="connsiteY8" fmla="*/ 406325 h 593879"/>
              <a:gd name="connsiteX9" fmla="*/ 423385 w 600511"/>
              <a:gd name="connsiteY9" fmla="*/ 411481 h 593879"/>
              <a:gd name="connsiteX10" fmla="*/ 416287 w 600511"/>
              <a:gd name="connsiteY10" fmla="*/ 413737 h 593879"/>
              <a:gd name="connsiteX11" fmla="*/ 402414 w 600511"/>
              <a:gd name="connsiteY11" fmla="*/ 407292 h 593879"/>
              <a:gd name="connsiteX12" fmla="*/ 397252 w 600511"/>
              <a:gd name="connsiteY12" fmla="*/ 409226 h 593879"/>
              <a:gd name="connsiteX13" fmla="*/ 383056 w 600511"/>
              <a:gd name="connsiteY13" fmla="*/ 440485 h 593879"/>
              <a:gd name="connsiteX14" fmla="*/ 384669 w 600511"/>
              <a:gd name="connsiteY14" fmla="*/ 445318 h 593879"/>
              <a:gd name="connsiteX15" fmla="*/ 398542 w 600511"/>
              <a:gd name="connsiteY15" fmla="*/ 451764 h 593879"/>
              <a:gd name="connsiteX16" fmla="*/ 401769 w 600511"/>
              <a:gd name="connsiteY16" fmla="*/ 455953 h 593879"/>
              <a:gd name="connsiteX17" fmla="*/ 398220 w 600511"/>
              <a:gd name="connsiteY17" fmla="*/ 462720 h 593879"/>
              <a:gd name="connsiteX18" fmla="*/ 384024 w 600511"/>
              <a:gd name="connsiteY18" fmla="*/ 467876 h 593879"/>
              <a:gd name="connsiteX19" fmla="*/ 381766 w 600511"/>
              <a:gd name="connsiteY19" fmla="*/ 472710 h 593879"/>
              <a:gd name="connsiteX20" fmla="*/ 393380 w 600511"/>
              <a:gd name="connsiteY20" fmla="*/ 504936 h 593879"/>
              <a:gd name="connsiteX21" fmla="*/ 398542 w 600511"/>
              <a:gd name="connsiteY21" fmla="*/ 507192 h 593879"/>
              <a:gd name="connsiteX22" fmla="*/ 412738 w 600511"/>
              <a:gd name="connsiteY22" fmla="*/ 502036 h 593879"/>
              <a:gd name="connsiteX23" fmla="*/ 417900 w 600511"/>
              <a:gd name="connsiteY23" fmla="*/ 502680 h 593879"/>
              <a:gd name="connsiteX24" fmla="*/ 420159 w 600511"/>
              <a:gd name="connsiteY24" fmla="*/ 510092 h 593879"/>
              <a:gd name="connsiteX25" fmla="*/ 413706 w 600511"/>
              <a:gd name="connsiteY25" fmla="*/ 523949 h 593879"/>
              <a:gd name="connsiteX26" fmla="*/ 415642 w 600511"/>
              <a:gd name="connsiteY26" fmla="*/ 528783 h 593879"/>
              <a:gd name="connsiteX27" fmla="*/ 446937 w 600511"/>
              <a:gd name="connsiteY27" fmla="*/ 543285 h 593879"/>
              <a:gd name="connsiteX28" fmla="*/ 451777 w 600511"/>
              <a:gd name="connsiteY28" fmla="*/ 541351 h 593879"/>
              <a:gd name="connsiteX29" fmla="*/ 458230 w 600511"/>
              <a:gd name="connsiteY29" fmla="*/ 527494 h 593879"/>
              <a:gd name="connsiteX30" fmla="*/ 462424 w 600511"/>
              <a:gd name="connsiteY30" fmla="*/ 524272 h 593879"/>
              <a:gd name="connsiteX31" fmla="*/ 469199 w 600511"/>
              <a:gd name="connsiteY31" fmla="*/ 528139 h 593879"/>
              <a:gd name="connsiteX32" fmla="*/ 474361 w 600511"/>
              <a:gd name="connsiteY32" fmla="*/ 542318 h 593879"/>
              <a:gd name="connsiteX33" fmla="*/ 479201 w 600511"/>
              <a:gd name="connsiteY33" fmla="*/ 544574 h 593879"/>
              <a:gd name="connsiteX34" fmla="*/ 511464 w 600511"/>
              <a:gd name="connsiteY34" fmla="*/ 532650 h 593879"/>
              <a:gd name="connsiteX35" fmla="*/ 513723 w 600511"/>
              <a:gd name="connsiteY35" fmla="*/ 527816 h 593879"/>
              <a:gd name="connsiteX36" fmla="*/ 508560 w 600511"/>
              <a:gd name="connsiteY36" fmla="*/ 513315 h 593879"/>
              <a:gd name="connsiteX37" fmla="*/ 509206 w 600511"/>
              <a:gd name="connsiteY37" fmla="*/ 508159 h 593879"/>
              <a:gd name="connsiteX38" fmla="*/ 516626 w 600511"/>
              <a:gd name="connsiteY38" fmla="*/ 506225 h 593879"/>
              <a:gd name="connsiteX39" fmla="*/ 530500 w 600511"/>
              <a:gd name="connsiteY39" fmla="*/ 512348 h 593879"/>
              <a:gd name="connsiteX40" fmla="*/ 535339 w 600511"/>
              <a:gd name="connsiteY40" fmla="*/ 510737 h 593879"/>
              <a:gd name="connsiteX41" fmla="*/ 549858 w 600511"/>
              <a:gd name="connsiteY41" fmla="*/ 479478 h 593879"/>
              <a:gd name="connsiteX42" fmla="*/ 547922 w 600511"/>
              <a:gd name="connsiteY42" fmla="*/ 474322 h 593879"/>
              <a:gd name="connsiteX43" fmla="*/ 534049 w 600511"/>
              <a:gd name="connsiteY43" fmla="*/ 467876 h 593879"/>
              <a:gd name="connsiteX44" fmla="*/ 531145 w 600511"/>
              <a:gd name="connsiteY44" fmla="*/ 461109 h 593879"/>
              <a:gd name="connsiteX45" fmla="*/ 534694 w 600511"/>
              <a:gd name="connsiteY45" fmla="*/ 457242 h 593879"/>
              <a:gd name="connsiteX46" fmla="*/ 548890 w 600511"/>
              <a:gd name="connsiteY46" fmla="*/ 451764 h 593879"/>
              <a:gd name="connsiteX47" fmla="*/ 551148 w 600511"/>
              <a:gd name="connsiteY47" fmla="*/ 446930 h 593879"/>
              <a:gd name="connsiteX48" fmla="*/ 539211 w 600511"/>
              <a:gd name="connsiteY48" fmla="*/ 414704 h 593879"/>
              <a:gd name="connsiteX49" fmla="*/ 534371 w 600511"/>
              <a:gd name="connsiteY49" fmla="*/ 412448 h 593879"/>
              <a:gd name="connsiteX50" fmla="*/ 520175 w 600511"/>
              <a:gd name="connsiteY50" fmla="*/ 417604 h 593879"/>
              <a:gd name="connsiteX51" fmla="*/ 514691 w 600511"/>
              <a:gd name="connsiteY51" fmla="*/ 416960 h 593879"/>
              <a:gd name="connsiteX52" fmla="*/ 512755 w 600511"/>
              <a:gd name="connsiteY52" fmla="*/ 409548 h 593879"/>
              <a:gd name="connsiteX53" fmla="*/ 518885 w 600511"/>
              <a:gd name="connsiteY53" fmla="*/ 396013 h 593879"/>
              <a:gd name="connsiteX54" fmla="*/ 516949 w 600511"/>
              <a:gd name="connsiteY54" fmla="*/ 390857 h 593879"/>
              <a:gd name="connsiteX55" fmla="*/ 485976 w 600511"/>
              <a:gd name="connsiteY55" fmla="*/ 376355 h 593879"/>
              <a:gd name="connsiteX56" fmla="*/ 480814 w 600511"/>
              <a:gd name="connsiteY56" fmla="*/ 378289 h 593879"/>
              <a:gd name="connsiteX57" fmla="*/ 474361 w 600511"/>
              <a:gd name="connsiteY57" fmla="*/ 392146 h 593879"/>
              <a:gd name="connsiteX58" fmla="*/ 470167 w 600511"/>
              <a:gd name="connsiteY58" fmla="*/ 395368 h 593879"/>
              <a:gd name="connsiteX59" fmla="*/ 463714 w 600511"/>
              <a:gd name="connsiteY59" fmla="*/ 391824 h 593879"/>
              <a:gd name="connsiteX60" fmla="*/ 458230 w 600511"/>
              <a:gd name="connsiteY60" fmla="*/ 377322 h 593879"/>
              <a:gd name="connsiteX61" fmla="*/ 453390 w 600511"/>
              <a:gd name="connsiteY61" fmla="*/ 375066 h 593879"/>
              <a:gd name="connsiteX62" fmla="*/ 0 w 600511"/>
              <a:gd name="connsiteY62" fmla="*/ 372515 h 593879"/>
              <a:gd name="connsiteX63" fmla="*/ 233292 w 600511"/>
              <a:gd name="connsiteY63" fmla="*/ 465626 h 593879"/>
              <a:gd name="connsiteX64" fmla="*/ 305248 w 600511"/>
              <a:gd name="connsiteY64" fmla="*/ 461116 h 593879"/>
              <a:gd name="connsiteX65" fmla="*/ 332998 w 600511"/>
              <a:gd name="connsiteY65" fmla="*/ 549716 h 593879"/>
              <a:gd name="connsiteX66" fmla="*/ 233292 w 600511"/>
              <a:gd name="connsiteY66" fmla="*/ 558737 h 593879"/>
              <a:gd name="connsiteX67" fmla="*/ 0 w 600511"/>
              <a:gd name="connsiteY67" fmla="*/ 465626 h 593879"/>
              <a:gd name="connsiteX68" fmla="*/ 466295 w 600511"/>
              <a:gd name="connsiteY68" fmla="*/ 326083 h 593879"/>
              <a:gd name="connsiteX69" fmla="*/ 600511 w 600511"/>
              <a:gd name="connsiteY69" fmla="*/ 459820 h 593879"/>
              <a:gd name="connsiteX70" fmla="*/ 466295 w 600511"/>
              <a:gd name="connsiteY70" fmla="*/ 593879 h 593879"/>
              <a:gd name="connsiteX71" fmla="*/ 332080 w 600511"/>
              <a:gd name="connsiteY71" fmla="*/ 459820 h 593879"/>
              <a:gd name="connsiteX72" fmla="*/ 466295 w 600511"/>
              <a:gd name="connsiteY72" fmla="*/ 326083 h 593879"/>
              <a:gd name="connsiteX73" fmla="*/ 0 w 600511"/>
              <a:gd name="connsiteY73" fmla="*/ 232654 h 593879"/>
              <a:gd name="connsiteX74" fmla="*/ 233309 w 600511"/>
              <a:gd name="connsiteY74" fmla="*/ 326103 h 593879"/>
              <a:gd name="connsiteX75" fmla="*/ 466296 w 600511"/>
              <a:gd name="connsiteY75" fmla="*/ 232654 h 593879"/>
              <a:gd name="connsiteX76" fmla="*/ 466296 w 600511"/>
              <a:gd name="connsiteY76" fmla="*/ 299035 h 593879"/>
              <a:gd name="connsiteX77" fmla="*/ 312370 w 600511"/>
              <a:gd name="connsiteY77" fmla="*/ 413429 h 593879"/>
              <a:gd name="connsiteX78" fmla="*/ 233309 w 600511"/>
              <a:gd name="connsiteY78" fmla="*/ 419229 h 593879"/>
              <a:gd name="connsiteX79" fmla="*/ 0 w 600511"/>
              <a:gd name="connsiteY79" fmla="*/ 326103 h 593879"/>
              <a:gd name="connsiteX80" fmla="*/ 233309 w 600511"/>
              <a:gd name="connsiteY80" fmla="*/ 23200 h 593879"/>
              <a:gd name="connsiteX81" fmla="*/ 23234 w 600511"/>
              <a:gd name="connsiteY81" fmla="*/ 93123 h 593879"/>
              <a:gd name="connsiteX82" fmla="*/ 233309 w 600511"/>
              <a:gd name="connsiteY82" fmla="*/ 163046 h 593879"/>
              <a:gd name="connsiteX83" fmla="*/ 443062 w 600511"/>
              <a:gd name="connsiteY83" fmla="*/ 93123 h 593879"/>
              <a:gd name="connsiteX84" fmla="*/ 233309 w 600511"/>
              <a:gd name="connsiteY84" fmla="*/ 23200 h 593879"/>
              <a:gd name="connsiteX85" fmla="*/ 233309 w 600511"/>
              <a:gd name="connsiteY85" fmla="*/ 0 h 593879"/>
              <a:gd name="connsiteX86" fmla="*/ 466296 w 600511"/>
              <a:gd name="connsiteY86" fmla="*/ 93123 h 593879"/>
              <a:gd name="connsiteX87" fmla="*/ 466296 w 600511"/>
              <a:gd name="connsiteY87" fmla="*/ 186246 h 593879"/>
              <a:gd name="connsiteX88" fmla="*/ 233309 w 600511"/>
              <a:gd name="connsiteY88" fmla="*/ 279369 h 593879"/>
              <a:gd name="connsiteX89" fmla="*/ 0 w 600511"/>
              <a:gd name="connsiteY89" fmla="*/ 186246 h 593879"/>
              <a:gd name="connsiteX90" fmla="*/ 0 w 600511"/>
              <a:gd name="connsiteY90" fmla="*/ 93123 h 593879"/>
              <a:gd name="connsiteX91" fmla="*/ 233309 w 600511"/>
              <a:gd name="connsiteY91" fmla="*/ 0 h 593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</a:cxnLst>
            <a:rect l="l" t="t" r="r" b="b"/>
            <a:pathLst>
              <a:path w="600511" h="593879">
                <a:moveTo>
                  <a:pt x="466437" y="421770"/>
                </a:moveTo>
                <a:cubicBezTo>
                  <a:pt x="487560" y="421770"/>
                  <a:pt x="504684" y="438878"/>
                  <a:pt x="504684" y="459981"/>
                </a:cubicBezTo>
                <a:cubicBezTo>
                  <a:pt x="504684" y="481084"/>
                  <a:pt x="487560" y="498192"/>
                  <a:pt x="466437" y="498192"/>
                </a:cubicBezTo>
                <a:cubicBezTo>
                  <a:pt x="445314" y="498192"/>
                  <a:pt x="428190" y="481084"/>
                  <a:pt x="428190" y="459981"/>
                </a:cubicBezTo>
                <a:cubicBezTo>
                  <a:pt x="428190" y="438878"/>
                  <a:pt x="445314" y="421770"/>
                  <a:pt x="466437" y="421770"/>
                </a:cubicBezTo>
                <a:close/>
                <a:moveTo>
                  <a:pt x="453390" y="375066"/>
                </a:moveTo>
                <a:lnTo>
                  <a:pt x="421127" y="386990"/>
                </a:lnTo>
                <a:cubicBezTo>
                  <a:pt x="419191" y="387957"/>
                  <a:pt x="418223" y="389890"/>
                  <a:pt x="418868" y="392146"/>
                </a:cubicBezTo>
                <a:lnTo>
                  <a:pt x="424031" y="406325"/>
                </a:lnTo>
                <a:cubicBezTo>
                  <a:pt x="424998" y="408259"/>
                  <a:pt x="424676" y="410515"/>
                  <a:pt x="423385" y="411481"/>
                </a:cubicBezTo>
                <a:cubicBezTo>
                  <a:pt x="422417" y="412448"/>
                  <a:pt x="418223" y="414382"/>
                  <a:pt x="416287" y="413737"/>
                </a:cubicBezTo>
                <a:lnTo>
                  <a:pt x="402414" y="407292"/>
                </a:lnTo>
                <a:cubicBezTo>
                  <a:pt x="400478" y="406325"/>
                  <a:pt x="398220" y="407292"/>
                  <a:pt x="397252" y="409226"/>
                </a:cubicBezTo>
                <a:lnTo>
                  <a:pt x="383056" y="440485"/>
                </a:lnTo>
                <a:cubicBezTo>
                  <a:pt x="382088" y="442096"/>
                  <a:pt x="383056" y="444674"/>
                  <a:pt x="384669" y="445318"/>
                </a:cubicBezTo>
                <a:lnTo>
                  <a:pt x="398542" y="451764"/>
                </a:lnTo>
                <a:cubicBezTo>
                  <a:pt x="400478" y="452730"/>
                  <a:pt x="402091" y="454664"/>
                  <a:pt x="401769" y="455953"/>
                </a:cubicBezTo>
                <a:cubicBezTo>
                  <a:pt x="401769" y="457564"/>
                  <a:pt x="400156" y="462076"/>
                  <a:pt x="398220" y="462720"/>
                </a:cubicBezTo>
                <a:lnTo>
                  <a:pt x="384024" y="467876"/>
                </a:lnTo>
                <a:cubicBezTo>
                  <a:pt x="382088" y="468521"/>
                  <a:pt x="381120" y="470777"/>
                  <a:pt x="381766" y="472710"/>
                </a:cubicBezTo>
                <a:lnTo>
                  <a:pt x="393380" y="504936"/>
                </a:lnTo>
                <a:cubicBezTo>
                  <a:pt x="394348" y="506870"/>
                  <a:pt x="396607" y="507836"/>
                  <a:pt x="398542" y="507192"/>
                </a:cubicBezTo>
                <a:lnTo>
                  <a:pt x="412738" y="502036"/>
                </a:lnTo>
                <a:cubicBezTo>
                  <a:pt x="414674" y="501391"/>
                  <a:pt x="417255" y="501713"/>
                  <a:pt x="417900" y="502680"/>
                </a:cubicBezTo>
                <a:cubicBezTo>
                  <a:pt x="418868" y="503969"/>
                  <a:pt x="421127" y="508159"/>
                  <a:pt x="420159" y="510092"/>
                </a:cubicBezTo>
                <a:lnTo>
                  <a:pt x="413706" y="523949"/>
                </a:lnTo>
                <a:cubicBezTo>
                  <a:pt x="412738" y="525561"/>
                  <a:pt x="413706" y="527816"/>
                  <a:pt x="415642" y="528783"/>
                </a:cubicBezTo>
                <a:lnTo>
                  <a:pt x="446937" y="543285"/>
                </a:lnTo>
                <a:cubicBezTo>
                  <a:pt x="448873" y="544251"/>
                  <a:pt x="451132" y="543285"/>
                  <a:pt x="451777" y="541351"/>
                </a:cubicBezTo>
                <a:lnTo>
                  <a:pt x="458230" y="527494"/>
                </a:lnTo>
                <a:cubicBezTo>
                  <a:pt x="459198" y="525561"/>
                  <a:pt x="461133" y="524272"/>
                  <a:pt x="462424" y="524272"/>
                </a:cubicBezTo>
                <a:cubicBezTo>
                  <a:pt x="464037" y="524272"/>
                  <a:pt x="468554" y="525883"/>
                  <a:pt x="469199" y="528139"/>
                </a:cubicBezTo>
                <a:lnTo>
                  <a:pt x="474361" y="542318"/>
                </a:lnTo>
                <a:cubicBezTo>
                  <a:pt x="475007" y="544251"/>
                  <a:pt x="477265" y="545218"/>
                  <a:pt x="479201" y="544574"/>
                </a:cubicBezTo>
                <a:lnTo>
                  <a:pt x="511464" y="532650"/>
                </a:lnTo>
                <a:cubicBezTo>
                  <a:pt x="513400" y="532006"/>
                  <a:pt x="514368" y="529750"/>
                  <a:pt x="513723" y="527816"/>
                </a:cubicBezTo>
                <a:lnTo>
                  <a:pt x="508560" y="513315"/>
                </a:lnTo>
                <a:cubicBezTo>
                  <a:pt x="507915" y="511381"/>
                  <a:pt x="508238" y="509125"/>
                  <a:pt x="509206" y="508159"/>
                </a:cubicBezTo>
                <a:cubicBezTo>
                  <a:pt x="510496" y="507192"/>
                  <a:pt x="514691" y="505258"/>
                  <a:pt x="516626" y="506225"/>
                </a:cubicBezTo>
                <a:lnTo>
                  <a:pt x="530500" y="512348"/>
                </a:lnTo>
                <a:cubicBezTo>
                  <a:pt x="532435" y="513315"/>
                  <a:pt x="534694" y="512348"/>
                  <a:pt x="535339" y="510737"/>
                </a:cubicBezTo>
                <a:lnTo>
                  <a:pt x="549858" y="479478"/>
                </a:lnTo>
                <a:cubicBezTo>
                  <a:pt x="550825" y="477544"/>
                  <a:pt x="549858" y="475288"/>
                  <a:pt x="547922" y="474322"/>
                </a:cubicBezTo>
                <a:lnTo>
                  <a:pt x="534049" y="467876"/>
                </a:lnTo>
                <a:cubicBezTo>
                  <a:pt x="532113" y="467232"/>
                  <a:pt x="531145" y="462398"/>
                  <a:pt x="531145" y="461109"/>
                </a:cubicBezTo>
                <a:cubicBezTo>
                  <a:pt x="531145" y="459498"/>
                  <a:pt x="532435" y="457886"/>
                  <a:pt x="534694" y="457242"/>
                </a:cubicBezTo>
                <a:lnTo>
                  <a:pt x="548890" y="451764"/>
                </a:lnTo>
                <a:cubicBezTo>
                  <a:pt x="550825" y="451119"/>
                  <a:pt x="551793" y="448863"/>
                  <a:pt x="551148" y="446930"/>
                </a:cubicBezTo>
                <a:lnTo>
                  <a:pt x="539211" y="414704"/>
                </a:lnTo>
                <a:cubicBezTo>
                  <a:pt x="538565" y="412770"/>
                  <a:pt x="536307" y="411804"/>
                  <a:pt x="534371" y="412448"/>
                </a:cubicBezTo>
                <a:lnTo>
                  <a:pt x="520175" y="417604"/>
                </a:lnTo>
                <a:cubicBezTo>
                  <a:pt x="517917" y="418571"/>
                  <a:pt x="515658" y="418249"/>
                  <a:pt x="514691" y="416960"/>
                </a:cubicBezTo>
                <a:cubicBezTo>
                  <a:pt x="513723" y="415993"/>
                  <a:pt x="511787" y="411481"/>
                  <a:pt x="512755" y="409548"/>
                </a:cubicBezTo>
                <a:lnTo>
                  <a:pt x="518885" y="396013"/>
                </a:lnTo>
                <a:cubicBezTo>
                  <a:pt x="519853" y="394079"/>
                  <a:pt x="518885" y="391824"/>
                  <a:pt x="516949" y="390857"/>
                </a:cubicBezTo>
                <a:lnTo>
                  <a:pt x="485976" y="376355"/>
                </a:lnTo>
                <a:cubicBezTo>
                  <a:pt x="484040" y="375711"/>
                  <a:pt x="481782" y="376355"/>
                  <a:pt x="480814" y="378289"/>
                </a:cubicBezTo>
                <a:lnTo>
                  <a:pt x="474361" y="392146"/>
                </a:lnTo>
                <a:cubicBezTo>
                  <a:pt x="473716" y="394079"/>
                  <a:pt x="471780" y="395691"/>
                  <a:pt x="470167" y="395368"/>
                </a:cubicBezTo>
                <a:cubicBezTo>
                  <a:pt x="468877" y="395368"/>
                  <a:pt x="464360" y="393757"/>
                  <a:pt x="463714" y="391824"/>
                </a:cubicBezTo>
                <a:lnTo>
                  <a:pt x="458230" y="377322"/>
                </a:lnTo>
                <a:cubicBezTo>
                  <a:pt x="457584" y="375389"/>
                  <a:pt x="455326" y="374422"/>
                  <a:pt x="453390" y="375066"/>
                </a:cubicBezTo>
                <a:close/>
                <a:moveTo>
                  <a:pt x="0" y="372515"/>
                </a:moveTo>
                <a:cubicBezTo>
                  <a:pt x="0" y="424064"/>
                  <a:pt x="104223" y="465626"/>
                  <a:pt x="233292" y="465626"/>
                </a:cubicBezTo>
                <a:cubicBezTo>
                  <a:pt x="258461" y="465626"/>
                  <a:pt x="282661" y="464015"/>
                  <a:pt x="305248" y="461116"/>
                </a:cubicBezTo>
                <a:cubicBezTo>
                  <a:pt x="305571" y="493978"/>
                  <a:pt x="315574" y="524264"/>
                  <a:pt x="332998" y="549716"/>
                </a:cubicBezTo>
                <a:cubicBezTo>
                  <a:pt x="302667" y="555515"/>
                  <a:pt x="268786" y="558737"/>
                  <a:pt x="233292" y="558737"/>
                </a:cubicBezTo>
                <a:cubicBezTo>
                  <a:pt x="104546" y="558737"/>
                  <a:pt x="0" y="517175"/>
                  <a:pt x="0" y="465626"/>
                </a:cubicBezTo>
                <a:close/>
                <a:moveTo>
                  <a:pt x="466295" y="326083"/>
                </a:moveTo>
                <a:cubicBezTo>
                  <a:pt x="540501" y="326083"/>
                  <a:pt x="600511" y="386023"/>
                  <a:pt x="600511" y="459820"/>
                </a:cubicBezTo>
                <a:cubicBezTo>
                  <a:pt x="600511" y="533939"/>
                  <a:pt x="540501" y="593879"/>
                  <a:pt x="466295" y="593879"/>
                </a:cubicBezTo>
                <a:cubicBezTo>
                  <a:pt x="392412" y="593879"/>
                  <a:pt x="332080" y="533939"/>
                  <a:pt x="332080" y="459820"/>
                </a:cubicBezTo>
                <a:cubicBezTo>
                  <a:pt x="332080" y="386023"/>
                  <a:pt x="392412" y="326083"/>
                  <a:pt x="466295" y="326083"/>
                </a:cubicBezTo>
                <a:close/>
                <a:moveTo>
                  <a:pt x="0" y="232654"/>
                </a:moveTo>
                <a:cubicBezTo>
                  <a:pt x="0" y="284212"/>
                  <a:pt x="104554" y="326103"/>
                  <a:pt x="233309" y="326103"/>
                </a:cubicBezTo>
                <a:cubicBezTo>
                  <a:pt x="362065" y="326103"/>
                  <a:pt x="466296" y="284212"/>
                  <a:pt x="466296" y="232654"/>
                </a:cubicBezTo>
                <a:lnTo>
                  <a:pt x="466296" y="299035"/>
                </a:lnTo>
                <a:cubicBezTo>
                  <a:pt x="393689" y="299035"/>
                  <a:pt x="332377" y="347370"/>
                  <a:pt x="312370" y="413429"/>
                </a:cubicBezTo>
                <a:cubicBezTo>
                  <a:pt x="287522" y="416973"/>
                  <a:pt x="261061" y="419229"/>
                  <a:pt x="233309" y="419229"/>
                </a:cubicBezTo>
                <a:cubicBezTo>
                  <a:pt x="104231" y="419229"/>
                  <a:pt x="0" y="377338"/>
                  <a:pt x="0" y="326103"/>
                </a:cubicBezTo>
                <a:close/>
                <a:moveTo>
                  <a:pt x="233309" y="23200"/>
                </a:moveTo>
                <a:cubicBezTo>
                  <a:pt x="105199" y="23200"/>
                  <a:pt x="23234" y="64445"/>
                  <a:pt x="23234" y="93123"/>
                </a:cubicBezTo>
                <a:cubicBezTo>
                  <a:pt x="23234" y="121479"/>
                  <a:pt x="105199" y="163046"/>
                  <a:pt x="233309" y="163046"/>
                </a:cubicBezTo>
                <a:cubicBezTo>
                  <a:pt x="361420" y="163046"/>
                  <a:pt x="443062" y="121479"/>
                  <a:pt x="443062" y="93123"/>
                </a:cubicBezTo>
                <a:cubicBezTo>
                  <a:pt x="443062" y="64445"/>
                  <a:pt x="361420" y="23200"/>
                  <a:pt x="233309" y="23200"/>
                </a:cubicBezTo>
                <a:close/>
                <a:moveTo>
                  <a:pt x="233309" y="0"/>
                </a:moveTo>
                <a:cubicBezTo>
                  <a:pt x="362065" y="0"/>
                  <a:pt x="466296" y="41567"/>
                  <a:pt x="466296" y="93123"/>
                </a:cubicBezTo>
                <a:lnTo>
                  <a:pt x="466296" y="186246"/>
                </a:lnTo>
                <a:cubicBezTo>
                  <a:pt x="466296" y="237802"/>
                  <a:pt x="362065" y="279369"/>
                  <a:pt x="233309" y="279369"/>
                </a:cubicBezTo>
                <a:cubicBezTo>
                  <a:pt x="104231" y="279369"/>
                  <a:pt x="0" y="237802"/>
                  <a:pt x="0" y="186246"/>
                </a:cubicBezTo>
                <a:lnTo>
                  <a:pt x="0" y="93123"/>
                </a:lnTo>
                <a:cubicBezTo>
                  <a:pt x="0" y="41567"/>
                  <a:pt x="104554" y="0"/>
                  <a:pt x="2333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/>
          </a:p>
        </p:txBody>
      </p:sp>
      <p:sp>
        <p:nvSpPr>
          <p:cNvPr id="40" name="ïṣľîḋê"/>
          <p:cNvSpPr/>
          <p:nvPr/>
        </p:nvSpPr>
        <p:spPr>
          <a:xfrm>
            <a:off x="1647358" y="1688604"/>
            <a:ext cx="9726203" cy="1271414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/>
          </a:bodyPr>
          <a:lstStyle/>
          <a:p>
            <a:pPr lvl="1">
              <a:lnSpc>
                <a:spcPct val="123000"/>
              </a:lnSpc>
            </a:pPr>
            <a:r>
              <a:rPr lang="zh-CN" altLang="en-US" sz="2600" dirty="0">
                <a:sym typeface="Wingdings" panose="05000000000000000000" pitchFamily="2" charset="2"/>
              </a:rPr>
              <a:t>页面大小为</a:t>
            </a:r>
            <a:r>
              <a:rPr lang="en-US" altLang="zh-CN" sz="2600" dirty="0">
                <a:sym typeface="Wingdings" panose="05000000000000000000" pitchFamily="2" charset="2"/>
              </a:rPr>
              <a:t>4KB</a:t>
            </a:r>
            <a:r>
              <a:rPr lang="zh-CN" altLang="en-US" sz="2600" dirty="0">
                <a:sym typeface="Wingdings" panose="05000000000000000000" pitchFamily="2" charset="2"/>
              </a:rPr>
              <a:t>时（</a:t>
            </a:r>
            <a:r>
              <a:rPr lang="en-US" altLang="zh-CN" sz="2600" dirty="0">
                <a:sym typeface="Wingdings" panose="05000000000000000000" pitchFamily="2" charset="2"/>
              </a:rPr>
              <a:t>12</a:t>
            </a:r>
            <a:r>
              <a:rPr lang="zh-CN" altLang="en-US" sz="2600" dirty="0">
                <a:sym typeface="Wingdings" panose="05000000000000000000" pitchFamily="2" charset="2"/>
              </a:rPr>
              <a:t>位），若采用一级页表结构，应具有</a:t>
            </a:r>
            <a:r>
              <a:rPr lang="en-US" altLang="zh-CN" sz="2600" dirty="0">
                <a:sym typeface="Wingdings" panose="05000000000000000000" pitchFamily="2" charset="2"/>
              </a:rPr>
              <a:t>20</a:t>
            </a:r>
            <a:r>
              <a:rPr lang="zh-CN" altLang="en-US" sz="2600" dirty="0">
                <a:sym typeface="Wingdings" panose="05000000000000000000" pitchFamily="2" charset="2"/>
              </a:rPr>
              <a:t>位的页号，即页表项应有</a:t>
            </a:r>
            <a:r>
              <a:rPr lang="en-US" altLang="zh-CN" sz="2600" dirty="0">
                <a:sym typeface="Wingdings" panose="05000000000000000000" pitchFamily="2" charset="2"/>
              </a:rPr>
              <a:t>1M</a:t>
            </a:r>
            <a:r>
              <a:rPr lang="zh-CN" altLang="en-US" sz="2600" dirty="0">
                <a:sym typeface="Wingdings" panose="05000000000000000000" pitchFamily="2" charset="2"/>
              </a:rPr>
              <a:t>个；</a:t>
            </a:r>
            <a:endParaRPr lang="zh-CN" altLang="en-US" sz="2600" dirty="0">
              <a:sym typeface="Wingdings" panose="05000000000000000000" pitchFamily="2" charset="2"/>
            </a:endParaRPr>
          </a:p>
        </p:txBody>
      </p:sp>
      <p:sp>
        <p:nvSpPr>
          <p:cNvPr id="42" name="îṧľïdè"/>
          <p:cNvSpPr/>
          <p:nvPr/>
        </p:nvSpPr>
        <p:spPr>
          <a:xfrm>
            <a:off x="2054747" y="2947340"/>
            <a:ext cx="9152408" cy="1066230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/>
          </a:bodyPr>
          <a:lstStyle/>
          <a:p>
            <a:pPr marL="0" lvl="1">
              <a:lnSpc>
                <a:spcPct val="123000"/>
              </a:lnSpc>
            </a:pPr>
            <a:r>
              <a:rPr lang="zh-CN" altLang="en-US" sz="2600" dirty="0">
                <a:solidFill>
                  <a:srgbClr val="FF0000"/>
                </a:solidFill>
                <a:sym typeface="Wingdings" panose="05000000000000000000" pitchFamily="2" charset="2"/>
              </a:rPr>
              <a:t>在采用两级页表结构时，再对页表进行分页</a:t>
            </a:r>
            <a:r>
              <a:rPr lang="zh-CN" altLang="en-US" sz="2600" dirty="0">
                <a:sym typeface="Wingdings" panose="05000000000000000000" pitchFamily="2" charset="2"/>
              </a:rPr>
              <a:t>，使每页中包含</a:t>
            </a:r>
            <a:r>
              <a:rPr lang="en-US" altLang="zh-CN" sz="2600" dirty="0">
                <a:sym typeface="Wingdings" panose="05000000000000000000" pitchFamily="2" charset="2"/>
              </a:rPr>
              <a:t>2</a:t>
            </a:r>
            <a:r>
              <a:rPr lang="en-US" altLang="zh-CN" sz="2600" baseline="30000" dirty="0">
                <a:sym typeface="Wingdings" panose="05000000000000000000" pitchFamily="2" charset="2"/>
              </a:rPr>
              <a:t>10</a:t>
            </a:r>
            <a:r>
              <a:rPr lang="zh-CN" altLang="en-US" sz="2600" dirty="0">
                <a:sym typeface="Wingdings" panose="05000000000000000000" pitchFamily="2" charset="2"/>
              </a:rPr>
              <a:t>个页表项，最多允许有</a:t>
            </a:r>
            <a:r>
              <a:rPr lang="en-US" altLang="zh-CN" sz="2600" dirty="0">
                <a:sym typeface="Wingdings" panose="05000000000000000000" pitchFamily="2" charset="2"/>
              </a:rPr>
              <a:t>2</a:t>
            </a:r>
            <a:r>
              <a:rPr lang="en-US" altLang="zh-CN" sz="2600" baseline="30000" dirty="0">
                <a:sym typeface="Wingdings" panose="05000000000000000000" pitchFamily="2" charset="2"/>
              </a:rPr>
              <a:t>10</a:t>
            </a:r>
            <a:r>
              <a:rPr lang="zh-CN" altLang="en-US" sz="2600" dirty="0">
                <a:sym typeface="Wingdings" panose="05000000000000000000" pitchFamily="2" charset="2"/>
              </a:rPr>
              <a:t>个页表分页。</a:t>
            </a:r>
            <a:endParaRPr lang="zh-CN" altLang="en-US" sz="2600" dirty="0">
              <a:sym typeface="Wingdings" panose="05000000000000000000" pitchFamily="2" charset="2"/>
            </a:endParaRPr>
          </a:p>
        </p:txBody>
      </p:sp>
      <p:sp>
        <p:nvSpPr>
          <p:cNvPr id="44" name="ïśļíde"/>
          <p:cNvSpPr/>
          <p:nvPr/>
        </p:nvSpPr>
        <p:spPr>
          <a:xfrm>
            <a:off x="1591560" y="4185151"/>
            <a:ext cx="3399113" cy="1767427"/>
          </a:xfrm>
          <a:prstGeom prst="rect">
            <a:avLst/>
          </a:prstGeom>
        </p:spPr>
        <p:txBody>
          <a:bodyPr wrap="square" lIns="91440" tIns="45720" rIns="91440" bIns="45720" anchor="ctr" anchorCtr="0">
            <a:normAutofit/>
          </a:bodyPr>
          <a:lstStyle/>
          <a:p>
            <a:pPr lvl="1">
              <a:lnSpc>
                <a:spcPct val="123000"/>
              </a:lnSpc>
            </a:pPr>
            <a:r>
              <a:rPr lang="zh-CN" altLang="en-US" sz="2600" dirty="0">
                <a:sym typeface="Wingdings" panose="05000000000000000000" pitchFamily="2" charset="2"/>
              </a:rPr>
              <a:t>地址变换机构上，增设一个外层页表</a:t>
            </a:r>
            <a:r>
              <a:rPr lang="zh-CN" altLang="en-US" sz="2600" dirty="0" smtClean="0">
                <a:sym typeface="Wingdings" panose="05000000000000000000" pitchFamily="2" charset="2"/>
              </a:rPr>
              <a:t>寄存器</a:t>
            </a:r>
            <a:endParaRPr lang="zh-CN" altLang="en-US" sz="2600" dirty="0">
              <a:sym typeface="Wingdings" panose="05000000000000000000" pitchFamily="2" charset="2"/>
            </a:endParaRPr>
          </a:p>
        </p:txBody>
      </p:sp>
      <p:grpSp>
        <p:nvGrpSpPr>
          <p:cNvPr id="45" name="组合 3"/>
          <p:cNvGrpSpPr/>
          <p:nvPr/>
        </p:nvGrpSpPr>
        <p:grpSpPr bwMode="auto">
          <a:xfrm>
            <a:off x="5363286" y="4403767"/>
            <a:ext cx="6010275" cy="1452407"/>
            <a:chOff x="1752600" y="4737100"/>
            <a:chExt cx="5867400" cy="1453140"/>
          </a:xfrm>
        </p:grpSpPr>
        <p:sp>
          <p:nvSpPr>
            <p:cNvPr id="46" name="Line 5"/>
            <p:cNvSpPr>
              <a:spLocks noChangeShapeType="1"/>
            </p:cNvSpPr>
            <p:nvPr/>
          </p:nvSpPr>
          <p:spPr bwMode="auto">
            <a:xfrm>
              <a:off x="1981200" y="4737100"/>
              <a:ext cx="0" cy="990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47" name="Line 6"/>
            <p:cNvSpPr>
              <a:spLocks noChangeShapeType="1"/>
            </p:cNvSpPr>
            <p:nvPr/>
          </p:nvSpPr>
          <p:spPr bwMode="auto">
            <a:xfrm>
              <a:off x="1981200" y="5715000"/>
              <a:ext cx="5638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48" name="Line 7"/>
            <p:cNvSpPr>
              <a:spLocks noChangeShapeType="1"/>
            </p:cNvSpPr>
            <p:nvPr/>
          </p:nvSpPr>
          <p:spPr bwMode="auto">
            <a:xfrm>
              <a:off x="3733800" y="4749800"/>
              <a:ext cx="0" cy="990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49" name="Line 8"/>
            <p:cNvSpPr>
              <a:spLocks noChangeShapeType="1"/>
            </p:cNvSpPr>
            <p:nvPr/>
          </p:nvSpPr>
          <p:spPr bwMode="auto">
            <a:xfrm>
              <a:off x="5715000" y="4749800"/>
              <a:ext cx="0" cy="990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50" name="Line 9"/>
            <p:cNvSpPr>
              <a:spLocks noChangeShapeType="1"/>
            </p:cNvSpPr>
            <p:nvPr/>
          </p:nvSpPr>
          <p:spPr bwMode="auto">
            <a:xfrm>
              <a:off x="7620000" y="4749800"/>
              <a:ext cx="0" cy="990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51" name="Line 10"/>
            <p:cNvSpPr>
              <a:spLocks noChangeShapeType="1"/>
            </p:cNvSpPr>
            <p:nvPr/>
          </p:nvSpPr>
          <p:spPr bwMode="auto">
            <a:xfrm>
              <a:off x="1981200" y="5257800"/>
              <a:ext cx="1752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52" name="Line 11"/>
            <p:cNvSpPr>
              <a:spLocks noChangeShapeType="1"/>
            </p:cNvSpPr>
            <p:nvPr/>
          </p:nvSpPr>
          <p:spPr bwMode="auto">
            <a:xfrm>
              <a:off x="3733800" y="5257800"/>
              <a:ext cx="198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53" name="Line 12"/>
            <p:cNvSpPr>
              <a:spLocks noChangeShapeType="1"/>
            </p:cNvSpPr>
            <p:nvPr/>
          </p:nvSpPr>
          <p:spPr bwMode="auto">
            <a:xfrm>
              <a:off x="5715000" y="5257800"/>
              <a:ext cx="1905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54" name="Text Box 13"/>
            <p:cNvSpPr txBox="1">
              <a:spLocks noChangeArrowheads="1"/>
            </p:cNvSpPr>
            <p:nvPr/>
          </p:nvSpPr>
          <p:spPr bwMode="auto">
            <a:xfrm>
              <a:off x="6096000" y="5257800"/>
              <a:ext cx="11430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d</a:t>
              </a:r>
              <a:endParaRPr lang="en-US" altLang="zh-CN" sz="2400" baseline="-25000" dirty="0">
                <a:latin typeface="+mn-ea"/>
                <a:ea typeface="+mn-ea"/>
              </a:endParaRPr>
            </a:p>
          </p:txBody>
        </p:sp>
        <p:sp>
          <p:nvSpPr>
            <p:cNvPr id="55" name="Text Box 15"/>
            <p:cNvSpPr txBox="1">
              <a:spLocks noChangeArrowheads="1"/>
            </p:cNvSpPr>
            <p:nvPr/>
          </p:nvSpPr>
          <p:spPr bwMode="auto">
            <a:xfrm>
              <a:off x="4114800" y="5283200"/>
              <a:ext cx="11430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2</a:t>
              </a:r>
              <a:endParaRPr lang="en-US" altLang="zh-CN" sz="2400" baseline="-25000" dirty="0">
                <a:latin typeface="+mn-ea"/>
                <a:ea typeface="+mn-ea"/>
              </a:endParaRPr>
            </a:p>
          </p:txBody>
        </p:sp>
        <p:sp>
          <p:nvSpPr>
            <p:cNvPr id="56" name="Text Box 16"/>
            <p:cNvSpPr txBox="1">
              <a:spLocks noChangeArrowheads="1"/>
            </p:cNvSpPr>
            <p:nvPr/>
          </p:nvSpPr>
          <p:spPr bwMode="auto">
            <a:xfrm>
              <a:off x="2286000" y="5257800"/>
              <a:ext cx="11430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p</a:t>
              </a:r>
              <a:r>
                <a:rPr lang="en-US" altLang="zh-CN" sz="2400" baseline="-25000" dirty="0">
                  <a:latin typeface="+mn-ea"/>
                  <a:ea typeface="+mn-ea"/>
                </a:rPr>
                <a:t>1</a:t>
              </a:r>
              <a:endParaRPr lang="en-US" altLang="zh-CN" sz="2400" baseline="-25000" dirty="0">
                <a:latin typeface="+mn-ea"/>
                <a:ea typeface="+mn-ea"/>
              </a:endParaRPr>
            </a:p>
          </p:txBody>
        </p:sp>
        <p:sp>
          <p:nvSpPr>
            <p:cNvPr id="57" name="Text Box 18"/>
            <p:cNvSpPr txBox="1">
              <a:spLocks noChangeArrowheads="1"/>
            </p:cNvSpPr>
            <p:nvPr/>
          </p:nvSpPr>
          <p:spPr bwMode="auto">
            <a:xfrm>
              <a:off x="3745609" y="4800600"/>
              <a:ext cx="19812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外层页内地址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58" name="Text Box 19"/>
            <p:cNvSpPr txBox="1">
              <a:spLocks noChangeArrowheads="1"/>
            </p:cNvSpPr>
            <p:nvPr/>
          </p:nvSpPr>
          <p:spPr bwMode="auto">
            <a:xfrm>
              <a:off x="5867400" y="4800600"/>
              <a:ext cx="16002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页内地址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59" name="Text Box 20"/>
            <p:cNvSpPr txBox="1">
              <a:spLocks noChangeArrowheads="1"/>
            </p:cNvSpPr>
            <p:nvPr/>
          </p:nvSpPr>
          <p:spPr bwMode="auto">
            <a:xfrm>
              <a:off x="2057400" y="4800600"/>
              <a:ext cx="14478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zh-CN" altLang="en-US" sz="2400" dirty="0">
                  <a:latin typeface="+mn-ea"/>
                  <a:ea typeface="+mn-ea"/>
                </a:rPr>
                <a:t>外层页号</a:t>
              </a:r>
              <a:endParaRPr lang="zh-CN" altLang="en-US" sz="2400" dirty="0">
                <a:latin typeface="+mn-ea"/>
                <a:ea typeface="+mn-ea"/>
              </a:endParaRPr>
            </a:p>
          </p:txBody>
        </p:sp>
        <p:sp>
          <p:nvSpPr>
            <p:cNvPr id="60" name="Text Box 21"/>
            <p:cNvSpPr txBox="1">
              <a:spLocks noChangeArrowheads="1"/>
            </p:cNvSpPr>
            <p:nvPr/>
          </p:nvSpPr>
          <p:spPr bwMode="auto">
            <a:xfrm>
              <a:off x="1752600" y="5727700"/>
              <a:ext cx="5334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31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61" name="Text Box 22"/>
            <p:cNvSpPr txBox="1">
              <a:spLocks noChangeArrowheads="1"/>
            </p:cNvSpPr>
            <p:nvPr/>
          </p:nvSpPr>
          <p:spPr bwMode="auto">
            <a:xfrm>
              <a:off x="3200401" y="5715000"/>
              <a:ext cx="533399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22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62" name="Text Box 23"/>
            <p:cNvSpPr txBox="1">
              <a:spLocks noChangeArrowheads="1"/>
            </p:cNvSpPr>
            <p:nvPr/>
          </p:nvSpPr>
          <p:spPr bwMode="auto">
            <a:xfrm>
              <a:off x="3733800" y="5715000"/>
              <a:ext cx="6858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21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63" name="Text Box 24"/>
            <p:cNvSpPr txBox="1">
              <a:spLocks noChangeArrowheads="1"/>
            </p:cNvSpPr>
            <p:nvPr/>
          </p:nvSpPr>
          <p:spPr bwMode="auto">
            <a:xfrm>
              <a:off x="5105400" y="5715000"/>
              <a:ext cx="8382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12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  <p:sp>
          <p:nvSpPr>
            <p:cNvPr id="64" name="Text Box 25"/>
            <p:cNvSpPr txBox="1">
              <a:spLocks noChangeArrowheads="1"/>
            </p:cNvSpPr>
            <p:nvPr/>
          </p:nvSpPr>
          <p:spPr bwMode="auto">
            <a:xfrm>
              <a:off x="5562600" y="5715000"/>
              <a:ext cx="838200" cy="462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 typeface="Monotype Sorts" pitchFamily="2" charset="2"/>
                <a:buNone/>
              </a:pPr>
              <a:r>
                <a:rPr lang="en-US" altLang="zh-CN" sz="2400" dirty="0">
                  <a:latin typeface="+mn-ea"/>
                  <a:ea typeface="+mn-ea"/>
                </a:rPr>
                <a:t>11</a:t>
              </a:r>
              <a:endParaRPr lang="en-US" altLang="zh-CN" sz="2400" dirty="0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6865" name="图片 113665" descr="b5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533400"/>
            <a:ext cx="8534400" cy="5334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866" name="矩形 113666"/>
          <p:cNvSpPr/>
          <p:nvPr/>
        </p:nvSpPr>
        <p:spPr>
          <a:xfrm>
            <a:off x="4191477" y="6247607"/>
            <a:ext cx="352806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>
                <a:latin typeface="Tahoma" panose="020B0604030504040204" pitchFamily="2" charset="0"/>
                <a:ea typeface="宋体" panose="02010600030101010101" pitchFamily="2" charset="-122"/>
              </a:rPr>
              <a:t>图</a:t>
            </a:r>
            <a:r>
              <a:rPr lang="en-US" altLang="zh-CN">
                <a:latin typeface="Tahoma" panose="020B0604030504040204" pitchFamily="2" charset="0"/>
                <a:ea typeface="宋体" panose="02010600030101010101" pitchFamily="2" charset="-122"/>
              </a:rPr>
              <a:t>5-20  </a:t>
            </a:r>
            <a:r>
              <a:rPr lang="zh-CN" altLang="en-US">
                <a:latin typeface="Tahoma" panose="020B0604030504040204" pitchFamily="2" charset="0"/>
                <a:ea typeface="宋体" panose="02010600030101010101" pitchFamily="2" charset="-122"/>
              </a:rPr>
              <a:t>两级页表结构的地址转换</a:t>
            </a:r>
            <a:endParaRPr lang="zh-CN" altLang="en-US"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  <p:sp>
        <p:nvSpPr>
          <p:cNvPr id="36867" name="文本框 113667"/>
          <p:cNvSpPr txBox="1"/>
          <p:nvPr/>
        </p:nvSpPr>
        <p:spPr>
          <a:xfrm>
            <a:off x="3575050" y="3644900"/>
            <a:ext cx="2159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8" name="文本框 113668"/>
          <p:cNvSpPr txBox="1"/>
          <p:nvPr/>
        </p:nvSpPr>
        <p:spPr>
          <a:xfrm>
            <a:off x="4656138" y="2349500"/>
            <a:ext cx="2159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9" name="左大括号 113669"/>
          <p:cNvSpPr/>
          <p:nvPr/>
        </p:nvSpPr>
        <p:spPr>
          <a:xfrm>
            <a:off x="4800600" y="2708275"/>
            <a:ext cx="142875" cy="1008063"/>
          </a:xfrm>
          <a:prstGeom prst="leftBrace">
            <a:avLst>
              <a:gd name="adj1" fmla="val 58535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0" name="文本框 113670"/>
          <p:cNvSpPr txBox="1"/>
          <p:nvPr/>
        </p:nvSpPr>
        <p:spPr>
          <a:xfrm>
            <a:off x="4367213" y="2924175"/>
            <a:ext cx="576262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p1</a:t>
            </a:r>
            <a:endParaRPr lang="en-US" altLang="zh-CN" sz="24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871" name="文本框 113671"/>
          <p:cNvSpPr txBox="1"/>
          <p:nvPr/>
        </p:nvSpPr>
        <p:spPr>
          <a:xfrm>
            <a:off x="5232400" y="3573463"/>
            <a:ext cx="50323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2" name="文本框 113672"/>
          <p:cNvSpPr txBox="1"/>
          <p:nvPr/>
        </p:nvSpPr>
        <p:spPr>
          <a:xfrm>
            <a:off x="6600825" y="2324100"/>
            <a:ext cx="50323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endParaRPr lang="en-US" altLang="zh-CN" sz="2400" b="1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3" name="左大括号 113673"/>
          <p:cNvSpPr/>
          <p:nvPr/>
        </p:nvSpPr>
        <p:spPr>
          <a:xfrm>
            <a:off x="6745288" y="2636838"/>
            <a:ext cx="142875" cy="1008062"/>
          </a:xfrm>
          <a:prstGeom prst="leftBrace">
            <a:avLst>
              <a:gd name="adj1" fmla="val 58534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74" name="文本框 113674"/>
          <p:cNvSpPr txBox="1"/>
          <p:nvPr/>
        </p:nvSpPr>
        <p:spPr>
          <a:xfrm>
            <a:off x="6383338" y="2852738"/>
            <a:ext cx="576262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p2</a:t>
            </a:r>
            <a:endParaRPr lang="en-US" altLang="zh-CN" sz="2400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875" name="动作按钮: 前进或下一项 113675">
            <a:hlinkClick r:id="rId2" action="ppaction://hlinksldjump"/>
          </p:cNvPr>
          <p:cNvSpPr/>
          <p:nvPr/>
        </p:nvSpPr>
        <p:spPr>
          <a:xfrm>
            <a:off x="9264650" y="6021388"/>
            <a:ext cx="863600" cy="431800"/>
          </a:xfrm>
          <a:prstGeom prst="actionButtonForwardNext">
            <a:avLst/>
          </a:prstGeom>
          <a:solidFill>
            <a:schemeClr val="accent1"/>
          </a:solidFill>
          <a:ln w="9525">
            <a:noFill/>
          </a:ln>
        </p:spPr>
        <p:txBody>
          <a:bodyPr anchor="t" anchorCtr="0"/>
          <a:p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881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多级页表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1068514" y="1740821"/>
            <a:ext cx="10187621" cy="5163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23000"/>
              </a:lnSpc>
              <a:buNone/>
            </a:pPr>
            <a:r>
              <a:rPr lang="zh-CN" altLang="en-US" sz="2400" dirty="0">
                <a:sym typeface="Wingdings" panose="05000000000000000000" pitchFamily="2" charset="2"/>
              </a:rPr>
              <a:t>如果页面大小为</a:t>
            </a:r>
            <a:r>
              <a:rPr lang="en-US" altLang="zh-CN" sz="2400" dirty="0">
                <a:sym typeface="Wingdings" panose="05000000000000000000" pitchFamily="2" charset="2"/>
              </a:rPr>
              <a:t>4KB</a:t>
            </a:r>
            <a:r>
              <a:rPr lang="zh-CN" altLang="en-US" sz="2400" dirty="0">
                <a:sym typeface="Wingdings" panose="05000000000000000000" pitchFamily="2" charset="2"/>
              </a:rPr>
              <a:t>，那么还剩下</a:t>
            </a:r>
            <a:r>
              <a:rPr lang="en-US" altLang="zh-CN" sz="2400" dirty="0">
                <a:sym typeface="Wingdings" panose="05000000000000000000" pitchFamily="2" charset="2"/>
              </a:rPr>
              <a:t>52</a:t>
            </a:r>
            <a:r>
              <a:rPr lang="zh-CN" altLang="en-US" sz="2400" dirty="0">
                <a:sym typeface="Wingdings" panose="05000000000000000000" pitchFamily="2" charset="2"/>
              </a:rPr>
              <a:t>位，假定物理块大小为</a:t>
            </a:r>
            <a:r>
              <a:rPr lang="en-US" altLang="zh-CN" sz="2400" dirty="0">
                <a:sym typeface="Wingdings" panose="05000000000000000000" pitchFamily="2" charset="2"/>
              </a:rPr>
              <a:t>4K</a:t>
            </a:r>
            <a:r>
              <a:rPr lang="zh-CN" altLang="en-US" sz="2400" dirty="0">
                <a:sym typeface="Wingdings" panose="05000000000000000000" pitchFamily="2" charset="2"/>
              </a:rPr>
              <a:t>来划分页表，则余下的</a:t>
            </a:r>
            <a:r>
              <a:rPr lang="en-US" altLang="zh-CN" sz="2400" dirty="0">
                <a:sym typeface="Wingdings" panose="05000000000000000000" pitchFamily="2" charset="2"/>
              </a:rPr>
              <a:t>42</a:t>
            </a:r>
            <a:r>
              <a:rPr lang="zh-CN" altLang="en-US" sz="2400" dirty="0">
                <a:sym typeface="Wingdings" panose="05000000000000000000" pitchFamily="2" charset="2"/>
              </a:rPr>
              <a:t>位用于外层页号。此时在外层页表中可能有</a:t>
            </a:r>
            <a:r>
              <a:rPr lang="en-US" altLang="zh-CN" sz="2400" dirty="0">
                <a:sym typeface="Wingdings" panose="05000000000000000000" pitchFamily="2" charset="2"/>
              </a:rPr>
              <a:t>4096G</a:t>
            </a:r>
            <a:r>
              <a:rPr lang="zh-CN" altLang="en-US" sz="2400" dirty="0">
                <a:sym typeface="Wingdings" panose="05000000000000000000" pitchFamily="2" charset="2"/>
              </a:rPr>
              <a:t>个页表项，要占用</a:t>
            </a:r>
            <a:r>
              <a:rPr lang="en-US" altLang="zh-CN" sz="2400" dirty="0">
                <a:sym typeface="Wingdings" panose="05000000000000000000" pitchFamily="2" charset="2"/>
              </a:rPr>
              <a:t>16384GB</a:t>
            </a:r>
            <a:r>
              <a:rPr lang="zh-CN" altLang="en-US" sz="2400" dirty="0">
                <a:sym typeface="Wingdings" panose="05000000000000000000" pitchFamily="2" charset="2"/>
              </a:rPr>
              <a:t>的连续内存空间，三级页表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6187" y="1781676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6187" y="325546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1059712" y="3266121"/>
            <a:ext cx="10196423" cy="5163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23000"/>
              </a:lnSpc>
              <a:buNone/>
            </a:pP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使用多级页表</a:t>
            </a:r>
            <a:endParaRPr lang="zh-CN" altLang="en-US" sz="240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9924" y="1128133"/>
            <a:ext cx="10277467" cy="5860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对于</a:t>
            </a:r>
            <a:r>
              <a:rPr lang="en-US" altLang="zh-CN" sz="2400" b="1" dirty="0">
                <a:solidFill>
                  <a:srgbClr val="C00000"/>
                </a:solidFill>
              </a:rPr>
              <a:t>64</a:t>
            </a:r>
            <a:r>
              <a:rPr lang="zh-CN" altLang="en-US" sz="2400" b="1" dirty="0">
                <a:solidFill>
                  <a:srgbClr val="C00000"/>
                </a:solidFill>
              </a:rPr>
              <a:t>位的机器，采用两级页表是否仍可使用？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9" t="38263" r="458" b="37975"/>
          <a:stretch>
            <a:fillRect/>
          </a:stretch>
        </p:blipFill>
        <p:spPr bwMode="auto">
          <a:xfrm>
            <a:off x="3813197" y="4965070"/>
            <a:ext cx="6481762" cy="1090613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" t="35193" r="647" b="35501"/>
          <a:stretch>
            <a:fillRect/>
          </a:stretch>
        </p:blipFill>
        <p:spPr bwMode="auto">
          <a:xfrm>
            <a:off x="3813197" y="3388254"/>
            <a:ext cx="6436621" cy="124814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反置页表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1622738" y="1447800"/>
            <a:ext cx="9729475" cy="457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3000"/>
              </a:lnSpc>
              <a:buNone/>
            </a:pP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为减少页表占用的内存空间，引入反置页表</a:t>
            </a:r>
            <a:r>
              <a:rPr lang="zh-CN" altLang="en-US" sz="2400" dirty="0" smtClean="0">
                <a:latin typeface="+mn-ea"/>
              </a:rPr>
              <a:t>，一个系统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一张页表</a:t>
            </a:r>
            <a:endParaRPr lang="en-US" altLang="zh-CN" sz="2400" dirty="0" smtClean="0">
              <a:latin typeface="+mn-ea"/>
            </a:endParaRPr>
          </a:p>
          <a:p>
            <a:pPr marL="0" indent="0">
              <a:lnSpc>
                <a:spcPct val="123000"/>
              </a:lnSpc>
              <a:buNone/>
            </a:pPr>
            <a:r>
              <a:rPr lang="zh-CN" altLang="en-US" sz="2400" dirty="0" smtClean="0">
                <a:latin typeface="+mn-ea"/>
              </a:rPr>
              <a:t>对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每个内存物理块</a:t>
            </a:r>
            <a:r>
              <a:rPr lang="zh-CN" altLang="en-US" sz="2400" dirty="0" smtClean="0">
                <a:latin typeface="+mn-ea"/>
              </a:rPr>
              <a:t>设置一个条目。</a:t>
            </a:r>
            <a:endParaRPr lang="zh-CN" altLang="en-US" sz="2400" dirty="0" smtClean="0">
              <a:latin typeface="+mn-ea"/>
            </a:endParaRPr>
          </a:p>
          <a:p>
            <a:pPr marL="0" indent="0">
              <a:lnSpc>
                <a:spcPct val="123000"/>
              </a:lnSpc>
              <a:buNone/>
            </a:pPr>
            <a:r>
              <a:rPr lang="zh-CN" altLang="en-US" sz="2400" dirty="0" smtClean="0">
                <a:latin typeface="+mn-ea"/>
              </a:rPr>
              <a:t>每个条目保存在真正内存位置的页的虚拟地址，以及包括拥有这个页的进程的信息。</a:t>
            </a:r>
            <a:endParaRPr lang="zh-CN" altLang="en-US" sz="2400" dirty="0" smtClean="0">
              <a:latin typeface="+mn-ea"/>
            </a:endParaRPr>
          </a:p>
          <a:p>
            <a:pPr marL="0" indent="0">
              <a:lnSpc>
                <a:spcPct val="123000"/>
              </a:lnSpc>
              <a:buNone/>
            </a:pPr>
            <a:r>
              <a:rPr lang="zh-CN" altLang="en-US" sz="2400" dirty="0" smtClean="0">
                <a:latin typeface="+mn-ea"/>
              </a:rPr>
              <a:t>减少了需要储存每个页表的内存，但是当访问一个页时，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增加了寻找页表需要的时间</a:t>
            </a:r>
            <a:r>
              <a:rPr lang="zh-CN" altLang="en-US" sz="2400" dirty="0" smtClean="0">
                <a:latin typeface="+mn-ea"/>
              </a:rPr>
              <a:t>。</a:t>
            </a:r>
            <a:endParaRPr lang="zh-CN" altLang="en-US" sz="2400" dirty="0" smtClean="0">
              <a:latin typeface="+mn-ea"/>
            </a:endParaRPr>
          </a:p>
          <a:p>
            <a:pPr marL="0" indent="0">
              <a:lnSpc>
                <a:spcPct val="123000"/>
              </a:lnSpc>
              <a:buNone/>
            </a:pPr>
            <a:r>
              <a:rPr lang="zh-CN" altLang="en-US" sz="2400" dirty="0" smtClean="0">
                <a:latin typeface="+mn-ea"/>
              </a:rPr>
              <a:t>可使用哈希表来将查找限制在一个或少数几个页表条目。</a:t>
            </a:r>
            <a:endParaRPr lang="en-US" altLang="zh-CN" sz="2400" dirty="0" smtClean="0">
              <a:latin typeface="+mn-ea"/>
            </a:endParaRPr>
          </a:p>
          <a:p>
            <a:pPr marL="0" indent="0">
              <a:lnSpc>
                <a:spcPct val="123000"/>
              </a:lnSpc>
              <a:buNone/>
            </a:pPr>
            <a:r>
              <a:rPr lang="en-US" altLang="zh-CN" sz="2400" dirty="0" smtClean="0">
                <a:latin typeface="+mn-ea"/>
              </a:rPr>
              <a:t>AS/400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smtClean="0">
                <a:latin typeface="+mn-ea"/>
              </a:rPr>
              <a:t>IBM RISC System </a:t>
            </a:r>
            <a:r>
              <a:rPr lang="zh-CN" altLang="en-US" sz="2400" dirty="0" smtClean="0">
                <a:latin typeface="+mn-ea"/>
              </a:rPr>
              <a:t>和</a:t>
            </a:r>
            <a:r>
              <a:rPr lang="en-US" altLang="zh-CN" sz="2400" dirty="0" smtClean="0">
                <a:latin typeface="+mn-ea"/>
              </a:rPr>
              <a:t>IBM RT</a:t>
            </a:r>
            <a:r>
              <a:rPr lang="zh-CN" altLang="en-US" sz="2400" dirty="0" smtClean="0">
                <a:latin typeface="+mn-ea"/>
              </a:rPr>
              <a:t>采用</a:t>
            </a:r>
            <a:endParaRPr lang="zh-CN" altLang="en-US" sz="2400" dirty="0" smtClean="0">
              <a:latin typeface="+mn-ea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6848" y="146067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6848" y="2026365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6848" y="2592052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6848" y="373380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6848" y="461202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6848" y="5226721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反置页表地址转换机制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24984" y="485978"/>
            <a:ext cx="10212589" cy="58194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5.1 </a:t>
            </a:r>
            <a:r>
              <a:rPr lang="zh-CN" altLang="en-US" sz="2400" dirty="0">
                <a:latin typeface="+mj-ea"/>
                <a:ea typeface="+mj-ea"/>
              </a:rPr>
              <a:t>存储器的</a:t>
            </a:r>
            <a:r>
              <a:rPr lang="zh-CN" altLang="en-US" sz="2400" dirty="0" smtClean="0">
                <a:latin typeface="+mj-ea"/>
                <a:ea typeface="+mj-ea"/>
              </a:rPr>
              <a:t>层次结构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5.2 </a:t>
            </a:r>
            <a:r>
              <a:rPr lang="zh-CN" altLang="en-US" sz="2400" dirty="0">
                <a:latin typeface="+mj-ea"/>
              </a:rPr>
              <a:t>程序的装入和</a:t>
            </a:r>
            <a:r>
              <a:rPr lang="zh-CN" altLang="en-US" sz="2400" dirty="0" smtClean="0">
                <a:latin typeface="+mj-ea"/>
              </a:rPr>
              <a:t>链接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5.3 </a:t>
            </a:r>
            <a:r>
              <a:rPr lang="zh-CN" altLang="en-US" sz="2400" dirty="0">
                <a:latin typeface="+mj-ea"/>
              </a:rPr>
              <a:t>对换与</a:t>
            </a:r>
            <a:r>
              <a:rPr lang="zh-CN" altLang="en-US" sz="2400" dirty="0" smtClean="0">
                <a:latin typeface="+mj-ea"/>
              </a:rPr>
              <a:t>覆盖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5.4 </a:t>
            </a:r>
            <a:r>
              <a:rPr lang="zh-CN" altLang="en-US" sz="2400" dirty="0">
                <a:latin typeface="+mj-ea"/>
              </a:rPr>
              <a:t>连续分配存储管理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5.5 </a:t>
            </a:r>
            <a:r>
              <a:rPr lang="zh-CN" altLang="en-US" sz="2400" dirty="0">
                <a:latin typeface="+mj-ea"/>
              </a:rPr>
              <a:t>分页存储管理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+mj-ea"/>
              </a:rPr>
              <a:t>5.6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分段存储管理</a:t>
            </a:r>
            <a:r>
              <a:rPr lang="zh-CN" altLang="en-US" sz="2400" b="1" dirty="0" smtClean="0">
                <a:solidFill>
                  <a:srgbClr val="0000FF"/>
                </a:solidFill>
                <a:latin typeface="+mj-ea"/>
              </a:rPr>
              <a:t>方式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40217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5.7 </a:t>
            </a:r>
            <a:r>
              <a:rPr lang="zh-CN" altLang="en-US" sz="2400" dirty="0">
                <a:latin typeface="+mj-ea"/>
              </a:rPr>
              <a:t>基于</a:t>
            </a:r>
            <a:r>
              <a:rPr lang="en-US" altLang="zh-CN" sz="2400" dirty="0">
                <a:latin typeface="+mj-ea"/>
              </a:rPr>
              <a:t>IA-32/x86-64</a:t>
            </a:r>
            <a:r>
              <a:rPr lang="zh-CN" altLang="en-US" sz="2400" dirty="0">
                <a:latin typeface="+mj-ea"/>
              </a:rPr>
              <a:t>架构</a:t>
            </a:r>
            <a:endParaRPr lang="zh-CN" altLang="en-US" sz="2400" dirty="0">
              <a:latin typeface="+mj-ea"/>
            </a:endParaRPr>
          </a:p>
          <a:p>
            <a:r>
              <a:rPr lang="zh-CN" altLang="en-US" sz="2400" dirty="0">
                <a:latin typeface="+mj-ea"/>
              </a:rPr>
              <a:t>      的内存管理策略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5</a:t>
            </a:r>
            <a:r>
              <a:rPr lang="zh-CN" altLang="en-US" sz="3600" dirty="0">
                <a:solidFill>
                  <a:srgbClr val="000000"/>
                </a:solidFill>
              </a:rPr>
              <a:t>章 </a:t>
            </a:r>
            <a:r>
              <a:rPr lang="zh-CN" altLang="en-US" sz="3600" dirty="0" smtClean="0">
                <a:solidFill>
                  <a:srgbClr val="000000"/>
                </a:solidFill>
              </a:rPr>
              <a:t>   存储器管理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主讲：王红玲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矩形 121858"/>
          <p:cNvSpPr/>
          <p:nvPr/>
        </p:nvSpPr>
        <p:spPr>
          <a:xfrm>
            <a:off x="2057400" y="1595755"/>
            <a:ext cx="4912995" cy="1186815"/>
          </a:xfrm>
          <a:prstGeom prst="rect">
            <a:avLst/>
          </a:prstGeom>
          <a:noFill/>
          <a:ln w="9525">
            <a:noFill/>
          </a:ln>
        </p:spPr>
        <p:txBody>
          <a:bodyPr wrap="none" tIns="101568" bIns="101568" anchor="ctr" anchorCtr="0">
            <a:spAutoFit/>
          </a:bodyPr>
          <a:p>
            <a:r>
              <a:rPr lang="en-US" altLang="zh-CN" sz="32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  </a:t>
            </a:r>
            <a:r>
              <a:rPr lang="zh-CN" altLang="en-US" sz="32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分段存储管理的基本概念</a:t>
            </a:r>
            <a:endParaRPr lang="zh-CN" altLang="en-US" sz="3200" b="1">
              <a:solidFill>
                <a:srgbClr val="000000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pPr eaLnBrk="0" hangingPunct="0"/>
            <a:endParaRPr lang="zh-CN" altLang="en-US" sz="3200" b="1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5059" name="图片 121859" descr="B5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0" y="3352800"/>
            <a:ext cx="7772400" cy="3200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60" name="矩形 121860"/>
          <p:cNvSpPr/>
          <p:nvPr/>
        </p:nvSpPr>
        <p:spPr>
          <a:xfrm>
            <a:off x="2286000" y="2206308"/>
            <a:ext cx="5943600" cy="95313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just"/>
            <a:r>
              <a:rPr lang="en-US" altLang="zh-CN" sz="28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．</a:t>
            </a:r>
            <a:r>
              <a:rPr lang="zh-CN" altLang="en-US" sz="2800" b="1">
                <a:solidFill>
                  <a:srgbClr val="0066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分段</a:t>
            </a:r>
            <a:endParaRPr lang="zh-CN" altLang="en-US" sz="2800" b="1">
              <a:solidFill>
                <a:srgbClr val="006600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2800" b="1">
                <a:solidFill>
                  <a:srgbClr val="000000"/>
                </a:solidFill>
                <a:latin typeface="Tahoma" panose="020B0604030504040204" pitchFamily="2" charset="0"/>
                <a:ea typeface="宋体" panose="02010600030101010101" pitchFamily="2" charset="-122"/>
              </a:rPr>
              <a:t>每段都有自己的名字和长度。</a:t>
            </a:r>
            <a:endParaRPr lang="zh-CN" altLang="en-US" sz="2800" b="1">
              <a:solidFill>
                <a:srgbClr val="000000"/>
              </a:solidFill>
              <a:latin typeface="Tahoma" panose="020B060403050404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利用段表实现地址映射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105"/>
          <p:cNvGraphicFramePr>
            <a:graphicFrameLocks noGrp="1"/>
          </p:cNvGraphicFramePr>
          <p:nvPr/>
        </p:nvGraphicFramePr>
        <p:xfrm>
          <a:off x="1183985" y="1073985"/>
          <a:ext cx="2148625" cy="1953408"/>
        </p:xfrm>
        <a:graphic>
          <a:graphicData uri="http://schemas.openxmlformats.org/drawingml/2006/table">
            <a:tbl>
              <a:tblPr/>
              <a:tblGrid>
                <a:gridCol w="678608"/>
                <a:gridCol w="1470017"/>
              </a:tblGrid>
              <a:tr h="69584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6" marB="4605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作业空间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(MAIN)=0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6" marB="4605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53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6" marB="4605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6" marB="4605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653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6" marB="4605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  <a:tr h="36653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6" marB="4605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graphicFrame>
        <p:nvGraphicFramePr>
          <p:cNvPr id="32" name="Group 107"/>
          <p:cNvGraphicFramePr>
            <a:graphicFrameLocks noGrp="1"/>
          </p:cNvGraphicFramePr>
          <p:nvPr/>
        </p:nvGraphicFramePr>
        <p:xfrm>
          <a:off x="1146220" y="3012762"/>
          <a:ext cx="2238777" cy="1190076"/>
        </p:xfrm>
        <a:graphic>
          <a:graphicData uri="http://schemas.openxmlformats.org/drawingml/2006/table">
            <a:tbl>
              <a:tblPr/>
              <a:tblGrid>
                <a:gridCol w="707081"/>
                <a:gridCol w="1531696"/>
              </a:tblGrid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(X)=1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graphicFrame>
        <p:nvGraphicFramePr>
          <p:cNvPr id="34" name="Group 140"/>
          <p:cNvGraphicFramePr>
            <a:graphicFrameLocks noGrp="1"/>
          </p:cNvGraphicFramePr>
          <p:nvPr/>
        </p:nvGraphicFramePr>
        <p:xfrm>
          <a:off x="1236372" y="4181162"/>
          <a:ext cx="2161325" cy="1190076"/>
        </p:xfrm>
        <a:graphic>
          <a:graphicData uri="http://schemas.openxmlformats.org/drawingml/2006/table">
            <a:tbl>
              <a:tblPr/>
              <a:tblGrid>
                <a:gridCol w="682619"/>
                <a:gridCol w="1478706"/>
              </a:tblGrid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(D)=2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graphicFrame>
        <p:nvGraphicFramePr>
          <p:cNvPr id="36" name="Group 124"/>
          <p:cNvGraphicFramePr>
            <a:graphicFrameLocks noGrp="1"/>
          </p:cNvGraphicFramePr>
          <p:nvPr/>
        </p:nvGraphicFramePr>
        <p:xfrm>
          <a:off x="1236372" y="5387662"/>
          <a:ext cx="2148625" cy="1190076"/>
        </p:xfrm>
        <a:graphic>
          <a:graphicData uri="http://schemas.openxmlformats.org/drawingml/2006/table">
            <a:tbl>
              <a:tblPr/>
              <a:tblGrid>
                <a:gridCol w="678608"/>
                <a:gridCol w="1470017"/>
              </a:tblGrid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(S)=3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661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5946" marB="45946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graphicFrame>
        <p:nvGraphicFramePr>
          <p:cNvPr id="38" name="Group 417"/>
          <p:cNvGraphicFramePr>
            <a:graphicFrameLocks noGrp="1"/>
          </p:cNvGraphicFramePr>
          <p:nvPr/>
        </p:nvGraphicFramePr>
        <p:xfrm>
          <a:off x="4680397" y="2415862"/>
          <a:ext cx="2157413" cy="299085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696913"/>
                <a:gridCol w="696912"/>
                <a:gridCol w="763588"/>
              </a:tblGrid>
              <a:tr h="396875">
                <a:tc gridSpan="3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段表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cPr/>
                </a:tc>
                <a:tc hMerge="1">
                  <a:tcPr/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段号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u="none" strike="noStrike" cap="none" normalizeH="0" baseline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段长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基址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80K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120K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150K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Group 392"/>
          <p:cNvGraphicFramePr>
            <a:graphicFrameLocks noGrp="1"/>
          </p:cNvGraphicFramePr>
          <p:nvPr/>
        </p:nvGraphicFramePr>
        <p:xfrm>
          <a:off x="8305263" y="728084"/>
          <a:ext cx="2503868" cy="5891609"/>
        </p:xfrm>
        <a:graphic>
          <a:graphicData uri="http://schemas.openxmlformats.org/drawingml/2006/table">
            <a:tbl>
              <a:tblPr/>
              <a:tblGrid>
                <a:gridCol w="1594129"/>
                <a:gridCol w="909739"/>
              </a:tblGrid>
              <a:tr h="33591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内存空间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7" marB="46037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914">
                <a:tc rowSpan="2"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wdUpDiag">
                      <a:fgClr>
                        <a:schemeClr val="accent1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1919">
                <a:tc vMerge="1">
                  <a:tcPr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058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(MAIN)=0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30K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4OK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2075" marR="92075" marT="46037" marB="460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370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wdUpDiag">
                      <a:fgClr>
                        <a:schemeClr val="accent1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80K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547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(X)=1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20K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337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wdUpDiag">
                      <a:fgClr>
                        <a:schemeClr val="accent1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120K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8522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(D)=2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15K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541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wdUpDiag">
                      <a:fgClr>
                        <a:schemeClr val="accent1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150K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8522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(S)=3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10K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7" marB="460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" name="Line 393"/>
          <p:cNvSpPr>
            <a:spLocks noChangeShapeType="1"/>
          </p:cNvSpPr>
          <p:nvPr/>
        </p:nvSpPr>
        <p:spPr bwMode="auto">
          <a:xfrm>
            <a:off x="3442617" y="2301562"/>
            <a:ext cx="1905000" cy="9144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2" name="Line 394"/>
          <p:cNvSpPr>
            <a:spLocks noChangeShapeType="1"/>
          </p:cNvSpPr>
          <p:nvPr/>
        </p:nvSpPr>
        <p:spPr bwMode="auto">
          <a:xfrm>
            <a:off x="3384997" y="3635062"/>
            <a:ext cx="19812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4" name="Line 395"/>
          <p:cNvSpPr>
            <a:spLocks noChangeShapeType="1"/>
          </p:cNvSpPr>
          <p:nvPr/>
        </p:nvSpPr>
        <p:spPr bwMode="auto">
          <a:xfrm flipV="1">
            <a:off x="3384997" y="4016062"/>
            <a:ext cx="2057400" cy="8382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5" name="Line 396"/>
          <p:cNvSpPr>
            <a:spLocks noChangeShapeType="1"/>
          </p:cNvSpPr>
          <p:nvPr/>
        </p:nvSpPr>
        <p:spPr bwMode="auto">
          <a:xfrm flipV="1">
            <a:off x="3384997" y="4473262"/>
            <a:ext cx="1981200" cy="152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6" name="Line 397"/>
          <p:cNvSpPr>
            <a:spLocks noChangeShapeType="1"/>
          </p:cNvSpPr>
          <p:nvPr/>
        </p:nvSpPr>
        <p:spPr bwMode="auto">
          <a:xfrm flipV="1">
            <a:off x="6813997" y="1958662"/>
            <a:ext cx="1295400" cy="1447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7" name="Line 398"/>
          <p:cNvSpPr>
            <a:spLocks noChangeShapeType="1"/>
          </p:cNvSpPr>
          <p:nvPr/>
        </p:nvSpPr>
        <p:spPr bwMode="auto">
          <a:xfrm flipV="1">
            <a:off x="6813997" y="3406462"/>
            <a:ext cx="13716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8" name="Line 399"/>
          <p:cNvSpPr>
            <a:spLocks noChangeShapeType="1"/>
          </p:cNvSpPr>
          <p:nvPr/>
        </p:nvSpPr>
        <p:spPr bwMode="auto">
          <a:xfrm>
            <a:off x="6813997" y="4168462"/>
            <a:ext cx="13716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9" name="Line 400"/>
          <p:cNvSpPr>
            <a:spLocks noChangeShapeType="1"/>
          </p:cNvSpPr>
          <p:nvPr/>
        </p:nvSpPr>
        <p:spPr bwMode="auto">
          <a:xfrm>
            <a:off x="6813997" y="4625662"/>
            <a:ext cx="137160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分段的基本原理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i$lîďê"/>
          <p:cNvSpPr/>
          <p:nvPr/>
        </p:nvSpPr>
        <p:spPr>
          <a:xfrm>
            <a:off x="1583538" y="2474089"/>
            <a:ext cx="9865780" cy="8100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每个段都有自己的名字，通常用一个段号来代替段名，每个段都从</a:t>
            </a:r>
            <a:r>
              <a:rPr lang="en-US" altLang="zh-CN" sz="2400" dirty="0"/>
              <a:t>0</a:t>
            </a:r>
            <a:r>
              <a:rPr lang="zh-CN" altLang="en-US" sz="2400" dirty="0"/>
              <a:t>开始编址，并存储在一段连续的地址空间内</a:t>
            </a:r>
            <a:endParaRPr lang="zh-CN" altLang="en-US" sz="2400" dirty="0"/>
          </a:p>
        </p:txBody>
      </p:sp>
      <p:sp>
        <p:nvSpPr>
          <p:cNvPr id="24" name="ïṧḷïḋè"/>
          <p:cNvSpPr/>
          <p:nvPr/>
        </p:nvSpPr>
        <p:spPr>
          <a:xfrm>
            <a:off x="1583540" y="3625032"/>
            <a:ext cx="9865778" cy="41510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r>
              <a:rPr lang="zh-CN" altLang="en-US" sz="2400" dirty="0"/>
              <a:t>段的长度由相应的逻辑信息组的长度决定，因此各段长度不等。</a:t>
            </a:r>
            <a:endParaRPr lang="zh-CN" altLang="en-US" sz="2400" dirty="0"/>
          </a:p>
        </p:txBody>
      </p:sp>
      <p:sp>
        <p:nvSpPr>
          <p:cNvPr id="26" name="íšḻíḑê"/>
          <p:cNvSpPr/>
          <p:nvPr/>
        </p:nvSpPr>
        <p:spPr>
          <a:xfrm>
            <a:off x="1583537" y="1497689"/>
            <a:ext cx="9865781" cy="67944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>
              <a:lnSpc>
                <a:spcPct val="123000"/>
              </a:lnSpc>
            </a:pP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在分段存储管理方式中，作业的地址空间被划分为若干个段，每个段定义了一组逻辑信息。</a:t>
            </a:r>
            <a:endParaRPr lang="zh-CN" altLang="en-US" sz="240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sp>
        <p:nvSpPr>
          <p:cNvPr id="27" name="îSļiḓè"/>
          <p:cNvSpPr/>
          <p:nvPr/>
        </p:nvSpPr>
        <p:spPr>
          <a:xfrm>
            <a:off x="900036" y="1386630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8" name="íṥḻîḓe"/>
          <p:cNvSpPr/>
          <p:nvPr/>
        </p:nvSpPr>
        <p:spPr>
          <a:xfrm>
            <a:off x="900036" y="3516672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29" name="îşļiḓè"/>
          <p:cNvSpPr/>
          <p:nvPr/>
        </p:nvSpPr>
        <p:spPr>
          <a:xfrm>
            <a:off x="900036" y="2528111"/>
            <a:ext cx="627867" cy="627867"/>
          </a:xfrm>
          <a:prstGeom prst="ellipse">
            <a:avLst/>
          </a:prstGeom>
          <a:solidFill>
            <a:srgbClr val="00005C"/>
          </a:solidFill>
          <a:ln>
            <a:solidFill>
              <a:srgbClr val="0000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</a:p>
        </p:txBody>
      </p:sp>
      <p:sp>
        <p:nvSpPr>
          <p:cNvPr id="30" name="îṡḷíďe"/>
          <p:cNvSpPr/>
          <p:nvPr/>
        </p:nvSpPr>
        <p:spPr>
          <a:xfrm>
            <a:off x="1090291" y="1582768"/>
            <a:ext cx="261147" cy="24787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31" name="íSlíḋe"/>
          <p:cNvSpPr/>
          <p:nvPr/>
        </p:nvSpPr>
        <p:spPr>
          <a:xfrm>
            <a:off x="1090290" y="2750128"/>
            <a:ext cx="261148" cy="22880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sp>
        <p:nvSpPr>
          <p:cNvPr id="32" name="ïśḷïḓe"/>
          <p:cNvSpPr/>
          <p:nvPr/>
        </p:nvSpPr>
        <p:spPr>
          <a:xfrm>
            <a:off x="1119229" y="3706132"/>
            <a:ext cx="211585" cy="259306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square" lIns="91440" tIns="45720" rIns="91440" bIns="45720" anchor="ctr">
            <a:normAutofit fontScale="25000" lnSpcReduction="20000"/>
          </a:bodyPr>
          <a:lstStyle/>
          <a:p>
            <a:pPr algn="ctr"/>
          </a:p>
        </p:txBody>
      </p:sp>
      <p:graphicFrame>
        <p:nvGraphicFramePr>
          <p:cNvPr id="14" name="Group 30"/>
          <p:cNvGraphicFramePr>
            <a:graphicFrameLocks noGrp="1"/>
          </p:cNvGraphicFramePr>
          <p:nvPr/>
        </p:nvGraphicFramePr>
        <p:xfrm>
          <a:off x="2075643" y="4606570"/>
          <a:ext cx="7584835" cy="721730"/>
        </p:xfrm>
        <a:graphic>
          <a:graphicData uri="http://schemas.openxmlformats.org/drawingml/2006/table">
            <a:tbl>
              <a:tblPr/>
              <a:tblGrid>
                <a:gridCol w="3687073"/>
                <a:gridCol w="3897762"/>
              </a:tblGrid>
              <a:tr h="71766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3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段号</a:t>
                      </a:r>
                      <a:endParaRPr kumimoji="1" lang="zh-CN" altLang="en-US" sz="3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292" marR="127292" marT="63685" marB="6368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3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段内地址</a:t>
                      </a:r>
                      <a:endParaRPr kumimoji="1" lang="zh-CN" altLang="en-US" sz="3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7292" marR="127292" marT="63685" marB="636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15" name="Text Box 21"/>
          <p:cNvSpPr txBox="1">
            <a:spLocks noChangeArrowheads="1"/>
          </p:cNvSpPr>
          <p:nvPr/>
        </p:nvSpPr>
        <p:spPr bwMode="auto">
          <a:xfrm>
            <a:off x="2075644" y="5399800"/>
            <a:ext cx="108164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800" b="1"/>
              <a:t>31</a:t>
            </a:r>
            <a:endParaRPr lang="en-US" altLang="zh-CN" sz="2800" b="1"/>
          </a:p>
        </p:txBody>
      </p:sp>
      <p:sp>
        <p:nvSpPr>
          <p:cNvPr id="16" name="Text Box 23"/>
          <p:cNvSpPr txBox="1">
            <a:spLocks noChangeArrowheads="1"/>
          </p:cNvSpPr>
          <p:nvPr/>
        </p:nvSpPr>
        <p:spPr bwMode="auto">
          <a:xfrm>
            <a:off x="5188039" y="5399800"/>
            <a:ext cx="108164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800" b="1"/>
              <a:t>16</a:t>
            </a:r>
            <a:endParaRPr lang="en-US" altLang="zh-CN" sz="2800" b="1"/>
          </a:p>
        </p:txBody>
      </p:sp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5721439" y="5399800"/>
            <a:ext cx="1081640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800" b="1"/>
              <a:t>15</a:t>
            </a:r>
            <a:endParaRPr lang="en-US" altLang="zh-CN" sz="2800" b="1"/>
          </a:p>
        </p:txBody>
      </p:sp>
      <p:sp>
        <p:nvSpPr>
          <p:cNvPr id="18" name="Text Box 25"/>
          <p:cNvSpPr txBox="1">
            <a:spLocks noChangeArrowheads="1"/>
          </p:cNvSpPr>
          <p:nvPr/>
        </p:nvSpPr>
        <p:spPr bwMode="auto">
          <a:xfrm>
            <a:off x="9216343" y="5399180"/>
            <a:ext cx="444135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800" b="1" dirty="0"/>
              <a:t>0</a:t>
            </a:r>
            <a:endParaRPr lang="en-US" altLang="zh-CN" sz="2800" b="1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段表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69924" y="1128133"/>
            <a:ext cx="10689242" cy="5860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lnSpc>
                <a:spcPct val="123000"/>
              </a:lnSpc>
            </a:pPr>
            <a:r>
              <a:rPr lang="zh-CN" altLang="en-US" sz="2400" dirty="0"/>
              <a:t>在分段式存储管理系统中，为每个分段分配一个连续的分区。进程中的各个段可以</a:t>
            </a:r>
            <a:r>
              <a:rPr lang="zh-CN" altLang="en-US" sz="2400" dirty="0">
                <a:solidFill>
                  <a:srgbClr val="FF0000"/>
                </a:solidFill>
              </a:rPr>
              <a:t>离散</a:t>
            </a:r>
            <a:r>
              <a:rPr lang="zh-CN" altLang="en-US" sz="2400" dirty="0"/>
              <a:t>地装入内存中不同的分区中。</a:t>
            </a:r>
            <a:endParaRPr lang="zh-CN" altLang="en-US" sz="2400" dirty="0"/>
          </a:p>
        </p:txBody>
      </p:sp>
      <p:sp>
        <p:nvSpPr>
          <p:cNvPr id="31" name="íSľïdé"/>
          <p:cNvSpPr/>
          <p:nvPr/>
        </p:nvSpPr>
        <p:spPr>
          <a:xfrm>
            <a:off x="1955813" y="2594530"/>
            <a:ext cx="567702" cy="511936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/>
          </a:p>
        </p:txBody>
      </p:sp>
      <p:sp>
        <p:nvSpPr>
          <p:cNvPr id="32" name="ïŝļíḓê"/>
          <p:cNvSpPr/>
          <p:nvPr/>
        </p:nvSpPr>
        <p:spPr bwMode="auto">
          <a:xfrm>
            <a:off x="8738178" y="3226378"/>
            <a:ext cx="556774" cy="553604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/>
          <a:p>
            <a:endParaRPr lang="zh-CN" altLang="en-US"/>
          </a:p>
        </p:txBody>
      </p:sp>
      <p:sp>
        <p:nvSpPr>
          <p:cNvPr id="34" name="îṧľîdé"/>
          <p:cNvSpPr/>
          <p:nvPr/>
        </p:nvSpPr>
        <p:spPr>
          <a:xfrm>
            <a:off x="3661266" y="2584309"/>
            <a:ext cx="4034934" cy="1002147"/>
          </a:xfrm>
          <a:prstGeom prst="leftRightRibbon">
            <a:avLst>
              <a:gd name="adj1" fmla="val 50000"/>
              <a:gd name="adj2" fmla="val 50000"/>
              <a:gd name="adj3" fmla="val 3333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6" name="内容占位符 2"/>
          <p:cNvSpPr txBox="1"/>
          <p:nvPr/>
        </p:nvSpPr>
        <p:spPr>
          <a:xfrm>
            <a:off x="938210" y="3226378"/>
            <a:ext cx="4308362" cy="30842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7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zh-CN" altLang="en-US" sz="2200" dirty="0"/>
              <a:t>类似于分页系统，在系统中为每个进程建立一张段映射表（</a:t>
            </a:r>
            <a:r>
              <a:rPr lang="zh-CN" altLang="en-US" sz="2200" dirty="0">
                <a:solidFill>
                  <a:srgbClr val="FF0000"/>
                </a:solidFill>
              </a:rPr>
              <a:t>段表</a:t>
            </a:r>
            <a:r>
              <a:rPr lang="zh-CN" altLang="en-US" sz="2200" dirty="0"/>
              <a:t>），用于实现从逻辑段到物理内存区的映射。</a:t>
            </a:r>
            <a:endParaRPr lang="zh-CN" altLang="en-US" sz="2200" dirty="0"/>
          </a:p>
          <a:p>
            <a:pPr>
              <a:lnSpc>
                <a:spcPct val="117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200" dirty="0"/>
              <a:t>每个段在表中占有一个表项，记录了该段在内存中的</a:t>
            </a:r>
            <a:r>
              <a:rPr lang="zh-CN" altLang="en-US" sz="2200" dirty="0">
                <a:solidFill>
                  <a:srgbClr val="FF0000"/>
                </a:solidFill>
              </a:rPr>
              <a:t>起始地址（基址）和段的长度</a:t>
            </a:r>
            <a:r>
              <a:rPr lang="zh-CN" altLang="en-US" sz="2200" dirty="0"/>
              <a:t>。</a:t>
            </a:r>
            <a:endParaRPr lang="zh-CN" altLang="en-US" sz="2200" dirty="0"/>
          </a:p>
        </p:txBody>
      </p:sp>
      <p:sp>
        <p:nvSpPr>
          <p:cNvPr id="38" name="内容占位符 2"/>
          <p:cNvSpPr txBox="1"/>
          <p:nvPr/>
        </p:nvSpPr>
        <p:spPr>
          <a:xfrm>
            <a:off x="8178804" y="3878989"/>
            <a:ext cx="3216369" cy="2634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2000"/>
              </a:lnSpc>
              <a:spcBef>
                <a:spcPts val="580"/>
              </a:spcBef>
              <a:buNone/>
              <a:defRPr/>
            </a:pPr>
            <a:r>
              <a:rPr lang="zh-CN" altLang="en-US" sz="2500" dirty="0" smtClean="0"/>
              <a:t>段表</a:t>
            </a:r>
            <a:r>
              <a:rPr lang="zh-CN" altLang="en-US" sz="2500" dirty="0"/>
              <a:t>保存在内存中，由控制寄存器保存其地址。</a:t>
            </a:r>
            <a:endParaRPr lang="zh-CN" altLang="en-US" sz="2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分段系统的地址变换过程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31" name="Group 18"/>
          <p:cNvGraphicFramePr>
            <a:graphicFrameLocks noGrp="1"/>
          </p:cNvGraphicFramePr>
          <p:nvPr/>
        </p:nvGraphicFramePr>
        <p:xfrm>
          <a:off x="1305059" y="1891047"/>
          <a:ext cx="2971800" cy="431800"/>
        </p:xfrm>
        <a:graphic>
          <a:graphicData uri="http://schemas.openxmlformats.org/drawingml/2006/table">
            <a:tbl>
              <a:tblPr/>
              <a:tblGrid>
                <a:gridCol w="1409700"/>
                <a:gridCol w="1562100"/>
              </a:tblGrid>
              <a:tr h="4318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段表始址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段表长度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TL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Text Box 19"/>
          <p:cNvSpPr txBox="1">
            <a:spLocks noChangeArrowheads="1"/>
          </p:cNvSpPr>
          <p:nvPr/>
        </p:nvSpPr>
        <p:spPr bwMode="auto">
          <a:xfrm>
            <a:off x="1990859" y="1357647"/>
            <a:ext cx="16764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+mn-ea"/>
              </a:rPr>
              <a:t>段表寄存器</a:t>
            </a:r>
            <a:endParaRPr lang="zh-CN" altLang="en-US" sz="20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34" name="Oval 20"/>
          <p:cNvSpPr>
            <a:spLocks noChangeArrowheads="1"/>
          </p:cNvSpPr>
          <p:nvPr/>
        </p:nvSpPr>
        <p:spPr bwMode="auto">
          <a:xfrm>
            <a:off x="5038859" y="1891047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&gt;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graphicFrame>
        <p:nvGraphicFramePr>
          <p:cNvPr id="36" name="Group 30"/>
          <p:cNvGraphicFramePr>
            <a:graphicFrameLocks noGrp="1"/>
          </p:cNvGraphicFramePr>
          <p:nvPr/>
        </p:nvGraphicFramePr>
        <p:xfrm>
          <a:off x="7324859" y="1891047"/>
          <a:ext cx="1600200" cy="431800"/>
        </p:xfrm>
        <a:graphic>
          <a:graphicData uri="http://schemas.openxmlformats.org/drawingml/2006/table">
            <a:tbl>
              <a:tblPr/>
              <a:tblGrid>
                <a:gridCol w="593725"/>
                <a:gridCol w="1006475"/>
              </a:tblGrid>
              <a:tr h="431800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" name="Text Box 31"/>
          <p:cNvSpPr txBox="1">
            <a:spLocks noChangeArrowheads="1"/>
          </p:cNvSpPr>
          <p:nvPr/>
        </p:nvSpPr>
        <p:spPr bwMode="auto">
          <a:xfrm>
            <a:off x="8925059" y="1891047"/>
            <a:ext cx="1219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有效地址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39" name="Line 32"/>
          <p:cNvSpPr>
            <a:spLocks noChangeShapeType="1"/>
          </p:cNvSpPr>
          <p:nvPr/>
        </p:nvSpPr>
        <p:spPr bwMode="auto">
          <a:xfrm>
            <a:off x="5496059" y="2119647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0" name="Line 33"/>
          <p:cNvSpPr>
            <a:spLocks noChangeShapeType="1"/>
          </p:cNvSpPr>
          <p:nvPr/>
        </p:nvSpPr>
        <p:spPr bwMode="auto">
          <a:xfrm>
            <a:off x="4276859" y="2119647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graphicFrame>
        <p:nvGraphicFramePr>
          <p:cNvPr id="42" name="Group 66"/>
          <p:cNvGraphicFramePr>
            <a:graphicFrameLocks noGrp="1"/>
          </p:cNvGraphicFramePr>
          <p:nvPr/>
        </p:nvGraphicFramePr>
        <p:xfrm>
          <a:off x="4581659" y="3502515"/>
          <a:ext cx="1447800" cy="1587504"/>
        </p:xfrm>
        <a:graphic>
          <a:graphicData uri="http://schemas.openxmlformats.org/drawingml/2006/table">
            <a:tbl>
              <a:tblPr/>
              <a:tblGrid>
                <a:gridCol w="723900"/>
                <a:gridCol w="723900"/>
              </a:tblGrid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8K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9200</a:t>
                      </a:r>
                      <a:endParaRPr kumimoji="1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4" name="Text Box 67"/>
          <p:cNvSpPr txBox="1">
            <a:spLocks noChangeArrowheads="1"/>
          </p:cNvSpPr>
          <p:nvPr/>
        </p:nvSpPr>
        <p:spPr bwMode="auto">
          <a:xfrm>
            <a:off x="4200659" y="4721715"/>
            <a:ext cx="381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/>
              <a:t>3</a:t>
            </a:r>
            <a:endParaRPr lang="en-US" altLang="zh-CN" sz="2000"/>
          </a:p>
        </p:txBody>
      </p:sp>
      <p:sp>
        <p:nvSpPr>
          <p:cNvPr id="45" name="Text Box 68"/>
          <p:cNvSpPr txBox="1">
            <a:spLocks noChangeArrowheads="1"/>
          </p:cNvSpPr>
          <p:nvPr/>
        </p:nvSpPr>
        <p:spPr bwMode="auto">
          <a:xfrm>
            <a:off x="4200659" y="4340715"/>
            <a:ext cx="381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/>
              <a:t>2</a:t>
            </a:r>
            <a:endParaRPr lang="en-US" altLang="zh-CN" sz="2000"/>
          </a:p>
        </p:txBody>
      </p:sp>
      <p:sp>
        <p:nvSpPr>
          <p:cNvPr id="46" name="Text Box 69"/>
          <p:cNvSpPr txBox="1">
            <a:spLocks noChangeArrowheads="1"/>
          </p:cNvSpPr>
          <p:nvPr/>
        </p:nvSpPr>
        <p:spPr bwMode="auto">
          <a:xfrm>
            <a:off x="4200659" y="3883515"/>
            <a:ext cx="381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/>
              <a:t>1</a:t>
            </a:r>
            <a:endParaRPr lang="en-US" altLang="zh-CN" sz="2000"/>
          </a:p>
        </p:txBody>
      </p:sp>
      <p:sp>
        <p:nvSpPr>
          <p:cNvPr id="47" name="Text Box 70"/>
          <p:cNvSpPr txBox="1">
            <a:spLocks noChangeArrowheads="1"/>
          </p:cNvSpPr>
          <p:nvPr/>
        </p:nvSpPr>
        <p:spPr bwMode="auto">
          <a:xfrm>
            <a:off x="4200659" y="3502515"/>
            <a:ext cx="381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/>
              <a:t>0</a:t>
            </a:r>
            <a:endParaRPr lang="en-US" altLang="zh-CN" sz="2000"/>
          </a:p>
        </p:txBody>
      </p:sp>
      <p:sp>
        <p:nvSpPr>
          <p:cNvPr id="48" name="Line 71"/>
          <p:cNvSpPr>
            <a:spLocks noChangeShapeType="1"/>
          </p:cNvSpPr>
          <p:nvPr/>
        </p:nvSpPr>
        <p:spPr bwMode="auto">
          <a:xfrm>
            <a:off x="4124459" y="350251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49" name="Line 72"/>
          <p:cNvSpPr>
            <a:spLocks noChangeShapeType="1"/>
          </p:cNvSpPr>
          <p:nvPr/>
        </p:nvSpPr>
        <p:spPr bwMode="auto">
          <a:xfrm>
            <a:off x="4581659" y="327391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0" name="Text Box 73"/>
          <p:cNvSpPr txBox="1">
            <a:spLocks noChangeArrowheads="1"/>
          </p:cNvSpPr>
          <p:nvPr/>
        </p:nvSpPr>
        <p:spPr bwMode="auto">
          <a:xfrm>
            <a:off x="4530859" y="3045315"/>
            <a:ext cx="736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段长</a:t>
            </a:r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51" name="Text Box 74"/>
          <p:cNvSpPr txBox="1">
            <a:spLocks noChangeArrowheads="1"/>
          </p:cNvSpPr>
          <p:nvPr/>
        </p:nvSpPr>
        <p:spPr bwMode="auto">
          <a:xfrm>
            <a:off x="5267459" y="3032615"/>
            <a:ext cx="762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基址</a:t>
            </a:r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52" name="Text Box 75"/>
          <p:cNvSpPr txBox="1">
            <a:spLocks noChangeArrowheads="1"/>
          </p:cNvSpPr>
          <p:nvPr/>
        </p:nvSpPr>
        <p:spPr bwMode="auto">
          <a:xfrm>
            <a:off x="3883159" y="3045315"/>
            <a:ext cx="736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段号</a:t>
            </a:r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53" name="Text Box 76"/>
          <p:cNvSpPr txBox="1">
            <a:spLocks noChangeArrowheads="1"/>
          </p:cNvSpPr>
          <p:nvPr/>
        </p:nvSpPr>
        <p:spPr bwMode="auto">
          <a:xfrm>
            <a:off x="7677284" y="3519148"/>
            <a:ext cx="1057275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/>
              <a:t>8292</a:t>
            </a:r>
            <a:endParaRPr lang="en-US" altLang="zh-CN" sz="2000"/>
          </a:p>
        </p:txBody>
      </p:sp>
      <p:sp>
        <p:nvSpPr>
          <p:cNvPr id="54" name="Text Box 77"/>
          <p:cNvSpPr txBox="1">
            <a:spLocks noChangeArrowheads="1"/>
          </p:cNvSpPr>
          <p:nvPr/>
        </p:nvSpPr>
        <p:spPr bwMode="auto">
          <a:xfrm>
            <a:off x="8721859" y="3519148"/>
            <a:ext cx="12954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物理地址</a:t>
            </a:r>
            <a:endParaRPr lang="zh-CN" altLang="en-US" sz="2000" dirty="0">
              <a:latin typeface="+mn-ea"/>
              <a:ea typeface="+mn-ea"/>
            </a:endParaRPr>
          </a:p>
        </p:txBody>
      </p:sp>
      <p:sp>
        <p:nvSpPr>
          <p:cNvPr id="55" name="Oval 78"/>
          <p:cNvSpPr>
            <a:spLocks noChangeArrowheads="1"/>
          </p:cNvSpPr>
          <p:nvPr/>
        </p:nvSpPr>
        <p:spPr bwMode="auto">
          <a:xfrm>
            <a:off x="8163059" y="2786128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+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56" name="AutoShape 79"/>
          <p:cNvSpPr/>
          <p:nvPr/>
        </p:nvSpPr>
        <p:spPr bwMode="auto">
          <a:xfrm rot="-5472468">
            <a:off x="8391660" y="1927559"/>
            <a:ext cx="74612" cy="989013"/>
          </a:xfrm>
          <a:prstGeom prst="leftBrace">
            <a:avLst>
              <a:gd name="adj1" fmla="val 110462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7" name="AutoShape 80"/>
          <p:cNvSpPr/>
          <p:nvPr/>
        </p:nvSpPr>
        <p:spPr bwMode="auto">
          <a:xfrm rot="-5472468">
            <a:off x="7589972" y="2132347"/>
            <a:ext cx="76200" cy="609600"/>
          </a:xfrm>
          <a:prstGeom prst="lef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8" name="Line 81"/>
          <p:cNvSpPr>
            <a:spLocks noChangeShapeType="1"/>
          </p:cNvSpPr>
          <p:nvPr/>
        </p:nvSpPr>
        <p:spPr bwMode="auto">
          <a:xfrm>
            <a:off x="8391659" y="2500647"/>
            <a:ext cx="0" cy="28548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59" name="Line 82"/>
          <p:cNvSpPr>
            <a:spLocks noChangeShapeType="1"/>
          </p:cNvSpPr>
          <p:nvPr/>
        </p:nvSpPr>
        <p:spPr bwMode="auto">
          <a:xfrm>
            <a:off x="8391659" y="3243328"/>
            <a:ext cx="0" cy="2591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0" name="AutoShape 83"/>
          <p:cNvSpPr/>
          <p:nvPr/>
        </p:nvSpPr>
        <p:spPr bwMode="auto">
          <a:xfrm rot="-5472468">
            <a:off x="8309903" y="3673929"/>
            <a:ext cx="84138" cy="688975"/>
          </a:xfrm>
          <a:prstGeom prst="leftBrace">
            <a:avLst>
              <a:gd name="adj1" fmla="val 68239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1" name="Oval 84"/>
          <p:cNvSpPr>
            <a:spLocks noChangeArrowheads="1"/>
          </p:cNvSpPr>
          <p:nvPr/>
        </p:nvSpPr>
        <p:spPr bwMode="auto">
          <a:xfrm>
            <a:off x="1990859" y="2653047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</a:pPr>
            <a:r>
              <a:rPr lang="en-US" altLang="zh-CN" b="1" dirty="0">
                <a:solidFill>
                  <a:schemeClr val="bg1"/>
                </a:solidFill>
              </a:rPr>
              <a:t>+</a:t>
            </a:r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62" name="Line 85"/>
          <p:cNvSpPr>
            <a:spLocks noChangeShapeType="1"/>
          </p:cNvSpPr>
          <p:nvPr/>
        </p:nvSpPr>
        <p:spPr bwMode="auto">
          <a:xfrm>
            <a:off x="7629659" y="2500647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3" name="Line 86"/>
          <p:cNvSpPr>
            <a:spLocks noChangeShapeType="1"/>
          </p:cNvSpPr>
          <p:nvPr/>
        </p:nvSpPr>
        <p:spPr bwMode="auto">
          <a:xfrm flipH="1">
            <a:off x="2448059" y="2881647"/>
            <a:ext cx="518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4" name="Line 87"/>
          <p:cNvSpPr>
            <a:spLocks noChangeShapeType="1"/>
          </p:cNvSpPr>
          <p:nvPr/>
        </p:nvSpPr>
        <p:spPr bwMode="auto">
          <a:xfrm flipV="1">
            <a:off x="5267459" y="2348247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5" name="Line 88"/>
          <p:cNvSpPr>
            <a:spLocks noChangeShapeType="1"/>
          </p:cNvSpPr>
          <p:nvPr/>
        </p:nvSpPr>
        <p:spPr bwMode="auto">
          <a:xfrm>
            <a:off x="2219459" y="2348247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6" name="Line 89"/>
          <p:cNvSpPr>
            <a:spLocks noChangeShapeType="1"/>
          </p:cNvSpPr>
          <p:nvPr/>
        </p:nvSpPr>
        <p:spPr bwMode="auto">
          <a:xfrm>
            <a:off x="2219459" y="3007215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7" name="Line 90"/>
          <p:cNvSpPr>
            <a:spLocks noChangeShapeType="1"/>
          </p:cNvSpPr>
          <p:nvPr/>
        </p:nvSpPr>
        <p:spPr bwMode="auto">
          <a:xfrm>
            <a:off x="2219459" y="4302615"/>
            <a:ext cx="2362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8" name="Line 91"/>
          <p:cNvSpPr>
            <a:spLocks noChangeShapeType="1"/>
          </p:cNvSpPr>
          <p:nvPr/>
        </p:nvSpPr>
        <p:spPr bwMode="auto">
          <a:xfrm>
            <a:off x="6029459" y="4424428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69" name="Line 92"/>
          <p:cNvSpPr>
            <a:spLocks noChangeShapeType="1"/>
          </p:cNvSpPr>
          <p:nvPr/>
        </p:nvSpPr>
        <p:spPr bwMode="auto">
          <a:xfrm flipV="1">
            <a:off x="7172459" y="3014728"/>
            <a:ext cx="0" cy="1409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0" name="Line 93"/>
          <p:cNvSpPr>
            <a:spLocks noChangeShapeType="1"/>
          </p:cNvSpPr>
          <p:nvPr/>
        </p:nvSpPr>
        <p:spPr bwMode="auto">
          <a:xfrm>
            <a:off x="7172459" y="3014728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1" name="Text Box 94"/>
          <p:cNvSpPr txBox="1">
            <a:spLocks noChangeArrowheads="1"/>
          </p:cNvSpPr>
          <p:nvPr/>
        </p:nvSpPr>
        <p:spPr bwMode="auto">
          <a:xfrm>
            <a:off x="6029459" y="1891047"/>
            <a:ext cx="762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越界</a:t>
            </a:r>
            <a:endParaRPr lang="zh-CN" altLang="en-US" sz="2000">
              <a:latin typeface="+mn-ea"/>
              <a:ea typeface="+mn-ea"/>
            </a:endParaRPr>
          </a:p>
        </p:txBody>
      </p:sp>
      <p:sp>
        <p:nvSpPr>
          <p:cNvPr id="72" name="Text Box 95"/>
          <p:cNvSpPr txBox="1">
            <a:spLocks noChangeArrowheads="1"/>
          </p:cNvSpPr>
          <p:nvPr/>
        </p:nvSpPr>
        <p:spPr bwMode="auto">
          <a:xfrm>
            <a:off x="8010659" y="1395210"/>
            <a:ext cx="1371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+mn-ea"/>
                <a:ea typeface="+mn-ea"/>
              </a:rPr>
              <a:t>段内地址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</a:rPr>
              <a:t>d</a:t>
            </a:r>
            <a:endParaRPr lang="en-US" altLang="zh-CN" sz="20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73" name="Text Box 96"/>
          <p:cNvSpPr txBox="1">
            <a:spLocks noChangeArrowheads="1"/>
          </p:cNvSpPr>
          <p:nvPr/>
        </p:nvSpPr>
        <p:spPr bwMode="auto">
          <a:xfrm>
            <a:off x="7096259" y="1421147"/>
            <a:ext cx="9144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>
                <a:latin typeface="+mn-ea"/>
                <a:ea typeface="+mn-ea"/>
              </a:rPr>
              <a:t>段号</a:t>
            </a:r>
            <a:r>
              <a:rPr lang="en-US" altLang="zh-CN" sz="2000">
                <a:latin typeface="+mn-ea"/>
                <a:ea typeface="+mn-ea"/>
              </a:rPr>
              <a:t>S</a:t>
            </a:r>
            <a:endParaRPr lang="en-US" altLang="zh-CN" sz="2000">
              <a:latin typeface="+mn-ea"/>
              <a:ea typeface="+mn-ea"/>
            </a:endParaRPr>
          </a:p>
        </p:txBody>
      </p:sp>
      <p:graphicFrame>
        <p:nvGraphicFramePr>
          <p:cNvPr id="74" name="Group 139"/>
          <p:cNvGraphicFramePr>
            <a:graphicFrameLocks noGrp="1"/>
          </p:cNvGraphicFramePr>
          <p:nvPr/>
        </p:nvGraphicFramePr>
        <p:xfrm>
          <a:off x="8366259" y="4466208"/>
          <a:ext cx="914400" cy="1527180"/>
        </p:xfrm>
        <a:graphic>
          <a:graphicData uri="http://schemas.openxmlformats.org/drawingml/2006/table">
            <a:tbl>
              <a:tblPr/>
              <a:tblGrid>
                <a:gridCol w="914400"/>
              </a:tblGrid>
              <a:tr h="30543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543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543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543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543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38" marB="460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" name="Line 141"/>
          <p:cNvSpPr>
            <a:spLocks noChangeShapeType="1"/>
          </p:cNvSpPr>
          <p:nvPr/>
        </p:nvSpPr>
        <p:spPr bwMode="auto">
          <a:xfrm>
            <a:off x="8366259" y="4096419"/>
            <a:ext cx="0" cy="158971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6" name="Line 142"/>
          <p:cNvSpPr>
            <a:spLocks noChangeShapeType="1"/>
          </p:cNvSpPr>
          <p:nvPr/>
        </p:nvSpPr>
        <p:spPr bwMode="auto">
          <a:xfrm flipH="1">
            <a:off x="7696199" y="4242511"/>
            <a:ext cx="695459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7" name="Line 143"/>
          <p:cNvSpPr>
            <a:spLocks noChangeShapeType="1"/>
          </p:cNvSpPr>
          <p:nvPr/>
        </p:nvSpPr>
        <p:spPr bwMode="auto">
          <a:xfrm>
            <a:off x="7705859" y="4255391"/>
            <a:ext cx="0" cy="82041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8" name="Line 144"/>
          <p:cNvSpPr>
            <a:spLocks noChangeShapeType="1"/>
          </p:cNvSpPr>
          <p:nvPr/>
        </p:nvSpPr>
        <p:spPr bwMode="auto">
          <a:xfrm>
            <a:off x="7705859" y="5075808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zh-CN" altLang="en-US"/>
          </a:p>
        </p:txBody>
      </p:sp>
      <p:sp>
        <p:nvSpPr>
          <p:cNvPr id="79" name="Text Box 145"/>
          <p:cNvSpPr txBox="1">
            <a:spLocks noChangeArrowheads="1"/>
          </p:cNvSpPr>
          <p:nvPr/>
        </p:nvSpPr>
        <p:spPr bwMode="auto">
          <a:xfrm>
            <a:off x="7858259" y="4707508"/>
            <a:ext cx="5334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/>
              <a:t>8K</a:t>
            </a:r>
            <a:endParaRPr lang="en-US" altLang="zh-CN" sz="2000"/>
          </a:p>
        </p:txBody>
      </p:sp>
      <p:sp>
        <p:nvSpPr>
          <p:cNvPr id="80" name="Text Box 146"/>
          <p:cNvSpPr txBox="1">
            <a:spLocks noChangeArrowheads="1"/>
          </p:cNvSpPr>
          <p:nvPr/>
        </p:nvSpPr>
        <p:spPr bwMode="auto">
          <a:xfrm>
            <a:off x="7591559" y="5152008"/>
            <a:ext cx="838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 dirty="0"/>
              <a:t>8292</a:t>
            </a:r>
            <a:endParaRPr lang="en-US" altLang="zh-CN" sz="2000" dirty="0"/>
          </a:p>
        </p:txBody>
      </p:sp>
      <p:sp>
        <p:nvSpPr>
          <p:cNvPr id="81" name="Text Box 147"/>
          <p:cNvSpPr txBox="1">
            <a:spLocks noChangeArrowheads="1"/>
          </p:cNvSpPr>
          <p:nvPr/>
        </p:nvSpPr>
        <p:spPr bwMode="auto">
          <a:xfrm>
            <a:off x="7591559" y="5482208"/>
            <a:ext cx="8382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000" dirty="0"/>
              <a:t>8692</a:t>
            </a:r>
            <a:endParaRPr lang="en-US" altLang="zh-CN" sz="2000" dirty="0"/>
          </a:p>
        </p:txBody>
      </p:sp>
      <p:sp>
        <p:nvSpPr>
          <p:cNvPr id="82" name="Text Box 148"/>
          <p:cNvSpPr txBox="1">
            <a:spLocks noChangeArrowheads="1"/>
          </p:cNvSpPr>
          <p:nvPr/>
        </p:nvSpPr>
        <p:spPr bwMode="auto">
          <a:xfrm>
            <a:off x="8467859" y="5999827"/>
            <a:ext cx="762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000" b="1" dirty="0">
                <a:latin typeface="+mn-ea"/>
                <a:ea typeface="+mn-ea"/>
              </a:rPr>
              <a:t>主存</a:t>
            </a:r>
            <a:endParaRPr lang="zh-CN" altLang="en-US" sz="2000" b="1" dirty="0">
              <a:latin typeface="+mn-ea"/>
              <a:ea typeface="+mn-ea"/>
            </a:endParaRPr>
          </a:p>
        </p:txBody>
      </p:sp>
      <p:sp>
        <p:nvSpPr>
          <p:cNvPr id="83" name="AutoShape 149"/>
          <p:cNvSpPr>
            <a:spLocks noChangeArrowheads="1"/>
          </p:cNvSpPr>
          <p:nvPr/>
        </p:nvSpPr>
        <p:spPr bwMode="auto">
          <a:xfrm>
            <a:off x="5267459" y="1052847"/>
            <a:ext cx="1447800" cy="457200"/>
          </a:xfrm>
          <a:prstGeom prst="wedgeEllipseCallout">
            <a:avLst>
              <a:gd name="adj1" fmla="val -43750"/>
              <a:gd name="adj2" fmla="val 1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lIns="92075" tIns="46038" rIns="92075" bIns="46038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Monotype Sorts" pitchFamily="2" charset="2"/>
              <a:buNone/>
              <a:defRPr/>
            </a:pPr>
            <a:r>
              <a:rPr lang="en-US" altLang="zh-CN" sz="2000" dirty="0">
                <a:solidFill>
                  <a:schemeClr val="bg1"/>
                </a:solidFill>
              </a:rPr>
              <a:t>S&gt;TL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分页和分段的主要区别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84" name="Group 7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79678" y="1532577"/>
          <a:ext cx="9985375" cy="422427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784350"/>
                <a:gridCol w="3568065"/>
                <a:gridCol w="4632960"/>
              </a:tblGrid>
              <a:tr h="843994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分页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分段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8436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信息单位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页（物理单位）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段（逻辑单位）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</a:tr>
              <a:tr h="84947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信息完整性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离散分配（不易共享）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意义相对完整（有利共享）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</a:tr>
              <a:tr h="8436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大小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固定，由系统决定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不固定，由程序员决定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</a:tr>
              <a:tr h="84360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地址空间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一维（编译后逻辑地址）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二维（编译后段号、段内地址）</a:t>
                      </a:r>
                      <a:endParaRPr kumimoji="1" lang="zh-CN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2075" marR="92075" marT="46038" marB="46038" anchor="ctr"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信息共享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pSp>
        <p:nvGrpSpPr>
          <p:cNvPr id="31" name="18592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469477"/>
            <a:ext cx="10838960" cy="5218430"/>
            <a:chOff x="660400" y="1580300"/>
            <a:chExt cx="10838960" cy="5218430"/>
          </a:xfrm>
        </p:grpSpPr>
        <p:sp>
          <p:nvSpPr>
            <p:cNvPr id="32" name="íṥḻîḑe"/>
            <p:cNvSpPr/>
            <p:nvPr/>
          </p:nvSpPr>
          <p:spPr>
            <a:xfrm>
              <a:off x="682048" y="1580300"/>
              <a:ext cx="3476055" cy="2567583"/>
            </a:xfrm>
            <a:prstGeom prst="rect">
              <a:avLst/>
            </a:prstGeom>
            <a:blipFill>
              <a:blip r:embed="rId2"/>
              <a:srcRect/>
              <a:stretch>
                <a:fillRect t="-17779" b="-1760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4" name="ïşḻiḍé"/>
            <p:cNvSpPr/>
            <p:nvPr/>
          </p:nvSpPr>
          <p:spPr>
            <a:xfrm>
              <a:off x="660400" y="4244760"/>
              <a:ext cx="3517265" cy="255397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12000"/>
                </a:lnSpc>
              </a:pPr>
              <a:r>
                <a:rPr lang="zh-CN" altLang="en-US" sz="2400" dirty="0">
                  <a:solidFill>
                    <a:schemeClr val="tx1"/>
                  </a:solidFill>
                </a:rPr>
                <a:t>分段的一个突出优点，是易于实现</a:t>
              </a:r>
              <a:r>
                <a:rPr lang="zh-CN" altLang="en-US" sz="2400" dirty="0">
                  <a:solidFill>
                    <a:srgbClr val="FF0000"/>
                  </a:solidFill>
                </a:rPr>
                <a:t>段的共享</a:t>
              </a:r>
              <a:r>
                <a:rPr lang="zh-CN" altLang="en-US" sz="2400" dirty="0">
                  <a:solidFill>
                    <a:schemeClr val="tx1"/>
                  </a:solidFill>
                </a:rPr>
                <a:t>，即允许若干个进程共享一个或多个分段，且对段的保护也十分简单易行。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6" name="îŝļiḋe"/>
            <p:cNvSpPr/>
            <p:nvPr/>
          </p:nvSpPr>
          <p:spPr>
            <a:xfrm>
              <a:off x="4352677" y="1580300"/>
              <a:ext cx="3476055" cy="2567583"/>
            </a:xfrm>
            <a:prstGeom prst="rect">
              <a:avLst/>
            </a:prstGeom>
            <a:blipFill>
              <a:blip r:embed="rId3"/>
              <a:srcRect/>
              <a:stretch>
                <a:fillRect t="-50445" b="-4994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ïšlïḑè"/>
            <p:cNvSpPr/>
            <p:nvPr/>
          </p:nvSpPr>
          <p:spPr>
            <a:xfrm>
              <a:off x="4331029" y="4245058"/>
              <a:ext cx="3517243" cy="167010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12000"/>
                </a:lnSpc>
              </a:pPr>
              <a:r>
                <a:rPr lang="zh-CN" altLang="en-US" sz="2400" dirty="0">
                  <a:solidFill>
                    <a:schemeClr val="tx1"/>
                  </a:solidFill>
                </a:rPr>
                <a:t>在分页系统中，虽然也能实现程序和数据的共享，但远不如分段系统来得方便。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9" name="íŝḻiďé"/>
            <p:cNvSpPr/>
            <p:nvPr/>
          </p:nvSpPr>
          <p:spPr>
            <a:xfrm>
              <a:off x="8023305" y="1580300"/>
              <a:ext cx="3476055" cy="2567583"/>
            </a:xfrm>
            <a:prstGeom prst="rect">
              <a:avLst/>
            </a:prstGeom>
            <a:blipFill>
              <a:blip r:embed="rId4"/>
              <a:srcRect/>
              <a:stretch>
                <a:fillRect l="-5418" r="-537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0" name="í$ḷîḋe"/>
            <p:cNvSpPr/>
            <p:nvPr/>
          </p:nvSpPr>
          <p:spPr>
            <a:xfrm>
              <a:off x="8001635" y="4244760"/>
              <a:ext cx="3497580" cy="1670050"/>
            </a:xfrm>
            <a:prstGeom prst="rect">
              <a:avLst/>
            </a:prstGeom>
            <a:solidFill>
              <a:schemeClr val="bg1"/>
            </a:solidFill>
            <a:ln w="9525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>
                <a:lnSpc>
                  <a:spcPct val="123000"/>
                </a:lnSpc>
              </a:pPr>
              <a:r>
                <a:rPr lang="zh-CN" altLang="en-US" sz="2400" dirty="0">
                  <a:solidFill>
                    <a:srgbClr val="FF0000"/>
                  </a:solidFill>
                </a:rPr>
                <a:t>可重入代码</a:t>
              </a:r>
              <a:r>
                <a:rPr lang="zh-CN" altLang="en-US" sz="2400" dirty="0">
                  <a:solidFill>
                    <a:schemeClr val="tx1"/>
                  </a:solidFill>
                </a:rPr>
                <a:t>（纯代码）：一种允许多个进程同时访问的代码。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740"/>
            <a:ext cx="822896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信息共享：一个共享页的例子（不易凑巧实现）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8" t="848" r="1698" b="850"/>
          <a:stretch>
            <a:fillRect/>
          </a:stretch>
        </p:blipFill>
        <p:spPr bwMode="auto">
          <a:xfrm>
            <a:off x="2770009" y="1044271"/>
            <a:ext cx="6535737" cy="531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信息共享：一个共享段的例子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796" y="1333983"/>
            <a:ext cx="11297285" cy="4278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段页式存储管理方式（先分段，后分页）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  <p:sp>
        <p:nvSpPr>
          <p:cNvPr id="570" name="iṥlídè"/>
          <p:cNvSpPr/>
          <p:nvPr/>
        </p:nvSpPr>
        <p:spPr>
          <a:xfrm>
            <a:off x="6958245" y="1128057"/>
            <a:ext cx="5233755" cy="5008286"/>
          </a:xfrm>
          <a:prstGeom prst="rect">
            <a:avLst/>
          </a:prstGeom>
          <a:blipFill>
            <a:blip r:embed="rId1"/>
            <a:stretch>
              <a:fillRect t="-27413" b="-27272"/>
            </a:stretch>
          </a:blipFill>
          <a:ln w="28575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571" name="iṡļiḓe"/>
          <p:cNvGrpSpPr/>
          <p:nvPr/>
        </p:nvGrpSpPr>
        <p:grpSpPr>
          <a:xfrm>
            <a:off x="660400" y="1298467"/>
            <a:ext cx="5907827" cy="2333733"/>
            <a:chOff x="660400" y="1787149"/>
            <a:chExt cx="5907827" cy="2333733"/>
          </a:xfrm>
        </p:grpSpPr>
        <p:grpSp>
          <p:nvGrpSpPr>
            <p:cNvPr id="1144" name="iSḻíḓè"/>
            <p:cNvGrpSpPr/>
            <p:nvPr/>
          </p:nvGrpSpPr>
          <p:grpSpPr>
            <a:xfrm>
              <a:off x="1296567" y="1835355"/>
              <a:ext cx="5271660" cy="2285527"/>
              <a:chOff x="1296567" y="1835355"/>
              <a:chExt cx="6648884" cy="2285527"/>
            </a:xfrm>
          </p:grpSpPr>
          <p:sp>
            <p:nvSpPr>
              <p:cNvPr id="1148" name="îṧľîḋé"/>
              <p:cNvSpPr txBox="1"/>
              <p:nvPr/>
            </p:nvSpPr>
            <p:spPr>
              <a:xfrm>
                <a:off x="1296567" y="1835355"/>
                <a:ext cx="6293555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/>
                  <a:t>基本原理：</a:t>
                </a:r>
                <a:endParaRPr lang="zh-CN" altLang="en-US" sz="2400" dirty="0"/>
              </a:p>
            </p:txBody>
          </p:sp>
          <p:sp>
            <p:nvSpPr>
              <p:cNvPr id="1149" name="íşļîḓé"/>
              <p:cNvSpPr/>
              <p:nvPr/>
            </p:nvSpPr>
            <p:spPr bwMode="auto">
              <a:xfrm>
                <a:off x="1296567" y="2279077"/>
                <a:ext cx="6648884" cy="18418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32000"/>
                  </a:lnSpc>
                  <a:buClr>
                    <a:schemeClr val="accent4">
                      <a:lumMod val="40000"/>
                      <a:lumOff val="60000"/>
                    </a:schemeClr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分段和分页原理的结合</a:t>
                </a:r>
                <a:r>
                  <a:rPr lang="zh-CN" altLang="en-US" sz="2400" dirty="0"/>
                  <a:t>，即先将用户程序分成若干段，再把每个段分成若干个页，并为每个段赋予一个段名。</a:t>
                </a:r>
                <a:endParaRPr lang="zh-CN" altLang="en-US" sz="2400" dirty="0"/>
              </a:p>
            </p:txBody>
          </p:sp>
        </p:grpSp>
        <p:grpSp>
          <p:nvGrpSpPr>
            <p:cNvPr id="1145" name="ïS1íḋé"/>
            <p:cNvGrpSpPr/>
            <p:nvPr/>
          </p:nvGrpSpPr>
          <p:grpSpPr>
            <a:xfrm>
              <a:off x="660400" y="1787149"/>
              <a:ext cx="497734" cy="497734"/>
              <a:chOff x="660400" y="1787149"/>
              <a:chExt cx="497734" cy="497734"/>
            </a:xfrm>
          </p:grpSpPr>
          <p:sp>
            <p:nvSpPr>
              <p:cNvPr id="1146" name="islîḋe"/>
              <p:cNvSpPr/>
              <p:nvPr/>
            </p:nvSpPr>
            <p:spPr>
              <a:xfrm>
                <a:off x="660400" y="1787149"/>
                <a:ext cx="497734" cy="49773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47" name="îŝlîďe"/>
              <p:cNvSpPr/>
              <p:nvPr/>
            </p:nvSpPr>
            <p:spPr>
              <a:xfrm>
                <a:off x="779848" y="1918584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72" name="iŝļïḓê"/>
          <p:cNvGrpSpPr/>
          <p:nvPr/>
        </p:nvGrpSpPr>
        <p:grpSpPr>
          <a:xfrm>
            <a:off x="660400" y="3994675"/>
            <a:ext cx="6297847" cy="1984429"/>
            <a:chOff x="660400" y="2092935"/>
            <a:chExt cx="6297847" cy="1984429"/>
          </a:xfrm>
        </p:grpSpPr>
        <p:grpSp>
          <p:nvGrpSpPr>
            <p:cNvPr id="574" name="ïṧļïḓe"/>
            <p:cNvGrpSpPr/>
            <p:nvPr/>
          </p:nvGrpSpPr>
          <p:grpSpPr>
            <a:xfrm>
              <a:off x="1296567" y="2092935"/>
              <a:ext cx="5661680" cy="1984429"/>
              <a:chOff x="1296567" y="2092935"/>
              <a:chExt cx="7140794" cy="1984429"/>
            </a:xfrm>
          </p:grpSpPr>
          <p:sp>
            <p:nvSpPr>
              <p:cNvPr id="1142" name="ïšļíďè"/>
              <p:cNvSpPr txBox="1"/>
              <p:nvPr/>
            </p:nvSpPr>
            <p:spPr>
              <a:xfrm>
                <a:off x="1296567" y="2092935"/>
                <a:ext cx="7140794" cy="389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zh-CN" altLang="en-US" sz="2400" dirty="0">
                    <a:solidFill>
                      <a:srgbClr val="FF0000"/>
                    </a:solidFill>
                  </a:rPr>
                  <a:t>优点：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43" name="íşľíḑè"/>
              <p:cNvSpPr/>
              <p:nvPr/>
            </p:nvSpPr>
            <p:spPr bwMode="auto">
              <a:xfrm>
                <a:off x="1312811" y="2588173"/>
                <a:ext cx="6632637" cy="14891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既有分段系统的便于实现、可共享、易于保护、可动态链接；</a:t>
                </a:r>
                <a:endParaRPr lang="zh-CN" altLang="en-US" sz="2400" dirty="0"/>
              </a:p>
              <a:p>
                <a:pPr marL="342900" lvl="1" indent="-342900">
                  <a:lnSpc>
                    <a:spcPct val="123000"/>
                  </a:lnSpc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sz="2400" dirty="0"/>
                  <a:t>又能像分页系统，很好地解决内存的外部碎片问题。</a:t>
                </a:r>
                <a:endParaRPr lang="zh-CN" altLang="en-US" sz="2400" dirty="0"/>
              </a:p>
            </p:txBody>
          </p:sp>
        </p:grpSp>
        <p:grpSp>
          <p:nvGrpSpPr>
            <p:cNvPr id="1139" name="ïŝľídè"/>
            <p:cNvGrpSpPr/>
            <p:nvPr/>
          </p:nvGrpSpPr>
          <p:grpSpPr>
            <a:xfrm>
              <a:off x="660400" y="2096245"/>
              <a:ext cx="497734" cy="497734"/>
              <a:chOff x="660400" y="2096245"/>
              <a:chExt cx="497734" cy="497734"/>
            </a:xfrm>
          </p:grpSpPr>
          <p:sp>
            <p:nvSpPr>
              <p:cNvPr id="1140" name="ïṡľïde"/>
              <p:cNvSpPr/>
              <p:nvPr/>
            </p:nvSpPr>
            <p:spPr>
              <a:xfrm>
                <a:off x="660400" y="2096245"/>
                <a:ext cx="497734" cy="49773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41" name="ïšliḍe"/>
              <p:cNvSpPr/>
              <p:nvPr/>
            </p:nvSpPr>
            <p:spPr>
              <a:xfrm>
                <a:off x="779848" y="2227680"/>
                <a:ext cx="258838" cy="234864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5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4065270" y="61366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代价：内碎片增加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作业地址空间和地址结构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18" name="Group 116"/>
          <p:cNvGraphicFramePr>
            <a:graphicFrameLocks noGrp="1"/>
          </p:cNvGraphicFramePr>
          <p:nvPr/>
        </p:nvGraphicFramePr>
        <p:xfrm>
          <a:off x="2343955" y="1859038"/>
          <a:ext cx="1752600" cy="2249488"/>
        </p:xfrm>
        <a:graphic>
          <a:graphicData uri="http://schemas.openxmlformats.org/drawingml/2006/table">
            <a:tbl>
              <a:tblPr/>
              <a:tblGrid>
                <a:gridCol w="1752600"/>
              </a:tblGrid>
              <a:tr h="51608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1" marB="4605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7642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1" marB="4605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76425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1" marB="4605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6499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1" marB="4605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1405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51" marB="4605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2318555" y="1325638"/>
            <a:ext cx="14732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主程序段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1277155" y="3535438"/>
            <a:ext cx="9906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>
                <a:latin typeface="+mn-ea"/>
                <a:ea typeface="+mn-ea"/>
              </a:rPr>
              <a:t>16K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22" name="Text Box 27"/>
          <p:cNvSpPr txBox="1">
            <a:spLocks noChangeArrowheads="1"/>
          </p:cNvSpPr>
          <p:nvPr/>
        </p:nvSpPr>
        <p:spPr bwMode="auto">
          <a:xfrm>
            <a:off x="1277155" y="3243338"/>
            <a:ext cx="9906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>
                <a:latin typeface="+mn-ea"/>
                <a:ea typeface="+mn-ea"/>
              </a:rPr>
              <a:t>15K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23" name="Text Box 28"/>
          <p:cNvSpPr txBox="1">
            <a:spLocks noChangeArrowheads="1"/>
          </p:cNvSpPr>
          <p:nvPr/>
        </p:nvSpPr>
        <p:spPr bwMode="auto">
          <a:xfrm>
            <a:off x="1277155" y="2773438"/>
            <a:ext cx="9906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>
                <a:latin typeface="+mn-ea"/>
                <a:ea typeface="+mn-ea"/>
              </a:rPr>
              <a:t>12K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24" name="Text Box 29"/>
          <p:cNvSpPr txBox="1">
            <a:spLocks noChangeArrowheads="1"/>
          </p:cNvSpPr>
          <p:nvPr/>
        </p:nvSpPr>
        <p:spPr bwMode="auto">
          <a:xfrm>
            <a:off x="1277155" y="2392438"/>
            <a:ext cx="9906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>
                <a:latin typeface="+mn-ea"/>
                <a:ea typeface="+mn-ea"/>
              </a:rPr>
              <a:t>8K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25" name="Text Box 30"/>
          <p:cNvSpPr txBox="1">
            <a:spLocks noChangeArrowheads="1"/>
          </p:cNvSpPr>
          <p:nvPr/>
        </p:nvSpPr>
        <p:spPr bwMode="auto">
          <a:xfrm>
            <a:off x="1302555" y="2011438"/>
            <a:ext cx="9906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>
                <a:latin typeface="+mn-ea"/>
                <a:ea typeface="+mn-ea"/>
              </a:rPr>
              <a:t>4K</a:t>
            </a:r>
            <a:endParaRPr lang="en-US" altLang="zh-CN" sz="2400">
              <a:latin typeface="+mn-ea"/>
              <a:ea typeface="+mn-ea"/>
            </a:endParaRPr>
          </a:p>
        </p:txBody>
      </p:sp>
      <p:sp>
        <p:nvSpPr>
          <p:cNvPr id="26" name="Text Box 31"/>
          <p:cNvSpPr txBox="1">
            <a:spLocks noChangeArrowheads="1"/>
          </p:cNvSpPr>
          <p:nvPr/>
        </p:nvSpPr>
        <p:spPr bwMode="auto">
          <a:xfrm>
            <a:off x="1277155" y="1706638"/>
            <a:ext cx="990600" cy="476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>
                <a:latin typeface="+mn-ea"/>
                <a:ea typeface="+mn-ea"/>
              </a:rPr>
              <a:t>0</a:t>
            </a:r>
            <a:endParaRPr lang="en-US" altLang="zh-CN" sz="2400">
              <a:latin typeface="+mn-ea"/>
              <a:ea typeface="+mn-ea"/>
            </a:endParaRPr>
          </a:p>
        </p:txBody>
      </p:sp>
      <p:graphicFrame>
        <p:nvGraphicFramePr>
          <p:cNvPr id="27" name="Group 111"/>
          <p:cNvGraphicFramePr>
            <a:graphicFrameLocks noGrp="1"/>
          </p:cNvGraphicFramePr>
          <p:nvPr/>
        </p:nvGraphicFramePr>
        <p:xfrm>
          <a:off x="5188755" y="1886229"/>
          <a:ext cx="1752600" cy="733426"/>
        </p:xfrm>
        <a:graphic>
          <a:graphicData uri="http://schemas.openxmlformats.org/drawingml/2006/table">
            <a:tbl>
              <a:tblPr/>
              <a:tblGrid>
                <a:gridCol w="1752600"/>
              </a:tblGrid>
              <a:tr h="36671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78" marB="460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66713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78" marB="4607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8" name="Text Box 57"/>
          <p:cNvSpPr txBox="1">
            <a:spLocks noChangeArrowheads="1"/>
          </p:cNvSpPr>
          <p:nvPr/>
        </p:nvSpPr>
        <p:spPr bwMode="auto">
          <a:xfrm>
            <a:off x="5188755" y="1352829"/>
            <a:ext cx="14478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子程序段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29" name="Text Box 61"/>
          <p:cNvSpPr txBox="1">
            <a:spLocks noChangeArrowheads="1"/>
          </p:cNvSpPr>
          <p:nvPr/>
        </p:nvSpPr>
        <p:spPr bwMode="auto">
          <a:xfrm>
            <a:off x="4452155" y="2419629"/>
            <a:ext cx="6604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8K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30" name="Text Box 62"/>
          <p:cNvSpPr txBox="1">
            <a:spLocks noChangeArrowheads="1"/>
          </p:cNvSpPr>
          <p:nvPr/>
        </p:nvSpPr>
        <p:spPr bwMode="auto">
          <a:xfrm>
            <a:off x="4401355" y="2038629"/>
            <a:ext cx="7366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4K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31" name="Text Box 63"/>
          <p:cNvSpPr txBox="1">
            <a:spLocks noChangeArrowheads="1"/>
          </p:cNvSpPr>
          <p:nvPr/>
        </p:nvSpPr>
        <p:spPr bwMode="auto">
          <a:xfrm>
            <a:off x="4579155" y="1733829"/>
            <a:ext cx="5334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0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32" name="Text Box 83"/>
          <p:cNvSpPr txBox="1">
            <a:spLocks noChangeArrowheads="1"/>
          </p:cNvSpPr>
          <p:nvPr/>
        </p:nvSpPr>
        <p:spPr bwMode="auto">
          <a:xfrm>
            <a:off x="8681254" y="1352831"/>
            <a:ext cx="11430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 sz="2400">
                <a:latin typeface="+mn-ea"/>
                <a:ea typeface="+mn-ea"/>
              </a:rPr>
              <a:t>数据段</a:t>
            </a: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33" name="Text Box 85"/>
          <p:cNvSpPr txBox="1">
            <a:spLocks noChangeArrowheads="1"/>
          </p:cNvSpPr>
          <p:nvPr/>
        </p:nvSpPr>
        <p:spPr bwMode="auto">
          <a:xfrm>
            <a:off x="7563654" y="3219731"/>
            <a:ext cx="7874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12K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34" name="Text Box 86"/>
          <p:cNvSpPr txBox="1">
            <a:spLocks noChangeArrowheads="1"/>
          </p:cNvSpPr>
          <p:nvPr/>
        </p:nvSpPr>
        <p:spPr bwMode="auto">
          <a:xfrm>
            <a:off x="7525554" y="2856538"/>
            <a:ext cx="7874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10K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35" name="Text Box 87"/>
          <p:cNvSpPr txBox="1">
            <a:spLocks noChangeArrowheads="1"/>
          </p:cNvSpPr>
          <p:nvPr/>
        </p:nvSpPr>
        <p:spPr bwMode="auto">
          <a:xfrm>
            <a:off x="7538254" y="2453392"/>
            <a:ext cx="7620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8K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36" name="Text Box 88"/>
          <p:cNvSpPr txBox="1">
            <a:spLocks noChangeArrowheads="1"/>
          </p:cNvSpPr>
          <p:nvPr/>
        </p:nvSpPr>
        <p:spPr bwMode="auto">
          <a:xfrm>
            <a:off x="7589054" y="2038631"/>
            <a:ext cx="7366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4K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37" name="Text Box 89"/>
          <p:cNvSpPr txBox="1">
            <a:spLocks noChangeArrowheads="1"/>
          </p:cNvSpPr>
          <p:nvPr/>
        </p:nvSpPr>
        <p:spPr bwMode="auto">
          <a:xfrm>
            <a:off x="7792254" y="1733831"/>
            <a:ext cx="5080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0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38" name="Group 113"/>
          <p:cNvGraphicFramePr>
            <a:graphicFrameLocks noGrp="1"/>
          </p:cNvGraphicFramePr>
          <p:nvPr/>
        </p:nvGraphicFramePr>
        <p:xfrm>
          <a:off x="2267755" y="4988831"/>
          <a:ext cx="7861299" cy="556436"/>
        </p:xfrm>
        <a:graphic>
          <a:graphicData uri="http://schemas.openxmlformats.org/drawingml/2006/table">
            <a:tbl>
              <a:tblPr/>
              <a:tblGrid>
                <a:gridCol w="2620433"/>
                <a:gridCol w="2620433"/>
                <a:gridCol w="2620433"/>
              </a:tblGrid>
              <a:tr h="556436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段号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421" marR="107421" marT="53711" marB="53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段内页号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421" marR="107421" marT="53711" marB="53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r>
                        <a:rPr kumimoji="1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段内地址</a:t>
                      </a: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</a:t>
                      </a:r>
                      <a:endParaRPr kumimoji="1" lang="en-US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421" marR="107421" marT="53711" marB="53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9" name="Text Box 108"/>
          <p:cNvSpPr txBox="1">
            <a:spLocks noChangeArrowheads="1"/>
          </p:cNvSpPr>
          <p:nvPr/>
        </p:nvSpPr>
        <p:spPr bwMode="auto">
          <a:xfrm>
            <a:off x="5493555" y="4218201"/>
            <a:ext cx="11430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(a)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40" name="Text Box 109"/>
          <p:cNvSpPr txBox="1">
            <a:spLocks noChangeArrowheads="1"/>
          </p:cNvSpPr>
          <p:nvPr/>
        </p:nvSpPr>
        <p:spPr bwMode="auto">
          <a:xfrm>
            <a:off x="5493555" y="5644461"/>
            <a:ext cx="1143000" cy="462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 typeface="Monotype Sorts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(b)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41" name="Group 112"/>
          <p:cNvGraphicFramePr>
            <a:graphicFrameLocks noGrp="1"/>
          </p:cNvGraphicFramePr>
          <p:nvPr/>
        </p:nvGraphicFramePr>
        <p:xfrm>
          <a:off x="8376454" y="1886229"/>
          <a:ext cx="1752600" cy="1632752"/>
        </p:xfrm>
        <a:graphic>
          <a:graphicData uri="http://schemas.openxmlformats.org/drawingml/2006/table">
            <a:tbl>
              <a:tblPr/>
              <a:tblGrid>
                <a:gridCol w="1752600"/>
              </a:tblGrid>
              <a:tr h="40818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1" marB="460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0818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1" marB="460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0818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1" marB="460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08188">
                <a:tc>
                  <a:txBody>
                    <a:bodyPr/>
                    <a:lstStyle>
                      <a:lvl1pPr>
                        <a:buClr>
                          <a:schemeClr val="tx2"/>
                        </a:buClr>
                        <a:buSzPct val="75000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buClr>
                          <a:schemeClr val="tx1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buClr>
                          <a:schemeClr val="accent2"/>
                        </a:buClr>
                        <a:buSzPct val="65000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5000"/>
                        <a:buFont typeface="Monotype Sorts" pitchFamily="2" charset="2"/>
                        <a:buNone/>
                      </a:pPr>
                      <a:endParaRPr kumimoji="1" lang="zh-CN" altLang="zh-CN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2075" marR="92075" marT="46001" marB="460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段页式存储管理方式的地址变换过程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6771" y="1090108"/>
            <a:ext cx="10172700" cy="5162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3490" name="图片 140290" descr="B5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288" y="836613"/>
            <a:ext cx="8229600" cy="57070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</a:rPr>
              <a:t>内容导航：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96469" y="1737498"/>
            <a:ext cx="45001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  <a:ea typeface="+mj-ea"/>
              </a:rPr>
              <a:t>5.1 </a:t>
            </a:r>
            <a:r>
              <a:rPr lang="zh-CN" altLang="en-US" sz="2400" dirty="0">
                <a:latin typeface="+mj-ea"/>
                <a:ea typeface="+mj-ea"/>
              </a:rPr>
              <a:t>存储器的</a:t>
            </a:r>
            <a:r>
              <a:rPr lang="zh-CN" altLang="en-US" sz="2400" dirty="0" smtClean="0">
                <a:latin typeface="+mj-ea"/>
                <a:ea typeface="+mj-ea"/>
              </a:rPr>
              <a:t>层次结构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96469" y="2375673"/>
            <a:ext cx="36821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5.2 </a:t>
            </a:r>
            <a:r>
              <a:rPr lang="zh-CN" altLang="en-US" sz="2400" dirty="0">
                <a:latin typeface="+mj-ea"/>
              </a:rPr>
              <a:t>程序的装入和</a:t>
            </a:r>
            <a:r>
              <a:rPr lang="zh-CN" altLang="en-US" sz="2400" dirty="0" smtClean="0">
                <a:latin typeface="+mj-ea"/>
              </a:rPr>
              <a:t>链接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96468" y="2994798"/>
            <a:ext cx="34889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j-ea"/>
              </a:rPr>
              <a:t>5.3 </a:t>
            </a:r>
            <a:r>
              <a:rPr lang="zh-CN" altLang="en-US" sz="2400" dirty="0">
                <a:latin typeface="+mj-ea"/>
              </a:rPr>
              <a:t>对换与</a:t>
            </a:r>
            <a:r>
              <a:rPr lang="zh-CN" altLang="en-US" sz="2400" dirty="0" smtClean="0">
                <a:latin typeface="+mj-ea"/>
              </a:rPr>
              <a:t>覆盖</a:t>
            </a:r>
            <a:endParaRPr lang="en-US" altLang="zh-CN" sz="2400" dirty="0">
              <a:latin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6468" y="3613923"/>
            <a:ext cx="39053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5.4 </a:t>
            </a:r>
            <a:r>
              <a:rPr lang="zh-CN" altLang="en-US" sz="2400" dirty="0">
                <a:latin typeface="+mj-ea"/>
              </a:rPr>
              <a:t>连续分配存储管理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696469" y="4233048"/>
            <a:ext cx="390534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5.5 </a:t>
            </a:r>
            <a:r>
              <a:rPr lang="zh-CN" altLang="en-US" sz="2400" dirty="0">
                <a:latin typeface="+mj-ea"/>
              </a:rPr>
              <a:t>分页存储管理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696468" y="4852173"/>
            <a:ext cx="36821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+mj-ea"/>
              </a:rPr>
              <a:t>5.6 </a:t>
            </a:r>
            <a:r>
              <a:rPr lang="zh-CN" altLang="en-US" sz="2400" dirty="0">
                <a:latin typeface="+mj-ea"/>
              </a:rPr>
              <a:t>分段存储管理</a:t>
            </a:r>
            <a:r>
              <a:rPr lang="zh-CN" altLang="en-US" sz="2400" dirty="0" smtClean="0">
                <a:latin typeface="+mj-ea"/>
              </a:rPr>
              <a:t>方式</a:t>
            </a:r>
            <a:endParaRPr lang="zh-CN" altLang="en-US" sz="2400" dirty="0">
              <a:latin typeface="+mj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696469" y="5471298"/>
            <a:ext cx="40217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0000FF"/>
                </a:solidFill>
                <a:latin typeface="+mj-ea"/>
              </a:rPr>
              <a:t>5.7 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基于</a:t>
            </a:r>
            <a:r>
              <a:rPr lang="en-US" altLang="zh-CN" sz="2400" b="1" dirty="0">
                <a:solidFill>
                  <a:srgbClr val="0000FF"/>
                </a:solidFill>
                <a:latin typeface="+mj-ea"/>
              </a:rPr>
              <a:t>IA-32/x86-64</a:t>
            </a:r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架构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  <a:p>
            <a:r>
              <a:rPr lang="zh-CN" altLang="en-US" sz="2400" b="1" dirty="0">
                <a:solidFill>
                  <a:srgbClr val="0000FF"/>
                </a:solidFill>
                <a:latin typeface="+mj-ea"/>
              </a:rPr>
              <a:t>      的内存管理策略</a:t>
            </a:r>
            <a:endParaRPr lang="zh-CN" altLang="en-US" sz="2400" b="1" dirty="0">
              <a:solidFill>
                <a:srgbClr val="0000FF"/>
              </a:solidFill>
              <a:latin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95099" y="2386337"/>
            <a:ext cx="41857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rgbClr val="000000"/>
                </a:solidFill>
              </a:rPr>
              <a:t>第</a:t>
            </a:r>
            <a:r>
              <a:rPr lang="en-US" altLang="zh-CN" sz="3600" dirty="0">
                <a:solidFill>
                  <a:srgbClr val="000000"/>
                </a:solidFill>
              </a:rPr>
              <a:t>5</a:t>
            </a:r>
            <a:r>
              <a:rPr lang="zh-CN" altLang="en-US" sz="3600" dirty="0">
                <a:solidFill>
                  <a:srgbClr val="000000"/>
                </a:solidFill>
              </a:rPr>
              <a:t>章 </a:t>
            </a:r>
            <a:r>
              <a:rPr lang="zh-CN" altLang="en-US" sz="3600" dirty="0" smtClean="0">
                <a:solidFill>
                  <a:srgbClr val="000000"/>
                </a:solidFill>
              </a:rPr>
              <a:t>   存储器管理</a:t>
            </a:r>
            <a:endParaRPr lang="zh-CN" altLang="en-US" sz="3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7421733" y="3190471"/>
            <a:ext cx="41253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361663" y="3247028"/>
            <a:ext cx="4329575" cy="530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2000"/>
              </a:lnSpc>
            </a:pPr>
            <a:r>
              <a:rPr lang="zh-CN" altLang="en-US" sz="2400" dirty="0">
                <a:solidFill>
                  <a:srgbClr val="002060"/>
                </a:solidFill>
              </a:rPr>
              <a:t>主讲：王红玲    主审：汤小丹</a:t>
            </a:r>
            <a:endParaRPr lang="en-US" altLang="zh-CN" sz="2400" dirty="0">
              <a:solidFill>
                <a:srgbClr val="00206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-9526" y="6375042"/>
            <a:ext cx="12201526" cy="4829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任意多边形: 形状 25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170048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285628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2941097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355957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18565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4823363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9418" y="5424080"/>
            <a:ext cx="527050" cy="527050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IA-32</a:t>
            </a:r>
            <a:r>
              <a:rPr lang="zh-CN" altLang="en-US" sz="2800" b="1" dirty="0">
                <a:solidFill>
                  <a:schemeClr val="bg1"/>
                </a:solidFill>
              </a:rPr>
              <a:t>架构下的内存管理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56291" y="1269801"/>
            <a:ext cx="10277467" cy="5860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600" dirty="0"/>
              <a:t>分为两部分：</a:t>
            </a:r>
            <a:r>
              <a:rPr lang="zh-CN" altLang="en-US" sz="2600" dirty="0">
                <a:solidFill>
                  <a:srgbClr val="FF0000"/>
                </a:solidFill>
              </a:rPr>
              <a:t>分段和分</a:t>
            </a:r>
            <a:r>
              <a:rPr lang="zh-CN" altLang="en-US" sz="2600" dirty="0" smtClean="0">
                <a:solidFill>
                  <a:srgbClr val="FF0000"/>
                </a:solidFill>
              </a:rPr>
              <a:t>页</a:t>
            </a:r>
            <a:endParaRPr lang="en-US" altLang="zh-CN" sz="2600" dirty="0"/>
          </a:p>
        </p:txBody>
      </p:sp>
      <p:sp>
        <p:nvSpPr>
          <p:cNvPr id="4" name="矩形 3"/>
          <p:cNvSpPr/>
          <p:nvPr/>
        </p:nvSpPr>
        <p:spPr>
          <a:xfrm>
            <a:off x="1056291" y="1855843"/>
            <a:ext cx="10277467" cy="5860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zh-CN" sz="2600" dirty="0"/>
              <a:t>工作方案</a:t>
            </a:r>
            <a:r>
              <a:rPr lang="zh-CN" altLang="en-US" sz="2600" dirty="0"/>
              <a:t>：</a:t>
            </a:r>
            <a:endParaRPr lang="en-US" altLang="zh-CN" sz="2600" dirty="0"/>
          </a:p>
        </p:txBody>
      </p:sp>
      <p:sp>
        <p:nvSpPr>
          <p:cNvPr id="5" name="ïṩḷiďè"/>
          <p:cNvSpPr/>
          <p:nvPr>
            <p:custDataLst>
              <p:tags r:id="rId1"/>
            </p:custDataLst>
          </p:nvPr>
        </p:nvSpPr>
        <p:spPr>
          <a:xfrm>
            <a:off x="0" y="2858696"/>
            <a:ext cx="12192000" cy="1420426"/>
          </a:xfrm>
          <a:prstGeom prst="rect">
            <a:avLst/>
          </a:prstGeom>
          <a:blipFill>
            <a:blip r:embed="rId2"/>
            <a:srcRect/>
            <a:stretch>
              <a:fillRect t="-193116" b="-189697"/>
            </a:stretch>
          </a:blipFill>
          <a:ln w="12700" cap="flat" cmpd="sng" algn="ctr">
            <a:noFill/>
            <a:prstDash val="solid"/>
            <a:miter lim="800000"/>
          </a:ln>
          <a:effectLst>
            <a:outerShdw dist="38100" dir="5400000" algn="t" rotWithShape="0">
              <a:prstClr val="black">
                <a:alpha val="15000"/>
              </a:prst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6" name="işḷiḍè"/>
          <p:cNvGrpSpPr/>
          <p:nvPr>
            <p:custDataLst>
              <p:tags r:id="rId3"/>
            </p:custDataLst>
          </p:nvPr>
        </p:nvGrpSpPr>
        <p:grpSpPr>
          <a:xfrm>
            <a:off x="660401" y="2907523"/>
            <a:ext cx="2899546" cy="3094031"/>
            <a:chOff x="660401" y="2173427"/>
            <a:chExt cx="2899546" cy="3094031"/>
          </a:xfrm>
        </p:grpSpPr>
        <p:sp>
          <p:nvSpPr>
            <p:cNvPr id="7" name="iṣḻîďé"/>
            <p:cNvSpPr/>
            <p:nvPr>
              <p:custDataLst>
                <p:tags r:id="rId4"/>
              </p:custDataLst>
            </p:nvPr>
          </p:nvSpPr>
          <p:spPr>
            <a:xfrm>
              <a:off x="1448788" y="2173427"/>
              <a:ext cx="1322773" cy="1322773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 w="19050" cap="rnd">
              <a:solidFill>
                <a:schemeClr val="bg1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r>
                <a:rPr lang="en-US" altLang="zh-CN" sz="3200" dirty="0">
                  <a:solidFill>
                    <a:schemeClr val="bg1"/>
                  </a:solidFill>
                </a:rPr>
                <a:t>01</a:t>
              </a:r>
              <a:endParaRPr lang="zh-CN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10" name="iṧľiḑé"/>
            <p:cNvSpPr/>
            <p:nvPr>
              <p:custDataLst>
                <p:tags r:id="rId5"/>
              </p:custDataLst>
            </p:nvPr>
          </p:nvSpPr>
          <p:spPr>
            <a:xfrm>
              <a:off x="660401" y="3711634"/>
              <a:ext cx="2899546" cy="1555824"/>
            </a:xfrm>
            <a:prstGeom prst="rect">
              <a:avLst/>
            </a:prstGeom>
            <a:noFill/>
            <a:ln w="3175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</a:rPr>
                <a:t>CPU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生成逻辑地址，并将其交给分段单元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" name="ïsļïḋê"/>
          <p:cNvGrpSpPr/>
          <p:nvPr>
            <p:custDataLst>
              <p:tags r:id="rId6"/>
            </p:custDataLst>
          </p:nvPr>
        </p:nvGrpSpPr>
        <p:grpSpPr>
          <a:xfrm>
            <a:off x="4639877" y="2907523"/>
            <a:ext cx="2899546" cy="3094031"/>
            <a:chOff x="660401" y="2173427"/>
            <a:chExt cx="2899546" cy="3094031"/>
          </a:xfrm>
        </p:grpSpPr>
        <p:sp>
          <p:nvSpPr>
            <p:cNvPr id="12" name="íSḷiḑê"/>
            <p:cNvSpPr/>
            <p:nvPr>
              <p:custDataLst>
                <p:tags r:id="rId7"/>
              </p:custDataLst>
            </p:nvPr>
          </p:nvSpPr>
          <p:spPr>
            <a:xfrm>
              <a:off x="1448788" y="2173427"/>
              <a:ext cx="1322773" cy="1322773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 w="19050" cap="rnd">
              <a:solidFill>
                <a:schemeClr val="bg1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r>
                <a:rPr lang="en-US" altLang="zh-CN" sz="3200" dirty="0">
                  <a:solidFill>
                    <a:schemeClr val="bg1"/>
                  </a:solidFill>
                </a:rPr>
                <a:t>02</a:t>
              </a:r>
              <a:endParaRPr lang="zh-CN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13" name="í$ḻïḍe"/>
            <p:cNvSpPr/>
            <p:nvPr>
              <p:custDataLst>
                <p:tags r:id="rId8"/>
              </p:custDataLst>
            </p:nvPr>
          </p:nvSpPr>
          <p:spPr>
            <a:xfrm>
              <a:off x="660401" y="3711634"/>
              <a:ext cx="2899546" cy="1555824"/>
            </a:xfrm>
            <a:prstGeom prst="rect">
              <a:avLst/>
            </a:prstGeom>
            <a:noFill/>
            <a:ln w="3175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分段单元为每个逻辑地址生成一个线性地址（分页或分段地址）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ísľïḍè"/>
          <p:cNvGrpSpPr/>
          <p:nvPr>
            <p:custDataLst>
              <p:tags r:id="rId9"/>
            </p:custDataLst>
          </p:nvPr>
        </p:nvGrpSpPr>
        <p:grpSpPr>
          <a:xfrm>
            <a:off x="8619354" y="2907523"/>
            <a:ext cx="2899546" cy="3094031"/>
            <a:chOff x="660401" y="2173427"/>
            <a:chExt cx="2899546" cy="3094031"/>
          </a:xfrm>
        </p:grpSpPr>
        <p:sp>
          <p:nvSpPr>
            <p:cNvPr id="15" name="îśḷíḍe"/>
            <p:cNvSpPr/>
            <p:nvPr>
              <p:custDataLst>
                <p:tags r:id="rId10"/>
              </p:custDataLst>
            </p:nvPr>
          </p:nvSpPr>
          <p:spPr>
            <a:xfrm>
              <a:off x="1448788" y="2173427"/>
              <a:ext cx="1322773" cy="1322773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 w="19050" cap="rnd">
              <a:solidFill>
                <a:schemeClr val="bg1"/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r>
                <a:rPr lang="en-US" altLang="zh-CN" sz="3200" dirty="0">
                  <a:solidFill>
                    <a:schemeClr val="bg1"/>
                  </a:solidFill>
                </a:rPr>
                <a:t>03</a:t>
              </a:r>
              <a:endParaRPr lang="zh-CN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18" name="iṧḷiḓê"/>
            <p:cNvSpPr/>
            <p:nvPr>
              <p:custDataLst>
                <p:tags r:id="rId11"/>
              </p:custDataLst>
            </p:nvPr>
          </p:nvSpPr>
          <p:spPr>
            <a:xfrm>
              <a:off x="660401" y="3711633"/>
              <a:ext cx="2899546" cy="1555825"/>
            </a:xfrm>
            <a:prstGeom prst="rect">
              <a:avLst/>
            </a:prstGeom>
            <a:noFill/>
            <a:ln w="3175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将线性地址交给分页单元，以生成内存的物理地址</a:t>
              </a:r>
              <a:endParaRPr lang="zh-CN" altLang="en-US" sz="24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>
            <a:off x="4183062" y="4640624"/>
            <a:ext cx="0" cy="641123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>
            <p:custDataLst>
              <p:tags r:id="rId13"/>
            </p:custDataLst>
          </p:nvPr>
        </p:nvCxnSpPr>
        <p:spPr>
          <a:xfrm>
            <a:off x="8066509" y="4640624"/>
            <a:ext cx="0" cy="641123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IA-32</a:t>
            </a:r>
            <a:r>
              <a:rPr lang="zh-CN" altLang="en-US" sz="2800" b="1" dirty="0">
                <a:solidFill>
                  <a:schemeClr val="bg1"/>
                </a:solidFill>
              </a:rPr>
              <a:t>架构的分页（二级分页）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78963" y="785612"/>
            <a:ext cx="7510809" cy="56934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IA-32</a:t>
            </a:r>
            <a:r>
              <a:rPr lang="zh-CN" altLang="en-US" sz="2800" b="1" dirty="0">
                <a:solidFill>
                  <a:schemeClr val="bg1"/>
                </a:solidFill>
              </a:rPr>
              <a:t>架构的分页（三级分页）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5834" y="1166770"/>
            <a:ext cx="10277467" cy="15764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lnSpc>
                <a:spcPct val="123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FF0000"/>
                </a:solidFill>
              </a:rPr>
              <a:t>针对</a:t>
            </a:r>
            <a:r>
              <a:rPr lang="en-US" altLang="zh-CN" sz="2400" dirty="0">
                <a:solidFill>
                  <a:srgbClr val="FF0000"/>
                </a:solidFill>
              </a:rPr>
              <a:t>64</a:t>
            </a:r>
            <a:r>
              <a:rPr lang="zh-CN" altLang="en-US" sz="2400" dirty="0">
                <a:solidFill>
                  <a:srgbClr val="FF0000"/>
                </a:solidFill>
              </a:rPr>
              <a:t>位的硬件平台，二级分页不合适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457200" indent="-457200">
              <a:lnSpc>
                <a:spcPct val="123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/>
              <a:t>Linux</a:t>
            </a:r>
            <a:r>
              <a:rPr lang="zh-CN" altLang="en-US" sz="2400" dirty="0"/>
              <a:t>采用了适合</a:t>
            </a:r>
            <a:r>
              <a:rPr lang="en-US" altLang="zh-CN" sz="2400" dirty="0"/>
              <a:t>32</a:t>
            </a:r>
            <a:r>
              <a:rPr lang="zh-CN" altLang="en-US" sz="2400" dirty="0"/>
              <a:t>和</a:t>
            </a:r>
            <a:r>
              <a:rPr lang="en-US" altLang="zh-CN" sz="2400" dirty="0"/>
              <a:t>64</a:t>
            </a:r>
            <a:r>
              <a:rPr lang="zh-CN" altLang="en-US" sz="2400" dirty="0"/>
              <a:t>位架构的三级分页模式</a:t>
            </a:r>
            <a:endParaRPr lang="en-US" altLang="zh-CN" sz="2400" dirty="0"/>
          </a:p>
          <a:p>
            <a:pPr marL="457200" indent="-457200">
              <a:lnSpc>
                <a:spcPct val="123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采用</a:t>
            </a:r>
            <a:r>
              <a:rPr lang="zh-CN" altLang="zh-CN" sz="2400" dirty="0"/>
              <a:t>页地址扩展</a:t>
            </a:r>
            <a:r>
              <a:rPr lang="en-US" altLang="zh-CN" sz="2400" dirty="0"/>
              <a:t>PAE</a:t>
            </a:r>
            <a:r>
              <a:rPr lang="zh-CN" altLang="en-US" sz="2400" dirty="0"/>
              <a:t>，可</a:t>
            </a:r>
            <a:r>
              <a:rPr lang="zh-CN" altLang="zh-CN" sz="2400" dirty="0"/>
              <a:t>访问大于</a:t>
            </a:r>
            <a:r>
              <a:rPr lang="en-US" altLang="zh-CN" sz="2400" dirty="0"/>
              <a:t>4GB</a:t>
            </a:r>
            <a:r>
              <a:rPr lang="zh-CN" altLang="zh-CN" sz="2400" dirty="0"/>
              <a:t>的物理地址空间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23341" y="2537139"/>
            <a:ext cx="9839960" cy="39414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80619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IA-32X86-64</a:t>
            </a:r>
            <a:r>
              <a:rPr lang="zh-CN" altLang="en-US" sz="2800" b="1" dirty="0">
                <a:solidFill>
                  <a:schemeClr val="bg1"/>
                </a:solidFill>
              </a:rPr>
              <a:t>架构的地址架构的分页（三级分页）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6078" y="1431812"/>
            <a:ext cx="10862827" cy="287514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/>
              <a:t>64</a:t>
            </a:r>
            <a:r>
              <a:rPr lang="zh-CN" altLang="en-US" sz="2400" dirty="0"/>
              <a:t>位的地址空间意味着寻址的内存达到</a:t>
            </a:r>
            <a:r>
              <a:rPr lang="en-US" altLang="zh-CN" sz="2400" dirty="0"/>
              <a:t>264B</a:t>
            </a:r>
            <a:r>
              <a:rPr lang="zh-CN" altLang="en-US" sz="2400" dirty="0"/>
              <a:t>，即大于</a:t>
            </a:r>
            <a:r>
              <a:rPr lang="en-US" altLang="zh-CN" sz="2400" dirty="0"/>
              <a:t>16EB</a:t>
            </a:r>
            <a:r>
              <a:rPr lang="zh-CN" altLang="en-US" sz="2400" dirty="0"/>
              <a:t>（</a:t>
            </a:r>
            <a:r>
              <a:rPr lang="en-US" altLang="zh-CN" sz="2400" dirty="0"/>
              <a:t>1EB = 220TB</a:t>
            </a:r>
            <a:r>
              <a:rPr lang="zh-CN" altLang="en-US" sz="2400" dirty="0"/>
              <a:t>）。</a:t>
            </a:r>
            <a:endParaRPr lang="zh-CN" altLang="en-US" sz="2400" dirty="0"/>
          </a:p>
          <a:p>
            <a:pPr marL="457200" indent="-457200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目前采用</a:t>
            </a:r>
            <a:r>
              <a:rPr lang="zh-CN" altLang="en-US" sz="2400" dirty="0">
                <a:solidFill>
                  <a:srgbClr val="FF0000"/>
                </a:solidFill>
              </a:rPr>
              <a:t>四级分页</a:t>
            </a:r>
            <a:r>
              <a:rPr lang="zh-CN" altLang="en-US" sz="2400" dirty="0"/>
              <a:t>模式，支持</a:t>
            </a:r>
            <a:r>
              <a:rPr lang="en-US" altLang="zh-CN" sz="2400" dirty="0"/>
              <a:t>48</a:t>
            </a:r>
            <a:r>
              <a:rPr lang="zh-CN" altLang="en-US" sz="2400" dirty="0"/>
              <a:t>位虚地址，它的页面大小可为</a:t>
            </a:r>
            <a:r>
              <a:rPr lang="en-US" altLang="zh-CN" sz="2400" dirty="0"/>
              <a:t>4KB</a:t>
            </a:r>
            <a:r>
              <a:rPr lang="zh-CN" altLang="en-US" sz="2400" dirty="0"/>
              <a:t>、</a:t>
            </a:r>
            <a:r>
              <a:rPr lang="en-US" altLang="zh-CN" sz="2400" dirty="0"/>
              <a:t>2MB</a:t>
            </a:r>
            <a:r>
              <a:rPr lang="zh-CN" altLang="en-US" sz="2400" dirty="0"/>
              <a:t>或</a:t>
            </a:r>
            <a:r>
              <a:rPr lang="en-US" altLang="zh-CN" sz="2400" dirty="0"/>
              <a:t>1GB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marL="457200" indent="-457200">
              <a:lnSpc>
                <a:spcPct val="123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/>
              <a:t>能够采用</a:t>
            </a:r>
            <a:r>
              <a:rPr lang="en-US" altLang="zh-CN" sz="2400" dirty="0"/>
              <a:t>PAE</a:t>
            </a:r>
            <a:r>
              <a:rPr lang="zh-CN" altLang="en-US" sz="2400" dirty="0"/>
              <a:t>，系统虚拟地址的大小为</a:t>
            </a:r>
            <a:r>
              <a:rPr lang="en-US" altLang="zh-CN" sz="2400" dirty="0"/>
              <a:t>48</a:t>
            </a:r>
            <a:r>
              <a:rPr lang="zh-CN" altLang="en-US" sz="2400" dirty="0"/>
              <a:t>位，可支持</a:t>
            </a:r>
            <a:r>
              <a:rPr lang="en-US" altLang="zh-CN" sz="2400" dirty="0"/>
              <a:t>52</a:t>
            </a:r>
            <a:r>
              <a:rPr lang="zh-CN" altLang="en-US" sz="2400" dirty="0"/>
              <a:t>位的物理地址（</a:t>
            </a:r>
            <a:r>
              <a:rPr lang="en-US" altLang="zh-CN" sz="2400" dirty="0"/>
              <a:t>4096TB</a:t>
            </a:r>
            <a:r>
              <a:rPr lang="zh-CN" altLang="en-US" sz="2400" dirty="0"/>
              <a:t>）。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801" y="4907506"/>
            <a:ext cx="11334380" cy="8856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第5章 知识导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6255" y="1159510"/>
            <a:ext cx="7411720" cy="5622290"/>
          </a:xfrm>
          <a:prstGeom prst="rect">
            <a:avLst/>
          </a:prstGeom>
        </p:spPr>
      </p:pic>
      <p:sp>
        <p:nvSpPr>
          <p:cNvPr id="19" name="任意多边形: 形状 18"/>
          <p:cNvSpPr/>
          <p:nvPr/>
        </p:nvSpPr>
        <p:spPr>
          <a:xfrm>
            <a:off x="-9525" y="-1"/>
            <a:ext cx="12201525" cy="1255073"/>
          </a:xfrm>
          <a:custGeom>
            <a:avLst/>
            <a:gdLst>
              <a:gd name="connsiteX0" fmla="*/ 19050 w 12201525"/>
              <a:gd name="connsiteY0" fmla="*/ 0 h 1028700"/>
              <a:gd name="connsiteX1" fmla="*/ 0 w 12201525"/>
              <a:gd name="connsiteY1" fmla="*/ 1028700 h 1028700"/>
              <a:gd name="connsiteX2" fmla="*/ 1743075 w 12201525"/>
              <a:gd name="connsiteY2" fmla="*/ 1028700 h 1028700"/>
              <a:gd name="connsiteX3" fmla="*/ 4381500 w 12201525"/>
              <a:gd name="connsiteY3" fmla="*/ 466725 h 1028700"/>
              <a:gd name="connsiteX4" fmla="*/ 6572250 w 12201525"/>
              <a:gd name="connsiteY4" fmla="*/ 285750 h 1028700"/>
              <a:gd name="connsiteX5" fmla="*/ 9115425 w 12201525"/>
              <a:gd name="connsiteY5" fmla="*/ 352425 h 1028700"/>
              <a:gd name="connsiteX6" fmla="*/ 11220450 w 12201525"/>
              <a:gd name="connsiteY6" fmla="*/ 619125 h 1028700"/>
              <a:gd name="connsiteX7" fmla="*/ 12201525 w 12201525"/>
              <a:gd name="connsiteY7" fmla="*/ 762000 h 1028700"/>
              <a:gd name="connsiteX8" fmla="*/ 12182475 w 12201525"/>
              <a:gd name="connsiteY8" fmla="*/ 0 h 1028700"/>
              <a:gd name="connsiteX9" fmla="*/ 19050 w 12201525"/>
              <a:gd name="connsiteY9" fmla="*/ 0 h 102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01525" h="1028700">
                <a:moveTo>
                  <a:pt x="19050" y="0"/>
                </a:moveTo>
                <a:lnTo>
                  <a:pt x="0" y="1028700"/>
                </a:lnTo>
                <a:lnTo>
                  <a:pt x="1743075" y="1028700"/>
                </a:lnTo>
                <a:lnTo>
                  <a:pt x="4381500" y="466725"/>
                </a:lnTo>
                <a:lnTo>
                  <a:pt x="6572250" y="285750"/>
                </a:lnTo>
                <a:lnTo>
                  <a:pt x="9115425" y="352425"/>
                </a:lnTo>
                <a:lnTo>
                  <a:pt x="11220450" y="619125"/>
                </a:lnTo>
                <a:lnTo>
                  <a:pt x="12201525" y="762000"/>
                </a:lnTo>
                <a:lnTo>
                  <a:pt x="12182475" y="0"/>
                </a:lnTo>
                <a:lnTo>
                  <a:pt x="19050" y="0"/>
                </a:lnTo>
                <a:close/>
              </a:path>
            </a:pathLst>
          </a:custGeom>
          <a:solidFill>
            <a:schemeClr val="accent3">
              <a:lumMod val="90000"/>
              <a:lumOff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/>
        </p:nvSpPr>
        <p:spPr bwMode="auto">
          <a:xfrm>
            <a:off x="-9526" y="252740"/>
            <a:ext cx="12201525" cy="1128723"/>
          </a:xfrm>
          <a:custGeom>
            <a:avLst/>
            <a:gdLst>
              <a:gd name="connsiteX0" fmla="*/ 7144392 w 12325350"/>
              <a:gd name="connsiteY0" fmla="*/ 261 h 6478847"/>
              <a:gd name="connsiteX1" fmla="*/ 8214533 w 12325350"/>
              <a:gd name="connsiteY1" fmla="*/ 121934 h 6478847"/>
              <a:gd name="connsiteX2" fmla="*/ 10903294 w 12325350"/>
              <a:gd name="connsiteY2" fmla="*/ 1454273 h 6478847"/>
              <a:gd name="connsiteX3" fmla="*/ 12325350 w 12325350"/>
              <a:gd name="connsiteY3" fmla="*/ 2857357 h 6478847"/>
              <a:gd name="connsiteX4" fmla="*/ 12325350 w 12325350"/>
              <a:gd name="connsiteY4" fmla="*/ 5321595 h 6478847"/>
              <a:gd name="connsiteX5" fmla="*/ 6864178 w 12325350"/>
              <a:gd name="connsiteY5" fmla="*/ 1555476 h 6478847"/>
              <a:gd name="connsiteX6" fmla="*/ 3518165 w 12325350"/>
              <a:gd name="connsiteY6" fmla="*/ 4703571 h 6478847"/>
              <a:gd name="connsiteX7" fmla="*/ 4850 w 12325350"/>
              <a:gd name="connsiteY7" fmla="*/ 6371943 h 6478847"/>
              <a:gd name="connsiteX8" fmla="*/ 0 w 12325350"/>
              <a:gd name="connsiteY8" fmla="*/ 6083424 h 6478847"/>
              <a:gd name="connsiteX9" fmla="*/ 0 w 12325350"/>
              <a:gd name="connsiteY9" fmla="*/ 4957873 h 6478847"/>
              <a:gd name="connsiteX10" fmla="*/ 27210 w 12325350"/>
              <a:gd name="connsiteY10" fmla="*/ 4967674 h 6478847"/>
              <a:gd name="connsiteX11" fmla="*/ 2335110 w 12325350"/>
              <a:gd name="connsiteY11" fmla="*/ 3646345 h 6478847"/>
              <a:gd name="connsiteX12" fmla="*/ 7144392 w 12325350"/>
              <a:gd name="connsiteY12" fmla="*/ 261 h 6478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325350" h="6478847">
                <a:moveTo>
                  <a:pt x="7144392" y="261"/>
                </a:moveTo>
                <a:cubicBezTo>
                  <a:pt x="7479248" y="-3556"/>
                  <a:pt x="7835119" y="34487"/>
                  <a:pt x="8214533" y="121934"/>
                </a:cubicBezTo>
                <a:cubicBezTo>
                  <a:pt x="9475264" y="412769"/>
                  <a:pt x="10281892" y="1000335"/>
                  <a:pt x="10903294" y="1454273"/>
                </a:cubicBezTo>
                <a:cubicBezTo>
                  <a:pt x="11940956" y="2211820"/>
                  <a:pt x="12295475" y="2846549"/>
                  <a:pt x="12325350" y="2857357"/>
                </a:cubicBezTo>
                <a:cubicBezTo>
                  <a:pt x="12325350" y="5321595"/>
                  <a:pt x="12325350" y="5321595"/>
                  <a:pt x="12325350" y="5321595"/>
                </a:cubicBezTo>
                <a:cubicBezTo>
                  <a:pt x="12325350" y="5321595"/>
                  <a:pt x="9373688" y="1135927"/>
                  <a:pt x="6864178" y="1555476"/>
                </a:cubicBezTo>
                <a:cubicBezTo>
                  <a:pt x="5941038" y="1709737"/>
                  <a:pt x="5250922" y="2295337"/>
                  <a:pt x="3518165" y="4703571"/>
                </a:cubicBezTo>
                <a:cubicBezTo>
                  <a:pt x="1785408" y="7110821"/>
                  <a:pt x="4850" y="6371943"/>
                  <a:pt x="4850" y="6371943"/>
                </a:cubicBezTo>
                <a:lnTo>
                  <a:pt x="0" y="6083424"/>
                </a:lnTo>
                <a:lnTo>
                  <a:pt x="0" y="4957873"/>
                </a:lnTo>
                <a:lnTo>
                  <a:pt x="27210" y="4967674"/>
                </a:lnTo>
                <a:cubicBezTo>
                  <a:pt x="239930" y="5036640"/>
                  <a:pt x="1164005" y="5214497"/>
                  <a:pt x="2335110" y="3646345"/>
                </a:cubicBezTo>
                <a:cubicBezTo>
                  <a:pt x="3486174" y="2104845"/>
                  <a:pt x="4800399" y="26979"/>
                  <a:pt x="7144392" y="261"/>
                </a:cubicBezTo>
                <a:close/>
              </a:path>
            </a:pathLst>
          </a:custGeom>
          <a:gradFill flip="none" rotWithShape="1">
            <a:gsLst>
              <a:gs pos="14000">
                <a:schemeClr val="accent2"/>
              </a:gs>
              <a:gs pos="84000">
                <a:srgbClr val="FFFF00"/>
              </a:gs>
            </a:gsLst>
            <a:lin ang="48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gradFill>
                <a:gsLst>
                  <a:gs pos="100000">
                    <a:schemeClr val="accent3"/>
                  </a:gs>
                  <a:gs pos="0">
                    <a:schemeClr val="accent4"/>
                  </a:gs>
                </a:gsLst>
                <a:lin ang="13500000" scaled="1"/>
              </a:gra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71525" y="257830"/>
            <a:ext cx="43348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学而时习之（第</a:t>
            </a:r>
            <a:r>
              <a:rPr lang="en-US" altLang="zh-CN" sz="2800" b="1" dirty="0">
                <a:solidFill>
                  <a:schemeClr val="bg1"/>
                </a:solidFill>
              </a:rPr>
              <a:t>5</a:t>
            </a:r>
            <a:r>
              <a:rPr lang="zh-CN" altLang="en-US" sz="2800" b="1" dirty="0">
                <a:solidFill>
                  <a:schemeClr val="bg1"/>
                </a:solidFill>
              </a:rPr>
              <a:t>章总结）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4475" y="261476"/>
            <a:ext cx="527050" cy="527050"/>
          </a:xfrm>
          <a:prstGeom prst="rect">
            <a:avLst/>
          </a:prstGeom>
        </p:spPr>
      </p:pic>
      <p:graphicFrame>
        <p:nvGraphicFramePr>
          <p:cNvPr id="13" name="表格 12"/>
          <p:cNvGraphicFramePr/>
          <p:nvPr>
            <p:custDataLst>
              <p:tags r:id="rId3"/>
            </p:custDataLst>
          </p:nvPr>
        </p:nvGraphicFramePr>
        <p:xfrm>
          <a:off x="346521" y="1618422"/>
          <a:ext cx="3839113" cy="478945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123083"/>
                <a:gridCol w="2716030"/>
              </a:tblGrid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微软雅黑 (正文)"/>
                        </a:rPr>
                        <a:t>第1章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微软雅黑 (正文)"/>
                        </a:rPr>
                        <a:t>操作系统引论</a:t>
                      </a:r>
                      <a:endParaRPr lang="en-US" altLang="en-US" sz="2000" b="0" dirty="0">
                        <a:solidFill>
                          <a:schemeClr val="tx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noFill/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进程的描述与控制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第3章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处理机调度与死锁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第4章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进程同步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微软雅黑 (正文)"/>
                        </a:rPr>
                        <a:t>第5章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微软雅黑 (正文)"/>
                        </a:rPr>
                        <a:t>存储器管理</a:t>
                      </a:r>
                      <a:endParaRPr lang="en-US" altLang="en-US" sz="2000" b="1" dirty="0">
                        <a:solidFill>
                          <a:schemeClr val="bg1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>
                    <a:solidFill>
                      <a:srgbClr val="FFC000"/>
                    </a:solidFill>
                  </a:tcPr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>
                          <a:latin typeface="微软雅黑 (正文)"/>
                        </a:rPr>
                        <a:t>第6章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虚拟存储器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第7章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输入</a:t>
                      </a:r>
                      <a:r>
                        <a:rPr lang="en-US" sz="2000" dirty="0">
                          <a:latin typeface="微软雅黑 (正文)"/>
                        </a:rPr>
                        <a:t>/</a:t>
                      </a:r>
                      <a:r>
                        <a:rPr lang="en-US" sz="2000" dirty="0" err="1">
                          <a:latin typeface="微软雅黑 (正文)"/>
                        </a:rPr>
                        <a:t>输出系统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第8章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文件管理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第9章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磁盘存储器管理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第10章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多处理机操作系统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第11章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虚拟化和云计算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  <a:tr h="399121">
                <a:tc>
                  <a:txBody>
                    <a:bodyPr/>
                    <a:lstStyle/>
                    <a:p>
                      <a:pPr marL="71755" indent="0" algn="ct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>
                          <a:latin typeface="微软雅黑 (正文)"/>
                        </a:rPr>
                        <a:t>第12章</a:t>
                      </a:r>
                      <a:endParaRPr lang="en-US" altLang="en-US" sz="2000" b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  <a:tc>
                  <a:txBody>
                    <a:bodyPr/>
                    <a:lstStyle/>
                    <a:p>
                      <a:pPr marL="71755" indent="0" algn="l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US" sz="2000" dirty="0" err="1">
                          <a:latin typeface="微软雅黑 (正文)"/>
                        </a:rPr>
                        <a:t>保护和安全</a:t>
                      </a:r>
                      <a:endParaRPr lang="en-US" altLang="en-US" sz="2000" b="0" dirty="0">
                        <a:solidFill>
                          <a:srgbClr val="000000"/>
                        </a:solidFill>
                        <a:latin typeface="微软雅黑 (正文)"/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98738" marR="98738" marT="0" marB="0" anchor="ctr"/>
                </a:tc>
              </a:tr>
            </a:tbl>
          </a:graphicData>
        </a:graphic>
      </p:graphicFrame>
      <p:sp>
        <p:nvSpPr>
          <p:cNvPr id="16" name="前凸带形 15"/>
          <p:cNvSpPr/>
          <p:nvPr/>
        </p:nvSpPr>
        <p:spPr>
          <a:xfrm>
            <a:off x="10006965" y="6222365"/>
            <a:ext cx="1983740" cy="429260"/>
          </a:xfrm>
          <a:prstGeom prst="ribbon">
            <a:avLst>
              <a:gd name="adj1" fmla="val 16667"/>
              <a:gd name="adj2" fmla="val 67555"/>
            </a:avLst>
          </a:prstGeom>
          <a:solidFill>
            <a:srgbClr val="00005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本章学习结束</a:t>
            </a:r>
            <a:endParaRPr lang="zh-CN" altLang="en-US" sz="1400" b="1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课程思政小讲堂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2" name="内容占位符 3"/>
          <p:cNvSpPr txBox="1"/>
          <p:nvPr/>
        </p:nvSpPr>
        <p:spPr>
          <a:xfrm>
            <a:off x="669925" y="1109446"/>
            <a:ext cx="11243033" cy="54295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警惕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Windows 10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系统安全问题</a:t>
            </a:r>
            <a:endParaRPr lang="zh-CN" altLang="en-US" sz="2400" dirty="0">
              <a:solidFill>
                <a:srgbClr val="0000FF"/>
              </a:solidFill>
              <a:latin typeface="+mn-ea"/>
              <a:cs typeface="黑体" panose="02010609060101010101" charset="-122"/>
            </a:endParaRPr>
          </a:p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坚持走自主创新发展国产操作系统之路</a:t>
            </a:r>
            <a:endParaRPr lang="zh-CN" altLang="en-US" sz="2400" dirty="0">
              <a:solidFill>
                <a:srgbClr val="0000FF"/>
              </a:solidFill>
              <a:latin typeface="+mn-ea"/>
              <a:cs typeface="黑体" panose="02010609060101010101" charset="-122"/>
            </a:endParaRP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2014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年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日，微软公司在美国旧金山召开新品发布会，对外展示了新一代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系统，并将其命名为“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10”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。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2015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年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18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日，微软公司中国官网正式推出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系统中文介绍页面；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7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月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29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日，微软公司发布了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正式版。</a:t>
            </a:r>
            <a:endParaRPr lang="zh-CN" altLang="en-US" sz="2200" dirty="0">
              <a:latin typeface="+mn-ea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200" dirty="0" smtClean="0">
                <a:latin typeface="+mn-ea"/>
                <a:cs typeface="Times New Roman" panose="02020603050405020304" pitchFamily="18" charset="0"/>
              </a:rPr>
              <a:t>在此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背景下，中国信息安全测评中心承担了对</a:t>
            </a:r>
            <a:r>
              <a:rPr lang="en-US" altLang="zh-CN" sz="22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系统的网络安全审查工作，并于审查过程中发现其存在安全问题，即没有通过审查！</a:t>
            </a:r>
            <a:endParaRPr lang="zh-CN" altLang="en-US" sz="2200" dirty="0">
              <a:latin typeface="+mn-ea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200" dirty="0" smtClean="0">
                <a:latin typeface="+mn-ea"/>
                <a:cs typeface="Times New Roman" panose="02020603050405020304" pitchFamily="18" charset="0"/>
              </a:rPr>
              <a:t>实际上</a:t>
            </a:r>
            <a:r>
              <a:rPr lang="zh-CN" altLang="en-US" sz="2200" dirty="0">
                <a:latin typeface="+mn-ea"/>
                <a:cs typeface="Times New Roman" panose="02020603050405020304" pitchFamily="18" charset="0"/>
              </a:rPr>
              <a:t>，我们并不排斥引进国外操作系统，但是要求引进的国外操作系统必须完全可控。微软公司首先未向我们提供全部可重构的源代码，即有百万行量级的源代码未对我们开放（这等于是“黑盒子”），那么这部分源代码就无法做“白盒测试”，在这种情况下我们就难以对其安全性、可控性做准确评估</a:t>
            </a:r>
            <a:r>
              <a:rPr lang="zh-CN" altLang="en-US" sz="2200" dirty="0" smtClean="0">
                <a:latin typeface="+mn-ea"/>
                <a:cs typeface="Times New Roman" panose="02020603050405020304" pitchFamily="18" charset="0"/>
              </a:rPr>
              <a:t>。</a:t>
            </a:r>
            <a:endParaRPr lang="zh-CN" sz="2200" dirty="0"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669925" y="78668"/>
            <a:ext cx="702627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课程思政小讲堂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2" name="内容占位符 3"/>
          <p:cNvSpPr txBox="1"/>
          <p:nvPr/>
        </p:nvSpPr>
        <p:spPr>
          <a:xfrm>
            <a:off x="553792" y="1225357"/>
            <a:ext cx="10886023" cy="5111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警惕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Windows 10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系统安全问题</a:t>
            </a:r>
            <a:endParaRPr lang="zh-CN" altLang="en-US" sz="2400" dirty="0">
              <a:solidFill>
                <a:srgbClr val="0000FF"/>
              </a:solidFill>
              <a:latin typeface="+mn-ea"/>
              <a:cs typeface="黑体" panose="02010609060101010101" charset="-122"/>
            </a:endParaRPr>
          </a:p>
          <a:p>
            <a:pPr marL="0" indent="0"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cs typeface="黑体" panose="02010609060101010101" charset="-122"/>
              </a:rPr>
              <a:t>坚持走自主创新发展国产操作系统之路</a:t>
            </a:r>
            <a:endParaRPr lang="zh-CN" altLang="en-US" sz="2400" dirty="0">
              <a:solidFill>
                <a:srgbClr val="0000FF"/>
              </a:solidFill>
              <a:latin typeface="+mn-ea"/>
              <a:cs typeface="黑体" panose="02010609060101010101" charset="-122"/>
            </a:endParaRP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  同时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系统捆绑了可信计算技术和杀毒软件，这也对我国可信计算厂商和国内外信息安全厂商构成了不正当竞争！因此，我们要高度警惕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Windows 10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系统的安全问题，力求通过自主创新发展国产操作系统。</a:t>
            </a:r>
            <a:endParaRPr lang="zh-CN" altLang="en-US" sz="2400" dirty="0">
              <a:latin typeface="+mn-ea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dirty="0" smtClean="0">
                <a:latin typeface="+mn-ea"/>
                <a:cs typeface="Times New Roman" panose="02020603050405020304" pitchFamily="18" charset="0"/>
              </a:rPr>
              <a:t>此外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，考虑到我国的超级计算机、知名互联网企业等均采用了开源</a:t>
            </a:r>
            <a:r>
              <a:rPr lang="en-US" altLang="zh-CN" sz="2400" dirty="0">
                <a:latin typeface="+mn-ea"/>
                <a:cs typeface="Times New Roman" panose="02020603050405020304" pitchFamily="18" charset="0"/>
              </a:rPr>
              <a:t>Linux</a:t>
            </a:r>
            <a:r>
              <a:rPr lang="zh-CN" altLang="en-US" sz="2400" dirty="0">
                <a:latin typeface="+mn-ea"/>
                <a:cs typeface="Times New Roman" panose="02020603050405020304" pitchFamily="18" charset="0"/>
              </a:rPr>
              <a:t>系统这一基础软件，且经过实践检验证明其切实可行。</a:t>
            </a:r>
            <a:endParaRPr lang="zh-CN" altLang="en-US" sz="2400" dirty="0">
              <a:latin typeface="+mn-ea"/>
              <a:cs typeface="Times New Roman" panose="02020603050405020304" pitchFamily="18" charset="0"/>
            </a:endParaRPr>
          </a:p>
          <a:p>
            <a:pPr marL="0" indent="457200"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2400" u="sng" dirty="0" smtClean="0">
                <a:latin typeface="+mn-ea"/>
                <a:cs typeface="Times New Roman" panose="02020603050405020304" pitchFamily="18" charset="0"/>
              </a:rPr>
              <a:t>因此</a:t>
            </a:r>
            <a:r>
              <a:rPr lang="zh-CN" altLang="en-US" sz="2400" u="sng" dirty="0">
                <a:latin typeface="+mn-ea"/>
                <a:cs typeface="Times New Roman" panose="02020603050405020304" pitchFamily="18" charset="0"/>
              </a:rPr>
              <a:t>，我们应该深刻理解“国产操作系统才是安全可控国产信息技术体系的核心”这一关键点，基于开源</a:t>
            </a:r>
            <a:r>
              <a:rPr lang="en-US" altLang="zh-CN" sz="2400" u="sng" dirty="0">
                <a:latin typeface="+mn-ea"/>
                <a:cs typeface="Times New Roman" panose="02020603050405020304" pitchFamily="18" charset="0"/>
              </a:rPr>
              <a:t>Linux</a:t>
            </a:r>
            <a:r>
              <a:rPr lang="zh-CN" altLang="en-US" sz="2400" u="sng" dirty="0">
                <a:latin typeface="+mn-ea"/>
                <a:cs typeface="Times New Roman" panose="02020603050405020304" pitchFamily="18" charset="0"/>
              </a:rPr>
              <a:t>系统，依靠各方力量创新发展安全可靠、自主可控的国产操作系统。</a:t>
            </a:r>
            <a:endParaRPr lang="zh-CN" sz="2400" u="sng" dirty="0"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" name="think-cell Slide" r:id="rId2" imgW="9525" imgH="9525" progId="TCLayout.ActiveDocument.1">
                  <p:embed/>
                </p:oleObj>
              </mc:Choice>
              <mc:Fallback>
                <p:oleObj name="think-cell Slide" r:id="rId2" imgW="9525" imgH="9525" progId="TCLayout.ActiveDocument.1">
                  <p:embed/>
                  <p:pic>
                    <p:nvPicPr>
                      <p:cNvPr id="0" name="对象 2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/>
          <p:cNvSpPr/>
          <p:nvPr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4742091" y="2077986"/>
            <a:ext cx="6536871" cy="2390427"/>
          </a:xfrm>
        </p:spPr>
        <p:txBody>
          <a:bodyPr>
            <a:normAutofit/>
          </a:bodyPr>
          <a:lstStyle/>
          <a:p>
            <a:r>
              <a:rPr lang="zh-CN" altLang="en-US" sz="6600" dirty="0"/>
              <a:t>学 习 进 步 ！</a:t>
            </a:r>
            <a:endParaRPr lang="zh-CN" altLang="en-US" sz="4000" dirty="0"/>
          </a:p>
        </p:txBody>
      </p:sp>
      <p:sp>
        <p:nvSpPr>
          <p:cNvPr id="8" name="任意多边形: 形状 7"/>
          <p:cNvSpPr/>
          <p:nvPr/>
        </p:nvSpPr>
        <p:spPr>
          <a:xfrm>
            <a:off x="669925" y="2344255"/>
            <a:ext cx="552196" cy="3896208"/>
          </a:xfrm>
          <a:custGeom>
            <a:avLst/>
            <a:gdLst>
              <a:gd name="connsiteX0" fmla="*/ 438280 w 513703"/>
              <a:gd name="connsiteY0" fmla="*/ 3473760 h 3624606"/>
              <a:gd name="connsiteX1" fmla="*/ 513703 w 513703"/>
              <a:gd name="connsiteY1" fmla="*/ 3549183 h 3624606"/>
              <a:gd name="connsiteX2" fmla="*/ 438280 w 513703"/>
              <a:gd name="connsiteY2" fmla="*/ 3624606 h 3624606"/>
              <a:gd name="connsiteX3" fmla="*/ 362857 w 513703"/>
              <a:gd name="connsiteY3" fmla="*/ 3549183 h 3624606"/>
              <a:gd name="connsiteX4" fmla="*/ 438280 w 513703"/>
              <a:gd name="connsiteY4" fmla="*/ 3473760 h 3624606"/>
              <a:gd name="connsiteX5" fmla="*/ 75423 w 513703"/>
              <a:gd name="connsiteY5" fmla="*/ 3473760 h 3624606"/>
              <a:gd name="connsiteX6" fmla="*/ 150846 w 513703"/>
              <a:gd name="connsiteY6" fmla="*/ 3549183 h 3624606"/>
              <a:gd name="connsiteX7" fmla="*/ 75423 w 513703"/>
              <a:gd name="connsiteY7" fmla="*/ 3624606 h 3624606"/>
              <a:gd name="connsiteX8" fmla="*/ 0 w 513703"/>
              <a:gd name="connsiteY8" fmla="*/ 3549183 h 3624606"/>
              <a:gd name="connsiteX9" fmla="*/ 75423 w 513703"/>
              <a:gd name="connsiteY9" fmla="*/ 3473760 h 3624606"/>
              <a:gd name="connsiteX10" fmla="*/ 438280 w 513703"/>
              <a:gd name="connsiteY10" fmla="*/ 3126882 h 3624606"/>
              <a:gd name="connsiteX11" fmla="*/ 513703 w 513703"/>
              <a:gd name="connsiteY11" fmla="*/ 3202305 h 3624606"/>
              <a:gd name="connsiteX12" fmla="*/ 438280 w 513703"/>
              <a:gd name="connsiteY12" fmla="*/ 3277728 h 3624606"/>
              <a:gd name="connsiteX13" fmla="*/ 362857 w 513703"/>
              <a:gd name="connsiteY13" fmla="*/ 3202305 h 3624606"/>
              <a:gd name="connsiteX14" fmla="*/ 438280 w 513703"/>
              <a:gd name="connsiteY14" fmla="*/ 3126882 h 3624606"/>
              <a:gd name="connsiteX15" fmla="*/ 75423 w 513703"/>
              <a:gd name="connsiteY15" fmla="*/ 3126882 h 3624606"/>
              <a:gd name="connsiteX16" fmla="*/ 150846 w 513703"/>
              <a:gd name="connsiteY16" fmla="*/ 3202305 h 3624606"/>
              <a:gd name="connsiteX17" fmla="*/ 75423 w 513703"/>
              <a:gd name="connsiteY17" fmla="*/ 3277728 h 3624606"/>
              <a:gd name="connsiteX18" fmla="*/ 0 w 513703"/>
              <a:gd name="connsiteY18" fmla="*/ 3202305 h 3624606"/>
              <a:gd name="connsiteX19" fmla="*/ 75423 w 513703"/>
              <a:gd name="connsiteY19" fmla="*/ 3126882 h 3624606"/>
              <a:gd name="connsiteX20" fmla="*/ 438280 w 513703"/>
              <a:gd name="connsiteY20" fmla="*/ 2780004 h 3624606"/>
              <a:gd name="connsiteX21" fmla="*/ 513703 w 513703"/>
              <a:gd name="connsiteY21" fmla="*/ 2855427 h 3624606"/>
              <a:gd name="connsiteX22" fmla="*/ 438280 w 513703"/>
              <a:gd name="connsiteY22" fmla="*/ 2930850 h 3624606"/>
              <a:gd name="connsiteX23" fmla="*/ 362857 w 513703"/>
              <a:gd name="connsiteY23" fmla="*/ 2855427 h 3624606"/>
              <a:gd name="connsiteX24" fmla="*/ 438280 w 513703"/>
              <a:gd name="connsiteY24" fmla="*/ 2780004 h 3624606"/>
              <a:gd name="connsiteX25" fmla="*/ 75423 w 513703"/>
              <a:gd name="connsiteY25" fmla="*/ 2780004 h 3624606"/>
              <a:gd name="connsiteX26" fmla="*/ 150846 w 513703"/>
              <a:gd name="connsiteY26" fmla="*/ 2855427 h 3624606"/>
              <a:gd name="connsiteX27" fmla="*/ 75423 w 513703"/>
              <a:gd name="connsiteY27" fmla="*/ 2930850 h 3624606"/>
              <a:gd name="connsiteX28" fmla="*/ 0 w 513703"/>
              <a:gd name="connsiteY28" fmla="*/ 2855427 h 3624606"/>
              <a:gd name="connsiteX29" fmla="*/ 75423 w 513703"/>
              <a:gd name="connsiteY29" fmla="*/ 2780004 h 3624606"/>
              <a:gd name="connsiteX30" fmla="*/ 438280 w 513703"/>
              <a:gd name="connsiteY30" fmla="*/ 2433126 h 3624606"/>
              <a:gd name="connsiteX31" fmla="*/ 513703 w 513703"/>
              <a:gd name="connsiteY31" fmla="*/ 2508549 h 3624606"/>
              <a:gd name="connsiteX32" fmla="*/ 438280 w 513703"/>
              <a:gd name="connsiteY32" fmla="*/ 2583972 h 3624606"/>
              <a:gd name="connsiteX33" fmla="*/ 362857 w 513703"/>
              <a:gd name="connsiteY33" fmla="*/ 2508549 h 3624606"/>
              <a:gd name="connsiteX34" fmla="*/ 438280 w 513703"/>
              <a:gd name="connsiteY34" fmla="*/ 2433126 h 3624606"/>
              <a:gd name="connsiteX35" fmla="*/ 75423 w 513703"/>
              <a:gd name="connsiteY35" fmla="*/ 2433126 h 3624606"/>
              <a:gd name="connsiteX36" fmla="*/ 150846 w 513703"/>
              <a:gd name="connsiteY36" fmla="*/ 2508549 h 3624606"/>
              <a:gd name="connsiteX37" fmla="*/ 75423 w 513703"/>
              <a:gd name="connsiteY37" fmla="*/ 2583972 h 3624606"/>
              <a:gd name="connsiteX38" fmla="*/ 0 w 513703"/>
              <a:gd name="connsiteY38" fmla="*/ 2508549 h 3624606"/>
              <a:gd name="connsiteX39" fmla="*/ 75423 w 513703"/>
              <a:gd name="connsiteY39" fmla="*/ 2433126 h 3624606"/>
              <a:gd name="connsiteX40" fmla="*/ 438280 w 513703"/>
              <a:gd name="connsiteY40" fmla="*/ 2086248 h 3624606"/>
              <a:gd name="connsiteX41" fmla="*/ 513703 w 513703"/>
              <a:gd name="connsiteY41" fmla="*/ 2161671 h 3624606"/>
              <a:gd name="connsiteX42" fmla="*/ 438280 w 513703"/>
              <a:gd name="connsiteY42" fmla="*/ 2237094 h 3624606"/>
              <a:gd name="connsiteX43" fmla="*/ 362857 w 513703"/>
              <a:gd name="connsiteY43" fmla="*/ 2161671 h 3624606"/>
              <a:gd name="connsiteX44" fmla="*/ 438280 w 513703"/>
              <a:gd name="connsiteY44" fmla="*/ 2086248 h 3624606"/>
              <a:gd name="connsiteX45" fmla="*/ 75423 w 513703"/>
              <a:gd name="connsiteY45" fmla="*/ 2086248 h 3624606"/>
              <a:gd name="connsiteX46" fmla="*/ 150846 w 513703"/>
              <a:gd name="connsiteY46" fmla="*/ 2161671 h 3624606"/>
              <a:gd name="connsiteX47" fmla="*/ 75423 w 513703"/>
              <a:gd name="connsiteY47" fmla="*/ 2237094 h 3624606"/>
              <a:gd name="connsiteX48" fmla="*/ 0 w 513703"/>
              <a:gd name="connsiteY48" fmla="*/ 2161671 h 3624606"/>
              <a:gd name="connsiteX49" fmla="*/ 75423 w 513703"/>
              <a:gd name="connsiteY49" fmla="*/ 2086248 h 3624606"/>
              <a:gd name="connsiteX50" fmla="*/ 438280 w 513703"/>
              <a:gd name="connsiteY50" fmla="*/ 1734390 h 3624606"/>
              <a:gd name="connsiteX51" fmla="*/ 513703 w 513703"/>
              <a:gd name="connsiteY51" fmla="*/ 1809813 h 3624606"/>
              <a:gd name="connsiteX52" fmla="*/ 513200 w 513703"/>
              <a:gd name="connsiteY52" fmla="*/ 1812303 h 3624606"/>
              <a:gd name="connsiteX53" fmla="*/ 513703 w 513703"/>
              <a:gd name="connsiteY53" fmla="*/ 1814793 h 3624606"/>
              <a:gd name="connsiteX54" fmla="*/ 438280 w 513703"/>
              <a:gd name="connsiteY54" fmla="*/ 1890216 h 3624606"/>
              <a:gd name="connsiteX55" fmla="*/ 362857 w 513703"/>
              <a:gd name="connsiteY55" fmla="*/ 1814793 h 3624606"/>
              <a:gd name="connsiteX56" fmla="*/ 363360 w 513703"/>
              <a:gd name="connsiteY56" fmla="*/ 1812303 h 3624606"/>
              <a:gd name="connsiteX57" fmla="*/ 362857 w 513703"/>
              <a:gd name="connsiteY57" fmla="*/ 1809813 h 3624606"/>
              <a:gd name="connsiteX58" fmla="*/ 438280 w 513703"/>
              <a:gd name="connsiteY58" fmla="*/ 1734390 h 3624606"/>
              <a:gd name="connsiteX59" fmla="*/ 75423 w 513703"/>
              <a:gd name="connsiteY59" fmla="*/ 1734390 h 3624606"/>
              <a:gd name="connsiteX60" fmla="*/ 150846 w 513703"/>
              <a:gd name="connsiteY60" fmla="*/ 1809813 h 3624606"/>
              <a:gd name="connsiteX61" fmla="*/ 150343 w 513703"/>
              <a:gd name="connsiteY61" fmla="*/ 1812303 h 3624606"/>
              <a:gd name="connsiteX62" fmla="*/ 150846 w 513703"/>
              <a:gd name="connsiteY62" fmla="*/ 1814793 h 3624606"/>
              <a:gd name="connsiteX63" fmla="*/ 75423 w 513703"/>
              <a:gd name="connsiteY63" fmla="*/ 1890216 h 3624606"/>
              <a:gd name="connsiteX64" fmla="*/ 0 w 513703"/>
              <a:gd name="connsiteY64" fmla="*/ 1814793 h 3624606"/>
              <a:gd name="connsiteX65" fmla="*/ 503 w 513703"/>
              <a:gd name="connsiteY65" fmla="*/ 1812303 h 3624606"/>
              <a:gd name="connsiteX66" fmla="*/ 0 w 513703"/>
              <a:gd name="connsiteY66" fmla="*/ 1809813 h 3624606"/>
              <a:gd name="connsiteX67" fmla="*/ 75423 w 513703"/>
              <a:gd name="connsiteY67" fmla="*/ 1734390 h 3624606"/>
              <a:gd name="connsiteX68" fmla="*/ 438280 w 513703"/>
              <a:gd name="connsiteY68" fmla="*/ 1387512 h 3624606"/>
              <a:gd name="connsiteX69" fmla="*/ 513703 w 513703"/>
              <a:gd name="connsiteY69" fmla="*/ 1462935 h 3624606"/>
              <a:gd name="connsiteX70" fmla="*/ 438280 w 513703"/>
              <a:gd name="connsiteY70" fmla="*/ 1538358 h 3624606"/>
              <a:gd name="connsiteX71" fmla="*/ 362857 w 513703"/>
              <a:gd name="connsiteY71" fmla="*/ 1462935 h 3624606"/>
              <a:gd name="connsiteX72" fmla="*/ 438280 w 513703"/>
              <a:gd name="connsiteY72" fmla="*/ 1387512 h 3624606"/>
              <a:gd name="connsiteX73" fmla="*/ 75423 w 513703"/>
              <a:gd name="connsiteY73" fmla="*/ 1387512 h 3624606"/>
              <a:gd name="connsiteX74" fmla="*/ 150846 w 513703"/>
              <a:gd name="connsiteY74" fmla="*/ 1462935 h 3624606"/>
              <a:gd name="connsiteX75" fmla="*/ 75423 w 513703"/>
              <a:gd name="connsiteY75" fmla="*/ 1538358 h 3624606"/>
              <a:gd name="connsiteX76" fmla="*/ 0 w 513703"/>
              <a:gd name="connsiteY76" fmla="*/ 1462935 h 3624606"/>
              <a:gd name="connsiteX77" fmla="*/ 75423 w 513703"/>
              <a:gd name="connsiteY77" fmla="*/ 1387512 h 3624606"/>
              <a:gd name="connsiteX78" fmla="*/ 75423 w 513703"/>
              <a:gd name="connsiteY78" fmla="*/ 1040634 h 3624606"/>
              <a:gd name="connsiteX79" fmla="*/ 150846 w 513703"/>
              <a:gd name="connsiteY79" fmla="*/ 1116057 h 3624606"/>
              <a:gd name="connsiteX80" fmla="*/ 75423 w 513703"/>
              <a:gd name="connsiteY80" fmla="*/ 1191480 h 3624606"/>
              <a:gd name="connsiteX81" fmla="*/ 0 w 513703"/>
              <a:gd name="connsiteY81" fmla="*/ 1116057 h 3624606"/>
              <a:gd name="connsiteX82" fmla="*/ 75423 w 513703"/>
              <a:gd name="connsiteY82" fmla="*/ 1040634 h 3624606"/>
              <a:gd name="connsiteX83" fmla="*/ 438280 w 513703"/>
              <a:gd name="connsiteY83" fmla="*/ 1040634 h 3624606"/>
              <a:gd name="connsiteX84" fmla="*/ 513703 w 513703"/>
              <a:gd name="connsiteY84" fmla="*/ 1116057 h 3624606"/>
              <a:gd name="connsiteX85" fmla="*/ 438280 w 513703"/>
              <a:gd name="connsiteY85" fmla="*/ 1191480 h 3624606"/>
              <a:gd name="connsiteX86" fmla="*/ 362857 w 513703"/>
              <a:gd name="connsiteY86" fmla="*/ 1116057 h 3624606"/>
              <a:gd name="connsiteX87" fmla="*/ 438280 w 513703"/>
              <a:gd name="connsiteY87" fmla="*/ 1040634 h 3624606"/>
              <a:gd name="connsiteX88" fmla="*/ 438280 w 513703"/>
              <a:gd name="connsiteY88" fmla="*/ 693756 h 3624606"/>
              <a:gd name="connsiteX89" fmla="*/ 513703 w 513703"/>
              <a:gd name="connsiteY89" fmla="*/ 769179 h 3624606"/>
              <a:gd name="connsiteX90" fmla="*/ 438280 w 513703"/>
              <a:gd name="connsiteY90" fmla="*/ 844602 h 3624606"/>
              <a:gd name="connsiteX91" fmla="*/ 362857 w 513703"/>
              <a:gd name="connsiteY91" fmla="*/ 769179 h 3624606"/>
              <a:gd name="connsiteX92" fmla="*/ 438280 w 513703"/>
              <a:gd name="connsiteY92" fmla="*/ 693756 h 3624606"/>
              <a:gd name="connsiteX93" fmla="*/ 75423 w 513703"/>
              <a:gd name="connsiteY93" fmla="*/ 693756 h 3624606"/>
              <a:gd name="connsiteX94" fmla="*/ 150846 w 513703"/>
              <a:gd name="connsiteY94" fmla="*/ 769179 h 3624606"/>
              <a:gd name="connsiteX95" fmla="*/ 75423 w 513703"/>
              <a:gd name="connsiteY95" fmla="*/ 844602 h 3624606"/>
              <a:gd name="connsiteX96" fmla="*/ 0 w 513703"/>
              <a:gd name="connsiteY96" fmla="*/ 769179 h 3624606"/>
              <a:gd name="connsiteX97" fmla="*/ 75423 w 513703"/>
              <a:gd name="connsiteY97" fmla="*/ 693756 h 3624606"/>
              <a:gd name="connsiteX98" fmla="*/ 75423 w 513703"/>
              <a:gd name="connsiteY98" fmla="*/ 346879 h 3624606"/>
              <a:gd name="connsiteX99" fmla="*/ 150846 w 513703"/>
              <a:gd name="connsiteY99" fmla="*/ 422302 h 3624606"/>
              <a:gd name="connsiteX100" fmla="*/ 75423 w 513703"/>
              <a:gd name="connsiteY100" fmla="*/ 497724 h 3624606"/>
              <a:gd name="connsiteX101" fmla="*/ 0 w 513703"/>
              <a:gd name="connsiteY101" fmla="*/ 422302 h 3624606"/>
              <a:gd name="connsiteX102" fmla="*/ 75423 w 513703"/>
              <a:gd name="connsiteY102" fmla="*/ 346879 h 3624606"/>
              <a:gd name="connsiteX103" fmla="*/ 438280 w 513703"/>
              <a:gd name="connsiteY103" fmla="*/ 346878 h 3624606"/>
              <a:gd name="connsiteX104" fmla="*/ 513703 w 513703"/>
              <a:gd name="connsiteY104" fmla="*/ 422301 h 3624606"/>
              <a:gd name="connsiteX105" fmla="*/ 438280 w 513703"/>
              <a:gd name="connsiteY105" fmla="*/ 497724 h 3624606"/>
              <a:gd name="connsiteX106" fmla="*/ 362857 w 513703"/>
              <a:gd name="connsiteY106" fmla="*/ 422301 h 3624606"/>
              <a:gd name="connsiteX107" fmla="*/ 438280 w 513703"/>
              <a:gd name="connsiteY107" fmla="*/ 346878 h 3624606"/>
              <a:gd name="connsiteX108" fmla="*/ 75423 w 513703"/>
              <a:gd name="connsiteY108" fmla="*/ 1 h 3624606"/>
              <a:gd name="connsiteX109" fmla="*/ 150846 w 513703"/>
              <a:gd name="connsiteY109" fmla="*/ 75424 h 3624606"/>
              <a:gd name="connsiteX110" fmla="*/ 75423 w 513703"/>
              <a:gd name="connsiteY110" fmla="*/ 150847 h 3624606"/>
              <a:gd name="connsiteX111" fmla="*/ 0 w 513703"/>
              <a:gd name="connsiteY111" fmla="*/ 75424 h 3624606"/>
              <a:gd name="connsiteX112" fmla="*/ 75423 w 513703"/>
              <a:gd name="connsiteY112" fmla="*/ 1 h 3624606"/>
              <a:gd name="connsiteX113" fmla="*/ 438280 w 513703"/>
              <a:gd name="connsiteY113" fmla="*/ 0 h 3624606"/>
              <a:gd name="connsiteX114" fmla="*/ 513703 w 513703"/>
              <a:gd name="connsiteY114" fmla="*/ 75424 h 3624606"/>
              <a:gd name="connsiteX115" fmla="*/ 438280 w 513703"/>
              <a:gd name="connsiteY115" fmla="*/ 150847 h 3624606"/>
              <a:gd name="connsiteX116" fmla="*/ 362857 w 513703"/>
              <a:gd name="connsiteY116" fmla="*/ 75424 h 3624606"/>
              <a:gd name="connsiteX117" fmla="*/ 438280 w 513703"/>
              <a:gd name="connsiteY117" fmla="*/ 0 h 362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513703" h="3624606">
                <a:moveTo>
                  <a:pt x="438280" y="3473760"/>
                </a:moveTo>
                <a:cubicBezTo>
                  <a:pt x="479935" y="3473760"/>
                  <a:pt x="513703" y="3507528"/>
                  <a:pt x="513703" y="3549183"/>
                </a:cubicBezTo>
                <a:cubicBezTo>
                  <a:pt x="513703" y="3590838"/>
                  <a:pt x="479935" y="3624606"/>
                  <a:pt x="438280" y="3624606"/>
                </a:cubicBezTo>
                <a:cubicBezTo>
                  <a:pt x="396625" y="3624606"/>
                  <a:pt x="362857" y="3590838"/>
                  <a:pt x="362857" y="3549183"/>
                </a:cubicBezTo>
                <a:cubicBezTo>
                  <a:pt x="362857" y="3507528"/>
                  <a:pt x="396625" y="3473760"/>
                  <a:pt x="438280" y="3473760"/>
                </a:cubicBezTo>
                <a:close/>
                <a:moveTo>
                  <a:pt x="75423" y="3473760"/>
                </a:moveTo>
                <a:cubicBezTo>
                  <a:pt x="117078" y="3473760"/>
                  <a:pt x="150846" y="3507528"/>
                  <a:pt x="150846" y="3549183"/>
                </a:cubicBezTo>
                <a:cubicBezTo>
                  <a:pt x="150846" y="3590838"/>
                  <a:pt x="117078" y="3624606"/>
                  <a:pt x="75423" y="3624606"/>
                </a:cubicBezTo>
                <a:cubicBezTo>
                  <a:pt x="33768" y="3624606"/>
                  <a:pt x="0" y="3590838"/>
                  <a:pt x="0" y="3549183"/>
                </a:cubicBezTo>
                <a:cubicBezTo>
                  <a:pt x="0" y="3507528"/>
                  <a:pt x="33768" y="3473760"/>
                  <a:pt x="75423" y="3473760"/>
                </a:cubicBezTo>
                <a:close/>
                <a:moveTo>
                  <a:pt x="438280" y="3126882"/>
                </a:moveTo>
                <a:cubicBezTo>
                  <a:pt x="479935" y="3126882"/>
                  <a:pt x="513703" y="3160650"/>
                  <a:pt x="513703" y="3202305"/>
                </a:cubicBezTo>
                <a:cubicBezTo>
                  <a:pt x="513703" y="3243960"/>
                  <a:pt x="479935" y="3277728"/>
                  <a:pt x="438280" y="3277728"/>
                </a:cubicBezTo>
                <a:cubicBezTo>
                  <a:pt x="396625" y="3277728"/>
                  <a:pt x="362857" y="3243960"/>
                  <a:pt x="362857" y="3202305"/>
                </a:cubicBezTo>
                <a:cubicBezTo>
                  <a:pt x="362857" y="3160650"/>
                  <a:pt x="396625" y="3126882"/>
                  <a:pt x="438280" y="3126882"/>
                </a:cubicBezTo>
                <a:close/>
                <a:moveTo>
                  <a:pt x="75423" y="3126882"/>
                </a:moveTo>
                <a:cubicBezTo>
                  <a:pt x="117078" y="3126882"/>
                  <a:pt x="150846" y="3160650"/>
                  <a:pt x="150846" y="3202305"/>
                </a:cubicBezTo>
                <a:cubicBezTo>
                  <a:pt x="150846" y="3243960"/>
                  <a:pt x="117078" y="3277728"/>
                  <a:pt x="75423" y="3277728"/>
                </a:cubicBezTo>
                <a:cubicBezTo>
                  <a:pt x="33768" y="3277728"/>
                  <a:pt x="0" y="3243960"/>
                  <a:pt x="0" y="3202305"/>
                </a:cubicBezTo>
                <a:cubicBezTo>
                  <a:pt x="0" y="3160650"/>
                  <a:pt x="33768" y="3126882"/>
                  <a:pt x="75423" y="3126882"/>
                </a:cubicBezTo>
                <a:close/>
                <a:moveTo>
                  <a:pt x="438280" y="2780004"/>
                </a:moveTo>
                <a:cubicBezTo>
                  <a:pt x="479935" y="2780004"/>
                  <a:pt x="513703" y="2813772"/>
                  <a:pt x="513703" y="2855427"/>
                </a:cubicBezTo>
                <a:cubicBezTo>
                  <a:pt x="513703" y="2897082"/>
                  <a:pt x="479935" y="2930850"/>
                  <a:pt x="438280" y="2930850"/>
                </a:cubicBezTo>
                <a:cubicBezTo>
                  <a:pt x="396625" y="2930850"/>
                  <a:pt x="362857" y="2897082"/>
                  <a:pt x="362857" y="2855427"/>
                </a:cubicBezTo>
                <a:cubicBezTo>
                  <a:pt x="362857" y="2813772"/>
                  <a:pt x="396625" y="2780004"/>
                  <a:pt x="438280" y="2780004"/>
                </a:cubicBezTo>
                <a:close/>
                <a:moveTo>
                  <a:pt x="75423" y="2780004"/>
                </a:moveTo>
                <a:cubicBezTo>
                  <a:pt x="117078" y="2780004"/>
                  <a:pt x="150846" y="2813772"/>
                  <a:pt x="150846" y="2855427"/>
                </a:cubicBezTo>
                <a:cubicBezTo>
                  <a:pt x="150846" y="2897082"/>
                  <a:pt x="117078" y="2930850"/>
                  <a:pt x="75423" y="2930850"/>
                </a:cubicBezTo>
                <a:cubicBezTo>
                  <a:pt x="33768" y="2930850"/>
                  <a:pt x="0" y="2897082"/>
                  <a:pt x="0" y="2855427"/>
                </a:cubicBezTo>
                <a:cubicBezTo>
                  <a:pt x="0" y="2813772"/>
                  <a:pt x="33768" y="2780004"/>
                  <a:pt x="75423" y="2780004"/>
                </a:cubicBezTo>
                <a:close/>
                <a:moveTo>
                  <a:pt x="438280" y="2433126"/>
                </a:moveTo>
                <a:cubicBezTo>
                  <a:pt x="479935" y="2433126"/>
                  <a:pt x="513703" y="2466894"/>
                  <a:pt x="513703" y="2508549"/>
                </a:cubicBezTo>
                <a:cubicBezTo>
                  <a:pt x="513703" y="2550204"/>
                  <a:pt x="479935" y="2583972"/>
                  <a:pt x="438280" y="2583972"/>
                </a:cubicBezTo>
                <a:cubicBezTo>
                  <a:pt x="396625" y="2583972"/>
                  <a:pt x="362857" y="2550204"/>
                  <a:pt x="362857" y="2508549"/>
                </a:cubicBezTo>
                <a:cubicBezTo>
                  <a:pt x="362857" y="2466894"/>
                  <a:pt x="396625" y="2433126"/>
                  <a:pt x="438280" y="2433126"/>
                </a:cubicBezTo>
                <a:close/>
                <a:moveTo>
                  <a:pt x="75423" y="2433126"/>
                </a:moveTo>
                <a:cubicBezTo>
                  <a:pt x="117078" y="2433126"/>
                  <a:pt x="150846" y="2466894"/>
                  <a:pt x="150846" y="2508549"/>
                </a:cubicBezTo>
                <a:cubicBezTo>
                  <a:pt x="150846" y="2550204"/>
                  <a:pt x="117078" y="2583972"/>
                  <a:pt x="75423" y="2583972"/>
                </a:cubicBezTo>
                <a:cubicBezTo>
                  <a:pt x="33768" y="2583972"/>
                  <a:pt x="0" y="2550204"/>
                  <a:pt x="0" y="2508549"/>
                </a:cubicBezTo>
                <a:cubicBezTo>
                  <a:pt x="0" y="2466894"/>
                  <a:pt x="33768" y="2433126"/>
                  <a:pt x="75423" y="2433126"/>
                </a:cubicBezTo>
                <a:close/>
                <a:moveTo>
                  <a:pt x="438280" y="2086248"/>
                </a:moveTo>
                <a:cubicBezTo>
                  <a:pt x="479935" y="2086248"/>
                  <a:pt x="513703" y="2120016"/>
                  <a:pt x="513703" y="2161671"/>
                </a:cubicBezTo>
                <a:cubicBezTo>
                  <a:pt x="513703" y="2203326"/>
                  <a:pt x="479935" y="2237094"/>
                  <a:pt x="438280" y="2237094"/>
                </a:cubicBezTo>
                <a:cubicBezTo>
                  <a:pt x="396625" y="2237094"/>
                  <a:pt x="362857" y="2203326"/>
                  <a:pt x="362857" y="2161671"/>
                </a:cubicBezTo>
                <a:cubicBezTo>
                  <a:pt x="362857" y="2120016"/>
                  <a:pt x="396625" y="2086248"/>
                  <a:pt x="438280" y="2086248"/>
                </a:cubicBezTo>
                <a:close/>
                <a:moveTo>
                  <a:pt x="75423" y="2086248"/>
                </a:moveTo>
                <a:cubicBezTo>
                  <a:pt x="117078" y="2086248"/>
                  <a:pt x="150846" y="2120016"/>
                  <a:pt x="150846" y="2161671"/>
                </a:cubicBezTo>
                <a:cubicBezTo>
                  <a:pt x="150846" y="2203326"/>
                  <a:pt x="117078" y="2237094"/>
                  <a:pt x="75423" y="2237094"/>
                </a:cubicBezTo>
                <a:cubicBezTo>
                  <a:pt x="33768" y="2237094"/>
                  <a:pt x="0" y="2203326"/>
                  <a:pt x="0" y="2161671"/>
                </a:cubicBezTo>
                <a:cubicBezTo>
                  <a:pt x="0" y="2120016"/>
                  <a:pt x="33768" y="2086248"/>
                  <a:pt x="75423" y="2086248"/>
                </a:cubicBezTo>
                <a:close/>
                <a:moveTo>
                  <a:pt x="438280" y="1734390"/>
                </a:moveTo>
                <a:cubicBezTo>
                  <a:pt x="479935" y="1734390"/>
                  <a:pt x="513703" y="1768158"/>
                  <a:pt x="513703" y="1809813"/>
                </a:cubicBezTo>
                <a:lnTo>
                  <a:pt x="513200" y="1812303"/>
                </a:lnTo>
                <a:lnTo>
                  <a:pt x="513703" y="1814793"/>
                </a:lnTo>
                <a:cubicBezTo>
                  <a:pt x="513703" y="1856448"/>
                  <a:pt x="479935" y="1890216"/>
                  <a:pt x="438280" y="1890216"/>
                </a:cubicBezTo>
                <a:cubicBezTo>
                  <a:pt x="396625" y="1890216"/>
                  <a:pt x="362857" y="1856448"/>
                  <a:pt x="362857" y="1814793"/>
                </a:cubicBezTo>
                <a:lnTo>
                  <a:pt x="363360" y="1812303"/>
                </a:lnTo>
                <a:lnTo>
                  <a:pt x="362857" y="1809813"/>
                </a:lnTo>
                <a:cubicBezTo>
                  <a:pt x="362857" y="1768158"/>
                  <a:pt x="396625" y="1734390"/>
                  <a:pt x="438280" y="1734390"/>
                </a:cubicBezTo>
                <a:close/>
                <a:moveTo>
                  <a:pt x="75423" y="1734390"/>
                </a:moveTo>
                <a:cubicBezTo>
                  <a:pt x="117078" y="1734390"/>
                  <a:pt x="150846" y="1768158"/>
                  <a:pt x="150846" y="1809813"/>
                </a:cubicBezTo>
                <a:lnTo>
                  <a:pt x="150343" y="1812303"/>
                </a:lnTo>
                <a:lnTo>
                  <a:pt x="150846" y="1814793"/>
                </a:lnTo>
                <a:cubicBezTo>
                  <a:pt x="150846" y="1856448"/>
                  <a:pt x="117078" y="1890216"/>
                  <a:pt x="75423" y="1890216"/>
                </a:cubicBezTo>
                <a:cubicBezTo>
                  <a:pt x="33768" y="1890216"/>
                  <a:pt x="0" y="1856448"/>
                  <a:pt x="0" y="1814793"/>
                </a:cubicBezTo>
                <a:lnTo>
                  <a:pt x="503" y="1812303"/>
                </a:lnTo>
                <a:lnTo>
                  <a:pt x="0" y="1809813"/>
                </a:lnTo>
                <a:cubicBezTo>
                  <a:pt x="0" y="1768158"/>
                  <a:pt x="33768" y="1734390"/>
                  <a:pt x="75423" y="1734390"/>
                </a:cubicBezTo>
                <a:close/>
                <a:moveTo>
                  <a:pt x="438280" y="1387512"/>
                </a:moveTo>
                <a:cubicBezTo>
                  <a:pt x="479935" y="1387512"/>
                  <a:pt x="513703" y="1421280"/>
                  <a:pt x="513703" y="1462935"/>
                </a:cubicBezTo>
                <a:cubicBezTo>
                  <a:pt x="513703" y="1504590"/>
                  <a:pt x="479935" y="1538358"/>
                  <a:pt x="438280" y="1538358"/>
                </a:cubicBezTo>
                <a:cubicBezTo>
                  <a:pt x="396625" y="1538358"/>
                  <a:pt x="362857" y="1504590"/>
                  <a:pt x="362857" y="1462935"/>
                </a:cubicBezTo>
                <a:cubicBezTo>
                  <a:pt x="362857" y="1421280"/>
                  <a:pt x="396625" y="1387512"/>
                  <a:pt x="438280" y="1387512"/>
                </a:cubicBezTo>
                <a:close/>
                <a:moveTo>
                  <a:pt x="75423" y="1387512"/>
                </a:moveTo>
                <a:cubicBezTo>
                  <a:pt x="117078" y="1387512"/>
                  <a:pt x="150846" y="1421280"/>
                  <a:pt x="150846" y="1462935"/>
                </a:cubicBezTo>
                <a:cubicBezTo>
                  <a:pt x="150846" y="1504590"/>
                  <a:pt x="117078" y="1538358"/>
                  <a:pt x="75423" y="1538358"/>
                </a:cubicBezTo>
                <a:cubicBezTo>
                  <a:pt x="33768" y="1538358"/>
                  <a:pt x="0" y="1504590"/>
                  <a:pt x="0" y="1462935"/>
                </a:cubicBezTo>
                <a:cubicBezTo>
                  <a:pt x="0" y="1421280"/>
                  <a:pt x="33768" y="1387512"/>
                  <a:pt x="75423" y="1387512"/>
                </a:cubicBezTo>
                <a:close/>
                <a:moveTo>
                  <a:pt x="75423" y="1040634"/>
                </a:moveTo>
                <a:cubicBezTo>
                  <a:pt x="117078" y="1040634"/>
                  <a:pt x="150846" y="1074403"/>
                  <a:pt x="150846" y="1116057"/>
                </a:cubicBezTo>
                <a:cubicBezTo>
                  <a:pt x="150846" y="1157713"/>
                  <a:pt x="117078" y="1191480"/>
                  <a:pt x="75423" y="1191480"/>
                </a:cubicBezTo>
                <a:cubicBezTo>
                  <a:pt x="33768" y="1191480"/>
                  <a:pt x="0" y="1157713"/>
                  <a:pt x="0" y="1116057"/>
                </a:cubicBezTo>
                <a:cubicBezTo>
                  <a:pt x="0" y="1074403"/>
                  <a:pt x="33768" y="1040634"/>
                  <a:pt x="75423" y="1040634"/>
                </a:cubicBezTo>
                <a:close/>
                <a:moveTo>
                  <a:pt x="438280" y="1040634"/>
                </a:moveTo>
                <a:cubicBezTo>
                  <a:pt x="479935" y="1040634"/>
                  <a:pt x="513703" y="1074402"/>
                  <a:pt x="513703" y="1116057"/>
                </a:cubicBezTo>
                <a:cubicBezTo>
                  <a:pt x="513703" y="1157712"/>
                  <a:pt x="479935" y="1191480"/>
                  <a:pt x="438280" y="1191480"/>
                </a:cubicBezTo>
                <a:cubicBezTo>
                  <a:pt x="396625" y="1191480"/>
                  <a:pt x="362857" y="1157712"/>
                  <a:pt x="362857" y="1116057"/>
                </a:cubicBezTo>
                <a:cubicBezTo>
                  <a:pt x="362857" y="1074402"/>
                  <a:pt x="396625" y="1040634"/>
                  <a:pt x="438280" y="1040634"/>
                </a:cubicBezTo>
                <a:close/>
                <a:moveTo>
                  <a:pt x="438280" y="693756"/>
                </a:moveTo>
                <a:cubicBezTo>
                  <a:pt x="479935" y="693756"/>
                  <a:pt x="513703" y="727524"/>
                  <a:pt x="513703" y="769179"/>
                </a:cubicBezTo>
                <a:cubicBezTo>
                  <a:pt x="513703" y="810834"/>
                  <a:pt x="479935" y="844602"/>
                  <a:pt x="438280" y="844602"/>
                </a:cubicBezTo>
                <a:cubicBezTo>
                  <a:pt x="396625" y="844602"/>
                  <a:pt x="362857" y="810834"/>
                  <a:pt x="362857" y="769179"/>
                </a:cubicBezTo>
                <a:cubicBezTo>
                  <a:pt x="362857" y="727524"/>
                  <a:pt x="396625" y="693756"/>
                  <a:pt x="438280" y="693756"/>
                </a:cubicBezTo>
                <a:close/>
                <a:moveTo>
                  <a:pt x="75423" y="693756"/>
                </a:moveTo>
                <a:cubicBezTo>
                  <a:pt x="117078" y="693756"/>
                  <a:pt x="150846" y="727525"/>
                  <a:pt x="150846" y="769179"/>
                </a:cubicBezTo>
                <a:cubicBezTo>
                  <a:pt x="150846" y="810834"/>
                  <a:pt x="117078" y="844602"/>
                  <a:pt x="75423" y="844602"/>
                </a:cubicBezTo>
                <a:cubicBezTo>
                  <a:pt x="33768" y="844602"/>
                  <a:pt x="0" y="810834"/>
                  <a:pt x="0" y="769179"/>
                </a:cubicBezTo>
                <a:cubicBezTo>
                  <a:pt x="0" y="727525"/>
                  <a:pt x="33768" y="693756"/>
                  <a:pt x="75423" y="693756"/>
                </a:cubicBezTo>
                <a:close/>
                <a:moveTo>
                  <a:pt x="75423" y="346879"/>
                </a:moveTo>
                <a:cubicBezTo>
                  <a:pt x="117078" y="346879"/>
                  <a:pt x="150846" y="380647"/>
                  <a:pt x="150846" y="422302"/>
                </a:cubicBezTo>
                <a:cubicBezTo>
                  <a:pt x="150846" y="463957"/>
                  <a:pt x="117078" y="497724"/>
                  <a:pt x="75423" y="497724"/>
                </a:cubicBezTo>
                <a:cubicBezTo>
                  <a:pt x="33768" y="497724"/>
                  <a:pt x="0" y="463957"/>
                  <a:pt x="0" y="422302"/>
                </a:cubicBezTo>
                <a:cubicBezTo>
                  <a:pt x="0" y="380647"/>
                  <a:pt x="33768" y="346879"/>
                  <a:pt x="75423" y="346879"/>
                </a:cubicBezTo>
                <a:close/>
                <a:moveTo>
                  <a:pt x="438280" y="346878"/>
                </a:moveTo>
                <a:cubicBezTo>
                  <a:pt x="479935" y="346878"/>
                  <a:pt x="513703" y="380646"/>
                  <a:pt x="513703" y="422301"/>
                </a:cubicBezTo>
                <a:cubicBezTo>
                  <a:pt x="513703" y="463956"/>
                  <a:pt x="479935" y="497724"/>
                  <a:pt x="438280" y="497724"/>
                </a:cubicBezTo>
                <a:cubicBezTo>
                  <a:pt x="396625" y="497724"/>
                  <a:pt x="362857" y="463956"/>
                  <a:pt x="362857" y="422301"/>
                </a:cubicBezTo>
                <a:cubicBezTo>
                  <a:pt x="362857" y="380646"/>
                  <a:pt x="396625" y="346878"/>
                  <a:pt x="438280" y="346878"/>
                </a:cubicBezTo>
                <a:close/>
                <a:moveTo>
                  <a:pt x="75423" y="1"/>
                </a:moveTo>
                <a:cubicBezTo>
                  <a:pt x="117078" y="1"/>
                  <a:pt x="150846" y="33769"/>
                  <a:pt x="150846" y="75424"/>
                </a:cubicBezTo>
                <a:cubicBezTo>
                  <a:pt x="150846" y="117079"/>
                  <a:pt x="117078" y="150847"/>
                  <a:pt x="75423" y="150847"/>
                </a:cubicBezTo>
                <a:cubicBezTo>
                  <a:pt x="33768" y="150847"/>
                  <a:pt x="0" y="117079"/>
                  <a:pt x="0" y="75424"/>
                </a:cubicBezTo>
                <a:cubicBezTo>
                  <a:pt x="0" y="33769"/>
                  <a:pt x="33768" y="1"/>
                  <a:pt x="75423" y="1"/>
                </a:cubicBezTo>
                <a:close/>
                <a:moveTo>
                  <a:pt x="438280" y="0"/>
                </a:moveTo>
                <a:cubicBezTo>
                  <a:pt x="479935" y="0"/>
                  <a:pt x="513703" y="33769"/>
                  <a:pt x="513703" y="75424"/>
                </a:cubicBezTo>
                <a:cubicBezTo>
                  <a:pt x="513703" y="117079"/>
                  <a:pt x="479935" y="150847"/>
                  <a:pt x="438280" y="150847"/>
                </a:cubicBezTo>
                <a:cubicBezTo>
                  <a:pt x="396625" y="150847"/>
                  <a:pt x="362857" y="117079"/>
                  <a:pt x="362857" y="75424"/>
                </a:cubicBezTo>
                <a:cubicBezTo>
                  <a:pt x="362857" y="33769"/>
                  <a:pt x="396625" y="0"/>
                  <a:pt x="438280" y="0"/>
                </a:cubicBezTo>
                <a:close/>
              </a:path>
            </a:pathLst>
          </a:custGeom>
          <a:gradFill>
            <a:gsLst>
              <a:gs pos="74000">
                <a:schemeClr val="accent2">
                  <a:alpha val="70000"/>
                </a:schemeClr>
              </a:gs>
              <a:gs pos="0">
                <a:schemeClr val="accent4">
                  <a:alpha val="7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/>
          <p:cNvSpPr/>
          <p:nvPr/>
        </p:nvSpPr>
        <p:spPr>
          <a:xfrm>
            <a:off x="744076" y="6279120"/>
            <a:ext cx="4366476" cy="459272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作者：汤小丹、王红玲、姜华、汤子瀛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243012" y="602297"/>
            <a:ext cx="4698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200" dirty="0">
                <a:solidFill>
                  <a:schemeClr val="bg1"/>
                </a:solidFill>
                <a:sym typeface="+mn-ea"/>
              </a:rPr>
              <a:t>经典教材《计算机操作系统》</a:t>
            </a:r>
            <a:r>
              <a:rPr lang="zh-CN" altLang="en-US" sz="2200" b="1" dirty="0">
                <a:solidFill>
                  <a:schemeClr val="accent2"/>
                </a:solidFill>
                <a:sym typeface="+mn-ea"/>
              </a:rPr>
              <a:t>最新版</a:t>
            </a:r>
            <a:endParaRPr lang="zh-CN" altLang="en-US" sz="2200" b="1" dirty="0">
              <a:solidFill>
                <a:schemeClr val="accent2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3475" y="2592475"/>
            <a:ext cx="2508000" cy="355424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6400" y="522760"/>
            <a:ext cx="527050" cy="5270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A6S0wzOvQ8a50SA42PUNRg"/>
</p:tagLst>
</file>

<file path=ppt/tags/tag3.xml><?xml version="1.0" encoding="utf-8"?>
<p:tagLst xmlns:p="http://schemas.openxmlformats.org/presentationml/2006/main">
  <p:tag name="KSO_WM_UNIT_TABLE_BEAUTIFY" val="smartTable{58a06314-7e72-4d48-85a8-7253ed818c17}"/>
</p:tagLst>
</file>

<file path=ppt/tags/tag4.xml><?xml version="1.0" encoding="utf-8"?>
<p:tagLst xmlns:p="http://schemas.openxmlformats.org/presentationml/2006/main">
  <p:tag name="ISLIDE.DIAGRAM" val="272399"/>
</p:tagLst>
</file>

<file path=ppt/tags/tag5.xml><?xml version="1.0" encoding="utf-8"?>
<p:tagLst xmlns:p="http://schemas.openxmlformats.org/presentationml/2006/main">
  <p:tag name="ISLIDE.DIAGRAM" val="217641"/>
  <p:tag name="KSO_WM_DIAGRAM_VIRTUALLY_FRAME" val="{&quot;height&quot;:199.46314960629925,&quot;left&quot;:52.75,&quot;top&quot;:223.1167716535433,&quot;width&quot;:854}"/>
</p:tagLst>
</file>

<file path=ppt/tags/tag6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7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8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9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0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1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2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3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4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5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6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7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8.xml><?xml version="1.0" encoding="utf-8"?>
<p:tagLst xmlns:p="http://schemas.openxmlformats.org/presentationml/2006/main">
  <p:tag name="KSO_WM_DIAGRAM_VIRTUALLY_FRAME" val="{&quot;height&quot;:199.46314960629925,&quot;left&quot;:52.75,&quot;top&quot;:223.1167716535433,&quot;width&quot;:854}"/>
</p:tagLst>
</file>

<file path=ppt/tags/tag19.xml><?xml version="1.0" encoding="utf-8"?>
<p:tagLst xmlns:p="http://schemas.openxmlformats.org/presentationml/2006/main">
  <p:tag name="ISLIDE.DIAGRAM" val="217641"/>
</p:tagLst>
</file>

<file path=ppt/tags/tag20.xml><?xml version="1.0" encoding="utf-8"?>
<p:tagLst xmlns:p="http://schemas.openxmlformats.org/presentationml/2006/main">
  <p:tag name="KSO_WM_UNIT_TABLE_BEAUTIFY" val="smartTable{9bc1ee3a-0ee8-449a-b4e6-edf678cc9387}"/>
</p:tagLst>
</file>

<file path=ppt/tags/tag21.xml><?xml version="1.0" encoding="utf-8"?>
<p:tagLst xmlns:p="http://schemas.openxmlformats.org/presentationml/2006/main">
  <p:tag name="ISLIDE.DIAGRAM" val="217641"/>
  <p:tag name="KSO_WM_DIAGRAM_VIRTUALLY_FRAME" val="{&quot;height&quot;:325.74999999999994,&quot;left&quot;:34.18000000000002,&quot;top&quot;:114.30787401574803,&quot;width&quot;:890.976062992126}"/>
</p:tagLst>
</file>

<file path=ppt/tags/tag22.xml><?xml version="1.0" encoding="utf-8"?>
<p:tagLst xmlns:p="http://schemas.openxmlformats.org/presentationml/2006/main">
  <p:tag name="KSO_WM_DIAGRAM_VIRTUALLY_FRAME" val="{&quot;height&quot;:325.74999999999994,&quot;left&quot;:34.18000000000002,&quot;top&quot;:114.30787401574803,&quot;width&quot;:890.976062992126}"/>
</p:tagLst>
</file>

<file path=ppt/tags/tag23.xml><?xml version="1.0" encoding="utf-8"?>
<p:tagLst xmlns:p="http://schemas.openxmlformats.org/presentationml/2006/main">
  <p:tag name="KSO_WM_DIAGRAM_VIRTUALLY_FRAME" val="{&quot;height&quot;:325.74999999999994,&quot;left&quot;:34.18000000000002,&quot;top&quot;:114.30787401574803,&quot;width&quot;:890.976062992126}"/>
</p:tagLst>
</file>

<file path=ppt/tags/tag24.xml><?xml version="1.0" encoding="utf-8"?>
<p:tagLst xmlns:p="http://schemas.openxmlformats.org/presentationml/2006/main">
  <p:tag name="KSO_WM_DIAGRAM_VIRTUALLY_FRAME" val="{&quot;height&quot;:325.74999999999994,&quot;left&quot;:34.18000000000002,&quot;top&quot;:114.30787401574803,&quot;width&quot;:890.976062992126}"/>
</p:tagLst>
</file>

<file path=ppt/tags/tag25.xml><?xml version="1.0" encoding="utf-8"?>
<p:tagLst xmlns:p="http://schemas.openxmlformats.org/presentationml/2006/main">
  <p:tag name="KSO_WM_DIAGRAM_VIRTUALLY_FRAME" val="{&quot;height&quot;:325.74999999999994,&quot;left&quot;:34.18000000000002,&quot;top&quot;:114.30787401574803,&quot;width&quot;:890.976062992126}"/>
</p:tagLst>
</file>

<file path=ppt/tags/tag26.xml><?xml version="1.0" encoding="utf-8"?>
<p:tagLst xmlns:p="http://schemas.openxmlformats.org/presentationml/2006/main">
  <p:tag name="KSO_WM_DIAGRAM_VIRTUALLY_FRAME" val="{&quot;height&quot;:325.74999999999994,&quot;left&quot;:34.18000000000002,&quot;top&quot;:114.30787401574803,&quot;width&quot;:890.976062992126}"/>
</p:tagLst>
</file>

<file path=ppt/tags/tag27.xml><?xml version="1.0" encoding="utf-8"?>
<p:tagLst xmlns:p="http://schemas.openxmlformats.org/presentationml/2006/main">
  <p:tag name="KSO_WM_DIAGRAM_VIRTUALLY_FRAME" val="{&quot;height&quot;:325.74999999999994,&quot;left&quot;:34.18000000000002,&quot;top&quot;:114.30787401574803,&quot;width&quot;:890.976062992126}"/>
</p:tagLst>
</file>

<file path=ppt/tags/tag28.xml><?xml version="1.0" encoding="utf-8"?>
<p:tagLst xmlns:p="http://schemas.openxmlformats.org/presentationml/2006/main">
  <p:tag name="KSO_WM_DIAGRAM_VIRTUALLY_FRAME" val="{&quot;height&quot;:325.74999999999994,&quot;left&quot;:34.18000000000002,&quot;top&quot;:114.30787401574803,&quot;width&quot;:890.976062992126}"/>
</p:tagLst>
</file>

<file path=ppt/tags/tag29.xml><?xml version="1.0" encoding="utf-8"?>
<p:tagLst xmlns:p="http://schemas.openxmlformats.org/presentationml/2006/main">
  <p:tag name="KSO_WM_DIAGRAM_VIRTUALLY_FRAME" val="{&quot;height&quot;:325.74999999999994,&quot;left&quot;:34.18000000000002,&quot;top&quot;:114.30787401574803,&quot;width&quot;:890.976062992126}"/>
</p:tagLst>
</file>

<file path=ppt/tags/tag30.xml><?xml version="1.0" encoding="utf-8"?>
<p:tagLst xmlns:p="http://schemas.openxmlformats.org/presentationml/2006/main">
  <p:tag name="KSO_WM_DIAGRAM_VIRTUALLY_FRAME" val="{&quot;height&quot;:325.74999999999994,&quot;left&quot;:34.18000000000002,&quot;top&quot;:114.30787401574803,&quot;width&quot;:890.976062992126}"/>
</p:tagLst>
</file>

<file path=ppt/tags/tag31.xml><?xml version="1.0" encoding="utf-8"?>
<p:tagLst xmlns:p="http://schemas.openxmlformats.org/presentationml/2006/main">
  <p:tag name="KSO_WM_DIAGRAM_VIRTUALLY_FRAME" val="{&quot;height&quot;:325.74999999999994,&quot;left&quot;:34.18000000000002,&quot;top&quot;:114.30787401574803,&quot;width&quot;:890.976062992126}"/>
</p:tagLst>
</file>

<file path=ppt/tags/tag32.xml><?xml version="1.0" encoding="utf-8"?>
<p:tagLst xmlns:p="http://schemas.openxmlformats.org/presentationml/2006/main">
  <p:tag name="KSO_WM_DIAGRAM_VIRTUALLY_FRAME" val="{&quot;height&quot;:325.74999999999994,&quot;left&quot;:34.18000000000002,&quot;top&quot;:114.30787401574803,&quot;width&quot;:890.976062992126}"/>
</p:tagLst>
</file>

<file path=ppt/tags/tag33.xml><?xml version="1.0" encoding="utf-8"?>
<p:tagLst xmlns:p="http://schemas.openxmlformats.org/presentationml/2006/main">
  <p:tag name="KSO_WM_DIAGRAM_VIRTUALLY_FRAME" val="{&quot;height&quot;:325.74999999999994,&quot;left&quot;:34.18000000000002,&quot;top&quot;:114.30787401574803,&quot;width&quot;:890.976062992126}"/>
</p:tagLst>
</file>

<file path=ppt/tags/tag34.xml><?xml version="1.0" encoding="utf-8"?>
<p:tagLst xmlns:p="http://schemas.openxmlformats.org/presentationml/2006/main">
  <p:tag name="KSO_WM_DIAGRAM_VIRTUALLY_FRAME" val="{&quot;height&quot;:325.74999999999994,&quot;left&quot;:34.18000000000002,&quot;top&quot;:114.30787401574803,&quot;width&quot;:890.976062992126}"/>
</p:tagLst>
</file>

<file path=ppt/tags/tag35.xml><?xml version="1.0" encoding="utf-8"?>
<p:tagLst xmlns:p="http://schemas.openxmlformats.org/presentationml/2006/main">
  <p:tag name="KSO_WM_UNIT_TABLE_BEAUTIFY" val="smartTable{5ad76dca-cc25-455f-9453-9eb139a2ef4e}"/>
</p:tagLst>
</file>

<file path=ppt/tags/tag36.xml><?xml version="1.0" encoding="utf-8"?>
<p:tagLst xmlns:p="http://schemas.openxmlformats.org/presentationml/2006/main">
  <p:tag name="ISLIDE.DIAGRAM" val="217641"/>
</p:tagLst>
</file>

<file path=ppt/tags/tag37.xml><?xml version="1.0" encoding="utf-8"?>
<p:tagLst xmlns:p="http://schemas.openxmlformats.org/presentationml/2006/main">
  <p:tag name="ISLIDE.DIAGRAM" val="217641"/>
</p:tagLst>
</file>

<file path=ppt/tags/tag38.xml><?xml version="1.0" encoding="utf-8"?>
<p:tagLst xmlns:p="http://schemas.openxmlformats.org/presentationml/2006/main">
  <p:tag name="KSO_WM_UNIT_TABLE_BEAUTIFY" val="smartTable{5d43e3b6-2cb7-42eb-9cff-864b9dfded2f}"/>
</p:tagLst>
</file>

<file path=ppt/tags/tag39.xml><?xml version="1.0" encoding="utf-8"?>
<p:tagLst xmlns:p="http://schemas.openxmlformats.org/presentationml/2006/main">
  <p:tag name="ISLIDE.DIAGRAM" val="185926"/>
</p:tagLst>
</file>

<file path=ppt/tags/tag40.xml><?xml version="1.0" encoding="utf-8"?>
<p:tagLst xmlns:p="http://schemas.openxmlformats.org/presentationml/2006/main">
  <p:tag name="KSO_WM_DIAGRAM_VIRTUALLY_FRAME" val="{&quot;height&quot;:247.4691338582677,&quot;left&quot;:0,&quot;top&quot;:225.09417322834648,&quot;width&quot;:960}"/>
</p:tagLst>
</file>

<file path=ppt/tags/tag41.xml><?xml version="1.0" encoding="utf-8"?>
<p:tagLst xmlns:p="http://schemas.openxmlformats.org/presentationml/2006/main">
  <p:tag name="KSO_WM_DIAGRAM_VIRTUALLY_FRAME" val="{&quot;height&quot;:247.4691338582677,&quot;left&quot;:0,&quot;top&quot;:225.09417322834648,&quot;width&quot;:960}"/>
</p:tagLst>
</file>

<file path=ppt/tags/tag42.xml><?xml version="1.0" encoding="utf-8"?>
<p:tagLst xmlns:p="http://schemas.openxmlformats.org/presentationml/2006/main">
  <p:tag name="KSO_WM_DIAGRAM_VIRTUALLY_FRAME" val="{&quot;height&quot;:247.4691338582677,&quot;left&quot;:0,&quot;top&quot;:225.09417322834648,&quot;width&quot;:960}"/>
</p:tagLst>
</file>

<file path=ppt/tags/tag43.xml><?xml version="1.0" encoding="utf-8"?>
<p:tagLst xmlns:p="http://schemas.openxmlformats.org/presentationml/2006/main">
  <p:tag name="KSO_WM_DIAGRAM_VIRTUALLY_FRAME" val="{&quot;height&quot;:247.4691338582677,&quot;left&quot;:0,&quot;top&quot;:225.09417322834648,&quot;width&quot;:960}"/>
</p:tagLst>
</file>

<file path=ppt/tags/tag44.xml><?xml version="1.0" encoding="utf-8"?>
<p:tagLst xmlns:p="http://schemas.openxmlformats.org/presentationml/2006/main">
  <p:tag name="KSO_WM_DIAGRAM_VIRTUALLY_FRAME" val="{&quot;height&quot;:247.4691338582677,&quot;left&quot;:0,&quot;top&quot;:225.09417322834648,&quot;width&quot;:960}"/>
</p:tagLst>
</file>

<file path=ppt/tags/tag45.xml><?xml version="1.0" encoding="utf-8"?>
<p:tagLst xmlns:p="http://schemas.openxmlformats.org/presentationml/2006/main">
  <p:tag name="KSO_WM_DIAGRAM_VIRTUALLY_FRAME" val="{&quot;height&quot;:247.4691338582677,&quot;left&quot;:0,&quot;top&quot;:225.09417322834648,&quot;width&quot;:960}"/>
</p:tagLst>
</file>

<file path=ppt/tags/tag46.xml><?xml version="1.0" encoding="utf-8"?>
<p:tagLst xmlns:p="http://schemas.openxmlformats.org/presentationml/2006/main">
  <p:tag name="KSO_WM_DIAGRAM_VIRTUALLY_FRAME" val="{&quot;height&quot;:247.4691338582677,&quot;left&quot;:0,&quot;top&quot;:225.09417322834648,&quot;width&quot;:960}"/>
</p:tagLst>
</file>

<file path=ppt/tags/tag47.xml><?xml version="1.0" encoding="utf-8"?>
<p:tagLst xmlns:p="http://schemas.openxmlformats.org/presentationml/2006/main">
  <p:tag name="KSO_WM_DIAGRAM_VIRTUALLY_FRAME" val="{&quot;height&quot;:247.4691338582677,&quot;left&quot;:0,&quot;top&quot;:225.09417322834648,&quot;width&quot;:960}"/>
</p:tagLst>
</file>

<file path=ppt/tags/tag48.xml><?xml version="1.0" encoding="utf-8"?>
<p:tagLst xmlns:p="http://schemas.openxmlformats.org/presentationml/2006/main">
  <p:tag name="KSO_WM_DIAGRAM_VIRTUALLY_FRAME" val="{&quot;height&quot;:247.4691338582677,&quot;left&quot;:0,&quot;top&quot;:225.09417322834648,&quot;width&quot;:960}"/>
</p:tagLst>
</file>

<file path=ppt/tags/tag49.xml><?xml version="1.0" encoding="utf-8"?>
<p:tagLst xmlns:p="http://schemas.openxmlformats.org/presentationml/2006/main">
  <p:tag name="KSO_WM_DIAGRAM_VIRTUALLY_FRAME" val="{&quot;height&quot;:247.4691338582677,&quot;left&quot;:0,&quot;top&quot;:225.09417322834648,&quot;width&quot;:960}"/>
</p:tagLst>
</file>

<file path=ppt/tags/tag50.xml><?xml version="1.0" encoding="utf-8"?>
<p:tagLst xmlns:p="http://schemas.openxmlformats.org/presentationml/2006/main">
  <p:tag name="KSO_WM_DIAGRAM_VIRTUALLY_FRAME" val="{&quot;height&quot;:247.4691338582677,&quot;left&quot;:0,&quot;top&quot;:225.09417322834648,&quot;width&quot;:960}"/>
</p:tagLst>
</file>

<file path=ppt/tags/tag51.xml><?xml version="1.0" encoding="utf-8"?>
<p:tagLst xmlns:p="http://schemas.openxmlformats.org/presentationml/2006/main">
  <p:tag name="KSO_WM_DIAGRAM_VIRTUALLY_FRAME" val="{&quot;height&quot;:247.4691338582677,&quot;left&quot;:0,&quot;top&quot;:225.09417322834648,&quot;width&quot;:960}"/>
</p:tagLst>
</file>

<file path=ppt/tags/tag52.xml><?xml version="1.0" encoding="utf-8"?>
<p:tagLst xmlns:p="http://schemas.openxmlformats.org/presentationml/2006/main">
  <p:tag name="KSO_WM_UNIT_TABLE_BEAUTIFY" val="smartTable{58a06314-7e72-4d48-85a8-7253ed818c17}"/>
</p:tagLst>
</file>

<file path=ppt/tags/tag53.xml><?xml version="1.0" encoding="utf-8"?>
<p:tagLst xmlns:p="http://schemas.openxmlformats.org/presentationml/2006/main">
  <p:tag name="THINKCELLSHAPEDONOTDELETE" val="thinkcellActiveDocDoNotDelete"/>
</p:tagLst>
</file>

<file path=ppt/tags/tag54.xml><?xml version="1.0" encoding="utf-8"?>
<p:tagLst xmlns:p="http://schemas.openxmlformats.org/presentationml/2006/main">
  <p:tag name="THINKCELLSHAPEDONOTDELETE" val="t1Smkff3fSzGMOuItfjj3Fw"/>
</p:tagLst>
</file>

<file path=ppt/tags/tag55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THINKCELLUNDODONOTDELETE" val="0"/>
  <p:tag name="ISLIDE.THEME" val="074baa65-1bcf-453b-aed6-4412331b316e"/>
</p:tagLst>
</file>

<file path=ppt/theme/theme1.xml><?xml version="1.0" encoding="utf-8"?>
<a:theme xmlns:a="http://schemas.openxmlformats.org/drawingml/2006/main" name="主题5">
  <a:themeElements>
    <a:clrScheme name="自定义 15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7416B"/>
      </a:accent1>
      <a:accent2>
        <a:srgbClr val="FFC000"/>
      </a:accent2>
      <a:accent3>
        <a:srgbClr val="00002E"/>
      </a:accent3>
      <a:accent4>
        <a:srgbClr val="031684"/>
      </a:accent4>
      <a:accent5>
        <a:srgbClr val="969696"/>
      </a:accent5>
      <a:accent6>
        <a:srgbClr val="B2B2B2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11037</Words>
  <Application>WPS 演示</Application>
  <PresentationFormat>自定义</PresentationFormat>
  <Paragraphs>2000</Paragraphs>
  <Slides>106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106</vt:i4>
      </vt:variant>
    </vt:vector>
  </HeadingPairs>
  <TitlesOfParts>
    <vt:vector size="134" baseType="lpstr">
      <vt:lpstr>Arial</vt:lpstr>
      <vt:lpstr>宋体</vt:lpstr>
      <vt:lpstr>Wingdings</vt:lpstr>
      <vt:lpstr>Verdana</vt:lpstr>
      <vt:lpstr>微软雅黑</vt:lpstr>
      <vt:lpstr>微软雅黑 (正文)</vt:lpstr>
      <vt:lpstr>黑体</vt:lpstr>
      <vt:lpstr>华文楷体</vt:lpstr>
      <vt:lpstr>Monotype Sorts</vt:lpstr>
      <vt:lpstr>Wingdings</vt:lpstr>
      <vt:lpstr>Times New Roman</vt:lpstr>
      <vt:lpstr>Arial Unicode MS</vt:lpstr>
      <vt:lpstr>Calibri</vt:lpstr>
      <vt:lpstr>华文隶书</vt:lpstr>
      <vt:lpstr>Arial Unicode MS</vt:lpstr>
      <vt:lpstr>Tahoma</vt:lpstr>
      <vt:lpstr>Wingdings 2</vt:lpstr>
      <vt:lpstr>Times New Roman</vt:lpstr>
      <vt:lpstr>Symbol</vt:lpstr>
      <vt:lpstr>主题5</vt:lpstr>
      <vt:lpstr>TCLayout.ActiveDocument.1</vt:lpstr>
      <vt:lpstr>TCLayout.ActiveDocument.1</vt:lpstr>
      <vt:lpstr>PBrush</vt:lpstr>
      <vt:lpstr>PBrush</vt:lpstr>
      <vt:lpstr>PBrush</vt:lpstr>
      <vt:lpstr>PBrush</vt:lpstr>
      <vt:lpstr>PBrush</vt:lpstr>
      <vt:lpstr>Equation.3</vt:lpstr>
      <vt:lpstr>第5章 存储器管理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可重定位装入方式（静态重定位）</vt:lpstr>
      <vt:lpstr>  动态重定位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内存保护</vt:lpstr>
      <vt:lpstr>PowerPoint 演示文稿</vt:lpstr>
      <vt:lpstr>PowerPoint 演示文稿</vt:lpstr>
      <vt:lpstr>页面与页表的概念</vt:lpstr>
      <vt:lpstr>PowerPoint 演示文稿</vt:lpstr>
      <vt:lpstr>PowerPoint 演示文稿</vt:lpstr>
      <vt:lpstr> 页面与页表的概念</vt:lpstr>
      <vt:lpstr>PowerPoint 演示文稿</vt:lpstr>
      <vt:lpstr>PowerPoint 演示文稿</vt:lpstr>
      <vt:lpstr>   页面与页表的概念</vt:lpstr>
      <vt:lpstr>PowerPoint 演示文稿</vt:lpstr>
      <vt:lpstr>4.  页面尺寸</vt:lpstr>
      <vt:lpstr>4.  页面尺寸</vt:lpstr>
      <vt:lpstr>PowerPoint 演示文稿</vt:lpstr>
      <vt:lpstr>页面与页表的概念</vt:lpstr>
      <vt:lpstr>PowerPoint 演示文稿</vt:lpstr>
      <vt:lpstr>地址变换机构</vt:lpstr>
      <vt:lpstr>PowerPoint 演示文稿</vt:lpstr>
      <vt:lpstr>练习</vt:lpstr>
      <vt:lpstr>5.3.2 地址变换机构  自读</vt:lpstr>
      <vt:lpstr>快表：联想寄存器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学 习 进 步 ！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吕仔贤</cp:lastModifiedBy>
  <cp:revision>179</cp:revision>
  <cp:lastPrinted>2019-04-18T16:00:00Z</cp:lastPrinted>
  <dcterms:created xsi:type="dcterms:W3CDTF">2019-04-18T16:00:00Z</dcterms:created>
  <dcterms:modified xsi:type="dcterms:W3CDTF">2026-01-16T01:02:10Z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9C2B60289A0F4F5F8359767AB78A9D1D</vt:lpwstr>
  </property>
  <property fmtid="{D5CDD505-2E9C-101B-9397-08002B2CF9AE}" pid="4" name="KSOProductBuildVer">
    <vt:lpwstr>2052-12.1.0.24657</vt:lpwstr>
  </property>
</Properties>
</file>