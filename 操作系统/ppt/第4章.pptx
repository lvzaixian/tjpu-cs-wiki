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5.xml" ContentType="application/vnd.openxmlformats-officedocument.presentationml.tags+xml"/>
  <Override PartName="/ppt/notesSlides/notesSlide13.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4.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4" r:id="rId3"/>
  </p:sldMasterIdLst>
  <p:notesMasterIdLst>
    <p:notesMasterId r:id="rId163"/>
  </p:notesMasterIdLst>
  <p:sldIdLst>
    <p:sldId id="562" r:id="rId4"/>
    <p:sldId id="563" r:id="rId5"/>
    <p:sldId id="564" r:id="rId6"/>
    <p:sldId id="565" r:id="rId7"/>
    <p:sldId id="566" r:id="rId8"/>
    <p:sldId id="567" r:id="rId9"/>
    <p:sldId id="568" r:id="rId10"/>
    <p:sldId id="569" r:id="rId11"/>
    <p:sldId id="570" r:id="rId12"/>
    <p:sldId id="571" r:id="rId13"/>
    <p:sldId id="572" r:id="rId14"/>
    <p:sldId id="573" r:id="rId15"/>
    <p:sldId id="574" r:id="rId16"/>
    <p:sldId id="575" r:id="rId17"/>
    <p:sldId id="576" r:id="rId18"/>
    <p:sldId id="577" r:id="rId19"/>
    <p:sldId id="578" r:id="rId20"/>
    <p:sldId id="579" r:id="rId21"/>
    <p:sldId id="580" r:id="rId22"/>
    <p:sldId id="581" r:id="rId23"/>
    <p:sldId id="582" r:id="rId24"/>
    <p:sldId id="583" r:id="rId25"/>
    <p:sldId id="584" r:id="rId26"/>
    <p:sldId id="585" r:id="rId27"/>
    <p:sldId id="586" r:id="rId28"/>
    <p:sldId id="587" r:id="rId29"/>
    <p:sldId id="588" r:id="rId30"/>
    <p:sldId id="589" r:id="rId31"/>
    <p:sldId id="590" r:id="rId32"/>
    <p:sldId id="591" r:id="rId33"/>
    <p:sldId id="592" r:id="rId34"/>
    <p:sldId id="593" r:id="rId35"/>
    <p:sldId id="256" r:id="rId36"/>
    <p:sldId id="491" r:id="rId37"/>
    <p:sldId id="494" r:id="rId38"/>
    <p:sldId id="496" r:id="rId39"/>
    <p:sldId id="497" r:id="rId40"/>
    <p:sldId id="500" r:id="rId41"/>
    <p:sldId id="501" r:id="rId42"/>
    <p:sldId id="502" r:id="rId43"/>
    <p:sldId id="522" r:id="rId44"/>
    <p:sldId id="558" r:id="rId45"/>
    <p:sldId id="559" r:id="rId46"/>
    <p:sldId id="560" r:id="rId47"/>
    <p:sldId id="561" r:id="rId48"/>
    <p:sldId id="508" r:id="rId49"/>
    <p:sldId id="523" r:id="rId50"/>
    <p:sldId id="533" r:id="rId51"/>
    <p:sldId id="551" r:id="rId52"/>
    <p:sldId id="534" r:id="rId53"/>
    <p:sldId id="552" r:id="rId54"/>
    <p:sldId id="553" r:id="rId55"/>
    <p:sldId id="554" r:id="rId56"/>
    <p:sldId id="555" r:id="rId57"/>
    <p:sldId id="556" r:id="rId58"/>
    <p:sldId id="557" r:id="rId59"/>
    <p:sldId id="511" r:id="rId60"/>
    <p:sldId id="535" r:id="rId61"/>
    <p:sldId id="536" r:id="rId62"/>
    <p:sldId id="537" r:id="rId63"/>
    <p:sldId id="538" r:id="rId64"/>
    <p:sldId id="539" r:id="rId65"/>
    <p:sldId id="540" r:id="rId66"/>
    <p:sldId id="541" r:id="rId67"/>
    <p:sldId id="542" r:id="rId68"/>
    <p:sldId id="543" r:id="rId69"/>
    <p:sldId id="544" r:id="rId70"/>
    <p:sldId id="545" r:id="rId71"/>
    <p:sldId id="546" r:id="rId72"/>
    <p:sldId id="547" r:id="rId73"/>
    <p:sldId id="548" r:id="rId74"/>
    <p:sldId id="549" r:id="rId75"/>
    <p:sldId id="550" r:id="rId76"/>
    <p:sldId id="311" r:id="rId77"/>
    <p:sldId id="312" r:id="rId78"/>
    <p:sldId id="315" r:id="rId79"/>
    <p:sldId id="296" r:id="rId80"/>
    <p:sldId id="477" r:id="rId81"/>
    <p:sldId id="297" r:id="rId82"/>
    <p:sldId id="406" r:id="rId83"/>
    <p:sldId id="407" r:id="rId84"/>
    <p:sldId id="408" r:id="rId85"/>
    <p:sldId id="409" r:id="rId86"/>
    <p:sldId id="410" r:id="rId87"/>
    <p:sldId id="411" r:id="rId88"/>
    <p:sldId id="478" r:id="rId89"/>
    <p:sldId id="412" r:id="rId90"/>
    <p:sldId id="418" r:id="rId91"/>
    <p:sldId id="362" r:id="rId92"/>
    <p:sldId id="365" r:id="rId93"/>
    <p:sldId id="419" r:id="rId94"/>
    <p:sldId id="421" r:id="rId95"/>
    <p:sldId id="422" r:id="rId96"/>
    <p:sldId id="423" r:id="rId97"/>
    <p:sldId id="420" r:id="rId98"/>
    <p:sldId id="424" r:id="rId99"/>
    <p:sldId id="426" r:id="rId100"/>
    <p:sldId id="427" r:id="rId101"/>
    <p:sldId id="425" r:id="rId102"/>
    <p:sldId id="476" r:id="rId103"/>
    <p:sldId id="429" r:id="rId104"/>
    <p:sldId id="474" r:id="rId105"/>
    <p:sldId id="475" r:id="rId106"/>
    <p:sldId id="594" r:id="rId107"/>
    <p:sldId id="595" r:id="rId108"/>
    <p:sldId id="596" r:id="rId109"/>
    <p:sldId id="597" r:id="rId110"/>
    <p:sldId id="598" r:id="rId111"/>
    <p:sldId id="599" r:id="rId112"/>
    <p:sldId id="468" r:id="rId113"/>
    <p:sldId id="600" r:id="rId114"/>
    <p:sldId id="469" r:id="rId115"/>
    <p:sldId id="601" r:id="rId116"/>
    <p:sldId id="431" r:id="rId117"/>
    <p:sldId id="367" r:id="rId118"/>
    <p:sldId id="430" r:id="rId119"/>
    <p:sldId id="432" r:id="rId120"/>
    <p:sldId id="428" r:id="rId121"/>
    <p:sldId id="433" r:id="rId122"/>
    <p:sldId id="435" r:id="rId123"/>
    <p:sldId id="436" r:id="rId124"/>
    <p:sldId id="434" r:id="rId125"/>
    <p:sldId id="437" r:id="rId126"/>
    <p:sldId id="447" r:id="rId127"/>
    <p:sldId id="446" r:id="rId128"/>
    <p:sldId id="449" r:id="rId129"/>
    <p:sldId id="450" r:id="rId130"/>
    <p:sldId id="451" r:id="rId131"/>
    <p:sldId id="448" r:id="rId132"/>
    <p:sldId id="453" r:id="rId133"/>
    <p:sldId id="376" r:id="rId134"/>
    <p:sldId id="602" r:id="rId135"/>
    <p:sldId id="603" r:id="rId136"/>
    <p:sldId id="454" r:id="rId137"/>
    <p:sldId id="455" r:id="rId138"/>
    <p:sldId id="456" r:id="rId139"/>
    <p:sldId id="457" r:id="rId140"/>
    <p:sldId id="370" r:id="rId141"/>
    <p:sldId id="458" r:id="rId142"/>
    <p:sldId id="459" r:id="rId143"/>
    <p:sldId id="452" r:id="rId144"/>
    <p:sldId id="461" r:id="rId145"/>
    <p:sldId id="462" r:id="rId146"/>
    <p:sldId id="463" r:id="rId147"/>
    <p:sldId id="460" r:id="rId148"/>
    <p:sldId id="465" r:id="rId149"/>
    <p:sldId id="470" r:id="rId150"/>
    <p:sldId id="471" r:id="rId151"/>
    <p:sldId id="472" r:id="rId152"/>
    <p:sldId id="473" r:id="rId153"/>
    <p:sldId id="604" r:id="rId154"/>
    <p:sldId id="466" r:id="rId155"/>
    <p:sldId id="371" r:id="rId156"/>
    <p:sldId id="467" r:id="rId157"/>
    <p:sldId id="385" r:id="rId158"/>
    <p:sldId id="351" r:id="rId159"/>
    <p:sldId id="405" r:id="rId160"/>
    <p:sldId id="353" r:id="rId161"/>
    <p:sldId id="261" r:id="rId162"/>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a:srgbClr val="339933"/>
    <a:srgbClr val="FFF3FF"/>
    <a:srgbClr val="FFDDFF"/>
    <a:srgbClr val="FFCCFF"/>
    <a:srgbClr val="FFFFCC"/>
    <a:srgbClr val="FFCCCC"/>
    <a:srgbClr val="C33D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896"/>
    <p:restoredTop sz="94634"/>
  </p:normalViewPr>
  <p:slideViewPr>
    <p:cSldViewPr showGuides="1">
      <p:cViewPr varScale="1">
        <p:scale>
          <a:sx n="74" d="100"/>
          <a:sy n="74" d="100"/>
        </p:scale>
        <p:origin x="732" y="54"/>
      </p:cViewPr>
      <p:guideLst>
        <p:guide orient="horz" pos="2160"/>
        <p:guide pos="2858"/>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1566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59" Type="http://schemas.openxmlformats.org/officeDocument/2006/relationships/slide" Target="slides/slide156.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5" Type="http://schemas.openxmlformats.org/officeDocument/2006/relationships/slide" Target="slides/slide2.xml"/><Relationship Id="rId95" Type="http://schemas.openxmlformats.org/officeDocument/2006/relationships/slide" Target="slides/slide92.xml"/><Relationship Id="rId160" Type="http://schemas.openxmlformats.org/officeDocument/2006/relationships/slide" Target="slides/slide157.xml"/><Relationship Id="rId22" Type="http://schemas.openxmlformats.org/officeDocument/2006/relationships/slide" Target="slides/slide19.xml"/><Relationship Id="rId43" Type="http://schemas.openxmlformats.org/officeDocument/2006/relationships/slide" Target="slides/slide40.xml"/><Relationship Id="rId64" Type="http://schemas.openxmlformats.org/officeDocument/2006/relationships/slide" Target="slides/slide61.xml"/><Relationship Id="rId118" Type="http://schemas.openxmlformats.org/officeDocument/2006/relationships/slide" Target="slides/slide115.xml"/><Relationship Id="rId139" Type="http://schemas.openxmlformats.org/officeDocument/2006/relationships/slide" Target="slides/slide136.xml"/><Relationship Id="rId85" Type="http://schemas.openxmlformats.org/officeDocument/2006/relationships/slide" Target="slides/slide82.xml"/><Relationship Id="rId150" Type="http://schemas.openxmlformats.org/officeDocument/2006/relationships/slide" Target="slides/slide147.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40" Type="http://schemas.openxmlformats.org/officeDocument/2006/relationships/slide" Target="slides/slide137.xml"/><Relationship Id="rId145" Type="http://schemas.openxmlformats.org/officeDocument/2006/relationships/slide" Target="slides/slide142.xml"/><Relationship Id="rId161" Type="http://schemas.openxmlformats.org/officeDocument/2006/relationships/slide" Target="slides/slide158.xml"/><Relationship Id="rId16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slide" Target="slides/slide132.xml"/><Relationship Id="rId151" Type="http://schemas.openxmlformats.org/officeDocument/2006/relationships/slide" Target="slides/slide148.xml"/><Relationship Id="rId156" Type="http://schemas.openxmlformats.org/officeDocument/2006/relationships/slide" Target="slides/slide153.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slide" Target="slides/slide138.xml"/><Relationship Id="rId146" Type="http://schemas.openxmlformats.org/officeDocument/2006/relationships/slide" Target="slides/slide143.xml"/><Relationship Id="rId167"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162" Type="http://schemas.openxmlformats.org/officeDocument/2006/relationships/slide" Target="slides/slide15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157" Type="http://schemas.openxmlformats.org/officeDocument/2006/relationships/slide" Target="slides/slide154.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slide" Target="slides/slide14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notesMaster" Target="notesMasters/notesMaster1.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16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6" Type="http://schemas.openxmlformats.org/officeDocument/2006/relationships/slide" Target="slides/slide13.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165" Type="http://schemas.openxmlformats.org/officeDocument/2006/relationships/viewProps" Target="viewProps.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80" Type="http://schemas.openxmlformats.org/officeDocument/2006/relationships/slide" Target="slides/slide77.xml"/><Relationship Id="rId155" Type="http://schemas.openxmlformats.org/officeDocument/2006/relationships/slide" Target="slides/slide152.xml"/></Relationships>
</file>

<file path=ppt/diagrams/colors1.xml><?xml version="1.0" encoding="utf-8"?>
<dgm:colorsDef xmlns:dgm="http://schemas.openxmlformats.org/drawingml/2006/diagram" xmlns:a="http://schemas.openxmlformats.org/drawingml/2006/main" uniqueId="urn:microsoft.com/office/officeart/2005/8/colors/accent1_1#1">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6266689-0C52-4E58-96DE-B664C324113D}" type="doc">
      <dgm:prSet loTypeId="urn:microsoft.com/office/officeart/2005/8/layout/list1#1" loCatId="list" qsTypeId="urn:microsoft.com/office/officeart/2005/8/quickstyle/simple2#1" qsCatId="simple" csTypeId="urn:microsoft.com/office/officeart/2005/8/colors/accent1_1#1" csCatId="accent1" phldr="1"/>
      <dgm:spPr/>
      <dgm:t>
        <a:bodyPr/>
        <a:lstStyle/>
        <a:p>
          <a:endParaRPr lang="zh-CN" altLang="en-US"/>
        </a:p>
      </dgm:t>
    </dgm:pt>
    <dgm:pt modelId="{EB241348-7E3A-417A-8A43-47AE66502BA7}">
      <dgm:prSet phldrT="[文本]" phldr="0" custT="1"/>
      <dgm:spPr/>
      <dgm:t>
        <a:bodyPr vert="horz" wrap="square"/>
        <a:lstStyle/>
        <a:p>
          <a:pPr>
            <a:lnSpc>
              <a:spcPct val="100000"/>
            </a:lnSpc>
            <a:spcBef>
              <a:spcPct val="0"/>
            </a:spcBef>
            <a:spcAft>
              <a:spcPct val="35000"/>
            </a:spcAft>
          </a:pPr>
          <a:r>
            <a:rPr lang="zh-CN" altLang="en-US" sz="2400" b="0" dirty="0">
              <a:solidFill>
                <a:schemeClr val="tx1"/>
              </a:solidFill>
            </a:rPr>
            <a:t>①找出需要同步的代码片段（关键代码）</a:t>
          </a:r>
        </a:p>
      </dgm:t>
    </dgm:pt>
    <dgm:pt modelId="{54A3EC67-B3AC-479C-8072-024E2FBD73C5}" type="parTrans" cxnId="{7E4426A8-4E64-4D99-8534-6671561E98FD}">
      <dgm:prSet/>
      <dgm:spPr/>
      <dgm:t>
        <a:bodyPr/>
        <a:lstStyle/>
        <a:p>
          <a:endParaRPr lang="zh-CN" altLang="en-US" sz="2400"/>
        </a:p>
      </dgm:t>
    </dgm:pt>
    <dgm:pt modelId="{DEE1A24F-454F-4C40-BCDC-74DFCC5E64F8}" type="sibTrans" cxnId="{7E4426A8-4E64-4D99-8534-6671561E98FD}">
      <dgm:prSet/>
      <dgm:spPr/>
      <dgm:t>
        <a:bodyPr/>
        <a:lstStyle/>
        <a:p>
          <a:endParaRPr lang="zh-CN" altLang="en-US" sz="2400"/>
        </a:p>
      </dgm:t>
    </dgm:pt>
    <dgm:pt modelId="{1E475865-25E1-4CF4-BF66-832679CDD4EE}">
      <dgm:prSet phldr="0" custT="1"/>
      <dgm:spPr/>
      <dgm:t>
        <a:bodyPr vert="horz" wrap="square"/>
        <a:lstStyle/>
        <a:p>
          <a:pPr>
            <a:lnSpc>
              <a:spcPct val="100000"/>
            </a:lnSpc>
            <a:spcBef>
              <a:spcPct val="0"/>
            </a:spcBef>
            <a:spcAft>
              <a:spcPct val="35000"/>
            </a:spcAft>
          </a:pPr>
          <a:r>
            <a:rPr lang="zh-CN" altLang="en-US" sz="2400" b="0" dirty="0">
              <a:solidFill>
                <a:schemeClr val="tx1"/>
              </a:solidFill>
            </a:rPr>
            <a:t>②分析这些代码片段的执行次序</a:t>
          </a:r>
          <a:endParaRPr lang="en-US" altLang="zh-CN" sz="2400" b="0" dirty="0">
            <a:solidFill>
              <a:schemeClr val="tx1"/>
            </a:solidFill>
          </a:endParaRPr>
        </a:p>
      </dgm:t>
    </dgm:pt>
    <dgm:pt modelId="{0EDFF5FD-80AB-4064-BB18-4D3EAF369496}" type="parTrans" cxnId="{21ECDCD6-9049-4ABB-88BC-E72689D08677}">
      <dgm:prSet/>
      <dgm:spPr/>
      <dgm:t>
        <a:bodyPr/>
        <a:lstStyle/>
        <a:p>
          <a:endParaRPr lang="zh-CN" altLang="en-US" sz="2400"/>
        </a:p>
      </dgm:t>
    </dgm:pt>
    <dgm:pt modelId="{22F13B53-2E6C-4459-9345-C32121B3D77E}" type="sibTrans" cxnId="{21ECDCD6-9049-4ABB-88BC-E72689D08677}">
      <dgm:prSet/>
      <dgm:spPr/>
      <dgm:t>
        <a:bodyPr/>
        <a:lstStyle/>
        <a:p>
          <a:endParaRPr lang="zh-CN" altLang="en-US" sz="2400"/>
        </a:p>
      </dgm:t>
    </dgm:pt>
    <dgm:pt modelId="{013491F4-FD5A-4FF3-811B-57545063A976}">
      <dgm:prSet phldr="0" custT="1"/>
      <dgm:spPr/>
      <dgm:t>
        <a:bodyPr vert="horz" wrap="square"/>
        <a:lstStyle/>
        <a:p>
          <a:pPr>
            <a:lnSpc>
              <a:spcPct val="100000"/>
            </a:lnSpc>
            <a:spcBef>
              <a:spcPct val="0"/>
            </a:spcBef>
            <a:spcAft>
              <a:spcPct val="35000"/>
            </a:spcAft>
          </a:pPr>
          <a:r>
            <a:rPr lang="zh-CN" altLang="en-US" sz="2400" b="0" dirty="0">
              <a:solidFill>
                <a:schemeClr val="tx1"/>
              </a:solidFill>
            </a:rPr>
            <a:t>③增加同步信号量并赋初始值</a:t>
          </a:r>
          <a:endParaRPr lang="en-US" altLang="zh-CN" sz="2400" b="0" dirty="0">
            <a:solidFill>
              <a:schemeClr val="tx1"/>
            </a:solidFill>
          </a:endParaRPr>
        </a:p>
      </dgm:t>
    </dgm:pt>
    <dgm:pt modelId="{55B30BF3-337E-4590-B389-0ED2468505C6}" type="parTrans" cxnId="{00D787BA-6EAF-4864-803D-B341018C5451}">
      <dgm:prSet/>
      <dgm:spPr/>
      <dgm:t>
        <a:bodyPr/>
        <a:lstStyle/>
        <a:p>
          <a:endParaRPr lang="zh-CN" altLang="en-US" sz="2400"/>
        </a:p>
      </dgm:t>
    </dgm:pt>
    <dgm:pt modelId="{54064C5E-C798-41DB-B83B-FC1C641BAAD9}" type="sibTrans" cxnId="{00D787BA-6EAF-4864-803D-B341018C5451}">
      <dgm:prSet/>
      <dgm:spPr/>
      <dgm:t>
        <a:bodyPr/>
        <a:lstStyle/>
        <a:p>
          <a:endParaRPr lang="zh-CN" altLang="en-US" sz="2400"/>
        </a:p>
      </dgm:t>
    </dgm:pt>
    <dgm:pt modelId="{AA539293-FE58-46BA-86BE-BBB9EE20B499}">
      <dgm:prSet phldr="0" custT="1"/>
      <dgm:spPr/>
      <dgm:t>
        <a:bodyPr vert="horz" wrap="square"/>
        <a:lstStyle/>
        <a:p>
          <a:pPr>
            <a:lnSpc>
              <a:spcPct val="100000"/>
            </a:lnSpc>
            <a:spcBef>
              <a:spcPct val="0"/>
            </a:spcBef>
            <a:spcAft>
              <a:spcPct val="35000"/>
            </a:spcAft>
          </a:pPr>
          <a:r>
            <a:rPr lang="zh-CN" altLang="en-US" sz="2400" b="0" dirty="0">
              <a:solidFill>
                <a:schemeClr val="tx1"/>
              </a:solidFill>
            </a:rPr>
            <a:t>④在关键代码前后加</a:t>
          </a:r>
          <a:r>
            <a:rPr lang="en-US" altLang="zh-CN" sz="2400" b="0" dirty="0">
              <a:solidFill>
                <a:schemeClr val="tx1"/>
              </a:solidFill>
            </a:rPr>
            <a:t>wait</a:t>
          </a:r>
          <a:r>
            <a:rPr lang="zh-CN" altLang="en-US" sz="2400" b="0" dirty="0">
              <a:solidFill>
                <a:schemeClr val="tx1"/>
              </a:solidFill>
            </a:rPr>
            <a:t>和</a:t>
          </a:r>
          <a:r>
            <a:rPr lang="en-US" altLang="zh-CN" sz="2400" b="0" dirty="0">
              <a:solidFill>
                <a:schemeClr val="tx1"/>
              </a:solidFill>
            </a:rPr>
            <a:t>signal</a:t>
          </a:r>
          <a:r>
            <a:rPr lang="zh-CN" altLang="en-US" sz="2400" b="0" dirty="0">
              <a:solidFill>
                <a:schemeClr val="tx1"/>
              </a:solidFill>
            </a:rPr>
            <a:t>操作</a:t>
          </a:r>
          <a:endParaRPr lang="en-US" altLang="zh-CN" sz="2400" b="0" dirty="0">
            <a:solidFill>
              <a:schemeClr val="tx1"/>
            </a:solidFill>
          </a:endParaRPr>
        </a:p>
      </dgm:t>
    </dgm:pt>
    <dgm:pt modelId="{8032DBCA-61F4-49F3-8F0B-3CEB8551841F}" type="parTrans" cxnId="{A4FA7C62-6471-4720-ADEB-9B539B76C4FC}">
      <dgm:prSet/>
      <dgm:spPr/>
      <dgm:t>
        <a:bodyPr/>
        <a:lstStyle/>
        <a:p>
          <a:endParaRPr lang="zh-CN" altLang="en-US" sz="2400"/>
        </a:p>
      </dgm:t>
    </dgm:pt>
    <dgm:pt modelId="{FC24DC9F-94B4-43F4-99A3-762EB51B4343}" type="sibTrans" cxnId="{A4FA7C62-6471-4720-ADEB-9B539B76C4FC}">
      <dgm:prSet/>
      <dgm:spPr/>
      <dgm:t>
        <a:bodyPr/>
        <a:lstStyle/>
        <a:p>
          <a:endParaRPr lang="zh-CN" altLang="en-US" sz="2400"/>
        </a:p>
      </dgm:t>
    </dgm:pt>
    <dgm:pt modelId="{9AD1C278-FD9E-4036-ADC2-0D0033191AEF}" type="pres">
      <dgm:prSet presAssocID="{86266689-0C52-4E58-96DE-B664C324113D}" presName="linear" presStyleCnt="0">
        <dgm:presLayoutVars>
          <dgm:dir/>
          <dgm:animLvl val="lvl"/>
          <dgm:resizeHandles val="exact"/>
        </dgm:presLayoutVars>
      </dgm:prSet>
      <dgm:spPr/>
    </dgm:pt>
    <dgm:pt modelId="{48172A96-47A4-43C9-A5FB-A07FA5DBECDF}" type="pres">
      <dgm:prSet presAssocID="{EB241348-7E3A-417A-8A43-47AE66502BA7}" presName="parentLin" presStyleCnt="0"/>
      <dgm:spPr/>
    </dgm:pt>
    <dgm:pt modelId="{573587DA-4B45-4C22-B836-979EBFB52F71}" type="pres">
      <dgm:prSet presAssocID="{EB241348-7E3A-417A-8A43-47AE66502BA7}" presName="parentLeftMargin" presStyleLbl="node1" presStyleIdx="0" presStyleCnt="4"/>
      <dgm:spPr/>
    </dgm:pt>
    <dgm:pt modelId="{CAA66065-3994-41DD-9D6A-576C9726E710}" type="pres">
      <dgm:prSet presAssocID="{EB241348-7E3A-417A-8A43-47AE66502BA7}" presName="parentText" presStyleLbl="node1" presStyleIdx="0" presStyleCnt="4" custScaleX="114388">
        <dgm:presLayoutVars>
          <dgm:chMax val="0"/>
          <dgm:bulletEnabled val="1"/>
        </dgm:presLayoutVars>
      </dgm:prSet>
      <dgm:spPr/>
    </dgm:pt>
    <dgm:pt modelId="{6D1DDEAE-019F-4AE1-AA16-CC76047E0C22}" type="pres">
      <dgm:prSet presAssocID="{EB241348-7E3A-417A-8A43-47AE66502BA7}" presName="negativeSpace" presStyleCnt="0"/>
      <dgm:spPr/>
    </dgm:pt>
    <dgm:pt modelId="{1B0134BA-91A7-4332-BE22-21D2F0E5CFE0}" type="pres">
      <dgm:prSet presAssocID="{EB241348-7E3A-417A-8A43-47AE66502BA7}" presName="childText" presStyleLbl="conFgAcc1" presStyleIdx="0" presStyleCnt="4">
        <dgm:presLayoutVars>
          <dgm:bulletEnabled val="1"/>
        </dgm:presLayoutVars>
      </dgm:prSet>
      <dgm:spPr>
        <a:solidFill>
          <a:schemeClr val="accent2">
            <a:lumMod val="20000"/>
            <a:lumOff val="80000"/>
            <a:alpha val="90000"/>
          </a:schemeClr>
        </a:solidFill>
      </dgm:spPr>
    </dgm:pt>
    <dgm:pt modelId="{AD0B782B-E80F-4381-BB4D-C1267A46E23A}" type="pres">
      <dgm:prSet presAssocID="{DEE1A24F-454F-4C40-BCDC-74DFCC5E64F8}" presName="spaceBetweenRectangles" presStyleCnt="0"/>
      <dgm:spPr/>
    </dgm:pt>
    <dgm:pt modelId="{9F5EF3D2-0549-4A6A-AED7-8126FB9FADDA}" type="pres">
      <dgm:prSet presAssocID="{1E475865-25E1-4CF4-BF66-832679CDD4EE}" presName="parentLin" presStyleCnt="0"/>
      <dgm:spPr/>
    </dgm:pt>
    <dgm:pt modelId="{BE6B2C4D-A7D7-43EB-8D27-15B72521F982}" type="pres">
      <dgm:prSet presAssocID="{1E475865-25E1-4CF4-BF66-832679CDD4EE}" presName="parentLeftMargin" presStyleLbl="node1" presStyleIdx="0" presStyleCnt="4"/>
      <dgm:spPr/>
    </dgm:pt>
    <dgm:pt modelId="{70C7227A-CDF4-450C-9319-39C016995FBB}" type="pres">
      <dgm:prSet presAssocID="{1E475865-25E1-4CF4-BF66-832679CDD4EE}" presName="parentText" presStyleLbl="node1" presStyleIdx="1" presStyleCnt="4" custScaleX="114219">
        <dgm:presLayoutVars>
          <dgm:chMax val="0"/>
          <dgm:bulletEnabled val="1"/>
        </dgm:presLayoutVars>
      </dgm:prSet>
      <dgm:spPr/>
    </dgm:pt>
    <dgm:pt modelId="{9CC1DE61-7D89-443D-82AA-095DE9830130}" type="pres">
      <dgm:prSet presAssocID="{1E475865-25E1-4CF4-BF66-832679CDD4EE}" presName="negativeSpace" presStyleCnt="0"/>
      <dgm:spPr/>
    </dgm:pt>
    <dgm:pt modelId="{A3F1B9CC-669E-49ED-8C31-E1456791DCB9}" type="pres">
      <dgm:prSet presAssocID="{1E475865-25E1-4CF4-BF66-832679CDD4EE}" presName="childText" presStyleLbl="conFgAcc1" presStyleIdx="1" presStyleCnt="4">
        <dgm:presLayoutVars>
          <dgm:bulletEnabled val="1"/>
        </dgm:presLayoutVars>
      </dgm:prSet>
      <dgm:spPr>
        <a:solidFill>
          <a:schemeClr val="accent2">
            <a:lumMod val="20000"/>
            <a:lumOff val="80000"/>
            <a:alpha val="90000"/>
          </a:schemeClr>
        </a:solidFill>
      </dgm:spPr>
    </dgm:pt>
    <dgm:pt modelId="{582DDE0A-E392-4A3E-80C2-7515A8DAEE57}" type="pres">
      <dgm:prSet presAssocID="{22F13B53-2E6C-4459-9345-C32121B3D77E}" presName="spaceBetweenRectangles" presStyleCnt="0"/>
      <dgm:spPr/>
    </dgm:pt>
    <dgm:pt modelId="{3BBEDA68-6854-4CAC-A49E-0DBFEC4A796C}" type="pres">
      <dgm:prSet presAssocID="{013491F4-FD5A-4FF3-811B-57545063A976}" presName="parentLin" presStyleCnt="0"/>
      <dgm:spPr/>
    </dgm:pt>
    <dgm:pt modelId="{440EACB4-0C95-441B-92F0-A16714161C69}" type="pres">
      <dgm:prSet presAssocID="{013491F4-FD5A-4FF3-811B-57545063A976}" presName="parentLeftMargin" presStyleLbl="node1" presStyleIdx="1" presStyleCnt="4"/>
      <dgm:spPr/>
    </dgm:pt>
    <dgm:pt modelId="{C14A5956-A5DB-4D25-B806-5FBC5E391CDB}" type="pres">
      <dgm:prSet presAssocID="{013491F4-FD5A-4FF3-811B-57545063A976}" presName="parentText" presStyleLbl="node1" presStyleIdx="2" presStyleCnt="4" custScaleX="115231">
        <dgm:presLayoutVars>
          <dgm:chMax val="0"/>
          <dgm:bulletEnabled val="1"/>
        </dgm:presLayoutVars>
      </dgm:prSet>
      <dgm:spPr/>
    </dgm:pt>
    <dgm:pt modelId="{164E8C02-AFA0-4F70-91D0-AF2AC8CF9B02}" type="pres">
      <dgm:prSet presAssocID="{013491F4-FD5A-4FF3-811B-57545063A976}" presName="negativeSpace" presStyleCnt="0"/>
      <dgm:spPr/>
    </dgm:pt>
    <dgm:pt modelId="{B257D953-AECF-4399-AF76-81F14B926192}" type="pres">
      <dgm:prSet presAssocID="{013491F4-FD5A-4FF3-811B-57545063A976}" presName="childText" presStyleLbl="conFgAcc1" presStyleIdx="2" presStyleCnt="4">
        <dgm:presLayoutVars>
          <dgm:bulletEnabled val="1"/>
        </dgm:presLayoutVars>
      </dgm:prSet>
      <dgm:spPr>
        <a:solidFill>
          <a:schemeClr val="accent2">
            <a:lumMod val="20000"/>
            <a:lumOff val="80000"/>
            <a:alpha val="90000"/>
          </a:schemeClr>
        </a:solidFill>
      </dgm:spPr>
    </dgm:pt>
    <dgm:pt modelId="{639258A0-3BDE-443F-8C78-AD51AC702204}" type="pres">
      <dgm:prSet presAssocID="{54064C5E-C798-41DB-B83B-FC1C641BAAD9}" presName="spaceBetweenRectangles" presStyleCnt="0"/>
      <dgm:spPr/>
    </dgm:pt>
    <dgm:pt modelId="{BAD16F1A-17EF-41AB-8B1F-579C3019A4F8}" type="pres">
      <dgm:prSet presAssocID="{AA539293-FE58-46BA-86BE-BBB9EE20B499}" presName="parentLin" presStyleCnt="0"/>
      <dgm:spPr/>
    </dgm:pt>
    <dgm:pt modelId="{111FBD55-9941-413B-AC76-5134CA149111}" type="pres">
      <dgm:prSet presAssocID="{AA539293-FE58-46BA-86BE-BBB9EE20B499}" presName="parentLeftMargin" presStyleLbl="node1" presStyleIdx="2" presStyleCnt="4"/>
      <dgm:spPr/>
    </dgm:pt>
    <dgm:pt modelId="{80CEF40F-8524-4FCD-82FE-656F63E9018F}" type="pres">
      <dgm:prSet presAssocID="{AA539293-FE58-46BA-86BE-BBB9EE20B499}" presName="parentText" presStyleLbl="node1" presStyleIdx="3" presStyleCnt="4" custScaleX="114683">
        <dgm:presLayoutVars>
          <dgm:chMax val="0"/>
          <dgm:bulletEnabled val="1"/>
        </dgm:presLayoutVars>
      </dgm:prSet>
      <dgm:spPr/>
    </dgm:pt>
    <dgm:pt modelId="{820AD401-98F9-48E4-8FDA-332040B6D7C2}" type="pres">
      <dgm:prSet presAssocID="{AA539293-FE58-46BA-86BE-BBB9EE20B499}" presName="negativeSpace" presStyleCnt="0"/>
      <dgm:spPr/>
    </dgm:pt>
    <dgm:pt modelId="{6D1F781A-2A43-4F70-803F-EB104A878BE2}" type="pres">
      <dgm:prSet presAssocID="{AA539293-FE58-46BA-86BE-BBB9EE20B499}" presName="childText" presStyleLbl="conFgAcc1" presStyleIdx="3" presStyleCnt="4">
        <dgm:presLayoutVars>
          <dgm:bulletEnabled val="1"/>
        </dgm:presLayoutVars>
      </dgm:prSet>
      <dgm:spPr>
        <a:solidFill>
          <a:schemeClr val="accent2">
            <a:lumMod val="20000"/>
            <a:lumOff val="80000"/>
            <a:alpha val="90000"/>
          </a:schemeClr>
        </a:solidFill>
      </dgm:spPr>
    </dgm:pt>
  </dgm:ptLst>
  <dgm:cxnLst>
    <dgm:cxn modelId="{32E44A1E-7F88-4C13-B3B8-9598EE0BC6B9}" type="presOf" srcId="{EB241348-7E3A-417A-8A43-47AE66502BA7}" destId="{CAA66065-3994-41DD-9D6A-576C9726E710}" srcOrd="1" destOrd="0" presId="urn:microsoft.com/office/officeart/2005/8/layout/list1#1"/>
    <dgm:cxn modelId="{066E4721-F499-4AC1-B0F3-278CF2877664}" type="presOf" srcId="{013491F4-FD5A-4FF3-811B-57545063A976}" destId="{C14A5956-A5DB-4D25-B806-5FBC5E391CDB}" srcOrd="1" destOrd="0" presId="urn:microsoft.com/office/officeart/2005/8/layout/list1#1"/>
    <dgm:cxn modelId="{90C4CD2F-22E3-49C1-8EF0-7573EB518625}" type="presOf" srcId="{AA539293-FE58-46BA-86BE-BBB9EE20B499}" destId="{111FBD55-9941-413B-AC76-5134CA149111}" srcOrd="0" destOrd="0" presId="urn:microsoft.com/office/officeart/2005/8/layout/list1#1"/>
    <dgm:cxn modelId="{A4FA7C62-6471-4720-ADEB-9B539B76C4FC}" srcId="{86266689-0C52-4E58-96DE-B664C324113D}" destId="{AA539293-FE58-46BA-86BE-BBB9EE20B499}" srcOrd="3" destOrd="0" parTransId="{8032DBCA-61F4-49F3-8F0B-3CEB8551841F}" sibTransId="{FC24DC9F-94B4-43F4-99A3-762EB51B4343}"/>
    <dgm:cxn modelId="{D478776B-9F96-43AE-B15E-6406C4EC9CD8}" type="presOf" srcId="{AA539293-FE58-46BA-86BE-BBB9EE20B499}" destId="{80CEF40F-8524-4FCD-82FE-656F63E9018F}" srcOrd="1" destOrd="0" presId="urn:microsoft.com/office/officeart/2005/8/layout/list1#1"/>
    <dgm:cxn modelId="{7AD8E4A1-8818-49B0-9A7D-D21E92DD7962}" type="presOf" srcId="{86266689-0C52-4E58-96DE-B664C324113D}" destId="{9AD1C278-FD9E-4036-ADC2-0D0033191AEF}" srcOrd="0" destOrd="0" presId="urn:microsoft.com/office/officeart/2005/8/layout/list1#1"/>
    <dgm:cxn modelId="{7E4426A8-4E64-4D99-8534-6671561E98FD}" srcId="{86266689-0C52-4E58-96DE-B664C324113D}" destId="{EB241348-7E3A-417A-8A43-47AE66502BA7}" srcOrd="0" destOrd="0" parTransId="{54A3EC67-B3AC-479C-8072-024E2FBD73C5}" sibTransId="{DEE1A24F-454F-4C40-BCDC-74DFCC5E64F8}"/>
    <dgm:cxn modelId="{00D787BA-6EAF-4864-803D-B341018C5451}" srcId="{86266689-0C52-4E58-96DE-B664C324113D}" destId="{013491F4-FD5A-4FF3-811B-57545063A976}" srcOrd="2" destOrd="0" parTransId="{55B30BF3-337E-4590-B389-0ED2468505C6}" sibTransId="{54064C5E-C798-41DB-B83B-FC1C641BAAD9}"/>
    <dgm:cxn modelId="{E85FC0BA-0C1D-4465-A84B-41FFDC1919A7}" type="presOf" srcId="{013491F4-FD5A-4FF3-811B-57545063A976}" destId="{440EACB4-0C95-441B-92F0-A16714161C69}" srcOrd="0" destOrd="0" presId="urn:microsoft.com/office/officeart/2005/8/layout/list1#1"/>
    <dgm:cxn modelId="{A61D6FC5-2016-479C-9C85-E56AADAA1930}" type="presOf" srcId="{1E475865-25E1-4CF4-BF66-832679CDD4EE}" destId="{70C7227A-CDF4-450C-9319-39C016995FBB}" srcOrd="1" destOrd="0" presId="urn:microsoft.com/office/officeart/2005/8/layout/list1#1"/>
    <dgm:cxn modelId="{21ECDCD6-9049-4ABB-88BC-E72689D08677}" srcId="{86266689-0C52-4E58-96DE-B664C324113D}" destId="{1E475865-25E1-4CF4-BF66-832679CDD4EE}" srcOrd="1" destOrd="0" parTransId="{0EDFF5FD-80AB-4064-BB18-4D3EAF369496}" sibTransId="{22F13B53-2E6C-4459-9345-C32121B3D77E}"/>
    <dgm:cxn modelId="{7D5B1BDD-246B-4407-86F9-C6CB184F72AB}" type="presOf" srcId="{EB241348-7E3A-417A-8A43-47AE66502BA7}" destId="{573587DA-4B45-4C22-B836-979EBFB52F71}" srcOrd="0" destOrd="0" presId="urn:microsoft.com/office/officeart/2005/8/layout/list1#1"/>
    <dgm:cxn modelId="{14606DE7-7B58-44BB-889D-56966ACD2975}" type="presOf" srcId="{1E475865-25E1-4CF4-BF66-832679CDD4EE}" destId="{BE6B2C4D-A7D7-43EB-8D27-15B72521F982}" srcOrd="0" destOrd="0" presId="urn:microsoft.com/office/officeart/2005/8/layout/list1#1"/>
    <dgm:cxn modelId="{5E9B0160-0231-4586-946C-2D7B93FE5E57}" type="presParOf" srcId="{9AD1C278-FD9E-4036-ADC2-0D0033191AEF}" destId="{48172A96-47A4-43C9-A5FB-A07FA5DBECDF}" srcOrd="0" destOrd="0" presId="urn:microsoft.com/office/officeart/2005/8/layout/list1#1"/>
    <dgm:cxn modelId="{6876A85B-6EE4-4F42-AB2E-F6220A2F43A9}" type="presParOf" srcId="{48172A96-47A4-43C9-A5FB-A07FA5DBECDF}" destId="{573587DA-4B45-4C22-B836-979EBFB52F71}" srcOrd="0" destOrd="0" presId="urn:microsoft.com/office/officeart/2005/8/layout/list1#1"/>
    <dgm:cxn modelId="{000017EE-DE86-4DA3-8719-DD16DD5936D7}" type="presParOf" srcId="{48172A96-47A4-43C9-A5FB-A07FA5DBECDF}" destId="{CAA66065-3994-41DD-9D6A-576C9726E710}" srcOrd="1" destOrd="0" presId="urn:microsoft.com/office/officeart/2005/8/layout/list1#1"/>
    <dgm:cxn modelId="{C537B125-6C06-43BA-825B-AF81A69120A2}" type="presParOf" srcId="{9AD1C278-FD9E-4036-ADC2-0D0033191AEF}" destId="{6D1DDEAE-019F-4AE1-AA16-CC76047E0C22}" srcOrd="1" destOrd="0" presId="urn:microsoft.com/office/officeart/2005/8/layout/list1#1"/>
    <dgm:cxn modelId="{3F6A6F65-E5E9-4848-85B0-39E57DCB8F74}" type="presParOf" srcId="{9AD1C278-FD9E-4036-ADC2-0D0033191AEF}" destId="{1B0134BA-91A7-4332-BE22-21D2F0E5CFE0}" srcOrd="2" destOrd="0" presId="urn:microsoft.com/office/officeart/2005/8/layout/list1#1"/>
    <dgm:cxn modelId="{41944BD4-FD40-47C8-80F0-3092166937D8}" type="presParOf" srcId="{9AD1C278-FD9E-4036-ADC2-0D0033191AEF}" destId="{AD0B782B-E80F-4381-BB4D-C1267A46E23A}" srcOrd="3" destOrd="0" presId="urn:microsoft.com/office/officeart/2005/8/layout/list1#1"/>
    <dgm:cxn modelId="{0D4C47E3-B494-4DC4-ACA5-E2841775CC32}" type="presParOf" srcId="{9AD1C278-FD9E-4036-ADC2-0D0033191AEF}" destId="{9F5EF3D2-0549-4A6A-AED7-8126FB9FADDA}" srcOrd="4" destOrd="0" presId="urn:microsoft.com/office/officeart/2005/8/layout/list1#1"/>
    <dgm:cxn modelId="{8E50E38C-2A12-41DA-A566-B74E44D31184}" type="presParOf" srcId="{9F5EF3D2-0549-4A6A-AED7-8126FB9FADDA}" destId="{BE6B2C4D-A7D7-43EB-8D27-15B72521F982}" srcOrd="0" destOrd="0" presId="urn:microsoft.com/office/officeart/2005/8/layout/list1#1"/>
    <dgm:cxn modelId="{5180B638-3DEE-44F6-8B91-DAC264892534}" type="presParOf" srcId="{9F5EF3D2-0549-4A6A-AED7-8126FB9FADDA}" destId="{70C7227A-CDF4-450C-9319-39C016995FBB}" srcOrd="1" destOrd="0" presId="urn:microsoft.com/office/officeart/2005/8/layout/list1#1"/>
    <dgm:cxn modelId="{D3AC8D43-1FA0-4CB5-8F92-F443153243FB}" type="presParOf" srcId="{9AD1C278-FD9E-4036-ADC2-0D0033191AEF}" destId="{9CC1DE61-7D89-443D-82AA-095DE9830130}" srcOrd="5" destOrd="0" presId="urn:microsoft.com/office/officeart/2005/8/layout/list1#1"/>
    <dgm:cxn modelId="{526B2C3C-B9D1-4E44-BD39-E305CEBFFE9A}" type="presParOf" srcId="{9AD1C278-FD9E-4036-ADC2-0D0033191AEF}" destId="{A3F1B9CC-669E-49ED-8C31-E1456791DCB9}" srcOrd="6" destOrd="0" presId="urn:microsoft.com/office/officeart/2005/8/layout/list1#1"/>
    <dgm:cxn modelId="{611FDC89-0F22-4D1B-8D35-ECAA03E054D7}" type="presParOf" srcId="{9AD1C278-FD9E-4036-ADC2-0D0033191AEF}" destId="{582DDE0A-E392-4A3E-80C2-7515A8DAEE57}" srcOrd="7" destOrd="0" presId="urn:microsoft.com/office/officeart/2005/8/layout/list1#1"/>
    <dgm:cxn modelId="{AC95757D-6E0C-4344-A371-F9356F71BCBE}" type="presParOf" srcId="{9AD1C278-FD9E-4036-ADC2-0D0033191AEF}" destId="{3BBEDA68-6854-4CAC-A49E-0DBFEC4A796C}" srcOrd="8" destOrd="0" presId="urn:microsoft.com/office/officeart/2005/8/layout/list1#1"/>
    <dgm:cxn modelId="{A6DDD281-CD9B-42E1-AD62-BCDE5AE36133}" type="presParOf" srcId="{3BBEDA68-6854-4CAC-A49E-0DBFEC4A796C}" destId="{440EACB4-0C95-441B-92F0-A16714161C69}" srcOrd="0" destOrd="0" presId="urn:microsoft.com/office/officeart/2005/8/layout/list1#1"/>
    <dgm:cxn modelId="{E4BF21BA-F8AC-4EC6-9ACA-DADE3C13D5E4}" type="presParOf" srcId="{3BBEDA68-6854-4CAC-A49E-0DBFEC4A796C}" destId="{C14A5956-A5DB-4D25-B806-5FBC5E391CDB}" srcOrd="1" destOrd="0" presId="urn:microsoft.com/office/officeart/2005/8/layout/list1#1"/>
    <dgm:cxn modelId="{56FD2D1C-3F15-47A9-8437-A82B49E0E30A}" type="presParOf" srcId="{9AD1C278-FD9E-4036-ADC2-0D0033191AEF}" destId="{164E8C02-AFA0-4F70-91D0-AF2AC8CF9B02}" srcOrd="9" destOrd="0" presId="urn:microsoft.com/office/officeart/2005/8/layout/list1#1"/>
    <dgm:cxn modelId="{723CEFAA-B96B-431C-8DA5-6F7AF7ACACCA}" type="presParOf" srcId="{9AD1C278-FD9E-4036-ADC2-0D0033191AEF}" destId="{B257D953-AECF-4399-AF76-81F14B926192}" srcOrd="10" destOrd="0" presId="urn:microsoft.com/office/officeart/2005/8/layout/list1#1"/>
    <dgm:cxn modelId="{D955000B-E5A5-4442-820A-403F03886240}" type="presParOf" srcId="{9AD1C278-FD9E-4036-ADC2-0D0033191AEF}" destId="{639258A0-3BDE-443F-8C78-AD51AC702204}" srcOrd="11" destOrd="0" presId="urn:microsoft.com/office/officeart/2005/8/layout/list1#1"/>
    <dgm:cxn modelId="{6094A06C-ECA2-42AF-A4EF-B886CA2F1B6E}" type="presParOf" srcId="{9AD1C278-FD9E-4036-ADC2-0D0033191AEF}" destId="{BAD16F1A-17EF-41AB-8B1F-579C3019A4F8}" srcOrd="12" destOrd="0" presId="urn:microsoft.com/office/officeart/2005/8/layout/list1#1"/>
    <dgm:cxn modelId="{44CBA56F-0DF2-453A-8561-4BD358640AE9}" type="presParOf" srcId="{BAD16F1A-17EF-41AB-8B1F-579C3019A4F8}" destId="{111FBD55-9941-413B-AC76-5134CA149111}" srcOrd="0" destOrd="0" presId="urn:microsoft.com/office/officeart/2005/8/layout/list1#1"/>
    <dgm:cxn modelId="{DFD79576-427D-4E58-BD4A-4B6C691FA4A1}" type="presParOf" srcId="{BAD16F1A-17EF-41AB-8B1F-579C3019A4F8}" destId="{80CEF40F-8524-4FCD-82FE-656F63E9018F}" srcOrd="1" destOrd="0" presId="urn:microsoft.com/office/officeart/2005/8/layout/list1#1"/>
    <dgm:cxn modelId="{9FBE1460-7A0A-4A38-BFFF-696A8C9FB585}" type="presParOf" srcId="{9AD1C278-FD9E-4036-ADC2-0D0033191AEF}" destId="{820AD401-98F9-48E4-8FDA-332040B6D7C2}" srcOrd="13" destOrd="0" presId="urn:microsoft.com/office/officeart/2005/8/layout/list1#1"/>
    <dgm:cxn modelId="{09445A6B-07F6-4AB2-AD85-57B8FD8295D8}" type="presParOf" srcId="{9AD1C278-FD9E-4036-ADC2-0D0033191AEF}" destId="{6D1F781A-2A43-4F70-803F-EB104A878BE2}" srcOrd="14" destOrd="0" presId="urn:microsoft.com/office/officeart/2005/8/layout/list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42" name="页眉占位符 266241"/>
          <p:cNvSpPr>
            <a:spLocks noGrp="1"/>
          </p:cNvSpPr>
          <p:nvPr>
            <p:ph type="hdr" sz="quarter"/>
          </p:nvPr>
        </p:nvSpPr>
        <p:spPr>
          <a:xfrm>
            <a:off x="0" y="0"/>
            <a:ext cx="2971800" cy="457200"/>
          </a:xfrm>
          <a:prstGeom prst="rect">
            <a:avLst/>
          </a:prstGeom>
          <a:noFill/>
          <a:ln w="9525">
            <a:noFill/>
          </a:ln>
        </p:spPr>
        <p:txBody>
          <a:bodyPr/>
          <a:lstStyle>
            <a:lvl1pPr eaLnBrk="1" hangingPunct="1">
              <a:spcBef>
                <a:spcPct val="20000"/>
              </a:spcBef>
              <a:defRPr sz="1200" i="0" noProof="1"/>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sz="12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66243" name="日期占位符 266242"/>
          <p:cNvSpPr>
            <a:spLocks noGrp="1"/>
          </p:cNvSpPr>
          <p:nvPr>
            <p:ph type="dt" idx="1"/>
          </p:nvPr>
        </p:nvSpPr>
        <p:spPr>
          <a:xfrm>
            <a:off x="3884613" y="0"/>
            <a:ext cx="2971800" cy="457200"/>
          </a:xfrm>
          <a:prstGeom prst="rect">
            <a:avLst/>
          </a:prstGeom>
          <a:noFill/>
          <a:ln w="9525">
            <a:noFill/>
          </a:ln>
        </p:spPr>
        <p:txBody>
          <a:bodyPr/>
          <a:lstStyle>
            <a:lvl1pPr algn="r" eaLnBrk="1" hangingPunct="1">
              <a:spcBef>
                <a:spcPct val="20000"/>
              </a:spcBef>
              <a:defRPr sz="1200" i="0" noProof="1"/>
            </a:lvl1pPr>
          </a:lstStyle>
          <a:p>
            <a:pPr marL="0" marR="0" lvl="0" indent="0" algn="r" defTabSz="914400" rtl="0" eaLnBrk="1" fontAlgn="base" latinLnBrk="0" hangingPunct="1">
              <a:lnSpc>
                <a:spcPct val="100000"/>
              </a:lnSpc>
              <a:spcBef>
                <a:spcPct val="2000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436" name="幻灯片图像占位符 266243"/>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7" name="文本占位符 266244"/>
          <p:cNvSpPr>
            <a:spLocks noGrp="1" noChangeArrowheads="1"/>
          </p:cNvSpPr>
          <p:nvPr>
            <p:ph type="body" sz="quarter" idx="4294967295"/>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266246" name="页脚占位符 266245"/>
          <p:cNvSpPr>
            <a:spLocks noGrp="1"/>
          </p:cNvSpPr>
          <p:nvPr>
            <p:ph type="ftr" sz="quarter" idx="4"/>
          </p:nvPr>
        </p:nvSpPr>
        <p:spPr>
          <a:xfrm>
            <a:off x="0" y="8685213"/>
            <a:ext cx="2971800" cy="457200"/>
          </a:xfrm>
          <a:prstGeom prst="rect">
            <a:avLst/>
          </a:prstGeom>
          <a:noFill/>
          <a:ln w="9525">
            <a:noFill/>
          </a:ln>
        </p:spPr>
        <p:txBody>
          <a:bodyPr anchor="b"/>
          <a:lstStyle>
            <a:lvl1pPr eaLnBrk="1" hangingPunct="1">
              <a:spcBef>
                <a:spcPct val="20000"/>
              </a:spcBef>
              <a:defRPr sz="1200" i="0" noProof="1"/>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sz="12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66247" name="灯片编号占位符 266246"/>
          <p:cNvSpPr>
            <a:spLocks noGrp="1"/>
          </p:cNvSpPr>
          <p:nvPr>
            <p:ph type="sldNum" sz="quarter" idx="5"/>
          </p:nvPr>
        </p:nvSpPr>
        <p:spPr>
          <a:xfrm>
            <a:off x="3884613" y="8685213"/>
            <a:ext cx="2971800" cy="457200"/>
          </a:xfrm>
          <a:prstGeom prst="rect">
            <a:avLst/>
          </a:prstGeom>
          <a:noFill/>
          <a:ln w="9525">
            <a:noFill/>
          </a:ln>
        </p:spPr>
        <p:txBody>
          <a:bodyPr anchor="b"/>
          <a:lstStyle>
            <a:lvl1pPr algn="r" eaLnBrk="1" hangingPunct="1">
              <a:spcBef>
                <a:spcPct val="20000"/>
              </a:spcBef>
              <a:defRPr sz="1200" i="0" noProof="1">
                <a:latin typeface="Times New Roman" panose="02020603050405020304" pitchFamily="18" charset="0"/>
                <a:cs typeface="+mn-ea"/>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AA612AD8-CF11-4D9D-B5CB-6288C511A25F}" type="slidenum">
              <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rPr>
              <a:t>‹#›</a:t>
            </a:fld>
            <a:endParaRPr kumimoji="0" lang="zh-CN" sz="12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lvl="1" algn="l" rtl="0" eaLnBrk="0" fontAlgn="base" hangingPunct="0">
      <a:spcBef>
        <a:spcPct val="30000"/>
      </a:spcBef>
      <a:spcAft>
        <a:spcPct val="0"/>
      </a:spcAft>
      <a:defRPr sz="1200" kern="1200">
        <a:solidFill>
          <a:schemeClr val="tx1"/>
        </a:solidFill>
        <a:latin typeface="+mn-lt"/>
        <a:ea typeface="+mn-ea"/>
        <a:cs typeface="+mn-cs"/>
      </a:defRPr>
    </a:lvl2pPr>
    <a:lvl3pPr marL="914400" lvl="2" algn="l" rtl="0" eaLnBrk="0" fontAlgn="base" hangingPunct="0">
      <a:spcBef>
        <a:spcPct val="30000"/>
      </a:spcBef>
      <a:spcAft>
        <a:spcPct val="0"/>
      </a:spcAft>
      <a:defRPr sz="1200" kern="1200">
        <a:solidFill>
          <a:schemeClr val="tx1"/>
        </a:solidFill>
        <a:latin typeface="+mn-lt"/>
        <a:ea typeface="+mn-ea"/>
        <a:cs typeface="+mn-cs"/>
      </a:defRPr>
    </a:lvl3pPr>
    <a:lvl4pPr marL="1371600" lvl="3" algn="l" rtl="0" eaLnBrk="0" fontAlgn="base" hangingPunct="0">
      <a:spcBef>
        <a:spcPct val="30000"/>
      </a:spcBef>
      <a:spcAft>
        <a:spcPct val="0"/>
      </a:spcAft>
      <a:defRPr sz="1200" kern="1200">
        <a:solidFill>
          <a:schemeClr val="tx1"/>
        </a:solidFill>
        <a:latin typeface="+mn-lt"/>
        <a:ea typeface="+mn-ea"/>
        <a:cs typeface="+mn-cs"/>
      </a:defRPr>
    </a:lvl4pPr>
    <a:lvl5pPr marL="1828800" lvl="4" algn="l" rtl="0" eaLnBrk="0" fontAlgn="base" hangingPunct="0">
      <a:spcBef>
        <a:spcPct val="30000"/>
      </a:spcBef>
      <a:spcAft>
        <a:spcPct val="0"/>
      </a:spcAft>
      <a:defRPr sz="1200" kern="1200">
        <a:solidFill>
          <a:schemeClr val="tx1"/>
        </a:solidFill>
        <a:latin typeface="+mn-lt"/>
        <a:ea typeface="+mn-ea"/>
        <a:cs typeface="+mn-cs"/>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p:sp>
      <p:sp>
        <p:nvSpPr>
          <p:cNvPr id="26627"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2662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buChar char="•"/>
            </a:pPr>
            <a:fld id="{9A0DB2DC-4C9A-4742-B13C-FB6460FD3503}" type="slidenum">
              <a:rPr lang="en-US" altLang="zh-CN" sz="1200" dirty="0">
                <a:solidFill>
                  <a:srgbClr val="000000"/>
                </a:solidFill>
                <a:latin typeface="Times New Roman" panose="02020603050405020304" pitchFamily="18" charset="0"/>
              </a:rPr>
              <a:t>10</a:t>
            </a:fld>
            <a:endParaRPr lang="en-US" altLang="zh-CN" sz="1200" dirty="0">
              <a:solidFill>
                <a:srgbClr val="000000"/>
              </a:solidFill>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幻灯片图像占位符 1"/>
          <p:cNvSpPr>
            <a:spLocks noGrp="1" noRot="1" noChangeAspect="1" noTextEdit="1"/>
          </p:cNvSpPr>
          <p:nvPr>
            <p:ph type="sldImg"/>
          </p:nvPr>
        </p:nvSpPr>
        <p:spPr>
          <a:ln/>
        </p:spPr>
      </p:sp>
      <p:sp>
        <p:nvSpPr>
          <p:cNvPr id="30722" name="备注占位符 2"/>
          <p:cNvSpPr>
            <a:spLocks noGrp="1"/>
          </p:cNvSpPr>
          <p:nvPr>
            <p:ph type="body"/>
          </p:nvPr>
        </p:nvSpPr>
        <p:spPr>
          <a:ln/>
        </p:spPr>
        <p:txBody>
          <a:bodyPr wrap="square" lIns="91440" tIns="45720" rIns="91440" bIns="45720" anchor="t" anchorCtr="0"/>
          <a:lstStyle/>
          <a:p>
            <a:pPr lvl="0"/>
            <a:endParaRPr lang="zh-CN" altLang="en-US" dirty="0"/>
          </a:p>
        </p:txBody>
      </p:sp>
      <p:sp>
        <p:nvSpPr>
          <p:cNvPr id="30723"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spcBef>
                <a:spcPct val="20000"/>
              </a:spcBef>
              <a:buChar char="•"/>
            </a:pPr>
            <a:fld id="{9A0DB2DC-4C9A-4742-B13C-FB6460FD3503}" type="slidenum">
              <a:rPr lang="en-US" altLang="zh-CN" sz="1200" i="0" dirty="0">
                <a:solidFill>
                  <a:srgbClr val="000000"/>
                </a:solidFill>
                <a:latin typeface="Times New Roman" panose="02020603050405020304" pitchFamily="18" charset="0"/>
                <a:ea typeface="宋体" panose="02010600030101010101" pitchFamily="2" charset="-122"/>
              </a:rPr>
              <a:t>43</a:t>
            </a:fld>
            <a:endParaRPr lang="en-US" altLang="zh-CN" sz="1200" i="0"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幻灯片图像占位符 1"/>
          <p:cNvSpPr>
            <a:spLocks noGrp="1" noRot="1" noChangeAspect="1" noTextEdit="1"/>
          </p:cNvSpPr>
          <p:nvPr>
            <p:ph type="sldImg"/>
          </p:nvPr>
        </p:nvSpPr>
        <p:spPr>
          <a:ln/>
        </p:spPr>
      </p:sp>
      <p:sp>
        <p:nvSpPr>
          <p:cNvPr id="38914" name="备注占位符 2"/>
          <p:cNvSpPr>
            <a:spLocks noGrp="1"/>
          </p:cNvSpPr>
          <p:nvPr>
            <p:ph type="body"/>
          </p:nvPr>
        </p:nvSpPr>
        <p:spPr>
          <a:ln/>
        </p:spPr>
        <p:txBody>
          <a:bodyPr wrap="square" lIns="91440" tIns="45720" rIns="91440" bIns="45720" anchor="t" anchorCtr="0"/>
          <a:lstStyle/>
          <a:p>
            <a:pPr lvl="0"/>
            <a:endParaRPr lang="zh-CN" altLang="en-US" dirty="0"/>
          </a:p>
        </p:txBody>
      </p:sp>
      <p:sp>
        <p:nvSpPr>
          <p:cNvPr id="31748" name="灯片编号占位符 3"/>
          <p:cNvSpPr txBox="1">
            <a:spLocks noGrp="1" noChangeArrowheads="1"/>
          </p:cNvSpPr>
          <p:nvPr>
            <p:ph type="sldNum" sz="quarter"/>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defRPr sz="2400" i="1">
                <a:solidFill>
                  <a:schemeClr val="tx1"/>
                </a:solidFill>
                <a:latin typeface="Tahoma" panose="020B0604030504040204" pitchFamily="34" charset="0"/>
                <a:ea typeface="宋体" panose="02010600030101010101" pitchFamily="2" charset="-122"/>
              </a:defRPr>
            </a:lvl1pPr>
            <a:lvl2pPr marL="742950" indent="-285750">
              <a:defRPr sz="2400" i="1">
                <a:solidFill>
                  <a:schemeClr val="tx1"/>
                </a:solidFill>
                <a:latin typeface="Tahoma" panose="020B0604030504040204" pitchFamily="34" charset="0"/>
                <a:ea typeface="宋体" panose="02010600030101010101" pitchFamily="2" charset="-122"/>
              </a:defRPr>
            </a:lvl2pPr>
            <a:lvl3pPr marL="1143000" indent="-228600">
              <a:defRPr sz="2400" i="1">
                <a:solidFill>
                  <a:schemeClr val="tx1"/>
                </a:solidFill>
                <a:latin typeface="Tahoma" panose="020B0604030504040204" pitchFamily="34" charset="0"/>
                <a:ea typeface="宋体" panose="02010600030101010101" pitchFamily="2" charset="-122"/>
              </a:defRPr>
            </a:lvl3pPr>
            <a:lvl4pPr marL="1600200" indent="-228600">
              <a:defRPr sz="2400" i="1">
                <a:solidFill>
                  <a:schemeClr val="tx1"/>
                </a:solidFill>
                <a:latin typeface="Tahoma" panose="020B0604030504040204" pitchFamily="34" charset="0"/>
                <a:ea typeface="宋体" panose="02010600030101010101" pitchFamily="2" charset="-122"/>
              </a:defRPr>
            </a:lvl4pPr>
            <a:lvl5pPr marL="2057400" indent="-228600">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Char char="•"/>
              <a:defRPr/>
            </a:pPr>
            <a:fld id="{27F5EAB0-A1A0-43C2-A6D6-20D58A836DB8}" type="slidenum">
              <a:rPr kumimoji="0" altLang="zh-CN" sz="1200" b="0" i="0" u="none" strike="noStrike" kern="1200" cap="none" spc="0" normalizeH="0" baseline="0" noProof="1" smtClean="0">
                <a:ln>
                  <a:noFill/>
                </a:ln>
                <a:solidFill>
                  <a:srgbClr val="000000"/>
                </a:solidFill>
                <a:effectLst/>
                <a:uLnTx/>
                <a:uFillTx/>
                <a:latin typeface="Times New Roman" panose="02020603050405020304" pitchFamily="18" charset="0"/>
                <a:ea typeface="宋体" panose="02010600030101010101" pitchFamily="2" charset="-122"/>
                <a:cs typeface="+mn-ea"/>
              </a:rPr>
              <a:t>50</a:t>
            </a:fld>
            <a:endParaRPr kumimoji="0" lang="zh-CN" altLang="zh-CN" sz="12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幻灯片图像占位符 1"/>
          <p:cNvSpPr>
            <a:spLocks noGrp="1" noRot="1" noChangeAspect="1" noTextEdit="1"/>
          </p:cNvSpPr>
          <p:nvPr>
            <p:ph type="sldImg"/>
          </p:nvPr>
        </p:nvSpPr>
        <p:spPr>
          <a:ln/>
        </p:spPr>
      </p:sp>
      <p:sp>
        <p:nvSpPr>
          <p:cNvPr id="44034" name="文本占位符 2"/>
          <p:cNvSpPr>
            <a:spLocks noGrp="1"/>
          </p:cNvSpPr>
          <p:nvPr>
            <p:ph type="body"/>
          </p:nvPr>
        </p:nvSpPr>
        <p:spPr>
          <a:ln/>
        </p:spPr>
        <p:txBody>
          <a:bodyPr wrap="square" lIns="91440" tIns="45720" rIns="91440" bIns="45720" anchor="t" anchorCtr="0"/>
          <a:lstStyle/>
          <a:p>
            <a:pPr lvl="0"/>
            <a:r>
              <a:rPr lang="zh-CN" altLang="en-US" dirty="0"/>
              <a:t>考虑活动的对象，如果他们的活动流程相同，就对应一类进程，如果不同，就对应多个进程。本题的活动对象是读者，而读者的活动是相同的，所以只有一类进程。</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幻灯片图像占位符 1"/>
          <p:cNvSpPr>
            <a:spLocks noGrp="1" noRot="1" noChangeAspect="1" noTextEdit="1"/>
          </p:cNvSpPr>
          <p:nvPr>
            <p:ph type="sldImg"/>
          </p:nvPr>
        </p:nvSpPr>
        <p:spPr>
          <a:ln/>
        </p:spPr>
      </p:sp>
      <p:sp>
        <p:nvSpPr>
          <p:cNvPr id="49154" name="文本占位符 2"/>
          <p:cNvSpPr>
            <a:spLocks noGrp="1"/>
          </p:cNvSpPr>
          <p:nvPr>
            <p:ph type="body"/>
          </p:nvPr>
        </p:nvSpPr>
        <p:spPr>
          <a:ln/>
        </p:spPr>
        <p:txBody>
          <a:bodyPr wrap="square" lIns="91440" tIns="45720" rIns="91440" bIns="45720" anchor="ctr" anchorCtr="0"/>
          <a:lstStyle/>
          <a:p>
            <a:pPr lvl="0" eaLnBrk="1" hangingPunct="1"/>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p:cNvSpPr>
            <a:spLocks noGrp="1" noRot="1" noChangeAspect="1" noTextEdit="1"/>
          </p:cNvSpPr>
          <p:nvPr>
            <p:ph type="sldImg"/>
          </p:nvPr>
        </p:nvSpPr>
        <p:spPr>
          <a:ln/>
        </p:spPr>
      </p:sp>
      <p:sp>
        <p:nvSpPr>
          <p:cNvPr id="51202" name="文本占位符 2"/>
          <p:cNvSpPr>
            <a:spLocks noGrp="1"/>
          </p:cNvSpPr>
          <p:nvPr>
            <p:ph type="body"/>
          </p:nvPr>
        </p:nvSpPr>
        <p:spPr>
          <a:ln/>
        </p:spPr>
        <p:txBody>
          <a:bodyPr wrap="square" lIns="91440" tIns="45720" rIns="91440" bIns="45720" anchor="ctr" anchorCtr="0"/>
          <a:lstStyle/>
          <a:p>
            <a:pPr lvl="0" eaLnBrk="1" hangingPunct="1"/>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幻灯片图像占位符 1"/>
          <p:cNvSpPr>
            <a:spLocks noGrp="1" noRot="1" noChangeAspect="1" noTextEdit="1"/>
          </p:cNvSpPr>
          <p:nvPr>
            <p:ph type="sldImg"/>
          </p:nvPr>
        </p:nvSpPr>
        <p:spPr>
          <a:ln/>
        </p:spPr>
      </p:sp>
      <p:sp>
        <p:nvSpPr>
          <p:cNvPr id="53250" name="文本占位符 2"/>
          <p:cNvSpPr>
            <a:spLocks noGrp="1"/>
          </p:cNvSpPr>
          <p:nvPr>
            <p:ph type="body"/>
          </p:nvPr>
        </p:nvSpPr>
        <p:spPr>
          <a:ln/>
        </p:spPr>
        <p:txBody>
          <a:bodyPr wrap="square" lIns="91440" tIns="45720" rIns="91440" bIns="45720" anchor="ctr" anchorCtr="0"/>
          <a:lstStyle/>
          <a:p>
            <a:pPr lvl="0" eaLnBrk="1" hangingPunct="1"/>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a:t>举例说明互斥和同步</a:t>
            </a:r>
          </a:p>
        </p:txBody>
      </p:sp>
    </p:spTree>
    <p:extLst>
      <p:ext uri="{BB962C8B-B14F-4D97-AF65-F5344CB8AC3E}">
        <p14:creationId xmlns:p14="http://schemas.microsoft.com/office/powerpoint/2010/main" val="260541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348049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02450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zh-CN"/>
          </a:p>
        </p:txBody>
      </p:sp>
    </p:spTree>
    <p:extLst>
      <p:ext uri="{BB962C8B-B14F-4D97-AF65-F5344CB8AC3E}">
        <p14:creationId xmlns:p14="http://schemas.microsoft.com/office/powerpoint/2010/main" val="897580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err="1">
              <a:solidFill>
                <a:schemeClr val="accent4">
                  <a:lumMod val="60000"/>
                  <a:lumOff val="40000"/>
                </a:schemeClr>
              </a:solidFill>
              <a:sym typeface="+mn-ea"/>
            </a:endParaRPr>
          </a:p>
        </p:txBody>
      </p:sp>
    </p:spTree>
    <p:extLst>
      <p:ext uri="{BB962C8B-B14F-4D97-AF65-F5344CB8AC3E}">
        <p14:creationId xmlns:p14="http://schemas.microsoft.com/office/powerpoint/2010/main" val="2225998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4228205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C</a:t>
            </a:r>
          </a:p>
        </p:txBody>
      </p:sp>
    </p:spTree>
    <p:extLst>
      <p:ext uri="{BB962C8B-B14F-4D97-AF65-F5344CB8AC3E}">
        <p14:creationId xmlns:p14="http://schemas.microsoft.com/office/powerpoint/2010/main" val="3945570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确切地说，信号量和管程，也属于软件同步机制</a:t>
            </a:r>
          </a:p>
        </p:txBody>
      </p:sp>
    </p:spTree>
    <p:extLst>
      <p:ext uri="{BB962C8B-B14F-4D97-AF65-F5344CB8AC3E}">
        <p14:creationId xmlns:p14="http://schemas.microsoft.com/office/powerpoint/2010/main" val="19522192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p:sp>
      <p:sp>
        <p:nvSpPr>
          <p:cNvPr id="7782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778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i="0" dirty="0">
                <a:latin typeface="Times New Roman" panose="02020603050405020304" pitchFamily="18" charset="0"/>
              </a:rPr>
              <a:t>102</a:t>
            </a:fld>
            <a:endParaRPr lang="zh-CN" altLang="zh-CN" sz="1200" i="0" dirty="0">
              <a:latin typeface="Times New Roman" panose="02020603050405020304" pitchFamily="18" charset="0"/>
            </a:endParaRPr>
          </a:p>
        </p:txBody>
      </p:sp>
    </p:spTree>
    <p:extLst>
      <p:ext uri="{BB962C8B-B14F-4D97-AF65-F5344CB8AC3E}">
        <p14:creationId xmlns:p14="http://schemas.microsoft.com/office/powerpoint/2010/main" val="39710445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p:sp>
      <p:sp>
        <p:nvSpPr>
          <p:cNvPr id="7987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798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i="0" dirty="0">
                <a:latin typeface="Times New Roman" panose="02020603050405020304" pitchFamily="18" charset="0"/>
              </a:rPr>
              <a:t>103</a:t>
            </a:fld>
            <a:endParaRPr lang="zh-CN" altLang="zh-CN" sz="1200" i="0" dirty="0">
              <a:latin typeface="Times New Roman" panose="02020603050405020304" pitchFamily="18" charset="0"/>
            </a:endParaRPr>
          </a:p>
        </p:txBody>
      </p:sp>
    </p:spTree>
    <p:extLst>
      <p:ext uri="{BB962C8B-B14F-4D97-AF65-F5344CB8AC3E}">
        <p14:creationId xmlns:p14="http://schemas.microsoft.com/office/powerpoint/2010/main" val="40823985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p:sp>
      <p:sp>
        <p:nvSpPr>
          <p:cNvPr id="7782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778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i="0" dirty="0">
                <a:latin typeface="Times New Roman" panose="02020603050405020304" pitchFamily="18" charset="0"/>
              </a:rPr>
              <a:t>147</a:t>
            </a:fld>
            <a:endParaRPr lang="zh-CN" altLang="zh-CN" sz="1200" i="0" dirty="0">
              <a:latin typeface="Times New Roman" panose="02020603050405020304" pitchFamily="18" charset="0"/>
            </a:endParaRPr>
          </a:p>
        </p:txBody>
      </p:sp>
    </p:spTree>
    <p:extLst>
      <p:ext uri="{BB962C8B-B14F-4D97-AF65-F5344CB8AC3E}">
        <p14:creationId xmlns:p14="http://schemas.microsoft.com/office/powerpoint/2010/main" val="32287946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p:sp>
      <p:sp>
        <p:nvSpPr>
          <p:cNvPr id="7987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798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i="0" dirty="0">
                <a:latin typeface="Times New Roman" panose="02020603050405020304" pitchFamily="18" charset="0"/>
              </a:rPr>
              <a:t>148</a:t>
            </a:fld>
            <a:endParaRPr lang="zh-CN" altLang="zh-CN" sz="1200" i="0" dirty="0">
              <a:latin typeface="Times New Roman" panose="02020603050405020304" pitchFamily="18" charset="0"/>
            </a:endParaRPr>
          </a:p>
        </p:txBody>
      </p:sp>
    </p:spTree>
    <p:extLst>
      <p:ext uri="{BB962C8B-B14F-4D97-AF65-F5344CB8AC3E}">
        <p14:creationId xmlns:p14="http://schemas.microsoft.com/office/powerpoint/2010/main" val="918419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grpSp>
        <p:nvGrpSpPr>
          <p:cNvPr id="4098" name="组合 27649"/>
          <p:cNvGrpSpPr/>
          <p:nvPr/>
        </p:nvGrpSpPr>
        <p:grpSpPr>
          <a:xfrm>
            <a:off x="0" y="2438400"/>
            <a:ext cx="9009063" cy="1052513"/>
            <a:chOff x="0" y="1536"/>
            <a:chExt cx="5675" cy="663"/>
          </a:xfrm>
        </p:grpSpPr>
        <p:grpSp>
          <p:nvGrpSpPr>
            <p:cNvPr id="4099" name="组合 27650"/>
            <p:cNvGrpSpPr/>
            <p:nvPr/>
          </p:nvGrpSpPr>
          <p:grpSpPr>
            <a:xfrm>
              <a:off x="183" y="1604"/>
              <a:ext cx="448" cy="299"/>
              <a:chOff x="720" y="336"/>
              <a:chExt cx="624" cy="432"/>
            </a:xfrm>
          </p:grpSpPr>
          <p:sp>
            <p:nvSpPr>
              <p:cNvPr id="22" name="矩形 27651"/>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i="1">
                    <a:solidFill>
                      <a:schemeClr val="tx1"/>
                    </a:solidFill>
                    <a:latin typeface="Tahoma" panose="020B0604030504040204" pitchFamily="34" charset="0"/>
                    <a:ea typeface="宋体" panose="02010600030101010101" pitchFamily="2" charset="-122"/>
                  </a:defRPr>
                </a:lvl1pPr>
                <a:lvl2pPr marL="742950" indent="-285750">
                  <a:spcBef>
                    <a:spcPct val="20000"/>
                  </a:spcBef>
                  <a:defRPr sz="2400" i="1">
                    <a:solidFill>
                      <a:schemeClr val="tx1"/>
                    </a:solidFill>
                    <a:latin typeface="Tahoma" panose="020B0604030504040204" pitchFamily="34" charset="0"/>
                    <a:ea typeface="宋体" panose="02010600030101010101" pitchFamily="2" charset="-122"/>
                  </a:defRPr>
                </a:lvl2pPr>
                <a:lvl3pPr marL="1143000" indent="-228600">
                  <a:spcBef>
                    <a:spcPct val="20000"/>
                  </a:spcBef>
                  <a:defRPr sz="2400" i="1">
                    <a:solidFill>
                      <a:schemeClr val="tx1"/>
                    </a:solidFill>
                    <a:latin typeface="Tahoma" panose="020B0604030504040204" pitchFamily="34" charset="0"/>
                    <a:ea typeface="宋体" panose="02010600030101010101" pitchFamily="2" charset="-122"/>
                  </a:defRPr>
                </a:lvl3pPr>
                <a:lvl4pPr marL="1600200" indent="-228600">
                  <a:spcBef>
                    <a:spcPct val="20000"/>
                  </a:spcBef>
                  <a:defRPr sz="2400" i="1">
                    <a:solidFill>
                      <a:schemeClr val="tx1"/>
                    </a:solidFill>
                    <a:latin typeface="Tahoma" panose="020B0604030504040204" pitchFamily="34" charset="0"/>
                    <a:ea typeface="宋体" panose="02010600030101010101" pitchFamily="2" charset="-122"/>
                  </a:defRPr>
                </a:lvl4pPr>
                <a:lvl5pPr marL="2057400" indent="-228600">
                  <a:spcBef>
                    <a:spcPct val="20000"/>
                  </a:spcBef>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2400" b="0"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矩形 27652"/>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i="1">
                    <a:solidFill>
                      <a:schemeClr val="tx1"/>
                    </a:solidFill>
                    <a:latin typeface="Tahoma" panose="020B0604030504040204" pitchFamily="34" charset="0"/>
                    <a:ea typeface="宋体" panose="02010600030101010101" pitchFamily="2" charset="-122"/>
                  </a:defRPr>
                </a:lvl1pPr>
                <a:lvl2pPr marL="742950" indent="-285750">
                  <a:spcBef>
                    <a:spcPct val="20000"/>
                  </a:spcBef>
                  <a:defRPr sz="2400" i="1">
                    <a:solidFill>
                      <a:schemeClr val="tx1"/>
                    </a:solidFill>
                    <a:latin typeface="Tahoma" panose="020B0604030504040204" pitchFamily="34" charset="0"/>
                    <a:ea typeface="宋体" panose="02010600030101010101" pitchFamily="2" charset="-122"/>
                  </a:defRPr>
                </a:lvl2pPr>
                <a:lvl3pPr marL="1143000" indent="-228600">
                  <a:spcBef>
                    <a:spcPct val="20000"/>
                  </a:spcBef>
                  <a:defRPr sz="2400" i="1">
                    <a:solidFill>
                      <a:schemeClr val="tx1"/>
                    </a:solidFill>
                    <a:latin typeface="Tahoma" panose="020B0604030504040204" pitchFamily="34" charset="0"/>
                    <a:ea typeface="宋体" panose="02010600030101010101" pitchFamily="2" charset="-122"/>
                  </a:defRPr>
                </a:lvl3pPr>
                <a:lvl4pPr marL="1600200" indent="-228600">
                  <a:spcBef>
                    <a:spcPct val="20000"/>
                  </a:spcBef>
                  <a:defRPr sz="2400" i="1">
                    <a:solidFill>
                      <a:schemeClr val="tx1"/>
                    </a:solidFill>
                    <a:latin typeface="Tahoma" panose="020B0604030504040204" pitchFamily="34" charset="0"/>
                    <a:ea typeface="宋体" panose="02010600030101010101" pitchFamily="2" charset="-122"/>
                  </a:defRPr>
                </a:lvl4pPr>
                <a:lvl5pPr marL="2057400" indent="-228600">
                  <a:spcBef>
                    <a:spcPct val="20000"/>
                  </a:spcBef>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2400" b="0"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4102" name="组合 27653"/>
            <p:cNvGrpSpPr/>
            <p:nvPr/>
          </p:nvGrpSpPr>
          <p:grpSpPr>
            <a:xfrm>
              <a:off x="261" y="1870"/>
              <a:ext cx="465" cy="299"/>
              <a:chOff x="912" y="2640"/>
              <a:chExt cx="672" cy="432"/>
            </a:xfrm>
          </p:grpSpPr>
          <p:sp>
            <p:nvSpPr>
              <p:cNvPr id="20" name="矩形 27654"/>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i="1">
                    <a:solidFill>
                      <a:schemeClr val="tx1"/>
                    </a:solidFill>
                    <a:latin typeface="Tahoma" panose="020B0604030504040204" pitchFamily="34" charset="0"/>
                    <a:ea typeface="宋体" panose="02010600030101010101" pitchFamily="2" charset="-122"/>
                  </a:defRPr>
                </a:lvl1pPr>
                <a:lvl2pPr marL="742950" indent="-285750">
                  <a:spcBef>
                    <a:spcPct val="20000"/>
                  </a:spcBef>
                  <a:defRPr sz="2400" i="1">
                    <a:solidFill>
                      <a:schemeClr val="tx1"/>
                    </a:solidFill>
                    <a:latin typeface="Tahoma" panose="020B0604030504040204" pitchFamily="34" charset="0"/>
                    <a:ea typeface="宋体" panose="02010600030101010101" pitchFamily="2" charset="-122"/>
                  </a:defRPr>
                </a:lvl2pPr>
                <a:lvl3pPr marL="1143000" indent="-228600">
                  <a:spcBef>
                    <a:spcPct val="20000"/>
                  </a:spcBef>
                  <a:defRPr sz="2400" i="1">
                    <a:solidFill>
                      <a:schemeClr val="tx1"/>
                    </a:solidFill>
                    <a:latin typeface="Tahoma" panose="020B0604030504040204" pitchFamily="34" charset="0"/>
                    <a:ea typeface="宋体" panose="02010600030101010101" pitchFamily="2" charset="-122"/>
                  </a:defRPr>
                </a:lvl3pPr>
                <a:lvl4pPr marL="1600200" indent="-228600">
                  <a:spcBef>
                    <a:spcPct val="20000"/>
                  </a:spcBef>
                  <a:defRPr sz="2400" i="1">
                    <a:solidFill>
                      <a:schemeClr val="tx1"/>
                    </a:solidFill>
                    <a:latin typeface="Tahoma" panose="020B0604030504040204" pitchFamily="34" charset="0"/>
                    <a:ea typeface="宋体" panose="02010600030101010101" pitchFamily="2" charset="-122"/>
                  </a:defRPr>
                </a:lvl4pPr>
                <a:lvl5pPr marL="2057400" indent="-228600">
                  <a:spcBef>
                    <a:spcPct val="20000"/>
                  </a:spcBef>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2400" b="0"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矩形 27655"/>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i="1">
                    <a:solidFill>
                      <a:schemeClr val="tx1"/>
                    </a:solidFill>
                    <a:latin typeface="Tahoma" panose="020B0604030504040204" pitchFamily="34" charset="0"/>
                    <a:ea typeface="宋体" panose="02010600030101010101" pitchFamily="2" charset="-122"/>
                  </a:defRPr>
                </a:lvl1pPr>
                <a:lvl2pPr marL="742950" indent="-285750">
                  <a:spcBef>
                    <a:spcPct val="20000"/>
                  </a:spcBef>
                  <a:defRPr sz="2400" i="1">
                    <a:solidFill>
                      <a:schemeClr val="tx1"/>
                    </a:solidFill>
                    <a:latin typeface="Tahoma" panose="020B0604030504040204" pitchFamily="34" charset="0"/>
                    <a:ea typeface="宋体" panose="02010600030101010101" pitchFamily="2" charset="-122"/>
                  </a:defRPr>
                </a:lvl2pPr>
                <a:lvl3pPr marL="1143000" indent="-228600">
                  <a:spcBef>
                    <a:spcPct val="20000"/>
                  </a:spcBef>
                  <a:defRPr sz="2400" i="1">
                    <a:solidFill>
                      <a:schemeClr val="tx1"/>
                    </a:solidFill>
                    <a:latin typeface="Tahoma" panose="020B0604030504040204" pitchFamily="34" charset="0"/>
                    <a:ea typeface="宋体" panose="02010600030101010101" pitchFamily="2" charset="-122"/>
                  </a:defRPr>
                </a:lvl3pPr>
                <a:lvl4pPr marL="1600200" indent="-228600">
                  <a:spcBef>
                    <a:spcPct val="20000"/>
                  </a:spcBef>
                  <a:defRPr sz="2400" i="1">
                    <a:solidFill>
                      <a:schemeClr val="tx1"/>
                    </a:solidFill>
                    <a:latin typeface="Tahoma" panose="020B0604030504040204" pitchFamily="34" charset="0"/>
                    <a:ea typeface="宋体" panose="02010600030101010101" pitchFamily="2" charset="-122"/>
                  </a:defRPr>
                </a:lvl4pPr>
                <a:lvl5pPr marL="2057400" indent="-228600">
                  <a:spcBef>
                    <a:spcPct val="20000"/>
                  </a:spcBef>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2400" b="0"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7" name="矩形 27656"/>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i="1">
                  <a:solidFill>
                    <a:schemeClr val="tx1"/>
                  </a:solidFill>
                  <a:latin typeface="Tahoma" panose="020B0604030504040204" pitchFamily="34" charset="0"/>
                  <a:ea typeface="宋体" panose="02010600030101010101" pitchFamily="2" charset="-122"/>
                </a:defRPr>
              </a:lvl1pPr>
              <a:lvl2pPr marL="742950" indent="-285750">
                <a:spcBef>
                  <a:spcPct val="20000"/>
                </a:spcBef>
                <a:defRPr sz="2400" i="1">
                  <a:solidFill>
                    <a:schemeClr val="tx1"/>
                  </a:solidFill>
                  <a:latin typeface="Tahoma" panose="020B0604030504040204" pitchFamily="34" charset="0"/>
                  <a:ea typeface="宋体" panose="02010600030101010101" pitchFamily="2" charset="-122"/>
                </a:defRPr>
              </a:lvl2pPr>
              <a:lvl3pPr marL="1143000" indent="-228600">
                <a:spcBef>
                  <a:spcPct val="20000"/>
                </a:spcBef>
                <a:defRPr sz="2400" i="1">
                  <a:solidFill>
                    <a:schemeClr val="tx1"/>
                  </a:solidFill>
                  <a:latin typeface="Tahoma" panose="020B0604030504040204" pitchFamily="34" charset="0"/>
                  <a:ea typeface="宋体" panose="02010600030101010101" pitchFamily="2" charset="-122"/>
                </a:defRPr>
              </a:lvl3pPr>
              <a:lvl4pPr marL="1600200" indent="-228600">
                <a:spcBef>
                  <a:spcPct val="20000"/>
                </a:spcBef>
                <a:defRPr sz="2400" i="1">
                  <a:solidFill>
                    <a:schemeClr val="tx1"/>
                  </a:solidFill>
                  <a:latin typeface="Tahoma" panose="020B0604030504040204" pitchFamily="34" charset="0"/>
                  <a:ea typeface="宋体" panose="02010600030101010101" pitchFamily="2" charset="-122"/>
                </a:defRPr>
              </a:lvl4pPr>
              <a:lvl5pPr marL="2057400" indent="-228600">
                <a:spcBef>
                  <a:spcPct val="20000"/>
                </a:spcBef>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2400" b="0"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矩形 27657"/>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i="1">
                  <a:solidFill>
                    <a:schemeClr val="tx1"/>
                  </a:solidFill>
                  <a:latin typeface="Tahoma" panose="020B0604030504040204" pitchFamily="34" charset="0"/>
                  <a:ea typeface="宋体" panose="02010600030101010101" pitchFamily="2" charset="-122"/>
                </a:defRPr>
              </a:lvl1pPr>
              <a:lvl2pPr marL="742950" indent="-285750">
                <a:spcBef>
                  <a:spcPct val="20000"/>
                </a:spcBef>
                <a:defRPr sz="2400" i="1">
                  <a:solidFill>
                    <a:schemeClr val="tx1"/>
                  </a:solidFill>
                  <a:latin typeface="Tahoma" panose="020B0604030504040204" pitchFamily="34" charset="0"/>
                  <a:ea typeface="宋体" panose="02010600030101010101" pitchFamily="2" charset="-122"/>
                </a:defRPr>
              </a:lvl2pPr>
              <a:lvl3pPr marL="1143000" indent="-228600">
                <a:spcBef>
                  <a:spcPct val="20000"/>
                </a:spcBef>
                <a:defRPr sz="2400" i="1">
                  <a:solidFill>
                    <a:schemeClr val="tx1"/>
                  </a:solidFill>
                  <a:latin typeface="Tahoma" panose="020B0604030504040204" pitchFamily="34" charset="0"/>
                  <a:ea typeface="宋体" panose="02010600030101010101" pitchFamily="2" charset="-122"/>
                </a:defRPr>
              </a:lvl3pPr>
              <a:lvl4pPr marL="1600200" indent="-228600">
                <a:spcBef>
                  <a:spcPct val="20000"/>
                </a:spcBef>
                <a:defRPr sz="2400" i="1">
                  <a:solidFill>
                    <a:schemeClr val="tx1"/>
                  </a:solidFill>
                  <a:latin typeface="Tahoma" panose="020B0604030504040204" pitchFamily="34" charset="0"/>
                  <a:ea typeface="宋体" panose="02010600030101010101" pitchFamily="2" charset="-122"/>
                </a:defRPr>
              </a:lvl4pPr>
              <a:lvl5pPr marL="2057400" indent="-228600">
                <a:spcBef>
                  <a:spcPct val="20000"/>
                </a:spcBef>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2400" b="0"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矩形 27658"/>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400" i="1">
                  <a:solidFill>
                    <a:schemeClr val="tx1"/>
                  </a:solidFill>
                  <a:latin typeface="Tahoma" panose="020B0604030504040204" pitchFamily="34" charset="0"/>
                  <a:ea typeface="宋体" panose="02010600030101010101" pitchFamily="2" charset="-122"/>
                </a:defRPr>
              </a:lvl1pPr>
              <a:lvl2pPr marL="742950" indent="-285750">
                <a:spcBef>
                  <a:spcPct val="20000"/>
                </a:spcBef>
                <a:defRPr sz="2400" i="1">
                  <a:solidFill>
                    <a:schemeClr val="tx1"/>
                  </a:solidFill>
                  <a:latin typeface="Tahoma" panose="020B0604030504040204" pitchFamily="34" charset="0"/>
                  <a:ea typeface="宋体" panose="02010600030101010101" pitchFamily="2" charset="-122"/>
                </a:defRPr>
              </a:lvl2pPr>
              <a:lvl3pPr marL="1143000" indent="-228600">
                <a:spcBef>
                  <a:spcPct val="20000"/>
                </a:spcBef>
                <a:defRPr sz="2400" i="1">
                  <a:solidFill>
                    <a:schemeClr val="tx1"/>
                  </a:solidFill>
                  <a:latin typeface="Tahoma" panose="020B0604030504040204" pitchFamily="34" charset="0"/>
                  <a:ea typeface="宋体" panose="02010600030101010101" pitchFamily="2" charset="-122"/>
                </a:defRPr>
              </a:lvl3pPr>
              <a:lvl4pPr marL="1600200" indent="-228600">
                <a:spcBef>
                  <a:spcPct val="20000"/>
                </a:spcBef>
                <a:defRPr sz="2400" i="1">
                  <a:solidFill>
                    <a:schemeClr val="tx1"/>
                  </a:solidFill>
                  <a:latin typeface="Tahoma" panose="020B0604030504040204" pitchFamily="34" charset="0"/>
                  <a:ea typeface="宋体" panose="02010600030101010101" pitchFamily="2" charset="-122"/>
                </a:defRPr>
              </a:lvl4pPr>
              <a:lvl5pPr marL="2057400" indent="-228600">
                <a:spcBef>
                  <a:spcPct val="20000"/>
                </a:spcBef>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2400" b="0"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7660" name="标题 27659"/>
          <p:cNvSpPr>
            <a:spLocks noGrp="1"/>
          </p:cNvSpPr>
          <p:nvPr>
            <p:ph type="ctrTitle"/>
          </p:nvPr>
        </p:nvSpPr>
        <p:spPr>
          <a:xfrm>
            <a:off x="990600" y="1828800"/>
            <a:ext cx="7772400" cy="1143000"/>
          </a:xfrm>
          <a:prstGeom prst="rect">
            <a:avLst/>
          </a:prstGeom>
          <a:noFill/>
          <a:ln w="9525">
            <a:noFill/>
          </a:ln>
        </p:spPr>
        <p:txBody>
          <a:bodyPr/>
          <a:lstStyle>
            <a:lvl1pPr lvl="0">
              <a:defRPr kern="1200"/>
            </a:lvl1pPr>
          </a:lstStyle>
          <a:p>
            <a:pPr lvl="0" fontAlgn="base"/>
            <a:r>
              <a:rPr lang="zh-CN" altLang="en-US" strike="noStrike" noProof="1"/>
              <a:t>单击此处编辑母版标题样式</a:t>
            </a:r>
          </a:p>
        </p:txBody>
      </p:sp>
      <p:sp>
        <p:nvSpPr>
          <p:cNvPr id="27661" name="副标题 27660"/>
          <p:cNvSpPr>
            <a:spLocks noGrp="1"/>
          </p:cNvSpPr>
          <p:nvPr>
            <p:ph type="subTitle" idx="1"/>
          </p:nvPr>
        </p:nvSpPr>
        <p:spPr>
          <a:xfrm>
            <a:off x="1371600" y="3886200"/>
            <a:ext cx="6400800" cy="1752600"/>
          </a:xfrm>
          <a:prstGeom prst="rect">
            <a:avLst/>
          </a:prstGeom>
          <a:noFill/>
          <a:ln w="9525">
            <a:noFill/>
          </a:ln>
        </p:spPr>
        <p:txBody>
          <a:bodyPr/>
          <a:lstStyle>
            <a:lvl1pPr marL="0" lvl="0" indent="0" algn="ctr">
              <a:buNone/>
              <a:defRPr kern="1200"/>
            </a:lvl1pPr>
            <a:lvl2pPr marL="457200" lvl="1" indent="-457200" algn="ctr">
              <a:buNone/>
              <a:defRPr kern="1200"/>
            </a:lvl2pPr>
            <a:lvl3pPr marL="914400" lvl="2" indent="-914400" algn="ctr">
              <a:buNone/>
              <a:defRPr kern="1200"/>
            </a:lvl3pPr>
            <a:lvl4pPr marL="1371600" lvl="3" indent="-1371600" algn="ctr">
              <a:buNone/>
              <a:defRPr kern="1200"/>
            </a:lvl4pPr>
            <a:lvl5pPr marL="1828800" lvl="4" indent="-1828800" algn="ctr">
              <a:buNone/>
              <a:defRPr kern="1200"/>
            </a:lvl5pPr>
          </a:lstStyle>
          <a:p>
            <a:pPr lvl="0" fontAlgn="base"/>
            <a:r>
              <a:rPr lang="zh-CN" altLang="en-US" strike="noStrike" noProof="1"/>
              <a:t>单击此处编辑母版副标题样式</a:t>
            </a:r>
          </a:p>
        </p:txBody>
      </p:sp>
      <p:sp>
        <p:nvSpPr>
          <p:cNvPr id="24" name="日期占位符 27661"/>
          <p:cNvSpPr>
            <a:spLocks noGrp="1"/>
          </p:cNvSpPr>
          <p:nvPr>
            <p:ph type="dt" sz="half" idx="2"/>
          </p:nvPr>
        </p:nvSpPr>
        <p:spPr>
          <a:xfrm>
            <a:off x="990600" y="6248400"/>
            <a:ext cx="1905000" cy="457200"/>
          </a:xfrm>
          <a:prstGeom prst="rect">
            <a:avLst/>
          </a:prstGeom>
          <a:noFill/>
          <a:ln w="9525">
            <a:noFill/>
          </a:ln>
        </p:spPr>
        <p:txBody>
          <a:bodyPr anchor="b"/>
          <a:lstStyle>
            <a:lvl1pPr>
              <a:defRPr>
                <a:solidFill>
                  <a:schemeClr val="bg2"/>
                </a:solidFill>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25" name="页脚占位符 27662"/>
          <p:cNvSpPr>
            <a:spLocks noGrp="1"/>
          </p:cNvSpPr>
          <p:nvPr>
            <p:ph type="ftr" sz="quarter" idx="3"/>
          </p:nvPr>
        </p:nvSpPr>
        <p:spPr>
          <a:xfrm>
            <a:off x="3429000" y="6248400"/>
            <a:ext cx="2895600" cy="457200"/>
          </a:xfrm>
          <a:prstGeom prst="rect">
            <a:avLst/>
          </a:prstGeom>
          <a:noFill/>
          <a:ln w="9525">
            <a:noFill/>
          </a:ln>
        </p:spPr>
        <p:txBody>
          <a:bodyPr anchor="b"/>
          <a:lstStyle>
            <a:lvl1pPr>
              <a:defRPr>
                <a:solidFill>
                  <a:schemeClr val="bg2"/>
                </a:solidFill>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26" name="灯片编号占位符 27663"/>
          <p:cNvSpPr>
            <a:spLocks noGrp="1"/>
          </p:cNvSpPr>
          <p:nvPr>
            <p:ph type="sldNum" sz="quarter" idx="4"/>
          </p:nvPr>
        </p:nvSpPr>
        <p:spPr>
          <a:xfrm>
            <a:off x="6858000" y="6248400"/>
            <a:ext cx="1905000" cy="457200"/>
          </a:xfrm>
          <a:prstGeom prst="rect">
            <a:avLst/>
          </a:prstGeom>
          <a:noFill/>
          <a:ln w="9525">
            <a:noFill/>
          </a:ln>
        </p:spPr>
        <p:txBody>
          <a:bodyPr anchor="b"/>
          <a:lstStyle>
            <a:lvl1pPr>
              <a:defRPr>
                <a:solidFill>
                  <a:schemeClr val="bg2"/>
                </a:solidFill>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738FE358-4F7B-4C97-919B-5D1C993DA4FB}" type="slidenum">
              <a:rPr kumimoji="0" lang="en-US" altLang="zh-CN" sz="1400" b="0" i="0" u="none" strike="noStrike" kern="1200" cap="none" spc="0" normalizeH="0" baseline="0" noProof="1">
                <a:ln>
                  <a:noFill/>
                </a:ln>
                <a:solidFill>
                  <a:schemeClr val="bg2"/>
                </a:solidFill>
                <a:effectLst/>
                <a:uLnTx/>
                <a:uFillTx/>
                <a:latin typeface="Tahoma" panose="020B0604030504040204" pitchFamily="34" charset="0"/>
                <a:ea typeface="宋体" panose="02010600030101010101" pitchFamily="2" charset="-122"/>
                <a:cs typeface="+mn-ea"/>
              </a:rPr>
              <a:t>‹#›</a:t>
            </a:fld>
            <a:endParaRPr kumimoji="0" lang="zh-CN" sz="1400" b="0" i="0" u="none" strike="noStrike" kern="1200" cap="none" spc="0" normalizeH="0" baseline="0" noProof="1">
              <a:ln>
                <a:noFill/>
              </a:ln>
              <a:solidFill>
                <a:schemeClr val="bg2"/>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4" name="日期占位符 26634"/>
          <p:cNvSpPr>
            <a:spLocks noGrp="1"/>
          </p:cNvSpPr>
          <p:nvPr>
            <p:ph type="dt" sz="half" idx="2"/>
          </p:nvPr>
        </p:nvSpPr>
        <p:spPr>
          <a:xfrm>
            <a:off x="914400" y="6324600"/>
            <a:ext cx="1905000" cy="457200"/>
          </a:xfrm>
          <a:prstGeom prst="rect">
            <a:avLst/>
          </a:prstGeom>
          <a:noFill/>
          <a:ln w="9525">
            <a:noFill/>
          </a:ln>
        </p:spPr>
        <p:txBody>
          <a:bodyPr anchor="b"/>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页脚占位符 26635"/>
          <p:cNvSpPr>
            <a:spLocks noGrp="1"/>
          </p:cNvSpPr>
          <p:nvPr>
            <p:ph type="ftr" sz="quarter" idx="3"/>
          </p:nvPr>
        </p:nvSpPr>
        <p:spPr>
          <a:xfrm>
            <a:off x="3352800" y="6324600"/>
            <a:ext cx="2895600" cy="457200"/>
          </a:xfrm>
          <a:prstGeom prst="rect">
            <a:avLst/>
          </a:prstGeom>
          <a:noFill/>
          <a:ln w="9525">
            <a:noFill/>
          </a:ln>
        </p:spPr>
        <p:txBody>
          <a:bodyPr anchor="b"/>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灯片编号占位符 26636"/>
          <p:cNvSpPr>
            <a:spLocks noGrp="1"/>
          </p:cNvSpPr>
          <p:nvPr>
            <p:ph type="sldNum" sz="quarter" idx="4"/>
          </p:nvPr>
        </p:nvSpPr>
        <p:spPr>
          <a:xfrm>
            <a:off x="6781800" y="6324600"/>
            <a:ext cx="1905000" cy="457200"/>
          </a:xfrm>
          <a:prstGeom prst="rect">
            <a:avLst/>
          </a:prstGeom>
          <a:noFill/>
          <a:ln w="9525">
            <a:noFill/>
          </a:ln>
        </p:spPr>
        <p:txBody>
          <a:bodyPr anchor="b"/>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2482F9A7-E0D8-40EF-A347-D004D7B8719D}" type="slidenum">
              <a:rPr kumimoji="0" lang="en-US" alt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rPr>
              <a:t>‹#›</a:t>
            </a:fld>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14" name="日期占位符 26634"/>
          <p:cNvSpPr>
            <a:spLocks noGrp="1"/>
          </p:cNvSpPr>
          <p:nvPr>
            <p:ph type="dt" sz="half" idx="2"/>
          </p:nvPr>
        </p:nvSpPr>
        <p:spPr>
          <a:xfrm>
            <a:off x="914400" y="6324600"/>
            <a:ext cx="1905000" cy="457200"/>
          </a:xfrm>
          <a:prstGeom prst="rect">
            <a:avLst/>
          </a:prstGeom>
          <a:noFill/>
          <a:ln w="9525">
            <a:noFill/>
          </a:ln>
        </p:spPr>
        <p:txBody>
          <a:bodyPr anchor="b"/>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页脚占位符 26635"/>
          <p:cNvSpPr>
            <a:spLocks noGrp="1"/>
          </p:cNvSpPr>
          <p:nvPr>
            <p:ph type="ftr" sz="quarter" idx="3"/>
          </p:nvPr>
        </p:nvSpPr>
        <p:spPr>
          <a:xfrm>
            <a:off x="3352800" y="6324600"/>
            <a:ext cx="2895600" cy="457200"/>
          </a:xfrm>
          <a:prstGeom prst="rect">
            <a:avLst/>
          </a:prstGeom>
          <a:noFill/>
          <a:ln w="9525">
            <a:noFill/>
          </a:ln>
        </p:spPr>
        <p:txBody>
          <a:bodyPr anchor="b"/>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灯片编号占位符 26636"/>
          <p:cNvSpPr>
            <a:spLocks noGrp="1"/>
          </p:cNvSpPr>
          <p:nvPr>
            <p:ph type="sldNum" sz="quarter" idx="4"/>
          </p:nvPr>
        </p:nvSpPr>
        <p:spPr>
          <a:xfrm>
            <a:off x="6781800" y="6324600"/>
            <a:ext cx="1905000" cy="457200"/>
          </a:xfrm>
          <a:prstGeom prst="rect">
            <a:avLst/>
          </a:prstGeom>
          <a:noFill/>
          <a:ln w="9525">
            <a:noFill/>
          </a:ln>
        </p:spPr>
        <p:txBody>
          <a:bodyPr anchor="b"/>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1587C78E-8679-4F24-9787-8597ACBA2BD3}" type="slidenum">
              <a:rPr kumimoji="0" lang="en-US" alt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rPr>
              <a:t>‹#›</a:t>
            </a:fld>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1182688" y="2017713"/>
            <a:ext cx="3808476"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5146612" y="2017713"/>
            <a:ext cx="3808476"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4" name="日期占位符 26634"/>
          <p:cNvSpPr>
            <a:spLocks noGrp="1"/>
          </p:cNvSpPr>
          <p:nvPr>
            <p:ph type="dt" sz="half" idx="12"/>
          </p:nvPr>
        </p:nvSpPr>
        <p:spPr>
          <a:xfrm>
            <a:off x="914400" y="6324600"/>
            <a:ext cx="1905000" cy="457200"/>
          </a:xfrm>
          <a:prstGeom prst="rect">
            <a:avLst/>
          </a:prstGeom>
          <a:noFill/>
          <a:ln w="9525">
            <a:noFill/>
          </a:ln>
        </p:spPr>
        <p:txBody>
          <a:bodyPr anchor="b"/>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页脚占位符 26635"/>
          <p:cNvSpPr>
            <a:spLocks noGrp="1"/>
          </p:cNvSpPr>
          <p:nvPr>
            <p:ph type="ftr" sz="quarter" idx="3"/>
          </p:nvPr>
        </p:nvSpPr>
        <p:spPr>
          <a:xfrm>
            <a:off x="3352800" y="6324600"/>
            <a:ext cx="2895600" cy="457200"/>
          </a:xfrm>
          <a:prstGeom prst="rect">
            <a:avLst/>
          </a:prstGeom>
          <a:noFill/>
          <a:ln w="9525">
            <a:noFill/>
          </a:ln>
        </p:spPr>
        <p:txBody>
          <a:bodyPr anchor="b"/>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灯片编号占位符 26636"/>
          <p:cNvSpPr>
            <a:spLocks noGrp="1"/>
          </p:cNvSpPr>
          <p:nvPr>
            <p:ph type="sldNum" sz="quarter" idx="4"/>
          </p:nvPr>
        </p:nvSpPr>
        <p:spPr>
          <a:xfrm>
            <a:off x="6781800" y="6324600"/>
            <a:ext cx="1905000" cy="457200"/>
          </a:xfrm>
          <a:prstGeom prst="rect">
            <a:avLst/>
          </a:prstGeom>
          <a:noFill/>
          <a:ln w="9525">
            <a:noFill/>
          </a:ln>
        </p:spPr>
        <p:txBody>
          <a:bodyPr anchor="b"/>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703AC50E-B7E6-4BF8-8711-B350D46B7C65}" type="slidenum">
              <a:rPr kumimoji="0" lang="en-US" alt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rPr>
              <a:t>‹#›</a:t>
            </a:fld>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4" name="日期占位符 26634"/>
          <p:cNvSpPr>
            <a:spLocks noGrp="1"/>
          </p:cNvSpPr>
          <p:nvPr>
            <p:ph type="dt" sz="half" idx="12"/>
          </p:nvPr>
        </p:nvSpPr>
        <p:spPr>
          <a:xfrm>
            <a:off x="914400" y="6324600"/>
            <a:ext cx="1905000" cy="457200"/>
          </a:xfrm>
          <a:prstGeom prst="rect">
            <a:avLst/>
          </a:prstGeom>
          <a:noFill/>
          <a:ln w="9525">
            <a:noFill/>
          </a:ln>
        </p:spPr>
        <p:txBody>
          <a:bodyPr anchor="b"/>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页脚占位符 26635"/>
          <p:cNvSpPr>
            <a:spLocks noGrp="1"/>
          </p:cNvSpPr>
          <p:nvPr>
            <p:ph type="ftr" sz="quarter" idx="13"/>
          </p:nvPr>
        </p:nvSpPr>
        <p:spPr>
          <a:xfrm>
            <a:off x="3352800" y="6324600"/>
            <a:ext cx="2895600" cy="457200"/>
          </a:xfrm>
          <a:prstGeom prst="rect">
            <a:avLst/>
          </a:prstGeom>
          <a:noFill/>
          <a:ln w="9525">
            <a:noFill/>
          </a:ln>
        </p:spPr>
        <p:txBody>
          <a:bodyPr anchor="b"/>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灯片编号占位符 26636"/>
          <p:cNvSpPr>
            <a:spLocks noGrp="1"/>
          </p:cNvSpPr>
          <p:nvPr>
            <p:ph type="sldNum" sz="quarter" idx="14"/>
          </p:nvPr>
        </p:nvSpPr>
        <p:spPr>
          <a:xfrm>
            <a:off x="6781800" y="6324600"/>
            <a:ext cx="1905000" cy="457200"/>
          </a:xfrm>
          <a:prstGeom prst="rect">
            <a:avLst/>
          </a:prstGeom>
          <a:noFill/>
          <a:ln w="9525">
            <a:noFill/>
          </a:ln>
        </p:spPr>
        <p:txBody>
          <a:bodyPr anchor="b"/>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52068E0D-7D07-4294-982B-B8D01B035168}" type="slidenum">
              <a:rPr kumimoji="0" lang="en-US" alt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rPr>
              <a:t>‹#›</a:t>
            </a:fld>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4" name="日期占位符 26634"/>
          <p:cNvSpPr>
            <a:spLocks noGrp="1"/>
          </p:cNvSpPr>
          <p:nvPr>
            <p:ph type="dt" sz="half" idx="2"/>
          </p:nvPr>
        </p:nvSpPr>
        <p:spPr>
          <a:xfrm>
            <a:off x="914400" y="6324600"/>
            <a:ext cx="1905000" cy="457200"/>
          </a:xfrm>
          <a:prstGeom prst="rect">
            <a:avLst/>
          </a:prstGeom>
          <a:noFill/>
          <a:ln w="9525">
            <a:noFill/>
          </a:ln>
        </p:spPr>
        <p:txBody>
          <a:bodyPr anchor="b"/>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页脚占位符 26635"/>
          <p:cNvSpPr>
            <a:spLocks noGrp="1"/>
          </p:cNvSpPr>
          <p:nvPr>
            <p:ph type="ftr" sz="quarter" idx="3"/>
          </p:nvPr>
        </p:nvSpPr>
        <p:spPr>
          <a:xfrm>
            <a:off x="3352800" y="6324600"/>
            <a:ext cx="2895600" cy="457200"/>
          </a:xfrm>
          <a:prstGeom prst="rect">
            <a:avLst/>
          </a:prstGeom>
          <a:noFill/>
          <a:ln w="9525">
            <a:noFill/>
          </a:ln>
        </p:spPr>
        <p:txBody>
          <a:bodyPr anchor="b"/>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灯片编号占位符 26636"/>
          <p:cNvSpPr>
            <a:spLocks noGrp="1"/>
          </p:cNvSpPr>
          <p:nvPr>
            <p:ph type="sldNum" sz="quarter" idx="4"/>
          </p:nvPr>
        </p:nvSpPr>
        <p:spPr>
          <a:xfrm>
            <a:off x="6781800" y="6324600"/>
            <a:ext cx="1905000" cy="457200"/>
          </a:xfrm>
          <a:prstGeom prst="rect">
            <a:avLst/>
          </a:prstGeom>
          <a:noFill/>
          <a:ln w="9525">
            <a:noFill/>
          </a:ln>
        </p:spPr>
        <p:txBody>
          <a:bodyPr anchor="b"/>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6C0CD238-38DB-4E27-82E0-063FB5B1C6A9}" type="slidenum">
              <a:rPr kumimoji="0" lang="en-US" alt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rPr>
              <a:t>‹#›</a:t>
            </a:fld>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4" name="日期占位符 26634"/>
          <p:cNvSpPr>
            <a:spLocks noGrp="1"/>
          </p:cNvSpPr>
          <p:nvPr>
            <p:ph type="dt" sz="half" idx="2"/>
          </p:nvPr>
        </p:nvSpPr>
        <p:spPr>
          <a:xfrm>
            <a:off x="914400" y="6324600"/>
            <a:ext cx="1905000" cy="457200"/>
          </a:xfrm>
          <a:prstGeom prst="rect">
            <a:avLst/>
          </a:prstGeom>
          <a:noFill/>
          <a:ln w="9525">
            <a:noFill/>
          </a:ln>
        </p:spPr>
        <p:txBody>
          <a:bodyPr anchor="b"/>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页脚占位符 26635"/>
          <p:cNvSpPr>
            <a:spLocks noGrp="1"/>
          </p:cNvSpPr>
          <p:nvPr>
            <p:ph type="ftr" sz="quarter" idx="3"/>
          </p:nvPr>
        </p:nvSpPr>
        <p:spPr>
          <a:xfrm>
            <a:off x="3352800" y="6324600"/>
            <a:ext cx="2895600" cy="457200"/>
          </a:xfrm>
          <a:prstGeom prst="rect">
            <a:avLst/>
          </a:prstGeom>
          <a:noFill/>
          <a:ln w="9525">
            <a:noFill/>
          </a:ln>
        </p:spPr>
        <p:txBody>
          <a:bodyPr anchor="b"/>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灯片编号占位符 26636"/>
          <p:cNvSpPr>
            <a:spLocks noGrp="1"/>
          </p:cNvSpPr>
          <p:nvPr>
            <p:ph type="sldNum" sz="quarter" idx="4"/>
          </p:nvPr>
        </p:nvSpPr>
        <p:spPr>
          <a:xfrm>
            <a:off x="6781800" y="6324600"/>
            <a:ext cx="1905000" cy="457200"/>
          </a:xfrm>
          <a:prstGeom prst="rect">
            <a:avLst/>
          </a:prstGeom>
          <a:noFill/>
          <a:ln w="9525">
            <a:noFill/>
          </a:ln>
        </p:spPr>
        <p:txBody>
          <a:bodyPr anchor="b"/>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E8FFC450-0E5B-4270-BEB5-D19C7E83490B}" type="slidenum">
              <a:rPr kumimoji="0" lang="en-US" alt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rPr>
              <a:t>‹#›</a:t>
            </a:fld>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14" name="日期占位符 26634"/>
          <p:cNvSpPr>
            <a:spLocks noGrp="1"/>
          </p:cNvSpPr>
          <p:nvPr>
            <p:ph type="dt" sz="half" idx="12"/>
          </p:nvPr>
        </p:nvSpPr>
        <p:spPr>
          <a:xfrm>
            <a:off x="914400" y="6324600"/>
            <a:ext cx="1905000" cy="457200"/>
          </a:xfrm>
          <a:prstGeom prst="rect">
            <a:avLst/>
          </a:prstGeom>
          <a:noFill/>
          <a:ln w="9525">
            <a:noFill/>
          </a:ln>
        </p:spPr>
        <p:txBody>
          <a:bodyPr anchor="b"/>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页脚占位符 26635"/>
          <p:cNvSpPr>
            <a:spLocks noGrp="1"/>
          </p:cNvSpPr>
          <p:nvPr>
            <p:ph type="ftr" sz="quarter" idx="3"/>
          </p:nvPr>
        </p:nvSpPr>
        <p:spPr>
          <a:xfrm>
            <a:off x="3352800" y="6324600"/>
            <a:ext cx="2895600" cy="457200"/>
          </a:xfrm>
          <a:prstGeom prst="rect">
            <a:avLst/>
          </a:prstGeom>
          <a:noFill/>
          <a:ln w="9525">
            <a:noFill/>
          </a:ln>
        </p:spPr>
        <p:txBody>
          <a:bodyPr anchor="b"/>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灯片编号占位符 26636"/>
          <p:cNvSpPr>
            <a:spLocks noGrp="1"/>
          </p:cNvSpPr>
          <p:nvPr>
            <p:ph type="sldNum" sz="quarter" idx="4"/>
          </p:nvPr>
        </p:nvSpPr>
        <p:spPr>
          <a:xfrm>
            <a:off x="6781800" y="6324600"/>
            <a:ext cx="1905000" cy="457200"/>
          </a:xfrm>
          <a:prstGeom prst="rect">
            <a:avLst/>
          </a:prstGeom>
          <a:noFill/>
          <a:ln w="9525">
            <a:noFill/>
          </a:ln>
        </p:spPr>
        <p:txBody>
          <a:bodyPr anchor="b"/>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CCFDDA21-EBC3-4401-82A7-3DD6EC52F392}" type="slidenum">
              <a:rPr kumimoji="0" lang="en-US" alt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rPr>
              <a:t>‹#›</a:t>
            </a:fld>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14" name="日期占位符 26634"/>
          <p:cNvSpPr>
            <a:spLocks noGrp="1"/>
          </p:cNvSpPr>
          <p:nvPr>
            <p:ph type="dt" sz="half" idx="12"/>
          </p:nvPr>
        </p:nvSpPr>
        <p:spPr>
          <a:xfrm>
            <a:off x="914400" y="6324600"/>
            <a:ext cx="1905000" cy="457200"/>
          </a:xfrm>
          <a:prstGeom prst="rect">
            <a:avLst/>
          </a:prstGeom>
          <a:noFill/>
          <a:ln w="9525">
            <a:noFill/>
          </a:ln>
        </p:spPr>
        <p:txBody>
          <a:bodyPr anchor="b"/>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页脚占位符 26635"/>
          <p:cNvSpPr>
            <a:spLocks noGrp="1"/>
          </p:cNvSpPr>
          <p:nvPr>
            <p:ph type="ftr" sz="quarter" idx="3"/>
          </p:nvPr>
        </p:nvSpPr>
        <p:spPr>
          <a:xfrm>
            <a:off x="3352800" y="6324600"/>
            <a:ext cx="2895600" cy="457200"/>
          </a:xfrm>
          <a:prstGeom prst="rect">
            <a:avLst/>
          </a:prstGeom>
          <a:noFill/>
          <a:ln w="9525">
            <a:noFill/>
          </a:ln>
        </p:spPr>
        <p:txBody>
          <a:bodyPr anchor="b"/>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灯片编号占位符 26636"/>
          <p:cNvSpPr>
            <a:spLocks noGrp="1"/>
          </p:cNvSpPr>
          <p:nvPr>
            <p:ph type="sldNum" sz="quarter" idx="4"/>
          </p:nvPr>
        </p:nvSpPr>
        <p:spPr>
          <a:xfrm>
            <a:off x="6781800" y="6324600"/>
            <a:ext cx="1905000" cy="457200"/>
          </a:xfrm>
          <a:prstGeom prst="rect">
            <a:avLst/>
          </a:prstGeom>
          <a:noFill/>
          <a:ln w="9525">
            <a:noFill/>
          </a:ln>
        </p:spPr>
        <p:txBody>
          <a:bodyPr anchor="b"/>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C196FBA0-8D52-44E8-8127-05D584E3A61B}" type="slidenum">
              <a:rPr kumimoji="0" lang="en-US" alt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rPr>
              <a:t>‹#›</a:t>
            </a:fld>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4" name="日期占位符 26634"/>
          <p:cNvSpPr>
            <a:spLocks noGrp="1"/>
          </p:cNvSpPr>
          <p:nvPr>
            <p:ph type="dt" sz="half" idx="2"/>
          </p:nvPr>
        </p:nvSpPr>
        <p:spPr>
          <a:xfrm>
            <a:off x="914400" y="6324600"/>
            <a:ext cx="1905000" cy="457200"/>
          </a:xfrm>
          <a:prstGeom prst="rect">
            <a:avLst/>
          </a:prstGeom>
          <a:noFill/>
          <a:ln w="9525">
            <a:noFill/>
          </a:ln>
        </p:spPr>
        <p:txBody>
          <a:bodyPr anchor="b"/>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页脚占位符 26635"/>
          <p:cNvSpPr>
            <a:spLocks noGrp="1"/>
          </p:cNvSpPr>
          <p:nvPr>
            <p:ph type="ftr" sz="quarter" idx="3"/>
          </p:nvPr>
        </p:nvSpPr>
        <p:spPr>
          <a:xfrm>
            <a:off x="3352800" y="6324600"/>
            <a:ext cx="2895600" cy="457200"/>
          </a:xfrm>
          <a:prstGeom prst="rect">
            <a:avLst/>
          </a:prstGeom>
          <a:noFill/>
          <a:ln w="9525">
            <a:noFill/>
          </a:ln>
        </p:spPr>
        <p:txBody>
          <a:bodyPr anchor="b"/>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灯片编号占位符 26636"/>
          <p:cNvSpPr>
            <a:spLocks noGrp="1"/>
          </p:cNvSpPr>
          <p:nvPr>
            <p:ph type="sldNum" sz="quarter" idx="4"/>
          </p:nvPr>
        </p:nvSpPr>
        <p:spPr>
          <a:xfrm>
            <a:off x="6781800" y="6324600"/>
            <a:ext cx="1905000" cy="457200"/>
          </a:xfrm>
          <a:prstGeom prst="rect">
            <a:avLst/>
          </a:prstGeom>
          <a:noFill/>
          <a:ln w="9525">
            <a:noFill/>
          </a:ln>
        </p:spPr>
        <p:txBody>
          <a:bodyPr anchor="b"/>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0030ED73-11EE-4016-A4B9-9D16EC0F103F}" type="slidenum">
              <a:rPr kumimoji="0" lang="en-US" alt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rPr>
              <a:t>‹#›</a:t>
            </a:fld>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1" y="617538"/>
            <a:ext cx="1951038" cy="551497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1150938" y="617538"/>
            <a:ext cx="5740009" cy="551497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4" name="日期占位符 26634"/>
          <p:cNvSpPr>
            <a:spLocks noGrp="1"/>
          </p:cNvSpPr>
          <p:nvPr>
            <p:ph type="dt" sz="half" idx="2"/>
          </p:nvPr>
        </p:nvSpPr>
        <p:spPr>
          <a:xfrm>
            <a:off x="914400" y="6324600"/>
            <a:ext cx="1905000" cy="457200"/>
          </a:xfrm>
          <a:prstGeom prst="rect">
            <a:avLst/>
          </a:prstGeom>
          <a:noFill/>
          <a:ln w="9525">
            <a:noFill/>
          </a:ln>
        </p:spPr>
        <p:txBody>
          <a:bodyPr anchor="b"/>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页脚占位符 26635"/>
          <p:cNvSpPr>
            <a:spLocks noGrp="1"/>
          </p:cNvSpPr>
          <p:nvPr>
            <p:ph type="ftr" sz="quarter" idx="3"/>
          </p:nvPr>
        </p:nvSpPr>
        <p:spPr>
          <a:xfrm>
            <a:off x="3352800" y="6324600"/>
            <a:ext cx="2895600" cy="457200"/>
          </a:xfrm>
          <a:prstGeom prst="rect">
            <a:avLst/>
          </a:prstGeom>
          <a:noFill/>
          <a:ln w="9525">
            <a:noFill/>
          </a:ln>
        </p:spPr>
        <p:txBody>
          <a:bodyPr anchor="b"/>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灯片编号占位符 26636"/>
          <p:cNvSpPr>
            <a:spLocks noGrp="1"/>
          </p:cNvSpPr>
          <p:nvPr>
            <p:ph type="sldNum" sz="quarter" idx="4"/>
          </p:nvPr>
        </p:nvSpPr>
        <p:spPr>
          <a:xfrm>
            <a:off x="6781800" y="6324600"/>
            <a:ext cx="1905000" cy="457200"/>
          </a:xfrm>
          <a:prstGeom prst="rect">
            <a:avLst/>
          </a:prstGeom>
          <a:noFill/>
          <a:ln w="9525">
            <a:noFill/>
          </a:ln>
        </p:spPr>
        <p:txBody>
          <a:bodyPr anchor="b"/>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67E2CFAA-1457-427D-9B69-1576DA1797A0}" type="slidenum">
              <a:rPr kumimoji="0" lang="en-US" alt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rPr>
              <a:t>‹#›</a:t>
            </a:fld>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3200" b="0" i="0" u="none" strike="noStrike" kern="1200" cap="none" spc="0" normalizeH="0" baseline="0" noProof="1">
              <a:ln>
                <a:noFill/>
              </a:ln>
              <a:solidFill>
                <a:schemeClr val="tx1"/>
              </a:solidFill>
              <a:effectLst/>
              <a:uLnTx/>
              <a:uFillTx/>
              <a:latin typeface="+mn-lt"/>
              <a:ea typeface="+mn-ea"/>
              <a:cs typeface="+mn-cs"/>
            </a:endParaRPr>
          </a:p>
        </p:txBody>
      </p:sp>
      <p:sp>
        <p:nvSpPr>
          <p:cNvPr id="14" name="日期占位符 26634"/>
          <p:cNvSpPr>
            <a:spLocks noGrp="1"/>
          </p:cNvSpPr>
          <p:nvPr>
            <p:ph type="dt" sz="half" idx="2"/>
          </p:nvPr>
        </p:nvSpPr>
        <p:spPr>
          <a:xfrm>
            <a:off x="914400" y="6324600"/>
            <a:ext cx="1905000" cy="457200"/>
          </a:xfrm>
          <a:prstGeom prst="rect">
            <a:avLst/>
          </a:prstGeom>
          <a:noFill/>
          <a:ln w="9525">
            <a:noFill/>
          </a:ln>
        </p:spPr>
        <p:txBody>
          <a:bodyPr anchor="b"/>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页脚占位符 26635"/>
          <p:cNvSpPr>
            <a:spLocks noGrp="1"/>
          </p:cNvSpPr>
          <p:nvPr>
            <p:ph type="ftr" sz="quarter" idx="3"/>
          </p:nvPr>
        </p:nvSpPr>
        <p:spPr>
          <a:xfrm>
            <a:off x="3352800" y="6324600"/>
            <a:ext cx="2895600" cy="457200"/>
          </a:xfrm>
          <a:prstGeom prst="rect">
            <a:avLst/>
          </a:prstGeom>
          <a:noFill/>
          <a:ln w="9525">
            <a:noFill/>
          </a:ln>
        </p:spPr>
        <p:txBody>
          <a:bodyPr anchor="b"/>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灯片编号占位符 26636"/>
          <p:cNvSpPr>
            <a:spLocks noGrp="1"/>
          </p:cNvSpPr>
          <p:nvPr>
            <p:ph type="sldNum" sz="quarter" idx="4"/>
          </p:nvPr>
        </p:nvSpPr>
        <p:spPr>
          <a:xfrm>
            <a:off x="6781800" y="6324600"/>
            <a:ext cx="1905000" cy="457200"/>
          </a:xfrm>
          <a:prstGeom prst="rect">
            <a:avLst/>
          </a:prstGeom>
          <a:noFill/>
          <a:ln w="9525">
            <a:noFill/>
          </a:ln>
        </p:spPr>
        <p:txBody>
          <a:bodyPr anchor="b"/>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2054C7EF-EF92-4923-8870-00703E720E74}" type="slidenum">
              <a:rPr kumimoji="0" lang="en-US" alt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rPr>
              <a:t>‹#›</a:t>
            </a:fld>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4" name="日期占位符 1034"/>
          <p:cNvSpPr>
            <a:spLocks noGrp="1"/>
          </p:cNvSpPr>
          <p:nvPr>
            <p:ph type="dt" sz="half" idx="12"/>
          </p:nvPr>
        </p:nvSpPr>
        <p:spPr>
          <a:xfrm>
            <a:off x="1162050" y="6243638"/>
            <a:ext cx="1905000" cy="45720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页脚占位符 1035"/>
          <p:cNvSpPr>
            <a:spLocks noGrp="1"/>
          </p:cNvSpPr>
          <p:nvPr>
            <p:ph type="ftr" sz="quarter" idx="3"/>
          </p:nvPr>
        </p:nvSpPr>
        <p:spPr>
          <a:xfrm>
            <a:off x="3657600" y="6243638"/>
            <a:ext cx="2895600" cy="457200"/>
          </a:xfrm>
          <a:prstGeom prst="rect">
            <a:avLst/>
          </a:prstGeom>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灯片编号占位符 1036"/>
          <p:cNvSpPr>
            <a:spLocks noGrp="1"/>
          </p:cNvSpPr>
          <p:nvPr>
            <p:ph type="sldNum" sz="quarter" idx="4"/>
          </p:nvPr>
        </p:nvSpPr>
        <p:spPr>
          <a:xfrm>
            <a:off x="7042150" y="6243638"/>
            <a:ext cx="1905000" cy="45720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D2CCB58-CC24-4964-BCCB-6F242FECF950}" type="slidenum">
              <a:rPr kumimoji="0" lang="en-US" alt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rPr>
              <a:t>‹#›</a:t>
            </a:fld>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6386" name="Group 2"/>
          <p:cNvGrpSpPr/>
          <p:nvPr/>
        </p:nvGrpSpPr>
        <p:grpSpPr>
          <a:xfrm>
            <a:off x="0" y="2438400"/>
            <a:ext cx="9009063" cy="1052513"/>
            <a:chOff x="0" y="0"/>
            <a:chExt cx="5675" cy="663"/>
          </a:xfrm>
        </p:grpSpPr>
        <p:grpSp>
          <p:nvGrpSpPr>
            <p:cNvPr id="16387" name="Group 3"/>
            <p:cNvGrpSpPr/>
            <p:nvPr/>
          </p:nvGrpSpPr>
          <p:grpSpPr>
            <a:xfrm>
              <a:off x="183" y="68"/>
              <a:ext cx="448" cy="299"/>
              <a:chOff x="0" y="0"/>
              <a:chExt cx="624" cy="432"/>
            </a:xfrm>
          </p:grpSpPr>
          <p:sp>
            <p:nvSpPr>
              <p:cNvPr id="22" name="Rectangle 4"/>
              <p:cNvSpPr>
                <a:spLocks noChangeArrowheads="1"/>
              </p:cNvSpPr>
              <p:nvPr/>
            </p:nvSpPr>
            <p:spPr bwMode="auto">
              <a:xfrm>
                <a:off x="0" y="0"/>
                <a:ext cx="384" cy="43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1"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3" name="Rectangle 5"/>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1"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16390" name="Group 6"/>
            <p:cNvGrpSpPr/>
            <p:nvPr/>
          </p:nvGrpSpPr>
          <p:grpSpPr>
            <a:xfrm>
              <a:off x="261" y="334"/>
              <a:ext cx="465" cy="299"/>
              <a:chOff x="0" y="0"/>
              <a:chExt cx="672" cy="432"/>
            </a:xfrm>
          </p:grpSpPr>
          <p:sp>
            <p:nvSpPr>
              <p:cNvPr id="20" name="Rectangle 7"/>
              <p:cNvSpPr>
                <a:spLocks noChangeArrowheads="1"/>
              </p:cNvSpPr>
              <p:nvPr/>
            </p:nvSpPr>
            <p:spPr bwMode="auto">
              <a:xfrm>
                <a:off x="0" y="0"/>
                <a:ext cx="384" cy="432"/>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1"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1" name="Rectangle 8"/>
              <p:cNvSpPr>
                <a:spLocks noChangeArrowheads="1"/>
              </p:cNvSpPr>
              <p:nvPr/>
            </p:nvSpPr>
            <p:spPr bwMode="auto">
              <a:xfrm>
                <a:off x="337" y="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1"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17" name="Rectangle 9"/>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1"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0"/>
            <p:cNvSpPr>
              <a:spLocks noChangeArrowheads="1"/>
            </p:cNvSpPr>
            <p:nvPr/>
          </p:nvSpPr>
          <p:spPr bwMode="auto">
            <a:xfrm>
              <a:off x="400" y="0"/>
              <a:ext cx="20" cy="663"/>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1"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1"/>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1"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2060" name="Rectangle 12"/>
          <p:cNvSpPr>
            <a:spLocks noGrp="1" noChangeArrowheads="1"/>
          </p:cNvSpPr>
          <p:nvPr>
            <p:ph type="ctrTitle"/>
          </p:nvPr>
        </p:nvSpPr>
        <p:spPr>
          <a:xfrm>
            <a:off x="990600" y="1828800"/>
            <a:ext cx="7772400" cy="1143000"/>
          </a:xfrm>
        </p:spPr>
        <p:txBody>
          <a:bodyPr/>
          <a:lstStyle>
            <a:lvl1pPr>
              <a:defRPr/>
            </a:lvl1pPr>
          </a:lstStyle>
          <a:p>
            <a:pPr lvl="0" fontAlgn="base"/>
            <a:r>
              <a:rPr lang="zh-CN" strike="noStrike" noProof="0"/>
              <a:t>单击此处编辑母版标题样式</a:t>
            </a:r>
          </a:p>
        </p:txBody>
      </p:sp>
      <p:sp>
        <p:nvSpPr>
          <p:cNvPr id="206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strike="noStrike" noProof="0"/>
              <a:t>单击此处编辑母版副标题样式</a:t>
            </a:r>
          </a:p>
        </p:txBody>
      </p:sp>
      <p:sp>
        <p:nvSpPr>
          <p:cNvPr id="24" name="Rectangle 14"/>
          <p:cNvSpPr>
            <a:spLocks noGrp="1" noChangeArrowheads="1"/>
          </p:cNvSpPr>
          <p:nvPr>
            <p:ph type="dt" sz="half" idx="2"/>
          </p:nvPr>
        </p:nvSpPr>
        <p:spPr bwMode="auto">
          <a:xfrm>
            <a:off x="9906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solidFill>
                  <a:srgbClr val="1C1C1C"/>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1C1C1C"/>
              </a:solidFill>
              <a:effectLst/>
              <a:uLnTx/>
              <a:uFillTx/>
              <a:latin typeface="Arial" panose="020B0604020202020204" pitchFamily="34" charset="0"/>
              <a:ea typeface="宋体" panose="02010600030101010101" pitchFamily="2" charset="-122"/>
              <a:cs typeface="+mn-cs"/>
            </a:endParaRPr>
          </a:p>
        </p:txBody>
      </p:sp>
      <p:sp>
        <p:nvSpPr>
          <p:cNvPr id="25" name="Rectangle 15"/>
          <p:cNvSpPr>
            <a:spLocks noGrp="1" noChangeArrowheads="1"/>
          </p:cNvSpPr>
          <p:nvPr>
            <p:ph type="ftr" sz="quarter" idx="3"/>
          </p:nvPr>
        </p:nvSpPr>
        <p:spPr bwMode="auto">
          <a:xfrm>
            <a:off x="34290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solidFill>
                  <a:srgbClr val="1C1C1C"/>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1C1C1C"/>
              </a:solidFill>
              <a:effectLst/>
              <a:uLnTx/>
              <a:uFillTx/>
              <a:latin typeface="Arial" panose="020B0604020202020204" pitchFamily="34" charset="0"/>
              <a:ea typeface="宋体" panose="02010600030101010101" pitchFamily="2" charset="-122"/>
              <a:cs typeface="+mn-cs"/>
            </a:endParaRPr>
          </a:p>
        </p:txBody>
      </p:sp>
      <p:sp>
        <p:nvSpPr>
          <p:cNvPr id="26" name="Rectangle 16"/>
          <p:cNvSpPr>
            <a:spLocks noGrp="1" noChangeArrowheads="1"/>
          </p:cNvSpPr>
          <p:nvPr>
            <p:ph type="sldNum" sz="quarter" idx="4"/>
          </p:nvPr>
        </p:nvSpPr>
        <p:spPr bwMode="auto">
          <a:xfrm>
            <a:off x="68580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solidFill>
                  <a:srgbClr val="1C1C1C"/>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CE878C8-DF39-4269-958F-519349CDBD7E}" type="slidenum">
              <a:rPr kumimoji="0" lang="zh-CN" altLang="zh-CN" sz="1400" b="0" i="0" u="none" strike="noStrike" kern="1200" cap="none" spc="0" normalizeH="0" baseline="0" noProof="0">
                <a:ln>
                  <a:noFill/>
                </a:ln>
                <a:solidFill>
                  <a:srgbClr val="1C1C1C"/>
                </a:solidFill>
                <a:effectLst/>
                <a:uLnTx/>
                <a:uFillTx/>
                <a:latin typeface="Arial" panose="020B0604020202020204" pitchFamily="34" charset="0"/>
                <a:ea typeface="宋体" panose="02010600030101010101" pitchFamily="2" charset="-122"/>
                <a:cs typeface="+mn-cs"/>
              </a:rPr>
              <a:t>‹#›</a:t>
            </a:fld>
            <a:endParaRPr kumimoji="0" lang="zh-CN" altLang="zh-CN" sz="1400" b="0" i="0" u="none" strike="noStrike" kern="1200" cap="none" spc="0" normalizeH="0" baseline="0" noProof="0">
              <a:ln>
                <a:noFill/>
              </a:ln>
              <a:solidFill>
                <a:srgbClr val="1C1C1C"/>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ED6D85-AB18-4950-890F-3798A645FFEB}" type="slidenum">
              <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a:t>
            </a:fld>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ED6D85-AB18-4950-890F-3798A645FFEB}" type="slidenum">
              <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a:t>
            </a:fld>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1182688" y="2017713"/>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5145088" y="2017713"/>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ED6D85-AB18-4950-890F-3798A645FFEB}" type="slidenum">
              <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a:t>
            </a:fld>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ED6D85-AB18-4950-890F-3798A645FFEB}" type="slidenum">
              <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a:t>
            </a:fld>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ED6D85-AB18-4950-890F-3798A645FFEB}" type="slidenum">
              <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a:t>
            </a:fld>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ED6D85-AB18-4950-890F-3798A645FFEB}" type="slidenum">
              <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a:t>
            </a:fld>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ED6D85-AB18-4950-890F-3798A645FFEB}" type="slidenum">
              <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a:t>
            </a:fld>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ED6D85-AB18-4950-890F-3798A645FFEB}" type="slidenum">
              <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a:t>
            </a:fld>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ED6D85-AB18-4950-890F-3798A645FFEB}" type="slidenum">
              <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a:t>
            </a:fld>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ED6D85-AB18-4950-890F-3798A645FFEB}" type="slidenum">
              <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a:t>
            </a:fld>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grpSp>
        <p:nvGrpSpPr>
          <p:cNvPr id="17410" name="组合 13"/>
          <p:cNvGrpSpPr/>
          <p:nvPr/>
        </p:nvGrpSpPr>
        <p:grpSpPr>
          <a:xfrm>
            <a:off x="0" y="2438400"/>
            <a:ext cx="9009063" cy="1052513"/>
            <a:chOff x="0" y="0"/>
            <a:chExt cx="5675" cy="663"/>
          </a:xfrm>
        </p:grpSpPr>
        <p:grpSp>
          <p:nvGrpSpPr>
            <p:cNvPr id="17411" name="组合 14"/>
            <p:cNvGrpSpPr/>
            <p:nvPr/>
          </p:nvGrpSpPr>
          <p:grpSpPr>
            <a:xfrm>
              <a:off x="183" y="68"/>
              <a:ext cx="448" cy="299"/>
              <a:chOff x="0" y="0"/>
              <a:chExt cx="624" cy="432"/>
            </a:xfrm>
          </p:grpSpPr>
          <p:sp>
            <p:nvSpPr>
              <p:cNvPr id="22" name="矩形 21"/>
              <p:cNvSpPr>
                <a:spLocks noChangeArrowheads="1"/>
              </p:cNvSpPr>
              <p:nvPr/>
            </p:nvSpPr>
            <p:spPr bwMode="auto">
              <a:xfrm>
                <a:off x="0" y="0"/>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3" name="矩形 22"/>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grpSp>
          <p:nvGrpSpPr>
            <p:cNvPr id="17414" name="组合 15"/>
            <p:cNvGrpSpPr/>
            <p:nvPr/>
          </p:nvGrpSpPr>
          <p:grpSpPr>
            <a:xfrm>
              <a:off x="261" y="334"/>
              <a:ext cx="465" cy="299"/>
              <a:chOff x="0" y="0"/>
              <a:chExt cx="672" cy="432"/>
            </a:xfrm>
          </p:grpSpPr>
          <p:sp>
            <p:nvSpPr>
              <p:cNvPr id="20" name="矩形 19"/>
              <p:cNvSpPr>
                <a:spLocks noChangeArrowheads="1"/>
              </p:cNvSpPr>
              <p:nvPr/>
            </p:nvSpPr>
            <p:spPr bwMode="auto">
              <a:xfrm>
                <a:off x="0" y="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1" name="矩形 20"/>
              <p:cNvSpPr>
                <a:spLocks noChangeArrowheads="1"/>
              </p:cNvSpPr>
              <p:nvPr/>
            </p:nvSpPr>
            <p:spPr bwMode="auto">
              <a:xfrm>
                <a:off x="337" y="0"/>
                <a:ext cx="335"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sp>
          <p:nvSpPr>
            <p:cNvPr id="17" name="矩形 16"/>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8" name="矩形 17"/>
            <p:cNvSpPr>
              <a:spLocks noChangeArrowheads="1"/>
            </p:cNvSpPr>
            <p:nvPr/>
          </p:nvSpPr>
          <p:spPr bwMode="auto">
            <a:xfrm>
              <a:off x="400" y="0"/>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 name="矩形 18"/>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sp>
        <p:nvSpPr>
          <p:cNvPr id="2060" name="标题 2059"/>
          <p:cNvSpPr>
            <a:spLocks noGrp="1"/>
          </p:cNvSpPr>
          <p:nvPr>
            <p:ph type="ctrTitle"/>
          </p:nvPr>
        </p:nvSpPr>
        <p:spPr>
          <a:xfrm>
            <a:off x="990600" y="1676400"/>
            <a:ext cx="7772400" cy="1462088"/>
          </a:xfrm>
          <a:prstGeom prst="rect">
            <a:avLst/>
          </a:prstGeom>
          <a:noFill/>
          <a:ln w="9525">
            <a:noFill/>
          </a:ln>
        </p:spPr>
        <p:txBody>
          <a:bodyPr/>
          <a:lstStyle>
            <a:lvl1pPr lvl="0">
              <a:defRPr/>
            </a:lvl1pPr>
          </a:lstStyle>
          <a:p>
            <a:pPr lvl="0" fontAlgn="base"/>
            <a:r>
              <a:rPr lang="zh-CN" altLang="en-US" strike="noStrike" noProof="1"/>
              <a:t>单击此处编辑母版标题样式</a:t>
            </a:r>
          </a:p>
        </p:txBody>
      </p:sp>
      <p:sp>
        <p:nvSpPr>
          <p:cNvPr id="2061" name="副标题 2060"/>
          <p:cNvSpPr>
            <a:spLocks noGrp="1"/>
          </p:cNvSpPr>
          <p:nvPr>
            <p:ph type="subTitle" idx="1"/>
          </p:nvPr>
        </p:nvSpPr>
        <p:spPr>
          <a:xfrm>
            <a:off x="1371600" y="3886200"/>
            <a:ext cx="6400800" cy="1752600"/>
          </a:xfrm>
          <a:prstGeom prst="rect">
            <a:avLst/>
          </a:prstGeom>
          <a:noFill/>
          <a:ln w="9525">
            <a:noFill/>
          </a:ln>
        </p:spPr>
        <p:txBody>
          <a:bodyPr/>
          <a:lstStyle>
            <a:lvl1pPr marL="0" lvl="0" indent="0" algn="ctr">
              <a:buNone/>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fontAlgn="base"/>
            <a:r>
              <a:rPr lang="zh-CN" altLang="en-US" strike="noStrike" noProof="1"/>
              <a:t>单击此处编辑母版副标题样式</a:t>
            </a:r>
          </a:p>
        </p:txBody>
      </p:sp>
      <p:sp>
        <p:nvSpPr>
          <p:cNvPr id="24" name="日期占位符 2061"/>
          <p:cNvSpPr>
            <a:spLocks noGrp="1"/>
          </p:cNvSpPr>
          <p:nvPr>
            <p:ph type="dt" sz="half" idx="2"/>
          </p:nvPr>
        </p:nvSpPr>
        <p:spPr>
          <a:xfrm>
            <a:off x="990600" y="6248400"/>
            <a:ext cx="1905000" cy="457200"/>
          </a:xfrm>
          <a:prstGeom prst="rect">
            <a:avLst/>
          </a:prstGeom>
          <a:noFill/>
          <a:ln w="9525">
            <a:noFill/>
          </a:ln>
        </p:spPr>
        <p:txBody>
          <a:bodyPr anchor="b"/>
          <a:lstStyle>
            <a:lvl1pPr>
              <a:defRPr>
                <a:solidFill>
                  <a:schemeClr val="bg2"/>
                </a:solidFill>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F77F1BD-645A-4066-942D-FCEFE95CD6E1}" type="datetime1">
              <a:rPr kumimoji="0" lang="zh-CN" altLang="en-US" sz="1400" b="0" i="0" u="none" strike="noStrike" kern="1200" cap="none" spc="0" normalizeH="0" baseline="0" noProof="1">
                <a:ln>
                  <a:noFill/>
                </a:ln>
                <a:solidFill>
                  <a:srgbClr val="1C1C1C"/>
                </a:solidFill>
                <a:effectLst/>
                <a:uLnTx/>
                <a:uFillTx/>
                <a:latin typeface="Tahoma" panose="020B0604030504040204" pitchFamily="34" charset="0"/>
                <a:ea typeface="宋体" panose="02010600030101010101" pitchFamily="2" charset="-122"/>
                <a:cs typeface="+mn-ea"/>
              </a:rPr>
              <a:t>2026/1/14</a:t>
            </a:fld>
            <a:endParaRPr kumimoji="0" lang="zh-CN" altLang="en-US" sz="1400" b="0" i="0" u="none" strike="noStrike" kern="1200" cap="none" spc="0" normalizeH="0" baseline="0" noProof="1">
              <a:ln>
                <a:noFill/>
              </a:ln>
              <a:solidFill>
                <a:srgbClr val="1C1C1C"/>
              </a:solidFill>
              <a:effectLst/>
              <a:uLnTx/>
              <a:uFillTx/>
              <a:latin typeface="Tahoma" panose="020B0604030504040204" pitchFamily="34" charset="0"/>
              <a:ea typeface="宋体" panose="02010600030101010101" pitchFamily="2" charset="-122"/>
              <a:cs typeface="+mn-ea"/>
            </a:endParaRPr>
          </a:p>
        </p:txBody>
      </p:sp>
      <p:sp>
        <p:nvSpPr>
          <p:cNvPr id="25" name="页脚占位符 2062"/>
          <p:cNvSpPr>
            <a:spLocks noGrp="1"/>
          </p:cNvSpPr>
          <p:nvPr>
            <p:ph type="ftr" sz="quarter" idx="3"/>
          </p:nvPr>
        </p:nvSpPr>
        <p:spPr>
          <a:xfrm>
            <a:off x="3429000" y="6248400"/>
            <a:ext cx="2895600" cy="457200"/>
          </a:xfrm>
          <a:prstGeom prst="rect">
            <a:avLst/>
          </a:prstGeom>
          <a:noFill/>
          <a:ln w="9525">
            <a:noFill/>
          </a:ln>
        </p:spPr>
        <p:txBody>
          <a:bodyPr anchor="b"/>
          <a:lstStyle>
            <a:lvl1pPr>
              <a:defRPr>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1C1C1C"/>
              </a:solidFill>
              <a:effectLst/>
              <a:uLnTx/>
              <a:uFillTx/>
              <a:latin typeface="Tahoma" panose="020B0604030504040204" pitchFamily="34" charset="0"/>
              <a:ea typeface="宋体" panose="02010600030101010101" pitchFamily="2" charset="-122"/>
              <a:cs typeface="+mn-cs"/>
            </a:endParaRPr>
          </a:p>
        </p:txBody>
      </p:sp>
      <p:sp>
        <p:nvSpPr>
          <p:cNvPr id="26" name="灯片编号占位符 2063"/>
          <p:cNvSpPr>
            <a:spLocks noGrp="1"/>
          </p:cNvSpPr>
          <p:nvPr>
            <p:ph type="sldNum" sz="quarter" idx="4"/>
          </p:nvPr>
        </p:nvSpPr>
        <p:spPr>
          <a:xfrm>
            <a:off x="6858000" y="6248400"/>
            <a:ext cx="1905000" cy="457200"/>
          </a:xfrm>
          <a:prstGeom prst="rect">
            <a:avLst/>
          </a:prstGeom>
          <a:noFill/>
          <a:ln w="9525">
            <a:noFill/>
          </a:ln>
        </p:spPr>
        <p:txBody>
          <a:bodyPr anchor="b"/>
          <a:lstStyle>
            <a:lvl1pPr>
              <a:defRPr>
                <a:solidFill>
                  <a:schemeClr val="bg2"/>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8DAE202-9107-432A-B472-D2CC36AD8670}" type="slidenum">
              <a:rPr kumimoji="0" lang="en-US" altLang="zh-CN" sz="1400" b="0" i="0" u="none" strike="noStrike" kern="1200" cap="none" spc="0" normalizeH="0" baseline="0" noProof="1">
                <a:ln>
                  <a:noFill/>
                </a:ln>
                <a:solidFill>
                  <a:srgbClr val="1C1C1C"/>
                </a:solidFill>
                <a:effectLst/>
                <a:uLnTx/>
                <a:uFillTx/>
                <a:latin typeface="Tahoma" panose="020B0604030504040204" pitchFamily="34" charset="0"/>
                <a:ea typeface="宋体" panose="02010600030101010101" pitchFamily="2" charset="-122"/>
                <a:cs typeface="+mn-ea"/>
              </a:rPr>
              <a:t>‹#›</a:t>
            </a:fld>
            <a:endParaRPr kumimoji="0" lang="zh-CN" altLang="en-US" sz="1400" b="0" i="0" u="none" strike="noStrike" kern="1200" cap="none" spc="0" normalizeH="0" baseline="0" noProof="1">
              <a:ln>
                <a:noFill/>
              </a:ln>
              <a:solidFill>
                <a:srgbClr val="1C1C1C"/>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A0B601D-E514-4545-8B8D-83E98C6BC090}" type="slidenum">
              <a:rPr kumimoji="0" lang="en-US" altLang="zh-CN"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t>‹#›</a:t>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A0B601D-E514-4545-8B8D-83E98C6BC090}" type="slidenum">
              <a:rPr kumimoji="0" lang="en-US" altLang="zh-CN"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t>‹#›</a:t>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1182688" y="2017713"/>
            <a:ext cx="3808476"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5146612" y="2017713"/>
            <a:ext cx="3808476"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A0B601D-E514-4545-8B8D-83E98C6BC090}" type="slidenum">
              <a:rPr kumimoji="0" lang="en-US" altLang="zh-CN"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t>‹#›</a:t>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A0B601D-E514-4545-8B8D-83E98C6BC090}" type="slidenum">
              <a:rPr kumimoji="0" lang="en-US" altLang="zh-CN"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t>‹#›</a:t>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A0B601D-E514-4545-8B8D-83E98C6BC090}" type="slidenum">
              <a:rPr kumimoji="0" lang="en-US" altLang="zh-CN"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t>‹#›</a:t>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A0B601D-E514-4545-8B8D-83E98C6BC090}" type="slidenum">
              <a:rPr kumimoji="0" lang="en-US" altLang="zh-CN"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t>‹#›</a:t>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A0B601D-E514-4545-8B8D-83E98C6BC090}" type="slidenum">
              <a:rPr kumimoji="0" lang="en-US" altLang="zh-CN"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t>‹#›</a:t>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A0B601D-E514-4545-8B8D-83E98C6BC090}" type="slidenum">
              <a:rPr kumimoji="0" lang="en-US" altLang="zh-CN"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t>‹#›</a:t>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A0B601D-E514-4545-8B8D-83E98C6BC090}" type="slidenum">
              <a:rPr kumimoji="0" lang="en-US" altLang="zh-CN"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t>‹#›</a:t>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1" y="214313"/>
            <a:ext cx="1951038" cy="59182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1150938" y="214313"/>
            <a:ext cx="5740009" cy="59182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A0B601D-E514-4545-8B8D-83E98C6BC090}" type="slidenum">
              <a:rPr kumimoji="0" lang="en-US" altLang="zh-CN"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t>‹#›</a:t>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A0B601D-E514-4545-8B8D-83E98C6BC090}" type="slidenum">
              <a:rPr kumimoji="0" lang="en-US" altLang="zh-CN"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t>‹#›</a:t>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itle" userDrawn="1">
  <p:cSld name="1_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4"/>
            <a:ext cx="9144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68580" tIns="34290" rIns="68580" bIns="34290" numCol="1" anchor="t" anchorCtr="0" compatLnSpc="1">
            <a:noAutofit/>
          </a:bodyPr>
          <a:lstStyle/>
          <a:p>
            <a:endParaRPr lang="zh-CN" altLang="en-US" sz="1800"/>
          </a:p>
        </p:txBody>
      </p:sp>
      <p:sp>
        <p:nvSpPr>
          <p:cNvPr id="23" name="任意多边形: 形状 22"/>
          <p:cNvSpPr>
            <a:spLocks noChangeArrowheads="1"/>
          </p:cNvSpPr>
          <p:nvPr userDrawn="1"/>
        </p:nvSpPr>
        <p:spPr bwMode="auto">
          <a:xfrm>
            <a:off x="-596" y="1531704"/>
            <a:ext cx="9144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68580" tIns="34290" rIns="68580" bIns="34290" numCol="1" anchor="t" anchorCtr="0" compatLnSpc="1">
            <a:noAutofit/>
          </a:bodyPr>
          <a:lstStyle/>
          <a:p>
            <a:endParaRPr lang="zh-CN" altLang="en-US" sz="1800"/>
          </a:p>
        </p:txBody>
      </p:sp>
      <p:sp>
        <p:nvSpPr>
          <p:cNvPr id="20" name="任意多边形: 形状 19"/>
          <p:cNvSpPr/>
          <p:nvPr userDrawn="1"/>
        </p:nvSpPr>
        <p:spPr bwMode="auto">
          <a:xfrm>
            <a:off x="0" y="543510"/>
            <a:ext cx="9144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68580" tIns="34290" rIns="68580" bIns="34290" numCol="1" anchor="t" anchorCtr="0" compatLnSpc="1">
            <a:noAutofit/>
          </a:bodyPr>
          <a:lstStyle/>
          <a:p>
            <a:endParaRPr lang="zh-CN" altLang="en-US" sz="1800"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502444" y="5306657"/>
            <a:ext cx="8137922" cy="296271"/>
          </a:xfrm>
        </p:spPr>
        <p:txBody>
          <a:bodyPr vert="horz" anchor="ctr">
            <a:noAutofit/>
          </a:bodyPr>
          <a:lstStyle>
            <a:lvl1pPr marL="0" indent="0" algn="r">
              <a:buNone/>
              <a:defRPr sz="1125" b="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502444" y="5602928"/>
            <a:ext cx="8137922" cy="296271"/>
          </a:xfrm>
        </p:spPr>
        <p:txBody>
          <a:bodyPr vert="horz" anchor="ctr">
            <a:noAutofit/>
          </a:bodyPr>
          <a:lstStyle>
            <a:lvl1pPr marL="0" indent="0" algn="r">
              <a:buNone/>
              <a:defRPr sz="1125" b="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502444" y="4456730"/>
            <a:ext cx="8137922" cy="558799"/>
          </a:xfrm>
        </p:spPr>
        <p:txBody>
          <a:bodyPr anchor="t" anchorCtr="0">
            <a:normAutofit/>
          </a:bodyPr>
          <a:lstStyle>
            <a:lvl1pPr marL="0" indent="0" algn="l">
              <a:buNone/>
              <a:defRPr sz="15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9802" name="标题 1"/>
          <p:cNvSpPr>
            <a:spLocks noGrp="1"/>
          </p:cNvSpPr>
          <p:nvPr userDrawn="1">
            <p:ph type="ctrTitle"/>
          </p:nvPr>
        </p:nvSpPr>
        <p:spPr>
          <a:xfrm>
            <a:off x="502444" y="1028701"/>
            <a:ext cx="8137922" cy="3136900"/>
          </a:xfrm>
        </p:spPr>
        <p:txBody>
          <a:bodyPr anchor="b" anchorCtr="0">
            <a:normAutofit/>
          </a:bodyPr>
          <a:lstStyle>
            <a:lvl1pPr algn="l">
              <a:defRPr sz="3000">
                <a:solidFill>
                  <a:schemeClr val="bg1"/>
                </a:solidFill>
              </a:defRPr>
            </a:lvl1pPr>
          </a:lstStyle>
          <a:p>
            <a:r>
              <a:rPr lang="en-US" dirty="0"/>
              <a:t>Click to edit Master title style</a:t>
            </a:r>
            <a:endParaRPr lang="zh-CN" altLang="en-US" dirty="0"/>
          </a:p>
        </p:txBody>
      </p:sp>
    </p:spTree>
    <p:extLst>
      <p:ext uri="{BB962C8B-B14F-4D97-AF65-F5344CB8AC3E}">
        <p14:creationId xmlns:p14="http://schemas.microsoft.com/office/powerpoint/2010/main" val="3468810314"/>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7" name="任意多边形: 形状 6"/>
          <p:cNvSpPr/>
          <p:nvPr userDrawn="1"/>
        </p:nvSpPr>
        <p:spPr>
          <a:xfrm>
            <a:off x="-7143" y="-9524"/>
            <a:ext cx="9165431"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任意多边形: 形状 9"/>
          <p:cNvSpPr/>
          <p:nvPr userDrawn="1"/>
        </p:nvSpPr>
        <p:spPr bwMode="auto">
          <a:xfrm flipH="1" flipV="1">
            <a:off x="-914399" y="239311"/>
            <a:ext cx="10058399" cy="801180"/>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68580" tIns="34290" rIns="68580" bIns="34290" numCol="1" anchor="t" anchorCtr="0" compatLnSpc="1">
            <a:noAutofit/>
          </a:bodyPr>
          <a:lstStyle/>
          <a:p>
            <a:endParaRPr lang="zh-CN" altLang="en-US" sz="1800" dirty="0">
              <a:gradFill>
                <a:gsLst>
                  <a:gs pos="100000">
                    <a:schemeClr val="accent3"/>
                  </a:gs>
                  <a:gs pos="0">
                    <a:schemeClr val="accent4"/>
                  </a:gs>
                </a:gsLst>
                <a:lin ang="13500000" scaled="1"/>
              </a:gradFill>
            </a:endParaRPr>
          </a:p>
        </p:txBody>
      </p:sp>
      <p:sp>
        <p:nvSpPr>
          <p:cNvPr id="11" name="任意多边形: 形状 10"/>
          <p:cNvSpPr/>
          <p:nvPr userDrawn="1"/>
        </p:nvSpPr>
        <p:spPr>
          <a:xfrm rot="10800000">
            <a:off x="-21431" y="6321200"/>
            <a:ext cx="9165431"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12" name="任意多边形: 形状 11"/>
          <p:cNvSpPr/>
          <p:nvPr userDrawn="1"/>
        </p:nvSpPr>
        <p:spPr bwMode="auto">
          <a:xfrm>
            <a:off x="-7144" y="6230939"/>
            <a:ext cx="9151144" cy="801179"/>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68580" tIns="34290" rIns="68580" bIns="34290" numCol="1" anchor="t" anchorCtr="0" compatLnSpc="1">
            <a:noAutofit/>
          </a:bodyPr>
          <a:lstStyle/>
          <a:p>
            <a:endParaRPr lang="zh-CN" altLang="en-US" sz="1800">
              <a:gradFill>
                <a:gsLst>
                  <a:gs pos="100000">
                    <a:schemeClr val="accent3"/>
                  </a:gs>
                  <a:gs pos="0">
                    <a:schemeClr val="accent4"/>
                  </a:gs>
                </a:gsLst>
                <a:lin ang="13500000" scaled="1"/>
              </a:gradFill>
            </a:endParaRPr>
          </a:p>
        </p:txBody>
      </p:sp>
      <p:sp>
        <p:nvSpPr>
          <p:cNvPr id="2" name="文本框 1"/>
          <p:cNvSpPr txBox="1"/>
          <p:nvPr userDrawn="1"/>
        </p:nvSpPr>
        <p:spPr>
          <a:xfrm>
            <a:off x="8640366" y="6486466"/>
            <a:ext cx="503634" cy="323165"/>
          </a:xfrm>
          <a:prstGeom prst="rect">
            <a:avLst/>
          </a:prstGeom>
          <a:noFill/>
        </p:spPr>
        <p:txBody>
          <a:bodyPr wrap="square" rtlCol="0">
            <a:spAutoFit/>
          </a:bodyPr>
          <a:lstStyle/>
          <a:p>
            <a:pPr algn="ctr"/>
            <a:fld id="{379552D3-A968-4710-B841-1063F5B640DF}" type="slidenum">
              <a:rPr lang="zh-CN" altLang="en-US" sz="1500" b="1" smtClean="0">
                <a:solidFill>
                  <a:schemeClr val="accent2">
                    <a:lumMod val="50000"/>
                  </a:schemeClr>
                </a:solidFill>
              </a:rPr>
              <a:t>‹#›</a:t>
            </a:fld>
            <a:endParaRPr lang="zh-CN" altLang="en-US" sz="1800"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00807" y="24187"/>
            <a:ext cx="395288" cy="527050"/>
          </a:xfrm>
          <a:prstGeom prst="rect">
            <a:avLst/>
          </a:prstGeom>
        </p:spPr>
      </p:pic>
    </p:spTree>
    <p:extLst>
      <p:ext uri="{BB962C8B-B14F-4D97-AF65-F5344CB8AC3E}">
        <p14:creationId xmlns:p14="http://schemas.microsoft.com/office/powerpoint/2010/main" val="35294106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4"/>
            <a:ext cx="9144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68580" tIns="34290" rIns="68580" bIns="34290" numCol="1" anchor="t" anchorCtr="0" compatLnSpc="1">
            <a:noAutofit/>
          </a:bodyPr>
          <a:lstStyle/>
          <a:p>
            <a:endParaRPr lang="zh-CN" altLang="en-US" sz="1800"/>
          </a:p>
        </p:txBody>
      </p:sp>
      <p:sp>
        <p:nvSpPr>
          <p:cNvPr id="10" name="任意多边形: 形状 9"/>
          <p:cNvSpPr>
            <a:spLocks noChangeArrowheads="1"/>
          </p:cNvSpPr>
          <p:nvPr userDrawn="1"/>
        </p:nvSpPr>
        <p:spPr bwMode="auto">
          <a:xfrm>
            <a:off x="-596" y="1531704"/>
            <a:ext cx="9144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68580" tIns="34290" rIns="68580" bIns="34290" numCol="1" anchor="t" anchorCtr="0" compatLnSpc="1">
            <a:noAutofit/>
          </a:bodyPr>
          <a:lstStyle/>
          <a:p>
            <a:endParaRPr lang="zh-CN" altLang="en-US" sz="1800"/>
          </a:p>
        </p:txBody>
      </p:sp>
      <p:sp>
        <p:nvSpPr>
          <p:cNvPr id="13" name="标题 1"/>
          <p:cNvSpPr>
            <a:spLocks noGrp="1"/>
          </p:cNvSpPr>
          <p:nvPr userDrawn="1">
            <p:ph type="ctrTitle" hasCustomPrompt="1"/>
          </p:nvPr>
        </p:nvSpPr>
        <p:spPr>
          <a:xfrm>
            <a:off x="3026229" y="2163200"/>
            <a:ext cx="4902653" cy="2390427"/>
          </a:xfrm>
        </p:spPr>
        <p:txBody>
          <a:bodyPr anchor="b">
            <a:normAutofit/>
          </a:bodyPr>
          <a:lstStyle>
            <a:lvl1pPr marL="0" indent="0" algn="ctr">
              <a:buFont typeface="Arial" panose="020B0604020202020204" pitchFamily="34" charset="0"/>
              <a:buNone/>
              <a:defRPr sz="24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3026229" y="5238354"/>
            <a:ext cx="4902653" cy="310871"/>
          </a:xfrm>
        </p:spPr>
        <p:txBody>
          <a:bodyPr vert="horz" lIns="91440" tIns="45720" rIns="91440" bIns="45720" rtlCol="0">
            <a:normAutofit/>
          </a:bodyPr>
          <a:lstStyle>
            <a:lvl1pPr marL="0" indent="0" algn="ctr">
              <a:buNone/>
              <a:defRPr lang="zh-CN" altLang="en-US" sz="1125" smtClean="0">
                <a:solidFill>
                  <a:schemeClr val="bg1"/>
                </a:solidFill>
              </a:defRPr>
            </a:lvl1pPr>
            <a:lvl2pPr>
              <a:defRPr lang="zh-CN" altLang="en-US" sz="1500" smtClean="0"/>
            </a:lvl2pPr>
            <a:lvl3pPr>
              <a:defRPr lang="zh-CN" altLang="en-US" sz="1350" smtClean="0"/>
            </a:lvl3pPr>
            <a:lvl4pPr>
              <a:defRPr lang="zh-CN" altLang="en-US" sz="1200" smtClean="0"/>
            </a:lvl4pPr>
            <a:lvl5pPr>
              <a:defRPr lang="zh-CN" altLang="en-US" sz="1200"/>
            </a:lvl5pPr>
          </a:lstStyle>
          <a:p>
            <a:pPr marL="171450" marR="0" lvl="0" indent="-171450" fontAlgn="auto">
              <a:spcAft>
                <a:spcPts val="0"/>
              </a:spcAft>
              <a:buClrTx/>
              <a:buSzTx/>
            </a:pPr>
            <a:r>
              <a:rPr lang="en-US" altLang="zh-CN" dirty="0"/>
              <a:t>Data</a:t>
            </a:r>
          </a:p>
        </p:txBody>
      </p:sp>
      <p:sp>
        <p:nvSpPr>
          <p:cNvPr id="6" name="文本占位符 13"/>
          <p:cNvSpPr>
            <a:spLocks noGrp="1"/>
          </p:cNvSpPr>
          <p:nvPr>
            <p:ph type="body" sz="quarter" idx="10" hasCustomPrompt="1"/>
          </p:nvPr>
        </p:nvSpPr>
        <p:spPr>
          <a:xfrm>
            <a:off x="3026230" y="4942083"/>
            <a:ext cx="4902653" cy="296271"/>
          </a:xfrm>
        </p:spPr>
        <p:txBody>
          <a:bodyPr vert="horz" anchor="ctr">
            <a:noAutofit/>
          </a:bodyPr>
          <a:lstStyle>
            <a:lvl1pPr marL="0" indent="0" algn="ctr">
              <a:buNone/>
              <a:defRPr sz="1125" b="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ltLang="zh-CN" dirty="0"/>
              <a:t>Signature</a:t>
            </a:r>
          </a:p>
        </p:txBody>
      </p:sp>
      <p:sp>
        <p:nvSpPr>
          <p:cNvPr id="11" name="任意多边形: 形状 10"/>
          <p:cNvSpPr/>
          <p:nvPr userDrawn="1"/>
        </p:nvSpPr>
        <p:spPr bwMode="auto">
          <a:xfrm>
            <a:off x="0" y="543510"/>
            <a:ext cx="9144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68580" tIns="34290" rIns="68580" bIns="34290" numCol="1" anchor="t" anchorCtr="0" compatLnSpc="1">
            <a:noAutofit/>
          </a:bodyPr>
          <a:lstStyle/>
          <a:p>
            <a:endParaRPr lang="zh-CN" altLang="en-US" sz="1800" dirty="0">
              <a:gradFill>
                <a:gsLst>
                  <a:gs pos="100000">
                    <a:schemeClr val="accent3"/>
                  </a:gs>
                  <a:gs pos="0">
                    <a:schemeClr val="accent4"/>
                  </a:gs>
                </a:gsLst>
                <a:lin ang="13500000" scaled="1"/>
              </a:gradFill>
            </a:endParaRPr>
          </a:p>
        </p:txBody>
      </p:sp>
    </p:spTree>
    <p:extLst>
      <p:ext uri="{BB962C8B-B14F-4D97-AF65-F5344CB8AC3E}">
        <p14:creationId xmlns:p14="http://schemas.microsoft.com/office/powerpoint/2010/main" val="93599840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theme" Target="../theme/theme3.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26625"/>
          <p:cNvSpPr>
            <a:spLocks noChangeArrowheads="1"/>
          </p:cNvSpPr>
          <p:nvPr/>
        </p:nvSpPr>
        <p:spPr bwMode="auto">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defRPr sz="2400" i="1">
                <a:solidFill>
                  <a:schemeClr val="tx1"/>
                </a:solidFill>
                <a:latin typeface="Tahoma" panose="020B0604030504040204" pitchFamily="34" charset="0"/>
                <a:ea typeface="宋体" panose="02010600030101010101" pitchFamily="2" charset="-122"/>
              </a:defRPr>
            </a:lvl1pPr>
            <a:lvl2pPr marL="742950" indent="-285750">
              <a:spcBef>
                <a:spcPct val="20000"/>
              </a:spcBef>
              <a:defRPr sz="2400" i="1">
                <a:solidFill>
                  <a:schemeClr val="tx1"/>
                </a:solidFill>
                <a:latin typeface="Tahoma" panose="020B0604030504040204" pitchFamily="34" charset="0"/>
                <a:ea typeface="宋体" panose="02010600030101010101" pitchFamily="2" charset="-122"/>
              </a:defRPr>
            </a:lvl2pPr>
            <a:lvl3pPr marL="1143000" indent="-228600">
              <a:spcBef>
                <a:spcPct val="20000"/>
              </a:spcBef>
              <a:defRPr sz="2400" i="1">
                <a:solidFill>
                  <a:schemeClr val="tx1"/>
                </a:solidFill>
                <a:latin typeface="Tahoma" panose="020B0604030504040204" pitchFamily="34" charset="0"/>
                <a:ea typeface="宋体" panose="02010600030101010101" pitchFamily="2" charset="-122"/>
              </a:defRPr>
            </a:lvl3pPr>
            <a:lvl4pPr marL="1600200" indent="-228600">
              <a:spcBef>
                <a:spcPct val="20000"/>
              </a:spcBef>
              <a:defRPr sz="2400" i="1">
                <a:solidFill>
                  <a:schemeClr val="tx1"/>
                </a:solidFill>
                <a:latin typeface="Tahoma" panose="020B0604030504040204" pitchFamily="34" charset="0"/>
                <a:ea typeface="宋体" panose="02010600030101010101" pitchFamily="2" charset="-122"/>
              </a:defRPr>
            </a:lvl4pPr>
            <a:lvl5pPr marL="2057400" indent="-228600">
              <a:spcBef>
                <a:spcPct val="20000"/>
              </a:spcBef>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矩形 26626"/>
          <p:cNvSpPr>
            <a:spLocks noChangeArrowheads="1"/>
          </p:cNvSpPr>
          <p:nvPr/>
        </p:nvSpPr>
        <p:spPr bwMode="auto">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defRPr sz="2400" i="1">
                <a:solidFill>
                  <a:schemeClr val="tx1"/>
                </a:solidFill>
                <a:latin typeface="Tahoma" panose="020B0604030504040204" pitchFamily="34" charset="0"/>
                <a:ea typeface="宋体" panose="02010600030101010101" pitchFamily="2" charset="-122"/>
              </a:defRPr>
            </a:lvl1pPr>
            <a:lvl2pPr marL="742950" indent="-285750">
              <a:spcBef>
                <a:spcPct val="20000"/>
              </a:spcBef>
              <a:defRPr sz="2400" i="1">
                <a:solidFill>
                  <a:schemeClr val="tx1"/>
                </a:solidFill>
                <a:latin typeface="Tahoma" panose="020B0604030504040204" pitchFamily="34" charset="0"/>
                <a:ea typeface="宋体" panose="02010600030101010101" pitchFamily="2" charset="-122"/>
              </a:defRPr>
            </a:lvl2pPr>
            <a:lvl3pPr marL="1143000" indent="-228600">
              <a:spcBef>
                <a:spcPct val="20000"/>
              </a:spcBef>
              <a:defRPr sz="2400" i="1">
                <a:solidFill>
                  <a:schemeClr val="tx1"/>
                </a:solidFill>
                <a:latin typeface="Tahoma" panose="020B0604030504040204" pitchFamily="34" charset="0"/>
                <a:ea typeface="宋体" panose="02010600030101010101" pitchFamily="2" charset="-122"/>
              </a:defRPr>
            </a:lvl3pPr>
            <a:lvl4pPr marL="1600200" indent="-228600">
              <a:spcBef>
                <a:spcPct val="20000"/>
              </a:spcBef>
              <a:defRPr sz="2400" i="1">
                <a:solidFill>
                  <a:schemeClr val="tx1"/>
                </a:solidFill>
                <a:latin typeface="Tahoma" panose="020B0604030504040204" pitchFamily="34" charset="0"/>
                <a:ea typeface="宋体" panose="02010600030101010101" pitchFamily="2" charset="-122"/>
              </a:defRPr>
            </a:lvl4pPr>
            <a:lvl5pPr marL="2057400" indent="-228600">
              <a:spcBef>
                <a:spcPct val="20000"/>
              </a:spcBef>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矩形 26627"/>
          <p:cNvSpPr>
            <a:spLocks noChangeArrowheads="1"/>
          </p:cNvSpPr>
          <p:nvPr/>
        </p:nvSpPr>
        <p:spPr bwMode="auto">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defRPr sz="2400" i="1">
                <a:solidFill>
                  <a:schemeClr val="tx1"/>
                </a:solidFill>
                <a:latin typeface="Tahoma" panose="020B0604030504040204" pitchFamily="34" charset="0"/>
                <a:ea typeface="宋体" panose="02010600030101010101" pitchFamily="2" charset="-122"/>
              </a:defRPr>
            </a:lvl1pPr>
            <a:lvl2pPr marL="742950" indent="-285750">
              <a:spcBef>
                <a:spcPct val="20000"/>
              </a:spcBef>
              <a:defRPr sz="2400" i="1">
                <a:solidFill>
                  <a:schemeClr val="tx1"/>
                </a:solidFill>
                <a:latin typeface="Tahoma" panose="020B0604030504040204" pitchFamily="34" charset="0"/>
                <a:ea typeface="宋体" panose="02010600030101010101" pitchFamily="2" charset="-122"/>
              </a:defRPr>
            </a:lvl2pPr>
            <a:lvl3pPr marL="1143000" indent="-228600">
              <a:spcBef>
                <a:spcPct val="20000"/>
              </a:spcBef>
              <a:defRPr sz="2400" i="1">
                <a:solidFill>
                  <a:schemeClr val="tx1"/>
                </a:solidFill>
                <a:latin typeface="Tahoma" panose="020B0604030504040204" pitchFamily="34" charset="0"/>
                <a:ea typeface="宋体" panose="02010600030101010101" pitchFamily="2" charset="-122"/>
              </a:defRPr>
            </a:lvl3pPr>
            <a:lvl4pPr marL="1600200" indent="-228600">
              <a:spcBef>
                <a:spcPct val="20000"/>
              </a:spcBef>
              <a:defRPr sz="2400" i="1">
                <a:solidFill>
                  <a:schemeClr val="tx1"/>
                </a:solidFill>
                <a:latin typeface="Tahoma" panose="020B0604030504040204" pitchFamily="34" charset="0"/>
                <a:ea typeface="宋体" panose="02010600030101010101" pitchFamily="2" charset="-122"/>
              </a:defRPr>
            </a:lvl4pPr>
            <a:lvl5pPr marL="2057400" indent="-228600">
              <a:spcBef>
                <a:spcPct val="20000"/>
              </a:spcBef>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矩形 26628"/>
          <p:cNvSpPr>
            <a:spLocks noChangeArrowheads="1"/>
          </p:cNvSpPr>
          <p:nvPr/>
        </p:nvSpPr>
        <p:spPr bwMode="auto">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defRPr sz="2400" i="1">
                <a:solidFill>
                  <a:schemeClr val="tx1"/>
                </a:solidFill>
                <a:latin typeface="Tahoma" panose="020B0604030504040204" pitchFamily="34" charset="0"/>
                <a:ea typeface="宋体" panose="02010600030101010101" pitchFamily="2" charset="-122"/>
              </a:defRPr>
            </a:lvl1pPr>
            <a:lvl2pPr marL="742950" indent="-285750">
              <a:spcBef>
                <a:spcPct val="20000"/>
              </a:spcBef>
              <a:defRPr sz="2400" i="1">
                <a:solidFill>
                  <a:schemeClr val="tx1"/>
                </a:solidFill>
                <a:latin typeface="Tahoma" panose="020B0604030504040204" pitchFamily="34" charset="0"/>
                <a:ea typeface="宋体" panose="02010600030101010101" pitchFamily="2" charset="-122"/>
              </a:defRPr>
            </a:lvl2pPr>
            <a:lvl3pPr marL="1143000" indent="-228600">
              <a:spcBef>
                <a:spcPct val="20000"/>
              </a:spcBef>
              <a:defRPr sz="2400" i="1">
                <a:solidFill>
                  <a:schemeClr val="tx1"/>
                </a:solidFill>
                <a:latin typeface="Tahoma" panose="020B0604030504040204" pitchFamily="34" charset="0"/>
                <a:ea typeface="宋体" panose="02010600030101010101" pitchFamily="2" charset="-122"/>
              </a:defRPr>
            </a:lvl3pPr>
            <a:lvl4pPr marL="1600200" indent="-228600">
              <a:spcBef>
                <a:spcPct val="20000"/>
              </a:spcBef>
              <a:defRPr sz="2400" i="1">
                <a:solidFill>
                  <a:schemeClr val="tx1"/>
                </a:solidFill>
                <a:latin typeface="Tahoma" panose="020B0604030504040204" pitchFamily="34" charset="0"/>
                <a:ea typeface="宋体" panose="02010600030101010101" pitchFamily="2" charset="-122"/>
              </a:defRPr>
            </a:lvl4pPr>
            <a:lvl5pPr marL="2057400" indent="-228600">
              <a:spcBef>
                <a:spcPct val="20000"/>
              </a:spcBef>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矩形 26629"/>
          <p:cNvSpPr>
            <a:spLocks noChangeArrowheads="1"/>
          </p:cNvSpPr>
          <p:nvPr/>
        </p:nvSpPr>
        <p:spPr bwMode="auto">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defRPr sz="2400" i="1">
                <a:solidFill>
                  <a:schemeClr val="tx1"/>
                </a:solidFill>
                <a:latin typeface="Tahoma" panose="020B0604030504040204" pitchFamily="34" charset="0"/>
                <a:ea typeface="宋体" panose="02010600030101010101" pitchFamily="2" charset="-122"/>
              </a:defRPr>
            </a:lvl1pPr>
            <a:lvl2pPr marL="742950" indent="-285750">
              <a:spcBef>
                <a:spcPct val="20000"/>
              </a:spcBef>
              <a:defRPr sz="2400" i="1">
                <a:solidFill>
                  <a:schemeClr val="tx1"/>
                </a:solidFill>
                <a:latin typeface="Tahoma" panose="020B0604030504040204" pitchFamily="34" charset="0"/>
                <a:ea typeface="宋体" panose="02010600030101010101" pitchFamily="2" charset="-122"/>
              </a:defRPr>
            </a:lvl2pPr>
            <a:lvl3pPr marL="1143000" indent="-228600">
              <a:spcBef>
                <a:spcPct val="20000"/>
              </a:spcBef>
              <a:defRPr sz="2400" i="1">
                <a:solidFill>
                  <a:schemeClr val="tx1"/>
                </a:solidFill>
                <a:latin typeface="Tahoma" panose="020B0604030504040204" pitchFamily="34" charset="0"/>
                <a:ea typeface="宋体" panose="02010600030101010101" pitchFamily="2" charset="-122"/>
              </a:defRPr>
            </a:lvl3pPr>
            <a:lvl4pPr marL="1600200" indent="-228600">
              <a:spcBef>
                <a:spcPct val="20000"/>
              </a:spcBef>
              <a:defRPr sz="2400" i="1">
                <a:solidFill>
                  <a:schemeClr val="tx1"/>
                </a:solidFill>
                <a:latin typeface="Tahoma" panose="020B0604030504040204" pitchFamily="34" charset="0"/>
                <a:ea typeface="宋体" panose="02010600030101010101" pitchFamily="2" charset="-122"/>
              </a:defRPr>
            </a:lvl4pPr>
            <a:lvl5pPr marL="2057400" indent="-228600">
              <a:spcBef>
                <a:spcPct val="20000"/>
              </a:spcBef>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矩形 26630"/>
          <p:cNvSpPr>
            <a:spLocks noChangeArrowheads="1"/>
          </p:cNvSpPr>
          <p:nvPr/>
        </p:nvSpPr>
        <p:spPr bwMode="auto">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defRPr sz="2400" i="1">
                <a:solidFill>
                  <a:schemeClr val="tx1"/>
                </a:solidFill>
                <a:latin typeface="Tahoma" panose="020B0604030504040204" pitchFamily="34" charset="0"/>
                <a:ea typeface="宋体" panose="02010600030101010101" pitchFamily="2" charset="-122"/>
              </a:defRPr>
            </a:lvl1pPr>
            <a:lvl2pPr marL="742950" indent="-285750">
              <a:spcBef>
                <a:spcPct val="20000"/>
              </a:spcBef>
              <a:defRPr sz="2400" i="1">
                <a:solidFill>
                  <a:schemeClr val="tx1"/>
                </a:solidFill>
                <a:latin typeface="Tahoma" panose="020B0604030504040204" pitchFamily="34" charset="0"/>
                <a:ea typeface="宋体" panose="02010600030101010101" pitchFamily="2" charset="-122"/>
              </a:defRPr>
            </a:lvl2pPr>
            <a:lvl3pPr marL="1143000" indent="-228600">
              <a:spcBef>
                <a:spcPct val="20000"/>
              </a:spcBef>
              <a:defRPr sz="2400" i="1">
                <a:solidFill>
                  <a:schemeClr val="tx1"/>
                </a:solidFill>
                <a:latin typeface="Tahoma" panose="020B0604030504040204" pitchFamily="34" charset="0"/>
                <a:ea typeface="宋体" panose="02010600030101010101" pitchFamily="2" charset="-122"/>
              </a:defRPr>
            </a:lvl3pPr>
            <a:lvl4pPr marL="1600200" indent="-228600">
              <a:spcBef>
                <a:spcPct val="20000"/>
              </a:spcBef>
              <a:defRPr sz="2400" i="1">
                <a:solidFill>
                  <a:schemeClr val="tx1"/>
                </a:solidFill>
                <a:latin typeface="Tahoma" panose="020B0604030504040204" pitchFamily="34" charset="0"/>
                <a:ea typeface="宋体" panose="02010600030101010101" pitchFamily="2" charset="-122"/>
              </a:defRPr>
            </a:lvl4pPr>
            <a:lvl5pPr marL="2057400" indent="-228600">
              <a:spcBef>
                <a:spcPct val="20000"/>
              </a:spcBef>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矩形 26631"/>
          <p:cNvSpPr>
            <a:spLocks noChangeArrowheads="1"/>
          </p:cNvSpPr>
          <p:nvPr/>
        </p:nvSpPr>
        <p:spPr bwMode="auto">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defRPr sz="2400" i="1">
                <a:solidFill>
                  <a:schemeClr val="tx1"/>
                </a:solidFill>
                <a:latin typeface="Tahoma" panose="020B0604030504040204" pitchFamily="34" charset="0"/>
                <a:ea typeface="宋体" panose="02010600030101010101" pitchFamily="2" charset="-122"/>
              </a:defRPr>
            </a:lvl1pPr>
            <a:lvl2pPr marL="742950" indent="-285750">
              <a:spcBef>
                <a:spcPct val="20000"/>
              </a:spcBef>
              <a:defRPr sz="2400" i="1">
                <a:solidFill>
                  <a:schemeClr val="tx1"/>
                </a:solidFill>
                <a:latin typeface="Tahoma" panose="020B0604030504040204" pitchFamily="34" charset="0"/>
                <a:ea typeface="宋体" panose="02010600030101010101" pitchFamily="2" charset="-122"/>
              </a:defRPr>
            </a:lvl2pPr>
            <a:lvl3pPr marL="1143000" indent="-228600">
              <a:spcBef>
                <a:spcPct val="20000"/>
              </a:spcBef>
              <a:defRPr sz="2400" i="1">
                <a:solidFill>
                  <a:schemeClr val="tx1"/>
                </a:solidFill>
                <a:latin typeface="Tahoma" panose="020B0604030504040204" pitchFamily="34" charset="0"/>
                <a:ea typeface="宋体" panose="02010600030101010101" pitchFamily="2" charset="-122"/>
              </a:defRPr>
            </a:lvl3pPr>
            <a:lvl4pPr marL="1600200" indent="-228600">
              <a:spcBef>
                <a:spcPct val="20000"/>
              </a:spcBef>
              <a:defRPr sz="2400" i="1">
                <a:solidFill>
                  <a:schemeClr val="tx1"/>
                </a:solidFill>
                <a:latin typeface="Tahoma" panose="020B0604030504040204" pitchFamily="34" charset="0"/>
                <a:ea typeface="宋体" panose="02010600030101010101" pitchFamily="2" charset="-122"/>
              </a:defRPr>
            </a:lvl4pPr>
            <a:lvl5pPr marL="2057400" indent="-228600">
              <a:spcBef>
                <a:spcPct val="20000"/>
              </a:spcBef>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3" name="标题 26632"/>
          <p:cNvSpPr>
            <a:spLocks noGrp="1"/>
          </p:cNvSpPr>
          <p:nvPr>
            <p:ph type="title"/>
          </p:nvPr>
        </p:nvSpPr>
        <p:spPr>
          <a:xfrm>
            <a:off x="1150938" y="617538"/>
            <a:ext cx="7793037" cy="1143000"/>
          </a:xfrm>
          <a:prstGeom prst="rect">
            <a:avLst/>
          </a:prstGeom>
          <a:noFill/>
          <a:ln w="9525">
            <a:noFill/>
          </a:ln>
        </p:spPr>
        <p:txBody>
          <a:bodyPr anchor="b" anchorCtr="0"/>
          <a:lstStyle/>
          <a:p>
            <a:pPr lvl="0"/>
            <a:r>
              <a:rPr lang="zh-CN" altLang="en-US" dirty="0"/>
              <a:t>单击此处编辑母版标题样式</a:t>
            </a:r>
          </a:p>
        </p:txBody>
      </p:sp>
      <p:sp>
        <p:nvSpPr>
          <p:cNvPr id="1034" name="文本占位符 26633"/>
          <p:cNvSpPr>
            <a:spLocks noGrp="1"/>
          </p:cNvSpPr>
          <p:nvPr>
            <p:ph type="body"/>
          </p:nvPr>
        </p:nvSpPr>
        <p:spPr>
          <a:xfrm>
            <a:off x="1182688" y="2017713"/>
            <a:ext cx="7772400" cy="41148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6635" name="日期占位符 26634"/>
          <p:cNvSpPr>
            <a:spLocks noGrp="1"/>
          </p:cNvSpPr>
          <p:nvPr>
            <p:ph type="dt" sz="half" idx="2"/>
          </p:nvPr>
        </p:nvSpPr>
        <p:spPr>
          <a:xfrm>
            <a:off x="914400" y="6324600"/>
            <a:ext cx="1905000" cy="457200"/>
          </a:xfrm>
          <a:prstGeom prst="rect">
            <a:avLst/>
          </a:prstGeom>
          <a:noFill/>
          <a:ln w="9525">
            <a:noFill/>
          </a:ln>
        </p:spPr>
        <p:txBody>
          <a:bodyPr anchor="b"/>
          <a:lstStyle>
            <a:lvl1pPr eaLnBrk="1" hangingPunct="1">
              <a:spcBef>
                <a:spcPct val="20000"/>
              </a:spcBef>
              <a:defRPr sz="1400" i="0" noProof="1">
                <a:latin typeface="Tahoma" panose="020B0604030504040204" pitchFamily="34" charset="0"/>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6636" name="页脚占位符 26635"/>
          <p:cNvSpPr>
            <a:spLocks noGrp="1"/>
          </p:cNvSpPr>
          <p:nvPr>
            <p:ph type="ftr" sz="quarter" idx="3"/>
          </p:nvPr>
        </p:nvSpPr>
        <p:spPr>
          <a:xfrm>
            <a:off x="3352800" y="6324600"/>
            <a:ext cx="2895600" cy="457200"/>
          </a:xfrm>
          <a:prstGeom prst="rect">
            <a:avLst/>
          </a:prstGeom>
          <a:noFill/>
          <a:ln w="9525">
            <a:noFill/>
          </a:ln>
        </p:spPr>
        <p:txBody>
          <a:bodyPr anchor="b"/>
          <a:lstStyle>
            <a:lvl1pPr algn="ctr" eaLnBrk="1" hangingPunct="1">
              <a:spcBef>
                <a:spcPct val="20000"/>
              </a:spcBef>
              <a:defRPr sz="1400" i="0" noProof="1">
                <a:latin typeface="Tahoma" panose="020B0604030504040204" pitchFamily="34" charset="0"/>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6637" name="灯片编号占位符 26636"/>
          <p:cNvSpPr>
            <a:spLocks noGrp="1"/>
          </p:cNvSpPr>
          <p:nvPr>
            <p:ph type="sldNum" sz="quarter" idx="4"/>
          </p:nvPr>
        </p:nvSpPr>
        <p:spPr>
          <a:xfrm>
            <a:off x="6781800" y="6324600"/>
            <a:ext cx="1905000" cy="457200"/>
          </a:xfrm>
          <a:prstGeom prst="rect">
            <a:avLst/>
          </a:prstGeom>
          <a:noFill/>
          <a:ln w="9525">
            <a:noFill/>
          </a:ln>
        </p:spPr>
        <p:txBody>
          <a:bodyPr anchor="b"/>
          <a:lstStyle>
            <a:lvl1pPr algn="r" eaLnBrk="1" hangingPunct="1">
              <a:spcBef>
                <a:spcPct val="20000"/>
              </a:spcBef>
              <a:defRPr sz="1400" i="0" noProof="1">
                <a:latin typeface="Tahoma" panose="020B0604030504040204" pitchFamily="34" charset="0"/>
                <a:cs typeface="+mn-ea"/>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B3FBED8E-035F-4597-8D47-26EC802FCCCE}" type="slidenum">
              <a:rPr kumimoji="0" lang="en-US" alt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ea"/>
              </a:rPr>
              <a:t>‹#›</a:t>
            </a:fld>
            <a:endParaRPr kumimoji="0" lang="zh-CN" sz="1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20000"/>
        </a:spcBef>
        <a:spcAft>
          <a:spcPct val="0"/>
        </a:spcAft>
        <a:buNone/>
        <a:defRPr sz="2400" b="0" i="1"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20000"/>
        </a:spcBef>
        <a:spcAft>
          <a:spcPct val="0"/>
        </a:spcAft>
        <a:buNone/>
        <a:defRPr sz="2400" b="0" i="1"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20000"/>
        </a:spcBef>
        <a:spcAft>
          <a:spcPct val="0"/>
        </a:spcAft>
        <a:buNone/>
        <a:defRPr sz="2400" b="0" i="1"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20000"/>
        </a:spcBef>
        <a:spcAft>
          <a:spcPct val="0"/>
        </a:spcAft>
        <a:buNone/>
        <a:defRPr sz="2400" b="0" i="1"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20000"/>
        </a:spcBef>
        <a:spcAft>
          <a:spcPct val="0"/>
        </a:spcAft>
        <a:buNone/>
        <a:defRPr sz="2400" b="0" i="1"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20000"/>
        </a:spcBef>
        <a:spcAft>
          <a:spcPct val="0"/>
        </a:spcAft>
        <a:buNone/>
        <a:defRPr sz="2400" b="0" i="1"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20000"/>
        </a:spcBef>
        <a:spcAft>
          <a:spcPct val="0"/>
        </a:spcAft>
        <a:buNone/>
        <a:defRPr sz="2400" b="0" i="1"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20000"/>
        </a:spcBef>
        <a:spcAft>
          <a:spcPct val="0"/>
        </a:spcAft>
        <a:buNone/>
        <a:defRPr sz="2400" b="0" i="1"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auto">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auto">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auto">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auto">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auto">
          <a:xfrm>
            <a:off x="762000" y="990600"/>
            <a:ext cx="31750" cy="1052513"/>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auto">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057" name="Rectangle 9"/>
          <p:cNvSpPr>
            <a:spLocks noGrp="1"/>
          </p:cNvSpPr>
          <p:nvPr>
            <p:ph type="title"/>
          </p:nvPr>
        </p:nvSpPr>
        <p:spPr>
          <a:xfrm>
            <a:off x="1150938" y="617538"/>
            <a:ext cx="7793037" cy="1143000"/>
          </a:xfrm>
          <a:prstGeom prst="rect">
            <a:avLst/>
          </a:prstGeom>
          <a:noFill/>
          <a:ln w="9525">
            <a:noFill/>
          </a:ln>
        </p:spPr>
        <p:txBody>
          <a:bodyPr anchor="b" anchorCtr="0"/>
          <a:lstStyle/>
          <a:p>
            <a:pPr lvl="0"/>
            <a:r>
              <a:rPr lang="zh-CN" altLang="en-US" dirty="0"/>
              <a:t>单击此处编辑母版标题样式</a:t>
            </a:r>
          </a:p>
        </p:txBody>
      </p:sp>
      <p:sp>
        <p:nvSpPr>
          <p:cNvPr id="2058" name="Rectangle 10"/>
          <p:cNvSpPr>
            <a:spLocks noGrp="1"/>
          </p:cNvSpPr>
          <p:nvPr>
            <p:ph type="body"/>
          </p:nvPr>
        </p:nvSpPr>
        <p:spPr>
          <a:xfrm>
            <a:off x="1182688" y="2017713"/>
            <a:ext cx="7772400" cy="41148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35"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buFont typeface="Arial" panose="020B0604020202020204" pitchFamily="34" charset="0"/>
              <a:buNone/>
              <a:defRPr sz="1400" i="0">
                <a:solidFill>
                  <a:srgbClr val="000000"/>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36"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buFont typeface="Arial" panose="020B0604020202020204" pitchFamily="34" charset="0"/>
              <a:buNone/>
              <a:defRPr sz="1400" i="0">
                <a:solidFill>
                  <a:srgbClr val="000000"/>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37"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buFont typeface="Arial" panose="020B0604020202020204" pitchFamily="34" charset="0"/>
              <a:buNone/>
              <a:defRPr sz="1400" i="0">
                <a:solidFill>
                  <a:srgbClr val="000000"/>
                </a:solidFill>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ED6D85-AB18-4950-890F-3798A645FFEB}" type="slidenum">
              <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a:t>
            </a:fld>
            <a:endParaRPr kumimoji="0" lang="zh-CN"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a:spLocks noChangeArrowheads="1"/>
          </p:cNvSpPr>
          <p:nvPr/>
        </p:nvSpPr>
        <p:spPr bwMode="auto">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7" name="矩形 1026"/>
          <p:cNvSpPr>
            <a:spLocks noChangeArrowheads="1"/>
          </p:cNvSpPr>
          <p:nvPr/>
        </p:nvSpPr>
        <p:spPr bwMode="auto">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8" name="矩形 1027"/>
          <p:cNvSpPr>
            <a:spLocks noChangeArrowheads="1"/>
          </p:cNvSpPr>
          <p:nvPr/>
        </p:nvSpPr>
        <p:spPr bwMode="auto">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9" name="矩形 1028"/>
          <p:cNvSpPr>
            <a:spLocks noChangeArrowheads="1"/>
          </p:cNvSpPr>
          <p:nvPr/>
        </p:nvSpPr>
        <p:spPr bwMode="auto">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0" name="矩形 1029"/>
          <p:cNvSpPr>
            <a:spLocks noChangeArrowheads="1"/>
          </p:cNvSpPr>
          <p:nvPr/>
        </p:nvSpPr>
        <p:spPr bwMode="auto">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1" name="矩形 1030"/>
          <p:cNvSpPr>
            <a:spLocks noChangeArrowheads="1"/>
          </p:cNvSpPr>
          <p:nvPr/>
        </p:nvSpPr>
        <p:spPr bwMode="auto">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2" name="矩形 1031"/>
          <p:cNvSpPr>
            <a:spLocks noChangeArrowheads="1"/>
          </p:cNvSpPr>
          <p:nvPr/>
        </p:nvSpPr>
        <p:spPr bwMode="auto">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81" name="标题 1032"/>
          <p:cNvSpPr>
            <a:spLocks noGrp="1"/>
          </p:cNvSpPr>
          <p:nvPr>
            <p:ph type="title"/>
          </p:nvPr>
        </p:nvSpPr>
        <p:spPr>
          <a:xfrm>
            <a:off x="1150938" y="214313"/>
            <a:ext cx="7793037" cy="1462087"/>
          </a:xfrm>
          <a:prstGeom prst="rect">
            <a:avLst/>
          </a:prstGeom>
          <a:noFill/>
          <a:ln w="9525">
            <a:noFill/>
          </a:ln>
        </p:spPr>
        <p:txBody>
          <a:bodyPr anchor="b" anchorCtr="0"/>
          <a:lstStyle/>
          <a:p>
            <a:pPr lvl="0"/>
            <a:r>
              <a:rPr lang="zh-CN" altLang="en-US" dirty="0"/>
              <a:t>单击此处编辑母版标题样式</a:t>
            </a:r>
          </a:p>
        </p:txBody>
      </p:sp>
      <p:sp>
        <p:nvSpPr>
          <p:cNvPr id="3082" name="文本占位符 1033"/>
          <p:cNvSpPr>
            <a:spLocks noGrp="1"/>
          </p:cNvSpPr>
          <p:nvPr>
            <p:ph type="body"/>
          </p:nvPr>
        </p:nvSpPr>
        <p:spPr>
          <a:xfrm>
            <a:off x="1182688" y="2017713"/>
            <a:ext cx="7772400" cy="41148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35" name="日期占位符 1034"/>
          <p:cNvSpPr>
            <a:spLocks noGrp="1"/>
          </p:cNvSpPr>
          <p:nvPr>
            <p:ph type="dt" sz="half" idx="2"/>
          </p:nvPr>
        </p:nvSpPr>
        <p:spPr>
          <a:xfrm>
            <a:off x="1162050" y="6243638"/>
            <a:ext cx="1905000" cy="457200"/>
          </a:xfrm>
          <a:prstGeom prst="rect">
            <a:avLst/>
          </a:prstGeom>
          <a:noFill/>
          <a:ln w="9525">
            <a:noFill/>
          </a:ln>
        </p:spPr>
        <p:txBody>
          <a:bodyPr anchor="b"/>
          <a:lstStyle>
            <a:lvl1pPr eaLnBrk="1" hangingPunct="1">
              <a:buFont typeface="Arial" panose="020B0604020202020204" pitchFamily="34" charset="0"/>
              <a:buNone/>
              <a:defRPr sz="1400" noProof="1">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6" name="页脚占位符 1035"/>
          <p:cNvSpPr>
            <a:spLocks noGrp="1"/>
          </p:cNvSpPr>
          <p:nvPr>
            <p:ph type="ftr" sz="quarter" idx="3"/>
          </p:nvPr>
        </p:nvSpPr>
        <p:spPr>
          <a:xfrm>
            <a:off x="3657600" y="6243638"/>
            <a:ext cx="2895600" cy="457200"/>
          </a:xfrm>
          <a:prstGeom prst="rect">
            <a:avLst/>
          </a:prstGeom>
          <a:noFill/>
          <a:ln w="9525">
            <a:noFill/>
          </a:ln>
        </p:spPr>
        <p:txBody>
          <a:bodyPr anchor="b"/>
          <a:lstStyle>
            <a:lvl1pPr algn="ctr" eaLnBrk="1" hangingPunct="1">
              <a:buFont typeface="Arial" panose="020B0604020202020204" pitchFamily="34" charset="0"/>
              <a:buNone/>
              <a:defRPr sz="1400" noProof="1">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7" name="灯片编号占位符 1036"/>
          <p:cNvSpPr>
            <a:spLocks noGrp="1"/>
          </p:cNvSpPr>
          <p:nvPr>
            <p:ph type="sldNum" sz="quarter" idx="4"/>
          </p:nvPr>
        </p:nvSpPr>
        <p:spPr>
          <a:xfrm>
            <a:off x="7042150" y="6243638"/>
            <a:ext cx="1905000" cy="457200"/>
          </a:xfrm>
          <a:prstGeom prst="rect">
            <a:avLst/>
          </a:prstGeom>
          <a:noFill/>
          <a:ln w="9525">
            <a:noFill/>
          </a:ln>
        </p:spPr>
        <p:txBody>
          <a:bodyPr anchor="b"/>
          <a:lstStyle>
            <a:lvl1pPr algn="r" eaLnBrk="1" hangingPunct="1">
              <a:buFont typeface="Arial" panose="020B0604020202020204" pitchFamily="34" charset="0"/>
              <a:buNone/>
              <a:defRPr sz="1400" noProof="1">
                <a:latin typeface="Tahoma" panose="020B0604030504040204" pitchFamily="34" charset="0"/>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A0B601D-E514-4545-8B8D-83E98C6BC090}" type="slidenum">
              <a:rPr kumimoji="0" lang="en-US" altLang="zh-CN"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t>‹#›</a:t>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Lst>
  <p:hf sldNum="0"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Layout" Target="../slideLayouts/slideLayout37.xml"/><Relationship Id="rId7" Type="http://schemas.openxmlformats.org/officeDocument/2006/relationships/image" Target="../media/image18.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7.png"/><Relationship Id="rId5" Type="http://schemas.openxmlformats.org/officeDocument/2006/relationships/image" Target="../media/image16.emf"/><Relationship Id="rId4" Type="http://schemas.openxmlformats.org/officeDocument/2006/relationships/oleObject" Target="../embeddings/oleObject1.bin"/></Relationships>
</file>

<file path=ppt/slides/_rels/slide7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1.xml"/><Relationship Id="rId1" Type="http://schemas.openxmlformats.org/officeDocument/2006/relationships/tags" Target="../tags/tag3.xml"/><Relationship Id="rId4" Type="http://schemas.openxmlformats.org/officeDocument/2006/relationships/image" Target="../media/image21.png"/></Relationships>
</file>

<file path=ppt/slides/_rels/slide7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1.xml"/></Relationships>
</file>

<file path=ppt/slides/_rels/slide7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38.xml"/><Relationship Id="rId4" Type="http://schemas.openxmlformats.org/officeDocument/2006/relationships/image" Target="../media/image22.emf"/></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8.xml"/><Relationship Id="rId1" Type="http://schemas.openxmlformats.org/officeDocument/2006/relationships/tags" Target="../tags/tag4.xml"/><Relationship Id="rId4" Type="http://schemas.openxmlformats.org/officeDocument/2006/relationships/image" Target="../media/image10.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8.xml"/><Relationship Id="rId1" Type="http://schemas.openxmlformats.org/officeDocument/2006/relationships/tags" Target="../tags/tag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85.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tags" Target="../tags/tag23.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tags" Target="../tags/tag22.xml"/><Relationship Id="rId2" Type="http://schemas.openxmlformats.org/officeDocument/2006/relationships/tags" Target="../tags/tag7.xml"/><Relationship Id="rId16" Type="http://schemas.openxmlformats.org/officeDocument/2006/relationships/tags" Target="../tags/tag21.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5" Type="http://schemas.openxmlformats.org/officeDocument/2006/relationships/tags" Target="../tags/tag10.xml"/><Relationship Id="rId15" Type="http://schemas.openxmlformats.org/officeDocument/2006/relationships/tags" Target="../tags/tag20.xml"/><Relationship Id="rId10" Type="http://schemas.openxmlformats.org/officeDocument/2006/relationships/tags" Target="../tags/tag15.xml"/><Relationship Id="rId19" Type="http://schemas.openxmlformats.org/officeDocument/2006/relationships/slideLayout" Target="../slideLayouts/slideLayout38.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87.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tags" Target="../tags/tag36.xml"/><Relationship Id="rId18" Type="http://schemas.openxmlformats.org/officeDocument/2006/relationships/tags" Target="../tags/tag41.xml"/><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tags" Target="../tags/tag35.xml"/><Relationship Id="rId17" Type="http://schemas.openxmlformats.org/officeDocument/2006/relationships/tags" Target="../tags/tag40.xml"/><Relationship Id="rId2" Type="http://schemas.openxmlformats.org/officeDocument/2006/relationships/tags" Target="../tags/tag25.xml"/><Relationship Id="rId16" Type="http://schemas.openxmlformats.org/officeDocument/2006/relationships/tags" Target="../tags/tag39.xml"/><Relationship Id="rId20" Type="http://schemas.openxmlformats.org/officeDocument/2006/relationships/notesSlide" Target="../notesSlides/notesSlide1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5" Type="http://schemas.openxmlformats.org/officeDocument/2006/relationships/tags" Target="../tags/tag28.xml"/><Relationship Id="rId15" Type="http://schemas.openxmlformats.org/officeDocument/2006/relationships/tags" Target="../tags/tag38.xml"/><Relationship Id="rId10" Type="http://schemas.openxmlformats.org/officeDocument/2006/relationships/tags" Target="../tags/tag33.xml"/><Relationship Id="rId19" Type="http://schemas.openxmlformats.org/officeDocument/2006/relationships/slideLayout" Target="../slideLayouts/slideLayout38.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tags" Target="../tags/tag37.xml"/></Relationships>
</file>

<file path=ppt/slides/_rels/slide8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1.xml"/></Relationships>
</file>

<file path=ppt/slides/_rels/slide8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8.xml"/></Relationships>
</file>

<file path=ppt/slides/_rels/slide9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9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9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9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0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0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38.xml"/><Relationship Id="rId4" Type="http://schemas.openxmlformats.org/officeDocument/2006/relationships/image" Target="../media/image27.png"/></Relationships>
</file>

<file path=ppt/slides/_rels/slide10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8.xml"/><Relationship Id="rId4" Type="http://schemas.openxmlformats.org/officeDocument/2006/relationships/image" Target="../media/image29.png"/></Relationships>
</file>

<file path=ppt/slides/_rels/slide10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Layout" Target="../slideLayouts/slideLayout37.xml"/><Relationship Id="rId7" Type="http://schemas.openxmlformats.org/officeDocument/2006/relationships/image" Target="../media/image18.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17.png"/><Relationship Id="rId5" Type="http://schemas.openxmlformats.org/officeDocument/2006/relationships/image" Target="../media/image16.emf"/><Relationship Id="rId4" Type="http://schemas.openxmlformats.org/officeDocument/2006/relationships/oleObject" Target="../embeddings/oleObject1.bin"/></Relationships>
</file>

<file path=ppt/slides/_rels/slide10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0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0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3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1.xml"/></Relationships>
</file>

<file path=ppt/slides/_rels/slide1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1.xml"/></Relationships>
</file>

<file path=ppt/slides/_rels/slide1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8.xml"/></Relationships>
</file>

<file path=ppt/slides/_rels/slide12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bin"/><Relationship Id="rId1" Type="http://schemas.openxmlformats.org/officeDocument/2006/relationships/slideLayout" Target="../slideLayouts/slideLayout3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1.xml"/></Relationships>
</file>

<file path=ppt/slides/_rels/slide1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3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38.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3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3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1.xml"/></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38.xml"/><Relationship Id="rId1" Type="http://schemas.openxmlformats.org/officeDocument/2006/relationships/tags" Target="../tags/tag4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8.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8.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4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38.xml"/><Relationship Id="rId4" Type="http://schemas.openxmlformats.org/officeDocument/2006/relationships/image" Target="../media/image27.png"/></Relationships>
</file>

<file path=ppt/slides/_rels/slide1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38.xml"/><Relationship Id="rId4" Type="http://schemas.openxmlformats.org/officeDocument/2006/relationships/image" Target="../media/image29.png"/></Relationships>
</file>

<file path=ppt/slides/_rels/slide1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8.xml"/></Relationships>
</file>

<file path=ppt/slides/_rels/slide15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3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3.xml.rels><?xml version="1.0" encoding="UTF-8" standalone="yes"?>
<Relationships xmlns="http://schemas.openxmlformats.org/package/2006/relationships"><Relationship Id="rId2" Type="http://schemas.openxmlformats.org/officeDocument/2006/relationships/slideLayout" Target="../slideLayouts/slideLayout38.xml"/><Relationship Id="rId1" Type="http://schemas.openxmlformats.org/officeDocument/2006/relationships/tags" Target="../tags/tag45.xml"/></Relationships>
</file>

<file path=ppt/slides/_rels/slide1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1.xml"/><Relationship Id="rId1" Type="http://schemas.openxmlformats.org/officeDocument/2006/relationships/tags" Target="../tags/tag46.xml"/><Relationship Id="rId4" Type="http://schemas.openxmlformats.org/officeDocument/2006/relationships/image" Target="../media/image20.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9.xml.rels><?xml version="1.0" encoding="UTF-8" standalone="yes"?>
<Relationships xmlns="http://schemas.openxmlformats.org/package/2006/relationships"><Relationship Id="rId3" Type="http://schemas.openxmlformats.org/officeDocument/2006/relationships/slideLayout" Target="../slideLayouts/slideLayout39.xml"/><Relationship Id="rId7" Type="http://schemas.openxmlformats.org/officeDocument/2006/relationships/image" Target="../media/image20.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19.png"/><Relationship Id="rId5" Type="http://schemas.openxmlformats.org/officeDocument/2006/relationships/image" Target="../media/image16.e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82945"/>
          <p:cNvSpPr>
            <a:spLocks noGrp="1"/>
          </p:cNvSpPr>
          <p:nvPr>
            <p:ph type="title"/>
          </p:nvPr>
        </p:nvSpPr>
        <p:spPr/>
        <p:txBody>
          <a:bodyPr vert="horz" wrap="square" lIns="91440" tIns="45720" rIns="91440" bIns="45720" anchor="b" anchorCtr="0"/>
          <a:lstStyle/>
          <a:p>
            <a:pPr eaLnBrk="1" hangingPunct="1"/>
            <a:r>
              <a:rPr lang="en-US" altLang="zh-CN" dirty="0"/>
              <a:t>2.5  </a:t>
            </a:r>
            <a:r>
              <a:rPr lang="zh-CN" altLang="en-US" dirty="0"/>
              <a:t>进程的同步和通信</a:t>
            </a:r>
            <a:br>
              <a:rPr lang="zh-CN" altLang="en-US" dirty="0"/>
            </a:br>
            <a:endParaRPr lang="zh-CN" altLang="en-US" dirty="0"/>
          </a:p>
        </p:txBody>
      </p:sp>
      <p:sp>
        <p:nvSpPr>
          <p:cNvPr id="82947" name="内容占位符 82946"/>
          <p:cNvSpPr>
            <a:spLocks noGrp="1"/>
          </p:cNvSpPr>
          <p:nvPr>
            <p:ph idx="1"/>
          </p:nvPr>
        </p:nvSpPr>
        <p:spPr>
          <a:xfrm>
            <a:off x="611188" y="1773238"/>
            <a:ext cx="7993062" cy="4114800"/>
          </a:xfrm>
        </p:spPr>
        <p:txBody>
          <a:bodyPr vert="horz" wrap="square" lIns="91440" tIns="45720" rIns="91440" bIns="45720" anchor="t" anchorCtr="0"/>
          <a:lstStyle/>
          <a:p>
            <a:pPr eaLnBrk="1" hangingPunct="1">
              <a:buNone/>
            </a:pPr>
            <a:r>
              <a:rPr lang="en-US" altLang="zh-CN" sz="4800" dirty="0"/>
              <a:t>      </a:t>
            </a:r>
            <a:r>
              <a:rPr lang="zh-CN" altLang="en-US" dirty="0"/>
              <a:t>如果对进程的活动不加约束，就会使系统出现混乱、数据处理结果不唯一等问题。</a:t>
            </a:r>
          </a:p>
          <a:p>
            <a:pPr eaLnBrk="1" hangingPunct="1">
              <a:buNone/>
            </a:pPr>
            <a:r>
              <a:rPr lang="zh-CN" altLang="en-US" dirty="0"/>
              <a:t>         进程间的关系包括以下三种：</a:t>
            </a:r>
          </a:p>
          <a:p>
            <a:pPr eaLnBrk="1" hangingPunct="1">
              <a:buNone/>
            </a:pPr>
            <a:r>
              <a:rPr lang="zh-CN" altLang="en-US" sz="3600" dirty="0"/>
              <a:t>    </a:t>
            </a:r>
            <a:r>
              <a:rPr lang="en-US" altLang="zh-CN" sz="2800" dirty="0"/>
              <a:t>① </a:t>
            </a:r>
            <a:r>
              <a:rPr lang="zh-CN" altLang="en-US" sz="2800" dirty="0"/>
              <a:t>互斥</a:t>
            </a:r>
          </a:p>
          <a:p>
            <a:pPr eaLnBrk="1" hangingPunct="1">
              <a:buNone/>
            </a:pPr>
            <a:r>
              <a:rPr lang="zh-CN" altLang="en-US" sz="2800" dirty="0"/>
              <a:t>     </a:t>
            </a:r>
            <a:r>
              <a:rPr lang="en-US" altLang="zh-CN" sz="2800" dirty="0"/>
              <a:t>② </a:t>
            </a:r>
            <a:r>
              <a:rPr lang="zh-CN" altLang="en-US" sz="2800" dirty="0"/>
              <a:t>同步</a:t>
            </a:r>
          </a:p>
          <a:p>
            <a:pPr eaLnBrk="1" hangingPunct="1">
              <a:buNone/>
            </a:pPr>
            <a:r>
              <a:rPr lang="zh-CN" altLang="en-US" sz="2800" dirty="0"/>
              <a:t>     </a:t>
            </a:r>
            <a:r>
              <a:rPr lang="en-US" altLang="zh-CN" sz="2800" dirty="0"/>
              <a:t>③ </a:t>
            </a:r>
            <a:r>
              <a:rPr lang="zh-CN" altLang="en-US" sz="2800" dirty="0"/>
              <a:t>通信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82947">
                                            <p:txEl>
                                              <p:pRg st="3" end="3"/>
                                            </p:txEl>
                                          </p:spTgt>
                                        </p:tgtEl>
                                        <p:attrNameLst>
                                          <p:attrName>style.visibility</p:attrName>
                                        </p:attrNameLst>
                                      </p:cBhvr>
                                      <p:to>
                                        <p:strVal val="visible"/>
                                      </p:to>
                                    </p:set>
                                    <p:animEffect transition="in" filter="slide(fromBottom)">
                                      <p:cBhvr>
                                        <p:cTn id="7" dur="500"/>
                                        <p:tgtEl>
                                          <p:spTgt spid="82947">
                                            <p:txEl>
                                              <p:pRg st="3" end="3"/>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82947">
                                            <p:txEl>
                                              <p:pRg st="4" end="4"/>
                                            </p:txEl>
                                          </p:spTgt>
                                        </p:tgtEl>
                                        <p:attrNameLst>
                                          <p:attrName>style.visibility</p:attrName>
                                        </p:attrNameLst>
                                      </p:cBhvr>
                                      <p:to>
                                        <p:strVal val="visible"/>
                                      </p:to>
                                    </p:set>
                                    <p:animEffect transition="in" filter="slide(fromBottom)">
                                      <p:cBhvr>
                                        <p:cTn id="10" dur="500"/>
                                        <p:tgtEl>
                                          <p:spTgt spid="829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83969"/>
          <p:cNvSpPr>
            <a:spLocks noGrp="1"/>
          </p:cNvSpPr>
          <p:nvPr>
            <p:ph type="title"/>
          </p:nvPr>
        </p:nvSpPr>
        <p:spPr>
          <a:xfrm>
            <a:off x="1042988" y="1484313"/>
            <a:ext cx="7742237" cy="503237"/>
          </a:xfrm>
        </p:spPr>
        <p:txBody>
          <a:bodyPr vert="horz" wrap="square" lIns="91440" tIns="45720" rIns="91440" bIns="45720" anchor="b" anchorCtr="0"/>
          <a:lstStyle/>
          <a:p>
            <a:pPr eaLnBrk="1" hangingPunct="1"/>
            <a:br>
              <a:rPr lang="en-US" altLang="zh-CN" sz="4000" dirty="0"/>
            </a:br>
            <a:br>
              <a:rPr lang="en-US" altLang="zh-CN" sz="4000" dirty="0"/>
            </a:br>
            <a:br>
              <a:rPr lang="en-US" altLang="zh-CN" sz="4000" dirty="0"/>
            </a:br>
            <a:r>
              <a:rPr lang="en-US" altLang="zh-CN" sz="4000" dirty="0"/>
              <a:t>2.5.1  </a:t>
            </a:r>
            <a:r>
              <a:rPr lang="zh-CN" altLang="en-US" sz="4000" dirty="0"/>
              <a:t>进程的同步与互斥</a:t>
            </a:r>
            <a:br>
              <a:rPr lang="zh-CN" altLang="en-US" sz="4000" dirty="0"/>
            </a:br>
            <a:endParaRPr lang="zh-CN" altLang="en-US" sz="4000" dirty="0"/>
          </a:p>
        </p:txBody>
      </p:sp>
      <p:sp>
        <p:nvSpPr>
          <p:cNvPr id="83971" name="内容占位符 83970"/>
          <p:cNvSpPr>
            <a:spLocks noGrp="1"/>
          </p:cNvSpPr>
          <p:nvPr>
            <p:ph idx="1"/>
          </p:nvPr>
        </p:nvSpPr>
        <p:spPr>
          <a:xfrm>
            <a:off x="684213" y="1844675"/>
            <a:ext cx="7921625" cy="4249738"/>
          </a:xfrm>
        </p:spPr>
        <p:txBody>
          <a:bodyPr vert="horz" wrap="square" lIns="91440" tIns="45720" rIns="91440" bIns="45720" anchor="t" anchorCtr="0"/>
          <a:lstStyle/>
          <a:p>
            <a:pPr eaLnBrk="1" hangingPunct="1">
              <a:lnSpc>
                <a:spcPct val="80000"/>
              </a:lnSpc>
              <a:buNone/>
            </a:pPr>
            <a:r>
              <a:rPr lang="en-US" altLang="zh-CN" sz="2400" b="1" dirty="0"/>
              <a:t>1</a:t>
            </a:r>
            <a:r>
              <a:rPr lang="zh-CN" altLang="en-US" sz="2400" b="1" dirty="0"/>
              <a:t>．</a:t>
            </a:r>
            <a:r>
              <a:rPr lang="zh-CN" altLang="en-US" sz="2400" b="1" dirty="0">
                <a:solidFill>
                  <a:schemeClr val="hlink"/>
                </a:solidFill>
              </a:rPr>
              <a:t>同步</a:t>
            </a:r>
            <a:r>
              <a:rPr lang="en-US" altLang="zh-CN" sz="2400" b="1" dirty="0">
                <a:solidFill>
                  <a:schemeClr val="hlink"/>
                </a:solidFill>
              </a:rPr>
              <a:t>--</a:t>
            </a:r>
            <a:r>
              <a:rPr lang="zh-CN" altLang="en-US" sz="2400" dirty="0"/>
              <a:t>同步进程通过</a:t>
            </a:r>
            <a:r>
              <a:rPr lang="zh-CN" altLang="en-US" sz="2400" dirty="0">
                <a:solidFill>
                  <a:srgbClr val="FF0000"/>
                </a:solidFill>
              </a:rPr>
              <a:t>共享资源</a:t>
            </a:r>
            <a:r>
              <a:rPr lang="zh-CN" altLang="en-US" sz="2400" dirty="0"/>
              <a:t>来协调活动，在执行时间的次序上有一定</a:t>
            </a:r>
            <a:r>
              <a:rPr lang="zh-CN" altLang="en-US" sz="2400" dirty="0">
                <a:solidFill>
                  <a:schemeClr val="hlink"/>
                </a:solidFill>
              </a:rPr>
              <a:t>约束</a:t>
            </a:r>
            <a:r>
              <a:rPr lang="zh-CN" altLang="en-US" sz="2400" dirty="0"/>
              <a:t>。在协调动作的情况下，多个进程可以</a:t>
            </a:r>
            <a:r>
              <a:rPr lang="zh-CN" altLang="en-US" sz="2400" dirty="0">
                <a:solidFill>
                  <a:srgbClr val="FF0000"/>
                </a:solidFill>
              </a:rPr>
              <a:t>共同完成一项任务</a:t>
            </a:r>
            <a:r>
              <a:rPr lang="zh-CN" altLang="en-US" sz="2400" dirty="0"/>
              <a:t>。</a:t>
            </a:r>
          </a:p>
          <a:p>
            <a:pPr eaLnBrk="1" hangingPunct="1">
              <a:lnSpc>
                <a:spcPct val="80000"/>
              </a:lnSpc>
              <a:buNone/>
            </a:pPr>
            <a:r>
              <a:rPr lang="zh-CN" altLang="en-US" sz="2400" dirty="0"/>
              <a:t>         虽然彼此</a:t>
            </a:r>
            <a:r>
              <a:rPr lang="zh-CN" altLang="en-US" sz="2400" dirty="0">
                <a:solidFill>
                  <a:srgbClr val="FF0000"/>
                </a:solidFill>
              </a:rPr>
              <a:t>不直接知道</a:t>
            </a:r>
            <a:r>
              <a:rPr lang="zh-CN" altLang="en-US" sz="2400" dirty="0"/>
              <a:t>对方的名字，但</a:t>
            </a:r>
            <a:r>
              <a:rPr lang="zh-CN" altLang="en-US" sz="2400" dirty="0">
                <a:solidFill>
                  <a:srgbClr val="FF0000"/>
                </a:solidFill>
              </a:rPr>
              <a:t>知道对方</a:t>
            </a:r>
            <a:r>
              <a:rPr lang="zh-CN" altLang="en-US" sz="2400" dirty="0"/>
              <a:t>的存在和作用。</a:t>
            </a:r>
          </a:p>
          <a:p>
            <a:pPr eaLnBrk="1" hangingPunct="1">
              <a:lnSpc>
                <a:spcPct val="80000"/>
              </a:lnSpc>
              <a:buNone/>
            </a:pPr>
            <a:r>
              <a:rPr lang="en-US" altLang="zh-CN" sz="2400" b="1" dirty="0"/>
              <a:t>2</a:t>
            </a:r>
            <a:r>
              <a:rPr lang="zh-CN" altLang="en-US" sz="2400" b="1" dirty="0"/>
              <a:t>．</a:t>
            </a:r>
            <a:r>
              <a:rPr lang="zh-CN" altLang="en-US" sz="2400" b="1" dirty="0">
                <a:solidFill>
                  <a:schemeClr val="hlink"/>
                </a:solidFill>
              </a:rPr>
              <a:t>互斥</a:t>
            </a:r>
            <a:r>
              <a:rPr lang="en-US" altLang="zh-CN" sz="2400" b="1" dirty="0">
                <a:solidFill>
                  <a:schemeClr val="hlink"/>
                </a:solidFill>
              </a:rPr>
              <a:t>--</a:t>
            </a:r>
            <a:r>
              <a:rPr lang="zh-CN" altLang="en-US" sz="2400" dirty="0"/>
              <a:t>逻辑上这两个进程本来完全独立，不知对方的存在，</a:t>
            </a:r>
            <a:r>
              <a:rPr lang="zh-CN" altLang="en-US" sz="2400" dirty="0">
                <a:solidFill>
                  <a:srgbClr val="FF0000"/>
                </a:solidFill>
              </a:rPr>
              <a:t>毫无关系</a:t>
            </a:r>
            <a:r>
              <a:rPr lang="zh-CN" altLang="en-US" sz="2400" dirty="0"/>
              <a:t>，只是由于</a:t>
            </a:r>
            <a:r>
              <a:rPr lang="zh-CN" altLang="en-US" sz="2400" dirty="0">
                <a:solidFill>
                  <a:srgbClr val="FF0000"/>
                </a:solidFill>
              </a:rPr>
              <a:t>竞争</a:t>
            </a:r>
            <a:r>
              <a:rPr lang="zh-CN" altLang="en-US" sz="2400" dirty="0"/>
              <a:t>同一个物理</a:t>
            </a:r>
            <a:r>
              <a:rPr lang="zh-CN" altLang="en-US" sz="2400" dirty="0">
                <a:solidFill>
                  <a:srgbClr val="FF0000"/>
                </a:solidFill>
              </a:rPr>
              <a:t>资源</a:t>
            </a:r>
            <a:r>
              <a:rPr lang="zh-CN" altLang="en-US" sz="2400" dirty="0"/>
              <a:t>而相互制约。</a:t>
            </a:r>
          </a:p>
          <a:p>
            <a:pPr eaLnBrk="1" hangingPunct="1">
              <a:lnSpc>
                <a:spcPct val="80000"/>
              </a:lnSpc>
            </a:pPr>
            <a:r>
              <a:rPr lang="zh-CN" altLang="en-US" sz="2400" b="1" dirty="0">
                <a:solidFill>
                  <a:schemeClr val="tx2"/>
                </a:solidFill>
              </a:rPr>
              <a:t>     竞争条件</a:t>
            </a:r>
            <a:r>
              <a:rPr lang="zh-CN" altLang="en-US" sz="2400" dirty="0">
                <a:solidFill>
                  <a:schemeClr val="tx2"/>
                </a:solidFill>
              </a:rPr>
              <a:t>（</a:t>
            </a:r>
            <a:r>
              <a:rPr lang="en-US" altLang="zh-CN" sz="2400" dirty="0">
                <a:solidFill>
                  <a:schemeClr val="tx2"/>
                </a:solidFill>
              </a:rPr>
              <a:t>Race Condition</a:t>
            </a:r>
            <a:r>
              <a:rPr lang="zh-CN" altLang="en-US" sz="2400" dirty="0">
                <a:solidFill>
                  <a:schemeClr val="tx2"/>
                </a:solidFill>
              </a:rPr>
              <a:t>），即两个或多个进程同时访问和操纵相同的数据时，最后的执行结果取决于进程运行的精确时序。</a:t>
            </a:r>
          </a:p>
          <a:p>
            <a:pPr eaLnBrk="1" hangingPunct="1">
              <a:lnSpc>
                <a:spcPct val="80000"/>
              </a:lnSpc>
              <a:buNone/>
            </a:pPr>
            <a:r>
              <a:rPr lang="en-US" altLang="zh-CN" sz="2400" b="1" dirty="0"/>
              <a:t>3.</a:t>
            </a:r>
            <a:r>
              <a:rPr lang="en-US" altLang="zh-CN" sz="2400" dirty="0"/>
              <a:t>  </a:t>
            </a:r>
            <a:r>
              <a:rPr lang="zh-CN" altLang="en-US" sz="2400" b="1" dirty="0">
                <a:solidFill>
                  <a:srgbClr val="FF0000"/>
                </a:solidFill>
              </a:rPr>
              <a:t>通信</a:t>
            </a:r>
            <a:r>
              <a:rPr lang="en-US" altLang="zh-CN" sz="2400" b="1" dirty="0">
                <a:solidFill>
                  <a:srgbClr val="FF0000"/>
                </a:solidFill>
              </a:rPr>
              <a:t>--</a:t>
            </a:r>
            <a:r>
              <a:rPr lang="zh-CN" altLang="en-US" sz="2400" dirty="0"/>
              <a:t>各进程通过名字彼此之间</a:t>
            </a:r>
            <a:r>
              <a:rPr lang="zh-CN" altLang="en-US" sz="2400" dirty="0">
                <a:solidFill>
                  <a:schemeClr val="tx2"/>
                </a:solidFill>
              </a:rPr>
              <a:t>直接通信</a:t>
            </a:r>
            <a:r>
              <a:rPr lang="zh-CN" altLang="en-US" sz="2400" dirty="0"/>
              <a:t>，合作完成一项工作。</a:t>
            </a:r>
          </a:p>
          <a:p>
            <a:pPr eaLnBrk="1" hangingPunct="1">
              <a:lnSpc>
                <a:spcPct val="80000"/>
              </a:lnSpc>
              <a:buNone/>
            </a:pPr>
            <a:endParaRPr lang="zh-CN" altLang="en-US" sz="2400" dirty="0"/>
          </a:p>
          <a:p>
            <a:pPr eaLnBrk="1" hangingPunct="1">
              <a:lnSpc>
                <a:spcPct val="80000"/>
              </a:lnSpc>
              <a:buNone/>
            </a:pPr>
            <a:endParaRPr lang="zh-CN" altLang="en-US" sz="2400" dirty="0"/>
          </a:p>
          <a:p>
            <a:pPr eaLnBrk="1" hangingPunct="1">
              <a:lnSpc>
                <a:spcPct val="80000"/>
              </a:lnSpc>
              <a:buNone/>
            </a:pPr>
            <a:endParaRPr lang="zh-CN" altLang="en-US" sz="2400" dirty="0"/>
          </a:p>
          <a:p>
            <a:pPr eaLnBrk="1" hangingPunct="1">
              <a:lnSpc>
                <a:spcPct val="80000"/>
              </a:lnSpc>
              <a:buNone/>
            </a:pP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animEffect transition="in" filter="fade">
                                      <p:cBhvr>
                                        <p:cTn id="7" dur="1000"/>
                                        <p:tgtEl>
                                          <p:spTgt spid="83971">
                                            <p:txEl>
                                              <p:pRg st="0" end="0"/>
                                            </p:txEl>
                                          </p:spTgt>
                                        </p:tgtEl>
                                      </p:cBhvr>
                                    </p:animEffect>
                                    <p:anim calcmode="lin" valueType="num">
                                      <p:cBhvr>
                                        <p:cTn id="8" dur="1000" fill="hold"/>
                                        <p:tgtEl>
                                          <p:spTgt spid="8397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3971">
                                            <p:txEl>
                                              <p:pRg st="0" end="0"/>
                                            </p:txEl>
                                          </p:spTgt>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83971">
                                            <p:txEl>
                                              <p:pRg st="1" end="1"/>
                                            </p:txEl>
                                          </p:spTgt>
                                        </p:tgtEl>
                                        <p:attrNameLst>
                                          <p:attrName>style.visibility</p:attrName>
                                        </p:attrNameLst>
                                      </p:cBhvr>
                                      <p:to>
                                        <p:strVal val="visible"/>
                                      </p:to>
                                    </p:set>
                                    <p:animEffect transition="in" filter="fade">
                                      <p:cBhvr>
                                        <p:cTn id="12" dur="1000"/>
                                        <p:tgtEl>
                                          <p:spTgt spid="83971">
                                            <p:txEl>
                                              <p:pRg st="1" end="1"/>
                                            </p:txEl>
                                          </p:spTgt>
                                        </p:tgtEl>
                                      </p:cBhvr>
                                    </p:animEffect>
                                    <p:anim calcmode="lin" valueType="num">
                                      <p:cBhvr>
                                        <p:cTn id="13" dur="1000" fill="hold"/>
                                        <p:tgtEl>
                                          <p:spTgt spid="8397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83971">
                                            <p:txEl>
                                              <p:pRg st="1" end="1"/>
                                            </p:txEl>
                                          </p:spTgt>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83971">
                                            <p:txEl>
                                              <p:pRg st="4" end="4"/>
                                            </p:txEl>
                                          </p:spTgt>
                                        </p:tgtEl>
                                        <p:attrNameLst>
                                          <p:attrName>style.visibility</p:attrName>
                                        </p:attrNameLst>
                                      </p:cBhvr>
                                      <p:to>
                                        <p:strVal val="visible"/>
                                      </p:to>
                                    </p:set>
                                    <p:animEffect transition="in" filter="fade">
                                      <p:cBhvr>
                                        <p:cTn id="17" dur="1000"/>
                                        <p:tgtEl>
                                          <p:spTgt spid="83971">
                                            <p:txEl>
                                              <p:pRg st="4" end="4"/>
                                            </p:txEl>
                                          </p:spTgt>
                                        </p:tgtEl>
                                      </p:cBhvr>
                                    </p:animEffect>
                                    <p:anim calcmode="lin" valueType="num">
                                      <p:cBhvr>
                                        <p:cTn id="18" dur="1000" fill="hold"/>
                                        <p:tgtEl>
                                          <p:spTgt spid="83971">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83971">
                                            <p:txEl>
                                              <p:pRg st="4" end="4"/>
                                            </p:txEl>
                                          </p:spTgt>
                                        </p:tgtEl>
                                        <p:attrNameLst>
                                          <p:attrName>ppt_y</p:attrName>
                                        </p:attrNameLst>
                                      </p:cBhvr>
                                      <p:tavLst>
                                        <p:tav tm="0">
                                          <p:val>
                                            <p:strVal val="#ppt_y-.1"/>
                                          </p:val>
                                        </p:tav>
                                        <p:tav tm="100000">
                                          <p:val>
                                            <p:strVal val="#ppt_y"/>
                                          </p:val>
                                        </p:tav>
                                      </p:tavLst>
                                    </p:anim>
                                  </p:childTnLst>
                                </p:cTn>
                              </p:par>
                              <p:par>
                                <p:cTn id="20" presetID="47" presetClass="entr" presetSubtype="0" fill="hold" nodeType="withEffect">
                                  <p:stCondLst>
                                    <p:cond delay="0"/>
                                  </p:stCondLst>
                                  <p:childTnLst>
                                    <p:set>
                                      <p:cBhvr>
                                        <p:cTn id="21" dur="1" fill="hold">
                                          <p:stCondLst>
                                            <p:cond delay="0"/>
                                          </p:stCondLst>
                                        </p:cTn>
                                        <p:tgtEl>
                                          <p:spTgt spid="83971">
                                            <p:txEl>
                                              <p:pRg st="2" end="2"/>
                                            </p:txEl>
                                          </p:spTgt>
                                        </p:tgtEl>
                                        <p:attrNameLst>
                                          <p:attrName>style.visibility</p:attrName>
                                        </p:attrNameLst>
                                      </p:cBhvr>
                                      <p:to>
                                        <p:strVal val="visible"/>
                                      </p:to>
                                    </p:set>
                                    <p:animEffect transition="in" filter="fade">
                                      <p:cBhvr>
                                        <p:cTn id="22" dur="1000"/>
                                        <p:tgtEl>
                                          <p:spTgt spid="83971">
                                            <p:txEl>
                                              <p:pRg st="2" end="2"/>
                                            </p:txEl>
                                          </p:spTgt>
                                        </p:tgtEl>
                                      </p:cBhvr>
                                    </p:animEffect>
                                    <p:anim calcmode="lin" valueType="num">
                                      <p:cBhvr>
                                        <p:cTn id="23" dur="1000" fill="hold"/>
                                        <p:tgtEl>
                                          <p:spTgt spid="83971">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83971">
                                            <p:txEl>
                                              <p:pRg st="2" end="2"/>
                                            </p:txEl>
                                          </p:spTgt>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0"/>
                                  </p:stCondLst>
                                  <p:childTnLst>
                                    <p:set>
                                      <p:cBhvr>
                                        <p:cTn id="26" dur="1" fill="hold">
                                          <p:stCondLst>
                                            <p:cond delay="0"/>
                                          </p:stCondLst>
                                        </p:cTn>
                                        <p:tgtEl>
                                          <p:spTgt spid="83971">
                                            <p:txEl>
                                              <p:pRg st="3" end="3"/>
                                            </p:txEl>
                                          </p:spTgt>
                                        </p:tgtEl>
                                        <p:attrNameLst>
                                          <p:attrName>style.visibility</p:attrName>
                                        </p:attrNameLst>
                                      </p:cBhvr>
                                      <p:to>
                                        <p:strVal val="visible"/>
                                      </p:to>
                                    </p:set>
                                    <p:animEffect transition="in" filter="fade">
                                      <p:cBhvr>
                                        <p:cTn id="27" dur="1000"/>
                                        <p:tgtEl>
                                          <p:spTgt spid="83971">
                                            <p:txEl>
                                              <p:pRg st="3" end="3"/>
                                            </p:txEl>
                                          </p:spTgt>
                                        </p:tgtEl>
                                      </p:cBhvr>
                                    </p:animEffect>
                                    <p:anim calcmode="lin" valueType="num">
                                      <p:cBhvr>
                                        <p:cTn id="28" dur="1000" fill="hold"/>
                                        <p:tgtEl>
                                          <p:spTgt spid="83971">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8397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88065"/>
          <p:cNvSpPr>
            <a:spLocks noGrp="1"/>
          </p:cNvSpPr>
          <p:nvPr>
            <p:ph type="title"/>
          </p:nvPr>
        </p:nvSpPr>
        <p:spPr/>
        <p:txBody>
          <a:bodyPr vert="horz" wrap="square" lIns="91440" tIns="45720" rIns="91440" bIns="45720" anchor="b" anchorCtr="0"/>
          <a:lstStyle/>
          <a:p>
            <a:pPr eaLnBrk="1" hangingPunct="1"/>
            <a:r>
              <a:rPr lang="zh-CN" altLang="en-US" dirty="0"/>
              <a:t>互斥举例</a:t>
            </a:r>
            <a:r>
              <a:rPr lang="en-US" altLang="zh-CN" dirty="0"/>
              <a:t>2</a:t>
            </a:r>
          </a:p>
        </p:txBody>
      </p:sp>
      <p:sp>
        <p:nvSpPr>
          <p:cNvPr id="18435" name="文本占位符 88066"/>
          <p:cNvSpPr>
            <a:spLocks noGrp="1"/>
          </p:cNvSpPr>
          <p:nvPr>
            <p:ph type="body" sz="half" idx="1"/>
          </p:nvPr>
        </p:nvSpPr>
        <p:spPr>
          <a:xfrm>
            <a:off x="323850" y="2060575"/>
            <a:ext cx="3810000" cy="4114800"/>
          </a:xfrm>
        </p:spPr>
        <p:txBody>
          <a:bodyPr vert="horz" wrap="square" lIns="91440" tIns="45720" rIns="91440" bIns="45720" anchor="t" anchorCtr="0"/>
          <a:lstStyle/>
          <a:p>
            <a:pPr eaLnBrk="1" hangingPunct="1">
              <a:buClr>
                <a:schemeClr val="folHlink"/>
              </a:buClr>
              <a:buSzPct val="60000"/>
              <a:buFont typeface="Wingdings" panose="05000000000000000000" pitchFamily="2" charset="2"/>
            </a:pPr>
            <a:r>
              <a:rPr lang="zh-CN" altLang="en-US" sz="2800" dirty="0"/>
              <a:t>进程</a:t>
            </a:r>
            <a:r>
              <a:rPr lang="en-US" altLang="zh-CN" sz="2800" dirty="0"/>
              <a:t>Pa</a:t>
            </a:r>
            <a:r>
              <a:rPr lang="zh-CN" altLang="en-US" sz="2800" dirty="0"/>
              <a:t>为用户作业分配打印机，</a:t>
            </a:r>
          </a:p>
          <a:p>
            <a:pPr eaLnBrk="1" hangingPunct="1">
              <a:buClr>
                <a:schemeClr val="folHlink"/>
              </a:buClr>
              <a:buSzPct val="60000"/>
              <a:buFont typeface="Wingdings" panose="05000000000000000000" pitchFamily="2" charset="2"/>
            </a:pPr>
            <a:r>
              <a:rPr lang="zh-CN" altLang="en-US" sz="2800" dirty="0"/>
              <a:t>进程</a:t>
            </a:r>
            <a:r>
              <a:rPr lang="en-US" altLang="zh-CN" sz="2800" dirty="0"/>
              <a:t>Pb</a:t>
            </a:r>
            <a:r>
              <a:rPr lang="zh-CN" altLang="en-US" sz="2800" dirty="0"/>
              <a:t>负责释放打印机。</a:t>
            </a:r>
          </a:p>
          <a:p>
            <a:pPr eaLnBrk="1" hangingPunct="1">
              <a:buClr>
                <a:schemeClr val="folHlink"/>
              </a:buClr>
              <a:buSzPct val="60000"/>
              <a:buFont typeface="Wingdings" panose="05000000000000000000" pitchFamily="2" charset="2"/>
            </a:pPr>
            <a:r>
              <a:rPr lang="zh-CN" altLang="en-US" sz="2800" dirty="0"/>
              <a:t>系统中有一个打印机分配表由各进程共用，如右图所示。</a:t>
            </a:r>
          </a:p>
        </p:txBody>
      </p:sp>
      <p:graphicFrame>
        <p:nvGraphicFramePr>
          <p:cNvPr id="88068" name="内容占位符 88067"/>
          <p:cNvGraphicFramePr>
            <a:graphicFrameLocks noGrp="1"/>
          </p:cNvGraphicFramePr>
          <p:nvPr>
            <p:ph sz="half" idx="4294967295"/>
          </p:nvPr>
        </p:nvGraphicFramePr>
        <p:xfrm>
          <a:off x="4211638" y="1989138"/>
          <a:ext cx="4598988" cy="4275138"/>
        </p:xfrm>
        <a:graphic>
          <a:graphicData uri="http://schemas.openxmlformats.org/drawingml/2006/table">
            <a:tbl>
              <a:tblPr/>
              <a:tblGrid>
                <a:gridCol w="1295400">
                  <a:extLst>
                    <a:ext uri="{9D8B030D-6E8A-4147-A177-3AD203B41FA5}">
                      <a16:colId xmlns:a16="http://schemas.microsoft.com/office/drawing/2014/main" val="20000"/>
                    </a:ext>
                  </a:extLst>
                </a:gridCol>
                <a:gridCol w="865188">
                  <a:extLst>
                    <a:ext uri="{9D8B030D-6E8A-4147-A177-3AD203B41FA5}">
                      <a16:colId xmlns:a16="http://schemas.microsoft.com/office/drawing/2014/main" val="20001"/>
                    </a:ext>
                  </a:extLst>
                </a:gridCol>
                <a:gridCol w="1150937">
                  <a:extLst>
                    <a:ext uri="{9D8B030D-6E8A-4147-A177-3AD203B41FA5}">
                      <a16:colId xmlns:a16="http://schemas.microsoft.com/office/drawing/2014/main" val="20002"/>
                    </a:ext>
                  </a:extLst>
                </a:gridCol>
                <a:gridCol w="1287463">
                  <a:extLst>
                    <a:ext uri="{9D8B030D-6E8A-4147-A177-3AD203B41FA5}">
                      <a16:colId xmlns:a16="http://schemas.microsoft.com/office/drawing/2014/main" val="20003"/>
                    </a:ext>
                  </a:extLst>
                </a:gridCol>
              </a:tblGrid>
              <a:tr h="1189038">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zh-CN" altLang="en-US" sz="2400"/>
                        <a:t>打印机编号</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zh-CN" altLang="en-US" sz="2400"/>
                        <a:t>分配标志</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zh-CN" altLang="en-US" sz="2400"/>
                        <a:t>用户名</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zh-CN" altLang="en-US" sz="2400"/>
                        <a:t>用户定义的设备名</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8700">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0</a:t>
                      </a:r>
                      <a:endParaRPr lang="zh-CN" altLang="en-US" sz="2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1</a:t>
                      </a:r>
                      <a:endParaRPr lang="zh-CN" altLang="en-US" sz="2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Meng</a:t>
                      </a:r>
                      <a:endParaRPr lang="zh-CN" altLang="en-US" sz="2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print</a:t>
                      </a:r>
                      <a:endParaRPr lang="zh-CN" altLang="en-US" sz="28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28700">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1</a:t>
                      </a:r>
                      <a:endParaRPr lang="zh-CN" altLang="en-US" sz="2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0</a:t>
                      </a:r>
                      <a:endParaRPr lang="zh-CN" altLang="en-US" sz="2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endParaRPr lang="zh-CN" altLang="en-US" sz="2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endParaRPr lang="zh-CN" altLang="en-US" sz="28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28700">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2</a:t>
                      </a:r>
                      <a:endParaRPr lang="zh-CN" altLang="en-US" sz="2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1</a:t>
                      </a:r>
                      <a:endParaRPr lang="zh-CN" altLang="en-US" sz="2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Liu</a:t>
                      </a:r>
                      <a:endParaRPr lang="zh-CN" altLang="en-US" sz="2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output</a:t>
                      </a:r>
                      <a:endParaRPr lang="zh-CN" altLang="en-US" sz="28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90113"/>
          <p:cNvSpPr>
            <a:spLocks noGrp="1"/>
          </p:cNvSpPr>
          <p:nvPr>
            <p:ph type="title"/>
          </p:nvPr>
        </p:nvSpPr>
        <p:spPr/>
        <p:txBody>
          <a:bodyPr vert="horz" wrap="square" lIns="91440" tIns="45720" rIns="91440" bIns="45720" anchor="b" anchorCtr="0"/>
          <a:lstStyle/>
          <a:p>
            <a:pPr eaLnBrk="1" hangingPunct="1"/>
            <a:r>
              <a:rPr lang="en-US" altLang="zh-CN" dirty="0"/>
              <a:t>2.5.2  </a:t>
            </a:r>
            <a:r>
              <a:rPr lang="zh-CN" altLang="en-US" dirty="0"/>
              <a:t>临界资源和临界区</a:t>
            </a:r>
            <a:br>
              <a:rPr lang="zh-CN" altLang="en-US" dirty="0"/>
            </a:br>
            <a:endParaRPr lang="zh-CN" altLang="en-US" dirty="0"/>
          </a:p>
        </p:txBody>
      </p:sp>
      <p:sp>
        <p:nvSpPr>
          <p:cNvPr id="90115" name="内容占位符 90114"/>
          <p:cNvSpPr>
            <a:spLocks noGrp="1"/>
          </p:cNvSpPr>
          <p:nvPr>
            <p:ph idx="1"/>
          </p:nvPr>
        </p:nvSpPr>
        <p:spPr>
          <a:xfrm>
            <a:off x="684213" y="1989138"/>
            <a:ext cx="7772400" cy="4114800"/>
          </a:xfrm>
        </p:spPr>
        <p:txBody>
          <a:bodyPr vert="horz" wrap="square" lIns="91440" tIns="45720" rIns="91440" bIns="45720" anchor="t" anchorCtr="0"/>
          <a:lstStyle/>
          <a:p>
            <a:pPr eaLnBrk="1" hangingPunct="1">
              <a:lnSpc>
                <a:spcPct val="90000"/>
              </a:lnSpc>
              <a:buNone/>
            </a:pPr>
            <a:r>
              <a:rPr lang="en-US" altLang="zh-CN" sz="2800" dirty="0"/>
              <a:t>1</a:t>
            </a:r>
            <a:r>
              <a:rPr lang="zh-CN" altLang="en-US" sz="2800" dirty="0"/>
              <a:t>．临界资源和临界区</a:t>
            </a:r>
          </a:p>
          <a:p>
            <a:pPr eaLnBrk="1" hangingPunct="1">
              <a:lnSpc>
                <a:spcPct val="90000"/>
              </a:lnSpc>
            </a:pPr>
            <a:r>
              <a:rPr lang="zh-CN" altLang="en-US" sz="2800" dirty="0"/>
              <a:t>一次仅允许一个进程使用。我们把这类共享资源称为</a:t>
            </a:r>
            <a:r>
              <a:rPr lang="zh-CN" altLang="en-US" sz="2800" dirty="0">
                <a:solidFill>
                  <a:schemeClr val="hlink"/>
                </a:solidFill>
              </a:rPr>
              <a:t>临界资源</a:t>
            </a:r>
            <a:r>
              <a:rPr lang="zh-CN" altLang="en-US" sz="2800" dirty="0"/>
              <a:t>（</a:t>
            </a:r>
            <a:r>
              <a:rPr lang="en-US" altLang="zh-CN" sz="2800" dirty="0"/>
              <a:t>Critical Resource</a:t>
            </a:r>
            <a:r>
              <a:rPr lang="zh-CN" altLang="en-US" sz="2800" dirty="0"/>
              <a:t>）。</a:t>
            </a:r>
          </a:p>
          <a:p>
            <a:pPr eaLnBrk="1" hangingPunct="1">
              <a:lnSpc>
                <a:spcPct val="90000"/>
              </a:lnSpc>
            </a:pPr>
            <a:r>
              <a:rPr lang="zh-CN" altLang="en-US" sz="2800" dirty="0"/>
              <a:t>例如，打印机、读卡机、公共变量、表格等软硬件资源都是临界资源。</a:t>
            </a:r>
          </a:p>
          <a:p>
            <a:pPr eaLnBrk="1" hangingPunct="1">
              <a:lnSpc>
                <a:spcPct val="90000"/>
              </a:lnSpc>
            </a:pPr>
            <a:r>
              <a:rPr lang="zh-CN" altLang="en-US" sz="2800" dirty="0"/>
              <a:t>在每个进程中访问临界资源的那段程序叫做</a:t>
            </a:r>
            <a:r>
              <a:rPr lang="zh-CN" altLang="en-US" sz="2800" dirty="0">
                <a:solidFill>
                  <a:schemeClr val="hlink"/>
                </a:solidFill>
              </a:rPr>
              <a:t>临界区</a:t>
            </a:r>
            <a:r>
              <a:rPr lang="zh-CN" altLang="en-US" sz="2800" dirty="0"/>
              <a:t>（</a:t>
            </a:r>
            <a:r>
              <a:rPr lang="en-US" altLang="zh-CN" sz="2800" dirty="0"/>
              <a:t>Critical Section</a:t>
            </a:r>
            <a:r>
              <a:rPr lang="zh-CN" altLang="en-US" sz="2800" dirty="0"/>
              <a:t>），简称</a:t>
            </a:r>
            <a:r>
              <a:rPr lang="en-US" altLang="zh-CN" sz="2800" dirty="0"/>
              <a:t>CS</a:t>
            </a:r>
            <a:r>
              <a:rPr lang="zh-CN" altLang="en-US" sz="2800" dirty="0"/>
              <a:t>区。</a:t>
            </a:r>
          </a:p>
          <a:p>
            <a:pPr eaLnBrk="1" hangingPunct="1">
              <a:lnSpc>
                <a:spcPct val="90000"/>
              </a:lnSpc>
            </a:pPr>
            <a:r>
              <a:rPr lang="zh-CN" altLang="en-US" sz="2800" dirty="0"/>
              <a:t>进程互斥进入临界区：进入前申请，获准后方可进入；执行后要退出，再执行其他代码。</a:t>
            </a:r>
          </a:p>
          <a:p>
            <a:pPr eaLnBrk="1" hangingPunct="1">
              <a:lnSpc>
                <a:spcPct val="90000"/>
              </a:lnSpc>
              <a:buNone/>
            </a:pP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withEffect">
                                  <p:stCondLst>
                                    <p:cond delay="0"/>
                                  </p:stCondLst>
                                  <p:childTnLst>
                                    <p:set>
                                      <p:cBhvr>
                                        <p:cTn id="6" dur="1" fill="hold">
                                          <p:stCondLst>
                                            <p:cond delay="0"/>
                                          </p:stCondLst>
                                        </p:cTn>
                                        <p:tgtEl>
                                          <p:spTgt spid="90115">
                                            <p:txEl>
                                              <p:pRg st="1" end="1"/>
                                            </p:txEl>
                                          </p:spTgt>
                                        </p:tgtEl>
                                        <p:attrNameLst>
                                          <p:attrName>style.visibility</p:attrName>
                                        </p:attrNameLst>
                                      </p:cBhvr>
                                      <p:to>
                                        <p:strVal val="visible"/>
                                      </p:to>
                                    </p:set>
                                    <p:animEffect transition="in" filter="barn(inHorizontal)">
                                      <p:cBhvr>
                                        <p:cTn id="7" dur="500"/>
                                        <p:tgtEl>
                                          <p:spTgt spid="90115">
                                            <p:txEl>
                                              <p:pRg st="1" end="1"/>
                                            </p:txEl>
                                          </p:spTgt>
                                        </p:tgtEl>
                                      </p:cBhvr>
                                    </p:animEffect>
                                  </p:childTnLst>
                                </p:cTn>
                              </p:par>
                              <p:par>
                                <p:cTn id="8" presetID="16" presetClass="entr" presetSubtype="26" fill="hold" nodeType="withEffect">
                                  <p:stCondLst>
                                    <p:cond delay="0"/>
                                  </p:stCondLst>
                                  <p:childTnLst>
                                    <p:set>
                                      <p:cBhvr>
                                        <p:cTn id="9" dur="1" fill="hold">
                                          <p:stCondLst>
                                            <p:cond delay="0"/>
                                          </p:stCondLst>
                                        </p:cTn>
                                        <p:tgtEl>
                                          <p:spTgt spid="90115">
                                            <p:txEl>
                                              <p:pRg st="2" end="2"/>
                                            </p:txEl>
                                          </p:spTgt>
                                        </p:tgtEl>
                                        <p:attrNameLst>
                                          <p:attrName>style.visibility</p:attrName>
                                        </p:attrNameLst>
                                      </p:cBhvr>
                                      <p:to>
                                        <p:strVal val="visible"/>
                                      </p:to>
                                    </p:set>
                                    <p:animEffect transition="in" filter="barn(inHorizontal)">
                                      <p:cBhvr>
                                        <p:cTn id="10" dur="500"/>
                                        <p:tgtEl>
                                          <p:spTgt spid="90115">
                                            <p:txEl>
                                              <p:pRg st="2" end="2"/>
                                            </p:txEl>
                                          </p:spTgt>
                                        </p:tgtEl>
                                      </p:cBhvr>
                                    </p:animEffect>
                                  </p:childTnLst>
                                </p:cTn>
                              </p:par>
                              <p:par>
                                <p:cTn id="11" presetID="16" presetClass="entr" presetSubtype="26" fill="hold" nodeType="withEffect">
                                  <p:stCondLst>
                                    <p:cond delay="0"/>
                                  </p:stCondLst>
                                  <p:childTnLst>
                                    <p:set>
                                      <p:cBhvr>
                                        <p:cTn id="12" dur="1" fill="hold">
                                          <p:stCondLst>
                                            <p:cond delay="0"/>
                                          </p:stCondLst>
                                        </p:cTn>
                                        <p:tgtEl>
                                          <p:spTgt spid="90115">
                                            <p:txEl>
                                              <p:pRg st="3" end="3"/>
                                            </p:txEl>
                                          </p:spTgt>
                                        </p:tgtEl>
                                        <p:attrNameLst>
                                          <p:attrName>style.visibility</p:attrName>
                                        </p:attrNameLst>
                                      </p:cBhvr>
                                      <p:to>
                                        <p:strVal val="visible"/>
                                      </p:to>
                                    </p:set>
                                    <p:animEffect transition="in" filter="barn(inHorizontal)">
                                      <p:cBhvr>
                                        <p:cTn id="13" dur="500"/>
                                        <p:tgtEl>
                                          <p:spTgt spid="90115">
                                            <p:txEl>
                                              <p:pRg st="3" end="3"/>
                                            </p:txEl>
                                          </p:spTgt>
                                        </p:tgtEl>
                                      </p:cBhvr>
                                    </p:animEffect>
                                  </p:childTnLst>
                                </p:cTn>
                              </p:par>
                              <p:par>
                                <p:cTn id="14" presetID="16" presetClass="entr" presetSubtype="26" fill="hold" nodeType="withEffect">
                                  <p:stCondLst>
                                    <p:cond delay="0"/>
                                  </p:stCondLst>
                                  <p:childTnLst>
                                    <p:set>
                                      <p:cBhvr>
                                        <p:cTn id="15" dur="1" fill="hold">
                                          <p:stCondLst>
                                            <p:cond delay="0"/>
                                          </p:stCondLst>
                                        </p:cTn>
                                        <p:tgtEl>
                                          <p:spTgt spid="90115">
                                            <p:txEl>
                                              <p:pRg st="4" end="4"/>
                                            </p:txEl>
                                          </p:spTgt>
                                        </p:tgtEl>
                                        <p:attrNameLst>
                                          <p:attrName>style.visibility</p:attrName>
                                        </p:attrNameLst>
                                      </p:cBhvr>
                                      <p:to>
                                        <p:strVal val="visible"/>
                                      </p:to>
                                    </p:set>
                                    <p:animEffect transition="in" filter="barn(inHorizontal)">
                                      <p:cBhvr>
                                        <p:cTn id="16" dur="500"/>
                                        <p:tgtEl>
                                          <p:spTgt spid="901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91137"/>
          <p:cNvSpPr>
            <a:spLocks noGrp="1"/>
          </p:cNvSpPr>
          <p:nvPr>
            <p:ph type="title"/>
          </p:nvPr>
        </p:nvSpPr>
        <p:spPr/>
        <p:txBody>
          <a:bodyPr vert="horz" wrap="square" lIns="91440" tIns="45720" rIns="91440" bIns="45720" anchor="b" anchorCtr="0"/>
          <a:lstStyle/>
          <a:p>
            <a:pPr eaLnBrk="1" hangingPunct="1"/>
            <a:r>
              <a:rPr lang="en-US" altLang="zh-CN" dirty="0"/>
              <a:t>2.5.2  </a:t>
            </a:r>
            <a:r>
              <a:rPr lang="zh-CN" altLang="en-US" dirty="0"/>
              <a:t>临界资源和临界区</a:t>
            </a:r>
            <a:br>
              <a:rPr lang="zh-CN" altLang="en-US" dirty="0"/>
            </a:br>
            <a:endParaRPr lang="zh-CN" altLang="en-US" dirty="0"/>
          </a:p>
        </p:txBody>
      </p:sp>
      <p:sp>
        <p:nvSpPr>
          <p:cNvPr id="20483" name="文本占位符 91138"/>
          <p:cNvSpPr>
            <a:spLocks noGrp="1"/>
          </p:cNvSpPr>
          <p:nvPr>
            <p:ph idx="1"/>
          </p:nvPr>
        </p:nvSpPr>
        <p:spPr>
          <a:xfrm>
            <a:off x="1182688" y="2017713"/>
            <a:ext cx="7772400" cy="587375"/>
          </a:xfrm>
        </p:spPr>
        <p:txBody>
          <a:bodyPr vert="horz" wrap="square" lIns="91440" tIns="45720" rIns="91440" bIns="45720" anchor="t" anchorCtr="0"/>
          <a:lstStyle/>
          <a:p>
            <a:pPr algn="just" eaLnBrk="1" hangingPunct="1">
              <a:buNone/>
            </a:pPr>
            <a:r>
              <a:rPr lang="en-US" altLang="zh-CN" dirty="0"/>
              <a:t>2</a:t>
            </a:r>
            <a:r>
              <a:rPr lang="zh-CN" altLang="en-US" dirty="0"/>
              <a:t>．进程的一般结构：</a:t>
            </a:r>
          </a:p>
        </p:txBody>
      </p:sp>
      <p:pic>
        <p:nvPicPr>
          <p:cNvPr id="20484" name="图片 91139" descr="t215"/>
          <p:cNvPicPr>
            <a:picLocks noChangeAspect="1"/>
          </p:cNvPicPr>
          <p:nvPr/>
        </p:nvPicPr>
        <p:blipFill>
          <a:blip r:embed="rId2"/>
          <a:stretch>
            <a:fillRect/>
          </a:stretch>
        </p:blipFill>
        <p:spPr>
          <a:xfrm>
            <a:off x="2627313" y="2708275"/>
            <a:ext cx="3600450" cy="2663825"/>
          </a:xfrm>
          <a:prstGeom prst="rect">
            <a:avLst/>
          </a:prstGeom>
          <a:noFill/>
          <a:ln w="9525">
            <a:noFill/>
          </a:ln>
        </p:spPr>
      </p:pic>
      <p:sp>
        <p:nvSpPr>
          <p:cNvPr id="20485" name="文本框 91140"/>
          <p:cNvSpPr txBox="1"/>
          <p:nvPr/>
        </p:nvSpPr>
        <p:spPr>
          <a:xfrm>
            <a:off x="3132138" y="5589588"/>
            <a:ext cx="3167062"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1800" dirty="0"/>
              <a:t>图</a:t>
            </a:r>
            <a:r>
              <a:rPr lang="en-US" altLang="zh-CN" sz="1800" dirty="0"/>
              <a:t>2-15  </a:t>
            </a:r>
            <a:r>
              <a:rPr lang="zh-CN" altLang="en-US" sz="1800" dirty="0"/>
              <a:t>典型进程的一般结构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txBox="1">
            <a:spLocks noGrp="1"/>
          </p:cNvSpPr>
          <p:nvPr>
            <p:ph type="sldNum" sz="quarter" idx="12"/>
          </p:nvPr>
        </p:nvSpPr>
        <p:spPr/>
        <p:txBody>
          <a:bodyPr anchor="b" anchorCtr="0"/>
          <a:lstStyle/>
          <a:p>
            <a:pPr marL="0" indent="0" algn="r" eaLnBrk="1" hangingPunct="1">
              <a:spcBef>
                <a:spcPct val="0"/>
              </a:spcBef>
              <a:buClrTx/>
              <a:buSzTx/>
              <a:buFont typeface="Arial" panose="020B0604020202020204" pitchFamily="34" charset="0"/>
              <a:buChar char="•"/>
            </a:pPr>
            <a:fld id="{9A0DB2DC-4C9A-4742-B13C-FB6460FD3503}" type="slidenum">
              <a:rPr lang="zh-CN" altLang="zh-CN" sz="1400" dirty="0">
                <a:solidFill>
                  <a:srgbClr val="000000"/>
                </a:solidFill>
              </a:rPr>
              <a:t>6</a:t>
            </a:fld>
            <a:endParaRPr lang="zh-CN" altLang="zh-CN" sz="1400" dirty="0">
              <a:solidFill>
                <a:srgbClr val="000000"/>
              </a:solidFill>
            </a:endParaRPr>
          </a:p>
        </p:txBody>
      </p:sp>
      <p:sp>
        <p:nvSpPr>
          <p:cNvPr id="21507" name="Rectangle 2"/>
          <p:cNvSpPr>
            <a:spLocks noGrp="1"/>
          </p:cNvSpPr>
          <p:nvPr>
            <p:ph type="title"/>
          </p:nvPr>
        </p:nvSpPr>
        <p:spPr>
          <a:xfrm>
            <a:off x="1150938" y="692150"/>
            <a:ext cx="7793037" cy="779463"/>
          </a:xfrm>
        </p:spPr>
        <p:txBody>
          <a:bodyPr vert="horz" wrap="square" lIns="91440" tIns="45720" rIns="91440" bIns="45720" anchor="b" anchorCtr="0"/>
          <a:lstStyle/>
          <a:p>
            <a:pPr eaLnBrk="1" hangingPunct="1"/>
            <a:r>
              <a:rPr lang="zh-CN" altLang="zh-CN" b="1" dirty="0"/>
              <a:t>2.5.2  </a:t>
            </a:r>
            <a:r>
              <a:rPr lang="zh-CN" altLang="en-US" b="1" dirty="0"/>
              <a:t>临界资源和临界区</a:t>
            </a:r>
          </a:p>
        </p:txBody>
      </p:sp>
      <p:sp>
        <p:nvSpPr>
          <p:cNvPr id="19460" name="Rectangle 3"/>
          <p:cNvSpPr>
            <a:spLocks noGrp="1"/>
          </p:cNvSpPr>
          <p:nvPr>
            <p:ph idx="1"/>
          </p:nvPr>
        </p:nvSpPr>
        <p:spPr>
          <a:xfrm>
            <a:off x="673100" y="2060575"/>
            <a:ext cx="8013700" cy="3097213"/>
          </a:xfrm>
        </p:spPr>
        <p:txBody>
          <a:bodyPr vert="horz" wrap="square" lIns="91440" tIns="45720" rIns="91440" bIns="45720" anchor="t" anchorCtr="0"/>
          <a:lstStyle/>
          <a:p>
            <a:pPr eaLnBrk="1" hangingPunct="1">
              <a:lnSpc>
                <a:spcPct val="90000"/>
              </a:lnSpc>
            </a:pPr>
            <a:r>
              <a:rPr lang="zh-CN" altLang="en-US" b="1" dirty="0"/>
              <a:t>例：</a:t>
            </a:r>
            <a:r>
              <a:rPr lang="zh-CN" altLang="zh-CN" b="1" dirty="0"/>
              <a:t>2</a:t>
            </a:r>
            <a:r>
              <a:rPr lang="zh-CN" altLang="en-US" b="1" dirty="0"/>
              <a:t>个窗口同时出售同一车次的火车票，若同时修改票数</a:t>
            </a:r>
            <a:r>
              <a:rPr lang="zh-CN" altLang="zh-CN" b="1" dirty="0"/>
              <a:t>R</a:t>
            </a:r>
            <a:r>
              <a:rPr lang="zh-CN" altLang="en-US" b="1" dirty="0"/>
              <a:t>，则会出现丢失修改的现象。</a:t>
            </a:r>
          </a:p>
          <a:p>
            <a:pPr eaLnBrk="1" hangingPunct="1">
              <a:lnSpc>
                <a:spcPct val="90000"/>
              </a:lnSpc>
            </a:pPr>
            <a:r>
              <a:rPr lang="zh-CN" altLang="en-US" b="1" dirty="0"/>
              <a:t>为避免数据丢失，必须找到某种途径来阻止一个以上的进程同时使用这种资源，即多进程共享这种资源时，必须</a:t>
            </a:r>
            <a:r>
              <a:rPr lang="zh-CN" altLang="en-US" b="1" dirty="0">
                <a:solidFill>
                  <a:schemeClr val="hlink"/>
                </a:solidFill>
              </a:rPr>
              <a:t>互斥</a:t>
            </a:r>
            <a:r>
              <a:rPr lang="zh-CN" altLang="en-US" b="1" dirty="0"/>
              <a:t>地使用。</a:t>
            </a:r>
          </a:p>
          <a:p>
            <a:pPr eaLnBrk="1" hangingPunct="1">
              <a:lnSpc>
                <a:spcPct val="90000"/>
              </a:lnSpc>
            </a:pPr>
            <a:r>
              <a:rPr lang="zh-CN" altLang="en-US" b="1" dirty="0"/>
              <a:t>票数</a:t>
            </a:r>
            <a:r>
              <a:rPr lang="en-US" altLang="zh-CN" b="1" dirty="0"/>
              <a:t>R</a:t>
            </a:r>
            <a:r>
              <a:rPr lang="zh-CN" altLang="en-US" b="1" dirty="0"/>
              <a:t>是一种临界资源，对</a:t>
            </a:r>
            <a:r>
              <a:rPr lang="en-US" altLang="zh-CN" b="1" dirty="0"/>
              <a:t>R</a:t>
            </a:r>
            <a:r>
              <a:rPr lang="zh-CN" altLang="en-US" b="1" dirty="0"/>
              <a:t>操作的售票程序是临界区。</a:t>
            </a:r>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60">
                                            <p:txEl>
                                              <p:pRg st="1" end="1"/>
                                            </p:txEl>
                                          </p:spTgt>
                                        </p:tgtEl>
                                        <p:attrNameLst>
                                          <p:attrName>style.visibility</p:attrName>
                                        </p:attrNameLst>
                                      </p:cBhvr>
                                      <p:to>
                                        <p:strVal val="visible"/>
                                      </p:to>
                                    </p:set>
                                    <p:animEffect transition="in" filter="fade">
                                      <p:cBhvr>
                                        <p:cTn id="7" dur="500"/>
                                        <p:tgtEl>
                                          <p:spTgt spid="1946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60">
                                            <p:txEl>
                                              <p:pRg st="2" end="2"/>
                                            </p:txEl>
                                          </p:spTgt>
                                        </p:tgtEl>
                                        <p:attrNameLst>
                                          <p:attrName>style.visibility</p:attrName>
                                        </p:attrNameLst>
                                      </p:cBhvr>
                                      <p:to>
                                        <p:strVal val="visible"/>
                                      </p:to>
                                    </p:set>
                                    <p:animEffect transition="in" filter="fade">
                                      <p:cBhvr>
                                        <p:cTn id="12" dur="500"/>
                                        <p:tgtEl>
                                          <p:spTgt spid="1946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97281"/>
          <p:cNvSpPr>
            <a:spLocks noGrp="1"/>
          </p:cNvSpPr>
          <p:nvPr>
            <p:ph type="title"/>
          </p:nvPr>
        </p:nvSpPr>
        <p:spPr>
          <a:xfrm>
            <a:off x="900113" y="404813"/>
            <a:ext cx="8043862" cy="1271587"/>
          </a:xfrm>
        </p:spPr>
        <p:txBody>
          <a:bodyPr vert="horz" wrap="square" lIns="91440" tIns="45720" rIns="91440" bIns="45720" anchor="b" anchorCtr="0"/>
          <a:lstStyle/>
          <a:p>
            <a:pPr eaLnBrk="1" hangingPunct="1"/>
            <a:r>
              <a:rPr lang="en-US" altLang="zh-CN" b="1" dirty="0"/>
              <a:t>2.5.4  </a:t>
            </a:r>
            <a:r>
              <a:rPr lang="zh-CN" altLang="en-US" b="1" dirty="0"/>
              <a:t>信号量</a:t>
            </a:r>
            <a:br>
              <a:rPr lang="zh-CN" altLang="en-US" dirty="0"/>
            </a:br>
            <a:r>
              <a:rPr lang="zh-CN" altLang="en-US" sz="3200" dirty="0"/>
              <a:t>用于解决进程同步、互斥问题的通用工具。</a:t>
            </a:r>
          </a:p>
        </p:txBody>
      </p:sp>
      <p:sp>
        <p:nvSpPr>
          <p:cNvPr id="97283" name="内容占位符 97282"/>
          <p:cNvSpPr>
            <a:spLocks noGrp="1"/>
          </p:cNvSpPr>
          <p:nvPr>
            <p:ph idx="1"/>
          </p:nvPr>
        </p:nvSpPr>
        <p:spPr>
          <a:xfrm>
            <a:off x="755650" y="1916113"/>
            <a:ext cx="7772400" cy="4259262"/>
          </a:xfrm>
        </p:spPr>
        <p:txBody>
          <a:bodyPr vert="horz" wrap="square" lIns="91440" tIns="45720" rIns="91440" bIns="45720" anchor="t" anchorCtr="0"/>
          <a:lstStyle/>
          <a:p>
            <a:pPr eaLnBrk="1" hangingPunct="1">
              <a:lnSpc>
                <a:spcPct val="80000"/>
              </a:lnSpc>
              <a:buNone/>
            </a:pPr>
            <a:r>
              <a:rPr lang="en-US" altLang="zh-CN" sz="2400" dirty="0"/>
              <a:t>1</a:t>
            </a:r>
            <a:r>
              <a:rPr lang="zh-CN" altLang="en-US" sz="2400" dirty="0"/>
              <a:t>．</a:t>
            </a:r>
            <a:r>
              <a:rPr lang="zh-CN" altLang="en-US" sz="2400" b="1" dirty="0">
                <a:solidFill>
                  <a:schemeClr val="hlink"/>
                </a:solidFill>
              </a:rPr>
              <a:t>整型信号量：可供使用的资源数目。</a:t>
            </a:r>
          </a:p>
          <a:p>
            <a:pPr eaLnBrk="1" hangingPunct="1">
              <a:lnSpc>
                <a:spcPct val="80000"/>
              </a:lnSpc>
            </a:pPr>
            <a:r>
              <a:rPr lang="en-US" altLang="zh-CN" sz="2400" b="1" dirty="0">
                <a:solidFill>
                  <a:schemeClr val="hlink"/>
                </a:solidFill>
              </a:rPr>
              <a:t>P</a:t>
            </a:r>
            <a:r>
              <a:rPr lang="zh-CN" altLang="en-US" sz="2400" b="1" dirty="0">
                <a:solidFill>
                  <a:schemeClr val="hlink"/>
                </a:solidFill>
              </a:rPr>
              <a:t>操作</a:t>
            </a:r>
            <a:r>
              <a:rPr lang="zh-CN" altLang="en-US" sz="2400" dirty="0"/>
              <a:t>最初源于荷兰语</a:t>
            </a:r>
            <a:r>
              <a:rPr lang="en-US" altLang="zh-CN" sz="2400" dirty="0"/>
              <a:t>proberen</a:t>
            </a:r>
            <a:r>
              <a:rPr lang="zh-CN" altLang="en-US" sz="2400" dirty="0"/>
              <a:t>，表示</a:t>
            </a:r>
            <a:r>
              <a:rPr lang="zh-CN" altLang="en-US" sz="2400" dirty="0">
                <a:solidFill>
                  <a:schemeClr val="tx2"/>
                </a:solidFill>
              </a:rPr>
              <a:t>测试</a:t>
            </a:r>
            <a:r>
              <a:rPr lang="zh-CN" altLang="en-US" sz="2400" dirty="0"/>
              <a:t>；</a:t>
            </a:r>
          </a:p>
          <a:p>
            <a:pPr eaLnBrk="1" hangingPunct="1">
              <a:lnSpc>
                <a:spcPct val="80000"/>
              </a:lnSpc>
            </a:pPr>
            <a:r>
              <a:rPr lang="en-US" altLang="zh-CN" sz="2400" b="1" dirty="0">
                <a:solidFill>
                  <a:schemeClr val="hlink"/>
                </a:solidFill>
              </a:rPr>
              <a:t>V</a:t>
            </a:r>
            <a:r>
              <a:rPr lang="zh-CN" altLang="en-US" sz="2400" b="1" dirty="0">
                <a:solidFill>
                  <a:schemeClr val="hlink"/>
                </a:solidFill>
              </a:rPr>
              <a:t>操作</a:t>
            </a:r>
            <a:r>
              <a:rPr lang="zh-CN" altLang="en-US" sz="2400" dirty="0"/>
              <a:t>源于荷兰语</a:t>
            </a:r>
            <a:r>
              <a:rPr lang="en-US" altLang="zh-CN" sz="2400" dirty="0"/>
              <a:t>verhogen</a:t>
            </a:r>
            <a:r>
              <a:rPr lang="zh-CN" altLang="en-US" sz="2400" dirty="0"/>
              <a:t>，表示</a:t>
            </a:r>
            <a:r>
              <a:rPr lang="zh-CN" altLang="en-US" sz="2400" dirty="0">
                <a:solidFill>
                  <a:schemeClr val="tx2"/>
                </a:solidFill>
              </a:rPr>
              <a:t>增加</a:t>
            </a:r>
            <a:r>
              <a:rPr lang="zh-CN" altLang="en-US" sz="2400" dirty="0"/>
              <a:t>。</a:t>
            </a:r>
          </a:p>
          <a:p>
            <a:pPr eaLnBrk="1" hangingPunct="1">
              <a:lnSpc>
                <a:spcPct val="80000"/>
              </a:lnSpc>
            </a:pPr>
            <a:r>
              <a:rPr lang="zh-CN" altLang="en-US" sz="2400" dirty="0"/>
              <a:t>在有些书上将</a:t>
            </a:r>
            <a:r>
              <a:rPr lang="en-US" altLang="zh-CN" sz="2400" dirty="0"/>
              <a:t>P</a:t>
            </a:r>
            <a:r>
              <a:rPr lang="zh-CN" altLang="en-US" sz="2400" dirty="0"/>
              <a:t>操作称做</a:t>
            </a:r>
            <a:r>
              <a:rPr lang="en-US" altLang="zh-CN" sz="2400" dirty="0"/>
              <a:t>wait</a:t>
            </a:r>
            <a:r>
              <a:rPr lang="zh-CN" altLang="en-US" sz="2400" dirty="0"/>
              <a:t>或者</a:t>
            </a:r>
            <a:r>
              <a:rPr lang="en-US" altLang="zh-CN" sz="2400" dirty="0"/>
              <a:t>DOWN</a:t>
            </a:r>
            <a:r>
              <a:rPr lang="zh-CN" altLang="en-US" sz="2400" dirty="0"/>
              <a:t>操作，将</a:t>
            </a:r>
            <a:r>
              <a:rPr lang="en-US" altLang="zh-CN" sz="2400" dirty="0"/>
              <a:t>V</a:t>
            </a:r>
            <a:r>
              <a:rPr lang="zh-CN" altLang="en-US" sz="2400" dirty="0"/>
              <a:t>操作称做</a:t>
            </a:r>
            <a:r>
              <a:rPr lang="en-US" altLang="zh-CN" sz="2400" dirty="0"/>
              <a:t>signal</a:t>
            </a:r>
            <a:r>
              <a:rPr lang="zh-CN" altLang="en-US" sz="2400" dirty="0"/>
              <a:t>或者</a:t>
            </a:r>
            <a:r>
              <a:rPr lang="en-US" altLang="zh-CN" sz="2400" dirty="0"/>
              <a:t>UP</a:t>
            </a:r>
            <a:r>
              <a:rPr lang="zh-CN" altLang="en-US" sz="2400" dirty="0"/>
              <a:t>操作。</a:t>
            </a:r>
          </a:p>
          <a:p>
            <a:pPr eaLnBrk="1" hangingPunct="1">
              <a:lnSpc>
                <a:spcPct val="80000"/>
              </a:lnSpc>
            </a:pPr>
            <a:endParaRPr lang="zh-CN" altLang="en-US" sz="2400" b="1" dirty="0">
              <a:solidFill>
                <a:schemeClr val="hlink"/>
              </a:solidFill>
            </a:endParaRPr>
          </a:p>
          <a:p>
            <a:pPr eaLnBrk="1" hangingPunct="1">
              <a:lnSpc>
                <a:spcPct val="80000"/>
              </a:lnSpc>
            </a:pPr>
            <a:r>
              <a:rPr lang="en-US" altLang="zh-CN" sz="2400" b="1" dirty="0">
                <a:solidFill>
                  <a:schemeClr val="hlink"/>
                </a:solidFill>
              </a:rPr>
              <a:t>P</a:t>
            </a:r>
            <a:r>
              <a:rPr lang="zh-CN" altLang="en-US" sz="2400" b="1" dirty="0">
                <a:solidFill>
                  <a:schemeClr val="hlink"/>
                </a:solidFill>
              </a:rPr>
              <a:t>和</a:t>
            </a:r>
            <a:r>
              <a:rPr lang="en-US" altLang="zh-CN" sz="2400" b="1" dirty="0">
                <a:solidFill>
                  <a:schemeClr val="hlink"/>
                </a:solidFill>
              </a:rPr>
              <a:t>V</a:t>
            </a:r>
            <a:r>
              <a:rPr lang="zh-CN" altLang="en-US" sz="2400" b="1" dirty="0">
                <a:solidFill>
                  <a:schemeClr val="hlink"/>
                </a:solidFill>
              </a:rPr>
              <a:t>操作都是原语。</a:t>
            </a:r>
          </a:p>
          <a:p>
            <a:pPr eaLnBrk="1" hangingPunct="1">
              <a:lnSpc>
                <a:spcPct val="80000"/>
              </a:lnSpc>
            </a:pPr>
            <a:endParaRPr lang="zh-CN" altLang="en-US" sz="2000" dirty="0"/>
          </a:p>
          <a:p>
            <a:pPr eaLnBrk="1" hangingPunct="1">
              <a:lnSpc>
                <a:spcPct val="80000"/>
              </a:lnSpc>
            </a:pPr>
            <a:r>
              <a:rPr lang="zh-CN" altLang="en-US" sz="2400" dirty="0"/>
              <a:t>对信号量的操作有如下严格限制：</a:t>
            </a:r>
          </a:p>
          <a:p>
            <a:pPr eaLnBrk="1" hangingPunct="1">
              <a:lnSpc>
                <a:spcPct val="80000"/>
              </a:lnSpc>
            </a:pPr>
            <a:r>
              <a:rPr lang="en-US" altLang="zh-CN" sz="2400" b="1" dirty="0"/>
              <a:t>1. </a:t>
            </a:r>
            <a:r>
              <a:rPr lang="zh-CN" altLang="en-US" sz="2400" b="1" dirty="0"/>
              <a:t>信号量</a:t>
            </a:r>
            <a:r>
              <a:rPr lang="zh-CN" altLang="en-US" sz="2400" b="1" dirty="0">
                <a:solidFill>
                  <a:schemeClr val="hlink"/>
                </a:solidFill>
              </a:rPr>
              <a:t>可以赋初值，</a:t>
            </a:r>
            <a:r>
              <a:rPr lang="zh-CN" altLang="en-US" sz="2400" b="1" dirty="0"/>
              <a:t>且初值为</a:t>
            </a:r>
            <a:r>
              <a:rPr lang="zh-CN" altLang="en-US" sz="2400" b="1" dirty="0">
                <a:solidFill>
                  <a:schemeClr val="hlink"/>
                </a:solidFill>
              </a:rPr>
              <a:t>非负数。</a:t>
            </a:r>
          </a:p>
          <a:p>
            <a:pPr eaLnBrk="1" hangingPunct="1">
              <a:lnSpc>
                <a:spcPct val="80000"/>
              </a:lnSpc>
            </a:pPr>
            <a:r>
              <a:rPr lang="en-US" altLang="zh-CN" sz="2400" b="1" dirty="0"/>
              <a:t>2. </a:t>
            </a:r>
            <a:r>
              <a:rPr lang="zh-CN" altLang="en-US" sz="2400" b="1" dirty="0"/>
              <a:t>信号量的值</a:t>
            </a:r>
            <a:r>
              <a:rPr lang="zh-CN" altLang="en-US" sz="2400" b="1" dirty="0">
                <a:solidFill>
                  <a:schemeClr val="hlink"/>
                </a:solidFill>
              </a:rPr>
              <a:t>可以修改，</a:t>
            </a:r>
            <a:r>
              <a:rPr lang="zh-CN" altLang="en-US" sz="2400" b="1" dirty="0"/>
              <a:t>但只能由</a:t>
            </a:r>
            <a:r>
              <a:rPr lang="en-US" altLang="zh-CN" sz="2400" b="1" dirty="0">
                <a:solidFill>
                  <a:schemeClr val="hlink"/>
                </a:solidFill>
              </a:rPr>
              <a:t>P</a:t>
            </a:r>
            <a:r>
              <a:rPr lang="zh-CN" altLang="en-US" sz="2400" b="1" dirty="0">
                <a:solidFill>
                  <a:schemeClr val="hlink"/>
                </a:solidFill>
              </a:rPr>
              <a:t>和</a:t>
            </a:r>
            <a:r>
              <a:rPr lang="en-US" altLang="zh-CN" sz="2400" b="1" dirty="0">
                <a:solidFill>
                  <a:schemeClr val="hlink"/>
                </a:solidFill>
              </a:rPr>
              <a:t>V</a:t>
            </a:r>
            <a:r>
              <a:rPr lang="zh-CN" altLang="en-US" sz="2400" b="1" dirty="0">
                <a:solidFill>
                  <a:schemeClr val="hlink"/>
                </a:solidFill>
              </a:rPr>
              <a:t>操作</a:t>
            </a:r>
            <a:r>
              <a:rPr lang="zh-CN" altLang="en-US" sz="2400" b="1" dirty="0"/>
              <a:t>来访问。</a:t>
            </a:r>
          </a:p>
          <a:p>
            <a:pPr eaLnBrk="1" hangingPunct="1">
              <a:lnSpc>
                <a:spcPct val="80000"/>
              </a:lnSpc>
            </a:pP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7283">
                                            <p:txEl>
                                              <p:pRg st="1" end="1"/>
                                            </p:txEl>
                                          </p:spTgt>
                                        </p:tgtEl>
                                        <p:attrNameLst>
                                          <p:attrName>style.visibility</p:attrName>
                                        </p:attrNameLst>
                                      </p:cBhvr>
                                      <p:to>
                                        <p:strVal val="visible"/>
                                      </p:to>
                                    </p:set>
                                    <p:animEffect transition="in" filter="blinds(horizontal)">
                                      <p:cBhvr>
                                        <p:cTn id="7" dur="500"/>
                                        <p:tgtEl>
                                          <p:spTgt spid="9728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7283">
                                            <p:txEl>
                                              <p:pRg st="2" end="2"/>
                                            </p:txEl>
                                          </p:spTgt>
                                        </p:tgtEl>
                                        <p:attrNameLst>
                                          <p:attrName>style.visibility</p:attrName>
                                        </p:attrNameLst>
                                      </p:cBhvr>
                                      <p:to>
                                        <p:strVal val="visible"/>
                                      </p:to>
                                    </p:set>
                                    <p:animEffect transition="in" filter="blinds(horizontal)">
                                      <p:cBhvr>
                                        <p:cTn id="10" dur="500"/>
                                        <p:tgtEl>
                                          <p:spTgt spid="9728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7283">
                                            <p:txEl>
                                              <p:pRg st="3" end="3"/>
                                            </p:txEl>
                                          </p:spTgt>
                                        </p:tgtEl>
                                        <p:attrNameLst>
                                          <p:attrName>style.visibility</p:attrName>
                                        </p:attrNameLst>
                                      </p:cBhvr>
                                      <p:to>
                                        <p:strVal val="visible"/>
                                      </p:to>
                                    </p:set>
                                    <p:animEffect transition="in" filter="blinds(horizontal)">
                                      <p:cBhvr>
                                        <p:cTn id="13" dur="500"/>
                                        <p:tgtEl>
                                          <p:spTgt spid="9728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iterate type="lt">
                                    <p:tmAbs val="0"/>
                                  </p:iterate>
                                  <p:childTnLst>
                                    <p:set>
                                      <p:cBhvr>
                                        <p:cTn id="17" dur="1" fill="hold">
                                          <p:stCondLst>
                                            <p:cond delay="0"/>
                                          </p:stCondLst>
                                        </p:cTn>
                                        <p:tgtEl>
                                          <p:spTgt spid="97283">
                                            <p:txEl>
                                              <p:pRg st="5" end="5"/>
                                            </p:txEl>
                                          </p:spTgt>
                                        </p:tgtEl>
                                        <p:attrNameLst>
                                          <p:attrName>style.visibility</p:attrName>
                                        </p:attrNameLst>
                                      </p:cBhvr>
                                      <p:to>
                                        <p:strVal val="visible"/>
                                      </p:to>
                                    </p:set>
                                    <p:animEffect transition="in" filter="slide(fromBottom)">
                                      <p:cBhvr>
                                        <p:cTn id="18" dur="500"/>
                                        <p:tgtEl>
                                          <p:spTgt spid="9728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iterate type="lt">
                                    <p:tmAbs val="0"/>
                                  </p:iterate>
                                  <p:childTnLst>
                                    <p:set>
                                      <p:cBhvr>
                                        <p:cTn id="22" dur="1" fill="hold">
                                          <p:stCondLst>
                                            <p:cond delay="0"/>
                                          </p:stCondLst>
                                        </p:cTn>
                                        <p:tgtEl>
                                          <p:spTgt spid="97283">
                                            <p:txEl>
                                              <p:pRg st="9" end="9"/>
                                            </p:txEl>
                                          </p:spTgt>
                                        </p:tgtEl>
                                        <p:attrNameLst>
                                          <p:attrName>style.visibility</p:attrName>
                                        </p:attrNameLst>
                                      </p:cBhvr>
                                      <p:to>
                                        <p:strVal val="visible"/>
                                      </p:to>
                                    </p:set>
                                    <p:animEffect transition="in" filter="slide(fromBottom)">
                                      <p:cBhvr>
                                        <p:cTn id="23" dur="500"/>
                                        <p:tgtEl>
                                          <p:spTgt spid="97283">
                                            <p:txEl>
                                              <p:pRg st="9" end="9"/>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nodeType="clickEffect">
                                  <p:stCondLst>
                                    <p:cond delay="0"/>
                                  </p:stCondLst>
                                  <p:iterate type="lt">
                                    <p:tmAbs val="0"/>
                                  </p:iterate>
                                  <p:childTnLst>
                                    <p:set>
                                      <p:cBhvr>
                                        <p:cTn id="27" dur="1" fill="hold">
                                          <p:stCondLst>
                                            <p:cond delay="0"/>
                                          </p:stCondLst>
                                        </p:cTn>
                                        <p:tgtEl>
                                          <p:spTgt spid="97283">
                                            <p:txEl>
                                              <p:pRg st="7" end="7"/>
                                            </p:txEl>
                                          </p:spTgt>
                                        </p:tgtEl>
                                        <p:attrNameLst>
                                          <p:attrName>style.visibility</p:attrName>
                                        </p:attrNameLst>
                                      </p:cBhvr>
                                      <p:to>
                                        <p:strVal val="visible"/>
                                      </p:to>
                                    </p:set>
                                    <p:animEffect transition="in" filter="slide(fromBottom)">
                                      <p:cBhvr>
                                        <p:cTn id="28" dur="500"/>
                                        <p:tgtEl>
                                          <p:spTgt spid="9728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nodeType="clickEffect">
                                  <p:stCondLst>
                                    <p:cond delay="0"/>
                                  </p:stCondLst>
                                  <p:iterate type="lt">
                                    <p:tmAbs val="0"/>
                                  </p:iterate>
                                  <p:childTnLst>
                                    <p:set>
                                      <p:cBhvr>
                                        <p:cTn id="32" dur="1" fill="hold">
                                          <p:stCondLst>
                                            <p:cond delay="0"/>
                                          </p:stCondLst>
                                        </p:cTn>
                                        <p:tgtEl>
                                          <p:spTgt spid="97283">
                                            <p:txEl>
                                              <p:pRg st="8" end="8"/>
                                            </p:txEl>
                                          </p:spTgt>
                                        </p:tgtEl>
                                        <p:attrNameLst>
                                          <p:attrName>style.visibility</p:attrName>
                                        </p:attrNameLst>
                                      </p:cBhvr>
                                      <p:to>
                                        <p:strVal val="visible"/>
                                      </p:to>
                                    </p:set>
                                    <p:animEffect transition="in" filter="slide(fromBottom)">
                                      <p:cBhvr>
                                        <p:cTn id="33" dur="500"/>
                                        <p:tgtEl>
                                          <p:spTgt spid="972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txBox="1">
            <a:spLocks noGrp="1"/>
          </p:cNvSpPr>
          <p:nvPr>
            <p:ph type="sldNum" sz="quarter" idx="12"/>
          </p:nvPr>
        </p:nvSpPr>
        <p:spPr/>
        <p:txBody>
          <a:bodyPr anchor="b" anchorCtr="0"/>
          <a:lstStyle/>
          <a:p>
            <a:pPr marL="0" indent="0" algn="r" eaLnBrk="1" hangingPunct="1">
              <a:spcBef>
                <a:spcPct val="0"/>
              </a:spcBef>
              <a:buClrTx/>
              <a:buSzTx/>
              <a:buFont typeface="Arial" panose="020B0604020202020204" pitchFamily="34" charset="0"/>
              <a:buChar char="•"/>
            </a:pPr>
            <a:fld id="{9A0DB2DC-4C9A-4742-B13C-FB6460FD3503}" type="slidenum">
              <a:rPr lang="zh-CN" altLang="zh-CN" sz="1400" dirty="0">
                <a:solidFill>
                  <a:srgbClr val="000000"/>
                </a:solidFill>
              </a:rPr>
              <a:t>8</a:t>
            </a:fld>
            <a:endParaRPr lang="zh-CN" altLang="zh-CN" sz="1400" dirty="0">
              <a:solidFill>
                <a:srgbClr val="000000"/>
              </a:solidFill>
            </a:endParaRPr>
          </a:p>
        </p:txBody>
      </p:sp>
      <p:sp>
        <p:nvSpPr>
          <p:cNvPr id="2" name="Rectangle 3"/>
          <p:cNvSpPr>
            <a:spLocks noGrp="1"/>
          </p:cNvSpPr>
          <p:nvPr>
            <p:ph idx="1"/>
          </p:nvPr>
        </p:nvSpPr>
        <p:spPr>
          <a:xfrm>
            <a:off x="827088" y="1917700"/>
            <a:ext cx="8066087" cy="4824413"/>
          </a:xfrm>
        </p:spPr>
        <p:txBody>
          <a:bodyPr vert="horz" wrap="square" lIns="91440" tIns="45720" rIns="91440" bIns="45720" anchor="t" anchorCtr="0"/>
          <a:lstStyle/>
          <a:p>
            <a:pPr eaLnBrk="1" hangingPunct="1">
              <a:lnSpc>
                <a:spcPct val="90000"/>
              </a:lnSpc>
            </a:pPr>
            <a:r>
              <a:rPr lang="zh-CN" altLang="en-US" sz="2800" b="1" dirty="0"/>
              <a:t>设整型信号量S。</a:t>
            </a:r>
          </a:p>
          <a:p>
            <a:pPr eaLnBrk="1" hangingPunct="1">
              <a:lnSpc>
                <a:spcPct val="90000"/>
              </a:lnSpc>
            </a:pPr>
            <a:r>
              <a:rPr lang="zh-CN" altLang="en-US" sz="2800" b="1" dirty="0"/>
              <a:t>P、V原子操作伪代码：</a:t>
            </a:r>
          </a:p>
          <a:p>
            <a:pPr eaLnBrk="1" hangingPunct="1">
              <a:lnSpc>
                <a:spcPct val="90000"/>
              </a:lnSpc>
              <a:buNone/>
            </a:pPr>
            <a:r>
              <a:rPr lang="zh-CN" altLang="en-US" sz="2800" b="1" dirty="0"/>
              <a:t>P(S){</a:t>
            </a:r>
          </a:p>
          <a:p>
            <a:pPr eaLnBrk="1" hangingPunct="1">
              <a:lnSpc>
                <a:spcPct val="90000"/>
              </a:lnSpc>
              <a:buNone/>
            </a:pPr>
            <a:r>
              <a:rPr lang="zh-CN" altLang="en-US" sz="2800" b="1" dirty="0"/>
              <a:t>		while(S</a:t>
            </a:r>
            <a:r>
              <a:rPr lang="zh-CN" altLang="en-US" sz="2800" b="1" dirty="0">
                <a:latin typeface="Times New Roman" panose="02020603050405020304" pitchFamily="18" charset="0"/>
              </a:rPr>
              <a:t>≤</a:t>
            </a:r>
            <a:r>
              <a:rPr lang="zh-CN" altLang="en-US" sz="2800" b="1" dirty="0"/>
              <a:t>0);     </a:t>
            </a:r>
            <a:r>
              <a:rPr lang="en-US" altLang="zh-CN" sz="2400" b="1" dirty="0"/>
              <a:t>/*</a:t>
            </a:r>
            <a:r>
              <a:rPr lang="zh-CN" altLang="en-US" sz="2400" b="1" dirty="0"/>
              <a:t>不执行任何操作</a:t>
            </a:r>
            <a:r>
              <a:rPr lang="en-US" altLang="zh-CN" sz="2400" b="1" dirty="0"/>
              <a:t>*/</a:t>
            </a:r>
            <a:r>
              <a:rPr lang="zh-CN" altLang="en-US" sz="2400" b="1" dirty="0"/>
              <a:t>	</a:t>
            </a:r>
            <a:r>
              <a:rPr lang="zh-CN" altLang="en-US" sz="2800" b="1" dirty="0"/>
              <a:t> </a:t>
            </a:r>
          </a:p>
          <a:p>
            <a:pPr eaLnBrk="1" hangingPunct="1">
              <a:lnSpc>
                <a:spcPct val="90000"/>
              </a:lnSpc>
              <a:buNone/>
            </a:pPr>
            <a:r>
              <a:rPr lang="zh-CN" altLang="en-US" sz="2800" b="1" dirty="0"/>
              <a:t>		S--;</a:t>
            </a:r>
          </a:p>
          <a:p>
            <a:pPr eaLnBrk="1" hangingPunct="1">
              <a:lnSpc>
                <a:spcPct val="90000"/>
              </a:lnSpc>
              <a:buNone/>
            </a:pPr>
            <a:r>
              <a:rPr lang="zh-CN" altLang="en-US" sz="2800" b="1" dirty="0"/>
              <a:t>}</a:t>
            </a:r>
          </a:p>
          <a:p>
            <a:pPr eaLnBrk="1" hangingPunct="1">
              <a:lnSpc>
                <a:spcPct val="90000"/>
              </a:lnSpc>
              <a:buNone/>
            </a:pPr>
            <a:endParaRPr lang="zh-CN" altLang="en-US" sz="2800" b="1" dirty="0"/>
          </a:p>
          <a:p>
            <a:pPr eaLnBrk="1" hangingPunct="1">
              <a:lnSpc>
                <a:spcPct val="90000"/>
              </a:lnSpc>
              <a:buNone/>
            </a:pPr>
            <a:r>
              <a:rPr lang="zh-CN" altLang="en-US" sz="2800" b="1" dirty="0"/>
              <a:t>V(S){</a:t>
            </a:r>
          </a:p>
          <a:p>
            <a:pPr eaLnBrk="1" hangingPunct="1">
              <a:lnSpc>
                <a:spcPct val="90000"/>
              </a:lnSpc>
              <a:buNone/>
            </a:pPr>
            <a:r>
              <a:rPr lang="zh-CN" altLang="en-US" sz="2800" b="1" dirty="0"/>
              <a:t>		S++;</a:t>
            </a:r>
          </a:p>
          <a:p>
            <a:pPr eaLnBrk="1" hangingPunct="1">
              <a:lnSpc>
                <a:spcPct val="90000"/>
              </a:lnSpc>
              <a:buNone/>
            </a:pPr>
            <a:r>
              <a:rPr lang="zh-CN" altLang="en-US" sz="2800" b="1" dirty="0"/>
              <a:t>}</a:t>
            </a:r>
          </a:p>
        </p:txBody>
      </p:sp>
      <p:sp>
        <p:nvSpPr>
          <p:cNvPr id="35844" name="AutoShape 4"/>
          <p:cNvSpPr/>
          <p:nvPr/>
        </p:nvSpPr>
        <p:spPr>
          <a:xfrm>
            <a:off x="5651500" y="2449513"/>
            <a:ext cx="2879725" cy="577850"/>
          </a:xfrm>
          <a:prstGeom prst="wedgeRoundRectCallout">
            <a:avLst>
              <a:gd name="adj1" fmla="val -104398"/>
              <a:gd name="adj2" fmla="val 101014"/>
              <a:gd name="adj3" fmla="val 16667"/>
            </a:avLst>
          </a:prstGeom>
          <a:solidFill>
            <a:srgbClr val="FFCC00"/>
          </a:solid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eaLnBrk="1" hangingPunct="1">
              <a:buClr>
                <a:srgbClr val="3333CC"/>
              </a:buClr>
              <a:buNone/>
            </a:pPr>
            <a:r>
              <a:rPr lang="zh-CN" altLang="en-US" sz="2400" b="1" dirty="0">
                <a:solidFill>
                  <a:srgbClr val="000000"/>
                </a:solidFill>
              </a:rPr>
              <a:t>仍然造成</a:t>
            </a:r>
            <a:r>
              <a:rPr lang="zh-CN" altLang="zh-CN" sz="2400" b="1" dirty="0">
                <a:solidFill>
                  <a:srgbClr val="000000"/>
                </a:solidFill>
              </a:rPr>
              <a:t>CPU</a:t>
            </a:r>
            <a:r>
              <a:rPr lang="zh-CN" altLang="en-US" sz="2400" b="1" dirty="0">
                <a:solidFill>
                  <a:srgbClr val="000000"/>
                </a:solidFill>
              </a:rPr>
              <a:t>忙等</a:t>
            </a:r>
          </a:p>
        </p:txBody>
      </p:sp>
      <p:sp>
        <p:nvSpPr>
          <p:cNvPr id="23557" name="Rectangle 2"/>
          <p:cNvSpPr txBox="1"/>
          <p:nvPr/>
        </p:nvSpPr>
        <p:spPr>
          <a:xfrm>
            <a:off x="1150938" y="333375"/>
            <a:ext cx="7793037" cy="11430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0"/>
              </a:spcBef>
              <a:buClrTx/>
              <a:buSzTx/>
              <a:buNone/>
            </a:pPr>
            <a:r>
              <a:rPr lang="en-US" altLang="zh-CN" sz="4400" b="1" dirty="0">
                <a:solidFill>
                  <a:srgbClr val="333399"/>
                </a:solidFill>
              </a:rPr>
              <a:t>1</a:t>
            </a:r>
            <a:r>
              <a:rPr lang="zh-CN" altLang="zh-CN" sz="4400" b="1" dirty="0">
                <a:solidFill>
                  <a:srgbClr val="333399"/>
                </a:solidFill>
              </a:rPr>
              <a:t>. </a:t>
            </a:r>
            <a:r>
              <a:rPr lang="zh-CN" altLang="en-US" sz="4400" b="1" dirty="0">
                <a:solidFill>
                  <a:srgbClr val="333399"/>
                </a:solidFill>
              </a:rPr>
              <a:t>整型信号量</a:t>
            </a:r>
            <a:endParaRPr lang="zh-CN" altLang="zh-CN" sz="4400" b="1" dirty="0">
              <a:solidFill>
                <a:srgbClr val="3333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blinds(horizontal)">
                                      <p:cBhvr>
                                        <p:cTn id="20" dur="500"/>
                                        <p:tgtEl>
                                          <p:spTgt spid="2">
                                            <p:txEl>
                                              <p:pRg st="3" end="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blinds(horizontal)">
                                      <p:cBhvr>
                                        <p:cTn id="23" dur="500"/>
                                        <p:tgtEl>
                                          <p:spTgt spid="2">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blinds(horizontal)">
                                      <p:cBhvr>
                                        <p:cTn id="26" dur="500"/>
                                        <p:tgtEl>
                                          <p:spTgt spid="2">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Effect transition="in" filter="blinds(horizontal)">
                                      <p:cBhvr>
                                        <p:cTn id="31" dur="500"/>
                                        <p:tgtEl>
                                          <p:spTgt spid="2">
                                            <p:txEl>
                                              <p:pRg st="7" end="7"/>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2">
                                            <p:txEl>
                                              <p:pRg st="8" end="8"/>
                                            </p:txEl>
                                          </p:spTgt>
                                        </p:tgtEl>
                                        <p:attrNameLst>
                                          <p:attrName>style.visibility</p:attrName>
                                        </p:attrNameLst>
                                      </p:cBhvr>
                                      <p:to>
                                        <p:strVal val="visible"/>
                                      </p:to>
                                    </p:set>
                                    <p:animEffect transition="in" filter="blinds(horizontal)">
                                      <p:cBhvr>
                                        <p:cTn id="34" dur="500"/>
                                        <p:tgtEl>
                                          <p:spTgt spid="2">
                                            <p:txEl>
                                              <p:pRg st="8" end="8"/>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2">
                                            <p:txEl>
                                              <p:pRg st="9" end="9"/>
                                            </p:txEl>
                                          </p:spTgt>
                                        </p:tgtEl>
                                        <p:attrNameLst>
                                          <p:attrName>style.visibility</p:attrName>
                                        </p:attrNameLst>
                                      </p:cBhvr>
                                      <p:to>
                                        <p:strVal val="visible"/>
                                      </p:to>
                                    </p:set>
                                    <p:animEffect transition="in" filter="blinds(horizontal)">
                                      <p:cBhvr>
                                        <p:cTn id="37" dur="500"/>
                                        <p:tgtEl>
                                          <p:spTgt spid="2">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5844"/>
                                        </p:tgtEl>
                                        <p:attrNameLst>
                                          <p:attrName>style.visibility</p:attrName>
                                        </p:attrNameLst>
                                      </p:cBhvr>
                                      <p:to>
                                        <p:strVal val="visible"/>
                                      </p:to>
                                    </p:set>
                                    <p:animEffect transition="in" filter="blinds(horizontal)">
                                      <p:cBhvr>
                                        <p:cTn id="42" dur="500"/>
                                        <p:tgtEl>
                                          <p:spTgt spid="35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5844"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txBox="1">
            <a:spLocks noGrp="1"/>
          </p:cNvSpPr>
          <p:nvPr>
            <p:ph type="sldNum" sz="quarter" idx="12"/>
          </p:nvPr>
        </p:nvSpPr>
        <p:spPr/>
        <p:txBody>
          <a:bodyPr anchor="b" anchorCtr="0"/>
          <a:lstStyle/>
          <a:p>
            <a:pPr marL="0" indent="0" algn="r" eaLnBrk="1" hangingPunct="1">
              <a:spcBef>
                <a:spcPct val="0"/>
              </a:spcBef>
              <a:buClrTx/>
              <a:buSzTx/>
              <a:buFont typeface="Arial" panose="020B0604020202020204" pitchFamily="34" charset="0"/>
              <a:buChar char="•"/>
            </a:pPr>
            <a:fld id="{9A0DB2DC-4C9A-4742-B13C-FB6460FD3503}" type="slidenum">
              <a:rPr lang="zh-CN" altLang="zh-CN" sz="1400" dirty="0">
                <a:solidFill>
                  <a:srgbClr val="000000"/>
                </a:solidFill>
              </a:rPr>
              <a:t>9</a:t>
            </a:fld>
            <a:endParaRPr lang="zh-CN" altLang="zh-CN" sz="1400" dirty="0">
              <a:solidFill>
                <a:srgbClr val="000000"/>
              </a:solidFill>
            </a:endParaRPr>
          </a:p>
        </p:txBody>
      </p:sp>
      <p:sp>
        <p:nvSpPr>
          <p:cNvPr id="24579" name="Rectangle 2"/>
          <p:cNvSpPr>
            <a:spLocks noGrp="1"/>
          </p:cNvSpPr>
          <p:nvPr>
            <p:ph type="title"/>
          </p:nvPr>
        </p:nvSpPr>
        <p:spPr>
          <a:xfrm>
            <a:off x="1150938" y="333375"/>
            <a:ext cx="7793037" cy="1143000"/>
          </a:xfrm>
        </p:spPr>
        <p:txBody>
          <a:bodyPr vert="horz" wrap="square" lIns="91440" tIns="45720" rIns="91440" bIns="45720" anchor="b" anchorCtr="0"/>
          <a:lstStyle/>
          <a:p>
            <a:pPr eaLnBrk="1" hangingPunct="1"/>
            <a:r>
              <a:rPr lang="zh-CN" altLang="en-US" sz="4000" b="1" dirty="0"/>
              <a:t>利用整型信号量实现互斥</a:t>
            </a:r>
          </a:p>
        </p:txBody>
      </p:sp>
      <p:sp>
        <p:nvSpPr>
          <p:cNvPr id="2" name="Rectangle 3"/>
          <p:cNvSpPr>
            <a:spLocks noGrp="1"/>
          </p:cNvSpPr>
          <p:nvPr>
            <p:ph idx="1"/>
          </p:nvPr>
        </p:nvSpPr>
        <p:spPr>
          <a:xfrm>
            <a:off x="900113" y="1844675"/>
            <a:ext cx="7993062" cy="3687763"/>
          </a:xfrm>
        </p:spPr>
        <p:txBody>
          <a:bodyPr vert="horz" wrap="square" lIns="91440" tIns="45720" rIns="91440" bIns="45720" anchor="t" anchorCtr="0"/>
          <a:lstStyle/>
          <a:p>
            <a:pPr eaLnBrk="1" hangingPunct="1"/>
            <a:r>
              <a:rPr lang="zh-CN" altLang="en-US" sz="2800" b="1" dirty="0"/>
              <a:t>利用整型信号量实现互斥，如，</a:t>
            </a:r>
            <a:r>
              <a:rPr lang="zh-CN" altLang="zh-CN" sz="2800" b="1" dirty="0"/>
              <a:t>10</a:t>
            </a:r>
            <a:r>
              <a:rPr lang="zh-CN" altLang="en-US" sz="2800" b="1" dirty="0"/>
              <a:t>个售票窗口出售同一车次的票。</a:t>
            </a:r>
          </a:p>
          <a:p>
            <a:pPr eaLnBrk="1" hangingPunct="1"/>
            <a:r>
              <a:rPr lang="zh-CN" altLang="en-US" sz="2800" b="1" dirty="0"/>
              <a:t>互斥操作时，可创建信号量</a:t>
            </a:r>
            <a:r>
              <a:rPr lang="zh-CN" altLang="zh-CN" sz="2800" b="1" dirty="0"/>
              <a:t>mutex</a:t>
            </a:r>
            <a:r>
              <a:rPr lang="zh-CN" altLang="en-US" sz="2800" b="1" dirty="0"/>
              <a:t>，初始化为</a:t>
            </a:r>
            <a:r>
              <a:rPr lang="zh-CN" altLang="zh-CN" sz="2800" b="1" dirty="0"/>
              <a:t>1。</a:t>
            </a:r>
          </a:p>
          <a:p>
            <a:pPr eaLnBrk="1" hangingPunct="1"/>
            <a:r>
              <a:rPr lang="zh-CN" altLang="en-US" sz="2800" b="1" dirty="0"/>
              <a:t>利用信号量实现互斥的伪代码：</a:t>
            </a:r>
          </a:p>
          <a:p>
            <a:pPr eaLnBrk="1" hangingPunct="1"/>
            <a:endParaRPr lang="zh-CN" altLang="en-US" sz="2800" b="1" dirty="0"/>
          </a:p>
          <a:p>
            <a:pPr eaLnBrk="1" hangingPunct="1">
              <a:buNone/>
            </a:pPr>
            <a:r>
              <a:rPr lang="zh-CN" altLang="en-US" sz="2800" b="1" dirty="0"/>
              <a:t>                               </a:t>
            </a:r>
            <a:r>
              <a:rPr lang="zh-CN" altLang="zh-CN" sz="2800" b="1" dirty="0">
                <a:latin typeface="Times New Roman" panose="02020603050405020304" pitchFamily="18" charset="0"/>
              </a:rPr>
              <a:t>…</a:t>
            </a:r>
            <a:endParaRPr lang="zh-CN" altLang="zh-CN" sz="2800" b="1" dirty="0"/>
          </a:p>
        </p:txBody>
      </p:sp>
      <p:sp>
        <p:nvSpPr>
          <p:cNvPr id="36868" name="Rectangle 4" descr="画布"/>
          <p:cNvSpPr/>
          <p:nvPr/>
        </p:nvSpPr>
        <p:spPr>
          <a:xfrm>
            <a:off x="1258888" y="3789363"/>
            <a:ext cx="2879725" cy="2895600"/>
          </a:xfrm>
          <a:prstGeom prst="rect">
            <a:avLst/>
          </a:prstGeom>
          <a:blipFill rotWithShape="1">
            <a:blip r:embed="rId2"/>
          </a:blipFill>
          <a:ln w="9525" cap="flat" cmpd="sng">
            <a:solidFill>
              <a:srgbClr val="80008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buClrTx/>
              <a:buSzTx/>
              <a:buFont typeface="Arial" panose="020B0604020202020204" pitchFamily="34" charset="0"/>
              <a:buNone/>
            </a:pPr>
            <a:r>
              <a:rPr lang="zh-CN" altLang="zh-CN" sz="2400" b="1" dirty="0">
                <a:solidFill>
                  <a:srgbClr val="000000"/>
                </a:solidFill>
              </a:rPr>
              <a:t>do{</a:t>
            </a:r>
          </a:p>
          <a:p>
            <a:pPr marL="0" lvl="0" indent="0" eaLnBrk="1" hangingPunct="1">
              <a:buClr>
                <a:srgbClr val="3333CC"/>
              </a:buClr>
              <a:buNone/>
            </a:pPr>
            <a:r>
              <a:rPr lang="zh-CN" altLang="zh-CN" sz="2400" b="1" dirty="0">
                <a:solidFill>
                  <a:srgbClr val="000000"/>
                </a:solidFill>
              </a:rPr>
              <a:t>       </a:t>
            </a:r>
            <a:r>
              <a:rPr lang="zh-CN" altLang="zh-CN" sz="2400" b="1" dirty="0">
                <a:solidFill>
                  <a:srgbClr val="FF0000"/>
                </a:solidFill>
              </a:rPr>
              <a:t> P(mutex);</a:t>
            </a:r>
          </a:p>
          <a:p>
            <a:pPr marL="0" lvl="0" indent="0" eaLnBrk="1" hangingPunct="1">
              <a:buClr>
                <a:srgbClr val="3333CC"/>
              </a:buClr>
              <a:buNone/>
            </a:pPr>
            <a:r>
              <a:rPr lang="zh-CN" altLang="zh-CN" sz="2400" b="1" dirty="0">
                <a:solidFill>
                  <a:srgbClr val="FF0000"/>
                </a:solidFill>
              </a:rPr>
              <a:t>        </a:t>
            </a:r>
            <a:r>
              <a:rPr lang="zh-CN" altLang="en-US" sz="2400" b="1" dirty="0">
                <a:solidFill>
                  <a:srgbClr val="FF0000"/>
                </a:solidFill>
              </a:rPr>
              <a:t>临界区</a:t>
            </a:r>
          </a:p>
          <a:p>
            <a:pPr marL="0" lvl="0" indent="0" eaLnBrk="1" hangingPunct="1">
              <a:buClr>
                <a:srgbClr val="3333CC"/>
              </a:buClr>
              <a:buNone/>
            </a:pPr>
            <a:r>
              <a:rPr lang="zh-CN" altLang="zh-CN" sz="2400" b="1" dirty="0">
                <a:solidFill>
                  <a:srgbClr val="FF0000"/>
                </a:solidFill>
              </a:rPr>
              <a:t>        V(mutex);</a:t>
            </a:r>
          </a:p>
          <a:p>
            <a:pPr marL="0" lvl="0" indent="0" eaLnBrk="1" hangingPunct="1">
              <a:buClr>
                <a:srgbClr val="3333CC"/>
              </a:buClr>
              <a:buNone/>
            </a:pPr>
            <a:r>
              <a:rPr lang="zh-CN" altLang="zh-CN" sz="2400" b="1" dirty="0">
                <a:solidFill>
                  <a:srgbClr val="000000"/>
                </a:solidFill>
              </a:rPr>
              <a:t>       </a:t>
            </a:r>
            <a:r>
              <a:rPr lang="zh-CN" altLang="en-US" sz="2400" b="1" dirty="0">
                <a:solidFill>
                  <a:srgbClr val="000000"/>
                </a:solidFill>
              </a:rPr>
              <a:t>其它代码区</a:t>
            </a:r>
          </a:p>
          <a:p>
            <a:pPr marL="0" lvl="0" indent="0" eaLnBrk="1" hangingPunct="1">
              <a:buClr>
                <a:srgbClr val="3333CC"/>
              </a:buClr>
              <a:buNone/>
            </a:pPr>
            <a:r>
              <a:rPr lang="zh-CN" altLang="zh-CN" sz="2400" b="1" dirty="0">
                <a:solidFill>
                  <a:srgbClr val="000000"/>
                </a:solidFill>
              </a:rPr>
              <a:t>}while(1)</a:t>
            </a:r>
          </a:p>
        </p:txBody>
      </p:sp>
      <p:sp>
        <p:nvSpPr>
          <p:cNvPr id="36869" name="Rectangle 5" descr="画布"/>
          <p:cNvSpPr/>
          <p:nvPr/>
        </p:nvSpPr>
        <p:spPr>
          <a:xfrm>
            <a:off x="4716463" y="3789363"/>
            <a:ext cx="2879725" cy="2895600"/>
          </a:xfrm>
          <a:prstGeom prst="rect">
            <a:avLst/>
          </a:prstGeom>
          <a:blipFill rotWithShape="1">
            <a:blip r:embed="rId2"/>
          </a:blipFill>
          <a:ln w="9525" cap="flat" cmpd="sng">
            <a:solidFill>
              <a:srgbClr val="80008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buClrTx/>
              <a:buSzTx/>
              <a:buFont typeface="Arial" panose="020B0604020202020204" pitchFamily="34" charset="0"/>
              <a:buNone/>
            </a:pPr>
            <a:r>
              <a:rPr lang="zh-CN" altLang="zh-CN" sz="2400" b="1" dirty="0">
                <a:solidFill>
                  <a:srgbClr val="000000"/>
                </a:solidFill>
              </a:rPr>
              <a:t>do{</a:t>
            </a:r>
          </a:p>
          <a:p>
            <a:pPr marL="0" lvl="0" indent="0" eaLnBrk="1" hangingPunct="1">
              <a:buClr>
                <a:srgbClr val="3333CC"/>
              </a:buClr>
              <a:buNone/>
            </a:pPr>
            <a:r>
              <a:rPr lang="zh-CN" altLang="zh-CN" sz="2400" b="1" dirty="0">
                <a:solidFill>
                  <a:srgbClr val="000000"/>
                </a:solidFill>
              </a:rPr>
              <a:t>      </a:t>
            </a:r>
            <a:r>
              <a:rPr lang="zh-CN" altLang="zh-CN" sz="2400" b="1" dirty="0">
                <a:solidFill>
                  <a:srgbClr val="FF0000"/>
                </a:solidFill>
              </a:rPr>
              <a:t>  P(mutex);</a:t>
            </a:r>
          </a:p>
          <a:p>
            <a:pPr marL="0" lvl="0" indent="0" eaLnBrk="1" hangingPunct="1">
              <a:buClr>
                <a:srgbClr val="3333CC"/>
              </a:buClr>
              <a:buNone/>
            </a:pPr>
            <a:r>
              <a:rPr lang="zh-CN" altLang="zh-CN" sz="2400" b="1" dirty="0">
                <a:solidFill>
                  <a:srgbClr val="FF0000"/>
                </a:solidFill>
              </a:rPr>
              <a:t>        </a:t>
            </a:r>
            <a:r>
              <a:rPr lang="zh-CN" altLang="en-US" sz="2400" b="1" dirty="0">
                <a:solidFill>
                  <a:srgbClr val="FF0000"/>
                </a:solidFill>
              </a:rPr>
              <a:t>临界区</a:t>
            </a:r>
          </a:p>
          <a:p>
            <a:pPr marL="0" lvl="0" indent="0" eaLnBrk="1" hangingPunct="1">
              <a:buClr>
                <a:srgbClr val="3333CC"/>
              </a:buClr>
              <a:buNone/>
            </a:pPr>
            <a:r>
              <a:rPr lang="zh-CN" altLang="zh-CN" sz="2400" b="1" dirty="0">
                <a:solidFill>
                  <a:srgbClr val="FF0000"/>
                </a:solidFill>
              </a:rPr>
              <a:t>        V(mutex);</a:t>
            </a:r>
          </a:p>
          <a:p>
            <a:pPr marL="0" lvl="0" indent="0" eaLnBrk="1" hangingPunct="1">
              <a:buClr>
                <a:srgbClr val="3333CC"/>
              </a:buClr>
              <a:buNone/>
            </a:pPr>
            <a:r>
              <a:rPr lang="zh-CN" altLang="zh-CN" sz="2400" b="1" dirty="0">
                <a:solidFill>
                  <a:srgbClr val="000000"/>
                </a:solidFill>
              </a:rPr>
              <a:t>       </a:t>
            </a:r>
            <a:r>
              <a:rPr lang="zh-CN" altLang="en-US" sz="2400" b="1" dirty="0">
                <a:solidFill>
                  <a:srgbClr val="000000"/>
                </a:solidFill>
              </a:rPr>
              <a:t>其它代码区</a:t>
            </a:r>
          </a:p>
          <a:p>
            <a:pPr marL="0" lvl="0" indent="0" eaLnBrk="1" hangingPunct="1">
              <a:buClr>
                <a:srgbClr val="3333CC"/>
              </a:buClr>
              <a:buNone/>
            </a:pPr>
            <a:r>
              <a:rPr lang="zh-CN" altLang="zh-CN" sz="2400" b="1" dirty="0">
                <a:solidFill>
                  <a:srgbClr val="000000"/>
                </a:solidFill>
              </a:rPr>
              <a:t>}while(1)</a:t>
            </a:r>
          </a:p>
        </p:txBody>
      </p:sp>
      <p:sp>
        <p:nvSpPr>
          <p:cNvPr id="36870" name="Text Box 6" descr="羊皮纸"/>
          <p:cNvSpPr txBox="1"/>
          <p:nvPr/>
        </p:nvSpPr>
        <p:spPr>
          <a:xfrm>
            <a:off x="8101013" y="4071938"/>
            <a:ext cx="576262" cy="1814512"/>
          </a:xfrm>
          <a:prstGeom prst="rect">
            <a:avLst/>
          </a:prstGeom>
          <a:blipFill rotWithShape="0">
            <a:blip r:embed="rId3"/>
          </a:blip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800" b="1" dirty="0">
                <a:solidFill>
                  <a:srgbClr val="FF0000"/>
                </a:solidFill>
              </a:rPr>
              <a:t>忙等问题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6868"/>
                                        </p:tgtEl>
                                        <p:attrNameLst>
                                          <p:attrName>style.visibility</p:attrName>
                                        </p:attrNameLst>
                                      </p:cBhvr>
                                      <p:to>
                                        <p:strVal val="visible"/>
                                      </p:to>
                                    </p:set>
                                    <p:animEffect transition="in" filter="dissolve">
                                      <p:cBhvr>
                                        <p:cTn id="22" dur="500"/>
                                        <p:tgtEl>
                                          <p:spTgt spid="3686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6869"/>
                                        </p:tgtEl>
                                        <p:attrNameLst>
                                          <p:attrName>style.visibility</p:attrName>
                                        </p:attrNameLst>
                                      </p:cBhvr>
                                      <p:to>
                                        <p:strVal val="visible"/>
                                      </p:to>
                                    </p:set>
                                    <p:animEffect transition="in" filter="dissolve">
                                      <p:cBhvr>
                                        <p:cTn id="32" dur="500"/>
                                        <p:tgtEl>
                                          <p:spTgt spid="3686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6870"/>
                                        </p:tgtEl>
                                        <p:attrNameLst>
                                          <p:attrName>style.visibility</p:attrName>
                                        </p:attrNameLst>
                                      </p:cBhvr>
                                      <p:to>
                                        <p:strVal val="visible"/>
                                      </p:to>
                                    </p:set>
                                    <p:animEffect transition="in" filter="blinds(horizontal)">
                                      <p:cBhvr>
                                        <p:cTn id="37" dur="500"/>
                                        <p:tgtEl>
                                          <p:spTgt spid="36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6868" grpId="0" bldLvl="0" animBg="1"/>
      <p:bldP spid="36869" grpId="0" bldLvl="0" animBg="1"/>
      <p:bldP spid="36870"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txBox="1">
            <a:spLocks noGrp="1"/>
          </p:cNvSpPr>
          <p:nvPr>
            <p:ph type="sldNum" sz="quarter" idx="12"/>
          </p:nvPr>
        </p:nvSpPr>
        <p:spPr/>
        <p:txBody>
          <a:bodyPr anchor="b" anchorCtr="0"/>
          <a:lstStyle/>
          <a:p>
            <a:pPr marL="0" indent="0" algn="r" eaLnBrk="1" hangingPunct="1">
              <a:spcBef>
                <a:spcPct val="0"/>
              </a:spcBef>
              <a:buClrTx/>
              <a:buSzTx/>
              <a:buFont typeface="Arial" panose="020B0604020202020204" pitchFamily="34" charset="0"/>
              <a:buChar char="•"/>
            </a:pPr>
            <a:fld id="{9A0DB2DC-4C9A-4742-B13C-FB6460FD3503}" type="slidenum">
              <a:rPr lang="zh-CN" altLang="zh-CN" sz="1400" dirty="0">
                <a:solidFill>
                  <a:srgbClr val="000000"/>
                </a:solidFill>
              </a:rPr>
              <a:t>10</a:t>
            </a:fld>
            <a:endParaRPr lang="zh-CN" altLang="zh-CN" sz="1400" dirty="0">
              <a:solidFill>
                <a:srgbClr val="000000"/>
              </a:solidFill>
            </a:endParaRPr>
          </a:p>
        </p:txBody>
      </p:sp>
      <p:sp>
        <p:nvSpPr>
          <p:cNvPr id="33795" name="Rectangle 2"/>
          <p:cNvSpPr>
            <a:spLocks noGrp="1" noChangeArrowheads="1"/>
          </p:cNvSpPr>
          <p:nvPr>
            <p:ph idx="1"/>
          </p:nvPr>
        </p:nvSpPr>
        <p:spPr>
          <a:xfrm>
            <a:off x="827088" y="2017713"/>
            <a:ext cx="8128000"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3600" b="1" i="0" u="none" strike="noStrike" kern="1200" cap="none" spc="0" normalizeH="0" baseline="0" noProof="0" dirty="0">
                <a:ln>
                  <a:noFill/>
                </a:ln>
                <a:solidFill>
                  <a:schemeClr val="tx1"/>
                </a:solidFill>
                <a:effectLst/>
                <a:uLnTx/>
                <a:uFillTx/>
                <a:latin typeface="+mn-lt"/>
                <a:ea typeface="+mn-ea"/>
                <a:cs typeface="+mn-cs"/>
              </a:rPr>
              <a:t>信号量的实现有三种：</a:t>
            </a:r>
            <a:endParaRPr kumimoji="0" lang="en-US" altLang="zh-CN" sz="36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3200" b="1" i="0" u="none" strike="noStrike" kern="1200" cap="none" spc="0" normalizeH="0" baseline="0" noProof="0" dirty="0">
                <a:ln>
                  <a:noFill/>
                </a:ln>
                <a:solidFill>
                  <a:schemeClr val="folHlink"/>
                </a:solidFill>
                <a:effectLst/>
                <a:uLnTx/>
                <a:uFillTx/>
                <a:latin typeface="+mn-lt"/>
                <a:ea typeface="+mn-ea"/>
                <a:cs typeface="+mn-cs"/>
              </a:rPr>
              <a:t>1. </a:t>
            </a:r>
            <a:r>
              <a:rPr kumimoji="0" lang="zh-CN" altLang="en-US" sz="3200" b="1" i="0" u="none" strike="noStrike" kern="1200" cap="none" spc="0" normalizeH="0" baseline="0" noProof="0" dirty="0">
                <a:ln>
                  <a:noFill/>
                </a:ln>
                <a:solidFill>
                  <a:schemeClr val="folHlink"/>
                </a:solidFill>
                <a:effectLst/>
                <a:uLnTx/>
                <a:uFillTx/>
                <a:latin typeface="+mn-lt"/>
                <a:ea typeface="+mn-ea"/>
                <a:cs typeface="+mn-cs"/>
              </a:rPr>
              <a:t>整型信号量</a:t>
            </a:r>
            <a:r>
              <a:rPr kumimoji="0" lang="zh-CN" altLang="zh-CN"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存在</a:t>
            </a:r>
            <a:r>
              <a:rPr kumimoji="0"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忙等</a:t>
            </a:r>
            <a:r>
              <a:rPr kumimoji="0"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问题</a:t>
            </a:r>
            <a:endParaRPr kumimoji="0" lang="en-US" altLang="zh-CN" sz="3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3200" b="1" i="0" u="none" strike="noStrike" kern="1200" cap="none" spc="0" normalizeH="0" baseline="0" noProof="0" dirty="0">
                <a:ln>
                  <a:noFill/>
                </a:ln>
                <a:solidFill>
                  <a:schemeClr val="folHlink"/>
                </a:solidFill>
                <a:effectLst/>
                <a:uLnTx/>
                <a:uFillTx/>
                <a:latin typeface="+mn-lt"/>
                <a:ea typeface="+mn-ea"/>
                <a:cs typeface="+mn-cs"/>
              </a:rPr>
              <a:t>2. </a:t>
            </a:r>
            <a:r>
              <a:rPr kumimoji="0" lang="zh-CN" altLang="en-US" sz="3200" b="1" i="0" u="none" strike="noStrike" kern="1200" cap="none" spc="0" normalizeH="0" baseline="0" noProof="0" dirty="0">
                <a:ln>
                  <a:noFill/>
                </a:ln>
                <a:solidFill>
                  <a:schemeClr val="folHlink"/>
                </a:solidFill>
                <a:effectLst/>
                <a:uLnTx/>
                <a:uFillTx/>
                <a:latin typeface="+mn-lt"/>
                <a:ea typeface="+mn-ea"/>
                <a:cs typeface="+mn-cs"/>
              </a:rPr>
              <a:t>结构型信号量</a:t>
            </a:r>
            <a:r>
              <a:rPr kumimoji="0" lang="zh-CN" altLang="zh-CN"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解决</a:t>
            </a:r>
            <a:r>
              <a:rPr kumimoji="0"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忙等</a:t>
            </a:r>
            <a:r>
              <a:rPr kumimoji="0"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问题</a:t>
            </a:r>
            <a:endParaRPr kumimoji="0" lang="en-US" altLang="zh-CN" sz="3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3200" b="1" i="0" u="none" strike="noStrike" kern="1200" cap="none" spc="0" normalizeH="0" baseline="0" noProof="0" dirty="0">
                <a:ln>
                  <a:noFill/>
                </a:ln>
                <a:solidFill>
                  <a:schemeClr val="folHlink"/>
                </a:solidFill>
                <a:effectLst/>
                <a:uLnTx/>
                <a:uFillTx/>
                <a:latin typeface="+mn-lt"/>
                <a:ea typeface="+mn-ea"/>
                <a:cs typeface="+mn-cs"/>
              </a:rPr>
              <a:t>3. </a:t>
            </a:r>
            <a:r>
              <a:rPr kumimoji="0" lang="zh-CN" altLang="en-US" sz="3200" b="1" i="0" u="none" strike="noStrike" kern="1200" cap="none" spc="0" normalizeH="0" baseline="0" noProof="0" dirty="0">
                <a:ln>
                  <a:noFill/>
                </a:ln>
                <a:solidFill>
                  <a:schemeClr val="folHlink"/>
                </a:solidFill>
                <a:effectLst/>
                <a:uLnTx/>
                <a:uFillTx/>
                <a:latin typeface="+mn-lt"/>
                <a:ea typeface="+mn-ea"/>
                <a:cs typeface="+mn-cs"/>
              </a:rPr>
              <a:t>二值信号量</a:t>
            </a:r>
            <a:r>
              <a:rPr kumimoji="0" lang="zh-CN" altLang="zh-CN"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结构型信号量的特殊情况</a:t>
            </a:r>
          </a:p>
        </p:txBody>
      </p:sp>
      <p:sp>
        <p:nvSpPr>
          <p:cNvPr id="25604" name="Rectangle 2"/>
          <p:cNvSpPr txBox="1"/>
          <p:nvPr/>
        </p:nvSpPr>
        <p:spPr>
          <a:xfrm>
            <a:off x="1150938" y="333375"/>
            <a:ext cx="7793037" cy="11430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0"/>
              </a:spcBef>
              <a:buClrTx/>
              <a:buSzTx/>
              <a:buNone/>
            </a:pPr>
            <a:r>
              <a:rPr lang="zh-CN" altLang="zh-CN" sz="4400" b="1" dirty="0">
                <a:solidFill>
                  <a:srgbClr val="333399"/>
                </a:solidFill>
              </a:rPr>
              <a:t>2.5.4 </a:t>
            </a:r>
            <a:r>
              <a:rPr lang="zh-CN" altLang="en-US" sz="4400" b="1" dirty="0">
                <a:solidFill>
                  <a:srgbClr val="333399"/>
                </a:solidFill>
              </a:rPr>
              <a:t>信号量</a:t>
            </a:r>
            <a:r>
              <a:rPr lang="zh-CN" altLang="zh-CN" sz="4400" b="1" dirty="0">
                <a:solidFill>
                  <a:srgbClr val="333399"/>
                </a:solidFill>
              </a:rPr>
              <a:t>(semaphore)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00353"/>
          <p:cNvSpPr>
            <a:spLocks noGrp="1"/>
          </p:cNvSpPr>
          <p:nvPr>
            <p:ph type="title"/>
          </p:nvPr>
        </p:nvSpPr>
        <p:spPr>
          <a:xfrm>
            <a:off x="971550" y="692150"/>
            <a:ext cx="7793038" cy="839788"/>
          </a:xfrm>
        </p:spPr>
        <p:txBody>
          <a:bodyPr vert="horz" wrap="square" lIns="91440" tIns="45720" rIns="91440" bIns="45720" anchor="b" anchorCtr="0"/>
          <a:lstStyle/>
          <a:p>
            <a:pPr eaLnBrk="1" hangingPunct="1"/>
            <a:r>
              <a:rPr lang="en-US" altLang="zh-CN" b="1" dirty="0"/>
              <a:t>2.5.4  </a:t>
            </a:r>
            <a:r>
              <a:rPr lang="zh-CN" altLang="en-US" b="1" dirty="0"/>
              <a:t>信号量</a:t>
            </a:r>
            <a:endParaRPr lang="zh-CN" altLang="en-US" dirty="0"/>
          </a:p>
        </p:txBody>
      </p:sp>
      <p:sp>
        <p:nvSpPr>
          <p:cNvPr id="100355" name="内容占位符 100354"/>
          <p:cNvSpPr>
            <a:spLocks noGrp="1"/>
          </p:cNvSpPr>
          <p:nvPr>
            <p:ph idx="1"/>
          </p:nvPr>
        </p:nvSpPr>
        <p:spPr>
          <a:xfrm>
            <a:off x="611188" y="1773238"/>
            <a:ext cx="8229600" cy="4476750"/>
          </a:xfrm>
        </p:spPr>
        <p:txBody>
          <a:bodyPr vert="horz" wrap="square" lIns="91440" tIns="45720" rIns="91440" bIns="45720" anchor="t" anchorCtr="0"/>
          <a:lstStyle/>
          <a:p>
            <a:pPr eaLnBrk="1" hangingPunct="1">
              <a:buNone/>
            </a:pPr>
            <a:r>
              <a:rPr lang="en-US" altLang="zh-CN" b="1" dirty="0"/>
              <a:t>2</a:t>
            </a:r>
            <a:r>
              <a:rPr lang="zh-CN" altLang="en-US" b="1" dirty="0"/>
              <a:t>．结构型信号量</a:t>
            </a:r>
          </a:p>
          <a:p>
            <a:pPr eaLnBrk="1" hangingPunct="1"/>
            <a:r>
              <a:rPr lang="zh-CN" altLang="en-US" sz="2800" b="1" dirty="0">
                <a:solidFill>
                  <a:schemeClr val="hlink"/>
                </a:solidFill>
              </a:rPr>
              <a:t>结构型信号量</a:t>
            </a:r>
            <a:r>
              <a:rPr lang="zh-CN" altLang="en-US" sz="2800" dirty="0"/>
              <a:t>一般是由两个成员组成的数据结构。其中一个成员是整型变量，</a:t>
            </a:r>
            <a:r>
              <a:rPr lang="zh-CN" altLang="en-US" sz="2800" dirty="0">
                <a:solidFill>
                  <a:schemeClr val="tx2"/>
                </a:solidFill>
              </a:rPr>
              <a:t>表示该信号量的值；另一个是指向</a:t>
            </a:r>
            <a:r>
              <a:rPr lang="en-US" altLang="zh-CN" sz="2800" dirty="0">
                <a:solidFill>
                  <a:schemeClr val="tx2"/>
                </a:solidFill>
              </a:rPr>
              <a:t>PCB</a:t>
            </a:r>
            <a:r>
              <a:rPr lang="zh-CN" altLang="en-US" sz="2800" dirty="0">
                <a:solidFill>
                  <a:schemeClr val="tx2"/>
                </a:solidFill>
              </a:rPr>
              <a:t>的指针。</a:t>
            </a:r>
          </a:p>
          <a:p>
            <a:pPr eaLnBrk="1" hangingPunct="1">
              <a:buNone/>
            </a:pPr>
            <a:r>
              <a:rPr lang="zh-CN" altLang="en-US" dirty="0"/>
              <a:t>        </a:t>
            </a:r>
            <a:r>
              <a:rPr lang="en-US" altLang="zh-CN" dirty="0"/>
              <a:t>typedef struct{</a:t>
            </a:r>
          </a:p>
          <a:p>
            <a:pPr eaLnBrk="1" hangingPunct="1">
              <a:buNone/>
            </a:pPr>
            <a:r>
              <a:rPr lang="en-US" altLang="zh-CN" dirty="0"/>
              <a:t>            int value;</a:t>
            </a:r>
          </a:p>
          <a:p>
            <a:pPr eaLnBrk="1" hangingPunct="1">
              <a:buNone/>
            </a:pPr>
            <a:r>
              <a:rPr lang="en-US" altLang="zh-CN" dirty="0"/>
              <a:t>            struct PCB *list;</a:t>
            </a:r>
          </a:p>
          <a:p>
            <a:pPr eaLnBrk="1" hangingPunct="1">
              <a:buNone/>
            </a:pPr>
            <a:r>
              <a:rPr lang="en-US" altLang="zh-CN" dirty="0"/>
              <a:t>        } semaphore;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100355">
                                            <p:txEl>
                                              <p:pRg st="1" end="1"/>
                                            </p:txEl>
                                          </p:spTgt>
                                        </p:tgtEl>
                                        <p:attrNameLst>
                                          <p:attrName>style.visibility</p:attrName>
                                        </p:attrNameLst>
                                      </p:cBhvr>
                                      <p:to>
                                        <p:strVal val="visible"/>
                                      </p:to>
                                    </p:set>
                                    <p:animEffect transition="in" filter="checkerboard(across)">
                                      <p:cBhvr>
                                        <p:cTn id="7" dur="500"/>
                                        <p:tgtEl>
                                          <p:spTgt spid="10035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00355">
                                            <p:txEl>
                                              <p:pRg st="2" end="2"/>
                                            </p:txEl>
                                          </p:spTgt>
                                        </p:tgtEl>
                                        <p:attrNameLst>
                                          <p:attrName>style.visibility</p:attrName>
                                        </p:attrNameLst>
                                      </p:cBhvr>
                                      <p:to>
                                        <p:strVal val="visible"/>
                                      </p:to>
                                    </p:set>
                                    <p:animEffect transition="in" filter="slide(fromBottom)">
                                      <p:cBhvr>
                                        <p:cTn id="12" dur="500"/>
                                        <p:tgtEl>
                                          <p:spTgt spid="100355">
                                            <p:txEl>
                                              <p:pRg st="2" end="2"/>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100355">
                                            <p:txEl>
                                              <p:pRg st="3" end="3"/>
                                            </p:txEl>
                                          </p:spTgt>
                                        </p:tgtEl>
                                        <p:attrNameLst>
                                          <p:attrName>style.visibility</p:attrName>
                                        </p:attrNameLst>
                                      </p:cBhvr>
                                      <p:to>
                                        <p:strVal val="visible"/>
                                      </p:to>
                                    </p:set>
                                    <p:animEffect transition="in" filter="slide(fromBottom)">
                                      <p:cBhvr>
                                        <p:cTn id="15" dur="500"/>
                                        <p:tgtEl>
                                          <p:spTgt spid="100355">
                                            <p:txEl>
                                              <p:pRg st="3" end="3"/>
                                            </p:txEl>
                                          </p:spTgt>
                                        </p:tgtEl>
                                      </p:cBhvr>
                                    </p:animEffect>
                                  </p:childTnLst>
                                </p:cTn>
                              </p:par>
                              <p:par>
                                <p:cTn id="16" presetID="12" presetClass="entr" presetSubtype="4" fill="hold" nodeType="withEffect">
                                  <p:stCondLst>
                                    <p:cond delay="0"/>
                                  </p:stCondLst>
                                  <p:childTnLst>
                                    <p:set>
                                      <p:cBhvr>
                                        <p:cTn id="17" dur="1" fill="hold">
                                          <p:stCondLst>
                                            <p:cond delay="0"/>
                                          </p:stCondLst>
                                        </p:cTn>
                                        <p:tgtEl>
                                          <p:spTgt spid="100355">
                                            <p:txEl>
                                              <p:pRg st="4" end="4"/>
                                            </p:txEl>
                                          </p:spTgt>
                                        </p:tgtEl>
                                        <p:attrNameLst>
                                          <p:attrName>style.visibility</p:attrName>
                                        </p:attrNameLst>
                                      </p:cBhvr>
                                      <p:to>
                                        <p:strVal val="visible"/>
                                      </p:to>
                                    </p:set>
                                    <p:animEffect transition="in" filter="slide(fromBottom)">
                                      <p:cBhvr>
                                        <p:cTn id="18" dur="500"/>
                                        <p:tgtEl>
                                          <p:spTgt spid="100355">
                                            <p:txEl>
                                              <p:pRg st="4" end="4"/>
                                            </p:txEl>
                                          </p:spTgt>
                                        </p:tgtEl>
                                      </p:cBhvr>
                                    </p:animEffect>
                                  </p:childTnLst>
                                </p:cTn>
                              </p:par>
                              <p:par>
                                <p:cTn id="19" presetID="12" presetClass="entr" presetSubtype="4" fill="hold" nodeType="withEffect">
                                  <p:stCondLst>
                                    <p:cond delay="0"/>
                                  </p:stCondLst>
                                  <p:childTnLst>
                                    <p:set>
                                      <p:cBhvr>
                                        <p:cTn id="20" dur="1" fill="hold">
                                          <p:stCondLst>
                                            <p:cond delay="0"/>
                                          </p:stCondLst>
                                        </p:cTn>
                                        <p:tgtEl>
                                          <p:spTgt spid="100355">
                                            <p:txEl>
                                              <p:pRg st="5" end="5"/>
                                            </p:txEl>
                                          </p:spTgt>
                                        </p:tgtEl>
                                        <p:attrNameLst>
                                          <p:attrName>style.visibility</p:attrName>
                                        </p:attrNameLst>
                                      </p:cBhvr>
                                      <p:to>
                                        <p:strVal val="visible"/>
                                      </p:to>
                                    </p:set>
                                    <p:animEffect transition="in" filter="slide(fromBottom)">
                                      <p:cBhvr>
                                        <p:cTn id="21" dur="500"/>
                                        <p:tgtEl>
                                          <p:spTgt spid="1003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01377"/>
          <p:cNvSpPr>
            <a:spLocks noGrp="1"/>
          </p:cNvSpPr>
          <p:nvPr>
            <p:ph type="title"/>
          </p:nvPr>
        </p:nvSpPr>
        <p:spPr/>
        <p:txBody>
          <a:bodyPr vert="horz" wrap="square" lIns="91440" tIns="45720" rIns="91440" bIns="45720" anchor="b" anchorCtr="0"/>
          <a:lstStyle/>
          <a:p>
            <a:pPr eaLnBrk="1" hangingPunct="1"/>
            <a:r>
              <a:rPr lang="en-US" altLang="zh-CN" b="1" dirty="0"/>
              <a:t>2.5.4  </a:t>
            </a:r>
            <a:r>
              <a:rPr lang="zh-CN" altLang="en-US" b="1" dirty="0"/>
              <a:t>信号量</a:t>
            </a:r>
            <a:br>
              <a:rPr lang="zh-CN" altLang="en-US" dirty="0"/>
            </a:br>
            <a:endParaRPr lang="zh-CN" altLang="en-US" dirty="0"/>
          </a:p>
        </p:txBody>
      </p:sp>
      <p:sp>
        <p:nvSpPr>
          <p:cNvPr id="28675" name="文本占位符 101378"/>
          <p:cNvSpPr>
            <a:spLocks noGrp="1"/>
          </p:cNvSpPr>
          <p:nvPr>
            <p:ph idx="1"/>
          </p:nvPr>
        </p:nvSpPr>
        <p:spPr>
          <a:xfrm>
            <a:off x="466725" y="3573463"/>
            <a:ext cx="8229600" cy="2952750"/>
          </a:xfrm>
        </p:spPr>
        <p:txBody>
          <a:bodyPr vert="horz" wrap="square" lIns="91440" tIns="45720" rIns="91440" bIns="45720" anchor="t" anchorCtr="0"/>
          <a:lstStyle/>
          <a:p>
            <a:pPr eaLnBrk="1" hangingPunct="1">
              <a:lnSpc>
                <a:spcPct val="80000"/>
              </a:lnSpc>
            </a:pPr>
            <a:r>
              <a:rPr lang="en-US" altLang="zh-CN" sz="2400" dirty="0"/>
              <a:t> </a:t>
            </a:r>
            <a:r>
              <a:rPr lang="zh-CN" altLang="en-US" sz="2400" b="1" dirty="0"/>
              <a:t>信号量的值与相应资源的使用情况有关。</a:t>
            </a:r>
          </a:p>
          <a:p>
            <a:pPr eaLnBrk="1" hangingPunct="1">
              <a:lnSpc>
                <a:spcPct val="80000"/>
              </a:lnSpc>
              <a:buNone/>
            </a:pPr>
            <a:r>
              <a:rPr lang="zh-CN" altLang="en-US" sz="2400" b="1" dirty="0"/>
              <a:t>   当它的值</a:t>
            </a:r>
            <a:r>
              <a:rPr lang="zh-CN" altLang="en-US" sz="2400" b="1" dirty="0">
                <a:solidFill>
                  <a:schemeClr val="tx2"/>
                </a:solidFill>
              </a:rPr>
              <a:t>大于</a:t>
            </a:r>
            <a:r>
              <a:rPr lang="en-US" altLang="zh-CN" sz="2400" b="1" dirty="0">
                <a:solidFill>
                  <a:schemeClr val="tx2"/>
                </a:solidFill>
              </a:rPr>
              <a:t>0</a:t>
            </a:r>
            <a:r>
              <a:rPr lang="zh-CN" altLang="en-US" sz="2400" b="1" dirty="0"/>
              <a:t>，表示当前可用</a:t>
            </a:r>
            <a:r>
              <a:rPr lang="zh-CN" altLang="en-US" sz="2400" b="1" dirty="0">
                <a:solidFill>
                  <a:schemeClr val="tx2"/>
                </a:solidFill>
              </a:rPr>
              <a:t>资源的数量</a:t>
            </a:r>
            <a:r>
              <a:rPr lang="zh-CN" altLang="en-US" sz="2400" b="1" dirty="0"/>
              <a:t>；</a:t>
            </a:r>
          </a:p>
          <a:p>
            <a:pPr eaLnBrk="1" hangingPunct="1">
              <a:lnSpc>
                <a:spcPct val="80000"/>
              </a:lnSpc>
              <a:buNone/>
            </a:pPr>
            <a:r>
              <a:rPr lang="zh-CN" altLang="en-US" sz="2400" b="1" dirty="0"/>
              <a:t>   当它的值</a:t>
            </a:r>
            <a:r>
              <a:rPr lang="zh-CN" altLang="en-US" sz="2400" b="1" dirty="0">
                <a:solidFill>
                  <a:schemeClr val="tx2"/>
                </a:solidFill>
              </a:rPr>
              <a:t>小于</a:t>
            </a:r>
            <a:r>
              <a:rPr lang="en-US" altLang="zh-CN" sz="2400" b="1" dirty="0">
                <a:solidFill>
                  <a:schemeClr val="tx2"/>
                </a:solidFill>
              </a:rPr>
              <a:t>0</a:t>
            </a:r>
            <a:r>
              <a:rPr lang="zh-CN" altLang="en-US" sz="2400" b="1" dirty="0"/>
              <a:t>时，其绝对值表示等待使用该资源进程的   数目，即该信号量队列上</a:t>
            </a:r>
            <a:r>
              <a:rPr lang="zh-CN" altLang="en-US" sz="2400" b="1" dirty="0">
                <a:solidFill>
                  <a:schemeClr val="tx2"/>
                </a:solidFill>
              </a:rPr>
              <a:t>排队的</a:t>
            </a:r>
            <a:r>
              <a:rPr lang="en-US" altLang="zh-CN" sz="2400" b="1" dirty="0">
                <a:solidFill>
                  <a:schemeClr val="tx2"/>
                </a:solidFill>
              </a:rPr>
              <a:t>PCB</a:t>
            </a:r>
            <a:r>
              <a:rPr lang="zh-CN" altLang="en-US" sz="2400" b="1" dirty="0">
                <a:solidFill>
                  <a:schemeClr val="tx2"/>
                </a:solidFill>
              </a:rPr>
              <a:t>的个数</a:t>
            </a:r>
            <a:r>
              <a:rPr lang="zh-CN" altLang="en-US" sz="2400" b="1" dirty="0"/>
              <a:t>。</a:t>
            </a:r>
          </a:p>
          <a:p>
            <a:pPr eaLnBrk="1" hangingPunct="1">
              <a:lnSpc>
                <a:spcPct val="80000"/>
              </a:lnSpc>
            </a:pPr>
            <a:endParaRPr lang="zh-CN" altLang="en-US" sz="2400" dirty="0"/>
          </a:p>
          <a:p>
            <a:pPr eaLnBrk="1" hangingPunct="1">
              <a:lnSpc>
                <a:spcPct val="80000"/>
              </a:lnSpc>
            </a:pPr>
            <a:r>
              <a:rPr lang="zh-CN" altLang="en-US" sz="2400" dirty="0">
                <a:solidFill>
                  <a:srgbClr val="21A77A"/>
                </a:solidFill>
              </a:rPr>
              <a:t>对信号量的操作有如下严格限制：</a:t>
            </a:r>
          </a:p>
          <a:p>
            <a:pPr eaLnBrk="1" hangingPunct="1">
              <a:lnSpc>
                <a:spcPct val="80000"/>
              </a:lnSpc>
            </a:pPr>
            <a:r>
              <a:rPr lang="en-US" altLang="zh-CN" sz="2400" b="1" dirty="0">
                <a:solidFill>
                  <a:srgbClr val="21A77A"/>
                </a:solidFill>
              </a:rPr>
              <a:t>1. </a:t>
            </a:r>
            <a:r>
              <a:rPr lang="zh-CN" altLang="en-US" sz="2400" b="1" dirty="0">
                <a:solidFill>
                  <a:srgbClr val="21A77A"/>
                </a:solidFill>
              </a:rPr>
              <a:t>信号量可以赋初值，且初值为非负数。</a:t>
            </a:r>
          </a:p>
          <a:p>
            <a:pPr eaLnBrk="1" hangingPunct="1">
              <a:lnSpc>
                <a:spcPct val="80000"/>
              </a:lnSpc>
            </a:pPr>
            <a:r>
              <a:rPr lang="en-US" altLang="zh-CN" sz="2400" b="1" dirty="0">
                <a:solidFill>
                  <a:srgbClr val="21A77A"/>
                </a:solidFill>
              </a:rPr>
              <a:t>2. </a:t>
            </a:r>
            <a:r>
              <a:rPr lang="zh-CN" altLang="en-US" sz="2400" b="1" dirty="0">
                <a:solidFill>
                  <a:srgbClr val="21A77A"/>
                </a:solidFill>
              </a:rPr>
              <a:t>信号量的值可以修改，但只能由</a:t>
            </a:r>
            <a:r>
              <a:rPr lang="en-US" altLang="zh-CN" sz="2400" b="1" dirty="0">
                <a:solidFill>
                  <a:srgbClr val="21A77A"/>
                </a:solidFill>
              </a:rPr>
              <a:t>P</a:t>
            </a:r>
            <a:r>
              <a:rPr lang="zh-CN" altLang="en-US" sz="2400" b="1" dirty="0">
                <a:solidFill>
                  <a:srgbClr val="21A77A"/>
                </a:solidFill>
              </a:rPr>
              <a:t>和</a:t>
            </a:r>
            <a:r>
              <a:rPr lang="en-US" altLang="zh-CN" sz="2400" b="1" dirty="0">
                <a:solidFill>
                  <a:srgbClr val="21A77A"/>
                </a:solidFill>
              </a:rPr>
              <a:t>V</a:t>
            </a:r>
            <a:r>
              <a:rPr lang="zh-CN" altLang="en-US" sz="2400" b="1" dirty="0">
                <a:solidFill>
                  <a:srgbClr val="21A77A"/>
                </a:solidFill>
              </a:rPr>
              <a:t>操作来访问。</a:t>
            </a:r>
            <a:r>
              <a:rPr lang="zh-CN" altLang="en-US" sz="2400" b="1" dirty="0">
                <a:solidFill>
                  <a:schemeClr val="hlink"/>
                </a:solidFill>
              </a:rPr>
              <a:t> </a:t>
            </a:r>
          </a:p>
        </p:txBody>
      </p:sp>
      <p:pic>
        <p:nvPicPr>
          <p:cNvPr id="28676" name="图片 101379" descr="t217"/>
          <p:cNvPicPr>
            <a:picLocks noChangeAspect="1"/>
          </p:cNvPicPr>
          <p:nvPr/>
        </p:nvPicPr>
        <p:blipFill>
          <a:blip r:embed="rId2"/>
          <a:stretch>
            <a:fillRect/>
          </a:stretch>
        </p:blipFill>
        <p:spPr>
          <a:xfrm>
            <a:off x="1547813" y="1268413"/>
            <a:ext cx="5543550" cy="1692275"/>
          </a:xfrm>
          <a:prstGeom prst="rect">
            <a:avLst/>
          </a:prstGeom>
          <a:noFill/>
          <a:ln w="9525">
            <a:noFill/>
          </a:ln>
        </p:spPr>
      </p:pic>
      <p:sp>
        <p:nvSpPr>
          <p:cNvPr id="28677" name="文本框 101380"/>
          <p:cNvSpPr txBox="1"/>
          <p:nvPr/>
        </p:nvSpPr>
        <p:spPr>
          <a:xfrm>
            <a:off x="2411413" y="3068638"/>
            <a:ext cx="4176712"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1800" dirty="0"/>
              <a:t>图</a:t>
            </a:r>
            <a:r>
              <a:rPr lang="en-US" altLang="zh-CN" sz="1800" dirty="0"/>
              <a:t>2-17  </a:t>
            </a:r>
            <a:r>
              <a:rPr lang="zh-CN" altLang="en-US" sz="1800" dirty="0"/>
              <a:t>信号量的一般结构及</a:t>
            </a:r>
            <a:r>
              <a:rPr lang="en-US" altLang="zh-CN" sz="1800" dirty="0"/>
              <a:t>PCB</a:t>
            </a:r>
            <a:r>
              <a:rPr lang="zh-CN" altLang="en-US" sz="1800" dirty="0"/>
              <a:t>队列 </a:t>
            </a:r>
          </a:p>
        </p:txBody>
      </p:sp>
      <p:sp>
        <p:nvSpPr>
          <p:cNvPr id="101382" name="文本框 101381"/>
          <p:cNvSpPr txBox="1"/>
          <p:nvPr/>
        </p:nvSpPr>
        <p:spPr>
          <a:xfrm>
            <a:off x="466725" y="4221163"/>
            <a:ext cx="835183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457200" lvl="0" indent="-457200" eaLnBrk="1" hangingPunct="1">
              <a:spcBef>
                <a:spcPct val="10000"/>
              </a:spcBef>
              <a:buClrTx/>
              <a:buSzTx/>
              <a:buFont typeface="Arial" panose="020B0604020202020204" pitchFamily="34" charset="0"/>
              <a:buNone/>
            </a:pP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nodePh="1">
                                  <p:stCondLst>
                                    <p:cond delay="0"/>
                                  </p:stCondLst>
                                  <p:endCondLst>
                                    <p:cond delay="0"/>
                                  </p:endCondLst>
                                  <p:childTnLst>
                                    <p:set>
                                      <p:cBhvr>
                                        <p:cTn id="6" dur="1" fill="hold">
                                          <p:stCondLst>
                                            <p:cond delay="0"/>
                                          </p:stCondLst>
                                        </p:cTn>
                                        <p:tgtEl>
                                          <p:spTgt spid="101382">
                                            <p:txEl>
                                              <p:pRg st="0" end="0"/>
                                            </p:txEl>
                                          </p:spTgt>
                                        </p:tgtEl>
                                        <p:attrNameLst>
                                          <p:attrName>style.visibility</p:attrName>
                                        </p:attrNameLst>
                                      </p:cBhvr>
                                      <p:to>
                                        <p:strVal val="visible"/>
                                      </p:to>
                                    </p:set>
                                    <p:animEffect transition="in" filter="blinds(horizontal)">
                                      <p:cBhvr>
                                        <p:cTn id="7" dur="500"/>
                                        <p:tgtEl>
                                          <p:spTgt spid="10138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02401"/>
          <p:cNvSpPr>
            <a:spLocks noGrp="1"/>
          </p:cNvSpPr>
          <p:nvPr>
            <p:ph type="title"/>
          </p:nvPr>
        </p:nvSpPr>
        <p:spPr/>
        <p:txBody>
          <a:bodyPr vert="horz" wrap="square" lIns="91440" tIns="45720" rIns="91440" bIns="45720" anchor="b" anchorCtr="0"/>
          <a:lstStyle/>
          <a:p>
            <a:pPr eaLnBrk="1" hangingPunct="1"/>
            <a:r>
              <a:rPr lang="en-US" altLang="zh-CN" b="1" dirty="0"/>
              <a:t>2.5.4  </a:t>
            </a:r>
            <a:r>
              <a:rPr lang="zh-CN" altLang="en-US" b="1" dirty="0"/>
              <a:t>信号量</a:t>
            </a:r>
            <a:br>
              <a:rPr lang="zh-CN" altLang="en-US" dirty="0"/>
            </a:br>
            <a:endParaRPr lang="zh-CN" altLang="en-US" dirty="0"/>
          </a:p>
        </p:txBody>
      </p:sp>
      <p:sp>
        <p:nvSpPr>
          <p:cNvPr id="102403" name="内容占位符 102402"/>
          <p:cNvSpPr>
            <a:spLocks noGrp="1"/>
          </p:cNvSpPr>
          <p:nvPr>
            <p:ph idx="1"/>
          </p:nvPr>
        </p:nvSpPr>
        <p:spPr>
          <a:xfrm>
            <a:off x="1116013" y="1844675"/>
            <a:ext cx="6408737" cy="4114800"/>
          </a:xfrm>
        </p:spPr>
        <p:txBody>
          <a:bodyPr vert="horz" wrap="square" lIns="91440" tIns="45720" rIns="91440" bIns="45720" anchor="t" anchorCtr="0"/>
          <a:lstStyle/>
          <a:p>
            <a:pPr eaLnBrk="1" hangingPunct="1">
              <a:lnSpc>
                <a:spcPct val="90000"/>
              </a:lnSpc>
            </a:pPr>
            <a:r>
              <a:rPr lang="en-US" altLang="zh-CN" sz="2800" b="1" dirty="0"/>
              <a:t>P</a:t>
            </a:r>
            <a:r>
              <a:rPr lang="zh-CN" altLang="en-US" sz="2800" b="1" dirty="0"/>
              <a:t>操作的定义如下：解决忙等问题。</a:t>
            </a:r>
          </a:p>
          <a:p>
            <a:pPr eaLnBrk="1" hangingPunct="1">
              <a:lnSpc>
                <a:spcPct val="90000"/>
              </a:lnSpc>
              <a:buNone/>
            </a:pPr>
            <a:r>
              <a:rPr lang="zh-CN" altLang="en-US" sz="2800" b="1" dirty="0"/>
              <a:t>     </a:t>
            </a:r>
            <a:r>
              <a:rPr lang="en-US" altLang="zh-CN" sz="2800" b="1" dirty="0"/>
              <a:t>void P(semaphore S)</a:t>
            </a:r>
          </a:p>
          <a:p>
            <a:pPr eaLnBrk="1" hangingPunct="1">
              <a:lnSpc>
                <a:spcPct val="90000"/>
              </a:lnSpc>
              <a:buNone/>
            </a:pPr>
            <a:r>
              <a:rPr lang="en-US" altLang="zh-CN" sz="2800" b="1" dirty="0"/>
              <a:t>    {</a:t>
            </a:r>
          </a:p>
          <a:p>
            <a:pPr eaLnBrk="1" hangingPunct="1">
              <a:lnSpc>
                <a:spcPct val="90000"/>
              </a:lnSpc>
              <a:buNone/>
            </a:pPr>
            <a:r>
              <a:rPr lang="en-US" altLang="zh-CN" sz="2800" b="1" dirty="0"/>
              <a:t>            S.value--;</a:t>
            </a:r>
          </a:p>
          <a:p>
            <a:pPr eaLnBrk="1" hangingPunct="1">
              <a:lnSpc>
                <a:spcPct val="90000"/>
              </a:lnSpc>
              <a:buNone/>
            </a:pPr>
            <a:r>
              <a:rPr lang="en-US" altLang="zh-CN" sz="2800" b="1" dirty="0"/>
              <a:t>            if(S.value&lt;0)</a:t>
            </a:r>
          </a:p>
          <a:p>
            <a:pPr eaLnBrk="1" hangingPunct="1">
              <a:lnSpc>
                <a:spcPct val="90000"/>
              </a:lnSpc>
              <a:buNone/>
            </a:pPr>
            <a:r>
              <a:rPr lang="en-US" altLang="zh-CN" sz="2800" b="1" dirty="0"/>
              <a:t>            {</a:t>
            </a:r>
          </a:p>
          <a:p>
            <a:pPr eaLnBrk="1" hangingPunct="1">
              <a:lnSpc>
                <a:spcPct val="90000"/>
              </a:lnSpc>
              <a:buNone/>
            </a:pPr>
            <a:r>
              <a:rPr lang="en-US" altLang="zh-CN" sz="2800" b="1" dirty="0"/>
              <a:t>                 </a:t>
            </a:r>
            <a:r>
              <a:rPr lang="zh-CN" altLang="en-US" sz="2800" b="1" dirty="0"/>
              <a:t>把这个进程加到</a:t>
            </a:r>
            <a:r>
              <a:rPr lang="en-US" altLang="zh-CN" sz="2800" b="1" dirty="0"/>
              <a:t>S.list</a:t>
            </a:r>
            <a:r>
              <a:rPr lang="zh-CN" altLang="en-US" sz="2800" b="1" dirty="0"/>
              <a:t>队列；</a:t>
            </a:r>
          </a:p>
          <a:p>
            <a:pPr eaLnBrk="1" hangingPunct="1">
              <a:lnSpc>
                <a:spcPct val="90000"/>
              </a:lnSpc>
              <a:buNone/>
            </a:pPr>
            <a:r>
              <a:rPr lang="zh-CN" altLang="en-US" sz="2800" b="1" dirty="0"/>
              <a:t>                 </a:t>
            </a:r>
            <a:r>
              <a:rPr lang="en-US" altLang="zh-CN" sz="2800" b="1" dirty="0"/>
              <a:t>block( )</a:t>
            </a:r>
            <a:r>
              <a:rPr lang="zh-CN" altLang="en-US" sz="2800" b="1" dirty="0"/>
              <a:t>；</a:t>
            </a:r>
          </a:p>
          <a:p>
            <a:pPr eaLnBrk="1" hangingPunct="1">
              <a:lnSpc>
                <a:spcPct val="90000"/>
              </a:lnSpc>
              <a:buNone/>
            </a:pPr>
            <a:r>
              <a:rPr lang="zh-CN" altLang="en-US" sz="2800" b="1" dirty="0"/>
              <a:t>             </a:t>
            </a:r>
            <a:r>
              <a:rPr lang="en-US" altLang="zh-CN" sz="2800" b="1" dirty="0"/>
              <a:t>}</a:t>
            </a:r>
          </a:p>
          <a:p>
            <a:pPr eaLnBrk="1" hangingPunct="1">
              <a:lnSpc>
                <a:spcPct val="90000"/>
              </a:lnSpc>
              <a:buNone/>
            </a:pPr>
            <a:r>
              <a:rPr lang="en-US" altLang="zh-CN" sz="2800" b="1"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02403">
                                            <p:txEl>
                                              <p:pRg st="1" end="1"/>
                                            </p:txEl>
                                          </p:spTgt>
                                        </p:tgtEl>
                                        <p:attrNameLst>
                                          <p:attrName>style.visibility</p:attrName>
                                        </p:attrNameLst>
                                      </p:cBhvr>
                                      <p:to>
                                        <p:strVal val="visible"/>
                                      </p:to>
                                    </p:set>
                                    <p:animEffect transition="in" filter="slide(fromBottom)">
                                      <p:cBhvr>
                                        <p:cTn id="7" dur="500"/>
                                        <p:tgtEl>
                                          <p:spTgt spid="102403">
                                            <p:txEl>
                                              <p:pRg st="1" end="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102403">
                                            <p:txEl>
                                              <p:pRg st="2" end="2"/>
                                            </p:txEl>
                                          </p:spTgt>
                                        </p:tgtEl>
                                        <p:attrNameLst>
                                          <p:attrName>style.visibility</p:attrName>
                                        </p:attrNameLst>
                                      </p:cBhvr>
                                      <p:to>
                                        <p:strVal val="visible"/>
                                      </p:to>
                                    </p:set>
                                    <p:animEffect transition="in" filter="slide(fromBottom)">
                                      <p:cBhvr>
                                        <p:cTn id="10" dur="500"/>
                                        <p:tgtEl>
                                          <p:spTgt spid="102403">
                                            <p:txEl>
                                              <p:pRg st="2" end="2"/>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102403">
                                            <p:txEl>
                                              <p:pRg st="3" end="3"/>
                                            </p:txEl>
                                          </p:spTgt>
                                        </p:tgtEl>
                                        <p:attrNameLst>
                                          <p:attrName>style.visibility</p:attrName>
                                        </p:attrNameLst>
                                      </p:cBhvr>
                                      <p:to>
                                        <p:strVal val="visible"/>
                                      </p:to>
                                    </p:set>
                                    <p:animEffect transition="in" filter="slide(fromBottom)">
                                      <p:cBhvr>
                                        <p:cTn id="13" dur="500"/>
                                        <p:tgtEl>
                                          <p:spTgt spid="102403">
                                            <p:txEl>
                                              <p:pRg st="3" end="3"/>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102403">
                                            <p:txEl>
                                              <p:pRg st="4" end="4"/>
                                            </p:txEl>
                                          </p:spTgt>
                                        </p:tgtEl>
                                        <p:attrNameLst>
                                          <p:attrName>style.visibility</p:attrName>
                                        </p:attrNameLst>
                                      </p:cBhvr>
                                      <p:to>
                                        <p:strVal val="visible"/>
                                      </p:to>
                                    </p:set>
                                    <p:animEffect transition="in" filter="slide(fromBottom)">
                                      <p:cBhvr>
                                        <p:cTn id="16" dur="500"/>
                                        <p:tgtEl>
                                          <p:spTgt spid="102403">
                                            <p:txEl>
                                              <p:pRg st="4" end="4"/>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102403">
                                            <p:txEl>
                                              <p:pRg st="5" end="5"/>
                                            </p:txEl>
                                          </p:spTgt>
                                        </p:tgtEl>
                                        <p:attrNameLst>
                                          <p:attrName>style.visibility</p:attrName>
                                        </p:attrNameLst>
                                      </p:cBhvr>
                                      <p:to>
                                        <p:strVal val="visible"/>
                                      </p:to>
                                    </p:set>
                                    <p:animEffect transition="in" filter="slide(fromBottom)">
                                      <p:cBhvr>
                                        <p:cTn id="19" dur="500"/>
                                        <p:tgtEl>
                                          <p:spTgt spid="102403">
                                            <p:txEl>
                                              <p:pRg st="5" end="5"/>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102403">
                                            <p:txEl>
                                              <p:pRg st="6" end="6"/>
                                            </p:txEl>
                                          </p:spTgt>
                                        </p:tgtEl>
                                        <p:attrNameLst>
                                          <p:attrName>style.visibility</p:attrName>
                                        </p:attrNameLst>
                                      </p:cBhvr>
                                      <p:to>
                                        <p:strVal val="visible"/>
                                      </p:to>
                                    </p:set>
                                    <p:animEffect transition="in" filter="slide(fromBottom)">
                                      <p:cBhvr>
                                        <p:cTn id="22" dur="500"/>
                                        <p:tgtEl>
                                          <p:spTgt spid="102403">
                                            <p:txEl>
                                              <p:pRg st="6" end="6"/>
                                            </p:txEl>
                                          </p:spTgt>
                                        </p:tgtEl>
                                      </p:cBhvr>
                                    </p:animEffect>
                                  </p:childTnLst>
                                </p:cTn>
                              </p:par>
                              <p:par>
                                <p:cTn id="23" presetID="12" presetClass="entr" presetSubtype="4" fill="hold" nodeType="withEffect">
                                  <p:stCondLst>
                                    <p:cond delay="0"/>
                                  </p:stCondLst>
                                  <p:childTnLst>
                                    <p:set>
                                      <p:cBhvr>
                                        <p:cTn id="24" dur="1" fill="hold">
                                          <p:stCondLst>
                                            <p:cond delay="0"/>
                                          </p:stCondLst>
                                        </p:cTn>
                                        <p:tgtEl>
                                          <p:spTgt spid="102403">
                                            <p:txEl>
                                              <p:pRg st="7" end="7"/>
                                            </p:txEl>
                                          </p:spTgt>
                                        </p:tgtEl>
                                        <p:attrNameLst>
                                          <p:attrName>style.visibility</p:attrName>
                                        </p:attrNameLst>
                                      </p:cBhvr>
                                      <p:to>
                                        <p:strVal val="visible"/>
                                      </p:to>
                                    </p:set>
                                    <p:animEffect transition="in" filter="slide(fromBottom)">
                                      <p:cBhvr>
                                        <p:cTn id="25" dur="500"/>
                                        <p:tgtEl>
                                          <p:spTgt spid="102403">
                                            <p:txEl>
                                              <p:pRg st="7" end="7"/>
                                            </p:txEl>
                                          </p:spTgt>
                                        </p:tgtEl>
                                      </p:cBhvr>
                                    </p:animEffect>
                                  </p:childTnLst>
                                </p:cTn>
                              </p:par>
                              <p:par>
                                <p:cTn id="26" presetID="12" presetClass="entr" presetSubtype="4" fill="hold" nodeType="withEffect">
                                  <p:stCondLst>
                                    <p:cond delay="0"/>
                                  </p:stCondLst>
                                  <p:childTnLst>
                                    <p:set>
                                      <p:cBhvr>
                                        <p:cTn id="27" dur="1" fill="hold">
                                          <p:stCondLst>
                                            <p:cond delay="0"/>
                                          </p:stCondLst>
                                        </p:cTn>
                                        <p:tgtEl>
                                          <p:spTgt spid="102403">
                                            <p:txEl>
                                              <p:pRg st="8" end="8"/>
                                            </p:txEl>
                                          </p:spTgt>
                                        </p:tgtEl>
                                        <p:attrNameLst>
                                          <p:attrName>style.visibility</p:attrName>
                                        </p:attrNameLst>
                                      </p:cBhvr>
                                      <p:to>
                                        <p:strVal val="visible"/>
                                      </p:to>
                                    </p:set>
                                    <p:animEffect transition="in" filter="slide(fromBottom)">
                                      <p:cBhvr>
                                        <p:cTn id="28" dur="500"/>
                                        <p:tgtEl>
                                          <p:spTgt spid="102403">
                                            <p:txEl>
                                              <p:pRg st="8" end="8"/>
                                            </p:txEl>
                                          </p:spTgt>
                                        </p:tgtEl>
                                      </p:cBhvr>
                                    </p:animEffect>
                                  </p:childTnLst>
                                </p:cTn>
                              </p:par>
                              <p:par>
                                <p:cTn id="29" presetID="12" presetClass="entr" presetSubtype="4" fill="hold" nodeType="withEffect">
                                  <p:stCondLst>
                                    <p:cond delay="0"/>
                                  </p:stCondLst>
                                  <p:childTnLst>
                                    <p:set>
                                      <p:cBhvr>
                                        <p:cTn id="30" dur="1" fill="hold">
                                          <p:stCondLst>
                                            <p:cond delay="0"/>
                                          </p:stCondLst>
                                        </p:cTn>
                                        <p:tgtEl>
                                          <p:spTgt spid="102403">
                                            <p:txEl>
                                              <p:pRg st="9" end="9"/>
                                            </p:txEl>
                                          </p:spTgt>
                                        </p:tgtEl>
                                        <p:attrNameLst>
                                          <p:attrName>style.visibility</p:attrName>
                                        </p:attrNameLst>
                                      </p:cBhvr>
                                      <p:to>
                                        <p:strVal val="visible"/>
                                      </p:to>
                                    </p:set>
                                    <p:animEffect transition="in" filter="slide(fromBottom)">
                                      <p:cBhvr>
                                        <p:cTn id="31" dur="500"/>
                                        <p:tgtEl>
                                          <p:spTgt spid="10240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03425"/>
          <p:cNvSpPr>
            <a:spLocks noGrp="1"/>
          </p:cNvSpPr>
          <p:nvPr>
            <p:ph type="title"/>
          </p:nvPr>
        </p:nvSpPr>
        <p:spPr/>
        <p:txBody>
          <a:bodyPr vert="horz" wrap="square" lIns="91440" tIns="45720" rIns="91440" bIns="45720" anchor="b" anchorCtr="0"/>
          <a:lstStyle/>
          <a:p>
            <a:pPr eaLnBrk="1" hangingPunct="1"/>
            <a:r>
              <a:rPr lang="en-US" altLang="zh-CN" b="1" dirty="0"/>
              <a:t>2.5.4  </a:t>
            </a:r>
            <a:r>
              <a:rPr lang="zh-CN" altLang="en-US" b="1" dirty="0"/>
              <a:t>信号量</a:t>
            </a:r>
            <a:br>
              <a:rPr lang="zh-CN" altLang="en-US" dirty="0"/>
            </a:br>
            <a:endParaRPr lang="zh-CN" altLang="en-US" dirty="0"/>
          </a:p>
        </p:txBody>
      </p:sp>
      <p:sp>
        <p:nvSpPr>
          <p:cNvPr id="103427" name="内容占位符 103426"/>
          <p:cNvSpPr>
            <a:spLocks noGrp="1"/>
          </p:cNvSpPr>
          <p:nvPr>
            <p:ph idx="1"/>
          </p:nvPr>
        </p:nvSpPr>
        <p:spPr>
          <a:xfrm>
            <a:off x="395288" y="1341438"/>
            <a:ext cx="8229600" cy="4187825"/>
          </a:xfrm>
        </p:spPr>
        <p:txBody>
          <a:bodyPr vert="horz" wrap="square" lIns="91440" tIns="45720" rIns="91440" bIns="45720" anchor="t" anchorCtr="0"/>
          <a:lstStyle/>
          <a:p>
            <a:pPr eaLnBrk="1" hangingPunct="1">
              <a:lnSpc>
                <a:spcPct val="90000"/>
              </a:lnSpc>
            </a:pPr>
            <a:r>
              <a:rPr lang="en-US" altLang="zh-CN" sz="2400" b="1" dirty="0"/>
              <a:t>V</a:t>
            </a:r>
            <a:r>
              <a:rPr lang="zh-CN" altLang="en-US" sz="2400" b="1" dirty="0"/>
              <a:t>操作的定义如下：</a:t>
            </a:r>
          </a:p>
          <a:p>
            <a:pPr eaLnBrk="1" hangingPunct="1">
              <a:lnSpc>
                <a:spcPct val="90000"/>
              </a:lnSpc>
              <a:buNone/>
            </a:pPr>
            <a:r>
              <a:rPr lang="zh-CN" altLang="en-US" sz="2400" b="1" dirty="0"/>
              <a:t>         </a:t>
            </a:r>
            <a:r>
              <a:rPr lang="en-US" altLang="zh-CN" sz="2400" b="1" dirty="0"/>
              <a:t>void V(semaphore S)</a:t>
            </a:r>
          </a:p>
          <a:p>
            <a:pPr eaLnBrk="1" hangingPunct="1">
              <a:lnSpc>
                <a:spcPct val="90000"/>
              </a:lnSpc>
              <a:buNone/>
            </a:pPr>
            <a:r>
              <a:rPr lang="en-US" altLang="zh-CN" sz="2400" b="1" dirty="0"/>
              <a:t>        {</a:t>
            </a:r>
          </a:p>
          <a:p>
            <a:pPr eaLnBrk="1" hangingPunct="1">
              <a:lnSpc>
                <a:spcPct val="90000"/>
              </a:lnSpc>
              <a:buNone/>
            </a:pPr>
            <a:r>
              <a:rPr lang="en-US" altLang="zh-CN" sz="2400" b="1" dirty="0"/>
              <a:t>                      S.value++</a:t>
            </a:r>
            <a:r>
              <a:rPr lang="zh-CN" altLang="en-US" sz="2400" b="1" dirty="0"/>
              <a:t>；</a:t>
            </a:r>
          </a:p>
          <a:p>
            <a:pPr eaLnBrk="1" hangingPunct="1">
              <a:lnSpc>
                <a:spcPct val="90000"/>
              </a:lnSpc>
              <a:buNone/>
            </a:pPr>
            <a:r>
              <a:rPr lang="zh-CN" altLang="en-US" sz="2400" b="1" dirty="0"/>
              <a:t>                      </a:t>
            </a:r>
            <a:r>
              <a:rPr lang="en-US" altLang="zh-CN" sz="2400" b="1" dirty="0"/>
              <a:t>if(S.value&lt;=0)</a:t>
            </a:r>
          </a:p>
          <a:p>
            <a:pPr eaLnBrk="1" hangingPunct="1">
              <a:lnSpc>
                <a:spcPct val="90000"/>
              </a:lnSpc>
              <a:buNone/>
            </a:pPr>
            <a:r>
              <a:rPr lang="en-US" altLang="zh-CN" sz="2400" b="1" dirty="0"/>
              <a:t>                     {</a:t>
            </a:r>
          </a:p>
          <a:p>
            <a:pPr eaLnBrk="1" hangingPunct="1">
              <a:lnSpc>
                <a:spcPct val="90000"/>
              </a:lnSpc>
              <a:buNone/>
            </a:pPr>
            <a:r>
              <a:rPr lang="en-US" altLang="zh-CN" sz="2400" b="1" dirty="0"/>
              <a:t>                           </a:t>
            </a:r>
            <a:r>
              <a:rPr lang="zh-CN" altLang="en-US" sz="2400" b="1" dirty="0"/>
              <a:t>从</a:t>
            </a:r>
            <a:r>
              <a:rPr lang="en-US" altLang="zh-CN" sz="2400" b="1" dirty="0"/>
              <a:t>S.list</a:t>
            </a:r>
            <a:r>
              <a:rPr lang="zh-CN" altLang="en-US" sz="2400" b="1" dirty="0"/>
              <a:t>队列中移走进程</a:t>
            </a:r>
            <a:r>
              <a:rPr lang="en-US" altLang="zh-CN" sz="2400" b="1" dirty="0"/>
              <a:t>Q</a:t>
            </a:r>
            <a:r>
              <a:rPr lang="zh-CN" altLang="en-US" sz="2400" b="1" dirty="0"/>
              <a:t>；</a:t>
            </a:r>
          </a:p>
          <a:p>
            <a:pPr eaLnBrk="1" hangingPunct="1">
              <a:lnSpc>
                <a:spcPct val="90000"/>
              </a:lnSpc>
              <a:buNone/>
            </a:pPr>
            <a:r>
              <a:rPr lang="zh-CN" altLang="en-US" sz="2400" b="1" dirty="0"/>
              <a:t>                           </a:t>
            </a:r>
            <a:r>
              <a:rPr lang="en-US" altLang="zh-CN" sz="2400" b="1" dirty="0"/>
              <a:t>wakeup(Q)</a:t>
            </a:r>
            <a:r>
              <a:rPr lang="zh-CN" altLang="en-US" sz="2400" b="1" dirty="0"/>
              <a:t>；</a:t>
            </a:r>
          </a:p>
          <a:p>
            <a:pPr eaLnBrk="1" hangingPunct="1">
              <a:lnSpc>
                <a:spcPct val="90000"/>
              </a:lnSpc>
              <a:buNone/>
            </a:pPr>
            <a:r>
              <a:rPr lang="zh-CN" altLang="en-US" sz="2400" b="1" dirty="0"/>
              <a:t>                      </a:t>
            </a:r>
            <a:r>
              <a:rPr lang="en-US" altLang="zh-CN" sz="2400" b="1" dirty="0"/>
              <a:t>}</a:t>
            </a:r>
          </a:p>
          <a:p>
            <a:pPr eaLnBrk="1" hangingPunct="1">
              <a:lnSpc>
                <a:spcPct val="90000"/>
              </a:lnSpc>
              <a:buNone/>
            </a:pPr>
            <a:r>
              <a:rPr lang="en-US" altLang="zh-CN" sz="2400" b="1" dirty="0"/>
              <a:t>          }</a:t>
            </a:r>
          </a:p>
        </p:txBody>
      </p:sp>
      <p:sp>
        <p:nvSpPr>
          <p:cNvPr id="103428" name="文本框 103427"/>
          <p:cNvSpPr txBox="1"/>
          <p:nvPr/>
        </p:nvSpPr>
        <p:spPr>
          <a:xfrm>
            <a:off x="539750" y="5516563"/>
            <a:ext cx="8281988"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800" dirty="0"/>
              <a:t>在具体实现时应注意，</a:t>
            </a:r>
            <a:r>
              <a:rPr lang="en-US" altLang="zh-CN" sz="2800" dirty="0"/>
              <a:t>P, V</a:t>
            </a:r>
            <a:r>
              <a:rPr lang="zh-CN" altLang="en-US" sz="2800" dirty="0"/>
              <a:t>操作都应作为一个整体实施，不允许分割或相互穿插执行。 </a:t>
            </a:r>
          </a:p>
        </p:txBody>
      </p:sp>
      <p:pic>
        <p:nvPicPr>
          <p:cNvPr id="30725" name="图片 1"/>
          <p:cNvPicPr>
            <a:picLocks noChangeAspect="1"/>
          </p:cNvPicPr>
          <p:nvPr/>
        </p:nvPicPr>
        <p:blipFill>
          <a:blip r:embed="rId2"/>
          <a:stretch>
            <a:fillRect/>
          </a:stretch>
        </p:blipFill>
        <p:spPr>
          <a:xfrm>
            <a:off x="4859338" y="4140200"/>
            <a:ext cx="3506787" cy="13716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03427">
                                            <p:txEl>
                                              <p:pRg st="1" end="1"/>
                                            </p:txEl>
                                          </p:spTgt>
                                        </p:tgtEl>
                                        <p:attrNameLst>
                                          <p:attrName>style.visibility</p:attrName>
                                        </p:attrNameLst>
                                      </p:cBhvr>
                                      <p:to>
                                        <p:strVal val="visible"/>
                                      </p:to>
                                    </p:set>
                                    <p:animEffect transition="in" filter="slide(fromBottom)">
                                      <p:cBhvr>
                                        <p:cTn id="7" dur="500"/>
                                        <p:tgtEl>
                                          <p:spTgt spid="103427">
                                            <p:txEl>
                                              <p:pRg st="1" end="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103427">
                                            <p:txEl>
                                              <p:pRg st="2" end="2"/>
                                            </p:txEl>
                                          </p:spTgt>
                                        </p:tgtEl>
                                        <p:attrNameLst>
                                          <p:attrName>style.visibility</p:attrName>
                                        </p:attrNameLst>
                                      </p:cBhvr>
                                      <p:to>
                                        <p:strVal val="visible"/>
                                      </p:to>
                                    </p:set>
                                    <p:animEffect transition="in" filter="slide(fromBottom)">
                                      <p:cBhvr>
                                        <p:cTn id="10" dur="500"/>
                                        <p:tgtEl>
                                          <p:spTgt spid="103427">
                                            <p:txEl>
                                              <p:pRg st="2" end="2"/>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103427">
                                            <p:txEl>
                                              <p:pRg st="3" end="3"/>
                                            </p:txEl>
                                          </p:spTgt>
                                        </p:tgtEl>
                                        <p:attrNameLst>
                                          <p:attrName>style.visibility</p:attrName>
                                        </p:attrNameLst>
                                      </p:cBhvr>
                                      <p:to>
                                        <p:strVal val="visible"/>
                                      </p:to>
                                    </p:set>
                                    <p:animEffect transition="in" filter="slide(fromBottom)">
                                      <p:cBhvr>
                                        <p:cTn id="13" dur="500"/>
                                        <p:tgtEl>
                                          <p:spTgt spid="103427">
                                            <p:txEl>
                                              <p:pRg st="3" end="3"/>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103427">
                                            <p:txEl>
                                              <p:pRg st="4" end="4"/>
                                            </p:txEl>
                                          </p:spTgt>
                                        </p:tgtEl>
                                        <p:attrNameLst>
                                          <p:attrName>style.visibility</p:attrName>
                                        </p:attrNameLst>
                                      </p:cBhvr>
                                      <p:to>
                                        <p:strVal val="visible"/>
                                      </p:to>
                                    </p:set>
                                    <p:animEffect transition="in" filter="slide(fromBottom)">
                                      <p:cBhvr>
                                        <p:cTn id="16" dur="500"/>
                                        <p:tgtEl>
                                          <p:spTgt spid="103427">
                                            <p:txEl>
                                              <p:pRg st="4" end="4"/>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103427">
                                            <p:txEl>
                                              <p:pRg st="5" end="5"/>
                                            </p:txEl>
                                          </p:spTgt>
                                        </p:tgtEl>
                                        <p:attrNameLst>
                                          <p:attrName>style.visibility</p:attrName>
                                        </p:attrNameLst>
                                      </p:cBhvr>
                                      <p:to>
                                        <p:strVal val="visible"/>
                                      </p:to>
                                    </p:set>
                                    <p:animEffect transition="in" filter="slide(fromBottom)">
                                      <p:cBhvr>
                                        <p:cTn id="19" dur="500"/>
                                        <p:tgtEl>
                                          <p:spTgt spid="103427">
                                            <p:txEl>
                                              <p:pRg st="5" end="5"/>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103427">
                                            <p:txEl>
                                              <p:pRg st="6" end="6"/>
                                            </p:txEl>
                                          </p:spTgt>
                                        </p:tgtEl>
                                        <p:attrNameLst>
                                          <p:attrName>style.visibility</p:attrName>
                                        </p:attrNameLst>
                                      </p:cBhvr>
                                      <p:to>
                                        <p:strVal val="visible"/>
                                      </p:to>
                                    </p:set>
                                    <p:animEffect transition="in" filter="slide(fromBottom)">
                                      <p:cBhvr>
                                        <p:cTn id="22" dur="500"/>
                                        <p:tgtEl>
                                          <p:spTgt spid="103427">
                                            <p:txEl>
                                              <p:pRg st="6" end="6"/>
                                            </p:txEl>
                                          </p:spTgt>
                                        </p:tgtEl>
                                      </p:cBhvr>
                                    </p:animEffect>
                                  </p:childTnLst>
                                </p:cTn>
                              </p:par>
                              <p:par>
                                <p:cTn id="23" presetID="12" presetClass="entr" presetSubtype="4" fill="hold" nodeType="withEffect">
                                  <p:stCondLst>
                                    <p:cond delay="0"/>
                                  </p:stCondLst>
                                  <p:childTnLst>
                                    <p:set>
                                      <p:cBhvr>
                                        <p:cTn id="24" dur="1" fill="hold">
                                          <p:stCondLst>
                                            <p:cond delay="0"/>
                                          </p:stCondLst>
                                        </p:cTn>
                                        <p:tgtEl>
                                          <p:spTgt spid="103427">
                                            <p:txEl>
                                              <p:pRg st="7" end="7"/>
                                            </p:txEl>
                                          </p:spTgt>
                                        </p:tgtEl>
                                        <p:attrNameLst>
                                          <p:attrName>style.visibility</p:attrName>
                                        </p:attrNameLst>
                                      </p:cBhvr>
                                      <p:to>
                                        <p:strVal val="visible"/>
                                      </p:to>
                                    </p:set>
                                    <p:animEffect transition="in" filter="slide(fromBottom)">
                                      <p:cBhvr>
                                        <p:cTn id="25" dur="500"/>
                                        <p:tgtEl>
                                          <p:spTgt spid="103427">
                                            <p:txEl>
                                              <p:pRg st="7" end="7"/>
                                            </p:txEl>
                                          </p:spTgt>
                                        </p:tgtEl>
                                      </p:cBhvr>
                                    </p:animEffect>
                                  </p:childTnLst>
                                </p:cTn>
                              </p:par>
                              <p:par>
                                <p:cTn id="26" presetID="12" presetClass="entr" presetSubtype="4" fill="hold" nodeType="withEffect">
                                  <p:stCondLst>
                                    <p:cond delay="0"/>
                                  </p:stCondLst>
                                  <p:childTnLst>
                                    <p:set>
                                      <p:cBhvr>
                                        <p:cTn id="27" dur="1" fill="hold">
                                          <p:stCondLst>
                                            <p:cond delay="0"/>
                                          </p:stCondLst>
                                        </p:cTn>
                                        <p:tgtEl>
                                          <p:spTgt spid="103427">
                                            <p:txEl>
                                              <p:pRg st="8" end="8"/>
                                            </p:txEl>
                                          </p:spTgt>
                                        </p:tgtEl>
                                        <p:attrNameLst>
                                          <p:attrName>style.visibility</p:attrName>
                                        </p:attrNameLst>
                                      </p:cBhvr>
                                      <p:to>
                                        <p:strVal val="visible"/>
                                      </p:to>
                                    </p:set>
                                    <p:animEffect transition="in" filter="slide(fromBottom)">
                                      <p:cBhvr>
                                        <p:cTn id="28" dur="500"/>
                                        <p:tgtEl>
                                          <p:spTgt spid="103427">
                                            <p:txEl>
                                              <p:pRg st="8" end="8"/>
                                            </p:txEl>
                                          </p:spTgt>
                                        </p:tgtEl>
                                      </p:cBhvr>
                                    </p:animEffect>
                                  </p:childTnLst>
                                </p:cTn>
                              </p:par>
                              <p:par>
                                <p:cTn id="29" presetID="12" presetClass="entr" presetSubtype="4" fill="hold" nodeType="withEffect">
                                  <p:stCondLst>
                                    <p:cond delay="0"/>
                                  </p:stCondLst>
                                  <p:childTnLst>
                                    <p:set>
                                      <p:cBhvr>
                                        <p:cTn id="30" dur="1" fill="hold">
                                          <p:stCondLst>
                                            <p:cond delay="0"/>
                                          </p:stCondLst>
                                        </p:cTn>
                                        <p:tgtEl>
                                          <p:spTgt spid="103427">
                                            <p:txEl>
                                              <p:pRg st="9" end="9"/>
                                            </p:txEl>
                                          </p:spTgt>
                                        </p:tgtEl>
                                        <p:attrNameLst>
                                          <p:attrName>style.visibility</p:attrName>
                                        </p:attrNameLst>
                                      </p:cBhvr>
                                      <p:to>
                                        <p:strVal val="visible"/>
                                      </p:to>
                                    </p:set>
                                    <p:animEffect transition="in" filter="slide(fromBottom)">
                                      <p:cBhvr>
                                        <p:cTn id="31" dur="500"/>
                                        <p:tgtEl>
                                          <p:spTgt spid="103427">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47" presetClass="entr" presetSubtype="0" fill="hold" nodeType="clickEffect">
                                  <p:stCondLst>
                                    <p:cond delay="0"/>
                                  </p:stCondLst>
                                  <p:iterate type="lt">
                                    <p:tmAbs val="0"/>
                                  </p:iterate>
                                  <p:childTnLst>
                                    <p:set>
                                      <p:cBhvr>
                                        <p:cTn id="35" dur="1" fill="hold">
                                          <p:stCondLst>
                                            <p:cond delay="0"/>
                                          </p:stCondLst>
                                        </p:cTn>
                                        <p:tgtEl>
                                          <p:spTgt spid="103428">
                                            <p:txEl>
                                              <p:pRg st="0" end="0"/>
                                            </p:txEl>
                                          </p:spTgt>
                                        </p:tgtEl>
                                        <p:attrNameLst>
                                          <p:attrName>style.visibility</p:attrName>
                                        </p:attrNameLst>
                                      </p:cBhvr>
                                      <p:to>
                                        <p:strVal val="visible"/>
                                      </p:to>
                                    </p:set>
                                    <p:animEffect transition="in" filter="fade">
                                      <p:cBhvr>
                                        <p:cTn id="36" dur="1000"/>
                                        <p:tgtEl>
                                          <p:spTgt spid="103428">
                                            <p:txEl>
                                              <p:pRg st="0" end="0"/>
                                            </p:txEl>
                                          </p:spTgt>
                                        </p:tgtEl>
                                      </p:cBhvr>
                                    </p:animEffect>
                                    <p:anim calcmode="lin" valueType="num">
                                      <p:cBhvr>
                                        <p:cTn id="37" dur="1000" fill="hold"/>
                                        <p:tgtEl>
                                          <p:spTgt spid="103428">
                                            <p:txEl>
                                              <p:pRg st="0" end="0"/>
                                            </p:txEl>
                                          </p:spTgt>
                                        </p:tgtEl>
                                        <p:attrNameLst>
                                          <p:attrName>ppt_x</p:attrName>
                                        </p:attrNameLst>
                                      </p:cBhvr>
                                      <p:tavLst>
                                        <p:tav tm="0">
                                          <p:val>
                                            <p:strVal val="#ppt_x"/>
                                          </p:val>
                                        </p:tav>
                                        <p:tav tm="100000">
                                          <p:val>
                                            <p:strVal val="#ppt_x"/>
                                          </p:val>
                                        </p:tav>
                                      </p:tavLst>
                                    </p:anim>
                                    <p:anim calcmode="lin" valueType="num">
                                      <p:cBhvr>
                                        <p:cTn id="38" dur="1000" fill="hold"/>
                                        <p:tgtEl>
                                          <p:spTgt spid="10342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mph" presetSubtype="0" fill="hold" nodeType="clickEffect">
                                  <p:stCondLst>
                                    <p:cond delay="0"/>
                                  </p:stCondLst>
                                  <p:iterate type="lt">
                                    <p:tmPct val="4000"/>
                                  </p:iterate>
                                  <p:childTnLst>
                                    <p:set>
                                      <p:cBhvr override="childStyle">
                                        <p:cTn id="42" dur="500" fill="hold"/>
                                        <p:tgtEl>
                                          <p:spTgt spid="103428">
                                            <p:txEl>
                                              <p:pRg st="0" end="0"/>
                                            </p:txEl>
                                          </p:spTgt>
                                        </p:tgtEl>
                                        <p:attrNameLst>
                                          <p:attrName>style.color</p:attrName>
                                        </p:attrNameLst>
                                      </p:cBhvr>
                                      <p:to>
                                        <p:clrVal>
                                          <a:schemeClr val="accent2"/>
                                        </p:clrVal>
                                      </p:to>
                                    </p:set>
                                    <p:set>
                                      <p:cBhvr>
                                        <p:cTn id="43" dur="500" fill="hold"/>
                                        <p:tgtEl>
                                          <p:spTgt spid="103428">
                                            <p:txEl>
                                              <p:pRg st="0" end="0"/>
                                            </p:txEl>
                                          </p:spTgt>
                                        </p:tgtEl>
                                        <p:attrNameLst>
                                          <p:attrName>fillcolor</p:attrName>
                                        </p:attrNameLst>
                                      </p:cBhvr>
                                      <p:to>
                                        <p:clrVal>
                                          <a:schemeClr val="accent2"/>
                                        </p:clrVal>
                                      </p:to>
                                    </p:set>
                                    <p:set>
                                      <p:cBhvr>
                                        <p:cTn id="44" dur="500" fill="hold"/>
                                        <p:tgtEl>
                                          <p:spTgt spid="103428">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txBox="1">
            <a:spLocks noGrp="1"/>
          </p:cNvSpPr>
          <p:nvPr>
            <p:ph type="sldNum" sz="quarter" idx="12"/>
          </p:nvPr>
        </p:nvSpPr>
        <p:spPr/>
        <p:txBody>
          <a:bodyPr anchor="b" anchorCtr="0"/>
          <a:lstStyle/>
          <a:p>
            <a:pPr marL="0" indent="0" algn="r" eaLnBrk="1" hangingPunct="1">
              <a:spcBef>
                <a:spcPct val="0"/>
              </a:spcBef>
              <a:buClrTx/>
              <a:buSzTx/>
              <a:buFont typeface="Arial" panose="020B0604020202020204" pitchFamily="34" charset="0"/>
              <a:buChar char="•"/>
            </a:pPr>
            <a:fld id="{9A0DB2DC-4C9A-4742-B13C-FB6460FD3503}" type="slidenum">
              <a:rPr lang="zh-CN" altLang="zh-CN" sz="1400" dirty="0">
                <a:solidFill>
                  <a:srgbClr val="000000"/>
                </a:solidFill>
              </a:rPr>
              <a:t>15</a:t>
            </a:fld>
            <a:endParaRPr lang="zh-CN" altLang="zh-CN" sz="1400" dirty="0">
              <a:solidFill>
                <a:srgbClr val="000000"/>
              </a:solidFill>
            </a:endParaRPr>
          </a:p>
        </p:txBody>
      </p:sp>
      <p:sp>
        <p:nvSpPr>
          <p:cNvPr id="2" name="Rectangle 2"/>
          <p:cNvSpPr>
            <a:spLocks noGrp="1"/>
          </p:cNvSpPr>
          <p:nvPr>
            <p:ph idx="1"/>
          </p:nvPr>
        </p:nvSpPr>
        <p:spPr>
          <a:xfrm>
            <a:off x="963613" y="1773238"/>
            <a:ext cx="8001000" cy="3055937"/>
          </a:xfrm>
        </p:spPr>
        <p:txBody>
          <a:bodyPr vert="horz" wrap="square" lIns="91440" tIns="45720" rIns="91440" bIns="45720" anchor="t" anchorCtr="0"/>
          <a:lstStyle/>
          <a:p>
            <a:pPr eaLnBrk="1" hangingPunct="1">
              <a:lnSpc>
                <a:spcPct val="130000"/>
              </a:lnSpc>
            </a:pPr>
            <a:r>
              <a:rPr lang="zh-CN" altLang="en-US" sz="2800" b="1" dirty="0">
                <a:solidFill>
                  <a:srgbClr val="3333CC"/>
                </a:solidFill>
              </a:rPr>
              <a:t>s&gt;0时，</a:t>
            </a:r>
            <a:r>
              <a:rPr lang="zh-CN" altLang="en-US" sz="2800" b="1" dirty="0"/>
              <a:t>表示该类可用资源的数量；</a:t>
            </a:r>
            <a:endParaRPr lang="en-US" altLang="zh-CN" sz="2800" b="1" dirty="0"/>
          </a:p>
          <a:p>
            <a:pPr eaLnBrk="1" hangingPunct="1">
              <a:lnSpc>
                <a:spcPct val="130000"/>
              </a:lnSpc>
            </a:pPr>
            <a:r>
              <a:rPr lang="zh-CN" altLang="en-US" sz="2800" b="1" dirty="0">
                <a:solidFill>
                  <a:srgbClr val="3333CC"/>
                </a:solidFill>
              </a:rPr>
              <a:t>s=0时，</a:t>
            </a:r>
            <a:r>
              <a:rPr lang="zh-CN" altLang="en-US" sz="2800" b="1" dirty="0"/>
              <a:t>表示没有该类可用资源；</a:t>
            </a:r>
          </a:p>
          <a:p>
            <a:pPr eaLnBrk="1" hangingPunct="1">
              <a:lnSpc>
                <a:spcPct val="130000"/>
              </a:lnSpc>
            </a:pPr>
            <a:r>
              <a:rPr lang="zh-CN" altLang="en-US" sz="2800" b="1" dirty="0">
                <a:solidFill>
                  <a:srgbClr val="3333CC"/>
                </a:solidFill>
              </a:rPr>
              <a:t>s&lt;=0时，</a:t>
            </a:r>
            <a:r>
              <a:rPr lang="zh-CN" altLang="en-US" sz="2800" b="1" dirty="0"/>
              <a:t>表示没有该类资源可供分配，请求资源的进程将被阻塞在相应的信号量的等待队列中。</a:t>
            </a:r>
            <a:r>
              <a:rPr lang="zh-CN" altLang="en-US" sz="2800" b="1" u="sng" dirty="0">
                <a:solidFill>
                  <a:srgbClr val="3333CC"/>
                </a:solidFill>
              </a:rPr>
              <a:t>s的绝对值 </a:t>
            </a:r>
            <a:r>
              <a:rPr lang="zh-CN" altLang="en-US" sz="2800" b="1" dirty="0">
                <a:solidFill>
                  <a:srgbClr val="3333CC"/>
                </a:solidFill>
              </a:rPr>
              <a:t>= 该信号量上等待的进程数</a:t>
            </a:r>
            <a:r>
              <a:rPr lang="zh-CN" altLang="en-US" sz="2800" b="1" dirty="0"/>
              <a:t>。</a:t>
            </a:r>
          </a:p>
        </p:txBody>
      </p:sp>
      <p:sp>
        <p:nvSpPr>
          <p:cNvPr id="31748" name="Rectangle 3"/>
          <p:cNvSpPr>
            <a:spLocks noGrp="1"/>
          </p:cNvSpPr>
          <p:nvPr>
            <p:ph type="title"/>
          </p:nvPr>
        </p:nvSpPr>
        <p:spPr>
          <a:xfrm>
            <a:off x="1403350" y="341313"/>
            <a:ext cx="7345363" cy="1143000"/>
          </a:xfrm>
        </p:spPr>
        <p:txBody>
          <a:bodyPr vert="horz" wrap="square" lIns="91440" tIns="45720" rIns="91440" bIns="45720" anchor="b" anchorCtr="0"/>
          <a:lstStyle/>
          <a:p>
            <a:pPr eaLnBrk="1" hangingPunct="1"/>
            <a:r>
              <a:rPr lang="zh-CN" altLang="en-US" sz="4000" b="1" dirty="0"/>
              <a:t>信号量</a:t>
            </a:r>
            <a:r>
              <a:rPr lang="en-US" altLang="zh-CN" sz="4000" b="1" dirty="0"/>
              <a:t>S</a:t>
            </a:r>
            <a:r>
              <a:rPr lang="zh-CN" altLang="en-US" sz="4000" b="1" dirty="0"/>
              <a:t>的物理意义</a:t>
            </a:r>
          </a:p>
        </p:txBody>
      </p:sp>
      <p:pic>
        <p:nvPicPr>
          <p:cNvPr id="5" name="Picture 4" descr="t217"/>
          <p:cNvPicPr>
            <a:picLocks noChangeAspect="1"/>
          </p:cNvPicPr>
          <p:nvPr/>
        </p:nvPicPr>
        <p:blipFill>
          <a:blip r:embed="rId2"/>
          <a:stretch>
            <a:fillRect/>
          </a:stretch>
        </p:blipFill>
        <p:spPr>
          <a:xfrm>
            <a:off x="1547813" y="4868863"/>
            <a:ext cx="6048375" cy="15843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heckerboard(across)">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checkerboard(across)">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checkerboard(across)">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04449"/>
          <p:cNvSpPr>
            <a:spLocks noGrp="1"/>
          </p:cNvSpPr>
          <p:nvPr>
            <p:ph type="title"/>
          </p:nvPr>
        </p:nvSpPr>
        <p:spPr/>
        <p:txBody>
          <a:bodyPr vert="horz" wrap="square" lIns="91440" tIns="45720" rIns="91440" bIns="45720" anchor="b" anchorCtr="0"/>
          <a:lstStyle/>
          <a:p>
            <a:pPr eaLnBrk="1" hangingPunct="1"/>
            <a:r>
              <a:rPr lang="en-US" altLang="zh-CN" b="1" dirty="0"/>
              <a:t>2.5.4  </a:t>
            </a:r>
            <a:r>
              <a:rPr lang="zh-CN" altLang="en-US" b="1" dirty="0"/>
              <a:t>信号量</a:t>
            </a:r>
            <a:br>
              <a:rPr lang="zh-CN" altLang="en-US" dirty="0"/>
            </a:br>
            <a:endParaRPr lang="zh-CN" altLang="en-US" dirty="0"/>
          </a:p>
        </p:txBody>
      </p:sp>
      <p:sp>
        <p:nvSpPr>
          <p:cNvPr id="32771" name="文本占位符 104450"/>
          <p:cNvSpPr>
            <a:spLocks noGrp="1"/>
          </p:cNvSpPr>
          <p:nvPr>
            <p:ph idx="1"/>
          </p:nvPr>
        </p:nvSpPr>
        <p:spPr>
          <a:xfrm>
            <a:off x="1187450" y="1989138"/>
            <a:ext cx="7772400" cy="4114800"/>
          </a:xfrm>
        </p:spPr>
        <p:txBody>
          <a:bodyPr vert="horz" wrap="square" lIns="91440" tIns="45720" rIns="91440" bIns="45720" anchor="t" anchorCtr="0"/>
          <a:lstStyle/>
          <a:p>
            <a:pPr eaLnBrk="1" hangingPunct="1">
              <a:buNone/>
            </a:pPr>
            <a:r>
              <a:rPr lang="en-US" altLang="zh-CN" sz="3600" dirty="0"/>
              <a:t>3</a:t>
            </a:r>
            <a:r>
              <a:rPr lang="zh-CN" altLang="en-US" sz="3600" dirty="0"/>
              <a:t>．二值信号量（略）</a:t>
            </a:r>
          </a:p>
          <a:p>
            <a:pPr eaLnBrk="1" hangingPunct="1">
              <a:buNone/>
            </a:pPr>
            <a:r>
              <a:rPr lang="zh-CN" altLang="en-US" sz="3600" dirty="0"/>
              <a:t>上述信号量的一种特例，值只在</a:t>
            </a:r>
            <a:r>
              <a:rPr lang="en-US" altLang="zh-CN" sz="3600" dirty="0"/>
              <a:t>0</a:t>
            </a:r>
            <a:r>
              <a:rPr lang="zh-CN" altLang="en-US" sz="3600" dirty="0"/>
              <a:t>、</a:t>
            </a:r>
            <a:r>
              <a:rPr lang="en-US" altLang="zh-CN" sz="3600" dirty="0"/>
              <a:t>1</a:t>
            </a:r>
            <a:r>
              <a:rPr lang="zh-CN" altLang="en-US" sz="3600" dirty="0"/>
              <a:t>之间选择。</a:t>
            </a:r>
          </a:p>
          <a:p>
            <a:pPr eaLnBrk="1" hangingPunct="1">
              <a:buNone/>
            </a:pPr>
            <a:r>
              <a:rPr lang="zh-CN" altLang="en-US" sz="3600" dirty="0"/>
              <a:t>其操作如下页描述语句：</a:t>
            </a:r>
          </a:p>
          <a:p>
            <a:pPr eaLnBrk="1" hangingPunct="1">
              <a:buNone/>
            </a:pPr>
            <a:endParaRPr lang="zh-CN" alt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文本占位符 105473"/>
          <p:cNvSpPr>
            <a:spLocks noGrp="1"/>
          </p:cNvSpPr>
          <p:nvPr>
            <p:ph sz="half" idx="1"/>
          </p:nvPr>
        </p:nvSpPr>
        <p:spPr>
          <a:xfrm>
            <a:off x="611188" y="404813"/>
            <a:ext cx="4237037" cy="6159500"/>
          </a:xfrm>
        </p:spPr>
        <p:txBody>
          <a:bodyPr vert="horz" wrap="square" lIns="91440" tIns="45720" rIns="91440" bIns="45720" anchor="t" anchorCtr="0"/>
          <a:lstStyle/>
          <a:p>
            <a:pPr eaLnBrk="1" hangingPunct="1">
              <a:lnSpc>
                <a:spcPct val="90000"/>
              </a:lnSpc>
              <a:buClr>
                <a:schemeClr val="folHlink"/>
              </a:buClr>
              <a:buSzPct val="60000"/>
              <a:buFont typeface="Wingdings" panose="05000000000000000000" pitchFamily="2" charset="2"/>
              <a:buNone/>
            </a:pPr>
            <a:r>
              <a:rPr lang="zh-CN" altLang="en-US" sz="2400" dirty="0"/>
              <a:t> </a:t>
            </a:r>
            <a:r>
              <a:rPr lang="en-US" altLang="zh-CN" sz="2400" dirty="0"/>
              <a:t>Typedef struct{     </a:t>
            </a:r>
            <a:r>
              <a:rPr lang="en-US" altLang="zh-CN" sz="2400" dirty="0">
                <a:solidFill>
                  <a:schemeClr val="hlink"/>
                </a:solidFill>
              </a:rPr>
              <a:t>/*</a:t>
            </a:r>
            <a:r>
              <a:rPr lang="zh-CN" altLang="en-US" sz="2400" dirty="0">
                <a:solidFill>
                  <a:schemeClr val="hlink"/>
                </a:solidFill>
              </a:rPr>
              <a:t>定义</a:t>
            </a:r>
            <a:r>
              <a:rPr lang="en-US" altLang="zh-CN" sz="2400" dirty="0">
                <a:solidFill>
                  <a:schemeClr val="hlink"/>
                </a:solidFill>
              </a:rPr>
              <a:t>*/</a:t>
            </a:r>
          </a:p>
          <a:p>
            <a:pPr eaLnBrk="1" hangingPunct="1">
              <a:lnSpc>
                <a:spcPct val="90000"/>
              </a:lnSpc>
              <a:buClr>
                <a:schemeClr val="folHlink"/>
              </a:buClr>
              <a:buSzPct val="60000"/>
              <a:buFont typeface="Wingdings" panose="05000000000000000000" pitchFamily="2" charset="2"/>
              <a:buNone/>
            </a:pPr>
            <a:r>
              <a:rPr lang="en-US" altLang="zh-CN" sz="2400" dirty="0"/>
              <a:t>    Enum{false,true}value;</a:t>
            </a:r>
          </a:p>
          <a:p>
            <a:pPr eaLnBrk="1" hangingPunct="1">
              <a:lnSpc>
                <a:spcPct val="90000"/>
              </a:lnSpc>
              <a:buClr>
                <a:schemeClr val="folHlink"/>
              </a:buClr>
              <a:buSzPct val="60000"/>
              <a:buFont typeface="Wingdings" panose="05000000000000000000" pitchFamily="2" charset="2"/>
              <a:buNone/>
            </a:pPr>
            <a:r>
              <a:rPr lang="en-US" altLang="zh-CN" sz="2400" dirty="0"/>
              <a:t>    Struct PCB *list;</a:t>
            </a:r>
          </a:p>
          <a:p>
            <a:pPr eaLnBrk="1" hangingPunct="1">
              <a:lnSpc>
                <a:spcPct val="90000"/>
              </a:lnSpc>
              <a:buClr>
                <a:schemeClr val="folHlink"/>
              </a:buClr>
              <a:buSzPct val="60000"/>
              <a:buFont typeface="Wingdings" panose="05000000000000000000" pitchFamily="2" charset="2"/>
              <a:buNone/>
            </a:pPr>
            <a:r>
              <a:rPr lang="en-US" altLang="zh-CN" sz="2400" dirty="0"/>
              <a:t>}B_semaphore;</a:t>
            </a:r>
          </a:p>
          <a:p>
            <a:pPr eaLnBrk="1" hangingPunct="1">
              <a:lnSpc>
                <a:spcPct val="90000"/>
              </a:lnSpc>
              <a:buClr>
                <a:schemeClr val="folHlink"/>
              </a:buClr>
              <a:buSzPct val="60000"/>
              <a:buFont typeface="Wingdings" panose="05000000000000000000" pitchFamily="2" charset="2"/>
              <a:buNone/>
            </a:pPr>
            <a:endParaRPr lang="en-US" altLang="zh-CN" sz="2400" dirty="0"/>
          </a:p>
          <a:p>
            <a:pPr eaLnBrk="1" hangingPunct="1">
              <a:lnSpc>
                <a:spcPct val="90000"/>
              </a:lnSpc>
              <a:buClr>
                <a:schemeClr val="folHlink"/>
              </a:buClr>
              <a:buSzPct val="60000"/>
              <a:buFont typeface="Wingdings" panose="05000000000000000000" pitchFamily="2" charset="2"/>
              <a:buNone/>
            </a:pPr>
            <a:r>
              <a:rPr lang="en-US" altLang="zh-CN" sz="2400" dirty="0"/>
              <a:t>Void P_B(B_semaphore S){</a:t>
            </a:r>
          </a:p>
          <a:p>
            <a:pPr eaLnBrk="1" hangingPunct="1">
              <a:lnSpc>
                <a:spcPct val="90000"/>
              </a:lnSpc>
              <a:buClr>
                <a:schemeClr val="folHlink"/>
              </a:buClr>
              <a:buSzPct val="60000"/>
              <a:buFont typeface="Wingdings" panose="05000000000000000000" pitchFamily="2" charset="2"/>
              <a:buNone/>
            </a:pPr>
            <a:r>
              <a:rPr lang="en-US" altLang="zh-CN" sz="2400" dirty="0"/>
              <a:t>    if (S.value==true)  </a:t>
            </a:r>
            <a:r>
              <a:rPr lang="zh-CN" altLang="en-US" sz="2400" dirty="0">
                <a:solidFill>
                  <a:schemeClr val="hlink"/>
                </a:solidFill>
              </a:rPr>
              <a:t>可用</a:t>
            </a:r>
          </a:p>
          <a:p>
            <a:pPr eaLnBrk="1" hangingPunct="1">
              <a:lnSpc>
                <a:spcPct val="90000"/>
              </a:lnSpc>
              <a:buClr>
                <a:schemeClr val="folHlink"/>
              </a:buClr>
              <a:buSzPct val="60000"/>
              <a:buFont typeface="Wingdings" panose="05000000000000000000" pitchFamily="2" charset="2"/>
              <a:buNone/>
            </a:pPr>
            <a:r>
              <a:rPr lang="zh-CN" altLang="en-US" sz="2400" dirty="0"/>
              <a:t>        </a:t>
            </a:r>
            <a:r>
              <a:rPr lang="en-US" altLang="zh-CN" sz="2400" dirty="0"/>
              <a:t>S.value=false;    </a:t>
            </a:r>
            <a:r>
              <a:rPr lang="zh-CN" altLang="en-US" sz="2400" dirty="0">
                <a:solidFill>
                  <a:schemeClr val="hlink"/>
                </a:solidFill>
              </a:rPr>
              <a:t>占用</a:t>
            </a:r>
          </a:p>
          <a:p>
            <a:pPr eaLnBrk="1" hangingPunct="1">
              <a:lnSpc>
                <a:spcPct val="90000"/>
              </a:lnSpc>
              <a:buClr>
                <a:schemeClr val="folHlink"/>
              </a:buClr>
              <a:buSzPct val="60000"/>
              <a:buFont typeface="Wingdings" panose="05000000000000000000" pitchFamily="2" charset="2"/>
              <a:buNone/>
            </a:pPr>
            <a:r>
              <a:rPr lang="zh-CN" altLang="en-US" sz="2400" dirty="0"/>
              <a:t>    </a:t>
            </a:r>
            <a:r>
              <a:rPr lang="en-US" altLang="zh-CN" sz="2400" dirty="0"/>
              <a:t>else{               </a:t>
            </a:r>
            <a:r>
              <a:rPr lang="zh-CN" altLang="en-US" sz="2400" dirty="0">
                <a:solidFill>
                  <a:schemeClr val="hlink"/>
                </a:solidFill>
              </a:rPr>
              <a:t>否则阻塞</a:t>
            </a:r>
          </a:p>
          <a:p>
            <a:pPr eaLnBrk="1" hangingPunct="1">
              <a:lnSpc>
                <a:spcPct val="90000"/>
              </a:lnSpc>
              <a:buClr>
                <a:schemeClr val="folHlink"/>
              </a:buClr>
              <a:buSzPct val="60000"/>
              <a:buFont typeface="Wingdings" panose="05000000000000000000" pitchFamily="2" charset="2"/>
              <a:buNone/>
            </a:pPr>
            <a:r>
              <a:rPr lang="zh-CN" altLang="en-US" sz="2400" dirty="0"/>
              <a:t>       把该进程放入</a:t>
            </a:r>
            <a:r>
              <a:rPr lang="en-US" altLang="zh-CN" sz="2400" dirty="0"/>
              <a:t>S.list</a:t>
            </a:r>
            <a:r>
              <a:rPr lang="zh-CN" altLang="en-US" sz="2400" dirty="0"/>
              <a:t>队列；</a:t>
            </a:r>
          </a:p>
          <a:p>
            <a:pPr eaLnBrk="1" hangingPunct="1">
              <a:lnSpc>
                <a:spcPct val="90000"/>
              </a:lnSpc>
              <a:buClr>
                <a:schemeClr val="folHlink"/>
              </a:buClr>
              <a:buSzPct val="60000"/>
              <a:buFont typeface="Wingdings" panose="05000000000000000000" pitchFamily="2" charset="2"/>
              <a:buNone/>
            </a:pPr>
            <a:r>
              <a:rPr lang="zh-CN" altLang="en-US" sz="2400" dirty="0"/>
              <a:t>       </a:t>
            </a:r>
            <a:r>
              <a:rPr lang="en-US" altLang="zh-CN" sz="2400" dirty="0"/>
              <a:t>block();</a:t>
            </a:r>
          </a:p>
          <a:p>
            <a:pPr eaLnBrk="1" hangingPunct="1">
              <a:lnSpc>
                <a:spcPct val="90000"/>
              </a:lnSpc>
              <a:buClr>
                <a:schemeClr val="folHlink"/>
              </a:buClr>
              <a:buSzPct val="60000"/>
              <a:buFont typeface="Wingdings" panose="05000000000000000000" pitchFamily="2" charset="2"/>
              <a:buNone/>
            </a:pPr>
            <a:r>
              <a:rPr lang="en-US" altLang="zh-CN" sz="2400" dirty="0"/>
              <a:t>     }</a:t>
            </a:r>
          </a:p>
          <a:p>
            <a:pPr eaLnBrk="1" hangingPunct="1">
              <a:lnSpc>
                <a:spcPct val="90000"/>
              </a:lnSpc>
              <a:buClr>
                <a:schemeClr val="folHlink"/>
              </a:buClr>
              <a:buSzPct val="60000"/>
              <a:buFont typeface="Wingdings" panose="05000000000000000000" pitchFamily="2" charset="2"/>
              <a:buNone/>
            </a:pPr>
            <a:r>
              <a:rPr lang="en-US" altLang="zh-CN" sz="2400" dirty="0"/>
              <a:t>}</a:t>
            </a:r>
          </a:p>
          <a:p>
            <a:pPr eaLnBrk="1" hangingPunct="1">
              <a:lnSpc>
                <a:spcPct val="90000"/>
              </a:lnSpc>
              <a:buClr>
                <a:schemeClr val="folHlink"/>
              </a:buClr>
              <a:buSzPct val="60000"/>
              <a:buFont typeface="Wingdings" panose="05000000000000000000" pitchFamily="2" charset="2"/>
              <a:buNone/>
            </a:pPr>
            <a:endParaRPr lang="en-US" altLang="zh-CN" sz="2400" dirty="0"/>
          </a:p>
        </p:txBody>
      </p:sp>
      <p:sp>
        <p:nvSpPr>
          <p:cNvPr id="33795" name="文本占位符 105474"/>
          <p:cNvSpPr>
            <a:spLocks noGrp="1"/>
          </p:cNvSpPr>
          <p:nvPr>
            <p:ph sz="half" idx="2"/>
          </p:nvPr>
        </p:nvSpPr>
        <p:spPr>
          <a:xfrm>
            <a:off x="4859338" y="2743200"/>
            <a:ext cx="4098925" cy="4114800"/>
          </a:xfrm>
        </p:spPr>
        <p:txBody>
          <a:bodyPr vert="horz" wrap="square" lIns="91440" tIns="45720" rIns="91440" bIns="45720" anchor="t" anchorCtr="0"/>
          <a:lstStyle/>
          <a:p>
            <a:pPr eaLnBrk="1" hangingPunct="1">
              <a:lnSpc>
                <a:spcPct val="90000"/>
              </a:lnSpc>
              <a:buClr>
                <a:schemeClr val="folHlink"/>
              </a:buClr>
              <a:buSzPct val="60000"/>
              <a:buFont typeface="Wingdings" panose="05000000000000000000" pitchFamily="2" charset="2"/>
              <a:buNone/>
            </a:pPr>
            <a:r>
              <a:rPr lang="en-US" altLang="zh-CN" sz="2400" dirty="0"/>
              <a:t>Void V_B(B_semaphore S){</a:t>
            </a:r>
          </a:p>
          <a:p>
            <a:pPr eaLnBrk="1" hangingPunct="1">
              <a:lnSpc>
                <a:spcPct val="90000"/>
              </a:lnSpc>
              <a:buClr>
                <a:schemeClr val="folHlink"/>
              </a:buClr>
              <a:buSzPct val="60000"/>
              <a:buFont typeface="Wingdings" panose="05000000000000000000" pitchFamily="2" charset="2"/>
              <a:buNone/>
            </a:pPr>
            <a:r>
              <a:rPr lang="en-US" altLang="zh-CN" sz="2400" dirty="0"/>
              <a:t>    if (S.list==NULL)</a:t>
            </a:r>
            <a:r>
              <a:rPr lang="zh-CN" altLang="en-US" sz="2400" dirty="0">
                <a:solidFill>
                  <a:schemeClr val="hlink"/>
                </a:solidFill>
              </a:rPr>
              <a:t>队列空</a:t>
            </a:r>
          </a:p>
          <a:p>
            <a:pPr eaLnBrk="1" hangingPunct="1">
              <a:lnSpc>
                <a:spcPct val="90000"/>
              </a:lnSpc>
              <a:buClr>
                <a:schemeClr val="folHlink"/>
              </a:buClr>
              <a:buSzPct val="60000"/>
              <a:buFont typeface="Wingdings" panose="05000000000000000000" pitchFamily="2" charset="2"/>
              <a:buNone/>
            </a:pPr>
            <a:r>
              <a:rPr lang="zh-CN" altLang="en-US" sz="2400" dirty="0"/>
              <a:t>        </a:t>
            </a:r>
            <a:r>
              <a:rPr lang="en-US" altLang="zh-CN" sz="2400" dirty="0"/>
              <a:t>S.value=true; </a:t>
            </a:r>
            <a:r>
              <a:rPr lang="zh-CN" altLang="en-US" sz="2400" dirty="0">
                <a:solidFill>
                  <a:schemeClr val="hlink"/>
                </a:solidFill>
              </a:rPr>
              <a:t>变可用</a:t>
            </a:r>
          </a:p>
          <a:p>
            <a:pPr eaLnBrk="1" hangingPunct="1">
              <a:lnSpc>
                <a:spcPct val="90000"/>
              </a:lnSpc>
              <a:buClr>
                <a:schemeClr val="folHlink"/>
              </a:buClr>
              <a:buSzPct val="60000"/>
              <a:buFont typeface="Wingdings" panose="05000000000000000000" pitchFamily="2" charset="2"/>
              <a:buNone/>
            </a:pPr>
            <a:r>
              <a:rPr lang="zh-CN" altLang="en-US" sz="2400" dirty="0"/>
              <a:t>    </a:t>
            </a:r>
            <a:r>
              <a:rPr lang="en-US" altLang="zh-CN" sz="2400" dirty="0"/>
              <a:t>else{</a:t>
            </a:r>
          </a:p>
          <a:p>
            <a:pPr eaLnBrk="1" hangingPunct="1">
              <a:lnSpc>
                <a:spcPct val="90000"/>
              </a:lnSpc>
              <a:buClr>
                <a:schemeClr val="folHlink"/>
              </a:buClr>
              <a:buSzPct val="60000"/>
              <a:buFont typeface="Wingdings" panose="05000000000000000000" pitchFamily="2" charset="2"/>
              <a:buNone/>
            </a:pPr>
            <a:r>
              <a:rPr lang="en-US" altLang="zh-CN" sz="2400" dirty="0"/>
              <a:t>   </a:t>
            </a:r>
            <a:r>
              <a:rPr lang="zh-CN" altLang="en-US" sz="2400" dirty="0"/>
              <a:t>从</a:t>
            </a:r>
            <a:r>
              <a:rPr lang="en-US" altLang="zh-CN" sz="2400" dirty="0"/>
              <a:t>S.list</a:t>
            </a:r>
            <a:r>
              <a:rPr lang="zh-CN" altLang="en-US" sz="2400" dirty="0"/>
              <a:t>队列中移走进程</a:t>
            </a:r>
            <a:r>
              <a:rPr lang="en-US" altLang="zh-CN" sz="2400" dirty="0"/>
              <a:t>Q</a:t>
            </a:r>
            <a:r>
              <a:rPr lang="zh-CN" altLang="en-US" sz="2400" dirty="0"/>
              <a:t>；                </a:t>
            </a:r>
            <a:r>
              <a:rPr lang="zh-CN" altLang="en-US" sz="2400" dirty="0">
                <a:solidFill>
                  <a:schemeClr val="hlink"/>
                </a:solidFill>
              </a:rPr>
              <a:t>             唤醒</a:t>
            </a:r>
          </a:p>
          <a:p>
            <a:pPr eaLnBrk="1" hangingPunct="1">
              <a:lnSpc>
                <a:spcPct val="90000"/>
              </a:lnSpc>
              <a:buClr>
                <a:schemeClr val="folHlink"/>
              </a:buClr>
              <a:buSzPct val="60000"/>
              <a:buFont typeface="Wingdings" panose="05000000000000000000" pitchFamily="2" charset="2"/>
              <a:buNone/>
            </a:pPr>
            <a:r>
              <a:rPr lang="zh-CN" altLang="en-US" sz="2400" dirty="0"/>
              <a:t>       </a:t>
            </a:r>
            <a:r>
              <a:rPr lang="en-US" altLang="zh-CN" sz="2400" dirty="0"/>
              <a:t>wakeup(Q);</a:t>
            </a:r>
          </a:p>
          <a:p>
            <a:pPr eaLnBrk="1" hangingPunct="1">
              <a:lnSpc>
                <a:spcPct val="90000"/>
              </a:lnSpc>
              <a:buClr>
                <a:schemeClr val="folHlink"/>
              </a:buClr>
              <a:buSzPct val="60000"/>
              <a:buFont typeface="Wingdings" panose="05000000000000000000" pitchFamily="2" charset="2"/>
              <a:buNone/>
            </a:pPr>
            <a:r>
              <a:rPr lang="en-US" altLang="zh-CN" sz="2400" dirty="0"/>
              <a:t>     }</a:t>
            </a:r>
          </a:p>
          <a:p>
            <a:pPr eaLnBrk="1" hangingPunct="1">
              <a:lnSpc>
                <a:spcPct val="90000"/>
              </a:lnSpc>
              <a:buClr>
                <a:schemeClr val="folHlink"/>
              </a:buClr>
              <a:buSzPct val="60000"/>
              <a:buFont typeface="Wingdings" panose="05000000000000000000" pitchFamily="2" charset="2"/>
              <a:buNone/>
            </a:pPr>
            <a:r>
              <a:rPr lang="en-US" altLang="zh-CN" sz="2400" dirty="0"/>
              <a:t>}</a:t>
            </a:r>
          </a:p>
          <a:p>
            <a:pPr eaLnBrk="1" hangingPunct="1">
              <a:lnSpc>
                <a:spcPct val="90000"/>
              </a:lnSpc>
              <a:buClr>
                <a:schemeClr val="folHlink"/>
              </a:buClr>
              <a:buSzPct val="60000"/>
              <a:buFont typeface="Wingdings" panose="05000000000000000000" pitchFamily="2" charset="2"/>
            </a:pPr>
            <a:endParaRPr lang="en-US" altLang="zh-CN"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88065"/>
          <p:cNvSpPr>
            <a:spLocks noGrp="1"/>
          </p:cNvSpPr>
          <p:nvPr>
            <p:ph type="title"/>
          </p:nvPr>
        </p:nvSpPr>
        <p:spPr/>
        <p:txBody>
          <a:bodyPr vert="horz" wrap="square" lIns="91440" tIns="45720" rIns="91440" bIns="45720" anchor="b" anchorCtr="0"/>
          <a:lstStyle/>
          <a:p>
            <a:pPr eaLnBrk="1" hangingPunct="1"/>
            <a:r>
              <a:rPr lang="zh-CN" altLang="en-US" dirty="0"/>
              <a:t>互斥举例</a:t>
            </a:r>
            <a:r>
              <a:rPr lang="en-US" altLang="zh-CN" dirty="0"/>
              <a:t>2</a:t>
            </a:r>
          </a:p>
        </p:txBody>
      </p:sp>
      <p:sp>
        <p:nvSpPr>
          <p:cNvPr id="18435" name="文本占位符 88066"/>
          <p:cNvSpPr>
            <a:spLocks noGrp="1"/>
          </p:cNvSpPr>
          <p:nvPr>
            <p:ph type="body" sz="half" idx="1"/>
          </p:nvPr>
        </p:nvSpPr>
        <p:spPr>
          <a:xfrm>
            <a:off x="323850" y="2060575"/>
            <a:ext cx="3810000" cy="4114800"/>
          </a:xfrm>
        </p:spPr>
        <p:txBody>
          <a:bodyPr vert="horz" wrap="square" lIns="91440" tIns="45720" rIns="91440" bIns="45720" anchor="t" anchorCtr="0"/>
          <a:lstStyle/>
          <a:p>
            <a:pPr eaLnBrk="1" hangingPunct="1">
              <a:buClr>
                <a:schemeClr val="folHlink"/>
              </a:buClr>
              <a:buSzPct val="60000"/>
              <a:buFont typeface="Wingdings" panose="05000000000000000000" pitchFamily="2" charset="2"/>
            </a:pPr>
            <a:r>
              <a:rPr lang="zh-CN" altLang="en-US" sz="2800" dirty="0"/>
              <a:t>进程</a:t>
            </a:r>
            <a:r>
              <a:rPr lang="en-US" altLang="zh-CN" sz="2800" dirty="0"/>
              <a:t>Pa</a:t>
            </a:r>
            <a:r>
              <a:rPr lang="zh-CN" altLang="en-US" sz="2800" dirty="0"/>
              <a:t>为用户作业分配打印机，</a:t>
            </a:r>
          </a:p>
          <a:p>
            <a:pPr eaLnBrk="1" hangingPunct="1">
              <a:buClr>
                <a:schemeClr val="folHlink"/>
              </a:buClr>
              <a:buSzPct val="60000"/>
              <a:buFont typeface="Wingdings" panose="05000000000000000000" pitchFamily="2" charset="2"/>
            </a:pPr>
            <a:r>
              <a:rPr lang="zh-CN" altLang="en-US" sz="2800" dirty="0"/>
              <a:t>进程</a:t>
            </a:r>
            <a:r>
              <a:rPr lang="en-US" altLang="zh-CN" sz="2800" dirty="0"/>
              <a:t>Pb</a:t>
            </a:r>
            <a:r>
              <a:rPr lang="zh-CN" altLang="en-US" sz="2800" dirty="0"/>
              <a:t>负责释放打印机。</a:t>
            </a:r>
          </a:p>
          <a:p>
            <a:pPr eaLnBrk="1" hangingPunct="1">
              <a:buClr>
                <a:schemeClr val="folHlink"/>
              </a:buClr>
              <a:buSzPct val="60000"/>
              <a:buFont typeface="Wingdings" panose="05000000000000000000" pitchFamily="2" charset="2"/>
            </a:pPr>
            <a:r>
              <a:rPr lang="zh-CN" altLang="en-US" sz="2800" dirty="0"/>
              <a:t>系统中有一个打印机分配表由各进程共用，如右图所示。</a:t>
            </a:r>
          </a:p>
        </p:txBody>
      </p:sp>
      <p:graphicFrame>
        <p:nvGraphicFramePr>
          <p:cNvPr id="88068" name="内容占位符 88067"/>
          <p:cNvGraphicFramePr>
            <a:graphicFrameLocks noGrp="1"/>
          </p:cNvGraphicFramePr>
          <p:nvPr>
            <p:ph sz="half" idx="4294967295"/>
          </p:nvPr>
        </p:nvGraphicFramePr>
        <p:xfrm>
          <a:off x="4211638" y="1989138"/>
          <a:ext cx="4598988" cy="4275138"/>
        </p:xfrm>
        <a:graphic>
          <a:graphicData uri="http://schemas.openxmlformats.org/drawingml/2006/table">
            <a:tbl>
              <a:tblPr/>
              <a:tblGrid>
                <a:gridCol w="1295400">
                  <a:extLst>
                    <a:ext uri="{9D8B030D-6E8A-4147-A177-3AD203B41FA5}">
                      <a16:colId xmlns:a16="http://schemas.microsoft.com/office/drawing/2014/main" val="20000"/>
                    </a:ext>
                  </a:extLst>
                </a:gridCol>
                <a:gridCol w="865188">
                  <a:extLst>
                    <a:ext uri="{9D8B030D-6E8A-4147-A177-3AD203B41FA5}">
                      <a16:colId xmlns:a16="http://schemas.microsoft.com/office/drawing/2014/main" val="20001"/>
                    </a:ext>
                  </a:extLst>
                </a:gridCol>
                <a:gridCol w="1150937">
                  <a:extLst>
                    <a:ext uri="{9D8B030D-6E8A-4147-A177-3AD203B41FA5}">
                      <a16:colId xmlns:a16="http://schemas.microsoft.com/office/drawing/2014/main" val="20002"/>
                    </a:ext>
                  </a:extLst>
                </a:gridCol>
                <a:gridCol w="1287463">
                  <a:extLst>
                    <a:ext uri="{9D8B030D-6E8A-4147-A177-3AD203B41FA5}">
                      <a16:colId xmlns:a16="http://schemas.microsoft.com/office/drawing/2014/main" val="20003"/>
                    </a:ext>
                  </a:extLst>
                </a:gridCol>
              </a:tblGrid>
              <a:tr h="1189038">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zh-CN" altLang="en-US" sz="2400"/>
                        <a:t>打印机编号</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zh-CN" altLang="en-US" sz="2400"/>
                        <a:t>分配标志</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zh-CN" altLang="en-US" sz="2400"/>
                        <a:t>用户名</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zh-CN" altLang="en-US" sz="2400"/>
                        <a:t>用户定义的设备名</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8700">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0</a:t>
                      </a:r>
                      <a:endParaRPr lang="zh-CN" altLang="en-US" sz="2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1</a:t>
                      </a:r>
                      <a:endParaRPr lang="zh-CN" altLang="en-US" sz="2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Meng</a:t>
                      </a:r>
                      <a:endParaRPr lang="zh-CN" altLang="en-US" sz="2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print</a:t>
                      </a:r>
                      <a:endParaRPr lang="zh-CN" altLang="en-US" sz="28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28700">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1</a:t>
                      </a:r>
                      <a:endParaRPr lang="zh-CN" altLang="en-US" sz="2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0</a:t>
                      </a:r>
                      <a:endParaRPr lang="zh-CN" altLang="en-US" sz="2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endParaRPr lang="zh-CN" altLang="en-US" sz="2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endParaRPr lang="zh-CN" altLang="en-US" sz="28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28700">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2</a:t>
                      </a:r>
                      <a:endParaRPr lang="zh-CN" altLang="en-US" sz="2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1</a:t>
                      </a:r>
                      <a:endParaRPr lang="zh-CN" altLang="en-US" sz="2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Liu</a:t>
                      </a:r>
                      <a:endParaRPr lang="zh-CN" altLang="en-US" sz="2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742950" lvl="1" indent="-285750">
                        <a:buClr>
                          <a:schemeClr val="hlink"/>
                        </a:buClr>
                        <a:defRPr sz="2400" kern="1200"/>
                      </a:lvl2pPr>
                      <a:lvl3pPr marL="1143000" lvl="2" indent="-228600">
                        <a:buClr>
                          <a:schemeClr val="folHlink"/>
                        </a:buClr>
                        <a:defRPr sz="2000" kern="1200"/>
                      </a:lvl3pPr>
                      <a:lvl4pPr marL="1600200" lvl="3" indent="-228600">
                        <a:buClr>
                          <a:schemeClr val="accent2"/>
                        </a:buClr>
                        <a:defRPr sz="1800" kern="1200"/>
                      </a:lvl4pPr>
                      <a:lvl5pPr marL="2057400" lvl="4" indent="-228600">
                        <a:buClr>
                          <a:schemeClr val="accent1"/>
                        </a:buClr>
                        <a:defRPr sz="1800" kern="1200"/>
                      </a:lvl5pPr>
                    </a:lstStyle>
                    <a:p>
                      <a:pPr marL="0" lvl="0" indent="0">
                        <a:buNone/>
                      </a:pPr>
                      <a:r>
                        <a:rPr lang="en-US" altLang="zh-CN" sz="2800"/>
                        <a:t>output</a:t>
                      </a:r>
                      <a:endParaRPr lang="zh-CN" altLang="en-US" sz="28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06497"/>
          <p:cNvSpPr>
            <a:spLocks noGrp="1"/>
          </p:cNvSpPr>
          <p:nvPr>
            <p:ph type="title"/>
          </p:nvPr>
        </p:nvSpPr>
        <p:spPr/>
        <p:txBody>
          <a:bodyPr vert="horz" wrap="square" lIns="91440" tIns="45720" rIns="91440" bIns="45720" anchor="b" anchorCtr="0"/>
          <a:lstStyle/>
          <a:p>
            <a:pPr eaLnBrk="1" hangingPunct="1"/>
            <a:r>
              <a:rPr lang="en-US" altLang="zh-CN" dirty="0"/>
              <a:t>2.5.5  </a:t>
            </a:r>
            <a:r>
              <a:rPr lang="zh-CN" altLang="en-US" dirty="0"/>
              <a:t>信号量的一般应用</a:t>
            </a:r>
            <a:br>
              <a:rPr lang="zh-CN" altLang="en-US" dirty="0"/>
            </a:br>
            <a:endParaRPr lang="zh-CN" altLang="en-US" dirty="0"/>
          </a:p>
        </p:txBody>
      </p:sp>
      <p:sp>
        <p:nvSpPr>
          <p:cNvPr id="106499" name="内容占位符 106498"/>
          <p:cNvSpPr>
            <a:spLocks noGrp="1"/>
          </p:cNvSpPr>
          <p:nvPr>
            <p:ph idx="1"/>
          </p:nvPr>
        </p:nvSpPr>
        <p:spPr>
          <a:xfrm>
            <a:off x="395288" y="1916113"/>
            <a:ext cx="7993062" cy="4114800"/>
          </a:xfrm>
        </p:spPr>
        <p:txBody>
          <a:bodyPr vert="horz" wrap="square" lIns="91440" tIns="45720" rIns="91440" bIns="45720" anchor="t" anchorCtr="0"/>
          <a:lstStyle/>
          <a:p>
            <a:pPr eaLnBrk="1" hangingPunct="1">
              <a:lnSpc>
                <a:spcPct val="80000"/>
              </a:lnSpc>
              <a:buNone/>
            </a:pPr>
            <a:r>
              <a:rPr lang="en-US" altLang="zh-CN" sz="3600" dirty="0"/>
              <a:t>      1</a:t>
            </a:r>
            <a:r>
              <a:rPr lang="zh-CN" altLang="en-US" sz="3600" dirty="0"/>
              <a:t>．用信号量实现进程</a:t>
            </a:r>
            <a:r>
              <a:rPr lang="zh-CN" altLang="en-US" sz="3600" b="1" dirty="0"/>
              <a:t>互斥</a:t>
            </a:r>
            <a:r>
              <a:rPr lang="zh-CN" altLang="en-US" sz="3600" dirty="0"/>
              <a:t>：</a:t>
            </a:r>
          </a:p>
          <a:p>
            <a:pPr eaLnBrk="1" hangingPunct="1">
              <a:lnSpc>
                <a:spcPct val="80000"/>
              </a:lnSpc>
              <a:buNone/>
            </a:pPr>
            <a:r>
              <a:rPr lang="zh-CN" altLang="en-US" sz="2800" dirty="0"/>
              <a:t>                    </a:t>
            </a:r>
            <a:r>
              <a:rPr lang="en-US" altLang="zh-CN" sz="2800" dirty="0"/>
              <a:t>Pa:                          Pb:</a:t>
            </a:r>
          </a:p>
          <a:p>
            <a:pPr eaLnBrk="1" hangingPunct="1">
              <a:lnSpc>
                <a:spcPct val="80000"/>
              </a:lnSpc>
              <a:buNone/>
            </a:pPr>
            <a:r>
              <a:rPr lang="en-US" altLang="zh-CN" sz="2800" dirty="0"/>
              <a:t>                    …                           …</a:t>
            </a:r>
          </a:p>
          <a:p>
            <a:pPr eaLnBrk="1" hangingPunct="1">
              <a:lnSpc>
                <a:spcPct val="80000"/>
              </a:lnSpc>
              <a:buNone/>
            </a:pPr>
            <a:r>
              <a:rPr lang="en-US" altLang="zh-CN" sz="2800" dirty="0"/>
              <a:t>                 P(mutex)                      P(mutex)</a:t>
            </a:r>
          </a:p>
          <a:p>
            <a:pPr eaLnBrk="1" hangingPunct="1">
              <a:lnSpc>
                <a:spcPct val="80000"/>
              </a:lnSpc>
              <a:buNone/>
            </a:pPr>
            <a:r>
              <a:rPr lang="en-US" altLang="zh-CN" sz="2800" dirty="0"/>
              <a:t>                </a:t>
            </a:r>
            <a:r>
              <a:rPr lang="zh-CN" altLang="en-US" sz="2800" dirty="0"/>
              <a:t>分配打印机                    释放打印机</a:t>
            </a:r>
          </a:p>
          <a:p>
            <a:pPr eaLnBrk="1" hangingPunct="1">
              <a:lnSpc>
                <a:spcPct val="80000"/>
              </a:lnSpc>
              <a:buNone/>
            </a:pPr>
            <a:r>
              <a:rPr lang="zh-CN" altLang="en-US" sz="2800" dirty="0"/>
              <a:t>              （读写分配表）             （读写分配表）</a:t>
            </a:r>
          </a:p>
          <a:p>
            <a:pPr eaLnBrk="1" hangingPunct="1">
              <a:lnSpc>
                <a:spcPct val="80000"/>
              </a:lnSpc>
              <a:buNone/>
            </a:pPr>
            <a:r>
              <a:rPr lang="zh-CN" altLang="en-US" sz="2800" dirty="0"/>
              <a:t>                 </a:t>
            </a:r>
            <a:r>
              <a:rPr lang="en-US" altLang="zh-CN" sz="2800" dirty="0"/>
              <a:t>V(mutex)                      V(mutex)</a:t>
            </a:r>
          </a:p>
          <a:p>
            <a:pPr eaLnBrk="1" hangingPunct="1">
              <a:lnSpc>
                <a:spcPct val="80000"/>
              </a:lnSpc>
              <a:buNone/>
            </a:pPr>
            <a:r>
              <a:rPr lang="en-US" altLang="zh-CN" sz="2800" dirty="0"/>
              <a:t>                    …                            …</a:t>
            </a:r>
          </a:p>
          <a:p>
            <a:pPr eaLnBrk="1" hangingPunct="1">
              <a:lnSpc>
                <a:spcPct val="80000"/>
              </a:lnSpc>
              <a:buNone/>
            </a:pPr>
            <a:r>
              <a:rPr lang="zh-CN" altLang="en-US" sz="2800" dirty="0"/>
              <a:t>设互斥信号量</a:t>
            </a:r>
            <a:r>
              <a:rPr lang="en-US" altLang="zh-CN" sz="2800" dirty="0"/>
              <a:t>mutex</a:t>
            </a:r>
            <a:r>
              <a:rPr lang="zh-CN" altLang="en-US" sz="2800" dirty="0"/>
              <a:t>初值为</a:t>
            </a:r>
            <a:r>
              <a:rPr lang="en-US" altLang="zh-CN" sz="2800" dirty="0"/>
              <a:t>1</a:t>
            </a:r>
          </a:p>
        </p:txBody>
      </p:sp>
      <p:sp>
        <p:nvSpPr>
          <p:cNvPr id="106500" name="直接连接符 106499"/>
          <p:cNvSpPr/>
          <p:nvPr/>
        </p:nvSpPr>
        <p:spPr>
          <a:xfrm>
            <a:off x="5003800" y="2492375"/>
            <a:ext cx="0" cy="3457575"/>
          </a:xfrm>
          <a:prstGeom prst="line">
            <a:avLst/>
          </a:prstGeom>
          <a:ln w="12700" cap="flat" cmpd="sng">
            <a:solidFill>
              <a:schemeClr val="tx1"/>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106499">
                                            <p:txEl>
                                              <p:pRg st="0" end="0"/>
                                            </p:txEl>
                                          </p:spTgt>
                                        </p:tgtEl>
                                        <p:attrNameLst>
                                          <p:attrName>style.visibility</p:attrName>
                                        </p:attrNameLst>
                                      </p:cBhvr>
                                      <p:to>
                                        <p:strVal val="visible"/>
                                      </p:to>
                                    </p:set>
                                    <p:anim calcmode="lin" valueType="num">
                                      <p:cBhvr>
                                        <p:cTn id="7" dur="1000" fill="hold"/>
                                        <p:tgtEl>
                                          <p:spTgt spid="106499">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6499">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6499">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10649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6" fill="hold" nodeType="clickEffect">
                                  <p:stCondLst>
                                    <p:cond delay="0"/>
                                  </p:stCondLst>
                                  <p:childTnLst>
                                    <p:set>
                                      <p:cBhvr>
                                        <p:cTn id="14" dur="1" fill="hold">
                                          <p:stCondLst>
                                            <p:cond delay="0"/>
                                          </p:stCondLst>
                                        </p:cTn>
                                        <p:tgtEl>
                                          <p:spTgt spid="106499">
                                            <p:txEl>
                                              <p:pRg st="1" end="1"/>
                                            </p:txEl>
                                          </p:spTgt>
                                        </p:tgtEl>
                                        <p:attrNameLst>
                                          <p:attrName>style.visibility</p:attrName>
                                        </p:attrNameLst>
                                      </p:cBhvr>
                                      <p:to>
                                        <p:strVal val="visible"/>
                                      </p:to>
                                    </p:set>
                                    <p:animEffect transition="in" filter="barn(inHorizontal)">
                                      <p:cBhvr>
                                        <p:cTn id="15" dur="500"/>
                                        <p:tgtEl>
                                          <p:spTgt spid="106499">
                                            <p:txEl>
                                              <p:pRg st="1" end="1"/>
                                            </p:txEl>
                                          </p:spTgt>
                                        </p:tgtEl>
                                      </p:cBhvr>
                                    </p:animEffect>
                                  </p:childTnLst>
                                </p:cTn>
                              </p:par>
                              <p:par>
                                <p:cTn id="16" presetID="16" presetClass="entr" presetSubtype="26" fill="hold" nodeType="withEffect">
                                  <p:stCondLst>
                                    <p:cond delay="0"/>
                                  </p:stCondLst>
                                  <p:childTnLst>
                                    <p:set>
                                      <p:cBhvr>
                                        <p:cTn id="17" dur="1" fill="hold">
                                          <p:stCondLst>
                                            <p:cond delay="0"/>
                                          </p:stCondLst>
                                        </p:cTn>
                                        <p:tgtEl>
                                          <p:spTgt spid="106499">
                                            <p:txEl>
                                              <p:pRg st="2" end="2"/>
                                            </p:txEl>
                                          </p:spTgt>
                                        </p:tgtEl>
                                        <p:attrNameLst>
                                          <p:attrName>style.visibility</p:attrName>
                                        </p:attrNameLst>
                                      </p:cBhvr>
                                      <p:to>
                                        <p:strVal val="visible"/>
                                      </p:to>
                                    </p:set>
                                    <p:animEffect transition="in" filter="barn(inHorizontal)">
                                      <p:cBhvr>
                                        <p:cTn id="18" dur="500"/>
                                        <p:tgtEl>
                                          <p:spTgt spid="106499">
                                            <p:txEl>
                                              <p:pRg st="2" end="2"/>
                                            </p:txEl>
                                          </p:spTgt>
                                        </p:tgtEl>
                                      </p:cBhvr>
                                    </p:animEffect>
                                  </p:childTnLst>
                                </p:cTn>
                              </p:par>
                              <p:par>
                                <p:cTn id="19" presetID="16" presetClass="entr" presetSubtype="26" fill="hold" nodeType="withEffect">
                                  <p:stCondLst>
                                    <p:cond delay="0"/>
                                  </p:stCondLst>
                                  <p:childTnLst>
                                    <p:set>
                                      <p:cBhvr>
                                        <p:cTn id="20" dur="1" fill="hold">
                                          <p:stCondLst>
                                            <p:cond delay="0"/>
                                          </p:stCondLst>
                                        </p:cTn>
                                        <p:tgtEl>
                                          <p:spTgt spid="106499">
                                            <p:txEl>
                                              <p:pRg st="3" end="3"/>
                                            </p:txEl>
                                          </p:spTgt>
                                        </p:tgtEl>
                                        <p:attrNameLst>
                                          <p:attrName>style.visibility</p:attrName>
                                        </p:attrNameLst>
                                      </p:cBhvr>
                                      <p:to>
                                        <p:strVal val="visible"/>
                                      </p:to>
                                    </p:set>
                                    <p:animEffect transition="in" filter="barn(inHorizontal)">
                                      <p:cBhvr>
                                        <p:cTn id="21" dur="500"/>
                                        <p:tgtEl>
                                          <p:spTgt spid="106499">
                                            <p:txEl>
                                              <p:pRg st="3" end="3"/>
                                            </p:txEl>
                                          </p:spTgt>
                                        </p:tgtEl>
                                      </p:cBhvr>
                                    </p:animEffect>
                                  </p:childTnLst>
                                </p:cTn>
                              </p:par>
                              <p:par>
                                <p:cTn id="22" presetID="16" presetClass="entr" presetSubtype="26" fill="hold" nodeType="withEffect">
                                  <p:stCondLst>
                                    <p:cond delay="0"/>
                                  </p:stCondLst>
                                  <p:childTnLst>
                                    <p:set>
                                      <p:cBhvr>
                                        <p:cTn id="23" dur="1" fill="hold">
                                          <p:stCondLst>
                                            <p:cond delay="0"/>
                                          </p:stCondLst>
                                        </p:cTn>
                                        <p:tgtEl>
                                          <p:spTgt spid="106499">
                                            <p:txEl>
                                              <p:pRg st="4" end="4"/>
                                            </p:txEl>
                                          </p:spTgt>
                                        </p:tgtEl>
                                        <p:attrNameLst>
                                          <p:attrName>style.visibility</p:attrName>
                                        </p:attrNameLst>
                                      </p:cBhvr>
                                      <p:to>
                                        <p:strVal val="visible"/>
                                      </p:to>
                                    </p:set>
                                    <p:animEffect transition="in" filter="barn(inHorizontal)">
                                      <p:cBhvr>
                                        <p:cTn id="24" dur="500"/>
                                        <p:tgtEl>
                                          <p:spTgt spid="106499">
                                            <p:txEl>
                                              <p:pRg st="4" end="4"/>
                                            </p:txEl>
                                          </p:spTgt>
                                        </p:tgtEl>
                                      </p:cBhvr>
                                    </p:animEffect>
                                  </p:childTnLst>
                                </p:cTn>
                              </p:par>
                              <p:par>
                                <p:cTn id="25" presetID="16" presetClass="entr" presetSubtype="26" fill="hold" nodeType="withEffect">
                                  <p:stCondLst>
                                    <p:cond delay="0"/>
                                  </p:stCondLst>
                                  <p:childTnLst>
                                    <p:set>
                                      <p:cBhvr>
                                        <p:cTn id="26" dur="1" fill="hold">
                                          <p:stCondLst>
                                            <p:cond delay="0"/>
                                          </p:stCondLst>
                                        </p:cTn>
                                        <p:tgtEl>
                                          <p:spTgt spid="106499">
                                            <p:txEl>
                                              <p:pRg st="5" end="5"/>
                                            </p:txEl>
                                          </p:spTgt>
                                        </p:tgtEl>
                                        <p:attrNameLst>
                                          <p:attrName>style.visibility</p:attrName>
                                        </p:attrNameLst>
                                      </p:cBhvr>
                                      <p:to>
                                        <p:strVal val="visible"/>
                                      </p:to>
                                    </p:set>
                                    <p:animEffect transition="in" filter="barn(inHorizontal)">
                                      <p:cBhvr>
                                        <p:cTn id="27" dur="500"/>
                                        <p:tgtEl>
                                          <p:spTgt spid="106499">
                                            <p:txEl>
                                              <p:pRg st="5" end="5"/>
                                            </p:txEl>
                                          </p:spTgt>
                                        </p:tgtEl>
                                      </p:cBhvr>
                                    </p:animEffect>
                                  </p:childTnLst>
                                </p:cTn>
                              </p:par>
                              <p:par>
                                <p:cTn id="28" presetID="16" presetClass="entr" presetSubtype="26" fill="hold" nodeType="withEffect">
                                  <p:stCondLst>
                                    <p:cond delay="0"/>
                                  </p:stCondLst>
                                  <p:childTnLst>
                                    <p:set>
                                      <p:cBhvr>
                                        <p:cTn id="29" dur="1" fill="hold">
                                          <p:stCondLst>
                                            <p:cond delay="0"/>
                                          </p:stCondLst>
                                        </p:cTn>
                                        <p:tgtEl>
                                          <p:spTgt spid="106499">
                                            <p:txEl>
                                              <p:pRg st="6" end="6"/>
                                            </p:txEl>
                                          </p:spTgt>
                                        </p:tgtEl>
                                        <p:attrNameLst>
                                          <p:attrName>style.visibility</p:attrName>
                                        </p:attrNameLst>
                                      </p:cBhvr>
                                      <p:to>
                                        <p:strVal val="visible"/>
                                      </p:to>
                                    </p:set>
                                    <p:animEffect transition="in" filter="barn(inHorizontal)">
                                      <p:cBhvr>
                                        <p:cTn id="30" dur="500"/>
                                        <p:tgtEl>
                                          <p:spTgt spid="106499">
                                            <p:txEl>
                                              <p:pRg st="6" end="6"/>
                                            </p:txEl>
                                          </p:spTgt>
                                        </p:tgtEl>
                                      </p:cBhvr>
                                    </p:animEffect>
                                  </p:childTnLst>
                                </p:cTn>
                              </p:par>
                              <p:par>
                                <p:cTn id="31" presetID="16" presetClass="entr" presetSubtype="26" fill="hold" nodeType="withEffect">
                                  <p:stCondLst>
                                    <p:cond delay="0"/>
                                  </p:stCondLst>
                                  <p:childTnLst>
                                    <p:set>
                                      <p:cBhvr>
                                        <p:cTn id="32" dur="1" fill="hold">
                                          <p:stCondLst>
                                            <p:cond delay="0"/>
                                          </p:stCondLst>
                                        </p:cTn>
                                        <p:tgtEl>
                                          <p:spTgt spid="106499">
                                            <p:txEl>
                                              <p:pRg st="7" end="7"/>
                                            </p:txEl>
                                          </p:spTgt>
                                        </p:tgtEl>
                                        <p:attrNameLst>
                                          <p:attrName>style.visibility</p:attrName>
                                        </p:attrNameLst>
                                      </p:cBhvr>
                                      <p:to>
                                        <p:strVal val="visible"/>
                                      </p:to>
                                    </p:set>
                                    <p:animEffect transition="in" filter="barn(inHorizontal)">
                                      <p:cBhvr>
                                        <p:cTn id="33" dur="500"/>
                                        <p:tgtEl>
                                          <p:spTgt spid="106499">
                                            <p:txEl>
                                              <p:pRg st="7" end="7"/>
                                            </p:txEl>
                                          </p:spTgt>
                                        </p:tgtEl>
                                      </p:cBhvr>
                                    </p:animEffect>
                                  </p:childTnLst>
                                </p:cTn>
                              </p:par>
                              <p:par>
                                <p:cTn id="34" presetID="16" presetClass="entr" presetSubtype="26" fill="hold" nodeType="withEffect">
                                  <p:stCondLst>
                                    <p:cond delay="0"/>
                                  </p:stCondLst>
                                  <p:childTnLst>
                                    <p:set>
                                      <p:cBhvr>
                                        <p:cTn id="35" dur="1" fill="hold">
                                          <p:stCondLst>
                                            <p:cond delay="0"/>
                                          </p:stCondLst>
                                        </p:cTn>
                                        <p:tgtEl>
                                          <p:spTgt spid="106499">
                                            <p:txEl>
                                              <p:pRg st="8" end="8"/>
                                            </p:txEl>
                                          </p:spTgt>
                                        </p:tgtEl>
                                        <p:attrNameLst>
                                          <p:attrName>style.visibility</p:attrName>
                                        </p:attrNameLst>
                                      </p:cBhvr>
                                      <p:to>
                                        <p:strVal val="visible"/>
                                      </p:to>
                                    </p:set>
                                    <p:animEffect transition="in" filter="barn(inHorizontal)">
                                      <p:cBhvr>
                                        <p:cTn id="36" dur="500"/>
                                        <p:tgtEl>
                                          <p:spTgt spid="106499">
                                            <p:txEl>
                                              <p:pRg st="8" end="8"/>
                                            </p:txEl>
                                          </p:spTgt>
                                        </p:tgtEl>
                                      </p:cBhvr>
                                    </p:animEffect>
                                  </p:childTnLst>
                                </p:cTn>
                              </p:par>
                              <p:par>
                                <p:cTn id="37" presetID="18" presetClass="entr" presetSubtype="12" fill="hold" nodeType="withEffect">
                                  <p:stCondLst>
                                    <p:cond delay="0"/>
                                  </p:stCondLst>
                                  <p:childTnLst>
                                    <p:set>
                                      <p:cBhvr>
                                        <p:cTn id="38" dur="1" fill="hold">
                                          <p:stCondLst>
                                            <p:cond delay="0"/>
                                          </p:stCondLst>
                                        </p:cTn>
                                        <p:tgtEl>
                                          <p:spTgt spid="106500"/>
                                        </p:tgtEl>
                                        <p:attrNameLst>
                                          <p:attrName>style.visibility</p:attrName>
                                        </p:attrNameLst>
                                      </p:cBhvr>
                                      <p:to>
                                        <p:strVal val="visible"/>
                                      </p:to>
                                    </p:set>
                                    <p:animEffect transition="in" filter="strips(downLeft)">
                                      <p:cBhvr>
                                        <p:cTn id="39" dur="500"/>
                                        <p:tgtEl>
                                          <p:spTgt spid="106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07521"/>
          <p:cNvSpPr>
            <a:spLocks noGrp="1"/>
          </p:cNvSpPr>
          <p:nvPr>
            <p:ph type="title"/>
          </p:nvPr>
        </p:nvSpPr>
        <p:spPr/>
        <p:txBody>
          <a:bodyPr vert="horz" wrap="square" lIns="91440" tIns="45720" rIns="91440" bIns="45720" anchor="b" anchorCtr="0"/>
          <a:lstStyle/>
          <a:p>
            <a:pPr eaLnBrk="1" hangingPunct="1"/>
            <a:r>
              <a:rPr lang="en-US" altLang="zh-CN" dirty="0"/>
              <a:t>2.5.5  </a:t>
            </a:r>
            <a:r>
              <a:rPr lang="zh-CN" altLang="en-US" dirty="0"/>
              <a:t>信号量的一般应用</a:t>
            </a:r>
            <a:br>
              <a:rPr lang="zh-CN" altLang="en-US" dirty="0"/>
            </a:br>
            <a:endParaRPr lang="zh-CN" altLang="en-US" dirty="0"/>
          </a:p>
        </p:txBody>
      </p:sp>
      <p:sp>
        <p:nvSpPr>
          <p:cNvPr id="107523" name="内容占位符 107522"/>
          <p:cNvSpPr>
            <a:spLocks noGrp="1"/>
          </p:cNvSpPr>
          <p:nvPr>
            <p:ph idx="1"/>
          </p:nvPr>
        </p:nvSpPr>
        <p:spPr>
          <a:xfrm>
            <a:off x="827088" y="1989138"/>
            <a:ext cx="7772400" cy="4114800"/>
          </a:xfrm>
        </p:spPr>
        <p:txBody>
          <a:bodyPr vert="horz" wrap="square" lIns="91440" tIns="45720" rIns="91440" bIns="45720" anchor="t" anchorCtr="0"/>
          <a:lstStyle/>
          <a:p>
            <a:pPr eaLnBrk="1" hangingPunct="1">
              <a:buNone/>
            </a:pPr>
            <a:r>
              <a:rPr lang="zh-CN" altLang="en-US" sz="3600" dirty="0"/>
              <a:t>利用信号量实现</a:t>
            </a:r>
            <a:r>
              <a:rPr lang="zh-CN" altLang="en-US" sz="3600" b="1" dirty="0"/>
              <a:t>互斥</a:t>
            </a:r>
            <a:r>
              <a:rPr lang="zh-CN" altLang="en-US" sz="3600" dirty="0"/>
              <a:t>的一般模型是：</a:t>
            </a:r>
          </a:p>
          <a:p>
            <a:pPr eaLnBrk="1" hangingPunct="1">
              <a:buNone/>
            </a:pPr>
            <a:r>
              <a:rPr lang="zh-CN" altLang="en-US" sz="2800" dirty="0"/>
              <a:t>  进程</a:t>
            </a:r>
            <a:r>
              <a:rPr lang="en-US" altLang="zh-CN" sz="2800" dirty="0"/>
              <a:t>P1              </a:t>
            </a:r>
            <a:r>
              <a:rPr lang="zh-CN" altLang="en-US" sz="2800" dirty="0"/>
              <a:t>进程</a:t>
            </a:r>
            <a:r>
              <a:rPr lang="en-US" altLang="zh-CN" sz="2800" dirty="0"/>
              <a:t>P2            … </a:t>
            </a:r>
            <a:r>
              <a:rPr lang="zh-CN" altLang="en-US" sz="2800" dirty="0"/>
              <a:t>进程</a:t>
            </a:r>
            <a:r>
              <a:rPr lang="en-US" altLang="zh-CN" sz="2800" dirty="0"/>
              <a:t>P</a:t>
            </a:r>
            <a:r>
              <a:rPr lang="en-US" altLang="zh-CN" sz="2800" i="1" dirty="0"/>
              <a:t>n</a:t>
            </a:r>
            <a:endParaRPr lang="en-US" altLang="zh-CN" sz="2800" dirty="0"/>
          </a:p>
          <a:p>
            <a:pPr eaLnBrk="1" hangingPunct="1">
              <a:buNone/>
            </a:pPr>
            <a:r>
              <a:rPr lang="en-US" altLang="zh-CN" sz="2800" dirty="0"/>
              <a:t>   …                   …                               …    P(mutex);         P(mutex);             P(mutex);        </a:t>
            </a:r>
            <a:r>
              <a:rPr lang="zh-CN" altLang="en-US" sz="2800" dirty="0"/>
              <a:t>临界区             临界区                     临界区</a:t>
            </a:r>
          </a:p>
          <a:p>
            <a:pPr eaLnBrk="1" hangingPunct="1">
              <a:buNone/>
            </a:pPr>
            <a:r>
              <a:rPr lang="zh-CN" altLang="en-US" sz="2800" dirty="0"/>
              <a:t>   </a:t>
            </a:r>
            <a:r>
              <a:rPr lang="en-US" altLang="zh-CN" sz="2800" dirty="0"/>
              <a:t>V(mutex);         V(mutex);             V(mutex);</a:t>
            </a:r>
          </a:p>
          <a:p>
            <a:pPr eaLnBrk="1" hangingPunct="1">
              <a:buNone/>
            </a:pPr>
            <a:r>
              <a:rPr lang="en-US" altLang="zh-CN" sz="2800" dirty="0"/>
              <a:t>       …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07523">
                                            <p:txEl>
                                              <p:pRg st="1" end="1"/>
                                            </p:txEl>
                                          </p:spTgt>
                                        </p:tgtEl>
                                        <p:attrNameLst>
                                          <p:attrName>style.visibility</p:attrName>
                                        </p:attrNameLst>
                                      </p:cBhvr>
                                      <p:to>
                                        <p:strVal val="visible"/>
                                      </p:to>
                                    </p:set>
                                    <p:animEffect transition="in" filter="strips(downLeft)">
                                      <p:cBhvr>
                                        <p:cTn id="7" dur="500"/>
                                        <p:tgtEl>
                                          <p:spTgt spid="107523">
                                            <p:txEl>
                                              <p:pRg st="1" end="1"/>
                                            </p:txEl>
                                          </p:spTgt>
                                        </p:tgtEl>
                                      </p:cBhvr>
                                    </p:animEffect>
                                  </p:childTnLst>
                                </p:cTn>
                              </p:par>
                              <p:par>
                                <p:cTn id="8" presetID="18" presetClass="entr" presetSubtype="12" fill="hold" nodeType="withEffect">
                                  <p:stCondLst>
                                    <p:cond delay="0"/>
                                  </p:stCondLst>
                                  <p:childTnLst>
                                    <p:set>
                                      <p:cBhvr>
                                        <p:cTn id="9" dur="1" fill="hold">
                                          <p:stCondLst>
                                            <p:cond delay="0"/>
                                          </p:stCondLst>
                                        </p:cTn>
                                        <p:tgtEl>
                                          <p:spTgt spid="107523">
                                            <p:txEl>
                                              <p:pRg st="2" end="2"/>
                                            </p:txEl>
                                          </p:spTgt>
                                        </p:tgtEl>
                                        <p:attrNameLst>
                                          <p:attrName>style.visibility</p:attrName>
                                        </p:attrNameLst>
                                      </p:cBhvr>
                                      <p:to>
                                        <p:strVal val="visible"/>
                                      </p:to>
                                    </p:set>
                                    <p:animEffect transition="in" filter="strips(downLeft)">
                                      <p:cBhvr>
                                        <p:cTn id="10" dur="500"/>
                                        <p:tgtEl>
                                          <p:spTgt spid="107523">
                                            <p:txEl>
                                              <p:pRg st="2" end="2"/>
                                            </p:txEl>
                                          </p:spTgt>
                                        </p:tgtEl>
                                      </p:cBhvr>
                                    </p:animEffect>
                                  </p:childTnLst>
                                </p:cTn>
                              </p:par>
                              <p:par>
                                <p:cTn id="11" presetID="18" presetClass="entr" presetSubtype="12" fill="hold" nodeType="withEffect">
                                  <p:stCondLst>
                                    <p:cond delay="0"/>
                                  </p:stCondLst>
                                  <p:childTnLst>
                                    <p:set>
                                      <p:cBhvr>
                                        <p:cTn id="12" dur="1" fill="hold">
                                          <p:stCondLst>
                                            <p:cond delay="0"/>
                                          </p:stCondLst>
                                        </p:cTn>
                                        <p:tgtEl>
                                          <p:spTgt spid="107523">
                                            <p:txEl>
                                              <p:pRg st="3" end="3"/>
                                            </p:txEl>
                                          </p:spTgt>
                                        </p:tgtEl>
                                        <p:attrNameLst>
                                          <p:attrName>style.visibility</p:attrName>
                                        </p:attrNameLst>
                                      </p:cBhvr>
                                      <p:to>
                                        <p:strVal val="visible"/>
                                      </p:to>
                                    </p:set>
                                    <p:animEffect transition="in" filter="strips(downLeft)">
                                      <p:cBhvr>
                                        <p:cTn id="13" dur="500"/>
                                        <p:tgtEl>
                                          <p:spTgt spid="107523">
                                            <p:txEl>
                                              <p:pRg st="3" end="3"/>
                                            </p:txEl>
                                          </p:spTgt>
                                        </p:tgtEl>
                                      </p:cBhvr>
                                    </p:animEffect>
                                  </p:childTnLst>
                                </p:cTn>
                              </p:par>
                              <p:par>
                                <p:cTn id="14" presetID="18" presetClass="entr" presetSubtype="12" fill="hold" nodeType="withEffect">
                                  <p:stCondLst>
                                    <p:cond delay="0"/>
                                  </p:stCondLst>
                                  <p:childTnLst>
                                    <p:set>
                                      <p:cBhvr>
                                        <p:cTn id="15" dur="1" fill="hold">
                                          <p:stCondLst>
                                            <p:cond delay="0"/>
                                          </p:stCondLst>
                                        </p:cTn>
                                        <p:tgtEl>
                                          <p:spTgt spid="107523">
                                            <p:txEl>
                                              <p:pRg st="4" end="4"/>
                                            </p:txEl>
                                          </p:spTgt>
                                        </p:tgtEl>
                                        <p:attrNameLst>
                                          <p:attrName>style.visibility</p:attrName>
                                        </p:attrNameLst>
                                      </p:cBhvr>
                                      <p:to>
                                        <p:strVal val="visible"/>
                                      </p:to>
                                    </p:set>
                                    <p:animEffect transition="in" filter="strips(downLeft)">
                                      <p:cBhvr>
                                        <p:cTn id="16" dur="500"/>
                                        <p:tgtEl>
                                          <p:spTgt spid="1075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08545"/>
          <p:cNvSpPr>
            <a:spLocks noGrp="1"/>
          </p:cNvSpPr>
          <p:nvPr>
            <p:ph type="title"/>
          </p:nvPr>
        </p:nvSpPr>
        <p:spPr/>
        <p:txBody>
          <a:bodyPr vert="horz" wrap="square" lIns="91440" tIns="45720" rIns="91440" bIns="45720" anchor="b" anchorCtr="0"/>
          <a:lstStyle/>
          <a:p>
            <a:pPr eaLnBrk="1" hangingPunct="1"/>
            <a:r>
              <a:rPr lang="en-US" altLang="zh-CN" dirty="0"/>
              <a:t>2.5.5  </a:t>
            </a:r>
            <a:r>
              <a:rPr lang="zh-CN" altLang="en-US" dirty="0"/>
              <a:t>信号量的一般应用</a:t>
            </a:r>
            <a:br>
              <a:rPr lang="zh-CN" altLang="en-US" dirty="0"/>
            </a:br>
            <a:endParaRPr lang="zh-CN" altLang="en-US" dirty="0"/>
          </a:p>
        </p:txBody>
      </p:sp>
      <p:sp>
        <p:nvSpPr>
          <p:cNvPr id="108547" name="内容占位符 108546"/>
          <p:cNvSpPr>
            <a:spLocks noGrp="1"/>
          </p:cNvSpPr>
          <p:nvPr>
            <p:ph idx="1"/>
          </p:nvPr>
        </p:nvSpPr>
        <p:spPr>
          <a:xfrm>
            <a:off x="611188" y="1916113"/>
            <a:ext cx="8137525" cy="3971925"/>
          </a:xfrm>
        </p:spPr>
        <p:txBody>
          <a:bodyPr vert="horz" wrap="square" lIns="91440" tIns="45720" rIns="91440" bIns="45720" anchor="t" anchorCtr="0"/>
          <a:lstStyle/>
          <a:p>
            <a:pPr eaLnBrk="1" hangingPunct="1">
              <a:buNone/>
            </a:pPr>
            <a:r>
              <a:rPr lang="zh-CN" altLang="en-US" b="1" dirty="0"/>
              <a:t>使用</a:t>
            </a:r>
            <a:r>
              <a:rPr lang="en-US" altLang="zh-CN" b="1" dirty="0"/>
              <a:t>P, V</a:t>
            </a:r>
            <a:r>
              <a:rPr lang="zh-CN" altLang="en-US" b="1" dirty="0"/>
              <a:t>操作实现</a:t>
            </a:r>
            <a:r>
              <a:rPr lang="zh-CN" altLang="en-US" sz="3600" b="1" dirty="0"/>
              <a:t>互斥</a:t>
            </a:r>
            <a:r>
              <a:rPr lang="zh-CN" altLang="en-US" b="1" dirty="0"/>
              <a:t>时应注意两点：</a:t>
            </a:r>
          </a:p>
          <a:p>
            <a:pPr eaLnBrk="1" hangingPunct="1">
              <a:buNone/>
            </a:pPr>
            <a:r>
              <a:rPr lang="en-US" altLang="zh-CN" dirty="0"/>
              <a:t>① </a:t>
            </a:r>
            <a:r>
              <a:rPr lang="zh-CN" altLang="en-US" dirty="0"/>
              <a:t>在每个程序中用于实现互斥的</a:t>
            </a:r>
            <a:r>
              <a:rPr lang="en-US" altLang="zh-CN" dirty="0"/>
              <a:t>P(mutex)</a:t>
            </a:r>
            <a:r>
              <a:rPr lang="zh-CN" altLang="en-US" dirty="0"/>
              <a:t>和</a:t>
            </a:r>
            <a:r>
              <a:rPr lang="en-US" altLang="zh-CN" dirty="0"/>
              <a:t>V(mutex)</a:t>
            </a:r>
            <a:r>
              <a:rPr lang="zh-CN" altLang="en-US" dirty="0"/>
              <a:t>必须</a:t>
            </a:r>
            <a:r>
              <a:rPr lang="zh-CN" altLang="en-US" dirty="0">
                <a:solidFill>
                  <a:srgbClr val="FF0000"/>
                </a:solidFill>
              </a:rPr>
              <a:t>成对出现</a:t>
            </a:r>
            <a:r>
              <a:rPr lang="zh-CN" altLang="en-US" dirty="0"/>
              <a:t>，即先做</a:t>
            </a:r>
            <a:r>
              <a:rPr lang="en-US" altLang="zh-CN" dirty="0"/>
              <a:t>P</a:t>
            </a:r>
            <a:r>
              <a:rPr lang="zh-CN" altLang="en-US" dirty="0"/>
              <a:t>操作，进入临界区；后做</a:t>
            </a:r>
            <a:r>
              <a:rPr lang="en-US" altLang="zh-CN" dirty="0"/>
              <a:t>V</a:t>
            </a:r>
            <a:r>
              <a:rPr lang="zh-CN" altLang="en-US" dirty="0"/>
              <a:t>操作，退出临界区。</a:t>
            </a:r>
          </a:p>
          <a:p>
            <a:pPr eaLnBrk="1" hangingPunct="1">
              <a:buNone/>
            </a:pPr>
            <a:r>
              <a:rPr lang="en-US" altLang="zh-CN" dirty="0"/>
              <a:t>② </a:t>
            </a:r>
            <a:r>
              <a:rPr lang="zh-CN" altLang="en-US" dirty="0"/>
              <a:t>互斥信号量</a:t>
            </a:r>
            <a:r>
              <a:rPr lang="en-US" altLang="zh-CN" dirty="0"/>
              <a:t>mutex</a:t>
            </a:r>
            <a:r>
              <a:rPr lang="zh-CN" altLang="en-US" dirty="0"/>
              <a:t>的初值一般为</a:t>
            </a:r>
            <a:r>
              <a:rPr lang="en-US" altLang="zh-CN" dirty="0"/>
              <a:t>1</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08547">
                                            <p:txEl>
                                              <p:pRg st="1" end="1"/>
                                            </p:txEl>
                                          </p:spTgt>
                                        </p:tgtEl>
                                        <p:attrNameLst>
                                          <p:attrName>style.visibility</p:attrName>
                                        </p:attrNameLst>
                                      </p:cBhvr>
                                      <p:to>
                                        <p:strVal val="visible"/>
                                      </p:to>
                                    </p:set>
                                    <p:animEffect transition="in" filter="slide(fromBottom)">
                                      <p:cBhvr>
                                        <p:cTn id="7" dur="500"/>
                                        <p:tgtEl>
                                          <p:spTgt spid="108547">
                                            <p:txEl>
                                              <p:pRg st="1" end="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108547">
                                            <p:txEl>
                                              <p:pRg st="2" end="2"/>
                                            </p:txEl>
                                          </p:spTgt>
                                        </p:tgtEl>
                                        <p:attrNameLst>
                                          <p:attrName>style.visibility</p:attrName>
                                        </p:attrNameLst>
                                      </p:cBhvr>
                                      <p:to>
                                        <p:strVal val="visible"/>
                                      </p:to>
                                    </p:set>
                                    <p:animEffect transition="in" filter="slide(fromBottom)">
                                      <p:cBhvr>
                                        <p:cTn id="10" dur="500"/>
                                        <p:tgtEl>
                                          <p:spTgt spid="1085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图片 109569"/>
          <p:cNvPicPr>
            <a:picLocks noChangeAspect="1"/>
          </p:cNvPicPr>
          <p:nvPr/>
        </p:nvPicPr>
        <p:blipFill>
          <a:blip r:embed="rId2"/>
          <a:stretch>
            <a:fillRect/>
          </a:stretch>
        </p:blipFill>
        <p:spPr>
          <a:xfrm>
            <a:off x="684213" y="2492375"/>
            <a:ext cx="7056437" cy="2449513"/>
          </a:xfrm>
          <a:prstGeom prst="rect">
            <a:avLst/>
          </a:prstGeom>
          <a:noFill/>
          <a:ln w="9525">
            <a:noFill/>
          </a:ln>
        </p:spPr>
      </p:pic>
      <p:sp>
        <p:nvSpPr>
          <p:cNvPr id="37891" name="标题 109570"/>
          <p:cNvSpPr>
            <a:spLocks noGrp="1"/>
          </p:cNvSpPr>
          <p:nvPr>
            <p:ph type="title"/>
          </p:nvPr>
        </p:nvSpPr>
        <p:spPr/>
        <p:txBody>
          <a:bodyPr vert="horz" wrap="square" lIns="91440" tIns="45720" rIns="91440" bIns="45720" anchor="b" anchorCtr="0"/>
          <a:lstStyle/>
          <a:p>
            <a:pPr eaLnBrk="1" hangingPunct="1"/>
            <a:r>
              <a:rPr lang="en-US" altLang="zh-CN" dirty="0"/>
              <a:t>2.5.5  </a:t>
            </a:r>
            <a:r>
              <a:rPr lang="zh-CN" altLang="en-US" dirty="0"/>
              <a:t>信号量的一般应用</a:t>
            </a:r>
            <a:br>
              <a:rPr lang="zh-CN" altLang="en-US" dirty="0"/>
            </a:br>
            <a:endParaRPr lang="zh-CN" altLang="en-US" dirty="0"/>
          </a:p>
        </p:txBody>
      </p:sp>
      <p:sp>
        <p:nvSpPr>
          <p:cNvPr id="37892" name="文本占位符 109571"/>
          <p:cNvSpPr>
            <a:spLocks noGrp="1"/>
          </p:cNvSpPr>
          <p:nvPr>
            <p:ph idx="1"/>
          </p:nvPr>
        </p:nvSpPr>
        <p:spPr>
          <a:xfrm>
            <a:off x="1258888" y="1196975"/>
            <a:ext cx="6408737" cy="444500"/>
          </a:xfrm>
        </p:spPr>
        <p:txBody>
          <a:bodyPr vert="horz" wrap="square" lIns="91440" tIns="45720" rIns="91440" bIns="45720" anchor="t" anchorCtr="0"/>
          <a:lstStyle/>
          <a:p>
            <a:pPr algn="just" eaLnBrk="1" hangingPunct="1">
              <a:lnSpc>
                <a:spcPct val="80000"/>
              </a:lnSpc>
              <a:buNone/>
            </a:pPr>
            <a:r>
              <a:rPr lang="en-US" altLang="zh-CN" sz="2800" dirty="0"/>
              <a:t>2</a:t>
            </a:r>
            <a:r>
              <a:rPr lang="zh-CN" altLang="en-US" sz="2800" dirty="0"/>
              <a:t>．用信号量实现进程简单</a:t>
            </a:r>
            <a:r>
              <a:rPr lang="zh-CN" altLang="en-US" sz="2800" b="1" dirty="0"/>
              <a:t>同步</a:t>
            </a:r>
            <a:r>
              <a:rPr lang="zh-CN" altLang="en-US" sz="2800" dirty="0"/>
              <a:t>，例如：</a:t>
            </a:r>
          </a:p>
        </p:txBody>
      </p:sp>
      <p:sp>
        <p:nvSpPr>
          <p:cNvPr id="37893" name="矩形 109572"/>
          <p:cNvSpPr/>
          <p:nvPr/>
        </p:nvSpPr>
        <p:spPr>
          <a:xfrm>
            <a:off x="1619250" y="5445125"/>
            <a:ext cx="5915025" cy="358775"/>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eaLnBrk="1" hangingPunct="1">
              <a:lnSpc>
                <a:spcPct val="80000"/>
              </a:lnSpc>
              <a:buFont typeface="Arial" panose="020B0604020202020204" pitchFamily="34" charset="0"/>
              <a:buNone/>
            </a:pPr>
            <a:r>
              <a:rPr lang="zh-CN" altLang="en-US" sz="2000" dirty="0">
                <a:latin typeface="Arial" panose="020B0604020202020204" pitchFamily="34" charset="0"/>
              </a:rPr>
              <a:t>图</a:t>
            </a:r>
            <a:r>
              <a:rPr lang="en-US" altLang="zh-CN" sz="2000" dirty="0"/>
              <a:t>2-18  </a:t>
            </a:r>
            <a:r>
              <a:rPr lang="zh-CN" altLang="en-US" sz="2000" dirty="0">
                <a:latin typeface="Arial" panose="020B0604020202020204" pitchFamily="34" charset="0"/>
              </a:rPr>
              <a:t>简单供者和用者对缓冲区的使用关系</a:t>
            </a:r>
          </a:p>
        </p:txBody>
      </p:sp>
      <p:sp>
        <p:nvSpPr>
          <p:cNvPr id="109574" name="直接连接符 109573"/>
          <p:cNvSpPr/>
          <p:nvPr/>
        </p:nvSpPr>
        <p:spPr>
          <a:xfrm>
            <a:off x="1979613" y="3213100"/>
            <a:ext cx="863600" cy="865188"/>
          </a:xfrm>
          <a:prstGeom prst="line">
            <a:avLst/>
          </a:prstGeom>
          <a:ln w="38100" cap="flat" cmpd="sng">
            <a:solidFill>
              <a:srgbClr val="000000"/>
            </a:solidFill>
            <a:prstDash val="solid"/>
            <a:headEnd type="none" w="med" len="med"/>
            <a:tailEnd type="triangle" w="med" len="med"/>
          </a:ln>
        </p:spPr>
      </p:sp>
      <p:sp>
        <p:nvSpPr>
          <p:cNvPr id="109575" name="直接连接符 109574"/>
          <p:cNvSpPr/>
          <p:nvPr/>
        </p:nvSpPr>
        <p:spPr>
          <a:xfrm flipV="1">
            <a:off x="4211638" y="3429000"/>
            <a:ext cx="2736850" cy="936625"/>
          </a:xfrm>
          <a:prstGeom prst="line">
            <a:avLst/>
          </a:prstGeom>
          <a:ln w="38100" cap="flat" cmpd="sng">
            <a:solidFill>
              <a:srgbClr val="000000"/>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repeatCount="3000" fill="hold" nodeType="clickEffect">
                                  <p:stCondLst>
                                    <p:cond delay="0"/>
                                  </p:stCondLst>
                                  <p:childTnLst>
                                    <p:set>
                                      <p:cBhvr>
                                        <p:cTn id="6" dur="1" fill="hold">
                                          <p:stCondLst>
                                            <p:cond delay="0"/>
                                          </p:stCondLst>
                                        </p:cTn>
                                        <p:tgtEl>
                                          <p:spTgt spid="109574"/>
                                        </p:tgtEl>
                                        <p:attrNameLst>
                                          <p:attrName>style.visibility</p:attrName>
                                        </p:attrNameLst>
                                      </p:cBhvr>
                                      <p:to>
                                        <p:strVal val="visible"/>
                                      </p:to>
                                    </p:set>
                                    <p:animEffect transition="in" filter="wipe(up)">
                                      <p:cBhvr>
                                        <p:cTn id="7" dur="2000"/>
                                        <p:tgtEl>
                                          <p:spTgt spid="1095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repeatCount="2000" fill="hold" nodeType="clickEffect">
                                  <p:stCondLst>
                                    <p:cond delay="0"/>
                                  </p:stCondLst>
                                  <p:childTnLst>
                                    <p:set>
                                      <p:cBhvr>
                                        <p:cTn id="11" dur="1" fill="hold">
                                          <p:stCondLst>
                                            <p:cond delay="0"/>
                                          </p:stCondLst>
                                        </p:cTn>
                                        <p:tgtEl>
                                          <p:spTgt spid="109575"/>
                                        </p:tgtEl>
                                        <p:attrNameLst>
                                          <p:attrName>style.visibility</p:attrName>
                                        </p:attrNameLst>
                                      </p:cBhvr>
                                      <p:to>
                                        <p:strVal val="visible"/>
                                      </p:to>
                                    </p:set>
                                    <p:animEffect transition="in" filter="wipe(down)">
                                      <p:cBhvr>
                                        <p:cTn id="12" dur="2000"/>
                                        <p:tgtEl>
                                          <p:spTgt spid="109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10593"/>
          <p:cNvSpPr>
            <a:spLocks noGrp="1"/>
          </p:cNvSpPr>
          <p:nvPr>
            <p:ph type="title"/>
          </p:nvPr>
        </p:nvSpPr>
        <p:spPr>
          <a:xfrm>
            <a:off x="1350963" y="549275"/>
            <a:ext cx="7793037" cy="887413"/>
          </a:xfrm>
        </p:spPr>
        <p:txBody>
          <a:bodyPr vert="horz" wrap="square" lIns="91440" tIns="45720" rIns="91440" bIns="45720" anchor="b" anchorCtr="0"/>
          <a:lstStyle/>
          <a:p>
            <a:pPr eaLnBrk="1" hangingPunct="1"/>
            <a:r>
              <a:rPr lang="en-US" altLang="zh-CN" sz="4000" dirty="0"/>
              <a:t>2.5.5  </a:t>
            </a:r>
            <a:r>
              <a:rPr lang="zh-CN" altLang="en-US" sz="4000" dirty="0"/>
              <a:t>信号量的一般应用</a:t>
            </a:r>
            <a:br>
              <a:rPr lang="zh-CN" altLang="en-US" sz="4000" dirty="0"/>
            </a:br>
            <a:r>
              <a:rPr lang="zh-CN" altLang="en-US" sz="2400" dirty="0"/>
              <a:t>同步例如续</a:t>
            </a:r>
          </a:p>
        </p:txBody>
      </p:sp>
      <p:sp>
        <p:nvSpPr>
          <p:cNvPr id="110595" name="内容占位符 110594"/>
          <p:cNvSpPr>
            <a:spLocks noGrp="1"/>
          </p:cNvSpPr>
          <p:nvPr>
            <p:ph idx="1"/>
          </p:nvPr>
        </p:nvSpPr>
        <p:spPr>
          <a:xfrm>
            <a:off x="684213" y="1989138"/>
            <a:ext cx="7772400" cy="4114800"/>
          </a:xfrm>
        </p:spPr>
        <p:txBody>
          <a:bodyPr vert="horz" wrap="square" lIns="91440" tIns="45720" rIns="91440" bIns="45720" anchor="t" anchorCtr="0"/>
          <a:lstStyle/>
          <a:p>
            <a:pPr eaLnBrk="1" hangingPunct="1">
              <a:lnSpc>
                <a:spcPct val="90000"/>
              </a:lnSpc>
            </a:pPr>
            <a:r>
              <a:rPr lang="zh-CN" altLang="en-US" dirty="0"/>
              <a:t>供者和用者间要交换两个消息：缓冲区</a:t>
            </a:r>
            <a:r>
              <a:rPr lang="zh-CN" altLang="en-US" dirty="0">
                <a:solidFill>
                  <a:schemeClr val="tx2"/>
                </a:solidFill>
              </a:rPr>
              <a:t>空</a:t>
            </a:r>
            <a:r>
              <a:rPr lang="zh-CN" altLang="en-US" dirty="0"/>
              <a:t>和缓冲区</a:t>
            </a:r>
            <a:r>
              <a:rPr lang="zh-CN" altLang="en-US" dirty="0">
                <a:solidFill>
                  <a:schemeClr val="tx2"/>
                </a:solidFill>
              </a:rPr>
              <a:t>满</a:t>
            </a:r>
            <a:r>
              <a:rPr lang="zh-CN" altLang="en-US" dirty="0"/>
              <a:t>的状态。</a:t>
            </a:r>
          </a:p>
          <a:p>
            <a:pPr eaLnBrk="1" hangingPunct="1">
              <a:lnSpc>
                <a:spcPct val="90000"/>
              </a:lnSpc>
            </a:pPr>
            <a:r>
              <a:rPr lang="zh-CN" altLang="en-US" dirty="0"/>
              <a:t>设置两个信号量：</a:t>
            </a:r>
          </a:p>
          <a:p>
            <a:pPr eaLnBrk="1" hangingPunct="1">
              <a:lnSpc>
                <a:spcPct val="90000"/>
              </a:lnSpc>
              <a:buNone/>
            </a:pPr>
            <a:r>
              <a:rPr lang="zh-CN" altLang="en-US" dirty="0"/>
              <a:t>         </a:t>
            </a:r>
            <a:r>
              <a:rPr lang="en-US" altLang="zh-CN" dirty="0"/>
              <a:t>S1</a:t>
            </a:r>
            <a:r>
              <a:rPr lang="zh-CN" altLang="en-US" dirty="0"/>
              <a:t>表示缓冲区是否空（</a:t>
            </a:r>
            <a:r>
              <a:rPr lang="en-US" altLang="zh-CN" dirty="0"/>
              <a:t>0</a:t>
            </a:r>
            <a:r>
              <a:rPr lang="zh-CN" altLang="en-US" dirty="0"/>
              <a:t>表示不空，</a:t>
            </a:r>
            <a:r>
              <a:rPr lang="en-US" altLang="zh-CN" dirty="0"/>
              <a:t>1</a:t>
            </a:r>
            <a:r>
              <a:rPr lang="zh-CN" altLang="en-US" dirty="0"/>
              <a:t>表示空）。</a:t>
            </a:r>
          </a:p>
          <a:p>
            <a:pPr eaLnBrk="1" hangingPunct="1">
              <a:lnSpc>
                <a:spcPct val="90000"/>
              </a:lnSpc>
              <a:buNone/>
            </a:pPr>
            <a:r>
              <a:rPr lang="zh-CN" altLang="en-US" dirty="0"/>
              <a:t>         </a:t>
            </a:r>
            <a:r>
              <a:rPr lang="en-US" altLang="zh-CN" dirty="0"/>
              <a:t>S2</a:t>
            </a:r>
            <a:r>
              <a:rPr lang="zh-CN" altLang="en-US" dirty="0"/>
              <a:t>表示缓冲区是否满（</a:t>
            </a:r>
            <a:r>
              <a:rPr lang="en-US" altLang="zh-CN" dirty="0"/>
              <a:t>0</a:t>
            </a:r>
            <a:r>
              <a:rPr lang="zh-CN" altLang="en-US" dirty="0"/>
              <a:t>表示不满，</a:t>
            </a:r>
            <a:r>
              <a:rPr lang="en-US" altLang="zh-CN" dirty="0"/>
              <a:t>1</a:t>
            </a:r>
            <a:r>
              <a:rPr lang="zh-CN" altLang="en-US" dirty="0"/>
              <a:t>表示满）。</a:t>
            </a:r>
          </a:p>
          <a:p>
            <a:pPr eaLnBrk="1" hangingPunct="1">
              <a:lnSpc>
                <a:spcPct val="90000"/>
              </a:lnSpc>
              <a:buNone/>
            </a:pPr>
            <a:r>
              <a:rPr lang="zh-CN" altLang="en-US" dirty="0"/>
              <a:t>         规定</a:t>
            </a:r>
            <a:r>
              <a:rPr lang="en-US" altLang="zh-CN" dirty="0"/>
              <a:t>S1</a:t>
            </a:r>
            <a:r>
              <a:rPr lang="zh-CN" altLang="en-US" dirty="0"/>
              <a:t>和</a:t>
            </a:r>
            <a:r>
              <a:rPr lang="en-US" altLang="zh-CN" dirty="0"/>
              <a:t>S2</a:t>
            </a:r>
            <a:r>
              <a:rPr lang="zh-CN" altLang="en-US" dirty="0"/>
              <a:t>的初值分别为</a:t>
            </a:r>
            <a:r>
              <a:rPr lang="en-US" altLang="zh-CN" dirty="0"/>
              <a:t>1</a:t>
            </a:r>
            <a:r>
              <a:rPr lang="zh-CN" altLang="en-US" dirty="0"/>
              <a:t>和</a:t>
            </a:r>
            <a:r>
              <a:rPr lang="en-US" altLang="zh-CN" dirty="0"/>
              <a:t>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10595">
                                            <p:txEl>
                                              <p:pRg st="1" end="1"/>
                                            </p:txEl>
                                          </p:spTgt>
                                        </p:tgtEl>
                                        <p:attrNameLst>
                                          <p:attrName>style.visibility</p:attrName>
                                        </p:attrNameLst>
                                      </p:cBhvr>
                                      <p:to>
                                        <p:strVal val="visible"/>
                                      </p:to>
                                    </p:set>
                                    <p:animEffect transition="in" filter="slide(fromBottom)">
                                      <p:cBhvr>
                                        <p:cTn id="7" dur="500"/>
                                        <p:tgtEl>
                                          <p:spTgt spid="110595">
                                            <p:txEl>
                                              <p:pRg st="1" end="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110595">
                                            <p:txEl>
                                              <p:pRg st="2" end="2"/>
                                            </p:txEl>
                                          </p:spTgt>
                                        </p:tgtEl>
                                        <p:attrNameLst>
                                          <p:attrName>style.visibility</p:attrName>
                                        </p:attrNameLst>
                                      </p:cBhvr>
                                      <p:to>
                                        <p:strVal val="visible"/>
                                      </p:to>
                                    </p:set>
                                    <p:animEffect transition="in" filter="slide(fromBottom)">
                                      <p:cBhvr>
                                        <p:cTn id="10" dur="500"/>
                                        <p:tgtEl>
                                          <p:spTgt spid="110595">
                                            <p:txEl>
                                              <p:pRg st="2" end="2"/>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110595">
                                            <p:txEl>
                                              <p:pRg st="3" end="3"/>
                                            </p:txEl>
                                          </p:spTgt>
                                        </p:tgtEl>
                                        <p:attrNameLst>
                                          <p:attrName>style.visibility</p:attrName>
                                        </p:attrNameLst>
                                      </p:cBhvr>
                                      <p:to>
                                        <p:strVal val="visible"/>
                                      </p:to>
                                    </p:set>
                                    <p:animEffect transition="in" filter="slide(fromBottom)">
                                      <p:cBhvr>
                                        <p:cTn id="13" dur="500"/>
                                        <p:tgtEl>
                                          <p:spTgt spid="110595">
                                            <p:txEl>
                                              <p:pRg st="3" end="3"/>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110595">
                                            <p:txEl>
                                              <p:pRg st="4" end="4"/>
                                            </p:txEl>
                                          </p:spTgt>
                                        </p:tgtEl>
                                        <p:attrNameLst>
                                          <p:attrName>style.visibility</p:attrName>
                                        </p:attrNameLst>
                                      </p:cBhvr>
                                      <p:to>
                                        <p:strVal val="visible"/>
                                      </p:to>
                                    </p:set>
                                    <p:animEffect transition="in" filter="slide(fromBottom)">
                                      <p:cBhvr>
                                        <p:cTn id="16" dur="500"/>
                                        <p:tgtEl>
                                          <p:spTgt spid="1105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11617"/>
          <p:cNvSpPr>
            <a:spLocks noGrp="1"/>
          </p:cNvSpPr>
          <p:nvPr>
            <p:ph type="title"/>
          </p:nvPr>
        </p:nvSpPr>
        <p:spPr/>
        <p:txBody>
          <a:bodyPr vert="horz" wrap="square" lIns="91440" tIns="45720" rIns="91440" bIns="45720" anchor="b" anchorCtr="0"/>
          <a:lstStyle/>
          <a:p>
            <a:pPr eaLnBrk="1" hangingPunct="1"/>
            <a:r>
              <a:rPr lang="en-US" altLang="zh-CN" dirty="0"/>
              <a:t>2.5.5  </a:t>
            </a:r>
            <a:r>
              <a:rPr lang="zh-CN" altLang="en-US" dirty="0"/>
              <a:t>信号量的一般应用</a:t>
            </a:r>
            <a:br>
              <a:rPr lang="zh-CN" altLang="en-US" dirty="0"/>
            </a:br>
            <a:r>
              <a:rPr lang="zh-CN" altLang="en-US" sz="2400" dirty="0"/>
              <a:t>同步例如续</a:t>
            </a:r>
          </a:p>
        </p:txBody>
      </p:sp>
      <p:sp>
        <p:nvSpPr>
          <p:cNvPr id="111619" name="内容占位符 111618"/>
          <p:cNvSpPr>
            <a:spLocks noGrp="1"/>
          </p:cNvSpPr>
          <p:nvPr>
            <p:ph idx="1"/>
          </p:nvPr>
        </p:nvSpPr>
        <p:spPr>
          <a:xfrm>
            <a:off x="755650" y="1989138"/>
            <a:ext cx="7772400" cy="4114800"/>
          </a:xfrm>
        </p:spPr>
        <p:txBody>
          <a:bodyPr vert="horz" wrap="square" lIns="91440" tIns="45720" rIns="91440" bIns="45720" anchor="t" anchorCtr="0"/>
          <a:lstStyle/>
          <a:p>
            <a:pPr eaLnBrk="1" hangingPunct="1">
              <a:buNone/>
            </a:pPr>
            <a:r>
              <a:rPr lang="en-US" altLang="zh-CN" dirty="0"/>
              <a:t> </a:t>
            </a:r>
            <a:r>
              <a:rPr lang="zh-CN" altLang="en-US" dirty="0"/>
              <a:t>供者进程                      用者进程</a:t>
            </a:r>
          </a:p>
          <a:p>
            <a:pPr eaLnBrk="1" hangingPunct="1">
              <a:buNone/>
            </a:pPr>
            <a:r>
              <a:rPr lang="zh-CN" altLang="en-US" dirty="0"/>
              <a:t> </a:t>
            </a:r>
            <a:r>
              <a:rPr lang="en-US" altLang="zh-CN" dirty="0"/>
              <a:t>L1: P(S1)                      L2: …</a:t>
            </a:r>
          </a:p>
          <a:p>
            <a:pPr eaLnBrk="1" hangingPunct="1">
              <a:buNone/>
            </a:pPr>
            <a:r>
              <a:rPr lang="en-US" altLang="zh-CN" dirty="0"/>
              <a:t>   </a:t>
            </a:r>
            <a:r>
              <a:rPr lang="zh-CN" altLang="en-US" dirty="0"/>
              <a:t>启动读卡机；                      </a:t>
            </a:r>
            <a:r>
              <a:rPr lang="en-US" altLang="zh-CN" dirty="0"/>
              <a:t>P(S2) ;</a:t>
            </a:r>
          </a:p>
          <a:p>
            <a:pPr eaLnBrk="1" hangingPunct="1">
              <a:buNone/>
            </a:pPr>
            <a:r>
              <a:rPr lang="en-US" altLang="zh-CN" dirty="0"/>
              <a:t>         …                  </a:t>
            </a:r>
            <a:r>
              <a:rPr lang="zh-CN" altLang="en-US" dirty="0"/>
              <a:t>从缓冲区取出信息；                        收到输入结束中断；             </a:t>
            </a:r>
            <a:r>
              <a:rPr lang="en-US" altLang="zh-CN" dirty="0"/>
              <a:t>V(S1);                     </a:t>
            </a:r>
          </a:p>
          <a:p>
            <a:pPr eaLnBrk="1" hangingPunct="1">
              <a:buNone/>
            </a:pPr>
            <a:r>
              <a:rPr lang="en-US" altLang="zh-CN" dirty="0"/>
              <a:t>       V(S2);                     </a:t>
            </a:r>
            <a:r>
              <a:rPr lang="zh-CN" altLang="en-US" dirty="0"/>
              <a:t>加工并且存盘；</a:t>
            </a:r>
          </a:p>
          <a:p>
            <a:pPr eaLnBrk="1" hangingPunct="1">
              <a:buNone/>
            </a:pPr>
            <a:r>
              <a:rPr lang="zh-CN" altLang="en-US" dirty="0"/>
              <a:t>       </a:t>
            </a:r>
            <a:r>
              <a:rPr lang="en-US" altLang="zh-CN" dirty="0"/>
              <a:t>goto L1;                      goto L2;</a:t>
            </a:r>
          </a:p>
        </p:txBody>
      </p:sp>
      <p:sp>
        <p:nvSpPr>
          <p:cNvPr id="39940" name="直接连接符 111619"/>
          <p:cNvSpPr/>
          <p:nvPr/>
        </p:nvSpPr>
        <p:spPr>
          <a:xfrm>
            <a:off x="4500563" y="2133600"/>
            <a:ext cx="0" cy="4176713"/>
          </a:xfrm>
          <a:prstGeom prst="line">
            <a:avLst/>
          </a:prstGeom>
          <a:ln w="19050" cap="flat" cmpd="sng">
            <a:solidFill>
              <a:schemeClr val="tx1"/>
            </a:solidFill>
            <a:prstDash val="solid"/>
            <a:headEnd type="none" w="med" len="med"/>
            <a:tailEnd type="none" w="med" len="med"/>
          </a:ln>
        </p:spPr>
      </p:sp>
      <p:cxnSp>
        <p:nvCxnSpPr>
          <p:cNvPr id="3" name="直接连接符 2"/>
          <p:cNvCxnSpPr/>
          <p:nvPr/>
        </p:nvCxnSpPr>
        <p:spPr>
          <a:xfrm>
            <a:off x="2700338" y="2852738"/>
            <a:ext cx="3743325" cy="1655763"/>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V="1">
            <a:off x="2916238" y="3573463"/>
            <a:ext cx="3527425" cy="15113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animEffect transition="in" filter="slide(fromBottom)">
                                      <p:cBhvr>
                                        <p:cTn id="7" dur="500"/>
                                        <p:tgtEl>
                                          <p:spTgt spid="111619">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111619">
                                            <p:txEl>
                                              <p:pRg st="1" end="1"/>
                                            </p:txEl>
                                          </p:spTgt>
                                        </p:tgtEl>
                                        <p:attrNameLst>
                                          <p:attrName>style.visibility</p:attrName>
                                        </p:attrNameLst>
                                      </p:cBhvr>
                                      <p:to>
                                        <p:strVal val="visible"/>
                                      </p:to>
                                    </p:set>
                                    <p:animEffect transition="in" filter="slide(fromBottom)">
                                      <p:cBhvr>
                                        <p:cTn id="10" dur="500"/>
                                        <p:tgtEl>
                                          <p:spTgt spid="111619">
                                            <p:txEl>
                                              <p:pRg st="1" end="1"/>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111619">
                                            <p:txEl>
                                              <p:pRg st="2" end="2"/>
                                            </p:txEl>
                                          </p:spTgt>
                                        </p:tgtEl>
                                        <p:attrNameLst>
                                          <p:attrName>style.visibility</p:attrName>
                                        </p:attrNameLst>
                                      </p:cBhvr>
                                      <p:to>
                                        <p:strVal val="visible"/>
                                      </p:to>
                                    </p:set>
                                    <p:animEffect transition="in" filter="slide(fromBottom)">
                                      <p:cBhvr>
                                        <p:cTn id="13" dur="500"/>
                                        <p:tgtEl>
                                          <p:spTgt spid="111619">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111619">
                                            <p:txEl>
                                              <p:pRg st="3" end="3"/>
                                            </p:txEl>
                                          </p:spTgt>
                                        </p:tgtEl>
                                        <p:attrNameLst>
                                          <p:attrName>style.visibility</p:attrName>
                                        </p:attrNameLst>
                                      </p:cBhvr>
                                      <p:to>
                                        <p:strVal val="visible"/>
                                      </p:to>
                                    </p:set>
                                    <p:animEffect transition="in" filter="slide(fromBottom)">
                                      <p:cBhvr>
                                        <p:cTn id="16" dur="500"/>
                                        <p:tgtEl>
                                          <p:spTgt spid="111619">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111619">
                                            <p:txEl>
                                              <p:pRg st="4" end="4"/>
                                            </p:txEl>
                                          </p:spTgt>
                                        </p:tgtEl>
                                        <p:attrNameLst>
                                          <p:attrName>style.visibility</p:attrName>
                                        </p:attrNameLst>
                                      </p:cBhvr>
                                      <p:to>
                                        <p:strVal val="visible"/>
                                      </p:to>
                                    </p:set>
                                    <p:animEffect transition="in" filter="slide(fromBottom)">
                                      <p:cBhvr>
                                        <p:cTn id="19" dur="500"/>
                                        <p:tgtEl>
                                          <p:spTgt spid="111619">
                                            <p:txEl>
                                              <p:pRg st="4" end="4"/>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111619">
                                            <p:txEl>
                                              <p:pRg st="5" end="5"/>
                                            </p:txEl>
                                          </p:spTgt>
                                        </p:tgtEl>
                                        <p:attrNameLst>
                                          <p:attrName>style.visibility</p:attrName>
                                        </p:attrNameLst>
                                      </p:cBhvr>
                                      <p:to>
                                        <p:strVal val="visible"/>
                                      </p:to>
                                    </p:set>
                                    <p:animEffect transition="in" filter="slide(fromBottom)">
                                      <p:cBhvr>
                                        <p:cTn id="22" dur="500"/>
                                        <p:tgtEl>
                                          <p:spTgt spid="1116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12641"/>
          <p:cNvSpPr>
            <a:spLocks noGrp="1"/>
          </p:cNvSpPr>
          <p:nvPr>
            <p:ph type="title"/>
          </p:nvPr>
        </p:nvSpPr>
        <p:spPr/>
        <p:txBody>
          <a:bodyPr vert="horz" wrap="square" lIns="91440" tIns="45720" rIns="91440" bIns="45720" anchor="b" anchorCtr="0"/>
          <a:lstStyle/>
          <a:p>
            <a:pPr eaLnBrk="1" hangingPunct="1"/>
            <a:r>
              <a:rPr lang="en-US" altLang="zh-CN" dirty="0"/>
              <a:t>2.5.5  </a:t>
            </a:r>
            <a:r>
              <a:rPr lang="zh-CN" altLang="en-US" dirty="0"/>
              <a:t>信号量的一般应用</a:t>
            </a:r>
            <a:br>
              <a:rPr lang="zh-CN" altLang="en-US" dirty="0"/>
            </a:br>
            <a:endParaRPr lang="zh-CN" altLang="en-US" dirty="0"/>
          </a:p>
        </p:txBody>
      </p:sp>
      <p:sp>
        <p:nvSpPr>
          <p:cNvPr id="112643" name="内容占位符 112642"/>
          <p:cNvSpPr>
            <a:spLocks noGrp="1"/>
          </p:cNvSpPr>
          <p:nvPr>
            <p:ph idx="1"/>
          </p:nvPr>
        </p:nvSpPr>
        <p:spPr>
          <a:xfrm>
            <a:off x="827088" y="2060575"/>
            <a:ext cx="7772400" cy="4114800"/>
          </a:xfrm>
        </p:spPr>
        <p:txBody>
          <a:bodyPr vert="horz" wrap="square" lIns="91440" tIns="45720" rIns="91440" bIns="45720" anchor="t" anchorCtr="0"/>
          <a:lstStyle/>
          <a:p>
            <a:pPr eaLnBrk="1" hangingPunct="1">
              <a:buNone/>
            </a:pPr>
            <a:r>
              <a:rPr lang="en-US" altLang="zh-CN" dirty="0"/>
              <a:t> </a:t>
            </a:r>
            <a:r>
              <a:rPr lang="zh-CN" altLang="en-US" dirty="0"/>
              <a:t>用</a:t>
            </a:r>
            <a:r>
              <a:rPr lang="en-US" altLang="zh-CN" dirty="0"/>
              <a:t>P</a:t>
            </a:r>
            <a:r>
              <a:rPr lang="zh-CN" altLang="en-US" dirty="0"/>
              <a:t>和</a:t>
            </a:r>
            <a:r>
              <a:rPr lang="en-US" altLang="zh-CN" dirty="0"/>
              <a:t>V</a:t>
            </a:r>
            <a:r>
              <a:rPr lang="zh-CN" altLang="en-US" dirty="0"/>
              <a:t>操作实现</a:t>
            </a:r>
            <a:r>
              <a:rPr lang="zh-CN" altLang="en-US" b="1" dirty="0">
                <a:solidFill>
                  <a:schemeClr val="tx2"/>
                </a:solidFill>
              </a:rPr>
              <a:t>同步</a:t>
            </a:r>
            <a:r>
              <a:rPr lang="zh-CN" altLang="en-US" dirty="0"/>
              <a:t>时应注意如下三点：</a:t>
            </a:r>
          </a:p>
          <a:p>
            <a:pPr eaLnBrk="1" hangingPunct="1">
              <a:buNone/>
            </a:pPr>
            <a:r>
              <a:rPr lang="en-US" altLang="zh-CN" sz="2800" dirty="0"/>
              <a:t>① </a:t>
            </a:r>
            <a:r>
              <a:rPr lang="zh-CN" altLang="en-US" sz="2800" dirty="0"/>
              <a:t>分析进程间的制约关系，确定</a:t>
            </a:r>
            <a:r>
              <a:rPr lang="zh-CN" altLang="en-US" sz="2800" dirty="0">
                <a:solidFill>
                  <a:schemeClr val="tx2"/>
                </a:solidFill>
              </a:rPr>
              <a:t>信号量种类</a:t>
            </a:r>
            <a:r>
              <a:rPr lang="zh-CN" altLang="en-US" sz="2800" dirty="0"/>
              <a:t>。</a:t>
            </a:r>
          </a:p>
          <a:p>
            <a:pPr eaLnBrk="1" hangingPunct="1">
              <a:buNone/>
            </a:pPr>
            <a:r>
              <a:rPr lang="en-US" altLang="zh-CN" sz="2800" dirty="0"/>
              <a:t>② </a:t>
            </a:r>
            <a:r>
              <a:rPr lang="zh-CN" altLang="en-US" sz="2800" dirty="0"/>
              <a:t>信号量的初值与相应资源的数量有关，也与</a:t>
            </a:r>
            <a:r>
              <a:rPr lang="en-US" altLang="zh-CN" sz="2800" dirty="0"/>
              <a:t>P, V</a:t>
            </a:r>
            <a:r>
              <a:rPr lang="zh-CN" altLang="en-US" sz="2800" dirty="0"/>
              <a:t>操作在程序代码中出现的位置有关。</a:t>
            </a:r>
          </a:p>
          <a:p>
            <a:pPr eaLnBrk="1" hangingPunct="1">
              <a:buNone/>
            </a:pPr>
            <a:r>
              <a:rPr lang="en-US" altLang="zh-CN" sz="2800" dirty="0"/>
              <a:t>③ </a:t>
            </a:r>
            <a:r>
              <a:rPr lang="zh-CN" altLang="en-US" sz="2800" dirty="0"/>
              <a:t>同一信号量的</a:t>
            </a:r>
            <a:r>
              <a:rPr lang="en-US" altLang="zh-CN" sz="2800" dirty="0"/>
              <a:t>P, V</a:t>
            </a:r>
            <a:r>
              <a:rPr lang="zh-CN" altLang="en-US" sz="2800" dirty="0"/>
              <a:t>操作要“</a:t>
            </a:r>
            <a:r>
              <a:rPr lang="zh-CN" altLang="en-US" sz="2800" dirty="0">
                <a:solidFill>
                  <a:schemeClr val="tx2"/>
                </a:solidFill>
              </a:rPr>
              <a:t>成对</a:t>
            </a:r>
            <a:r>
              <a:rPr lang="zh-CN" altLang="en-US" sz="2800" dirty="0"/>
              <a:t>”出现，但是，它们分别出现在</a:t>
            </a:r>
            <a:r>
              <a:rPr lang="zh-CN" altLang="en-US" sz="2800" dirty="0">
                <a:solidFill>
                  <a:schemeClr val="tx2"/>
                </a:solidFill>
              </a:rPr>
              <a:t>不同的进程代码中</a:t>
            </a:r>
            <a:r>
              <a:rPr lang="zh-CN" altLang="en-US" sz="28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112643">
                                            <p:txEl>
                                              <p:pRg st="1" end="1"/>
                                            </p:txEl>
                                          </p:spTgt>
                                        </p:tgtEl>
                                        <p:attrNameLst>
                                          <p:attrName>style.visibility</p:attrName>
                                        </p:attrNameLst>
                                      </p:cBhvr>
                                      <p:to>
                                        <p:strVal val="visible"/>
                                      </p:to>
                                    </p:set>
                                    <p:animEffect transition="in" filter="fade">
                                      <p:cBhvr>
                                        <p:cTn id="7" dur="1000"/>
                                        <p:tgtEl>
                                          <p:spTgt spid="112643">
                                            <p:txEl>
                                              <p:pRg st="1" end="1"/>
                                            </p:txEl>
                                          </p:spTgt>
                                        </p:tgtEl>
                                      </p:cBhvr>
                                    </p:animEffect>
                                    <p:anim calcmode="lin" valueType="num">
                                      <p:cBhvr>
                                        <p:cTn id="8" dur="1000" fill="hold"/>
                                        <p:tgtEl>
                                          <p:spTgt spid="11264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2643">
                                            <p:txEl>
                                              <p:pRg st="1" end="1"/>
                                            </p:txEl>
                                          </p:spTgt>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112643">
                                            <p:txEl>
                                              <p:pRg st="2" end="2"/>
                                            </p:txEl>
                                          </p:spTgt>
                                        </p:tgtEl>
                                        <p:attrNameLst>
                                          <p:attrName>style.visibility</p:attrName>
                                        </p:attrNameLst>
                                      </p:cBhvr>
                                      <p:to>
                                        <p:strVal val="visible"/>
                                      </p:to>
                                    </p:set>
                                    <p:animEffect transition="in" filter="fade">
                                      <p:cBhvr>
                                        <p:cTn id="12" dur="1000"/>
                                        <p:tgtEl>
                                          <p:spTgt spid="112643">
                                            <p:txEl>
                                              <p:pRg st="2" end="2"/>
                                            </p:txEl>
                                          </p:spTgt>
                                        </p:tgtEl>
                                      </p:cBhvr>
                                    </p:animEffect>
                                    <p:anim calcmode="lin" valueType="num">
                                      <p:cBhvr>
                                        <p:cTn id="13" dur="1000" fill="hold"/>
                                        <p:tgtEl>
                                          <p:spTgt spid="11264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12643">
                                            <p:txEl>
                                              <p:pRg st="2" end="2"/>
                                            </p:txEl>
                                          </p:spTgt>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112643">
                                            <p:txEl>
                                              <p:pRg st="3" end="3"/>
                                            </p:txEl>
                                          </p:spTgt>
                                        </p:tgtEl>
                                        <p:attrNameLst>
                                          <p:attrName>style.visibility</p:attrName>
                                        </p:attrNameLst>
                                      </p:cBhvr>
                                      <p:to>
                                        <p:strVal val="visible"/>
                                      </p:to>
                                    </p:set>
                                    <p:animEffect transition="in" filter="fade">
                                      <p:cBhvr>
                                        <p:cTn id="17" dur="1000"/>
                                        <p:tgtEl>
                                          <p:spTgt spid="112643">
                                            <p:txEl>
                                              <p:pRg st="3" end="3"/>
                                            </p:txEl>
                                          </p:spTgt>
                                        </p:tgtEl>
                                      </p:cBhvr>
                                    </p:animEffect>
                                    <p:anim calcmode="lin" valueType="num">
                                      <p:cBhvr>
                                        <p:cTn id="18" dur="1000" fill="hold"/>
                                        <p:tgtEl>
                                          <p:spTgt spid="11264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1264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idx="1"/>
          </p:nvPr>
        </p:nvSpPr>
        <p:spPr>
          <a:xfrm>
            <a:off x="468313" y="1989138"/>
            <a:ext cx="8447087" cy="4564062"/>
          </a:xfrm>
        </p:spPr>
        <p:txBody>
          <a:bodyPr vert="horz" wrap="square" lIns="91440" tIns="45720" rIns="91440" bIns="45720" anchor="t" anchorCtr="0"/>
          <a:lstStyle/>
          <a:p>
            <a:pPr eaLnBrk="1" hangingPunct="1"/>
            <a:r>
              <a:rPr lang="zh-CN" altLang="zh-CN" b="1" dirty="0"/>
              <a:t>有三个进程A，B，C协作解决文件打印问题。</a:t>
            </a:r>
          </a:p>
          <a:p>
            <a:pPr lvl="1" eaLnBrk="1" hangingPunct="1"/>
            <a:r>
              <a:rPr lang="zh-CN" altLang="zh-CN" b="1" dirty="0"/>
              <a:t>A将文件记录从磁盘读入内存的缓冲区1，每执行一次读一个记录；</a:t>
            </a:r>
          </a:p>
          <a:p>
            <a:pPr lvl="1" eaLnBrk="1" hangingPunct="1"/>
            <a:r>
              <a:rPr lang="zh-CN" altLang="zh-CN" b="1" dirty="0"/>
              <a:t>B将缓冲区1的内容复制到缓冲区2，每执行一次复制一个记录；</a:t>
            </a:r>
          </a:p>
          <a:p>
            <a:pPr lvl="1" eaLnBrk="1" hangingPunct="1"/>
            <a:r>
              <a:rPr lang="zh-CN" altLang="zh-CN" b="1" dirty="0"/>
              <a:t>C将缓冲区2的内容打印，每执行一次打印一个记录。</a:t>
            </a:r>
          </a:p>
          <a:p>
            <a:pPr eaLnBrk="1" hangingPunct="1"/>
            <a:r>
              <a:rPr lang="zh-CN" altLang="zh-CN" sz="2800" b="1" dirty="0"/>
              <a:t>缓冲区的大小和一个记录大小一样。</a:t>
            </a:r>
          </a:p>
          <a:p>
            <a:pPr eaLnBrk="1" hangingPunct="1"/>
            <a:r>
              <a:rPr lang="zh-CN" altLang="zh-CN" sz="2800" b="1" dirty="0"/>
              <a:t>使用P</a:t>
            </a:r>
            <a:r>
              <a:rPr lang="zh-CN" altLang="en-US" sz="2800" b="1" dirty="0"/>
              <a:t>、</a:t>
            </a:r>
            <a:r>
              <a:rPr lang="zh-CN" altLang="zh-CN" sz="2800" b="1" dirty="0"/>
              <a:t>V操作来保证文件的正确打印。</a:t>
            </a:r>
          </a:p>
          <a:p>
            <a:pPr eaLnBrk="1" hangingPunct="1"/>
            <a:endParaRPr lang="zh-CN" altLang="zh-CN" sz="2800" b="1" dirty="0"/>
          </a:p>
        </p:txBody>
      </p:sp>
      <p:sp>
        <p:nvSpPr>
          <p:cNvPr id="41987" name="Rectangle 3"/>
          <p:cNvSpPr>
            <a:spLocks noGrp="1"/>
          </p:cNvSpPr>
          <p:nvPr>
            <p:ph type="title"/>
          </p:nvPr>
        </p:nvSpPr>
        <p:spPr>
          <a:xfrm>
            <a:off x="1316038" y="609600"/>
            <a:ext cx="6761162" cy="838200"/>
          </a:xfrm>
        </p:spPr>
        <p:txBody>
          <a:bodyPr vert="horz" wrap="square" lIns="91440" tIns="45720" rIns="91440" bIns="45720" anchor="b" anchorCtr="0"/>
          <a:lstStyle/>
          <a:p>
            <a:pPr eaLnBrk="1" hangingPunct="1"/>
            <a:r>
              <a:rPr lang="zh-CN" altLang="en-US" b="1" dirty="0"/>
              <a:t>练习</a:t>
            </a:r>
            <a:r>
              <a:rPr lang="en-US" altLang="zh-CN" b="1" dirty="0"/>
              <a:t>3</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p:nvPr/>
        </p:nvSpPr>
        <p:spPr>
          <a:xfrm>
            <a:off x="3032125" y="2895600"/>
            <a:ext cx="1295400" cy="685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b="1" dirty="0">
                <a:solidFill>
                  <a:srgbClr val="000000"/>
                </a:solidFill>
                <a:latin typeface="Arial" panose="020B0604020202020204" pitchFamily="34" charset="0"/>
              </a:rPr>
              <a:t>缓冲区</a:t>
            </a:r>
            <a:r>
              <a:rPr lang="zh-CN" altLang="zh-CN" sz="2400" b="1" dirty="0">
                <a:solidFill>
                  <a:srgbClr val="000000"/>
                </a:solidFill>
                <a:latin typeface="Arial" panose="020B0604020202020204" pitchFamily="34" charset="0"/>
              </a:rPr>
              <a:t>1</a:t>
            </a:r>
          </a:p>
        </p:txBody>
      </p:sp>
      <p:sp>
        <p:nvSpPr>
          <p:cNvPr id="43011" name="Rectangle 3"/>
          <p:cNvSpPr/>
          <p:nvPr/>
        </p:nvSpPr>
        <p:spPr>
          <a:xfrm>
            <a:off x="5318125" y="2895600"/>
            <a:ext cx="1295400" cy="685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b="1" dirty="0">
                <a:solidFill>
                  <a:srgbClr val="000000"/>
                </a:solidFill>
                <a:latin typeface="Arial" panose="020B0604020202020204" pitchFamily="34" charset="0"/>
              </a:rPr>
              <a:t>缓冲区</a:t>
            </a:r>
            <a:r>
              <a:rPr lang="zh-CN" altLang="zh-CN" sz="2400" b="1" dirty="0">
                <a:solidFill>
                  <a:srgbClr val="000000"/>
                </a:solidFill>
                <a:latin typeface="Arial" panose="020B0604020202020204" pitchFamily="34" charset="0"/>
              </a:rPr>
              <a:t>2</a:t>
            </a:r>
          </a:p>
        </p:txBody>
      </p:sp>
      <p:sp>
        <p:nvSpPr>
          <p:cNvPr id="43012" name="Line 4"/>
          <p:cNvSpPr/>
          <p:nvPr/>
        </p:nvSpPr>
        <p:spPr>
          <a:xfrm>
            <a:off x="2193925" y="3124200"/>
            <a:ext cx="838200" cy="0"/>
          </a:xfrm>
          <a:prstGeom prst="line">
            <a:avLst/>
          </a:prstGeom>
          <a:ln w="38100" cap="flat" cmpd="sng">
            <a:solidFill>
              <a:schemeClr val="tx1"/>
            </a:solidFill>
            <a:prstDash val="solid"/>
            <a:headEnd type="none" w="med" len="med"/>
            <a:tailEnd type="stealth" w="lg" len="lg"/>
          </a:ln>
        </p:spPr>
      </p:sp>
      <p:sp>
        <p:nvSpPr>
          <p:cNvPr id="43013" name="Line 5"/>
          <p:cNvSpPr/>
          <p:nvPr/>
        </p:nvSpPr>
        <p:spPr>
          <a:xfrm>
            <a:off x="4327525" y="3124200"/>
            <a:ext cx="990600" cy="0"/>
          </a:xfrm>
          <a:prstGeom prst="line">
            <a:avLst/>
          </a:prstGeom>
          <a:ln w="38100" cap="flat" cmpd="sng">
            <a:solidFill>
              <a:schemeClr val="tx1"/>
            </a:solidFill>
            <a:prstDash val="solid"/>
            <a:headEnd type="none" w="med" len="med"/>
            <a:tailEnd type="stealth" w="lg" len="lg"/>
          </a:ln>
        </p:spPr>
      </p:sp>
      <p:sp>
        <p:nvSpPr>
          <p:cNvPr id="43014" name="Line 6"/>
          <p:cNvSpPr/>
          <p:nvPr/>
        </p:nvSpPr>
        <p:spPr>
          <a:xfrm>
            <a:off x="6613525" y="3124200"/>
            <a:ext cx="838200" cy="0"/>
          </a:xfrm>
          <a:prstGeom prst="line">
            <a:avLst/>
          </a:prstGeom>
          <a:ln w="38100" cap="flat" cmpd="sng">
            <a:solidFill>
              <a:schemeClr val="tx1"/>
            </a:solidFill>
            <a:prstDash val="solid"/>
            <a:headEnd type="none" w="med" len="med"/>
            <a:tailEnd type="stealth" w="lg" len="lg"/>
          </a:ln>
        </p:spPr>
      </p:sp>
      <p:sp>
        <p:nvSpPr>
          <p:cNvPr id="43015" name="Text Box 7"/>
          <p:cNvSpPr txBox="1"/>
          <p:nvPr/>
        </p:nvSpPr>
        <p:spPr>
          <a:xfrm>
            <a:off x="2254250" y="2452688"/>
            <a:ext cx="590550"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zh-CN" sz="2400" b="1" dirty="0">
                <a:solidFill>
                  <a:srgbClr val="000000"/>
                </a:solidFill>
                <a:latin typeface="Arial" panose="020B0604020202020204" pitchFamily="34" charset="0"/>
              </a:rPr>
              <a:t>PA</a:t>
            </a:r>
          </a:p>
        </p:txBody>
      </p:sp>
      <p:sp>
        <p:nvSpPr>
          <p:cNvPr id="43016" name="Text Box 8"/>
          <p:cNvSpPr txBox="1"/>
          <p:nvPr/>
        </p:nvSpPr>
        <p:spPr>
          <a:xfrm>
            <a:off x="4479925" y="2438400"/>
            <a:ext cx="612775" cy="461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zh-CN" sz="2400" b="1" dirty="0">
                <a:solidFill>
                  <a:srgbClr val="000000"/>
                </a:solidFill>
                <a:latin typeface="Arial" panose="020B0604020202020204" pitchFamily="34" charset="0"/>
              </a:rPr>
              <a:t>PB</a:t>
            </a:r>
          </a:p>
        </p:txBody>
      </p:sp>
      <p:sp>
        <p:nvSpPr>
          <p:cNvPr id="43017" name="Text Box 9"/>
          <p:cNvSpPr txBox="1"/>
          <p:nvPr/>
        </p:nvSpPr>
        <p:spPr>
          <a:xfrm>
            <a:off x="6765925" y="2438400"/>
            <a:ext cx="612775" cy="461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zh-CN" sz="2400" b="1" dirty="0">
                <a:solidFill>
                  <a:srgbClr val="000000"/>
                </a:solidFill>
                <a:latin typeface="Arial" panose="020B0604020202020204" pitchFamily="34" charset="0"/>
              </a:rPr>
              <a:t>PC</a:t>
            </a:r>
          </a:p>
        </p:txBody>
      </p:sp>
      <p:sp>
        <p:nvSpPr>
          <p:cNvPr id="43018" name="Text Box 10"/>
          <p:cNvSpPr txBox="1"/>
          <p:nvPr/>
        </p:nvSpPr>
        <p:spPr>
          <a:xfrm>
            <a:off x="1187450" y="3352800"/>
            <a:ext cx="1768475"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400" b="1" dirty="0">
                <a:solidFill>
                  <a:srgbClr val="000000"/>
                </a:solidFill>
                <a:latin typeface="Arial" panose="020B0604020202020204" pitchFamily="34" charset="0"/>
              </a:rPr>
              <a:t>从磁盘读入</a:t>
            </a:r>
          </a:p>
        </p:txBody>
      </p:sp>
      <p:sp>
        <p:nvSpPr>
          <p:cNvPr id="43019" name="Text Box 11"/>
          <p:cNvSpPr txBox="1"/>
          <p:nvPr/>
        </p:nvSpPr>
        <p:spPr>
          <a:xfrm>
            <a:off x="4530725" y="3352800"/>
            <a:ext cx="762000" cy="8302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400" b="1" dirty="0">
                <a:solidFill>
                  <a:srgbClr val="000000"/>
                </a:solidFill>
                <a:latin typeface="Arial" panose="020B0604020202020204" pitchFamily="34" charset="0"/>
              </a:rPr>
              <a:t>复制</a:t>
            </a:r>
          </a:p>
        </p:txBody>
      </p:sp>
      <p:sp>
        <p:nvSpPr>
          <p:cNvPr id="43020" name="Text Box 12"/>
          <p:cNvSpPr txBox="1"/>
          <p:nvPr/>
        </p:nvSpPr>
        <p:spPr>
          <a:xfrm>
            <a:off x="6762750" y="3352800"/>
            <a:ext cx="762000" cy="8302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400" b="1" dirty="0">
                <a:solidFill>
                  <a:srgbClr val="000000"/>
                </a:solidFill>
                <a:latin typeface="Arial" panose="020B0604020202020204" pitchFamily="34" charset="0"/>
              </a:rPr>
              <a:t>打印</a:t>
            </a:r>
          </a:p>
        </p:txBody>
      </p:sp>
      <p:sp>
        <p:nvSpPr>
          <p:cNvPr id="43021" name="Rectangle 3"/>
          <p:cNvSpPr>
            <a:spLocks noGrp="1"/>
          </p:cNvSpPr>
          <p:nvPr>
            <p:ph type="title"/>
          </p:nvPr>
        </p:nvSpPr>
        <p:spPr>
          <a:xfrm>
            <a:off x="1316038" y="609600"/>
            <a:ext cx="6761162" cy="838200"/>
          </a:xfrm>
        </p:spPr>
        <p:txBody>
          <a:bodyPr vert="horz" wrap="square" lIns="91440" tIns="45720" rIns="91440" bIns="45720" anchor="b" anchorCtr="0"/>
          <a:lstStyle/>
          <a:p>
            <a:pPr eaLnBrk="1" hangingPunct="1"/>
            <a:r>
              <a:rPr lang="zh-CN" altLang="en-US" b="1" dirty="0"/>
              <a:t>练习</a:t>
            </a:r>
            <a:r>
              <a:rPr lang="en-US" altLang="zh-CN" b="1" dirty="0"/>
              <a:t>3</a:t>
            </a: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idx="1"/>
          </p:nvPr>
        </p:nvSpPr>
        <p:spPr>
          <a:xfrm>
            <a:off x="684213" y="2133600"/>
            <a:ext cx="8270875" cy="4343400"/>
          </a:xfrm>
        </p:spPr>
        <p:txBody>
          <a:bodyPr vert="horz" wrap="square" lIns="91440" tIns="45720" rIns="91440" bIns="45720" anchor="t" anchorCtr="0"/>
          <a:lstStyle/>
          <a:p>
            <a:pPr eaLnBrk="1" hangingPunct="1">
              <a:lnSpc>
                <a:spcPct val="90000"/>
              </a:lnSpc>
            </a:pPr>
            <a:r>
              <a:rPr lang="zh-CN" altLang="zh-CN" sz="2800" b="1" dirty="0"/>
              <a:t>Pa与pb共用一个缓冲区1；</a:t>
            </a:r>
          </a:p>
          <a:p>
            <a:pPr eaLnBrk="1" hangingPunct="1">
              <a:lnSpc>
                <a:spcPct val="90000"/>
              </a:lnSpc>
            </a:pPr>
            <a:r>
              <a:rPr lang="zh-CN" altLang="zh-CN" sz="2800" b="1" dirty="0"/>
              <a:t>Pb与pc共用一个缓冲区2；</a:t>
            </a:r>
          </a:p>
          <a:p>
            <a:pPr eaLnBrk="1" hangingPunct="1">
              <a:lnSpc>
                <a:spcPct val="90000"/>
              </a:lnSpc>
            </a:pPr>
            <a:r>
              <a:rPr lang="zh-CN" altLang="zh-CN" sz="2800" b="1" dirty="0"/>
              <a:t>当缓冲区1为空时，PA可将一个记录读入其中；</a:t>
            </a:r>
          </a:p>
          <a:p>
            <a:pPr eaLnBrk="1" hangingPunct="1">
              <a:lnSpc>
                <a:spcPct val="90000"/>
              </a:lnSpc>
            </a:pPr>
            <a:r>
              <a:rPr lang="zh-CN" altLang="zh-CN" sz="2800" b="1" dirty="0"/>
              <a:t>若缓冲区1有数据，缓冲区2为空时，PB可将记录从缓冲区1复制到缓冲区2；</a:t>
            </a:r>
          </a:p>
          <a:p>
            <a:pPr eaLnBrk="1" hangingPunct="1">
              <a:lnSpc>
                <a:spcPct val="90000"/>
              </a:lnSpc>
            </a:pPr>
            <a:r>
              <a:rPr lang="zh-CN" altLang="zh-CN" sz="2800" b="1" dirty="0"/>
              <a:t>若缓冲区2有数据，PC可以打印记录；</a:t>
            </a:r>
          </a:p>
          <a:p>
            <a:pPr eaLnBrk="1" hangingPunct="1">
              <a:lnSpc>
                <a:spcPct val="90000"/>
              </a:lnSpc>
            </a:pPr>
            <a:r>
              <a:rPr lang="zh-CN" altLang="zh-CN" sz="2800" b="1" dirty="0"/>
              <a:t>其他条件下，相应进程必须等待。</a:t>
            </a:r>
          </a:p>
          <a:p>
            <a:pPr eaLnBrk="1" hangingPunct="1">
              <a:lnSpc>
                <a:spcPct val="90000"/>
              </a:lnSpc>
            </a:pPr>
            <a:endParaRPr lang="zh-CN" altLang="zh-CN" sz="2800" b="1" dirty="0"/>
          </a:p>
        </p:txBody>
      </p:sp>
      <p:sp>
        <p:nvSpPr>
          <p:cNvPr id="44035" name="Rectangle 3"/>
          <p:cNvSpPr>
            <a:spLocks noGrp="1"/>
          </p:cNvSpPr>
          <p:nvPr>
            <p:ph type="title"/>
          </p:nvPr>
        </p:nvSpPr>
        <p:spPr>
          <a:xfrm>
            <a:off x="1258888" y="333375"/>
            <a:ext cx="6400800" cy="1219200"/>
          </a:xfrm>
        </p:spPr>
        <p:txBody>
          <a:bodyPr vert="horz" wrap="square" lIns="91440" tIns="45720" rIns="91440" bIns="45720" anchor="b" anchorCtr="0"/>
          <a:lstStyle/>
          <a:p>
            <a:pPr eaLnBrk="1" hangingPunct="1"/>
            <a:r>
              <a:rPr lang="zh-CN" altLang="zh-CN" b="1" dirty="0"/>
              <a:t>练习</a:t>
            </a:r>
            <a:r>
              <a:rPr lang="en-US" altLang="zh-CN" b="1" dirty="0"/>
              <a:t>3</a:t>
            </a:r>
            <a:r>
              <a:rPr lang="zh-CN" altLang="zh-CN" b="1" dirty="0"/>
              <a:t>解答</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idx="1"/>
          </p:nvPr>
        </p:nvSpPr>
        <p:spPr>
          <a:xfrm>
            <a:off x="755650" y="2133600"/>
            <a:ext cx="8159750" cy="4343400"/>
          </a:xfrm>
        </p:spPr>
        <p:txBody>
          <a:bodyPr vert="horz" wrap="square" lIns="91440" tIns="45720" rIns="91440" bIns="45720" anchor="t" anchorCtr="0"/>
          <a:lstStyle/>
          <a:p>
            <a:pPr eaLnBrk="1" hangingPunct="1"/>
            <a:r>
              <a:rPr lang="zh-CN" altLang="zh-CN" b="1" dirty="0"/>
              <a:t>设置如下信号量</a:t>
            </a:r>
          </a:p>
          <a:p>
            <a:pPr lvl="1" eaLnBrk="1" hangingPunct="1"/>
            <a:endParaRPr lang="zh-CN" altLang="zh-CN" b="1" dirty="0"/>
          </a:p>
          <a:p>
            <a:pPr lvl="1" eaLnBrk="1" hangingPunct="1"/>
            <a:r>
              <a:rPr lang="en-US" altLang="zh-CN" b="1" dirty="0"/>
              <a:t>e</a:t>
            </a:r>
            <a:r>
              <a:rPr lang="zh-CN" altLang="zh-CN" b="1" dirty="0"/>
              <a:t>mpty1,empty2为同步信号量，初值为1，分别表示缓冲区1，2空闲，可以存放记录。</a:t>
            </a:r>
            <a:endParaRPr lang="en-US" altLang="zh-CN" b="1" dirty="0"/>
          </a:p>
          <a:p>
            <a:pPr lvl="1" eaLnBrk="1" hangingPunct="1"/>
            <a:r>
              <a:rPr lang="en-US" altLang="zh-CN" b="1" dirty="0"/>
              <a:t>f</a:t>
            </a:r>
            <a:r>
              <a:rPr lang="zh-CN" altLang="zh-CN" b="1" dirty="0"/>
              <a:t>ull1,full2为同步信号量，初值为0，分别表示缓冲区1，2还没有被取用的记录。</a:t>
            </a:r>
          </a:p>
        </p:txBody>
      </p:sp>
      <p:sp>
        <p:nvSpPr>
          <p:cNvPr id="45059" name="Rectangle 3"/>
          <p:cNvSpPr>
            <a:spLocks noGrp="1"/>
          </p:cNvSpPr>
          <p:nvPr>
            <p:ph type="title"/>
          </p:nvPr>
        </p:nvSpPr>
        <p:spPr>
          <a:xfrm>
            <a:off x="1258888" y="333375"/>
            <a:ext cx="6400800" cy="1219200"/>
          </a:xfrm>
        </p:spPr>
        <p:txBody>
          <a:bodyPr vert="horz" wrap="square" lIns="91440" tIns="45720" rIns="91440" bIns="45720" anchor="b" anchorCtr="0"/>
          <a:lstStyle/>
          <a:p>
            <a:pPr eaLnBrk="1" hangingPunct="1"/>
            <a:r>
              <a:rPr lang="zh-CN" altLang="zh-CN" b="1" dirty="0"/>
              <a:t>练习</a:t>
            </a:r>
            <a:r>
              <a:rPr lang="en-US" altLang="zh-CN" b="1" dirty="0"/>
              <a:t>3</a:t>
            </a:r>
            <a:r>
              <a:rPr lang="zh-CN" altLang="zh-CN" b="1" dirty="0"/>
              <a:t>解答</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p:nvPr/>
        </p:nvSpPr>
        <p:spPr>
          <a:xfrm>
            <a:off x="3592513" y="765175"/>
            <a:ext cx="2203450" cy="417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zh-CN" sz="2800" dirty="0">
                <a:latin typeface="Arial" panose="020B0604020202020204" pitchFamily="34" charset="0"/>
              </a:rPr>
              <a:t>PB()</a:t>
            </a:r>
            <a:br>
              <a:rPr lang="zh-CN" altLang="zh-CN" sz="2800" dirty="0">
                <a:latin typeface="Arial" panose="020B0604020202020204" pitchFamily="34" charset="0"/>
              </a:rPr>
            </a:br>
            <a:r>
              <a:rPr lang="zh-CN" altLang="zh-CN" sz="2800" dirty="0">
                <a:latin typeface="Arial" panose="020B0604020202020204" pitchFamily="34" charset="0"/>
              </a:rPr>
              <a:t>{</a:t>
            </a:r>
            <a:br>
              <a:rPr lang="zh-CN" altLang="zh-CN" sz="2800" dirty="0">
                <a:latin typeface="Arial" panose="020B0604020202020204" pitchFamily="34" charset="0"/>
              </a:rPr>
            </a:br>
            <a:r>
              <a:rPr lang="zh-CN" altLang="zh-CN" sz="2800" dirty="0">
                <a:latin typeface="Arial" panose="020B0604020202020204" pitchFamily="34" charset="0"/>
              </a:rPr>
              <a:t>while(true)</a:t>
            </a:r>
            <a:br>
              <a:rPr lang="zh-CN" altLang="zh-CN" sz="2800" dirty="0">
                <a:latin typeface="Arial" panose="020B0604020202020204" pitchFamily="34" charset="0"/>
              </a:rPr>
            </a:br>
            <a:r>
              <a:rPr lang="zh-CN" altLang="zh-CN" sz="2800" dirty="0">
                <a:latin typeface="Arial" panose="020B0604020202020204" pitchFamily="34" charset="0"/>
              </a:rPr>
              <a:t>   {</a:t>
            </a:r>
          </a:p>
          <a:p>
            <a:pPr marL="0" lvl="0" indent="0" eaLnBrk="1" hangingPunct="1">
              <a:spcBef>
                <a:spcPct val="0"/>
              </a:spcBef>
              <a:buClrTx/>
              <a:buSzTx/>
              <a:buFontTx/>
              <a:buNone/>
            </a:pPr>
            <a:r>
              <a:rPr lang="zh-CN" altLang="zh-CN" sz="2800" dirty="0">
                <a:latin typeface="Arial" panose="020B0604020202020204" pitchFamily="34" charset="0"/>
              </a:rPr>
              <a:t>      </a:t>
            </a:r>
          </a:p>
          <a:p>
            <a:pPr marL="0" lvl="0" indent="0" eaLnBrk="1" hangingPunct="1">
              <a:spcBef>
                <a:spcPct val="0"/>
              </a:spcBef>
              <a:buClrTx/>
              <a:buSzTx/>
              <a:buFontTx/>
              <a:buNone/>
            </a:pPr>
            <a:r>
              <a:rPr lang="zh-CN" altLang="zh-CN" sz="2800" dirty="0">
                <a:latin typeface="Arial" panose="020B0604020202020204" pitchFamily="34" charset="0"/>
              </a:rPr>
              <a:t>     </a:t>
            </a:r>
            <a:r>
              <a:rPr lang="zh-CN" altLang="en-US" sz="2200" dirty="0">
                <a:latin typeface="Arial" panose="020B0604020202020204" pitchFamily="34" charset="0"/>
              </a:rPr>
              <a:t>从</a:t>
            </a:r>
            <a:r>
              <a:rPr lang="zh-CN" altLang="zh-CN" sz="2200" dirty="0">
                <a:latin typeface="Arial" panose="020B0604020202020204" pitchFamily="34" charset="0"/>
              </a:rPr>
              <a:t>1</a:t>
            </a:r>
            <a:r>
              <a:rPr lang="zh-CN" altLang="en-US" sz="2200" dirty="0">
                <a:latin typeface="Arial" panose="020B0604020202020204" pitchFamily="34" charset="0"/>
              </a:rPr>
              <a:t>取记录</a:t>
            </a:r>
          </a:p>
          <a:p>
            <a:pPr marL="0" lvl="0" indent="0" eaLnBrk="1" hangingPunct="1">
              <a:spcBef>
                <a:spcPct val="0"/>
              </a:spcBef>
              <a:buClrTx/>
              <a:buSzTx/>
              <a:buFontTx/>
              <a:buNone/>
            </a:pPr>
            <a:r>
              <a:rPr lang="zh-CN" altLang="zh-CN" sz="2200" dirty="0">
                <a:latin typeface="Arial" panose="020B0604020202020204" pitchFamily="34" charset="0"/>
              </a:rPr>
              <a:t>      </a:t>
            </a:r>
          </a:p>
          <a:p>
            <a:pPr marL="0" lvl="0" indent="0" eaLnBrk="1" hangingPunct="1">
              <a:spcBef>
                <a:spcPct val="0"/>
              </a:spcBef>
              <a:buClrTx/>
              <a:buSzTx/>
              <a:buFontTx/>
              <a:buNone/>
            </a:pPr>
            <a:r>
              <a:rPr lang="zh-CN" altLang="zh-CN" sz="2200" dirty="0">
                <a:latin typeface="Arial" panose="020B0604020202020204" pitchFamily="34" charset="0"/>
              </a:rPr>
              <a:t>      </a:t>
            </a:r>
            <a:r>
              <a:rPr lang="zh-CN" altLang="en-US" sz="2200" dirty="0">
                <a:latin typeface="Arial" panose="020B0604020202020204" pitchFamily="34" charset="0"/>
              </a:rPr>
              <a:t>将记录存入</a:t>
            </a:r>
            <a:r>
              <a:rPr lang="zh-CN" altLang="zh-CN" sz="2200" dirty="0">
                <a:latin typeface="Arial" panose="020B0604020202020204" pitchFamily="34" charset="0"/>
              </a:rPr>
              <a:t>2</a:t>
            </a:r>
          </a:p>
          <a:p>
            <a:pPr marL="0" lvl="0" indent="0" eaLnBrk="1" hangingPunct="1">
              <a:spcBef>
                <a:spcPct val="0"/>
              </a:spcBef>
              <a:buClrTx/>
              <a:buSzTx/>
              <a:buFontTx/>
              <a:buNone/>
            </a:pPr>
            <a:r>
              <a:rPr lang="zh-CN" altLang="zh-CN" sz="2800" dirty="0">
                <a:latin typeface="Arial" panose="020B0604020202020204" pitchFamily="34" charset="0"/>
              </a:rPr>
              <a:t>    }</a:t>
            </a:r>
            <a:br>
              <a:rPr lang="zh-CN" altLang="zh-CN" sz="2800" dirty="0">
                <a:latin typeface="Arial" panose="020B0604020202020204" pitchFamily="34" charset="0"/>
              </a:rPr>
            </a:br>
            <a:r>
              <a:rPr lang="zh-CN" altLang="zh-CN" sz="2800" dirty="0">
                <a:latin typeface="Arial" panose="020B0604020202020204" pitchFamily="34" charset="0"/>
              </a:rPr>
              <a:t>}</a:t>
            </a:r>
          </a:p>
        </p:txBody>
      </p:sp>
      <p:sp>
        <p:nvSpPr>
          <p:cNvPr id="46083" name="Text Box 3"/>
          <p:cNvSpPr txBox="1"/>
          <p:nvPr/>
        </p:nvSpPr>
        <p:spPr>
          <a:xfrm>
            <a:off x="611188" y="777875"/>
            <a:ext cx="2911475" cy="417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zh-CN" sz="2800" dirty="0">
                <a:latin typeface="Arial" panose="020B0604020202020204" pitchFamily="34" charset="0"/>
              </a:rPr>
              <a:t>PA()</a:t>
            </a:r>
            <a:br>
              <a:rPr lang="zh-CN" altLang="zh-CN" sz="2800" dirty="0">
                <a:latin typeface="Arial" panose="020B0604020202020204" pitchFamily="34" charset="0"/>
              </a:rPr>
            </a:br>
            <a:r>
              <a:rPr lang="zh-CN" altLang="zh-CN" sz="2800" dirty="0">
                <a:latin typeface="Arial" panose="020B0604020202020204" pitchFamily="34" charset="0"/>
              </a:rPr>
              <a:t>{</a:t>
            </a:r>
            <a:br>
              <a:rPr lang="zh-CN" altLang="zh-CN" sz="2800" dirty="0">
                <a:latin typeface="Arial" panose="020B0604020202020204" pitchFamily="34" charset="0"/>
              </a:rPr>
            </a:br>
            <a:r>
              <a:rPr lang="zh-CN" altLang="zh-CN" sz="2800" dirty="0">
                <a:latin typeface="Arial" panose="020B0604020202020204" pitchFamily="34" charset="0"/>
              </a:rPr>
              <a:t>while(true)</a:t>
            </a:r>
            <a:br>
              <a:rPr lang="zh-CN" altLang="zh-CN" sz="2800" dirty="0">
                <a:latin typeface="Arial" panose="020B0604020202020204" pitchFamily="34" charset="0"/>
              </a:rPr>
            </a:br>
            <a:r>
              <a:rPr lang="zh-CN" altLang="zh-CN" sz="2800" dirty="0">
                <a:latin typeface="Arial" panose="020B0604020202020204" pitchFamily="34" charset="0"/>
              </a:rPr>
              <a:t>   {</a:t>
            </a:r>
          </a:p>
          <a:p>
            <a:pPr marL="0" lvl="0" indent="0" eaLnBrk="1" hangingPunct="1">
              <a:spcBef>
                <a:spcPct val="0"/>
              </a:spcBef>
              <a:buClrTx/>
              <a:buSzTx/>
              <a:buFontTx/>
              <a:buNone/>
            </a:pPr>
            <a:r>
              <a:rPr lang="zh-CN" altLang="zh-CN" sz="2800" dirty="0">
                <a:latin typeface="Arial" panose="020B0604020202020204" pitchFamily="34" charset="0"/>
              </a:rPr>
              <a:t>      </a:t>
            </a:r>
          </a:p>
          <a:p>
            <a:pPr marL="0" lvl="0" indent="0" eaLnBrk="1" hangingPunct="1">
              <a:spcBef>
                <a:spcPct val="0"/>
              </a:spcBef>
              <a:buClrTx/>
              <a:buSzTx/>
              <a:buFontTx/>
              <a:buNone/>
            </a:pPr>
            <a:r>
              <a:rPr lang="zh-CN" altLang="zh-CN" sz="2800" dirty="0">
                <a:latin typeface="Arial" panose="020B0604020202020204" pitchFamily="34" charset="0"/>
              </a:rPr>
              <a:t>     </a:t>
            </a:r>
            <a:r>
              <a:rPr lang="zh-CN" altLang="en-US" sz="2200" dirty="0">
                <a:latin typeface="Arial" panose="020B0604020202020204" pitchFamily="34" charset="0"/>
              </a:rPr>
              <a:t>从磁盘读一个记录</a:t>
            </a:r>
          </a:p>
          <a:p>
            <a:pPr marL="0" lvl="0" indent="0" eaLnBrk="1" hangingPunct="1">
              <a:spcBef>
                <a:spcPct val="0"/>
              </a:spcBef>
              <a:buClrTx/>
              <a:buSzTx/>
              <a:buFontTx/>
              <a:buNone/>
            </a:pPr>
            <a:r>
              <a:rPr lang="zh-CN" altLang="zh-CN" sz="2200" dirty="0">
                <a:latin typeface="Arial" panose="020B0604020202020204" pitchFamily="34" charset="0"/>
              </a:rPr>
              <a:t>      </a:t>
            </a:r>
          </a:p>
          <a:p>
            <a:pPr marL="0" lvl="0" indent="0" eaLnBrk="1" hangingPunct="1">
              <a:spcBef>
                <a:spcPct val="0"/>
              </a:spcBef>
              <a:buClrTx/>
              <a:buSzTx/>
              <a:buFontTx/>
              <a:buNone/>
            </a:pPr>
            <a:r>
              <a:rPr lang="zh-CN" altLang="zh-CN" sz="2200" dirty="0">
                <a:latin typeface="Arial" panose="020B0604020202020204" pitchFamily="34" charset="0"/>
              </a:rPr>
              <a:t>      </a:t>
            </a:r>
            <a:r>
              <a:rPr lang="zh-CN" altLang="en-US" sz="2200" dirty="0">
                <a:latin typeface="Arial" panose="020B0604020202020204" pitchFamily="34" charset="0"/>
              </a:rPr>
              <a:t>将记录存入</a:t>
            </a:r>
            <a:r>
              <a:rPr lang="zh-CN" altLang="zh-CN" sz="2200" dirty="0">
                <a:latin typeface="Arial" panose="020B0604020202020204" pitchFamily="34" charset="0"/>
              </a:rPr>
              <a:t>1</a:t>
            </a:r>
          </a:p>
          <a:p>
            <a:pPr marL="0" lvl="0" indent="0" eaLnBrk="1" hangingPunct="1">
              <a:spcBef>
                <a:spcPct val="0"/>
              </a:spcBef>
              <a:buClrTx/>
              <a:buSzTx/>
              <a:buFontTx/>
              <a:buNone/>
            </a:pPr>
            <a:r>
              <a:rPr lang="zh-CN" altLang="zh-CN" sz="2800" dirty="0">
                <a:latin typeface="Arial" panose="020B0604020202020204" pitchFamily="34" charset="0"/>
              </a:rPr>
              <a:t>    }</a:t>
            </a:r>
            <a:br>
              <a:rPr lang="zh-CN" altLang="zh-CN" sz="2800" dirty="0">
                <a:latin typeface="Arial" panose="020B0604020202020204" pitchFamily="34" charset="0"/>
              </a:rPr>
            </a:br>
            <a:r>
              <a:rPr lang="zh-CN" altLang="zh-CN" sz="2800" dirty="0">
                <a:latin typeface="Arial" panose="020B0604020202020204" pitchFamily="34" charset="0"/>
              </a:rPr>
              <a:t>}</a:t>
            </a:r>
          </a:p>
        </p:txBody>
      </p:sp>
      <p:sp>
        <p:nvSpPr>
          <p:cNvPr id="46084" name="Text Box 4"/>
          <p:cNvSpPr txBox="1"/>
          <p:nvPr/>
        </p:nvSpPr>
        <p:spPr>
          <a:xfrm>
            <a:off x="6508750" y="765175"/>
            <a:ext cx="1949450" cy="417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zh-CN" sz="2800" dirty="0">
                <a:latin typeface="Arial" panose="020B0604020202020204" pitchFamily="34" charset="0"/>
              </a:rPr>
              <a:t>PC()</a:t>
            </a:r>
            <a:br>
              <a:rPr lang="zh-CN" altLang="zh-CN" sz="2800" dirty="0">
                <a:latin typeface="Arial" panose="020B0604020202020204" pitchFamily="34" charset="0"/>
              </a:rPr>
            </a:br>
            <a:r>
              <a:rPr lang="zh-CN" altLang="zh-CN" sz="2800" dirty="0">
                <a:latin typeface="Arial" panose="020B0604020202020204" pitchFamily="34" charset="0"/>
              </a:rPr>
              <a:t>{</a:t>
            </a:r>
            <a:br>
              <a:rPr lang="zh-CN" altLang="zh-CN" sz="2800" dirty="0">
                <a:latin typeface="Arial" panose="020B0604020202020204" pitchFamily="34" charset="0"/>
              </a:rPr>
            </a:br>
            <a:r>
              <a:rPr lang="zh-CN" altLang="zh-CN" sz="2800" dirty="0">
                <a:latin typeface="Arial" panose="020B0604020202020204" pitchFamily="34" charset="0"/>
              </a:rPr>
              <a:t>while(true)</a:t>
            </a:r>
            <a:br>
              <a:rPr lang="zh-CN" altLang="zh-CN" sz="2800" dirty="0">
                <a:latin typeface="Arial" panose="020B0604020202020204" pitchFamily="34" charset="0"/>
              </a:rPr>
            </a:br>
            <a:r>
              <a:rPr lang="zh-CN" altLang="zh-CN" sz="2800" dirty="0">
                <a:latin typeface="Arial" panose="020B0604020202020204" pitchFamily="34" charset="0"/>
              </a:rPr>
              <a:t>   {</a:t>
            </a:r>
          </a:p>
          <a:p>
            <a:pPr marL="0" lvl="0" indent="0" eaLnBrk="1" hangingPunct="1">
              <a:spcBef>
                <a:spcPct val="0"/>
              </a:spcBef>
              <a:buClrTx/>
              <a:buSzTx/>
              <a:buFontTx/>
              <a:buNone/>
            </a:pPr>
            <a:r>
              <a:rPr lang="zh-CN" altLang="zh-CN" sz="2800" dirty="0">
                <a:latin typeface="Arial" panose="020B0604020202020204" pitchFamily="34" charset="0"/>
              </a:rPr>
              <a:t>      </a:t>
            </a:r>
          </a:p>
          <a:p>
            <a:pPr marL="0" lvl="0" indent="0" eaLnBrk="1" hangingPunct="1">
              <a:spcBef>
                <a:spcPct val="0"/>
              </a:spcBef>
              <a:buClrTx/>
              <a:buSzTx/>
              <a:buFontTx/>
              <a:buNone/>
            </a:pPr>
            <a:r>
              <a:rPr lang="zh-CN" altLang="zh-CN" sz="2800" dirty="0">
                <a:latin typeface="Arial" panose="020B0604020202020204" pitchFamily="34" charset="0"/>
              </a:rPr>
              <a:t>     </a:t>
            </a:r>
            <a:r>
              <a:rPr lang="zh-CN" altLang="en-US" sz="2200" dirty="0">
                <a:latin typeface="Arial" panose="020B0604020202020204" pitchFamily="34" charset="0"/>
              </a:rPr>
              <a:t>从</a:t>
            </a:r>
            <a:r>
              <a:rPr lang="zh-CN" altLang="zh-CN" sz="2200" dirty="0">
                <a:latin typeface="Arial" panose="020B0604020202020204" pitchFamily="34" charset="0"/>
              </a:rPr>
              <a:t>2</a:t>
            </a:r>
            <a:r>
              <a:rPr lang="zh-CN" altLang="en-US" sz="2200" dirty="0">
                <a:latin typeface="Arial" panose="020B0604020202020204" pitchFamily="34" charset="0"/>
              </a:rPr>
              <a:t>取记录</a:t>
            </a:r>
          </a:p>
          <a:p>
            <a:pPr marL="0" lvl="0" indent="0" eaLnBrk="1" hangingPunct="1">
              <a:spcBef>
                <a:spcPct val="0"/>
              </a:spcBef>
              <a:buClrTx/>
              <a:buSzTx/>
              <a:buFontTx/>
              <a:buNone/>
            </a:pPr>
            <a:r>
              <a:rPr lang="zh-CN" altLang="zh-CN" sz="2200" dirty="0">
                <a:latin typeface="Arial" panose="020B0604020202020204" pitchFamily="34" charset="0"/>
              </a:rPr>
              <a:t>      </a:t>
            </a:r>
          </a:p>
          <a:p>
            <a:pPr marL="0" lvl="0" indent="0" eaLnBrk="1" hangingPunct="1">
              <a:spcBef>
                <a:spcPct val="0"/>
              </a:spcBef>
              <a:buClrTx/>
              <a:buSzTx/>
              <a:buFontTx/>
              <a:buNone/>
            </a:pPr>
            <a:r>
              <a:rPr lang="zh-CN" altLang="zh-CN" sz="2200" dirty="0">
                <a:latin typeface="Arial" panose="020B0604020202020204" pitchFamily="34" charset="0"/>
              </a:rPr>
              <a:t>      </a:t>
            </a:r>
            <a:r>
              <a:rPr lang="zh-CN" altLang="en-US" sz="2200" dirty="0">
                <a:latin typeface="Arial" panose="020B0604020202020204" pitchFamily="34" charset="0"/>
              </a:rPr>
              <a:t>打印记录</a:t>
            </a:r>
          </a:p>
          <a:p>
            <a:pPr marL="0" lvl="0" indent="0" eaLnBrk="1" hangingPunct="1">
              <a:spcBef>
                <a:spcPct val="0"/>
              </a:spcBef>
              <a:buClrTx/>
              <a:buSzTx/>
              <a:buFontTx/>
              <a:buNone/>
            </a:pPr>
            <a:r>
              <a:rPr lang="zh-CN" altLang="zh-CN" sz="2800" dirty="0">
                <a:latin typeface="Arial" panose="020B0604020202020204" pitchFamily="34" charset="0"/>
              </a:rPr>
              <a:t>    }</a:t>
            </a:r>
            <a:br>
              <a:rPr lang="zh-CN" altLang="zh-CN" sz="2800" dirty="0">
                <a:latin typeface="Arial" panose="020B0604020202020204" pitchFamily="34" charset="0"/>
              </a:rPr>
            </a:br>
            <a:r>
              <a:rPr lang="zh-CN" altLang="zh-CN" sz="2800" dirty="0">
                <a:latin typeface="Arial" panose="020B0604020202020204" pitchFamily="34" charset="0"/>
              </a:rPr>
              <a:t>}</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3478213" y="655638"/>
            <a:ext cx="2749550" cy="5170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0" lang="zh-CN" altLang="zh-CN" sz="2800" kern="1200" cap="none" spc="0" normalizeH="0" baseline="0" noProof="0" dirty="0">
                <a:latin typeface="Arial" panose="020B0604020202020204" pitchFamily="34" charset="0"/>
                <a:ea typeface="宋体" panose="02010600030101010101" pitchFamily="2" charset="-122"/>
                <a:cs typeface="+mn-cs"/>
                <a:sym typeface="+mn-ea"/>
              </a:rPr>
              <a:t>PB()</a:t>
            </a:r>
            <a:br>
              <a:rPr kumimoji="0" lang="zh-CN" altLang="zh-CN" sz="2800" kern="1200" cap="none" spc="0" normalizeH="0" baseline="0" noProof="0" dirty="0">
                <a:latin typeface="Arial" panose="020B0604020202020204" pitchFamily="34" charset="0"/>
                <a:ea typeface="宋体" panose="02010600030101010101" pitchFamily="2" charset="-122"/>
                <a:cs typeface="+mn-cs"/>
              </a:rPr>
            </a:br>
            <a:r>
              <a:rPr kumimoji="0" lang="zh-CN" altLang="zh-CN" sz="2800" kern="1200" cap="none" spc="0" normalizeH="0" baseline="0" noProof="0" dirty="0">
                <a:latin typeface="Arial" panose="020B0604020202020204" pitchFamily="34" charset="0"/>
                <a:ea typeface="宋体" panose="02010600030101010101" pitchFamily="2" charset="-122"/>
                <a:cs typeface="+mn-cs"/>
                <a:sym typeface="+mn-ea"/>
              </a:rPr>
              <a:t>{</a:t>
            </a:r>
            <a:br>
              <a:rPr kumimoji="0" lang="zh-CN" altLang="zh-CN" sz="2800" kern="1200" cap="none" spc="0" normalizeH="0" baseline="0" noProof="0" dirty="0">
                <a:latin typeface="Arial" panose="020B0604020202020204" pitchFamily="34" charset="0"/>
                <a:ea typeface="宋体" panose="02010600030101010101" pitchFamily="2" charset="-122"/>
                <a:cs typeface="+mn-cs"/>
              </a:rPr>
            </a:br>
            <a:r>
              <a:rPr kumimoji="0" lang="zh-CN" altLang="zh-CN" sz="2800" kern="1200" cap="none" spc="0" normalizeH="0" baseline="0" noProof="0" dirty="0">
                <a:latin typeface="Arial" panose="020B0604020202020204" pitchFamily="34" charset="0"/>
                <a:ea typeface="宋体" panose="02010600030101010101" pitchFamily="2" charset="-122"/>
                <a:cs typeface="+mn-cs"/>
                <a:sym typeface="+mn-ea"/>
              </a:rPr>
              <a:t>while(true)</a:t>
            </a:r>
            <a:br>
              <a:rPr kumimoji="0" lang="zh-CN" altLang="zh-CN" sz="2800" kern="1200" cap="none" spc="0" normalizeH="0" baseline="0" noProof="0" dirty="0">
                <a:latin typeface="Arial" panose="020B0604020202020204" pitchFamily="34" charset="0"/>
                <a:ea typeface="宋体" panose="02010600030101010101" pitchFamily="2" charset="-122"/>
                <a:cs typeface="+mn-cs"/>
              </a:rPr>
            </a:br>
            <a:r>
              <a:rPr kumimoji="0" lang="zh-CN" altLang="zh-CN" sz="2800" kern="1200" cap="none" spc="0" normalizeH="0" baseline="0" noProof="0" dirty="0">
                <a:latin typeface="Arial" panose="020B0604020202020204" pitchFamily="34" charset="0"/>
                <a:ea typeface="宋体" panose="02010600030101010101" pitchFamily="2" charset="-122"/>
                <a:cs typeface="+mn-cs"/>
                <a:sym typeface="+mn-ea"/>
              </a:rPr>
              <a:t>   {</a:t>
            </a:r>
          </a:p>
          <a:p>
            <a:pPr marR="0" defTabSz="914400">
              <a:buClrTx/>
              <a:buSzTx/>
              <a:buFontTx/>
              <a:buNone/>
              <a:defRPr/>
            </a:pPr>
            <a:r>
              <a:rPr kumimoji="0" lang="zh-CN" altLang="zh-CN" sz="2800" kern="1200" cap="none" spc="0" normalizeH="0" baseline="0" noProof="0" dirty="0">
                <a:latin typeface="Arial" panose="020B0604020202020204" pitchFamily="34" charset="0"/>
                <a:ea typeface="宋体" panose="02010600030101010101" pitchFamily="2" charset="-122"/>
                <a:cs typeface="+mn-cs"/>
                <a:sym typeface="+mn-ea"/>
              </a:rPr>
              <a:t>     </a:t>
            </a:r>
            <a:r>
              <a:rPr kumimoji="0" lang="zh-CN" altLang="zh-CN" sz="2800" b="1" kern="1200" cap="none" spc="0" normalizeH="0" baseline="0" noProof="0" dirty="0">
                <a:solidFill>
                  <a:schemeClr val="bg2"/>
                </a:solidFill>
                <a:latin typeface="Arial" panose="020B0604020202020204" pitchFamily="34" charset="0"/>
                <a:ea typeface="宋体" panose="02010600030101010101" pitchFamily="2" charset="-122"/>
                <a:cs typeface="+mn-cs"/>
                <a:sym typeface="+mn-ea"/>
              </a:rPr>
              <a:t>P(full1)</a:t>
            </a:r>
          </a:p>
          <a:p>
            <a:pPr marR="0" defTabSz="914400">
              <a:buClrTx/>
              <a:buSzTx/>
              <a:buFontTx/>
              <a:buNone/>
              <a:defRPr/>
            </a:pPr>
            <a:r>
              <a:rPr kumimoji="0" lang="zh-CN" altLang="zh-CN" sz="2800" kern="1200" cap="none" spc="0" normalizeH="0" baseline="0" noProof="0" dirty="0">
                <a:latin typeface="Arial" panose="020B0604020202020204" pitchFamily="34" charset="0"/>
                <a:ea typeface="宋体" panose="02010600030101010101" pitchFamily="2" charset="-122"/>
                <a:cs typeface="+mn-cs"/>
                <a:sym typeface="+mn-ea"/>
              </a:rPr>
              <a:t>     </a:t>
            </a:r>
            <a:r>
              <a:rPr kumimoji="0" lang="zh-CN" sz="2200" kern="1200" cap="none" spc="0" normalizeH="0" baseline="0" noProof="0" dirty="0">
                <a:latin typeface="Arial" panose="020B0604020202020204" pitchFamily="34" charset="0"/>
                <a:ea typeface="宋体" panose="02010600030101010101" pitchFamily="2" charset="-122"/>
                <a:cs typeface="+mn-cs"/>
                <a:sym typeface="+mn-ea"/>
              </a:rPr>
              <a:t>从</a:t>
            </a:r>
            <a:r>
              <a:rPr kumimoji="0" lang="zh-CN" altLang="zh-CN" sz="2200" kern="1200" cap="none" spc="0" normalizeH="0" baseline="0" noProof="0" dirty="0">
                <a:latin typeface="Arial" panose="020B0604020202020204" pitchFamily="34" charset="0"/>
                <a:ea typeface="宋体" panose="02010600030101010101" pitchFamily="2" charset="-122"/>
                <a:cs typeface="+mn-cs"/>
                <a:sym typeface="+mn-ea"/>
              </a:rPr>
              <a:t>1</a:t>
            </a:r>
            <a:r>
              <a:rPr kumimoji="0" lang="zh-CN" sz="2200" kern="1200" cap="none" spc="0" normalizeH="0" baseline="0" noProof="0" dirty="0">
                <a:latin typeface="Arial" panose="020B0604020202020204" pitchFamily="34" charset="0"/>
                <a:ea typeface="宋体" panose="02010600030101010101" pitchFamily="2" charset="-122"/>
                <a:cs typeface="+mn-cs"/>
                <a:sym typeface="+mn-ea"/>
              </a:rPr>
              <a:t>取记录</a:t>
            </a:r>
          </a:p>
          <a:p>
            <a:pPr marR="0" defTabSz="914400">
              <a:buClrTx/>
              <a:buSzTx/>
              <a:buFontTx/>
              <a:buNone/>
              <a:defRPr/>
            </a:pPr>
            <a:r>
              <a:rPr kumimoji="0" lang="zh-CN" sz="2200" kern="1200" cap="none" spc="0" normalizeH="0" baseline="0" noProof="0" dirty="0">
                <a:latin typeface="Arial" panose="020B0604020202020204" pitchFamily="34" charset="0"/>
                <a:ea typeface="宋体" panose="02010600030101010101" pitchFamily="2" charset="-122"/>
                <a:cs typeface="+mn-cs"/>
                <a:sym typeface="+mn-ea"/>
              </a:rPr>
              <a:t>      </a:t>
            </a:r>
            <a:r>
              <a:rPr kumimoji="0" lang="zh-CN" altLang="zh-CN" sz="2800" b="1" kern="1200" cap="none" spc="0" normalizeH="0" baseline="0" noProof="0" dirty="0">
                <a:solidFill>
                  <a:schemeClr val="bg2"/>
                </a:solidFill>
                <a:latin typeface="Arial" panose="020B0604020202020204" pitchFamily="34" charset="0"/>
                <a:ea typeface="宋体" panose="02010600030101010101" pitchFamily="2" charset="-122"/>
                <a:cs typeface="+mn-cs"/>
                <a:sym typeface="+mn-ea"/>
              </a:rPr>
              <a:t>V(empty1)</a:t>
            </a:r>
          </a:p>
          <a:p>
            <a:pPr marR="0" defTabSz="914400">
              <a:buClrTx/>
              <a:buSzTx/>
              <a:buFontTx/>
              <a:buNone/>
              <a:defRPr/>
            </a:pPr>
            <a:r>
              <a:rPr kumimoji="0" lang="zh-CN" altLang="zh-CN" sz="2200" kern="1200" cap="none" spc="0" normalizeH="0" baseline="0" noProof="0" dirty="0">
                <a:latin typeface="Arial" panose="020B0604020202020204" pitchFamily="34" charset="0"/>
                <a:ea typeface="宋体" panose="02010600030101010101" pitchFamily="2" charset="-122"/>
                <a:cs typeface="+mn-cs"/>
                <a:sym typeface="+mn-ea"/>
              </a:rPr>
              <a:t>      </a:t>
            </a:r>
            <a:r>
              <a:rPr kumimoji="0" lang="zh-CN" altLang="zh-CN" sz="2800" b="1" kern="1200" cap="none" spc="0" normalizeH="0" baseline="0" noProof="0" dirty="0">
                <a:solidFill>
                  <a:srgbClr val="FF0000"/>
                </a:solidFill>
                <a:latin typeface="Arial" panose="020B0604020202020204" pitchFamily="34" charset="0"/>
                <a:ea typeface="宋体" panose="02010600030101010101" pitchFamily="2" charset="-122"/>
                <a:cs typeface="+mn-cs"/>
                <a:sym typeface="+mn-ea"/>
              </a:rPr>
              <a:t>P(empty2) </a:t>
            </a:r>
          </a:p>
          <a:p>
            <a:pPr marR="0" defTabSz="914400">
              <a:buClrTx/>
              <a:buSzTx/>
              <a:buFontTx/>
              <a:buNone/>
              <a:defRPr/>
            </a:pPr>
            <a:r>
              <a:rPr kumimoji="0" lang="zh-CN" altLang="zh-CN" sz="2200" kern="1200" cap="none" spc="0" normalizeH="0" baseline="0" noProof="0" dirty="0">
                <a:latin typeface="Arial" panose="020B0604020202020204" pitchFamily="34" charset="0"/>
                <a:ea typeface="宋体" panose="02010600030101010101" pitchFamily="2" charset="-122"/>
                <a:cs typeface="+mn-cs"/>
                <a:sym typeface="+mn-ea"/>
              </a:rPr>
              <a:t>    </a:t>
            </a:r>
            <a:r>
              <a:rPr kumimoji="0" lang="en-US" altLang="zh-CN" sz="2200" kern="1200" cap="none" spc="0" normalizeH="0" baseline="0" noProof="0" dirty="0">
                <a:latin typeface="Arial" panose="020B0604020202020204" pitchFamily="34" charset="0"/>
                <a:ea typeface="宋体" panose="02010600030101010101" pitchFamily="2" charset="-122"/>
                <a:cs typeface="+mn-cs"/>
                <a:sym typeface="+mn-ea"/>
              </a:rPr>
              <a:t> </a:t>
            </a:r>
            <a:r>
              <a:rPr kumimoji="0" lang="zh-CN" altLang="zh-CN" sz="2200" kern="1200" cap="none" spc="0" normalizeH="0" baseline="0" noProof="0" dirty="0">
                <a:latin typeface="Arial" panose="020B0604020202020204" pitchFamily="34" charset="0"/>
                <a:ea typeface="宋体" panose="02010600030101010101" pitchFamily="2" charset="-122"/>
                <a:cs typeface="+mn-cs"/>
                <a:sym typeface="+mn-ea"/>
              </a:rPr>
              <a:t> </a:t>
            </a:r>
            <a:r>
              <a:rPr kumimoji="0" lang="zh-CN" sz="2200" kern="1200" cap="none" spc="0" normalizeH="0" baseline="0" noProof="0" dirty="0">
                <a:latin typeface="Arial" panose="020B0604020202020204" pitchFamily="34" charset="0"/>
                <a:ea typeface="宋体" panose="02010600030101010101" pitchFamily="2" charset="-122"/>
                <a:cs typeface="+mn-cs"/>
                <a:sym typeface="+mn-ea"/>
              </a:rPr>
              <a:t>将记录存入</a:t>
            </a:r>
            <a:r>
              <a:rPr kumimoji="0" lang="zh-CN" altLang="zh-CN" sz="2200" kern="1200" cap="none" spc="0" normalizeH="0" baseline="0" noProof="0" dirty="0">
                <a:latin typeface="Arial" panose="020B0604020202020204" pitchFamily="34" charset="0"/>
                <a:ea typeface="宋体" panose="02010600030101010101" pitchFamily="2" charset="-122"/>
                <a:cs typeface="+mn-cs"/>
                <a:sym typeface="+mn-ea"/>
              </a:rPr>
              <a:t>2</a:t>
            </a:r>
          </a:p>
          <a:p>
            <a:pPr marR="0" defTabSz="914400">
              <a:buClrTx/>
              <a:buSzTx/>
              <a:buFontTx/>
              <a:buNone/>
              <a:defRPr/>
            </a:pPr>
            <a:r>
              <a:rPr kumimoji="0" lang="zh-CN" altLang="zh-CN" sz="2200" kern="1200" cap="none" spc="0" normalizeH="0" baseline="0" noProof="0" dirty="0">
                <a:latin typeface="Arial" panose="020B0604020202020204" pitchFamily="34" charset="0"/>
                <a:ea typeface="宋体" panose="02010600030101010101" pitchFamily="2" charset="-122"/>
                <a:cs typeface="+mn-cs"/>
                <a:sym typeface="+mn-ea"/>
              </a:rPr>
              <a:t>      </a:t>
            </a:r>
            <a:r>
              <a:rPr kumimoji="0" lang="zh-CN" altLang="zh-CN" sz="2800" b="1" kern="1200" cap="none" spc="0" normalizeH="0" baseline="0" noProof="0" dirty="0">
                <a:solidFill>
                  <a:srgbClr val="FF0000"/>
                </a:solidFill>
                <a:effectLst>
                  <a:outerShdw blurRad="38100" dist="38100" dir="2700000" algn="tl">
                    <a:srgbClr val="C0C0C0"/>
                  </a:outerShdw>
                </a:effectLst>
                <a:latin typeface="Arial" panose="020B0604020202020204" pitchFamily="34" charset="0"/>
                <a:ea typeface="宋体" panose="02010600030101010101" pitchFamily="2" charset="-122"/>
                <a:cs typeface="+mn-cs"/>
                <a:sym typeface="+mn-ea"/>
              </a:rPr>
              <a:t>V(full2)</a:t>
            </a:r>
            <a:endParaRPr kumimoji="0" lang="zh-CN" altLang="zh-CN" sz="2800" b="1" kern="1200" cap="none" spc="0" normalizeH="0" baseline="0" noProof="0" dirty="0">
              <a:solidFill>
                <a:srgbClr val="FF0000"/>
              </a:solidFill>
              <a:latin typeface="Arial" panose="020B0604020202020204" pitchFamily="34" charset="0"/>
              <a:ea typeface="宋体" panose="02010600030101010101" pitchFamily="2" charset="-122"/>
              <a:cs typeface="+mn-cs"/>
              <a:sym typeface="+mn-ea"/>
            </a:endParaRPr>
          </a:p>
          <a:p>
            <a:pPr marR="0" defTabSz="914400">
              <a:buClrTx/>
              <a:buSzTx/>
              <a:buFontTx/>
              <a:buNone/>
              <a:defRPr/>
            </a:pPr>
            <a:r>
              <a:rPr kumimoji="0" lang="zh-CN" altLang="zh-CN" sz="2200" kern="1200" cap="none" spc="0" normalizeH="0" baseline="0" noProof="0" dirty="0">
                <a:latin typeface="Arial" panose="020B0604020202020204" pitchFamily="34" charset="0"/>
                <a:ea typeface="宋体" panose="02010600030101010101" pitchFamily="2" charset="-122"/>
                <a:cs typeface="+mn-cs"/>
                <a:sym typeface="+mn-ea"/>
              </a:rPr>
              <a:t>     </a:t>
            </a:r>
            <a:r>
              <a:rPr kumimoji="0" lang="zh-CN" altLang="zh-CN" sz="2800" kern="1200" cap="none" spc="0" normalizeH="0" baseline="0" noProof="0" dirty="0">
                <a:latin typeface="Arial" panose="020B0604020202020204" pitchFamily="34" charset="0"/>
                <a:ea typeface="宋体" panose="02010600030101010101" pitchFamily="2" charset="-122"/>
                <a:cs typeface="+mn-cs"/>
                <a:sym typeface="+mn-ea"/>
              </a:rPr>
              <a:t> }</a:t>
            </a:r>
            <a:br>
              <a:rPr kumimoji="0" lang="zh-CN" altLang="zh-CN" sz="2800" kern="1200" cap="none" spc="0" normalizeH="0" baseline="0" noProof="0" dirty="0">
                <a:latin typeface="Arial" panose="020B0604020202020204" pitchFamily="34" charset="0"/>
                <a:ea typeface="宋体" panose="02010600030101010101" pitchFamily="2" charset="-122"/>
                <a:cs typeface="+mn-cs"/>
              </a:rPr>
            </a:br>
            <a:r>
              <a:rPr kumimoji="0" lang="zh-CN" altLang="zh-CN" sz="2800" kern="1200" cap="none" spc="0" normalizeH="0" baseline="0" noProof="0" dirty="0">
                <a:latin typeface="Arial" panose="020B0604020202020204" pitchFamily="34" charset="0"/>
                <a:ea typeface="宋体" panose="02010600030101010101" pitchFamily="2" charset="-122"/>
                <a:cs typeface="+mn-cs"/>
                <a:sym typeface="+mn-ea"/>
              </a:rPr>
              <a:t>}</a:t>
            </a:r>
          </a:p>
        </p:txBody>
      </p:sp>
      <p:sp>
        <p:nvSpPr>
          <p:cNvPr id="47107" name="Text Box 3"/>
          <p:cNvSpPr txBox="1"/>
          <p:nvPr/>
        </p:nvSpPr>
        <p:spPr>
          <a:xfrm>
            <a:off x="323850" y="704850"/>
            <a:ext cx="2938463" cy="4308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zh-CN" sz="2800" dirty="0">
                <a:latin typeface="Arial" panose="020B0604020202020204" pitchFamily="34" charset="0"/>
              </a:rPr>
              <a:t>PA()</a:t>
            </a:r>
            <a:br>
              <a:rPr lang="zh-CN" altLang="zh-CN" sz="2800" dirty="0">
                <a:latin typeface="Arial" panose="020B0604020202020204" pitchFamily="34" charset="0"/>
              </a:rPr>
            </a:br>
            <a:r>
              <a:rPr lang="zh-CN" altLang="zh-CN" sz="2800" dirty="0">
                <a:latin typeface="Arial" panose="020B0604020202020204" pitchFamily="34" charset="0"/>
              </a:rPr>
              <a:t>{</a:t>
            </a:r>
            <a:br>
              <a:rPr lang="zh-CN" altLang="zh-CN" sz="2800" dirty="0">
                <a:latin typeface="Arial" panose="020B0604020202020204" pitchFamily="34" charset="0"/>
              </a:rPr>
            </a:br>
            <a:r>
              <a:rPr lang="zh-CN" altLang="zh-CN" sz="2800" dirty="0">
                <a:latin typeface="Arial" panose="020B0604020202020204" pitchFamily="34" charset="0"/>
              </a:rPr>
              <a:t>while(true)</a:t>
            </a:r>
            <a:br>
              <a:rPr lang="zh-CN" altLang="zh-CN" sz="2800" dirty="0">
                <a:latin typeface="Arial" panose="020B0604020202020204" pitchFamily="34" charset="0"/>
              </a:rPr>
            </a:br>
            <a:r>
              <a:rPr lang="zh-CN" altLang="zh-CN" sz="2800" dirty="0">
                <a:latin typeface="Arial" panose="020B0604020202020204" pitchFamily="34" charset="0"/>
              </a:rPr>
              <a:t>   {</a:t>
            </a:r>
          </a:p>
          <a:p>
            <a:pPr marL="0" lvl="0" indent="0" eaLnBrk="1" hangingPunct="1">
              <a:spcBef>
                <a:spcPct val="0"/>
              </a:spcBef>
              <a:buClrTx/>
              <a:buSzTx/>
              <a:buFontTx/>
              <a:buNone/>
            </a:pPr>
            <a:r>
              <a:rPr lang="zh-CN" altLang="zh-CN" sz="2800" dirty="0">
                <a:latin typeface="Arial" panose="020B0604020202020204" pitchFamily="34" charset="0"/>
              </a:rPr>
              <a:t>      </a:t>
            </a:r>
            <a:r>
              <a:rPr lang="zh-CN" altLang="zh-CN" sz="2800" b="1" dirty="0">
                <a:solidFill>
                  <a:schemeClr val="bg2"/>
                </a:solidFill>
                <a:latin typeface="Arial" panose="020B0604020202020204" pitchFamily="34" charset="0"/>
              </a:rPr>
              <a:t>P(empty1)</a:t>
            </a:r>
          </a:p>
          <a:p>
            <a:pPr marL="0" lvl="0" indent="0" eaLnBrk="1" hangingPunct="1">
              <a:spcBef>
                <a:spcPct val="0"/>
              </a:spcBef>
              <a:buClrTx/>
              <a:buSzTx/>
              <a:buFontTx/>
              <a:buNone/>
            </a:pPr>
            <a:r>
              <a:rPr lang="zh-CN" altLang="zh-CN" sz="2800" dirty="0">
                <a:latin typeface="Arial" panose="020B0604020202020204" pitchFamily="34" charset="0"/>
              </a:rPr>
              <a:t>     </a:t>
            </a:r>
            <a:r>
              <a:rPr lang="zh-CN" altLang="en-US" sz="2200" dirty="0">
                <a:latin typeface="Arial" panose="020B0604020202020204" pitchFamily="34" charset="0"/>
              </a:rPr>
              <a:t>从磁盘读一个记录</a:t>
            </a:r>
            <a:endParaRPr lang="zh-CN" altLang="zh-CN" sz="2200" dirty="0">
              <a:latin typeface="Arial" panose="020B0604020202020204" pitchFamily="34" charset="0"/>
            </a:endParaRPr>
          </a:p>
          <a:p>
            <a:pPr marL="0" lvl="0" indent="0" eaLnBrk="1" hangingPunct="1">
              <a:spcBef>
                <a:spcPct val="0"/>
              </a:spcBef>
              <a:buClrTx/>
              <a:buSzTx/>
              <a:buFontTx/>
              <a:buNone/>
            </a:pPr>
            <a:r>
              <a:rPr lang="zh-CN" altLang="zh-CN" sz="2200" dirty="0">
                <a:latin typeface="Arial" panose="020B0604020202020204" pitchFamily="34" charset="0"/>
              </a:rPr>
              <a:t>     </a:t>
            </a:r>
            <a:r>
              <a:rPr lang="en-US" altLang="zh-CN" sz="2200" dirty="0">
                <a:latin typeface="Arial" panose="020B0604020202020204" pitchFamily="34" charset="0"/>
              </a:rPr>
              <a:t> </a:t>
            </a:r>
            <a:r>
              <a:rPr lang="zh-CN" altLang="zh-CN" sz="2200" dirty="0">
                <a:latin typeface="Arial" panose="020B0604020202020204" pitchFamily="34" charset="0"/>
              </a:rPr>
              <a:t> </a:t>
            </a:r>
            <a:r>
              <a:rPr lang="zh-CN" altLang="en-US" sz="2200" dirty="0">
                <a:latin typeface="Arial" panose="020B0604020202020204" pitchFamily="34" charset="0"/>
              </a:rPr>
              <a:t>将记录存入</a:t>
            </a:r>
            <a:r>
              <a:rPr lang="zh-CN" altLang="zh-CN" sz="2200" dirty="0">
                <a:latin typeface="Arial" panose="020B0604020202020204" pitchFamily="34" charset="0"/>
              </a:rPr>
              <a:t>1</a:t>
            </a:r>
          </a:p>
          <a:p>
            <a:pPr marL="0" lvl="0" indent="0" eaLnBrk="1" hangingPunct="1">
              <a:spcBef>
                <a:spcPct val="0"/>
              </a:spcBef>
              <a:buClrTx/>
              <a:buSzTx/>
              <a:buFontTx/>
              <a:buNone/>
            </a:pPr>
            <a:r>
              <a:rPr lang="zh-CN" altLang="zh-CN" sz="2200" dirty="0">
                <a:latin typeface="Arial" panose="020B0604020202020204" pitchFamily="34" charset="0"/>
              </a:rPr>
              <a:t>       </a:t>
            </a:r>
            <a:r>
              <a:rPr lang="zh-CN" altLang="zh-CN" sz="2800" b="1" dirty="0">
                <a:solidFill>
                  <a:schemeClr val="bg2"/>
                </a:solidFill>
                <a:latin typeface="Arial" panose="020B0604020202020204" pitchFamily="34" charset="0"/>
              </a:rPr>
              <a:t>V(full1)</a:t>
            </a:r>
          </a:p>
          <a:p>
            <a:pPr marL="0" lvl="0" indent="0" eaLnBrk="1" hangingPunct="1">
              <a:spcBef>
                <a:spcPct val="0"/>
              </a:spcBef>
              <a:buClrTx/>
              <a:buSzTx/>
              <a:buFontTx/>
              <a:buNone/>
            </a:pPr>
            <a:r>
              <a:rPr lang="zh-CN" altLang="zh-CN" sz="2800" dirty="0">
                <a:latin typeface="Arial" panose="020B0604020202020204" pitchFamily="34" charset="0"/>
              </a:rPr>
              <a:t>    }</a:t>
            </a:r>
            <a:br>
              <a:rPr lang="zh-CN" altLang="zh-CN" sz="2800" dirty="0">
                <a:latin typeface="Arial" panose="020B0604020202020204" pitchFamily="34" charset="0"/>
              </a:rPr>
            </a:br>
            <a:r>
              <a:rPr lang="zh-CN" altLang="zh-CN" sz="2800" dirty="0">
                <a:latin typeface="Arial" panose="020B0604020202020204" pitchFamily="34" charset="0"/>
              </a:rPr>
              <a:t>}</a:t>
            </a:r>
          </a:p>
        </p:txBody>
      </p:sp>
      <p:sp>
        <p:nvSpPr>
          <p:cNvPr id="47108" name="Text Box 4"/>
          <p:cNvSpPr txBox="1"/>
          <p:nvPr/>
        </p:nvSpPr>
        <p:spPr>
          <a:xfrm>
            <a:off x="6659563" y="692150"/>
            <a:ext cx="2335212" cy="427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zh-CN" sz="2800" dirty="0">
                <a:latin typeface="Arial" panose="020B0604020202020204" pitchFamily="34" charset="0"/>
              </a:rPr>
              <a:t>PC()</a:t>
            </a:r>
            <a:br>
              <a:rPr lang="zh-CN" altLang="zh-CN" sz="2800" dirty="0">
                <a:latin typeface="Arial" panose="020B0604020202020204" pitchFamily="34" charset="0"/>
              </a:rPr>
            </a:br>
            <a:r>
              <a:rPr lang="zh-CN" altLang="zh-CN" sz="2800" dirty="0">
                <a:latin typeface="Arial" panose="020B0604020202020204" pitchFamily="34" charset="0"/>
              </a:rPr>
              <a:t>{</a:t>
            </a:r>
            <a:br>
              <a:rPr lang="zh-CN" altLang="zh-CN" sz="2800" dirty="0">
                <a:latin typeface="Arial" panose="020B0604020202020204" pitchFamily="34" charset="0"/>
              </a:rPr>
            </a:br>
            <a:r>
              <a:rPr lang="zh-CN" altLang="zh-CN" sz="2800" dirty="0">
                <a:latin typeface="Arial" panose="020B0604020202020204" pitchFamily="34" charset="0"/>
              </a:rPr>
              <a:t>while(true)</a:t>
            </a:r>
            <a:br>
              <a:rPr lang="zh-CN" altLang="zh-CN" sz="2800" dirty="0">
                <a:latin typeface="Arial" panose="020B0604020202020204" pitchFamily="34" charset="0"/>
              </a:rPr>
            </a:br>
            <a:r>
              <a:rPr lang="zh-CN" altLang="zh-CN" sz="2800" dirty="0">
                <a:latin typeface="Arial" panose="020B0604020202020204" pitchFamily="34" charset="0"/>
              </a:rPr>
              <a:t>   {</a:t>
            </a:r>
          </a:p>
          <a:p>
            <a:pPr marL="0" lvl="0" indent="0" eaLnBrk="1" hangingPunct="1">
              <a:spcBef>
                <a:spcPct val="0"/>
              </a:spcBef>
              <a:buClrTx/>
              <a:buSzTx/>
              <a:buFontTx/>
              <a:buNone/>
            </a:pPr>
            <a:r>
              <a:rPr lang="zh-CN" altLang="zh-CN" sz="2800" dirty="0">
                <a:latin typeface="Arial" panose="020B0604020202020204" pitchFamily="34" charset="0"/>
              </a:rPr>
              <a:t>     </a:t>
            </a:r>
            <a:r>
              <a:rPr lang="zh-CN" altLang="zh-CN" sz="2800" b="1" dirty="0">
                <a:solidFill>
                  <a:srgbClr val="FF0000"/>
                </a:solidFill>
                <a:latin typeface="Arial" panose="020B0604020202020204" pitchFamily="34" charset="0"/>
              </a:rPr>
              <a:t>P(full2)</a:t>
            </a:r>
            <a:r>
              <a:rPr lang="zh-CN" altLang="zh-CN" sz="2800" dirty="0">
                <a:latin typeface="Arial" panose="020B0604020202020204" pitchFamily="34" charset="0"/>
              </a:rPr>
              <a:t> </a:t>
            </a:r>
          </a:p>
          <a:p>
            <a:pPr marL="0" lvl="0" indent="0" eaLnBrk="1" hangingPunct="1">
              <a:spcBef>
                <a:spcPct val="0"/>
              </a:spcBef>
              <a:buClrTx/>
              <a:buSzTx/>
              <a:buFontTx/>
              <a:buNone/>
            </a:pPr>
            <a:r>
              <a:rPr lang="zh-CN" altLang="zh-CN" sz="2800" dirty="0">
                <a:latin typeface="Arial" panose="020B0604020202020204" pitchFamily="34" charset="0"/>
              </a:rPr>
              <a:t>     </a:t>
            </a:r>
            <a:r>
              <a:rPr lang="zh-CN" altLang="en-US" sz="2200" dirty="0">
                <a:latin typeface="Arial" panose="020B0604020202020204" pitchFamily="34" charset="0"/>
              </a:rPr>
              <a:t>从</a:t>
            </a:r>
            <a:r>
              <a:rPr lang="zh-CN" altLang="zh-CN" sz="2200" dirty="0">
                <a:latin typeface="Arial" panose="020B0604020202020204" pitchFamily="34" charset="0"/>
              </a:rPr>
              <a:t>2</a:t>
            </a:r>
            <a:r>
              <a:rPr lang="zh-CN" altLang="en-US" sz="2200" dirty="0">
                <a:latin typeface="Arial" panose="020B0604020202020204" pitchFamily="34" charset="0"/>
              </a:rPr>
              <a:t>取记录</a:t>
            </a:r>
          </a:p>
          <a:p>
            <a:pPr marL="0" lvl="0" indent="0" eaLnBrk="1" hangingPunct="1">
              <a:spcBef>
                <a:spcPct val="0"/>
              </a:spcBef>
              <a:buClrTx/>
              <a:buSzTx/>
              <a:buFontTx/>
              <a:buNone/>
            </a:pPr>
            <a:r>
              <a:rPr lang="zh-CN" altLang="zh-CN" sz="2200" dirty="0">
                <a:latin typeface="Arial" panose="020B0604020202020204" pitchFamily="34" charset="0"/>
              </a:rPr>
              <a:t>      </a:t>
            </a:r>
            <a:r>
              <a:rPr lang="zh-CN" altLang="zh-CN" sz="2800" b="1" dirty="0">
                <a:solidFill>
                  <a:srgbClr val="FF0000"/>
                </a:solidFill>
                <a:latin typeface="Arial" panose="020B0604020202020204" pitchFamily="34" charset="0"/>
              </a:rPr>
              <a:t>v(empty2)</a:t>
            </a:r>
          </a:p>
          <a:p>
            <a:pPr marL="0" lvl="0" indent="0" eaLnBrk="1" hangingPunct="1">
              <a:spcBef>
                <a:spcPct val="0"/>
              </a:spcBef>
              <a:buClrTx/>
              <a:buSzTx/>
              <a:buFontTx/>
              <a:buNone/>
            </a:pPr>
            <a:r>
              <a:rPr lang="zh-CN" altLang="zh-CN" sz="2200" dirty="0">
                <a:latin typeface="Arial" panose="020B0604020202020204" pitchFamily="34" charset="0"/>
              </a:rPr>
              <a:t>      </a:t>
            </a:r>
            <a:r>
              <a:rPr lang="zh-CN" altLang="en-US" sz="2200" dirty="0">
                <a:latin typeface="Arial" panose="020B0604020202020204" pitchFamily="34" charset="0"/>
              </a:rPr>
              <a:t>打印记录</a:t>
            </a:r>
          </a:p>
          <a:p>
            <a:pPr marL="0" lvl="0" indent="0" eaLnBrk="1" hangingPunct="1">
              <a:spcBef>
                <a:spcPct val="0"/>
              </a:spcBef>
              <a:buClrTx/>
              <a:buSzTx/>
              <a:buFontTx/>
              <a:buNone/>
            </a:pPr>
            <a:r>
              <a:rPr lang="zh-CN" altLang="zh-CN" sz="2800" dirty="0">
                <a:latin typeface="Arial" panose="020B0604020202020204" pitchFamily="34" charset="0"/>
              </a:rPr>
              <a:t>    }</a:t>
            </a:r>
            <a:br>
              <a:rPr lang="zh-CN" altLang="zh-CN" sz="2800" dirty="0">
                <a:latin typeface="Arial" panose="020B0604020202020204" pitchFamily="34" charset="0"/>
              </a:rPr>
            </a:br>
            <a:r>
              <a:rPr lang="zh-CN" altLang="zh-CN" sz="2800" dirty="0">
                <a:latin typeface="Arial" panose="020B0604020202020204" pitchFamily="34" charset="0"/>
              </a:rPr>
              <a:t>}</a:t>
            </a:r>
          </a:p>
        </p:txBody>
      </p:sp>
      <p:sp>
        <p:nvSpPr>
          <p:cNvPr id="20485" name="AutoShape 5"/>
          <p:cNvSpPr/>
          <p:nvPr/>
        </p:nvSpPr>
        <p:spPr>
          <a:xfrm>
            <a:off x="5073650" y="5233988"/>
            <a:ext cx="3962400" cy="1219200"/>
          </a:xfrm>
          <a:prstGeom prst="cloudCallout">
            <a:avLst>
              <a:gd name="adj1" fmla="val -54125"/>
              <a:gd name="adj2" fmla="val -63972"/>
            </a:avLst>
          </a:prstGeom>
          <a:solidFill>
            <a:srgbClr val="E6CEFC"/>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spcBef>
                <a:spcPct val="0"/>
              </a:spcBef>
              <a:buClrTx/>
              <a:buSzTx/>
              <a:buFontTx/>
              <a:buNone/>
            </a:pPr>
            <a:r>
              <a:rPr lang="zh-CN" altLang="zh-CN" sz="2800" b="1" dirty="0">
                <a:latin typeface="楷体_GB2312" panose="02010609030101010101" pitchFamily="49" charset="-122"/>
                <a:ea typeface="楷体_GB2312" panose="02010609030101010101" pitchFamily="49" charset="-122"/>
              </a:rPr>
              <a:t>PB</a:t>
            </a:r>
            <a:r>
              <a:rPr lang="zh-CN" altLang="en-US" sz="2800" b="1" dirty="0">
                <a:latin typeface="楷体_GB2312" panose="02010609030101010101" pitchFamily="49" charset="-122"/>
                <a:ea typeface="楷体_GB2312" panose="02010609030101010101" pitchFamily="49" charset="-122"/>
              </a:rPr>
              <a:t>既是生产者又是消费者</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485"/>
                                        </p:tgtEl>
                                        <p:attrNameLst>
                                          <p:attrName>style.visibility</p:attrName>
                                        </p:attrNameLst>
                                      </p:cBhvr>
                                      <p:to>
                                        <p:strVal val="visible"/>
                                      </p:to>
                                    </p:set>
                                    <p:animEffect transition="in" filter="dissolve">
                                      <p:cBhvr>
                                        <p:cTn id="7" dur="500"/>
                                        <p:tgtEl>
                                          <p:spTgt spid="20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13665"/>
          <p:cNvSpPr>
            <a:spLocks noGrp="1"/>
          </p:cNvSpPr>
          <p:nvPr>
            <p:ph type="title"/>
          </p:nvPr>
        </p:nvSpPr>
        <p:spPr/>
        <p:txBody>
          <a:bodyPr vert="horz" wrap="square" lIns="91440" tIns="45720" rIns="91440" bIns="45720" anchor="b" anchorCtr="0"/>
          <a:lstStyle/>
          <a:p>
            <a:pPr eaLnBrk="1" hangingPunct="1"/>
            <a:r>
              <a:rPr lang="zh-CN" altLang="en-US" dirty="0"/>
              <a:t>小结</a:t>
            </a:r>
          </a:p>
        </p:txBody>
      </p:sp>
      <p:sp>
        <p:nvSpPr>
          <p:cNvPr id="48131" name="文本占位符 113666"/>
          <p:cNvSpPr>
            <a:spLocks noGrp="1"/>
          </p:cNvSpPr>
          <p:nvPr>
            <p:ph idx="1"/>
          </p:nvPr>
        </p:nvSpPr>
        <p:spPr/>
        <p:txBody>
          <a:bodyPr vert="horz" wrap="square" lIns="91440" tIns="45720" rIns="91440" bIns="45720" anchor="t" anchorCtr="0"/>
          <a:lstStyle/>
          <a:p>
            <a:pPr eaLnBrk="1" hangingPunct="1"/>
            <a:r>
              <a:rPr lang="zh-CN" altLang="en-US" dirty="0"/>
              <a:t>1、进程间三种关系。</a:t>
            </a:r>
          </a:p>
          <a:p>
            <a:pPr eaLnBrk="1" hangingPunct="1"/>
            <a:r>
              <a:rPr lang="zh-CN" altLang="en-US" dirty="0"/>
              <a:t>2、临界资源、临界区。</a:t>
            </a:r>
          </a:p>
          <a:p>
            <a:pPr eaLnBrk="1" hangingPunct="1"/>
            <a:r>
              <a:rPr lang="zh-CN" altLang="en-US" dirty="0"/>
              <a:t>3、信号量：整型、结构体型、二值型。</a:t>
            </a:r>
          </a:p>
          <a:p>
            <a:pPr eaLnBrk="1" hangingPunct="1"/>
            <a:r>
              <a:rPr lang="zh-CN" altLang="en-US" dirty="0"/>
              <a:t>4、P\V操作。</a:t>
            </a:r>
          </a:p>
          <a:p>
            <a:pPr eaLnBrk="1" hangingPunct="1"/>
            <a:r>
              <a:rPr lang="zh-CN" altLang="en-US" dirty="0"/>
              <a:t>5、P\V互斥操作、同步操作特点。</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2049"/>
          <p:cNvSpPr>
            <a:spLocks noGrp="1"/>
          </p:cNvSpPr>
          <p:nvPr>
            <p:ph type="title"/>
          </p:nvPr>
        </p:nvSpPr>
        <p:spPr>
          <a:ln/>
        </p:spPr>
        <p:txBody>
          <a:bodyPr vert="horz" wrap="square" lIns="91440" tIns="45720" rIns="91440" bIns="45720" anchor="b" anchorCtr="0"/>
          <a:lstStyle/>
          <a:p>
            <a:pPr eaLnBrk="1" hangingPunct="1"/>
            <a:r>
              <a:rPr lang="en-US" altLang="zh-CN" b="1" dirty="0"/>
              <a:t>2.5 </a:t>
            </a:r>
            <a:r>
              <a:rPr lang="zh-CN" altLang="en-US" b="1" dirty="0"/>
              <a:t>进程同步和通信</a:t>
            </a:r>
          </a:p>
        </p:txBody>
      </p:sp>
      <p:sp>
        <p:nvSpPr>
          <p:cNvPr id="4099" name="灯片编号占位符 1"/>
          <p:cNvSpPr txBox="1">
            <a:spLocks noGrp="1" noChangeArrowheads="1"/>
          </p:cNvSpPr>
          <p:nvPr>
            <p:ph type="sldNum" sz="quarter" idx="4"/>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marL="0" marR="0" lvl="0" indent="0" algn="r" defTabSz="914400" rtl="0" eaLnBrk="1" fontAlgn="base" latinLnBrk="0" hangingPunct="1">
              <a:lnSpc>
                <a:spcPct val="100000"/>
              </a:lnSpc>
              <a:spcBef>
                <a:spcPct val="20000"/>
              </a:spcBef>
              <a:spcAft>
                <a:spcPct val="0"/>
              </a:spcAft>
              <a:buClrTx/>
              <a:buSzTx/>
              <a:buFontTx/>
              <a:buNone/>
              <a:defRPr/>
            </a:pPr>
            <a:fld id="{0EED11EA-F935-4911-93F2-91D3A1803BCD}" type="slidenum">
              <a:rPr kumimoji="0" lang="zh-CN"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ea"/>
              </a:rPr>
              <a:t>33</a:t>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endParaRPr>
          </a:p>
        </p:txBody>
      </p:sp>
      <p:sp>
        <p:nvSpPr>
          <p:cNvPr id="19459" name="内容占位符 1"/>
          <p:cNvSpPr>
            <a:spLocks noGrp="1"/>
          </p:cNvSpPr>
          <p:nvPr>
            <p:ph idx="1"/>
          </p:nvPr>
        </p:nvSpPr>
        <p:spPr>
          <a:ln/>
        </p:spPr>
        <p:txBody>
          <a:bodyPr vert="horz" wrap="square" lIns="91440" tIns="45720" rIns="91440" bIns="45720" anchor="t" anchorCtr="0"/>
          <a:lstStyle/>
          <a:p>
            <a:r>
              <a:rPr lang="en-US" altLang="zh-CN" dirty="0"/>
              <a:t> </a:t>
            </a:r>
            <a:r>
              <a:rPr lang="zh-CN" altLang="en-US" dirty="0"/>
              <a:t>复习</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253953"/>
          <p:cNvSpPr>
            <a:spLocks noGrp="1"/>
          </p:cNvSpPr>
          <p:nvPr>
            <p:ph type="title"/>
          </p:nvPr>
        </p:nvSpPr>
        <p:spPr>
          <a:ln/>
        </p:spPr>
        <p:txBody>
          <a:bodyPr vert="horz" wrap="square" lIns="91440" tIns="45720" rIns="91440" bIns="45720" anchor="b" anchorCtr="0"/>
          <a:lstStyle/>
          <a:p>
            <a:pPr eaLnBrk="1" hangingPunct="1"/>
            <a:r>
              <a:rPr lang="en-US" altLang="zh-CN" sz="4000" b="1" dirty="0"/>
              <a:t>2.5.4  </a:t>
            </a:r>
            <a:r>
              <a:rPr lang="zh-CN" altLang="en-US" sz="4000" b="1" dirty="0"/>
              <a:t>信号量</a:t>
            </a:r>
            <a:r>
              <a:rPr lang="en-US" altLang="zh-CN" sz="4000" b="1" dirty="0"/>
              <a:t>——</a:t>
            </a:r>
            <a:r>
              <a:rPr lang="zh-CN" altLang="en-US" sz="4000" b="1" dirty="0"/>
              <a:t>整型信号量</a:t>
            </a:r>
          </a:p>
        </p:txBody>
      </p:sp>
      <p:sp>
        <p:nvSpPr>
          <p:cNvPr id="253955" name="内容占位符 253954"/>
          <p:cNvSpPr>
            <a:spLocks noGrp="1"/>
          </p:cNvSpPr>
          <p:nvPr>
            <p:ph idx="1"/>
          </p:nvPr>
        </p:nvSpPr>
        <p:spPr>
          <a:xfrm>
            <a:off x="827088" y="1917700"/>
            <a:ext cx="8066087" cy="4824413"/>
          </a:xfrm>
          <a:ln/>
        </p:spPr>
        <p:txBody>
          <a:bodyPr vert="horz" wrap="square" lIns="91440" tIns="45720" rIns="91440" bIns="45720" anchor="t" anchorCtr="0"/>
          <a:lstStyle/>
          <a:p>
            <a:pPr eaLnBrk="1" hangingPunct="1">
              <a:lnSpc>
                <a:spcPct val="90000"/>
              </a:lnSpc>
            </a:pPr>
            <a:r>
              <a:rPr lang="zh-CN" altLang="en-US" sz="2800" b="1" dirty="0"/>
              <a:t>设整型信号量</a:t>
            </a:r>
            <a:r>
              <a:rPr lang="en-US" altLang="zh-CN" sz="2800" b="1" dirty="0"/>
              <a:t>S</a:t>
            </a:r>
            <a:r>
              <a:rPr lang="zh-CN" altLang="en-US" sz="2800" b="1" dirty="0"/>
              <a:t>。</a:t>
            </a:r>
          </a:p>
          <a:p>
            <a:pPr eaLnBrk="1" hangingPunct="1">
              <a:lnSpc>
                <a:spcPct val="90000"/>
              </a:lnSpc>
            </a:pPr>
            <a:r>
              <a:rPr lang="en-US" altLang="zh-CN" sz="2800" b="1" dirty="0"/>
              <a:t>P</a:t>
            </a:r>
            <a:r>
              <a:rPr lang="zh-CN" altLang="en-US" sz="2800" b="1" dirty="0"/>
              <a:t>、</a:t>
            </a:r>
            <a:r>
              <a:rPr lang="en-US" altLang="zh-CN" sz="2800" b="1" dirty="0"/>
              <a:t>V</a:t>
            </a:r>
            <a:r>
              <a:rPr lang="zh-CN" altLang="en-US" sz="2800" b="1" dirty="0"/>
              <a:t>原子操作伪代码：</a:t>
            </a:r>
          </a:p>
          <a:p>
            <a:pPr eaLnBrk="1" hangingPunct="1">
              <a:lnSpc>
                <a:spcPct val="90000"/>
              </a:lnSpc>
              <a:buNone/>
            </a:pPr>
            <a:r>
              <a:rPr lang="en-US" altLang="zh-CN" sz="2800" b="1" dirty="0"/>
              <a:t>P(S){</a:t>
            </a:r>
          </a:p>
          <a:p>
            <a:pPr eaLnBrk="1" hangingPunct="1">
              <a:lnSpc>
                <a:spcPct val="90000"/>
              </a:lnSpc>
              <a:buNone/>
            </a:pPr>
            <a:r>
              <a:rPr lang="en-US" altLang="zh-CN" sz="2800" b="1" dirty="0"/>
              <a:t>		while(S</a:t>
            </a:r>
            <a:r>
              <a:rPr lang="en-US" altLang="zh-CN" sz="2800" b="1" dirty="0">
                <a:latin typeface="Times New Roman" panose="02020603050405020304" pitchFamily="18" charset="0"/>
              </a:rPr>
              <a:t>≤</a:t>
            </a:r>
            <a:r>
              <a:rPr lang="en-US" altLang="zh-CN" sz="2800" b="1" dirty="0"/>
              <a:t>0);	 </a:t>
            </a:r>
          </a:p>
          <a:p>
            <a:pPr eaLnBrk="1" hangingPunct="1">
              <a:lnSpc>
                <a:spcPct val="90000"/>
              </a:lnSpc>
              <a:buNone/>
            </a:pPr>
            <a:r>
              <a:rPr lang="en-US" altLang="zh-CN" sz="2800" b="1" dirty="0"/>
              <a:t>		S--;</a:t>
            </a:r>
          </a:p>
          <a:p>
            <a:pPr eaLnBrk="1" hangingPunct="1">
              <a:lnSpc>
                <a:spcPct val="90000"/>
              </a:lnSpc>
              <a:buNone/>
            </a:pPr>
            <a:r>
              <a:rPr lang="en-US" altLang="zh-CN" sz="2800" b="1" dirty="0"/>
              <a:t>}</a:t>
            </a:r>
          </a:p>
          <a:p>
            <a:pPr eaLnBrk="1" hangingPunct="1">
              <a:lnSpc>
                <a:spcPct val="90000"/>
              </a:lnSpc>
              <a:buNone/>
            </a:pPr>
            <a:endParaRPr lang="en-US" altLang="zh-CN" sz="2800" b="1" dirty="0"/>
          </a:p>
          <a:p>
            <a:pPr eaLnBrk="1" hangingPunct="1">
              <a:lnSpc>
                <a:spcPct val="90000"/>
              </a:lnSpc>
              <a:buNone/>
            </a:pPr>
            <a:r>
              <a:rPr lang="en-US" altLang="zh-CN" sz="2800" b="1" dirty="0"/>
              <a:t>V(S){</a:t>
            </a:r>
          </a:p>
          <a:p>
            <a:pPr eaLnBrk="1" hangingPunct="1">
              <a:lnSpc>
                <a:spcPct val="90000"/>
              </a:lnSpc>
              <a:buNone/>
            </a:pPr>
            <a:r>
              <a:rPr lang="en-US" altLang="zh-CN" sz="2800" b="1" dirty="0"/>
              <a:t>		S++;</a:t>
            </a:r>
          </a:p>
          <a:p>
            <a:pPr eaLnBrk="1" hangingPunct="1">
              <a:lnSpc>
                <a:spcPct val="90000"/>
              </a:lnSpc>
              <a:buNone/>
            </a:pPr>
            <a:r>
              <a:rPr lang="en-US" altLang="zh-CN" sz="2800" b="1" dirty="0"/>
              <a:t>}</a:t>
            </a:r>
          </a:p>
        </p:txBody>
      </p:sp>
      <p:sp>
        <p:nvSpPr>
          <p:cNvPr id="253956" name="圆角矩形标注 253955"/>
          <p:cNvSpPr/>
          <p:nvPr/>
        </p:nvSpPr>
        <p:spPr>
          <a:xfrm>
            <a:off x="5867400" y="3213100"/>
            <a:ext cx="2879725" cy="576263"/>
          </a:xfrm>
          <a:prstGeom prst="wedgeRoundRectCallout">
            <a:avLst>
              <a:gd name="adj1" fmla="val -111134"/>
              <a:gd name="adj2" fmla="val 14463"/>
              <a:gd name="adj3" fmla="val 16667"/>
            </a:avLst>
          </a:prstGeom>
          <a:solidFill>
            <a:srgbClr val="FFCC00"/>
          </a:solidFill>
          <a:ln w="9525">
            <a:noFill/>
          </a:ln>
        </p:spPr>
        <p:txBody>
          <a:bodyPr anchor="t" anchorCtr="0"/>
          <a:lstStyle/>
          <a:p>
            <a:pPr algn="ctr">
              <a:spcBef>
                <a:spcPct val="20000"/>
              </a:spcBef>
              <a:buClr>
                <a:schemeClr val="folHlink"/>
              </a:buClr>
              <a:buSzPct val="60000"/>
              <a:buFontTx/>
            </a:pPr>
            <a:r>
              <a:rPr lang="zh-CN" altLang="en-US" b="1" i="0" dirty="0">
                <a:latin typeface="Tahoma" panose="020B0604030504040204" pitchFamily="34" charset="0"/>
                <a:ea typeface="宋体" panose="02010600030101010101" pitchFamily="2" charset="-122"/>
              </a:rPr>
              <a:t>仍然造成</a:t>
            </a:r>
            <a:r>
              <a:rPr lang="en-US" altLang="zh-CN" b="1" i="0" dirty="0">
                <a:latin typeface="Tahoma" panose="020B0604030504040204" pitchFamily="34" charset="0"/>
                <a:ea typeface="宋体" panose="02010600030101010101" pitchFamily="2" charset="-122"/>
              </a:rPr>
              <a:t>CPU</a:t>
            </a:r>
            <a:r>
              <a:rPr lang="zh-CN" altLang="en-US" b="1" i="0" dirty="0">
                <a:latin typeface="Tahoma" panose="020B0604030504040204" pitchFamily="34" charset="0"/>
                <a:ea typeface="宋体" panose="02010600030101010101" pitchFamily="2" charset="-122"/>
              </a:rPr>
              <a:t>忙等</a:t>
            </a:r>
          </a:p>
        </p:txBody>
      </p:sp>
      <p:sp>
        <p:nvSpPr>
          <p:cNvPr id="35844" name="灯片编号占位符 1"/>
          <p:cNvSpPr txBox="1">
            <a:spLocks noGrp="1" noChangeArrowheads="1"/>
          </p:cNvSpPr>
          <p:nvPr>
            <p:ph type="sldNum" sz="quarter" idx="4"/>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marL="0" marR="0" lvl="0" indent="0" algn="r" defTabSz="914400" rtl="0" eaLnBrk="1" fontAlgn="base" latinLnBrk="0" hangingPunct="1">
              <a:lnSpc>
                <a:spcPct val="100000"/>
              </a:lnSpc>
              <a:spcBef>
                <a:spcPct val="20000"/>
              </a:spcBef>
              <a:spcAft>
                <a:spcPct val="0"/>
              </a:spcAft>
              <a:buClrTx/>
              <a:buSzTx/>
              <a:buFontTx/>
              <a:buNone/>
              <a:defRPr/>
            </a:pPr>
            <a:fld id="{6C1F7EF8-CA0F-4DAE-A59D-3161F1B18D74}" type="slidenum">
              <a:rPr kumimoji="0" lang="zh-CN"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ea"/>
              </a:rPr>
              <a:t>34</a:t>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3955">
                                            <p:txEl>
                                              <p:pRg st="0" end="0"/>
                                            </p:txEl>
                                          </p:spTgt>
                                        </p:tgtEl>
                                        <p:attrNameLst>
                                          <p:attrName>style.visibility</p:attrName>
                                        </p:attrNameLst>
                                      </p:cBhvr>
                                      <p:to>
                                        <p:strVal val="visible"/>
                                      </p:to>
                                    </p:set>
                                    <p:animEffect transition="in" filter="blinds(horizontal)">
                                      <p:cBhvr>
                                        <p:cTn id="7" dur="500"/>
                                        <p:tgtEl>
                                          <p:spTgt spid="2539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3955">
                                            <p:txEl>
                                              <p:pRg st="1" end="1"/>
                                            </p:txEl>
                                          </p:spTgt>
                                        </p:tgtEl>
                                        <p:attrNameLst>
                                          <p:attrName>style.visibility</p:attrName>
                                        </p:attrNameLst>
                                      </p:cBhvr>
                                      <p:to>
                                        <p:strVal val="visible"/>
                                      </p:to>
                                    </p:set>
                                    <p:animEffect transition="in" filter="blinds(horizontal)">
                                      <p:cBhvr>
                                        <p:cTn id="12" dur="500"/>
                                        <p:tgtEl>
                                          <p:spTgt spid="2539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53955">
                                            <p:txEl>
                                              <p:pRg st="2" end="2"/>
                                            </p:txEl>
                                          </p:spTgt>
                                        </p:tgtEl>
                                        <p:attrNameLst>
                                          <p:attrName>style.visibility</p:attrName>
                                        </p:attrNameLst>
                                      </p:cBhvr>
                                      <p:to>
                                        <p:strVal val="visible"/>
                                      </p:to>
                                    </p:set>
                                    <p:animEffect transition="in" filter="blinds(horizontal)">
                                      <p:cBhvr>
                                        <p:cTn id="17" dur="500"/>
                                        <p:tgtEl>
                                          <p:spTgt spid="253955">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253955">
                                            <p:txEl>
                                              <p:pRg st="3" end="3"/>
                                            </p:txEl>
                                          </p:spTgt>
                                        </p:tgtEl>
                                        <p:attrNameLst>
                                          <p:attrName>style.visibility</p:attrName>
                                        </p:attrNameLst>
                                      </p:cBhvr>
                                      <p:to>
                                        <p:strVal val="visible"/>
                                      </p:to>
                                    </p:set>
                                    <p:animEffect transition="in" filter="blinds(horizontal)">
                                      <p:cBhvr>
                                        <p:cTn id="20" dur="500"/>
                                        <p:tgtEl>
                                          <p:spTgt spid="253955">
                                            <p:txEl>
                                              <p:pRg st="3" end="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253955">
                                            <p:txEl>
                                              <p:pRg st="4" end="4"/>
                                            </p:txEl>
                                          </p:spTgt>
                                        </p:tgtEl>
                                        <p:attrNameLst>
                                          <p:attrName>style.visibility</p:attrName>
                                        </p:attrNameLst>
                                      </p:cBhvr>
                                      <p:to>
                                        <p:strVal val="visible"/>
                                      </p:to>
                                    </p:set>
                                    <p:animEffect transition="in" filter="blinds(horizontal)">
                                      <p:cBhvr>
                                        <p:cTn id="23" dur="500"/>
                                        <p:tgtEl>
                                          <p:spTgt spid="253955">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253955">
                                            <p:txEl>
                                              <p:pRg st="5" end="5"/>
                                            </p:txEl>
                                          </p:spTgt>
                                        </p:tgtEl>
                                        <p:attrNameLst>
                                          <p:attrName>style.visibility</p:attrName>
                                        </p:attrNameLst>
                                      </p:cBhvr>
                                      <p:to>
                                        <p:strVal val="visible"/>
                                      </p:to>
                                    </p:set>
                                    <p:animEffect transition="in" filter="blinds(horizontal)">
                                      <p:cBhvr>
                                        <p:cTn id="26" dur="500"/>
                                        <p:tgtEl>
                                          <p:spTgt spid="253955">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53956"/>
                                        </p:tgtEl>
                                        <p:attrNameLst>
                                          <p:attrName>style.visibility</p:attrName>
                                        </p:attrNameLst>
                                      </p:cBhvr>
                                      <p:to>
                                        <p:strVal val="visible"/>
                                      </p:to>
                                    </p:set>
                                    <p:animEffect transition="in" filter="blinds(horizontal)">
                                      <p:cBhvr>
                                        <p:cTn id="31" dur="500"/>
                                        <p:tgtEl>
                                          <p:spTgt spid="253956"/>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253955">
                                            <p:txEl>
                                              <p:pRg st="7" end="7"/>
                                            </p:txEl>
                                          </p:spTgt>
                                        </p:tgtEl>
                                        <p:attrNameLst>
                                          <p:attrName>style.visibility</p:attrName>
                                        </p:attrNameLst>
                                      </p:cBhvr>
                                      <p:to>
                                        <p:strVal val="visible"/>
                                      </p:to>
                                    </p:set>
                                    <p:animEffect transition="in" filter="blinds(horizontal)">
                                      <p:cBhvr>
                                        <p:cTn id="36" dur="500"/>
                                        <p:tgtEl>
                                          <p:spTgt spid="253955">
                                            <p:txEl>
                                              <p:pRg st="7" end="7"/>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253955">
                                            <p:txEl>
                                              <p:pRg st="8" end="8"/>
                                            </p:txEl>
                                          </p:spTgt>
                                        </p:tgtEl>
                                        <p:attrNameLst>
                                          <p:attrName>style.visibility</p:attrName>
                                        </p:attrNameLst>
                                      </p:cBhvr>
                                      <p:to>
                                        <p:strVal val="visible"/>
                                      </p:to>
                                    </p:set>
                                    <p:animEffect transition="in" filter="blinds(horizontal)">
                                      <p:cBhvr>
                                        <p:cTn id="39" dur="500"/>
                                        <p:tgtEl>
                                          <p:spTgt spid="253955">
                                            <p:txEl>
                                              <p:pRg st="8" end="8"/>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253955">
                                            <p:txEl>
                                              <p:pRg st="9" end="9"/>
                                            </p:txEl>
                                          </p:spTgt>
                                        </p:tgtEl>
                                        <p:attrNameLst>
                                          <p:attrName>style.visibility</p:attrName>
                                        </p:attrNameLst>
                                      </p:cBhvr>
                                      <p:to>
                                        <p:strVal val="visible"/>
                                      </p:to>
                                    </p:set>
                                    <p:animEffect transition="in" filter="blinds(horizontal)">
                                      <p:cBhvr>
                                        <p:cTn id="42" dur="500"/>
                                        <p:tgtEl>
                                          <p:spTgt spid="25395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5" grpId="0" uiExpand="1" build="p"/>
      <p:bldP spid="25395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257025"/>
          <p:cNvSpPr>
            <a:spLocks noGrp="1"/>
          </p:cNvSpPr>
          <p:nvPr>
            <p:ph type="title"/>
          </p:nvPr>
        </p:nvSpPr>
        <p:spPr>
          <a:ln/>
        </p:spPr>
        <p:txBody>
          <a:bodyPr vert="horz" wrap="square" lIns="91440" tIns="45720" rIns="91440" bIns="45720" anchor="b" anchorCtr="0"/>
          <a:lstStyle/>
          <a:p>
            <a:pPr eaLnBrk="1" hangingPunct="1"/>
            <a:r>
              <a:rPr lang="en-US" altLang="zh-CN" sz="4000" b="1" dirty="0"/>
              <a:t>2.5.4  </a:t>
            </a:r>
            <a:r>
              <a:rPr lang="zh-CN" altLang="en-US" sz="4000" b="1" dirty="0"/>
              <a:t>信号量</a:t>
            </a:r>
            <a:r>
              <a:rPr lang="en-US" altLang="zh-CN" sz="4000" b="1" dirty="0"/>
              <a:t>——</a:t>
            </a:r>
            <a:r>
              <a:rPr lang="zh-CN" altLang="en-US" sz="4000" b="1" dirty="0"/>
              <a:t>结构型信号量</a:t>
            </a:r>
          </a:p>
        </p:txBody>
      </p:sp>
      <p:sp>
        <p:nvSpPr>
          <p:cNvPr id="21506" name="文本占位符 257026"/>
          <p:cNvSpPr>
            <a:spLocks noGrp="1"/>
          </p:cNvSpPr>
          <p:nvPr>
            <p:ph idx="1"/>
          </p:nvPr>
        </p:nvSpPr>
        <p:spPr>
          <a:xfrm>
            <a:off x="1116013" y="1831975"/>
            <a:ext cx="7581900" cy="876300"/>
          </a:xfrm>
          <a:ln/>
        </p:spPr>
        <p:txBody>
          <a:bodyPr vert="horz" wrap="square" lIns="91440" tIns="45720" rIns="91440" bIns="45720" anchor="t" anchorCtr="0"/>
          <a:lstStyle/>
          <a:p>
            <a:pPr eaLnBrk="1" hangingPunct="1">
              <a:buNone/>
            </a:pPr>
            <a:r>
              <a:rPr lang="zh-CN" altLang="en-US" b="1" dirty="0"/>
              <a:t>信号量的值与相应资源的使用情况有关</a:t>
            </a:r>
          </a:p>
        </p:txBody>
      </p:sp>
      <p:pic>
        <p:nvPicPr>
          <p:cNvPr id="21507" name="图片 257027" descr="t217"/>
          <p:cNvPicPr>
            <a:picLocks noChangeAspect="1"/>
          </p:cNvPicPr>
          <p:nvPr/>
        </p:nvPicPr>
        <p:blipFill>
          <a:blip r:embed="rId2"/>
          <a:stretch>
            <a:fillRect/>
          </a:stretch>
        </p:blipFill>
        <p:spPr>
          <a:xfrm>
            <a:off x="1116013" y="2493963"/>
            <a:ext cx="6840537" cy="2087562"/>
          </a:xfrm>
          <a:prstGeom prst="rect">
            <a:avLst/>
          </a:prstGeom>
          <a:noFill/>
          <a:ln w="9525">
            <a:noFill/>
          </a:ln>
        </p:spPr>
      </p:pic>
      <p:sp>
        <p:nvSpPr>
          <p:cNvPr id="21508" name="文本框 257028"/>
          <p:cNvSpPr txBox="1"/>
          <p:nvPr/>
        </p:nvSpPr>
        <p:spPr>
          <a:xfrm>
            <a:off x="2627313" y="4724400"/>
            <a:ext cx="4608512" cy="396875"/>
          </a:xfrm>
          <a:prstGeom prst="rect">
            <a:avLst/>
          </a:prstGeom>
          <a:noFill/>
          <a:ln w="9525">
            <a:noFill/>
          </a:ln>
        </p:spPr>
        <p:txBody>
          <a:bodyPr anchor="t" anchorCtr="0">
            <a:spAutoFit/>
          </a:bodyPr>
          <a:lstStyle/>
          <a:p>
            <a:pPr>
              <a:spcBef>
                <a:spcPct val="50000"/>
              </a:spcBef>
              <a:buClrTx/>
              <a:buFontTx/>
            </a:pPr>
            <a:r>
              <a:rPr lang="zh-CN" altLang="en-US" sz="2000" i="0" dirty="0">
                <a:latin typeface="Tahoma" panose="020B0604030504040204" pitchFamily="34" charset="0"/>
                <a:ea typeface="宋体" panose="02010600030101010101" pitchFamily="2" charset="-122"/>
              </a:rPr>
              <a:t>信号量的一般结构及</a:t>
            </a:r>
            <a:r>
              <a:rPr lang="en-US" altLang="zh-CN" sz="2000" i="0" dirty="0">
                <a:latin typeface="Tahoma" panose="020B0604030504040204" pitchFamily="34" charset="0"/>
                <a:ea typeface="宋体" panose="02010600030101010101" pitchFamily="2" charset="-122"/>
              </a:rPr>
              <a:t>PCB</a:t>
            </a:r>
            <a:r>
              <a:rPr lang="zh-CN" altLang="en-US" sz="2000" i="0" dirty="0">
                <a:latin typeface="Tahoma" panose="020B0604030504040204" pitchFamily="34" charset="0"/>
                <a:ea typeface="宋体" panose="02010600030101010101" pitchFamily="2" charset="-122"/>
              </a:rPr>
              <a:t>队列 </a:t>
            </a:r>
          </a:p>
        </p:txBody>
      </p:sp>
      <p:sp>
        <p:nvSpPr>
          <p:cNvPr id="21509" name="矩形 257030"/>
          <p:cNvSpPr/>
          <p:nvPr/>
        </p:nvSpPr>
        <p:spPr>
          <a:xfrm>
            <a:off x="395288" y="5432425"/>
            <a:ext cx="8748712" cy="876300"/>
          </a:xfrm>
          <a:prstGeom prst="rect">
            <a:avLst/>
          </a:prstGeom>
          <a:noFill/>
          <a:ln w="9525">
            <a:noFill/>
          </a:ln>
        </p:spPr>
        <p:txBody>
          <a:bodyPr anchor="t" anchorCtr="0"/>
          <a:lstStyle/>
          <a:p>
            <a:pPr marL="342900" indent="-342900">
              <a:spcBef>
                <a:spcPct val="20000"/>
              </a:spcBef>
              <a:buClr>
                <a:schemeClr val="folHlink"/>
              </a:buClr>
              <a:buSzPct val="60000"/>
              <a:buFontTx/>
            </a:pPr>
            <a:r>
              <a:rPr lang="zh-CN" altLang="en-US" b="1" i="0" dirty="0">
                <a:latin typeface="Times New Roman" panose="02020603050405020304" pitchFamily="18" charset="0"/>
                <a:ea typeface="宋体" panose="02010600030101010101" pitchFamily="2" charset="-122"/>
              </a:rPr>
              <a:t>值大于</a:t>
            </a:r>
            <a:r>
              <a:rPr lang="en-US" altLang="zh-CN" b="1" i="0" dirty="0">
                <a:latin typeface="Tahoma" panose="020B0604030504040204" pitchFamily="34" charset="0"/>
                <a:ea typeface="宋体" panose="02010600030101010101" pitchFamily="2" charset="-122"/>
              </a:rPr>
              <a:t>0</a:t>
            </a:r>
            <a:r>
              <a:rPr lang="zh-CN" altLang="en-US" b="1" i="0" dirty="0">
                <a:latin typeface="Times New Roman" panose="02020603050405020304" pitchFamily="18" charset="0"/>
                <a:ea typeface="宋体" panose="02010600030101010101" pitchFamily="2" charset="-122"/>
              </a:rPr>
              <a:t>时，表示当前可用资源的数量；</a:t>
            </a:r>
          </a:p>
          <a:p>
            <a:pPr marL="342900" indent="-342900">
              <a:spcBef>
                <a:spcPct val="20000"/>
              </a:spcBef>
              <a:buClr>
                <a:schemeClr val="folHlink"/>
              </a:buClr>
              <a:buSzPct val="60000"/>
              <a:buFontTx/>
            </a:pPr>
            <a:r>
              <a:rPr lang="zh-CN" altLang="en-US" b="1" i="0" dirty="0">
                <a:latin typeface="Times New Roman" panose="02020603050405020304" pitchFamily="18" charset="0"/>
                <a:ea typeface="宋体" panose="02010600030101010101" pitchFamily="2" charset="-122"/>
              </a:rPr>
              <a:t>当它的值小于</a:t>
            </a:r>
            <a:r>
              <a:rPr lang="en-US" altLang="zh-CN" b="1" i="0" dirty="0">
                <a:latin typeface="Tahoma" panose="020B0604030504040204" pitchFamily="34" charset="0"/>
                <a:ea typeface="宋体" panose="02010600030101010101" pitchFamily="2" charset="-122"/>
              </a:rPr>
              <a:t>0</a:t>
            </a:r>
            <a:r>
              <a:rPr lang="zh-CN" altLang="en-US" b="1" i="0" dirty="0">
                <a:latin typeface="Times New Roman" panose="02020603050405020304" pitchFamily="18" charset="0"/>
                <a:ea typeface="宋体" panose="02010600030101010101" pitchFamily="2" charset="-122"/>
              </a:rPr>
              <a:t>时，其绝对值表示等待使用该资源的进程个数；</a:t>
            </a:r>
          </a:p>
        </p:txBody>
      </p:sp>
      <p:sp>
        <p:nvSpPr>
          <p:cNvPr id="39942" name="灯片编号占位符 1"/>
          <p:cNvSpPr txBox="1">
            <a:spLocks noGrp="1" noChangeArrowheads="1"/>
          </p:cNvSpPr>
          <p:nvPr>
            <p:ph type="sldNum" sz="quarter" idx="4"/>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marL="0" marR="0" lvl="0" indent="0" algn="r" defTabSz="914400" rtl="0" eaLnBrk="1" fontAlgn="base" latinLnBrk="0" hangingPunct="1">
              <a:lnSpc>
                <a:spcPct val="100000"/>
              </a:lnSpc>
              <a:spcBef>
                <a:spcPct val="20000"/>
              </a:spcBef>
              <a:spcAft>
                <a:spcPct val="0"/>
              </a:spcAft>
              <a:buClrTx/>
              <a:buSzTx/>
              <a:buFontTx/>
              <a:buNone/>
              <a:defRPr/>
            </a:pPr>
            <a:fld id="{E769D66D-6BF8-43F3-9BEE-1457F74108B4}" type="slidenum">
              <a:rPr kumimoji="0" lang="zh-CN"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ea"/>
              </a:rPr>
              <a:t>35</a:t>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259073"/>
          <p:cNvSpPr>
            <a:spLocks noGrp="1"/>
          </p:cNvSpPr>
          <p:nvPr>
            <p:ph type="title"/>
          </p:nvPr>
        </p:nvSpPr>
        <p:spPr>
          <a:ln/>
        </p:spPr>
        <p:txBody>
          <a:bodyPr vert="horz" wrap="square" lIns="91440" tIns="45720" rIns="91440" bIns="45720" anchor="b" anchorCtr="0"/>
          <a:lstStyle/>
          <a:p>
            <a:pPr eaLnBrk="1" hangingPunct="1"/>
            <a:r>
              <a:rPr lang="en-US" altLang="zh-CN" sz="4000" b="1" dirty="0"/>
              <a:t>2.5.4  </a:t>
            </a:r>
            <a:r>
              <a:rPr lang="zh-CN" altLang="en-US" sz="4000" b="1" dirty="0"/>
              <a:t>信号量</a:t>
            </a:r>
            <a:r>
              <a:rPr lang="en-US" altLang="zh-CN" sz="4000" b="1" dirty="0"/>
              <a:t>——</a:t>
            </a:r>
            <a:r>
              <a:rPr lang="zh-CN" altLang="en-US" sz="4000" b="1" dirty="0"/>
              <a:t>结构型信号量</a:t>
            </a:r>
          </a:p>
        </p:txBody>
      </p:sp>
      <p:sp>
        <p:nvSpPr>
          <p:cNvPr id="22530" name="文本占位符 259074"/>
          <p:cNvSpPr>
            <a:spLocks noGrp="1"/>
          </p:cNvSpPr>
          <p:nvPr>
            <p:ph idx="1"/>
          </p:nvPr>
        </p:nvSpPr>
        <p:spPr>
          <a:xfrm>
            <a:off x="1042988" y="1989138"/>
            <a:ext cx="7772400" cy="4719637"/>
          </a:xfrm>
          <a:ln/>
        </p:spPr>
        <p:txBody>
          <a:bodyPr vert="horz" wrap="square" lIns="91440" tIns="45720" rIns="91440" bIns="45720" anchor="t" anchorCtr="0"/>
          <a:lstStyle/>
          <a:p>
            <a:pPr eaLnBrk="1" hangingPunct="1">
              <a:lnSpc>
                <a:spcPct val="80000"/>
              </a:lnSpc>
            </a:pPr>
            <a:r>
              <a:rPr lang="en-US" altLang="zh-CN" sz="2800" b="1" dirty="0"/>
              <a:t>P</a:t>
            </a:r>
            <a:r>
              <a:rPr lang="zh-CN" altLang="en-US" sz="2800" b="1" dirty="0"/>
              <a:t>操作的定义如下：</a:t>
            </a:r>
          </a:p>
          <a:p>
            <a:pPr eaLnBrk="1" hangingPunct="1">
              <a:lnSpc>
                <a:spcPct val="80000"/>
              </a:lnSpc>
              <a:buNone/>
            </a:pPr>
            <a:r>
              <a:rPr lang="zh-CN" altLang="en-US" sz="2800" b="1" dirty="0"/>
              <a:t>     </a:t>
            </a:r>
            <a:r>
              <a:rPr lang="en-US" altLang="zh-CN" sz="2800" b="1" dirty="0"/>
              <a:t>void P(semaphore S)</a:t>
            </a:r>
          </a:p>
          <a:p>
            <a:pPr eaLnBrk="1" hangingPunct="1">
              <a:lnSpc>
                <a:spcPct val="80000"/>
              </a:lnSpc>
              <a:buNone/>
            </a:pPr>
            <a:r>
              <a:rPr lang="en-US" altLang="zh-CN" sz="2800" b="1" dirty="0"/>
              <a:t>    {</a:t>
            </a:r>
          </a:p>
          <a:p>
            <a:pPr eaLnBrk="1" hangingPunct="1">
              <a:lnSpc>
                <a:spcPct val="80000"/>
              </a:lnSpc>
              <a:buNone/>
            </a:pPr>
            <a:r>
              <a:rPr lang="en-US" altLang="zh-CN" sz="2800" b="1" dirty="0"/>
              <a:t>            S.value--;         </a:t>
            </a:r>
            <a:r>
              <a:rPr lang="en-US" altLang="zh-CN" sz="2800" b="1" dirty="0">
                <a:latin typeface="Arial" panose="020B0604020202020204" pitchFamily="34" charset="0"/>
              </a:rPr>
              <a:t>//</a:t>
            </a:r>
            <a:r>
              <a:rPr lang="zh-CN" altLang="en-US" sz="2800" b="1" dirty="0">
                <a:latin typeface="Arial" panose="020B0604020202020204" pitchFamily="34" charset="0"/>
              </a:rPr>
              <a:t>表示申请一个资源</a:t>
            </a:r>
            <a:r>
              <a:rPr lang="en-US" altLang="zh-CN" sz="2800" b="1" dirty="0">
                <a:latin typeface="Arial" panose="020B0604020202020204" pitchFamily="34" charset="0"/>
              </a:rPr>
              <a:t>;</a:t>
            </a:r>
          </a:p>
          <a:p>
            <a:pPr eaLnBrk="1" hangingPunct="1">
              <a:lnSpc>
                <a:spcPct val="80000"/>
              </a:lnSpc>
              <a:buNone/>
            </a:pPr>
            <a:endParaRPr lang="en-US" altLang="zh-CN" sz="2800" b="1" dirty="0"/>
          </a:p>
          <a:p>
            <a:pPr eaLnBrk="1" hangingPunct="1">
              <a:lnSpc>
                <a:spcPct val="80000"/>
              </a:lnSpc>
              <a:buNone/>
            </a:pPr>
            <a:r>
              <a:rPr lang="en-US" altLang="zh-CN" sz="2800" b="1" dirty="0"/>
              <a:t>            if(S.value&lt;0)    </a:t>
            </a:r>
            <a:r>
              <a:rPr lang="en-US" altLang="zh-CN" sz="2800" b="1" dirty="0">
                <a:latin typeface="Arial" panose="020B0604020202020204" pitchFamily="34" charset="0"/>
              </a:rPr>
              <a:t>//</a:t>
            </a:r>
            <a:r>
              <a:rPr lang="zh-CN" altLang="en-US" sz="2800" b="1" dirty="0">
                <a:latin typeface="Arial" panose="020B0604020202020204" pitchFamily="34" charset="0"/>
              </a:rPr>
              <a:t>表示没有空闲资源</a:t>
            </a:r>
            <a:r>
              <a:rPr lang="en-US" altLang="zh-CN" sz="2800" b="1" dirty="0">
                <a:latin typeface="Arial" panose="020B0604020202020204" pitchFamily="34" charset="0"/>
              </a:rPr>
              <a:t>;</a:t>
            </a:r>
            <a:endParaRPr lang="en-US" altLang="zh-CN" sz="2800" b="1" dirty="0"/>
          </a:p>
          <a:p>
            <a:pPr eaLnBrk="1" hangingPunct="1">
              <a:lnSpc>
                <a:spcPct val="80000"/>
              </a:lnSpc>
              <a:buNone/>
            </a:pPr>
            <a:r>
              <a:rPr lang="en-US" altLang="zh-CN" sz="2800" b="1" dirty="0"/>
              <a:t>            {</a:t>
            </a:r>
          </a:p>
          <a:p>
            <a:pPr eaLnBrk="1" hangingPunct="1">
              <a:lnSpc>
                <a:spcPct val="80000"/>
              </a:lnSpc>
              <a:buNone/>
            </a:pPr>
            <a:r>
              <a:rPr lang="en-US" altLang="zh-CN" sz="2800" b="1" dirty="0"/>
              <a:t>                 </a:t>
            </a:r>
            <a:r>
              <a:rPr lang="zh-CN" altLang="en-US" sz="2800" b="1" dirty="0"/>
              <a:t>把这个进程加到</a:t>
            </a:r>
            <a:r>
              <a:rPr lang="en-US" altLang="zh-CN" sz="2800" b="1" dirty="0"/>
              <a:t>S.list</a:t>
            </a:r>
            <a:r>
              <a:rPr lang="zh-CN" altLang="en-US" sz="2800" b="1" dirty="0"/>
              <a:t>队列；</a:t>
            </a:r>
          </a:p>
          <a:p>
            <a:pPr eaLnBrk="1" hangingPunct="1">
              <a:lnSpc>
                <a:spcPct val="80000"/>
              </a:lnSpc>
              <a:buNone/>
            </a:pPr>
            <a:r>
              <a:rPr lang="zh-CN" altLang="en-US" sz="2800" b="1" dirty="0"/>
              <a:t>                 </a:t>
            </a:r>
            <a:r>
              <a:rPr lang="en-US" altLang="zh-CN" sz="2800" b="1" dirty="0"/>
              <a:t>block( )</a:t>
            </a:r>
            <a:r>
              <a:rPr lang="zh-CN" altLang="en-US" sz="2800" b="1" dirty="0"/>
              <a:t>；</a:t>
            </a:r>
          </a:p>
          <a:p>
            <a:pPr eaLnBrk="1" hangingPunct="1">
              <a:lnSpc>
                <a:spcPct val="80000"/>
              </a:lnSpc>
              <a:buNone/>
            </a:pPr>
            <a:r>
              <a:rPr lang="zh-CN" altLang="en-US" sz="2800" b="1" dirty="0"/>
              <a:t>             </a:t>
            </a:r>
            <a:r>
              <a:rPr lang="en-US" altLang="zh-CN" sz="2800" b="1" dirty="0"/>
              <a:t>}</a:t>
            </a:r>
          </a:p>
          <a:p>
            <a:pPr eaLnBrk="1" hangingPunct="1">
              <a:lnSpc>
                <a:spcPct val="80000"/>
              </a:lnSpc>
              <a:buNone/>
            </a:pPr>
            <a:r>
              <a:rPr lang="en-US" altLang="zh-CN" sz="2800" b="1" dirty="0"/>
              <a:t>     }</a:t>
            </a:r>
          </a:p>
        </p:txBody>
      </p:sp>
      <p:sp>
        <p:nvSpPr>
          <p:cNvPr id="41987" name="灯片编号占位符 1"/>
          <p:cNvSpPr txBox="1">
            <a:spLocks noGrp="1" noChangeArrowheads="1"/>
          </p:cNvSpPr>
          <p:nvPr>
            <p:ph type="sldNum" sz="quarter" idx="4"/>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marL="0" marR="0" lvl="0" indent="0" algn="r" defTabSz="914400" rtl="0" eaLnBrk="1" fontAlgn="base" latinLnBrk="0" hangingPunct="1">
              <a:lnSpc>
                <a:spcPct val="100000"/>
              </a:lnSpc>
              <a:spcBef>
                <a:spcPct val="20000"/>
              </a:spcBef>
              <a:spcAft>
                <a:spcPct val="0"/>
              </a:spcAft>
              <a:buClrTx/>
              <a:buSzTx/>
              <a:buFontTx/>
              <a:buNone/>
              <a:defRPr/>
            </a:pPr>
            <a:fld id="{A0829DF8-B779-457A-AA7E-22B9C2E8070C}" type="slidenum">
              <a:rPr kumimoji="0" lang="zh-CN"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ea"/>
              </a:rPr>
              <a:t>36</a:t>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260097"/>
          <p:cNvSpPr>
            <a:spLocks noGrp="1"/>
          </p:cNvSpPr>
          <p:nvPr>
            <p:ph type="title"/>
          </p:nvPr>
        </p:nvSpPr>
        <p:spPr>
          <a:xfrm>
            <a:off x="971550" y="188913"/>
            <a:ext cx="7793038" cy="882650"/>
          </a:xfrm>
          <a:ln/>
        </p:spPr>
        <p:txBody>
          <a:bodyPr vert="horz" wrap="square" lIns="91440" tIns="45720" rIns="91440" bIns="45720" anchor="b" anchorCtr="0"/>
          <a:lstStyle/>
          <a:p>
            <a:pPr eaLnBrk="1" hangingPunct="1"/>
            <a:r>
              <a:rPr lang="en-US" altLang="zh-CN" sz="4000" b="1" dirty="0"/>
              <a:t>2.5.4  </a:t>
            </a:r>
            <a:r>
              <a:rPr lang="zh-CN" altLang="en-US" sz="4000" b="1" dirty="0"/>
              <a:t>信号量</a:t>
            </a:r>
            <a:r>
              <a:rPr lang="en-US" altLang="zh-CN" sz="4000" b="1" dirty="0"/>
              <a:t>——</a:t>
            </a:r>
            <a:r>
              <a:rPr lang="zh-CN" altLang="en-US" sz="4000" b="1" dirty="0"/>
              <a:t>结构型信号量</a:t>
            </a:r>
          </a:p>
        </p:txBody>
      </p:sp>
      <p:sp>
        <p:nvSpPr>
          <p:cNvPr id="23554" name="文本占位符 260098"/>
          <p:cNvSpPr>
            <a:spLocks noGrp="1"/>
          </p:cNvSpPr>
          <p:nvPr>
            <p:ph idx="1"/>
          </p:nvPr>
        </p:nvSpPr>
        <p:spPr>
          <a:xfrm>
            <a:off x="684213" y="1916113"/>
            <a:ext cx="8229600" cy="4681537"/>
          </a:xfrm>
          <a:ln/>
        </p:spPr>
        <p:txBody>
          <a:bodyPr vert="horz" wrap="square" lIns="91440" tIns="45720" rIns="91440" bIns="45720" anchor="t" anchorCtr="0"/>
          <a:lstStyle/>
          <a:p>
            <a:pPr eaLnBrk="1" hangingPunct="1">
              <a:lnSpc>
                <a:spcPct val="90000"/>
              </a:lnSpc>
            </a:pPr>
            <a:r>
              <a:rPr lang="en-US" altLang="zh-CN" sz="2400" b="1" dirty="0"/>
              <a:t>  V</a:t>
            </a:r>
            <a:r>
              <a:rPr lang="zh-CN" altLang="en-US" sz="2400" b="1" dirty="0"/>
              <a:t>操作的定义如下：</a:t>
            </a:r>
          </a:p>
          <a:p>
            <a:pPr eaLnBrk="1" hangingPunct="1">
              <a:lnSpc>
                <a:spcPct val="90000"/>
              </a:lnSpc>
              <a:buNone/>
            </a:pPr>
            <a:r>
              <a:rPr lang="zh-CN" altLang="en-US" sz="2400" b="1" dirty="0"/>
              <a:t>         </a:t>
            </a:r>
            <a:r>
              <a:rPr lang="en-US" altLang="zh-CN" sz="2400" b="1" dirty="0"/>
              <a:t>void V(semaphore S)</a:t>
            </a:r>
          </a:p>
          <a:p>
            <a:pPr eaLnBrk="1" hangingPunct="1">
              <a:lnSpc>
                <a:spcPct val="90000"/>
              </a:lnSpc>
              <a:buNone/>
            </a:pPr>
            <a:r>
              <a:rPr lang="en-US" altLang="zh-CN" sz="2400" b="1" dirty="0"/>
              <a:t>        {</a:t>
            </a:r>
          </a:p>
          <a:p>
            <a:pPr eaLnBrk="1" hangingPunct="1">
              <a:lnSpc>
                <a:spcPct val="90000"/>
              </a:lnSpc>
              <a:buNone/>
            </a:pPr>
            <a:r>
              <a:rPr lang="en-US" altLang="zh-CN" sz="2400" b="1" dirty="0"/>
              <a:t>                      S.value++</a:t>
            </a:r>
            <a:r>
              <a:rPr lang="zh-CN" altLang="en-US" sz="2400" b="1" dirty="0"/>
              <a:t>；</a:t>
            </a:r>
            <a:r>
              <a:rPr lang="zh-CN" altLang="en-US" sz="2400" b="1" dirty="0">
                <a:latin typeface="Courier New" panose="02070309020205020404" pitchFamily="49" charset="0"/>
              </a:rPr>
              <a:t>	</a:t>
            </a:r>
            <a:r>
              <a:rPr lang="en-US" altLang="zh-CN" sz="2400" b="1" dirty="0">
                <a:latin typeface="Courier New" panose="02070309020205020404" pitchFamily="49" charset="0"/>
              </a:rPr>
              <a:t>//</a:t>
            </a:r>
            <a:r>
              <a:rPr lang="zh-CN" altLang="en-US" sz="2400" b="1" dirty="0">
                <a:latin typeface="Courier New" panose="02070309020205020404" pitchFamily="49" charset="0"/>
              </a:rPr>
              <a:t>表示释放一个资源；</a:t>
            </a:r>
            <a:endParaRPr lang="zh-CN" altLang="en-US" sz="2400" b="1" dirty="0"/>
          </a:p>
          <a:p>
            <a:pPr eaLnBrk="1" hangingPunct="1">
              <a:lnSpc>
                <a:spcPct val="90000"/>
              </a:lnSpc>
              <a:buNone/>
            </a:pPr>
            <a:r>
              <a:rPr lang="zh-CN" altLang="en-US" sz="2400" b="1" dirty="0"/>
              <a:t>                      </a:t>
            </a:r>
            <a:r>
              <a:rPr lang="en-US" altLang="zh-CN" sz="2400" b="1" dirty="0"/>
              <a:t>if(S.value&lt;=0)    </a:t>
            </a:r>
            <a:r>
              <a:rPr lang="en-US" altLang="zh-CN" sz="2000" b="1" dirty="0">
                <a:latin typeface="Courier New" panose="02070309020205020404" pitchFamily="49" charset="0"/>
              </a:rPr>
              <a:t>//</a:t>
            </a:r>
            <a:r>
              <a:rPr lang="zh-CN" altLang="en-US" sz="2400" b="1" dirty="0">
                <a:latin typeface="Courier New" panose="02070309020205020404" pitchFamily="49" charset="0"/>
              </a:rPr>
              <a:t>有进程处于阻塞状态；</a:t>
            </a:r>
            <a:endParaRPr lang="zh-CN" altLang="en-US" sz="2400" b="1" dirty="0"/>
          </a:p>
          <a:p>
            <a:pPr eaLnBrk="1" hangingPunct="1">
              <a:lnSpc>
                <a:spcPct val="90000"/>
              </a:lnSpc>
              <a:buNone/>
            </a:pPr>
            <a:r>
              <a:rPr lang="zh-CN" altLang="en-US" sz="2400" b="1" dirty="0"/>
              <a:t>                     </a:t>
            </a:r>
            <a:r>
              <a:rPr lang="en-US" altLang="zh-CN" sz="2400" b="1" dirty="0"/>
              <a:t>{</a:t>
            </a:r>
          </a:p>
          <a:p>
            <a:pPr eaLnBrk="1" hangingPunct="1">
              <a:lnSpc>
                <a:spcPct val="90000"/>
              </a:lnSpc>
              <a:buNone/>
            </a:pPr>
            <a:r>
              <a:rPr lang="en-US" altLang="zh-CN" sz="2400" b="1" dirty="0"/>
              <a:t>                           </a:t>
            </a:r>
            <a:r>
              <a:rPr lang="zh-CN" altLang="en-US" sz="2400" b="1" dirty="0"/>
              <a:t>从</a:t>
            </a:r>
            <a:r>
              <a:rPr lang="en-US" altLang="zh-CN" sz="2400" b="1" dirty="0"/>
              <a:t>S.list</a:t>
            </a:r>
            <a:r>
              <a:rPr lang="zh-CN" altLang="en-US" sz="2400" b="1" dirty="0"/>
              <a:t>队列中移走进程</a:t>
            </a:r>
            <a:r>
              <a:rPr lang="en-US" altLang="zh-CN" sz="2400" b="1" dirty="0"/>
              <a:t>Q</a:t>
            </a:r>
            <a:r>
              <a:rPr lang="zh-CN" altLang="en-US" sz="2400" b="1" dirty="0"/>
              <a:t>；</a:t>
            </a:r>
          </a:p>
          <a:p>
            <a:pPr eaLnBrk="1" hangingPunct="1">
              <a:lnSpc>
                <a:spcPct val="90000"/>
              </a:lnSpc>
              <a:buNone/>
            </a:pPr>
            <a:r>
              <a:rPr lang="zh-CN" altLang="en-US" sz="2400" b="1" dirty="0"/>
              <a:t>                           </a:t>
            </a:r>
            <a:r>
              <a:rPr lang="en-US" altLang="zh-CN" sz="2400" b="1" dirty="0"/>
              <a:t>wakeup(Q)</a:t>
            </a:r>
            <a:r>
              <a:rPr lang="zh-CN" altLang="en-US" sz="2400" b="1" dirty="0"/>
              <a:t>；</a:t>
            </a:r>
          </a:p>
          <a:p>
            <a:pPr eaLnBrk="1" hangingPunct="1">
              <a:lnSpc>
                <a:spcPct val="90000"/>
              </a:lnSpc>
              <a:buNone/>
            </a:pPr>
            <a:r>
              <a:rPr lang="zh-CN" altLang="en-US" sz="2400" b="1" dirty="0"/>
              <a:t>                      </a:t>
            </a:r>
            <a:r>
              <a:rPr lang="en-US" altLang="zh-CN" sz="2400" b="1" dirty="0"/>
              <a:t>}</a:t>
            </a:r>
          </a:p>
          <a:p>
            <a:pPr eaLnBrk="1" hangingPunct="1">
              <a:lnSpc>
                <a:spcPct val="90000"/>
              </a:lnSpc>
              <a:buNone/>
            </a:pPr>
            <a:r>
              <a:rPr lang="en-US" altLang="zh-CN" sz="2400" b="1" dirty="0"/>
              <a:t>          }</a:t>
            </a:r>
          </a:p>
        </p:txBody>
      </p:sp>
      <p:sp>
        <p:nvSpPr>
          <p:cNvPr id="260100" name="文本框 260099"/>
          <p:cNvSpPr txBox="1"/>
          <p:nvPr/>
        </p:nvSpPr>
        <p:spPr>
          <a:xfrm>
            <a:off x="539750" y="5949950"/>
            <a:ext cx="8280400" cy="762000"/>
          </a:xfrm>
          <a:prstGeom prst="rect">
            <a:avLst/>
          </a:prstGeom>
          <a:noFill/>
          <a:ln w="9525">
            <a:noFill/>
          </a:ln>
        </p:spPr>
        <p:txBody>
          <a:bodyPr anchor="t" anchorCtr="0">
            <a:spAutoFit/>
          </a:bodyPr>
          <a:lstStyle/>
          <a:p>
            <a:pPr>
              <a:spcBef>
                <a:spcPct val="50000"/>
              </a:spcBef>
              <a:buClrTx/>
              <a:buFontTx/>
            </a:pPr>
            <a:r>
              <a:rPr lang="zh-CN" altLang="en-US" sz="2200" b="1" i="0" dirty="0">
                <a:solidFill>
                  <a:srgbClr val="990000"/>
                </a:solidFill>
                <a:latin typeface="楷体_GB2312" panose="02010609030101010101" pitchFamily="49" charset="-122"/>
                <a:ea typeface="楷体_GB2312" panose="02010609030101010101" pitchFamily="49" charset="-122"/>
              </a:rPr>
              <a:t>在具体实现时应注意，</a:t>
            </a:r>
            <a:r>
              <a:rPr lang="en-US" altLang="zh-CN" sz="2200" b="1" i="0" dirty="0">
                <a:solidFill>
                  <a:srgbClr val="990000"/>
                </a:solidFill>
                <a:latin typeface="楷体_GB2312" panose="02010609030101010101" pitchFamily="49" charset="-122"/>
                <a:ea typeface="楷体_GB2312" panose="02010609030101010101" pitchFamily="49" charset="-122"/>
              </a:rPr>
              <a:t>P, V</a:t>
            </a:r>
            <a:r>
              <a:rPr lang="zh-CN" altLang="en-US" sz="2200" b="1" i="0" dirty="0">
                <a:solidFill>
                  <a:srgbClr val="990000"/>
                </a:solidFill>
                <a:latin typeface="楷体_GB2312" panose="02010609030101010101" pitchFamily="49" charset="-122"/>
                <a:ea typeface="楷体_GB2312" panose="02010609030101010101" pitchFamily="49" charset="-122"/>
              </a:rPr>
              <a:t>操作都应作为一个整体实施，不允许分割或相互穿插执行；</a:t>
            </a:r>
            <a:r>
              <a:rPr lang="en-US" altLang="zh-CN" sz="2200" b="1" i="0" dirty="0">
                <a:solidFill>
                  <a:srgbClr val="990000"/>
                </a:solidFill>
                <a:latin typeface="楷体_GB2312" panose="02010609030101010101" pitchFamily="49" charset="-122"/>
                <a:ea typeface="楷体_GB2312" panose="02010609030101010101" pitchFamily="49" charset="-122"/>
              </a:rPr>
              <a:t>P,V</a:t>
            </a:r>
            <a:r>
              <a:rPr lang="zh-CN" altLang="en-US" sz="2200" b="1" i="0" dirty="0">
                <a:solidFill>
                  <a:srgbClr val="990000"/>
                </a:solidFill>
                <a:latin typeface="楷体_GB2312" panose="02010609030101010101" pitchFamily="49" charset="-122"/>
                <a:ea typeface="楷体_GB2312" panose="02010609030101010101" pitchFamily="49" charset="-122"/>
              </a:rPr>
              <a:t>操作本身就是临界区</a:t>
            </a:r>
            <a:r>
              <a:rPr lang="en-US" altLang="zh-CN" sz="2200" b="1" i="0" dirty="0">
                <a:solidFill>
                  <a:srgbClr val="990000"/>
                </a:solidFill>
                <a:latin typeface="楷体_GB2312" panose="02010609030101010101" pitchFamily="49" charset="-122"/>
                <a:ea typeface="楷体_GB2312" panose="02010609030101010101" pitchFamily="49" charset="-122"/>
              </a:rPr>
              <a:t>.</a:t>
            </a:r>
          </a:p>
        </p:txBody>
      </p:sp>
      <p:sp>
        <p:nvSpPr>
          <p:cNvPr id="23556" name="文本框 260100"/>
          <p:cNvSpPr txBox="1"/>
          <p:nvPr/>
        </p:nvSpPr>
        <p:spPr>
          <a:xfrm>
            <a:off x="1042988" y="1125538"/>
            <a:ext cx="8305800" cy="579437"/>
          </a:xfrm>
          <a:prstGeom prst="rect">
            <a:avLst/>
          </a:prstGeom>
          <a:noFill/>
          <a:ln w="9525">
            <a:noFill/>
          </a:ln>
        </p:spPr>
        <p:txBody>
          <a:bodyPr anchor="t" anchorCtr="0">
            <a:spAutoFit/>
          </a:bodyPr>
          <a:lstStyle/>
          <a:p>
            <a:pPr>
              <a:buClrTx/>
              <a:buFontTx/>
            </a:pPr>
            <a:r>
              <a:rPr lang="en-US" altLang="zh-CN" sz="3200" b="1" i="0" dirty="0">
                <a:solidFill>
                  <a:schemeClr val="tx2"/>
                </a:solidFill>
                <a:latin typeface="楷体_GB2312" panose="02010609030101010101" pitchFamily="49" charset="-122"/>
                <a:ea typeface="楷体_GB2312" panose="02010609030101010101" pitchFamily="49" charset="-122"/>
              </a:rPr>
              <a:t>V</a:t>
            </a:r>
            <a:r>
              <a:rPr lang="zh-CN" altLang="en-US" sz="3200" b="1" i="0" dirty="0">
                <a:solidFill>
                  <a:schemeClr val="tx2"/>
                </a:solidFill>
                <a:latin typeface="楷体_GB2312" panose="02010609030101010101" pitchFamily="49" charset="-122"/>
                <a:ea typeface="楷体_GB2312" panose="02010609030101010101" pitchFamily="49" charset="-122"/>
              </a:rPr>
              <a:t>原语通常唤醒进程等待队列中的头一个进程</a:t>
            </a:r>
          </a:p>
        </p:txBody>
      </p:sp>
      <p:sp>
        <p:nvSpPr>
          <p:cNvPr id="43013" name="灯片编号占位符 1"/>
          <p:cNvSpPr txBox="1">
            <a:spLocks noGrp="1" noChangeArrowheads="1"/>
          </p:cNvSpPr>
          <p:nvPr>
            <p:ph type="sldNum" sz="quarter" idx="4"/>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marL="0" marR="0" lvl="0" indent="0" algn="r" defTabSz="914400" rtl="0" eaLnBrk="1" fontAlgn="base" latinLnBrk="0" hangingPunct="1">
              <a:lnSpc>
                <a:spcPct val="100000"/>
              </a:lnSpc>
              <a:spcBef>
                <a:spcPct val="20000"/>
              </a:spcBef>
              <a:spcAft>
                <a:spcPct val="0"/>
              </a:spcAft>
              <a:buClrTx/>
              <a:buSzTx/>
              <a:buFontTx/>
              <a:buNone/>
              <a:defRPr/>
            </a:pPr>
            <a:fld id="{7B9F3078-E3D6-4D06-B125-746D75BEC73B}" type="slidenum">
              <a:rPr kumimoji="0" lang="zh-CN"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ea"/>
              </a:rPr>
              <a:t>37</a:t>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0100"/>
                                        </p:tgtEl>
                                        <p:attrNameLst>
                                          <p:attrName>style.visibility</p:attrName>
                                        </p:attrNameLst>
                                      </p:cBhvr>
                                      <p:to>
                                        <p:strVal val="visible"/>
                                      </p:to>
                                    </p:set>
                                    <p:animEffect transition="in" filter="blinds(horizontal)">
                                      <p:cBhvr>
                                        <p:cTn id="7" dur="500"/>
                                        <p:tgtEl>
                                          <p:spTgt spid="260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267265"/>
          <p:cNvSpPr>
            <a:spLocks noGrp="1"/>
          </p:cNvSpPr>
          <p:nvPr>
            <p:ph type="title"/>
          </p:nvPr>
        </p:nvSpPr>
        <p:spPr>
          <a:xfrm>
            <a:off x="1150938" y="44450"/>
            <a:ext cx="7793037" cy="1143000"/>
          </a:xfrm>
          <a:ln/>
        </p:spPr>
        <p:txBody>
          <a:bodyPr vert="horz" wrap="square" lIns="91440" tIns="45720" rIns="91440" bIns="45720" anchor="b" anchorCtr="0"/>
          <a:lstStyle/>
          <a:p>
            <a:pPr eaLnBrk="1" hangingPunct="1"/>
            <a:r>
              <a:rPr lang="en-US" altLang="zh-CN" b="1" dirty="0"/>
              <a:t>2.6  </a:t>
            </a:r>
            <a:r>
              <a:rPr lang="zh-CN" altLang="en-US" b="1" dirty="0"/>
              <a:t>经典进程同步问题</a:t>
            </a:r>
          </a:p>
        </p:txBody>
      </p:sp>
      <p:sp>
        <p:nvSpPr>
          <p:cNvPr id="267267" name="内容占位符 267266"/>
          <p:cNvSpPr>
            <a:spLocks noGrp="1"/>
          </p:cNvSpPr>
          <p:nvPr>
            <p:ph idx="1"/>
          </p:nvPr>
        </p:nvSpPr>
        <p:spPr>
          <a:xfrm>
            <a:off x="457200" y="2276475"/>
            <a:ext cx="8229600" cy="4321175"/>
          </a:xfrm>
          <a:ln/>
        </p:spPr>
        <p:txBody>
          <a:bodyPr vert="horz" wrap="square" lIns="91440" tIns="45720" rIns="91440" bIns="45720" anchor="t" anchorCtr="0"/>
          <a:lstStyle/>
          <a:p>
            <a:pPr eaLnBrk="1" hangingPunct="1"/>
            <a:r>
              <a:rPr lang="zh-CN" altLang="en-US" sz="2800" b="1" dirty="0"/>
              <a:t>如果一个进程能产生并释放资源，则该进程称做</a:t>
            </a:r>
            <a:r>
              <a:rPr lang="zh-CN" altLang="en-US" sz="2800" b="1" dirty="0">
                <a:solidFill>
                  <a:schemeClr val="hlink"/>
                </a:solidFill>
              </a:rPr>
              <a:t>生产者</a:t>
            </a:r>
            <a:r>
              <a:rPr lang="zh-CN" altLang="en-US" sz="2800" b="1" dirty="0"/>
              <a:t>；如果一个进程单纯使用（消耗）资源，则该进程称做</a:t>
            </a:r>
            <a:r>
              <a:rPr lang="zh-CN" altLang="en-US" sz="2800" b="1" dirty="0">
                <a:solidFill>
                  <a:schemeClr val="hlink"/>
                </a:solidFill>
              </a:rPr>
              <a:t>消费者</a:t>
            </a:r>
            <a:r>
              <a:rPr lang="zh-CN" altLang="en-US" sz="2800" b="1" dirty="0"/>
              <a:t>。</a:t>
            </a:r>
          </a:p>
          <a:p>
            <a:pPr eaLnBrk="1" hangingPunct="1"/>
            <a:r>
              <a:rPr lang="zh-CN" altLang="en-US" sz="2800" b="1" dirty="0"/>
              <a:t>问题可以表述如下：</a:t>
            </a:r>
            <a:r>
              <a:rPr lang="zh-CN" altLang="en-US" sz="2800" b="1" dirty="0">
                <a:solidFill>
                  <a:schemeClr val="hlink"/>
                </a:solidFill>
              </a:rPr>
              <a:t>一组</a:t>
            </a:r>
            <a:r>
              <a:rPr lang="zh-CN" altLang="en-US" sz="2800" b="1" dirty="0"/>
              <a:t>生产者进程和</a:t>
            </a:r>
            <a:r>
              <a:rPr lang="zh-CN" altLang="en-US" sz="2800" b="1" dirty="0">
                <a:solidFill>
                  <a:schemeClr val="hlink"/>
                </a:solidFill>
              </a:rPr>
              <a:t>一组</a:t>
            </a:r>
            <a:r>
              <a:rPr lang="zh-CN" altLang="en-US" sz="2800" b="1" dirty="0"/>
              <a:t>消费者进程（设每组有多个进程）通过缓冲区发生联系。生产者进程将生产的产品（数据、消息等统称为产品）送入缓冲区，消费者进程从中取出产品。假定缓冲区共有</a:t>
            </a:r>
            <a:r>
              <a:rPr lang="en-US" altLang="zh-CN" sz="2800" b="1" i="1" dirty="0"/>
              <a:t>N</a:t>
            </a:r>
            <a:r>
              <a:rPr lang="zh-CN" altLang="en-US" sz="2800" b="1" dirty="0"/>
              <a:t>个，不妨把它们设想成一个环形缓冲池。</a:t>
            </a:r>
          </a:p>
        </p:txBody>
      </p:sp>
      <p:sp>
        <p:nvSpPr>
          <p:cNvPr id="24579" name="文本框 267267" descr="蓝色砂纸"/>
          <p:cNvSpPr txBox="1"/>
          <p:nvPr/>
        </p:nvSpPr>
        <p:spPr>
          <a:xfrm>
            <a:off x="1835150" y="1249363"/>
            <a:ext cx="5514975" cy="955675"/>
          </a:xfrm>
          <a:prstGeom prst="rect">
            <a:avLst/>
          </a:prstGeom>
          <a:blipFill rotWithShape="0">
            <a:blip r:embed="rId2"/>
          </a:blipFill>
          <a:ln w="9525" cap="flat" cmpd="sng">
            <a:solidFill>
              <a:schemeClr val="folHlink"/>
            </a:solidFill>
            <a:prstDash val="solid"/>
            <a:miter/>
            <a:headEnd type="none" w="med" len="med"/>
            <a:tailEnd type="none" w="med" len="med"/>
          </a:ln>
        </p:spPr>
        <p:txBody>
          <a:bodyPr anchor="t" anchorCtr="0">
            <a:spAutoFit/>
          </a:bodyPr>
          <a:lstStyle/>
          <a:p>
            <a:pPr marL="457200" indent="-457200">
              <a:buClrTx/>
              <a:buFontTx/>
              <a:buAutoNum type="arabicPeriod"/>
            </a:pPr>
            <a:r>
              <a:rPr lang="zh-CN" altLang="en-US" sz="2800" b="1" i="0" dirty="0">
                <a:solidFill>
                  <a:srgbClr val="336600"/>
                </a:solidFill>
                <a:latin typeface="Times New Roman" panose="02020603050405020304" pitchFamily="18" charset="0"/>
                <a:ea typeface="宋体" panose="02010600030101010101" pitchFamily="2" charset="-122"/>
              </a:rPr>
              <a:t>生产者－消费者问题</a:t>
            </a:r>
          </a:p>
          <a:p>
            <a:pPr marL="457200" indent="-457200">
              <a:buClrTx/>
              <a:buFontTx/>
              <a:buNone/>
            </a:pPr>
            <a:r>
              <a:rPr lang="en-US" altLang="zh-CN" sz="2800" b="1" i="0" dirty="0">
                <a:solidFill>
                  <a:srgbClr val="336600"/>
                </a:solidFill>
                <a:latin typeface="Times New Roman" panose="02020603050405020304" pitchFamily="18" charset="0"/>
                <a:ea typeface="宋体" panose="02010600030101010101" pitchFamily="2" charset="-122"/>
              </a:rPr>
              <a:t>(the producer-consumer problem)</a:t>
            </a:r>
          </a:p>
        </p:txBody>
      </p:sp>
      <p:sp>
        <p:nvSpPr>
          <p:cNvPr id="61444" name="灯片编号占位符 1"/>
          <p:cNvSpPr txBox="1">
            <a:spLocks noGrp="1" noChangeArrowheads="1"/>
          </p:cNvSpPr>
          <p:nvPr>
            <p:ph type="sldNum" sz="quarter" idx="4"/>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marL="0" marR="0" lvl="0" indent="0" algn="r" defTabSz="914400" rtl="0" eaLnBrk="1" fontAlgn="base" latinLnBrk="0" hangingPunct="1">
              <a:lnSpc>
                <a:spcPct val="100000"/>
              </a:lnSpc>
              <a:spcBef>
                <a:spcPct val="20000"/>
              </a:spcBef>
              <a:spcAft>
                <a:spcPct val="0"/>
              </a:spcAft>
              <a:buClrTx/>
              <a:buSzTx/>
              <a:buFontTx/>
              <a:buNone/>
              <a:defRPr/>
            </a:pPr>
            <a:fld id="{9ED48A89-8CBB-45FD-9EC8-DA634B41E0FD}" type="slidenum">
              <a:rPr kumimoji="0" lang="zh-CN"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ea"/>
              </a:rPr>
              <a:t>38</a:t>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67267">
                                            <p:txEl>
                                              <p:pRg st="1" end="1"/>
                                            </p:txEl>
                                          </p:spTgt>
                                        </p:tgtEl>
                                        <p:attrNameLst>
                                          <p:attrName>style.visibility</p:attrName>
                                        </p:attrNameLst>
                                      </p:cBhvr>
                                      <p:to>
                                        <p:strVal val="visible"/>
                                      </p:to>
                                    </p:set>
                                    <p:animEffect transition="in" filter="checkerboard(across)">
                                      <p:cBhvr>
                                        <p:cTn id="7" dur="500"/>
                                        <p:tgtEl>
                                          <p:spTgt spid="2672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268289"/>
          <p:cNvSpPr>
            <a:spLocks noGrp="1"/>
          </p:cNvSpPr>
          <p:nvPr>
            <p:ph type="title"/>
          </p:nvPr>
        </p:nvSpPr>
        <p:spPr>
          <a:xfrm>
            <a:off x="1260475" y="476250"/>
            <a:ext cx="6191250" cy="936625"/>
          </a:xfrm>
          <a:ln/>
        </p:spPr>
        <p:txBody>
          <a:bodyPr vert="horz" wrap="square" lIns="91440" tIns="45720" rIns="91440" bIns="45720" anchor="b" anchorCtr="0"/>
          <a:lstStyle/>
          <a:p>
            <a:pPr eaLnBrk="1" hangingPunct="1"/>
            <a:r>
              <a:rPr lang="en-US" altLang="zh-CN" b="1" dirty="0"/>
              <a:t>1</a:t>
            </a:r>
            <a:r>
              <a:rPr lang="zh-CN" altLang="en-US" b="1" dirty="0"/>
              <a:t>．生产者</a:t>
            </a:r>
            <a:r>
              <a:rPr lang="en-US" altLang="zh-CN" b="1" dirty="0"/>
              <a:t>-</a:t>
            </a:r>
            <a:r>
              <a:rPr lang="zh-CN" altLang="en-US" b="1" dirty="0"/>
              <a:t>消费者问题</a:t>
            </a:r>
          </a:p>
        </p:txBody>
      </p:sp>
      <p:pic>
        <p:nvPicPr>
          <p:cNvPr id="25602" name="文本占位符 268290" descr="T219"/>
          <p:cNvPicPr>
            <a:picLocks noGrp="1" noChangeAspect="1"/>
          </p:cNvPicPr>
          <p:nvPr>
            <p:ph idx="1"/>
          </p:nvPr>
        </p:nvPicPr>
        <p:blipFill>
          <a:blip r:embed="rId2"/>
          <a:stretch>
            <a:fillRect/>
          </a:stretch>
        </p:blipFill>
        <p:spPr>
          <a:xfrm>
            <a:off x="5003800" y="2060575"/>
            <a:ext cx="4032250" cy="3384550"/>
          </a:xfrm>
          <a:ln/>
        </p:spPr>
      </p:pic>
      <p:sp>
        <p:nvSpPr>
          <p:cNvPr id="25603" name="文本框 268291"/>
          <p:cNvSpPr txBox="1"/>
          <p:nvPr/>
        </p:nvSpPr>
        <p:spPr>
          <a:xfrm>
            <a:off x="5183188" y="5870575"/>
            <a:ext cx="3276600" cy="366713"/>
          </a:xfrm>
          <a:prstGeom prst="rect">
            <a:avLst/>
          </a:prstGeom>
          <a:noFill/>
          <a:ln w="9525">
            <a:noFill/>
          </a:ln>
        </p:spPr>
        <p:txBody>
          <a:bodyPr anchor="t" anchorCtr="0">
            <a:spAutoFit/>
          </a:bodyPr>
          <a:lstStyle/>
          <a:p>
            <a:pPr>
              <a:spcBef>
                <a:spcPct val="50000"/>
              </a:spcBef>
              <a:buClrTx/>
              <a:buFontTx/>
            </a:pPr>
            <a:r>
              <a:rPr lang="zh-CN" altLang="en-US" sz="1800" b="1" i="0" dirty="0">
                <a:latin typeface="Tahoma" panose="020B0604030504040204" pitchFamily="34" charset="0"/>
                <a:ea typeface="宋体" panose="02010600030101010101" pitchFamily="2" charset="-122"/>
              </a:rPr>
              <a:t>生产者</a:t>
            </a:r>
            <a:r>
              <a:rPr lang="en-US" altLang="zh-CN" sz="1800" b="1" i="0" dirty="0">
                <a:latin typeface="Tahoma" panose="020B0604030504040204" pitchFamily="34" charset="0"/>
                <a:ea typeface="宋体" panose="02010600030101010101" pitchFamily="2" charset="-122"/>
              </a:rPr>
              <a:t>-</a:t>
            </a:r>
            <a:r>
              <a:rPr lang="zh-CN" altLang="en-US" sz="1800" b="1" i="0" dirty="0">
                <a:latin typeface="Tahoma" panose="020B0604030504040204" pitchFamily="34" charset="0"/>
                <a:ea typeface="宋体" panose="02010600030101010101" pitchFamily="2" charset="-122"/>
              </a:rPr>
              <a:t>消费者问题环形缓冲池</a:t>
            </a:r>
          </a:p>
        </p:txBody>
      </p:sp>
      <p:sp>
        <p:nvSpPr>
          <p:cNvPr id="25604" name="文本框 268292"/>
          <p:cNvSpPr txBox="1"/>
          <p:nvPr/>
        </p:nvSpPr>
        <p:spPr>
          <a:xfrm>
            <a:off x="323850" y="1989138"/>
            <a:ext cx="4608513" cy="4364037"/>
          </a:xfrm>
          <a:prstGeom prst="rect">
            <a:avLst/>
          </a:prstGeom>
          <a:noFill/>
          <a:ln w="9525">
            <a:noFill/>
          </a:ln>
        </p:spPr>
        <p:txBody>
          <a:bodyPr anchor="t" anchorCtr="0">
            <a:spAutoFit/>
          </a:bodyPr>
          <a:lstStyle/>
          <a:p>
            <a:pPr>
              <a:spcBef>
                <a:spcPct val="50000"/>
              </a:spcBef>
              <a:buClrTx/>
              <a:buFontTx/>
            </a:pPr>
            <a:r>
              <a:rPr lang="zh-CN" altLang="en-US" sz="2800" b="1" i="0" dirty="0">
                <a:latin typeface="Tahoma" panose="020B0604030504040204" pitchFamily="34" charset="0"/>
                <a:ea typeface="宋体" panose="02010600030101010101" pitchFamily="2" charset="-122"/>
              </a:rPr>
              <a:t>它们应满足如下同步条件：</a:t>
            </a:r>
          </a:p>
          <a:p>
            <a:pPr>
              <a:spcBef>
                <a:spcPct val="50000"/>
              </a:spcBef>
              <a:buClrTx/>
              <a:buFontTx/>
            </a:pPr>
            <a:r>
              <a:rPr lang="en-US" altLang="zh-CN" sz="2800" b="1" i="0" dirty="0">
                <a:latin typeface="Tahoma" panose="020B0604030504040204" pitchFamily="34" charset="0"/>
                <a:ea typeface="宋体" panose="02010600030101010101" pitchFamily="2" charset="-122"/>
              </a:rPr>
              <a:t>① </a:t>
            </a:r>
            <a:r>
              <a:rPr lang="zh-CN" altLang="en-US" sz="2800" b="1" i="0" dirty="0">
                <a:latin typeface="Tahoma" panose="020B0604030504040204" pitchFamily="34" charset="0"/>
                <a:ea typeface="宋体" panose="02010600030101010101" pitchFamily="2" charset="-122"/>
              </a:rPr>
              <a:t>任一时刻所有生产者存放产品的单元数不能超过缓冲区的总容量（</a:t>
            </a:r>
            <a:r>
              <a:rPr lang="en-US" altLang="zh-CN" sz="2800" b="1" dirty="0">
                <a:latin typeface="Tahoma" panose="020B0604030504040204" pitchFamily="34" charset="0"/>
                <a:ea typeface="宋体" panose="02010600030101010101" pitchFamily="2" charset="-122"/>
              </a:rPr>
              <a:t>N</a:t>
            </a:r>
            <a:r>
              <a:rPr lang="zh-CN" altLang="en-US" sz="2800" b="1" i="0" dirty="0">
                <a:latin typeface="Tahoma" panose="020B0604030504040204" pitchFamily="34" charset="0"/>
                <a:ea typeface="宋体" panose="02010600030101010101" pitchFamily="2" charset="-122"/>
              </a:rPr>
              <a:t>）。</a:t>
            </a:r>
            <a:r>
              <a:rPr lang="zh-CN" altLang="en-US" sz="2800" b="1" i="0" u="sng" dirty="0">
                <a:latin typeface="Tahoma" panose="020B0604030504040204" pitchFamily="34" charset="0"/>
                <a:ea typeface="宋体" panose="02010600030101010101" pitchFamily="2" charset="-122"/>
              </a:rPr>
              <a:t>任何时刻只能有一个进程可对共享缓冲区进行操作。</a:t>
            </a:r>
          </a:p>
          <a:p>
            <a:pPr>
              <a:spcBef>
                <a:spcPct val="50000"/>
              </a:spcBef>
              <a:buClrTx/>
              <a:buFontTx/>
            </a:pPr>
            <a:r>
              <a:rPr lang="en-US" altLang="zh-CN" sz="2800" b="1" i="0" dirty="0">
                <a:latin typeface="Tahoma" panose="020B0604030504040204" pitchFamily="34" charset="0"/>
                <a:ea typeface="宋体" panose="02010600030101010101" pitchFamily="2" charset="-122"/>
              </a:rPr>
              <a:t>② </a:t>
            </a:r>
            <a:r>
              <a:rPr lang="zh-CN" altLang="en-US" sz="2800" b="1" i="0" dirty="0">
                <a:latin typeface="Tahoma" panose="020B0604030504040204" pitchFamily="34" charset="0"/>
                <a:ea typeface="宋体" panose="02010600030101010101" pitchFamily="2" charset="-122"/>
              </a:rPr>
              <a:t>所有消费者取出产品的总量不能超过所有生产者当前生产产品的总量。</a:t>
            </a:r>
          </a:p>
        </p:txBody>
      </p:sp>
      <p:sp>
        <p:nvSpPr>
          <p:cNvPr id="62469" name="灯片编号占位符 1"/>
          <p:cNvSpPr txBox="1">
            <a:spLocks noGrp="1" noChangeArrowheads="1"/>
          </p:cNvSpPr>
          <p:nvPr>
            <p:ph type="sldNum" sz="quarter" idx="4"/>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marL="0" marR="0" lvl="0" indent="0" algn="r" defTabSz="914400" rtl="0" eaLnBrk="1" fontAlgn="base" latinLnBrk="0" hangingPunct="1">
              <a:lnSpc>
                <a:spcPct val="100000"/>
              </a:lnSpc>
              <a:spcBef>
                <a:spcPct val="20000"/>
              </a:spcBef>
              <a:spcAft>
                <a:spcPct val="0"/>
              </a:spcAft>
              <a:buClrTx/>
              <a:buSzTx/>
              <a:buFontTx/>
              <a:buNone/>
              <a:defRPr/>
            </a:pPr>
            <a:fld id="{70D492D5-EF50-4B9B-9748-9996C5E9119F}" type="slidenum">
              <a:rPr kumimoji="0" lang="zh-CN"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ea"/>
              </a:rPr>
              <a:t>39</a:t>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269313"/>
          <p:cNvSpPr>
            <a:spLocks noGrp="1"/>
          </p:cNvSpPr>
          <p:nvPr>
            <p:ph type="title"/>
          </p:nvPr>
        </p:nvSpPr>
        <p:spPr>
          <a:xfrm>
            <a:off x="1150938" y="269875"/>
            <a:ext cx="7793037" cy="1143000"/>
          </a:xfrm>
          <a:ln/>
        </p:spPr>
        <p:txBody>
          <a:bodyPr vert="horz" wrap="square" lIns="91440" tIns="45720" rIns="91440" bIns="45720" anchor="b" anchorCtr="0"/>
          <a:lstStyle/>
          <a:p>
            <a:pPr eaLnBrk="1" hangingPunct="1"/>
            <a:r>
              <a:rPr lang="en-US" altLang="zh-CN" b="1" dirty="0"/>
              <a:t>1</a:t>
            </a:r>
            <a:r>
              <a:rPr lang="zh-CN" altLang="en-US" b="1" dirty="0"/>
              <a:t>．生产者</a:t>
            </a:r>
            <a:r>
              <a:rPr lang="en-US" altLang="zh-CN" b="1" dirty="0"/>
              <a:t>-</a:t>
            </a:r>
            <a:r>
              <a:rPr lang="zh-CN" altLang="en-US" b="1" dirty="0"/>
              <a:t>消费者问题</a:t>
            </a:r>
          </a:p>
        </p:txBody>
      </p:sp>
      <p:sp>
        <p:nvSpPr>
          <p:cNvPr id="269315" name="内容占位符 269314"/>
          <p:cNvSpPr>
            <a:spLocks noGrp="1"/>
          </p:cNvSpPr>
          <p:nvPr>
            <p:ph idx="1"/>
          </p:nvPr>
        </p:nvSpPr>
        <p:spPr>
          <a:xfrm>
            <a:off x="827088" y="1990725"/>
            <a:ext cx="7921625" cy="4533900"/>
          </a:xfrm>
          <a:ln/>
        </p:spPr>
        <p:txBody>
          <a:bodyPr vert="horz" wrap="square" lIns="91440" tIns="45720" rIns="91440" bIns="45720" anchor="t" anchorCtr="0"/>
          <a:lstStyle/>
          <a:p>
            <a:pPr eaLnBrk="1" hangingPunct="1">
              <a:lnSpc>
                <a:spcPct val="90000"/>
              </a:lnSpc>
              <a:buNone/>
            </a:pPr>
            <a:r>
              <a:rPr lang="en-US" altLang="zh-CN" sz="2800" b="1" dirty="0"/>
              <a:t>1.</a:t>
            </a:r>
            <a:r>
              <a:rPr lang="zh-CN" altLang="en-US" sz="2800" b="1" dirty="0"/>
              <a:t>设缓冲区的编号为</a:t>
            </a:r>
            <a:r>
              <a:rPr lang="en-US" altLang="zh-CN" sz="2800" b="1" dirty="0"/>
              <a:t>0</a:t>
            </a:r>
            <a:r>
              <a:rPr lang="zh-CN" altLang="en-US" sz="2800" b="1" dirty="0"/>
              <a:t>～</a:t>
            </a:r>
            <a:r>
              <a:rPr lang="en-US" altLang="zh-CN" sz="2800" b="1" i="1" dirty="0"/>
              <a:t>N</a:t>
            </a:r>
            <a:r>
              <a:rPr lang="en-US" altLang="zh-CN" sz="2800" b="1" dirty="0"/>
              <a:t>-1</a:t>
            </a:r>
            <a:r>
              <a:rPr lang="zh-CN" altLang="en-US" sz="2800" b="1" dirty="0"/>
              <a:t>，</a:t>
            </a:r>
            <a:r>
              <a:rPr lang="en-US" altLang="zh-CN" sz="2800" b="1" dirty="0"/>
              <a:t>in</a:t>
            </a:r>
            <a:r>
              <a:rPr lang="zh-CN" altLang="en-US" sz="2800" b="1" dirty="0"/>
              <a:t>和</a:t>
            </a:r>
            <a:r>
              <a:rPr lang="en-US" altLang="zh-CN" sz="2800" b="1" dirty="0"/>
              <a:t>out</a:t>
            </a:r>
            <a:r>
              <a:rPr lang="zh-CN" altLang="en-US" sz="2800" b="1" dirty="0"/>
              <a:t>分别是生产者进程和消费者进程使用的指针，指向下面可用的缓冲区，初值都是</a:t>
            </a:r>
            <a:r>
              <a:rPr lang="en-US" altLang="zh-CN" sz="2800" b="1" dirty="0"/>
              <a:t>0</a:t>
            </a:r>
            <a:r>
              <a:rPr lang="zh-CN" altLang="en-US" sz="2800" b="1" dirty="0"/>
              <a:t>。</a:t>
            </a:r>
          </a:p>
          <a:p>
            <a:pPr eaLnBrk="1" hangingPunct="1">
              <a:lnSpc>
                <a:spcPct val="90000"/>
              </a:lnSpc>
              <a:buNone/>
            </a:pPr>
            <a:r>
              <a:rPr lang="en-US" altLang="zh-CN" sz="2800" b="1" dirty="0"/>
              <a:t>2.</a:t>
            </a:r>
            <a:r>
              <a:rPr lang="zh-CN" altLang="en-US" sz="2800" b="1" dirty="0"/>
              <a:t>设置三个信号量： </a:t>
            </a:r>
          </a:p>
          <a:p>
            <a:pPr eaLnBrk="1" hangingPunct="1">
              <a:lnSpc>
                <a:spcPct val="90000"/>
              </a:lnSpc>
            </a:pPr>
            <a:r>
              <a:rPr lang="en-US" altLang="zh-CN" sz="2800" b="1" dirty="0"/>
              <a:t>full</a:t>
            </a:r>
            <a:r>
              <a:rPr lang="zh-CN" altLang="en-US" sz="2800" b="1" dirty="0"/>
              <a:t>：表示放有产品的缓冲区数，其初值为</a:t>
            </a:r>
            <a:r>
              <a:rPr lang="en-US" altLang="zh-CN" sz="2800" b="1" dirty="0"/>
              <a:t>0</a:t>
            </a:r>
            <a:r>
              <a:rPr lang="zh-CN" altLang="en-US" sz="2800" b="1" dirty="0"/>
              <a:t>。</a:t>
            </a:r>
          </a:p>
          <a:p>
            <a:pPr eaLnBrk="1" hangingPunct="1">
              <a:lnSpc>
                <a:spcPct val="90000"/>
              </a:lnSpc>
            </a:pPr>
            <a:r>
              <a:rPr lang="en-US" altLang="zh-CN" sz="2800" b="1" dirty="0"/>
              <a:t>empty</a:t>
            </a:r>
            <a:r>
              <a:rPr lang="zh-CN" altLang="en-US" sz="2800" b="1" dirty="0"/>
              <a:t>：表示可供使用的缓冲区数，其初值为</a:t>
            </a:r>
            <a:r>
              <a:rPr lang="en-US" altLang="zh-CN" sz="2800" b="1" i="1" dirty="0"/>
              <a:t>N</a:t>
            </a:r>
            <a:r>
              <a:rPr lang="zh-CN" altLang="en-US" sz="2800" b="1" dirty="0"/>
              <a:t>。</a:t>
            </a:r>
          </a:p>
          <a:p>
            <a:pPr eaLnBrk="1" hangingPunct="1">
              <a:lnSpc>
                <a:spcPct val="90000"/>
              </a:lnSpc>
            </a:pPr>
            <a:r>
              <a:rPr lang="en-US" altLang="zh-CN" sz="2800" b="1" dirty="0"/>
              <a:t>mutex</a:t>
            </a:r>
            <a:r>
              <a:rPr lang="zh-CN" altLang="en-US" sz="2800" b="1" dirty="0"/>
              <a:t>：互斥信号量，初值为</a:t>
            </a:r>
            <a:r>
              <a:rPr lang="en-US" altLang="zh-CN" sz="2800" b="1" dirty="0"/>
              <a:t>1</a:t>
            </a:r>
            <a:r>
              <a:rPr lang="zh-CN" altLang="en-US" sz="2800" b="1" dirty="0"/>
              <a:t>，表示各进程互斥进入临界区，保证任何时候只有一个进程使用缓冲区。</a:t>
            </a:r>
          </a:p>
        </p:txBody>
      </p:sp>
      <p:sp>
        <p:nvSpPr>
          <p:cNvPr id="63491" name="灯片编号占位符 1"/>
          <p:cNvSpPr txBox="1">
            <a:spLocks noGrp="1" noChangeArrowheads="1"/>
          </p:cNvSpPr>
          <p:nvPr>
            <p:ph type="sldNum" sz="quarter" idx="4"/>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marL="0" marR="0" lvl="0" indent="0" algn="r" defTabSz="914400" rtl="0" eaLnBrk="1" fontAlgn="base" latinLnBrk="0" hangingPunct="1">
              <a:lnSpc>
                <a:spcPct val="100000"/>
              </a:lnSpc>
              <a:spcBef>
                <a:spcPct val="20000"/>
              </a:spcBef>
              <a:spcAft>
                <a:spcPct val="0"/>
              </a:spcAft>
              <a:buClrTx/>
              <a:buSzTx/>
              <a:buFontTx/>
              <a:buNone/>
              <a:defRPr/>
            </a:pPr>
            <a:fld id="{D0F4813F-3B8A-4896-B6DB-A5F612E09B25}" type="slidenum">
              <a:rPr kumimoji="0" lang="zh-CN"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ea"/>
              </a:rPr>
              <a:t>40</a:t>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69315">
                                            <p:txEl>
                                              <p:pRg st="0" end="0"/>
                                            </p:txEl>
                                          </p:spTgt>
                                        </p:tgtEl>
                                        <p:attrNameLst>
                                          <p:attrName>style.visibility</p:attrName>
                                        </p:attrNameLst>
                                      </p:cBhvr>
                                      <p:to>
                                        <p:strVal val="visible"/>
                                      </p:to>
                                    </p:set>
                                    <p:anim calcmode="lin" valueType="num">
                                      <p:cBhvr additive="base">
                                        <p:cTn id="7" dur="500" fill="hold"/>
                                        <p:tgtEl>
                                          <p:spTgt spid="269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9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9315">
                                            <p:txEl>
                                              <p:pRg st="1" end="1"/>
                                            </p:txEl>
                                          </p:spTgt>
                                        </p:tgtEl>
                                        <p:attrNameLst>
                                          <p:attrName>style.visibility</p:attrName>
                                        </p:attrNameLst>
                                      </p:cBhvr>
                                      <p:to>
                                        <p:strVal val="visible"/>
                                      </p:to>
                                    </p:set>
                                    <p:anim calcmode="lin" valueType="num">
                                      <p:cBhvr additive="base">
                                        <p:cTn id="13" dur="500" fill="hold"/>
                                        <p:tgtEl>
                                          <p:spTgt spid="2693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9315">
                                            <p:txEl>
                                              <p:pRg st="1" end="1"/>
                                            </p:txEl>
                                          </p:spTgt>
                                        </p:tgtEl>
                                        <p:attrNameLst>
                                          <p:attrName>ppt_y</p:attrName>
                                        </p:attrNameLst>
                                      </p:cBhvr>
                                      <p:tavLst>
                                        <p:tav tm="0">
                                          <p:val>
                                            <p:strVal val="1+#ppt_h/2"/>
                                          </p:val>
                                        </p:tav>
                                        <p:tav tm="100000">
                                          <p:val>
                                            <p:strVal val="#ppt_y"/>
                                          </p:val>
                                        </p:tav>
                                      </p:tavLst>
                                    </p:anim>
                                  </p:childTnLst>
                                </p:cTn>
                              </p:par>
                              <p:par>
                                <p:cTn id="15" presetID="12" presetClass="entr" presetSubtype="4" fill="hold" nodeType="withEffect">
                                  <p:stCondLst>
                                    <p:cond delay="0"/>
                                  </p:stCondLst>
                                  <p:childTnLst>
                                    <p:set>
                                      <p:cBhvr>
                                        <p:cTn id="16" dur="1" fill="hold">
                                          <p:stCondLst>
                                            <p:cond delay="0"/>
                                          </p:stCondLst>
                                        </p:cTn>
                                        <p:tgtEl>
                                          <p:spTgt spid="269315">
                                            <p:txEl>
                                              <p:pRg st="2" end="2"/>
                                            </p:txEl>
                                          </p:spTgt>
                                        </p:tgtEl>
                                        <p:attrNameLst>
                                          <p:attrName>style.visibility</p:attrName>
                                        </p:attrNameLst>
                                      </p:cBhvr>
                                      <p:to>
                                        <p:strVal val="visible"/>
                                      </p:to>
                                    </p:set>
                                    <p:animEffect transition="in" filter="slide(fromBottom)">
                                      <p:cBhvr>
                                        <p:cTn id="17" dur="500"/>
                                        <p:tgtEl>
                                          <p:spTgt spid="269315">
                                            <p:txEl>
                                              <p:pRg st="2" end="2"/>
                                            </p:txEl>
                                          </p:spTgt>
                                        </p:tgtEl>
                                      </p:cBhvr>
                                    </p:animEffect>
                                  </p:childTnLst>
                                </p:cTn>
                              </p:par>
                              <p:par>
                                <p:cTn id="18" presetID="12" presetClass="entr" presetSubtype="4" fill="hold" nodeType="withEffect">
                                  <p:stCondLst>
                                    <p:cond delay="0"/>
                                  </p:stCondLst>
                                  <p:childTnLst>
                                    <p:set>
                                      <p:cBhvr>
                                        <p:cTn id="19" dur="1" fill="hold">
                                          <p:stCondLst>
                                            <p:cond delay="0"/>
                                          </p:stCondLst>
                                        </p:cTn>
                                        <p:tgtEl>
                                          <p:spTgt spid="269315">
                                            <p:txEl>
                                              <p:pRg st="3" end="3"/>
                                            </p:txEl>
                                          </p:spTgt>
                                        </p:tgtEl>
                                        <p:attrNameLst>
                                          <p:attrName>style.visibility</p:attrName>
                                        </p:attrNameLst>
                                      </p:cBhvr>
                                      <p:to>
                                        <p:strVal val="visible"/>
                                      </p:to>
                                    </p:set>
                                    <p:animEffect transition="in" filter="slide(fromBottom)">
                                      <p:cBhvr>
                                        <p:cTn id="20" dur="500"/>
                                        <p:tgtEl>
                                          <p:spTgt spid="269315">
                                            <p:txEl>
                                              <p:pRg st="3" end="3"/>
                                            </p:txEl>
                                          </p:spTgt>
                                        </p:tgtEl>
                                      </p:cBhvr>
                                    </p:animEffect>
                                  </p:childTnLst>
                                </p:cTn>
                              </p:par>
                              <p:par>
                                <p:cTn id="21" presetID="12" presetClass="entr" presetSubtype="4" fill="hold" nodeType="withEffect">
                                  <p:stCondLst>
                                    <p:cond delay="0"/>
                                  </p:stCondLst>
                                  <p:childTnLst>
                                    <p:set>
                                      <p:cBhvr>
                                        <p:cTn id="22" dur="1" fill="hold">
                                          <p:stCondLst>
                                            <p:cond delay="0"/>
                                          </p:stCondLst>
                                        </p:cTn>
                                        <p:tgtEl>
                                          <p:spTgt spid="269315">
                                            <p:txEl>
                                              <p:pRg st="4" end="4"/>
                                            </p:txEl>
                                          </p:spTgt>
                                        </p:tgtEl>
                                        <p:attrNameLst>
                                          <p:attrName>style.visibility</p:attrName>
                                        </p:attrNameLst>
                                      </p:cBhvr>
                                      <p:to>
                                        <p:strVal val="visible"/>
                                      </p:to>
                                    </p:set>
                                    <p:animEffect transition="in" filter="slide(fromBottom)">
                                      <p:cBhvr>
                                        <p:cTn id="23" dur="500"/>
                                        <p:tgtEl>
                                          <p:spTgt spid="2693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文本占位符 289794"/>
          <p:cNvSpPr>
            <a:spLocks noGrp="1"/>
          </p:cNvSpPr>
          <p:nvPr>
            <p:ph idx="1"/>
          </p:nvPr>
        </p:nvSpPr>
        <p:spPr>
          <a:ln/>
        </p:spPr>
        <p:txBody>
          <a:bodyPr vert="horz" wrap="square" lIns="91440" tIns="45720" rIns="91440" bIns="45720" anchor="t" anchorCtr="0"/>
          <a:lstStyle/>
          <a:p>
            <a:pPr eaLnBrk="1" hangingPunct="1"/>
            <a:endParaRPr lang="zh-CN" altLang="zh-CN" dirty="0"/>
          </a:p>
        </p:txBody>
      </p:sp>
      <p:sp>
        <p:nvSpPr>
          <p:cNvPr id="27650" name="矩形 289795"/>
          <p:cNvSpPr/>
          <p:nvPr/>
        </p:nvSpPr>
        <p:spPr>
          <a:xfrm>
            <a:off x="395288" y="1268413"/>
            <a:ext cx="8353425" cy="5113337"/>
          </a:xfrm>
          <a:prstGeom prst="rect">
            <a:avLst/>
          </a:prstGeom>
          <a:solidFill>
            <a:srgbClr val="FFF3FF"/>
          </a:solidFill>
          <a:ln w="9525" cap="flat" cmpd="sng">
            <a:solidFill>
              <a:schemeClr val="tx1"/>
            </a:solidFill>
            <a:prstDash val="solid"/>
            <a:miter/>
            <a:headEnd type="none" w="med" len="med"/>
            <a:tailEnd type="none" w="med" len="med"/>
          </a:ln>
        </p:spPr>
        <p:txBody>
          <a:bodyPr wrap="none" anchor="t" anchorCtr="0"/>
          <a:lstStyle/>
          <a:p>
            <a:pPr>
              <a:spcBef>
                <a:spcPct val="20000"/>
              </a:spcBef>
              <a:buClr>
                <a:schemeClr val="folHlink"/>
              </a:buClr>
              <a:buSzPct val="60000"/>
              <a:buFontTx/>
            </a:pPr>
            <a:r>
              <a:rPr lang="zh-CN" altLang="en-US" i="0" u="sng" dirty="0">
                <a:latin typeface="Tahoma" panose="020B0604030504040204" pitchFamily="34" charset="0"/>
                <a:ea typeface="宋体" panose="02010600030101010101" pitchFamily="2" charset="-122"/>
              </a:rPr>
              <a:t>生产者进程</a:t>
            </a:r>
            <a:r>
              <a:rPr lang="en-US" altLang="zh-CN" i="0" u="sng" dirty="0">
                <a:latin typeface="Tahoma" panose="020B0604030504040204" pitchFamily="34" charset="0"/>
                <a:ea typeface="宋体" panose="02010600030101010101" pitchFamily="2" charset="-122"/>
              </a:rPr>
              <a:t>Producer</a:t>
            </a:r>
            <a:r>
              <a:rPr lang="zh-CN" altLang="en-US" i="0" dirty="0">
                <a:latin typeface="Tahoma" panose="020B0604030504040204" pitchFamily="34" charset="0"/>
                <a:ea typeface="宋体" panose="02010600030101010101" pitchFamily="2" charset="-122"/>
              </a:rPr>
              <a:t>：             </a:t>
            </a:r>
            <a:r>
              <a:rPr lang="zh-CN" altLang="en-US" i="0" u="sng" dirty="0">
                <a:latin typeface="Tahoma" panose="020B0604030504040204" pitchFamily="34" charset="0"/>
                <a:ea typeface="宋体" panose="02010600030101010101" pitchFamily="2" charset="-122"/>
              </a:rPr>
              <a:t>消费者进程</a:t>
            </a:r>
            <a:r>
              <a:rPr lang="en-US" altLang="zh-CN" i="0" u="sng" dirty="0">
                <a:latin typeface="Tahoma" panose="020B0604030504040204" pitchFamily="34" charset="0"/>
                <a:ea typeface="宋体" panose="02010600030101010101" pitchFamily="2" charset="-122"/>
              </a:rPr>
              <a:t>Consumer</a:t>
            </a:r>
            <a:r>
              <a:rPr lang="zh-CN" altLang="en-US" i="0" dirty="0">
                <a:latin typeface="Tahoma" panose="020B0604030504040204" pitchFamily="34" charset="0"/>
                <a:ea typeface="宋体" panose="02010600030101010101" pitchFamily="2" charset="-122"/>
              </a:rPr>
              <a:t>：</a:t>
            </a:r>
          </a:p>
          <a:p>
            <a:pPr>
              <a:spcBef>
                <a:spcPct val="20000"/>
              </a:spcBef>
              <a:buClr>
                <a:schemeClr val="folHlink"/>
              </a:buClr>
              <a:buSzPct val="60000"/>
              <a:buFontTx/>
            </a:pPr>
            <a:endParaRPr lang="zh-CN" altLang="en-US" i="0" dirty="0">
              <a:latin typeface="Tahoma" panose="020B0604030504040204" pitchFamily="34" charset="0"/>
              <a:ea typeface="宋体" panose="02010600030101010101" pitchFamily="2" charset="-122"/>
            </a:endParaRPr>
          </a:p>
          <a:p>
            <a:pPr>
              <a:spcBef>
                <a:spcPct val="20000"/>
              </a:spcBef>
              <a:buClr>
                <a:schemeClr val="folHlink"/>
              </a:buClr>
              <a:buSzPct val="60000"/>
              <a:buFontTx/>
            </a:pPr>
            <a:r>
              <a:rPr lang="zh-CN" altLang="en-US" i="0" dirty="0">
                <a:latin typeface="Tahoma" panose="020B0604030504040204" pitchFamily="34" charset="0"/>
                <a:ea typeface="宋体" panose="02010600030101010101" pitchFamily="2" charset="-122"/>
              </a:rPr>
              <a:t>   </a:t>
            </a:r>
            <a:r>
              <a:rPr lang="en-US" altLang="zh-CN" i="0" dirty="0">
                <a:latin typeface="Tahoma" panose="020B0604030504040204" pitchFamily="34" charset="0"/>
                <a:ea typeface="宋体" panose="02010600030101010101" pitchFamily="2" charset="-122"/>
              </a:rPr>
              <a:t>while(TRUE) {		         while(TRUE){</a:t>
            </a:r>
          </a:p>
          <a:p>
            <a:pPr>
              <a:spcBef>
                <a:spcPct val="20000"/>
              </a:spcBef>
              <a:buClr>
                <a:schemeClr val="folHlink"/>
              </a:buClr>
              <a:buSzPct val="60000"/>
              <a:buFontTx/>
            </a:pPr>
            <a:r>
              <a:rPr lang="en-US" altLang="zh-CN" i="0" dirty="0">
                <a:latin typeface="Tahoma" panose="020B0604030504040204" pitchFamily="34" charset="0"/>
                <a:ea typeface="宋体" panose="02010600030101010101" pitchFamily="2" charset="-122"/>
              </a:rPr>
              <a:t>        </a:t>
            </a:r>
            <a:r>
              <a:rPr lang="en-US" altLang="zh-CN" i="0" dirty="0">
                <a:solidFill>
                  <a:schemeClr val="hlink"/>
                </a:solidFill>
                <a:latin typeface="Tahoma" panose="020B0604030504040204" pitchFamily="34" charset="0"/>
                <a:ea typeface="宋体" panose="02010600030101010101" pitchFamily="2" charset="-122"/>
              </a:rPr>
              <a:t>P(empty);</a:t>
            </a:r>
            <a:r>
              <a:rPr lang="en-US" altLang="zh-CN" i="0" dirty="0">
                <a:latin typeface="Tahoma" panose="020B0604030504040204" pitchFamily="34" charset="0"/>
                <a:ea typeface="宋体" panose="02010600030101010101" pitchFamily="2" charset="-122"/>
              </a:rPr>
              <a:t>		</a:t>
            </a:r>
            <a:r>
              <a:rPr lang="en-US" altLang="zh-CN" i="0" dirty="0">
                <a:solidFill>
                  <a:schemeClr val="hlink"/>
                </a:solidFill>
                <a:latin typeface="Tahoma" panose="020B0604030504040204" pitchFamily="34" charset="0"/>
                <a:ea typeface="宋体" panose="02010600030101010101" pitchFamily="2" charset="-122"/>
              </a:rPr>
              <a:t>	    P(full);</a:t>
            </a:r>
          </a:p>
          <a:p>
            <a:pPr>
              <a:spcBef>
                <a:spcPct val="20000"/>
              </a:spcBef>
              <a:buClr>
                <a:schemeClr val="folHlink"/>
              </a:buClr>
              <a:buSzPct val="60000"/>
              <a:buFontTx/>
            </a:pPr>
            <a:r>
              <a:rPr lang="en-US" altLang="zh-CN" i="0" dirty="0">
                <a:solidFill>
                  <a:srgbClr val="CC0099"/>
                </a:solidFill>
                <a:latin typeface="Tahoma" panose="020B0604030504040204" pitchFamily="34" charset="0"/>
                <a:ea typeface="宋体" panose="02010600030101010101" pitchFamily="2" charset="-122"/>
              </a:rPr>
              <a:t>        P(mutex);			    P(mutex);</a:t>
            </a:r>
          </a:p>
          <a:p>
            <a:pPr>
              <a:spcBef>
                <a:spcPct val="20000"/>
              </a:spcBef>
              <a:buClr>
                <a:schemeClr val="folHlink"/>
              </a:buClr>
              <a:buSzPct val="60000"/>
              <a:buFontTx/>
            </a:pPr>
            <a:r>
              <a:rPr lang="en-US" altLang="zh-CN" i="0" dirty="0">
                <a:latin typeface="Tahoma" panose="020B0604030504040204" pitchFamily="34" charset="0"/>
                <a:ea typeface="宋体" panose="02010600030101010101" pitchFamily="2" charset="-122"/>
              </a:rPr>
              <a:t>        </a:t>
            </a:r>
            <a:r>
              <a:rPr lang="zh-CN" altLang="en-US" i="0" dirty="0">
                <a:latin typeface="Tahoma" panose="020B0604030504040204" pitchFamily="34" charset="0"/>
                <a:ea typeface="宋体" panose="02010600030101010101" pitchFamily="2" charset="-122"/>
              </a:rPr>
              <a:t>产品送往</a:t>
            </a:r>
            <a:r>
              <a:rPr lang="en-US" altLang="zh-CN" i="0" dirty="0">
                <a:latin typeface="Tahoma" panose="020B0604030504040204" pitchFamily="34" charset="0"/>
                <a:ea typeface="宋体" panose="02010600030101010101" pitchFamily="2" charset="-122"/>
              </a:rPr>
              <a:t>buffer(in);		   </a:t>
            </a:r>
            <a:r>
              <a:rPr lang="zh-CN" altLang="en-US" i="0" dirty="0">
                <a:latin typeface="Tahoma" panose="020B0604030504040204" pitchFamily="34" charset="0"/>
                <a:ea typeface="宋体" panose="02010600030101010101" pitchFamily="2" charset="-122"/>
              </a:rPr>
              <a:t>从</a:t>
            </a:r>
            <a:r>
              <a:rPr lang="en-US" altLang="zh-CN" i="0" dirty="0">
                <a:latin typeface="Tahoma" panose="020B0604030504040204" pitchFamily="34" charset="0"/>
                <a:ea typeface="宋体" panose="02010600030101010101" pitchFamily="2" charset="-122"/>
              </a:rPr>
              <a:t>buffer(out)</a:t>
            </a:r>
            <a:r>
              <a:rPr lang="zh-CN" altLang="en-US" i="0" dirty="0">
                <a:latin typeface="Tahoma" panose="020B0604030504040204" pitchFamily="34" charset="0"/>
                <a:ea typeface="宋体" panose="02010600030101010101" pitchFamily="2" charset="-122"/>
              </a:rPr>
              <a:t>中取出品；</a:t>
            </a:r>
          </a:p>
          <a:p>
            <a:pPr>
              <a:spcBef>
                <a:spcPct val="20000"/>
              </a:spcBef>
              <a:buClr>
                <a:schemeClr val="folHlink"/>
              </a:buClr>
              <a:buSzPct val="60000"/>
              <a:buFontTx/>
            </a:pPr>
            <a:r>
              <a:rPr lang="zh-CN" altLang="en-US" i="0" dirty="0">
                <a:latin typeface="Tahoma" panose="020B0604030504040204" pitchFamily="34" charset="0"/>
                <a:ea typeface="宋体" panose="02010600030101010101" pitchFamily="2" charset="-122"/>
              </a:rPr>
              <a:t>        </a:t>
            </a:r>
            <a:r>
              <a:rPr lang="en-US" altLang="zh-CN" i="0" dirty="0">
                <a:latin typeface="Tahoma" panose="020B0604030504040204" pitchFamily="34" charset="0"/>
                <a:ea typeface="宋体" panose="02010600030101010101" pitchFamily="2" charset="-122"/>
              </a:rPr>
              <a:t>in=(in+1)mod N;                   out=(out+1)mod N;   </a:t>
            </a:r>
          </a:p>
          <a:p>
            <a:pPr>
              <a:spcBef>
                <a:spcPct val="20000"/>
              </a:spcBef>
              <a:buClr>
                <a:schemeClr val="folHlink"/>
              </a:buClr>
              <a:buSzPct val="60000"/>
              <a:buFontTx/>
            </a:pPr>
            <a:r>
              <a:rPr lang="en-US" altLang="zh-CN" i="0" dirty="0">
                <a:latin typeface="Tahoma" panose="020B0604030504040204" pitchFamily="34" charset="0"/>
                <a:ea typeface="宋体" panose="02010600030101010101" pitchFamily="2" charset="-122"/>
              </a:rPr>
              <a:t>       /*</a:t>
            </a:r>
            <a:r>
              <a:rPr lang="zh-CN" altLang="en-US" i="0" dirty="0">
                <a:latin typeface="Tahoma" panose="020B0604030504040204" pitchFamily="34" charset="0"/>
                <a:ea typeface="宋体" panose="02010600030101010101" pitchFamily="2" charset="-122"/>
              </a:rPr>
              <a:t>以</a:t>
            </a:r>
            <a:r>
              <a:rPr lang="en-US" altLang="zh-CN" i="0" dirty="0">
                <a:latin typeface="Tahoma" panose="020B0604030504040204" pitchFamily="34" charset="0"/>
                <a:ea typeface="宋体" panose="02010600030101010101" pitchFamily="2" charset="-122"/>
              </a:rPr>
              <a:t>N</a:t>
            </a:r>
            <a:r>
              <a:rPr lang="zh-CN" altLang="en-US" i="0" dirty="0">
                <a:latin typeface="Tahoma" panose="020B0604030504040204" pitchFamily="34" charset="0"/>
                <a:ea typeface="宋体" panose="02010600030101010101" pitchFamily="2" charset="-122"/>
              </a:rPr>
              <a:t>为模</a:t>
            </a:r>
            <a:r>
              <a:rPr lang="en-US" altLang="zh-CN" i="0" dirty="0">
                <a:latin typeface="Tahoma" panose="020B0604030504040204" pitchFamily="34" charset="0"/>
                <a:ea typeface="宋体" panose="02010600030101010101" pitchFamily="2" charset="-122"/>
              </a:rPr>
              <a:t>*/                           /*</a:t>
            </a:r>
            <a:r>
              <a:rPr lang="zh-CN" altLang="en-US" i="0" dirty="0">
                <a:latin typeface="Tahoma" panose="020B0604030504040204" pitchFamily="34" charset="0"/>
                <a:ea typeface="宋体" panose="02010600030101010101" pitchFamily="2" charset="-122"/>
              </a:rPr>
              <a:t>以</a:t>
            </a:r>
            <a:r>
              <a:rPr lang="en-US" altLang="zh-CN" i="0" dirty="0">
                <a:latin typeface="Tahoma" panose="020B0604030504040204" pitchFamily="34" charset="0"/>
                <a:ea typeface="宋体" panose="02010600030101010101" pitchFamily="2" charset="-122"/>
              </a:rPr>
              <a:t>N</a:t>
            </a:r>
            <a:r>
              <a:rPr lang="zh-CN" altLang="en-US" i="0" dirty="0">
                <a:latin typeface="Tahoma" panose="020B0604030504040204" pitchFamily="34" charset="0"/>
                <a:ea typeface="宋体" panose="02010600030101010101" pitchFamily="2" charset="-122"/>
              </a:rPr>
              <a:t>为模</a:t>
            </a:r>
            <a:r>
              <a:rPr lang="en-US" altLang="zh-CN" i="0" dirty="0">
                <a:latin typeface="Tahoma" panose="020B0604030504040204" pitchFamily="34" charset="0"/>
                <a:ea typeface="宋体" panose="02010600030101010101" pitchFamily="2" charset="-122"/>
              </a:rPr>
              <a:t>*/</a:t>
            </a:r>
          </a:p>
          <a:p>
            <a:pPr>
              <a:spcBef>
                <a:spcPct val="20000"/>
              </a:spcBef>
              <a:buClr>
                <a:schemeClr val="folHlink"/>
              </a:buClr>
              <a:buSzPct val="60000"/>
              <a:buFontTx/>
            </a:pPr>
            <a:r>
              <a:rPr lang="en-US" altLang="zh-CN" i="0" dirty="0">
                <a:solidFill>
                  <a:srgbClr val="CC0099"/>
                </a:solidFill>
                <a:latin typeface="Tahoma" panose="020B0604030504040204" pitchFamily="34" charset="0"/>
                <a:ea typeface="宋体" panose="02010600030101010101" pitchFamily="2" charset="-122"/>
              </a:rPr>
              <a:t>        V(mutex);			   V(mutex);</a:t>
            </a:r>
          </a:p>
          <a:p>
            <a:pPr>
              <a:spcBef>
                <a:spcPct val="20000"/>
              </a:spcBef>
              <a:buClr>
                <a:schemeClr val="folHlink"/>
              </a:buClr>
              <a:buSzPct val="60000"/>
              <a:buFontTx/>
            </a:pPr>
            <a:r>
              <a:rPr lang="en-US" altLang="zh-CN" i="0" dirty="0">
                <a:latin typeface="Tahoma" panose="020B0604030504040204" pitchFamily="34" charset="0"/>
                <a:ea typeface="宋体" panose="02010600030101010101" pitchFamily="2" charset="-122"/>
              </a:rPr>
              <a:t>        </a:t>
            </a:r>
            <a:r>
              <a:rPr lang="en-US" altLang="zh-CN" i="0" dirty="0">
                <a:solidFill>
                  <a:schemeClr val="hlink"/>
                </a:solidFill>
                <a:latin typeface="Tahoma" panose="020B0604030504040204" pitchFamily="34" charset="0"/>
                <a:ea typeface="宋体" panose="02010600030101010101" pitchFamily="2" charset="-122"/>
              </a:rPr>
              <a:t>V(full);	</a:t>
            </a:r>
            <a:r>
              <a:rPr lang="en-US" altLang="zh-CN" i="0" dirty="0">
                <a:latin typeface="Tahoma" panose="020B0604030504040204" pitchFamily="34" charset="0"/>
                <a:ea typeface="宋体" panose="02010600030101010101" pitchFamily="2" charset="-122"/>
              </a:rPr>
              <a:t>		             </a:t>
            </a:r>
            <a:r>
              <a:rPr lang="en-US" altLang="zh-CN" i="0" dirty="0">
                <a:solidFill>
                  <a:schemeClr val="hlink"/>
                </a:solidFill>
                <a:latin typeface="Tahoma" panose="020B0604030504040204" pitchFamily="34" charset="0"/>
                <a:ea typeface="宋体" panose="02010600030101010101" pitchFamily="2" charset="-122"/>
              </a:rPr>
              <a:t>V(empty);</a:t>
            </a:r>
          </a:p>
          <a:p>
            <a:pPr>
              <a:spcBef>
                <a:spcPct val="20000"/>
              </a:spcBef>
              <a:buClr>
                <a:schemeClr val="folHlink"/>
              </a:buClr>
              <a:buSzPct val="60000"/>
              <a:buFontTx/>
            </a:pPr>
            <a:r>
              <a:rPr lang="en-US" altLang="zh-CN" i="0" dirty="0">
                <a:latin typeface="Tahoma" panose="020B0604030504040204" pitchFamily="34" charset="0"/>
                <a:ea typeface="宋体" panose="02010600030101010101" pitchFamily="2" charset="-122"/>
              </a:rPr>
              <a:t>   }				        }</a:t>
            </a:r>
          </a:p>
        </p:txBody>
      </p:sp>
      <p:sp>
        <p:nvSpPr>
          <p:cNvPr id="27651" name="直接连接符 289796"/>
          <p:cNvSpPr/>
          <p:nvPr/>
        </p:nvSpPr>
        <p:spPr>
          <a:xfrm>
            <a:off x="4643438" y="549275"/>
            <a:ext cx="0" cy="5688013"/>
          </a:xfrm>
          <a:prstGeom prst="line">
            <a:avLst/>
          </a:prstGeom>
          <a:ln w="9525">
            <a:noFill/>
          </a:ln>
        </p:spPr>
      </p:sp>
      <p:sp>
        <p:nvSpPr>
          <p:cNvPr id="27652" name="标题 289797"/>
          <p:cNvSpPr>
            <a:spLocks noGrp="1"/>
          </p:cNvSpPr>
          <p:nvPr>
            <p:ph type="title"/>
          </p:nvPr>
        </p:nvSpPr>
        <p:spPr>
          <a:xfrm>
            <a:off x="1100138" y="139700"/>
            <a:ext cx="7793037" cy="912813"/>
          </a:xfrm>
          <a:ln/>
        </p:spPr>
        <p:txBody>
          <a:bodyPr vert="horz" wrap="square" lIns="91440" tIns="45720" rIns="91440" bIns="45720" anchor="b" anchorCtr="0"/>
          <a:lstStyle/>
          <a:p>
            <a:pPr eaLnBrk="1" hangingPunct="1"/>
            <a:r>
              <a:rPr lang="en-US" altLang="zh-CN" b="1" dirty="0"/>
              <a:t>1</a:t>
            </a:r>
            <a:r>
              <a:rPr lang="zh-CN" altLang="en-US" b="1" dirty="0"/>
              <a:t>．生产者</a:t>
            </a:r>
            <a:r>
              <a:rPr lang="en-US" altLang="zh-CN" b="1" dirty="0"/>
              <a:t>-</a:t>
            </a:r>
            <a:r>
              <a:rPr lang="zh-CN" altLang="en-US" b="1" dirty="0"/>
              <a:t>消费者问题</a:t>
            </a:r>
          </a:p>
        </p:txBody>
      </p:sp>
      <p:grpSp>
        <p:nvGrpSpPr>
          <p:cNvPr id="27653" name="组合 289798"/>
          <p:cNvGrpSpPr/>
          <p:nvPr/>
        </p:nvGrpSpPr>
        <p:grpSpPr>
          <a:xfrm>
            <a:off x="827088" y="3284538"/>
            <a:ext cx="304800" cy="1728787"/>
            <a:chOff x="521" y="890"/>
            <a:chExt cx="192" cy="720"/>
          </a:xfrm>
        </p:grpSpPr>
        <p:sp>
          <p:nvSpPr>
            <p:cNvPr id="27654" name="直接连接符 289799"/>
            <p:cNvSpPr/>
            <p:nvPr/>
          </p:nvSpPr>
          <p:spPr>
            <a:xfrm>
              <a:off x="521" y="890"/>
              <a:ext cx="192" cy="0"/>
            </a:xfrm>
            <a:prstGeom prst="line">
              <a:avLst/>
            </a:prstGeom>
            <a:ln w="50800" cap="flat" cmpd="sng">
              <a:solidFill>
                <a:schemeClr val="hlink"/>
              </a:solidFill>
              <a:prstDash val="solid"/>
              <a:miter/>
              <a:headEnd type="none" w="med" len="med"/>
              <a:tailEnd type="none" w="med" len="med"/>
            </a:ln>
          </p:spPr>
        </p:sp>
        <p:sp>
          <p:nvSpPr>
            <p:cNvPr id="27655" name="直接连接符 289800"/>
            <p:cNvSpPr/>
            <p:nvPr/>
          </p:nvSpPr>
          <p:spPr>
            <a:xfrm>
              <a:off x="521" y="890"/>
              <a:ext cx="0" cy="720"/>
            </a:xfrm>
            <a:prstGeom prst="line">
              <a:avLst/>
            </a:prstGeom>
            <a:ln w="50800" cap="flat" cmpd="sng">
              <a:solidFill>
                <a:schemeClr val="hlink"/>
              </a:solidFill>
              <a:prstDash val="solid"/>
              <a:miter/>
              <a:headEnd type="none" w="med" len="med"/>
              <a:tailEnd type="none" w="med" len="med"/>
            </a:ln>
          </p:spPr>
        </p:sp>
        <p:sp>
          <p:nvSpPr>
            <p:cNvPr id="27656" name="直接连接符 289801"/>
            <p:cNvSpPr/>
            <p:nvPr/>
          </p:nvSpPr>
          <p:spPr>
            <a:xfrm>
              <a:off x="521" y="1610"/>
              <a:ext cx="192" cy="0"/>
            </a:xfrm>
            <a:prstGeom prst="line">
              <a:avLst/>
            </a:prstGeom>
            <a:ln w="50800" cap="flat" cmpd="sng">
              <a:solidFill>
                <a:schemeClr val="hlink"/>
              </a:solidFill>
              <a:prstDash val="solid"/>
              <a:miter/>
              <a:headEnd type="none" w="med" len="med"/>
              <a:tailEnd type="none" w="med" len="med"/>
            </a:ln>
          </p:spPr>
        </p:sp>
      </p:grpSp>
      <p:grpSp>
        <p:nvGrpSpPr>
          <p:cNvPr id="27657" name="组合 289802"/>
          <p:cNvGrpSpPr/>
          <p:nvPr/>
        </p:nvGrpSpPr>
        <p:grpSpPr>
          <a:xfrm>
            <a:off x="4987925" y="3284538"/>
            <a:ext cx="304800" cy="1728787"/>
            <a:chOff x="521" y="890"/>
            <a:chExt cx="192" cy="720"/>
          </a:xfrm>
        </p:grpSpPr>
        <p:sp>
          <p:nvSpPr>
            <p:cNvPr id="27658" name="直接连接符 289803"/>
            <p:cNvSpPr/>
            <p:nvPr/>
          </p:nvSpPr>
          <p:spPr>
            <a:xfrm>
              <a:off x="521" y="890"/>
              <a:ext cx="192" cy="0"/>
            </a:xfrm>
            <a:prstGeom prst="line">
              <a:avLst/>
            </a:prstGeom>
            <a:ln w="50800" cap="flat" cmpd="sng">
              <a:solidFill>
                <a:schemeClr val="hlink"/>
              </a:solidFill>
              <a:prstDash val="solid"/>
              <a:miter/>
              <a:headEnd type="none" w="med" len="med"/>
              <a:tailEnd type="none" w="med" len="med"/>
            </a:ln>
          </p:spPr>
        </p:sp>
        <p:sp>
          <p:nvSpPr>
            <p:cNvPr id="27659" name="直接连接符 289804"/>
            <p:cNvSpPr/>
            <p:nvPr/>
          </p:nvSpPr>
          <p:spPr>
            <a:xfrm>
              <a:off x="521" y="890"/>
              <a:ext cx="0" cy="720"/>
            </a:xfrm>
            <a:prstGeom prst="line">
              <a:avLst/>
            </a:prstGeom>
            <a:ln w="50800" cap="flat" cmpd="sng">
              <a:solidFill>
                <a:schemeClr val="hlink"/>
              </a:solidFill>
              <a:prstDash val="solid"/>
              <a:miter/>
              <a:headEnd type="none" w="med" len="med"/>
              <a:tailEnd type="none" w="med" len="med"/>
            </a:ln>
          </p:spPr>
        </p:sp>
        <p:sp>
          <p:nvSpPr>
            <p:cNvPr id="27660" name="直接连接符 289805"/>
            <p:cNvSpPr/>
            <p:nvPr/>
          </p:nvSpPr>
          <p:spPr>
            <a:xfrm>
              <a:off x="521" y="1610"/>
              <a:ext cx="192" cy="0"/>
            </a:xfrm>
            <a:prstGeom prst="line">
              <a:avLst/>
            </a:prstGeom>
            <a:ln w="50800" cap="flat" cmpd="sng">
              <a:solidFill>
                <a:schemeClr val="hlink"/>
              </a:solidFill>
              <a:prstDash val="solid"/>
              <a:miter/>
              <a:headEnd type="none" w="med" len="med"/>
              <a:tailEnd type="none" w="med" len="med"/>
            </a:ln>
          </p:spPr>
        </p:sp>
      </p:grpSp>
      <p:sp>
        <p:nvSpPr>
          <p:cNvPr id="289807" name="直接连接符 289806"/>
          <p:cNvSpPr/>
          <p:nvPr/>
        </p:nvSpPr>
        <p:spPr>
          <a:xfrm>
            <a:off x="2627313" y="2852738"/>
            <a:ext cx="2736850" cy="2592387"/>
          </a:xfrm>
          <a:prstGeom prst="line">
            <a:avLst/>
          </a:prstGeom>
          <a:ln w="38100" cap="flat" cmpd="sng">
            <a:solidFill>
              <a:srgbClr val="3366FF"/>
            </a:solidFill>
            <a:prstDash val="solid"/>
            <a:round/>
            <a:headEnd type="none" w="med" len="med"/>
            <a:tailEnd type="none" w="med" len="med"/>
          </a:ln>
        </p:spPr>
      </p:sp>
      <p:sp>
        <p:nvSpPr>
          <p:cNvPr id="289812" name="直接连接符 289811"/>
          <p:cNvSpPr/>
          <p:nvPr/>
        </p:nvSpPr>
        <p:spPr>
          <a:xfrm flipH="1">
            <a:off x="2339975" y="2781300"/>
            <a:ext cx="3024188" cy="2663825"/>
          </a:xfrm>
          <a:prstGeom prst="line">
            <a:avLst/>
          </a:prstGeom>
          <a:ln w="38100" cap="flat" cmpd="sng">
            <a:solidFill>
              <a:srgbClr val="3366FF"/>
            </a:solidFill>
            <a:prstDash val="solid"/>
            <a:round/>
            <a:headEnd type="none" w="med" len="med"/>
            <a:tailEnd type="none" w="med" len="med"/>
          </a:ln>
        </p:spPr>
      </p:sp>
      <p:sp>
        <p:nvSpPr>
          <p:cNvPr id="64527" name="灯片编号占位符 1"/>
          <p:cNvSpPr txBox="1">
            <a:spLocks noGrp="1" noChangeArrowheads="1"/>
          </p:cNvSpPr>
          <p:nvPr>
            <p:ph type="sldNum" sz="quarter" idx="4"/>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marL="0" marR="0" lvl="0" indent="0" algn="r" defTabSz="914400" rtl="0" eaLnBrk="1" fontAlgn="base" latinLnBrk="0" hangingPunct="1">
              <a:lnSpc>
                <a:spcPct val="100000"/>
              </a:lnSpc>
              <a:spcBef>
                <a:spcPct val="20000"/>
              </a:spcBef>
              <a:spcAft>
                <a:spcPct val="0"/>
              </a:spcAft>
              <a:buClrTx/>
              <a:buSzTx/>
              <a:buFontTx/>
              <a:buNone/>
              <a:defRPr/>
            </a:pPr>
            <a:fld id="{391E46FE-9829-482A-9ED6-13C1E0E580CE}" type="slidenum">
              <a:rPr kumimoji="0" lang="zh-CN"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ea"/>
              </a:rPr>
              <a:t>41</a:t>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9812"/>
                                        </p:tgtEl>
                                        <p:attrNameLst>
                                          <p:attrName>style.visibility</p:attrName>
                                        </p:attrNameLst>
                                      </p:cBhvr>
                                      <p:to>
                                        <p:strVal val="visible"/>
                                      </p:to>
                                    </p:set>
                                    <p:animEffect transition="in" filter="blinds(horizontal)">
                                      <p:cBhvr>
                                        <p:cTn id="7" dur="500"/>
                                        <p:tgtEl>
                                          <p:spTgt spid="289812"/>
                                        </p:tgtEl>
                                      </p:cBhvr>
                                    </p:animEffect>
                                  </p:childTnLst>
                                </p:cTn>
                              </p:par>
                              <p:par>
                                <p:cTn id="8" presetID="3" presetClass="entr" presetSubtype="10" fill="hold" nodeType="withEffect">
                                  <p:stCondLst>
                                    <p:cond delay="0"/>
                                  </p:stCondLst>
                                  <p:childTnLst>
                                    <p:set>
                                      <p:cBhvr>
                                        <p:cTn id="9" dur="1" fill="hold">
                                          <p:stCondLst>
                                            <p:cond delay="0"/>
                                          </p:stCondLst>
                                        </p:cTn>
                                        <p:tgtEl>
                                          <p:spTgt spid="289807"/>
                                        </p:tgtEl>
                                        <p:attrNameLst>
                                          <p:attrName>style.visibility</p:attrName>
                                        </p:attrNameLst>
                                      </p:cBhvr>
                                      <p:to>
                                        <p:strVal val="visible"/>
                                      </p:to>
                                    </p:set>
                                    <p:animEffect transition="in" filter="blinds(horizontal)">
                                      <p:cBhvr>
                                        <p:cTn id="10" dur="500"/>
                                        <p:tgtEl>
                                          <p:spTgt spid="289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5"/>
          <p:cNvSpPr>
            <a:spLocks noGrp="1"/>
          </p:cNvSpPr>
          <p:nvPr>
            <p:ph type="sldNum" sz="quarter" idx="4"/>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buClrTx/>
              <a:buFont typeface="Arial" panose="020B0604020202020204" pitchFamily="34" charset="0"/>
              <a:buChar char="•"/>
            </a:pPr>
            <a:fld id="{9A0DB2DC-4C9A-4742-B13C-FB6460FD3503}" type="slidenum">
              <a:rPr lang="zh-CN" altLang="zh-CN" sz="1400" i="0" dirty="0">
                <a:solidFill>
                  <a:srgbClr val="000000"/>
                </a:solidFill>
                <a:latin typeface="Tahoma" panose="020B0604030504040204" pitchFamily="34" charset="0"/>
                <a:ea typeface="宋体" panose="02010600030101010101" pitchFamily="2" charset="-122"/>
              </a:rPr>
              <a:t>42</a:t>
            </a:fld>
            <a:endParaRPr lang="zh-CN" altLang="zh-CN" sz="1400" i="0" dirty="0">
              <a:solidFill>
                <a:srgbClr val="000000"/>
              </a:solidFill>
              <a:latin typeface="Tahoma" panose="020B0604030504040204" pitchFamily="34" charset="0"/>
              <a:ea typeface="宋体" panose="02010600030101010101" pitchFamily="2" charset="-122"/>
            </a:endParaRPr>
          </a:p>
        </p:txBody>
      </p:sp>
      <p:sp>
        <p:nvSpPr>
          <p:cNvPr id="28674" name="Rectangle 2"/>
          <p:cNvSpPr>
            <a:spLocks noGrp="1"/>
          </p:cNvSpPr>
          <p:nvPr>
            <p:ph type="title"/>
          </p:nvPr>
        </p:nvSpPr>
        <p:spPr>
          <a:xfrm>
            <a:off x="1343025" y="476250"/>
            <a:ext cx="7612063" cy="1143000"/>
          </a:xfrm>
          <a:ln/>
        </p:spPr>
        <p:txBody>
          <a:bodyPr vert="horz" wrap="square" lIns="91440" tIns="45720" rIns="91440" bIns="45720" anchor="b" anchorCtr="0"/>
          <a:lstStyle/>
          <a:p>
            <a:pPr eaLnBrk="1" hangingPunct="1"/>
            <a:r>
              <a:rPr lang="zh-CN" altLang="en-US" sz="4000" b="1" dirty="0"/>
              <a:t>思考</a:t>
            </a:r>
          </a:p>
        </p:txBody>
      </p:sp>
      <p:sp>
        <p:nvSpPr>
          <p:cNvPr id="2" name="Rectangle 3"/>
          <p:cNvSpPr>
            <a:spLocks noGrp="1"/>
          </p:cNvSpPr>
          <p:nvPr>
            <p:ph idx="1"/>
          </p:nvPr>
        </p:nvSpPr>
        <p:spPr>
          <a:ln/>
        </p:spPr>
        <p:txBody>
          <a:bodyPr vert="horz" wrap="square" lIns="91440" tIns="45720" rIns="91440" bIns="45720" anchor="t" anchorCtr="0"/>
          <a:lstStyle/>
          <a:p>
            <a:pPr eaLnBrk="1" hangingPunct="1"/>
            <a:r>
              <a:rPr lang="zh-CN" altLang="en-US" b="1" dirty="0">
                <a:solidFill>
                  <a:srgbClr val="990000"/>
                </a:solidFill>
              </a:rPr>
              <a:t>分析以下情况各进程运行的过程：</a:t>
            </a:r>
            <a:endParaRPr lang="en-US" altLang="zh-CN" b="1" dirty="0"/>
          </a:p>
          <a:p>
            <a:pPr lvl="1" eaLnBrk="1" hangingPunct="1"/>
            <a:r>
              <a:rPr lang="zh-CN" altLang="en-US" b="1" dirty="0"/>
              <a:t>生产者进程和消费者进程被交替调用；</a:t>
            </a:r>
          </a:p>
          <a:p>
            <a:pPr lvl="1" eaLnBrk="1" hangingPunct="1"/>
            <a:r>
              <a:rPr lang="zh-CN" altLang="en-US" b="1" dirty="0"/>
              <a:t>只有生产者进程在运行，消费者进程未被调用；</a:t>
            </a:r>
          </a:p>
          <a:p>
            <a:pPr lvl="1" eaLnBrk="1" hangingPunct="1"/>
            <a:r>
              <a:rPr lang="zh-CN" altLang="en-US" b="1" dirty="0"/>
              <a:t>消费者进程要超前生产者进程运行。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5"/>
          <p:cNvSpPr>
            <a:spLocks noGrp="1"/>
          </p:cNvSpPr>
          <p:nvPr>
            <p:ph type="sldNum" sz="quarter" idx="4"/>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buClrTx/>
              <a:buFont typeface="Arial" panose="020B0604020202020204" pitchFamily="34" charset="0"/>
              <a:buChar char="•"/>
            </a:pPr>
            <a:fld id="{9A0DB2DC-4C9A-4742-B13C-FB6460FD3503}" type="slidenum">
              <a:rPr lang="zh-CN" altLang="zh-CN" sz="1400" i="0" dirty="0">
                <a:solidFill>
                  <a:srgbClr val="000000"/>
                </a:solidFill>
                <a:latin typeface="Tahoma" panose="020B0604030504040204" pitchFamily="34" charset="0"/>
                <a:ea typeface="宋体" panose="02010600030101010101" pitchFamily="2" charset="-122"/>
              </a:rPr>
              <a:t>43</a:t>
            </a:fld>
            <a:endParaRPr lang="zh-CN" altLang="zh-CN" sz="1400" i="0" dirty="0">
              <a:solidFill>
                <a:srgbClr val="000000"/>
              </a:solidFill>
              <a:latin typeface="Tahoma" panose="020B0604030504040204" pitchFamily="34" charset="0"/>
              <a:ea typeface="宋体" panose="02010600030101010101" pitchFamily="2" charset="-122"/>
            </a:endParaRPr>
          </a:p>
        </p:txBody>
      </p:sp>
      <p:sp>
        <p:nvSpPr>
          <p:cNvPr id="29698" name="Rectangle 2"/>
          <p:cNvSpPr>
            <a:spLocks noGrp="1"/>
          </p:cNvSpPr>
          <p:nvPr>
            <p:ph type="title"/>
          </p:nvPr>
        </p:nvSpPr>
        <p:spPr>
          <a:ln/>
        </p:spPr>
        <p:txBody>
          <a:bodyPr vert="horz" wrap="square" lIns="91440" tIns="45720" rIns="91440" bIns="45720" anchor="b" anchorCtr="0"/>
          <a:lstStyle/>
          <a:p>
            <a:pPr eaLnBrk="1" hangingPunct="1"/>
            <a:r>
              <a:rPr lang="zh-CN" altLang="en-US" dirty="0"/>
              <a:t>练习</a:t>
            </a:r>
            <a:r>
              <a:rPr lang="en-US" altLang="zh-CN" dirty="0"/>
              <a:t>1</a:t>
            </a:r>
            <a:endParaRPr lang="zh-CN" altLang="zh-CN" dirty="0"/>
          </a:p>
        </p:txBody>
      </p:sp>
      <p:sp>
        <p:nvSpPr>
          <p:cNvPr id="29699" name="Rectangle 3"/>
          <p:cNvSpPr>
            <a:spLocks noGrp="1"/>
          </p:cNvSpPr>
          <p:nvPr>
            <p:ph idx="1"/>
          </p:nvPr>
        </p:nvSpPr>
        <p:spPr>
          <a:ln/>
        </p:spPr>
        <p:txBody>
          <a:bodyPr vert="horz" wrap="square" lIns="91440" tIns="45720" rIns="91440" bIns="45720" anchor="t" anchorCtr="0"/>
          <a:lstStyle/>
          <a:p>
            <a:pPr eaLnBrk="1" hangingPunct="1"/>
            <a:r>
              <a:rPr lang="zh-CN" altLang="en-US" b="1" dirty="0"/>
              <a:t>设有无穷多个信息，输入进程把信息逐个写入缓冲区，输出进程逐个从缓冲区取走信息。设缓冲区是无穷大的。</a:t>
            </a:r>
          </a:p>
          <a:p>
            <a:pPr eaLnBrk="1" hangingPunct="1"/>
            <a:endParaRPr lang="zh-CN" altLang="zh-CN" b="1" dirty="0"/>
          </a:p>
          <a:p>
            <a:pPr eaLnBrk="1" hangingPunct="1"/>
            <a:r>
              <a:rPr lang="zh-CN" altLang="en-US" b="1" dirty="0"/>
              <a:t>输入</a:t>
            </a:r>
            <a:r>
              <a:rPr lang="zh-CN" altLang="zh-CN" b="1" dirty="0"/>
              <a:t>/</a:t>
            </a:r>
            <a:r>
              <a:rPr lang="zh-CN" altLang="en-US" b="1" dirty="0"/>
              <a:t>输出进程读写缓冲区需要何条件？</a:t>
            </a:r>
          </a:p>
          <a:p>
            <a:pPr eaLnBrk="1" hangingPunct="1"/>
            <a:r>
              <a:rPr lang="zh-CN" altLang="en-US" b="1" dirty="0"/>
              <a:t>设信号量并说明其含义，给出初值。</a:t>
            </a:r>
          </a:p>
          <a:p>
            <a:pPr eaLnBrk="1" hangingPunct="1"/>
            <a:r>
              <a:rPr lang="zh-CN" altLang="en-US" b="1" dirty="0"/>
              <a:t>用</a:t>
            </a:r>
            <a:r>
              <a:rPr lang="zh-CN" altLang="zh-CN" b="1" dirty="0"/>
              <a:t>P</a:t>
            </a:r>
            <a:r>
              <a:rPr lang="zh-CN" altLang="en-US" b="1" dirty="0"/>
              <a:t>、</a:t>
            </a:r>
            <a:r>
              <a:rPr lang="zh-CN" altLang="zh-CN" b="1" dirty="0"/>
              <a:t>V</a:t>
            </a:r>
            <a:r>
              <a:rPr lang="zh-CN" altLang="en-US" b="1" dirty="0"/>
              <a:t>操作实现两组进程的算法。</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5"/>
          <p:cNvSpPr>
            <a:spLocks noGrp="1"/>
          </p:cNvSpPr>
          <p:nvPr>
            <p:ph type="sldNum" sz="quarter" idx="4"/>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buClrTx/>
              <a:buFont typeface="Arial" panose="020B0604020202020204" pitchFamily="34" charset="0"/>
              <a:buChar char="•"/>
            </a:pPr>
            <a:fld id="{9A0DB2DC-4C9A-4742-B13C-FB6460FD3503}" type="slidenum">
              <a:rPr lang="zh-CN" altLang="zh-CN" sz="1400" i="0" dirty="0">
                <a:solidFill>
                  <a:srgbClr val="000000"/>
                </a:solidFill>
                <a:latin typeface="Tahoma" panose="020B0604030504040204" pitchFamily="34" charset="0"/>
                <a:ea typeface="宋体" panose="02010600030101010101" pitchFamily="2" charset="-122"/>
              </a:rPr>
              <a:t>44</a:t>
            </a:fld>
            <a:endParaRPr lang="zh-CN" altLang="zh-CN" sz="1400" i="0" dirty="0">
              <a:solidFill>
                <a:srgbClr val="000000"/>
              </a:solidFill>
              <a:latin typeface="Tahoma" panose="020B0604030504040204" pitchFamily="34" charset="0"/>
              <a:ea typeface="宋体" panose="02010600030101010101" pitchFamily="2" charset="-122"/>
            </a:endParaRPr>
          </a:p>
        </p:txBody>
      </p:sp>
      <p:sp>
        <p:nvSpPr>
          <p:cNvPr id="31746" name="Rectangle 2"/>
          <p:cNvSpPr>
            <a:spLocks noGrp="1"/>
          </p:cNvSpPr>
          <p:nvPr>
            <p:ph type="title"/>
          </p:nvPr>
        </p:nvSpPr>
        <p:spPr>
          <a:ln/>
        </p:spPr>
        <p:txBody>
          <a:bodyPr vert="horz" wrap="square" lIns="91440" tIns="45720" rIns="91440" bIns="45720" anchor="b" anchorCtr="0"/>
          <a:lstStyle/>
          <a:p>
            <a:pPr eaLnBrk="1" hangingPunct="1"/>
            <a:r>
              <a:rPr lang="zh-CN" altLang="zh-CN" dirty="0"/>
              <a:t>练习</a:t>
            </a:r>
            <a:r>
              <a:rPr lang="en-US" altLang="zh-CN" dirty="0"/>
              <a:t>1</a:t>
            </a:r>
            <a:endParaRPr lang="zh-CN" altLang="zh-CN" dirty="0"/>
          </a:p>
        </p:txBody>
      </p:sp>
      <p:sp>
        <p:nvSpPr>
          <p:cNvPr id="2" name="Rectangle 3"/>
          <p:cNvSpPr>
            <a:spLocks noGrp="1"/>
          </p:cNvSpPr>
          <p:nvPr>
            <p:ph idx="1"/>
          </p:nvPr>
        </p:nvSpPr>
        <p:spPr>
          <a:xfrm>
            <a:off x="468313" y="2017713"/>
            <a:ext cx="8270875" cy="4506912"/>
          </a:xfrm>
          <a:ln/>
        </p:spPr>
        <p:txBody>
          <a:bodyPr vert="horz" wrap="square" lIns="91440" tIns="45720" rIns="91440" bIns="45720" anchor="t" anchorCtr="0"/>
          <a:lstStyle/>
          <a:p>
            <a:pPr eaLnBrk="1" hangingPunct="1"/>
            <a:r>
              <a:rPr lang="zh-CN" altLang="en-US" b="1" dirty="0"/>
              <a:t>输入、输出两组进程读</a:t>
            </a:r>
            <a:r>
              <a:rPr lang="zh-CN" altLang="zh-CN" b="1" dirty="0"/>
              <a:t>/</a:t>
            </a:r>
            <a:r>
              <a:rPr lang="zh-CN" altLang="en-US" b="1" dirty="0"/>
              <a:t>写缓冲区的条件是：</a:t>
            </a:r>
          </a:p>
          <a:p>
            <a:pPr lvl="1" eaLnBrk="1" hangingPunct="1"/>
            <a:r>
              <a:rPr lang="zh-CN" altLang="en-US" b="1" dirty="0"/>
              <a:t>所有进程都要互斥使用缓冲区；</a:t>
            </a:r>
          </a:p>
          <a:p>
            <a:pPr lvl="1" eaLnBrk="1" hangingPunct="1"/>
            <a:r>
              <a:rPr lang="zh-CN" altLang="en-US" b="1" dirty="0"/>
              <a:t>输出进程不能超前输入进程。</a:t>
            </a:r>
          </a:p>
          <a:p>
            <a:pPr eaLnBrk="1" hangingPunct="1"/>
            <a:r>
              <a:rPr lang="zh-CN" altLang="en-US" b="1" dirty="0"/>
              <a:t>信号量：</a:t>
            </a:r>
          </a:p>
          <a:p>
            <a:pPr lvl="1" eaLnBrk="1" hangingPunct="1"/>
            <a:r>
              <a:rPr lang="zh-CN" altLang="zh-CN" b="1" dirty="0"/>
              <a:t>full</a:t>
            </a:r>
            <a:r>
              <a:rPr lang="zh-CN" altLang="zh-CN" b="1" dirty="0">
                <a:latin typeface="Times New Roman" panose="02020603050405020304" pitchFamily="18" charset="0"/>
              </a:rPr>
              <a:t>——</a:t>
            </a:r>
            <a:r>
              <a:rPr lang="zh-CN" altLang="en-US" b="1" dirty="0"/>
              <a:t>缓冲区满的情况，初值为</a:t>
            </a:r>
            <a:r>
              <a:rPr lang="zh-CN" altLang="zh-CN" b="1" dirty="0"/>
              <a:t>0</a:t>
            </a:r>
            <a:r>
              <a:rPr lang="zh-CN" altLang="en-US" b="1" dirty="0"/>
              <a:t>；</a:t>
            </a:r>
          </a:p>
          <a:p>
            <a:pPr lvl="1" eaLnBrk="1" hangingPunct="1"/>
            <a:r>
              <a:rPr lang="zh-CN" altLang="zh-CN" b="1" dirty="0"/>
              <a:t>mutex</a:t>
            </a:r>
            <a:r>
              <a:rPr lang="zh-CN" altLang="zh-CN" b="1" dirty="0">
                <a:latin typeface="Times New Roman" panose="02020603050405020304" pitchFamily="18" charset="0"/>
              </a:rPr>
              <a:t>——</a:t>
            </a:r>
            <a:r>
              <a:rPr lang="zh-CN" altLang="en-US" b="1" dirty="0"/>
              <a:t>互斥信号量，初值为</a:t>
            </a:r>
            <a:r>
              <a:rPr lang="zh-CN" altLang="zh-CN" b="1" dirty="0"/>
              <a:t>1</a:t>
            </a:r>
            <a:r>
              <a:rPr lang="zh-CN" altLang="en-US" b="1" dirty="0"/>
              <a:t>。</a:t>
            </a:r>
          </a:p>
          <a:p>
            <a:pPr lvl="1" eaLnBrk="1" hangingPunct="1"/>
            <a:r>
              <a:rPr lang="zh-CN" altLang="en-US" b="1" dirty="0"/>
              <a:t>计数器</a:t>
            </a:r>
            <a:r>
              <a:rPr lang="zh-CN" altLang="zh-CN" b="1" dirty="0"/>
              <a:t>i=0,j=0,</a:t>
            </a:r>
            <a:r>
              <a:rPr lang="zh-CN" altLang="en-US" b="1" dirty="0"/>
              <a:t>代表输入进程和输出进程使用缓冲区的号码。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blinds(horizontal)">
                                      <p:cBhvr>
                                        <p:cTn id="7" dur="500"/>
                                        <p:tgtEl>
                                          <p:spTgt spid="2">
                                            <p:txEl>
                                              <p:pRg st="3" end="3"/>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blinds(horizontal)">
                                      <p:cBhvr>
                                        <p:cTn id="10" dur="500"/>
                                        <p:tgtEl>
                                          <p:spTgt spid="2">
                                            <p:txEl>
                                              <p:pRg st="4" end="4"/>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blinds(horizontal)">
                                      <p:cBhvr>
                                        <p:cTn id="13" dur="500"/>
                                        <p:tgtEl>
                                          <p:spTgt spid="2">
                                            <p:txEl>
                                              <p:pRg st="5" end="5"/>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
                                            <p:txEl>
                                              <p:pRg st="6" end="6"/>
                                            </p:txEl>
                                          </p:spTgt>
                                        </p:tgtEl>
                                        <p:attrNameLst>
                                          <p:attrName>style.visibility</p:attrName>
                                        </p:attrNameLst>
                                      </p:cBhvr>
                                      <p:to>
                                        <p:strVal val="visible"/>
                                      </p:to>
                                    </p:set>
                                    <p:animEffect transition="in" filter="blinds(horizontal)">
                                      <p:cBhvr>
                                        <p:cTn id="16"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p:nvPr/>
        </p:nvSpPr>
        <p:spPr>
          <a:xfrm>
            <a:off x="611188" y="1130300"/>
            <a:ext cx="3384550" cy="4392613"/>
          </a:xfrm>
          <a:prstGeom prst="rect">
            <a:avLst/>
          </a:prstGeom>
          <a:solidFill>
            <a:srgbClr val="FFF3FF"/>
          </a:solidFill>
          <a:ln w="9525" cap="flat" cmpd="sng">
            <a:solidFill>
              <a:schemeClr val="tx1"/>
            </a:solidFill>
            <a:prstDash val="solid"/>
            <a:miter/>
            <a:headEnd type="none" w="med" len="med"/>
            <a:tailEnd type="none" w="med" len="med"/>
          </a:ln>
        </p:spPr>
        <p:txBody>
          <a:bodyPr wrap="none" anchor="t" anchorCtr="0"/>
          <a:lstStyle/>
          <a:p>
            <a:pPr>
              <a:spcBef>
                <a:spcPct val="20000"/>
              </a:spcBef>
              <a:buClr>
                <a:srgbClr val="3333CC"/>
              </a:buClr>
              <a:buSzPct val="60000"/>
              <a:buFont typeface="Wingdings" panose="05000000000000000000" pitchFamily="2" charset="2"/>
            </a:pPr>
            <a:r>
              <a:rPr lang="zh-CN" altLang="en-US" b="1" u="sng" dirty="0">
                <a:solidFill>
                  <a:srgbClr val="000000"/>
                </a:solidFill>
                <a:latin typeface="Tahoma" panose="020B0604030504040204" pitchFamily="34" charset="0"/>
                <a:ea typeface="宋体" panose="02010600030101010101" pitchFamily="2" charset="-122"/>
              </a:rPr>
              <a:t>输入进程</a:t>
            </a:r>
            <a:r>
              <a:rPr lang="zh-CN" altLang="en-US" b="1" dirty="0">
                <a:solidFill>
                  <a:srgbClr val="000000"/>
                </a:solidFill>
                <a:latin typeface="Tahoma" panose="020B0604030504040204" pitchFamily="34" charset="0"/>
                <a:ea typeface="宋体" panose="02010600030101010101" pitchFamily="2" charset="-122"/>
              </a:rPr>
              <a:t>：</a:t>
            </a:r>
          </a:p>
          <a:p>
            <a:pPr>
              <a:spcBef>
                <a:spcPct val="20000"/>
              </a:spcBef>
              <a:buClr>
                <a:srgbClr val="3333CC"/>
              </a:buClr>
              <a:buSzPct val="60000"/>
              <a:buFont typeface="Wingdings" panose="05000000000000000000" pitchFamily="2" charset="2"/>
            </a:pPr>
            <a:endParaRPr lang="zh-CN" altLang="en-US" b="1" dirty="0">
              <a:solidFill>
                <a:srgbClr val="000000"/>
              </a:solidFill>
              <a:latin typeface="Tahoma" panose="020B0604030504040204" pitchFamily="34" charset="0"/>
              <a:ea typeface="宋体" panose="02010600030101010101" pitchFamily="2" charset="-122"/>
            </a:endParaRPr>
          </a:p>
          <a:p>
            <a:pPr>
              <a:spcBef>
                <a:spcPct val="20000"/>
              </a:spcBef>
              <a:buClr>
                <a:srgbClr val="3333CC"/>
              </a:buClr>
              <a:buSzPct val="60000"/>
              <a:buFont typeface="Wingdings" panose="05000000000000000000" pitchFamily="2" charset="2"/>
            </a:pPr>
            <a:r>
              <a:rPr lang="zh-CN" altLang="en-US" b="1" dirty="0">
                <a:solidFill>
                  <a:srgbClr val="000000"/>
                </a:solidFill>
                <a:latin typeface="Tahoma" panose="020B0604030504040204" pitchFamily="34" charset="0"/>
                <a:ea typeface="宋体" panose="02010600030101010101" pitchFamily="2" charset="-122"/>
              </a:rPr>
              <a:t>   </a:t>
            </a:r>
            <a:r>
              <a:rPr lang="zh-CN" altLang="zh-CN" b="1" dirty="0">
                <a:solidFill>
                  <a:srgbClr val="000000"/>
                </a:solidFill>
                <a:latin typeface="Tahoma" panose="020B0604030504040204" pitchFamily="34" charset="0"/>
                <a:ea typeface="宋体" panose="02010600030101010101" pitchFamily="2" charset="-122"/>
              </a:rPr>
              <a:t>while(TRUE) {</a:t>
            </a:r>
          </a:p>
          <a:p>
            <a:pPr>
              <a:spcBef>
                <a:spcPct val="20000"/>
              </a:spcBef>
              <a:buClr>
                <a:srgbClr val="3333CC"/>
              </a:buClr>
              <a:buSzPct val="60000"/>
              <a:buFont typeface="Wingdings" panose="05000000000000000000" pitchFamily="2" charset="2"/>
            </a:pPr>
            <a:r>
              <a:rPr lang="zh-CN" altLang="zh-CN" b="1" dirty="0">
                <a:solidFill>
                  <a:srgbClr val="CC0099"/>
                </a:solidFill>
                <a:latin typeface="Tahoma" panose="020B0604030504040204" pitchFamily="34" charset="0"/>
                <a:ea typeface="宋体" panose="02010600030101010101" pitchFamily="2" charset="-122"/>
              </a:rPr>
              <a:t>     </a:t>
            </a:r>
          </a:p>
          <a:p>
            <a:pPr>
              <a:spcBef>
                <a:spcPct val="20000"/>
              </a:spcBef>
              <a:buClr>
                <a:srgbClr val="3333CC"/>
              </a:buClr>
              <a:buSzPct val="60000"/>
              <a:buFont typeface="Wingdings" panose="05000000000000000000" pitchFamily="2" charset="2"/>
            </a:pPr>
            <a:r>
              <a:rPr lang="zh-CN" altLang="zh-CN" b="1" dirty="0">
                <a:solidFill>
                  <a:srgbClr val="CC0099"/>
                </a:solidFill>
                <a:latin typeface="Tahoma" panose="020B0604030504040204" pitchFamily="34" charset="0"/>
                <a:ea typeface="宋体" panose="02010600030101010101" pitchFamily="2" charset="-122"/>
              </a:rPr>
              <a:t>    P(mutex);</a:t>
            </a:r>
            <a:r>
              <a:rPr lang="zh-CN" altLang="zh-CN" b="1" dirty="0">
                <a:solidFill>
                  <a:srgbClr val="000000"/>
                </a:solidFill>
                <a:latin typeface="Tahoma" panose="020B0604030504040204" pitchFamily="34" charset="0"/>
                <a:ea typeface="宋体" panose="02010600030101010101" pitchFamily="2" charset="-122"/>
              </a:rPr>
              <a:t> </a:t>
            </a:r>
            <a:endParaRPr lang="zh-CN" altLang="zh-CN" b="1" dirty="0">
              <a:solidFill>
                <a:srgbClr val="FF0000"/>
              </a:solidFill>
              <a:latin typeface="Tahoma" panose="020B0604030504040204" pitchFamily="34" charset="0"/>
              <a:ea typeface="宋体" panose="02010600030101010101" pitchFamily="2" charset="-122"/>
            </a:endParaRPr>
          </a:p>
          <a:p>
            <a:pPr>
              <a:spcBef>
                <a:spcPct val="20000"/>
              </a:spcBef>
              <a:buClr>
                <a:srgbClr val="3333CC"/>
              </a:buClr>
              <a:buSzPct val="60000"/>
              <a:buFont typeface="Wingdings" panose="05000000000000000000" pitchFamily="2" charset="2"/>
            </a:pPr>
            <a:r>
              <a:rPr lang="zh-CN" altLang="zh-CN" b="1" dirty="0">
                <a:solidFill>
                  <a:srgbClr val="000000"/>
                </a:solidFill>
                <a:latin typeface="Tahoma" panose="020B0604030504040204" pitchFamily="34" charset="0"/>
                <a:ea typeface="宋体" panose="02010600030101010101" pitchFamily="2" charset="-122"/>
              </a:rPr>
              <a:t>    </a:t>
            </a:r>
            <a:r>
              <a:rPr lang="zh-CN" altLang="en-US" b="1" dirty="0">
                <a:solidFill>
                  <a:srgbClr val="000000"/>
                </a:solidFill>
                <a:latin typeface="Tahoma" panose="020B0604030504040204" pitchFamily="34" charset="0"/>
                <a:ea typeface="宋体" panose="02010600030101010101" pitchFamily="2" charset="-122"/>
              </a:rPr>
              <a:t>信息送往</a:t>
            </a:r>
            <a:r>
              <a:rPr lang="zh-CN" altLang="zh-CN" b="1" dirty="0">
                <a:solidFill>
                  <a:srgbClr val="000000"/>
                </a:solidFill>
                <a:latin typeface="Tahoma" panose="020B0604030504040204" pitchFamily="34" charset="0"/>
                <a:ea typeface="宋体" panose="02010600030101010101" pitchFamily="2" charset="-122"/>
              </a:rPr>
              <a:t>buffer(i); </a:t>
            </a:r>
          </a:p>
          <a:p>
            <a:pPr>
              <a:spcBef>
                <a:spcPct val="20000"/>
              </a:spcBef>
              <a:buClr>
                <a:srgbClr val="3333CC"/>
              </a:buClr>
              <a:buSzPct val="60000"/>
              <a:buFont typeface="Wingdings" panose="05000000000000000000" pitchFamily="2" charset="2"/>
            </a:pPr>
            <a:r>
              <a:rPr lang="zh-CN" altLang="zh-CN" b="1" dirty="0">
                <a:solidFill>
                  <a:srgbClr val="000000"/>
                </a:solidFill>
                <a:latin typeface="Tahoma" panose="020B0604030504040204" pitchFamily="34" charset="0"/>
                <a:ea typeface="宋体" panose="02010600030101010101" pitchFamily="2" charset="-122"/>
              </a:rPr>
              <a:t>    i=i+1; 	</a:t>
            </a:r>
          </a:p>
          <a:p>
            <a:pPr>
              <a:spcBef>
                <a:spcPct val="20000"/>
              </a:spcBef>
              <a:buClr>
                <a:srgbClr val="3333CC"/>
              </a:buClr>
              <a:buSzPct val="60000"/>
              <a:buFont typeface="Wingdings" panose="05000000000000000000" pitchFamily="2" charset="2"/>
            </a:pPr>
            <a:r>
              <a:rPr lang="zh-CN" altLang="zh-CN" b="1" dirty="0">
                <a:solidFill>
                  <a:srgbClr val="CC0099"/>
                </a:solidFill>
                <a:latin typeface="Tahoma" panose="020B0604030504040204" pitchFamily="34" charset="0"/>
                <a:ea typeface="宋体" panose="02010600030101010101" pitchFamily="2" charset="-122"/>
              </a:rPr>
              <a:t>    V(mutex);</a:t>
            </a:r>
            <a:r>
              <a:rPr lang="zh-CN" altLang="zh-CN" b="1" dirty="0">
                <a:solidFill>
                  <a:srgbClr val="000000"/>
                </a:solidFill>
                <a:latin typeface="Tahoma" panose="020B0604030504040204" pitchFamily="34" charset="0"/>
                <a:ea typeface="宋体" panose="02010600030101010101" pitchFamily="2" charset="-122"/>
              </a:rPr>
              <a:t>         </a:t>
            </a:r>
          </a:p>
          <a:p>
            <a:pPr>
              <a:spcBef>
                <a:spcPct val="20000"/>
              </a:spcBef>
              <a:buClr>
                <a:srgbClr val="3333CC"/>
              </a:buClr>
              <a:buSzPct val="60000"/>
              <a:buFont typeface="Wingdings" panose="05000000000000000000" pitchFamily="2" charset="2"/>
            </a:pPr>
            <a:r>
              <a:rPr lang="zh-CN" altLang="zh-CN" b="1" dirty="0">
                <a:solidFill>
                  <a:srgbClr val="FF0000"/>
                </a:solidFill>
                <a:latin typeface="Tahoma" panose="020B0604030504040204" pitchFamily="34" charset="0"/>
                <a:ea typeface="宋体" panose="02010600030101010101" pitchFamily="2" charset="-122"/>
              </a:rPr>
              <a:t>    V(full);	</a:t>
            </a:r>
            <a:r>
              <a:rPr lang="zh-CN" altLang="zh-CN" b="1" dirty="0">
                <a:solidFill>
                  <a:srgbClr val="CC0099"/>
                </a:solidFill>
                <a:latin typeface="Tahoma" panose="020B0604030504040204" pitchFamily="34" charset="0"/>
                <a:ea typeface="宋体" panose="02010600030101010101" pitchFamily="2" charset="-122"/>
              </a:rPr>
              <a:t>	</a:t>
            </a:r>
            <a:r>
              <a:rPr lang="zh-CN" altLang="zh-CN" b="1" dirty="0">
                <a:solidFill>
                  <a:srgbClr val="000000"/>
                </a:solidFill>
                <a:latin typeface="Tahoma" panose="020B0604030504040204" pitchFamily="34" charset="0"/>
                <a:ea typeface="宋体" panose="02010600030101010101" pitchFamily="2" charset="-122"/>
              </a:rPr>
              <a:t> </a:t>
            </a:r>
          </a:p>
          <a:p>
            <a:pPr>
              <a:spcBef>
                <a:spcPct val="20000"/>
              </a:spcBef>
              <a:buClr>
                <a:srgbClr val="3333CC"/>
              </a:buClr>
              <a:buSzPct val="60000"/>
              <a:buFont typeface="Wingdings" panose="05000000000000000000" pitchFamily="2" charset="2"/>
            </a:pPr>
            <a:r>
              <a:rPr lang="zh-CN" altLang="zh-CN" b="1" dirty="0">
                <a:solidFill>
                  <a:srgbClr val="000000"/>
                </a:solidFill>
                <a:latin typeface="Tahoma" panose="020B0604030504040204" pitchFamily="34" charset="0"/>
                <a:ea typeface="宋体" panose="02010600030101010101" pitchFamily="2" charset="-122"/>
              </a:rPr>
              <a:t>}			 </a:t>
            </a:r>
          </a:p>
        </p:txBody>
      </p:sp>
      <p:sp>
        <p:nvSpPr>
          <p:cNvPr id="32770" name="Rectangle 3"/>
          <p:cNvSpPr/>
          <p:nvPr/>
        </p:nvSpPr>
        <p:spPr>
          <a:xfrm>
            <a:off x="4714875" y="1125538"/>
            <a:ext cx="3816350" cy="4464050"/>
          </a:xfrm>
          <a:prstGeom prst="rect">
            <a:avLst/>
          </a:prstGeom>
          <a:solidFill>
            <a:srgbClr val="FFF3FF"/>
          </a:solidFill>
          <a:ln w="9525" cap="flat" cmpd="sng">
            <a:solidFill>
              <a:schemeClr val="tx1"/>
            </a:solidFill>
            <a:prstDash val="solid"/>
            <a:miter/>
            <a:headEnd type="none" w="med" len="med"/>
            <a:tailEnd type="none" w="med" len="med"/>
          </a:ln>
        </p:spPr>
        <p:txBody>
          <a:bodyPr wrap="none" anchor="t" anchorCtr="0"/>
          <a:lstStyle/>
          <a:p>
            <a:pPr>
              <a:spcBef>
                <a:spcPct val="20000"/>
              </a:spcBef>
              <a:buClr>
                <a:srgbClr val="3333CC"/>
              </a:buClr>
              <a:buSzPct val="60000"/>
              <a:buFont typeface="Wingdings" panose="05000000000000000000" pitchFamily="2" charset="2"/>
            </a:pPr>
            <a:r>
              <a:rPr lang="zh-CN" altLang="en-US" b="1" u="sng" dirty="0">
                <a:solidFill>
                  <a:srgbClr val="000000"/>
                </a:solidFill>
                <a:latin typeface="Tahoma" panose="020B0604030504040204" pitchFamily="34" charset="0"/>
                <a:ea typeface="宋体" panose="02010600030101010101" pitchFamily="2" charset="-122"/>
              </a:rPr>
              <a:t>输出进程</a:t>
            </a:r>
            <a:r>
              <a:rPr lang="zh-CN" altLang="en-US" b="1" dirty="0">
                <a:solidFill>
                  <a:srgbClr val="000000"/>
                </a:solidFill>
                <a:latin typeface="Tahoma" panose="020B0604030504040204" pitchFamily="34" charset="0"/>
                <a:ea typeface="宋体" panose="02010600030101010101" pitchFamily="2" charset="-122"/>
              </a:rPr>
              <a:t>：</a:t>
            </a:r>
          </a:p>
          <a:p>
            <a:pPr>
              <a:spcBef>
                <a:spcPct val="20000"/>
              </a:spcBef>
              <a:buClr>
                <a:srgbClr val="3333CC"/>
              </a:buClr>
              <a:buSzPct val="60000"/>
              <a:buFont typeface="Wingdings" panose="05000000000000000000" pitchFamily="2" charset="2"/>
            </a:pPr>
            <a:endParaRPr lang="zh-CN" altLang="en-US" b="1" dirty="0">
              <a:solidFill>
                <a:srgbClr val="000000"/>
              </a:solidFill>
              <a:latin typeface="Tahoma" panose="020B0604030504040204" pitchFamily="34" charset="0"/>
              <a:ea typeface="宋体" panose="02010600030101010101" pitchFamily="2" charset="-122"/>
            </a:endParaRPr>
          </a:p>
          <a:p>
            <a:pPr>
              <a:spcBef>
                <a:spcPct val="20000"/>
              </a:spcBef>
              <a:buClr>
                <a:srgbClr val="3333CC"/>
              </a:buClr>
              <a:buSzPct val="60000"/>
              <a:buFont typeface="Wingdings" panose="05000000000000000000" pitchFamily="2" charset="2"/>
            </a:pPr>
            <a:r>
              <a:rPr lang="zh-CN" altLang="en-US" b="1" dirty="0">
                <a:solidFill>
                  <a:srgbClr val="000000"/>
                </a:solidFill>
                <a:latin typeface="Tahoma" panose="020B0604030504040204" pitchFamily="34" charset="0"/>
                <a:ea typeface="宋体" panose="02010600030101010101" pitchFamily="2" charset="-122"/>
              </a:rPr>
              <a:t>   </a:t>
            </a:r>
            <a:r>
              <a:rPr lang="zh-CN" altLang="zh-CN" b="1" dirty="0">
                <a:solidFill>
                  <a:srgbClr val="000000"/>
                </a:solidFill>
                <a:latin typeface="Tahoma" panose="020B0604030504040204" pitchFamily="34" charset="0"/>
                <a:ea typeface="宋体" panose="02010600030101010101" pitchFamily="2" charset="-122"/>
              </a:rPr>
              <a:t>while(TRUE) {</a:t>
            </a:r>
          </a:p>
          <a:p>
            <a:pPr>
              <a:spcBef>
                <a:spcPct val="20000"/>
              </a:spcBef>
              <a:buClr>
                <a:srgbClr val="3333CC"/>
              </a:buClr>
              <a:buSzPct val="60000"/>
              <a:buFont typeface="Wingdings" panose="05000000000000000000" pitchFamily="2" charset="2"/>
            </a:pPr>
            <a:r>
              <a:rPr lang="zh-CN" altLang="zh-CN" b="1" dirty="0">
                <a:solidFill>
                  <a:srgbClr val="FF0000"/>
                </a:solidFill>
                <a:latin typeface="Tahoma" panose="020B0604030504040204" pitchFamily="34" charset="0"/>
                <a:ea typeface="宋体" panose="02010600030101010101" pitchFamily="2" charset="-122"/>
              </a:rPr>
              <a:t>    P(full);</a:t>
            </a:r>
            <a:r>
              <a:rPr lang="zh-CN" altLang="zh-CN" b="1" dirty="0">
                <a:solidFill>
                  <a:srgbClr val="CC0099"/>
                </a:solidFill>
                <a:latin typeface="Tahoma" panose="020B0604030504040204" pitchFamily="34" charset="0"/>
                <a:ea typeface="宋体" panose="02010600030101010101" pitchFamily="2" charset="-122"/>
              </a:rPr>
              <a:t> </a:t>
            </a:r>
          </a:p>
          <a:p>
            <a:pPr>
              <a:spcBef>
                <a:spcPct val="20000"/>
              </a:spcBef>
              <a:buClr>
                <a:srgbClr val="3333CC"/>
              </a:buClr>
              <a:buSzPct val="60000"/>
              <a:buFont typeface="Wingdings" panose="05000000000000000000" pitchFamily="2" charset="2"/>
            </a:pPr>
            <a:r>
              <a:rPr lang="zh-CN" altLang="zh-CN" b="1" dirty="0">
                <a:solidFill>
                  <a:srgbClr val="CC0099"/>
                </a:solidFill>
                <a:latin typeface="Tahoma" panose="020B0604030504040204" pitchFamily="34" charset="0"/>
                <a:ea typeface="宋体" panose="02010600030101010101" pitchFamily="2" charset="-122"/>
              </a:rPr>
              <a:t>    P(mutex);</a:t>
            </a:r>
            <a:r>
              <a:rPr lang="zh-CN" altLang="zh-CN" b="1" dirty="0">
                <a:solidFill>
                  <a:srgbClr val="000000"/>
                </a:solidFill>
                <a:latin typeface="Tahoma" panose="020B0604030504040204" pitchFamily="34" charset="0"/>
                <a:ea typeface="宋体" panose="02010600030101010101" pitchFamily="2" charset="-122"/>
              </a:rPr>
              <a:t> </a:t>
            </a:r>
            <a:endParaRPr lang="zh-CN" altLang="zh-CN" b="1" dirty="0">
              <a:solidFill>
                <a:srgbClr val="FF0000"/>
              </a:solidFill>
              <a:latin typeface="Tahoma" panose="020B0604030504040204" pitchFamily="34" charset="0"/>
              <a:ea typeface="宋体" panose="02010600030101010101" pitchFamily="2" charset="-122"/>
            </a:endParaRPr>
          </a:p>
          <a:p>
            <a:pPr>
              <a:spcBef>
                <a:spcPct val="20000"/>
              </a:spcBef>
              <a:buClr>
                <a:srgbClr val="3333CC"/>
              </a:buClr>
              <a:buSzPct val="60000"/>
              <a:buFont typeface="Wingdings" panose="05000000000000000000" pitchFamily="2" charset="2"/>
            </a:pPr>
            <a:r>
              <a:rPr lang="zh-CN" altLang="zh-CN" b="1" dirty="0">
                <a:solidFill>
                  <a:srgbClr val="000000"/>
                </a:solidFill>
                <a:latin typeface="Tahoma" panose="020B0604030504040204" pitchFamily="34" charset="0"/>
                <a:ea typeface="宋体" panose="02010600030101010101" pitchFamily="2" charset="-122"/>
              </a:rPr>
              <a:t>    </a:t>
            </a:r>
            <a:r>
              <a:rPr lang="zh-CN" altLang="en-US" b="1" dirty="0">
                <a:solidFill>
                  <a:srgbClr val="000000"/>
                </a:solidFill>
                <a:latin typeface="Tahoma" panose="020B0604030504040204" pitchFamily="34" charset="0"/>
                <a:ea typeface="宋体" panose="02010600030101010101" pitchFamily="2" charset="-122"/>
              </a:rPr>
              <a:t>从</a:t>
            </a:r>
            <a:r>
              <a:rPr lang="zh-CN" altLang="zh-CN" b="1" dirty="0">
                <a:solidFill>
                  <a:srgbClr val="000000"/>
                </a:solidFill>
                <a:latin typeface="Tahoma" panose="020B0604030504040204" pitchFamily="34" charset="0"/>
                <a:ea typeface="宋体" panose="02010600030101010101" pitchFamily="2" charset="-122"/>
              </a:rPr>
              <a:t>buffer(j)</a:t>
            </a:r>
            <a:r>
              <a:rPr lang="zh-CN" altLang="en-US" b="1" dirty="0">
                <a:solidFill>
                  <a:srgbClr val="000000"/>
                </a:solidFill>
                <a:latin typeface="Tahoma" panose="020B0604030504040204" pitchFamily="34" charset="0"/>
                <a:ea typeface="宋体" panose="02010600030101010101" pitchFamily="2" charset="-122"/>
              </a:rPr>
              <a:t>中取出信息</a:t>
            </a:r>
            <a:r>
              <a:rPr lang="zh-CN" altLang="zh-CN" b="1" dirty="0">
                <a:solidFill>
                  <a:srgbClr val="000000"/>
                </a:solidFill>
                <a:latin typeface="Tahoma" panose="020B0604030504040204" pitchFamily="34" charset="0"/>
                <a:ea typeface="宋体" panose="02010600030101010101" pitchFamily="2" charset="-122"/>
              </a:rPr>
              <a:t>; </a:t>
            </a:r>
          </a:p>
          <a:p>
            <a:pPr>
              <a:spcBef>
                <a:spcPct val="20000"/>
              </a:spcBef>
              <a:buClr>
                <a:srgbClr val="3333CC"/>
              </a:buClr>
              <a:buSzPct val="60000"/>
              <a:buFont typeface="Wingdings" panose="05000000000000000000" pitchFamily="2" charset="2"/>
            </a:pPr>
            <a:r>
              <a:rPr lang="zh-CN" altLang="zh-CN" b="1" dirty="0">
                <a:solidFill>
                  <a:srgbClr val="000000"/>
                </a:solidFill>
                <a:latin typeface="Tahoma" panose="020B0604030504040204" pitchFamily="34" charset="0"/>
                <a:ea typeface="宋体" panose="02010600030101010101" pitchFamily="2" charset="-122"/>
              </a:rPr>
              <a:t>    j=j+1; 	</a:t>
            </a:r>
          </a:p>
          <a:p>
            <a:pPr>
              <a:spcBef>
                <a:spcPct val="20000"/>
              </a:spcBef>
              <a:buClr>
                <a:srgbClr val="3333CC"/>
              </a:buClr>
              <a:buSzPct val="60000"/>
              <a:buFont typeface="Wingdings" panose="05000000000000000000" pitchFamily="2" charset="2"/>
            </a:pPr>
            <a:r>
              <a:rPr lang="zh-CN" altLang="zh-CN" b="1" dirty="0">
                <a:solidFill>
                  <a:srgbClr val="CC0099"/>
                </a:solidFill>
                <a:latin typeface="Tahoma" panose="020B0604030504040204" pitchFamily="34" charset="0"/>
                <a:ea typeface="宋体" panose="02010600030101010101" pitchFamily="2" charset="-122"/>
              </a:rPr>
              <a:t>    V(mutex);</a:t>
            </a:r>
            <a:r>
              <a:rPr lang="zh-CN" altLang="zh-CN" b="1" dirty="0">
                <a:solidFill>
                  <a:srgbClr val="000000"/>
                </a:solidFill>
                <a:latin typeface="Tahoma" panose="020B0604030504040204" pitchFamily="34" charset="0"/>
                <a:ea typeface="宋体" panose="02010600030101010101" pitchFamily="2" charset="-122"/>
              </a:rPr>
              <a:t>         </a:t>
            </a:r>
          </a:p>
          <a:p>
            <a:pPr>
              <a:spcBef>
                <a:spcPct val="20000"/>
              </a:spcBef>
              <a:buClr>
                <a:srgbClr val="3333CC"/>
              </a:buClr>
              <a:buSzPct val="60000"/>
              <a:buFont typeface="Wingdings" panose="05000000000000000000" pitchFamily="2" charset="2"/>
            </a:pPr>
            <a:r>
              <a:rPr lang="zh-CN" altLang="zh-CN" b="1" dirty="0">
                <a:solidFill>
                  <a:srgbClr val="FF0000"/>
                </a:solidFill>
                <a:latin typeface="Tahoma" panose="020B0604030504040204" pitchFamily="34" charset="0"/>
                <a:ea typeface="宋体" panose="02010600030101010101" pitchFamily="2" charset="-122"/>
              </a:rPr>
              <a:t>    	</a:t>
            </a:r>
            <a:r>
              <a:rPr lang="zh-CN" altLang="zh-CN" b="1" dirty="0">
                <a:solidFill>
                  <a:srgbClr val="CC0099"/>
                </a:solidFill>
                <a:latin typeface="Tahoma" panose="020B0604030504040204" pitchFamily="34" charset="0"/>
                <a:ea typeface="宋体" panose="02010600030101010101" pitchFamily="2" charset="-122"/>
              </a:rPr>
              <a:t>	</a:t>
            </a:r>
            <a:r>
              <a:rPr lang="zh-CN" altLang="zh-CN" b="1" dirty="0">
                <a:solidFill>
                  <a:srgbClr val="000000"/>
                </a:solidFill>
                <a:latin typeface="Tahoma" panose="020B0604030504040204" pitchFamily="34" charset="0"/>
                <a:ea typeface="宋体" panose="02010600030101010101" pitchFamily="2" charset="-122"/>
              </a:rPr>
              <a:t> </a:t>
            </a:r>
          </a:p>
          <a:p>
            <a:pPr>
              <a:spcBef>
                <a:spcPct val="20000"/>
              </a:spcBef>
              <a:buClr>
                <a:srgbClr val="3333CC"/>
              </a:buClr>
              <a:buSzPct val="60000"/>
              <a:buFont typeface="Wingdings" panose="05000000000000000000" pitchFamily="2" charset="2"/>
            </a:pPr>
            <a:r>
              <a:rPr lang="zh-CN" altLang="zh-CN" b="1" dirty="0">
                <a:solidFill>
                  <a:srgbClr val="000000"/>
                </a:solidFill>
                <a:latin typeface="Tahoma" panose="020B0604030504040204" pitchFamily="34" charset="0"/>
                <a:ea typeface="宋体" panose="02010600030101010101" pitchFamily="2" charset="-122"/>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9" name="内容占位符 275458"/>
          <p:cNvSpPr>
            <a:spLocks noGrp="1"/>
          </p:cNvSpPr>
          <p:nvPr>
            <p:ph idx="1"/>
          </p:nvPr>
        </p:nvSpPr>
        <p:spPr>
          <a:xfrm>
            <a:off x="457200" y="2349500"/>
            <a:ext cx="8229600" cy="3670300"/>
          </a:xfrm>
          <a:ln/>
        </p:spPr>
        <p:txBody>
          <a:bodyPr vert="horz" wrap="square" lIns="91440" tIns="45720" rIns="91440" bIns="45720" anchor="t" anchorCtr="0"/>
          <a:lstStyle/>
          <a:p>
            <a:pPr eaLnBrk="1" hangingPunct="1"/>
            <a:r>
              <a:rPr lang="zh-CN" altLang="en-US" b="1" dirty="0"/>
              <a:t>读者</a:t>
            </a:r>
            <a:r>
              <a:rPr lang="en-US" altLang="zh-CN" b="1" dirty="0"/>
              <a:t>-</a:t>
            </a:r>
            <a:r>
              <a:rPr lang="zh-CN" altLang="en-US" b="1" dirty="0"/>
              <a:t>写者问题也是一个著名的进程互斥访问有限资源的同步问题。</a:t>
            </a:r>
          </a:p>
          <a:p>
            <a:pPr eaLnBrk="1" hangingPunct="1"/>
            <a:r>
              <a:rPr lang="zh-CN" altLang="en-US" b="1" dirty="0"/>
              <a:t>例如，一个航班预订系统有一个大型数据库，很多竞争进程要对它进行读、写。允许多个进程同时读该数据库，但是在任何时候如果有一个进程写（即修改）数据库，那么就不允许其他进程访问它</a:t>
            </a:r>
            <a:r>
              <a:rPr lang="en-US" altLang="zh-CN" b="1" dirty="0"/>
              <a:t>—— </a:t>
            </a:r>
            <a:r>
              <a:rPr lang="zh-CN" altLang="en-US" b="1" dirty="0"/>
              <a:t>既不允许写，也不允许读。</a:t>
            </a:r>
          </a:p>
        </p:txBody>
      </p:sp>
      <p:sp>
        <p:nvSpPr>
          <p:cNvPr id="33794" name="标题 275462"/>
          <p:cNvSpPr>
            <a:spLocks noGrp="1"/>
          </p:cNvSpPr>
          <p:nvPr>
            <p:ph type="title"/>
          </p:nvPr>
        </p:nvSpPr>
        <p:spPr>
          <a:xfrm>
            <a:off x="1150938" y="44450"/>
            <a:ext cx="7793037" cy="1143000"/>
          </a:xfrm>
          <a:ln/>
        </p:spPr>
        <p:txBody>
          <a:bodyPr vert="horz" wrap="square" lIns="91440" tIns="45720" rIns="91440" bIns="45720" anchor="b" anchorCtr="0"/>
          <a:lstStyle/>
          <a:p>
            <a:pPr eaLnBrk="1" hangingPunct="1"/>
            <a:r>
              <a:rPr lang="en-US" altLang="zh-CN" b="1" dirty="0"/>
              <a:t>2.6  </a:t>
            </a:r>
            <a:r>
              <a:rPr lang="zh-CN" altLang="en-US" b="1" dirty="0"/>
              <a:t>经典进程同步问题</a:t>
            </a:r>
          </a:p>
        </p:txBody>
      </p:sp>
      <p:sp>
        <p:nvSpPr>
          <p:cNvPr id="33795" name="文本框 275463" descr="蓝色砂纸"/>
          <p:cNvSpPr txBox="1"/>
          <p:nvPr/>
        </p:nvSpPr>
        <p:spPr>
          <a:xfrm>
            <a:off x="1908175" y="1249363"/>
            <a:ext cx="5040313" cy="955675"/>
          </a:xfrm>
          <a:prstGeom prst="rect">
            <a:avLst/>
          </a:prstGeom>
          <a:blipFill rotWithShape="0">
            <a:blip r:embed="rId2"/>
          </a:blipFill>
          <a:ln w="9525" cap="flat" cmpd="sng">
            <a:solidFill>
              <a:schemeClr val="folHlink"/>
            </a:solidFill>
            <a:prstDash val="solid"/>
            <a:miter/>
            <a:headEnd type="none" w="med" len="med"/>
            <a:tailEnd type="none" w="med" len="med"/>
          </a:ln>
        </p:spPr>
        <p:txBody>
          <a:bodyPr anchor="t" anchorCtr="0">
            <a:spAutoFit/>
          </a:bodyPr>
          <a:lstStyle/>
          <a:p>
            <a:pPr marL="457200" indent="-457200">
              <a:buClrTx/>
              <a:buFontTx/>
            </a:pPr>
            <a:r>
              <a:rPr lang="en-US" altLang="zh-CN" sz="2800" b="1" i="0" dirty="0">
                <a:solidFill>
                  <a:srgbClr val="336600"/>
                </a:solidFill>
                <a:latin typeface="Times New Roman" panose="02020603050405020304" pitchFamily="18" charset="0"/>
                <a:ea typeface="宋体" panose="02010600030101010101" pitchFamily="2" charset="-122"/>
              </a:rPr>
              <a:t>2.  </a:t>
            </a:r>
            <a:r>
              <a:rPr lang="zh-CN" altLang="en-US" sz="2800" b="1" i="0" dirty="0">
                <a:solidFill>
                  <a:srgbClr val="336600"/>
                </a:solidFill>
                <a:latin typeface="Times New Roman" panose="02020603050405020304" pitchFamily="18" charset="0"/>
                <a:ea typeface="宋体" panose="02010600030101010101" pitchFamily="2" charset="-122"/>
              </a:rPr>
              <a:t>读者－写者问题</a:t>
            </a:r>
          </a:p>
          <a:p>
            <a:pPr marL="457200" indent="-457200">
              <a:buClrTx/>
              <a:buFontTx/>
            </a:pPr>
            <a:r>
              <a:rPr lang="en-US" altLang="zh-CN" sz="2800" b="1" i="0" dirty="0">
                <a:solidFill>
                  <a:srgbClr val="336600"/>
                </a:solidFill>
                <a:latin typeface="Times New Roman" panose="02020603050405020304" pitchFamily="18" charset="0"/>
                <a:ea typeface="宋体" panose="02010600030101010101" pitchFamily="2" charset="-122"/>
              </a:rPr>
              <a:t>(the reader-writer problem)</a:t>
            </a:r>
          </a:p>
        </p:txBody>
      </p:sp>
      <p:sp>
        <p:nvSpPr>
          <p:cNvPr id="66564" name="灯片编号占位符 1"/>
          <p:cNvSpPr txBox="1">
            <a:spLocks noGrp="1" noChangeArrowheads="1"/>
          </p:cNvSpPr>
          <p:nvPr>
            <p:ph type="sldNum" sz="quarter" idx="4"/>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marL="0" marR="0" lvl="0" indent="0" algn="r" defTabSz="914400" rtl="0" eaLnBrk="1" fontAlgn="base" latinLnBrk="0" hangingPunct="1">
              <a:lnSpc>
                <a:spcPct val="100000"/>
              </a:lnSpc>
              <a:spcBef>
                <a:spcPct val="20000"/>
              </a:spcBef>
              <a:spcAft>
                <a:spcPct val="0"/>
              </a:spcAft>
              <a:buClrTx/>
              <a:buSzTx/>
              <a:buFontTx/>
              <a:buNone/>
              <a:defRPr/>
            </a:pPr>
            <a:fld id="{82DFD0E4-A200-4F86-8D4D-011C0514DEE9}" type="slidenum">
              <a:rPr kumimoji="0" lang="zh-CN"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ea"/>
              </a:rPr>
              <a:t>46</a:t>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withEffect">
                                  <p:stCondLst>
                                    <p:cond delay="0"/>
                                  </p:stCondLst>
                                  <p:childTnLst>
                                    <p:set>
                                      <p:cBhvr>
                                        <p:cTn id="6" dur="1" fill="hold">
                                          <p:stCondLst>
                                            <p:cond delay="0"/>
                                          </p:stCondLst>
                                        </p:cTn>
                                        <p:tgtEl>
                                          <p:spTgt spid="275459">
                                            <p:txEl>
                                              <p:pRg st="0" end="0"/>
                                            </p:txEl>
                                          </p:spTgt>
                                        </p:tgtEl>
                                        <p:attrNameLst>
                                          <p:attrName>style.visibility</p:attrName>
                                        </p:attrNameLst>
                                      </p:cBhvr>
                                      <p:to>
                                        <p:strVal val="visible"/>
                                      </p:to>
                                    </p:set>
                                    <p:animEffect transition="in" filter="barn(inHorizontal)">
                                      <p:cBhvr>
                                        <p:cTn id="7" dur="500"/>
                                        <p:tgtEl>
                                          <p:spTgt spid="275459">
                                            <p:txEl>
                                              <p:pRg st="0" end="0"/>
                                            </p:txEl>
                                          </p:spTgt>
                                        </p:tgtEl>
                                      </p:cBhvr>
                                    </p:animEffect>
                                  </p:childTnLst>
                                </p:cTn>
                              </p:par>
                              <p:par>
                                <p:cTn id="8" presetID="16" presetClass="entr" presetSubtype="26" fill="hold" nodeType="withEffect">
                                  <p:stCondLst>
                                    <p:cond delay="0"/>
                                  </p:stCondLst>
                                  <p:childTnLst>
                                    <p:set>
                                      <p:cBhvr>
                                        <p:cTn id="9" dur="1" fill="hold">
                                          <p:stCondLst>
                                            <p:cond delay="0"/>
                                          </p:stCondLst>
                                        </p:cTn>
                                        <p:tgtEl>
                                          <p:spTgt spid="275459">
                                            <p:txEl>
                                              <p:pRg st="1" end="1"/>
                                            </p:txEl>
                                          </p:spTgt>
                                        </p:tgtEl>
                                        <p:attrNameLst>
                                          <p:attrName>style.visibility</p:attrName>
                                        </p:attrNameLst>
                                      </p:cBhvr>
                                      <p:to>
                                        <p:strVal val="visible"/>
                                      </p:to>
                                    </p:set>
                                    <p:animEffect transition="in" filter="barn(inHorizontal)">
                                      <p:cBhvr>
                                        <p:cTn id="10" dur="500"/>
                                        <p:tgtEl>
                                          <p:spTgt spid="2754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文本占位符 290818"/>
          <p:cNvSpPr>
            <a:spLocks noGrp="1"/>
          </p:cNvSpPr>
          <p:nvPr>
            <p:ph idx="1"/>
          </p:nvPr>
        </p:nvSpPr>
        <p:spPr>
          <a:xfrm>
            <a:off x="971550" y="2017713"/>
            <a:ext cx="7772400" cy="4114800"/>
          </a:xfrm>
          <a:ln/>
        </p:spPr>
        <p:txBody>
          <a:bodyPr vert="horz" wrap="square" lIns="91440" tIns="45720" rIns="91440" bIns="45720" anchor="t" anchorCtr="0"/>
          <a:lstStyle/>
          <a:p>
            <a:pPr eaLnBrk="1" hangingPunct="1"/>
            <a:r>
              <a:rPr lang="zh-CN" altLang="en-US" sz="2800" b="1" dirty="0"/>
              <a:t>设置两个信号量：读互斥信号量</a:t>
            </a:r>
            <a:r>
              <a:rPr lang="en-US" altLang="zh-CN" sz="2800" b="1" dirty="0"/>
              <a:t>rmutex</a:t>
            </a:r>
            <a:r>
              <a:rPr lang="zh-CN" altLang="en-US" sz="2800" b="1" dirty="0"/>
              <a:t>和写互斥信号量</a:t>
            </a:r>
            <a:r>
              <a:rPr lang="en-US" altLang="zh-CN" sz="2800" b="1" dirty="0"/>
              <a:t>wmutex</a:t>
            </a:r>
            <a:r>
              <a:rPr lang="zh-CN" altLang="en-US" sz="2800" b="1" dirty="0"/>
              <a:t>。另外设立一个读计数器</a:t>
            </a:r>
            <a:r>
              <a:rPr lang="en-US" altLang="zh-CN" sz="2800" b="1" dirty="0"/>
              <a:t>readcount</a:t>
            </a:r>
            <a:r>
              <a:rPr lang="zh-CN" altLang="en-US" sz="2800" b="1" dirty="0"/>
              <a:t>，它是一个整型变量，初值为</a:t>
            </a:r>
            <a:r>
              <a:rPr lang="en-US" altLang="zh-CN" sz="2800" b="1" dirty="0"/>
              <a:t>0</a:t>
            </a:r>
            <a:r>
              <a:rPr lang="zh-CN" altLang="en-US" sz="2800" b="1" dirty="0"/>
              <a:t>。</a:t>
            </a:r>
          </a:p>
          <a:p>
            <a:pPr eaLnBrk="1" hangingPunct="1"/>
            <a:r>
              <a:rPr lang="en-US" altLang="zh-CN" sz="2800" b="1" dirty="0"/>
              <a:t>rmutex</a:t>
            </a:r>
            <a:r>
              <a:rPr lang="zh-CN" altLang="en-US" sz="2800" b="1" dirty="0"/>
              <a:t>：用于读者互斥地访问</a:t>
            </a:r>
            <a:r>
              <a:rPr lang="en-US" altLang="zh-CN" sz="2800" b="1" dirty="0"/>
              <a:t>readcount</a:t>
            </a:r>
            <a:r>
              <a:rPr lang="zh-CN" altLang="en-US" sz="2800" b="1" dirty="0"/>
              <a:t>，初值为</a:t>
            </a:r>
            <a:r>
              <a:rPr lang="en-US" altLang="zh-CN" sz="2800" b="1" dirty="0"/>
              <a:t>1</a:t>
            </a:r>
            <a:r>
              <a:rPr lang="zh-CN" altLang="en-US" sz="2800" b="1" dirty="0"/>
              <a:t>。</a:t>
            </a:r>
          </a:p>
          <a:p>
            <a:pPr eaLnBrk="1" hangingPunct="1"/>
            <a:r>
              <a:rPr lang="en-US" altLang="zh-CN" sz="2800" b="1" dirty="0"/>
              <a:t>wmutex</a:t>
            </a:r>
            <a:r>
              <a:rPr lang="zh-CN" altLang="en-US" sz="2800" b="1" dirty="0"/>
              <a:t>：用于保证一个写者与其他读者</a:t>
            </a:r>
            <a:r>
              <a:rPr lang="en-US" altLang="zh-CN" sz="2800" b="1" dirty="0"/>
              <a:t>/</a:t>
            </a:r>
            <a:r>
              <a:rPr lang="zh-CN" altLang="en-US" sz="2800" b="1" dirty="0"/>
              <a:t>写者互斥地访问共享资源，初值为</a:t>
            </a:r>
            <a:r>
              <a:rPr lang="en-US" altLang="zh-CN" sz="2800" b="1" dirty="0"/>
              <a:t>1</a:t>
            </a:r>
            <a:r>
              <a:rPr lang="zh-CN" altLang="en-US" sz="2800" b="1" dirty="0"/>
              <a:t>。</a:t>
            </a:r>
          </a:p>
        </p:txBody>
      </p:sp>
      <p:sp>
        <p:nvSpPr>
          <p:cNvPr id="34818" name="标题 290820"/>
          <p:cNvSpPr>
            <a:spLocks noGrp="1"/>
          </p:cNvSpPr>
          <p:nvPr>
            <p:ph type="title"/>
          </p:nvPr>
        </p:nvSpPr>
        <p:spPr>
          <a:xfrm>
            <a:off x="1150938" y="704850"/>
            <a:ext cx="7793037" cy="779463"/>
          </a:xfrm>
          <a:ln/>
        </p:spPr>
        <p:txBody>
          <a:bodyPr vert="horz" wrap="square" lIns="91440" tIns="45720" rIns="91440" bIns="45720" anchor="b" anchorCtr="0"/>
          <a:lstStyle/>
          <a:p>
            <a:pPr eaLnBrk="1" hangingPunct="1"/>
            <a:r>
              <a:rPr lang="en-US" altLang="zh-CN" b="1" dirty="0"/>
              <a:t>2</a:t>
            </a:r>
            <a:r>
              <a:rPr lang="zh-CN" altLang="en-US" b="1" dirty="0"/>
              <a:t>．读者</a:t>
            </a:r>
            <a:r>
              <a:rPr lang="en-US" altLang="zh-CN" b="1" dirty="0"/>
              <a:t>-</a:t>
            </a:r>
            <a:r>
              <a:rPr lang="zh-CN" altLang="en-US" b="1" dirty="0"/>
              <a:t>写者问题</a:t>
            </a:r>
          </a:p>
        </p:txBody>
      </p:sp>
      <p:sp>
        <p:nvSpPr>
          <p:cNvPr id="68611" name="灯片编号占位符 1"/>
          <p:cNvSpPr txBox="1">
            <a:spLocks noGrp="1" noChangeArrowheads="1"/>
          </p:cNvSpPr>
          <p:nvPr>
            <p:ph type="sldNum" sz="quarter" idx="4"/>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marL="0" marR="0" lvl="0" indent="0" algn="r" defTabSz="914400" rtl="0" eaLnBrk="1" fontAlgn="base" latinLnBrk="0" hangingPunct="1">
              <a:lnSpc>
                <a:spcPct val="100000"/>
              </a:lnSpc>
              <a:spcBef>
                <a:spcPct val="20000"/>
              </a:spcBef>
              <a:spcAft>
                <a:spcPct val="0"/>
              </a:spcAft>
              <a:buClrTx/>
              <a:buSzTx/>
              <a:buFontTx/>
              <a:buNone/>
              <a:defRPr/>
            </a:pPr>
            <a:fld id="{8BFAAEBA-F3B4-4329-B360-18EC848ACA16}" type="slidenum">
              <a:rPr kumimoji="0" lang="zh-CN"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ea"/>
              </a:rPr>
              <a:t>47</a:t>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文本占位符 302081"/>
          <p:cNvSpPr>
            <a:spLocks noGrp="1"/>
          </p:cNvSpPr>
          <p:nvPr>
            <p:ph idx="1"/>
          </p:nvPr>
        </p:nvSpPr>
        <p:spPr>
          <a:xfrm>
            <a:off x="468313" y="1341438"/>
            <a:ext cx="4546600" cy="5472112"/>
          </a:xfrm>
          <a:ln/>
        </p:spPr>
        <p:txBody>
          <a:bodyPr vert="horz" wrap="square" lIns="91440" tIns="45720" rIns="91440" bIns="45720" anchor="t" anchorCtr="0"/>
          <a:lstStyle/>
          <a:p>
            <a:pPr eaLnBrk="1" hangingPunct="1">
              <a:lnSpc>
                <a:spcPct val="80000"/>
              </a:lnSpc>
              <a:buNone/>
            </a:pPr>
            <a:r>
              <a:rPr lang="en-US" altLang="zh-CN" sz="2400" b="1" dirty="0"/>
              <a:t>}</a:t>
            </a:r>
          </a:p>
        </p:txBody>
      </p:sp>
      <p:sp>
        <p:nvSpPr>
          <p:cNvPr id="35842" name="直接连接符 302082"/>
          <p:cNvSpPr/>
          <p:nvPr/>
        </p:nvSpPr>
        <p:spPr>
          <a:xfrm flipH="1">
            <a:off x="5148263" y="1412875"/>
            <a:ext cx="0" cy="5184775"/>
          </a:xfrm>
          <a:prstGeom prst="line">
            <a:avLst/>
          </a:prstGeom>
          <a:ln w="9525" cap="flat" cmpd="sng">
            <a:solidFill>
              <a:schemeClr val="tx2"/>
            </a:solidFill>
            <a:prstDash val="solid"/>
            <a:round/>
            <a:headEnd type="none" w="med" len="med"/>
            <a:tailEnd type="none" w="med" len="med"/>
          </a:ln>
        </p:spPr>
      </p:sp>
      <p:sp>
        <p:nvSpPr>
          <p:cNvPr id="302084" name="矩形 302083"/>
          <p:cNvSpPr/>
          <p:nvPr/>
        </p:nvSpPr>
        <p:spPr>
          <a:xfrm>
            <a:off x="179388" y="261938"/>
            <a:ext cx="5329238" cy="6335713"/>
          </a:xfrm>
          <a:prstGeom prst="rect">
            <a:avLst/>
          </a:prstGeom>
          <a:solidFill>
            <a:srgbClr val="FFF3FF"/>
          </a:solidFill>
          <a:ln w="9525" cap="flat" cmpd="sng">
            <a:solidFill>
              <a:schemeClr val="tx1"/>
            </a:solidFill>
            <a:prstDash val="solid"/>
            <a:miter/>
            <a:headEnd type="none" w="med" len="med"/>
            <a:tailEnd type="none" w="med" len="med"/>
          </a:ln>
        </p:spPr>
        <p:txBody>
          <a:bodyPr wrap="none"/>
          <a:lstStyle>
            <a:lvl1pPr>
              <a:spcBef>
                <a:spcPct val="20000"/>
              </a:spcBef>
              <a:defRPr sz="2400" i="1">
                <a:solidFill>
                  <a:schemeClr val="tx1"/>
                </a:solidFill>
                <a:latin typeface="Tahoma" panose="020B0604030504040204" pitchFamily="34" charset="0"/>
                <a:ea typeface="宋体" panose="02010600030101010101" pitchFamily="2" charset="-122"/>
              </a:defRPr>
            </a:lvl1pPr>
            <a:lvl2pPr marL="742950" indent="-285750">
              <a:spcBef>
                <a:spcPct val="20000"/>
              </a:spcBef>
              <a:defRPr sz="2400" i="1">
                <a:solidFill>
                  <a:schemeClr val="tx1"/>
                </a:solidFill>
                <a:latin typeface="Tahoma" panose="020B0604030504040204" pitchFamily="34" charset="0"/>
                <a:ea typeface="宋体" panose="02010600030101010101" pitchFamily="2" charset="-122"/>
              </a:defRPr>
            </a:lvl2pPr>
            <a:lvl3pPr marL="1143000" indent="-228600">
              <a:spcBef>
                <a:spcPct val="20000"/>
              </a:spcBef>
              <a:defRPr sz="2400" i="1">
                <a:solidFill>
                  <a:schemeClr val="tx1"/>
                </a:solidFill>
                <a:latin typeface="Tahoma" panose="020B0604030504040204" pitchFamily="34" charset="0"/>
                <a:ea typeface="宋体" panose="02010600030101010101" pitchFamily="2" charset="-122"/>
              </a:defRPr>
            </a:lvl3pPr>
            <a:lvl4pPr marL="1600200" indent="-228600">
              <a:spcBef>
                <a:spcPct val="20000"/>
              </a:spcBef>
              <a:defRPr sz="2400" i="1">
                <a:solidFill>
                  <a:schemeClr val="tx1"/>
                </a:solidFill>
                <a:latin typeface="Tahoma" panose="020B0604030504040204" pitchFamily="34" charset="0"/>
                <a:ea typeface="宋体" panose="02010600030101010101" pitchFamily="2" charset="-122"/>
              </a:defRPr>
            </a:lvl4pPr>
            <a:lvl5pPr marL="2057400" indent="-228600">
              <a:spcBef>
                <a:spcPct val="20000"/>
              </a:spcBef>
              <a:defRPr sz="2400" 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defRPr sz="2400" 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2400" b="0" i="0"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读者</a:t>
            </a:r>
            <a:r>
              <a:rPr kumimoji="0" lang="en-US" altLang="zh-CN" sz="2400" b="0" i="0"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Readers:</a:t>
            </a:r>
            <a:r>
              <a:rPr kumimoji="0" lang="en-US" altLang="zh-CN" sz="2400" b="0"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                                   </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   while(TRUE){            </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           P(rmutex);                </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           readcount=readcount+1; </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           if(readcount==1) </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                  </a:t>
            </a:r>
            <a:r>
              <a:rPr kumimoji="0" lang="en-US" altLang="zh-CN" sz="2400" b="1" i="0" u="none" strike="noStrike" kern="1200" cap="none" spc="0" normalizeH="0" baseline="0" noProof="1">
                <a:ln>
                  <a:noFill/>
                </a:ln>
                <a:solidFill>
                  <a:schemeClr val="hlink"/>
                </a:solidFill>
                <a:effectLst/>
                <a:uLnTx/>
                <a:uFillTx/>
                <a:latin typeface="Tahoma" panose="020B0604030504040204" pitchFamily="34" charset="0"/>
                <a:ea typeface="宋体" panose="02010600030101010101" pitchFamily="2" charset="-122"/>
                <a:cs typeface="+mn-cs"/>
              </a:rPr>
              <a:t>P(wmutex);</a:t>
            </a:r>
            <a:r>
              <a:rPr kumimoji="0" lang="en-US" altLang="zh-CN"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 </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           V(rmutex);</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          </a:t>
            </a:r>
            <a:r>
              <a:rPr kumimoji="0" lang="zh-CN" altLang="en-US"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执行读操作</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          </a:t>
            </a:r>
            <a:r>
              <a:rPr kumimoji="0" lang="en-US" altLang="zh-CN"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P(rmutex);</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          readcount=readcount-1;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          if(readcount==0)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                  </a:t>
            </a:r>
            <a:r>
              <a:rPr kumimoji="0" lang="en-US" altLang="zh-CN" sz="2400" b="1" i="0" u="none" strike="noStrike" kern="1200" cap="none" spc="0" normalizeH="0" baseline="0" noProof="1">
                <a:ln>
                  <a:noFill/>
                </a:ln>
                <a:solidFill>
                  <a:schemeClr val="hlink"/>
                </a:solidFill>
                <a:effectLst/>
                <a:uLnTx/>
                <a:uFillTx/>
                <a:latin typeface="Tahoma" panose="020B0604030504040204" pitchFamily="34" charset="0"/>
                <a:ea typeface="宋体" panose="02010600030101010101" pitchFamily="2" charset="-122"/>
                <a:cs typeface="+mn-cs"/>
              </a:rPr>
              <a:t>V(wmutex);</a:t>
            </a:r>
            <a:endParaRPr kumimoji="0" lang="en-US" altLang="zh-CN"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          V(rmutex);</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          </a:t>
            </a:r>
            <a:r>
              <a:rPr kumimoji="0" lang="zh-CN" altLang="en-US" sz="2400" b="1" i="0" u="none" strike="noStrike" kern="1200" cap="none" spc="0" normalizeH="0" baseline="0" noProof="1">
                <a:ln>
                  <a:noFill/>
                </a:ln>
                <a:solidFill>
                  <a:schemeClr val="tx1"/>
                </a:solidFill>
                <a:effectLst/>
                <a:uLnTx/>
                <a:uFillTx/>
                <a:latin typeface="Tahoma" panose="020B0604030504040204" pitchFamily="34" charset="0"/>
                <a:ea typeface="宋体" panose="02010600030101010101" pitchFamily="2" charset="-122"/>
                <a:cs typeface="+mn-cs"/>
              </a:rPr>
              <a:t>使用读取的数据</a:t>
            </a:r>
          </a:p>
        </p:txBody>
      </p:sp>
      <p:grpSp>
        <p:nvGrpSpPr>
          <p:cNvPr id="35844" name="组合 302084"/>
          <p:cNvGrpSpPr/>
          <p:nvPr/>
        </p:nvGrpSpPr>
        <p:grpSpPr>
          <a:xfrm>
            <a:off x="827088" y="1412875"/>
            <a:ext cx="304800" cy="1728788"/>
            <a:chOff x="521" y="890"/>
            <a:chExt cx="192" cy="720"/>
          </a:xfrm>
        </p:grpSpPr>
        <p:sp>
          <p:nvSpPr>
            <p:cNvPr id="35845" name="直接连接符 302085"/>
            <p:cNvSpPr/>
            <p:nvPr/>
          </p:nvSpPr>
          <p:spPr>
            <a:xfrm>
              <a:off x="521" y="890"/>
              <a:ext cx="192" cy="0"/>
            </a:xfrm>
            <a:prstGeom prst="line">
              <a:avLst/>
            </a:prstGeom>
            <a:ln w="50800" cap="flat" cmpd="sng">
              <a:solidFill>
                <a:schemeClr val="hlink"/>
              </a:solidFill>
              <a:prstDash val="solid"/>
              <a:miter/>
              <a:headEnd type="none" w="med" len="med"/>
              <a:tailEnd type="none" w="med" len="med"/>
            </a:ln>
          </p:spPr>
        </p:sp>
        <p:sp>
          <p:nvSpPr>
            <p:cNvPr id="35846" name="直接连接符 302086"/>
            <p:cNvSpPr/>
            <p:nvPr/>
          </p:nvSpPr>
          <p:spPr>
            <a:xfrm>
              <a:off x="521" y="890"/>
              <a:ext cx="0" cy="720"/>
            </a:xfrm>
            <a:prstGeom prst="line">
              <a:avLst/>
            </a:prstGeom>
            <a:ln w="50800" cap="flat" cmpd="sng">
              <a:solidFill>
                <a:schemeClr val="hlink"/>
              </a:solidFill>
              <a:prstDash val="solid"/>
              <a:miter/>
              <a:headEnd type="none" w="med" len="med"/>
              <a:tailEnd type="none" w="med" len="med"/>
            </a:ln>
          </p:spPr>
        </p:sp>
        <p:sp>
          <p:nvSpPr>
            <p:cNvPr id="35847" name="直接连接符 302087"/>
            <p:cNvSpPr/>
            <p:nvPr/>
          </p:nvSpPr>
          <p:spPr>
            <a:xfrm>
              <a:off x="521" y="1610"/>
              <a:ext cx="192" cy="0"/>
            </a:xfrm>
            <a:prstGeom prst="line">
              <a:avLst/>
            </a:prstGeom>
            <a:ln w="50800" cap="flat" cmpd="sng">
              <a:solidFill>
                <a:schemeClr val="hlink"/>
              </a:solidFill>
              <a:prstDash val="solid"/>
              <a:miter/>
              <a:headEnd type="none" w="med" len="med"/>
              <a:tailEnd type="none" w="med" len="med"/>
            </a:ln>
          </p:spPr>
        </p:sp>
      </p:grpSp>
      <p:grpSp>
        <p:nvGrpSpPr>
          <p:cNvPr id="35848" name="组合 302088"/>
          <p:cNvGrpSpPr/>
          <p:nvPr/>
        </p:nvGrpSpPr>
        <p:grpSpPr>
          <a:xfrm>
            <a:off x="755650" y="4005263"/>
            <a:ext cx="304800" cy="1728787"/>
            <a:chOff x="521" y="890"/>
            <a:chExt cx="192" cy="720"/>
          </a:xfrm>
        </p:grpSpPr>
        <p:sp>
          <p:nvSpPr>
            <p:cNvPr id="35849" name="直接连接符 302089"/>
            <p:cNvSpPr/>
            <p:nvPr/>
          </p:nvSpPr>
          <p:spPr>
            <a:xfrm>
              <a:off x="521" y="890"/>
              <a:ext cx="192" cy="0"/>
            </a:xfrm>
            <a:prstGeom prst="line">
              <a:avLst/>
            </a:prstGeom>
            <a:ln w="50800" cap="flat" cmpd="sng">
              <a:solidFill>
                <a:schemeClr val="hlink"/>
              </a:solidFill>
              <a:prstDash val="solid"/>
              <a:miter/>
              <a:headEnd type="none" w="med" len="med"/>
              <a:tailEnd type="none" w="med" len="med"/>
            </a:ln>
          </p:spPr>
        </p:sp>
        <p:sp>
          <p:nvSpPr>
            <p:cNvPr id="35850" name="直接连接符 302090"/>
            <p:cNvSpPr/>
            <p:nvPr/>
          </p:nvSpPr>
          <p:spPr>
            <a:xfrm>
              <a:off x="521" y="890"/>
              <a:ext cx="0" cy="720"/>
            </a:xfrm>
            <a:prstGeom prst="line">
              <a:avLst/>
            </a:prstGeom>
            <a:ln w="50800" cap="flat" cmpd="sng">
              <a:solidFill>
                <a:schemeClr val="hlink"/>
              </a:solidFill>
              <a:prstDash val="solid"/>
              <a:miter/>
              <a:headEnd type="none" w="med" len="med"/>
              <a:tailEnd type="none" w="med" len="med"/>
            </a:ln>
          </p:spPr>
        </p:sp>
        <p:sp>
          <p:nvSpPr>
            <p:cNvPr id="35851" name="直接连接符 302091"/>
            <p:cNvSpPr/>
            <p:nvPr/>
          </p:nvSpPr>
          <p:spPr>
            <a:xfrm>
              <a:off x="521" y="1610"/>
              <a:ext cx="192" cy="0"/>
            </a:xfrm>
            <a:prstGeom prst="line">
              <a:avLst/>
            </a:prstGeom>
            <a:ln w="50800" cap="flat" cmpd="sng">
              <a:solidFill>
                <a:schemeClr val="hlink"/>
              </a:solidFill>
              <a:prstDash val="solid"/>
              <a:miter/>
              <a:headEnd type="none" w="med" len="med"/>
              <a:tailEnd type="none" w="med" len="med"/>
            </a:ln>
          </p:spPr>
        </p:sp>
      </p:grpSp>
      <p:sp>
        <p:nvSpPr>
          <p:cNvPr id="35852" name="矩形 302092"/>
          <p:cNvSpPr/>
          <p:nvPr/>
        </p:nvSpPr>
        <p:spPr>
          <a:xfrm>
            <a:off x="5724525" y="260350"/>
            <a:ext cx="3240088" cy="3644900"/>
          </a:xfrm>
          <a:prstGeom prst="rect">
            <a:avLst/>
          </a:prstGeom>
          <a:solidFill>
            <a:srgbClr val="FFF3FF"/>
          </a:solidFill>
          <a:ln w="9525" cap="flat" cmpd="sng">
            <a:solidFill>
              <a:schemeClr val="tx1"/>
            </a:solidFill>
            <a:prstDash val="solid"/>
            <a:miter/>
            <a:headEnd type="none" w="med" len="med"/>
            <a:tailEnd type="none" w="med" len="med"/>
          </a:ln>
        </p:spPr>
        <p:txBody>
          <a:bodyPr wrap="none" anchor="t" anchorCtr="0"/>
          <a:lstStyle/>
          <a:p>
            <a:pPr>
              <a:spcBef>
                <a:spcPct val="20000"/>
              </a:spcBef>
              <a:buClr>
                <a:schemeClr val="folHlink"/>
              </a:buClr>
              <a:buSzPct val="60000"/>
              <a:buFontTx/>
            </a:pPr>
            <a:r>
              <a:rPr lang="zh-CN" altLang="en-US" b="1" i="0" dirty="0">
                <a:solidFill>
                  <a:schemeClr val="tx2"/>
                </a:solidFill>
                <a:latin typeface="Tahoma" panose="020B0604030504040204" pitchFamily="34" charset="0"/>
                <a:ea typeface="宋体" panose="02010600030101010101" pitchFamily="2" charset="-122"/>
              </a:rPr>
              <a:t>写者</a:t>
            </a:r>
            <a:r>
              <a:rPr lang="en-US" altLang="zh-CN" b="1" i="0" dirty="0">
                <a:solidFill>
                  <a:schemeClr val="tx2"/>
                </a:solidFill>
                <a:latin typeface="Tahoma" panose="020B0604030504040204" pitchFamily="34" charset="0"/>
                <a:ea typeface="宋体" panose="02010600030101010101" pitchFamily="2" charset="-122"/>
              </a:rPr>
              <a:t>Writers</a:t>
            </a:r>
            <a:r>
              <a:rPr lang="zh-CN" altLang="en-US" b="1" i="0" dirty="0">
                <a:solidFill>
                  <a:schemeClr val="tx2"/>
                </a:solidFill>
                <a:latin typeface="Tahoma" panose="020B0604030504040204" pitchFamily="34" charset="0"/>
                <a:ea typeface="宋体" panose="02010600030101010101" pitchFamily="2" charset="-122"/>
              </a:rPr>
              <a:t>：</a:t>
            </a:r>
          </a:p>
          <a:p>
            <a:pPr>
              <a:spcBef>
                <a:spcPct val="20000"/>
              </a:spcBef>
              <a:buClr>
                <a:schemeClr val="folHlink"/>
              </a:buClr>
              <a:buSzPct val="60000"/>
              <a:buFontTx/>
            </a:pPr>
            <a:r>
              <a:rPr lang="zh-CN" altLang="en-US" b="1" i="0" dirty="0">
                <a:latin typeface="Tahoma" panose="020B0604030504040204" pitchFamily="34" charset="0"/>
                <a:ea typeface="宋体" panose="02010600030101010101" pitchFamily="2" charset="-122"/>
              </a:rPr>
              <a:t> </a:t>
            </a:r>
            <a:r>
              <a:rPr lang="en-US" altLang="zh-CN" b="1" i="0" dirty="0">
                <a:latin typeface="Tahoma" panose="020B0604030504040204" pitchFamily="34" charset="0"/>
                <a:ea typeface="宋体" panose="02010600030101010101" pitchFamily="2" charset="-122"/>
              </a:rPr>
              <a:t>while(TRUE)</a:t>
            </a:r>
          </a:p>
          <a:p>
            <a:pPr>
              <a:spcBef>
                <a:spcPct val="20000"/>
              </a:spcBef>
              <a:buClr>
                <a:schemeClr val="folHlink"/>
              </a:buClr>
              <a:buSzPct val="60000"/>
              <a:buFontTx/>
            </a:pPr>
            <a:r>
              <a:rPr lang="en-US" altLang="zh-CN" b="1" i="0" dirty="0">
                <a:latin typeface="Tahoma" panose="020B0604030504040204" pitchFamily="34" charset="0"/>
                <a:ea typeface="宋体" panose="02010600030101010101" pitchFamily="2" charset="-122"/>
              </a:rPr>
              <a:t> {</a:t>
            </a:r>
          </a:p>
          <a:p>
            <a:pPr>
              <a:spcBef>
                <a:spcPct val="20000"/>
              </a:spcBef>
              <a:buClr>
                <a:schemeClr val="folHlink"/>
              </a:buClr>
              <a:buSzPct val="60000"/>
              <a:buFontTx/>
            </a:pPr>
            <a:r>
              <a:rPr lang="en-US" altLang="zh-CN" b="1" i="0" dirty="0">
                <a:latin typeface="Tahoma" panose="020B0604030504040204" pitchFamily="34" charset="0"/>
                <a:ea typeface="宋体" panose="02010600030101010101" pitchFamily="2" charset="-122"/>
              </a:rPr>
              <a:t>          P(wmutex);</a:t>
            </a:r>
          </a:p>
          <a:p>
            <a:pPr>
              <a:spcBef>
                <a:spcPct val="20000"/>
              </a:spcBef>
              <a:buClr>
                <a:schemeClr val="folHlink"/>
              </a:buClr>
              <a:buSzPct val="60000"/>
              <a:buFontTx/>
            </a:pPr>
            <a:r>
              <a:rPr lang="en-US" altLang="zh-CN" b="1" i="0" dirty="0">
                <a:latin typeface="Tahoma" panose="020B0604030504040204" pitchFamily="34" charset="0"/>
                <a:ea typeface="宋体" panose="02010600030101010101" pitchFamily="2" charset="-122"/>
              </a:rPr>
              <a:t>          </a:t>
            </a:r>
            <a:r>
              <a:rPr lang="zh-CN" altLang="en-US" b="1" i="0" dirty="0">
                <a:latin typeface="Tahoma" panose="020B0604030504040204" pitchFamily="34" charset="0"/>
                <a:ea typeface="宋体" panose="02010600030101010101" pitchFamily="2" charset="-122"/>
              </a:rPr>
              <a:t>执行写操作</a:t>
            </a:r>
          </a:p>
          <a:p>
            <a:pPr>
              <a:spcBef>
                <a:spcPct val="20000"/>
              </a:spcBef>
              <a:buClr>
                <a:schemeClr val="folHlink"/>
              </a:buClr>
              <a:buSzPct val="60000"/>
              <a:buFontTx/>
            </a:pPr>
            <a:r>
              <a:rPr lang="zh-CN" altLang="en-US" b="1" i="0" dirty="0">
                <a:latin typeface="Tahoma" panose="020B0604030504040204" pitchFamily="34" charset="0"/>
                <a:ea typeface="宋体" panose="02010600030101010101" pitchFamily="2" charset="-122"/>
              </a:rPr>
              <a:t>           </a:t>
            </a:r>
            <a:r>
              <a:rPr lang="en-US" altLang="zh-CN" b="1" i="0" dirty="0">
                <a:latin typeface="Tahoma" panose="020B0604030504040204" pitchFamily="34" charset="0"/>
                <a:ea typeface="宋体" panose="02010600030101010101" pitchFamily="2" charset="-122"/>
              </a:rPr>
              <a:t>V(wmutex);</a:t>
            </a:r>
          </a:p>
          <a:p>
            <a:pPr>
              <a:spcBef>
                <a:spcPct val="20000"/>
              </a:spcBef>
              <a:buClr>
                <a:schemeClr val="folHlink"/>
              </a:buClr>
              <a:buSzPct val="60000"/>
              <a:buFontTx/>
            </a:pPr>
            <a:r>
              <a:rPr lang="en-US" altLang="zh-CN" b="1" i="0" dirty="0">
                <a:latin typeface="Tahoma" panose="020B0604030504040204" pitchFamily="34" charset="0"/>
                <a:ea typeface="宋体" panose="02010600030101010101" pitchFamily="2" charset="-122"/>
              </a:rPr>
              <a:t>  }</a:t>
            </a:r>
          </a:p>
        </p:txBody>
      </p:sp>
      <p:sp>
        <p:nvSpPr>
          <p:cNvPr id="302096" name="文本框 302095"/>
          <p:cNvSpPr txBox="1"/>
          <p:nvPr/>
        </p:nvSpPr>
        <p:spPr>
          <a:xfrm>
            <a:off x="250825" y="1555750"/>
            <a:ext cx="549275" cy="1368425"/>
          </a:xfrm>
          <a:prstGeom prst="rect">
            <a:avLst/>
          </a:prstGeom>
          <a:noFill/>
          <a:ln w="9525">
            <a:noFill/>
          </a:ln>
        </p:spPr>
        <p:txBody>
          <a:bodyPr vert="eaVert" anchor="t" anchorCtr="0">
            <a:spAutoFit/>
          </a:bodyPr>
          <a:lstStyle/>
          <a:p>
            <a:pPr>
              <a:spcBef>
                <a:spcPct val="50000"/>
              </a:spcBef>
              <a:buClr>
                <a:schemeClr val="folHlink"/>
              </a:buClr>
              <a:buSzPct val="60000"/>
              <a:buFontTx/>
            </a:pPr>
            <a:r>
              <a:rPr lang="zh-CN" altLang="en-US" b="1" i="0" dirty="0">
                <a:solidFill>
                  <a:schemeClr val="folHlink"/>
                </a:solidFill>
                <a:latin typeface="Tahoma" panose="020B0604030504040204" pitchFamily="34" charset="0"/>
                <a:ea typeface="宋体" panose="02010600030101010101" pitchFamily="2" charset="-122"/>
              </a:rPr>
              <a:t>读者进来</a:t>
            </a:r>
          </a:p>
        </p:txBody>
      </p:sp>
      <p:sp>
        <p:nvSpPr>
          <p:cNvPr id="302097" name="文本框 302096"/>
          <p:cNvSpPr txBox="1"/>
          <p:nvPr/>
        </p:nvSpPr>
        <p:spPr>
          <a:xfrm>
            <a:off x="179388" y="4148138"/>
            <a:ext cx="549275" cy="1368425"/>
          </a:xfrm>
          <a:prstGeom prst="rect">
            <a:avLst/>
          </a:prstGeom>
          <a:noFill/>
          <a:ln w="9525">
            <a:noFill/>
          </a:ln>
        </p:spPr>
        <p:txBody>
          <a:bodyPr vert="eaVert" anchor="t" anchorCtr="0">
            <a:spAutoFit/>
          </a:bodyPr>
          <a:lstStyle/>
          <a:p>
            <a:pPr>
              <a:spcBef>
                <a:spcPct val="50000"/>
              </a:spcBef>
              <a:buClr>
                <a:schemeClr val="folHlink"/>
              </a:buClr>
              <a:buSzPct val="60000"/>
              <a:buFontTx/>
            </a:pPr>
            <a:r>
              <a:rPr lang="zh-CN" altLang="en-US" b="1" i="0" dirty="0">
                <a:solidFill>
                  <a:schemeClr val="folHlink"/>
                </a:solidFill>
                <a:latin typeface="Tahoma" panose="020B0604030504040204" pitchFamily="34" charset="0"/>
                <a:ea typeface="宋体" panose="02010600030101010101" pitchFamily="2" charset="-122"/>
              </a:rPr>
              <a:t>读者出去</a:t>
            </a:r>
          </a:p>
        </p:txBody>
      </p:sp>
      <p:sp>
        <p:nvSpPr>
          <p:cNvPr id="302098" name="圆角矩形标注 302097" descr="蓝色砂纸"/>
          <p:cNvSpPr/>
          <p:nvPr/>
        </p:nvSpPr>
        <p:spPr>
          <a:xfrm>
            <a:off x="5641975" y="5157788"/>
            <a:ext cx="3322638" cy="615950"/>
          </a:xfrm>
          <a:prstGeom prst="wedgeRoundRectCallout">
            <a:avLst>
              <a:gd name="adj1" fmla="val -40588"/>
              <a:gd name="adj2" fmla="val -171648"/>
              <a:gd name="adj3" fmla="val 16667"/>
            </a:avLst>
          </a:prstGeom>
          <a:blipFill rotWithShape="0">
            <a:blip r:embed="rId2"/>
          </a:blipFill>
          <a:ln w="9525" cap="flat" cmpd="sng">
            <a:solidFill>
              <a:schemeClr val="folHlink"/>
            </a:solidFill>
            <a:prstDash val="solid"/>
            <a:miter/>
            <a:headEnd type="none" w="med" len="med"/>
            <a:tailEnd type="none" w="med" len="med"/>
          </a:ln>
        </p:spPr>
        <p:txBody>
          <a:bodyPr anchor="t" anchorCtr="0"/>
          <a:lstStyle/>
          <a:p>
            <a:pPr algn="ctr">
              <a:buClrTx/>
              <a:buFontTx/>
            </a:pPr>
            <a:r>
              <a:rPr lang="zh-CN" altLang="en-US" sz="2800" b="1" i="0" dirty="0">
                <a:latin typeface="Tahoma" panose="020B0604030504040204" pitchFamily="34" charset="0"/>
                <a:ea typeface="宋体" panose="02010600030101010101" pitchFamily="2" charset="-122"/>
              </a:rPr>
              <a:t>读进程优先写进程</a:t>
            </a:r>
          </a:p>
        </p:txBody>
      </p:sp>
      <p:sp>
        <p:nvSpPr>
          <p:cNvPr id="75792" name="灯片编号占位符 1"/>
          <p:cNvSpPr txBox="1">
            <a:spLocks noGrp="1" noChangeArrowheads="1"/>
          </p:cNvSpPr>
          <p:nvPr>
            <p:ph type="sldNum" sz="quarter" idx="4"/>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marL="0" marR="0" lvl="0" indent="0" algn="r" defTabSz="914400" rtl="0" eaLnBrk="1" fontAlgn="base" latinLnBrk="0" hangingPunct="1">
              <a:lnSpc>
                <a:spcPct val="100000"/>
              </a:lnSpc>
              <a:spcBef>
                <a:spcPct val="20000"/>
              </a:spcBef>
              <a:spcAft>
                <a:spcPct val="0"/>
              </a:spcAft>
              <a:buClrTx/>
              <a:buSzTx/>
              <a:buFontTx/>
              <a:buNone/>
              <a:defRPr/>
            </a:pPr>
            <a:fld id="{B4EBFD26-6465-4BB0-B092-B260C118D372}" type="slidenum">
              <a:rPr kumimoji="0" lang="zh-CN"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ea"/>
              </a:rPr>
              <a:t>48</a:t>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2096"/>
                                        </p:tgtEl>
                                        <p:attrNameLst>
                                          <p:attrName>style.visibility</p:attrName>
                                        </p:attrNameLst>
                                      </p:cBhvr>
                                      <p:to>
                                        <p:strVal val="visible"/>
                                      </p:to>
                                    </p:set>
                                    <p:animEffect transition="in" filter="blinds(horizontal)">
                                      <p:cBhvr>
                                        <p:cTn id="7" dur="500"/>
                                        <p:tgtEl>
                                          <p:spTgt spid="30209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2097"/>
                                        </p:tgtEl>
                                        <p:attrNameLst>
                                          <p:attrName>style.visibility</p:attrName>
                                        </p:attrNameLst>
                                      </p:cBhvr>
                                      <p:to>
                                        <p:strVal val="visible"/>
                                      </p:to>
                                    </p:set>
                                    <p:animEffect transition="in" filter="blinds(horizontal)">
                                      <p:cBhvr>
                                        <p:cTn id="12" dur="500"/>
                                        <p:tgtEl>
                                          <p:spTgt spid="30209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02098"/>
                                        </p:tgtEl>
                                        <p:attrNameLst>
                                          <p:attrName>style.visibility</p:attrName>
                                        </p:attrNameLst>
                                      </p:cBhvr>
                                      <p:to>
                                        <p:strVal val="visible"/>
                                      </p:to>
                                    </p:set>
                                    <p:anim calcmode="lin" valueType="num">
                                      <p:cBhvr additive="base">
                                        <p:cTn id="17" dur="500" fill="hold"/>
                                        <p:tgtEl>
                                          <p:spTgt spid="302098"/>
                                        </p:tgtEl>
                                        <p:attrNameLst>
                                          <p:attrName>ppt_x</p:attrName>
                                        </p:attrNameLst>
                                      </p:cBhvr>
                                      <p:tavLst>
                                        <p:tav tm="0">
                                          <p:val>
                                            <p:strVal val="0-#ppt_w/2"/>
                                          </p:val>
                                        </p:tav>
                                        <p:tav tm="100000">
                                          <p:val>
                                            <p:strVal val="#ppt_x"/>
                                          </p:val>
                                        </p:tav>
                                      </p:tavLst>
                                    </p:anim>
                                    <p:anim calcmode="lin" valueType="num">
                                      <p:cBhvr additive="base">
                                        <p:cTn id="18" dur="500" fill="hold"/>
                                        <p:tgtEl>
                                          <p:spTgt spid="3020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96" grpId="0"/>
      <p:bldP spid="302097" grpId="0"/>
      <p:bldP spid="30209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p:cNvSpPr>
            <a:spLocks noGrp="1"/>
          </p:cNvSpPr>
          <p:nvPr>
            <p:ph type="title"/>
          </p:nvPr>
        </p:nvSpPr>
        <p:spPr>
          <a:ln/>
        </p:spPr>
        <p:txBody>
          <a:bodyPr anchor="b" anchorCtr="0"/>
          <a:lstStyle/>
          <a:p>
            <a:r>
              <a:rPr lang="zh-CN" altLang="en-US"/>
              <a:t>读写公平排队（写者优先）</a:t>
            </a:r>
          </a:p>
        </p:txBody>
      </p:sp>
      <p:sp>
        <p:nvSpPr>
          <p:cNvPr id="36866" name="内容占位符 2"/>
          <p:cNvSpPr>
            <a:spLocks noGrp="1"/>
          </p:cNvSpPr>
          <p:nvPr>
            <p:ph idx="1"/>
          </p:nvPr>
        </p:nvSpPr>
        <p:spPr>
          <a:ln/>
        </p:spPr>
        <p:txBody>
          <a:bodyPr anchor="t" anchorCtr="0"/>
          <a:lstStyle/>
          <a:p>
            <a:r>
              <a:rPr lang="zh-CN" altLang="en-US" b="1" dirty="0"/>
              <a:t>增加一个互斥信号量</a:t>
            </a:r>
            <a:r>
              <a:rPr lang="en-US" altLang="zh-CN" b="1" dirty="0">
                <a:solidFill>
                  <a:srgbClr val="FF0000"/>
                </a:solidFill>
              </a:rPr>
              <a:t>w </a:t>
            </a:r>
            <a:r>
              <a:rPr lang="zh-CN" altLang="en-US" b="1" dirty="0"/>
              <a:t>，</a:t>
            </a:r>
            <a:r>
              <a:rPr lang="zh-CN" altLang="en-US" b="1" dirty="0">
                <a:solidFill>
                  <a:srgbClr val="FF0000"/>
                </a:solidFill>
              </a:rPr>
              <a:t>实现当写进程到达时封锁后续的读进程</a:t>
            </a:r>
            <a:r>
              <a:rPr lang="zh-CN" altLang="en-US" b="1" dirty="0"/>
              <a:t>。需要在读者和写者进程中各增加一对</a:t>
            </a:r>
            <a:r>
              <a:rPr lang="en-US" altLang="zh-CN" b="1" dirty="0"/>
              <a:t>P(w)</a:t>
            </a:r>
            <a:r>
              <a:rPr lang="zh-CN" altLang="en-US" b="1" dirty="0"/>
              <a:t>和</a:t>
            </a:r>
            <a:r>
              <a:rPr lang="en-US" altLang="zh-CN" b="1" dirty="0"/>
              <a:t>V(w)</a:t>
            </a:r>
            <a:r>
              <a:rPr lang="zh-CN" altLang="en-US" b="1" dirty="0"/>
              <a:t>操作，用于控制进程按照申请顺序访问。</a:t>
            </a:r>
          </a:p>
          <a:p>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89" name="灯片编号占位符 5"/>
          <p:cNvSpPr>
            <a:spLocks noGrp="1"/>
          </p:cNvSpPr>
          <p:nvPr>
            <p:ph type="sldNum" sz="quarter" idx="12"/>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buClrTx/>
              <a:buFont typeface="Arial" panose="020B0604020202020204" pitchFamily="34" charset="0"/>
              <a:buChar char="•"/>
            </a:pPr>
            <a:fld id="{9A0DB2DC-4C9A-4742-B13C-FB6460FD3503}" type="slidenum">
              <a:rPr lang="zh-CN" altLang="zh-CN" sz="1400" i="0" dirty="0">
                <a:solidFill>
                  <a:srgbClr val="000000"/>
                </a:solidFill>
                <a:latin typeface="Arial" panose="020B0604020202020204" pitchFamily="34" charset="0"/>
                <a:ea typeface="宋体" panose="02010600030101010101" pitchFamily="2" charset="-122"/>
              </a:rPr>
              <a:t>50</a:t>
            </a:fld>
            <a:endParaRPr lang="zh-CN" altLang="zh-CN" sz="1400" i="0" dirty="0">
              <a:solidFill>
                <a:srgbClr val="000000"/>
              </a:solidFill>
              <a:latin typeface="Arial" panose="020B0604020202020204" pitchFamily="34" charset="0"/>
              <a:ea typeface="宋体" panose="02010600030101010101" pitchFamily="2" charset="-122"/>
            </a:endParaRPr>
          </a:p>
        </p:txBody>
      </p:sp>
      <p:sp>
        <p:nvSpPr>
          <p:cNvPr id="37890" name="Rectangle 2"/>
          <p:cNvSpPr>
            <a:spLocks noGrp="1"/>
          </p:cNvSpPr>
          <p:nvPr>
            <p:ph idx="1"/>
          </p:nvPr>
        </p:nvSpPr>
        <p:spPr>
          <a:xfrm>
            <a:off x="468313" y="1341438"/>
            <a:ext cx="4546600" cy="5472112"/>
          </a:xfrm>
          <a:ln/>
        </p:spPr>
        <p:txBody>
          <a:bodyPr vert="horz" wrap="square" lIns="91440" tIns="45720" rIns="91440" bIns="45720" anchor="t" anchorCtr="0"/>
          <a:lstStyle/>
          <a:p>
            <a:pPr eaLnBrk="1" hangingPunct="1">
              <a:lnSpc>
                <a:spcPct val="80000"/>
              </a:lnSpc>
              <a:buNone/>
            </a:pPr>
            <a:r>
              <a:rPr lang="zh-CN" altLang="zh-CN" sz="2400" b="1" dirty="0"/>
              <a:t>}</a:t>
            </a:r>
          </a:p>
        </p:txBody>
      </p:sp>
      <p:sp>
        <p:nvSpPr>
          <p:cNvPr id="2" name="Rectangle 4"/>
          <p:cNvSpPr>
            <a:spLocks noChangeArrowheads="1"/>
          </p:cNvSpPr>
          <p:nvPr/>
        </p:nvSpPr>
        <p:spPr bwMode="auto">
          <a:xfrm>
            <a:off x="34925" y="44450"/>
            <a:ext cx="4608513" cy="6624638"/>
          </a:xfrm>
          <a:prstGeom prst="rect">
            <a:avLst/>
          </a:prstGeom>
          <a:solidFill>
            <a:srgbClr val="FFF3FF"/>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en-US" sz="2400" b="1" i="0" u="none" strike="noStrike" kern="1200" cap="none" spc="0" normalizeH="0" baseline="0" noProof="0" dirty="0">
                <a:ln>
                  <a:noFill/>
                </a:ln>
                <a:solidFill>
                  <a:srgbClr val="3333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sym typeface="+mn-ea"/>
              </a:rPr>
              <a:t>读者</a:t>
            </a:r>
            <a:r>
              <a:rPr kumimoji="0" lang="zh-CN" altLang="zh-CN" sz="2400" b="1" i="0" u="none" strike="noStrike" kern="1200" cap="none" spc="0" normalizeH="0" baseline="0" noProof="0" dirty="0">
                <a:ln>
                  <a:noFill/>
                </a:ln>
                <a:solidFill>
                  <a:srgbClr val="3333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sym typeface="+mn-ea"/>
              </a:rPr>
              <a:t>Readers:</a:t>
            </a:r>
            <a:r>
              <a:rPr kumimoji="0" lang="zh-CN"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a:t>
            </a:r>
            <a:r>
              <a:rPr kumimoji="0" lang="zh-CN" altLang="zh-CN" sz="2400" b="0"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a:t>
            </a: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while(TRUE){            </a:t>
            </a: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a:t>
            </a:r>
            <a:r>
              <a:rPr kumimoji="0" lang="en-US" altLang="zh-CN" sz="2400" b="1" i="0" u="none" strike="noStrike" kern="1200" cap="none" spc="0" normalizeH="0" baseline="0" noProof="0" dirty="0">
                <a:ln>
                  <a:noFill/>
                </a:ln>
                <a:solidFill>
                  <a:srgbClr val="FF0000"/>
                </a:solidFill>
                <a:effectLst/>
                <a:uLnTx/>
                <a:uFillTx/>
                <a:latin typeface="Tahoma" panose="020B0604030504040204" pitchFamily="34" charset="0"/>
                <a:ea typeface="宋体" panose="02010600030101010101" pitchFamily="2" charset="-122"/>
                <a:cs typeface="+mn-cs"/>
                <a:sym typeface="+mn-ea"/>
              </a:rPr>
              <a:t>P(w);</a:t>
            </a: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en-US"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a:t>
            </a:r>
            <a:r>
              <a:rPr kumimoji="0" lang="zh-CN"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P(rmutex);                </a:t>
            </a: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readcount=readcount+1; </a:t>
            </a: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if(readcount==1) </a:t>
            </a: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a:t>
            </a:r>
            <a:r>
              <a:rPr kumimoji="0" lang="zh-CN" altLang="zh-CN" sz="2400" b="1" i="0" u="none" strike="noStrike" kern="1200" cap="none" spc="0" normalizeH="0" baseline="0" noProof="0" dirty="0">
                <a:ln>
                  <a:noFill/>
                </a:ln>
                <a:solidFill>
                  <a:srgbClr val="0070C0"/>
                </a:solidFill>
                <a:effectLst/>
                <a:uLnTx/>
                <a:uFillTx/>
                <a:latin typeface="Tahoma" panose="020B0604030504040204" pitchFamily="34" charset="0"/>
                <a:ea typeface="宋体" panose="02010600030101010101" pitchFamily="2" charset="-122"/>
                <a:cs typeface="+mn-cs"/>
                <a:sym typeface="+mn-ea"/>
              </a:rPr>
              <a:t>P(wmutex); </a:t>
            </a: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V(rmutex);</a:t>
            </a:r>
            <a:endParaRPr kumimoji="0" lang="en-US"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en-US"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a:t>
            </a:r>
            <a:r>
              <a:rPr kumimoji="0" lang="en-US" altLang="zh-CN" sz="2400" b="1" i="0" u="none" strike="noStrike" kern="1200" cap="none" spc="0" normalizeH="0" baseline="0" noProof="0" dirty="0">
                <a:ln>
                  <a:noFill/>
                </a:ln>
                <a:solidFill>
                  <a:srgbClr val="FF0000"/>
                </a:solidFill>
                <a:effectLst/>
                <a:uLnTx/>
                <a:uFillTx/>
                <a:latin typeface="Tahoma" panose="020B0604030504040204" pitchFamily="34" charset="0"/>
                <a:ea typeface="宋体" panose="02010600030101010101" pitchFamily="2" charset="-122"/>
                <a:cs typeface="+mn-cs"/>
                <a:sym typeface="+mn-ea"/>
              </a:rPr>
              <a:t>V(w);</a:t>
            </a:r>
            <a:endParaRPr kumimoji="0" lang="zh-CN" altLang="zh-CN" sz="2400" b="1" i="0" u="none" strike="noStrike" kern="1200" cap="none" spc="0" normalizeH="0" baseline="0" noProof="0" dirty="0">
              <a:ln>
                <a:noFill/>
              </a:ln>
              <a:solidFill>
                <a:srgbClr val="FF0000"/>
              </a:solidFill>
              <a:effectLst/>
              <a:uLnTx/>
              <a:uFillTx/>
              <a:latin typeface="Tahoma" panose="020B060403050404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a:t>
            </a:r>
            <a:r>
              <a:rPr kumimoji="0" lang="zh-CN" altLang="en-US"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执行读操作</a:t>
            </a: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en-US"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a:t>
            </a:r>
            <a:r>
              <a:rPr kumimoji="0" lang="zh-CN"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P(rmutex);</a:t>
            </a: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readcount=readcount-1;</a:t>
            </a: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if(readcount==0)</a:t>
            </a: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a:t>
            </a:r>
            <a:r>
              <a:rPr kumimoji="0" lang="zh-CN" altLang="zh-CN" sz="2400" b="1" i="0" u="none" strike="noStrike" kern="1200" cap="none" spc="0" normalizeH="0" baseline="0" noProof="0" dirty="0">
                <a:ln>
                  <a:noFill/>
                </a:ln>
                <a:solidFill>
                  <a:srgbClr val="0070C0"/>
                </a:solidFill>
                <a:effectLst/>
                <a:uLnTx/>
                <a:uFillTx/>
                <a:latin typeface="Tahoma" panose="020B0604030504040204" pitchFamily="34" charset="0"/>
                <a:ea typeface="宋体" panose="02010600030101010101" pitchFamily="2" charset="-122"/>
                <a:cs typeface="+mn-cs"/>
                <a:sym typeface="+mn-ea"/>
              </a:rPr>
              <a:t>V(wmutex);</a:t>
            </a: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sym typeface="+mn-ea"/>
              </a:rPr>
              <a:t>       V(rmutex);</a:t>
            </a:r>
          </a:p>
        </p:txBody>
      </p:sp>
      <p:grpSp>
        <p:nvGrpSpPr>
          <p:cNvPr id="37892" name="Group 5"/>
          <p:cNvGrpSpPr/>
          <p:nvPr/>
        </p:nvGrpSpPr>
        <p:grpSpPr>
          <a:xfrm>
            <a:off x="539750" y="1125538"/>
            <a:ext cx="187325" cy="2663825"/>
            <a:chOff x="0" y="0"/>
            <a:chExt cx="192" cy="720"/>
          </a:xfrm>
        </p:grpSpPr>
        <p:sp>
          <p:nvSpPr>
            <p:cNvPr id="37893" name="Line 6"/>
            <p:cNvSpPr/>
            <p:nvPr/>
          </p:nvSpPr>
          <p:spPr>
            <a:xfrm>
              <a:off x="0" y="0"/>
              <a:ext cx="192" cy="0"/>
            </a:xfrm>
            <a:prstGeom prst="line">
              <a:avLst/>
            </a:prstGeom>
            <a:ln w="50800" cap="flat" cmpd="sng">
              <a:solidFill>
                <a:schemeClr val="hlink"/>
              </a:solidFill>
              <a:prstDash val="solid"/>
              <a:round/>
              <a:headEnd type="none" w="med" len="med"/>
              <a:tailEnd type="none" w="med" len="med"/>
            </a:ln>
          </p:spPr>
        </p:sp>
        <p:sp>
          <p:nvSpPr>
            <p:cNvPr id="37894" name="Line 7"/>
            <p:cNvSpPr/>
            <p:nvPr/>
          </p:nvSpPr>
          <p:spPr>
            <a:xfrm>
              <a:off x="0" y="0"/>
              <a:ext cx="0" cy="720"/>
            </a:xfrm>
            <a:prstGeom prst="line">
              <a:avLst/>
            </a:prstGeom>
            <a:ln w="50800" cap="flat" cmpd="sng">
              <a:solidFill>
                <a:schemeClr val="hlink"/>
              </a:solidFill>
              <a:prstDash val="solid"/>
              <a:round/>
              <a:headEnd type="none" w="med" len="med"/>
              <a:tailEnd type="none" w="med" len="med"/>
            </a:ln>
          </p:spPr>
        </p:sp>
        <p:sp>
          <p:nvSpPr>
            <p:cNvPr id="37895" name="Line 8"/>
            <p:cNvSpPr/>
            <p:nvPr/>
          </p:nvSpPr>
          <p:spPr>
            <a:xfrm>
              <a:off x="0" y="720"/>
              <a:ext cx="192" cy="0"/>
            </a:xfrm>
            <a:prstGeom prst="line">
              <a:avLst/>
            </a:prstGeom>
            <a:ln w="50800" cap="flat" cmpd="sng">
              <a:solidFill>
                <a:schemeClr val="hlink"/>
              </a:solidFill>
              <a:prstDash val="solid"/>
              <a:round/>
              <a:headEnd type="none" w="med" len="med"/>
              <a:tailEnd type="none" w="med" len="med"/>
            </a:ln>
          </p:spPr>
        </p:sp>
      </p:grpSp>
      <p:grpSp>
        <p:nvGrpSpPr>
          <p:cNvPr id="37896" name="Group 9"/>
          <p:cNvGrpSpPr/>
          <p:nvPr/>
        </p:nvGrpSpPr>
        <p:grpSpPr>
          <a:xfrm>
            <a:off x="539750" y="4581525"/>
            <a:ext cx="187325" cy="1870075"/>
            <a:chOff x="0" y="0"/>
            <a:chExt cx="192" cy="720"/>
          </a:xfrm>
        </p:grpSpPr>
        <p:sp>
          <p:nvSpPr>
            <p:cNvPr id="37897" name="Line 10"/>
            <p:cNvSpPr/>
            <p:nvPr/>
          </p:nvSpPr>
          <p:spPr>
            <a:xfrm>
              <a:off x="0" y="0"/>
              <a:ext cx="192" cy="0"/>
            </a:xfrm>
            <a:prstGeom prst="line">
              <a:avLst/>
            </a:prstGeom>
            <a:ln w="50800" cap="flat" cmpd="sng">
              <a:solidFill>
                <a:schemeClr val="hlink"/>
              </a:solidFill>
              <a:prstDash val="solid"/>
              <a:round/>
              <a:headEnd type="none" w="med" len="med"/>
              <a:tailEnd type="none" w="med" len="med"/>
            </a:ln>
          </p:spPr>
        </p:sp>
        <p:sp>
          <p:nvSpPr>
            <p:cNvPr id="37898" name="Line 11"/>
            <p:cNvSpPr/>
            <p:nvPr/>
          </p:nvSpPr>
          <p:spPr>
            <a:xfrm>
              <a:off x="0" y="0"/>
              <a:ext cx="0" cy="720"/>
            </a:xfrm>
            <a:prstGeom prst="line">
              <a:avLst/>
            </a:prstGeom>
            <a:ln w="50800" cap="flat" cmpd="sng">
              <a:solidFill>
                <a:schemeClr val="hlink"/>
              </a:solidFill>
              <a:prstDash val="solid"/>
              <a:round/>
              <a:headEnd type="none" w="med" len="med"/>
              <a:tailEnd type="none" w="med" len="med"/>
            </a:ln>
          </p:spPr>
        </p:sp>
        <p:sp>
          <p:nvSpPr>
            <p:cNvPr id="37899" name="Line 12"/>
            <p:cNvSpPr/>
            <p:nvPr/>
          </p:nvSpPr>
          <p:spPr>
            <a:xfrm>
              <a:off x="0" y="720"/>
              <a:ext cx="192" cy="0"/>
            </a:xfrm>
            <a:prstGeom prst="line">
              <a:avLst/>
            </a:prstGeom>
            <a:ln w="50800" cap="flat" cmpd="sng">
              <a:solidFill>
                <a:schemeClr val="hlink"/>
              </a:solidFill>
              <a:prstDash val="solid"/>
              <a:round/>
              <a:headEnd type="none" w="med" len="med"/>
              <a:tailEnd type="none" w="med" len="med"/>
            </a:ln>
          </p:spPr>
        </p:sp>
      </p:grpSp>
      <p:sp>
        <p:nvSpPr>
          <p:cNvPr id="77832" name="Rectangle 13"/>
          <p:cNvSpPr/>
          <p:nvPr/>
        </p:nvSpPr>
        <p:spPr>
          <a:xfrm>
            <a:off x="5364163" y="44450"/>
            <a:ext cx="3240087" cy="3960813"/>
          </a:xfrm>
          <a:prstGeom prst="rect">
            <a:avLst/>
          </a:prstGeom>
          <a:solidFill>
            <a:srgbClr val="FFF3FF"/>
          </a:solidFill>
          <a:ln w="9525" cap="flat" cmpd="sng">
            <a:solidFill>
              <a:schemeClr val="tx1"/>
            </a:solidFill>
            <a:prstDash val="solid"/>
            <a:miter/>
            <a:headEnd type="none" w="med" len="med"/>
            <a:tailEnd type="none" w="med" len="med"/>
          </a:ln>
        </p:spPr>
        <p:txBody>
          <a:bodyPr wrap="none" anchor="t" anchorCtr="0"/>
          <a:lstStyle/>
          <a:p>
            <a:pPr>
              <a:spcBef>
                <a:spcPct val="20000"/>
              </a:spcBef>
              <a:buClr>
                <a:srgbClr val="3333CC"/>
              </a:buClr>
              <a:buSzPct val="60000"/>
              <a:buFont typeface="Wingdings" panose="05000000000000000000" pitchFamily="2" charset="2"/>
            </a:pPr>
            <a:r>
              <a:rPr lang="zh-CN" altLang="en-US" b="1" i="0" dirty="0">
                <a:solidFill>
                  <a:srgbClr val="333399"/>
                </a:solidFill>
                <a:latin typeface="Tahoma" panose="020B0604030504040204" pitchFamily="34" charset="0"/>
                <a:ea typeface="宋体" panose="02010600030101010101" pitchFamily="2" charset="-122"/>
              </a:rPr>
              <a:t>写者</a:t>
            </a:r>
            <a:r>
              <a:rPr lang="zh-CN" altLang="zh-CN" b="1" i="0" dirty="0">
                <a:solidFill>
                  <a:srgbClr val="333399"/>
                </a:solidFill>
                <a:latin typeface="Tahoma" panose="020B0604030504040204" pitchFamily="34" charset="0"/>
                <a:ea typeface="宋体" panose="02010600030101010101" pitchFamily="2" charset="-122"/>
              </a:rPr>
              <a:t>Writers</a:t>
            </a:r>
            <a:r>
              <a:rPr lang="zh-CN" altLang="en-US" b="1" i="0" dirty="0">
                <a:solidFill>
                  <a:srgbClr val="333399"/>
                </a:solidFill>
                <a:latin typeface="Tahoma" panose="020B0604030504040204" pitchFamily="34" charset="0"/>
                <a:ea typeface="宋体" panose="02010600030101010101" pitchFamily="2" charset="-122"/>
              </a:rPr>
              <a:t>：</a:t>
            </a:r>
          </a:p>
          <a:p>
            <a:pPr>
              <a:spcBef>
                <a:spcPct val="20000"/>
              </a:spcBef>
              <a:buClr>
                <a:srgbClr val="3333CC"/>
              </a:buClr>
              <a:buSzPct val="60000"/>
              <a:buFont typeface="Wingdings" panose="05000000000000000000" pitchFamily="2" charset="2"/>
            </a:pPr>
            <a:r>
              <a:rPr lang="zh-CN" altLang="zh-CN" b="1" i="0" dirty="0">
                <a:solidFill>
                  <a:srgbClr val="000000"/>
                </a:solidFill>
                <a:latin typeface="Tahoma" panose="020B0604030504040204" pitchFamily="34" charset="0"/>
                <a:ea typeface="宋体" panose="02010600030101010101" pitchFamily="2" charset="-122"/>
              </a:rPr>
              <a:t> while(TRUE)</a:t>
            </a:r>
          </a:p>
          <a:p>
            <a:pPr>
              <a:spcBef>
                <a:spcPct val="20000"/>
              </a:spcBef>
              <a:buClr>
                <a:srgbClr val="3333CC"/>
              </a:buClr>
              <a:buSzPct val="60000"/>
              <a:buFont typeface="Wingdings" panose="05000000000000000000" pitchFamily="2" charset="2"/>
            </a:pPr>
            <a:r>
              <a:rPr lang="zh-CN" altLang="zh-CN" b="1" i="0" dirty="0">
                <a:solidFill>
                  <a:srgbClr val="000000"/>
                </a:solidFill>
                <a:latin typeface="Tahoma" panose="020B0604030504040204" pitchFamily="34" charset="0"/>
                <a:ea typeface="宋体" panose="02010600030101010101" pitchFamily="2" charset="-122"/>
              </a:rPr>
              <a:t> {</a:t>
            </a:r>
            <a:r>
              <a:rPr lang="en-US" altLang="zh-CN" b="1" i="0" dirty="0">
                <a:solidFill>
                  <a:srgbClr val="000000"/>
                </a:solidFill>
                <a:latin typeface="Tahoma" panose="020B0604030504040204" pitchFamily="34" charset="0"/>
                <a:ea typeface="宋体" panose="02010600030101010101" pitchFamily="2" charset="-122"/>
              </a:rPr>
              <a:t>       </a:t>
            </a:r>
          </a:p>
          <a:p>
            <a:pPr>
              <a:spcBef>
                <a:spcPct val="20000"/>
              </a:spcBef>
              <a:buClr>
                <a:srgbClr val="3333CC"/>
              </a:buClr>
              <a:buSzPct val="60000"/>
              <a:buFont typeface="Wingdings" panose="05000000000000000000" pitchFamily="2" charset="2"/>
            </a:pPr>
            <a:r>
              <a:rPr lang="en-US" altLang="zh-CN" b="1" i="0" dirty="0">
                <a:solidFill>
                  <a:srgbClr val="FF0000"/>
                </a:solidFill>
                <a:latin typeface="Tahoma" panose="020B0604030504040204" pitchFamily="34" charset="0"/>
                <a:ea typeface="宋体" panose="02010600030101010101" pitchFamily="2" charset="-122"/>
              </a:rPr>
              <a:t>          p(w);</a:t>
            </a:r>
            <a:endParaRPr lang="zh-CN" altLang="zh-CN" b="1" i="0" dirty="0">
              <a:solidFill>
                <a:srgbClr val="FF0000"/>
              </a:solidFill>
              <a:latin typeface="Tahoma" panose="020B0604030504040204" pitchFamily="34" charset="0"/>
              <a:ea typeface="宋体" panose="02010600030101010101" pitchFamily="2" charset="-122"/>
            </a:endParaRPr>
          </a:p>
          <a:p>
            <a:pPr>
              <a:spcBef>
                <a:spcPct val="20000"/>
              </a:spcBef>
              <a:buClr>
                <a:srgbClr val="3333CC"/>
              </a:buClr>
              <a:buSzPct val="60000"/>
              <a:buFont typeface="Wingdings" panose="05000000000000000000" pitchFamily="2" charset="2"/>
            </a:pPr>
            <a:r>
              <a:rPr lang="zh-CN" altLang="zh-CN" b="1" i="0" dirty="0">
                <a:solidFill>
                  <a:srgbClr val="000000"/>
                </a:solidFill>
                <a:latin typeface="Tahoma" panose="020B0604030504040204" pitchFamily="34" charset="0"/>
                <a:ea typeface="宋体" panose="02010600030101010101" pitchFamily="2" charset="-122"/>
              </a:rPr>
              <a:t>          P(wmutex);</a:t>
            </a:r>
          </a:p>
          <a:p>
            <a:pPr>
              <a:spcBef>
                <a:spcPct val="20000"/>
              </a:spcBef>
              <a:buClr>
                <a:srgbClr val="3333CC"/>
              </a:buClr>
              <a:buSzPct val="60000"/>
              <a:buFont typeface="Wingdings" panose="05000000000000000000" pitchFamily="2" charset="2"/>
            </a:pPr>
            <a:r>
              <a:rPr lang="zh-CN" altLang="zh-CN" b="1" i="0" dirty="0">
                <a:solidFill>
                  <a:srgbClr val="000000"/>
                </a:solidFill>
                <a:latin typeface="Tahoma" panose="020B0604030504040204" pitchFamily="34" charset="0"/>
                <a:ea typeface="宋体" panose="02010600030101010101" pitchFamily="2" charset="-122"/>
              </a:rPr>
              <a:t>          </a:t>
            </a:r>
            <a:r>
              <a:rPr lang="zh-CN" altLang="en-US" b="1" i="0" dirty="0">
                <a:solidFill>
                  <a:srgbClr val="000000"/>
                </a:solidFill>
                <a:latin typeface="Tahoma" panose="020B0604030504040204" pitchFamily="34" charset="0"/>
                <a:ea typeface="宋体" panose="02010600030101010101" pitchFamily="2" charset="-122"/>
              </a:rPr>
              <a:t>执行写操作</a:t>
            </a:r>
          </a:p>
          <a:p>
            <a:pPr>
              <a:spcBef>
                <a:spcPct val="20000"/>
              </a:spcBef>
              <a:buClr>
                <a:srgbClr val="3333CC"/>
              </a:buClr>
              <a:buSzPct val="60000"/>
              <a:buFont typeface="Wingdings" panose="05000000000000000000" pitchFamily="2" charset="2"/>
            </a:pPr>
            <a:r>
              <a:rPr lang="zh-CN" altLang="zh-CN" b="1" i="0" dirty="0">
                <a:solidFill>
                  <a:srgbClr val="000000"/>
                </a:solidFill>
                <a:latin typeface="Tahoma" panose="020B0604030504040204" pitchFamily="34" charset="0"/>
                <a:ea typeface="宋体" panose="02010600030101010101" pitchFamily="2" charset="-122"/>
              </a:rPr>
              <a:t>           V(wmutex);</a:t>
            </a:r>
            <a:endParaRPr lang="en-US" altLang="zh-CN" b="1" i="0" dirty="0">
              <a:solidFill>
                <a:srgbClr val="000000"/>
              </a:solidFill>
              <a:latin typeface="Tahoma" panose="020B0604030504040204" pitchFamily="34" charset="0"/>
              <a:ea typeface="宋体" panose="02010600030101010101" pitchFamily="2" charset="-122"/>
            </a:endParaRPr>
          </a:p>
          <a:p>
            <a:pPr>
              <a:spcBef>
                <a:spcPct val="20000"/>
              </a:spcBef>
              <a:buClr>
                <a:srgbClr val="3333CC"/>
              </a:buClr>
              <a:buSzPct val="60000"/>
              <a:buFont typeface="Wingdings" panose="05000000000000000000" pitchFamily="2" charset="2"/>
            </a:pPr>
            <a:r>
              <a:rPr lang="en-US" altLang="zh-CN" b="1" i="0" dirty="0">
                <a:solidFill>
                  <a:srgbClr val="000000"/>
                </a:solidFill>
                <a:latin typeface="Tahoma" panose="020B0604030504040204" pitchFamily="34" charset="0"/>
                <a:ea typeface="宋体" panose="02010600030101010101" pitchFamily="2" charset="-122"/>
              </a:rPr>
              <a:t>           </a:t>
            </a:r>
            <a:r>
              <a:rPr lang="en-US" altLang="zh-CN" b="1" i="0" dirty="0">
                <a:solidFill>
                  <a:srgbClr val="FF0000"/>
                </a:solidFill>
                <a:latin typeface="Tahoma" panose="020B0604030504040204" pitchFamily="34" charset="0"/>
                <a:ea typeface="宋体" panose="02010600030101010101" pitchFamily="2" charset="-122"/>
              </a:rPr>
              <a:t>V(w);</a:t>
            </a:r>
            <a:endParaRPr lang="zh-CN" altLang="zh-CN" b="1" i="0" dirty="0">
              <a:solidFill>
                <a:srgbClr val="FF0000"/>
              </a:solidFill>
              <a:latin typeface="Tahoma" panose="020B0604030504040204" pitchFamily="34" charset="0"/>
              <a:ea typeface="宋体" panose="02010600030101010101" pitchFamily="2" charset="-122"/>
            </a:endParaRPr>
          </a:p>
          <a:p>
            <a:pPr>
              <a:spcBef>
                <a:spcPct val="20000"/>
              </a:spcBef>
              <a:buClr>
                <a:srgbClr val="3333CC"/>
              </a:buClr>
              <a:buSzPct val="60000"/>
              <a:buFont typeface="Wingdings" panose="05000000000000000000" pitchFamily="2" charset="2"/>
            </a:pPr>
            <a:r>
              <a:rPr lang="zh-CN" altLang="zh-CN" b="1" i="0" dirty="0">
                <a:solidFill>
                  <a:srgbClr val="000000"/>
                </a:solidFill>
                <a:latin typeface="Tahoma" panose="020B0604030504040204" pitchFamily="34" charset="0"/>
                <a:ea typeface="宋体" panose="02010600030101010101" pitchFamily="2" charset="-122"/>
              </a:rPr>
              <a:t>  }</a:t>
            </a:r>
          </a:p>
        </p:txBody>
      </p:sp>
      <p:sp>
        <p:nvSpPr>
          <p:cNvPr id="37901" name="Text Box 14"/>
          <p:cNvSpPr txBox="1"/>
          <p:nvPr/>
        </p:nvSpPr>
        <p:spPr>
          <a:xfrm>
            <a:off x="34925" y="1555750"/>
            <a:ext cx="549275" cy="1368425"/>
          </a:xfrm>
          <a:prstGeom prst="rect">
            <a:avLst/>
          </a:prstGeom>
          <a:noFill/>
          <a:ln w="9525">
            <a:noFill/>
          </a:ln>
        </p:spPr>
        <p:txBody>
          <a:bodyPr vert="eaVert" anchor="t" anchorCtr="0">
            <a:spAutoFit/>
          </a:bodyPr>
          <a:lstStyle/>
          <a:p>
            <a:pPr>
              <a:spcBef>
                <a:spcPct val="50000"/>
              </a:spcBef>
              <a:buClr>
                <a:srgbClr val="3333CC"/>
              </a:buClr>
              <a:buSzPct val="60000"/>
              <a:buFont typeface="Wingdings" panose="05000000000000000000" pitchFamily="2" charset="2"/>
            </a:pPr>
            <a:r>
              <a:rPr lang="zh-CN" altLang="en-US" b="1" i="0" dirty="0">
                <a:solidFill>
                  <a:srgbClr val="3333CC"/>
                </a:solidFill>
                <a:latin typeface="Tahoma" panose="020B0604030504040204" pitchFamily="34" charset="0"/>
                <a:ea typeface="宋体" panose="02010600030101010101" pitchFamily="2" charset="-122"/>
              </a:rPr>
              <a:t>读者进来</a:t>
            </a:r>
          </a:p>
        </p:txBody>
      </p:sp>
      <p:sp>
        <p:nvSpPr>
          <p:cNvPr id="37902" name="Text Box 15"/>
          <p:cNvSpPr txBox="1"/>
          <p:nvPr/>
        </p:nvSpPr>
        <p:spPr>
          <a:xfrm>
            <a:off x="34925" y="4848225"/>
            <a:ext cx="552450" cy="1511300"/>
          </a:xfrm>
          <a:prstGeom prst="rect">
            <a:avLst/>
          </a:prstGeom>
          <a:noFill/>
          <a:ln w="9525">
            <a:noFill/>
          </a:ln>
        </p:spPr>
        <p:txBody>
          <a:bodyPr vert="eaVert" anchor="t" anchorCtr="0">
            <a:spAutoFit/>
          </a:bodyPr>
          <a:lstStyle/>
          <a:p>
            <a:pPr>
              <a:spcBef>
                <a:spcPct val="50000"/>
              </a:spcBef>
              <a:buClr>
                <a:srgbClr val="3333CC"/>
              </a:buClr>
              <a:buSzPct val="60000"/>
              <a:buFont typeface="Wingdings" panose="05000000000000000000" pitchFamily="2" charset="2"/>
            </a:pPr>
            <a:r>
              <a:rPr lang="zh-CN" altLang="en-US" b="1" i="0" dirty="0">
                <a:solidFill>
                  <a:srgbClr val="3333CC"/>
                </a:solidFill>
                <a:latin typeface="Tahoma" panose="020B0604030504040204" pitchFamily="34" charset="0"/>
                <a:ea typeface="宋体" panose="02010600030101010101" pitchFamily="2" charset="-122"/>
              </a:rPr>
              <a:t>读者出去</a:t>
            </a:r>
          </a:p>
        </p:txBody>
      </p:sp>
      <p:sp>
        <p:nvSpPr>
          <p:cNvPr id="35" name="文本框 34"/>
          <p:cNvSpPr txBox="1"/>
          <p:nvPr/>
        </p:nvSpPr>
        <p:spPr>
          <a:xfrm>
            <a:off x="5310188" y="4748213"/>
            <a:ext cx="1114425" cy="460375"/>
          </a:xfrm>
          <a:prstGeom prst="rect">
            <a:avLst/>
          </a:prstGeom>
          <a:noFill/>
          <a:ln w="9525">
            <a:noFill/>
          </a:ln>
        </p:spPr>
        <p:txBody>
          <a:bodyPr anchor="t" anchorCtr="0">
            <a:spAutoFit/>
          </a:bodyPr>
          <a:lstStyle/>
          <a:p>
            <a:pPr>
              <a:buClrTx/>
              <a:buFont typeface="Arial" panose="020B0604020202020204" pitchFamily="34" charset="0"/>
            </a:pPr>
            <a:r>
              <a:rPr lang="en-US" altLang="zh-CN" b="1" i="0" dirty="0">
                <a:solidFill>
                  <a:srgbClr val="000000"/>
                </a:solidFill>
                <a:latin typeface="Calibri" panose="020F0502020204030204" pitchFamily="34" charset="0"/>
                <a:ea typeface="宋体" panose="02010600030101010101" pitchFamily="2" charset="-122"/>
              </a:rPr>
              <a:t>①</a:t>
            </a:r>
            <a:r>
              <a:rPr lang="zh-CN" altLang="en-US" b="1" i="0" dirty="0">
                <a:solidFill>
                  <a:srgbClr val="000000"/>
                </a:solidFill>
                <a:latin typeface="Calibri" panose="020F0502020204030204" pitchFamily="34" charset="0"/>
                <a:ea typeface="宋体" panose="02010600030101010101" pitchFamily="2" charset="-122"/>
              </a:rPr>
              <a:t>读者 </a:t>
            </a:r>
          </a:p>
        </p:txBody>
      </p:sp>
      <p:sp>
        <p:nvSpPr>
          <p:cNvPr id="36" name="圆柱形 35"/>
          <p:cNvSpPr/>
          <p:nvPr/>
        </p:nvSpPr>
        <p:spPr>
          <a:xfrm>
            <a:off x="4733925" y="4637088"/>
            <a:ext cx="647700" cy="968375"/>
          </a:xfrm>
          <a:prstGeom prst="can">
            <a:avLst>
              <a:gd name="adj" fmla="val 24972"/>
            </a:avLst>
          </a:prstGeom>
          <a:solidFill>
            <a:srgbClr val="0070C0"/>
          </a:solidFill>
          <a:ln w="9525">
            <a:noFill/>
          </a:ln>
        </p:spPr>
        <p:txBody>
          <a:bodyPr anchor="t" anchorCtr="0"/>
          <a:lstStyle/>
          <a:p>
            <a:pPr>
              <a:buClrTx/>
              <a:buFont typeface="Arial" panose="020B0604020202020204" pitchFamily="34" charset="0"/>
            </a:pPr>
            <a:endParaRPr lang="zh-CN" altLang="en-US" dirty="0">
              <a:solidFill>
                <a:srgbClr val="000000"/>
              </a:solidFill>
              <a:latin typeface="Tahoma" panose="020B0604030504040204" pitchFamily="34" charset="0"/>
              <a:ea typeface="宋体" panose="02010600030101010101" pitchFamily="2" charset="-122"/>
            </a:endParaRPr>
          </a:p>
        </p:txBody>
      </p:sp>
      <p:sp>
        <p:nvSpPr>
          <p:cNvPr id="37" name="文本框 36"/>
          <p:cNvSpPr txBox="1"/>
          <p:nvPr/>
        </p:nvSpPr>
        <p:spPr>
          <a:xfrm>
            <a:off x="6234113" y="4746625"/>
            <a:ext cx="1201737" cy="460375"/>
          </a:xfrm>
          <a:prstGeom prst="rect">
            <a:avLst/>
          </a:prstGeom>
          <a:noFill/>
          <a:ln w="9525">
            <a:noFill/>
          </a:ln>
        </p:spPr>
        <p:txBody>
          <a:bodyPr anchor="t" anchorCtr="0">
            <a:spAutoFit/>
          </a:bodyPr>
          <a:lstStyle/>
          <a:p>
            <a:pPr>
              <a:buClrTx/>
              <a:buFont typeface="Arial" panose="020B0604020202020204" pitchFamily="34" charset="0"/>
            </a:pPr>
            <a:r>
              <a:rPr lang="zh-CN" altLang="en-US" b="1" i="0" dirty="0">
                <a:solidFill>
                  <a:srgbClr val="000000"/>
                </a:solidFill>
                <a:latin typeface="Calibri" panose="020F0502020204030204" pitchFamily="34" charset="0"/>
                <a:ea typeface="宋体" panose="02010600030101010101" pitchFamily="2" charset="-122"/>
              </a:rPr>
              <a:t>②写者</a:t>
            </a:r>
          </a:p>
        </p:txBody>
      </p:sp>
      <p:sp>
        <p:nvSpPr>
          <p:cNvPr id="38" name="文本框 37"/>
          <p:cNvSpPr txBox="1"/>
          <p:nvPr/>
        </p:nvSpPr>
        <p:spPr>
          <a:xfrm>
            <a:off x="7097713" y="4746625"/>
            <a:ext cx="1290637" cy="460375"/>
          </a:xfrm>
          <a:prstGeom prst="rect">
            <a:avLst/>
          </a:prstGeom>
          <a:noFill/>
          <a:ln w="9525">
            <a:noFill/>
          </a:ln>
        </p:spPr>
        <p:txBody>
          <a:bodyPr anchor="t" anchorCtr="0">
            <a:spAutoFit/>
          </a:bodyPr>
          <a:lstStyle/>
          <a:p>
            <a:pPr>
              <a:buClrTx/>
              <a:buFont typeface="Arial" panose="020B0604020202020204" pitchFamily="34" charset="0"/>
            </a:pPr>
            <a:r>
              <a:rPr lang="zh-CN" altLang="en-US" b="1" i="0" dirty="0">
                <a:solidFill>
                  <a:srgbClr val="000000"/>
                </a:solidFill>
                <a:latin typeface="Calibri" panose="020F0502020204030204" pitchFamily="34" charset="0"/>
                <a:ea typeface="宋体" panose="02010600030101010101" pitchFamily="2" charset="-122"/>
              </a:rPr>
              <a:t> ③读者</a:t>
            </a:r>
          </a:p>
        </p:txBody>
      </p:sp>
      <p:sp>
        <p:nvSpPr>
          <p:cNvPr id="39" name="上弧形箭头 38"/>
          <p:cNvSpPr/>
          <p:nvPr/>
        </p:nvSpPr>
        <p:spPr>
          <a:xfrm rot="10620000" flipV="1">
            <a:off x="5132388" y="4351338"/>
            <a:ext cx="917575" cy="449262"/>
          </a:xfrm>
          <a:prstGeom prst="curvedDownArrow">
            <a:avLst>
              <a:gd name="adj1" fmla="val 24962"/>
              <a:gd name="adj2" fmla="val 49924"/>
              <a:gd name="adj3" fmla="val 25000"/>
            </a:avLst>
          </a:prstGeom>
          <a:solidFill>
            <a:srgbClr val="C00000"/>
          </a:solidFill>
          <a:ln w="9525">
            <a:noFill/>
          </a:ln>
        </p:spPr>
        <p:txBody>
          <a:bodyPr anchor="t" anchorCtr="0"/>
          <a:lstStyle/>
          <a:p>
            <a:pPr>
              <a:buClrTx/>
              <a:buFont typeface="Arial" panose="020B0604020202020204" pitchFamily="34" charset="0"/>
            </a:pPr>
            <a:endParaRPr lang="zh-CN" altLang="en-US" dirty="0">
              <a:solidFill>
                <a:srgbClr val="000000"/>
              </a:solidFill>
              <a:latin typeface="Tahoma" panose="020B0604030504040204" pitchFamily="34" charset="0"/>
              <a:ea typeface="宋体" panose="02010600030101010101" pitchFamily="2" charset="-122"/>
            </a:endParaRPr>
          </a:p>
        </p:txBody>
      </p:sp>
      <p:grpSp>
        <p:nvGrpSpPr>
          <p:cNvPr id="40" name="组合 39"/>
          <p:cNvGrpSpPr/>
          <p:nvPr/>
        </p:nvGrpSpPr>
        <p:grpSpPr>
          <a:xfrm>
            <a:off x="6383338" y="3951288"/>
            <a:ext cx="1060450" cy="733425"/>
            <a:chOff x="11334" y="6292"/>
            <a:chExt cx="1668" cy="1156"/>
          </a:xfrm>
        </p:grpSpPr>
        <p:sp>
          <p:nvSpPr>
            <p:cNvPr id="37909" name="文本框 15"/>
            <p:cNvSpPr txBox="1"/>
            <p:nvPr/>
          </p:nvSpPr>
          <p:spPr>
            <a:xfrm>
              <a:off x="11334" y="6292"/>
              <a:ext cx="1668" cy="822"/>
            </a:xfrm>
            <a:prstGeom prst="rect">
              <a:avLst/>
            </a:prstGeom>
            <a:noFill/>
            <a:ln w="9525">
              <a:noFill/>
            </a:ln>
          </p:spPr>
          <p:txBody>
            <a:bodyPr anchor="t" anchorCtr="0">
              <a:spAutoFit/>
            </a:bodyPr>
            <a:lstStyle/>
            <a:p>
              <a:pPr>
                <a:buClrTx/>
                <a:buFont typeface="Arial" panose="020B0604020202020204" pitchFamily="34" charset="0"/>
              </a:pPr>
              <a:r>
                <a:rPr lang="zh-CN" altLang="en-US" sz="2800" b="1" i="0" dirty="0">
                  <a:solidFill>
                    <a:srgbClr val="C00000"/>
                  </a:solidFill>
                  <a:latin typeface="Calibri" panose="020F0502020204030204" pitchFamily="34" charset="0"/>
                  <a:ea typeface="宋体" panose="02010600030101010101" pitchFamily="2" charset="-122"/>
                </a:rPr>
                <a:t> </a:t>
              </a:r>
              <a:r>
                <a:rPr lang="zh-CN" altLang="en-US" b="1" i="0" dirty="0">
                  <a:solidFill>
                    <a:srgbClr val="C00000"/>
                  </a:solidFill>
                  <a:latin typeface="Calibri" panose="020F0502020204030204" pitchFamily="34" charset="0"/>
                  <a:ea typeface="宋体" panose="02010600030101010101" pitchFamily="2" charset="-122"/>
                </a:rPr>
                <a:t>阻塞</a:t>
              </a:r>
            </a:p>
          </p:txBody>
        </p:sp>
        <p:sp>
          <p:nvSpPr>
            <p:cNvPr id="37910" name="上箭头 16"/>
            <p:cNvSpPr/>
            <p:nvPr/>
          </p:nvSpPr>
          <p:spPr>
            <a:xfrm>
              <a:off x="11844" y="6996"/>
              <a:ext cx="427" cy="453"/>
            </a:xfrm>
            <a:prstGeom prst="upArrow">
              <a:avLst>
                <a:gd name="adj1" fmla="val 50000"/>
                <a:gd name="adj2" fmla="val 49979"/>
              </a:avLst>
            </a:prstGeom>
            <a:solidFill>
              <a:srgbClr val="C00000"/>
            </a:solidFill>
            <a:ln w="9525" cap="flat" cmpd="sng">
              <a:solidFill>
                <a:srgbClr val="C00000"/>
              </a:solidFill>
              <a:prstDash val="solid"/>
              <a:round/>
              <a:headEnd type="none" w="med" len="med"/>
              <a:tailEnd type="none" w="med" len="med"/>
            </a:ln>
          </p:spPr>
          <p:txBody>
            <a:bodyPr anchor="t" anchorCtr="0"/>
            <a:lstStyle/>
            <a:p>
              <a:pPr>
                <a:buClrTx/>
                <a:buFont typeface="Arial" panose="020B0604020202020204" pitchFamily="34" charset="0"/>
              </a:pPr>
              <a:endParaRPr lang="zh-CN" altLang="en-US" dirty="0">
                <a:solidFill>
                  <a:srgbClr val="000000"/>
                </a:solidFill>
                <a:latin typeface="Tahoma" panose="020B0604030504040204" pitchFamily="34" charset="0"/>
                <a:ea typeface="宋体" panose="02010600030101010101" pitchFamily="2" charset="-122"/>
              </a:endParaRPr>
            </a:p>
          </p:txBody>
        </p:sp>
      </p:grpSp>
      <p:grpSp>
        <p:nvGrpSpPr>
          <p:cNvPr id="43" name="组合 42"/>
          <p:cNvGrpSpPr/>
          <p:nvPr/>
        </p:nvGrpSpPr>
        <p:grpSpPr>
          <a:xfrm>
            <a:off x="7358063" y="3933825"/>
            <a:ext cx="1060450" cy="733425"/>
            <a:chOff x="11334" y="6292"/>
            <a:chExt cx="1668" cy="1156"/>
          </a:xfrm>
        </p:grpSpPr>
        <p:sp>
          <p:nvSpPr>
            <p:cNvPr id="37912" name="文本框 15"/>
            <p:cNvSpPr txBox="1"/>
            <p:nvPr/>
          </p:nvSpPr>
          <p:spPr>
            <a:xfrm>
              <a:off x="11334" y="6292"/>
              <a:ext cx="1668" cy="822"/>
            </a:xfrm>
            <a:prstGeom prst="rect">
              <a:avLst/>
            </a:prstGeom>
            <a:noFill/>
            <a:ln w="9525">
              <a:noFill/>
            </a:ln>
          </p:spPr>
          <p:txBody>
            <a:bodyPr anchor="t" anchorCtr="0">
              <a:spAutoFit/>
            </a:bodyPr>
            <a:lstStyle/>
            <a:p>
              <a:pPr>
                <a:buClrTx/>
                <a:buFont typeface="Arial" panose="020B0604020202020204" pitchFamily="34" charset="0"/>
              </a:pPr>
              <a:r>
                <a:rPr lang="zh-CN" altLang="en-US" sz="2800" b="1" i="0" dirty="0">
                  <a:solidFill>
                    <a:srgbClr val="C00000"/>
                  </a:solidFill>
                  <a:latin typeface="Calibri" panose="020F0502020204030204" pitchFamily="34" charset="0"/>
                  <a:ea typeface="宋体" panose="02010600030101010101" pitchFamily="2" charset="-122"/>
                </a:rPr>
                <a:t> </a:t>
              </a:r>
              <a:r>
                <a:rPr lang="zh-CN" altLang="en-US" b="1" i="0" dirty="0">
                  <a:solidFill>
                    <a:srgbClr val="C00000"/>
                  </a:solidFill>
                  <a:latin typeface="Calibri" panose="020F0502020204030204" pitchFamily="34" charset="0"/>
                  <a:ea typeface="宋体" panose="02010600030101010101" pitchFamily="2" charset="-122"/>
                </a:rPr>
                <a:t>阻塞</a:t>
              </a:r>
            </a:p>
          </p:txBody>
        </p:sp>
        <p:sp>
          <p:nvSpPr>
            <p:cNvPr id="37913" name="上箭头 16"/>
            <p:cNvSpPr/>
            <p:nvPr/>
          </p:nvSpPr>
          <p:spPr>
            <a:xfrm>
              <a:off x="11844" y="6996"/>
              <a:ext cx="427" cy="453"/>
            </a:xfrm>
            <a:prstGeom prst="upArrow">
              <a:avLst>
                <a:gd name="adj1" fmla="val 50000"/>
                <a:gd name="adj2" fmla="val 49979"/>
              </a:avLst>
            </a:prstGeom>
            <a:solidFill>
              <a:srgbClr val="C00000"/>
            </a:solidFill>
            <a:ln w="9525" cap="flat" cmpd="sng">
              <a:solidFill>
                <a:srgbClr val="C00000"/>
              </a:solidFill>
              <a:prstDash val="solid"/>
              <a:round/>
              <a:headEnd type="none" w="med" len="med"/>
              <a:tailEnd type="none" w="med" len="med"/>
            </a:ln>
          </p:spPr>
          <p:txBody>
            <a:bodyPr anchor="t" anchorCtr="0"/>
            <a:lstStyle/>
            <a:p>
              <a:pPr>
                <a:buClrTx/>
                <a:buFont typeface="Arial" panose="020B0604020202020204" pitchFamily="34" charset="0"/>
              </a:pPr>
              <a:endParaRPr lang="zh-CN" altLang="en-US" dirty="0">
                <a:solidFill>
                  <a:srgbClr val="000000"/>
                </a:solidFill>
                <a:latin typeface="Tahoma" panose="020B0604030504040204" pitchFamily="34" charset="0"/>
                <a:ea typeface="宋体" panose="02010600030101010101" pitchFamily="2" charset="-122"/>
              </a:endParaRPr>
            </a:p>
          </p:txBody>
        </p:sp>
      </p:grpSp>
      <p:sp>
        <p:nvSpPr>
          <p:cNvPr id="46" name="文本框 45"/>
          <p:cNvSpPr txBox="1"/>
          <p:nvPr/>
        </p:nvSpPr>
        <p:spPr>
          <a:xfrm>
            <a:off x="8034338" y="4748213"/>
            <a:ext cx="1290637" cy="460375"/>
          </a:xfrm>
          <a:prstGeom prst="rect">
            <a:avLst/>
          </a:prstGeom>
          <a:noFill/>
          <a:ln w="9525">
            <a:noFill/>
          </a:ln>
        </p:spPr>
        <p:txBody>
          <a:bodyPr anchor="t" anchorCtr="0">
            <a:spAutoFit/>
          </a:bodyPr>
          <a:lstStyle/>
          <a:p>
            <a:pPr>
              <a:buClrTx/>
              <a:buFont typeface="Arial" panose="020B0604020202020204" pitchFamily="34" charset="0"/>
            </a:pPr>
            <a:r>
              <a:rPr lang="zh-CN" altLang="en-US" b="1" i="0" dirty="0">
                <a:solidFill>
                  <a:srgbClr val="000000"/>
                </a:solidFill>
                <a:latin typeface="Calibri" panose="020F0502020204030204" pitchFamily="34" charset="0"/>
                <a:ea typeface="宋体" panose="02010600030101010101" pitchFamily="2" charset="-122"/>
              </a:rPr>
              <a:t> ④读者</a:t>
            </a:r>
          </a:p>
        </p:txBody>
      </p:sp>
      <p:sp>
        <p:nvSpPr>
          <p:cNvPr id="47" name="上弧形箭头 46"/>
          <p:cNvSpPr/>
          <p:nvPr/>
        </p:nvSpPr>
        <p:spPr>
          <a:xfrm rot="10620000">
            <a:off x="5297488" y="5221288"/>
            <a:ext cx="1630362" cy="368300"/>
          </a:xfrm>
          <a:prstGeom prst="curvedDownArrow">
            <a:avLst>
              <a:gd name="adj1" fmla="val 24918"/>
              <a:gd name="adj2" fmla="val 49840"/>
              <a:gd name="adj3" fmla="val 25000"/>
            </a:avLst>
          </a:prstGeom>
          <a:solidFill>
            <a:srgbClr val="C00000"/>
          </a:solidFill>
          <a:ln w="9525">
            <a:noFill/>
          </a:ln>
        </p:spPr>
        <p:txBody>
          <a:bodyPr anchor="t" anchorCtr="0"/>
          <a:lstStyle/>
          <a:p>
            <a:pPr>
              <a:buClrTx/>
              <a:buFont typeface="Arial" panose="020B0604020202020204" pitchFamily="34" charset="0"/>
            </a:pPr>
            <a:endParaRPr lang="zh-CN" altLang="en-US" dirty="0">
              <a:solidFill>
                <a:srgbClr val="000000"/>
              </a:solidFill>
              <a:latin typeface="Tahoma" panose="020B0604030504040204" pitchFamily="34" charset="0"/>
              <a:ea typeface="宋体" panose="02010600030101010101" pitchFamily="2" charset="-122"/>
            </a:endParaRPr>
          </a:p>
        </p:txBody>
      </p:sp>
      <p:sp>
        <p:nvSpPr>
          <p:cNvPr id="48" name="上弧形箭头 47"/>
          <p:cNvSpPr/>
          <p:nvPr/>
        </p:nvSpPr>
        <p:spPr>
          <a:xfrm rot="10620000">
            <a:off x="5240338" y="5284788"/>
            <a:ext cx="2662237" cy="382587"/>
          </a:xfrm>
          <a:prstGeom prst="curvedDownArrow">
            <a:avLst>
              <a:gd name="adj1" fmla="val 24904"/>
              <a:gd name="adj2" fmla="val 49899"/>
              <a:gd name="adj3" fmla="val 25000"/>
            </a:avLst>
          </a:prstGeom>
          <a:solidFill>
            <a:srgbClr val="C00000"/>
          </a:solidFill>
          <a:ln w="9525">
            <a:noFill/>
          </a:ln>
        </p:spPr>
        <p:txBody>
          <a:bodyPr anchor="t" anchorCtr="0"/>
          <a:lstStyle/>
          <a:p>
            <a:pPr>
              <a:buClrTx/>
              <a:buFont typeface="Arial" panose="020B0604020202020204" pitchFamily="34" charset="0"/>
            </a:pPr>
            <a:endParaRPr lang="zh-CN" altLang="en-US" dirty="0">
              <a:solidFill>
                <a:srgbClr val="000000"/>
              </a:solidFill>
              <a:latin typeface="Tahoma" panose="020B0604030504040204" pitchFamily="34" charset="0"/>
              <a:ea typeface="宋体" panose="02010600030101010101" pitchFamily="2" charset="-122"/>
            </a:endParaRPr>
          </a:p>
        </p:txBody>
      </p:sp>
      <p:sp>
        <p:nvSpPr>
          <p:cNvPr id="49" name="上弧形箭头 48"/>
          <p:cNvSpPr/>
          <p:nvPr/>
        </p:nvSpPr>
        <p:spPr>
          <a:xfrm rot="10620000">
            <a:off x="5449888" y="5291138"/>
            <a:ext cx="3398837" cy="384175"/>
          </a:xfrm>
          <a:prstGeom prst="curvedDownArrow">
            <a:avLst>
              <a:gd name="adj1" fmla="val 25019"/>
              <a:gd name="adj2" fmla="val 50092"/>
              <a:gd name="adj3" fmla="val 25000"/>
            </a:avLst>
          </a:prstGeom>
          <a:solidFill>
            <a:srgbClr val="C00000"/>
          </a:solidFill>
          <a:ln w="9525">
            <a:noFill/>
          </a:ln>
        </p:spPr>
        <p:txBody>
          <a:bodyPr anchor="t" anchorCtr="0"/>
          <a:lstStyle/>
          <a:p>
            <a:pPr>
              <a:buClrTx/>
              <a:buFont typeface="Arial" panose="020B0604020202020204" pitchFamily="34" charset="0"/>
            </a:pPr>
            <a:endParaRPr lang="zh-CN" altLang="en-US" dirty="0">
              <a:solidFill>
                <a:srgbClr val="000000"/>
              </a:solidFill>
              <a:latin typeface="Tahoma" panose="020B0604030504040204" pitchFamily="34" charset="0"/>
              <a:ea typeface="宋体" panose="02010600030101010101" pitchFamily="2" charset="-122"/>
            </a:endParaRPr>
          </a:p>
        </p:txBody>
      </p:sp>
      <p:sp>
        <p:nvSpPr>
          <p:cNvPr id="31" name="AutoShape 16" descr="蓝色砂纸"/>
          <p:cNvSpPr/>
          <p:nvPr/>
        </p:nvSpPr>
        <p:spPr>
          <a:xfrm>
            <a:off x="2533650" y="3284538"/>
            <a:ext cx="2552700" cy="823912"/>
          </a:xfrm>
          <a:prstGeom prst="wedgeRoundRectCallout">
            <a:avLst>
              <a:gd name="adj1" fmla="val -77954"/>
              <a:gd name="adj2" fmla="val 14116"/>
              <a:gd name="adj3" fmla="val 16667"/>
            </a:avLst>
          </a:prstGeom>
          <a:solidFill>
            <a:srgbClr val="FFFF00"/>
          </a:solidFill>
          <a:ln w="9525" cap="flat" cmpd="sng">
            <a:solidFill>
              <a:schemeClr val="folHlink"/>
            </a:solidFill>
            <a:prstDash val="solid"/>
            <a:miter/>
            <a:headEnd type="none" w="med" len="med"/>
            <a:tailEnd type="none" w="med" len="med"/>
          </a:ln>
        </p:spPr>
        <p:txBody>
          <a:bodyPr anchor="t" anchorCtr="0"/>
          <a:lstStyle/>
          <a:p>
            <a:pPr>
              <a:buClrTx/>
              <a:buFont typeface="Arial" panose="020B0604020202020204" pitchFamily="34" charset="0"/>
            </a:pPr>
            <a:r>
              <a:rPr lang="en-US" altLang="zh-CN" b="1" i="0" dirty="0">
                <a:solidFill>
                  <a:srgbClr val="000000"/>
                </a:solidFill>
                <a:latin typeface="Tahoma" panose="020B0604030504040204" pitchFamily="34" charset="0"/>
                <a:ea typeface="宋体" panose="02010600030101010101" pitchFamily="2" charset="-122"/>
                <a:sym typeface="+mn-ea"/>
              </a:rPr>
              <a:t>V(w)</a:t>
            </a:r>
            <a:r>
              <a:rPr lang="zh-CN" altLang="en-US" b="1" i="0" dirty="0">
                <a:solidFill>
                  <a:srgbClr val="000000"/>
                </a:solidFill>
                <a:latin typeface="Tahoma" panose="020B0604030504040204" pitchFamily="34" charset="0"/>
                <a:ea typeface="宋体" panose="02010600030101010101" pitchFamily="2" charset="-122"/>
                <a:sym typeface="+mn-ea"/>
              </a:rPr>
              <a:t>为什么不放在最后？</a:t>
            </a:r>
            <a:endParaRPr lang="zh-CN" altLang="en-US" b="1" i="0" dirty="0">
              <a:solidFill>
                <a:srgbClr val="000000"/>
              </a:solidFill>
              <a:latin typeface="Calibri" panose="020F0502020204030204" pitchFamily="34" charset="0"/>
              <a:ea typeface="宋体" panose="02010600030101010101" pitchFamily="2" charset="-122"/>
              <a:sym typeface="宋体" panose="02010600030101010101" pitchFamily="2" charset="-122"/>
            </a:endParaRPr>
          </a:p>
        </p:txBody>
      </p:sp>
      <p:sp>
        <p:nvSpPr>
          <p:cNvPr id="32" name="AutoShape 16" descr="蓝色砂纸"/>
          <p:cNvSpPr/>
          <p:nvPr/>
        </p:nvSpPr>
        <p:spPr>
          <a:xfrm>
            <a:off x="4994275" y="5891213"/>
            <a:ext cx="3754438" cy="561975"/>
          </a:xfrm>
          <a:prstGeom prst="wedgeRoundRectCallout">
            <a:avLst>
              <a:gd name="adj1" fmla="val -43986"/>
              <a:gd name="adj2" fmla="val 16338"/>
              <a:gd name="adj3" fmla="val 16667"/>
            </a:avLst>
          </a:prstGeom>
          <a:solidFill>
            <a:srgbClr val="FFFF00"/>
          </a:solidFill>
          <a:ln w="9525" cap="flat" cmpd="sng">
            <a:solidFill>
              <a:schemeClr val="folHlink"/>
            </a:solidFill>
            <a:prstDash val="solid"/>
            <a:miter/>
            <a:headEnd type="none" w="med" len="med"/>
            <a:tailEnd type="none" w="med" len="med"/>
          </a:ln>
        </p:spPr>
        <p:txBody>
          <a:bodyPr anchor="t" anchorCtr="0"/>
          <a:lstStyle/>
          <a:p>
            <a:pPr>
              <a:buClrTx/>
              <a:buFont typeface="Arial" panose="020B0604020202020204" pitchFamily="34" charset="0"/>
            </a:pPr>
            <a:r>
              <a:rPr lang="zh-CN" altLang="en-US" b="1" i="0" dirty="0">
                <a:solidFill>
                  <a:srgbClr val="000000"/>
                </a:solidFill>
                <a:latin typeface="Calibri" panose="020F0502020204030204" pitchFamily="34" charset="0"/>
                <a:ea typeface="宋体" panose="02010600030101010101" pitchFamily="2" charset="-122"/>
                <a:sym typeface="宋体" panose="02010600030101010101" pitchFamily="2" charset="-122"/>
              </a:rPr>
              <a:t>为了实现读数据是共享的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7832">
                                            <p:txEl>
                                              <p:pRg st="3" end="3"/>
                                            </p:txEl>
                                          </p:spTgt>
                                        </p:tgtEl>
                                        <p:attrNameLst>
                                          <p:attrName>style.visibility</p:attrName>
                                        </p:attrNameLst>
                                      </p:cBhvr>
                                      <p:to>
                                        <p:strVal val="visible"/>
                                      </p:to>
                                    </p:set>
                                    <p:animEffect transition="in" filter="wipe(up)">
                                      <p:cBhvr>
                                        <p:cTn id="7" dur="500"/>
                                        <p:tgtEl>
                                          <p:spTgt spid="7783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7832">
                                            <p:txEl>
                                              <p:pRg st="7" end="7"/>
                                            </p:txEl>
                                          </p:spTgt>
                                        </p:tgtEl>
                                        <p:attrNameLst>
                                          <p:attrName>style.visibility</p:attrName>
                                        </p:attrNameLst>
                                      </p:cBhvr>
                                      <p:to>
                                        <p:strVal val="visible"/>
                                      </p:to>
                                    </p:set>
                                    <p:animEffect transition="in" filter="wipe(up)">
                                      <p:cBhvr>
                                        <p:cTn id="12" dur="500"/>
                                        <p:tgtEl>
                                          <p:spTgt spid="77832">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
                                            <p:txEl>
                                              <p:pRg st="8" end="8"/>
                                            </p:txEl>
                                          </p:spTgt>
                                        </p:tgtEl>
                                        <p:attrNameLst>
                                          <p:attrName>style.visibility</p:attrName>
                                        </p:attrNameLst>
                                      </p:cBhvr>
                                      <p:to>
                                        <p:strVal val="visible"/>
                                      </p:to>
                                    </p:set>
                                    <p:animEffect transition="in" filter="wipe(up)">
                                      <p:cBhvr>
                                        <p:cTn id="22" dur="500"/>
                                        <p:tgtEl>
                                          <p:spTgt spid="2">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blinds(horizontal)">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blinds(horizontal)">
                                      <p:cBhvr>
                                        <p:cTn id="32" dur="5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blinds(horizontal)">
                                      <p:cBhvr>
                                        <p:cTn id="37" dur="5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blinds(horizontal)">
                                      <p:cBhvr>
                                        <p:cTn id="42" dur="500"/>
                                        <p:tgtEl>
                                          <p:spTgt spid="3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wipe(down)">
                                      <p:cBhvr>
                                        <p:cTn id="47" dur="500"/>
                                        <p:tgtEl>
                                          <p:spTgt spid="4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blinds(horizontal)">
                                      <p:cBhvr>
                                        <p:cTn id="52" dur="5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wipe(down)">
                                      <p:cBhvr>
                                        <p:cTn id="57" dur="500"/>
                                        <p:tgtEl>
                                          <p:spTgt spid="43"/>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xit" presetSubtype="10" fill="hold" grpId="1" nodeType="clickEffect">
                                  <p:stCondLst>
                                    <p:cond delay="0"/>
                                  </p:stCondLst>
                                  <p:childTnLst>
                                    <p:animEffect transition="out" filter="blinds(horizontal)">
                                      <p:cBhvr>
                                        <p:cTn id="61" dur="500"/>
                                        <p:tgtEl>
                                          <p:spTgt spid="35"/>
                                        </p:tgtEl>
                                      </p:cBhvr>
                                    </p:animEffect>
                                    <p:set>
                                      <p:cBhvr>
                                        <p:cTn id="62" dur="1" fill="hold">
                                          <p:stCondLst>
                                            <p:cond delay="499"/>
                                          </p:stCondLst>
                                        </p:cTn>
                                        <p:tgtEl>
                                          <p:spTgt spid="35"/>
                                        </p:tgtEl>
                                        <p:attrNameLst>
                                          <p:attrName>style.visibility</p:attrName>
                                        </p:attrNameLst>
                                      </p:cBhvr>
                                      <p:to>
                                        <p:strVal val="hidden"/>
                                      </p:to>
                                    </p:set>
                                  </p:childTnLst>
                                </p:cTn>
                              </p:par>
                              <p:par>
                                <p:cTn id="63" presetID="3" presetClass="exit" presetSubtype="10" fill="hold" grpId="1" nodeType="withEffect">
                                  <p:stCondLst>
                                    <p:cond delay="0"/>
                                  </p:stCondLst>
                                  <p:childTnLst>
                                    <p:animEffect transition="out" filter="blinds(horizontal)">
                                      <p:cBhvr>
                                        <p:cTn id="64" dur="500"/>
                                        <p:tgtEl>
                                          <p:spTgt spid="39"/>
                                        </p:tgtEl>
                                      </p:cBhvr>
                                    </p:animEffect>
                                    <p:set>
                                      <p:cBhvr>
                                        <p:cTn id="65" dur="1" fill="hold">
                                          <p:stCondLst>
                                            <p:cond delay="499"/>
                                          </p:stCondLst>
                                        </p:cTn>
                                        <p:tgtEl>
                                          <p:spTgt spid="39"/>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3" presetClass="exit" presetSubtype="10" fill="hold" nodeType="clickEffect">
                                  <p:stCondLst>
                                    <p:cond delay="0"/>
                                  </p:stCondLst>
                                  <p:childTnLst>
                                    <p:animEffect transition="out" filter="blinds(horizontal)">
                                      <p:cBhvr>
                                        <p:cTn id="69" dur="500"/>
                                        <p:tgtEl>
                                          <p:spTgt spid="40"/>
                                        </p:tgtEl>
                                      </p:cBhvr>
                                    </p:animEffect>
                                    <p:set>
                                      <p:cBhvr>
                                        <p:cTn id="70" dur="1" fill="hold">
                                          <p:stCondLst>
                                            <p:cond delay="499"/>
                                          </p:stCondLst>
                                        </p:cTn>
                                        <p:tgtEl>
                                          <p:spTgt spid="40"/>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47"/>
                                        </p:tgtEl>
                                        <p:attrNameLst>
                                          <p:attrName>style.visibility</p:attrName>
                                        </p:attrNameLst>
                                      </p:cBhvr>
                                      <p:to>
                                        <p:strVal val="visible"/>
                                      </p:to>
                                    </p:set>
                                    <p:animEffect transition="in" filter="blinds(horizontal)">
                                      <p:cBhvr>
                                        <p:cTn id="75" dur="500"/>
                                        <p:tgtEl>
                                          <p:spTgt spid="47"/>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xit" presetSubtype="10" fill="hold" grpId="1" nodeType="clickEffect">
                                  <p:stCondLst>
                                    <p:cond delay="0"/>
                                  </p:stCondLst>
                                  <p:childTnLst>
                                    <p:animEffect transition="out" filter="blinds(horizontal)">
                                      <p:cBhvr>
                                        <p:cTn id="79" dur="500"/>
                                        <p:tgtEl>
                                          <p:spTgt spid="47"/>
                                        </p:tgtEl>
                                      </p:cBhvr>
                                    </p:animEffect>
                                    <p:set>
                                      <p:cBhvr>
                                        <p:cTn id="80" dur="1" fill="hold">
                                          <p:stCondLst>
                                            <p:cond delay="499"/>
                                          </p:stCondLst>
                                        </p:cTn>
                                        <p:tgtEl>
                                          <p:spTgt spid="47"/>
                                        </p:tgtEl>
                                        <p:attrNameLst>
                                          <p:attrName>style.visibility</p:attrName>
                                        </p:attrNameLst>
                                      </p:cBhvr>
                                      <p:to>
                                        <p:strVal val="hidden"/>
                                      </p:to>
                                    </p:set>
                                  </p:childTnLst>
                                </p:cTn>
                              </p:par>
                              <p:par>
                                <p:cTn id="81" presetID="3" presetClass="exit" presetSubtype="10" fill="hold" grpId="1" nodeType="withEffect">
                                  <p:stCondLst>
                                    <p:cond delay="0"/>
                                  </p:stCondLst>
                                  <p:childTnLst>
                                    <p:animEffect transition="out" filter="blinds(horizontal)">
                                      <p:cBhvr>
                                        <p:cTn id="82" dur="500"/>
                                        <p:tgtEl>
                                          <p:spTgt spid="37"/>
                                        </p:tgtEl>
                                      </p:cBhvr>
                                    </p:animEffect>
                                    <p:set>
                                      <p:cBhvr>
                                        <p:cTn id="83" dur="1" fill="hold">
                                          <p:stCondLst>
                                            <p:cond delay="499"/>
                                          </p:stCondLst>
                                        </p:cTn>
                                        <p:tgtEl>
                                          <p:spTgt spid="37"/>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3" presetClass="exit" presetSubtype="10" fill="hold" nodeType="clickEffect">
                                  <p:stCondLst>
                                    <p:cond delay="0"/>
                                  </p:stCondLst>
                                  <p:childTnLst>
                                    <p:animEffect transition="out" filter="blinds(horizontal)">
                                      <p:cBhvr>
                                        <p:cTn id="87" dur="500"/>
                                        <p:tgtEl>
                                          <p:spTgt spid="43"/>
                                        </p:tgtEl>
                                      </p:cBhvr>
                                    </p:animEffect>
                                    <p:set>
                                      <p:cBhvr>
                                        <p:cTn id="88" dur="1" fill="hold">
                                          <p:stCondLst>
                                            <p:cond delay="499"/>
                                          </p:stCondLst>
                                        </p:cTn>
                                        <p:tgtEl>
                                          <p:spTgt spid="43"/>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48"/>
                                        </p:tgtEl>
                                        <p:attrNameLst>
                                          <p:attrName>style.visibility</p:attrName>
                                        </p:attrNameLst>
                                      </p:cBhvr>
                                      <p:to>
                                        <p:strVal val="visible"/>
                                      </p:to>
                                    </p:set>
                                    <p:animEffect transition="in" filter="blinds(horizontal)">
                                      <p:cBhvr>
                                        <p:cTn id="93" dur="500"/>
                                        <p:tgtEl>
                                          <p:spTgt spid="48"/>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46"/>
                                        </p:tgtEl>
                                        <p:attrNameLst>
                                          <p:attrName>style.visibility</p:attrName>
                                        </p:attrNameLst>
                                      </p:cBhvr>
                                      <p:to>
                                        <p:strVal val="visible"/>
                                      </p:to>
                                    </p:set>
                                    <p:animEffect transition="in" filter="blinds(horizontal)">
                                      <p:cBhvr>
                                        <p:cTn id="98" dur="500"/>
                                        <p:tgtEl>
                                          <p:spTgt spid="46"/>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49"/>
                                        </p:tgtEl>
                                        <p:attrNameLst>
                                          <p:attrName>style.visibility</p:attrName>
                                        </p:attrNameLst>
                                      </p:cBhvr>
                                      <p:to>
                                        <p:strVal val="visible"/>
                                      </p:to>
                                    </p:set>
                                    <p:animEffect transition="in" filter="blinds(horizontal)">
                                      <p:cBhvr>
                                        <p:cTn id="103" dur="500"/>
                                        <p:tgtEl>
                                          <p:spTgt spid="49"/>
                                        </p:tgtEl>
                                      </p:cBhvr>
                                    </p:animEffect>
                                  </p:childTnLst>
                                </p:cTn>
                              </p:par>
                            </p:childTnLst>
                          </p:cTn>
                        </p:par>
                      </p:childTnLst>
                    </p:cTn>
                  </p:par>
                  <p:par>
                    <p:cTn id="104" fill="hold">
                      <p:stCondLst>
                        <p:cond delay="indefinite"/>
                      </p:stCondLst>
                      <p:childTnLst>
                        <p:par>
                          <p:cTn id="105" fill="hold">
                            <p:stCondLst>
                              <p:cond delay="0"/>
                            </p:stCondLst>
                            <p:childTnLst>
                              <p:par>
                                <p:cTn id="106" presetID="2" presetClass="entr" presetSubtype="2" fill="hold" grpId="0" nodeType="clickEffect">
                                  <p:stCondLst>
                                    <p:cond delay="0"/>
                                  </p:stCondLst>
                                  <p:childTnLst>
                                    <p:set>
                                      <p:cBhvr>
                                        <p:cTn id="107" dur="1" fill="hold">
                                          <p:stCondLst>
                                            <p:cond delay="0"/>
                                          </p:stCondLst>
                                        </p:cTn>
                                        <p:tgtEl>
                                          <p:spTgt spid="31"/>
                                        </p:tgtEl>
                                        <p:attrNameLst>
                                          <p:attrName>style.visibility</p:attrName>
                                        </p:attrNameLst>
                                      </p:cBhvr>
                                      <p:to>
                                        <p:strVal val="visible"/>
                                      </p:to>
                                    </p:set>
                                    <p:anim calcmode="lin" valueType="num">
                                      <p:cBhvr>
                                        <p:cTn id="108" dur="500" fill="hold"/>
                                        <p:tgtEl>
                                          <p:spTgt spid="31"/>
                                        </p:tgtEl>
                                        <p:attrNameLst>
                                          <p:attrName>ppt_x</p:attrName>
                                        </p:attrNameLst>
                                      </p:cBhvr>
                                      <p:tavLst>
                                        <p:tav tm="0">
                                          <p:val>
                                            <p:strVal val="1+#ppt_w/2"/>
                                          </p:val>
                                        </p:tav>
                                        <p:tav tm="100000">
                                          <p:val>
                                            <p:strVal val="#ppt_x"/>
                                          </p:val>
                                        </p:tav>
                                      </p:tavLst>
                                    </p:anim>
                                    <p:anim calcmode="lin" valueType="num">
                                      <p:cBhvr>
                                        <p:cTn id="109"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2" presetClass="entr" presetSubtype="2" fill="hold" grpId="0" nodeType="clickEffect">
                                  <p:stCondLst>
                                    <p:cond delay="0"/>
                                  </p:stCondLst>
                                  <p:childTnLst>
                                    <p:set>
                                      <p:cBhvr>
                                        <p:cTn id="113" dur="1" fill="hold">
                                          <p:stCondLst>
                                            <p:cond delay="0"/>
                                          </p:stCondLst>
                                        </p:cTn>
                                        <p:tgtEl>
                                          <p:spTgt spid="32"/>
                                        </p:tgtEl>
                                        <p:attrNameLst>
                                          <p:attrName>style.visibility</p:attrName>
                                        </p:attrNameLst>
                                      </p:cBhvr>
                                      <p:to>
                                        <p:strVal val="visible"/>
                                      </p:to>
                                    </p:set>
                                    <p:anim calcmode="lin" valueType="num">
                                      <p:cBhvr>
                                        <p:cTn id="114" dur="500" fill="hold"/>
                                        <p:tgtEl>
                                          <p:spTgt spid="32"/>
                                        </p:tgtEl>
                                        <p:attrNameLst>
                                          <p:attrName>ppt_x</p:attrName>
                                        </p:attrNameLst>
                                      </p:cBhvr>
                                      <p:tavLst>
                                        <p:tav tm="0">
                                          <p:val>
                                            <p:strVal val="1+#ppt_w/2"/>
                                          </p:val>
                                        </p:tav>
                                        <p:tav tm="100000">
                                          <p:val>
                                            <p:strVal val="#ppt_x"/>
                                          </p:val>
                                        </p:tav>
                                      </p:tavLst>
                                    </p:anim>
                                    <p:anim calcmode="lin" valueType="num">
                                      <p:cBhvr>
                                        <p:cTn id="115"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5" grpId="1"/>
      <p:bldP spid="36" grpId="0" bldLvl="0" animBg="1"/>
      <p:bldP spid="37" grpId="0"/>
      <p:bldP spid="37" grpId="1"/>
      <p:bldP spid="38" grpId="0"/>
      <p:bldP spid="39" grpId="0" bldLvl="0" animBg="1"/>
      <p:bldP spid="39" grpId="1" animBg="1"/>
      <p:bldP spid="46" grpId="0"/>
      <p:bldP spid="47" grpId="0" bldLvl="0" animBg="1"/>
      <p:bldP spid="47" grpId="1" animBg="1"/>
      <p:bldP spid="48" grpId="0" bldLvl="0" animBg="1"/>
      <p:bldP spid="49" grpId="0" bldLvl="0" animBg="1"/>
      <p:bldP spid="31" grpId="0" bldLvl="0" animBg="1"/>
      <p:bldP spid="32"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5"/>
          <p:cNvSpPr>
            <a:spLocks noGrp="1"/>
          </p:cNvSpPr>
          <p:nvPr>
            <p:ph type="sldNum" sz="quarter" idx="12"/>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buClrTx/>
              <a:buFont typeface="Arial" panose="020B0604020202020204" pitchFamily="34" charset="0"/>
              <a:buChar char="•"/>
            </a:pPr>
            <a:fld id="{9A0DB2DC-4C9A-4742-B13C-FB6460FD3503}" type="slidenum">
              <a:rPr lang="zh-CN" altLang="zh-CN" sz="1400" i="0" dirty="0">
                <a:solidFill>
                  <a:srgbClr val="000000"/>
                </a:solidFill>
                <a:latin typeface="Arial" panose="020B0604020202020204" pitchFamily="34" charset="0"/>
                <a:ea typeface="宋体" panose="02010600030101010101" pitchFamily="2" charset="-122"/>
              </a:rPr>
              <a:t>51</a:t>
            </a:fld>
            <a:endParaRPr lang="zh-CN" altLang="zh-CN" sz="1400" i="0" dirty="0">
              <a:solidFill>
                <a:srgbClr val="000000"/>
              </a:solidFill>
              <a:latin typeface="Arial" panose="020B0604020202020204" pitchFamily="34" charset="0"/>
              <a:ea typeface="宋体" panose="02010600030101010101" pitchFamily="2" charset="-122"/>
            </a:endParaRPr>
          </a:p>
        </p:txBody>
      </p:sp>
      <p:sp>
        <p:nvSpPr>
          <p:cNvPr id="39938" name="Rectangle 2"/>
          <p:cNvSpPr>
            <a:spLocks noGrp="1"/>
          </p:cNvSpPr>
          <p:nvPr>
            <p:ph type="title"/>
          </p:nvPr>
        </p:nvSpPr>
        <p:spPr>
          <a:xfrm>
            <a:off x="1187450" y="476250"/>
            <a:ext cx="7010400" cy="1219200"/>
          </a:xfrm>
          <a:ln/>
        </p:spPr>
        <p:txBody>
          <a:bodyPr vert="horz" wrap="square" lIns="91440" tIns="45720" rIns="91440" bIns="45720" anchor="b" anchorCtr="0"/>
          <a:lstStyle/>
          <a:p>
            <a:pPr eaLnBrk="1" hangingPunct="1"/>
            <a:r>
              <a:rPr lang="zh-CN" altLang="en-US" sz="4000" b="1" dirty="0">
                <a:solidFill>
                  <a:srgbClr val="336600"/>
                </a:solidFill>
              </a:rPr>
              <a:t>课后思考</a:t>
            </a:r>
          </a:p>
        </p:txBody>
      </p:sp>
      <p:sp>
        <p:nvSpPr>
          <p:cNvPr id="39939" name="Rectangle 3"/>
          <p:cNvSpPr>
            <a:spLocks noGrp="1"/>
          </p:cNvSpPr>
          <p:nvPr>
            <p:ph idx="1"/>
          </p:nvPr>
        </p:nvSpPr>
        <p:spPr>
          <a:xfrm>
            <a:off x="609600" y="1989138"/>
            <a:ext cx="8229600" cy="4513262"/>
          </a:xfrm>
          <a:ln/>
        </p:spPr>
        <p:txBody>
          <a:bodyPr vert="horz" wrap="square" lIns="91440" tIns="45720" rIns="91440" bIns="45720" anchor="t" anchorCtr="0"/>
          <a:lstStyle/>
          <a:p>
            <a:pPr eaLnBrk="1" hangingPunct="1"/>
            <a:r>
              <a:rPr lang="zh-CN" altLang="en-US" b="1" dirty="0">
                <a:solidFill>
                  <a:srgbClr val="3333CC"/>
                </a:solidFill>
              </a:rPr>
              <a:t>第三种实现方式：写者优先读者</a:t>
            </a:r>
          </a:p>
          <a:p>
            <a:pPr lvl="1" eaLnBrk="1" hangingPunct="1"/>
            <a:r>
              <a:rPr lang="zh-CN" altLang="en-US" b="1" dirty="0"/>
              <a:t>当写者和读者同时等待时，后续写者到达时可以插队到等待的读者之前，只要等待队列中有写者，不管何时到达，都优先于读者被唤醒。</a:t>
            </a:r>
          </a:p>
        </p:txBody>
      </p:sp>
      <p:sp>
        <p:nvSpPr>
          <p:cNvPr id="5" name="文本框 4"/>
          <p:cNvSpPr txBox="1"/>
          <p:nvPr/>
        </p:nvSpPr>
        <p:spPr>
          <a:xfrm>
            <a:off x="2916238" y="4748213"/>
            <a:ext cx="1114425" cy="460375"/>
          </a:xfrm>
          <a:prstGeom prst="rect">
            <a:avLst/>
          </a:prstGeom>
          <a:noFill/>
          <a:ln w="9525">
            <a:noFill/>
          </a:ln>
        </p:spPr>
        <p:txBody>
          <a:bodyPr anchor="t" anchorCtr="0">
            <a:spAutoFit/>
          </a:bodyPr>
          <a:lstStyle/>
          <a:p>
            <a:pPr>
              <a:buClrTx/>
              <a:buFont typeface="Arial" panose="020B0604020202020204" pitchFamily="34" charset="0"/>
            </a:pPr>
            <a:r>
              <a:rPr lang="en-US" altLang="zh-CN" b="1" dirty="0">
                <a:solidFill>
                  <a:srgbClr val="000000"/>
                </a:solidFill>
                <a:latin typeface="Calibri" panose="020F0502020204030204" pitchFamily="34" charset="0"/>
                <a:ea typeface="宋体" panose="02010600030101010101" pitchFamily="2" charset="-122"/>
              </a:rPr>
              <a:t>①</a:t>
            </a:r>
            <a:r>
              <a:rPr lang="zh-CN" altLang="en-US" b="1" dirty="0">
                <a:solidFill>
                  <a:srgbClr val="000000"/>
                </a:solidFill>
                <a:latin typeface="Calibri" panose="020F0502020204030204" pitchFamily="34" charset="0"/>
                <a:ea typeface="宋体" panose="02010600030101010101" pitchFamily="2" charset="-122"/>
              </a:rPr>
              <a:t>写者 </a:t>
            </a:r>
          </a:p>
        </p:txBody>
      </p:sp>
      <p:sp>
        <p:nvSpPr>
          <p:cNvPr id="6" name="圆柱形 5"/>
          <p:cNvSpPr/>
          <p:nvPr/>
        </p:nvSpPr>
        <p:spPr>
          <a:xfrm>
            <a:off x="2339975" y="4637088"/>
            <a:ext cx="647700" cy="968375"/>
          </a:xfrm>
          <a:prstGeom prst="can">
            <a:avLst>
              <a:gd name="adj" fmla="val 24972"/>
            </a:avLst>
          </a:prstGeom>
          <a:solidFill>
            <a:srgbClr val="0070C0"/>
          </a:solidFill>
          <a:ln w="9525">
            <a:noFill/>
          </a:ln>
        </p:spPr>
        <p:txBody>
          <a:bodyPr anchor="t" anchorCtr="0"/>
          <a:lstStyle/>
          <a:p>
            <a:pPr>
              <a:buClrTx/>
              <a:buFont typeface="Arial" panose="020B0604020202020204" pitchFamily="34" charset="0"/>
            </a:pPr>
            <a:endParaRPr lang="zh-CN" altLang="en-US" dirty="0">
              <a:solidFill>
                <a:srgbClr val="000000"/>
              </a:solidFill>
              <a:latin typeface="Tahoma" panose="020B0604030504040204" pitchFamily="34" charset="0"/>
              <a:ea typeface="宋体" panose="02010600030101010101" pitchFamily="2" charset="-122"/>
            </a:endParaRPr>
          </a:p>
        </p:txBody>
      </p:sp>
      <p:sp>
        <p:nvSpPr>
          <p:cNvPr id="7" name="文本框 6"/>
          <p:cNvSpPr txBox="1"/>
          <p:nvPr/>
        </p:nvSpPr>
        <p:spPr>
          <a:xfrm>
            <a:off x="3840163" y="4746625"/>
            <a:ext cx="1201737" cy="460375"/>
          </a:xfrm>
          <a:prstGeom prst="rect">
            <a:avLst/>
          </a:prstGeom>
          <a:noFill/>
          <a:ln w="9525">
            <a:noFill/>
          </a:ln>
        </p:spPr>
        <p:txBody>
          <a:bodyPr anchor="t" anchorCtr="0">
            <a:spAutoFit/>
          </a:bodyPr>
          <a:lstStyle/>
          <a:p>
            <a:pPr>
              <a:buClrTx/>
              <a:buFont typeface="Arial" panose="020B0604020202020204" pitchFamily="34" charset="0"/>
            </a:pPr>
            <a:r>
              <a:rPr lang="zh-CN" altLang="en-US" b="1" dirty="0">
                <a:solidFill>
                  <a:srgbClr val="000000"/>
                </a:solidFill>
                <a:latin typeface="Calibri" panose="020F0502020204030204" pitchFamily="34" charset="0"/>
                <a:ea typeface="宋体" panose="02010600030101010101" pitchFamily="2" charset="-122"/>
              </a:rPr>
              <a:t>②读者</a:t>
            </a:r>
          </a:p>
        </p:txBody>
      </p:sp>
      <p:sp>
        <p:nvSpPr>
          <p:cNvPr id="8" name="文本框 7"/>
          <p:cNvSpPr txBox="1"/>
          <p:nvPr/>
        </p:nvSpPr>
        <p:spPr>
          <a:xfrm>
            <a:off x="4703763" y="4746625"/>
            <a:ext cx="1290637" cy="460375"/>
          </a:xfrm>
          <a:prstGeom prst="rect">
            <a:avLst/>
          </a:prstGeom>
          <a:noFill/>
          <a:ln w="9525">
            <a:noFill/>
          </a:ln>
        </p:spPr>
        <p:txBody>
          <a:bodyPr anchor="t" anchorCtr="0">
            <a:spAutoFit/>
          </a:bodyPr>
          <a:lstStyle/>
          <a:p>
            <a:pPr>
              <a:buClrTx/>
              <a:buFont typeface="Arial" panose="020B0604020202020204" pitchFamily="34" charset="0"/>
            </a:pPr>
            <a:r>
              <a:rPr lang="zh-CN" altLang="en-US" b="1" dirty="0">
                <a:solidFill>
                  <a:srgbClr val="000000"/>
                </a:solidFill>
                <a:latin typeface="Calibri" panose="020F0502020204030204" pitchFamily="34" charset="0"/>
                <a:ea typeface="宋体" panose="02010600030101010101" pitchFamily="2" charset="-122"/>
              </a:rPr>
              <a:t> ③读者</a:t>
            </a:r>
          </a:p>
        </p:txBody>
      </p:sp>
      <p:sp>
        <p:nvSpPr>
          <p:cNvPr id="9" name="上弧形箭头 8"/>
          <p:cNvSpPr/>
          <p:nvPr/>
        </p:nvSpPr>
        <p:spPr>
          <a:xfrm rot="10620000" flipV="1">
            <a:off x="2738438" y="4351338"/>
            <a:ext cx="917575" cy="449262"/>
          </a:xfrm>
          <a:prstGeom prst="curvedDownArrow">
            <a:avLst>
              <a:gd name="adj1" fmla="val 24962"/>
              <a:gd name="adj2" fmla="val 49924"/>
              <a:gd name="adj3" fmla="val 25000"/>
            </a:avLst>
          </a:prstGeom>
          <a:solidFill>
            <a:srgbClr val="C00000"/>
          </a:solidFill>
          <a:ln w="9525">
            <a:noFill/>
          </a:ln>
        </p:spPr>
        <p:txBody>
          <a:bodyPr anchor="t" anchorCtr="0"/>
          <a:lstStyle/>
          <a:p>
            <a:pPr>
              <a:buClrTx/>
              <a:buFont typeface="Arial" panose="020B0604020202020204" pitchFamily="34" charset="0"/>
            </a:pPr>
            <a:endParaRPr lang="zh-CN" altLang="en-US" dirty="0">
              <a:solidFill>
                <a:srgbClr val="000000"/>
              </a:solidFill>
              <a:latin typeface="Tahoma" panose="020B0604030504040204" pitchFamily="34" charset="0"/>
              <a:ea typeface="宋体" panose="02010600030101010101" pitchFamily="2" charset="-122"/>
            </a:endParaRPr>
          </a:p>
        </p:txBody>
      </p:sp>
      <p:grpSp>
        <p:nvGrpSpPr>
          <p:cNvPr id="10" name="组合 9"/>
          <p:cNvGrpSpPr/>
          <p:nvPr/>
        </p:nvGrpSpPr>
        <p:grpSpPr>
          <a:xfrm>
            <a:off x="3989388" y="3951288"/>
            <a:ext cx="1060450" cy="733425"/>
            <a:chOff x="11334" y="6292"/>
            <a:chExt cx="1668" cy="1156"/>
          </a:xfrm>
        </p:grpSpPr>
        <p:sp>
          <p:nvSpPr>
            <p:cNvPr id="39946" name="文本框 15"/>
            <p:cNvSpPr txBox="1"/>
            <p:nvPr/>
          </p:nvSpPr>
          <p:spPr>
            <a:xfrm>
              <a:off x="11334" y="6292"/>
              <a:ext cx="1668" cy="822"/>
            </a:xfrm>
            <a:prstGeom prst="rect">
              <a:avLst/>
            </a:prstGeom>
            <a:noFill/>
            <a:ln w="9525">
              <a:noFill/>
            </a:ln>
          </p:spPr>
          <p:txBody>
            <a:bodyPr anchor="t" anchorCtr="0">
              <a:spAutoFit/>
            </a:bodyPr>
            <a:lstStyle/>
            <a:p>
              <a:pPr>
                <a:buClrTx/>
                <a:buFont typeface="Arial" panose="020B0604020202020204" pitchFamily="34" charset="0"/>
              </a:pPr>
              <a:r>
                <a:rPr lang="zh-CN" altLang="en-US" sz="2800" b="1" dirty="0">
                  <a:solidFill>
                    <a:srgbClr val="C00000"/>
                  </a:solidFill>
                  <a:latin typeface="Calibri" panose="020F0502020204030204" pitchFamily="34" charset="0"/>
                  <a:ea typeface="宋体" panose="02010600030101010101" pitchFamily="2" charset="-122"/>
                </a:rPr>
                <a:t> </a:t>
              </a:r>
              <a:r>
                <a:rPr lang="zh-CN" altLang="en-US" b="1" dirty="0">
                  <a:solidFill>
                    <a:srgbClr val="C00000"/>
                  </a:solidFill>
                  <a:latin typeface="Calibri" panose="020F0502020204030204" pitchFamily="34" charset="0"/>
                  <a:ea typeface="宋体" panose="02010600030101010101" pitchFamily="2" charset="-122"/>
                </a:rPr>
                <a:t>阻塞</a:t>
              </a:r>
            </a:p>
          </p:txBody>
        </p:sp>
        <p:sp>
          <p:nvSpPr>
            <p:cNvPr id="39947" name="上箭头 16"/>
            <p:cNvSpPr/>
            <p:nvPr/>
          </p:nvSpPr>
          <p:spPr>
            <a:xfrm>
              <a:off x="11844" y="6996"/>
              <a:ext cx="427" cy="453"/>
            </a:xfrm>
            <a:prstGeom prst="upArrow">
              <a:avLst>
                <a:gd name="adj1" fmla="val 50000"/>
                <a:gd name="adj2" fmla="val 49979"/>
              </a:avLst>
            </a:prstGeom>
            <a:solidFill>
              <a:srgbClr val="C00000"/>
            </a:solidFill>
            <a:ln w="9525" cap="flat" cmpd="sng">
              <a:solidFill>
                <a:srgbClr val="C00000"/>
              </a:solidFill>
              <a:prstDash val="solid"/>
              <a:round/>
              <a:headEnd type="none" w="med" len="med"/>
              <a:tailEnd type="none" w="med" len="med"/>
            </a:ln>
          </p:spPr>
          <p:txBody>
            <a:bodyPr anchor="t" anchorCtr="0"/>
            <a:lstStyle/>
            <a:p>
              <a:pPr>
                <a:buClrTx/>
                <a:buFont typeface="Arial" panose="020B0604020202020204" pitchFamily="34" charset="0"/>
              </a:pPr>
              <a:endParaRPr lang="zh-CN" altLang="en-US" dirty="0">
                <a:solidFill>
                  <a:srgbClr val="000000"/>
                </a:solidFill>
                <a:latin typeface="Tahoma" panose="020B0604030504040204" pitchFamily="34" charset="0"/>
                <a:ea typeface="宋体" panose="02010600030101010101" pitchFamily="2" charset="-122"/>
              </a:endParaRPr>
            </a:p>
          </p:txBody>
        </p:sp>
      </p:grpSp>
      <p:grpSp>
        <p:nvGrpSpPr>
          <p:cNvPr id="13" name="组合 12"/>
          <p:cNvGrpSpPr/>
          <p:nvPr/>
        </p:nvGrpSpPr>
        <p:grpSpPr>
          <a:xfrm>
            <a:off x="4964113" y="3933825"/>
            <a:ext cx="1060450" cy="733425"/>
            <a:chOff x="11334" y="6292"/>
            <a:chExt cx="1668" cy="1156"/>
          </a:xfrm>
        </p:grpSpPr>
        <p:sp>
          <p:nvSpPr>
            <p:cNvPr id="39949" name="文本框 15"/>
            <p:cNvSpPr txBox="1"/>
            <p:nvPr/>
          </p:nvSpPr>
          <p:spPr>
            <a:xfrm>
              <a:off x="11334" y="6292"/>
              <a:ext cx="1668" cy="822"/>
            </a:xfrm>
            <a:prstGeom prst="rect">
              <a:avLst/>
            </a:prstGeom>
            <a:noFill/>
            <a:ln w="9525">
              <a:noFill/>
            </a:ln>
          </p:spPr>
          <p:txBody>
            <a:bodyPr anchor="t" anchorCtr="0">
              <a:spAutoFit/>
            </a:bodyPr>
            <a:lstStyle/>
            <a:p>
              <a:pPr>
                <a:buClrTx/>
                <a:buFont typeface="Arial" panose="020B0604020202020204" pitchFamily="34" charset="0"/>
              </a:pPr>
              <a:r>
                <a:rPr lang="zh-CN" altLang="en-US" sz="2800" b="1" dirty="0">
                  <a:solidFill>
                    <a:srgbClr val="C00000"/>
                  </a:solidFill>
                  <a:latin typeface="Calibri" panose="020F0502020204030204" pitchFamily="34" charset="0"/>
                  <a:ea typeface="宋体" panose="02010600030101010101" pitchFamily="2" charset="-122"/>
                </a:rPr>
                <a:t> </a:t>
              </a:r>
              <a:r>
                <a:rPr lang="zh-CN" altLang="en-US" b="1" dirty="0">
                  <a:solidFill>
                    <a:srgbClr val="C00000"/>
                  </a:solidFill>
                  <a:latin typeface="Calibri" panose="020F0502020204030204" pitchFamily="34" charset="0"/>
                  <a:ea typeface="宋体" panose="02010600030101010101" pitchFamily="2" charset="-122"/>
                </a:rPr>
                <a:t>阻塞</a:t>
              </a:r>
            </a:p>
          </p:txBody>
        </p:sp>
        <p:sp>
          <p:nvSpPr>
            <p:cNvPr id="39950" name="上箭头 16"/>
            <p:cNvSpPr/>
            <p:nvPr/>
          </p:nvSpPr>
          <p:spPr>
            <a:xfrm>
              <a:off x="11844" y="6996"/>
              <a:ext cx="427" cy="453"/>
            </a:xfrm>
            <a:prstGeom prst="upArrow">
              <a:avLst>
                <a:gd name="adj1" fmla="val 50000"/>
                <a:gd name="adj2" fmla="val 49979"/>
              </a:avLst>
            </a:prstGeom>
            <a:solidFill>
              <a:srgbClr val="C00000"/>
            </a:solidFill>
            <a:ln w="9525" cap="flat" cmpd="sng">
              <a:solidFill>
                <a:srgbClr val="C00000"/>
              </a:solidFill>
              <a:prstDash val="solid"/>
              <a:round/>
              <a:headEnd type="none" w="med" len="med"/>
              <a:tailEnd type="none" w="med" len="med"/>
            </a:ln>
          </p:spPr>
          <p:txBody>
            <a:bodyPr anchor="t" anchorCtr="0"/>
            <a:lstStyle/>
            <a:p>
              <a:pPr>
                <a:buClrTx/>
                <a:buFont typeface="Arial" panose="020B0604020202020204" pitchFamily="34" charset="0"/>
              </a:pPr>
              <a:endParaRPr lang="zh-CN" altLang="en-US" dirty="0">
                <a:solidFill>
                  <a:srgbClr val="000000"/>
                </a:solidFill>
                <a:latin typeface="Tahoma" panose="020B0604030504040204" pitchFamily="34" charset="0"/>
                <a:ea typeface="宋体" panose="02010600030101010101" pitchFamily="2" charset="-122"/>
              </a:endParaRPr>
            </a:p>
          </p:txBody>
        </p:sp>
      </p:grpSp>
      <p:sp>
        <p:nvSpPr>
          <p:cNvPr id="16" name="文本框 15"/>
          <p:cNvSpPr txBox="1"/>
          <p:nvPr/>
        </p:nvSpPr>
        <p:spPr>
          <a:xfrm>
            <a:off x="5640388" y="4748213"/>
            <a:ext cx="1290637" cy="460375"/>
          </a:xfrm>
          <a:prstGeom prst="rect">
            <a:avLst/>
          </a:prstGeom>
          <a:noFill/>
          <a:ln w="9525">
            <a:noFill/>
          </a:ln>
        </p:spPr>
        <p:txBody>
          <a:bodyPr anchor="t" anchorCtr="0">
            <a:spAutoFit/>
          </a:bodyPr>
          <a:lstStyle/>
          <a:p>
            <a:pPr>
              <a:buClrTx/>
              <a:buFont typeface="Arial" panose="020B0604020202020204" pitchFamily="34" charset="0"/>
            </a:pPr>
            <a:r>
              <a:rPr lang="zh-CN" altLang="en-US" b="1" dirty="0">
                <a:solidFill>
                  <a:srgbClr val="000000"/>
                </a:solidFill>
                <a:latin typeface="Calibri" panose="020F0502020204030204" pitchFamily="34" charset="0"/>
                <a:ea typeface="宋体" panose="02010600030101010101" pitchFamily="2" charset="-122"/>
              </a:rPr>
              <a:t> ④写者</a:t>
            </a:r>
          </a:p>
        </p:txBody>
      </p:sp>
      <p:sp>
        <p:nvSpPr>
          <p:cNvPr id="19" name="上弧形箭头 18"/>
          <p:cNvSpPr/>
          <p:nvPr/>
        </p:nvSpPr>
        <p:spPr>
          <a:xfrm rot="10620000">
            <a:off x="3055938" y="5291138"/>
            <a:ext cx="3398837" cy="384175"/>
          </a:xfrm>
          <a:prstGeom prst="curvedDownArrow">
            <a:avLst>
              <a:gd name="adj1" fmla="val 25019"/>
              <a:gd name="adj2" fmla="val 50092"/>
              <a:gd name="adj3" fmla="val 25000"/>
            </a:avLst>
          </a:prstGeom>
          <a:solidFill>
            <a:srgbClr val="C00000"/>
          </a:solidFill>
          <a:ln w="9525">
            <a:noFill/>
          </a:ln>
        </p:spPr>
        <p:txBody>
          <a:bodyPr anchor="t" anchorCtr="0"/>
          <a:lstStyle/>
          <a:p>
            <a:pPr>
              <a:buClrTx/>
              <a:buFont typeface="Arial" panose="020B0604020202020204" pitchFamily="34" charset="0"/>
            </a:pPr>
            <a:endParaRPr lang="zh-CN" altLang="en-US" dirty="0">
              <a:solidFill>
                <a:srgbClr val="000000"/>
              </a:solidFill>
              <a:latin typeface="Tahoma" panose="020B0604030504040204" pitchFamily="34" charset="0"/>
              <a:ea typeface="宋体" panose="02010600030101010101" pitchFamily="2" charset="-122"/>
            </a:endParaRPr>
          </a:p>
        </p:txBody>
      </p:sp>
      <p:grpSp>
        <p:nvGrpSpPr>
          <p:cNvPr id="20" name="组合 19"/>
          <p:cNvGrpSpPr/>
          <p:nvPr/>
        </p:nvGrpSpPr>
        <p:grpSpPr>
          <a:xfrm>
            <a:off x="5940425" y="3933825"/>
            <a:ext cx="1060450" cy="733425"/>
            <a:chOff x="11334" y="6292"/>
            <a:chExt cx="1668" cy="1156"/>
          </a:xfrm>
        </p:grpSpPr>
        <p:sp>
          <p:nvSpPr>
            <p:cNvPr id="39954" name="文本框 15"/>
            <p:cNvSpPr txBox="1"/>
            <p:nvPr/>
          </p:nvSpPr>
          <p:spPr>
            <a:xfrm>
              <a:off x="11334" y="6292"/>
              <a:ext cx="1668" cy="822"/>
            </a:xfrm>
            <a:prstGeom prst="rect">
              <a:avLst/>
            </a:prstGeom>
            <a:noFill/>
            <a:ln w="9525">
              <a:noFill/>
            </a:ln>
          </p:spPr>
          <p:txBody>
            <a:bodyPr anchor="t" anchorCtr="0">
              <a:spAutoFit/>
            </a:bodyPr>
            <a:lstStyle/>
            <a:p>
              <a:pPr>
                <a:buClrTx/>
                <a:buFont typeface="Arial" panose="020B0604020202020204" pitchFamily="34" charset="0"/>
              </a:pPr>
              <a:r>
                <a:rPr lang="zh-CN" altLang="en-US" sz="2800" b="1" dirty="0">
                  <a:solidFill>
                    <a:srgbClr val="C00000"/>
                  </a:solidFill>
                  <a:latin typeface="Calibri" panose="020F0502020204030204" pitchFamily="34" charset="0"/>
                  <a:ea typeface="宋体" panose="02010600030101010101" pitchFamily="2" charset="-122"/>
                </a:rPr>
                <a:t> </a:t>
              </a:r>
              <a:r>
                <a:rPr lang="zh-CN" altLang="en-US" b="1" dirty="0">
                  <a:solidFill>
                    <a:srgbClr val="C00000"/>
                  </a:solidFill>
                  <a:latin typeface="Calibri" panose="020F0502020204030204" pitchFamily="34" charset="0"/>
                  <a:ea typeface="宋体" panose="02010600030101010101" pitchFamily="2" charset="-122"/>
                </a:rPr>
                <a:t>阻塞</a:t>
              </a:r>
            </a:p>
          </p:txBody>
        </p:sp>
        <p:sp>
          <p:nvSpPr>
            <p:cNvPr id="39955" name="上箭头 16"/>
            <p:cNvSpPr/>
            <p:nvPr/>
          </p:nvSpPr>
          <p:spPr>
            <a:xfrm>
              <a:off x="11844" y="6996"/>
              <a:ext cx="427" cy="453"/>
            </a:xfrm>
            <a:prstGeom prst="upArrow">
              <a:avLst>
                <a:gd name="adj1" fmla="val 50000"/>
                <a:gd name="adj2" fmla="val 49979"/>
              </a:avLst>
            </a:prstGeom>
            <a:solidFill>
              <a:srgbClr val="C00000"/>
            </a:solidFill>
            <a:ln w="9525" cap="flat" cmpd="sng">
              <a:solidFill>
                <a:srgbClr val="C00000"/>
              </a:solidFill>
              <a:prstDash val="solid"/>
              <a:round/>
              <a:headEnd type="none" w="med" len="med"/>
              <a:tailEnd type="none" w="med" len="med"/>
            </a:ln>
          </p:spPr>
          <p:txBody>
            <a:bodyPr anchor="t" anchorCtr="0"/>
            <a:lstStyle/>
            <a:p>
              <a:pPr>
                <a:buClrTx/>
                <a:buFont typeface="Arial" panose="020B0604020202020204" pitchFamily="34" charset="0"/>
              </a:pPr>
              <a:endParaRPr lang="zh-CN" altLang="en-US" dirty="0">
                <a:solidFill>
                  <a:srgbClr val="000000"/>
                </a:solidFill>
                <a:latin typeface="Tahoma" panose="020B060403050404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linds(horizontal)">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down)">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blinds(horizontal)">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down)">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grpId="1" nodeType="clickEffect">
                                  <p:stCondLst>
                                    <p:cond delay="0"/>
                                  </p:stCondLst>
                                  <p:childTnLst>
                                    <p:animEffect transition="out" filter="blinds(horizontal)">
                                      <p:cBhvr>
                                        <p:cTn id="51" dur="500"/>
                                        <p:tgtEl>
                                          <p:spTgt spid="5"/>
                                        </p:tgtEl>
                                      </p:cBhvr>
                                    </p:animEffect>
                                    <p:set>
                                      <p:cBhvr>
                                        <p:cTn id="52" dur="1" fill="hold">
                                          <p:stCondLst>
                                            <p:cond delay="499"/>
                                          </p:stCondLst>
                                        </p:cTn>
                                        <p:tgtEl>
                                          <p:spTgt spid="5"/>
                                        </p:tgtEl>
                                        <p:attrNameLst>
                                          <p:attrName>style.visibility</p:attrName>
                                        </p:attrNameLst>
                                      </p:cBhvr>
                                      <p:to>
                                        <p:strVal val="hidden"/>
                                      </p:to>
                                    </p:set>
                                  </p:childTnLst>
                                </p:cTn>
                              </p:par>
                              <p:par>
                                <p:cTn id="53" presetID="3" presetClass="exit" presetSubtype="10" fill="hold" grpId="1" nodeType="withEffect">
                                  <p:stCondLst>
                                    <p:cond delay="0"/>
                                  </p:stCondLst>
                                  <p:childTnLst>
                                    <p:animEffect transition="out" filter="blinds(horizontal)">
                                      <p:cBhvr>
                                        <p:cTn id="54" dur="500"/>
                                        <p:tgtEl>
                                          <p:spTgt spid="9"/>
                                        </p:tgtEl>
                                      </p:cBhvr>
                                    </p:animEffect>
                                    <p:set>
                                      <p:cBhvr>
                                        <p:cTn id="55" dur="1" fill="hold">
                                          <p:stCondLst>
                                            <p:cond delay="499"/>
                                          </p:stCondLst>
                                        </p:cTn>
                                        <p:tgtEl>
                                          <p:spTgt spid="9"/>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3" presetClass="exit" presetSubtype="10" fill="hold" nodeType="clickEffect">
                                  <p:stCondLst>
                                    <p:cond delay="0"/>
                                  </p:stCondLst>
                                  <p:childTnLst>
                                    <p:animEffect transition="out" filter="blinds(horizontal)">
                                      <p:cBhvr>
                                        <p:cTn id="59" dur="500"/>
                                        <p:tgtEl>
                                          <p:spTgt spid="20"/>
                                        </p:tgtEl>
                                      </p:cBhvr>
                                    </p:animEffect>
                                    <p:set>
                                      <p:cBhvr>
                                        <p:cTn id="60" dur="1" fill="hold">
                                          <p:stCondLst>
                                            <p:cond delay="499"/>
                                          </p:stCondLst>
                                        </p:cTn>
                                        <p:tgtEl>
                                          <p:spTgt spid="20"/>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blinds(horizontal)">
                                      <p:cBhvr>
                                        <p:cTn id="6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bldLvl="0" animBg="1"/>
      <p:bldP spid="7" grpId="0"/>
      <p:bldP spid="8" grpId="0"/>
      <p:bldP spid="9" grpId="0" bldLvl="0" animBg="1"/>
      <p:bldP spid="9" grpId="1" bldLvl="0" animBg="1"/>
      <p:bldP spid="16" grpId="0"/>
      <p:bldP spid="19"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内容占位符 2"/>
          <p:cNvSpPr>
            <a:spLocks noGrp="1"/>
          </p:cNvSpPr>
          <p:nvPr>
            <p:ph idx="1"/>
          </p:nvPr>
        </p:nvSpPr>
        <p:spPr>
          <a:xfrm>
            <a:off x="1042988" y="1052513"/>
            <a:ext cx="7772400" cy="4114800"/>
          </a:xfrm>
          <a:ln/>
        </p:spPr>
        <p:txBody>
          <a:bodyPr vert="horz" wrap="square" lIns="91440" tIns="45720" rIns="91440" bIns="45720" anchor="t" anchorCtr="0"/>
          <a:lstStyle/>
          <a:p>
            <a:r>
              <a:rPr lang="zh-CN" altLang="en-US" sz="2000" dirty="0"/>
              <a:t>保证写者优先于读者，即一旦有写者到达时，则新读者要等待。</a:t>
            </a:r>
          </a:p>
          <a:p>
            <a:r>
              <a:rPr lang="zh-CN" altLang="en-US" sz="2000" dirty="0"/>
              <a:t>信号量：</a:t>
            </a:r>
          </a:p>
          <a:p>
            <a:r>
              <a:rPr lang="en-US" altLang="zh-CN" sz="2000" dirty="0"/>
              <a:t>rmutex——</a:t>
            </a:r>
            <a:r>
              <a:rPr lang="zh-CN" altLang="en-US" sz="2000" dirty="0"/>
              <a:t>当至少有一个写者到达时，阻止所有读者访问的互斥操作信号量，初值为</a:t>
            </a:r>
            <a:r>
              <a:rPr lang="en-US" altLang="zh-CN" sz="2000" dirty="0"/>
              <a:t>1</a:t>
            </a:r>
            <a:r>
              <a:rPr lang="zh-CN" altLang="en-US" sz="2000" dirty="0"/>
              <a:t>。</a:t>
            </a:r>
          </a:p>
          <a:p>
            <a:r>
              <a:rPr lang="en-US" altLang="zh-CN" sz="2000" dirty="0"/>
              <a:t>wmutex——</a:t>
            </a:r>
            <a:r>
              <a:rPr lang="zh-CN" altLang="en-US" sz="2000" dirty="0"/>
              <a:t>写者间以及读者与写者间互斥操作信号量，初值为</a:t>
            </a:r>
            <a:r>
              <a:rPr lang="en-US" altLang="zh-CN" sz="2000" dirty="0"/>
              <a:t>1</a:t>
            </a:r>
            <a:r>
              <a:rPr lang="zh-CN" altLang="en-US" sz="2000" dirty="0"/>
              <a:t>。</a:t>
            </a:r>
          </a:p>
          <a:p>
            <a:r>
              <a:rPr lang="en-US" altLang="zh-CN" sz="2000" dirty="0"/>
              <a:t>x——</a:t>
            </a:r>
            <a:r>
              <a:rPr lang="zh-CN" altLang="en-US" sz="2000" dirty="0"/>
              <a:t>控制</a:t>
            </a:r>
            <a:r>
              <a:rPr lang="en-US" altLang="zh-CN" sz="2000" dirty="0"/>
              <a:t>readcount</a:t>
            </a:r>
            <a:r>
              <a:rPr lang="zh-CN" altLang="en-US" sz="2000" dirty="0"/>
              <a:t>变量修改的互斥信号量，初值为</a:t>
            </a:r>
            <a:r>
              <a:rPr lang="en-US" altLang="zh-CN" sz="2000" dirty="0"/>
              <a:t>1</a:t>
            </a:r>
            <a:r>
              <a:rPr lang="zh-CN" altLang="en-US" sz="2000" dirty="0"/>
              <a:t>。</a:t>
            </a:r>
          </a:p>
          <a:p>
            <a:r>
              <a:rPr lang="en-US" altLang="zh-CN" sz="2000" dirty="0"/>
              <a:t>y——</a:t>
            </a:r>
            <a:r>
              <a:rPr lang="zh-CN" altLang="en-US" sz="2000" dirty="0"/>
              <a:t>控制</a:t>
            </a:r>
            <a:r>
              <a:rPr lang="en-US" altLang="zh-CN" sz="2000" dirty="0"/>
              <a:t>writecount</a:t>
            </a:r>
            <a:r>
              <a:rPr lang="zh-CN" altLang="en-US" sz="2000" dirty="0"/>
              <a:t>变量修改的互斥信号量，初值为</a:t>
            </a:r>
            <a:r>
              <a:rPr lang="en-US" altLang="zh-CN" sz="2000" dirty="0"/>
              <a:t>1</a:t>
            </a:r>
            <a:r>
              <a:rPr lang="zh-CN" altLang="en-US" sz="2000" dirty="0"/>
              <a:t>。</a:t>
            </a:r>
          </a:p>
          <a:p>
            <a:r>
              <a:rPr lang="en-US" altLang="zh-CN" sz="2000" dirty="0"/>
              <a:t>z——</a:t>
            </a:r>
            <a:r>
              <a:rPr lang="zh-CN" altLang="en-US" sz="2000" dirty="0"/>
              <a:t>有写者时，只允许一个读者在</a:t>
            </a:r>
            <a:r>
              <a:rPr lang="en-US" altLang="zh-CN" sz="2000" dirty="0"/>
              <a:t>rmutex</a:t>
            </a:r>
            <a:r>
              <a:rPr lang="zh-CN" altLang="en-US" sz="2000" dirty="0"/>
              <a:t>上排队，其他读者在信号量</a:t>
            </a:r>
            <a:r>
              <a:rPr lang="en-US" altLang="zh-CN" sz="2000" dirty="0"/>
              <a:t>z</a:t>
            </a:r>
            <a:r>
              <a:rPr lang="zh-CN" altLang="en-US" sz="2000" dirty="0"/>
              <a:t>上排队，初值为</a:t>
            </a:r>
            <a:r>
              <a:rPr lang="en-US" altLang="zh-CN" sz="2000" dirty="0"/>
              <a:t>1</a:t>
            </a:r>
            <a:r>
              <a:rPr lang="zh-CN" altLang="en-US" sz="2000" dirty="0"/>
              <a:t>。</a:t>
            </a:r>
          </a:p>
          <a:p>
            <a:r>
              <a:rPr lang="zh-CN" altLang="en-US" sz="2000" dirty="0"/>
              <a:t>计数变量：</a:t>
            </a:r>
          </a:p>
          <a:p>
            <a:r>
              <a:rPr lang="en-US" altLang="zh-CN" sz="2000" dirty="0"/>
              <a:t>readcount——</a:t>
            </a:r>
            <a:r>
              <a:rPr lang="zh-CN" altLang="en-US" sz="2000" dirty="0"/>
              <a:t>读者计数器，初值为</a:t>
            </a:r>
            <a:r>
              <a:rPr lang="en-US" altLang="zh-CN" sz="2000" dirty="0"/>
              <a:t>0</a:t>
            </a:r>
            <a:r>
              <a:rPr lang="zh-CN" altLang="en-US" sz="2000" dirty="0"/>
              <a:t>。它控制对</a:t>
            </a:r>
            <a:r>
              <a:rPr lang="en-US" altLang="zh-CN" sz="2000" dirty="0"/>
              <a:t>wmutex</a:t>
            </a:r>
            <a:r>
              <a:rPr lang="zh-CN" altLang="en-US" sz="2000" dirty="0"/>
              <a:t>的设置。</a:t>
            </a:r>
          </a:p>
          <a:p>
            <a:r>
              <a:rPr lang="en-US" altLang="zh-CN" sz="2000" dirty="0"/>
              <a:t>writecount——</a:t>
            </a:r>
            <a:r>
              <a:rPr lang="zh-CN" altLang="en-US" sz="2000" dirty="0"/>
              <a:t>写者数目，初值为</a:t>
            </a:r>
            <a:r>
              <a:rPr lang="en-US" altLang="zh-CN" sz="2000" dirty="0"/>
              <a:t>0</a:t>
            </a:r>
            <a:r>
              <a:rPr lang="zh-CN" altLang="en-US" sz="2000" dirty="0"/>
              <a:t>。它控制对</a:t>
            </a:r>
            <a:r>
              <a:rPr lang="en-US" altLang="zh-CN" sz="2000" dirty="0"/>
              <a:t>rmutex</a:t>
            </a:r>
            <a:r>
              <a:rPr lang="zh-CN" altLang="en-US" sz="2000" dirty="0"/>
              <a:t>的设置。</a:t>
            </a:r>
          </a:p>
          <a:p>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5" name="内容占位符 3"/>
          <p:cNvPicPr>
            <a:picLocks noGrp="1" noChangeAspect="1"/>
          </p:cNvPicPr>
          <p:nvPr>
            <p:ph idx="1"/>
          </p:nvPr>
        </p:nvPicPr>
        <p:blipFill>
          <a:blip r:embed="rId2"/>
          <a:stretch>
            <a:fillRect/>
          </a:stretch>
        </p:blipFill>
        <p:spPr>
          <a:xfrm>
            <a:off x="1619250" y="692150"/>
            <a:ext cx="6380163" cy="4114800"/>
          </a:xfrm>
          <a:ln/>
        </p:spPr>
      </p:pic>
      <p:pic>
        <p:nvPicPr>
          <p:cNvPr id="41986" name="图片 4"/>
          <p:cNvPicPr>
            <a:picLocks noChangeAspect="1"/>
          </p:cNvPicPr>
          <p:nvPr/>
        </p:nvPicPr>
        <p:blipFill>
          <a:blip r:embed="rId3"/>
          <a:stretch>
            <a:fillRect/>
          </a:stretch>
        </p:blipFill>
        <p:spPr>
          <a:xfrm>
            <a:off x="1481138" y="4652963"/>
            <a:ext cx="6656387" cy="1676400"/>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5"/>
          <p:cNvSpPr>
            <a:spLocks noGrp="1"/>
          </p:cNvSpPr>
          <p:nvPr>
            <p:ph type="sldNum" sz="quarter" idx="12"/>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buClrTx/>
              <a:buFont typeface="Arial" panose="020B0604020202020204" pitchFamily="34" charset="0"/>
              <a:buChar char="•"/>
            </a:pPr>
            <a:fld id="{9A0DB2DC-4C9A-4742-B13C-FB6460FD3503}" type="slidenum">
              <a:rPr lang="zh-CN" altLang="zh-CN" sz="1400" i="0" dirty="0">
                <a:solidFill>
                  <a:srgbClr val="000000"/>
                </a:solidFill>
                <a:latin typeface="Arial" panose="020B0604020202020204" pitchFamily="34" charset="0"/>
                <a:ea typeface="宋体" panose="02010600030101010101" pitchFamily="2" charset="-122"/>
              </a:rPr>
              <a:t>54</a:t>
            </a:fld>
            <a:endParaRPr lang="zh-CN" altLang="zh-CN" sz="1400" i="0" dirty="0">
              <a:solidFill>
                <a:srgbClr val="000000"/>
              </a:solidFill>
              <a:latin typeface="Arial" panose="020B0604020202020204" pitchFamily="34" charset="0"/>
              <a:ea typeface="宋体" panose="02010600030101010101" pitchFamily="2" charset="-122"/>
            </a:endParaRPr>
          </a:p>
        </p:txBody>
      </p:sp>
      <p:sp>
        <p:nvSpPr>
          <p:cNvPr id="43010" name="Rectangle 2"/>
          <p:cNvSpPr>
            <a:spLocks noGrp="1"/>
          </p:cNvSpPr>
          <p:nvPr>
            <p:ph type="title"/>
          </p:nvPr>
        </p:nvSpPr>
        <p:spPr>
          <a:ln/>
        </p:spPr>
        <p:txBody>
          <a:bodyPr vert="horz" wrap="square" lIns="91440" tIns="45720" rIns="91440" bIns="45720" anchor="b" anchorCtr="0"/>
          <a:lstStyle/>
          <a:p>
            <a:pPr eaLnBrk="1" hangingPunct="1"/>
            <a:r>
              <a:rPr lang="zh-CN" altLang="en-US" dirty="0"/>
              <a:t>练习</a:t>
            </a:r>
            <a:r>
              <a:rPr lang="en-US" altLang="zh-CN" dirty="0"/>
              <a:t>3</a:t>
            </a:r>
            <a:endParaRPr lang="zh-CN" altLang="zh-CN" dirty="0"/>
          </a:p>
        </p:txBody>
      </p:sp>
      <p:sp>
        <p:nvSpPr>
          <p:cNvPr id="43011" name="Rectangle 3"/>
          <p:cNvSpPr>
            <a:spLocks noGrp="1"/>
          </p:cNvSpPr>
          <p:nvPr>
            <p:ph idx="1"/>
          </p:nvPr>
        </p:nvSpPr>
        <p:spPr>
          <a:ln/>
        </p:spPr>
        <p:txBody>
          <a:bodyPr vert="horz" wrap="square" lIns="91440" tIns="45720" rIns="91440" bIns="45720" anchor="t" anchorCtr="0"/>
          <a:lstStyle/>
          <a:p>
            <a:pPr eaLnBrk="1" hangingPunct="1"/>
            <a:r>
              <a:rPr lang="zh-CN" altLang="en-US" b="1" dirty="0"/>
              <a:t>假定一个阅览室可容纳一百人，读者进入和离开阅览室时都必须在阅览室门口的登记表上做标识（进入时登记，离开时去掉登记），而且每次只允许一人登记或去掉登记。</a:t>
            </a:r>
          </a:p>
          <a:p>
            <a:pPr eaLnBrk="1" hangingPunct="1"/>
            <a:r>
              <a:rPr lang="zh-CN" altLang="en-US" b="1" dirty="0"/>
              <a:t>应设置几类进程？</a:t>
            </a:r>
          </a:p>
          <a:p>
            <a:pPr eaLnBrk="1" hangingPunct="1"/>
            <a:r>
              <a:rPr lang="zh-CN" altLang="en-US" b="1" dirty="0"/>
              <a:t>用</a:t>
            </a:r>
            <a:r>
              <a:rPr lang="zh-CN" altLang="zh-CN" b="1" dirty="0"/>
              <a:t>P</a:t>
            </a:r>
            <a:r>
              <a:rPr lang="zh-CN" altLang="en-US" b="1" dirty="0"/>
              <a:t>、</a:t>
            </a:r>
            <a:r>
              <a:rPr lang="zh-CN" altLang="zh-CN" b="1" dirty="0"/>
              <a:t>V</a:t>
            </a:r>
            <a:r>
              <a:rPr lang="zh-CN" altLang="en-US" b="1" dirty="0"/>
              <a:t>操作实现同步算法。</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5"/>
          <p:cNvSpPr>
            <a:spLocks noGrp="1"/>
          </p:cNvSpPr>
          <p:nvPr>
            <p:ph type="sldNum" sz="quarter" idx="12"/>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1"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buClrTx/>
              <a:buFont typeface="Arial" panose="020B0604020202020204" pitchFamily="34" charset="0"/>
              <a:buChar char="•"/>
            </a:pPr>
            <a:fld id="{9A0DB2DC-4C9A-4742-B13C-FB6460FD3503}" type="slidenum">
              <a:rPr lang="zh-CN" altLang="zh-CN" sz="1400" i="0" dirty="0">
                <a:solidFill>
                  <a:srgbClr val="000000"/>
                </a:solidFill>
                <a:latin typeface="Arial" panose="020B0604020202020204" pitchFamily="34" charset="0"/>
                <a:ea typeface="宋体" panose="02010600030101010101" pitchFamily="2" charset="-122"/>
              </a:rPr>
              <a:t>55</a:t>
            </a:fld>
            <a:endParaRPr lang="zh-CN" altLang="zh-CN" sz="1400" i="0" dirty="0">
              <a:solidFill>
                <a:srgbClr val="000000"/>
              </a:solidFill>
              <a:latin typeface="Arial" panose="020B0604020202020204" pitchFamily="34" charset="0"/>
              <a:ea typeface="宋体" panose="02010600030101010101" pitchFamily="2" charset="-122"/>
            </a:endParaRPr>
          </a:p>
        </p:txBody>
      </p:sp>
      <p:sp>
        <p:nvSpPr>
          <p:cNvPr id="45058" name="Rectangle 2"/>
          <p:cNvSpPr>
            <a:spLocks noGrp="1"/>
          </p:cNvSpPr>
          <p:nvPr>
            <p:ph type="title"/>
          </p:nvPr>
        </p:nvSpPr>
        <p:spPr>
          <a:ln/>
        </p:spPr>
        <p:txBody>
          <a:bodyPr vert="horz" wrap="square" lIns="91440" tIns="45720" rIns="91440" bIns="45720" anchor="b" anchorCtr="0"/>
          <a:lstStyle/>
          <a:p>
            <a:pPr eaLnBrk="1" hangingPunct="1"/>
            <a:r>
              <a:rPr lang="zh-CN" altLang="zh-CN" dirty="0"/>
              <a:t>练习</a:t>
            </a:r>
            <a:r>
              <a:rPr lang="en-US" altLang="zh-CN" dirty="0"/>
              <a:t>3</a:t>
            </a:r>
            <a:endParaRPr lang="zh-CN" altLang="zh-CN" dirty="0"/>
          </a:p>
        </p:txBody>
      </p:sp>
      <p:sp>
        <p:nvSpPr>
          <p:cNvPr id="2" name="Rectangle 3"/>
          <p:cNvSpPr>
            <a:spLocks noGrp="1"/>
          </p:cNvSpPr>
          <p:nvPr>
            <p:ph idx="1"/>
          </p:nvPr>
        </p:nvSpPr>
        <p:spPr>
          <a:xfrm>
            <a:off x="1182688" y="1844675"/>
            <a:ext cx="7772400" cy="4114800"/>
          </a:xfrm>
          <a:ln/>
        </p:spPr>
        <p:txBody>
          <a:bodyPr vert="horz" wrap="square" lIns="91440" tIns="45720" rIns="91440" bIns="45720" anchor="t" anchorCtr="0"/>
          <a:lstStyle/>
          <a:p>
            <a:pPr eaLnBrk="1" hangingPunct="1">
              <a:lnSpc>
                <a:spcPct val="90000"/>
              </a:lnSpc>
            </a:pPr>
            <a:r>
              <a:rPr lang="zh-CN" altLang="en-US" sz="2800" b="1" dirty="0"/>
              <a:t>每个读者对应一个进程，他们是同类进程。每个读者的动作都包括：</a:t>
            </a:r>
          </a:p>
          <a:p>
            <a:pPr lvl="1" eaLnBrk="1" hangingPunct="1">
              <a:lnSpc>
                <a:spcPct val="90000"/>
              </a:lnSpc>
            </a:pPr>
            <a:r>
              <a:rPr lang="zh-CN" altLang="en-US" sz="2400" b="1" dirty="0">
                <a:solidFill>
                  <a:srgbClr val="FF0000"/>
                </a:solidFill>
              </a:rPr>
              <a:t>申请阅览室的空位</a:t>
            </a:r>
            <a:r>
              <a:rPr lang="zh-CN" altLang="en-US" sz="2400" b="1" dirty="0"/>
              <a:t>；</a:t>
            </a:r>
            <a:endParaRPr lang="en-US" altLang="zh-CN" sz="2400" b="1" dirty="0"/>
          </a:p>
          <a:p>
            <a:pPr lvl="1" eaLnBrk="1" hangingPunct="1">
              <a:lnSpc>
                <a:spcPct val="90000"/>
              </a:lnSpc>
            </a:pPr>
            <a:r>
              <a:rPr lang="zh-CN" altLang="en-US" sz="2400" b="1" dirty="0"/>
              <a:t>入室前查表、登记；</a:t>
            </a:r>
          </a:p>
          <a:p>
            <a:pPr lvl="1" eaLnBrk="1" hangingPunct="1">
              <a:lnSpc>
                <a:spcPct val="90000"/>
              </a:lnSpc>
            </a:pPr>
            <a:r>
              <a:rPr lang="zh-CN" altLang="en-US" sz="2400" b="1" dirty="0"/>
              <a:t>进入室内，阅读书籍；</a:t>
            </a:r>
          </a:p>
          <a:p>
            <a:pPr lvl="1" eaLnBrk="1" hangingPunct="1">
              <a:lnSpc>
                <a:spcPct val="90000"/>
              </a:lnSpc>
            </a:pPr>
            <a:r>
              <a:rPr lang="zh-CN" altLang="en-US" sz="2400" b="1" dirty="0"/>
              <a:t>出室时删除登记；</a:t>
            </a:r>
            <a:endParaRPr lang="en-US" altLang="zh-CN" sz="2400" b="1" dirty="0"/>
          </a:p>
          <a:p>
            <a:pPr lvl="1" eaLnBrk="1" hangingPunct="1">
              <a:lnSpc>
                <a:spcPct val="90000"/>
              </a:lnSpc>
            </a:pPr>
            <a:r>
              <a:rPr lang="zh-CN" altLang="en-US" sz="2400" b="1" dirty="0">
                <a:solidFill>
                  <a:srgbClr val="FF0000"/>
                </a:solidFill>
              </a:rPr>
              <a:t>阅览室多出一个空位</a:t>
            </a:r>
            <a:r>
              <a:rPr lang="zh-CN" altLang="en-US" sz="2400" b="1" dirty="0"/>
              <a:t>。</a:t>
            </a:r>
          </a:p>
          <a:p>
            <a:pPr eaLnBrk="1" hangingPunct="1">
              <a:lnSpc>
                <a:spcPct val="90000"/>
              </a:lnSpc>
            </a:pPr>
            <a:r>
              <a:rPr lang="zh-CN" altLang="en-US" sz="2800" b="1" dirty="0"/>
              <a:t>信号量：</a:t>
            </a:r>
          </a:p>
          <a:p>
            <a:pPr lvl="1" eaLnBrk="1" hangingPunct="1">
              <a:lnSpc>
                <a:spcPct val="90000"/>
              </a:lnSpc>
            </a:pPr>
            <a:r>
              <a:rPr lang="zh-CN" altLang="zh-CN" sz="2400" b="1" dirty="0"/>
              <a:t>S</a:t>
            </a:r>
            <a:r>
              <a:rPr lang="zh-CN" altLang="zh-CN" sz="2400" b="1" dirty="0">
                <a:latin typeface="Times New Roman" panose="02020603050405020304" pitchFamily="18" charset="0"/>
              </a:rPr>
              <a:t>——</a:t>
            </a:r>
            <a:r>
              <a:rPr lang="zh-CN" altLang="en-US" sz="2400" b="1" dirty="0"/>
              <a:t>座位情况，初值为</a:t>
            </a:r>
            <a:r>
              <a:rPr lang="zh-CN" altLang="zh-CN" sz="2400" b="1" dirty="0"/>
              <a:t>100</a:t>
            </a:r>
            <a:r>
              <a:rPr lang="zh-CN" altLang="en-US" sz="2400" b="1" dirty="0"/>
              <a:t>；</a:t>
            </a:r>
          </a:p>
          <a:p>
            <a:pPr lvl="1" eaLnBrk="1" hangingPunct="1">
              <a:lnSpc>
                <a:spcPct val="90000"/>
              </a:lnSpc>
            </a:pPr>
            <a:r>
              <a:rPr lang="zh-CN" altLang="zh-CN" sz="2400" b="1" dirty="0"/>
              <a:t>mutex</a:t>
            </a:r>
            <a:r>
              <a:rPr lang="zh-CN" altLang="zh-CN" sz="2400" b="1" dirty="0">
                <a:latin typeface="Times New Roman" panose="02020603050405020304" pitchFamily="18" charset="0"/>
              </a:rPr>
              <a:t>——</a:t>
            </a:r>
            <a:r>
              <a:rPr lang="zh-CN" altLang="en-US" sz="2400" b="1" dirty="0"/>
              <a:t>互斥使用登记表，初值为</a:t>
            </a:r>
            <a:r>
              <a:rPr lang="zh-CN" altLang="zh-CN" sz="2400" b="1" dirty="0"/>
              <a:t>1</a:t>
            </a:r>
            <a:r>
              <a:rPr lang="zh-CN" altLang="en-US" sz="2400"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blinds(horizontal)">
                                      <p:cBhvr>
                                        <p:cTn id="7" dur="500"/>
                                        <p:tgtEl>
                                          <p:spTgt spid="2">
                                            <p:txEl>
                                              <p:pRg st="6" end="6"/>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7" end="7"/>
                                            </p:txEl>
                                          </p:spTgt>
                                        </p:tgtEl>
                                        <p:attrNameLst>
                                          <p:attrName>style.visibility</p:attrName>
                                        </p:attrNameLst>
                                      </p:cBhvr>
                                      <p:to>
                                        <p:strVal val="visible"/>
                                      </p:to>
                                    </p:set>
                                    <p:animEffect transition="in" filter="blinds(horizontal)">
                                      <p:cBhvr>
                                        <p:cTn id="10" dur="500"/>
                                        <p:tgtEl>
                                          <p:spTgt spid="2">
                                            <p:txEl>
                                              <p:pRg st="7" end="7"/>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animEffect transition="in" filter="blinds(horizontal)">
                                      <p:cBhvr>
                                        <p:cTn id="13"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p:nvPr/>
        </p:nvSpPr>
        <p:spPr>
          <a:xfrm>
            <a:off x="1042988" y="188913"/>
            <a:ext cx="4824412" cy="5976937"/>
          </a:xfrm>
          <a:prstGeom prst="rect">
            <a:avLst/>
          </a:prstGeom>
          <a:solidFill>
            <a:srgbClr val="FFF3FF"/>
          </a:solidFill>
          <a:ln w="9525" cap="flat" cmpd="sng">
            <a:solidFill>
              <a:schemeClr val="tx1"/>
            </a:solidFill>
            <a:prstDash val="solid"/>
            <a:miter/>
            <a:headEnd type="none" w="med" len="med"/>
            <a:tailEnd type="none" w="med" len="med"/>
          </a:ln>
        </p:spPr>
        <p:txBody>
          <a:bodyPr wrap="none" anchor="t" anchorCtr="0"/>
          <a:lstStyle/>
          <a:p>
            <a:pPr>
              <a:spcBef>
                <a:spcPct val="20000"/>
              </a:spcBef>
              <a:buClr>
                <a:srgbClr val="3333CC"/>
              </a:buClr>
              <a:buSzPct val="60000"/>
              <a:buFont typeface="Wingdings" panose="05000000000000000000" pitchFamily="2" charset="2"/>
            </a:pPr>
            <a:r>
              <a:rPr lang="zh-CN" altLang="en-US" b="1" u="sng" dirty="0">
                <a:solidFill>
                  <a:srgbClr val="000000"/>
                </a:solidFill>
                <a:latin typeface="Tahoma" panose="020B0604030504040204" pitchFamily="34" charset="0"/>
                <a:ea typeface="宋体" panose="02010600030101010101" pitchFamily="2" charset="-122"/>
              </a:rPr>
              <a:t>每位读者进程</a:t>
            </a:r>
            <a:r>
              <a:rPr lang="zh-CN" altLang="en-US" b="1" dirty="0">
                <a:solidFill>
                  <a:srgbClr val="000000"/>
                </a:solidFill>
                <a:latin typeface="Tahoma" panose="020B0604030504040204" pitchFamily="34" charset="0"/>
                <a:ea typeface="宋体" panose="02010600030101010101" pitchFamily="2" charset="-122"/>
              </a:rPr>
              <a:t>：</a:t>
            </a:r>
          </a:p>
          <a:p>
            <a:pPr>
              <a:spcBef>
                <a:spcPct val="20000"/>
              </a:spcBef>
              <a:buClr>
                <a:srgbClr val="3333CC"/>
              </a:buClr>
              <a:buSzPct val="60000"/>
              <a:buFont typeface="Wingdings" panose="05000000000000000000" pitchFamily="2" charset="2"/>
            </a:pPr>
            <a:endParaRPr lang="zh-CN" altLang="en-US" b="1" dirty="0">
              <a:solidFill>
                <a:srgbClr val="000000"/>
              </a:solidFill>
              <a:latin typeface="Tahoma" panose="020B0604030504040204" pitchFamily="34" charset="0"/>
              <a:ea typeface="宋体" panose="02010600030101010101" pitchFamily="2" charset="-122"/>
            </a:endParaRPr>
          </a:p>
          <a:p>
            <a:pPr>
              <a:spcBef>
                <a:spcPct val="20000"/>
              </a:spcBef>
              <a:buClr>
                <a:srgbClr val="3333CC"/>
              </a:buClr>
              <a:buSzPct val="60000"/>
              <a:buFont typeface="Wingdings" panose="05000000000000000000" pitchFamily="2" charset="2"/>
            </a:pPr>
            <a:r>
              <a:rPr lang="zh-CN" altLang="en-US" b="1" dirty="0">
                <a:solidFill>
                  <a:srgbClr val="000000"/>
                </a:solidFill>
                <a:latin typeface="Tahoma" panose="020B0604030504040204" pitchFamily="34" charset="0"/>
                <a:ea typeface="宋体" panose="02010600030101010101" pitchFamily="2" charset="-122"/>
              </a:rPr>
              <a:t>   </a:t>
            </a:r>
            <a:r>
              <a:rPr lang="zh-CN" altLang="zh-CN" b="1" dirty="0">
                <a:solidFill>
                  <a:srgbClr val="000000"/>
                </a:solidFill>
                <a:latin typeface="Tahoma" panose="020B0604030504040204" pitchFamily="34" charset="0"/>
                <a:ea typeface="宋体" panose="02010600030101010101" pitchFamily="2" charset="-122"/>
              </a:rPr>
              <a:t>while(TRUE) {</a:t>
            </a:r>
          </a:p>
          <a:p>
            <a:pPr>
              <a:spcBef>
                <a:spcPct val="20000"/>
              </a:spcBef>
              <a:buClr>
                <a:srgbClr val="3333CC"/>
              </a:buClr>
              <a:buSzPct val="60000"/>
              <a:buFont typeface="Wingdings" panose="05000000000000000000" pitchFamily="2" charset="2"/>
            </a:pPr>
            <a:r>
              <a:rPr lang="zh-CN" altLang="zh-CN" b="1" dirty="0">
                <a:solidFill>
                  <a:srgbClr val="FF0000"/>
                </a:solidFill>
                <a:latin typeface="Tahoma" panose="020B0604030504040204" pitchFamily="34" charset="0"/>
                <a:ea typeface="宋体" panose="02010600030101010101" pitchFamily="2" charset="-122"/>
              </a:rPr>
              <a:t>               P(S)</a:t>
            </a:r>
          </a:p>
          <a:p>
            <a:pPr>
              <a:spcBef>
                <a:spcPct val="20000"/>
              </a:spcBef>
              <a:buClr>
                <a:srgbClr val="3333CC"/>
              </a:buClr>
              <a:buSzPct val="60000"/>
              <a:buFont typeface="Wingdings" panose="05000000000000000000" pitchFamily="2" charset="2"/>
            </a:pPr>
            <a:r>
              <a:rPr lang="zh-CN" altLang="zh-CN" b="1" dirty="0">
                <a:solidFill>
                  <a:srgbClr val="CC0099"/>
                </a:solidFill>
                <a:latin typeface="Tahoma" panose="020B0604030504040204" pitchFamily="34" charset="0"/>
                <a:ea typeface="宋体" panose="02010600030101010101" pitchFamily="2" charset="-122"/>
              </a:rPr>
              <a:t>               P(mutex);</a:t>
            </a:r>
            <a:r>
              <a:rPr lang="zh-CN" altLang="zh-CN" b="1" dirty="0">
                <a:solidFill>
                  <a:srgbClr val="000000"/>
                </a:solidFill>
                <a:latin typeface="Tahoma" panose="020B0604030504040204" pitchFamily="34" charset="0"/>
                <a:ea typeface="宋体" panose="02010600030101010101" pitchFamily="2" charset="-122"/>
              </a:rPr>
              <a:t> </a:t>
            </a:r>
            <a:endParaRPr lang="zh-CN" altLang="zh-CN" b="1" dirty="0">
              <a:solidFill>
                <a:srgbClr val="FF0000"/>
              </a:solidFill>
              <a:latin typeface="Tahoma" panose="020B0604030504040204" pitchFamily="34" charset="0"/>
              <a:ea typeface="宋体" panose="02010600030101010101" pitchFamily="2" charset="-122"/>
            </a:endParaRPr>
          </a:p>
          <a:p>
            <a:pPr>
              <a:spcBef>
                <a:spcPct val="20000"/>
              </a:spcBef>
              <a:buClr>
                <a:srgbClr val="3333CC"/>
              </a:buClr>
              <a:buSzPct val="60000"/>
              <a:buFont typeface="Wingdings" panose="05000000000000000000" pitchFamily="2" charset="2"/>
            </a:pPr>
            <a:r>
              <a:rPr lang="zh-CN" altLang="zh-CN" b="1" dirty="0">
                <a:solidFill>
                  <a:srgbClr val="000000"/>
                </a:solidFill>
                <a:latin typeface="Tahoma" panose="020B0604030504040204" pitchFamily="34" charset="0"/>
                <a:ea typeface="宋体" panose="02010600030101010101" pitchFamily="2" charset="-122"/>
              </a:rPr>
              <a:t>              </a:t>
            </a:r>
            <a:r>
              <a:rPr lang="zh-CN" altLang="en-US" b="1" dirty="0">
                <a:solidFill>
                  <a:srgbClr val="000000"/>
                </a:solidFill>
                <a:latin typeface="Tahoma" panose="020B0604030504040204" pitchFamily="34" charset="0"/>
                <a:ea typeface="宋体" panose="02010600030101010101" pitchFamily="2" charset="-122"/>
              </a:rPr>
              <a:t>查表，登记</a:t>
            </a:r>
            <a:r>
              <a:rPr lang="zh-CN" altLang="zh-CN" b="1" dirty="0">
                <a:solidFill>
                  <a:srgbClr val="000000"/>
                </a:solidFill>
                <a:latin typeface="Tahoma" panose="020B0604030504040204" pitchFamily="34" charset="0"/>
                <a:ea typeface="宋体" panose="02010600030101010101" pitchFamily="2" charset="-122"/>
              </a:rPr>
              <a:t>; 	</a:t>
            </a:r>
          </a:p>
          <a:p>
            <a:pPr>
              <a:spcBef>
                <a:spcPct val="20000"/>
              </a:spcBef>
              <a:buClr>
                <a:srgbClr val="3333CC"/>
              </a:buClr>
              <a:buSzPct val="60000"/>
              <a:buFont typeface="Wingdings" panose="05000000000000000000" pitchFamily="2" charset="2"/>
            </a:pPr>
            <a:r>
              <a:rPr lang="zh-CN" altLang="zh-CN" b="1" dirty="0">
                <a:solidFill>
                  <a:srgbClr val="CC0099"/>
                </a:solidFill>
                <a:latin typeface="Tahoma" panose="020B0604030504040204" pitchFamily="34" charset="0"/>
                <a:ea typeface="宋体" panose="02010600030101010101" pitchFamily="2" charset="-122"/>
              </a:rPr>
              <a:t>              V(mutex);</a:t>
            </a:r>
            <a:r>
              <a:rPr lang="zh-CN" altLang="zh-CN" b="1" dirty="0">
                <a:solidFill>
                  <a:srgbClr val="000000"/>
                </a:solidFill>
                <a:latin typeface="Tahoma" panose="020B0604030504040204" pitchFamily="34" charset="0"/>
                <a:ea typeface="宋体" panose="02010600030101010101" pitchFamily="2" charset="-122"/>
              </a:rPr>
              <a:t>         </a:t>
            </a:r>
          </a:p>
          <a:p>
            <a:pPr>
              <a:spcBef>
                <a:spcPct val="20000"/>
              </a:spcBef>
              <a:buClr>
                <a:srgbClr val="3333CC"/>
              </a:buClr>
              <a:buSzPct val="60000"/>
              <a:buFont typeface="Wingdings" panose="05000000000000000000" pitchFamily="2" charset="2"/>
            </a:pPr>
            <a:r>
              <a:rPr lang="zh-CN" altLang="zh-CN" b="1" dirty="0">
                <a:solidFill>
                  <a:srgbClr val="FF0000"/>
                </a:solidFill>
                <a:latin typeface="Tahoma" panose="020B0604030504040204" pitchFamily="34" charset="0"/>
                <a:ea typeface="宋体" panose="02010600030101010101" pitchFamily="2" charset="-122"/>
              </a:rPr>
              <a:t>              </a:t>
            </a:r>
            <a:r>
              <a:rPr lang="zh-CN" altLang="en-US" b="1" dirty="0">
                <a:solidFill>
                  <a:srgbClr val="000000"/>
                </a:solidFill>
                <a:latin typeface="Tahoma" panose="020B0604030504040204" pitchFamily="34" charset="0"/>
                <a:ea typeface="宋体" panose="02010600030101010101" pitchFamily="2" charset="-122"/>
              </a:rPr>
              <a:t>入室阅读；</a:t>
            </a:r>
          </a:p>
          <a:p>
            <a:pPr>
              <a:spcBef>
                <a:spcPct val="20000"/>
              </a:spcBef>
              <a:buClr>
                <a:srgbClr val="3333CC"/>
              </a:buClr>
              <a:buSzPct val="60000"/>
              <a:buFont typeface="Wingdings" panose="05000000000000000000" pitchFamily="2" charset="2"/>
            </a:pPr>
            <a:r>
              <a:rPr lang="zh-CN" altLang="zh-CN" b="1" dirty="0">
                <a:solidFill>
                  <a:srgbClr val="CC0099"/>
                </a:solidFill>
                <a:latin typeface="Tahoma" panose="020B0604030504040204" pitchFamily="34" charset="0"/>
                <a:ea typeface="宋体" panose="02010600030101010101" pitchFamily="2" charset="-122"/>
              </a:rPr>
              <a:t>              P(mutex);</a:t>
            </a:r>
            <a:r>
              <a:rPr lang="zh-CN" altLang="zh-CN" dirty="0">
                <a:solidFill>
                  <a:srgbClr val="000000"/>
                </a:solidFill>
                <a:latin typeface="Tahoma" panose="020B0604030504040204" pitchFamily="34" charset="0"/>
                <a:ea typeface="宋体" panose="02010600030101010101" pitchFamily="2" charset="-122"/>
              </a:rPr>
              <a:t> </a:t>
            </a:r>
          </a:p>
          <a:p>
            <a:pPr>
              <a:spcBef>
                <a:spcPct val="20000"/>
              </a:spcBef>
              <a:buClr>
                <a:srgbClr val="3333CC"/>
              </a:buClr>
              <a:buSzPct val="60000"/>
              <a:buFont typeface="Wingdings" panose="05000000000000000000" pitchFamily="2" charset="2"/>
            </a:pPr>
            <a:r>
              <a:rPr lang="zh-CN" altLang="zh-CN" dirty="0">
                <a:solidFill>
                  <a:srgbClr val="000000"/>
                </a:solidFill>
                <a:latin typeface="Tahoma" panose="020B0604030504040204" pitchFamily="34" charset="0"/>
                <a:ea typeface="宋体" panose="02010600030101010101" pitchFamily="2" charset="-122"/>
              </a:rPr>
              <a:t>             </a:t>
            </a:r>
            <a:r>
              <a:rPr lang="zh-CN" altLang="en-US" b="1" dirty="0">
                <a:solidFill>
                  <a:srgbClr val="000000"/>
                </a:solidFill>
                <a:latin typeface="Tahoma" panose="020B0604030504040204" pitchFamily="34" charset="0"/>
                <a:ea typeface="宋体" panose="02010600030101010101" pitchFamily="2" charset="-122"/>
              </a:rPr>
              <a:t>出室查表，删除登记；</a:t>
            </a:r>
          </a:p>
          <a:p>
            <a:pPr>
              <a:spcBef>
                <a:spcPct val="20000"/>
              </a:spcBef>
              <a:buClr>
                <a:srgbClr val="3333CC"/>
              </a:buClr>
              <a:buSzPct val="60000"/>
              <a:buFont typeface="Wingdings" panose="05000000000000000000" pitchFamily="2" charset="2"/>
            </a:pPr>
            <a:r>
              <a:rPr lang="zh-CN" altLang="zh-CN" b="1" dirty="0">
                <a:solidFill>
                  <a:srgbClr val="000000"/>
                </a:solidFill>
                <a:latin typeface="Tahoma" panose="020B0604030504040204" pitchFamily="34" charset="0"/>
                <a:ea typeface="宋体" panose="02010600030101010101" pitchFamily="2" charset="-122"/>
              </a:rPr>
              <a:t>              </a:t>
            </a:r>
            <a:r>
              <a:rPr lang="zh-CN" altLang="zh-CN" b="1" dirty="0">
                <a:solidFill>
                  <a:srgbClr val="CC0099"/>
                </a:solidFill>
                <a:latin typeface="Tahoma" panose="020B0604030504040204" pitchFamily="34" charset="0"/>
                <a:ea typeface="宋体" panose="02010600030101010101" pitchFamily="2" charset="-122"/>
              </a:rPr>
              <a:t>V(mutex);</a:t>
            </a:r>
            <a:r>
              <a:rPr lang="zh-CN" altLang="zh-CN" dirty="0">
                <a:solidFill>
                  <a:srgbClr val="000000"/>
                </a:solidFill>
                <a:latin typeface="Tahoma" panose="020B0604030504040204" pitchFamily="34" charset="0"/>
                <a:ea typeface="宋体" panose="02010600030101010101" pitchFamily="2" charset="-122"/>
              </a:rPr>
              <a:t> </a:t>
            </a:r>
          </a:p>
          <a:p>
            <a:pPr>
              <a:spcBef>
                <a:spcPct val="20000"/>
              </a:spcBef>
              <a:buClr>
                <a:srgbClr val="3333CC"/>
              </a:buClr>
              <a:buSzPct val="60000"/>
              <a:buFont typeface="Wingdings" panose="05000000000000000000" pitchFamily="2" charset="2"/>
            </a:pPr>
            <a:r>
              <a:rPr lang="zh-CN" altLang="zh-CN" b="1" dirty="0">
                <a:solidFill>
                  <a:srgbClr val="FF0000"/>
                </a:solidFill>
                <a:latin typeface="Tahoma" panose="020B0604030504040204" pitchFamily="34" charset="0"/>
                <a:ea typeface="宋体" panose="02010600030101010101" pitchFamily="2" charset="-122"/>
              </a:rPr>
              <a:t>              V(S);</a:t>
            </a:r>
          </a:p>
          <a:p>
            <a:pPr>
              <a:spcBef>
                <a:spcPct val="20000"/>
              </a:spcBef>
              <a:buClr>
                <a:srgbClr val="3333CC"/>
              </a:buClr>
              <a:buSzPct val="60000"/>
              <a:buFont typeface="Wingdings" panose="05000000000000000000" pitchFamily="2" charset="2"/>
            </a:pPr>
            <a:r>
              <a:rPr lang="zh-CN" altLang="zh-CN" b="1" dirty="0">
                <a:solidFill>
                  <a:srgbClr val="000000"/>
                </a:solidFill>
                <a:latin typeface="Tahoma" panose="020B0604030504040204" pitchFamily="34" charset="0"/>
                <a:ea typeface="宋体" panose="02010600030101010101" pitchFamily="2" charset="-122"/>
              </a:rPr>
              <a:t>}			 </a:t>
            </a:r>
          </a:p>
        </p:txBody>
      </p:sp>
      <p:grpSp>
        <p:nvGrpSpPr>
          <p:cNvPr id="84995" name="Group 3"/>
          <p:cNvGrpSpPr/>
          <p:nvPr/>
        </p:nvGrpSpPr>
        <p:grpSpPr>
          <a:xfrm>
            <a:off x="1408113" y="2133600"/>
            <a:ext cx="881062" cy="1008063"/>
            <a:chOff x="0" y="0"/>
            <a:chExt cx="555" cy="635"/>
          </a:xfrm>
        </p:grpSpPr>
        <p:grpSp>
          <p:nvGrpSpPr>
            <p:cNvPr id="46083" name="Group 4"/>
            <p:cNvGrpSpPr/>
            <p:nvPr/>
          </p:nvGrpSpPr>
          <p:grpSpPr>
            <a:xfrm>
              <a:off x="363" y="0"/>
              <a:ext cx="192" cy="635"/>
              <a:chOff x="0" y="0"/>
              <a:chExt cx="192" cy="720"/>
            </a:xfrm>
          </p:grpSpPr>
          <p:sp>
            <p:nvSpPr>
              <p:cNvPr id="46084" name="Line 5"/>
              <p:cNvSpPr/>
              <p:nvPr/>
            </p:nvSpPr>
            <p:spPr>
              <a:xfrm>
                <a:off x="0" y="0"/>
                <a:ext cx="192" cy="0"/>
              </a:xfrm>
              <a:prstGeom prst="line">
                <a:avLst/>
              </a:prstGeom>
              <a:ln w="50800" cap="flat" cmpd="sng">
                <a:solidFill>
                  <a:schemeClr val="hlink"/>
                </a:solidFill>
                <a:prstDash val="solid"/>
                <a:round/>
                <a:headEnd type="none" w="med" len="med"/>
                <a:tailEnd type="none" w="med" len="med"/>
              </a:ln>
            </p:spPr>
          </p:sp>
          <p:sp>
            <p:nvSpPr>
              <p:cNvPr id="46085" name="Line 6"/>
              <p:cNvSpPr/>
              <p:nvPr/>
            </p:nvSpPr>
            <p:spPr>
              <a:xfrm>
                <a:off x="0" y="0"/>
                <a:ext cx="0" cy="720"/>
              </a:xfrm>
              <a:prstGeom prst="line">
                <a:avLst/>
              </a:prstGeom>
              <a:ln w="50800" cap="flat" cmpd="sng">
                <a:solidFill>
                  <a:schemeClr val="hlink"/>
                </a:solidFill>
                <a:prstDash val="solid"/>
                <a:round/>
                <a:headEnd type="none" w="med" len="med"/>
                <a:tailEnd type="none" w="med" len="med"/>
              </a:ln>
            </p:spPr>
          </p:sp>
          <p:sp>
            <p:nvSpPr>
              <p:cNvPr id="46086" name="Line 7"/>
              <p:cNvSpPr/>
              <p:nvPr/>
            </p:nvSpPr>
            <p:spPr>
              <a:xfrm>
                <a:off x="0" y="720"/>
                <a:ext cx="192" cy="0"/>
              </a:xfrm>
              <a:prstGeom prst="line">
                <a:avLst/>
              </a:prstGeom>
              <a:ln w="50800" cap="flat" cmpd="sng">
                <a:solidFill>
                  <a:schemeClr val="hlink"/>
                </a:solidFill>
                <a:prstDash val="solid"/>
                <a:round/>
                <a:headEnd type="none" w="med" len="med"/>
                <a:tailEnd type="none" w="med" len="med"/>
              </a:ln>
            </p:spPr>
          </p:sp>
        </p:grpSp>
        <p:sp>
          <p:nvSpPr>
            <p:cNvPr id="46087" name="Text Box 8"/>
            <p:cNvSpPr txBox="1"/>
            <p:nvPr/>
          </p:nvSpPr>
          <p:spPr>
            <a:xfrm>
              <a:off x="0" y="90"/>
              <a:ext cx="346" cy="503"/>
            </a:xfrm>
            <a:prstGeom prst="rect">
              <a:avLst/>
            </a:prstGeom>
            <a:noFill/>
            <a:ln w="9525">
              <a:noFill/>
            </a:ln>
          </p:spPr>
          <p:txBody>
            <a:bodyPr vert="eaVert" anchor="t" anchorCtr="0">
              <a:spAutoFit/>
            </a:bodyPr>
            <a:lstStyle/>
            <a:p>
              <a:pPr>
                <a:spcBef>
                  <a:spcPct val="50000"/>
                </a:spcBef>
                <a:buClr>
                  <a:srgbClr val="3333CC"/>
                </a:buClr>
                <a:buSzPct val="60000"/>
                <a:buFont typeface="Wingdings" panose="05000000000000000000" pitchFamily="2" charset="2"/>
              </a:pPr>
              <a:r>
                <a:rPr lang="zh-CN" altLang="en-US" b="1" dirty="0">
                  <a:solidFill>
                    <a:srgbClr val="3333CC"/>
                  </a:solidFill>
                  <a:latin typeface="Tahoma" panose="020B0604030504040204" pitchFamily="34" charset="0"/>
                  <a:ea typeface="宋体" panose="02010600030101010101" pitchFamily="2" charset="-122"/>
                </a:rPr>
                <a:t>进来</a:t>
              </a:r>
            </a:p>
          </p:txBody>
        </p:sp>
      </p:grpSp>
      <p:grpSp>
        <p:nvGrpSpPr>
          <p:cNvPr id="85001" name="Group 9"/>
          <p:cNvGrpSpPr/>
          <p:nvPr/>
        </p:nvGrpSpPr>
        <p:grpSpPr>
          <a:xfrm>
            <a:off x="1408113" y="3862388"/>
            <a:ext cx="881062" cy="1008062"/>
            <a:chOff x="0" y="0"/>
            <a:chExt cx="555" cy="635"/>
          </a:xfrm>
        </p:grpSpPr>
        <p:grpSp>
          <p:nvGrpSpPr>
            <p:cNvPr id="46089" name="Group 10"/>
            <p:cNvGrpSpPr/>
            <p:nvPr/>
          </p:nvGrpSpPr>
          <p:grpSpPr>
            <a:xfrm>
              <a:off x="363" y="0"/>
              <a:ext cx="192" cy="635"/>
              <a:chOff x="0" y="0"/>
              <a:chExt cx="192" cy="720"/>
            </a:xfrm>
          </p:grpSpPr>
          <p:sp>
            <p:nvSpPr>
              <p:cNvPr id="46090" name="Line 11"/>
              <p:cNvSpPr/>
              <p:nvPr/>
            </p:nvSpPr>
            <p:spPr>
              <a:xfrm>
                <a:off x="0" y="0"/>
                <a:ext cx="192" cy="0"/>
              </a:xfrm>
              <a:prstGeom prst="line">
                <a:avLst/>
              </a:prstGeom>
              <a:ln w="50800" cap="flat" cmpd="sng">
                <a:solidFill>
                  <a:schemeClr val="hlink"/>
                </a:solidFill>
                <a:prstDash val="solid"/>
                <a:round/>
                <a:headEnd type="none" w="med" len="med"/>
                <a:tailEnd type="none" w="med" len="med"/>
              </a:ln>
            </p:spPr>
          </p:sp>
          <p:sp>
            <p:nvSpPr>
              <p:cNvPr id="46091" name="Line 12"/>
              <p:cNvSpPr/>
              <p:nvPr/>
            </p:nvSpPr>
            <p:spPr>
              <a:xfrm>
                <a:off x="0" y="0"/>
                <a:ext cx="0" cy="720"/>
              </a:xfrm>
              <a:prstGeom prst="line">
                <a:avLst/>
              </a:prstGeom>
              <a:ln w="50800" cap="flat" cmpd="sng">
                <a:solidFill>
                  <a:schemeClr val="hlink"/>
                </a:solidFill>
                <a:prstDash val="solid"/>
                <a:round/>
                <a:headEnd type="none" w="med" len="med"/>
                <a:tailEnd type="none" w="med" len="med"/>
              </a:ln>
            </p:spPr>
          </p:sp>
          <p:sp>
            <p:nvSpPr>
              <p:cNvPr id="46092" name="Line 13"/>
              <p:cNvSpPr/>
              <p:nvPr/>
            </p:nvSpPr>
            <p:spPr>
              <a:xfrm>
                <a:off x="0" y="720"/>
                <a:ext cx="192" cy="0"/>
              </a:xfrm>
              <a:prstGeom prst="line">
                <a:avLst/>
              </a:prstGeom>
              <a:ln w="50800" cap="flat" cmpd="sng">
                <a:solidFill>
                  <a:schemeClr val="hlink"/>
                </a:solidFill>
                <a:prstDash val="solid"/>
                <a:round/>
                <a:headEnd type="none" w="med" len="med"/>
                <a:tailEnd type="none" w="med" len="med"/>
              </a:ln>
            </p:spPr>
          </p:sp>
        </p:grpSp>
        <p:sp>
          <p:nvSpPr>
            <p:cNvPr id="46093" name="Text Box 14"/>
            <p:cNvSpPr txBox="1"/>
            <p:nvPr/>
          </p:nvSpPr>
          <p:spPr>
            <a:xfrm>
              <a:off x="0" y="90"/>
              <a:ext cx="346" cy="503"/>
            </a:xfrm>
            <a:prstGeom prst="rect">
              <a:avLst/>
            </a:prstGeom>
            <a:noFill/>
            <a:ln w="9525">
              <a:noFill/>
            </a:ln>
          </p:spPr>
          <p:txBody>
            <a:bodyPr vert="eaVert" anchor="t" anchorCtr="0">
              <a:spAutoFit/>
            </a:bodyPr>
            <a:lstStyle/>
            <a:p>
              <a:pPr>
                <a:spcBef>
                  <a:spcPct val="50000"/>
                </a:spcBef>
                <a:buClr>
                  <a:srgbClr val="3333CC"/>
                </a:buClr>
                <a:buSzPct val="60000"/>
                <a:buFont typeface="Wingdings" panose="05000000000000000000" pitchFamily="2" charset="2"/>
              </a:pPr>
              <a:r>
                <a:rPr lang="zh-CN" altLang="en-US" b="1" dirty="0">
                  <a:solidFill>
                    <a:srgbClr val="3333CC"/>
                  </a:solidFill>
                  <a:latin typeface="Tahoma" panose="020B0604030504040204" pitchFamily="34" charset="0"/>
                  <a:ea typeface="宋体" panose="02010600030101010101" pitchFamily="2" charset="-122"/>
                </a:rPr>
                <a:t>出去</a:t>
              </a:r>
            </a:p>
          </p:txBody>
        </p:sp>
      </p:grpSp>
      <p:sp>
        <p:nvSpPr>
          <p:cNvPr id="85007" name="Text Box 15"/>
          <p:cNvSpPr txBox="1"/>
          <p:nvPr/>
        </p:nvSpPr>
        <p:spPr>
          <a:xfrm>
            <a:off x="6203950" y="2635250"/>
            <a:ext cx="2665413" cy="830263"/>
          </a:xfrm>
          <a:prstGeom prst="rect">
            <a:avLst/>
          </a:prstGeom>
          <a:noFill/>
          <a:ln w="9525">
            <a:noFill/>
          </a:ln>
        </p:spPr>
        <p:txBody>
          <a:bodyPr anchor="t" anchorCtr="0">
            <a:spAutoFit/>
          </a:bodyPr>
          <a:lstStyle/>
          <a:p>
            <a:pPr>
              <a:spcBef>
                <a:spcPct val="50000"/>
              </a:spcBef>
              <a:buClr>
                <a:srgbClr val="3333CC"/>
              </a:buClr>
              <a:buSzPct val="60000"/>
              <a:buFont typeface="Wingdings" panose="05000000000000000000" pitchFamily="2" charset="2"/>
            </a:pPr>
            <a:r>
              <a:rPr lang="zh-CN" altLang="en-US" b="1" dirty="0">
                <a:solidFill>
                  <a:srgbClr val="000000"/>
                </a:solidFill>
                <a:latin typeface="Tahoma" panose="020B0604030504040204" pitchFamily="34" charset="0"/>
                <a:ea typeface="宋体" panose="02010600030101010101" pitchFamily="2" charset="-122"/>
              </a:rPr>
              <a:t>思考：编写程序完成此项工作。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4994">
                                            <p:txEl>
                                              <p:pRg st="3" end="3"/>
                                            </p:txEl>
                                          </p:spTgt>
                                        </p:tgtEl>
                                        <p:attrNameLst>
                                          <p:attrName>style.visibility</p:attrName>
                                        </p:attrNameLst>
                                      </p:cBhvr>
                                      <p:to>
                                        <p:strVal val="visible"/>
                                      </p:to>
                                    </p:set>
                                    <p:animEffect transition="in" filter="blinds(horizontal)">
                                      <p:cBhvr>
                                        <p:cTn id="7" dur="500"/>
                                        <p:tgtEl>
                                          <p:spTgt spid="8499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4994">
                                            <p:txEl>
                                              <p:pRg st="4" end="4"/>
                                            </p:txEl>
                                          </p:spTgt>
                                        </p:tgtEl>
                                        <p:attrNameLst>
                                          <p:attrName>style.visibility</p:attrName>
                                        </p:attrNameLst>
                                      </p:cBhvr>
                                      <p:to>
                                        <p:strVal val="visible"/>
                                      </p:to>
                                    </p:set>
                                    <p:animEffect transition="in" filter="blinds(horizontal)">
                                      <p:cBhvr>
                                        <p:cTn id="12" dur="500"/>
                                        <p:tgtEl>
                                          <p:spTgt spid="8499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4994">
                                            <p:txEl>
                                              <p:pRg st="6" end="6"/>
                                            </p:txEl>
                                          </p:spTgt>
                                        </p:tgtEl>
                                        <p:attrNameLst>
                                          <p:attrName>style.visibility</p:attrName>
                                        </p:attrNameLst>
                                      </p:cBhvr>
                                      <p:to>
                                        <p:strVal val="visible"/>
                                      </p:to>
                                    </p:set>
                                    <p:animEffect transition="in" filter="blinds(horizontal)">
                                      <p:cBhvr>
                                        <p:cTn id="17" dur="500"/>
                                        <p:tgtEl>
                                          <p:spTgt spid="84994">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4994">
                                            <p:txEl>
                                              <p:pRg st="8" end="8"/>
                                            </p:txEl>
                                          </p:spTgt>
                                        </p:tgtEl>
                                        <p:attrNameLst>
                                          <p:attrName>style.visibility</p:attrName>
                                        </p:attrNameLst>
                                      </p:cBhvr>
                                      <p:to>
                                        <p:strVal val="visible"/>
                                      </p:to>
                                    </p:set>
                                    <p:animEffect transition="in" filter="blinds(horizontal)">
                                      <p:cBhvr>
                                        <p:cTn id="22" dur="500"/>
                                        <p:tgtEl>
                                          <p:spTgt spid="84994">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4994">
                                            <p:txEl>
                                              <p:pRg st="10" end="10"/>
                                            </p:txEl>
                                          </p:spTgt>
                                        </p:tgtEl>
                                        <p:attrNameLst>
                                          <p:attrName>style.visibility</p:attrName>
                                        </p:attrNameLst>
                                      </p:cBhvr>
                                      <p:to>
                                        <p:strVal val="visible"/>
                                      </p:to>
                                    </p:set>
                                    <p:animEffect transition="in" filter="blinds(horizontal)">
                                      <p:cBhvr>
                                        <p:cTn id="27" dur="500"/>
                                        <p:tgtEl>
                                          <p:spTgt spid="84994">
                                            <p:txEl>
                                              <p:pRg st="1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4994">
                                            <p:txEl>
                                              <p:pRg st="11" end="11"/>
                                            </p:txEl>
                                          </p:spTgt>
                                        </p:tgtEl>
                                        <p:attrNameLst>
                                          <p:attrName>style.visibility</p:attrName>
                                        </p:attrNameLst>
                                      </p:cBhvr>
                                      <p:to>
                                        <p:strVal val="visible"/>
                                      </p:to>
                                    </p:set>
                                    <p:animEffect transition="in" filter="blinds(horizontal)">
                                      <p:cBhvr>
                                        <p:cTn id="32" dur="500"/>
                                        <p:tgtEl>
                                          <p:spTgt spid="84994">
                                            <p:txEl>
                                              <p:pRg st="11" end="1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4995"/>
                                        </p:tgtEl>
                                        <p:attrNameLst>
                                          <p:attrName>style.visibility</p:attrName>
                                        </p:attrNameLst>
                                      </p:cBhvr>
                                      <p:to>
                                        <p:strVal val="visible"/>
                                      </p:to>
                                    </p:set>
                                    <p:animEffect transition="in" filter="blinds(horizontal)">
                                      <p:cBhvr>
                                        <p:cTn id="37" dur="500"/>
                                        <p:tgtEl>
                                          <p:spTgt spid="8499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85001"/>
                                        </p:tgtEl>
                                        <p:attrNameLst>
                                          <p:attrName>style.visibility</p:attrName>
                                        </p:attrNameLst>
                                      </p:cBhvr>
                                      <p:to>
                                        <p:strVal val="visible"/>
                                      </p:to>
                                    </p:set>
                                    <p:animEffect transition="in" filter="blinds(horizontal)">
                                      <p:cBhvr>
                                        <p:cTn id="42" dur="500"/>
                                        <p:tgtEl>
                                          <p:spTgt spid="8500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5007"/>
                                        </p:tgtEl>
                                        <p:attrNameLst>
                                          <p:attrName>style.visibility</p:attrName>
                                        </p:attrNameLst>
                                      </p:cBhvr>
                                      <p:to>
                                        <p:strVal val="visible"/>
                                      </p:to>
                                    </p:set>
                                    <p:animEffect transition="in" filter="blinds(horizontal)">
                                      <p:cBhvr>
                                        <p:cTn id="47" dur="500"/>
                                        <p:tgtEl>
                                          <p:spTgt spid="850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5" name="图片 278531" descr="t220"/>
          <p:cNvPicPr>
            <a:picLocks noChangeAspect="1"/>
          </p:cNvPicPr>
          <p:nvPr/>
        </p:nvPicPr>
        <p:blipFill>
          <a:blip r:embed="rId2"/>
          <a:stretch>
            <a:fillRect/>
          </a:stretch>
        </p:blipFill>
        <p:spPr>
          <a:xfrm>
            <a:off x="4500563" y="2060575"/>
            <a:ext cx="4319587" cy="3744913"/>
          </a:xfrm>
          <a:prstGeom prst="rect">
            <a:avLst/>
          </a:prstGeom>
          <a:noFill/>
          <a:ln w="9525">
            <a:noFill/>
          </a:ln>
        </p:spPr>
      </p:pic>
      <p:sp>
        <p:nvSpPr>
          <p:cNvPr id="47106" name="文本框 278532"/>
          <p:cNvSpPr txBox="1"/>
          <p:nvPr/>
        </p:nvSpPr>
        <p:spPr>
          <a:xfrm>
            <a:off x="5651500" y="6086475"/>
            <a:ext cx="2089150" cy="366713"/>
          </a:xfrm>
          <a:prstGeom prst="rect">
            <a:avLst/>
          </a:prstGeom>
          <a:noFill/>
          <a:ln w="9525">
            <a:noFill/>
          </a:ln>
        </p:spPr>
        <p:txBody>
          <a:bodyPr anchor="t" anchorCtr="0">
            <a:spAutoFit/>
          </a:bodyPr>
          <a:lstStyle/>
          <a:p>
            <a:pPr>
              <a:spcBef>
                <a:spcPct val="50000"/>
              </a:spcBef>
              <a:buClrTx/>
              <a:buFontTx/>
            </a:pPr>
            <a:r>
              <a:rPr lang="zh-CN" altLang="en-US" sz="1800" i="0" dirty="0">
                <a:latin typeface="Tahoma" panose="020B0604030504040204" pitchFamily="34" charset="0"/>
                <a:ea typeface="宋体" panose="02010600030101010101" pitchFamily="2" charset="-122"/>
              </a:rPr>
              <a:t>哲学家进餐问题</a:t>
            </a:r>
          </a:p>
        </p:txBody>
      </p:sp>
      <p:sp>
        <p:nvSpPr>
          <p:cNvPr id="47107" name="矩形 278533"/>
          <p:cNvSpPr/>
          <p:nvPr/>
        </p:nvSpPr>
        <p:spPr>
          <a:xfrm>
            <a:off x="323850" y="2347913"/>
            <a:ext cx="3960813" cy="3457575"/>
          </a:xfrm>
          <a:prstGeom prst="rect">
            <a:avLst/>
          </a:prstGeom>
          <a:noFill/>
          <a:ln w="9525">
            <a:noFill/>
          </a:ln>
        </p:spPr>
        <p:txBody>
          <a:bodyPr anchor="t" anchorCtr="0"/>
          <a:lstStyle/>
          <a:p>
            <a:pPr marL="342900" indent="-342900">
              <a:spcBef>
                <a:spcPct val="20000"/>
              </a:spcBef>
              <a:buClr>
                <a:schemeClr val="folHlink"/>
              </a:buClr>
              <a:buSzPct val="60000"/>
              <a:buFontTx/>
            </a:pPr>
            <a:r>
              <a:rPr lang="en-US" altLang="zh-CN" i="0" dirty="0">
                <a:latin typeface="Tahoma" panose="020B0604030504040204" pitchFamily="34" charset="0"/>
                <a:ea typeface="宋体" panose="02010600030101010101" pitchFamily="2" charset="-122"/>
              </a:rPr>
              <a:t>1965</a:t>
            </a:r>
            <a:r>
              <a:rPr lang="zh-CN" altLang="en-US" i="0" dirty="0">
                <a:latin typeface="Times New Roman" panose="02020603050405020304" pitchFamily="18" charset="0"/>
                <a:ea typeface="宋体" panose="02010600030101010101" pitchFamily="2" charset="-122"/>
              </a:rPr>
              <a:t>年</a:t>
            </a:r>
            <a:r>
              <a:rPr lang="en-US" altLang="zh-CN" i="0" dirty="0">
                <a:latin typeface="Tahoma" panose="020B0604030504040204" pitchFamily="34" charset="0"/>
                <a:ea typeface="宋体" panose="02010600030101010101" pitchFamily="2" charset="-122"/>
              </a:rPr>
              <a:t>Dijkstra</a:t>
            </a:r>
            <a:r>
              <a:rPr lang="zh-CN" altLang="en-US" i="0" dirty="0">
                <a:latin typeface="Times New Roman" panose="02020603050405020304" pitchFamily="18" charset="0"/>
                <a:ea typeface="宋体" panose="02010600030101010101" pitchFamily="2" charset="-122"/>
              </a:rPr>
              <a:t>提出并解决：</a:t>
            </a:r>
          </a:p>
          <a:p>
            <a:pPr marL="342900" indent="-342900">
              <a:spcBef>
                <a:spcPct val="20000"/>
              </a:spcBef>
              <a:buClr>
                <a:schemeClr val="folHlink"/>
              </a:buClr>
              <a:buSzPct val="60000"/>
              <a:buFontTx/>
            </a:pPr>
            <a:r>
              <a:rPr lang="zh-CN" altLang="en-US" i="0" dirty="0">
                <a:latin typeface="Times New Roman" panose="02020603050405020304" pitchFamily="18" charset="0"/>
                <a:ea typeface="宋体" panose="02010600030101010101" pitchFamily="2" charset="-122"/>
              </a:rPr>
              <a:t>五位哲学家，每</a:t>
            </a:r>
            <a:r>
              <a:rPr lang="en-US" altLang="zh-CN" i="0" dirty="0">
                <a:latin typeface="Tahoma" panose="020B0604030504040204" pitchFamily="34" charset="0"/>
                <a:ea typeface="宋体" panose="02010600030101010101" pitchFamily="2" charset="-122"/>
              </a:rPr>
              <a:t>2</a:t>
            </a:r>
            <a:r>
              <a:rPr lang="zh-CN" altLang="en-US" i="0" dirty="0">
                <a:latin typeface="Times New Roman" panose="02020603050405020304" pitchFamily="18" charset="0"/>
                <a:ea typeface="宋体" panose="02010600030101010101" pitchFamily="2" charset="-122"/>
              </a:rPr>
              <a:t>人之间有</a:t>
            </a:r>
            <a:r>
              <a:rPr lang="en-US" altLang="zh-CN" i="0" dirty="0">
                <a:latin typeface="Tahoma" panose="020B0604030504040204" pitchFamily="34" charset="0"/>
                <a:ea typeface="宋体" panose="02010600030101010101" pitchFamily="2" charset="-122"/>
              </a:rPr>
              <a:t>1</a:t>
            </a:r>
            <a:r>
              <a:rPr lang="zh-CN" altLang="en-US" i="0" dirty="0">
                <a:latin typeface="Times New Roman" panose="02020603050405020304" pitchFamily="18" charset="0"/>
                <a:ea typeface="宋体" panose="02010600030101010101" pitchFamily="2" charset="-122"/>
              </a:rPr>
              <a:t>根筷子：</a:t>
            </a:r>
          </a:p>
          <a:p>
            <a:pPr marL="342900" indent="-342900">
              <a:spcBef>
                <a:spcPct val="20000"/>
              </a:spcBef>
              <a:buClr>
                <a:schemeClr val="folHlink"/>
              </a:buClr>
              <a:buSzPct val="60000"/>
              <a:buFontTx/>
            </a:pPr>
            <a:r>
              <a:rPr lang="zh-CN" altLang="en-US" i="0" dirty="0">
                <a:latin typeface="Times New Roman" panose="02020603050405020304" pitchFamily="18" charset="0"/>
                <a:ea typeface="宋体" panose="02010600030101010101" pitchFamily="2" charset="-122"/>
              </a:rPr>
              <a:t>每个人：</a:t>
            </a:r>
          </a:p>
          <a:p>
            <a:pPr marL="342900" indent="-342900">
              <a:spcBef>
                <a:spcPct val="20000"/>
              </a:spcBef>
              <a:buClr>
                <a:schemeClr val="folHlink"/>
              </a:buClr>
              <a:buSzPct val="60000"/>
              <a:buFontTx/>
            </a:pPr>
            <a:r>
              <a:rPr lang="en-US" altLang="zh-CN" i="0" dirty="0">
                <a:latin typeface="Tahoma" panose="020B0604030504040204" pitchFamily="34" charset="0"/>
                <a:ea typeface="宋体" panose="02010600030101010101" pitchFamily="2" charset="-122"/>
              </a:rPr>
              <a:t>While(true){</a:t>
            </a:r>
          </a:p>
          <a:p>
            <a:pPr marL="342900" indent="-342900">
              <a:spcBef>
                <a:spcPct val="20000"/>
              </a:spcBef>
              <a:buClr>
                <a:schemeClr val="folHlink"/>
              </a:buClr>
              <a:buSzPct val="60000"/>
              <a:buFontTx/>
            </a:pPr>
            <a:r>
              <a:rPr lang="en-US" altLang="zh-CN" i="0" dirty="0">
                <a:latin typeface="Tahoma" panose="020B0604030504040204" pitchFamily="34" charset="0"/>
                <a:ea typeface="宋体" panose="02010600030101010101" pitchFamily="2" charset="-122"/>
              </a:rPr>
              <a:t>		think()</a:t>
            </a:r>
            <a:r>
              <a:rPr lang="zh-CN" altLang="en-US" i="0" dirty="0">
                <a:latin typeface="Times New Roman" panose="02020603050405020304" pitchFamily="18" charset="0"/>
                <a:ea typeface="宋体" panose="02010600030101010101" pitchFamily="2" charset="-122"/>
              </a:rPr>
              <a:t>；</a:t>
            </a:r>
          </a:p>
          <a:p>
            <a:pPr marL="342900" indent="-342900">
              <a:spcBef>
                <a:spcPct val="20000"/>
              </a:spcBef>
              <a:buClr>
                <a:schemeClr val="folHlink"/>
              </a:buClr>
              <a:buSzPct val="60000"/>
              <a:buFontTx/>
            </a:pPr>
            <a:r>
              <a:rPr lang="zh-CN" altLang="en-US" i="0" dirty="0">
                <a:latin typeface="Times New Roman" panose="02020603050405020304" pitchFamily="18" charset="0"/>
                <a:ea typeface="宋体" panose="02010600030101010101" pitchFamily="2" charset="-122"/>
              </a:rPr>
              <a:t>		</a:t>
            </a:r>
            <a:r>
              <a:rPr lang="en-US" altLang="zh-CN" i="0" dirty="0">
                <a:latin typeface="Tahoma" panose="020B0604030504040204" pitchFamily="34" charset="0"/>
                <a:ea typeface="宋体" panose="02010600030101010101" pitchFamily="2" charset="-122"/>
              </a:rPr>
              <a:t>GetChopsticks();</a:t>
            </a:r>
          </a:p>
          <a:p>
            <a:pPr marL="342900" indent="-342900">
              <a:spcBef>
                <a:spcPct val="20000"/>
              </a:spcBef>
              <a:buClr>
                <a:schemeClr val="folHlink"/>
              </a:buClr>
              <a:buSzPct val="60000"/>
              <a:buFontTx/>
            </a:pPr>
            <a:r>
              <a:rPr lang="en-US" altLang="zh-CN" i="0" dirty="0">
                <a:latin typeface="Tahoma" panose="020B0604030504040204" pitchFamily="34" charset="0"/>
                <a:ea typeface="宋体" panose="02010600030101010101" pitchFamily="2" charset="-122"/>
              </a:rPr>
              <a:t>		Eat();</a:t>
            </a:r>
          </a:p>
          <a:p>
            <a:pPr marL="342900" indent="-342900">
              <a:spcBef>
                <a:spcPct val="20000"/>
              </a:spcBef>
              <a:buClr>
                <a:schemeClr val="folHlink"/>
              </a:buClr>
              <a:buSzPct val="60000"/>
              <a:buFontTx/>
            </a:pPr>
            <a:r>
              <a:rPr lang="en-US" altLang="zh-CN" i="0" dirty="0">
                <a:latin typeface="Tahoma" panose="020B0604030504040204" pitchFamily="34" charset="0"/>
                <a:ea typeface="宋体" panose="02010600030101010101" pitchFamily="2" charset="-122"/>
              </a:rPr>
              <a:t>}</a:t>
            </a:r>
          </a:p>
        </p:txBody>
      </p:sp>
      <p:sp>
        <p:nvSpPr>
          <p:cNvPr id="47108" name="标题 278536"/>
          <p:cNvSpPr>
            <a:spLocks noGrp="1"/>
          </p:cNvSpPr>
          <p:nvPr>
            <p:ph type="title"/>
          </p:nvPr>
        </p:nvSpPr>
        <p:spPr>
          <a:xfrm>
            <a:off x="1150938" y="260350"/>
            <a:ext cx="7793037" cy="782638"/>
          </a:xfrm>
          <a:ln/>
        </p:spPr>
        <p:txBody>
          <a:bodyPr vert="horz" wrap="square" lIns="91440" tIns="45720" rIns="91440" bIns="45720" anchor="b" anchorCtr="0"/>
          <a:lstStyle/>
          <a:p>
            <a:pPr eaLnBrk="1" hangingPunct="1"/>
            <a:r>
              <a:rPr lang="en-US" altLang="zh-CN" b="1" dirty="0"/>
              <a:t>2.6  </a:t>
            </a:r>
            <a:r>
              <a:rPr lang="zh-CN" altLang="en-US" b="1" dirty="0"/>
              <a:t>经典进程同步问题</a:t>
            </a:r>
          </a:p>
        </p:txBody>
      </p:sp>
      <p:sp>
        <p:nvSpPr>
          <p:cNvPr id="47109" name="文本框 278537" descr="蓝色砂纸"/>
          <p:cNvSpPr txBox="1"/>
          <p:nvPr/>
        </p:nvSpPr>
        <p:spPr>
          <a:xfrm>
            <a:off x="1908175" y="1052513"/>
            <a:ext cx="5616575" cy="955675"/>
          </a:xfrm>
          <a:prstGeom prst="rect">
            <a:avLst/>
          </a:prstGeom>
          <a:blipFill rotWithShape="0">
            <a:blip r:embed="rId3"/>
          </a:blipFill>
          <a:ln w="9525" cap="flat" cmpd="sng">
            <a:solidFill>
              <a:schemeClr val="folHlink"/>
            </a:solidFill>
            <a:prstDash val="solid"/>
            <a:miter/>
            <a:headEnd type="none" w="med" len="med"/>
            <a:tailEnd type="none" w="med" len="med"/>
          </a:ln>
        </p:spPr>
        <p:txBody>
          <a:bodyPr anchor="t" anchorCtr="0">
            <a:spAutoFit/>
          </a:bodyPr>
          <a:lstStyle/>
          <a:p>
            <a:pPr marL="457200" indent="-457200">
              <a:buClrTx/>
              <a:buFontTx/>
            </a:pPr>
            <a:r>
              <a:rPr lang="en-US" altLang="zh-CN" sz="2800" b="1" i="0" dirty="0">
                <a:solidFill>
                  <a:srgbClr val="336600"/>
                </a:solidFill>
                <a:latin typeface="Times New Roman" panose="02020603050405020304" pitchFamily="18" charset="0"/>
                <a:ea typeface="宋体" panose="02010600030101010101" pitchFamily="2" charset="-122"/>
              </a:rPr>
              <a:t>3.  </a:t>
            </a:r>
            <a:r>
              <a:rPr lang="zh-CN" altLang="en-US" sz="2800" b="1" i="0" dirty="0">
                <a:solidFill>
                  <a:srgbClr val="336600"/>
                </a:solidFill>
                <a:latin typeface="Times New Roman" panose="02020603050405020304" pitchFamily="18" charset="0"/>
                <a:ea typeface="宋体" panose="02010600030101010101" pitchFamily="2" charset="-122"/>
              </a:rPr>
              <a:t>哲学家进餐问题</a:t>
            </a:r>
          </a:p>
          <a:p>
            <a:pPr marL="457200" indent="-457200">
              <a:buClrTx/>
              <a:buFontTx/>
            </a:pPr>
            <a:r>
              <a:rPr lang="en-US" altLang="zh-CN" sz="2800" b="1" i="0" dirty="0">
                <a:solidFill>
                  <a:srgbClr val="336600"/>
                </a:solidFill>
                <a:latin typeface="Times New Roman" panose="02020603050405020304" pitchFamily="18" charset="0"/>
                <a:ea typeface="宋体" panose="02010600030101010101" pitchFamily="2" charset="-122"/>
              </a:rPr>
              <a:t>(The Dining Philosophers Problem)</a:t>
            </a:r>
          </a:p>
        </p:txBody>
      </p:sp>
      <p:sp>
        <p:nvSpPr>
          <p:cNvPr id="76806" name="灯片编号占位符 1"/>
          <p:cNvSpPr txBox="1">
            <a:spLocks noGrp="1" noChangeArrowheads="1"/>
          </p:cNvSpPr>
          <p:nvPr>
            <p:ph type="sldNum" sz="quarter" idx="4"/>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marL="0" marR="0" lvl="0" indent="0" algn="r" defTabSz="914400" rtl="0" eaLnBrk="1" fontAlgn="base" latinLnBrk="0" hangingPunct="1">
              <a:lnSpc>
                <a:spcPct val="100000"/>
              </a:lnSpc>
              <a:spcBef>
                <a:spcPct val="20000"/>
              </a:spcBef>
              <a:spcAft>
                <a:spcPct val="0"/>
              </a:spcAft>
              <a:buClrTx/>
              <a:buSzTx/>
              <a:buFontTx/>
              <a:buNone/>
              <a:defRPr/>
            </a:pPr>
            <a:fld id="{25D7014F-D45D-4F9C-940C-0CA4FBF9D39D}" type="slidenum">
              <a:rPr kumimoji="0" lang="zh-CN"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ea"/>
              </a:rPr>
              <a:t>57</a:t>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灯片编号占位符 5"/>
          <p:cNvSpPr txBox="1">
            <a:spLocks noGrp="1" noChangeArrowheads="1"/>
          </p:cNvSpPr>
          <p:nvPr>
            <p:ph type="sldNum" sz="quarter" idx="12"/>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Char char="•"/>
              <a:defRPr/>
            </a:pPr>
            <a:fld id="{69B06F68-C4F9-4D45-8C79-34E2FA0F15BA}" type="slidenum">
              <a:rPr kumimoji="0" lang="zh-CN" altLang="zh-CN"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ea"/>
              </a:rPr>
              <a:t>58</a:t>
            </a:fld>
            <a:endParaRPr kumimoji="0" lang="zh-CN" altLang="zh-CN"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ea"/>
            </a:endParaRPr>
          </a:p>
        </p:txBody>
      </p:sp>
      <p:pic>
        <p:nvPicPr>
          <p:cNvPr id="48130" name="Picture 3" descr="t220"/>
          <p:cNvPicPr>
            <a:picLocks noChangeAspect="1"/>
          </p:cNvPicPr>
          <p:nvPr/>
        </p:nvPicPr>
        <p:blipFill>
          <a:blip r:embed="rId3"/>
          <a:stretch>
            <a:fillRect/>
          </a:stretch>
        </p:blipFill>
        <p:spPr>
          <a:xfrm>
            <a:off x="5940425" y="2781300"/>
            <a:ext cx="2592388" cy="2376488"/>
          </a:xfrm>
          <a:prstGeom prst="rect">
            <a:avLst/>
          </a:prstGeom>
          <a:noFill/>
          <a:ln w="9525">
            <a:noFill/>
          </a:ln>
        </p:spPr>
      </p:pic>
      <p:sp>
        <p:nvSpPr>
          <p:cNvPr id="93189" name="Rectangle 4"/>
          <p:cNvSpPr/>
          <p:nvPr/>
        </p:nvSpPr>
        <p:spPr>
          <a:xfrm>
            <a:off x="611188" y="1844675"/>
            <a:ext cx="8353425" cy="4537075"/>
          </a:xfrm>
          <a:prstGeom prst="rect">
            <a:avLst/>
          </a:prstGeom>
          <a:noFill/>
          <a:ln w="9525">
            <a:noFill/>
          </a:ln>
        </p:spPr>
        <p:txBody>
          <a:bodyPr anchor="t" anchorCtr="0"/>
          <a:lstStyle/>
          <a:p>
            <a:pPr marL="342900" indent="-342900">
              <a:spcBef>
                <a:spcPct val="20000"/>
              </a:spcBef>
              <a:buClr>
                <a:srgbClr val="3333CC"/>
              </a:buClr>
              <a:buSzPct val="60000"/>
              <a:buFont typeface="Wingdings" panose="05000000000000000000" pitchFamily="2" charset="2"/>
              <a:buChar char="n"/>
            </a:pPr>
            <a:r>
              <a:rPr lang="zh-CN" altLang="en-US" b="1" i="0" dirty="0">
                <a:solidFill>
                  <a:srgbClr val="3333CC"/>
                </a:solidFill>
                <a:latin typeface="Arial" panose="020B0604020202020204" pitchFamily="34" charset="0"/>
                <a:ea typeface="宋体" panose="02010600030101010101" pitchFamily="2" charset="-122"/>
              </a:rPr>
              <a:t>简单的解决办法：</a:t>
            </a:r>
            <a:r>
              <a:rPr lang="zh-CN" altLang="en-US" b="1" i="0" dirty="0">
                <a:solidFill>
                  <a:srgbClr val="000000"/>
                </a:solidFill>
                <a:latin typeface="Arial" panose="020B0604020202020204" pitchFamily="34" charset="0"/>
                <a:ea typeface="宋体" panose="02010600030101010101" pitchFamily="2" charset="-122"/>
              </a:rPr>
              <a:t>五根筷子对应信号量数组</a:t>
            </a:r>
            <a:r>
              <a:rPr lang="zh-CN" altLang="zh-CN" b="1" i="0" dirty="0">
                <a:solidFill>
                  <a:srgbClr val="000000"/>
                </a:solidFill>
                <a:latin typeface="Arial" panose="020B0604020202020204" pitchFamily="34" charset="0"/>
                <a:ea typeface="宋体" panose="02010600030101010101" pitchFamily="2" charset="-122"/>
              </a:rPr>
              <a:t>chopstick[5]</a:t>
            </a:r>
            <a:r>
              <a:rPr lang="zh-CN" altLang="en-US" b="1" i="0" dirty="0">
                <a:solidFill>
                  <a:srgbClr val="000000"/>
                </a:solidFill>
                <a:latin typeface="Arial" panose="020B0604020202020204" pitchFamily="34" charset="0"/>
                <a:ea typeface="宋体" panose="02010600030101010101" pitchFamily="2" charset="-122"/>
              </a:rPr>
              <a:t>，初值为</a:t>
            </a:r>
            <a:r>
              <a:rPr lang="zh-CN" altLang="zh-CN" b="1" i="0" dirty="0">
                <a:solidFill>
                  <a:srgbClr val="000000"/>
                </a:solidFill>
                <a:latin typeface="Arial" panose="020B0604020202020204" pitchFamily="34" charset="0"/>
                <a:ea typeface="宋体" panose="02010600030101010101" pitchFamily="2" charset="-122"/>
              </a:rPr>
              <a:t>1</a:t>
            </a:r>
            <a:r>
              <a:rPr lang="zh-CN" altLang="en-US" b="1" i="0" dirty="0">
                <a:solidFill>
                  <a:srgbClr val="000000"/>
                </a:solidFill>
                <a:latin typeface="Arial" panose="020B0604020202020204" pitchFamily="34" charset="0"/>
                <a:ea typeface="宋体" panose="02010600030101010101" pitchFamily="2" charset="-122"/>
              </a:rPr>
              <a:t>。第</a:t>
            </a:r>
            <a:r>
              <a:rPr lang="zh-CN" altLang="zh-CN" b="1" i="0" dirty="0">
                <a:solidFill>
                  <a:srgbClr val="000000"/>
                </a:solidFill>
                <a:latin typeface="Arial" panose="020B0604020202020204" pitchFamily="34" charset="0"/>
                <a:ea typeface="宋体" panose="02010600030101010101" pitchFamily="2" charset="-122"/>
              </a:rPr>
              <a:t>i</a:t>
            </a:r>
            <a:r>
              <a:rPr lang="zh-CN" altLang="en-US" b="1" i="0" dirty="0">
                <a:solidFill>
                  <a:srgbClr val="000000"/>
                </a:solidFill>
                <a:latin typeface="Arial" panose="020B0604020202020204" pitchFamily="34" charset="0"/>
                <a:ea typeface="宋体" panose="02010600030101010101" pitchFamily="2" charset="-122"/>
              </a:rPr>
              <a:t>个哲学家的进餐过程可描述为：</a:t>
            </a:r>
          </a:p>
          <a:p>
            <a:pPr marL="342900" indent="-342900">
              <a:spcBef>
                <a:spcPct val="20000"/>
              </a:spcBef>
              <a:buClr>
                <a:srgbClr val="3333CC"/>
              </a:buClr>
              <a:buSzPct val="60000"/>
              <a:buFont typeface="Wingdings" panose="05000000000000000000" pitchFamily="2" charset="2"/>
            </a:pPr>
            <a:r>
              <a:rPr lang="en-US" altLang="zh-CN" sz="2000" b="1" i="0" dirty="0">
                <a:solidFill>
                  <a:srgbClr val="000000"/>
                </a:solidFill>
                <a:latin typeface="Arial" panose="020B0604020202020204" pitchFamily="34" charset="0"/>
                <a:ea typeface="宋体" panose="02010600030101010101" pitchFamily="2" charset="-122"/>
              </a:rPr>
              <a:t>     </a:t>
            </a:r>
            <a:r>
              <a:rPr lang="zh-CN" altLang="zh-CN" sz="2000" b="1" i="0" dirty="0">
                <a:solidFill>
                  <a:srgbClr val="000000"/>
                </a:solidFill>
                <a:latin typeface="Arial" panose="020B0604020202020204" pitchFamily="34" charset="0"/>
                <a:ea typeface="宋体" panose="02010600030101010101" pitchFamily="2" charset="-122"/>
              </a:rPr>
              <a:t>While(true){</a:t>
            </a:r>
          </a:p>
          <a:p>
            <a:pPr marL="342900" indent="-342900">
              <a:spcBef>
                <a:spcPct val="20000"/>
              </a:spcBef>
              <a:buClr>
                <a:srgbClr val="3333CC"/>
              </a:buClr>
              <a:buSzPct val="60000"/>
              <a:buFont typeface="Wingdings" panose="05000000000000000000" pitchFamily="2" charset="2"/>
            </a:pPr>
            <a:r>
              <a:rPr lang="zh-CN" altLang="zh-CN" sz="2000" b="1" i="0" dirty="0">
                <a:solidFill>
                  <a:srgbClr val="000000"/>
                </a:solidFill>
                <a:latin typeface="Arial" panose="020B0604020202020204" pitchFamily="34" charset="0"/>
                <a:ea typeface="宋体" panose="02010600030101010101" pitchFamily="2" charset="-122"/>
              </a:rPr>
              <a:t>		think;</a:t>
            </a:r>
          </a:p>
          <a:p>
            <a:pPr marL="342900" indent="-342900">
              <a:spcBef>
                <a:spcPct val="20000"/>
              </a:spcBef>
              <a:buClr>
                <a:srgbClr val="3333CC"/>
              </a:buClr>
              <a:buSzPct val="60000"/>
              <a:buFont typeface="Wingdings" panose="05000000000000000000" pitchFamily="2" charset="2"/>
            </a:pPr>
            <a:r>
              <a:rPr lang="zh-CN" altLang="zh-CN" sz="2000" b="1" i="0" dirty="0">
                <a:solidFill>
                  <a:srgbClr val="000000"/>
                </a:solidFill>
                <a:latin typeface="Arial" panose="020B0604020202020204" pitchFamily="34" charset="0"/>
                <a:ea typeface="宋体" panose="02010600030101010101" pitchFamily="2" charset="-122"/>
              </a:rPr>
              <a:t>		P(chopstick[i]);</a:t>
            </a:r>
          </a:p>
          <a:p>
            <a:pPr marL="342900" indent="-342900">
              <a:spcBef>
                <a:spcPct val="20000"/>
              </a:spcBef>
              <a:buClr>
                <a:srgbClr val="3333CC"/>
              </a:buClr>
              <a:buSzPct val="60000"/>
              <a:buFont typeface="Wingdings" panose="05000000000000000000" pitchFamily="2" charset="2"/>
            </a:pPr>
            <a:r>
              <a:rPr lang="zh-CN" altLang="zh-CN" sz="2000" b="1" i="0" dirty="0">
                <a:solidFill>
                  <a:srgbClr val="000000"/>
                </a:solidFill>
                <a:latin typeface="Arial" panose="020B0604020202020204" pitchFamily="34" charset="0"/>
                <a:ea typeface="宋体" panose="02010600030101010101" pitchFamily="2" charset="-122"/>
              </a:rPr>
              <a:t>		P(chopstick[(i+1)mod5]);</a:t>
            </a:r>
          </a:p>
          <a:p>
            <a:pPr marL="342900" indent="-342900">
              <a:spcBef>
                <a:spcPct val="20000"/>
              </a:spcBef>
              <a:buClr>
                <a:srgbClr val="3333CC"/>
              </a:buClr>
              <a:buSzPct val="60000"/>
              <a:buFont typeface="Wingdings" panose="05000000000000000000" pitchFamily="2" charset="2"/>
            </a:pPr>
            <a:r>
              <a:rPr lang="zh-CN" altLang="zh-CN" sz="2000" b="1" i="0" dirty="0">
                <a:solidFill>
                  <a:srgbClr val="000000"/>
                </a:solidFill>
                <a:latin typeface="Arial" panose="020B0604020202020204" pitchFamily="34" charset="0"/>
                <a:ea typeface="宋体" panose="02010600030101010101" pitchFamily="2" charset="-122"/>
              </a:rPr>
              <a:t>		eat;</a:t>
            </a:r>
          </a:p>
          <a:p>
            <a:pPr marL="342900" indent="-342900">
              <a:spcBef>
                <a:spcPct val="20000"/>
              </a:spcBef>
              <a:buClr>
                <a:srgbClr val="3333CC"/>
              </a:buClr>
              <a:buSzPct val="60000"/>
              <a:buFont typeface="Wingdings" panose="05000000000000000000" pitchFamily="2" charset="2"/>
            </a:pPr>
            <a:r>
              <a:rPr lang="zh-CN" altLang="zh-CN" sz="2000" b="1" i="0" dirty="0">
                <a:solidFill>
                  <a:srgbClr val="000000"/>
                </a:solidFill>
                <a:latin typeface="Arial" panose="020B0604020202020204" pitchFamily="34" charset="0"/>
                <a:ea typeface="宋体" panose="02010600030101010101" pitchFamily="2" charset="-122"/>
              </a:rPr>
              <a:t>		V(chopstick[i]);</a:t>
            </a:r>
          </a:p>
          <a:p>
            <a:pPr marL="342900" indent="-342900">
              <a:spcBef>
                <a:spcPct val="20000"/>
              </a:spcBef>
              <a:buClr>
                <a:srgbClr val="3333CC"/>
              </a:buClr>
              <a:buSzPct val="60000"/>
              <a:buFont typeface="Wingdings" panose="05000000000000000000" pitchFamily="2" charset="2"/>
            </a:pPr>
            <a:r>
              <a:rPr lang="zh-CN" altLang="zh-CN" sz="2000" b="1" i="0" dirty="0">
                <a:solidFill>
                  <a:srgbClr val="000000"/>
                </a:solidFill>
                <a:latin typeface="Arial" panose="020B0604020202020204" pitchFamily="34" charset="0"/>
                <a:ea typeface="宋体" panose="02010600030101010101" pitchFamily="2" charset="-122"/>
              </a:rPr>
              <a:t>		V(chopstick[(i+1)mod5]);</a:t>
            </a:r>
            <a:r>
              <a:rPr lang="en-US" altLang="zh-CN" sz="2000" b="1" i="0" dirty="0">
                <a:solidFill>
                  <a:srgbClr val="000000"/>
                </a:solidFill>
                <a:latin typeface="Arial" panose="020B0604020202020204" pitchFamily="34" charset="0"/>
                <a:ea typeface="宋体" panose="02010600030101010101" pitchFamily="2" charset="-122"/>
              </a:rPr>
              <a:t>  </a:t>
            </a:r>
            <a:r>
              <a:rPr lang="zh-CN" altLang="zh-CN" sz="2000" b="1" i="0" dirty="0">
                <a:solidFill>
                  <a:srgbClr val="000000"/>
                </a:solidFill>
                <a:latin typeface="Arial" panose="020B0604020202020204" pitchFamily="34" charset="0"/>
                <a:ea typeface="宋体" panose="02010600030101010101" pitchFamily="2" charset="-122"/>
              </a:rPr>
              <a:t>}</a:t>
            </a:r>
          </a:p>
          <a:p>
            <a:pPr marL="342900" indent="-342900">
              <a:spcBef>
                <a:spcPct val="20000"/>
              </a:spcBef>
              <a:buClr>
                <a:srgbClr val="3333CC"/>
              </a:buClr>
              <a:buSzPct val="60000"/>
              <a:buFont typeface="Wingdings" panose="05000000000000000000" pitchFamily="2" charset="2"/>
              <a:buChar char="n"/>
            </a:pPr>
            <a:r>
              <a:rPr lang="zh-CN" altLang="en-US" b="1" i="0" dirty="0">
                <a:solidFill>
                  <a:srgbClr val="3333CC"/>
                </a:solidFill>
                <a:latin typeface="Arial" panose="020B0604020202020204" pitchFamily="34" charset="0"/>
                <a:ea typeface="宋体" panose="02010600030101010101" pitchFamily="2" charset="-122"/>
              </a:rPr>
              <a:t>上述算法可保证相邻的两个哲学家不能同时进餐。</a:t>
            </a:r>
            <a:endParaRPr lang="en-US" altLang="zh-CN" b="1" i="0" dirty="0">
              <a:solidFill>
                <a:srgbClr val="3333CC"/>
              </a:solidFill>
              <a:latin typeface="Arial" panose="020B0604020202020204" pitchFamily="34" charset="0"/>
              <a:ea typeface="宋体" panose="02010600030101010101" pitchFamily="2" charset="-122"/>
            </a:endParaRPr>
          </a:p>
          <a:p>
            <a:pPr marL="342900" indent="-342900">
              <a:spcBef>
                <a:spcPct val="20000"/>
              </a:spcBef>
              <a:buClr>
                <a:srgbClr val="3333CC"/>
              </a:buClr>
              <a:buSzPct val="60000"/>
              <a:buFont typeface="Wingdings" panose="05000000000000000000" pitchFamily="2" charset="2"/>
              <a:buChar char="n"/>
            </a:pPr>
            <a:r>
              <a:rPr lang="zh-CN" altLang="en-US" b="1" i="0" dirty="0">
                <a:solidFill>
                  <a:srgbClr val="3333CC"/>
                </a:solidFill>
                <a:latin typeface="Arial" panose="020B0604020202020204" pitchFamily="34" charset="0"/>
                <a:ea typeface="宋体" panose="02010600030101010101" pitchFamily="2" charset="-122"/>
              </a:rPr>
              <a:t>但存在死锁隐患：</a:t>
            </a:r>
            <a:r>
              <a:rPr lang="zh-CN" altLang="en-US" b="1" i="0" dirty="0">
                <a:solidFill>
                  <a:srgbClr val="000000"/>
                </a:solidFill>
                <a:latin typeface="Arial" panose="020B0604020202020204" pitchFamily="34" charset="0"/>
                <a:ea typeface="宋体" panose="02010600030101010101" pitchFamily="2" charset="-122"/>
              </a:rPr>
              <a:t>如果五个哲学家同时拿起各自左边的筷子，又试图拿右边的，则产生死锁。</a:t>
            </a:r>
          </a:p>
        </p:txBody>
      </p:sp>
      <p:sp>
        <p:nvSpPr>
          <p:cNvPr id="48132" name="Rectangle 2"/>
          <p:cNvSpPr>
            <a:spLocks noGrp="1"/>
          </p:cNvSpPr>
          <p:nvPr>
            <p:ph type="title"/>
          </p:nvPr>
        </p:nvSpPr>
        <p:spPr>
          <a:xfrm>
            <a:off x="1150938" y="476250"/>
            <a:ext cx="7793037" cy="1143000"/>
          </a:xfrm>
          <a:ln/>
        </p:spPr>
        <p:txBody>
          <a:bodyPr vert="horz" wrap="square" lIns="91440" tIns="45720" rIns="91440" bIns="45720" anchor="b" anchorCtr="0"/>
          <a:lstStyle/>
          <a:p>
            <a:pPr eaLnBrk="1" hangingPunct="1"/>
            <a:r>
              <a:rPr lang="zh-CN" altLang="zh-CN" sz="4000" b="1" dirty="0"/>
              <a:t>3</a:t>
            </a:r>
            <a:r>
              <a:rPr lang="en-US" altLang="zh-CN" sz="4000" b="1" dirty="0"/>
              <a:t>. </a:t>
            </a:r>
            <a:r>
              <a:rPr lang="zh-CN" altLang="en-US" sz="4000" b="1" dirty="0"/>
              <a:t>哲学家进餐问题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189">
                                            <p:txEl>
                                              <p:pRg st="8" end="8"/>
                                            </p:txEl>
                                          </p:spTgt>
                                        </p:tgtEl>
                                        <p:attrNameLst>
                                          <p:attrName>style.visibility</p:attrName>
                                        </p:attrNameLst>
                                      </p:cBhvr>
                                      <p:to>
                                        <p:strVal val="visible"/>
                                      </p:to>
                                    </p:set>
                                    <p:animEffect transition="in" filter="fade">
                                      <p:cBhvr>
                                        <p:cTn id="7" dur="500"/>
                                        <p:tgtEl>
                                          <p:spTgt spid="93189">
                                            <p:txEl>
                                              <p:pRg st="8"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3189">
                                            <p:txEl>
                                              <p:pRg st="9" end="9"/>
                                            </p:txEl>
                                          </p:spTgt>
                                        </p:tgtEl>
                                        <p:attrNameLst>
                                          <p:attrName>style.visibility</p:attrName>
                                        </p:attrNameLst>
                                      </p:cBhvr>
                                      <p:to>
                                        <p:strVal val="visible"/>
                                      </p:to>
                                    </p:set>
                                    <p:animEffect transition="in" filter="fade">
                                      <p:cBhvr>
                                        <p:cTn id="12" dur="500"/>
                                        <p:tgtEl>
                                          <p:spTgt spid="9318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灯片编号占位符 5"/>
          <p:cNvSpPr txBox="1">
            <a:spLocks noGrp="1" noChangeArrowheads="1"/>
          </p:cNvSpPr>
          <p:nvPr>
            <p:ph type="sldNum" sz="quarter" idx="12"/>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Char char="•"/>
              <a:defRPr/>
            </a:pPr>
            <a:fld id="{3BC8FB56-5B9F-4739-9E9C-CCCFAC0E33A4}" type="slidenum">
              <a:rPr kumimoji="0" lang="zh-CN" altLang="zh-CN"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ea"/>
              </a:rPr>
              <a:t>59</a:t>
            </a:fld>
            <a:endParaRPr kumimoji="0" lang="zh-CN" altLang="zh-CN"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ea"/>
            </a:endParaRPr>
          </a:p>
        </p:txBody>
      </p:sp>
      <p:sp>
        <p:nvSpPr>
          <p:cNvPr id="50178" name="Rectangle 2"/>
          <p:cNvSpPr>
            <a:spLocks noGrp="1"/>
          </p:cNvSpPr>
          <p:nvPr>
            <p:ph type="title"/>
          </p:nvPr>
        </p:nvSpPr>
        <p:spPr>
          <a:xfrm>
            <a:off x="1150938" y="476250"/>
            <a:ext cx="7793037" cy="1143000"/>
          </a:xfrm>
          <a:ln/>
        </p:spPr>
        <p:txBody>
          <a:bodyPr vert="horz" wrap="square" lIns="91440" tIns="45720" rIns="91440" bIns="45720" anchor="b" anchorCtr="0"/>
          <a:lstStyle/>
          <a:p>
            <a:pPr eaLnBrk="1" hangingPunct="1"/>
            <a:r>
              <a:rPr lang="zh-CN" altLang="zh-CN" sz="4000" b="1" dirty="0"/>
              <a:t>3</a:t>
            </a:r>
            <a:r>
              <a:rPr lang="en-US" altLang="zh-CN" sz="4000" b="1" dirty="0"/>
              <a:t>. </a:t>
            </a:r>
            <a:r>
              <a:rPr lang="zh-CN" altLang="en-US" sz="4000" b="1" dirty="0"/>
              <a:t>哲学家进餐问题</a:t>
            </a:r>
          </a:p>
        </p:txBody>
      </p:sp>
      <p:sp>
        <p:nvSpPr>
          <p:cNvPr id="112645" name="Rectangle 4"/>
          <p:cNvSpPr/>
          <p:nvPr/>
        </p:nvSpPr>
        <p:spPr>
          <a:xfrm>
            <a:off x="468313" y="2060575"/>
            <a:ext cx="8424862" cy="3529013"/>
          </a:xfrm>
          <a:prstGeom prst="rect">
            <a:avLst/>
          </a:prstGeom>
          <a:noFill/>
          <a:ln w="9525">
            <a:noFill/>
          </a:ln>
        </p:spPr>
        <p:txBody>
          <a:bodyPr anchor="t" anchorCtr="0"/>
          <a:lstStyle/>
          <a:p>
            <a:pPr marL="342900" indent="-342900">
              <a:spcBef>
                <a:spcPct val="20000"/>
              </a:spcBef>
              <a:buClr>
                <a:srgbClr val="3333CC"/>
              </a:buClr>
              <a:buSzPct val="60000"/>
              <a:buFont typeface="Wingdings" panose="05000000000000000000" pitchFamily="2" charset="2"/>
              <a:buChar char="n"/>
            </a:pPr>
            <a:r>
              <a:rPr lang="zh-CN" altLang="en-US" sz="3200" b="1" i="0" dirty="0">
                <a:solidFill>
                  <a:srgbClr val="3333CC"/>
                </a:solidFill>
                <a:latin typeface="Arial" panose="020B0604020202020204" pitchFamily="34" charset="0"/>
                <a:ea typeface="宋体" panose="02010600030101010101" pitchFamily="2" charset="-122"/>
              </a:rPr>
              <a:t>解决死锁的几个方法：第一种</a:t>
            </a:r>
            <a:endParaRPr lang="en-US" altLang="zh-CN" sz="3200" b="1" i="0" dirty="0">
              <a:solidFill>
                <a:srgbClr val="3333CC"/>
              </a:solidFill>
              <a:latin typeface="Arial" panose="020B0604020202020204" pitchFamily="34" charset="0"/>
              <a:ea typeface="宋体" panose="02010600030101010101" pitchFamily="2" charset="-122"/>
            </a:endParaRPr>
          </a:p>
          <a:p>
            <a:pPr marL="971550" lvl="1" indent="-514350" algn="l" rtl="0" eaLnBrk="1" fontAlgn="base" hangingPunct="1">
              <a:spcBef>
                <a:spcPct val="20000"/>
              </a:spcBef>
              <a:spcAft>
                <a:spcPct val="0"/>
              </a:spcAft>
              <a:buClr>
                <a:srgbClr val="FF0000"/>
              </a:buClr>
              <a:buSzPct val="87000"/>
              <a:buFont typeface="宋体" panose="02010600030101010101" pitchFamily="2" charset="-122"/>
              <a:buAutoNum type="circleNumDbPlain"/>
            </a:pPr>
            <a:r>
              <a:rPr lang="zh-CN" altLang="en-US" sz="2800" b="1" dirty="0">
                <a:solidFill>
                  <a:srgbClr val="000000"/>
                </a:solidFill>
                <a:latin typeface="Arial" panose="020B0604020202020204" pitchFamily="34" charset="0"/>
                <a:ea typeface="宋体" panose="02010600030101010101" pitchFamily="2" charset="-122"/>
              </a:rPr>
              <a:t>最多只允许</a:t>
            </a:r>
            <a:r>
              <a:rPr lang="en-US" altLang="zh-CN" sz="2800" b="1" dirty="0">
                <a:solidFill>
                  <a:srgbClr val="000000"/>
                </a:solidFill>
                <a:latin typeface="Arial" panose="020B0604020202020204" pitchFamily="34" charset="0"/>
                <a:ea typeface="宋体" panose="02010600030101010101" pitchFamily="2" charset="-122"/>
              </a:rPr>
              <a:t>4</a:t>
            </a:r>
            <a:r>
              <a:rPr lang="zh-CN" altLang="en-US" sz="2800" b="1" dirty="0">
                <a:solidFill>
                  <a:srgbClr val="000000"/>
                </a:solidFill>
                <a:latin typeface="Arial" panose="020B0604020202020204" pitchFamily="34" charset="0"/>
                <a:ea typeface="宋体" panose="02010600030101010101" pitchFamily="2" charset="-122"/>
              </a:rPr>
              <a:t>个哲学家同时拿筷子，从而保证有一人能够进餐。</a:t>
            </a:r>
            <a:endParaRPr lang="en-US" altLang="zh-CN" sz="2800" b="1" dirty="0">
              <a:solidFill>
                <a:srgbClr val="000000"/>
              </a:solidFill>
              <a:latin typeface="Arial" panose="020B0604020202020204" pitchFamily="34" charset="0"/>
              <a:ea typeface="宋体" panose="02010600030101010101" pitchFamily="2" charset="-122"/>
            </a:endParaRPr>
          </a:p>
          <a:p>
            <a:pPr marL="971550" lvl="1" indent="-514350" algn="l" rtl="0" eaLnBrk="1" fontAlgn="base" hangingPunct="1">
              <a:spcBef>
                <a:spcPct val="20000"/>
              </a:spcBef>
              <a:spcAft>
                <a:spcPct val="0"/>
              </a:spcAft>
              <a:buClr>
                <a:srgbClr val="FF0000"/>
              </a:buClr>
              <a:buSzPct val="87000"/>
              <a:buFont typeface="宋体" panose="02010600030101010101" pitchFamily="2" charset="-122"/>
              <a:buAutoNum type="circleNumDbPlain"/>
            </a:pPr>
            <a:r>
              <a:rPr lang="zh-CN" altLang="en-US" sz="2800" b="1" dirty="0">
                <a:solidFill>
                  <a:srgbClr val="000000"/>
                </a:solidFill>
                <a:latin typeface="Arial" panose="020B0604020202020204" pitchFamily="34" charset="0"/>
                <a:ea typeface="宋体" panose="02010600030101010101" pitchFamily="2" charset="-122"/>
              </a:rPr>
              <a:t>仅当某哲学家左右两边的筷子都可用时，才允许他拿筷子。</a:t>
            </a:r>
            <a:endParaRPr lang="en-US" altLang="zh-CN" sz="2800" b="1" dirty="0">
              <a:solidFill>
                <a:srgbClr val="000000"/>
              </a:solidFill>
              <a:latin typeface="Arial" panose="020B0604020202020204" pitchFamily="34" charset="0"/>
              <a:ea typeface="宋体" panose="02010600030101010101" pitchFamily="2" charset="-122"/>
            </a:endParaRPr>
          </a:p>
          <a:p>
            <a:pPr marL="971550" lvl="1" indent="-514350" algn="l" rtl="0" eaLnBrk="1" fontAlgn="base" hangingPunct="1">
              <a:spcBef>
                <a:spcPct val="20000"/>
              </a:spcBef>
              <a:spcAft>
                <a:spcPct val="0"/>
              </a:spcAft>
              <a:buClr>
                <a:srgbClr val="FF0000"/>
              </a:buClr>
              <a:buSzPct val="87000"/>
              <a:buFont typeface="宋体" panose="02010600030101010101" pitchFamily="2" charset="-122"/>
              <a:buAutoNum type="circleNumDbPlain"/>
            </a:pPr>
            <a:r>
              <a:rPr lang="zh-CN" altLang="en-US" sz="2800" b="1" dirty="0">
                <a:solidFill>
                  <a:srgbClr val="000000"/>
                </a:solidFill>
                <a:latin typeface="Arial" panose="020B0604020202020204" pitchFamily="34" charset="0"/>
                <a:ea typeface="宋体" panose="02010600030101010101" pitchFamily="2" charset="-122"/>
              </a:rPr>
              <a:t>将哲学家编号，要求奇数号的哲学家先拿左边筷子，偶数号哲学家先拿右边筷子。</a:t>
            </a:r>
            <a:endParaRPr lang="en-US" altLang="zh-CN" sz="2800" b="1" dirty="0">
              <a:solidFill>
                <a:srgbClr val="000000"/>
              </a:solidFill>
              <a:latin typeface="Arial" panose="020B0604020202020204" pitchFamily="34" charset="0"/>
              <a:ea typeface="宋体" panose="02010600030101010101" pitchFamily="2" charset="-122"/>
            </a:endParaRPr>
          </a:p>
        </p:txBody>
      </p:sp>
      <p:pic>
        <p:nvPicPr>
          <p:cNvPr id="50180" name="Picture 3" descr="t220"/>
          <p:cNvPicPr>
            <a:picLocks noChangeAspect="1"/>
          </p:cNvPicPr>
          <p:nvPr/>
        </p:nvPicPr>
        <p:blipFill>
          <a:blip r:embed="rId3"/>
          <a:stretch>
            <a:fillRect/>
          </a:stretch>
        </p:blipFill>
        <p:spPr>
          <a:xfrm>
            <a:off x="6169025" y="260350"/>
            <a:ext cx="2435225" cy="22320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645">
                                            <p:txEl>
                                              <p:charRg st="9" end="38"/>
                                            </p:txEl>
                                          </p:spTgt>
                                        </p:tgtEl>
                                        <p:attrNameLst>
                                          <p:attrName>style.visibility</p:attrName>
                                        </p:attrNameLst>
                                      </p:cBhvr>
                                      <p:to>
                                        <p:strVal val="visible"/>
                                      </p:to>
                                    </p:set>
                                    <p:animEffect transition="in" filter="fade">
                                      <p:cBhvr>
                                        <p:cTn id="7" dur="500"/>
                                        <p:tgtEl>
                                          <p:spTgt spid="112645">
                                            <p:txEl>
                                              <p:charRg st="9" end="3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2645">
                                            <p:txEl>
                                              <p:charRg st="38" end="65"/>
                                            </p:txEl>
                                          </p:spTgt>
                                        </p:tgtEl>
                                        <p:attrNameLst>
                                          <p:attrName>style.visibility</p:attrName>
                                        </p:attrNameLst>
                                      </p:cBhvr>
                                      <p:to>
                                        <p:strVal val="visible"/>
                                      </p:to>
                                    </p:set>
                                    <p:animEffect transition="in" filter="fade">
                                      <p:cBhvr>
                                        <p:cTn id="12" dur="500"/>
                                        <p:tgtEl>
                                          <p:spTgt spid="112645">
                                            <p:txEl>
                                              <p:charRg st="38" end="6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2645">
                                            <p:txEl>
                                              <p:charRg st="65" end="102"/>
                                            </p:txEl>
                                          </p:spTgt>
                                        </p:tgtEl>
                                        <p:attrNameLst>
                                          <p:attrName>style.visibility</p:attrName>
                                        </p:attrNameLst>
                                      </p:cBhvr>
                                      <p:to>
                                        <p:strVal val="visible"/>
                                      </p:to>
                                    </p:set>
                                    <p:animEffect transition="in" filter="fade">
                                      <p:cBhvr>
                                        <p:cTn id="17" dur="500"/>
                                        <p:tgtEl>
                                          <p:spTgt spid="112645">
                                            <p:txEl>
                                              <p:charRg st="65" end="10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灯片编号占位符 5"/>
          <p:cNvSpPr txBox="1">
            <a:spLocks noGrp="1" noChangeArrowheads="1"/>
          </p:cNvSpPr>
          <p:nvPr>
            <p:ph type="sldNum" sz="quarter" idx="12"/>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Char char="•"/>
              <a:defRPr/>
            </a:pPr>
            <a:fld id="{8929349A-4541-45E9-BE54-474D7CAAA709}" type="slidenum">
              <a:rPr kumimoji="0" lang="zh-CN" altLang="zh-CN"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ea"/>
              </a:rPr>
              <a:t>60</a:t>
            </a:fld>
            <a:endParaRPr kumimoji="0" lang="zh-CN" altLang="zh-CN"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ea"/>
            </a:endParaRPr>
          </a:p>
        </p:txBody>
      </p:sp>
      <p:sp>
        <p:nvSpPr>
          <p:cNvPr id="52226" name="Rectangle 2"/>
          <p:cNvSpPr>
            <a:spLocks noGrp="1"/>
          </p:cNvSpPr>
          <p:nvPr>
            <p:ph type="title"/>
          </p:nvPr>
        </p:nvSpPr>
        <p:spPr>
          <a:xfrm>
            <a:off x="1150938" y="476250"/>
            <a:ext cx="7793037" cy="1143000"/>
          </a:xfrm>
          <a:ln/>
        </p:spPr>
        <p:txBody>
          <a:bodyPr vert="horz" wrap="square" lIns="91440" tIns="45720" rIns="91440" bIns="45720" anchor="b" anchorCtr="0"/>
          <a:lstStyle/>
          <a:p>
            <a:pPr eaLnBrk="1" hangingPunct="1"/>
            <a:r>
              <a:rPr lang="zh-CN" altLang="zh-CN" sz="4000" b="1" dirty="0"/>
              <a:t>3</a:t>
            </a:r>
            <a:r>
              <a:rPr lang="en-US" altLang="zh-CN" sz="4000" b="1" dirty="0"/>
              <a:t>. </a:t>
            </a:r>
            <a:r>
              <a:rPr lang="zh-CN" altLang="en-US" sz="4000" b="1" dirty="0"/>
              <a:t>哲学家进餐问题</a:t>
            </a:r>
          </a:p>
        </p:txBody>
      </p:sp>
      <p:sp>
        <p:nvSpPr>
          <p:cNvPr id="121860" name="Rectangle 4"/>
          <p:cNvSpPr/>
          <p:nvPr/>
        </p:nvSpPr>
        <p:spPr>
          <a:xfrm>
            <a:off x="468313" y="2060575"/>
            <a:ext cx="8424862" cy="3529013"/>
          </a:xfrm>
          <a:prstGeom prst="rect">
            <a:avLst/>
          </a:prstGeom>
          <a:noFill/>
          <a:ln w="9525">
            <a:noFill/>
          </a:ln>
        </p:spPr>
        <p:txBody>
          <a:bodyPr anchor="t" anchorCtr="0"/>
          <a:lstStyle/>
          <a:p>
            <a:pPr marL="342900" indent="-342900">
              <a:spcBef>
                <a:spcPct val="20000"/>
              </a:spcBef>
              <a:buClr>
                <a:srgbClr val="3333CC"/>
              </a:buClr>
              <a:buSzPct val="60000"/>
              <a:buFont typeface="Wingdings" panose="05000000000000000000" pitchFamily="2" charset="2"/>
              <a:buChar char="n"/>
            </a:pPr>
            <a:r>
              <a:rPr lang="zh-CN" altLang="en-US" sz="3200" b="1" i="0" dirty="0">
                <a:solidFill>
                  <a:srgbClr val="3333CC"/>
                </a:solidFill>
                <a:latin typeface="Arial" panose="020B0604020202020204" pitchFamily="34" charset="0"/>
                <a:ea typeface="宋体" panose="02010600030101010101" pitchFamily="2" charset="-122"/>
              </a:rPr>
              <a:t>用第一种方法解决死锁</a:t>
            </a:r>
            <a:endParaRPr lang="en-US" altLang="zh-CN" sz="3200" b="1" i="0" dirty="0">
              <a:solidFill>
                <a:srgbClr val="3333CC"/>
              </a:solidFill>
              <a:latin typeface="Arial" panose="020B0604020202020204" pitchFamily="34" charset="0"/>
              <a:ea typeface="宋体" panose="02010600030101010101" pitchFamily="2" charset="-122"/>
            </a:endParaRPr>
          </a:p>
          <a:p>
            <a:pPr marL="742950" lvl="1" indent="-285750" algn="l" rtl="0" eaLnBrk="1" fontAlgn="base" hangingPunct="1">
              <a:spcBef>
                <a:spcPct val="20000"/>
              </a:spcBef>
              <a:spcAft>
                <a:spcPct val="0"/>
              </a:spcAft>
              <a:buClr>
                <a:srgbClr val="FF0000"/>
              </a:buClr>
              <a:buSzPct val="55000"/>
              <a:buFont typeface="Wingdings" panose="05000000000000000000" pitchFamily="2" charset="2"/>
              <a:buChar char="n"/>
            </a:pPr>
            <a:r>
              <a:rPr lang="zh-CN" altLang="en-US" sz="2800" b="1" dirty="0">
                <a:solidFill>
                  <a:srgbClr val="000000"/>
                </a:solidFill>
                <a:latin typeface="Arial" panose="020B0604020202020204" pitchFamily="34" charset="0"/>
                <a:ea typeface="宋体" panose="02010600030101010101" pitchFamily="2" charset="-122"/>
              </a:rPr>
              <a:t>五根筷子对应信号量数组</a:t>
            </a:r>
            <a:r>
              <a:rPr lang="zh-CN" altLang="zh-CN" sz="2800" b="1" dirty="0">
                <a:solidFill>
                  <a:srgbClr val="000000"/>
                </a:solidFill>
                <a:latin typeface="Arial" panose="020B0604020202020204" pitchFamily="34" charset="0"/>
                <a:ea typeface="宋体" panose="02010600030101010101" pitchFamily="2" charset="-122"/>
              </a:rPr>
              <a:t>chopstick[5]</a:t>
            </a:r>
            <a:r>
              <a:rPr lang="zh-CN" altLang="en-US" sz="2800" b="1" dirty="0">
                <a:solidFill>
                  <a:srgbClr val="000000"/>
                </a:solidFill>
                <a:latin typeface="Arial" panose="020B0604020202020204" pitchFamily="34" charset="0"/>
                <a:ea typeface="宋体" panose="02010600030101010101" pitchFamily="2" charset="-122"/>
              </a:rPr>
              <a:t>，初值为</a:t>
            </a:r>
            <a:r>
              <a:rPr lang="zh-CN" altLang="zh-CN" sz="2800" b="1" dirty="0">
                <a:solidFill>
                  <a:srgbClr val="000000"/>
                </a:solidFill>
                <a:latin typeface="Arial" panose="020B0604020202020204" pitchFamily="34" charset="0"/>
                <a:ea typeface="宋体" panose="02010600030101010101" pitchFamily="2" charset="-122"/>
              </a:rPr>
              <a:t>1</a:t>
            </a:r>
            <a:r>
              <a:rPr lang="zh-CN" altLang="en-US" sz="2800" b="1" dirty="0">
                <a:solidFill>
                  <a:srgbClr val="000000"/>
                </a:solidFill>
                <a:latin typeface="Arial" panose="020B0604020202020204" pitchFamily="34" charset="0"/>
                <a:ea typeface="宋体" panose="02010600030101010101" pitchFamily="2" charset="-122"/>
              </a:rPr>
              <a:t>；</a:t>
            </a:r>
            <a:endParaRPr lang="en-US" altLang="zh-CN" sz="2800" b="1" dirty="0">
              <a:solidFill>
                <a:srgbClr val="000000"/>
              </a:solidFill>
              <a:latin typeface="Arial" panose="020B0604020202020204" pitchFamily="34" charset="0"/>
              <a:ea typeface="宋体" panose="02010600030101010101" pitchFamily="2" charset="-122"/>
            </a:endParaRPr>
          </a:p>
          <a:p>
            <a:pPr marL="742950" lvl="1" indent="-285750" algn="l" rtl="0" eaLnBrk="1" fontAlgn="base" hangingPunct="1">
              <a:spcBef>
                <a:spcPct val="20000"/>
              </a:spcBef>
              <a:spcAft>
                <a:spcPct val="0"/>
              </a:spcAft>
              <a:buClr>
                <a:srgbClr val="FF0000"/>
              </a:buClr>
              <a:buSzPct val="55000"/>
              <a:buFont typeface="Wingdings" panose="05000000000000000000" pitchFamily="2" charset="2"/>
              <a:buChar char="n"/>
            </a:pPr>
            <a:r>
              <a:rPr lang="zh-CN" altLang="en-US" sz="2800" b="1" dirty="0">
                <a:solidFill>
                  <a:srgbClr val="000000"/>
                </a:solidFill>
                <a:latin typeface="Arial" panose="020B0604020202020204" pitchFamily="34" charset="0"/>
                <a:ea typeface="宋体" panose="02010600030101010101" pitchFamily="2" charset="-122"/>
              </a:rPr>
              <a:t>将允许同时拿筷子准备进餐的哲学家数量看作一种资源，定义成信号量</a:t>
            </a:r>
            <a:r>
              <a:rPr lang="en-US" altLang="zh-CN" sz="2800" b="1" dirty="0">
                <a:solidFill>
                  <a:srgbClr val="000000"/>
                </a:solidFill>
                <a:latin typeface="Arial" panose="020B0604020202020204" pitchFamily="34" charset="0"/>
                <a:ea typeface="宋体" panose="02010600030101010101" pitchFamily="2" charset="-122"/>
              </a:rPr>
              <a:t>count</a:t>
            </a:r>
            <a:r>
              <a:rPr lang="zh-CN" altLang="en-US" sz="2800" b="1" dirty="0">
                <a:solidFill>
                  <a:srgbClr val="000000"/>
                </a:solidFill>
                <a:latin typeface="Arial" panose="020B0604020202020204" pitchFamily="34" charset="0"/>
                <a:ea typeface="宋体" panose="02010600030101010101" pitchFamily="2" charset="-122"/>
              </a:rPr>
              <a:t>，初值为</a:t>
            </a:r>
            <a:r>
              <a:rPr lang="en-US" altLang="zh-CN" sz="2800" b="1" dirty="0">
                <a:solidFill>
                  <a:srgbClr val="000000"/>
                </a:solidFill>
                <a:latin typeface="Arial" panose="020B0604020202020204" pitchFamily="34" charset="0"/>
                <a:ea typeface="宋体" panose="02010600030101010101" pitchFamily="2" charset="-122"/>
              </a:rPr>
              <a:t>4</a:t>
            </a:r>
            <a:r>
              <a:rPr lang="zh-CN" altLang="en-US" sz="2800" b="1" dirty="0">
                <a:solidFill>
                  <a:srgbClr val="000000"/>
                </a:solidFill>
                <a:latin typeface="Arial" panose="020B0604020202020204" pitchFamily="34" charset="0"/>
                <a:ea typeface="宋体" panose="02010600030101010101" pitchFamily="2" charset="-122"/>
              </a:rPr>
              <a:t>；</a:t>
            </a:r>
            <a:endParaRPr lang="en-US" altLang="zh-CN" sz="2800" b="1" dirty="0">
              <a:solidFill>
                <a:srgbClr val="000000"/>
              </a:solidFill>
              <a:latin typeface="Arial" panose="020B0604020202020204" pitchFamily="34" charset="0"/>
              <a:ea typeface="宋体" panose="02010600030101010101" pitchFamily="2" charset="-122"/>
            </a:endParaRPr>
          </a:p>
          <a:p>
            <a:pPr marL="742950" lvl="1" indent="-285750" algn="l" rtl="0" eaLnBrk="1" fontAlgn="base" hangingPunct="1">
              <a:spcBef>
                <a:spcPct val="20000"/>
              </a:spcBef>
              <a:spcAft>
                <a:spcPct val="0"/>
              </a:spcAft>
              <a:buClr>
                <a:srgbClr val="FF0000"/>
              </a:buClr>
              <a:buSzPct val="55000"/>
              <a:buFont typeface="Wingdings" panose="05000000000000000000" pitchFamily="2" charset="2"/>
              <a:buChar char="n"/>
            </a:pPr>
            <a:r>
              <a:rPr lang="zh-CN" altLang="en-US" sz="2800" b="1" dirty="0">
                <a:solidFill>
                  <a:srgbClr val="000000"/>
                </a:solidFill>
                <a:latin typeface="Arial" panose="020B0604020202020204" pitchFamily="34" charset="0"/>
                <a:ea typeface="宋体" panose="02010600030101010101" pitchFamily="2" charset="-122"/>
              </a:rPr>
              <a:t>哲学家进餐前先执行</a:t>
            </a:r>
            <a:r>
              <a:rPr lang="en-US" altLang="zh-CN" sz="2800" b="1" dirty="0">
                <a:solidFill>
                  <a:srgbClr val="000000"/>
                </a:solidFill>
                <a:latin typeface="Arial" panose="020B0604020202020204" pitchFamily="34" charset="0"/>
                <a:ea typeface="宋体" panose="02010600030101010101" pitchFamily="2" charset="-122"/>
              </a:rPr>
              <a:t>P(count)</a:t>
            </a:r>
            <a:r>
              <a:rPr lang="zh-CN" altLang="en-US" sz="2800" b="1" dirty="0">
                <a:solidFill>
                  <a:srgbClr val="000000"/>
                </a:solidFill>
                <a:latin typeface="Arial" panose="020B0604020202020204" pitchFamily="34" charset="0"/>
                <a:ea typeface="宋体" panose="02010600030101010101" pitchFamily="2" charset="-122"/>
              </a:rPr>
              <a:t>，进餐后执行</a:t>
            </a:r>
            <a:r>
              <a:rPr lang="en-US" altLang="zh-CN" sz="2800" b="1" dirty="0">
                <a:solidFill>
                  <a:srgbClr val="000000"/>
                </a:solidFill>
                <a:latin typeface="Arial" panose="020B0604020202020204" pitchFamily="34" charset="0"/>
                <a:ea typeface="宋体" panose="02010600030101010101" pitchFamily="2" charset="-122"/>
              </a:rPr>
              <a:t>V(count)</a:t>
            </a:r>
            <a:r>
              <a:rPr lang="zh-CN" altLang="en-US" sz="2800" b="1" dirty="0">
                <a:solidFill>
                  <a:srgbClr val="000000"/>
                </a:solidFill>
                <a:latin typeface="Arial" panose="020B0604020202020204" pitchFamily="34"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860">
                                            <p:txEl>
                                              <p:pRg st="1" end="1"/>
                                            </p:txEl>
                                          </p:spTgt>
                                        </p:tgtEl>
                                        <p:attrNameLst>
                                          <p:attrName>style.visibility</p:attrName>
                                        </p:attrNameLst>
                                      </p:cBhvr>
                                      <p:to>
                                        <p:strVal val="visible"/>
                                      </p:to>
                                    </p:set>
                                    <p:animEffect transition="in" filter="fade">
                                      <p:cBhvr>
                                        <p:cTn id="7" dur="500"/>
                                        <p:tgtEl>
                                          <p:spTgt spid="12186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1860">
                                            <p:txEl>
                                              <p:pRg st="2" end="2"/>
                                            </p:txEl>
                                          </p:spTgt>
                                        </p:tgtEl>
                                        <p:attrNameLst>
                                          <p:attrName>style.visibility</p:attrName>
                                        </p:attrNameLst>
                                      </p:cBhvr>
                                      <p:to>
                                        <p:strVal val="visible"/>
                                      </p:to>
                                    </p:set>
                                    <p:animEffect transition="in" filter="fade">
                                      <p:cBhvr>
                                        <p:cTn id="12" dur="500"/>
                                        <p:tgtEl>
                                          <p:spTgt spid="12186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1860">
                                            <p:txEl>
                                              <p:pRg st="3" end="3"/>
                                            </p:txEl>
                                          </p:spTgt>
                                        </p:tgtEl>
                                        <p:attrNameLst>
                                          <p:attrName>style.visibility</p:attrName>
                                        </p:attrNameLst>
                                      </p:cBhvr>
                                      <p:to>
                                        <p:strVal val="visible"/>
                                      </p:to>
                                    </p:set>
                                    <p:animEffect transition="in" filter="fade">
                                      <p:cBhvr>
                                        <p:cTn id="17" dur="500"/>
                                        <p:tgtEl>
                                          <p:spTgt spid="12186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灯片编号占位符 5"/>
          <p:cNvSpPr txBox="1">
            <a:spLocks noGrp="1" noChangeArrowheads="1"/>
          </p:cNvSpPr>
          <p:nvPr>
            <p:ph type="sldNum" sz="quarter" idx="12"/>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Char char="•"/>
              <a:defRPr/>
            </a:pPr>
            <a:fld id="{01D3E5CB-2B06-4504-BB78-C3236C94C479}" type="slidenum">
              <a:rPr kumimoji="0" lang="zh-CN" altLang="zh-CN"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ea"/>
              </a:rPr>
              <a:t>61</a:t>
            </a:fld>
            <a:endParaRPr kumimoji="0" lang="zh-CN" altLang="zh-CN"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ea"/>
            </a:endParaRPr>
          </a:p>
        </p:txBody>
      </p:sp>
      <p:sp>
        <p:nvSpPr>
          <p:cNvPr id="54274" name="Rectangle 3"/>
          <p:cNvSpPr>
            <a:spLocks noGrp="1"/>
          </p:cNvSpPr>
          <p:nvPr>
            <p:ph idx="1"/>
          </p:nvPr>
        </p:nvSpPr>
        <p:spPr>
          <a:xfrm>
            <a:off x="323850" y="1557338"/>
            <a:ext cx="8712200" cy="4679950"/>
          </a:xfrm>
          <a:ln/>
        </p:spPr>
        <p:txBody>
          <a:bodyPr vert="horz" wrap="square" lIns="91440" tIns="45720" rIns="91440" bIns="45720" anchor="t" anchorCtr="0"/>
          <a:lstStyle/>
          <a:p>
            <a:pPr eaLnBrk="1" hangingPunct="1">
              <a:buNone/>
            </a:pPr>
            <a:r>
              <a:rPr lang="zh-CN" altLang="zh-CN" sz="2400" b="1" dirty="0"/>
              <a:t>typedef struct{                /* </a:t>
            </a:r>
            <a:r>
              <a:rPr lang="zh-CN" altLang="en-US" sz="2400" b="1" dirty="0"/>
              <a:t>定义结构型信号量 </a:t>
            </a:r>
            <a:r>
              <a:rPr lang="en-US" altLang="zh-CN" sz="2400" b="1" dirty="0"/>
              <a:t>*</a:t>
            </a:r>
            <a:r>
              <a:rPr lang="zh-CN" altLang="zh-CN" sz="2400" b="1" dirty="0"/>
              <a:t>/</a:t>
            </a:r>
          </a:p>
          <a:p>
            <a:pPr eaLnBrk="1" hangingPunct="1">
              <a:buNone/>
            </a:pPr>
            <a:r>
              <a:rPr lang="zh-CN" altLang="zh-CN" sz="2400" b="1" dirty="0"/>
              <a:t>           int value;</a:t>
            </a:r>
          </a:p>
          <a:p>
            <a:pPr eaLnBrk="1" hangingPunct="1">
              <a:buNone/>
            </a:pPr>
            <a:r>
              <a:rPr lang="zh-CN" altLang="zh-CN" sz="2400" b="1" dirty="0"/>
              <a:t>           struct PCB *list;</a:t>
            </a:r>
          </a:p>
          <a:p>
            <a:pPr eaLnBrk="1" hangingPunct="1">
              <a:buNone/>
            </a:pPr>
            <a:r>
              <a:rPr lang="zh-CN" altLang="zh-CN" sz="2400" b="1" dirty="0"/>
              <a:t>   }</a:t>
            </a:r>
            <a:r>
              <a:rPr lang="en-US" altLang="zh-CN" sz="2400" b="1" dirty="0"/>
              <a:t> </a:t>
            </a:r>
            <a:r>
              <a:rPr lang="zh-CN" altLang="zh-CN" sz="2400" b="1" dirty="0"/>
              <a:t>semaphore;</a:t>
            </a:r>
            <a:endParaRPr lang="en-US" altLang="zh-CN" sz="2400" b="1" dirty="0"/>
          </a:p>
          <a:p>
            <a:pPr eaLnBrk="1" hangingPunct="1">
              <a:buNone/>
            </a:pPr>
            <a:endParaRPr lang="zh-CN" altLang="zh-CN" sz="2400" b="1" dirty="0"/>
          </a:p>
          <a:p>
            <a:pPr eaLnBrk="1" hangingPunct="1">
              <a:buNone/>
            </a:pPr>
            <a:r>
              <a:rPr lang="en-US" altLang="zh-CN" sz="2400" b="1" dirty="0"/>
              <a:t> </a:t>
            </a:r>
            <a:r>
              <a:rPr lang="zh-CN" altLang="zh-CN" sz="2400" b="1" dirty="0"/>
              <a:t>semaphore chopstick[5] =</a:t>
            </a:r>
            <a:r>
              <a:rPr lang="en-US" altLang="zh-CN" sz="2400" b="1" dirty="0"/>
              <a:t>{</a:t>
            </a:r>
            <a:r>
              <a:rPr lang="zh-CN" altLang="zh-CN" sz="2400" b="1" dirty="0"/>
              <a:t>1</a:t>
            </a:r>
            <a:r>
              <a:rPr lang="en-US" altLang="zh-CN" sz="2400" b="1" dirty="0"/>
              <a:t>,1,1,1,1} </a:t>
            </a:r>
            <a:r>
              <a:rPr lang="zh-CN" altLang="zh-CN" sz="2400" b="1" dirty="0"/>
              <a:t>;    </a:t>
            </a:r>
            <a:endParaRPr lang="en-US" altLang="zh-CN" sz="2400" b="1" dirty="0"/>
          </a:p>
          <a:p>
            <a:pPr eaLnBrk="1" hangingPunct="1">
              <a:buNone/>
            </a:pPr>
            <a:r>
              <a:rPr lang="en-US" altLang="zh-CN" sz="2400" b="1" dirty="0"/>
              <a:t> </a:t>
            </a:r>
            <a:r>
              <a:rPr lang="zh-CN" altLang="zh-CN" sz="2400" b="1" dirty="0"/>
              <a:t>semaphore </a:t>
            </a:r>
            <a:r>
              <a:rPr lang="en-US" altLang="zh-CN" sz="2400" b="1" dirty="0"/>
              <a:t>count=4</a:t>
            </a:r>
            <a:r>
              <a:rPr lang="zh-CN" altLang="zh-CN" sz="2400" b="1" dirty="0"/>
              <a:t>;  /*</a:t>
            </a:r>
            <a:r>
              <a:rPr lang="zh-CN" altLang="en-US" sz="2400" b="1" dirty="0"/>
              <a:t>允许同时拿筷子准备进餐的人数</a:t>
            </a:r>
            <a:r>
              <a:rPr lang="en-US" altLang="zh-CN" sz="2400" b="1" dirty="0"/>
              <a:t>*</a:t>
            </a:r>
            <a:r>
              <a:rPr lang="zh-CN" altLang="zh-CN" sz="2400" b="1" dirty="0"/>
              <a:t>/</a:t>
            </a:r>
            <a:endParaRPr lang="en-US" altLang="zh-CN" sz="2400" b="1" dirty="0"/>
          </a:p>
          <a:p>
            <a:pPr eaLnBrk="1" hangingPunct="1">
              <a:buNone/>
            </a:pPr>
            <a:r>
              <a:rPr lang="en-US" altLang="zh-CN" sz="2400" b="1" dirty="0"/>
              <a:t> </a:t>
            </a:r>
            <a:r>
              <a:rPr lang="zh-CN" altLang="zh-CN" sz="2400" b="1" dirty="0"/>
              <a:t>int </a:t>
            </a:r>
            <a:r>
              <a:rPr lang="en-US" altLang="zh-CN" sz="2400" b="1" dirty="0"/>
              <a:t>I</a:t>
            </a:r>
            <a:r>
              <a:rPr lang="zh-CN" altLang="zh-CN" sz="2400" b="1" dirty="0"/>
              <a:t>; </a:t>
            </a:r>
            <a:r>
              <a:rPr lang="en-US" altLang="zh-CN" sz="2400" b="1" dirty="0"/>
              <a:t>                 </a:t>
            </a:r>
            <a:r>
              <a:rPr lang="zh-CN" altLang="zh-CN" sz="2400" b="1" dirty="0"/>
              <a:t>           /* </a:t>
            </a:r>
            <a:r>
              <a:rPr lang="zh-CN" altLang="en-US" sz="2400" b="1" dirty="0"/>
              <a:t>代表第</a:t>
            </a:r>
            <a:r>
              <a:rPr lang="en-US" altLang="zh-CN" sz="2400" b="1" dirty="0"/>
              <a:t>I</a:t>
            </a:r>
            <a:r>
              <a:rPr lang="zh-CN" altLang="en-US" sz="2400" b="1" dirty="0"/>
              <a:t>个哲学家</a:t>
            </a:r>
            <a:r>
              <a:rPr lang="en-US" altLang="zh-CN" sz="2400" b="1" dirty="0"/>
              <a:t>*</a:t>
            </a:r>
            <a:r>
              <a:rPr lang="zh-CN" altLang="zh-CN" sz="2400" b="1" dirty="0"/>
              <a:t>/</a:t>
            </a:r>
          </a:p>
          <a:p>
            <a:pPr eaLnBrk="1" hangingPunct="1">
              <a:buNone/>
            </a:pPr>
            <a:endParaRPr lang="zh-CN" altLang="zh-CN" sz="2400" b="1" dirty="0"/>
          </a:p>
          <a:p>
            <a:pPr eaLnBrk="1" hangingPunct="1">
              <a:buNone/>
            </a:pPr>
            <a:endParaRPr lang="zh-CN" altLang="zh-CN" sz="2400" b="1" dirty="0"/>
          </a:p>
          <a:p>
            <a:pPr eaLnBrk="1" hangingPunct="1">
              <a:lnSpc>
                <a:spcPct val="80000"/>
              </a:lnSpc>
              <a:buNone/>
            </a:pPr>
            <a:endParaRPr lang="zh-CN" altLang="zh-CN" sz="2800" b="1" dirty="0"/>
          </a:p>
        </p:txBody>
      </p:sp>
      <p:sp>
        <p:nvSpPr>
          <p:cNvPr id="54275" name="Rectangle 2"/>
          <p:cNvSpPr>
            <a:spLocks noGrp="1"/>
          </p:cNvSpPr>
          <p:nvPr>
            <p:ph type="title"/>
          </p:nvPr>
        </p:nvSpPr>
        <p:spPr>
          <a:xfrm>
            <a:off x="468313" y="476250"/>
            <a:ext cx="7793037" cy="647700"/>
          </a:xfrm>
          <a:ln/>
        </p:spPr>
        <p:txBody>
          <a:bodyPr vert="horz" wrap="square" lIns="91440" tIns="45720" rIns="91440" bIns="45720" anchor="b" anchorCtr="0"/>
          <a:lstStyle/>
          <a:p>
            <a:pPr eaLnBrk="1" hangingPunct="1"/>
            <a:r>
              <a:rPr lang="zh-CN" altLang="en-US" sz="2800" b="1" dirty="0">
                <a:solidFill>
                  <a:srgbClr val="3333CC"/>
                </a:solidFill>
              </a:rPr>
              <a:t>用第一种方法解决死锁</a:t>
            </a:r>
            <a:r>
              <a:rPr lang="en-US" altLang="zh-CN" sz="2800" b="1" dirty="0">
                <a:solidFill>
                  <a:srgbClr val="3333CC"/>
                </a:solidFill>
              </a:rPr>
              <a:t>——C</a:t>
            </a:r>
            <a:r>
              <a:rPr lang="zh-CN" altLang="en-US" sz="2800" b="1" dirty="0">
                <a:solidFill>
                  <a:srgbClr val="3333CC"/>
                </a:solidFill>
              </a:rPr>
              <a:t>语言描述的算法</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灯片编号占位符 5"/>
          <p:cNvSpPr txBox="1">
            <a:spLocks noGrp="1" noChangeArrowheads="1"/>
          </p:cNvSpPr>
          <p:nvPr>
            <p:ph type="sldNum" sz="quarter" idx="12"/>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Char char="•"/>
              <a:defRPr/>
            </a:pPr>
            <a:fld id="{572E6068-EFA4-4E43-B34D-A90CB4260063}" type="slidenum">
              <a:rPr kumimoji="0" lang="zh-CN" altLang="zh-CN"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ea"/>
              </a:rPr>
              <a:t>62</a:t>
            </a:fld>
            <a:endParaRPr kumimoji="0" lang="zh-CN" altLang="zh-CN"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ea"/>
            </a:endParaRPr>
          </a:p>
        </p:txBody>
      </p:sp>
      <p:sp>
        <p:nvSpPr>
          <p:cNvPr id="55298" name="Rectangle 3"/>
          <p:cNvSpPr>
            <a:spLocks noGrp="1"/>
          </p:cNvSpPr>
          <p:nvPr>
            <p:ph idx="1"/>
          </p:nvPr>
        </p:nvSpPr>
        <p:spPr>
          <a:xfrm>
            <a:off x="468313" y="1557338"/>
            <a:ext cx="8496300" cy="4679950"/>
          </a:xfrm>
          <a:ln/>
        </p:spPr>
        <p:txBody>
          <a:bodyPr vert="horz" wrap="square" lIns="91440" tIns="45720" rIns="91440" bIns="45720" anchor="t" anchorCtr="0"/>
          <a:lstStyle/>
          <a:p>
            <a:pPr eaLnBrk="1" hangingPunct="1">
              <a:buNone/>
            </a:pPr>
            <a:r>
              <a:rPr lang="en-US" altLang="zh-CN" sz="2400" b="1" dirty="0"/>
              <a:t> </a:t>
            </a:r>
            <a:r>
              <a:rPr lang="zh-CN" altLang="zh-CN" sz="2400" b="1" dirty="0"/>
              <a:t>While(true){</a:t>
            </a:r>
          </a:p>
          <a:p>
            <a:pPr eaLnBrk="1" hangingPunct="1">
              <a:buNone/>
            </a:pPr>
            <a:r>
              <a:rPr lang="zh-CN" altLang="zh-CN" sz="2400" b="1" dirty="0"/>
              <a:t>		think;</a:t>
            </a:r>
          </a:p>
          <a:p>
            <a:pPr eaLnBrk="1" hangingPunct="1">
              <a:buNone/>
            </a:pPr>
            <a:r>
              <a:rPr lang="zh-CN" altLang="zh-CN" sz="2400" b="1" dirty="0"/>
              <a:t>		</a:t>
            </a:r>
            <a:r>
              <a:rPr lang="en-US" altLang="zh-CN" sz="2400" b="1" dirty="0">
                <a:solidFill>
                  <a:srgbClr val="FF0000"/>
                </a:solidFill>
              </a:rPr>
              <a:t>P(count);</a:t>
            </a:r>
          </a:p>
          <a:p>
            <a:pPr eaLnBrk="1" hangingPunct="1">
              <a:buNone/>
            </a:pPr>
            <a:r>
              <a:rPr lang="en-US" altLang="zh-CN" sz="2400" b="1" dirty="0"/>
              <a:t>          </a:t>
            </a:r>
            <a:r>
              <a:rPr lang="zh-CN" altLang="zh-CN" sz="2400" b="1" dirty="0"/>
              <a:t>P(chopstick[</a:t>
            </a:r>
            <a:r>
              <a:rPr lang="en-US" altLang="zh-CN" sz="2400" b="1" dirty="0"/>
              <a:t>I</a:t>
            </a:r>
            <a:r>
              <a:rPr lang="zh-CN" altLang="zh-CN" sz="2400" b="1" dirty="0"/>
              <a:t>]);</a:t>
            </a:r>
          </a:p>
          <a:p>
            <a:pPr eaLnBrk="1" hangingPunct="1">
              <a:buNone/>
            </a:pPr>
            <a:r>
              <a:rPr lang="zh-CN" altLang="zh-CN" sz="2400" b="1" dirty="0"/>
              <a:t>		P(chopstick[(</a:t>
            </a:r>
            <a:r>
              <a:rPr lang="en-US" altLang="zh-CN" sz="2400" b="1" dirty="0"/>
              <a:t>I</a:t>
            </a:r>
            <a:r>
              <a:rPr lang="zh-CN" altLang="zh-CN" sz="2400" b="1" dirty="0"/>
              <a:t>+1)mod5]);</a:t>
            </a:r>
          </a:p>
          <a:p>
            <a:pPr eaLnBrk="1" hangingPunct="1">
              <a:buNone/>
            </a:pPr>
            <a:r>
              <a:rPr lang="zh-CN" altLang="zh-CN" sz="2400" b="1" dirty="0"/>
              <a:t>		</a:t>
            </a:r>
            <a:r>
              <a:rPr lang="en-US" altLang="zh-CN" sz="2400" b="1" dirty="0"/>
              <a:t>E</a:t>
            </a:r>
            <a:r>
              <a:rPr lang="zh-CN" altLang="zh-CN" sz="2400" b="1" dirty="0"/>
              <a:t>at;</a:t>
            </a:r>
          </a:p>
          <a:p>
            <a:pPr eaLnBrk="1" hangingPunct="1">
              <a:buNone/>
            </a:pPr>
            <a:r>
              <a:rPr lang="zh-CN" altLang="zh-CN" sz="2400" b="1" dirty="0"/>
              <a:t>		V(chopstick[</a:t>
            </a:r>
            <a:r>
              <a:rPr lang="en-US" altLang="zh-CN" sz="2400" b="1" dirty="0"/>
              <a:t>I</a:t>
            </a:r>
            <a:r>
              <a:rPr lang="zh-CN" altLang="zh-CN" sz="2400" b="1" dirty="0"/>
              <a:t>]);</a:t>
            </a:r>
          </a:p>
          <a:p>
            <a:pPr eaLnBrk="1" hangingPunct="1">
              <a:buNone/>
            </a:pPr>
            <a:r>
              <a:rPr lang="zh-CN" altLang="zh-CN" sz="2400" b="1" dirty="0"/>
              <a:t>		V(chopstick[(</a:t>
            </a:r>
            <a:r>
              <a:rPr lang="en-US" altLang="zh-CN" sz="2400" b="1" dirty="0"/>
              <a:t>I</a:t>
            </a:r>
            <a:r>
              <a:rPr lang="zh-CN" altLang="zh-CN" sz="2400" b="1" dirty="0"/>
              <a:t>+1)mod5]);</a:t>
            </a:r>
            <a:r>
              <a:rPr lang="en-US" altLang="zh-CN" sz="2400" b="1" dirty="0"/>
              <a:t>  </a:t>
            </a:r>
          </a:p>
          <a:p>
            <a:pPr eaLnBrk="1" hangingPunct="1">
              <a:buNone/>
            </a:pPr>
            <a:r>
              <a:rPr lang="en-US" altLang="zh-CN" sz="2400" b="1" dirty="0"/>
              <a:t>          </a:t>
            </a:r>
            <a:r>
              <a:rPr lang="en-US" altLang="zh-CN" sz="2400" b="1" dirty="0">
                <a:solidFill>
                  <a:srgbClr val="FF0000"/>
                </a:solidFill>
              </a:rPr>
              <a:t>V(count);</a:t>
            </a:r>
          </a:p>
          <a:p>
            <a:pPr eaLnBrk="1" hangingPunct="1">
              <a:buNone/>
            </a:pPr>
            <a:r>
              <a:rPr lang="en-US" altLang="zh-CN" sz="2400" b="1" dirty="0"/>
              <a:t> </a:t>
            </a:r>
            <a:r>
              <a:rPr lang="zh-CN" altLang="zh-CN" sz="2400" b="1" dirty="0"/>
              <a:t>}</a:t>
            </a:r>
          </a:p>
          <a:p>
            <a:pPr eaLnBrk="1" hangingPunct="1">
              <a:buNone/>
            </a:pPr>
            <a:endParaRPr lang="zh-CN" altLang="zh-CN" sz="2400" b="1" dirty="0"/>
          </a:p>
          <a:p>
            <a:pPr eaLnBrk="1" hangingPunct="1">
              <a:lnSpc>
                <a:spcPct val="80000"/>
              </a:lnSpc>
              <a:buNone/>
            </a:pPr>
            <a:endParaRPr lang="zh-CN" altLang="zh-CN" sz="2800" b="1" dirty="0"/>
          </a:p>
        </p:txBody>
      </p:sp>
      <p:sp>
        <p:nvSpPr>
          <p:cNvPr id="55299" name="Rectangle 2"/>
          <p:cNvSpPr>
            <a:spLocks noGrp="1"/>
          </p:cNvSpPr>
          <p:nvPr>
            <p:ph type="title"/>
          </p:nvPr>
        </p:nvSpPr>
        <p:spPr>
          <a:xfrm>
            <a:off x="468313" y="476250"/>
            <a:ext cx="7793037" cy="647700"/>
          </a:xfrm>
          <a:ln/>
        </p:spPr>
        <p:txBody>
          <a:bodyPr vert="horz" wrap="square" lIns="91440" tIns="45720" rIns="91440" bIns="45720" anchor="b" anchorCtr="0"/>
          <a:lstStyle/>
          <a:p>
            <a:pPr eaLnBrk="1" hangingPunct="1"/>
            <a:r>
              <a:rPr lang="zh-CN" altLang="en-US" sz="2800" b="1" dirty="0">
                <a:solidFill>
                  <a:srgbClr val="3333CC"/>
                </a:solidFill>
              </a:rPr>
              <a:t>第</a:t>
            </a:r>
            <a:r>
              <a:rPr lang="en-US" altLang="zh-CN" sz="2800" b="1" dirty="0">
                <a:solidFill>
                  <a:srgbClr val="3333CC"/>
                </a:solidFill>
              </a:rPr>
              <a:t>I</a:t>
            </a:r>
            <a:r>
              <a:rPr lang="zh-CN" altLang="en-US" sz="2800" b="1" dirty="0">
                <a:solidFill>
                  <a:srgbClr val="3333CC"/>
                </a:solidFill>
              </a:rPr>
              <a:t>个哲学家进程</a:t>
            </a:r>
            <a:r>
              <a:rPr lang="en-US" altLang="zh-CN" sz="2800" b="1" dirty="0">
                <a:solidFill>
                  <a:srgbClr val="3333CC"/>
                </a:solidFill>
              </a:rPr>
              <a:t>Process I</a:t>
            </a:r>
            <a:r>
              <a:rPr lang="zh-CN" altLang="en-US" sz="2800" b="1" dirty="0">
                <a:solidFill>
                  <a:srgbClr val="3333CC"/>
                </a:solidFill>
              </a:rPr>
              <a:t>：</a:t>
            </a:r>
          </a:p>
        </p:txBody>
      </p:sp>
      <p:sp>
        <p:nvSpPr>
          <p:cNvPr id="5" name="圆角矩形标注 4"/>
          <p:cNvSpPr/>
          <p:nvPr/>
        </p:nvSpPr>
        <p:spPr>
          <a:xfrm>
            <a:off x="4284663" y="1470025"/>
            <a:ext cx="4437062" cy="1671638"/>
          </a:xfrm>
          <a:prstGeom prst="wedgeRoundRectCallout">
            <a:avLst>
              <a:gd name="adj1" fmla="val -46472"/>
              <a:gd name="adj2" fmla="val 16912"/>
              <a:gd name="adj3" fmla="val 16667"/>
            </a:avLst>
          </a:prstGeom>
          <a:solidFill>
            <a:srgbClr val="FFFF00"/>
          </a:solidFill>
          <a:ln w="9525" cap="flat" cmpd="sng">
            <a:solidFill>
              <a:srgbClr val="3333CC"/>
            </a:solidFill>
            <a:prstDash val="solid"/>
            <a:miter/>
            <a:headEnd type="none" w="med" len="med"/>
            <a:tailEnd type="none" w="med" len="med"/>
          </a:ln>
        </p:spPr>
        <p:txBody>
          <a:bodyPr anchor="t" anchorCtr="0"/>
          <a:lstStyle/>
          <a:p>
            <a:pPr>
              <a:buClrTx/>
              <a:buFont typeface="Arial" panose="020B0604020202020204" pitchFamily="34" charset="0"/>
            </a:pPr>
            <a:r>
              <a:rPr lang="zh-CN" altLang="en-US" b="1" i="0" dirty="0">
                <a:solidFill>
                  <a:srgbClr val="000000"/>
                </a:solidFill>
                <a:latin typeface="Arial" panose="020B0604020202020204" pitchFamily="34" charset="0"/>
                <a:ea typeface="宋体" panose="02010600030101010101" pitchFamily="2" charset="-122"/>
              </a:rPr>
              <a:t>信号量</a:t>
            </a:r>
            <a:r>
              <a:rPr lang="en-US" altLang="zh-CN" b="1" i="0" dirty="0">
                <a:solidFill>
                  <a:srgbClr val="000000"/>
                </a:solidFill>
                <a:latin typeface="Arial" panose="020B0604020202020204" pitchFamily="34" charset="0"/>
                <a:ea typeface="宋体" panose="02010600030101010101" pitchFamily="2" charset="-122"/>
              </a:rPr>
              <a:t>count</a:t>
            </a:r>
            <a:r>
              <a:rPr lang="zh-CN" altLang="en-US" b="1" i="0" dirty="0">
                <a:solidFill>
                  <a:srgbClr val="000000"/>
                </a:solidFill>
                <a:latin typeface="Arial" panose="020B0604020202020204" pitchFamily="34" charset="0"/>
                <a:ea typeface="宋体" panose="02010600030101010101" pitchFamily="2" charset="-122"/>
              </a:rPr>
              <a:t>表示允许同时拿筷子准备进餐的哲学家数量，将其看作一种资源。使用前申请，使用后释放。</a:t>
            </a:r>
            <a:endParaRPr lang="zh-CN" altLang="en-US" i="0" dirty="0">
              <a:solidFill>
                <a:srgbClr val="00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131073"/>
          <p:cNvSpPr>
            <a:spLocks noGrp="1"/>
          </p:cNvSpPr>
          <p:nvPr>
            <p:ph type="title"/>
          </p:nvPr>
        </p:nvSpPr>
        <p:spPr>
          <a:ln/>
        </p:spPr>
        <p:txBody>
          <a:bodyPr vert="horz" wrap="square" lIns="91440" tIns="45720" rIns="91440" bIns="45720" anchor="b" anchorCtr="0"/>
          <a:lstStyle/>
          <a:p>
            <a:pPr eaLnBrk="1" hangingPunct="1"/>
            <a:r>
              <a:rPr lang="zh-CN" altLang="en-US" dirty="0"/>
              <a:t>第二种解决办法：</a:t>
            </a:r>
          </a:p>
        </p:txBody>
      </p:sp>
      <p:sp>
        <p:nvSpPr>
          <p:cNvPr id="56322" name="文本占位符 131074"/>
          <p:cNvSpPr>
            <a:spLocks noGrp="1"/>
          </p:cNvSpPr>
          <p:nvPr>
            <p:ph idx="1"/>
          </p:nvPr>
        </p:nvSpPr>
        <p:spPr>
          <a:xfrm>
            <a:off x="1182688" y="1844675"/>
            <a:ext cx="7772400" cy="4287838"/>
          </a:xfrm>
          <a:ln/>
        </p:spPr>
        <p:txBody>
          <a:bodyPr vert="horz" wrap="square" lIns="91440" tIns="45720" rIns="91440" bIns="45720" anchor="t" anchorCtr="0"/>
          <a:lstStyle/>
          <a:p>
            <a:pPr eaLnBrk="1" hangingPunct="1">
              <a:lnSpc>
                <a:spcPct val="80000"/>
              </a:lnSpc>
            </a:pPr>
            <a:r>
              <a:rPr lang="zh-CN" altLang="en-US" sz="2800" dirty="0"/>
              <a:t>科学家有三个状态：思考、进餐、饥饿。</a:t>
            </a:r>
          </a:p>
          <a:p>
            <a:pPr eaLnBrk="1" hangingPunct="1">
              <a:lnSpc>
                <a:spcPct val="80000"/>
              </a:lnSpc>
            </a:pPr>
            <a:r>
              <a:rPr lang="zh-CN" altLang="en-US" sz="2800" dirty="0"/>
              <a:t>仅当左</a:t>
            </a:r>
            <a:r>
              <a:rPr lang="en-US" altLang="zh-CN" sz="2800" dirty="0"/>
              <a:t>LEFT</a:t>
            </a:r>
            <a:r>
              <a:rPr lang="zh-CN" altLang="en-US" sz="2800" dirty="0"/>
              <a:t>右</a:t>
            </a:r>
            <a:r>
              <a:rPr lang="en-US" altLang="zh-CN" sz="2800" dirty="0"/>
              <a:t>RIGHT</a:t>
            </a:r>
            <a:r>
              <a:rPr lang="zh-CN" altLang="en-US" sz="2800" dirty="0"/>
              <a:t>邻座不进餐，他才能用餐。第</a:t>
            </a:r>
            <a:r>
              <a:rPr lang="en-US" altLang="zh-CN" sz="2800" dirty="0"/>
              <a:t>i</a:t>
            </a:r>
            <a:r>
              <a:rPr lang="zh-CN" altLang="en-US" sz="2800" dirty="0"/>
              <a:t>个科学家</a:t>
            </a:r>
            <a:r>
              <a:rPr lang="zh-CN" altLang="en-US" sz="2800" dirty="0">
                <a:solidFill>
                  <a:schemeClr val="hlink"/>
                </a:solidFill>
              </a:rPr>
              <a:t>左右邻座是</a:t>
            </a:r>
            <a:r>
              <a:rPr lang="en-US" altLang="zh-CN" sz="2800" dirty="0">
                <a:solidFill>
                  <a:schemeClr val="hlink"/>
                </a:solidFill>
              </a:rPr>
              <a:t>i-1,i+1</a:t>
            </a:r>
            <a:r>
              <a:rPr lang="zh-CN" altLang="en-US" sz="2800" dirty="0"/>
              <a:t>。</a:t>
            </a:r>
          </a:p>
          <a:p>
            <a:pPr eaLnBrk="1" hangingPunct="1">
              <a:lnSpc>
                <a:spcPct val="80000"/>
              </a:lnSpc>
            </a:pPr>
            <a:r>
              <a:rPr lang="zh-CN" altLang="en-US" sz="2800" dirty="0"/>
              <a:t>如果饥饿的科学家邻座有人用餐，就要</a:t>
            </a:r>
            <a:r>
              <a:rPr lang="zh-CN" altLang="en-US" sz="2800" dirty="0">
                <a:solidFill>
                  <a:schemeClr val="hlink"/>
                </a:solidFill>
              </a:rPr>
              <a:t>阻塞</a:t>
            </a:r>
            <a:r>
              <a:rPr lang="zh-CN" altLang="en-US" sz="2800" dirty="0"/>
              <a:t>等待。</a:t>
            </a:r>
          </a:p>
          <a:p>
            <a:pPr eaLnBrk="1" hangingPunct="1">
              <a:lnSpc>
                <a:spcPct val="80000"/>
              </a:lnSpc>
            </a:pPr>
            <a:r>
              <a:rPr lang="zh-CN" altLang="en-US" sz="2800" dirty="0"/>
              <a:t>需要一个信号量数组</a:t>
            </a:r>
            <a:r>
              <a:rPr lang="en-US" altLang="zh-CN" sz="2800" dirty="0"/>
              <a:t>s[]</a:t>
            </a:r>
            <a:r>
              <a:rPr lang="zh-CN" altLang="en-US" sz="2800" dirty="0"/>
              <a:t>，每位科学家对应一个元素，初值为</a:t>
            </a:r>
            <a:r>
              <a:rPr lang="en-US" altLang="zh-CN" sz="2800" dirty="0"/>
              <a:t>0</a:t>
            </a:r>
            <a:r>
              <a:rPr lang="zh-CN" altLang="en-US" sz="2800" dirty="0"/>
              <a:t>。能不能进餐的信号量。</a:t>
            </a:r>
          </a:p>
          <a:p>
            <a:pPr eaLnBrk="1" hangingPunct="1">
              <a:lnSpc>
                <a:spcPct val="80000"/>
              </a:lnSpc>
            </a:pPr>
            <a:endParaRPr lang="zh-CN" altLang="en-US" sz="2800" dirty="0"/>
          </a:p>
          <a:p>
            <a:pPr eaLnBrk="1" hangingPunct="1">
              <a:lnSpc>
                <a:spcPct val="80000"/>
              </a:lnSpc>
            </a:pPr>
            <a:r>
              <a:rPr lang="zh-CN" altLang="en-US" sz="2800" dirty="0">
                <a:solidFill>
                  <a:srgbClr val="FF0000"/>
                </a:solidFill>
              </a:rPr>
              <a:t>思考：三种状态的不同处理。</a:t>
            </a:r>
          </a:p>
          <a:p>
            <a:pPr eaLnBrk="1" hangingPunct="1">
              <a:lnSpc>
                <a:spcPct val="80000"/>
              </a:lnSpc>
            </a:pPr>
            <a:r>
              <a:rPr lang="zh-CN" altLang="en-US" sz="2800" dirty="0">
                <a:solidFill>
                  <a:srgbClr val="FF0000"/>
                </a:solidFill>
              </a:rPr>
              <a:t>思考：哲学家进餐问题用于哪种情况。</a:t>
            </a:r>
          </a:p>
          <a:p>
            <a:pPr eaLnBrk="1" hangingPunct="1">
              <a:lnSpc>
                <a:spcPct val="80000"/>
              </a:lnSpc>
            </a:pPr>
            <a:endParaRPr lang="zh-CN" altLang="en-US" sz="2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32097"/>
          <p:cNvSpPr>
            <a:spLocks noGrp="1"/>
          </p:cNvSpPr>
          <p:nvPr>
            <p:ph type="title"/>
          </p:nvPr>
        </p:nvSpPr>
        <p:spPr>
          <a:xfrm>
            <a:off x="1150938" y="836613"/>
            <a:ext cx="6661150" cy="561975"/>
          </a:xfrm>
          <a:ln/>
        </p:spPr>
        <p:txBody>
          <a:bodyPr vert="horz" wrap="square" lIns="91440" tIns="45720" rIns="91440" bIns="45720" anchor="b" anchorCtr="0"/>
          <a:lstStyle/>
          <a:p>
            <a:pPr eaLnBrk="1" hangingPunct="1"/>
            <a:r>
              <a:rPr lang="en-US" altLang="zh-CN" sz="4000" dirty="0"/>
              <a:t>3</a:t>
            </a:r>
            <a:r>
              <a:rPr lang="zh-CN" altLang="en-US" sz="4000" dirty="0"/>
              <a:t>．哲学家进餐问题</a:t>
            </a:r>
          </a:p>
        </p:txBody>
      </p:sp>
      <p:sp>
        <p:nvSpPr>
          <p:cNvPr id="57346" name="文本占位符 132098"/>
          <p:cNvSpPr>
            <a:spLocks noGrp="1"/>
          </p:cNvSpPr>
          <p:nvPr>
            <p:ph idx="1"/>
          </p:nvPr>
        </p:nvSpPr>
        <p:spPr>
          <a:xfrm>
            <a:off x="684213" y="1700213"/>
            <a:ext cx="8002587" cy="4897437"/>
          </a:xfrm>
          <a:ln/>
        </p:spPr>
        <p:txBody>
          <a:bodyPr vert="horz" wrap="square" lIns="91440" tIns="45720" rIns="91440" bIns="45720" anchor="t" anchorCtr="0"/>
          <a:lstStyle/>
          <a:p>
            <a:pPr eaLnBrk="1" hangingPunct="1">
              <a:lnSpc>
                <a:spcPct val="80000"/>
              </a:lnSpc>
              <a:buNone/>
            </a:pPr>
            <a:r>
              <a:rPr lang="en-US" altLang="zh-CN" sz="1600" dirty="0">
                <a:solidFill>
                  <a:srgbClr val="0EF255"/>
                </a:solidFill>
              </a:rPr>
              <a:t>===========================================</a:t>
            </a:r>
          </a:p>
          <a:p>
            <a:pPr eaLnBrk="1" hangingPunct="1">
              <a:lnSpc>
                <a:spcPct val="80000"/>
              </a:lnSpc>
              <a:buNone/>
            </a:pPr>
            <a:r>
              <a:rPr lang="en-US" altLang="zh-CN" sz="1600" dirty="0"/>
              <a:t>#define  N    5</a:t>
            </a:r>
          </a:p>
          <a:p>
            <a:pPr eaLnBrk="1" hangingPunct="1">
              <a:lnSpc>
                <a:spcPct val="80000"/>
              </a:lnSpc>
              <a:buNone/>
            </a:pPr>
            <a:r>
              <a:rPr lang="en-US" altLang="zh-CN" sz="1600" dirty="0"/>
              <a:t>#define  LEFT  (i-1)%N       /*%</a:t>
            </a:r>
            <a:r>
              <a:rPr lang="zh-CN" altLang="en-US" sz="1600" dirty="0"/>
              <a:t>为取余数</a:t>
            </a:r>
            <a:r>
              <a:rPr lang="en-US" altLang="zh-CN" sz="1600" dirty="0"/>
              <a:t>*/</a:t>
            </a:r>
          </a:p>
          <a:p>
            <a:pPr eaLnBrk="1" hangingPunct="1">
              <a:lnSpc>
                <a:spcPct val="80000"/>
              </a:lnSpc>
              <a:buNone/>
            </a:pPr>
            <a:r>
              <a:rPr lang="en-US" altLang="zh-CN" sz="1600" dirty="0"/>
              <a:t>#define  RIGHT  (i+1)%N</a:t>
            </a:r>
          </a:p>
          <a:p>
            <a:pPr eaLnBrk="1" hangingPunct="1">
              <a:lnSpc>
                <a:spcPct val="80000"/>
              </a:lnSpc>
              <a:buNone/>
            </a:pPr>
            <a:r>
              <a:rPr lang="en-US" altLang="zh-CN" sz="1600" dirty="0"/>
              <a:t>#define  THINKING  0</a:t>
            </a:r>
          </a:p>
          <a:p>
            <a:pPr eaLnBrk="1" hangingPunct="1">
              <a:lnSpc>
                <a:spcPct val="80000"/>
              </a:lnSpc>
              <a:buNone/>
            </a:pPr>
            <a:r>
              <a:rPr lang="en-US" altLang="zh-CN" sz="1600" dirty="0"/>
              <a:t>#define  HUNGRY   1</a:t>
            </a:r>
          </a:p>
          <a:p>
            <a:pPr eaLnBrk="1" hangingPunct="1">
              <a:lnSpc>
                <a:spcPct val="80000"/>
              </a:lnSpc>
              <a:buNone/>
            </a:pPr>
            <a:r>
              <a:rPr lang="en-US" altLang="zh-CN" sz="1600" dirty="0"/>
              <a:t>#define  EATING   2</a:t>
            </a:r>
          </a:p>
          <a:p>
            <a:pPr eaLnBrk="1" hangingPunct="1">
              <a:lnSpc>
                <a:spcPct val="80000"/>
              </a:lnSpc>
              <a:buNone/>
            </a:pPr>
            <a:endParaRPr lang="en-US" altLang="zh-CN" sz="1600" dirty="0"/>
          </a:p>
          <a:p>
            <a:pPr eaLnBrk="1" hangingPunct="1">
              <a:lnSpc>
                <a:spcPct val="80000"/>
              </a:lnSpc>
              <a:buNone/>
            </a:pPr>
            <a:r>
              <a:rPr lang="en-US" altLang="zh-CN" sz="1600" dirty="0"/>
              <a:t>  typedef struct{                /* </a:t>
            </a:r>
            <a:r>
              <a:rPr lang="zh-CN" altLang="en-US" sz="1600" dirty="0"/>
              <a:t>定义结构型信号量 </a:t>
            </a:r>
            <a:r>
              <a:rPr lang="en-US" altLang="zh-CN" sz="1600" dirty="0"/>
              <a:t>*/</a:t>
            </a:r>
          </a:p>
          <a:p>
            <a:pPr eaLnBrk="1" hangingPunct="1">
              <a:lnSpc>
                <a:spcPct val="80000"/>
              </a:lnSpc>
              <a:buNone/>
            </a:pPr>
            <a:r>
              <a:rPr lang="en-US" altLang="zh-CN" sz="1600" dirty="0"/>
              <a:t>           int value;</a:t>
            </a:r>
          </a:p>
          <a:p>
            <a:pPr eaLnBrk="1" hangingPunct="1">
              <a:lnSpc>
                <a:spcPct val="80000"/>
              </a:lnSpc>
              <a:buNone/>
            </a:pPr>
            <a:r>
              <a:rPr lang="en-US" altLang="zh-CN" sz="1600" dirty="0"/>
              <a:t>           struct PCB *list;</a:t>
            </a:r>
          </a:p>
          <a:p>
            <a:pPr eaLnBrk="1" hangingPunct="1">
              <a:lnSpc>
                <a:spcPct val="80000"/>
              </a:lnSpc>
              <a:buNone/>
            </a:pPr>
            <a:r>
              <a:rPr lang="en-US" altLang="zh-CN" sz="1600" dirty="0"/>
              <a:t>   }semaphore;</a:t>
            </a:r>
          </a:p>
          <a:p>
            <a:pPr eaLnBrk="1" hangingPunct="1">
              <a:lnSpc>
                <a:spcPct val="80000"/>
              </a:lnSpc>
              <a:buNone/>
            </a:pPr>
            <a:endParaRPr lang="en-US" altLang="zh-CN" sz="1600" dirty="0"/>
          </a:p>
          <a:p>
            <a:pPr eaLnBrk="1" hangingPunct="1">
              <a:lnSpc>
                <a:spcPct val="80000"/>
              </a:lnSpc>
              <a:buNone/>
            </a:pPr>
            <a:r>
              <a:rPr lang="en-US" altLang="zh-CN" sz="1600" dirty="0"/>
              <a:t>   int state[N];        /*</a:t>
            </a:r>
            <a:r>
              <a:rPr lang="zh-CN" altLang="en-US" sz="1600" dirty="0"/>
              <a:t>保存各科学家的状态</a:t>
            </a:r>
            <a:r>
              <a:rPr lang="en-US" altLang="zh-CN" sz="1600" dirty="0"/>
              <a:t>*/</a:t>
            </a:r>
          </a:p>
          <a:p>
            <a:pPr eaLnBrk="1" hangingPunct="1">
              <a:lnSpc>
                <a:spcPct val="80000"/>
              </a:lnSpc>
              <a:buNone/>
            </a:pPr>
            <a:r>
              <a:rPr lang="en-US" altLang="zh-CN" sz="1600" dirty="0"/>
              <a:t>   semaphore mutex=1;     /* </a:t>
            </a:r>
            <a:r>
              <a:rPr lang="zh-CN" altLang="en-US" sz="1600" dirty="0"/>
              <a:t>互斥进入临界区  </a:t>
            </a:r>
            <a:r>
              <a:rPr lang="en-US" altLang="zh-CN" sz="1600" dirty="0"/>
              <a:t>*/</a:t>
            </a:r>
          </a:p>
          <a:p>
            <a:pPr eaLnBrk="1" hangingPunct="1">
              <a:lnSpc>
                <a:spcPct val="80000"/>
              </a:lnSpc>
              <a:buNone/>
            </a:pPr>
            <a:r>
              <a:rPr lang="en-US" altLang="zh-CN" sz="1600" dirty="0"/>
              <a:t>   semaphore s[N];          	 /* </a:t>
            </a:r>
            <a:r>
              <a:rPr lang="zh-CN" altLang="en-US" sz="1600" dirty="0"/>
              <a:t>每位哲学家一个信号量，初值为</a:t>
            </a:r>
            <a:r>
              <a:rPr lang="en-US" altLang="zh-CN" sz="1600" dirty="0"/>
              <a:t>0 */</a:t>
            </a:r>
          </a:p>
          <a:p>
            <a:pPr eaLnBrk="1" hangingPunct="1">
              <a:lnSpc>
                <a:spcPct val="80000"/>
              </a:lnSpc>
              <a:buNone/>
            </a:pPr>
            <a:r>
              <a:rPr lang="zh-CN" altLang="en-US" sz="1600" b="1" dirty="0">
                <a:solidFill>
                  <a:srgbClr val="FF0000"/>
                </a:solidFill>
              </a:rPr>
              <a:t>思考：互斥信号量（对那个资源的互斥）的意义。 </a:t>
            </a:r>
          </a:p>
          <a:p>
            <a:pPr eaLnBrk="1" hangingPunct="1">
              <a:lnSpc>
                <a:spcPct val="80000"/>
              </a:lnSpc>
              <a:buNone/>
            </a:pPr>
            <a:r>
              <a:rPr lang="zh-CN" altLang="en-US" sz="1600" b="1" dirty="0">
                <a:solidFill>
                  <a:srgbClr val="FF0000"/>
                </a:solidFill>
              </a:rPr>
              <a:t>         每对同步信号量出现的位置，及作用。</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33121"/>
          <p:cNvSpPr>
            <a:spLocks noGrp="1"/>
          </p:cNvSpPr>
          <p:nvPr>
            <p:ph type="title"/>
          </p:nvPr>
        </p:nvSpPr>
        <p:spPr>
          <a:ln/>
        </p:spPr>
        <p:txBody>
          <a:bodyPr vert="horz" wrap="square" lIns="91440" tIns="45720" rIns="91440" bIns="45720" anchor="b" anchorCtr="0"/>
          <a:lstStyle/>
          <a:p>
            <a:pPr eaLnBrk="1" hangingPunct="1"/>
            <a:r>
              <a:rPr lang="en-US" altLang="zh-CN" dirty="0"/>
              <a:t>3</a:t>
            </a:r>
            <a:r>
              <a:rPr lang="zh-CN" altLang="en-US" dirty="0"/>
              <a:t>．哲学家进餐问题</a:t>
            </a:r>
          </a:p>
        </p:txBody>
      </p:sp>
      <p:sp>
        <p:nvSpPr>
          <p:cNvPr id="58370" name="文本占位符 133122"/>
          <p:cNvSpPr>
            <a:spLocks noGrp="1"/>
          </p:cNvSpPr>
          <p:nvPr>
            <p:ph idx="1"/>
          </p:nvPr>
        </p:nvSpPr>
        <p:spPr>
          <a:xfrm>
            <a:off x="900113" y="2033588"/>
            <a:ext cx="7848600" cy="4824412"/>
          </a:xfrm>
          <a:ln/>
        </p:spPr>
        <p:txBody>
          <a:bodyPr vert="horz" wrap="square" lIns="91440" tIns="45720" rIns="91440" bIns="45720" anchor="t" anchorCtr="0"/>
          <a:lstStyle/>
          <a:p>
            <a:pPr eaLnBrk="1" hangingPunct="1">
              <a:lnSpc>
                <a:spcPct val="80000"/>
              </a:lnSpc>
              <a:buNone/>
            </a:pPr>
            <a:r>
              <a:rPr lang="en-US" altLang="zh-CN" sz="1600" b="1" dirty="0"/>
              <a:t>void philosopher(int i)</a:t>
            </a:r>
          </a:p>
          <a:p>
            <a:pPr eaLnBrk="1" hangingPunct="1">
              <a:lnSpc>
                <a:spcPct val="80000"/>
              </a:lnSpc>
              <a:buNone/>
            </a:pPr>
            <a:r>
              <a:rPr lang="en-US" altLang="zh-CN" sz="1600" dirty="0"/>
              <a:t>{</a:t>
            </a:r>
          </a:p>
          <a:p>
            <a:pPr eaLnBrk="1" hangingPunct="1">
              <a:lnSpc>
                <a:spcPct val="80000"/>
              </a:lnSpc>
              <a:buNone/>
            </a:pPr>
            <a:r>
              <a:rPr lang="en-US" altLang="zh-CN" sz="1600" dirty="0"/>
              <a:t>         while(TRUE){</a:t>
            </a:r>
          </a:p>
          <a:p>
            <a:pPr eaLnBrk="1" hangingPunct="1">
              <a:lnSpc>
                <a:spcPct val="80000"/>
              </a:lnSpc>
              <a:buNone/>
            </a:pPr>
            <a:r>
              <a:rPr lang="en-US" altLang="zh-CN" sz="1600" dirty="0"/>
              <a:t>               think();            		/* </a:t>
            </a:r>
            <a:r>
              <a:rPr lang="zh-CN" altLang="en-US" sz="1600" dirty="0"/>
              <a:t>哲学家在思考问题 </a:t>
            </a:r>
            <a:r>
              <a:rPr lang="en-US" altLang="zh-CN" sz="1600" dirty="0"/>
              <a:t>*/</a:t>
            </a:r>
          </a:p>
          <a:p>
            <a:pPr eaLnBrk="1" hangingPunct="1">
              <a:lnSpc>
                <a:spcPct val="80000"/>
              </a:lnSpc>
              <a:buNone/>
            </a:pPr>
            <a:r>
              <a:rPr lang="en-US" altLang="zh-CN" sz="1600" dirty="0"/>
              <a:t>               take_chopstick(i);              /* </a:t>
            </a:r>
            <a:r>
              <a:rPr lang="zh-CN" altLang="en-US" sz="1600" dirty="0"/>
              <a:t>拿到两根筷子或者等待 </a:t>
            </a:r>
            <a:r>
              <a:rPr lang="en-US" altLang="zh-CN" sz="1600" dirty="0"/>
              <a:t>*/ </a:t>
            </a:r>
          </a:p>
          <a:p>
            <a:pPr eaLnBrk="1" hangingPunct="1">
              <a:lnSpc>
                <a:spcPct val="80000"/>
              </a:lnSpc>
              <a:buNone/>
            </a:pPr>
            <a:r>
              <a:rPr lang="en-US" altLang="zh-CN" sz="1600" dirty="0"/>
              <a:t>               eat();              		/* </a:t>
            </a:r>
            <a:r>
              <a:rPr lang="zh-CN" altLang="en-US" sz="1600" dirty="0"/>
              <a:t>进餐 </a:t>
            </a:r>
            <a:r>
              <a:rPr lang="en-US" altLang="zh-CN" sz="1600" dirty="0"/>
              <a:t>*/</a:t>
            </a:r>
          </a:p>
          <a:p>
            <a:pPr eaLnBrk="1" hangingPunct="1">
              <a:lnSpc>
                <a:spcPct val="80000"/>
              </a:lnSpc>
              <a:buNone/>
            </a:pPr>
            <a:r>
              <a:rPr lang="en-US" altLang="zh-CN" sz="1600" dirty="0"/>
              <a:t>               put_chopstick(i);            /* </a:t>
            </a:r>
            <a:r>
              <a:rPr lang="zh-CN" altLang="en-US" sz="1600" dirty="0"/>
              <a:t>把筷子放回原处 </a:t>
            </a:r>
            <a:r>
              <a:rPr lang="en-US" altLang="zh-CN" sz="1600" dirty="0"/>
              <a:t>*/</a:t>
            </a:r>
          </a:p>
          <a:p>
            <a:pPr eaLnBrk="1" hangingPunct="1">
              <a:lnSpc>
                <a:spcPct val="80000"/>
              </a:lnSpc>
              <a:buNone/>
            </a:pPr>
            <a:r>
              <a:rPr lang="en-US" altLang="zh-CN" sz="1600" dirty="0"/>
              <a:t>          }</a:t>
            </a:r>
          </a:p>
          <a:p>
            <a:pPr eaLnBrk="1" hangingPunct="1">
              <a:lnSpc>
                <a:spcPct val="80000"/>
              </a:lnSpc>
              <a:buNone/>
            </a:pPr>
            <a:r>
              <a:rPr lang="en-US" altLang="zh-CN" sz="1600" dirty="0"/>
              <a:t>}</a:t>
            </a:r>
          </a:p>
          <a:p>
            <a:pPr eaLnBrk="1" hangingPunct="1">
              <a:lnSpc>
                <a:spcPct val="80000"/>
              </a:lnSpc>
              <a:buNone/>
            </a:pPr>
            <a:r>
              <a:rPr lang="en-US" altLang="zh-CN" sz="1600" b="1" dirty="0"/>
              <a:t>void take_chopstick(int i)</a:t>
            </a:r>
          </a:p>
          <a:p>
            <a:pPr eaLnBrk="1" hangingPunct="1">
              <a:lnSpc>
                <a:spcPct val="80000"/>
              </a:lnSpc>
              <a:buNone/>
            </a:pPr>
            <a:r>
              <a:rPr lang="en-US" altLang="zh-CN" sz="1600" dirty="0"/>
              <a:t>{</a:t>
            </a:r>
          </a:p>
          <a:p>
            <a:pPr eaLnBrk="1" hangingPunct="1">
              <a:lnSpc>
                <a:spcPct val="80000"/>
              </a:lnSpc>
              <a:buNone/>
            </a:pPr>
            <a:r>
              <a:rPr lang="en-US" altLang="zh-CN" sz="1600" dirty="0"/>
              <a:t>            P(mutex);</a:t>
            </a:r>
          </a:p>
          <a:p>
            <a:pPr eaLnBrk="1" hangingPunct="1">
              <a:lnSpc>
                <a:spcPct val="80000"/>
              </a:lnSpc>
              <a:buNone/>
            </a:pPr>
            <a:r>
              <a:rPr lang="en-US" altLang="zh-CN" sz="1600" dirty="0"/>
              <a:t>            state[i]=HUNGRY;</a:t>
            </a:r>
          </a:p>
          <a:p>
            <a:pPr eaLnBrk="1" hangingPunct="1">
              <a:lnSpc>
                <a:spcPct val="80000"/>
              </a:lnSpc>
              <a:buNone/>
            </a:pPr>
            <a:r>
              <a:rPr lang="en-US" altLang="zh-CN" sz="1600" dirty="0"/>
              <a:t>            test(i);                                /* </a:t>
            </a:r>
            <a:r>
              <a:rPr lang="zh-CN" altLang="en-US" sz="1600" dirty="0"/>
              <a:t>试图拿两根筷子 可能成功或失败</a:t>
            </a:r>
            <a:r>
              <a:rPr lang="en-US" altLang="zh-CN" sz="1600" dirty="0"/>
              <a:t>*/        </a:t>
            </a:r>
          </a:p>
          <a:p>
            <a:pPr eaLnBrk="1" hangingPunct="1">
              <a:lnSpc>
                <a:spcPct val="80000"/>
              </a:lnSpc>
              <a:buNone/>
            </a:pPr>
            <a:r>
              <a:rPr lang="en-US" altLang="zh-CN" sz="1600" dirty="0"/>
              <a:t>            V(mutex);</a:t>
            </a:r>
          </a:p>
          <a:p>
            <a:pPr eaLnBrk="1" hangingPunct="1">
              <a:lnSpc>
                <a:spcPct val="80000"/>
              </a:lnSpc>
              <a:buNone/>
            </a:pPr>
            <a:r>
              <a:rPr lang="en-US" altLang="zh-CN" sz="1600" b="1" dirty="0">
                <a:solidFill>
                  <a:srgbClr val="FF0000"/>
                </a:solidFill>
              </a:rPr>
              <a:t>            </a:t>
            </a:r>
            <a:r>
              <a:rPr lang="en-US" altLang="zh-CN" sz="1600" b="1" u="sng" dirty="0">
                <a:solidFill>
                  <a:schemeClr val="folHlink"/>
                </a:solidFill>
              </a:rPr>
              <a:t>P(s[i]);</a:t>
            </a:r>
            <a:r>
              <a:rPr lang="en-US" altLang="zh-CN" sz="1600" dirty="0">
                <a:solidFill>
                  <a:srgbClr val="FF0000"/>
                </a:solidFill>
              </a:rPr>
              <a:t>               /*</a:t>
            </a:r>
            <a:r>
              <a:rPr lang="zh-CN" altLang="en-US" sz="1600" dirty="0">
                <a:solidFill>
                  <a:srgbClr val="FF0000"/>
                </a:solidFill>
              </a:rPr>
              <a:t>本进程</a:t>
            </a:r>
            <a:r>
              <a:rPr lang="en-US" altLang="zh-CN" sz="1600" dirty="0">
                <a:solidFill>
                  <a:srgbClr val="FF0000"/>
                </a:solidFill>
              </a:rPr>
              <a:t>test</a:t>
            </a:r>
            <a:r>
              <a:rPr lang="zh-CN" altLang="en-US" sz="1600" dirty="0">
                <a:solidFill>
                  <a:srgbClr val="FF0000"/>
                </a:solidFill>
              </a:rPr>
              <a:t>执行了</a:t>
            </a:r>
            <a:r>
              <a:rPr lang="en-US" altLang="zh-CN" sz="1600" dirty="0">
                <a:solidFill>
                  <a:srgbClr val="FF0000"/>
                </a:solidFill>
              </a:rPr>
              <a:t>if</a:t>
            </a:r>
            <a:r>
              <a:rPr lang="zh-CN" altLang="en-US" sz="1600" dirty="0">
                <a:solidFill>
                  <a:srgbClr val="FF0000"/>
                </a:solidFill>
              </a:rPr>
              <a:t>语句的话就测试成功，不能吃就阻塞等待，若以后邻居释放筷子，会替它再执行</a:t>
            </a:r>
            <a:r>
              <a:rPr lang="en-US" altLang="zh-CN" sz="1600" dirty="0">
                <a:solidFill>
                  <a:srgbClr val="FF0000"/>
                </a:solidFill>
              </a:rPr>
              <a:t>test</a:t>
            </a:r>
            <a:r>
              <a:rPr lang="zh-CN" altLang="en-US" sz="1600" dirty="0">
                <a:solidFill>
                  <a:srgbClr val="FF0000"/>
                </a:solidFill>
              </a:rPr>
              <a:t>，如果</a:t>
            </a:r>
            <a:r>
              <a:rPr lang="en-US" altLang="zh-CN" sz="1600" dirty="0">
                <a:solidFill>
                  <a:srgbClr val="FF0000"/>
                </a:solidFill>
              </a:rPr>
              <a:t>s[i]</a:t>
            </a:r>
            <a:r>
              <a:rPr lang="zh-CN" altLang="en-US" sz="1600" dirty="0">
                <a:solidFill>
                  <a:srgbClr val="FF0000"/>
                </a:solidFill>
              </a:rPr>
              <a:t>值变</a:t>
            </a:r>
            <a:r>
              <a:rPr lang="en-US" altLang="zh-CN" sz="1600" dirty="0">
                <a:solidFill>
                  <a:srgbClr val="FF0000"/>
                </a:solidFill>
              </a:rPr>
              <a:t>1</a:t>
            </a:r>
            <a:r>
              <a:rPr lang="zh-CN" altLang="en-US" sz="1600" dirty="0">
                <a:solidFill>
                  <a:srgbClr val="FF0000"/>
                </a:solidFill>
              </a:rPr>
              <a:t>就可以唤醒它</a:t>
            </a:r>
            <a:r>
              <a:rPr lang="en-US" altLang="zh-CN" sz="1600" dirty="0">
                <a:solidFill>
                  <a:srgbClr val="FF0000"/>
                </a:solidFill>
              </a:rPr>
              <a:t>*/</a:t>
            </a:r>
          </a:p>
          <a:p>
            <a:pPr eaLnBrk="1" hangingPunct="1">
              <a:lnSpc>
                <a:spcPct val="80000"/>
              </a:lnSpc>
              <a:buNone/>
            </a:pPr>
            <a:r>
              <a:rPr lang="en-US" altLang="zh-CN" sz="1600" dirty="0"/>
              <a:t>}</a:t>
            </a:r>
          </a:p>
          <a:p>
            <a:pPr eaLnBrk="1" hangingPunct="1">
              <a:lnSpc>
                <a:spcPct val="80000"/>
              </a:lnSpc>
              <a:buNone/>
            </a:pPr>
            <a:endParaRPr lang="en-US" altLang="zh-CN" sz="1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134145"/>
          <p:cNvSpPr>
            <a:spLocks noGrp="1"/>
          </p:cNvSpPr>
          <p:nvPr>
            <p:ph type="title"/>
          </p:nvPr>
        </p:nvSpPr>
        <p:spPr>
          <a:ln/>
        </p:spPr>
        <p:txBody>
          <a:bodyPr vert="horz" wrap="square" lIns="91440" tIns="45720" rIns="91440" bIns="45720" anchor="b" anchorCtr="0"/>
          <a:lstStyle/>
          <a:p>
            <a:pPr eaLnBrk="1" hangingPunct="1"/>
            <a:r>
              <a:rPr lang="en-US" altLang="zh-CN" dirty="0"/>
              <a:t>3</a:t>
            </a:r>
            <a:r>
              <a:rPr lang="zh-CN" altLang="en-US" dirty="0"/>
              <a:t>．哲学家进餐问题</a:t>
            </a:r>
          </a:p>
        </p:txBody>
      </p:sp>
      <p:sp>
        <p:nvSpPr>
          <p:cNvPr id="59394" name="矩形 134146"/>
          <p:cNvSpPr/>
          <p:nvPr/>
        </p:nvSpPr>
        <p:spPr>
          <a:xfrm>
            <a:off x="1042988" y="1773238"/>
            <a:ext cx="8101012" cy="4895850"/>
          </a:xfrm>
          <a:prstGeom prst="rect">
            <a:avLst/>
          </a:prstGeom>
          <a:noFill/>
          <a:ln w="9525">
            <a:noFill/>
          </a:ln>
        </p:spPr>
        <p:txBody>
          <a:bodyPr anchor="t" anchorCtr="0"/>
          <a:lstStyle/>
          <a:p>
            <a:pPr marL="342900" indent="-342900">
              <a:spcBef>
                <a:spcPct val="20000"/>
              </a:spcBef>
              <a:buClr>
                <a:srgbClr val="3333CC"/>
              </a:buClr>
              <a:buSzPct val="60000"/>
              <a:buFont typeface="Arial" panose="020B0604020202020204" pitchFamily="34" charset="0"/>
            </a:pPr>
            <a:r>
              <a:rPr lang="en-US" altLang="zh-CN" sz="1800" b="1" i="0" u="sng" dirty="0">
                <a:solidFill>
                  <a:srgbClr val="000000"/>
                </a:solidFill>
                <a:latin typeface="Tahoma" panose="020B0604030504040204" pitchFamily="34" charset="0"/>
                <a:ea typeface="宋体" panose="02010600030101010101" pitchFamily="2" charset="-122"/>
              </a:rPr>
              <a:t>void put_chopstick(int i)</a:t>
            </a:r>
          </a:p>
          <a:p>
            <a:pPr marL="342900" indent="-342900">
              <a:spcBef>
                <a:spcPct val="20000"/>
              </a:spcBef>
              <a:buClr>
                <a:srgbClr val="3333CC"/>
              </a:buClr>
              <a:buSzPct val="60000"/>
              <a:buFont typeface="Arial" panose="020B0604020202020204" pitchFamily="34" charset="0"/>
            </a:pPr>
            <a:r>
              <a:rPr lang="en-US" altLang="zh-CN" sz="1600" b="1" i="0" dirty="0">
                <a:solidFill>
                  <a:srgbClr val="000000"/>
                </a:solidFill>
                <a:latin typeface="Tahoma" panose="020B0604030504040204" pitchFamily="34" charset="0"/>
                <a:ea typeface="宋体" panose="02010600030101010101" pitchFamily="2" charset="-122"/>
              </a:rPr>
              <a:t>{    </a:t>
            </a:r>
          </a:p>
          <a:p>
            <a:pPr marL="342900" indent="-342900">
              <a:spcBef>
                <a:spcPct val="20000"/>
              </a:spcBef>
              <a:buClr>
                <a:srgbClr val="3333CC"/>
              </a:buClr>
              <a:buSzPct val="60000"/>
              <a:buFont typeface="Arial" panose="020B0604020202020204" pitchFamily="34" charset="0"/>
            </a:pPr>
            <a:r>
              <a:rPr lang="en-US" altLang="zh-CN" sz="1600" b="1" i="0" dirty="0">
                <a:solidFill>
                  <a:srgbClr val="000000"/>
                </a:solidFill>
                <a:latin typeface="Tahoma" panose="020B0604030504040204" pitchFamily="34" charset="0"/>
                <a:ea typeface="宋体" panose="02010600030101010101" pitchFamily="2" charset="-122"/>
              </a:rPr>
              <a:t>          P(mutex);</a:t>
            </a:r>
          </a:p>
          <a:p>
            <a:pPr marL="342900" indent="-342900">
              <a:spcBef>
                <a:spcPct val="20000"/>
              </a:spcBef>
              <a:buClr>
                <a:srgbClr val="3333CC"/>
              </a:buClr>
              <a:buSzPct val="60000"/>
              <a:buFont typeface="Arial" panose="020B0604020202020204" pitchFamily="34" charset="0"/>
            </a:pPr>
            <a:r>
              <a:rPr lang="en-US" altLang="zh-CN" sz="1600" b="1" i="0" dirty="0">
                <a:solidFill>
                  <a:srgbClr val="000000"/>
                </a:solidFill>
                <a:latin typeface="Tahoma" panose="020B0604030504040204" pitchFamily="34" charset="0"/>
                <a:ea typeface="宋体" panose="02010600030101010101" pitchFamily="2" charset="-122"/>
              </a:rPr>
              <a:t>          state[i]=THINKING;              </a:t>
            </a:r>
          </a:p>
          <a:p>
            <a:pPr marL="342900" indent="-342900">
              <a:spcBef>
                <a:spcPct val="20000"/>
              </a:spcBef>
              <a:buClr>
                <a:srgbClr val="3333CC"/>
              </a:buClr>
              <a:buSzPct val="60000"/>
              <a:buFont typeface="Arial" panose="020B0604020202020204" pitchFamily="34" charset="0"/>
            </a:pPr>
            <a:r>
              <a:rPr lang="en-US" altLang="zh-CN" sz="1600" b="1" i="0" dirty="0">
                <a:solidFill>
                  <a:srgbClr val="000000"/>
                </a:solidFill>
                <a:latin typeface="Tahoma" panose="020B0604030504040204" pitchFamily="34" charset="0"/>
                <a:ea typeface="宋体" panose="02010600030101010101" pitchFamily="2" charset="-122"/>
              </a:rPr>
              <a:t>          </a:t>
            </a:r>
            <a:r>
              <a:rPr lang="en-US" altLang="zh-CN" sz="1600" b="1" i="0" dirty="0">
                <a:solidFill>
                  <a:srgbClr val="3333CC"/>
                </a:solidFill>
                <a:latin typeface="Tahoma" panose="020B0604030504040204" pitchFamily="34" charset="0"/>
                <a:ea typeface="宋体" panose="02010600030101010101" pitchFamily="2" charset="-122"/>
              </a:rPr>
              <a:t>test(LEFT);            </a:t>
            </a:r>
            <a:r>
              <a:rPr lang="en-US" altLang="zh-CN" sz="1600" b="1" i="0" dirty="0">
                <a:solidFill>
                  <a:srgbClr val="000000"/>
                </a:solidFill>
                <a:latin typeface="Tahoma" panose="020B0604030504040204" pitchFamily="34" charset="0"/>
                <a:ea typeface="宋体" panose="02010600030101010101" pitchFamily="2" charset="-122"/>
              </a:rPr>
              <a:t>	/* </a:t>
            </a:r>
            <a:r>
              <a:rPr lang="zh-CN" altLang="en-US" sz="1600" b="1" i="0" dirty="0">
                <a:solidFill>
                  <a:srgbClr val="000000"/>
                </a:solidFill>
                <a:latin typeface="Arial" panose="020B0604020202020204" pitchFamily="34" charset="0"/>
                <a:ea typeface="宋体" panose="02010600030101010101" pitchFamily="2" charset="-122"/>
              </a:rPr>
              <a:t>查看左邻，现在能否进餐，可能起</a:t>
            </a:r>
            <a:r>
              <a:rPr lang="zh-CN" altLang="en-US" sz="1600" b="1" i="0" dirty="0">
                <a:solidFill>
                  <a:srgbClr val="FF0000"/>
                </a:solidFill>
                <a:latin typeface="Arial" panose="020B0604020202020204" pitchFamily="34" charset="0"/>
                <a:ea typeface="宋体" panose="02010600030101010101" pitchFamily="2" charset="-122"/>
              </a:rPr>
              <a:t>唤醒作用</a:t>
            </a:r>
            <a:r>
              <a:rPr lang="zh-CN" altLang="en-US" sz="1600" b="1" i="0" dirty="0">
                <a:solidFill>
                  <a:srgbClr val="000000"/>
                </a:solidFill>
                <a:latin typeface="Arial" panose="020B0604020202020204" pitchFamily="34" charset="0"/>
                <a:ea typeface="宋体" panose="02010600030101010101" pitchFamily="2" charset="-122"/>
              </a:rPr>
              <a:t> </a:t>
            </a:r>
            <a:r>
              <a:rPr lang="en-US" altLang="zh-CN" sz="1600" b="1" i="0" dirty="0">
                <a:solidFill>
                  <a:srgbClr val="000000"/>
                </a:solidFill>
                <a:latin typeface="Tahoma" panose="020B0604030504040204" pitchFamily="34" charset="0"/>
                <a:ea typeface="宋体" panose="02010600030101010101" pitchFamily="2" charset="-122"/>
              </a:rPr>
              <a:t>*/</a:t>
            </a:r>
          </a:p>
          <a:p>
            <a:pPr marL="342900" indent="-342900">
              <a:spcBef>
                <a:spcPct val="20000"/>
              </a:spcBef>
              <a:buClr>
                <a:srgbClr val="3333CC"/>
              </a:buClr>
              <a:buSzPct val="60000"/>
              <a:buFont typeface="Arial" panose="020B0604020202020204" pitchFamily="34" charset="0"/>
            </a:pPr>
            <a:r>
              <a:rPr lang="en-US" altLang="zh-CN" sz="1600" b="1" i="0" dirty="0">
                <a:solidFill>
                  <a:srgbClr val="3333CC"/>
                </a:solidFill>
                <a:latin typeface="Tahoma" panose="020B0604030504040204" pitchFamily="34" charset="0"/>
                <a:ea typeface="宋体" panose="02010600030101010101" pitchFamily="2" charset="-122"/>
              </a:rPr>
              <a:t>          test(RIGHT);</a:t>
            </a:r>
            <a:r>
              <a:rPr lang="en-US" altLang="zh-CN" sz="1600" b="1" i="0" dirty="0">
                <a:solidFill>
                  <a:srgbClr val="000000"/>
                </a:solidFill>
                <a:latin typeface="Tahoma" panose="020B0604030504040204" pitchFamily="34" charset="0"/>
                <a:ea typeface="宋体" panose="02010600030101010101" pitchFamily="2" charset="-122"/>
              </a:rPr>
              <a:t>         	/* </a:t>
            </a:r>
            <a:r>
              <a:rPr lang="zh-CN" altLang="en-US" sz="1600" b="1" i="0" dirty="0">
                <a:solidFill>
                  <a:srgbClr val="000000"/>
                </a:solidFill>
                <a:latin typeface="Arial" panose="020B0604020202020204" pitchFamily="34" charset="0"/>
                <a:ea typeface="宋体" panose="02010600030101010101" pitchFamily="2" charset="-122"/>
              </a:rPr>
              <a:t>查看右邻，现在能否进餐，可能</a:t>
            </a:r>
            <a:r>
              <a:rPr lang="zh-CN" altLang="en-US" sz="1600" b="1" i="0" dirty="0">
                <a:solidFill>
                  <a:srgbClr val="FF0000"/>
                </a:solidFill>
                <a:latin typeface="Arial" panose="020B0604020202020204" pitchFamily="34" charset="0"/>
                <a:ea typeface="宋体" panose="02010600030101010101" pitchFamily="2" charset="-122"/>
              </a:rPr>
              <a:t>起唤醒作用</a:t>
            </a:r>
            <a:r>
              <a:rPr lang="zh-CN" altLang="en-US" sz="1600" b="1" i="0" dirty="0">
                <a:solidFill>
                  <a:srgbClr val="000000"/>
                </a:solidFill>
                <a:latin typeface="Arial" panose="020B0604020202020204" pitchFamily="34" charset="0"/>
                <a:ea typeface="宋体" panose="02010600030101010101" pitchFamily="2" charset="-122"/>
              </a:rPr>
              <a:t> </a:t>
            </a:r>
            <a:r>
              <a:rPr lang="en-US" altLang="zh-CN" sz="1600" b="1" i="0" dirty="0">
                <a:solidFill>
                  <a:srgbClr val="000000"/>
                </a:solidFill>
                <a:latin typeface="Tahoma" panose="020B0604030504040204" pitchFamily="34" charset="0"/>
                <a:ea typeface="宋体" panose="02010600030101010101" pitchFamily="2" charset="-122"/>
              </a:rPr>
              <a:t>*/</a:t>
            </a:r>
          </a:p>
          <a:p>
            <a:pPr marL="342900" indent="-342900">
              <a:spcBef>
                <a:spcPct val="20000"/>
              </a:spcBef>
              <a:buClr>
                <a:srgbClr val="3333CC"/>
              </a:buClr>
              <a:buSzPct val="60000"/>
              <a:buFont typeface="Arial" panose="020B0604020202020204" pitchFamily="34" charset="0"/>
            </a:pPr>
            <a:r>
              <a:rPr lang="en-US" altLang="zh-CN" sz="1600" b="1" i="0" dirty="0">
                <a:solidFill>
                  <a:srgbClr val="000000"/>
                </a:solidFill>
                <a:latin typeface="Tahoma" panose="020B0604030504040204" pitchFamily="34" charset="0"/>
                <a:ea typeface="宋体" panose="02010600030101010101" pitchFamily="2" charset="-122"/>
              </a:rPr>
              <a:t>          V(mutex);    </a:t>
            </a:r>
          </a:p>
          <a:p>
            <a:pPr marL="342900" indent="-342900">
              <a:spcBef>
                <a:spcPct val="20000"/>
              </a:spcBef>
              <a:buClr>
                <a:srgbClr val="3333CC"/>
              </a:buClr>
              <a:buSzPct val="60000"/>
              <a:buFont typeface="Arial" panose="020B0604020202020204" pitchFamily="34" charset="0"/>
            </a:pPr>
            <a:r>
              <a:rPr lang="en-US" altLang="zh-CN" sz="1600" b="1" i="0" dirty="0">
                <a:solidFill>
                  <a:srgbClr val="000000"/>
                </a:solidFill>
                <a:latin typeface="Tahoma" panose="020B0604030504040204" pitchFamily="34" charset="0"/>
                <a:ea typeface="宋体" panose="02010600030101010101" pitchFamily="2" charset="-122"/>
              </a:rPr>
              <a:t> }</a:t>
            </a:r>
          </a:p>
          <a:p>
            <a:pPr marL="342900" indent="-342900">
              <a:spcBef>
                <a:spcPct val="20000"/>
              </a:spcBef>
              <a:buClr>
                <a:srgbClr val="3333CC"/>
              </a:buClr>
              <a:buSzPct val="60000"/>
              <a:buFont typeface="Arial" panose="020B0604020202020204" pitchFamily="34" charset="0"/>
            </a:pPr>
            <a:r>
              <a:rPr lang="en-US" altLang="zh-CN" sz="1800" b="1" i="0" u="sng" dirty="0">
                <a:solidFill>
                  <a:srgbClr val="000000"/>
                </a:solidFill>
                <a:latin typeface="Tahoma" panose="020B0604030504040204" pitchFamily="34" charset="0"/>
                <a:ea typeface="宋体" panose="02010600030101010101" pitchFamily="2" charset="-122"/>
              </a:rPr>
              <a:t>void test(int i)</a:t>
            </a:r>
          </a:p>
          <a:p>
            <a:pPr marL="342900" indent="-342900">
              <a:spcBef>
                <a:spcPct val="20000"/>
              </a:spcBef>
              <a:buClr>
                <a:srgbClr val="3333CC"/>
              </a:buClr>
              <a:buSzPct val="60000"/>
              <a:buFont typeface="Arial" panose="020B0604020202020204" pitchFamily="34" charset="0"/>
            </a:pPr>
            <a:r>
              <a:rPr lang="en-US" altLang="zh-CN" sz="1600" b="1" i="0" dirty="0">
                <a:solidFill>
                  <a:srgbClr val="000000"/>
                </a:solidFill>
                <a:latin typeface="Tahoma" panose="020B0604030504040204" pitchFamily="34" charset="0"/>
                <a:ea typeface="宋体" panose="02010600030101010101" pitchFamily="2" charset="-122"/>
              </a:rPr>
              <a:t>{</a:t>
            </a:r>
          </a:p>
          <a:p>
            <a:pPr marL="342900" indent="-342900">
              <a:spcBef>
                <a:spcPct val="20000"/>
              </a:spcBef>
              <a:buClr>
                <a:srgbClr val="3333CC"/>
              </a:buClr>
              <a:buSzPct val="60000"/>
              <a:buFont typeface="Arial" panose="020B0604020202020204" pitchFamily="34" charset="0"/>
            </a:pPr>
            <a:r>
              <a:rPr lang="en-US" altLang="zh-CN" sz="1600" b="1" i="0" dirty="0">
                <a:solidFill>
                  <a:srgbClr val="000000"/>
                </a:solidFill>
                <a:latin typeface="Tahoma" panose="020B0604030504040204" pitchFamily="34" charset="0"/>
                <a:ea typeface="宋体" panose="02010600030101010101" pitchFamily="2" charset="-122"/>
              </a:rPr>
              <a:t>         if(state[i]==HUNGRY &amp;&amp; state[LEFT]!=EATING &amp;&amp; state[RIGHT]!=EATING)</a:t>
            </a:r>
          </a:p>
          <a:p>
            <a:pPr marL="342900" indent="-342900">
              <a:spcBef>
                <a:spcPct val="20000"/>
              </a:spcBef>
              <a:buClr>
                <a:srgbClr val="3333CC"/>
              </a:buClr>
              <a:buSzPct val="60000"/>
              <a:buFont typeface="Arial" panose="020B0604020202020204" pitchFamily="34" charset="0"/>
            </a:pPr>
            <a:r>
              <a:rPr lang="en-US" altLang="zh-CN" sz="1600" b="1" i="0" dirty="0">
                <a:solidFill>
                  <a:srgbClr val="000000"/>
                </a:solidFill>
                <a:latin typeface="Tahoma" panose="020B0604030504040204" pitchFamily="34" charset="0"/>
                <a:ea typeface="宋体" panose="02010600030101010101" pitchFamily="2" charset="-122"/>
              </a:rPr>
              <a:t>        {</a:t>
            </a:r>
          </a:p>
          <a:p>
            <a:pPr marL="342900" indent="-342900">
              <a:spcBef>
                <a:spcPct val="20000"/>
              </a:spcBef>
              <a:buClr>
                <a:srgbClr val="3333CC"/>
              </a:buClr>
              <a:buSzPct val="60000"/>
              <a:buFont typeface="Arial" panose="020B0604020202020204" pitchFamily="34" charset="0"/>
            </a:pPr>
            <a:r>
              <a:rPr lang="en-US" altLang="zh-CN" sz="1600" b="1" i="0" dirty="0">
                <a:solidFill>
                  <a:srgbClr val="000000"/>
                </a:solidFill>
                <a:latin typeface="Tahoma" panose="020B0604030504040204" pitchFamily="34" charset="0"/>
                <a:ea typeface="宋体" panose="02010600030101010101" pitchFamily="2" charset="-122"/>
              </a:rPr>
              <a:t>               state[i]=EATING;</a:t>
            </a:r>
          </a:p>
          <a:p>
            <a:pPr marL="342900" indent="-342900">
              <a:spcBef>
                <a:spcPct val="20000"/>
              </a:spcBef>
              <a:buClr>
                <a:srgbClr val="3333CC"/>
              </a:buClr>
              <a:buSzPct val="60000"/>
              <a:buFont typeface="Arial" panose="020B0604020202020204" pitchFamily="34" charset="0"/>
            </a:pPr>
            <a:r>
              <a:rPr lang="en-US" altLang="zh-CN" sz="1600" b="1" i="0" dirty="0">
                <a:solidFill>
                  <a:srgbClr val="000000"/>
                </a:solidFill>
                <a:latin typeface="Tahoma" panose="020B0604030504040204" pitchFamily="34" charset="0"/>
                <a:ea typeface="宋体" panose="02010600030101010101" pitchFamily="2" charset="-122"/>
              </a:rPr>
              <a:t>               </a:t>
            </a:r>
            <a:r>
              <a:rPr lang="en-US" altLang="zh-CN" sz="1600" b="1" i="0" u="sng" dirty="0">
                <a:solidFill>
                  <a:srgbClr val="3333CC"/>
                </a:solidFill>
                <a:latin typeface="Tahoma" panose="020B0604030504040204" pitchFamily="34" charset="0"/>
                <a:ea typeface="宋体" panose="02010600030101010101" pitchFamily="2" charset="-122"/>
              </a:rPr>
              <a:t>V (s[i] );</a:t>
            </a:r>
            <a:r>
              <a:rPr lang="en-US" altLang="zh-CN" sz="1600" b="1" i="0" dirty="0">
                <a:solidFill>
                  <a:srgbClr val="000000"/>
                </a:solidFill>
                <a:latin typeface="Tahoma" panose="020B0604030504040204" pitchFamily="34" charset="0"/>
                <a:ea typeface="宋体" panose="02010600030101010101" pitchFamily="2" charset="-122"/>
              </a:rPr>
              <a:t>     </a:t>
            </a:r>
            <a:r>
              <a:rPr lang="en-US" altLang="zh-CN" sz="1600" b="1" i="0" dirty="0">
                <a:solidFill>
                  <a:srgbClr val="FF0000"/>
                </a:solidFill>
                <a:latin typeface="Tahoma" panose="020B0604030504040204" pitchFamily="34" charset="0"/>
                <a:ea typeface="宋体" panose="02010600030101010101" pitchFamily="2" charset="-122"/>
              </a:rPr>
              <a:t>/*</a:t>
            </a:r>
            <a:r>
              <a:rPr lang="zh-CN" altLang="en-US" sz="1600" b="1" i="0" dirty="0">
                <a:solidFill>
                  <a:srgbClr val="FF0000"/>
                </a:solidFill>
                <a:latin typeface="Arial" panose="020B0604020202020204" pitchFamily="34" charset="0"/>
                <a:ea typeface="宋体" panose="02010600030101010101" pitchFamily="2" charset="-122"/>
              </a:rPr>
              <a:t>能吃了，同步信号量，可唤醒阻塞进程</a:t>
            </a:r>
            <a:r>
              <a:rPr lang="en-US" altLang="zh-CN" sz="1600" b="1" i="0" dirty="0">
                <a:solidFill>
                  <a:srgbClr val="FF0000"/>
                </a:solidFill>
                <a:latin typeface="Tahoma" panose="020B0604030504040204" pitchFamily="34" charset="0"/>
                <a:ea typeface="宋体" panose="02010600030101010101" pitchFamily="2" charset="-122"/>
              </a:rPr>
              <a:t>*/</a:t>
            </a:r>
          </a:p>
          <a:p>
            <a:pPr marL="342900" indent="-342900">
              <a:spcBef>
                <a:spcPct val="20000"/>
              </a:spcBef>
              <a:buClr>
                <a:srgbClr val="3333CC"/>
              </a:buClr>
              <a:buSzPct val="60000"/>
              <a:buFont typeface="Arial" panose="020B0604020202020204" pitchFamily="34" charset="0"/>
            </a:pPr>
            <a:r>
              <a:rPr lang="en-US" altLang="zh-CN" sz="1600" b="1" i="0" dirty="0">
                <a:solidFill>
                  <a:srgbClr val="000000"/>
                </a:solidFill>
                <a:latin typeface="Tahoma" panose="020B0604030504040204" pitchFamily="34" charset="0"/>
                <a:ea typeface="宋体" panose="02010600030101010101" pitchFamily="2" charset="-122"/>
              </a:rPr>
              <a:t>         }</a:t>
            </a:r>
          </a:p>
          <a:p>
            <a:pPr marL="342900" indent="-342900">
              <a:spcBef>
                <a:spcPct val="20000"/>
              </a:spcBef>
              <a:buClr>
                <a:srgbClr val="3333CC"/>
              </a:buClr>
              <a:buSzPct val="60000"/>
              <a:buFont typeface="Arial" panose="020B0604020202020204" pitchFamily="34" charset="0"/>
            </a:pPr>
            <a:r>
              <a:rPr lang="en-US" altLang="zh-CN" sz="1600" b="1" i="0" dirty="0">
                <a:solidFill>
                  <a:srgbClr val="000000"/>
                </a:solidFill>
                <a:latin typeface="Tahoma" panose="020B0604030504040204" pitchFamily="34" charset="0"/>
                <a:ea typeface="宋体" panose="02010600030101010101" pitchFamily="2" charset="-122"/>
              </a:rPr>
              <a:t> }</a:t>
            </a:r>
          </a:p>
          <a:p>
            <a:pPr marL="342900" indent="-342900">
              <a:spcBef>
                <a:spcPct val="20000"/>
              </a:spcBef>
              <a:buClr>
                <a:srgbClr val="3333CC"/>
              </a:buClr>
              <a:buSzPct val="60000"/>
              <a:buFont typeface="Arial" panose="020B0604020202020204" pitchFamily="34" charset="0"/>
            </a:pPr>
            <a:r>
              <a:rPr lang="en-US" altLang="zh-CN" sz="1600" b="1" i="0" dirty="0">
                <a:solidFill>
                  <a:srgbClr val="0EF255"/>
                </a:solidFill>
                <a:latin typeface="Tahoma" panose="020B0604030504040204" pitchFamily="34" charset="0"/>
                <a:ea typeface="宋体" panose="02010600030101010101" pitchFamily="2" charset="-122"/>
              </a:rPr>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135169"/>
          <p:cNvSpPr>
            <a:spLocks noGrp="1"/>
          </p:cNvSpPr>
          <p:nvPr>
            <p:ph type="title"/>
          </p:nvPr>
        </p:nvSpPr>
        <p:spPr>
          <a:xfrm>
            <a:off x="323850" y="260350"/>
            <a:ext cx="8229600" cy="976313"/>
          </a:xfrm>
          <a:ln/>
        </p:spPr>
        <p:txBody>
          <a:bodyPr vert="horz" wrap="square" lIns="91440" tIns="45720" rIns="91440" bIns="45720" anchor="b" anchorCtr="0"/>
          <a:lstStyle/>
          <a:p>
            <a:pPr eaLnBrk="1" hangingPunct="1"/>
            <a:r>
              <a:rPr lang="en-US" altLang="zh-CN" dirty="0"/>
              <a:t>2.6  </a:t>
            </a:r>
            <a:r>
              <a:rPr lang="zh-CN" altLang="en-US" dirty="0"/>
              <a:t>经典进程同步问题</a:t>
            </a:r>
          </a:p>
        </p:txBody>
      </p:sp>
      <p:pic>
        <p:nvPicPr>
          <p:cNvPr id="60418" name="图片 135170" descr="T221"/>
          <p:cNvPicPr>
            <a:picLocks noChangeAspect="1"/>
          </p:cNvPicPr>
          <p:nvPr/>
        </p:nvPicPr>
        <p:blipFill>
          <a:blip r:embed="rId2"/>
          <a:stretch>
            <a:fillRect/>
          </a:stretch>
        </p:blipFill>
        <p:spPr>
          <a:xfrm>
            <a:off x="1258888" y="2205038"/>
            <a:ext cx="6838950" cy="3814762"/>
          </a:xfrm>
          <a:prstGeom prst="rect">
            <a:avLst/>
          </a:prstGeom>
          <a:noFill/>
          <a:ln w="9525">
            <a:noFill/>
          </a:ln>
        </p:spPr>
      </p:pic>
      <p:sp>
        <p:nvSpPr>
          <p:cNvPr id="60419" name="文本框 135171"/>
          <p:cNvSpPr txBox="1"/>
          <p:nvPr/>
        </p:nvSpPr>
        <p:spPr>
          <a:xfrm>
            <a:off x="3276600" y="6021388"/>
            <a:ext cx="4175125" cy="366712"/>
          </a:xfrm>
          <a:prstGeom prst="rect">
            <a:avLst/>
          </a:prstGeom>
          <a:noFill/>
          <a:ln w="9525">
            <a:noFill/>
          </a:ln>
        </p:spPr>
        <p:txBody>
          <a:bodyPr anchor="t" anchorCtr="0">
            <a:spAutoFit/>
          </a:bodyPr>
          <a:lstStyle/>
          <a:p>
            <a:pPr>
              <a:spcBef>
                <a:spcPct val="50000"/>
              </a:spcBef>
              <a:buClrTx/>
              <a:buFont typeface="Arial" panose="020B0604020202020204" pitchFamily="34" charset="0"/>
            </a:pPr>
            <a:r>
              <a:rPr lang="zh-CN" altLang="en-US" sz="1800" i="0" dirty="0">
                <a:solidFill>
                  <a:srgbClr val="000000"/>
                </a:solidFill>
                <a:latin typeface="Tahoma" panose="020B0604030504040204" pitchFamily="34" charset="0"/>
                <a:ea typeface="宋体" panose="02010600030101010101" pitchFamily="2" charset="-122"/>
              </a:rPr>
              <a:t>图</a:t>
            </a:r>
            <a:r>
              <a:rPr lang="en-US" altLang="zh-CN" sz="1800" i="0" dirty="0">
                <a:solidFill>
                  <a:srgbClr val="000000"/>
                </a:solidFill>
                <a:latin typeface="Tahoma" panose="020B0604030504040204" pitchFamily="34" charset="0"/>
                <a:ea typeface="宋体" panose="02010600030101010101" pitchFamily="2" charset="-122"/>
              </a:rPr>
              <a:t>2-21  </a:t>
            </a:r>
            <a:r>
              <a:rPr lang="zh-CN" altLang="en-US" sz="1800" i="0" dirty="0">
                <a:solidFill>
                  <a:srgbClr val="000000"/>
                </a:solidFill>
                <a:latin typeface="Tahoma" panose="020B0604030504040204" pitchFamily="34" charset="0"/>
                <a:ea typeface="宋体" panose="02010600030101010101" pitchFamily="2" charset="-122"/>
              </a:rPr>
              <a:t>打瞌睡的理发师</a:t>
            </a:r>
          </a:p>
        </p:txBody>
      </p:sp>
      <p:sp>
        <p:nvSpPr>
          <p:cNvPr id="60420" name="文本框 135172"/>
          <p:cNvSpPr txBox="1"/>
          <p:nvPr/>
        </p:nvSpPr>
        <p:spPr>
          <a:xfrm>
            <a:off x="1547813" y="1268413"/>
            <a:ext cx="5040312" cy="579437"/>
          </a:xfrm>
          <a:prstGeom prst="rect">
            <a:avLst/>
          </a:prstGeom>
          <a:noFill/>
          <a:ln w="9525">
            <a:noFill/>
          </a:ln>
        </p:spPr>
        <p:txBody>
          <a:bodyPr anchor="t" anchorCtr="0">
            <a:spAutoFit/>
          </a:bodyPr>
          <a:lstStyle/>
          <a:p>
            <a:pPr algn="just">
              <a:spcBef>
                <a:spcPct val="50000"/>
              </a:spcBef>
              <a:buClrTx/>
              <a:buFont typeface="Arial" panose="020B0604020202020204" pitchFamily="34" charset="0"/>
            </a:pPr>
            <a:r>
              <a:rPr lang="en-US" altLang="zh-CN" sz="3200" b="1" i="0" dirty="0">
                <a:solidFill>
                  <a:srgbClr val="000000"/>
                </a:solidFill>
                <a:latin typeface="Tahoma" panose="020B0604030504040204" pitchFamily="34" charset="0"/>
                <a:ea typeface="宋体" panose="02010600030101010101" pitchFamily="2" charset="-122"/>
              </a:rPr>
              <a:t>4</a:t>
            </a:r>
            <a:r>
              <a:rPr lang="zh-CN" altLang="en-US" sz="3200" b="1" i="0" dirty="0">
                <a:solidFill>
                  <a:srgbClr val="000000"/>
                </a:solidFill>
                <a:latin typeface="Tahoma" panose="020B0604030504040204" pitchFamily="34" charset="0"/>
                <a:ea typeface="宋体" panose="02010600030101010101" pitchFamily="2" charset="-122"/>
              </a:rPr>
              <a:t>．打瞌睡的理发师问题</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136193"/>
          <p:cNvSpPr>
            <a:spLocks noGrp="1"/>
          </p:cNvSpPr>
          <p:nvPr>
            <p:ph type="title"/>
          </p:nvPr>
        </p:nvSpPr>
        <p:spPr>
          <a:ln/>
        </p:spPr>
        <p:txBody>
          <a:bodyPr vert="horz" wrap="square" lIns="91440" tIns="45720" rIns="91440" bIns="45720" anchor="b" anchorCtr="0"/>
          <a:lstStyle/>
          <a:p>
            <a:pPr eaLnBrk="1" hangingPunct="1"/>
            <a:r>
              <a:rPr lang="zh-CN" altLang="en-US" dirty="0"/>
              <a:t>分析问题：</a:t>
            </a:r>
          </a:p>
        </p:txBody>
      </p:sp>
      <p:sp>
        <p:nvSpPr>
          <p:cNvPr id="61442" name="文本占位符 136194"/>
          <p:cNvSpPr>
            <a:spLocks noGrp="1"/>
          </p:cNvSpPr>
          <p:nvPr>
            <p:ph idx="1"/>
          </p:nvPr>
        </p:nvSpPr>
        <p:spPr>
          <a:xfrm>
            <a:off x="611188" y="1989138"/>
            <a:ext cx="8137525" cy="4392612"/>
          </a:xfrm>
          <a:ln/>
        </p:spPr>
        <p:txBody>
          <a:bodyPr vert="horz" wrap="square" lIns="91440" tIns="45720" rIns="91440" bIns="45720" anchor="t" anchorCtr="0"/>
          <a:lstStyle/>
          <a:p>
            <a:pPr eaLnBrk="1" hangingPunct="1"/>
            <a:r>
              <a:rPr lang="zh-CN" altLang="en-US" sz="2800" dirty="0"/>
              <a:t>理发师和每位顾客都分别是一个</a:t>
            </a:r>
            <a:r>
              <a:rPr lang="zh-CN" altLang="en-US" sz="2800" dirty="0">
                <a:solidFill>
                  <a:srgbClr val="FC746A"/>
                </a:solidFill>
              </a:rPr>
              <a:t>进程</a:t>
            </a:r>
            <a:r>
              <a:rPr lang="zh-CN" altLang="en-US" sz="2800" dirty="0"/>
              <a:t>。 </a:t>
            </a:r>
          </a:p>
          <a:p>
            <a:pPr eaLnBrk="1" hangingPunct="1"/>
            <a:r>
              <a:rPr lang="zh-CN" altLang="en-US" sz="2800" dirty="0"/>
              <a:t>一个</a:t>
            </a:r>
            <a:r>
              <a:rPr lang="zh-CN" altLang="en-US" sz="2800" dirty="0">
                <a:solidFill>
                  <a:schemeClr val="folHlink"/>
                </a:solidFill>
              </a:rPr>
              <a:t>理发师</a:t>
            </a:r>
            <a:r>
              <a:rPr lang="zh-CN" altLang="en-US" sz="2800" dirty="0"/>
              <a:t>进程，理发师开始工作，无顾客则打瞌睡；有顾客，为等待最久的顾客服务，等待人数减</a:t>
            </a:r>
            <a:r>
              <a:rPr lang="en-US" altLang="zh-CN" sz="2800" dirty="0"/>
              <a:t>1</a:t>
            </a:r>
            <a:r>
              <a:rPr lang="zh-CN" altLang="en-US" sz="2800" dirty="0"/>
              <a:t>。</a:t>
            </a:r>
          </a:p>
          <a:p>
            <a:pPr eaLnBrk="1" hangingPunct="1"/>
            <a:r>
              <a:rPr lang="zh-CN" altLang="en-US" sz="2800" dirty="0">
                <a:solidFill>
                  <a:schemeClr val="folHlink"/>
                </a:solidFill>
              </a:rPr>
              <a:t>顾客</a:t>
            </a:r>
            <a:r>
              <a:rPr lang="zh-CN" altLang="en-US" sz="2800" dirty="0"/>
              <a:t>进程，无空位不等，有空位排队，等待人数加</a:t>
            </a:r>
            <a:r>
              <a:rPr lang="en-US" altLang="zh-CN" sz="2800" dirty="0"/>
              <a:t>1</a:t>
            </a:r>
            <a:r>
              <a:rPr lang="zh-CN" altLang="en-US" sz="2800" dirty="0"/>
              <a:t>，如果理发师睡眠，唤醒他。</a:t>
            </a:r>
          </a:p>
          <a:p>
            <a:pPr eaLnBrk="1" hangingPunct="1"/>
            <a:endParaRPr lang="zh-CN" altLang="en-US" sz="2800" dirty="0">
              <a:solidFill>
                <a:srgbClr val="FF0000"/>
              </a:solidFill>
            </a:endParaRPr>
          </a:p>
          <a:p>
            <a:pPr eaLnBrk="1" hangingPunct="1"/>
            <a:r>
              <a:rPr lang="zh-CN" altLang="en-US" sz="2800" dirty="0">
                <a:solidFill>
                  <a:srgbClr val="FF0000"/>
                </a:solidFill>
              </a:rPr>
              <a:t>思考：进程同步哪种情况。打瞌睡指什么？</a:t>
            </a:r>
          </a:p>
          <a:p>
            <a:pPr eaLnBrk="1" hangingPunct="1"/>
            <a:endParaRPr lang="zh-CN" altLang="en-US" sz="2800" dirty="0">
              <a:solidFill>
                <a:srgbClr val="FF00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37217"/>
          <p:cNvSpPr>
            <a:spLocks noGrp="1"/>
          </p:cNvSpPr>
          <p:nvPr>
            <p:ph type="title"/>
          </p:nvPr>
        </p:nvSpPr>
        <p:spPr>
          <a:ln/>
        </p:spPr>
        <p:txBody>
          <a:bodyPr vert="horz" wrap="square" lIns="91440" tIns="45720" rIns="91440" bIns="45720" anchor="b" anchorCtr="0"/>
          <a:lstStyle/>
          <a:p>
            <a:pPr eaLnBrk="1" hangingPunct="1"/>
            <a:r>
              <a:rPr lang="zh-CN" altLang="en-US" dirty="0"/>
              <a:t>分析问题：</a:t>
            </a:r>
          </a:p>
        </p:txBody>
      </p:sp>
      <p:sp>
        <p:nvSpPr>
          <p:cNvPr id="62466" name="文本占位符 137218"/>
          <p:cNvSpPr>
            <a:spLocks noGrp="1"/>
          </p:cNvSpPr>
          <p:nvPr>
            <p:ph idx="1"/>
          </p:nvPr>
        </p:nvSpPr>
        <p:spPr>
          <a:xfrm>
            <a:off x="684213" y="2060575"/>
            <a:ext cx="7772400" cy="4114800"/>
          </a:xfrm>
          <a:ln/>
        </p:spPr>
        <p:txBody>
          <a:bodyPr vert="horz" wrap="square" lIns="91440" tIns="45720" rIns="91440" bIns="45720" anchor="t" anchorCtr="0"/>
          <a:lstStyle/>
          <a:p>
            <a:pPr eaLnBrk="1" hangingPunct="1"/>
            <a:r>
              <a:rPr lang="zh-CN" altLang="en-US" sz="2800" dirty="0">
                <a:solidFill>
                  <a:srgbClr val="FF0000"/>
                </a:solidFill>
              </a:rPr>
              <a:t>设立</a:t>
            </a:r>
            <a:r>
              <a:rPr lang="en-US" altLang="zh-CN" sz="2800" dirty="0">
                <a:solidFill>
                  <a:srgbClr val="FF0000"/>
                </a:solidFill>
              </a:rPr>
              <a:t>3</a:t>
            </a:r>
            <a:r>
              <a:rPr lang="zh-CN" altLang="en-US" sz="2800" dirty="0">
                <a:solidFill>
                  <a:srgbClr val="FF0000"/>
                </a:solidFill>
              </a:rPr>
              <a:t>个信号量（</a:t>
            </a:r>
            <a:r>
              <a:rPr lang="en-US" altLang="zh-CN" sz="2800" dirty="0">
                <a:solidFill>
                  <a:srgbClr val="FF0000"/>
                </a:solidFill>
              </a:rPr>
              <a:t>2</a:t>
            </a:r>
            <a:r>
              <a:rPr lang="zh-CN" altLang="en-US" sz="2800" dirty="0">
                <a:solidFill>
                  <a:srgbClr val="FF0000"/>
                </a:solidFill>
              </a:rPr>
              <a:t>个同步，</a:t>
            </a:r>
            <a:r>
              <a:rPr lang="en-US" altLang="zh-CN" sz="2800" dirty="0">
                <a:solidFill>
                  <a:srgbClr val="FF0000"/>
                </a:solidFill>
              </a:rPr>
              <a:t>1</a:t>
            </a:r>
            <a:r>
              <a:rPr lang="zh-CN" altLang="en-US" sz="2800" dirty="0">
                <a:solidFill>
                  <a:srgbClr val="FF0000"/>
                </a:solidFill>
              </a:rPr>
              <a:t>个互斥）：</a:t>
            </a:r>
          </a:p>
          <a:p>
            <a:pPr eaLnBrk="1" hangingPunct="1"/>
            <a:r>
              <a:rPr lang="en-US" altLang="zh-CN" sz="2800" dirty="0">
                <a:solidFill>
                  <a:schemeClr val="folHlink"/>
                </a:solidFill>
              </a:rPr>
              <a:t>customers</a:t>
            </a:r>
            <a:r>
              <a:rPr lang="en-US" altLang="zh-CN" sz="2800" dirty="0"/>
              <a:t>:</a:t>
            </a:r>
            <a:r>
              <a:rPr lang="zh-CN" altLang="en-US" sz="2800" dirty="0"/>
              <a:t>等待顾客数，初值为</a:t>
            </a:r>
            <a:r>
              <a:rPr lang="en-US" altLang="zh-CN" sz="2800" dirty="0"/>
              <a:t>0</a:t>
            </a:r>
            <a:r>
              <a:rPr lang="zh-CN" altLang="en-US" sz="2800" dirty="0"/>
              <a:t>。</a:t>
            </a:r>
          </a:p>
          <a:p>
            <a:pPr eaLnBrk="1" hangingPunct="1"/>
            <a:r>
              <a:rPr lang="en-US" altLang="zh-CN" sz="2800" dirty="0">
                <a:solidFill>
                  <a:schemeClr val="folHlink"/>
                </a:solidFill>
              </a:rPr>
              <a:t>Barbers</a:t>
            </a:r>
            <a:r>
              <a:rPr lang="zh-CN" altLang="en-US" sz="2800" dirty="0"/>
              <a:t>：要为顾客理发的理发师数，初值为</a:t>
            </a:r>
            <a:r>
              <a:rPr lang="en-US" altLang="zh-CN" sz="2800" dirty="0"/>
              <a:t>0</a:t>
            </a:r>
            <a:r>
              <a:rPr lang="zh-CN" altLang="en-US" sz="2800" dirty="0"/>
              <a:t>。</a:t>
            </a:r>
          </a:p>
          <a:p>
            <a:pPr eaLnBrk="1" hangingPunct="1"/>
            <a:r>
              <a:rPr lang="en-US" altLang="zh-CN" sz="2800" dirty="0">
                <a:solidFill>
                  <a:schemeClr val="folHlink"/>
                </a:solidFill>
              </a:rPr>
              <a:t>Mutex</a:t>
            </a:r>
            <a:r>
              <a:rPr lang="en-US" altLang="zh-CN" sz="2800" dirty="0"/>
              <a:t>:</a:t>
            </a:r>
            <a:r>
              <a:rPr lang="zh-CN" altLang="en-US" sz="2800" dirty="0"/>
              <a:t>用于对</a:t>
            </a:r>
            <a:r>
              <a:rPr lang="en-US" altLang="zh-CN" sz="2800" dirty="0"/>
              <a:t>waiting</a:t>
            </a:r>
            <a:r>
              <a:rPr lang="zh-CN" altLang="en-US" sz="2800" dirty="0"/>
              <a:t>变量的互斥操作。</a:t>
            </a:r>
          </a:p>
          <a:p>
            <a:pPr eaLnBrk="1" hangingPunct="1"/>
            <a:r>
              <a:rPr lang="en-US" altLang="zh-CN" sz="2800" dirty="0">
                <a:solidFill>
                  <a:srgbClr val="FF0000"/>
                </a:solidFill>
              </a:rPr>
              <a:t>1</a:t>
            </a:r>
            <a:r>
              <a:rPr lang="zh-CN" altLang="en-US" sz="2800" dirty="0">
                <a:solidFill>
                  <a:srgbClr val="FF0000"/>
                </a:solidFill>
              </a:rPr>
              <a:t>个变量：</a:t>
            </a:r>
          </a:p>
          <a:p>
            <a:pPr eaLnBrk="1" hangingPunct="1"/>
            <a:r>
              <a:rPr lang="en-US" altLang="zh-CN" sz="2800" dirty="0">
                <a:solidFill>
                  <a:schemeClr val="folHlink"/>
                </a:solidFill>
              </a:rPr>
              <a:t>Waiting</a:t>
            </a:r>
            <a:r>
              <a:rPr lang="en-US" altLang="zh-CN" sz="2800" dirty="0"/>
              <a:t>:</a:t>
            </a:r>
            <a:r>
              <a:rPr lang="zh-CN" altLang="en-US" sz="2800" dirty="0"/>
              <a:t>正在等候理发的顾客数，是</a:t>
            </a:r>
            <a:r>
              <a:rPr lang="en-US" altLang="zh-CN" sz="2800" dirty="0"/>
              <a:t>customers</a:t>
            </a:r>
            <a:r>
              <a:rPr lang="zh-CN" altLang="en-US" sz="2800" dirty="0"/>
              <a:t>的</a:t>
            </a:r>
            <a:r>
              <a:rPr lang="zh-CN" altLang="en-US" sz="2800" dirty="0">
                <a:solidFill>
                  <a:srgbClr val="FF0000"/>
                </a:solidFill>
              </a:rPr>
              <a:t>副本</a:t>
            </a:r>
            <a:r>
              <a:rPr lang="zh-CN" altLang="en-US" sz="2800" dirty="0"/>
              <a:t>变量，初值为</a:t>
            </a:r>
            <a:r>
              <a:rPr lang="en-US" altLang="zh-CN" sz="2800" dirty="0"/>
              <a:t>0</a:t>
            </a:r>
            <a:r>
              <a:rPr lang="zh-CN" altLang="en-US" sz="2800" dirty="0"/>
              <a:t>。</a:t>
            </a:r>
          </a:p>
          <a:p>
            <a:pPr eaLnBrk="1" hangingPunct="1"/>
            <a:r>
              <a:rPr lang="zh-CN" altLang="en-US" sz="2800" dirty="0"/>
              <a:t>设顾客座椅数为 </a:t>
            </a:r>
            <a:r>
              <a:rPr lang="en-US" altLang="zh-CN" sz="2800" dirty="0"/>
              <a:t>5</a:t>
            </a:r>
            <a:r>
              <a:rPr lang="zh-CN" altLang="en-US" sz="2800" dirty="0"/>
              <a:t>。</a:t>
            </a:r>
          </a:p>
          <a:p>
            <a:pPr eaLnBrk="1" hangingPunct="1">
              <a:buNone/>
            </a:pPr>
            <a:endParaRPr lang="zh-CN" altLang="en-US" sz="2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138241"/>
          <p:cNvSpPr>
            <a:spLocks noGrp="1"/>
          </p:cNvSpPr>
          <p:nvPr>
            <p:ph type="title"/>
          </p:nvPr>
        </p:nvSpPr>
        <p:spPr>
          <a:ln/>
        </p:spPr>
        <p:txBody>
          <a:bodyPr vert="horz" wrap="square" lIns="91440" tIns="45720" rIns="91440" bIns="45720" anchor="b" anchorCtr="0"/>
          <a:lstStyle/>
          <a:p>
            <a:pPr eaLnBrk="1" hangingPunct="1"/>
            <a:r>
              <a:rPr lang="en-US" altLang="zh-CN" b="1" dirty="0"/>
              <a:t>4</a:t>
            </a:r>
            <a:r>
              <a:rPr lang="zh-CN" altLang="en-US" b="1" dirty="0"/>
              <a:t>．打瞌睡的理发师问题</a:t>
            </a:r>
          </a:p>
        </p:txBody>
      </p:sp>
      <p:sp>
        <p:nvSpPr>
          <p:cNvPr id="63490" name="文本占位符 138242"/>
          <p:cNvSpPr>
            <a:spLocks noGrp="1"/>
          </p:cNvSpPr>
          <p:nvPr>
            <p:ph idx="1"/>
          </p:nvPr>
        </p:nvSpPr>
        <p:spPr>
          <a:xfrm>
            <a:off x="1403350" y="1844675"/>
            <a:ext cx="5832475" cy="4608513"/>
          </a:xfrm>
          <a:ln/>
        </p:spPr>
        <p:txBody>
          <a:bodyPr vert="horz" wrap="square" lIns="91440" tIns="45720" rIns="91440" bIns="45720" anchor="t" anchorCtr="0"/>
          <a:lstStyle/>
          <a:p>
            <a:pPr eaLnBrk="1" hangingPunct="1">
              <a:lnSpc>
                <a:spcPct val="90000"/>
              </a:lnSpc>
              <a:buNone/>
            </a:pPr>
            <a:r>
              <a:rPr lang="en-US" altLang="zh-CN" sz="2400" dirty="0"/>
              <a:t>#define CHAIRS  5</a:t>
            </a:r>
          </a:p>
          <a:p>
            <a:pPr eaLnBrk="1" hangingPunct="1">
              <a:lnSpc>
                <a:spcPct val="90000"/>
              </a:lnSpc>
              <a:buNone/>
            </a:pPr>
            <a:endParaRPr lang="en-US" altLang="zh-CN" sz="2400" dirty="0"/>
          </a:p>
          <a:p>
            <a:pPr eaLnBrk="1" hangingPunct="1">
              <a:lnSpc>
                <a:spcPct val="90000"/>
              </a:lnSpc>
              <a:buNone/>
            </a:pPr>
            <a:r>
              <a:rPr lang="en-US" altLang="zh-CN" sz="2400" dirty="0"/>
              <a:t>typedef struct{</a:t>
            </a:r>
          </a:p>
          <a:p>
            <a:pPr eaLnBrk="1" hangingPunct="1">
              <a:lnSpc>
                <a:spcPct val="90000"/>
              </a:lnSpc>
              <a:buNone/>
            </a:pPr>
            <a:r>
              <a:rPr lang="en-US" altLang="zh-CN" sz="2400" dirty="0"/>
              <a:t>         int value;</a:t>
            </a:r>
          </a:p>
          <a:p>
            <a:pPr eaLnBrk="1" hangingPunct="1">
              <a:lnSpc>
                <a:spcPct val="90000"/>
              </a:lnSpc>
              <a:buNone/>
            </a:pPr>
            <a:r>
              <a:rPr lang="en-US" altLang="zh-CN" sz="2400" dirty="0"/>
              <a:t>         struct PCB *list;</a:t>
            </a:r>
          </a:p>
          <a:p>
            <a:pPr eaLnBrk="1" hangingPunct="1">
              <a:lnSpc>
                <a:spcPct val="90000"/>
              </a:lnSpc>
              <a:buNone/>
            </a:pPr>
            <a:r>
              <a:rPr lang="en-US" altLang="zh-CN" sz="2400" dirty="0"/>
              <a:t>} semaphore;</a:t>
            </a:r>
          </a:p>
          <a:p>
            <a:pPr eaLnBrk="1" hangingPunct="1">
              <a:lnSpc>
                <a:spcPct val="90000"/>
              </a:lnSpc>
              <a:buNone/>
            </a:pPr>
            <a:endParaRPr lang="en-US" altLang="zh-CN" sz="2400" dirty="0"/>
          </a:p>
          <a:p>
            <a:pPr eaLnBrk="1" hangingPunct="1">
              <a:lnSpc>
                <a:spcPct val="90000"/>
              </a:lnSpc>
              <a:buNone/>
            </a:pPr>
            <a:r>
              <a:rPr lang="en-US" altLang="zh-CN" sz="2400" dirty="0"/>
              <a:t>semaphore customers=0;</a:t>
            </a:r>
          </a:p>
          <a:p>
            <a:pPr eaLnBrk="1" hangingPunct="1">
              <a:lnSpc>
                <a:spcPct val="90000"/>
              </a:lnSpc>
              <a:buNone/>
            </a:pPr>
            <a:r>
              <a:rPr lang="en-US" altLang="zh-CN" sz="2400" dirty="0"/>
              <a:t>semaphore barbers=0;</a:t>
            </a:r>
          </a:p>
          <a:p>
            <a:pPr eaLnBrk="1" hangingPunct="1">
              <a:lnSpc>
                <a:spcPct val="90000"/>
              </a:lnSpc>
              <a:buNone/>
            </a:pPr>
            <a:r>
              <a:rPr lang="en-US" altLang="zh-CN" sz="2400" dirty="0"/>
              <a:t>semaphore mutex=1;</a:t>
            </a:r>
          </a:p>
          <a:p>
            <a:pPr eaLnBrk="1" hangingPunct="1">
              <a:lnSpc>
                <a:spcPct val="90000"/>
              </a:lnSpc>
              <a:buNone/>
            </a:pPr>
            <a:r>
              <a:rPr lang="en-US" altLang="zh-CN" sz="2400" dirty="0"/>
              <a:t>int waiting=0;</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文本占位符 139265"/>
          <p:cNvSpPr>
            <a:spLocks noGrp="1"/>
          </p:cNvSpPr>
          <p:nvPr>
            <p:ph idx="1"/>
          </p:nvPr>
        </p:nvSpPr>
        <p:spPr>
          <a:xfrm>
            <a:off x="827088" y="1412875"/>
            <a:ext cx="7850187" cy="5256213"/>
          </a:xfrm>
          <a:ln/>
        </p:spPr>
        <p:txBody>
          <a:bodyPr vert="horz" wrap="square" lIns="91440" tIns="45720" rIns="91440" bIns="45720" anchor="t" anchorCtr="0"/>
          <a:lstStyle/>
          <a:p>
            <a:pPr eaLnBrk="1" hangingPunct="1">
              <a:lnSpc>
                <a:spcPct val="90000"/>
              </a:lnSpc>
              <a:buNone/>
            </a:pPr>
            <a:r>
              <a:rPr lang="en-US" altLang="zh-CN" sz="2400" dirty="0"/>
              <a:t> void barber(void){</a:t>
            </a:r>
          </a:p>
          <a:p>
            <a:pPr eaLnBrk="1" hangingPunct="1">
              <a:lnSpc>
                <a:spcPct val="90000"/>
              </a:lnSpc>
              <a:buNone/>
            </a:pPr>
            <a:r>
              <a:rPr lang="en-US" altLang="zh-CN" sz="2400" dirty="0"/>
              <a:t>        while(TRUE){</a:t>
            </a:r>
          </a:p>
          <a:p>
            <a:pPr eaLnBrk="1" hangingPunct="1">
              <a:lnSpc>
                <a:spcPct val="90000"/>
              </a:lnSpc>
              <a:buNone/>
            </a:pPr>
            <a:r>
              <a:rPr lang="en-US" altLang="zh-CN" sz="2400" dirty="0"/>
              <a:t>               P(customers);  /*</a:t>
            </a:r>
            <a:r>
              <a:rPr lang="zh-CN" altLang="en-US" sz="2400" dirty="0"/>
              <a:t>如果没有顾客，则理发师打瞌睡</a:t>
            </a:r>
            <a:r>
              <a:rPr lang="en-US" altLang="zh-CN" sz="2400" dirty="0"/>
              <a:t>*/</a:t>
            </a:r>
          </a:p>
          <a:p>
            <a:pPr eaLnBrk="1" hangingPunct="1">
              <a:lnSpc>
                <a:spcPct val="90000"/>
              </a:lnSpc>
              <a:buNone/>
            </a:pPr>
            <a:r>
              <a:rPr lang="en-US" altLang="zh-CN" sz="2400" dirty="0"/>
              <a:t>               P(mutex);      /*</a:t>
            </a:r>
            <a:r>
              <a:rPr lang="zh-CN" altLang="en-US" sz="2400" dirty="0"/>
              <a:t>互斥进入临界区</a:t>
            </a:r>
            <a:r>
              <a:rPr lang="en-US" altLang="zh-CN" sz="2400" dirty="0"/>
              <a:t>*/</a:t>
            </a:r>
          </a:p>
          <a:p>
            <a:pPr eaLnBrk="1" hangingPunct="1">
              <a:lnSpc>
                <a:spcPct val="90000"/>
              </a:lnSpc>
              <a:buNone/>
            </a:pPr>
            <a:r>
              <a:rPr lang="en-US" altLang="zh-CN" sz="2400" dirty="0"/>
              <a:t>               waiting--;</a:t>
            </a:r>
          </a:p>
          <a:p>
            <a:pPr eaLnBrk="1" hangingPunct="1">
              <a:lnSpc>
                <a:spcPct val="90000"/>
              </a:lnSpc>
              <a:buNone/>
            </a:pPr>
            <a:r>
              <a:rPr lang="en-US" altLang="zh-CN" sz="2400" dirty="0"/>
              <a:t>               V(barbers);    /*</a:t>
            </a:r>
            <a:r>
              <a:rPr lang="zh-CN" altLang="en-US" sz="2400" dirty="0"/>
              <a:t>一个理发师准备理发</a:t>
            </a:r>
            <a:r>
              <a:rPr lang="en-US" altLang="zh-CN" sz="2400" dirty="0"/>
              <a:t>*/</a:t>
            </a:r>
          </a:p>
          <a:p>
            <a:pPr eaLnBrk="1" hangingPunct="1">
              <a:lnSpc>
                <a:spcPct val="90000"/>
              </a:lnSpc>
              <a:buNone/>
            </a:pPr>
            <a:r>
              <a:rPr lang="en-US" altLang="zh-CN" sz="2400" dirty="0"/>
              <a:t>               V(mutex);      /*</a:t>
            </a:r>
            <a:r>
              <a:rPr lang="zh-CN" altLang="en-US" sz="2400" dirty="0"/>
              <a:t>退出临界区</a:t>
            </a:r>
            <a:r>
              <a:rPr lang="en-US" altLang="zh-CN" sz="2400" dirty="0"/>
              <a:t>*/</a:t>
            </a:r>
          </a:p>
          <a:p>
            <a:pPr eaLnBrk="1" hangingPunct="1">
              <a:lnSpc>
                <a:spcPct val="90000"/>
              </a:lnSpc>
              <a:buNone/>
            </a:pPr>
            <a:r>
              <a:rPr lang="en-US" altLang="zh-CN" sz="2400" dirty="0"/>
              <a:t>               cut_hair();     /*</a:t>
            </a:r>
            <a:r>
              <a:rPr lang="zh-CN" altLang="en-US" sz="2400" dirty="0"/>
              <a:t>理发（在临界区之外）</a:t>
            </a:r>
            <a:r>
              <a:rPr lang="en-US" altLang="zh-CN" sz="2400" dirty="0"/>
              <a:t>*/</a:t>
            </a:r>
          </a:p>
          <a:p>
            <a:pPr eaLnBrk="1" hangingPunct="1">
              <a:lnSpc>
                <a:spcPct val="90000"/>
              </a:lnSpc>
              <a:buNone/>
            </a:pPr>
            <a:r>
              <a:rPr lang="en-US" altLang="zh-CN" sz="2400" dirty="0"/>
              <a:t>        }</a:t>
            </a:r>
          </a:p>
          <a:p>
            <a:pPr eaLnBrk="1" hangingPunct="1">
              <a:lnSpc>
                <a:spcPct val="90000"/>
              </a:lnSpc>
              <a:buNone/>
            </a:pPr>
            <a:r>
              <a:rPr lang="en-US" altLang="zh-CN" sz="2400" dirty="0"/>
              <a:t>}</a:t>
            </a:r>
          </a:p>
          <a:p>
            <a:pPr eaLnBrk="1" hangingPunct="1">
              <a:lnSpc>
                <a:spcPct val="90000"/>
              </a:lnSpc>
              <a:buNone/>
            </a:pPr>
            <a:r>
              <a:rPr lang="en-US" altLang="zh-CN" sz="2400" dirty="0">
                <a:solidFill>
                  <a:srgbClr val="FF0000"/>
                </a:solidFill>
              </a:rPr>
              <a:t>P</a:t>
            </a:r>
            <a:r>
              <a:rPr lang="zh-CN" altLang="en-US" sz="2400" dirty="0">
                <a:solidFill>
                  <a:srgbClr val="FF0000"/>
                </a:solidFill>
              </a:rPr>
              <a:t>操作是申请测试资源，减</a:t>
            </a:r>
            <a:r>
              <a:rPr lang="en-US" altLang="zh-CN" sz="2400" dirty="0">
                <a:solidFill>
                  <a:srgbClr val="FF0000"/>
                </a:solidFill>
              </a:rPr>
              <a:t>1</a:t>
            </a:r>
            <a:r>
              <a:rPr lang="zh-CN" altLang="en-US" sz="2400" dirty="0">
                <a:solidFill>
                  <a:srgbClr val="FF0000"/>
                </a:solidFill>
              </a:rPr>
              <a:t>操作，可能会让进程阻塞。</a:t>
            </a:r>
          </a:p>
          <a:p>
            <a:pPr eaLnBrk="1" hangingPunct="1">
              <a:lnSpc>
                <a:spcPct val="90000"/>
              </a:lnSpc>
              <a:buNone/>
            </a:pPr>
            <a:r>
              <a:rPr lang="en-US" altLang="zh-CN" sz="2400" dirty="0">
                <a:solidFill>
                  <a:srgbClr val="FF0000"/>
                </a:solidFill>
              </a:rPr>
              <a:t>V</a:t>
            </a:r>
            <a:r>
              <a:rPr lang="zh-CN" altLang="en-US" sz="2400" dirty="0">
                <a:solidFill>
                  <a:srgbClr val="FF0000"/>
                </a:solidFill>
              </a:rPr>
              <a:t>操作是释放资源。加</a:t>
            </a:r>
            <a:r>
              <a:rPr lang="en-US" altLang="zh-CN" sz="2400" dirty="0">
                <a:solidFill>
                  <a:srgbClr val="FF0000"/>
                </a:solidFill>
              </a:rPr>
              <a:t>1</a:t>
            </a:r>
            <a:r>
              <a:rPr lang="zh-CN" altLang="en-US" sz="2400" dirty="0">
                <a:solidFill>
                  <a:srgbClr val="FF0000"/>
                </a:solidFill>
              </a:rPr>
              <a:t>操作，可能会唤醒进程。</a:t>
            </a:r>
          </a:p>
        </p:txBody>
      </p:sp>
      <p:sp>
        <p:nvSpPr>
          <p:cNvPr id="64514" name="标题 139266"/>
          <p:cNvSpPr>
            <a:spLocks noGrp="1"/>
          </p:cNvSpPr>
          <p:nvPr>
            <p:ph type="title"/>
          </p:nvPr>
        </p:nvSpPr>
        <p:spPr>
          <a:ln/>
        </p:spPr>
        <p:txBody>
          <a:bodyPr vert="horz" wrap="square" lIns="91440" tIns="45720" rIns="91440" bIns="45720" anchor="ctr" anchorCtr="0"/>
          <a:lstStyle/>
          <a:p>
            <a:pPr eaLnBrk="1" hangingPunct="1"/>
            <a:r>
              <a:rPr lang="en-US" altLang="zh-CN" b="1" dirty="0"/>
              <a:t>4</a:t>
            </a:r>
            <a:r>
              <a:rPr lang="zh-CN" altLang="en-US" b="1" dirty="0"/>
              <a:t>．打瞌睡的理发师问题</a:t>
            </a:r>
            <a:br>
              <a:rPr lang="zh-CN" altLang="en-US" b="1" dirty="0"/>
            </a:br>
            <a:endParaRPr lang="zh-CN" altLang="en-US" b="1"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40289"/>
          <p:cNvSpPr>
            <a:spLocks noGrp="1"/>
          </p:cNvSpPr>
          <p:nvPr>
            <p:ph type="title"/>
          </p:nvPr>
        </p:nvSpPr>
        <p:spPr>
          <a:ln/>
        </p:spPr>
        <p:txBody>
          <a:bodyPr vert="horz" wrap="square" lIns="91440" tIns="45720" rIns="91440" bIns="45720" anchor="b" anchorCtr="0"/>
          <a:lstStyle/>
          <a:p>
            <a:pPr eaLnBrk="1" hangingPunct="1"/>
            <a:r>
              <a:rPr lang="en-US" altLang="zh-CN" b="1" dirty="0">
                <a:solidFill>
                  <a:schemeClr val="tx1"/>
                </a:solidFill>
              </a:rPr>
              <a:t>4</a:t>
            </a:r>
            <a:r>
              <a:rPr lang="zh-CN" altLang="en-US" b="1" dirty="0">
                <a:solidFill>
                  <a:schemeClr val="tx1"/>
                </a:solidFill>
              </a:rPr>
              <a:t>．打瞌睡的理发师问题</a:t>
            </a:r>
            <a:br>
              <a:rPr lang="zh-CN" altLang="en-US" b="1" dirty="0">
                <a:solidFill>
                  <a:schemeClr val="tx1"/>
                </a:solidFill>
              </a:rPr>
            </a:br>
            <a:endParaRPr lang="zh-CN" altLang="en-US" b="1" dirty="0">
              <a:solidFill>
                <a:schemeClr val="tx1"/>
              </a:solidFill>
            </a:endParaRPr>
          </a:p>
        </p:txBody>
      </p:sp>
      <p:sp>
        <p:nvSpPr>
          <p:cNvPr id="65538" name="文本占位符 140290"/>
          <p:cNvSpPr>
            <a:spLocks noGrp="1"/>
          </p:cNvSpPr>
          <p:nvPr>
            <p:ph idx="1"/>
          </p:nvPr>
        </p:nvSpPr>
        <p:spPr>
          <a:xfrm>
            <a:off x="755650" y="1052513"/>
            <a:ext cx="7921625" cy="5805487"/>
          </a:xfrm>
          <a:ln/>
        </p:spPr>
        <p:txBody>
          <a:bodyPr vert="horz" wrap="square" lIns="91440" tIns="45720" rIns="91440" bIns="45720" anchor="t" anchorCtr="0"/>
          <a:lstStyle/>
          <a:p>
            <a:pPr eaLnBrk="1" hangingPunct="1">
              <a:lnSpc>
                <a:spcPct val="80000"/>
              </a:lnSpc>
              <a:buNone/>
            </a:pPr>
            <a:r>
              <a:rPr lang="en-US" altLang="zh-CN" sz="1400" dirty="0"/>
              <a:t> </a:t>
            </a:r>
            <a:r>
              <a:rPr lang="en-US" altLang="zh-CN" sz="2400" dirty="0"/>
              <a:t>void customer(void)</a:t>
            </a:r>
          </a:p>
          <a:p>
            <a:pPr eaLnBrk="1" hangingPunct="1">
              <a:lnSpc>
                <a:spcPct val="80000"/>
              </a:lnSpc>
              <a:buNone/>
            </a:pPr>
            <a:r>
              <a:rPr lang="en-US" altLang="zh-CN" sz="2400" dirty="0"/>
              <a:t>{</a:t>
            </a:r>
          </a:p>
          <a:p>
            <a:pPr eaLnBrk="1" hangingPunct="1">
              <a:lnSpc>
                <a:spcPct val="80000"/>
              </a:lnSpc>
              <a:buNone/>
            </a:pPr>
            <a:r>
              <a:rPr lang="en-US" altLang="zh-CN" sz="2400" dirty="0"/>
              <a:t>        P(mutex);  /*</a:t>
            </a:r>
            <a:r>
              <a:rPr lang="zh-CN" altLang="en-US" sz="2400" dirty="0"/>
              <a:t>互斥进入临界区</a:t>
            </a:r>
            <a:r>
              <a:rPr lang="en-US" altLang="zh-CN" sz="2400" dirty="0"/>
              <a:t>*/</a:t>
            </a:r>
          </a:p>
          <a:p>
            <a:pPr eaLnBrk="1" hangingPunct="1">
              <a:lnSpc>
                <a:spcPct val="80000"/>
              </a:lnSpc>
              <a:buNone/>
            </a:pPr>
            <a:r>
              <a:rPr lang="en-US" altLang="zh-CN" sz="2400" dirty="0"/>
              <a:t>        if(waiting</a:t>
            </a:r>
            <a:r>
              <a:rPr lang="zh-CN" altLang="en-US" sz="2400" dirty="0"/>
              <a:t>﹤</a:t>
            </a:r>
            <a:r>
              <a:rPr lang="en-US" altLang="zh-CN" sz="2400" dirty="0"/>
              <a:t>CHAIRS){</a:t>
            </a:r>
          </a:p>
          <a:p>
            <a:pPr eaLnBrk="1" hangingPunct="1">
              <a:lnSpc>
                <a:spcPct val="80000"/>
              </a:lnSpc>
              <a:buNone/>
            </a:pPr>
            <a:r>
              <a:rPr lang="en-US" altLang="zh-CN" sz="2400" dirty="0"/>
              <a:t>              waiting++;</a:t>
            </a:r>
          </a:p>
          <a:p>
            <a:pPr eaLnBrk="1" hangingPunct="1">
              <a:lnSpc>
                <a:spcPct val="80000"/>
              </a:lnSpc>
              <a:buNone/>
            </a:pPr>
            <a:r>
              <a:rPr lang="en-US" altLang="zh-CN" sz="2400" dirty="0"/>
              <a:t>              V(customers); /*</a:t>
            </a:r>
            <a:r>
              <a:rPr lang="zh-CN" altLang="en-US" sz="2400" dirty="0"/>
              <a:t>若有必要，可能唤醒理发师</a:t>
            </a:r>
            <a:r>
              <a:rPr lang="en-US" altLang="zh-CN" sz="2400" dirty="0"/>
              <a:t>*/</a:t>
            </a:r>
          </a:p>
          <a:p>
            <a:pPr eaLnBrk="1" hangingPunct="1">
              <a:lnSpc>
                <a:spcPct val="80000"/>
              </a:lnSpc>
              <a:buNone/>
            </a:pPr>
            <a:r>
              <a:rPr lang="en-US" altLang="zh-CN" sz="2400" dirty="0"/>
              <a:t>              V(mutex);  /*</a:t>
            </a:r>
            <a:r>
              <a:rPr lang="zh-CN" altLang="en-US" sz="2400" dirty="0"/>
              <a:t>退出临界区</a:t>
            </a:r>
            <a:r>
              <a:rPr lang="en-US" altLang="zh-CN" sz="2400" dirty="0"/>
              <a:t>*/</a:t>
            </a:r>
          </a:p>
          <a:p>
            <a:pPr eaLnBrk="1" hangingPunct="1">
              <a:lnSpc>
                <a:spcPct val="80000"/>
              </a:lnSpc>
              <a:buNone/>
            </a:pPr>
            <a:r>
              <a:rPr lang="en-US" altLang="zh-CN" sz="2400" dirty="0"/>
              <a:t>              P(barbers);  /*</a:t>
            </a:r>
            <a:r>
              <a:rPr lang="zh-CN" altLang="en-US" sz="2400" dirty="0"/>
              <a:t>申请测试如果理发师正忙着，则        顾客打瞌睡</a:t>
            </a:r>
            <a:r>
              <a:rPr lang="en-US" altLang="zh-CN" sz="2400" dirty="0"/>
              <a:t>*/</a:t>
            </a:r>
          </a:p>
          <a:p>
            <a:pPr eaLnBrk="1" hangingPunct="1">
              <a:lnSpc>
                <a:spcPct val="80000"/>
              </a:lnSpc>
              <a:buNone/>
            </a:pPr>
            <a:r>
              <a:rPr lang="en-US" altLang="zh-CN" sz="2400" dirty="0"/>
              <a:t>              get_haircut();</a:t>
            </a:r>
          </a:p>
          <a:p>
            <a:pPr eaLnBrk="1" hangingPunct="1">
              <a:lnSpc>
                <a:spcPct val="80000"/>
              </a:lnSpc>
              <a:buNone/>
            </a:pPr>
            <a:r>
              <a:rPr lang="en-US" altLang="zh-CN" sz="2400" dirty="0"/>
              <a:t>        }else</a:t>
            </a:r>
          </a:p>
          <a:p>
            <a:pPr eaLnBrk="1" hangingPunct="1">
              <a:lnSpc>
                <a:spcPct val="80000"/>
              </a:lnSpc>
              <a:buNone/>
            </a:pPr>
            <a:r>
              <a:rPr lang="en-US" altLang="zh-CN" sz="2400" dirty="0"/>
              <a:t>              V(mutex);         	   /*</a:t>
            </a:r>
            <a:r>
              <a:rPr lang="zh-CN" altLang="en-US" sz="2400" dirty="0"/>
              <a:t>店里人满了，不等了</a:t>
            </a:r>
            <a:r>
              <a:rPr lang="en-US" altLang="zh-CN" sz="2400" dirty="0"/>
              <a:t>*/</a:t>
            </a:r>
          </a:p>
          <a:p>
            <a:pPr eaLnBrk="1" hangingPunct="1">
              <a:lnSpc>
                <a:spcPct val="80000"/>
              </a:lnSpc>
              <a:buNone/>
            </a:pPr>
            <a:r>
              <a:rPr lang="en-US" altLang="zh-CN" sz="2400" dirty="0"/>
              <a:t>}</a:t>
            </a:r>
          </a:p>
          <a:p>
            <a:pPr eaLnBrk="1" hangingPunct="1">
              <a:lnSpc>
                <a:spcPct val="80000"/>
              </a:lnSpc>
              <a:buNone/>
            </a:pPr>
            <a:r>
              <a:rPr lang="zh-CN" altLang="en-US" sz="2400" dirty="0">
                <a:solidFill>
                  <a:srgbClr val="FF0000"/>
                </a:solidFill>
              </a:rPr>
              <a:t>思考：</a:t>
            </a:r>
            <a:r>
              <a:rPr lang="en-US" altLang="zh-CN" sz="2400" dirty="0">
                <a:solidFill>
                  <a:srgbClr val="FF0000"/>
                </a:solidFill>
              </a:rPr>
              <a:t>customers</a:t>
            </a:r>
            <a:r>
              <a:rPr lang="zh-CN" altLang="en-US" sz="2400" dirty="0">
                <a:solidFill>
                  <a:srgbClr val="FF0000"/>
                </a:solidFill>
              </a:rPr>
              <a:t>、</a:t>
            </a:r>
            <a:r>
              <a:rPr lang="en-US" altLang="zh-CN" sz="2400" dirty="0">
                <a:solidFill>
                  <a:srgbClr val="FF0000"/>
                </a:solidFill>
              </a:rPr>
              <a:t>barbers</a:t>
            </a:r>
            <a:r>
              <a:rPr lang="zh-CN" altLang="en-US" sz="2400" dirty="0">
                <a:solidFill>
                  <a:srgbClr val="FF0000"/>
                </a:solidFill>
              </a:rPr>
              <a:t>取值各什么范围。</a:t>
            </a:r>
          </a:p>
          <a:p>
            <a:pPr eaLnBrk="1" hangingPunct="1">
              <a:lnSpc>
                <a:spcPct val="80000"/>
              </a:lnSpc>
              <a:buNone/>
            </a:pPr>
            <a:r>
              <a:rPr lang="zh-CN" altLang="en-US" sz="2400" dirty="0">
                <a:solidFill>
                  <a:srgbClr val="FF0000"/>
                </a:solidFill>
              </a:rPr>
              <a:t>          进程</a:t>
            </a:r>
            <a:r>
              <a:rPr lang="zh-CN" altLang="en-US" sz="2400" b="1" dirty="0">
                <a:solidFill>
                  <a:srgbClr val="FF0000"/>
                </a:solidFill>
              </a:rPr>
              <a:t>交叉</a:t>
            </a:r>
            <a:r>
              <a:rPr lang="zh-CN" altLang="en-US" sz="2400" dirty="0">
                <a:solidFill>
                  <a:srgbClr val="FF0000"/>
                </a:solidFill>
              </a:rPr>
              <a:t>执行分析。</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41313"/>
          <p:cNvSpPr>
            <a:spLocks noGrp="1"/>
          </p:cNvSpPr>
          <p:nvPr>
            <p:ph type="title"/>
          </p:nvPr>
        </p:nvSpPr>
        <p:spPr>
          <a:ln/>
        </p:spPr>
        <p:txBody>
          <a:bodyPr vert="horz" wrap="square" lIns="91440" tIns="45720" rIns="91440" bIns="45720" anchor="b" anchorCtr="0"/>
          <a:lstStyle/>
          <a:p>
            <a:pPr eaLnBrk="1" hangingPunct="1"/>
            <a:r>
              <a:rPr lang="zh-CN" altLang="en-US" dirty="0">
                <a:solidFill>
                  <a:srgbClr val="FF0000"/>
                </a:solidFill>
              </a:rPr>
              <a:t>取值各什么范围。</a:t>
            </a:r>
          </a:p>
        </p:txBody>
      </p:sp>
      <p:sp>
        <p:nvSpPr>
          <p:cNvPr id="66562" name="文本占位符 141314"/>
          <p:cNvSpPr>
            <a:spLocks noGrp="1"/>
          </p:cNvSpPr>
          <p:nvPr>
            <p:ph idx="1"/>
          </p:nvPr>
        </p:nvSpPr>
        <p:spPr>
          <a:ln/>
        </p:spPr>
        <p:txBody>
          <a:bodyPr vert="horz" wrap="square" lIns="91440" tIns="45720" rIns="91440" bIns="45720" anchor="t" anchorCtr="0"/>
          <a:lstStyle/>
          <a:p>
            <a:pPr eaLnBrk="1" hangingPunct="1"/>
            <a:r>
              <a:rPr lang="en-US" altLang="zh-CN" dirty="0">
                <a:solidFill>
                  <a:srgbClr val="FF0000"/>
                </a:solidFill>
              </a:rPr>
              <a:t>customers=</a:t>
            </a:r>
            <a:r>
              <a:rPr lang="zh-CN" altLang="en-US" dirty="0">
                <a:solidFill>
                  <a:srgbClr val="FF0000"/>
                </a:solidFill>
              </a:rPr>
              <a:t>【</a:t>
            </a:r>
            <a:r>
              <a:rPr lang="en-US" altLang="zh-CN" dirty="0">
                <a:solidFill>
                  <a:srgbClr val="FF0000"/>
                </a:solidFill>
              </a:rPr>
              <a:t>-1</a:t>
            </a:r>
            <a:r>
              <a:rPr lang="zh-CN" altLang="en-US" dirty="0">
                <a:solidFill>
                  <a:srgbClr val="FF0000"/>
                </a:solidFill>
              </a:rPr>
              <a:t>，</a:t>
            </a:r>
            <a:r>
              <a:rPr lang="en-US" altLang="zh-CN" dirty="0">
                <a:solidFill>
                  <a:srgbClr val="FF0000"/>
                </a:solidFill>
              </a:rPr>
              <a:t>5</a:t>
            </a:r>
            <a:r>
              <a:rPr lang="zh-CN" altLang="en-US" dirty="0">
                <a:solidFill>
                  <a:srgbClr val="FF0000"/>
                </a:solidFill>
              </a:rPr>
              <a:t>】</a:t>
            </a:r>
          </a:p>
          <a:p>
            <a:pPr eaLnBrk="1" hangingPunct="1"/>
            <a:r>
              <a:rPr lang="en-US" altLang="zh-CN" dirty="0">
                <a:solidFill>
                  <a:srgbClr val="FF0000"/>
                </a:solidFill>
              </a:rPr>
              <a:t>barbers=</a:t>
            </a:r>
            <a:r>
              <a:rPr lang="zh-CN" altLang="en-US" dirty="0">
                <a:solidFill>
                  <a:srgbClr val="FF0000"/>
                </a:solidFill>
              </a:rPr>
              <a:t>【</a:t>
            </a:r>
            <a:r>
              <a:rPr lang="en-US" altLang="zh-CN" dirty="0">
                <a:solidFill>
                  <a:srgbClr val="FF0000"/>
                </a:solidFill>
              </a:rPr>
              <a:t>-5</a:t>
            </a:r>
            <a:r>
              <a:rPr lang="zh-CN" altLang="en-US" dirty="0">
                <a:solidFill>
                  <a:srgbClr val="FF0000"/>
                </a:solidFill>
              </a:rPr>
              <a:t>，</a:t>
            </a:r>
            <a:r>
              <a:rPr lang="en-US" altLang="zh-CN" dirty="0">
                <a:solidFill>
                  <a:srgbClr val="FF0000"/>
                </a:solidFill>
              </a:rPr>
              <a:t>1</a:t>
            </a:r>
            <a:r>
              <a:rPr lang="zh-CN" altLang="en-US" dirty="0">
                <a:solidFill>
                  <a:srgbClr val="FF0000"/>
                </a:solidFill>
              </a:rPr>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191" y="858441"/>
          <a:ext cx="1191" cy="1191"/>
        </p:xfrm>
        <a:graphic>
          <a:graphicData uri="http://schemas.openxmlformats.org/presentationml/2006/ole">
            <mc:AlternateContent xmlns:mc="http://schemas.openxmlformats.org/markup-compatibility/2006">
              <mc:Choice xmlns:v="urn:schemas-microsoft-com:vml" Requires="v">
                <p:oleObj name="think-cell Slide" r:id="rId4" imgW="9525" imgH="9525" progId="TCLayout.ActiveDocument.1">
                  <p:embed/>
                </p:oleObj>
              </mc:Choice>
              <mc:Fallback>
                <p:oleObj name="think-cell Slide" r:id="rId4" imgW="9525" imgH="9525" progId="TCLayout.ActiveDocument.1">
                  <p:embed/>
                  <p:pic>
                    <p:nvPicPr>
                      <p:cNvPr id="3" name="对象 2" hidden="1"/>
                      <p:cNvPicPr/>
                      <p:nvPr/>
                    </p:nvPicPr>
                    <p:blipFill>
                      <a:blip r:embed="rId5"/>
                      <a:stretch>
                        <a:fillRect/>
                      </a:stretch>
                    </p:blipFill>
                    <p:spPr>
                      <a:xfrm>
                        <a:off x="1191" y="858441"/>
                        <a:ext cx="1191" cy="1191"/>
                      </a:xfrm>
                      <a:prstGeom prst="rect">
                        <a:avLst/>
                      </a:prstGeom>
                    </p:spPr>
                  </p:pic>
                </p:oleObj>
              </mc:Fallback>
            </mc:AlternateContent>
          </a:graphicData>
        </a:graphic>
      </p:graphicFrame>
      <p:sp>
        <p:nvSpPr>
          <p:cNvPr id="2" name="矩形 1" hidden="1"/>
          <p:cNvSpPr/>
          <p:nvPr>
            <p:custDataLst>
              <p:tags r:id="rId2"/>
            </p:custDataLst>
          </p:nvPr>
        </p:nvSpPr>
        <p:spPr>
          <a:xfrm>
            <a:off x="0" y="857250"/>
            <a:ext cx="119063" cy="119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3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502444" y="1846841"/>
            <a:ext cx="8137922" cy="2352675"/>
          </a:xfrm>
        </p:spPr>
        <p:txBody>
          <a:bodyPr>
            <a:normAutofit/>
          </a:bodyPr>
          <a:lstStyle/>
          <a:p>
            <a:r>
              <a:rPr lang="zh-CN" altLang="en-US" sz="3600" dirty="0"/>
              <a:t>第</a:t>
            </a:r>
            <a:r>
              <a:rPr lang="en-US" altLang="zh-CN" sz="3600" dirty="0"/>
              <a:t>4</a:t>
            </a:r>
            <a:r>
              <a:rPr lang="zh-CN" altLang="en-US" sz="3600" dirty="0"/>
              <a:t>章 进程同步</a:t>
            </a:r>
            <a:endParaRPr lang="zh-CN" altLang="en-US" sz="1500" dirty="0"/>
          </a:p>
        </p:txBody>
      </p:sp>
      <p:sp>
        <p:nvSpPr>
          <p:cNvPr id="29" name="任意多边形: 形状 28"/>
          <p:cNvSpPr/>
          <p:nvPr/>
        </p:nvSpPr>
        <p:spPr>
          <a:xfrm>
            <a:off x="8226219" y="1344035"/>
            <a:ext cx="414147" cy="2922156"/>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5" name="图片 2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458389" y="1223962"/>
            <a:ext cx="473870" cy="473870"/>
          </a:xfrm>
          <a:prstGeom prst="rect">
            <a:avLst/>
          </a:prstGeom>
        </p:spPr>
      </p:pic>
      <p:sp>
        <p:nvSpPr>
          <p:cNvPr id="11" name="矩形 10"/>
          <p:cNvSpPr/>
          <p:nvPr/>
        </p:nvSpPr>
        <p:spPr>
          <a:xfrm>
            <a:off x="906771" y="1299314"/>
            <a:ext cx="3575018" cy="346249"/>
          </a:xfrm>
          <a:prstGeom prst="rect">
            <a:avLst/>
          </a:prstGeom>
        </p:spPr>
        <p:txBody>
          <a:bodyPr wrap="none">
            <a:spAutoFit/>
          </a:bodyPr>
          <a:lstStyle/>
          <a:p>
            <a:pPr algn="ctr"/>
            <a:r>
              <a:rPr lang="zh-CN" altLang="en-US" sz="1650" dirty="0">
                <a:solidFill>
                  <a:schemeClr val="bg1"/>
                </a:solidFill>
                <a:sym typeface="+mn-ea"/>
              </a:rPr>
              <a:t>经典教材《计算机操作系统》</a:t>
            </a:r>
            <a:r>
              <a:rPr lang="zh-CN" altLang="en-US" sz="1650" b="1" dirty="0">
                <a:solidFill>
                  <a:schemeClr val="accent2"/>
                </a:solidFill>
                <a:sym typeface="+mn-ea"/>
              </a:rPr>
              <a:t>最新版</a:t>
            </a:r>
            <a:endParaRPr lang="zh-CN" altLang="en-US" sz="1650" b="1" dirty="0">
              <a:solidFill>
                <a:schemeClr val="accent2"/>
              </a:solidFill>
            </a:endParaRPr>
          </a:p>
        </p:txBody>
      </p:sp>
      <p:pic>
        <p:nvPicPr>
          <p:cNvPr id="12" name="图片 11"/>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7263091" y="5352040"/>
            <a:ext cx="1555868" cy="323849"/>
          </a:xfrm>
          <a:prstGeom prst="rect">
            <a:avLst/>
          </a:prstGeom>
        </p:spPr>
      </p:pic>
      <p:pic>
        <p:nvPicPr>
          <p:cNvPr id="14" name="图片 13"/>
          <p:cNvPicPr>
            <a:picLocks noChangeAspect="1"/>
          </p:cNvPicPr>
          <p:nvPr/>
        </p:nvPicPr>
        <p:blipFill>
          <a:blip r:embed="rId8"/>
          <a:stretch>
            <a:fillRect/>
          </a:stretch>
        </p:blipFill>
        <p:spPr>
          <a:xfrm>
            <a:off x="5291325" y="1490844"/>
            <a:ext cx="2255322" cy="3196156"/>
          </a:xfrm>
          <a:prstGeom prst="rect">
            <a:avLst/>
          </a:prstGeom>
        </p:spPr>
      </p:pic>
    </p:spTree>
    <p:extLst>
      <p:ext uri="{BB962C8B-B14F-4D97-AF65-F5344CB8AC3E}">
        <p14:creationId xmlns:p14="http://schemas.microsoft.com/office/powerpoint/2010/main" val="26380940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矩形 19"/>
          <p:cNvSpPr/>
          <p:nvPr/>
        </p:nvSpPr>
        <p:spPr>
          <a:xfrm>
            <a:off x="578644" y="1050622"/>
            <a:ext cx="1981633" cy="415498"/>
          </a:xfrm>
          <a:prstGeom prst="rect">
            <a:avLst/>
          </a:prstGeom>
        </p:spPr>
        <p:txBody>
          <a:bodyPr wrap="none">
            <a:spAutoFit/>
          </a:bodyPr>
          <a:lstStyle/>
          <a:p>
            <a:r>
              <a:rPr lang="zh-CN" altLang="en-US" sz="2100" b="1" dirty="0">
                <a:solidFill>
                  <a:schemeClr val="bg1"/>
                </a:solidFill>
              </a:rPr>
              <a:t>第</a:t>
            </a:r>
            <a:r>
              <a:rPr lang="en-US" altLang="zh-CN" sz="2100" b="1" dirty="0">
                <a:solidFill>
                  <a:schemeClr val="bg1"/>
                </a:solidFill>
              </a:rPr>
              <a:t>4</a:t>
            </a:r>
            <a:r>
              <a:rPr lang="zh-CN" altLang="en-US" sz="2100" b="1" dirty="0">
                <a:solidFill>
                  <a:schemeClr val="bg1"/>
                </a:solidFill>
              </a:rPr>
              <a:t>章知识导图</a:t>
            </a:r>
          </a:p>
        </p:txBody>
      </p:sp>
      <p:sp>
        <p:nvSpPr>
          <p:cNvPr id="8" name="任意多边形: 形状 7"/>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sz="1800">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graphicFrame>
        <p:nvGraphicFramePr>
          <p:cNvPr id="11" name="表格 10"/>
          <p:cNvGraphicFramePr/>
          <p:nvPr>
            <p:custDataLst>
              <p:tags r:id="rId1"/>
            </p:custDataLst>
          </p:nvPr>
        </p:nvGraphicFramePr>
        <p:xfrm>
          <a:off x="248127" y="2210753"/>
          <a:ext cx="2630329" cy="2876074"/>
        </p:xfrm>
        <a:graphic>
          <a:graphicData uri="http://schemas.openxmlformats.org/drawingml/2006/table">
            <a:tbl>
              <a:tblPr firstRow="1" bandRow="1">
                <a:tableStyleId>{72833802-FEF1-4C79-8D5D-14CF1EAF98D9}</a:tableStyleId>
              </a:tblPr>
              <a:tblGrid>
                <a:gridCol w="886778">
                  <a:extLst>
                    <a:ext uri="{9D8B030D-6E8A-4147-A177-3AD203B41FA5}">
                      <a16:colId xmlns:a16="http://schemas.microsoft.com/office/drawing/2014/main" val="20000"/>
                    </a:ext>
                  </a:extLst>
                </a:gridCol>
                <a:gridCol w="1743551">
                  <a:extLst>
                    <a:ext uri="{9D8B030D-6E8A-4147-A177-3AD203B41FA5}">
                      <a16:colId xmlns:a16="http://schemas.microsoft.com/office/drawing/2014/main" val="20001"/>
                    </a:ext>
                  </a:extLst>
                </a:gridCol>
              </a:tblGrid>
              <a:tr h="391954">
                <a:tc>
                  <a:txBody>
                    <a:bodyPr/>
                    <a:lstStyle/>
                    <a:p>
                      <a:pPr indent="0" algn="ctr">
                        <a:lnSpc>
                          <a:spcPct val="100000"/>
                        </a:lnSpc>
                        <a:buNone/>
                      </a:pPr>
                      <a:r>
                        <a:rPr lang="en-US" sz="1500" b="0" kern="1200" dirty="0">
                          <a:solidFill>
                            <a:schemeClr val="tx1"/>
                          </a:solidFill>
                          <a:latin typeface="+mn-ea"/>
                          <a:ea typeface="+mn-ea"/>
                          <a:cs typeface="+mn-cs"/>
                        </a:rPr>
                        <a:t>第1章</a:t>
                      </a:r>
                      <a:endParaRPr lang="en-US" altLang="en-US" sz="1500" b="0" kern="1200" dirty="0">
                        <a:solidFill>
                          <a:schemeClr val="tx1"/>
                        </a:solidFill>
                        <a:latin typeface="+mn-ea"/>
                        <a:ea typeface="+mn-ea"/>
                        <a:cs typeface="+mn-cs"/>
                      </a:endParaRPr>
                    </a:p>
                  </a:txBody>
                  <a:tcPr marL="38576" marR="38576" marT="0" marB="0" anchor="ctr">
                    <a:solidFill>
                      <a:schemeClr val="bg1"/>
                    </a:solidFill>
                  </a:tcPr>
                </a:tc>
                <a:tc>
                  <a:txBody>
                    <a:bodyPr/>
                    <a:lstStyle/>
                    <a:p>
                      <a:pPr indent="0" algn="l">
                        <a:lnSpc>
                          <a:spcPct val="100000"/>
                        </a:lnSpc>
                        <a:buNone/>
                      </a:pPr>
                      <a:r>
                        <a:rPr lang="en-US" sz="1500" b="0" kern="1200" dirty="0" err="1">
                          <a:solidFill>
                            <a:schemeClr val="tx1"/>
                          </a:solidFill>
                          <a:latin typeface="+mn-ea"/>
                          <a:ea typeface="+mn-ea"/>
                          <a:cs typeface="+mn-cs"/>
                        </a:rPr>
                        <a:t>操作系统引论</a:t>
                      </a:r>
                      <a:endParaRPr lang="en-US" altLang="en-US" sz="1500" b="0" kern="1200" dirty="0" err="1">
                        <a:solidFill>
                          <a:schemeClr val="tx1"/>
                        </a:solidFill>
                        <a:latin typeface="+mn-ea"/>
                        <a:ea typeface="+mn-ea"/>
                        <a:cs typeface="+mn-cs"/>
                      </a:endParaRPr>
                    </a:p>
                  </a:txBody>
                  <a:tcPr marL="38576" marR="38576" marT="0" marB="0" anchor="ctr">
                    <a:solidFill>
                      <a:schemeClr val="bg1"/>
                    </a:solidFill>
                  </a:tcPr>
                </a:tc>
                <a:extLst>
                  <a:ext uri="{0D108BD9-81ED-4DB2-BD59-A6C34878D82A}">
                    <a16:rowId xmlns:a16="http://schemas.microsoft.com/office/drawing/2014/main" val="10000"/>
                  </a:ext>
                </a:extLst>
              </a:tr>
              <a:tr h="310991">
                <a:tc>
                  <a:txBody>
                    <a:bodyPr/>
                    <a:lstStyle/>
                    <a:p>
                      <a:pPr indent="0" algn="ctr">
                        <a:lnSpc>
                          <a:spcPct val="100000"/>
                        </a:lnSpc>
                        <a:buNone/>
                      </a:pPr>
                      <a:r>
                        <a:rPr lang="en-US" sz="1500" b="0" kern="1200" dirty="0">
                          <a:solidFill>
                            <a:schemeClr val="tx1"/>
                          </a:solidFill>
                          <a:latin typeface="+mn-ea"/>
                          <a:ea typeface="+mn-ea"/>
                          <a:cs typeface="+mn-cs"/>
                        </a:rPr>
                        <a:t>第2章</a:t>
                      </a:r>
                      <a:endParaRPr lang="en-US" altLang="en-US" sz="1500" b="0" kern="1200" dirty="0">
                        <a:solidFill>
                          <a:schemeClr val="tx1"/>
                        </a:solidFill>
                        <a:latin typeface="+mn-ea"/>
                        <a:ea typeface="+mn-ea"/>
                        <a:cs typeface="+mn-cs"/>
                      </a:endParaRPr>
                    </a:p>
                  </a:txBody>
                  <a:tcPr marL="38576" marR="38576" marT="0" marB="0" anchor="ctr">
                    <a:noFill/>
                  </a:tcPr>
                </a:tc>
                <a:tc>
                  <a:txBody>
                    <a:bodyPr/>
                    <a:lstStyle/>
                    <a:p>
                      <a:pPr indent="0" algn="l">
                        <a:lnSpc>
                          <a:spcPct val="100000"/>
                        </a:lnSpc>
                        <a:buNone/>
                      </a:pPr>
                      <a:r>
                        <a:rPr lang="en-US" sz="1500" b="0" kern="1200" dirty="0" err="1">
                          <a:solidFill>
                            <a:schemeClr val="tx1"/>
                          </a:solidFill>
                          <a:latin typeface="+mn-ea"/>
                          <a:ea typeface="+mn-ea"/>
                          <a:cs typeface="+mn-cs"/>
                        </a:rPr>
                        <a:t>进程的描述与控制</a:t>
                      </a:r>
                      <a:endParaRPr lang="en-US" altLang="en-US" sz="1500" b="0" kern="1200" dirty="0" err="1">
                        <a:solidFill>
                          <a:schemeClr val="tx1"/>
                        </a:solidFill>
                        <a:latin typeface="+mn-ea"/>
                        <a:ea typeface="+mn-ea"/>
                        <a:cs typeface="+mn-cs"/>
                      </a:endParaRPr>
                    </a:p>
                  </a:txBody>
                  <a:tcPr marL="38576" marR="38576" marT="0" marB="0" anchor="ctr">
                    <a:noFill/>
                  </a:tcPr>
                </a:tc>
                <a:extLst>
                  <a:ext uri="{0D108BD9-81ED-4DB2-BD59-A6C34878D82A}">
                    <a16:rowId xmlns:a16="http://schemas.microsoft.com/office/drawing/2014/main" val="10001"/>
                  </a:ext>
                </a:extLst>
              </a:tr>
              <a:tr h="310515">
                <a:tc>
                  <a:txBody>
                    <a:bodyPr/>
                    <a:lstStyle/>
                    <a:p>
                      <a:pPr indent="0" algn="ctr">
                        <a:lnSpc>
                          <a:spcPct val="100000"/>
                        </a:lnSpc>
                        <a:buNone/>
                      </a:pPr>
                      <a:r>
                        <a:rPr lang="en-US" sz="1500">
                          <a:latin typeface="+mn-ea"/>
                          <a:ea typeface="+mn-ea"/>
                        </a:rPr>
                        <a:t>第3章</a:t>
                      </a:r>
                      <a:endParaRPr lang="en-US" altLang="en-US" sz="1500" b="0">
                        <a:solidFill>
                          <a:srgbClr val="000000"/>
                        </a:solidFill>
                        <a:latin typeface="+mn-ea"/>
                        <a:ea typeface="+mn-ea"/>
                        <a:cs typeface="华文楷体" panose="02010600040101010101" charset="-122"/>
                      </a:endParaRPr>
                    </a:p>
                  </a:txBody>
                  <a:tcPr marL="38576" marR="38576" marT="0" marB="0" anchor="ctr"/>
                </a:tc>
                <a:tc>
                  <a:txBody>
                    <a:bodyPr/>
                    <a:lstStyle/>
                    <a:p>
                      <a:pPr indent="0" algn="l">
                        <a:lnSpc>
                          <a:spcPct val="100000"/>
                        </a:lnSpc>
                        <a:buNone/>
                      </a:pPr>
                      <a:r>
                        <a:rPr lang="en-US" sz="1500" dirty="0" err="1">
                          <a:latin typeface="+mn-ea"/>
                          <a:ea typeface="+mn-ea"/>
                        </a:rPr>
                        <a:t>处理机调度与死锁</a:t>
                      </a:r>
                      <a:endParaRPr lang="en-US" altLang="en-US" sz="1500" b="0" dirty="0" err="1">
                        <a:solidFill>
                          <a:srgbClr val="000000"/>
                        </a:solidFill>
                        <a:latin typeface="+mn-ea"/>
                        <a:ea typeface="+mn-ea"/>
                        <a:cs typeface="华文楷体" panose="02010600040101010101" charset="-122"/>
                      </a:endParaRPr>
                    </a:p>
                  </a:txBody>
                  <a:tcPr marL="38576" marR="38576" marT="0" marB="0" anchor="ctr"/>
                </a:tc>
                <a:extLst>
                  <a:ext uri="{0D108BD9-81ED-4DB2-BD59-A6C34878D82A}">
                    <a16:rowId xmlns:a16="http://schemas.microsoft.com/office/drawing/2014/main" val="10002"/>
                  </a:ext>
                </a:extLst>
              </a:tr>
              <a:tr h="310039">
                <a:tc>
                  <a:txBody>
                    <a:bodyPr/>
                    <a:lstStyle/>
                    <a:p>
                      <a:pPr indent="0" algn="ctr">
                        <a:lnSpc>
                          <a:spcPct val="100000"/>
                        </a:lnSpc>
                        <a:buNone/>
                      </a:pPr>
                      <a:r>
                        <a:rPr lang="en-US" sz="1500" b="1" dirty="0">
                          <a:solidFill>
                            <a:schemeClr val="bg1"/>
                          </a:solidFill>
                          <a:latin typeface="+mn-ea"/>
                          <a:ea typeface="+mn-ea"/>
                        </a:rPr>
                        <a:t>第4章</a:t>
                      </a:r>
                      <a:endParaRPr lang="en-US" altLang="en-US" sz="1500" b="1" dirty="0">
                        <a:solidFill>
                          <a:schemeClr val="bg1"/>
                        </a:solidFill>
                        <a:latin typeface="+mn-ea"/>
                        <a:ea typeface="+mn-ea"/>
                        <a:cs typeface="华文楷体" panose="02010600040101010101" charset="-122"/>
                      </a:endParaRPr>
                    </a:p>
                  </a:txBody>
                  <a:tcPr marL="38576" marR="38576" marT="0" marB="0" anchor="ctr">
                    <a:solidFill>
                      <a:schemeClr val="accent2"/>
                    </a:solidFill>
                  </a:tcPr>
                </a:tc>
                <a:tc>
                  <a:txBody>
                    <a:bodyPr/>
                    <a:lstStyle/>
                    <a:p>
                      <a:pPr indent="0" algn="l">
                        <a:lnSpc>
                          <a:spcPct val="100000"/>
                        </a:lnSpc>
                        <a:buNone/>
                      </a:pPr>
                      <a:r>
                        <a:rPr lang="en-US" sz="1500" b="1" dirty="0" err="1">
                          <a:solidFill>
                            <a:schemeClr val="bg1"/>
                          </a:solidFill>
                          <a:latin typeface="+mn-ea"/>
                          <a:ea typeface="+mn-ea"/>
                        </a:rPr>
                        <a:t>进程同步</a:t>
                      </a:r>
                      <a:endParaRPr lang="en-US" altLang="en-US" sz="1500" b="1" dirty="0" err="1">
                        <a:solidFill>
                          <a:schemeClr val="bg1"/>
                        </a:solidFill>
                        <a:latin typeface="+mn-ea"/>
                        <a:ea typeface="+mn-ea"/>
                        <a:cs typeface="华文楷体" panose="02010600040101010101" charset="-122"/>
                      </a:endParaRPr>
                    </a:p>
                  </a:txBody>
                  <a:tcPr marL="38576" marR="38576" marT="0" marB="0" anchor="ctr">
                    <a:solidFill>
                      <a:schemeClr val="accent2"/>
                    </a:solidFill>
                  </a:tcPr>
                </a:tc>
                <a:extLst>
                  <a:ext uri="{0D108BD9-81ED-4DB2-BD59-A6C34878D82A}">
                    <a16:rowId xmlns:a16="http://schemas.microsoft.com/office/drawing/2014/main" val="10003"/>
                  </a:ext>
                </a:extLst>
              </a:tr>
              <a:tr h="310515">
                <a:tc>
                  <a:txBody>
                    <a:bodyPr/>
                    <a:lstStyle/>
                    <a:p>
                      <a:pPr indent="0" algn="ctr">
                        <a:lnSpc>
                          <a:spcPct val="100000"/>
                        </a:lnSpc>
                        <a:buNone/>
                      </a:pPr>
                      <a:r>
                        <a:rPr lang="en-US" sz="1500">
                          <a:latin typeface="+mn-ea"/>
                          <a:ea typeface="+mn-ea"/>
                        </a:rPr>
                        <a:t>第5章</a:t>
                      </a:r>
                      <a:endParaRPr lang="en-US" altLang="en-US" sz="1500" b="0">
                        <a:solidFill>
                          <a:srgbClr val="000000"/>
                        </a:solidFill>
                        <a:latin typeface="+mn-ea"/>
                        <a:ea typeface="+mn-ea"/>
                        <a:cs typeface="华文楷体" panose="02010600040101010101" charset="-122"/>
                      </a:endParaRPr>
                    </a:p>
                  </a:txBody>
                  <a:tcPr marL="38576" marR="38576" marT="0" marB="0" anchor="ctr"/>
                </a:tc>
                <a:tc>
                  <a:txBody>
                    <a:bodyPr/>
                    <a:lstStyle/>
                    <a:p>
                      <a:pPr indent="0" algn="l">
                        <a:lnSpc>
                          <a:spcPct val="100000"/>
                        </a:lnSpc>
                        <a:buNone/>
                      </a:pPr>
                      <a:r>
                        <a:rPr lang="en-US" sz="1500">
                          <a:latin typeface="+mn-ea"/>
                          <a:ea typeface="+mn-ea"/>
                        </a:rPr>
                        <a:t>存储器管理</a:t>
                      </a:r>
                      <a:endParaRPr lang="en-US" altLang="en-US" sz="1500" b="0">
                        <a:solidFill>
                          <a:srgbClr val="000000"/>
                        </a:solidFill>
                        <a:latin typeface="+mn-ea"/>
                        <a:ea typeface="+mn-ea"/>
                        <a:cs typeface="华文楷体" panose="02010600040101010101" charset="-122"/>
                      </a:endParaRPr>
                    </a:p>
                  </a:txBody>
                  <a:tcPr marL="38576" marR="38576" marT="0" marB="0" anchor="ctr"/>
                </a:tc>
                <a:extLst>
                  <a:ext uri="{0D108BD9-81ED-4DB2-BD59-A6C34878D82A}">
                    <a16:rowId xmlns:a16="http://schemas.microsoft.com/office/drawing/2014/main" val="10004"/>
                  </a:ext>
                </a:extLst>
              </a:tr>
              <a:tr h="310515">
                <a:tc>
                  <a:txBody>
                    <a:bodyPr/>
                    <a:lstStyle/>
                    <a:p>
                      <a:pPr indent="0" algn="ctr">
                        <a:lnSpc>
                          <a:spcPct val="100000"/>
                        </a:lnSpc>
                        <a:buNone/>
                      </a:pPr>
                      <a:r>
                        <a:rPr lang="en-US" sz="1500">
                          <a:latin typeface="+mn-ea"/>
                          <a:ea typeface="+mn-ea"/>
                        </a:rPr>
                        <a:t>第6章</a:t>
                      </a:r>
                      <a:endParaRPr lang="en-US" altLang="en-US" sz="1500" b="0">
                        <a:solidFill>
                          <a:srgbClr val="000000"/>
                        </a:solidFill>
                        <a:latin typeface="+mn-ea"/>
                        <a:ea typeface="+mn-ea"/>
                        <a:cs typeface="华文楷体" panose="02010600040101010101" charset="-122"/>
                      </a:endParaRPr>
                    </a:p>
                  </a:txBody>
                  <a:tcPr marL="38576" marR="38576" marT="0" marB="0" anchor="ctr"/>
                </a:tc>
                <a:tc>
                  <a:txBody>
                    <a:bodyPr/>
                    <a:lstStyle/>
                    <a:p>
                      <a:pPr indent="0" algn="l">
                        <a:lnSpc>
                          <a:spcPct val="100000"/>
                        </a:lnSpc>
                        <a:buNone/>
                      </a:pPr>
                      <a:r>
                        <a:rPr lang="en-US" sz="1500" dirty="0" err="1">
                          <a:latin typeface="+mn-ea"/>
                          <a:ea typeface="+mn-ea"/>
                        </a:rPr>
                        <a:t>虚拟存储器</a:t>
                      </a:r>
                      <a:endParaRPr lang="en-US" altLang="en-US" sz="1500" b="0" dirty="0" err="1">
                        <a:solidFill>
                          <a:srgbClr val="000000"/>
                        </a:solidFill>
                        <a:latin typeface="+mn-ea"/>
                        <a:ea typeface="+mn-ea"/>
                        <a:cs typeface="华文楷体" panose="02010600040101010101" charset="-122"/>
                      </a:endParaRPr>
                    </a:p>
                  </a:txBody>
                  <a:tcPr marL="38576" marR="38576" marT="0" marB="0" anchor="ctr"/>
                </a:tc>
                <a:extLst>
                  <a:ext uri="{0D108BD9-81ED-4DB2-BD59-A6C34878D82A}">
                    <a16:rowId xmlns:a16="http://schemas.microsoft.com/office/drawing/2014/main" val="10005"/>
                  </a:ext>
                </a:extLst>
              </a:tr>
              <a:tr h="310991">
                <a:tc>
                  <a:txBody>
                    <a:bodyPr/>
                    <a:lstStyle/>
                    <a:p>
                      <a:pPr indent="0" algn="ctr">
                        <a:lnSpc>
                          <a:spcPct val="100000"/>
                        </a:lnSpc>
                        <a:buNone/>
                      </a:pPr>
                      <a:r>
                        <a:rPr lang="en-US" sz="1500">
                          <a:latin typeface="+mn-ea"/>
                          <a:ea typeface="+mn-ea"/>
                        </a:rPr>
                        <a:t>第7章</a:t>
                      </a:r>
                      <a:endParaRPr lang="en-US" altLang="en-US" sz="1500" b="0">
                        <a:solidFill>
                          <a:srgbClr val="000000"/>
                        </a:solidFill>
                        <a:latin typeface="+mn-ea"/>
                        <a:ea typeface="+mn-ea"/>
                        <a:cs typeface="华文楷体" panose="02010600040101010101" charset="-122"/>
                      </a:endParaRPr>
                    </a:p>
                  </a:txBody>
                  <a:tcPr marL="38576" marR="38576" marT="0" marB="0" anchor="ctr"/>
                </a:tc>
                <a:tc>
                  <a:txBody>
                    <a:bodyPr/>
                    <a:lstStyle/>
                    <a:p>
                      <a:pPr indent="0" algn="l">
                        <a:lnSpc>
                          <a:spcPct val="100000"/>
                        </a:lnSpc>
                        <a:buNone/>
                      </a:pPr>
                      <a:r>
                        <a:rPr lang="en-US" sz="1500">
                          <a:latin typeface="+mn-ea"/>
                          <a:ea typeface="+mn-ea"/>
                        </a:rPr>
                        <a:t>输入/输出系统</a:t>
                      </a:r>
                      <a:endParaRPr lang="en-US" altLang="en-US" sz="1500" b="0">
                        <a:solidFill>
                          <a:srgbClr val="000000"/>
                        </a:solidFill>
                        <a:latin typeface="+mn-ea"/>
                        <a:ea typeface="+mn-ea"/>
                        <a:cs typeface="华文楷体" panose="02010600040101010101" charset="-122"/>
                      </a:endParaRPr>
                    </a:p>
                  </a:txBody>
                  <a:tcPr marL="38576" marR="38576" marT="0" marB="0" anchor="ctr"/>
                </a:tc>
                <a:extLst>
                  <a:ext uri="{0D108BD9-81ED-4DB2-BD59-A6C34878D82A}">
                    <a16:rowId xmlns:a16="http://schemas.microsoft.com/office/drawing/2014/main" val="10006"/>
                  </a:ext>
                </a:extLst>
              </a:tr>
              <a:tr h="310039">
                <a:tc>
                  <a:txBody>
                    <a:bodyPr/>
                    <a:lstStyle/>
                    <a:p>
                      <a:pPr indent="0" algn="ctr">
                        <a:lnSpc>
                          <a:spcPct val="100000"/>
                        </a:lnSpc>
                        <a:buNone/>
                      </a:pPr>
                      <a:r>
                        <a:rPr lang="en-US" sz="1500">
                          <a:latin typeface="+mn-ea"/>
                          <a:ea typeface="+mn-ea"/>
                        </a:rPr>
                        <a:t>第8章</a:t>
                      </a:r>
                      <a:endParaRPr lang="en-US" altLang="en-US" sz="1500" b="0">
                        <a:solidFill>
                          <a:srgbClr val="000000"/>
                        </a:solidFill>
                        <a:latin typeface="+mn-ea"/>
                        <a:ea typeface="+mn-ea"/>
                        <a:cs typeface="华文楷体" panose="02010600040101010101" charset="-122"/>
                      </a:endParaRPr>
                    </a:p>
                  </a:txBody>
                  <a:tcPr marL="38576" marR="38576" marT="0" marB="0" anchor="ctr"/>
                </a:tc>
                <a:tc>
                  <a:txBody>
                    <a:bodyPr/>
                    <a:lstStyle/>
                    <a:p>
                      <a:pPr indent="0" algn="l">
                        <a:lnSpc>
                          <a:spcPct val="100000"/>
                        </a:lnSpc>
                        <a:buNone/>
                      </a:pPr>
                      <a:r>
                        <a:rPr lang="en-US" sz="1500">
                          <a:latin typeface="+mn-ea"/>
                          <a:ea typeface="+mn-ea"/>
                        </a:rPr>
                        <a:t>文件管理</a:t>
                      </a:r>
                      <a:endParaRPr lang="en-US" altLang="en-US" sz="1500" b="0">
                        <a:solidFill>
                          <a:srgbClr val="000000"/>
                        </a:solidFill>
                        <a:latin typeface="+mn-ea"/>
                        <a:ea typeface="+mn-ea"/>
                        <a:cs typeface="华文楷体" panose="02010600040101010101" charset="-122"/>
                      </a:endParaRPr>
                    </a:p>
                  </a:txBody>
                  <a:tcPr marL="38576" marR="38576" marT="0" marB="0" anchor="ctr"/>
                </a:tc>
                <a:extLst>
                  <a:ext uri="{0D108BD9-81ED-4DB2-BD59-A6C34878D82A}">
                    <a16:rowId xmlns:a16="http://schemas.microsoft.com/office/drawing/2014/main" val="10007"/>
                  </a:ext>
                </a:extLst>
              </a:tr>
              <a:tr h="310515">
                <a:tc>
                  <a:txBody>
                    <a:bodyPr/>
                    <a:lstStyle/>
                    <a:p>
                      <a:pPr indent="0" algn="ctr">
                        <a:lnSpc>
                          <a:spcPct val="100000"/>
                        </a:lnSpc>
                        <a:buNone/>
                      </a:pPr>
                      <a:r>
                        <a:rPr lang="en-US" sz="1500">
                          <a:latin typeface="+mn-ea"/>
                          <a:ea typeface="+mn-ea"/>
                        </a:rPr>
                        <a:t>第9章</a:t>
                      </a:r>
                      <a:endParaRPr lang="en-US" altLang="en-US" sz="1500" b="0">
                        <a:solidFill>
                          <a:srgbClr val="000000"/>
                        </a:solidFill>
                        <a:latin typeface="+mn-ea"/>
                        <a:ea typeface="+mn-ea"/>
                        <a:cs typeface="华文楷体" panose="02010600040101010101" charset="-122"/>
                      </a:endParaRPr>
                    </a:p>
                  </a:txBody>
                  <a:tcPr marL="38576" marR="38576" marT="0" marB="0" anchor="ctr"/>
                </a:tc>
                <a:tc>
                  <a:txBody>
                    <a:bodyPr/>
                    <a:lstStyle/>
                    <a:p>
                      <a:pPr indent="0" algn="l">
                        <a:lnSpc>
                          <a:spcPct val="100000"/>
                        </a:lnSpc>
                        <a:buNone/>
                      </a:pPr>
                      <a:r>
                        <a:rPr lang="en-US" sz="1500">
                          <a:latin typeface="+mn-ea"/>
                          <a:ea typeface="+mn-ea"/>
                        </a:rPr>
                        <a:t>磁盘存储器管理</a:t>
                      </a:r>
                      <a:endParaRPr lang="en-US" altLang="en-US" sz="1500" b="0">
                        <a:solidFill>
                          <a:srgbClr val="000000"/>
                        </a:solidFill>
                        <a:latin typeface="+mn-ea"/>
                        <a:ea typeface="+mn-ea"/>
                        <a:cs typeface="华文楷体" panose="02010600040101010101" charset="-122"/>
                      </a:endParaRPr>
                    </a:p>
                  </a:txBody>
                  <a:tcPr marL="38576" marR="38576" marT="0" marB="0" anchor="ctr"/>
                </a:tc>
                <a:extLst>
                  <a:ext uri="{0D108BD9-81ED-4DB2-BD59-A6C34878D82A}">
                    <a16:rowId xmlns:a16="http://schemas.microsoft.com/office/drawing/2014/main" val="10008"/>
                  </a:ext>
                </a:extLst>
              </a:tr>
            </a:tbl>
          </a:graphicData>
        </a:graphic>
      </p:graphicFrame>
      <p:pic>
        <p:nvPicPr>
          <p:cNvPr id="2" name="图片 1" descr="第4章 知识导图"/>
          <p:cNvPicPr>
            <a:picLocks noChangeAspect="1"/>
          </p:cNvPicPr>
          <p:nvPr/>
        </p:nvPicPr>
        <p:blipFill>
          <a:blip r:embed="rId4"/>
          <a:stretch>
            <a:fillRect/>
          </a:stretch>
        </p:blipFill>
        <p:spPr>
          <a:xfrm>
            <a:off x="2929890" y="1560671"/>
            <a:ext cx="6131243" cy="3958590"/>
          </a:xfrm>
          <a:prstGeom prst="rect">
            <a:avLst/>
          </a:prstGeom>
        </p:spPr>
      </p:pic>
    </p:spTree>
    <p:extLst>
      <p:ext uri="{BB962C8B-B14F-4D97-AF65-F5344CB8AC3E}">
        <p14:creationId xmlns:p14="http://schemas.microsoft.com/office/powerpoint/2010/main" val="32283825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矩形 19"/>
          <p:cNvSpPr/>
          <p:nvPr/>
        </p:nvSpPr>
        <p:spPr>
          <a:xfrm>
            <a:off x="578644" y="1050622"/>
            <a:ext cx="1539204" cy="415498"/>
          </a:xfrm>
          <a:prstGeom prst="rect">
            <a:avLst/>
          </a:prstGeom>
        </p:spPr>
        <p:txBody>
          <a:bodyPr wrap="none">
            <a:spAutoFit/>
          </a:bodyPr>
          <a:lstStyle/>
          <a:p>
            <a:r>
              <a:rPr lang="zh-CN" altLang="en-US" sz="2100" b="1" dirty="0">
                <a:solidFill>
                  <a:schemeClr val="bg1"/>
                </a:solidFill>
              </a:rPr>
              <a:t>内容导航：</a:t>
            </a:r>
          </a:p>
        </p:txBody>
      </p:sp>
      <p:sp>
        <p:nvSpPr>
          <p:cNvPr id="3" name="矩形 2"/>
          <p:cNvSpPr/>
          <p:nvPr/>
        </p:nvSpPr>
        <p:spPr>
          <a:xfrm>
            <a:off x="6180941" y="2700908"/>
            <a:ext cx="2560316" cy="507831"/>
          </a:xfrm>
          <a:prstGeom prst="rect">
            <a:avLst/>
          </a:prstGeom>
        </p:spPr>
        <p:txBody>
          <a:bodyPr wrap="none">
            <a:spAutoFit/>
          </a:bodyPr>
          <a:lstStyle/>
          <a:p>
            <a:r>
              <a:rPr lang="zh-CN" altLang="en-US" sz="2700" dirty="0">
                <a:solidFill>
                  <a:srgbClr val="000000"/>
                </a:solidFill>
                <a:sym typeface="+mn-ea"/>
              </a:rPr>
              <a:t>第</a:t>
            </a:r>
            <a:r>
              <a:rPr lang="en-US" altLang="zh-CN" sz="2700" dirty="0">
                <a:solidFill>
                  <a:srgbClr val="000000"/>
                </a:solidFill>
                <a:sym typeface="+mn-ea"/>
              </a:rPr>
              <a:t>4</a:t>
            </a:r>
            <a:r>
              <a:rPr lang="zh-CN" altLang="en-US" sz="2700" dirty="0">
                <a:solidFill>
                  <a:srgbClr val="000000"/>
                </a:solidFill>
                <a:sym typeface="+mn-ea"/>
              </a:rPr>
              <a:t>章 进程同步</a:t>
            </a:r>
            <a:endParaRPr lang="zh-CN" altLang="en-US" sz="2700" dirty="0">
              <a:solidFill>
                <a:srgbClr val="000000"/>
              </a:solidFill>
            </a:endParaRPr>
          </a:p>
        </p:txBody>
      </p:sp>
      <p:cxnSp>
        <p:nvCxnSpPr>
          <p:cNvPr id="5" name="直接连接符 4"/>
          <p:cNvCxnSpPr/>
          <p:nvPr/>
        </p:nvCxnSpPr>
        <p:spPr>
          <a:xfrm>
            <a:off x="5669925" y="3250103"/>
            <a:ext cx="2990417"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145" y="5638531"/>
            <a:ext cx="9151145" cy="3622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6" name="任意多边形: 形状 25"/>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sz="1800">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116811"/>
            <a:ext cx="395288" cy="395288"/>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555666"/>
            <a:ext cx="395288" cy="395288"/>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047268"/>
            <a:ext cx="395288" cy="395288"/>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511123"/>
            <a:ext cx="395288" cy="395288"/>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980683"/>
            <a:ext cx="395288" cy="395288"/>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458967"/>
            <a:ext cx="395288" cy="395288"/>
          </a:xfrm>
          <a:prstGeom prst="rect">
            <a:avLst/>
          </a:prstGeom>
          <a:ln>
            <a:noFill/>
          </a:ln>
          <a:effectLst>
            <a:softEdge rad="0"/>
          </a:effectLst>
        </p:spPr>
      </p:pic>
      <p:sp>
        <p:nvSpPr>
          <p:cNvPr id="33" name="矩形 32"/>
          <p:cNvSpPr/>
          <p:nvPr/>
        </p:nvSpPr>
        <p:spPr>
          <a:xfrm>
            <a:off x="1273253" y="2158852"/>
            <a:ext cx="2616725" cy="369332"/>
          </a:xfrm>
          <a:prstGeom prst="rect">
            <a:avLst/>
          </a:prstGeom>
        </p:spPr>
        <p:txBody>
          <a:bodyPr wrap="square">
            <a:spAutoFit/>
          </a:bodyPr>
          <a:lstStyle/>
          <a:p>
            <a:r>
              <a:rPr lang="en-US" altLang="zh-CN" sz="1800" dirty="0">
                <a:solidFill>
                  <a:srgbClr val="0000FF"/>
                </a:solidFill>
                <a:latin typeface="+mj-ea"/>
                <a:ea typeface="+mj-ea"/>
              </a:rPr>
              <a:t>4.1 </a:t>
            </a:r>
            <a:r>
              <a:rPr lang="zh-CN" altLang="en-US" sz="1800" dirty="0">
                <a:solidFill>
                  <a:srgbClr val="0000FF"/>
                </a:solidFill>
                <a:latin typeface="+mj-ea"/>
                <a:ea typeface="+mj-ea"/>
              </a:rPr>
              <a:t>进程同步的概念</a:t>
            </a:r>
          </a:p>
        </p:txBody>
      </p:sp>
      <p:sp>
        <p:nvSpPr>
          <p:cNvPr id="34" name="矩形 33"/>
          <p:cNvSpPr/>
          <p:nvPr/>
        </p:nvSpPr>
        <p:spPr>
          <a:xfrm>
            <a:off x="1273253" y="2623196"/>
            <a:ext cx="2761613" cy="369332"/>
          </a:xfrm>
          <a:prstGeom prst="rect">
            <a:avLst/>
          </a:prstGeom>
        </p:spPr>
        <p:txBody>
          <a:bodyPr wrap="square">
            <a:spAutoFit/>
          </a:bodyPr>
          <a:lstStyle/>
          <a:p>
            <a:r>
              <a:rPr lang="en-US" altLang="zh-CN" sz="1800" dirty="0">
                <a:latin typeface="+mj-ea"/>
              </a:rPr>
              <a:t>4.2 </a:t>
            </a:r>
            <a:r>
              <a:rPr lang="zh-CN" altLang="en-US" sz="1800" dirty="0">
                <a:latin typeface="+mj-ea"/>
              </a:rPr>
              <a:t>软件同步机制</a:t>
            </a:r>
          </a:p>
        </p:txBody>
      </p:sp>
      <p:sp>
        <p:nvSpPr>
          <p:cNvPr id="35" name="矩形 34"/>
          <p:cNvSpPr/>
          <p:nvPr/>
        </p:nvSpPr>
        <p:spPr>
          <a:xfrm>
            <a:off x="1273253" y="3087539"/>
            <a:ext cx="2616725" cy="369332"/>
          </a:xfrm>
          <a:prstGeom prst="rect">
            <a:avLst/>
          </a:prstGeom>
        </p:spPr>
        <p:txBody>
          <a:bodyPr wrap="square">
            <a:spAutoFit/>
          </a:bodyPr>
          <a:lstStyle/>
          <a:p>
            <a:r>
              <a:rPr lang="en-US" altLang="zh-CN" sz="1800" dirty="0">
                <a:latin typeface="+mj-ea"/>
              </a:rPr>
              <a:t>4.3 </a:t>
            </a:r>
            <a:r>
              <a:rPr lang="zh-CN" altLang="en-US" sz="1800" dirty="0">
                <a:latin typeface="+mj-ea"/>
              </a:rPr>
              <a:t>硬件同步机制</a:t>
            </a:r>
          </a:p>
        </p:txBody>
      </p:sp>
      <p:sp>
        <p:nvSpPr>
          <p:cNvPr id="36" name="矩形 35"/>
          <p:cNvSpPr/>
          <p:nvPr/>
        </p:nvSpPr>
        <p:spPr>
          <a:xfrm>
            <a:off x="1273253" y="3551883"/>
            <a:ext cx="2616725" cy="369332"/>
          </a:xfrm>
          <a:prstGeom prst="rect">
            <a:avLst/>
          </a:prstGeom>
        </p:spPr>
        <p:txBody>
          <a:bodyPr wrap="square">
            <a:spAutoFit/>
          </a:bodyPr>
          <a:lstStyle/>
          <a:p>
            <a:r>
              <a:rPr lang="en-US" altLang="zh-CN" sz="1800" dirty="0">
                <a:latin typeface="+mj-ea"/>
              </a:rPr>
              <a:t>4.4 </a:t>
            </a:r>
            <a:r>
              <a:rPr lang="zh-CN" altLang="en-US" sz="1800" dirty="0">
                <a:latin typeface="+mj-ea"/>
              </a:rPr>
              <a:t>信号量机制</a:t>
            </a:r>
          </a:p>
        </p:txBody>
      </p:sp>
      <p:sp>
        <p:nvSpPr>
          <p:cNvPr id="37" name="矩形 36"/>
          <p:cNvSpPr/>
          <p:nvPr/>
        </p:nvSpPr>
        <p:spPr>
          <a:xfrm>
            <a:off x="1273253" y="4016227"/>
            <a:ext cx="2525359" cy="369332"/>
          </a:xfrm>
          <a:prstGeom prst="rect">
            <a:avLst/>
          </a:prstGeom>
        </p:spPr>
        <p:txBody>
          <a:bodyPr wrap="square">
            <a:spAutoFit/>
          </a:bodyPr>
          <a:lstStyle/>
          <a:p>
            <a:r>
              <a:rPr lang="en-US" altLang="zh-CN" sz="1800" dirty="0">
                <a:latin typeface="+mj-ea"/>
              </a:rPr>
              <a:t>4.5 </a:t>
            </a:r>
            <a:r>
              <a:rPr lang="zh-CN" altLang="en-US" sz="1800" dirty="0">
                <a:latin typeface="+mj-ea"/>
              </a:rPr>
              <a:t>管程机制</a:t>
            </a:r>
          </a:p>
        </p:txBody>
      </p:sp>
      <p:sp>
        <p:nvSpPr>
          <p:cNvPr id="38" name="矩形 37"/>
          <p:cNvSpPr/>
          <p:nvPr/>
        </p:nvSpPr>
        <p:spPr>
          <a:xfrm>
            <a:off x="1273253" y="4480571"/>
            <a:ext cx="2761613" cy="369332"/>
          </a:xfrm>
          <a:prstGeom prst="rect">
            <a:avLst/>
          </a:prstGeom>
        </p:spPr>
        <p:txBody>
          <a:bodyPr wrap="square">
            <a:spAutoFit/>
          </a:bodyPr>
          <a:lstStyle/>
          <a:p>
            <a:r>
              <a:rPr lang="en-US" altLang="zh-CN" sz="1800" dirty="0">
                <a:latin typeface="+mj-ea"/>
              </a:rPr>
              <a:t>4.6 </a:t>
            </a:r>
            <a:r>
              <a:rPr lang="zh-CN" altLang="en-US" sz="1800" dirty="0">
                <a:latin typeface="+mj-ea"/>
              </a:rPr>
              <a:t>经典进程的同步问题</a:t>
            </a:r>
          </a:p>
        </p:txBody>
      </p:sp>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913797"/>
            <a:ext cx="395288" cy="395288"/>
          </a:xfrm>
          <a:prstGeom prst="rect">
            <a:avLst/>
          </a:prstGeom>
          <a:ln>
            <a:noFill/>
          </a:ln>
          <a:effectLst>
            <a:softEdge rad="0"/>
          </a:effectLst>
        </p:spPr>
      </p:pic>
      <p:sp>
        <p:nvSpPr>
          <p:cNvPr id="24" name="矩形 23"/>
          <p:cNvSpPr/>
          <p:nvPr/>
        </p:nvSpPr>
        <p:spPr>
          <a:xfrm>
            <a:off x="1273253" y="4935400"/>
            <a:ext cx="2761613" cy="369332"/>
          </a:xfrm>
          <a:prstGeom prst="rect">
            <a:avLst/>
          </a:prstGeom>
        </p:spPr>
        <p:txBody>
          <a:bodyPr wrap="square">
            <a:spAutoFit/>
          </a:bodyPr>
          <a:lstStyle/>
          <a:p>
            <a:r>
              <a:rPr lang="en-US" altLang="zh-CN" sz="1800" dirty="0">
                <a:latin typeface="+mj-ea"/>
              </a:rPr>
              <a:t>4.7 Linux</a:t>
            </a:r>
            <a:r>
              <a:rPr lang="zh-CN" altLang="en-US" sz="1800" dirty="0">
                <a:latin typeface="+mj-ea"/>
              </a:rPr>
              <a:t>进程同步机制</a:t>
            </a:r>
          </a:p>
        </p:txBody>
      </p:sp>
    </p:spTree>
    <p:extLst>
      <p:ext uri="{BB962C8B-B14F-4D97-AF65-F5344CB8AC3E}">
        <p14:creationId xmlns:p14="http://schemas.microsoft.com/office/powerpoint/2010/main" val="361590465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进程同步的概念</a:t>
            </a: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50808" y="1912553"/>
            <a:ext cx="395288" cy="395288"/>
          </a:xfrm>
          <a:prstGeom prst="rect">
            <a:avLst/>
          </a:prstGeom>
          <a:ln>
            <a:noFill/>
          </a:ln>
          <a:effectLst>
            <a:softEdge rad="0"/>
          </a:effectLst>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50808" y="3105220"/>
            <a:ext cx="395288" cy="395288"/>
          </a:xfrm>
          <a:prstGeom prst="rect">
            <a:avLst/>
          </a:prstGeom>
          <a:ln>
            <a:noFill/>
          </a:ln>
          <a:effectLst>
            <a:softEdge rad="0"/>
          </a:effectLst>
        </p:spPr>
      </p:pic>
      <p:sp>
        <p:nvSpPr>
          <p:cNvPr id="10" name="文本框 9"/>
          <p:cNvSpPr txBox="1"/>
          <p:nvPr/>
        </p:nvSpPr>
        <p:spPr>
          <a:xfrm>
            <a:off x="1018140" y="1839903"/>
            <a:ext cx="7713736" cy="3469668"/>
          </a:xfrm>
          <a:prstGeom prst="rect">
            <a:avLst/>
          </a:prstGeom>
          <a:noFill/>
        </p:spPr>
        <p:txBody>
          <a:bodyPr wrap="square" rtlCol="0">
            <a:spAutoFit/>
          </a:bodyPr>
          <a:lstStyle/>
          <a:p>
            <a:pPr>
              <a:lnSpc>
                <a:spcPct val="150000"/>
              </a:lnSpc>
            </a:pPr>
            <a:r>
              <a:rPr lang="zh-CN" altLang="en-US" sz="1800" dirty="0">
                <a:latin typeface="+mn-ea"/>
              </a:rPr>
              <a:t>主要任务</a:t>
            </a:r>
            <a:endParaRPr lang="en-US" altLang="zh-CN" sz="1800" dirty="0"/>
          </a:p>
          <a:p>
            <a:pPr marL="257175" indent="-257175" algn="just">
              <a:lnSpc>
                <a:spcPct val="150000"/>
              </a:lnSpc>
              <a:spcAft>
                <a:spcPts val="450"/>
              </a:spcAft>
              <a:buClr>
                <a:srgbClr val="FF0000"/>
              </a:buClr>
              <a:buFont typeface="Wingdings" panose="05000000000000000000" pitchFamily="2" charset="2"/>
              <a:buChar char="Ø"/>
            </a:pPr>
            <a:r>
              <a:rPr lang="zh-CN" altLang="en-US" sz="1650" dirty="0">
                <a:latin typeface="+mn-ea"/>
              </a:rPr>
              <a:t>使并发执行的诸进程之间，能</a:t>
            </a:r>
            <a:r>
              <a:rPr lang="zh-CN" altLang="en-US" sz="1650" dirty="0">
                <a:solidFill>
                  <a:srgbClr val="FF0000"/>
                </a:solidFill>
                <a:latin typeface="+mn-ea"/>
              </a:rPr>
              <a:t>按照一定的规则（或时序）</a:t>
            </a:r>
            <a:r>
              <a:rPr lang="zh-CN" altLang="en-US" sz="1650" dirty="0">
                <a:latin typeface="+mn-ea"/>
              </a:rPr>
              <a:t>共享系统资源，相互合作，从而</a:t>
            </a:r>
            <a:r>
              <a:rPr lang="zh-CN" altLang="en-US" sz="1650" dirty="0">
                <a:solidFill>
                  <a:srgbClr val="FF0000"/>
                </a:solidFill>
                <a:latin typeface="+mn-ea"/>
              </a:rPr>
              <a:t>使程序的执行具有</a:t>
            </a:r>
            <a:r>
              <a:rPr lang="zh-CN" altLang="en-US" sz="1650" b="1" dirty="0">
                <a:solidFill>
                  <a:srgbClr val="FF0000"/>
                </a:solidFill>
                <a:latin typeface="+mn-ea"/>
              </a:rPr>
              <a:t>可再现性</a:t>
            </a:r>
            <a:r>
              <a:rPr lang="zh-CN" altLang="en-US" sz="1650" dirty="0">
                <a:latin typeface="+mn-ea"/>
              </a:rPr>
              <a:t>。</a:t>
            </a:r>
          </a:p>
          <a:p>
            <a:pPr algn="just">
              <a:lnSpc>
                <a:spcPct val="150000"/>
              </a:lnSpc>
              <a:spcAft>
                <a:spcPts val="450"/>
              </a:spcAft>
            </a:pPr>
            <a:r>
              <a:rPr lang="zh-CN" altLang="en-US" sz="1800" dirty="0">
                <a:latin typeface="+mn-ea"/>
              </a:rPr>
              <a:t>进程间的</a:t>
            </a:r>
            <a:r>
              <a:rPr lang="zh-CN" altLang="en-US" sz="1800" dirty="0">
                <a:solidFill>
                  <a:srgbClr val="FF0000"/>
                </a:solidFill>
                <a:latin typeface="+mn-ea"/>
              </a:rPr>
              <a:t>制约</a:t>
            </a:r>
            <a:r>
              <a:rPr lang="zh-CN" altLang="en-US" sz="1800" dirty="0">
                <a:latin typeface="+mn-ea"/>
              </a:rPr>
              <a:t>关系</a:t>
            </a:r>
          </a:p>
          <a:p>
            <a:pPr marL="257175" indent="-257175">
              <a:lnSpc>
                <a:spcPct val="150000"/>
              </a:lnSpc>
              <a:spcAft>
                <a:spcPts val="450"/>
              </a:spcAft>
              <a:buClr>
                <a:srgbClr val="FF0000"/>
              </a:buClr>
              <a:buFont typeface="Wingdings" panose="05000000000000000000" pitchFamily="2" charset="2"/>
              <a:buChar char="Ø"/>
            </a:pPr>
            <a:r>
              <a:rPr lang="zh-CN" altLang="en-US" sz="1650" dirty="0">
                <a:latin typeface="+mn-ea"/>
              </a:rPr>
              <a:t>间接相互制约关系</a:t>
            </a:r>
            <a:r>
              <a:rPr lang="en-US" altLang="zh-CN" sz="1650" dirty="0">
                <a:latin typeface="+mn-ea"/>
              </a:rPr>
              <a:t>(</a:t>
            </a:r>
            <a:r>
              <a:rPr lang="zh-CN" altLang="en-US" sz="1650" dirty="0">
                <a:solidFill>
                  <a:srgbClr val="0000FF"/>
                </a:solidFill>
                <a:latin typeface="+mn-ea"/>
              </a:rPr>
              <a:t>互斥</a:t>
            </a:r>
            <a:r>
              <a:rPr lang="zh-CN" altLang="en-US" sz="1650" dirty="0">
                <a:latin typeface="+mn-ea"/>
              </a:rPr>
              <a:t>关系</a:t>
            </a:r>
            <a:r>
              <a:rPr lang="en-US" altLang="zh-CN" sz="1650" dirty="0">
                <a:latin typeface="+mn-ea"/>
              </a:rPr>
              <a:t>)</a:t>
            </a:r>
          </a:p>
          <a:p>
            <a:pPr marL="600075" lvl="1" indent="-257175">
              <a:lnSpc>
                <a:spcPct val="150000"/>
              </a:lnSpc>
              <a:spcAft>
                <a:spcPts val="450"/>
              </a:spcAft>
              <a:buClr>
                <a:srgbClr val="FF0000"/>
              </a:buClr>
              <a:buFont typeface="Arial" panose="020B0604020202020204" pitchFamily="34" charset="0"/>
              <a:buChar char="•"/>
            </a:pPr>
            <a:r>
              <a:rPr lang="zh-CN" altLang="en-US" sz="1650" dirty="0">
                <a:latin typeface="+mn-ea"/>
              </a:rPr>
              <a:t>进程互斥使用临界资源</a:t>
            </a:r>
          </a:p>
          <a:p>
            <a:pPr marL="257175" indent="-257175">
              <a:lnSpc>
                <a:spcPct val="150000"/>
              </a:lnSpc>
              <a:spcAft>
                <a:spcPts val="450"/>
              </a:spcAft>
              <a:buClr>
                <a:srgbClr val="FF0000"/>
              </a:buClr>
              <a:buFont typeface="Wingdings" panose="05000000000000000000" pitchFamily="2" charset="2"/>
              <a:buChar char="Ø"/>
            </a:pPr>
            <a:r>
              <a:rPr lang="zh-CN" altLang="en-US" sz="1650" dirty="0">
                <a:latin typeface="+mn-ea"/>
              </a:rPr>
              <a:t>直接相互制约关系（</a:t>
            </a:r>
            <a:r>
              <a:rPr lang="zh-CN" altLang="en-US" sz="1650" dirty="0">
                <a:solidFill>
                  <a:srgbClr val="0000FF"/>
                </a:solidFill>
                <a:latin typeface="+mn-ea"/>
              </a:rPr>
              <a:t>同步</a:t>
            </a:r>
            <a:r>
              <a:rPr lang="zh-CN" altLang="en-US" sz="1650" dirty="0">
                <a:latin typeface="+mn-ea"/>
              </a:rPr>
              <a:t>关系）</a:t>
            </a:r>
          </a:p>
          <a:p>
            <a:pPr marL="600075" lvl="1" indent="-257175">
              <a:lnSpc>
                <a:spcPct val="150000"/>
              </a:lnSpc>
              <a:spcAft>
                <a:spcPts val="450"/>
              </a:spcAft>
              <a:buClr>
                <a:srgbClr val="FF0000"/>
              </a:buClr>
              <a:buFont typeface="Arial" panose="020B0604020202020204" pitchFamily="34" charset="0"/>
              <a:buChar char="•"/>
            </a:pPr>
            <a:r>
              <a:rPr lang="zh-CN" altLang="en-US" sz="1650" dirty="0">
                <a:latin typeface="+mn-ea"/>
              </a:rPr>
              <a:t>进程间相互合作</a:t>
            </a:r>
          </a:p>
        </p:txBody>
      </p:sp>
      <p:pic>
        <p:nvPicPr>
          <p:cNvPr id="31" name="图片 3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4626972" y="3069650"/>
            <a:ext cx="395288" cy="395288"/>
          </a:xfrm>
          <a:prstGeom prst="rect">
            <a:avLst/>
          </a:prstGeom>
          <a:ln>
            <a:noFill/>
          </a:ln>
          <a:effectLst>
            <a:softEdge rad="0"/>
          </a:effectLst>
        </p:spPr>
      </p:pic>
      <p:sp>
        <p:nvSpPr>
          <p:cNvPr id="32" name="文本框 31"/>
          <p:cNvSpPr txBox="1"/>
          <p:nvPr/>
        </p:nvSpPr>
        <p:spPr>
          <a:xfrm>
            <a:off x="5082064" y="3002280"/>
            <a:ext cx="3573780" cy="2416815"/>
          </a:xfrm>
          <a:prstGeom prst="rect">
            <a:avLst/>
          </a:prstGeom>
          <a:noFill/>
        </p:spPr>
        <p:txBody>
          <a:bodyPr wrap="square" rtlCol="0">
            <a:spAutoFit/>
          </a:bodyPr>
          <a:lstStyle/>
          <a:p>
            <a:pPr>
              <a:lnSpc>
                <a:spcPct val="150000"/>
              </a:lnSpc>
            </a:pPr>
            <a:r>
              <a:rPr lang="zh-CN" altLang="en-US" sz="1800" dirty="0">
                <a:solidFill>
                  <a:srgbClr val="FF0000"/>
                </a:solidFill>
                <a:latin typeface="+mn-ea"/>
              </a:rPr>
              <a:t>临界资源</a:t>
            </a:r>
          </a:p>
          <a:p>
            <a:pPr marL="257175" indent="-257175" algn="just">
              <a:lnSpc>
                <a:spcPct val="150000"/>
              </a:lnSpc>
              <a:spcAft>
                <a:spcPts val="450"/>
              </a:spcAft>
              <a:buClr>
                <a:srgbClr val="FF0000"/>
              </a:buClr>
              <a:buFont typeface="Wingdings" panose="05000000000000000000" pitchFamily="2" charset="2"/>
              <a:buChar char="Ø"/>
            </a:pPr>
            <a:r>
              <a:rPr lang="zh-CN" altLang="en-US" sz="1650" dirty="0">
                <a:latin typeface="+mn-ea"/>
              </a:rPr>
              <a:t>系统中某些资源一次只允许一个进程使用，称这样的资源为</a:t>
            </a:r>
            <a:r>
              <a:rPr lang="zh-CN" altLang="en-US" sz="1650" dirty="0">
                <a:solidFill>
                  <a:schemeClr val="accent4">
                    <a:lumMod val="60000"/>
                    <a:lumOff val="40000"/>
                  </a:schemeClr>
                </a:solidFill>
                <a:latin typeface="+mn-ea"/>
              </a:rPr>
              <a:t>临界资源</a:t>
            </a:r>
            <a:r>
              <a:rPr lang="zh-CN" altLang="en-US" sz="1650" dirty="0">
                <a:latin typeface="+mn-ea"/>
              </a:rPr>
              <a:t>或</a:t>
            </a:r>
            <a:r>
              <a:rPr lang="zh-CN" altLang="en-US" sz="1650" dirty="0">
                <a:solidFill>
                  <a:schemeClr val="accent4">
                    <a:lumMod val="60000"/>
                    <a:lumOff val="40000"/>
                  </a:schemeClr>
                </a:solidFill>
                <a:latin typeface="+mn-ea"/>
              </a:rPr>
              <a:t>互斥资源</a:t>
            </a:r>
            <a:r>
              <a:rPr lang="zh-CN" altLang="en-US" sz="1650" dirty="0">
                <a:latin typeface="+mn-ea"/>
              </a:rPr>
              <a:t>或</a:t>
            </a:r>
            <a:r>
              <a:rPr lang="zh-CN" altLang="en-US" sz="1650" dirty="0">
                <a:solidFill>
                  <a:schemeClr val="accent4">
                    <a:lumMod val="60000"/>
                    <a:lumOff val="40000"/>
                  </a:schemeClr>
                </a:solidFill>
                <a:latin typeface="+mn-ea"/>
              </a:rPr>
              <a:t>共享变量</a:t>
            </a:r>
            <a:r>
              <a:rPr lang="zh-CN" altLang="en-US" sz="1650" dirty="0">
                <a:latin typeface="+mn-ea"/>
              </a:rPr>
              <a:t>。</a:t>
            </a:r>
          </a:p>
          <a:p>
            <a:pPr marL="257175" indent="-257175" algn="just">
              <a:lnSpc>
                <a:spcPct val="150000"/>
              </a:lnSpc>
              <a:spcAft>
                <a:spcPts val="450"/>
              </a:spcAft>
              <a:buClr>
                <a:srgbClr val="FF0000"/>
              </a:buClr>
              <a:buFont typeface="Wingdings" panose="05000000000000000000" pitchFamily="2" charset="2"/>
              <a:buChar char="Ø"/>
            </a:pPr>
            <a:r>
              <a:rPr lang="zh-CN" altLang="en-US" sz="1650" dirty="0">
                <a:latin typeface="+mn-ea"/>
              </a:rPr>
              <a:t>进程间采取</a:t>
            </a:r>
            <a:r>
              <a:rPr lang="zh-CN" altLang="en-US" sz="1650" dirty="0">
                <a:solidFill>
                  <a:srgbClr val="FF0000"/>
                </a:solidFill>
                <a:latin typeface="+mn-ea"/>
              </a:rPr>
              <a:t>互斥</a:t>
            </a:r>
            <a:r>
              <a:rPr lang="zh-CN" altLang="en-US" sz="1650" dirty="0">
                <a:latin typeface="+mn-ea"/>
              </a:rPr>
              <a:t>方式，实现对这种资源的共享。</a:t>
            </a:r>
          </a:p>
        </p:txBody>
      </p:sp>
    </p:spTree>
    <p:extLst>
      <p:ext uri="{BB962C8B-B14F-4D97-AF65-F5344CB8AC3E}">
        <p14:creationId xmlns:p14="http://schemas.microsoft.com/office/powerpoint/2010/main" val="32515570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83969"/>
          <p:cNvSpPr>
            <a:spLocks noGrp="1"/>
          </p:cNvSpPr>
          <p:nvPr>
            <p:ph type="title"/>
          </p:nvPr>
        </p:nvSpPr>
        <p:spPr>
          <a:xfrm>
            <a:off x="1925241" y="1970485"/>
            <a:ext cx="5806678" cy="377428"/>
          </a:xfrm>
        </p:spPr>
        <p:txBody>
          <a:bodyPr vert="horz" wrap="square" lIns="68580" tIns="34290" rIns="68580" bIns="34290" anchor="b" anchorCtr="0">
            <a:normAutofit fontScale="90000"/>
          </a:bodyPr>
          <a:lstStyle/>
          <a:p>
            <a:pPr eaLnBrk="1" hangingPunct="1"/>
            <a:br>
              <a:rPr lang="en-US" altLang="zh-CN" sz="3000" dirty="0"/>
            </a:br>
            <a:br>
              <a:rPr lang="en-US" altLang="zh-CN" sz="3000" dirty="0"/>
            </a:br>
            <a:br>
              <a:rPr lang="en-US" altLang="zh-CN" sz="3000" dirty="0"/>
            </a:br>
            <a:r>
              <a:rPr lang="en-US" altLang="zh-CN" sz="3000" dirty="0"/>
              <a:t>2.5.1  </a:t>
            </a:r>
            <a:r>
              <a:rPr lang="zh-CN" altLang="en-US" sz="3000" dirty="0"/>
              <a:t>进程的同步与互斥</a:t>
            </a:r>
            <a:br>
              <a:rPr lang="zh-CN" altLang="en-US" sz="3000" dirty="0"/>
            </a:br>
            <a:endParaRPr lang="zh-CN" altLang="en-US" sz="3000" dirty="0"/>
          </a:p>
        </p:txBody>
      </p:sp>
      <p:sp>
        <p:nvSpPr>
          <p:cNvPr id="83971" name="内容占位符 83970"/>
          <p:cNvSpPr>
            <a:spLocks noGrp="1"/>
          </p:cNvSpPr>
          <p:nvPr>
            <p:ph idx="1"/>
          </p:nvPr>
        </p:nvSpPr>
        <p:spPr>
          <a:xfrm>
            <a:off x="827722" y="2240756"/>
            <a:ext cx="7514273" cy="3682365"/>
          </a:xfrm>
        </p:spPr>
        <p:txBody>
          <a:bodyPr vert="horz" wrap="square" lIns="68580" tIns="34290" rIns="68580" bIns="34290" anchor="t" anchorCtr="0">
            <a:normAutofit lnSpcReduction="10000"/>
          </a:bodyPr>
          <a:lstStyle/>
          <a:p>
            <a:pPr fontAlgn="auto">
              <a:lnSpc>
                <a:spcPct val="100000"/>
              </a:lnSpc>
              <a:buNone/>
            </a:pPr>
            <a:r>
              <a:rPr lang="en-US" altLang="zh-CN" sz="1800" b="1" dirty="0"/>
              <a:t>1</a:t>
            </a:r>
            <a:r>
              <a:rPr lang="zh-CN" altLang="en-US" sz="1800" b="1" dirty="0"/>
              <a:t>．</a:t>
            </a:r>
            <a:r>
              <a:rPr lang="zh-CN" altLang="en-US" sz="1800" b="1" dirty="0">
                <a:solidFill>
                  <a:schemeClr val="hlink"/>
                </a:solidFill>
              </a:rPr>
              <a:t>同步</a:t>
            </a:r>
            <a:r>
              <a:rPr lang="en-US" altLang="zh-CN" sz="1800" b="1" dirty="0">
                <a:solidFill>
                  <a:schemeClr val="hlink"/>
                </a:solidFill>
              </a:rPr>
              <a:t>--</a:t>
            </a:r>
            <a:r>
              <a:rPr lang="zh-CN" altLang="en-US" sz="1800" dirty="0"/>
              <a:t>同步进程通过</a:t>
            </a:r>
            <a:r>
              <a:rPr lang="zh-CN" altLang="en-US" sz="1800" dirty="0">
                <a:solidFill>
                  <a:srgbClr val="FF0000"/>
                </a:solidFill>
              </a:rPr>
              <a:t>共享资源</a:t>
            </a:r>
            <a:r>
              <a:rPr lang="zh-CN" altLang="en-US" sz="1800" dirty="0"/>
              <a:t>来协调活动，在执行时间的次序上有一定</a:t>
            </a:r>
            <a:r>
              <a:rPr lang="zh-CN" altLang="en-US" sz="1800" dirty="0">
                <a:solidFill>
                  <a:schemeClr val="hlink"/>
                </a:solidFill>
              </a:rPr>
              <a:t>约束</a:t>
            </a:r>
            <a:r>
              <a:rPr lang="zh-CN" altLang="en-US" sz="1800" dirty="0"/>
              <a:t>。在协调动作的情况下，多个进程可以</a:t>
            </a:r>
            <a:r>
              <a:rPr lang="zh-CN" altLang="en-US" sz="1800" dirty="0">
                <a:solidFill>
                  <a:srgbClr val="FF0000"/>
                </a:solidFill>
              </a:rPr>
              <a:t>共同完成一项任务</a:t>
            </a:r>
            <a:r>
              <a:rPr lang="zh-CN" altLang="en-US" sz="1800" dirty="0"/>
              <a:t>。</a:t>
            </a:r>
          </a:p>
          <a:p>
            <a:pPr fontAlgn="auto">
              <a:lnSpc>
                <a:spcPct val="100000"/>
              </a:lnSpc>
              <a:buNone/>
            </a:pPr>
            <a:r>
              <a:rPr lang="zh-CN" altLang="en-US" sz="1800" dirty="0"/>
              <a:t>         虽然彼此</a:t>
            </a:r>
            <a:r>
              <a:rPr lang="zh-CN" altLang="en-US" sz="1800" dirty="0">
                <a:solidFill>
                  <a:srgbClr val="FF0000"/>
                </a:solidFill>
              </a:rPr>
              <a:t>不直接知道</a:t>
            </a:r>
            <a:r>
              <a:rPr lang="zh-CN" altLang="en-US" sz="1800" dirty="0"/>
              <a:t>对方的名字，但</a:t>
            </a:r>
            <a:r>
              <a:rPr lang="zh-CN" altLang="en-US" sz="1800" dirty="0">
                <a:solidFill>
                  <a:srgbClr val="FF0000"/>
                </a:solidFill>
              </a:rPr>
              <a:t>知道对方</a:t>
            </a:r>
            <a:r>
              <a:rPr lang="zh-CN" altLang="en-US" sz="1800" dirty="0"/>
              <a:t>的存在和作用。</a:t>
            </a:r>
          </a:p>
          <a:p>
            <a:pPr fontAlgn="auto">
              <a:lnSpc>
                <a:spcPct val="100000"/>
              </a:lnSpc>
              <a:buNone/>
            </a:pPr>
            <a:endParaRPr lang="zh-CN" altLang="en-US" sz="1800" dirty="0"/>
          </a:p>
          <a:p>
            <a:pPr fontAlgn="auto">
              <a:lnSpc>
                <a:spcPct val="100000"/>
              </a:lnSpc>
              <a:buNone/>
            </a:pPr>
            <a:r>
              <a:rPr lang="en-US" altLang="zh-CN" sz="1800" b="1" dirty="0"/>
              <a:t>2</a:t>
            </a:r>
            <a:r>
              <a:rPr lang="zh-CN" altLang="en-US" sz="1800" b="1" dirty="0"/>
              <a:t>．</a:t>
            </a:r>
            <a:r>
              <a:rPr lang="zh-CN" altLang="en-US" sz="1800" b="1" dirty="0">
                <a:solidFill>
                  <a:schemeClr val="hlink"/>
                </a:solidFill>
              </a:rPr>
              <a:t>互斥</a:t>
            </a:r>
            <a:r>
              <a:rPr lang="en-US" altLang="zh-CN" sz="1800" b="1" dirty="0">
                <a:solidFill>
                  <a:schemeClr val="hlink"/>
                </a:solidFill>
              </a:rPr>
              <a:t>--</a:t>
            </a:r>
            <a:r>
              <a:rPr lang="zh-CN" altLang="en-US" sz="1800" dirty="0"/>
              <a:t>逻辑上这两个进程本来完全独立，</a:t>
            </a:r>
            <a:r>
              <a:rPr lang="zh-CN" altLang="en-US" sz="1800" dirty="0">
                <a:solidFill>
                  <a:srgbClr val="FF0000"/>
                </a:solidFill>
              </a:rPr>
              <a:t>不知对方的存在</a:t>
            </a:r>
            <a:r>
              <a:rPr lang="zh-CN" altLang="en-US" sz="1800" dirty="0"/>
              <a:t>，</a:t>
            </a:r>
            <a:r>
              <a:rPr lang="zh-CN" altLang="en-US" sz="1800" dirty="0">
                <a:solidFill>
                  <a:srgbClr val="FF0000"/>
                </a:solidFill>
              </a:rPr>
              <a:t>毫无关系</a:t>
            </a:r>
            <a:r>
              <a:rPr lang="zh-CN" altLang="en-US" sz="1800" dirty="0"/>
              <a:t>，只是由于</a:t>
            </a:r>
            <a:r>
              <a:rPr lang="zh-CN" altLang="en-US" sz="1800" dirty="0">
                <a:solidFill>
                  <a:srgbClr val="FF0000"/>
                </a:solidFill>
              </a:rPr>
              <a:t>竞争</a:t>
            </a:r>
            <a:r>
              <a:rPr lang="zh-CN" altLang="en-US" sz="1800" dirty="0"/>
              <a:t>同一个物理</a:t>
            </a:r>
            <a:r>
              <a:rPr lang="zh-CN" altLang="en-US" sz="1800" dirty="0">
                <a:solidFill>
                  <a:srgbClr val="FF0000"/>
                </a:solidFill>
              </a:rPr>
              <a:t>资源</a:t>
            </a:r>
            <a:r>
              <a:rPr lang="zh-CN" altLang="en-US" sz="1800" dirty="0"/>
              <a:t>而相互制约。</a:t>
            </a:r>
          </a:p>
          <a:p>
            <a:pPr fontAlgn="auto">
              <a:lnSpc>
                <a:spcPct val="100000"/>
              </a:lnSpc>
            </a:pPr>
            <a:r>
              <a:rPr lang="zh-CN" altLang="en-US" sz="1800" b="1" dirty="0">
                <a:solidFill>
                  <a:schemeClr val="tx2"/>
                </a:solidFill>
              </a:rPr>
              <a:t>     竞争条件</a:t>
            </a:r>
            <a:r>
              <a:rPr lang="zh-CN" altLang="en-US" sz="1800" dirty="0">
                <a:solidFill>
                  <a:schemeClr val="tx2"/>
                </a:solidFill>
              </a:rPr>
              <a:t>（</a:t>
            </a:r>
            <a:r>
              <a:rPr lang="en-US" altLang="zh-CN" sz="1800" dirty="0">
                <a:solidFill>
                  <a:schemeClr val="tx2"/>
                </a:solidFill>
              </a:rPr>
              <a:t>Race Condition</a:t>
            </a:r>
            <a:r>
              <a:rPr lang="zh-CN" altLang="en-US" sz="1800" dirty="0">
                <a:solidFill>
                  <a:schemeClr val="tx2"/>
                </a:solidFill>
              </a:rPr>
              <a:t>），即两个或多个进程同时访问和操纵相同的数据时，最后的执行结果取决于进程运行的</a:t>
            </a:r>
            <a:r>
              <a:rPr lang="zh-CN" altLang="en-US" sz="1800" dirty="0">
                <a:solidFill>
                  <a:srgbClr val="FF0000"/>
                </a:solidFill>
              </a:rPr>
              <a:t>精确时序</a:t>
            </a:r>
            <a:r>
              <a:rPr lang="zh-CN" altLang="en-US" sz="1800" dirty="0">
                <a:solidFill>
                  <a:schemeClr val="tx2"/>
                </a:solidFill>
              </a:rPr>
              <a:t>。</a:t>
            </a:r>
          </a:p>
          <a:p>
            <a:pPr fontAlgn="auto">
              <a:lnSpc>
                <a:spcPct val="100000"/>
              </a:lnSpc>
            </a:pPr>
            <a:endParaRPr lang="zh-CN" altLang="en-US" sz="1800" dirty="0">
              <a:solidFill>
                <a:schemeClr val="tx2"/>
              </a:solidFill>
            </a:endParaRPr>
          </a:p>
          <a:p>
            <a:pPr fontAlgn="auto">
              <a:lnSpc>
                <a:spcPct val="100000"/>
              </a:lnSpc>
              <a:buNone/>
            </a:pPr>
            <a:r>
              <a:rPr lang="en-US" altLang="zh-CN" sz="1800" b="1" dirty="0"/>
              <a:t>3.</a:t>
            </a:r>
            <a:r>
              <a:rPr lang="en-US" altLang="zh-CN" sz="1800" dirty="0"/>
              <a:t>  </a:t>
            </a:r>
            <a:r>
              <a:rPr lang="zh-CN" altLang="en-US" sz="1800" b="1" dirty="0">
                <a:solidFill>
                  <a:srgbClr val="FF0000"/>
                </a:solidFill>
              </a:rPr>
              <a:t>通信</a:t>
            </a:r>
            <a:r>
              <a:rPr lang="en-US" altLang="zh-CN" sz="1800" b="1" dirty="0">
                <a:solidFill>
                  <a:srgbClr val="FF0000"/>
                </a:solidFill>
              </a:rPr>
              <a:t>--</a:t>
            </a:r>
            <a:r>
              <a:rPr lang="zh-CN" altLang="en-US" sz="1800" dirty="0"/>
              <a:t>各进程通过名字彼此之间</a:t>
            </a:r>
            <a:r>
              <a:rPr lang="zh-CN" altLang="en-US" sz="1800" dirty="0">
                <a:solidFill>
                  <a:schemeClr val="tx2"/>
                </a:solidFill>
              </a:rPr>
              <a:t>直接通信</a:t>
            </a:r>
            <a:r>
              <a:rPr lang="zh-CN" altLang="en-US" sz="1800" dirty="0"/>
              <a:t>，合作完成一项工作。</a:t>
            </a:r>
          </a:p>
          <a:p>
            <a:pPr eaLnBrk="1" hangingPunct="1">
              <a:lnSpc>
                <a:spcPct val="80000"/>
              </a:lnSpc>
              <a:buNone/>
            </a:pPr>
            <a:endParaRPr lang="zh-CN" altLang="en-US" sz="1800" dirty="0"/>
          </a:p>
          <a:p>
            <a:pPr eaLnBrk="1" hangingPunct="1">
              <a:lnSpc>
                <a:spcPct val="80000"/>
              </a:lnSpc>
              <a:buNone/>
            </a:pPr>
            <a:endParaRPr lang="zh-CN" altLang="en-US" sz="1800" dirty="0"/>
          </a:p>
          <a:p>
            <a:pPr eaLnBrk="1" hangingPunct="1">
              <a:lnSpc>
                <a:spcPct val="80000"/>
              </a:lnSpc>
              <a:buNone/>
            </a:pPr>
            <a:endParaRPr lang="zh-CN" altLang="en-US" sz="1800" dirty="0"/>
          </a:p>
          <a:p>
            <a:pPr eaLnBrk="1" hangingPunct="1">
              <a:lnSpc>
                <a:spcPct val="80000"/>
              </a:lnSpc>
              <a:buNone/>
            </a:pPr>
            <a:endParaRPr lang="zh-CN" altLang="en-US" sz="1800" dirty="0"/>
          </a:p>
        </p:txBody>
      </p:sp>
    </p:spTree>
    <p:extLst>
      <p:ext uri="{BB962C8B-B14F-4D97-AF65-F5344CB8AC3E}">
        <p14:creationId xmlns:p14="http://schemas.microsoft.com/office/powerpoint/2010/main" val="32429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animEffect transition="in" filter="fade">
                                      <p:cBhvr>
                                        <p:cTn id="7" dur="1000"/>
                                        <p:tgtEl>
                                          <p:spTgt spid="83971">
                                            <p:txEl>
                                              <p:pRg st="0" end="0"/>
                                            </p:txEl>
                                          </p:spTgt>
                                        </p:tgtEl>
                                      </p:cBhvr>
                                    </p:animEffect>
                                    <p:anim calcmode="lin" valueType="num">
                                      <p:cBhvr>
                                        <p:cTn id="8" dur="1000" fill="hold"/>
                                        <p:tgtEl>
                                          <p:spTgt spid="8397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3971">
                                            <p:txEl>
                                              <p:pRg st="0" end="0"/>
                                            </p:txEl>
                                          </p:spTgt>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83971">
                                            <p:txEl>
                                              <p:pRg st="1" end="1"/>
                                            </p:txEl>
                                          </p:spTgt>
                                        </p:tgtEl>
                                        <p:attrNameLst>
                                          <p:attrName>style.visibility</p:attrName>
                                        </p:attrNameLst>
                                      </p:cBhvr>
                                      <p:to>
                                        <p:strVal val="visible"/>
                                      </p:to>
                                    </p:set>
                                    <p:animEffect transition="in" filter="fade">
                                      <p:cBhvr>
                                        <p:cTn id="12" dur="1000"/>
                                        <p:tgtEl>
                                          <p:spTgt spid="83971">
                                            <p:txEl>
                                              <p:pRg st="1" end="1"/>
                                            </p:txEl>
                                          </p:spTgt>
                                        </p:tgtEl>
                                      </p:cBhvr>
                                    </p:animEffect>
                                    <p:anim calcmode="lin" valueType="num">
                                      <p:cBhvr>
                                        <p:cTn id="13" dur="1000" fill="hold"/>
                                        <p:tgtEl>
                                          <p:spTgt spid="8397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83971">
                                            <p:txEl>
                                              <p:pRg st="1" end="1"/>
                                            </p:txEl>
                                          </p:spTgt>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83971">
                                            <p:txEl>
                                              <p:charRg st="223" end="257"/>
                                            </p:txEl>
                                          </p:spTgt>
                                        </p:tgtEl>
                                        <p:attrNameLst>
                                          <p:attrName>style.visibility</p:attrName>
                                        </p:attrNameLst>
                                      </p:cBhvr>
                                      <p:to>
                                        <p:strVal val="visible"/>
                                      </p:to>
                                    </p:set>
                                    <p:animEffect transition="in" filter="fade">
                                      <p:cBhvr>
                                        <p:cTn id="17" dur="1000"/>
                                        <p:tgtEl>
                                          <p:spTgt spid="83971">
                                            <p:txEl>
                                              <p:charRg st="223" end="257"/>
                                            </p:txEl>
                                          </p:spTgt>
                                        </p:tgtEl>
                                      </p:cBhvr>
                                    </p:animEffect>
                                    <p:anim calcmode="lin" valueType="num">
                                      <p:cBhvr>
                                        <p:cTn id="18" dur="1000" fill="hold"/>
                                        <p:tgtEl>
                                          <p:spTgt spid="83971">
                                            <p:txEl>
                                              <p:charRg st="223" end="257"/>
                                            </p:txEl>
                                          </p:spTgt>
                                        </p:tgtEl>
                                        <p:attrNameLst>
                                          <p:attrName>ppt_x</p:attrName>
                                        </p:attrNameLst>
                                      </p:cBhvr>
                                      <p:tavLst>
                                        <p:tav tm="0">
                                          <p:val>
                                            <p:strVal val="#ppt_x"/>
                                          </p:val>
                                        </p:tav>
                                        <p:tav tm="100000">
                                          <p:val>
                                            <p:strVal val="#ppt_x"/>
                                          </p:val>
                                        </p:tav>
                                      </p:tavLst>
                                    </p:anim>
                                    <p:anim calcmode="lin" valueType="num">
                                      <p:cBhvr>
                                        <p:cTn id="19" dur="1000" fill="hold"/>
                                        <p:tgtEl>
                                          <p:spTgt spid="83971">
                                            <p:txEl>
                                              <p:charRg st="223" end="257"/>
                                            </p:txEl>
                                          </p:spTgt>
                                        </p:tgtEl>
                                        <p:attrNameLst>
                                          <p:attrName>ppt_y</p:attrName>
                                        </p:attrNameLst>
                                      </p:cBhvr>
                                      <p:tavLst>
                                        <p:tav tm="0">
                                          <p:val>
                                            <p:strVal val="#ppt_y-.1"/>
                                          </p:val>
                                        </p:tav>
                                        <p:tav tm="100000">
                                          <p:val>
                                            <p:strVal val="#ppt_y"/>
                                          </p:val>
                                        </p:tav>
                                      </p:tavLst>
                                    </p:anim>
                                  </p:childTnLst>
                                </p:cTn>
                              </p:par>
                              <p:par>
                                <p:cTn id="20" presetID="47" presetClass="entr" presetSubtype="0" fill="hold" nodeType="withEffect">
                                  <p:stCondLst>
                                    <p:cond delay="0"/>
                                  </p:stCondLst>
                                  <p:childTnLst>
                                    <p:set>
                                      <p:cBhvr>
                                        <p:cTn id="21" dur="1" fill="hold">
                                          <p:stCondLst>
                                            <p:cond delay="0"/>
                                          </p:stCondLst>
                                        </p:cTn>
                                        <p:tgtEl>
                                          <p:spTgt spid="83971">
                                            <p:txEl>
                                              <p:charRg st="154" end="223"/>
                                            </p:txEl>
                                          </p:spTgt>
                                        </p:tgtEl>
                                        <p:attrNameLst>
                                          <p:attrName>style.visibility</p:attrName>
                                        </p:attrNameLst>
                                      </p:cBhvr>
                                      <p:to>
                                        <p:strVal val="visible"/>
                                      </p:to>
                                    </p:set>
                                    <p:animEffect transition="in" filter="fade">
                                      <p:cBhvr>
                                        <p:cTn id="22" dur="1000"/>
                                        <p:tgtEl>
                                          <p:spTgt spid="83971">
                                            <p:txEl>
                                              <p:charRg st="154" end="223"/>
                                            </p:txEl>
                                          </p:spTgt>
                                        </p:tgtEl>
                                      </p:cBhvr>
                                    </p:animEffect>
                                    <p:anim calcmode="lin" valueType="num">
                                      <p:cBhvr>
                                        <p:cTn id="23" dur="1000" fill="hold"/>
                                        <p:tgtEl>
                                          <p:spTgt spid="83971">
                                            <p:txEl>
                                              <p:charRg st="154" end="223"/>
                                            </p:txEl>
                                          </p:spTgt>
                                        </p:tgtEl>
                                        <p:attrNameLst>
                                          <p:attrName>ppt_x</p:attrName>
                                        </p:attrNameLst>
                                      </p:cBhvr>
                                      <p:tavLst>
                                        <p:tav tm="0">
                                          <p:val>
                                            <p:strVal val="#ppt_x"/>
                                          </p:val>
                                        </p:tav>
                                        <p:tav tm="100000">
                                          <p:val>
                                            <p:strVal val="#ppt_x"/>
                                          </p:val>
                                        </p:tav>
                                      </p:tavLst>
                                    </p:anim>
                                    <p:anim calcmode="lin" valueType="num">
                                      <p:cBhvr>
                                        <p:cTn id="24" dur="1000" fill="hold"/>
                                        <p:tgtEl>
                                          <p:spTgt spid="83971">
                                            <p:txEl>
                                              <p:charRg st="154" end="22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数据不一致例子：生产者</a:t>
            </a:r>
            <a:r>
              <a:rPr lang="en-US" altLang="zh-CN" sz="2100" b="1" dirty="0">
                <a:solidFill>
                  <a:schemeClr val="bg1"/>
                </a:solidFill>
              </a:rPr>
              <a:t>-</a:t>
            </a:r>
            <a:r>
              <a:rPr lang="zh-CN" altLang="en-US" sz="2100" b="1" dirty="0">
                <a:solidFill>
                  <a:schemeClr val="bg1"/>
                </a:solidFill>
              </a:rPr>
              <a:t>消费者问题</a:t>
            </a:r>
          </a:p>
        </p:txBody>
      </p:sp>
      <p:graphicFrame>
        <p:nvGraphicFramePr>
          <p:cNvPr id="75" name="Object 7"/>
          <p:cNvGraphicFramePr>
            <a:graphicFrameLocks noChangeAspect="1"/>
          </p:cNvGraphicFramePr>
          <p:nvPr/>
        </p:nvGraphicFramePr>
        <p:xfrm>
          <a:off x="376875" y="2251188"/>
          <a:ext cx="8170661" cy="2337515"/>
        </p:xfrm>
        <a:graphic>
          <a:graphicData uri="http://schemas.openxmlformats.org/presentationml/2006/ole">
            <mc:AlternateContent xmlns:mc="http://schemas.openxmlformats.org/markup-compatibility/2006">
              <mc:Choice xmlns:v="urn:schemas-microsoft-com:vml" Requires="v">
                <p:oleObj name="VISIO" r:id="rId3" imgW="4585970" imgH="1311910" progId="Visio.Drawing.6">
                  <p:embed/>
                </p:oleObj>
              </mc:Choice>
              <mc:Fallback>
                <p:oleObj name="VISIO" r:id="rId3" imgW="4585970" imgH="1311910" progId="Visio.Drawing.6">
                  <p:embed/>
                  <p:pic>
                    <p:nvPicPr>
                      <p:cNvPr id="75"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875" y="2251188"/>
                        <a:ext cx="8170661" cy="2337515"/>
                      </a:xfrm>
                      <a:prstGeom prst="rect">
                        <a:avLst/>
                      </a:prstGeom>
                      <a:noFill/>
                      <a:ln>
                        <a:noFill/>
                      </a:ln>
                      <a:effectLst/>
                    </p:spPr>
                  </p:pic>
                </p:oleObj>
              </mc:Fallback>
            </mc:AlternateContent>
          </a:graphicData>
        </a:graphic>
      </p:graphicFrame>
      <p:sp>
        <p:nvSpPr>
          <p:cNvPr id="76" name="Text Box 4"/>
          <p:cNvSpPr txBox="1">
            <a:spLocks noChangeArrowheads="1"/>
          </p:cNvSpPr>
          <p:nvPr/>
        </p:nvSpPr>
        <p:spPr bwMode="auto">
          <a:xfrm>
            <a:off x="4940690" y="1845686"/>
            <a:ext cx="15279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b="1" dirty="0">
                <a:solidFill>
                  <a:schemeClr val="tx2"/>
                </a:solidFill>
                <a:latin typeface="+mj-lt"/>
              </a:rPr>
              <a:t>CONSUMER</a:t>
            </a:r>
          </a:p>
        </p:txBody>
      </p:sp>
      <p:sp>
        <p:nvSpPr>
          <p:cNvPr id="77" name="Text Box 5"/>
          <p:cNvSpPr txBox="1">
            <a:spLocks noChangeArrowheads="1"/>
          </p:cNvSpPr>
          <p:nvPr/>
        </p:nvSpPr>
        <p:spPr bwMode="auto">
          <a:xfrm>
            <a:off x="2059982" y="1866557"/>
            <a:ext cx="14927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b="1" dirty="0">
                <a:solidFill>
                  <a:schemeClr val="tx2"/>
                </a:solidFill>
                <a:latin typeface="+mj-lt"/>
              </a:rPr>
              <a:t>PRODUCER</a:t>
            </a:r>
          </a:p>
        </p:txBody>
      </p:sp>
      <p:sp>
        <p:nvSpPr>
          <p:cNvPr id="2" name="iŝļíḍe"/>
          <p:cNvSpPr/>
          <p:nvPr/>
        </p:nvSpPr>
        <p:spPr>
          <a:xfrm>
            <a:off x="777241" y="4517708"/>
            <a:ext cx="7961471" cy="772954"/>
          </a:xfrm>
          <a:prstGeom prst="rect">
            <a:avLst/>
          </a:prstGeom>
          <a:ln>
            <a:solidFill>
              <a:srgbClr val="7030A0"/>
            </a:solidFill>
          </a:ln>
        </p:spPr>
        <p:txBody>
          <a:bodyPr wrap="square" lIns="68580" tIns="34290" rIns="68580" bIns="34290" anchor="ctr">
            <a:noAutofit/>
          </a:bodyPr>
          <a:lstStyle/>
          <a:p>
            <a:pPr>
              <a:lnSpc>
                <a:spcPct val="120000"/>
              </a:lnSpc>
            </a:pPr>
            <a:r>
              <a:rPr lang="zh-CN" altLang="en-US" sz="1800">
                <a:sym typeface="+mn-ea"/>
              </a:rPr>
              <a:t>生产者和消费者进程都是以异步方式运行的，但他们必须保持同步：</a:t>
            </a:r>
          </a:p>
          <a:p>
            <a:pPr>
              <a:lnSpc>
                <a:spcPct val="120000"/>
              </a:lnSpc>
            </a:pPr>
            <a:r>
              <a:rPr lang="zh-CN" altLang="en-US" sz="1800">
                <a:sym typeface="+mn-ea"/>
              </a:rPr>
              <a:t>不允许消费者到一个空缓冲区取产品，不允许生产者向已满的缓冲区放产品。</a:t>
            </a:r>
            <a:endParaRPr lang="zh-CN" altLang="en-US" sz="1800" b="1" dirty="0">
              <a:sym typeface="+mn-ea"/>
            </a:endParaRPr>
          </a:p>
        </p:txBody>
      </p:sp>
    </p:spTree>
    <p:extLst>
      <p:ext uri="{BB962C8B-B14F-4D97-AF65-F5344CB8AC3E}">
        <p14:creationId xmlns:p14="http://schemas.microsoft.com/office/powerpoint/2010/main" val="3262397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共享变量</a:t>
            </a:r>
          </a:p>
        </p:txBody>
      </p:sp>
      <p:grpSp>
        <p:nvGrpSpPr>
          <p:cNvPr id="6" name="21090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11621" y="1806136"/>
            <a:ext cx="8677773" cy="3468053"/>
            <a:chOff x="673071" y="1406850"/>
            <a:chExt cx="11570364" cy="4624070"/>
          </a:xfrm>
        </p:grpSpPr>
        <p:sp>
          <p:nvSpPr>
            <p:cNvPr id="29" name="iṧļiḑé"/>
            <p:cNvSpPr/>
            <p:nvPr/>
          </p:nvSpPr>
          <p:spPr>
            <a:xfrm>
              <a:off x="673071" y="1495115"/>
              <a:ext cx="3459480" cy="1340485"/>
            </a:xfrm>
            <a:prstGeom prst="rect">
              <a:avLst/>
            </a:prstGeom>
          </p:spPr>
          <p:txBody>
            <a:bodyPr wrap="square" lIns="68580" tIns="34290" rIns="68580" bIns="34290" anchor="ctr">
              <a:normAutofit/>
            </a:bodyPr>
            <a:lstStyle/>
            <a:p>
              <a:pPr algn="l">
                <a:lnSpc>
                  <a:spcPct val="120000"/>
                </a:lnSpc>
              </a:pPr>
              <a:r>
                <a:rPr lang="zh-CN" altLang="en-US" sz="1800" b="1" dirty="0">
                  <a:solidFill>
                    <a:srgbClr val="FF0000"/>
                  </a:solidFill>
                </a:rPr>
                <a:t>缓冲池</a:t>
              </a:r>
              <a:r>
                <a:rPr lang="en-US" altLang="zh-CN" sz="1800" b="1" dirty="0">
                  <a:solidFill>
                    <a:srgbClr val="FF0000"/>
                  </a:solidFill>
                </a:rPr>
                <a:t>buffer</a:t>
              </a:r>
              <a:r>
                <a:rPr lang="zh-CN" altLang="en-US" sz="1800" b="1" dirty="0">
                  <a:solidFill>
                    <a:srgbClr val="FF0000"/>
                  </a:solidFill>
                </a:rPr>
                <a:t>：</a:t>
              </a:r>
            </a:p>
            <a:p>
              <a:pPr algn="l">
                <a:lnSpc>
                  <a:spcPct val="120000"/>
                </a:lnSpc>
              </a:pPr>
              <a:r>
                <a:rPr lang="zh-CN" altLang="en-US" sz="1650" b="1" dirty="0">
                  <a:solidFill>
                    <a:schemeClr val="tx1">
                      <a:lumMod val="65000"/>
                      <a:lumOff val="35000"/>
                    </a:schemeClr>
                  </a:solidFill>
                </a:rPr>
                <a:t>用数组来表示具有</a:t>
              </a:r>
              <a:r>
                <a:rPr lang="en-US" altLang="zh-CN" sz="1650" b="1" dirty="0">
                  <a:solidFill>
                    <a:schemeClr val="tx1">
                      <a:lumMod val="65000"/>
                      <a:lumOff val="35000"/>
                    </a:schemeClr>
                  </a:solidFill>
                </a:rPr>
                <a:t>n</a:t>
              </a:r>
              <a:r>
                <a:rPr lang="zh-CN" altLang="en-US" sz="1650" b="1" dirty="0">
                  <a:solidFill>
                    <a:schemeClr val="tx1">
                      <a:lumMod val="65000"/>
                      <a:lumOff val="35000"/>
                    </a:schemeClr>
                  </a:solidFill>
                </a:rPr>
                <a:t>个缓冲区的缓冲池。</a:t>
              </a:r>
              <a:endParaRPr lang="en-US" altLang="zh-CN" sz="1650" b="1" dirty="0">
                <a:solidFill>
                  <a:schemeClr val="tx1">
                    <a:lumMod val="65000"/>
                    <a:lumOff val="35000"/>
                  </a:schemeClr>
                </a:solidFill>
              </a:endParaRPr>
            </a:p>
          </p:txBody>
        </p:sp>
        <p:sp>
          <p:nvSpPr>
            <p:cNvPr id="30" name="ísļiḋè"/>
            <p:cNvSpPr/>
            <p:nvPr/>
          </p:nvSpPr>
          <p:spPr>
            <a:xfrm>
              <a:off x="8275926" y="1406850"/>
              <a:ext cx="3689350" cy="2379980"/>
            </a:xfrm>
            <a:prstGeom prst="rect">
              <a:avLst/>
            </a:prstGeom>
          </p:spPr>
          <p:txBody>
            <a:bodyPr wrap="square" lIns="68580" tIns="34290" rIns="68580" bIns="34290" anchor="ctr">
              <a:normAutofit fontScale="92500" lnSpcReduction="10000"/>
            </a:bodyPr>
            <a:lstStyle/>
            <a:p>
              <a:pPr algn="l">
                <a:lnSpc>
                  <a:spcPct val="140000"/>
                </a:lnSpc>
              </a:pPr>
              <a:r>
                <a:rPr lang="zh-CN" altLang="en-US" sz="1800" b="1" dirty="0">
                  <a:solidFill>
                    <a:srgbClr val="FF0000"/>
                  </a:solidFill>
                </a:rPr>
                <a:t>输入指针</a:t>
              </a:r>
              <a:r>
                <a:rPr lang="en-US" altLang="zh-CN" sz="1800" b="1" dirty="0">
                  <a:solidFill>
                    <a:srgbClr val="FF0000"/>
                  </a:solidFill>
                </a:rPr>
                <a:t>in</a:t>
              </a:r>
              <a:r>
                <a:rPr lang="zh-CN" altLang="en-US" sz="1800" b="1" dirty="0">
                  <a:solidFill>
                    <a:srgbClr val="FF0000"/>
                  </a:solidFill>
                </a:rPr>
                <a:t>：</a:t>
              </a:r>
            </a:p>
            <a:p>
              <a:pPr algn="l">
                <a:lnSpc>
                  <a:spcPct val="140000"/>
                </a:lnSpc>
              </a:pPr>
              <a:r>
                <a:rPr lang="zh-CN" altLang="en-US" sz="1800" b="1" dirty="0">
                  <a:solidFill>
                    <a:schemeClr val="tx1">
                      <a:lumMod val="65000"/>
                      <a:lumOff val="35000"/>
                    </a:schemeClr>
                  </a:solidFill>
                </a:rPr>
                <a:t>指示下一个可投放产品的缓冲区，每当</a:t>
              </a:r>
              <a:r>
                <a:rPr lang="zh-CN" altLang="en-US" sz="1800" b="1" dirty="0">
                  <a:solidFill>
                    <a:schemeClr val="accent4">
                      <a:lumMod val="60000"/>
                      <a:lumOff val="40000"/>
                    </a:schemeClr>
                  </a:solidFill>
                </a:rPr>
                <a:t>生产者进程</a:t>
              </a:r>
              <a:r>
                <a:rPr lang="zh-CN" altLang="en-US" sz="1800" b="1" dirty="0">
                  <a:solidFill>
                    <a:schemeClr val="tx1">
                      <a:lumMod val="65000"/>
                      <a:lumOff val="35000"/>
                    </a:schemeClr>
                  </a:solidFill>
                </a:rPr>
                <a:t>生产并投放一个产品后，输入指针加</a:t>
              </a:r>
              <a:r>
                <a:rPr lang="en-US" altLang="zh-CN" sz="1800" b="1" dirty="0">
                  <a:solidFill>
                    <a:schemeClr val="tx1">
                      <a:lumMod val="65000"/>
                      <a:lumOff val="35000"/>
                    </a:schemeClr>
                  </a:solidFill>
                </a:rPr>
                <a:t>1</a:t>
              </a:r>
              <a:r>
                <a:rPr lang="zh-CN" altLang="en-US" sz="1800" b="1" dirty="0">
                  <a:solidFill>
                    <a:schemeClr val="tx1">
                      <a:lumMod val="65000"/>
                      <a:lumOff val="35000"/>
                    </a:schemeClr>
                  </a:solidFill>
                </a:rPr>
                <a:t>，初值为</a:t>
              </a:r>
              <a:r>
                <a:rPr lang="en-US" altLang="zh-CN" sz="1800" b="1" dirty="0">
                  <a:solidFill>
                    <a:schemeClr val="tx1">
                      <a:lumMod val="65000"/>
                      <a:lumOff val="35000"/>
                    </a:schemeClr>
                  </a:solidFill>
                </a:rPr>
                <a:t>0</a:t>
              </a:r>
              <a:r>
                <a:rPr lang="zh-CN" altLang="en-US" sz="1800" b="1" dirty="0">
                  <a:solidFill>
                    <a:schemeClr val="tx1">
                      <a:lumMod val="65000"/>
                      <a:lumOff val="35000"/>
                    </a:schemeClr>
                  </a:solidFill>
                </a:rPr>
                <a:t>。</a:t>
              </a:r>
            </a:p>
          </p:txBody>
        </p:sp>
        <p:cxnSp>
          <p:nvCxnSpPr>
            <p:cNvPr id="31" name="直接连接符 30"/>
            <p:cNvCxnSpPr/>
            <p:nvPr/>
          </p:nvCxnSpPr>
          <p:spPr>
            <a:xfrm>
              <a:off x="673100" y="3057309"/>
              <a:ext cx="40005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2" name="iŝļíḍe"/>
            <p:cNvSpPr/>
            <p:nvPr/>
          </p:nvSpPr>
          <p:spPr>
            <a:xfrm>
              <a:off x="8275926" y="4111950"/>
              <a:ext cx="3776980" cy="1918970"/>
            </a:xfrm>
            <a:prstGeom prst="rect">
              <a:avLst/>
            </a:prstGeom>
          </p:spPr>
          <p:txBody>
            <a:bodyPr wrap="square" lIns="68580" tIns="34290" rIns="68580" bIns="34290" anchor="ctr">
              <a:noAutofit/>
            </a:bodyPr>
            <a:lstStyle/>
            <a:p>
              <a:pPr>
                <a:lnSpc>
                  <a:spcPct val="120000"/>
                </a:lnSpc>
              </a:pPr>
              <a:r>
                <a:rPr lang="zh-CN" altLang="en-US" sz="1650" b="1" dirty="0">
                  <a:solidFill>
                    <a:srgbClr val="FF0000"/>
                  </a:solidFill>
                </a:rPr>
                <a:t>输出指针</a:t>
              </a:r>
              <a:r>
                <a:rPr lang="en-US" altLang="zh-CN" sz="1650" b="1" dirty="0">
                  <a:solidFill>
                    <a:srgbClr val="FF0000"/>
                  </a:solidFill>
                </a:rPr>
                <a:t>out</a:t>
              </a:r>
              <a:r>
                <a:rPr lang="zh-CN" altLang="en-US" sz="1650" b="1" dirty="0">
                  <a:solidFill>
                    <a:srgbClr val="FF0000"/>
                  </a:solidFill>
                </a:rPr>
                <a:t>：</a:t>
              </a:r>
              <a:endParaRPr lang="en-US" altLang="zh-CN" sz="1650" b="1" dirty="0">
                <a:solidFill>
                  <a:srgbClr val="FF0000"/>
                </a:solidFill>
              </a:endParaRPr>
            </a:p>
            <a:p>
              <a:pPr>
                <a:lnSpc>
                  <a:spcPct val="120000"/>
                </a:lnSpc>
              </a:pPr>
              <a:r>
                <a:rPr lang="zh-CN" altLang="en-US" sz="1650" b="1" dirty="0">
                  <a:solidFill>
                    <a:schemeClr val="tx1">
                      <a:lumMod val="65000"/>
                      <a:lumOff val="35000"/>
                    </a:schemeClr>
                  </a:solidFill>
                </a:rPr>
                <a:t>指示下一个可获取产品的缓冲区，每当</a:t>
              </a:r>
              <a:r>
                <a:rPr lang="zh-CN" altLang="en-US" sz="1650" b="1" dirty="0">
                  <a:solidFill>
                    <a:schemeClr val="accent4">
                      <a:lumMod val="60000"/>
                      <a:lumOff val="40000"/>
                    </a:schemeClr>
                  </a:solidFill>
                </a:rPr>
                <a:t>消费者进程</a:t>
              </a:r>
              <a:r>
                <a:rPr lang="zh-CN" altLang="en-US" sz="1650" b="1" dirty="0">
                  <a:solidFill>
                    <a:schemeClr val="tx1">
                      <a:lumMod val="65000"/>
                      <a:lumOff val="35000"/>
                    </a:schemeClr>
                  </a:solidFill>
                </a:rPr>
                <a:t>取走一个产品后，输出指针加</a:t>
              </a:r>
              <a:r>
                <a:rPr lang="en-US" altLang="zh-CN" sz="1650" b="1" dirty="0">
                  <a:solidFill>
                    <a:schemeClr val="tx1">
                      <a:lumMod val="65000"/>
                      <a:lumOff val="35000"/>
                    </a:schemeClr>
                  </a:solidFill>
                </a:rPr>
                <a:t>1</a:t>
              </a:r>
              <a:r>
                <a:rPr lang="zh-CN" altLang="en-US" sz="1650" b="1" dirty="0">
                  <a:solidFill>
                    <a:schemeClr val="tx1">
                      <a:lumMod val="65000"/>
                      <a:lumOff val="35000"/>
                    </a:schemeClr>
                  </a:solidFill>
                </a:rPr>
                <a:t>，初值为</a:t>
              </a:r>
              <a:r>
                <a:rPr lang="en-US" altLang="zh-CN" sz="1650" b="1" dirty="0">
                  <a:solidFill>
                    <a:schemeClr val="tx1">
                      <a:lumMod val="65000"/>
                      <a:lumOff val="35000"/>
                    </a:schemeClr>
                  </a:solidFill>
                </a:rPr>
                <a:t>0</a:t>
              </a:r>
              <a:r>
                <a:rPr lang="zh-CN" altLang="en-US" sz="1650" b="1" dirty="0">
                  <a:solidFill>
                    <a:schemeClr val="tx1">
                      <a:lumMod val="65000"/>
                      <a:lumOff val="35000"/>
                    </a:schemeClr>
                  </a:solidFill>
                </a:rPr>
                <a:t>。</a:t>
              </a:r>
            </a:p>
          </p:txBody>
        </p:sp>
        <p:sp>
          <p:nvSpPr>
            <p:cNvPr id="33" name="ïṥľïḑé"/>
            <p:cNvSpPr/>
            <p:nvPr/>
          </p:nvSpPr>
          <p:spPr>
            <a:xfrm>
              <a:off x="673110" y="3279710"/>
              <a:ext cx="3718326" cy="1340509"/>
            </a:xfrm>
            <a:prstGeom prst="rect">
              <a:avLst/>
            </a:prstGeom>
          </p:spPr>
          <p:txBody>
            <a:bodyPr wrap="square" lIns="68580" tIns="34290" rIns="68580" bIns="34290" anchor="ctr">
              <a:noAutofit/>
            </a:bodyPr>
            <a:lstStyle/>
            <a:p>
              <a:pPr>
                <a:lnSpc>
                  <a:spcPct val="120000"/>
                </a:lnSpc>
              </a:pPr>
              <a:r>
                <a:rPr lang="zh-CN" altLang="en-US" sz="1800" b="1" dirty="0">
                  <a:solidFill>
                    <a:srgbClr val="FF0000"/>
                  </a:solidFill>
                </a:rPr>
                <a:t>整型变量</a:t>
              </a:r>
              <a:r>
                <a:rPr lang="en-US" altLang="zh-CN" sz="1800" b="1" dirty="0">
                  <a:solidFill>
                    <a:srgbClr val="FF0000"/>
                  </a:solidFill>
                </a:rPr>
                <a:t>count</a:t>
              </a:r>
              <a:r>
                <a:rPr lang="zh-CN" altLang="en-US" sz="1800" b="1" dirty="0">
                  <a:solidFill>
                    <a:srgbClr val="FF0000"/>
                  </a:solidFill>
                </a:rPr>
                <a:t>：</a:t>
              </a:r>
              <a:endParaRPr lang="en-US" altLang="zh-CN" sz="1800" b="1" dirty="0">
                <a:solidFill>
                  <a:srgbClr val="FF0000"/>
                </a:solidFill>
              </a:endParaRPr>
            </a:p>
            <a:p>
              <a:pPr>
                <a:lnSpc>
                  <a:spcPct val="120000"/>
                </a:lnSpc>
              </a:pPr>
              <a:r>
                <a:rPr lang="zh-CN" altLang="en-US" sz="1800" b="1" dirty="0">
                  <a:solidFill>
                    <a:schemeClr val="tx1">
                      <a:lumMod val="65000"/>
                      <a:lumOff val="35000"/>
                    </a:schemeClr>
                  </a:solidFill>
                </a:rPr>
                <a:t>初值为</a:t>
              </a:r>
              <a:r>
                <a:rPr lang="en-US" altLang="zh-CN" sz="1800" b="1" dirty="0">
                  <a:solidFill>
                    <a:schemeClr val="tx1">
                      <a:lumMod val="65000"/>
                      <a:lumOff val="35000"/>
                    </a:schemeClr>
                  </a:solidFill>
                </a:rPr>
                <a:t>0</a:t>
              </a:r>
              <a:r>
                <a:rPr lang="zh-CN" altLang="en-US" sz="1800" b="1" dirty="0">
                  <a:solidFill>
                    <a:schemeClr val="tx1">
                      <a:lumMod val="65000"/>
                      <a:lumOff val="35000"/>
                    </a:schemeClr>
                  </a:solidFill>
                </a:rPr>
                <a:t>，表示缓冲区中的产品个数。</a:t>
              </a:r>
            </a:p>
          </p:txBody>
        </p:sp>
        <p:cxnSp>
          <p:nvCxnSpPr>
            <p:cNvPr id="34" name="直接连接符 33"/>
            <p:cNvCxnSpPr/>
            <p:nvPr/>
          </p:nvCxnSpPr>
          <p:spPr>
            <a:xfrm>
              <a:off x="8281035" y="3940594"/>
              <a:ext cx="39624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pic>
        <p:nvPicPr>
          <p:cNvPr id="10243" name="Picture 3" descr="T219"/>
          <p:cNvPicPr>
            <a:picLocks noGrp="1" noChangeAspect="1"/>
          </p:cNvPicPr>
          <p:nvPr/>
        </p:nvPicPr>
        <p:blipFill>
          <a:blip r:embed="rId4"/>
          <a:stretch>
            <a:fillRect/>
          </a:stretch>
        </p:blipFill>
        <p:spPr>
          <a:xfrm>
            <a:off x="3083243" y="1897856"/>
            <a:ext cx="2753201" cy="2248853"/>
          </a:xfrm>
          <a:prstGeom prst="rect">
            <a:avLst/>
          </a:prstGeom>
          <a:noFill/>
          <a:ln w="9525">
            <a:noFill/>
          </a:ln>
        </p:spPr>
      </p:pic>
      <p:sp>
        <p:nvSpPr>
          <p:cNvPr id="2" name="iŝļíḍe"/>
          <p:cNvSpPr/>
          <p:nvPr/>
        </p:nvSpPr>
        <p:spPr>
          <a:xfrm>
            <a:off x="2988469" y="4215765"/>
            <a:ext cx="2832735" cy="1058228"/>
          </a:xfrm>
          <a:prstGeom prst="rect">
            <a:avLst/>
          </a:prstGeom>
        </p:spPr>
        <p:txBody>
          <a:bodyPr wrap="square" lIns="68580" tIns="34290" rIns="68580" bIns="34290" anchor="ctr">
            <a:noAutofit/>
          </a:bodyPr>
          <a:lstStyle/>
          <a:p>
            <a:pPr>
              <a:lnSpc>
                <a:spcPct val="120000"/>
              </a:lnSpc>
            </a:pPr>
            <a:r>
              <a:rPr lang="en-US" altLang="zh-CN" sz="1650" b="1" dirty="0">
                <a:solidFill>
                  <a:srgbClr val="FF0000"/>
                </a:solidFill>
              </a:rPr>
              <a:t>in=out</a:t>
            </a:r>
            <a:r>
              <a:rPr lang="zh-CN" altLang="en-US" sz="1650" b="1" dirty="0">
                <a:solidFill>
                  <a:srgbClr val="FF0000"/>
                </a:solidFill>
              </a:rPr>
              <a:t>：</a:t>
            </a:r>
            <a:r>
              <a:rPr lang="zh-CN" altLang="en-US" sz="1650" b="1" dirty="0"/>
              <a:t>表示缓冲池空；</a:t>
            </a:r>
          </a:p>
          <a:p>
            <a:pPr>
              <a:lnSpc>
                <a:spcPct val="120000"/>
              </a:lnSpc>
            </a:pPr>
            <a:r>
              <a:rPr lang="en-US" altLang="zh-CN" sz="1650" b="1" dirty="0">
                <a:solidFill>
                  <a:srgbClr val="FF0000"/>
                </a:solidFill>
              </a:rPr>
              <a:t>(in+1)%n=out</a:t>
            </a:r>
            <a:r>
              <a:rPr lang="zh-CN" altLang="en-US" sz="1650" b="1" dirty="0">
                <a:solidFill>
                  <a:srgbClr val="FF0000"/>
                </a:solidFill>
              </a:rPr>
              <a:t>：</a:t>
            </a:r>
            <a:r>
              <a:rPr lang="zh-CN" altLang="en-US" sz="1650" b="1" dirty="0"/>
              <a:t>缓冲区满。</a:t>
            </a:r>
          </a:p>
        </p:txBody>
      </p:sp>
    </p:spTree>
    <p:extLst>
      <p:ext uri="{BB962C8B-B14F-4D97-AF65-F5344CB8AC3E}">
        <p14:creationId xmlns:p14="http://schemas.microsoft.com/office/powerpoint/2010/main" val="2848403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生产者进程： </a:t>
            </a:r>
            <a:r>
              <a:rPr lang="en-US" altLang="zh-CN" sz="2100" b="1" dirty="0">
                <a:solidFill>
                  <a:schemeClr val="bg1"/>
                </a:solidFill>
              </a:rPr>
              <a:t>producer()</a:t>
            </a:r>
            <a:endParaRPr lang="zh-CN" altLang="en-US" sz="2100" b="1" dirty="0">
              <a:solidFill>
                <a:schemeClr val="bg1"/>
              </a:solidFill>
            </a:endParaRPr>
          </a:p>
        </p:txBody>
      </p:sp>
      <p:sp>
        <p:nvSpPr>
          <p:cNvPr id="35" name="Rectangle 3"/>
          <p:cNvSpPr txBox="1">
            <a:spLocks noChangeArrowheads="1"/>
          </p:cNvSpPr>
          <p:nvPr/>
        </p:nvSpPr>
        <p:spPr>
          <a:xfrm>
            <a:off x="777717" y="1762125"/>
            <a:ext cx="8017669" cy="37252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CN" dirty="0"/>
              <a:t>void producer( ) {</a:t>
            </a:r>
          </a:p>
          <a:p>
            <a:pPr>
              <a:buFontTx/>
              <a:buNone/>
            </a:pPr>
            <a:r>
              <a:rPr lang="en-US" altLang="zh-CN" dirty="0"/>
              <a:t>     while(1){</a:t>
            </a:r>
          </a:p>
          <a:p>
            <a:pPr>
              <a:buFontTx/>
              <a:buNone/>
            </a:pPr>
            <a:r>
              <a:rPr lang="en-US" altLang="zh-CN" dirty="0"/>
              <a:t>          produce an item in </a:t>
            </a:r>
            <a:r>
              <a:rPr lang="en-US" altLang="zh-CN" dirty="0" err="1">
                <a:solidFill>
                  <a:schemeClr val="accent4">
                    <a:lumMod val="60000"/>
                    <a:lumOff val="40000"/>
                  </a:schemeClr>
                </a:solidFill>
              </a:rPr>
              <a:t>nextp</a:t>
            </a:r>
            <a:r>
              <a:rPr lang="en-US" altLang="zh-CN" dirty="0"/>
              <a:t>;  //</a:t>
            </a:r>
            <a:r>
              <a:rPr lang="zh-CN" altLang="en-US">
                <a:sym typeface="+mn-ea"/>
              </a:rPr>
              <a:t>局部变量，</a:t>
            </a:r>
            <a:r>
              <a:rPr lang="zh-CN" altLang="zh-CN">
                <a:sym typeface="+mn-ea"/>
              </a:rPr>
              <a:t>用于暂存刚生产出来的产品</a:t>
            </a:r>
            <a:endParaRPr lang="en-US" altLang="zh-CN" dirty="0">
              <a:solidFill>
                <a:srgbClr val="FF0000"/>
              </a:solidFill>
            </a:endParaRPr>
          </a:p>
          <a:p>
            <a:pPr>
              <a:buFontTx/>
              <a:buNone/>
            </a:pPr>
            <a:r>
              <a:rPr lang="en-US" altLang="zh-CN" dirty="0"/>
              <a:t>           …</a:t>
            </a:r>
            <a:r>
              <a:rPr lang="en-US" altLang="zh-CN" dirty="0">
                <a:sym typeface="+mn-ea"/>
              </a:rPr>
              <a:t>	</a:t>
            </a:r>
            <a:endParaRPr lang="en-US" altLang="zh-CN" dirty="0"/>
          </a:p>
          <a:p>
            <a:pPr>
              <a:buFontTx/>
              <a:buNone/>
            </a:pPr>
            <a:r>
              <a:rPr lang="en-US" altLang="zh-CN" dirty="0"/>
              <a:t>           while (count == n) </a:t>
            </a:r>
            <a:r>
              <a:rPr lang="en-US" altLang="zh-CN" dirty="0">
                <a:sym typeface="+mn-ea"/>
              </a:rPr>
              <a:t>;</a:t>
            </a:r>
            <a:endParaRPr lang="en-US" altLang="zh-CN" dirty="0"/>
          </a:p>
          <a:p>
            <a:pPr>
              <a:buFontTx/>
              <a:buNone/>
            </a:pPr>
            <a:r>
              <a:rPr lang="en-US" altLang="zh-CN" dirty="0"/>
              <a:t>           // do nothing</a:t>
            </a:r>
          </a:p>
          <a:p>
            <a:pPr>
              <a:buFontTx/>
              <a:buNone/>
            </a:pPr>
            <a:r>
              <a:rPr lang="en-US" altLang="zh-CN" dirty="0"/>
              <a:t>         	buffer[in] = </a:t>
            </a:r>
            <a:r>
              <a:rPr lang="en-US" altLang="zh-CN" dirty="0" err="1"/>
              <a:t>nextp</a:t>
            </a:r>
            <a:r>
              <a:rPr lang="en-US" altLang="zh-CN" dirty="0"/>
              <a:t>;</a:t>
            </a:r>
          </a:p>
          <a:p>
            <a:pPr>
              <a:buFontTx/>
              <a:buNone/>
            </a:pPr>
            <a:r>
              <a:rPr lang="en-US" altLang="zh-CN" dirty="0"/>
              <a:t>     	in = (in + 1) % n;</a:t>
            </a:r>
          </a:p>
          <a:p>
            <a:pPr>
              <a:buFont typeface="Wingdings 2" panose="05020102010507070707" pitchFamily="18" charset="2"/>
              <a:buNone/>
            </a:pPr>
            <a:r>
              <a:rPr lang="en-US" altLang="zh-CN" dirty="0"/>
              <a:t>           count++;</a:t>
            </a:r>
          </a:p>
          <a:p>
            <a:pPr>
              <a:buFont typeface="Wingdings 2" panose="05020102010507070707" pitchFamily="18" charset="2"/>
              <a:buNone/>
            </a:pPr>
            <a:r>
              <a:rPr lang="en-US" altLang="zh-CN" dirty="0"/>
              <a:t>   }</a:t>
            </a:r>
          </a:p>
          <a:p>
            <a:pPr>
              <a:buFontTx/>
              <a:buNone/>
            </a:pPr>
            <a:r>
              <a:rPr lang="en-US" altLang="zh-CN" dirty="0"/>
              <a:t>}</a:t>
            </a:r>
          </a:p>
        </p:txBody>
      </p:sp>
    </p:spTree>
    <p:extLst>
      <p:ext uri="{BB962C8B-B14F-4D97-AF65-F5344CB8AC3E}">
        <p14:creationId xmlns:p14="http://schemas.microsoft.com/office/powerpoint/2010/main" val="46601281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消费者进程：</a:t>
            </a:r>
            <a:r>
              <a:rPr lang="en-US" altLang="zh-CN" sz="2100" b="1" dirty="0">
                <a:solidFill>
                  <a:schemeClr val="bg1"/>
                </a:solidFill>
              </a:rPr>
              <a:t>consumer()</a:t>
            </a:r>
            <a:endParaRPr lang="zh-CN" altLang="en-US" sz="2100" b="1" dirty="0">
              <a:solidFill>
                <a:schemeClr val="bg1"/>
              </a:solidFill>
            </a:endParaRPr>
          </a:p>
        </p:txBody>
      </p:sp>
      <p:sp>
        <p:nvSpPr>
          <p:cNvPr id="5" name="Rectangle 3"/>
          <p:cNvSpPr txBox="1">
            <a:spLocks noChangeArrowheads="1"/>
          </p:cNvSpPr>
          <p:nvPr/>
        </p:nvSpPr>
        <p:spPr>
          <a:xfrm>
            <a:off x="659606" y="1803083"/>
            <a:ext cx="7975283" cy="35090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CN" dirty="0"/>
              <a:t>void consumer() {</a:t>
            </a:r>
          </a:p>
          <a:p>
            <a:pPr>
              <a:buFontTx/>
              <a:buNone/>
            </a:pPr>
            <a:r>
              <a:rPr lang="en-US" altLang="zh-CN" dirty="0"/>
              <a:t>      while(1){ </a:t>
            </a:r>
          </a:p>
          <a:p>
            <a:pPr>
              <a:buFontTx/>
              <a:buNone/>
            </a:pPr>
            <a:r>
              <a:rPr lang="en-US" altLang="zh-CN" dirty="0"/>
              <a:t>            while (count == 0) </a:t>
            </a:r>
            <a:r>
              <a:rPr lang="en-US" altLang="zh-CN" dirty="0">
                <a:sym typeface="+mn-ea"/>
              </a:rPr>
              <a:t>;</a:t>
            </a:r>
            <a:endParaRPr lang="en-US" altLang="zh-CN" dirty="0"/>
          </a:p>
          <a:p>
            <a:pPr>
              <a:buFontTx/>
              <a:buNone/>
            </a:pPr>
            <a:r>
              <a:rPr lang="en-US" altLang="zh-CN" dirty="0"/>
              <a:t>         	     // do nothing</a:t>
            </a:r>
          </a:p>
          <a:p>
            <a:pPr>
              <a:buFontTx/>
              <a:buNone/>
            </a:pPr>
            <a:r>
              <a:rPr lang="en-US" altLang="zh-CN" dirty="0"/>
              <a:t>     	 </a:t>
            </a:r>
            <a:r>
              <a:rPr lang="en-US" altLang="zh-CN" dirty="0" err="1">
                <a:solidFill>
                  <a:schemeClr val="accent4">
                    <a:lumMod val="60000"/>
                    <a:lumOff val="40000"/>
                  </a:schemeClr>
                </a:solidFill>
              </a:rPr>
              <a:t>nextc</a:t>
            </a:r>
            <a:r>
              <a:rPr lang="en-US" altLang="zh-CN" dirty="0"/>
              <a:t> = buffer[out];    //</a:t>
            </a:r>
            <a:r>
              <a:rPr lang="zh-CN" altLang="en-US" dirty="0" err="1">
                <a:sym typeface="+mn-ea"/>
              </a:rPr>
              <a:t>局部变量，用于存放每次要消费的产品</a:t>
            </a:r>
            <a:endParaRPr lang="en-US" altLang="zh-CN" dirty="0"/>
          </a:p>
          <a:p>
            <a:pPr>
              <a:buFontTx/>
              <a:buNone/>
            </a:pPr>
            <a:r>
              <a:rPr lang="en-US" altLang="zh-CN" dirty="0"/>
              <a:t>            out = (out + 1) % n;</a:t>
            </a:r>
          </a:p>
          <a:p>
            <a:pPr>
              <a:buFont typeface="Wingdings 2" panose="05020102010507070707" pitchFamily="18" charset="2"/>
              <a:buNone/>
            </a:pPr>
            <a:r>
              <a:rPr lang="en-US" altLang="zh-CN" dirty="0"/>
              <a:t>            count - -;</a:t>
            </a:r>
          </a:p>
          <a:p>
            <a:pPr>
              <a:buFontTx/>
              <a:buNone/>
            </a:pPr>
            <a:r>
              <a:rPr lang="en-US" altLang="zh-CN" dirty="0"/>
              <a:t>      	 consumer the item in </a:t>
            </a:r>
            <a:r>
              <a:rPr lang="en-US" altLang="zh-CN" dirty="0" err="1"/>
              <a:t>nextc</a:t>
            </a:r>
            <a:r>
              <a:rPr lang="en-US" altLang="zh-CN" dirty="0"/>
              <a:t>;</a:t>
            </a:r>
          </a:p>
          <a:p>
            <a:pPr>
              <a:buFontTx/>
              <a:buNone/>
            </a:pPr>
            <a:r>
              <a:rPr lang="en-US" altLang="zh-CN" dirty="0"/>
              <a:t>           …</a:t>
            </a:r>
          </a:p>
          <a:p>
            <a:pPr>
              <a:buFontTx/>
              <a:buNone/>
            </a:pPr>
            <a:r>
              <a:rPr lang="en-US" altLang="zh-CN" dirty="0"/>
              <a:t>     }</a:t>
            </a:r>
          </a:p>
          <a:p>
            <a:pPr>
              <a:buFontTx/>
              <a:buNone/>
            </a:pPr>
            <a:r>
              <a:rPr lang="en-US" altLang="zh-CN" dirty="0"/>
              <a:t> }</a:t>
            </a:r>
          </a:p>
        </p:txBody>
      </p:sp>
      <p:sp>
        <p:nvSpPr>
          <p:cNvPr id="2" name="iŝļíḍe"/>
          <p:cNvSpPr/>
          <p:nvPr/>
        </p:nvSpPr>
        <p:spPr>
          <a:xfrm>
            <a:off x="4686301" y="3941921"/>
            <a:ext cx="3905726" cy="1386840"/>
          </a:xfrm>
          <a:prstGeom prst="rect">
            <a:avLst/>
          </a:prstGeom>
          <a:ln>
            <a:solidFill>
              <a:srgbClr val="7030A0"/>
            </a:solidFill>
          </a:ln>
        </p:spPr>
        <p:txBody>
          <a:bodyPr wrap="square" lIns="68580" tIns="34290" rIns="68580" bIns="34290" anchor="ctr">
            <a:noAutofit/>
          </a:bodyPr>
          <a:lstStyle/>
          <a:p>
            <a:pPr>
              <a:lnSpc>
                <a:spcPct val="120000"/>
              </a:lnSpc>
            </a:pPr>
            <a:r>
              <a:rPr lang="zh-CN" altLang="en-US" sz="1800" dirty="0" err="1">
                <a:solidFill>
                  <a:schemeClr val="accent4">
                    <a:lumMod val="60000"/>
                    <a:lumOff val="40000"/>
                  </a:schemeClr>
                </a:solidFill>
                <a:sym typeface="+mn-ea"/>
              </a:rPr>
              <a:t>生产者和消费者进程，单独执行或顺序执行，都正确。</a:t>
            </a:r>
          </a:p>
          <a:p>
            <a:pPr>
              <a:lnSpc>
                <a:spcPct val="120000"/>
              </a:lnSpc>
            </a:pPr>
            <a:r>
              <a:rPr lang="zh-CN" altLang="en-US" sz="1800" dirty="0" err="1">
                <a:solidFill>
                  <a:schemeClr val="accent4">
                    <a:lumMod val="60000"/>
                    <a:lumOff val="40000"/>
                  </a:schemeClr>
                </a:solidFill>
                <a:sym typeface="+mn-ea"/>
              </a:rPr>
              <a:t>但并发执行，会出错，问题在于共享变量</a:t>
            </a:r>
            <a:r>
              <a:rPr lang="en-US" altLang="zh-CN" sz="1800" dirty="0" err="1">
                <a:solidFill>
                  <a:schemeClr val="accent4">
                    <a:lumMod val="60000"/>
                    <a:lumOff val="40000"/>
                  </a:schemeClr>
                </a:solidFill>
                <a:sym typeface="+mn-ea"/>
              </a:rPr>
              <a:t>count</a:t>
            </a:r>
            <a:r>
              <a:rPr lang="zh-CN" altLang="en-US" sz="1800" dirty="0" err="1">
                <a:solidFill>
                  <a:schemeClr val="accent4">
                    <a:lumMod val="60000"/>
                    <a:lumOff val="40000"/>
                  </a:schemeClr>
                </a:solidFill>
                <a:sym typeface="+mn-ea"/>
              </a:rPr>
              <a:t>。</a:t>
            </a:r>
            <a:endParaRPr lang="zh-CN" altLang="en-US" sz="1800" b="1" dirty="0" err="1">
              <a:solidFill>
                <a:schemeClr val="accent4">
                  <a:lumMod val="60000"/>
                  <a:lumOff val="40000"/>
                </a:schemeClr>
              </a:solidFill>
              <a:sym typeface="+mn-ea"/>
            </a:endParaRPr>
          </a:p>
        </p:txBody>
      </p:sp>
    </p:spTree>
    <p:extLst>
      <p:ext uri="{BB962C8B-B14F-4D97-AF65-F5344CB8AC3E}">
        <p14:creationId xmlns:p14="http://schemas.microsoft.com/office/powerpoint/2010/main" val="3454728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en-US" altLang="zh-CN" sz="2100" b="1" dirty="0">
                <a:solidFill>
                  <a:schemeClr val="bg1"/>
                </a:solidFill>
              </a:rPr>
              <a:t>count++</a:t>
            </a:r>
            <a:r>
              <a:rPr lang="zh-CN" altLang="en-US" sz="2100" b="1" dirty="0">
                <a:solidFill>
                  <a:schemeClr val="bg1"/>
                </a:solidFill>
              </a:rPr>
              <a:t>和</a:t>
            </a:r>
            <a:r>
              <a:rPr lang="en-US" altLang="zh-CN" sz="2100" b="1" dirty="0">
                <a:solidFill>
                  <a:schemeClr val="bg1"/>
                </a:solidFill>
              </a:rPr>
              <a:t>count--</a:t>
            </a:r>
            <a:r>
              <a:rPr lang="zh-CN" altLang="en-US" sz="2100" b="1" dirty="0">
                <a:solidFill>
                  <a:schemeClr val="bg1"/>
                </a:solidFill>
              </a:rPr>
              <a:t>的</a:t>
            </a:r>
            <a:r>
              <a:rPr lang="zh-CN" altLang="en-US" sz="2100" b="1" dirty="0">
                <a:solidFill>
                  <a:srgbClr val="FF0000"/>
                </a:solidFill>
              </a:rPr>
              <a:t>机器语言</a:t>
            </a:r>
          </a:p>
        </p:txBody>
      </p:sp>
      <p:sp>
        <p:nvSpPr>
          <p:cNvPr id="6" name="Rectangle 1027"/>
          <p:cNvSpPr txBox="1">
            <a:spLocks noChangeArrowheads="1"/>
          </p:cNvSpPr>
          <p:nvPr/>
        </p:nvSpPr>
        <p:spPr>
          <a:xfrm>
            <a:off x="502444" y="1847045"/>
            <a:ext cx="2957513" cy="30861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0034" indent="-350996">
              <a:lnSpc>
                <a:spcPct val="132000"/>
              </a:lnSpc>
              <a:buClr>
                <a:srgbClr val="FF0000"/>
              </a:buClr>
              <a:buFont typeface="Wingdings" panose="05000000000000000000" pitchFamily="2" charset="2"/>
              <a:buChar char="n"/>
            </a:pPr>
            <a:r>
              <a:rPr lang="en-US" altLang="zh-CN" sz="1950" dirty="0"/>
              <a:t>count</a:t>
            </a:r>
            <a:r>
              <a:rPr lang="zh-CN" altLang="en-US" sz="1950" dirty="0"/>
              <a:t>++</a:t>
            </a:r>
            <a:r>
              <a:rPr lang="en-US" altLang="zh-CN" sz="1950" dirty="0"/>
              <a:t>:</a:t>
            </a:r>
          </a:p>
          <a:p>
            <a:pPr lvl="1">
              <a:lnSpc>
                <a:spcPct val="132000"/>
              </a:lnSpc>
            </a:pPr>
            <a:r>
              <a:rPr lang="en-US" altLang="zh-CN" sz="1950" dirty="0"/>
              <a:t>R1=count; 	1</a:t>
            </a:r>
          </a:p>
          <a:p>
            <a:pPr lvl="1">
              <a:lnSpc>
                <a:spcPct val="132000"/>
              </a:lnSpc>
            </a:pPr>
            <a:r>
              <a:rPr lang="en-US" altLang="zh-CN" sz="1950" dirty="0"/>
              <a:t>R1=R1+1; 	2</a:t>
            </a:r>
          </a:p>
          <a:p>
            <a:pPr lvl="1">
              <a:lnSpc>
                <a:spcPct val="132000"/>
              </a:lnSpc>
            </a:pPr>
            <a:r>
              <a:rPr lang="en-US" altLang="zh-CN" sz="1950" dirty="0"/>
              <a:t>count=R1; 	3</a:t>
            </a:r>
          </a:p>
          <a:p>
            <a:pPr marL="270034" indent="-350996">
              <a:lnSpc>
                <a:spcPct val="132000"/>
              </a:lnSpc>
              <a:buClr>
                <a:srgbClr val="FF0000"/>
              </a:buClr>
              <a:buFont typeface="Wingdings" panose="05000000000000000000" pitchFamily="2" charset="2"/>
              <a:buChar char="n"/>
            </a:pPr>
            <a:r>
              <a:rPr lang="en-US" altLang="zh-CN" sz="1950" dirty="0"/>
              <a:t>count--: </a:t>
            </a:r>
          </a:p>
          <a:p>
            <a:pPr lvl="1">
              <a:lnSpc>
                <a:spcPct val="132000"/>
              </a:lnSpc>
            </a:pPr>
            <a:r>
              <a:rPr lang="en-US" altLang="zh-CN" sz="1950" dirty="0"/>
              <a:t>R2=count;       4</a:t>
            </a:r>
          </a:p>
          <a:p>
            <a:pPr lvl="1">
              <a:lnSpc>
                <a:spcPct val="132000"/>
              </a:lnSpc>
            </a:pPr>
            <a:r>
              <a:rPr lang="en-US" altLang="zh-CN" sz="1950" dirty="0"/>
              <a:t>R2=R2-1;        5</a:t>
            </a:r>
          </a:p>
          <a:p>
            <a:pPr lvl="1">
              <a:lnSpc>
                <a:spcPct val="132000"/>
              </a:lnSpc>
            </a:pPr>
            <a:r>
              <a:rPr lang="en-US" altLang="zh-CN" sz="1950" dirty="0"/>
              <a:t>count=R2;       6</a:t>
            </a:r>
          </a:p>
        </p:txBody>
      </p:sp>
      <p:sp>
        <p:nvSpPr>
          <p:cNvPr id="7" name="Text Box 1028"/>
          <p:cNvSpPr txBox="1">
            <a:spLocks noChangeArrowheads="1"/>
          </p:cNvSpPr>
          <p:nvPr/>
        </p:nvSpPr>
        <p:spPr bwMode="auto">
          <a:xfrm>
            <a:off x="3518702" y="1847045"/>
            <a:ext cx="5473692"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1800" dirty="0">
                <a:latin typeface="+mn-lt"/>
                <a:ea typeface="+mn-ea"/>
              </a:rPr>
              <a:t>Count</a:t>
            </a:r>
            <a:r>
              <a:rPr lang="zh-CN" altLang="en-US" sz="1800" dirty="0">
                <a:latin typeface="+mn-ea"/>
                <a:ea typeface="+mn-ea"/>
              </a:rPr>
              <a:t>初值为</a:t>
            </a:r>
            <a:r>
              <a:rPr lang="en-US" altLang="zh-CN" sz="1800" dirty="0">
                <a:latin typeface="+mn-lt"/>
                <a:ea typeface="+mn-ea"/>
              </a:rPr>
              <a:t>4</a:t>
            </a:r>
            <a:r>
              <a:rPr lang="en-US" altLang="zh-CN" sz="1500" dirty="0">
                <a:latin typeface="+mn-ea"/>
                <a:ea typeface="+mn-ea"/>
              </a:rPr>
              <a:t>,</a:t>
            </a:r>
            <a:r>
              <a:rPr lang="zh-CN" altLang="en-US" sz="1800" dirty="0">
                <a:latin typeface="+mn-ea"/>
                <a:ea typeface="+mn-ea"/>
              </a:rPr>
              <a:t>并发执行</a:t>
            </a:r>
            <a:r>
              <a:rPr lang="en-US" altLang="zh-CN" sz="1800" dirty="0">
                <a:latin typeface="+mn-lt"/>
                <a:ea typeface="+mn-ea"/>
              </a:rPr>
              <a:t>produce()</a:t>
            </a:r>
            <a:r>
              <a:rPr lang="zh-CN" altLang="en-US" sz="1800" dirty="0">
                <a:latin typeface="+mn-ea"/>
                <a:ea typeface="+mn-ea"/>
              </a:rPr>
              <a:t>和</a:t>
            </a:r>
            <a:r>
              <a:rPr lang="en-US" altLang="zh-CN" sz="1800" dirty="0">
                <a:latin typeface="+mn-lt"/>
                <a:ea typeface="+mn-ea"/>
              </a:rPr>
              <a:t>consume()</a:t>
            </a:r>
            <a:r>
              <a:rPr lang="zh-CN" altLang="en-US" sz="1800" dirty="0">
                <a:latin typeface="+mn-ea"/>
                <a:ea typeface="+mn-ea"/>
              </a:rPr>
              <a:t>进程</a:t>
            </a:r>
            <a:endParaRPr lang="en-US" altLang="zh-CN" sz="1800" dirty="0">
              <a:latin typeface="+mn-ea"/>
              <a:ea typeface="+mn-ea"/>
            </a:endParaRPr>
          </a:p>
        </p:txBody>
      </p:sp>
      <p:graphicFrame>
        <p:nvGraphicFramePr>
          <p:cNvPr id="8" name="Group 1056"/>
          <p:cNvGraphicFramePr/>
          <p:nvPr>
            <p:custDataLst>
              <p:tags r:id="rId1"/>
            </p:custDataLst>
          </p:nvPr>
        </p:nvGraphicFramePr>
        <p:xfrm>
          <a:off x="3624235" y="2316734"/>
          <a:ext cx="5040027" cy="1767222"/>
        </p:xfrm>
        <a:graphic>
          <a:graphicData uri="http://schemas.openxmlformats.org/drawingml/2006/table">
            <a:tbl>
              <a:tblPr>
                <a:tableStyleId>{5DA37D80-6434-44D0-A028-1B22A696006F}</a:tableStyleId>
              </a:tblPr>
              <a:tblGrid>
                <a:gridCol w="1680009">
                  <a:extLst>
                    <a:ext uri="{9D8B030D-6E8A-4147-A177-3AD203B41FA5}">
                      <a16:colId xmlns:a16="http://schemas.microsoft.com/office/drawing/2014/main" val="20000"/>
                    </a:ext>
                  </a:extLst>
                </a:gridCol>
                <a:gridCol w="1680009">
                  <a:extLst>
                    <a:ext uri="{9D8B030D-6E8A-4147-A177-3AD203B41FA5}">
                      <a16:colId xmlns:a16="http://schemas.microsoft.com/office/drawing/2014/main" val="20001"/>
                    </a:ext>
                  </a:extLst>
                </a:gridCol>
                <a:gridCol w="1680009">
                  <a:extLst>
                    <a:ext uri="{9D8B030D-6E8A-4147-A177-3AD203B41FA5}">
                      <a16:colId xmlns:a16="http://schemas.microsoft.com/office/drawing/2014/main" val="20002"/>
                    </a:ext>
                  </a:extLst>
                </a:gridCol>
              </a:tblGrid>
              <a:tr h="441806">
                <a:tc>
                  <a:txBody>
                    <a:bodyPr/>
                    <a:lstStyle>
                      <a:lvl1pPr algn="l">
                        <a:spcBef>
                          <a:spcPct val="50000"/>
                        </a:spcBef>
                        <a:buSzPct val="140000"/>
                        <a:defRPr sz="1600">
                          <a:solidFill>
                            <a:schemeClr val="tx1"/>
                          </a:solidFill>
                          <a:latin typeface="Helvetica" panose="020B0604020202020204" pitchFamily="34" charset="0"/>
                          <a:ea typeface="宋体" panose="02010600030101010101" pitchFamily="2" charset="-122"/>
                        </a:defRPr>
                      </a:lvl1pPr>
                      <a:lvl2pPr algn="l">
                        <a:spcBef>
                          <a:spcPct val="20000"/>
                        </a:spcBef>
                        <a:defRPr sz="1600">
                          <a:solidFill>
                            <a:schemeClr val="tx1"/>
                          </a:solidFill>
                          <a:latin typeface="Helvetica" panose="020B0604020202020204" pitchFamily="34" charset="0"/>
                          <a:ea typeface="宋体" panose="02010600030101010101" pitchFamily="2" charset="-122"/>
                        </a:defRPr>
                      </a:lvl2pPr>
                      <a:lvl3pPr algn="l">
                        <a:spcBef>
                          <a:spcPct val="20000"/>
                        </a:spcBef>
                        <a:buSzPct val="85000"/>
                        <a:buFont typeface="Monotype Sorts" pitchFamily="2" charset="2"/>
                        <a:defRPr sz="1600">
                          <a:solidFill>
                            <a:schemeClr val="tx1"/>
                          </a:solidFill>
                          <a:latin typeface="Helvetica" panose="020B0604020202020204" pitchFamily="34" charset="0"/>
                          <a:ea typeface="宋体" panose="02010600030101010101" pitchFamily="2" charset="-122"/>
                        </a:defRPr>
                      </a:lvl3pPr>
                      <a:lvl4pPr algn="l">
                        <a:spcBef>
                          <a:spcPct val="20000"/>
                        </a:spcBef>
                        <a:defRPr sz="1600">
                          <a:solidFill>
                            <a:schemeClr val="tx1"/>
                          </a:solidFill>
                          <a:latin typeface="Helvetica" panose="020B0604020202020204" pitchFamily="34" charset="0"/>
                          <a:ea typeface="宋体" panose="02010600030101010101" pitchFamily="2" charset="-122"/>
                        </a:defRPr>
                      </a:lvl4pPr>
                      <a:lvl5pPr algn="l">
                        <a:spcBef>
                          <a:spcPct val="20000"/>
                        </a:spcBef>
                        <a:defRPr sz="1000">
                          <a:solidFill>
                            <a:schemeClr val="tx1"/>
                          </a:solidFill>
                          <a:latin typeface="Helvetica" panose="020B0604020202020204" pitchFamily="34" charset="0"/>
                          <a:ea typeface="宋体" panose="02010600030101010101" pitchFamily="2" charset="-122"/>
                        </a:defRPr>
                      </a:lvl5pPr>
                      <a:lvl6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6pPr>
                      <a:lvl7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7pPr>
                      <a:lvl8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8pPr>
                      <a:lvl9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zh-CN" altLang="en-US" sz="2300" u="none" strike="noStrike" cap="none" normalizeH="0" baseline="0" dirty="0">
                          <a:ln>
                            <a:noFill/>
                          </a:ln>
                          <a:effectLst/>
                        </a:rPr>
                        <a:t>执行次序</a:t>
                      </a:r>
                      <a:endParaRPr kumimoji="0" lang="zh-CN" altLang="en-US" sz="2300" b="0" i="0" u="none" strike="noStrike" cap="none" normalizeH="0" baseline="0" dirty="0">
                        <a:ln>
                          <a:noFill/>
                        </a:ln>
                        <a:solidFill>
                          <a:schemeClr val="tx1"/>
                        </a:solidFill>
                        <a:effectLst/>
                        <a:latin typeface="+mn-ea"/>
                        <a:ea typeface="+mn-ea"/>
                      </a:endParaRPr>
                    </a:p>
                  </a:txBody>
                  <a:tcPr marL="87476" marR="87476" marT="43738" marB="43738" horzOverflow="overflow"/>
                </a:tc>
                <a:tc>
                  <a:txBody>
                    <a:bodyPr/>
                    <a:lstStyle>
                      <a:lvl1pPr algn="l">
                        <a:spcBef>
                          <a:spcPct val="50000"/>
                        </a:spcBef>
                        <a:buSzPct val="140000"/>
                        <a:defRPr sz="1600">
                          <a:solidFill>
                            <a:schemeClr val="tx1"/>
                          </a:solidFill>
                          <a:latin typeface="Helvetica" panose="020B0604020202020204" pitchFamily="34" charset="0"/>
                          <a:ea typeface="宋体" panose="02010600030101010101" pitchFamily="2" charset="-122"/>
                        </a:defRPr>
                      </a:lvl1pPr>
                      <a:lvl2pPr algn="l">
                        <a:spcBef>
                          <a:spcPct val="20000"/>
                        </a:spcBef>
                        <a:defRPr sz="1600">
                          <a:solidFill>
                            <a:schemeClr val="tx1"/>
                          </a:solidFill>
                          <a:latin typeface="Helvetica" panose="020B0604020202020204" pitchFamily="34" charset="0"/>
                          <a:ea typeface="宋体" panose="02010600030101010101" pitchFamily="2" charset="-122"/>
                        </a:defRPr>
                      </a:lvl2pPr>
                      <a:lvl3pPr algn="l">
                        <a:spcBef>
                          <a:spcPct val="20000"/>
                        </a:spcBef>
                        <a:buSzPct val="85000"/>
                        <a:buFont typeface="Monotype Sorts" pitchFamily="2" charset="2"/>
                        <a:defRPr sz="1600">
                          <a:solidFill>
                            <a:schemeClr val="tx1"/>
                          </a:solidFill>
                          <a:latin typeface="Helvetica" panose="020B0604020202020204" pitchFamily="34" charset="0"/>
                          <a:ea typeface="宋体" panose="02010600030101010101" pitchFamily="2" charset="-122"/>
                        </a:defRPr>
                      </a:lvl3pPr>
                      <a:lvl4pPr algn="l">
                        <a:spcBef>
                          <a:spcPct val="20000"/>
                        </a:spcBef>
                        <a:defRPr sz="1600">
                          <a:solidFill>
                            <a:schemeClr val="tx1"/>
                          </a:solidFill>
                          <a:latin typeface="Helvetica" panose="020B0604020202020204" pitchFamily="34" charset="0"/>
                          <a:ea typeface="宋体" panose="02010600030101010101" pitchFamily="2" charset="-122"/>
                        </a:defRPr>
                      </a:lvl4pPr>
                      <a:lvl5pPr algn="l">
                        <a:spcBef>
                          <a:spcPct val="20000"/>
                        </a:spcBef>
                        <a:defRPr sz="1000">
                          <a:solidFill>
                            <a:schemeClr val="tx1"/>
                          </a:solidFill>
                          <a:latin typeface="Helvetica" panose="020B0604020202020204" pitchFamily="34" charset="0"/>
                          <a:ea typeface="宋体" panose="02010600030101010101" pitchFamily="2" charset="-122"/>
                        </a:defRPr>
                      </a:lvl5pPr>
                      <a:lvl6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6pPr>
                      <a:lvl7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7pPr>
                      <a:lvl8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8pPr>
                      <a:lvl9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zh-CN" altLang="en-US" sz="2300" u="none" strike="noStrike" cap="none" normalizeH="0" baseline="0" dirty="0">
                          <a:ln>
                            <a:noFill/>
                          </a:ln>
                          <a:effectLst/>
                        </a:rPr>
                        <a:t>结果</a:t>
                      </a:r>
                      <a:endParaRPr kumimoji="0" lang="zh-CN" altLang="en-US" sz="2300" b="0" i="0" u="none" strike="noStrike" cap="none" normalizeH="0" baseline="0" dirty="0">
                        <a:ln>
                          <a:noFill/>
                        </a:ln>
                        <a:solidFill>
                          <a:schemeClr val="tx1"/>
                        </a:solidFill>
                        <a:effectLst/>
                        <a:latin typeface="+mn-ea"/>
                        <a:ea typeface="+mn-ea"/>
                      </a:endParaRPr>
                    </a:p>
                  </a:txBody>
                  <a:tcPr marL="87476" marR="87476" marT="43738" marB="43738" horzOverflow="overflow"/>
                </a:tc>
                <a:tc>
                  <a:txBody>
                    <a:bodyPr/>
                    <a:lstStyle>
                      <a:lvl1pPr algn="l">
                        <a:spcBef>
                          <a:spcPct val="50000"/>
                        </a:spcBef>
                        <a:buSzPct val="140000"/>
                        <a:defRPr sz="1600">
                          <a:solidFill>
                            <a:schemeClr val="tx1"/>
                          </a:solidFill>
                          <a:latin typeface="Helvetica" panose="020B0604020202020204" pitchFamily="34" charset="0"/>
                          <a:ea typeface="宋体" panose="02010600030101010101" pitchFamily="2" charset="-122"/>
                        </a:defRPr>
                      </a:lvl1pPr>
                      <a:lvl2pPr algn="l">
                        <a:spcBef>
                          <a:spcPct val="20000"/>
                        </a:spcBef>
                        <a:defRPr sz="1600">
                          <a:solidFill>
                            <a:schemeClr val="tx1"/>
                          </a:solidFill>
                          <a:latin typeface="Helvetica" panose="020B0604020202020204" pitchFamily="34" charset="0"/>
                          <a:ea typeface="宋体" panose="02010600030101010101" pitchFamily="2" charset="-122"/>
                        </a:defRPr>
                      </a:lvl2pPr>
                      <a:lvl3pPr algn="l">
                        <a:spcBef>
                          <a:spcPct val="20000"/>
                        </a:spcBef>
                        <a:buSzPct val="85000"/>
                        <a:buFont typeface="Monotype Sorts" pitchFamily="2" charset="2"/>
                        <a:defRPr sz="1600">
                          <a:solidFill>
                            <a:schemeClr val="tx1"/>
                          </a:solidFill>
                          <a:latin typeface="Helvetica" panose="020B0604020202020204" pitchFamily="34" charset="0"/>
                          <a:ea typeface="宋体" panose="02010600030101010101" pitchFamily="2" charset="-122"/>
                        </a:defRPr>
                      </a:lvl3pPr>
                      <a:lvl4pPr algn="l">
                        <a:spcBef>
                          <a:spcPct val="20000"/>
                        </a:spcBef>
                        <a:defRPr sz="1600">
                          <a:solidFill>
                            <a:schemeClr val="tx1"/>
                          </a:solidFill>
                          <a:latin typeface="Helvetica" panose="020B0604020202020204" pitchFamily="34" charset="0"/>
                          <a:ea typeface="宋体" panose="02010600030101010101" pitchFamily="2" charset="-122"/>
                        </a:defRPr>
                      </a:lvl4pPr>
                      <a:lvl5pPr algn="l">
                        <a:spcBef>
                          <a:spcPct val="20000"/>
                        </a:spcBef>
                        <a:defRPr sz="1000">
                          <a:solidFill>
                            <a:schemeClr val="tx1"/>
                          </a:solidFill>
                          <a:latin typeface="Helvetica" panose="020B0604020202020204" pitchFamily="34" charset="0"/>
                          <a:ea typeface="宋体" panose="02010600030101010101" pitchFamily="2" charset="-122"/>
                        </a:defRPr>
                      </a:lvl5pPr>
                      <a:lvl6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6pPr>
                      <a:lvl7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7pPr>
                      <a:lvl8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8pPr>
                      <a:lvl9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zh-CN" altLang="en-US" sz="2300" u="none" strike="noStrike" cap="none" normalizeH="0" baseline="0" dirty="0">
                          <a:ln>
                            <a:noFill/>
                          </a:ln>
                          <a:effectLst/>
                        </a:rPr>
                        <a:t>是否正确</a:t>
                      </a:r>
                      <a:endParaRPr kumimoji="0" lang="zh-CN" altLang="en-US" sz="2300" b="0" i="0" u="none" strike="noStrike" cap="none" normalizeH="0" baseline="0" dirty="0">
                        <a:ln>
                          <a:noFill/>
                        </a:ln>
                        <a:solidFill>
                          <a:schemeClr val="tx1"/>
                        </a:solidFill>
                        <a:effectLst/>
                        <a:latin typeface="+mn-ea"/>
                        <a:ea typeface="+mn-ea"/>
                      </a:endParaRPr>
                    </a:p>
                  </a:txBody>
                  <a:tcPr marL="87476" marR="87476" marT="43738" marB="43738" horzOverflow="overflow"/>
                </a:tc>
                <a:extLst>
                  <a:ext uri="{0D108BD9-81ED-4DB2-BD59-A6C34878D82A}">
                    <a16:rowId xmlns:a16="http://schemas.microsoft.com/office/drawing/2014/main" val="10000"/>
                  </a:ext>
                </a:extLst>
              </a:tr>
              <a:tr h="441806">
                <a:tc>
                  <a:txBody>
                    <a:bodyPr/>
                    <a:lstStyle>
                      <a:lvl1pPr algn="l">
                        <a:spcBef>
                          <a:spcPct val="50000"/>
                        </a:spcBef>
                        <a:buSzPct val="140000"/>
                        <a:defRPr sz="1600">
                          <a:solidFill>
                            <a:schemeClr val="tx1"/>
                          </a:solidFill>
                          <a:latin typeface="Helvetica" panose="020B0604020202020204" pitchFamily="34" charset="0"/>
                          <a:ea typeface="宋体" panose="02010600030101010101" pitchFamily="2" charset="-122"/>
                        </a:defRPr>
                      </a:lvl1pPr>
                      <a:lvl2pPr algn="l">
                        <a:spcBef>
                          <a:spcPct val="20000"/>
                        </a:spcBef>
                        <a:defRPr sz="1600">
                          <a:solidFill>
                            <a:schemeClr val="tx1"/>
                          </a:solidFill>
                          <a:latin typeface="Helvetica" panose="020B0604020202020204" pitchFamily="34" charset="0"/>
                          <a:ea typeface="宋体" panose="02010600030101010101" pitchFamily="2" charset="-122"/>
                        </a:defRPr>
                      </a:lvl2pPr>
                      <a:lvl3pPr algn="l">
                        <a:spcBef>
                          <a:spcPct val="20000"/>
                        </a:spcBef>
                        <a:buSzPct val="85000"/>
                        <a:buFont typeface="Monotype Sorts" pitchFamily="2" charset="2"/>
                        <a:defRPr sz="1600">
                          <a:solidFill>
                            <a:schemeClr val="tx1"/>
                          </a:solidFill>
                          <a:latin typeface="Helvetica" panose="020B0604020202020204" pitchFamily="34" charset="0"/>
                          <a:ea typeface="宋体" panose="02010600030101010101" pitchFamily="2" charset="-122"/>
                        </a:defRPr>
                      </a:lvl3pPr>
                      <a:lvl4pPr algn="l">
                        <a:spcBef>
                          <a:spcPct val="20000"/>
                        </a:spcBef>
                        <a:defRPr sz="1600">
                          <a:solidFill>
                            <a:schemeClr val="tx1"/>
                          </a:solidFill>
                          <a:latin typeface="Helvetica" panose="020B0604020202020204" pitchFamily="34" charset="0"/>
                          <a:ea typeface="宋体" panose="02010600030101010101" pitchFamily="2" charset="-122"/>
                        </a:defRPr>
                      </a:lvl4pPr>
                      <a:lvl5pPr algn="l">
                        <a:spcBef>
                          <a:spcPct val="20000"/>
                        </a:spcBef>
                        <a:defRPr sz="1000">
                          <a:solidFill>
                            <a:schemeClr val="tx1"/>
                          </a:solidFill>
                          <a:latin typeface="Helvetica" panose="020B0604020202020204" pitchFamily="34" charset="0"/>
                          <a:ea typeface="宋体" panose="02010600030101010101" pitchFamily="2" charset="-122"/>
                        </a:defRPr>
                      </a:lvl5pPr>
                      <a:lvl6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6pPr>
                      <a:lvl7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7pPr>
                      <a:lvl8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8pPr>
                      <a:lvl9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2300" u="none" strike="noStrike" cap="none" normalizeH="0" baseline="0" dirty="0">
                          <a:ln>
                            <a:noFill/>
                          </a:ln>
                          <a:effectLst/>
                        </a:rPr>
                        <a:t>123456</a:t>
                      </a:r>
                      <a:endParaRPr kumimoji="0" lang="zh-CN" altLang="en-US" sz="2300" b="0" i="0" u="none" strike="noStrike" cap="none" normalizeH="0" baseline="0" dirty="0">
                        <a:ln>
                          <a:noFill/>
                        </a:ln>
                        <a:solidFill>
                          <a:schemeClr val="tx1"/>
                        </a:solidFill>
                        <a:effectLst/>
                        <a:latin typeface="+mn-lt"/>
                        <a:ea typeface="+mn-ea"/>
                      </a:endParaRPr>
                    </a:p>
                  </a:txBody>
                  <a:tcPr marL="87476" marR="87476" marT="43738" marB="43738" horzOverflow="overflow"/>
                </a:tc>
                <a:tc>
                  <a:txBody>
                    <a:bodyPr/>
                    <a:lstStyle>
                      <a:lvl1pPr algn="l">
                        <a:spcBef>
                          <a:spcPct val="50000"/>
                        </a:spcBef>
                        <a:buSzPct val="140000"/>
                        <a:defRPr sz="1600">
                          <a:solidFill>
                            <a:schemeClr val="tx1"/>
                          </a:solidFill>
                          <a:latin typeface="Helvetica" panose="020B0604020202020204" pitchFamily="34" charset="0"/>
                          <a:ea typeface="宋体" panose="02010600030101010101" pitchFamily="2" charset="-122"/>
                        </a:defRPr>
                      </a:lvl1pPr>
                      <a:lvl2pPr algn="l">
                        <a:spcBef>
                          <a:spcPct val="20000"/>
                        </a:spcBef>
                        <a:defRPr sz="1600">
                          <a:solidFill>
                            <a:schemeClr val="tx1"/>
                          </a:solidFill>
                          <a:latin typeface="Helvetica" panose="020B0604020202020204" pitchFamily="34" charset="0"/>
                          <a:ea typeface="宋体" panose="02010600030101010101" pitchFamily="2" charset="-122"/>
                        </a:defRPr>
                      </a:lvl2pPr>
                      <a:lvl3pPr algn="l">
                        <a:spcBef>
                          <a:spcPct val="20000"/>
                        </a:spcBef>
                        <a:buSzPct val="85000"/>
                        <a:buFont typeface="Monotype Sorts" pitchFamily="2" charset="2"/>
                        <a:defRPr sz="1600">
                          <a:solidFill>
                            <a:schemeClr val="tx1"/>
                          </a:solidFill>
                          <a:latin typeface="Helvetica" panose="020B0604020202020204" pitchFamily="34" charset="0"/>
                          <a:ea typeface="宋体" panose="02010600030101010101" pitchFamily="2" charset="-122"/>
                        </a:defRPr>
                      </a:lvl3pPr>
                      <a:lvl4pPr algn="l">
                        <a:spcBef>
                          <a:spcPct val="20000"/>
                        </a:spcBef>
                        <a:defRPr sz="1600">
                          <a:solidFill>
                            <a:schemeClr val="tx1"/>
                          </a:solidFill>
                          <a:latin typeface="Helvetica" panose="020B0604020202020204" pitchFamily="34" charset="0"/>
                          <a:ea typeface="宋体" panose="02010600030101010101" pitchFamily="2" charset="-122"/>
                        </a:defRPr>
                      </a:lvl4pPr>
                      <a:lvl5pPr algn="l">
                        <a:spcBef>
                          <a:spcPct val="20000"/>
                        </a:spcBef>
                        <a:defRPr sz="1000">
                          <a:solidFill>
                            <a:schemeClr val="tx1"/>
                          </a:solidFill>
                          <a:latin typeface="Helvetica" panose="020B0604020202020204" pitchFamily="34" charset="0"/>
                          <a:ea typeface="宋体" panose="02010600030101010101" pitchFamily="2" charset="-122"/>
                        </a:defRPr>
                      </a:lvl5pPr>
                      <a:lvl6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6pPr>
                      <a:lvl7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7pPr>
                      <a:lvl8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8pPr>
                      <a:lvl9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2300" u="none" strike="noStrike" cap="none" normalizeH="0" baseline="0" dirty="0">
                          <a:ln>
                            <a:noFill/>
                          </a:ln>
                          <a:effectLst/>
                        </a:rPr>
                        <a:t>4</a:t>
                      </a:r>
                      <a:endParaRPr kumimoji="0" lang="en-US" altLang="zh-CN" sz="2300" b="0" i="0" u="none" strike="noStrike" cap="none" normalizeH="0" baseline="0" dirty="0">
                        <a:ln>
                          <a:noFill/>
                        </a:ln>
                        <a:solidFill>
                          <a:schemeClr val="tx1"/>
                        </a:solidFill>
                        <a:effectLst/>
                        <a:latin typeface="+mn-lt"/>
                        <a:ea typeface="+mn-ea"/>
                      </a:endParaRPr>
                    </a:p>
                  </a:txBody>
                  <a:tcPr marL="87476" marR="87476" marT="43738" marB="43738" horzOverflow="overflow"/>
                </a:tc>
                <a:tc>
                  <a:txBody>
                    <a:bodyPr/>
                    <a:lstStyle>
                      <a:lvl1pPr algn="l">
                        <a:spcBef>
                          <a:spcPct val="50000"/>
                        </a:spcBef>
                        <a:buSzPct val="140000"/>
                        <a:defRPr sz="1600">
                          <a:solidFill>
                            <a:schemeClr val="tx1"/>
                          </a:solidFill>
                          <a:latin typeface="Helvetica" panose="020B0604020202020204" pitchFamily="34" charset="0"/>
                          <a:ea typeface="宋体" panose="02010600030101010101" pitchFamily="2" charset="-122"/>
                        </a:defRPr>
                      </a:lvl1pPr>
                      <a:lvl2pPr algn="l">
                        <a:spcBef>
                          <a:spcPct val="20000"/>
                        </a:spcBef>
                        <a:defRPr sz="1600">
                          <a:solidFill>
                            <a:schemeClr val="tx1"/>
                          </a:solidFill>
                          <a:latin typeface="Helvetica" panose="020B0604020202020204" pitchFamily="34" charset="0"/>
                          <a:ea typeface="宋体" panose="02010600030101010101" pitchFamily="2" charset="-122"/>
                        </a:defRPr>
                      </a:lvl2pPr>
                      <a:lvl3pPr algn="l">
                        <a:spcBef>
                          <a:spcPct val="20000"/>
                        </a:spcBef>
                        <a:buSzPct val="85000"/>
                        <a:buFont typeface="Monotype Sorts" pitchFamily="2" charset="2"/>
                        <a:defRPr sz="1600">
                          <a:solidFill>
                            <a:schemeClr val="tx1"/>
                          </a:solidFill>
                          <a:latin typeface="Helvetica" panose="020B0604020202020204" pitchFamily="34" charset="0"/>
                          <a:ea typeface="宋体" panose="02010600030101010101" pitchFamily="2" charset="-122"/>
                        </a:defRPr>
                      </a:lvl3pPr>
                      <a:lvl4pPr algn="l">
                        <a:spcBef>
                          <a:spcPct val="20000"/>
                        </a:spcBef>
                        <a:defRPr sz="1600">
                          <a:solidFill>
                            <a:schemeClr val="tx1"/>
                          </a:solidFill>
                          <a:latin typeface="Helvetica" panose="020B0604020202020204" pitchFamily="34" charset="0"/>
                          <a:ea typeface="宋体" panose="02010600030101010101" pitchFamily="2" charset="-122"/>
                        </a:defRPr>
                      </a:lvl4pPr>
                      <a:lvl5pPr algn="l">
                        <a:spcBef>
                          <a:spcPct val="20000"/>
                        </a:spcBef>
                        <a:defRPr sz="1000">
                          <a:solidFill>
                            <a:schemeClr val="tx1"/>
                          </a:solidFill>
                          <a:latin typeface="Helvetica" panose="020B0604020202020204" pitchFamily="34" charset="0"/>
                          <a:ea typeface="宋体" panose="02010600030101010101" pitchFamily="2" charset="-122"/>
                        </a:defRPr>
                      </a:lvl5pPr>
                      <a:lvl6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6pPr>
                      <a:lvl7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7pPr>
                      <a:lvl8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8pPr>
                      <a:lvl9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zh-CN" altLang="en-US" sz="2300" u="none" strike="noStrike" cap="none" normalizeH="0" baseline="0" dirty="0">
                          <a:ln>
                            <a:noFill/>
                          </a:ln>
                          <a:effectLst/>
                        </a:rPr>
                        <a:t>是</a:t>
                      </a:r>
                      <a:endParaRPr kumimoji="0" lang="zh-CN" altLang="en-US" sz="2300" b="0" i="0" u="none" strike="noStrike" cap="none" normalizeH="0" baseline="0" dirty="0">
                        <a:ln>
                          <a:noFill/>
                        </a:ln>
                        <a:solidFill>
                          <a:schemeClr val="tx1"/>
                        </a:solidFill>
                        <a:effectLst/>
                        <a:latin typeface="+mn-ea"/>
                        <a:ea typeface="+mn-ea"/>
                      </a:endParaRPr>
                    </a:p>
                  </a:txBody>
                  <a:tcPr marL="87476" marR="87476" marT="43738" marB="43738" horzOverflow="overflow"/>
                </a:tc>
                <a:extLst>
                  <a:ext uri="{0D108BD9-81ED-4DB2-BD59-A6C34878D82A}">
                    <a16:rowId xmlns:a16="http://schemas.microsoft.com/office/drawing/2014/main" val="10001"/>
                  </a:ext>
                </a:extLst>
              </a:tr>
              <a:tr h="441806">
                <a:tc>
                  <a:txBody>
                    <a:bodyPr/>
                    <a:lstStyle>
                      <a:lvl1pPr algn="l">
                        <a:spcBef>
                          <a:spcPct val="50000"/>
                        </a:spcBef>
                        <a:buSzPct val="140000"/>
                        <a:defRPr sz="1600">
                          <a:solidFill>
                            <a:schemeClr val="tx1"/>
                          </a:solidFill>
                          <a:latin typeface="Helvetica" panose="020B0604020202020204" pitchFamily="34" charset="0"/>
                          <a:ea typeface="宋体" panose="02010600030101010101" pitchFamily="2" charset="-122"/>
                        </a:defRPr>
                      </a:lvl1pPr>
                      <a:lvl2pPr algn="l">
                        <a:spcBef>
                          <a:spcPct val="20000"/>
                        </a:spcBef>
                        <a:defRPr sz="1600">
                          <a:solidFill>
                            <a:schemeClr val="tx1"/>
                          </a:solidFill>
                          <a:latin typeface="Helvetica" panose="020B0604020202020204" pitchFamily="34" charset="0"/>
                          <a:ea typeface="宋体" panose="02010600030101010101" pitchFamily="2" charset="-122"/>
                        </a:defRPr>
                      </a:lvl2pPr>
                      <a:lvl3pPr algn="l">
                        <a:spcBef>
                          <a:spcPct val="20000"/>
                        </a:spcBef>
                        <a:buSzPct val="85000"/>
                        <a:buFont typeface="Monotype Sorts" pitchFamily="2" charset="2"/>
                        <a:defRPr sz="1600">
                          <a:solidFill>
                            <a:schemeClr val="tx1"/>
                          </a:solidFill>
                          <a:latin typeface="Helvetica" panose="020B0604020202020204" pitchFamily="34" charset="0"/>
                          <a:ea typeface="宋体" panose="02010600030101010101" pitchFamily="2" charset="-122"/>
                        </a:defRPr>
                      </a:lvl3pPr>
                      <a:lvl4pPr algn="l">
                        <a:spcBef>
                          <a:spcPct val="20000"/>
                        </a:spcBef>
                        <a:defRPr sz="1600">
                          <a:solidFill>
                            <a:schemeClr val="tx1"/>
                          </a:solidFill>
                          <a:latin typeface="Helvetica" panose="020B0604020202020204" pitchFamily="34" charset="0"/>
                          <a:ea typeface="宋体" panose="02010600030101010101" pitchFamily="2" charset="-122"/>
                        </a:defRPr>
                      </a:lvl4pPr>
                      <a:lvl5pPr algn="l">
                        <a:spcBef>
                          <a:spcPct val="20000"/>
                        </a:spcBef>
                        <a:defRPr sz="1000">
                          <a:solidFill>
                            <a:schemeClr val="tx1"/>
                          </a:solidFill>
                          <a:latin typeface="Helvetica" panose="020B0604020202020204" pitchFamily="34" charset="0"/>
                          <a:ea typeface="宋体" panose="02010600030101010101" pitchFamily="2" charset="-122"/>
                        </a:defRPr>
                      </a:lvl5pPr>
                      <a:lvl6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6pPr>
                      <a:lvl7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7pPr>
                      <a:lvl8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8pPr>
                      <a:lvl9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2300" u="none" strike="noStrike" cap="none" normalizeH="0" baseline="0" dirty="0">
                          <a:ln>
                            <a:noFill/>
                          </a:ln>
                          <a:effectLst/>
                        </a:rPr>
                        <a:t>142536</a:t>
                      </a:r>
                      <a:endParaRPr kumimoji="0" lang="en-US" altLang="zh-CN" sz="2300" b="0" i="0" u="none" strike="noStrike" cap="none" normalizeH="0" baseline="0" dirty="0">
                        <a:ln>
                          <a:noFill/>
                        </a:ln>
                        <a:solidFill>
                          <a:schemeClr val="tx1"/>
                        </a:solidFill>
                        <a:effectLst/>
                        <a:latin typeface="+mn-lt"/>
                        <a:ea typeface="+mn-ea"/>
                      </a:endParaRPr>
                    </a:p>
                  </a:txBody>
                  <a:tcPr marL="87476" marR="87476" marT="43738" marB="43738" horzOverflow="overflow"/>
                </a:tc>
                <a:tc>
                  <a:txBody>
                    <a:bodyPr/>
                    <a:lstStyle>
                      <a:lvl1pPr algn="l">
                        <a:spcBef>
                          <a:spcPct val="50000"/>
                        </a:spcBef>
                        <a:buSzPct val="140000"/>
                        <a:defRPr sz="1600">
                          <a:solidFill>
                            <a:schemeClr val="tx1"/>
                          </a:solidFill>
                          <a:latin typeface="Helvetica" panose="020B0604020202020204" pitchFamily="34" charset="0"/>
                          <a:ea typeface="宋体" panose="02010600030101010101" pitchFamily="2" charset="-122"/>
                        </a:defRPr>
                      </a:lvl1pPr>
                      <a:lvl2pPr algn="l">
                        <a:spcBef>
                          <a:spcPct val="20000"/>
                        </a:spcBef>
                        <a:defRPr sz="1600">
                          <a:solidFill>
                            <a:schemeClr val="tx1"/>
                          </a:solidFill>
                          <a:latin typeface="Helvetica" panose="020B0604020202020204" pitchFamily="34" charset="0"/>
                          <a:ea typeface="宋体" panose="02010600030101010101" pitchFamily="2" charset="-122"/>
                        </a:defRPr>
                      </a:lvl2pPr>
                      <a:lvl3pPr algn="l">
                        <a:spcBef>
                          <a:spcPct val="20000"/>
                        </a:spcBef>
                        <a:buSzPct val="85000"/>
                        <a:buFont typeface="Monotype Sorts" pitchFamily="2" charset="2"/>
                        <a:defRPr sz="1600">
                          <a:solidFill>
                            <a:schemeClr val="tx1"/>
                          </a:solidFill>
                          <a:latin typeface="Helvetica" panose="020B0604020202020204" pitchFamily="34" charset="0"/>
                          <a:ea typeface="宋体" panose="02010600030101010101" pitchFamily="2" charset="-122"/>
                        </a:defRPr>
                      </a:lvl3pPr>
                      <a:lvl4pPr algn="l">
                        <a:spcBef>
                          <a:spcPct val="20000"/>
                        </a:spcBef>
                        <a:defRPr sz="1600">
                          <a:solidFill>
                            <a:schemeClr val="tx1"/>
                          </a:solidFill>
                          <a:latin typeface="Helvetica" panose="020B0604020202020204" pitchFamily="34" charset="0"/>
                          <a:ea typeface="宋体" panose="02010600030101010101" pitchFamily="2" charset="-122"/>
                        </a:defRPr>
                      </a:lvl4pPr>
                      <a:lvl5pPr algn="l">
                        <a:spcBef>
                          <a:spcPct val="20000"/>
                        </a:spcBef>
                        <a:defRPr sz="1000">
                          <a:solidFill>
                            <a:schemeClr val="tx1"/>
                          </a:solidFill>
                          <a:latin typeface="Helvetica" panose="020B0604020202020204" pitchFamily="34" charset="0"/>
                          <a:ea typeface="宋体" panose="02010600030101010101" pitchFamily="2" charset="-122"/>
                        </a:defRPr>
                      </a:lvl5pPr>
                      <a:lvl6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6pPr>
                      <a:lvl7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7pPr>
                      <a:lvl8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8pPr>
                      <a:lvl9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2300" u="none" strike="noStrike" cap="none" normalizeH="0" baseline="0" dirty="0">
                          <a:ln>
                            <a:noFill/>
                          </a:ln>
                          <a:effectLst/>
                        </a:rPr>
                        <a:t>3 </a:t>
                      </a:r>
                      <a:endParaRPr kumimoji="0" lang="en-US" altLang="zh-CN" sz="2300" b="0" i="0" u="none" strike="noStrike" cap="none" normalizeH="0" baseline="0" dirty="0">
                        <a:ln>
                          <a:noFill/>
                        </a:ln>
                        <a:solidFill>
                          <a:schemeClr val="tx1"/>
                        </a:solidFill>
                        <a:effectLst/>
                        <a:latin typeface="+mn-lt"/>
                        <a:ea typeface="+mn-ea"/>
                      </a:endParaRPr>
                    </a:p>
                  </a:txBody>
                  <a:tcPr marL="87476" marR="87476" marT="43738" marB="43738" horzOverflow="overflow"/>
                </a:tc>
                <a:tc>
                  <a:txBody>
                    <a:bodyPr/>
                    <a:lstStyle>
                      <a:lvl1pPr algn="l">
                        <a:spcBef>
                          <a:spcPct val="50000"/>
                        </a:spcBef>
                        <a:buSzPct val="140000"/>
                        <a:defRPr sz="1600">
                          <a:solidFill>
                            <a:schemeClr val="tx1"/>
                          </a:solidFill>
                          <a:latin typeface="Helvetica" panose="020B0604020202020204" pitchFamily="34" charset="0"/>
                          <a:ea typeface="宋体" panose="02010600030101010101" pitchFamily="2" charset="-122"/>
                        </a:defRPr>
                      </a:lvl1pPr>
                      <a:lvl2pPr algn="l">
                        <a:spcBef>
                          <a:spcPct val="20000"/>
                        </a:spcBef>
                        <a:defRPr sz="1600">
                          <a:solidFill>
                            <a:schemeClr val="tx1"/>
                          </a:solidFill>
                          <a:latin typeface="Helvetica" panose="020B0604020202020204" pitchFamily="34" charset="0"/>
                          <a:ea typeface="宋体" panose="02010600030101010101" pitchFamily="2" charset="-122"/>
                        </a:defRPr>
                      </a:lvl2pPr>
                      <a:lvl3pPr algn="l">
                        <a:spcBef>
                          <a:spcPct val="20000"/>
                        </a:spcBef>
                        <a:buSzPct val="85000"/>
                        <a:buFont typeface="Monotype Sorts" pitchFamily="2" charset="2"/>
                        <a:defRPr sz="1600">
                          <a:solidFill>
                            <a:schemeClr val="tx1"/>
                          </a:solidFill>
                          <a:latin typeface="Helvetica" panose="020B0604020202020204" pitchFamily="34" charset="0"/>
                          <a:ea typeface="宋体" panose="02010600030101010101" pitchFamily="2" charset="-122"/>
                        </a:defRPr>
                      </a:lvl3pPr>
                      <a:lvl4pPr algn="l">
                        <a:spcBef>
                          <a:spcPct val="20000"/>
                        </a:spcBef>
                        <a:defRPr sz="1600">
                          <a:solidFill>
                            <a:schemeClr val="tx1"/>
                          </a:solidFill>
                          <a:latin typeface="Helvetica" panose="020B0604020202020204" pitchFamily="34" charset="0"/>
                          <a:ea typeface="宋体" panose="02010600030101010101" pitchFamily="2" charset="-122"/>
                        </a:defRPr>
                      </a:lvl4pPr>
                      <a:lvl5pPr algn="l">
                        <a:spcBef>
                          <a:spcPct val="20000"/>
                        </a:spcBef>
                        <a:defRPr sz="1000">
                          <a:solidFill>
                            <a:schemeClr val="tx1"/>
                          </a:solidFill>
                          <a:latin typeface="Helvetica" panose="020B0604020202020204" pitchFamily="34" charset="0"/>
                          <a:ea typeface="宋体" panose="02010600030101010101" pitchFamily="2" charset="-122"/>
                        </a:defRPr>
                      </a:lvl5pPr>
                      <a:lvl6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6pPr>
                      <a:lvl7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7pPr>
                      <a:lvl8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8pPr>
                      <a:lvl9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zh-CN" altLang="en-US" sz="2300" u="none" strike="noStrike" cap="none" normalizeH="0" baseline="0" dirty="0">
                          <a:ln>
                            <a:noFill/>
                          </a:ln>
                          <a:effectLst/>
                        </a:rPr>
                        <a:t>否</a:t>
                      </a:r>
                      <a:endParaRPr kumimoji="0" lang="zh-CN" altLang="en-US" sz="2300" b="0" i="0" u="none" strike="noStrike" cap="none" normalizeH="0" baseline="0" dirty="0">
                        <a:ln>
                          <a:noFill/>
                        </a:ln>
                        <a:solidFill>
                          <a:schemeClr val="tx1"/>
                        </a:solidFill>
                        <a:effectLst/>
                        <a:latin typeface="+mn-ea"/>
                        <a:ea typeface="+mn-ea"/>
                      </a:endParaRPr>
                    </a:p>
                  </a:txBody>
                  <a:tcPr marL="87476" marR="87476" marT="43738" marB="43738" horzOverflow="overflow"/>
                </a:tc>
                <a:extLst>
                  <a:ext uri="{0D108BD9-81ED-4DB2-BD59-A6C34878D82A}">
                    <a16:rowId xmlns:a16="http://schemas.microsoft.com/office/drawing/2014/main" val="10002"/>
                  </a:ext>
                </a:extLst>
              </a:tr>
              <a:tr h="441806">
                <a:tc>
                  <a:txBody>
                    <a:bodyPr/>
                    <a:lstStyle>
                      <a:lvl1pPr algn="l">
                        <a:spcBef>
                          <a:spcPct val="50000"/>
                        </a:spcBef>
                        <a:buSzPct val="140000"/>
                        <a:defRPr sz="1600">
                          <a:solidFill>
                            <a:schemeClr val="tx1"/>
                          </a:solidFill>
                          <a:latin typeface="Helvetica" panose="020B0604020202020204" pitchFamily="34" charset="0"/>
                          <a:ea typeface="宋体" panose="02010600030101010101" pitchFamily="2" charset="-122"/>
                        </a:defRPr>
                      </a:lvl1pPr>
                      <a:lvl2pPr algn="l">
                        <a:spcBef>
                          <a:spcPct val="20000"/>
                        </a:spcBef>
                        <a:defRPr sz="1600">
                          <a:solidFill>
                            <a:schemeClr val="tx1"/>
                          </a:solidFill>
                          <a:latin typeface="Helvetica" panose="020B0604020202020204" pitchFamily="34" charset="0"/>
                          <a:ea typeface="宋体" panose="02010600030101010101" pitchFamily="2" charset="-122"/>
                        </a:defRPr>
                      </a:lvl2pPr>
                      <a:lvl3pPr algn="l">
                        <a:spcBef>
                          <a:spcPct val="20000"/>
                        </a:spcBef>
                        <a:buSzPct val="85000"/>
                        <a:buFont typeface="Monotype Sorts" pitchFamily="2" charset="2"/>
                        <a:defRPr sz="1600">
                          <a:solidFill>
                            <a:schemeClr val="tx1"/>
                          </a:solidFill>
                          <a:latin typeface="Helvetica" panose="020B0604020202020204" pitchFamily="34" charset="0"/>
                          <a:ea typeface="宋体" panose="02010600030101010101" pitchFamily="2" charset="-122"/>
                        </a:defRPr>
                      </a:lvl3pPr>
                      <a:lvl4pPr algn="l">
                        <a:spcBef>
                          <a:spcPct val="20000"/>
                        </a:spcBef>
                        <a:defRPr sz="1600">
                          <a:solidFill>
                            <a:schemeClr val="tx1"/>
                          </a:solidFill>
                          <a:latin typeface="Helvetica" panose="020B0604020202020204" pitchFamily="34" charset="0"/>
                          <a:ea typeface="宋体" panose="02010600030101010101" pitchFamily="2" charset="-122"/>
                        </a:defRPr>
                      </a:lvl4pPr>
                      <a:lvl5pPr algn="l">
                        <a:spcBef>
                          <a:spcPct val="20000"/>
                        </a:spcBef>
                        <a:defRPr sz="1000">
                          <a:solidFill>
                            <a:schemeClr val="tx1"/>
                          </a:solidFill>
                          <a:latin typeface="Helvetica" panose="020B0604020202020204" pitchFamily="34" charset="0"/>
                          <a:ea typeface="宋体" panose="02010600030101010101" pitchFamily="2" charset="-122"/>
                        </a:defRPr>
                      </a:lvl5pPr>
                      <a:lvl6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6pPr>
                      <a:lvl7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7pPr>
                      <a:lvl8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8pPr>
                      <a:lvl9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2300" u="none" strike="noStrike" cap="none" normalizeH="0" baseline="0">
                          <a:ln>
                            <a:noFill/>
                          </a:ln>
                          <a:effectLst/>
                        </a:rPr>
                        <a:t>145263</a:t>
                      </a:r>
                      <a:endParaRPr kumimoji="0" lang="en-US" altLang="zh-CN" sz="2300" b="0" i="0" u="none" strike="noStrike" cap="none" normalizeH="0" baseline="0">
                        <a:ln>
                          <a:noFill/>
                        </a:ln>
                        <a:solidFill>
                          <a:schemeClr val="tx1"/>
                        </a:solidFill>
                        <a:effectLst/>
                        <a:latin typeface="+mn-lt"/>
                        <a:ea typeface="+mn-ea"/>
                      </a:endParaRPr>
                    </a:p>
                  </a:txBody>
                  <a:tcPr marL="87476" marR="87476" marT="43738" marB="43738" horzOverflow="overflow"/>
                </a:tc>
                <a:tc>
                  <a:txBody>
                    <a:bodyPr/>
                    <a:lstStyle>
                      <a:lvl1pPr algn="l">
                        <a:spcBef>
                          <a:spcPct val="50000"/>
                        </a:spcBef>
                        <a:buSzPct val="140000"/>
                        <a:defRPr sz="1600">
                          <a:solidFill>
                            <a:schemeClr val="tx1"/>
                          </a:solidFill>
                          <a:latin typeface="Helvetica" panose="020B0604020202020204" pitchFamily="34" charset="0"/>
                          <a:ea typeface="宋体" panose="02010600030101010101" pitchFamily="2" charset="-122"/>
                        </a:defRPr>
                      </a:lvl1pPr>
                      <a:lvl2pPr algn="l">
                        <a:spcBef>
                          <a:spcPct val="20000"/>
                        </a:spcBef>
                        <a:defRPr sz="1600">
                          <a:solidFill>
                            <a:schemeClr val="tx1"/>
                          </a:solidFill>
                          <a:latin typeface="Helvetica" panose="020B0604020202020204" pitchFamily="34" charset="0"/>
                          <a:ea typeface="宋体" panose="02010600030101010101" pitchFamily="2" charset="-122"/>
                        </a:defRPr>
                      </a:lvl2pPr>
                      <a:lvl3pPr algn="l">
                        <a:spcBef>
                          <a:spcPct val="20000"/>
                        </a:spcBef>
                        <a:buSzPct val="85000"/>
                        <a:buFont typeface="Monotype Sorts" pitchFamily="2" charset="2"/>
                        <a:defRPr sz="1600">
                          <a:solidFill>
                            <a:schemeClr val="tx1"/>
                          </a:solidFill>
                          <a:latin typeface="Helvetica" panose="020B0604020202020204" pitchFamily="34" charset="0"/>
                          <a:ea typeface="宋体" panose="02010600030101010101" pitchFamily="2" charset="-122"/>
                        </a:defRPr>
                      </a:lvl3pPr>
                      <a:lvl4pPr algn="l">
                        <a:spcBef>
                          <a:spcPct val="20000"/>
                        </a:spcBef>
                        <a:defRPr sz="1600">
                          <a:solidFill>
                            <a:schemeClr val="tx1"/>
                          </a:solidFill>
                          <a:latin typeface="Helvetica" panose="020B0604020202020204" pitchFamily="34" charset="0"/>
                          <a:ea typeface="宋体" panose="02010600030101010101" pitchFamily="2" charset="-122"/>
                        </a:defRPr>
                      </a:lvl4pPr>
                      <a:lvl5pPr algn="l">
                        <a:spcBef>
                          <a:spcPct val="20000"/>
                        </a:spcBef>
                        <a:defRPr sz="1000">
                          <a:solidFill>
                            <a:schemeClr val="tx1"/>
                          </a:solidFill>
                          <a:latin typeface="Helvetica" panose="020B0604020202020204" pitchFamily="34" charset="0"/>
                          <a:ea typeface="宋体" panose="02010600030101010101" pitchFamily="2" charset="-122"/>
                        </a:defRPr>
                      </a:lvl5pPr>
                      <a:lvl6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6pPr>
                      <a:lvl7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7pPr>
                      <a:lvl8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8pPr>
                      <a:lvl9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2300" u="none" strike="noStrike" cap="none" normalizeH="0" baseline="0" dirty="0">
                          <a:ln>
                            <a:noFill/>
                          </a:ln>
                          <a:effectLst/>
                        </a:rPr>
                        <a:t>5</a:t>
                      </a:r>
                      <a:endParaRPr kumimoji="0" lang="en-US" altLang="zh-CN" sz="2300" b="0" i="0" u="none" strike="noStrike" cap="none" normalizeH="0" baseline="0" dirty="0">
                        <a:ln>
                          <a:noFill/>
                        </a:ln>
                        <a:solidFill>
                          <a:schemeClr val="tx1"/>
                        </a:solidFill>
                        <a:effectLst/>
                        <a:latin typeface="+mn-lt"/>
                        <a:ea typeface="+mn-ea"/>
                      </a:endParaRPr>
                    </a:p>
                  </a:txBody>
                  <a:tcPr marL="87476" marR="87476" marT="43738" marB="43738" horzOverflow="overflow"/>
                </a:tc>
                <a:tc>
                  <a:txBody>
                    <a:bodyPr/>
                    <a:lstStyle>
                      <a:lvl1pPr algn="l">
                        <a:spcBef>
                          <a:spcPct val="50000"/>
                        </a:spcBef>
                        <a:buSzPct val="140000"/>
                        <a:defRPr sz="1600">
                          <a:solidFill>
                            <a:schemeClr val="tx1"/>
                          </a:solidFill>
                          <a:latin typeface="Helvetica" panose="020B0604020202020204" pitchFamily="34" charset="0"/>
                          <a:ea typeface="宋体" panose="02010600030101010101" pitchFamily="2" charset="-122"/>
                        </a:defRPr>
                      </a:lvl1pPr>
                      <a:lvl2pPr algn="l">
                        <a:spcBef>
                          <a:spcPct val="20000"/>
                        </a:spcBef>
                        <a:defRPr sz="1600">
                          <a:solidFill>
                            <a:schemeClr val="tx1"/>
                          </a:solidFill>
                          <a:latin typeface="Helvetica" panose="020B0604020202020204" pitchFamily="34" charset="0"/>
                          <a:ea typeface="宋体" panose="02010600030101010101" pitchFamily="2" charset="-122"/>
                        </a:defRPr>
                      </a:lvl2pPr>
                      <a:lvl3pPr algn="l">
                        <a:spcBef>
                          <a:spcPct val="20000"/>
                        </a:spcBef>
                        <a:buSzPct val="85000"/>
                        <a:buFont typeface="Monotype Sorts" pitchFamily="2" charset="2"/>
                        <a:defRPr sz="1600">
                          <a:solidFill>
                            <a:schemeClr val="tx1"/>
                          </a:solidFill>
                          <a:latin typeface="Helvetica" panose="020B0604020202020204" pitchFamily="34" charset="0"/>
                          <a:ea typeface="宋体" panose="02010600030101010101" pitchFamily="2" charset="-122"/>
                        </a:defRPr>
                      </a:lvl3pPr>
                      <a:lvl4pPr algn="l">
                        <a:spcBef>
                          <a:spcPct val="20000"/>
                        </a:spcBef>
                        <a:defRPr sz="1600">
                          <a:solidFill>
                            <a:schemeClr val="tx1"/>
                          </a:solidFill>
                          <a:latin typeface="Helvetica" panose="020B0604020202020204" pitchFamily="34" charset="0"/>
                          <a:ea typeface="宋体" panose="02010600030101010101" pitchFamily="2" charset="-122"/>
                        </a:defRPr>
                      </a:lvl4pPr>
                      <a:lvl5pPr algn="l">
                        <a:spcBef>
                          <a:spcPct val="20000"/>
                        </a:spcBef>
                        <a:defRPr sz="1000">
                          <a:solidFill>
                            <a:schemeClr val="tx1"/>
                          </a:solidFill>
                          <a:latin typeface="Helvetica" panose="020B0604020202020204" pitchFamily="34" charset="0"/>
                          <a:ea typeface="宋体" panose="02010600030101010101" pitchFamily="2" charset="-122"/>
                        </a:defRPr>
                      </a:lvl5pPr>
                      <a:lvl6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6pPr>
                      <a:lvl7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7pPr>
                      <a:lvl8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8pPr>
                      <a:lvl9pPr fontAlgn="base">
                        <a:spcBef>
                          <a:spcPct val="20000"/>
                        </a:spcBef>
                        <a:spcAft>
                          <a:spcPct val="0"/>
                        </a:spcAft>
                        <a:defRPr sz="1000">
                          <a:solidFill>
                            <a:schemeClr val="tx1"/>
                          </a:solidFill>
                          <a:latin typeface="Helvetica"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zh-CN" altLang="en-US" sz="2300" u="none" strike="noStrike" cap="none" normalizeH="0" baseline="0" dirty="0">
                          <a:ln>
                            <a:noFill/>
                          </a:ln>
                          <a:effectLst/>
                        </a:rPr>
                        <a:t>否</a:t>
                      </a:r>
                      <a:endParaRPr kumimoji="0" lang="zh-CN" altLang="en-US" sz="2300" b="0" i="0" u="none" strike="noStrike" cap="none" normalizeH="0" baseline="0" dirty="0">
                        <a:ln>
                          <a:noFill/>
                        </a:ln>
                        <a:solidFill>
                          <a:schemeClr val="tx1"/>
                        </a:solidFill>
                        <a:effectLst/>
                        <a:latin typeface="+mn-ea"/>
                        <a:ea typeface="+mn-ea"/>
                      </a:endParaRPr>
                    </a:p>
                  </a:txBody>
                  <a:tcPr marL="87476" marR="87476" marT="43738" marB="43738" horzOverflow="overflow"/>
                </a:tc>
                <a:extLst>
                  <a:ext uri="{0D108BD9-81ED-4DB2-BD59-A6C34878D82A}">
                    <a16:rowId xmlns:a16="http://schemas.microsoft.com/office/drawing/2014/main" val="10003"/>
                  </a:ext>
                </a:extLst>
              </a:tr>
            </a:tbl>
          </a:graphicData>
        </a:graphic>
      </p:graphicFrame>
      <p:sp>
        <p:nvSpPr>
          <p:cNvPr id="9" name="文本框 1"/>
          <p:cNvSpPr txBox="1">
            <a:spLocks noChangeArrowheads="1"/>
          </p:cNvSpPr>
          <p:nvPr/>
        </p:nvSpPr>
        <p:spPr bwMode="auto">
          <a:xfrm>
            <a:off x="3523069" y="4279912"/>
            <a:ext cx="5242359" cy="1202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2000"/>
              </a:lnSpc>
            </a:pPr>
            <a:r>
              <a:rPr lang="zh-CN" altLang="en-US" sz="1800" dirty="0">
                <a:solidFill>
                  <a:srgbClr val="FF0000"/>
                </a:solidFill>
                <a:latin typeface="+mn-ea"/>
                <a:ea typeface="+mn-ea"/>
              </a:rPr>
              <a:t>解决方法</a:t>
            </a:r>
            <a:r>
              <a:rPr lang="zh-CN" altLang="en-US" sz="1800" dirty="0">
                <a:latin typeface="+mn-lt"/>
                <a:ea typeface="+mn-ea"/>
              </a:rPr>
              <a:t>：</a:t>
            </a:r>
            <a:r>
              <a:rPr lang="zh-CN" altLang="en-US" sz="1800" dirty="0">
                <a:latin typeface="+mn-ea"/>
                <a:ea typeface="+mn-ea"/>
              </a:rPr>
              <a:t>下列语句必须被原子性地执行</a:t>
            </a:r>
            <a:br>
              <a:rPr lang="en-US" altLang="zh-CN" sz="1800" dirty="0">
                <a:latin typeface="+mn-ea"/>
                <a:ea typeface="+mn-ea"/>
              </a:rPr>
            </a:br>
            <a:r>
              <a:rPr lang="en-US" altLang="zh-CN" sz="1950" dirty="0">
                <a:latin typeface="+mn-lt"/>
                <a:ea typeface="+mn-ea"/>
              </a:rPr>
              <a:t>counter++;</a:t>
            </a:r>
            <a:br>
              <a:rPr lang="en-US" altLang="zh-CN" sz="1950" dirty="0">
                <a:latin typeface="+mn-lt"/>
                <a:ea typeface="+mn-ea"/>
              </a:rPr>
            </a:br>
            <a:r>
              <a:rPr lang="en-US" altLang="zh-CN" sz="1950" dirty="0">
                <a:latin typeface="+mn-lt"/>
                <a:ea typeface="+mn-ea"/>
              </a:rPr>
              <a:t>counter--;</a:t>
            </a:r>
          </a:p>
        </p:txBody>
      </p:sp>
      <p:cxnSp>
        <p:nvCxnSpPr>
          <p:cNvPr id="3" name="直接连接符 2"/>
          <p:cNvCxnSpPr/>
          <p:nvPr/>
        </p:nvCxnSpPr>
        <p:spPr>
          <a:xfrm>
            <a:off x="3243548" y="1943918"/>
            <a:ext cx="0" cy="352103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40680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临界区</a:t>
            </a:r>
          </a:p>
        </p:txBody>
      </p:sp>
      <p:sp>
        <p:nvSpPr>
          <p:cNvPr id="10" name="文本框 9"/>
          <p:cNvSpPr txBox="1"/>
          <p:nvPr/>
        </p:nvSpPr>
        <p:spPr>
          <a:xfrm>
            <a:off x="502444" y="1623537"/>
            <a:ext cx="7761923" cy="1577291"/>
          </a:xfrm>
          <a:prstGeom prst="rect">
            <a:avLst/>
          </a:prstGeom>
          <a:noFill/>
        </p:spPr>
        <p:txBody>
          <a:bodyPr wrap="square" rtlCol="0">
            <a:spAutoFit/>
          </a:bodyPr>
          <a:lstStyle/>
          <a:p>
            <a:pPr marL="257175" indent="-257175" algn="just">
              <a:lnSpc>
                <a:spcPct val="132000"/>
              </a:lnSpc>
              <a:spcAft>
                <a:spcPts val="450"/>
              </a:spcAft>
              <a:buClr>
                <a:srgbClr val="FF0000"/>
              </a:buClr>
              <a:buFont typeface="Wingdings" panose="05000000000000000000" pitchFamily="2" charset="2"/>
              <a:buChar char="Ø"/>
            </a:pPr>
            <a:r>
              <a:rPr lang="zh-CN" altLang="en-US" sz="1650" dirty="0">
                <a:solidFill>
                  <a:srgbClr val="FF0000"/>
                </a:solidFill>
                <a:latin typeface="+mn-ea"/>
              </a:rPr>
              <a:t>临界区：进程中涉及临界资源的代码段。执行语句可能各进程各有不同。</a:t>
            </a:r>
          </a:p>
          <a:p>
            <a:pPr marL="257175" indent="-257175" algn="just">
              <a:lnSpc>
                <a:spcPct val="132000"/>
              </a:lnSpc>
              <a:spcAft>
                <a:spcPts val="450"/>
              </a:spcAft>
              <a:buClr>
                <a:srgbClr val="FF0000"/>
              </a:buClr>
              <a:buFont typeface="Wingdings" panose="05000000000000000000" pitchFamily="2" charset="2"/>
              <a:buChar char="Ø"/>
            </a:pPr>
            <a:r>
              <a:rPr lang="zh-CN" altLang="en-US" sz="1650" dirty="0">
                <a:latin typeface="+mn-ea"/>
              </a:rPr>
              <a:t>进入区：用于检查</a:t>
            </a:r>
            <a:r>
              <a:rPr lang="zh-CN" altLang="en-US" sz="1650" dirty="0">
                <a:solidFill>
                  <a:srgbClr val="FF0000"/>
                </a:solidFill>
                <a:latin typeface="+mn-ea"/>
              </a:rPr>
              <a:t>是否可以进入临界区</a:t>
            </a:r>
            <a:r>
              <a:rPr lang="zh-CN" altLang="en-US" sz="1650" dirty="0">
                <a:latin typeface="+mn-ea"/>
              </a:rPr>
              <a:t>的代码段。</a:t>
            </a:r>
          </a:p>
          <a:p>
            <a:pPr marL="257175" indent="-257175" algn="just">
              <a:lnSpc>
                <a:spcPct val="132000"/>
              </a:lnSpc>
              <a:spcAft>
                <a:spcPts val="450"/>
              </a:spcAft>
              <a:buClr>
                <a:srgbClr val="FF0000"/>
              </a:buClr>
              <a:buFont typeface="Wingdings" panose="05000000000000000000" pitchFamily="2" charset="2"/>
              <a:buChar char="Ø"/>
            </a:pPr>
            <a:r>
              <a:rPr lang="zh-CN" altLang="en-US" sz="1650" dirty="0">
                <a:latin typeface="+mn-ea"/>
              </a:rPr>
              <a:t>退出区：将临界区正被访问的标志</a:t>
            </a:r>
            <a:r>
              <a:rPr lang="zh-CN" altLang="en-US" sz="1650" dirty="0">
                <a:solidFill>
                  <a:srgbClr val="FF0000"/>
                </a:solidFill>
                <a:latin typeface="+mn-ea"/>
              </a:rPr>
              <a:t>恢复为未被访问</a:t>
            </a:r>
            <a:r>
              <a:rPr lang="zh-CN" altLang="en-US" sz="1650" dirty="0">
                <a:latin typeface="+mn-ea"/>
              </a:rPr>
              <a:t>标志。</a:t>
            </a:r>
          </a:p>
          <a:p>
            <a:pPr marL="257175" indent="-257175" algn="just">
              <a:lnSpc>
                <a:spcPct val="132000"/>
              </a:lnSpc>
              <a:spcAft>
                <a:spcPts val="450"/>
              </a:spcAft>
              <a:buClr>
                <a:srgbClr val="FF0000"/>
              </a:buClr>
              <a:buFont typeface="Wingdings" panose="05000000000000000000" pitchFamily="2" charset="2"/>
              <a:buChar char="Ø"/>
            </a:pPr>
            <a:r>
              <a:rPr lang="zh-CN" altLang="en-US" sz="1650" dirty="0">
                <a:latin typeface="+mn-ea"/>
              </a:rPr>
              <a:t>剩余区：其他代码</a:t>
            </a:r>
          </a:p>
        </p:txBody>
      </p:sp>
      <p:sp>
        <p:nvSpPr>
          <p:cNvPr id="11" name="Rectangle 1026"/>
          <p:cNvSpPr txBox="1">
            <a:spLocks noChangeArrowheads="1"/>
          </p:cNvSpPr>
          <p:nvPr/>
        </p:nvSpPr>
        <p:spPr bwMode="auto">
          <a:xfrm>
            <a:off x="383800" y="3468130"/>
            <a:ext cx="4213958" cy="2222897"/>
          </a:xfrm>
          <a:prstGeom prst="rect">
            <a:avLst/>
          </a:prstGeom>
          <a:noFill/>
          <a:ln>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panose="05000000000000000000" pitchFamily="2" charset="2"/>
              <a:buChar char="Ø"/>
              <a:defRPr sz="20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lvl="1">
              <a:lnSpc>
                <a:spcPct val="120000"/>
              </a:lnSpc>
              <a:buFont typeface="Wingdings" panose="05000000000000000000" pitchFamily="2" charset="2"/>
              <a:buNone/>
              <a:defRPr/>
            </a:pPr>
            <a:r>
              <a:rPr lang="zh-CN" altLang="en-US" sz="1800" dirty="0"/>
              <a:t>一个访问临界资源的循环进程的描述</a:t>
            </a:r>
          </a:p>
          <a:p>
            <a:pPr lvl="2">
              <a:lnSpc>
                <a:spcPct val="120000"/>
              </a:lnSpc>
              <a:buFont typeface="Wingdings" panose="05000000000000000000" pitchFamily="2" charset="2"/>
              <a:buNone/>
              <a:defRPr/>
            </a:pPr>
            <a:r>
              <a:rPr lang="en-US" altLang="zh-CN" sz="1500" dirty="0"/>
              <a:t>While(TRUE){</a:t>
            </a:r>
          </a:p>
          <a:p>
            <a:pPr lvl="2">
              <a:lnSpc>
                <a:spcPct val="120000"/>
              </a:lnSpc>
              <a:buFont typeface="Wingdings" panose="05000000000000000000" pitchFamily="2" charset="2"/>
              <a:buNone/>
              <a:defRPr/>
            </a:pPr>
            <a:r>
              <a:rPr lang="en-US" altLang="zh-CN" sz="1500" dirty="0"/>
              <a:t>	</a:t>
            </a:r>
            <a:r>
              <a:rPr lang="zh-CN" altLang="en-US" sz="1800" dirty="0"/>
              <a:t>进入区</a:t>
            </a:r>
            <a:endParaRPr lang="en-US" altLang="zh-CN" sz="1800" dirty="0"/>
          </a:p>
          <a:p>
            <a:pPr lvl="2">
              <a:lnSpc>
                <a:spcPct val="120000"/>
              </a:lnSpc>
              <a:buFont typeface="Wingdings" panose="05000000000000000000" pitchFamily="2" charset="2"/>
              <a:buNone/>
              <a:defRPr/>
            </a:pPr>
            <a:r>
              <a:rPr lang="en-US" altLang="zh-CN" sz="1800" dirty="0"/>
              <a:t>	</a:t>
            </a:r>
            <a:r>
              <a:rPr lang="zh-CN" altLang="en-US" sz="1800" dirty="0">
                <a:solidFill>
                  <a:srgbClr val="FF0000"/>
                </a:solidFill>
              </a:rPr>
              <a:t>临界区</a:t>
            </a:r>
            <a:endParaRPr lang="en-US" altLang="zh-CN" sz="1800" dirty="0"/>
          </a:p>
          <a:p>
            <a:pPr lvl="2">
              <a:lnSpc>
                <a:spcPct val="120000"/>
              </a:lnSpc>
              <a:buFont typeface="Wingdings" panose="05000000000000000000" pitchFamily="2" charset="2"/>
              <a:buNone/>
              <a:defRPr/>
            </a:pPr>
            <a:r>
              <a:rPr lang="en-US" altLang="zh-CN" sz="1800" dirty="0"/>
              <a:t>   </a:t>
            </a:r>
            <a:r>
              <a:rPr lang="zh-CN" altLang="en-US" sz="1800" dirty="0"/>
              <a:t>退出区</a:t>
            </a:r>
            <a:endParaRPr lang="en-US" altLang="zh-CN" sz="1800" dirty="0"/>
          </a:p>
          <a:p>
            <a:pPr lvl="2">
              <a:lnSpc>
                <a:spcPct val="120000"/>
              </a:lnSpc>
              <a:buFont typeface="Wingdings" panose="05000000000000000000" pitchFamily="2" charset="2"/>
              <a:buNone/>
              <a:defRPr/>
            </a:pPr>
            <a:r>
              <a:rPr lang="en-US" altLang="zh-CN" sz="1800" dirty="0"/>
              <a:t>   </a:t>
            </a:r>
            <a:r>
              <a:rPr lang="zh-CN" altLang="en-US" sz="1350" dirty="0"/>
              <a:t>剩余区</a:t>
            </a:r>
            <a:endParaRPr lang="en-US" altLang="zh-CN" sz="1800" dirty="0"/>
          </a:p>
          <a:p>
            <a:pPr lvl="2">
              <a:lnSpc>
                <a:spcPct val="120000"/>
              </a:lnSpc>
              <a:buFont typeface="Wingdings" panose="05000000000000000000" pitchFamily="2" charset="2"/>
              <a:buNone/>
              <a:defRPr/>
            </a:pPr>
            <a:r>
              <a:rPr lang="en-US" altLang="zh-CN" sz="1500" dirty="0"/>
              <a:t>}</a:t>
            </a:r>
          </a:p>
        </p:txBody>
      </p:sp>
      <p:cxnSp>
        <p:nvCxnSpPr>
          <p:cNvPr id="4" name="直接连接符 3"/>
          <p:cNvCxnSpPr/>
          <p:nvPr/>
        </p:nvCxnSpPr>
        <p:spPr>
          <a:xfrm>
            <a:off x="556375" y="3376838"/>
            <a:ext cx="77947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742646" y="3376690"/>
            <a:ext cx="0" cy="1893839"/>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3"/>
          <p:cNvSpPr txBox="1">
            <a:spLocks noChangeArrowheads="1"/>
          </p:cNvSpPr>
          <p:nvPr/>
        </p:nvSpPr>
        <p:spPr bwMode="auto">
          <a:xfrm>
            <a:off x="5120164" y="2860358"/>
            <a:ext cx="3708083" cy="2773680"/>
          </a:xfrm>
          <a:prstGeom prst="rect">
            <a:avLst/>
          </a:prstGeom>
          <a:solidFill>
            <a:schemeClr val="accent2">
              <a:lumMod val="20000"/>
              <a:lumOff val="80000"/>
            </a:schemeClr>
          </a:solidFill>
          <a:ln>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nSpc>
                <a:spcPct val="132000"/>
              </a:lnSpc>
              <a:buFont typeface="Monotype Sorts" pitchFamily="2" charset="2"/>
              <a:buNone/>
              <a:defRPr/>
            </a:pPr>
            <a:r>
              <a:rPr lang="en-US" altLang="zh-CN" sz="1500" dirty="0"/>
              <a:t>item </a:t>
            </a:r>
            <a:r>
              <a:rPr lang="en-US" altLang="zh-CN" sz="1500" dirty="0" err="1"/>
              <a:t>nextConsumed</a:t>
            </a:r>
            <a:r>
              <a:rPr lang="en-US" altLang="zh-CN" sz="1500" dirty="0"/>
              <a:t>;</a:t>
            </a:r>
            <a:br>
              <a:rPr lang="en-US" altLang="zh-CN" sz="1500" dirty="0"/>
            </a:br>
            <a:r>
              <a:rPr lang="en-US" altLang="zh-CN" sz="1500" dirty="0"/>
              <a:t>while (1) {</a:t>
            </a:r>
          </a:p>
          <a:p>
            <a:pPr>
              <a:lnSpc>
                <a:spcPct val="132000"/>
              </a:lnSpc>
              <a:buFont typeface="Monotype Sorts" pitchFamily="2" charset="2"/>
              <a:buNone/>
              <a:defRPr/>
            </a:pPr>
            <a:r>
              <a:rPr lang="en-US" altLang="zh-CN" sz="1500" dirty="0"/>
              <a:t>	while (counter == 0)</a:t>
            </a:r>
          </a:p>
          <a:p>
            <a:pPr>
              <a:lnSpc>
                <a:spcPct val="132000"/>
              </a:lnSpc>
              <a:buFont typeface="Monotype Sorts" pitchFamily="2" charset="2"/>
              <a:buNone/>
              <a:defRPr/>
            </a:pPr>
            <a:r>
              <a:rPr lang="en-US" altLang="zh-CN" sz="1500" dirty="0"/>
              <a:t>			; /* do nothing */</a:t>
            </a:r>
          </a:p>
          <a:p>
            <a:pPr>
              <a:lnSpc>
                <a:spcPct val="132000"/>
              </a:lnSpc>
              <a:buFont typeface="Monotype Sorts" pitchFamily="2" charset="2"/>
              <a:buNone/>
              <a:defRPr/>
            </a:pPr>
            <a:r>
              <a:rPr lang="en-US" altLang="zh-CN" sz="1500" dirty="0"/>
              <a:t>	</a:t>
            </a:r>
            <a:r>
              <a:rPr lang="en-US" altLang="zh-CN" sz="1500" dirty="0" err="1"/>
              <a:t>nextConsumed</a:t>
            </a:r>
            <a:r>
              <a:rPr lang="en-US" altLang="zh-CN" sz="1500" dirty="0"/>
              <a:t> = buffer[out];</a:t>
            </a:r>
          </a:p>
          <a:p>
            <a:pPr>
              <a:lnSpc>
                <a:spcPct val="132000"/>
              </a:lnSpc>
              <a:buFont typeface="Monotype Sorts" pitchFamily="2" charset="2"/>
              <a:buNone/>
              <a:defRPr/>
            </a:pPr>
            <a:r>
              <a:rPr lang="en-US" altLang="zh-CN" sz="1500" dirty="0"/>
              <a:t>	out = (out + 1) % BUFFER_SIZE;</a:t>
            </a:r>
          </a:p>
          <a:p>
            <a:pPr>
              <a:lnSpc>
                <a:spcPct val="132000"/>
              </a:lnSpc>
              <a:spcBef>
                <a:spcPts val="0"/>
              </a:spcBef>
              <a:buNone/>
              <a:defRPr/>
            </a:pPr>
            <a:r>
              <a:rPr lang="en-US" altLang="zh-CN" sz="1500" dirty="0"/>
              <a:t>	</a:t>
            </a:r>
            <a:r>
              <a:rPr lang="en-US" altLang="zh-CN" sz="1500" b="1" dirty="0">
                <a:solidFill>
                  <a:srgbClr val="FF0000"/>
                </a:solidFill>
                <a:effectLst>
                  <a:outerShdw blurRad="38100" dist="38100" dir="2700000" algn="tl">
                    <a:srgbClr val="C0C0C0"/>
                  </a:outerShdw>
                </a:effectLst>
              </a:rPr>
              <a:t>count--;</a:t>
            </a:r>
          </a:p>
          <a:p>
            <a:pPr>
              <a:lnSpc>
                <a:spcPct val="132000"/>
              </a:lnSpc>
              <a:buFont typeface="Monotype Sorts" pitchFamily="2" charset="2"/>
              <a:buNone/>
              <a:defRPr/>
            </a:pPr>
            <a:r>
              <a:rPr lang="en-US" altLang="zh-CN" sz="1200" dirty="0"/>
              <a:t>	}</a:t>
            </a:r>
          </a:p>
          <a:p>
            <a:pPr>
              <a:lnSpc>
                <a:spcPct val="132000"/>
              </a:lnSpc>
              <a:buFont typeface="Monotype Sorts" pitchFamily="2" charset="2"/>
              <a:buNone/>
              <a:defRPr/>
            </a:pPr>
            <a:endParaRPr lang="zh-CN" altLang="en-US" sz="1500" dirty="0"/>
          </a:p>
          <a:p>
            <a:pPr>
              <a:lnSpc>
                <a:spcPct val="132000"/>
              </a:lnSpc>
              <a:defRPr/>
            </a:pPr>
            <a:endParaRPr lang="zh-CN" altLang="en-US" sz="1500" b="1" dirty="0">
              <a:latin typeface="宋体" panose="02010600030101010101" pitchFamily="2" charset="-122"/>
            </a:endParaRPr>
          </a:p>
        </p:txBody>
      </p:sp>
      <p:sp>
        <p:nvSpPr>
          <p:cNvPr id="17" name="圆角矩形标注 4"/>
          <p:cNvSpPr>
            <a:spLocks noChangeArrowheads="1"/>
          </p:cNvSpPr>
          <p:nvPr/>
        </p:nvSpPr>
        <p:spPr bwMode="auto">
          <a:xfrm>
            <a:off x="4077722" y="4768453"/>
            <a:ext cx="897731" cy="300038"/>
          </a:xfrm>
          <a:prstGeom prst="wedgeRoundRectCallout">
            <a:avLst>
              <a:gd name="adj1" fmla="val 94986"/>
              <a:gd name="adj2" fmla="val 64285"/>
              <a:gd name="adj3" fmla="val 16667"/>
            </a:avLst>
          </a:prstGeom>
          <a:solidFill>
            <a:schemeClr val="accent2">
              <a:lumMod val="20000"/>
              <a:lumOff val="80000"/>
            </a:schemeClr>
          </a:solidFill>
          <a:ln w="9525">
            <a:solidFill>
              <a:schemeClr val="tx1"/>
            </a:solidFill>
            <a:beve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Monotype Sorts" pitchFamily="2" charset="2"/>
              <a:buNone/>
            </a:pPr>
            <a:r>
              <a:rPr lang="zh-CN" altLang="en-US" sz="1500" dirty="0">
                <a:latin typeface="+mn-ea"/>
                <a:ea typeface="+mn-ea"/>
              </a:rPr>
              <a:t>临界资源</a:t>
            </a:r>
          </a:p>
        </p:txBody>
      </p:sp>
      <p:sp>
        <p:nvSpPr>
          <p:cNvPr id="18" name="椭圆形标注 2"/>
          <p:cNvSpPr>
            <a:spLocks noChangeArrowheads="1"/>
          </p:cNvSpPr>
          <p:nvPr/>
        </p:nvSpPr>
        <p:spPr bwMode="auto">
          <a:xfrm>
            <a:off x="6874393" y="5010259"/>
            <a:ext cx="1154906" cy="363140"/>
          </a:xfrm>
          <a:prstGeom prst="wedgeEllipseCallout">
            <a:avLst>
              <a:gd name="adj1" fmla="val -106366"/>
              <a:gd name="adj2" fmla="val -17676"/>
            </a:avLst>
          </a:prstGeom>
          <a:solidFill>
            <a:schemeClr val="accent2">
              <a:lumMod val="20000"/>
              <a:lumOff val="80000"/>
            </a:schemeClr>
          </a:solidFill>
          <a:ln w="9525">
            <a:solidFill>
              <a:schemeClr val="tx1"/>
            </a:solidFill>
            <a:beve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Monotype Sorts" pitchFamily="2" charset="2"/>
              <a:buNone/>
            </a:pPr>
            <a:r>
              <a:rPr lang="zh-CN" altLang="en-US" sz="1500">
                <a:latin typeface="+mn-ea"/>
                <a:ea typeface="+mn-ea"/>
              </a:rPr>
              <a:t>临界区</a:t>
            </a:r>
          </a:p>
        </p:txBody>
      </p:sp>
    </p:spTree>
    <p:extLst>
      <p:ext uri="{BB962C8B-B14F-4D97-AF65-F5344CB8AC3E}">
        <p14:creationId xmlns:p14="http://schemas.microsoft.com/office/powerpoint/2010/main" val="72761032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同步机制应遵循的准则</a:t>
            </a:r>
          </a:p>
        </p:txBody>
      </p:sp>
      <p:grpSp>
        <p:nvGrpSpPr>
          <p:cNvPr id="13"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96240" y="2207895"/>
            <a:ext cx="8341518" cy="2927985"/>
            <a:chOff x="673099" y="1279537"/>
            <a:chExt cx="11122086" cy="4333319"/>
          </a:xfrm>
        </p:grpSpPr>
        <p:sp>
          <p:nvSpPr>
            <p:cNvPr id="14" name="ïsḷîḋê"/>
            <p:cNvSpPr/>
            <p:nvPr>
              <p:custDataLst>
                <p:tags r:id="rId2"/>
              </p:custDataLst>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endParaRPr lang="zh-CN" altLang="en-US" sz="1800"/>
            </a:p>
          </p:txBody>
        </p:sp>
        <p:sp>
          <p:nvSpPr>
            <p:cNvPr id="15" name="ïṩḻíḑe"/>
            <p:cNvSpPr/>
            <p:nvPr>
              <p:custDataLst>
                <p:tags r:id="rId3"/>
              </p:custDataLst>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endParaRPr lang="zh-CN" altLang="en-US" sz="1800" dirty="0"/>
            </a:p>
          </p:txBody>
        </p:sp>
        <p:sp>
          <p:nvSpPr>
            <p:cNvPr id="19" name="is1íḑe"/>
            <p:cNvSpPr/>
            <p:nvPr>
              <p:custDataLst>
                <p:tags r:id="rId4"/>
              </p:custDataLst>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endParaRPr lang="zh-CN" altLang="en-US" sz="1800"/>
            </a:p>
          </p:txBody>
        </p:sp>
        <p:sp>
          <p:nvSpPr>
            <p:cNvPr id="21" name="íṡ1ïḋé"/>
            <p:cNvSpPr/>
            <p:nvPr>
              <p:custDataLst>
                <p:tags r:id="rId5"/>
              </p:custDataLst>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endParaRPr lang="zh-CN" altLang="en-US" sz="1800" dirty="0"/>
            </a:p>
          </p:txBody>
        </p:sp>
        <p:sp>
          <p:nvSpPr>
            <p:cNvPr id="22" name="îṡlíḓè"/>
            <p:cNvSpPr/>
            <p:nvPr>
              <p:custDataLst>
                <p:tags r:id="rId6"/>
              </p:custDataLst>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endParaRPr lang="zh-CN" altLang="en-US" sz="1800" dirty="0"/>
            </a:p>
          </p:txBody>
        </p:sp>
        <p:sp>
          <p:nvSpPr>
            <p:cNvPr id="23" name="ï$1iḍe"/>
            <p:cNvSpPr txBox="1"/>
            <p:nvPr>
              <p:custDataLst>
                <p:tags r:id="rId7"/>
              </p:custDataLst>
            </p:nvPr>
          </p:nvSpPr>
          <p:spPr>
            <a:xfrm>
              <a:off x="911290" y="1321827"/>
              <a:ext cx="2229922" cy="392512"/>
            </a:xfrm>
            <a:prstGeom prst="rect">
              <a:avLst/>
            </a:prstGeom>
            <a:noFill/>
            <a:ln>
              <a:noFill/>
            </a:ln>
          </p:spPr>
          <p:txBody>
            <a:bodyPr wrap="square" lIns="68580" tIns="34290" rIns="68580" bIns="34290" anchor="t" anchorCtr="0">
              <a:noAutofit/>
            </a:bodyPr>
            <a:lstStyle/>
            <a:p>
              <a:pPr algn="ctr"/>
              <a:r>
                <a:rPr lang="zh-CN" altLang="en-US" sz="1800" b="1" dirty="0">
                  <a:solidFill>
                    <a:srgbClr val="FF0000"/>
                  </a:solidFill>
                </a:rPr>
                <a:t>空闲让进</a:t>
              </a:r>
            </a:p>
          </p:txBody>
        </p:sp>
        <p:sp>
          <p:nvSpPr>
            <p:cNvPr id="24" name="isľîdê"/>
            <p:cNvSpPr txBox="1"/>
            <p:nvPr>
              <p:custDataLst>
                <p:tags r:id="rId8"/>
              </p:custDataLst>
            </p:nvPr>
          </p:nvSpPr>
          <p:spPr>
            <a:xfrm>
              <a:off x="673099" y="4123968"/>
              <a:ext cx="2598408" cy="1461716"/>
            </a:xfrm>
            <a:prstGeom prst="rect">
              <a:avLst/>
            </a:prstGeom>
            <a:noFill/>
            <a:ln>
              <a:noFill/>
            </a:ln>
          </p:spPr>
          <p:txBody>
            <a:bodyPr wrap="square" lIns="68580" tIns="34290" rIns="68580" bIns="34290" anchor="t" anchorCtr="0">
              <a:noAutofit/>
            </a:bodyPr>
            <a:lstStyle/>
            <a:p>
              <a:pPr marL="257175" indent="-257175" algn="ctr">
                <a:lnSpc>
                  <a:spcPct val="120000"/>
                </a:lnSpc>
                <a:buClr>
                  <a:srgbClr val="FF0000"/>
                </a:buClr>
                <a:buFont typeface="Wingdings" panose="05000000000000000000" pitchFamily="2" charset="2"/>
                <a:buChar char="Ø"/>
              </a:pPr>
              <a:r>
                <a:rPr lang="zh-CN" altLang="en-US" sz="1650" dirty="0"/>
                <a:t>当无进程处于临界区，应允许一个请求进入临界区的进程立即进入自己的临界区；</a:t>
              </a:r>
            </a:p>
          </p:txBody>
        </p:sp>
        <p:sp>
          <p:nvSpPr>
            <p:cNvPr id="25" name="íṩ1ïḑe"/>
            <p:cNvSpPr txBox="1"/>
            <p:nvPr>
              <p:custDataLst>
                <p:tags r:id="rId9"/>
              </p:custDataLst>
            </p:nvPr>
          </p:nvSpPr>
          <p:spPr>
            <a:xfrm>
              <a:off x="3955444" y="1279537"/>
              <a:ext cx="1746263" cy="392512"/>
            </a:xfrm>
            <a:prstGeom prst="rect">
              <a:avLst/>
            </a:prstGeom>
            <a:noFill/>
            <a:ln>
              <a:noFill/>
            </a:ln>
          </p:spPr>
          <p:txBody>
            <a:bodyPr wrap="square" lIns="68580" tIns="34290" rIns="68580" bIns="34290" anchor="t" anchorCtr="0">
              <a:noAutofit/>
            </a:bodyPr>
            <a:lstStyle/>
            <a:p>
              <a:pPr algn="ctr">
                <a:lnSpc>
                  <a:spcPct val="110000"/>
                </a:lnSpc>
              </a:pPr>
              <a:r>
                <a:rPr lang="zh-CN" altLang="en-US" sz="1800" b="1" dirty="0">
                  <a:solidFill>
                    <a:srgbClr val="FF0000"/>
                  </a:solidFill>
                </a:rPr>
                <a:t>忙则等待</a:t>
              </a:r>
            </a:p>
          </p:txBody>
        </p:sp>
        <p:sp>
          <p:nvSpPr>
            <p:cNvPr id="26" name="ïsḻiďê"/>
            <p:cNvSpPr txBox="1"/>
            <p:nvPr>
              <p:custDataLst>
                <p:tags r:id="rId10"/>
              </p:custDataLst>
            </p:nvPr>
          </p:nvSpPr>
          <p:spPr>
            <a:xfrm>
              <a:off x="6299501" y="1301784"/>
              <a:ext cx="2356280" cy="392512"/>
            </a:xfrm>
            <a:prstGeom prst="rect">
              <a:avLst/>
            </a:prstGeom>
            <a:noFill/>
            <a:ln>
              <a:noFill/>
            </a:ln>
          </p:spPr>
          <p:txBody>
            <a:bodyPr wrap="square" lIns="68580" tIns="34290" rIns="68580" bIns="34290" anchor="t" anchorCtr="0">
              <a:noAutofit/>
            </a:bodyPr>
            <a:lstStyle/>
            <a:p>
              <a:pPr algn="ctr"/>
              <a:r>
                <a:rPr lang="zh-CN" altLang="en-US" sz="1800" b="1" dirty="0">
                  <a:solidFill>
                    <a:srgbClr val="FF0000"/>
                  </a:solidFill>
                </a:rPr>
                <a:t>有限等待</a:t>
              </a:r>
            </a:p>
          </p:txBody>
        </p:sp>
        <p:sp>
          <p:nvSpPr>
            <p:cNvPr id="27" name="isḷiḋé"/>
            <p:cNvSpPr txBox="1"/>
            <p:nvPr>
              <p:custDataLst>
                <p:tags r:id="rId11"/>
              </p:custDataLst>
            </p:nvPr>
          </p:nvSpPr>
          <p:spPr>
            <a:xfrm>
              <a:off x="8708163" y="1300682"/>
              <a:ext cx="3087022" cy="392512"/>
            </a:xfrm>
            <a:prstGeom prst="rect">
              <a:avLst/>
            </a:prstGeom>
            <a:noFill/>
            <a:ln>
              <a:noFill/>
            </a:ln>
          </p:spPr>
          <p:txBody>
            <a:bodyPr wrap="square" lIns="68580" tIns="34290" rIns="68580" bIns="34290" anchor="t" anchorCtr="0">
              <a:noAutofit/>
            </a:bodyPr>
            <a:lstStyle/>
            <a:p>
              <a:pPr algn="ctr"/>
              <a:r>
                <a:rPr lang="zh-CN" altLang="en-US" sz="1800" b="1" dirty="0">
                  <a:solidFill>
                    <a:srgbClr val="FF0000"/>
                  </a:solidFill>
                </a:rPr>
                <a:t>让权等待</a:t>
              </a:r>
            </a:p>
          </p:txBody>
        </p:sp>
        <p:sp>
          <p:nvSpPr>
            <p:cNvPr id="28" name="îṣḻidé"/>
            <p:cNvSpPr txBox="1"/>
            <p:nvPr>
              <p:custDataLst>
                <p:tags r:id="rId12"/>
              </p:custDataLst>
            </p:nvPr>
          </p:nvSpPr>
          <p:spPr>
            <a:xfrm>
              <a:off x="1960664" y="2605404"/>
              <a:ext cx="708108" cy="678249"/>
            </a:xfrm>
            <a:prstGeom prst="rect">
              <a:avLst/>
            </a:prstGeom>
            <a:noFill/>
          </p:spPr>
          <p:txBody>
            <a:bodyPr wrap="square" lIns="68580" tIns="34290" rIns="68580" bIns="34290" rtlCol="0" anchor="ctr">
              <a:normAutofit/>
            </a:bodyPr>
            <a:lstStyle/>
            <a:p>
              <a:pPr algn="ctr"/>
              <a:r>
                <a:rPr lang="en-US" altLang="zh-CN" b="1" dirty="0">
                  <a:solidFill>
                    <a:schemeClr val="bg1"/>
                  </a:solidFill>
                </a:rPr>
                <a:t>01</a:t>
              </a:r>
              <a:endParaRPr lang="zh-CN" altLang="en-US" b="1" dirty="0">
                <a:solidFill>
                  <a:schemeClr val="bg1"/>
                </a:solidFill>
              </a:endParaRPr>
            </a:p>
          </p:txBody>
        </p:sp>
        <p:sp>
          <p:nvSpPr>
            <p:cNvPr id="29" name="ïŝ1ïḋè"/>
            <p:cNvSpPr txBox="1"/>
            <p:nvPr>
              <p:custDataLst>
                <p:tags r:id="rId13"/>
              </p:custDataLst>
            </p:nvPr>
          </p:nvSpPr>
          <p:spPr>
            <a:xfrm>
              <a:off x="4741597" y="2605404"/>
              <a:ext cx="708108" cy="678249"/>
            </a:xfrm>
            <a:prstGeom prst="rect">
              <a:avLst/>
            </a:prstGeom>
            <a:noFill/>
          </p:spPr>
          <p:txBody>
            <a:bodyPr wrap="square" lIns="68580" tIns="34290" rIns="68580" bIns="34290" rtlCol="0" anchor="ctr">
              <a:normAutofit/>
            </a:bodyPr>
            <a:lstStyle/>
            <a:p>
              <a:pPr algn="ctr"/>
              <a:r>
                <a:rPr lang="en-US" altLang="zh-CN" b="1" dirty="0">
                  <a:solidFill>
                    <a:schemeClr val="bg1"/>
                  </a:solidFill>
                </a:rPr>
                <a:t>02</a:t>
              </a:r>
              <a:endParaRPr lang="zh-CN" altLang="en-US" b="1" dirty="0">
                <a:solidFill>
                  <a:schemeClr val="bg1"/>
                </a:solidFill>
              </a:endParaRPr>
            </a:p>
          </p:txBody>
        </p:sp>
        <p:sp>
          <p:nvSpPr>
            <p:cNvPr id="30" name="í$lîdé"/>
            <p:cNvSpPr txBox="1"/>
            <p:nvPr>
              <p:custDataLst>
                <p:tags r:id="rId14"/>
              </p:custDataLst>
            </p:nvPr>
          </p:nvSpPr>
          <p:spPr>
            <a:xfrm>
              <a:off x="7522530" y="2605404"/>
              <a:ext cx="708108" cy="678249"/>
            </a:xfrm>
            <a:prstGeom prst="rect">
              <a:avLst/>
            </a:prstGeom>
            <a:noFill/>
          </p:spPr>
          <p:txBody>
            <a:bodyPr wrap="square" lIns="68580" tIns="34290" rIns="68580" bIns="34290" rtlCol="0" anchor="ctr">
              <a:normAutofit/>
            </a:bodyPr>
            <a:lstStyle/>
            <a:p>
              <a:pPr algn="ctr"/>
              <a:r>
                <a:rPr lang="en-US" altLang="zh-CN" b="1" dirty="0">
                  <a:solidFill>
                    <a:schemeClr val="bg1"/>
                  </a:solidFill>
                </a:rPr>
                <a:t>03</a:t>
              </a:r>
              <a:endParaRPr lang="zh-CN" altLang="en-US" b="1" dirty="0">
                <a:solidFill>
                  <a:schemeClr val="bg1"/>
                </a:solidFill>
              </a:endParaRPr>
            </a:p>
          </p:txBody>
        </p:sp>
        <p:sp>
          <p:nvSpPr>
            <p:cNvPr id="31" name="išḻïďè"/>
            <p:cNvSpPr txBox="1"/>
            <p:nvPr>
              <p:custDataLst>
                <p:tags r:id="rId15"/>
              </p:custDataLst>
            </p:nvPr>
          </p:nvSpPr>
          <p:spPr>
            <a:xfrm>
              <a:off x="10303464" y="2605404"/>
              <a:ext cx="708108" cy="678249"/>
            </a:xfrm>
            <a:prstGeom prst="rect">
              <a:avLst/>
            </a:prstGeom>
            <a:noFill/>
          </p:spPr>
          <p:txBody>
            <a:bodyPr wrap="square" lIns="68580" tIns="34290" rIns="68580" bIns="34290" rtlCol="0" anchor="ctr">
              <a:normAutofit/>
            </a:bodyPr>
            <a:lstStyle/>
            <a:p>
              <a:pPr algn="ctr"/>
              <a:r>
                <a:rPr lang="en-US" altLang="zh-CN" b="1" dirty="0">
                  <a:solidFill>
                    <a:schemeClr val="bg1"/>
                  </a:solidFill>
                </a:rPr>
                <a:t>04</a:t>
              </a:r>
              <a:endParaRPr lang="zh-CN" altLang="en-US" b="1" dirty="0">
                <a:solidFill>
                  <a:schemeClr val="bg1"/>
                </a:solidFill>
              </a:endParaRPr>
            </a:p>
          </p:txBody>
        </p:sp>
        <p:sp>
          <p:nvSpPr>
            <p:cNvPr id="32" name="isľîdê"/>
            <p:cNvSpPr txBox="1"/>
            <p:nvPr>
              <p:custDataLst>
                <p:tags r:id="rId16"/>
              </p:custDataLst>
            </p:nvPr>
          </p:nvSpPr>
          <p:spPr>
            <a:xfrm>
              <a:off x="3458154" y="4151140"/>
              <a:ext cx="2610970" cy="923137"/>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650" dirty="0"/>
                <a:t>已有进程处于其临界区，其它试图进入临界区的进程必须等待；</a:t>
              </a:r>
            </a:p>
          </p:txBody>
        </p:sp>
        <p:sp>
          <p:nvSpPr>
            <p:cNvPr id="33" name="isľîdê"/>
            <p:cNvSpPr txBox="1"/>
            <p:nvPr>
              <p:custDataLst>
                <p:tags r:id="rId17"/>
              </p:custDataLst>
            </p:nvPr>
          </p:nvSpPr>
          <p:spPr>
            <a:xfrm>
              <a:off x="6299501" y="4151140"/>
              <a:ext cx="2448428" cy="1461716"/>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650" dirty="0"/>
                <a:t>等待进入临界区的进程不能</a:t>
              </a:r>
              <a:r>
                <a:rPr lang="en-US" altLang="zh-CN" sz="1650" dirty="0"/>
                <a:t>"</a:t>
              </a:r>
              <a:r>
                <a:rPr lang="zh-CN" altLang="en-US" sz="1650" dirty="0"/>
                <a:t>死等</a:t>
              </a:r>
              <a:r>
                <a:rPr lang="en-US" altLang="zh-CN" sz="1650" dirty="0"/>
                <a:t>"</a:t>
              </a:r>
              <a:r>
                <a:rPr lang="zh-CN" altLang="en-US" sz="1650" dirty="0"/>
                <a:t>；</a:t>
              </a:r>
            </a:p>
          </p:txBody>
        </p:sp>
        <p:sp>
          <p:nvSpPr>
            <p:cNvPr id="34" name="isľîdê"/>
            <p:cNvSpPr txBox="1"/>
            <p:nvPr>
              <p:custDataLst>
                <p:tags r:id="rId18"/>
              </p:custDataLst>
            </p:nvPr>
          </p:nvSpPr>
          <p:spPr>
            <a:xfrm>
              <a:off x="8978306" y="4151140"/>
              <a:ext cx="2565780" cy="1461716"/>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650" dirty="0"/>
                <a:t>不能进入临界区的进程，应释放</a:t>
              </a:r>
              <a:r>
                <a:rPr lang="en-US" altLang="zh-CN" sz="1650" dirty="0"/>
                <a:t>CPU</a:t>
              </a:r>
              <a:r>
                <a:rPr lang="zh-CN" altLang="en-US" sz="1650" dirty="0"/>
                <a:t>（如转换到阻塞状态）</a:t>
              </a:r>
            </a:p>
          </p:txBody>
        </p:sp>
      </p:grpSp>
      <p:sp>
        <p:nvSpPr>
          <p:cNvPr id="2" name="iṧļiḑé"/>
          <p:cNvSpPr/>
          <p:nvPr/>
        </p:nvSpPr>
        <p:spPr>
          <a:xfrm>
            <a:off x="289560" y="1687831"/>
            <a:ext cx="8576310" cy="480536"/>
          </a:xfrm>
          <a:prstGeom prst="rect">
            <a:avLst/>
          </a:prstGeom>
        </p:spPr>
        <p:txBody>
          <a:bodyPr wrap="square" lIns="68580" tIns="34290" rIns="68580" bIns="34290" anchor="ctr">
            <a:normAutofit lnSpcReduction="20000"/>
          </a:bodyPr>
          <a:lstStyle/>
          <a:p>
            <a:pPr algn="l">
              <a:lnSpc>
                <a:spcPct val="120000"/>
              </a:lnSpc>
            </a:pPr>
            <a:r>
              <a:rPr lang="zh-CN" altLang="en-US" sz="1650" b="1" dirty="0">
                <a:solidFill>
                  <a:schemeClr val="accent3">
                    <a:lumMod val="75000"/>
                    <a:lumOff val="25000"/>
                  </a:schemeClr>
                </a:solidFill>
              </a:rPr>
              <a:t>只要满足前三个准则即可解决临界区问题，第四个准则是较高要求，早期方案中未做出要求。</a:t>
            </a:r>
          </a:p>
        </p:txBody>
      </p:sp>
    </p:spTree>
    <p:extLst>
      <p:ext uri="{BB962C8B-B14F-4D97-AF65-F5344CB8AC3E}">
        <p14:creationId xmlns:p14="http://schemas.microsoft.com/office/powerpoint/2010/main" val="40724359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21018" y="1906905"/>
            <a:ext cx="8136731" cy="3566160"/>
          </a:xfrm>
          <a:prstGeom prst="rect">
            <a:avLst/>
          </a:prstGeom>
        </p:spPr>
        <p:txBody>
          <a:bodyPr wrap="square">
            <a:noAutofit/>
          </a:bodyPr>
          <a:lstStyle/>
          <a:p>
            <a:pPr marL="200025" indent="-200025" defTabSz="200025"/>
            <a:r>
              <a:rPr lang="en-US" altLang="zh-CN" sz="1800">
                <a:latin typeface="宋体" panose="02010600030101010101" pitchFamily="2" charset="-122"/>
              </a:rPr>
              <a:t>3.</a:t>
            </a:r>
            <a:r>
              <a:rPr lang="zh-CN" altLang="en-US" sz="1800">
                <a:latin typeface="宋体" panose="02010600030101010101" pitchFamily="2" charset="-122"/>
              </a:rPr>
              <a:t>下列准则中，实现临界区互斥机制</a:t>
            </a:r>
            <a:r>
              <a:rPr lang="zh-CN" altLang="en-US" sz="1800">
                <a:solidFill>
                  <a:srgbClr val="FF0000"/>
                </a:solidFill>
                <a:latin typeface="宋体" panose="02010600030101010101" pitchFamily="2" charset="-122"/>
              </a:rPr>
              <a:t>必须</a:t>
            </a:r>
            <a:r>
              <a:rPr lang="zh-CN" altLang="en-US" sz="1800">
                <a:latin typeface="宋体" panose="02010600030101010101" pitchFamily="2" charset="-122"/>
              </a:rPr>
              <a:t>遵循的是</a:t>
            </a:r>
            <a:r>
              <a:rPr lang="en-US" altLang="zh-CN" sz="1800">
                <a:latin typeface="宋体" panose="02010600030101010101" pitchFamily="2" charset="-122"/>
              </a:rPr>
              <a:t>(	  )</a:t>
            </a:r>
            <a:r>
              <a:rPr lang="zh-CN" altLang="en-US" sz="1800">
                <a:latin typeface="宋体" panose="02010600030101010101" pitchFamily="2" charset="-122"/>
              </a:rPr>
              <a:t>。</a:t>
            </a:r>
            <a:r>
              <a:rPr lang="en-US" altLang="zh-CN" sz="1800">
                <a:latin typeface="宋体" panose="02010600030101010101" pitchFamily="2" charset="-122"/>
              </a:rPr>
              <a:t>	   [</a:t>
            </a:r>
            <a:r>
              <a:rPr lang="zh-CN" altLang="en-US" sz="1800">
                <a:latin typeface="宋体" panose="02010600030101010101" pitchFamily="2" charset="-122"/>
              </a:rPr>
              <a:t>全国联考</a:t>
            </a:r>
            <a:r>
              <a:rPr lang="en-US" altLang="zh-CN" sz="1800">
                <a:latin typeface="宋体" panose="02010600030101010101" pitchFamily="2" charset="-122"/>
              </a:rPr>
              <a:t>2020</a:t>
            </a:r>
            <a:r>
              <a:rPr lang="zh-CN" altLang="en-US" sz="1800">
                <a:latin typeface="宋体" panose="02010600030101010101" pitchFamily="2" charset="-122"/>
              </a:rPr>
              <a:t>年</a:t>
            </a:r>
            <a:r>
              <a:rPr lang="en-US" altLang="zh-CN" sz="1800">
                <a:latin typeface="宋体" panose="02010600030101010101" pitchFamily="2" charset="-122"/>
              </a:rPr>
              <a:t>]		 </a:t>
            </a:r>
          </a:p>
          <a:p>
            <a:pPr marL="200025" indent="-200025" defTabSz="200025"/>
            <a:r>
              <a:rPr lang="en-US" altLang="zh-CN" sz="1800">
                <a:latin typeface="宋体" panose="02010600030101010101" pitchFamily="2" charset="-122"/>
              </a:rPr>
              <a:t>I.</a:t>
            </a:r>
            <a:r>
              <a:rPr lang="zh-CN" altLang="en-US" sz="1800">
                <a:latin typeface="宋体" panose="02010600030101010101" pitchFamily="2" charset="-122"/>
              </a:rPr>
              <a:t>两个进程不能同时进入临界区</a:t>
            </a:r>
          </a:p>
          <a:p>
            <a:pPr marL="200025" indent="-200025" defTabSz="200025"/>
            <a:r>
              <a:rPr lang="en-US" altLang="zh-CN" sz="1800">
                <a:latin typeface="宋体" panose="02010600030101010101" pitchFamily="2" charset="-122"/>
              </a:rPr>
              <a:t>II</a:t>
            </a:r>
            <a:r>
              <a:rPr lang="zh-CN" altLang="en-US" sz="1800">
                <a:latin typeface="宋体" panose="02010600030101010101" pitchFamily="2" charset="-122"/>
              </a:rPr>
              <a:t>．允许进程访问空闲的临界资源</a:t>
            </a:r>
          </a:p>
          <a:p>
            <a:pPr marL="200025" indent="-200025" defTabSz="200025"/>
            <a:r>
              <a:rPr lang="en-US" altLang="en-US" sz="1800">
                <a:latin typeface="宋体" panose="02010600030101010101" pitchFamily="2" charset="-122"/>
              </a:rPr>
              <a:t>Ⅲ</a:t>
            </a:r>
            <a:r>
              <a:rPr lang="zh-CN" altLang="en-US" sz="1800">
                <a:latin typeface="宋体" panose="02010600030101010101" pitchFamily="2" charset="-122"/>
              </a:rPr>
              <a:t>．进程等待进入临界区的时间是有限的</a:t>
            </a:r>
          </a:p>
          <a:p>
            <a:pPr marL="200025" indent="-200025" defTabSz="200025"/>
            <a:r>
              <a:rPr lang="en-US" altLang="en-US" sz="1800">
                <a:latin typeface="宋体" panose="02010600030101010101" pitchFamily="2" charset="-122"/>
              </a:rPr>
              <a:t>Ⅳ</a:t>
            </a:r>
            <a:r>
              <a:rPr lang="en-US" altLang="zh-CN" sz="1800">
                <a:latin typeface="宋体" panose="02010600030101010101" pitchFamily="2" charset="-122"/>
              </a:rPr>
              <a:t>.</a:t>
            </a:r>
            <a:r>
              <a:rPr lang="zh-CN" altLang="en-US" sz="1800">
                <a:latin typeface="宋体" panose="02010600030101010101" pitchFamily="2" charset="-122"/>
              </a:rPr>
              <a:t>不能进入临界区的执行态进程立即放弃</a:t>
            </a:r>
            <a:r>
              <a:rPr lang="en-US" altLang="zh-CN" sz="1800">
                <a:latin typeface="宋体" panose="02010600030101010101" pitchFamily="2" charset="-122"/>
              </a:rPr>
              <a:t>CPU</a:t>
            </a:r>
            <a:r>
              <a:rPr lang="zh-CN" altLang="en-US" sz="1800">
                <a:latin typeface="宋体" panose="02010600030101010101" pitchFamily="2" charset="-122"/>
              </a:rPr>
              <a:t>（</a:t>
            </a:r>
            <a:r>
              <a:rPr lang="zh-CN" altLang="en-US" sz="1800">
                <a:solidFill>
                  <a:srgbClr val="FF0000"/>
                </a:solidFill>
                <a:latin typeface="宋体" panose="02010600030101010101" pitchFamily="2" charset="-122"/>
              </a:rPr>
              <a:t>让权等待，不是必须</a:t>
            </a:r>
            <a:r>
              <a:rPr lang="zh-CN" altLang="en-US" sz="1800">
                <a:latin typeface="宋体" panose="02010600030101010101" pitchFamily="2" charset="-122"/>
              </a:rPr>
              <a:t>）</a:t>
            </a:r>
            <a:endParaRPr lang="en-US" altLang="zh-CN" sz="1800">
              <a:latin typeface="宋体" panose="02010600030101010101" pitchFamily="2" charset="-122"/>
            </a:endParaRPr>
          </a:p>
          <a:p>
            <a:pPr marL="200025" indent="-200025" defTabSz="200025"/>
            <a:r>
              <a:rPr lang="en-US" altLang="zh-CN" sz="1800">
                <a:latin typeface="宋体" panose="02010600030101010101" pitchFamily="2" charset="-122"/>
              </a:rPr>
              <a:t>A.</a:t>
            </a:r>
            <a:r>
              <a:rPr lang="zh-CN" altLang="en-US" sz="1800">
                <a:latin typeface="宋体" panose="02010600030101010101" pitchFamily="2" charset="-122"/>
              </a:rPr>
              <a:t>仅</a:t>
            </a:r>
            <a:r>
              <a:rPr lang="en-US" altLang="zh-CN" sz="1800">
                <a:latin typeface="宋体" panose="02010600030101010101" pitchFamily="2" charset="-122"/>
              </a:rPr>
              <a:t>I</a:t>
            </a:r>
            <a:r>
              <a:rPr lang="zh-CN" altLang="en-US" sz="1800">
                <a:latin typeface="宋体" panose="02010600030101010101" pitchFamily="2" charset="-122"/>
              </a:rPr>
              <a:t>、</a:t>
            </a:r>
            <a:r>
              <a:rPr lang="en-US" altLang="en-US" sz="1800">
                <a:latin typeface="宋体" panose="02010600030101010101" pitchFamily="2" charset="-122"/>
              </a:rPr>
              <a:t>Ⅳ</a:t>
            </a:r>
          </a:p>
          <a:p>
            <a:pPr marL="200025" indent="-200025" defTabSz="200025"/>
            <a:r>
              <a:rPr lang="en-US" altLang="zh-CN" sz="1800">
                <a:latin typeface="宋体" panose="02010600030101010101" pitchFamily="2" charset="-122"/>
              </a:rPr>
              <a:t>B.</a:t>
            </a:r>
            <a:r>
              <a:rPr lang="zh-CN" altLang="en-US" sz="1800">
                <a:latin typeface="宋体" panose="02010600030101010101" pitchFamily="2" charset="-122"/>
              </a:rPr>
              <a:t>仅</a:t>
            </a:r>
            <a:r>
              <a:rPr lang="en-US" altLang="zh-CN" sz="1800">
                <a:latin typeface="宋体" panose="02010600030101010101" pitchFamily="2" charset="-122"/>
              </a:rPr>
              <a:t>II</a:t>
            </a:r>
            <a:r>
              <a:rPr lang="zh-CN" altLang="en-US" sz="1800">
                <a:latin typeface="宋体" panose="02010600030101010101" pitchFamily="2" charset="-122"/>
              </a:rPr>
              <a:t>、</a:t>
            </a:r>
            <a:r>
              <a:rPr lang="en-US" altLang="zh-CN" sz="1800">
                <a:latin typeface="宋体" panose="02010600030101010101" pitchFamily="2" charset="-122"/>
              </a:rPr>
              <a:t>III</a:t>
            </a:r>
          </a:p>
          <a:p>
            <a:pPr marL="200025" indent="-200025" defTabSz="200025"/>
            <a:r>
              <a:rPr lang="en-US" altLang="zh-CN" sz="1800">
                <a:latin typeface="宋体" panose="02010600030101010101" pitchFamily="2" charset="-122"/>
              </a:rPr>
              <a:t>C.</a:t>
            </a:r>
            <a:r>
              <a:rPr lang="zh-CN" altLang="en-US" sz="1800">
                <a:latin typeface="宋体" panose="02010600030101010101" pitchFamily="2" charset="-122"/>
              </a:rPr>
              <a:t>仅</a:t>
            </a:r>
            <a:r>
              <a:rPr lang="en-US" altLang="zh-CN" sz="1800">
                <a:latin typeface="宋体" panose="02010600030101010101" pitchFamily="2" charset="-122"/>
              </a:rPr>
              <a:t>I</a:t>
            </a:r>
            <a:r>
              <a:rPr lang="zh-CN" altLang="en-US" sz="1800">
                <a:latin typeface="宋体" panose="02010600030101010101" pitchFamily="2" charset="-122"/>
              </a:rPr>
              <a:t>、</a:t>
            </a:r>
            <a:r>
              <a:rPr lang="en-US" altLang="zh-CN" sz="1800">
                <a:latin typeface="宋体" panose="02010600030101010101" pitchFamily="2" charset="-122"/>
              </a:rPr>
              <a:t>II</a:t>
            </a:r>
            <a:r>
              <a:rPr lang="zh-CN" altLang="en-US" sz="1800">
                <a:latin typeface="宋体" panose="02010600030101010101" pitchFamily="2" charset="-122"/>
              </a:rPr>
              <a:t>、</a:t>
            </a:r>
            <a:r>
              <a:rPr lang="en-US" altLang="en-US" sz="1800">
                <a:latin typeface="宋体" panose="02010600030101010101" pitchFamily="2" charset="-122"/>
              </a:rPr>
              <a:t>Ⅲ</a:t>
            </a:r>
          </a:p>
          <a:p>
            <a:pPr marL="200025" indent="-200025" defTabSz="200025"/>
            <a:r>
              <a:rPr lang="en-US" altLang="zh-CN" sz="1800">
                <a:latin typeface="宋体" panose="02010600030101010101" pitchFamily="2" charset="-122"/>
              </a:rPr>
              <a:t>D.</a:t>
            </a:r>
            <a:r>
              <a:rPr lang="zh-CN" altLang="en-US" sz="1800">
                <a:latin typeface="宋体" panose="02010600030101010101" pitchFamily="2" charset="-122"/>
              </a:rPr>
              <a:t>仅</a:t>
            </a:r>
            <a:r>
              <a:rPr lang="en-US" altLang="zh-CN" sz="1800">
                <a:latin typeface="宋体" panose="02010600030101010101" pitchFamily="2" charset="-122"/>
              </a:rPr>
              <a:t>I</a:t>
            </a:r>
            <a:r>
              <a:rPr lang="zh-CN" altLang="en-US" sz="1800">
                <a:latin typeface="宋体" panose="02010600030101010101" pitchFamily="2" charset="-122"/>
              </a:rPr>
              <a:t>、</a:t>
            </a:r>
            <a:r>
              <a:rPr lang="en-US" altLang="zh-CN" sz="1800">
                <a:latin typeface="宋体" panose="02010600030101010101" pitchFamily="2" charset="-122"/>
              </a:rPr>
              <a:t>III</a:t>
            </a:r>
            <a:r>
              <a:rPr lang="zh-CN" altLang="en-US" sz="1800">
                <a:latin typeface="宋体" panose="02010600030101010101" pitchFamily="2" charset="-122"/>
              </a:rPr>
              <a:t>、</a:t>
            </a:r>
            <a:r>
              <a:rPr lang="en-US" altLang="zh-CN" sz="1800">
                <a:latin typeface="宋体" panose="02010600030101010101" pitchFamily="2" charset="-122"/>
              </a:rPr>
              <a:t>IV</a:t>
            </a:r>
          </a:p>
          <a:p>
            <a:pPr marL="200025" indent="-200025" defTabSz="200025"/>
            <a:endParaRPr lang="en-US" altLang="zh-CN" sz="1800">
              <a:latin typeface="宋体" panose="02010600030101010101" pitchFamily="2" charset="-122"/>
            </a:endParaRPr>
          </a:p>
          <a:p>
            <a:pPr marL="200025" indent="-200025" defTabSz="200025"/>
            <a:r>
              <a:rPr lang="zh-CN" altLang="en-US" sz="1800">
                <a:latin typeface="宋体" panose="02010600030101010101" pitchFamily="2" charset="-122"/>
              </a:rPr>
              <a:t>答案：</a:t>
            </a:r>
            <a:r>
              <a:rPr lang="en-US" altLang="zh-CN" sz="1800">
                <a:latin typeface="宋体" panose="02010600030101010101" pitchFamily="2" charset="-122"/>
              </a:rPr>
              <a:t>C</a:t>
            </a:r>
          </a:p>
        </p:txBody>
      </p:sp>
    </p:spTree>
    <p:extLst>
      <p:ext uri="{BB962C8B-B14F-4D97-AF65-F5344CB8AC3E}">
        <p14:creationId xmlns:p14="http://schemas.microsoft.com/office/powerpoint/2010/main" val="2124147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animEffect transition="in" filter="fade">
                                      <p:cBhvr>
                                        <p:cTn id="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进程同步机制</a:t>
            </a:r>
          </a:p>
        </p:txBody>
      </p:sp>
      <p:grpSp>
        <p:nvGrpSpPr>
          <p:cNvPr id="13"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96193" y="1936992"/>
            <a:ext cx="8270127" cy="3313424"/>
            <a:chOff x="673099" y="1194957"/>
            <a:chExt cx="11026836" cy="4417899"/>
          </a:xfrm>
        </p:grpSpPr>
        <p:sp>
          <p:nvSpPr>
            <p:cNvPr id="14" name="ïsḷîḋê"/>
            <p:cNvSpPr/>
            <p:nvPr>
              <p:custDataLst>
                <p:tags r:id="rId2"/>
              </p:custDataLst>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endParaRPr lang="zh-CN" altLang="en-US" sz="1800"/>
            </a:p>
          </p:txBody>
        </p:sp>
        <p:sp>
          <p:nvSpPr>
            <p:cNvPr id="15" name="ïṩḻíḑe"/>
            <p:cNvSpPr/>
            <p:nvPr>
              <p:custDataLst>
                <p:tags r:id="rId3"/>
              </p:custDataLst>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endParaRPr lang="zh-CN" altLang="en-US" sz="1800" dirty="0"/>
            </a:p>
          </p:txBody>
        </p:sp>
        <p:sp>
          <p:nvSpPr>
            <p:cNvPr id="19" name="is1íḑe"/>
            <p:cNvSpPr/>
            <p:nvPr>
              <p:custDataLst>
                <p:tags r:id="rId4"/>
              </p:custDataLst>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endParaRPr lang="zh-CN" altLang="en-US" sz="1800"/>
            </a:p>
          </p:txBody>
        </p:sp>
        <p:sp>
          <p:nvSpPr>
            <p:cNvPr id="21" name="íṡ1ïḋé"/>
            <p:cNvSpPr/>
            <p:nvPr>
              <p:custDataLst>
                <p:tags r:id="rId5"/>
              </p:custDataLst>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endParaRPr lang="zh-CN" altLang="en-US" sz="1800" dirty="0"/>
            </a:p>
          </p:txBody>
        </p:sp>
        <p:sp>
          <p:nvSpPr>
            <p:cNvPr id="22" name="îṡlíḓè"/>
            <p:cNvSpPr/>
            <p:nvPr>
              <p:custDataLst>
                <p:tags r:id="rId6"/>
              </p:custDataLst>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endParaRPr lang="zh-CN" altLang="en-US" sz="1800" dirty="0"/>
            </a:p>
          </p:txBody>
        </p:sp>
        <p:sp>
          <p:nvSpPr>
            <p:cNvPr id="23" name="ï$1iḍe"/>
            <p:cNvSpPr txBox="1"/>
            <p:nvPr>
              <p:custDataLst>
                <p:tags r:id="rId7"/>
              </p:custDataLst>
            </p:nvPr>
          </p:nvSpPr>
          <p:spPr>
            <a:xfrm>
              <a:off x="911290" y="1214007"/>
              <a:ext cx="2229922" cy="392512"/>
            </a:xfrm>
            <a:prstGeom prst="rect">
              <a:avLst/>
            </a:prstGeom>
            <a:noFill/>
            <a:ln>
              <a:noFill/>
            </a:ln>
          </p:spPr>
          <p:txBody>
            <a:bodyPr wrap="square" lIns="68580" tIns="34290" rIns="68580" bIns="34290" anchor="t" anchorCtr="0">
              <a:noAutofit/>
            </a:bodyPr>
            <a:lstStyle/>
            <a:p>
              <a:pPr algn="ctr"/>
              <a:r>
                <a:rPr lang="zh-CN" altLang="en-US" sz="1800" b="1" dirty="0"/>
                <a:t>软件同步机制</a:t>
              </a:r>
            </a:p>
          </p:txBody>
        </p:sp>
        <p:sp>
          <p:nvSpPr>
            <p:cNvPr id="24" name="isľîdê"/>
            <p:cNvSpPr txBox="1"/>
            <p:nvPr>
              <p:custDataLst>
                <p:tags r:id="rId8"/>
              </p:custDataLst>
            </p:nvPr>
          </p:nvSpPr>
          <p:spPr>
            <a:xfrm>
              <a:off x="673099" y="4123968"/>
              <a:ext cx="2598408" cy="1461716"/>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650" dirty="0"/>
                <a:t>使用编程方法解决临界区问题</a:t>
              </a:r>
            </a:p>
            <a:p>
              <a:pPr marL="257175" indent="-257175">
                <a:lnSpc>
                  <a:spcPct val="120000"/>
                </a:lnSpc>
                <a:buClr>
                  <a:srgbClr val="FF0000"/>
                </a:buClr>
                <a:buFont typeface="Wingdings" panose="05000000000000000000" pitchFamily="2" charset="2"/>
                <a:buChar char="Ø"/>
              </a:pPr>
              <a:r>
                <a:rPr lang="zh-CN" altLang="en-US" sz="1650" dirty="0"/>
                <a:t>有难度、具有局限性，现在很少采用</a:t>
              </a:r>
            </a:p>
          </p:txBody>
        </p:sp>
        <p:sp>
          <p:nvSpPr>
            <p:cNvPr id="25" name="íṩ1ïḑe"/>
            <p:cNvSpPr txBox="1"/>
            <p:nvPr>
              <p:custDataLst>
                <p:tags r:id="rId9"/>
              </p:custDataLst>
            </p:nvPr>
          </p:nvSpPr>
          <p:spPr>
            <a:xfrm>
              <a:off x="3657518" y="1194957"/>
              <a:ext cx="2113680" cy="392512"/>
            </a:xfrm>
            <a:prstGeom prst="rect">
              <a:avLst/>
            </a:prstGeom>
            <a:noFill/>
            <a:ln>
              <a:noFill/>
            </a:ln>
          </p:spPr>
          <p:txBody>
            <a:bodyPr wrap="square" lIns="68580" tIns="34290" rIns="68580" bIns="34290" anchor="t" anchorCtr="0">
              <a:noAutofit/>
            </a:bodyPr>
            <a:lstStyle/>
            <a:p>
              <a:pPr algn="ctr">
                <a:lnSpc>
                  <a:spcPct val="110000"/>
                </a:lnSpc>
              </a:pPr>
              <a:r>
                <a:rPr lang="zh-CN" altLang="en-US" sz="1800" b="1" dirty="0"/>
                <a:t>硬件同步机制</a:t>
              </a:r>
            </a:p>
          </p:txBody>
        </p:sp>
        <p:sp>
          <p:nvSpPr>
            <p:cNvPr id="26" name="ïsḻiďê"/>
            <p:cNvSpPr txBox="1"/>
            <p:nvPr>
              <p:custDataLst>
                <p:tags r:id="rId10"/>
              </p:custDataLst>
            </p:nvPr>
          </p:nvSpPr>
          <p:spPr>
            <a:xfrm>
              <a:off x="6299501" y="1215109"/>
              <a:ext cx="2356280" cy="392512"/>
            </a:xfrm>
            <a:prstGeom prst="rect">
              <a:avLst/>
            </a:prstGeom>
            <a:noFill/>
            <a:ln>
              <a:noFill/>
            </a:ln>
          </p:spPr>
          <p:txBody>
            <a:bodyPr wrap="square" lIns="68580" tIns="34290" rIns="68580" bIns="34290" anchor="t" anchorCtr="0">
              <a:noAutofit/>
            </a:bodyPr>
            <a:lstStyle/>
            <a:p>
              <a:pPr algn="ctr"/>
              <a:r>
                <a:rPr lang="zh-CN" altLang="en-US" sz="1800" b="1" dirty="0">
                  <a:solidFill>
                    <a:srgbClr val="FF0000"/>
                  </a:solidFill>
                </a:rPr>
                <a:t>信号量机制</a:t>
              </a:r>
            </a:p>
          </p:txBody>
        </p:sp>
        <p:sp>
          <p:nvSpPr>
            <p:cNvPr id="27" name="isḷiḋé"/>
            <p:cNvSpPr txBox="1"/>
            <p:nvPr>
              <p:custDataLst>
                <p:tags r:id="rId11"/>
              </p:custDataLst>
            </p:nvPr>
          </p:nvSpPr>
          <p:spPr>
            <a:xfrm>
              <a:off x="8929487" y="1214007"/>
              <a:ext cx="2770448" cy="392512"/>
            </a:xfrm>
            <a:prstGeom prst="rect">
              <a:avLst/>
            </a:prstGeom>
            <a:noFill/>
            <a:ln>
              <a:noFill/>
            </a:ln>
          </p:spPr>
          <p:txBody>
            <a:bodyPr wrap="square" lIns="68580" tIns="34290" rIns="68580" bIns="34290" anchor="t" anchorCtr="0">
              <a:noAutofit/>
            </a:bodyPr>
            <a:lstStyle/>
            <a:p>
              <a:pPr algn="ctr"/>
              <a:r>
                <a:rPr lang="zh-CN" altLang="en-US" sz="1800" b="1" dirty="0"/>
                <a:t>管程机制</a:t>
              </a:r>
            </a:p>
          </p:txBody>
        </p:sp>
        <p:sp>
          <p:nvSpPr>
            <p:cNvPr id="28" name="îṣḻidé"/>
            <p:cNvSpPr txBox="1"/>
            <p:nvPr>
              <p:custDataLst>
                <p:tags r:id="rId12"/>
              </p:custDataLst>
            </p:nvPr>
          </p:nvSpPr>
          <p:spPr>
            <a:xfrm>
              <a:off x="1960664" y="2605404"/>
              <a:ext cx="708108" cy="678249"/>
            </a:xfrm>
            <a:prstGeom prst="rect">
              <a:avLst/>
            </a:prstGeom>
            <a:noFill/>
          </p:spPr>
          <p:txBody>
            <a:bodyPr wrap="square" lIns="68580" tIns="34290" rIns="68580" bIns="34290" rtlCol="0" anchor="ctr">
              <a:normAutofit/>
            </a:bodyPr>
            <a:lstStyle/>
            <a:p>
              <a:pPr algn="ctr"/>
              <a:r>
                <a:rPr lang="en-US" altLang="zh-CN" b="1" dirty="0">
                  <a:solidFill>
                    <a:schemeClr val="bg1"/>
                  </a:solidFill>
                </a:rPr>
                <a:t>01</a:t>
              </a:r>
              <a:endParaRPr lang="zh-CN" altLang="en-US" b="1" dirty="0">
                <a:solidFill>
                  <a:schemeClr val="bg1"/>
                </a:solidFill>
              </a:endParaRPr>
            </a:p>
          </p:txBody>
        </p:sp>
        <p:sp>
          <p:nvSpPr>
            <p:cNvPr id="29" name="ïŝ1ïḋè"/>
            <p:cNvSpPr txBox="1"/>
            <p:nvPr>
              <p:custDataLst>
                <p:tags r:id="rId13"/>
              </p:custDataLst>
            </p:nvPr>
          </p:nvSpPr>
          <p:spPr>
            <a:xfrm>
              <a:off x="4741597" y="2605404"/>
              <a:ext cx="708108" cy="678249"/>
            </a:xfrm>
            <a:prstGeom prst="rect">
              <a:avLst/>
            </a:prstGeom>
            <a:noFill/>
          </p:spPr>
          <p:txBody>
            <a:bodyPr wrap="square" lIns="68580" tIns="34290" rIns="68580" bIns="34290" rtlCol="0" anchor="ctr">
              <a:normAutofit/>
            </a:bodyPr>
            <a:lstStyle/>
            <a:p>
              <a:pPr algn="ctr"/>
              <a:r>
                <a:rPr lang="en-US" altLang="zh-CN" b="1" dirty="0">
                  <a:solidFill>
                    <a:schemeClr val="bg1"/>
                  </a:solidFill>
                </a:rPr>
                <a:t>02</a:t>
              </a:r>
              <a:endParaRPr lang="zh-CN" altLang="en-US" b="1" dirty="0">
                <a:solidFill>
                  <a:schemeClr val="bg1"/>
                </a:solidFill>
              </a:endParaRPr>
            </a:p>
          </p:txBody>
        </p:sp>
        <p:sp>
          <p:nvSpPr>
            <p:cNvPr id="30" name="í$lîdé"/>
            <p:cNvSpPr txBox="1"/>
            <p:nvPr>
              <p:custDataLst>
                <p:tags r:id="rId14"/>
              </p:custDataLst>
            </p:nvPr>
          </p:nvSpPr>
          <p:spPr>
            <a:xfrm>
              <a:off x="7522530" y="2605404"/>
              <a:ext cx="708108" cy="678249"/>
            </a:xfrm>
            <a:prstGeom prst="rect">
              <a:avLst/>
            </a:prstGeom>
            <a:noFill/>
          </p:spPr>
          <p:txBody>
            <a:bodyPr wrap="square" lIns="68580" tIns="34290" rIns="68580" bIns="34290" rtlCol="0" anchor="ctr">
              <a:normAutofit/>
            </a:bodyPr>
            <a:lstStyle/>
            <a:p>
              <a:pPr algn="ctr"/>
              <a:r>
                <a:rPr lang="en-US" altLang="zh-CN" b="1" dirty="0">
                  <a:solidFill>
                    <a:schemeClr val="bg1"/>
                  </a:solidFill>
                </a:rPr>
                <a:t>03</a:t>
              </a:r>
              <a:endParaRPr lang="zh-CN" altLang="en-US" b="1" dirty="0">
                <a:solidFill>
                  <a:schemeClr val="bg1"/>
                </a:solidFill>
              </a:endParaRPr>
            </a:p>
          </p:txBody>
        </p:sp>
        <p:sp>
          <p:nvSpPr>
            <p:cNvPr id="31" name="išḻïďè"/>
            <p:cNvSpPr txBox="1"/>
            <p:nvPr>
              <p:custDataLst>
                <p:tags r:id="rId15"/>
              </p:custDataLst>
            </p:nvPr>
          </p:nvSpPr>
          <p:spPr>
            <a:xfrm>
              <a:off x="10303464" y="2605404"/>
              <a:ext cx="708108" cy="678249"/>
            </a:xfrm>
            <a:prstGeom prst="rect">
              <a:avLst/>
            </a:prstGeom>
            <a:noFill/>
          </p:spPr>
          <p:txBody>
            <a:bodyPr wrap="square" lIns="68580" tIns="34290" rIns="68580" bIns="34290" rtlCol="0" anchor="ctr">
              <a:normAutofit/>
            </a:bodyPr>
            <a:lstStyle/>
            <a:p>
              <a:pPr algn="ctr"/>
              <a:r>
                <a:rPr lang="en-US" altLang="zh-CN" b="1" dirty="0">
                  <a:solidFill>
                    <a:schemeClr val="bg1"/>
                  </a:solidFill>
                </a:rPr>
                <a:t>04</a:t>
              </a:r>
              <a:endParaRPr lang="zh-CN" altLang="en-US" b="1" dirty="0">
                <a:solidFill>
                  <a:schemeClr val="bg1"/>
                </a:solidFill>
              </a:endParaRPr>
            </a:p>
          </p:txBody>
        </p:sp>
        <p:sp>
          <p:nvSpPr>
            <p:cNvPr id="32" name="isľîdê"/>
            <p:cNvSpPr txBox="1"/>
            <p:nvPr>
              <p:custDataLst>
                <p:tags r:id="rId16"/>
              </p:custDataLst>
            </p:nvPr>
          </p:nvSpPr>
          <p:spPr>
            <a:xfrm>
              <a:off x="3458154" y="4151140"/>
              <a:ext cx="2610970" cy="923137"/>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650" dirty="0"/>
                <a:t>使用特殊的硬件指令，可有效实现进程互斥</a:t>
              </a:r>
            </a:p>
          </p:txBody>
        </p:sp>
        <p:sp>
          <p:nvSpPr>
            <p:cNvPr id="33" name="isľîdê"/>
            <p:cNvSpPr txBox="1"/>
            <p:nvPr>
              <p:custDataLst>
                <p:tags r:id="rId17"/>
              </p:custDataLst>
            </p:nvPr>
          </p:nvSpPr>
          <p:spPr>
            <a:xfrm>
              <a:off x="6299501" y="4151140"/>
              <a:ext cx="2448428" cy="1461716"/>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650" dirty="0"/>
                <a:t>一种有效的进程同步机制，已被广泛应用</a:t>
              </a:r>
            </a:p>
          </p:txBody>
        </p:sp>
        <p:sp>
          <p:nvSpPr>
            <p:cNvPr id="34" name="isľîdê"/>
            <p:cNvSpPr txBox="1"/>
            <p:nvPr>
              <p:custDataLst>
                <p:tags r:id="rId18"/>
              </p:custDataLst>
            </p:nvPr>
          </p:nvSpPr>
          <p:spPr>
            <a:xfrm>
              <a:off x="8978306" y="4151140"/>
              <a:ext cx="2565780" cy="1461716"/>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650" dirty="0"/>
                <a:t>新的进程同步机制</a:t>
              </a:r>
            </a:p>
          </p:txBody>
        </p:sp>
      </p:grpSp>
    </p:spTree>
    <p:extLst>
      <p:ext uri="{BB962C8B-B14F-4D97-AF65-F5344CB8AC3E}">
        <p14:creationId xmlns:p14="http://schemas.microsoft.com/office/powerpoint/2010/main" val="11141572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矩形 19"/>
          <p:cNvSpPr/>
          <p:nvPr/>
        </p:nvSpPr>
        <p:spPr>
          <a:xfrm>
            <a:off x="578644" y="1050622"/>
            <a:ext cx="1539204" cy="415498"/>
          </a:xfrm>
          <a:prstGeom prst="rect">
            <a:avLst/>
          </a:prstGeom>
        </p:spPr>
        <p:txBody>
          <a:bodyPr wrap="none">
            <a:spAutoFit/>
          </a:bodyPr>
          <a:lstStyle/>
          <a:p>
            <a:r>
              <a:rPr lang="zh-CN" altLang="en-US" sz="2100" b="1" dirty="0">
                <a:solidFill>
                  <a:schemeClr val="bg1"/>
                </a:solidFill>
              </a:rPr>
              <a:t>内容导航：</a:t>
            </a:r>
          </a:p>
        </p:txBody>
      </p:sp>
      <p:sp>
        <p:nvSpPr>
          <p:cNvPr id="3" name="矩形 2"/>
          <p:cNvSpPr/>
          <p:nvPr/>
        </p:nvSpPr>
        <p:spPr>
          <a:xfrm>
            <a:off x="6180941" y="2700908"/>
            <a:ext cx="2560316" cy="507831"/>
          </a:xfrm>
          <a:prstGeom prst="rect">
            <a:avLst/>
          </a:prstGeom>
        </p:spPr>
        <p:txBody>
          <a:bodyPr wrap="none">
            <a:spAutoFit/>
          </a:bodyPr>
          <a:lstStyle/>
          <a:p>
            <a:r>
              <a:rPr lang="zh-CN" altLang="en-US" sz="2700" dirty="0">
                <a:solidFill>
                  <a:srgbClr val="000000"/>
                </a:solidFill>
                <a:sym typeface="+mn-ea"/>
              </a:rPr>
              <a:t>第</a:t>
            </a:r>
            <a:r>
              <a:rPr lang="en-US" altLang="zh-CN" sz="2700" dirty="0">
                <a:solidFill>
                  <a:srgbClr val="000000"/>
                </a:solidFill>
                <a:sym typeface="+mn-ea"/>
              </a:rPr>
              <a:t>4</a:t>
            </a:r>
            <a:r>
              <a:rPr lang="zh-CN" altLang="en-US" sz="2700" dirty="0">
                <a:solidFill>
                  <a:srgbClr val="000000"/>
                </a:solidFill>
                <a:sym typeface="+mn-ea"/>
              </a:rPr>
              <a:t>章 进程同步</a:t>
            </a:r>
            <a:endParaRPr lang="zh-CN" altLang="en-US" sz="2700" dirty="0">
              <a:solidFill>
                <a:srgbClr val="000000"/>
              </a:solidFill>
            </a:endParaRPr>
          </a:p>
        </p:txBody>
      </p:sp>
      <p:cxnSp>
        <p:nvCxnSpPr>
          <p:cNvPr id="5" name="直接连接符 4"/>
          <p:cNvCxnSpPr/>
          <p:nvPr/>
        </p:nvCxnSpPr>
        <p:spPr>
          <a:xfrm>
            <a:off x="5669925" y="3250103"/>
            <a:ext cx="2990417"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145" y="5638531"/>
            <a:ext cx="9151145" cy="3622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6" name="任意多边形: 形状 25"/>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sz="1800">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116811"/>
            <a:ext cx="395288" cy="395288"/>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555666"/>
            <a:ext cx="395288" cy="395288"/>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047268"/>
            <a:ext cx="395288" cy="395288"/>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511123"/>
            <a:ext cx="395288" cy="395288"/>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980683"/>
            <a:ext cx="395288" cy="395288"/>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458967"/>
            <a:ext cx="395288" cy="395288"/>
          </a:xfrm>
          <a:prstGeom prst="rect">
            <a:avLst/>
          </a:prstGeom>
          <a:ln>
            <a:noFill/>
          </a:ln>
          <a:effectLst>
            <a:softEdge rad="0"/>
          </a:effectLst>
        </p:spPr>
      </p:pic>
      <p:sp>
        <p:nvSpPr>
          <p:cNvPr id="33" name="矩形 32"/>
          <p:cNvSpPr/>
          <p:nvPr/>
        </p:nvSpPr>
        <p:spPr>
          <a:xfrm>
            <a:off x="1273253" y="2158852"/>
            <a:ext cx="2616725" cy="369332"/>
          </a:xfrm>
          <a:prstGeom prst="rect">
            <a:avLst/>
          </a:prstGeom>
        </p:spPr>
        <p:txBody>
          <a:bodyPr wrap="square">
            <a:spAutoFit/>
          </a:bodyPr>
          <a:lstStyle/>
          <a:p>
            <a:r>
              <a:rPr lang="en-US" altLang="zh-CN" sz="1800" dirty="0">
                <a:latin typeface="+mj-ea"/>
                <a:ea typeface="+mj-ea"/>
              </a:rPr>
              <a:t>4.1 </a:t>
            </a:r>
            <a:r>
              <a:rPr lang="zh-CN" altLang="en-US" sz="1800" dirty="0">
                <a:latin typeface="+mj-ea"/>
                <a:ea typeface="+mj-ea"/>
              </a:rPr>
              <a:t>进程同步的概念</a:t>
            </a:r>
          </a:p>
        </p:txBody>
      </p:sp>
      <p:sp>
        <p:nvSpPr>
          <p:cNvPr id="34" name="矩形 33"/>
          <p:cNvSpPr/>
          <p:nvPr/>
        </p:nvSpPr>
        <p:spPr>
          <a:xfrm>
            <a:off x="1273253" y="2623196"/>
            <a:ext cx="2761613" cy="369332"/>
          </a:xfrm>
          <a:prstGeom prst="rect">
            <a:avLst/>
          </a:prstGeom>
        </p:spPr>
        <p:txBody>
          <a:bodyPr wrap="square">
            <a:spAutoFit/>
          </a:bodyPr>
          <a:lstStyle/>
          <a:p>
            <a:r>
              <a:rPr lang="en-US" altLang="zh-CN" sz="1800" dirty="0">
                <a:latin typeface="+mj-ea"/>
              </a:rPr>
              <a:t>4.2 </a:t>
            </a:r>
            <a:r>
              <a:rPr lang="zh-CN" altLang="en-US" sz="1800" dirty="0">
                <a:latin typeface="+mj-ea"/>
              </a:rPr>
              <a:t>软件同步机制</a:t>
            </a:r>
          </a:p>
        </p:txBody>
      </p:sp>
      <p:sp>
        <p:nvSpPr>
          <p:cNvPr id="35" name="矩形 34"/>
          <p:cNvSpPr/>
          <p:nvPr/>
        </p:nvSpPr>
        <p:spPr>
          <a:xfrm>
            <a:off x="1273253" y="3087539"/>
            <a:ext cx="2616725" cy="369332"/>
          </a:xfrm>
          <a:prstGeom prst="rect">
            <a:avLst/>
          </a:prstGeom>
        </p:spPr>
        <p:txBody>
          <a:bodyPr wrap="square">
            <a:spAutoFit/>
          </a:bodyPr>
          <a:lstStyle/>
          <a:p>
            <a:r>
              <a:rPr lang="en-US" altLang="zh-CN" sz="1800" dirty="0">
                <a:latin typeface="+mj-ea"/>
              </a:rPr>
              <a:t>4.3 </a:t>
            </a:r>
            <a:r>
              <a:rPr lang="zh-CN" altLang="en-US" sz="1800" dirty="0">
                <a:latin typeface="+mj-ea"/>
              </a:rPr>
              <a:t>硬件同步机制</a:t>
            </a:r>
          </a:p>
        </p:txBody>
      </p:sp>
      <p:sp>
        <p:nvSpPr>
          <p:cNvPr id="36" name="矩形 35"/>
          <p:cNvSpPr/>
          <p:nvPr/>
        </p:nvSpPr>
        <p:spPr>
          <a:xfrm>
            <a:off x="1273253" y="3551883"/>
            <a:ext cx="2616725" cy="369332"/>
          </a:xfrm>
          <a:prstGeom prst="rect">
            <a:avLst/>
          </a:prstGeom>
        </p:spPr>
        <p:txBody>
          <a:bodyPr wrap="square">
            <a:spAutoFit/>
          </a:bodyPr>
          <a:lstStyle/>
          <a:p>
            <a:r>
              <a:rPr lang="en-US" altLang="zh-CN" sz="1800" b="1" dirty="0">
                <a:solidFill>
                  <a:srgbClr val="0000FF"/>
                </a:solidFill>
                <a:latin typeface="+mj-ea"/>
              </a:rPr>
              <a:t>4.4 </a:t>
            </a:r>
            <a:r>
              <a:rPr lang="zh-CN" altLang="en-US" sz="1800" b="1" dirty="0">
                <a:solidFill>
                  <a:srgbClr val="0000FF"/>
                </a:solidFill>
                <a:latin typeface="+mj-ea"/>
              </a:rPr>
              <a:t>信号量机制</a:t>
            </a:r>
          </a:p>
        </p:txBody>
      </p:sp>
      <p:sp>
        <p:nvSpPr>
          <p:cNvPr id="37" name="矩形 36"/>
          <p:cNvSpPr/>
          <p:nvPr/>
        </p:nvSpPr>
        <p:spPr>
          <a:xfrm>
            <a:off x="1273253" y="4016227"/>
            <a:ext cx="2525359" cy="369332"/>
          </a:xfrm>
          <a:prstGeom prst="rect">
            <a:avLst/>
          </a:prstGeom>
        </p:spPr>
        <p:txBody>
          <a:bodyPr wrap="square">
            <a:spAutoFit/>
          </a:bodyPr>
          <a:lstStyle/>
          <a:p>
            <a:r>
              <a:rPr lang="en-US" altLang="zh-CN" sz="1800" dirty="0">
                <a:latin typeface="+mj-ea"/>
              </a:rPr>
              <a:t>4.5 </a:t>
            </a:r>
            <a:r>
              <a:rPr lang="zh-CN" altLang="en-US" sz="1800" dirty="0">
                <a:latin typeface="+mj-ea"/>
              </a:rPr>
              <a:t>管程机制</a:t>
            </a:r>
          </a:p>
        </p:txBody>
      </p:sp>
      <p:sp>
        <p:nvSpPr>
          <p:cNvPr id="38" name="矩形 37"/>
          <p:cNvSpPr/>
          <p:nvPr/>
        </p:nvSpPr>
        <p:spPr>
          <a:xfrm>
            <a:off x="1273253" y="4480571"/>
            <a:ext cx="2761613" cy="369332"/>
          </a:xfrm>
          <a:prstGeom prst="rect">
            <a:avLst/>
          </a:prstGeom>
        </p:spPr>
        <p:txBody>
          <a:bodyPr wrap="square">
            <a:spAutoFit/>
          </a:bodyPr>
          <a:lstStyle/>
          <a:p>
            <a:r>
              <a:rPr lang="en-US" altLang="zh-CN" sz="1800" dirty="0">
                <a:latin typeface="+mj-ea"/>
              </a:rPr>
              <a:t>4.6 </a:t>
            </a:r>
            <a:r>
              <a:rPr lang="zh-CN" altLang="en-US" sz="1800" dirty="0">
                <a:latin typeface="+mj-ea"/>
              </a:rPr>
              <a:t>经典进程的同步问题</a:t>
            </a:r>
          </a:p>
        </p:txBody>
      </p:sp>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913797"/>
            <a:ext cx="395288" cy="395288"/>
          </a:xfrm>
          <a:prstGeom prst="rect">
            <a:avLst/>
          </a:prstGeom>
          <a:ln>
            <a:noFill/>
          </a:ln>
          <a:effectLst>
            <a:softEdge rad="0"/>
          </a:effectLst>
        </p:spPr>
      </p:pic>
      <p:sp>
        <p:nvSpPr>
          <p:cNvPr id="24" name="矩形 23"/>
          <p:cNvSpPr/>
          <p:nvPr/>
        </p:nvSpPr>
        <p:spPr>
          <a:xfrm>
            <a:off x="1273253" y="4935400"/>
            <a:ext cx="2761613" cy="369332"/>
          </a:xfrm>
          <a:prstGeom prst="rect">
            <a:avLst/>
          </a:prstGeom>
        </p:spPr>
        <p:txBody>
          <a:bodyPr wrap="square">
            <a:spAutoFit/>
          </a:bodyPr>
          <a:lstStyle/>
          <a:p>
            <a:r>
              <a:rPr lang="en-US" altLang="zh-CN" sz="1800" dirty="0">
                <a:latin typeface="+mj-ea"/>
              </a:rPr>
              <a:t>4.7 Linux</a:t>
            </a:r>
            <a:r>
              <a:rPr lang="zh-CN" altLang="en-US" sz="1800" dirty="0">
                <a:latin typeface="+mj-ea"/>
              </a:rPr>
              <a:t>进程同步机制</a:t>
            </a:r>
          </a:p>
        </p:txBody>
      </p:sp>
    </p:spTree>
    <p:extLst>
      <p:ext uri="{BB962C8B-B14F-4D97-AF65-F5344CB8AC3E}">
        <p14:creationId xmlns:p14="http://schemas.microsoft.com/office/powerpoint/2010/main" val="15427150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txBox="1"/>
          <p:nvPr/>
        </p:nvSpPr>
        <p:spPr>
          <a:xfrm>
            <a:off x="502444" y="4837243"/>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t>Signature</a:t>
            </a:r>
            <a:endParaRPr lang="en-US" altLang="zh-CN" sz="1125" dirty="0"/>
          </a:p>
        </p:txBody>
      </p:sp>
      <p:sp>
        <p:nvSpPr>
          <p:cNvPr id="15" name="文本占位符 13"/>
          <p:cNvSpPr txBox="1"/>
          <p:nvPr/>
        </p:nvSpPr>
        <p:spPr>
          <a:xfrm>
            <a:off x="502444" y="5059446"/>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t>Date</a:t>
            </a:r>
            <a:endParaRPr lang="zh-CN" altLang="en-US" sz="1125" dirty="0"/>
          </a:p>
        </p:txBody>
      </p:sp>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信号量机制</a:t>
            </a:r>
          </a:p>
        </p:txBody>
      </p:sp>
      <p:sp>
        <p:nvSpPr>
          <p:cNvPr id="40" name="ïşľîďè"/>
          <p:cNvSpPr/>
          <p:nvPr/>
        </p:nvSpPr>
        <p:spPr>
          <a:xfrm>
            <a:off x="1191" y="1714500"/>
            <a:ext cx="3502241" cy="375285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a:bodyPr>
          <a:lstStyle/>
          <a:p>
            <a:pPr algn="ctr" defTabSz="685800"/>
            <a:endParaRPr lang="zh-CN" altLang="en-US" sz="1500" b="1" dirty="0">
              <a:solidFill>
                <a:schemeClr val="bg1"/>
              </a:solidFill>
            </a:endParaRPr>
          </a:p>
        </p:txBody>
      </p:sp>
      <p:sp>
        <p:nvSpPr>
          <p:cNvPr id="41" name="îŝļiḋe"/>
          <p:cNvSpPr/>
          <p:nvPr/>
        </p:nvSpPr>
        <p:spPr>
          <a:xfrm>
            <a:off x="3010721" y="1714500"/>
            <a:ext cx="492711" cy="375285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a:bodyPr>
          <a:lstStyle/>
          <a:p>
            <a:pPr algn="ctr" defTabSz="685800"/>
            <a:endParaRPr lang="zh-CN" altLang="en-US" sz="1500" b="1" dirty="0">
              <a:solidFill>
                <a:schemeClr val="bg1"/>
              </a:solidFill>
            </a:endParaRPr>
          </a:p>
        </p:txBody>
      </p:sp>
      <p:grpSp>
        <p:nvGrpSpPr>
          <p:cNvPr id="42" name="í$1iďè"/>
          <p:cNvGrpSpPr/>
          <p:nvPr/>
        </p:nvGrpSpPr>
        <p:grpSpPr>
          <a:xfrm>
            <a:off x="3103937" y="1766471"/>
            <a:ext cx="5536428" cy="900209"/>
            <a:chOff x="4136995" y="1199594"/>
            <a:chExt cx="7381904" cy="1200279"/>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500" b="1" dirty="0">
                <a:solidFill>
                  <a:schemeClr val="bg1"/>
                </a:solidFill>
              </a:endParaRPr>
            </a:p>
          </p:txBody>
        </p:sp>
        <p:sp>
          <p:nvSpPr>
            <p:cNvPr id="44" name="ïSḻiḍé"/>
            <p:cNvSpPr txBox="1"/>
            <p:nvPr/>
          </p:nvSpPr>
          <p:spPr>
            <a:xfrm>
              <a:off x="4882718" y="1199594"/>
              <a:ext cx="6636181" cy="1200279"/>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en-US" altLang="zh-CN" sz="1500" dirty="0">
                  <a:latin typeface="+mj-ea"/>
                  <a:ea typeface="+mj-ea"/>
                </a:rPr>
                <a:t>1965</a:t>
              </a:r>
              <a:r>
                <a:rPr lang="zh-CN" altLang="en-US" sz="1500" dirty="0">
                  <a:latin typeface="+mj-ea"/>
                  <a:ea typeface="+mj-ea"/>
                </a:rPr>
                <a:t>年，由荷兰学者迪科斯彻</a:t>
              </a:r>
              <a:r>
                <a:rPr lang="en-US" altLang="zh-CN" sz="1500" dirty="0" err="1">
                  <a:latin typeface="+mj-ea"/>
                  <a:ea typeface="+mj-ea"/>
                </a:rPr>
                <a:t>Dijkstra</a:t>
              </a:r>
              <a:r>
                <a:rPr lang="zh-CN" altLang="en-US" sz="1500" dirty="0">
                  <a:latin typeface="+mj-ea"/>
                  <a:ea typeface="+mj-ea"/>
                </a:rPr>
                <a:t>提出（</a:t>
              </a:r>
              <a:r>
                <a:rPr lang="en-US" altLang="zh-CN" sz="1500" dirty="0">
                  <a:latin typeface="+mj-ea"/>
                  <a:ea typeface="+mj-ea"/>
                </a:rPr>
                <a:t>P</a:t>
              </a:r>
              <a:r>
                <a:rPr lang="zh-CN" altLang="en-US" sz="1500" dirty="0">
                  <a:latin typeface="+mj-ea"/>
                  <a:ea typeface="+mj-ea"/>
                </a:rPr>
                <a:t>、</a:t>
              </a:r>
              <a:r>
                <a:rPr lang="en-US" altLang="zh-CN" sz="1500" dirty="0">
                  <a:latin typeface="+mj-ea"/>
                  <a:ea typeface="+mj-ea"/>
                </a:rPr>
                <a:t>V</a:t>
              </a:r>
              <a:r>
                <a:rPr lang="zh-CN" altLang="en-US" sz="1500" dirty="0">
                  <a:latin typeface="+mj-ea"/>
                  <a:ea typeface="+mj-ea"/>
                </a:rPr>
                <a:t>分别代表荷兰语的</a:t>
              </a:r>
              <a:r>
                <a:rPr lang="en-US" altLang="zh-CN" sz="1500" dirty="0" err="1">
                  <a:latin typeface="+mj-ea"/>
                  <a:ea typeface="+mj-ea"/>
                </a:rPr>
                <a:t>Proberen</a:t>
              </a:r>
              <a:r>
                <a:rPr lang="en-US" altLang="zh-CN" sz="1500" dirty="0">
                  <a:latin typeface="+mj-ea"/>
                  <a:ea typeface="+mj-ea"/>
                </a:rPr>
                <a:t> (test)</a:t>
              </a:r>
              <a:r>
                <a:rPr lang="zh-CN" altLang="en-US" sz="1500" dirty="0">
                  <a:latin typeface="+mj-ea"/>
                  <a:ea typeface="+mj-ea"/>
                </a:rPr>
                <a:t>和</a:t>
              </a:r>
              <a:r>
                <a:rPr lang="en-US" altLang="zh-CN" sz="1500" dirty="0" err="1">
                  <a:latin typeface="+mj-ea"/>
                  <a:ea typeface="+mj-ea"/>
                </a:rPr>
                <a:t>Verhogen</a:t>
              </a:r>
              <a:r>
                <a:rPr lang="en-US" altLang="zh-CN" sz="1500" dirty="0">
                  <a:latin typeface="+mj-ea"/>
                  <a:ea typeface="+mj-ea"/>
                </a:rPr>
                <a:t> (increment)</a:t>
              </a:r>
              <a:r>
                <a:rPr lang="zh-CN" altLang="en-US" sz="1500" dirty="0">
                  <a:latin typeface="+mj-ea"/>
                  <a:ea typeface="+mj-ea"/>
                </a:rPr>
                <a:t>），是一种卓有成效的进程同步机制。</a:t>
              </a:r>
            </a:p>
          </p:txBody>
        </p:sp>
      </p:grpSp>
      <p:grpSp>
        <p:nvGrpSpPr>
          <p:cNvPr id="45" name="išḷîḓé"/>
          <p:cNvGrpSpPr/>
          <p:nvPr/>
        </p:nvGrpSpPr>
        <p:grpSpPr>
          <a:xfrm>
            <a:off x="3099194" y="2704885"/>
            <a:ext cx="5667375" cy="1925955"/>
            <a:chOff x="4130670" y="1466533"/>
            <a:chExt cx="7556500" cy="2567940"/>
          </a:xfrm>
        </p:grpSpPr>
        <p:sp>
          <p:nvSpPr>
            <p:cNvPr id="46" name="íśľïḋé"/>
            <p:cNvSpPr/>
            <p:nvPr/>
          </p:nvSpPr>
          <p:spPr>
            <a:xfrm>
              <a:off x="4130670" y="2682216"/>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500" b="1" dirty="0">
                <a:solidFill>
                  <a:schemeClr val="bg1"/>
                </a:solidFill>
              </a:endParaRPr>
            </a:p>
          </p:txBody>
        </p:sp>
        <p:sp>
          <p:nvSpPr>
            <p:cNvPr id="47" name="îŝľîḓè"/>
            <p:cNvSpPr txBox="1"/>
            <p:nvPr/>
          </p:nvSpPr>
          <p:spPr>
            <a:xfrm>
              <a:off x="4882510" y="1466533"/>
              <a:ext cx="6804660" cy="2567940"/>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1500" dirty="0"/>
                <a:t>信号量</a:t>
              </a:r>
              <a:r>
                <a:rPr lang="en-US" altLang="zh-CN" sz="1500" dirty="0"/>
                <a:t>-</a:t>
              </a:r>
              <a:r>
                <a:rPr lang="zh-CN" altLang="en-US" sz="1500" dirty="0"/>
                <a:t>软件解决方案：</a:t>
              </a:r>
            </a:p>
            <a:p>
              <a:pPr marL="257175" indent="-257175">
                <a:lnSpc>
                  <a:spcPct val="130000"/>
                </a:lnSpc>
                <a:buClr>
                  <a:srgbClr val="FF0000"/>
                </a:buClr>
                <a:buFont typeface="Wingdings" panose="05000000000000000000" pitchFamily="2" charset="2"/>
                <a:buChar char="Ø"/>
              </a:pPr>
              <a:r>
                <a:rPr lang="zh-CN" altLang="en-US" sz="1500" dirty="0"/>
                <a:t>保证两个或多个代码段不被并发调用，保护临界区</a:t>
              </a:r>
            </a:p>
            <a:p>
              <a:pPr marL="257175" indent="-257175">
                <a:lnSpc>
                  <a:spcPct val="130000"/>
                </a:lnSpc>
                <a:buClr>
                  <a:srgbClr val="FF0000"/>
                </a:buClr>
                <a:buFont typeface="Wingdings" panose="05000000000000000000" pitchFamily="2" charset="2"/>
                <a:buChar char="Ø"/>
              </a:pPr>
              <a:r>
                <a:rPr lang="zh-CN" altLang="en-US" sz="1500" dirty="0"/>
                <a:t>在进入关键代码段前，进程必须获取一个信号量，否则不能运行</a:t>
              </a:r>
            </a:p>
            <a:p>
              <a:pPr marL="257175" indent="-257175">
                <a:lnSpc>
                  <a:spcPct val="130000"/>
                </a:lnSpc>
                <a:buClr>
                  <a:srgbClr val="FF0000"/>
                </a:buClr>
                <a:buFont typeface="Wingdings" panose="05000000000000000000" pitchFamily="2" charset="2"/>
                <a:buChar char="Ø"/>
              </a:pPr>
              <a:r>
                <a:rPr lang="zh-CN" altLang="en-US" sz="1500" dirty="0"/>
                <a:t>执行完该关键代码段，必须释放信号量</a:t>
              </a:r>
            </a:p>
            <a:p>
              <a:pPr marL="257175" indent="-257175">
                <a:lnSpc>
                  <a:spcPct val="130000"/>
                </a:lnSpc>
                <a:buClr>
                  <a:srgbClr val="FF0000"/>
                </a:buClr>
                <a:buFont typeface="Wingdings" panose="05000000000000000000" pitchFamily="2" charset="2"/>
                <a:buChar char="Ø"/>
              </a:pPr>
              <a:r>
                <a:rPr lang="zh-CN" altLang="en-US" sz="1500" dirty="0"/>
                <a:t>信号量有值：为正数说明它有空闲，为负数说明其忙碌</a:t>
              </a:r>
            </a:p>
          </p:txBody>
        </p:sp>
      </p:grpSp>
      <p:grpSp>
        <p:nvGrpSpPr>
          <p:cNvPr id="48" name="ïSlíḍê"/>
          <p:cNvGrpSpPr/>
          <p:nvPr/>
        </p:nvGrpSpPr>
        <p:grpSpPr>
          <a:xfrm>
            <a:off x="3099194" y="4647788"/>
            <a:ext cx="5342956" cy="1024618"/>
            <a:chOff x="4130670" y="5387697"/>
            <a:chExt cx="7123941" cy="1366157"/>
          </a:xfrm>
        </p:grpSpPr>
        <p:sp>
          <p:nvSpPr>
            <p:cNvPr id="49" name="ïsľíḓê"/>
            <p:cNvSpPr/>
            <p:nvPr/>
          </p:nvSpPr>
          <p:spPr>
            <a:xfrm>
              <a:off x="4130670" y="5484055"/>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500" b="1" dirty="0">
                <a:solidFill>
                  <a:schemeClr val="bg1"/>
                </a:solidFill>
              </a:endParaRPr>
            </a:p>
          </p:txBody>
        </p:sp>
        <p:sp>
          <p:nvSpPr>
            <p:cNvPr id="50" name="íṧļîḋê"/>
            <p:cNvSpPr txBox="1"/>
            <p:nvPr/>
          </p:nvSpPr>
          <p:spPr>
            <a:xfrm>
              <a:off x="4882717" y="5387697"/>
              <a:ext cx="1855948" cy="497937"/>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zh-CN" altLang="en-US" sz="1500" dirty="0"/>
            </a:p>
            <a:p>
              <a:pPr>
                <a:lnSpc>
                  <a:spcPct val="130000"/>
                </a:lnSpc>
              </a:pPr>
              <a:r>
                <a:rPr lang="zh-CN" altLang="en-US" sz="1500" b="1" dirty="0"/>
                <a:t>类型</a:t>
              </a:r>
            </a:p>
            <a:p>
              <a:pPr marL="257175" indent="-257175">
                <a:lnSpc>
                  <a:spcPct val="130000"/>
                </a:lnSpc>
                <a:buClr>
                  <a:srgbClr val="FF0000"/>
                </a:buClr>
                <a:buFont typeface="Wingdings" panose="05000000000000000000" pitchFamily="2" charset="2"/>
                <a:buChar char="Ø"/>
              </a:pPr>
              <a:r>
                <a:rPr lang="zh-CN" altLang="en-US" sz="1500" dirty="0"/>
                <a:t>整型信号量</a:t>
              </a:r>
            </a:p>
          </p:txBody>
        </p:sp>
        <p:sp>
          <p:nvSpPr>
            <p:cNvPr id="17" name="íṧļîḋê"/>
            <p:cNvSpPr txBox="1"/>
            <p:nvPr/>
          </p:nvSpPr>
          <p:spPr>
            <a:xfrm>
              <a:off x="6738665" y="5798948"/>
              <a:ext cx="2257973" cy="482743"/>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57175" indent="-257175">
                <a:lnSpc>
                  <a:spcPct val="130000"/>
                </a:lnSpc>
                <a:buClr>
                  <a:srgbClr val="FF0000"/>
                </a:buClr>
                <a:buFont typeface="Wingdings" panose="05000000000000000000" pitchFamily="2" charset="2"/>
                <a:buChar char="Ø"/>
              </a:pPr>
              <a:r>
                <a:rPr lang="zh-CN" altLang="en-US" sz="1500" dirty="0">
                  <a:solidFill>
                    <a:srgbClr val="FF0000"/>
                  </a:solidFill>
                </a:rPr>
                <a:t>记录型信号量</a:t>
              </a:r>
            </a:p>
          </p:txBody>
        </p:sp>
        <p:sp>
          <p:nvSpPr>
            <p:cNvPr id="18" name="íṧļîḋê"/>
            <p:cNvSpPr txBox="1"/>
            <p:nvPr/>
          </p:nvSpPr>
          <p:spPr>
            <a:xfrm>
              <a:off x="8996638" y="5828871"/>
              <a:ext cx="2257973" cy="503760"/>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57175" indent="-257175">
                <a:lnSpc>
                  <a:spcPct val="130000"/>
                </a:lnSpc>
                <a:buClr>
                  <a:srgbClr val="FF0000"/>
                </a:buClr>
                <a:buFont typeface="Wingdings" panose="05000000000000000000" pitchFamily="2" charset="2"/>
                <a:buChar char="Ø"/>
              </a:pPr>
              <a:r>
                <a:rPr lang="en-US" altLang="zh-CN" sz="1500" dirty="0"/>
                <a:t>AND</a:t>
              </a:r>
              <a:r>
                <a:rPr lang="zh-CN" altLang="en-US" sz="1500" dirty="0"/>
                <a:t>型信号量</a:t>
              </a:r>
            </a:p>
          </p:txBody>
        </p:sp>
        <p:sp>
          <p:nvSpPr>
            <p:cNvPr id="19" name="íṧļîḋê"/>
            <p:cNvSpPr txBox="1"/>
            <p:nvPr/>
          </p:nvSpPr>
          <p:spPr>
            <a:xfrm>
              <a:off x="4882717" y="6250094"/>
              <a:ext cx="2257973" cy="503760"/>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57175" indent="-257175">
                <a:lnSpc>
                  <a:spcPct val="130000"/>
                </a:lnSpc>
                <a:buClr>
                  <a:srgbClr val="FF0000"/>
                </a:buClr>
                <a:buFont typeface="Wingdings" panose="05000000000000000000" pitchFamily="2" charset="2"/>
                <a:buChar char="Ø"/>
              </a:pPr>
              <a:r>
                <a:rPr lang="zh-CN" altLang="en-US" sz="1500" dirty="0"/>
                <a:t>信号量集</a:t>
              </a:r>
            </a:p>
          </p:txBody>
        </p:sp>
      </p:grpSp>
      <p:cxnSp>
        <p:nvCxnSpPr>
          <p:cNvPr id="3" name="直接连接符 2"/>
          <p:cNvCxnSpPr/>
          <p:nvPr/>
        </p:nvCxnSpPr>
        <p:spPr>
          <a:xfrm>
            <a:off x="3776870" y="2689122"/>
            <a:ext cx="4863496"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3720049" y="4631041"/>
            <a:ext cx="4863496"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654689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迪科斯彻</a:t>
            </a:r>
            <a:r>
              <a:rPr lang="en-US" altLang="zh-CN" sz="2100" b="1" dirty="0">
                <a:solidFill>
                  <a:schemeClr val="bg1"/>
                </a:solidFill>
              </a:rPr>
              <a:t>(1930-2002)</a:t>
            </a:r>
            <a:endParaRPr lang="zh-CN" altLang="en-US" sz="2100" b="1" dirty="0">
              <a:solidFill>
                <a:schemeClr val="bg1"/>
              </a:solidFill>
            </a:endParaRPr>
          </a:p>
        </p:txBody>
      </p:sp>
      <p:sp>
        <p:nvSpPr>
          <p:cNvPr id="4" name="i$lîďê"/>
          <p:cNvSpPr/>
          <p:nvPr/>
        </p:nvSpPr>
        <p:spPr>
          <a:xfrm>
            <a:off x="1024729" y="4472247"/>
            <a:ext cx="4877015" cy="635032"/>
          </a:xfrm>
          <a:prstGeom prst="rect">
            <a:avLst/>
          </a:prstGeom>
          <a:noFill/>
          <a:ln>
            <a:noFill/>
          </a:ln>
        </p:spPr>
        <p:txBody>
          <a:bodyPr wrap="square" lIns="68580" tIns="34290" rIns="68580" bIns="34290" anchor="ctr" anchorCtr="0">
            <a:noAutofit/>
          </a:bodyPr>
          <a:lstStyle/>
          <a:p>
            <a:pPr>
              <a:lnSpc>
                <a:spcPct val="132000"/>
              </a:lnSpc>
            </a:pPr>
            <a:r>
              <a:rPr lang="zh-CN" altLang="en-US" sz="1950" dirty="0"/>
              <a:t>与</a:t>
            </a:r>
            <a:r>
              <a:rPr lang="en-US" altLang="zh-CN" sz="1950" dirty="0"/>
              <a:t>D. E. Knuth</a:t>
            </a:r>
            <a:r>
              <a:rPr lang="zh-CN" altLang="en-US" sz="1950" dirty="0"/>
              <a:t>并称为这个时代最伟大的计算机科学家</a:t>
            </a:r>
          </a:p>
        </p:txBody>
      </p:sp>
      <p:sp>
        <p:nvSpPr>
          <p:cNvPr id="5" name="îs1iďé"/>
          <p:cNvSpPr/>
          <p:nvPr/>
        </p:nvSpPr>
        <p:spPr>
          <a:xfrm>
            <a:off x="1015071" y="2391438"/>
            <a:ext cx="4965227" cy="1865835"/>
          </a:xfrm>
          <a:prstGeom prst="rect">
            <a:avLst/>
          </a:prstGeom>
          <a:noFill/>
          <a:ln>
            <a:noFill/>
          </a:ln>
        </p:spPr>
        <p:txBody>
          <a:bodyPr wrap="square" lIns="68580" tIns="34290" rIns="68580" bIns="34290" anchor="t" anchorCtr="0">
            <a:noAutofit/>
          </a:bodyPr>
          <a:lstStyle/>
          <a:p>
            <a:pPr marL="257175" indent="-257175">
              <a:lnSpc>
                <a:spcPct val="140000"/>
              </a:lnSpc>
              <a:buClr>
                <a:srgbClr val="FF0000"/>
              </a:buClr>
              <a:buFont typeface="Wingdings" panose="05000000000000000000" pitchFamily="2" charset="2"/>
              <a:buChar char="Ø"/>
            </a:pPr>
            <a:r>
              <a:rPr lang="zh-CN" altLang="en-US" sz="1800" dirty="0">
                <a:solidFill>
                  <a:srgbClr val="FF0000"/>
                </a:solidFill>
              </a:rPr>
              <a:t>信号量和</a:t>
            </a:r>
            <a:r>
              <a:rPr lang="en-US" altLang="zh-CN" sz="1800" dirty="0">
                <a:solidFill>
                  <a:srgbClr val="FF0000"/>
                </a:solidFill>
              </a:rPr>
              <a:t>PV</a:t>
            </a:r>
            <a:r>
              <a:rPr lang="zh-CN" altLang="en-US" sz="1800" dirty="0">
                <a:solidFill>
                  <a:srgbClr val="FF0000"/>
                </a:solidFill>
              </a:rPr>
              <a:t>原语发明者</a:t>
            </a:r>
          </a:p>
          <a:p>
            <a:pPr marL="257175" indent="-257175">
              <a:lnSpc>
                <a:spcPct val="140000"/>
              </a:lnSpc>
              <a:buClr>
                <a:srgbClr val="FF0000"/>
              </a:buClr>
              <a:buFont typeface="Wingdings" panose="05000000000000000000" pitchFamily="2" charset="2"/>
              <a:buChar char="Ø"/>
            </a:pPr>
            <a:r>
              <a:rPr lang="zh-CN" altLang="en-US" sz="1800" dirty="0"/>
              <a:t>解决了“</a:t>
            </a:r>
            <a:r>
              <a:rPr lang="zh-CN" altLang="en-US" sz="1800" b="1" dirty="0"/>
              <a:t>哲学家就餐</a:t>
            </a:r>
            <a:r>
              <a:rPr lang="zh-CN" altLang="en-US" sz="1800" dirty="0"/>
              <a:t>”问题</a:t>
            </a:r>
          </a:p>
          <a:p>
            <a:pPr marL="257175" indent="-257175">
              <a:lnSpc>
                <a:spcPct val="140000"/>
              </a:lnSpc>
              <a:buClr>
                <a:srgbClr val="FF0000"/>
              </a:buClr>
              <a:buFont typeface="Wingdings" panose="05000000000000000000" pitchFamily="2" charset="2"/>
              <a:buChar char="Ø"/>
            </a:pPr>
            <a:r>
              <a:rPr lang="zh-CN" altLang="en-US" sz="1800" dirty="0"/>
              <a:t>最短路径算法</a:t>
            </a:r>
            <a:r>
              <a:rPr lang="en-US" altLang="zh-CN" sz="1800" dirty="0"/>
              <a:t>(SPF)</a:t>
            </a:r>
            <a:r>
              <a:rPr lang="zh-CN" altLang="en-US" sz="1800" dirty="0"/>
              <a:t>和</a:t>
            </a:r>
            <a:r>
              <a:rPr lang="zh-CN" altLang="en-US" sz="1800" b="1" dirty="0"/>
              <a:t>银行家算法</a:t>
            </a:r>
            <a:r>
              <a:rPr lang="zh-CN" altLang="en-US" sz="1800" dirty="0"/>
              <a:t>的创造者</a:t>
            </a:r>
          </a:p>
          <a:p>
            <a:pPr marL="257175" indent="-257175">
              <a:lnSpc>
                <a:spcPct val="140000"/>
              </a:lnSpc>
              <a:buClr>
                <a:srgbClr val="FF0000"/>
              </a:buClr>
              <a:buFont typeface="Wingdings" panose="05000000000000000000" pitchFamily="2" charset="2"/>
              <a:buChar char="Ø"/>
            </a:pPr>
            <a:r>
              <a:rPr lang="zh-CN" altLang="en-US" sz="1800" dirty="0"/>
              <a:t>结构程序设计之父</a:t>
            </a:r>
          </a:p>
          <a:p>
            <a:pPr marL="257175" indent="-257175">
              <a:lnSpc>
                <a:spcPct val="140000"/>
              </a:lnSpc>
              <a:buClr>
                <a:srgbClr val="FF0000"/>
              </a:buClr>
              <a:buFont typeface="Wingdings" panose="05000000000000000000" pitchFamily="2" charset="2"/>
              <a:buChar char="Ø"/>
            </a:pPr>
            <a:r>
              <a:rPr lang="en-US" altLang="zh-CN" sz="1800" b="1" dirty="0"/>
              <a:t>THE</a:t>
            </a:r>
            <a:r>
              <a:rPr lang="zh-CN" altLang="en-US" sz="1800" b="1" dirty="0"/>
              <a:t>操作系统</a:t>
            </a:r>
            <a:r>
              <a:rPr lang="zh-CN" altLang="en-US" sz="1800" dirty="0"/>
              <a:t>设计者和开发者</a:t>
            </a:r>
          </a:p>
        </p:txBody>
      </p:sp>
      <p:sp>
        <p:nvSpPr>
          <p:cNvPr id="6" name="íšḻíḑê"/>
          <p:cNvSpPr/>
          <p:nvPr/>
        </p:nvSpPr>
        <p:spPr>
          <a:xfrm>
            <a:off x="1015071" y="2019787"/>
            <a:ext cx="6510722" cy="304310"/>
          </a:xfrm>
          <a:prstGeom prst="rect">
            <a:avLst/>
          </a:prstGeom>
          <a:noFill/>
          <a:ln>
            <a:noFill/>
          </a:ln>
        </p:spPr>
        <p:txBody>
          <a:bodyPr wrap="square" lIns="68580" tIns="34290" rIns="68580" bIns="34290" anchor="ctr" anchorCtr="0">
            <a:noAutofit/>
          </a:bodyPr>
          <a:lstStyle/>
          <a:p>
            <a:r>
              <a:rPr lang="zh-CN" altLang="en-US" sz="1950" dirty="0"/>
              <a:t>艾兹格</a:t>
            </a:r>
            <a:r>
              <a:rPr lang="en-US" altLang="zh-CN" sz="1950" dirty="0"/>
              <a:t>·W·</a:t>
            </a:r>
            <a:r>
              <a:rPr lang="zh-CN" altLang="en-US" sz="1950" dirty="0"/>
              <a:t>迪科斯彻</a:t>
            </a:r>
            <a:r>
              <a:rPr lang="en-US" altLang="zh-CN" sz="1950" dirty="0"/>
              <a:t>(</a:t>
            </a:r>
            <a:r>
              <a:rPr lang="en-US" altLang="zh-CN" sz="1950" dirty="0" err="1"/>
              <a:t>Edsger</a:t>
            </a:r>
            <a:r>
              <a:rPr lang="en-US" altLang="zh-CN" sz="1950" dirty="0"/>
              <a:t> </a:t>
            </a:r>
            <a:r>
              <a:rPr lang="en-US" altLang="zh-CN" sz="1950" dirty="0" err="1"/>
              <a:t>Wybe</a:t>
            </a:r>
            <a:r>
              <a:rPr lang="en-US" altLang="zh-CN" sz="1950" dirty="0"/>
              <a:t> </a:t>
            </a:r>
            <a:r>
              <a:rPr lang="en-US" altLang="zh-CN" sz="1950" dirty="0" err="1"/>
              <a:t>Dijkstra</a:t>
            </a:r>
            <a:r>
              <a:rPr lang="en-US" altLang="zh-CN" sz="1950" dirty="0"/>
              <a:t>)</a:t>
            </a:r>
          </a:p>
        </p:txBody>
      </p:sp>
      <p:sp>
        <p:nvSpPr>
          <p:cNvPr id="7" name="îSļiḓè"/>
          <p:cNvSpPr/>
          <p:nvPr/>
        </p:nvSpPr>
        <p:spPr>
          <a:xfrm>
            <a:off x="502444" y="1942001"/>
            <a:ext cx="470900" cy="470900"/>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800"/>
          </a:p>
        </p:txBody>
      </p:sp>
      <p:sp>
        <p:nvSpPr>
          <p:cNvPr id="8" name="îşļiḓè"/>
          <p:cNvSpPr/>
          <p:nvPr/>
        </p:nvSpPr>
        <p:spPr>
          <a:xfrm>
            <a:off x="502444" y="4367875"/>
            <a:ext cx="470900" cy="470900"/>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800"/>
          </a:p>
        </p:txBody>
      </p:sp>
      <p:sp>
        <p:nvSpPr>
          <p:cNvPr id="9" name="îṡḷíďe"/>
          <p:cNvSpPr/>
          <p:nvPr/>
        </p:nvSpPr>
        <p:spPr>
          <a:xfrm>
            <a:off x="645136" y="2089104"/>
            <a:ext cx="195860" cy="185903"/>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68580" tIns="34290" rIns="68580" bIns="34290" anchor="ctr">
            <a:normAutofit fontScale="25000" lnSpcReduction="20000"/>
          </a:bodyPr>
          <a:lstStyle/>
          <a:p>
            <a:pPr algn="ctr"/>
            <a:endParaRPr sz="1800"/>
          </a:p>
        </p:txBody>
      </p:sp>
      <p:sp>
        <p:nvSpPr>
          <p:cNvPr id="10" name="íSlíḋe"/>
          <p:cNvSpPr/>
          <p:nvPr/>
        </p:nvSpPr>
        <p:spPr>
          <a:xfrm>
            <a:off x="645134" y="4534387"/>
            <a:ext cx="195861" cy="171603"/>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68580" tIns="34290" rIns="68580" bIns="34290" anchor="ctr">
            <a:normAutofit fontScale="25000" lnSpcReduction="20000"/>
          </a:bodyPr>
          <a:lstStyle/>
          <a:p>
            <a:pPr algn="ctr"/>
            <a:endParaRPr sz="1800"/>
          </a:p>
        </p:txBody>
      </p:sp>
      <p:pic>
        <p:nvPicPr>
          <p:cNvPr id="11" name="Picture 2" descr="http://a0.att.hudong.com/80/32/01300000939397131132321237253_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8418" y="2019787"/>
            <a:ext cx="2529136" cy="26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043525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整型信号量</a:t>
            </a:r>
          </a:p>
        </p:txBody>
      </p:sp>
      <p:sp>
        <p:nvSpPr>
          <p:cNvPr id="15" name="îṥľíḑé"/>
          <p:cNvSpPr txBox="1"/>
          <p:nvPr/>
        </p:nvSpPr>
        <p:spPr>
          <a:xfrm>
            <a:off x="851242" y="1818397"/>
            <a:ext cx="4847660" cy="410453"/>
          </a:xfrm>
          <a:prstGeom prst="rect">
            <a:avLst/>
          </a:prstGeom>
          <a:noFill/>
        </p:spPr>
        <p:txBody>
          <a:bodyPr wrap="square" lIns="68580" tIns="34290" rIns="68580" bIns="34290">
            <a:noAutofit/>
          </a:bodyPr>
          <a:lstStyle/>
          <a:p>
            <a:pPr marL="257175" indent="-257175">
              <a:lnSpc>
                <a:spcPct val="123000"/>
              </a:lnSpc>
              <a:buClr>
                <a:srgbClr val="FF0000"/>
              </a:buClr>
              <a:buFont typeface="Wingdings" panose="05000000000000000000" pitchFamily="2" charset="2"/>
              <a:buChar char="Ø"/>
            </a:pPr>
            <a:r>
              <a:rPr lang="zh-CN" altLang="en-US" sz="1800" b="1" dirty="0"/>
              <a:t>信号量</a:t>
            </a:r>
            <a:r>
              <a:rPr lang="en-US" altLang="zh-CN" sz="1800" b="1" dirty="0">
                <a:solidFill>
                  <a:srgbClr val="FF0000"/>
                </a:solidFill>
              </a:rPr>
              <a:t>S</a:t>
            </a:r>
            <a:r>
              <a:rPr lang="en-US" altLang="zh-CN" sz="1800" b="1" dirty="0"/>
              <a:t>-</a:t>
            </a:r>
            <a:r>
              <a:rPr lang="zh-CN" altLang="en-US" sz="1800" b="1" dirty="0"/>
              <a:t>整型变量</a:t>
            </a:r>
          </a:p>
        </p:txBody>
      </p:sp>
      <p:sp>
        <p:nvSpPr>
          <p:cNvPr id="16" name="îṥľíḑé"/>
          <p:cNvSpPr txBox="1"/>
          <p:nvPr/>
        </p:nvSpPr>
        <p:spPr>
          <a:xfrm>
            <a:off x="985845" y="2716576"/>
            <a:ext cx="3569904" cy="1545465"/>
          </a:xfrm>
          <a:prstGeom prst="rect">
            <a:avLst/>
          </a:prstGeom>
          <a:noFill/>
        </p:spPr>
        <p:txBody>
          <a:bodyPr wrap="square" lIns="68580" tIns="34290" rIns="68580" bIns="34290">
            <a:noAutofit/>
          </a:bodyPr>
          <a:lstStyle/>
          <a:p>
            <a:pPr marL="136684">
              <a:lnSpc>
                <a:spcPct val="110000"/>
              </a:lnSpc>
              <a:buClr>
                <a:schemeClr val="accent2"/>
              </a:buClr>
              <a:defRPr/>
            </a:pPr>
            <a:r>
              <a:rPr lang="en-US" altLang="zh-CN" sz="1800" dirty="0">
                <a:solidFill>
                  <a:srgbClr val="C00000"/>
                </a:solidFill>
              </a:rPr>
              <a:t>wait(S)</a:t>
            </a:r>
            <a:r>
              <a:rPr lang="zh-CN" altLang="en-US" sz="1800" dirty="0">
                <a:solidFill>
                  <a:srgbClr val="C00000"/>
                </a:solidFill>
              </a:rPr>
              <a:t>：</a:t>
            </a:r>
            <a:endParaRPr lang="en-US" altLang="zh-CN" sz="1800" dirty="0">
              <a:solidFill>
                <a:srgbClr val="C00000"/>
              </a:solidFill>
            </a:endParaRPr>
          </a:p>
          <a:p>
            <a:pPr lvl="1">
              <a:lnSpc>
                <a:spcPct val="110000"/>
              </a:lnSpc>
              <a:defRPr/>
            </a:pPr>
            <a:r>
              <a:rPr lang="en-US" altLang="zh-CN" sz="1800" dirty="0">
                <a:solidFill>
                  <a:schemeClr val="accent1">
                    <a:lumMod val="75000"/>
                  </a:schemeClr>
                </a:solidFill>
              </a:rPr>
              <a:t>	while s&lt;=0 ;   /*do no-op*/</a:t>
            </a:r>
          </a:p>
          <a:p>
            <a:pPr marL="742950" lvl="1" indent="-400050">
              <a:lnSpc>
                <a:spcPct val="110000"/>
              </a:lnSpc>
              <a:defRPr/>
            </a:pPr>
            <a:r>
              <a:rPr lang="en-US" altLang="zh-CN" sz="1800" dirty="0">
                <a:solidFill>
                  <a:schemeClr val="accent1">
                    <a:lumMod val="75000"/>
                  </a:schemeClr>
                </a:solidFill>
              </a:rPr>
              <a:t>	s:=s-1;</a:t>
            </a:r>
          </a:p>
          <a:p>
            <a:pPr marL="136684">
              <a:lnSpc>
                <a:spcPct val="110000"/>
              </a:lnSpc>
              <a:buClr>
                <a:schemeClr val="accent2"/>
              </a:buClr>
              <a:defRPr/>
            </a:pPr>
            <a:r>
              <a:rPr lang="en-US" altLang="zh-CN" sz="1800" dirty="0">
                <a:solidFill>
                  <a:srgbClr val="C00000"/>
                </a:solidFill>
              </a:rPr>
              <a:t>signal(S)</a:t>
            </a:r>
            <a:r>
              <a:rPr lang="zh-CN" altLang="en-US" sz="1800" dirty="0">
                <a:solidFill>
                  <a:srgbClr val="C00000"/>
                </a:solidFill>
              </a:rPr>
              <a:t>：</a:t>
            </a:r>
          </a:p>
          <a:p>
            <a:pPr marL="742950" lvl="1" indent="-400050">
              <a:lnSpc>
                <a:spcPct val="110000"/>
              </a:lnSpc>
              <a:defRPr/>
            </a:pPr>
            <a:r>
              <a:rPr lang="en-US" altLang="zh-CN" sz="1800" dirty="0">
                <a:solidFill>
                  <a:schemeClr val="accent1">
                    <a:lumMod val="75000"/>
                  </a:schemeClr>
                </a:solidFill>
              </a:rPr>
              <a:t>	s:=s+1; </a:t>
            </a:r>
          </a:p>
        </p:txBody>
      </p:sp>
      <p:sp>
        <p:nvSpPr>
          <p:cNvPr id="17" name="îṥľíḑé"/>
          <p:cNvSpPr txBox="1"/>
          <p:nvPr/>
        </p:nvSpPr>
        <p:spPr>
          <a:xfrm>
            <a:off x="851242" y="2306123"/>
            <a:ext cx="4847660" cy="410453"/>
          </a:xfrm>
          <a:prstGeom prst="rect">
            <a:avLst/>
          </a:prstGeom>
          <a:noFill/>
        </p:spPr>
        <p:txBody>
          <a:bodyPr wrap="square" lIns="68580" tIns="34290" rIns="68580" bIns="34290">
            <a:noAutofit/>
          </a:bodyPr>
          <a:lstStyle/>
          <a:p>
            <a:pPr marL="257175" indent="-257175">
              <a:lnSpc>
                <a:spcPct val="123000"/>
              </a:lnSpc>
              <a:buClr>
                <a:srgbClr val="FF0000"/>
              </a:buClr>
              <a:buFont typeface="Wingdings" panose="05000000000000000000" pitchFamily="2" charset="2"/>
              <a:buChar char="Ø"/>
            </a:pPr>
            <a:r>
              <a:rPr lang="zh-CN" altLang="en-US" sz="1800" b="1" dirty="0"/>
              <a:t>提供两个不可分割的</a:t>
            </a:r>
            <a:r>
              <a:rPr lang="en-US" altLang="zh-CN" sz="1800" b="1" dirty="0"/>
              <a:t>[</a:t>
            </a:r>
            <a:r>
              <a:rPr lang="zh-CN" altLang="en-US" sz="1800" b="1" dirty="0"/>
              <a:t>原子操作</a:t>
            </a:r>
            <a:r>
              <a:rPr lang="en-US" altLang="zh-CN" sz="1800" b="1" dirty="0"/>
              <a:t>]</a:t>
            </a:r>
            <a:r>
              <a:rPr lang="zh-CN" altLang="en-US" sz="1800" b="1" dirty="0"/>
              <a:t>访问信号量</a:t>
            </a:r>
            <a:endParaRPr lang="en-US" altLang="zh-CN" sz="1800" b="1" dirty="0"/>
          </a:p>
        </p:txBody>
      </p:sp>
      <p:sp>
        <p:nvSpPr>
          <p:cNvPr id="18" name="îṥľíḑé"/>
          <p:cNvSpPr txBox="1"/>
          <p:nvPr/>
        </p:nvSpPr>
        <p:spPr>
          <a:xfrm>
            <a:off x="851242" y="4368414"/>
            <a:ext cx="4847660" cy="1221822"/>
          </a:xfrm>
          <a:prstGeom prst="rect">
            <a:avLst/>
          </a:prstGeom>
          <a:noFill/>
        </p:spPr>
        <p:txBody>
          <a:bodyPr wrap="square" lIns="68580" tIns="34290" rIns="68580" bIns="34290">
            <a:noAutofit/>
          </a:bodyPr>
          <a:lstStyle/>
          <a:p>
            <a:pPr marL="257175" indent="-257175">
              <a:lnSpc>
                <a:spcPct val="123000"/>
              </a:lnSpc>
              <a:spcBef>
                <a:spcPts val="450"/>
              </a:spcBef>
              <a:buClr>
                <a:srgbClr val="FF0000"/>
              </a:buClr>
              <a:buFont typeface="Wingdings" panose="05000000000000000000" pitchFamily="2" charset="2"/>
              <a:buChar char="Ø"/>
            </a:pPr>
            <a:r>
              <a:rPr lang="en-US" altLang="zh-CN" sz="1800" b="1" dirty="0"/>
              <a:t>Wait(s)</a:t>
            </a:r>
            <a:r>
              <a:rPr lang="zh-CN" altLang="en-US" sz="1800" b="1" dirty="0"/>
              <a:t>又称为</a:t>
            </a:r>
            <a:r>
              <a:rPr lang="en-US" altLang="zh-CN" sz="1800" b="1" dirty="0"/>
              <a:t>P(S)</a:t>
            </a:r>
          </a:p>
          <a:p>
            <a:pPr marL="257175" indent="-257175">
              <a:lnSpc>
                <a:spcPct val="123000"/>
              </a:lnSpc>
              <a:spcBef>
                <a:spcPts val="450"/>
              </a:spcBef>
              <a:buClr>
                <a:srgbClr val="FF0000"/>
              </a:buClr>
              <a:buFont typeface="Wingdings" panose="05000000000000000000" pitchFamily="2" charset="2"/>
              <a:buChar char="Ø"/>
            </a:pPr>
            <a:r>
              <a:rPr lang="en-US" altLang="zh-CN" sz="1800" b="1" dirty="0"/>
              <a:t>Signal(s)</a:t>
            </a:r>
            <a:r>
              <a:rPr lang="zh-CN" altLang="en-US" sz="1800" b="1" dirty="0"/>
              <a:t>又称为</a:t>
            </a:r>
            <a:r>
              <a:rPr lang="en-US" altLang="zh-CN" sz="1800" b="1" dirty="0"/>
              <a:t>V(S)</a:t>
            </a:r>
          </a:p>
          <a:p>
            <a:pPr marL="257175" indent="-257175">
              <a:lnSpc>
                <a:spcPct val="123000"/>
              </a:lnSpc>
              <a:spcBef>
                <a:spcPts val="450"/>
              </a:spcBef>
              <a:buClr>
                <a:srgbClr val="FF0000"/>
              </a:buClr>
              <a:buFont typeface="Wingdings" panose="05000000000000000000" pitchFamily="2" charset="2"/>
              <a:buChar char="Ø"/>
            </a:pPr>
            <a:r>
              <a:rPr lang="zh-CN" altLang="en-US" sz="1800" b="1" dirty="0">
                <a:solidFill>
                  <a:srgbClr val="FF0000"/>
                </a:solidFill>
              </a:rPr>
              <a:t>缺点</a:t>
            </a:r>
            <a:r>
              <a:rPr lang="zh-CN" altLang="en-US" sz="1800" b="1" dirty="0"/>
              <a:t>：进程忙等</a:t>
            </a:r>
          </a:p>
        </p:txBody>
      </p:sp>
    </p:spTree>
    <p:extLst>
      <p:ext uri="{BB962C8B-B14F-4D97-AF65-F5344CB8AC3E}">
        <p14:creationId xmlns:p14="http://schemas.microsoft.com/office/powerpoint/2010/main" val="288040603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记录型信号量：去除忙等的信号量</a:t>
            </a:r>
          </a:p>
        </p:txBody>
      </p:sp>
      <p:sp>
        <p:nvSpPr>
          <p:cNvPr id="15" name="îṥľíḑé"/>
          <p:cNvSpPr txBox="1"/>
          <p:nvPr/>
        </p:nvSpPr>
        <p:spPr>
          <a:xfrm>
            <a:off x="339090" y="2559844"/>
            <a:ext cx="3570923" cy="1556385"/>
          </a:xfrm>
          <a:prstGeom prst="rect">
            <a:avLst/>
          </a:prstGeom>
          <a:noFill/>
        </p:spPr>
        <p:txBody>
          <a:bodyPr wrap="square" lIns="68580" tIns="34290" rIns="68580" bIns="34290">
            <a:noAutofit/>
          </a:bodyPr>
          <a:lstStyle/>
          <a:p>
            <a:pPr marL="257175" indent="-257175">
              <a:lnSpc>
                <a:spcPct val="132000"/>
              </a:lnSpc>
              <a:spcBef>
                <a:spcPts val="450"/>
              </a:spcBef>
              <a:spcAft>
                <a:spcPts val="450"/>
              </a:spcAft>
              <a:buClr>
                <a:srgbClr val="FF0000"/>
              </a:buClr>
              <a:buFont typeface="Wingdings" panose="05000000000000000000" pitchFamily="2" charset="2"/>
              <a:buChar char="Ø"/>
            </a:pPr>
            <a:r>
              <a:rPr lang="zh-CN" altLang="en-US" sz="1650" dirty="0"/>
              <a:t>信号量只能通过</a:t>
            </a:r>
            <a:r>
              <a:rPr lang="zh-CN" altLang="en-US" sz="1650" dirty="0">
                <a:solidFill>
                  <a:srgbClr val="FF0000"/>
                </a:solidFill>
              </a:rPr>
              <a:t>初始化</a:t>
            </a:r>
            <a:r>
              <a:rPr lang="zh-CN" altLang="en-US" sz="1650" dirty="0"/>
              <a:t>和</a:t>
            </a:r>
            <a:r>
              <a:rPr lang="zh-CN" altLang="en-US" sz="1650" dirty="0">
                <a:solidFill>
                  <a:srgbClr val="FF0000"/>
                </a:solidFill>
              </a:rPr>
              <a:t>两个标准的原语</a:t>
            </a:r>
            <a:r>
              <a:rPr lang="en-US" altLang="zh-CN" sz="1650" dirty="0">
                <a:solidFill>
                  <a:srgbClr val="FF0000"/>
                </a:solidFill>
              </a:rPr>
              <a:t>P/V</a:t>
            </a:r>
            <a:r>
              <a:rPr lang="zh-CN" altLang="en-US" sz="1650" dirty="0"/>
              <a:t>来访问</a:t>
            </a:r>
            <a:r>
              <a:rPr lang="en-US" altLang="zh-CN" sz="1650" dirty="0"/>
              <a:t>——</a:t>
            </a:r>
            <a:r>
              <a:rPr lang="zh-CN" altLang="en-US" sz="1650" dirty="0"/>
              <a:t>作为</a:t>
            </a:r>
            <a:r>
              <a:rPr lang="en-US" altLang="zh-CN" sz="1650" dirty="0"/>
              <a:t>OS</a:t>
            </a:r>
            <a:r>
              <a:rPr lang="zh-CN" altLang="en-US" sz="1650" dirty="0"/>
              <a:t>核心代码执行，</a:t>
            </a:r>
            <a:r>
              <a:rPr lang="zh-CN" altLang="en-US" sz="1650" dirty="0">
                <a:solidFill>
                  <a:srgbClr val="FF0000"/>
                </a:solidFill>
              </a:rPr>
              <a:t>不受进程调度的打断。</a:t>
            </a:r>
          </a:p>
          <a:p>
            <a:pPr marL="257175" indent="-257175">
              <a:lnSpc>
                <a:spcPct val="132000"/>
              </a:lnSpc>
              <a:spcBef>
                <a:spcPts val="450"/>
              </a:spcBef>
              <a:spcAft>
                <a:spcPts val="450"/>
              </a:spcAft>
              <a:buClr>
                <a:srgbClr val="FF0000"/>
              </a:buClr>
              <a:buFont typeface="Wingdings" panose="05000000000000000000" pitchFamily="2" charset="2"/>
              <a:buChar char="Ø"/>
            </a:pPr>
            <a:r>
              <a:rPr lang="zh-CN" altLang="en-US" sz="1650" dirty="0">
                <a:solidFill>
                  <a:srgbClr val="FF0000"/>
                </a:solidFill>
              </a:rPr>
              <a:t>初始化</a:t>
            </a:r>
            <a:r>
              <a:rPr lang="zh-CN" altLang="en-US" sz="1650" dirty="0"/>
              <a:t>指定一个非负整数值。</a:t>
            </a:r>
            <a:endParaRPr lang="zh-CN" altLang="en-US" sz="1650" dirty="0">
              <a:solidFill>
                <a:srgbClr val="FF0000"/>
              </a:solidFill>
            </a:endParaRPr>
          </a:p>
        </p:txBody>
      </p:sp>
      <p:sp>
        <p:nvSpPr>
          <p:cNvPr id="7" name="ïSḻiḍé"/>
          <p:cNvSpPr txBox="1"/>
          <p:nvPr/>
        </p:nvSpPr>
        <p:spPr>
          <a:xfrm>
            <a:off x="224314" y="1730216"/>
            <a:ext cx="8557260" cy="728663"/>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indent="342900" algn="just">
              <a:lnSpc>
                <a:spcPct val="120000"/>
              </a:lnSpc>
            </a:pPr>
            <a:r>
              <a:rPr lang="en-US" altLang="zh-CN" dirty="0">
                <a:latin typeface="+mn-ea"/>
              </a:rPr>
              <a:t>  </a:t>
            </a:r>
            <a:r>
              <a:rPr lang="zh-CN" altLang="en-US" dirty="0">
                <a:latin typeface="+mn-ea"/>
              </a:rPr>
              <a:t>每个信号量</a:t>
            </a:r>
            <a:r>
              <a:rPr lang="en-US" altLang="zh-CN" dirty="0">
                <a:latin typeface="+mn-ea"/>
              </a:rPr>
              <a:t>S</a:t>
            </a:r>
            <a:r>
              <a:rPr lang="zh-CN" altLang="en-US" dirty="0">
                <a:latin typeface="+mn-ea"/>
              </a:rPr>
              <a:t>除一个</a:t>
            </a:r>
            <a:r>
              <a:rPr lang="zh-CN" altLang="en-US" dirty="0">
                <a:solidFill>
                  <a:srgbClr val="FF0000"/>
                </a:solidFill>
                <a:latin typeface="+mn-ea"/>
              </a:rPr>
              <a:t>整数值</a:t>
            </a:r>
            <a:r>
              <a:rPr lang="en-US" altLang="zh-CN" dirty="0" err="1">
                <a:latin typeface="+mn-ea"/>
              </a:rPr>
              <a:t>S.value</a:t>
            </a:r>
            <a:r>
              <a:rPr lang="zh-CN" altLang="en-US" dirty="0">
                <a:latin typeface="+mn-ea"/>
              </a:rPr>
              <a:t>外，还有一个</a:t>
            </a:r>
            <a:r>
              <a:rPr lang="zh-CN" altLang="en-US" dirty="0">
                <a:solidFill>
                  <a:srgbClr val="FF0000"/>
                </a:solidFill>
                <a:latin typeface="+mn-ea"/>
              </a:rPr>
              <a:t>进程等待队列</a:t>
            </a:r>
            <a:r>
              <a:rPr lang="en-US" altLang="zh-CN" dirty="0" err="1">
                <a:latin typeface="+mn-ea"/>
              </a:rPr>
              <a:t>S.list</a:t>
            </a:r>
            <a:r>
              <a:rPr lang="zh-CN" altLang="en-US" dirty="0">
                <a:latin typeface="+mn-ea"/>
              </a:rPr>
              <a:t>，存放阻塞在该信号量的各个进程</a:t>
            </a:r>
            <a:r>
              <a:rPr lang="en-US" altLang="zh-CN" dirty="0">
                <a:latin typeface="+mn-ea"/>
              </a:rPr>
              <a:t>PCB</a:t>
            </a:r>
            <a:r>
              <a:rPr lang="zh-CN" altLang="en-US" dirty="0">
                <a:latin typeface="+mn-ea"/>
              </a:rPr>
              <a:t>。</a:t>
            </a:r>
          </a:p>
        </p:txBody>
      </p:sp>
      <p:sp>
        <p:nvSpPr>
          <p:cNvPr id="8" name="îṥľíḑé"/>
          <p:cNvSpPr txBox="1"/>
          <p:nvPr/>
        </p:nvSpPr>
        <p:spPr>
          <a:xfrm>
            <a:off x="4295299" y="2360772"/>
            <a:ext cx="4419124" cy="1575911"/>
          </a:xfrm>
          <a:prstGeom prst="rect">
            <a:avLst/>
          </a:prstGeom>
          <a:noFill/>
          <a:ln>
            <a:solidFill>
              <a:schemeClr val="bg2">
                <a:lumMod val="75000"/>
              </a:schemeClr>
            </a:solidFill>
          </a:ln>
        </p:spPr>
        <p:txBody>
          <a:bodyPr wrap="square" lIns="68580" tIns="34290" rIns="68580" bIns="34290">
            <a:noAutofit/>
          </a:bodyPr>
          <a:lstStyle/>
          <a:p>
            <a:pPr>
              <a:lnSpc>
                <a:spcPct val="123000"/>
              </a:lnSpc>
              <a:spcBef>
                <a:spcPts val="450"/>
              </a:spcBef>
              <a:buClr>
                <a:srgbClr val="FF0000"/>
              </a:buClr>
            </a:pPr>
            <a:r>
              <a:rPr lang="en-US" altLang="zh-CN" sz="1800" dirty="0"/>
              <a:t>typedef </a:t>
            </a:r>
            <a:r>
              <a:rPr lang="en-US" altLang="zh-CN" sz="1800" dirty="0" err="1"/>
              <a:t>struct</a:t>
            </a:r>
            <a:r>
              <a:rPr lang="en-US" altLang="zh-CN" sz="1800" dirty="0"/>
              <a:t> {</a:t>
            </a:r>
          </a:p>
          <a:p>
            <a:pPr>
              <a:lnSpc>
                <a:spcPct val="123000"/>
              </a:lnSpc>
              <a:spcBef>
                <a:spcPts val="450"/>
              </a:spcBef>
              <a:buClr>
                <a:srgbClr val="FF0000"/>
              </a:buClr>
            </a:pPr>
            <a:r>
              <a:rPr lang="en-US" altLang="zh-CN" sz="1800" dirty="0"/>
              <a:t>	int value;</a:t>
            </a:r>
          </a:p>
          <a:p>
            <a:pPr>
              <a:lnSpc>
                <a:spcPct val="123000"/>
              </a:lnSpc>
              <a:spcBef>
                <a:spcPts val="450"/>
              </a:spcBef>
              <a:buClr>
                <a:srgbClr val="FF0000"/>
              </a:buClr>
            </a:pPr>
            <a:r>
              <a:rPr lang="en-US" altLang="zh-CN" sz="1800" dirty="0"/>
              <a:t>	</a:t>
            </a:r>
            <a:r>
              <a:rPr lang="en-US" altLang="zh-CN" sz="1800" dirty="0" err="1"/>
              <a:t>stuct</a:t>
            </a:r>
            <a:r>
              <a:rPr lang="en-US" altLang="zh-CN" sz="1800" dirty="0"/>
              <a:t> </a:t>
            </a:r>
            <a:r>
              <a:rPr lang="en-US" altLang="zh-CN" sz="1800" dirty="0" err="1"/>
              <a:t>process_control_block</a:t>
            </a:r>
            <a:r>
              <a:rPr lang="en-US" altLang="zh-CN" sz="1800" dirty="0"/>
              <a:t> *list;</a:t>
            </a:r>
          </a:p>
          <a:p>
            <a:pPr>
              <a:lnSpc>
                <a:spcPct val="123000"/>
              </a:lnSpc>
              <a:spcBef>
                <a:spcPts val="450"/>
              </a:spcBef>
              <a:buClr>
                <a:srgbClr val="FF0000"/>
              </a:buClr>
            </a:pPr>
            <a:r>
              <a:rPr lang="en-US" altLang="zh-CN" sz="1800" dirty="0"/>
              <a:t>}semaphore; </a:t>
            </a:r>
          </a:p>
        </p:txBody>
      </p:sp>
      <p:sp>
        <p:nvSpPr>
          <p:cNvPr id="2" name="文本框 1"/>
          <p:cNvSpPr txBox="1"/>
          <p:nvPr/>
        </p:nvSpPr>
        <p:spPr>
          <a:xfrm>
            <a:off x="502444" y="4174331"/>
            <a:ext cx="3449955" cy="1396365"/>
          </a:xfrm>
          <a:prstGeom prst="rect">
            <a:avLst/>
          </a:prstGeom>
          <a:noFill/>
        </p:spPr>
        <p:txBody>
          <a:bodyPr wrap="square" rtlCol="0" anchor="t">
            <a:noAutofit/>
          </a:bodyPr>
          <a:lstStyle/>
          <a:p>
            <a:pPr eaLnBrk="1" hangingPunct="1">
              <a:lnSpc>
                <a:spcPct val="130000"/>
              </a:lnSpc>
            </a:pPr>
            <a:r>
              <a:rPr lang="zh-CN" altLang="en-US" sz="1650" dirty="0">
                <a:solidFill>
                  <a:srgbClr val="3333CC"/>
                </a:solidFill>
                <a:sym typeface="+mn-ea"/>
              </a:rPr>
              <a:t>s&gt;0时，</a:t>
            </a:r>
            <a:r>
              <a:rPr lang="zh-CN" altLang="en-US" sz="1650" dirty="0">
                <a:sym typeface="+mn-ea"/>
              </a:rPr>
              <a:t>表示该类可用资源的数量；</a:t>
            </a:r>
            <a:endParaRPr lang="en-US" altLang="zh-CN" sz="1650" dirty="0"/>
          </a:p>
          <a:p>
            <a:pPr eaLnBrk="1" hangingPunct="1">
              <a:lnSpc>
                <a:spcPct val="130000"/>
              </a:lnSpc>
            </a:pPr>
            <a:r>
              <a:rPr lang="zh-CN" altLang="en-US" sz="1650" dirty="0">
                <a:solidFill>
                  <a:srgbClr val="3333CC"/>
                </a:solidFill>
                <a:sym typeface="+mn-ea"/>
              </a:rPr>
              <a:t>s=0时，</a:t>
            </a:r>
            <a:r>
              <a:rPr lang="zh-CN" altLang="en-US" sz="1650" dirty="0">
                <a:sym typeface="+mn-ea"/>
              </a:rPr>
              <a:t>表示没有该类可用资源；</a:t>
            </a:r>
            <a:endParaRPr lang="zh-CN" altLang="en-US" sz="1650" dirty="0"/>
          </a:p>
          <a:p>
            <a:pPr eaLnBrk="1" hangingPunct="1">
              <a:lnSpc>
                <a:spcPct val="130000"/>
              </a:lnSpc>
            </a:pPr>
            <a:r>
              <a:rPr lang="zh-CN" altLang="en-US" sz="1650" dirty="0">
                <a:solidFill>
                  <a:srgbClr val="3333CC"/>
                </a:solidFill>
                <a:sym typeface="+mn-ea"/>
              </a:rPr>
              <a:t>s&lt;0时，</a:t>
            </a:r>
            <a:r>
              <a:rPr lang="zh-CN" altLang="en-US" sz="1650" u="sng" dirty="0">
                <a:solidFill>
                  <a:srgbClr val="3333CC"/>
                </a:solidFill>
                <a:sym typeface="+mn-ea"/>
              </a:rPr>
              <a:t> </a:t>
            </a:r>
            <a:r>
              <a:rPr lang="zh-CN" altLang="en-US" sz="1650" u="sng" dirty="0">
                <a:solidFill>
                  <a:srgbClr val="FF0000"/>
                </a:solidFill>
                <a:sym typeface="+mn-ea"/>
              </a:rPr>
              <a:t>s的绝对值 </a:t>
            </a:r>
            <a:r>
              <a:rPr lang="zh-CN" altLang="en-US" sz="1650" dirty="0">
                <a:solidFill>
                  <a:srgbClr val="FF0000"/>
                </a:solidFill>
                <a:sym typeface="+mn-ea"/>
              </a:rPr>
              <a:t>= 在该信号量上等待的进程数。</a:t>
            </a:r>
          </a:p>
        </p:txBody>
      </p:sp>
      <p:pic>
        <p:nvPicPr>
          <p:cNvPr id="5" name="Picture 4" descr="t217"/>
          <p:cNvPicPr>
            <a:picLocks noChangeAspect="1"/>
          </p:cNvPicPr>
          <p:nvPr/>
        </p:nvPicPr>
        <p:blipFill>
          <a:blip r:embed="rId2"/>
          <a:stretch>
            <a:fillRect/>
          </a:stretch>
        </p:blipFill>
        <p:spPr>
          <a:xfrm>
            <a:off x="4207669" y="4115752"/>
            <a:ext cx="4776311" cy="1250633"/>
          </a:xfrm>
          <a:prstGeom prst="rect">
            <a:avLst/>
          </a:prstGeom>
          <a:noFill/>
          <a:ln w="9525">
            <a:noFill/>
          </a:ln>
        </p:spPr>
      </p:pic>
    </p:spTree>
    <p:extLst>
      <p:ext uri="{BB962C8B-B14F-4D97-AF65-F5344CB8AC3E}">
        <p14:creationId xmlns:p14="http://schemas.microsoft.com/office/powerpoint/2010/main" val="1425207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en-US" altLang="zh-CN" sz="2100" b="1" dirty="0">
                <a:solidFill>
                  <a:schemeClr val="bg1"/>
                </a:solidFill>
              </a:rPr>
              <a:t>wait</a:t>
            </a:r>
            <a:r>
              <a:rPr lang="zh-CN" altLang="en-US" sz="2100" b="1" dirty="0">
                <a:solidFill>
                  <a:schemeClr val="bg1"/>
                </a:solidFill>
              </a:rPr>
              <a:t>、</a:t>
            </a:r>
            <a:r>
              <a:rPr lang="en-US" altLang="zh-CN" sz="2100" b="1" dirty="0">
                <a:solidFill>
                  <a:schemeClr val="bg1"/>
                </a:solidFill>
              </a:rPr>
              <a:t>signal</a:t>
            </a:r>
            <a:r>
              <a:rPr lang="zh-CN" altLang="en-US" sz="2100" b="1" dirty="0">
                <a:solidFill>
                  <a:schemeClr val="bg1"/>
                </a:solidFill>
              </a:rPr>
              <a:t>操作定义</a:t>
            </a:r>
          </a:p>
        </p:txBody>
      </p:sp>
      <p:sp>
        <p:nvSpPr>
          <p:cNvPr id="10" name="内容占位符 2"/>
          <p:cNvSpPr txBox="1"/>
          <p:nvPr/>
        </p:nvSpPr>
        <p:spPr>
          <a:xfrm>
            <a:off x="687091" y="1771944"/>
            <a:ext cx="7957853" cy="378931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None/>
              <a:defRPr/>
            </a:pPr>
            <a:r>
              <a:rPr lang="en-US" altLang="zh-CN" sz="2100" dirty="0"/>
              <a:t>wait(semaphores *S) {   			</a:t>
            </a:r>
            <a:r>
              <a:rPr lang="en-US" altLang="zh-CN" dirty="0">
                <a:solidFill>
                  <a:srgbClr val="FF0000"/>
                </a:solidFill>
                <a:latin typeface="+mn-ea"/>
              </a:rPr>
              <a:t>//</a:t>
            </a:r>
            <a:r>
              <a:rPr lang="zh-CN" altLang="en-US" dirty="0">
                <a:solidFill>
                  <a:srgbClr val="FF0000"/>
                </a:solidFill>
                <a:latin typeface="+mn-ea"/>
              </a:rPr>
              <a:t>请求一个单位的资源</a:t>
            </a:r>
          </a:p>
          <a:p>
            <a:pPr marL="457200" indent="-457200">
              <a:buNone/>
              <a:defRPr/>
            </a:pPr>
            <a:r>
              <a:rPr lang="en-US" altLang="zh-CN" sz="2100" dirty="0"/>
              <a:t>		  S-&gt;value --; 				</a:t>
            </a:r>
            <a:r>
              <a:rPr lang="en-US" altLang="zh-CN" dirty="0">
                <a:solidFill>
                  <a:srgbClr val="FF0000"/>
                </a:solidFill>
                <a:latin typeface="+mn-ea"/>
              </a:rPr>
              <a:t>//</a:t>
            </a:r>
            <a:r>
              <a:rPr lang="zh-CN" altLang="en-US" dirty="0">
                <a:solidFill>
                  <a:srgbClr val="FF0000"/>
                </a:solidFill>
                <a:latin typeface="+mn-ea"/>
              </a:rPr>
              <a:t>资源减少一个</a:t>
            </a:r>
            <a:endParaRPr lang="en-US" altLang="zh-CN" dirty="0">
              <a:solidFill>
                <a:srgbClr val="FF0000"/>
              </a:solidFill>
              <a:latin typeface="+mn-ea"/>
            </a:endParaRPr>
          </a:p>
          <a:p>
            <a:pPr marL="457200" indent="-457200">
              <a:buNone/>
              <a:defRPr/>
            </a:pPr>
            <a:r>
              <a:rPr lang="en-US" altLang="zh-CN" sz="2100" dirty="0"/>
              <a:t>		  if (S-&gt;value&lt;0) block(S-&gt;list)</a:t>
            </a:r>
            <a:r>
              <a:rPr lang="en-US" altLang="zh-CN" sz="1500" dirty="0">
                <a:solidFill>
                  <a:schemeClr val="accent1">
                    <a:lumMod val="75000"/>
                  </a:schemeClr>
                </a:solidFill>
              </a:rPr>
              <a:t> 	</a:t>
            </a:r>
            <a:r>
              <a:rPr lang="en-US" altLang="zh-CN" dirty="0">
                <a:solidFill>
                  <a:srgbClr val="FF0000"/>
                </a:solidFill>
                <a:latin typeface="+mn-ea"/>
              </a:rPr>
              <a:t>//</a:t>
            </a:r>
            <a:r>
              <a:rPr lang="zh-CN" altLang="en-US" dirty="0">
                <a:solidFill>
                  <a:srgbClr val="FF0000"/>
                </a:solidFill>
                <a:latin typeface="+mn-ea"/>
              </a:rPr>
              <a:t>进程自我阻塞</a:t>
            </a:r>
            <a:endParaRPr lang="en-US" altLang="zh-CN" dirty="0">
              <a:solidFill>
                <a:srgbClr val="FF0000"/>
              </a:solidFill>
              <a:latin typeface="+mn-ea"/>
            </a:endParaRPr>
          </a:p>
          <a:p>
            <a:pPr marL="457200" indent="-457200">
              <a:buNone/>
              <a:defRPr/>
            </a:pPr>
            <a:r>
              <a:rPr lang="en-US" altLang="zh-CN" sz="2100" dirty="0"/>
              <a:t>}</a:t>
            </a:r>
          </a:p>
          <a:p>
            <a:pPr marL="457200" indent="-457200">
              <a:buNone/>
              <a:defRPr/>
            </a:pPr>
            <a:endParaRPr lang="en-US" altLang="zh-CN" sz="2100" dirty="0"/>
          </a:p>
          <a:p>
            <a:pPr marL="457200" indent="-457200">
              <a:buNone/>
              <a:defRPr/>
            </a:pPr>
            <a:r>
              <a:rPr lang="en-US" altLang="zh-CN" sz="2100" dirty="0"/>
              <a:t>signal(semaphores *S) 			</a:t>
            </a:r>
            <a:r>
              <a:rPr lang="en-US" altLang="zh-CN" dirty="0">
                <a:solidFill>
                  <a:srgbClr val="FF0000"/>
                </a:solidFill>
                <a:latin typeface="+mn-ea"/>
              </a:rPr>
              <a:t>//</a:t>
            </a:r>
            <a:r>
              <a:rPr lang="zh-CN" altLang="en-US" dirty="0">
                <a:solidFill>
                  <a:srgbClr val="FF0000"/>
                </a:solidFill>
                <a:latin typeface="+mn-ea"/>
              </a:rPr>
              <a:t>释放一个单位资源</a:t>
            </a:r>
          </a:p>
          <a:p>
            <a:pPr marL="457200" indent="-457200">
              <a:buNone/>
              <a:defRPr/>
            </a:pPr>
            <a:r>
              <a:rPr lang="en-US" altLang="zh-CN" sz="2100" dirty="0"/>
              <a:t>{</a:t>
            </a:r>
          </a:p>
          <a:p>
            <a:pPr marL="457200" indent="-457200">
              <a:buNone/>
              <a:defRPr/>
            </a:pPr>
            <a:r>
              <a:rPr lang="en-US" altLang="zh-CN" sz="2100" dirty="0"/>
              <a:t>	  S-&gt;value++; 				</a:t>
            </a:r>
            <a:r>
              <a:rPr lang="en-US" altLang="zh-CN" dirty="0">
                <a:solidFill>
                  <a:srgbClr val="FF0000"/>
                </a:solidFill>
                <a:latin typeface="+mn-ea"/>
              </a:rPr>
              <a:t>//</a:t>
            </a:r>
            <a:r>
              <a:rPr lang="zh-CN" altLang="en-US" dirty="0">
                <a:solidFill>
                  <a:srgbClr val="FF0000"/>
                </a:solidFill>
                <a:latin typeface="+mn-ea"/>
              </a:rPr>
              <a:t>资源增加一个</a:t>
            </a:r>
            <a:endParaRPr lang="en-US" altLang="zh-CN" dirty="0">
              <a:solidFill>
                <a:srgbClr val="FF0000"/>
              </a:solidFill>
              <a:latin typeface="+mn-ea"/>
            </a:endParaRPr>
          </a:p>
          <a:p>
            <a:pPr marL="457200" indent="-457200">
              <a:buNone/>
              <a:defRPr/>
            </a:pPr>
            <a:r>
              <a:rPr lang="en-US" altLang="zh-CN" sz="2100" dirty="0"/>
              <a:t>	  if (S-&gt;value&lt;=0) wakeup(S-&gt;list); 	</a:t>
            </a:r>
            <a:r>
              <a:rPr lang="en-US" altLang="zh-CN" dirty="0">
                <a:solidFill>
                  <a:srgbClr val="FF0000"/>
                </a:solidFill>
                <a:latin typeface="+mn-ea"/>
              </a:rPr>
              <a:t>//</a:t>
            </a:r>
            <a:r>
              <a:rPr lang="zh-CN" altLang="en-US" dirty="0">
                <a:solidFill>
                  <a:srgbClr val="FF0000"/>
                </a:solidFill>
                <a:latin typeface="+mn-ea"/>
              </a:rPr>
              <a:t>唤醒等待队列中的一个进程</a:t>
            </a:r>
            <a:endParaRPr lang="en-US" altLang="zh-CN" dirty="0">
              <a:solidFill>
                <a:srgbClr val="FF0000"/>
              </a:solidFill>
              <a:latin typeface="+mn-ea"/>
            </a:endParaRPr>
          </a:p>
          <a:p>
            <a:pPr marL="457200" indent="-457200">
              <a:buNone/>
              <a:defRPr/>
            </a:pPr>
            <a:r>
              <a:rPr lang="en-US" altLang="zh-CN" sz="2100" dirty="0"/>
              <a:t>}</a:t>
            </a:r>
            <a:r>
              <a:rPr lang="zh-CN" altLang="en-US" sz="2100" dirty="0"/>
              <a:t>		</a:t>
            </a:r>
          </a:p>
        </p:txBody>
      </p:sp>
    </p:spTree>
    <p:extLst>
      <p:ext uri="{BB962C8B-B14F-4D97-AF65-F5344CB8AC3E}">
        <p14:creationId xmlns:p14="http://schemas.microsoft.com/office/powerpoint/2010/main" val="22076545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en-US" altLang="zh-CN" sz="2100" b="1" dirty="0">
                <a:solidFill>
                  <a:schemeClr val="bg1"/>
                </a:solidFill>
              </a:rPr>
              <a:t>AND</a:t>
            </a:r>
            <a:r>
              <a:rPr lang="zh-CN" altLang="en-US" sz="2100" b="1" dirty="0">
                <a:solidFill>
                  <a:schemeClr val="bg1"/>
                </a:solidFill>
              </a:rPr>
              <a:t>型信号量</a:t>
            </a:r>
          </a:p>
        </p:txBody>
      </p:sp>
      <p:sp>
        <p:nvSpPr>
          <p:cNvPr id="4" name="文本占位符 13"/>
          <p:cNvSpPr txBox="1"/>
          <p:nvPr/>
        </p:nvSpPr>
        <p:spPr>
          <a:xfrm>
            <a:off x="502444" y="4837243"/>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t>Signature</a:t>
            </a:r>
            <a:endParaRPr lang="en-US" altLang="zh-CN" sz="1125" dirty="0"/>
          </a:p>
        </p:txBody>
      </p:sp>
      <p:sp>
        <p:nvSpPr>
          <p:cNvPr id="5" name="文本占位符 13"/>
          <p:cNvSpPr txBox="1"/>
          <p:nvPr/>
        </p:nvSpPr>
        <p:spPr>
          <a:xfrm>
            <a:off x="502444" y="5059446"/>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t>Date</a:t>
            </a:r>
            <a:endParaRPr lang="zh-CN" altLang="en-US" sz="1125" dirty="0"/>
          </a:p>
        </p:txBody>
      </p:sp>
      <p:sp>
        <p:nvSpPr>
          <p:cNvPr id="6" name="ïşľîďè"/>
          <p:cNvSpPr/>
          <p:nvPr/>
        </p:nvSpPr>
        <p:spPr>
          <a:xfrm>
            <a:off x="1191" y="1714500"/>
            <a:ext cx="3502241" cy="375285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a:bodyPr>
          <a:lstStyle/>
          <a:p>
            <a:pPr algn="ctr" defTabSz="685800"/>
            <a:endParaRPr lang="zh-CN" altLang="en-US" sz="1500" b="1" dirty="0">
              <a:solidFill>
                <a:schemeClr val="bg1"/>
              </a:solidFill>
            </a:endParaRPr>
          </a:p>
        </p:txBody>
      </p:sp>
      <p:sp>
        <p:nvSpPr>
          <p:cNvPr id="7" name="îŝļiḋe"/>
          <p:cNvSpPr/>
          <p:nvPr/>
        </p:nvSpPr>
        <p:spPr>
          <a:xfrm>
            <a:off x="3010721" y="1714500"/>
            <a:ext cx="492711" cy="375285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a:bodyPr>
          <a:lstStyle/>
          <a:p>
            <a:pPr algn="ctr" defTabSz="685800"/>
            <a:endParaRPr lang="zh-CN" altLang="en-US" sz="1500" b="1" dirty="0">
              <a:solidFill>
                <a:schemeClr val="bg1"/>
              </a:solidFill>
            </a:endParaRPr>
          </a:p>
        </p:txBody>
      </p:sp>
      <p:grpSp>
        <p:nvGrpSpPr>
          <p:cNvPr id="8" name="í$1iďè"/>
          <p:cNvGrpSpPr/>
          <p:nvPr/>
        </p:nvGrpSpPr>
        <p:grpSpPr>
          <a:xfrm>
            <a:off x="3103938" y="1772516"/>
            <a:ext cx="5536427" cy="900209"/>
            <a:chOff x="4136995" y="1207654"/>
            <a:chExt cx="7381903" cy="1200279"/>
          </a:xfrm>
        </p:grpSpPr>
        <p:sp>
          <p:nvSpPr>
            <p:cNvPr id="9"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500" b="1" dirty="0">
                <a:solidFill>
                  <a:schemeClr val="bg1"/>
                </a:solidFill>
              </a:endParaRPr>
            </a:p>
          </p:txBody>
        </p:sp>
        <p:sp>
          <p:nvSpPr>
            <p:cNvPr id="11" name="ïSḻiḍé"/>
            <p:cNvSpPr txBox="1"/>
            <p:nvPr/>
          </p:nvSpPr>
          <p:spPr>
            <a:xfrm>
              <a:off x="4882717" y="1207654"/>
              <a:ext cx="6636181" cy="1200279"/>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20000"/>
                </a:lnSpc>
              </a:pPr>
              <a:r>
                <a:rPr lang="en-US" altLang="zh-CN" dirty="0">
                  <a:latin typeface="+mj-ea"/>
                  <a:ea typeface="+mj-ea"/>
                </a:rPr>
                <a:t>AND</a:t>
              </a:r>
              <a:r>
                <a:rPr lang="zh-CN" altLang="en-US" dirty="0">
                  <a:latin typeface="+mj-ea"/>
                  <a:ea typeface="+mj-ea"/>
                </a:rPr>
                <a:t>型信号量同步的基本思想：将进程在整个运行过程中需要的所有资源，一次性全部分配给进程，待进程使用完后再一起释放。</a:t>
              </a:r>
            </a:p>
          </p:txBody>
        </p:sp>
      </p:grpSp>
      <p:grpSp>
        <p:nvGrpSpPr>
          <p:cNvPr id="12" name="išḷîḓé"/>
          <p:cNvGrpSpPr/>
          <p:nvPr/>
        </p:nvGrpSpPr>
        <p:grpSpPr>
          <a:xfrm>
            <a:off x="3099194" y="3323043"/>
            <a:ext cx="5541171" cy="490477"/>
            <a:chOff x="4130670" y="2519343"/>
            <a:chExt cx="7388228" cy="653969"/>
          </a:xfrm>
        </p:grpSpPr>
        <p:sp>
          <p:nvSpPr>
            <p:cNvPr id="13" name="íśľïḋé"/>
            <p:cNvSpPr/>
            <p:nvPr/>
          </p:nvSpPr>
          <p:spPr>
            <a:xfrm>
              <a:off x="4130670" y="2682216"/>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500" b="1" dirty="0">
                <a:solidFill>
                  <a:schemeClr val="bg1"/>
                </a:solidFill>
              </a:endParaRPr>
            </a:p>
          </p:txBody>
        </p:sp>
        <p:sp>
          <p:nvSpPr>
            <p:cNvPr id="14" name="îŝľîḓè"/>
            <p:cNvSpPr txBox="1"/>
            <p:nvPr/>
          </p:nvSpPr>
          <p:spPr>
            <a:xfrm>
              <a:off x="4882717" y="2519343"/>
              <a:ext cx="6636181" cy="653969"/>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dirty="0"/>
                <a:t>对若干个临界资源的分配，采用原子操作。</a:t>
              </a:r>
            </a:p>
          </p:txBody>
        </p:sp>
      </p:grpSp>
      <p:grpSp>
        <p:nvGrpSpPr>
          <p:cNvPr id="15" name="ïSlíḍê"/>
          <p:cNvGrpSpPr/>
          <p:nvPr/>
        </p:nvGrpSpPr>
        <p:grpSpPr>
          <a:xfrm>
            <a:off x="3099194" y="4647788"/>
            <a:ext cx="5541172" cy="373453"/>
            <a:chOff x="4130670" y="5387697"/>
            <a:chExt cx="7388229" cy="497937"/>
          </a:xfrm>
        </p:grpSpPr>
        <p:sp>
          <p:nvSpPr>
            <p:cNvPr id="16" name="ïsľíḓê"/>
            <p:cNvSpPr/>
            <p:nvPr/>
          </p:nvSpPr>
          <p:spPr>
            <a:xfrm>
              <a:off x="4130670" y="5484055"/>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500" b="1" dirty="0">
                <a:solidFill>
                  <a:schemeClr val="bg1"/>
                </a:solidFill>
              </a:endParaRPr>
            </a:p>
          </p:txBody>
        </p:sp>
        <p:sp>
          <p:nvSpPr>
            <p:cNvPr id="17" name="íṧļîḋê"/>
            <p:cNvSpPr txBox="1"/>
            <p:nvPr/>
          </p:nvSpPr>
          <p:spPr>
            <a:xfrm>
              <a:off x="4882717" y="5387697"/>
              <a:ext cx="6636182" cy="497937"/>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dirty="0"/>
                <a:t>在</a:t>
              </a:r>
              <a:r>
                <a:rPr lang="en-US" altLang="zh-CN" dirty="0"/>
                <a:t>wait(S)</a:t>
              </a:r>
              <a:r>
                <a:rPr lang="zh-CN" altLang="en-US" dirty="0"/>
                <a:t>操作中增加了一个“</a:t>
              </a:r>
              <a:r>
                <a:rPr lang="en-US" altLang="zh-CN" dirty="0"/>
                <a:t>AND”</a:t>
              </a:r>
              <a:r>
                <a:rPr lang="zh-CN" altLang="en-US" dirty="0"/>
                <a:t>条件，故称之为</a:t>
              </a:r>
              <a:r>
                <a:rPr lang="en-US" altLang="zh-CN" dirty="0"/>
                <a:t>AND</a:t>
              </a:r>
              <a:r>
                <a:rPr lang="zh-CN" altLang="en-US" dirty="0"/>
                <a:t>同步，或同时</a:t>
              </a:r>
              <a:r>
                <a:rPr lang="en-US" altLang="zh-CN" dirty="0"/>
                <a:t>wait(S)</a:t>
              </a:r>
              <a:r>
                <a:rPr lang="zh-CN" altLang="en-US" dirty="0"/>
                <a:t>操作，即</a:t>
              </a:r>
              <a:r>
                <a:rPr lang="en-US" altLang="zh-CN" dirty="0" err="1"/>
                <a:t>Swait</a:t>
              </a:r>
              <a:r>
                <a:rPr lang="en-US" altLang="zh-CN" dirty="0"/>
                <a:t>(Simultaneous wait)</a:t>
              </a:r>
              <a:r>
                <a:rPr lang="zh-CN" altLang="en-US" dirty="0"/>
                <a:t>。</a:t>
              </a:r>
            </a:p>
          </p:txBody>
        </p:sp>
      </p:grpSp>
      <p:cxnSp>
        <p:nvCxnSpPr>
          <p:cNvPr id="22" name="直接连接符 21"/>
          <p:cNvCxnSpPr/>
          <p:nvPr/>
        </p:nvCxnSpPr>
        <p:spPr>
          <a:xfrm>
            <a:off x="3720048" y="2949919"/>
            <a:ext cx="4863496"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776870" y="4119105"/>
            <a:ext cx="4863496"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926636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en-US" altLang="zh-CN" sz="2100" b="1" dirty="0">
                <a:solidFill>
                  <a:schemeClr val="bg1"/>
                </a:solidFill>
              </a:rPr>
              <a:t>AND</a:t>
            </a:r>
            <a:r>
              <a:rPr lang="zh-CN" altLang="en-US" sz="2100" b="1" dirty="0">
                <a:solidFill>
                  <a:schemeClr val="bg1"/>
                </a:solidFill>
              </a:rPr>
              <a:t>型信号量操作定义</a:t>
            </a:r>
          </a:p>
        </p:txBody>
      </p:sp>
      <p:sp>
        <p:nvSpPr>
          <p:cNvPr id="32" name="内容占位符 3"/>
          <p:cNvSpPr txBox="1"/>
          <p:nvPr/>
        </p:nvSpPr>
        <p:spPr>
          <a:xfrm>
            <a:off x="473818" y="1687368"/>
            <a:ext cx="4230542" cy="405050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err="1">
                <a:solidFill>
                  <a:srgbClr val="0000CC"/>
                </a:solidFill>
              </a:rPr>
              <a:t>Swait</a:t>
            </a:r>
            <a:r>
              <a:rPr lang="en-US" altLang="zh-CN" dirty="0"/>
              <a:t>(S1</a:t>
            </a:r>
            <a:r>
              <a:rPr lang="ar-SA" altLang="zh-CN" dirty="0"/>
              <a:t>，</a:t>
            </a:r>
            <a:r>
              <a:rPr lang="en-US" altLang="zh-CN" dirty="0"/>
              <a:t>S2</a:t>
            </a:r>
            <a:r>
              <a:rPr lang="ar-SA" altLang="zh-CN" dirty="0"/>
              <a:t>，…，</a:t>
            </a:r>
            <a:r>
              <a:rPr lang="en-US" altLang="zh-CN" dirty="0"/>
              <a:t>Sn)  {</a:t>
            </a:r>
            <a:endParaRPr lang="zh-CN" altLang="zh-CN" dirty="0"/>
          </a:p>
          <a:p>
            <a:pPr marL="0" indent="0">
              <a:buNone/>
            </a:pPr>
            <a:r>
              <a:rPr lang="en-US" altLang="zh-CN" dirty="0"/>
              <a:t>     while (TRUE)  {</a:t>
            </a:r>
            <a:endParaRPr lang="zh-CN" altLang="zh-CN" dirty="0"/>
          </a:p>
          <a:p>
            <a:pPr marL="0" indent="0">
              <a:buNone/>
            </a:pPr>
            <a:r>
              <a:rPr lang="ar-SA" altLang="zh-CN" dirty="0"/>
              <a:t>　　　</a:t>
            </a:r>
            <a:r>
              <a:rPr lang="en-US" altLang="zh-CN" dirty="0"/>
              <a:t>if (Si&gt;=1 &amp;&amp; </a:t>
            </a:r>
            <a:r>
              <a:rPr lang="ar-SA" altLang="zh-CN" dirty="0"/>
              <a:t>…</a:t>
            </a:r>
            <a:r>
              <a:rPr lang="en-US" altLang="zh-CN" dirty="0"/>
              <a:t> &amp;&amp; Sn&gt;=1) {</a:t>
            </a:r>
            <a:endParaRPr lang="zh-CN" altLang="zh-CN" dirty="0"/>
          </a:p>
          <a:p>
            <a:pPr marL="0" indent="0">
              <a:buNone/>
            </a:pPr>
            <a:r>
              <a:rPr lang="en-US" altLang="zh-CN" dirty="0"/>
              <a:t>             for (</a:t>
            </a:r>
            <a:r>
              <a:rPr lang="en-US" altLang="zh-CN" dirty="0" err="1"/>
              <a:t>i</a:t>
            </a:r>
            <a:r>
              <a:rPr lang="en-US" altLang="zh-CN" dirty="0"/>
              <a:t> =1;i&lt;=</a:t>
            </a:r>
            <a:r>
              <a:rPr lang="en-US" altLang="zh-CN" dirty="0" err="1"/>
              <a:t>n;i</a:t>
            </a:r>
            <a:r>
              <a:rPr lang="en-US" altLang="zh-CN" dirty="0"/>
              <a:t>++) Si--;</a:t>
            </a:r>
            <a:r>
              <a:rPr lang="ar-SA" altLang="zh-CN" dirty="0"/>
              <a:t>；</a:t>
            </a:r>
            <a:endParaRPr lang="zh-CN" altLang="zh-CN" dirty="0"/>
          </a:p>
          <a:p>
            <a:pPr marL="0" indent="0">
              <a:buNone/>
            </a:pPr>
            <a:r>
              <a:rPr lang="ar-SA" altLang="zh-CN" dirty="0"/>
              <a:t>　　　　</a:t>
            </a:r>
            <a:r>
              <a:rPr lang="en-US" altLang="zh-CN" dirty="0"/>
              <a:t>break;</a:t>
            </a:r>
            <a:endParaRPr lang="zh-CN" altLang="zh-CN" dirty="0"/>
          </a:p>
          <a:p>
            <a:pPr marL="0" indent="0">
              <a:buNone/>
            </a:pPr>
            <a:r>
              <a:rPr lang="en-US" altLang="zh-CN" dirty="0"/>
              <a:t>             }</a:t>
            </a:r>
          </a:p>
          <a:p>
            <a:pPr marL="0" indent="0">
              <a:buNone/>
            </a:pPr>
            <a:r>
              <a:rPr lang="ar-SA" altLang="zh-CN" dirty="0"/>
              <a:t>　　　</a:t>
            </a:r>
            <a:r>
              <a:rPr lang="en-US" altLang="zh-CN" dirty="0"/>
              <a:t>else  {</a:t>
            </a:r>
            <a:endParaRPr lang="zh-CN" altLang="zh-CN" dirty="0"/>
          </a:p>
          <a:p>
            <a:pPr marL="0" indent="0" algn="just">
              <a:buNone/>
            </a:pPr>
            <a:r>
              <a:rPr lang="ar-SA" altLang="zh-CN" dirty="0"/>
              <a:t>　</a:t>
            </a:r>
            <a:r>
              <a:rPr lang="en-US" altLang="ar-SA" dirty="0"/>
              <a:t> </a:t>
            </a:r>
            <a:r>
              <a:rPr lang="en-US" altLang="zh-CN" dirty="0"/>
              <a:t>Place the process in the waiting queue associated with the first Si found with Si&lt;1</a:t>
            </a:r>
            <a:r>
              <a:rPr lang="ar-SA" altLang="zh-CN" dirty="0"/>
              <a:t>，</a:t>
            </a:r>
            <a:r>
              <a:rPr lang="en-US" altLang="zh-CN" dirty="0"/>
              <a:t>and set the program count of this process to the beginning of </a:t>
            </a:r>
            <a:r>
              <a:rPr lang="en-US" altLang="zh-CN" dirty="0" err="1"/>
              <a:t>Swait</a:t>
            </a:r>
            <a:r>
              <a:rPr lang="en-US" altLang="zh-CN" dirty="0"/>
              <a:t> operation</a:t>
            </a:r>
            <a:endParaRPr lang="zh-CN" altLang="zh-CN" dirty="0"/>
          </a:p>
          <a:p>
            <a:pPr marL="0" indent="0">
              <a:buNone/>
            </a:pPr>
            <a:r>
              <a:rPr lang="ar-SA" altLang="zh-CN" dirty="0"/>
              <a:t>　　　</a:t>
            </a:r>
            <a:r>
              <a:rPr lang="en-US" altLang="zh-CN" dirty="0"/>
              <a:t>}</a:t>
            </a:r>
            <a:endParaRPr lang="zh-CN" altLang="zh-CN" dirty="0"/>
          </a:p>
          <a:p>
            <a:pPr marL="0" indent="0">
              <a:buNone/>
            </a:pPr>
            <a:r>
              <a:rPr lang="en-US" altLang="zh-CN" dirty="0"/>
              <a:t>      }}</a:t>
            </a:r>
            <a:endParaRPr lang="zh-CN" altLang="zh-CN" dirty="0"/>
          </a:p>
          <a:p>
            <a:pPr marL="0" indent="0">
              <a:buNone/>
            </a:pPr>
            <a:endParaRPr lang="zh-CN" altLang="en-US" dirty="0"/>
          </a:p>
        </p:txBody>
      </p:sp>
      <p:sp>
        <p:nvSpPr>
          <p:cNvPr id="33" name="内容占位符 4"/>
          <p:cNvSpPr txBox="1"/>
          <p:nvPr/>
        </p:nvSpPr>
        <p:spPr>
          <a:xfrm>
            <a:off x="5127133" y="1754982"/>
            <a:ext cx="3749279" cy="34875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err="1">
                <a:solidFill>
                  <a:srgbClr val="0000CC"/>
                </a:solidFill>
              </a:rPr>
              <a:t>Ssignal</a:t>
            </a:r>
            <a:r>
              <a:rPr lang="en-US" altLang="zh-CN" dirty="0"/>
              <a:t>(S1</a:t>
            </a:r>
            <a:r>
              <a:rPr lang="ar-SA" altLang="zh-CN" dirty="0"/>
              <a:t>，</a:t>
            </a:r>
            <a:r>
              <a:rPr lang="en-US" altLang="zh-CN" dirty="0"/>
              <a:t>S2</a:t>
            </a:r>
            <a:r>
              <a:rPr lang="ar-SA" altLang="zh-CN" dirty="0"/>
              <a:t>，</a:t>
            </a:r>
            <a:r>
              <a:rPr lang="en-US" altLang="zh-CN" dirty="0"/>
              <a:t>…</a:t>
            </a:r>
            <a:r>
              <a:rPr lang="ar-SA" altLang="zh-CN" dirty="0"/>
              <a:t>，</a:t>
            </a:r>
            <a:r>
              <a:rPr lang="en-US" altLang="zh-CN" dirty="0"/>
              <a:t>Sn)  {</a:t>
            </a:r>
            <a:endParaRPr lang="zh-CN" altLang="zh-CN" dirty="0"/>
          </a:p>
          <a:p>
            <a:pPr marL="0" indent="0">
              <a:buNone/>
            </a:pPr>
            <a:r>
              <a:rPr lang="en-US" altLang="zh-CN" dirty="0"/>
              <a:t>      while (TRUE) {</a:t>
            </a:r>
            <a:endParaRPr lang="zh-CN" altLang="zh-CN" dirty="0"/>
          </a:p>
          <a:p>
            <a:pPr marL="0" indent="0">
              <a:buNone/>
            </a:pPr>
            <a:r>
              <a:rPr lang="ar-SA" altLang="zh-CN" dirty="0"/>
              <a:t>　　</a:t>
            </a:r>
            <a:r>
              <a:rPr lang="en-US" altLang="zh-CN" dirty="0"/>
              <a:t>    for (</a:t>
            </a:r>
            <a:r>
              <a:rPr lang="en-US" altLang="zh-CN" dirty="0" err="1"/>
              <a:t>i</a:t>
            </a:r>
            <a:r>
              <a:rPr lang="en-US" altLang="zh-CN" dirty="0"/>
              <a:t>=1 ; </a:t>
            </a:r>
            <a:r>
              <a:rPr lang="en-US" altLang="zh-CN" dirty="0" err="1"/>
              <a:t>i</a:t>
            </a:r>
            <a:r>
              <a:rPr lang="en-US" altLang="zh-CN" dirty="0"/>
              <a:t>&lt;=</a:t>
            </a:r>
            <a:r>
              <a:rPr lang="en-US" altLang="zh-CN" dirty="0" err="1"/>
              <a:t>n;i</a:t>
            </a:r>
            <a:r>
              <a:rPr lang="en-US" altLang="zh-CN" dirty="0"/>
              <a:t>++) {</a:t>
            </a:r>
            <a:endParaRPr lang="zh-CN" altLang="zh-CN" dirty="0"/>
          </a:p>
          <a:p>
            <a:pPr marL="0" indent="0">
              <a:buNone/>
            </a:pPr>
            <a:r>
              <a:rPr lang="en-US" altLang="zh-CN" dirty="0"/>
              <a:t>             Si++</a:t>
            </a:r>
            <a:r>
              <a:rPr lang="ar-SA" altLang="zh-CN" dirty="0"/>
              <a:t>；</a:t>
            </a:r>
            <a:endParaRPr lang="zh-CN" altLang="zh-CN" dirty="0"/>
          </a:p>
          <a:p>
            <a:pPr marL="0" indent="0" algn="just">
              <a:buNone/>
            </a:pPr>
            <a:r>
              <a:rPr lang="ar-SA" altLang="zh-CN" dirty="0"/>
              <a:t>　</a:t>
            </a:r>
            <a:r>
              <a:rPr lang="en-US" altLang="zh-CN" dirty="0"/>
              <a:t>Remove all the process waiting in the queue associated with Si into the ready queue.</a:t>
            </a:r>
            <a:endParaRPr lang="zh-CN" altLang="zh-CN" dirty="0"/>
          </a:p>
          <a:p>
            <a:pPr marL="0" indent="0">
              <a:buNone/>
            </a:pPr>
            <a:r>
              <a:rPr lang="ar-SA" altLang="zh-CN" dirty="0"/>
              <a:t>　　 </a:t>
            </a:r>
            <a:r>
              <a:rPr lang="en-US" altLang="zh-CN" dirty="0"/>
              <a:t>    }</a:t>
            </a:r>
            <a:endParaRPr lang="zh-CN" altLang="zh-CN" dirty="0"/>
          </a:p>
          <a:p>
            <a:pPr marL="0" indent="0">
              <a:buNone/>
            </a:pPr>
            <a:r>
              <a:rPr lang="en-US" altLang="zh-CN" dirty="0"/>
              <a:t>       }</a:t>
            </a:r>
            <a:endParaRPr lang="zh-CN" altLang="zh-CN" dirty="0"/>
          </a:p>
          <a:p>
            <a:pPr marL="0" indent="0">
              <a:buNone/>
            </a:pPr>
            <a:r>
              <a:rPr lang="en-US" altLang="zh-CN" dirty="0"/>
              <a:t>}</a:t>
            </a:r>
            <a:endParaRPr lang="zh-CN" altLang="zh-CN" dirty="0"/>
          </a:p>
          <a:p>
            <a:pPr marL="0" indent="0">
              <a:buNone/>
            </a:pPr>
            <a:endParaRPr lang="zh-CN" altLang="en-US" dirty="0"/>
          </a:p>
        </p:txBody>
      </p:sp>
      <p:cxnSp>
        <p:nvCxnSpPr>
          <p:cNvPr id="34" name="直接连接符 33"/>
          <p:cNvCxnSpPr/>
          <p:nvPr/>
        </p:nvCxnSpPr>
        <p:spPr>
          <a:xfrm>
            <a:off x="4819919" y="1754981"/>
            <a:ext cx="0" cy="3603435"/>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4819918" y="5242506"/>
            <a:ext cx="396025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222265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信号量集（后）</a:t>
            </a:r>
          </a:p>
        </p:txBody>
      </p:sp>
      <p:sp>
        <p:nvSpPr>
          <p:cNvPr id="24" name="文本框 23"/>
          <p:cNvSpPr txBox="1"/>
          <p:nvPr/>
        </p:nvSpPr>
        <p:spPr>
          <a:xfrm>
            <a:off x="1018141" y="1733652"/>
            <a:ext cx="7520553" cy="3750322"/>
          </a:xfrm>
          <a:prstGeom prst="rect">
            <a:avLst/>
          </a:prstGeom>
          <a:noFill/>
        </p:spPr>
        <p:txBody>
          <a:bodyPr wrap="square" rtlCol="0">
            <a:spAutoFit/>
          </a:bodyPr>
          <a:lstStyle/>
          <a:p>
            <a:pPr algn="just">
              <a:lnSpc>
                <a:spcPct val="120000"/>
              </a:lnSpc>
              <a:spcBef>
                <a:spcPts val="450"/>
              </a:spcBef>
              <a:spcAft>
                <a:spcPts val="450"/>
              </a:spcAft>
            </a:pPr>
            <a:r>
              <a:rPr lang="zh-CN" altLang="en-US" sz="1800" dirty="0"/>
              <a:t>在记录型信号量中，</a:t>
            </a:r>
            <a:r>
              <a:rPr lang="en-US" altLang="zh-CN" sz="1800" dirty="0"/>
              <a:t>wait</a:t>
            </a:r>
            <a:r>
              <a:rPr lang="zh-CN" altLang="en-US" sz="1800" dirty="0"/>
              <a:t>或</a:t>
            </a:r>
            <a:r>
              <a:rPr lang="en-US" altLang="zh-CN" sz="1800" dirty="0"/>
              <a:t>signal</a:t>
            </a:r>
            <a:r>
              <a:rPr lang="zh-CN" altLang="en-US" sz="1800" dirty="0"/>
              <a:t>仅能对某类临界资源进行</a:t>
            </a:r>
            <a:r>
              <a:rPr lang="zh-CN" altLang="en-US" sz="1800" dirty="0">
                <a:solidFill>
                  <a:srgbClr val="FF0000"/>
                </a:solidFill>
              </a:rPr>
              <a:t>一个单位的申请和释放</a:t>
            </a:r>
            <a:r>
              <a:rPr lang="zh-CN" altLang="en-US" sz="1800" dirty="0"/>
              <a:t>，当需要对</a:t>
            </a:r>
            <a:r>
              <a:rPr lang="en-US" altLang="zh-CN" sz="1800" dirty="0"/>
              <a:t>N</a:t>
            </a:r>
            <a:r>
              <a:rPr lang="zh-CN" altLang="en-US" sz="1800" dirty="0"/>
              <a:t>个单位进行操作时，需要</a:t>
            </a:r>
            <a:r>
              <a:rPr lang="en-US" altLang="zh-CN" sz="1800" dirty="0"/>
              <a:t>N</a:t>
            </a:r>
            <a:r>
              <a:rPr lang="zh-CN" altLang="en-US" sz="1800" dirty="0"/>
              <a:t>次</a:t>
            </a:r>
            <a:r>
              <a:rPr lang="en-US" altLang="zh-CN" sz="1800" dirty="0"/>
              <a:t>wait/signal</a:t>
            </a:r>
            <a:r>
              <a:rPr lang="zh-CN" altLang="en-US" sz="1800" dirty="0"/>
              <a:t>操作，</a:t>
            </a:r>
            <a:r>
              <a:rPr lang="zh-CN" altLang="en-US" sz="1800" dirty="0">
                <a:solidFill>
                  <a:srgbClr val="FF0000"/>
                </a:solidFill>
              </a:rPr>
              <a:t>效率低下</a:t>
            </a:r>
            <a:endParaRPr lang="en-US" altLang="zh-CN" sz="1800" dirty="0">
              <a:solidFill>
                <a:srgbClr val="FF0000"/>
              </a:solidFill>
              <a:latin typeface="+mn-ea"/>
            </a:endParaRPr>
          </a:p>
          <a:p>
            <a:pPr algn="just">
              <a:lnSpc>
                <a:spcPct val="120000"/>
              </a:lnSpc>
              <a:spcBef>
                <a:spcPts val="450"/>
              </a:spcBef>
              <a:spcAft>
                <a:spcPts val="450"/>
              </a:spcAft>
            </a:pPr>
            <a:r>
              <a:rPr lang="zh-CN" altLang="en-US" sz="1800" dirty="0">
                <a:latin typeface="+mn-ea"/>
              </a:rPr>
              <a:t>扩充</a:t>
            </a:r>
            <a:r>
              <a:rPr lang="en-US" altLang="zh-CN" sz="1800" dirty="0">
                <a:latin typeface="+mn-ea"/>
              </a:rPr>
              <a:t>AND</a:t>
            </a:r>
            <a:r>
              <a:rPr lang="zh-CN" altLang="en-US" sz="1800" dirty="0">
                <a:latin typeface="+mn-ea"/>
              </a:rPr>
              <a:t>信号量：对进程所申请的所有资源以及每类资源不同的资源需求量，在一次</a:t>
            </a:r>
            <a:r>
              <a:rPr lang="en-US" altLang="zh-CN" sz="1800" dirty="0">
                <a:latin typeface="+mn-ea"/>
              </a:rPr>
              <a:t>P</a:t>
            </a:r>
            <a:r>
              <a:rPr lang="zh-CN" altLang="en-US" sz="1800" dirty="0">
                <a:latin typeface="+mn-ea"/>
              </a:rPr>
              <a:t>、</a:t>
            </a:r>
            <a:r>
              <a:rPr lang="en-US" altLang="zh-CN" sz="1800" dirty="0">
                <a:latin typeface="+mn-ea"/>
              </a:rPr>
              <a:t>V</a:t>
            </a:r>
            <a:r>
              <a:rPr lang="zh-CN" altLang="en-US" sz="1800" dirty="0">
                <a:latin typeface="+mn-ea"/>
              </a:rPr>
              <a:t>原语操作中完成申请或释放</a:t>
            </a:r>
          </a:p>
          <a:p>
            <a:pPr marL="257175" indent="-257175" algn="just">
              <a:lnSpc>
                <a:spcPct val="120000"/>
              </a:lnSpc>
              <a:spcBef>
                <a:spcPts val="450"/>
              </a:spcBef>
              <a:spcAft>
                <a:spcPts val="450"/>
              </a:spcAft>
              <a:buClr>
                <a:srgbClr val="FF0000"/>
              </a:buClr>
              <a:buFont typeface="Wingdings" panose="05000000000000000000" pitchFamily="2" charset="2"/>
              <a:buChar char="Ø"/>
            </a:pPr>
            <a:r>
              <a:rPr lang="zh-CN" altLang="en-US" sz="1650" dirty="0">
                <a:latin typeface="+mn-ea"/>
              </a:rPr>
              <a:t>进程对信号量</a:t>
            </a:r>
            <a:r>
              <a:rPr lang="en-US" altLang="zh-CN" sz="1650" dirty="0">
                <a:latin typeface="+mn-ea"/>
              </a:rPr>
              <a:t>Si</a:t>
            </a:r>
            <a:r>
              <a:rPr lang="zh-CN" altLang="en-US" sz="1650" dirty="0">
                <a:latin typeface="+mn-ea"/>
              </a:rPr>
              <a:t>的测试值是该资源的分配下限值</a:t>
            </a:r>
            <a:r>
              <a:rPr lang="en-US" altLang="zh-CN" sz="1650" dirty="0">
                <a:latin typeface="+mn-ea"/>
              </a:rPr>
              <a:t>ti</a:t>
            </a:r>
            <a:r>
              <a:rPr lang="zh-CN" altLang="en-US" sz="1650" dirty="0">
                <a:latin typeface="+mn-ea"/>
              </a:rPr>
              <a:t>，即要求</a:t>
            </a:r>
            <a:r>
              <a:rPr lang="en-US" altLang="zh-CN" sz="1650" dirty="0" err="1">
                <a:latin typeface="+mn-ea"/>
              </a:rPr>
              <a:t>Si≥ti</a:t>
            </a:r>
            <a:r>
              <a:rPr lang="zh-CN" altLang="en-US" sz="1650" dirty="0">
                <a:latin typeface="+mn-ea"/>
              </a:rPr>
              <a:t>，否则不予分配。一旦允许分配，进程对该资源的需求值为</a:t>
            </a:r>
            <a:r>
              <a:rPr lang="en-US" altLang="zh-CN" sz="1650" dirty="0">
                <a:latin typeface="+mn-ea"/>
              </a:rPr>
              <a:t>di</a:t>
            </a:r>
            <a:r>
              <a:rPr lang="zh-CN" altLang="en-US" sz="1650" dirty="0">
                <a:latin typeface="+mn-ea"/>
              </a:rPr>
              <a:t>，即表示资源占用量，进行</a:t>
            </a:r>
            <a:r>
              <a:rPr lang="en-US" altLang="zh-CN" sz="1650" dirty="0">
                <a:latin typeface="+mn-ea"/>
              </a:rPr>
              <a:t>Si= Si-di</a:t>
            </a:r>
            <a:r>
              <a:rPr lang="zh-CN" altLang="en-US" sz="1650" dirty="0">
                <a:latin typeface="+mn-ea"/>
              </a:rPr>
              <a:t>操作</a:t>
            </a:r>
          </a:p>
          <a:p>
            <a:pPr marL="257175" indent="-257175" algn="just">
              <a:lnSpc>
                <a:spcPct val="120000"/>
              </a:lnSpc>
              <a:spcBef>
                <a:spcPts val="450"/>
              </a:spcBef>
              <a:spcAft>
                <a:spcPts val="450"/>
              </a:spcAft>
              <a:buClr>
                <a:srgbClr val="FF0000"/>
              </a:buClr>
              <a:buFont typeface="Wingdings" panose="05000000000000000000" pitchFamily="2" charset="2"/>
              <a:buChar char="Ø"/>
            </a:pPr>
            <a:r>
              <a:rPr lang="en-US" altLang="zh-CN" sz="1650" dirty="0" err="1">
                <a:latin typeface="+mn-ea"/>
              </a:rPr>
              <a:t>Swait</a:t>
            </a:r>
            <a:r>
              <a:rPr lang="en-US" altLang="zh-CN" sz="1650" dirty="0">
                <a:latin typeface="+mn-ea"/>
              </a:rPr>
              <a:t>(S1</a:t>
            </a:r>
            <a:r>
              <a:rPr lang="zh-CN" altLang="en-US" sz="1650" dirty="0">
                <a:latin typeface="+mn-ea"/>
              </a:rPr>
              <a:t>，</a:t>
            </a:r>
            <a:r>
              <a:rPr lang="en-US" altLang="zh-CN" sz="1650" dirty="0">
                <a:latin typeface="+mn-ea"/>
              </a:rPr>
              <a:t>t1</a:t>
            </a:r>
            <a:r>
              <a:rPr lang="zh-CN" altLang="en-US" sz="1650" dirty="0">
                <a:latin typeface="+mn-ea"/>
              </a:rPr>
              <a:t>，</a:t>
            </a:r>
            <a:r>
              <a:rPr lang="en-US" altLang="zh-CN" sz="1650" dirty="0">
                <a:latin typeface="+mn-ea"/>
              </a:rPr>
              <a:t>d1</a:t>
            </a:r>
            <a:r>
              <a:rPr lang="zh-CN" altLang="en-US" sz="1650" dirty="0">
                <a:latin typeface="+mn-ea"/>
              </a:rPr>
              <a:t>，</a:t>
            </a:r>
            <a:r>
              <a:rPr lang="en-US" altLang="zh-CN" sz="1650" dirty="0">
                <a:latin typeface="+mn-ea"/>
              </a:rPr>
              <a:t>…</a:t>
            </a:r>
            <a:r>
              <a:rPr lang="zh-CN" altLang="en-US" sz="1650" dirty="0">
                <a:latin typeface="+mn-ea"/>
              </a:rPr>
              <a:t>，</a:t>
            </a:r>
            <a:r>
              <a:rPr lang="en-US" altLang="zh-CN" sz="1650" dirty="0">
                <a:latin typeface="+mn-ea"/>
              </a:rPr>
              <a:t>Sn</a:t>
            </a:r>
            <a:r>
              <a:rPr lang="zh-CN" altLang="en-US" sz="1650" dirty="0">
                <a:latin typeface="+mn-ea"/>
              </a:rPr>
              <a:t>，</a:t>
            </a:r>
            <a:r>
              <a:rPr lang="en-US" altLang="zh-CN" sz="1650" dirty="0" err="1">
                <a:latin typeface="+mn-ea"/>
              </a:rPr>
              <a:t>tn</a:t>
            </a:r>
            <a:r>
              <a:rPr lang="zh-CN" altLang="en-US" sz="1650" dirty="0">
                <a:latin typeface="+mn-ea"/>
              </a:rPr>
              <a:t>，</a:t>
            </a:r>
            <a:r>
              <a:rPr lang="en-US" altLang="zh-CN" sz="1650" dirty="0" err="1">
                <a:latin typeface="+mn-ea"/>
              </a:rPr>
              <a:t>dn</a:t>
            </a:r>
            <a:r>
              <a:rPr lang="en-US" altLang="zh-CN" sz="1650" dirty="0">
                <a:latin typeface="+mn-ea"/>
              </a:rPr>
              <a:t>)</a:t>
            </a:r>
          </a:p>
          <a:p>
            <a:pPr marL="257175" indent="-257175" algn="just">
              <a:lnSpc>
                <a:spcPct val="120000"/>
              </a:lnSpc>
              <a:spcBef>
                <a:spcPts val="450"/>
              </a:spcBef>
              <a:spcAft>
                <a:spcPts val="450"/>
              </a:spcAft>
              <a:buClr>
                <a:srgbClr val="FF0000"/>
              </a:buClr>
              <a:buFont typeface="Wingdings" panose="05000000000000000000" pitchFamily="2" charset="2"/>
              <a:buChar char="Ø"/>
            </a:pPr>
            <a:r>
              <a:rPr lang="en-US" altLang="zh-CN" sz="1650" dirty="0" err="1">
                <a:latin typeface="+mn-ea"/>
              </a:rPr>
              <a:t>Ssignal</a:t>
            </a:r>
            <a:r>
              <a:rPr lang="en-US" altLang="zh-CN" sz="1650" dirty="0">
                <a:latin typeface="+mn-ea"/>
              </a:rPr>
              <a:t>(S1</a:t>
            </a:r>
            <a:r>
              <a:rPr lang="zh-CN" altLang="en-US" sz="1650" dirty="0">
                <a:latin typeface="+mn-ea"/>
              </a:rPr>
              <a:t>，</a:t>
            </a:r>
            <a:r>
              <a:rPr lang="en-US" altLang="zh-CN" sz="1650" dirty="0">
                <a:latin typeface="+mn-ea"/>
              </a:rPr>
              <a:t>d1</a:t>
            </a:r>
            <a:r>
              <a:rPr lang="zh-CN" altLang="en-US" sz="1650" dirty="0">
                <a:latin typeface="+mn-ea"/>
              </a:rPr>
              <a:t>，</a:t>
            </a:r>
            <a:r>
              <a:rPr lang="en-US" altLang="zh-CN" sz="1650" dirty="0">
                <a:latin typeface="+mn-ea"/>
              </a:rPr>
              <a:t>…</a:t>
            </a:r>
            <a:r>
              <a:rPr lang="zh-CN" altLang="en-US" sz="1650" dirty="0">
                <a:latin typeface="+mn-ea"/>
              </a:rPr>
              <a:t>，</a:t>
            </a:r>
            <a:r>
              <a:rPr lang="en-US" altLang="zh-CN" sz="1650" dirty="0">
                <a:latin typeface="+mn-ea"/>
              </a:rPr>
              <a:t>Sn</a:t>
            </a:r>
            <a:r>
              <a:rPr lang="zh-CN" altLang="en-US" sz="1650" dirty="0">
                <a:latin typeface="+mn-ea"/>
              </a:rPr>
              <a:t>，</a:t>
            </a:r>
            <a:r>
              <a:rPr lang="en-US" altLang="zh-CN" sz="1650" dirty="0" err="1">
                <a:latin typeface="+mn-ea"/>
              </a:rPr>
              <a:t>dn</a:t>
            </a:r>
            <a:r>
              <a:rPr lang="en-US" altLang="zh-CN" sz="1650" dirty="0">
                <a:latin typeface="+mn-ea"/>
              </a:rPr>
              <a:t>)</a:t>
            </a:r>
          </a:p>
        </p:txBody>
      </p:sp>
      <p:pic>
        <p:nvPicPr>
          <p:cNvPr id="29" name="图片 2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499663" y="1801266"/>
            <a:ext cx="395288" cy="395288"/>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02444" y="2924737"/>
            <a:ext cx="395288" cy="395288"/>
          </a:xfrm>
          <a:prstGeom prst="rect">
            <a:avLst/>
          </a:prstGeom>
          <a:ln>
            <a:noFill/>
          </a:ln>
          <a:effectLst>
            <a:softEdge rad="0"/>
          </a:effectLst>
        </p:spPr>
      </p:pic>
    </p:spTree>
    <p:extLst>
      <p:ext uri="{BB962C8B-B14F-4D97-AF65-F5344CB8AC3E}">
        <p14:creationId xmlns:p14="http://schemas.microsoft.com/office/powerpoint/2010/main" val="118256195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信号量的应用</a:t>
            </a:r>
          </a:p>
        </p:txBody>
      </p:sp>
      <p:sp>
        <p:nvSpPr>
          <p:cNvPr id="7" name="i$lîďê"/>
          <p:cNvSpPr/>
          <p:nvPr/>
        </p:nvSpPr>
        <p:spPr>
          <a:xfrm>
            <a:off x="1746359" y="3390702"/>
            <a:ext cx="3461746" cy="294658"/>
          </a:xfrm>
          <a:prstGeom prst="rect">
            <a:avLst/>
          </a:prstGeom>
          <a:noFill/>
          <a:ln>
            <a:noFill/>
          </a:ln>
        </p:spPr>
        <p:txBody>
          <a:bodyPr wrap="square" lIns="68580" tIns="34290" rIns="68580" bIns="34290" anchor="ctr" anchorCtr="0">
            <a:noAutofit/>
          </a:bodyPr>
          <a:lstStyle/>
          <a:p>
            <a:r>
              <a:rPr lang="zh-CN" altLang="en-US" sz="1950" dirty="0"/>
              <a:t>利用信号量实现</a:t>
            </a:r>
            <a:r>
              <a:rPr lang="zh-CN" altLang="en-US" sz="1950" dirty="0">
                <a:solidFill>
                  <a:srgbClr val="FF0000"/>
                </a:solidFill>
              </a:rPr>
              <a:t>前趋关系</a:t>
            </a:r>
          </a:p>
        </p:txBody>
      </p:sp>
      <p:sp>
        <p:nvSpPr>
          <p:cNvPr id="8" name="î$ļíḋè"/>
          <p:cNvSpPr/>
          <p:nvPr/>
        </p:nvSpPr>
        <p:spPr>
          <a:xfrm>
            <a:off x="2217259" y="4639726"/>
            <a:ext cx="2301138" cy="352202"/>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800" dirty="0"/>
              <a:t>设置同步信号量</a:t>
            </a:r>
          </a:p>
        </p:txBody>
      </p:sp>
      <p:sp>
        <p:nvSpPr>
          <p:cNvPr id="9" name="ïṧḷïḋè"/>
          <p:cNvSpPr/>
          <p:nvPr/>
        </p:nvSpPr>
        <p:spPr>
          <a:xfrm>
            <a:off x="2258987" y="4347244"/>
            <a:ext cx="3461746" cy="311327"/>
          </a:xfrm>
          <a:prstGeom prst="rect">
            <a:avLst/>
          </a:prstGeom>
          <a:noFill/>
          <a:ln>
            <a:noFill/>
          </a:ln>
        </p:spPr>
        <p:txBody>
          <a:bodyPr wrap="square" lIns="68580" tIns="34290" rIns="68580" bIns="34290" anchor="ctr" anchorCtr="0">
            <a:noAutofit/>
          </a:bodyPr>
          <a:lstStyle/>
          <a:p>
            <a:r>
              <a:rPr lang="zh-CN" altLang="en-US" sz="1950" dirty="0"/>
              <a:t>利用信号量实现</a:t>
            </a:r>
            <a:r>
              <a:rPr lang="zh-CN" altLang="en-US" sz="1950" dirty="0">
                <a:solidFill>
                  <a:srgbClr val="FF0000"/>
                </a:solidFill>
              </a:rPr>
              <a:t>进程同步</a:t>
            </a:r>
          </a:p>
        </p:txBody>
      </p:sp>
      <p:sp>
        <p:nvSpPr>
          <p:cNvPr id="10" name="îs1iďé"/>
          <p:cNvSpPr/>
          <p:nvPr/>
        </p:nvSpPr>
        <p:spPr>
          <a:xfrm>
            <a:off x="1233732" y="2404741"/>
            <a:ext cx="2920826" cy="495440"/>
          </a:xfrm>
          <a:prstGeom prst="rect">
            <a:avLst/>
          </a:prstGeom>
          <a:noFill/>
          <a:ln>
            <a:noFill/>
          </a:ln>
        </p:spPr>
        <p:txBody>
          <a:bodyPr wrap="square" lIns="68580" tIns="34290" rIns="68580" bIns="34290" anchor="t" anchorCtr="0">
            <a:normAutofit/>
          </a:bodyPr>
          <a:lstStyle/>
          <a:p>
            <a:pPr marL="257175" indent="-257175">
              <a:lnSpc>
                <a:spcPct val="120000"/>
              </a:lnSpc>
              <a:buClr>
                <a:srgbClr val="FF0000"/>
              </a:buClr>
              <a:buFont typeface="Wingdings" panose="05000000000000000000" pitchFamily="2" charset="2"/>
              <a:buChar char="Ø"/>
            </a:pPr>
            <a:r>
              <a:rPr lang="zh-CN" altLang="en-US" sz="1800" dirty="0"/>
              <a:t>设置互斥信号量</a:t>
            </a:r>
          </a:p>
        </p:txBody>
      </p:sp>
      <p:sp>
        <p:nvSpPr>
          <p:cNvPr id="11" name="íšḻíḑê"/>
          <p:cNvSpPr/>
          <p:nvPr/>
        </p:nvSpPr>
        <p:spPr>
          <a:xfrm>
            <a:off x="1233732" y="2044035"/>
            <a:ext cx="3812256" cy="304310"/>
          </a:xfrm>
          <a:prstGeom prst="rect">
            <a:avLst/>
          </a:prstGeom>
          <a:noFill/>
          <a:ln>
            <a:noFill/>
          </a:ln>
        </p:spPr>
        <p:txBody>
          <a:bodyPr wrap="square" lIns="68580" tIns="34290" rIns="68580" bIns="34290" anchor="ctr" anchorCtr="0">
            <a:noAutofit/>
          </a:bodyPr>
          <a:lstStyle/>
          <a:p>
            <a:r>
              <a:rPr lang="zh-CN" altLang="en-US" sz="1950" dirty="0"/>
              <a:t>利用信号量实现</a:t>
            </a:r>
            <a:r>
              <a:rPr lang="zh-CN" altLang="en-US" sz="1950" dirty="0">
                <a:solidFill>
                  <a:srgbClr val="FF0000"/>
                </a:solidFill>
              </a:rPr>
              <a:t>进程互斥</a:t>
            </a:r>
          </a:p>
        </p:txBody>
      </p:sp>
      <p:sp>
        <p:nvSpPr>
          <p:cNvPr id="12" name="îSļiḓè"/>
          <p:cNvSpPr/>
          <p:nvPr/>
        </p:nvSpPr>
        <p:spPr>
          <a:xfrm>
            <a:off x="721105" y="2033863"/>
            <a:ext cx="470900" cy="470900"/>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800"/>
          </a:p>
        </p:txBody>
      </p:sp>
      <p:sp>
        <p:nvSpPr>
          <p:cNvPr id="13" name="íṥḻîḓe"/>
          <p:cNvSpPr/>
          <p:nvPr/>
        </p:nvSpPr>
        <p:spPr>
          <a:xfrm>
            <a:off x="1746359" y="4285293"/>
            <a:ext cx="470900" cy="470900"/>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800"/>
          </a:p>
        </p:txBody>
      </p:sp>
      <p:sp>
        <p:nvSpPr>
          <p:cNvPr id="14" name="îşļiḓè"/>
          <p:cNvSpPr/>
          <p:nvPr/>
        </p:nvSpPr>
        <p:spPr>
          <a:xfrm>
            <a:off x="1233733" y="3313349"/>
            <a:ext cx="470900" cy="470900"/>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800"/>
          </a:p>
        </p:txBody>
      </p:sp>
      <p:sp>
        <p:nvSpPr>
          <p:cNvPr id="15" name="îṡḷíďe"/>
          <p:cNvSpPr/>
          <p:nvPr/>
        </p:nvSpPr>
        <p:spPr>
          <a:xfrm>
            <a:off x="863797" y="2180966"/>
            <a:ext cx="195860" cy="185903"/>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68580" tIns="34290" rIns="68580" bIns="34290" anchor="ctr">
            <a:normAutofit fontScale="25000" lnSpcReduction="20000"/>
          </a:bodyPr>
          <a:lstStyle/>
          <a:p>
            <a:pPr algn="ctr"/>
            <a:endParaRPr sz="1800"/>
          </a:p>
        </p:txBody>
      </p:sp>
      <p:sp>
        <p:nvSpPr>
          <p:cNvPr id="16" name="íSlíḋe"/>
          <p:cNvSpPr/>
          <p:nvPr/>
        </p:nvSpPr>
        <p:spPr>
          <a:xfrm>
            <a:off x="1376423" y="3479861"/>
            <a:ext cx="195861" cy="171603"/>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68580" tIns="34290" rIns="68580" bIns="34290" anchor="ctr">
            <a:normAutofit fontScale="25000" lnSpcReduction="20000"/>
          </a:bodyPr>
          <a:lstStyle/>
          <a:p>
            <a:pPr algn="ctr"/>
            <a:endParaRPr sz="1800"/>
          </a:p>
        </p:txBody>
      </p:sp>
      <p:sp>
        <p:nvSpPr>
          <p:cNvPr id="17" name="ïśḷïḓe"/>
          <p:cNvSpPr/>
          <p:nvPr/>
        </p:nvSpPr>
        <p:spPr>
          <a:xfrm>
            <a:off x="1910754" y="4427387"/>
            <a:ext cx="158689" cy="194480"/>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68580" tIns="34290" rIns="68580" bIns="34290" anchor="ctr">
            <a:normAutofit fontScale="25000" lnSpcReduction="20000"/>
          </a:bodyPr>
          <a:lstStyle/>
          <a:p>
            <a:pPr algn="ctr"/>
            <a:endParaRPr sz="1800"/>
          </a:p>
        </p:txBody>
      </p:sp>
    </p:spTree>
    <p:extLst>
      <p:ext uri="{BB962C8B-B14F-4D97-AF65-F5344CB8AC3E}">
        <p14:creationId xmlns:p14="http://schemas.microsoft.com/office/powerpoint/2010/main" val="312751679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利用信号量实现进程互斥</a:t>
            </a:r>
          </a:p>
        </p:txBody>
      </p:sp>
      <p:sp>
        <p:nvSpPr>
          <p:cNvPr id="18" name="内容占位符 2"/>
          <p:cNvSpPr txBox="1"/>
          <p:nvPr/>
        </p:nvSpPr>
        <p:spPr>
          <a:xfrm>
            <a:off x="402566" y="1872574"/>
            <a:ext cx="2832653" cy="3595481"/>
          </a:xfrm>
          <a:prstGeom prst="rect">
            <a:avLst/>
          </a:prstGeom>
          <a:ln>
            <a:solidFill>
              <a:srgbClr val="7030A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tabLst>
                <a:tab pos="1503521" algn="ctr"/>
                <a:tab pos="3388519" algn="ctr"/>
              </a:tabLst>
            </a:pPr>
            <a:r>
              <a:rPr lang="en-US" altLang="zh-CN" sz="1950" dirty="0">
                <a:sym typeface="MT Extra" panose="05050102010205020202" pitchFamily="18" charset="2"/>
              </a:rPr>
              <a:t>semaphore </a:t>
            </a:r>
            <a:r>
              <a:rPr lang="en-US" altLang="zh-CN" sz="1950" dirty="0" err="1">
                <a:sym typeface="MT Extra" panose="05050102010205020202" pitchFamily="18" charset="2"/>
              </a:rPr>
              <a:t>mutex</a:t>
            </a:r>
            <a:r>
              <a:rPr lang="en-US" altLang="zh-CN" sz="1950" dirty="0">
                <a:sym typeface="MT Extra" panose="05050102010205020202" pitchFamily="18" charset="2"/>
              </a:rPr>
              <a:t>; </a:t>
            </a:r>
          </a:p>
          <a:p>
            <a:pPr>
              <a:buNone/>
              <a:tabLst>
                <a:tab pos="1503521" algn="ctr"/>
                <a:tab pos="3388519" algn="ctr"/>
              </a:tabLst>
            </a:pPr>
            <a:r>
              <a:rPr lang="en-US" altLang="zh-CN" sz="1950" dirty="0" err="1">
                <a:sym typeface="MT Extra" panose="05050102010205020202" pitchFamily="18" charset="2"/>
              </a:rPr>
              <a:t>mutex</a:t>
            </a:r>
            <a:r>
              <a:rPr lang="en-US" altLang="zh-CN" sz="1950" dirty="0">
                <a:sym typeface="MT Extra" panose="05050102010205020202" pitchFamily="18" charset="2"/>
              </a:rPr>
              <a:t>=1; // </a:t>
            </a:r>
            <a:r>
              <a:rPr lang="zh-CN" altLang="en-US" sz="1950" dirty="0">
                <a:sym typeface="MT Extra" panose="05050102010205020202" pitchFamily="18" charset="2"/>
              </a:rPr>
              <a:t>初始化为</a:t>
            </a:r>
            <a:r>
              <a:rPr lang="en-US" altLang="zh-CN" sz="1950" dirty="0">
                <a:sym typeface="MT Extra" panose="05050102010205020202" pitchFamily="18" charset="2"/>
              </a:rPr>
              <a:t> 1</a:t>
            </a:r>
          </a:p>
          <a:p>
            <a:pPr>
              <a:buNone/>
              <a:tabLst>
                <a:tab pos="1503521" algn="ctr"/>
                <a:tab pos="3388519" algn="ctr"/>
              </a:tabLst>
            </a:pPr>
            <a:endParaRPr lang="en-US" altLang="zh-CN" sz="1950" dirty="0">
              <a:sym typeface="MT Extra" panose="05050102010205020202" pitchFamily="18" charset="2"/>
            </a:endParaRPr>
          </a:p>
          <a:p>
            <a:pPr>
              <a:buNone/>
              <a:tabLst>
                <a:tab pos="1503521" algn="ctr"/>
                <a:tab pos="3388519" algn="ctr"/>
              </a:tabLst>
            </a:pPr>
            <a:r>
              <a:rPr lang="en-US" altLang="zh-CN" sz="1950" dirty="0">
                <a:sym typeface="MT Extra" panose="05050102010205020202" pitchFamily="18" charset="2"/>
              </a:rPr>
              <a:t>while(1)</a:t>
            </a:r>
          </a:p>
          <a:p>
            <a:pPr>
              <a:buNone/>
              <a:tabLst>
                <a:tab pos="1503521" algn="ctr"/>
                <a:tab pos="3388519" algn="ctr"/>
              </a:tabLst>
            </a:pPr>
            <a:r>
              <a:rPr lang="en-US" altLang="zh-CN" sz="1950" dirty="0">
                <a:sym typeface="MT Extra" panose="05050102010205020202" pitchFamily="18" charset="2"/>
              </a:rPr>
              <a:t>{</a:t>
            </a:r>
          </a:p>
          <a:p>
            <a:pPr>
              <a:buNone/>
              <a:tabLst>
                <a:tab pos="1503521" algn="ctr"/>
                <a:tab pos="3388519" algn="ctr"/>
              </a:tabLst>
            </a:pPr>
            <a:r>
              <a:rPr lang="en-US" altLang="zh-CN" sz="1950" dirty="0">
                <a:sym typeface="MT Extra" panose="05050102010205020202" pitchFamily="18" charset="2"/>
              </a:rPr>
              <a:t>	</a:t>
            </a:r>
            <a:r>
              <a:rPr lang="en-US" altLang="zh-CN" sz="1950" b="1" dirty="0">
                <a:solidFill>
                  <a:srgbClr val="C00000"/>
                </a:solidFill>
                <a:sym typeface="MT Extra" panose="05050102010205020202" pitchFamily="18" charset="2"/>
              </a:rPr>
              <a:t>wait(</a:t>
            </a:r>
            <a:r>
              <a:rPr lang="en-US" altLang="zh-CN" sz="1950" b="1" dirty="0" err="1">
                <a:solidFill>
                  <a:srgbClr val="C00000"/>
                </a:solidFill>
                <a:sym typeface="MT Extra" panose="05050102010205020202" pitchFamily="18" charset="2"/>
              </a:rPr>
              <a:t>mutex</a:t>
            </a:r>
            <a:r>
              <a:rPr lang="en-US" altLang="zh-CN" sz="1950" b="1" dirty="0">
                <a:solidFill>
                  <a:srgbClr val="C00000"/>
                </a:solidFill>
                <a:sym typeface="MT Extra" panose="05050102010205020202" pitchFamily="18" charset="2"/>
              </a:rPr>
              <a:t>);</a:t>
            </a:r>
          </a:p>
          <a:p>
            <a:pPr>
              <a:buNone/>
              <a:tabLst>
                <a:tab pos="1503521" algn="ctr"/>
                <a:tab pos="3388519" algn="ctr"/>
              </a:tabLst>
            </a:pPr>
            <a:r>
              <a:rPr lang="en-US" altLang="zh-CN" sz="1950" dirty="0">
                <a:sym typeface="MT Extra" panose="05050102010205020202" pitchFamily="18" charset="2"/>
              </a:rPr>
              <a:t>	</a:t>
            </a:r>
            <a:r>
              <a:rPr lang="zh-CN" altLang="en-US" sz="1950" dirty="0">
                <a:sym typeface="MT Extra" panose="05050102010205020202" pitchFamily="18" charset="2"/>
              </a:rPr>
              <a:t>临界区；</a:t>
            </a:r>
          </a:p>
          <a:p>
            <a:pPr>
              <a:buNone/>
              <a:tabLst>
                <a:tab pos="1503521" algn="ctr"/>
                <a:tab pos="3388519" algn="ctr"/>
              </a:tabLst>
            </a:pPr>
            <a:r>
              <a:rPr lang="en-US" altLang="zh-CN" sz="1950" dirty="0">
                <a:sym typeface="MT Extra" panose="05050102010205020202" pitchFamily="18" charset="2"/>
              </a:rPr>
              <a:t>	</a:t>
            </a:r>
            <a:r>
              <a:rPr lang="en-US" altLang="zh-CN" sz="1950" b="1" dirty="0">
                <a:solidFill>
                  <a:srgbClr val="C00000"/>
                </a:solidFill>
                <a:sym typeface="MT Extra" panose="05050102010205020202" pitchFamily="18" charset="2"/>
              </a:rPr>
              <a:t>signal(</a:t>
            </a:r>
            <a:r>
              <a:rPr lang="en-US" altLang="zh-CN" sz="1950" b="1" dirty="0" err="1">
                <a:solidFill>
                  <a:srgbClr val="C00000"/>
                </a:solidFill>
                <a:sym typeface="MT Extra" panose="05050102010205020202" pitchFamily="18" charset="2"/>
              </a:rPr>
              <a:t>mutex</a:t>
            </a:r>
            <a:r>
              <a:rPr lang="en-US" altLang="zh-CN" sz="1950" b="1" dirty="0">
                <a:solidFill>
                  <a:srgbClr val="C00000"/>
                </a:solidFill>
                <a:sym typeface="MT Extra" panose="05050102010205020202" pitchFamily="18" charset="2"/>
              </a:rPr>
              <a:t>);</a:t>
            </a:r>
          </a:p>
          <a:p>
            <a:pPr>
              <a:buNone/>
              <a:tabLst>
                <a:tab pos="1503521" algn="ctr"/>
                <a:tab pos="3388519" algn="ctr"/>
              </a:tabLst>
            </a:pPr>
            <a:r>
              <a:rPr lang="en-US" altLang="zh-CN" sz="1950" dirty="0">
                <a:sym typeface="MT Extra" panose="05050102010205020202" pitchFamily="18" charset="2"/>
              </a:rPr>
              <a:t>	</a:t>
            </a:r>
            <a:r>
              <a:rPr lang="zh-CN" altLang="en-US" sz="1950" dirty="0">
                <a:sym typeface="MT Extra" panose="05050102010205020202" pitchFamily="18" charset="2"/>
              </a:rPr>
              <a:t>剩余区；</a:t>
            </a:r>
            <a:endParaRPr lang="en-US" altLang="zh-CN" sz="1950" dirty="0">
              <a:sym typeface="MT Extra" panose="05050102010205020202" pitchFamily="18" charset="2"/>
            </a:endParaRPr>
          </a:p>
          <a:p>
            <a:pPr>
              <a:buNone/>
              <a:tabLst>
                <a:tab pos="1503521" algn="ctr"/>
                <a:tab pos="3388519" algn="ctr"/>
              </a:tabLst>
            </a:pPr>
            <a:r>
              <a:rPr lang="en-US" altLang="zh-CN" sz="1950" dirty="0">
                <a:sym typeface="MT Extra" panose="05050102010205020202" pitchFamily="18" charset="2"/>
              </a:rPr>
              <a:t>}</a:t>
            </a:r>
          </a:p>
        </p:txBody>
      </p:sp>
      <p:sp>
        <p:nvSpPr>
          <p:cNvPr id="60419" name="Rectangle 3"/>
          <p:cNvSpPr>
            <a:spLocks noGrp="1"/>
          </p:cNvSpPr>
          <p:nvPr>
            <p:ph idx="1"/>
          </p:nvPr>
        </p:nvSpPr>
        <p:spPr>
          <a:xfrm>
            <a:off x="3520916" y="1872616"/>
            <a:ext cx="5357813" cy="1071086"/>
          </a:xfrm>
          <a:ln>
            <a:solidFill>
              <a:srgbClr val="7030A0"/>
            </a:solidFill>
          </a:ln>
        </p:spPr>
        <p:txBody>
          <a:bodyPr vert="horz" wrap="square" lIns="68580" tIns="34290" rIns="68580" bIns="34290" anchor="t" anchorCtr="0">
            <a:noAutofit/>
          </a:bodyPr>
          <a:lstStyle/>
          <a:p>
            <a:pPr algn="just" eaLnBrk="1" hangingPunct="1"/>
            <a:r>
              <a:rPr lang="zh-CN" altLang="en-US" sz="1800" dirty="0">
                <a:latin typeface="宋体" panose="02010600030101010101" pitchFamily="2" charset="-122"/>
              </a:rPr>
              <a:t>例：</a:t>
            </a:r>
            <a:r>
              <a:rPr lang="zh-CN" altLang="en-US" sz="1800" dirty="0"/>
              <a:t>系统中只有一台打印机，有</a:t>
            </a:r>
            <a:r>
              <a:rPr lang="en-US" altLang="zh-CN" sz="1800" dirty="0"/>
              <a:t>4</a:t>
            </a:r>
            <a:r>
              <a:rPr lang="zh-CN" altLang="en-US" sz="1800" dirty="0"/>
              <a:t>个用户的程序在执行过程中都要使用打印机输出计算结果。设每个用户程序对应一个进程。试用</a:t>
            </a:r>
            <a:r>
              <a:rPr lang="zh-CN" altLang="zh-CN" sz="1800" dirty="0"/>
              <a:t>PV</a:t>
            </a:r>
            <a:r>
              <a:rPr lang="zh-CN" altLang="en-US" sz="1800" dirty="0"/>
              <a:t>操作写出这些进程互斥使用打印机的算法。</a:t>
            </a:r>
          </a:p>
        </p:txBody>
      </p:sp>
      <p:sp>
        <p:nvSpPr>
          <p:cNvPr id="61443" name="Rectangle 2"/>
          <p:cNvSpPr>
            <a:spLocks noGrp="1"/>
          </p:cNvSpPr>
          <p:nvPr/>
        </p:nvSpPr>
        <p:spPr>
          <a:xfrm>
            <a:off x="3521393" y="3093720"/>
            <a:ext cx="5357336" cy="335280"/>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90000"/>
              </a:lnSpc>
            </a:pPr>
            <a:r>
              <a:rPr lang="zh-CN" altLang="en-US" sz="1800" dirty="0"/>
              <a:t>设一个互斥信号量为</a:t>
            </a:r>
            <a:r>
              <a:rPr lang="zh-CN" altLang="zh-CN" sz="1800" dirty="0"/>
              <a:t>mutex，</a:t>
            </a:r>
            <a:r>
              <a:rPr lang="zh-CN" altLang="en-US" sz="1800" dirty="0"/>
              <a:t>初值为</a:t>
            </a:r>
            <a:r>
              <a:rPr lang="zh-CN" altLang="zh-CN" sz="1800" dirty="0"/>
              <a:t>1。</a:t>
            </a:r>
          </a:p>
        </p:txBody>
      </p:sp>
      <p:sp>
        <p:nvSpPr>
          <p:cNvPr id="61444" name="Text Box 3"/>
          <p:cNvSpPr txBox="1"/>
          <p:nvPr/>
        </p:nvSpPr>
        <p:spPr>
          <a:xfrm>
            <a:off x="3675221" y="3507582"/>
            <a:ext cx="1658303" cy="2169825"/>
          </a:xfrm>
          <a:prstGeom prst="rect">
            <a:avLst/>
          </a:prstGeom>
          <a:solidFill>
            <a:srgbClr val="FFF3FF"/>
          </a:solidFill>
          <a:ln w="9525" cap="flat" cmpd="sng">
            <a:solidFill>
              <a:srgbClr val="7030A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i="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indent="0" eaLnBrk="1" hangingPunct="1">
              <a:spcBef>
                <a:spcPct val="50000"/>
              </a:spcBef>
              <a:buClrTx/>
              <a:buSzTx/>
              <a:buNone/>
            </a:pPr>
            <a:r>
              <a:rPr lang="zh-CN" altLang="zh-CN" sz="1800" dirty="0"/>
              <a:t>  A</a:t>
            </a:r>
            <a:r>
              <a:rPr lang="zh-CN" altLang="en-US" sz="1800" dirty="0"/>
              <a:t>进程</a:t>
            </a:r>
            <a:br>
              <a:rPr lang="zh-CN" altLang="en-US" sz="1800" dirty="0"/>
            </a:br>
            <a:r>
              <a:rPr lang="zh-CN" altLang="en-US" sz="1800" dirty="0"/>
              <a:t>  </a:t>
            </a:r>
            <a:r>
              <a:rPr lang="zh-CN" altLang="zh-CN" sz="1800" dirty="0">
                <a:latin typeface="Times New Roman" panose="02020603050405020304" pitchFamily="18" charset="0"/>
              </a:rPr>
              <a:t>……</a:t>
            </a:r>
            <a:r>
              <a:rPr lang="zh-CN" altLang="zh-CN" sz="1800" dirty="0"/>
              <a:t>. </a:t>
            </a:r>
          </a:p>
          <a:p>
            <a:pPr marL="0" indent="0" eaLnBrk="1" hangingPunct="1">
              <a:spcBef>
                <a:spcPct val="50000"/>
              </a:spcBef>
              <a:buClrTx/>
              <a:buSzTx/>
              <a:buNone/>
            </a:pPr>
            <a:r>
              <a:rPr lang="zh-CN" altLang="zh-CN" sz="1800" dirty="0"/>
              <a:t>  </a:t>
            </a:r>
            <a:r>
              <a:rPr lang="en-US" altLang="zh-CN" sz="1800" dirty="0"/>
              <a:t>wait</a:t>
            </a:r>
            <a:r>
              <a:rPr lang="zh-CN" altLang="zh-CN" sz="1800" dirty="0"/>
              <a:t>(mutex)</a:t>
            </a:r>
          </a:p>
          <a:p>
            <a:pPr marL="0" indent="0" eaLnBrk="1" hangingPunct="1">
              <a:spcBef>
                <a:spcPct val="50000"/>
              </a:spcBef>
              <a:buClrTx/>
              <a:buSzTx/>
              <a:buNone/>
            </a:pPr>
            <a:r>
              <a:rPr lang="zh-CN" altLang="en-US" sz="1800" dirty="0"/>
              <a:t>  使用打印机</a:t>
            </a:r>
          </a:p>
          <a:p>
            <a:pPr marL="0" indent="0" eaLnBrk="1" hangingPunct="1">
              <a:spcBef>
                <a:spcPct val="50000"/>
              </a:spcBef>
              <a:buClrTx/>
              <a:buSzTx/>
              <a:buNone/>
            </a:pPr>
            <a:r>
              <a:rPr lang="zh-CN" altLang="zh-CN" sz="1800" dirty="0"/>
              <a:t>  </a:t>
            </a:r>
            <a:r>
              <a:rPr lang="en-US" altLang="zh-CN" sz="1800" dirty="0"/>
              <a:t>signal</a:t>
            </a:r>
            <a:r>
              <a:rPr lang="zh-CN" altLang="zh-CN" sz="1800" dirty="0"/>
              <a:t>(mutex)</a:t>
            </a:r>
            <a:br>
              <a:rPr lang="zh-CN" altLang="zh-CN" sz="1800" dirty="0"/>
            </a:br>
            <a:r>
              <a:rPr lang="zh-CN" altLang="zh-CN" sz="1800" dirty="0"/>
              <a:t>  </a:t>
            </a:r>
            <a:r>
              <a:rPr lang="zh-CN" altLang="zh-CN" sz="1800" dirty="0">
                <a:latin typeface="Times New Roman" panose="02020603050405020304" pitchFamily="18" charset="0"/>
              </a:rPr>
              <a:t>……</a:t>
            </a:r>
            <a:endParaRPr lang="zh-CN" altLang="zh-CN" sz="1800" dirty="0"/>
          </a:p>
        </p:txBody>
      </p:sp>
      <p:sp>
        <p:nvSpPr>
          <p:cNvPr id="61445" name="Text Box 4"/>
          <p:cNvSpPr txBox="1"/>
          <p:nvPr/>
        </p:nvSpPr>
        <p:spPr>
          <a:xfrm>
            <a:off x="5332572" y="3509963"/>
            <a:ext cx="1677829" cy="2169825"/>
          </a:xfrm>
          <a:prstGeom prst="rect">
            <a:avLst/>
          </a:prstGeom>
          <a:solidFill>
            <a:srgbClr val="FFF3FF"/>
          </a:solidFill>
          <a:ln w="9525" cap="flat" cmpd="sng">
            <a:solidFill>
              <a:srgbClr val="7030A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i="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indent="0" eaLnBrk="1" hangingPunct="1">
              <a:spcBef>
                <a:spcPct val="50000"/>
              </a:spcBef>
              <a:buClrTx/>
              <a:buSzTx/>
              <a:buNone/>
            </a:pPr>
            <a:r>
              <a:rPr lang="zh-CN" altLang="zh-CN" sz="1800" dirty="0"/>
              <a:t>  B</a:t>
            </a:r>
            <a:r>
              <a:rPr lang="zh-CN" altLang="en-US" sz="1800" dirty="0"/>
              <a:t>进程</a:t>
            </a:r>
            <a:br>
              <a:rPr lang="zh-CN" altLang="en-US" sz="1800" dirty="0"/>
            </a:br>
            <a:r>
              <a:rPr lang="zh-CN" altLang="en-US" sz="1800" dirty="0"/>
              <a:t>  </a:t>
            </a:r>
            <a:r>
              <a:rPr lang="zh-CN" altLang="zh-CN" sz="1800" dirty="0">
                <a:latin typeface="Times New Roman" panose="02020603050405020304" pitchFamily="18" charset="0"/>
              </a:rPr>
              <a:t>……</a:t>
            </a:r>
            <a:r>
              <a:rPr lang="zh-CN" altLang="zh-CN" sz="1800" dirty="0"/>
              <a:t>. </a:t>
            </a:r>
          </a:p>
          <a:p>
            <a:pPr marL="0" indent="0" eaLnBrk="1" hangingPunct="1">
              <a:spcBef>
                <a:spcPct val="50000"/>
              </a:spcBef>
              <a:buClrTx/>
              <a:buSzTx/>
              <a:buNone/>
            </a:pPr>
            <a:r>
              <a:rPr lang="zh-CN" altLang="zh-CN" sz="1800" dirty="0"/>
              <a:t>  </a:t>
            </a:r>
            <a:r>
              <a:rPr lang="en-US" altLang="zh-CN" sz="1800" dirty="0"/>
              <a:t>wait</a:t>
            </a:r>
            <a:r>
              <a:rPr lang="zh-CN" altLang="zh-CN" sz="1800" dirty="0"/>
              <a:t>(mutex)</a:t>
            </a:r>
          </a:p>
          <a:p>
            <a:pPr marL="0" indent="0" eaLnBrk="1" hangingPunct="1">
              <a:spcBef>
                <a:spcPct val="50000"/>
              </a:spcBef>
              <a:buClrTx/>
              <a:buSzTx/>
              <a:buNone/>
            </a:pPr>
            <a:r>
              <a:rPr lang="zh-CN" altLang="en-US" sz="1800" dirty="0"/>
              <a:t>  使用打印机</a:t>
            </a:r>
          </a:p>
          <a:p>
            <a:pPr marL="0" indent="0" eaLnBrk="1" hangingPunct="1">
              <a:spcBef>
                <a:spcPct val="50000"/>
              </a:spcBef>
              <a:buClrTx/>
              <a:buSzTx/>
              <a:buNone/>
            </a:pPr>
            <a:r>
              <a:rPr lang="zh-CN" altLang="zh-CN" sz="1800" dirty="0"/>
              <a:t>  </a:t>
            </a:r>
            <a:r>
              <a:rPr lang="en-US" altLang="zh-CN" sz="1800" dirty="0"/>
              <a:t>signal</a:t>
            </a:r>
            <a:r>
              <a:rPr lang="zh-CN" altLang="zh-CN" sz="1800" dirty="0"/>
              <a:t>(mutex)</a:t>
            </a:r>
            <a:br>
              <a:rPr lang="zh-CN" altLang="zh-CN" sz="1800" dirty="0"/>
            </a:br>
            <a:r>
              <a:rPr lang="zh-CN" altLang="zh-CN" sz="1800" dirty="0"/>
              <a:t>  </a:t>
            </a:r>
            <a:r>
              <a:rPr lang="zh-CN" altLang="zh-CN" sz="1800" dirty="0">
                <a:latin typeface="Times New Roman" panose="02020603050405020304" pitchFamily="18" charset="0"/>
              </a:rPr>
              <a:t>……</a:t>
            </a:r>
            <a:endParaRPr lang="zh-CN" altLang="zh-CN" sz="1800" dirty="0"/>
          </a:p>
        </p:txBody>
      </p:sp>
      <p:sp>
        <p:nvSpPr>
          <p:cNvPr id="2" name="Text Box 4"/>
          <p:cNvSpPr txBox="1"/>
          <p:nvPr/>
        </p:nvSpPr>
        <p:spPr>
          <a:xfrm>
            <a:off x="6999447" y="3505200"/>
            <a:ext cx="1677829" cy="2169825"/>
          </a:xfrm>
          <a:prstGeom prst="rect">
            <a:avLst/>
          </a:prstGeom>
          <a:solidFill>
            <a:srgbClr val="FFF3FF"/>
          </a:solidFill>
          <a:ln w="9525" cap="flat" cmpd="sng">
            <a:solidFill>
              <a:srgbClr val="7030A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i="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indent="0" eaLnBrk="1" hangingPunct="1">
              <a:spcBef>
                <a:spcPct val="50000"/>
              </a:spcBef>
              <a:buClrTx/>
              <a:buSzTx/>
              <a:buNone/>
            </a:pPr>
            <a:r>
              <a:rPr lang="zh-CN" altLang="zh-CN" sz="1800" dirty="0"/>
              <a:t>  </a:t>
            </a:r>
            <a:r>
              <a:rPr lang="en-US" altLang="zh-CN" sz="1800" dirty="0"/>
              <a:t>C</a:t>
            </a:r>
            <a:r>
              <a:rPr lang="zh-CN" altLang="en-US" sz="1800" dirty="0"/>
              <a:t>进程</a:t>
            </a:r>
            <a:br>
              <a:rPr lang="zh-CN" altLang="en-US" sz="1800" dirty="0"/>
            </a:br>
            <a:r>
              <a:rPr lang="zh-CN" altLang="en-US" sz="1800" dirty="0"/>
              <a:t>  </a:t>
            </a:r>
            <a:r>
              <a:rPr lang="zh-CN" altLang="zh-CN" sz="1800" dirty="0">
                <a:latin typeface="Times New Roman" panose="02020603050405020304" pitchFamily="18" charset="0"/>
              </a:rPr>
              <a:t>……</a:t>
            </a:r>
            <a:r>
              <a:rPr lang="zh-CN" altLang="zh-CN" sz="1800" dirty="0"/>
              <a:t>. </a:t>
            </a:r>
          </a:p>
          <a:p>
            <a:pPr marL="0" indent="0" eaLnBrk="1" hangingPunct="1">
              <a:spcBef>
                <a:spcPct val="50000"/>
              </a:spcBef>
              <a:buClrTx/>
              <a:buSzTx/>
              <a:buNone/>
            </a:pPr>
            <a:r>
              <a:rPr lang="zh-CN" altLang="zh-CN" sz="1800" dirty="0"/>
              <a:t>  </a:t>
            </a:r>
            <a:r>
              <a:rPr lang="en-US" altLang="zh-CN" sz="1800" dirty="0"/>
              <a:t>wait</a:t>
            </a:r>
            <a:r>
              <a:rPr lang="zh-CN" altLang="zh-CN" sz="1800" dirty="0"/>
              <a:t>(mutex)</a:t>
            </a:r>
          </a:p>
          <a:p>
            <a:pPr marL="0" indent="0" eaLnBrk="1" hangingPunct="1">
              <a:spcBef>
                <a:spcPct val="50000"/>
              </a:spcBef>
              <a:buClrTx/>
              <a:buSzTx/>
              <a:buNone/>
            </a:pPr>
            <a:r>
              <a:rPr lang="zh-CN" altLang="en-US" sz="1800" dirty="0"/>
              <a:t>  使用打印机</a:t>
            </a:r>
          </a:p>
          <a:p>
            <a:pPr marL="0" indent="0" eaLnBrk="1" hangingPunct="1">
              <a:spcBef>
                <a:spcPct val="50000"/>
              </a:spcBef>
              <a:buClrTx/>
              <a:buSzTx/>
              <a:buNone/>
            </a:pPr>
            <a:r>
              <a:rPr lang="zh-CN" altLang="zh-CN" sz="1800" dirty="0"/>
              <a:t>  </a:t>
            </a:r>
            <a:r>
              <a:rPr lang="en-US" altLang="zh-CN" sz="1800" dirty="0"/>
              <a:t>signal</a:t>
            </a:r>
            <a:r>
              <a:rPr lang="zh-CN" altLang="zh-CN" sz="1800" dirty="0"/>
              <a:t>(mutex)</a:t>
            </a:r>
            <a:br>
              <a:rPr lang="zh-CN" altLang="zh-CN" sz="1800" dirty="0"/>
            </a:br>
            <a:r>
              <a:rPr lang="zh-CN" altLang="zh-CN" sz="1800" dirty="0"/>
              <a:t>  </a:t>
            </a:r>
            <a:r>
              <a:rPr lang="zh-CN" altLang="zh-CN" sz="1800" dirty="0">
                <a:latin typeface="Times New Roman" panose="02020603050405020304" pitchFamily="18" charset="0"/>
              </a:rPr>
              <a:t>……</a:t>
            </a:r>
            <a:endParaRPr lang="zh-CN" altLang="zh-CN" sz="1800" dirty="0"/>
          </a:p>
        </p:txBody>
      </p:sp>
    </p:spTree>
    <p:extLst>
      <p:ext uri="{BB962C8B-B14F-4D97-AF65-F5344CB8AC3E}">
        <p14:creationId xmlns:p14="http://schemas.microsoft.com/office/powerpoint/2010/main" val="225440388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利用信号量实现前趋关系</a:t>
            </a:r>
          </a:p>
        </p:txBody>
      </p:sp>
      <p:sp>
        <p:nvSpPr>
          <p:cNvPr id="24" name="内容占位符 2"/>
          <p:cNvSpPr txBox="1"/>
          <p:nvPr/>
        </p:nvSpPr>
        <p:spPr>
          <a:xfrm>
            <a:off x="502444" y="1903571"/>
            <a:ext cx="4733449" cy="3794760"/>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7175" indent="-257175"/>
            <a:r>
              <a:rPr lang="zh-CN" altLang="en-US" sz="1950" dirty="0">
                <a:sym typeface="+mn-ea"/>
              </a:rPr>
              <a:t>假设进程</a:t>
            </a:r>
            <a:r>
              <a:rPr lang="en-US" altLang="zh-CN" sz="1950" dirty="0">
                <a:sym typeface="+mn-ea"/>
              </a:rPr>
              <a:t>P1</a:t>
            </a:r>
            <a:r>
              <a:rPr lang="zh-CN" altLang="en-US" sz="1950" dirty="0">
                <a:sym typeface="+mn-ea"/>
              </a:rPr>
              <a:t>中有代码</a:t>
            </a:r>
            <a:r>
              <a:rPr lang="en-US" altLang="zh-CN" sz="1950" dirty="0">
                <a:sym typeface="+mn-ea"/>
              </a:rPr>
              <a:t>S1</a:t>
            </a:r>
            <a:r>
              <a:rPr lang="zh-CN" altLang="en-US" sz="1950" dirty="0">
                <a:sym typeface="+mn-ea"/>
              </a:rPr>
              <a:t>，</a:t>
            </a:r>
            <a:r>
              <a:rPr lang="en-US" altLang="zh-CN" sz="1950" dirty="0">
                <a:sym typeface="+mn-ea"/>
              </a:rPr>
              <a:t>P2</a:t>
            </a:r>
            <a:r>
              <a:rPr lang="zh-CN" altLang="en-US" sz="1950" dirty="0">
                <a:sym typeface="+mn-ea"/>
              </a:rPr>
              <a:t>中有代码</a:t>
            </a:r>
            <a:r>
              <a:rPr lang="en-US" altLang="zh-CN" sz="1950" dirty="0">
                <a:sym typeface="+mn-ea"/>
              </a:rPr>
              <a:t>S2……</a:t>
            </a:r>
            <a:r>
              <a:rPr lang="zh-CN" altLang="en-US" sz="1950" dirty="0">
                <a:sym typeface="+mn-ea"/>
              </a:rPr>
              <a:t>进程</a:t>
            </a:r>
            <a:r>
              <a:rPr lang="en-US" altLang="zh-CN" sz="1950" dirty="0">
                <a:sym typeface="+mn-ea"/>
              </a:rPr>
              <a:t>P6</a:t>
            </a:r>
            <a:r>
              <a:rPr lang="zh-CN" altLang="en-US" sz="1950" dirty="0">
                <a:sym typeface="+mn-ea"/>
              </a:rPr>
              <a:t>中有代码</a:t>
            </a:r>
            <a:r>
              <a:rPr lang="en-US" altLang="zh-CN" sz="1950" dirty="0">
                <a:sym typeface="+mn-ea"/>
              </a:rPr>
              <a:t>S6</a:t>
            </a:r>
            <a:r>
              <a:rPr lang="zh-CN" altLang="en-US" sz="1950" dirty="0">
                <a:sym typeface="+mn-ea"/>
              </a:rPr>
              <a:t>。这些代码要求按照左侧</a:t>
            </a:r>
            <a:r>
              <a:rPr lang="zh-CN" altLang="en-US" sz="1950" dirty="0">
                <a:solidFill>
                  <a:srgbClr val="FF0000"/>
                </a:solidFill>
                <a:sym typeface="+mn-ea"/>
              </a:rPr>
              <a:t>前驱图</a:t>
            </a:r>
            <a:r>
              <a:rPr lang="zh-CN" altLang="en-US" sz="1950" dirty="0">
                <a:sym typeface="+mn-ea"/>
              </a:rPr>
              <a:t>顺序执行。</a:t>
            </a:r>
            <a:endParaRPr lang="en-US" altLang="zh-CN" sz="1950" dirty="0"/>
          </a:p>
          <a:p>
            <a:pPr marL="257175" indent="-257175"/>
            <a:r>
              <a:rPr lang="zh-CN" altLang="en-US" sz="1950" dirty="0">
                <a:sym typeface="+mn-ea"/>
              </a:rPr>
              <a:t>每一对前驱关系都是一个进程同步问题。</a:t>
            </a:r>
            <a:endParaRPr lang="en-US" altLang="zh-CN" sz="1950" dirty="0"/>
          </a:p>
          <a:p>
            <a:pPr marL="257175" indent="-257175"/>
            <a:endParaRPr lang="zh-CN" altLang="en-US" sz="1950" dirty="0">
              <a:sym typeface="+mn-ea"/>
            </a:endParaRPr>
          </a:p>
          <a:p>
            <a:pPr marL="257175" indent="-257175"/>
            <a:r>
              <a:rPr lang="zh-CN" altLang="en-US" sz="1950" dirty="0">
                <a:sym typeface="+mn-ea"/>
              </a:rPr>
              <a:t>为保证一前一后的同步操作：</a:t>
            </a:r>
            <a:endParaRPr lang="en-US" altLang="zh-CN" sz="1950" dirty="0"/>
          </a:p>
          <a:p>
            <a:pPr marL="257175" indent="-257175"/>
            <a:r>
              <a:rPr lang="en-US" altLang="zh-CN" sz="1950" dirty="0">
                <a:solidFill>
                  <a:srgbClr val="FF0000"/>
                </a:solidFill>
                <a:sym typeface="+mn-ea"/>
              </a:rPr>
              <a:t>1. </a:t>
            </a:r>
            <a:r>
              <a:rPr lang="zh-CN" altLang="en-US" sz="1950" dirty="0">
                <a:solidFill>
                  <a:srgbClr val="FF0000"/>
                </a:solidFill>
                <a:sym typeface="+mn-ea"/>
              </a:rPr>
              <a:t>为每一对前驱关系设一个同步信号量，初值为</a:t>
            </a:r>
            <a:r>
              <a:rPr lang="en-US" altLang="zh-CN" sz="1950" dirty="0">
                <a:solidFill>
                  <a:srgbClr val="FF0000"/>
                </a:solidFill>
                <a:sym typeface="+mn-ea"/>
              </a:rPr>
              <a:t>0</a:t>
            </a:r>
            <a:r>
              <a:rPr lang="zh-CN" altLang="en-US" sz="1950" dirty="0">
                <a:solidFill>
                  <a:srgbClr val="FF0000"/>
                </a:solidFill>
                <a:sym typeface="+mn-ea"/>
              </a:rPr>
              <a:t>；</a:t>
            </a:r>
            <a:endParaRPr lang="en-US" altLang="zh-CN" sz="1950" dirty="0">
              <a:solidFill>
                <a:srgbClr val="FF0000"/>
              </a:solidFill>
            </a:endParaRPr>
          </a:p>
          <a:p>
            <a:pPr marL="257175" indent="-257175"/>
            <a:r>
              <a:rPr lang="en-US" altLang="zh-CN" sz="1950" dirty="0">
                <a:solidFill>
                  <a:srgbClr val="FF0000"/>
                </a:solidFill>
                <a:sym typeface="+mn-ea"/>
              </a:rPr>
              <a:t>2. </a:t>
            </a:r>
            <a:r>
              <a:rPr lang="zh-CN" altLang="en-US" sz="1950" dirty="0">
                <a:solidFill>
                  <a:srgbClr val="FF0000"/>
                </a:solidFill>
                <a:sym typeface="+mn-ea"/>
              </a:rPr>
              <a:t>“前</a:t>
            </a:r>
            <a:r>
              <a:rPr lang="en-US" altLang="zh-CN" sz="1950" dirty="0">
                <a:solidFill>
                  <a:srgbClr val="FF0000"/>
                </a:solidFill>
                <a:sym typeface="+mn-ea"/>
              </a:rPr>
              <a:t>signal</a:t>
            </a:r>
            <a:r>
              <a:rPr lang="zh-CN" altLang="en-US" sz="1950" dirty="0">
                <a:solidFill>
                  <a:srgbClr val="FF0000"/>
                </a:solidFill>
                <a:sym typeface="+mn-ea"/>
              </a:rPr>
              <a:t>后</a:t>
            </a:r>
            <a:r>
              <a:rPr lang="en-US" altLang="zh-CN" sz="1950" dirty="0">
                <a:solidFill>
                  <a:srgbClr val="FF0000"/>
                </a:solidFill>
                <a:sym typeface="+mn-ea"/>
              </a:rPr>
              <a:t>wait</a:t>
            </a:r>
            <a:r>
              <a:rPr lang="zh-CN" altLang="en-US" sz="1950" dirty="0">
                <a:solidFill>
                  <a:srgbClr val="FF0000"/>
                </a:solidFill>
                <a:sym typeface="+mn-ea"/>
              </a:rPr>
              <a:t>”或“前</a:t>
            </a:r>
            <a:r>
              <a:rPr lang="en-US" altLang="zh-CN" sz="1950" dirty="0">
                <a:solidFill>
                  <a:srgbClr val="FF0000"/>
                </a:solidFill>
                <a:sym typeface="+mn-ea"/>
              </a:rPr>
              <a:t>V</a:t>
            </a:r>
            <a:r>
              <a:rPr lang="zh-CN" altLang="en-US" sz="1950" dirty="0">
                <a:solidFill>
                  <a:srgbClr val="FF0000"/>
                </a:solidFill>
                <a:sym typeface="+mn-ea"/>
              </a:rPr>
              <a:t>后</a:t>
            </a:r>
            <a:r>
              <a:rPr lang="en-US" altLang="zh-CN" sz="1950" dirty="0">
                <a:solidFill>
                  <a:srgbClr val="FF0000"/>
                </a:solidFill>
                <a:sym typeface="+mn-ea"/>
              </a:rPr>
              <a:t>P</a:t>
            </a:r>
            <a:r>
              <a:rPr lang="zh-CN" altLang="en-US" sz="1950" dirty="0">
                <a:solidFill>
                  <a:srgbClr val="FF0000"/>
                </a:solidFill>
                <a:sym typeface="+mn-ea"/>
              </a:rPr>
              <a:t>” 。</a:t>
            </a:r>
          </a:p>
        </p:txBody>
      </p:sp>
      <p:grpSp>
        <p:nvGrpSpPr>
          <p:cNvPr id="29" name="Group 3"/>
          <p:cNvGrpSpPr/>
          <p:nvPr/>
        </p:nvGrpSpPr>
        <p:grpSpPr bwMode="auto">
          <a:xfrm>
            <a:off x="5868426" y="1817726"/>
            <a:ext cx="2612312" cy="3416100"/>
            <a:chOff x="2832" y="1440"/>
            <a:chExt cx="1872" cy="2448"/>
          </a:xfrm>
        </p:grpSpPr>
        <p:sp>
          <p:nvSpPr>
            <p:cNvPr id="32" name="Oval 4"/>
            <p:cNvSpPr>
              <a:spLocks noChangeArrowheads="1"/>
            </p:cNvSpPr>
            <p:nvPr/>
          </p:nvSpPr>
          <p:spPr bwMode="auto">
            <a:xfrm>
              <a:off x="3840" y="1440"/>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a:latin typeface="Arial" panose="020B0604020202020204" pitchFamily="34" charset="0"/>
                </a:rPr>
                <a:t>S</a:t>
              </a:r>
              <a:r>
                <a:rPr lang="en-US" altLang="zh-CN" sz="1800" baseline="-25000">
                  <a:latin typeface="Arial" panose="020B0604020202020204" pitchFamily="34" charset="0"/>
                </a:rPr>
                <a:t>1</a:t>
              </a:r>
            </a:p>
          </p:txBody>
        </p:sp>
        <p:sp>
          <p:nvSpPr>
            <p:cNvPr id="33" name="Oval 5"/>
            <p:cNvSpPr>
              <a:spLocks noChangeArrowheads="1"/>
            </p:cNvSpPr>
            <p:nvPr/>
          </p:nvSpPr>
          <p:spPr bwMode="auto">
            <a:xfrm>
              <a:off x="3312" y="2112"/>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dirty="0">
                  <a:latin typeface="Arial" panose="020B0604020202020204" pitchFamily="34" charset="0"/>
                </a:rPr>
                <a:t>S</a:t>
              </a:r>
              <a:r>
                <a:rPr lang="en-US" altLang="zh-CN" sz="1800" baseline="-25000" dirty="0">
                  <a:latin typeface="Arial" panose="020B0604020202020204" pitchFamily="34" charset="0"/>
                </a:rPr>
                <a:t>2</a:t>
              </a:r>
            </a:p>
          </p:txBody>
        </p:sp>
        <p:sp>
          <p:nvSpPr>
            <p:cNvPr id="34" name="Oval 6"/>
            <p:cNvSpPr>
              <a:spLocks noChangeArrowheads="1"/>
            </p:cNvSpPr>
            <p:nvPr/>
          </p:nvSpPr>
          <p:spPr bwMode="auto">
            <a:xfrm>
              <a:off x="4368" y="2064"/>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a:latin typeface="Arial" panose="020B0604020202020204" pitchFamily="34" charset="0"/>
                </a:rPr>
                <a:t>S</a:t>
              </a:r>
              <a:r>
                <a:rPr lang="en-US" altLang="zh-CN" sz="1800" baseline="-25000">
                  <a:latin typeface="Arial" panose="020B0604020202020204" pitchFamily="34" charset="0"/>
                </a:rPr>
                <a:t>3</a:t>
              </a:r>
            </a:p>
          </p:txBody>
        </p:sp>
        <p:sp>
          <p:nvSpPr>
            <p:cNvPr id="35" name="Oval 7"/>
            <p:cNvSpPr>
              <a:spLocks noChangeArrowheads="1"/>
            </p:cNvSpPr>
            <p:nvPr/>
          </p:nvSpPr>
          <p:spPr bwMode="auto">
            <a:xfrm>
              <a:off x="2832" y="2736"/>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dirty="0">
                  <a:latin typeface="Arial" panose="020B0604020202020204" pitchFamily="34" charset="0"/>
                </a:rPr>
                <a:t>S</a:t>
              </a:r>
              <a:r>
                <a:rPr lang="en-US" altLang="zh-CN" sz="1800" baseline="-25000" dirty="0">
                  <a:latin typeface="Arial" panose="020B0604020202020204" pitchFamily="34" charset="0"/>
                </a:rPr>
                <a:t>4</a:t>
              </a:r>
            </a:p>
          </p:txBody>
        </p:sp>
        <p:sp>
          <p:nvSpPr>
            <p:cNvPr id="36" name="Oval 8"/>
            <p:cNvSpPr>
              <a:spLocks noChangeArrowheads="1"/>
            </p:cNvSpPr>
            <p:nvPr/>
          </p:nvSpPr>
          <p:spPr bwMode="auto">
            <a:xfrm>
              <a:off x="3744" y="2688"/>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dirty="0">
                  <a:latin typeface="Arial" panose="020B0604020202020204" pitchFamily="34" charset="0"/>
                </a:rPr>
                <a:t>S</a:t>
              </a:r>
              <a:r>
                <a:rPr lang="en-US" altLang="zh-CN" sz="1800" baseline="-25000" dirty="0">
                  <a:latin typeface="Arial" panose="020B0604020202020204" pitchFamily="34" charset="0"/>
                </a:rPr>
                <a:t>5</a:t>
              </a:r>
            </a:p>
          </p:txBody>
        </p:sp>
        <p:sp>
          <p:nvSpPr>
            <p:cNvPr id="37" name="Oval 9"/>
            <p:cNvSpPr>
              <a:spLocks noChangeArrowheads="1"/>
            </p:cNvSpPr>
            <p:nvPr/>
          </p:nvSpPr>
          <p:spPr bwMode="auto">
            <a:xfrm>
              <a:off x="3744" y="3552"/>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a:latin typeface="Arial" panose="020B0604020202020204" pitchFamily="34" charset="0"/>
                </a:rPr>
                <a:t>S</a:t>
              </a:r>
              <a:r>
                <a:rPr lang="en-US" altLang="zh-CN" sz="1800" baseline="-25000">
                  <a:latin typeface="Arial" panose="020B0604020202020204" pitchFamily="34" charset="0"/>
                </a:rPr>
                <a:t>6</a:t>
              </a:r>
            </a:p>
          </p:txBody>
        </p:sp>
        <p:cxnSp>
          <p:nvCxnSpPr>
            <p:cNvPr id="38" name="AutoShape 10"/>
            <p:cNvCxnSpPr>
              <a:cxnSpLocks noChangeShapeType="1"/>
              <a:stCxn id="32" idx="3"/>
              <a:endCxn id="33" idx="7"/>
            </p:cNvCxnSpPr>
            <p:nvPr/>
          </p:nvCxnSpPr>
          <p:spPr bwMode="auto">
            <a:xfrm flipH="1">
              <a:off x="3599" y="1736"/>
              <a:ext cx="290" cy="416"/>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AutoShape 11"/>
            <p:cNvCxnSpPr>
              <a:cxnSpLocks noChangeShapeType="1"/>
              <a:stCxn id="32" idx="5"/>
              <a:endCxn id="34" idx="1"/>
            </p:cNvCxnSpPr>
            <p:nvPr/>
          </p:nvCxnSpPr>
          <p:spPr bwMode="auto">
            <a:xfrm>
              <a:off x="4127" y="1736"/>
              <a:ext cx="290" cy="368"/>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12"/>
            <p:cNvCxnSpPr>
              <a:cxnSpLocks noChangeShapeType="1"/>
              <a:stCxn id="36" idx="4"/>
              <a:endCxn id="37" idx="0"/>
            </p:cNvCxnSpPr>
            <p:nvPr/>
          </p:nvCxnSpPr>
          <p:spPr bwMode="auto">
            <a:xfrm>
              <a:off x="3912" y="3033"/>
              <a:ext cx="0" cy="510"/>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13"/>
            <p:cNvCxnSpPr>
              <a:cxnSpLocks noChangeShapeType="1"/>
              <a:stCxn id="34" idx="4"/>
              <a:endCxn id="37" idx="7"/>
            </p:cNvCxnSpPr>
            <p:nvPr/>
          </p:nvCxnSpPr>
          <p:spPr bwMode="auto">
            <a:xfrm flipH="1">
              <a:off x="4031" y="2409"/>
              <a:ext cx="505" cy="1183"/>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AutoShape 14"/>
            <p:cNvCxnSpPr>
              <a:cxnSpLocks noChangeShapeType="1"/>
              <a:stCxn id="33" idx="3"/>
              <a:endCxn id="35" idx="7"/>
            </p:cNvCxnSpPr>
            <p:nvPr/>
          </p:nvCxnSpPr>
          <p:spPr bwMode="auto">
            <a:xfrm flipH="1">
              <a:off x="3119" y="2408"/>
              <a:ext cx="242" cy="368"/>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AutoShape 15"/>
            <p:cNvCxnSpPr>
              <a:cxnSpLocks noChangeShapeType="1"/>
              <a:stCxn id="35" idx="5"/>
              <a:endCxn id="37" idx="1"/>
            </p:cNvCxnSpPr>
            <p:nvPr/>
          </p:nvCxnSpPr>
          <p:spPr bwMode="auto">
            <a:xfrm>
              <a:off x="3119" y="3032"/>
              <a:ext cx="674" cy="560"/>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AutoShape 16"/>
            <p:cNvCxnSpPr>
              <a:cxnSpLocks noChangeShapeType="1"/>
              <a:stCxn id="33" idx="5"/>
              <a:endCxn id="36" idx="1"/>
            </p:cNvCxnSpPr>
            <p:nvPr/>
          </p:nvCxnSpPr>
          <p:spPr bwMode="auto">
            <a:xfrm>
              <a:off x="3599" y="2408"/>
              <a:ext cx="194" cy="320"/>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728611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3" end="3"/>
                                            </p:txEl>
                                          </p:spTgt>
                                        </p:tgtEl>
                                        <p:attrNameLst>
                                          <p:attrName>style.visibility</p:attrName>
                                        </p:attrNameLst>
                                      </p:cBhvr>
                                      <p:to>
                                        <p:strVal val="visible"/>
                                      </p:to>
                                    </p:set>
                                    <p:animEffect transition="in" filter="fade">
                                      <p:cBhvr>
                                        <p:cTn id="7" dur="500"/>
                                        <p:tgtEl>
                                          <p:spTgt spid="2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4">
                                            <p:txEl>
                                              <p:pRg st="4" end="4"/>
                                            </p:txEl>
                                          </p:spTgt>
                                        </p:tgtEl>
                                        <p:attrNameLst>
                                          <p:attrName>style.visibility</p:attrName>
                                        </p:attrNameLst>
                                      </p:cBhvr>
                                      <p:to>
                                        <p:strVal val="visible"/>
                                      </p:to>
                                    </p:set>
                                    <p:animEffect transition="in" filter="fade">
                                      <p:cBhvr>
                                        <p:cTn id="10" dur="500"/>
                                        <p:tgtEl>
                                          <p:spTgt spid="24">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xEl>
                                              <p:pRg st="5" end="5"/>
                                            </p:txEl>
                                          </p:spTgt>
                                        </p:tgtEl>
                                        <p:attrNameLst>
                                          <p:attrName>style.visibility</p:attrName>
                                        </p:attrNameLst>
                                      </p:cBhvr>
                                      <p:to>
                                        <p:strVal val="visible"/>
                                      </p:to>
                                    </p:set>
                                    <p:animEffect transition="in" filter="fade">
                                      <p:cBhvr>
                                        <p:cTn id="13" dur="500"/>
                                        <p:tgtEl>
                                          <p:spTgt spid="2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利用信号量实现前趋关系</a:t>
            </a:r>
          </a:p>
        </p:txBody>
      </p:sp>
      <p:sp>
        <p:nvSpPr>
          <p:cNvPr id="24" name="内容占位符 2"/>
          <p:cNvSpPr txBox="1"/>
          <p:nvPr/>
        </p:nvSpPr>
        <p:spPr>
          <a:xfrm>
            <a:off x="502444" y="1817726"/>
            <a:ext cx="5186798" cy="3794760"/>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spcBef>
                <a:spcPct val="35000"/>
              </a:spcBef>
              <a:buFont typeface="Wingdings 2" panose="05020102010507070707" pitchFamily="18" charset="2"/>
              <a:buNone/>
            </a:pPr>
            <a:r>
              <a:rPr lang="en-US" altLang="zh-CN" sz="1950">
                <a:solidFill>
                  <a:srgbClr val="FF0000"/>
                </a:solidFill>
              </a:rPr>
              <a:t>main</a:t>
            </a:r>
            <a:r>
              <a:rPr lang="en-US" altLang="zh-CN" sz="1950"/>
              <a:t>(){</a:t>
            </a:r>
          </a:p>
          <a:p>
            <a:pPr>
              <a:lnSpc>
                <a:spcPct val="70000"/>
              </a:lnSpc>
              <a:spcBef>
                <a:spcPct val="35000"/>
              </a:spcBef>
              <a:buFont typeface="Wingdings 2" panose="05020102010507070707" pitchFamily="18" charset="2"/>
              <a:buNone/>
            </a:pPr>
            <a:r>
              <a:rPr lang="en-US" altLang="zh-CN" sz="1950"/>
              <a:t>   Semaphore a,b,c,d,e,f,g; </a:t>
            </a:r>
          </a:p>
          <a:p>
            <a:pPr>
              <a:lnSpc>
                <a:spcPct val="70000"/>
              </a:lnSpc>
              <a:spcBef>
                <a:spcPct val="35000"/>
              </a:spcBef>
              <a:buFont typeface="Monotype Sorts" pitchFamily="2" charset="2"/>
              <a:buNone/>
            </a:pPr>
            <a:r>
              <a:rPr lang="en-US" altLang="zh-CN" sz="1950"/>
              <a:t>    a.value=0;b.value=0;c.value=0;</a:t>
            </a:r>
          </a:p>
          <a:p>
            <a:pPr>
              <a:lnSpc>
                <a:spcPct val="70000"/>
              </a:lnSpc>
              <a:spcBef>
                <a:spcPct val="35000"/>
              </a:spcBef>
              <a:buFont typeface="Monotype Sorts" pitchFamily="2" charset="2"/>
              <a:buNone/>
            </a:pPr>
            <a:r>
              <a:rPr lang="en-US" altLang="zh-CN" sz="1950"/>
              <a:t>    d.value=0;e.value=0;f.value=0;g.value=0;</a:t>
            </a:r>
          </a:p>
          <a:p>
            <a:pPr>
              <a:lnSpc>
                <a:spcPct val="70000"/>
              </a:lnSpc>
              <a:spcBef>
                <a:spcPct val="35000"/>
              </a:spcBef>
              <a:buFont typeface="Monotype Sorts" pitchFamily="2" charset="2"/>
              <a:buNone/>
            </a:pPr>
            <a:r>
              <a:rPr lang="en-US" altLang="zh-CN" sz="1950"/>
              <a:t>	cobegin</a:t>
            </a:r>
          </a:p>
          <a:p>
            <a:pPr>
              <a:lnSpc>
                <a:spcPct val="70000"/>
              </a:lnSpc>
              <a:spcBef>
                <a:spcPct val="35000"/>
              </a:spcBef>
              <a:buFont typeface="Monotype Sorts" pitchFamily="2" charset="2"/>
              <a:buNone/>
            </a:pPr>
            <a:r>
              <a:rPr lang="en-US" altLang="zh-CN" sz="1950"/>
              <a:t>		{ S1;signal(a);signal(b); }</a:t>
            </a:r>
          </a:p>
          <a:p>
            <a:pPr>
              <a:lnSpc>
                <a:spcPct val="70000"/>
              </a:lnSpc>
              <a:spcBef>
                <a:spcPct val="35000"/>
              </a:spcBef>
              <a:buFont typeface="Monotype Sorts" pitchFamily="2" charset="2"/>
              <a:buNone/>
            </a:pPr>
            <a:r>
              <a:rPr lang="en-US" altLang="zh-CN" sz="1950"/>
              <a:t>		{ wait(a);S2;signal(c) ;signal(d);}</a:t>
            </a:r>
          </a:p>
          <a:p>
            <a:pPr>
              <a:lnSpc>
                <a:spcPct val="70000"/>
              </a:lnSpc>
              <a:spcBef>
                <a:spcPct val="35000"/>
              </a:spcBef>
              <a:buFont typeface="Monotype Sorts" pitchFamily="2" charset="2"/>
              <a:buNone/>
            </a:pPr>
            <a:r>
              <a:rPr lang="en-US" altLang="zh-CN" sz="1950"/>
              <a:t>		{ wait(b);S3;signal(e); }</a:t>
            </a:r>
          </a:p>
          <a:p>
            <a:pPr>
              <a:lnSpc>
                <a:spcPct val="70000"/>
              </a:lnSpc>
              <a:spcBef>
                <a:spcPct val="35000"/>
              </a:spcBef>
              <a:buFont typeface="Monotype Sorts" pitchFamily="2" charset="2"/>
              <a:buNone/>
            </a:pPr>
            <a:r>
              <a:rPr lang="en-US" altLang="zh-CN" sz="1950"/>
              <a:t>		{ wait(c);S4;signal(f); }</a:t>
            </a:r>
          </a:p>
          <a:p>
            <a:pPr>
              <a:lnSpc>
                <a:spcPct val="70000"/>
              </a:lnSpc>
              <a:spcBef>
                <a:spcPct val="35000"/>
              </a:spcBef>
              <a:buFont typeface="Monotype Sorts" pitchFamily="2" charset="2"/>
              <a:buNone/>
            </a:pPr>
            <a:r>
              <a:rPr lang="en-US" altLang="zh-CN" sz="1950"/>
              <a:t>		{ wait(d);S5;signal(g); }</a:t>
            </a:r>
          </a:p>
          <a:p>
            <a:pPr>
              <a:lnSpc>
                <a:spcPct val="70000"/>
              </a:lnSpc>
              <a:spcBef>
                <a:spcPct val="35000"/>
              </a:spcBef>
              <a:buFont typeface="Monotype Sorts" pitchFamily="2" charset="2"/>
              <a:buNone/>
            </a:pPr>
            <a:r>
              <a:rPr lang="en-US" altLang="zh-CN" sz="1950"/>
              <a:t>		{ wait(e);wait(f);wait(g);S6; }</a:t>
            </a:r>
          </a:p>
          <a:p>
            <a:pPr>
              <a:lnSpc>
                <a:spcPct val="70000"/>
              </a:lnSpc>
              <a:spcBef>
                <a:spcPct val="35000"/>
              </a:spcBef>
              <a:buFont typeface="Monotype Sorts" pitchFamily="2" charset="2"/>
              <a:buNone/>
            </a:pPr>
            <a:r>
              <a:rPr lang="en-US" altLang="zh-CN" sz="1950"/>
              <a:t>	corend</a:t>
            </a:r>
          </a:p>
          <a:p>
            <a:pPr>
              <a:lnSpc>
                <a:spcPct val="70000"/>
              </a:lnSpc>
              <a:spcBef>
                <a:spcPct val="35000"/>
              </a:spcBef>
              <a:buFont typeface="Monotype Sorts" pitchFamily="2" charset="2"/>
              <a:buNone/>
            </a:pPr>
            <a:r>
              <a:rPr lang="en-US" altLang="zh-CN" sz="1950"/>
              <a:t>}</a:t>
            </a:r>
          </a:p>
          <a:p>
            <a:endParaRPr lang="zh-CN" altLang="en-US" sz="1950" dirty="0"/>
          </a:p>
        </p:txBody>
      </p:sp>
      <p:pic>
        <p:nvPicPr>
          <p:cNvPr id="6" name="图片 5"/>
          <p:cNvPicPr>
            <a:picLocks noChangeAspect="1"/>
          </p:cNvPicPr>
          <p:nvPr/>
        </p:nvPicPr>
        <p:blipFill>
          <a:blip r:embed="rId2"/>
          <a:stretch>
            <a:fillRect/>
          </a:stretch>
        </p:blipFill>
        <p:spPr>
          <a:xfrm>
            <a:off x="5501403" y="1693069"/>
            <a:ext cx="3192065" cy="3643313"/>
          </a:xfrm>
          <a:prstGeom prst="rect">
            <a:avLst/>
          </a:prstGeom>
          <a:noFill/>
          <a:ln w="9525">
            <a:noFill/>
          </a:ln>
        </p:spPr>
      </p:pic>
    </p:spTree>
    <p:extLst>
      <p:ext uri="{BB962C8B-B14F-4D97-AF65-F5344CB8AC3E}">
        <p14:creationId xmlns:p14="http://schemas.microsoft.com/office/powerpoint/2010/main" val="134322388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利用信号量实现进程同步</a:t>
            </a:r>
          </a:p>
        </p:txBody>
      </p:sp>
      <p:sp>
        <p:nvSpPr>
          <p:cNvPr id="18" name="î$ļíḋè"/>
          <p:cNvSpPr/>
          <p:nvPr/>
        </p:nvSpPr>
        <p:spPr>
          <a:xfrm>
            <a:off x="502444" y="1780617"/>
            <a:ext cx="5935068" cy="1105055"/>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800" dirty="0"/>
              <a:t>实现各种同步问题</a:t>
            </a:r>
          </a:p>
          <a:p>
            <a:pPr marL="257175" indent="-257175">
              <a:lnSpc>
                <a:spcPct val="120000"/>
              </a:lnSpc>
              <a:buClr>
                <a:srgbClr val="FF0000"/>
              </a:buClr>
              <a:buFont typeface="Wingdings" panose="05000000000000000000" pitchFamily="2" charset="2"/>
              <a:buChar char="Ø"/>
            </a:pPr>
            <a:r>
              <a:rPr lang="zh-CN" altLang="en-US" sz="1800" dirty="0"/>
              <a:t>例子：</a:t>
            </a:r>
            <a:r>
              <a:rPr lang="en-US" altLang="zh-CN" sz="1800" dirty="0"/>
              <a:t>P1</a:t>
            </a:r>
            <a:r>
              <a:rPr lang="zh-CN" altLang="en-US" sz="1800" dirty="0"/>
              <a:t>和 </a:t>
            </a:r>
            <a:r>
              <a:rPr lang="en-US" altLang="zh-CN" sz="1800" dirty="0"/>
              <a:t>P2 </a:t>
            </a:r>
            <a:r>
              <a:rPr lang="zh-CN" altLang="en-US" sz="1800" dirty="0"/>
              <a:t>需要代码段 </a:t>
            </a:r>
            <a:r>
              <a:rPr lang="en-US" altLang="zh-CN" sz="1800" dirty="0"/>
              <a:t>C1 </a:t>
            </a:r>
            <a:r>
              <a:rPr lang="zh-CN" altLang="en-US" sz="1800" dirty="0"/>
              <a:t>比</a:t>
            </a:r>
            <a:r>
              <a:rPr lang="en-US" altLang="zh-CN" sz="1800" dirty="0"/>
              <a:t>C2</a:t>
            </a:r>
            <a:r>
              <a:rPr lang="zh-CN" altLang="en-US" sz="1800" dirty="0"/>
              <a:t>先运行，</a:t>
            </a:r>
          </a:p>
          <a:p>
            <a:pPr>
              <a:lnSpc>
                <a:spcPct val="120000"/>
              </a:lnSpc>
              <a:buClr>
                <a:srgbClr val="FF0000"/>
              </a:buClr>
            </a:pPr>
            <a:r>
              <a:rPr lang="en-US" altLang="zh-CN" sz="1800" dirty="0"/>
              <a:t>    semaphores s=0; //</a:t>
            </a:r>
            <a:r>
              <a:rPr lang="zh-CN" altLang="en-US" sz="1800" dirty="0"/>
              <a:t>主要用于传递消息</a:t>
            </a:r>
          </a:p>
        </p:txBody>
      </p:sp>
      <p:sp>
        <p:nvSpPr>
          <p:cNvPr id="19" name="内容占位符 3"/>
          <p:cNvSpPr txBox="1"/>
          <p:nvPr/>
        </p:nvSpPr>
        <p:spPr>
          <a:xfrm>
            <a:off x="815991" y="2979580"/>
            <a:ext cx="2094310" cy="2166335"/>
          </a:xfrm>
          <a:prstGeom prst="rect">
            <a:avLst/>
          </a:prstGeom>
          <a:solidFill>
            <a:schemeClr val="accent1">
              <a:lumMod val="20000"/>
              <a:lumOff val="8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963" indent="0">
              <a:buNone/>
            </a:pPr>
            <a:r>
              <a:rPr lang="en-US" altLang="zh-CN" dirty="0"/>
              <a:t>P1()</a:t>
            </a:r>
          </a:p>
          <a:p>
            <a:pPr marL="80963" indent="0">
              <a:buNone/>
            </a:pPr>
            <a:r>
              <a:rPr lang="en-US" altLang="zh-CN" dirty="0"/>
              <a:t>{</a:t>
            </a:r>
          </a:p>
          <a:p>
            <a:pPr marL="80963" indent="0">
              <a:buNone/>
            </a:pPr>
            <a:r>
              <a:rPr lang="en-US" altLang="zh-CN" dirty="0"/>
              <a:t>    </a:t>
            </a:r>
            <a:r>
              <a:rPr lang="en-US" altLang="zh-CN" dirty="0">
                <a:solidFill>
                  <a:srgbClr val="FF0000"/>
                </a:solidFill>
              </a:rPr>
              <a:t>C1</a:t>
            </a:r>
            <a:r>
              <a:rPr lang="en-US" altLang="zh-CN" dirty="0"/>
              <a:t>;</a:t>
            </a:r>
          </a:p>
          <a:p>
            <a:pPr marL="80963" indent="0">
              <a:buNone/>
            </a:pPr>
            <a:r>
              <a:rPr lang="en-US" altLang="zh-CN" dirty="0"/>
              <a:t>    signal(s);</a:t>
            </a:r>
          </a:p>
          <a:p>
            <a:pPr marL="80963" indent="0">
              <a:buNone/>
            </a:pPr>
            <a:r>
              <a:rPr lang="en-US" altLang="zh-CN" dirty="0"/>
              <a:t>    …</a:t>
            </a:r>
          </a:p>
          <a:p>
            <a:pPr marL="80963" indent="0">
              <a:buNone/>
            </a:pPr>
            <a:r>
              <a:rPr lang="en-US" altLang="zh-CN" dirty="0"/>
              <a:t>}</a:t>
            </a:r>
            <a:endParaRPr lang="zh-CN" altLang="en-US" dirty="0"/>
          </a:p>
        </p:txBody>
      </p:sp>
      <p:sp>
        <p:nvSpPr>
          <p:cNvPr id="21" name="内容占位符 4"/>
          <p:cNvSpPr txBox="1"/>
          <p:nvPr/>
        </p:nvSpPr>
        <p:spPr>
          <a:xfrm>
            <a:off x="3096276" y="2979580"/>
            <a:ext cx="2213134" cy="2166335"/>
          </a:xfrm>
          <a:prstGeom prst="rect">
            <a:avLst/>
          </a:prstGeom>
          <a:solidFill>
            <a:schemeClr val="accent1">
              <a:lumMod val="20000"/>
              <a:lumOff val="8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963" indent="0">
              <a:buNone/>
              <a:defRPr/>
            </a:pPr>
            <a:r>
              <a:rPr lang="en-US" altLang="zh-CN"/>
              <a:t>P2()</a:t>
            </a:r>
          </a:p>
          <a:p>
            <a:pPr marL="80963" indent="0">
              <a:buNone/>
              <a:defRPr/>
            </a:pPr>
            <a:r>
              <a:rPr lang="en-US" altLang="zh-CN"/>
              <a:t>{</a:t>
            </a:r>
          </a:p>
          <a:p>
            <a:pPr marL="80963" indent="0">
              <a:buNone/>
              <a:defRPr/>
            </a:pPr>
            <a:r>
              <a:rPr lang="en-US" altLang="zh-CN"/>
              <a:t>    …</a:t>
            </a:r>
          </a:p>
          <a:p>
            <a:pPr marL="80963" indent="0">
              <a:buNone/>
              <a:defRPr/>
            </a:pPr>
            <a:r>
              <a:rPr lang="en-US" altLang="zh-CN"/>
              <a:t>    wait(s); </a:t>
            </a:r>
          </a:p>
          <a:p>
            <a:pPr marL="80963" indent="0">
              <a:buNone/>
              <a:defRPr/>
            </a:pPr>
            <a:r>
              <a:rPr lang="en-US" altLang="zh-CN"/>
              <a:t>    </a:t>
            </a:r>
            <a:r>
              <a:rPr lang="en-US" altLang="zh-CN">
                <a:solidFill>
                  <a:srgbClr val="FF0000"/>
                </a:solidFill>
              </a:rPr>
              <a:t>C2</a:t>
            </a:r>
            <a:r>
              <a:rPr lang="en-US" altLang="zh-CN"/>
              <a:t>;</a:t>
            </a:r>
          </a:p>
          <a:p>
            <a:pPr marL="80963" indent="0">
              <a:buNone/>
              <a:defRPr/>
            </a:pPr>
            <a:r>
              <a:rPr lang="en-US" altLang="zh-CN"/>
              <a:t>}</a:t>
            </a:r>
            <a:endParaRPr lang="zh-CN" altLang="en-US"/>
          </a:p>
          <a:p>
            <a:pPr marL="80963" indent="0">
              <a:defRPr/>
            </a:pPr>
            <a:endParaRPr lang="zh-CN" altLang="en-US" dirty="0"/>
          </a:p>
        </p:txBody>
      </p:sp>
      <p:sp>
        <p:nvSpPr>
          <p:cNvPr id="22" name="圆角矩形 21"/>
          <p:cNvSpPr/>
          <p:nvPr/>
        </p:nvSpPr>
        <p:spPr bwMode="auto">
          <a:xfrm>
            <a:off x="6153959" y="2979580"/>
            <a:ext cx="1892117" cy="510778"/>
          </a:xfrm>
          <a:prstGeom prst="roundRect">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wrap="square">
            <a:spAutoFit/>
          </a:bodyPr>
          <a:lstStyle/>
          <a:p>
            <a:pPr algn="ctr">
              <a:defRPr/>
            </a:pPr>
            <a:r>
              <a:rPr lang="en-US" altLang="zh-CN" dirty="0">
                <a:solidFill>
                  <a:schemeClr val="tx1"/>
                </a:solidFill>
              </a:rPr>
              <a:t>C1</a:t>
            </a:r>
            <a:endParaRPr lang="zh-CN" altLang="en-US" dirty="0">
              <a:solidFill>
                <a:schemeClr val="tx1"/>
              </a:solidFill>
            </a:endParaRPr>
          </a:p>
        </p:txBody>
      </p:sp>
      <p:sp>
        <p:nvSpPr>
          <p:cNvPr id="23" name="圆角矩形 22"/>
          <p:cNvSpPr/>
          <p:nvPr/>
        </p:nvSpPr>
        <p:spPr bwMode="auto">
          <a:xfrm>
            <a:off x="6153959" y="4324987"/>
            <a:ext cx="1892117" cy="510778"/>
          </a:xfrm>
          <a:prstGeom prst="roundRect">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wrap="square">
            <a:spAutoFit/>
          </a:bodyPr>
          <a:lstStyle/>
          <a:p>
            <a:pPr algn="ctr">
              <a:defRPr/>
            </a:pPr>
            <a:r>
              <a:rPr lang="en-US" altLang="zh-CN" dirty="0">
                <a:solidFill>
                  <a:schemeClr val="tx1"/>
                </a:solidFill>
              </a:rPr>
              <a:t>C2</a:t>
            </a:r>
            <a:endParaRPr lang="zh-CN" altLang="en-US" dirty="0">
              <a:solidFill>
                <a:schemeClr val="tx1"/>
              </a:solidFill>
            </a:endParaRPr>
          </a:p>
        </p:txBody>
      </p:sp>
      <p:cxnSp>
        <p:nvCxnSpPr>
          <p:cNvPr id="25" name="直接箭头连接符 3"/>
          <p:cNvCxnSpPr>
            <a:cxnSpLocks noChangeShapeType="1"/>
            <a:stCxn id="22" idx="2"/>
            <a:endCxn id="23" idx="0"/>
          </p:cNvCxnSpPr>
          <p:nvPr/>
        </p:nvCxnSpPr>
        <p:spPr bwMode="auto">
          <a:xfrm>
            <a:off x="7100018" y="3490358"/>
            <a:ext cx="0" cy="834629"/>
          </a:xfrm>
          <a:prstGeom prst="straightConnector1">
            <a:avLst/>
          </a:prstGeom>
          <a:noFill/>
          <a:ln w="28575" algn="ctr">
            <a:solidFill>
              <a:schemeClr val="tx1"/>
            </a:solidFill>
            <a:round/>
            <a:tailEnd type="arrow" w="med" len="med"/>
          </a:ln>
          <a:extLst>
            <a:ext uri="{909E8E84-426E-40DD-AFC4-6F175D3DCCD1}">
              <a14:hiddenFill xmlns:a14="http://schemas.microsoft.com/office/drawing/2010/main">
                <a:noFill/>
              </a14:hiddenFill>
            </a:ext>
          </a:extLst>
        </p:spPr>
      </p:cxnSp>
      <p:sp>
        <p:nvSpPr>
          <p:cNvPr id="2" name="文本框 1"/>
          <p:cNvSpPr txBox="1"/>
          <p:nvPr/>
        </p:nvSpPr>
        <p:spPr>
          <a:xfrm>
            <a:off x="5986463" y="1992154"/>
            <a:ext cx="2257425" cy="392415"/>
          </a:xfrm>
          <a:prstGeom prst="rect">
            <a:avLst/>
          </a:prstGeom>
          <a:noFill/>
          <a:ln>
            <a:solidFill>
              <a:srgbClr val="7030A0"/>
            </a:solidFill>
          </a:ln>
        </p:spPr>
        <p:txBody>
          <a:bodyPr wrap="square" rtlCol="0" anchor="t">
            <a:spAutoFit/>
          </a:bodyPr>
          <a:lstStyle/>
          <a:p>
            <a:r>
              <a:rPr lang="zh-CN" altLang="en-US" sz="1950" dirty="0">
                <a:solidFill>
                  <a:srgbClr val="FF0000"/>
                </a:solidFill>
                <a:sym typeface="+mn-ea"/>
              </a:rPr>
              <a:t>“前</a:t>
            </a:r>
            <a:r>
              <a:rPr lang="en-US" altLang="zh-CN" sz="1950" dirty="0">
                <a:solidFill>
                  <a:srgbClr val="FF0000"/>
                </a:solidFill>
                <a:sym typeface="+mn-ea"/>
              </a:rPr>
              <a:t>signal</a:t>
            </a:r>
            <a:r>
              <a:rPr lang="zh-CN" altLang="en-US" sz="1950" dirty="0">
                <a:solidFill>
                  <a:srgbClr val="FF0000"/>
                </a:solidFill>
                <a:sym typeface="+mn-ea"/>
              </a:rPr>
              <a:t>后</a:t>
            </a:r>
            <a:r>
              <a:rPr lang="en-US" altLang="zh-CN" sz="1950" dirty="0">
                <a:solidFill>
                  <a:srgbClr val="FF0000"/>
                </a:solidFill>
                <a:sym typeface="+mn-ea"/>
              </a:rPr>
              <a:t>wait</a:t>
            </a:r>
            <a:r>
              <a:rPr lang="zh-CN" altLang="en-US" sz="1950" dirty="0">
                <a:solidFill>
                  <a:srgbClr val="FF0000"/>
                </a:solidFill>
                <a:sym typeface="+mn-ea"/>
              </a:rPr>
              <a:t>”</a:t>
            </a:r>
          </a:p>
        </p:txBody>
      </p:sp>
    </p:spTree>
    <p:extLst>
      <p:ext uri="{BB962C8B-B14F-4D97-AF65-F5344CB8AC3E}">
        <p14:creationId xmlns:p14="http://schemas.microsoft.com/office/powerpoint/2010/main" val="99064649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p:cNvSpPr>
          <p:nvPr>
            <p:ph type="title"/>
          </p:nvPr>
        </p:nvSpPr>
        <p:spPr>
          <a:xfrm>
            <a:off x="1631157" y="977741"/>
            <a:ext cx="5569744" cy="487680"/>
          </a:xfrm>
        </p:spPr>
        <p:txBody>
          <a:bodyPr vert="horz" wrap="square" lIns="68580" tIns="34290" rIns="68580" bIns="34290" anchor="b" anchorCtr="0">
            <a:normAutofit fontScale="90000"/>
          </a:bodyPr>
          <a:lstStyle/>
          <a:p>
            <a:pPr eaLnBrk="1" hangingPunct="1"/>
            <a:r>
              <a:rPr lang="zh-CN" altLang="en-US" sz="2700" b="1" dirty="0"/>
              <a:t>练习</a:t>
            </a:r>
          </a:p>
        </p:txBody>
      </p:sp>
      <p:pic>
        <p:nvPicPr>
          <p:cNvPr id="76803" name="图片 4" descr="E:\wjx\1. 教学\2.OS\5.OS习题\3. 考研真题-研究生整理\2022年46题.PNG"/>
          <p:cNvPicPr>
            <a:picLocks noChangeAspect="1"/>
          </p:cNvPicPr>
          <p:nvPr/>
        </p:nvPicPr>
        <p:blipFill>
          <a:blip r:embed="rId3"/>
          <a:stretch>
            <a:fillRect/>
          </a:stretch>
        </p:blipFill>
        <p:spPr>
          <a:xfrm>
            <a:off x="1250156" y="1529239"/>
            <a:ext cx="6616304" cy="2224088"/>
          </a:xfrm>
          <a:prstGeom prst="rect">
            <a:avLst/>
          </a:prstGeom>
          <a:noFill/>
          <a:ln w="9525">
            <a:noFill/>
          </a:ln>
        </p:spPr>
      </p:pic>
      <p:pic>
        <p:nvPicPr>
          <p:cNvPr id="6" name="图片 5" descr="E:\wjx\1. 教学\2.OS\5.OS习题\3. 考研真题-研究生整理\2022年46题答案.PNG"/>
          <p:cNvPicPr>
            <a:picLocks noChangeAspect="1"/>
          </p:cNvPicPr>
          <p:nvPr/>
        </p:nvPicPr>
        <p:blipFill>
          <a:blip r:embed="rId4"/>
          <a:stretch>
            <a:fillRect/>
          </a:stretch>
        </p:blipFill>
        <p:spPr>
          <a:xfrm>
            <a:off x="1358742" y="3429476"/>
            <a:ext cx="6346031" cy="2334578"/>
          </a:xfrm>
          <a:prstGeom prst="rect">
            <a:avLst/>
          </a:prstGeom>
          <a:noFill/>
          <a:ln w="9525">
            <a:noFill/>
          </a:ln>
        </p:spPr>
      </p:pic>
      <p:sp>
        <p:nvSpPr>
          <p:cNvPr id="3" name="椭圆 2"/>
          <p:cNvSpPr/>
          <p:nvPr/>
        </p:nvSpPr>
        <p:spPr>
          <a:xfrm>
            <a:off x="3654028" y="2491264"/>
            <a:ext cx="377429" cy="344091"/>
          </a:xfrm>
          <a:prstGeom prst="ellipse">
            <a:avLst/>
          </a:prstGeom>
          <a:noFill/>
          <a:ln w="28575">
            <a:solidFill>
              <a:srgbClr val="3333CC"/>
            </a:solidFill>
          </a:ln>
        </p:spPr>
        <p:txBody>
          <a:bodyPr>
            <a:scene3d>
              <a:camera prst="orthographicFront"/>
              <a:lightRig rig="threePt" dir="t"/>
            </a:scene3d>
            <a:sp3d extrusionH="57150">
              <a:bevelT w="38100" h="38100"/>
            </a:sp3d>
          </a:bodyPr>
          <a:lstStyle/>
          <a:p>
            <a:pPr defTabSz="685800">
              <a:defRPr/>
            </a:pPr>
            <a:endParaRPr lang="zh-CN" altLang="en-US" sz="1800">
              <a:ln>
                <a:solidFill>
                  <a:srgbClr val="009900"/>
                </a:solidFill>
              </a:ln>
              <a:effectLst>
                <a:glow rad="228600">
                  <a:schemeClr val="accent4">
                    <a:satMod val="175000"/>
                    <a:alpha val="40000"/>
                  </a:schemeClr>
                </a:glow>
                <a:outerShdw blurRad="50800" dist="38100" dir="2700000" algn="tl" rotWithShape="0">
                  <a:prstClr val="black">
                    <a:alpha val="40000"/>
                  </a:prstClr>
                </a:outerShdw>
              </a:effectLst>
            </a:endParaRPr>
          </a:p>
        </p:txBody>
      </p:sp>
      <p:sp>
        <p:nvSpPr>
          <p:cNvPr id="8" name="椭圆 7"/>
          <p:cNvSpPr/>
          <p:nvPr/>
        </p:nvSpPr>
        <p:spPr>
          <a:xfrm>
            <a:off x="5112544" y="2835355"/>
            <a:ext cx="377429" cy="323850"/>
          </a:xfrm>
          <a:prstGeom prst="ellipse">
            <a:avLst/>
          </a:prstGeom>
          <a:noFill/>
          <a:ln w="28575">
            <a:solidFill>
              <a:srgbClr val="3333CC"/>
            </a:solidFill>
          </a:ln>
        </p:spPr>
        <p:txBody>
          <a:bodyPr>
            <a:scene3d>
              <a:camera prst="orthographicFront"/>
              <a:lightRig rig="threePt" dir="t"/>
            </a:scene3d>
            <a:sp3d extrusionH="57150">
              <a:bevelT w="38100" h="38100"/>
            </a:sp3d>
          </a:bodyPr>
          <a:lstStyle/>
          <a:p>
            <a:pPr defTabSz="685800">
              <a:defRPr/>
            </a:pPr>
            <a:endParaRPr lang="zh-CN" altLang="en-US" sz="1800">
              <a:ln>
                <a:solidFill>
                  <a:srgbClr val="009900"/>
                </a:solidFill>
              </a:ln>
              <a:effectLst>
                <a:glow rad="228600">
                  <a:schemeClr val="accent4">
                    <a:satMod val="175000"/>
                    <a:alpha val="40000"/>
                  </a:schemeClr>
                </a:glow>
                <a:outerShdw blurRad="50800" dist="38100" dir="2700000" algn="tl" rotWithShape="0">
                  <a:prstClr val="black">
                    <a:alpha val="40000"/>
                  </a:prstClr>
                </a:outerShdw>
              </a:effectLst>
            </a:endParaRPr>
          </a:p>
        </p:txBody>
      </p:sp>
      <p:sp>
        <p:nvSpPr>
          <p:cNvPr id="9" name="椭圆 8"/>
          <p:cNvSpPr/>
          <p:nvPr/>
        </p:nvSpPr>
        <p:spPr>
          <a:xfrm>
            <a:off x="4625579" y="3100864"/>
            <a:ext cx="378619" cy="323850"/>
          </a:xfrm>
          <a:prstGeom prst="ellipse">
            <a:avLst/>
          </a:prstGeom>
          <a:noFill/>
          <a:ln w="28575">
            <a:solidFill>
              <a:srgbClr val="3333CC"/>
            </a:solidFill>
          </a:ln>
        </p:spPr>
        <p:txBody>
          <a:bodyPr>
            <a:scene3d>
              <a:camera prst="orthographicFront"/>
              <a:lightRig rig="threePt" dir="t"/>
            </a:scene3d>
            <a:sp3d extrusionH="57150">
              <a:bevelT w="38100" h="38100"/>
            </a:sp3d>
          </a:bodyPr>
          <a:lstStyle/>
          <a:p>
            <a:pPr defTabSz="685800">
              <a:defRPr/>
            </a:pPr>
            <a:endParaRPr lang="zh-CN" altLang="en-US" sz="1800">
              <a:ln>
                <a:solidFill>
                  <a:srgbClr val="009900"/>
                </a:solidFill>
              </a:ln>
              <a:effectLst>
                <a:glow rad="228600">
                  <a:schemeClr val="accent4">
                    <a:satMod val="175000"/>
                    <a:alpha val="40000"/>
                  </a:schemeClr>
                </a:glow>
                <a:outerShdw blurRad="50800" dist="38100" dir="2700000" algn="tl" rotWithShape="0">
                  <a:prstClr val="black">
                    <a:alpha val="40000"/>
                  </a:prstClr>
                </a:outerShdw>
              </a:effectLst>
            </a:endParaRPr>
          </a:p>
        </p:txBody>
      </p:sp>
      <p:sp>
        <p:nvSpPr>
          <p:cNvPr id="13" name="右箭头 12"/>
          <p:cNvSpPr/>
          <p:nvPr/>
        </p:nvSpPr>
        <p:spPr>
          <a:xfrm rot="1976041">
            <a:off x="3993357" y="2753202"/>
            <a:ext cx="294085" cy="178594"/>
          </a:xfrm>
          <a:prstGeom prst="rightArrow">
            <a:avLst>
              <a:gd name="adj1" fmla="val 50000"/>
              <a:gd name="adj2" fmla="val 50109"/>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i="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indent="0" eaLnBrk="1" hangingPunct="1">
              <a:spcBef>
                <a:spcPct val="0"/>
              </a:spcBef>
              <a:buClrTx/>
              <a:buSzTx/>
              <a:buNone/>
            </a:pPr>
            <a:endParaRPr lang="zh-CN" altLang="en-US" sz="1800" i="1" dirty="0">
              <a:latin typeface="Times New Roman" panose="02020603050405020304" pitchFamily="18" charset="0"/>
            </a:endParaRPr>
          </a:p>
        </p:txBody>
      </p:sp>
      <p:sp>
        <p:nvSpPr>
          <p:cNvPr id="14" name="右箭头 13"/>
          <p:cNvSpPr/>
          <p:nvPr/>
        </p:nvSpPr>
        <p:spPr>
          <a:xfrm rot="2014904">
            <a:off x="4361260" y="3023474"/>
            <a:ext cx="294084" cy="178594"/>
          </a:xfrm>
          <a:prstGeom prst="rightArrow">
            <a:avLst>
              <a:gd name="adj1" fmla="val 50000"/>
              <a:gd name="adj2" fmla="val 50108"/>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i="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indent="0" eaLnBrk="1" hangingPunct="1">
              <a:spcBef>
                <a:spcPct val="0"/>
              </a:spcBef>
              <a:buClrTx/>
              <a:buSzTx/>
              <a:buNone/>
            </a:pPr>
            <a:endParaRPr lang="zh-CN" altLang="en-US" sz="1800" i="1" dirty="0">
              <a:latin typeface="Times New Roman" panose="02020603050405020304" pitchFamily="18" charset="0"/>
            </a:endParaRPr>
          </a:p>
        </p:txBody>
      </p:sp>
    </p:spTree>
    <p:extLst>
      <p:ext uri="{BB962C8B-B14F-4D97-AF65-F5344CB8AC3E}">
        <p14:creationId xmlns:p14="http://schemas.microsoft.com/office/powerpoint/2010/main" val="417805088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8" grpId="0" bldLvl="0" animBg="1"/>
      <p:bldP spid="9" grpId="0" bldLvl="0" animBg="1"/>
      <p:bldP spid="13" grpId="0" bldLvl="0" animBg="1"/>
      <p:bldP spid="14" grpId="0" bldLvl="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1" name="图片 1"/>
          <p:cNvPicPr>
            <a:picLocks noChangeAspect="1"/>
          </p:cNvPicPr>
          <p:nvPr/>
        </p:nvPicPr>
        <p:blipFill>
          <a:blip r:embed="rId3"/>
          <a:stretch>
            <a:fillRect/>
          </a:stretch>
        </p:blipFill>
        <p:spPr>
          <a:xfrm>
            <a:off x="854392" y="1485424"/>
            <a:ext cx="7721918" cy="809625"/>
          </a:xfrm>
          <a:prstGeom prst="rect">
            <a:avLst/>
          </a:prstGeom>
          <a:noFill/>
          <a:ln w="9525">
            <a:noFill/>
          </a:ln>
        </p:spPr>
      </p:pic>
      <p:pic>
        <p:nvPicPr>
          <p:cNvPr id="2" name="图片 1"/>
          <p:cNvPicPr>
            <a:picLocks noChangeAspect="1"/>
          </p:cNvPicPr>
          <p:nvPr/>
        </p:nvPicPr>
        <p:blipFill>
          <a:blip r:embed="rId4"/>
          <a:stretch>
            <a:fillRect/>
          </a:stretch>
        </p:blipFill>
        <p:spPr>
          <a:xfrm>
            <a:off x="1452563" y="2403396"/>
            <a:ext cx="6211491" cy="3406378"/>
          </a:xfrm>
          <a:prstGeom prst="rect">
            <a:avLst/>
          </a:prstGeom>
          <a:noFill/>
          <a:ln w="9525">
            <a:noFill/>
          </a:ln>
        </p:spPr>
      </p:pic>
      <p:sp>
        <p:nvSpPr>
          <p:cNvPr id="76802" name="Rectangle 3"/>
          <p:cNvSpPr>
            <a:spLocks noGrp="1"/>
          </p:cNvSpPr>
          <p:nvPr>
            <p:ph type="title"/>
          </p:nvPr>
        </p:nvSpPr>
        <p:spPr>
          <a:xfrm>
            <a:off x="1631157" y="977741"/>
            <a:ext cx="5569744" cy="487680"/>
          </a:xfrm>
        </p:spPr>
        <p:txBody>
          <a:bodyPr vert="horz" wrap="square" lIns="68580" tIns="34290" rIns="68580" bIns="34290" anchor="b" anchorCtr="0">
            <a:normAutofit fontScale="90000"/>
          </a:bodyPr>
          <a:lstStyle/>
          <a:p>
            <a:pPr eaLnBrk="1" hangingPunct="1"/>
            <a:r>
              <a:rPr lang="zh-CN" altLang="en-US" sz="2700" b="1" dirty="0"/>
              <a:t>练习</a:t>
            </a:r>
          </a:p>
        </p:txBody>
      </p:sp>
    </p:spTree>
    <p:extLst>
      <p:ext uri="{BB962C8B-B14F-4D97-AF65-F5344CB8AC3E}">
        <p14:creationId xmlns:p14="http://schemas.microsoft.com/office/powerpoint/2010/main" val="121533643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191" y="858441"/>
          <a:ext cx="1191" cy="1191"/>
        </p:xfrm>
        <a:graphic>
          <a:graphicData uri="http://schemas.openxmlformats.org/presentationml/2006/ole">
            <mc:AlternateContent xmlns:mc="http://schemas.openxmlformats.org/markup-compatibility/2006">
              <mc:Choice xmlns:v="urn:schemas-microsoft-com:vml" Requires="v">
                <p:oleObj name="think-cell Slide" r:id="rId4" imgW="9525" imgH="9525" progId="TCLayout.ActiveDocument.1">
                  <p:embed/>
                </p:oleObj>
              </mc:Choice>
              <mc:Fallback>
                <p:oleObj name="think-cell Slide" r:id="rId4" imgW="9525" imgH="9525" progId="TCLayout.ActiveDocument.1">
                  <p:embed/>
                  <p:pic>
                    <p:nvPicPr>
                      <p:cNvPr id="3" name="对象 2" hidden="1"/>
                      <p:cNvPicPr/>
                      <p:nvPr/>
                    </p:nvPicPr>
                    <p:blipFill>
                      <a:blip r:embed="rId5"/>
                      <a:stretch>
                        <a:fillRect/>
                      </a:stretch>
                    </p:blipFill>
                    <p:spPr>
                      <a:xfrm>
                        <a:off x="1191" y="858441"/>
                        <a:ext cx="1191" cy="1191"/>
                      </a:xfrm>
                      <a:prstGeom prst="rect">
                        <a:avLst/>
                      </a:prstGeom>
                    </p:spPr>
                  </p:pic>
                </p:oleObj>
              </mc:Fallback>
            </mc:AlternateContent>
          </a:graphicData>
        </a:graphic>
      </p:graphicFrame>
      <p:sp>
        <p:nvSpPr>
          <p:cNvPr id="2" name="矩形 1" hidden="1"/>
          <p:cNvSpPr/>
          <p:nvPr>
            <p:custDataLst>
              <p:tags r:id="rId2"/>
            </p:custDataLst>
          </p:nvPr>
        </p:nvSpPr>
        <p:spPr>
          <a:xfrm>
            <a:off x="0" y="857250"/>
            <a:ext cx="119063" cy="119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3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502444" y="1846841"/>
            <a:ext cx="8137922" cy="2352675"/>
          </a:xfrm>
        </p:spPr>
        <p:txBody>
          <a:bodyPr>
            <a:normAutofit/>
          </a:bodyPr>
          <a:lstStyle/>
          <a:p>
            <a:r>
              <a:rPr lang="zh-CN" altLang="en-US" sz="3600" dirty="0"/>
              <a:t>第</a:t>
            </a:r>
            <a:r>
              <a:rPr lang="en-US" altLang="zh-CN" sz="3600" dirty="0"/>
              <a:t>4</a:t>
            </a:r>
            <a:r>
              <a:rPr lang="zh-CN" altLang="en-US" sz="3600" dirty="0"/>
              <a:t>章 进程同步</a:t>
            </a:r>
            <a:endParaRPr lang="zh-CN" altLang="en-US" sz="1500" dirty="0"/>
          </a:p>
        </p:txBody>
      </p:sp>
      <p:sp>
        <p:nvSpPr>
          <p:cNvPr id="29" name="任意多边形: 形状 28"/>
          <p:cNvSpPr/>
          <p:nvPr/>
        </p:nvSpPr>
        <p:spPr>
          <a:xfrm>
            <a:off x="8226219" y="1344035"/>
            <a:ext cx="414147" cy="2922156"/>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5" name="图片 2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458389" y="1223962"/>
            <a:ext cx="473870" cy="473870"/>
          </a:xfrm>
          <a:prstGeom prst="rect">
            <a:avLst/>
          </a:prstGeom>
        </p:spPr>
      </p:pic>
      <p:sp>
        <p:nvSpPr>
          <p:cNvPr id="11" name="矩形 10"/>
          <p:cNvSpPr/>
          <p:nvPr/>
        </p:nvSpPr>
        <p:spPr>
          <a:xfrm>
            <a:off x="906771" y="1299314"/>
            <a:ext cx="3575018" cy="346249"/>
          </a:xfrm>
          <a:prstGeom prst="rect">
            <a:avLst/>
          </a:prstGeom>
        </p:spPr>
        <p:txBody>
          <a:bodyPr wrap="none">
            <a:spAutoFit/>
          </a:bodyPr>
          <a:lstStyle/>
          <a:p>
            <a:pPr algn="ctr"/>
            <a:r>
              <a:rPr lang="zh-CN" altLang="en-US" sz="1650" dirty="0">
                <a:solidFill>
                  <a:schemeClr val="bg1"/>
                </a:solidFill>
                <a:sym typeface="+mn-ea"/>
              </a:rPr>
              <a:t>经典教材《计算机操作系统》</a:t>
            </a:r>
            <a:r>
              <a:rPr lang="zh-CN" altLang="en-US" sz="1650" b="1" dirty="0">
                <a:solidFill>
                  <a:schemeClr val="accent2"/>
                </a:solidFill>
                <a:sym typeface="+mn-ea"/>
              </a:rPr>
              <a:t>最新版</a:t>
            </a:r>
            <a:endParaRPr lang="zh-CN" altLang="en-US" sz="1650" b="1" dirty="0">
              <a:solidFill>
                <a:schemeClr val="accent2"/>
              </a:solidFill>
            </a:endParaRPr>
          </a:p>
        </p:txBody>
      </p:sp>
      <p:sp>
        <p:nvSpPr>
          <p:cNvPr id="17" name="矩形: 圆角 21"/>
          <p:cNvSpPr/>
          <p:nvPr/>
        </p:nvSpPr>
        <p:spPr>
          <a:xfrm>
            <a:off x="600074" y="4291835"/>
            <a:ext cx="3176655" cy="344454"/>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chemeClr val="tx1"/>
                </a:solidFill>
              </a:rPr>
              <a:t>主讲教师：姚清爽</a:t>
            </a:r>
            <a:endParaRPr lang="en-US" altLang="zh-CN" sz="1800" b="1" dirty="0">
              <a:solidFill>
                <a:schemeClr val="tx1"/>
              </a:solidFill>
            </a:endParaRPr>
          </a:p>
        </p:txBody>
      </p:sp>
      <p:pic>
        <p:nvPicPr>
          <p:cNvPr id="12" name="图片 11"/>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7263091" y="5352040"/>
            <a:ext cx="1555868" cy="323849"/>
          </a:xfrm>
          <a:prstGeom prst="rect">
            <a:avLst/>
          </a:prstGeom>
        </p:spPr>
      </p:pic>
      <p:pic>
        <p:nvPicPr>
          <p:cNvPr id="14" name="图片 13"/>
          <p:cNvPicPr>
            <a:picLocks noChangeAspect="1"/>
          </p:cNvPicPr>
          <p:nvPr/>
        </p:nvPicPr>
        <p:blipFill>
          <a:blip r:embed="rId8"/>
          <a:stretch>
            <a:fillRect/>
          </a:stretch>
        </p:blipFill>
        <p:spPr>
          <a:xfrm>
            <a:off x="5291325" y="1490844"/>
            <a:ext cx="2255322" cy="3196156"/>
          </a:xfrm>
          <a:prstGeom prst="rect">
            <a:avLst/>
          </a:prstGeom>
        </p:spPr>
      </p:pic>
    </p:spTree>
    <p:extLst>
      <p:ext uri="{BB962C8B-B14F-4D97-AF65-F5344CB8AC3E}">
        <p14:creationId xmlns:p14="http://schemas.microsoft.com/office/powerpoint/2010/main" val="164404264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en-US" altLang="zh-CN" sz="2100" b="1" dirty="0">
                <a:solidFill>
                  <a:schemeClr val="bg1"/>
                </a:solidFill>
              </a:rPr>
              <a:t>AND</a:t>
            </a:r>
            <a:r>
              <a:rPr lang="zh-CN" altLang="en-US" sz="2100" b="1" dirty="0">
                <a:solidFill>
                  <a:schemeClr val="bg1"/>
                </a:solidFill>
              </a:rPr>
              <a:t>型信号量</a:t>
            </a:r>
          </a:p>
        </p:txBody>
      </p:sp>
      <p:sp>
        <p:nvSpPr>
          <p:cNvPr id="4" name="文本占位符 13"/>
          <p:cNvSpPr txBox="1"/>
          <p:nvPr/>
        </p:nvSpPr>
        <p:spPr>
          <a:xfrm>
            <a:off x="502444" y="4837243"/>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t>Signature</a:t>
            </a:r>
            <a:endParaRPr lang="en-US" altLang="zh-CN" sz="1125" dirty="0"/>
          </a:p>
        </p:txBody>
      </p:sp>
      <p:sp>
        <p:nvSpPr>
          <p:cNvPr id="5" name="文本占位符 13"/>
          <p:cNvSpPr txBox="1"/>
          <p:nvPr/>
        </p:nvSpPr>
        <p:spPr>
          <a:xfrm>
            <a:off x="502444" y="5059446"/>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t>Date</a:t>
            </a:r>
            <a:endParaRPr lang="zh-CN" altLang="en-US" sz="1125" dirty="0"/>
          </a:p>
        </p:txBody>
      </p:sp>
      <p:sp>
        <p:nvSpPr>
          <p:cNvPr id="6" name="ïşľîďè"/>
          <p:cNvSpPr/>
          <p:nvPr/>
        </p:nvSpPr>
        <p:spPr>
          <a:xfrm>
            <a:off x="1191" y="1714500"/>
            <a:ext cx="3502241" cy="375285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a:bodyPr>
          <a:lstStyle/>
          <a:p>
            <a:pPr algn="ctr" defTabSz="685800"/>
            <a:endParaRPr lang="zh-CN" altLang="en-US" sz="1500" b="1" dirty="0">
              <a:solidFill>
                <a:schemeClr val="bg1"/>
              </a:solidFill>
            </a:endParaRPr>
          </a:p>
        </p:txBody>
      </p:sp>
      <p:sp>
        <p:nvSpPr>
          <p:cNvPr id="7" name="îŝļiḋe"/>
          <p:cNvSpPr/>
          <p:nvPr/>
        </p:nvSpPr>
        <p:spPr>
          <a:xfrm>
            <a:off x="3010721" y="1714500"/>
            <a:ext cx="492711" cy="375285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a:bodyPr>
          <a:lstStyle/>
          <a:p>
            <a:pPr algn="ctr" defTabSz="685800"/>
            <a:endParaRPr lang="zh-CN" altLang="en-US" sz="1500" b="1" dirty="0">
              <a:solidFill>
                <a:schemeClr val="bg1"/>
              </a:solidFill>
            </a:endParaRPr>
          </a:p>
        </p:txBody>
      </p:sp>
      <p:grpSp>
        <p:nvGrpSpPr>
          <p:cNvPr id="8" name="í$1iďè"/>
          <p:cNvGrpSpPr/>
          <p:nvPr/>
        </p:nvGrpSpPr>
        <p:grpSpPr>
          <a:xfrm>
            <a:off x="3103938" y="1772516"/>
            <a:ext cx="5536427" cy="900209"/>
            <a:chOff x="4136995" y="1207654"/>
            <a:chExt cx="7381903" cy="1200279"/>
          </a:xfrm>
        </p:grpSpPr>
        <p:sp>
          <p:nvSpPr>
            <p:cNvPr id="9"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500" b="1" dirty="0">
                <a:solidFill>
                  <a:schemeClr val="bg1"/>
                </a:solidFill>
              </a:endParaRPr>
            </a:p>
          </p:txBody>
        </p:sp>
        <p:sp>
          <p:nvSpPr>
            <p:cNvPr id="11" name="ïSḻiḍé"/>
            <p:cNvSpPr txBox="1"/>
            <p:nvPr/>
          </p:nvSpPr>
          <p:spPr>
            <a:xfrm>
              <a:off x="4882717" y="1207654"/>
              <a:ext cx="6636181" cy="1200279"/>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20000"/>
                </a:lnSpc>
              </a:pPr>
              <a:r>
                <a:rPr lang="en-US" altLang="zh-CN" dirty="0">
                  <a:latin typeface="+mj-ea"/>
                  <a:ea typeface="+mj-ea"/>
                </a:rPr>
                <a:t>AND</a:t>
              </a:r>
              <a:r>
                <a:rPr lang="zh-CN" altLang="en-US" dirty="0">
                  <a:latin typeface="+mj-ea"/>
                  <a:ea typeface="+mj-ea"/>
                </a:rPr>
                <a:t>型信号量同步的基本思想：将进程在整个运行过程中需要的所有资源，一次性全部分配给进程，待进程使用完后再一起释放。</a:t>
              </a:r>
            </a:p>
          </p:txBody>
        </p:sp>
      </p:grpSp>
      <p:grpSp>
        <p:nvGrpSpPr>
          <p:cNvPr id="12" name="išḷîḓé"/>
          <p:cNvGrpSpPr/>
          <p:nvPr/>
        </p:nvGrpSpPr>
        <p:grpSpPr>
          <a:xfrm>
            <a:off x="3099194" y="3494493"/>
            <a:ext cx="5541171" cy="490477"/>
            <a:chOff x="4130670" y="2519343"/>
            <a:chExt cx="7388228" cy="653969"/>
          </a:xfrm>
        </p:grpSpPr>
        <p:sp>
          <p:nvSpPr>
            <p:cNvPr id="13" name="íśľïḋé"/>
            <p:cNvSpPr/>
            <p:nvPr/>
          </p:nvSpPr>
          <p:spPr>
            <a:xfrm>
              <a:off x="4130670" y="2682216"/>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500" b="1" dirty="0">
                <a:solidFill>
                  <a:schemeClr val="bg1"/>
                </a:solidFill>
              </a:endParaRPr>
            </a:p>
          </p:txBody>
        </p:sp>
        <p:sp>
          <p:nvSpPr>
            <p:cNvPr id="14" name="îŝľîḓè"/>
            <p:cNvSpPr txBox="1"/>
            <p:nvPr/>
          </p:nvSpPr>
          <p:spPr>
            <a:xfrm>
              <a:off x="4882717" y="2519343"/>
              <a:ext cx="6636181" cy="653969"/>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dirty="0"/>
                <a:t>对若干个临界资源的分配，采用原子操作。</a:t>
              </a:r>
            </a:p>
          </p:txBody>
        </p:sp>
      </p:grpSp>
      <p:grpSp>
        <p:nvGrpSpPr>
          <p:cNvPr id="15" name="ïSlíḍê"/>
          <p:cNvGrpSpPr/>
          <p:nvPr/>
        </p:nvGrpSpPr>
        <p:grpSpPr>
          <a:xfrm>
            <a:off x="3099194" y="4647788"/>
            <a:ext cx="5541172" cy="373453"/>
            <a:chOff x="4130670" y="5387697"/>
            <a:chExt cx="7388229" cy="497937"/>
          </a:xfrm>
        </p:grpSpPr>
        <p:sp>
          <p:nvSpPr>
            <p:cNvPr id="16" name="ïsľíḓê"/>
            <p:cNvSpPr/>
            <p:nvPr/>
          </p:nvSpPr>
          <p:spPr>
            <a:xfrm>
              <a:off x="4130670" y="5484055"/>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500" b="1" dirty="0">
                <a:solidFill>
                  <a:schemeClr val="bg1"/>
                </a:solidFill>
              </a:endParaRPr>
            </a:p>
          </p:txBody>
        </p:sp>
        <p:sp>
          <p:nvSpPr>
            <p:cNvPr id="17" name="íṧļîḋê"/>
            <p:cNvSpPr txBox="1"/>
            <p:nvPr/>
          </p:nvSpPr>
          <p:spPr>
            <a:xfrm>
              <a:off x="4882717" y="5387697"/>
              <a:ext cx="6636182" cy="497937"/>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dirty="0"/>
                <a:t>在</a:t>
              </a:r>
              <a:r>
                <a:rPr lang="en-US" altLang="zh-CN" dirty="0"/>
                <a:t>wait(S)</a:t>
              </a:r>
              <a:r>
                <a:rPr lang="zh-CN" altLang="en-US" dirty="0"/>
                <a:t>操作中增加了一个“</a:t>
              </a:r>
              <a:r>
                <a:rPr lang="en-US" altLang="zh-CN" dirty="0"/>
                <a:t>AND”</a:t>
              </a:r>
              <a:r>
                <a:rPr lang="zh-CN" altLang="en-US" dirty="0"/>
                <a:t>条件，故称之为</a:t>
              </a:r>
              <a:r>
                <a:rPr lang="en-US" altLang="zh-CN" dirty="0"/>
                <a:t>AND</a:t>
              </a:r>
              <a:r>
                <a:rPr lang="zh-CN" altLang="en-US" dirty="0"/>
                <a:t>同步，或同时</a:t>
              </a:r>
              <a:r>
                <a:rPr lang="en-US" altLang="zh-CN" dirty="0"/>
                <a:t>wait(S)</a:t>
              </a:r>
              <a:r>
                <a:rPr lang="zh-CN" altLang="en-US" dirty="0"/>
                <a:t>操作，即</a:t>
              </a:r>
              <a:r>
                <a:rPr lang="en-US" altLang="zh-CN" dirty="0" err="1"/>
                <a:t>Swait</a:t>
              </a:r>
              <a:r>
                <a:rPr lang="en-US" altLang="zh-CN" dirty="0"/>
                <a:t>(Simultaneous wait)</a:t>
              </a:r>
              <a:r>
                <a:rPr lang="zh-CN" altLang="en-US" dirty="0"/>
                <a:t>。</a:t>
              </a:r>
            </a:p>
          </p:txBody>
        </p:sp>
      </p:grpSp>
      <p:cxnSp>
        <p:nvCxnSpPr>
          <p:cNvPr id="22" name="直接连接符 21"/>
          <p:cNvCxnSpPr/>
          <p:nvPr/>
        </p:nvCxnSpPr>
        <p:spPr>
          <a:xfrm>
            <a:off x="3720048" y="2949919"/>
            <a:ext cx="4863496"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776870" y="4119105"/>
            <a:ext cx="4863496"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910134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en-US" altLang="zh-CN" sz="2100" b="1" dirty="0">
                <a:solidFill>
                  <a:schemeClr val="bg1"/>
                </a:solidFill>
              </a:rPr>
              <a:t>AND</a:t>
            </a:r>
            <a:r>
              <a:rPr lang="zh-CN" altLang="en-US" sz="2100" b="1" dirty="0">
                <a:solidFill>
                  <a:schemeClr val="bg1"/>
                </a:solidFill>
              </a:rPr>
              <a:t>型信号量操作定义</a:t>
            </a:r>
          </a:p>
        </p:txBody>
      </p:sp>
      <p:sp>
        <p:nvSpPr>
          <p:cNvPr id="32" name="内容占位符 3"/>
          <p:cNvSpPr txBox="1"/>
          <p:nvPr/>
        </p:nvSpPr>
        <p:spPr>
          <a:xfrm>
            <a:off x="473818" y="1687368"/>
            <a:ext cx="4230542" cy="405050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err="1">
                <a:solidFill>
                  <a:srgbClr val="0000CC"/>
                </a:solidFill>
              </a:rPr>
              <a:t>Swait</a:t>
            </a:r>
            <a:r>
              <a:rPr lang="en-US" altLang="zh-CN" dirty="0"/>
              <a:t>(S1</a:t>
            </a:r>
            <a:r>
              <a:rPr lang="ar-SA" altLang="zh-CN" dirty="0"/>
              <a:t>，</a:t>
            </a:r>
            <a:r>
              <a:rPr lang="en-US" altLang="zh-CN" dirty="0"/>
              <a:t>S2</a:t>
            </a:r>
            <a:r>
              <a:rPr lang="ar-SA" altLang="zh-CN" dirty="0"/>
              <a:t>，…，</a:t>
            </a:r>
            <a:r>
              <a:rPr lang="en-US" altLang="zh-CN" dirty="0"/>
              <a:t>Sn)  {</a:t>
            </a:r>
            <a:endParaRPr lang="zh-CN" altLang="zh-CN" dirty="0"/>
          </a:p>
          <a:p>
            <a:pPr marL="0" indent="0">
              <a:buNone/>
            </a:pPr>
            <a:r>
              <a:rPr lang="en-US" altLang="zh-CN" dirty="0"/>
              <a:t>     while (TRUE)  {</a:t>
            </a:r>
            <a:endParaRPr lang="zh-CN" altLang="zh-CN" dirty="0"/>
          </a:p>
          <a:p>
            <a:pPr marL="0" indent="0">
              <a:buNone/>
            </a:pPr>
            <a:r>
              <a:rPr lang="ar-SA" altLang="zh-CN" dirty="0"/>
              <a:t>　　　</a:t>
            </a:r>
            <a:r>
              <a:rPr lang="en-US" altLang="zh-CN" dirty="0"/>
              <a:t>if (Si&gt;=1 &amp;&amp; </a:t>
            </a:r>
            <a:r>
              <a:rPr lang="ar-SA" altLang="zh-CN" dirty="0"/>
              <a:t>…</a:t>
            </a:r>
            <a:r>
              <a:rPr lang="en-US" altLang="zh-CN" dirty="0"/>
              <a:t> &amp;&amp; Sn&gt;=1) {</a:t>
            </a:r>
            <a:endParaRPr lang="zh-CN" altLang="zh-CN" dirty="0"/>
          </a:p>
          <a:p>
            <a:pPr marL="0" indent="0">
              <a:buNone/>
            </a:pPr>
            <a:r>
              <a:rPr lang="en-US" altLang="zh-CN" dirty="0"/>
              <a:t>             for (</a:t>
            </a:r>
            <a:r>
              <a:rPr lang="en-US" altLang="zh-CN" dirty="0" err="1"/>
              <a:t>i</a:t>
            </a:r>
            <a:r>
              <a:rPr lang="en-US" altLang="zh-CN" dirty="0"/>
              <a:t> =1;i&lt;=</a:t>
            </a:r>
            <a:r>
              <a:rPr lang="en-US" altLang="zh-CN" dirty="0" err="1"/>
              <a:t>n;i</a:t>
            </a:r>
            <a:r>
              <a:rPr lang="en-US" altLang="zh-CN" dirty="0"/>
              <a:t>++) </a:t>
            </a:r>
            <a:r>
              <a:rPr lang="en-US" altLang="zh-CN" dirty="0">
                <a:solidFill>
                  <a:srgbClr val="FF0000"/>
                </a:solidFill>
              </a:rPr>
              <a:t>Si--</a:t>
            </a:r>
            <a:r>
              <a:rPr lang="en-US" altLang="zh-CN" dirty="0"/>
              <a:t>;</a:t>
            </a:r>
            <a:r>
              <a:rPr lang="ar-SA" altLang="zh-CN" dirty="0"/>
              <a:t>；</a:t>
            </a:r>
            <a:endParaRPr lang="zh-CN" altLang="zh-CN" dirty="0"/>
          </a:p>
          <a:p>
            <a:pPr marL="0" indent="0">
              <a:buNone/>
            </a:pPr>
            <a:r>
              <a:rPr lang="ar-SA" altLang="zh-CN" dirty="0"/>
              <a:t>　　　　</a:t>
            </a:r>
            <a:r>
              <a:rPr lang="en-US" altLang="zh-CN" dirty="0"/>
              <a:t>break;</a:t>
            </a:r>
            <a:endParaRPr lang="zh-CN" altLang="zh-CN" dirty="0"/>
          </a:p>
          <a:p>
            <a:pPr marL="0" indent="0">
              <a:buNone/>
            </a:pPr>
            <a:r>
              <a:rPr lang="en-US" altLang="zh-CN" dirty="0"/>
              <a:t>             }</a:t>
            </a:r>
          </a:p>
          <a:p>
            <a:pPr marL="0" indent="0">
              <a:buNone/>
            </a:pPr>
            <a:r>
              <a:rPr lang="ar-SA" altLang="zh-CN" dirty="0"/>
              <a:t>　　　</a:t>
            </a:r>
            <a:r>
              <a:rPr lang="en-US" altLang="zh-CN" dirty="0"/>
              <a:t>else  {</a:t>
            </a:r>
            <a:endParaRPr lang="zh-CN" altLang="zh-CN" dirty="0"/>
          </a:p>
          <a:p>
            <a:pPr marL="0" indent="0">
              <a:buNone/>
            </a:pPr>
            <a:r>
              <a:rPr lang="ar-SA" altLang="zh-CN" dirty="0"/>
              <a:t>　　　</a:t>
            </a:r>
            <a:r>
              <a:rPr lang="en-US" altLang="zh-CN" dirty="0"/>
              <a:t>place the process in the </a:t>
            </a:r>
            <a:r>
              <a:rPr lang="en-US" altLang="zh-CN" dirty="0">
                <a:solidFill>
                  <a:srgbClr val="FF0000"/>
                </a:solidFill>
              </a:rPr>
              <a:t>waiting queue</a:t>
            </a:r>
            <a:r>
              <a:rPr lang="en-US" altLang="zh-CN" dirty="0"/>
              <a:t> associated with the first Si found with Si&lt;1</a:t>
            </a:r>
            <a:r>
              <a:rPr lang="ar-SA" altLang="zh-CN" dirty="0"/>
              <a:t>，</a:t>
            </a:r>
            <a:r>
              <a:rPr lang="en-US" altLang="zh-CN" dirty="0"/>
              <a:t>and set the program count of this process to the beginning of </a:t>
            </a:r>
            <a:r>
              <a:rPr lang="en-US" altLang="zh-CN" dirty="0" err="1"/>
              <a:t>Swait</a:t>
            </a:r>
            <a:r>
              <a:rPr lang="en-US" altLang="zh-CN" dirty="0"/>
              <a:t> operation</a:t>
            </a:r>
            <a:endParaRPr lang="zh-CN" altLang="zh-CN" dirty="0"/>
          </a:p>
          <a:p>
            <a:pPr marL="0" indent="0">
              <a:buNone/>
            </a:pPr>
            <a:r>
              <a:rPr lang="ar-SA" altLang="zh-CN" dirty="0"/>
              <a:t>　　　</a:t>
            </a:r>
            <a:r>
              <a:rPr lang="en-US" altLang="zh-CN" dirty="0"/>
              <a:t>}</a:t>
            </a:r>
            <a:endParaRPr lang="zh-CN" altLang="zh-CN" dirty="0"/>
          </a:p>
          <a:p>
            <a:pPr marL="0" indent="0">
              <a:buNone/>
            </a:pPr>
            <a:r>
              <a:rPr lang="en-US" altLang="zh-CN" dirty="0"/>
              <a:t>      }}</a:t>
            </a:r>
            <a:endParaRPr lang="zh-CN" altLang="zh-CN" dirty="0"/>
          </a:p>
          <a:p>
            <a:pPr marL="0" indent="0">
              <a:buNone/>
            </a:pPr>
            <a:endParaRPr lang="zh-CN" altLang="en-US" dirty="0"/>
          </a:p>
        </p:txBody>
      </p:sp>
      <p:sp>
        <p:nvSpPr>
          <p:cNvPr id="33" name="内容占位符 4"/>
          <p:cNvSpPr txBox="1"/>
          <p:nvPr/>
        </p:nvSpPr>
        <p:spPr>
          <a:xfrm>
            <a:off x="5127133" y="1754982"/>
            <a:ext cx="3749279" cy="34875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err="1">
                <a:solidFill>
                  <a:srgbClr val="0000CC"/>
                </a:solidFill>
              </a:rPr>
              <a:t>Ssignal</a:t>
            </a:r>
            <a:r>
              <a:rPr lang="en-US" altLang="zh-CN" dirty="0"/>
              <a:t>(S1</a:t>
            </a:r>
            <a:r>
              <a:rPr lang="ar-SA" altLang="zh-CN" dirty="0"/>
              <a:t>，</a:t>
            </a:r>
            <a:r>
              <a:rPr lang="en-US" altLang="zh-CN" dirty="0"/>
              <a:t>S2</a:t>
            </a:r>
            <a:r>
              <a:rPr lang="ar-SA" altLang="zh-CN" dirty="0"/>
              <a:t>，</a:t>
            </a:r>
            <a:r>
              <a:rPr lang="en-US" altLang="zh-CN" dirty="0"/>
              <a:t>…</a:t>
            </a:r>
            <a:r>
              <a:rPr lang="ar-SA" altLang="zh-CN" dirty="0"/>
              <a:t>，</a:t>
            </a:r>
            <a:r>
              <a:rPr lang="en-US" altLang="zh-CN" dirty="0"/>
              <a:t>Sn)  {</a:t>
            </a:r>
            <a:endParaRPr lang="zh-CN" altLang="zh-CN" dirty="0"/>
          </a:p>
          <a:p>
            <a:pPr marL="0" indent="0">
              <a:buNone/>
            </a:pPr>
            <a:r>
              <a:rPr lang="en-US" altLang="zh-CN" dirty="0"/>
              <a:t>      while (TRUE) {</a:t>
            </a:r>
            <a:endParaRPr lang="zh-CN" altLang="zh-CN" dirty="0"/>
          </a:p>
          <a:p>
            <a:pPr marL="0" indent="0">
              <a:buNone/>
            </a:pPr>
            <a:r>
              <a:rPr lang="ar-SA" altLang="zh-CN" dirty="0"/>
              <a:t>　　</a:t>
            </a:r>
            <a:r>
              <a:rPr lang="en-US" altLang="zh-CN" dirty="0"/>
              <a:t>    for (</a:t>
            </a:r>
            <a:r>
              <a:rPr lang="en-US" altLang="zh-CN" dirty="0" err="1"/>
              <a:t>i</a:t>
            </a:r>
            <a:r>
              <a:rPr lang="en-US" altLang="zh-CN" dirty="0"/>
              <a:t>=1 ; </a:t>
            </a:r>
            <a:r>
              <a:rPr lang="en-US" altLang="zh-CN" dirty="0" err="1"/>
              <a:t>i</a:t>
            </a:r>
            <a:r>
              <a:rPr lang="en-US" altLang="zh-CN" dirty="0"/>
              <a:t>&lt;=</a:t>
            </a:r>
            <a:r>
              <a:rPr lang="en-US" altLang="zh-CN" dirty="0" err="1"/>
              <a:t>n;i</a:t>
            </a:r>
            <a:r>
              <a:rPr lang="en-US" altLang="zh-CN" dirty="0"/>
              <a:t>++) {</a:t>
            </a:r>
            <a:endParaRPr lang="zh-CN" altLang="zh-CN" dirty="0"/>
          </a:p>
          <a:p>
            <a:pPr marL="0" indent="0">
              <a:buNone/>
            </a:pPr>
            <a:r>
              <a:rPr lang="en-US" altLang="zh-CN" dirty="0"/>
              <a:t>             </a:t>
            </a:r>
            <a:r>
              <a:rPr lang="en-US" altLang="zh-CN" dirty="0">
                <a:solidFill>
                  <a:srgbClr val="FF0000"/>
                </a:solidFill>
              </a:rPr>
              <a:t>Si++</a:t>
            </a:r>
            <a:r>
              <a:rPr lang="ar-SA" altLang="zh-CN" dirty="0"/>
              <a:t>；</a:t>
            </a:r>
            <a:endParaRPr lang="zh-CN" altLang="zh-CN" dirty="0"/>
          </a:p>
          <a:p>
            <a:pPr marL="0" indent="0">
              <a:buNone/>
            </a:pPr>
            <a:r>
              <a:rPr lang="ar-SA" altLang="zh-CN" dirty="0"/>
              <a:t>　　　</a:t>
            </a:r>
            <a:r>
              <a:rPr lang="en-US" altLang="zh-CN" dirty="0">
                <a:solidFill>
                  <a:srgbClr val="FF0000"/>
                </a:solidFill>
              </a:rPr>
              <a:t>Remove</a:t>
            </a:r>
            <a:r>
              <a:rPr lang="en-US" altLang="zh-CN" dirty="0"/>
              <a:t> all the process waiting in the queue associated with Si into the ready queue.</a:t>
            </a:r>
            <a:endParaRPr lang="zh-CN" altLang="zh-CN" dirty="0"/>
          </a:p>
          <a:p>
            <a:pPr marL="0" indent="0">
              <a:buNone/>
            </a:pPr>
            <a:r>
              <a:rPr lang="ar-SA" altLang="zh-CN" dirty="0"/>
              <a:t>　　 </a:t>
            </a:r>
            <a:r>
              <a:rPr lang="en-US" altLang="zh-CN" dirty="0"/>
              <a:t>    }</a:t>
            </a:r>
            <a:endParaRPr lang="zh-CN" altLang="zh-CN" dirty="0"/>
          </a:p>
          <a:p>
            <a:pPr marL="0" indent="0">
              <a:buNone/>
            </a:pPr>
            <a:r>
              <a:rPr lang="en-US" altLang="zh-CN" dirty="0"/>
              <a:t>       }</a:t>
            </a:r>
            <a:endParaRPr lang="zh-CN" altLang="zh-CN" dirty="0"/>
          </a:p>
          <a:p>
            <a:pPr marL="0" indent="0">
              <a:buNone/>
            </a:pPr>
            <a:r>
              <a:rPr lang="en-US" altLang="zh-CN" dirty="0"/>
              <a:t>}</a:t>
            </a:r>
            <a:endParaRPr lang="zh-CN" altLang="zh-CN" dirty="0"/>
          </a:p>
          <a:p>
            <a:pPr marL="0" indent="0">
              <a:buNone/>
            </a:pPr>
            <a:endParaRPr lang="zh-CN" altLang="en-US" dirty="0"/>
          </a:p>
        </p:txBody>
      </p:sp>
      <p:cxnSp>
        <p:nvCxnSpPr>
          <p:cNvPr id="34" name="直接连接符 33"/>
          <p:cNvCxnSpPr/>
          <p:nvPr/>
        </p:nvCxnSpPr>
        <p:spPr>
          <a:xfrm>
            <a:off x="4819919" y="1754981"/>
            <a:ext cx="0" cy="3603435"/>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4819918" y="5242506"/>
            <a:ext cx="396025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110235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信号量集</a:t>
            </a:r>
          </a:p>
        </p:txBody>
      </p:sp>
      <p:sp>
        <p:nvSpPr>
          <p:cNvPr id="24" name="文本框 23"/>
          <p:cNvSpPr txBox="1"/>
          <p:nvPr/>
        </p:nvSpPr>
        <p:spPr>
          <a:xfrm>
            <a:off x="1018141" y="1733652"/>
            <a:ext cx="7520553" cy="3750322"/>
          </a:xfrm>
          <a:prstGeom prst="rect">
            <a:avLst/>
          </a:prstGeom>
          <a:noFill/>
        </p:spPr>
        <p:txBody>
          <a:bodyPr wrap="square" rtlCol="0">
            <a:spAutoFit/>
          </a:bodyPr>
          <a:lstStyle/>
          <a:p>
            <a:pPr>
              <a:lnSpc>
                <a:spcPct val="120000"/>
              </a:lnSpc>
              <a:spcBef>
                <a:spcPts val="450"/>
              </a:spcBef>
              <a:spcAft>
                <a:spcPts val="450"/>
              </a:spcAft>
            </a:pPr>
            <a:r>
              <a:rPr lang="zh-CN" altLang="en-US" sz="1800" dirty="0"/>
              <a:t>在记录型信号量中，</a:t>
            </a:r>
            <a:r>
              <a:rPr lang="en-US" altLang="zh-CN" sz="1800" dirty="0"/>
              <a:t>wait</a:t>
            </a:r>
            <a:r>
              <a:rPr lang="zh-CN" altLang="en-US" sz="1800" dirty="0"/>
              <a:t>或</a:t>
            </a:r>
            <a:r>
              <a:rPr lang="en-US" altLang="zh-CN" sz="1800" dirty="0"/>
              <a:t>signal</a:t>
            </a:r>
            <a:r>
              <a:rPr lang="zh-CN" altLang="en-US" sz="1800" dirty="0"/>
              <a:t>仅能对某类临界资源进行</a:t>
            </a:r>
            <a:r>
              <a:rPr lang="zh-CN" altLang="en-US" sz="1800" dirty="0">
                <a:solidFill>
                  <a:srgbClr val="FF0000"/>
                </a:solidFill>
              </a:rPr>
              <a:t>一个单位的申请和释放</a:t>
            </a:r>
            <a:r>
              <a:rPr lang="zh-CN" altLang="en-US" sz="1800" dirty="0"/>
              <a:t>，当需要对</a:t>
            </a:r>
            <a:r>
              <a:rPr lang="en-US" altLang="zh-CN" sz="1800" dirty="0"/>
              <a:t>N</a:t>
            </a:r>
            <a:r>
              <a:rPr lang="zh-CN" altLang="en-US" sz="1800" dirty="0"/>
              <a:t>个单位进行操作时，需要</a:t>
            </a:r>
            <a:r>
              <a:rPr lang="en-US" altLang="zh-CN" sz="1800" dirty="0"/>
              <a:t>N</a:t>
            </a:r>
            <a:r>
              <a:rPr lang="zh-CN" altLang="en-US" sz="1800" dirty="0"/>
              <a:t>次</a:t>
            </a:r>
            <a:r>
              <a:rPr lang="en-US" altLang="zh-CN" sz="1800" dirty="0"/>
              <a:t>wait/signal</a:t>
            </a:r>
            <a:r>
              <a:rPr lang="zh-CN" altLang="en-US" sz="1800" dirty="0"/>
              <a:t>操作，</a:t>
            </a:r>
            <a:r>
              <a:rPr lang="zh-CN" altLang="en-US" sz="1800" dirty="0">
                <a:solidFill>
                  <a:srgbClr val="FF0000"/>
                </a:solidFill>
              </a:rPr>
              <a:t>效率低下</a:t>
            </a:r>
            <a:endParaRPr lang="en-US" altLang="zh-CN" sz="1800" dirty="0">
              <a:solidFill>
                <a:srgbClr val="FF0000"/>
              </a:solidFill>
              <a:latin typeface="+mn-ea"/>
            </a:endParaRPr>
          </a:p>
          <a:p>
            <a:pPr algn="just">
              <a:lnSpc>
                <a:spcPct val="120000"/>
              </a:lnSpc>
              <a:spcBef>
                <a:spcPts val="450"/>
              </a:spcBef>
              <a:spcAft>
                <a:spcPts val="450"/>
              </a:spcAft>
            </a:pPr>
            <a:r>
              <a:rPr lang="zh-CN" altLang="en-US" sz="1800" dirty="0">
                <a:latin typeface="+mn-ea"/>
              </a:rPr>
              <a:t>扩充</a:t>
            </a:r>
            <a:r>
              <a:rPr lang="en-US" altLang="zh-CN" sz="1800" dirty="0">
                <a:latin typeface="+mn-ea"/>
              </a:rPr>
              <a:t>AND</a:t>
            </a:r>
            <a:r>
              <a:rPr lang="zh-CN" altLang="en-US" sz="1800" dirty="0">
                <a:latin typeface="+mn-ea"/>
              </a:rPr>
              <a:t>信号量：对进程所申请的所有资源以及每类资源不同的资源需求量，在一次</a:t>
            </a:r>
            <a:r>
              <a:rPr lang="en-US" altLang="zh-CN" sz="1800" dirty="0">
                <a:latin typeface="+mn-ea"/>
              </a:rPr>
              <a:t>P</a:t>
            </a:r>
            <a:r>
              <a:rPr lang="zh-CN" altLang="en-US" sz="1800" dirty="0">
                <a:latin typeface="+mn-ea"/>
              </a:rPr>
              <a:t>、</a:t>
            </a:r>
            <a:r>
              <a:rPr lang="en-US" altLang="zh-CN" sz="1800" dirty="0">
                <a:latin typeface="+mn-ea"/>
              </a:rPr>
              <a:t>V</a:t>
            </a:r>
            <a:r>
              <a:rPr lang="zh-CN" altLang="en-US" sz="1800" dirty="0">
                <a:latin typeface="+mn-ea"/>
              </a:rPr>
              <a:t>原语操作中完成申请或释放</a:t>
            </a:r>
          </a:p>
          <a:p>
            <a:pPr marL="257175" indent="-257175">
              <a:lnSpc>
                <a:spcPct val="120000"/>
              </a:lnSpc>
              <a:spcBef>
                <a:spcPts val="450"/>
              </a:spcBef>
              <a:spcAft>
                <a:spcPts val="450"/>
              </a:spcAft>
              <a:buClr>
                <a:srgbClr val="FF0000"/>
              </a:buClr>
              <a:buFont typeface="Wingdings" panose="05000000000000000000" pitchFamily="2" charset="2"/>
              <a:buChar char="Ø"/>
            </a:pPr>
            <a:r>
              <a:rPr lang="zh-CN" altLang="en-US" sz="1650" dirty="0">
                <a:latin typeface="+mn-ea"/>
              </a:rPr>
              <a:t>进程对信号量</a:t>
            </a:r>
            <a:r>
              <a:rPr lang="en-US" altLang="zh-CN" sz="1650" dirty="0">
                <a:latin typeface="+mn-ea"/>
              </a:rPr>
              <a:t>Si</a:t>
            </a:r>
            <a:r>
              <a:rPr lang="zh-CN" altLang="en-US" sz="1650" dirty="0">
                <a:latin typeface="+mn-ea"/>
              </a:rPr>
              <a:t>的测试值是该资源的分配下限值</a:t>
            </a:r>
            <a:r>
              <a:rPr lang="en-US" altLang="zh-CN" sz="1650" dirty="0">
                <a:latin typeface="+mn-ea"/>
              </a:rPr>
              <a:t>ti</a:t>
            </a:r>
            <a:r>
              <a:rPr lang="zh-CN" altLang="en-US" sz="1650" dirty="0">
                <a:latin typeface="+mn-ea"/>
              </a:rPr>
              <a:t>，即要求</a:t>
            </a:r>
            <a:r>
              <a:rPr lang="en-US" altLang="zh-CN" sz="1650" dirty="0" err="1">
                <a:latin typeface="+mn-ea"/>
              </a:rPr>
              <a:t>Si≥ti</a:t>
            </a:r>
            <a:r>
              <a:rPr lang="zh-CN" altLang="en-US" sz="1650" dirty="0">
                <a:latin typeface="+mn-ea"/>
              </a:rPr>
              <a:t>，否则不予分配。一旦允许分配，进程对该资源的需求值为</a:t>
            </a:r>
            <a:r>
              <a:rPr lang="en-US" altLang="zh-CN" sz="1650" dirty="0">
                <a:latin typeface="+mn-ea"/>
              </a:rPr>
              <a:t>di</a:t>
            </a:r>
            <a:r>
              <a:rPr lang="zh-CN" altLang="en-US" sz="1650" dirty="0">
                <a:latin typeface="+mn-ea"/>
              </a:rPr>
              <a:t>，即表示资源占用量，进行</a:t>
            </a:r>
            <a:r>
              <a:rPr lang="en-US" altLang="zh-CN" sz="1650" dirty="0">
                <a:latin typeface="+mn-ea"/>
              </a:rPr>
              <a:t>Si= Si-di</a:t>
            </a:r>
            <a:r>
              <a:rPr lang="zh-CN" altLang="en-US" sz="1650" dirty="0">
                <a:latin typeface="+mn-ea"/>
              </a:rPr>
              <a:t>操作</a:t>
            </a:r>
          </a:p>
          <a:p>
            <a:pPr marL="257175" indent="-257175">
              <a:lnSpc>
                <a:spcPct val="120000"/>
              </a:lnSpc>
              <a:spcBef>
                <a:spcPts val="450"/>
              </a:spcBef>
              <a:spcAft>
                <a:spcPts val="450"/>
              </a:spcAft>
              <a:buClr>
                <a:srgbClr val="FF0000"/>
              </a:buClr>
              <a:buFont typeface="Wingdings" panose="05000000000000000000" pitchFamily="2" charset="2"/>
              <a:buChar char="Ø"/>
            </a:pPr>
            <a:r>
              <a:rPr lang="en-US" altLang="zh-CN" sz="1650" dirty="0" err="1">
                <a:latin typeface="+mn-ea"/>
              </a:rPr>
              <a:t>Swait</a:t>
            </a:r>
            <a:r>
              <a:rPr lang="en-US" altLang="zh-CN" sz="1650" dirty="0">
                <a:latin typeface="+mn-ea"/>
              </a:rPr>
              <a:t>(S1</a:t>
            </a:r>
            <a:r>
              <a:rPr lang="zh-CN" altLang="en-US" sz="1650" dirty="0">
                <a:latin typeface="+mn-ea"/>
              </a:rPr>
              <a:t>，</a:t>
            </a:r>
            <a:r>
              <a:rPr lang="en-US" altLang="zh-CN" sz="1650" dirty="0">
                <a:solidFill>
                  <a:srgbClr val="FF0000"/>
                </a:solidFill>
                <a:latin typeface="+mn-ea"/>
              </a:rPr>
              <a:t>t1</a:t>
            </a:r>
            <a:r>
              <a:rPr lang="zh-CN" altLang="en-US" sz="1650" dirty="0">
                <a:latin typeface="+mn-ea"/>
              </a:rPr>
              <a:t>，</a:t>
            </a:r>
            <a:r>
              <a:rPr lang="en-US" altLang="zh-CN" sz="1650" dirty="0">
                <a:solidFill>
                  <a:srgbClr val="FF0000"/>
                </a:solidFill>
                <a:latin typeface="+mn-ea"/>
              </a:rPr>
              <a:t>d1</a:t>
            </a:r>
            <a:r>
              <a:rPr lang="zh-CN" altLang="en-US" sz="1650" dirty="0">
                <a:latin typeface="+mn-ea"/>
              </a:rPr>
              <a:t>，</a:t>
            </a:r>
            <a:r>
              <a:rPr lang="en-US" altLang="zh-CN" sz="1650" dirty="0">
                <a:latin typeface="+mn-ea"/>
              </a:rPr>
              <a:t>…</a:t>
            </a:r>
            <a:r>
              <a:rPr lang="zh-CN" altLang="en-US" sz="1650" dirty="0">
                <a:latin typeface="+mn-ea"/>
              </a:rPr>
              <a:t>，</a:t>
            </a:r>
            <a:r>
              <a:rPr lang="en-US" altLang="zh-CN" sz="1650" dirty="0">
                <a:latin typeface="+mn-ea"/>
              </a:rPr>
              <a:t>Sn</a:t>
            </a:r>
            <a:r>
              <a:rPr lang="zh-CN" altLang="en-US" sz="1650" dirty="0">
                <a:latin typeface="+mn-ea"/>
              </a:rPr>
              <a:t>，</a:t>
            </a:r>
            <a:r>
              <a:rPr lang="en-US" altLang="zh-CN" sz="1650" dirty="0" err="1">
                <a:latin typeface="+mn-ea"/>
              </a:rPr>
              <a:t>tn</a:t>
            </a:r>
            <a:r>
              <a:rPr lang="zh-CN" altLang="en-US" sz="1650" dirty="0">
                <a:latin typeface="+mn-ea"/>
              </a:rPr>
              <a:t>，</a:t>
            </a:r>
            <a:r>
              <a:rPr lang="en-US" altLang="zh-CN" sz="1650" dirty="0" err="1">
                <a:latin typeface="+mn-ea"/>
              </a:rPr>
              <a:t>dn</a:t>
            </a:r>
            <a:r>
              <a:rPr lang="en-US" altLang="zh-CN" sz="1650" dirty="0">
                <a:latin typeface="+mn-ea"/>
              </a:rPr>
              <a:t>)</a:t>
            </a:r>
          </a:p>
          <a:p>
            <a:pPr marL="257175" indent="-257175">
              <a:lnSpc>
                <a:spcPct val="120000"/>
              </a:lnSpc>
              <a:spcBef>
                <a:spcPts val="450"/>
              </a:spcBef>
              <a:spcAft>
                <a:spcPts val="450"/>
              </a:spcAft>
              <a:buClr>
                <a:srgbClr val="FF0000"/>
              </a:buClr>
              <a:buFont typeface="Wingdings" panose="05000000000000000000" pitchFamily="2" charset="2"/>
              <a:buChar char="Ø"/>
            </a:pPr>
            <a:r>
              <a:rPr lang="en-US" altLang="zh-CN" sz="1650" dirty="0" err="1">
                <a:latin typeface="+mn-ea"/>
              </a:rPr>
              <a:t>Ssignal</a:t>
            </a:r>
            <a:r>
              <a:rPr lang="en-US" altLang="zh-CN" sz="1650" dirty="0">
                <a:latin typeface="+mn-ea"/>
              </a:rPr>
              <a:t>(S1</a:t>
            </a:r>
            <a:r>
              <a:rPr lang="zh-CN" altLang="en-US" sz="1650" dirty="0">
                <a:latin typeface="+mn-ea"/>
              </a:rPr>
              <a:t>，</a:t>
            </a:r>
            <a:r>
              <a:rPr lang="en-US" altLang="zh-CN" sz="1650" dirty="0">
                <a:latin typeface="+mn-ea"/>
              </a:rPr>
              <a:t>d1</a:t>
            </a:r>
            <a:r>
              <a:rPr lang="zh-CN" altLang="en-US" sz="1650" dirty="0">
                <a:latin typeface="+mn-ea"/>
              </a:rPr>
              <a:t>，</a:t>
            </a:r>
            <a:r>
              <a:rPr lang="en-US" altLang="zh-CN" sz="1650" dirty="0">
                <a:latin typeface="+mn-ea"/>
              </a:rPr>
              <a:t>…</a:t>
            </a:r>
            <a:r>
              <a:rPr lang="zh-CN" altLang="en-US" sz="1650" dirty="0">
                <a:latin typeface="+mn-ea"/>
              </a:rPr>
              <a:t>，</a:t>
            </a:r>
            <a:r>
              <a:rPr lang="en-US" altLang="zh-CN" sz="1650" dirty="0">
                <a:latin typeface="+mn-ea"/>
              </a:rPr>
              <a:t>Sn</a:t>
            </a:r>
            <a:r>
              <a:rPr lang="zh-CN" altLang="en-US" sz="1650" dirty="0">
                <a:latin typeface="+mn-ea"/>
              </a:rPr>
              <a:t>，</a:t>
            </a:r>
            <a:r>
              <a:rPr lang="en-US" altLang="zh-CN" sz="1650" dirty="0" err="1">
                <a:latin typeface="+mn-ea"/>
              </a:rPr>
              <a:t>dn</a:t>
            </a:r>
            <a:r>
              <a:rPr lang="en-US" altLang="zh-CN" sz="1650" dirty="0">
                <a:latin typeface="+mn-ea"/>
              </a:rPr>
              <a:t>)</a:t>
            </a:r>
          </a:p>
        </p:txBody>
      </p:sp>
      <p:pic>
        <p:nvPicPr>
          <p:cNvPr id="29" name="图片 2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499663" y="1801266"/>
            <a:ext cx="395288" cy="395288"/>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02444" y="2924737"/>
            <a:ext cx="395288" cy="395288"/>
          </a:xfrm>
          <a:prstGeom prst="rect">
            <a:avLst/>
          </a:prstGeom>
          <a:ln>
            <a:noFill/>
          </a:ln>
          <a:effectLst>
            <a:softEdge rad="0"/>
          </a:effectLst>
        </p:spPr>
      </p:pic>
    </p:spTree>
    <p:extLst>
      <p:ext uri="{BB962C8B-B14F-4D97-AF65-F5344CB8AC3E}">
        <p14:creationId xmlns:p14="http://schemas.microsoft.com/office/powerpoint/2010/main" val="179348168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信号量的应用</a:t>
            </a:r>
          </a:p>
        </p:txBody>
      </p:sp>
      <p:sp>
        <p:nvSpPr>
          <p:cNvPr id="7" name="i$lîďê"/>
          <p:cNvSpPr/>
          <p:nvPr/>
        </p:nvSpPr>
        <p:spPr>
          <a:xfrm>
            <a:off x="1746359" y="3233539"/>
            <a:ext cx="3461746" cy="294658"/>
          </a:xfrm>
          <a:prstGeom prst="rect">
            <a:avLst/>
          </a:prstGeom>
          <a:noFill/>
          <a:ln>
            <a:noFill/>
          </a:ln>
        </p:spPr>
        <p:txBody>
          <a:bodyPr wrap="square" lIns="68580" tIns="34290" rIns="68580" bIns="34290" anchor="ctr" anchorCtr="0">
            <a:noAutofit/>
          </a:bodyPr>
          <a:lstStyle/>
          <a:p>
            <a:r>
              <a:rPr lang="zh-CN" altLang="en-US" sz="1950" dirty="0"/>
              <a:t>利用信号量实现</a:t>
            </a:r>
            <a:r>
              <a:rPr lang="zh-CN" altLang="en-US" sz="1950" dirty="0">
                <a:solidFill>
                  <a:srgbClr val="FF0000"/>
                </a:solidFill>
              </a:rPr>
              <a:t>前趋关系</a:t>
            </a:r>
          </a:p>
        </p:txBody>
      </p:sp>
      <p:sp>
        <p:nvSpPr>
          <p:cNvPr id="8" name="î$ļíḋè"/>
          <p:cNvSpPr/>
          <p:nvPr/>
        </p:nvSpPr>
        <p:spPr>
          <a:xfrm>
            <a:off x="2217259" y="4639726"/>
            <a:ext cx="2301138" cy="352202"/>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800" dirty="0"/>
              <a:t>设置同步信号量</a:t>
            </a:r>
          </a:p>
        </p:txBody>
      </p:sp>
      <p:sp>
        <p:nvSpPr>
          <p:cNvPr id="9" name="ïṧḷïḋè"/>
          <p:cNvSpPr/>
          <p:nvPr/>
        </p:nvSpPr>
        <p:spPr>
          <a:xfrm>
            <a:off x="2258987" y="4347244"/>
            <a:ext cx="3461746" cy="311327"/>
          </a:xfrm>
          <a:prstGeom prst="rect">
            <a:avLst/>
          </a:prstGeom>
          <a:noFill/>
          <a:ln>
            <a:noFill/>
          </a:ln>
        </p:spPr>
        <p:txBody>
          <a:bodyPr wrap="square" lIns="68580" tIns="34290" rIns="68580" bIns="34290" anchor="ctr" anchorCtr="0">
            <a:noAutofit/>
          </a:bodyPr>
          <a:lstStyle/>
          <a:p>
            <a:r>
              <a:rPr lang="zh-CN" altLang="en-US" sz="1950" dirty="0"/>
              <a:t>利用信号量实现</a:t>
            </a:r>
            <a:r>
              <a:rPr lang="zh-CN" altLang="en-US" sz="1950" dirty="0">
                <a:solidFill>
                  <a:srgbClr val="FF0000"/>
                </a:solidFill>
              </a:rPr>
              <a:t>进程同步</a:t>
            </a:r>
          </a:p>
        </p:txBody>
      </p:sp>
      <p:sp>
        <p:nvSpPr>
          <p:cNvPr id="10" name="îs1iďé"/>
          <p:cNvSpPr/>
          <p:nvPr/>
        </p:nvSpPr>
        <p:spPr>
          <a:xfrm>
            <a:off x="1233732" y="2404741"/>
            <a:ext cx="2920826" cy="495440"/>
          </a:xfrm>
          <a:prstGeom prst="rect">
            <a:avLst/>
          </a:prstGeom>
          <a:noFill/>
          <a:ln>
            <a:noFill/>
          </a:ln>
        </p:spPr>
        <p:txBody>
          <a:bodyPr wrap="square" lIns="68580" tIns="34290" rIns="68580" bIns="34290" anchor="t" anchorCtr="0">
            <a:normAutofit/>
          </a:bodyPr>
          <a:lstStyle/>
          <a:p>
            <a:pPr marL="257175" indent="-257175">
              <a:lnSpc>
                <a:spcPct val="120000"/>
              </a:lnSpc>
              <a:buClr>
                <a:srgbClr val="FF0000"/>
              </a:buClr>
              <a:buFont typeface="Wingdings" panose="05000000000000000000" pitchFamily="2" charset="2"/>
              <a:buChar char="Ø"/>
            </a:pPr>
            <a:r>
              <a:rPr lang="zh-CN" altLang="en-US" sz="1800" dirty="0"/>
              <a:t>设置互斥信号量</a:t>
            </a:r>
          </a:p>
        </p:txBody>
      </p:sp>
      <p:sp>
        <p:nvSpPr>
          <p:cNvPr id="11" name="íšḻíḑê"/>
          <p:cNvSpPr/>
          <p:nvPr/>
        </p:nvSpPr>
        <p:spPr>
          <a:xfrm>
            <a:off x="1233732" y="2044035"/>
            <a:ext cx="3812256" cy="304310"/>
          </a:xfrm>
          <a:prstGeom prst="rect">
            <a:avLst/>
          </a:prstGeom>
          <a:noFill/>
          <a:ln>
            <a:noFill/>
          </a:ln>
        </p:spPr>
        <p:txBody>
          <a:bodyPr wrap="square" lIns="68580" tIns="34290" rIns="68580" bIns="34290" anchor="ctr" anchorCtr="0">
            <a:noAutofit/>
          </a:bodyPr>
          <a:lstStyle/>
          <a:p>
            <a:r>
              <a:rPr lang="zh-CN" altLang="en-US" sz="1950" dirty="0"/>
              <a:t>利用信号量实现</a:t>
            </a:r>
            <a:r>
              <a:rPr lang="zh-CN" altLang="en-US" sz="1950" dirty="0">
                <a:solidFill>
                  <a:srgbClr val="FF0000"/>
                </a:solidFill>
              </a:rPr>
              <a:t>进程互斥</a:t>
            </a:r>
          </a:p>
        </p:txBody>
      </p:sp>
      <p:sp>
        <p:nvSpPr>
          <p:cNvPr id="12" name="îSļiḓè"/>
          <p:cNvSpPr/>
          <p:nvPr/>
        </p:nvSpPr>
        <p:spPr>
          <a:xfrm>
            <a:off x="721105" y="2033863"/>
            <a:ext cx="470900" cy="470900"/>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800"/>
          </a:p>
        </p:txBody>
      </p:sp>
      <p:sp>
        <p:nvSpPr>
          <p:cNvPr id="13" name="íṥḻîḓe"/>
          <p:cNvSpPr/>
          <p:nvPr/>
        </p:nvSpPr>
        <p:spPr>
          <a:xfrm>
            <a:off x="1746359" y="4285293"/>
            <a:ext cx="470900" cy="470900"/>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800"/>
          </a:p>
        </p:txBody>
      </p:sp>
      <p:sp>
        <p:nvSpPr>
          <p:cNvPr id="14" name="îşļiḓè"/>
          <p:cNvSpPr/>
          <p:nvPr/>
        </p:nvSpPr>
        <p:spPr>
          <a:xfrm>
            <a:off x="1233733" y="3156187"/>
            <a:ext cx="470900" cy="470900"/>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800"/>
          </a:p>
        </p:txBody>
      </p:sp>
      <p:sp>
        <p:nvSpPr>
          <p:cNvPr id="15" name="îṡḷíďe"/>
          <p:cNvSpPr/>
          <p:nvPr/>
        </p:nvSpPr>
        <p:spPr>
          <a:xfrm>
            <a:off x="863797" y="2180966"/>
            <a:ext cx="195860" cy="185903"/>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68580" tIns="34290" rIns="68580" bIns="34290" anchor="ctr">
            <a:normAutofit fontScale="25000" lnSpcReduction="20000"/>
          </a:bodyPr>
          <a:lstStyle/>
          <a:p>
            <a:pPr algn="ctr"/>
            <a:endParaRPr sz="1800"/>
          </a:p>
        </p:txBody>
      </p:sp>
      <p:sp>
        <p:nvSpPr>
          <p:cNvPr id="16" name="íSlíḋe"/>
          <p:cNvSpPr/>
          <p:nvPr/>
        </p:nvSpPr>
        <p:spPr>
          <a:xfrm>
            <a:off x="1376423" y="3322699"/>
            <a:ext cx="195861" cy="171603"/>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68580" tIns="34290" rIns="68580" bIns="34290" anchor="ctr">
            <a:normAutofit fontScale="25000" lnSpcReduction="20000"/>
          </a:bodyPr>
          <a:lstStyle/>
          <a:p>
            <a:pPr algn="ctr"/>
            <a:endParaRPr sz="1800"/>
          </a:p>
        </p:txBody>
      </p:sp>
      <p:sp>
        <p:nvSpPr>
          <p:cNvPr id="17" name="ïśḷïḓe"/>
          <p:cNvSpPr/>
          <p:nvPr/>
        </p:nvSpPr>
        <p:spPr>
          <a:xfrm>
            <a:off x="1910754" y="4427387"/>
            <a:ext cx="158689" cy="194480"/>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68580" tIns="34290" rIns="68580" bIns="34290" anchor="ctr">
            <a:normAutofit fontScale="25000" lnSpcReduction="20000"/>
          </a:bodyPr>
          <a:lstStyle/>
          <a:p>
            <a:pPr algn="ctr"/>
            <a:endParaRPr sz="1800"/>
          </a:p>
        </p:txBody>
      </p:sp>
    </p:spTree>
    <p:extLst>
      <p:ext uri="{BB962C8B-B14F-4D97-AF65-F5344CB8AC3E}">
        <p14:creationId xmlns:p14="http://schemas.microsoft.com/office/powerpoint/2010/main" val="391940538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利用信号量实现进程互斥</a:t>
            </a:r>
          </a:p>
        </p:txBody>
      </p:sp>
      <p:sp>
        <p:nvSpPr>
          <p:cNvPr id="18" name="内容占位符 2"/>
          <p:cNvSpPr txBox="1"/>
          <p:nvPr/>
        </p:nvSpPr>
        <p:spPr>
          <a:xfrm>
            <a:off x="967875" y="1873526"/>
            <a:ext cx="2832653" cy="35954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tabLst>
                <a:tab pos="1503521" algn="ctr"/>
                <a:tab pos="3388519" algn="ctr"/>
              </a:tabLst>
            </a:pPr>
            <a:r>
              <a:rPr lang="en-US" altLang="zh-CN" sz="1950" dirty="0">
                <a:sym typeface="MT Extra" panose="05050102010205020202" pitchFamily="18" charset="2"/>
              </a:rPr>
              <a:t>semaphore </a:t>
            </a:r>
            <a:r>
              <a:rPr lang="en-US" altLang="zh-CN" sz="1950" dirty="0" err="1">
                <a:sym typeface="MT Extra" panose="05050102010205020202" pitchFamily="18" charset="2"/>
              </a:rPr>
              <a:t>mutex</a:t>
            </a:r>
            <a:r>
              <a:rPr lang="en-US" altLang="zh-CN" sz="1950" dirty="0">
                <a:sym typeface="MT Extra" panose="05050102010205020202" pitchFamily="18" charset="2"/>
              </a:rPr>
              <a:t>; </a:t>
            </a:r>
          </a:p>
          <a:p>
            <a:pPr>
              <a:buNone/>
              <a:tabLst>
                <a:tab pos="1503521" algn="ctr"/>
                <a:tab pos="3388519" algn="ctr"/>
              </a:tabLst>
            </a:pPr>
            <a:r>
              <a:rPr lang="en-US" altLang="zh-CN" sz="1950" dirty="0" err="1">
                <a:sym typeface="MT Extra" panose="05050102010205020202" pitchFamily="18" charset="2"/>
              </a:rPr>
              <a:t>mutex</a:t>
            </a:r>
            <a:r>
              <a:rPr lang="en-US" altLang="zh-CN" sz="1950" dirty="0">
                <a:sym typeface="MT Extra" panose="05050102010205020202" pitchFamily="18" charset="2"/>
              </a:rPr>
              <a:t>=1; // </a:t>
            </a:r>
            <a:r>
              <a:rPr lang="zh-CN" altLang="en-US" sz="1950" dirty="0">
                <a:sym typeface="MT Extra" panose="05050102010205020202" pitchFamily="18" charset="2"/>
              </a:rPr>
              <a:t>初始化为</a:t>
            </a:r>
            <a:r>
              <a:rPr lang="en-US" altLang="zh-CN" sz="1950" dirty="0">
                <a:sym typeface="MT Extra" panose="05050102010205020202" pitchFamily="18" charset="2"/>
              </a:rPr>
              <a:t> 1</a:t>
            </a:r>
          </a:p>
          <a:p>
            <a:pPr>
              <a:buNone/>
              <a:tabLst>
                <a:tab pos="1503521" algn="ctr"/>
                <a:tab pos="3388519" algn="ctr"/>
              </a:tabLst>
            </a:pPr>
            <a:endParaRPr lang="en-US" altLang="zh-CN" sz="1950" dirty="0">
              <a:sym typeface="MT Extra" panose="05050102010205020202" pitchFamily="18" charset="2"/>
            </a:endParaRPr>
          </a:p>
          <a:p>
            <a:pPr>
              <a:buNone/>
              <a:tabLst>
                <a:tab pos="1503521" algn="ctr"/>
                <a:tab pos="3388519" algn="ctr"/>
              </a:tabLst>
            </a:pPr>
            <a:r>
              <a:rPr lang="en-US" altLang="zh-CN" sz="1950" dirty="0">
                <a:sym typeface="MT Extra" panose="05050102010205020202" pitchFamily="18" charset="2"/>
              </a:rPr>
              <a:t>while(1)</a:t>
            </a:r>
          </a:p>
          <a:p>
            <a:pPr>
              <a:buNone/>
              <a:tabLst>
                <a:tab pos="1503521" algn="ctr"/>
                <a:tab pos="3388519" algn="ctr"/>
              </a:tabLst>
            </a:pPr>
            <a:r>
              <a:rPr lang="en-US" altLang="zh-CN" sz="1950" dirty="0">
                <a:sym typeface="MT Extra" panose="05050102010205020202" pitchFamily="18" charset="2"/>
              </a:rPr>
              <a:t>{</a:t>
            </a:r>
          </a:p>
          <a:p>
            <a:pPr>
              <a:buNone/>
              <a:tabLst>
                <a:tab pos="1503521" algn="ctr"/>
                <a:tab pos="3388519" algn="ctr"/>
              </a:tabLst>
            </a:pPr>
            <a:r>
              <a:rPr lang="en-US" altLang="zh-CN" sz="1950" dirty="0">
                <a:sym typeface="MT Extra" panose="05050102010205020202" pitchFamily="18" charset="2"/>
              </a:rPr>
              <a:t>	</a:t>
            </a:r>
            <a:r>
              <a:rPr lang="en-US" altLang="zh-CN" sz="1950" b="1" dirty="0">
                <a:solidFill>
                  <a:srgbClr val="C00000"/>
                </a:solidFill>
                <a:sym typeface="MT Extra" panose="05050102010205020202" pitchFamily="18" charset="2"/>
              </a:rPr>
              <a:t>wait(</a:t>
            </a:r>
            <a:r>
              <a:rPr lang="en-US" altLang="zh-CN" sz="1950" b="1" dirty="0" err="1">
                <a:solidFill>
                  <a:srgbClr val="C00000"/>
                </a:solidFill>
                <a:sym typeface="MT Extra" panose="05050102010205020202" pitchFamily="18" charset="2"/>
              </a:rPr>
              <a:t>mutex</a:t>
            </a:r>
            <a:r>
              <a:rPr lang="en-US" altLang="zh-CN" sz="1950" b="1" dirty="0">
                <a:solidFill>
                  <a:srgbClr val="C00000"/>
                </a:solidFill>
                <a:sym typeface="MT Extra" panose="05050102010205020202" pitchFamily="18" charset="2"/>
              </a:rPr>
              <a:t>);</a:t>
            </a:r>
          </a:p>
          <a:p>
            <a:pPr>
              <a:buNone/>
              <a:tabLst>
                <a:tab pos="1503521" algn="ctr"/>
                <a:tab pos="3388519" algn="ctr"/>
              </a:tabLst>
            </a:pPr>
            <a:r>
              <a:rPr lang="en-US" altLang="zh-CN" sz="1950" dirty="0">
                <a:sym typeface="MT Extra" panose="05050102010205020202" pitchFamily="18" charset="2"/>
              </a:rPr>
              <a:t>	</a:t>
            </a:r>
            <a:r>
              <a:rPr lang="zh-CN" altLang="en-US" sz="1950" dirty="0">
                <a:sym typeface="MT Extra" panose="05050102010205020202" pitchFamily="18" charset="2"/>
              </a:rPr>
              <a:t>临界区；</a:t>
            </a:r>
          </a:p>
          <a:p>
            <a:pPr>
              <a:buNone/>
              <a:tabLst>
                <a:tab pos="1503521" algn="ctr"/>
                <a:tab pos="3388519" algn="ctr"/>
              </a:tabLst>
            </a:pPr>
            <a:r>
              <a:rPr lang="en-US" altLang="zh-CN" sz="1950" dirty="0">
                <a:sym typeface="MT Extra" panose="05050102010205020202" pitchFamily="18" charset="2"/>
              </a:rPr>
              <a:t>	</a:t>
            </a:r>
            <a:r>
              <a:rPr lang="en-US" altLang="zh-CN" sz="1950" b="1" dirty="0">
                <a:solidFill>
                  <a:srgbClr val="C00000"/>
                </a:solidFill>
                <a:sym typeface="MT Extra" panose="05050102010205020202" pitchFamily="18" charset="2"/>
              </a:rPr>
              <a:t>signal(</a:t>
            </a:r>
            <a:r>
              <a:rPr lang="en-US" altLang="zh-CN" sz="1950" b="1" dirty="0" err="1">
                <a:solidFill>
                  <a:srgbClr val="C00000"/>
                </a:solidFill>
                <a:sym typeface="MT Extra" panose="05050102010205020202" pitchFamily="18" charset="2"/>
              </a:rPr>
              <a:t>mutex</a:t>
            </a:r>
            <a:r>
              <a:rPr lang="en-US" altLang="zh-CN" sz="1950" b="1" dirty="0">
                <a:solidFill>
                  <a:srgbClr val="C00000"/>
                </a:solidFill>
                <a:sym typeface="MT Extra" panose="05050102010205020202" pitchFamily="18" charset="2"/>
              </a:rPr>
              <a:t>);</a:t>
            </a:r>
          </a:p>
          <a:p>
            <a:pPr>
              <a:buNone/>
              <a:tabLst>
                <a:tab pos="1503521" algn="ctr"/>
                <a:tab pos="3388519" algn="ctr"/>
              </a:tabLst>
            </a:pPr>
            <a:r>
              <a:rPr lang="en-US" altLang="zh-CN" sz="1950" dirty="0">
                <a:sym typeface="MT Extra" panose="05050102010205020202" pitchFamily="18" charset="2"/>
              </a:rPr>
              <a:t>	</a:t>
            </a:r>
            <a:r>
              <a:rPr lang="zh-CN" altLang="en-US" sz="1950" dirty="0">
                <a:sym typeface="MT Extra" panose="05050102010205020202" pitchFamily="18" charset="2"/>
              </a:rPr>
              <a:t>剩余区；</a:t>
            </a:r>
            <a:endParaRPr lang="en-US" altLang="zh-CN" sz="1950" dirty="0">
              <a:sym typeface="MT Extra" panose="05050102010205020202" pitchFamily="18" charset="2"/>
            </a:endParaRPr>
          </a:p>
          <a:p>
            <a:pPr>
              <a:buNone/>
              <a:tabLst>
                <a:tab pos="1503521" algn="ctr"/>
                <a:tab pos="3388519" algn="ctr"/>
              </a:tabLst>
            </a:pPr>
            <a:r>
              <a:rPr lang="en-US" altLang="zh-CN" sz="1950" dirty="0">
                <a:sym typeface="MT Extra" panose="05050102010205020202" pitchFamily="18" charset="2"/>
              </a:rPr>
              <a:t>}</a:t>
            </a:r>
          </a:p>
        </p:txBody>
      </p:sp>
      <p:sp>
        <p:nvSpPr>
          <p:cNvPr id="19" name="ïşľîďè"/>
          <p:cNvSpPr/>
          <p:nvPr/>
        </p:nvSpPr>
        <p:spPr>
          <a:xfrm>
            <a:off x="5294407" y="1716157"/>
            <a:ext cx="3502241" cy="375285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a:bodyPr>
          <a:lstStyle/>
          <a:p>
            <a:pPr algn="ctr" defTabSz="685800"/>
            <a:endParaRPr lang="zh-CN" altLang="en-US" sz="1500" b="1" dirty="0">
              <a:solidFill>
                <a:schemeClr val="bg1"/>
              </a:solidFill>
            </a:endParaRPr>
          </a:p>
        </p:txBody>
      </p:sp>
    </p:spTree>
    <p:extLst>
      <p:ext uri="{BB962C8B-B14F-4D97-AF65-F5344CB8AC3E}">
        <p14:creationId xmlns:p14="http://schemas.microsoft.com/office/powerpoint/2010/main" val="211830327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利用信号量实现进程互斥</a:t>
            </a:r>
          </a:p>
        </p:txBody>
      </p:sp>
      <p:sp>
        <p:nvSpPr>
          <p:cNvPr id="18" name="内容占位符 2"/>
          <p:cNvSpPr txBox="1"/>
          <p:nvPr/>
        </p:nvSpPr>
        <p:spPr>
          <a:xfrm>
            <a:off x="402566" y="1872574"/>
            <a:ext cx="2832653" cy="3595481"/>
          </a:xfrm>
          <a:prstGeom prst="rect">
            <a:avLst/>
          </a:prstGeom>
          <a:ln>
            <a:solidFill>
              <a:srgbClr val="7030A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tabLst>
                <a:tab pos="1503521" algn="ctr"/>
                <a:tab pos="3388519" algn="ctr"/>
              </a:tabLst>
            </a:pPr>
            <a:r>
              <a:rPr lang="en-US" altLang="zh-CN" sz="1950" dirty="0">
                <a:sym typeface="MT Extra" panose="05050102010205020202" pitchFamily="18" charset="2"/>
              </a:rPr>
              <a:t>semaphore </a:t>
            </a:r>
            <a:r>
              <a:rPr lang="en-US" altLang="zh-CN" sz="1950" dirty="0" err="1">
                <a:sym typeface="MT Extra" panose="05050102010205020202" pitchFamily="18" charset="2"/>
              </a:rPr>
              <a:t>mutex</a:t>
            </a:r>
            <a:r>
              <a:rPr lang="en-US" altLang="zh-CN" sz="1950" dirty="0">
                <a:sym typeface="MT Extra" panose="05050102010205020202" pitchFamily="18" charset="2"/>
              </a:rPr>
              <a:t>; </a:t>
            </a:r>
          </a:p>
          <a:p>
            <a:pPr>
              <a:buNone/>
              <a:tabLst>
                <a:tab pos="1503521" algn="ctr"/>
                <a:tab pos="3388519" algn="ctr"/>
              </a:tabLst>
            </a:pPr>
            <a:r>
              <a:rPr lang="en-US" altLang="zh-CN" sz="1950" dirty="0" err="1">
                <a:sym typeface="MT Extra" panose="05050102010205020202" pitchFamily="18" charset="2"/>
              </a:rPr>
              <a:t>mutex</a:t>
            </a:r>
            <a:r>
              <a:rPr lang="en-US" altLang="zh-CN" sz="1950" dirty="0">
                <a:sym typeface="MT Extra" panose="05050102010205020202" pitchFamily="18" charset="2"/>
              </a:rPr>
              <a:t>=1; // </a:t>
            </a:r>
            <a:r>
              <a:rPr lang="zh-CN" altLang="en-US" sz="1950" dirty="0">
                <a:sym typeface="MT Extra" panose="05050102010205020202" pitchFamily="18" charset="2"/>
              </a:rPr>
              <a:t>初始化为</a:t>
            </a:r>
            <a:r>
              <a:rPr lang="en-US" altLang="zh-CN" sz="1950" dirty="0">
                <a:sym typeface="MT Extra" panose="05050102010205020202" pitchFamily="18" charset="2"/>
              </a:rPr>
              <a:t> 1</a:t>
            </a:r>
          </a:p>
          <a:p>
            <a:pPr>
              <a:buNone/>
              <a:tabLst>
                <a:tab pos="1503521" algn="ctr"/>
                <a:tab pos="3388519" algn="ctr"/>
              </a:tabLst>
            </a:pPr>
            <a:endParaRPr lang="en-US" altLang="zh-CN" sz="1950" dirty="0">
              <a:sym typeface="MT Extra" panose="05050102010205020202" pitchFamily="18" charset="2"/>
            </a:endParaRPr>
          </a:p>
          <a:p>
            <a:pPr>
              <a:buNone/>
              <a:tabLst>
                <a:tab pos="1503521" algn="ctr"/>
                <a:tab pos="3388519" algn="ctr"/>
              </a:tabLst>
            </a:pPr>
            <a:r>
              <a:rPr lang="en-US" altLang="zh-CN" sz="1950" dirty="0">
                <a:sym typeface="MT Extra" panose="05050102010205020202" pitchFamily="18" charset="2"/>
              </a:rPr>
              <a:t>while(1)</a:t>
            </a:r>
          </a:p>
          <a:p>
            <a:pPr>
              <a:buNone/>
              <a:tabLst>
                <a:tab pos="1503521" algn="ctr"/>
                <a:tab pos="3388519" algn="ctr"/>
              </a:tabLst>
            </a:pPr>
            <a:r>
              <a:rPr lang="en-US" altLang="zh-CN" sz="1950" dirty="0">
                <a:sym typeface="MT Extra" panose="05050102010205020202" pitchFamily="18" charset="2"/>
              </a:rPr>
              <a:t>{</a:t>
            </a:r>
          </a:p>
          <a:p>
            <a:pPr>
              <a:buNone/>
              <a:tabLst>
                <a:tab pos="1503521" algn="ctr"/>
                <a:tab pos="3388519" algn="ctr"/>
              </a:tabLst>
            </a:pPr>
            <a:r>
              <a:rPr lang="en-US" altLang="zh-CN" sz="1950" dirty="0">
                <a:sym typeface="MT Extra" panose="05050102010205020202" pitchFamily="18" charset="2"/>
              </a:rPr>
              <a:t>	</a:t>
            </a:r>
            <a:r>
              <a:rPr lang="en-US" altLang="zh-CN" sz="1950" b="1" dirty="0">
                <a:solidFill>
                  <a:srgbClr val="C00000"/>
                </a:solidFill>
                <a:sym typeface="MT Extra" panose="05050102010205020202" pitchFamily="18" charset="2"/>
              </a:rPr>
              <a:t>wait(</a:t>
            </a:r>
            <a:r>
              <a:rPr lang="en-US" altLang="zh-CN" sz="1950" b="1" dirty="0" err="1">
                <a:solidFill>
                  <a:srgbClr val="C00000"/>
                </a:solidFill>
                <a:sym typeface="MT Extra" panose="05050102010205020202" pitchFamily="18" charset="2"/>
              </a:rPr>
              <a:t>mutex</a:t>
            </a:r>
            <a:r>
              <a:rPr lang="en-US" altLang="zh-CN" sz="1950" b="1" dirty="0">
                <a:solidFill>
                  <a:srgbClr val="C00000"/>
                </a:solidFill>
                <a:sym typeface="MT Extra" panose="05050102010205020202" pitchFamily="18" charset="2"/>
              </a:rPr>
              <a:t>);</a:t>
            </a:r>
          </a:p>
          <a:p>
            <a:pPr>
              <a:buNone/>
              <a:tabLst>
                <a:tab pos="1503521" algn="ctr"/>
                <a:tab pos="3388519" algn="ctr"/>
              </a:tabLst>
            </a:pPr>
            <a:r>
              <a:rPr lang="en-US" altLang="zh-CN" sz="1950" dirty="0">
                <a:sym typeface="MT Extra" panose="05050102010205020202" pitchFamily="18" charset="2"/>
              </a:rPr>
              <a:t>	</a:t>
            </a:r>
            <a:r>
              <a:rPr lang="zh-CN" altLang="en-US" sz="1950" dirty="0">
                <a:sym typeface="MT Extra" panose="05050102010205020202" pitchFamily="18" charset="2"/>
              </a:rPr>
              <a:t>临界区；</a:t>
            </a:r>
          </a:p>
          <a:p>
            <a:pPr>
              <a:buNone/>
              <a:tabLst>
                <a:tab pos="1503521" algn="ctr"/>
                <a:tab pos="3388519" algn="ctr"/>
              </a:tabLst>
            </a:pPr>
            <a:r>
              <a:rPr lang="en-US" altLang="zh-CN" sz="1950" dirty="0">
                <a:sym typeface="MT Extra" panose="05050102010205020202" pitchFamily="18" charset="2"/>
              </a:rPr>
              <a:t>	</a:t>
            </a:r>
            <a:r>
              <a:rPr lang="en-US" altLang="zh-CN" sz="1950" b="1" dirty="0">
                <a:solidFill>
                  <a:srgbClr val="C00000"/>
                </a:solidFill>
                <a:sym typeface="MT Extra" panose="05050102010205020202" pitchFamily="18" charset="2"/>
              </a:rPr>
              <a:t>signal(</a:t>
            </a:r>
            <a:r>
              <a:rPr lang="en-US" altLang="zh-CN" sz="1950" b="1" dirty="0" err="1">
                <a:solidFill>
                  <a:srgbClr val="C00000"/>
                </a:solidFill>
                <a:sym typeface="MT Extra" panose="05050102010205020202" pitchFamily="18" charset="2"/>
              </a:rPr>
              <a:t>mutex</a:t>
            </a:r>
            <a:r>
              <a:rPr lang="en-US" altLang="zh-CN" sz="1950" b="1" dirty="0">
                <a:solidFill>
                  <a:srgbClr val="C00000"/>
                </a:solidFill>
                <a:sym typeface="MT Extra" panose="05050102010205020202" pitchFamily="18" charset="2"/>
              </a:rPr>
              <a:t>);</a:t>
            </a:r>
          </a:p>
          <a:p>
            <a:pPr>
              <a:buNone/>
              <a:tabLst>
                <a:tab pos="1503521" algn="ctr"/>
                <a:tab pos="3388519" algn="ctr"/>
              </a:tabLst>
            </a:pPr>
            <a:r>
              <a:rPr lang="en-US" altLang="zh-CN" sz="1950" dirty="0">
                <a:sym typeface="MT Extra" panose="05050102010205020202" pitchFamily="18" charset="2"/>
              </a:rPr>
              <a:t>	</a:t>
            </a:r>
            <a:r>
              <a:rPr lang="zh-CN" altLang="en-US" sz="1950" dirty="0">
                <a:sym typeface="MT Extra" panose="05050102010205020202" pitchFamily="18" charset="2"/>
              </a:rPr>
              <a:t>剩余区；</a:t>
            </a:r>
            <a:endParaRPr lang="en-US" altLang="zh-CN" sz="1950" dirty="0">
              <a:sym typeface="MT Extra" panose="05050102010205020202" pitchFamily="18" charset="2"/>
            </a:endParaRPr>
          </a:p>
          <a:p>
            <a:pPr>
              <a:buNone/>
              <a:tabLst>
                <a:tab pos="1503521" algn="ctr"/>
                <a:tab pos="3388519" algn="ctr"/>
              </a:tabLst>
            </a:pPr>
            <a:r>
              <a:rPr lang="en-US" altLang="zh-CN" sz="1950" dirty="0">
                <a:sym typeface="MT Extra" panose="05050102010205020202" pitchFamily="18" charset="2"/>
              </a:rPr>
              <a:t>}</a:t>
            </a:r>
          </a:p>
        </p:txBody>
      </p:sp>
      <p:sp>
        <p:nvSpPr>
          <p:cNvPr id="60419" name="Rectangle 3"/>
          <p:cNvSpPr>
            <a:spLocks noGrp="1"/>
          </p:cNvSpPr>
          <p:nvPr>
            <p:ph idx="1"/>
          </p:nvPr>
        </p:nvSpPr>
        <p:spPr>
          <a:xfrm>
            <a:off x="3520916" y="1872616"/>
            <a:ext cx="5357813" cy="1071086"/>
          </a:xfrm>
          <a:ln>
            <a:solidFill>
              <a:srgbClr val="7030A0"/>
            </a:solidFill>
          </a:ln>
        </p:spPr>
        <p:txBody>
          <a:bodyPr vert="horz" wrap="square" lIns="68580" tIns="34290" rIns="68580" bIns="34290" anchor="t" anchorCtr="0">
            <a:noAutofit/>
          </a:bodyPr>
          <a:lstStyle/>
          <a:p>
            <a:pPr algn="just" eaLnBrk="1" hangingPunct="1"/>
            <a:r>
              <a:rPr lang="zh-CN" altLang="en-US" sz="1800" dirty="0">
                <a:latin typeface="宋体" panose="02010600030101010101" pitchFamily="2" charset="-122"/>
              </a:rPr>
              <a:t>例：</a:t>
            </a:r>
            <a:r>
              <a:rPr lang="zh-CN" altLang="en-US" sz="1800" dirty="0"/>
              <a:t>系统中只有一台打印机，有</a:t>
            </a:r>
            <a:r>
              <a:rPr lang="en-US" altLang="zh-CN" sz="1800" dirty="0"/>
              <a:t>4</a:t>
            </a:r>
            <a:r>
              <a:rPr lang="zh-CN" altLang="en-US" sz="1800" dirty="0"/>
              <a:t>个用户的程序在执行过程中都要使用打印机输出计算结果。设每个用户程序对应一个进程。试用</a:t>
            </a:r>
            <a:r>
              <a:rPr lang="zh-CN" altLang="zh-CN" sz="1800" dirty="0"/>
              <a:t>PV</a:t>
            </a:r>
            <a:r>
              <a:rPr lang="zh-CN" altLang="en-US" sz="1800" dirty="0"/>
              <a:t>操作写出这些进程互斥使用打印机的算法。</a:t>
            </a:r>
          </a:p>
        </p:txBody>
      </p:sp>
      <p:sp>
        <p:nvSpPr>
          <p:cNvPr id="61443" name="Rectangle 2"/>
          <p:cNvSpPr>
            <a:spLocks noGrp="1"/>
          </p:cNvSpPr>
          <p:nvPr/>
        </p:nvSpPr>
        <p:spPr>
          <a:xfrm>
            <a:off x="3521393" y="3093720"/>
            <a:ext cx="5357336" cy="335280"/>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90000"/>
              </a:lnSpc>
            </a:pPr>
            <a:r>
              <a:rPr lang="zh-CN" altLang="en-US" sz="1800" dirty="0"/>
              <a:t>设一个互斥信号量为</a:t>
            </a:r>
            <a:r>
              <a:rPr lang="zh-CN" altLang="zh-CN" sz="1800" dirty="0"/>
              <a:t>mutex，</a:t>
            </a:r>
            <a:r>
              <a:rPr lang="zh-CN" altLang="en-US" sz="1800" dirty="0"/>
              <a:t>初值为</a:t>
            </a:r>
            <a:r>
              <a:rPr lang="zh-CN" altLang="zh-CN" sz="1800" dirty="0"/>
              <a:t>1。</a:t>
            </a:r>
          </a:p>
        </p:txBody>
      </p:sp>
      <p:sp>
        <p:nvSpPr>
          <p:cNvPr id="61444" name="Text Box 3"/>
          <p:cNvSpPr txBox="1"/>
          <p:nvPr/>
        </p:nvSpPr>
        <p:spPr>
          <a:xfrm>
            <a:off x="3675221" y="3507582"/>
            <a:ext cx="1658303" cy="2169825"/>
          </a:xfrm>
          <a:prstGeom prst="rect">
            <a:avLst/>
          </a:prstGeom>
          <a:solidFill>
            <a:srgbClr val="FFF3FF"/>
          </a:solidFill>
          <a:ln w="9525" cap="flat" cmpd="sng">
            <a:solidFill>
              <a:srgbClr val="7030A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i="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indent="0" eaLnBrk="1" hangingPunct="1">
              <a:spcBef>
                <a:spcPct val="50000"/>
              </a:spcBef>
              <a:buClrTx/>
              <a:buSzTx/>
              <a:buNone/>
            </a:pPr>
            <a:r>
              <a:rPr lang="zh-CN" altLang="zh-CN" sz="1800" dirty="0"/>
              <a:t>  A</a:t>
            </a:r>
            <a:r>
              <a:rPr lang="zh-CN" altLang="en-US" sz="1800" dirty="0"/>
              <a:t>进程</a:t>
            </a:r>
            <a:br>
              <a:rPr lang="zh-CN" altLang="en-US" sz="1800" dirty="0"/>
            </a:br>
            <a:r>
              <a:rPr lang="zh-CN" altLang="en-US" sz="1800" dirty="0"/>
              <a:t>  </a:t>
            </a:r>
            <a:r>
              <a:rPr lang="zh-CN" altLang="zh-CN" sz="1800" dirty="0">
                <a:latin typeface="Times New Roman" panose="02020603050405020304" pitchFamily="18" charset="0"/>
              </a:rPr>
              <a:t>……</a:t>
            </a:r>
            <a:r>
              <a:rPr lang="zh-CN" altLang="zh-CN" sz="1800" dirty="0"/>
              <a:t>. </a:t>
            </a:r>
          </a:p>
          <a:p>
            <a:pPr marL="0" indent="0" eaLnBrk="1" hangingPunct="1">
              <a:spcBef>
                <a:spcPct val="50000"/>
              </a:spcBef>
              <a:buClrTx/>
              <a:buSzTx/>
              <a:buNone/>
            </a:pPr>
            <a:r>
              <a:rPr lang="zh-CN" altLang="zh-CN" sz="1800" dirty="0"/>
              <a:t>  </a:t>
            </a:r>
            <a:r>
              <a:rPr lang="en-US" altLang="zh-CN" sz="1800" dirty="0"/>
              <a:t>wait</a:t>
            </a:r>
            <a:r>
              <a:rPr lang="zh-CN" altLang="zh-CN" sz="1800" dirty="0"/>
              <a:t>(mutex)</a:t>
            </a:r>
          </a:p>
          <a:p>
            <a:pPr marL="0" indent="0" eaLnBrk="1" hangingPunct="1">
              <a:spcBef>
                <a:spcPct val="50000"/>
              </a:spcBef>
              <a:buClrTx/>
              <a:buSzTx/>
              <a:buNone/>
            </a:pPr>
            <a:r>
              <a:rPr lang="zh-CN" altLang="en-US" sz="1800" dirty="0"/>
              <a:t>  使用打印机</a:t>
            </a:r>
          </a:p>
          <a:p>
            <a:pPr marL="0" indent="0" eaLnBrk="1" hangingPunct="1">
              <a:spcBef>
                <a:spcPct val="50000"/>
              </a:spcBef>
              <a:buClrTx/>
              <a:buSzTx/>
              <a:buNone/>
            </a:pPr>
            <a:r>
              <a:rPr lang="zh-CN" altLang="zh-CN" sz="1800" dirty="0"/>
              <a:t>  </a:t>
            </a:r>
            <a:r>
              <a:rPr lang="en-US" altLang="zh-CN" sz="1800" dirty="0"/>
              <a:t>signal</a:t>
            </a:r>
            <a:r>
              <a:rPr lang="zh-CN" altLang="zh-CN" sz="1800" dirty="0"/>
              <a:t>(mutex)</a:t>
            </a:r>
            <a:br>
              <a:rPr lang="zh-CN" altLang="zh-CN" sz="1800" dirty="0"/>
            </a:br>
            <a:r>
              <a:rPr lang="zh-CN" altLang="zh-CN" sz="1800" dirty="0"/>
              <a:t>  </a:t>
            </a:r>
            <a:r>
              <a:rPr lang="zh-CN" altLang="zh-CN" sz="1800" dirty="0">
                <a:latin typeface="Times New Roman" panose="02020603050405020304" pitchFamily="18" charset="0"/>
              </a:rPr>
              <a:t>……</a:t>
            </a:r>
            <a:endParaRPr lang="zh-CN" altLang="zh-CN" sz="1800" dirty="0"/>
          </a:p>
        </p:txBody>
      </p:sp>
      <p:sp>
        <p:nvSpPr>
          <p:cNvPr id="61445" name="Text Box 4"/>
          <p:cNvSpPr txBox="1"/>
          <p:nvPr/>
        </p:nvSpPr>
        <p:spPr>
          <a:xfrm>
            <a:off x="5332572" y="3509963"/>
            <a:ext cx="1677829" cy="2169825"/>
          </a:xfrm>
          <a:prstGeom prst="rect">
            <a:avLst/>
          </a:prstGeom>
          <a:solidFill>
            <a:srgbClr val="FFF3FF"/>
          </a:solidFill>
          <a:ln w="9525" cap="flat" cmpd="sng">
            <a:solidFill>
              <a:srgbClr val="7030A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i="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indent="0" eaLnBrk="1" hangingPunct="1">
              <a:spcBef>
                <a:spcPct val="50000"/>
              </a:spcBef>
              <a:buClrTx/>
              <a:buSzTx/>
              <a:buNone/>
            </a:pPr>
            <a:r>
              <a:rPr lang="zh-CN" altLang="zh-CN" sz="1800" dirty="0"/>
              <a:t>  B</a:t>
            </a:r>
            <a:r>
              <a:rPr lang="zh-CN" altLang="en-US" sz="1800" dirty="0"/>
              <a:t>进程</a:t>
            </a:r>
            <a:br>
              <a:rPr lang="zh-CN" altLang="en-US" sz="1800" dirty="0"/>
            </a:br>
            <a:r>
              <a:rPr lang="zh-CN" altLang="en-US" sz="1800" dirty="0"/>
              <a:t>  </a:t>
            </a:r>
            <a:r>
              <a:rPr lang="zh-CN" altLang="zh-CN" sz="1800" dirty="0">
                <a:latin typeface="Times New Roman" panose="02020603050405020304" pitchFamily="18" charset="0"/>
              </a:rPr>
              <a:t>……</a:t>
            </a:r>
            <a:r>
              <a:rPr lang="zh-CN" altLang="zh-CN" sz="1800" dirty="0"/>
              <a:t>. </a:t>
            </a:r>
          </a:p>
          <a:p>
            <a:pPr marL="0" indent="0" eaLnBrk="1" hangingPunct="1">
              <a:spcBef>
                <a:spcPct val="50000"/>
              </a:spcBef>
              <a:buClrTx/>
              <a:buSzTx/>
              <a:buNone/>
            </a:pPr>
            <a:r>
              <a:rPr lang="zh-CN" altLang="zh-CN" sz="1800" dirty="0"/>
              <a:t>  </a:t>
            </a:r>
            <a:r>
              <a:rPr lang="en-US" altLang="zh-CN" sz="1800" dirty="0"/>
              <a:t>wait</a:t>
            </a:r>
            <a:r>
              <a:rPr lang="zh-CN" altLang="zh-CN" sz="1800" dirty="0"/>
              <a:t>(mutex)</a:t>
            </a:r>
          </a:p>
          <a:p>
            <a:pPr marL="0" indent="0" eaLnBrk="1" hangingPunct="1">
              <a:spcBef>
                <a:spcPct val="50000"/>
              </a:spcBef>
              <a:buClrTx/>
              <a:buSzTx/>
              <a:buNone/>
            </a:pPr>
            <a:r>
              <a:rPr lang="zh-CN" altLang="en-US" sz="1800" dirty="0"/>
              <a:t>  使用打印机</a:t>
            </a:r>
          </a:p>
          <a:p>
            <a:pPr marL="0" indent="0" eaLnBrk="1" hangingPunct="1">
              <a:spcBef>
                <a:spcPct val="50000"/>
              </a:spcBef>
              <a:buClrTx/>
              <a:buSzTx/>
              <a:buNone/>
            </a:pPr>
            <a:r>
              <a:rPr lang="zh-CN" altLang="zh-CN" sz="1800" dirty="0"/>
              <a:t>  </a:t>
            </a:r>
            <a:r>
              <a:rPr lang="en-US" altLang="zh-CN" sz="1800" dirty="0"/>
              <a:t>signal</a:t>
            </a:r>
            <a:r>
              <a:rPr lang="zh-CN" altLang="zh-CN" sz="1800" dirty="0"/>
              <a:t>(mutex)</a:t>
            </a:r>
            <a:br>
              <a:rPr lang="zh-CN" altLang="zh-CN" sz="1800" dirty="0"/>
            </a:br>
            <a:r>
              <a:rPr lang="zh-CN" altLang="zh-CN" sz="1800" dirty="0"/>
              <a:t>  </a:t>
            </a:r>
            <a:r>
              <a:rPr lang="zh-CN" altLang="zh-CN" sz="1800" dirty="0">
                <a:latin typeface="Times New Roman" panose="02020603050405020304" pitchFamily="18" charset="0"/>
              </a:rPr>
              <a:t>……</a:t>
            </a:r>
            <a:endParaRPr lang="zh-CN" altLang="zh-CN" sz="1800" dirty="0"/>
          </a:p>
        </p:txBody>
      </p:sp>
      <p:sp>
        <p:nvSpPr>
          <p:cNvPr id="2" name="Text Box 4"/>
          <p:cNvSpPr txBox="1"/>
          <p:nvPr/>
        </p:nvSpPr>
        <p:spPr>
          <a:xfrm>
            <a:off x="6999447" y="3505200"/>
            <a:ext cx="1677829" cy="2169825"/>
          </a:xfrm>
          <a:prstGeom prst="rect">
            <a:avLst/>
          </a:prstGeom>
          <a:solidFill>
            <a:srgbClr val="FFF3FF"/>
          </a:solidFill>
          <a:ln w="9525" cap="flat" cmpd="sng">
            <a:solidFill>
              <a:srgbClr val="7030A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i="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indent="0" eaLnBrk="1" hangingPunct="1">
              <a:spcBef>
                <a:spcPct val="50000"/>
              </a:spcBef>
              <a:buClrTx/>
              <a:buSzTx/>
              <a:buNone/>
            </a:pPr>
            <a:r>
              <a:rPr lang="zh-CN" altLang="zh-CN" sz="1800" dirty="0"/>
              <a:t>  </a:t>
            </a:r>
            <a:r>
              <a:rPr lang="en-US" altLang="zh-CN" sz="1800" dirty="0"/>
              <a:t>C</a:t>
            </a:r>
            <a:r>
              <a:rPr lang="zh-CN" altLang="en-US" sz="1800" dirty="0"/>
              <a:t>进程</a:t>
            </a:r>
            <a:br>
              <a:rPr lang="zh-CN" altLang="en-US" sz="1800" dirty="0"/>
            </a:br>
            <a:r>
              <a:rPr lang="zh-CN" altLang="en-US" sz="1800" dirty="0"/>
              <a:t>  </a:t>
            </a:r>
            <a:r>
              <a:rPr lang="zh-CN" altLang="zh-CN" sz="1800" dirty="0">
                <a:latin typeface="Times New Roman" panose="02020603050405020304" pitchFamily="18" charset="0"/>
              </a:rPr>
              <a:t>……</a:t>
            </a:r>
            <a:r>
              <a:rPr lang="zh-CN" altLang="zh-CN" sz="1800" dirty="0"/>
              <a:t>. </a:t>
            </a:r>
          </a:p>
          <a:p>
            <a:pPr marL="0" indent="0" eaLnBrk="1" hangingPunct="1">
              <a:spcBef>
                <a:spcPct val="50000"/>
              </a:spcBef>
              <a:buClrTx/>
              <a:buSzTx/>
              <a:buNone/>
            </a:pPr>
            <a:r>
              <a:rPr lang="zh-CN" altLang="zh-CN" sz="1800" dirty="0"/>
              <a:t>  </a:t>
            </a:r>
            <a:r>
              <a:rPr lang="en-US" altLang="zh-CN" sz="1800" dirty="0"/>
              <a:t>wait</a:t>
            </a:r>
            <a:r>
              <a:rPr lang="zh-CN" altLang="zh-CN" sz="1800" dirty="0"/>
              <a:t>(mutex)</a:t>
            </a:r>
          </a:p>
          <a:p>
            <a:pPr marL="0" indent="0" eaLnBrk="1" hangingPunct="1">
              <a:spcBef>
                <a:spcPct val="50000"/>
              </a:spcBef>
              <a:buClrTx/>
              <a:buSzTx/>
              <a:buNone/>
            </a:pPr>
            <a:r>
              <a:rPr lang="zh-CN" altLang="en-US" sz="1800" dirty="0"/>
              <a:t>  使用打印机</a:t>
            </a:r>
          </a:p>
          <a:p>
            <a:pPr marL="0" indent="0" eaLnBrk="1" hangingPunct="1">
              <a:spcBef>
                <a:spcPct val="50000"/>
              </a:spcBef>
              <a:buClrTx/>
              <a:buSzTx/>
              <a:buNone/>
            </a:pPr>
            <a:r>
              <a:rPr lang="zh-CN" altLang="zh-CN" sz="1800" dirty="0"/>
              <a:t>  </a:t>
            </a:r>
            <a:r>
              <a:rPr lang="en-US" altLang="zh-CN" sz="1800" dirty="0"/>
              <a:t>signal</a:t>
            </a:r>
            <a:r>
              <a:rPr lang="zh-CN" altLang="zh-CN" sz="1800" dirty="0"/>
              <a:t>(mutex)</a:t>
            </a:r>
            <a:br>
              <a:rPr lang="zh-CN" altLang="zh-CN" sz="1800" dirty="0"/>
            </a:br>
            <a:r>
              <a:rPr lang="zh-CN" altLang="zh-CN" sz="1800" dirty="0"/>
              <a:t>  </a:t>
            </a:r>
            <a:r>
              <a:rPr lang="zh-CN" altLang="zh-CN" sz="1800" dirty="0">
                <a:latin typeface="Times New Roman" panose="02020603050405020304" pitchFamily="18" charset="0"/>
              </a:rPr>
              <a:t>……</a:t>
            </a:r>
            <a:endParaRPr lang="zh-CN" altLang="zh-CN" sz="1800" dirty="0"/>
          </a:p>
        </p:txBody>
      </p:sp>
    </p:spTree>
    <p:extLst>
      <p:ext uri="{BB962C8B-B14F-4D97-AF65-F5344CB8AC3E}">
        <p14:creationId xmlns:p14="http://schemas.microsoft.com/office/powerpoint/2010/main" val="50736601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利用信号量实现进程同步</a:t>
            </a:r>
          </a:p>
        </p:txBody>
      </p:sp>
      <p:sp>
        <p:nvSpPr>
          <p:cNvPr id="18" name="î$ļíḋè"/>
          <p:cNvSpPr/>
          <p:nvPr/>
        </p:nvSpPr>
        <p:spPr>
          <a:xfrm>
            <a:off x="502444" y="1780617"/>
            <a:ext cx="5935068" cy="1105055"/>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800" dirty="0"/>
              <a:t>实现各种同步问题</a:t>
            </a:r>
          </a:p>
          <a:p>
            <a:pPr marL="257175" indent="-257175">
              <a:lnSpc>
                <a:spcPct val="120000"/>
              </a:lnSpc>
              <a:buClr>
                <a:srgbClr val="FF0000"/>
              </a:buClr>
              <a:buFont typeface="Wingdings" panose="05000000000000000000" pitchFamily="2" charset="2"/>
              <a:buChar char="Ø"/>
            </a:pPr>
            <a:r>
              <a:rPr lang="zh-CN" altLang="en-US" sz="1800" dirty="0"/>
              <a:t>例子：</a:t>
            </a:r>
            <a:r>
              <a:rPr lang="en-US" altLang="zh-CN" sz="1800" dirty="0"/>
              <a:t>P1</a:t>
            </a:r>
            <a:r>
              <a:rPr lang="zh-CN" altLang="en-US" sz="1800" dirty="0"/>
              <a:t>和 </a:t>
            </a:r>
            <a:r>
              <a:rPr lang="en-US" altLang="zh-CN" sz="1800" dirty="0"/>
              <a:t>P2 </a:t>
            </a:r>
            <a:r>
              <a:rPr lang="zh-CN" altLang="en-US" sz="1800" dirty="0"/>
              <a:t>需要代码段 </a:t>
            </a:r>
            <a:r>
              <a:rPr lang="en-US" altLang="zh-CN" sz="1800" dirty="0"/>
              <a:t>C1 </a:t>
            </a:r>
            <a:r>
              <a:rPr lang="zh-CN" altLang="en-US" sz="1800" dirty="0"/>
              <a:t>比</a:t>
            </a:r>
            <a:r>
              <a:rPr lang="en-US" altLang="zh-CN" sz="1800" dirty="0"/>
              <a:t>C2</a:t>
            </a:r>
            <a:r>
              <a:rPr lang="zh-CN" altLang="en-US" sz="1800" dirty="0"/>
              <a:t>先运行</a:t>
            </a:r>
          </a:p>
          <a:p>
            <a:pPr>
              <a:lnSpc>
                <a:spcPct val="120000"/>
              </a:lnSpc>
              <a:buClr>
                <a:srgbClr val="FF0000"/>
              </a:buClr>
            </a:pPr>
            <a:r>
              <a:rPr lang="en-US" altLang="zh-CN" sz="1800" dirty="0"/>
              <a:t>    semaphores s=0; //</a:t>
            </a:r>
            <a:r>
              <a:rPr lang="zh-CN" altLang="en-US" sz="1800" dirty="0"/>
              <a:t>主要用于传递消息</a:t>
            </a:r>
          </a:p>
        </p:txBody>
      </p:sp>
      <p:sp>
        <p:nvSpPr>
          <p:cNvPr id="19" name="内容占位符 3"/>
          <p:cNvSpPr txBox="1"/>
          <p:nvPr/>
        </p:nvSpPr>
        <p:spPr>
          <a:xfrm>
            <a:off x="815991" y="2979580"/>
            <a:ext cx="2094310" cy="2166335"/>
          </a:xfrm>
          <a:prstGeom prst="rect">
            <a:avLst/>
          </a:prstGeom>
          <a:solidFill>
            <a:schemeClr val="accent1">
              <a:lumMod val="20000"/>
              <a:lumOff val="8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963" indent="0">
              <a:buNone/>
            </a:pPr>
            <a:r>
              <a:rPr lang="en-US" altLang="zh-CN" dirty="0"/>
              <a:t>P1()</a:t>
            </a:r>
          </a:p>
          <a:p>
            <a:pPr marL="80963" indent="0">
              <a:buNone/>
            </a:pPr>
            <a:r>
              <a:rPr lang="en-US" altLang="zh-CN" dirty="0"/>
              <a:t>{</a:t>
            </a:r>
          </a:p>
          <a:p>
            <a:pPr marL="80963" indent="0">
              <a:buNone/>
            </a:pPr>
            <a:r>
              <a:rPr lang="en-US" altLang="zh-CN" dirty="0"/>
              <a:t>    </a:t>
            </a:r>
            <a:r>
              <a:rPr lang="en-US" altLang="zh-CN" dirty="0">
                <a:solidFill>
                  <a:srgbClr val="FF0000"/>
                </a:solidFill>
              </a:rPr>
              <a:t>C1</a:t>
            </a:r>
            <a:r>
              <a:rPr lang="en-US" altLang="zh-CN" dirty="0"/>
              <a:t>;</a:t>
            </a:r>
          </a:p>
          <a:p>
            <a:pPr marL="80963" indent="0">
              <a:buNone/>
            </a:pPr>
            <a:r>
              <a:rPr lang="en-US" altLang="zh-CN" dirty="0"/>
              <a:t>    signal(s);</a:t>
            </a:r>
          </a:p>
          <a:p>
            <a:pPr marL="80963" indent="0">
              <a:buNone/>
            </a:pPr>
            <a:r>
              <a:rPr lang="en-US" altLang="zh-CN" dirty="0"/>
              <a:t>    …</a:t>
            </a:r>
          </a:p>
          <a:p>
            <a:pPr marL="80963" indent="0">
              <a:buNone/>
            </a:pPr>
            <a:r>
              <a:rPr lang="en-US" altLang="zh-CN" dirty="0"/>
              <a:t>}</a:t>
            </a:r>
            <a:endParaRPr lang="zh-CN" altLang="en-US" dirty="0"/>
          </a:p>
        </p:txBody>
      </p:sp>
      <p:sp>
        <p:nvSpPr>
          <p:cNvPr id="21" name="内容占位符 4"/>
          <p:cNvSpPr txBox="1"/>
          <p:nvPr/>
        </p:nvSpPr>
        <p:spPr>
          <a:xfrm>
            <a:off x="3096276" y="2979580"/>
            <a:ext cx="2213134" cy="2166335"/>
          </a:xfrm>
          <a:prstGeom prst="rect">
            <a:avLst/>
          </a:prstGeom>
          <a:solidFill>
            <a:schemeClr val="accent1">
              <a:lumMod val="20000"/>
              <a:lumOff val="8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963" indent="0">
              <a:buNone/>
              <a:defRPr/>
            </a:pPr>
            <a:r>
              <a:rPr lang="en-US" altLang="zh-CN"/>
              <a:t>P2()</a:t>
            </a:r>
          </a:p>
          <a:p>
            <a:pPr marL="80963" indent="0">
              <a:buNone/>
              <a:defRPr/>
            </a:pPr>
            <a:r>
              <a:rPr lang="en-US" altLang="zh-CN"/>
              <a:t>{</a:t>
            </a:r>
          </a:p>
          <a:p>
            <a:pPr marL="80963" indent="0">
              <a:buNone/>
              <a:defRPr/>
            </a:pPr>
            <a:r>
              <a:rPr lang="en-US" altLang="zh-CN"/>
              <a:t>    …</a:t>
            </a:r>
          </a:p>
          <a:p>
            <a:pPr marL="80963" indent="0">
              <a:buNone/>
              <a:defRPr/>
            </a:pPr>
            <a:r>
              <a:rPr lang="en-US" altLang="zh-CN"/>
              <a:t>    wait(s); </a:t>
            </a:r>
          </a:p>
          <a:p>
            <a:pPr marL="80963" indent="0">
              <a:buNone/>
              <a:defRPr/>
            </a:pPr>
            <a:r>
              <a:rPr lang="en-US" altLang="zh-CN"/>
              <a:t>    </a:t>
            </a:r>
            <a:r>
              <a:rPr lang="en-US" altLang="zh-CN">
                <a:solidFill>
                  <a:srgbClr val="FF0000"/>
                </a:solidFill>
              </a:rPr>
              <a:t>C2</a:t>
            </a:r>
            <a:r>
              <a:rPr lang="en-US" altLang="zh-CN"/>
              <a:t>;</a:t>
            </a:r>
          </a:p>
          <a:p>
            <a:pPr marL="80963" indent="0">
              <a:buNone/>
              <a:defRPr/>
            </a:pPr>
            <a:r>
              <a:rPr lang="en-US" altLang="zh-CN"/>
              <a:t>}</a:t>
            </a:r>
            <a:endParaRPr lang="zh-CN" altLang="en-US"/>
          </a:p>
          <a:p>
            <a:pPr marL="80963" indent="0">
              <a:defRPr/>
            </a:pPr>
            <a:endParaRPr lang="zh-CN" altLang="en-US" dirty="0"/>
          </a:p>
        </p:txBody>
      </p:sp>
      <p:sp>
        <p:nvSpPr>
          <p:cNvPr id="22" name="圆角矩形 21"/>
          <p:cNvSpPr/>
          <p:nvPr/>
        </p:nvSpPr>
        <p:spPr bwMode="auto">
          <a:xfrm>
            <a:off x="6153959" y="2979580"/>
            <a:ext cx="1892117" cy="510778"/>
          </a:xfrm>
          <a:prstGeom prst="roundRect">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wrap="square">
            <a:spAutoFit/>
          </a:bodyPr>
          <a:lstStyle/>
          <a:p>
            <a:pPr algn="ctr">
              <a:defRPr/>
            </a:pPr>
            <a:r>
              <a:rPr lang="en-US" altLang="zh-CN" dirty="0">
                <a:solidFill>
                  <a:schemeClr val="tx1"/>
                </a:solidFill>
              </a:rPr>
              <a:t>C1</a:t>
            </a:r>
            <a:endParaRPr lang="zh-CN" altLang="en-US" dirty="0">
              <a:solidFill>
                <a:schemeClr val="tx1"/>
              </a:solidFill>
            </a:endParaRPr>
          </a:p>
        </p:txBody>
      </p:sp>
      <p:sp>
        <p:nvSpPr>
          <p:cNvPr id="23" name="圆角矩形 22"/>
          <p:cNvSpPr/>
          <p:nvPr/>
        </p:nvSpPr>
        <p:spPr bwMode="auto">
          <a:xfrm>
            <a:off x="6153959" y="4324987"/>
            <a:ext cx="1892117" cy="510778"/>
          </a:xfrm>
          <a:prstGeom prst="roundRect">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wrap="square">
            <a:spAutoFit/>
          </a:bodyPr>
          <a:lstStyle/>
          <a:p>
            <a:pPr algn="ctr">
              <a:defRPr/>
            </a:pPr>
            <a:r>
              <a:rPr lang="en-US" altLang="zh-CN" dirty="0">
                <a:solidFill>
                  <a:schemeClr val="tx1"/>
                </a:solidFill>
              </a:rPr>
              <a:t>C2</a:t>
            </a:r>
            <a:endParaRPr lang="zh-CN" altLang="en-US" dirty="0">
              <a:solidFill>
                <a:schemeClr val="tx1"/>
              </a:solidFill>
            </a:endParaRPr>
          </a:p>
        </p:txBody>
      </p:sp>
      <p:cxnSp>
        <p:nvCxnSpPr>
          <p:cNvPr id="25" name="直接箭头连接符 3"/>
          <p:cNvCxnSpPr>
            <a:cxnSpLocks noChangeShapeType="1"/>
            <a:stCxn id="22" idx="2"/>
            <a:endCxn id="23" idx="0"/>
          </p:cNvCxnSpPr>
          <p:nvPr/>
        </p:nvCxnSpPr>
        <p:spPr bwMode="auto">
          <a:xfrm>
            <a:off x="7100018" y="3490358"/>
            <a:ext cx="0" cy="834629"/>
          </a:xfrm>
          <a:prstGeom prst="straightConnector1">
            <a:avLst/>
          </a:prstGeom>
          <a:noFill/>
          <a:ln w="28575" algn="ctr">
            <a:solidFill>
              <a:schemeClr val="tx1"/>
            </a:solidFill>
            <a:rou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2066893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利用信号量实现前趋关系</a:t>
            </a:r>
          </a:p>
        </p:txBody>
      </p:sp>
      <p:sp>
        <p:nvSpPr>
          <p:cNvPr id="24" name="内容占位符 2"/>
          <p:cNvSpPr txBox="1"/>
          <p:nvPr/>
        </p:nvSpPr>
        <p:spPr>
          <a:xfrm>
            <a:off x="502444" y="1903571"/>
            <a:ext cx="4733449" cy="3794760"/>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7175" indent="-257175"/>
            <a:r>
              <a:rPr lang="zh-CN" altLang="en-US" sz="1950" dirty="0">
                <a:sym typeface="+mn-ea"/>
              </a:rPr>
              <a:t>假设进程</a:t>
            </a:r>
            <a:r>
              <a:rPr lang="en-US" altLang="zh-CN" sz="1950" dirty="0">
                <a:sym typeface="+mn-ea"/>
              </a:rPr>
              <a:t>P1</a:t>
            </a:r>
            <a:r>
              <a:rPr lang="zh-CN" altLang="en-US" sz="1950" dirty="0">
                <a:sym typeface="+mn-ea"/>
              </a:rPr>
              <a:t>中有代码</a:t>
            </a:r>
            <a:r>
              <a:rPr lang="en-US" altLang="zh-CN" sz="1950" dirty="0">
                <a:sym typeface="+mn-ea"/>
              </a:rPr>
              <a:t>S1</a:t>
            </a:r>
            <a:r>
              <a:rPr lang="zh-CN" altLang="en-US" sz="1950" dirty="0">
                <a:sym typeface="+mn-ea"/>
              </a:rPr>
              <a:t>，</a:t>
            </a:r>
            <a:r>
              <a:rPr lang="en-US" altLang="zh-CN" sz="1950" dirty="0">
                <a:sym typeface="+mn-ea"/>
              </a:rPr>
              <a:t>P2</a:t>
            </a:r>
            <a:r>
              <a:rPr lang="zh-CN" altLang="en-US" sz="1950" dirty="0">
                <a:sym typeface="+mn-ea"/>
              </a:rPr>
              <a:t>中有代码</a:t>
            </a:r>
            <a:r>
              <a:rPr lang="en-US" altLang="zh-CN" sz="1950" dirty="0">
                <a:sym typeface="+mn-ea"/>
              </a:rPr>
              <a:t>S2……</a:t>
            </a:r>
            <a:r>
              <a:rPr lang="zh-CN" altLang="en-US" sz="1950" dirty="0">
                <a:sym typeface="+mn-ea"/>
              </a:rPr>
              <a:t>进程</a:t>
            </a:r>
            <a:r>
              <a:rPr lang="en-US" altLang="zh-CN" sz="1950" dirty="0">
                <a:sym typeface="+mn-ea"/>
              </a:rPr>
              <a:t>P6</a:t>
            </a:r>
            <a:r>
              <a:rPr lang="zh-CN" altLang="en-US" sz="1950" dirty="0">
                <a:sym typeface="+mn-ea"/>
              </a:rPr>
              <a:t>中有代码</a:t>
            </a:r>
            <a:r>
              <a:rPr lang="en-US" altLang="zh-CN" sz="1950" dirty="0">
                <a:sym typeface="+mn-ea"/>
              </a:rPr>
              <a:t>S6</a:t>
            </a:r>
            <a:r>
              <a:rPr lang="zh-CN" altLang="en-US" sz="1950" dirty="0">
                <a:sym typeface="+mn-ea"/>
              </a:rPr>
              <a:t>。这些代码要求按照左侧</a:t>
            </a:r>
            <a:r>
              <a:rPr lang="zh-CN" altLang="en-US" sz="1950" dirty="0">
                <a:solidFill>
                  <a:srgbClr val="FF0000"/>
                </a:solidFill>
                <a:sym typeface="+mn-ea"/>
              </a:rPr>
              <a:t>前驱图</a:t>
            </a:r>
            <a:r>
              <a:rPr lang="zh-CN" altLang="en-US" sz="1950" dirty="0">
                <a:sym typeface="+mn-ea"/>
              </a:rPr>
              <a:t>顺序执行。</a:t>
            </a:r>
            <a:endParaRPr lang="en-US" altLang="zh-CN" sz="1950" dirty="0"/>
          </a:p>
          <a:p>
            <a:pPr marL="257175" indent="-257175"/>
            <a:r>
              <a:rPr lang="zh-CN" altLang="en-US" sz="1950" dirty="0">
                <a:sym typeface="+mn-ea"/>
              </a:rPr>
              <a:t>每一对前驱关系都是一个进程同步问题。</a:t>
            </a:r>
            <a:endParaRPr lang="en-US" altLang="zh-CN" sz="1950" dirty="0"/>
          </a:p>
          <a:p>
            <a:pPr marL="257175" indent="-257175"/>
            <a:endParaRPr lang="zh-CN" altLang="en-US" sz="1950" dirty="0">
              <a:sym typeface="+mn-ea"/>
            </a:endParaRPr>
          </a:p>
          <a:p>
            <a:pPr marL="257175" indent="-257175"/>
            <a:r>
              <a:rPr lang="zh-CN" altLang="en-US" sz="1950" dirty="0">
                <a:sym typeface="+mn-ea"/>
              </a:rPr>
              <a:t>为保证一前一后的同步操作：</a:t>
            </a:r>
            <a:endParaRPr lang="en-US" altLang="zh-CN" sz="1950" dirty="0"/>
          </a:p>
          <a:p>
            <a:pPr marL="257175" indent="-257175"/>
            <a:r>
              <a:rPr lang="en-US" altLang="zh-CN" sz="1950" dirty="0">
                <a:solidFill>
                  <a:srgbClr val="FF0000"/>
                </a:solidFill>
                <a:sym typeface="+mn-ea"/>
              </a:rPr>
              <a:t>1. </a:t>
            </a:r>
            <a:r>
              <a:rPr lang="zh-CN" altLang="en-US" sz="1950" dirty="0">
                <a:solidFill>
                  <a:srgbClr val="FF0000"/>
                </a:solidFill>
                <a:sym typeface="+mn-ea"/>
              </a:rPr>
              <a:t>为每一对前驱关系设一个同步信号量，初值为</a:t>
            </a:r>
            <a:r>
              <a:rPr lang="en-US" altLang="zh-CN" sz="1950" dirty="0">
                <a:solidFill>
                  <a:srgbClr val="FF0000"/>
                </a:solidFill>
                <a:sym typeface="+mn-ea"/>
              </a:rPr>
              <a:t>0</a:t>
            </a:r>
            <a:r>
              <a:rPr lang="zh-CN" altLang="en-US" sz="1950" dirty="0">
                <a:solidFill>
                  <a:srgbClr val="FF0000"/>
                </a:solidFill>
                <a:sym typeface="+mn-ea"/>
              </a:rPr>
              <a:t>；</a:t>
            </a:r>
            <a:endParaRPr lang="en-US" altLang="zh-CN" sz="1950" dirty="0">
              <a:solidFill>
                <a:srgbClr val="FF0000"/>
              </a:solidFill>
            </a:endParaRPr>
          </a:p>
          <a:p>
            <a:pPr marL="257175" indent="-257175"/>
            <a:r>
              <a:rPr lang="en-US" altLang="zh-CN" sz="1950" dirty="0">
                <a:solidFill>
                  <a:srgbClr val="FF0000"/>
                </a:solidFill>
                <a:sym typeface="+mn-ea"/>
              </a:rPr>
              <a:t>2. </a:t>
            </a:r>
            <a:r>
              <a:rPr lang="zh-CN" altLang="en-US" sz="1950" dirty="0">
                <a:solidFill>
                  <a:srgbClr val="FF0000"/>
                </a:solidFill>
                <a:sym typeface="+mn-ea"/>
              </a:rPr>
              <a:t>“前</a:t>
            </a:r>
            <a:r>
              <a:rPr lang="en-US" altLang="zh-CN" sz="1950" dirty="0">
                <a:solidFill>
                  <a:srgbClr val="FF0000"/>
                </a:solidFill>
                <a:sym typeface="+mn-ea"/>
              </a:rPr>
              <a:t>signal</a:t>
            </a:r>
            <a:r>
              <a:rPr lang="zh-CN" altLang="en-US" sz="1950" dirty="0">
                <a:solidFill>
                  <a:srgbClr val="FF0000"/>
                </a:solidFill>
                <a:sym typeface="+mn-ea"/>
              </a:rPr>
              <a:t>后</a:t>
            </a:r>
            <a:r>
              <a:rPr lang="en-US" altLang="zh-CN" sz="1950" dirty="0">
                <a:solidFill>
                  <a:srgbClr val="FF0000"/>
                </a:solidFill>
                <a:sym typeface="+mn-ea"/>
              </a:rPr>
              <a:t>wait</a:t>
            </a:r>
            <a:r>
              <a:rPr lang="zh-CN" altLang="en-US" sz="1950" dirty="0">
                <a:solidFill>
                  <a:srgbClr val="FF0000"/>
                </a:solidFill>
                <a:sym typeface="+mn-ea"/>
              </a:rPr>
              <a:t>”或“前</a:t>
            </a:r>
            <a:r>
              <a:rPr lang="en-US" altLang="zh-CN" sz="1950" dirty="0">
                <a:solidFill>
                  <a:srgbClr val="FF0000"/>
                </a:solidFill>
                <a:sym typeface="+mn-ea"/>
              </a:rPr>
              <a:t>V</a:t>
            </a:r>
            <a:r>
              <a:rPr lang="zh-CN" altLang="en-US" sz="1950" dirty="0">
                <a:solidFill>
                  <a:srgbClr val="FF0000"/>
                </a:solidFill>
                <a:sym typeface="+mn-ea"/>
              </a:rPr>
              <a:t>后</a:t>
            </a:r>
            <a:r>
              <a:rPr lang="en-US" altLang="zh-CN" sz="1950" dirty="0">
                <a:solidFill>
                  <a:srgbClr val="FF0000"/>
                </a:solidFill>
                <a:sym typeface="+mn-ea"/>
              </a:rPr>
              <a:t>P</a:t>
            </a:r>
            <a:r>
              <a:rPr lang="zh-CN" altLang="en-US" sz="1950" dirty="0">
                <a:solidFill>
                  <a:srgbClr val="FF0000"/>
                </a:solidFill>
                <a:sym typeface="+mn-ea"/>
              </a:rPr>
              <a:t>” 。</a:t>
            </a:r>
          </a:p>
        </p:txBody>
      </p:sp>
      <p:grpSp>
        <p:nvGrpSpPr>
          <p:cNvPr id="29" name="Group 3"/>
          <p:cNvGrpSpPr/>
          <p:nvPr/>
        </p:nvGrpSpPr>
        <p:grpSpPr bwMode="auto">
          <a:xfrm>
            <a:off x="5868426" y="1817726"/>
            <a:ext cx="2612312" cy="3416100"/>
            <a:chOff x="2832" y="1440"/>
            <a:chExt cx="1872" cy="2448"/>
          </a:xfrm>
        </p:grpSpPr>
        <p:sp>
          <p:nvSpPr>
            <p:cNvPr id="32" name="Oval 4"/>
            <p:cNvSpPr>
              <a:spLocks noChangeArrowheads="1"/>
            </p:cNvSpPr>
            <p:nvPr/>
          </p:nvSpPr>
          <p:spPr bwMode="auto">
            <a:xfrm>
              <a:off x="3840" y="1440"/>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a:latin typeface="Arial" panose="020B0604020202020204" pitchFamily="34" charset="0"/>
                </a:rPr>
                <a:t>S</a:t>
              </a:r>
              <a:r>
                <a:rPr lang="en-US" altLang="zh-CN" sz="1800" baseline="-25000">
                  <a:latin typeface="Arial" panose="020B0604020202020204" pitchFamily="34" charset="0"/>
                </a:rPr>
                <a:t>1</a:t>
              </a:r>
            </a:p>
          </p:txBody>
        </p:sp>
        <p:sp>
          <p:nvSpPr>
            <p:cNvPr id="33" name="Oval 5"/>
            <p:cNvSpPr>
              <a:spLocks noChangeArrowheads="1"/>
            </p:cNvSpPr>
            <p:nvPr/>
          </p:nvSpPr>
          <p:spPr bwMode="auto">
            <a:xfrm>
              <a:off x="3312" y="2112"/>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dirty="0">
                  <a:latin typeface="Arial" panose="020B0604020202020204" pitchFamily="34" charset="0"/>
                </a:rPr>
                <a:t>S</a:t>
              </a:r>
              <a:r>
                <a:rPr lang="en-US" altLang="zh-CN" sz="1800" baseline="-25000" dirty="0">
                  <a:latin typeface="Arial" panose="020B0604020202020204" pitchFamily="34" charset="0"/>
                </a:rPr>
                <a:t>2</a:t>
              </a:r>
            </a:p>
          </p:txBody>
        </p:sp>
        <p:sp>
          <p:nvSpPr>
            <p:cNvPr id="34" name="Oval 6"/>
            <p:cNvSpPr>
              <a:spLocks noChangeArrowheads="1"/>
            </p:cNvSpPr>
            <p:nvPr/>
          </p:nvSpPr>
          <p:spPr bwMode="auto">
            <a:xfrm>
              <a:off x="4368" y="2064"/>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a:latin typeface="Arial" panose="020B0604020202020204" pitchFamily="34" charset="0"/>
                </a:rPr>
                <a:t>S</a:t>
              </a:r>
              <a:r>
                <a:rPr lang="en-US" altLang="zh-CN" sz="1800" baseline="-25000">
                  <a:latin typeface="Arial" panose="020B0604020202020204" pitchFamily="34" charset="0"/>
                </a:rPr>
                <a:t>3</a:t>
              </a:r>
            </a:p>
          </p:txBody>
        </p:sp>
        <p:sp>
          <p:nvSpPr>
            <p:cNvPr id="35" name="Oval 7"/>
            <p:cNvSpPr>
              <a:spLocks noChangeArrowheads="1"/>
            </p:cNvSpPr>
            <p:nvPr/>
          </p:nvSpPr>
          <p:spPr bwMode="auto">
            <a:xfrm>
              <a:off x="2832" y="2736"/>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dirty="0">
                  <a:latin typeface="Arial" panose="020B0604020202020204" pitchFamily="34" charset="0"/>
                </a:rPr>
                <a:t>S</a:t>
              </a:r>
              <a:r>
                <a:rPr lang="en-US" altLang="zh-CN" sz="1800" baseline="-25000" dirty="0">
                  <a:latin typeface="Arial" panose="020B0604020202020204" pitchFamily="34" charset="0"/>
                </a:rPr>
                <a:t>4</a:t>
              </a:r>
            </a:p>
          </p:txBody>
        </p:sp>
        <p:sp>
          <p:nvSpPr>
            <p:cNvPr id="36" name="Oval 8"/>
            <p:cNvSpPr>
              <a:spLocks noChangeArrowheads="1"/>
            </p:cNvSpPr>
            <p:nvPr/>
          </p:nvSpPr>
          <p:spPr bwMode="auto">
            <a:xfrm>
              <a:off x="3744" y="2688"/>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dirty="0">
                  <a:latin typeface="Arial" panose="020B0604020202020204" pitchFamily="34" charset="0"/>
                </a:rPr>
                <a:t>S</a:t>
              </a:r>
              <a:r>
                <a:rPr lang="en-US" altLang="zh-CN" sz="1800" baseline="-25000" dirty="0">
                  <a:latin typeface="Arial" panose="020B0604020202020204" pitchFamily="34" charset="0"/>
                </a:rPr>
                <a:t>5</a:t>
              </a:r>
            </a:p>
          </p:txBody>
        </p:sp>
        <p:sp>
          <p:nvSpPr>
            <p:cNvPr id="37" name="Oval 9"/>
            <p:cNvSpPr>
              <a:spLocks noChangeArrowheads="1"/>
            </p:cNvSpPr>
            <p:nvPr/>
          </p:nvSpPr>
          <p:spPr bwMode="auto">
            <a:xfrm>
              <a:off x="3744" y="3552"/>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a:latin typeface="Arial" panose="020B0604020202020204" pitchFamily="34" charset="0"/>
                </a:rPr>
                <a:t>S</a:t>
              </a:r>
              <a:r>
                <a:rPr lang="en-US" altLang="zh-CN" sz="1800" baseline="-25000">
                  <a:latin typeface="Arial" panose="020B0604020202020204" pitchFamily="34" charset="0"/>
                </a:rPr>
                <a:t>6</a:t>
              </a:r>
            </a:p>
          </p:txBody>
        </p:sp>
        <p:cxnSp>
          <p:nvCxnSpPr>
            <p:cNvPr id="38" name="AutoShape 10"/>
            <p:cNvCxnSpPr>
              <a:cxnSpLocks noChangeShapeType="1"/>
              <a:stCxn id="32" idx="3"/>
              <a:endCxn id="33" idx="7"/>
            </p:cNvCxnSpPr>
            <p:nvPr/>
          </p:nvCxnSpPr>
          <p:spPr bwMode="auto">
            <a:xfrm flipH="1">
              <a:off x="3599" y="1736"/>
              <a:ext cx="290" cy="416"/>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AutoShape 11"/>
            <p:cNvCxnSpPr>
              <a:cxnSpLocks noChangeShapeType="1"/>
              <a:stCxn id="32" idx="5"/>
              <a:endCxn id="34" idx="1"/>
            </p:cNvCxnSpPr>
            <p:nvPr/>
          </p:nvCxnSpPr>
          <p:spPr bwMode="auto">
            <a:xfrm>
              <a:off x="4127" y="1736"/>
              <a:ext cx="290" cy="368"/>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12"/>
            <p:cNvCxnSpPr>
              <a:cxnSpLocks noChangeShapeType="1"/>
              <a:stCxn id="36" idx="4"/>
              <a:endCxn id="37" idx="0"/>
            </p:cNvCxnSpPr>
            <p:nvPr/>
          </p:nvCxnSpPr>
          <p:spPr bwMode="auto">
            <a:xfrm>
              <a:off x="3912" y="3033"/>
              <a:ext cx="0" cy="510"/>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13"/>
            <p:cNvCxnSpPr>
              <a:cxnSpLocks noChangeShapeType="1"/>
              <a:stCxn id="34" idx="4"/>
              <a:endCxn id="37" idx="7"/>
            </p:cNvCxnSpPr>
            <p:nvPr/>
          </p:nvCxnSpPr>
          <p:spPr bwMode="auto">
            <a:xfrm flipH="1">
              <a:off x="4031" y="2409"/>
              <a:ext cx="505" cy="1183"/>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AutoShape 14"/>
            <p:cNvCxnSpPr>
              <a:cxnSpLocks noChangeShapeType="1"/>
              <a:stCxn id="33" idx="3"/>
              <a:endCxn id="35" idx="7"/>
            </p:cNvCxnSpPr>
            <p:nvPr/>
          </p:nvCxnSpPr>
          <p:spPr bwMode="auto">
            <a:xfrm flipH="1">
              <a:off x="3119" y="2408"/>
              <a:ext cx="242" cy="368"/>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AutoShape 15"/>
            <p:cNvCxnSpPr>
              <a:cxnSpLocks noChangeShapeType="1"/>
              <a:stCxn id="35" idx="5"/>
              <a:endCxn id="37" idx="1"/>
            </p:cNvCxnSpPr>
            <p:nvPr/>
          </p:nvCxnSpPr>
          <p:spPr bwMode="auto">
            <a:xfrm>
              <a:off x="3119" y="3032"/>
              <a:ext cx="674" cy="560"/>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AutoShape 16"/>
            <p:cNvCxnSpPr>
              <a:cxnSpLocks noChangeShapeType="1"/>
              <a:stCxn id="33" idx="5"/>
              <a:endCxn id="36" idx="1"/>
            </p:cNvCxnSpPr>
            <p:nvPr/>
          </p:nvCxnSpPr>
          <p:spPr bwMode="auto">
            <a:xfrm>
              <a:off x="3599" y="2408"/>
              <a:ext cx="194" cy="320"/>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219391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3" end="3"/>
                                            </p:txEl>
                                          </p:spTgt>
                                        </p:tgtEl>
                                        <p:attrNameLst>
                                          <p:attrName>style.visibility</p:attrName>
                                        </p:attrNameLst>
                                      </p:cBhvr>
                                      <p:to>
                                        <p:strVal val="visible"/>
                                      </p:to>
                                    </p:set>
                                    <p:animEffect transition="in" filter="fade">
                                      <p:cBhvr>
                                        <p:cTn id="7" dur="500"/>
                                        <p:tgtEl>
                                          <p:spTgt spid="2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4">
                                            <p:txEl>
                                              <p:pRg st="4" end="4"/>
                                            </p:txEl>
                                          </p:spTgt>
                                        </p:tgtEl>
                                        <p:attrNameLst>
                                          <p:attrName>style.visibility</p:attrName>
                                        </p:attrNameLst>
                                      </p:cBhvr>
                                      <p:to>
                                        <p:strVal val="visible"/>
                                      </p:to>
                                    </p:set>
                                    <p:animEffect transition="in" filter="fade">
                                      <p:cBhvr>
                                        <p:cTn id="10" dur="500"/>
                                        <p:tgtEl>
                                          <p:spTgt spid="24">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xEl>
                                              <p:pRg st="5" end="5"/>
                                            </p:txEl>
                                          </p:spTgt>
                                        </p:tgtEl>
                                        <p:attrNameLst>
                                          <p:attrName>style.visibility</p:attrName>
                                        </p:attrNameLst>
                                      </p:cBhvr>
                                      <p:to>
                                        <p:strVal val="visible"/>
                                      </p:to>
                                    </p:set>
                                    <p:animEffect transition="in" filter="fade">
                                      <p:cBhvr>
                                        <p:cTn id="13" dur="500"/>
                                        <p:tgtEl>
                                          <p:spTgt spid="2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利用信号量实现前趋关系</a:t>
            </a:r>
          </a:p>
        </p:txBody>
      </p:sp>
      <p:sp>
        <p:nvSpPr>
          <p:cNvPr id="24" name="内容占位符 2"/>
          <p:cNvSpPr txBox="1"/>
          <p:nvPr/>
        </p:nvSpPr>
        <p:spPr>
          <a:xfrm>
            <a:off x="502444" y="1817847"/>
            <a:ext cx="5186839" cy="4301014"/>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spcBef>
                <a:spcPct val="35000"/>
              </a:spcBef>
              <a:buFont typeface="Wingdings 2" panose="05020102010507070707" pitchFamily="18" charset="2"/>
              <a:buNone/>
            </a:pPr>
            <a:r>
              <a:rPr lang="en-US" altLang="zh-CN" sz="1950">
                <a:solidFill>
                  <a:srgbClr val="FF0000"/>
                </a:solidFill>
              </a:rPr>
              <a:t>main</a:t>
            </a:r>
            <a:r>
              <a:rPr lang="en-US" altLang="zh-CN" sz="1950"/>
              <a:t>(){</a:t>
            </a:r>
          </a:p>
          <a:p>
            <a:pPr>
              <a:lnSpc>
                <a:spcPct val="70000"/>
              </a:lnSpc>
              <a:spcBef>
                <a:spcPct val="35000"/>
              </a:spcBef>
              <a:buFont typeface="Wingdings 2" panose="05020102010507070707" pitchFamily="18" charset="2"/>
              <a:buNone/>
            </a:pPr>
            <a:r>
              <a:rPr lang="en-US" altLang="zh-CN" sz="1950"/>
              <a:t>   Semaphore a,b,c,d,e,f,g; </a:t>
            </a:r>
          </a:p>
          <a:p>
            <a:pPr>
              <a:lnSpc>
                <a:spcPct val="70000"/>
              </a:lnSpc>
              <a:spcBef>
                <a:spcPct val="35000"/>
              </a:spcBef>
              <a:buFont typeface="Monotype Sorts" pitchFamily="2" charset="2"/>
              <a:buNone/>
            </a:pPr>
            <a:r>
              <a:rPr lang="en-US" altLang="zh-CN" sz="1950"/>
              <a:t>    a.value=0;b.value=0;c.value=0;</a:t>
            </a:r>
          </a:p>
          <a:p>
            <a:pPr>
              <a:lnSpc>
                <a:spcPct val="70000"/>
              </a:lnSpc>
              <a:spcBef>
                <a:spcPct val="35000"/>
              </a:spcBef>
              <a:buFont typeface="Monotype Sorts" pitchFamily="2" charset="2"/>
              <a:buNone/>
            </a:pPr>
            <a:r>
              <a:rPr lang="en-US" altLang="zh-CN" sz="1950"/>
              <a:t>    d.value=0;e.value=0;f.value=0;g.value=0;</a:t>
            </a:r>
          </a:p>
          <a:p>
            <a:pPr>
              <a:lnSpc>
                <a:spcPct val="70000"/>
              </a:lnSpc>
              <a:spcBef>
                <a:spcPct val="35000"/>
              </a:spcBef>
              <a:buFont typeface="Monotype Sorts" pitchFamily="2" charset="2"/>
              <a:buNone/>
            </a:pPr>
            <a:r>
              <a:rPr lang="en-US" altLang="zh-CN" sz="1950"/>
              <a:t>	cobegin</a:t>
            </a:r>
          </a:p>
          <a:p>
            <a:pPr>
              <a:lnSpc>
                <a:spcPct val="70000"/>
              </a:lnSpc>
              <a:spcBef>
                <a:spcPct val="35000"/>
              </a:spcBef>
              <a:buFont typeface="Monotype Sorts" pitchFamily="2" charset="2"/>
              <a:buNone/>
            </a:pPr>
            <a:r>
              <a:rPr lang="en-US" altLang="zh-CN" sz="1950"/>
              <a:t>		{ S1;signal(a);signal(b); }</a:t>
            </a:r>
          </a:p>
          <a:p>
            <a:pPr>
              <a:lnSpc>
                <a:spcPct val="70000"/>
              </a:lnSpc>
              <a:spcBef>
                <a:spcPct val="35000"/>
              </a:spcBef>
              <a:buFont typeface="Monotype Sorts" pitchFamily="2" charset="2"/>
              <a:buNone/>
            </a:pPr>
            <a:r>
              <a:rPr lang="en-US" altLang="zh-CN" sz="1950"/>
              <a:t>		{ wait(a);S2;signal(c) ;signal(d);}</a:t>
            </a:r>
          </a:p>
          <a:p>
            <a:pPr>
              <a:lnSpc>
                <a:spcPct val="70000"/>
              </a:lnSpc>
              <a:spcBef>
                <a:spcPct val="35000"/>
              </a:spcBef>
              <a:buFont typeface="Monotype Sorts" pitchFamily="2" charset="2"/>
              <a:buNone/>
            </a:pPr>
            <a:r>
              <a:rPr lang="en-US" altLang="zh-CN" sz="1950"/>
              <a:t>		{ wait(b);S3;signal(e); }</a:t>
            </a:r>
          </a:p>
          <a:p>
            <a:pPr>
              <a:lnSpc>
                <a:spcPct val="70000"/>
              </a:lnSpc>
              <a:spcBef>
                <a:spcPct val="35000"/>
              </a:spcBef>
              <a:buFont typeface="Monotype Sorts" pitchFamily="2" charset="2"/>
              <a:buNone/>
            </a:pPr>
            <a:r>
              <a:rPr lang="en-US" altLang="zh-CN" sz="1950"/>
              <a:t>		{ wait(c);S4;signal(f); }</a:t>
            </a:r>
          </a:p>
          <a:p>
            <a:pPr>
              <a:lnSpc>
                <a:spcPct val="70000"/>
              </a:lnSpc>
              <a:spcBef>
                <a:spcPct val="35000"/>
              </a:spcBef>
              <a:buFont typeface="Monotype Sorts" pitchFamily="2" charset="2"/>
              <a:buNone/>
            </a:pPr>
            <a:r>
              <a:rPr lang="en-US" altLang="zh-CN" sz="1950"/>
              <a:t>		{ wait(d);S5;signal(g); }</a:t>
            </a:r>
          </a:p>
          <a:p>
            <a:pPr>
              <a:lnSpc>
                <a:spcPct val="70000"/>
              </a:lnSpc>
              <a:spcBef>
                <a:spcPct val="35000"/>
              </a:spcBef>
              <a:buFont typeface="Monotype Sorts" pitchFamily="2" charset="2"/>
              <a:buNone/>
            </a:pPr>
            <a:r>
              <a:rPr lang="en-US" altLang="zh-CN" sz="1950"/>
              <a:t>		{ wait(e);wait(f);wait(g);S6; }</a:t>
            </a:r>
          </a:p>
          <a:p>
            <a:pPr>
              <a:lnSpc>
                <a:spcPct val="70000"/>
              </a:lnSpc>
              <a:spcBef>
                <a:spcPct val="35000"/>
              </a:spcBef>
              <a:buFont typeface="Monotype Sorts" pitchFamily="2" charset="2"/>
              <a:buNone/>
            </a:pPr>
            <a:r>
              <a:rPr lang="en-US" altLang="zh-CN" sz="1950"/>
              <a:t>	corend</a:t>
            </a:r>
          </a:p>
          <a:p>
            <a:pPr>
              <a:lnSpc>
                <a:spcPct val="70000"/>
              </a:lnSpc>
              <a:spcBef>
                <a:spcPct val="35000"/>
              </a:spcBef>
              <a:buFont typeface="Monotype Sorts" pitchFamily="2" charset="2"/>
              <a:buNone/>
            </a:pPr>
            <a:r>
              <a:rPr lang="en-US" altLang="zh-CN" sz="1950"/>
              <a:t>}  </a:t>
            </a:r>
            <a:r>
              <a:rPr lang="zh-CN" altLang="en-US" sz="1950"/>
              <a:t>练习：在图中标出</a:t>
            </a:r>
            <a:r>
              <a:rPr lang="en-US" altLang="zh-CN" sz="1950">
                <a:sym typeface="+mn-ea"/>
              </a:rPr>
              <a:t>a,b,c,d,e,f,g</a:t>
            </a:r>
            <a:endParaRPr lang="en-US" altLang="zh-CN" sz="1950"/>
          </a:p>
          <a:p>
            <a:endParaRPr lang="zh-CN" altLang="en-US" sz="1950" dirty="0"/>
          </a:p>
        </p:txBody>
      </p:sp>
      <p:grpSp>
        <p:nvGrpSpPr>
          <p:cNvPr id="29" name="Group 3"/>
          <p:cNvGrpSpPr/>
          <p:nvPr/>
        </p:nvGrpSpPr>
        <p:grpSpPr bwMode="auto">
          <a:xfrm>
            <a:off x="5868426" y="1817726"/>
            <a:ext cx="2612312" cy="3416100"/>
            <a:chOff x="2832" y="1440"/>
            <a:chExt cx="1872" cy="2448"/>
          </a:xfrm>
        </p:grpSpPr>
        <p:sp>
          <p:nvSpPr>
            <p:cNvPr id="32" name="Oval 4"/>
            <p:cNvSpPr>
              <a:spLocks noChangeArrowheads="1"/>
            </p:cNvSpPr>
            <p:nvPr/>
          </p:nvSpPr>
          <p:spPr bwMode="auto">
            <a:xfrm>
              <a:off x="3840" y="1440"/>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a:latin typeface="Arial" panose="020B0604020202020204" pitchFamily="34" charset="0"/>
                </a:rPr>
                <a:t>S</a:t>
              </a:r>
              <a:r>
                <a:rPr lang="en-US" altLang="zh-CN" sz="1800" baseline="-25000">
                  <a:latin typeface="Arial" panose="020B0604020202020204" pitchFamily="34" charset="0"/>
                </a:rPr>
                <a:t>1</a:t>
              </a:r>
            </a:p>
          </p:txBody>
        </p:sp>
        <p:sp>
          <p:nvSpPr>
            <p:cNvPr id="33" name="Oval 5"/>
            <p:cNvSpPr>
              <a:spLocks noChangeArrowheads="1"/>
            </p:cNvSpPr>
            <p:nvPr/>
          </p:nvSpPr>
          <p:spPr bwMode="auto">
            <a:xfrm>
              <a:off x="3312" y="2112"/>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dirty="0">
                  <a:latin typeface="Arial" panose="020B0604020202020204" pitchFamily="34" charset="0"/>
                </a:rPr>
                <a:t>S</a:t>
              </a:r>
              <a:r>
                <a:rPr lang="en-US" altLang="zh-CN" sz="1800" baseline="-25000" dirty="0">
                  <a:latin typeface="Arial" panose="020B0604020202020204" pitchFamily="34" charset="0"/>
                </a:rPr>
                <a:t>2</a:t>
              </a:r>
            </a:p>
          </p:txBody>
        </p:sp>
        <p:sp>
          <p:nvSpPr>
            <p:cNvPr id="34" name="Oval 6"/>
            <p:cNvSpPr>
              <a:spLocks noChangeArrowheads="1"/>
            </p:cNvSpPr>
            <p:nvPr/>
          </p:nvSpPr>
          <p:spPr bwMode="auto">
            <a:xfrm>
              <a:off x="4368" y="2064"/>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a:latin typeface="Arial" panose="020B0604020202020204" pitchFamily="34" charset="0"/>
                </a:rPr>
                <a:t>S</a:t>
              </a:r>
              <a:r>
                <a:rPr lang="en-US" altLang="zh-CN" sz="1800" baseline="-25000">
                  <a:latin typeface="Arial" panose="020B0604020202020204" pitchFamily="34" charset="0"/>
                </a:rPr>
                <a:t>3</a:t>
              </a:r>
            </a:p>
          </p:txBody>
        </p:sp>
        <p:sp>
          <p:nvSpPr>
            <p:cNvPr id="35" name="Oval 7"/>
            <p:cNvSpPr>
              <a:spLocks noChangeArrowheads="1"/>
            </p:cNvSpPr>
            <p:nvPr/>
          </p:nvSpPr>
          <p:spPr bwMode="auto">
            <a:xfrm>
              <a:off x="2832" y="2736"/>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dirty="0">
                  <a:latin typeface="Arial" panose="020B0604020202020204" pitchFamily="34" charset="0"/>
                </a:rPr>
                <a:t>S</a:t>
              </a:r>
              <a:r>
                <a:rPr lang="en-US" altLang="zh-CN" sz="1800" baseline="-25000" dirty="0">
                  <a:latin typeface="Arial" panose="020B0604020202020204" pitchFamily="34" charset="0"/>
                </a:rPr>
                <a:t>4</a:t>
              </a:r>
            </a:p>
          </p:txBody>
        </p:sp>
        <p:sp>
          <p:nvSpPr>
            <p:cNvPr id="36" name="Oval 8"/>
            <p:cNvSpPr>
              <a:spLocks noChangeArrowheads="1"/>
            </p:cNvSpPr>
            <p:nvPr/>
          </p:nvSpPr>
          <p:spPr bwMode="auto">
            <a:xfrm>
              <a:off x="3744" y="2688"/>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dirty="0">
                  <a:latin typeface="Arial" panose="020B0604020202020204" pitchFamily="34" charset="0"/>
                </a:rPr>
                <a:t>S</a:t>
              </a:r>
              <a:r>
                <a:rPr lang="en-US" altLang="zh-CN" sz="1800" baseline="-25000" dirty="0">
                  <a:latin typeface="Arial" panose="020B0604020202020204" pitchFamily="34" charset="0"/>
                </a:rPr>
                <a:t>5</a:t>
              </a:r>
            </a:p>
          </p:txBody>
        </p:sp>
        <p:sp>
          <p:nvSpPr>
            <p:cNvPr id="37" name="Oval 9"/>
            <p:cNvSpPr>
              <a:spLocks noChangeArrowheads="1"/>
            </p:cNvSpPr>
            <p:nvPr/>
          </p:nvSpPr>
          <p:spPr bwMode="auto">
            <a:xfrm>
              <a:off x="3744" y="3552"/>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p>
              <a:pPr algn="ctr">
                <a:buFont typeface="Monotype Sorts" pitchFamily="2" charset="2"/>
                <a:buNone/>
                <a:defRPr/>
              </a:pPr>
              <a:r>
                <a:rPr lang="en-US" altLang="zh-CN" sz="1800">
                  <a:latin typeface="Arial" panose="020B0604020202020204" pitchFamily="34" charset="0"/>
                </a:rPr>
                <a:t>S</a:t>
              </a:r>
              <a:r>
                <a:rPr lang="en-US" altLang="zh-CN" sz="1800" baseline="-25000">
                  <a:latin typeface="Arial" panose="020B0604020202020204" pitchFamily="34" charset="0"/>
                </a:rPr>
                <a:t>6</a:t>
              </a:r>
            </a:p>
          </p:txBody>
        </p:sp>
        <p:cxnSp>
          <p:nvCxnSpPr>
            <p:cNvPr id="38" name="AutoShape 10"/>
            <p:cNvCxnSpPr>
              <a:cxnSpLocks noChangeShapeType="1"/>
              <a:stCxn id="32" idx="3"/>
              <a:endCxn id="33" idx="7"/>
            </p:cNvCxnSpPr>
            <p:nvPr/>
          </p:nvCxnSpPr>
          <p:spPr bwMode="auto">
            <a:xfrm flipH="1">
              <a:off x="3599" y="1736"/>
              <a:ext cx="290" cy="416"/>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AutoShape 11"/>
            <p:cNvCxnSpPr>
              <a:cxnSpLocks noChangeShapeType="1"/>
              <a:stCxn id="32" idx="5"/>
              <a:endCxn id="34" idx="1"/>
            </p:cNvCxnSpPr>
            <p:nvPr/>
          </p:nvCxnSpPr>
          <p:spPr bwMode="auto">
            <a:xfrm>
              <a:off x="4127" y="1736"/>
              <a:ext cx="290" cy="368"/>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12"/>
            <p:cNvCxnSpPr>
              <a:cxnSpLocks noChangeShapeType="1"/>
              <a:stCxn id="36" idx="4"/>
              <a:endCxn id="37" idx="0"/>
            </p:cNvCxnSpPr>
            <p:nvPr/>
          </p:nvCxnSpPr>
          <p:spPr bwMode="auto">
            <a:xfrm>
              <a:off x="3912" y="3033"/>
              <a:ext cx="0" cy="510"/>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13"/>
            <p:cNvCxnSpPr>
              <a:cxnSpLocks noChangeShapeType="1"/>
              <a:stCxn id="34" idx="4"/>
              <a:endCxn id="37" idx="7"/>
            </p:cNvCxnSpPr>
            <p:nvPr/>
          </p:nvCxnSpPr>
          <p:spPr bwMode="auto">
            <a:xfrm flipH="1">
              <a:off x="4031" y="2409"/>
              <a:ext cx="505" cy="1183"/>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AutoShape 14"/>
            <p:cNvCxnSpPr>
              <a:cxnSpLocks noChangeShapeType="1"/>
              <a:stCxn id="33" idx="3"/>
              <a:endCxn id="35" idx="7"/>
            </p:cNvCxnSpPr>
            <p:nvPr/>
          </p:nvCxnSpPr>
          <p:spPr bwMode="auto">
            <a:xfrm flipH="1">
              <a:off x="3119" y="2408"/>
              <a:ext cx="242" cy="368"/>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AutoShape 15"/>
            <p:cNvCxnSpPr>
              <a:cxnSpLocks noChangeShapeType="1"/>
              <a:stCxn id="35" idx="5"/>
              <a:endCxn id="37" idx="1"/>
            </p:cNvCxnSpPr>
            <p:nvPr/>
          </p:nvCxnSpPr>
          <p:spPr bwMode="auto">
            <a:xfrm>
              <a:off x="3119" y="3032"/>
              <a:ext cx="674" cy="560"/>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AutoShape 16"/>
            <p:cNvCxnSpPr>
              <a:cxnSpLocks noChangeShapeType="1"/>
              <a:stCxn id="33" idx="5"/>
              <a:endCxn id="36" idx="1"/>
            </p:cNvCxnSpPr>
            <p:nvPr/>
          </p:nvCxnSpPr>
          <p:spPr bwMode="auto">
            <a:xfrm>
              <a:off x="3599" y="2408"/>
              <a:ext cx="194" cy="320"/>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216599411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502444" y="5059446"/>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t>Date</a:t>
            </a:r>
            <a:endParaRPr lang="zh-CN" altLang="en-US" sz="1125" dirty="0"/>
          </a:p>
        </p:txBody>
      </p:sp>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矩形 19"/>
          <p:cNvSpPr/>
          <p:nvPr/>
        </p:nvSpPr>
        <p:spPr>
          <a:xfrm>
            <a:off x="578644" y="1050622"/>
            <a:ext cx="1539204" cy="415498"/>
          </a:xfrm>
          <a:prstGeom prst="rect">
            <a:avLst/>
          </a:prstGeom>
        </p:spPr>
        <p:txBody>
          <a:bodyPr wrap="none">
            <a:spAutoFit/>
          </a:bodyPr>
          <a:lstStyle/>
          <a:p>
            <a:r>
              <a:rPr lang="zh-CN" altLang="en-US" sz="2100" b="1" dirty="0">
                <a:solidFill>
                  <a:schemeClr val="bg1"/>
                </a:solidFill>
              </a:rPr>
              <a:t>内容导航：</a:t>
            </a:r>
          </a:p>
        </p:txBody>
      </p:sp>
      <p:sp>
        <p:nvSpPr>
          <p:cNvPr id="3" name="矩形 2"/>
          <p:cNvSpPr/>
          <p:nvPr/>
        </p:nvSpPr>
        <p:spPr>
          <a:xfrm>
            <a:off x="6180941" y="2700908"/>
            <a:ext cx="2560316" cy="507831"/>
          </a:xfrm>
          <a:prstGeom prst="rect">
            <a:avLst/>
          </a:prstGeom>
        </p:spPr>
        <p:txBody>
          <a:bodyPr wrap="none">
            <a:spAutoFit/>
          </a:bodyPr>
          <a:lstStyle/>
          <a:p>
            <a:r>
              <a:rPr lang="zh-CN" altLang="en-US" sz="2700" dirty="0">
                <a:solidFill>
                  <a:srgbClr val="000000"/>
                </a:solidFill>
                <a:sym typeface="+mn-ea"/>
              </a:rPr>
              <a:t>第</a:t>
            </a:r>
            <a:r>
              <a:rPr lang="en-US" altLang="zh-CN" sz="2700" dirty="0">
                <a:solidFill>
                  <a:srgbClr val="000000"/>
                </a:solidFill>
                <a:sym typeface="+mn-ea"/>
              </a:rPr>
              <a:t>4</a:t>
            </a:r>
            <a:r>
              <a:rPr lang="zh-CN" altLang="en-US" sz="2700" dirty="0">
                <a:solidFill>
                  <a:srgbClr val="000000"/>
                </a:solidFill>
                <a:sym typeface="+mn-ea"/>
              </a:rPr>
              <a:t>章 进程同步</a:t>
            </a:r>
            <a:endParaRPr lang="zh-CN" altLang="en-US" sz="2700" dirty="0">
              <a:solidFill>
                <a:srgbClr val="000000"/>
              </a:solidFill>
            </a:endParaRPr>
          </a:p>
        </p:txBody>
      </p:sp>
      <p:cxnSp>
        <p:nvCxnSpPr>
          <p:cNvPr id="5" name="直接连接符 4"/>
          <p:cNvCxnSpPr/>
          <p:nvPr/>
        </p:nvCxnSpPr>
        <p:spPr>
          <a:xfrm>
            <a:off x="5669925" y="3250103"/>
            <a:ext cx="2990417"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521248" y="3292521"/>
            <a:ext cx="3247181" cy="412613"/>
          </a:xfrm>
          <a:prstGeom prst="rect">
            <a:avLst/>
          </a:prstGeom>
        </p:spPr>
        <p:txBody>
          <a:bodyPr wrap="square">
            <a:spAutoFit/>
          </a:bodyPr>
          <a:lstStyle/>
          <a:p>
            <a:pPr algn="ctr">
              <a:lnSpc>
                <a:spcPct val="132000"/>
              </a:lnSpc>
            </a:pPr>
            <a:r>
              <a:rPr lang="zh-CN" altLang="en-US" sz="1800" dirty="0">
                <a:solidFill>
                  <a:srgbClr val="002060"/>
                </a:solidFill>
              </a:rPr>
              <a:t>主讲：王红玲    主审：汤小丹</a:t>
            </a:r>
            <a:endParaRPr lang="en-US" altLang="zh-CN" sz="1800" dirty="0">
              <a:solidFill>
                <a:srgbClr val="002060"/>
              </a:solidFill>
            </a:endParaRPr>
          </a:p>
        </p:txBody>
      </p:sp>
      <p:sp>
        <p:nvSpPr>
          <p:cNvPr id="8" name="矩形 7"/>
          <p:cNvSpPr/>
          <p:nvPr/>
        </p:nvSpPr>
        <p:spPr>
          <a:xfrm>
            <a:off x="-7145" y="5638531"/>
            <a:ext cx="9151145" cy="3622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6" name="任意多边形: 形状 25"/>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sz="1800">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116811"/>
            <a:ext cx="395288" cy="395288"/>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555666"/>
            <a:ext cx="395288" cy="395288"/>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047268"/>
            <a:ext cx="395288" cy="395288"/>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511123"/>
            <a:ext cx="395288" cy="395288"/>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980683"/>
            <a:ext cx="395288" cy="395288"/>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458967"/>
            <a:ext cx="395288" cy="395288"/>
          </a:xfrm>
          <a:prstGeom prst="rect">
            <a:avLst/>
          </a:prstGeom>
          <a:ln>
            <a:noFill/>
          </a:ln>
          <a:effectLst>
            <a:softEdge rad="0"/>
          </a:effectLst>
        </p:spPr>
      </p:pic>
      <p:sp>
        <p:nvSpPr>
          <p:cNvPr id="33" name="矩形 32"/>
          <p:cNvSpPr/>
          <p:nvPr/>
        </p:nvSpPr>
        <p:spPr>
          <a:xfrm>
            <a:off x="1273253" y="2158852"/>
            <a:ext cx="2616725" cy="369332"/>
          </a:xfrm>
          <a:prstGeom prst="rect">
            <a:avLst/>
          </a:prstGeom>
        </p:spPr>
        <p:txBody>
          <a:bodyPr wrap="square">
            <a:spAutoFit/>
          </a:bodyPr>
          <a:lstStyle/>
          <a:p>
            <a:r>
              <a:rPr lang="en-US" altLang="zh-CN" sz="1800" dirty="0">
                <a:latin typeface="+mj-ea"/>
                <a:ea typeface="+mj-ea"/>
              </a:rPr>
              <a:t>4.1 </a:t>
            </a:r>
            <a:r>
              <a:rPr lang="zh-CN" altLang="en-US" sz="1800" dirty="0">
                <a:latin typeface="+mj-ea"/>
                <a:ea typeface="+mj-ea"/>
              </a:rPr>
              <a:t>进程同步的概念</a:t>
            </a:r>
          </a:p>
        </p:txBody>
      </p:sp>
      <p:sp>
        <p:nvSpPr>
          <p:cNvPr id="34" name="矩形 33"/>
          <p:cNvSpPr/>
          <p:nvPr/>
        </p:nvSpPr>
        <p:spPr>
          <a:xfrm>
            <a:off x="1273253" y="2623196"/>
            <a:ext cx="2761613" cy="369332"/>
          </a:xfrm>
          <a:prstGeom prst="rect">
            <a:avLst/>
          </a:prstGeom>
        </p:spPr>
        <p:txBody>
          <a:bodyPr wrap="square">
            <a:spAutoFit/>
          </a:bodyPr>
          <a:lstStyle/>
          <a:p>
            <a:r>
              <a:rPr lang="en-US" altLang="zh-CN" sz="1800" dirty="0">
                <a:latin typeface="+mj-ea"/>
              </a:rPr>
              <a:t>4.2 </a:t>
            </a:r>
            <a:r>
              <a:rPr lang="zh-CN" altLang="en-US" sz="1800" dirty="0">
                <a:latin typeface="+mj-ea"/>
              </a:rPr>
              <a:t>软件同步机制</a:t>
            </a:r>
          </a:p>
        </p:txBody>
      </p:sp>
      <p:sp>
        <p:nvSpPr>
          <p:cNvPr id="35" name="矩形 34"/>
          <p:cNvSpPr/>
          <p:nvPr/>
        </p:nvSpPr>
        <p:spPr>
          <a:xfrm>
            <a:off x="1273253" y="3087539"/>
            <a:ext cx="2616725" cy="369332"/>
          </a:xfrm>
          <a:prstGeom prst="rect">
            <a:avLst/>
          </a:prstGeom>
        </p:spPr>
        <p:txBody>
          <a:bodyPr wrap="square">
            <a:spAutoFit/>
          </a:bodyPr>
          <a:lstStyle/>
          <a:p>
            <a:r>
              <a:rPr lang="en-US" altLang="zh-CN" sz="1800" dirty="0">
                <a:latin typeface="+mj-ea"/>
              </a:rPr>
              <a:t>4.3 </a:t>
            </a:r>
            <a:r>
              <a:rPr lang="zh-CN" altLang="en-US" sz="1800" dirty="0">
                <a:latin typeface="+mj-ea"/>
              </a:rPr>
              <a:t>硬件同步机制</a:t>
            </a:r>
          </a:p>
        </p:txBody>
      </p:sp>
      <p:sp>
        <p:nvSpPr>
          <p:cNvPr id="36" name="矩形 35"/>
          <p:cNvSpPr/>
          <p:nvPr/>
        </p:nvSpPr>
        <p:spPr>
          <a:xfrm>
            <a:off x="1273253" y="3551883"/>
            <a:ext cx="2616725" cy="369332"/>
          </a:xfrm>
          <a:prstGeom prst="rect">
            <a:avLst/>
          </a:prstGeom>
        </p:spPr>
        <p:txBody>
          <a:bodyPr wrap="square">
            <a:spAutoFit/>
          </a:bodyPr>
          <a:lstStyle/>
          <a:p>
            <a:r>
              <a:rPr lang="en-US" altLang="zh-CN" sz="1800" dirty="0">
                <a:latin typeface="+mj-ea"/>
              </a:rPr>
              <a:t>4.4 </a:t>
            </a:r>
            <a:r>
              <a:rPr lang="zh-CN" altLang="en-US" sz="1800" dirty="0">
                <a:latin typeface="+mj-ea"/>
              </a:rPr>
              <a:t>信号量机制</a:t>
            </a:r>
          </a:p>
        </p:txBody>
      </p:sp>
      <p:sp>
        <p:nvSpPr>
          <p:cNvPr id="37" name="矩形 36"/>
          <p:cNvSpPr/>
          <p:nvPr/>
        </p:nvSpPr>
        <p:spPr>
          <a:xfrm>
            <a:off x="1273253" y="4016227"/>
            <a:ext cx="2525359" cy="369332"/>
          </a:xfrm>
          <a:prstGeom prst="rect">
            <a:avLst/>
          </a:prstGeom>
        </p:spPr>
        <p:txBody>
          <a:bodyPr wrap="square">
            <a:spAutoFit/>
          </a:bodyPr>
          <a:lstStyle/>
          <a:p>
            <a:r>
              <a:rPr lang="en-US" altLang="zh-CN" sz="1800" b="1" dirty="0">
                <a:solidFill>
                  <a:srgbClr val="0000FF"/>
                </a:solidFill>
                <a:latin typeface="+mj-ea"/>
              </a:rPr>
              <a:t>4.5 </a:t>
            </a:r>
            <a:r>
              <a:rPr lang="zh-CN" altLang="en-US" sz="1800" b="1" dirty="0">
                <a:solidFill>
                  <a:srgbClr val="0000FF"/>
                </a:solidFill>
                <a:latin typeface="+mj-ea"/>
              </a:rPr>
              <a:t>管程机制</a:t>
            </a:r>
          </a:p>
        </p:txBody>
      </p:sp>
      <p:sp>
        <p:nvSpPr>
          <p:cNvPr id="38" name="矩形 37"/>
          <p:cNvSpPr/>
          <p:nvPr/>
        </p:nvSpPr>
        <p:spPr>
          <a:xfrm>
            <a:off x="1273253" y="4480571"/>
            <a:ext cx="2761613" cy="369332"/>
          </a:xfrm>
          <a:prstGeom prst="rect">
            <a:avLst/>
          </a:prstGeom>
        </p:spPr>
        <p:txBody>
          <a:bodyPr wrap="square">
            <a:spAutoFit/>
          </a:bodyPr>
          <a:lstStyle/>
          <a:p>
            <a:r>
              <a:rPr lang="en-US" altLang="zh-CN" sz="1800" dirty="0">
                <a:latin typeface="+mj-ea"/>
              </a:rPr>
              <a:t>4.6 </a:t>
            </a:r>
            <a:r>
              <a:rPr lang="zh-CN" altLang="en-US" sz="1800" dirty="0">
                <a:latin typeface="+mj-ea"/>
              </a:rPr>
              <a:t>经典进程的同步问题</a:t>
            </a:r>
          </a:p>
        </p:txBody>
      </p:sp>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913797"/>
            <a:ext cx="395288" cy="395288"/>
          </a:xfrm>
          <a:prstGeom prst="rect">
            <a:avLst/>
          </a:prstGeom>
          <a:ln>
            <a:noFill/>
          </a:ln>
          <a:effectLst>
            <a:softEdge rad="0"/>
          </a:effectLst>
        </p:spPr>
      </p:pic>
      <p:sp>
        <p:nvSpPr>
          <p:cNvPr id="24" name="矩形 23"/>
          <p:cNvSpPr/>
          <p:nvPr/>
        </p:nvSpPr>
        <p:spPr>
          <a:xfrm>
            <a:off x="1273253" y="4935400"/>
            <a:ext cx="2761613" cy="369332"/>
          </a:xfrm>
          <a:prstGeom prst="rect">
            <a:avLst/>
          </a:prstGeom>
        </p:spPr>
        <p:txBody>
          <a:bodyPr wrap="square">
            <a:spAutoFit/>
          </a:bodyPr>
          <a:lstStyle/>
          <a:p>
            <a:r>
              <a:rPr lang="en-US" altLang="zh-CN" sz="1800" dirty="0">
                <a:latin typeface="+mj-ea"/>
              </a:rPr>
              <a:t>4.7 Linux</a:t>
            </a:r>
            <a:r>
              <a:rPr lang="zh-CN" altLang="en-US" sz="1800" dirty="0">
                <a:latin typeface="+mj-ea"/>
              </a:rPr>
              <a:t>进程同步机制</a:t>
            </a:r>
          </a:p>
        </p:txBody>
      </p:sp>
    </p:spTree>
    <p:extLst>
      <p:ext uri="{BB962C8B-B14F-4D97-AF65-F5344CB8AC3E}">
        <p14:creationId xmlns:p14="http://schemas.microsoft.com/office/powerpoint/2010/main" val="38209962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25911"/>
            <a:ext cx="5269706" cy="415498"/>
          </a:xfrm>
          <a:prstGeom prst="rect">
            <a:avLst/>
          </a:prstGeom>
        </p:spPr>
        <p:txBody>
          <a:bodyPr wrap="square">
            <a:spAutoFit/>
          </a:bodyPr>
          <a:lstStyle/>
          <a:p>
            <a:r>
              <a:rPr lang="zh-CN" altLang="en-US" sz="2100" b="1" dirty="0">
                <a:solidFill>
                  <a:schemeClr val="bg1"/>
                </a:solidFill>
              </a:rPr>
              <a:t>信号量机制的问题</a:t>
            </a:r>
          </a:p>
        </p:txBody>
      </p:sp>
      <p:sp>
        <p:nvSpPr>
          <p:cNvPr id="29" name="íSľïdé"/>
          <p:cNvSpPr/>
          <p:nvPr/>
        </p:nvSpPr>
        <p:spPr>
          <a:xfrm>
            <a:off x="1285309" y="2088371"/>
            <a:ext cx="425777" cy="383952"/>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34290" rIns="68580" bIns="3429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733425">
              <a:lnSpc>
                <a:spcPct val="90000"/>
              </a:lnSpc>
              <a:spcAft>
                <a:spcPct val="35000"/>
              </a:spcAft>
            </a:pPr>
            <a:endParaRPr lang="en-US" sz="1650"/>
          </a:p>
        </p:txBody>
      </p:sp>
      <p:sp>
        <p:nvSpPr>
          <p:cNvPr id="30" name="ïŝļíḓê"/>
          <p:cNvSpPr/>
          <p:nvPr/>
        </p:nvSpPr>
        <p:spPr bwMode="auto">
          <a:xfrm>
            <a:off x="5437723" y="2562256"/>
            <a:ext cx="417581" cy="415203"/>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68580" tIns="34290" rIns="68580" bIns="34290">
            <a:normAutofit/>
          </a:bodyPr>
          <a:lstStyle/>
          <a:p>
            <a:endParaRPr lang="zh-CN" altLang="en-US" sz="1800"/>
          </a:p>
        </p:txBody>
      </p:sp>
      <p:sp>
        <p:nvSpPr>
          <p:cNvPr id="31" name="îṧľîdé"/>
          <p:cNvSpPr/>
          <p:nvPr/>
        </p:nvSpPr>
        <p:spPr>
          <a:xfrm>
            <a:off x="1792534" y="1833682"/>
            <a:ext cx="3239885" cy="1641199"/>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sz="1800"/>
          </a:p>
        </p:txBody>
      </p:sp>
      <p:sp>
        <p:nvSpPr>
          <p:cNvPr id="32" name="内容占位符 2"/>
          <p:cNvSpPr txBox="1"/>
          <p:nvPr/>
        </p:nvSpPr>
        <p:spPr>
          <a:xfrm>
            <a:off x="526141" y="2562256"/>
            <a:ext cx="2806268" cy="248487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435"/>
              </a:spcBef>
              <a:buNone/>
              <a:defRPr/>
            </a:pPr>
            <a:r>
              <a:rPr lang="zh-CN" altLang="en-US" dirty="0"/>
              <a:t>问题：</a:t>
            </a:r>
            <a:endParaRPr lang="en-US" altLang="zh-CN" dirty="0"/>
          </a:p>
          <a:p>
            <a:pPr>
              <a:lnSpc>
                <a:spcPct val="132000"/>
              </a:lnSpc>
              <a:spcBef>
                <a:spcPts val="435"/>
              </a:spcBef>
              <a:buClr>
                <a:srgbClr val="C00000"/>
              </a:buClr>
              <a:buFont typeface="Wingdings" panose="05000000000000000000" pitchFamily="2" charset="2"/>
              <a:buChar char="Ø"/>
              <a:defRPr/>
            </a:pPr>
            <a:r>
              <a:rPr lang="zh-CN" altLang="en-US" dirty="0"/>
              <a:t>需要程序员实现，编程困难</a:t>
            </a:r>
          </a:p>
          <a:p>
            <a:pPr>
              <a:lnSpc>
                <a:spcPct val="132000"/>
              </a:lnSpc>
              <a:spcBef>
                <a:spcPts val="435"/>
              </a:spcBef>
              <a:buClr>
                <a:srgbClr val="C00000"/>
              </a:buClr>
              <a:buFont typeface="Wingdings" panose="05000000000000000000" pitchFamily="2" charset="2"/>
              <a:buChar char="Ø"/>
              <a:defRPr/>
            </a:pPr>
            <a:r>
              <a:rPr lang="zh-CN" altLang="en-US" dirty="0"/>
              <a:t>维护困难</a:t>
            </a:r>
          </a:p>
          <a:p>
            <a:pPr>
              <a:lnSpc>
                <a:spcPct val="132000"/>
              </a:lnSpc>
              <a:spcBef>
                <a:spcPts val="435"/>
              </a:spcBef>
              <a:buClr>
                <a:srgbClr val="C00000"/>
              </a:buClr>
              <a:buFont typeface="Wingdings" panose="05000000000000000000" pitchFamily="2" charset="2"/>
              <a:buChar char="Ø"/>
              <a:defRPr/>
            </a:pPr>
            <a:r>
              <a:rPr lang="zh-CN" altLang="en-US" dirty="0"/>
              <a:t>容易出错</a:t>
            </a:r>
          </a:p>
          <a:p>
            <a:pPr lvl="1">
              <a:lnSpc>
                <a:spcPct val="132000"/>
              </a:lnSpc>
              <a:spcBef>
                <a:spcPts val="435"/>
              </a:spcBef>
              <a:buClr>
                <a:srgbClr val="FF0000"/>
              </a:buClr>
              <a:buFont typeface="Wingdings" panose="05000000000000000000" pitchFamily="2" charset="2"/>
              <a:buChar char="l"/>
              <a:defRPr/>
            </a:pPr>
            <a:r>
              <a:rPr lang="en-US" altLang="zh-CN" sz="1800" dirty="0">
                <a:latin typeface="+mn-ea"/>
              </a:rPr>
              <a:t>  wait/signal</a:t>
            </a:r>
            <a:r>
              <a:rPr lang="zh-CN" altLang="en-US" sz="1800" dirty="0">
                <a:latin typeface="+mn-ea"/>
              </a:rPr>
              <a:t>位置错</a:t>
            </a:r>
          </a:p>
          <a:p>
            <a:pPr lvl="1">
              <a:lnSpc>
                <a:spcPct val="132000"/>
              </a:lnSpc>
              <a:spcBef>
                <a:spcPts val="435"/>
              </a:spcBef>
              <a:buClr>
                <a:srgbClr val="FF0000"/>
              </a:buClr>
              <a:buFont typeface="Wingdings" panose="05000000000000000000" pitchFamily="2" charset="2"/>
              <a:buChar char="l"/>
              <a:defRPr/>
            </a:pPr>
            <a:r>
              <a:rPr lang="en-US" altLang="zh-CN" sz="1800" dirty="0">
                <a:latin typeface="+mn-ea"/>
              </a:rPr>
              <a:t>  wait/signal</a:t>
            </a:r>
            <a:r>
              <a:rPr lang="zh-CN" altLang="en-US" sz="1800" dirty="0">
                <a:latin typeface="+mn-ea"/>
              </a:rPr>
              <a:t>不配对</a:t>
            </a:r>
          </a:p>
        </p:txBody>
      </p:sp>
      <p:sp>
        <p:nvSpPr>
          <p:cNvPr id="33" name="内容占位符 2"/>
          <p:cNvSpPr txBox="1"/>
          <p:nvPr/>
        </p:nvSpPr>
        <p:spPr>
          <a:xfrm>
            <a:off x="5113868" y="2981098"/>
            <a:ext cx="3371850" cy="197610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435"/>
              </a:spcBef>
              <a:buNone/>
              <a:defRPr/>
            </a:pPr>
            <a:r>
              <a:rPr lang="zh-CN" altLang="en-US" dirty="0"/>
              <a:t>解决方法：</a:t>
            </a:r>
            <a:endParaRPr lang="en-US" altLang="zh-CN" dirty="0"/>
          </a:p>
          <a:p>
            <a:pPr>
              <a:lnSpc>
                <a:spcPct val="132000"/>
              </a:lnSpc>
              <a:spcBef>
                <a:spcPts val="435"/>
              </a:spcBef>
              <a:buClr>
                <a:srgbClr val="FF0000"/>
              </a:buClr>
              <a:buFont typeface="Wingdings" panose="05000000000000000000" pitchFamily="2" charset="2"/>
              <a:buChar char="Ø"/>
              <a:defRPr/>
            </a:pPr>
            <a:r>
              <a:rPr lang="zh-CN" altLang="en-US" dirty="0"/>
              <a:t>由</a:t>
            </a:r>
            <a:r>
              <a:rPr lang="zh-CN" altLang="en-US" dirty="0">
                <a:solidFill>
                  <a:srgbClr val="FF0000"/>
                </a:solidFill>
              </a:rPr>
              <a:t>编程语言</a:t>
            </a:r>
            <a:r>
              <a:rPr lang="zh-CN" altLang="en-US" dirty="0"/>
              <a:t>解决同步互斥问题</a:t>
            </a:r>
          </a:p>
          <a:p>
            <a:pPr>
              <a:lnSpc>
                <a:spcPct val="132000"/>
              </a:lnSpc>
              <a:spcBef>
                <a:spcPts val="435"/>
              </a:spcBef>
              <a:buClr>
                <a:srgbClr val="FF0000"/>
              </a:buClr>
              <a:buFont typeface="Wingdings" panose="05000000000000000000" pitchFamily="2" charset="2"/>
              <a:buChar char="Ø"/>
              <a:defRPr/>
            </a:pPr>
            <a:r>
              <a:rPr lang="zh-CN" altLang="en-US" dirty="0"/>
              <a:t>管程（</a:t>
            </a:r>
            <a:r>
              <a:rPr lang="en-US" altLang="zh-CN" dirty="0"/>
              <a:t>1970s, Hoare</a:t>
            </a:r>
            <a:r>
              <a:rPr lang="zh-CN" altLang="en-US" dirty="0"/>
              <a:t>和</a:t>
            </a:r>
            <a:r>
              <a:rPr lang="en-US" altLang="zh-CN" dirty="0"/>
              <a:t>Hansen</a:t>
            </a:r>
            <a:r>
              <a:rPr lang="zh-CN" altLang="en-US" dirty="0"/>
              <a:t>）</a:t>
            </a:r>
          </a:p>
          <a:p>
            <a:pPr>
              <a:lnSpc>
                <a:spcPct val="132000"/>
              </a:lnSpc>
              <a:spcBef>
                <a:spcPts val="435"/>
              </a:spcBef>
              <a:buClr>
                <a:srgbClr val="FF0000"/>
              </a:buClr>
              <a:buFont typeface="Wingdings" panose="05000000000000000000" pitchFamily="2" charset="2"/>
              <a:buChar char="Ø"/>
              <a:defRPr/>
            </a:pPr>
            <a:endParaRPr lang="zh-CN" altLang="en-US" dirty="0"/>
          </a:p>
        </p:txBody>
      </p:sp>
      <p:sp>
        <p:nvSpPr>
          <p:cNvPr id="8" name="对角圆角矩形 7"/>
          <p:cNvSpPr/>
          <p:nvPr/>
        </p:nvSpPr>
        <p:spPr bwMode="auto">
          <a:xfrm>
            <a:off x="6400027" y="4561101"/>
            <a:ext cx="2207377" cy="817245"/>
          </a:xfrm>
          <a:prstGeom prst="round2Diag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zh-CN" altLang="en-US" sz="2100" dirty="0"/>
              <a:t>信号量：</a:t>
            </a:r>
            <a:r>
              <a:rPr lang="zh-CN" altLang="en-US" sz="2100" b="1" dirty="0">
                <a:solidFill>
                  <a:srgbClr val="FF0000"/>
                </a:solidFill>
                <a:effectLst>
                  <a:outerShdw blurRad="38100" dist="38100" dir="2700000" algn="tl">
                    <a:srgbClr val="000000">
                      <a:alpha val="43137"/>
                    </a:srgbClr>
                  </a:outerShdw>
                </a:effectLst>
              </a:rPr>
              <a:t>分散式</a:t>
            </a:r>
            <a:endParaRPr lang="en-US" altLang="zh-CN" sz="2100" b="1" dirty="0">
              <a:solidFill>
                <a:srgbClr val="FF0000"/>
              </a:solidFill>
              <a:effectLst>
                <a:outerShdw blurRad="38100" dist="38100" dir="2700000" algn="tl">
                  <a:srgbClr val="000000">
                    <a:alpha val="43137"/>
                  </a:srgbClr>
                </a:outerShdw>
              </a:effectLst>
            </a:endParaRPr>
          </a:p>
          <a:p>
            <a:pPr>
              <a:defRPr/>
            </a:pPr>
            <a:r>
              <a:rPr lang="zh-CN" altLang="en-US" sz="2100" dirty="0"/>
              <a:t>管    程：</a:t>
            </a:r>
            <a:r>
              <a:rPr lang="zh-CN" altLang="en-US" sz="2100" b="1" dirty="0">
                <a:solidFill>
                  <a:srgbClr val="FF0000"/>
                </a:solidFill>
                <a:effectLst>
                  <a:outerShdw blurRad="38100" dist="38100" dir="2700000" algn="tl">
                    <a:srgbClr val="000000">
                      <a:alpha val="43137"/>
                    </a:srgbClr>
                  </a:outerShdw>
                </a:effectLst>
              </a:rPr>
              <a:t>集中式</a:t>
            </a:r>
            <a:endParaRPr lang="zh-CN" altLang="en-US" sz="1800" dirty="0">
              <a:solidFill>
                <a:schemeClr val="tx1"/>
              </a:solidFill>
            </a:endParaRPr>
          </a:p>
        </p:txBody>
      </p:sp>
    </p:spTree>
    <p:extLst>
      <p:ext uri="{BB962C8B-B14F-4D97-AF65-F5344CB8AC3E}">
        <p14:creationId xmlns:p14="http://schemas.microsoft.com/office/powerpoint/2010/main" val="286581452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管程</a:t>
            </a:r>
          </a:p>
        </p:txBody>
      </p:sp>
      <p:sp>
        <p:nvSpPr>
          <p:cNvPr id="9" name="文本框 8"/>
          <p:cNvSpPr txBox="1"/>
          <p:nvPr/>
        </p:nvSpPr>
        <p:spPr>
          <a:xfrm>
            <a:off x="672941" y="1733550"/>
            <a:ext cx="3015615" cy="1912144"/>
          </a:xfrm>
          <a:prstGeom prst="rect">
            <a:avLst/>
          </a:prstGeom>
          <a:noFill/>
        </p:spPr>
        <p:txBody>
          <a:bodyPr wrap="square" rtlCol="0">
            <a:noAutofit/>
          </a:bodyPr>
          <a:lstStyle/>
          <a:p>
            <a:pPr>
              <a:lnSpc>
                <a:spcPct val="120000"/>
              </a:lnSpc>
              <a:spcBef>
                <a:spcPts val="225"/>
              </a:spcBef>
              <a:spcAft>
                <a:spcPts val="225"/>
              </a:spcAft>
            </a:pPr>
            <a:r>
              <a:rPr lang="zh-CN" altLang="en-US" sz="1800" dirty="0"/>
              <a:t>管程定义</a:t>
            </a:r>
          </a:p>
          <a:p>
            <a:pPr marL="257175" indent="-257175" algn="just">
              <a:lnSpc>
                <a:spcPct val="120000"/>
              </a:lnSpc>
              <a:spcBef>
                <a:spcPts val="225"/>
              </a:spcBef>
              <a:spcAft>
                <a:spcPts val="225"/>
              </a:spcAft>
              <a:buClr>
                <a:srgbClr val="FF0000"/>
              </a:buClr>
              <a:buFont typeface="Wingdings" panose="05000000000000000000" pitchFamily="2" charset="2"/>
              <a:buChar char="Ø"/>
            </a:pPr>
            <a:r>
              <a:rPr lang="zh-CN" altLang="en-US" sz="1500" dirty="0">
                <a:latin typeface="+mn-ea"/>
              </a:rPr>
              <a:t>一个管程定义了一个</a:t>
            </a:r>
            <a:r>
              <a:rPr lang="zh-CN" altLang="en-US" sz="1500" dirty="0">
                <a:solidFill>
                  <a:srgbClr val="FF0000"/>
                </a:solidFill>
                <a:latin typeface="+mn-ea"/>
              </a:rPr>
              <a:t>数据结构</a:t>
            </a:r>
            <a:r>
              <a:rPr lang="zh-CN" altLang="en-US" sz="1500" dirty="0">
                <a:latin typeface="+mn-ea"/>
              </a:rPr>
              <a:t>和能为并发进程所执行（在该数据结构上）的</a:t>
            </a:r>
            <a:r>
              <a:rPr lang="zh-CN" altLang="en-US" sz="1500" dirty="0">
                <a:solidFill>
                  <a:srgbClr val="FF0000"/>
                </a:solidFill>
                <a:latin typeface="+mn-ea"/>
              </a:rPr>
              <a:t>一组操作</a:t>
            </a:r>
            <a:r>
              <a:rPr lang="zh-CN" altLang="en-US" sz="1500" dirty="0">
                <a:latin typeface="+mn-ea"/>
              </a:rPr>
              <a:t>，这组操作能</a:t>
            </a:r>
            <a:r>
              <a:rPr lang="zh-CN" altLang="en-US" sz="1500" b="1" dirty="0">
                <a:latin typeface="+mn-ea"/>
              </a:rPr>
              <a:t>同步进程</a:t>
            </a:r>
            <a:r>
              <a:rPr lang="zh-CN" altLang="en-US" sz="1500" dirty="0">
                <a:latin typeface="+mn-ea"/>
              </a:rPr>
              <a:t>和</a:t>
            </a:r>
            <a:r>
              <a:rPr lang="zh-CN" altLang="en-US" sz="1500" b="1" dirty="0">
                <a:latin typeface="+mn-ea"/>
              </a:rPr>
              <a:t>改变管程中的数据。</a:t>
            </a:r>
          </a:p>
        </p:txBody>
      </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57447" y="1733651"/>
            <a:ext cx="395288" cy="395288"/>
          </a:xfrm>
          <a:prstGeom prst="rect">
            <a:avLst/>
          </a:prstGeom>
          <a:ln>
            <a:noFill/>
          </a:ln>
          <a:effectLst>
            <a:softEdge rad="0"/>
          </a:effectLst>
        </p:spPr>
      </p:pic>
      <p:pic>
        <p:nvPicPr>
          <p:cNvPr id="13" name="图片 12"/>
          <p:cNvPicPr>
            <a:picLocks noChangeAspect="1"/>
          </p:cNvPicPr>
          <p:nvPr/>
        </p:nvPicPr>
        <p:blipFill>
          <a:blip r:embed="rId3">
            <a:clrChange>
              <a:clrFrom>
                <a:srgbClr val="FFFFFF"/>
              </a:clrFrom>
              <a:clrTo>
                <a:srgbClr val="FFFFFF">
                  <a:alpha val="0"/>
                </a:srgbClr>
              </a:clrTo>
            </a:clrChange>
          </a:blip>
          <a:stretch>
            <a:fillRect/>
          </a:stretch>
        </p:blipFill>
        <p:spPr>
          <a:xfrm>
            <a:off x="355091" y="3377623"/>
            <a:ext cx="3240000" cy="2757899"/>
          </a:xfrm>
          <a:prstGeom prst="rect">
            <a:avLst/>
          </a:prstGeom>
        </p:spPr>
      </p:pic>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3688558" y="1733651"/>
            <a:ext cx="395288" cy="395288"/>
          </a:xfrm>
          <a:prstGeom prst="rect">
            <a:avLst/>
          </a:prstGeom>
          <a:ln>
            <a:noFill/>
          </a:ln>
          <a:effectLst>
            <a:softEdge rad="0"/>
          </a:effectLst>
        </p:spPr>
      </p:pic>
      <p:sp>
        <p:nvSpPr>
          <p:cNvPr id="15" name="矩形 14"/>
          <p:cNvSpPr/>
          <p:nvPr/>
        </p:nvSpPr>
        <p:spPr>
          <a:xfrm>
            <a:off x="4193139" y="2128939"/>
            <a:ext cx="4861409" cy="4016484"/>
          </a:xfrm>
          <a:prstGeom prst="rect">
            <a:avLst/>
          </a:prstGeom>
        </p:spPr>
        <p:txBody>
          <a:bodyPr wrap="square">
            <a:spAutoFit/>
          </a:bodyPr>
          <a:lstStyle/>
          <a:p>
            <a:pPr>
              <a:defRPr/>
            </a:pPr>
            <a:r>
              <a:rPr lang="en-US" altLang="zh-CN" sz="1500" dirty="0"/>
              <a:t>Monitor </a:t>
            </a:r>
            <a:r>
              <a:rPr lang="en-US" altLang="zh-CN" sz="1500" dirty="0" err="1"/>
              <a:t>monitor_name</a:t>
            </a:r>
            <a:r>
              <a:rPr lang="en-US" altLang="zh-CN" sz="1500" dirty="0"/>
              <a:t>  {      	 /*</a:t>
            </a:r>
            <a:r>
              <a:rPr lang="ar-SA" altLang="zh-CN" sz="1500" dirty="0"/>
              <a:t>管程名</a:t>
            </a:r>
            <a:r>
              <a:rPr lang="en-US" altLang="zh-CN" sz="1500" dirty="0"/>
              <a:t>*/</a:t>
            </a:r>
            <a:endParaRPr lang="zh-CN" altLang="zh-CN" sz="1500" dirty="0"/>
          </a:p>
          <a:p>
            <a:pPr lvl="1">
              <a:defRPr/>
            </a:pPr>
            <a:r>
              <a:rPr lang="en-US" altLang="zh-CN" sz="1500" dirty="0"/>
              <a:t>share variable declarations</a:t>
            </a:r>
            <a:r>
              <a:rPr lang="ar-SA" altLang="zh-CN" sz="1500" dirty="0"/>
              <a:t>；</a:t>
            </a:r>
            <a:r>
              <a:rPr lang="en-US" altLang="zh-CN" sz="1500" dirty="0"/>
              <a:t> /*</a:t>
            </a:r>
            <a:r>
              <a:rPr lang="ar-SA" altLang="zh-CN" sz="1500" dirty="0"/>
              <a:t>共享变量说明</a:t>
            </a:r>
            <a:r>
              <a:rPr lang="en-US" altLang="zh-CN" sz="1500" dirty="0"/>
              <a:t>*/</a:t>
            </a:r>
            <a:endParaRPr lang="zh-CN" altLang="zh-CN" sz="1500" dirty="0"/>
          </a:p>
          <a:p>
            <a:pPr lvl="1">
              <a:defRPr/>
            </a:pPr>
            <a:r>
              <a:rPr lang="en-US" altLang="zh-CN" sz="1500" dirty="0" err="1"/>
              <a:t>cond</a:t>
            </a:r>
            <a:r>
              <a:rPr lang="en-US" altLang="zh-CN" sz="1500" dirty="0"/>
              <a:t> declarations</a:t>
            </a:r>
            <a:r>
              <a:rPr lang="ar-SA" altLang="zh-CN" sz="1500" dirty="0"/>
              <a:t>；</a:t>
            </a:r>
            <a:r>
              <a:rPr lang="en-US" altLang="zh-CN" sz="1500" dirty="0"/>
              <a:t>          	 /*</a:t>
            </a:r>
            <a:r>
              <a:rPr lang="ar-SA" altLang="zh-CN" sz="1500" dirty="0"/>
              <a:t>条件变量说明</a:t>
            </a:r>
            <a:r>
              <a:rPr lang="en-US" altLang="zh-CN" sz="1500" dirty="0"/>
              <a:t>*/</a:t>
            </a:r>
            <a:endParaRPr lang="zh-CN" altLang="zh-CN" sz="1500" dirty="0"/>
          </a:p>
          <a:p>
            <a:pPr lvl="1">
              <a:defRPr/>
            </a:pPr>
            <a:r>
              <a:rPr lang="en-US" altLang="zh-CN" sz="1500" dirty="0"/>
              <a:t>public:                       	/*</a:t>
            </a:r>
            <a:r>
              <a:rPr lang="ar-SA" altLang="zh-CN" sz="1500" dirty="0"/>
              <a:t>能被进程调用的过程</a:t>
            </a:r>
            <a:r>
              <a:rPr lang="en-US" altLang="zh-CN" sz="1500" dirty="0"/>
              <a:t>*/</a:t>
            </a:r>
            <a:endParaRPr lang="zh-CN" altLang="zh-CN" sz="1500" dirty="0"/>
          </a:p>
          <a:p>
            <a:pPr lvl="2">
              <a:defRPr/>
            </a:pPr>
            <a:r>
              <a:rPr lang="en-US" altLang="zh-CN" sz="1500" dirty="0"/>
              <a:t>void P1(</a:t>
            </a:r>
            <a:r>
              <a:rPr lang="zh-CN" altLang="zh-CN" sz="1500" dirty="0"/>
              <a:t>……</a:t>
            </a:r>
            <a:r>
              <a:rPr lang="en-US" altLang="zh-CN" sz="1500" dirty="0"/>
              <a:t>) {</a:t>
            </a:r>
            <a:r>
              <a:rPr lang="zh-CN" altLang="zh-CN" sz="1500" dirty="0"/>
              <a:t>……</a:t>
            </a:r>
            <a:r>
              <a:rPr lang="en-US" altLang="zh-CN" sz="1500" dirty="0"/>
              <a:t>}  /*</a:t>
            </a:r>
            <a:r>
              <a:rPr lang="ar-SA" altLang="zh-CN" sz="1500" dirty="0"/>
              <a:t>对数据结构操作的过程</a:t>
            </a:r>
            <a:r>
              <a:rPr lang="en-US" altLang="zh-CN" sz="1500" dirty="0"/>
              <a:t>*/</a:t>
            </a:r>
            <a:endParaRPr lang="zh-CN" altLang="zh-CN" sz="1500" dirty="0"/>
          </a:p>
          <a:p>
            <a:pPr lvl="2">
              <a:defRPr/>
            </a:pPr>
            <a:r>
              <a:rPr lang="en-US" altLang="zh-CN" sz="1500" dirty="0"/>
              <a:t>void P2(</a:t>
            </a:r>
            <a:r>
              <a:rPr lang="zh-CN" altLang="zh-CN" sz="1500" dirty="0"/>
              <a:t>……</a:t>
            </a:r>
            <a:r>
              <a:rPr lang="en-US" altLang="zh-CN" sz="1500" dirty="0"/>
              <a:t>) {</a:t>
            </a:r>
            <a:r>
              <a:rPr lang="zh-CN" altLang="zh-CN" sz="1500" dirty="0"/>
              <a:t>……</a:t>
            </a:r>
            <a:r>
              <a:rPr lang="en-US" altLang="zh-CN" sz="1500" dirty="0"/>
              <a:t>}</a:t>
            </a:r>
            <a:endParaRPr lang="zh-CN" altLang="zh-CN" sz="1500" dirty="0"/>
          </a:p>
          <a:p>
            <a:pPr lvl="2">
              <a:defRPr/>
            </a:pPr>
            <a:r>
              <a:rPr lang="zh-CN" altLang="zh-CN" sz="1500" dirty="0"/>
              <a:t>……</a:t>
            </a:r>
          </a:p>
          <a:p>
            <a:pPr lvl="2">
              <a:defRPr/>
            </a:pPr>
            <a:r>
              <a:rPr lang="en-US" altLang="zh-CN" sz="1500" dirty="0"/>
              <a:t>void (</a:t>
            </a:r>
            <a:r>
              <a:rPr lang="zh-CN" altLang="zh-CN" sz="1500" dirty="0"/>
              <a:t>……</a:t>
            </a:r>
            <a:r>
              <a:rPr lang="en-US" altLang="zh-CN" sz="1500" dirty="0"/>
              <a:t>) {</a:t>
            </a:r>
            <a:r>
              <a:rPr lang="zh-CN" altLang="zh-CN" sz="1500" dirty="0"/>
              <a:t>……</a:t>
            </a:r>
            <a:r>
              <a:rPr lang="en-US" altLang="zh-CN" sz="1500" dirty="0"/>
              <a:t>}</a:t>
            </a:r>
            <a:endParaRPr lang="zh-CN" altLang="zh-CN" sz="1500" dirty="0"/>
          </a:p>
          <a:p>
            <a:pPr lvl="1">
              <a:defRPr/>
            </a:pPr>
            <a:r>
              <a:rPr lang="zh-CN" altLang="zh-CN" sz="1500" dirty="0"/>
              <a:t>……</a:t>
            </a:r>
          </a:p>
          <a:p>
            <a:pPr lvl="1">
              <a:defRPr/>
            </a:pPr>
            <a:r>
              <a:rPr lang="en-US" altLang="zh-CN" sz="1500" dirty="0"/>
              <a:t>{                            		/*</a:t>
            </a:r>
            <a:r>
              <a:rPr lang="ar-SA" altLang="zh-CN" sz="1500" dirty="0"/>
              <a:t>管程主体</a:t>
            </a:r>
            <a:r>
              <a:rPr lang="en-US" altLang="zh-CN" sz="1500" dirty="0"/>
              <a:t>*/       </a:t>
            </a:r>
            <a:endParaRPr lang="zh-CN" altLang="zh-CN" sz="1500" dirty="0"/>
          </a:p>
          <a:p>
            <a:pPr lvl="1">
              <a:defRPr/>
            </a:pPr>
            <a:r>
              <a:rPr lang="en-US" altLang="zh-CN" sz="1500" dirty="0"/>
              <a:t>initialization code;     	/*</a:t>
            </a:r>
            <a:r>
              <a:rPr lang="ar-SA" altLang="zh-CN" sz="1500" dirty="0"/>
              <a:t>初始化代码</a:t>
            </a:r>
            <a:r>
              <a:rPr lang="en-US" altLang="zh-CN" sz="1500" dirty="0"/>
              <a:t>*/ </a:t>
            </a:r>
            <a:endParaRPr lang="zh-CN" altLang="zh-CN" sz="1500" dirty="0"/>
          </a:p>
          <a:p>
            <a:pPr lvl="1">
              <a:defRPr/>
            </a:pPr>
            <a:r>
              <a:rPr lang="zh-CN" altLang="zh-CN" sz="1500" dirty="0"/>
              <a:t>……</a:t>
            </a:r>
            <a:r>
              <a:rPr lang="en-US" altLang="zh-CN" sz="1500" dirty="0"/>
              <a:t>      </a:t>
            </a:r>
            <a:endParaRPr lang="zh-CN" altLang="zh-CN" sz="1500" dirty="0"/>
          </a:p>
          <a:p>
            <a:pPr lvl="1">
              <a:defRPr/>
            </a:pPr>
            <a:r>
              <a:rPr lang="en-US" altLang="zh-CN" sz="1500" dirty="0"/>
              <a:t>}</a:t>
            </a:r>
            <a:endParaRPr lang="zh-CN" altLang="zh-CN" sz="1500" dirty="0"/>
          </a:p>
          <a:p>
            <a:pPr>
              <a:defRPr/>
            </a:pPr>
            <a:r>
              <a:rPr lang="en-US" altLang="zh-CN" sz="1500" dirty="0"/>
              <a:t>}	</a:t>
            </a:r>
            <a:endParaRPr lang="en-US" altLang="zh-CN" sz="1500" b="1" dirty="0">
              <a:effectLst>
                <a:outerShdw blurRad="38100" dist="38100" dir="2700000" algn="tl">
                  <a:srgbClr val="000000">
                    <a:alpha val="43137"/>
                  </a:srgbClr>
                </a:outerShdw>
              </a:effectLst>
            </a:endParaRPr>
          </a:p>
        </p:txBody>
      </p:sp>
      <p:sp>
        <p:nvSpPr>
          <p:cNvPr id="16" name="文本框 15"/>
          <p:cNvSpPr txBox="1"/>
          <p:nvPr/>
        </p:nvSpPr>
        <p:spPr>
          <a:xfrm>
            <a:off x="4204255" y="1733652"/>
            <a:ext cx="3415412" cy="380553"/>
          </a:xfrm>
          <a:prstGeom prst="rect">
            <a:avLst/>
          </a:prstGeom>
          <a:noFill/>
        </p:spPr>
        <p:txBody>
          <a:bodyPr wrap="square" rtlCol="0">
            <a:spAutoFit/>
          </a:bodyPr>
          <a:lstStyle/>
          <a:p>
            <a:pPr algn="just">
              <a:lnSpc>
                <a:spcPct val="120000"/>
              </a:lnSpc>
              <a:spcBef>
                <a:spcPts val="225"/>
              </a:spcBef>
              <a:spcAft>
                <a:spcPts val="225"/>
              </a:spcAft>
            </a:pPr>
            <a:r>
              <a:rPr lang="zh-CN" altLang="en-US" sz="1800" dirty="0">
                <a:latin typeface="+mn-ea"/>
              </a:rPr>
              <a:t>语法描述如下：</a:t>
            </a:r>
          </a:p>
        </p:txBody>
      </p:sp>
    </p:spTree>
    <p:extLst>
      <p:ext uri="{BB962C8B-B14F-4D97-AF65-F5344CB8AC3E}">
        <p14:creationId xmlns:p14="http://schemas.microsoft.com/office/powerpoint/2010/main" val="267569234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管程功能</a:t>
            </a:r>
          </a:p>
        </p:txBody>
      </p:sp>
      <p:sp>
        <p:nvSpPr>
          <p:cNvPr id="11" name="íSľïdé"/>
          <p:cNvSpPr/>
          <p:nvPr/>
        </p:nvSpPr>
        <p:spPr>
          <a:xfrm>
            <a:off x="1761892" y="2167884"/>
            <a:ext cx="425777" cy="383952"/>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34290" rIns="68580" bIns="3429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733425">
              <a:lnSpc>
                <a:spcPct val="90000"/>
              </a:lnSpc>
              <a:spcAft>
                <a:spcPct val="35000"/>
              </a:spcAft>
            </a:pPr>
            <a:endParaRPr lang="en-US" sz="1650"/>
          </a:p>
        </p:txBody>
      </p:sp>
      <p:sp>
        <p:nvSpPr>
          <p:cNvPr id="12" name="ïŝļíḓê"/>
          <p:cNvSpPr/>
          <p:nvPr/>
        </p:nvSpPr>
        <p:spPr bwMode="auto">
          <a:xfrm>
            <a:off x="6212976" y="2641769"/>
            <a:ext cx="417581" cy="415203"/>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68580" tIns="34290" rIns="68580" bIns="34290">
            <a:normAutofit/>
          </a:bodyPr>
          <a:lstStyle/>
          <a:p>
            <a:endParaRPr lang="zh-CN" altLang="en-US" sz="1800"/>
          </a:p>
        </p:txBody>
      </p:sp>
      <p:sp>
        <p:nvSpPr>
          <p:cNvPr id="17" name="îṧľîdé"/>
          <p:cNvSpPr/>
          <p:nvPr/>
        </p:nvSpPr>
        <p:spPr>
          <a:xfrm>
            <a:off x="2567787" y="1913196"/>
            <a:ext cx="3239885" cy="1641199"/>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sz="1800"/>
          </a:p>
        </p:txBody>
      </p:sp>
      <p:sp>
        <p:nvSpPr>
          <p:cNvPr id="18" name="内容占位符 2"/>
          <p:cNvSpPr txBox="1"/>
          <p:nvPr/>
        </p:nvSpPr>
        <p:spPr>
          <a:xfrm>
            <a:off x="1002724" y="2641770"/>
            <a:ext cx="2806268" cy="248487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435"/>
              </a:spcBef>
              <a:buNone/>
              <a:defRPr/>
            </a:pPr>
            <a:r>
              <a:rPr lang="zh-CN" altLang="en-US" dirty="0">
                <a:solidFill>
                  <a:srgbClr val="FF0000"/>
                </a:solidFill>
              </a:rPr>
              <a:t>互斥</a:t>
            </a:r>
          </a:p>
          <a:p>
            <a:pPr>
              <a:lnSpc>
                <a:spcPct val="132000"/>
              </a:lnSpc>
              <a:spcBef>
                <a:spcPts val="435"/>
              </a:spcBef>
              <a:buClr>
                <a:srgbClr val="C00000"/>
              </a:buClr>
              <a:buFont typeface="Wingdings" panose="05000000000000000000" pitchFamily="2" charset="2"/>
              <a:buChar char="Ø"/>
              <a:defRPr/>
            </a:pPr>
            <a:r>
              <a:rPr lang="zh-CN" altLang="en-US" dirty="0"/>
              <a:t>管程中的变量只能被管程中的操作访问</a:t>
            </a:r>
          </a:p>
          <a:p>
            <a:pPr>
              <a:lnSpc>
                <a:spcPct val="132000"/>
              </a:lnSpc>
              <a:spcBef>
                <a:spcPts val="435"/>
              </a:spcBef>
              <a:buClr>
                <a:srgbClr val="C00000"/>
              </a:buClr>
              <a:buFont typeface="Wingdings" panose="05000000000000000000" pitchFamily="2" charset="2"/>
              <a:buChar char="Ø"/>
              <a:defRPr/>
            </a:pPr>
            <a:r>
              <a:rPr lang="zh-CN" altLang="en-US" dirty="0"/>
              <a:t>任何时候只有一个进程在管程中操作</a:t>
            </a:r>
          </a:p>
          <a:p>
            <a:pPr>
              <a:lnSpc>
                <a:spcPct val="132000"/>
              </a:lnSpc>
              <a:spcBef>
                <a:spcPts val="435"/>
              </a:spcBef>
              <a:buClr>
                <a:srgbClr val="C00000"/>
              </a:buClr>
              <a:buFont typeface="Wingdings" panose="05000000000000000000" pitchFamily="2" charset="2"/>
              <a:buChar char="Ø"/>
              <a:defRPr/>
            </a:pPr>
            <a:r>
              <a:rPr lang="zh-CN" altLang="en-US" dirty="0"/>
              <a:t>类似临界区</a:t>
            </a:r>
          </a:p>
          <a:p>
            <a:pPr>
              <a:lnSpc>
                <a:spcPct val="132000"/>
              </a:lnSpc>
              <a:spcBef>
                <a:spcPts val="435"/>
              </a:spcBef>
              <a:buClr>
                <a:srgbClr val="C00000"/>
              </a:buClr>
              <a:buFont typeface="Wingdings" panose="05000000000000000000" pitchFamily="2" charset="2"/>
              <a:buChar char="Ø"/>
              <a:defRPr/>
            </a:pPr>
            <a:r>
              <a:rPr lang="zh-CN" altLang="en-US" dirty="0"/>
              <a:t>由编译器完成</a:t>
            </a:r>
          </a:p>
        </p:txBody>
      </p:sp>
      <p:sp>
        <p:nvSpPr>
          <p:cNvPr id="19" name="内容占位符 2"/>
          <p:cNvSpPr txBox="1"/>
          <p:nvPr/>
        </p:nvSpPr>
        <p:spPr>
          <a:xfrm>
            <a:off x="5889120" y="3060611"/>
            <a:ext cx="3371850" cy="197610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435"/>
              </a:spcBef>
              <a:buNone/>
              <a:defRPr/>
            </a:pPr>
            <a:r>
              <a:rPr lang="zh-CN" altLang="en-US" dirty="0">
                <a:solidFill>
                  <a:srgbClr val="FF0000"/>
                </a:solidFill>
              </a:rPr>
              <a:t>同步</a:t>
            </a:r>
          </a:p>
          <a:p>
            <a:pPr>
              <a:lnSpc>
                <a:spcPct val="132000"/>
              </a:lnSpc>
              <a:spcBef>
                <a:spcPts val="435"/>
              </a:spcBef>
              <a:buClr>
                <a:srgbClr val="FF0000"/>
              </a:buClr>
              <a:buFont typeface="Wingdings" panose="05000000000000000000" pitchFamily="2" charset="2"/>
              <a:buChar char="Ø"/>
              <a:defRPr/>
            </a:pPr>
            <a:r>
              <a:rPr lang="zh-CN" altLang="en-US" dirty="0"/>
              <a:t>条件变量</a:t>
            </a:r>
          </a:p>
          <a:p>
            <a:pPr>
              <a:lnSpc>
                <a:spcPct val="132000"/>
              </a:lnSpc>
              <a:spcBef>
                <a:spcPts val="435"/>
              </a:spcBef>
              <a:buClr>
                <a:srgbClr val="FF0000"/>
              </a:buClr>
              <a:buFont typeface="Wingdings" panose="05000000000000000000" pitchFamily="2" charset="2"/>
              <a:buChar char="Ø"/>
              <a:defRPr/>
            </a:pPr>
            <a:r>
              <a:rPr lang="zh-CN" altLang="en-US" dirty="0"/>
              <a:t>唤醒和阻塞操作</a:t>
            </a:r>
          </a:p>
        </p:txBody>
      </p:sp>
    </p:spTree>
    <p:extLst>
      <p:ext uri="{BB962C8B-B14F-4D97-AF65-F5344CB8AC3E}">
        <p14:creationId xmlns:p14="http://schemas.microsoft.com/office/powerpoint/2010/main" val="188457132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条件变量</a:t>
            </a:r>
          </a:p>
        </p:txBody>
      </p:sp>
      <p:sp>
        <p:nvSpPr>
          <p:cNvPr id="24" name="íšḻîḋè"/>
          <p:cNvSpPr/>
          <p:nvPr/>
        </p:nvSpPr>
        <p:spPr>
          <a:xfrm>
            <a:off x="1015072" y="3039997"/>
            <a:ext cx="2536618" cy="392978"/>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800" dirty="0">
                <a:latin typeface="+mn-ea"/>
              </a:rPr>
              <a:t>阻塞操作：</a:t>
            </a:r>
            <a:r>
              <a:rPr lang="en-US" altLang="zh-CN" sz="1800" dirty="0">
                <a:latin typeface="+mn-ea"/>
              </a:rPr>
              <a:t>wait</a:t>
            </a:r>
          </a:p>
          <a:p>
            <a:pPr marL="257175" indent="-257175">
              <a:lnSpc>
                <a:spcPct val="120000"/>
              </a:lnSpc>
              <a:buClr>
                <a:srgbClr val="FF0000"/>
              </a:buClr>
              <a:buFont typeface="Wingdings" panose="05000000000000000000" pitchFamily="2" charset="2"/>
              <a:buChar char="Ø"/>
            </a:pPr>
            <a:r>
              <a:rPr lang="zh-CN" altLang="en-US" sz="1800" dirty="0">
                <a:latin typeface="+mn-ea"/>
              </a:rPr>
              <a:t>唤醒操作：</a:t>
            </a:r>
            <a:r>
              <a:rPr lang="en-US" altLang="zh-CN" sz="1800" dirty="0">
                <a:latin typeface="+mn-ea"/>
              </a:rPr>
              <a:t>signal</a:t>
            </a:r>
          </a:p>
        </p:txBody>
      </p:sp>
      <p:sp>
        <p:nvSpPr>
          <p:cNvPr id="29" name="i$lîďê"/>
          <p:cNvSpPr/>
          <p:nvPr/>
        </p:nvSpPr>
        <p:spPr>
          <a:xfrm>
            <a:off x="1015072" y="2606588"/>
            <a:ext cx="2772038" cy="294658"/>
          </a:xfrm>
          <a:prstGeom prst="rect">
            <a:avLst/>
          </a:prstGeom>
          <a:noFill/>
          <a:ln>
            <a:noFill/>
          </a:ln>
        </p:spPr>
        <p:txBody>
          <a:bodyPr wrap="square" lIns="68580" tIns="34290" rIns="68580" bIns="34290" anchor="ctr" anchorCtr="0">
            <a:noAutofit/>
          </a:bodyPr>
          <a:lstStyle/>
          <a:p>
            <a:pPr marL="457200" indent="-457200" algn="just"/>
            <a:r>
              <a:rPr lang="zh-CN" altLang="en-US" sz="2100" dirty="0"/>
              <a:t>条件变量的操作</a:t>
            </a:r>
          </a:p>
        </p:txBody>
      </p:sp>
      <p:sp>
        <p:nvSpPr>
          <p:cNvPr id="33" name="íšḻíḑê"/>
          <p:cNvSpPr/>
          <p:nvPr/>
        </p:nvSpPr>
        <p:spPr>
          <a:xfrm>
            <a:off x="1015072" y="2063245"/>
            <a:ext cx="2772038" cy="304310"/>
          </a:xfrm>
          <a:prstGeom prst="rect">
            <a:avLst/>
          </a:prstGeom>
          <a:noFill/>
          <a:ln>
            <a:noFill/>
          </a:ln>
        </p:spPr>
        <p:txBody>
          <a:bodyPr wrap="square" lIns="68580" tIns="34290" rIns="68580" bIns="34290" anchor="ctr" anchorCtr="0">
            <a:noAutofit/>
          </a:bodyPr>
          <a:lstStyle/>
          <a:p>
            <a:pPr marL="457200" indent="-457200" algn="just">
              <a:lnSpc>
                <a:spcPct val="90000"/>
              </a:lnSpc>
            </a:pPr>
            <a:r>
              <a:rPr lang="en-US" altLang="zh-CN" sz="2100" dirty="0">
                <a:solidFill>
                  <a:srgbClr val="FF0000"/>
                </a:solidFill>
              </a:rPr>
              <a:t>condition x, y;</a:t>
            </a:r>
          </a:p>
        </p:txBody>
      </p:sp>
      <p:sp>
        <p:nvSpPr>
          <p:cNvPr id="34" name="îSļiḓè"/>
          <p:cNvSpPr/>
          <p:nvPr/>
        </p:nvSpPr>
        <p:spPr>
          <a:xfrm>
            <a:off x="502445" y="1980805"/>
            <a:ext cx="470900" cy="470900"/>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800"/>
          </a:p>
        </p:txBody>
      </p:sp>
      <p:sp>
        <p:nvSpPr>
          <p:cNvPr id="35" name="îşļiḓè"/>
          <p:cNvSpPr/>
          <p:nvPr/>
        </p:nvSpPr>
        <p:spPr>
          <a:xfrm>
            <a:off x="502446" y="2598808"/>
            <a:ext cx="470900" cy="470900"/>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800"/>
          </a:p>
        </p:txBody>
      </p:sp>
      <p:sp>
        <p:nvSpPr>
          <p:cNvPr id="36" name="îṡḷíďe"/>
          <p:cNvSpPr/>
          <p:nvPr/>
        </p:nvSpPr>
        <p:spPr>
          <a:xfrm>
            <a:off x="645136" y="2127907"/>
            <a:ext cx="195860" cy="185903"/>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68580" tIns="34290" rIns="68580" bIns="34290" anchor="ctr">
            <a:normAutofit fontScale="25000" lnSpcReduction="20000"/>
          </a:bodyPr>
          <a:lstStyle/>
          <a:p>
            <a:pPr algn="ctr"/>
            <a:endParaRPr sz="1800"/>
          </a:p>
        </p:txBody>
      </p:sp>
      <p:sp>
        <p:nvSpPr>
          <p:cNvPr id="37" name="íSlíḋe"/>
          <p:cNvSpPr/>
          <p:nvPr/>
        </p:nvSpPr>
        <p:spPr>
          <a:xfrm>
            <a:off x="645136" y="2765321"/>
            <a:ext cx="195861" cy="171603"/>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68580" tIns="34290" rIns="68580" bIns="34290" anchor="ctr">
            <a:normAutofit fontScale="25000" lnSpcReduction="20000"/>
          </a:bodyPr>
          <a:lstStyle/>
          <a:p>
            <a:pPr algn="ctr"/>
            <a:endParaRPr sz="1800"/>
          </a:p>
        </p:txBody>
      </p:sp>
      <p:sp>
        <p:nvSpPr>
          <p:cNvPr id="41" name="ïṧḷïḋè"/>
          <p:cNvSpPr/>
          <p:nvPr/>
        </p:nvSpPr>
        <p:spPr>
          <a:xfrm>
            <a:off x="1015072" y="3875486"/>
            <a:ext cx="3668354" cy="604019"/>
          </a:xfrm>
          <a:prstGeom prst="rect">
            <a:avLst/>
          </a:prstGeom>
          <a:noFill/>
          <a:ln>
            <a:noFill/>
          </a:ln>
        </p:spPr>
        <p:txBody>
          <a:bodyPr wrap="square" lIns="68580" tIns="34290" rIns="68580" bIns="34290" anchor="ctr" anchorCtr="0">
            <a:noAutofit/>
          </a:bodyPr>
          <a:lstStyle/>
          <a:p>
            <a:r>
              <a:rPr lang="en-US" altLang="zh-CN" sz="1800" dirty="0" err="1"/>
              <a:t>x.wait</a:t>
            </a:r>
            <a:r>
              <a:rPr lang="en-US" altLang="zh-CN" sz="1800" dirty="0"/>
              <a:t>(): </a:t>
            </a:r>
            <a:r>
              <a:rPr lang="zh-CN" altLang="en-US" sz="1800" dirty="0"/>
              <a:t>进程阻塞，直到另外一个进程调用</a:t>
            </a:r>
            <a:r>
              <a:rPr lang="en-US" altLang="zh-CN" sz="1800" dirty="0" err="1"/>
              <a:t>x.signal</a:t>
            </a:r>
            <a:r>
              <a:rPr lang="en-US" altLang="zh-CN" sz="1800" dirty="0"/>
              <a:t>()</a:t>
            </a:r>
          </a:p>
        </p:txBody>
      </p:sp>
      <p:sp>
        <p:nvSpPr>
          <p:cNvPr id="42" name="íṥḻîḓe"/>
          <p:cNvSpPr/>
          <p:nvPr/>
        </p:nvSpPr>
        <p:spPr>
          <a:xfrm>
            <a:off x="502444" y="3813535"/>
            <a:ext cx="470900" cy="470900"/>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800"/>
          </a:p>
        </p:txBody>
      </p:sp>
      <p:sp>
        <p:nvSpPr>
          <p:cNvPr id="43" name="ïśḷïḓe"/>
          <p:cNvSpPr/>
          <p:nvPr/>
        </p:nvSpPr>
        <p:spPr>
          <a:xfrm>
            <a:off x="666839" y="3955630"/>
            <a:ext cx="158689" cy="194480"/>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68580" tIns="34290" rIns="68580" bIns="34290" anchor="ctr">
            <a:normAutofit fontScale="25000" lnSpcReduction="20000"/>
          </a:bodyPr>
          <a:lstStyle/>
          <a:p>
            <a:pPr algn="ctr"/>
            <a:endParaRPr sz="1800"/>
          </a:p>
        </p:txBody>
      </p:sp>
      <p:sp>
        <p:nvSpPr>
          <p:cNvPr id="44" name="íšḻíḑê"/>
          <p:cNvSpPr/>
          <p:nvPr/>
        </p:nvSpPr>
        <p:spPr>
          <a:xfrm>
            <a:off x="1015072" y="4663546"/>
            <a:ext cx="3857899" cy="304310"/>
          </a:xfrm>
          <a:prstGeom prst="rect">
            <a:avLst/>
          </a:prstGeom>
          <a:noFill/>
          <a:ln>
            <a:noFill/>
          </a:ln>
        </p:spPr>
        <p:txBody>
          <a:bodyPr wrap="square" lIns="68580" tIns="34290" rIns="68580" bIns="34290" anchor="ctr" anchorCtr="0">
            <a:noAutofit/>
          </a:bodyPr>
          <a:lstStyle/>
          <a:p>
            <a:pPr marL="457200" indent="-457200" algn="just">
              <a:lnSpc>
                <a:spcPct val="90000"/>
              </a:lnSpc>
            </a:pPr>
            <a:r>
              <a:rPr lang="en-US" altLang="zh-CN" sz="2100" dirty="0" err="1"/>
              <a:t>x.signal</a:t>
            </a:r>
            <a:r>
              <a:rPr lang="en-US" altLang="zh-CN" sz="2100" dirty="0"/>
              <a:t>()</a:t>
            </a:r>
            <a:r>
              <a:rPr lang="zh-CN" altLang="en-US" sz="2100" dirty="0"/>
              <a:t>：唤醒另外一个进程</a:t>
            </a:r>
          </a:p>
        </p:txBody>
      </p:sp>
      <p:sp>
        <p:nvSpPr>
          <p:cNvPr id="45" name="îSļiḓè"/>
          <p:cNvSpPr/>
          <p:nvPr/>
        </p:nvSpPr>
        <p:spPr>
          <a:xfrm>
            <a:off x="502445" y="4581105"/>
            <a:ext cx="470900" cy="470900"/>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800"/>
          </a:p>
        </p:txBody>
      </p:sp>
      <p:sp>
        <p:nvSpPr>
          <p:cNvPr id="46" name="îṡḷíďe"/>
          <p:cNvSpPr/>
          <p:nvPr/>
        </p:nvSpPr>
        <p:spPr>
          <a:xfrm>
            <a:off x="645136" y="4728208"/>
            <a:ext cx="195860" cy="185903"/>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68580" tIns="34290" rIns="68580" bIns="34290" anchor="ctr">
            <a:normAutofit fontScale="25000" lnSpcReduction="20000"/>
          </a:bodyPr>
          <a:lstStyle/>
          <a:p>
            <a:pPr algn="ctr"/>
            <a:endParaRPr sz="1800"/>
          </a:p>
        </p:txBody>
      </p:sp>
      <p:pic>
        <p:nvPicPr>
          <p:cNvPr id="4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l="768" t="6474" r="383" b="5995"/>
          <a:stretch>
            <a:fillRect/>
          </a:stretch>
        </p:blipFill>
        <p:spPr bwMode="auto">
          <a:xfrm>
            <a:off x="4914698" y="2127907"/>
            <a:ext cx="3922911" cy="2839948"/>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605317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条件变量问题</a:t>
            </a:r>
          </a:p>
        </p:txBody>
      </p:sp>
      <p:sp>
        <p:nvSpPr>
          <p:cNvPr id="24" name="íSľïdé"/>
          <p:cNvSpPr/>
          <p:nvPr/>
        </p:nvSpPr>
        <p:spPr>
          <a:xfrm>
            <a:off x="708343" y="2157945"/>
            <a:ext cx="425777" cy="383952"/>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34290" rIns="68580" bIns="3429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733425">
              <a:lnSpc>
                <a:spcPct val="90000"/>
              </a:lnSpc>
              <a:spcAft>
                <a:spcPct val="35000"/>
              </a:spcAft>
            </a:pPr>
            <a:endParaRPr lang="en-US" sz="1650"/>
          </a:p>
        </p:txBody>
      </p:sp>
      <p:sp>
        <p:nvSpPr>
          <p:cNvPr id="29" name="ïŝļíḓê"/>
          <p:cNvSpPr/>
          <p:nvPr/>
        </p:nvSpPr>
        <p:spPr bwMode="auto">
          <a:xfrm>
            <a:off x="5716020" y="2638132"/>
            <a:ext cx="417581" cy="415203"/>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68580" tIns="34290" rIns="68580" bIns="34290">
            <a:normAutofit/>
          </a:bodyPr>
          <a:lstStyle/>
          <a:p>
            <a:endParaRPr lang="zh-CN" altLang="en-US" sz="1800"/>
          </a:p>
        </p:txBody>
      </p:sp>
      <p:sp>
        <p:nvSpPr>
          <p:cNvPr id="32" name="îṧľîdé"/>
          <p:cNvSpPr/>
          <p:nvPr/>
        </p:nvSpPr>
        <p:spPr>
          <a:xfrm>
            <a:off x="2567786" y="1913196"/>
            <a:ext cx="2630379" cy="1143777"/>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sz="1800"/>
          </a:p>
        </p:txBody>
      </p:sp>
      <p:sp>
        <p:nvSpPr>
          <p:cNvPr id="33" name="内容占位符 2"/>
          <p:cNvSpPr txBox="1"/>
          <p:nvPr/>
        </p:nvSpPr>
        <p:spPr>
          <a:xfrm>
            <a:off x="586409" y="2641770"/>
            <a:ext cx="2295939" cy="210168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435"/>
              </a:spcBef>
              <a:buNone/>
              <a:defRPr/>
            </a:pPr>
            <a:r>
              <a:rPr lang="zh-CN" altLang="en-US" dirty="0">
                <a:solidFill>
                  <a:srgbClr val="FF0000"/>
                </a:solidFill>
              </a:rPr>
              <a:t>管程内可能存在不止</a:t>
            </a:r>
            <a:r>
              <a:rPr lang="en-US" altLang="zh-CN" dirty="0">
                <a:solidFill>
                  <a:srgbClr val="FF0000"/>
                </a:solidFill>
              </a:rPr>
              <a:t>1</a:t>
            </a:r>
            <a:r>
              <a:rPr lang="zh-CN" altLang="en-US" dirty="0">
                <a:solidFill>
                  <a:srgbClr val="FF0000"/>
                </a:solidFill>
              </a:rPr>
              <a:t>个进程。</a:t>
            </a:r>
          </a:p>
          <a:p>
            <a:pPr>
              <a:lnSpc>
                <a:spcPct val="132000"/>
              </a:lnSpc>
              <a:spcBef>
                <a:spcPts val="435"/>
              </a:spcBef>
              <a:buClr>
                <a:srgbClr val="C00000"/>
              </a:buClr>
              <a:buFont typeface="Wingdings" panose="05000000000000000000" pitchFamily="2" charset="2"/>
              <a:buChar char="Ø"/>
              <a:defRPr/>
            </a:pPr>
            <a:r>
              <a:rPr lang="zh-CN" altLang="en-US" dirty="0"/>
              <a:t>例如：进程</a:t>
            </a:r>
            <a:r>
              <a:rPr lang="en-US" altLang="zh-CN" dirty="0"/>
              <a:t>P</a:t>
            </a:r>
            <a:r>
              <a:rPr lang="zh-CN" altLang="en-US" dirty="0"/>
              <a:t>调用</a:t>
            </a:r>
            <a:r>
              <a:rPr lang="en-US" altLang="zh-CN" dirty="0"/>
              <a:t>signal</a:t>
            </a:r>
            <a:r>
              <a:rPr lang="zh-CN" altLang="en-US" dirty="0"/>
              <a:t>操作唤醒进程</a:t>
            </a:r>
            <a:r>
              <a:rPr lang="en-US" altLang="zh-CN" dirty="0"/>
              <a:t>Q</a:t>
            </a:r>
            <a:r>
              <a:rPr lang="zh-CN" altLang="en-US" dirty="0"/>
              <a:t>后。</a:t>
            </a:r>
          </a:p>
        </p:txBody>
      </p:sp>
      <p:sp>
        <p:nvSpPr>
          <p:cNvPr id="34" name="内容占位符 2"/>
          <p:cNvSpPr txBox="1"/>
          <p:nvPr/>
        </p:nvSpPr>
        <p:spPr>
          <a:xfrm>
            <a:off x="5392165" y="3056974"/>
            <a:ext cx="2956706" cy="197610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435"/>
              </a:spcBef>
              <a:buNone/>
              <a:defRPr/>
            </a:pPr>
            <a:r>
              <a:rPr lang="zh-CN" altLang="en-US" dirty="0"/>
              <a:t>存在的可能</a:t>
            </a:r>
            <a:r>
              <a:rPr lang="zh-CN" altLang="en-US" dirty="0">
                <a:solidFill>
                  <a:srgbClr val="0000FF"/>
                </a:solidFill>
              </a:rPr>
              <a:t>处理方式</a:t>
            </a:r>
            <a:r>
              <a:rPr lang="zh-CN" altLang="en-US" dirty="0"/>
              <a:t>：</a:t>
            </a:r>
          </a:p>
          <a:p>
            <a:pPr>
              <a:lnSpc>
                <a:spcPct val="132000"/>
              </a:lnSpc>
              <a:spcBef>
                <a:spcPts val="435"/>
              </a:spcBef>
              <a:buClr>
                <a:srgbClr val="FF0000"/>
              </a:buClr>
              <a:buFont typeface="Wingdings" panose="05000000000000000000" pitchFamily="2" charset="2"/>
              <a:buChar char="Ø"/>
              <a:defRPr/>
            </a:pPr>
            <a:r>
              <a:rPr lang="en-US" altLang="zh-CN" dirty="0">
                <a:solidFill>
                  <a:srgbClr val="0000FF"/>
                </a:solidFill>
              </a:rPr>
              <a:t>P</a:t>
            </a:r>
            <a:r>
              <a:rPr lang="zh-CN" altLang="en-US" dirty="0">
                <a:solidFill>
                  <a:srgbClr val="0000FF"/>
                </a:solidFill>
              </a:rPr>
              <a:t>等待</a:t>
            </a:r>
            <a:r>
              <a:rPr lang="zh-CN" altLang="en-US" dirty="0"/>
              <a:t>，直到</a:t>
            </a:r>
            <a:r>
              <a:rPr lang="en-US" altLang="zh-CN" dirty="0"/>
              <a:t>Q</a:t>
            </a:r>
            <a:r>
              <a:rPr lang="zh-CN" altLang="en-US" dirty="0"/>
              <a:t>离开管程或等待另一条件（</a:t>
            </a:r>
            <a:r>
              <a:rPr lang="en-US" altLang="zh-CN" dirty="0">
                <a:solidFill>
                  <a:srgbClr val="0000FF"/>
                </a:solidFill>
              </a:rPr>
              <a:t>Hoare</a:t>
            </a:r>
            <a:r>
              <a:rPr lang="zh-CN" altLang="en-US" dirty="0"/>
              <a:t>）。</a:t>
            </a:r>
          </a:p>
          <a:p>
            <a:pPr>
              <a:lnSpc>
                <a:spcPct val="132000"/>
              </a:lnSpc>
              <a:spcBef>
                <a:spcPts val="435"/>
              </a:spcBef>
              <a:buClr>
                <a:srgbClr val="FF0000"/>
              </a:buClr>
              <a:buFont typeface="Wingdings" panose="05000000000000000000" pitchFamily="2" charset="2"/>
              <a:buChar char="Ø"/>
              <a:defRPr/>
            </a:pPr>
            <a:r>
              <a:rPr lang="en-US" altLang="zh-CN" dirty="0">
                <a:solidFill>
                  <a:srgbClr val="0000FF"/>
                </a:solidFill>
              </a:rPr>
              <a:t>Q</a:t>
            </a:r>
            <a:r>
              <a:rPr lang="zh-CN" altLang="en-US" dirty="0">
                <a:solidFill>
                  <a:srgbClr val="0000FF"/>
                </a:solidFill>
              </a:rPr>
              <a:t>等待</a:t>
            </a:r>
            <a:r>
              <a:rPr lang="zh-CN" altLang="en-US" dirty="0"/>
              <a:t>，直到</a:t>
            </a:r>
            <a:r>
              <a:rPr lang="en-US" altLang="zh-CN" dirty="0"/>
              <a:t>P</a:t>
            </a:r>
            <a:r>
              <a:rPr lang="zh-CN" altLang="en-US" dirty="0"/>
              <a:t>离开管程或等待另一条件（</a:t>
            </a:r>
            <a:r>
              <a:rPr lang="en-US" altLang="zh-CN" dirty="0">
                <a:solidFill>
                  <a:srgbClr val="0000FF"/>
                </a:solidFill>
              </a:rPr>
              <a:t>Hansen</a:t>
            </a:r>
            <a:r>
              <a:rPr lang="zh-CN" altLang="en-US" dirty="0"/>
              <a:t>）。</a:t>
            </a:r>
          </a:p>
        </p:txBody>
      </p:sp>
    </p:spTree>
    <p:extLst>
      <p:ext uri="{BB962C8B-B14F-4D97-AF65-F5344CB8AC3E}">
        <p14:creationId xmlns:p14="http://schemas.microsoft.com/office/powerpoint/2010/main" val="312916317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502444" y="5059446"/>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t>Date</a:t>
            </a:r>
            <a:endParaRPr lang="zh-CN" altLang="en-US" sz="1125" dirty="0"/>
          </a:p>
        </p:txBody>
      </p:sp>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矩形 19"/>
          <p:cNvSpPr/>
          <p:nvPr/>
        </p:nvSpPr>
        <p:spPr>
          <a:xfrm>
            <a:off x="578644" y="1050622"/>
            <a:ext cx="1539204" cy="415498"/>
          </a:xfrm>
          <a:prstGeom prst="rect">
            <a:avLst/>
          </a:prstGeom>
        </p:spPr>
        <p:txBody>
          <a:bodyPr wrap="none">
            <a:spAutoFit/>
          </a:bodyPr>
          <a:lstStyle/>
          <a:p>
            <a:r>
              <a:rPr lang="zh-CN" altLang="en-US" sz="2100" b="1" dirty="0">
                <a:solidFill>
                  <a:schemeClr val="bg1"/>
                </a:solidFill>
              </a:rPr>
              <a:t>内容导航：</a:t>
            </a:r>
          </a:p>
        </p:txBody>
      </p:sp>
      <p:sp>
        <p:nvSpPr>
          <p:cNvPr id="3" name="矩形 2"/>
          <p:cNvSpPr/>
          <p:nvPr/>
        </p:nvSpPr>
        <p:spPr>
          <a:xfrm>
            <a:off x="6180941" y="2700908"/>
            <a:ext cx="2560316" cy="507831"/>
          </a:xfrm>
          <a:prstGeom prst="rect">
            <a:avLst/>
          </a:prstGeom>
        </p:spPr>
        <p:txBody>
          <a:bodyPr wrap="none">
            <a:spAutoFit/>
          </a:bodyPr>
          <a:lstStyle/>
          <a:p>
            <a:r>
              <a:rPr lang="zh-CN" altLang="en-US" sz="2700" dirty="0">
                <a:solidFill>
                  <a:srgbClr val="000000"/>
                </a:solidFill>
                <a:sym typeface="+mn-ea"/>
              </a:rPr>
              <a:t>第</a:t>
            </a:r>
            <a:r>
              <a:rPr lang="en-US" altLang="zh-CN" sz="2700" dirty="0">
                <a:solidFill>
                  <a:srgbClr val="000000"/>
                </a:solidFill>
                <a:sym typeface="+mn-ea"/>
              </a:rPr>
              <a:t>4</a:t>
            </a:r>
            <a:r>
              <a:rPr lang="zh-CN" altLang="en-US" sz="2700" dirty="0">
                <a:solidFill>
                  <a:srgbClr val="000000"/>
                </a:solidFill>
                <a:sym typeface="+mn-ea"/>
              </a:rPr>
              <a:t>章 进程同步</a:t>
            </a:r>
            <a:endParaRPr lang="zh-CN" altLang="en-US" sz="2700" dirty="0">
              <a:solidFill>
                <a:srgbClr val="000000"/>
              </a:solidFill>
            </a:endParaRPr>
          </a:p>
        </p:txBody>
      </p:sp>
      <p:cxnSp>
        <p:nvCxnSpPr>
          <p:cNvPr id="5" name="直接连接符 4"/>
          <p:cNvCxnSpPr/>
          <p:nvPr/>
        </p:nvCxnSpPr>
        <p:spPr>
          <a:xfrm>
            <a:off x="5669925" y="3250103"/>
            <a:ext cx="2990417"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521248" y="3292521"/>
            <a:ext cx="3247181" cy="412613"/>
          </a:xfrm>
          <a:prstGeom prst="rect">
            <a:avLst/>
          </a:prstGeom>
        </p:spPr>
        <p:txBody>
          <a:bodyPr wrap="square">
            <a:spAutoFit/>
          </a:bodyPr>
          <a:lstStyle/>
          <a:p>
            <a:pPr algn="ctr">
              <a:lnSpc>
                <a:spcPct val="132000"/>
              </a:lnSpc>
            </a:pPr>
            <a:r>
              <a:rPr lang="zh-CN" altLang="en-US" sz="1800" dirty="0">
                <a:solidFill>
                  <a:srgbClr val="002060"/>
                </a:solidFill>
              </a:rPr>
              <a:t>主讲：王红玲    主审：汤小丹</a:t>
            </a:r>
            <a:endParaRPr lang="en-US" altLang="zh-CN" sz="1800" dirty="0">
              <a:solidFill>
                <a:srgbClr val="002060"/>
              </a:solidFill>
            </a:endParaRPr>
          </a:p>
        </p:txBody>
      </p:sp>
      <p:sp>
        <p:nvSpPr>
          <p:cNvPr id="8" name="矩形 7"/>
          <p:cNvSpPr/>
          <p:nvPr/>
        </p:nvSpPr>
        <p:spPr>
          <a:xfrm>
            <a:off x="-7145" y="5638531"/>
            <a:ext cx="9151145" cy="3622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6" name="任意多边形: 形状 25"/>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sz="1800">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116811"/>
            <a:ext cx="395288" cy="395288"/>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555666"/>
            <a:ext cx="395288" cy="395288"/>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047268"/>
            <a:ext cx="395288" cy="395288"/>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511123"/>
            <a:ext cx="395288" cy="395288"/>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980683"/>
            <a:ext cx="395288" cy="395288"/>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458967"/>
            <a:ext cx="395288" cy="395288"/>
          </a:xfrm>
          <a:prstGeom prst="rect">
            <a:avLst/>
          </a:prstGeom>
          <a:ln>
            <a:noFill/>
          </a:ln>
          <a:effectLst>
            <a:softEdge rad="0"/>
          </a:effectLst>
        </p:spPr>
      </p:pic>
      <p:sp>
        <p:nvSpPr>
          <p:cNvPr id="33" name="矩形 32"/>
          <p:cNvSpPr/>
          <p:nvPr/>
        </p:nvSpPr>
        <p:spPr>
          <a:xfrm>
            <a:off x="1273253" y="2158852"/>
            <a:ext cx="2616725" cy="369332"/>
          </a:xfrm>
          <a:prstGeom prst="rect">
            <a:avLst/>
          </a:prstGeom>
        </p:spPr>
        <p:txBody>
          <a:bodyPr wrap="square">
            <a:spAutoFit/>
          </a:bodyPr>
          <a:lstStyle/>
          <a:p>
            <a:r>
              <a:rPr lang="en-US" altLang="zh-CN" sz="1800" dirty="0">
                <a:latin typeface="+mj-ea"/>
                <a:ea typeface="+mj-ea"/>
              </a:rPr>
              <a:t>4.1 </a:t>
            </a:r>
            <a:r>
              <a:rPr lang="zh-CN" altLang="en-US" sz="1800" dirty="0">
                <a:latin typeface="+mj-ea"/>
                <a:ea typeface="+mj-ea"/>
              </a:rPr>
              <a:t>进程同步的概念</a:t>
            </a:r>
          </a:p>
        </p:txBody>
      </p:sp>
      <p:sp>
        <p:nvSpPr>
          <p:cNvPr id="34" name="矩形 33"/>
          <p:cNvSpPr/>
          <p:nvPr/>
        </p:nvSpPr>
        <p:spPr>
          <a:xfrm>
            <a:off x="1273253" y="2623196"/>
            <a:ext cx="2761613" cy="369332"/>
          </a:xfrm>
          <a:prstGeom prst="rect">
            <a:avLst/>
          </a:prstGeom>
        </p:spPr>
        <p:txBody>
          <a:bodyPr wrap="square">
            <a:spAutoFit/>
          </a:bodyPr>
          <a:lstStyle/>
          <a:p>
            <a:r>
              <a:rPr lang="en-US" altLang="zh-CN" sz="1800" dirty="0">
                <a:latin typeface="+mj-ea"/>
              </a:rPr>
              <a:t>4.2 </a:t>
            </a:r>
            <a:r>
              <a:rPr lang="zh-CN" altLang="en-US" sz="1800" dirty="0">
                <a:latin typeface="+mj-ea"/>
              </a:rPr>
              <a:t>软件同步机制</a:t>
            </a:r>
          </a:p>
        </p:txBody>
      </p:sp>
      <p:sp>
        <p:nvSpPr>
          <p:cNvPr id="35" name="矩形 34"/>
          <p:cNvSpPr/>
          <p:nvPr/>
        </p:nvSpPr>
        <p:spPr>
          <a:xfrm>
            <a:off x="1273253" y="3087539"/>
            <a:ext cx="2616725" cy="369332"/>
          </a:xfrm>
          <a:prstGeom prst="rect">
            <a:avLst/>
          </a:prstGeom>
        </p:spPr>
        <p:txBody>
          <a:bodyPr wrap="square">
            <a:spAutoFit/>
          </a:bodyPr>
          <a:lstStyle/>
          <a:p>
            <a:r>
              <a:rPr lang="en-US" altLang="zh-CN" sz="1800" dirty="0">
                <a:latin typeface="+mj-ea"/>
              </a:rPr>
              <a:t>4.3 </a:t>
            </a:r>
            <a:r>
              <a:rPr lang="zh-CN" altLang="en-US" sz="1800" dirty="0">
                <a:latin typeface="+mj-ea"/>
              </a:rPr>
              <a:t>硬件同步机制</a:t>
            </a:r>
          </a:p>
        </p:txBody>
      </p:sp>
      <p:sp>
        <p:nvSpPr>
          <p:cNvPr id="36" name="矩形 35"/>
          <p:cNvSpPr/>
          <p:nvPr/>
        </p:nvSpPr>
        <p:spPr>
          <a:xfrm>
            <a:off x="1273253" y="3551883"/>
            <a:ext cx="2616725" cy="369332"/>
          </a:xfrm>
          <a:prstGeom prst="rect">
            <a:avLst/>
          </a:prstGeom>
        </p:spPr>
        <p:txBody>
          <a:bodyPr wrap="square">
            <a:spAutoFit/>
          </a:bodyPr>
          <a:lstStyle/>
          <a:p>
            <a:r>
              <a:rPr lang="en-US" altLang="zh-CN" sz="1800" dirty="0">
                <a:latin typeface="+mj-ea"/>
              </a:rPr>
              <a:t>4.4 </a:t>
            </a:r>
            <a:r>
              <a:rPr lang="zh-CN" altLang="en-US" sz="1800" dirty="0">
                <a:latin typeface="+mj-ea"/>
              </a:rPr>
              <a:t>信号量机制</a:t>
            </a:r>
          </a:p>
        </p:txBody>
      </p:sp>
      <p:sp>
        <p:nvSpPr>
          <p:cNvPr id="37" name="矩形 36"/>
          <p:cNvSpPr/>
          <p:nvPr/>
        </p:nvSpPr>
        <p:spPr>
          <a:xfrm>
            <a:off x="1273253" y="4016227"/>
            <a:ext cx="2525359" cy="369332"/>
          </a:xfrm>
          <a:prstGeom prst="rect">
            <a:avLst/>
          </a:prstGeom>
        </p:spPr>
        <p:txBody>
          <a:bodyPr wrap="square">
            <a:spAutoFit/>
          </a:bodyPr>
          <a:lstStyle/>
          <a:p>
            <a:r>
              <a:rPr lang="en-US" altLang="zh-CN" sz="1800" dirty="0">
                <a:latin typeface="+mj-ea"/>
              </a:rPr>
              <a:t>4.5 </a:t>
            </a:r>
            <a:r>
              <a:rPr lang="zh-CN" altLang="en-US" sz="1800" dirty="0">
                <a:latin typeface="+mj-ea"/>
              </a:rPr>
              <a:t>管程机制</a:t>
            </a:r>
          </a:p>
        </p:txBody>
      </p:sp>
      <p:sp>
        <p:nvSpPr>
          <p:cNvPr id="38" name="矩形 37"/>
          <p:cNvSpPr/>
          <p:nvPr/>
        </p:nvSpPr>
        <p:spPr>
          <a:xfrm>
            <a:off x="1273253" y="4480571"/>
            <a:ext cx="2761613" cy="369332"/>
          </a:xfrm>
          <a:prstGeom prst="rect">
            <a:avLst/>
          </a:prstGeom>
        </p:spPr>
        <p:txBody>
          <a:bodyPr wrap="square">
            <a:spAutoFit/>
          </a:bodyPr>
          <a:lstStyle/>
          <a:p>
            <a:r>
              <a:rPr lang="en-US" altLang="zh-CN" sz="1800" b="1" dirty="0">
                <a:solidFill>
                  <a:srgbClr val="0000FF"/>
                </a:solidFill>
                <a:latin typeface="+mj-ea"/>
              </a:rPr>
              <a:t>4.6 </a:t>
            </a:r>
            <a:r>
              <a:rPr lang="zh-CN" altLang="en-US" sz="1800" b="1" dirty="0">
                <a:solidFill>
                  <a:srgbClr val="0000FF"/>
                </a:solidFill>
                <a:latin typeface="+mj-ea"/>
              </a:rPr>
              <a:t>经典进程的同步问题</a:t>
            </a:r>
          </a:p>
        </p:txBody>
      </p:sp>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913797"/>
            <a:ext cx="395288" cy="395288"/>
          </a:xfrm>
          <a:prstGeom prst="rect">
            <a:avLst/>
          </a:prstGeom>
          <a:ln>
            <a:noFill/>
          </a:ln>
          <a:effectLst>
            <a:softEdge rad="0"/>
          </a:effectLst>
        </p:spPr>
      </p:pic>
      <p:sp>
        <p:nvSpPr>
          <p:cNvPr id="24" name="矩形 23"/>
          <p:cNvSpPr/>
          <p:nvPr/>
        </p:nvSpPr>
        <p:spPr>
          <a:xfrm>
            <a:off x="1273253" y="4935400"/>
            <a:ext cx="2761613" cy="369332"/>
          </a:xfrm>
          <a:prstGeom prst="rect">
            <a:avLst/>
          </a:prstGeom>
        </p:spPr>
        <p:txBody>
          <a:bodyPr wrap="square">
            <a:spAutoFit/>
          </a:bodyPr>
          <a:lstStyle/>
          <a:p>
            <a:r>
              <a:rPr lang="en-US" altLang="zh-CN" sz="1800" dirty="0">
                <a:latin typeface="+mj-ea"/>
              </a:rPr>
              <a:t>4.7 Linux</a:t>
            </a:r>
            <a:r>
              <a:rPr lang="zh-CN" altLang="en-US" sz="1800" dirty="0">
                <a:latin typeface="+mj-ea"/>
              </a:rPr>
              <a:t>进程同步机制</a:t>
            </a:r>
          </a:p>
        </p:txBody>
      </p:sp>
    </p:spTree>
    <p:extLst>
      <p:ext uri="{BB962C8B-B14F-4D97-AF65-F5344CB8AC3E}">
        <p14:creationId xmlns:p14="http://schemas.microsoft.com/office/powerpoint/2010/main" val="15765029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502444" y="5059446"/>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t>Date</a:t>
            </a:r>
            <a:endParaRPr lang="zh-CN" altLang="en-US" sz="1125" dirty="0"/>
          </a:p>
        </p:txBody>
      </p:sp>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矩形 19"/>
          <p:cNvSpPr/>
          <p:nvPr/>
        </p:nvSpPr>
        <p:spPr>
          <a:xfrm>
            <a:off x="578644" y="1050622"/>
            <a:ext cx="1539204" cy="415498"/>
          </a:xfrm>
          <a:prstGeom prst="rect">
            <a:avLst/>
          </a:prstGeom>
        </p:spPr>
        <p:txBody>
          <a:bodyPr wrap="none">
            <a:spAutoFit/>
          </a:bodyPr>
          <a:lstStyle/>
          <a:p>
            <a:r>
              <a:rPr lang="zh-CN" altLang="en-US" sz="2100" b="1" dirty="0">
                <a:solidFill>
                  <a:schemeClr val="bg1"/>
                </a:solidFill>
              </a:rPr>
              <a:t>内容导航：</a:t>
            </a:r>
          </a:p>
        </p:txBody>
      </p:sp>
      <p:sp>
        <p:nvSpPr>
          <p:cNvPr id="3" name="矩形 2"/>
          <p:cNvSpPr/>
          <p:nvPr/>
        </p:nvSpPr>
        <p:spPr>
          <a:xfrm>
            <a:off x="6180941" y="2700908"/>
            <a:ext cx="2560316" cy="507831"/>
          </a:xfrm>
          <a:prstGeom prst="rect">
            <a:avLst/>
          </a:prstGeom>
        </p:spPr>
        <p:txBody>
          <a:bodyPr wrap="none">
            <a:spAutoFit/>
          </a:bodyPr>
          <a:lstStyle/>
          <a:p>
            <a:r>
              <a:rPr lang="zh-CN" altLang="en-US" sz="2700" dirty="0">
                <a:solidFill>
                  <a:srgbClr val="000000"/>
                </a:solidFill>
                <a:sym typeface="+mn-ea"/>
              </a:rPr>
              <a:t>第</a:t>
            </a:r>
            <a:r>
              <a:rPr lang="en-US" altLang="zh-CN" sz="2700" dirty="0">
                <a:solidFill>
                  <a:srgbClr val="000000"/>
                </a:solidFill>
                <a:sym typeface="+mn-ea"/>
              </a:rPr>
              <a:t>4</a:t>
            </a:r>
            <a:r>
              <a:rPr lang="zh-CN" altLang="en-US" sz="2700" dirty="0">
                <a:solidFill>
                  <a:srgbClr val="000000"/>
                </a:solidFill>
                <a:sym typeface="+mn-ea"/>
              </a:rPr>
              <a:t>章 进程同步</a:t>
            </a:r>
            <a:endParaRPr lang="zh-CN" altLang="en-US" sz="2700" dirty="0">
              <a:solidFill>
                <a:srgbClr val="000000"/>
              </a:solidFill>
            </a:endParaRPr>
          </a:p>
        </p:txBody>
      </p:sp>
      <p:cxnSp>
        <p:nvCxnSpPr>
          <p:cNvPr id="5" name="直接连接符 4"/>
          <p:cNvCxnSpPr/>
          <p:nvPr/>
        </p:nvCxnSpPr>
        <p:spPr>
          <a:xfrm>
            <a:off x="5669925" y="3250103"/>
            <a:ext cx="2990417"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521248" y="3292521"/>
            <a:ext cx="3247181" cy="412613"/>
          </a:xfrm>
          <a:prstGeom prst="rect">
            <a:avLst/>
          </a:prstGeom>
        </p:spPr>
        <p:txBody>
          <a:bodyPr wrap="square">
            <a:spAutoFit/>
          </a:bodyPr>
          <a:lstStyle/>
          <a:p>
            <a:pPr algn="ctr">
              <a:lnSpc>
                <a:spcPct val="132000"/>
              </a:lnSpc>
            </a:pPr>
            <a:r>
              <a:rPr lang="zh-CN" altLang="en-US" sz="1800" dirty="0">
                <a:solidFill>
                  <a:srgbClr val="002060"/>
                </a:solidFill>
              </a:rPr>
              <a:t>主讲：王红玲    主审：汤小丹</a:t>
            </a:r>
            <a:endParaRPr lang="en-US" altLang="zh-CN" sz="1800" dirty="0">
              <a:solidFill>
                <a:srgbClr val="002060"/>
              </a:solidFill>
            </a:endParaRPr>
          </a:p>
        </p:txBody>
      </p:sp>
      <p:sp>
        <p:nvSpPr>
          <p:cNvPr id="8" name="矩形 7"/>
          <p:cNvSpPr/>
          <p:nvPr/>
        </p:nvSpPr>
        <p:spPr>
          <a:xfrm>
            <a:off x="-7145" y="5638531"/>
            <a:ext cx="9151145" cy="3622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6" name="任意多边形: 形状 25"/>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sz="1800">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116811"/>
            <a:ext cx="395288" cy="395288"/>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555666"/>
            <a:ext cx="395288" cy="395288"/>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047268"/>
            <a:ext cx="395288" cy="395288"/>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511123"/>
            <a:ext cx="395288" cy="395288"/>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980683"/>
            <a:ext cx="395288" cy="395288"/>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458967"/>
            <a:ext cx="395288" cy="395288"/>
          </a:xfrm>
          <a:prstGeom prst="rect">
            <a:avLst/>
          </a:prstGeom>
          <a:ln>
            <a:noFill/>
          </a:ln>
          <a:effectLst>
            <a:softEdge rad="0"/>
          </a:effectLst>
        </p:spPr>
      </p:pic>
      <p:sp>
        <p:nvSpPr>
          <p:cNvPr id="33" name="矩形 32"/>
          <p:cNvSpPr/>
          <p:nvPr/>
        </p:nvSpPr>
        <p:spPr>
          <a:xfrm>
            <a:off x="1273253" y="2158852"/>
            <a:ext cx="2616725" cy="369332"/>
          </a:xfrm>
          <a:prstGeom prst="rect">
            <a:avLst/>
          </a:prstGeom>
        </p:spPr>
        <p:txBody>
          <a:bodyPr wrap="square">
            <a:spAutoFit/>
          </a:bodyPr>
          <a:lstStyle/>
          <a:p>
            <a:r>
              <a:rPr lang="en-US" altLang="zh-CN" sz="1800" dirty="0">
                <a:latin typeface="+mj-ea"/>
                <a:ea typeface="+mj-ea"/>
              </a:rPr>
              <a:t>4.1 </a:t>
            </a:r>
            <a:r>
              <a:rPr lang="zh-CN" altLang="en-US" sz="1800" dirty="0">
                <a:latin typeface="+mj-ea"/>
                <a:ea typeface="+mj-ea"/>
              </a:rPr>
              <a:t>进程同步的概念</a:t>
            </a:r>
          </a:p>
        </p:txBody>
      </p:sp>
      <p:sp>
        <p:nvSpPr>
          <p:cNvPr id="34" name="矩形 33"/>
          <p:cNvSpPr/>
          <p:nvPr/>
        </p:nvSpPr>
        <p:spPr>
          <a:xfrm>
            <a:off x="1273253" y="2623196"/>
            <a:ext cx="2761613" cy="369332"/>
          </a:xfrm>
          <a:prstGeom prst="rect">
            <a:avLst/>
          </a:prstGeom>
        </p:spPr>
        <p:txBody>
          <a:bodyPr wrap="square">
            <a:spAutoFit/>
          </a:bodyPr>
          <a:lstStyle/>
          <a:p>
            <a:r>
              <a:rPr lang="en-US" altLang="zh-CN" sz="1800" dirty="0">
                <a:latin typeface="+mj-ea"/>
              </a:rPr>
              <a:t>4.2 </a:t>
            </a:r>
            <a:r>
              <a:rPr lang="zh-CN" altLang="en-US" sz="1800" dirty="0">
                <a:latin typeface="+mj-ea"/>
              </a:rPr>
              <a:t>软件同步机制</a:t>
            </a:r>
          </a:p>
        </p:txBody>
      </p:sp>
      <p:sp>
        <p:nvSpPr>
          <p:cNvPr id="35" name="矩形 34"/>
          <p:cNvSpPr/>
          <p:nvPr/>
        </p:nvSpPr>
        <p:spPr>
          <a:xfrm>
            <a:off x="1273253" y="3087539"/>
            <a:ext cx="2616725" cy="369332"/>
          </a:xfrm>
          <a:prstGeom prst="rect">
            <a:avLst/>
          </a:prstGeom>
        </p:spPr>
        <p:txBody>
          <a:bodyPr wrap="square">
            <a:spAutoFit/>
          </a:bodyPr>
          <a:lstStyle/>
          <a:p>
            <a:r>
              <a:rPr lang="en-US" altLang="zh-CN" sz="1800" dirty="0">
                <a:latin typeface="+mj-ea"/>
              </a:rPr>
              <a:t>4.3 </a:t>
            </a:r>
            <a:r>
              <a:rPr lang="zh-CN" altLang="en-US" sz="1800" dirty="0">
                <a:latin typeface="+mj-ea"/>
              </a:rPr>
              <a:t>硬件同步机制</a:t>
            </a:r>
          </a:p>
        </p:txBody>
      </p:sp>
      <p:sp>
        <p:nvSpPr>
          <p:cNvPr id="36" name="矩形 35"/>
          <p:cNvSpPr/>
          <p:nvPr/>
        </p:nvSpPr>
        <p:spPr>
          <a:xfrm>
            <a:off x="1273253" y="3551883"/>
            <a:ext cx="2616725" cy="369332"/>
          </a:xfrm>
          <a:prstGeom prst="rect">
            <a:avLst/>
          </a:prstGeom>
        </p:spPr>
        <p:txBody>
          <a:bodyPr wrap="square">
            <a:spAutoFit/>
          </a:bodyPr>
          <a:lstStyle/>
          <a:p>
            <a:r>
              <a:rPr lang="en-US" altLang="zh-CN" sz="1800" dirty="0">
                <a:latin typeface="+mj-ea"/>
              </a:rPr>
              <a:t>4.4 </a:t>
            </a:r>
            <a:r>
              <a:rPr lang="zh-CN" altLang="en-US" sz="1800" dirty="0">
                <a:latin typeface="+mj-ea"/>
              </a:rPr>
              <a:t>信号量机制</a:t>
            </a:r>
          </a:p>
        </p:txBody>
      </p:sp>
      <p:sp>
        <p:nvSpPr>
          <p:cNvPr id="37" name="矩形 36"/>
          <p:cNvSpPr/>
          <p:nvPr/>
        </p:nvSpPr>
        <p:spPr>
          <a:xfrm>
            <a:off x="1273253" y="4016227"/>
            <a:ext cx="2525359" cy="369332"/>
          </a:xfrm>
          <a:prstGeom prst="rect">
            <a:avLst/>
          </a:prstGeom>
        </p:spPr>
        <p:txBody>
          <a:bodyPr wrap="square">
            <a:spAutoFit/>
          </a:bodyPr>
          <a:lstStyle/>
          <a:p>
            <a:r>
              <a:rPr lang="en-US" altLang="zh-CN" sz="1800" dirty="0">
                <a:latin typeface="+mj-ea"/>
              </a:rPr>
              <a:t>4.5 </a:t>
            </a:r>
            <a:r>
              <a:rPr lang="zh-CN" altLang="en-US" sz="1800" dirty="0">
                <a:latin typeface="+mj-ea"/>
              </a:rPr>
              <a:t>管程机制</a:t>
            </a:r>
          </a:p>
        </p:txBody>
      </p:sp>
      <p:sp>
        <p:nvSpPr>
          <p:cNvPr id="38" name="矩形 37"/>
          <p:cNvSpPr/>
          <p:nvPr/>
        </p:nvSpPr>
        <p:spPr>
          <a:xfrm>
            <a:off x="1273253" y="4480571"/>
            <a:ext cx="2761613" cy="369332"/>
          </a:xfrm>
          <a:prstGeom prst="rect">
            <a:avLst/>
          </a:prstGeom>
        </p:spPr>
        <p:txBody>
          <a:bodyPr wrap="square">
            <a:spAutoFit/>
          </a:bodyPr>
          <a:lstStyle/>
          <a:p>
            <a:r>
              <a:rPr lang="en-US" altLang="zh-CN" sz="1800" dirty="0">
                <a:latin typeface="+mj-ea"/>
              </a:rPr>
              <a:t>4.6 </a:t>
            </a:r>
            <a:r>
              <a:rPr lang="zh-CN" altLang="en-US" sz="1800" dirty="0">
                <a:latin typeface="+mj-ea"/>
              </a:rPr>
              <a:t>经典进程的同步问题</a:t>
            </a:r>
          </a:p>
        </p:txBody>
      </p:sp>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913797"/>
            <a:ext cx="395288" cy="395288"/>
          </a:xfrm>
          <a:prstGeom prst="rect">
            <a:avLst/>
          </a:prstGeom>
          <a:ln>
            <a:noFill/>
          </a:ln>
          <a:effectLst>
            <a:softEdge rad="0"/>
          </a:effectLst>
        </p:spPr>
      </p:pic>
      <p:sp>
        <p:nvSpPr>
          <p:cNvPr id="24" name="矩形 23"/>
          <p:cNvSpPr/>
          <p:nvPr/>
        </p:nvSpPr>
        <p:spPr>
          <a:xfrm>
            <a:off x="1273253" y="4935400"/>
            <a:ext cx="2761613" cy="369332"/>
          </a:xfrm>
          <a:prstGeom prst="rect">
            <a:avLst/>
          </a:prstGeom>
        </p:spPr>
        <p:txBody>
          <a:bodyPr wrap="square">
            <a:spAutoFit/>
          </a:bodyPr>
          <a:lstStyle/>
          <a:p>
            <a:r>
              <a:rPr lang="en-US" altLang="zh-CN" sz="1800" dirty="0">
                <a:latin typeface="+mj-ea"/>
              </a:rPr>
              <a:t>4.7 Linux</a:t>
            </a:r>
            <a:r>
              <a:rPr lang="zh-CN" altLang="en-US" sz="1800" dirty="0">
                <a:latin typeface="+mj-ea"/>
              </a:rPr>
              <a:t>进程同步机制</a:t>
            </a:r>
          </a:p>
        </p:txBody>
      </p:sp>
      <p:sp>
        <p:nvSpPr>
          <p:cNvPr id="2" name="右箭头 1"/>
          <p:cNvSpPr/>
          <p:nvPr/>
        </p:nvSpPr>
        <p:spPr>
          <a:xfrm>
            <a:off x="3918956" y="4568079"/>
            <a:ext cx="379369" cy="2346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7" name="矩形 26"/>
          <p:cNvSpPr/>
          <p:nvPr/>
        </p:nvSpPr>
        <p:spPr>
          <a:xfrm>
            <a:off x="4431207" y="4110649"/>
            <a:ext cx="3189866" cy="1121525"/>
          </a:xfrm>
          <a:prstGeom prst="rect">
            <a:avLst/>
          </a:prstGeom>
        </p:spPr>
        <p:txBody>
          <a:bodyPr wrap="square">
            <a:spAutoFit/>
          </a:bodyPr>
          <a:lstStyle/>
          <a:p>
            <a:pPr marL="257175" indent="-257175">
              <a:lnSpc>
                <a:spcPct val="130000"/>
              </a:lnSpc>
              <a:buFont typeface="Wingdings" panose="05000000000000000000" pitchFamily="2" charset="2"/>
              <a:buChar char="n"/>
            </a:pPr>
            <a:r>
              <a:rPr lang="en-US" altLang="zh-CN" sz="1800" b="1" dirty="0">
                <a:solidFill>
                  <a:srgbClr val="0000FF"/>
                </a:solidFill>
                <a:latin typeface="+mj-ea"/>
              </a:rPr>
              <a:t>4.6.1 </a:t>
            </a:r>
            <a:r>
              <a:rPr lang="zh-CN" altLang="en-US" sz="1800" b="1" dirty="0">
                <a:solidFill>
                  <a:srgbClr val="0000FF"/>
                </a:solidFill>
                <a:latin typeface="+mj-ea"/>
              </a:rPr>
              <a:t>生产者</a:t>
            </a:r>
            <a:r>
              <a:rPr lang="en-US" altLang="zh-CN" sz="1800" b="1" dirty="0">
                <a:solidFill>
                  <a:srgbClr val="0000FF"/>
                </a:solidFill>
                <a:latin typeface="+mj-ea"/>
              </a:rPr>
              <a:t>-</a:t>
            </a:r>
            <a:r>
              <a:rPr lang="zh-CN" altLang="en-US" sz="1800" b="1" dirty="0">
                <a:solidFill>
                  <a:srgbClr val="0000FF"/>
                </a:solidFill>
                <a:latin typeface="+mj-ea"/>
              </a:rPr>
              <a:t>消费者问题</a:t>
            </a:r>
          </a:p>
          <a:p>
            <a:pPr marL="257175" indent="-257175">
              <a:lnSpc>
                <a:spcPct val="130000"/>
              </a:lnSpc>
              <a:buFont typeface="Wingdings" panose="05000000000000000000" pitchFamily="2" charset="2"/>
              <a:buChar char="n"/>
            </a:pPr>
            <a:r>
              <a:rPr lang="en-US" altLang="zh-CN" sz="1800" dirty="0">
                <a:latin typeface="+mj-ea"/>
              </a:rPr>
              <a:t>4.6.2 </a:t>
            </a:r>
            <a:r>
              <a:rPr lang="zh-CN" altLang="en-US" sz="1800" dirty="0">
                <a:latin typeface="+mj-ea"/>
              </a:rPr>
              <a:t>哲学家进餐问题</a:t>
            </a:r>
          </a:p>
          <a:p>
            <a:pPr marL="257175" indent="-257175">
              <a:lnSpc>
                <a:spcPct val="130000"/>
              </a:lnSpc>
              <a:buFont typeface="Wingdings" panose="05000000000000000000" pitchFamily="2" charset="2"/>
              <a:buChar char="n"/>
            </a:pPr>
            <a:r>
              <a:rPr lang="en-US" altLang="zh-CN" sz="1800" dirty="0">
                <a:latin typeface="+mj-ea"/>
              </a:rPr>
              <a:t>4.6.3 </a:t>
            </a:r>
            <a:r>
              <a:rPr lang="zh-CN" altLang="en-US" sz="1800" dirty="0">
                <a:latin typeface="+mj-ea"/>
              </a:rPr>
              <a:t>读者</a:t>
            </a:r>
            <a:r>
              <a:rPr lang="en-US" altLang="zh-CN" sz="1800" dirty="0">
                <a:latin typeface="+mj-ea"/>
              </a:rPr>
              <a:t>-</a:t>
            </a:r>
            <a:r>
              <a:rPr lang="zh-CN" altLang="en-US" sz="1800" dirty="0">
                <a:latin typeface="+mj-ea"/>
              </a:rPr>
              <a:t>写者问题</a:t>
            </a:r>
          </a:p>
        </p:txBody>
      </p:sp>
    </p:spTree>
    <p:extLst>
      <p:ext uri="{BB962C8B-B14F-4D97-AF65-F5344CB8AC3E}">
        <p14:creationId xmlns:p14="http://schemas.microsoft.com/office/powerpoint/2010/main" val="172730920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生产者</a:t>
            </a:r>
            <a:r>
              <a:rPr lang="en-US" altLang="zh-CN" sz="2100" b="1" dirty="0">
                <a:solidFill>
                  <a:schemeClr val="bg1"/>
                </a:solidFill>
              </a:rPr>
              <a:t>-</a:t>
            </a:r>
            <a:r>
              <a:rPr lang="zh-CN" altLang="en-US" sz="2100" b="1" dirty="0">
                <a:solidFill>
                  <a:schemeClr val="bg1"/>
                </a:solidFill>
              </a:rPr>
              <a:t>消费者问题</a:t>
            </a:r>
          </a:p>
        </p:txBody>
      </p:sp>
      <p:sp>
        <p:nvSpPr>
          <p:cNvPr id="24" name="文本框 23"/>
          <p:cNvSpPr txBox="1"/>
          <p:nvPr/>
        </p:nvSpPr>
        <p:spPr>
          <a:xfrm>
            <a:off x="1018140" y="2004108"/>
            <a:ext cx="7713736" cy="3186065"/>
          </a:xfrm>
          <a:prstGeom prst="rect">
            <a:avLst/>
          </a:prstGeom>
          <a:noFill/>
        </p:spPr>
        <p:txBody>
          <a:bodyPr wrap="square" rtlCol="0">
            <a:spAutoFit/>
          </a:bodyPr>
          <a:lstStyle/>
          <a:p>
            <a:pPr>
              <a:lnSpc>
                <a:spcPct val="120000"/>
              </a:lnSpc>
              <a:spcBef>
                <a:spcPts val="450"/>
              </a:spcBef>
              <a:spcAft>
                <a:spcPts val="450"/>
              </a:spcAft>
            </a:pPr>
            <a:r>
              <a:rPr lang="zh-CN" altLang="en-US" sz="1800" dirty="0">
                <a:solidFill>
                  <a:srgbClr val="FF0000"/>
                </a:solidFill>
              </a:rPr>
              <a:t>生产者</a:t>
            </a:r>
            <a:r>
              <a:rPr lang="en-US" altLang="zh-CN" sz="1800" dirty="0">
                <a:solidFill>
                  <a:srgbClr val="FF0000"/>
                </a:solidFill>
              </a:rPr>
              <a:t>-</a:t>
            </a:r>
            <a:r>
              <a:rPr lang="zh-CN" altLang="en-US" sz="1800" dirty="0">
                <a:solidFill>
                  <a:srgbClr val="FF0000"/>
                </a:solidFill>
              </a:rPr>
              <a:t>消费者问题</a:t>
            </a:r>
            <a:r>
              <a:rPr lang="zh-CN" altLang="en-US" sz="1800" dirty="0"/>
              <a:t>是相互合作进程关系的一种抽象</a:t>
            </a:r>
          </a:p>
          <a:p>
            <a:pPr algn="just">
              <a:lnSpc>
                <a:spcPct val="120000"/>
              </a:lnSpc>
              <a:spcBef>
                <a:spcPts val="450"/>
              </a:spcBef>
              <a:spcAft>
                <a:spcPts val="450"/>
              </a:spcAft>
            </a:pPr>
            <a:r>
              <a:rPr lang="zh-CN" altLang="en-US" sz="1800" dirty="0">
                <a:latin typeface="+mn-ea"/>
              </a:rPr>
              <a:t>利用</a:t>
            </a:r>
            <a:r>
              <a:rPr lang="zh-CN" altLang="en-US" sz="1800" dirty="0">
                <a:solidFill>
                  <a:srgbClr val="FF0000"/>
                </a:solidFill>
                <a:latin typeface="+mn-ea"/>
              </a:rPr>
              <a:t>记录型（结构体）</a:t>
            </a:r>
            <a:r>
              <a:rPr lang="zh-CN" altLang="en-US" sz="1800" dirty="0">
                <a:latin typeface="+mn-ea"/>
              </a:rPr>
              <a:t>信号量实现：</a:t>
            </a:r>
          </a:p>
          <a:p>
            <a:pPr marL="257175" indent="-257175">
              <a:lnSpc>
                <a:spcPct val="120000"/>
              </a:lnSpc>
              <a:spcBef>
                <a:spcPts val="450"/>
              </a:spcBef>
              <a:spcAft>
                <a:spcPts val="450"/>
              </a:spcAft>
              <a:buClr>
                <a:srgbClr val="FF0000"/>
              </a:buClr>
              <a:buFont typeface="Wingdings" panose="05000000000000000000" pitchFamily="2" charset="2"/>
              <a:buChar char="Ø"/>
            </a:pPr>
            <a:r>
              <a:rPr lang="zh-CN" altLang="en-US" sz="1650" dirty="0">
                <a:latin typeface="+mn-ea"/>
              </a:rPr>
              <a:t>假定，在生产者和消费者之间的公用缓冲池中，具有</a:t>
            </a:r>
            <a:r>
              <a:rPr lang="en-US" altLang="zh-CN" sz="1650" dirty="0">
                <a:latin typeface="+mn-ea"/>
              </a:rPr>
              <a:t>n</a:t>
            </a:r>
            <a:r>
              <a:rPr lang="zh-CN" altLang="en-US" sz="1650" dirty="0">
                <a:latin typeface="+mn-ea"/>
              </a:rPr>
              <a:t>个缓冲区，可利用互斥信号量</a:t>
            </a:r>
            <a:r>
              <a:rPr lang="en-US" altLang="zh-CN" sz="1650" dirty="0" err="1">
                <a:latin typeface="+mn-ea"/>
              </a:rPr>
              <a:t>mutex</a:t>
            </a:r>
            <a:r>
              <a:rPr lang="zh-CN" altLang="en-US" sz="1650" dirty="0">
                <a:latin typeface="+mn-ea"/>
              </a:rPr>
              <a:t>使诸进程实现对缓冲池的互斥使用；</a:t>
            </a:r>
          </a:p>
          <a:p>
            <a:pPr marL="257175" indent="-257175">
              <a:lnSpc>
                <a:spcPct val="120000"/>
              </a:lnSpc>
              <a:spcBef>
                <a:spcPts val="450"/>
              </a:spcBef>
              <a:spcAft>
                <a:spcPts val="450"/>
              </a:spcAft>
              <a:buClr>
                <a:srgbClr val="FF0000"/>
              </a:buClr>
              <a:buFont typeface="Wingdings" panose="05000000000000000000" pitchFamily="2" charset="2"/>
              <a:buChar char="Ø"/>
            </a:pPr>
            <a:r>
              <a:rPr lang="zh-CN" altLang="en-US" sz="1650" dirty="0">
                <a:latin typeface="+mn-ea"/>
              </a:rPr>
              <a:t>利用资源信号量</a:t>
            </a:r>
            <a:r>
              <a:rPr lang="en-US" altLang="zh-CN" sz="1650" dirty="0">
                <a:latin typeface="+mn-ea"/>
              </a:rPr>
              <a:t>empty</a:t>
            </a:r>
            <a:r>
              <a:rPr lang="zh-CN" altLang="en-US" sz="1650" dirty="0">
                <a:latin typeface="+mn-ea"/>
              </a:rPr>
              <a:t>和</a:t>
            </a:r>
            <a:r>
              <a:rPr lang="en-US" altLang="zh-CN" sz="1650" dirty="0">
                <a:latin typeface="+mn-ea"/>
              </a:rPr>
              <a:t>full</a:t>
            </a:r>
            <a:r>
              <a:rPr lang="zh-CN" altLang="en-US" sz="1650" dirty="0">
                <a:latin typeface="+mn-ea"/>
              </a:rPr>
              <a:t>分别表示缓冲池中空缓冲区和满缓冲区的数量。</a:t>
            </a:r>
          </a:p>
          <a:p>
            <a:pPr marL="257175" indent="-257175">
              <a:lnSpc>
                <a:spcPct val="120000"/>
              </a:lnSpc>
              <a:spcBef>
                <a:spcPts val="450"/>
              </a:spcBef>
              <a:spcAft>
                <a:spcPts val="450"/>
              </a:spcAft>
              <a:buClr>
                <a:srgbClr val="FF0000"/>
              </a:buClr>
              <a:buFont typeface="Wingdings" panose="05000000000000000000" pitchFamily="2" charset="2"/>
              <a:buChar char="Ø"/>
            </a:pPr>
            <a:r>
              <a:rPr lang="zh-CN" altLang="en-US" sz="1650" dirty="0">
                <a:latin typeface="+mn-ea"/>
              </a:rPr>
              <a:t>又假定这些生产者和消费者相互等效，只要缓冲池未满，生产者便可将消息送入缓冲池；只要缓冲池未空，消费者便可从缓冲池中取走一个消息</a:t>
            </a:r>
          </a:p>
          <a:p>
            <a:pPr>
              <a:lnSpc>
                <a:spcPct val="120000"/>
              </a:lnSpc>
              <a:spcBef>
                <a:spcPts val="450"/>
              </a:spcBef>
              <a:spcAft>
                <a:spcPts val="450"/>
              </a:spcAft>
              <a:buClr>
                <a:srgbClr val="FF0000"/>
              </a:buClr>
            </a:pPr>
            <a:r>
              <a:rPr lang="zh-CN" altLang="en-US" sz="1650" dirty="0">
                <a:latin typeface="+mn-ea"/>
              </a:rPr>
              <a:t>其它解决方案：</a:t>
            </a:r>
            <a:r>
              <a:rPr lang="en-US" altLang="zh-CN" sz="1650" dirty="0">
                <a:latin typeface="+mn-ea"/>
              </a:rPr>
              <a:t>AND</a:t>
            </a:r>
            <a:r>
              <a:rPr lang="zh-CN" altLang="en-US" sz="1650" dirty="0">
                <a:latin typeface="+mn-ea"/>
              </a:rPr>
              <a:t>信号集、管程。</a:t>
            </a:r>
          </a:p>
        </p:txBody>
      </p:sp>
      <p:pic>
        <p:nvPicPr>
          <p:cNvPr id="29" name="图片 2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02444" y="1984789"/>
            <a:ext cx="395288" cy="395288"/>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02444" y="2451441"/>
            <a:ext cx="395288" cy="395288"/>
          </a:xfrm>
          <a:prstGeom prst="rect">
            <a:avLst/>
          </a:prstGeom>
          <a:ln>
            <a:noFill/>
          </a:ln>
          <a:effectLst>
            <a:softEdge rad="0"/>
          </a:effectLst>
        </p:spPr>
      </p:pic>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02444" y="4725090"/>
            <a:ext cx="395288" cy="395288"/>
          </a:xfrm>
          <a:prstGeom prst="rect">
            <a:avLst/>
          </a:prstGeom>
          <a:ln>
            <a:noFill/>
          </a:ln>
          <a:effectLst>
            <a:softEdge rad="0"/>
          </a:effectLst>
        </p:spPr>
      </p:pic>
    </p:spTree>
    <p:extLst>
      <p:ext uri="{BB962C8B-B14F-4D97-AF65-F5344CB8AC3E}">
        <p14:creationId xmlns:p14="http://schemas.microsoft.com/office/powerpoint/2010/main" val="281889225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83478" y="3554302"/>
            <a:ext cx="8080784" cy="19779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生产者</a:t>
            </a:r>
            <a:r>
              <a:rPr lang="en-US" altLang="zh-CN" sz="2100" b="1" dirty="0">
                <a:solidFill>
                  <a:schemeClr val="bg1"/>
                </a:solidFill>
              </a:rPr>
              <a:t>-</a:t>
            </a:r>
            <a:r>
              <a:rPr lang="zh-CN" altLang="en-US" sz="2100" b="1" dirty="0">
                <a:solidFill>
                  <a:schemeClr val="bg1"/>
                </a:solidFill>
              </a:rPr>
              <a:t>消费者问题描述</a:t>
            </a:r>
          </a:p>
        </p:txBody>
      </p:sp>
      <p:sp>
        <p:nvSpPr>
          <p:cNvPr id="24" name="文本框 23"/>
          <p:cNvSpPr txBox="1"/>
          <p:nvPr/>
        </p:nvSpPr>
        <p:spPr>
          <a:xfrm>
            <a:off x="583478" y="1723993"/>
            <a:ext cx="8080784" cy="1222451"/>
          </a:xfrm>
          <a:prstGeom prst="rect">
            <a:avLst/>
          </a:prstGeom>
          <a:noFill/>
        </p:spPr>
        <p:txBody>
          <a:bodyPr wrap="square" rtlCol="0">
            <a:spAutoFit/>
          </a:bodyPr>
          <a:lstStyle/>
          <a:p>
            <a:pPr marL="257175" indent="-257175">
              <a:lnSpc>
                <a:spcPct val="120000"/>
              </a:lnSpc>
              <a:spcBef>
                <a:spcPts val="450"/>
              </a:spcBef>
              <a:spcAft>
                <a:spcPts val="450"/>
              </a:spcAft>
              <a:buClr>
                <a:srgbClr val="FF0000"/>
              </a:buClr>
              <a:buFont typeface="Wingdings" panose="05000000000000000000" pitchFamily="2" charset="2"/>
              <a:buChar char="Ø"/>
            </a:pPr>
            <a:r>
              <a:rPr lang="zh-CN" altLang="en-US" sz="1650" dirty="0">
                <a:latin typeface="+mn-ea"/>
              </a:rPr>
              <a:t>生产者（</a:t>
            </a:r>
            <a:r>
              <a:rPr lang="en-US" altLang="zh-CN" sz="1650" dirty="0">
                <a:latin typeface="+mn-ea"/>
              </a:rPr>
              <a:t>M</a:t>
            </a:r>
            <a:r>
              <a:rPr lang="zh-CN" altLang="en-US" sz="1650" dirty="0">
                <a:latin typeface="+mn-ea"/>
              </a:rPr>
              <a:t>个）：生产产品，并放入缓冲区</a:t>
            </a:r>
          </a:p>
          <a:p>
            <a:pPr marL="257175" indent="-257175">
              <a:lnSpc>
                <a:spcPct val="120000"/>
              </a:lnSpc>
              <a:spcBef>
                <a:spcPts val="450"/>
              </a:spcBef>
              <a:spcAft>
                <a:spcPts val="450"/>
              </a:spcAft>
              <a:buClr>
                <a:srgbClr val="FF0000"/>
              </a:buClr>
              <a:buFont typeface="Wingdings" panose="05000000000000000000" pitchFamily="2" charset="2"/>
              <a:buChar char="Ø"/>
            </a:pPr>
            <a:r>
              <a:rPr lang="zh-CN" altLang="en-US" sz="1650" dirty="0">
                <a:latin typeface="+mn-ea"/>
              </a:rPr>
              <a:t>消费者（</a:t>
            </a:r>
            <a:r>
              <a:rPr lang="en-US" altLang="zh-CN" sz="1650" dirty="0">
                <a:latin typeface="+mn-ea"/>
              </a:rPr>
              <a:t>N</a:t>
            </a:r>
            <a:r>
              <a:rPr lang="zh-CN" altLang="en-US" sz="1650" dirty="0">
                <a:latin typeface="+mn-ea"/>
              </a:rPr>
              <a:t>个）：从缓冲区取产品消费</a:t>
            </a:r>
          </a:p>
          <a:p>
            <a:pPr marL="257175" indent="-257175">
              <a:lnSpc>
                <a:spcPct val="120000"/>
              </a:lnSpc>
              <a:spcBef>
                <a:spcPts val="450"/>
              </a:spcBef>
              <a:spcAft>
                <a:spcPts val="450"/>
              </a:spcAft>
              <a:buClr>
                <a:srgbClr val="FF0000"/>
              </a:buClr>
              <a:buFont typeface="Wingdings" panose="05000000000000000000" pitchFamily="2" charset="2"/>
              <a:buChar char="Ø"/>
            </a:pPr>
            <a:r>
              <a:rPr lang="zh-CN" altLang="en-US" sz="1650" dirty="0">
                <a:latin typeface="+mn-ea"/>
              </a:rPr>
              <a:t>问题：</a:t>
            </a:r>
            <a:r>
              <a:rPr lang="zh-CN" altLang="en-US" sz="1650" dirty="0">
                <a:solidFill>
                  <a:srgbClr val="FF0000"/>
                </a:solidFill>
                <a:latin typeface="+mn-ea"/>
              </a:rPr>
              <a:t>如何实现生产者和消费者之间的同步和互斥？</a:t>
            </a:r>
          </a:p>
        </p:txBody>
      </p:sp>
      <p:graphicFrame>
        <p:nvGraphicFramePr>
          <p:cNvPr id="29" name="Object 7"/>
          <p:cNvGraphicFramePr>
            <a:graphicFrameLocks noChangeAspect="1"/>
          </p:cNvGraphicFramePr>
          <p:nvPr/>
        </p:nvGraphicFramePr>
        <p:xfrm>
          <a:off x="669014" y="3554303"/>
          <a:ext cx="7699707" cy="2202781"/>
        </p:xfrm>
        <a:graphic>
          <a:graphicData uri="http://schemas.openxmlformats.org/presentationml/2006/ole">
            <mc:AlternateContent xmlns:mc="http://schemas.openxmlformats.org/markup-compatibility/2006">
              <mc:Choice xmlns:v="urn:schemas-microsoft-com:vml" Requires="v">
                <p:oleObj name="VISIO" r:id="rId2" imgW="4585970" imgH="1311910" progId="Visio.Drawing.6">
                  <p:embed/>
                </p:oleObj>
              </mc:Choice>
              <mc:Fallback>
                <p:oleObj name="VISIO" r:id="rId2" imgW="4585970" imgH="1311910" progId="Visio.Drawing.6">
                  <p:embed/>
                  <p:pic>
                    <p:nvPicPr>
                      <p:cNvPr id="29"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014" y="3554303"/>
                        <a:ext cx="7699707" cy="2202781"/>
                      </a:xfrm>
                      <a:prstGeom prst="rect">
                        <a:avLst/>
                      </a:prstGeom>
                      <a:noFill/>
                      <a:ln>
                        <a:noFill/>
                      </a:ln>
                      <a:effectLst/>
                    </p:spPr>
                  </p:pic>
                </p:oleObj>
              </mc:Fallback>
            </mc:AlternateContent>
          </a:graphicData>
        </a:graphic>
      </p:graphicFrame>
      <p:sp>
        <p:nvSpPr>
          <p:cNvPr id="32" name="Text Box 4"/>
          <p:cNvSpPr txBox="1">
            <a:spLocks noChangeArrowheads="1"/>
          </p:cNvSpPr>
          <p:nvPr/>
        </p:nvSpPr>
        <p:spPr bwMode="auto">
          <a:xfrm>
            <a:off x="5275190" y="3105150"/>
            <a:ext cx="1527982" cy="369332"/>
          </a:xfrm>
          <a:prstGeom prst="rect">
            <a:avLst/>
          </a:prstGeom>
          <a:solidFill>
            <a:srgbClr val="FFFF00"/>
          </a:solid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b="1" dirty="0">
                <a:solidFill>
                  <a:schemeClr val="tx2"/>
                </a:solidFill>
                <a:latin typeface="+mj-lt"/>
              </a:rPr>
              <a:t>CONSUMER</a:t>
            </a:r>
          </a:p>
        </p:txBody>
      </p:sp>
      <p:sp>
        <p:nvSpPr>
          <p:cNvPr id="33" name="Text Box 5"/>
          <p:cNvSpPr txBox="1">
            <a:spLocks noChangeArrowheads="1"/>
          </p:cNvSpPr>
          <p:nvPr/>
        </p:nvSpPr>
        <p:spPr bwMode="auto">
          <a:xfrm>
            <a:off x="2183758" y="3105150"/>
            <a:ext cx="1492716" cy="369332"/>
          </a:xfrm>
          <a:prstGeom prst="rect">
            <a:avLst/>
          </a:prstGeom>
          <a:solidFill>
            <a:srgbClr val="FFFF00"/>
          </a:solid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b="1" dirty="0">
                <a:solidFill>
                  <a:schemeClr val="tx2"/>
                </a:solidFill>
                <a:latin typeface="+mj-lt"/>
              </a:rPr>
              <a:t>PRODUCER</a:t>
            </a:r>
          </a:p>
        </p:txBody>
      </p:sp>
    </p:spTree>
    <p:extLst>
      <p:ext uri="{BB962C8B-B14F-4D97-AF65-F5344CB8AC3E}">
        <p14:creationId xmlns:p14="http://schemas.microsoft.com/office/powerpoint/2010/main" val="352846461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解决方法</a:t>
            </a:r>
          </a:p>
        </p:txBody>
      </p:sp>
      <p:sp>
        <p:nvSpPr>
          <p:cNvPr id="35" name="内容占位符 2"/>
          <p:cNvSpPr txBox="1"/>
          <p:nvPr/>
        </p:nvSpPr>
        <p:spPr>
          <a:xfrm>
            <a:off x="419368" y="1621082"/>
            <a:ext cx="3705092" cy="4075405"/>
          </a:xfrm>
          <a:prstGeom prst="rect">
            <a:avLst/>
          </a:prstGeom>
          <a:ln>
            <a:solidFill>
              <a:schemeClr val="bg2">
                <a:lumMod val="75000"/>
              </a:schemeClr>
            </a:solidFill>
            <a:prstDash val="dash"/>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Clr>
                <a:srgbClr val="FF0000"/>
              </a:buClr>
              <a:buNone/>
            </a:pPr>
            <a:r>
              <a:rPr lang="zh-CN" altLang="en-US" sz="1725" dirty="0">
                <a:solidFill>
                  <a:srgbClr val="FF0000"/>
                </a:solidFill>
              </a:rPr>
              <a:t>生产者：</a:t>
            </a:r>
          </a:p>
          <a:p>
            <a:pPr marL="0" indent="0">
              <a:lnSpc>
                <a:spcPct val="120000"/>
              </a:lnSpc>
              <a:spcBef>
                <a:spcPts val="0"/>
              </a:spcBef>
              <a:buClr>
                <a:srgbClr val="FF0000"/>
              </a:buClr>
              <a:buNone/>
            </a:pPr>
            <a:r>
              <a:rPr lang="zh-CN" altLang="en-US" sz="1725" dirty="0"/>
              <a:t> </a:t>
            </a:r>
            <a:r>
              <a:rPr lang="en-US" altLang="zh-CN" sz="1725" dirty="0"/>
              <a:t>{ </a:t>
            </a:r>
          </a:p>
          <a:p>
            <a:pPr marL="0" indent="0">
              <a:lnSpc>
                <a:spcPct val="120000"/>
              </a:lnSpc>
              <a:spcBef>
                <a:spcPts val="0"/>
              </a:spcBef>
              <a:buClr>
                <a:srgbClr val="FF0000"/>
              </a:buClr>
              <a:buNone/>
            </a:pPr>
            <a:r>
              <a:rPr lang="en-US" altLang="zh-CN" sz="1725" dirty="0"/>
              <a:t>	…</a:t>
            </a:r>
          </a:p>
          <a:p>
            <a:pPr marL="0" indent="0">
              <a:lnSpc>
                <a:spcPct val="120000"/>
              </a:lnSpc>
              <a:spcBef>
                <a:spcPts val="0"/>
              </a:spcBef>
              <a:buClr>
                <a:srgbClr val="FF0000"/>
              </a:buClr>
              <a:buNone/>
            </a:pPr>
            <a:r>
              <a:rPr lang="en-US" altLang="zh-CN" sz="1725" dirty="0"/>
              <a:t>	</a:t>
            </a:r>
            <a:r>
              <a:rPr lang="zh-CN" altLang="en-US" sz="1725" dirty="0"/>
              <a:t>生产一个产品</a:t>
            </a:r>
          </a:p>
          <a:p>
            <a:pPr marL="0" indent="0">
              <a:lnSpc>
                <a:spcPct val="120000"/>
              </a:lnSpc>
              <a:spcBef>
                <a:spcPts val="0"/>
              </a:spcBef>
              <a:buClr>
                <a:srgbClr val="FF0000"/>
              </a:buClr>
              <a:buNone/>
            </a:pPr>
            <a:r>
              <a:rPr lang="zh-CN" altLang="en-US" sz="1725" dirty="0"/>
              <a:t>	</a:t>
            </a:r>
            <a:r>
              <a:rPr lang="en-US" altLang="zh-CN" sz="1725" dirty="0"/>
              <a:t>…</a:t>
            </a:r>
          </a:p>
          <a:p>
            <a:pPr marL="0" indent="0">
              <a:lnSpc>
                <a:spcPct val="120000"/>
              </a:lnSpc>
              <a:spcBef>
                <a:spcPts val="0"/>
              </a:spcBef>
              <a:buClr>
                <a:srgbClr val="FF0000"/>
              </a:buClr>
              <a:buNone/>
            </a:pPr>
            <a:r>
              <a:rPr lang="en-US" altLang="zh-CN" sz="1725" dirty="0"/>
              <a:t>	</a:t>
            </a:r>
            <a:r>
              <a:rPr lang="en-US" altLang="zh-CN" sz="1725" dirty="0">
                <a:solidFill>
                  <a:srgbClr val="FF0000"/>
                </a:solidFill>
              </a:rPr>
              <a:t>wait(empty);</a:t>
            </a:r>
          </a:p>
          <a:p>
            <a:pPr marL="0" indent="0">
              <a:lnSpc>
                <a:spcPct val="120000"/>
              </a:lnSpc>
              <a:spcBef>
                <a:spcPts val="0"/>
              </a:spcBef>
              <a:buClr>
                <a:srgbClr val="FF0000"/>
              </a:buClr>
              <a:buNone/>
            </a:pPr>
            <a:r>
              <a:rPr lang="en-US" altLang="zh-CN" sz="1725" dirty="0"/>
              <a:t>	wait(m);</a:t>
            </a:r>
          </a:p>
          <a:p>
            <a:pPr marL="0" indent="0">
              <a:lnSpc>
                <a:spcPct val="120000"/>
              </a:lnSpc>
              <a:spcBef>
                <a:spcPts val="0"/>
              </a:spcBef>
              <a:buClr>
                <a:srgbClr val="FF0000"/>
              </a:buClr>
              <a:buNone/>
            </a:pPr>
            <a:r>
              <a:rPr lang="en-US" altLang="zh-CN" sz="1725" dirty="0"/>
              <a:t>	 …</a:t>
            </a:r>
          </a:p>
          <a:p>
            <a:pPr marL="0" indent="0">
              <a:lnSpc>
                <a:spcPct val="120000"/>
              </a:lnSpc>
              <a:spcBef>
                <a:spcPts val="0"/>
              </a:spcBef>
              <a:buClr>
                <a:srgbClr val="FF0000"/>
              </a:buClr>
              <a:buNone/>
            </a:pPr>
            <a:r>
              <a:rPr lang="en-US" altLang="zh-CN" sz="1725" dirty="0"/>
              <a:t>	</a:t>
            </a:r>
            <a:r>
              <a:rPr lang="en-US" altLang="zh-CN" sz="1725" dirty="0">
                <a:solidFill>
                  <a:srgbClr val="FF0000"/>
                </a:solidFill>
              </a:rPr>
              <a:t>C1</a:t>
            </a:r>
            <a:r>
              <a:rPr lang="zh-CN" altLang="en-US" sz="1725" dirty="0"/>
              <a:t>：把产品放入指定缓冲区</a:t>
            </a:r>
          </a:p>
          <a:p>
            <a:pPr marL="0" indent="0">
              <a:lnSpc>
                <a:spcPct val="120000"/>
              </a:lnSpc>
              <a:spcBef>
                <a:spcPts val="0"/>
              </a:spcBef>
              <a:buClr>
                <a:srgbClr val="FF0000"/>
              </a:buClr>
              <a:buNone/>
            </a:pPr>
            <a:r>
              <a:rPr lang="zh-CN" altLang="en-US" sz="1725" dirty="0"/>
              <a:t>	 </a:t>
            </a:r>
            <a:r>
              <a:rPr lang="en-US" altLang="zh-CN" sz="1725" dirty="0"/>
              <a:t>…</a:t>
            </a:r>
          </a:p>
          <a:p>
            <a:pPr marL="0" indent="0">
              <a:lnSpc>
                <a:spcPct val="120000"/>
              </a:lnSpc>
              <a:spcBef>
                <a:spcPts val="0"/>
              </a:spcBef>
              <a:buClr>
                <a:srgbClr val="FF0000"/>
              </a:buClr>
              <a:buNone/>
            </a:pPr>
            <a:r>
              <a:rPr lang="en-US" altLang="zh-CN" sz="1725" dirty="0"/>
              <a:t>	signal(m);</a:t>
            </a:r>
          </a:p>
          <a:p>
            <a:pPr marL="0" indent="0">
              <a:lnSpc>
                <a:spcPct val="120000"/>
              </a:lnSpc>
              <a:spcBef>
                <a:spcPts val="0"/>
              </a:spcBef>
              <a:buClr>
                <a:srgbClr val="FF0000"/>
              </a:buClr>
              <a:buNone/>
            </a:pPr>
            <a:r>
              <a:rPr lang="en-US" altLang="zh-CN" sz="1725" dirty="0"/>
              <a:t>	</a:t>
            </a:r>
            <a:r>
              <a:rPr lang="en-US" altLang="zh-CN" sz="1725" dirty="0">
                <a:solidFill>
                  <a:srgbClr val="FF0000"/>
                </a:solidFill>
              </a:rPr>
              <a:t>signal(full);</a:t>
            </a:r>
          </a:p>
          <a:p>
            <a:pPr marL="0" indent="0">
              <a:lnSpc>
                <a:spcPct val="120000"/>
              </a:lnSpc>
              <a:spcBef>
                <a:spcPts val="0"/>
              </a:spcBef>
              <a:buClr>
                <a:srgbClr val="FF0000"/>
              </a:buClr>
              <a:buNone/>
            </a:pPr>
            <a:r>
              <a:rPr lang="en-US" altLang="zh-CN" sz="1725" dirty="0"/>
              <a:t>	} 	</a:t>
            </a:r>
          </a:p>
        </p:txBody>
      </p:sp>
      <p:sp>
        <p:nvSpPr>
          <p:cNvPr id="12" name="内容占位符 2"/>
          <p:cNvSpPr txBox="1"/>
          <p:nvPr/>
        </p:nvSpPr>
        <p:spPr>
          <a:xfrm>
            <a:off x="4939852" y="1621082"/>
            <a:ext cx="3772706" cy="4075405"/>
          </a:xfrm>
          <a:prstGeom prst="rect">
            <a:avLst/>
          </a:prstGeom>
          <a:ln>
            <a:solidFill>
              <a:schemeClr val="bg2">
                <a:lumMod val="75000"/>
              </a:schemeClr>
            </a:solidFill>
            <a:prstDash val="dash"/>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buClr>
                <a:srgbClr val="FF0000"/>
              </a:buClr>
              <a:buNone/>
            </a:pPr>
            <a:r>
              <a:rPr lang="zh-CN" altLang="en-US" sz="1725" dirty="0">
                <a:solidFill>
                  <a:srgbClr val="0000FF"/>
                </a:solidFill>
              </a:rPr>
              <a:t>消费者：</a:t>
            </a:r>
          </a:p>
          <a:p>
            <a:pPr marL="0" indent="0">
              <a:lnSpc>
                <a:spcPct val="110000"/>
              </a:lnSpc>
              <a:spcBef>
                <a:spcPts val="0"/>
              </a:spcBef>
              <a:buClr>
                <a:srgbClr val="FF0000"/>
              </a:buClr>
              <a:buNone/>
            </a:pPr>
            <a:r>
              <a:rPr lang="zh-CN" altLang="en-US" sz="1725" dirty="0"/>
              <a:t> </a:t>
            </a:r>
            <a:r>
              <a:rPr lang="en-US" altLang="zh-CN" sz="1725" dirty="0"/>
              <a:t>{ </a:t>
            </a:r>
          </a:p>
          <a:p>
            <a:pPr marL="0" indent="0">
              <a:lnSpc>
                <a:spcPct val="110000"/>
              </a:lnSpc>
              <a:spcBef>
                <a:spcPts val="0"/>
              </a:spcBef>
              <a:buClr>
                <a:srgbClr val="FF0000"/>
              </a:buClr>
              <a:buNone/>
            </a:pPr>
            <a:r>
              <a:rPr lang="en-US" altLang="zh-CN" sz="1725" dirty="0"/>
              <a:t>	…</a:t>
            </a:r>
          </a:p>
          <a:p>
            <a:pPr marL="0" indent="0">
              <a:lnSpc>
                <a:spcPct val="110000"/>
              </a:lnSpc>
              <a:spcBef>
                <a:spcPts val="0"/>
              </a:spcBef>
              <a:buClr>
                <a:srgbClr val="FF0000"/>
              </a:buClr>
              <a:buNone/>
            </a:pPr>
            <a:r>
              <a:rPr lang="en-US" altLang="zh-CN" sz="1725" dirty="0"/>
              <a:t>	</a:t>
            </a:r>
            <a:r>
              <a:rPr lang="en-US" altLang="zh-CN" sz="1725" dirty="0">
                <a:solidFill>
                  <a:srgbClr val="FF0000"/>
                </a:solidFill>
              </a:rPr>
              <a:t>wait(full)</a:t>
            </a:r>
            <a:r>
              <a:rPr lang="zh-CN" altLang="en-US" sz="1725" dirty="0">
                <a:solidFill>
                  <a:srgbClr val="FF0000"/>
                </a:solidFill>
              </a:rPr>
              <a:t>；</a:t>
            </a:r>
          </a:p>
          <a:p>
            <a:pPr marL="0" indent="0">
              <a:lnSpc>
                <a:spcPct val="110000"/>
              </a:lnSpc>
              <a:spcBef>
                <a:spcPts val="0"/>
              </a:spcBef>
              <a:buClr>
                <a:srgbClr val="FF0000"/>
              </a:buClr>
              <a:buNone/>
            </a:pPr>
            <a:r>
              <a:rPr lang="zh-CN" altLang="en-US" sz="1725" dirty="0"/>
              <a:t>	</a:t>
            </a:r>
            <a:r>
              <a:rPr lang="en-US" altLang="zh-CN" sz="1725" dirty="0"/>
              <a:t>wait(m);</a:t>
            </a:r>
          </a:p>
          <a:p>
            <a:pPr marL="0" indent="0">
              <a:lnSpc>
                <a:spcPct val="110000"/>
              </a:lnSpc>
              <a:spcBef>
                <a:spcPts val="0"/>
              </a:spcBef>
              <a:buClr>
                <a:srgbClr val="FF0000"/>
              </a:buClr>
              <a:buNone/>
            </a:pPr>
            <a:r>
              <a:rPr lang="en-US" altLang="zh-CN" sz="1725" dirty="0"/>
              <a:t>	 …</a:t>
            </a:r>
          </a:p>
          <a:p>
            <a:pPr marL="0" indent="0">
              <a:lnSpc>
                <a:spcPct val="110000"/>
              </a:lnSpc>
              <a:spcBef>
                <a:spcPts val="0"/>
              </a:spcBef>
              <a:buClr>
                <a:srgbClr val="FF0000"/>
              </a:buClr>
              <a:buNone/>
            </a:pPr>
            <a:r>
              <a:rPr lang="en-US" altLang="zh-CN" sz="1725" dirty="0"/>
              <a:t>	C2</a:t>
            </a:r>
            <a:r>
              <a:rPr lang="zh-CN" altLang="en-US" sz="1725" dirty="0"/>
              <a:t>：从指定缓冲区取出产品</a:t>
            </a:r>
          </a:p>
          <a:p>
            <a:pPr marL="0" indent="0">
              <a:lnSpc>
                <a:spcPct val="110000"/>
              </a:lnSpc>
              <a:spcBef>
                <a:spcPts val="0"/>
              </a:spcBef>
              <a:buClr>
                <a:srgbClr val="FF0000"/>
              </a:buClr>
              <a:buNone/>
            </a:pPr>
            <a:r>
              <a:rPr lang="zh-CN" altLang="en-US" sz="1725" dirty="0"/>
              <a:t>	 </a:t>
            </a:r>
            <a:r>
              <a:rPr lang="en-US" altLang="zh-CN" sz="1725" dirty="0"/>
              <a:t>…</a:t>
            </a:r>
          </a:p>
          <a:p>
            <a:pPr marL="0" indent="0">
              <a:lnSpc>
                <a:spcPct val="110000"/>
              </a:lnSpc>
              <a:spcBef>
                <a:spcPts val="0"/>
              </a:spcBef>
              <a:buClr>
                <a:srgbClr val="FF0000"/>
              </a:buClr>
              <a:buNone/>
            </a:pPr>
            <a:r>
              <a:rPr lang="en-US" altLang="zh-CN" sz="1725" dirty="0"/>
              <a:t>	signal(m);</a:t>
            </a:r>
          </a:p>
          <a:p>
            <a:pPr marL="0" indent="0">
              <a:lnSpc>
                <a:spcPct val="110000"/>
              </a:lnSpc>
              <a:spcBef>
                <a:spcPts val="0"/>
              </a:spcBef>
              <a:buClr>
                <a:srgbClr val="FF0000"/>
              </a:buClr>
              <a:buNone/>
            </a:pPr>
            <a:r>
              <a:rPr lang="en-US" altLang="zh-CN" sz="1725" dirty="0"/>
              <a:t>	</a:t>
            </a:r>
            <a:r>
              <a:rPr lang="en-US" altLang="zh-CN" sz="1725" dirty="0">
                <a:solidFill>
                  <a:srgbClr val="FF0000"/>
                </a:solidFill>
              </a:rPr>
              <a:t>signal(empty);</a:t>
            </a:r>
          </a:p>
          <a:p>
            <a:pPr marL="0" indent="0">
              <a:lnSpc>
                <a:spcPct val="110000"/>
              </a:lnSpc>
              <a:spcBef>
                <a:spcPts val="0"/>
              </a:spcBef>
              <a:buClr>
                <a:srgbClr val="FF0000"/>
              </a:buClr>
              <a:buNone/>
            </a:pPr>
            <a:r>
              <a:rPr lang="en-US" altLang="zh-CN" sz="1725" dirty="0"/>
              <a:t>	 …</a:t>
            </a:r>
          </a:p>
          <a:p>
            <a:pPr marL="0" indent="0">
              <a:lnSpc>
                <a:spcPct val="110000"/>
              </a:lnSpc>
              <a:spcBef>
                <a:spcPts val="0"/>
              </a:spcBef>
              <a:buClr>
                <a:srgbClr val="FF0000"/>
              </a:buClr>
              <a:buNone/>
            </a:pPr>
            <a:r>
              <a:rPr lang="en-US" altLang="zh-CN" sz="1725" dirty="0"/>
              <a:t>	</a:t>
            </a:r>
            <a:r>
              <a:rPr lang="zh-CN" altLang="en-US" sz="1725" dirty="0"/>
              <a:t>消费取出的产品</a:t>
            </a:r>
          </a:p>
          <a:p>
            <a:pPr marL="0" indent="0">
              <a:lnSpc>
                <a:spcPct val="110000"/>
              </a:lnSpc>
              <a:spcBef>
                <a:spcPts val="0"/>
              </a:spcBef>
              <a:buClr>
                <a:srgbClr val="FF0000"/>
              </a:buClr>
              <a:buNone/>
            </a:pPr>
            <a:r>
              <a:rPr lang="zh-CN" altLang="en-US" sz="1725" dirty="0"/>
              <a:t>	 </a:t>
            </a:r>
            <a:r>
              <a:rPr lang="en-US" altLang="zh-CN" sz="1725" dirty="0"/>
              <a:t>…</a:t>
            </a:r>
          </a:p>
          <a:p>
            <a:pPr marL="0" indent="0">
              <a:lnSpc>
                <a:spcPct val="110000"/>
              </a:lnSpc>
              <a:spcBef>
                <a:spcPts val="0"/>
              </a:spcBef>
              <a:buClr>
                <a:srgbClr val="FF0000"/>
              </a:buClr>
              <a:buNone/>
            </a:pPr>
            <a:r>
              <a:rPr lang="en-US" altLang="zh-CN" sz="1725" dirty="0"/>
              <a:t>	}</a:t>
            </a:r>
          </a:p>
        </p:txBody>
      </p:sp>
      <p:sp>
        <p:nvSpPr>
          <p:cNvPr id="13" name="圆角矩形标注 12"/>
          <p:cNvSpPr/>
          <p:nvPr/>
        </p:nvSpPr>
        <p:spPr bwMode="auto">
          <a:xfrm>
            <a:off x="2973284" y="2589995"/>
            <a:ext cx="2155728" cy="1271483"/>
          </a:xfrm>
          <a:prstGeom prst="wedgeRoundRectCallout">
            <a:avLst>
              <a:gd name="adj1" fmla="val -70941"/>
              <a:gd name="adj2" fmla="val 13206"/>
              <a:gd name="adj3" fmla="val 16667"/>
            </a:avLst>
          </a:prstGeom>
          <a:solidFill>
            <a:srgbClr val="FFC000"/>
          </a:solid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wrap="square" lIns="0" tIns="0" rIns="0">
            <a:spAutoFit/>
          </a:bodyPr>
          <a:lstStyle/>
          <a:p>
            <a:pPr>
              <a:lnSpc>
                <a:spcPct val="123000"/>
              </a:lnSpc>
              <a:defRPr/>
            </a:pPr>
            <a:r>
              <a:rPr lang="zh-CN" altLang="en-US" sz="1500" dirty="0">
                <a:solidFill>
                  <a:schemeClr val="bg1"/>
                </a:solidFill>
              </a:rPr>
              <a:t>当</a:t>
            </a:r>
            <a:r>
              <a:rPr lang="en-US" altLang="zh-CN" sz="1500" dirty="0">
                <a:solidFill>
                  <a:schemeClr val="bg1"/>
                </a:solidFill>
              </a:rPr>
              <a:t>empty</a:t>
            </a:r>
            <a:r>
              <a:rPr lang="zh-CN" altLang="en-US" sz="1500" dirty="0">
                <a:solidFill>
                  <a:schemeClr val="bg1"/>
                </a:solidFill>
              </a:rPr>
              <a:t>大于</a:t>
            </a:r>
            <a:r>
              <a:rPr lang="en-US" altLang="zh-CN" sz="1500" dirty="0">
                <a:solidFill>
                  <a:schemeClr val="bg1"/>
                </a:solidFill>
              </a:rPr>
              <a:t>0</a:t>
            </a:r>
            <a:r>
              <a:rPr lang="zh-CN" altLang="en-US" sz="1500" dirty="0">
                <a:solidFill>
                  <a:schemeClr val="bg1"/>
                </a:solidFill>
              </a:rPr>
              <a:t>时，表示有空缓冲区，继续执行；否则，表示无空缓冲区，当前生产者阻塞。</a:t>
            </a:r>
          </a:p>
        </p:txBody>
      </p:sp>
      <p:sp>
        <p:nvSpPr>
          <p:cNvPr id="14" name="圆角矩形标注 13"/>
          <p:cNvSpPr/>
          <p:nvPr/>
        </p:nvSpPr>
        <p:spPr bwMode="auto">
          <a:xfrm>
            <a:off x="2842081" y="4823084"/>
            <a:ext cx="1968179" cy="957355"/>
          </a:xfrm>
          <a:prstGeom prst="wedgeRoundRectCallout">
            <a:avLst>
              <a:gd name="adj1" fmla="val -72574"/>
              <a:gd name="adj2" fmla="val 4975"/>
              <a:gd name="adj3" fmla="val 16667"/>
            </a:avLst>
          </a:prstGeom>
          <a:solidFill>
            <a:srgbClr val="FFC000"/>
          </a:solid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wrap="square" lIns="0" tIns="0" rIns="0">
            <a:spAutoFit/>
          </a:bodyPr>
          <a:lstStyle>
            <a:defPPr>
              <a:defRPr lang="en-US"/>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nSpc>
                <a:spcPct val="123000"/>
              </a:lnSpc>
              <a:defRPr/>
            </a:pPr>
            <a:r>
              <a:rPr lang="zh-CN" altLang="en-US" sz="1500" dirty="0">
                <a:solidFill>
                  <a:schemeClr val="bg1"/>
                </a:solidFill>
              </a:rPr>
              <a:t>把</a:t>
            </a:r>
            <a:r>
              <a:rPr lang="en-US" altLang="zh-CN" sz="1500" dirty="0">
                <a:solidFill>
                  <a:schemeClr val="bg1"/>
                </a:solidFill>
              </a:rPr>
              <a:t>full</a:t>
            </a:r>
            <a:r>
              <a:rPr lang="zh-CN" altLang="en-US" sz="1500" dirty="0">
                <a:solidFill>
                  <a:schemeClr val="bg1"/>
                </a:solidFill>
              </a:rPr>
              <a:t>值加</a:t>
            </a:r>
            <a:r>
              <a:rPr lang="en-US" altLang="zh-CN" sz="1500" dirty="0">
                <a:solidFill>
                  <a:schemeClr val="bg1"/>
                </a:solidFill>
              </a:rPr>
              <a:t>1</a:t>
            </a:r>
            <a:r>
              <a:rPr lang="zh-CN" altLang="en-US" sz="1500" dirty="0">
                <a:solidFill>
                  <a:schemeClr val="bg1"/>
                </a:solidFill>
              </a:rPr>
              <a:t>，如果有消费者等在</a:t>
            </a:r>
            <a:r>
              <a:rPr lang="en-US" altLang="zh-CN" sz="1500" dirty="0">
                <a:solidFill>
                  <a:schemeClr val="bg1"/>
                </a:solidFill>
              </a:rPr>
              <a:t>full</a:t>
            </a:r>
            <a:r>
              <a:rPr lang="zh-CN" altLang="en-US" sz="1500" dirty="0">
                <a:solidFill>
                  <a:schemeClr val="bg1"/>
                </a:solidFill>
              </a:rPr>
              <a:t>的</a:t>
            </a:r>
            <a:r>
              <a:rPr lang="en-US" altLang="zh-CN" sz="1500" dirty="0">
                <a:solidFill>
                  <a:schemeClr val="bg1"/>
                </a:solidFill>
              </a:rPr>
              <a:t> </a:t>
            </a:r>
            <a:r>
              <a:rPr lang="zh-CN" altLang="en-US" sz="1500" dirty="0">
                <a:solidFill>
                  <a:schemeClr val="bg1"/>
                </a:solidFill>
              </a:rPr>
              <a:t>队列上，则唤醒该消费者。</a:t>
            </a:r>
            <a:endParaRPr lang="en-US" altLang="zh-CN" sz="1500" dirty="0">
              <a:solidFill>
                <a:schemeClr val="bg1"/>
              </a:solidFill>
            </a:endParaRPr>
          </a:p>
        </p:txBody>
      </p:sp>
      <p:sp>
        <p:nvSpPr>
          <p:cNvPr id="15" name="圆角矩形标注 14"/>
          <p:cNvSpPr/>
          <p:nvPr/>
        </p:nvSpPr>
        <p:spPr bwMode="auto">
          <a:xfrm>
            <a:off x="5901742" y="1492190"/>
            <a:ext cx="3013658" cy="957355"/>
          </a:xfrm>
          <a:prstGeom prst="wedgeRoundRectCallout">
            <a:avLst>
              <a:gd name="adj1" fmla="val 1612"/>
              <a:gd name="adj2" fmla="val 62856"/>
              <a:gd name="adj3" fmla="val 16667"/>
            </a:avLst>
          </a:prstGeom>
          <a:solidFill>
            <a:srgbClr val="FFC000"/>
          </a:solid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wrap="square" lIns="0" tIns="0" rIns="0">
            <a:spAutoFit/>
          </a:bodyPr>
          <a:lstStyle/>
          <a:p>
            <a:pPr>
              <a:lnSpc>
                <a:spcPct val="123000"/>
              </a:lnSpc>
              <a:defRPr/>
            </a:pPr>
            <a:r>
              <a:rPr lang="zh-CN" altLang="en-US" sz="1500" dirty="0">
                <a:solidFill>
                  <a:schemeClr val="bg1"/>
                </a:solidFill>
              </a:rPr>
              <a:t>当</a:t>
            </a:r>
            <a:r>
              <a:rPr lang="en-US" altLang="zh-CN" sz="1500" dirty="0">
                <a:solidFill>
                  <a:schemeClr val="bg1"/>
                </a:solidFill>
              </a:rPr>
              <a:t>full</a:t>
            </a:r>
            <a:r>
              <a:rPr lang="zh-CN" altLang="en-US" sz="1500" dirty="0">
                <a:solidFill>
                  <a:schemeClr val="bg1"/>
                </a:solidFill>
              </a:rPr>
              <a:t>大于</a:t>
            </a:r>
            <a:r>
              <a:rPr lang="en-US" altLang="zh-CN" sz="1500" dirty="0">
                <a:solidFill>
                  <a:schemeClr val="bg1"/>
                </a:solidFill>
              </a:rPr>
              <a:t>0</a:t>
            </a:r>
            <a:r>
              <a:rPr lang="zh-CN" altLang="en-US" sz="1500" dirty="0">
                <a:solidFill>
                  <a:schemeClr val="bg1"/>
                </a:solidFill>
              </a:rPr>
              <a:t>时，表示有满缓冲区，继续执行；否则，表示无满缓冲区，当前消费者阻塞。</a:t>
            </a:r>
          </a:p>
        </p:txBody>
      </p:sp>
      <p:sp>
        <p:nvSpPr>
          <p:cNvPr id="16" name="圆角矩形标注 15"/>
          <p:cNvSpPr/>
          <p:nvPr/>
        </p:nvSpPr>
        <p:spPr bwMode="auto">
          <a:xfrm>
            <a:off x="6387519" y="4715792"/>
            <a:ext cx="2527881" cy="957355"/>
          </a:xfrm>
          <a:prstGeom prst="wedgeRoundRectCallout">
            <a:avLst>
              <a:gd name="adj1" fmla="val -41906"/>
              <a:gd name="adj2" fmla="val -65834"/>
              <a:gd name="adj3" fmla="val 16667"/>
            </a:avLst>
          </a:prstGeom>
          <a:solidFill>
            <a:srgbClr val="FFC000"/>
          </a:solid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wrap="square" lIns="0" tIns="0" rIns="0">
            <a:spAutoFit/>
          </a:bodyPr>
          <a:lstStyle>
            <a:defPPr>
              <a:defRPr lang="en-US"/>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nSpc>
                <a:spcPct val="123000"/>
              </a:lnSpc>
              <a:defRPr/>
            </a:pPr>
            <a:r>
              <a:rPr lang="zh-CN" altLang="en-US" sz="1500" dirty="0">
                <a:solidFill>
                  <a:schemeClr val="bg1"/>
                </a:solidFill>
              </a:rPr>
              <a:t>把</a:t>
            </a:r>
            <a:r>
              <a:rPr lang="en-US" altLang="zh-CN" sz="1500" dirty="0">
                <a:solidFill>
                  <a:schemeClr val="bg1"/>
                </a:solidFill>
              </a:rPr>
              <a:t>empty</a:t>
            </a:r>
            <a:r>
              <a:rPr lang="zh-CN" altLang="en-US" sz="1500" dirty="0">
                <a:solidFill>
                  <a:schemeClr val="bg1"/>
                </a:solidFill>
              </a:rPr>
              <a:t>值加</a:t>
            </a:r>
            <a:r>
              <a:rPr lang="en-US" altLang="zh-CN" sz="1500" dirty="0">
                <a:solidFill>
                  <a:schemeClr val="bg1"/>
                </a:solidFill>
              </a:rPr>
              <a:t>1</a:t>
            </a:r>
            <a:r>
              <a:rPr lang="zh-CN" altLang="en-US" sz="1500" dirty="0">
                <a:solidFill>
                  <a:schemeClr val="bg1"/>
                </a:solidFill>
              </a:rPr>
              <a:t>，如果有生产者等在</a:t>
            </a:r>
            <a:r>
              <a:rPr lang="en-US" altLang="zh-CN" sz="1500" dirty="0">
                <a:solidFill>
                  <a:schemeClr val="bg1"/>
                </a:solidFill>
              </a:rPr>
              <a:t>empty</a:t>
            </a:r>
            <a:r>
              <a:rPr lang="zh-CN" altLang="en-US" sz="1500" dirty="0">
                <a:solidFill>
                  <a:schemeClr val="bg1"/>
                </a:solidFill>
              </a:rPr>
              <a:t>的队列上，则唤醒该生产者。</a:t>
            </a:r>
          </a:p>
        </p:txBody>
      </p:sp>
    </p:spTree>
    <p:extLst>
      <p:ext uri="{BB962C8B-B14F-4D97-AF65-F5344CB8AC3E}">
        <p14:creationId xmlns:p14="http://schemas.microsoft.com/office/powerpoint/2010/main" val="1746296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1000"/>
                                        <p:tgtEl>
                                          <p:spTgt spid="16"/>
                                        </p:tgtEl>
                                      </p:cBhvr>
                                    </p:animEffect>
                                    <p:anim calcmode="lin" valueType="num">
                                      <p:cBhvr>
                                        <p:cTn id="29" dur="1000" fill="hold"/>
                                        <p:tgtEl>
                                          <p:spTgt spid="16"/>
                                        </p:tgtEl>
                                        <p:attrNameLst>
                                          <p:attrName>ppt_x</p:attrName>
                                        </p:attrNameLst>
                                      </p:cBhvr>
                                      <p:tavLst>
                                        <p:tav tm="0">
                                          <p:val>
                                            <p:strVal val="#ppt_x"/>
                                          </p:val>
                                        </p:tav>
                                        <p:tav tm="100000">
                                          <p:val>
                                            <p:strVal val="#ppt_x"/>
                                          </p:val>
                                        </p:tav>
                                      </p:tavLst>
                                    </p:anim>
                                    <p:anim calcmode="lin" valueType="num">
                                      <p:cBhvr>
                                        <p:cTn id="3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a:t>
            </a:r>
            <a:r>
              <a:rPr lang="en-US" altLang="zh-CN" sz="2100" b="1" dirty="0">
                <a:solidFill>
                  <a:schemeClr val="bg1"/>
                </a:solidFill>
              </a:rPr>
              <a:t>AND</a:t>
            </a:r>
            <a:r>
              <a:rPr lang="zh-CN" altLang="en-US" sz="2100" b="1" dirty="0">
                <a:solidFill>
                  <a:schemeClr val="bg1"/>
                </a:solidFill>
              </a:rPr>
              <a:t>信号量解决生产者</a:t>
            </a:r>
            <a:r>
              <a:rPr lang="en-US" altLang="zh-CN" sz="2100" b="1" dirty="0">
                <a:solidFill>
                  <a:schemeClr val="bg1"/>
                </a:solidFill>
              </a:rPr>
              <a:t>-</a:t>
            </a:r>
            <a:r>
              <a:rPr lang="zh-CN" altLang="en-US" sz="2100" b="1" dirty="0">
                <a:solidFill>
                  <a:schemeClr val="bg1"/>
                </a:solidFill>
              </a:rPr>
              <a:t>消费者问题</a:t>
            </a:r>
          </a:p>
        </p:txBody>
      </p:sp>
      <p:sp>
        <p:nvSpPr>
          <p:cNvPr id="24" name="Text Box 3"/>
          <p:cNvSpPr txBox="1">
            <a:spLocks noChangeArrowheads="1"/>
          </p:cNvSpPr>
          <p:nvPr/>
        </p:nvSpPr>
        <p:spPr bwMode="auto">
          <a:xfrm>
            <a:off x="678858" y="1667065"/>
            <a:ext cx="7108031" cy="923330"/>
          </a:xfrm>
          <a:prstGeom prst="rect">
            <a:avLst/>
          </a:prstGeom>
          <a:noFill/>
          <a:ln>
            <a:noFill/>
          </a:ln>
          <a:effec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latin typeface="+mn-ea"/>
                <a:ea typeface="+mn-ea"/>
                <a:cs typeface="Times New Roman" panose="02020603050405020304" pitchFamily="18" charset="0"/>
              </a:rPr>
              <a:t>int in=0,out=0;</a:t>
            </a:r>
            <a:endParaRPr lang="zh-CN" altLang="zh-CN" sz="1800" dirty="0">
              <a:latin typeface="+mn-ea"/>
              <a:ea typeface="+mn-ea"/>
              <a:cs typeface="Times New Roman" panose="02020603050405020304" pitchFamily="18" charset="0"/>
            </a:endParaRPr>
          </a:p>
          <a:p>
            <a:r>
              <a:rPr lang="en-US" altLang="zh-CN" sz="1800" dirty="0">
                <a:latin typeface="+mn-ea"/>
                <a:ea typeface="+mn-ea"/>
                <a:cs typeface="Times New Roman" panose="02020603050405020304" pitchFamily="18" charset="0"/>
              </a:rPr>
              <a:t>item buffer[n];</a:t>
            </a:r>
            <a:endParaRPr lang="zh-CN" altLang="zh-CN" sz="1800" dirty="0">
              <a:latin typeface="+mn-ea"/>
              <a:ea typeface="+mn-ea"/>
              <a:cs typeface="Times New Roman" panose="02020603050405020304" pitchFamily="18" charset="0"/>
            </a:endParaRPr>
          </a:p>
          <a:p>
            <a:r>
              <a:rPr lang="en-US" altLang="zh-CN" sz="1800" dirty="0">
                <a:latin typeface="+mn-ea"/>
                <a:ea typeface="+mn-ea"/>
                <a:cs typeface="Times New Roman" panose="02020603050405020304" pitchFamily="18" charset="0"/>
              </a:rPr>
              <a:t>semaphore </a:t>
            </a:r>
            <a:r>
              <a:rPr lang="en-US" altLang="zh-CN" sz="1800" dirty="0" err="1">
                <a:latin typeface="+mn-ea"/>
                <a:ea typeface="+mn-ea"/>
                <a:cs typeface="Times New Roman" panose="02020603050405020304" pitchFamily="18" charset="0"/>
              </a:rPr>
              <a:t>mutex</a:t>
            </a:r>
            <a:r>
              <a:rPr lang="en-US" altLang="zh-CN" sz="1800" dirty="0">
                <a:latin typeface="+mn-ea"/>
                <a:ea typeface="+mn-ea"/>
                <a:cs typeface="Times New Roman" panose="02020603050405020304" pitchFamily="18" charset="0"/>
              </a:rPr>
              <a:t>=1,empty=</a:t>
            </a:r>
            <a:r>
              <a:rPr lang="en-US" altLang="zh-CN" sz="1800" dirty="0" err="1">
                <a:latin typeface="+mn-ea"/>
                <a:ea typeface="+mn-ea"/>
                <a:cs typeface="Times New Roman" panose="02020603050405020304" pitchFamily="18" charset="0"/>
              </a:rPr>
              <a:t>n,full</a:t>
            </a:r>
            <a:r>
              <a:rPr lang="en-US" altLang="zh-CN" sz="1800" dirty="0">
                <a:latin typeface="+mn-ea"/>
                <a:ea typeface="+mn-ea"/>
                <a:cs typeface="Times New Roman" panose="02020603050405020304" pitchFamily="18" charset="0"/>
              </a:rPr>
              <a:t>=0;</a:t>
            </a:r>
            <a:endParaRPr lang="zh-CN" altLang="zh-CN" sz="1800" dirty="0">
              <a:latin typeface="+mn-ea"/>
              <a:ea typeface="+mn-ea"/>
              <a:cs typeface="Times New Roman" panose="02020603050405020304" pitchFamily="18" charset="0"/>
            </a:endParaRPr>
          </a:p>
        </p:txBody>
      </p:sp>
      <p:sp>
        <p:nvSpPr>
          <p:cNvPr id="29" name="Rectangle 6"/>
          <p:cNvSpPr txBox="1">
            <a:spLocks noChangeArrowheads="1"/>
          </p:cNvSpPr>
          <p:nvPr/>
        </p:nvSpPr>
        <p:spPr>
          <a:xfrm>
            <a:off x="756130" y="2674573"/>
            <a:ext cx="3667763" cy="3128165"/>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latin typeface="+mj-lt"/>
              </a:rPr>
              <a:t>void </a:t>
            </a:r>
            <a:r>
              <a:rPr lang="en-US" altLang="zh-CN" dirty="0" err="1">
                <a:solidFill>
                  <a:srgbClr val="FF0000"/>
                </a:solidFill>
                <a:latin typeface="+mj-lt"/>
              </a:rPr>
              <a:t>proceducer</a:t>
            </a:r>
            <a:r>
              <a:rPr lang="en-US" altLang="zh-CN" dirty="0">
                <a:latin typeface="+mj-lt"/>
              </a:rPr>
              <a:t>() {</a:t>
            </a:r>
            <a:endParaRPr lang="zh-CN" altLang="zh-CN" dirty="0">
              <a:latin typeface="+mj-lt"/>
            </a:endParaRPr>
          </a:p>
          <a:p>
            <a:pPr marL="0" indent="0">
              <a:buNone/>
            </a:pPr>
            <a:r>
              <a:rPr lang="en-US" altLang="zh-CN" dirty="0">
                <a:latin typeface="+mj-lt"/>
              </a:rPr>
              <a:t>    do {</a:t>
            </a:r>
          </a:p>
          <a:p>
            <a:pPr marL="0" indent="0">
              <a:buNone/>
            </a:pPr>
            <a:r>
              <a:rPr lang="en-US" altLang="zh-CN" dirty="0">
                <a:latin typeface="+mj-lt"/>
              </a:rPr>
              <a:t>	producer an item </a:t>
            </a:r>
            <a:r>
              <a:rPr lang="en-US" altLang="zh-CN" dirty="0" err="1">
                <a:latin typeface="+mj-lt"/>
              </a:rPr>
              <a:t>nextp</a:t>
            </a:r>
            <a:r>
              <a:rPr lang="en-US" altLang="zh-CN" dirty="0">
                <a:latin typeface="+mj-lt"/>
              </a:rPr>
              <a:t>; </a:t>
            </a:r>
          </a:p>
          <a:p>
            <a:pPr marL="685800" lvl="2" indent="0">
              <a:buNone/>
            </a:pPr>
            <a:r>
              <a:rPr lang="en-US" altLang="zh-CN" sz="1800" dirty="0">
                <a:latin typeface="+mj-lt"/>
              </a:rPr>
              <a:t>…</a:t>
            </a:r>
            <a:r>
              <a:rPr lang="ar-SA" altLang="zh-CN" sz="1800" dirty="0">
                <a:latin typeface="+mj-lt"/>
              </a:rPr>
              <a:t>　</a:t>
            </a:r>
            <a:r>
              <a:rPr lang="en-US" altLang="zh-CN" sz="1800" dirty="0">
                <a:latin typeface="+mj-lt"/>
              </a:rPr>
              <a:t>	  </a:t>
            </a:r>
            <a:r>
              <a:rPr lang="ar-SA" altLang="zh-CN" sz="1800" dirty="0">
                <a:latin typeface="+mj-lt"/>
              </a:rPr>
              <a:t>　　　　　　　</a:t>
            </a:r>
            <a:endParaRPr lang="en-US" altLang="zh-CN" sz="1800" dirty="0">
              <a:latin typeface="+mj-lt"/>
            </a:endParaRPr>
          </a:p>
          <a:p>
            <a:pPr marL="685800" lvl="2" indent="0">
              <a:buNone/>
            </a:pPr>
            <a:r>
              <a:rPr lang="en-US" altLang="zh-CN" sz="1800" dirty="0" err="1">
                <a:solidFill>
                  <a:srgbClr val="FF0000"/>
                </a:solidFill>
                <a:latin typeface="+mj-lt"/>
              </a:rPr>
              <a:t>Swait</a:t>
            </a:r>
            <a:r>
              <a:rPr lang="en-US" altLang="zh-CN" sz="1800" dirty="0">
                <a:solidFill>
                  <a:srgbClr val="FF0000"/>
                </a:solidFill>
                <a:latin typeface="+mj-lt"/>
              </a:rPr>
              <a:t>(empty</a:t>
            </a:r>
            <a:r>
              <a:rPr lang="ar-SA" altLang="zh-CN" sz="1800" dirty="0">
                <a:solidFill>
                  <a:srgbClr val="FF0000"/>
                </a:solidFill>
                <a:latin typeface="+mj-lt"/>
              </a:rPr>
              <a:t>，</a:t>
            </a:r>
            <a:r>
              <a:rPr lang="en-US" altLang="zh-CN" sz="1800" dirty="0" err="1">
                <a:solidFill>
                  <a:srgbClr val="FF0000"/>
                </a:solidFill>
                <a:latin typeface="+mj-lt"/>
              </a:rPr>
              <a:t>mutex</a:t>
            </a:r>
            <a:r>
              <a:rPr lang="en-US" altLang="zh-CN" sz="1800" dirty="0">
                <a:solidFill>
                  <a:srgbClr val="FF0000"/>
                </a:solidFill>
                <a:latin typeface="+mj-lt"/>
              </a:rPr>
              <a:t>)</a:t>
            </a:r>
            <a:r>
              <a:rPr lang="ar-SA" altLang="zh-CN" sz="1800" dirty="0">
                <a:latin typeface="+mj-lt"/>
              </a:rPr>
              <a:t>；</a:t>
            </a:r>
            <a:r>
              <a:rPr lang="en-US" altLang="zh-CN" sz="1800" dirty="0">
                <a:latin typeface="+mj-lt"/>
              </a:rPr>
              <a:t>buffer[in]= </a:t>
            </a:r>
            <a:r>
              <a:rPr lang="en-US" altLang="zh-CN" sz="1800" dirty="0" err="1">
                <a:latin typeface="+mj-lt"/>
              </a:rPr>
              <a:t>nextp</a:t>
            </a:r>
            <a:r>
              <a:rPr lang="en-US" altLang="zh-CN" sz="1800" dirty="0">
                <a:latin typeface="+mj-lt"/>
              </a:rPr>
              <a:t>;</a:t>
            </a:r>
          </a:p>
          <a:p>
            <a:pPr marL="685800" lvl="2" indent="0">
              <a:buNone/>
            </a:pPr>
            <a:r>
              <a:rPr lang="en-US" altLang="zh-CN" sz="1800" dirty="0">
                <a:latin typeface="+mj-lt"/>
              </a:rPr>
              <a:t>in = (in+1) % n;</a:t>
            </a:r>
          </a:p>
          <a:p>
            <a:pPr marL="685800" lvl="2" indent="0">
              <a:buNone/>
            </a:pPr>
            <a:r>
              <a:rPr lang="en-US" altLang="zh-CN" sz="1800" dirty="0" err="1">
                <a:solidFill>
                  <a:srgbClr val="FF0000"/>
                </a:solidFill>
                <a:latin typeface="+mj-lt"/>
              </a:rPr>
              <a:t>Ssignal</a:t>
            </a:r>
            <a:r>
              <a:rPr lang="en-US" altLang="zh-CN" sz="1800" dirty="0">
                <a:solidFill>
                  <a:srgbClr val="FF0000"/>
                </a:solidFill>
                <a:latin typeface="+mj-lt"/>
              </a:rPr>
              <a:t>(</a:t>
            </a:r>
            <a:r>
              <a:rPr lang="en-US" altLang="zh-CN" sz="1800" dirty="0" err="1">
                <a:solidFill>
                  <a:srgbClr val="FF0000"/>
                </a:solidFill>
                <a:latin typeface="+mj-lt"/>
              </a:rPr>
              <a:t>mutex,full</a:t>
            </a:r>
            <a:r>
              <a:rPr lang="en-US" altLang="zh-CN" sz="1800" dirty="0">
                <a:solidFill>
                  <a:srgbClr val="FF0000"/>
                </a:solidFill>
                <a:latin typeface="+mj-lt"/>
              </a:rPr>
              <a:t>);</a:t>
            </a:r>
          </a:p>
          <a:p>
            <a:pPr marL="0" indent="0">
              <a:buNone/>
            </a:pPr>
            <a:r>
              <a:rPr lang="en-US" altLang="zh-CN" dirty="0">
                <a:latin typeface="+mj-lt"/>
              </a:rPr>
              <a:t>     }while(TRUE);</a:t>
            </a:r>
          </a:p>
          <a:p>
            <a:pPr marL="0" indent="0">
              <a:buNone/>
            </a:pPr>
            <a:r>
              <a:rPr lang="en-US" altLang="zh-CN" dirty="0">
                <a:latin typeface="+mj-lt"/>
              </a:rPr>
              <a:t>}</a:t>
            </a:r>
          </a:p>
        </p:txBody>
      </p:sp>
      <p:sp>
        <p:nvSpPr>
          <p:cNvPr id="32" name="Rectangle 7"/>
          <p:cNvSpPr txBox="1">
            <a:spLocks noChangeArrowheads="1"/>
          </p:cNvSpPr>
          <p:nvPr/>
        </p:nvSpPr>
        <p:spPr>
          <a:xfrm>
            <a:off x="4832602" y="2674573"/>
            <a:ext cx="4082798" cy="3466235"/>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void </a:t>
            </a:r>
            <a:r>
              <a:rPr lang="en-US" altLang="zh-CN" dirty="0" err="1">
                <a:solidFill>
                  <a:srgbClr val="FF0000"/>
                </a:solidFill>
              </a:rPr>
              <a:t>proceducer</a:t>
            </a:r>
            <a:r>
              <a:rPr lang="en-US" altLang="zh-CN" dirty="0"/>
              <a:t>() {</a:t>
            </a:r>
            <a:endParaRPr lang="zh-CN" altLang="zh-CN" dirty="0"/>
          </a:p>
          <a:p>
            <a:pPr marL="0" indent="0">
              <a:buNone/>
            </a:pPr>
            <a:r>
              <a:rPr lang="en-US" altLang="zh-CN" dirty="0"/>
              <a:t>    do {</a:t>
            </a:r>
            <a:endParaRPr lang="zh-CN" altLang="zh-CN" dirty="0"/>
          </a:p>
          <a:p>
            <a:pPr marL="0" indent="0">
              <a:buNone/>
            </a:pPr>
            <a:r>
              <a:rPr lang="en-US" altLang="zh-CN" dirty="0"/>
              <a:t>	</a:t>
            </a:r>
            <a:r>
              <a:rPr lang="en-US" altLang="zh-CN" dirty="0" err="1">
                <a:solidFill>
                  <a:srgbClr val="FF0000"/>
                </a:solidFill>
              </a:rPr>
              <a:t>Swait</a:t>
            </a:r>
            <a:r>
              <a:rPr lang="en-US" altLang="zh-CN" dirty="0">
                <a:solidFill>
                  <a:srgbClr val="FF0000"/>
                </a:solidFill>
              </a:rPr>
              <a:t>(</a:t>
            </a:r>
            <a:r>
              <a:rPr lang="en-US" altLang="zh-CN" dirty="0" err="1">
                <a:solidFill>
                  <a:srgbClr val="FF0000"/>
                </a:solidFill>
              </a:rPr>
              <a:t>full,mutex</a:t>
            </a:r>
            <a:r>
              <a:rPr lang="en-US" altLang="zh-CN" dirty="0">
                <a:solidFill>
                  <a:srgbClr val="FF0000"/>
                </a:solidFill>
              </a:rPr>
              <a:t>);</a:t>
            </a:r>
            <a:endParaRPr lang="en-US" altLang="zh-CN" dirty="0"/>
          </a:p>
          <a:p>
            <a:pPr marL="0" indent="0">
              <a:buNone/>
            </a:pPr>
            <a:r>
              <a:rPr lang="en-US" altLang="zh-CN" dirty="0"/>
              <a:t>	</a:t>
            </a:r>
            <a:r>
              <a:rPr lang="en-US" altLang="zh-CN" dirty="0" err="1"/>
              <a:t>nextc</a:t>
            </a:r>
            <a:r>
              <a:rPr lang="en-US" altLang="zh-CN" dirty="0"/>
              <a:t>=buffer[out];</a:t>
            </a:r>
          </a:p>
          <a:p>
            <a:pPr marL="0" indent="0">
              <a:buNone/>
            </a:pPr>
            <a:r>
              <a:rPr lang="en-US" altLang="zh-CN" dirty="0"/>
              <a:t>	out= (out+1) % n;</a:t>
            </a:r>
          </a:p>
          <a:p>
            <a:pPr marL="0" indent="0">
              <a:buNone/>
            </a:pPr>
            <a:r>
              <a:rPr lang="en-US" altLang="zh-CN" dirty="0"/>
              <a:t>	</a:t>
            </a:r>
            <a:r>
              <a:rPr lang="en-US" altLang="zh-CN" dirty="0" err="1">
                <a:solidFill>
                  <a:srgbClr val="FF0000"/>
                </a:solidFill>
              </a:rPr>
              <a:t>Ssignal</a:t>
            </a:r>
            <a:r>
              <a:rPr lang="en-US" altLang="zh-CN" dirty="0">
                <a:solidFill>
                  <a:srgbClr val="FF0000"/>
                </a:solidFill>
              </a:rPr>
              <a:t>(</a:t>
            </a:r>
            <a:r>
              <a:rPr lang="en-US" altLang="zh-CN" dirty="0" err="1">
                <a:solidFill>
                  <a:srgbClr val="FF0000"/>
                </a:solidFill>
              </a:rPr>
              <a:t>mutex,empth</a:t>
            </a:r>
            <a:r>
              <a:rPr lang="en-US" altLang="zh-CN" dirty="0">
                <a:solidFill>
                  <a:srgbClr val="FF0000"/>
                </a:solidFill>
              </a:rPr>
              <a:t>);</a:t>
            </a:r>
            <a:endParaRPr lang="en-US" altLang="zh-CN" dirty="0"/>
          </a:p>
          <a:p>
            <a:pPr marL="0" indent="0">
              <a:buNone/>
            </a:pPr>
            <a:r>
              <a:rPr lang="en-US" altLang="zh-CN" dirty="0"/>
              <a:t>	</a:t>
            </a:r>
            <a:r>
              <a:rPr lang="en-US" altLang="zh-CN" dirty="0" err="1"/>
              <a:t>comsumer</a:t>
            </a:r>
            <a:r>
              <a:rPr lang="en-US" altLang="zh-CN" dirty="0"/>
              <a:t> the item in </a:t>
            </a:r>
            <a:r>
              <a:rPr lang="en-US" altLang="zh-CN" dirty="0" err="1"/>
              <a:t>nextc</a:t>
            </a:r>
            <a:r>
              <a:rPr lang="en-US" altLang="zh-CN" dirty="0"/>
              <a:t>; </a:t>
            </a:r>
          </a:p>
          <a:p>
            <a:pPr marL="0" indent="0">
              <a:buNone/>
            </a:pPr>
            <a:r>
              <a:rPr lang="en-US" altLang="zh-CN" dirty="0"/>
              <a:t>	…</a:t>
            </a:r>
            <a:r>
              <a:rPr lang="ar-SA" altLang="zh-CN" dirty="0"/>
              <a:t>　</a:t>
            </a:r>
            <a:endParaRPr lang="en-US" altLang="zh-CN" dirty="0"/>
          </a:p>
          <a:p>
            <a:pPr marL="0" indent="0">
              <a:buNone/>
            </a:pPr>
            <a:r>
              <a:rPr lang="en-US" altLang="zh-CN" dirty="0"/>
              <a:t>     }while(TRUE); }</a:t>
            </a:r>
          </a:p>
        </p:txBody>
      </p:sp>
      <p:cxnSp>
        <p:nvCxnSpPr>
          <p:cNvPr id="3" name="直接连接符 2"/>
          <p:cNvCxnSpPr/>
          <p:nvPr/>
        </p:nvCxnSpPr>
        <p:spPr>
          <a:xfrm>
            <a:off x="4423893" y="2809802"/>
            <a:ext cx="0" cy="2693503"/>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972463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利用管程解决生产者</a:t>
            </a:r>
            <a:r>
              <a:rPr lang="en-US" altLang="zh-CN" sz="2100" b="1" dirty="0">
                <a:solidFill>
                  <a:schemeClr val="bg1"/>
                </a:solidFill>
              </a:rPr>
              <a:t>-</a:t>
            </a:r>
            <a:r>
              <a:rPr lang="zh-CN" altLang="en-US" sz="2100" b="1" dirty="0">
                <a:solidFill>
                  <a:schemeClr val="bg1"/>
                </a:solidFill>
              </a:rPr>
              <a:t>消费者问题（略）</a:t>
            </a:r>
          </a:p>
        </p:txBody>
      </p:sp>
      <p:sp>
        <p:nvSpPr>
          <p:cNvPr id="29" name="Rectangle 6"/>
          <p:cNvSpPr txBox="1">
            <a:spLocks noChangeArrowheads="1"/>
          </p:cNvSpPr>
          <p:nvPr/>
        </p:nvSpPr>
        <p:spPr>
          <a:xfrm>
            <a:off x="502444" y="1689339"/>
            <a:ext cx="3667763" cy="3128165"/>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solidFill>
                  <a:srgbClr val="FF0000"/>
                </a:solidFill>
                <a:latin typeface="+mj-lt"/>
              </a:rPr>
              <a:t>Monitor </a:t>
            </a:r>
            <a:r>
              <a:rPr lang="en-US" altLang="zh-CN" dirty="0" err="1">
                <a:solidFill>
                  <a:srgbClr val="FF0000"/>
                </a:solidFill>
                <a:latin typeface="+mj-lt"/>
              </a:rPr>
              <a:t>producerconsumer</a:t>
            </a:r>
            <a:r>
              <a:rPr lang="en-US" altLang="zh-CN" dirty="0">
                <a:latin typeface="+mj-lt"/>
              </a:rPr>
              <a:t> {       </a:t>
            </a:r>
          </a:p>
          <a:p>
            <a:pPr marL="0" indent="0">
              <a:buNone/>
            </a:pPr>
            <a:r>
              <a:rPr lang="en-US" altLang="zh-CN" dirty="0">
                <a:latin typeface="+mj-lt"/>
              </a:rPr>
              <a:t>item buffer[N];</a:t>
            </a:r>
          </a:p>
          <a:p>
            <a:pPr marL="0" indent="0">
              <a:buNone/>
            </a:pPr>
            <a:r>
              <a:rPr lang="en-US" altLang="zh-CN" dirty="0">
                <a:latin typeface="+mj-lt"/>
              </a:rPr>
              <a:t>int </a:t>
            </a:r>
            <a:r>
              <a:rPr lang="en-US" altLang="zh-CN" dirty="0" err="1">
                <a:latin typeface="+mj-lt"/>
              </a:rPr>
              <a:t>in,out</a:t>
            </a:r>
            <a:r>
              <a:rPr lang="en-US" altLang="zh-CN" dirty="0">
                <a:latin typeface="+mj-lt"/>
              </a:rPr>
              <a:t>;</a:t>
            </a:r>
          </a:p>
          <a:p>
            <a:pPr marL="0" indent="0">
              <a:buNone/>
            </a:pPr>
            <a:r>
              <a:rPr lang="en-US" altLang="zh-CN" dirty="0">
                <a:latin typeface="+mj-lt"/>
              </a:rPr>
              <a:t>condition </a:t>
            </a:r>
            <a:r>
              <a:rPr lang="en-US" altLang="zh-CN" dirty="0" err="1">
                <a:latin typeface="+mj-lt"/>
              </a:rPr>
              <a:t>notfull,notempty</a:t>
            </a:r>
            <a:r>
              <a:rPr lang="en-US" altLang="zh-CN" dirty="0">
                <a:latin typeface="+mj-lt"/>
              </a:rPr>
              <a:t>;</a:t>
            </a:r>
          </a:p>
          <a:p>
            <a:pPr marL="0" indent="0">
              <a:buNone/>
            </a:pPr>
            <a:r>
              <a:rPr lang="en-US" altLang="zh-CN" dirty="0">
                <a:latin typeface="+mj-lt"/>
              </a:rPr>
              <a:t>int count;</a:t>
            </a:r>
          </a:p>
          <a:p>
            <a:pPr marL="0" indent="0">
              <a:buNone/>
            </a:pPr>
            <a:r>
              <a:rPr lang="en-US" altLang="zh-CN" dirty="0">
                <a:latin typeface="+mj-lt"/>
              </a:rPr>
              <a:t>public:                       </a:t>
            </a:r>
          </a:p>
          <a:p>
            <a:pPr marL="0" indent="0">
              <a:buNone/>
            </a:pPr>
            <a:r>
              <a:rPr lang="en-US" altLang="zh-CN" dirty="0">
                <a:latin typeface="+mj-lt"/>
              </a:rPr>
              <a:t>void </a:t>
            </a:r>
            <a:r>
              <a:rPr lang="en-US" altLang="zh-CN" dirty="0">
                <a:solidFill>
                  <a:srgbClr val="FF0000"/>
                </a:solidFill>
                <a:latin typeface="+mj-lt"/>
              </a:rPr>
              <a:t>put</a:t>
            </a:r>
            <a:r>
              <a:rPr lang="en-US" altLang="zh-CN" dirty="0">
                <a:latin typeface="+mj-lt"/>
              </a:rPr>
              <a:t>(item x) {</a:t>
            </a:r>
          </a:p>
          <a:p>
            <a:pPr marL="0" indent="0">
              <a:buNone/>
            </a:pPr>
            <a:r>
              <a:rPr lang="en-US" altLang="zh-CN" dirty="0">
                <a:latin typeface="+mj-lt"/>
              </a:rPr>
              <a:t>      if (count&gt;=N) </a:t>
            </a:r>
            <a:r>
              <a:rPr lang="en-US" altLang="zh-CN" dirty="0" err="1">
                <a:latin typeface="+mj-lt"/>
              </a:rPr>
              <a:t>cwait</a:t>
            </a:r>
            <a:r>
              <a:rPr lang="en-US" altLang="zh-CN" dirty="0">
                <a:latin typeface="+mj-lt"/>
              </a:rPr>
              <a:t>(</a:t>
            </a:r>
            <a:r>
              <a:rPr lang="en-US" altLang="zh-CN" dirty="0" err="1">
                <a:latin typeface="+mj-lt"/>
              </a:rPr>
              <a:t>notfull</a:t>
            </a:r>
            <a:r>
              <a:rPr lang="en-US" altLang="zh-CN" dirty="0">
                <a:latin typeface="+mj-lt"/>
              </a:rPr>
              <a:t>)</a:t>
            </a:r>
            <a:r>
              <a:rPr lang="zh-CN" altLang="en-US" dirty="0">
                <a:latin typeface="+mj-lt"/>
              </a:rPr>
              <a:t>；    </a:t>
            </a:r>
          </a:p>
          <a:p>
            <a:pPr marL="0" indent="0">
              <a:buNone/>
            </a:pPr>
            <a:r>
              <a:rPr lang="zh-CN" altLang="en-US" dirty="0">
                <a:latin typeface="+mj-lt"/>
              </a:rPr>
              <a:t>　 </a:t>
            </a:r>
            <a:r>
              <a:rPr lang="en-US" altLang="zh-CN" dirty="0">
                <a:latin typeface="+mj-lt"/>
              </a:rPr>
              <a:t>buffer[in] = x</a:t>
            </a:r>
            <a:r>
              <a:rPr lang="zh-CN" altLang="en-US" dirty="0">
                <a:latin typeface="+mj-lt"/>
              </a:rPr>
              <a:t>；</a:t>
            </a:r>
          </a:p>
          <a:p>
            <a:pPr marL="0" indent="0">
              <a:buNone/>
            </a:pPr>
            <a:r>
              <a:rPr lang="zh-CN" altLang="en-US" dirty="0">
                <a:latin typeface="+mj-lt"/>
              </a:rPr>
              <a:t>　 </a:t>
            </a:r>
            <a:r>
              <a:rPr lang="en-US" altLang="zh-CN" dirty="0">
                <a:latin typeface="+mj-lt"/>
              </a:rPr>
              <a:t>in = (in+1) % N</a:t>
            </a:r>
            <a:r>
              <a:rPr lang="zh-CN" altLang="en-US" dirty="0">
                <a:latin typeface="+mj-lt"/>
              </a:rPr>
              <a:t>；</a:t>
            </a:r>
          </a:p>
          <a:p>
            <a:pPr marL="0" indent="0">
              <a:buNone/>
            </a:pPr>
            <a:r>
              <a:rPr lang="zh-CN" altLang="en-US" dirty="0">
                <a:latin typeface="+mj-lt"/>
              </a:rPr>
              <a:t>　 </a:t>
            </a:r>
            <a:r>
              <a:rPr lang="en-US" altLang="zh-CN" dirty="0">
                <a:latin typeface="+mj-lt"/>
              </a:rPr>
              <a:t>count++</a:t>
            </a:r>
            <a:r>
              <a:rPr lang="zh-CN" altLang="en-US" dirty="0">
                <a:latin typeface="+mj-lt"/>
              </a:rPr>
              <a:t>；</a:t>
            </a:r>
          </a:p>
          <a:p>
            <a:pPr marL="0" indent="0">
              <a:buNone/>
            </a:pPr>
            <a:r>
              <a:rPr lang="zh-CN" altLang="en-US" dirty="0">
                <a:latin typeface="+mj-lt"/>
              </a:rPr>
              <a:t>　 </a:t>
            </a:r>
            <a:r>
              <a:rPr lang="en-US" altLang="zh-CN" dirty="0" err="1">
                <a:latin typeface="+mj-lt"/>
              </a:rPr>
              <a:t>csignal</a:t>
            </a:r>
            <a:r>
              <a:rPr lang="en-US" altLang="zh-CN" dirty="0">
                <a:latin typeface="+mj-lt"/>
              </a:rPr>
              <a:t>(</a:t>
            </a:r>
            <a:r>
              <a:rPr lang="en-US" altLang="zh-CN" dirty="0" err="1">
                <a:latin typeface="+mj-lt"/>
              </a:rPr>
              <a:t>notempty</a:t>
            </a:r>
            <a:r>
              <a:rPr lang="en-US" altLang="zh-CN" dirty="0">
                <a:latin typeface="+mj-lt"/>
              </a:rPr>
              <a:t>);</a:t>
            </a:r>
          </a:p>
          <a:p>
            <a:pPr marL="0" indent="0">
              <a:buNone/>
            </a:pPr>
            <a:r>
              <a:rPr lang="en-US" altLang="zh-CN" dirty="0">
                <a:latin typeface="+mj-lt"/>
              </a:rPr>
              <a:t>}</a:t>
            </a:r>
          </a:p>
        </p:txBody>
      </p:sp>
      <p:sp>
        <p:nvSpPr>
          <p:cNvPr id="32" name="Rectangle 7"/>
          <p:cNvSpPr txBox="1">
            <a:spLocks noChangeArrowheads="1"/>
          </p:cNvSpPr>
          <p:nvPr/>
        </p:nvSpPr>
        <p:spPr>
          <a:xfrm>
            <a:off x="4871239" y="1308666"/>
            <a:ext cx="4082798" cy="4397480"/>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CN" dirty="0"/>
          </a:p>
          <a:p>
            <a:pPr marL="0" indent="0">
              <a:buNone/>
            </a:pPr>
            <a:r>
              <a:rPr lang="en-US" altLang="zh-CN" dirty="0"/>
              <a:t>void </a:t>
            </a:r>
            <a:r>
              <a:rPr lang="en-US" altLang="zh-CN" dirty="0">
                <a:solidFill>
                  <a:srgbClr val="FF0000"/>
                </a:solidFill>
              </a:rPr>
              <a:t>get</a:t>
            </a:r>
            <a:r>
              <a:rPr lang="en-US" altLang="zh-CN" dirty="0"/>
              <a:t>(item x) {</a:t>
            </a:r>
          </a:p>
          <a:p>
            <a:pPr marL="0" indent="0">
              <a:buNone/>
            </a:pPr>
            <a:r>
              <a:rPr lang="en-US" altLang="zh-CN" dirty="0"/>
              <a:t>     if (count&lt;=0) </a:t>
            </a:r>
            <a:r>
              <a:rPr lang="en-US" altLang="zh-CN" dirty="0" err="1"/>
              <a:t>cwait</a:t>
            </a:r>
            <a:r>
              <a:rPr lang="en-US" altLang="zh-CN" dirty="0"/>
              <a:t>(</a:t>
            </a:r>
            <a:r>
              <a:rPr lang="en-US" altLang="zh-CN" dirty="0" err="1"/>
              <a:t>notempty</a:t>
            </a:r>
            <a:r>
              <a:rPr lang="en-US" altLang="zh-CN" dirty="0"/>
              <a:t>)</a:t>
            </a:r>
            <a:r>
              <a:rPr lang="zh-CN" altLang="en-US" dirty="0"/>
              <a:t>；    </a:t>
            </a:r>
          </a:p>
          <a:p>
            <a:pPr marL="0" indent="0">
              <a:buNone/>
            </a:pPr>
            <a:r>
              <a:rPr lang="zh-CN" altLang="en-US" dirty="0"/>
              <a:t>　 </a:t>
            </a:r>
            <a:r>
              <a:rPr lang="en-US" altLang="zh-CN" dirty="0"/>
              <a:t>x = buffer[out]</a:t>
            </a:r>
            <a:r>
              <a:rPr lang="zh-CN" altLang="en-US" dirty="0"/>
              <a:t>；</a:t>
            </a:r>
          </a:p>
          <a:p>
            <a:pPr marL="0" indent="0">
              <a:buNone/>
            </a:pPr>
            <a:r>
              <a:rPr lang="zh-CN" altLang="en-US" dirty="0"/>
              <a:t>　 </a:t>
            </a:r>
            <a:r>
              <a:rPr lang="en-US" altLang="zh-CN" dirty="0"/>
              <a:t>out = (out+1) % N</a:t>
            </a:r>
            <a:r>
              <a:rPr lang="zh-CN" altLang="en-US" dirty="0"/>
              <a:t>；</a:t>
            </a:r>
          </a:p>
          <a:p>
            <a:pPr marL="0" indent="0">
              <a:buNone/>
            </a:pPr>
            <a:r>
              <a:rPr lang="zh-CN" altLang="en-US" dirty="0"/>
              <a:t>　 </a:t>
            </a:r>
            <a:r>
              <a:rPr lang="en-US" altLang="zh-CN" dirty="0"/>
              <a:t>count--</a:t>
            </a:r>
            <a:r>
              <a:rPr lang="zh-CN" altLang="en-US" dirty="0"/>
              <a:t>；</a:t>
            </a:r>
          </a:p>
          <a:p>
            <a:pPr marL="0" indent="0">
              <a:buNone/>
            </a:pPr>
            <a:r>
              <a:rPr lang="zh-CN" altLang="en-US" dirty="0"/>
              <a:t>　 </a:t>
            </a:r>
            <a:r>
              <a:rPr lang="en-US" altLang="zh-CN" dirty="0" err="1"/>
              <a:t>csignal</a:t>
            </a:r>
            <a:r>
              <a:rPr lang="en-US" altLang="zh-CN" dirty="0"/>
              <a:t>(</a:t>
            </a:r>
            <a:r>
              <a:rPr lang="en-US" altLang="zh-CN" dirty="0" err="1"/>
              <a:t>notfull</a:t>
            </a:r>
            <a:r>
              <a:rPr lang="en-US" altLang="zh-CN" dirty="0"/>
              <a:t>);</a:t>
            </a:r>
          </a:p>
          <a:p>
            <a:pPr marL="0" indent="0">
              <a:buNone/>
            </a:pPr>
            <a:r>
              <a:rPr lang="en-US" altLang="zh-CN" dirty="0"/>
              <a:t>}</a:t>
            </a:r>
          </a:p>
          <a:p>
            <a:pPr marL="0" indent="0">
              <a:buNone/>
            </a:pPr>
            <a:r>
              <a:rPr lang="en-US" altLang="zh-CN" dirty="0"/>
              <a:t>{                                  </a:t>
            </a:r>
          </a:p>
          <a:p>
            <a:pPr marL="0" indent="0">
              <a:buNone/>
            </a:pPr>
            <a:r>
              <a:rPr lang="en-US" altLang="zh-CN" dirty="0"/>
              <a:t>      in=0;out=0;count=0;</a:t>
            </a:r>
          </a:p>
          <a:p>
            <a:pPr marL="0" indent="0">
              <a:buNone/>
            </a:pPr>
            <a:r>
              <a:rPr lang="en-US" altLang="zh-CN" dirty="0"/>
              <a:t>}</a:t>
            </a:r>
          </a:p>
          <a:p>
            <a:pPr marL="0" indent="0">
              <a:buNone/>
            </a:pPr>
            <a:r>
              <a:rPr lang="en-US" altLang="zh-CN" dirty="0"/>
              <a:t>}PC;</a:t>
            </a:r>
          </a:p>
        </p:txBody>
      </p:sp>
      <p:cxnSp>
        <p:nvCxnSpPr>
          <p:cNvPr id="3" name="直接连接符 2"/>
          <p:cNvCxnSpPr/>
          <p:nvPr/>
        </p:nvCxnSpPr>
        <p:spPr>
          <a:xfrm>
            <a:off x="4279005" y="1805250"/>
            <a:ext cx="0" cy="3649759"/>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8" name="右箭头 7"/>
          <p:cNvSpPr/>
          <p:nvPr/>
        </p:nvSpPr>
        <p:spPr>
          <a:xfrm>
            <a:off x="4087609" y="5193347"/>
            <a:ext cx="487514" cy="2414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19693627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利用管程解决生产者</a:t>
            </a:r>
            <a:r>
              <a:rPr lang="en-US" altLang="zh-CN" sz="2100" b="1" dirty="0">
                <a:solidFill>
                  <a:schemeClr val="bg1"/>
                </a:solidFill>
              </a:rPr>
              <a:t>-</a:t>
            </a:r>
            <a:r>
              <a:rPr lang="zh-CN" altLang="en-US" sz="2100" b="1" dirty="0">
                <a:solidFill>
                  <a:schemeClr val="bg1"/>
                </a:solidFill>
              </a:rPr>
              <a:t>消费者问题（略）</a:t>
            </a:r>
            <a:endParaRPr lang="en-US" altLang="zh-CN" sz="2100" b="1" dirty="0">
              <a:solidFill>
                <a:schemeClr val="bg1"/>
              </a:solidFill>
            </a:endParaRPr>
          </a:p>
        </p:txBody>
      </p:sp>
      <p:sp>
        <p:nvSpPr>
          <p:cNvPr id="32" name="Rectangle 7"/>
          <p:cNvSpPr txBox="1">
            <a:spLocks noChangeArrowheads="1"/>
          </p:cNvSpPr>
          <p:nvPr/>
        </p:nvSpPr>
        <p:spPr>
          <a:xfrm>
            <a:off x="428028" y="1776271"/>
            <a:ext cx="4082798" cy="4224479"/>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void </a:t>
            </a:r>
            <a:r>
              <a:rPr lang="en-US" altLang="zh-CN" dirty="0">
                <a:solidFill>
                  <a:srgbClr val="FF0000"/>
                </a:solidFill>
              </a:rPr>
              <a:t>producer</a:t>
            </a:r>
            <a:r>
              <a:rPr lang="en-US" altLang="zh-CN" dirty="0"/>
              <a:t>() {</a:t>
            </a:r>
          </a:p>
          <a:p>
            <a:pPr marL="0" indent="0">
              <a:buNone/>
            </a:pPr>
            <a:r>
              <a:rPr lang="en-US" altLang="zh-CN" dirty="0"/>
              <a:t>	item x;</a:t>
            </a:r>
          </a:p>
          <a:p>
            <a:pPr marL="0" indent="0">
              <a:buNone/>
            </a:pPr>
            <a:r>
              <a:rPr lang="en-US" altLang="zh-CN" dirty="0"/>
              <a:t>	while(TRUE) {</a:t>
            </a:r>
          </a:p>
          <a:p>
            <a:pPr marL="0" indent="0">
              <a:buNone/>
            </a:pPr>
            <a:r>
              <a:rPr lang="en-US" altLang="zh-CN" dirty="0"/>
              <a:t>		……</a:t>
            </a:r>
          </a:p>
          <a:p>
            <a:pPr marL="0" indent="0">
              <a:buNone/>
            </a:pPr>
            <a:r>
              <a:rPr lang="en-US" altLang="zh-CN" dirty="0"/>
              <a:t>		produce an item in </a:t>
            </a:r>
            <a:r>
              <a:rPr lang="en-US" altLang="zh-CN" dirty="0" err="1"/>
              <a:t>nextp</a:t>
            </a:r>
            <a:r>
              <a:rPr lang="zh-CN" altLang="en-US" dirty="0"/>
              <a:t>；</a:t>
            </a:r>
          </a:p>
          <a:p>
            <a:pPr marL="0" indent="0">
              <a:buNone/>
            </a:pPr>
            <a:r>
              <a:rPr lang="zh-CN" altLang="en-US" dirty="0"/>
              <a:t> 　　　　　</a:t>
            </a:r>
            <a:r>
              <a:rPr lang="en-US" altLang="zh-CN" dirty="0" err="1"/>
              <a:t>PC.put</a:t>
            </a:r>
            <a:r>
              <a:rPr lang="en-US" altLang="zh-CN" dirty="0"/>
              <a:t>(x)</a:t>
            </a:r>
            <a:r>
              <a:rPr lang="zh-CN" altLang="en-US" dirty="0"/>
              <a:t>；</a:t>
            </a:r>
          </a:p>
          <a:p>
            <a:pPr marL="0" indent="0">
              <a:buNone/>
            </a:pPr>
            <a:r>
              <a:rPr lang="zh-CN" altLang="en-US" dirty="0"/>
              <a:t>　</a:t>
            </a:r>
            <a:r>
              <a:rPr lang="en-US" altLang="zh-CN" dirty="0"/>
              <a:t>}</a:t>
            </a:r>
          </a:p>
          <a:p>
            <a:pPr marL="0" indent="0">
              <a:buNone/>
            </a:pPr>
            <a:r>
              <a:rPr lang="en-US" altLang="zh-CN" dirty="0"/>
              <a:t>}</a:t>
            </a:r>
          </a:p>
          <a:p>
            <a:pPr marL="0" indent="0">
              <a:buNone/>
            </a:pPr>
            <a:r>
              <a:rPr lang="en-US" altLang="zh-CN" dirty="0"/>
              <a:t>void </a:t>
            </a:r>
            <a:r>
              <a:rPr lang="en-US" altLang="zh-CN" dirty="0" err="1">
                <a:solidFill>
                  <a:srgbClr val="FF0000"/>
                </a:solidFill>
              </a:rPr>
              <a:t>comsumer</a:t>
            </a:r>
            <a:r>
              <a:rPr lang="en-US" altLang="zh-CN" dirty="0"/>
              <a:t>() {</a:t>
            </a:r>
          </a:p>
          <a:p>
            <a:pPr marL="0" indent="0">
              <a:buNone/>
            </a:pPr>
            <a:r>
              <a:rPr lang="zh-CN" altLang="en-US" dirty="0"/>
              <a:t>　</a:t>
            </a:r>
            <a:r>
              <a:rPr lang="en-US" altLang="zh-CN" dirty="0"/>
              <a:t>item x;</a:t>
            </a:r>
          </a:p>
        </p:txBody>
      </p:sp>
      <p:cxnSp>
        <p:nvCxnSpPr>
          <p:cNvPr id="3" name="直接连接符 2"/>
          <p:cNvCxnSpPr/>
          <p:nvPr/>
        </p:nvCxnSpPr>
        <p:spPr>
          <a:xfrm>
            <a:off x="4530144" y="1776272"/>
            <a:ext cx="0" cy="363044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6" name="Rectangle 7"/>
          <p:cNvSpPr txBox="1">
            <a:spLocks noChangeArrowheads="1"/>
          </p:cNvSpPr>
          <p:nvPr/>
        </p:nvSpPr>
        <p:spPr>
          <a:xfrm>
            <a:off x="4900217" y="1776272"/>
            <a:ext cx="4082798" cy="3910556"/>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   while(TRUE) {</a:t>
            </a:r>
          </a:p>
          <a:p>
            <a:pPr marL="0" indent="0">
              <a:buNone/>
            </a:pPr>
            <a:r>
              <a:rPr lang="zh-CN" altLang="en-US" dirty="0"/>
              <a:t>　　　</a:t>
            </a:r>
            <a:r>
              <a:rPr lang="en-US" altLang="zh-CN" dirty="0" err="1"/>
              <a:t>PC.get</a:t>
            </a:r>
            <a:r>
              <a:rPr lang="en-US" altLang="zh-CN" dirty="0"/>
              <a:t>(x)</a:t>
            </a:r>
            <a:r>
              <a:rPr lang="zh-CN" altLang="en-US" dirty="0"/>
              <a:t>；</a:t>
            </a:r>
          </a:p>
          <a:p>
            <a:pPr marL="0" indent="0">
              <a:buNone/>
            </a:pPr>
            <a:r>
              <a:rPr lang="zh-CN" altLang="en-US" dirty="0"/>
              <a:t>　　　</a:t>
            </a:r>
            <a:r>
              <a:rPr lang="en-US" altLang="zh-CN" dirty="0"/>
              <a:t>consume the item in </a:t>
            </a:r>
            <a:r>
              <a:rPr lang="en-US" altLang="zh-CN" dirty="0" err="1"/>
              <a:t>nextc</a:t>
            </a:r>
            <a:r>
              <a:rPr lang="zh-CN" altLang="en-US" dirty="0"/>
              <a:t>；</a:t>
            </a:r>
          </a:p>
          <a:p>
            <a:pPr marL="0" indent="0">
              <a:buNone/>
            </a:pPr>
            <a:r>
              <a:rPr lang="en-US" altLang="zh-CN" dirty="0"/>
              <a:t>	……</a:t>
            </a:r>
          </a:p>
          <a:p>
            <a:pPr marL="0" indent="0">
              <a:buNone/>
            </a:pPr>
            <a:r>
              <a:rPr lang="zh-CN" altLang="en-US" dirty="0"/>
              <a:t>　</a:t>
            </a:r>
            <a:r>
              <a:rPr lang="en-US" altLang="zh-CN" dirty="0"/>
              <a:t>}</a:t>
            </a:r>
          </a:p>
          <a:p>
            <a:pPr marL="0" indent="0">
              <a:buNone/>
            </a:pPr>
            <a:r>
              <a:rPr lang="en-US" altLang="zh-CN" dirty="0"/>
              <a:t>}</a:t>
            </a:r>
          </a:p>
          <a:p>
            <a:pPr marL="0" indent="0">
              <a:buNone/>
            </a:pPr>
            <a:r>
              <a:rPr lang="en-US" altLang="zh-CN" dirty="0"/>
              <a:t>void </a:t>
            </a:r>
            <a:r>
              <a:rPr lang="en-US" altLang="zh-CN" dirty="0">
                <a:solidFill>
                  <a:srgbClr val="0000FF"/>
                </a:solidFill>
              </a:rPr>
              <a:t>main</a:t>
            </a:r>
            <a:r>
              <a:rPr lang="en-US" altLang="zh-CN" dirty="0"/>
              <a:t>()  {</a:t>
            </a:r>
          </a:p>
          <a:p>
            <a:pPr marL="0" indent="0">
              <a:buNone/>
            </a:pPr>
            <a:r>
              <a:rPr lang="en-US" altLang="zh-CN" dirty="0"/>
              <a:t>           </a:t>
            </a:r>
            <a:r>
              <a:rPr lang="en-US" altLang="zh-CN" dirty="0" err="1"/>
              <a:t>cobegin</a:t>
            </a:r>
            <a:endParaRPr lang="en-US" altLang="zh-CN" dirty="0"/>
          </a:p>
          <a:p>
            <a:pPr marL="0" indent="0">
              <a:buNone/>
            </a:pPr>
            <a:r>
              <a:rPr lang="en-US" altLang="zh-CN" dirty="0"/>
              <a:t>           </a:t>
            </a:r>
            <a:r>
              <a:rPr lang="en-US" altLang="zh-CN" dirty="0" err="1"/>
              <a:t>proceducer</a:t>
            </a:r>
            <a:r>
              <a:rPr lang="en-US" altLang="zh-CN" dirty="0"/>
              <a:t>();  consumer();</a:t>
            </a:r>
          </a:p>
          <a:p>
            <a:pPr marL="0" indent="0">
              <a:buNone/>
            </a:pPr>
            <a:r>
              <a:rPr lang="en-US" altLang="zh-CN" dirty="0"/>
              <a:t>           </a:t>
            </a:r>
            <a:r>
              <a:rPr lang="en-US" altLang="zh-CN" dirty="0" err="1"/>
              <a:t>coend</a:t>
            </a:r>
            <a:endParaRPr lang="en-US" altLang="zh-CN" dirty="0"/>
          </a:p>
          <a:p>
            <a:pPr marL="0" indent="0">
              <a:buNone/>
            </a:pPr>
            <a:r>
              <a:rPr lang="en-US" altLang="zh-CN" dirty="0"/>
              <a:t>}</a:t>
            </a:r>
          </a:p>
        </p:txBody>
      </p:sp>
      <p:sp>
        <p:nvSpPr>
          <p:cNvPr id="4" name="右箭头 3"/>
          <p:cNvSpPr/>
          <p:nvPr/>
        </p:nvSpPr>
        <p:spPr>
          <a:xfrm>
            <a:off x="4327302" y="5030005"/>
            <a:ext cx="487514" cy="2414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421927532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502444" y="5059446"/>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t>Date</a:t>
            </a:r>
            <a:endParaRPr lang="zh-CN" altLang="en-US" sz="1125" dirty="0"/>
          </a:p>
        </p:txBody>
      </p:sp>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矩形 19"/>
          <p:cNvSpPr/>
          <p:nvPr/>
        </p:nvSpPr>
        <p:spPr>
          <a:xfrm>
            <a:off x="578644" y="1050622"/>
            <a:ext cx="1539204" cy="415498"/>
          </a:xfrm>
          <a:prstGeom prst="rect">
            <a:avLst/>
          </a:prstGeom>
        </p:spPr>
        <p:txBody>
          <a:bodyPr wrap="none">
            <a:spAutoFit/>
          </a:bodyPr>
          <a:lstStyle/>
          <a:p>
            <a:r>
              <a:rPr lang="zh-CN" altLang="en-US" sz="2100" b="1" dirty="0">
                <a:solidFill>
                  <a:schemeClr val="bg1"/>
                </a:solidFill>
              </a:rPr>
              <a:t>内容导航：</a:t>
            </a:r>
          </a:p>
        </p:txBody>
      </p:sp>
      <p:sp>
        <p:nvSpPr>
          <p:cNvPr id="3" name="矩形 2"/>
          <p:cNvSpPr/>
          <p:nvPr/>
        </p:nvSpPr>
        <p:spPr>
          <a:xfrm>
            <a:off x="6180941" y="2700908"/>
            <a:ext cx="2560316" cy="507831"/>
          </a:xfrm>
          <a:prstGeom prst="rect">
            <a:avLst/>
          </a:prstGeom>
        </p:spPr>
        <p:txBody>
          <a:bodyPr wrap="none">
            <a:spAutoFit/>
          </a:bodyPr>
          <a:lstStyle/>
          <a:p>
            <a:r>
              <a:rPr lang="zh-CN" altLang="en-US" sz="2700" dirty="0">
                <a:solidFill>
                  <a:srgbClr val="000000"/>
                </a:solidFill>
                <a:sym typeface="+mn-ea"/>
              </a:rPr>
              <a:t>第</a:t>
            </a:r>
            <a:r>
              <a:rPr lang="en-US" altLang="zh-CN" sz="2700" dirty="0">
                <a:solidFill>
                  <a:srgbClr val="000000"/>
                </a:solidFill>
                <a:sym typeface="+mn-ea"/>
              </a:rPr>
              <a:t>4</a:t>
            </a:r>
            <a:r>
              <a:rPr lang="zh-CN" altLang="en-US" sz="2700" dirty="0">
                <a:solidFill>
                  <a:srgbClr val="000000"/>
                </a:solidFill>
                <a:sym typeface="+mn-ea"/>
              </a:rPr>
              <a:t>章 进程同步</a:t>
            </a:r>
            <a:endParaRPr lang="zh-CN" altLang="en-US" sz="2700" dirty="0">
              <a:solidFill>
                <a:srgbClr val="000000"/>
              </a:solidFill>
            </a:endParaRPr>
          </a:p>
        </p:txBody>
      </p:sp>
      <p:cxnSp>
        <p:nvCxnSpPr>
          <p:cNvPr id="5" name="直接连接符 4"/>
          <p:cNvCxnSpPr/>
          <p:nvPr/>
        </p:nvCxnSpPr>
        <p:spPr>
          <a:xfrm>
            <a:off x="5669925" y="3250103"/>
            <a:ext cx="2990417"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521248" y="3292521"/>
            <a:ext cx="3247181" cy="412613"/>
          </a:xfrm>
          <a:prstGeom prst="rect">
            <a:avLst/>
          </a:prstGeom>
        </p:spPr>
        <p:txBody>
          <a:bodyPr wrap="square">
            <a:spAutoFit/>
          </a:bodyPr>
          <a:lstStyle/>
          <a:p>
            <a:pPr algn="ctr">
              <a:lnSpc>
                <a:spcPct val="132000"/>
              </a:lnSpc>
            </a:pPr>
            <a:r>
              <a:rPr lang="zh-CN" altLang="en-US" sz="1800" dirty="0">
                <a:solidFill>
                  <a:srgbClr val="002060"/>
                </a:solidFill>
              </a:rPr>
              <a:t>主讲：王红玲    主审：汤小丹</a:t>
            </a:r>
            <a:endParaRPr lang="en-US" altLang="zh-CN" sz="1800" dirty="0">
              <a:solidFill>
                <a:srgbClr val="002060"/>
              </a:solidFill>
            </a:endParaRPr>
          </a:p>
        </p:txBody>
      </p:sp>
      <p:sp>
        <p:nvSpPr>
          <p:cNvPr id="8" name="矩形 7"/>
          <p:cNvSpPr/>
          <p:nvPr/>
        </p:nvSpPr>
        <p:spPr>
          <a:xfrm>
            <a:off x="-7145" y="5638531"/>
            <a:ext cx="9151145" cy="3622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6" name="任意多边形: 形状 25"/>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sz="1800">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116811"/>
            <a:ext cx="395288" cy="395288"/>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555666"/>
            <a:ext cx="395288" cy="395288"/>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047268"/>
            <a:ext cx="395288" cy="395288"/>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511123"/>
            <a:ext cx="395288" cy="395288"/>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980683"/>
            <a:ext cx="395288" cy="395288"/>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458967"/>
            <a:ext cx="395288" cy="395288"/>
          </a:xfrm>
          <a:prstGeom prst="rect">
            <a:avLst/>
          </a:prstGeom>
          <a:ln>
            <a:noFill/>
          </a:ln>
          <a:effectLst>
            <a:softEdge rad="0"/>
          </a:effectLst>
        </p:spPr>
      </p:pic>
      <p:sp>
        <p:nvSpPr>
          <p:cNvPr id="33" name="矩形 32"/>
          <p:cNvSpPr/>
          <p:nvPr/>
        </p:nvSpPr>
        <p:spPr>
          <a:xfrm>
            <a:off x="1273253" y="2158852"/>
            <a:ext cx="2616725" cy="369332"/>
          </a:xfrm>
          <a:prstGeom prst="rect">
            <a:avLst/>
          </a:prstGeom>
        </p:spPr>
        <p:txBody>
          <a:bodyPr wrap="square">
            <a:spAutoFit/>
          </a:bodyPr>
          <a:lstStyle/>
          <a:p>
            <a:r>
              <a:rPr lang="en-US" altLang="zh-CN" sz="1800" dirty="0">
                <a:latin typeface="+mj-ea"/>
                <a:ea typeface="+mj-ea"/>
              </a:rPr>
              <a:t>4.1 </a:t>
            </a:r>
            <a:r>
              <a:rPr lang="zh-CN" altLang="en-US" sz="1800" dirty="0">
                <a:latin typeface="+mj-ea"/>
                <a:ea typeface="+mj-ea"/>
              </a:rPr>
              <a:t>进程同步的概念</a:t>
            </a:r>
          </a:p>
        </p:txBody>
      </p:sp>
      <p:sp>
        <p:nvSpPr>
          <p:cNvPr id="34" name="矩形 33"/>
          <p:cNvSpPr/>
          <p:nvPr/>
        </p:nvSpPr>
        <p:spPr>
          <a:xfrm>
            <a:off x="1273253" y="2623196"/>
            <a:ext cx="2761613" cy="369332"/>
          </a:xfrm>
          <a:prstGeom prst="rect">
            <a:avLst/>
          </a:prstGeom>
        </p:spPr>
        <p:txBody>
          <a:bodyPr wrap="square">
            <a:spAutoFit/>
          </a:bodyPr>
          <a:lstStyle/>
          <a:p>
            <a:r>
              <a:rPr lang="en-US" altLang="zh-CN" sz="1800" dirty="0">
                <a:latin typeface="+mj-ea"/>
              </a:rPr>
              <a:t>4.2 </a:t>
            </a:r>
            <a:r>
              <a:rPr lang="zh-CN" altLang="en-US" sz="1800" dirty="0">
                <a:latin typeface="+mj-ea"/>
              </a:rPr>
              <a:t>软件同步机制</a:t>
            </a:r>
          </a:p>
        </p:txBody>
      </p:sp>
      <p:sp>
        <p:nvSpPr>
          <p:cNvPr id="35" name="矩形 34"/>
          <p:cNvSpPr/>
          <p:nvPr/>
        </p:nvSpPr>
        <p:spPr>
          <a:xfrm>
            <a:off x="1273253" y="3087539"/>
            <a:ext cx="2616725" cy="369332"/>
          </a:xfrm>
          <a:prstGeom prst="rect">
            <a:avLst/>
          </a:prstGeom>
        </p:spPr>
        <p:txBody>
          <a:bodyPr wrap="square">
            <a:spAutoFit/>
          </a:bodyPr>
          <a:lstStyle/>
          <a:p>
            <a:r>
              <a:rPr lang="en-US" altLang="zh-CN" sz="1800" dirty="0">
                <a:latin typeface="+mj-ea"/>
              </a:rPr>
              <a:t>4.3 </a:t>
            </a:r>
            <a:r>
              <a:rPr lang="zh-CN" altLang="en-US" sz="1800" dirty="0">
                <a:latin typeface="+mj-ea"/>
              </a:rPr>
              <a:t>硬件同步机制</a:t>
            </a:r>
          </a:p>
        </p:txBody>
      </p:sp>
      <p:sp>
        <p:nvSpPr>
          <p:cNvPr id="36" name="矩形 35"/>
          <p:cNvSpPr/>
          <p:nvPr/>
        </p:nvSpPr>
        <p:spPr>
          <a:xfrm>
            <a:off x="1273253" y="3551883"/>
            <a:ext cx="2616725" cy="369332"/>
          </a:xfrm>
          <a:prstGeom prst="rect">
            <a:avLst/>
          </a:prstGeom>
        </p:spPr>
        <p:txBody>
          <a:bodyPr wrap="square">
            <a:spAutoFit/>
          </a:bodyPr>
          <a:lstStyle/>
          <a:p>
            <a:r>
              <a:rPr lang="en-US" altLang="zh-CN" sz="1800" dirty="0">
                <a:latin typeface="+mj-ea"/>
              </a:rPr>
              <a:t>4.4 </a:t>
            </a:r>
            <a:r>
              <a:rPr lang="zh-CN" altLang="en-US" sz="1800" dirty="0">
                <a:latin typeface="+mj-ea"/>
              </a:rPr>
              <a:t>信号量机制</a:t>
            </a:r>
          </a:p>
        </p:txBody>
      </p:sp>
      <p:sp>
        <p:nvSpPr>
          <p:cNvPr id="37" name="矩形 36"/>
          <p:cNvSpPr/>
          <p:nvPr/>
        </p:nvSpPr>
        <p:spPr>
          <a:xfrm>
            <a:off x="1273253" y="4016227"/>
            <a:ext cx="2525359" cy="369332"/>
          </a:xfrm>
          <a:prstGeom prst="rect">
            <a:avLst/>
          </a:prstGeom>
        </p:spPr>
        <p:txBody>
          <a:bodyPr wrap="square">
            <a:spAutoFit/>
          </a:bodyPr>
          <a:lstStyle/>
          <a:p>
            <a:r>
              <a:rPr lang="en-US" altLang="zh-CN" sz="1800" dirty="0">
                <a:latin typeface="+mj-ea"/>
              </a:rPr>
              <a:t>4.5 </a:t>
            </a:r>
            <a:r>
              <a:rPr lang="zh-CN" altLang="en-US" sz="1800" dirty="0">
                <a:latin typeface="+mj-ea"/>
              </a:rPr>
              <a:t>管程机制</a:t>
            </a:r>
          </a:p>
        </p:txBody>
      </p:sp>
      <p:sp>
        <p:nvSpPr>
          <p:cNvPr id="38" name="矩形 37"/>
          <p:cNvSpPr/>
          <p:nvPr/>
        </p:nvSpPr>
        <p:spPr>
          <a:xfrm>
            <a:off x="1273253" y="4480571"/>
            <a:ext cx="2761613" cy="369332"/>
          </a:xfrm>
          <a:prstGeom prst="rect">
            <a:avLst/>
          </a:prstGeom>
        </p:spPr>
        <p:txBody>
          <a:bodyPr wrap="square">
            <a:spAutoFit/>
          </a:bodyPr>
          <a:lstStyle/>
          <a:p>
            <a:r>
              <a:rPr lang="en-US" altLang="zh-CN" sz="1800" dirty="0">
                <a:latin typeface="+mj-ea"/>
              </a:rPr>
              <a:t>4.6 </a:t>
            </a:r>
            <a:r>
              <a:rPr lang="zh-CN" altLang="en-US" sz="1800" dirty="0">
                <a:latin typeface="+mj-ea"/>
              </a:rPr>
              <a:t>经典进程的同步问题</a:t>
            </a:r>
          </a:p>
        </p:txBody>
      </p:sp>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913797"/>
            <a:ext cx="395288" cy="395288"/>
          </a:xfrm>
          <a:prstGeom prst="rect">
            <a:avLst/>
          </a:prstGeom>
          <a:ln>
            <a:noFill/>
          </a:ln>
          <a:effectLst>
            <a:softEdge rad="0"/>
          </a:effectLst>
        </p:spPr>
      </p:pic>
      <p:sp>
        <p:nvSpPr>
          <p:cNvPr id="24" name="矩形 23"/>
          <p:cNvSpPr/>
          <p:nvPr/>
        </p:nvSpPr>
        <p:spPr>
          <a:xfrm>
            <a:off x="1273253" y="4935400"/>
            <a:ext cx="2761613" cy="369332"/>
          </a:xfrm>
          <a:prstGeom prst="rect">
            <a:avLst/>
          </a:prstGeom>
        </p:spPr>
        <p:txBody>
          <a:bodyPr wrap="square">
            <a:spAutoFit/>
          </a:bodyPr>
          <a:lstStyle/>
          <a:p>
            <a:r>
              <a:rPr lang="en-US" altLang="zh-CN" sz="1800" dirty="0">
                <a:latin typeface="+mj-ea"/>
              </a:rPr>
              <a:t>4.7 Linux</a:t>
            </a:r>
            <a:r>
              <a:rPr lang="zh-CN" altLang="en-US" sz="1800" dirty="0">
                <a:latin typeface="+mj-ea"/>
              </a:rPr>
              <a:t>进程同步机制</a:t>
            </a:r>
          </a:p>
        </p:txBody>
      </p:sp>
      <p:sp>
        <p:nvSpPr>
          <p:cNvPr id="2" name="右箭头 1"/>
          <p:cNvSpPr/>
          <p:nvPr/>
        </p:nvSpPr>
        <p:spPr>
          <a:xfrm>
            <a:off x="3918956" y="4568079"/>
            <a:ext cx="379369" cy="2346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7" name="矩形 26"/>
          <p:cNvSpPr/>
          <p:nvPr/>
        </p:nvSpPr>
        <p:spPr>
          <a:xfrm>
            <a:off x="4431207" y="4110649"/>
            <a:ext cx="3189866" cy="1121525"/>
          </a:xfrm>
          <a:prstGeom prst="rect">
            <a:avLst/>
          </a:prstGeom>
        </p:spPr>
        <p:txBody>
          <a:bodyPr wrap="square">
            <a:spAutoFit/>
          </a:bodyPr>
          <a:lstStyle/>
          <a:p>
            <a:pPr marL="257175" indent="-257175">
              <a:lnSpc>
                <a:spcPct val="130000"/>
              </a:lnSpc>
              <a:buFont typeface="Wingdings" panose="05000000000000000000" pitchFamily="2" charset="2"/>
              <a:buChar char="n"/>
            </a:pPr>
            <a:r>
              <a:rPr lang="en-US" altLang="zh-CN" sz="1800" dirty="0">
                <a:latin typeface="+mj-ea"/>
              </a:rPr>
              <a:t>4.6.1 </a:t>
            </a:r>
            <a:r>
              <a:rPr lang="zh-CN" altLang="en-US" sz="1800" dirty="0">
                <a:latin typeface="+mj-ea"/>
              </a:rPr>
              <a:t>生产者</a:t>
            </a:r>
            <a:r>
              <a:rPr lang="en-US" altLang="zh-CN" sz="1800" dirty="0">
                <a:latin typeface="+mj-ea"/>
              </a:rPr>
              <a:t>-</a:t>
            </a:r>
            <a:r>
              <a:rPr lang="zh-CN" altLang="en-US" sz="1800" dirty="0">
                <a:latin typeface="+mj-ea"/>
              </a:rPr>
              <a:t>消费者问题</a:t>
            </a:r>
          </a:p>
          <a:p>
            <a:pPr marL="257175" indent="-257175">
              <a:lnSpc>
                <a:spcPct val="130000"/>
              </a:lnSpc>
              <a:buFont typeface="Wingdings" panose="05000000000000000000" pitchFamily="2" charset="2"/>
              <a:buChar char="n"/>
            </a:pPr>
            <a:r>
              <a:rPr lang="en-US" altLang="zh-CN" sz="1800" b="1" dirty="0">
                <a:solidFill>
                  <a:srgbClr val="0000FF"/>
                </a:solidFill>
                <a:latin typeface="+mj-ea"/>
              </a:rPr>
              <a:t>4.6.2 </a:t>
            </a:r>
            <a:r>
              <a:rPr lang="zh-CN" altLang="en-US" sz="1800" b="1" dirty="0">
                <a:solidFill>
                  <a:srgbClr val="0000FF"/>
                </a:solidFill>
                <a:latin typeface="+mj-ea"/>
              </a:rPr>
              <a:t>哲学家进餐问题</a:t>
            </a:r>
          </a:p>
          <a:p>
            <a:pPr marL="257175" indent="-257175">
              <a:lnSpc>
                <a:spcPct val="130000"/>
              </a:lnSpc>
              <a:buFont typeface="Wingdings" panose="05000000000000000000" pitchFamily="2" charset="2"/>
              <a:buChar char="n"/>
            </a:pPr>
            <a:r>
              <a:rPr lang="en-US" altLang="zh-CN" sz="1800" dirty="0">
                <a:latin typeface="+mj-ea"/>
              </a:rPr>
              <a:t>4.6.3 </a:t>
            </a:r>
            <a:r>
              <a:rPr lang="zh-CN" altLang="en-US" sz="1800" dirty="0">
                <a:latin typeface="+mj-ea"/>
              </a:rPr>
              <a:t>读者</a:t>
            </a:r>
            <a:r>
              <a:rPr lang="en-US" altLang="zh-CN" sz="1800" dirty="0">
                <a:latin typeface="+mj-ea"/>
              </a:rPr>
              <a:t>-</a:t>
            </a:r>
            <a:r>
              <a:rPr lang="zh-CN" altLang="en-US" sz="1800" dirty="0">
                <a:latin typeface="+mj-ea"/>
              </a:rPr>
              <a:t>写者问题</a:t>
            </a:r>
          </a:p>
        </p:txBody>
      </p:sp>
    </p:spTree>
    <p:extLst>
      <p:ext uri="{BB962C8B-B14F-4D97-AF65-F5344CB8AC3E}">
        <p14:creationId xmlns:p14="http://schemas.microsoft.com/office/powerpoint/2010/main" val="326870572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哲学家就餐问题描述</a:t>
            </a:r>
          </a:p>
        </p:txBody>
      </p:sp>
      <p:sp>
        <p:nvSpPr>
          <p:cNvPr id="24" name="文本框 23"/>
          <p:cNvSpPr txBox="1"/>
          <p:nvPr/>
        </p:nvSpPr>
        <p:spPr>
          <a:xfrm>
            <a:off x="583478" y="1752969"/>
            <a:ext cx="4873945" cy="3101939"/>
          </a:xfrm>
          <a:prstGeom prst="rect">
            <a:avLst/>
          </a:prstGeom>
          <a:noFill/>
        </p:spPr>
        <p:txBody>
          <a:bodyPr wrap="square" rtlCol="0">
            <a:spAutoFit/>
          </a:bodyPr>
          <a:lstStyle/>
          <a:p>
            <a:pPr marL="257175" indent="-257175" algn="just">
              <a:lnSpc>
                <a:spcPct val="120000"/>
              </a:lnSpc>
              <a:spcBef>
                <a:spcPts val="225"/>
              </a:spcBef>
              <a:spcAft>
                <a:spcPts val="225"/>
              </a:spcAft>
              <a:buClr>
                <a:srgbClr val="FF0000"/>
              </a:buClr>
              <a:buFont typeface="Wingdings" panose="05000000000000000000" pitchFamily="2" charset="2"/>
              <a:buChar char="Ø"/>
            </a:pPr>
            <a:r>
              <a:rPr lang="zh-CN" altLang="en-US" sz="1650" dirty="0">
                <a:latin typeface="+mn-ea"/>
              </a:rPr>
              <a:t> 五个哲学家的生活方式：交替思考和进餐</a:t>
            </a:r>
          </a:p>
          <a:p>
            <a:pPr lvl="1" algn="just">
              <a:lnSpc>
                <a:spcPct val="120000"/>
              </a:lnSpc>
              <a:spcBef>
                <a:spcPts val="225"/>
              </a:spcBef>
              <a:spcAft>
                <a:spcPts val="225"/>
              </a:spcAft>
              <a:buClr>
                <a:srgbClr val="FF0000"/>
              </a:buClr>
            </a:pPr>
            <a:r>
              <a:rPr lang="zh-CN" altLang="en-US" sz="1650" dirty="0">
                <a:latin typeface="+mn-ea"/>
              </a:rPr>
              <a:t>共用一张圆桌，分别坐在五张椅子上</a:t>
            </a:r>
          </a:p>
          <a:p>
            <a:pPr lvl="1" algn="just">
              <a:lnSpc>
                <a:spcPct val="120000"/>
              </a:lnSpc>
              <a:spcBef>
                <a:spcPts val="225"/>
              </a:spcBef>
              <a:spcAft>
                <a:spcPts val="225"/>
              </a:spcAft>
              <a:buClr>
                <a:srgbClr val="FF0000"/>
              </a:buClr>
            </a:pPr>
            <a:r>
              <a:rPr lang="zh-CN" altLang="en-US" sz="1650" dirty="0">
                <a:latin typeface="+mn-ea"/>
              </a:rPr>
              <a:t>在圆桌上有五个碗和五支筷子</a:t>
            </a:r>
          </a:p>
          <a:p>
            <a:pPr lvl="1" algn="just">
              <a:lnSpc>
                <a:spcPct val="120000"/>
              </a:lnSpc>
              <a:spcBef>
                <a:spcPts val="225"/>
              </a:spcBef>
              <a:spcAft>
                <a:spcPts val="225"/>
              </a:spcAft>
              <a:buClr>
                <a:srgbClr val="FF0000"/>
              </a:buClr>
            </a:pPr>
            <a:r>
              <a:rPr lang="zh-CN" altLang="en-US" sz="1650" dirty="0">
                <a:latin typeface="+mn-ea"/>
              </a:rPr>
              <a:t>平时哲学家思考，饥饿时便试图取用其左、右最靠近他的筷子，只有在拿到两支筷子时才能进餐</a:t>
            </a:r>
          </a:p>
          <a:p>
            <a:pPr lvl="1" algn="just">
              <a:lnSpc>
                <a:spcPct val="120000"/>
              </a:lnSpc>
              <a:spcBef>
                <a:spcPts val="225"/>
              </a:spcBef>
              <a:spcAft>
                <a:spcPts val="225"/>
              </a:spcAft>
              <a:buClr>
                <a:srgbClr val="FF0000"/>
              </a:buClr>
            </a:pPr>
            <a:r>
              <a:rPr lang="zh-CN" altLang="en-US" sz="1650" dirty="0">
                <a:latin typeface="+mn-ea"/>
              </a:rPr>
              <a:t>进餐毕，放下筷子又继续思考。</a:t>
            </a:r>
            <a:endParaRPr lang="en-US" altLang="zh-CN" sz="1650" dirty="0">
              <a:latin typeface="+mn-ea"/>
            </a:endParaRPr>
          </a:p>
          <a:p>
            <a:pPr lvl="1" algn="just">
              <a:lnSpc>
                <a:spcPct val="120000"/>
              </a:lnSpc>
              <a:spcBef>
                <a:spcPts val="225"/>
              </a:spcBef>
              <a:spcAft>
                <a:spcPts val="225"/>
              </a:spcAft>
              <a:buClr>
                <a:srgbClr val="FF0000"/>
              </a:buClr>
            </a:pPr>
            <a:endParaRPr lang="en-US" altLang="zh-CN" sz="1650" dirty="0">
              <a:latin typeface="+mn-ea"/>
            </a:endParaRPr>
          </a:p>
          <a:p>
            <a:pPr marL="257175" indent="-257175" algn="just">
              <a:lnSpc>
                <a:spcPct val="120000"/>
              </a:lnSpc>
              <a:spcBef>
                <a:spcPts val="225"/>
              </a:spcBef>
              <a:spcAft>
                <a:spcPts val="225"/>
              </a:spcAft>
              <a:buClr>
                <a:srgbClr val="FF0000"/>
              </a:buClr>
              <a:buFont typeface="Wingdings" panose="05000000000000000000" pitchFamily="2" charset="2"/>
              <a:buChar char="Ø"/>
            </a:pPr>
            <a:r>
              <a:rPr lang="zh-CN" altLang="en-US" sz="1650" dirty="0">
                <a:solidFill>
                  <a:srgbClr val="FF0000"/>
                </a:solidFill>
                <a:latin typeface="+mn-ea"/>
              </a:rPr>
              <a:t> 解决方案：</a:t>
            </a:r>
          </a:p>
        </p:txBody>
      </p:sp>
      <p:sp>
        <p:nvSpPr>
          <p:cNvPr id="29" name="文本框 28"/>
          <p:cNvSpPr txBox="1"/>
          <p:nvPr/>
        </p:nvSpPr>
        <p:spPr>
          <a:xfrm>
            <a:off x="902230" y="4910757"/>
            <a:ext cx="2932454" cy="712567"/>
          </a:xfrm>
          <a:prstGeom prst="rect">
            <a:avLst/>
          </a:prstGeom>
          <a:noFill/>
        </p:spPr>
        <p:txBody>
          <a:bodyPr wrap="square" rtlCol="0">
            <a:spAutoFit/>
          </a:bodyPr>
          <a:lstStyle/>
          <a:p>
            <a:pPr marL="257175" indent="-257175" algn="just">
              <a:lnSpc>
                <a:spcPct val="120000"/>
              </a:lnSpc>
              <a:spcBef>
                <a:spcPts val="225"/>
              </a:spcBef>
              <a:spcAft>
                <a:spcPts val="225"/>
              </a:spcAft>
              <a:buClr>
                <a:srgbClr val="FF0000"/>
              </a:buClr>
              <a:buFont typeface="Wingdings" panose="05000000000000000000" pitchFamily="2" charset="2"/>
              <a:buChar char="p"/>
            </a:pPr>
            <a:r>
              <a:rPr lang="zh-CN" altLang="en-US" sz="1650" dirty="0">
                <a:latin typeface="+mn-ea"/>
              </a:rPr>
              <a:t>记录型信号量；</a:t>
            </a:r>
          </a:p>
          <a:p>
            <a:pPr marL="257175" indent="-257175" algn="just">
              <a:lnSpc>
                <a:spcPct val="120000"/>
              </a:lnSpc>
              <a:spcBef>
                <a:spcPts val="225"/>
              </a:spcBef>
              <a:spcAft>
                <a:spcPts val="225"/>
              </a:spcAft>
              <a:buClr>
                <a:srgbClr val="FF0000"/>
              </a:buClr>
              <a:buFont typeface="Wingdings" panose="05000000000000000000" pitchFamily="2" charset="2"/>
              <a:buChar char="p"/>
            </a:pPr>
            <a:r>
              <a:rPr lang="en-US" altLang="zh-CN" sz="1650" dirty="0">
                <a:latin typeface="+mn-ea"/>
              </a:rPr>
              <a:t>AND</a:t>
            </a:r>
            <a:r>
              <a:rPr lang="zh-CN" altLang="en-US" sz="1650" dirty="0">
                <a:latin typeface="+mn-ea"/>
              </a:rPr>
              <a:t>信号量集、管程。</a:t>
            </a:r>
          </a:p>
        </p:txBody>
      </p:sp>
      <p:pic>
        <p:nvPicPr>
          <p:cNvPr id="32" name="Picture 5"/>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9184" t="752" r="9151" b="710"/>
          <a:stretch>
            <a:fillRect/>
          </a:stretch>
        </p:blipFill>
        <p:spPr bwMode="auto">
          <a:xfrm>
            <a:off x="5351214" y="2073157"/>
            <a:ext cx="3399980" cy="328190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594097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利用记录型信号量解决</a:t>
            </a:r>
          </a:p>
        </p:txBody>
      </p:sp>
      <p:sp>
        <p:nvSpPr>
          <p:cNvPr id="32" name="Rectangle 7"/>
          <p:cNvSpPr txBox="1">
            <a:spLocks noChangeArrowheads="1"/>
          </p:cNvSpPr>
          <p:nvPr/>
        </p:nvSpPr>
        <p:spPr>
          <a:xfrm>
            <a:off x="502444" y="1631156"/>
            <a:ext cx="7434739" cy="4581525"/>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450"/>
              </a:spcBef>
              <a:buNone/>
            </a:pPr>
            <a:r>
              <a:rPr lang="en-US" altLang="zh-CN" dirty="0"/>
              <a:t>Semaphore chopstick[5] = {1,1,1,1,1};</a:t>
            </a:r>
          </a:p>
          <a:p>
            <a:pPr marL="0" indent="0">
              <a:spcBef>
                <a:spcPts val="450"/>
              </a:spcBef>
              <a:buNone/>
            </a:pPr>
            <a:r>
              <a:rPr lang="en-US" altLang="zh-CN" dirty="0"/>
              <a:t>Philosopher i:</a:t>
            </a:r>
          </a:p>
          <a:p>
            <a:pPr marL="0" indent="0">
              <a:spcBef>
                <a:spcPts val="450"/>
              </a:spcBef>
              <a:buNone/>
            </a:pPr>
            <a:r>
              <a:rPr lang="en-US" altLang="zh-CN" dirty="0"/>
              <a:t>	do {</a:t>
            </a:r>
          </a:p>
          <a:p>
            <a:pPr marL="0" indent="0">
              <a:spcBef>
                <a:spcPts val="450"/>
              </a:spcBef>
              <a:buNone/>
            </a:pPr>
            <a:r>
              <a:rPr lang="en-US" altLang="zh-CN" dirty="0"/>
              <a:t>	        wait(</a:t>
            </a:r>
            <a:r>
              <a:rPr lang="en-US" altLang="zh-CN" dirty="0" err="1"/>
              <a:t>chopStick</a:t>
            </a:r>
            <a:r>
              <a:rPr lang="en-US" altLang="zh-CN" dirty="0"/>
              <a:t>[</a:t>
            </a:r>
            <a:r>
              <a:rPr lang="en-US" altLang="zh-CN" dirty="0" err="1"/>
              <a:t>i</a:t>
            </a:r>
            <a:r>
              <a:rPr lang="en-US" altLang="zh-CN" dirty="0"/>
              <a:t>]);  // get left chopstick</a:t>
            </a:r>
          </a:p>
          <a:p>
            <a:pPr marL="0" indent="0">
              <a:spcBef>
                <a:spcPts val="450"/>
              </a:spcBef>
              <a:buNone/>
            </a:pPr>
            <a:r>
              <a:rPr lang="en-US" altLang="zh-CN" dirty="0"/>
              <a:t>	        wait(</a:t>
            </a:r>
            <a:r>
              <a:rPr lang="en-US" altLang="zh-CN" dirty="0" err="1"/>
              <a:t>chopStick</a:t>
            </a:r>
            <a:r>
              <a:rPr lang="en-US" altLang="zh-CN" dirty="0"/>
              <a:t>[(</a:t>
            </a:r>
            <a:r>
              <a:rPr lang="en-US" altLang="zh-CN" dirty="0" err="1"/>
              <a:t>i</a:t>
            </a:r>
            <a:r>
              <a:rPr lang="en-US" altLang="zh-CN" dirty="0"/>
              <a:t> + 1) % 5]);   // get right chopstick</a:t>
            </a:r>
          </a:p>
          <a:p>
            <a:pPr marL="0" indent="0">
              <a:spcBef>
                <a:spcPts val="450"/>
              </a:spcBef>
              <a:buNone/>
            </a:pPr>
            <a:r>
              <a:rPr lang="en-US" altLang="zh-CN" dirty="0"/>
              <a:t>	        …		</a:t>
            </a:r>
          </a:p>
          <a:p>
            <a:pPr marL="0" indent="0">
              <a:spcBef>
                <a:spcPts val="450"/>
              </a:spcBef>
              <a:buNone/>
            </a:pPr>
            <a:r>
              <a:rPr lang="en-US" altLang="zh-CN" dirty="0"/>
              <a:t>	       // eat for awhile</a:t>
            </a:r>
          </a:p>
          <a:p>
            <a:pPr marL="0" indent="0">
              <a:spcBef>
                <a:spcPts val="450"/>
              </a:spcBef>
              <a:buNone/>
            </a:pPr>
            <a:r>
              <a:rPr lang="en-US" altLang="zh-CN" dirty="0"/>
              <a:t>	       …				</a:t>
            </a:r>
          </a:p>
          <a:p>
            <a:pPr marL="0" indent="0">
              <a:spcBef>
                <a:spcPts val="450"/>
              </a:spcBef>
              <a:buNone/>
            </a:pPr>
            <a:r>
              <a:rPr lang="en-US" altLang="zh-CN" dirty="0"/>
              <a:t>	       signal(</a:t>
            </a:r>
            <a:r>
              <a:rPr lang="en-US" altLang="zh-CN" dirty="0" err="1"/>
              <a:t>chopStick</a:t>
            </a:r>
            <a:r>
              <a:rPr lang="en-US" altLang="zh-CN" dirty="0"/>
              <a:t>[</a:t>
            </a:r>
            <a:r>
              <a:rPr lang="en-US" altLang="zh-CN" dirty="0" err="1"/>
              <a:t>i</a:t>
            </a:r>
            <a:r>
              <a:rPr lang="en-US" altLang="zh-CN" dirty="0"/>
              <a:t>]); //return left chopstick</a:t>
            </a:r>
          </a:p>
          <a:p>
            <a:pPr marL="0" indent="0">
              <a:spcBef>
                <a:spcPts val="450"/>
              </a:spcBef>
              <a:buNone/>
            </a:pPr>
            <a:r>
              <a:rPr lang="en-US" altLang="zh-CN" dirty="0"/>
              <a:t>	       signal(</a:t>
            </a:r>
            <a:r>
              <a:rPr lang="en-US" altLang="zh-CN" dirty="0" err="1"/>
              <a:t>chopStick</a:t>
            </a:r>
            <a:r>
              <a:rPr lang="en-US" altLang="zh-CN" dirty="0"/>
              <a:t>[(</a:t>
            </a:r>
            <a:r>
              <a:rPr lang="en-US" altLang="zh-CN" dirty="0" err="1"/>
              <a:t>i</a:t>
            </a:r>
            <a:r>
              <a:rPr lang="en-US" altLang="zh-CN" dirty="0"/>
              <a:t> + 1) % 5]); // return right chopstick</a:t>
            </a:r>
          </a:p>
          <a:p>
            <a:pPr marL="0" indent="0">
              <a:spcBef>
                <a:spcPts val="450"/>
              </a:spcBef>
              <a:buNone/>
            </a:pPr>
            <a:r>
              <a:rPr lang="en-US" altLang="zh-CN" dirty="0"/>
              <a:t>	       …</a:t>
            </a:r>
          </a:p>
          <a:p>
            <a:pPr marL="0" indent="0">
              <a:spcBef>
                <a:spcPts val="450"/>
              </a:spcBef>
              <a:buNone/>
            </a:pPr>
            <a:r>
              <a:rPr lang="en-US" altLang="zh-CN" dirty="0"/>
              <a:t>	       // think for awhile</a:t>
            </a:r>
          </a:p>
          <a:p>
            <a:pPr marL="0" indent="0">
              <a:spcBef>
                <a:spcPts val="450"/>
              </a:spcBef>
              <a:buNone/>
            </a:pPr>
            <a:r>
              <a:rPr lang="en-US" altLang="zh-CN" dirty="0"/>
              <a:t>	       …</a:t>
            </a:r>
          </a:p>
          <a:p>
            <a:pPr marL="0" indent="0">
              <a:spcBef>
                <a:spcPts val="450"/>
              </a:spcBef>
              <a:buNone/>
            </a:pPr>
            <a:r>
              <a:rPr lang="en-US" altLang="zh-CN" dirty="0"/>
              <a:t>	} while (true)  </a:t>
            </a:r>
            <a:r>
              <a:rPr lang="en-US" altLang="zh-CN" dirty="0">
                <a:solidFill>
                  <a:srgbClr val="FF0000"/>
                </a:solidFill>
              </a:rPr>
              <a:t>  </a:t>
            </a:r>
            <a:r>
              <a:rPr lang="zh-CN" altLang="en-US" dirty="0">
                <a:solidFill>
                  <a:srgbClr val="FF0000"/>
                </a:solidFill>
              </a:rPr>
              <a:t>可能死锁</a:t>
            </a:r>
            <a:r>
              <a:rPr lang="zh-CN" altLang="en-US" dirty="0"/>
              <a:t>。</a:t>
            </a:r>
            <a:endParaRPr lang="en-US" altLang="zh-CN" dirty="0"/>
          </a:p>
          <a:p>
            <a:pPr marL="0" indent="0">
              <a:spcBef>
                <a:spcPts val="450"/>
              </a:spcBef>
              <a:buNone/>
            </a:pPr>
            <a:endParaRPr lang="en-US" altLang="zh-CN" dirty="0"/>
          </a:p>
        </p:txBody>
      </p:sp>
      <p:grpSp>
        <p:nvGrpSpPr>
          <p:cNvPr id="18" name="组合 1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nvGrpSpPr>
        <p:grpSpPr>
          <a:xfrm>
            <a:off x="7551037" y="4228296"/>
            <a:ext cx="1202155" cy="1312388"/>
            <a:chOff x="3897313" y="1028700"/>
            <a:chExt cx="4397375" cy="4800601"/>
          </a:xfrm>
        </p:grpSpPr>
        <p:sp>
          <p:nvSpPr>
            <p:cNvPr id="19" name="ïṡḻîḑê"/>
            <p:cNvSpPr/>
            <p:nvPr/>
          </p:nvSpPr>
          <p:spPr bwMode="auto">
            <a:xfrm>
              <a:off x="5067301" y="5183188"/>
              <a:ext cx="2163763" cy="646113"/>
            </a:xfrm>
            <a:prstGeom prst="ellipse">
              <a:avLst/>
            </a:prstGeom>
            <a:solidFill>
              <a:srgbClr val="34DCE7">
                <a:alpha val="10000"/>
              </a:srgbClr>
            </a:solidFill>
            <a:ln>
              <a:noFill/>
            </a:ln>
          </p:spPr>
          <p:txBody>
            <a:bodyPr anchor="ctr"/>
            <a:lstStyle/>
            <a:p>
              <a:pPr algn="ctr"/>
              <a:endParaRPr sz="1800"/>
            </a:p>
          </p:txBody>
        </p:sp>
        <p:sp>
          <p:nvSpPr>
            <p:cNvPr id="21" name="iṩ1idé"/>
            <p:cNvSpPr/>
            <p:nvPr/>
          </p:nvSpPr>
          <p:spPr bwMode="auto">
            <a:xfrm>
              <a:off x="5356226" y="5184775"/>
              <a:ext cx="1584325" cy="473075"/>
            </a:xfrm>
            <a:prstGeom prst="ellipse">
              <a:avLst/>
            </a:prstGeom>
            <a:solidFill>
              <a:srgbClr val="34DCE7">
                <a:alpha val="10000"/>
              </a:srgbClr>
            </a:solidFill>
            <a:ln>
              <a:noFill/>
            </a:ln>
          </p:spPr>
          <p:txBody>
            <a:bodyPr anchor="ctr"/>
            <a:lstStyle/>
            <a:p>
              <a:pPr algn="ctr"/>
              <a:endParaRPr sz="1800"/>
            </a:p>
          </p:txBody>
        </p:sp>
        <p:sp>
          <p:nvSpPr>
            <p:cNvPr id="22" name="îṩlïḋé"/>
            <p:cNvSpPr/>
            <p:nvPr/>
          </p:nvSpPr>
          <p:spPr bwMode="auto">
            <a:xfrm>
              <a:off x="5554663" y="5227638"/>
              <a:ext cx="1187450" cy="355600"/>
            </a:xfrm>
            <a:custGeom>
              <a:avLst/>
              <a:gdLst>
                <a:gd name="T0" fmla="*/ 197 w 394"/>
                <a:gd name="T1" fmla="*/ 59 h 118"/>
                <a:gd name="T2" fmla="*/ 391 w 394"/>
                <a:gd name="T3" fmla="*/ 67 h 118"/>
                <a:gd name="T4" fmla="*/ 197 w 394"/>
                <a:gd name="T5" fmla="*/ 118 h 118"/>
                <a:gd name="T6" fmla="*/ 0 w 394"/>
                <a:gd name="T7" fmla="*/ 59 h 118"/>
                <a:gd name="T8" fmla="*/ 197 w 394"/>
                <a:gd name="T9" fmla="*/ 0 h 118"/>
                <a:gd name="T10" fmla="*/ 394 w 394"/>
                <a:gd name="T11" fmla="*/ 59 h 118"/>
                <a:gd name="T12" fmla="*/ 197 w 394"/>
                <a:gd name="T13" fmla="*/ 59 h 118"/>
              </a:gdLst>
              <a:ahLst/>
              <a:cxnLst>
                <a:cxn ang="0">
                  <a:pos x="T0" y="T1"/>
                </a:cxn>
                <a:cxn ang="0">
                  <a:pos x="T2" y="T3"/>
                </a:cxn>
                <a:cxn ang="0">
                  <a:pos x="T4" y="T5"/>
                </a:cxn>
                <a:cxn ang="0">
                  <a:pos x="T6" y="T7"/>
                </a:cxn>
                <a:cxn ang="0">
                  <a:pos x="T8" y="T9"/>
                </a:cxn>
                <a:cxn ang="0">
                  <a:pos x="T10" y="T11"/>
                </a:cxn>
                <a:cxn ang="0">
                  <a:pos x="T12" y="T13"/>
                </a:cxn>
              </a:cxnLst>
              <a:rect l="0" t="0" r="r" b="b"/>
              <a:pathLst>
                <a:path w="394" h="118">
                  <a:moveTo>
                    <a:pt x="197" y="59"/>
                  </a:moveTo>
                  <a:cubicBezTo>
                    <a:pt x="391" y="67"/>
                    <a:pt x="391" y="67"/>
                    <a:pt x="391" y="67"/>
                  </a:cubicBezTo>
                  <a:cubicBezTo>
                    <a:pt x="377" y="96"/>
                    <a:pt x="294" y="118"/>
                    <a:pt x="197" y="118"/>
                  </a:cubicBezTo>
                  <a:cubicBezTo>
                    <a:pt x="89" y="118"/>
                    <a:pt x="0" y="91"/>
                    <a:pt x="0" y="59"/>
                  </a:cubicBezTo>
                  <a:cubicBezTo>
                    <a:pt x="0" y="26"/>
                    <a:pt x="89" y="0"/>
                    <a:pt x="197" y="0"/>
                  </a:cubicBezTo>
                  <a:cubicBezTo>
                    <a:pt x="305" y="0"/>
                    <a:pt x="394" y="26"/>
                    <a:pt x="394" y="59"/>
                  </a:cubicBezTo>
                  <a:lnTo>
                    <a:pt x="197" y="59"/>
                  </a:lnTo>
                  <a:close/>
                </a:path>
              </a:pathLst>
            </a:custGeom>
            <a:solidFill>
              <a:srgbClr val="34DCE7">
                <a:alpha val="10000"/>
              </a:srgbClr>
            </a:solidFill>
            <a:ln>
              <a:noFill/>
            </a:ln>
          </p:spPr>
          <p:txBody>
            <a:bodyPr anchor="ctr"/>
            <a:lstStyle/>
            <a:p>
              <a:pPr algn="ctr"/>
              <a:endParaRPr sz="1800"/>
            </a:p>
          </p:txBody>
        </p:sp>
        <p:sp>
          <p:nvSpPr>
            <p:cNvPr id="23" name="îslîḍê"/>
            <p:cNvSpPr/>
            <p:nvPr/>
          </p:nvSpPr>
          <p:spPr bwMode="auto">
            <a:xfrm>
              <a:off x="4500563" y="3868738"/>
              <a:ext cx="3194050" cy="68263"/>
            </a:xfrm>
            <a:prstGeom prst="rect">
              <a:avLst/>
            </a:prstGeom>
            <a:solidFill>
              <a:srgbClr val="224DC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4" name="ïSľïďè"/>
            <p:cNvSpPr/>
            <p:nvPr/>
          </p:nvSpPr>
          <p:spPr bwMode="auto">
            <a:xfrm>
              <a:off x="5033963" y="2228850"/>
              <a:ext cx="2173288" cy="1476375"/>
            </a:xfrm>
            <a:custGeom>
              <a:avLst/>
              <a:gdLst>
                <a:gd name="T0" fmla="*/ 700 w 721"/>
                <a:gd name="T1" fmla="*/ 491 h 491"/>
                <a:gd name="T2" fmla="*/ 20 w 721"/>
                <a:gd name="T3" fmla="*/ 491 h 491"/>
                <a:gd name="T4" fmla="*/ 0 w 721"/>
                <a:gd name="T5" fmla="*/ 471 h 491"/>
                <a:gd name="T6" fmla="*/ 0 w 721"/>
                <a:gd name="T7" fmla="*/ 20 h 491"/>
                <a:gd name="T8" fmla="*/ 20 w 721"/>
                <a:gd name="T9" fmla="*/ 0 h 491"/>
                <a:gd name="T10" fmla="*/ 700 w 721"/>
                <a:gd name="T11" fmla="*/ 0 h 491"/>
                <a:gd name="T12" fmla="*/ 721 w 721"/>
                <a:gd name="T13" fmla="*/ 20 h 491"/>
                <a:gd name="T14" fmla="*/ 721 w 721"/>
                <a:gd name="T15" fmla="*/ 471 h 491"/>
                <a:gd name="T16" fmla="*/ 700 w 721"/>
                <a:gd name="T17" fmla="*/ 491 h 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1" h="491">
                  <a:moveTo>
                    <a:pt x="700" y="491"/>
                  </a:moveTo>
                  <a:cubicBezTo>
                    <a:pt x="20" y="491"/>
                    <a:pt x="20" y="491"/>
                    <a:pt x="20" y="491"/>
                  </a:cubicBezTo>
                  <a:cubicBezTo>
                    <a:pt x="9" y="491"/>
                    <a:pt x="0" y="482"/>
                    <a:pt x="0" y="471"/>
                  </a:cubicBezTo>
                  <a:cubicBezTo>
                    <a:pt x="0" y="20"/>
                    <a:pt x="0" y="20"/>
                    <a:pt x="0" y="20"/>
                  </a:cubicBezTo>
                  <a:cubicBezTo>
                    <a:pt x="0" y="9"/>
                    <a:pt x="9" y="0"/>
                    <a:pt x="20" y="0"/>
                  </a:cubicBezTo>
                  <a:cubicBezTo>
                    <a:pt x="700" y="0"/>
                    <a:pt x="700" y="0"/>
                    <a:pt x="700" y="0"/>
                  </a:cubicBezTo>
                  <a:cubicBezTo>
                    <a:pt x="712" y="0"/>
                    <a:pt x="721" y="9"/>
                    <a:pt x="721" y="20"/>
                  </a:cubicBezTo>
                  <a:cubicBezTo>
                    <a:pt x="721" y="471"/>
                    <a:pt x="721" y="471"/>
                    <a:pt x="721" y="471"/>
                  </a:cubicBezTo>
                  <a:cubicBezTo>
                    <a:pt x="721" y="482"/>
                    <a:pt x="712" y="491"/>
                    <a:pt x="700" y="491"/>
                  </a:cubicBezTo>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5" name="î$lîďé"/>
            <p:cNvSpPr/>
            <p:nvPr/>
          </p:nvSpPr>
          <p:spPr bwMode="auto">
            <a:xfrm>
              <a:off x="5033963" y="2228850"/>
              <a:ext cx="2173288" cy="1327150"/>
            </a:xfrm>
            <a:custGeom>
              <a:avLst/>
              <a:gdLst>
                <a:gd name="T0" fmla="*/ 700 w 721"/>
                <a:gd name="T1" fmla="*/ 0 h 441"/>
                <a:gd name="T2" fmla="*/ 20 w 721"/>
                <a:gd name="T3" fmla="*/ 0 h 441"/>
                <a:gd name="T4" fmla="*/ 0 w 721"/>
                <a:gd name="T5" fmla="*/ 20 h 441"/>
                <a:gd name="T6" fmla="*/ 0 w 721"/>
                <a:gd name="T7" fmla="*/ 441 h 441"/>
                <a:gd name="T8" fmla="*/ 721 w 721"/>
                <a:gd name="T9" fmla="*/ 441 h 441"/>
                <a:gd name="T10" fmla="*/ 721 w 721"/>
                <a:gd name="T11" fmla="*/ 20 h 441"/>
                <a:gd name="T12" fmla="*/ 700 w 721"/>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721" h="441">
                  <a:moveTo>
                    <a:pt x="700" y="0"/>
                  </a:moveTo>
                  <a:cubicBezTo>
                    <a:pt x="20" y="0"/>
                    <a:pt x="20" y="0"/>
                    <a:pt x="20" y="0"/>
                  </a:cubicBezTo>
                  <a:cubicBezTo>
                    <a:pt x="9" y="0"/>
                    <a:pt x="0" y="9"/>
                    <a:pt x="0" y="20"/>
                  </a:cubicBezTo>
                  <a:cubicBezTo>
                    <a:pt x="0" y="441"/>
                    <a:pt x="0" y="441"/>
                    <a:pt x="0" y="441"/>
                  </a:cubicBezTo>
                  <a:cubicBezTo>
                    <a:pt x="721" y="441"/>
                    <a:pt x="721" y="441"/>
                    <a:pt x="721" y="441"/>
                  </a:cubicBezTo>
                  <a:cubicBezTo>
                    <a:pt x="721" y="20"/>
                    <a:pt x="721" y="20"/>
                    <a:pt x="721" y="20"/>
                  </a:cubicBezTo>
                  <a:cubicBezTo>
                    <a:pt x="721" y="9"/>
                    <a:pt x="712" y="0"/>
                    <a:pt x="700" y="0"/>
                  </a:cubicBezTo>
                </a:path>
              </a:pathLst>
            </a:custGeom>
            <a:solidFill>
              <a:srgbClr val="226FC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6" name="ïṥḷiḍè"/>
            <p:cNvSpPr/>
            <p:nvPr/>
          </p:nvSpPr>
          <p:spPr bwMode="auto">
            <a:xfrm>
              <a:off x="5033963" y="2228850"/>
              <a:ext cx="2173288" cy="63500"/>
            </a:xfrm>
            <a:custGeom>
              <a:avLst/>
              <a:gdLst>
                <a:gd name="T0" fmla="*/ 700 w 721"/>
                <a:gd name="T1" fmla="*/ 0 h 21"/>
                <a:gd name="T2" fmla="*/ 20 w 721"/>
                <a:gd name="T3" fmla="*/ 0 h 21"/>
                <a:gd name="T4" fmla="*/ 0 w 721"/>
                <a:gd name="T5" fmla="*/ 20 h 21"/>
                <a:gd name="T6" fmla="*/ 0 w 721"/>
                <a:gd name="T7" fmla="*/ 21 h 21"/>
                <a:gd name="T8" fmla="*/ 20 w 721"/>
                <a:gd name="T9" fmla="*/ 1 h 21"/>
                <a:gd name="T10" fmla="*/ 700 w 721"/>
                <a:gd name="T11" fmla="*/ 1 h 21"/>
                <a:gd name="T12" fmla="*/ 721 w 721"/>
                <a:gd name="T13" fmla="*/ 21 h 21"/>
                <a:gd name="T14" fmla="*/ 721 w 721"/>
                <a:gd name="T15" fmla="*/ 20 h 21"/>
                <a:gd name="T16" fmla="*/ 700 w 721"/>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1" h="21">
                  <a:moveTo>
                    <a:pt x="700" y="0"/>
                  </a:moveTo>
                  <a:cubicBezTo>
                    <a:pt x="20" y="0"/>
                    <a:pt x="20" y="0"/>
                    <a:pt x="20" y="0"/>
                  </a:cubicBezTo>
                  <a:cubicBezTo>
                    <a:pt x="9" y="0"/>
                    <a:pt x="0" y="9"/>
                    <a:pt x="0" y="20"/>
                  </a:cubicBezTo>
                  <a:cubicBezTo>
                    <a:pt x="0" y="21"/>
                    <a:pt x="0" y="21"/>
                    <a:pt x="0" y="21"/>
                  </a:cubicBezTo>
                  <a:cubicBezTo>
                    <a:pt x="0" y="10"/>
                    <a:pt x="9" y="1"/>
                    <a:pt x="20" y="1"/>
                  </a:cubicBezTo>
                  <a:cubicBezTo>
                    <a:pt x="700" y="1"/>
                    <a:pt x="700" y="1"/>
                    <a:pt x="700" y="1"/>
                  </a:cubicBezTo>
                  <a:cubicBezTo>
                    <a:pt x="712" y="1"/>
                    <a:pt x="721" y="10"/>
                    <a:pt x="721" y="21"/>
                  </a:cubicBezTo>
                  <a:cubicBezTo>
                    <a:pt x="721" y="20"/>
                    <a:pt x="721" y="20"/>
                    <a:pt x="721" y="20"/>
                  </a:cubicBezTo>
                  <a:cubicBezTo>
                    <a:pt x="721" y="9"/>
                    <a:pt x="712" y="0"/>
                    <a:pt x="700" y="0"/>
                  </a:cubicBezTo>
                </a:path>
              </a:pathLst>
            </a:custGeom>
            <a:solidFill>
              <a:srgbClr val="479EE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7" name="ïṡľïḋê"/>
            <p:cNvSpPr/>
            <p:nvPr/>
          </p:nvSpPr>
          <p:spPr bwMode="auto">
            <a:xfrm>
              <a:off x="5118101" y="2322513"/>
              <a:ext cx="2003425" cy="1181100"/>
            </a:xfrm>
            <a:prstGeom prst="rect">
              <a:avLst/>
            </a:prstGeom>
            <a:solidFill>
              <a:srgbClr val="15081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8" name="iṧliďé"/>
            <p:cNvSpPr/>
            <p:nvPr/>
          </p:nvSpPr>
          <p:spPr bwMode="auto">
            <a:xfrm>
              <a:off x="5118101" y="2322513"/>
              <a:ext cx="20034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9" name="îśḻiďé"/>
            <p:cNvSpPr/>
            <p:nvPr/>
          </p:nvSpPr>
          <p:spPr bwMode="auto">
            <a:xfrm>
              <a:off x="5380038" y="2471738"/>
              <a:ext cx="1160463" cy="26988"/>
            </a:xfrm>
            <a:custGeom>
              <a:avLst/>
              <a:gdLst>
                <a:gd name="T0" fmla="*/ 381 w 385"/>
                <a:gd name="T1" fmla="*/ 9 h 9"/>
                <a:gd name="T2" fmla="*/ 4 w 385"/>
                <a:gd name="T3" fmla="*/ 9 h 9"/>
                <a:gd name="T4" fmla="*/ 0 w 385"/>
                <a:gd name="T5" fmla="*/ 4 h 9"/>
                <a:gd name="T6" fmla="*/ 4 w 385"/>
                <a:gd name="T7" fmla="*/ 0 h 9"/>
                <a:gd name="T8" fmla="*/ 381 w 385"/>
                <a:gd name="T9" fmla="*/ 0 h 9"/>
                <a:gd name="T10" fmla="*/ 385 w 385"/>
                <a:gd name="T11" fmla="*/ 4 h 9"/>
                <a:gd name="T12" fmla="*/ 381 w 385"/>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385" h="9">
                  <a:moveTo>
                    <a:pt x="381" y="9"/>
                  </a:moveTo>
                  <a:cubicBezTo>
                    <a:pt x="4" y="9"/>
                    <a:pt x="4" y="9"/>
                    <a:pt x="4" y="9"/>
                  </a:cubicBezTo>
                  <a:cubicBezTo>
                    <a:pt x="2" y="9"/>
                    <a:pt x="0" y="7"/>
                    <a:pt x="0" y="4"/>
                  </a:cubicBezTo>
                  <a:cubicBezTo>
                    <a:pt x="0" y="2"/>
                    <a:pt x="2" y="0"/>
                    <a:pt x="4" y="0"/>
                  </a:cubicBezTo>
                  <a:cubicBezTo>
                    <a:pt x="381" y="0"/>
                    <a:pt x="381" y="0"/>
                    <a:pt x="381" y="0"/>
                  </a:cubicBezTo>
                  <a:cubicBezTo>
                    <a:pt x="383" y="0"/>
                    <a:pt x="385" y="2"/>
                    <a:pt x="385" y="4"/>
                  </a:cubicBezTo>
                  <a:cubicBezTo>
                    <a:pt x="385" y="7"/>
                    <a:pt x="383" y="9"/>
                    <a:pt x="381" y="9"/>
                  </a:cubicBezTo>
                </a:path>
              </a:pathLst>
            </a:custGeom>
            <a:solidFill>
              <a:srgbClr val="80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0" name="íśļîḍê"/>
            <p:cNvSpPr/>
            <p:nvPr/>
          </p:nvSpPr>
          <p:spPr bwMode="auto">
            <a:xfrm>
              <a:off x="5184776" y="2379663"/>
              <a:ext cx="755650" cy="34925"/>
            </a:xfrm>
            <a:custGeom>
              <a:avLst/>
              <a:gdLst>
                <a:gd name="T0" fmla="*/ 245 w 251"/>
                <a:gd name="T1" fmla="*/ 12 h 12"/>
                <a:gd name="T2" fmla="*/ 6 w 251"/>
                <a:gd name="T3" fmla="*/ 12 h 12"/>
                <a:gd name="T4" fmla="*/ 0 w 251"/>
                <a:gd name="T5" fmla="*/ 6 h 12"/>
                <a:gd name="T6" fmla="*/ 6 w 251"/>
                <a:gd name="T7" fmla="*/ 0 h 12"/>
                <a:gd name="T8" fmla="*/ 245 w 251"/>
                <a:gd name="T9" fmla="*/ 0 h 12"/>
                <a:gd name="T10" fmla="*/ 251 w 251"/>
                <a:gd name="T11" fmla="*/ 6 h 12"/>
                <a:gd name="T12" fmla="*/ 245 w 25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51" h="12">
                  <a:moveTo>
                    <a:pt x="245" y="12"/>
                  </a:moveTo>
                  <a:cubicBezTo>
                    <a:pt x="6" y="12"/>
                    <a:pt x="6" y="12"/>
                    <a:pt x="6" y="12"/>
                  </a:cubicBezTo>
                  <a:cubicBezTo>
                    <a:pt x="2" y="12"/>
                    <a:pt x="0" y="9"/>
                    <a:pt x="0" y="6"/>
                  </a:cubicBezTo>
                  <a:cubicBezTo>
                    <a:pt x="0" y="2"/>
                    <a:pt x="2" y="0"/>
                    <a:pt x="6" y="0"/>
                  </a:cubicBezTo>
                  <a:cubicBezTo>
                    <a:pt x="245" y="0"/>
                    <a:pt x="245" y="0"/>
                    <a:pt x="245" y="0"/>
                  </a:cubicBezTo>
                  <a:cubicBezTo>
                    <a:pt x="248" y="0"/>
                    <a:pt x="251" y="2"/>
                    <a:pt x="251" y="6"/>
                  </a:cubicBezTo>
                  <a:cubicBezTo>
                    <a:pt x="251" y="9"/>
                    <a:pt x="248" y="12"/>
                    <a:pt x="245" y="12"/>
                  </a:cubicBezTo>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1" name="işļîďê"/>
            <p:cNvSpPr/>
            <p:nvPr/>
          </p:nvSpPr>
          <p:spPr bwMode="auto">
            <a:xfrm>
              <a:off x="5184776" y="2471738"/>
              <a:ext cx="98425" cy="26988"/>
            </a:xfrm>
            <a:custGeom>
              <a:avLst/>
              <a:gdLst>
                <a:gd name="T0" fmla="*/ 28 w 33"/>
                <a:gd name="T1" fmla="*/ 9 h 9"/>
                <a:gd name="T2" fmla="*/ 4 w 33"/>
                <a:gd name="T3" fmla="*/ 9 h 9"/>
                <a:gd name="T4" fmla="*/ 0 w 33"/>
                <a:gd name="T5" fmla="*/ 4 h 9"/>
                <a:gd name="T6" fmla="*/ 4 w 33"/>
                <a:gd name="T7" fmla="*/ 0 h 9"/>
                <a:gd name="T8" fmla="*/ 28 w 33"/>
                <a:gd name="T9" fmla="*/ 0 h 9"/>
                <a:gd name="T10" fmla="*/ 33 w 33"/>
                <a:gd name="T11" fmla="*/ 4 h 9"/>
                <a:gd name="T12" fmla="*/ 28 w 33"/>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33" h="9">
                  <a:moveTo>
                    <a:pt x="28" y="9"/>
                  </a:moveTo>
                  <a:cubicBezTo>
                    <a:pt x="4" y="9"/>
                    <a:pt x="4" y="9"/>
                    <a:pt x="4" y="9"/>
                  </a:cubicBezTo>
                  <a:cubicBezTo>
                    <a:pt x="2" y="9"/>
                    <a:pt x="0" y="7"/>
                    <a:pt x="0" y="4"/>
                  </a:cubicBezTo>
                  <a:cubicBezTo>
                    <a:pt x="0" y="2"/>
                    <a:pt x="2" y="0"/>
                    <a:pt x="4" y="0"/>
                  </a:cubicBezTo>
                  <a:cubicBezTo>
                    <a:pt x="28" y="0"/>
                    <a:pt x="28" y="0"/>
                    <a:pt x="28" y="0"/>
                  </a:cubicBezTo>
                  <a:cubicBezTo>
                    <a:pt x="31" y="0"/>
                    <a:pt x="33" y="2"/>
                    <a:pt x="33" y="4"/>
                  </a:cubicBezTo>
                  <a:cubicBezTo>
                    <a:pt x="33" y="7"/>
                    <a:pt x="31" y="9"/>
                    <a:pt x="28" y="9"/>
                  </a:cubicBezTo>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3" name="ïṥļïḓe"/>
            <p:cNvSpPr/>
            <p:nvPr/>
          </p:nvSpPr>
          <p:spPr bwMode="auto">
            <a:xfrm>
              <a:off x="5192713" y="2559050"/>
              <a:ext cx="603250" cy="19050"/>
            </a:xfrm>
            <a:custGeom>
              <a:avLst/>
              <a:gdLst>
                <a:gd name="T0" fmla="*/ 197 w 200"/>
                <a:gd name="T1" fmla="*/ 6 h 6"/>
                <a:gd name="T2" fmla="*/ 3 w 200"/>
                <a:gd name="T3" fmla="*/ 6 h 6"/>
                <a:gd name="T4" fmla="*/ 0 w 200"/>
                <a:gd name="T5" fmla="*/ 3 h 6"/>
                <a:gd name="T6" fmla="*/ 3 w 200"/>
                <a:gd name="T7" fmla="*/ 0 h 6"/>
                <a:gd name="T8" fmla="*/ 197 w 200"/>
                <a:gd name="T9" fmla="*/ 0 h 6"/>
                <a:gd name="T10" fmla="*/ 200 w 200"/>
                <a:gd name="T11" fmla="*/ 3 h 6"/>
                <a:gd name="T12" fmla="*/ 197 w 2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00" h="6">
                  <a:moveTo>
                    <a:pt x="197" y="6"/>
                  </a:moveTo>
                  <a:cubicBezTo>
                    <a:pt x="3" y="6"/>
                    <a:pt x="3" y="6"/>
                    <a:pt x="3" y="6"/>
                  </a:cubicBezTo>
                  <a:cubicBezTo>
                    <a:pt x="2" y="6"/>
                    <a:pt x="0" y="4"/>
                    <a:pt x="0" y="3"/>
                  </a:cubicBezTo>
                  <a:cubicBezTo>
                    <a:pt x="0" y="1"/>
                    <a:pt x="2" y="0"/>
                    <a:pt x="3" y="0"/>
                  </a:cubicBezTo>
                  <a:cubicBezTo>
                    <a:pt x="197" y="0"/>
                    <a:pt x="197" y="0"/>
                    <a:pt x="197" y="0"/>
                  </a:cubicBezTo>
                  <a:cubicBezTo>
                    <a:pt x="199" y="0"/>
                    <a:pt x="200" y="1"/>
                    <a:pt x="200" y="3"/>
                  </a:cubicBezTo>
                  <a:cubicBezTo>
                    <a:pt x="200" y="4"/>
                    <a:pt x="199" y="6"/>
                    <a:pt x="197"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4" name="íṧḻîḓe"/>
            <p:cNvSpPr/>
            <p:nvPr/>
          </p:nvSpPr>
          <p:spPr bwMode="auto">
            <a:xfrm>
              <a:off x="5192713" y="2628900"/>
              <a:ext cx="603250" cy="17463"/>
            </a:xfrm>
            <a:custGeom>
              <a:avLst/>
              <a:gdLst>
                <a:gd name="T0" fmla="*/ 197 w 200"/>
                <a:gd name="T1" fmla="*/ 6 h 6"/>
                <a:gd name="T2" fmla="*/ 3 w 200"/>
                <a:gd name="T3" fmla="*/ 6 h 6"/>
                <a:gd name="T4" fmla="*/ 0 w 200"/>
                <a:gd name="T5" fmla="*/ 3 h 6"/>
                <a:gd name="T6" fmla="*/ 3 w 200"/>
                <a:gd name="T7" fmla="*/ 0 h 6"/>
                <a:gd name="T8" fmla="*/ 197 w 200"/>
                <a:gd name="T9" fmla="*/ 0 h 6"/>
                <a:gd name="T10" fmla="*/ 200 w 200"/>
                <a:gd name="T11" fmla="*/ 3 h 6"/>
                <a:gd name="T12" fmla="*/ 197 w 2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00" h="6">
                  <a:moveTo>
                    <a:pt x="197" y="6"/>
                  </a:moveTo>
                  <a:cubicBezTo>
                    <a:pt x="3" y="6"/>
                    <a:pt x="3" y="6"/>
                    <a:pt x="3" y="6"/>
                  </a:cubicBezTo>
                  <a:cubicBezTo>
                    <a:pt x="2" y="6"/>
                    <a:pt x="0" y="5"/>
                    <a:pt x="0" y="3"/>
                  </a:cubicBezTo>
                  <a:cubicBezTo>
                    <a:pt x="0" y="2"/>
                    <a:pt x="2" y="0"/>
                    <a:pt x="3" y="0"/>
                  </a:cubicBezTo>
                  <a:cubicBezTo>
                    <a:pt x="197" y="0"/>
                    <a:pt x="197" y="0"/>
                    <a:pt x="197" y="0"/>
                  </a:cubicBezTo>
                  <a:cubicBezTo>
                    <a:pt x="199" y="0"/>
                    <a:pt x="200" y="2"/>
                    <a:pt x="200" y="3"/>
                  </a:cubicBezTo>
                  <a:cubicBezTo>
                    <a:pt x="200" y="5"/>
                    <a:pt x="199" y="6"/>
                    <a:pt x="197"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5" name="iṣlîdé"/>
            <p:cNvSpPr/>
            <p:nvPr/>
          </p:nvSpPr>
          <p:spPr bwMode="auto">
            <a:xfrm>
              <a:off x="5192713" y="2700338"/>
              <a:ext cx="603250" cy="19050"/>
            </a:xfrm>
            <a:custGeom>
              <a:avLst/>
              <a:gdLst>
                <a:gd name="T0" fmla="*/ 197 w 200"/>
                <a:gd name="T1" fmla="*/ 6 h 6"/>
                <a:gd name="T2" fmla="*/ 3 w 200"/>
                <a:gd name="T3" fmla="*/ 6 h 6"/>
                <a:gd name="T4" fmla="*/ 0 w 200"/>
                <a:gd name="T5" fmla="*/ 3 h 6"/>
                <a:gd name="T6" fmla="*/ 3 w 200"/>
                <a:gd name="T7" fmla="*/ 0 h 6"/>
                <a:gd name="T8" fmla="*/ 197 w 200"/>
                <a:gd name="T9" fmla="*/ 0 h 6"/>
                <a:gd name="T10" fmla="*/ 200 w 200"/>
                <a:gd name="T11" fmla="*/ 3 h 6"/>
                <a:gd name="T12" fmla="*/ 197 w 2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00" h="6">
                  <a:moveTo>
                    <a:pt x="197" y="6"/>
                  </a:moveTo>
                  <a:cubicBezTo>
                    <a:pt x="3" y="6"/>
                    <a:pt x="3" y="6"/>
                    <a:pt x="3" y="6"/>
                  </a:cubicBezTo>
                  <a:cubicBezTo>
                    <a:pt x="2" y="6"/>
                    <a:pt x="0" y="4"/>
                    <a:pt x="0" y="3"/>
                  </a:cubicBezTo>
                  <a:cubicBezTo>
                    <a:pt x="0" y="1"/>
                    <a:pt x="2" y="0"/>
                    <a:pt x="3" y="0"/>
                  </a:cubicBezTo>
                  <a:cubicBezTo>
                    <a:pt x="197" y="0"/>
                    <a:pt x="197" y="0"/>
                    <a:pt x="197" y="0"/>
                  </a:cubicBezTo>
                  <a:cubicBezTo>
                    <a:pt x="199" y="0"/>
                    <a:pt x="200" y="1"/>
                    <a:pt x="200" y="3"/>
                  </a:cubicBezTo>
                  <a:cubicBezTo>
                    <a:pt x="200" y="4"/>
                    <a:pt x="199" y="6"/>
                    <a:pt x="197"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6" name="îšļiḓe"/>
            <p:cNvSpPr/>
            <p:nvPr/>
          </p:nvSpPr>
          <p:spPr bwMode="auto">
            <a:xfrm>
              <a:off x="5192713" y="2770188"/>
              <a:ext cx="603250" cy="17463"/>
            </a:xfrm>
            <a:custGeom>
              <a:avLst/>
              <a:gdLst>
                <a:gd name="T0" fmla="*/ 197 w 200"/>
                <a:gd name="T1" fmla="*/ 6 h 6"/>
                <a:gd name="T2" fmla="*/ 3 w 200"/>
                <a:gd name="T3" fmla="*/ 6 h 6"/>
                <a:gd name="T4" fmla="*/ 0 w 200"/>
                <a:gd name="T5" fmla="*/ 3 h 6"/>
                <a:gd name="T6" fmla="*/ 3 w 200"/>
                <a:gd name="T7" fmla="*/ 0 h 6"/>
                <a:gd name="T8" fmla="*/ 197 w 200"/>
                <a:gd name="T9" fmla="*/ 0 h 6"/>
                <a:gd name="T10" fmla="*/ 200 w 200"/>
                <a:gd name="T11" fmla="*/ 3 h 6"/>
                <a:gd name="T12" fmla="*/ 197 w 2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00" h="6">
                  <a:moveTo>
                    <a:pt x="197" y="6"/>
                  </a:moveTo>
                  <a:cubicBezTo>
                    <a:pt x="3" y="6"/>
                    <a:pt x="3" y="6"/>
                    <a:pt x="3" y="6"/>
                  </a:cubicBezTo>
                  <a:cubicBezTo>
                    <a:pt x="2" y="6"/>
                    <a:pt x="0" y="5"/>
                    <a:pt x="0" y="3"/>
                  </a:cubicBezTo>
                  <a:cubicBezTo>
                    <a:pt x="0" y="2"/>
                    <a:pt x="2" y="0"/>
                    <a:pt x="3" y="0"/>
                  </a:cubicBezTo>
                  <a:cubicBezTo>
                    <a:pt x="197" y="0"/>
                    <a:pt x="197" y="0"/>
                    <a:pt x="197" y="0"/>
                  </a:cubicBezTo>
                  <a:cubicBezTo>
                    <a:pt x="199" y="0"/>
                    <a:pt x="200" y="2"/>
                    <a:pt x="200" y="3"/>
                  </a:cubicBezTo>
                  <a:cubicBezTo>
                    <a:pt x="200" y="5"/>
                    <a:pt x="199" y="6"/>
                    <a:pt x="197"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7" name="ïSḻîḓè"/>
            <p:cNvSpPr/>
            <p:nvPr/>
          </p:nvSpPr>
          <p:spPr bwMode="auto">
            <a:xfrm>
              <a:off x="5192713" y="2841625"/>
              <a:ext cx="109538" cy="19050"/>
            </a:xfrm>
            <a:custGeom>
              <a:avLst/>
              <a:gdLst>
                <a:gd name="T0" fmla="*/ 33 w 36"/>
                <a:gd name="T1" fmla="*/ 6 h 6"/>
                <a:gd name="T2" fmla="*/ 3 w 36"/>
                <a:gd name="T3" fmla="*/ 6 h 6"/>
                <a:gd name="T4" fmla="*/ 0 w 36"/>
                <a:gd name="T5" fmla="*/ 3 h 6"/>
                <a:gd name="T6" fmla="*/ 3 w 36"/>
                <a:gd name="T7" fmla="*/ 0 h 6"/>
                <a:gd name="T8" fmla="*/ 33 w 36"/>
                <a:gd name="T9" fmla="*/ 0 h 6"/>
                <a:gd name="T10" fmla="*/ 36 w 36"/>
                <a:gd name="T11" fmla="*/ 3 h 6"/>
                <a:gd name="T12" fmla="*/ 33 w 36"/>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6" h="6">
                  <a:moveTo>
                    <a:pt x="33" y="6"/>
                  </a:moveTo>
                  <a:cubicBezTo>
                    <a:pt x="3" y="6"/>
                    <a:pt x="3" y="6"/>
                    <a:pt x="3" y="6"/>
                  </a:cubicBezTo>
                  <a:cubicBezTo>
                    <a:pt x="2" y="6"/>
                    <a:pt x="0" y="4"/>
                    <a:pt x="0" y="3"/>
                  </a:cubicBezTo>
                  <a:cubicBezTo>
                    <a:pt x="0" y="1"/>
                    <a:pt x="2" y="0"/>
                    <a:pt x="3" y="0"/>
                  </a:cubicBezTo>
                  <a:cubicBezTo>
                    <a:pt x="33" y="0"/>
                    <a:pt x="33" y="0"/>
                    <a:pt x="33" y="0"/>
                  </a:cubicBezTo>
                  <a:cubicBezTo>
                    <a:pt x="34" y="0"/>
                    <a:pt x="36" y="1"/>
                    <a:pt x="36" y="3"/>
                  </a:cubicBezTo>
                  <a:cubicBezTo>
                    <a:pt x="36" y="4"/>
                    <a:pt x="34" y="6"/>
                    <a:pt x="33"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8" name="iṩḷídè"/>
            <p:cNvSpPr/>
            <p:nvPr/>
          </p:nvSpPr>
          <p:spPr bwMode="auto">
            <a:xfrm>
              <a:off x="5349876" y="2841625"/>
              <a:ext cx="104775" cy="19050"/>
            </a:xfrm>
            <a:custGeom>
              <a:avLst/>
              <a:gdLst>
                <a:gd name="T0" fmla="*/ 32 w 35"/>
                <a:gd name="T1" fmla="*/ 6 h 6"/>
                <a:gd name="T2" fmla="*/ 3 w 35"/>
                <a:gd name="T3" fmla="*/ 6 h 6"/>
                <a:gd name="T4" fmla="*/ 0 w 35"/>
                <a:gd name="T5" fmla="*/ 3 h 6"/>
                <a:gd name="T6" fmla="*/ 3 w 35"/>
                <a:gd name="T7" fmla="*/ 0 h 6"/>
                <a:gd name="T8" fmla="*/ 32 w 35"/>
                <a:gd name="T9" fmla="*/ 0 h 6"/>
                <a:gd name="T10" fmla="*/ 35 w 35"/>
                <a:gd name="T11" fmla="*/ 3 h 6"/>
                <a:gd name="T12" fmla="*/ 32 w 35"/>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5" h="6">
                  <a:moveTo>
                    <a:pt x="32" y="6"/>
                  </a:moveTo>
                  <a:cubicBezTo>
                    <a:pt x="3" y="6"/>
                    <a:pt x="3" y="6"/>
                    <a:pt x="3" y="6"/>
                  </a:cubicBezTo>
                  <a:cubicBezTo>
                    <a:pt x="1" y="6"/>
                    <a:pt x="0" y="4"/>
                    <a:pt x="0" y="3"/>
                  </a:cubicBezTo>
                  <a:cubicBezTo>
                    <a:pt x="0" y="1"/>
                    <a:pt x="1" y="0"/>
                    <a:pt x="3" y="0"/>
                  </a:cubicBezTo>
                  <a:cubicBezTo>
                    <a:pt x="32" y="0"/>
                    <a:pt x="32" y="0"/>
                    <a:pt x="32" y="0"/>
                  </a:cubicBezTo>
                  <a:cubicBezTo>
                    <a:pt x="34" y="0"/>
                    <a:pt x="35" y="1"/>
                    <a:pt x="35" y="3"/>
                  </a:cubicBezTo>
                  <a:cubicBezTo>
                    <a:pt x="35" y="4"/>
                    <a:pt x="34" y="6"/>
                    <a:pt x="32"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9" name="iṧļïḓe"/>
            <p:cNvSpPr/>
            <p:nvPr/>
          </p:nvSpPr>
          <p:spPr bwMode="auto">
            <a:xfrm>
              <a:off x="5507038" y="2841625"/>
              <a:ext cx="104775" cy="19050"/>
            </a:xfrm>
            <a:custGeom>
              <a:avLst/>
              <a:gdLst>
                <a:gd name="T0" fmla="*/ 32 w 35"/>
                <a:gd name="T1" fmla="*/ 6 h 6"/>
                <a:gd name="T2" fmla="*/ 2 w 35"/>
                <a:gd name="T3" fmla="*/ 6 h 6"/>
                <a:gd name="T4" fmla="*/ 0 w 35"/>
                <a:gd name="T5" fmla="*/ 3 h 6"/>
                <a:gd name="T6" fmla="*/ 2 w 35"/>
                <a:gd name="T7" fmla="*/ 0 h 6"/>
                <a:gd name="T8" fmla="*/ 32 w 35"/>
                <a:gd name="T9" fmla="*/ 0 h 6"/>
                <a:gd name="T10" fmla="*/ 35 w 35"/>
                <a:gd name="T11" fmla="*/ 3 h 6"/>
                <a:gd name="T12" fmla="*/ 32 w 35"/>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5" h="6">
                  <a:moveTo>
                    <a:pt x="32" y="6"/>
                  </a:moveTo>
                  <a:cubicBezTo>
                    <a:pt x="2" y="6"/>
                    <a:pt x="2" y="6"/>
                    <a:pt x="2" y="6"/>
                  </a:cubicBezTo>
                  <a:cubicBezTo>
                    <a:pt x="1" y="6"/>
                    <a:pt x="0" y="4"/>
                    <a:pt x="0" y="3"/>
                  </a:cubicBezTo>
                  <a:cubicBezTo>
                    <a:pt x="0" y="1"/>
                    <a:pt x="1" y="0"/>
                    <a:pt x="2" y="0"/>
                  </a:cubicBezTo>
                  <a:cubicBezTo>
                    <a:pt x="32" y="0"/>
                    <a:pt x="32" y="0"/>
                    <a:pt x="32" y="0"/>
                  </a:cubicBezTo>
                  <a:cubicBezTo>
                    <a:pt x="34" y="0"/>
                    <a:pt x="35" y="1"/>
                    <a:pt x="35" y="3"/>
                  </a:cubicBezTo>
                  <a:cubicBezTo>
                    <a:pt x="35" y="4"/>
                    <a:pt x="34" y="6"/>
                    <a:pt x="32"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0" name="îŝļíḑê"/>
            <p:cNvSpPr/>
            <p:nvPr/>
          </p:nvSpPr>
          <p:spPr bwMode="auto">
            <a:xfrm>
              <a:off x="5661026" y="2841625"/>
              <a:ext cx="104775" cy="19050"/>
            </a:xfrm>
            <a:custGeom>
              <a:avLst/>
              <a:gdLst>
                <a:gd name="T0" fmla="*/ 33 w 35"/>
                <a:gd name="T1" fmla="*/ 6 h 6"/>
                <a:gd name="T2" fmla="*/ 3 w 35"/>
                <a:gd name="T3" fmla="*/ 6 h 6"/>
                <a:gd name="T4" fmla="*/ 0 w 35"/>
                <a:gd name="T5" fmla="*/ 3 h 6"/>
                <a:gd name="T6" fmla="*/ 3 w 35"/>
                <a:gd name="T7" fmla="*/ 0 h 6"/>
                <a:gd name="T8" fmla="*/ 33 w 35"/>
                <a:gd name="T9" fmla="*/ 0 h 6"/>
                <a:gd name="T10" fmla="*/ 35 w 35"/>
                <a:gd name="T11" fmla="*/ 3 h 6"/>
                <a:gd name="T12" fmla="*/ 33 w 35"/>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5" h="6">
                  <a:moveTo>
                    <a:pt x="33" y="6"/>
                  </a:moveTo>
                  <a:cubicBezTo>
                    <a:pt x="3" y="6"/>
                    <a:pt x="3" y="6"/>
                    <a:pt x="3" y="6"/>
                  </a:cubicBezTo>
                  <a:cubicBezTo>
                    <a:pt x="1" y="6"/>
                    <a:pt x="0" y="4"/>
                    <a:pt x="0" y="3"/>
                  </a:cubicBezTo>
                  <a:cubicBezTo>
                    <a:pt x="0" y="1"/>
                    <a:pt x="1" y="0"/>
                    <a:pt x="3" y="0"/>
                  </a:cubicBezTo>
                  <a:cubicBezTo>
                    <a:pt x="33" y="0"/>
                    <a:pt x="33" y="0"/>
                    <a:pt x="33" y="0"/>
                  </a:cubicBezTo>
                  <a:cubicBezTo>
                    <a:pt x="34" y="0"/>
                    <a:pt x="35" y="1"/>
                    <a:pt x="35" y="3"/>
                  </a:cubicBezTo>
                  <a:cubicBezTo>
                    <a:pt x="35" y="4"/>
                    <a:pt x="34" y="6"/>
                    <a:pt x="33" y="6"/>
                  </a:cubicBezTo>
                  <a:close/>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1" name="îŝḻïďe"/>
            <p:cNvSpPr/>
            <p:nvPr/>
          </p:nvSpPr>
          <p:spPr bwMode="auto">
            <a:xfrm>
              <a:off x="5816601" y="2841625"/>
              <a:ext cx="106363" cy="19050"/>
            </a:xfrm>
            <a:custGeom>
              <a:avLst/>
              <a:gdLst>
                <a:gd name="T0" fmla="*/ 32 w 35"/>
                <a:gd name="T1" fmla="*/ 6 h 6"/>
                <a:gd name="T2" fmla="*/ 3 w 35"/>
                <a:gd name="T3" fmla="*/ 6 h 6"/>
                <a:gd name="T4" fmla="*/ 0 w 35"/>
                <a:gd name="T5" fmla="*/ 3 h 6"/>
                <a:gd name="T6" fmla="*/ 3 w 35"/>
                <a:gd name="T7" fmla="*/ 0 h 6"/>
                <a:gd name="T8" fmla="*/ 32 w 35"/>
                <a:gd name="T9" fmla="*/ 0 h 6"/>
                <a:gd name="T10" fmla="*/ 35 w 35"/>
                <a:gd name="T11" fmla="*/ 3 h 6"/>
                <a:gd name="T12" fmla="*/ 32 w 35"/>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5" h="6">
                  <a:moveTo>
                    <a:pt x="32" y="6"/>
                  </a:moveTo>
                  <a:cubicBezTo>
                    <a:pt x="3" y="6"/>
                    <a:pt x="3" y="6"/>
                    <a:pt x="3" y="6"/>
                  </a:cubicBezTo>
                  <a:cubicBezTo>
                    <a:pt x="1" y="6"/>
                    <a:pt x="0" y="4"/>
                    <a:pt x="0" y="3"/>
                  </a:cubicBezTo>
                  <a:cubicBezTo>
                    <a:pt x="0" y="1"/>
                    <a:pt x="1" y="0"/>
                    <a:pt x="3" y="0"/>
                  </a:cubicBezTo>
                  <a:cubicBezTo>
                    <a:pt x="32" y="0"/>
                    <a:pt x="32" y="0"/>
                    <a:pt x="32" y="0"/>
                  </a:cubicBezTo>
                  <a:cubicBezTo>
                    <a:pt x="34" y="0"/>
                    <a:pt x="35" y="1"/>
                    <a:pt x="35" y="3"/>
                  </a:cubicBezTo>
                  <a:cubicBezTo>
                    <a:pt x="35" y="4"/>
                    <a:pt x="34" y="6"/>
                    <a:pt x="32" y="6"/>
                  </a:cubicBezTo>
                  <a:close/>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2" name="iṧḷîdé"/>
            <p:cNvSpPr/>
            <p:nvPr/>
          </p:nvSpPr>
          <p:spPr bwMode="auto">
            <a:xfrm>
              <a:off x="5970588" y="2841625"/>
              <a:ext cx="107950" cy="19050"/>
            </a:xfrm>
            <a:custGeom>
              <a:avLst/>
              <a:gdLst>
                <a:gd name="T0" fmla="*/ 33 w 36"/>
                <a:gd name="T1" fmla="*/ 6 h 6"/>
                <a:gd name="T2" fmla="*/ 3 w 36"/>
                <a:gd name="T3" fmla="*/ 6 h 6"/>
                <a:gd name="T4" fmla="*/ 0 w 36"/>
                <a:gd name="T5" fmla="*/ 3 h 6"/>
                <a:gd name="T6" fmla="*/ 3 w 36"/>
                <a:gd name="T7" fmla="*/ 0 h 6"/>
                <a:gd name="T8" fmla="*/ 33 w 36"/>
                <a:gd name="T9" fmla="*/ 0 h 6"/>
                <a:gd name="T10" fmla="*/ 36 w 36"/>
                <a:gd name="T11" fmla="*/ 3 h 6"/>
                <a:gd name="T12" fmla="*/ 33 w 36"/>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6" h="6">
                  <a:moveTo>
                    <a:pt x="33" y="6"/>
                  </a:moveTo>
                  <a:cubicBezTo>
                    <a:pt x="3" y="6"/>
                    <a:pt x="3" y="6"/>
                    <a:pt x="3" y="6"/>
                  </a:cubicBezTo>
                  <a:cubicBezTo>
                    <a:pt x="2" y="6"/>
                    <a:pt x="0" y="4"/>
                    <a:pt x="0" y="3"/>
                  </a:cubicBezTo>
                  <a:cubicBezTo>
                    <a:pt x="0" y="1"/>
                    <a:pt x="2" y="0"/>
                    <a:pt x="3" y="0"/>
                  </a:cubicBezTo>
                  <a:cubicBezTo>
                    <a:pt x="33" y="0"/>
                    <a:pt x="33" y="0"/>
                    <a:pt x="33" y="0"/>
                  </a:cubicBezTo>
                  <a:cubicBezTo>
                    <a:pt x="34" y="0"/>
                    <a:pt x="36" y="1"/>
                    <a:pt x="36" y="3"/>
                  </a:cubicBezTo>
                  <a:cubicBezTo>
                    <a:pt x="36" y="4"/>
                    <a:pt x="34" y="6"/>
                    <a:pt x="33"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3" name="iŝ1îḍè"/>
            <p:cNvSpPr/>
            <p:nvPr/>
          </p:nvSpPr>
          <p:spPr bwMode="auto">
            <a:xfrm>
              <a:off x="5192713" y="2914650"/>
              <a:ext cx="603250" cy="14288"/>
            </a:xfrm>
            <a:custGeom>
              <a:avLst/>
              <a:gdLst>
                <a:gd name="T0" fmla="*/ 197 w 200"/>
                <a:gd name="T1" fmla="*/ 5 h 5"/>
                <a:gd name="T2" fmla="*/ 3 w 200"/>
                <a:gd name="T3" fmla="*/ 5 h 5"/>
                <a:gd name="T4" fmla="*/ 0 w 200"/>
                <a:gd name="T5" fmla="*/ 2 h 5"/>
                <a:gd name="T6" fmla="*/ 3 w 200"/>
                <a:gd name="T7" fmla="*/ 0 h 5"/>
                <a:gd name="T8" fmla="*/ 197 w 200"/>
                <a:gd name="T9" fmla="*/ 0 h 5"/>
                <a:gd name="T10" fmla="*/ 200 w 200"/>
                <a:gd name="T11" fmla="*/ 2 h 5"/>
                <a:gd name="T12" fmla="*/ 197 w 20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200" h="5">
                  <a:moveTo>
                    <a:pt x="197" y="5"/>
                  </a:moveTo>
                  <a:cubicBezTo>
                    <a:pt x="3" y="5"/>
                    <a:pt x="3" y="5"/>
                    <a:pt x="3" y="5"/>
                  </a:cubicBezTo>
                  <a:cubicBezTo>
                    <a:pt x="2" y="5"/>
                    <a:pt x="0" y="4"/>
                    <a:pt x="0" y="2"/>
                  </a:cubicBezTo>
                  <a:cubicBezTo>
                    <a:pt x="0" y="1"/>
                    <a:pt x="2" y="0"/>
                    <a:pt x="3" y="0"/>
                  </a:cubicBezTo>
                  <a:cubicBezTo>
                    <a:pt x="197" y="0"/>
                    <a:pt x="197" y="0"/>
                    <a:pt x="197" y="0"/>
                  </a:cubicBezTo>
                  <a:cubicBezTo>
                    <a:pt x="199" y="0"/>
                    <a:pt x="200" y="1"/>
                    <a:pt x="200" y="2"/>
                  </a:cubicBezTo>
                  <a:cubicBezTo>
                    <a:pt x="200" y="4"/>
                    <a:pt x="199" y="5"/>
                    <a:pt x="197" y="5"/>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4" name="íŝľïḍe"/>
            <p:cNvSpPr/>
            <p:nvPr/>
          </p:nvSpPr>
          <p:spPr bwMode="auto">
            <a:xfrm>
              <a:off x="6259513" y="2670175"/>
              <a:ext cx="739775" cy="25400"/>
            </a:xfrm>
            <a:custGeom>
              <a:avLst/>
              <a:gdLst>
                <a:gd name="T0" fmla="*/ 241 w 245"/>
                <a:gd name="T1" fmla="*/ 8 h 8"/>
                <a:gd name="T2" fmla="*/ 4 w 245"/>
                <a:gd name="T3" fmla="*/ 8 h 8"/>
                <a:gd name="T4" fmla="*/ 0 w 245"/>
                <a:gd name="T5" fmla="*/ 4 h 8"/>
                <a:gd name="T6" fmla="*/ 4 w 245"/>
                <a:gd name="T7" fmla="*/ 0 h 8"/>
                <a:gd name="T8" fmla="*/ 241 w 245"/>
                <a:gd name="T9" fmla="*/ 0 h 8"/>
                <a:gd name="T10" fmla="*/ 245 w 245"/>
                <a:gd name="T11" fmla="*/ 4 h 8"/>
                <a:gd name="T12" fmla="*/ 241 w 24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245" h="8">
                  <a:moveTo>
                    <a:pt x="241" y="8"/>
                  </a:moveTo>
                  <a:cubicBezTo>
                    <a:pt x="4" y="8"/>
                    <a:pt x="4" y="8"/>
                    <a:pt x="4" y="8"/>
                  </a:cubicBezTo>
                  <a:cubicBezTo>
                    <a:pt x="1" y="8"/>
                    <a:pt x="0" y="6"/>
                    <a:pt x="0" y="4"/>
                  </a:cubicBezTo>
                  <a:cubicBezTo>
                    <a:pt x="0" y="2"/>
                    <a:pt x="1" y="0"/>
                    <a:pt x="4" y="0"/>
                  </a:cubicBezTo>
                  <a:cubicBezTo>
                    <a:pt x="241" y="0"/>
                    <a:pt x="241" y="0"/>
                    <a:pt x="241" y="0"/>
                  </a:cubicBezTo>
                  <a:cubicBezTo>
                    <a:pt x="243" y="0"/>
                    <a:pt x="245" y="2"/>
                    <a:pt x="245" y="4"/>
                  </a:cubicBezTo>
                  <a:cubicBezTo>
                    <a:pt x="245" y="6"/>
                    <a:pt x="243" y="8"/>
                    <a:pt x="241" y="8"/>
                  </a:cubicBezTo>
                </a:path>
              </a:pathLst>
            </a:custGeom>
            <a:solidFill>
              <a:srgbClr val="FF55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5" name="išlîḑe"/>
            <p:cNvSpPr/>
            <p:nvPr/>
          </p:nvSpPr>
          <p:spPr bwMode="auto">
            <a:xfrm>
              <a:off x="6259513" y="2776538"/>
              <a:ext cx="739775" cy="23813"/>
            </a:xfrm>
            <a:custGeom>
              <a:avLst/>
              <a:gdLst>
                <a:gd name="T0" fmla="*/ 241 w 245"/>
                <a:gd name="T1" fmla="*/ 8 h 8"/>
                <a:gd name="T2" fmla="*/ 4 w 245"/>
                <a:gd name="T3" fmla="*/ 8 h 8"/>
                <a:gd name="T4" fmla="*/ 0 w 245"/>
                <a:gd name="T5" fmla="*/ 4 h 8"/>
                <a:gd name="T6" fmla="*/ 4 w 245"/>
                <a:gd name="T7" fmla="*/ 0 h 8"/>
                <a:gd name="T8" fmla="*/ 241 w 245"/>
                <a:gd name="T9" fmla="*/ 0 h 8"/>
                <a:gd name="T10" fmla="*/ 245 w 245"/>
                <a:gd name="T11" fmla="*/ 4 h 8"/>
                <a:gd name="T12" fmla="*/ 241 w 24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245" h="8">
                  <a:moveTo>
                    <a:pt x="241" y="8"/>
                  </a:moveTo>
                  <a:cubicBezTo>
                    <a:pt x="4" y="8"/>
                    <a:pt x="4" y="8"/>
                    <a:pt x="4" y="8"/>
                  </a:cubicBezTo>
                  <a:cubicBezTo>
                    <a:pt x="1" y="8"/>
                    <a:pt x="0" y="6"/>
                    <a:pt x="0" y="4"/>
                  </a:cubicBezTo>
                  <a:cubicBezTo>
                    <a:pt x="0" y="2"/>
                    <a:pt x="1" y="0"/>
                    <a:pt x="4" y="0"/>
                  </a:cubicBezTo>
                  <a:cubicBezTo>
                    <a:pt x="241" y="0"/>
                    <a:pt x="241" y="0"/>
                    <a:pt x="241" y="0"/>
                  </a:cubicBezTo>
                  <a:cubicBezTo>
                    <a:pt x="243" y="0"/>
                    <a:pt x="245" y="2"/>
                    <a:pt x="245" y="4"/>
                  </a:cubicBezTo>
                  <a:cubicBezTo>
                    <a:pt x="245" y="6"/>
                    <a:pt x="243" y="8"/>
                    <a:pt x="24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6" name="îṡľïde"/>
            <p:cNvSpPr/>
            <p:nvPr/>
          </p:nvSpPr>
          <p:spPr bwMode="auto">
            <a:xfrm>
              <a:off x="6259513" y="2874963"/>
              <a:ext cx="739775" cy="23813"/>
            </a:xfrm>
            <a:custGeom>
              <a:avLst/>
              <a:gdLst>
                <a:gd name="T0" fmla="*/ 241 w 245"/>
                <a:gd name="T1" fmla="*/ 8 h 8"/>
                <a:gd name="T2" fmla="*/ 4 w 245"/>
                <a:gd name="T3" fmla="*/ 8 h 8"/>
                <a:gd name="T4" fmla="*/ 0 w 245"/>
                <a:gd name="T5" fmla="*/ 4 h 8"/>
                <a:gd name="T6" fmla="*/ 4 w 245"/>
                <a:gd name="T7" fmla="*/ 0 h 8"/>
                <a:gd name="T8" fmla="*/ 241 w 245"/>
                <a:gd name="T9" fmla="*/ 0 h 8"/>
                <a:gd name="T10" fmla="*/ 245 w 245"/>
                <a:gd name="T11" fmla="*/ 4 h 8"/>
                <a:gd name="T12" fmla="*/ 241 w 24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245" h="8">
                  <a:moveTo>
                    <a:pt x="241" y="8"/>
                  </a:moveTo>
                  <a:cubicBezTo>
                    <a:pt x="4" y="8"/>
                    <a:pt x="4" y="8"/>
                    <a:pt x="4" y="8"/>
                  </a:cubicBezTo>
                  <a:cubicBezTo>
                    <a:pt x="1" y="8"/>
                    <a:pt x="0" y="6"/>
                    <a:pt x="0" y="4"/>
                  </a:cubicBezTo>
                  <a:cubicBezTo>
                    <a:pt x="0" y="2"/>
                    <a:pt x="1" y="0"/>
                    <a:pt x="4" y="0"/>
                  </a:cubicBezTo>
                  <a:cubicBezTo>
                    <a:pt x="241" y="0"/>
                    <a:pt x="241" y="0"/>
                    <a:pt x="241" y="0"/>
                  </a:cubicBezTo>
                  <a:cubicBezTo>
                    <a:pt x="243" y="0"/>
                    <a:pt x="245" y="2"/>
                    <a:pt x="245" y="4"/>
                  </a:cubicBezTo>
                  <a:cubicBezTo>
                    <a:pt x="245" y="6"/>
                    <a:pt x="243" y="8"/>
                    <a:pt x="24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7" name="í$ļîḋè"/>
            <p:cNvSpPr/>
            <p:nvPr/>
          </p:nvSpPr>
          <p:spPr bwMode="auto">
            <a:xfrm>
              <a:off x="6259513" y="2974975"/>
              <a:ext cx="739775" cy="23813"/>
            </a:xfrm>
            <a:custGeom>
              <a:avLst/>
              <a:gdLst>
                <a:gd name="T0" fmla="*/ 241 w 245"/>
                <a:gd name="T1" fmla="*/ 8 h 8"/>
                <a:gd name="T2" fmla="*/ 4 w 245"/>
                <a:gd name="T3" fmla="*/ 8 h 8"/>
                <a:gd name="T4" fmla="*/ 0 w 245"/>
                <a:gd name="T5" fmla="*/ 4 h 8"/>
                <a:gd name="T6" fmla="*/ 4 w 245"/>
                <a:gd name="T7" fmla="*/ 0 h 8"/>
                <a:gd name="T8" fmla="*/ 241 w 245"/>
                <a:gd name="T9" fmla="*/ 0 h 8"/>
                <a:gd name="T10" fmla="*/ 245 w 245"/>
                <a:gd name="T11" fmla="*/ 4 h 8"/>
                <a:gd name="T12" fmla="*/ 241 w 24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245" h="8">
                  <a:moveTo>
                    <a:pt x="241" y="8"/>
                  </a:moveTo>
                  <a:cubicBezTo>
                    <a:pt x="4" y="8"/>
                    <a:pt x="4" y="8"/>
                    <a:pt x="4" y="8"/>
                  </a:cubicBezTo>
                  <a:cubicBezTo>
                    <a:pt x="1" y="8"/>
                    <a:pt x="0" y="6"/>
                    <a:pt x="0" y="4"/>
                  </a:cubicBezTo>
                  <a:cubicBezTo>
                    <a:pt x="0" y="2"/>
                    <a:pt x="1" y="0"/>
                    <a:pt x="4" y="0"/>
                  </a:cubicBezTo>
                  <a:cubicBezTo>
                    <a:pt x="241" y="0"/>
                    <a:pt x="241" y="0"/>
                    <a:pt x="241" y="0"/>
                  </a:cubicBezTo>
                  <a:cubicBezTo>
                    <a:pt x="243" y="0"/>
                    <a:pt x="245" y="2"/>
                    <a:pt x="245" y="4"/>
                  </a:cubicBezTo>
                  <a:cubicBezTo>
                    <a:pt x="245" y="6"/>
                    <a:pt x="243" y="8"/>
                    <a:pt x="24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8" name="îṥḷïḓe"/>
            <p:cNvSpPr/>
            <p:nvPr/>
          </p:nvSpPr>
          <p:spPr bwMode="auto">
            <a:xfrm>
              <a:off x="6259513" y="3073400"/>
              <a:ext cx="739775" cy="25400"/>
            </a:xfrm>
            <a:custGeom>
              <a:avLst/>
              <a:gdLst>
                <a:gd name="T0" fmla="*/ 241 w 245"/>
                <a:gd name="T1" fmla="*/ 8 h 8"/>
                <a:gd name="T2" fmla="*/ 4 w 245"/>
                <a:gd name="T3" fmla="*/ 8 h 8"/>
                <a:gd name="T4" fmla="*/ 0 w 245"/>
                <a:gd name="T5" fmla="*/ 4 h 8"/>
                <a:gd name="T6" fmla="*/ 4 w 245"/>
                <a:gd name="T7" fmla="*/ 0 h 8"/>
                <a:gd name="T8" fmla="*/ 241 w 245"/>
                <a:gd name="T9" fmla="*/ 0 h 8"/>
                <a:gd name="T10" fmla="*/ 245 w 245"/>
                <a:gd name="T11" fmla="*/ 4 h 8"/>
                <a:gd name="T12" fmla="*/ 241 w 24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245" h="8">
                  <a:moveTo>
                    <a:pt x="241" y="8"/>
                  </a:moveTo>
                  <a:cubicBezTo>
                    <a:pt x="4" y="8"/>
                    <a:pt x="4" y="8"/>
                    <a:pt x="4" y="8"/>
                  </a:cubicBezTo>
                  <a:cubicBezTo>
                    <a:pt x="1" y="8"/>
                    <a:pt x="0" y="6"/>
                    <a:pt x="0" y="4"/>
                  </a:cubicBezTo>
                  <a:cubicBezTo>
                    <a:pt x="0" y="2"/>
                    <a:pt x="1" y="0"/>
                    <a:pt x="4" y="0"/>
                  </a:cubicBezTo>
                  <a:cubicBezTo>
                    <a:pt x="241" y="0"/>
                    <a:pt x="241" y="0"/>
                    <a:pt x="241" y="0"/>
                  </a:cubicBezTo>
                  <a:cubicBezTo>
                    <a:pt x="243" y="0"/>
                    <a:pt x="245" y="2"/>
                    <a:pt x="245" y="4"/>
                  </a:cubicBezTo>
                  <a:cubicBezTo>
                    <a:pt x="245" y="6"/>
                    <a:pt x="243" y="8"/>
                    <a:pt x="24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9" name="islidê"/>
            <p:cNvSpPr/>
            <p:nvPr/>
          </p:nvSpPr>
          <p:spPr bwMode="auto">
            <a:xfrm>
              <a:off x="6259513" y="3173413"/>
              <a:ext cx="392113" cy="23813"/>
            </a:xfrm>
            <a:custGeom>
              <a:avLst/>
              <a:gdLst>
                <a:gd name="T0" fmla="*/ 126 w 130"/>
                <a:gd name="T1" fmla="*/ 8 h 8"/>
                <a:gd name="T2" fmla="*/ 4 w 130"/>
                <a:gd name="T3" fmla="*/ 8 h 8"/>
                <a:gd name="T4" fmla="*/ 0 w 130"/>
                <a:gd name="T5" fmla="*/ 4 h 8"/>
                <a:gd name="T6" fmla="*/ 4 w 130"/>
                <a:gd name="T7" fmla="*/ 0 h 8"/>
                <a:gd name="T8" fmla="*/ 126 w 130"/>
                <a:gd name="T9" fmla="*/ 0 h 8"/>
                <a:gd name="T10" fmla="*/ 130 w 130"/>
                <a:gd name="T11" fmla="*/ 4 h 8"/>
                <a:gd name="T12" fmla="*/ 126 w 130"/>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30" h="8">
                  <a:moveTo>
                    <a:pt x="126" y="8"/>
                  </a:moveTo>
                  <a:cubicBezTo>
                    <a:pt x="4" y="8"/>
                    <a:pt x="4" y="8"/>
                    <a:pt x="4" y="8"/>
                  </a:cubicBezTo>
                  <a:cubicBezTo>
                    <a:pt x="1" y="8"/>
                    <a:pt x="0" y="6"/>
                    <a:pt x="0" y="4"/>
                  </a:cubicBezTo>
                  <a:cubicBezTo>
                    <a:pt x="0" y="2"/>
                    <a:pt x="1" y="0"/>
                    <a:pt x="4" y="0"/>
                  </a:cubicBezTo>
                  <a:cubicBezTo>
                    <a:pt x="126" y="0"/>
                    <a:pt x="126" y="0"/>
                    <a:pt x="126" y="0"/>
                  </a:cubicBezTo>
                  <a:cubicBezTo>
                    <a:pt x="128" y="0"/>
                    <a:pt x="130" y="2"/>
                    <a:pt x="130" y="4"/>
                  </a:cubicBezTo>
                  <a:cubicBezTo>
                    <a:pt x="130" y="6"/>
                    <a:pt x="128" y="8"/>
                    <a:pt x="126"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0" name="íŝlîďê"/>
            <p:cNvSpPr/>
            <p:nvPr/>
          </p:nvSpPr>
          <p:spPr bwMode="auto">
            <a:xfrm>
              <a:off x="6497638" y="3241675"/>
              <a:ext cx="395288" cy="25400"/>
            </a:xfrm>
            <a:custGeom>
              <a:avLst/>
              <a:gdLst>
                <a:gd name="T0" fmla="*/ 126 w 131"/>
                <a:gd name="T1" fmla="*/ 8 h 8"/>
                <a:gd name="T2" fmla="*/ 4 w 131"/>
                <a:gd name="T3" fmla="*/ 8 h 8"/>
                <a:gd name="T4" fmla="*/ 0 w 131"/>
                <a:gd name="T5" fmla="*/ 4 h 8"/>
                <a:gd name="T6" fmla="*/ 4 w 131"/>
                <a:gd name="T7" fmla="*/ 0 h 8"/>
                <a:gd name="T8" fmla="*/ 126 w 131"/>
                <a:gd name="T9" fmla="*/ 0 h 8"/>
                <a:gd name="T10" fmla="*/ 131 w 131"/>
                <a:gd name="T11" fmla="*/ 4 h 8"/>
                <a:gd name="T12" fmla="*/ 126 w 131"/>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31" h="8">
                  <a:moveTo>
                    <a:pt x="126" y="8"/>
                  </a:moveTo>
                  <a:cubicBezTo>
                    <a:pt x="4" y="8"/>
                    <a:pt x="4" y="8"/>
                    <a:pt x="4" y="8"/>
                  </a:cubicBezTo>
                  <a:cubicBezTo>
                    <a:pt x="2" y="8"/>
                    <a:pt x="0" y="6"/>
                    <a:pt x="0" y="4"/>
                  </a:cubicBezTo>
                  <a:cubicBezTo>
                    <a:pt x="0" y="1"/>
                    <a:pt x="2" y="0"/>
                    <a:pt x="4" y="0"/>
                  </a:cubicBezTo>
                  <a:cubicBezTo>
                    <a:pt x="126" y="0"/>
                    <a:pt x="126" y="0"/>
                    <a:pt x="126" y="0"/>
                  </a:cubicBezTo>
                  <a:cubicBezTo>
                    <a:pt x="129" y="0"/>
                    <a:pt x="131" y="1"/>
                    <a:pt x="131" y="4"/>
                  </a:cubicBezTo>
                  <a:cubicBezTo>
                    <a:pt x="131" y="6"/>
                    <a:pt x="129" y="8"/>
                    <a:pt x="126"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1" name="ïṥlïďé"/>
            <p:cNvSpPr/>
            <p:nvPr/>
          </p:nvSpPr>
          <p:spPr bwMode="auto">
            <a:xfrm>
              <a:off x="6497638" y="3311525"/>
              <a:ext cx="395288" cy="23813"/>
            </a:xfrm>
            <a:custGeom>
              <a:avLst/>
              <a:gdLst>
                <a:gd name="T0" fmla="*/ 126 w 131"/>
                <a:gd name="T1" fmla="*/ 8 h 8"/>
                <a:gd name="T2" fmla="*/ 4 w 131"/>
                <a:gd name="T3" fmla="*/ 8 h 8"/>
                <a:gd name="T4" fmla="*/ 0 w 131"/>
                <a:gd name="T5" fmla="*/ 4 h 8"/>
                <a:gd name="T6" fmla="*/ 4 w 131"/>
                <a:gd name="T7" fmla="*/ 0 h 8"/>
                <a:gd name="T8" fmla="*/ 126 w 131"/>
                <a:gd name="T9" fmla="*/ 0 h 8"/>
                <a:gd name="T10" fmla="*/ 131 w 131"/>
                <a:gd name="T11" fmla="*/ 4 h 8"/>
                <a:gd name="T12" fmla="*/ 126 w 131"/>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31" h="8">
                  <a:moveTo>
                    <a:pt x="126" y="8"/>
                  </a:moveTo>
                  <a:cubicBezTo>
                    <a:pt x="4" y="8"/>
                    <a:pt x="4" y="8"/>
                    <a:pt x="4" y="8"/>
                  </a:cubicBezTo>
                  <a:cubicBezTo>
                    <a:pt x="2" y="8"/>
                    <a:pt x="0" y="6"/>
                    <a:pt x="0" y="4"/>
                  </a:cubicBezTo>
                  <a:cubicBezTo>
                    <a:pt x="0" y="2"/>
                    <a:pt x="2" y="0"/>
                    <a:pt x="4" y="0"/>
                  </a:cubicBezTo>
                  <a:cubicBezTo>
                    <a:pt x="126" y="0"/>
                    <a:pt x="126" y="0"/>
                    <a:pt x="126" y="0"/>
                  </a:cubicBezTo>
                  <a:cubicBezTo>
                    <a:pt x="129" y="0"/>
                    <a:pt x="131" y="2"/>
                    <a:pt x="131" y="4"/>
                  </a:cubicBezTo>
                  <a:cubicBezTo>
                    <a:pt x="131" y="6"/>
                    <a:pt x="129" y="8"/>
                    <a:pt x="126"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2" name="í$ḷiḋè"/>
            <p:cNvSpPr/>
            <p:nvPr/>
          </p:nvSpPr>
          <p:spPr bwMode="auto">
            <a:xfrm>
              <a:off x="5280026" y="3311525"/>
              <a:ext cx="196850" cy="23813"/>
            </a:xfrm>
            <a:custGeom>
              <a:avLst/>
              <a:gdLst>
                <a:gd name="T0" fmla="*/ 61 w 65"/>
                <a:gd name="T1" fmla="*/ 8 h 8"/>
                <a:gd name="T2" fmla="*/ 4 w 65"/>
                <a:gd name="T3" fmla="*/ 8 h 8"/>
                <a:gd name="T4" fmla="*/ 0 w 65"/>
                <a:gd name="T5" fmla="*/ 4 h 8"/>
                <a:gd name="T6" fmla="*/ 4 w 65"/>
                <a:gd name="T7" fmla="*/ 0 h 8"/>
                <a:gd name="T8" fmla="*/ 61 w 65"/>
                <a:gd name="T9" fmla="*/ 0 h 8"/>
                <a:gd name="T10" fmla="*/ 65 w 65"/>
                <a:gd name="T11" fmla="*/ 4 h 8"/>
                <a:gd name="T12" fmla="*/ 61 w 6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65" h="8">
                  <a:moveTo>
                    <a:pt x="61" y="8"/>
                  </a:moveTo>
                  <a:cubicBezTo>
                    <a:pt x="4" y="8"/>
                    <a:pt x="4" y="8"/>
                    <a:pt x="4" y="8"/>
                  </a:cubicBezTo>
                  <a:cubicBezTo>
                    <a:pt x="2" y="8"/>
                    <a:pt x="0" y="6"/>
                    <a:pt x="0" y="4"/>
                  </a:cubicBezTo>
                  <a:cubicBezTo>
                    <a:pt x="0" y="2"/>
                    <a:pt x="2" y="0"/>
                    <a:pt x="4" y="0"/>
                  </a:cubicBezTo>
                  <a:cubicBezTo>
                    <a:pt x="61" y="0"/>
                    <a:pt x="61" y="0"/>
                    <a:pt x="61" y="0"/>
                  </a:cubicBezTo>
                  <a:cubicBezTo>
                    <a:pt x="63" y="0"/>
                    <a:pt x="65" y="2"/>
                    <a:pt x="65" y="4"/>
                  </a:cubicBezTo>
                  <a:cubicBezTo>
                    <a:pt x="65" y="6"/>
                    <a:pt x="63" y="8"/>
                    <a:pt x="6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3" name="îṣľiḍê"/>
            <p:cNvSpPr/>
            <p:nvPr/>
          </p:nvSpPr>
          <p:spPr bwMode="auto">
            <a:xfrm>
              <a:off x="5280026" y="3254375"/>
              <a:ext cx="196850" cy="23813"/>
            </a:xfrm>
            <a:custGeom>
              <a:avLst/>
              <a:gdLst>
                <a:gd name="T0" fmla="*/ 61 w 65"/>
                <a:gd name="T1" fmla="*/ 8 h 8"/>
                <a:gd name="T2" fmla="*/ 4 w 65"/>
                <a:gd name="T3" fmla="*/ 8 h 8"/>
                <a:gd name="T4" fmla="*/ 0 w 65"/>
                <a:gd name="T5" fmla="*/ 4 h 8"/>
                <a:gd name="T6" fmla="*/ 4 w 65"/>
                <a:gd name="T7" fmla="*/ 0 h 8"/>
                <a:gd name="T8" fmla="*/ 61 w 65"/>
                <a:gd name="T9" fmla="*/ 0 h 8"/>
                <a:gd name="T10" fmla="*/ 65 w 65"/>
                <a:gd name="T11" fmla="*/ 4 h 8"/>
                <a:gd name="T12" fmla="*/ 61 w 6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65" h="8">
                  <a:moveTo>
                    <a:pt x="61" y="8"/>
                  </a:moveTo>
                  <a:cubicBezTo>
                    <a:pt x="4" y="8"/>
                    <a:pt x="4" y="8"/>
                    <a:pt x="4" y="8"/>
                  </a:cubicBezTo>
                  <a:cubicBezTo>
                    <a:pt x="2" y="8"/>
                    <a:pt x="0" y="6"/>
                    <a:pt x="0" y="4"/>
                  </a:cubicBezTo>
                  <a:cubicBezTo>
                    <a:pt x="0" y="1"/>
                    <a:pt x="2" y="0"/>
                    <a:pt x="4" y="0"/>
                  </a:cubicBezTo>
                  <a:cubicBezTo>
                    <a:pt x="61" y="0"/>
                    <a:pt x="61" y="0"/>
                    <a:pt x="61" y="0"/>
                  </a:cubicBezTo>
                  <a:cubicBezTo>
                    <a:pt x="63" y="0"/>
                    <a:pt x="65" y="1"/>
                    <a:pt x="65" y="4"/>
                  </a:cubicBezTo>
                  <a:cubicBezTo>
                    <a:pt x="65" y="6"/>
                    <a:pt x="63" y="8"/>
                    <a:pt x="6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4" name="íś1iḑè"/>
            <p:cNvSpPr/>
            <p:nvPr/>
          </p:nvSpPr>
          <p:spPr bwMode="auto">
            <a:xfrm>
              <a:off x="5280026" y="3194050"/>
              <a:ext cx="196850" cy="23813"/>
            </a:xfrm>
            <a:custGeom>
              <a:avLst/>
              <a:gdLst>
                <a:gd name="T0" fmla="*/ 61 w 65"/>
                <a:gd name="T1" fmla="*/ 8 h 8"/>
                <a:gd name="T2" fmla="*/ 4 w 65"/>
                <a:gd name="T3" fmla="*/ 8 h 8"/>
                <a:gd name="T4" fmla="*/ 0 w 65"/>
                <a:gd name="T5" fmla="*/ 4 h 8"/>
                <a:gd name="T6" fmla="*/ 4 w 65"/>
                <a:gd name="T7" fmla="*/ 0 h 8"/>
                <a:gd name="T8" fmla="*/ 61 w 65"/>
                <a:gd name="T9" fmla="*/ 0 h 8"/>
                <a:gd name="T10" fmla="*/ 65 w 65"/>
                <a:gd name="T11" fmla="*/ 4 h 8"/>
                <a:gd name="T12" fmla="*/ 61 w 6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65" h="8">
                  <a:moveTo>
                    <a:pt x="61" y="8"/>
                  </a:moveTo>
                  <a:cubicBezTo>
                    <a:pt x="4" y="8"/>
                    <a:pt x="4" y="8"/>
                    <a:pt x="4" y="8"/>
                  </a:cubicBezTo>
                  <a:cubicBezTo>
                    <a:pt x="2" y="8"/>
                    <a:pt x="0" y="7"/>
                    <a:pt x="0" y="4"/>
                  </a:cubicBezTo>
                  <a:cubicBezTo>
                    <a:pt x="0" y="2"/>
                    <a:pt x="2" y="0"/>
                    <a:pt x="4" y="0"/>
                  </a:cubicBezTo>
                  <a:cubicBezTo>
                    <a:pt x="61" y="0"/>
                    <a:pt x="61" y="0"/>
                    <a:pt x="61" y="0"/>
                  </a:cubicBezTo>
                  <a:cubicBezTo>
                    <a:pt x="63" y="0"/>
                    <a:pt x="65" y="2"/>
                    <a:pt x="65" y="4"/>
                  </a:cubicBezTo>
                  <a:cubicBezTo>
                    <a:pt x="65" y="7"/>
                    <a:pt x="63" y="8"/>
                    <a:pt x="6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5" name="ïṩľíḑè"/>
            <p:cNvSpPr/>
            <p:nvPr/>
          </p:nvSpPr>
          <p:spPr bwMode="auto">
            <a:xfrm>
              <a:off x="5280026" y="3136900"/>
              <a:ext cx="196850" cy="23813"/>
            </a:xfrm>
            <a:custGeom>
              <a:avLst/>
              <a:gdLst>
                <a:gd name="T0" fmla="*/ 61 w 65"/>
                <a:gd name="T1" fmla="*/ 8 h 8"/>
                <a:gd name="T2" fmla="*/ 4 w 65"/>
                <a:gd name="T3" fmla="*/ 8 h 8"/>
                <a:gd name="T4" fmla="*/ 0 w 65"/>
                <a:gd name="T5" fmla="*/ 4 h 8"/>
                <a:gd name="T6" fmla="*/ 4 w 65"/>
                <a:gd name="T7" fmla="*/ 0 h 8"/>
                <a:gd name="T8" fmla="*/ 61 w 65"/>
                <a:gd name="T9" fmla="*/ 0 h 8"/>
                <a:gd name="T10" fmla="*/ 65 w 65"/>
                <a:gd name="T11" fmla="*/ 4 h 8"/>
                <a:gd name="T12" fmla="*/ 61 w 6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65" h="8">
                  <a:moveTo>
                    <a:pt x="61" y="8"/>
                  </a:moveTo>
                  <a:cubicBezTo>
                    <a:pt x="4" y="8"/>
                    <a:pt x="4" y="8"/>
                    <a:pt x="4" y="8"/>
                  </a:cubicBezTo>
                  <a:cubicBezTo>
                    <a:pt x="2" y="8"/>
                    <a:pt x="0" y="6"/>
                    <a:pt x="0" y="4"/>
                  </a:cubicBezTo>
                  <a:cubicBezTo>
                    <a:pt x="0" y="2"/>
                    <a:pt x="2" y="0"/>
                    <a:pt x="4" y="0"/>
                  </a:cubicBezTo>
                  <a:cubicBezTo>
                    <a:pt x="61" y="0"/>
                    <a:pt x="61" y="0"/>
                    <a:pt x="61" y="0"/>
                  </a:cubicBezTo>
                  <a:cubicBezTo>
                    <a:pt x="63" y="0"/>
                    <a:pt x="65" y="2"/>
                    <a:pt x="65" y="4"/>
                  </a:cubicBezTo>
                  <a:cubicBezTo>
                    <a:pt x="65" y="6"/>
                    <a:pt x="63" y="8"/>
                    <a:pt x="6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6" name="ïŝlîḓê"/>
            <p:cNvSpPr/>
            <p:nvPr/>
          </p:nvSpPr>
          <p:spPr bwMode="auto">
            <a:xfrm>
              <a:off x="5564188" y="3136900"/>
              <a:ext cx="74613" cy="23813"/>
            </a:xfrm>
            <a:custGeom>
              <a:avLst/>
              <a:gdLst>
                <a:gd name="T0" fmla="*/ 21 w 25"/>
                <a:gd name="T1" fmla="*/ 8 h 8"/>
                <a:gd name="T2" fmla="*/ 4 w 25"/>
                <a:gd name="T3" fmla="*/ 8 h 8"/>
                <a:gd name="T4" fmla="*/ 0 w 25"/>
                <a:gd name="T5" fmla="*/ 4 h 8"/>
                <a:gd name="T6" fmla="*/ 4 w 25"/>
                <a:gd name="T7" fmla="*/ 0 h 8"/>
                <a:gd name="T8" fmla="*/ 21 w 25"/>
                <a:gd name="T9" fmla="*/ 0 h 8"/>
                <a:gd name="T10" fmla="*/ 25 w 25"/>
                <a:gd name="T11" fmla="*/ 4 h 8"/>
                <a:gd name="T12" fmla="*/ 21 w 2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25" h="8">
                  <a:moveTo>
                    <a:pt x="21" y="8"/>
                  </a:moveTo>
                  <a:cubicBezTo>
                    <a:pt x="4" y="8"/>
                    <a:pt x="4" y="8"/>
                    <a:pt x="4" y="8"/>
                  </a:cubicBezTo>
                  <a:cubicBezTo>
                    <a:pt x="1" y="8"/>
                    <a:pt x="0" y="6"/>
                    <a:pt x="0" y="4"/>
                  </a:cubicBezTo>
                  <a:cubicBezTo>
                    <a:pt x="0" y="2"/>
                    <a:pt x="1" y="0"/>
                    <a:pt x="4" y="0"/>
                  </a:cubicBezTo>
                  <a:cubicBezTo>
                    <a:pt x="21" y="0"/>
                    <a:pt x="21" y="0"/>
                    <a:pt x="21" y="0"/>
                  </a:cubicBezTo>
                  <a:cubicBezTo>
                    <a:pt x="23" y="0"/>
                    <a:pt x="25" y="2"/>
                    <a:pt x="25" y="4"/>
                  </a:cubicBezTo>
                  <a:cubicBezTo>
                    <a:pt x="25" y="6"/>
                    <a:pt x="23" y="8"/>
                    <a:pt x="21" y="8"/>
                  </a:cubicBezTo>
                  <a:close/>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7" name="iṧļiḍé"/>
            <p:cNvSpPr/>
            <p:nvPr/>
          </p:nvSpPr>
          <p:spPr bwMode="auto">
            <a:xfrm>
              <a:off x="5564188" y="3267075"/>
              <a:ext cx="74613" cy="23813"/>
            </a:xfrm>
            <a:custGeom>
              <a:avLst/>
              <a:gdLst>
                <a:gd name="T0" fmla="*/ 21 w 25"/>
                <a:gd name="T1" fmla="*/ 8 h 8"/>
                <a:gd name="T2" fmla="*/ 4 w 25"/>
                <a:gd name="T3" fmla="*/ 8 h 8"/>
                <a:gd name="T4" fmla="*/ 0 w 25"/>
                <a:gd name="T5" fmla="*/ 4 h 8"/>
                <a:gd name="T6" fmla="*/ 4 w 25"/>
                <a:gd name="T7" fmla="*/ 0 h 8"/>
                <a:gd name="T8" fmla="*/ 21 w 25"/>
                <a:gd name="T9" fmla="*/ 0 h 8"/>
                <a:gd name="T10" fmla="*/ 25 w 25"/>
                <a:gd name="T11" fmla="*/ 4 h 8"/>
                <a:gd name="T12" fmla="*/ 21 w 2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25" h="8">
                  <a:moveTo>
                    <a:pt x="21" y="8"/>
                  </a:moveTo>
                  <a:cubicBezTo>
                    <a:pt x="4" y="8"/>
                    <a:pt x="4" y="8"/>
                    <a:pt x="4" y="8"/>
                  </a:cubicBezTo>
                  <a:cubicBezTo>
                    <a:pt x="1" y="8"/>
                    <a:pt x="0" y="6"/>
                    <a:pt x="0" y="4"/>
                  </a:cubicBezTo>
                  <a:cubicBezTo>
                    <a:pt x="0" y="1"/>
                    <a:pt x="1" y="0"/>
                    <a:pt x="4" y="0"/>
                  </a:cubicBezTo>
                  <a:cubicBezTo>
                    <a:pt x="21" y="0"/>
                    <a:pt x="21" y="0"/>
                    <a:pt x="21" y="0"/>
                  </a:cubicBezTo>
                  <a:cubicBezTo>
                    <a:pt x="23" y="0"/>
                    <a:pt x="25" y="1"/>
                    <a:pt x="25" y="4"/>
                  </a:cubicBezTo>
                  <a:cubicBezTo>
                    <a:pt x="25" y="6"/>
                    <a:pt x="23" y="8"/>
                    <a:pt x="21" y="8"/>
                  </a:cubicBezTo>
                  <a:close/>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8" name="íşḻïḑè"/>
            <p:cNvSpPr/>
            <p:nvPr/>
          </p:nvSpPr>
          <p:spPr bwMode="auto">
            <a:xfrm>
              <a:off x="6667501" y="3086100"/>
              <a:ext cx="436563" cy="225425"/>
            </a:xfrm>
            <a:custGeom>
              <a:avLst/>
              <a:gdLst>
                <a:gd name="T0" fmla="*/ 145 w 145"/>
                <a:gd name="T1" fmla="*/ 0 h 75"/>
                <a:gd name="T2" fmla="*/ 110 w 145"/>
                <a:gd name="T3" fmla="*/ 0 h 75"/>
                <a:gd name="T4" fmla="*/ 106 w 145"/>
                <a:gd name="T5" fmla="*/ 4 h 75"/>
                <a:gd name="T6" fmla="*/ 71 w 145"/>
                <a:gd name="T7" fmla="*/ 4 h 75"/>
                <a:gd name="T8" fmla="*/ 24 w 145"/>
                <a:gd name="T9" fmla="*/ 52 h 75"/>
                <a:gd name="T10" fmla="*/ 70 w 145"/>
                <a:gd name="T11" fmla="*/ 52 h 75"/>
                <a:gd name="T12" fmla="*/ 75 w 145"/>
                <a:gd name="T13" fmla="*/ 56 h 75"/>
                <a:gd name="T14" fmla="*/ 70 w 145"/>
                <a:gd name="T15" fmla="*/ 60 h 75"/>
                <a:gd name="T16" fmla="*/ 15 w 145"/>
                <a:gd name="T17" fmla="*/ 60 h 75"/>
                <a:gd name="T18" fmla="*/ 0 w 145"/>
                <a:gd name="T19" fmla="*/ 75 h 75"/>
                <a:gd name="T20" fmla="*/ 70 w 145"/>
                <a:gd name="T21" fmla="*/ 75 h 75"/>
                <a:gd name="T22" fmla="*/ 71 w 145"/>
                <a:gd name="T23" fmla="*/ 75 h 75"/>
                <a:gd name="T24" fmla="*/ 145 w 145"/>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5" h="75">
                  <a:moveTo>
                    <a:pt x="145" y="0"/>
                  </a:moveTo>
                  <a:cubicBezTo>
                    <a:pt x="110" y="0"/>
                    <a:pt x="110" y="0"/>
                    <a:pt x="110" y="0"/>
                  </a:cubicBezTo>
                  <a:cubicBezTo>
                    <a:pt x="110" y="3"/>
                    <a:pt x="108" y="4"/>
                    <a:pt x="106" y="4"/>
                  </a:cubicBezTo>
                  <a:cubicBezTo>
                    <a:pt x="71" y="4"/>
                    <a:pt x="71" y="4"/>
                    <a:pt x="71" y="4"/>
                  </a:cubicBezTo>
                  <a:cubicBezTo>
                    <a:pt x="24" y="52"/>
                    <a:pt x="24" y="52"/>
                    <a:pt x="24" y="52"/>
                  </a:cubicBezTo>
                  <a:cubicBezTo>
                    <a:pt x="70" y="52"/>
                    <a:pt x="70" y="52"/>
                    <a:pt x="70" y="52"/>
                  </a:cubicBezTo>
                  <a:cubicBezTo>
                    <a:pt x="73" y="52"/>
                    <a:pt x="75" y="53"/>
                    <a:pt x="75" y="56"/>
                  </a:cubicBezTo>
                  <a:cubicBezTo>
                    <a:pt x="75" y="58"/>
                    <a:pt x="73" y="60"/>
                    <a:pt x="70" y="60"/>
                  </a:cubicBezTo>
                  <a:cubicBezTo>
                    <a:pt x="15" y="60"/>
                    <a:pt x="15" y="60"/>
                    <a:pt x="15" y="60"/>
                  </a:cubicBezTo>
                  <a:cubicBezTo>
                    <a:pt x="0" y="75"/>
                    <a:pt x="0" y="75"/>
                    <a:pt x="0" y="75"/>
                  </a:cubicBezTo>
                  <a:cubicBezTo>
                    <a:pt x="70" y="75"/>
                    <a:pt x="70" y="75"/>
                    <a:pt x="70" y="75"/>
                  </a:cubicBezTo>
                  <a:cubicBezTo>
                    <a:pt x="71" y="75"/>
                    <a:pt x="71" y="75"/>
                    <a:pt x="71" y="75"/>
                  </a:cubicBezTo>
                  <a:cubicBezTo>
                    <a:pt x="145" y="0"/>
                    <a:pt x="145" y="0"/>
                    <a:pt x="145" y="0"/>
                  </a:cubicBezTo>
                </a:path>
              </a:pathLst>
            </a:custGeom>
            <a:solidFill>
              <a:srgbClr val="1D214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9" name="î$ľiḋé"/>
            <p:cNvSpPr/>
            <p:nvPr/>
          </p:nvSpPr>
          <p:spPr bwMode="auto">
            <a:xfrm>
              <a:off x="6880226" y="3086100"/>
              <a:ext cx="119063" cy="12700"/>
            </a:xfrm>
            <a:custGeom>
              <a:avLst/>
              <a:gdLst>
                <a:gd name="T0" fmla="*/ 39 w 39"/>
                <a:gd name="T1" fmla="*/ 0 h 4"/>
                <a:gd name="T2" fmla="*/ 4 w 39"/>
                <a:gd name="T3" fmla="*/ 0 h 4"/>
                <a:gd name="T4" fmla="*/ 0 w 39"/>
                <a:gd name="T5" fmla="*/ 4 h 4"/>
                <a:gd name="T6" fmla="*/ 35 w 39"/>
                <a:gd name="T7" fmla="*/ 4 h 4"/>
                <a:gd name="T8" fmla="*/ 39 w 39"/>
                <a:gd name="T9" fmla="*/ 0 h 4"/>
              </a:gdLst>
              <a:ahLst/>
              <a:cxnLst>
                <a:cxn ang="0">
                  <a:pos x="T0" y="T1"/>
                </a:cxn>
                <a:cxn ang="0">
                  <a:pos x="T2" y="T3"/>
                </a:cxn>
                <a:cxn ang="0">
                  <a:pos x="T4" y="T5"/>
                </a:cxn>
                <a:cxn ang="0">
                  <a:pos x="T6" y="T7"/>
                </a:cxn>
                <a:cxn ang="0">
                  <a:pos x="T8" y="T9"/>
                </a:cxn>
              </a:cxnLst>
              <a:rect l="0" t="0" r="r" b="b"/>
              <a:pathLst>
                <a:path w="39" h="4">
                  <a:moveTo>
                    <a:pt x="39" y="0"/>
                  </a:moveTo>
                  <a:cubicBezTo>
                    <a:pt x="4" y="0"/>
                    <a:pt x="4" y="0"/>
                    <a:pt x="4" y="0"/>
                  </a:cubicBezTo>
                  <a:cubicBezTo>
                    <a:pt x="0" y="4"/>
                    <a:pt x="0" y="4"/>
                    <a:pt x="0" y="4"/>
                  </a:cubicBezTo>
                  <a:cubicBezTo>
                    <a:pt x="35" y="4"/>
                    <a:pt x="35" y="4"/>
                    <a:pt x="35" y="4"/>
                  </a:cubicBezTo>
                  <a:cubicBezTo>
                    <a:pt x="37" y="4"/>
                    <a:pt x="39" y="3"/>
                    <a:pt x="39"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0" name="ïŝḻïďè"/>
            <p:cNvSpPr/>
            <p:nvPr/>
          </p:nvSpPr>
          <p:spPr bwMode="auto">
            <a:xfrm>
              <a:off x="6711951" y="3241675"/>
              <a:ext cx="180975" cy="25400"/>
            </a:xfrm>
            <a:custGeom>
              <a:avLst/>
              <a:gdLst>
                <a:gd name="T0" fmla="*/ 55 w 60"/>
                <a:gd name="T1" fmla="*/ 0 h 8"/>
                <a:gd name="T2" fmla="*/ 9 w 60"/>
                <a:gd name="T3" fmla="*/ 0 h 8"/>
                <a:gd name="T4" fmla="*/ 0 w 60"/>
                <a:gd name="T5" fmla="*/ 8 h 8"/>
                <a:gd name="T6" fmla="*/ 55 w 60"/>
                <a:gd name="T7" fmla="*/ 8 h 8"/>
                <a:gd name="T8" fmla="*/ 60 w 60"/>
                <a:gd name="T9" fmla="*/ 4 h 8"/>
                <a:gd name="T10" fmla="*/ 55 w 60"/>
                <a:gd name="T11" fmla="*/ 0 h 8"/>
              </a:gdLst>
              <a:ahLst/>
              <a:cxnLst>
                <a:cxn ang="0">
                  <a:pos x="T0" y="T1"/>
                </a:cxn>
                <a:cxn ang="0">
                  <a:pos x="T2" y="T3"/>
                </a:cxn>
                <a:cxn ang="0">
                  <a:pos x="T4" y="T5"/>
                </a:cxn>
                <a:cxn ang="0">
                  <a:pos x="T6" y="T7"/>
                </a:cxn>
                <a:cxn ang="0">
                  <a:pos x="T8" y="T9"/>
                </a:cxn>
                <a:cxn ang="0">
                  <a:pos x="T10" y="T11"/>
                </a:cxn>
              </a:cxnLst>
              <a:rect l="0" t="0" r="r" b="b"/>
              <a:pathLst>
                <a:path w="60" h="8">
                  <a:moveTo>
                    <a:pt x="55" y="0"/>
                  </a:moveTo>
                  <a:cubicBezTo>
                    <a:pt x="9" y="0"/>
                    <a:pt x="9" y="0"/>
                    <a:pt x="9" y="0"/>
                  </a:cubicBezTo>
                  <a:cubicBezTo>
                    <a:pt x="0" y="8"/>
                    <a:pt x="0" y="8"/>
                    <a:pt x="0" y="8"/>
                  </a:cubicBezTo>
                  <a:cubicBezTo>
                    <a:pt x="55" y="8"/>
                    <a:pt x="55" y="8"/>
                    <a:pt x="55" y="8"/>
                  </a:cubicBezTo>
                  <a:cubicBezTo>
                    <a:pt x="58" y="8"/>
                    <a:pt x="60" y="6"/>
                    <a:pt x="60" y="4"/>
                  </a:cubicBezTo>
                  <a:cubicBezTo>
                    <a:pt x="60" y="1"/>
                    <a:pt x="58" y="0"/>
                    <a:pt x="55"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1" name="íşļídé"/>
            <p:cNvSpPr/>
            <p:nvPr/>
          </p:nvSpPr>
          <p:spPr bwMode="auto">
            <a:xfrm>
              <a:off x="6473826" y="3335338"/>
              <a:ext cx="382588" cy="168275"/>
            </a:xfrm>
            <a:custGeom>
              <a:avLst/>
              <a:gdLst>
                <a:gd name="T0" fmla="*/ 241 w 241"/>
                <a:gd name="T1" fmla="*/ 0 h 106"/>
                <a:gd name="T2" fmla="*/ 106 w 241"/>
                <a:gd name="T3" fmla="*/ 0 h 106"/>
                <a:gd name="T4" fmla="*/ 0 w 241"/>
                <a:gd name="T5" fmla="*/ 106 h 106"/>
                <a:gd name="T6" fmla="*/ 135 w 241"/>
                <a:gd name="T7" fmla="*/ 106 h 106"/>
                <a:gd name="T8" fmla="*/ 241 w 241"/>
                <a:gd name="T9" fmla="*/ 0 h 106"/>
              </a:gdLst>
              <a:ahLst/>
              <a:cxnLst>
                <a:cxn ang="0">
                  <a:pos x="T0" y="T1"/>
                </a:cxn>
                <a:cxn ang="0">
                  <a:pos x="T2" y="T3"/>
                </a:cxn>
                <a:cxn ang="0">
                  <a:pos x="T4" y="T5"/>
                </a:cxn>
                <a:cxn ang="0">
                  <a:pos x="T6" y="T7"/>
                </a:cxn>
                <a:cxn ang="0">
                  <a:pos x="T8" y="T9"/>
                </a:cxn>
              </a:cxnLst>
              <a:rect l="0" t="0" r="r" b="b"/>
              <a:pathLst>
                <a:path w="241" h="106">
                  <a:moveTo>
                    <a:pt x="241" y="0"/>
                  </a:moveTo>
                  <a:lnTo>
                    <a:pt x="106" y="0"/>
                  </a:lnTo>
                  <a:lnTo>
                    <a:pt x="0" y="106"/>
                  </a:lnTo>
                  <a:lnTo>
                    <a:pt x="135" y="106"/>
                  </a:lnTo>
                  <a:lnTo>
                    <a:pt x="241" y="0"/>
                  </a:lnTo>
                  <a:close/>
                </a:path>
              </a:pathLst>
            </a:custGeom>
            <a:solidFill>
              <a:srgbClr val="1D214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2" name="iSḻîdé"/>
            <p:cNvSpPr/>
            <p:nvPr/>
          </p:nvSpPr>
          <p:spPr bwMode="auto">
            <a:xfrm>
              <a:off x="6473826" y="3335338"/>
              <a:ext cx="382588" cy="168275"/>
            </a:xfrm>
            <a:custGeom>
              <a:avLst/>
              <a:gdLst>
                <a:gd name="T0" fmla="*/ 241 w 241"/>
                <a:gd name="T1" fmla="*/ 0 h 106"/>
                <a:gd name="T2" fmla="*/ 106 w 241"/>
                <a:gd name="T3" fmla="*/ 0 h 106"/>
                <a:gd name="T4" fmla="*/ 0 w 241"/>
                <a:gd name="T5" fmla="*/ 106 h 106"/>
                <a:gd name="T6" fmla="*/ 135 w 241"/>
                <a:gd name="T7" fmla="*/ 106 h 106"/>
                <a:gd name="T8" fmla="*/ 241 w 241"/>
                <a:gd name="T9" fmla="*/ 0 h 106"/>
              </a:gdLst>
              <a:ahLst/>
              <a:cxnLst>
                <a:cxn ang="0">
                  <a:pos x="T0" y="T1"/>
                </a:cxn>
                <a:cxn ang="0">
                  <a:pos x="T2" y="T3"/>
                </a:cxn>
                <a:cxn ang="0">
                  <a:pos x="T4" y="T5"/>
                </a:cxn>
                <a:cxn ang="0">
                  <a:pos x="T6" y="T7"/>
                </a:cxn>
                <a:cxn ang="0">
                  <a:pos x="T8" y="T9"/>
                </a:cxn>
              </a:cxnLst>
              <a:rect l="0" t="0" r="r" b="b"/>
              <a:pathLst>
                <a:path w="241" h="106">
                  <a:moveTo>
                    <a:pt x="241" y="0"/>
                  </a:moveTo>
                  <a:lnTo>
                    <a:pt x="106" y="0"/>
                  </a:lnTo>
                  <a:lnTo>
                    <a:pt x="0" y="106"/>
                  </a:lnTo>
                  <a:lnTo>
                    <a:pt x="135" y="106"/>
                  </a:lnTo>
                  <a:lnTo>
                    <a:pt x="2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3" name="íṩḻîďé"/>
            <p:cNvSpPr/>
            <p:nvPr/>
          </p:nvSpPr>
          <p:spPr bwMode="auto">
            <a:xfrm>
              <a:off x="6642101" y="3311525"/>
              <a:ext cx="238125" cy="23813"/>
            </a:xfrm>
            <a:custGeom>
              <a:avLst/>
              <a:gdLst>
                <a:gd name="T0" fmla="*/ 78 w 79"/>
                <a:gd name="T1" fmla="*/ 0 h 8"/>
                <a:gd name="T2" fmla="*/ 8 w 79"/>
                <a:gd name="T3" fmla="*/ 0 h 8"/>
                <a:gd name="T4" fmla="*/ 0 w 79"/>
                <a:gd name="T5" fmla="*/ 8 h 8"/>
                <a:gd name="T6" fmla="*/ 71 w 79"/>
                <a:gd name="T7" fmla="*/ 8 h 8"/>
                <a:gd name="T8" fmla="*/ 79 w 79"/>
                <a:gd name="T9" fmla="*/ 0 h 8"/>
                <a:gd name="T10" fmla="*/ 78 w 79"/>
                <a:gd name="T11" fmla="*/ 0 h 8"/>
              </a:gdLst>
              <a:ahLst/>
              <a:cxnLst>
                <a:cxn ang="0">
                  <a:pos x="T0" y="T1"/>
                </a:cxn>
                <a:cxn ang="0">
                  <a:pos x="T2" y="T3"/>
                </a:cxn>
                <a:cxn ang="0">
                  <a:pos x="T4" y="T5"/>
                </a:cxn>
                <a:cxn ang="0">
                  <a:pos x="T6" y="T7"/>
                </a:cxn>
                <a:cxn ang="0">
                  <a:pos x="T8" y="T9"/>
                </a:cxn>
                <a:cxn ang="0">
                  <a:pos x="T10" y="T11"/>
                </a:cxn>
              </a:cxnLst>
              <a:rect l="0" t="0" r="r" b="b"/>
              <a:pathLst>
                <a:path w="79" h="8">
                  <a:moveTo>
                    <a:pt x="78" y="0"/>
                  </a:moveTo>
                  <a:cubicBezTo>
                    <a:pt x="8" y="0"/>
                    <a:pt x="8" y="0"/>
                    <a:pt x="8" y="0"/>
                  </a:cubicBezTo>
                  <a:cubicBezTo>
                    <a:pt x="0" y="8"/>
                    <a:pt x="0" y="8"/>
                    <a:pt x="0" y="8"/>
                  </a:cubicBezTo>
                  <a:cubicBezTo>
                    <a:pt x="71" y="8"/>
                    <a:pt x="71" y="8"/>
                    <a:pt x="71" y="8"/>
                  </a:cubicBezTo>
                  <a:cubicBezTo>
                    <a:pt x="79" y="0"/>
                    <a:pt x="79" y="0"/>
                    <a:pt x="79" y="0"/>
                  </a:cubicBezTo>
                  <a:cubicBezTo>
                    <a:pt x="79" y="0"/>
                    <a:pt x="79" y="0"/>
                    <a:pt x="78"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4" name="îšḻiďè"/>
            <p:cNvSpPr/>
            <p:nvPr/>
          </p:nvSpPr>
          <p:spPr bwMode="auto">
            <a:xfrm>
              <a:off x="6275388" y="2322513"/>
              <a:ext cx="395288" cy="347663"/>
            </a:xfrm>
            <a:custGeom>
              <a:avLst/>
              <a:gdLst>
                <a:gd name="T0" fmla="*/ 131 w 131"/>
                <a:gd name="T1" fmla="*/ 0 h 116"/>
                <a:gd name="T2" fmla="*/ 116 w 131"/>
                <a:gd name="T3" fmla="*/ 0 h 116"/>
                <a:gd name="T4" fmla="*/ 66 w 131"/>
                <a:gd name="T5" fmla="*/ 50 h 116"/>
                <a:gd name="T6" fmla="*/ 84 w 131"/>
                <a:gd name="T7" fmla="*/ 50 h 116"/>
                <a:gd name="T8" fmla="*/ 88 w 131"/>
                <a:gd name="T9" fmla="*/ 54 h 116"/>
                <a:gd name="T10" fmla="*/ 84 w 131"/>
                <a:gd name="T11" fmla="*/ 59 h 116"/>
                <a:gd name="T12" fmla="*/ 57 w 131"/>
                <a:gd name="T13" fmla="*/ 59 h 116"/>
                <a:gd name="T14" fmla="*/ 0 w 131"/>
                <a:gd name="T15" fmla="*/ 116 h 116"/>
                <a:gd name="T16" fmla="*/ 131 w 131"/>
                <a:gd name="T17" fmla="*/ 116 h 116"/>
                <a:gd name="T18" fmla="*/ 131 w 131"/>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16">
                  <a:moveTo>
                    <a:pt x="131" y="0"/>
                  </a:moveTo>
                  <a:cubicBezTo>
                    <a:pt x="116" y="0"/>
                    <a:pt x="116" y="0"/>
                    <a:pt x="116" y="0"/>
                  </a:cubicBezTo>
                  <a:cubicBezTo>
                    <a:pt x="66" y="50"/>
                    <a:pt x="66" y="50"/>
                    <a:pt x="66" y="50"/>
                  </a:cubicBezTo>
                  <a:cubicBezTo>
                    <a:pt x="84" y="50"/>
                    <a:pt x="84" y="50"/>
                    <a:pt x="84" y="50"/>
                  </a:cubicBezTo>
                  <a:cubicBezTo>
                    <a:pt x="86" y="50"/>
                    <a:pt x="88" y="52"/>
                    <a:pt x="88" y="54"/>
                  </a:cubicBezTo>
                  <a:cubicBezTo>
                    <a:pt x="88" y="57"/>
                    <a:pt x="86" y="59"/>
                    <a:pt x="84" y="59"/>
                  </a:cubicBezTo>
                  <a:cubicBezTo>
                    <a:pt x="57" y="59"/>
                    <a:pt x="57" y="59"/>
                    <a:pt x="57" y="59"/>
                  </a:cubicBezTo>
                  <a:cubicBezTo>
                    <a:pt x="0" y="116"/>
                    <a:pt x="0" y="116"/>
                    <a:pt x="0" y="116"/>
                  </a:cubicBezTo>
                  <a:cubicBezTo>
                    <a:pt x="131" y="116"/>
                    <a:pt x="131" y="116"/>
                    <a:pt x="131" y="116"/>
                  </a:cubicBezTo>
                  <a:cubicBezTo>
                    <a:pt x="131" y="0"/>
                    <a:pt x="131" y="0"/>
                    <a:pt x="131" y="0"/>
                  </a:cubicBezTo>
                </a:path>
              </a:pathLst>
            </a:custGeom>
            <a:solidFill>
              <a:srgbClr val="1D214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5" name="ïṣľîḓe"/>
            <p:cNvSpPr/>
            <p:nvPr/>
          </p:nvSpPr>
          <p:spPr bwMode="auto">
            <a:xfrm>
              <a:off x="6446838" y="2471738"/>
              <a:ext cx="93663" cy="26988"/>
            </a:xfrm>
            <a:custGeom>
              <a:avLst/>
              <a:gdLst>
                <a:gd name="T0" fmla="*/ 27 w 31"/>
                <a:gd name="T1" fmla="*/ 0 h 9"/>
                <a:gd name="T2" fmla="*/ 9 w 31"/>
                <a:gd name="T3" fmla="*/ 0 h 9"/>
                <a:gd name="T4" fmla="*/ 0 w 31"/>
                <a:gd name="T5" fmla="*/ 9 h 9"/>
                <a:gd name="T6" fmla="*/ 27 w 31"/>
                <a:gd name="T7" fmla="*/ 9 h 9"/>
                <a:gd name="T8" fmla="*/ 31 w 31"/>
                <a:gd name="T9" fmla="*/ 4 h 9"/>
                <a:gd name="T10" fmla="*/ 27 w 31"/>
                <a:gd name="T11" fmla="*/ 0 h 9"/>
              </a:gdLst>
              <a:ahLst/>
              <a:cxnLst>
                <a:cxn ang="0">
                  <a:pos x="T0" y="T1"/>
                </a:cxn>
                <a:cxn ang="0">
                  <a:pos x="T2" y="T3"/>
                </a:cxn>
                <a:cxn ang="0">
                  <a:pos x="T4" y="T5"/>
                </a:cxn>
                <a:cxn ang="0">
                  <a:pos x="T6" y="T7"/>
                </a:cxn>
                <a:cxn ang="0">
                  <a:pos x="T8" y="T9"/>
                </a:cxn>
                <a:cxn ang="0">
                  <a:pos x="T10" y="T11"/>
                </a:cxn>
              </a:cxnLst>
              <a:rect l="0" t="0" r="r" b="b"/>
              <a:pathLst>
                <a:path w="31" h="9">
                  <a:moveTo>
                    <a:pt x="27" y="0"/>
                  </a:moveTo>
                  <a:cubicBezTo>
                    <a:pt x="9" y="0"/>
                    <a:pt x="9" y="0"/>
                    <a:pt x="9" y="0"/>
                  </a:cubicBezTo>
                  <a:cubicBezTo>
                    <a:pt x="0" y="9"/>
                    <a:pt x="0" y="9"/>
                    <a:pt x="0" y="9"/>
                  </a:cubicBezTo>
                  <a:cubicBezTo>
                    <a:pt x="27" y="9"/>
                    <a:pt x="27" y="9"/>
                    <a:pt x="27" y="9"/>
                  </a:cubicBezTo>
                  <a:cubicBezTo>
                    <a:pt x="29" y="9"/>
                    <a:pt x="31" y="7"/>
                    <a:pt x="31" y="4"/>
                  </a:cubicBezTo>
                  <a:cubicBezTo>
                    <a:pt x="31" y="2"/>
                    <a:pt x="29" y="0"/>
                    <a:pt x="27" y="0"/>
                  </a:cubicBezTo>
                </a:path>
              </a:pathLst>
            </a:custGeom>
            <a:solidFill>
              <a:srgbClr val="76EFF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6" name="ïśḷiḓè"/>
            <p:cNvSpPr/>
            <p:nvPr/>
          </p:nvSpPr>
          <p:spPr bwMode="auto">
            <a:xfrm>
              <a:off x="5440363" y="2686050"/>
              <a:ext cx="1230313" cy="817563"/>
            </a:xfrm>
            <a:custGeom>
              <a:avLst/>
              <a:gdLst>
                <a:gd name="T0" fmla="*/ 272 w 408"/>
                <a:gd name="T1" fmla="*/ 0 h 272"/>
                <a:gd name="T2" fmla="*/ 0 w 408"/>
                <a:gd name="T3" fmla="*/ 272 h 272"/>
                <a:gd name="T4" fmla="*/ 188 w 408"/>
                <a:gd name="T5" fmla="*/ 272 h 272"/>
                <a:gd name="T6" fmla="*/ 290 w 408"/>
                <a:gd name="T7" fmla="*/ 170 h 272"/>
                <a:gd name="T8" fmla="*/ 276 w 408"/>
                <a:gd name="T9" fmla="*/ 170 h 272"/>
                <a:gd name="T10" fmla="*/ 272 w 408"/>
                <a:gd name="T11" fmla="*/ 166 h 272"/>
                <a:gd name="T12" fmla="*/ 276 w 408"/>
                <a:gd name="T13" fmla="*/ 162 h 272"/>
                <a:gd name="T14" fmla="*/ 298 w 408"/>
                <a:gd name="T15" fmla="*/ 162 h 272"/>
                <a:gd name="T16" fmla="*/ 323 w 408"/>
                <a:gd name="T17" fmla="*/ 137 h 272"/>
                <a:gd name="T18" fmla="*/ 276 w 408"/>
                <a:gd name="T19" fmla="*/ 137 h 272"/>
                <a:gd name="T20" fmla="*/ 272 w 408"/>
                <a:gd name="T21" fmla="*/ 133 h 272"/>
                <a:gd name="T22" fmla="*/ 276 w 408"/>
                <a:gd name="T23" fmla="*/ 129 h 272"/>
                <a:gd name="T24" fmla="*/ 331 w 408"/>
                <a:gd name="T25" fmla="*/ 129 h 272"/>
                <a:gd name="T26" fmla="*/ 356 w 408"/>
                <a:gd name="T27" fmla="*/ 104 h 272"/>
                <a:gd name="T28" fmla="*/ 276 w 408"/>
                <a:gd name="T29" fmla="*/ 104 h 272"/>
                <a:gd name="T30" fmla="*/ 272 w 408"/>
                <a:gd name="T31" fmla="*/ 100 h 272"/>
                <a:gd name="T32" fmla="*/ 276 w 408"/>
                <a:gd name="T33" fmla="*/ 96 h 272"/>
                <a:gd name="T34" fmla="*/ 364 w 408"/>
                <a:gd name="T35" fmla="*/ 96 h 272"/>
                <a:gd name="T36" fmla="*/ 389 w 408"/>
                <a:gd name="T37" fmla="*/ 71 h 272"/>
                <a:gd name="T38" fmla="*/ 276 w 408"/>
                <a:gd name="T39" fmla="*/ 71 h 272"/>
                <a:gd name="T40" fmla="*/ 272 w 408"/>
                <a:gd name="T41" fmla="*/ 67 h 272"/>
                <a:gd name="T42" fmla="*/ 276 w 408"/>
                <a:gd name="T43" fmla="*/ 63 h 272"/>
                <a:gd name="T44" fmla="*/ 397 w 408"/>
                <a:gd name="T45" fmla="*/ 63 h 272"/>
                <a:gd name="T46" fmla="*/ 408 w 408"/>
                <a:gd name="T47" fmla="*/ 52 h 272"/>
                <a:gd name="T48" fmla="*/ 408 w 408"/>
                <a:gd name="T49" fmla="*/ 38 h 272"/>
                <a:gd name="T50" fmla="*/ 276 w 408"/>
                <a:gd name="T51" fmla="*/ 38 h 272"/>
                <a:gd name="T52" fmla="*/ 272 w 408"/>
                <a:gd name="T53" fmla="*/ 34 h 272"/>
                <a:gd name="T54" fmla="*/ 276 w 408"/>
                <a:gd name="T55" fmla="*/ 30 h 272"/>
                <a:gd name="T56" fmla="*/ 408 w 408"/>
                <a:gd name="T57" fmla="*/ 30 h 272"/>
                <a:gd name="T58" fmla="*/ 408 w 408"/>
                <a:gd name="T59" fmla="*/ 3 h 272"/>
                <a:gd name="T60" fmla="*/ 276 w 408"/>
                <a:gd name="T61" fmla="*/ 3 h 272"/>
                <a:gd name="T62" fmla="*/ 272 w 408"/>
                <a:gd name="T63" fmla="*/ 0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8" h="272">
                  <a:moveTo>
                    <a:pt x="272" y="0"/>
                  </a:moveTo>
                  <a:cubicBezTo>
                    <a:pt x="0" y="272"/>
                    <a:pt x="0" y="272"/>
                    <a:pt x="0" y="272"/>
                  </a:cubicBezTo>
                  <a:cubicBezTo>
                    <a:pt x="188" y="272"/>
                    <a:pt x="188" y="272"/>
                    <a:pt x="188" y="272"/>
                  </a:cubicBezTo>
                  <a:cubicBezTo>
                    <a:pt x="290" y="170"/>
                    <a:pt x="290" y="170"/>
                    <a:pt x="290" y="170"/>
                  </a:cubicBezTo>
                  <a:cubicBezTo>
                    <a:pt x="276" y="170"/>
                    <a:pt x="276" y="170"/>
                    <a:pt x="276" y="170"/>
                  </a:cubicBezTo>
                  <a:cubicBezTo>
                    <a:pt x="273" y="170"/>
                    <a:pt x="272" y="168"/>
                    <a:pt x="272" y="166"/>
                  </a:cubicBezTo>
                  <a:cubicBezTo>
                    <a:pt x="272" y="164"/>
                    <a:pt x="273" y="162"/>
                    <a:pt x="276" y="162"/>
                  </a:cubicBezTo>
                  <a:cubicBezTo>
                    <a:pt x="298" y="162"/>
                    <a:pt x="298" y="162"/>
                    <a:pt x="298" y="162"/>
                  </a:cubicBezTo>
                  <a:cubicBezTo>
                    <a:pt x="323" y="137"/>
                    <a:pt x="323" y="137"/>
                    <a:pt x="323" y="137"/>
                  </a:cubicBezTo>
                  <a:cubicBezTo>
                    <a:pt x="276" y="137"/>
                    <a:pt x="276" y="137"/>
                    <a:pt x="276" y="137"/>
                  </a:cubicBezTo>
                  <a:cubicBezTo>
                    <a:pt x="273" y="137"/>
                    <a:pt x="272" y="135"/>
                    <a:pt x="272" y="133"/>
                  </a:cubicBezTo>
                  <a:cubicBezTo>
                    <a:pt x="272" y="131"/>
                    <a:pt x="273" y="129"/>
                    <a:pt x="276" y="129"/>
                  </a:cubicBezTo>
                  <a:cubicBezTo>
                    <a:pt x="331" y="129"/>
                    <a:pt x="331" y="129"/>
                    <a:pt x="331" y="129"/>
                  </a:cubicBezTo>
                  <a:cubicBezTo>
                    <a:pt x="356" y="104"/>
                    <a:pt x="356" y="104"/>
                    <a:pt x="356" y="104"/>
                  </a:cubicBezTo>
                  <a:cubicBezTo>
                    <a:pt x="276" y="104"/>
                    <a:pt x="276" y="104"/>
                    <a:pt x="276" y="104"/>
                  </a:cubicBezTo>
                  <a:cubicBezTo>
                    <a:pt x="273" y="104"/>
                    <a:pt x="272" y="102"/>
                    <a:pt x="272" y="100"/>
                  </a:cubicBezTo>
                  <a:cubicBezTo>
                    <a:pt x="272" y="98"/>
                    <a:pt x="273" y="96"/>
                    <a:pt x="276" y="96"/>
                  </a:cubicBezTo>
                  <a:cubicBezTo>
                    <a:pt x="364" y="96"/>
                    <a:pt x="364" y="96"/>
                    <a:pt x="364" y="96"/>
                  </a:cubicBezTo>
                  <a:cubicBezTo>
                    <a:pt x="389" y="71"/>
                    <a:pt x="389" y="71"/>
                    <a:pt x="389" y="71"/>
                  </a:cubicBezTo>
                  <a:cubicBezTo>
                    <a:pt x="276" y="71"/>
                    <a:pt x="276" y="71"/>
                    <a:pt x="276" y="71"/>
                  </a:cubicBezTo>
                  <a:cubicBezTo>
                    <a:pt x="273" y="71"/>
                    <a:pt x="272" y="69"/>
                    <a:pt x="272" y="67"/>
                  </a:cubicBezTo>
                  <a:cubicBezTo>
                    <a:pt x="272" y="65"/>
                    <a:pt x="273" y="63"/>
                    <a:pt x="276" y="63"/>
                  </a:cubicBezTo>
                  <a:cubicBezTo>
                    <a:pt x="397" y="63"/>
                    <a:pt x="397" y="63"/>
                    <a:pt x="397" y="63"/>
                  </a:cubicBezTo>
                  <a:cubicBezTo>
                    <a:pt x="408" y="52"/>
                    <a:pt x="408" y="52"/>
                    <a:pt x="408" y="52"/>
                  </a:cubicBezTo>
                  <a:cubicBezTo>
                    <a:pt x="408" y="38"/>
                    <a:pt x="408" y="38"/>
                    <a:pt x="408" y="38"/>
                  </a:cubicBezTo>
                  <a:cubicBezTo>
                    <a:pt x="276" y="38"/>
                    <a:pt x="276" y="38"/>
                    <a:pt x="276" y="38"/>
                  </a:cubicBezTo>
                  <a:cubicBezTo>
                    <a:pt x="273" y="38"/>
                    <a:pt x="272" y="36"/>
                    <a:pt x="272" y="34"/>
                  </a:cubicBezTo>
                  <a:cubicBezTo>
                    <a:pt x="272" y="32"/>
                    <a:pt x="273" y="30"/>
                    <a:pt x="276" y="30"/>
                  </a:cubicBezTo>
                  <a:cubicBezTo>
                    <a:pt x="408" y="30"/>
                    <a:pt x="408" y="30"/>
                    <a:pt x="408" y="30"/>
                  </a:cubicBezTo>
                  <a:cubicBezTo>
                    <a:pt x="408" y="3"/>
                    <a:pt x="408" y="3"/>
                    <a:pt x="408" y="3"/>
                  </a:cubicBezTo>
                  <a:cubicBezTo>
                    <a:pt x="276" y="3"/>
                    <a:pt x="276" y="3"/>
                    <a:pt x="276" y="3"/>
                  </a:cubicBezTo>
                  <a:cubicBezTo>
                    <a:pt x="274" y="3"/>
                    <a:pt x="272" y="2"/>
                    <a:pt x="272" y="0"/>
                  </a:cubicBezTo>
                </a:path>
              </a:pathLst>
            </a:custGeom>
            <a:solidFill>
              <a:srgbClr val="1D214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7" name="ïşḻíďé"/>
            <p:cNvSpPr/>
            <p:nvPr/>
          </p:nvSpPr>
          <p:spPr bwMode="auto">
            <a:xfrm>
              <a:off x="6259513" y="2670175"/>
              <a:ext cx="411163" cy="25400"/>
            </a:xfrm>
            <a:custGeom>
              <a:avLst/>
              <a:gdLst>
                <a:gd name="T0" fmla="*/ 136 w 136"/>
                <a:gd name="T1" fmla="*/ 0 h 8"/>
                <a:gd name="T2" fmla="*/ 5 w 136"/>
                <a:gd name="T3" fmla="*/ 0 h 8"/>
                <a:gd name="T4" fmla="*/ 0 w 136"/>
                <a:gd name="T5" fmla="*/ 5 h 8"/>
                <a:gd name="T6" fmla="*/ 4 w 136"/>
                <a:gd name="T7" fmla="*/ 8 h 8"/>
                <a:gd name="T8" fmla="*/ 136 w 136"/>
                <a:gd name="T9" fmla="*/ 8 h 8"/>
                <a:gd name="T10" fmla="*/ 136 w 136"/>
                <a:gd name="T11" fmla="*/ 0 h 8"/>
              </a:gdLst>
              <a:ahLst/>
              <a:cxnLst>
                <a:cxn ang="0">
                  <a:pos x="T0" y="T1"/>
                </a:cxn>
                <a:cxn ang="0">
                  <a:pos x="T2" y="T3"/>
                </a:cxn>
                <a:cxn ang="0">
                  <a:pos x="T4" y="T5"/>
                </a:cxn>
                <a:cxn ang="0">
                  <a:pos x="T6" y="T7"/>
                </a:cxn>
                <a:cxn ang="0">
                  <a:pos x="T8" y="T9"/>
                </a:cxn>
                <a:cxn ang="0">
                  <a:pos x="T10" y="T11"/>
                </a:cxn>
              </a:cxnLst>
              <a:rect l="0" t="0" r="r" b="b"/>
              <a:pathLst>
                <a:path w="136" h="8">
                  <a:moveTo>
                    <a:pt x="136" y="0"/>
                  </a:moveTo>
                  <a:cubicBezTo>
                    <a:pt x="5" y="0"/>
                    <a:pt x="5" y="0"/>
                    <a:pt x="5" y="0"/>
                  </a:cubicBezTo>
                  <a:cubicBezTo>
                    <a:pt x="0" y="5"/>
                    <a:pt x="0" y="5"/>
                    <a:pt x="0" y="5"/>
                  </a:cubicBezTo>
                  <a:cubicBezTo>
                    <a:pt x="0" y="7"/>
                    <a:pt x="2" y="8"/>
                    <a:pt x="4" y="8"/>
                  </a:cubicBezTo>
                  <a:cubicBezTo>
                    <a:pt x="136" y="8"/>
                    <a:pt x="136" y="8"/>
                    <a:pt x="136" y="8"/>
                  </a:cubicBezTo>
                  <a:cubicBezTo>
                    <a:pt x="136" y="0"/>
                    <a:pt x="136" y="0"/>
                    <a:pt x="136" y="0"/>
                  </a:cubicBezTo>
                </a:path>
              </a:pathLst>
            </a:custGeom>
            <a:solidFill>
              <a:srgbClr val="E0614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8" name="íSlîďé"/>
            <p:cNvSpPr/>
            <p:nvPr/>
          </p:nvSpPr>
          <p:spPr bwMode="auto">
            <a:xfrm>
              <a:off x="6259513" y="2776538"/>
              <a:ext cx="411163" cy="23813"/>
            </a:xfrm>
            <a:custGeom>
              <a:avLst/>
              <a:gdLst>
                <a:gd name="T0" fmla="*/ 136 w 136"/>
                <a:gd name="T1" fmla="*/ 0 h 8"/>
                <a:gd name="T2" fmla="*/ 4 w 136"/>
                <a:gd name="T3" fmla="*/ 0 h 8"/>
                <a:gd name="T4" fmla="*/ 0 w 136"/>
                <a:gd name="T5" fmla="*/ 4 h 8"/>
                <a:gd name="T6" fmla="*/ 4 w 136"/>
                <a:gd name="T7" fmla="*/ 8 h 8"/>
                <a:gd name="T8" fmla="*/ 136 w 136"/>
                <a:gd name="T9" fmla="*/ 8 h 8"/>
                <a:gd name="T10" fmla="*/ 136 w 136"/>
                <a:gd name="T11" fmla="*/ 0 h 8"/>
              </a:gdLst>
              <a:ahLst/>
              <a:cxnLst>
                <a:cxn ang="0">
                  <a:pos x="T0" y="T1"/>
                </a:cxn>
                <a:cxn ang="0">
                  <a:pos x="T2" y="T3"/>
                </a:cxn>
                <a:cxn ang="0">
                  <a:pos x="T4" y="T5"/>
                </a:cxn>
                <a:cxn ang="0">
                  <a:pos x="T6" y="T7"/>
                </a:cxn>
                <a:cxn ang="0">
                  <a:pos x="T8" y="T9"/>
                </a:cxn>
                <a:cxn ang="0">
                  <a:pos x="T10" y="T11"/>
                </a:cxn>
              </a:cxnLst>
              <a:rect l="0" t="0" r="r" b="b"/>
              <a:pathLst>
                <a:path w="136" h="8">
                  <a:moveTo>
                    <a:pt x="136" y="0"/>
                  </a:moveTo>
                  <a:cubicBezTo>
                    <a:pt x="4" y="0"/>
                    <a:pt x="4" y="0"/>
                    <a:pt x="4" y="0"/>
                  </a:cubicBezTo>
                  <a:cubicBezTo>
                    <a:pt x="1" y="0"/>
                    <a:pt x="0" y="2"/>
                    <a:pt x="0" y="4"/>
                  </a:cubicBezTo>
                  <a:cubicBezTo>
                    <a:pt x="0" y="6"/>
                    <a:pt x="1" y="8"/>
                    <a:pt x="4" y="8"/>
                  </a:cubicBezTo>
                  <a:cubicBezTo>
                    <a:pt x="136" y="8"/>
                    <a:pt x="136" y="8"/>
                    <a:pt x="136" y="8"/>
                  </a:cubicBezTo>
                  <a:cubicBezTo>
                    <a:pt x="136" y="0"/>
                    <a:pt x="136" y="0"/>
                    <a:pt x="136"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9" name="ïṡḻíḋe"/>
            <p:cNvSpPr/>
            <p:nvPr/>
          </p:nvSpPr>
          <p:spPr bwMode="auto">
            <a:xfrm>
              <a:off x="6259513" y="2874963"/>
              <a:ext cx="377825" cy="23813"/>
            </a:xfrm>
            <a:custGeom>
              <a:avLst/>
              <a:gdLst>
                <a:gd name="T0" fmla="*/ 125 w 125"/>
                <a:gd name="T1" fmla="*/ 0 h 8"/>
                <a:gd name="T2" fmla="*/ 4 w 125"/>
                <a:gd name="T3" fmla="*/ 0 h 8"/>
                <a:gd name="T4" fmla="*/ 0 w 125"/>
                <a:gd name="T5" fmla="*/ 4 h 8"/>
                <a:gd name="T6" fmla="*/ 4 w 125"/>
                <a:gd name="T7" fmla="*/ 8 h 8"/>
                <a:gd name="T8" fmla="*/ 117 w 125"/>
                <a:gd name="T9" fmla="*/ 8 h 8"/>
                <a:gd name="T10" fmla="*/ 125 w 125"/>
                <a:gd name="T11" fmla="*/ 0 h 8"/>
              </a:gdLst>
              <a:ahLst/>
              <a:cxnLst>
                <a:cxn ang="0">
                  <a:pos x="T0" y="T1"/>
                </a:cxn>
                <a:cxn ang="0">
                  <a:pos x="T2" y="T3"/>
                </a:cxn>
                <a:cxn ang="0">
                  <a:pos x="T4" y="T5"/>
                </a:cxn>
                <a:cxn ang="0">
                  <a:pos x="T6" y="T7"/>
                </a:cxn>
                <a:cxn ang="0">
                  <a:pos x="T8" y="T9"/>
                </a:cxn>
                <a:cxn ang="0">
                  <a:pos x="T10" y="T11"/>
                </a:cxn>
              </a:cxnLst>
              <a:rect l="0" t="0" r="r" b="b"/>
              <a:pathLst>
                <a:path w="125" h="8">
                  <a:moveTo>
                    <a:pt x="125" y="0"/>
                  </a:moveTo>
                  <a:cubicBezTo>
                    <a:pt x="4" y="0"/>
                    <a:pt x="4" y="0"/>
                    <a:pt x="4" y="0"/>
                  </a:cubicBezTo>
                  <a:cubicBezTo>
                    <a:pt x="1" y="0"/>
                    <a:pt x="0" y="2"/>
                    <a:pt x="0" y="4"/>
                  </a:cubicBezTo>
                  <a:cubicBezTo>
                    <a:pt x="0" y="6"/>
                    <a:pt x="1" y="8"/>
                    <a:pt x="4" y="8"/>
                  </a:cubicBezTo>
                  <a:cubicBezTo>
                    <a:pt x="117" y="8"/>
                    <a:pt x="117" y="8"/>
                    <a:pt x="117" y="8"/>
                  </a:cubicBezTo>
                  <a:cubicBezTo>
                    <a:pt x="125" y="0"/>
                    <a:pt x="125" y="0"/>
                    <a:pt x="125"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0" name="îś1iḍé"/>
            <p:cNvSpPr/>
            <p:nvPr/>
          </p:nvSpPr>
          <p:spPr bwMode="auto">
            <a:xfrm>
              <a:off x="6259513" y="2974975"/>
              <a:ext cx="277813" cy="23813"/>
            </a:xfrm>
            <a:custGeom>
              <a:avLst/>
              <a:gdLst>
                <a:gd name="T0" fmla="*/ 92 w 92"/>
                <a:gd name="T1" fmla="*/ 0 h 8"/>
                <a:gd name="T2" fmla="*/ 4 w 92"/>
                <a:gd name="T3" fmla="*/ 0 h 8"/>
                <a:gd name="T4" fmla="*/ 0 w 92"/>
                <a:gd name="T5" fmla="*/ 4 h 8"/>
                <a:gd name="T6" fmla="*/ 4 w 92"/>
                <a:gd name="T7" fmla="*/ 8 h 8"/>
                <a:gd name="T8" fmla="*/ 84 w 92"/>
                <a:gd name="T9" fmla="*/ 8 h 8"/>
                <a:gd name="T10" fmla="*/ 92 w 92"/>
                <a:gd name="T11" fmla="*/ 0 h 8"/>
              </a:gdLst>
              <a:ahLst/>
              <a:cxnLst>
                <a:cxn ang="0">
                  <a:pos x="T0" y="T1"/>
                </a:cxn>
                <a:cxn ang="0">
                  <a:pos x="T2" y="T3"/>
                </a:cxn>
                <a:cxn ang="0">
                  <a:pos x="T4" y="T5"/>
                </a:cxn>
                <a:cxn ang="0">
                  <a:pos x="T6" y="T7"/>
                </a:cxn>
                <a:cxn ang="0">
                  <a:pos x="T8" y="T9"/>
                </a:cxn>
                <a:cxn ang="0">
                  <a:pos x="T10" y="T11"/>
                </a:cxn>
              </a:cxnLst>
              <a:rect l="0" t="0" r="r" b="b"/>
              <a:pathLst>
                <a:path w="92" h="8">
                  <a:moveTo>
                    <a:pt x="92" y="0"/>
                  </a:moveTo>
                  <a:cubicBezTo>
                    <a:pt x="4" y="0"/>
                    <a:pt x="4" y="0"/>
                    <a:pt x="4" y="0"/>
                  </a:cubicBezTo>
                  <a:cubicBezTo>
                    <a:pt x="1" y="0"/>
                    <a:pt x="0" y="2"/>
                    <a:pt x="0" y="4"/>
                  </a:cubicBezTo>
                  <a:cubicBezTo>
                    <a:pt x="0" y="6"/>
                    <a:pt x="1" y="8"/>
                    <a:pt x="4" y="8"/>
                  </a:cubicBezTo>
                  <a:cubicBezTo>
                    <a:pt x="84" y="8"/>
                    <a:pt x="84" y="8"/>
                    <a:pt x="84" y="8"/>
                  </a:cubicBezTo>
                  <a:cubicBezTo>
                    <a:pt x="92" y="0"/>
                    <a:pt x="92" y="0"/>
                    <a:pt x="92"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1" name="iṡlïḓé"/>
            <p:cNvSpPr/>
            <p:nvPr/>
          </p:nvSpPr>
          <p:spPr bwMode="auto">
            <a:xfrm>
              <a:off x="6259513" y="3073400"/>
              <a:ext cx="177800" cy="25400"/>
            </a:xfrm>
            <a:custGeom>
              <a:avLst/>
              <a:gdLst>
                <a:gd name="T0" fmla="*/ 59 w 59"/>
                <a:gd name="T1" fmla="*/ 0 h 8"/>
                <a:gd name="T2" fmla="*/ 4 w 59"/>
                <a:gd name="T3" fmla="*/ 0 h 8"/>
                <a:gd name="T4" fmla="*/ 0 w 59"/>
                <a:gd name="T5" fmla="*/ 4 h 8"/>
                <a:gd name="T6" fmla="*/ 4 w 59"/>
                <a:gd name="T7" fmla="*/ 8 h 8"/>
                <a:gd name="T8" fmla="*/ 51 w 59"/>
                <a:gd name="T9" fmla="*/ 8 h 8"/>
                <a:gd name="T10" fmla="*/ 59 w 59"/>
                <a:gd name="T11" fmla="*/ 0 h 8"/>
              </a:gdLst>
              <a:ahLst/>
              <a:cxnLst>
                <a:cxn ang="0">
                  <a:pos x="T0" y="T1"/>
                </a:cxn>
                <a:cxn ang="0">
                  <a:pos x="T2" y="T3"/>
                </a:cxn>
                <a:cxn ang="0">
                  <a:pos x="T4" y="T5"/>
                </a:cxn>
                <a:cxn ang="0">
                  <a:pos x="T6" y="T7"/>
                </a:cxn>
                <a:cxn ang="0">
                  <a:pos x="T8" y="T9"/>
                </a:cxn>
                <a:cxn ang="0">
                  <a:pos x="T10" y="T11"/>
                </a:cxn>
              </a:cxnLst>
              <a:rect l="0" t="0" r="r" b="b"/>
              <a:pathLst>
                <a:path w="59" h="8">
                  <a:moveTo>
                    <a:pt x="59" y="0"/>
                  </a:moveTo>
                  <a:cubicBezTo>
                    <a:pt x="4" y="0"/>
                    <a:pt x="4" y="0"/>
                    <a:pt x="4" y="0"/>
                  </a:cubicBezTo>
                  <a:cubicBezTo>
                    <a:pt x="1" y="0"/>
                    <a:pt x="0" y="2"/>
                    <a:pt x="0" y="4"/>
                  </a:cubicBezTo>
                  <a:cubicBezTo>
                    <a:pt x="0" y="6"/>
                    <a:pt x="1" y="8"/>
                    <a:pt x="4" y="8"/>
                  </a:cubicBezTo>
                  <a:cubicBezTo>
                    <a:pt x="51" y="8"/>
                    <a:pt x="51" y="8"/>
                    <a:pt x="51" y="8"/>
                  </a:cubicBezTo>
                  <a:cubicBezTo>
                    <a:pt x="59" y="0"/>
                    <a:pt x="59" y="0"/>
                    <a:pt x="59"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2" name="ïsḷíḑê"/>
            <p:cNvSpPr/>
            <p:nvPr/>
          </p:nvSpPr>
          <p:spPr bwMode="auto">
            <a:xfrm>
              <a:off x="6259513" y="3173413"/>
              <a:ext cx="79375" cy="23813"/>
            </a:xfrm>
            <a:custGeom>
              <a:avLst/>
              <a:gdLst>
                <a:gd name="T0" fmla="*/ 26 w 26"/>
                <a:gd name="T1" fmla="*/ 0 h 8"/>
                <a:gd name="T2" fmla="*/ 4 w 26"/>
                <a:gd name="T3" fmla="*/ 0 h 8"/>
                <a:gd name="T4" fmla="*/ 0 w 26"/>
                <a:gd name="T5" fmla="*/ 4 h 8"/>
                <a:gd name="T6" fmla="*/ 4 w 26"/>
                <a:gd name="T7" fmla="*/ 8 h 8"/>
                <a:gd name="T8" fmla="*/ 18 w 26"/>
                <a:gd name="T9" fmla="*/ 8 h 8"/>
                <a:gd name="T10" fmla="*/ 26 w 26"/>
                <a:gd name="T11" fmla="*/ 0 h 8"/>
              </a:gdLst>
              <a:ahLst/>
              <a:cxnLst>
                <a:cxn ang="0">
                  <a:pos x="T0" y="T1"/>
                </a:cxn>
                <a:cxn ang="0">
                  <a:pos x="T2" y="T3"/>
                </a:cxn>
                <a:cxn ang="0">
                  <a:pos x="T4" y="T5"/>
                </a:cxn>
                <a:cxn ang="0">
                  <a:pos x="T6" y="T7"/>
                </a:cxn>
                <a:cxn ang="0">
                  <a:pos x="T8" y="T9"/>
                </a:cxn>
                <a:cxn ang="0">
                  <a:pos x="T10" y="T11"/>
                </a:cxn>
              </a:cxnLst>
              <a:rect l="0" t="0" r="r" b="b"/>
              <a:pathLst>
                <a:path w="26" h="8">
                  <a:moveTo>
                    <a:pt x="26" y="0"/>
                  </a:moveTo>
                  <a:cubicBezTo>
                    <a:pt x="4" y="0"/>
                    <a:pt x="4" y="0"/>
                    <a:pt x="4" y="0"/>
                  </a:cubicBezTo>
                  <a:cubicBezTo>
                    <a:pt x="1" y="0"/>
                    <a:pt x="0" y="2"/>
                    <a:pt x="0" y="4"/>
                  </a:cubicBezTo>
                  <a:cubicBezTo>
                    <a:pt x="0" y="6"/>
                    <a:pt x="1" y="8"/>
                    <a:pt x="4" y="8"/>
                  </a:cubicBezTo>
                  <a:cubicBezTo>
                    <a:pt x="18" y="8"/>
                    <a:pt x="18" y="8"/>
                    <a:pt x="18" y="8"/>
                  </a:cubicBezTo>
                  <a:cubicBezTo>
                    <a:pt x="26" y="0"/>
                    <a:pt x="26" y="0"/>
                    <a:pt x="26"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3" name="î$ḻíḑê"/>
            <p:cNvSpPr/>
            <p:nvPr/>
          </p:nvSpPr>
          <p:spPr bwMode="auto">
            <a:xfrm>
              <a:off x="5118101" y="2322513"/>
              <a:ext cx="993775" cy="706438"/>
            </a:xfrm>
            <a:custGeom>
              <a:avLst/>
              <a:gdLst>
                <a:gd name="T0" fmla="*/ 127 w 330"/>
                <a:gd name="T1" fmla="*/ 202 h 235"/>
                <a:gd name="T2" fmla="*/ 95 w 330"/>
                <a:gd name="T3" fmla="*/ 202 h 235"/>
                <a:gd name="T4" fmla="*/ 95 w 330"/>
                <a:gd name="T5" fmla="*/ 213 h 235"/>
                <a:gd name="T6" fmla="*/ 95 w 330"/>
                <a:gd name="T7" fmla="*/ 213 h 235"/>
                <a:gd name="T8" fmla="*/ 95 w 330"/>
                <a:gd name="T9" fmla="*/ 235 h 235"/>
                <a:gd name="T10" fmla="*/ 127 w 330"/>
                <a:gd name="T11" fmla="*/ 202 h 235"/>
                <a:gd name="T12" fmla="*/ 198 w 330"/>
                <a:gd name="T13" fmla="*/ 132 h 235"/>
                <a:gd name="T14" fmla="*/ 39 w 330"/>
                <a:gd name="T15" fmla="*/ 132 h 235"/>
                <a:gd name="T16" fmla="*/ 0 w 330"/>
                <a:gd name="T17" fmla="*/ 170 h 235"/>
                <a:gd name="T18" fmla="*/ 95 w 330"/>
                <a:gd name="T19" fmla="*/ 170 h 235"/>
                <a:gd name="T20" fmla="*/ 95 w 330"/>
                <a:gd name="T21" fmla="*/ 173 h 235"/>
                <a:gd name="T22" fmla="*/ 109 w 330"/>
                <a:gd name="T23" fmla="*/ 173 h 235"/>
                <a:gd name="T24" fmla="*/ 112 w 330"/>
                <a:gd name="T25" fmla="*/ 176 h 235"/>
                <a:gd name="T26" fmla="*/ 109 w 330"/>
                <a:gd name="T27" fmla="*/ 179 h 235"/>
                <a:gd name="T28" fmla="*/ 95 w 330"/>
                <a:gd name="T29" fmla="*/ 179 h 235"/>
                <a:gd name="T30" fmla="*/ 95 w 330"/>
                <a:gd name="T31" fmla="*/ 197 h 235"/>
                <a:gd name="T32" fmla="*/ 133 w 330"/>
                <a:gd name="T33" fmla="*/ 197 h 235"/>
                <a:gd name="T34" fmla="*/ 151 w 330"/>
                <a:gd name="T35" fmla="*/ 179 h 235"/>
                <a:gd name="T36" fmla="*/ 131 w 330"/>
                <a:gd name="T37" fmla="*/ 179 h 235"/>
                <a:gd name="T38" fmla="*/ 129 w 330"/>
                <a:gd name="T39" fmla="*/ 176 h 235"/>
                <a:gd name="T40" fmla="*/ 131 w 330"/>
                <a:gd name="T41" fmla="*/ 173 h 235"/>
                <a:gd name="T42" fmla="*/ 156 w 330"/>
                <a:gd name="T43" fmla="*/ 173 h 235"/>
                <a:gd name="T44" fmla="*/ 174 w 330"/>
                <a:gd name="T45" fmla="*/ 155 h 235"/>
                <a:gd name="T46" fmla="*/ 28 w 330"/>
                <a:gd name="T47" fmla="*/ 155 h 235"/>
                <a:gd name="T48" fmla="*/ 25 w 330"/>
                <a:gd name="T49" fmla="*/ 152 h 235"/>
                <a:gd name="T50" fmla="*/ 28 w 330"/>
                <a:gd name="T51" fmla="*/ 149 h 235"/>
                <a:gd name="T52" fmla="*/ 180 w 330"/>
                <a:gd name="T53" fmla="*/ 149 h 235"/>
                <a:gd name="T54" fmla="*/ 198 w 330"/>
                <a:gd name="T55" fmla="*/ 132 h 235"/>
                <a:gd name="T56" fmla="*/ 221 w 330"/>
                <a:gd name="T57" fmla="*/ 108 h 235"/>
                <a:gd name="T58" fmla="*/ 191 w 330"/>
                <a:gd name="T59" fmla="*/ 108 h 235"/>
                <a:gd name="T60" fmla="*/ 180 w 330"/>
                <a:gd name="T61" fmla="*/ 126 h 235"/>
                <a:gd name="T62" fmla="*/ 204 w 330"/>
                <a:gd name="T63" fmla="*/ 126 h 235"/>
                <a:gd name="T64" fmla="*/ 221 w 330"/>
                <a:gd name="T65" fmla="*/ 108 h 235"/>
                <a:gd name="T66" fmla="*/ 270 w 330"/>
                <a:gd name="T67" fmla="*/ 59 h 235"/>
                <a:gd name="T68" fmla="*/ 192 w 330"/>
                <a:gd name="T69" fmla="*/ 59 h 235"/>
                <a:gd name="T70" fmla="*/ 192 w 330"/>
                <a:gd name="T71" fmla="*/ 79 h 235"/>
                <a:gd name="T72" fmla="*/ 222 w 330"/>
                <a:gd name="T73" fmla="*/ 79 h 235"/>
                <a:gd name="T74" fmla="*/ 225 w 330"/>
                <a:gd name="T75" fmla="*/ 82 h 235"/>
                <a:gd name="T76" fmla="*/ 222 w 330"/>
                <a:gd name="T77" fmla="*/ 85 h 235"/>
                <a:gd name="T78" fmla="*/ 192 w 330"/>
                <a:gd name="T79" fmla="*/ 85 h 235"/>
                <a:gd name="T80" fmla="*/ 192 w 330"/>
                <a:gd name="T81" fmla="*/ 102 h 235"/>
                <a:gd name="T82" fmla="*/ 192 w 330"/>
                <a:gd name="T83" fmla="*/ 102 h 235"/>
                <a:gd name="T84" fmla="*/ 222 w 330"/>
                <a:gd name="T85" fmla="*/ 102 h 235"/>
                <a:gd name="T86" fmla="*/ 225 w 330"/>
                <a:gd name="T87" fmla="*/ 105 h 235"/>
                <a:gd name="T88" fmla="*/ 270 w 330"/>
                <a:gd name="T89" fmla="*/ 59 h 235"/>
                <a:gd name="T90" fmla="*/ 330 w 330"/>
                <a:gd name="T91" fmla="*/ 0 h 235"/>
                <a:gd name="T92" fmla="*/ 192 w 330"/>
                <a:gd name="T93" fmla="*/ 0 h 235"/>
                <a:gd name="T94" fmla="*/ 192 w 330"/>
                <a:gd name="T95" fmla="*/ 19 h 235"/>
                <a:gd name="T96" fmla="*/ 267 w 330"/>
                <a:gd name="T97" fmla="*/ 19 h 235"/>
                <a:gd name="T98" fmla="*/ 273 w 330"/>
                <a:gd name="T99" fmla="*/ 25 h 235"/>
                <a:gd name="T100" fmla="*/ 267 w 330"/>
                <a:gd name="T101" fmla="*/ 31 h 235"/>
                <a:gd name="T102" fmla="*/ 192 w 330"/>
                <a:gd name="T103" fmla="*/ 31 h 235"/>
                <a:gd name="T104" fmla="*/ 192 w 330"/>
                <a:gd name="T105" fmla="*/ 50 h 235"/>
                <a:gd name="T106" fmla="*/ 280 w 330"/>
                <a:gd name="T107" fmla="*/ 50 h 235"/>
                <a:gd name="T108" fmla="*/ 330 w 330"/>
                <a:gd name="T109" fmla="*/ 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30" h="235">
                  <a:moveTo>
                    <a:pt x="127" y="202"/>
                  </a:moveTo>
                  <a:cubicBezTo>
                    <a:pt x="95" y="202"/>
                    <a:pt x="95" y="202"/>
                    <a:pt x="95" y="202"/>
                  </a:cubicBezTo>
                  <a:cubicBezTo>
                    <a:pt x="95" y="213"/>
                    <a:pt x="95" y="213"/>
                    <a:pt x="95" y="213"/>
                  </a:cubicBezTo>
                  <a:cubicBezTo>
                    <a:pt x="95" y="213"/>
                    <a:pt x="95" y="213"/>
                    <a:pt x="95" y="213"/>
                  </a:cubicBezTo>
                  <a:cubicBezTo>
                    <a:pt x="95" y="235"/>
                    <a:pt x="95" y="235"/>
                    <a:pt x="95" y="235"/>
                  </a:cubicBezTo>
                  <a:cubicBezTo>
                    <a:pt x="127" y="202"/>
                    <a:pt x="127" y="202"/>
                    <a:pt x="127" y="202"/>
                  </a:cubicBezTo>
                  <a:moveTo>
                    <a:pt x="198" y="132"/>
                  </a:moveTo>
                  <a:cubicBezTo>
                    <a:pt x="39" y="132"/>
                    <a:pt x="39" y="132"/>
                    <a:pt x="39" y="132"/>
                  </a:cubicBezTo>
                  <a:cubicBezTo>
                    <a:pt x="0" y="170"/>
                    <a:pt x="0" y="170"/>
                    <a:pt x="0" y="170"/>
                  </a:cubicBezTo>
                  <a:cubicBezTo>
                    <a:pt x="95" y="170"/>
                    <a:pt x="95" y="170"/>
                    <a:pt x="95" y="170"/>
                  </a:cubicBezTo>
                  <a:cubicBezTo>
                    <a:pt x="95" y="173"/>
                    <a:pt x="95" y="173"/>
                    <a:pt x="95" y="173"/>
                  </a:cubicBezTo>
                  <a:cubicBezTo>
                    <a:pt x="109" y="173"/>
                    <a:pt x="109" y="173"/>
                    <a:pt x="109" y="173"/>
                  </a:cubicBezTo>
                  <a:cubicBezTo>
                    <a:pt x="111" y="173"/>
                    <a:pt x="112" y="174"/>
                    <a:pt x="112" y="176"/>
                  </a:cubicBezTo>
                  <a:cubicBezTo>
                    <a:pt x="112" y="177"/>
                    <a:pt x="111" y="179"/>
                    <a:pt x="109" y="179"/>
                  </a:cubicBezTo>
                  <a:cubicBezTo>
                    <a:pt x="95" y="179"/>
                    <a:pt x="95" y="179"/>
                    <a:pt x="95" y="179"/>
                  </a:cubicBezTo>
                  <a:cubicBezTo>
                    <a:pt x="95" y="197"/>
                    <a:pt x="95" y="197"/>
                    <a:pt x="95" y="197"/>
                  </a:cubicBezTo>
                  <a:cubicBezTo>
                    <a:pt x="133" y="197"/>
                    <a:pt x="133" y="197"/>
                    <a:pt x="133" y="197"/>
                  </a:cubicBezTo>
                  <a:cubicBezTo>
                    <a:pt x="151" y="179"/>
                    <a:pt x="151" y="179"/>
                    <a:pt x="151" y="179"/>
                  </a:cubicBezTo>
                  <a:cubicBezTo>
                    <a:pt x="131" y="179"/>
                    <a:pt x="131" y="179"/>
                    <a:pt x="131" y="179"/>
                  </a:cubicBezTo>
                  <a:cubicBezTo>
                    <a:pt x="130" y="179"/>
                    <a:pt x="129" y="177"/>
                    <a:pt x="129" y="176"/>
                  </a:cubicBezTo>
                  <a:cubicBezTo>
                    <a:pt x="129" y="174"/>
                    <a:pt x="130" y="173"/>
                    <a:pt x="131" y="173"/>
                  </a:cubicBezTo>
                  <a:cubicBezTo>
                    <a:pt x="156" y="173"/>
                    <a:pt x="156" y="173"/>
                    <a:pt x="156" y="173"/>
                  </a:cubicBezTo>
                  <a:cubicBezTo>
                    <a:pt x="174" y="155"/>
                    <a:pt x="174" y="155"/>
                    <a:pt x="174" y="155"/>
                  </a:cubicBezTo>
                  <a:cubicBezTo>
                    <a:pt x="28" y="155"/>
                    <a:pt x="28" y="155"/>
                    <a:pt x="28" y="155"/>
                  </a:cubicBezTo>
                  <a:cubicBezTo>
                    <a:pt x="27" y="155"/>
                    <a:pt x="25" y="154"/>
                    <a:pt x="25" y="152"/>
                  </a:cubicBezTo>
                  <a:cubicBezTo>
                    <a:pt x="25" y="151"/>
                    <a:pt x="27" y="149"/>
                    <a:pt x="28" y="149"/>
                  </a:cubicBezTo>
                  <a:cubicBezTo>
                    <a:pt x="180" y="149"/>
                    <a:pt x="180" y="149"/>
                    <a:pt x="180" y="149"/>
                  </a:cubicBezTo>
                  <a:cubicBezTo>
                    <a:pt x="198" y="132"/>
                    <a:pt x="198" y="132"/>
                    <a:pt x="198" y="132"/>
                  </a:cubicBezTo>
                  <a:moveTo>
                    <a:pt x="221" y="108"/>
                  </a:moveTo>
                  <a:cubicBezTo>
                    <a:pt x="191" y="108"/>
                    <a:pt x="191" y="108"/>
                    <a:pt x="191" y="108"/>
                  </a:cubicBezTo>
                  <a:cubicBezTo>
                    <a:pt x="190" y="115"/>
                    <a:pt x="185" y="122"/>
                    <a:pt x="180" y="126"/>
                  </a:cubicBezTo>
                  <a:cubicBezTo>
                    <a:pt x="204" y="126"/>
                    <a:pt x="204" y="126"/>
                    <a:pt x="204" y="126"/>
                  </a:cubicBezTo>
                  <a:cubicBezTo>
                    <a:pt x="221" y="108"/>
                    <a:pt x="221" y="108"/>
                    <a:pt x="221" y="108"/>
                  </a:cubicBezTo>
                  <a:moveTo>
                    <a:pt x="270" y="59"/>
                  </a:moveTo>
                  <a:cubicBezTo>
                    <a:pt x="192" y="59"/>
                    <a:pt x="192" y="59"/>
                    <a:pt x="192" y="59"/>
                  </a:cubicBezTo>
                  <a:cubicBezTo>
                    <a:pt x="192" y="79"/>
                    <a:pt x="192" y="79"/>
                    <a:pt x="192" y="79"/>
                  </a:cubicBezTo>
                  <a:cubicBezTo>
                    <a:pt x="222" y="79"/>
                    <a:pt x="222" y="79"/>
                    <a:pt x="222" y="79"/>
                  </a:cubicBezTo>
                  <a:cubicBezTo>
                    <a:pt x="224" y="79"/>
                    <a:pt x="225" y="80"/>
                    <a:pt x="225" y="82"/>
                  </a:cubicBezTo>
                  <a:cubicBezTo>
                    <a:pt x="225" y="83"/>
                    <a:pt x="224" y="85"/>
                    <a:pt x="222" y="85"/>
                  </a:cubicBezTo>
                  <a:cubicBezTo>
                    <a:pt x="192" y="85"/>
                    <a:pt x="192" y="85"/>
                    <a:pt x="192" y="85"/>
                  </a:cubicBezTo>
                  <a:cubicBezTo>
                    <a:pt x="192" y="102"/>
                    <a:pt x="192" y="102"/>
                    <a:pt x="192" y="102"/>
                  </a:cubicBezTo>
                  <a:cubicBezTo>
                    <a:pt x="192" y="102"/>
                    <a:pt x="192" y="102"/>
                    <a:pt x="192" y="102"/>
                  </a:cubicBezTo>
                  <a:cubicBezTo>
                    <a:pt x="222" y="102"/>
                    <a:pt x="222" y="102"/>
                    <a:pt x="222" y="102"/>
                  </a:cubicBezTo>
                  <a:cubicBezTo>
                    <a:pt x="223" y="102"/>
                    <a:pt x="225" y="103"/>
                    <a:pt x="225" y="105"/>
                  </a:cubicBezTo>
                  <a:cubicBezTo>
                    <a:pt x="270" y="59"/>
                    <a:pt x="270" y="59"/>
                    <a:pt x="270" y="59"/>
                  </a:cubicBezTo>
                  <a:moveTo>
                    <a:pt x="330" y="0"/>
                  </a:moveTo>
                  <a:cubicBezTo>
                    <a:pt x="192" y="0"/>
                    <a:pt x="192" y="0"/>
                    <a:pt x="192" y="0"/>
                  </a:cubicBezTo>
                  <a:cubicBezTo>
                    <a:pt x="192" y="19"/>
                    <a:pt x="192" y="19"/>
                    <a:pt x="192" y="19"/>
                  </a:cubicBezTo>
                  <a:cubicBezTo>
                    <a:pt x="267" y="19"/>
                    <a:pt x="267" y="19"/>
                    <a:pt x="267" y="19"/>
                  </a:cubicBezTo>
                  <a:cubicBezTo>
                    <a:pt x="270" y="19"/>
                    <a:pt x="273" y="21"/>
                    <a:pt x="273" y="25"/>
                  </a:cubicBezTo>
                  <a:cubicBezTo>
                    <a:pt x="273" y="28"/>
                    <a:pt x="270" y="31"/>
                    <a:pt x="267" y="31"/>
                  </a:cubicBezTo>
                  <a:cubicBezTo>
                    <a:pt x="192" y="31"/>
                    <a:pt x="192" y="31"/>
                    <a:pt x="192" y="31"/>
                  </a:cubicBezTo>
                  <a:cubicBezTo>
                    <a:pt x="192" y="50"/>
                    <a:pt x="192" y="50"/>
                    <a:pt x="192" y="50"/>
                  </a:cubicBezTo>
                  <a:cubicBezTo>
                    <a:pt x="280" y="50"/>
                    <a:pt x="280" y="50"/>
                    <a:pt x="280" y="50"/>
                  </a:cubicBezTo>
                  <a:cubicBezTo>
                    <a:pt x="330" y="0"/>
                    <a:pt x="330" y="0"/>
                    <a:pt x="330" y="0"/>
                  </a:cubicBezTo>
                </a:path>
              </a:pathLst>
            </a:custGeom>
            <a:solidFill>
              <a:srgbClr val="1D214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4" name="i$ḷîďè"/>
            <p:cNvSpPr/>
            <p:nvPr/>
          </p:nvSpPr>
          <p:spPr bwMode="auto">
            <a:xfrm>
              <a:off x="5695951" y="2471738"/>
              <a:ext cx="265113" cy="26988"/>
            </a:xfrm>
            <a:custGeom>
              <a:avLst/>
              <a:gdLst>
                <a:gd name="T0" fmla="*/ 167 w 167"/>
                <a:gd name="T1" fmla="*/ 0 h 17"/>
                <a:gd name="T2" fmla="*/ 0 w 167"/>
                <a:gd name="T3" fmla="*/ 0 h 17"/>
                <a:gd name="T4" fmla="*/ 0 w 167"/>
                <a:gd name="T5" fmla="*/ 17 h 17"/>
                <a:gd name="T6" fmla="*/ 148 w 167"/>
                <a:gd name="T7" fmla="*/ 17 h 17"/>
                <a:gd name="T8" fmla="*/ 167 w 167"/>
                <a:gd name="T9" fmla="*/ 0 h 17"/>
              </a:gdLst>
              <a:ahLst/>
              <a:cxnLst>
                <a:cxn ang="0">
                  <a:pos x="T0" y="T1"/>
                </a:cxn>
                <a:cxn ang="0">
                  <a:pos x="T2" y="T3"/>
                </a:cxn>
                <a:cxn ang="0">
                  <a:pos x="T4" y="T5"/>
                </a:cxn>
                <a:cxn ang="0">
                  <a:pos x="T6" y="T7"/>
                </a:cxn>
                <a:cxn ang="0">
                  <a:pos x="T8" y="T9"/>
                </a:cxn>
              </a:cxnLst>
              <a:rect l="0" t="0" r="r" b="b"/>
              <a:pathLst>
                <a:path w="167" h="17">
                  <a:moveTo>
                    <a:pt x="167" y="0"/>
                  </a:moveTo>
                  <a:lnTo>
                    <a:pt x="0" y="0"/>
                  </a:lnTo>
                  <a:lnTo>
                    <a:pt x="0" y="17"/>
                  </a:lnTo>
                  <a:lnTo>
                    <a:pt x="148" y="17"/>
                  </a:lnTo>
                  <a:lnTo>
                    <a:pt x="167" y="0"/>
                  </a:lnTo>
                  <a:close/>
                </a:path>
              </a:pathLst>
            </a:custGeom>
            <a:solidFill>
              <a:srgbClr val="76EFF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5" name="iṥ1îḑè"/>
            <p:cNvSpPr/>
            <p:nvPr/>
          </p:nvSpPr>
          <p:spPr bwMode="auto">
            <a:xfrm>
              <a:off x="5695951" y="2471738"/>
              <a:ext cx="265113" cy="26988"/>
            </a:xfrm>
            <a:custGeom>
              <a:avLst/>
              <a:gdLst>
                <a:gd name="T0" fmla="*/ 167 w 167"/>
                <a:gd name="T1" fmla="*/ 0 h 17"/>
                <a:gd name="T2" fmla="*/ 0 w 167"/>
                <a:gd name="T3" fmla="*/ 0 h 17"/>
                <a:gd name="T4" fmla="*/ 0 w 167"/>
                <a:gd name="T5" fmla="*/ 17 h 17"/>
                <a:gd name="T6" fmla="*/ 148 w 167"/>
                <a:gd name="T7" fmla="*/ 17 h 17"/>
                <a:gd name="T8" fmla="*/ 167 w 167"/>
                <a:gd name="T9" fmla="*/ 0 h 17"/>
              </a:gdLst>
              <a:ahLst/>
              <a:cxnLst>
                <a:cxn ang="0">
                  <a:pos x="T0" y="T1"/>
                </a:cxn>
                <a:cxn ang="0">
                  <a:pos x="T2" y="T3"/>
                </a:cxn>
                <a:cxn ang="0">
                  <a:pos x="T4" y="T5"/>
                </a:cxn>
                <a:cxn ang="0">
                  <a:pos x="T6" y="T7"/>
                </a:cxn>
                <a:cxn ang="0">
                  <a:pos x="T8" y="T9"/>
                </a:cxn>
              </a:cxnLst>
              <a:rect l="0" t="0" r="r" b="b"/>
              <a:pathLst>
                <a:path w="167" h="17">
                  <a:moveTo>
                    <a:pt x="167" y="0"/>
                  </a:moveTo>
                  <a:lnTo>
                    <a:pt x="0" y="0"/>
                  </a:lnTo>
                  <a:lnTo>
                    <a:pt x="0" y="17"/>
                  </a:lnTo>
                  <a:lnTo>
                    <a:pt x="148" y="17"/>
                  </a:lnTo>
                  <a:lnTo>
                    <a:pt x="16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6" name="íṧľíḋé"/>
            <p:cNvSpPr/>
            <p:nvPr/>
          </p:nvSpPr>
          <p:spPr bwMode="auto">
            <a:xfrm>
              <a:off x="5695951" y="2379663"/>
              <a:ext cx="244475" cy="34925"/>
            </a:xfrm>
            <a:custGeom>
              <a:avLst/>
              <a:gdLst>
                <a:gd name="T0" fmla="*/ 75 w 81"/>
                <a:gd name="T1" fmla="*/ 0 h 12"/>
                <a:gd name="T2" fmla="*/ 0 w 81"/>
                <a:gd name="T3" fmla="*/ 0 h 12"/>
                <a:gd name="T4" fmla="*/ 0 w 81"/>
                <a:gd name="T5" fmla="*/ 12 h 12"/>
                <a:gd name="T6" fmla="*/ 75 w 81"/>
                <a:gd name="T7" fmla="*/ 12 h 12"/>
                <a:gd name="T8" fmla="*/ 81 w 81"/>
                <a:gd name="T9" fmla="*/ 6 h 12"/>
                <a:gd name="T10" fmla="*/ 75 w 81"/>
                <a:gd name="T11" fmla="*/ 0 h 12"/>
              </a:gdLst>
              <a:ahLst/>
              <a:cxnLst>
                <a:cxn ang="0">
                  <a:pos x="T0" y="T1"/>
                </a:cxn>
                <a:cxn ang="0">
                  <a:pos x="T2" y="T3"/>
                </a:cxn>
                <a:cxn ang="0">
                  <a:pos x="T4" y="T5"/>
                </a:cxn>
                <a:cxn ang="0">
                  <a:pos x="T6" y="T7"/>
                </a:cxn>
                <a:cxn ang="0">
                  <a:pos x="T8" y="T9"/>
                </a:cxn>
                <a:cxn ang="0">
                  <a:pos x="T10" y="T11"/>
                </a:cxn>
              </a:cxnLst>
              <a:rect l="0" t="0" r="r" b="b"/>
              <a:pathLst>
                <a:path w="81" h="12">
                  <a:moveTo>
                    <a:pt x="75" y="0"/>
                  </a:moveTo>
                  <a:cubicBezTo>
                    <a:pt x="0" y="0"/>
                    <a:pt x="0" y="0"/>
                    <a:pt x="0" y="0"/>
                  </a:cubicBezTo>
                  <a:cubicBezTo>
                    <a:pt x="0" y="12"/>
                    <a:pt x="0" y="12"/>
                    <a:pt x="0" y="12"/>
                  </a:cubicBezTo>
                  <a:cubicBezTo>
                    <a:pt x="75" y="12"/>
                    <a:pt x="75" y="12"/>
                    <a:pt x="75" y="12"/>
                  </a:cubicBezTo>
                  <a:cubicBezTo>
                    <a:pt x="78" y="12"/>
                    <a:pt x="81" y="9"/>
                    <a:pt x="81" y="6"/>
                  </a:cubicBezTo>
                  <a:cubicBezTo>
                    <a:pt x="81" y="2"/>
                    <a:pt x="78" y="0"/>
                    <a:pt x="75" y="0"/>
                  </a:cubicBezTo>
                </a:path>
              </a:pathLst>
            </a:custGeom>
            <a:solidFill>
              <a:srgbClr val="37D2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7" name="íṣlíďê"/>
            <p:cNvSpPr/>
            <p:nvPr/>
          </p:nvSpPr>
          <p:spPr bwMode="auto">
            <a:xfrm>
              <a:off x="5695951" y="2559050"/>
              <a:ext cx="100013" cy="19050"/>
            </a:xfrm>
            <a:custGeom>
              <a:avLst/>
              <a:gdLst>
                <a:gd name="T0" fmla="*/ 30 w 33"/>
                <a:gd name="T1" fmla="*/ 0 h 6"/>
                <a:gd name="T2" fmla="*/ 0 w 33"/>
                <a:gd name="T3" fmla="*/ 0 h 6"/>
                <a:gd name="T4" fmla="*/ 0 w 33"/>
                <a:gd name="T5" fmla="*/ 6 h 6"/>
                <a:gd name="T6" fmla="*/ 30 w 33"/>
                <a:gd name="T7" fmla="*/ 6 h 6"/>
                <a:gd name="T8" fmla="*/ 33 w 33"/>
                <a:gd name="T9" fmla="*/ 3 h 6"/>
                <a:gd name="T10" fmla="*/ 30 w 33"/>
                <a:gd name="T11" fmla="*/ 0 h 6"/>
              </a:gdLst>
              <a:ahLst/>
              <a:cxnLst>
                <a:cxn ang="0">
                  <a:pos x="T0" y="T1"/>
                </a:cxn>
                <a:cxn ang="0">
                  <a:pos x="T2" y="T3"/>
                </a:cxn>
                <a:cxn ang="0">
                  <a:pos x="T4" y="T5"/>
                </a:cxn>
                <a:cxn ang="0">
                  <a:pos x="T6" y="T7"/>
                </a:cxn>
                <a:cxn ang="0">
                  <a:pos x="T8" y="T9"/>
                </a:cxn>
                <a:cxn ang="0">
                  <a:pos x="T10" y="T11"/>
                </a:cxn>
              </a:cxnLst>
              <a:rect l="0" t="0" r="r" b="b"/>
              <a:pathLst>
                <a:path w="33" h="6">
                  <a:moveTo>
                    <a:pt x="30" y="0"/>
                  </a:moveTo>
                  <a:cubicBezTo>
                    <a:pt x="0" y="0"/>
                    <a:pt x="0" y="0"/>
                    <a:pt x="0" y="0"/>
                  </a:cubicBezTo>
                  <a:cubicBezTo>
                    <a:pt x="0" y="6"/>
                    <a:pt x="0" y="6"/>
                    <a:pt x="0" y="6"/>
                  </a:cubicBezTo>
                  <a:cubicBezTo>
                    <a:pt x="30" y="6"/>
                    <a:pt x="30" y="6"/>
                    <a:pt x="30" y="6"/>
                  </a:cubicBezTo>
                  <a:cubicBezTo>
                    <a:pt x="32" y="6"/>
                    <a:pt x="33" y="4"/>
                    <a:pt x="33" y="3"/>
                  </a:cubicBezTo>
                  <a:cubicBezTo>
                    <a:pt x="33" y="1"/>
                    <a:pt x="32" y="0"/>
                    <a:pt x="30" y="0"/>
                  </a:cubicBezTo>
                </a:path>
              </a:pathLst>
            </a:custGeom>
            <a:solidFill>
              <a:srgbClr val="C2EF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8" name="iṡḷïḑe"/>
            <p:cNvSpPr/>
            <p:nvPr/>
          </p:nvSpPr>
          <p:spPr bwMode="auto">
            <a:xfrm>
              <a:off x="5692776" y="2628900"/>
              <a:ext cx="103188" cy="17463"/>
            </a:xfrm>
            <a:custGeom>
              <a:avLst/>
              <a:gdLst>
                <a:gd name="T0" fmla="*/ 31 w 34"/>
                <a:gd name="T1" fmla="*/ 0 h 6"/>
                <a:gd name="T2" fmla="*/ 1 w 34"/>
                <a:gd name="T3" fmla="*/ 0 h 6"/>
                <a:gd name="T4" fmla="*/ 0 w 34"/>
                <a:gd name="T5" fmla="*/ 6 h 6"/>
                <a:gd name="T6" fmla="*/ 30 w 34"/>
                <a:gd name="T7" fmla="*/ 6 h 6"/>
                <a:gd name="T8" fmla="*/ 34 w 34"/>
                <a:gd name="T9" fmla="*/ 3 h 6"/>
                <a:gd name="T10" fmla="*/ 31 w 34"/>
                <a:gd name="T11" fmla="*/ 0 h 6"/>
              </a:gdLst>
              <a:ahLst/>
              <a:cxnLst>
                <a:cxn ang="0">
                  <a:pos x="T0" y="T1"/>
                </a:cxn>
                <a:cxn ang="0">
                  <a:pos x="T2" y="T3"/>
                </a:cxn>
                <a:cxn ang="0">
                  <a:pos x="T4" y="T5"/>
                </a:cxn>
                <a:cxn ang="0">
                  <a:pos x="T6" y="T7"/>
                </a:cxn>
                <a:cxn ang="0">
                  <a:pos x="T8" y="T9"/>
                </a:cxn>
                <a:cxn ang="0">
                  <a:pos x="T10" y="T11"/>
                </a:cxn>
              </a:cxnLst>
              <a:rect l="0" t="0" r="r" b="b"/>
              <a:pathLst>
                <a:path w="34" h="6">
                  <a:moveTo>
                    <a:pt x="31" y="0"/>
                  </a:moveTo>
                  <a:cubicBezTo>
                    <a:pt x="1" y="0"/>
                    <a:pt x="1" y="0"/>
                    <a:pt x="1" y="0"/>
                  </a:cubicBezTo>
                  <a:cubicBezTo>
                    <a:pt x="1" y="2"/>
                    <a:pt x="1" y="4"/>
                    <a:pt x="0" y="6"/>
                  </a:cubicBezTo>
                  <a:cubicBezTo>
                    <a:pt x="30" y="6"/>
                    <a:pt x="30" y="6"/>
                    <a:pt x="30" y="6"/>
                  </a:cubicBezTo>
                  <a:cubicBezTo>
                    <a:pt x="34" y="3"/>
                    <a:pt x="34" y="3"/>
                    <a:pt x="34" y="3"/>
                  </a:cubicBezTo>
                  <a:cubicBezTo>
                    <a:pt x="34" y="1"/>
                    <a:pt x="32" y="0"/>
                    <a:pt x="31" y="0"/>
                  </a:cubicBezTo>
                </a:path>
              </a:pathLst>
            </a:custGeom>
            <a:solidFill>
              <a:srgbClr val="C2EF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9" name="isḷíde"/>
            <p:cNvSpPr/>
            <p:nvPr/>
          </p:nvSpPr>
          <p:spPr bwMode="auto">
            <a:xfrm>
              <a:off x="5235576" y="2700338"/>
              <a:ext cx="496888" cy="19050"/>
            </a:xfrm>
            <a:custGeom>
              <a:avLst/>
              <a:gdLst>
                <a:gd name="T0" fmla="*/ 165 w 165"/>
                <a:gd name="T1" fmla="*/ 0 h 6"/>
                <a:gd name="T2" fmla="*/ 141 w 165"/>
                <a:gd name="T3" fmla="*/ 0 h 6"/>
                <a:gd name="T4" fmla="*/ 123 w 165"/>
                <a:gd name="T5" fmla="*/ 6 h 6"/>
                <a:gd name="T6" fmla="*/ 0 w 165"/>
                <a:gd name="T7" fmla="*/ 6 h 6"/>
                <a:gd name="T8" fmla="*/ 159 w 165"/>
                <a:gd name="T9" fmla="*/ 6 h 6"/>
                <a:gd name="T10" fmla="*/ 165 w 165"/>
                <a:gd name="T11" fmla="*/ 0 h 6"/>
              </a:gdLst>
              <a:ahLst/>
              <a:cxnLst>
                <a:cxn ang="0">
                  <a:pos x="T0" y="T1"/>
                </a:cxn>
                <a:cxn ang="0">
                  <a:pos x="T2" y="T3"/>
                </a:cxn>
                <a:cxn ang="0">
                  <a:pos x="T4" y="T5"/>
                </a:cxn>
                <a:cxn ang="0">
                  <a:pos x="T6" y="T7"/>
                </a:cxn>
                <a:cxn ang="0">
                  <a:pos x="T8" y="T9"/>
                </a:cxn>
                <a:cxn ang="0">
                  <a:pos x="T10" y="T11"/>
                </a:cxn>
              </a:cxnLst>
              <a:rect l="0" t="0" r="r" b="b"/>
              <a:pathLst>
                <a:path w="165" h="6">
                  <a:moveTo>
                    <a:pt x="165" y="0"/>
                  </a:moveTo>
                  <a:cubicBezTo>
                    <a:pt x="141" y="0"/>
                    <a:pt x="141" y="0"/>
                    <a:pt x="141" y="0"/>
                  </a:cubicBezTo>
                  <a:cubicBezTo>
                    <a:pt x="136" y="4"/>
                    <a:pt x="129" y="6"/>
                    <a:pt x="123" y="6"/>
                  </a:cubicBezTo>
                  <a:cubicBezTo>
                    <a:pt x="0" y="6"/>
                    <a:pt x="0" y="6"/>
                    <a:pt x="0" y="6"/>
                  </a:cubicBezTo>
                  <a:cubicBezTo>
                    <a:pt x="159" y="6"/>
                    <a:pt x="159" y="6"/>
                    <a:pt x="159" y="6"/>
                  </a:cubicBezTo>
                  <a:cubicBezTo>
                    <a:pt x="165" y="0"/>
                    <a:pt x="165" y="0"/>
                    <a:pt x="165" y="0"/>
                  </a:cubicBezTo>
                </a:path>
              </a:pathLst>
            </a:custGeom>
            <a:solidFill>
              <a:srgbClr val="C2EF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80" name="ïśľïḓe"/>
            <p:cNvSpPr/>
            <p:nvPr/>
          </p:nvSpPr>
          <p:spPr bwMode="auto">
            <a:xfrm>
              <a:off x="5192713" y="2770188"/>
              <a:ext cx="468313" cy="17463"/>
            </a:xfrm>
            <a:custGeom>
              <a:avLst/>
              <a:gdLst>
                <a:gd name="T0" fmla="*/ 155 w 155"/>
                <a:gd name="T1" fmla="*/ 0 h 6"/>
                <a:gd name="T2" fmla="*/ 3 w 155"/>
                <a:gd name="T3" fmla="*/ 0 h 6"/>
                <a:gd name="T4" fmla="*/ 0 w 155"/>
                <a:gd name="T5" fmla="*/ 3 h 6"/>
                <a:gd name="T6" fmla="*/ 3 w 155"/>
                <a:gd name="T7" fmla="*/ 6 h 6"/>
                <a:gd name="T8" fmla="*/ 149 w 155"/>
                <a:gd name="T9" fmla="*/ 6 h 6"/>
                <a:gd name="T10" fmla="*/ 155 w 155"/>
                <a:gd name="T11" fmla="*/ 0 h 6"/>
              </a:gdLst>
              <a:ahLst/>
              <a:cxnLst>
                <a:cxn ang="0">
                  <a:pos x="T0" y="T1"/>
                </a:cxn>
                <a:cxn ang="0">
                  <a:pos x="T2" y="T3"/>
                </a:cxn>
                <a:cxn ang="0">
                  <a:pos x="T4" y="T5"/>
                </a:cxn>
                <a:cxn ang="0">
                  <a:pos x="T6" y="T7"/>
                </a:cxn>
                <a:cxn ang="0">
                  <a:pos x="T8" y="T9"/>
                </a:cxn>
                <a:cxn ang="0">
                  <a:pos x="T10" y="T11"/>
                </a:cxn>
              </a:cxnLst>
              <a:rect l="0" t="0" r="r" b="b"/>
              <a:pathLst>
                <a:path w="155" h="6">
                  <a:moveTo>
                    <a:pt x="155" y="0"/>
                  </a:moveTo>
                  <a:cubicBezTo>
                    <a:pt x="3" y="0"/>
                    <a:pt x="3" y="0"/>
                    <a:pt x="3" y="0"/>
                  </a:cubicBezTo>
                  <a:cubicBezTo>
                    <a:pt x="2" y="0"/>
                    <a:pt x="0" y="2"/>
                    <a:pt x="0" y="3"/>
                  </a:cubicBezTo>
                  <a:cubicBezTo>
                    <a:pt x="0" y="5"/>
                    <a:pt x="2" y="6"/>
                    <a:pt x="3" y="6"/>
                  </a:cubicBezTo>
                  <a:cubicBezTo>
                    <a:pt x="149" y="6"/>
                    <a:pt x="149" y="6"/>
                    <a:pt x="149" y="6"/>
                  </a:cubicBezTo>
                  <a:cubicBezTo>
                    <a:pt x="155" y="0"/>
                    <a:pt x="155" y="0"/>
                    <a:pt x="155" y="0"/>
                  </a:cubicBezTo>
                </a:path>
              </a:pathLst>
            </a:custGeom>
            <a:solidFill>
              <a:srgbClr val="C2EF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81" name="î$ļíďé"/>
            <p:cNvSpPr/>
            <p:nvPr/>
          </p:nvSpPr>
          <p:spPr bwMode="auto">
            <a:xfrm>
              <a:off x="5403851" y="2841625"/>
              <a:ext cx="50800" cy="19050"/>
            </a:xfrm>
            <a:custGeom>
              <a:avLst/>
              <a:gdLst>
                <a:gd name="T0" fmla="*/ 14 w 17"/>
                <a:gd name="T1" fmla="*/ 0 h 6"/>
                <a:gd name="T2" fmla="*/ 0 w 17"/>
                <a:gd name="T3" fmla="*/ 0 h 6"/>
                <a:gd name="T4" fmla="*/ 0 w 17"/>
                <a:gd name="T5" fmla="*/ 6 h 6"/>
                <a:gd name="T6" fmla="*/ 14 w 17"/>
                <a:gd name="T7" fmla="*/ 6 h 6"/>
                <a:gd name="T8" fmla="*/ 17 w 17"/>
                <a:gd name="T9" fmla="*/ 3 h 6"/>
                <a:gd name="T10" fmla="*/ 14 w 17"/>
                <a:gd name="T11" fmla="*/ 0 h 6"/>
              </a:gdLst>
              <a:ahLst/>
              <a:cxnLst>
                <a:cxn ang="0">
                  <a:pos x="T0" y="T1"/>
                </a:cxn>
                <a:cxn ang="0">
                  <a:pos x="T2" y="T3"/>
                </a:cxn>
                <a:cxn ang="0">
                  <a:pos x="T4" y="T5"/>
                </a:cxn>
                <a:cxn ang="0">
                  <a:pos x="T6" y="T7"/>
                </a:cxn>
                <a:cxn ang="0">
                  <a:pos x="T8" y="T9"/>
                </a:cxn>
                <a:cxn ang="0">
                  <a:pos x="T10" y="T11"/>
                </a:cxn>
              </a:cxnLst>
              <a:rect l="0" t="0" r="r" b="b"/>
              <a:pathLst>
                <a:path w="17" h="6">
                  <a:moveTo>
                    <a:pt x="14" y="0"/>
                  </a:moveTo>
                  <a:cubicBezTo>
                    <a:pt x="0" y="0"/>
                    <a:pt x="0" y="0"/>
                    <a:pt x="0" y="0"/>
                  </a:cubicBezTo>
                  <a:cubicBezTo>
                    <a:pt x="0" y="6"/>
                    <a:pt x="0" y="6"/>
                    <a:pt x="0" y="6"/>
                  </a:cubicBezTo>
                  <a:cubicBezTo>
                    <a:pt x="14" y="6"/>
                    <a:pt x="14" y="6"/>
                    <a:pt x="14" y="6"/>
                  </a:cubicBezTo>
                  <a:cubicBezTo>
                    <a:pt x="16" y="6"/>
                    <a:pt x="17" y="4"/>
                    <a:pt x="17" y="3"/>
                  </a:cubicBezTo>
                  <a:cubicBezTo>
                    <a:pt x="17" y="1"/>
                    <a:pt x="16" y="0"/>
                    <a:pt x="14" y="0"/>
                  </a:cubicBezTo>
                </a:path>
              </a:pathLst>
            </a:custGeom>
            <a:solidFill>
              <a:srgbClr val="C2EF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82" name="íṩḻídê"/>
            <p:cNvSpPr/>
            <p:nvPr/>
          </p:nvSpPr>
          <p:spPr bwMode="auto">
            <a:xfrm>
              <a:off x="5507038" y="2841625"/>
              <a:ext cx="80963" cy="19050"/>
            </a:xfrm>
            <a:custGeom>
              <a:avLst/>
              <a:gdLst>
                <a:gd name="T0" fmla="*/ 27 w 27"/>
                <a:gd name="T1" fmla="*/ 0 h 6"/>
                <a:gd name="T2" fmla="*/ 2 w 27"/>
                <a:gd name="T3" fmla="*/ 0 h 6"/>
                <a:gd name="T4" fmla="*/ 0 w 27"/>
                <a:gd name="T5" fmla="*/ 3 h 6"/>
                <a:gd name="T6" fmla="*/ 2 w 27"/>
                <a:gd name="T7" fmla="*/ 6 h 6"/>
                <a:gd name="T8" fmla="*/ 22 w 27"/>
                <a:gd name="T9" fmla="*/ 6 h 6"/>
                <a:gd name="T10" fmla="*/ 27 w 27"/>
                <a:gd name="T11" fmla="*/ 0 h 6"/>
              </a:gdLst>
              <a:ahLst/>
              <a:cxnLst>
                <a:cxn ang="0">
                  <a:pos x="T0" y="T1"/>
                </a:cxn>
                <a:cxn ang="0">
                  <a:pos x="T2" y="T3"/>
                </a:cxn>
                <a:cxn ang="0">
                  <a:pos x="T4" y="T5"/>
                </a:cxn>
                <a:cxn ang="0">
                  <a:pos x="T6" y="T7"/>
                </a:cxn>
                <a:cxn ang="0">
                  <a:pos x="T8" y="T9"/>
                </a:cxn>
                <a:cxn ang="0">
                  <a:pos x="T10" y="T11"/>
                </a:cxn>
              </a:cxnLst>
              <a:rect l="0" t="0" r="r" b="b"/>
              <a:pathLst>
                <a:path w="27" h="6">
                  <a:moveTo>
                    <a:pt x="27" y="0"/>
                  </a:moveTo>
                  <a:cubicBezTo>
                    <a:pt x="2" y="0"/>
                    <a:pt x="2" y="0"/>
                    <a:pt x="2" y="0"/>
                  </a:cubicBezTo>
                  <a:cubicBezTo>
                    <a:pt x="1" y="0"/>
                    <a:pt x="0" y="1"/>
                    <a:pt x="0" y="3"/>
                  </a:cubicBezTo>
                  <a:cubicBezTo>
                    <a:pt x="0" y="4"/>
                    <a:pt x="1" y="6"/>
                    <a:pt x="2" y="6"/>
                  </a:cubicBezTo>
                  <a:cubicBezTo>
                    <a:pt x="22" y="6"/>
                    <a:pt x="22" y="6"/>
                    <a:pt x="22" y="6"/>
                  </a:cubicBezTo>
                  <a:cubicBezTo>
                    <a:pt x="27" y="0"/>
                    <a:pt x="27" y="0"/>
                    <a:pt x="27" y="0"/>
                  </a:cubicBezTo>
                </a:path>
              </a:pathLst>
            </a:custGeom>
            <a:solidFill>
              <a:srgbClr val="C2EF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83" name="îŝlïḓé"/>
            <p:cNvSpPr/>
            <p:nvPr/>
          </p:nvSpPr>
          <p:spPr bwMode="auto">
            <a:xfrm>
              <a:off x="5403851" y="2914650"/>
              <a:ext cx="114300" cy="14288"/>
            </a:xfrm>
            <a:custGeom>
              <a:avLst/>
              <a:gdLst>
                <a:gd name="T0" fmla="*/ 72 w 72"/>
                <a:gd name="T1" fmla="*/ 0 h 9"/>
                <a:gd name="T2" fmla="*/ 0 w 72"/>
                <a:gd name="T3" fmla="*/ 0 h 9"/>
                <a:gd name="T4" fmla="*/ 0 w 72"/>
                <a:gd name="T5" fmla="*/ 9 h 9"/>
                <a:gd name="T6" fmla="*/ 61 w 72"/>
                <a:gd name="T7" fmla="*/ 9 h 9"/>
                <a:gd name="T8" fmla="*/ 72 w 72"/>
                <a:gd name="T9" fmla="*/ 0 h 9"/>
              </a:gdLst>
              <a:ahLst/>
              <a:cxnLst>
                <a:cxn ang="0">
                  <a:pos x="T0" y="T1"/>
                </a:cxn>
                <a:cxn ang="0">
                  <a:pos x="T2" y="T3"/>
                </a:cxn>
                <a:cxn ang="0">
                  <a:pos x="T4" y="T5"/>
                </a:cxn>
                <a:cxn ang="0">
                  <a:pos x="T6" y="T7"/>
                </a:cxn>
                <a:cxn ang="0">
                  <a:pos x="T8" y="T9"/>
                </a:cxn>
              </a:cxnLst>
              <a:rect l="0" t="0" r="r" b="b"/>
              <a:pathLst>
                <a:path w="72" h="9">
                  <a:moveTo>
                    <a:pt x="72" y="0"/>
                  </a:moveTo>
                  <a:lnTo>
                    <a:pt x="0" y="0"/>
                  </a:lnTo>
                  <a:lnTo>
                    <a:pt x="0" y="9"/>
                  </a:lnTo>
                  <a:lnTo>
                    <a:pt x="61" y="9"/>
                  </a:lnTo>
                  <a:lnTo>
                    <a:pt x="72" y="0"/>
                  </a:lnTo>
                  <a:close/>
                </a:path>
              </a:pathLst>
            </a:custGeom>
            <a:solidFill>
              <a:srgbClr val="C2EF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84" name="î$ḻiḍè"/>
            <p:cNvSpPr/>
            <p:nvPr/>
          </p:nvSpPr>
          <p:spPr bwMode="auto">
            <a:xfrm>
              <a:off x="5403851" y="2914650"/>
              <a:ext cx="114300" cy="14288"/>
            </a:xfrm>
            <a:custGeom>
              <a:avLst/>
              <a:gdLst>
                <a:gd name="T0" fmla="*/ 72 w 72"/>
                <a:gd name="T1" fmla="*/ 0 h 9"/>
                <a:gd name="T2" fmla="*/ 0 w 72"/>
                <a:gd name="T3" fmla="*/ 0 h 9"/>
                <a:gd name="T4" fmla="*/ 0 w 72"/>
                <a:gd name="T5" fmla="*/ 9 h 9"/>
                <a:gd name="T6" fmla="*/ 61 w 72"/>
                <a:gd name="T7" fmla="*/ 9 h 9"/>
                <a:gd name="T8" fmla="*/ 72 w 72"/>
                <a:gd name="T9" fmla="*/ 0 h 9"/>
              </a:gdLst>
              <a:ahLst/>
              <a:cxnLst>
                <a:cxn ang="0">
                  <a:pos x="T0" y="T1"/>
                </a:cxn>
                <a:cxn ang="0">
                  <a:pos x="T2" y="T3"/>
                </a:cxn>
                <a:cxn ang="0">
                  <a:pos x="T4" y="T5"/>
                </a:cxn>
                <a:cxn ang="0">
                  <a:pos x="T6" y="T7"/>
                </a:cxn>
                <a:cxn ang="0">
                  <a:pos x="T8" y="T9"/>
                </a:cxn>
              </a:cxnLst>
              <a:rect l="0" t="0" r="r" b="b"/>
              <a:pathLst>
                <a:path w="72" h="9">
                  <a:moveTo>
                    <a:pt x="72" y="0"/>
                  </a:moveTo>
                  <a:lnTo>
                    <a:pt x="0" y="0"/>
                  </a:lnTo>
                  <a:lnTo>
                    <a:pt x="0" y="9"/>
                  </a:lnTo>
                  <a:lnTo>
                    <a:pt x="61" y="9"/>
                  </a:lnTo>
                  <a:lnTo>
                    <a:pt x="7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85" name="îsḷíḍe"/>
            <p:cNvSpPr/>
            <p:nvPr/>
          </p:nvSpPr>
          <p:spPr bwMode="auto">
            <a:xfrm>
              <a:off x="6013451" y="3122613"/>
              <a:ext cx="222250" cy="168275"/>
            </a:xfrm>
            <a:prstGeom prst="rect">
              <a:avLst/>
            </a:prstGeom>
            <a:solidFill>
              <a:srgbClr val="FEB18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86" name="iṩḻiḓé"/>
            <p:cNvSpPr/>
            <p:nvPr/>
          </p:nvSpPr>
          <p:spPr bwMode="auto">
            <a:xfrm>
              <a:off x="6013451" y="3254375"/>
              <a:ext cx="222250" cy="69850"/>
            </a:xfrm>
            <a:custGeom>
              <a:avLst/>
              <a:gdLst>
                <a:gd name="T0" fmla="*/ 0 w 74"/>
                <a:gd name="T1" fmla="*/ 0 h 23"/>
                <a:gd name="T2" fmla="*/ 74 w 74"/>
                <a:gd name="T3" fmla="*/ 0 h 23"/>
                <a:gd name="T4" fmla="*/ 74 w 74"/>
                <a:gd name="T5" fmla="*/ 16 h 23"/>
                <a:gd name="T6" fmla="*/ 54 w 74"/>
                <a:gd name="T7" fmla="*/ 19 h 23"/>
                <a:gd name="T8" fmla="*/ 37 w 74"/>
                <a:gd name="T9" fmla="*/ 23 h 23"/>
                <a:gd name="T10" fmla="*/ 0 w 74"/>
                <a:gd name="T11" fmla="*/ 11 h 23"/>
                <a:gd name="T12" fmla="*/ 0 w 74"/>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74" h="23">
                  <a:moveTo>
                    <a:pt x="0" y="0"/>
                  </a:moveTo>
                  <a:cubicBezTo>
                    <a:pt x="0" y="0"/>
                    <a:pt x="33" y="14"/>
                    <a:pt x="74" y="0"/>
                  </a:cubicBezTo>
                  <a:cubicBezTo>
                    <a:pt x="74" y="8"/>
                    <a:pt x="74" y="16"/>
                    <a:pt x="74" y="16"/>
                  </a:cubicBezTo>
                  <a:cubicBezTo>
                    <a:pt x="54" y="19"/>
                    <a:pt x="54" y="19"/>
                    <a:pt x="54" y="19"/>
                  </a:cubicBezTo>
                  <a:cubicBezTo>
                    <a:pt x="37" y="23"/>
                    <a:pt x="37" y="23"/>
                    <a:pt x="37" y="23"/>
                  </a:cubicBezTo>
                  <a:cubicBezTo>
                    <a:pt x="0" y="11"/>
                    <a:pt x="0" y="11"/>
                    <a:pt x="0" y="11"/>
                  </a:cubicBezTo>
                  <a:lnTo>
                    <a:pt x="0" y="0"/>
                  </a:lnTo>
                  <a:close/>
                </a:path>
              </a:pathLst>
            </a:custGeom>
            <a:solidFill>
              <a:srgbClr val="F88B6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87" name="iṧľiḑe"/>
            <p:cNvSpPr/>
            <p:nvPr/>
          </p:nvSpPr>
          <p:spPr bwMode="auto">
            <a:xfrm>
              <a:off x="5753101" y="4135438"/>
              <a:ext cx="741363" cy="309563"/>
            </a:xfrm>
            <a:custGeom>
              <a:avLst/>
              <a:gdLst>
                <a:gd name="T0" fmla="*/ 211 w 246"/>
                <a:gd name="T1" fmla="*/ 103 h 103"/>
                <a:gd name="T2" fmla="*/ 35 w 246"/>
                <a:gd name="T3" fmla="*/ 103 h 103"/>
                <a:gd name="T4" fmla="*/ 0 w 246"/>
                <a:gd name="T5" fmla="*/ 69 h 103"/>
                <a:gd name="T6" fmla="*/ 0 w 246"/>
                <a:gd name="T7" fmla="*/ 35 h 103"/>
                <a:gd name="T8" fmla="*/ 35 w 246"/>
                <a:gd name="T9" fmla="*/ 0 h 103"/>
                <a:gd name="T10" fmla="*/ 211 w 246"/>
                <a:gd name="T11" fmla="*/ 0 h 103"/>
                <a:gd name="T12" fmla="*/ 246 w 246"/>
                <a:gd name="T13" fmla="*/ 35 h 103"/>
                <a:gd name="T14" fmla="*/ 246 w 246"/>
                <a:gd name="T15" fmla="*/ 69 h 103"/>
                <a:gd name="T16" fmla="*/ 211 w 246"/>
                <a:gd name="T17" fmla="*/ 10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6" h="103">
                  <a:moveTo>
                    <a:pt x="211" y="103"/>
                  </a:moveTo>
                  <a:cubicBezTo>
                    <a:pt x="35" y="103"/>
                    <a:pt x="35" y="103"/>
                    <a:pt x="35" y="103"/>
                  </a:cubicBezTo>
                  <a:cubicBezTo>
                    <a:pt x="16" y="103"/>
                    <a:pt x="0" y="88"/>
                    <a:pt x="0" y="69"/>
                  </a:cubicBezTo>
                  <a:cubicBezTo>
                    <a:pt x="0" y="35"/>
                    <a:pt x="0" y="35"/>
                    <a:pt x="0" y="35"/>
                  </a:cubicBezTo>
                  <a:cubicBezTo>
                    <a:pt x="0" y="15"/>
                    <a:pt x="16" y="0"/>
                    <a:pt x="35" y="0"/>
                  </a:cubicBezTo>
                  <a:cubicBezTo>
                    <a:pt x="211" y="0"/>
                    <a:pt x="211" y="0"/>
                    <a:pt x="211" y="0"/>
                  </a:cubicBezTo>
                  <a:cubicBezTo>
                    <a:pt x="230" y="0"/>
                    <a:pt x="246" y="15"/>
                    <a:pt x="246" y="35"/>
                  </a:cubicBezTo>
                  <a:cubicBezTo>
                    <a:pt x="246" y="69"/>
                    <a:pt x="246" y="69"/>
                    <a:pt x="246" y="69"/>
                  </a:cubicBezTo>
                  <a:cubicBezTo>
                    <a:pt x="246" y="88"/>
                    <a:pt x="230" y="103"/>
                    <a:pt x="211" y="103"/>
                  </a:cubicBezTo>
                  <a:close/>
                </a:path>
              </a:pathLst>
            </a:custGeom>
            <a:solidFill>
              <a:srgbClr val="B7FF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88" name="iṧḻïḓè"/>
            <p:cNvSpPr/>
            <p:nvPr/>
          </p:nvSpPr>
          <p:spPr bwMode="auto">
            <a:xfrm>
              <a:off x="5756276" y="4325938"/>
              <a:ext cx="736600" cy="119063"/>
            </a:xfrm>
            <a:custGeom>
              <a:avLst/>
              <a:gdLst>
                <a:gd name="T0" fmla="*/ 244 w 244"/>
                <a:gd name="T1" fmla="*/ 0 h 40"/>
                <a:gd name="T2" fmla="*/ 0 w 244"/>
                <a:gd name="T3" fmla="*/ 0 h 40"/>
                <a:gd name="T4" fmla="*/ 50 w 244"/>
                <a:gd name="T5" fmla="*/ 40 h 40"/>
                <a:gd name="T6" fmla="*/ 195 w 244"/>
                <a:gd name="T7" fmla="*/ 40 h 40"/>
                <a:gd name="T8" fmla="*/ 244 w 244"/>
                <a:gd name="T9" fmla="*/ 0 h 40"/>
              </a:gdLst>
              <a:ahLst/>
              <a:cxnLst>
                <a:cxn ang="0">
                  <a:pos x="T0" y="T1"/>
                </a:cxn>
                <a:cxn ang="0">
                  <a:pos x="T2" y="T3"/>
                </a:cxn>
                <a:cxn ang="0">
                  <a:pos x="T4" y="T5"/>
                </a:cxn>
                <a:cxn ang="0">
                  <a:pos x="T6" y="T7"/>
                </a:cxn>
                <a:cxn ang="0">
                  <a:pos x="T8" y="T9"/>
                </a:cxn>
              </a:cxnLst>
              <a:rect l="0" t="0" r="r" b="b"/>
              <a:pathLst>
                <a:path w="244" h="40">
                  <a:moveTo>
                    <a:pt x="244" y="0"/>
                  </a:moveTo>
                  <a:cubicBezTo>
                    <a:pt x="117" y="38"/>
                    <a:pt x="0" y="0"/>
                    <a:pt x="0" y="0"/>
                  </a:cubicBezTo>
                  <a:cubicBezTo>
                    <a:pt x="5" y="23"/>
                    <a:pt x="25" y="40"/>
                    <a:pt x="50" y="40"/>
                  </a:cubicBezTo>
                  <a:cubicBezTo>
                    <a:pt x="195" y="40"/>
                    <a:pt x="195" y="40"/>
                    <a:pt x="195" y="40"/>
                  </a:cubicBezTo>
                  <a:cubicBezTo>
                    <a:pt x="219" y="40"/>
                    <a:pt x="239" y="23"/>
                    <a:pt x="244" y="0"/>
                  </a:cubicBezTo>
                  <a:close/>
                </a:path>
              </a:pathLst>
            </a:custGeom>
            <a:solidFill>
              <a:srgbClr val="96D2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89" name="ïşļïḋé"/>
            <p:cNvSpPr/>
            <p:nvPr/>
          </p:nvSpPr>
          <p:spPr bwMode="auto">
            <a:xfrm>
              <a:off x="6161088" y="2471738"/>
              <a:ext cx="271463" cy="346075"/>
            </a:xfrm>
            <a:custGeom>
              <a:avLst/>
              <a:gdLst>
                <a:gd name="T0" fmla="*/ 0 w 90"/>
                <a:gd name="T1" fmla="*/ 51 h 115"/>
                <a:gd name="T2" fmla="*/ 52 w 90"/>
                <a:gd name="T3" fmla="*/ 0 h 115"/>
                <a:gd name="T4" fmla="*/ 50 w 90"/>
                <a:gd name="T5" fmla="*/ 51 h 115"/>
                <a:gd name="T6" fmla="*/ 71 w 90"/>
                <a:gd name="T7" fmla="*/ 30 h 115"/>
                <a:gd name="T8" fmla="*/ 62 w 90"/>
                <a:gd name="T9" fmla="*/ 74 h 115"/>
                <a:gd name="T10" fmla="*/ 79 w 90"/>
                <a:gd name="T11" fmla="*/ 57 h 115"/>
                <a:gd name="T12" fmla="*/ 49 w 90"/>
                <a:gd name="T13" fmla="*/ 115 h 115"/>
                <a:gd name="T14" fmla="*/ 0 w 90"/>
                <a:gd name="T15" fmla="*/ 51 h 1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115">
                  <a:moveTo>
                    <a:pt x="0" y="51"/>
                  </a:moveTo>
                  <a:cubicBezTo>
                    <a:pt x="52" y="0"/>
                    <a:pt x="52" y="0"/>
                    <a:pt x="52" y="0"/>
                  </a:cubicBezTo>
                  <a:cubicBezTo>
                    <a:pt x="52" y="0"/>
                    <a:pt x="65" y="24"/>
                    <a:pt x="50" y="51"/>
                  </a:cubicBezTo>
                  <a:cubicBezTo>
                    <a:pt x="71" y="30"/>
                    <a:pt x="71" y="30"/>
                    <a:pt x="71" y="30"/>
                  </a:cubicBezTo>
                  <a:cubicBezTo>
                    <a:pt x="71" y="30"/>
                    <a:pt x="81" y="59"/>
                    <a:pt x="62" y="74"/>
                  </a:cubicBezTo>
                  <a:cubicBezTo>
                    <a:pt x="79" y="57"/>
                    <a:pt x="79" y="57"/>
                    <a:pt x="79" y="57"/>
                  </a:cubicBezTo>
                  <a:cubicBezTo>
                    <a:pt x="79" y="57"/>
                    <a:pt x="90" y="90"/>
                    <a:pt x="49" y="115"/>
                  </a:cubicBezTo>
                  <a:lnTo>
                    <a:pt x="0" y="51"/>
                  </a:ln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0" name="íṣḷiḑê"/>
            <p:cNvSpPr/>
            <p:nvPr/>
          </p:nvSpPr>
          <p:spPr bwMode="auto">
            <a:xfrm>
              <a:off x="6161088" y="2592388"/>
              <a:ext cx="188913" cy="204788"/>
            </a:xfrm>
            <a:custGeom>
              <a:avLst/>
              <a:gdLst>
                <a:gd name="T0" fmla="*/ 43 w 63"/>
                <a:gd name="T1" fmla="*/ 66 h 68"/>
                <a:gd name="T2" fmla="*/ 59 w 63"/>
                <a:gd name="T3" fmla="*/ 68 h 68"/>
                <a:gd name="T4" fmla="*/ 59 w 63"/>
                <a:gd name="T5" fmla="*/ 68 h 68"/>
                <a:gd name="T6" fmla="*/ 12 w 63"/>
                <a:gd name="T7" fmla="*/ 0 h 68"/>
                <a:gd name="T8" fmla="*/ 0 w 63"/>
                <a:gd name="T9" fmla="*/ 11 h 68"/>
                <a:gd name="T10" fmla="*/ 43 w 63"/>
                <a:gd name="T11" fmla="*/ 66 h 68"/>
              </a:gdLst>
              <a:ahLst/>
              <a:cxnLst>
                <a:cxn ang="0">
                  <a:pos x="T0" y="T1"/>
                </a:cxn>
                <a:cxn ang="0">
                  <a:pos x="T2" y="T3"/>
                </a:cxn>
                <a:cxn ang="0">
                  <a:pos x="T4" y="T5"/>
                </a:cxn>
                <a:cxn ang="0">
                  <a:pos x="T6" y="T7"/>
                </a:cxn>
                <a:cxn ang="0">
                  <a:pos x="T8" y="T9"/>
                </a:cxn>
                <a:cxn ang="0">
                  <a:pos x="T10" y="T11"/>
                </a:cxn>
              </a:cxnLst>
              <a:rect l="0" t="0" r="r" b="b"/>
              <a:pathLst>
                <a:path w="63" h="68">
                  <a:moveTo>
                    <a:pt x="43" y="66"/>
                  </a:moveTo>
                  <a:cubicBezTo>
                    <a:pt x="59" y="68"/>
                    <a:pt x="59" y="68"/>
                    <a:pt x="59" y="68"/>
                  </a:cubicBezTo>
                  <a:cubicBezTo>
                    <a:pt x="59" y="68"/>
                    <a:pt x="59" y="68"/>
                    <a:pt x="59" y="68"/>
                  </a:cubicBezTo>
                  <a:cubicBezTo>
                    <a:pt x="59" y="66"/>
                    <a:pt x="63" y="21"/>
                    <a:pt x="12" y="0"/>
                  </a:cubicBezTo>
                  <a:cubicBezTo>
                    <a:pt x="0" y="11"/>
                    <a:pt x="0" y="11"/>
                    <a:pt x="0" y="11"/>
                  </a:cubicBezTo>
                  <a:lnTo>
                    <a:pt x="43" y="66"/>
                  </a:lnTo>
                  <a:close/>
                </a:path>
              </a:pathLst>
            </a:custGeom>
            <a:solidFill>
              <a:srgbClr val="14C3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1" name="ïs1ïḋé"/>
            <p:cNvSpPr/>
            <p:nvPr/>
          </p:nvSpPr>
          <p:spPr bwMode="auto">
            <a:xfrm>
              <a:off x="6242051" y="2887663"/>
              <a:ext cx="138113" cy="138113"/>
            </a:xfrm>
            <a:prstGeom prst="ellipse">
              <a:avLst/>
            </a:prstGeom>
            <a:solidFill>
              <a:srgbClr val="FEB18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2" name="iṥḻîḓê"/>
            <p:cNvSpPr/>
            <p:nvPr/>
          </p:nvSpPr>
          <p:spPr bwMode="auto">
            <a:xfrm>
              <a:off x="5870576" y="2887663"/>
              <a:ext cx="139700" cy="138113"/>
            </a:xfrm>
            <a:prstGeom prst="ellipse">
              <a:avLst/>
            </a:prstGeom>
            <a:solidFill>
              <a:srgbClr val="FEB18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3" name="iṣḷîďé"/>
            <p:cNvSpPr/>
            <p:nvPr/>
          </p:nvSpPr>
          <p:spPr bwMode="auto">
            <a:xfrm>
              <a:off x="5910263" y="2622550"/>
              <a:ext cx="431800" cy="598488"/>
            </a:xfrm>
            <a:custGeom>
              <a:avLst/>
              <a:gdLst>
                <a:gd name="T0" fmla="*/ 71 w 143"/>
                <a:gd name="T1" fmla="*/ 199 h 199"/>
                <a:gd name="T2" fmla="*/ 71 w 143"/>
                <a:gd name="T3" fmla="*/ 199 h 199"/>
                <a:gd name="T4" fmla="*/ 0 w 143"/>
                <a:gd name="T5" fmla="*/ 128 h 199"/>
                <a:gd name="T6" fmla="*/ 0 w 143"/>
                <a:gd name="T7" fmla="*/ 72 h 199"/>
                <a:gd name="T8" fmla="*/ 71 w 143"/>
                <a:gd name="T9" fmla="*/ 0 h 199"/>
                <a:gd name="T10" fmla="*/ 143 w 143"/>
                <a:gd name="T11" fmla="*/ 72 h 199"/>
                <a:gd name="T12" fmla="*/ 143 w 143"/>
                <a:gd name="T13" fmla="*/ 128 h 199"/>
                <a:gd name="T14" fmla="*/ 71 w 143"/>
                <a:gd name="T15" fmla="*/ 199 h 1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3" h="199">
                  <a:moveTo>
                    <a:pt x="71" y="199"/>
                  </a:moveTo>
                  <a:cubicBezTo>
                    <a:pt x="71" y="199"/>
                    <a:pt x="71" y="199"/>
                    <a:pt x="71" y="199"/>
                  </a:cubicBezTo>
                  <a:cubicBezTo>
                    <a:pt x="32" y="199"/>
                    <a:pt x="0" y="167"/>
                    <a:pt x="0" y="128"/>
                  </a:cubicBezTo>
                  <a:cubicBezTo>
                    <a:pt x="0" y="72"/>
                    <a:pt x="0" y="72"/>
                    <a:pt x="0" y="72"/>
                  </a:cubicBezTo>
                  <a:cubicBezTo>
                    <a:pt x="0" y="32"/>
                    <a:pt x="32" y="0"/>
                    <a:pt x="71" y="0"/>
                  </a:cubicBezTo>
                  <a:cubicBezTo>
                    <a:pt x="111" y="0"/>
                    <a:pt x="143" y="32"/>
                    <a:pt x="143" y="72"/>
                  </a:cubicBezTo>
                  <a:cubicBezTo>
                    <a:pt x="143" y="128"/>
                    <a:pt x="143" y="128"/>
                    <a:pt x="143" y="128"/>
                  </a:cubicBezTo>
                  <a:cubicBezTo>
                    <a:pt x="143" y="167"/>
                    <a:pt x="111" y="199"/>
                    <a:pt x="71" y="199"/>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4" name="íṧľíḍè"/>
            <p:cNvSpPr/>
            <p:nvPr/>
          </p:nvSpPr>
          <p:spPr bwMode="auto">
            <a:xfrm>
              <a:off x="5956301" y="2959100"/>
              <a:ext cx="87313" cy="66675"/>
            </a:xfrm>
            <a:custGeom>
              <a:avLst/>
              <a:gdLst>
                <a:gd name="T0" fmla="*/ 0 w 55"/>
                <a:gd name="T1" fmla="*/ 10 h 42"/>
                <a:gd name="T2" fmla="*/ 0 w 55"/>
                <a:gd name="T3" fmla="*/ 42 h 42"/>
                <a:gd name="T4" fmla="*/ 15 w 55"/>
                <a:gd name="T5" fmla="*/ 25 h 42"/>
                <a:gd name="T6" fmla="*/ 30 w 55"/>
                <a:gd name="T7" fmla="*/ 40 h 42"/>
                <a:gd name="T8" fmla="*/ 43 w 55"/>
                <a:gd name="T9" fmla="*/ 27 h 42"/>
                <a:gd name="T10" fmla="*/ 55 w 55"/>
                <a:gd name="T11" fmla="*/ 38 h 42"/>
                <a:gd name="T12" fmla="*/ 55 w 55"/>
                <a:gd name="T13" fmla="*/ 0 h 42"/>
                <a:gd name="T14" fmla="*/ 51 w 55"/>
                <a:gd name="T15" fmla="*/ 23 h 42"/>
                <a:gd name="T16" fmla="*/ 43 w 55"/>
                <a:gd name="T17" fmla="*/ 16 h 42"/>
                <a:gd name="T18" fmla="*/ 30 w 55"/>
                <a:gd name="T19" fmla="*/ 31 h 42"/>
                <a:gd name="T20" fmla="*/ 15 w 55"/>
                <a:gd name="T21" fmla="*/ 16 h 42"/>
                <a:gd name="T22" fmla="*/ 5 w 55"/>
                <a:gd name="T23" fmla="*/ 27 h 42"/>
                <a:gd name="T24" fmla="*/ 0 w 55"/>
                <a:gd name="T25" fmla="*/ 1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5" h="42">
                  <a:moveTo>
                    <a:pt x="0" y="10"/>
                  </a:moveTo>
                  <a:lnTo>
                    <a:pt x="0" y="42"/>
                  </a:lnTo>
                  <a:lnTo>
                    <a:pt x="15" y="25"/>
                  </a:lnTo>
                  <a:lnTo>
                    <a:pt x="30" y="40"/>
                  </a:lnTo>
                  <a:lnTo>
                    <a:pt x="43" y="27"/>
                  </a:lnTo>
                  <a:lnTo>
                    <a:pt x="55" y="38"/>
                  </a:lnTo>
                  <a:lnTo>
                    <a:pt x="55" y="0"/>
                  </a:lnTo>
                  <a:lnTo>
                    <a:pt x="51" y="23"/>
                  </a:lnTo>
                  <a:lnTo>
                    <a:pt x="43" y="16"/>
                  </a:lnTo>
                  <a:lnTo>
                    <a:pt x="30" y="31"/>
                  </a:lnTo>
                  <a:lnTo>
                    <a:pt x="15" y="16"/>
                  </a:lnTo>
                  <a:lnTo>
                    <a:pt x="5" y="27"/>
                  </a:lnTo>
                  <a:lnTo>
                    <a:pt x="0" y="10"/>
                  </a:lnTo>
                  <a:close/>
                </a:path>
              </a:pathLst>
            </a:custGeom>
            <a:solidFill>
              <a:srgbClr val="14AF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5" name="íslíḓe"/>
            <p:cNvSpPr/>
            <p:nvPr/>
          </p:nvSpPr>
          <p:spPr bwMode="auto">
            <a:xfrm>
              <a:off x="6054726" y="2860675"/>
              <a:ext cx="114300" cy="84138"/>
            </a:xfrm>
            <a:custGeom>
              <a:avLst/>
              <a:gdLst>
                <a:gd name="T0" fmla="*/ 0 w 72"/>
                <a:gd name="T1" fmla="*/ 11 h 53"/>
                <a:gd name="T2" fmla="*/ 0 w 72"/>
                <a:gd name="T3" fmla="*/ 53 h 53"/>
                <a:gd name="T4" fmla="*/ 21 w 72"/>
                <a:gd name="T5" fmla="*/ 32 h 53"/>
                <a:gd name="T6" fmla="*/ 40 w 72"/>
                <a:gd name="T7" fmla="*/ 49 h 53"/>
                <a:gd name="T8" fmla="*/ 57 w 72"/>
                <a:gd name="T9" fmla="*/ 34 h 53"/>
                <a:gd name="T10" fmla="*/ 72 w 72"/>
                <a:gd name="T11" fmla="*/ 49 h 53"/>
                <a:gd name="T12" fmla="*/ 72 w 72"/>
                <a:gd name="T13" fmla="*/ 0 h 53"/>
                <a:gd name="T14" fmla="*/ 67 w 72"/>
                <a:gd name="T15" fmla="*/ 30 h 53"/>
                <a:gd name="T16" fmla="*/ 57 w 72"/>
                <a:gd name="T17" fmla="*/ 19 h 53"/>
                <a:gd name="T18" fmla="*/ 40 w 72"/>
                <a:gd name="T19" fmla="*/ 38 h 53"/>
                <a:gd name="T20" fmla="*/ 21 w 72"/>
                <a:gd name="T21" fmla="*/ 19 h 53"/>
                <a:gd name="T22" fmla="*/ 8 w 72"/>
                <a:gd name="T23" fmla="*/ 32 h 53"/>
                <a:gd name="T24" fmla="*/ 0 w 72"/>
                <a:gd name="T25" fmla="*/ 1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53">
                  <a:moveTo>
                    <a:pt x="0" y="11"/>
                  </a:moveTo>
                  <a:lnTo>
                    <a:pt x="0" y="53"/>
                  </a:lnTo>
                  <a:lnTo>
                    <a:pt x="21" y="32"/>
                  </a:lnTo>
                  <a:lnTo>
                    <a:pt x="40" y="49"/>
                  </a:lnTo>
                  <a:lnTo>
                    <a:pt x="57" y="34"/>
                  </a:lnTo>
                  <a:lnTo>
                    <a:pt x="72" y="49"/>
                  </a:lnTo>
                  <a:lnTo>
                    <a:pt x="72" y="0"/>
                  </a:lnTo>
                  <a:lnTo>
                    <a:pt x="67" y="30"/>
                  </a:lnTo>
                  <a:lnTo>
                    <a:pt x="57" y="19"/>
                  </a:lnTo>
                  <a:lnTo>
                    <a:pt x="40" y="38"/>
                  </a:lnTo>
                  <a:lnTo>
                    <a:pt x="21" y="19"/>
                  </a:lnTo>
                  <a:lnTo>
                    <a:pt x="8" y="32"/>
                  </a:lnTo>
                  <a:lnTo>
                    <a:pt x="0" y="11"/>
                  </a:lnTo>
                  <a:close/>
                </a:path>
              </a:pathLst>
            </a:custGeom>
            <a:solidFill>
              <a:srgbClr val="14AF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6" name="i$lîdè"/>
            <p:cNvSpPr/>
            <p:nvPr/>
          </p:nvSpPr>
          <p:spPr bwMode="auto">
            <a:xfrm>
              <a:off x="6224588" y="3025775"/>
              <a:ext cx="68263" cy="53975"/>
            </a:xfrm>
            <a:custGeom>
              <a:avLst/>
              <a:gdLst>
                <a:gd name="T0" fmla="*/ 0 w 43"/>
                <a:gd name="T1" fmla="*/ 8 h 34"/>
                <a:gd name="T2" fmla="*/ 0 w 43"/>
                <a:gd name="T3" fmla="*/ 34 h 34"/>
                <a:gd name="T4" fmla="*/ 13 w 43"/>
                <a:gd name="T5" fmla="*/ 21 h 34"/>
                <a:gd name="T6" fmla="*/ 24 w 43"/>
                <a:gd name="T7" fmla="*/ 30 h 34"/>
                <a:gd name="T8" fmla="*/ 34 w 43"/>
                <a:gd name="T9" fmla="*/ 21 h 34"/>
                <a:gd name="T10" fmla="*/ 43 w 43"/>
                <a:gd name="T11" fmla="*/ 30 h 34"/>
                <a:gd name="T12" fmla="*/ 43 w 43"/>
                <a:gd name="T13" fmla="*/ 0 h 34"/>
                <a:gd name="T14" fmla="*/ 41 w 43"/>
                <a:gd name="T15" fmla="*/ 19 h 34"/>
                <a:gd name="T16" fmla="*/ 34 w 43"/>
                <a:gd name="T17" fmla="*/ 11 h 34"/>
                <a:gd name="T18" fmla="*/ 24 w 43"/>
                <a:gd name="T19" fmla="*/ 25 h 34"/>
                <a:gd name="T20" fmla="*/ 13 w 43"/>
                <a:gd name="T21" fmla="*/ 11 h 34"/>
                <a:gd name="T22" fmla="*/ 5 w 43"/>
                <a:gd name="T23" fmla="*/ 21 h 34"/>
                <a:gd name="T24" fmla="*/ 0 w 43"/>
                <a:gd name="T25"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34">
                  <a:moveTo>
                    <a:pt x="0" y="8"/>
                  </a:moveTo>
                  <a:lnTo>
                    <a:pt x="0" y="34"/>
                  </a:lnTo>
                  <a:lnTo>
                    <a:pt x="13" y="21"/>
                  </a:lnTo>
                  <a:lnTo>
                    <a:pt x="24" y="30"/>
                  </a:lnTo>
                  <a:lnTo>
                    <a:pt x="34" y="21"/>
                  </a:lnTo>
                  <a:lnTo>
                    <a:pt x="43" y="30"/>
                  </a:lnTo>
                  <a:lnTo>
                    <a:pt x="43" y="0"/>
                  </a:lnTo>
                  <a:lnTo>
                    <a:pt x="41" y="19"/>
                  </a:lnTo>
                  <a:lnTo>
                    <a:pt x="34" y="11"/>
                  </a:lnTo>
                  <a:lnTo>
                    <a:pt x="24" y="25"/>
                  </a:lnTo>
                  <a:lnTo>
                    <a:pt x="13" y="11"/>
                  </a:lnTo>
                  <a:lnTo>
                    <a:pt x="5" y="21"/>
                  </a:lnTo>
                  <a:lnTo>
                    <a:pt x="0" y="8"/>
                  </a:lnTo>
                  <a:close/>
                </a:path>
              </a:pathLst>
            </a:custGeom>
            <a:solidFill>
              <a:srgbClr val="14AF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7" name="isļíďe"/>
            <p:cNvSpPr/>
            <p:nvPr/>
          </p:nvSpPr>
          <p:spPr bwMode="auto">
            <a:xfrm>
              <a:off x="6078538" y="3194050"/>
              <a:ext cx="66675" cy="60325"/>
            </a:xfrm>
            <a:custGeom>
              <a:avLst/>
              <a:gdLst>
                <a:gd name="T0" fmla="*/ 0 w 42"/>
                <a:gd name="T1" fmla="*/ 0 h 38"/>
                <a:gd name="T2" fmla="*/ 0 w 42"/>
                <a:gd name="T3" fmla="*/ 36 h 38"/>
                <a:gd name="T4" fmla="*/ 12 w 42"/>
                <a:gd name="T5" fmla="*/ 27 h 38"/>
                <a:gd name="T6" fmla="*/ 21 w 42"/>
                <a:gd name="T7" fmla="*/ 36 h 38"/>
                <a:gd name="T8" fmla="*/ 33 w 42"/>
                <a:gd name="T9" fmla="*/ 27 h 38"/>
                <a:gd name="T10" fmla="*/ 42 w 42"/>
                <a:gd name="T11" fmla="*/ 38 h 38"/>
                <a:gd name="T12" fmla="*/ 42 w 42"/>
                <a:gd name="T13" fmla="*/ 0 h 38"/>
                <a:gd name="T14" fmla="*/ 0 w 42"/>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8">
                  <a:moveTo>
                    <a:pt x="0" y="0"/>
                  </a:moveTo>
                  <a:lnTo>
                    <a:pt x="0" y="36"/>
                  </a:lnTo>
                  <a:lnTo>
                    <a:pt x="12" y="27"/>
                  </a:lnTo>
                  <a:lnTo>
                    <a:pt x="21" y="36"/>
                  </a:lnTo>
                  <a:lnTo>
                    <a:pt x="33" y="27"/>
                  </a:lnTo>
                  <a:lnTo>
                    <a:pt x="42" y="38"/>
                  </a:lnTo>
                  <a:lnTo>
                    <a:pt x="42" y="0"/>
                  </a:lnTo>
                  <a:lnTo>
                    <a:pt x="0" y="0"/>
                  </a:ln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8" name="íślîďé"/>
            <p:cNvSpPr/>
            <p:nvPr/>
          </p:nvSpPr>
          <p:spPr bwMode="auto">
            <a:xfrm>
              <a:off x="6137276" y="3190875"/>
              <a:ext cx="61913" cy="49213"/>
            </a:xfrm>
            <a:custGeom>
              <a:avLst/>
              <a:gdLst>
                <a:gd name="T0" fmla="*/ 0 w 39"/>
                <a:gd name="T1" fmla="*/ 0 h 31"/>
                <a:gd name="T2" fmla="*/ 5 w 39"/>
                <a:gd name="T3" fmla="*/ 31 h 31"/>
                <a:gd name="T4" fmla="*/ 13 w 39"/>
                <a:gd name="T5" fmla="*/ 21 h 31"/>
                <a:gd name="T6" fmla="*/ 22 w 39"/>
                <a:gd name="T7" fmla="*/ 31 h 31"/>
                <a:gd name="T8" fmla="*/ 32 w 39"/>
                <a:gd name="T9" fmla="*/ 23 h 31"/>
                <a:gd name="T10" fmla="*/ 39 w 39"/>
                <a:gd name="T11" fmla="*/ 31 h 31"/>
                <a:gd name="T12" fmla="*/ 39 w 39"/>
                <a:gd name="T13" fmla="*/ 0 h 31"/>
                <a:gd name="T14" fmla="*/ 0 w 39"/>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1">
                  <a:moveTo>
                    <a:pt x="0" y="0"/>
                  </a:moveTo>
                  <a:lnTo>
                    <a:pt x="5" y="31"/>
                  </a:lnTo>
                  <a:lnTo>
                    <a:pt x="13" y="21"/>
                  </a:lnTo>
                  <a:lnTo>
                    <a:pt x="22" y="31"/>
                  </a:lnTo>
                  <a:lnTo>
                    <a:pt x="32" y="23"/>
                  </a:lnTo>
                  <a:lnTo>
                    <a:pt x="39" y="31"/>
                  </a:lnTo>
                  <a:lnTo>
                    <a:pt x="39" y="0"/>
                  </a:lnTo>
                  <a:lnTo>
                    <a:pt x="0" y="0"/>
                  </a:ln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9" name="ïṣļiḑê"/>
            <p:cNvSpPr/>
            <p:nvPr/>
          </p:nvSpPr>
          <p:spPr bwMode="auto">
            <a:xfrm>
              <a:off x="6024563" y="3190875"/>
              <a:ext cx="60325" cy="49213"/>
            </a:xfrm>
            <a:custGeom>
              <a:avLst/>
              <a:gdLst>
                <a:gd name="T0" fmla="*/ 0 w 38"/>
                <a:gd name="T1" fmla="*/ 0 h 31"/>
                <a:gd name="T2" fmla="*/ 0 w 38"/>
                <a:gd name="T3" fmla="*/ 31 h 31"/>
                <a:gd name="T4" fmla="*/ 10 w 38"/>
                <a:gd name="T5" fmla="*/ 21 h 31"/>
                <a:gd name="T6" fmla="*/ 17 w 38"/>
                <a:gd name="T7" fmla="*/ 31 h 31"/>
                <a:gd name="T8" fmla="*/ 27 w 38"/>
                <a:gd name="T9" fmla="*/ 23 h 31"/>
                <a:gd name="T10" fmla="*/ 34 w 38"/>
                <a:gd name="T11" fmla="*/ 31 h 31"/>
                <a:gd name="T12" fmla="*/ 38 w 38"/>
                <a:gd name="T13" fmla="*/ 0 h 31"/>
                <a:gd name="T14" fmla="*/ 0 w 3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1">
                  <a:moveTo>
                    <a:pt x="0" y="0"/>
                  </a:moveTo>
                  <a:lnTo>
                    <a:pt x="0" y="31"/>
                  </a:lnTo>
                  <a:lnTo>
                    <a:pt x="10" y="21"/>
                  </a:lnTo>
                  <a:lnTo>
                    <a:pt x="17" y="31"/>
                  </a:lnTo>
                  <a:lnTo>
                    <a:pt x="27" y="23"/>
                  </a:lnTo>
                  <a:lnTo>
                    <a:pt x="34" y="31"/>
                  </a:lnTo>
                  <a:lnTo>
                    <a:pt x="38" y="0"/>
                  </a:lnTo>
                  <a:lnTo>
                    <a:pt x="0" y="0"/>
                  </a:ln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00" name="íṣḷîḑe"/>
            <p:cNvSpPr/>
            <p:nvPr/>
          </p:nvSpPr>
          <p:spPr bwMode="auto">
            <a:xfrm>
              <a:off x="5892801" y="2638425"/>
              <a:ext cx="93663" cy="119063"/>
            </a:xfrm>
            <a:custGeom>
              <a:avLst/>
              <a:gdLst>
                <a:gd name="T0" fmla="*/ 59 w 59"/>
                <a:gd name="T1" fmla="*/ 30 h 75"/>
                <a:gd name="T2" fmla="*/ 30 w 59"/>
                <a:gd name="T3" fmla="*/ 0 h 75"/>
                <a:gd name="T4" fmla="*/ 30 w 59"/>
                <a:gd name="T5" fmla="*/ 30 h 75"/>
                <a:gd name="T6" fmla="*/ 0 w 59"/>
                <a:gd name="T7" fmla="*/ 30 h 75"/>
                <a:gd name="T8" fmla="*/ 23 w 59"/>
                <a:gd name="T9" fmla="*/ 51 h 75"/>
                <a:gd name="T10" fmla="*/ 0 w 59"/>
                <a:gd name="T11" fmla="*/ 51 h 75"/>
                <a:gd name="T12" fmla="*/ 24 w 59"/>
                <a:gd name="T13" fmla="*/ 75 h 75"/>
                <a:gd name="T14" fmla="*/ 59 w 59"/>
                <a:gd name="T15" fmla="*/ 75 h 75"/>
                <a:gd name="T16" fmla="*/ 59 w 59"/>
                <a:gd name="T17" fmla="*/ 3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75">
                  <a:moveTo>
                    <a:pt x="59" y="30"/>
                  </a:moveTo>
                  <a:lnTo>
                    <a:pt x="30" y="0"/>
                  </a:lnTo>
                  <a:lnTo>
                    <a:pt x="30" y="30"/>
                  </a:lnTo>
                  <a:lnTo>
                    <a:pt x="0" y="30"/>
                  </a:lnTo>
                  <a:lnTo>
                    <a:pt x="23" y="51"/>
                  </a:lnTo>
                  <a:lnTo>
                    <a:pt x="0" y="51"/>
                  </a:lnTo>
                  <a:lnTo>
                    <a:pt x="24" y="75"/>
                  </a:lnTo>
                  <a:lnTo>
                    <a:pt x="59" y="75"/>
                  </a:lnTo>
                  <a:lnTo>
                    <a:pt x="59" y="30"/>
                  </a:ln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01" name="íŝḷîḑè"/>
            <p:cNvSpPr/>
            <p:nvPr/>
          </p:nvSpPr>
          <p:spPr bwMode="auto">
            <a:xfrm>
              <a:off x="5600701" y="3678238"/>
              <a:ext cx="141288" cy="190500"/>
            </a:xfrm>
            <a:custGeom>
              <a:avLst/>
              <a:gdLst>
                <a:gd name="T0" fmla="*/ 15 w 89"/>
                <a:gd name="T1" fmla="*/ 25 h 120"/>
                <a:gd name="T2" fmla="*/ 0 w 89"/>
                <a:gd name="T3" fmla="*/ 120 h 120"/>
                <a:gd name="T4" fmla="*/ 89 w 89"/>
                <a:gd name="T5" fmla="*/ 120 h 120"/>
                <a:gd name="T6" fmla="*/ 89 w 89"/>
                <a:gd name="T7" fmla="*/ 13 h 120"/>
                <a:gd name="T8" fmla="*/ 26 w 89"/>
                <a:gd name="T9" fmla="*/ 0 h 120"/>
                <a:gd name="T10" fmla="*/ 15 w 89"/>
                <a:gd name="T11" fmla="*/ 25 h 120"/>
              </a:gdLst>
              <a:ahLst/>
              <a:cxnLst>
                <a:cxn ang="0">
                  <a:pos x="T0" y="T1"/>
                </a:cxn>
                <a:cxn ang="0">
                  <a:pos x="T2" y="T3"/>
                </a:cxn>
                <a:cxn ang="0">
                  <a:pos x="T4" y="T5"/>
                </a:cxn>
                <a:cxn ang="0">
                  <a:pos x="T6" y="T7"/>
                </a:cxn>
                <a:cxn ang="0">
                  <a:pos x="T8" y="T9"/>
                </a:cxn>
                <a:cxn ang="0">
                  <a:pos x="T10" y="T11"/>
                </a:cxn>
              </a:cxnLst>
              <a:rect l="0" t="0" r="r" b="b"/>
              <a:pathLst>
                <a:path w="89" h="120">
                  <a:moveTo>
                    <a:pt x="15" y="25"/>
                  </a:moveTo>
                  <a:lnTo>
                    <a:pt x="0" y="120"/>
                  </a:lnTo>
                  <a:lnTo>
                    <a:pt x="89" y="120"/>
                  </a:lnTo>
                  <a:lnTo>
                    <a:pt x="89" y="13"/>
                  </a:lnTo>
                  <a:lnTo>
                    <a:pt x="26" y="0"/>
                  </a:lnTo>
                  <a:lnTo>
                    <a:pt x="15" y="25"/>
                  </a:lnTo>
                  <a:close/>
                </a:path>
              </a:pathLst>
            </a:custGeom>
            <a:solidFill>
              <a:srgbClr val="FEB18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02" name="îṥļíḑê"/>
            <p:cNvSpPr/>
            <p:nvPr/>
          </p:nvSpPr>
          <p:spPr bwMode="auto">
            <a:xfrm>
              <a:off x="5600701" y="3678238"/>
              <a:ext cx="141288" cy="190500"/>
            </a:xfrm>
            <a:custGeom>
              <a:avLst/>
              <a:gdLst>
                <a:gd name="T0" fmla="*/ 15 w 89"/>
                <a:gd name="T1" fmla="*/ 25 h 120"/>
                <a:gd name="T2" fmla="*/ 0 w 89"/>
                <a:gd name="T3" fmla="*/ 120 h 120"/>
                <a:gd name="T4" fmla="*/ 89 w 89"/>
                <a:gd name="T5" fmla="*/ 120 h 120"/>
                <a:gd name="T6" fmla="*/ 89 w 89"/>
                <a:gd name="T7" fmla="*/ 13 h 120"/>
                <a:gd name="T8" fmla="*/ 26 w 89"/>
                <a:gd name="T9" fmla="*/ 0 h 120"/>
              </a:gdLst>
              <a:ahLst/>
              <a:cxnLst>
                <a:cxn ang="0">
                  <a:pos x="T0" y="T1"/>
                </a:cxn>
                <a:cxn ang="0">
                  <a:pos x="T2" y="T3"/>
                </a:cxn>
                <a:cxn ang="0">
                  <a:pos x="T4" y="T5"/>
                </a:cxn>
                <a:cxn ang="0">
                  <a:pos x="T6" y="T7"/>
                </a:cxn>
                <a:cxn ang="0">
                  <a:pos x="T8" y="T9"/>
                </a:cxn>
              </a:cxnLst>
              <a:rect l="0" t="0" r="r" b="b"/>
              <a:pathLst>
                <a:path w="89" h="120">
                  <a:moveTo>
                    <a:pt x="15" y="25"/>
                  </a:moveTo>
                  <a:lnTo>
                    <a:pt x="0" y="120"/>
                  </a:lnTo>
                  <a:lnTo>
                    <a:pt x="89" y="120"/>
                  </a:lnTo>
                  <a:lnTo>
                    <a:pt x="89" y="13"/>
                  </a:lnTo>
                  <a:lnTo>
                    <a:pt x="2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03" name="i$ḻíďe"/>
            <p:cNvSpPr/>
            <p:nvPr/>
          </p:nvSpPr>
          <p:spPr bwMode="auto">
            <a:xfrm>
              <a:off x="5621338" y="3717925"/>
              <a:ext cx="96838" cy="30163"/>
            </a:xfrm>
            <a:custGeom>
              <a:avLst/>
              <a:gdLst>
                <a:gd name="T0" fmla="*/ 61 w 61"/>
                <a:gd name="T1" fmla="*/ 19 h 19"/>
                <a:gd name="T2" fmla="*/ 0 w 61"/>
                <a:gd name="T3" fmla="*/ 19 h 19"/>
                <a:gd name="T4" fmla="*/ 2 w 61"/>
                <a:gd name="T5" fmla="*/ 0 h 19"/>
                <a:gd name="T6" fmla="*/ 61 w 61"/>
                <a:gd name="T7" fmla="*/ 19 h 19"/>
              </a:gdLst>
              <a:ahLst/>
              <a:cxnLst>
                <a:cxn ang="0">
                  <a:pos x="T0" y="T1"/>
                </a:cxn>
                <a:cxn ang="0">
                  <a:pos x="T2" y="T3"/>
                </a:cxn>
                <a:cxn ang="0">
                  <a:pos x="T4" y="T5"/>
                </a:cxn>
                <a:cxn ang="0">
                  <a:pos x="T6" y="T7"/>
                </a:cxn>
              </a:cxnLst>
              <a:rect l="0" t="0" r="r" b="b"/>
              <a:pathLst>
                <a:path w="61" h="19">
                  <a:moveTo>
                    <a:pt x="61" y="19"/>
                  </a:moveTo>
                  <a:lnTo>
                    <a:pt x="0" y="19"/>
                  </a:lnTo>
                  <a:lnTo>
                    <a:pt x="2" y="0"/>
                  </a:lnTo>
                  <a:lnTo>
                    <a:pt x="61" y="19"/>
                  </a:lnTo>
                  <a:close/>
                </a:path>
              </a:pathLst>
            </a:custGeom>
            <a:solidFill>
              <a:srgbClr val="DC926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04" name="iŝlîḍe"/>
            <p:cNvSpPr/>
            <p:nvPr/>
          </p:nvSpPr>
          <p:spPr bwMode="auto">
            <a:xfrm>
              <a:off x="5570538" y="3332163"/>
              <a:ext cx="303213" cy="423863"/>
            </a:xfrm>
            <a:custGeom>
              <a:avLst/>
              <a:gdLst>
                <a:gd name="T0" fmla="*/ 101 w 101"/>
                <a:gd name="T1" fmla="*/ 0 h 141"/>
                <a:gd name="T2" fmla="*/ 0 w 101"/>
                <a:gd name="T3" fmla="*/ 122 h 141"/>
                <a:gd name="T4" fmla="*/ 57 w 101"/>
                <a:gd name="T5" fmla="*/ 141 h 141"/>
                <a:gd name="T6" fmla="*/ 101 w 101"/>
                <a:gd name="T7" fmla="*/ 0 h 141"/>
              </a:gdLst>
              <a:ahLst/>
              <a:cxnLst>
                <a:cxn ang="0">
                  <a:pos x="T0" y="T1"/>
                </a:cxn>
                <a:cxn ang="0">
                  <a:pos x="T2" y="T3"/>
                </a:cxn>
                <a:cxn ang="0">
                  <a:pos x="T4" y="T5"/>
                </a:cxn>
                <a:cxn ang="0">
                  <a:pos x="T6" y="T7"/>
                </a:cxn>
              </a:cxnLst>
              <a:rect l="0" t="0" r="r" b="b"/>
              <a:pathLst>
                <a:path w="101" h="141">
                  <a:moveTo>
                    <a:pt x="101" y="0"/>
                  </a:moveTo>
                  <a:cubicBezTo>
                    <a:pt x="68" y="17"/>
                    <a:pt x="38" y="22"/>
                    <a:pt x="0" y="122"/>
                  </a:cubicBezTo>
                  <a:cubicBezTo>
                    <a:pt x="57" y="141"/>
                    <a:pt x="57" y="141"/>
                    <a:pt x="57" y="141"/>
                  </a:cubicBezTo>
                  <a:cubicBezTo>
                    <a:pt x="57" y="141"/>
                    <a:pt x="95" y="47"/>
                    <a:pt x="101" y="0"/>
                  </a:cubicBezTo>
                  <a:close/>
                </a:path>
              </a:pathLst>
            </a:custGeom>
            <a:solidFill>
              <a:srgbClr val="0C289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05" name="îSļíḋè"/>
            <p:cNvSpPr/>
            <p:nvPr/>
          </p:nvSpPr>
          <p:spPr bwMode="auto">
            <a:xfrm>
              <a:off x="6497638" y="3678238"/>
              <a:ext cx="139700" cy="190500"/>
            </a:xfrm>
            <a:custGeom>
              <a:avLst/>
              <a:gdLst>
                <a:gd name="T0" fmla="*/ 73 w 88"/>
                <a:gd name="T1" fmla="*/ 25 h 120"/>
                <a:gd name="T2" fmla="*/ 88 w 88"/>
                <a:gd name="T3" fmla="*/ 120 h 120"/>
                <a:gd name="T4" fmla="*/ 0 w 88"/>
                <a:gd name="T5" fmla="*/ 120 h 120"/>
                <a:gd name="T6" fmla="*/ 0 w 88"/>
                <a:gd name="T7" fmla="*/ 13 h 120"/>
                <a:gd name="T8" fmla="*/ 63 w 88"/>
                <a:gd name="T9" fmla="*/ 0 h 120"/>
                <a:gd name="T10" fmla="*/ 73 w 88"/>
                <a:gd name="T11" fmla="*/ 25 h 120"/>
              </a:gdLst>
              <a:ahLst/>
              <a:cxnLst>
                <a:cxn ang="0">
                  <a:pos x="T0" y="T1"/>
                </a:cxn>
                <a:cxn ang="0">
                  <a:pos x="T2" y="T3"/>
                </a:cxn>
                <a:cxn ang="0">
                  <a:pos x="T4" y="T5"/>
                </a:cxn>
                <a:cxn ang="0">
                  <a:pos x="T6" y="T7"/>
                </a:cxn>
                <a:cxn ang="0">
                  <a:pos x="T8" y="T9"/>
                </a:cxn>
                <a:cxn ang="0">
                  <a:pos x="T10" y="T11"/>
                </a:cxn>
              </a:cxnLst>
              <a:rect l="0" t="0" r="r" b="b"/>
              <a:pathLst>
                <a:path w="88" h="120">
                  <a:moveTo>
                    <a:pt x="73" y="25"/>
                  </a:moveTo>
                  <a:lnTo>
                    <a:pt x="88" y="120"/>
                  </a:lnTo>
                  <a:lnTo>
                    <a:pt x="0" y="120"/>
                  </a:lnTo>
                  <a:lnTo>
                    <a:pt x="0" y="13"/>
                  </a:lnTo>
                  <a:lnTo>
                    <a:pt x="63" y="0"/>
                  </a:lnTo>
                  <a:lnTo>
                    <a:pt x="73" y="25"/>
                  </a:lnTo>
                  <a:close/>
                </a:path>
              </a:pathLst>
            </a:custGeom>
            <a:solidFill>
              <a:srgbClr val="FEB18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06" name="îṣļíďe"/>
            <p:cNvSpPr/>
            <p:nvPr/>
          </p:nvSpPr>
          <p:spPr bwMode="auto">
            <a:xfrm>
              <a:off x="6497638" y="3678238"/>
              <a:ext cx="139700" cy="190500"/>
            </a:xfrm>
            <a:custGeom>
              <a:avLst/>
              <a:gdLst>
                <a:gd name="T0" fmla="*/ 73 w 88"/>
                <a:gd name="T1" fmla="*/ 25 h 120"/>
                <a:gd name="T2" fmla="*/ 88 w 88"/>
                <a:gd name="T3" fmla="*/ 120 h 120"/>
                <a:gd name="T4" fmla="*/ 0 w 88"/>
                <a:gd name="T5" fmla="*/ 120 h 120"/>
                <a:gd name="T6" fmla="*/ 0 w 88"/>
                <a:gd name="T7" fmla="*/ 13 h 120"/>
                <a:gd name="T8" fmla="*/ 63 w 88"/>
                <a:gd name="T9" fmla="*/ 0 h 120"/>
              </a:gdLst>
              <a:ahLst/>
              <a:cxnLst>
                <a:cxn ang="0">
                  <a:pos x="T0" y="T1"/>
                </a:cxn>
                <a:cxn ang="0">
                  <a:pos x="T2" y="T3"/>
                </a:cxn>
                <a:cxn ang="0">
                  <a:pos x="T4" y="T5"/>
                </a:cxn>
                <a:cxn ang="0">
                  <a:pos x="T6" y="T7"/>
                </a:cxn>
                <a:cxn ang="0">
                  <a:pos x="T8" y="T9"/>
                </a:cxn>
              </a:cxnLst>
              <a:rect l="0" t="0" r="r" b="b"/>
              <a:pathLst>
                <a:path w="88" h="120">
                  <a:moveTo>
                    <a:pt x="73" y="25"/>
                  </a:moveTo>
                  <a:lnTo>
                    <a:pt x="88" y="120"/>
                  </a:lnTo>
                  <a:lnTo>
                    <a:pt x="0" y="120"/>
                  </a:lnTo>
                  <a:lnTo>
                    <a:pt x="0" y="13"/>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07" name="íŝḷïďè"/>
            <p:cNvSpPr/>
            <p:nvPr/>
          </p:nvSpPr>
          <p:spPr bwMode="auto">
            <a:xfrm>
              <a:off x="6523038" y="3717925"/>
              <a:ext cx="95250" cy="30163"/>
            </a:xfrm>
            <a:custGeom>
              <a:avLst/>
              <a:gdLst>
                <a:gd name="T0" fmla="*/ 0 w 60"/>
                <a:gd name="T1" fmla="*/ 19 h 19"/>
                <a:gd name="T2" fmla="*/ 60 w 60"/>
                <a:gd name="T3" fmla="*/ 19 h 19"/>
                <a:gd name="T4" fmla="*/ 57 w 60"/>
                <a:gd name="T5" fmla="*/ 0 h 19"/>
                <a:gd name="T6" fmla="*/ 0 w 60"/>
                <a:gd name="T7" fmla="*/ 19 h 19"/>
              </a:gdLst>
              <a:ahLst/>
              <a:cxnLst>
                <a:cxn ang="0">
                  <a:pos x="T0" y="T1"/>
                </a:cxn>
                <a:cxn ang="0">
                  <a:pos x="T2" y="T3"/>
                </a:cxn>
                <a:cxn ang="0">
                  <a:pos x="T4" y="T5"/>
                </a:cxn>
                <a:cxn ang="0">
                  <a:pos x="T6" y="T7"/>
                </a:cxn>
              </a:cxnLst>
              <a:rect l="0" t="0" r="r" b="b"/>
              <a:pathLst>
                <a:path w="60" h="19">
                  <a:moveTo>
                    <a:pt x="0" y="19"/>
                  </a:moveTo>
                  <a:lnTo>
                    <a:pt x="60" y="19"/>
                  </a:lnTo>
                  <a:lnTo>
                    <a:pt x="57" y="0"/>
                  </a:lnTo>
                  <a:lnTo>
                    <a:pt x="0" y="19"/>
                  </a:lnTo>
                  <a:close/>
                </a:path>
              </a:pathLst>
            </a:custGeom>
            <a:solidFill>
              <a:srgbClr val="DC926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08" name="iṥ1ïďè"/>
            <p:cNvSpPr/>
            <p:nvPr/>
          </p:nvSpPr>
          <p:spPr bwMode="auto">
            <a:xfrm>
              <a:off x="6362701" y="3332163"/>
              <a:ext cx="307975" cy="423863"/>
            </a:xfrm>
            <a:custGeom>
              <a:avLst/>
              <a:gdLst>
                <a:gd name="T0" fmla="*/ 0 w 102"/>
                <a:gd name="T1" fmla="*/ 0 h 141"/>
                <a:gd name="T2" fmla="*/ 102 w 102"/>
                <a:gd name="T3" fmla="*/ 122 h 141"/>
                <a:gd name="T4" fmla="*/ 44 w 102"/>
                <a:gd name="T5" fmla="*/ 141 h 141"/>
                <a:gd name="T6" fmla="*/ 0 w 102"/>
                <a:gd name="T7" fmla="*/ 0 h 141"/>
              </a:gdLst>
              <a:ahLst/>
              <a:cxnLst>
                <a:cxn ang="0">
                  <a:pos x="T0" y="T1"/>
                </a:cxn>
                <a:cxn ang="0">
                  <a:pos x="T2" y="T3"/>
                </a:cxn>
                <a:cxn ang="0">
                  <a:pos x="T4" y="T5"/>
                </a:cxn>
                <a:cxn ang="0">
                  <a:pos x="T6" y="T7"/>
                </a:cxn>
              </a:cxnLst>
              <a:rect l="0" t="0" r="r" b="b"/>
              <a:pathLst>
                <a:path w="102" h="141">
                  <a:moveTo>
                    <a:pt x="0" y="0"/>
                  </a:moveTo>
                  <a:cubicBezTo>
                    <a:pt x="34" y="17"/>
                    <a:pt x="64" y="22"/>
                    <a:pt x="102" y="122"/>
                  </a:cubicBezTo>
                  <a:cubicBezTo>
                    <a:pt x="44" y="141"/>
                    <a:pt x="44" y="141"/>
                    <a:pt x="44" y="141"/>
                  </a:cubicBezTo>
                  <a:cubicBezTo>
                    <a:pt x="44" y="141"/>
                    <a:pt x="7" y="47"/>
                    <a:pt x="0" y="0"/>
                  </a:cubicBezTo>
                  <a:close/>
                </a:path>
              </a:pathLst>
            </a:custGeom>
            <a:solidFill>
              <a:srgbClr val="0C289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09" name="ïsļîḋê"/>
            <p:cNvSpPr/>
            <p:nvPr/>
          </p:nvSpPr>
          <p:spPr bwMode="auto">
            <a:xfrm>
              <a:off x="5721351" y="3278188"/>
              <a:ext cx="798513" cy="1047750"/>
            </a:xfrm>
            <a:custGeom>
              <a:avLst/>
              <a:gdLst>
                <a:gd name="T0" fmla="*/ 151 w 265"/>
                <a:gd name="T1" fmla="*/ 348 h 348"/>
                <a:gd name="T2" fmla="*/ 114 w 265"/>
                <a:gd name="T3" fmla="*/ 348 h 348"/>
                <a:gd name="T4" fmla="*/ 12 w 265"/>
                <a:gd name="T5" fmla="*/ 249 h 348"/>
                <a:gd name="T6" fmla="*/ 0 w 265"/>
                <a:gd name="T7" fmla="*/ 114 h 348"/>
                <a:gd name="T8" fmla="*/ 114 w 265"/>
                <a:gd name="T9" fmla="*/ 0 h 348"/>
                <a:gd name="T10" fmla="*/ 151 w 265"/>
                <a:gd name="T11" fmla="*/ 0 h 348"/>
                <a:gd name="T12" fmla="*/ 265 w 265"/>
                <a:gd name="T13" fmla="*/ 114 h 348"/>
                <a:gd name="T14" fmla="*/ 245 w 265"/>
                <a:gd name="T15" fmla="*/ 241 h 348"/>
                <a:gd name="T16" fmla="*/ 151 w 265"/>
                <a:gd name="T17" fmla="*/ 348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5" h="348">
                  <a:moveTo>
                    <a:pt x="151" y="348"/>
                  </a:moveTo>
                  <a:cubicBezTo>
                    <a:pt x="114" y="348"/>
                    <a:pt x="114" y="348"/>
                    <a:pt x="114" y="348"/>
                  </a:cubicBezTo>
                  <a:cubicBezTo>
                    <a:pt x="51" y="348"/>
                    <a:pt x="12" y="318"/>
                    <a:pt x="12" y="249"/>
                  </a:cubicBezTo>
                  <a:cubicBezTo>
                    <a:pt x="0" y="114"/>
                    <a:pt x="0" y="114"/>
                    <a:pt x="0" y="114"/>
                  </a:cubicBezTo>
                  <a:cubicBezTo>
                    <a:pt x="0" y="51"/>
                    <a:pt x="51" y="0"/>
                    <a:pt x="114" y="0"/>
                  </a:cubicBezTo>
                  <a:cubicBezTo>
                    <a:pt x="151" y="0"/>
                    <a:pt x="151" y="0"/>
                    <a:pt x="151" y="0"/>
                  </a:cubicBezTo>
                  <a:cubicBezTo>
                    <a:pt x="214" y="0"/>
                    <a:pt x="265" y="51"/>
                    <a:pt x="265" y="114"/>
                  </a:cubicBezTo>
                  <a:cubicBezTo>
                    <a:pt x="245" y="241"/>
                    <a:pt x="245" y="241"/>
                    <a:pt x="245" y="241"/>
                  </a:cubicBezTo>
                  <a:cubicBezTo>
                    <a:pt x="245" y="321"/>
                    <a:pt x="214" y="348"/>
                    <a:pt x="151" y="348"/>
                  </a:cubicBezTo>
                  <a:close/>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0" name="ïŝlîḋé"/>
            <p:cNvSpPr/>
            <p:nvPr/>
          </p:nvSpPr>
          <p:spPr bwMode="auto">
            <a:xfrm>
              <a:off x="5732463" y="3362325"/>
              <a:ext cx="768350" cy="225425"/>
            </a:xfrm>
            <a:custGeom>
              <a:avLst/>
              <a:gdLst>
                <a:gd name="T0" fmla="*/ 222 w 255"/>
                <a:gd name="T1" fmla="*/ 0 h 75"/>
                <a:gd name="T2" fmla="*/ 35 w 255"/>
                <a:gd name="T3" fmla="*/ 0 h 75"/>
                <a:gd name="T4" fmla="*/ 0 w 255"/>
                <a:gd name="T5" fmla="*/ 55 h 75"/>
                <a:gd name="T6" fmla="*/ 12 w 255"/>
                <a:gd name="T7" fmla="*/ 56 h 75"/>
                <a:gd name="T8" fmla="*/ 58 w 255"/>
                <a:gd name="T9" fmla="*/ 62 h 75"/>
                <a:gd name="T10" fmla="*/ 117 w 255"/>
                <a:gd name="T11" fmla="*/ 72 h 75"/>
                <a:gd name="T12" fmla="*/ 172 w 255"/>
                <a:gd name="T13" fmla="*/ 75 h 75"/>
                <a:gd name="T14" fmla="*/ 234 w 255"/>
                <a:gd name="T15" fmla="*/ 68 h 75"/>
                <a:gd name="T16" fmla="*/ 255 w 255"/>
                <a:gd name="T17" fmla="*/ 49 h 75"/>
                <a:gd name="T18" fmla="*/ 222 w 255"/>
                <a:gd name="T1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 h="75">
                  <a:moveTo>
                    <a:pt x="222" y="0"/>
                  </a:moveTo>
                  <a:cubicBezTo>
                    <a:pt x="149" y="11"/>
                    <a:pt x="51" y="2"/>
                    <a:pt x="35" y="0"/>
                  </a:cubicBezTo>
                  <a:cubicBezTo>
                    <a:pt x="19" y="14"/>
                    <a:pt x="6" y="33"/>
                    <a:pt x="0" y="55"/>
                  </a:cubicBezTo>
                  <a:cubicBezTo>
                    <a:pt x="12" y="56"/>
                    <a:pt x="12" y="56"/>
                    <a:pt x="12" y="56"/>
                  </a:cubicBezTo>
                  <a:cubicBezTo>
                    <a:pt x="58" y="62"/>
                    <a:pt x="58" y="62"/>
                    <a:pt x="58" y="62"/>
                  </a:cubicBezTo>
                  <a:cubicBezTo>
                    <a:pt x="117" y="72"/>
                    <a:pt x="117" y="72"/>
                    <a:pt x="117" y="72"/>
                  </a:cubicBezTo>
                  <a:cubicBezTo>
                    <a:pt x="172" y="75"/>
                    <a:pt x="172" y="75"/>
                    <a:pt x="172" y="75"/>
                  </a:cubicBezTo>
                  <a:cubicBezTo>
                    <a:pt x="234" y="68"/>
                    <a:pt x="234" y="68"/>
                    <a:pt x="234" y="68"/>
                  </a:cubicBezTo>
                  <a:cubicBezTo>
                    <a:pt x="255" y="49"/>
                    <a:pt x="255" y="49"/>
                    <a:pt x="255" y="49"/>
                  </a:cubicBezTo>
                  <a:cubicBezTo>
                    <a:pt x="248" y="30"/>
                    <a:pt x="237" y="13"/>
                    <a:pt x="222" y="0"/>
                  </a:cubicBezTo>
                  <a:close/>
                </a:path>
              </a:pathLst>
            </a:custGeom>
            <a:solidFill>
              <a:srgbClr val="133AA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1" name="ïṡliḑê"/>
            <p:cNvSpPr/>
            <p:nvPr/>
          </p:nvSpPr>
          <p:spPr bwMode="auto">
            <a:xfrm>
              <a:off x="5862638" y="5308600"/>
              <a:ext cx="188913" cy="87313"/>
            </a:xfrm>
            <a:prstGeom prst="ellipse">
              <a:avLst/>
            </a:pr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2" name="iŝlîďè"/>
            <p:cNvSpPr/>
            <p:nvPr/>
          </p:nvSpPr>
          <p:spPr bwMode="auto">
            <a:xfrm>
              <a:off x="5799138" y="4445000"/>
              <a:ext cx="252413" cy="920750"/>
            </a:xfrm>
            <a:custGeom>
              <a:avLst/>
              <a:gdLst>
                <a:gd name="T0" fmla="*/ 0 w 84"/>
                <a:gd name="T1" fmla="*/ 0 h 306"/>
                <a:gd name="T2" fmla="*/ 52 w 84"/>
                <a:gd name="T3" fmla="*/ 301 h 306"/>
                <a:gd name="T4" fmla="*/ 84 w 84"/>
                <a:gd name="T5" fmla="*/ 301 h 306"/>
                <a:gd name="T6" fmla="*/ 84 w 84"/>
                <a:gd name="T7" fmla="*/ 73 h 306"/>
                <a:gd name="T8" fmla="*/ 0 w 84"/>
                <a:gd name="T9" fmla="*/ 0 h 306"/>
              </a:gdLst>
              <a:ahLst/>
              <a:cxnLst>
                <a:cxn ang="0">
                  <a:pos x="T0" y="T1"/>
                </a:cxn>
                <a:cxn ang="0">
                  <a:pos x="T2" y="T3"/>
                </a:cxn>
                <a:cxn ang="0">
                  <a:pos x="T4" y="T5"/>
                </a:cxn>
                <a:cxn ang="0">
                  <a:pos x="T6" y="T7"/>
                </a:cxn>
                <a:cxn ang="0">
                  <a:pos x="T8" y="T9"/>
                </a:cxn>
              </a:cxnLst>
              <a:rect l="0" t="0" r="r" b="b"/>
              <a:pathLst>
                <a:path w="84" h="306">
                  <a:moveTo>
                    <a:pt x="0" y="0"/>
                  </a:moveTo>
                  <a:cubicBezTo>
                    <a:pt x="52" y="301"/>
                    <a:pt x="52" y="301"/>
                    <a:pt x="52" y="301"/>
                  </a:cubicBezTo>
                  <a:cubicBezTo>
                    <a:pt x="52" y="301"/>
                    <a:pt x="67" y="306"/>
                    <a:pt x="84" y="301"/>
                  </a:cubicBezTo>
                  <a:cubicBezTo>
                    <a:pt x="84" y="73"/>
                    <a:pt x="84" y="73"/>
                    <a:pt x="84" y="73"/>
                  </a:cubicBezTo>
                  <a:cubicBezTo>
                    <a:pt x="0" y="0"/>
                    <a:pt x="0" y="0"/>
                    <a:pt x="0" y="0"/>
                  </a:cubicBezTo>
                </a:path>
              </a:pathLst>
            </a:custGeom>
            <a:solidFill>
              <a:srgbClr val="B7FF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3" name="íṡḷïḓê"/>
            <p:cNvSpPr/>
            <p:nvPr/>
          </p:nvSpPr>
          <p:spPr bwMode="auto">
            <a:xfrm>
              <a:off x="5832476" y="4641850"/>
              <a:ext cx="219075" cy="239713"/>
            </a:xfrm>
            <a:custGeom>
              <a:avLst/>
              <a:gdLst>
                <a:gd name="T0" fmla="*/ 73 w 73"/>
                <a:gd name="T1" fmla="*/ 13 h 80"/>
                <a:gd name="T2" fmla="*/ 71 w 73"/>
                <a:gd name="T3" fmla="*/ 8 h 80"/>
                <a:gd name="T4" fmla="*/ 68 w 73"/>
                <a:gd name="T5" fmla="*/ 7 h 80"/>
                <a:gd name="T6" fmla="*/ 0 w 73"/>
                <a:gd name="T7" fmla="*/ 0 h 80"/>
                <a:gd name="T8" fmla="*/ 10 w 73"/>
                <a:gd name="T9" fmla="*/ 53 h 80"/>
                <a:gd name="T10" fmla="*/ 19 w 73"/>
                <a:gd name="T11" fmla="*/ 52 h 80"/>
                <a:gd name="T12" fmla="*/ 73 w 73"/>
                <a:gd name="T13" fmla="*/ 80 h 80"/>
                <a:gd name="T14" fmla="*/ 73 w 73"/>
                <a:gd name="T15" fmla="*/ 77 h 80"/>
                <a:gd name="T16" fmla="*/ 73 w 73"/>
                <a:gd name="T17" fmla="*/ 13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80">
                  <a:moveTo>
                    <a:pt x="73" y="13"/>
                  </a:moveTo>
                  <a:cubicBezTo>
                    <a:pt x="71" y="8"/>
                    <a:pt x="71" y="8"/>
                    <a:pt x="71" y="8"/>
                  </a:cubicBezTo>
                  <a:cubicBezTo>
                    <a:pt x="68" y="7"/>
                    <a:pt x="68" y="7"/>
                    <a:pt x="68" y="7"/>
                  </a:cubicBezTo>
                  <a:cubicBezTo>
                    <a:pt x="0" y="0"/>
                    <a:pt x="0" y="0"/>
                    <a:pt x="0" y="0"/>
                  </a:cubicBezTo>
                  <a:cubicBezTo>
                    <a:pt x="10" y="53"/>
                    <a:pt x="10" y="53"/>
                    <a:pt x="10" y="53"/>
                  </a:cubicBezTo>
                  <a:cubicBezTo>
                    <a:pt x="11" y="53"/>
                    <a:pt x="15" y="52"/>
                    <a:pt x="19" y="52"/>
                  </a:cubicBezTo>
                  <a:cubicBezTo>
                    <a:pt x="34" y="49"/>
                    <a:pt x="60" y="46"/>
                    <a:pt x="73" y="80"/>
                  </a:cubicBezTo>
                  <a:cubicBezTo>
                    <a:pt x="73" y="77"/>
                    <a:pt x="73" y="77"/>
                    <a:pt x="73" y="77"/>
                  </a:cubicBezTo>
                  <a:cubicBezTo>
                    <a:pt x="73" y="13"/>
                    <a:pt x="73" y="13"/>
                    <a:pt x="73" y="13"/>
                  </a:cubicBezTo>
                </a:path>
              </a:pathLst>
            </a:custGeom>
            <a:solidFill>
              <a:srgbClr val="96D2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4" name="iŝ1íḍe"/>
            <p:cNvSpPr/>
            <p:nvPr/>
          </p:nvSpPr>
          <p:spPr bwMode="auto">
            <a:xfrm>
              <a:off x="6197601" y="5308600"/>
              <a:ext cx="192088" cy="87313"/>
            </a:xfrm>
            <a:prstGeom prst="ellipse">
              <a:avLst/>
            </a:pr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5" name="ïslïḍe"/>
            <p:cNvSpPr/>
            <p:nvPr/>
          </p:nvSpPr>
          <p:spPr bwMode="auto">
            <a:xfrm>
              <a:off x="6197601" y="4445000"/>
              <a:ext cx="252413" cy="920750"/>
            </a:xfrm>
            <a:custGeom>
              <a:avLst/>
              <a:gdLst>
                <a:gd name="T0" fmla="*/ 84 w 84"/>
                <a:gd name="T1" fmla="*/ 0 h 306"/>
                <a:gd name="T2" fmla="*/ 32 w 84"/>
                <a:gd name="T3" fmla="*/ 301 h 306"/>
                <a:gd name="T4" fmla="*/ 0 w 84"/>
                <a:gd name="T5" fmla="*/ 301 h 306"/>
                <a:gd name="T6" fmla="*/ 0 w 84"/>
                <a:gd name="T7" fmla="*/ 73 h 306"/>
                <a:gd name="T8" fmla="*/ 84 w 84"/>
                <a:gd name="T9" fmla="*/ 0 h 306"/>
              </a:gdLst>
              <a:ahLst/>
              <a:cxnLst>
                <a:cxn ang="0">
                  <a:pos x="T0" y="T1"/>
                </a:cxn>
                <a:cxn ang="0">
                  <a:pos x="T2" y="T3"/>
                </a:cxn>
                <a:cxn ang="0">
                  <a:pos x="T4" y="T5"/>
                </a:cxn>
                <a:cxn ang="0">
                  <a:pos x="T6" y="T7"/>
                </a:cxn>
                <a:cxn ang="0">
                  <a:pos x="T8" y="T9"/>
                </a:cxn>
              </a:cxnLst>
              <a:rect l="0" t="0" r="r" b="b"/>
              <a:pathLst>
                <a:path w="84" h="306">
                  <a:moveTo>
                    <a:pt x="84" y="0"/>
                  </a:moveTo>
                  <a:cubicBezTo>
                    <a:pt x="32" y="301"/>
                    <a:pt x="32" y="301"/>
                    <a:pt x="32" y="301"/>
                  </a:cubicBezTo>
                  <a:cubicBezTo>
                    <a:pt x="32" y="301"/>
                    <a:pt x="18" y="306"/>
                    <a:pt x="0" y="301"/>
                  </a:cubicBezTo>
                  <a:cubicBezTo>
                    <a:pt x="0" y="73"/>
                    <a:pt x="0" y="73"/>
                    <a:pt x="0" y="73"/>
                  </a:cubicBezTo>
                  <a:cubicBezTo>
                    <a:pt x="84" y="0"/>
                    <a:pt x="84" y="0"/>
                    <a:pt x="84" y="0"/>
                  </a:cubicBezTo>
                </a:path>
              </a:pathLst>
            </a:custGeom>
            <a:solidFill>
              <a:srgbClr val="B7FF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6" name="ïṣľiďé"/>
            <p:cNvSpPr/>
            <p:nvPr/>
          </p:nvSpPr>
          <p:spPr bwMode="auto">
            <a:xfrm>
              <a:off x="6197601" y="4641850"/>
              <a:ext cx="222250" cy="239713"/>
            </a:xfrm>
            <a:custGeom>
              <a:avLst/>
              <a:gdLst>
                <a:gd name="T0" fmla="*/ 0 w 74"/>
                <a:gd name="T1" fmla="*/ 13 h 80"/>
                <a:gd name="T2" fmla="*/ 3 w 74"/>
                <a:gd name="T3" fmla="*/ 8 h 80"/>
                <a:gd name="T4" fmla="*/ 6 w 74"/>
                <a:gd name="T5" fmla="*/ 7 h 80"/>
                <a:gd name="T6" fmla="*/ 74 w 74"/>
                <a:gd name="T7" fmla="*/ 0 h 80"/>
                <a:gd name="T8" fmla="*/ 64 w 74"/>
                <a:gd name="T9" fmla="*/ 53 h 80"/>
                <a:gd name="T10" fmla="*/ 54 w 74"/>
                <a:gd name="T11" fmla="*/ 52 h 80"/>
                <a:gd name="T12" fmla="*/ 1 w 74"/>
                <a:gd name="T13" fmla="*/ 80 h 80"/>
                <a:gd name="T14" fmla="*/ 0 w 74"/>
                <a:gd name="T15" fmla="*/ 77 h 80"/>
                <a:gd name="T16" fmla="*/ 0 w 74"/>
                <a:gd name="T17" fmla="*/ 13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80">
                  <a:moveTo>
                    <a:pt x="0" y="13"/>
                  </a:moveTo>
                  <a:cubicBezTo>
                    <a:pt x="3" y="8"/>
                    <a:pt x="3" y="8"/>
                    <a:pt x="3" y="8"/>
                  </a:cubicBezTo>
                  <a:cubicBezTo>
                    <a:pt x="6" y="7"/>
                    <a:pt x="6" y="7"/>
                    <a:pt x="6" y="7"/>
                  </a:cubicBezTo>
                  <a:cubicBezTo>
                    <a:pt x="74" y="0"/>
                    <a:pt x="74" y="0"/>
                    <a:pt x="74" y="0"/>
                  </a:cubicBezTo>
                  <a:cubicBezTo>
                    <a:pt x="64" y="53"/>
                    <a:pt x="64" y="53"/>
                    <a:pt x="64" y="53"/>
                  </a:cubicBezTo>
                  <a:cubicBezTo>
                    <a:pt x="62" y="53"/>
                    <a:pt x="59" y="52"/>
                    <a:pt x="54" y="52"/>
                  </a:cubicBezTo>
                  <a:cubicBezTo>
                    <a:pt x="39" y="49"/>
                    <a:pt x="14" y="46"/>
                    <a:pt x="1" y="80"/>
                  </a:cubicBezTo>
                  <a:cubicBezTo>
                    <a:pt x="0" y="77"/>
                    <a:pt x="0" y="77"/>
                    <a:pt x="0" y="77"/>
                  </a:cubicBezTo>
                  <a:cubicBezTo>
                    <a:pt x="0" y="13"/>
                    <a:pt x="0" y="13"/>
                    <a:pt x="0" y="13"/>
                  </a:cubicBezTo>
                </a:path>
              </a:pathLst>
            </a:custGeom>
            <a:solidFill>
              <a:srgbClr val="96D2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7" name="işḻiḓe"/>
            <p:cNvSpPr/>
            <p:nvPr/>
          </p:nvSpPr>
          <p:spPr bwMode="auto">
            <a:xfrm>
              <a:off x="6100763" y="4625975"/>
              <a:ext cx="47625" cy="615950"/>
            </a:xfrm>
            <a:custGeom>
              <a:avLst/>
              <a:gdLst>
                <a:gd name="T0" fmla="*/ 16 w 16"/>
                <a:gd name="T1" fmla="*/ 5 h 205"/>
                <a:gd name="T2" fmla="*/ 16 w 16"/>
                <a:gd name="T3" fmla="*/ 199 h 205"/>
                <a:gd name="T4" fmla="*/ 11 w 16"/>
                <a:gd name="T5" fmla="*/ 205 h 205"/>
                <a:gd name="T6" fmla="*/ 6 w 16"/>
                <a:gd name="T7" fmla="*/ 205 h 205"/>
                <a:gd name="T8" fmla="*/ 0 w 16"/>
                <a:gd name="T9" fmla="*/ 199 h 205"/>
                <a:gd name="T10" fmla="*/ 0 w 16"/>
                <a:gd name="T11" fmla="*/ 5 h 205"/>
                <a:gd name="T12" fmla="*/ 6 w 16"/>
                <a:gd name="T13" fmla="*/ 0 h 205"/>
                <a:gd name="T14" fmla="*/ 11 w 16"/>
                <a:gd name="T15" fmla="*/ 0 h 205"/>
                <a:gd name="T16" fmla="*/ 16 w 16"/>
                <a:gd name="T17" fmla="*/ 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205">
                  <a:moveTo>
                    <a:pt x="16" y="5"/>
                  </a:moveTo>
                  <a:cubicBezTo>
                    <a:pt x="16" y="199"/>
                    <a:pt x="16" y="199"/>
                    <a:pt x="16" y="199"/>
                  </a:cubicBezTo>
                  <a:cubicBezTo>
                    <a:pt x="16" y="203"/>
                    <a:pt x="14" y="205"/>
                    <a:pt x="11" y="205"/>
                  </a:cubicBezTo>
                  <a:cubicBezTo>
                    <a:pt x="6" y="205"/>
                    <a:pt x="6" y="205"/>
                    <a:pt x="6" y="205"/>
                  </a:cubicBezTo>
                  <a:cubicBezTo>
                    <a:pt x="2" y="205"/>
                    <a:pt x="0" y="203"/>
                    <a:pt x="0" y="199"/>
                  </a:cubicBezTo>
                  <a:cubicBezTo>
                    <a:pt x="0" y="5"/>
                    <a:pt x="0" y="5"/>
                    <a:pt x="0" y="5"/>
                  </a:cubicBezTo>
                  <a:cubicBezTo>
                    <a:pt x="0" y="2"/>
                    <a:pt x="2" y="0"/>
                    <a:pt x="6" y="0"/>
                  </a:cubicBezTo>
                  <a:cubicBezTo>
                    <a:pt x="11" y="0"/>
                    <a:pt x="11" y="0"/>
                    <a:pt x="11" y="0"/>
                  </a:cubicBezTo>
                  <a:cubicBezTo>
                    <a:pt x="14" y="0"/>
                    <a:pt x="16" y="2"/>
                    <a:pt x="16" y="5"/>
                  </a:cubicBezTo>
                </a:path>
              </a:pathLst>
            </a:custGeom>
            <a:solidFill>
              <a:srgbClr val="2273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8" name="iś1ídê"/>
            <p:cNvSpPr/>
            <p:nvPr/>
          </p:nvSpPr>
          <p:spPr bwMode="auto">
            <a:xfrm>
              <a:off x="6043613" y="4608513"/>
              <a:ext cx="161925" cy="300038"/>
            </a:xfrm>
            <a:custGeom>
              <a:avLst/>
              <a:gdLst>
                <a:gd name="T0" fmla="*/ 27 w 54"/>
                <a:gd name="T1" fmla="*/ 100 h 100"/>
                <a:gd name="T2" fmla="*/ 0 w 54"/>
                <a:gd name="T3" fmla="*/ 73 h 100"/>
                <a:gd name="T4" fmla="*/ 0 w 54"/>
                <a:gd name="T5" fmla="*/ 27 h 100"/>
                <a:gd name="T6" fmla="*/ 27 w 54"/>
                <a:gd name="T7" fmla="*/ 0 h 100"/>
                <a:gd name="T8" fmla="*/ 32 w 54"/>
                <a:gd name="T9" fmla="*/ 0 h 100"/>
                <a:gd name="T10" fmla="*/ 54 w 54"/>
                <a:gd name="T11" fmla="*/ 22 h 100"/>
                <a:gd name="T12" fmla="*/ 54 w 54"/>
                <a:gd name="T13" fmla="*/ 73 h 100"/>
                <a:gd name="T14" fmla="*/ 27 w 54"/>
                <a:gd name="T15" fmla="*/ 100 h 1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100">
                  <a:moveTo>
                    <a:pt x="27" y="100"/>
                  </a:moveTo>
                  <a:cubicBezTo>
                    <a:pt x="12" y="100"/>
                    <a:pt x="0" y="88"/>
                    <a:pt x="0" y="73"/>
                  </a:cubicBezTo>
                  <a:cubicBezTo>
                    <a:pt x="0" y="27"/>
                    <a:pt x="0" y="27"/>
                    <a:pt x="0" y="27"/>
                  </a:cubicBezTo>
                  <a:cubicBezTo>
                    <a:pt x="0" y="12"/>
                    <a:pt x="12" y="0"/>
                    <a:pt x="27" y="0"/>
                  </a:cubicBezTo>
                  <a:cubicBezTo>
                    <a:pt x="32" y="0"/>
                    <a:pt x="32" y="0"/>
                    <a:pt x="32" y="0"/>
                  </a:cubicBezTo>
                  <a:cubicBezTo>
                    <a:pt x="44" y="0"/>
                    <a:pt x="54" y="10"/>
                    <a:pt x="54" y="22"/>
                  </a:cubicBezTo>
                  <a:cubicBezTo>
                    <a:pt x="54" y="73"/>
                    <a:pt x="54" y="73"/>
                    <a:pt x="54" y="73"/>
                  </a:cubicBezTo>
                  <a:cubicBezTo>
                    <a:pt x="54" y="88"/>
                    <a:pt x="42" y="100"/>
                    <a:pt x="27" y="100"/>
                  </a:cubicBezTo>
                </a:path>
              </a:pathLst>
            </a:custGeom>
            <a:solidFill>
              <a:srgbClr val="22A4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9" name="iSḻíḑè"/>
            <p:cNvSpPr/>
            <p:nvPr/>
          </p:nvSpPr>
          <p:spPr bwMode="auto">
            <a:xfrm>
              <a:off x="6043613" y="4622800"/>
              <a:ext cx="34925" cy="36513"/>
            </a:xfrm>
            <a:custGeom>
              <a:avLst/>
              <a:gdLst>
                <a:gd name="T0" fmla="*/ 12 w 12"/>
                <a:gd name="T1" fmla="*/ 0 h 12"/>
                <a:gd name="T2" fmla="*/ 0 w 12"/>
                <a:gd name="T3" fmla="*/ 4 h 12"/>
                <a:gd name="T4" fmla="*/ 0 w 12"/>
                <a:gd name="T5" fmla="*/ 11 h 12"/>
                <a:gd name="T6" fmla="*/ 2 w 12"/>
                <a:gd name="T7" fmla="*/ 12 h 12"/>
                <a:gd name="T8" fmla="*/ 12 w 12"/>
                <a:gd name="T9" fmla="*/ 0 h 12"/>
              </a:gdLst>
              <a:ahLst/>
              <a:cxnLst>
                <a:cxn ang="0">
                  <a:pos x="T0" y="T1"/>
                </a:cxn>
                <a:cxn ang="0">
                  <a:pos x="T2" y="T3"/>
                </a:cxn>
                <a:cxn ang="0">
                  <a:pos x="T4" y="T5"/>
                </a:cxn>
                <a:cxn ang="0">
                  <a:pos x="T6" y="T7"/>
                </a:cxn>
                <a:cxn ang="0">
                  <a:pos x="T8" y="T9"/>
                </a:cxn>
              </a:cxnLst>
              <a:rect l="0" t="0" r="r" b="b"/>
              <a:pathLst>
                <a:path w="12" h="12">
                  <a:moveTo>
                    <a:pt x="12" y="0"/>
                  </a:moveTo>
                  <a:cubicBezTo>
                    <a:pt x="8" y="1"/>
                    <a:pt x="4" y="2"/>
                    <a:pt x="0" y="4"/>
                  </a:cubicBezTo>
                  <a:cubicBezTo>
                    <a:pt x="0" y="6"/>
                    <a:pt x="0" y="9"/>
                    <a:pt x="0" y="11"/>
                  </a:cubicBezTo>
                  <a:cubicBezTo>
                    <a:pt x="2" y="12"/>
                    <a:pt x="2" y="12"/>
                    <a:pt x="2" y="12"/>
                  </a:cubicBezTo>
                  <a:cubicBezTo>
                    <a:pt x="4" y="7"/>
                    <a:pt x="8" y="3"/>
                    <a:pt x="12" y="0"/>
                  </a:cubicBezTo>
                </a:path>
              </a:pathLst>
            </a:custGeom>
            <a:solidFill>
              <a:srgbClr val="6F8B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0" name="íṥḻiḋé"/>
            <p:cNvSpPr/>
            <p:nvPr/>
          </p:nvSpPr>
          <p:spPr bwMode="auto">
            <a:xfrm>
              <a:off x="6043613" y="4656138"/>
              <a:ext cx="4763" cy="12700"/>
            </a:xfrm>
            <a:custGeom>
              <a:avLst/>
              <a:gdLst>
                <a:gd name="T0" fmla="*/ 0 w 2"/>
                <a:gd name="T1" fmla="*/ 0 h 4"/>
                <a:gd name="T2" fmla="*/ 0 w 2"/>
                <a:gd name="T3" fmla="*/ 3 h 4"/>
                <a:gd name="T4" fmla="*/ 1 w 2"/>
                <a:gd name="T5" fmla="*/ 3 h 4"/>
                <a:gd name="T6" fmla="*/ 1 w 2"/>
                <a:gd name="T7" fmla="*/ 4 h 4"/>
                <a:gd name="T8" fmla="*/ 2 w 2"/>
                <a:gd name="T9" fmla="*/ 1 h 4"/>
                <a:gd name="T10" fmla="*/ 0 w 2"/>
                <a:gd name="T11" fmla="*/ 0 h 4"/>
              </a:gdLst>
              <a:ahLst/>
              <a:cxnLst>
                <a:cxn ang="0">
                  <a:pos x="T0" y="T1"/>
                </a:cxn>
                <a:cxn ang="0">
                  <a:pos x="T2" y="T3"/>
                </a:cxn>
                <a:cxn ang="0">
                  <a:pos x="T4" y="T5"/>
                </a:cxn>
                <a:cxn ang="0">
                  <a:pos x="T6" y="T7"/>
                </a:cxn>
                <a:cxn ang="0">
                  <a:pos x="T8" y="T9"/>
                </a:cxn>
                <a:cxn ang="0">
                  <a:pos x="T10" y="T11"/>
                </a:cxn>
              </a:cxnLst>
              <a:rect l="0" t="0" r="r" b="b"/>
              <a:pathLst>
                <a:path w="2" h="4">
                  <a:moveTo>
                    <a:pt x="0" y="0"/>
                  </a:moveTo>
                  <a:cubicBezTo>
                    <a:pt x="0" y="1"/>
                    <a:pt x="0" y="2"/>
                    <a:pt x="0" y="3"/>
                  </a:cubicBezTo>
                  <a:cubicBezTo>
                    <a:pt x="1" y="3"/>
                    <a:pt x="1" y="3"/>
                    <a:pt x="1" y="3"/>
                  </a:cubicBezTo>
                  <a:cubicBezTo>
                    <a:pt x="1" y="4"/>
                    <a:pt x="1" y="4"/>
                    <a:pt x="1" y="4"/>
                  </a:cubicBezTo>
                  <a:cubicBezTo>
                    <a:pt x="1" y="3"/>
                    <a:pt x="2" y="2"/>
                    <a:pt x="2" y="1"/>
                  </a:cubicBezTo>
                  <a:cubicBezTo>
                    <a:pt x="0" y="0"/>
                    <a:pt x="0" y="0"/>
                    <a:pt x="0" y="0"/>
                  </a:cubicBezTo>
                </a:path>
              </a:pathLst>
            </a:custGeom>
            <a:solidFill>
              <a:srgbClr val="4F8BC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1" name="îśliḓè"/>
            <p:cNvSpPr/>
            <p:nvPr/>
          </p:nvSpPr>
          <p:spPr bwMode="auto">
            <a:xfrm>
              <a:off x="6043613" y="4665663"/>
              <a:ext cx="3175" cy="14288"/>
            </a:xfrm>
            <a:custGeom>
              <a:avLst/>
              <a:gdLst>
                <a:gd name="T0" fmla="*/ 0 w 1"/>
                <a:gd name="T1" fmla="*/ 0 h 5"/>
                <a:gd name="T2" fmla="*/ 0 w 1"/>
                <a:gd name="T3" fmla="*/ 5 h 5"/>
                <a:gd name="T4" fmla="*/ 1 w 1"/>
                <a:gd name="T5" fmla="*/ 1 h 5"/>
                <a:gd name="T6" fmla="*/ 1 w 1"/>
                <a:gd name="T7" fmla="*/ 0 h 5"/>
                <a:gd name="T8" fmla="*/ 0 w 1"/>
                <a:gd name="T9" fmla="*/ 0 h 5"/>
              </a:gdLst>
              <a:ahLst/>
              <a:cxnLst>
                <a:cxn ang="0">
                  <a:pos x="T0" y="T1"/>
                </a:cxn>
                <a:cxn ang="0">
                  <a:pos x="T2" y="T3"/>
                </a:cxn>
                <a:cxn ang="0">
                  <a:pos x="T4" y="T5"/>
                </a:cxn>
                <a:cxn ang="0">
                  <a:pos x="T6" y="T7"/>
                </a:cxn>
                <a:cxn ang="0">
                  <a:pos x="T8" y="T9"/>
                </a:cxn>
              </a:cxnLst>
              <a:rect l="0" t="0" r="r" b="b"/>
              <a:pathLst>
                <a:path w="1" h="5">
                  <a:moveTo>
                    <a:pt x="0" y="0"/>
                  </a:moveTo>
                  <a:cubicBezTo>
                    <a:pt x="0" y="1"/>
                    <a:pt x="0" y="3"/>
                    <a:pt x="0" y="5"/>
                  </a:cubicBezTo>
                  <a:cubicBezTo>
                    <a:pt x="1" y="4"/>
                    <a:pt x="1" y="2"/>
                    <a:pt x="1" y="1"/>
                  </a:cubicBezTo>
                  <a:cubicBezTo>
                    <a:pt x="1" y="0"/>
                    <a:pt x="1" y="0"/>
                    <a:pt x="1" y="0"/>
                  </a:cubicBezTo>
                  <a:cubicBezTo>
                    <a:pt x="0" y="0"/>
                    <a:pt x="0" y="0"/>
                    <a:pt x="0" y="0"/>
                  </a:cubicBezTo>
                </a:path>
              </a:pathLst>
            </a:custGeom>
            <a:solidFill>
              <a:srgbClr val="4172C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2" name="ï$ľiďé"/>
            <p:cNvSpPr/>
            <p:nvPr/>
          </p:nvSpPr>
          <p:spPr bwMode="auto">
            <a:xfrm>
              <a:off x="6184901" y="4625975"/>
              <a:ext cx="20638" cy="33338"/>
            </a:xfrm>
            <a:custGeom>
              <a:avLst/>
              <a:gdLst>
                <a:gd name="T0" fmla="*/ 0 w 7"/>
                <a:gd name="T1" fmla="*/ 0 h 11"/>
                <a:gd name="T2" fmla="*/ 6 w 7"/>
                <a:gd name="T3" fmla="*/ 11 h 11"/>
                <a:gd name="T4" fmla="*/ 7 w 7"/>
                <a:gd name="T5" fmla="*/ 10 h 11"/>
                <a:gd name="T6" fmla="*/ 7 w 7"/>
                <a:gd name="T7" fmla="*/ 3 h 11"/>
                <a:gd name="T8" fmla="*/ 0 w 7"/>
                <a:gd name="T9" fmla="*/ 0 h 11"/>
              </a:gdLst>
              <a:ahLst/>
              <a:cxnLst>
                <a:cxn ang="0">
                  <a:pos x="T0" y="T1"/>
                </a:cxn>
                <a:cxn ang="0">
                  <a:pos x="T2" y="T3"/>
                </a:cxn>
                <a:cxn ang="0">
                  <a:pos x="T4" y="T5"/>
                </a:cxn>
                <a:cxn ang="0">
                  <a:pos x="T6" y="T7"/>
                </a:cxn>
                <a:cxn ang="0">
                  <a:pos x="T8" y="T9"/>
                </a:cxn>
              </a:cxnLst>
              <a:rect l="0" t="0" r="r" b="b"/>
              <a:pathLst>
                <a:path w="7" h="11">
                  <a:moveTo>
                    <a:pt x="0" y="0"/>
                  </a:moveTo>
                  <a:cubicBezTo>
                    <a:pt x="3" y="3"/>
                    <a:pt x="5" y="6"/>
                    <a:pt x="6" y="11"/>
                  </a:cubicBezTo>
                  <a:cubicBezTo>
                    <a:pt x="7" y="10"/>
                    <a:pt x="7" y="10"/>
                    <a:pt x="7" y="10"/>
                  </a:cubicBezTo>
                  <a:cubicBezTo>
                    <a:pt x="7" y="8"/>
                    <a:pt x="7" y="5"/>
                    <a:pt x="7" y="3"/>
                  </a:cubicBezTo>
                  <a:cubicBezTo>
                    <a:pt x="5" y="2"/>
                    <a:pt x="2" y="1"/>
                    <a:pt x="0" y="0"/>
                  </a:cubicBezTo>
                </a:path>
              </a:pathLst>
            </a:custGeom>
            <a:solidFill>
              <a:srgbClr val="6F8B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3" name="ïS1ïḋe"/>
            <p:cNvSpPr/>
            <p:nvPr/>
          </p:nvSpPr>
          <p:spPr bwMode="auto">
            <a:xfrm>
              <a:off x="6202363" y="4656138"/>
              <a:ext cx="3175" cy="9525"/>
            </a:xfrm>
            <a:custGeom>
              <a:avLst/>
              <a:gdLst>
                <a:gd name="T0" fmla="*/ 1 w 1"/>
                <a:gd name="T1" fmla="*/ 0 h 3"/>
                <a:gd name="T2" fmla="*/ 0 w 1"/>
                <a:gd name="T3" fmla="*/ 1 h 3"/>
                <a:gd name="T4" fmla="*/ 1 w 1"/>
                <a:gd name="T5" fmla="*/ 3 h 3"/>
                <a:gd name="T6" fmla="*/ 1 w 1"/>
                <a:gd name="T7" fmla="*/ 3 h 3"/>
                <a:gd name="T8" fmla="*/ 1 w 1"/>
                <a:gd name="T9" fmla="*/ 3 h 3"/>
                <a:gd name="T10" fmla="*/ 1 w 1"/>
                <a:gd name="T11" fmla="*/ 0 h 3"/>
              </a:gdLst>
              <a:ahLst/>
              <a:cxnLst>
                <a:cxn ang="0">
                  <a:pos x="T0" y="T1"/>
                </a:cxn>
                <a:cxn ang="0">
                  <a:pos x="T2" y="T3"/>
                </a:cxn>
                <a:cxn ang="0">
                  <a:pos x="T4" y="T5"/>
                </a:cxn>
                <a:cxn ang="0">
                  <a:pos x="T6" y="T7"/>
                </a:cxn>
                <a:cxn ang="0">
                  <a:pos x="T8" y="T9"/>
                </a:cxn>
                <a:cxn ang="0">
                  <a:pos x="T10" y="T11"/>
                </a:cxn>
              </a:cxnLst>
              <a:rect l="0" t="0" r="r" b="b"/>
              <a:pathLst>
                <a:path w="1" h="3">
                  <a:moveTo>
                    <a:pt x="1" y="0"/>
                  </a:moveTo>
                  <a:cubicBezTo>
                    <a:pt x="0" y="1"/>
                    <a:pt x="0" y="1"/>
                    <a:pt x="0" y="1"/>
                  </a:cubicBezTo>
                  <a:cubicBezTo>
                    <a:pt x="0" y="1"/>
                    <a:pt x="1" y="2"/>
                    <a:pt x="1" y="3"/>
                  </a:cubicBezTo>
                  <a:cubicBezTo>
                    <a:pt x="1" y="3"/>
                    <a:pt x="1" y="3"/>
                    <a:pt x="1" y="3"/>
                  </a:cubicBezTo>
                  <a:cubicBezTo>
                    <a:pt x="1" y="3"/>
                    <a:pt x="1" y="3"/>
                    <a:pt x="1" y="3"/>
                  </a:cubicBezTo>
                  <a:cubicBezTo>
                    <a:pt x="1" y="2"/>
                    <a:pt x="1" y="1"/>
                    <a:pt x="1" y="0"/>
                  </a:cubicBezTo>
                </a:path>
              </a:pathLst>
            </a:custGeom>
            <a:solidFill>
              <a:srgbClr val="4F8BC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4" name="ïṥ1íďè"/>
            <p:cNvSpPr/>
            <p:nvPr/>
          </p:nvSpPr>
          <p:spPr bwMode="auto">
            <a:xfrm>
              <a:off x="6205538" y="4665663"/>
              <a:ext cx="0" cy="26988"/>
            </a:xfrm>
            <a:custGeom>
              <a:avLst/>
              <a:gdLst>
                <a:gd name="T0" fmla="*/ 0 h 9"/>
                <a:gd name="T1" fmla="*/ 0 h 9"/>
                <a:gd name="T2" fmla="*/ 0 h 9"/>
                <a:gd name="T3" fmla="*/ 3 h 9"/>
                <a:gd name="T4" fmla="*/ 9 h 9"/>
                <a:gd name="T5" fmla="*/ 9 h 9"/>
                <a:gd name="T6" fmla="*/ 0 h 9"/>
              </a:gdLst>
              <a:ahLst/>
              <a:cxnLst>
                <a:cxn ang="0">
                  <a:pos x="0" y="T0"/>
                </a:cxn>
                <a:cxn ang="0">
                  <a:pos x="0" y="T1"/>
                </a:cxn>
                <a:cxn ang="0">
                  <a:pos x="0" y="T2"/>
                </a:cxn>
                <a:cxn ang="0">
                  <a:pos x="0" y="T3"/>
                </a:cxn>
                <a:cxn ang="0">
                  <a:pos x="0" y="T4"/>
                </a:cxn>
                <a:cxn ang="0">
                  <a:pos x="0" y="T5"/>
                </a:cxn>
                <a:cxn ang="0">
                  <a:pos x="0" y="T6"/>
                </a:cxn>
              </a:cxnLst>
              <a:rect l="0" t="0" r="r" b="b"/>
              <a:pathLst>
                <a:path h="9">
                  <a:moveTo>
                    <a:pt x="0" y="0"/>
                  </a:moveTo>
                  <a:cubicBezTo>
                    <a:pt x="0" y="0"/>
                    <a:pt x="0" y="0"/>
                    <a:pt x="0" y="0"/>
                  </a:cubicBezTo>
                  <a:cubicBezTo>
                    <a:pt x="0" y="0"/>
                    <a:pt x="0" y="0"/>
                    <a:pt x="0" y="0"/>
                  </a:cubicBezTo>
                  <a:cubicBezTo>
                    <a:pt x="0" y="1"/>
                    <a:pt x="0" y="2"/>
                    <a:pt x="0" y="3"/>
                  </a:cubicBezTo>
                  <a:cubicBezTo>
                    <a:pt x="0" y="9"/>
                    <a:pt x="0" y="9"/>
                    <a:pt x="0" y="9"/>
                  </a:cubicBezTo>
                  <a:cubicBezTo>
                    <a:pt x="0" y="9"/>
                    <a:pt x="0" y="9"/>
                    <a:pt x="0" y="9"/>
                  </a:cubicBezTo>
                  <a:cubicBezTo>
                    <a:pt x="0" y="6"/>
                    <a:pt x="0" y="3"/>
                    <a:pt x="0" y="0"/>
                  </a:cubicBezTo>
                </a:path>
              </a:pathLst>
            </a:custGeom>
            <a:solidFill>
              <a:srgbClr val="4172C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5" name="íṣḻiďè"/>
            <p:cNvSpPr/>
            <p:nvPr/>
          </p:nvSpPr>
          <p:spPr bwMode="auto">
            <a:xfrm>
              <a:off x="6043613" y="4616450"/>
              <a:ext cx="161925" cy="76200"/>
            </a:xfrm>
            <a:custGeom>
              <a:avLst/>
              <a:gdLst>
                <a:gd name="T0" fmla="*/ 27 w 54"/>
                <a:gd name="T1" fmla="*/ 0 h 25"/>
                <a:gd name="T2" fmla="*/ 12 w 54"/>
                <a:gd name="T3" fmla="*/ 2 h 25"/>
                <a:gd name="T4" fmla="*/ 2 w 54"/>
                <a:gd name="T5" fmla="*/ 14 h 25"/>
                <a:gd name="T6" fmla="*/ 1 w 54"/>
                <a:gd name="T7" fmla="*/ 17 h 25"/>
                <a:gd name="T8" fmla="*/ 0 w 54"/>
                <a:gd name="T9" fmla="*/ 21 h 25"/>
                <a:gd name="T10" fmla="*/ 0 w 54"/>
                <a:gd name="T11" fmla="*/ 25 h 25"/>
                <a:gd name="T12" fmla="*/ 27 w 54"/>
                <a:gd name="T13" fmla="*/ 19 h 25"/>
                <a:gd name="T14" fmla="*/ 54 w 54"/>
                <a:gd name="T15" fmla="*/ 25 h 25"/>
                <a:gd name="T16" fmla="*/ 54 w 54"/>
                <a:gd name="T17" fmla="*/ 19 h 25"/>
                <a:gd name="T18" fmla="*/ 54 w 54"/>
                <a:gd name="T19" fmla="*/ 16 h 25"/>
                <a:gd name="T20" fmla="*/ 53 w 54"/>
                <a:gd name="T21" fmla="*/ 14 h 25"/>
                <a:gd name="T22" fmla="*/ 47 w 54"/>
                <a:gd name="T23" fmla="*/ 3 h 25"/>
                <a:gd name="T24" fmla="*/ 27 w 54"/>
                <a:gd name="T25"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 h="25">
                  <a:moveTo>
                    <a:pt x="27" y="0"/>
                  </a:moveTo>
                  <a:cubicBezTo>
                    <a:pt x="22" y="0"/>
                    <a:pt x="17" y="0"/>
                    <a:pt x="12" y="2"/>
                  </a:cubicBezTo>
                  <a:cubicBezTo>
                    <a:pt x="8" y="5"/>
                    <a:pt x="4" y="9"/>
                    <a:pt x="2" y="14"/>
                  </a:cubicBezTo>
                  <a:cubicBezTo>
                    <a:pt x="2" y="15"/>
                    <a:pt x="1" y="16"/>
                    <a:pt x="1" y="17"/>
                  </a:cubicBezTo>
                  <a:cubicBezTo>
                    <a:pt x="1" y="18"/>
                    <a:pt x="1" y="20"/>
                    <a:pt x="0" y="21"/>
                  </a:cubicBezTo>
                  <a:cubicBezTo>
                    <a:pt x="0" y="22"/>
                    <a:pt x="0" y="24"/>
                    <a:pt x="0" y="25"/>
                  </a:cubicBezTo>
                  <a:cubicBezTo>
                    <a:pt x="9" y="21"/>
                    <a:pt x="18" y="19"/>
                    <a:pt x="27" y="19"/>
                  </a:cubicBezTo>
                  <a:cubicBezTo>
                    <a:pt x="36" y="19"/>
                    <a:pt x="46" y="21"/>
                    <a:pt x="54" y="25"/>
                  </a:cubicBezTo>
                  <a:cubicBezTo>
                    <a:pt x="54" y="19"/>
                    <a:pt x="54" y="19"/>
                    <a:pt x="54" y="19"/>
                  </a:cubicBezTo>
                  <a:cubicBezTo>
                    <a:pt x="54" y="18"/>
                    <a:pt x="54" y="17"/>
                    <a:pt x="54" y="16"/>
                  </a:cubicBezTo>
                  <a:cubicBezTo>
                    <a:pt x="54" y="15"/>
                    <a:pt x="53" y="14"/>
                    <a:pt x="53" y="14"/>
                  </a:cubicBezTo>
                  <a:cubicBezTo>
                    <a:pt x="52" y="9"/>
                    <a:pt x="50" y="6"/>
                    <a:pt x="47" y="3"/>
                  </a:cubicBezTo>
                  <a:cubicBezTo>
                    <a:pt x="41" y="1"/>
                    <a:pt x="34" y="0"/>
                    <a:pt x="27" y="0"/>
                  </a:cubicBezTo>
                </a:path>
              </a:pathLst>
            </a:custGeom>
            <a:solidFill>
              <a:srgbClr val="0F5A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6" name="îšḷíḍè"/>
            <p:cNvSpPr/>
            <p:nvPr/>
          </p:nvSpPr>
          <p:spPr bwMode="auto">
            <a:xfrm>
              <a:off x="5403851" y="3960813"/>
              <a:ext cx="377825" cy="496888"/>
            </a:xfrm>
            <a:custGeom>
              <a:avLst/>
              <a:gdLst>
                <a:gd name="T0" fmla="*/ 116 w 125"/>
                <a:gd name="T1" fmla="*/ 165 h 165"/>
                <a:gd name="T2" fmla="*/ 82 w 125"/>
                <a:gd name="T3" fmla="*/ 165 h 165"/>
                <a:gd name="T4" fmla="*/ 0 w 125"/>
                <a:gd name="T5" fmla="*/ 83 h 165"/>
                <a:gd name="T6" fmla="*/ 78 w 125"/>
                <a:gd name="T7" fmla="*/ 0 h 165"/>
                <a:gd name="T8" fmla="*/ 79 w 125"/>
                <a:gd name="T9" fmla="*/ 0 h 165"/>
                <a:gd name="T10" fmla="*/ 82 w 125"/>
                <a:gd name="T11" fmla="*/ 0 h 165"/>
                <a:gd name="T12" fmla="*/ 91 w 125"/>
                <a:gd name="T13" fmla="*/ 9 h 165"/>
                <a:gd name="T14" fmla="*/ 82 w 125"/>
                <a:gd name="T15" fmla="*/ 18 h 165"/>
                <a:gd name="T16" fmla="*/ 18 w 125"/>
                <a:gd name="T17" fmla="*/ 83 h 165"/>
                <a:gd name="T18" fmla="*/ 82 w 125"/>
                <a:gd name="T19" fmla="*/ 147 h 165"/>
                <a:gd name="T20" fmla="*/ 116 w 125"/>
                <a:gd name="T21" fmla="*/ 147 h 165"/>
                <a:gd name="T22" fmla="*/ 125 w 125"/>
                <a:gd name="T23" fmla="*/ 156 h 165"/>
                <a:gd name="T24" fmla="*/ 116 w 125"/>
                <a:gd name="T25" fmla="*/ 16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165">
                  <a:moveTo>
                    <a:pt x="116" y="165"/>
                  </a:moveTo>
                  <a:cubicBezTo>
                    <a:pt x="82" y="165"/>
                    <a:pt x="82" y="165"/>
                    <a:pt x="82" y="165"/>
                  </a:cubicBezTo>
                  <a:cubicBezTo>
                    <a:pt x="37" y="165"/>
                    <a:pt x="0" y="128"/>
                    <a:pt x="0" y="83"/>
                  </a:cubicBezTo>
                  <a:cubicBezTo>
                    <a:pt x="0" y="39"/>
                    <a:pt x="34" y="3"/>
                    <a:pt x="78" y="0"/>
                  </a:cubicBezTo>
                  <a:cubicBezTo>
                    <a:pt x="78" y="0"/>
                    <a:pt x="79" y="0"/>
                    <a:pt x="79" y="0"/>
                  </a:cubicBezTo>
                  <a:cubicBezTo>
                    <a:pt x="82" y="0"/>
                    <a:pt x="82" y="0"/>
                    <a:pt x="82" y="0"/>
                  </a:cubicBezTo>
                  <a:cubicBezTo>
                    <a:pt x="87" y="0"/>
                    <a:pt x="91" y="4"/>
                    <a:pt x="91" y="9"/>
                  </a:cubicBezTo>
                  <a:cubicBezTo>
                    <a:pt x="91" y="14"/>
                    <a:pt x="87" y="18"/>
                    <a:pt x="82" y="18"/>
                  </a:cubicBezTo>
                  <a:cubicBezTo>
                    <a:pt x="47" y="18"/>
                    <a:pt x="18" y="47"/>
                    <a:pt x="18" y="83"/>
                  </a:cubicBezTo>
                  <a:cubicBezTo>
                    <a:pt x="18" y="118"/>
                    <a:pt x="47" y="147"/>
                    <a:pt x="82" y="147"/>
                  </a:cubicBezTo>
                  <a:cubicBezTo>
                    <a:pt x="116" y="147"/>
                    <a:pt x="116" y="147"/>
                    <a:pt x="116" y="147"/>
                  </a:cubicBezTo>
                  <a:cubicBezTo>
                    <a:pt x="121" y="147"/>
                    <a:pt x="125" y="151"/>
                    <a:pt x="125" y="156"/>
                  </a:cubicBezTo>
                  <a:cubicBezTo>
                    <a:pt x="125" y="161"/>
                    <a:pt x="121" y="165"/>
                    <a:pt x="116" y="165"/>
                  </a:cubicBezTo>
                  <a:close/>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7" name="ïSļïḑê"/>
            <p:cNvSpPr/>
            <p:nvPr/>
          </p:nvSpPr>
          <p:spPr bwMode="auto">
            <a:xfrm>
              <a:off x="5543551" y="3933825"/>
              <a:ext cx="179388" cy="93663"/>
            </a:xfrm>
            <a:custGeom>
              <a:avLst/>
              <a:gdLst>
                <a:gd name="T0" fmla="*/ 45 w 60"/>
                <a:gd name="T1" fmla="*/ 31 h 31"/>
                <a:gd name="T2" fmla="*/ 15 w 60"/>
                <a:gd name="T3" fmla="*/ 31 h 31"/>
                <a:gd name="T4" fmla="*/ 0 w 60"/>
                <a:gd name="T5" fmla="*/ 15 h 31"/>
                <a:gd name="T6" fmla="*/ 15 w 60"/>
                <a:gd name="T7" fmla="*/ 0 h 31"/>
                <a:gd name="T8" fmla="*/ 45 w 60"/>
                <a:gd name="T9" fmla="*/ 0 h 31"/>
                <a:gd name="T10" fmla="*/ 60 w 60"/>
                <a:gd name="T11" fmla="*/ 15 h 31"/>
                <a:gd name="T12" fmla="*/ 45 w 60"/>
                <a:gd name="T13" fmla="*/ 31 h 31"/>
              </a:gdLst>
              <a:ahLst/>
              <a:cxnLst>
                <a:cxn ang="0">
                  <a:pos x="T0" y="T1"/>
                </a:cxn>
                <a:cxn ang="0">
                  <a:pos x="T2" y="T3"/>
                </a:cxn>
                <a:cxn ang="0">
                  <a:pos x="T4" y="T5"/>
                </a:cxn>
                <a:cxn ang="0">
                  <a:pos x="T6" y="T7"/>
                </a:cxn>
                <a:cxn ang="0">
                  <a:pos x="T8" y="T9"/>
                </a:cxn>
                <a:cxn ang="0">
                  <a:pos x="T10" y="T11"/>
                </a:cxn>
                <a:cxn ang="0">
                  <a:pos x="T12" y="T13"/>
                </a:cxn>
              </a:cxnLst>
              <a:rect l="0" t="0" r="r" b="b"/>
              <a:pathLst>
                <a:path w="60" h="31">
                  <a:moveTo>
                    <a:pt x="45" y="31"/>
                  </a:moveTo>
                  <a:cubicBezTo>
                    <a:pt x="15" y="31"/>
                    <a:pt x="15" y="31"/>
                    <a:pt x="15" y="31"/>
                  </a:cubicBezTo>
                  <a:cubicBezTo>
                    <a:pt x="7" y="31"/>
                    <a:pt x="0" y="24"/>
                    <a:pt x="0" y="15"/>
                  </a:cubicBezTo>
                  <a:cubicBezTo>
                    <a:pt x="0" y="7"/>
                    <a:pt x="7" y="0"/>
                    <a:pt x="15" y="0"/>
                  </a:cubicBezTo>
                  <a:cubicBezTo>
                    <a:pt x="45" y="0"/>
                    <a:pt x="45" y="0"/>
                    <a:pt x="45" y="0"/>
                  </a:cubicBezTo>
                  <a:cubicBezTo>
                    <a:pt x="53" y="0"/>
                    <a:pt x="60" y="7"/>
                    <a:pt x="60" y="15"/>
                  </a:cubicBezTo>
                  <a:cubicBezTo>
                    <a:pt x="60" y="24"/>
                    <a:pt x="53" y="31"/>
                    <a:pt x="45" y="31"/>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8" name="íṧlíḍé"/>
            <p:cNvSpPr/>
            <p:nvPr/>
          </p:nvSpPr>
          <p:spPr bwMode="auto">
            <a:xfrm>
              <a:off x="5543551" y="3933825"/>
              <a:ext cx="179388" cy="49213"/>
            </a:xfrm>
            <a:custGeom>
              <a:avLst/>
              <a:gdLst>
                <a:gd name="T0" fmla="*/ 15 w 60"/>
                <a:gd name="T1" fmla="*/ 2 h 16"/>
                <a:gd name="T2" fmla="*/ 45 w 60"/>
                <a:gd name="T3" fmla="*/ 2 h 16"/>
                <a:gd name="T4" fmla="*/ 60 w 60"/>
                <a:gd name="T5" fmla="*/ 16 h 16"/>
                <a:gd name="T6" fmla="*/ 60 w 60"/>
                <a:gd name="T7" fmla="*/ 15 h 16"/>
                <a:gd name="T8" fmla="*/ 45 w 60"/>
                <a:gd name="T9" fmla="*/ 0 h 16"/>
                <a:gd name="T10" fmla="*/ 15 w 60"/>
                <a:gd name="T11" fmla="*/ 0 h 16"/>
                <a:gd name="T12" fmla="*/ 0 w 60"/>
                <a:gd name="T13" fmla="*/ 15 h 16"/>
                <a:gd name="T14" fmla="*/ 0 w 60"/>
                <a:gd name="T15" fmla="*/ 16 h 16"/>
                <a:gd name="T16" fmla="*/ 15 w 60"/>
                <a:gd name="T17"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16">
                  <a:moveTo>
                    <a:pt x="15" y="2"/>
                  </a:moveTo>
                  <a:cubicBezTo>
                    <a:pt x="45" y="2"/>
                    <a:pt x="45" y="2"/>
                    <a:pt x="45" y="2"/>
                  </a:cubicBezTo>
                  <a:cubicBezTo>
                    <a:pt x="53" y="2"/>
                    <a:pt x="60" y="8"/>
                    <a:pt x="60" y="16"/>
                  </a:cubicBezTo>
                  <a:cubicBezTo>
                    <a:pt x="60" y="15"/>
                    <a:pt x="60" y="15"/>
                    <a:pt x="60" y="15"/>
                  </a:cubicBezTo>
                  <a:cubicBezTo>
                    <a:pt x="60" y="7"/>
                    <a:pt x="53" y="0"/>
                    <a:pt x="45" y="0"/>
                  </a:cubicBezTo>
                  <a:cubicBezTo>
                    <a:pt x="15" y="0"/>
                    <a:pt x="15" y="0"/>
                    <a:pt x="15" y="0"/>
                  </a:cubicBezTo>
                  <a:cubicBezTo>
                    <a:pt x="7" y="0"/>
                    <a:pt x="0" y="7"/>
                    <a:pt x="0" y="15"/>
                  </a:cubicBezTo>
                  <a:cubicBezTo>
                    <a:pt x="0" y="16"/>
                    <a:pt x="0" y="16"/>
                    <a:pt x="0" y="16"/>
                  </a:cubicBezTo>
                  <a:cubicBezTo>
                    <a:pt x="0" y="8"/>
                    <a:pt x="7" y="2"/>
                    <a:pt x="15" y="2"/>
                  </a:cubicBezTo>
                  <a:close/>
                </a:path>
              </a:pathLst>
            </a:custGeom>
            <a:solidFill>
              <a:srgbClr val="52FF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9" name="íṡľïḋé"/>
            <p:cNvSpPr/>
            <p:nvPr/>
          </p:nvSpPr>
          <p:spPr bwMode="auto">
            <a:xfrm>
              <a:off x="6456363" y="3960813"/>
              <a:ext cx="379413" cy="496888"/>
            </a:xfrm>
            <a:custGeom>
              <a:avLst/>
              <a:gdLst>
                <a:gd name="T0" fmla="*/ 9 w 126"/>
                <a:gd name="T1" fmla="*/ 165 h 165"/>
                <a:gd name="T2" fmla="*/ 43 w 126"/>
                <a:gd name="T3" fmla="*/ 165 h 165"/>
                <a:gd name="T4" fmla="*/ 126 w 126"/>
                <a:gd name="T5" fmla="*/ 83 h 165"/>
                <a:gd name="T6" fmla="*/ 48 w 126"/>
                <a:gd name="T7" fmla="*/ 0 h 165"/>
                <a:gd name="T8" fmla="*/ 46 w 126"/>
                <a:gd name="T9" fmla="*/ 0 h 165"/>
                <a:gd name="T10" fmla="*/ 43 w 126"/>
                <a:gd name="T11" fmla="*/ 0 h 165"/>
                <a:gd name="T12" fmla="*/ 34 w 126"/>
                <a:gd name="T13" fmla="*/ 9 h 165"/>
                <a:gd name="T14" fmla="*/ 43 w 126"/>
                <a:gd name="T15" fmla="*/ 18 h 165"/>
                <a:gd name="T16" fmla="*/ 107 w 126"/>
                <a:gd name="T17" fmla="*/ 83 h 165"/>
                <a:gd name="T18" fmla="*/ 43 w 126"/>
                <a:gd name="T19" fmla="*/ 147 h 165"/>
                <a:gd name="T20" fmla="*/ 9 w 126"/>
                <a:gd name="T21" fmla="*/ 147 h 165"/>
                <a:gd name="T22" fmla="*/ 0 w 126"/>
                <a:gd name="T23" fmla="*/ 156 h 165"/>
                <a:gd name="T24" fmla="*/ 9 w 126"/>
                <a:gd name="T25" fmla="*/ 16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6" h="165">
                  <a:moveTo>
                    <a:pt x="9" y="165"/>
                  </a:moveTo>
                  <a:cubicBezTo>
                    <a:pt x="43" y="165"/>
                    <a:pt x="43" y="165"/>
                    <a:pt x="43" y="165"/>
                  </a:cubicBezTo>
                  <a:cubicBezTo>
                    <a:pt x="89" y="165"/>
                    <a:pt x="126" y="128"/>
                    <a:pt x="126" y="83"/>
                  </a:cubicBezTo>
                  <a:cubicBezTo>
                    <a:pt x="126" y="39"/>
                    <a:pt x="91" y="3"/>
                    <a:pt x="48" y="0"/>
                  </a:cubicBezTo>
                  <a:cubicBezTo>
                    <a:pt x="47" y="0"/>
                    <a:pt x="47" y="0"/>
                    <a:pt x="46" y="0"/>
                  </a:cubicBezTo>
                  <a:cubicBezTo>
                    <a:pt x="43" y="0"/>
                    <a:pt x="43" y="0"/>
                    <a:pt x="43" y="0"/>
                  </a:cubicBezTo>
                  <a:cubicBezTo>
                    <a:pt x="38" y="0"/>
                    <a:pt x="34" y="4"/>
                    <a:pt x="34" y="9"/>
                  </a:cubicBezTo>
                  <a:cubicBezTo>
                    <a:pt x="34" y="14"/>
                    <a:pt x="38" y="18"/>
                    <a:pt x="43" y="18"/>
                  </a:cubicBezTo>
                  <a:cubicBezTo>
                    <a:pt x="78" y="18"/>
                    <a:pt x="107" y="47"/>
                    <a:pt x="107" y="83"/>
                  </a:cubicBezTo>
                  <a:cubicBezTo>
                    <a:pt x="107" y="118"/>
                    <a:pt x="78" y="147"/>
                    <a:pt x="43" y="147"/>
                  </a:cubicBezTo>
                  <a:cubicBezTo>
                    <a:pt x="9" y="147"/>
                    <a:pt x="9" y="147"/>
                    <a:pt x="9" y="147"/>
                  </a:cubicBezTo>
                  <a:cubicBezTo>
                    <a:pt x="4" y="147"/>
                    <a:pt x="0" y="151"/>
                    <a:pt x="0" y="156"/>
                  </a:cubicBezTo>
                  <a:cubicBezTo>
                    <a:pt x="0" y="161"/>
                    <a:pt x="4" y="165"/>
                    <a:pt x="9" y="165"/>
                  </a:cubicBezTo>
                  <a:close/>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0" name="îśľîḓe"/>
            <p:cNvSpPr/>
            <p:nvPr/>
          </p:nvSpPr>
          <p:spPr bwMode="auto">
            <a:xfrm>
              <a:off x="6513513" y="3933825"/>
              <a:ext cx="180975" cy="93663"/>
            </a:xfrm>
            <a:custGeom>
              <a:avLst/>
              <a:gdLst>
                <a:gd name="T0" fmla="*/ 15 w 60"/>
                <a:gd name="T1" fmla="*/ 31 h 31"/>
                <a:gd name="T2" fmla="*/ 45 w 60"/>
                <a:gd name="T3" fmla="*/ 31 h 31"/>
                <a:gd name="T4" fmla="*/ 60 w 60"/>
                <a:gd name="T5" fmla="*/ 15 h 31"/>
                <a:gd name="T6" fmla="*/ 45 w 60"/>
                <a:gd name="T7" fmla="*/ 0 h 31"/>
                <a:gd name="T8" fmla="*/ 15 w 60"/>
                <a:gd name="T9" fmla="*/ 0 h 31"/>
                <a:gd name="T10" fmla="*/ 0 w 60"/>
                <a:gd name="T11" fmla="*/ 15 h 31"/>
                <a:gd name="T12" fmla="*/ 15 w 60"/>
                <a:gd name="T13" fmla="*/ 31 h 31"/>
              </a:gdLst>
              <a:ahLst/>
              <a:cxnLst>
                <a:cxn ang="0">
                  <a:pos x="T0" y="T1"/>
                </a:cxn>
                <a:cxn ang="0">
                  <a:pos x="T2" y="T3"/>
                </a:cxn>
                <a:cxn ang="0">
                  <a:pos x="T4" y="T5"/>
                </a:cxn>
                <a:cxn ang="0">
                  <a:pos x="T6" y="T7"/>
                </a:cxn>
                <a:cxn ang="0">
                  <a:pos x="T8" y="T9"/>
                </a:cxn>
                <a:cxn ang="0">
                  <a:pos x="T10" y="T11"/>
                </a:cxn>
                <a:cxn ang="0">
                  <a:pos x="T12" y="T13"/>
                </a:cxn>
              </a:cxnLst>
              <a:rect l="0" t="0" r="r" b="b"/>
              <a:pathLst>
                <a:path w="60" h="31">
                  <a:moveTo>
                    <a:pt x="15" y="31"/>
                  </a:moveTo>
                  <a:cubicBezTo>
                    <a:pt x="45" y="31"/>
                    <a:pt x="45" y="31"/>
                    <a:pt x="45" y="31"/>
                  </a:cubicBezTo>
                  <a:cubicBezTo>
                    <a:pt x="54" y="31"/>
                    <a:pt x="60" y="24"/>
                    <a:pt x="60" y="15"/>
                  </a:cubicBezTo>
                  <a:cubicBezTo>
                    <a:pt x="60" y="7"/>
                    <a:pt x="54" y="0"/>
                    <a:pt x="45" y="0"/>
                  </a:cubicBezTo>
                  <a:cubicBezTo>
                    <a:pt x="15" y="0"/>
                    <a:pt x="15" y="0"/>
                    <a:pt x="15" y="0"/>
                  </a:cubicBezTo>
                  <a:cubicBezTo>
                    <a:pt x="7" y="0"/>
                    <a:pt x="0" y="7"/>
                    <a:pt x="0" y="15"/>
                  </a:cubicBezTo>
                  <a:cubicBezTo>
                    <a:pt x="0" y="24"/>
                    <a:pt x="7" y="31"/>
                    <a:pt x="15" y="31"/>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1" name="íṧľiḑê"/>
            <p:cNvSpPr/>
            <p:nvPr/>
          </p:nvSpPr>
          <p:spPr bwMode="auto">
            <a:xfrm>
              <a:off x="6513513" y="3933825"/>
              <a:ext cx="180975" cy="49213"/>
            </a:xfrm>
            <a:custGeom>
              <a:avLst/>
              <a:gdLst>
                <a:gd name="T0" fmla="*/ 45 w 60"/>
                <a:gd name="T1" fmla="*/ 2 h 16"/>
                <a:gd name="T2" fmla="*/ 15 w 60"/>
                <a:gd name="T3" fmla="*/ 2 h 16"/>
                <a:gd name="T4" fmla="*/ 0 w 60"/>
                <a:gd name="T5" fmla="*/ 16 h 16"/>
                <a:gd name="T6" fmla="*/ 0 w 60"/>
                <a:gd name="T7" fmla="*/ 15 h 16"/>
                <a:gd name="T8" fmla="*/ 15 w 60"/>
                <a:gd name="T9" fmla="*/ 0 h 16"/>
                <a:gd name="T10" fmla="*/ 45 w 60"/>
                <a:gd name="T11" fmla="*/ 0 h 16"/>
                <a:gd name="T12" fmla="*/ 60 w 60"/>
                <a:gd name="T13" fmla="*/ 15 h 16"/>
                <a:gd name="T14" fmla="*/ 60 w 60"/>
                <a:gd name="T15" fmla="*/ 16 h 16"/>
                <a:gd name="T16" fmla="*/ 45 w 60"/>
                <a:gd name="T17"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16">
                  <a:moveTo>
                    <a:pt x="45" y="2"/>
                  </a:moveTo>
                  <a:cubicBezTo>
                    <a:pt x="15" y="2"/>
                    <a:pt x="15" y="2"/>
                    <a:pt x="15" y="2"/>
                  </a:cubicBezTo>
                  <a:cubicBezTo>
                    <a:pt x="7" y="2"/>
                    <a:pt x="1" y="8"/>
                    <a:pt x="0" y="16"/>
                  </a:cubicBezTo>
                  <a:cubicBezTo>
                    <a:pt x="0" y="15"/>
                    <a:pt x="0" y="15"/>
                    <a:pt x="0" y="15"/>
                  </a:cubicBezTo>
                  <a:cubicBezTo>
                    <a:pt x="0" y="7"/>
                    <a:pt x="7" y="0"/>
                    <a:pt x="15" y="0"/>
                  </a:cubicBezTo>
                  <a:cubicBezTo>
                    <a:pt x="45" y="0"/>
                    <a:pt x="45" y="0"/>
                    <a:pt x="45" y="0"/>
                  </a:cubicBezTo>
                  <a:cubicBezTo>
                    <a:pt x="54" y="0"/>
                    <a:pt x="60" y="7"/>
                    <a:pt x="60" y="15"/>
                  </a:cubicBezTo>
                  <a:cubicBezTo>
                    <a:pt x="60" y="16"/>
                    <a:pt x="60" y="16"/>
                    <a:pt x="60" y="16"/>
                  </a:cubicBezTo>
                  <a:cubicBezTo>
                    <a:pt x="60" y="8"/>
                    <a:pt x="53" y="2"/>
                    <a:pt x="45" y="2"/>
                  </a:cubicBezTo>
                  <a:close/>
                </a:path>
              </a:pathLst>
            </a:custGeom>
            <a:solidFill>
              <a:srgbClr val="52FF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2" name="iṣļîde"/>
            <p:cNvSpPr/>
            <p:nvPr/>
          </p:nvSpPr>
          <p:spPr bwMode="auto">
            <a:xfrm>
              <a:off x="5611813" y="4379913"/>
              <a:ext cx="1025525" cy="222250"/>
            </a:xfrm>
            <a:custGeom>
              <a:avLst/>
              <a:gdLst>
                <a:gd name="T0" fmla="*/ 303 w 340"/>
                <a:gd name="T1" fmla="*/ 74 h 74"/>
                <a:gd name="T2" fmla="*/ 37 w 340"/>
                <a:gd name="T3" fmla="*/ 74 h 74"/>
                <a:gd name="T4" fmla="*/ 0 w 340"/>
                <a:gd name="T5" fmla="*/ 37 h 74"/>
                <a:gd name="T6" fmla="*/ 37 w 340"/>
                <a:gd name="T7" fmla="*/ 0 h 74"/>
                <a:gd name="T8" fmla="*/ 303 w 340"/>
                <a:gd name="T9" fmla="*/ 0 h 74"/>
                <a:gd name="T10" fmla="*/ 340 w 340"/>
                <a:gd name="T11" fmla="*/ 37 h 74"/>
                <a:gd name="T12" fmla="*/ 303 w 340"/>
                <a:gd name="T13" fmla="*/ 74 h 74"/>
              </a:gdLst>
              <a:ahLst/>
              <a:cxnLst>
                <a:cxn ang="0">
                  <a:pos x="T0" y="T1"/>
                </a:cxn>
                <a:cxn ang="0">
                  <a:pos x="T2" y="T3"/>
                </a:cxn>
                <a:cxn ang="0">
                  <a:pos x="T4" y="T5"/>
                </a:cxn>
                <a:cxn ang="0">
                  <a:pos x="T6" y="T7"/>
                </a:cxn>
                <a:cxn ang="0">
                  <a:pos x="T8" y="T9"/>
                </a:cxn>
                <a:cxn ang="0">
                  <a:pos x="T10" y="T11"/>
                </a:cxn>
                <a:cxn ang="0">
                  <a:pos x="T12" y="T13"/>
                </a:cxn>
              </a:cxnLst>
              <a:rect l="0" t="0" r="r" b="b"/>
              <a:pathLst>
                <a:path w="340" h="74">
                  <a:moveTo>
                    <a:pt x="303" y="74"/>
                  </a:moveTo>
                  <a:cubicBezTo>
                    <a:pt x="37" y="74"/>
                    <a:pt x="37" y="74"/>
                    <a:pt x="37" y="74"/>
                  </a:cubicBezTo>
                  <a:cubicBezTo>
                    <a:pt x="17" y="74"/>
                    <a:pt x="0" y="57"/>
                    <a:pt x="0" y="37"/>
                  </a:cubicBezTo>
                  <a:cubicBezTo>
                    <a:pt x="0" y="17"/>
                    <a:pt x="17" y="0"/>
                    <a:pt x="37" y="0"/>
                  </a:cubicBezTo>
                  <a:cubicBezTo>
                    <a:pt x="303" y="0"/>
                    <a:pt x="303" y="0"/>
                    <a:pt x="303" y="0"/>
                  </a:cubicBezTo>
                  <a:cubicBezTo>
                    <a:pt x="324" y="0"/>
                    <a:pt x="340" y="17"/>
                    <a:pt x="340" y="37"/>
                  </a:cubicBezTo>
                  <a:cubicBezTo>
                    <a:pt x="340" y="57"/>
                    <a:pt x="324" y="74"/>
                    <a:pt x="303" y="74"/>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3" name="î$1iďe"/>
            <p:cNvSpPr/>
            <p:nvPr/>
          </p:nvSpPr>
          <p:spPr bwMode="auto">
            <a:xfrm>
              <a:off x="5611813" y="4379913"/>
              <a:ext cx="1025525" cy="117475"/>
            </a:xfrm>
            <a:custGeom>
              <a:avLst/>
              <a:gdLst>
                <a:gd name="T0" fmla="*/ 37 w 340"/>
                <a:gd name="T1" fmla="*/ 4 h 39"/>
                <a:gd name="T2" fmla="*/ 303 w 340"/>
                <a:gd name="T3" fmla="*/ 4 h 39"/>
                <a:gd name="T4" fmla="*/ 340 w 340"/>
                <a:gd name="T5" fmla="*/ 39 h 39"/>
                <a:gd name="T6" fmla="*/ 340 w 340"/>
                <a:gd name="T7" fmla="*/ 37 h 39"/>
                <a:gd name="T8" fmla="*/ 303 w 340"/>
                <a:gd name="T9" fmla="*/ 0 h 39"/>
                <a:gd name="T10" fmla="*/ 37 w 340"/>
                <a:gd name="T11" fmla="*/ 0 h 39"/>
                <a:gd name="T12" fmla="*/ 0 w 340"/>
                <a:gd name="T13" fmla="*/ 37 h 39"/>
                <a:gd name="T14" fmla="*/ 0 w 340"/>
                <a:gd name="T15" fmla="*/ 39 h 39"/>
                <a:gd name="T16" fmla="*/ 37 w 340"/>
                <a:gd name="T17"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0" h="39">
                  <a:moveTo>
                    <a:pt x="37" y="4"/>
                  </a:moveTo>
                  <a:cubicBezTo>
                    <a:pt x="303" y="4"/>
                    <a:pt x="303" y="4"/>
                    <a:pt x="303" y="4"/>
                  </a:cubicBezTo>
                  <a:cubicBezTo>
                    <a:pt x="323" y="4"/>
                    <a:pt x="339" y="19"/>
                    <a:pt x="340" y="39"/>
                  </a:cubicBezTo>
                  <a:cubicBezTo>
                    <a:pt x="340" y="38"/>
                    <a:pt x="340" y="38"/>
                    <a:pt x="340" y="37"/>
                  </a:cubicBezTo>
                  <a:cubicBezTo>
                    <a:pt x="340" y="17"/>
                    <a:pt x="324" y="0"/>
                    <a:pt x="303" y="0"/>
                  </a:cubicBezTo>
                  <a:cubicBezTo>
                    <a:pt x="37" y="0"/>
                    <a:pt x="37" y="0"/>
                    <a:pt x="37" y="0"/>
                  </a:cubicBezTo>
                  <a:cubicBezTo>
                    <a:pt x="17" y="0"/>
                    <a:pt x="0" y="17"/>
                    <a:pt x="0" y="37"/>
                  </a:cubicBezTo>
                  <a:cubicBezTo>
                    <a:pt x="0" y="38"/>
                    <a:pt x="0" y="38"/>
                    <a:pt x="0" y="39"/>
                  </a:cubicBezTo>
                  <a:cubicBezTo>
                    <a:pt x="1" y="19"/>
                    <a:pt x="17" y="4"/>
                    <a:pt x="37" y="4"/>
                  </a:cubicBezTo>
                  <a:close/>
                </a:path>
              </a:pathLst>
            </a:custGeom>
            <a:solidFill>
              <a:srgbClr val="70FF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4" name="íşlíḑè"/>
            <p:cNvSpPr/>
            <p:nvPr/>
          </p:nvSpPr>
          <p:spPr bwMode="auto">
            <a:xfrm>
              <a:off x="5708651" y="3408363"/>
              <a:ext cx="831850" cy="871538"/>
            </a:xfrm>
            <a:custGeom>
              <a:avLst/>
              <a:gdLst>
                <a:gd name="T0" fmla="*/ 183 w 276"/>
                <a:gd name="T1" fmla="*/ 290 h 290"/>
                <a:gd name="T2" fmla="*/ 87 w 276"/>
                <a:gd name="T3" fmla="*/ 290 h 290"/>
                <a:gd name="T4" fmla="*/ 17 w 276"/>
                <a:gd name="T5" fmla="*/ 220 h 290"/>
                <a:gd name="T6" fmla="*/ 0 w 276"/>
                <a:gd name="T7" fmla="*/ 69 h 290"/>
                <a:gd name="T8" fmla="*/ 70 w 276"/>
                <a:gd name="T9" fmla="*/ 0 h 290"/>
                <a:gd name="T10" fmla="*/ 206 w 276"/>
                <a:gd name="T11" fmla="*/ 0 h 290"/>
                <a:gd name="T12" fmla="*/ 276 w 276"/>
                <a:gd name="T13" fmla="*/ 69 h 290"/>
                <a:gd name="T14" fmla="*/ 253 w 276"/>
                <a:gd name="T15" fmla="*/ 220 h 290"/>
                <a:gd name="T16" fmla="*/ 183 w 276"/>
                <a:gd name="T17" fmla="*/ 29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6" h="290">
                  <a:moveTo>
                    <a:pt x="183" y="290"/>
                  </a:moveTo>
                  <a:cubicBezTo>
                    <a:pt x="87" y="290"/>
                    <a:pt x="87" y="290"/>
                    <a:pt x="87" y="290"/>
                  </a:cubicBezTo>
                  <a:cubicBezTo>
                    <a:pt x="49" y="290"/>
                    <a:pt x="17" y="259"/>
                    <a:pt x="17" y="220"/>
                  </a:cubicBezTo>
                  <a:cubicBezTo>
                    <a:pt x="0" y="69"/>
                    <a:pt x="0" y="69"/>
                    <a:pt x="0" y="69"/>
                  </a:cubicBezTo>
                  <a:cubicBezTo>
                    <a:pt x="0" y="31"/>
                    <a:pt x="31" y="0"/>
                    <a:pt x="70" y="0"/>
                  </a:cubicBezTo>
                  <a:cubicBezTo>
                    <a:pt x="206" y="0"/>
                    <a:pt x="206" y="0"/>
                    <a:pt x="206" y="0"/>
                  </a:cubicBezTo>
                  <a:cubicBezTo>
                    <a:pt x="245" y="0"/>
                    <a:pt x="276" y="31"/>
                    <a:pt x="276" y="69"/>
                  </a:cubicBezTo>
                  <a:cubicBezTo>
                    <a:pt x="253" y="220"/>
                    <a:pt x="253" y="220"/>
                    <a:pt x="253" y="220"/>
                  </a:cubicBezTo>
                  <a:cubicBezTo>
                    <a:pt x="253" y="259"/>
                    <a:pt x="222" y="290"/>
                    <a:pt x="183" y="290"/>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5" name="išļiḓe"/>
            <p:cNvSpPr/>
            <p:nvPr/>
          </p:nvSpPr>
          <p:spPr bwMode="auto">
            <a:xfrm>
              <a:off x="5708651" y="3408363"/>
              <a:ext cx="831850" cy="209550"/>
            </a:xfrm>
            <a:custGeom>
              <a:avLst/>
              <a:gdLst>
                <a:gd name="T0" fmla="*/ 70 w 276"/>
                <a:gd name="T1" fmla="*/ 3 h 70"/>
                <a:gd name="T2" fmla="*/ 206 w 276"/>
                <a:gd name="T3" fmla="*/ 3 h 70"/>
                <a:gd name="T4" fmla="*/ 276 w 276"/>
                <a:gd name="T5" fmla="*/ 70 h 70"/>
                <a:gd name="T6" fmla="*/ 276 w 276"/>
                <a:gd name="T7" fmla="*/ 69 h 70"/>
                <a:gd name="T8" fmla="*/ 206 w 276"/>
                <a:gd name="T9" fmla="*/ 0 h 70"/>
                <a:gd name="T10" fmla="*/ 70 w 276"/>
                <a:gd name="T11" fmla="*/ 0 h 70"/>
                <a:gd name="T12" fmla="*/ 0 w 276"/>
                <a:gd name="T13" fmla="*/ 69 h 70"/>
                <a:gd name="T14" fmla="*/ 0 w 276"/>
                <a:gd name="T15" fmla="*/ 70 h 70"/>
                <a:gd name="T16" fmla="*/ 70 w 276"/>
                <a:gd name="T17" fmla="*/ 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6" h="70">
                  <a:moveTo>
                    <a:pt x="70" y="3"/>
                  </a:moveTo>
                  <a:cubicBezTo>
                    <a:pt x="206" y="3"/>
                    <a:pt x="206" y="3"/>
                    <a:pt x="206" y="3"/>
                  </a:cubicBezTo>
                  <a:cubicBezTo>
                    <a:pt x="244" y="3"/>
                    <a:pt x="275" y="33"/>
                    <a:pt x="276" y="70"/>
                  </a:cubicBezTo>
                  <a:cubicBezTo>
                    <a:pt x="276" y="69"/>
                    <a:pt x="276" y="69"/>
                    <a:pt x="276" y="69"/>
                  </a:cubicBezTo>
                  <a:cubicBezTo>
                    <a:pt x="276" y="31"/>
                    <a:pt x="245" y="0"/>
                    <a:pt x="206" y="0"/>
                  </a:cubicBezTo>
                  <a:cubicBezTo>
                    <a:pt x="70" y="0"/>
                    <a:pt x="70" y="0"/>
                    <a:pt x="70" y="0"/>
                  </a:cubicBezTo>
                  <a:cubicBezTo>
                    <a:pt x="31" y="0"/>
                    <a:pt x="0" y="31"/>
                    <a:pt x="0" y="69"/>
                  </a:cubicBezTo>
                  <a:cubicBezTo>
                    <a:pt x="0" y="70"/>
                    <a:pt x="0" y="70"/>
                    <a:pt x="0" y="70"/>
                  </a:cubicBezTo>
                  <a:cubicBezTo>
                    <a:pt x="1" y="33"/>
                    <a:pt x="32" y="3"/>
                    <a:pt x="70" y="3"/>
                  </a:cubicBezTo>
                  <a:close/>
                </a:path>
              </a:pathLst>
            </a:custGeom>
            <a:solidFill>
              <a:srgbClr val="52FF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6" name="ï$líḍé"/>
            <p:cNvSpPr/>
            <p:nvPr/>
          </p:nvSpPr>
          <p:spPr bwMode="auto">
            <a:xfrm>
              <a:off x="5721351" y="4545013"/>
              <a:ext cx="806450" cy="98425"/>
            </a:xfrm>
            <a:custGeom>
              <a:avLst/>
              <a:gdLst>
                <a:gd name="T0" fmla="*/ 252 w 268"/>
                <a:gd name="T1" fmla="*/ 33 h 33"/>
                <a:gd name="T2" fmla="*/ 17 w 268"/>
                <a:gd name="T3" fmla="*/ 33 h 33"/>
                <a:gd name="T4" fmla="*/ 0 w 268"/>
                <a:gd name="T5" fmla="*/ 17 h 33"/>
                <a:gd name="T6" fmla="*/ 17 w 268"/>
                <a:gd name="T7" fmla="*/ 0 h 33"/>
                <a:gd name="T8" fmla="*/ 252 w 268"/>
                <a:gd name="T9" fmla="*/ 0 h 33"/>
                <a:gd name="T10" fmla="*/ 268 w 268"/>
                <a:gd name="T11" fmla="*/ 17 h 33"/>
                <a:gd name="T12" fmla="*/ 252 w 268"/>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268" h="33">
                  <a:moveTo>
                    <a:pt x="252" y="33"/>
                  </a:moveTo>
                  <a:cubicBezTo>
                    <a:pt x="17" y="33"/>
                    <a:pt x="17" y="33"/>
                    <a:pt x="17" y="33"/>
                  </a:cubicBezTo>
                  <a:cubicBezTo>
                    <a:pt x="8" y="33"/>
                    <a:pt x="0" y="26"/>
                    <a:pt x="0" y="17"/>
                  </a:cubicBezTo>
                  <a:cubicBezTo>
                    <a:pt x="0" y="8"/>
                    <a:pt x="8" y="0"/>
                    <a:pt x="17" y="0"/>
                  </a:cubicBezTo>
                  <a:cubicBezTo>
                    <a:pt x="252" y="0"/>
                    <a:pt x="252" y="0"/>
                    <a:pt x="252" y="0"/>
                  </a:cubicBezTo>
                  <a:cubicBezTo>
                    <a:pt x="261" y="0"/>
                    <a:pt x="268" y="8"/>
                    <a:pt x="268" y="17"/>
                  </a:cubicBezTo>
                  <a:cubicBezTo>
                    <a:pt x="268" y="26"/>
                    <a:pt x="261" y="33"/>
                    <a:pt x="252" y="33"/>
                  </a:cubicBezTo>
                  <a:close/>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7" name="íṩliḋé"/>
            <p:cNvSpPr/>
            <p:nvPr/>
          </p:nvSpPr>
          <p:spPr bwMode="auto">
            <a:xfrm>
              <a:off x="5910263" y="4641850"/>
              <a:ext cx="428625" cy="98425"/>
            </a:xfrm>
            <a:custGeom>
              <a:avLst/>
              <a:gdLst>
                <a:gd name="T0" fmla="*/ 131 w 142"/>
                <a:gd name="T1" fmla="*/ 33 h 33"/>
                <a:gd name="T2" fmla="*/ 11 w 142"/>
                <a:gd name="T3" fmla="*/ 33 h 33"/>
                <a:gd name="T4" fmla="*/ 0 w 142"/>
                <a:gd name="T5" fmla="*/ 22 h 33"/>
                <a:gd name="T6" fmla="*/ 0 w 142"/>
                <a:gd name="T7" fmla="*/ 12 h 33"/>
                <a:gd name="T8" fmla="*/ 11 w 142"/>
                <a:gd name="T9" fmla="*/ 0 h 33"/>
                <a:gd name="T10" fmla="*/ 131 w 142"/>
                <a:gd name="T11" fmla="*/ 0 h 33"/>
                <a:gd name="T12" fmla="*/ 142 w 142"/>
                <a:gd name="T13" fmla="*/ 12 h 33"/>
                <a:gd name="T14" fmla="*/ 142 w 142"/>
                <a:gd name="T15" fmla="*/ 22 h 33"/>
                <a:gd name="T16" fmla="*/ 131 w 142"/>
                <a:gd name="T1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33">
                  <a:moveTo>
                    <a:pt x="131" y="33"/>
                  </a:moveTo>
                  <a:cubicBezTo>
                    <a:pt x="11" y="33"/>
                    <a:pt x="11" y="33"/>
                    <a:pt x="11" y="33"/>
                  </a:cubicBezTo>
                  <a:cubicBezTo>
                    <a:pt x="5" y="33"/>
                    <a:pt x="0" y="28"/>
                    <a:pt x="0" y="22"/>
                  </a:cubicBezTo>
                  <a:cubicBezTo>
                    <a:pt x="0" y="12"/>
                    <a:pt x="0" y="12"/>
                    <a:pt x="0" y="12"/>
                  </a:cubicBezTo>
                  <a:cubicBezTo>
                    <a:pt x="0" y="5"/>
                    <a:pt x="5" y="0"/>
                    <a:pt x="11" y="0"/>
                  </a:cubicBezTo>
                  <a:cubicBezTo>
                    <a:pt x="131" y="0"/>
                    <a:pt x="131" y="0"/>
                    <a:pt x="131" y="0"/>
                  </a:cubicBezTo>
                  <a:cubicBezTo>
                    <a:pt x="137" y="0"/>
                    <a:pt x="142" y="5"/>
                    <a:pt x="142" y="12"/>
                  </a:cubicBezTo>
                  <a:cubicBezTo>
                    <a:pt x="142" y="22"/>
                    <a:pt x="142" y="22"/>
                    <a:pt x="142" y="22"/>
                  </a:cubicBezTo>
                  <a:cubicBezTo>
                    <a:pt x="142" y="28"/>
                    <a:pt x="137" y="33"/>
                    <a:pt x="131" y="33"/>
                  </a:cubicBezTo>
                  <a:close/>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8" name="iṧliḋê"/>
            <p:cNvSpPr/>
            <p:nvPr/>
          </p:nvSpPr>
          <p:spPr bwMode="auto">
            <a:xfrm>
              <a:off x="5721351" y="4545013"/>
              <a:ext cx="806450" cy="50800"/>
            </a:xfrm>
            <a:custGeom>
              <a:avLst/>
              <a:gdLst>
                <a:gd name="T0" fmla="*/ 17 w 268"/>
                <a:gd name="T1" fmla="*/ 1 h 17"/>
                <a:gd name="T2" fmla="*/ 252 w 268"/>
                <a:gd name="T3" fmla="*/ 1 h 17"/>
                <a:gd name="T4" fmla="*/ 268 w 268"/>
                <a:gd name="T5" fmla="*/ 17 h 17"/>
                <a:gd name="T6" fmla="*/ 268 w 268"/>
                <a:gd name="T7" fmla="*/ 17 h 17"/>
                <a:gd name="T8" fmla="*/ 252 w 268"/>
                <a:gd name="T9" fmla="*/ 0 h 17"/>
                <a:gd name="T10" fmla="*/ 17 w 268"/>
                <a:gd name="T11" fmla="*/ 0 h 17"/>
                <a:gd name="T12" fmla="*/ 0 w 268"/>
                <a:gd name="T13" fmla="*/ 17 h 17"/>
                <a:gd name="T14" fmla="*/ 0 w 268"/>
                <a:gd name="T15" fmla="*/ 17 h 17"/>
                <a:gd name="T16" fmla="*/ 17 w 268"/>
                <a:gd name="T17" fmla="*/ 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8" h="17">
                  <a:moveTo>
                    <a:pt x="17" y="1"/>
                  </a:moveTo>
                  <a:cubicBezTo>
                    <a:pt x="252" y="1"/>
                    <a:pt x="252" y="1"/>
                    <a:pt x="252" y="1"/>
                  </a:cubicBezTo>
                  <a:cubicBezTo>
                    <a:pt x="260" y="1"/>
                    <a:pt x="268" y="8"/>
                    <a:pt x="268" y="17"/>
                  </a:cubicBezTo>
                  <a:cubicBezTo>
                    <a:pt x="268" y="17"/>
                    <a:pt x="268" y="17"/>
                    <a:pt x="268" y="17"/>
                  </a:cubicBezTo>
                  <a:cubicBezTo>
                    <a:pt x="268" y="8"/>
                    <a:pt x="261" y="0"/>
                    <a:pt x="252" y="0"/>
                  </a:cubicBezTo>
                  <a:cubicBezTo>
                    <a:pt x="17" y="0"/>
                    <a:pt x="17" y="0"/>
                    <a:pt x="17" y="0"/>
                  </a:cubicBezTo>
                  <a:cubicBezTo>
                    <a:pt x="8" y="0"/>
                    <a:pt x="0" y="8"/>
                    <a:pt x="0" y="17"/>
                  </a:cubicBezTo>
                  <a:cubicBezTo>
                    <a:pt x="0" y="17"/>
                    <a:pt x="0" y="17"/>
                    <a:pt x="0" y="17"/>
                  </a:cubicBezTo>
                  <a:cubicBezTo>
                    <a:pt x="1" y="8"/>
                    <a:pt x="8" y="1"/>
                    <a:pt x="17" y="1"/>
                  </a:cubicBezTo>
                  <a:close/>
                </a:path>
              </a:pathLst>
            </a:custGeom>
            <a:solidFill>
              <a:srgbClr val="2293F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9" name="îṡľíḍê"/>
            <p:cNvSpPr/>
            <p:nvPr/>
          </p:nvSpPr>
          <p:spPr bwMode="auto">
            <a:xfrm>
              <a:off x="5789613" y="4619625"/>
              <a:ext cx="669925" cy="50800"/>
            </a:xfrm>
            <a:custGeom>
              <a:avLst/>
              <a:gdLst>
                <a:gd name="T0" fmla="*/ 214 w 222"/>
                <a:gd name="T1" fmla="*/ 17 h 17"/>
                <a:gd name="T2" fmla="*/ 8 w 222"/>
                <a:gd name="T3" fmla="*/ 17 h 17"/>
                <a:gd name="T4" fmla="*/ 0 w 222"/>
                <a:gd name="T5" fmla="*/ 9 h 17"/>
                <a:gd name="T6" fmla="*/ 8 w 222"/>
                <a:gd name="T7" fmla="*/ 0 h 17"/>
                <a:gd name="T8" fmla="*/ 214 w 222"/>
                <a:gd name="T9" fmla="*/ 0 h 17"/>
                <a:gd name="T10" fmla="*/ 222 w 222"/>
                <a:gd name="T11" fmla="*/ 9 h 17"/>
                <a:gd name="T12" fmla="*/ 214 w 222"/>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22" h="17">
                  <a:moveTo>
                    <a:pt x="214" y="17"/>
                  </a:moveTo>
                  <a:cubicBezTo>
                    <a:pt x="8" y="17"/>
                    <a:pt x="8" y="17"/>
                    <a:pt x="8" y="17"/>
                  </a:cubicBezTo>
                  <a:cubicBezTo>
                    <a:pt x="3" y="17"/>
                    <a:pt x="0" y="13"/>
                    <a:pt x="0" y="9"/>
                  </a:cubicBezTo>
                  <a:cubicBezTo>
                    <a:pt x="0" y="4"/>
                    <a:pt x="3" y="0"/>
                    <a:pt x="8" y="0"/>
                  </a:cubicBezTo>
                  <a:cubicBezTo>
                    <a:pt x="214" y="0"/>
                    <a:pt x="214" y="0"/>
                    <a:pt x="214" y="0"/>
                  </a:cubicBezTo>
                  <a:cubicBezTo>
                    <a:pt x="219" y="0"/>
                    <a:pt x="222" y="4"/>
                    <a:pt x="222" y="9"/>
                  </a:cubicBezTo>
                  <a:cubicBezTo>
                    <a:pt x="222" y="13"/>
                    <a:pt x="219" y="17"/>
                    <a:pt x="214" y="17"/>
                  </a:cubicBezTo>
                  <a:close/>
                </a:path>
              </a:pathLst>
            </a:custGeom>
            <a:solidFill>
              <a:srgbClr val="2273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0" name="ïslïďé"/>
            <p:cNvSpPr/>
            <p:nvPr/>
          </p:nvSpPr>
          <p:spPr bwMode="auto">
            <a:xfrm>
              <a:off x="5789613" y="4619625"/>
              <a:ext cx="669925" cy="26988"/>
            </a:xfrm>
            <a:custGeom>
              <a:avLst/>
              <a:gdLst>
                <a:gd name="T0" fmla="*/ 8 w 222"/>
                <a:gd name="T1" fmla="*/ 1 h 9"/>
                <a:gd name="T2" fmla="*/ 214 w 222"/>
                <a:gd name="T3" fmla="*/ 1 h 9"/>
                <a:gd name="T4" fmla="*/ 222 w 222"/>
                <a:gd name="T5" fmla="*/ 9 h 9"/>
                <a:gd name="T6" fmla="*/ 222 w 222"/>
                <a:gd name="T7" fmla="*/ 9 h 9"/>
                <a:gd name="T8" fmla="*/ 214 w 222"/>
                <a:gd name="T9" fmla="*/ 0 h 9"/>
                <a:gd name="T10" fmla="*/ 8 w 222"/>
                <a:gd name="T11" fmla="*/ 0 h 9"/>
                <a:gd name="T12" fmla="*/ 0 w 222"/>
                <a:gd name="T13" fmla="*/ 9 h 9"/>
                <a:gd name="T14" fmla="*/ 0 w 222"/>
                <a:gd name="T15" fmla="*/ 9 h 9"/>
                <a:gd name="T16" fmla="*/ 8 w 222"/>
                <a:gd name="T17"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2" h="9">
                  <a:moveTo>
                    <a:pt x="8" y="1"/>
                  </a:moveTo>
                  <a:cubicBezTo>
                    <a:pt x="214" y="1"/>
                    <a:pt x="214" y="1"/>
                    <a:pt x="214" y="1"/>
                  </a:cubicBezTo>
                  <a:cubicBezTo>
                    <a:pt x="219" y="1"/>
                    <a:pt x="222" y="4"/>
                    <a:pt x="222" y="9"/>
                  </a:cubicBezTo>
                  <a:cubicBezTo>
                    <a:pt x="222" y="9"/>
                    <a:pt x="222" y="9"/>
                    <a:pt x="222" y="9"/>
                  </a:cubicBezTo>
                  <a:cubicBezTo>
                    <a:pt x="222" y="4"/>
                    <a:pt x="219" y="0"/>
                    <a:pt x="214" y="0"/>
                  </a:cubicBezTo>
                  <a:cubicBezTo>
                    <a:pt x="8" y="0"/>
                    <a:pt x="8" y="0"/>
                    <a:pt x="8" y="0"/>
                  </a:cubicBezTo>
                  <a:cubicBezTo>
                    <a:pt x="3" y="0"/>
                    <a:pt x="0" y="4"/>
                    <a:pt x="0" y="9"/>
                  </a:cubicBezTo>
                  <a:cubicBezTo>
                    <a:pt x="0" y="9"/>
                    <a:pt x="0" y="9"/>
                    <a:pt x="0" y="9"/>
                  </a:cubicBezTo>
                  <a:cubicBezTo>
                    <a:pt x="0" y="4"/>
                    <a:pt x="4" y="1"/>
                    <a:pt x="8" y="1"/>
                  </a:cubicBezTo>
                  <a:close/>
                </a:path>
              </a:pathLst>
            </a:custGeom>
            <a:solidFill>
              <a:srgbClr val="22B2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1" name="íşḷîḓê"/>
            <p:cNvSpPr/>
            <p:nvPr/>
          </p:nvSpPr>
          <p:spPr bwMode="auto">
            <a:xfrm>
              <a:off x="6078538" y="5157788"/>
              <a:ext cx="90488" cy="123825"/>
            </a:xfrm>
            <a:custGeom>
              <a:avLst/>
              <a:gdLst>
                <a:gd name="T0" fmla="*/ 0 w 30"/>
                <a:gd name="T1" fmla="*/ 41 h 41"/>
                <a:gd name="T2" fmla="*/ 0 w 30"/>
                <a:gd name="T3" fmla="*/ 15 h 41"/>
                <a:gd name="T4" fmla="*/ 15 w 30"/>
                <a:gd name="T5" fmla="*/ 0 h 41"/>
                <a:gd name="T6" fmla="*/ 30 w 30"/>
                <a:gd name="T7" fmla="*/ 15 h 41"/>
                <a:gd name="T8" fmla="*/ 30 w 30"/>
                <a:gd name="T9" fmla="*/ 41 h 41"/>
              </a:gdLst>
              <a:ahLst/>
              <a:cxnLst>
                <a:cxn ang="0">
                  <a:pos x="T0" y="T1"/>
                </a:cxn>
                <a:cxn ang="0">
                  <a:pos x="T2" y="T3"/>
                </a:cxn>
                <a:cxn ang="0">
                  <a:pos x="T4" y="T5"/>
                </a:cxn>
                <a:cxn ang="0">
                  <a:pos x="T6" y="T7"/>
                </a:cxn>
                <a:cxn ang="0">
                  <a:pos x="T8" y="T9"/>
                </a:cxn>
              </a:cxnLst>
              <a:rect l="0" t="0" r="r" b="b"/>
              <a:pathLst>
                <a:path w="30" h="41">
                  <a:moveTo>
                    <a:pt x="0" y="41"/>
                  </a:moveTo>
                  <a:cubicBezTo>
                    <a:pt x="0" y="15"/>
                    <a:pt x="0" y="15"/>
                    <a:pt x="0" y="15"/>
                  </a:cubicBezTo>
                  <a:cubicBezTo>
                    <a:pt x="0" y="7"/>
                    <a:pt x="7" y="0"/>
                    <a:pt x="15" y="0"/>
                  </a:cubicBezTo>
                  <a:cubicBezTo>
                    <a:pt x="23" y="0"/>
                    <a:pt x="30" y="7"/>
                    <a:pt x="30" y="15"/>
                  </a:cubicBezTo>
                  <a:cubicBezTo>
                    <a:pt x="30" y="41"/>
                    <a:pt x="30" y="41"/>
                    <a:pt x="30" y="41"/>
                  </a:cubicBezTo>
                </a:path>
              </a:pathLst>
            </a:custGeom>
            <a:solidFill>
              <a:srgbClr val="22A4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2" name="ïsḻíḓè"/>
            <p:cNvSpPr/>
            <p:nvPr/>
          </p:nvSpPr>
          <p:spPr bwMode="auto">
            <a:xfrm>
              <a:off x="5768976" y="5230813"/>
              <a:ext cx="728663" cy="134938"/>
            </a:xfrm>
            <a:custGeom>
              <a:avLst/>
              <a:gdLst>
                <a:gd name="T0" fmla="*/ 7 w 242"/>
                <a:gd name="T1" fmla="*/ 44 h 45"/>
                <a:gd name="T2" fmla="*/ 1 w 242"/>
                <a:gd name="T3" fmla="*/ 41 h 45"/>
                <a:gd name="T4" fmla="*/ 4 w 242"/>
                <a:gd name="T5" fmla="*/ 33 h 45"/>
                <a:gd name="T6" fmla="*/ 238 w 242"/>
                <a:gd name="T7" fmla="*/ 33 h 45"/>
                <a:gd name="T8" fmla="*/ 241 w 242"/>
                <a:gd name="T9" fmla="*/ 41 h 45"/>
                <a:gd name="T10" fmla="*/ 233 w 242"/>
                <a:gd name="T11" fmla="*/ 44 h 45"/>
                <a:gd name="T12" fmla="*/ 9 w 242"/>
                <a:gd name="T13" fmla="*/ 44 h 45"/>
                <a:gd name="T14" fmla="*/ 7 w 242"/>
                <a:gd name="T15" fmla="*/ 44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2" h="45">
                  <a:moveTo>
                    <a:pt x="7" y="44"/>
                  </a:moveTo>
                  <a:cubicBezTo>
                    <a:pt x="5" y="44"/>
                    <a:pt x="2" y="43"/>
                    <a:pt x="1" y="41"/>
                  </a:cubicBezTo>
                  <a:cubicBezTo>
                    <a:pt x="0" y="38"/>
                    <a:pt x="1" y="35"/>
                    <a:pt x="4" y="33"/>
                  </a:cubicBezTo>
                  <a:cubicBezTo>
                    <a:pt x="79" y="0"/>
                    <a:pt x="164" y="0"/>
                    <a:pt x="238" y="33"/>
                  </a:cubicBezTo>
                  <a:cubicBezTo>
                    <a:pt x="241" y="35"/>
                    <a:pt x="242" y="38"/>
                    <a:pt x="241" y="41"/>
                  </a:cubicBezTo>
                  <a:cubicBezTo>
                    <a:pt x="239" y="44"/>
                    <a:pt x="236" y="45"/>
                    <a:pt x="233" y="44"/>
                  </a:cubicBezTo>
                  <a:cubicBezTo>
                    <a:pt x="162" y="12"/>
                    <a:pt x="80" y="12"/>
                    <a:pt x="9" y="44"/>
                  </a:cubicBezTo>
                  <a:cubicBezTo>
                    <a:pt x="8" y="44"/>
                    <a:pt x="8" y="44"/>
                    <a:pt x="7" y="44"/>
                  </a:cubicBezTo>
                  <a:close/>
                </a:path>
              </a:pathLst>
            </a:custGeom>
            <a:solidFill>
              <a:srgbClr val="2273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3" name="îsḷîḋé"/>
            <p:cNvSpPr/>
            <p:nvPr/>
          </p:nvSpPr>
          <p:spPr bwMode="auto">
            <a:xfrm>
              <a:off x="6051551" y="5241925"/>
              <a:ext cx="153988" cy="57150"/>
            </a:xfrm>
            <a:custGeom>
              <a:avLst/>
              <a:gdLst>
                <a:gd name="T0" fmla="*/ 44 w 51"/>
                <a:gd name="T1" fmla="*/ 19 h 19"/>
                <a:gd name="T2" fmla="*/ 6 w 51"/>
                <a:gd name="T3" fmla="*/ 19 h 19"/>
                <a:gd name="T4" fmla="*/ 0 w 51"/>
                <a:gd name="T5" fmla="*/ 13 h 19"/>
                <a:gd name="T6" fmla="*/ 0 w 51"/>
                <a:gd name="T7" fmla="*/ 7 h 19"/>
                <a:gd name="T8" fmla="*/ 6 w 51"/>
                <a:gd name="T9" fmla="*/ 0 h 19"/>
                <a:gd name="T10" fmla="*/ 44 w 51"/>
                <a:gd name="T11" fmla="*/ 0 h 19"/>
                <a:gd name="T12" fmla="*/ 51 w 51"/>
                <a:gd name="T13" fmla="*/ 7 h 19"/>
                <a:gd name="T14" fmla="*/ 51 w 51"/>
                <a:gd name="T15" fmla="*/ 13 h 19"/>
                <a:gd name="T16" fmla="*/ 44 w 51"/>
                <a:gd name="T17" fmla="*/ 1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 h="19">
                  <a:moveTo>
                    <a:pt x="44" y="19"/>
                  </a:moveTo>
                  <a:cubicBezTo>
                    <a:pt x="6" y="19"/>
                    <a:pt x="6" y="19"/>
                    <a:pt x="6" y="19"/>
                  </a:cubicBezTo>
                  <a:cubicBezTo>
                    <a:pt x="3" y="19"/>
                    <a:pt x="0" y="16"/>
                    <a:pt x="0" y="13"/>
                  </a:cubicBezTo>
                  <a:cubicBezTo>
                    <a:pt x="0" y="7"/>
                    <a:pt x="0" y="7"/>
                    <a:pt x="0" y="7"/>
                  </a:cubicBezTo>
                  <a:cubicBezTo>
                    <a:pt x="0" y="3"/>
                    <a:pt x="3" y="0"/>
                    <a:pt x="6" y="0"/>
                  </a:cubicBezTo>
                  <a:cubicBezTo>
                    <a:pt x="44" y="0"/>
                    <a:pt x="44" y="0"/>
                    <a:pt x="44" y="0"/>
                  </a:cubicBezTo>
                  <a:cubicBezTo>
                    <a:pt x="48" y="0"/>
                    <a:pt x="51" y="3"/>
                    <a:pt x="51" y="7"/>
                  </a:cubicBezTo>
                  <a:cubicBezTo>
                    <a:pt x="51" y="13"/>
                    <a:pt x="51" y="13"/>
                    <a:pt x="51" y="13"/>
                  </a:cubicBezTo>
                  <a:cubicBezTo>
                    <a:pt x="51" y="16"/>
                    <a:pt x="48" y="19"/>
                    <a:pt x="44" y="19"/>
                  </a:cubicBezTo>
                  <a:close/>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4" name="išļîḋè"/>
            <p:cNvSpPr/>
            <p:nvPr/>
          </p:nvSpPr>
          <p:spPr bwMode="auto">
            <a:xfrm>
              <a:off x="6115051" y="5272088"/>
              <a:ext cx="23813" cy="153988"/>
            </a:xfrm>
            <a:custGeom>
              <a:avLst/>
              <a:gdLst>
                <a:gd name="T0" fmla="*/ 4 w 8"/>
                <a:gd name="T1" fmla="*/ 51 h 51"/>
                <a:gd name="T2" fmla="*/ 4 w 8"/>
                <a:gd name="T3" fmla="*/ 51 h 51"/>
                <a:gd name="T4" fmla="*/ 0 w 8"/>
                <a:gd name="T5" fmla="*/ 47 h 51"/>
                <a:gd name="T6" fmla="*/ 0 w 8"/>
                <a:gd name="T7" fmla="*/ 4 h 51"/>
                <a:gd name="T8" fmla="*/ 4 w 8"/>
                <a:gd name="T9" fmla="*/ 0 h 51"/>
                <a:gd name="T10" fmla="*/ 8 w 8"/>
                <a:gd name="T11" fmla="*/ 4 h 51"/>
                <a:gd name="T12" fmla="*/ 8 w 8"/>
                <a:gd name="T13" fmla="*/ 47 h 51"/>
                <a:gd name="T14" fmla="*/ 4 w 8"/>
                <a:gd name="T15" fmla="*/ 51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51">
                  <a:moveTo>
                    <a:pt x="4" y="51"/>
                  </a:moveTo>
                  <a:cubicBezTo>
                    <a:pt x="4" y="51"/>
                    <a:pt x="4" y="51"/>
                    <a:pt x="4" y="51"/>
                  </a:cubicBezTo>
                  <a:cubicBezTo>
                    <a:pt x="2" y="51"/>
                    <a:pt x="0" y="49"/>
                    <a:pt x="0" y="47"/>
                  </a:cubicBezTo>
                  <a:cubicBezTo>
                    <a:pt x="0" y="4"/>
                    <a:pt x="0" y="4"/>
                    <a:pt x="0" y="4"/>
                  </a:cubicBezTo>
                  <a:cubicBezTo>
                    <a:pt x="0" y="2"/>
                    <a:pt x="2" y="0"/>
                    <a:pt x="4" y="0"/>
                  </a:cubicBezTo>
                  <a:cubicBezTo>
                    <a:pt x="7" y="0"/>
                    <a:pt x="8" y="2"/>
                    <a:pt x="8" y="4"/>
                  </a:cubicBezTo>
                  <a:cubicBezTo>
                    <a:pt x="8" y="47"/>
                    <a:pt x="8" y="47"/>
                    <a:pt x="8" y="47"/>
                  </a:cubicBezTo>
                  <a:cubicBezTo>
                    <a:pt x="8" y="49"/>
                    <a:pt x="7" y="51"/>
                    <a:pt x="4" y="51"/>
                  </a:cubicBezTo>
                  <a:close/>
                </a:path>
              </a:pathLst>
            </a:custGeom>
            <a:solidFill>
              <a:srgbClr val="2273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5" name="îṥḷîḑe"/>
            <p:cNvSpPr/>
            <p:nvPr/>
          </p:nvSpPr>
          <p:spPr bwMode="auto">
            <a:xfrm>
              <a:off x="6094413" y="5375275"/>
              <a:ext cx="66675" cy="131763"/>
            </a:xfrm>
            <a:custGeom>
              <a:avLst/>
              <a:gdLst>
                <a:gd name="T0" fmla="*/ 11 w 22"/>
                <a:gd name="T1" fmla="*/ 44 h 44"/>
                <a:gd name="T2" fmla="*/ 11 w 22"/>
                <a:gd name="T3" fmla="*/ 44 h 44"/>
                <a:gd name="T4" fmla="*/ 0 w 22"/>
                <a:gd name="T5" fmla="*/ 33 h 44"/>
                <a:gd name="T6" fmla="*/ 0 w 22"/>
                <a:gd name="T7" fmla="*/ 12 h 44"/>
                <a:gd name="T8" fmla="*/ 11 w 22"/>
                <a:gd name="T9" fmla="*/ 0 h 44"/>
                <a:gd name="T10" fmla="*/ 22 w 22"/>
                <a:gd name="T11" fmla="*/ 12 h 44"/>
                <a:gd name="T12" fmla="*/ 22 w 22"/>
                <a:gd name="T13" fmla="*/ 33 h 44"/>
                <a:gd name="T14" fmla="*/ 11 w 22"/>
                <a:gd name="T15" fmla="*/ 44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44">
                  <a:moveTo>
                    <a:pt x="11" y="44"/>
                  </a:moveTo>
                  <a:cubicBezTo>
                    <a:pt x="11" y="44"/>
                    <a:pt x="11" y="44"/>
                    <a:pt x="11" y="44"/>
                  </a:cubicBezTo>
                  <a:cubicBezTo>
                    <a:pt x="5" y="44"/>
                    <a:pt x="0" y="39"/>
                    <a:pt x="0" y="33"/>
                  </a:cubicBezTo>
                  <a:cubicBezTo>
                    <a:pt x="0" y="12"/>
                    <a:pt x="0" y="12"/>
                    <a:pt x="0" y="12"/>
                  </a:cubicBezTo>
                  <a:cubicBezTo>
                    <a:pt x="0" y="5"/>
                    <a:pt x="5" y="0"/>
                    <a:pt x="11" y="0"/>
                  </a:cubicBezTo>
                  <a:cubicBezTo>
                    <a:pt x="17" y="0"/>
                    <a:pt x="22" y="5"/>
                    <a:pt x="22" y="12"/>
                  </a:cubicBezTo>
                  <a:cubicBezTo>
                    <a:pt x="22" y="33"/>
                    <a:pt x="22" y="33"/>
                    <a:pt x="22" y="33"/>
                  </a:cubicBezTo>
                  <a:cubicBezTo>
                    <a:pt x="22" y="39"/>
                    <a:pt x="17" y="44"/>
                    <a:pt x="11" y="44"/>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6" name="íṥļîḓè"/>
            <p:cNvSpPr/>
            <p:nvPr/>
          </p:nvSpPr>
          <p:spPr bwMode="auto">
            <a:xfrm>
              <a:off x="6446838" y="5321300"/>
              <a:ext cx="123825" cy="125413"/>
            </a:xfrm>
            <a:prstGeom prst="ellipse">
              <a:avLst/>
            </a:pr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7" name="ïṩ1íḋe"/>
            <p:cNvSpPr/>
            <p:nvPr/>
          </p:nvSpPr>
          <p:spPr bwMode="auto">
            <a:xfrm>
              <a:off x="6446838" y="5321300"/>
              <a:ext cx="123825" cy="63500"/>
            </a:xfrm>
            <a:custGeom>
              <a:avLst/>
              <a:gdLst>
                <a:gd name="T0" fmla="*/ 20 w 41"/>
                <a:gd name="T1" fmla="*/ 1 h 21"/>
                <a:gd name="T2" fmla="*/ 41 w 41"/>
                <a:gd name="T3" fmla="*/ 21 h 21"/>
                <a:gd name="T4" fmla="*/ 41 w 41"/>
                <a:gd name="T5" fmla="*/ 21 h 21"/>
                <a:gd name="T6" fmla="*/ 20 w 41"/>
                <a:gd name="T7" fmla="*/ 0 h 21"/>
                <a:gd name="T8" fmla="*/ 0 w 41"/>
                <a:gd name="T9" fmla="*/ 21 h 21"/>
                <a:gd name="T10" fmla="*/ 0 w 41"/>
                <a:gd name="T11" fmla="*/ 21 h 21"/>
                <a:gd name="T12" fmla="*/ 20 w 41"/>
                <a:gd name="T13" fmla="*/ 1 h 21"/>
              </a:gdLst>
              <a:ahLst/>
              <a:cxnLst>
                <a:cxn ang="0">
                  <a:pos x="T0" y="T1"/>
                </a:cxn>
                <a:cxn ang="0">
                  <a:pos x="T2" y="T3"/>
                </a:cxn>
                <a:cxn ang="0">
                  <a:pos x="T4" y="T5"/>
                </a:cxn>
                <a:cxn ang="0">
                  <a:pos x="T6" y="T7"/>
                </a:cxn>
                <a:cxn ang="0">
                  <a:pos x="T8" y="T9"/>
                </a:cxn>
                <a:cxn ang="0">
                  <a:pos x="T10" y="T11"/>
                </a:cxn>
                <a:cxn ang="0">
                  <a:pos x="T12" y="T13"/>
                </a:cxn>
              </a:cxnLst>
              <a:rect l="0" t="0" r="r" b="b"/>
              <a:pathLst>
                <a:path w="41" h="21">
                  <a:moveTo>
                    <a:pt x="20" y="1"/>
                  </a:moveTo>
                  <a:cubicBezTo>
                    <a:pt x="32" y="1"/>
                    <a:pt x="41" y="10"/>
                    <a:pt x="41" y="21"/>
                  </a:cubicBezTo>
                  <a:cubicBezTo>
                    <a:pt x="41" y="21"/>
                    <a:pt x="41" y="21"/>
                    <a:pt x="41" y="21"/>
                  </a:cubicBezTo>
                  <a:cubicBezTo>
                    <a:pt x="41" y="9"/>
                    <a:pt x="32" y="0"/>
                    <a:pt x="20" y="0"/>
                  </a:cubicBezTo>
                  <a:cubicBezTo>
                    <a:pt x="9" y="0"/>
                    <a:pt x="0" y="9"/>
                    <a:pt x="0" y="21"/>
                  </a:cubicBezTo>
                  <a:cubicBezTo>
                    <a:pt x="0" y="21"/>
                    <a:pt x="0" y="21"/>
                    <a:pt x="0" y="21"/>
                  </a:cubicBezTo>
                  <a:cubicBezTo>
                    <a:pt x="0" y="10"/>
                    <a:pt x="9" y="1"/>
                    <a:pt x="20" y="1"/>
                  </a:cubicBezTo>
                  <a:close/>
                </a:path>
              </a:pathLst>
            </a:custGeom>
            <a:solidFill>
              <a:srgbClr val="77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8" name="iṩḷïḓè"/>
            <p:cNvSpPr/>
            <p:nvPr/>
          </p:nvSpPr>
          <p:spPr bwMode="auto">
            <a:xfrm>
              <a:off x="6470651" y="5345113"/>
              <a:ext cx="76200" cy="74613"/>
            </a:xfrm>
            <a:prstGeom prst="ellipse">
              <a:avLst/>
            </a:prstGeom>
            <a:solidFill>
              <a:srgbClr val="27B0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9" name="iśḷîḓe"/>
            <p:cNvSpPr/>
            <p:nvPr/>
          </p:nvSpPr>
          <p:spPr bwMode="auto">
            <a:xfrm>
              <a:off x="6492876" y="5368925"/>
              <a:ext cx="30163" cy="30163"/>
            </a:xfrm>
            <a:prstGeom prst="ellipse">
              <a:avLst/>
            </a:prstGeom>
            <a:solidFill>
              <a:srgbClr val="2273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0" name="iŝḷíďe"/>
            <p:cNvSpPr/>
            <p:nvPr/>
          </p:nvSpPr>
          <p:spPr bwMode="auto">
            <a:xfrm>
              <a:off x="6492876" y="5368925"/>
              <a:ext cx="30163" cy="15875"/>
            </a:xfrm>
            <a:custGeom>
              <a:avLst/>
              <a:gdLst>
                <a:gd name="T0" fmla="*/ 5 w 10"/>
                <a:gd name="T1" fmla="*/ 0 h 5"/>
                <a:gd name="T2" fmla="*/ 10 w 10"/>
                <a:gd name="T3" fmla="*/ 5 h 5"/>
                <a:gd name="T4" fmla="*/ 10 w 10"/>
                <a:gd name="T5" fmla="*/ 5 h 5"/>
                <a:gd name="T6" fmla="*/ 5 w 10"/>
                <a:gd name="T7" fmla="*/ 0 h 5"/>
                <a:gd name="T8" fmla="*/ 0 w 10"/>
                <a:gd name="T9" fmla="*/ 5 h 5"/>
                <a:gd name="T10" fmla="*/ 0 w 10"/>
                <a:gd name="T11" fmla="*/ 5 h 5"/>
                <a:gd name="T12" fmla="*/ 5 w 10"/>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0" h="5">
                  <a:moveTo>
                    <a:pt x="5" y="0"/>
                  </a:moveTo>
                  <a:cubicBezTo>
                    <a:pt x="8" y="0"/>
                    <a:pt x="10" y="2"/>
                    <a:pt x="10" y="5"/>
                  </a:cubicBezTo>
                  <a:cubicBezTo>
                    <a:pt x="10" y="5"/>
                    <a:pt x="10" y="5"/>
                    <a:pt x="10" y="5"/>
                  </a:cubicBezTo>
                  <a:cubicBezTo>
                    <a:pt x="10" y="2"/>
                    <a:pt x="8" y="0"/>
                    <a:pt x="5" y="0"/>
                  </a:cubicBezTo>
                  <a:cubicBezTo>
                    <a:pt x="3" y="0"/>
                    <a:pt x="0" y="2"/>
                    <a:pt x="0" y="5"/>
                  </a:cubicBezTo>
                  <a:cubicBezTo>
                    <a:pt x="0" y="5"/>
                    <a:pt x="0" y="5"/>
                    <a:pt x="0" y="5"/>
                  </a:cubicBezTo>
                  <a:cubicBezTo>
                    <a:pt x="1" y="2"/>
                    <a:pt x="3" y="0"/>
                    <a:pt x="5" y="0"/>
                  </a:cubicBezTo>
                  <a:close/>
                </a:path>
              </a:pathLst>
            </a:custGeom>
            <a:solidFill>
              <a:srgbClr val="5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1" name="iṡļîḓe"/>
            <p:cNvSpPr/>
            <p:nvPr/>
          </p:nvSpPr>
          <p:spPr bwMode="auto">
            <a:xfrm>
              <a:off x="5708651" y="5321300"/>
              <a:ext cx="127000" cy="125413"/>
            </a:xfrm>
            <a:prstGeom prst="ellipse">
              <a:avLst/>
            </a:pr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2" name="ïslíḑê"/>
            <p:cNvSpPr/>
            <p:nvPr/>
          </p:nvSpPr>
          <p:spPr bwMode="auto">
            <a:xfrm>
              <a:off x="5708651" y="5321300"/>
              <a:ext cx="127000" cy="63500"/>
            </a:xfrm>
            <a:custGeom>
              <a:avLst/>
              <a:gdLst>
                <a:gd name="T0" fmla="*/ 21 w 42"/>
                <a:gd name="T1" fmla="*/ 1 h 21"/>
                <a:gd name="T2" fmla="*/ 42 w 42"/>
                <a:gd name="T3" fmla="*/ 21 h 21"/>
                <a:gd name="T4" fmla="*/ 42 w 42"/>
                <a:gd name="T5" fmla="*/ 21 h 21"/>
                <a:gd name="T6" fmla="*/ 21 w 42"/>
                <a:gd name="T7" fmla="*/ 0 h 21"/>
                <a:gd name="T8" fmla="*/ 0 w 42"/>
                <a:gd name="T9" fmla="*/ 21 h 21"/>
                <a:gd name="T10" fmla="*/ 0 w 42"/>
                <a:gd name="T11" fmla="*/ 21 h 21"/>
                <a:gd name="T12" fmla="*/ 21 w 42"/>
                <a:gd name="T13" fmla="*/ 1 h 21"/>
              </a:gdLst>
              <a:ahLst/>
              <a:cxnLst>
                <a:cxn ang="0">
                  <a:pos x="T0" y="T1"/>
                </a:cxn>
                <a:cxn ang="0">
                  <a:pos x="T2" y="T3"/>
                </a:cxn>
                <a:cxn ang="0">
                  <a:pos x="T4" y="T5"/>
                </a:cxn>
                <a:cxn ang="0">
                  <a:pos x="T6" y="T7"/>
                </a:cxn>
                <a:cxn ang="0">
                  <a:pos x="T8" y="T9"/>
                </a:cxn>
                <a:cxn ang="0">
                  <a:pos x="T10" y="T11"/>
                </a:cxn>
                <a:cxn ang="0">
                  <a:pos x="T12" y="T13"/>
                </a:cxn>
              </a:cxnLst>
              <a:rect l="0" t="0" r="r" b="b"/>
              <a:pathLst>
                <a:path w="42" h="21">
                  <a:moveTo>
                    <a:pt x="21" y="1"/>
                  </a:moveTo>
                  <a:cubicBezTo>
                    <a:pt x="32" y="1"/>
                    <a:pt x="42" y="10"/>
                    <a:pt x="42" y="21"/>
                  </a:cubicBezTo>
                  <a:cubicBezTo>
                    <a:pt x="42" y="21"/>
                    <a:pt x="42" y="21"/>
                    <a:pt x="42" y="21"/>
                  </a:cubicBezTo>
                  <a:cubicBezTo>
                    <a:pt x="42" y="9"/>
                    <a:pt x="33" y="0"/>
                    <a:pt x="21" y="0"/>
                  </a:cubicBezTo>
                  <a:cubicBezTo>
                    <a:pt x="9" y="0"/>
                    <a:pt x="0" y="9"/>
                    <a:pt x="0" y="21"/>
                  </a:cubicBezTo>
                  <a:cubicBezTo>
                    <a:pt x="0" y="21"/>
                    <a:pt x="0" y="21"/>
                    <a:pt x="0" y="21"/>
                  </a:cubicBezTo>
                  <a:cubicBezTo>
                    <a:pt x="0" y="10"/>
                    <a:pt x="9" y="1"/>
                    <a:pt x="21" y="1"/>
                  </a:cubicBezTo>
                  <a:close/>
                </a:path>
              </a:pathLst>
            </a:custGeom>
            <a:solidFill>
              <a:srgbClr val="77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3" name="îŝļîḑê"/>
            <p:cNvSpPr/>
            <p:nvPr/>
          </p:nvSpPr>
          <p:spPr bwMode="auto">
            <a:xfrm>
              <a:off x="5732463" y="5345113"/>
              <a:ext cx="76200" cy="74613"/>
            </a:xfrm>
            <a:prstGeom prst="ellipse">
              <a:avLst/>
            </a:prstGeom>
            <a:solidFill>
              <a:srgbClr val="27B0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4" name="ïŝḻíḍè"/>
            <p:cNvSpPr/>
            <p:nvPr/>
          </p:nvSpPr>
          <p:spPr bwMode="auto">
            <a:xfrm>
              <a:off x="5756276" y="5368925"/>
              <a:ext cx="30163" cy="30163"/>
            </a:xfrm>
            <a:prstGeom prst="ellipse">
              <a:avLst/>
            </a:prstGeom>
            <a:solidFill>
              <a:srgbClr val="2273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5" name="íşḷîḑe"/>
            <p:cNvSpPr/>
            <p:nvPr/>
          </p:nvSpPr>
          <p:spPr bwMode="auto">
            <a:xfrm>
              <a:off x="5756276" y="5368925"/>
              <a:ext cx="30163" cy="15875"/>
            </a:xfrm>
            <a:custGeom>
              <a:avLst/>
              <a:gdLst>
                <a:gd name="T0" fmla="*/ 5 w 10"/>
                <a:gd name="T1" fmla="*/ 0 h 5"/>
                <a:gd name="T2" fmla="*/ 10 w 10"/>
                <a:gd name="T3" fmla="*/ 5 h 5"/>
                <a:gd name="T4" fmla="*/ 10 w 10"/>
                <a:gd name="T5" fmla="*/ 5 h 5"/>
                <a:gd name="T6" fmla="*/ 5 w 10"/>
                <a:gd name="T7" fmla="*/ 0 h 5"/>
                <a:gd name="T8" fmla="*/ 0 w 10"/>
                <a:gd name="T9" fmla="*/ 5 h 5"/>
                <a:gd name="T10" fmla="*/ 0 w 10"/>
                <a:gd name="T11" fmla="*/ 5 h 5"/>
                <a:gd name="T12" fmla="*/ 5 w 10"/>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0" h="5">
                  <a:moveTo>
                    <a:pt x="5" y="0"/>
                  </a:moveTo>
                  <a:cubicBezTo>
                    <a:pt x="8" y="0"/>
                    <a:pt x="10" y="2"/>
                    <a:pt x="10" y="5"/>
                  </a:cubicBezTo>
                  <a:cubicBezTo>
                    <a:pt x="10" y="5"/>
                    <a:pt x="10" y="5"/>
                    <a:pt x="10" y="5"/>
                  </a:cubicBezTo>
                  <a:cubicBezTo>
                    <a:pt x="10" y="2"/>
                    <a:pt x="8" y="0"/>
                    <a:pt x="5" y="0"/>
                  </a:cubicBezTo>
                  <a:cubicBezTo>
                    <a:pt x="2" y="0"/>
                    <a:pt x="0" y="2"/>
                    <a:pt x="0" y="5"/>
                  </a:cubicBezTo>
                  <a:cubicBezTo>
                    <a:pt x="0" y="5"/>
                    <a:pt x="0" y="5"/>
                    <a:pt x="0" y="5"/>
                  </a:cubicBezTo>
                  <a:cubicBezTo>
                    <a:pt x="0" y="2"/>
                    <a:pt x="2" y="0"/>
                    <a:pt x="5" y="0"/>
                  </a:cubicBezTo>
                  <a:close/>
                </a:path>
              </a:pathLst>
            </a:custGeom>
            <a:solidFill>
              <a:srgbClr val="5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6" name="îṥļïḋê"/>
            <p:cNvSpPr/>
            <p:nvPr/>
          </p:nvSpPr>
          <p:spPr bwMode="auto">
            <a:xfrm>
              <a:off x="5910263" y="3697288"/>
              <a:ext cx="428625" cy="203200"/>
            </a:xfrm>
            <a:custGeom>
              <a:avLst/>
              <a:gdLst>
                <a:gd name="T0" fmla="*/ 108 w 142"/>
                <a:gd name="T1" fmla="*/ 68 h 68"/>
                <a:gd name="T2" fmla="*/ 34 w 142"/>
                <a:gd name="T3" fmla="*/ 68 h 68"/>
                <a:gd name="T4" fmla="*/ 0 w 142"/>
                <a:gd name="T5" fmla="*/ 34 h 68"/>
                <a:gd name="T6" fmla="*/ 34 w 142"/>
                <a:gd name="T7" fmla="*/ 0 h 68"/>
                <a:gd name="T8" fmla="*/ 108 w 142"/>
                <a:gd name="T9" fmla="*/ 0 h 68"/>
                <a:gd name="T10" fmla="*/ 142 w 142"/>
                <a:gd name="T11" fmla="*/ 34 h 68"/>
                <a:gd name="T12" fmla="*/ 108 w 142"/>
                <a:gd name="T13" fmla="*/ 68 h 68"/>
              </a:gdLst>
              <a:ahLst/>
              <a:cxnLst>
                <a:cxn ang="0">
                  <a:pos x="T0" y="T1"/>
                </a:cxn>
                <a:cxn ang="0">
                  <a:pos x="T2" y="T3"/>
                </a:cxn>
                <a:cxn ang="0">
                  <a:pos x="T4" y="T5"/>
                </a:cxn>
                <a:cxn ang="0">
                  <a:pos x="T6" y="T7"/>
                </a:cxn>
                <a:cxn ang="0">
                  <a:pos x="T8" y="T9"/>
                </a:cxn>
                <a:cxn ang="0">
                  <a:pos x="T10" y="T11"/>
                </a:cxn>
                <a:cxn ang="0">
                  <a:pos x="T12" y="T13"/>
                </a:cxn>
              </a:cxnLst>
              <a:rect l="0" t="0" r="r" b="b"/>
              <a:pathLst>
                <a:path w="142" h="68">
                  <a:moveTo>
                    <a:pt x="108" y="68"/>
                  </a:moveTo>
                  <a:cubicBezTo>
                    <a:pt x="34" y="68"/>
                    <a:pt x="34" y="68"/>
                    <a:pt x="34" y="68"/>
                  </a:cubicBezTo>
                  <a:cubicBezTo>
                    <a:pt x="15" y="68"/>
                    <a:pt x="0" y="52"/>
                    <a:pt x="0" y="34"/>
                  </a:cubicBezTo>
                  <a:cubicBezTo>
                    <a:pt x="0" y="15"/>
                    <a:pt x="15" y="0"/>
                    <a:pt x="34" y="0"/>
                  </a:cubicBezTo>
                  <a:cubicBezTo>
                    <a:pt x="108" y="0"/>
                    <a:pt x="108" y="0"/>
                    <a:pt x="108" y="0"/>
                  </a:cubicBezTo>
                  <a:cubicBezTo>
                    <a:pt x="127" y="0"/>
                    <a:pt x="142" y="15"/>
                    <a:pt x="142" y="34"/>
                  </a:cubicBezTo>
                  <a:cubicBezTo>
                    <a:pt x="142" y="52"/>
                    <a:pt x="127" y="68"/>
                    <a:pt x="108" y="68"/>
                  </a:cubicBezTo>
                  <a:close/>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7" name="îṡļîdé"/>
            <p:cNvSpPr/>
            <p:nvPr/>
          </p:nvSpPr>
          <p:spPr bwMode="auto">
            <a:xfrm>
              <a:off x="5910263" y="3697288"/>
              <a:ext cx="428625" cy="101600"/>
            </a:xfrm>
            <a:custGeom>
              <a:avLst/>
              <a:gdLst>
                <a:gd name="T0" fmla="*/ 108 w 142"/>
                <a:gd name="T1" fmla="*/ 0 h 34"/>
                <a:gd name="T2" fmla="*/ 34 w 142"/>
                <a:gd name="T3" fmla="*/ 0 h 34"/>
                <a:gd name="T4" fmla="*/ 0 w 142"/>
                <a:gd name="T5" fmla="*/ 34 h 34"/>
                <a:gd name="T6" fmla="*/ 0 w 142"/>
                <a:gd name="T7" fmla="*/ 34 h 34"/>
                <a:gd name="T8" fmla="*/ 34 w 142"/>
                <a:gd name="T9" fmla="*/ 1 h 34"/>
                <a:gd name="T10" fmla="*/ 108 w 142"/>
                <a:gd name="T11" fmla="*/ 1 h 34"/>
                <a:gd name="T12" fmla="*/ 142 w 142"/>
                <a:gd name="T13" fmla="*/ 34 h 34"/>
                <a:gd name="T14" fmla="*/ 142 w 142"/>
                <a:gd name="T15" fmla="*/ 34 h 34"/>
                <a:gd name="T16" fmla="*/ 108 w 142"/>
                <a:gd name="T17"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34">
                  <a:moveTo>
                    <a:pt x="108" y="0"/>
                  </a:moveTo>
                  <a:cubicBezTo>
                    <a:pt x="34" y="0"/>
                    <a:pt x="34" y="0"/>
                    <a:pt x="34" y="0"/>
                  </a:cubicBezTo>
                  <a:cubicBezTo>
                    <a:pt x="15" y="0"/>
                    <a:pt x="0" y="15"/>
                    <a:pt x="0" y="34"/>
                  </a:cubicBezTo>
                  <a:cubicBezTo>
                    <a:pt x="0" y="34"/>
                    <a:pt x="0" y="34"/>
                    <a:pt x="0" y="34"/>
                  </a:cubicBezTo>
                  <a:cubicBezTo>
                    <a:pt x="0" y="16"/>
                    <a:pt x="15" y="1"/>
                    <a:pt x="34" y="1"/>
                  </a:cubicBezTo>
                  <a:cubicBezTo>
                    <a:pt x="108" y="1"/>
                    <a:pt x="108" y="1"/>
                    <a:pt x="108" y="1"/>
                  </a:cubicBezTo>
                  <a:cubicBezTo>
                    <a:pt x="127" y="1"/>
                    <a:pt x="142" y="16"/>
                    <a:pt x="142" y="34"/>
                  </a:cubicBezTo>
                  <a:cubicBezTo>
                    <a:pt x="142" y="34"/>
                    <a:pt x="142" y="34"/>
                    <a:pt x="142" y="34"/>
                  </a:cubicBezTo>
                  <a:cubicBezTo>
                    <a:pt x="142" y="15"/>
                    <a:pt x="127" y="0"/>
                    <a:pt x="108" y="0"/>
                  </a:cubicBezTo>
                  <a:close/>
                </a:path>
              </a:pathLst>
            </a:custGeom>
            <a:solidFill>
              <a:srgbClr val="226E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8" name="ïṥḷïďe"/>
            <p:cNvSpPr/>
            <p:nvPr/>
          </p:nvSpPr>
          <p:spPr bwMode="auto">
            <a:xfrm>
              <a:off x="6076951" y="3771900"/>
              <a:ext cx="95250" cy="823913"/>
            </a:xfrm>
            <a:custGeom>
              <a:avLst/>
              <a:gdLst>
                <a:gd name="T0" fmla="*/ 21 w 32"/>
                <a:gd name="T1" fmla="*/ 274 h 274"/>
                <a:gd name="T2" fmla="*/ 11 w 32"/>
                <a:gd name="T3" fmla="*/ 274 h 274"/>
                <a:gd name="T4" fmla="*/ 0 w 32"/>
                <a:gd name="T5" fmla="*/ 262 h 274"/>
                <a:gd name="T6" fmla="*/ 0 w 32"/>
                <a:gd name="T7" fmla="*/ 11 h 274"/>
                <a:gd name="T8" fmla="*/ 11 w 32"/>
                <a:gd name="T9" fmla="*/ 0 h 274"/>
                <a:gd name="T10" fmla="*/ 21 w 32"/>
                <a:gd name="T11" fmla="*/ 0 h 274"/>
                <a:gd name="T12" fmla="*/ 32 w 32"/>
                <a:gd name="T13" fmla="*/ 11 h 274"/>
                <a:gd name="T14" fmla="*/ 32 w 32"/>
                <a:gd name="T15" fmla="*/ 262 h 274"/>
                <a:gd name="T16" fmla="*/ 21 w 32"/>
                <a:gd name="T17"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4">
                  <a:moveTo>
                    <a:pt x="21" y="274"/>
                  </a:moveTo>
                  <a:cubicBezTo>
                    <a:pt x="11" y="274"/>
                    <a:pt x="11" y="274"/>
                    <a:pt x="11" y="274"/>
                  </a:cubicBezTo>
                  <a:cubicBezTo>
                    <a:pt x="5" y="274"/>
                    <a:pt x="0" y="269"/>
                    <a:pt x="0" y="262"/>
                  </a:cubicBezTo>
                  <a:cubicBezTo>
                    <a:pt x="0" y="11"/>
                    <a:pt x="0" y="11"/>
                    <a:pt x="0" y="11"/>
                  </a:cubicBezTo>
                  <a:cubicBezTo>
                    <a:pt x="0" y="5"/>
                    <a:pt x="5" y="0"/>
                    <a:pt x="11" y="0"/>
                  </a:cubicBezTo>
                  <a:cubicBezTo>
                    <a:pt x="21" y="0"/>
                    <a:pt x="21" y="0"/>
                    <a:pt x="21" y="0"/>
                  </a:cubicBezTo>
                  <a:cubicBezTo>
                    <a:pt x="27" y="0"/>
                    <a:pt x="32" y="5"/>
                    <a:pt x="32" y="11"/>
                  </a:cubicBezTo>
                  <a:cubicBezTo>
                    <a:pt x="32" y="262"/>
                    <a:pt x="32" y="262"/>
                    <a:pt x="32" y="262"/>
                  </a:cubicBezTo>
                  <a:cubicBezTo>
                    <a:pt x="32" y="269"/>
                    <a:pt x="27" y="274"/>
                    <a:pt x="21" y="274"/>
                  </a:cubicBezTo>
                  <a:close/>
                </a:path>
              </a:pathLst>
            </a:custGeom>
            <a:solidFill>
              <a:srgbClr val="111F9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9" name="íṥ1ïḑe"/>
            <p:cNvSpPr/>
            <p:nvPr/>
          </p:nvSpPr>
          <p:spPr bwMode="auto">
            <a:xfrm>
              <a:off x="6084888" y="3822700"/>
              <a:ext cx="79375" cy="20638"/>
            </a:xfrm>
            <a:custGeom>
              <a:avLst/>
              <a:gdLst>
                <a:gd name="T0" fmla="*/ 24 w 26"/>
                <a:gd name="T1" fmla="*/ 7 h 7"/>
                <a:gd name="T2" fmla="*/ 3 w 26"/>
                <a:gd name="T3" fmla="*/ 7 h 7"/>
                <a:gd name="T4" fmla="*/ 0 w 26"/>
                <a:gd name="T5" fmla="*/ 5 h 7"/>
                <a:gd name="T6" fmla="*/ 0 w 26"/>
                <a:gd name="T7" fmla="*/ 3 h 7"/>
                <a:gd name="T8" fmla="*/ 3 w 26"/>
                <a:gd name="T9" fmla="*/ 0 h 7"/>
                <a:gd name="T10" fmla="*/ 24 w 26"/>
                <a:gd name="T11" fmla="*/ 0 h 7"/>
                <a:gd name="T12" fmla="*/ 26 w 26"/>
                <a:gd name="T13" fmla="*/ 3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3"/>
                    <a:pt x="0" y="3"/>
                    <a:pt x="0" y="3"/>
                  </a:cubicBezTo>
                  <a:cubicBezTo>
                    <a:pt x="0" y="1"/>
                    <a:pt x="1" y="0"/>
                    <a:pt x="3" y="0"/>
                  </a:cubicBezTo>
                  <a:cubicBezTo>
                    <a:pt x="24" y="0"/>
                    <a:pt x="24" y="0"/>
                    <a:pt x="24" y="0"/>
                  </a:cubicBezTo>
                  <a:cubicBezTo>
                    <a:pt x="25" y="0"/>
                    <a:pt x="26" y="1"/>
                    <a:pt x="26" y="3"/>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60" name="íŝḻiḋê"/>
            <p:cNvSpPr/>
            <p:nvPr/>
          </p:nvSpPr>
          <p:spPr bwMode="auto">
            <a:xfrm>
              <a:off x="6084888" y="3822700"/>
              <a:ext cx="79375" cy="20638"/>
            </a:xfrm>
            <a:custGeom>
              <a:avLst/>
              <a:gdLst>
                <a:gd name="T0" fmla="*/ 24 w 26"/>
                <a:gd name="T1" fmla="*/ 7 h 7"/>
                <a:gd name="T2" fmla="*/ 3 w 26"/>
                <a:gd name="T3" fmla="*/ 7 h 7"/>
                <a:gd name="T4" fmla="*/ 0 w 26"/>
                <a:gd name="T5" fmla="*/ 5 h 7"/>
                <a:gd name="T6" fmla="*/ 0 w 26"/>
                <a:gd name="T7" fmla="*/ 3 h 7"/>
                <a:gd name="T8" fmla="*/ 3 w 26"/>
                <a:gd name="T9" fmla="*/ 0 h 7"/>
                <a:gd name="T10" fmla="*/ 24 w 26"/>
                <a:gd name="T11" fmla="*/ 0 h 7"/>
                <a:gd name="T12" fmla="*/ 26 w 26"/>
                <a:gd name="T13" fmla="*/ 3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3"/>
                    <a:pt x="0" y="3"/>
                    <a:pt x="0" y="3"/>
                  </a:cubicBezTo>
                  <a:cubicBezTo>
                    <a:pt x="0" y="1"/>
                    <a:pt x="1" y="0"/>
                    <a:pt x="3" y="0"/>
                  </a:cubicBezTo>
                  <a:cubicBezTo>
                    <a:pt x="24" y="0"/>
                    <a:pt x="24" y="0"/>
                    <a:pt x="24" y="0"/>
                  </a:cubicBezTo>
                  <a:cubicBezTo>
                    <a:pt x="25" y="0"/>
                    <a:pt x="26" y="1"/>
                    <a:pt x="26" y="3"/>
                  </a:cubicBezTo>
                  <a:cubicBezTo>
                    <a:pt x="26" y="5"/>
                    <a:pt x="26" y="5"/>
                    <a:pt x="26" y="5"/>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61" name="íṡļiďe"/>
            <p:cNvSpPr/>
            <p:nvPr/>
          </p:nvSpPr>
          <p:spPr bwMode="auto">
            <a:xfrm>
              <a:off x="6084888" y="3883025"/>
              <a:ext cx="79375" cy="20638"/>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62" name="iṧľîďe"/>
            <p:cNvSpPr/>
            <p:nvPr/>
          </p:nvSpPr>
          <p:spPr bwMode="auto">
            <a:xfrm>
              <a:off x="6084888" y="3883025"/>
              <a:ext cx="79375" cy="17463"/>
            </a:xfrm>
            <a:custGeom>
              <a:avLst/>
              <a:gdLst>
                <a:gd name="T0" fmla="*/ 24 w 26"/>
                <a:gd name="T1" fmla="*/ 6 h 6"/>
                <a:gd name="T2" fmla="*/ 3 w 26"/>
                <a:gd name="T3" fmla="*/ 6 h 6"/>
                <a:gd name="T4" fmla="*/ 0 w 26"/>
                <a:gd name="T5" fmla="*/ 4 h 6"/>
                <a:gd name="T6" fmla="*/ 0 w 26"/>
                <a:gd name="T7" fmla="*/ 2 h 6"/>
                <a:gd name="T8" fmla="*/ 3 w 26"/>
                <a:gd name="T9" fmla="*/ 0 h 6"/>
                <a:gd name="T10" fmla="*/ 24 w 26"/>
                <a:gd name="T11" fmla="*/ 0 h 6"/>
                <a:gd name="T12" fmla="*/ 26 w 26"/>
                <a:gd name="T13" fmla="*/ 2 h 6"/>
                <a:gd name="T14" fmla="*/ 26 w 26"/>
                <a:gd name="T15" fmla="*/ 4 h 6"/>
                <a:gd name="T16" fmla="*/ 24 w 26"/>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6">
                  <a:moveTo>
                    <a:pt x="24" y="6"/>
                  </a:moveTo>
                  <a:cubicBezTo>
                    <a:pt x="3" y="6"/>
                    <a:pt x="3" y="6"/>
                    <a:pt x="3" y="6"/>
                  </a:cubicBezTo>
                  <a:cubicBezTo>
                    <a:pt x="1" y="6"/>
                    <a:pt x="0" y="5"/>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5"/>
                    <a:pt x="25" y="6"/>
                    <a:pt x="24" y="6"/>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63" name="í$ļíḍê"/>
            <p:cNvSpPr/>
            <p:nvPr/>
          </p:nvSpPr>
          <p:spPr bwMode="auto">
            <a:xfrm>
              <a:off x="6084888" y="3937000"/>
              <a:ext cx="79375" cy="20638"/>
            </a:xfrm>
            <a:custGeom>
              <a:avLst/>
              <a:gdLst>
                <a:gd name="T0" fmla="*/ 24 w 26"/>
                <a:gd name="T1" fmla="*/ 7 h 7"/>
                <a:gd name="T2" fmla="*/ 3 w 26"/>
                <a:gd name="T3" fmla="*/ 7 h 7"/>
                <a:gd name="T4" fmla="*/ 0 w 26"/>
                <a:gd name="T5" fmla="*/ 5 h 7"/>
                <a:gd name="T6" fmla="*/ 0 w 26"/>
                <a:gd name="T7" fmla="*/ 2 h 7"/>
                <a:gd name="T8" fmla="*/ 3 w 26"/>
                <a:gd name="T9" fmla="*/ 0 h 7"/>
                <a:gd name="T10" fmla="*/ 24 w 26"/>
                <a:gd name="T11" fmla="*/ 0 h 7"/>
                <a:gd name="T12" fmla="*/ 26 w 26"/>
                <a:gd name="T13" fmla="*/ 2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2"/>
                    <a:pt x="0" y="2"/>
                    <a:pt x="0" y="2"/>
                  </a:cubicBezTo>
                  <a:cubicBezTo>
                    <a:pt x="0" y="1"/>
                    <a:pt x="1" y="0"/>
                    <a:pt x="3" y="0"/>
                  </a:cubicBezTo>
                  <a:cubicBezTo>
                    <a:pt x="24" y="0"/>
                    <a:pt x="24" y="0"/>
                    <a:pt x="24" y="0"/>
                  </a:cubicBezTo>
                  <a:cubicBezTo>
                    <a:pt x="25" y="0"/>
                    <a:pt x="26" y="1"/>
                    <a:pt x="26" y="2"/>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64" name="îṩ1îde"/>
            <p:cNvSpPr/>
            <p:nvPr/>
          </p:nvSpPr>
          <p:spPr bwMode="auto">
            <a:xfrm>
              <a:off x="6084888" y="3937000"/>
              <a:ext cx="79375" cy="20638"/>
            </a:xfrm>
            <a:custGeom>
              <a:avLst/>
              <a:gdLst>
                <a:gd name="T0" fmla="*/ 24 w 26"/>
                <a:gd name="T1" fmla="*/ 7 h 7"/>
                <a:gd name="T2" fmla="*/ 3 w 26"/>
                <a:gd name="T3" fmla="*/ 7 h 7"/>
                <a:gd name="T4" fmla="*/ 0 w 26"/>
                <a:gd name="T5" fmla="*/ 5 h 7"/>
                <a:gd name="T6" fmla="*/ 0 w 26"/>
                <a:gd name="T7" fmla="*/ 2 h 7"/>
                <a:gd name="T8" fmla="*/ 3 w 26"/>
                <a:gd name="T9" fmla="*/ 0 h 7"/>
                <a:gd name="T10" fmla="*/ 24 w 26"/>
                <a:gd name="T11" fmla="*/ 0 h 7"/>
                <a:gd name="T12" fmla="*/ 26 w 26"/>
                <a:gd name="T13" fmla="*/ 2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2"/>
                    <a:pt x="0" y="2"/>
                    <a:pt x="0" y="2"/>
                  </a:cubicBezTo>
                  <a:cubicBezTo>
                    <a:pt x="0" y="1"/>
                    <a:pt x="1" y="0"/>
                    <a:pt x="3" y="0"/>
                  </a:cubicBezTo>
                  <a:cubicBezTo>
                    <a:pt x="24" y="0"/>
                    <a:pt x="24" y="0"/>
                    <a:pt x="24" y="0"/>
                  </a:cubicBezTo>
                  <a:cubicBezTo>
                    <a:pt x="25" y="0"/>
                    <a:pt x="26" y="1"/>
                    <a:pt x="26" y="2"/>
                  </a:cubicBezTo>
                  <a:cubicBezTo>
                    <a:pt x="26" y="5"/>
                    <a:pt x="26" y="5"/>
                    <a:pt x="26" y="5"/>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65" name="iṧḻíḑé"/>
            <p:cNvSpPr/>
            <p:nvPr/>
          </p:nvSpPr>
          <p:spPr bwMode="auto">
            <a:xfrm>
              <a:off x="6084888" y="3994150"/>
              <a:ext cx="79375" cy="20638"/>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66" name="iṡ1ïḋé"/>
            <p:cNvSpPr/>
            <p:nvPr/>
          </p:nvSpPr>
          <p:spPr bwMode="auto">
            <a:xfrm>
              <a:off x="6084888" y="3994150"/>
              <a:ext cx="79375" cy="19050"/>
            </a:xfrm>
            <a:custGeom>
              <a:avLst/>
              <a:gdLst>
                <a:gd name="T0" fmla="*/ 24 w 26"/>
                <a:gd name="T1" fmla="*/ 6 h 6"/>
                <a:gd name="T2" fmla="*/ 3 w 26"/>
                <a:gd name="T3" fmla="*/ 6 h 6"/>
                <a:gd name="T4" fmla="*/ 0 w 26"/>
                <a:gd name="T5" fmla="*/ 4 h 6"/>
                <a:gd name="T6" fmla="*/ 0 w 26"/>
                <a:gd name="T7" fmla="*/ 2 h 6"/>
                <a:gd name="T8" fmla="*/ 3 w 26"/>
                <a:gd name="T9" fmla="*/ 0 h 6"/>
                <a:gd name="T10" fmla="*/ 24 w 26"/>
                <a:gd name="T11" fmla="*/ 0 h 6"/>
                <a:gd name="T12" fmla="*/ 26 w 26"/>
                <a:gd name="T13" fmla="*/ 2 h 6"/>
                <a:gd name="T14" fmla="*/ 26 w 26"/>
                <a:gd name="T15" fmla="*/ 4 h 6"/>
                <a:gd name="T16" fmla="*/ 24 w 26"/>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6">
                  <a:moveTo>
                    <a:pt x="24" y="6"/>
                  </a:moveTo>
                  <a:cubicBezTo>
                    <a:pt x="3" y="6"/>
                    <a:pt x="3" y="6"/>
                    <a:pt x="3" y="6"/>
                  </a:cubicBezTo>
                  <a:cubicBezTo>
                    <a:pt x="1" y="6"/>
                    <a:pt x="0" y="5"/>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5"/>
                    <a:pt x="25" y="6"/>
                    <a:pt x="24" y="6"/>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67" name="ïṧḷîḓe"/>
            <p:cNvSpPr/>
            <p:nvPr/>
          </p:nvSpPr>
          <p:spPr bwMode="auto">
            <a:xfrm>
              <a:off x="6084888" y="4048125"/>
              <a:ext cx="79375" cy="22225"/>
            </a:xfrm>
            <a:custGeom>
              <a:avLst/>
              <a:gdLst>
                <a:gd name="T0" fmla="*/ 24 w 26"/>
                <a:gd name="T1" fmla="*/ 7 h 7"/>
                <a:gd name="T2" fmla="*/ 3 w 26"/>
                <a:gd name="T3" fmla="*/ 7 h 7"/>
                <a:gd name="T4" fmla="*/ 0 w 26"/>
                <a:gd name="T5" fmla="*/ 5 h 7"/>
                <a:gd name="T6" fmla="*/ 0 w 26"/>
                <a:gd name="T7" fmla="*/ 2 h 7"/>
                <a:gd name="T8" fmla="*/ 3 w 26"/>
                <a:gd name="T9" fmla="*/ 0 h 7"/>
                <a:gd name="T10" fmla="*/ 24 w 26"/>
                <a:gd name="T11" fmla="*/ 0 h 7"/>
                <a:gd name="T12" fmla="*/ 26 w 26"/>
                <a:gd name="T13" fmla="*/ 2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2"/>
                    <a:pt x="0" y="2"/>
                    <a:pt x="0" y="2"/>
                  </a:cubicBezTo>
                  <a:cubicBezTo>
                    <a:pt x="0" y="1"/>
                    <a:pt x="1" y="0"/>
                    <a:pt x="3" y="0"/>
                  </a:cubicBezTo>
                  <a:cubicBezTo>
                    <a:pt x="24" y="0"/>
                    <a:pt x="24" y="0"/>
                    <a:pt x="24" y="0"/>
                  </a:cubicBezTo>
                  <a:cubicBezTo>
                    <a:pt x="25" y="0"/>
                    <a:pt x="26" y="1"/>
                    <a:pt x="26" y="2"/>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68" name="îṧļïḑè"/>
            <p:cNvSpPr/>
            <p:nvPr/>
          </p:nvSpPr>
          <p:spPr bwMode="auto">
            <a:xfrm>
              <a:off x="6084888" y="4048125"/>
              <a:ext cx="79375" cy="22225"/>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69" name="îSlïḑê"/>
            <p:cNvSpPr/>
            <p:nvPr/>
          </p:nvSpPr>
          <p:spPr bwMode="auto">
            <a:xfrm>
              <a:off x="6084888" y="4102100"/>
              <a:ext cx="79375" cy="22225"/>
            </a:xfrm>
            <a:custGeom>
              <a:avLst/>
              <a:gdLst>
                <a:gd name="T0" fmla="*/ 24 w 26"/>
                <a:gd name="T1" fmla="*/ 7 h 7"/>
                <a:gd name="T2" fmla="*/ 3 w 26"/>
                <a:gd name="T3" fmla="*/ 7 h 7"/>
                <a:gd name="T4" fmla="*/ 0 w 26"/>
                <a:gd name="T5" fmla="*/ 5 h 7"/>
                <a:gd name="T6" fmla="*/ 0 w 26"/>
                <a:gd name="T7" fmla="*/ 3 h 7"/>
                <a:gd name="T8" fmla="*/ 3 w 26"/>
                <a:gd name="T9" fmla="*/ 0 h 7"/>
                <a:gd name="T10" fmla="*/ 24 w 26"/>
                <a:gd name="T11" fmla="*/ 0 h 7"/>
                <a:gd name="T12" fmla="*/ 26 w 26"/>
                <a:gd name="T13" fmla="*/ 3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3"/>
                    <a:pt x="0" y="3"/>
                    <a:pt x="0" y="3"/>
                  </a:cubicBezTo>
                  <a:cubicBezTo>
                    <a:pt x="0" y="1"/>
                    <a:pt x="1" y="0"/>
                    <a:pt x="3" y="0"/>
                  </a:cubicBezTo>
                  <a:cubicBezTo>
                    <a:pt x="24" y="0"/>
                    <a:pt x="24" y="0"/>
                    <a:pt x="24" y="0"/>
                  </a:cubicBezTo>
                  <a:cubicBezTo>
                    <a:pt x="25" y="0"/>
                    <a:pt x="26" y="1"/>
                    <a:pt x="26" y="3"/>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70" name="îṣlîde"/>
            <p:cNvSpPr/>
            <p:nvPr/>
          </p:nvSpPr>
          <p:spPr bwMode="auto">
            <a:xfrm>
              <a:off x="6084888" y="4102100"/>
              <a:ext cx="79375" cy="22225"/>
            </a:xfrm>
            <a:custGeom>
              <a:avLst/>
              <a:gdLst>
                <a:gd name="T0" fmla="*/ 24 w 26"/>
                <a:gd name="T1" fmla="*/ 7 h 7"/>
                <a:gd name="T2" fmla="*/ 3 w 26"/>
                <a:gd name="T3" fmla="*/ 7 h 7"/>
                <a:gd name="T4" fmla="*/ 0 w 26"/>
                <a:gd name="T5" fmla="*/ 5 h 7"/>
                <a:gd name="T6" fmla="*/ 0 w 26"/>
                <a:gd name="T7" fmla="*/ 3 h 7"/>
                <a:gd name="T8" fmla="*/ 3 w 26"/>
                <a:gd name="T9" fmla="*/ 0 h 7"/>
                <a:gd name="T10" fmla="*/ 24 w 26"/>
                <a:gd name="T11" fmla="*/ 0 h 7"/>
                <a:gd name="T12" fmla="*/ 26 w 26"/>
                <a:gd name="T13" fmla="*/ 3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3"/>
                    <a:pt x="0" y="3"/>
                    <a:pt x="0" y="3"/>
                  </a:cubicBezTo>
                  <a:cubicBezTo>
                    <a:pt x="0" y="1"/>
                    <a:pt x="1" y="0"/>
                    <a:pt x="3" y="0"/>
                  </a:cubicBezTo>
                  <a:cubicBezTo>
                    <a:pt x="24" y="0"/>
                    <a:pt x="24" y="0"/>
                    <a:pt x="24" y="0"/>
                  </a:cubicBezTo>
                  <a:cubicBezTo>
                    <a:pt x="25" y="0"/>
                    <a:pt x="26" y="1"/>
                    <a:pt x="26" y="3"/>
                  </a:cubicBezTo>
                  <a:cubicBezTo>
                    <a:pt x="26" y="5"/>
                    <a:pt x="26" y="5"/>
                    <a:pt x="26" y="5"/>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71" name="iŝlïḍé"/>
            <p:cNvSpPr/>
            <p:nvPr/>
          </p:nvSpPr>
          <p:spPr bwMode="auto">
            <a:xfrm>
              <a:off x="6084888" y="4159250"/>
              <a:ext cx="79375" cy="22225"/>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72" name="iṩ1ïḋé"/>
            <p:cNvSpPr/>
            <p:nvPr/>
          </p:nvSpPr>
          <p:spPr bwMode="auto">
            <a:xfrm>
              <a:off x="6084888" y="4159250"/>
              <a:ext cx="79375" cy="19050"/>
            </a:xfrm>
            <a:custGeom>
              <a:avLst/>
              <a:gdLst>
                <a:gd name="T0" fmla="*/ 24 w 26"/>
                <a:gd name="T1" fmla="*/ 6 h 6"/>
                <a:gd name="T2" fmla="*/ 3 w 26"/>
                <a:gd name="T3" fmla="*/ 6 h 6"/>
                <a:gd name="T4" fmla="*/ 0 w 26"/>
                <a:gd name="T5" fmla="*/ 4 h 6"/>
                <a:gd name="T6" fmla="*/ 0 w 26"/>
                <a:gd name="T7" fmla="*/ 2 h 6"/>
                <a:gd name="T8" fmla="*/ 3 w 26"/>
                <a:gd name="T9" fmla="*/ 0 h 6"/>
                <a:gd name="T10" fmla="*/ 24 w 26"/>
                <a:gd name="T11" fmla="*/ 0 h 6"/>
                <a:gd name="T12" fmla="*/ 26 w 26"/>
                <a:gd name="T13" fmla="*/ 2 h 6"/>
                <a:gd name="T14" fmla="*/ 26 w 26"/>
                <a:gd name="T15" fmla="*/ 4 h 6"/>
                <a:gd name="T16" fmla="*/ 24 w 26"/>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6">
                  <a:moveTo>
                    <a:pt x="24" y="6"/>
                  </a:moveTo>
                  <a:cubicBezTo>
                    <a:pt x="3" y="6"/>
                    <a:pt x="3" y="6"/>
                    <a:pt x="3" y="6"/>
                  </a:cubicBezTo>
                  <a:cubicBezTo>
                    <a:pt x="1" y="6"/>
                    <a:pt x="0" y="5"/>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5"/>
                    <a:pt x="25" y="6"/>
                    <a:pt x="24" y="6"/>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73" name="íSḷidè"/>
            <p:cNvSpPr/>
            <p:nvPr/>
          </p:nvSpPr>
          <p:spPr bwMode="auto">
            <a:xfrm>
              <a:off x="6084888" y="4213225"/>
              <a:ext cx="79375" cy="22225"/>
            </a:xfrm>
            <a:custGeom>
              <a:avLst/>
              <a:gdLst>
                <a:gd name="T0" fmla="*/ 24 w 26"/>
                <a:gd name="T1" fmla="*/ 7 h 7"/>
                <a:gd name="T2" fmla="*/ 3 w 26"/>
                <a:gd name="T3" fmla="*/ 7 h 7"/>
                <a:gd name="T4" fmla="*/ 0 w 26"/>
                <a:gd name="T5" fmla="*/ 5 h 7"/>
                <a:gd name="T6" fmla="*/ 0 w 26"/>
                <a:gd name="T7" fmla="*/ 2 h 7"/>
                <a:gd name="T8" fmla="*/ 3 w 26"/>
                <a:gd name="T9" fmla="*/ 0 h 7"/>
                <a:gd name="T10" fmla="*/ 24 w 26"/>
                <a:gd name="T11" fmla="*/ 0 h 7"/>
                <a:gd name="T12" fmla="*/ 26 w 26"/>
                <a:gd name="T13" fmla="*/ 2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2"/>
                    <a:pt x="0" y="2"/>
                    <a:pt x="0" y="2"/>
                  </a:cubicBezTo>
                  <a:cubicBezTo>
                    <a:pt x="0" y="1"/>
                    <a:pt x="1" y="0"/>
                    <a:pt x="3" y="0"/>
                  </a:cubicBezTo>
                  <a:cubicBezTo>
                    <a:pt x="24" y="0"/>
                    <a:pt x="24" y="0"/>
                    <a:pt x="24" y="0"/>
                  </a:cubicBezTo>
                  <a:cubicBezTo>
                    <a:pt x="25" y="0"/>
                    <a:pt x="26" y="1"/>
                    <a:pt x="26" y="2"/>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74" name="í$lîďé"/>
            <p:cNvSpPr/>
            <p:nvPr/>
          </p:nvSpPr>
          <p:spPr bwMode="auto">
            <a:xfrm>
              <a:off x="6084888" y="4213225"/>
              <a:ext cx="79375" cy="22225"/>
            </a:xfrm>
            <a:custGeom>
              <a:avLst/>
              <a:gdLst>
                <a:gd name="T0" fmla="*/ 24 w 26"/>
                <a:gd name="T1" fmla="*/ 7 h 7"/>
                <a:gd name="T2" fmla="*/ 3 w 26"/>
                <a:gd name="T3" fmla="*/ 7 h 7"/>
                <a:gd name="T4" fmla="*/ 0 w 26"/>
                <a:gd name="T5" fmla="*/ 5 h 7"/>
                <a:gd name="T6" fmla="*/ 0 w 26"/>
                <a:gd name="T7" fmla="*/ 2 h 7"/>
                <a:gd name="T8" fmla="*/ 3 w 26"/>
                <a:gd name="T9" fmla="*/ 0 h 7"/>
                <a:gd name="T10" fmla="*/ 24 w 26"/>
                <a:gd name="T11" fmla="*/ 0 h 7"/>
                <a:gd name="T12" fmla="*/ 26 w 26"/>
                <a:gd name="T13" fmla="*/ 2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2"/>
                    <a:pt x="0" y="2"/>
                    <a:pt x="0" y="2"/>
                  </a:cubicBezTo>
                  <a:cubicBezTo>
                    <a:pt x="0" y="1"/>
                    <a:pt x="1" y="0"/>
                    <a:pt x="3" y="0"/>
                  </a:cubicBezTo>
                  <a:cubicBezTo>
                    <a:pt x="24" y="0"/>
                    <a:pt x="24" y="0"/>
                    <a:pt x="24" y="0"/>
                  </a:cubicBezTo>
                  <a:cubicBezTo>
                    <a:pt x="25" y="0"/>
                    <a:pt x="26" y="1"/>
                    <a:pt x="26" y="2"/>
                  </a:cubicBezTo>
                  <a:cubicBezTo>
                    <a:pt x="26" y="5"/>
                    <a:pt x="26" y="5"/>
                    <a:pt x="26" y="5"/>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75" name="í$ḷídé"/>
            <p:cNvSpPr/>
            <p:nvPr/>
          </p:nvSpPr>
          <p:spPr bwMode="auto">
            <a:xfrm>
              <a:off x="6084888" y="4270375"/>
              <a:ext cx="79375" cy="22225"/>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76" name="íṩḷîḍe"/>
            <p:cNvSpPr/>
            <p:nvPr/>
          </p:nvSpPr>
          <p:spPr bwMode="auto">
            <a:xfrm>
              <a:off x="6084888" y="4270375"/>
              <a:ext cx="79375" cy="19050"/>
            </a:xfrm>
            <a:custGeom>
              <a:avLst/>
              <a:gdLst>
                <a:gd name="T0" fmla="*/ 24 w 26"/>
                <a:gd name="T1" fmla="*/ 6 h 6"/>
                <a:gd name="T2" fmla="*/ 3 w 26"/>
                <a:gd name="T3" fmla="*/ 6 h 6"/>
                <a:gd name="T4" fmla="*/ 0 w 26"/>
                <a:gd name="T5" fmla="*/ 4 h 6"/>
                <a:gd name="T6" fmla="*/ 0 w 26"/>
                <a:gd name="T7" fmla="*/ 2 h 6"/>
                <a:gd name="T8" fmla="*/ 3 w 26"/>
                <a:gd name="T9" fmla="*/ 0 h 6"/>
                <a:gd name="T10" fmla="*/ 24 w 26"/>
                <a:gd name="T11" fmla="*/ 0 h 6"/>
                <a:gd name="T12" fmla="*/ 26 w 26"/>
                <a:gd name="T13" fmla="*/ 2 h 6"/>
                <a:gd name="T14" fmla="*/ 26 w 26"/>
                <a:gd name="T15" fmla="*/ 4 h 6"/>
                <a:gd name="T16" fmla="*/ 24 w 26"/>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6">
                  <a:moveTo>
                    <a:pt x="24" y="6"/>
                  </a:moveTo>
                  <a:cubicBezTo>
                    <a:pt x="3" y="6"/>
                    <a:pt x="3" y="6"/>
                    <a:pt x="3" y="6"/>
                  </a:cubicBezTo>
                  <a:cubicBezTo>
                    <a:pt x="1" y="6"/>
                    <a:pt x="0" y="5"/>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5"/>
                    <a:pt x="25" y="6"/>
                    <a:pt x="24" y="6"/>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77" name="ïṧlïḓe"/>
            <p:cNvSpPr/>
            <p:nvPr/>
          </p:nvSpPr>
          <p:spPr bwMode="auto">
            <a:xfrm>
              <a:off x="6084888" y="4325938"/>
              <a:ext cx="79375" cy="20638"/>
            </a:xfrm>
            <a:custGeom>
              <a:avLst/>
              <a:gdLst>
                <a:gd name="T0" fmla="*/ 24 w 26"/>
                <a:gd name="T1" fmla="*/ 7 h 7"/>
                <a:gd name="T2" fmla="*/ 3 w 26"/>
                <a:gd name="T3" fmla="*/ 7 h 7"/>
                <a:gd name="T4" fmla="*/ 0 w 26"/>
                <a:gd name="T5" fmla="*/ 5 h 7"/>
                <a:gd name="T6" fmla="*/ 0 w 26"/>
                <a:gd name="T7" fmla="*/ 2 h 7"/>
                <a:gd name="T8" fmla="*/ 3 w 26"/>
                <a:gd name="T9" fmla="*/ 0 h 7"/>
                <a:gd name="T10" fmla="*/ 24 w 26"/>
                <a:gd name="T11" fmla="*/ 0 h 7"/>
                <a:gd name="T12" fmla="*/ 26 w 26"/>
                <a:gd name="T13" fmla="*/ 2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2"/>
                    <a:pt x="0" y="2"/>
                    <a:pt x="0" y="2"/>
                  </a:cubicBezTo>
                  <a:cubicBezTo>
                    <a:pt x="0" y="1"/>
                    <a:pt x="1" y="0"/>
                    <a:pt x="3" y="0"/>
                  </a:cubicBezTo>
                  <a:cubicBezTo>
                    <a:pt x="24" y="0"/>
                    <a:pt x="24" y="0"/>
                    <a:pt x="24" y="0"/>
                  </a:cubicBezTo>
                  <a:cubicBezTo>
                    <a:pt x="25" y="0"/>
                    <a:pt x="26" y="1"/>
                    <a:pt x="26" y="2"/>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78" name="íŝḷîḓé"/>
            <p:cNvSpPr/>
            <p:nvPr/>
          </p:nvSpPr>
          <p:spPr bwMode="auto">
            <a:xfrm>
              <a:off x="6084888" y="4325938"/>
              <a:ext cx="79375" cy="20638"/>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79" name="iṣľidê"/>
            <p:cNvSpPr/>
            <p:nvPr/>
          </p:nvSpPr>
          <p:spPr bwMode="auto">
            <a:xfrm>
              <a:off x="6084888" y="4379913"/>
              <a:ext cx="79375" cy="20638"/>
            </a:xfrm>
            <a:custGeom>
              <a:avLst/>
              <a:gdLst>
                <a:gd name="T0" fmla="*/ 24 w 26"/>
                <a:gd name="T1" fmla="*/ 7 h 7"/>
                <a:gd name="T2" fmla="*/ 3 w 26"/>
                <a:gd name="T3" fmla="*/ 7 h 7"/>
                <a:gd name="T4" fmla="*/ 0 w 26"/>
                <a:gd name="T5" fmla="*/ 5 h 7"/>
                <a:gd name="T6" fmla="*/ 0 w 26"/>
                <a:gd name="T7" fmla="*/ 3 h 7"/>
                <a:gd name="T8" fmla="*/ 3 w 26"/>
                <a:gd name="T9" fmla="*/ 0 h 7"/>
                <a:gd name="T10" fmla="*/ 24 w 26"/>
                <a:gd name="T11" fmla="*/ 0 h 7"/>
                <a:gd name="T12" fmla="*/ 26 w 26"/>
                <a:gd name="T13" fmla="*/ 3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3"/>
                    <a:pt x="0" y="3"/>
                    <a:pt x="0" y="3"/>
                  </a:cubicBezTo>
                  <a:cubicBezTo>
                    <a:pt x="0" y="1"/>
                    <a:pt x="1" y="0"/>
                    <a:pt x="3" y="0"/>
                  </a:cubicBezTo>
                  <a:cubicBezTo>
                    <a:pt x="24" y="0"/>
                    <a:pt x="24" y="0"/>
                    <a:pt x="24" y="0"/>
                  </a:cubicBezTo>
                  <a:cubicBezTo>
                    <a:pt x="25" y="0"/>
                    <a:pt x="26" y="1"/>
                    <a:pt x="26" y="3"/>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80" name="îṣḷîḍè"/>
            <p:cNvSpPr/>
            <p:nvPr/>
          </p:nvSpPr>
          <p:spPr bwMode="auto">
            <a:xfrm>
              <a:off x="6084888" y="4379913"/>
              <a:ext cx="79375" cy="20638"/>
            </a:xfrm>
            <a:custGeom>
              <a:avLst/>
              <a:gdLst>
                <a:gd name="T0" fmla="*/ 24 w 26"/>
                <a:gd name="T1" fmla="*/ 7 h 7"/>
                <a:gd name="T2" fmla="*/ 3 w 26"/>
                <a:gd name="T3" fmla="*/ 7 h 7"/>
                <a:gd name="T4" fmla="*/ 0 w 26"/>
                <a:gd name="T5" fmla="*/ 5 h 7"/>
                <a:gd name="T6" fmla="*/ 0 w 26"/>
                <a:gd name="T7" fmla="*/ 3 h 7"/>
                <a:gd name="T8" fmla="*/ 3 w 26"/>
                <a:gd name="T9" fmla="*/ 0 h 7"/>
                <a:gd name="T10" fmla="*/ 24 w 26"/>
                <a:gd name="T11" fmla="*/ 0 h 7"/>
                <a:gd name="T12" fmla="*/ 26 w 26"/>
                <a:gd name="T13" fmla="*/ 3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3"/>
                    <a:pt x="0" y="3"/>
                    <a:pt x="0" y="3"/>
                  </a:cubicBezTo>
                  <a:cubicBezTo>
                    <a:pt x="0" y="1"/>
                    <a:pt x="1" y="0"/>
                    <a:pt x="3" y="0"/>
                  </a:cubicBezTo>
                  <a:cubicBezTo>
                    <a:pt x="24" y="0"/>
                    <a:pt x="24" y="0"/>
                    <a:pt x="24" y="0"/>
                  </a:cubicBezTo>
                  <a:cubicBezTo>
                    <a:pt x="25" y="0"/>
                    <a:pt x="26" y="1"/>
                    <a:pt x="26" y="3"/>
                  </a:cubicBezTo>
                  <a:cubicBezTo>
                    <a:pt x="26" y="5"/>
                    <a:pt x="26" y="5"/>
                    <a:pt x="26" y="5"/>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81" name="ïṧlíḍê"/>
            <p:cNvSpPr/>
            <p:nvPr/>
          </p:nvSpPr>
          <p:spPr bwMode="auto">
            <a:xfrm>
              <a:off x="6084888" y="4437063"/>
              <a:ext cx="79375" cy="20638"/>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82" name="ïṣļîdè"/>
            <p:cNvSpPr/>
            <p:nvPr/>
          </p:nvSpPr>
          <p:spPr bwMode="auto">
            <a:xfrm>
              <a:off x="6084888" y="4437063"/>
              <a:ext cx="79375" cy="17463"/>
            </a:xfrm>
            <a:custGeom>
              <a:avLst/>
              <a:gdLst>
                <a:gd name="T0" fmla="*/ 24 w 26"/>
                <a:gd name="T1" fmla="*/ 6 h 6"/>
                <a:gd name="T2" fmla="*/ 3 w 26"/>
                <a:gd name="T3" fmla="*/ 6 h 6"/>
                <a:gd name="T4" fmla="*/ 0 w 26"/>
                <a:gd name="T5" fmla="*/ 4 h 6"/>
                <a:gd name="T6" fmla="*/ 0 w 26"/>
                <a:gd name="T7" fmla="*/ 2 h 6"/>
                <a:gd name="T8" fmla="*/ 3 w 26"/>
                <a:gd name="T9" fmla="*/ 0 h 6"/>
                <a:gd name="T10" fmla="*/ 24 w 26"/>
                <a:gd name="T11" fmla="*/ 0 h 6"/>
                <a:gd name="T12" fmla="*/ 26 w 26"/>
                <a:gd name="T13" fmla="*/ 2 h 6"/>
                <a:gd name="T14" fmla="*/ 26 w 26"/>
                <a:gd name="T15" fmla="*/ 4 h 6"/>
                <a:gd name="T16" fmla="*/ 24 w 26"/>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6">
                  <a:moveTo>
                    <a:pt x="24" y="6"/>
                  </a:moveTo>
                  <a:cubicBezTo>
                    <a:pt x="3" y="6"/>
                    <a:pt x="3" y="6"/>
                    <a:pt x="3" y="6"/>
                  </a:cubicBezTo>
                  <a:cubicBezTo>
                    <a:pt x="1" y="6"/>
                    <a:pt x="0" y="5"/>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5"/>
                    <a:pt x="25" y="6"/>
                    <a:pt x="24" y="6"/>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83" name="ïṩľidè"/>
            <p:cNvSpPr/>
            <p:nvPr/>
          </p:nvSpPr>
          <p:spPr bwMode="auto">
            <a:xfrm>
              <a:off x="6084888" y="4491038"/>
              <a:ext cx="79375" cy="20638"/>
            </a:xfrm>
            <a:custGeom>
              <a:avLst/>
              <a:gdLst>
                <a:gd name="T0" fmla="*/ 24 w 26"/>
                <a:gd name="T1" fmla="*/ 7 h 7"/>
                <a:gd name="T2" fmla="*/ 3 w 26"/>
                <a:gd name="T3" fmla="*/ 7 h 7"/>
                <a:gd name="T4" fmla="*/ 0 w 26"/>
                <a:gd name="T5" fmla="*/ 5 h 7"/>
                <a:gd name="T6" fmla="*/ 0 w 26"/>
                <a:gd name="T7" fmla="*/ 2 h 7"/>
                <a:gd name="T8" fmla="*/ 3 w 26"/>
                <a:gd name="T9" fmla="*/ 0 h 7"/>
                <a:gd name="T10" fmla="*/ 24 w 26"/>
                <a:gd name="T11" fmla="*/ 0 h 7"/>
                <a:gd name="T12" fmla="*/ 26 w 26"/>
                <a:gd name="T13" fmla="*/ 2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2"/>
                    <a:pt x="0" y="2"/>
                    <a:pt x="0" y="2"/>
                  </a:cubicBezTo>
                  <a:cubicBezTo>
                    <a:pt x="0" y="1"/>
                    <a:pt x="1" y="0"/>
                    <a:pt x="3" y="0"/>
                  </a:cubicBezTo>
                  <a:cubicBezTo>
                    <a:pt x="24" y="0"/>
                    <a:pt x="24" y="0"/>
                    <a:pt x="24" y="0"/>
                  </a:cubicBezTo>
                  <a:cubicBezTo>
                    <a:pt x="25" y="0"/>
                    <a:pt x="26" y="1"/>
                    <a:pt x="26" y="2"/>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84" name="ïšļiḋè"/>
            <p:cNvSpPr/>
            <p:nvPr/>
          </p:nvSpPr>
          <p:spPr bwMode="auto">
            <a:xfrm>
              <a:off x="6084888" y="4491038"/>
              <a:ext cx="79375" cy="20638"/>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85" name="iṩlïďé"/>
            <p:cNvSpPr/>
            <p:nvPr/>
          </p:nvSpPr>
          <p:spPr bwMode="auto">
            <a:xfrm>
              <a:off x="7080251" y="3660775"/>
              <a:ext cx="120650" cy="120650"/>
            </a:xfrm>
            <a:custGeom>
              <a:avLst/>
              <a:gdLst>
                <a:gd name="T0" fmla="*/ 20 w 40"/>
                <a:gd name="T1" fmla="*/ 40 h 40"/>
                <a:gd name="T2" fmla="*/ 0 w 40"/>
                <a:gd name="T3" fmla="*/ 20 h 40"/>
                <a:gd name="T4" fmla="*/ 20 w 40"/>
                <a:gd name="T5" fmla="*/ 0 h 40"/>
                <a:gd name="T6" fmla="*/ 40 w 40"/>
                <a:gd name="T7" fmla="*/ 20 h 40"/>
                <a:gd name="T8" fmla="*/ 20 w 40"/>
                <a:gd name="T9" fmla="*/ 40 h 40"/>
                <a:gd name="T10" fmla="*/ 20 w 40"/>
                <a:gd name="T11" fmla="*/ 6 h 40"/>
                <a:gd name="T12" fmla="*/ 6 w 40"/>
                <a:gd name="T13" fmla="*/ 20 h 40"/>
                <a:gd name="T14" fmla="*/ 20 w 40"/>
                <a:gd name="T15" fmla="*/ 34 h 40"/>
                <a:gd name="T16" fmla="*/ 34 w 40"/>
                <a:gd name="T17" fmla="*/ 20 h 40"/>
                <a:gd name="T18" fmla="*/ 20 w 40"/>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6"/>
                  </a:moveTo>
                  <a:cubicBezTo>
                    <a:pt x="12" y="6"/>
                    <a:pt x="6" y="12"/>
                    <a:pt x="6" y="20"/>
                  </a:cubicBezTo>
                  <a:cubicBezTo>
                    <a:pt x="6" y="28"/>
                    <a:pt x="12" y="34"/>
                    <a:pt x="20" y="34"/>
                  </a:cubicBezTo>
                  <a:cubicBezTo>
                    <a:pt x="28" y="34"/>
                    <a:pt x="34" y="28"/>
                    <a:pt x="34" y="20"/>
                  </a:cubicBezTo>
                  <a:cubicBezTo>
                    <a:pt x="34" y="12"/>
                    <a:pt x="28" y="6"/>
                    <a:pt x="20" y="6"/>
                  </a:cubicBezTo>
                  <a:close/>
                </a:path>
              </a:pathLst>
            </a:custGeom>
            <a:solidFill>
              <a:srgbClr val="34C6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86" name="í$lide"/>
            <p:cNvSpPr/>
            <p:nvPr/>
          </p:nvSpPr>
          <p:spPr bwMode="auto">
            <a:xfrm>
              <a:off x="6943726" y="3636963"/>
              <a:ext cx="196850" cy="215900"/>
            </a:xfrm>
            <a:custGeom>
              <a:avLst/>
              <a:gdLst>
                <a:gd name="T0" fmla="*/ 65 w 65"/>
                <a:gd name="T1" fmla="*/ 0 h 72"/>
                <a:gd name="T2" fmla="*/ 65 w 65"/>
                <a:gd name="T3" fmla="*/ 40 h 72"/>
                <a:gd name="T4" fmla="*/ 32 w 65"/>
                <a:gd name="T5" fmla="*/ 72 h 72"/>
                <a:gd name="T6" fmla="*/ 0 w 65"/>
                <a:gd name="T7" fmla="*/ 40 h 72"/>
                <a:gd name="T8" fmla="*/ 0 w 65"/>
                <a:gd name="T9" fmla="*/ 0 h 72"/>
                <a:gd name="T10" fmla="*/ 65 w 65"/>
                <a:gd name="T11" fmla="*/ 0 h 72"/>
              </a:gdLst>
              <a:ahLst/>
              <a:cxnLst>
                <a:cxn ang="0">
                  <a:pos x="T0" y="T1"/>
                </a:cxn>
                <a:cxn ang="0">
                  <a:pos x="T2" y="T3"/>
                </a:cxn>
                <a:cxn ang="0">
                  <a:pos x="T4" y="T5"/>
                </a:cxn>
                <a:cxn ang="0">
                  <a:pos x="T6" y="T7"/>
                </a:cxn>
                <a:cxn ang="0">
                  <a:pos x="T8" y="T9"/>
                </a:cxn>
                <a:cxn ang="0">
                  <a:pos x="T10" y="T11"/>
                </a:cxn>
              </a:cxnLst>
              <a:rect l="0" t="0" r="r" b="b"/>
              <a:pathLst>
                <a:path w="65" h="72">
                  <a:moveTo>
                    <a:pt x="65" y="0"/>
                  </a:moveTo>
                  <a:cubicBezTo>
                    <a:pt x="65" y="40"/>
                    <a:pt x="65" y="40"/>
                    <a:pt x="65" y="40"/>
                  </a:cubicBezTo>
                  <a:cubicBezTo>
                    <a:pt x="65" y="58"/>
                    <a:pt x="50" y="72"/>
                    <a:pt x="32" y="72"/>
                  </a:cubicBezTo>
                  <a:cubicBezTo>
                    <a:pt x="14" y="72"/>
                    <a:pt x="0" y="58"/>
                    <a:pt x="0" y="40"/>
                  </a:cubicBezTo>
                  <a:cubicBezTo>
                    <a:pt x="0" y="0"/>
                    <a:pt x="0" y="0"/>
                    <a:pt x="0" y="0"/>
                  </a:cubicBezTo>
                  <a:lnTo>
                    <a:pt x="65" y="0"/>
                  </a:ln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87" name="ïşlïḑe"/>
            <p:cNvSpPr/>
            <p:nvPr/>
          </p:nvSpPr>
          <p:spPr bwMode="auto">
            <a:xfrm>
              <a:off x="6940551" y="3841750"/>
              <a:ext cx="200025" cy="26988"/>
            </a:xfrm>
            <a:custGeom>
              <a:avLst/>
              <a:gdLst>
                <a:gd name="T0" fmla="*/ 62 w 66"/>
                <a:gd name="T1" fmla="*/ 9 h 9"/>
                <a:gd name="T2" fmla="*/ 4 w 66"/>
                <a:gd name="T3" fmla="*/ 9 h 9"/>
                <a:gd name="T4" fmla="*/ 0 w 66"/>
                <a:gd name="T5" fmla="*/ 5 h 9"/>
                <a:gd name="T6" fmla="*/ 0 w 66"/>
                <a:gd name="T7" fmla="*/ 3 h 9"/>
                <a:gd name="T8" fmla="*/ 4 w 66"/>
                <a:gd name="T9" fmla="*/ 0 h 9"/>
                <a:gd name="T10" fmla="*/ 62 w 66"/>
                <a:gd name="T11" fmla="*/ 0 h 9"/>
                <a:gd name="T12" fmla="*/ 66 w 66"/>
                <a:gd name="T13" fmla="*/ 3 h 9"/>
                <a:gd name="T14" fmla="*/ 66 w 66"/>
                <a:gd name="T15" fmla="*/ 5 h 9"/>
                <a:gd name="T16" fmla="*/ 62 w 66"/>
                <a:gd name="T17"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9">
                  <a:moveTo>
                    <a:pt x="62" y="9"/>
                  </a:moveTo>
                  <a:cubicBezTo>
                    <a:pt x="4" y="9"/>
                    <a:pt x="4" y="9"/>
                    <a:pt x="4" y="9"/>
                  </a:cubicBezTo>
                  <a:cubicBezTo>
                    <a:pt x="2" y="9"/>
                    <a:pt x="0" y="7"/>
                    <a:pt x="0" y="5"/>
                  </a:cubicBezTo>
                  <a:cubicBezTo>
                    <a:pt x="0" y="3"/>
                    <a:pt x="0" y="3"/>
                    <a:pt x="0" y="3"/>
                  </a:cubicBezTo>
                  <a:cubicBezTo>
                    <a:pt x="0" y="2"/>
                    <a:pt x="2" y="0"/>
                    <a:pt x="4" y="0"/>
                  </a:cubicBezTo>
                  <a:cubicBezTo>
                    <a:pt x="62" y="0"/>
                    <a:pt x="62" y="0"/>
                    <a:pt x="62" y="0"/>
                  </a:cubicBezTo>
                  <a:cubicBezTo>
                    <a:pt x="64" y="0"/>
                    <a:pt x="66" y="2"/>
                    <a:pt x="66" y="3"/>
                  </a:cubicBezTo>
                  <a:cubicBezTo>
                    <a:pt x="66" y="5"/>
                    <a:pt x="66" y="5"/>
                    <a:pt x="66" y="5"/>
                  </a:cubicBezTo>
                  <a:cubicBezTo>
                    <a:pt x="66" y="7"/>
                    <a:pt x="64" y="9"/>
                    <a:pt x="62" y="9"/>
                  </a:cubicBezTo>
                  <a:close/>
                </a:path>
              </a:pathLst>
            </a:custGeom>
            <a:solidFill>
              <a:srgbClr val="34C6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88" name="ïṥľidé"/>
            <p:cNvSpPr/>
            <p:nvPr/>
          </p:nvSpPr>
          <p:spPr bwMode="auto">
            <a:xfrm>
              <a:off x="4195763" y="1298575"/>
              <a:ext cx="1301750" cy="449263"/>
            </a:xfrm>
            <a:custGeom>
              <a:avLst/>
              <a:gdLst>
                <a:gd name="T0" fmla="*/ 430 w 432"/>
                <a:gd name="T1" fmla="*/ 149 h 149"/>
                <a:gd name="T2" fmla="*/ 2 w 432"/>
                <a:gd name="T3" fmla="*/ 149 h 149"/>
                <a:gd name="T4" fmla="*/ 1 w 432"/>
                <a:gd name="T5" fmla="*/ 147 h 149"/>
                <a:gd name="T6" fmla="*/ 0 w 432"/>
                <a:gd name="T7" fmla="*/ 137 h 149"/>
                <a:gd name="T8" fmla="*/ 48 w 432"/>
                <a:gd name="T9" fmla="*/ 89 h 149"/>
                <a:gd name="T10" fmla="*/ 77 w 432"/>
                <a:gd name="T11" fmla="*/ 98 h 149"/>
                <a:gd name="T12" fmla="*/ 197 w 432"/>
                <a:gd name="T13" fmla="*/ 0 h 149"/>
                <a:gd name="T14" fmla="*/ 311 w 432"/>
                <a:gd name="T15" fmla="*/ 79 h 149"/>
                <a:gd name="T16" fmla="*/ 360 w 432"/>
                <a:gd name="T17" fmla="*/ 60 h 149"/>
                <a:gd name="T18" fmla="*/ 432 w 432"/>
                <a:gd name="T19" fmla="*/ 132 h 149"/>
                <a:gd name="T20" fmla="*/ 431 w 432"/>
                <a:gd name="T21" fmla="*/ 147 h 149"/>
                <a:gd name="T22" fmla="*/ 430 w 432"/>
                <a:gd name="T23" fmla="*/ 149 h 149"/>
                <a:gd name="T24" fmla="*/ 6 w 432"/>
                <a:gd name="T25" fmla="*/ 144 h 149"/>
                <a:gd name="T26" fmla="*/ 426 w 432"/>
                <a:gd name="T27" fmla="*/ 144 h 149"/>
                <a:gd name="T28" fmla="*/ 427 w 432"/>
                <a:gd name="T29" fmla="*/ 132 h 149"/>
                <a:gd name="T30" fmla="*/ 360 w 432"/>
                <a:gd name="T31" fmla="*/ 65 h 149"/>
                <a:gd name="T32" fmla="*/ 312 w 432"/>
                <a:gd name="T33" fmla="*/ 85 h 149"/>
                <a:gd name="T34" fmla="*/ 309 w 432"/>
                <a:gd name="T35" fmla="*/ 88 h 149"/>
                <a:gd name="T36" fmla="*/ 308 w 432"/>
                <a:gd name="T37" fmla="*/ 84 h 149"/>
                <a:gd name="T38" fmla="*/ 197 w 432"/>
                <a:gd name="T39" fmla="*/ 5 h 149"/>
                <a:gd name="T40" fmla="*/ 81 w 432"/>
                <a:gd name="T41" fmla="*/ 103 h 149"/>
                <a:gd name="T42" fmla="*/ 80 w 432"/>
                <a:gd name="T43" fmla="*/ 107 h 149"/>
                <a:gd name="T44" fmla="*/ 77 w 432"/>
                <a:gd name="T45" fmla="*/ 104 h 149"/>
                <a:gd name="T46" fmla="*/ 48 w 432"/>
                <a:gd name="T47" fmla="*/ 94 h 149"/>
                <a:gd name="T48" fmla="*/ 5 w 432"/>
                <a:gd name="T49" fmla="*/ 137 h 149"/>
                <a:gd name="T50" fmla="*/ 6 w 432"/>
                <a:gd name="T51" fmla="*/ 14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32" h="149">
                  <a:moveTo>
                    <a:pt x="430" y="149"/>
                  </a:moveTo>
                  <a:cubicBezTo>
                    <a:pt x="2" y="149"/>
                    <a:pt x="2" y="149"/>
                    <a:pt x="2" y="149"/>
                  </a:cubicBezTo>
                  <a:cubicBezTo>
                    <a:pt x="1" y="147"/>
                    <a:pt x="1" y="147"/>
                    <a:pt x="1" y="147"/>
                  </a:cubicBezTo>
                  <a:cubicBezTo>
                    <a:pt x="1" y="144"/>
                    <a:pt x="0" y="140"/>
                    <a:pt x="0" y="137"/>
                  </a:cubicBezTo>
                  <a:cubicBezTo>
                    <a:pt x="0" y="111"/>
                    <a:pt x="22" y="89"/>
                    <a:pt x="48" y="89"/>
                  </a:cubicBezTo>
                  <a:cubicBezTo>
                    <a:pt x="59" y="89"/>
                    <a:pt x="68" y="92"/>
                    <a:pt x="77" y="98"/>
                  </a:cubicBezTo>
                  <a:cubicBezTo>
                    <a:pt x="88" y="41"/>
                    <a:pt x="138" y="0"/>
                    <a:pt x="197" y="0"/>
                  </a:cubicBezTo>
                  <a:cubicBezTo>
                    <a:pt x="248" y="0"/>
                    <a:pt x="293" y="32"/>
                    <a:pt x="311" y="79"/>
                  </a:cubicBezTo>
                  <a:cubicBezTo>
                    <a:pt x="325" y="67"/>
                    <a:pt x="342" y="60"/>
                    <a:pt x="360" y="60"/>
                  </a:cubicBezTo>
                  <a:cubicBezTo>
                    <a:pt x="400" y="60"/>
                    <a:pt x="432" y="93"/>
                    <a:pt x="432" y="132"/>
                  </a:cubicBezTo>
                  <a:cubicBezTo>
                    <a:pt x="432" y="137"/>
                    <a:pt x="432" y="142"/>
                    <a:pt x="431" y="147"/>
                  </a:cubicBezTo>
                  <a:cubicBezTo>
                    <a:pt x="430" y="149"/>
                    <a:pt x="430" y="149"/>
                    <a:pt x="430" y="149"/>
                  </a:cubicBezTo>
                  <a:moveTo>
                    <a:pt x="6" y="144"/>
                  </a:moveTo>
                  <a:cubicBezTo>
                    <a:pt x="426" y="144"/>
                    <a:pt x="426" y="144"/>
                    <a:pt x="426" y="144"/>
                  </a:cubicBezTo>
                  <a:cubicBezTo>
                    <a:pt x="427" y="140"/>
                    <a:pt x="427" y="136"/>
                    <a:pt x="427" y="132"/>
                  </a:cubicBezTo>
                  <a:cubicBezTo>
                    <a:pt x="427" y="95"/>
                    <a:pt x="397" y="65"/>
                    <a:pt x="360" y="65"/>
                  </a:cubicBezTo>
                  <a:cubicBezTo>
                    <a:pt x="342" y="65"/>
                    <a:pt x="325" y="72"/>
                    <a:pt x="312" y="85"/>
                  </a:cubicBezTo>
                  <a:cubicBezTo>
                    <a:pt x="309" y="88"/>
                    <a:pt x="309" y="88"/>
                    <a:pt x="309" y="88"/>
                  </a:cubicBezTo>
                  <a:cubicBezTo>
                    <a:pt x="308" y="84"/>
                    <a:pt x="308" y="84"/>
                    <a:pt x="308" y="84"/>
                  </a:cubicBezTo>
                  <a:cubicBezTo>
                    <a:pt x="292" y="37"/>
                    <a:pt x="247" y="5"/>
                    <a:pt x="197" y="5"/>
                  </a:cubicBezTo>
                  <a:cubicBezTo>
                    <a:pt x="139" y="5"/>
                    <a:pt x="90" y="46"/>
                    <a:pt x="81" y="103"/>
                  </a:cubicBezTo>
                  <a:cubicBezTo>
                    <a:pt x="80" y="107"/>
                    <a:pt x="80" y="107"/>
                    <a:pt x="80" y="107"/>
                  </a:cubicBezTo>
                  <a:cubicBezTo>
                    <a:pt x="77" y="104"/>
                    <a:pt x="77" y="104"/>
                    <a:pt x="77" y="104"/>
                  </a:cubicBezTo>
                  <a:cubicBezTo>
                    <a:pt x="69" y="98"/>
                    <a:pt x="59" y="94"/>
                    <a:pt x="48" y="94"/>
                  </a:cubicBezTo>
                  <a:cubicBezTo>
                    <a:pt x="25" y="94"/>
                    <a:pt x="5" y="113"/>
                    <a:pt x="5" y="137"/>
                  </a:cubicBezTo>
                  <a:cubicBezTo>
                    <a:pt x="5" y="139"/>
                    <a:pt x="5" y="142"/>
                    <a:pt x="6" y="144"/>
                  </a:cubicBezTo>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89" name="íṥľíḓé"/>
            <p:cNvSpPr/>
            <p:nvPr/>
          </p:nvSpPr>
          <p:spPr bwMode="auto">
            <a:xfrm>
              <a:off x="4656138" y="1408113"/>
              <a:ext cx="290513" cy="269875"/>
            </a:xfrm>
            <a:custGeom>
              <a:avLst/>
              <a:gdLst>
                <a:gd name="T0" fmla="*/ 68 w 96"/>
                <a:gd name="T1" fmla="*/ 90 h 90"/>
                <a:gd name="T2" fmla="*/ 29 w 96"/>
                <a:gd name="T3" fmla="*/ 90 h 90"/>
                <a:gd name="T4" fmla="*/ 19 w 96"/>
                <a:gd name="T5" fmla="*/ 81 h 90"/>
                <a:gd name="T6" fmla="*/ 19 w 96"/>
                <a:gd name="T7" fmla="*/ 57 h 90"/>
                <a:gd name="T8" fmla="*/ 9 w 96"/>
                <a:gd name="T9" fmla="*/ 57 h 90"/>
                <a:gd name="T10" fmla="*/ 1 w 96"/>
                <a:gd name="T11" fmla="*/ 52 h 90"/>
                <a:gd name="T12" fmla="*/ 3 w 96"/>
                <a:gd name="T13" fmla="*/ 43 h 90"/>
                <a:gd name="T14" fmla="*/ 42 w 96"/>
                <a:gd name="T15" fmla="*/ 4 h 90"/>
                <a:gd name="T16" fmla="*/ 54 w 96"/>
                <a:gd name="T17" fmla="*/ 4 h 90"/>
                <a:gd name="T18" fmla="*/ 93 w 96"/>
                <a:gd name="T19" fmla="*/ 43 h 90"/>
                <a:gd name="T20" fmla="*/ 95 w 96"/>
                <a:gd name="T21" fmla="*/ 52 h 90"/>
                <a:gd name="T22" fmla="*/ 87 w 96"/>
                <a:gd name="T23" fmla="*/ 57 h 90"/>
                <a:gd name="T24" fmla="*/ 77 w 96"/>
                <a:gd name="T25" fmla="*/ 57 h 90"/>
                <a:gd name="T26" fmla="*/ 77 w 96"/>
                <a:gd name="T27" fmla="*/ 81 h 90"/>
                <a:gd name="T28" fmla="*/ 68 w 96"/>
                <a:gd name="T29" fmla="*/ 90 h 90"/>
                <a:gd name="T30" fmla="*/ 48 w 96"/>
                <a:gd name="T31" fmla="*/ 6 h 90"/>
                <a:gd name="T32" fmla="*/ 46 w 96"/>
                <a:gd name="T33" fmla="*/ 7 h 90"/>
                <a:gd name="T34" fmla="*/ 7 w 96"/>
                <a:gd name="T35" fmla="*/ 46 h 90"/>
                <a:gd name="T36" fmla="*/ 6 w 96"/>
                <a:gd name="T37" fmla="*/ 50 h 90"/>
                <a:gd name="T38" fmla="*/ 9 w 96"/>
                <a:gd name="T39" fmla="*/ 52 h 90"/>
                <a:gd name="T40" fmla="*/ 24 w 96"/>
                <a:gd name="T41" fmla="*/ 52 h 90"/>
                <a:gd name="T42" fmla="*/ 24 w 96"/>
                <a:gd name="T43" fmla="*/ 81 h 90"/>
                <a:gd name="T44" fmla="*/ 29 w 96"/>
                <a:gd name="T45" fmla="*/ 85 h 90"/>
                <a:gd name="T46" fmla="*/ 68 w 96"/>
                <a:gd name="T47" fmla="*/ 85 h 90"/>
                <a:gd name="T48" fmla="*/ 72 w 96"/>
                <a:gd name="T49" fmla="*/ 81 h 90"/>
                <a:gd name="T50" fmla="*/ 72 w 96"/>
                <a:gd name="T51" fmla="*/ 52 h 90"/>
                <a:gd name="T52" fmla="*/ 87 w 96"/>
                <a:gd name="T53" fmla="*/ 52 h 90"/>
                <a:gd name="T54" fmla="*/ 90 w 96"/>
                <a:gd name="T55" fmla="*/ 50 h 90"/>
                <a:gd name="T56" fmla="*/ 90 w 96"/>
                <a:gd name="T57" fmla="*/ 46 h 90"/>
                <a:gd name="T58" fmla="*/ 51 w 96"/>
                <a:gd name="T59" fmla="*/ 7 h 90"/>
                <a:gd name="T60" fmla="*/ 48 w 96"/>
                <a:gd name="T61" fmla="*/ 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6" h="90">
                  <a:moveTo>
                    <a:pt x="68" y="90"/>
                  </a:moveTo>
                  <a:cubicBezTo>
                    <a:pt x="29" y="90"/>
                    <a:pt x="29" y="90"/>
                    <a:pt x="29" y="90"/>
                  </a:cubicBezTo>
                  <a:cubicBezTo>
                    <a:pt x="24" y="90"/>
                    <a:pt x="19" y="86"/>
                    <a:pt x="19" y="81"/>
                  </a:cubicBezTo>
                  <a:cubicBezTo>
                    <a:pt x="19" y="57"/>
                    <a:pt x="19" y="57"/>
                    <a:pt x="19" y="57"/>
                  </a:cubicBezTo>
                  <a:cubicBezTo>
                    <a:pt x="9" y="57"/>
                    <a:pt x="9" y="57"/>
                    <a:pt x="9" y="57"/>
                  </a:cubicBezTo>
                  <a:cubicBezTo>
                    <a:pt x="6" y="57"/>
                    <a:pt x="3" y="55"/>
                    <a:pt x="1" y="52"/>
                  </a:cubicBezTo>
                  <a:cubicBezTo>
                    <a:pt x="0" y="49"/>
                    <a:pt x="1" y="45"/>
                    <a:pt x="3" y="43"/>
                  </a:cubicBezTo>
                  <a:cubicBezTo>
                    <a:pt x="42" y="4"/>
                    <a:pt x="42" y="4"/>
                    <a:pt x="42" y="4"/>
                  </a:cubicBezTo>
                  <a:cubicBezTo>
                    <a:pt x="45" y="0"/>
                    <a:pt x="51" y="0"/>
                    <a:pt x="54" y="4"/>
                  </a:cubicBezTo>
                  <a:cubicBezTo>
                    <a:pt x="93" y="43"/>
                    <a:pt x="93" y="43"/>
                    <a:pt x="93" y="43"/>
                  </a:cubicBezTo>
                  <a:cubicBezTo>
                    <a:pt x="96" y="45"/>
                    <a:pt x="96" y="49"/>
                    <a:pt x="95" y="52"/>
                  </a:cubicBezTo>
                  <a:cubicBezTo>
                    <a:pt x="94" y="55"/>
                    <a:pt x="91" y="57"/>
                    <a:pt x="87" y="57"/>
                  </a:cubicBezTo>
                  <a:cubicBezTo>
                    <a:pt x="77" y="57"/>
                    <a:pt x="77" y="57"/>
                    <a:pt x="77" y="57"/>
                  </a:cubicBezTo>
                  <a:cubicBezTo>
                    <a:pt x="77" y="81"/>
                    <a:pt x="77" y="81"/>
                    <a:pt x="77" y="81"/>
                  </a:cubicBezTo>
                  <a:cubicBezTo>
                    <a:pt x="77" y="86"/>
                    <a:pt x="73" y="90"/>
                    <a:pt x="68" y="90"/>
                  </a:cubicBezTo>
                  <a:moveTo>
                    <a:pt x="48" y="6"/>
                  </a:moveTo>
                  <a:cubicBezTo>
                    <a:pt x="47" y="6"/>
                    <a:pt x="46" y="6"/>
                    <a:pt x="46" y="7"/>
                  </a:cubicBezTo>
                  <a:cubicBezTo>
                    <a:pt x="7" y="46"/>
                    <a:pt x="7" y="46"/>
                    <a:pt x="7" y="46"/>
                  </a:cubicBezTo>
                  <a:cubicBezTo>
                    <a:pt x="5" y="47"/>
                    <a:pt x="5" y="49"/>
                    <a:pt x="6" y="50"/>
                  </a:cubicBezTo>
                  <a:cubicBezTo>
                    <a:pt x="6" y="51"/>
                    <a:pt x="8" y="52"/>
                    <a:pt x="9" y="52"/>
                  </a:cubicBezTo>
                  <a:cubicBezTo>
                    <a:pt x="24" y="52"/>
                    <a:pt x="24" y="52"/>
                    <a:pt x="24" y="52"/>
                  </a:cubicBezTo>
                  <a:cubicBezTo>
                    <a:pt x="24" y="81"/>
                    <a:pt x="24" y="81"/>
                    <a:pt x="24" y="81"/>
                  </a:cubicBezTo>
                  <a:cubicBezTo>
                    <a:pt x="24" y="83"/>
                    <a:pt x="26" y="85"/>
                    <a:pt x="29" y="85"/>
                  </a:cubicBezTo>
                  <a:cubicBezTo>
                    <a:pt x="68" y="85"/>
                    <a:pt x="68" y="85"/>
                    <a:pt x="68" y="85"/>
                  </a:cubicBezTo>
                  <a:cubicBezTo>
                    <a:pt x="70" y="85"/>
                    <a:pt x="72" y="83"/>
                    <a:pt x="72" y="81"/>
                  </a:cubicBezTo>
                  <a:cubicBezTo>
                    <a:pt x="72" y="52"/>
                    <a:pt x="72" y="52"/>
                    <a:pt x="72" y="52"/>
                  </a:cubicBezTo>
                  <a:cubicBezTo>
                    <a:pt x="87" y="52"/>
                    <a:pt x="87" y="52"/>
                    <a:pt x="87" y="52"/>
                  </a:cubicBezTo>
                  <a:cubicBezTo>
                    <a:pt x="89" y="52"/>
                    <a:pt x="90" y="51"/>
                    <a:pt x="90" y="50"/>
                  </a:cubicBezTo>
                  <a:cubicBezTo>
                    <a:pt x="91" y="49"/>
                    <a:pt x="91" y="47"/>
                    <a:pt x="90" y="46"/>
                  </a:cubicBezTo>
                  <a:cubicBezTo>
                    <a:pt x="51" y="7"/>
                    <a:pt x="51" y="7"/>
                    <a:pt x="51" y="7"/>
                  </a:cubicBezTo>
                  <a:cubicBezTo>
                    <a:pt x="50" y="6"/>
                    <a:pt x="49" y="6"/>
                    <a:pt x="48" y="6"/>
                  </a:cubicBezTo>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90" name="ïṣļïḋê"/>
            <p:cNvSpPr/>
            <p:nvPr/>
          </p:nvSpPr>
          <p:spPr bwMode="auto">
            <a:xfrm>
              <a:off x="6353176" y="1028700"/>
              <a:ext cx="533400" cy="184150"/>
            </a:xfrm>
            <a:custGeom>
              <a:avLst/>
              <a:gdLst>
                <a:gd name="T0" fmla="*/ 176 w 177"/>
                <a:gd name="T1" fmla="*/ 61 h 61"/>
                <a:gd name="T2" fmla="*/ 1 w 177"/>
                <a:gd name="T3" fmla="*/ 61 h 61"/>
                <a:gd name="T4" fmla="*/ 1 w 177"/>
                <a:gd name="T5" fmla="*/ 60 h 61"/>
                <a:gd name="T6" fmla="*/ 0 w 177"/>
                <a:gd name="T7" fmla="*/ 56 h 61"/>
                <a:gd name="T8" fmla="*/ 20 w 177"/>
                <a:gd name="T9" fmla="*/ 37 h 61"/>
                <a:gd name="T10" fmla="*/ 31 w 177"/>
                <a:gd name="T11" fmla="*/ 40 h 61"/>
                <a:gd name="T12" fmla="*/ 81 w 177"/>
                <a:gd name="T13" fmla="*/ 0 h 61"/>
                <a:gd name="T14" fmla="*/ 128 w 177"/>
                <a:gd name="T15" fmla="*/ 32 h 61"/>
                <a:gd name="T16" fmla="*/ 148 w 177"/>
                <a:gd name="T17" fmla="*/ 25 h 61"/>
                <a:gd name="T18" fmla="*/ 177 w 177"/>
                <a:gd name="T19" fmla="*/ 54 h 61"/>
                <a:gd name="T20" fmla="*/ 177 w 177"/>
                <a:gd name="T21" fmla="*/ 60 h 61"/>
                <a:gd name="T22" fmla="*/ 176 w 177"/>
                <a:gd name="T23" fmla="*/ 61 h 61"/>
                <a:gd name="T24" fmla="*/ 2 w 177"/>
                <a:gd name="T25" fmla="*/ 59 h 61"/>
                <a:gd name="T26" fmla="*/ 175 w 177"/>
                <a:gd name="T27" fmla="*/ 59 h 61"/>
                <a:gd name="T28" fmla="*/ 175 w 177"/>
                <a:gd name="T29" fmla="*/ 54 h 61"/>
                <a:gd name="T30" fmla="*/ 148 w 177"/>
                <a:gd name="T31" fmla="*/ 27 h 61"/>
                <a:gd name="T32" fmla="*/ 128 w 177"/>
                <a:gd name="T33" fmla="*/ 35 h 61"/>
                <a:gd name="T34" fmla="*/ 127 w 177"/>
                <a:gd name="T35" fmla="*/ 36 h 61"/>
                <a:gd name="T36" fmla="*/ 126 w 177"/>
                <a:gd name="T37" fmla="*/ 35 h 61"/>
                <a:gd name="T38" fmla="*/ 81 w 177"/>
                <a:gd name="T39" fmla="*/ 2 h 61"/>
                <a:gd name="T40" fmla="*/ 33 w 177"/>
                <a:gd name="T41" fmla="*/ 42 h 61"/>
                <a:gd name="T42" fmla="*/ 33 w 177"/>
                <a:gd name="T43" fmla="*/ 44 h 61"/>
                <a:gd name="T44" fmla="*/ 31 w 177"/>
                <a:gd name="T45" fmla="*/ 43 h 61"/>
                <a:gd name="T46" fmla="*/ 20 w 177"/>
                <a:gd name="T47" fmla="*/ 38 h 61"/>
                <a:gd name="T48" fmla="*/ 2 w 177"/>
                <a:gd name="T49" fmla="*/ 56 h 61"/>
                <a:gd name="T50" fmla="*/ 2 w 177"/>
                <a:gd name="T51" fmla="*/ 5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7" h="61">
                  <a:moveTo>
                    <a:pt x="176" y="61"/>
                  </a:moveTo>
                  <a:cubicBezTo>
                    <a:pt x="1" y="61"/>
                    <a:pt x="1" y="61"/>
                    <a:pt x="1" y="61"/>
                  </a:cubicBezTo>
                  <a:cubicBezTo>
                    <a:pt x="1" y="60"/>
                    <a:pt x="1" y="60"/>
                    <a:pt x="1" y="60"/>
                  </a:cubicBezTo>
                  <a:cubicBezTo>
                    <a:pt x="0" y="59"/>
                    <a:pt x="0" y="58"/>
                    <a:pt x="0" y="56"/>
                  </a:cubicBezTo>
                  <a:cubicBezTo>
                    <a:pt x="0" y="45"/>
                    <a:pt x="9" y="37"/>
                    <a:pt x="20" y="37"/>
                  </a:cubicBezTo>
                  <a:cubicBezTo>
                    <a:pt x="24" y="37"/>
                    <a:pt x="28" y="38"/>
                    <a:pt x="31" y="40"/>
                  </a:cubicBezTo>
                  <a:cubicBezTo>
                    <a:pt x="36" y="17"/>
                    <a:pt x="57" y="0"/>
                    <a:pt x="81" y="0"/>
                  </a:cubicBezTo>
                  <a:cubicBezTo>
                    <a:pt x="102" y="0"/>
                    <a:pt x="120" y="13"/>
                    <a:pt x="128" y="32"/>
                  </a:cubicBezTo>
                  <a:cubicBezTo>
                    <a:pt x="133" y="27"/>
                    <a:pt x="140" y="25"/>
                    <a:pt x="148" y="25"/>
                  </a:cubicBezTo>
                  <a:cubicBezTo>
                    <a:pt x="164" y="25"/>
                    <a:pt x="177" y="38"/>
                    <a:pt x="177" y="54"/>
                  </a:cubicBezTo>
                  <a:cubicBezTo>
                    <a:pt x="177" y="56"/>
                    <a:pt x="177" y="58"/>
                    <a:pt x="177" y="60"/>
                  </a:cubicBezTo>
                  <a:lnTo>
                    <a:pt x="176" y="61"/>
                  </a:lnTo>
                  <a:close/>
                  <a:moveTo>
                    <a:pt x="2" y="59"/>
                  </a:moveTo>
                  <a:cubicBezTo>
                    <a:pt x="175" y="59"/>
                    <a:pt x="175" y="59"/>
                    <a:pt x="175" y="59"/>
                  </a:cubicBezTo>
                  <a:cubicBezTo>
                    <a:pt x="175" y="57"/>
                    <a:pt x="175" y="56"/>
                    <a:pt x="175" y="54"/>
                  </a:cubicBezTo>
                  <a:cubicBezTo>
                    <a:pt x="175" y="39"/>
                    <a:pt x="163" y="27"/>
                    <a:pt x="148" y="27"/>
                  </a:cubicBezTo>
                  <a:cubicBezTo>
                    <a:pt x="140" y="27"/>
                    <a:pt x="133" y="30"/>
                    <a:pt x="128" y="35"/>
                  </a:cubicBezTo>
                  <a:cubicBezTo>
                    <a:pt x="127" y="36"/>
                    <a:pt x="127" y="36"/>
                    <a:pt x="127" y="36"/>
                  </a:cubicBezTo>
                  <a:cubicBezTo>
                    <a:pt x="126" y="35"/>
                    <a:pt x="126" y="35"/>
                    <a:pt x="126" y="35"/>
                  </a:cubicBezTo>
                  <a:cubicBezTo>
                    <a:pt x="120" y="15"/>
                    <a:pt x="101" y="2"/>
                    <a:pt x="81" y="2"/>
                  </a:cubicBezTo>
                  <a:cubicBezTo>
                    <a:pt x="57" y="2"/>
                    <a:pt x="37" y="19"/>
                    <a:pt x="33" y="42"/>
                  </a:cubicBezTo>
                  <a:cubicBezTo>
                    <a:pt x="33" y="44"/>
                    <a:pt x="33" y="44"/>
                    <a:pt x="33" y="44"/>
                  </a:cubicBezTo>
                  <a:cubicBezTo>
                    <a:pt x="31" y="43"/>
                    <a:pt x="31" y="43"/>
                    <a:pt x="31" y="43"/>
                  </a:cubicBezTo>
                  <a:cubicBezTo>
                    <a:pt x="28" y="40"/>
                    <a:pt x="24" y="38"/>
                    <a:pt x="20" y="38"/>
                  </a:cubicBezTo>
                  <a:cubicBezTo>
                    <a:pt x="10" y="38"/>
                    <a:pt x="2" y="46"/>
                    <a:pt x="2" y="56"/>
                  </a:cubicBezTo>
                  <a:cubicBezTo>
                    <a:pt x="2" y="57"/>
                    <a:pt x="2" y="58"/>
                    <a:pt x="2" y="59"/>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91" name="îsḷïḋê"/>
            <p:cNvSpPr/>
            <p:nvPr/>
          </p:nvSpPr>
          <p:spPr bwMode="auto">
            <a:xfrm>
              <a:off x="6543676" y="1073150"/>
              <a:ext cx="117475" cy="111125"/>
            </a:xfrm>
            <a:custGeom>
              <a:avLst/>
              <a:gdLst>
                <a:gd name="T0" fmla="*/ 27 w 39"/>
                <a:gd name="T1" fmla="*/ 37 h 37"/>
                <a:gd name="T2" fmla="*/ 12 w 39"/>
                <a:gd name="T3" fmla="*/ 37 h 37"/>
                <a:gd name="T4" fmla="*/ 8 w 39"/>
                <a:gd name="T5" fmla="*/ 33 h 37"/>
                <a:gd name="T6" fmla="*/ 8 w 39"/>
                <a:gd name="T7" fmla="*/ 23 h 37"/>
                <a:gd name="T8" fmla="*/ 4 w 39"/>
                <a:gd name="T9" fmla="*/ 23 h 37"/>
                <a:gd name="T10" fmla="*/ 0 w 39"/>
                <a:gd name="T11" fmla="*/ 21 h 37"/>
                <a:gd name="T12" fmla="*/ 1 w 39"/>
                <a:gd name="T13" fmla="*/ 17 h 37"/>
                <a:gd name="T14" fmla="*/ 17 w 39"/>
                <a:gd name="T15" fmla="*/ 1 h 37"/>
                <a:gd name="T16" fmla="*/ 22 w 39"/>
                <a:gd name="T17" fmla="*/ 1 h 37"/>
                <a:gd name="T18" fmla="*/ 38 w 39"/>
                <a:gd name="T19" fmla="*/ 17 h 37"/>
                <a:gd name="T20" fmla="*/ 39 w 39"/>
                <a:gd name="T21" fmla="*/ 21 h 37"/>
                <a:gd name="T22" fmla="*/ 35 w 39"/>
                <a:gd name="T23" fmla="*/ 23 h 37"/>
                <a:gd name="T24" fmla="*/ 31 w 39"/>
                <a:gd name="T25" fmla="*/ 23 h 37"/>
                <a:gd name="T26" fmla="*/ 31 w 39"/>
                <a:gd name="T27" fmla="*/ 33 h 37"/>
                <a:gd name="T28" fmla="*/ 27 w 39"/>
                <a:gd name="T29" fmla="*/ 37 h 37"/>
                <a:gd name="T30" fmla="*/ 19 w 39"/>
                <a:gd name="T31" fmla="*/ 2 h 37"/>
                <a:gd name="T32" fmla="*/ 18 w 39"/>
                <a:gd name="T33" fmla="*/ 3 h 37"/>
                <a:gd name="T34" fmla="*/ 2 w 39"/>
                <a:gd name="T35" fmla="*/ 19 h 37"/>
                <a:gd name="T36" fmla="*/ 2 w 39"/>
                <a:gd name="T37" fmla="*/ 20 h 37"/>
                <a:gd name="T38" fmla="*/ 4 w 39"/>
                <a:gd name="T39" fmla="*/ 21 h 37"/>
                <a:gd name="T40" fmla="*/ 10 w 39"/>
                <a:gd name="T41" fmla="*/ 21 h 37"/>
                <a:gd name="T42" fmla="*/ 10 w 39"/>
                <a:gd name="T43" fmla="*/ 33 h 37"/>
                <a:gd name="T44" fmla="*/ 12 w 39"/>
                <a:gd name="T45" fmla="*/ 35 h 37"/>
                <a:gd name="T46" fmla="*/ 27 w 39"/>
                <a:gd name="T47" fmla="*/ 35 h 37"/>
                <a:gd name="T48" fmla="*/ 29 w 39"/>
                <a:gd name="T49" fmla="*/ 33 h 37"/>
                <a:gd name="T50" fmla="*/ 29 w 39"/>
                <a:gd name="T51" fmla="*/ 21 h 37"/>
                <a:gd name="T52" fmla="*/ 35 w 39"/>
                <a:gd name="T53" fmla="*/ 21 h 37"/>
                <a:gd name="T54" fmla="*/ 37 w 39"/>
                <a:gd name="T55" fmla="*/ 20 h 37"/>
                <a:gd name="T56" fmla="*/ 37 w 39"/>
                <a:gd name="T57" fmla="*/ 19 h 37"/>
                <a:gd name="T58" fmla="*/ 21 w 39"/>
                <a:gd name="T59" fmla="*/ 3 h 37"/>
                <a:gd name="T60" fmla="*/ 19 w 39"/>
                <a:gd name="T61" fmla="*/ 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9" h="37">
                  <a:moveTo>
                    <a:pt x="27" y="37"/>
                  </a:moveTo>
                  <a:cubicBezTo>
                    <a:pt x="12" y="37"/>
                    <a:pt x="12" y="37"/>
                    <a:pt x="12" y="37"/>
                  </a:cubicBezTo>
                  <a:cubicBezTo>
                    <a:pt x="9" y="37"/>
                    <a:pt x="8" y="35"/>
                    <a:pt x="8" y="33"/>
                  </a:cubicBezTo>
                  <a:cubicBezTo>
                    <a:pt x="8" y="23"/>
                    <a:pt x="8" y="23"/>
                    <a:pt x="8" y="23"/>
                  </a:cubicBezTo>
                  <a:cubicBezTo>
                    <a:pt x="4" y="23"/>
                    <a:pt x="4" y="23"/>
                    <a:pt x="4" y="23"/>
                  </a:cubicBezTo>
                  <a:cubicBezTo>
                    <a:pt x="2" y="23"/>
                    <a:pt x="1" y="22"/>
                    <a:pt x="0" y="21"/>
                  </a:cubicBezTo>
                  <a:cubicBezTo>
                    <a:pt x="0" y="20"/>
                    <a:pt x="0" y="18"/>
                    <a:pt x="1" y="17"/>
                  </a:cubicBezTo>
                  <a:cubicBezTo>
                    <a:pt x="17" y="1"/>
                    <a:pt x="17" y="1"/>
                    <a:pt x="17" y="1"/>
                  </a:cubicBezTo>
                  <a:cubicBezTo>
                    <a:pt x="18" y="0"/>
                    <a:pt x="21" y="0"/>
                    <a:pt x="22" y="1"/>
                  </a:cubicBezTo>
                  <a:cubicBezTo>
                    <a:pt x="38" y="17"/>
                    <a:pt x="38" y="17"/>
                    <a:pt x="38" y="17"/>
                  </a:cubicBezTo>
                  <a:cubicBezTo>
                    <a:pt x="39" y="18"/>
                    <a:pt x="39" y="20"/>
                    <a:pt x="39" y="21"/>
                  </a:cubicBezTo>
                  <a:cubicBezTo>
                    <a:pt x="38" y="22"/>
                    <a:pt x="37" y="23"/>
                    <a:pt x="35" y="23"/>
                  </a:cubicBezTo>
                  <a:cubicBezTo>
                    <a:pt x="31" y="23"/>
                    <a:pt x="31" y="23"/>
                    <a:pt x="31" y="23"/>
                  </a:cubicBezTo>
                  <a:cubicBezTo>
                    <a:pt x="31" y="33"/>
                    <a:pt x="31" y="33"/>
                    <a:pt x="31" y="33"/>
                  </a:cubicBezTo>
                  <a:cubicBezTo>
                    <a:pt x="31" y="35"/>
                    <a:pt x="30" y="37"/>
                    <a:pt x="27" y="37"/>
                  </a:cubicBezTo>
                  <a:close/>
                  <a:moveTo>
                    <a:pt x="19" y="2"/>
                  </a:moveTo>
                  <a:cubicBezTo>
                    <a:pt x="19" y="2"/>
                    <a:pt x="19" y="2"/>
                    <a:pt x="18" y="3"/>
                  </a:cubicBezTo>
                  <a:cubicBezTo>
                    <a:pt x="2" y="19"/>
                    <a:pt x="2" y="19"/>
                    <a:pt x="2" y="19"/>
                  </a:cubicBezTo>
                  <a:cubicBezTo>
                    <a:pt x="2" y="19"/>
                    <a:pt x="2" y="20"/>
                    <a:pt x="2" y="20"/>
                  </a:cubicBezTo>
                  <a:cubicBezTo>
                    <a:pt x="2" y="21"/>
                    <a:pt x="3" y="21"/>
                    <a:pt x="4" y="21"/>
                  </a:cubicBezTo>
                  <a:cubicBezTo>
                    <a:pt x="10" y="21"/>
                    <a:pt x="10" y="21"/>
                    <a:pt x="10" y="21"/>
                  </a:cubicBezTo>
                  <a:cubicBezTo>
                    <a:pt x="10" y="33"/>
                    <a:pt x="10" y="33"/>
                    <a:pt x="10" y="33"/>
                  </a:cubicBezTo>
                  <a:cubicBezTo>
                    <a:pt x="10" y="34"/>
                    <a:pt x="11" y="35"/>
                    <a:pt x="12" y="35"/>
                  </a:cubicBezTo>
                  <a:cubicBezTo>
                    <a:pt x="27" y="35"/>
                    <a:pt x="27" y="35"/>
                    <a:pt x="27" y="35"/>
                  </a:cubicBezTo>
                  <a:cubicBezTo>
                    <a:pt x="28" y="35"/>
                    <a:pt x="29" y="34"/>
                    <a:pt x="29" y="33"/>
                  </a:cubicBezTo>
                  <a:cubicBezTo>
                    <a:pt x="29" y="21"/>
                    <a:pt x="29" y="21"/>
                    <a:pt x="29" y="21"/>
                  </a:cubicBezTo>
                  <a:cubicBezTo>
                    <a:pt x="35" y="21"/>
                    <a:pt x="35" y="21"/>
                    <a:pt x="35" y="21"/>
                  </a:cubicBezTo>
                  <a:cubicBezTo>
                    <a:pt x="36" y="21"/>
                    <a:pt x="37" y="21"/>
                    <a:pt x="37" y="20"/>
                  </a:cubicBezTo>
                  <a:cubicBezTo>
                    <a:pt x="37" y="20"/>
                    <a:pt x="37" y="19"/>
                    <a:pt x="37" y="19"/>
                  </a:cubicBezTo>
                  <a:cubicBezTo>
                    <a:pt x="21" y="3"/>
                    <a:pt x="21" y="3"/>
                    <a:pt x="21" y="3"/>
                  </a:cubicBezTo>
                  <a:cubicBezTo>
                    <a:pt x="20" y="2"/>
                    <a:pt x="20" y="2"/>
                    <a:pt x="19" y="2"/>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92" name="išľíḍe"/>
            <p:cNvSpPr/>
            <p:nvPr/>
          </p:nvSpPr>
          <p:spPr bwMode="auto">
            <a:xfrm>
              <a:off x="7064376" y="4067175"/>
              <a:ext cx="928688" cy="317500"/>
            </a:xfrm>
            <a:custGeom>
              <a:avLst/>
              <a:gdLst>
                <a:gd name="T0" fmla="*/ 307 w 308"/>
                <a:gd name="T1" fmla="*/ 106 h 106"/>
                <a:gd name="T2" fmla="*/ 1 w 308"/>
                <a:gd name="T3" fmla="*/ 106 h 106"/>
                <a:gd name="T4" fmla="*/ 1 w 308"/>
                <a:gd name="T5" fmla="*/ 104 h 106"/>
                <a:gd name="T6" fmla="*/ 0 w 308"/>
                <a:gd name="T7" fmla="*/ 98 h 106"/>
                <a:gd name="T8" fmla="*/ 34 w 308"/>
                <a:gd name="T9" fmla="*/ 63 h 106"/>
                <a:gd name="T10" fmla="*/ 54 w 308"/>
                <a:gd name="T11" fmla="*/ 70 h 106"/>
                <a:gd name="T12" fmla="*/ 140 w 308"/>
                <a:gd name="T13" fmla="*/ 0 h 106"/>
                <a:gd name="T14" fmla="*/ 222 w 308"/>
                <a:gd name="T15" fmla="*/ 56 h 106"/>
                <a:gd name="T16" fmla="*/ 257 w 308"/>
                <a:gd name="T17" fmla="*/ 43 h 106"/>
                <a:gd name="T18" fmla="*/ 308 w 308"/>
                <a:gd name="T19" fmla="*/ 94 h 106"/>
                <a:gd name="T20" fmla="*/ 307 w 308"/>
                <a:gd name="T21" fmla="*/ 104 h 106"/>
                <a:gd name="T22" fmla="*/ 307 w 308"/>
                <a:gd name="T23" fmla="*/ 106 h 106"/>
                <a:gd name="T24" fmla="*/ 4 w 308"/>
                <a:gd name="T25" fmla="*/ 102 h 106"/>
                <a:gd name="T26" fmla="*/ 304 w 308"/>
                <a:gd name="T27" fmla="*/ 102 h 106"/>
                <a:gd name="T28" fmla="*/ 304 w 308"/>
                <a:gd name="T29" fmla="*/ 94 h 106"/>
                <a:gd name="T30" fmla="*/ 257 w 308"/>
                <a:gd name="T31" fmla="*/ 46 h 106"/>
                <a:gd name="T32" fmla="*/ 222 w 308"/>
                <a:gd name="T33" fmla="*/ 60 h 106"/>
                <a:gd name="T34" fmla="*/ 220 w 308"/>
                <a:gd name="T35" fmla="*/ 62 h 106"/>
                <a:gd name="T36" fmla="*/ 220 w 308"/>
                <a:gd name="T37" fmla="*/ 60 h 106"/>
                <a:gd name="T38" fmla="*/ 140 w 308"/>
                <a:gd name="T39" fmla="*/ 3 h 106"/>
                <a:gd name="T40" fmla="*/ 57 w 308"/>
                <a:gd name="T41" fmla="*/ 73 h 106"/>
                <a:gd name="T42" fmla="*/ 57 w 308"/>
                <a:gd name="T43" fmla="*/ 76 h 106"/>
                <a:gd name="T44" fmla="*/ 55 w 308"/>
                <a:gd name="T45" fmla="*/ 74 h 106"/>
                <a:gd name="T46" fmla="*/ 34 w 308"/>
                <a:gd name="T47" fmla="*/ 67 h 106"/>
                <a:gd name="T48" fmla="*/ 3 w 308"/>
                <a:gd name="T49" fmla="*/ 98 h 106"/>
                <a:gd name="T50" fmla="*/ 4 w 308"/>
                <a:gd name="T51" fmla="*/ 102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8" h="106">
                  <a:moveTo>
                    <a:pt x="307" y="106"/>
                  </a:moveTo>
                  <a:cubicBezTo>
                    <a:pt x="1" y="106"/>
                    <a:pt x="1" y="106"/>
                    <a:pt x="1" y="106"/>
                  </a:cubicBezTo>
                  <a:cubicBezTo>
                    <a:pt x="1" y="104"/>
                    <a:pt x="1" y="104"/>
                    <a:pt x="1" y="104"/>
                  </a:cubicBezTo>
                  <a:cubicBezTo>
                    <a:pt x="0" y="102"/>
                    <a:pt x="0" y="100"/>
                    <a:pt x="0" y="98"/>
                  </a:cubicBezTo>
                  <a:cubicBezTo>
                    <a:pt x="0" y="79"/>
                    <a:pt x="15" y="63"/>
                    <a:pt x="34" y="63"/>
                  </a:cubicBezTo>
                  <a:cubicBezTo>
                    <a:pt x="42" y="63"/>
                    <a:pt x="49" y="65"/>
                    <a:pt x="54" y="70"/>
                  </a:cubicBezTo>
                  <a:cubicBezTo>
                    <a:pt x="63" y="29"/>
                    <a:pt x="98" y="0"/>
                    <a:pt x="140" y="0"/>
                  </a:cubicBezTo>
                  <a:cubicBezTo>
                    <a:pt x="177" y="0"/>
                    <a:pt x="209" y="22"/>
                    <a:pt x="222" y="56"/>
                  </a:cubicBezTo>
                  <a:cubicBezTo>
                    <a:pt x="231" y="47"/>
                    <a:pt x="244" y="43"/>
                    <a:pt x="257" y="43"/>
                  </a:cubicBezTo>
                  <a:cubicBezTo>
                    <a:pt x="285" y="43"/>
                    <a:pt x="308" y="66"/>
                    <a:pt x="308" y="94"/>
                  </a:cubicBezTo>
                  <a:cubicBezTo>
                    <a:pt x="308" y="98"/>
                    <a:pt x="308" y="101"/>
                    <a:pt x="307" y="104"/>
                  </a:cubicBezTo>
                  <a:lnTo>
                    <a:pt x="307" y="106"/>
                  </a:lnTo>
                  <a:close/>
                  <a:moveTo>
                    <a:pt x="4" y="102"/>
                  </a:moveTo>
                  <a:cubicBezTo>
                    <a:pt x="304" y="102"/>
                    <a:pt x="304" y="102"/>
                    <a:pt x="304" y="102"/>
                  </a:cubicBezTo>
                  <a:cubicBezTo>
                    <a:pt x="304" y="100"/>
                    <a:pt x="304" y="97"/>
                    <a:pt x="304" y="94"/>
                  </a:cubicBezTo>
                  <a:cubicBezTo>
                    <a:pt x="304" y="68"/>
                    <a:pt x="283" y="46"/>
                    <a:pt x="257" y="46"/>
                  </a:cubicBezTo>
                  <a:cubicBezTo>
                    <a:pt x="244" y="46"/>
                    <a:pt x="231" y="51"/>
                    <a:pt x="222" y="60"/>
                  </a:cubicBezTo>
                  <a:cubicBezTo>
                    <a:pt x="220" y="62"/>
                    <a:pt x="220" y="62"/>
                    <a:pt x="220" y="62"/>
                  </a:cubicBezTo>
                  <a:cubicBezTo>
                    <a:pt x="220" y="60"/>
                    <a:pt x="220" y="60"/>
                    <a:pt x="220" y="60"/>
                  </a:cubicBezTo>
                  <a:cubicBezTo>
                    <a:pt x="208" y="26"/>
                    <a:pt x="176" y="3"/>
                    <a:pt x="140" y="3"/>
                  </a:cubicBezTo>
                  <a:cubicBezTo>
                    <a:pt x="99" y="3"/>
                    <a:pt x="64" y="32"/>
                    <a:pt x="57" y="73"/>
                  </a:cubicBezTo>
                  <a:cubicBezTo>
                    <a:pt x="57" y="76"/>
                    <a:pt x="57" y="76"/>
                    <a:pt x="57" y="76"/>
                  </a:cubicBezTo>
                  <a:cubicBezTo>
                    <a:pt x="55" y="74"/>
                    <a:pt x="55" y="74"/>
                    <a:pt x="55" y="74"/>
                  </a:cubicBezTo>
                  <a:cubicBezTo>
                    <a:pt x="49" y="69"/>
                    <a:pt x="42" y="67"/>
                    <a:pt x="34" y="67"/>
                  </a:cubicBezTo>
                  <a:cubicBezTo>
                    <a:pt x="17" y="67"/>
                    <a:pt x="3" y="80"/>
                    <a:pt x="3" y="98"/>
                  </a:cubicBezTo>
                  <a:cubicBezTo>
                    <a:pt x="3" y="99"/>
                    <a:pt x="4" y="101"/>
                    <a:pt x="4" y="102"/>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93" name="ïsľíḋé"/>
            <p:cNvSpPr/>
            <p:nvPr/>
          </p:nvSpPr>
          <p:spPr bwMode="auto">
            <a:xfrm>
              <a:off x="7392988" y="4144963"/>
              <a:ext cx="207963" cy="192088"/>
            </a:xfrm>
            <a:custGeom>
              <a:avLst/>
              <a:gdLst>
                <a:gd name="T0" fmla="*/ 48 w 69"/>
                <a:gd name="T1" fmla="*/ 64 h 64"/>
                <a:gd name="T2" fmla="*/ 20 w 69"/>
                <a:gd name="T3" fmla="*/ 64 h 64"/>
                <a:gd name="T4" fmla="*/ 14 w 69"/>
                <a:gd name="T5" fmla="*/ 57 h 64"/>
                <a:gd name="T6" fmla="*/ 14 w 69"/>
                <a:gd name="T7" fmla="*/ 40 h 64"/>
                <a:gd name="T8" fmla="*/ 6 w 69"/>
                <a:gd name="T9" fmla="*/ 40 h 64"/>
                <a:gd name="T10" fmla="*/ 1 w 69"/>
                <a:gd name="T11" fmla="*/ 36 h 64"/>
                <a:gd name="T12" fmla="*/ 2 w 69"/>
                <a:gd name="T13" fmla="*/ 30 h 64"/>
                <a:gd name="T14" fmla="*/ 30 w 69"/>
                <a:gd name="T15" fmla="*/ 2 h 64"/>
                <a:gd name="T16" fmla="*/ 39 w 69"/>
                <a:gd name="T17" fmla="*/ 2 h 64"/>
                <a:gd name="T18" fmla="*/ 66 w 69"/>
                <a:gd name="T19" fmla="*/ 30 h 64"/>
                <a:gd name="T20" fmla="*/ 68 w 69"/>
                <a:gd name="T21" fmla="*/ 36 h 64"/>
                <a:gd name="T22" fmla="*/ 62 w 69"/>
                <a:gd name="T23" fmla="*/ 40 h 64"/>
                <a:gd name="T24" fmla="*/ 55 w 69"/>
                <a:gd name="T25" fmla="*/ 40 h 64"/>
                <a:gd name="T26" fmla="*/ 55 w 69"/>
                <a:gd name="T27" fmla="*/ 57 h 64"/>
                <a:gd name="T28" fmla="*/ 48 w 69"/>
                <a:gd name="T29" fmla="*/ 64 h 64"/>
                <a:gd name="T30" fmla="*/ 34 w 69"/>
                <a:gd name="T31" fmla="*/ 4 h 64"/>
                <a:gd name="T32" fmla="*/ 32 w 69"/>
                <a:gd name="T33" fmla="*/ 4 h 64"/>
                <a:gd name="T34" fmla="*/ 5 w 69"/>
                <a:gd name="T35" fmla="*/ 32 h 64"/>
                <a:gd name="T36" fmla="*/ 4 w 69"/>
                <a:gd name="T37" fmla="*/ 35 h 64"/>
                <a:gd name="T38" fmla="*/ 6 w 69"/>
                <a:gd name="T39" fmla="*/ 37 h 64"/>
                <a:gd name="T40" fmla="*/ 17 w 69"/>
                <a:gd name="T41" fmla="*/ 37 h 64"/>
                <a:gd name="T42" fmla="*/ 17 w 69"/>
                <a:gd name="T43" fmla="*/ 57 h 64"/>
                <a:gd name="T44" fmla="*/ 20 w 69"/>
                <a:gd name="T45" fmla="*/ 60 h 64"/>
                <a:gd name="T46" fmla="*/ 48 w 69"/>
                <a:gd name="T47" fmla="*/ 60 h 64"/>
                <a:gd name="T48" fmla="*/ 51 w 69"/>
                <a:gd name="T49" fmla="*/ 57 h 64"/>
                <a:gd name="T50" fmla="*/ 51 w 69"/>
                <a:gd name="T51" fmla="*/ 37 h 64"/>
                <a:gd name="T52" fmla="*/ 62 w 69"/>
                <a:gd name="T53" fmla="*/ 37 h 64"/>
                <a:gd name="T54" fmla="*/ 64 w 69"/>
                <a:gd name="T55" fmla="*/ 35 h 64"/>
                <a:gd name="T56" fmla="*/ 64 w 69"/>
                <a:gd name="T57" fmla="*/ 32 h 64"/>
                <a:gd name="T58" fmla="*/ 36 w 69"/>
                <a:gd name="T59" fmla="*/ 4 h 64"/>
                <a:gd name="T60" fmla="*/ 34 w 69"/>
                <a:gd name="T61"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9" h="64">
                  <a:moveTo>
                    <a:pt x="48" y="64"/>
                  </a:moveTo>
                  <a:cubicBezTo>
                    <a:pt x="20" y="64"/>
                    <a:pt x="20" y="64"/>
                    <a:pt x="20" y="64"/>
                  </a:cubicBezTo>
                  <a:cubicBezTo>
                    <a:pt x="17" y="64"/>
                    <a:pt x="14" y="61"/>
                    <a:pt x="14" y="57"/>
                  </a:cubicBezTo>
                  <a:cubicBezTo>
                    <a:pt x="14" y="40"/>
                    <a:pt x="14" y="40"/>
                    <a:pt x="14" y="40"/>
                  </a:cubicBezTo>
                  <a:cubicBezTo>
                    <a:pt x="6" y="40"/>
                    <a:pt x="6" y="40"/>
                    <a:pt x="6" y="40"/>
                  </a:cubicBezTo>
                  <a:cubicBezTo>
                    <a:pt x="4" y="40"/>
                    <a:pt x="2" y="39"/>
                    <a:pt x="1" y="36"/>
                  </a:cubicBezTo>
                  <a:cubicBezTo>
                    <a:pt x="0" y="34"/>
                    <a:pt x="0" y="31"/>
                    <a:pt x="2" y="30"/>
                  </a:cubicBezTo>
                  <a:cubicBezTo>
                    <a:pt x="30" y="2"/>
                    <a:pt x="30" y="2"/>
                    <a:pt x="30" y="2"/>
                  </a:cubicBezTo>
                  <a:cubicBezTo>
                    <a:pt x="32" y="0"/>
                    <a:pt x="36" y="0"/>
                    <a:pt x="39" y="2"/>
                  </a:cubicBezTo>
                  <a:cubicBezTo>
                    <a:pt x="66" y="30"/>
                    <a:pt x="66" y="30"/>
                    <a:pt x="66" y="30"/>
                  </a:cubicBezTo>
                  <a:cubicBezTo>
                    <a:pt x="68" y="31"/>
                    <a:pt x="69" y="34"/>
                    <a:pt x="68" y="36"/>
                  </a:cubicBezTo>
                  <a:cubicBezTo>
                    <a:pt x="67" y="39"/>
                    <a:pt x="65" y="40"/>
                    <a:pt x="62" y="40"/>
                  </a:cubicBezTo>
                  <a:cubicBezTo>
                    <a:pt x="55" y="40"/>
                    <a:pt x="55" y="40"/>
                    <a:pt x="55" y="40"/>
                  </a:cubicBezTo>
                  <a:cubicBezTo>
                    <a:pt x="55" y="57"/>
                    <a:pt x="55" y="57"/>
                    <a:pt x="55" y="57"/>
                  </a:cubicBezTo>
                  <a:cubicBezTo>
                    <a:pt x="55" y="61"/>
                    <a:pt x="52" y="64"/>
                    <a:pt x="48" y="64"/>
                  </a:cubicBezTo>
                  <a:close/>
                  <a:moveTo>
                    <a:pt x="34" y="4"/>
                  </a:moveTo>
                  <a:cubicBezTo>
                    <a:pt x="34" y="4"/>
                    <a:pt x="33" y="4"/>
                    <a:pt x="32" y="4"/>
                  </a:cubicBezTo>
                  <a:cubicBezTo>
                    <a:pt x="5" y="32"/>
                    <a:pt x="5" y="32"/>
                    <a:pt x="5" y="32"/>
                  </a:cubicBezTo>
                  <a:cubicBezTo>
                    <a:pt x="4" y="33"/>
                    <a:pt x="4" y="34"/>
                    <a:pt x="4" y="35"/>
                  </a:cubicBezTo>
                  <a:cubicBezTo>
                    <a:pt x="4" y="36"/>
                    <a:pt x="5" y="37"/>
                    <a:pt x="6" y="37"/>
                  </a:cubicBezTo>
                  <a:cubicBezTo>
                    <a:pt x="17" y="37"/>
                    <a:pt x="17" y="37"/>
                    <a:pt x="17" y="37"/>
                  </a:cubicBezTo>
                  <a:cubicBezTo>
                    <a:pt x="17" y="57"/>
                    <a:pt x="17" y="57"/>
                    <a:pt x="17" y="57"/>
                  </a:cubicBezTo>
                  <a:cubicBezTo>
                    <a:pt x="17" y="59"/>
                    <a:pt x="19" y="60"/>
                    <a:pt x="20" y="60"/>
                  </a:cubicBezTo>
                  <a:cubicBezTo>
                    <a:pt x="48" y="60"/>
                    <a:pt x="48" y="60"/>
                    <a:pt x="48" y="60"/>
                  </a:cubicBezTo>
                  <a:cubicBezTo>
                    <a:pt x="50" y="60"/>
                    <a:pt x="51" y="59"/>
                    <a:pt x="51" y="57"/>
                  </a:cubicBezTo>
                  <a:cubicBezTo>
                    <a:pt x="51" y="37"/>
                    <a:pt x="51" y="37"/>
                    <a:pt x="51" y="37"/>
                  </a:cubicBezTo>
                  <a:cubicBezTo>
                    <a:pt x="62" y="37"/>
                    <a:pt x="62" y="37"/>
                    <a:pt x="62" y="37"/>
                  </a:cubicBezTo>
                  <a:cubicBezTo>
                    <a:pt x="63" y="37"/>
                    <a:pt x="64" y="36"/>
                    <a:pt x="64" y="35"/>
                  </a:cubicBezTo>
                  <a:cubicBezTo>
                    <a:pt x="65" y="34"/>
                    <a:pt x="65" y="33"/>
                    <a:pt x="64" y="32"/>
                  </a:cubicBezTo>
                  <a:cubicBezTo>
                    <a:pt x="36" y="4"/>
                    <a:pt x="36" y="4"/>
                    <a:pt x="36" y="4"/>
                  </a:cubicBezTo>
                  <a:cubicBezTo>
                    <a:pt x="36" y="4"/>
                    <a:pt x="35" y="4"/>
                    <a:pt x="34" y="4"/>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94" name="ïSľîḍè"/>
            <p:cNvSpPr/>
            <p:nvPr/>
          </p:nvSpPr>
          <p:spPr bwMode="auto">
            <a:xfrm>
              <a:off x="3897313" y="1630363"/>
              <a:ext cx="1798638" cy="1089025"/>
            </a:xfrm>
            <a:custGeom>
              <a:avLst/>
              <a:gdLst>
                <a:gd name="T0" fmla="*/ 53 w 597"/>
                <a:gd name="T1" fmla="*/ 245 h 362"/>
                <a:gd name="T2" fmla="*/ 53 w 597"/>
                <a:gd name="T3" fmla="*/ 209 h 362"/>
                <a:gd name="T4" fmla="*/ 165 w 597"/>
                <a:gd name="T5" fmla="*/ 209 h 362"/>
                <a:gd name="T6" fmla="*/ 165 w 597"/>
                <a:gd name="T7" fmla="*/ 245 h 362"/>
                <a:gd name="T8" fmla="*/ 53 w 597"/>
                <a:gd name="T9" fmla="*/ 245 h 362"/>
                <a:gd name="T10" fmla="*/ 182 w 597"/>
                <a:gd name="T11" fmla="*/ 245 h 362"/>
                <a:gd name="T12" fmla="*/ 182 w 597"/>
                <a:gd name="T13" fmla="*/ 209 h 362"/>
                <a:gd name="T14" fmla="*/ 371 w 597"/>
                <a:gd name="T15" fmla="*/ 209 h 362"/>
                <a:gd name="T16" fmla="*/ 371 w 597"/>
                <a:gd name="T17" fmla="*/ 245 h 362"/>
                <a:gd name="T18" fmla="*/ 182 w 597"/>
                <a:gd name="T19" fmla="*/ 245 h 362"/>
                <a:gd name="T20" fmla="*/ 53 w 597"/>
                <a:gd name="T21" fmla="*/ 188 h 362"/>
                <a:gd name="T22" fmla="*/ 53 w 597"/>
                <a:gd name="T23" fmla="*/ 74 h 362"/>
                <a:gd name="T24" fmla="*/ 371 w 597"/>
                <a:gd name="T25" fmla="*/ 74 h 362"/>
                <a:gd name="T26" fmla="*/ 371 w 597"/>
                <a:gd name="T27" fmla="*/ 188 h 362"/>
                <a:gd name="T28" fmla="*/ 53 w 597"/>
                <a:gd name="T29" fmla="*/ 188 h 362"/>
                <a:gd name="T30" fmla="*/ 392 w 597"/>
                <a:gd name="T31" fmla="*/ 123 h 362"/>
                <a:gd name="T32" fmla="*/ 392 w 597"/>
                <a:gd name="T33" fmla="*/ 74 h 362"/>
                <a:gd name="T34" fmla="*/ 565 w 597"/>
                <a:gd name="T35" fmla="*/ 74 h 362"/>
                <a:gd name="T36" fmla="*/ 565 w 597"/>
                <a:gd name="T37" fmla="*/ 123 h 362"/>
                <a:gd name="T38" fmla="*/ 392 w 597"/>
                <a:gd name="T39" fmla="*/ 123 h 362"/>
                <a:gd name="T40" fmla="*/ 24 w 597"/>
                <a:gd name="T41" fmla="*/ 338 h 362"/>
                <a:gd name="T42" fmla="*/ 14 w 597"/>
                <a:gd name="T43" fmla="*/ 328 h 362"/>
                <a:gd name="T44" fmla="*/ 14 w 597"/>
                <a:gd name="T45" fmla="*/ 75 h 362"/>
                <a:gd name="T46" fmla="*/ 24 w 597"/>
                <a:gd name="T47" fmla="*/ 66 h 362"/>
                <a:gd name="T48" fmla="*/ 34 w 597"/>
                <a:gd name="T49" fmla="*/ 75 h 362"/>
                <a:gd name="T50" fmla="*/ 34 w 597"/>
                <a:gd name="T51" fmla="*/ 328 h 362"/>
                <a:gd name="T52" fmla="*/ 24 w 597"/>
                <a:gd name="T53" fmla="*/ 338 h 362"/>
                <a:gd name="T54" fmla="*/ 0 w 597"/>
                <a:gd name="T55" fmla="*/ 0 h 362"/>
                <a:gd name="T56" fmla="*/ 0 w 597"/>
                <a:gd name="T57" fmla="*/ 0 h 362"/>
                <a:gd name="T58" fmla="*/ 0 w 597"/>
                <a:gd name="T59" fmla="*/ 332 h 362"/>
                <a:gd name="T60" fmla="*/ 30 w 597"/>
                <a:gd name="T61" fmla="*/ 362 h 362"/>
                <a:gd name="T62" fmla="*/ 377 w 597"/>
                <a:gd name="T63" fmla="*/ 362 h 362"/>
                <a:gd name="T64" fmla="*/ 377 w 597"/>
                <a:gd name="T65" fmla="*/ 315 h 362"/>
                <a:gd name="T66" fmla="*/ 53 w 597"/>
                <a:gd name="T67" fmla="*/ 315 h 362"/>
                <a:gd name="T68" fmla="*/ 53 w 597"/>
                <a:gd name="T69" fmla="*/ 266 h 362"/>
                <a:gd name="T70" fmla="*/ 377 w 597"/>
                <a:gd name="T71" fmla="*/ 266 h 362"/>
                <a:gd name="T72" fmla="*/ 377 w 597"/>
                <a:gd name="T73" fmla="*/ 219 h 362"/>
                <a:gd name="T74" fmla="*/ 377 w 597"/>
                <a:gd name="T75" fmla="*/ 219 h 362"/>
                <a:gd name="T76" fmla="*/ 377 w 597"/>
                <a:gd name="T77" fmla="*/ 219 h 362"/>
                <a:gd name="T78" fmla="*/ 392 w 597"/>
                <a:gd name="T79" fmla="*/ 199 h 362"/>
                <a:gd name="T80" fmla="*/ 392 w 597"/>
                <a:gd name="T81" fmla="*/ 136 h 362"/>
                <a:gd name="T82" fmla="*/ 565 w 597"/>
                <a:gd name="T83" fmla="*/ 136 h 362"/>
                <a:gd name="T84" fmla="*/ 565 w 597"/>
                <a:gd name="T85" fmla="*/ 199 h 362"/>
                <a:gd name="T86" fmla="*/ 597 w 597"/>
                <a:gd name="T87" fmla="*/ 199 h 362"/>
                <a:gd name="T88" fmla="*/ 597 w 597"/>
                <a:gd name="T89" fmla="*/ 57 h 362"/>
                <a:gd name="T90" fmla="*/ 0 w 597"/>
                <a:gd name="T91" fmla="*/ 57 h 362"/>
                <a:gd name="T92" fmla="*/ 0 w 597"/>
                <a:gd name="T93"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97" h="362">
                  <a:moveTo>
                    <a:pt x="53" y="245"/>
                  </a:moveTo>
                  <a:cubicBezTo>
                    <a:pt x="53" y="209"/>
                    <a:pt x="53" y="209"/>
                    <a:pt x="53" y="209"/>
                  </a:cubicBezTo>
                  <a:cubicBezTo>
                    <a:pt x="165" y="209"/>
                    <a:pt x="165" y="209"/>
                    <a:pt x="165" y="209"/>
                  </a:cubicBezTo>
                  <a:cubicBezTo>
                    <a:pt x="165" y="245"/>
                    <a:pt x="165" y="245"/>
                    <a:pt x="165" y="245"/>
                  </a:cubicBezTo>
                  <a:cubicBezTo>
                    <a:pt x="53" y="245"/>
                    <a:pt x="53" y="245"/>
                    <a:pt x="53" y="245"/>
                  </a:cubicBezTo>
                  <a:moveTo>
                    <a:pt x="182" y="245"/>
                  </a:moveTo>
                  <a:cubicBezTo>
                    <a:pt x="182" y="209"/>
                    <a:pt x="182" y="209"/>
                    <a:pt x="182" y="209"/>
                  </a:cubicBezTo>
                  <a:cubicBezTo>
                    <a:pt x="371" y="209"/>
                    <a:pt x="371" y="209"/>
                    <a:pt x="371" y="209"/>
                  </a:cubicBezTo>
                  <a:cubicBezTo>
                    <a:pt x="371" y="245"/>
                    <a:pt x="371" y="245"/>
                    <a:pt x="371" y="245"/>
                  </a:cubicBezTo>
                  <a:cubicBezTo>
                    <a:pt x="182" y="245"/>
                    <a:pt x="182" y="245"/>
                    <a:pt x="182" y="245"/>
                  </a:cubicBezTo>
                  <a:moveTo>
                    <a:pt x="53" y="188"/>
                  </a:moveTo>
                  <a:cubicBezTo>
                    <a:pt x="53" y="74"/>
                    <a:pt x="53" y="74"/>
                    <a:pt x="53" y="74"/>
                  </a:cubicBezTo>
                  <a:cubicBezTo>
                    <a:pt x="371" y="74"/>
                    <a:pt x="371" y="74"/>
                    <a:pt x="371" y="74"/>
                  </a:cubicBezTo>
                  <a:cubicBezTo>
                    <a:pt x="371" y="188"/>
                    <a:pt x="371" y="188"/>
                    <a:pt x="371" y="188"/>
                  </a:cubicBezTo>
                  <a:cubicBezTo>
                    <a:pt x="53" y="188"/>
                    <a:pt x="53" y="188"/>
                    <a:pt x="53" y="188"/>
                  </a:cubicBezTo>
                  <a:moveTo>
                    <a:pt x="392" y="123"/>
                  </a:moveTo>
                  <a:cubicBezTo>
                    <a:pt x="392" y="74"/>
                    <a:pt x="392" y="74"/>
                    <a:pt x="392" y="74"/>
                  </a:cubicBezTo>
                  <a:cubicBezTo>
                    <a:pt x="565" y="74"/>
                    <a:pt x="565" y="74"/>
                    <a:pt x="565" y="74"/>
                  </a:cubicBezTo>
                  <a:cubicBezTo>
                    <a:pt x="565" y="123"/>
                    <a:pt x="565" y="123"/>
                    <a:pt x="565" y="123"/>
                  </a:cubicBezTo>
                  <a:cubicBezTo>
                    <a:pt x="392" y="123"/>
                    <a:pt x="392" y="123"/>
                    <a:pt x="392" y="123"/>
                  </a:cubicBezTo>
                  <a:moveTo>
                    <a:pt x="24" y="338"/>
                  </a:moveTo>
                  <a:cubicBezTo>
                    <a:pt x="19" y="338"/>
                    <a:pt x="14" y="334"/>
                    <a:pt x="14" y="328"/>
                  </a:cubicBezTo>
                  <a:cubicBezTo>
                    <a:pt x="14" y="75"/>
                    <a:pt x="14" y="75"/>
                    <a:pt x="14" y="75"/>
                  </a:cubicBezTo>
                  <a:cubicBezTo>
                    <a:pt x="14" y="70"/>
                    <a:pt x="19" y="66"/>
                    <a:pt x="24" y="66"/>
                  </a:cubicBezTo>
                  <a:cubicBezTo>
                    <a:pt x="29" y="66"/>
                    <a:pt x="34" y="70"/>
                    <a:pt x="34" y="75"/>
                  </a:cubicBezTo>
                  <a:cubicBezTo>
                    <a:pt x="34" y="328"/>
                    <a:pt x="34" y="328"/>
                    <a:pt x="34" y="328"/>
                  </a:cubicBezTo>
                  <a:cubicBezTo>
                    <a:pt x="34" y="334"/>
                    <a:pt x="29" y="338"/>
                    <a:pt x="24" y="338"/>
                  </a:cubicBezTo>
                  <a:moveTo>
                    <a:pt x="0" y="0"/>
                  </a:moveTo>
                  <a:cubicBezTo>
                    <a:pt x="0" y="0"/>
                    <a:pt x="0" y="0"/>
                    <a:pt x="0" y="0"/>
                  </a:cubicBezTo>
                  <a:cubicBezTo>
                    <a:pt x="0" y="332"/>
                    <a:pt x="0" y="332"/>
                    <a:pt x="0" y="332"/>
                  </a:cubicBezTo>
                  <a:cubicBezTo>
                    <a:pt x="0" y="348"/>
                    <a:pt x="13" y="362"/>
                    <a:pt x="30" y="362"/>
                  </a:cubicBezTo>
                  <a:cubicBezTo>
                    <a:pt x="377" y="362"/>
                    <a:pt x="377" y="362"/>
                    <a:pt x="377" y="362"/>
                  </a:cubicBezTo>
                  <a:cubicBezTo>
                    <a:pt x="377" y="315"/>
                    <a:pt x="377" y="315"/>
                    <a:pt x="377" y="315"/>
                  </a:cubicBezTo>
                  <a:cubicBezTo>
                    <a:pt x="53" y="315"/>
                    <a:pt x="53" y="315"/>
                    <a:pt x="53" y="315"/>
                  </a:cubicBezTo>
                  <a:cubicBezTo>
                    <a:pt x="53" y="266"/>
                    <a:pt x="53" y="266"/>
                    <a:pt x="53" y="266"/>
                  </a:cubicBezTo>
                  <a:cubicBezTo>
                    <a:pt x="377" y="266"/>
                    <a:pt x="377" y="266"/>
                    <a:pt x="377" y="266"/>
                  </a:cubicBezTo>
                  <a:cubicBezTo>
                    <a:pt x="377" y="219"/>
                    <a:pt x="377" y="219"/>
                    <a:pt x="377" y="219"/>
                  </a:cubicBezTo>
                  <a:cubicBezTo>
                    <a:pt x="377" y="219"/>
                    <a:pt x="377" y="219"/>
                    <a:pt x="377" y="219"/>
                  </a:cubicBezTo>
                  <a:cubicBezTo>
                    <a:pt x="377" y="219"/>
                    <a:pt x="377" y="219"/>
                    <a:pt x="377" y="219"/>
                  </a:cubicBezTo>
                  <a:cubicBezTo>
                    <a:pt x="377" y="209"/>
                    <a:pt x="383" y="201"/>
                    <a:pt x="392" y="199"/>
                  </a:cubicBezTo>
                  <a:cubicBezTo>
                    <a:pt x="392" y="136"/>
                    <a:pt x="392" y="136"/>
                    <a:pt x="392" y="136"/>
                  </a:cubicBezTo>
                  <a:cubicBezTo>
                    <a:pt x="565" y="136"/>
                    <a:pt x="565" y="136"/>
                    <a:pt x="565" y="136"/>
                  </a:cubicBezTo>
                  <a:cubicBezTo>
                    <a:pt x="565" y="199"/>
                    <a:pt x="565" y="199"/>
                    <a:pt x="565" y="199"/>
                  </a:cubicBezTo>
                  <a:cubicBezTo>
                    <a:pt x="597" y="199"/>
                    <a:pt x="597" y="199"/>
                    <a:pt x="597" y="199"/>
                  </a:cubicBezTo>
                  <a:cubicBezTo>
                    <a:pt x="597" y="57"/>
                    <a:pt x="597" y="57"/>
                    <a:pt x="597" y="57"/>
                  </a:cubicBezTo>
                  <a:cubicBezTo>
                    <a:pt x="0" y="57"/>
                    <a:pt x="0" y="57"/>
                    <a:pt x="0" y="57"/>
                  </a:cubicBezTo>
                  <a:cubicBezTo>
                    <a:pt x="0" y="0"/>
                    <a:pt x="0" y="0"/>
                    <a:pt x="0" y="0"/>
                  </a:cubicBezTo>
                </a:path>
              </a:pathLst>
            </a:custGeom>
            <a:solidFill>
              <a:srgbClr val="C2F4F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95" name="íṧľîḋè"/>
            <p:cNvSpPr/>
            <p:nvPr/>
          </p:nvSpPr>
          <p:spPr bwMode="auto">
            <a:xfrm>
              <a:off x="5033963" y="2232025"/>
              <a:ext cx="661988" cy="487363"/>
            </a:xfrm>
            <a:custGeom>
              <a:avLst/>
              <a:gdLst>
                <a:gd name="T0" fmla="*/ 28 w 220"/>
                <a:gd name="T1" fmla="*/ 115 h 162"/>
                <a:gd name="T2" fmla="*/ 0 w 220"/>
                <a:gd name="T3" fmla="*/ 115 h 162"/>
                <a:gd name="T4" fmla="*/ 0 w 220"/>
                <a:gd name="T5" fmla="*/ 162 h 162"/>
                <a:gd name="T6" fmla="*/ 28 w 220"/>
                <a:gd name="T7" fmla="*/ 162 h 162"/>
                <a:gd name="T8" fmla="*/ 28 w 220"/>
                <a:gd name="T9" fmla="*/ 115 h 162"/>
                <a:gd name="T10" fmla="*/ 15 w 220"/>
                <a:gd name="T11" fmla="*/ 1 h 162"/>
                <a:gd name="T12" fmla="*/ 0 w 220"/>
                <a:gd name="T13" fmla="*/ 20 h 162"/>
                <a:gd name="T14" fmla="*/ 0 w 220"/>
                <a:gd name="T15" fmla="*/ 19 h 162"/>
                <a:gd name="T16" fmla="*/ 0 w 220"/>
                <a:gd name="T17" fmla="*/ 19 h 162"/>
                <a:gd name="T18" fmla="*/ 0 w 220"/>
                <a:gd name="T19" fmla="*/ 66 h 162"/>
                <a:gd name="T20" fmla="*/ 28 w 220"/>
                <a:gd name="T21" fmla="*/ 66 h 162"/>
                <a:gd name="T22" fmla="*/ 28 w 220"/>
                <a:gd name="T23" fmla="*/ 49 h 162"/>
                <a:gd name="T24" fmla="*/ 15 w 220"/>
                <a:gd name="T25" fmla="*/ 49 h 162"/>
                <a:gd name="T26" fmla="*/ 15 w 220"/>
                <a:gd name="T27" fmla="*/ 1 h 162"/>
                <a:gd name="T28" fmla="*/ 220 w 220"/>
                <a:gd name="T29" fmla="*/ 0 h 162"/>
                <a:gd name="T30" fmla="*/ 188 w 220"/>
                <a:gd name="T31" fmla="*/ 0 h 162"/>
                <a:gd name="T32" fmla="*/ 188 w 220"/>
                <a:gd name="T33" fmla="*/ 30 h 162"/>
                <a:gd name="T34" fmla="*/ 199 w 220"/>
                <a:gd name="T35" fmla="*/ 30 h 162"/>
                <a:gd name="T36" fmla="*/ 220 w 220"/>
                <a:gd name="T37" fmla="*/ 30 h 162"/>
                <a:gd name="T38" fmla="*/ 220 w 220"/>
                <a:gd name="T39"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0" h="162">
                  <a:moveTo>
                    <a:pt x="28" y="115"/>
                  </a:moveTo>
                  <a:cubicBezTo>
                    <a:pt x="0" y="115"/>
                    <a:pt x="0" y="115"/>
                    <a:pt x="0" y="115"/>
                  </a:cubicBezTo>
                  <a:cubicBezTo>
                    <a:pt x="0" y="162"/>
                    <a:pt x="0" y="162"/>
                    <a:pt x="0" y="162"/>
                  </a:cubicBezTo>
                  <a:cubicBezTo>
                    <a:pt x="28" y="162"/>
                    <a:pt x="28" y="162"/>
                    <a:pt x="28" y="162"/>
                  </a:cubicBezTo>
                  <a:cubicBezTo>
                    <a:pt x="28" y="115"/>
                    <a:pt x="28" y="115"/>
                    <a:pt x="28" y="115"/>
                  </a:cubicBezTo>
                  <a:moveTo>
                    <a:pt x="15" y="1"/>
                  </a:moveTo>
                  <a:cubicBezTo>
                    <a:pt x="6" y="3"/>
                    <a:pt x="0" y="11"/>
                    <a:pt x="0" y="20"/>
                  </a:cubicBezTo>
                  <a:cubicBezTo>
                    <a:pt x="0" y="19"/>
                    <a:pt x="0" y="19"/>
                    <a:pt x="0" y="19"/>
                  </a:cubicBezTo>
                  <a:cubicBezTo>
                    <a:pt x="0" y="19"/>
                    <a:pt x="0" y="19"/>
                    <a:pt x="0" y="19"/>
                  </a:cubicBezTo>
                  <a:cubicBezTo>
                    <a:pt x="0" y="66"/>
                    <a:pt x="0" y="66"/>
                    <a:pt x="0" y="66"/>
                  </a:cubicBezTo>
                  <a:cubicBezTo>
                    <a:pt x="28" y="66"/>
                    <a:pt x="28" y="66"/>
                    <a:pt x="28" y="66"/>
                  </a:cubicBezTo>
                  <a:cubicBezTo>
                    <a:pt x="28" y="49"/>
                    <a:pt x="28" y="49"/>
                    <a:pt x="28" y="49"/>
                  </a:cubicBezTo>
                  <a:cubicBezTo>
                    <a:pt x="15" y="49"/>
                    <a:pt x="15" y="49"/>
                    <a:pt x="15" y="49"/>
                  </a:cubicBezTo>
                  <a:cubicBezTo>
                    <a:pt x="15" y="1"/>
                    <a:pt x="15" y="1"/>
                    <a:pt x="15" y="1"/>
                  </a:cubicBezTo>
                  <a:moveTo>
                    <a:pt x="220" y="0"/>
                  </a:moveTo>
                  <a:cubicBezTo>
                    <a:pt x="188" y="0"/>
                    <a:pt x="188" y="0"/>
                    <a:pt x="188" y="0"/>
                  </a:cubicBezTo>
                  <a:cubicBezTo>
                    <a:pt x="188" y="30"/>
                    <a:pt x="188" y="30"/>
                    <a:pt x="188" y="30"/>
                  </a:cubicBezTo>
                  <a:cubicBezTo>
                    <a:pt x="199" y="30"/>
                    <a:pt x="199" y="30"/>
                    <a:pt x="199" y="30"/>
                  </a:cubicBezTo>
                  <a:cubicBezTo>
                    <a:pt x="220" y="30"/>
                    <a:pt x="220" y="30"/>
                    <a:pt x="220" y="30"/>
                  </a:cubicBezTo>
                  <a:cubicBezTo>
                    <a:pt x="220" y="0"/>
                    <a:pt x="220" y="0"/>
                    <a:pt x="220" y="0"/>
                  </a:cubicBezTo>
                </a:path>
              </a:pathLst>
            </a:custGeom>
            <a:solidFill>
              <a:srgbClr val="2790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96" name="íšḷíḋè"/>
            <p:cNvSpPr/>
            <p:nvPr/>
          </p:nvSpPr>
          <p:spPr bwMode="auto">
            <a:xfrm>
              <a:off x="5033963" y="2228850"/>
              <a:ext cx="661988" cy="63500"/>
            </a:xfrm>
            <a:custGeom>
              <a:avLst/>
              <a:gdLst>
                <a:gd name="T0" fmla="*/ 15 w 220"/>
                <a:gd name="T1" fmla="*/ 0 h 21"/>
                <a:gd name="T2" fmla="*/ 0 w 220"/>
                <a:gd name="T3" fmla="*/ 20 h 21"/>
                <a:gd name="T4" fmla="*/ 0 w 220"/>
                <a:gd name="T5" fmla="*/ 20 h 21"/>
                <a:gd name="T6" fmla="*/ 0 w 220"/>
                <a:gd name="T7" fmla="*/ 21 h 21"/>
                <a:gd name="T8" fmla="*/ 15 w 220"/>
                <a:gd name="T9" fmla="*/ 2 h 21"/>
                <a:gd name="T10" fmla="*/ 15 w 220"/>
                <a:gd name="T11" fmla="*/ 0 h 21"/>
                <a:gd name="T12" fmla="*/ 220 w 220"/>
                <a:gd name="T13" fmla="*/ 0 h 21"/>
                <a:gd name="T14" fmla="*/ 188 w 220"/>
                <a:gd name="T15" fmla="*/ 0 h 21"/>
                <a:gd name="T16" fmla="*/ 188 w 220"/>
                <a:gd name="T17" fmla="*/ 1 h 21"/>
                <a:gd name="T18" fmla="*/ 220 w 220"/>
                <a:gd name="T19" fmla="*/ 1 h 21"/>
                <a:gd name="T20" fmla="*/ 220 w 220"/>
                <a:gd name="T21"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0" h="21">
                  <a:moveTo>
                    <a:pt x="15" y="0"/>
                  </a:moveTo>
                  <a:cubicBezTo>
                    <a:pt x="6" y="2"/>
                    <a:pt x="0" y="10"/>
                    <a:pt x="0" y="20"/>
                  </a:cubicBezTo>
                  <a:cubicBezTo>
                    <a:pt x="0" y="20"/>
                    <a:pt x="0" y="20"/>
                    <a:pt x="0" y="20"/>
                  </a:cubicBezTo>
                  <a:cubicBezTo>
                    <a:pt x="0" y="21"/>
                    <a:pt x="0" y="21"/>
                    <a:pt x="0" y="21"/>
                  </a:cubicBezTo>
                  <a:cubicBezTo>
                    <a:pt x="0" y="12"/>
                    <a:pt x="6" y="4"/>
                    <a:pt x="15" y="2"/>
                  </a:cubicBezTo>
                  <a:cubicBezTo>
                    <a:pt x="15" y="0"/>
                    <a:pt x="15" y="0"/>
                    <a:pt x="15" y="0"/>
                  </a:cubicBezTo>
                  <a:moveTo>
                    <a:pt x="220" y="0"/>
                  </a:moveTo>
                  <a:cubicBezTo>
                    <a:pt x="188" y="0"/>
                    <a:pt x="188" y="0"/>
                    <a:pt x="188" y="0"/>
                  </a:cubicBezTo>
                  <a:cubicBezTo>
                    <a:pt x="188" y="1"/>
                    <a:pt x="188" y="1"/>
                    <a:pt x="188" y="1"/>
                  </a:cubicBezTo>
                  <a:cubicBezTo>
                    <a:pt x="220" y="1"/>
                    <a:pt x="220" y="1"/>
                    <a:pt x="220" y="1"/>
                  </a:cubicBezTo>
                  <a:cubicBezTo>
                    <a:pt x="220" y="0"/>
                    <a:pt x="220" y="0"/>
                    <a:pt x="220" y="0"/>
                  </a:cubicBezTo>
                </a:path>
              </a:pathLst>
            </a:custGeom>
            <a:solidFill>
              <a:srgbClr val="41B1E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97" name="íşlîde"/>
            <p:cNvSpPr/>
            <p:nvPr/>
          </p:nvSpPr>
          <p:spPr bwMode="auto">
            <a:xfrm>
              <a:off x="5118101" y="2322513"/>
              <a:ext cx="514350" cy="396875"/>
            </a:xfrm>
            <a:custGeom>
              <a:avLst/>
              <a:gdLst>
                <a:gd name="T0" fmla="*/ 85 w 171"/>
                <a:gd name="T1" fmla="*/ 85 h 132"/>
                <a:gd name="T2" fmla="*/ 0 w 171"/>
                <a:gd name="T3" fmla="*/ 85 h 132"/>
                <a:gd name="T4" fmla="*/ 0 w 171"/>
                <a:gd name="T5" fmla="*/ 132 h 132"/>
                <a:gd name="T6" fmla="*/ 28 w 171"/>
                <a:gd name="T7" fmla="*/ 132 h 132"/>
                <a:gd name="T8" fmla="*/ 25 w 171"/>
                <a:gd name="T9" fmla="*/ 129 h 132"/>
                <a:gd name="T10" fmla="*/ 28 w 171"/>
                <a:gd name="T11" fmla="*/ 126 h 132"/>
                <a:gd name="T12" fmla="*/ 45 w 171"/>
                <a:gd name="T13" fmla="*/ 126 h 132"/>
                <a:gd name="T14" fmla="*/ 62 w 171"/>
                <a:gd name="T15" fmla="*/ 108 h 132"/>
                <a:gd name="T16" fmla="*/ 28 w 171"/>
                <a:gd name="T17" fmla="*/ 108 h 132"/>
                <a:gd name="T18" fmla="*/ 25 w 171"/>
                <a:gd name="T19" fmla="*/ 105 h 132"/>
                <a:gd name="T20" fmla="*/ 28 w 171"/>
                <a:gd name="T21" fmla="*/ 102 h 132"/>
                <a:gd name="T22" fmla="*/ 68 w 171"/>
                <a:gd name="T23" fmla="*/ 102 h 132"/>
                <a:gd name="T24" fmla="*/ 85 w 171"/>
                <a:gd name="T25" fmla="*/ 85 h 132"/>
                <a:gd name="T26" fmla="*/ 152 w 171"/>
                <a:gd name="T27" fmla="*/ 19 h 132"/>
                <a:gd name="T28" fmla="*/ 0 w 171"/>
                <a:gd name="T29" fmla="*/ 19 h 132"/>
                <a:gd name="T30" fmla="*/ 0 w 171"/>
                <a:gd name="T31" fmla="*/ 36 h 132"/>
                <a:gd name="T32" fmla="*/ 134 w 171"/>
                <a:gd name="T33" fmla="*/ 36 h 132"/>
                <a:gd name="T34" fmla="*/ 140 w 171"/>
                <a:gd name="T35" fmla="*/ 31 h 132"/>
                <a:gd name="T36" fmla="*/ 28 w 171"/>
                <a:gd name="T37" fmla="*/ 31 h 132"/>
                <a:gd name="T38" fmla="*/ 22 w 171"/>
                <a:gd name="T39" fmla="*/ 25 h 132"/>
                <a:gd name="T40" fmla="*/ 28 w 171"/>
                <a:gd name="T41" fmla="*/ 19 h 132"/>
                <a:gd name="T42" fmla="*/ 152 w 171"/>
                <a:gd name="T43" fmla="*/ 19 h 132"/>
                <a:gd name="T44" fmla="*/ 171 w 171"/>
                <a:gd name="T45" fmla="*/ 0 h 132"/>
                <a:gd name="T46" fmla="*/ 160 w 171"/>
                <a:gd name="T47" fmla="*/ 0 h 132"/>
                <a:gd name="T48" fmla="*/ 160 w 171"/>
                <a:gd name="T49" fmla="*/ 10 h 132"/>
                <a:gd name="T50" fmla="*/ 171 w 171"/>
                <a:gd name="T51"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1" h="132">
                  <a:moveTo>
                    <a:pt x="85" y="85"/>
                  </a:moveTo>
                  <a:cubicBezTo>
                    <a:pt x="0" y="85"/>
                    <a:pt x="0" y="85"/>
                    <a:pt x="0" y="85"/>
                  </a:cubicBezTo>
                  <a:cubicBezTo>
                    <a:pt x="0" y="132"/>
                    <a:pt x="0" y="132"/>
                    <a:pt x="0" y="132"/>
                  </a:cubicBezTo>
                  <a:cubicBezTo>
                    <a:pt x="28" y="132"/>
                    <a:pt x="28" y="132"/>
                    <a:pt x="28" y="132"/>
                  </a:cubicBezTo>
                  <a:cubicBezTo>
                    <a:pt x="27" y="132"/>
                    <a:pt x="25" y="130"/>
                    <a:pt x="25" y="129"/>
                  </a:cubicBezTo>
                  <a:cubicBezTo>
                    <a:pt x="25" y="127"/>
                    <a:pt x="27" y="126"/>
                    <a:pt x="28" y="126"/>
                  </a:cubicBezTo>
                  <a:cubicBezTo>
                    <a:pt x="45" y="126"/>
                    <a:pt x="45" y="126"/>
                    <a:pt x="45" y="126"/>
                  </a:cubicBezTo>
                  <a:cubicBezTo>
                    <a:pt x="62" y="108"/>
                    <a:pt x="62" y="108"/>
                    <a:pt x="62" y="108"/>
                  </a:cubicBezTo>
                  <a:cubicBezTo>
                    <a:pt x="28" y="108"/>
                    <a:pt x="28" y="108"/>
                    <a:pt x="28" y="108"/>
                  </a:cubicBezTo>
                  <a:cubicBezTo>
                    <a:pt x="27" y="108"/>
                    <a:pt x="25" y="107"/>
                    <a:pt x="25" y="105"/>
                  </a:cubicBezTo>
                  <a:cubicBezTo>
                    <a:pt x="25" y="104"/>
                    <a:pt x="27" y="102"/>
                    <a:pt x="28" y="102"/>
                  </a:cubicBezTo>
                  <a:cubicBezTo>
                    <a:pt x="68" y="102"/>
                    <a:pt x="68" y="102"/>
                    <a:pt x="68" y="102"/>
                  </a:cubicBezTo>
                  <a:cubicBezTo>
                    <a:pt x="85" y="85"/>
                    <a:pt x="85" y="85"/>
                    <a:pt x="85" y="85"/>
                  </a:cubicBezTo>
                  <a:moveTo>
                    <a:pt x="152" y="19"/>
                  </a:moveTo>
                  <a:cubicBezTo>
                    <a:pt x="0" y="19"/>
                    <a:pt x="0" y="19"/>
                    <a:pt x="0" y="19"/>
                  </a:cubicBezTo>
                  <a:cubicBezTo>
                    <a:pt x="0" y="36"/>
                    <a:pt x="0" y="36"/>
                    <a:pt x="0" y="36"/>
                  </a:cubicBezTo>
                  <a:cubicBezTo>
                    <a:pt x="134" y="36"/>
                    <a:pt x="134" y="36"/>
                    <a:pt x="134" y="36"/>
                  </a:cubicBezTo>
                  <a:cubicBezTo>
                    <a:pt x="140" y="31"/>
                    <a:pt x="140" y="31"/>
                    <a:pt x="140" y="31"/>
                  </a:cubicBezTo>
                  <a:cubicBezTo>
                    <a:pt x="28" y="31"/>
                    <a:pt x="28" y="31"/>
                    <a:pt x="28" y="31"/>
                  </a:cubicBezTo>
                  <a:cubicBezTo>
                    <a:pt x="24" y="31"/>
                    <a:pt x="22" y="28"/>
                    <a:pt x="22" y="25"/>
                  </a:cubicBezTo>
                  <a:cubicBezTo>
                    <a:pt x="22" y="21"/>
                    <a:pt x="24" y="19"/>
                    <a:pt x="28" y="19"/>
                  </a:cubicBezTo>
                  <a:cubicBezTo>
                    <a:pt x="152" y="19"/>
                    <a:pt x="152" y="19"/>
                    <a:pt x="152" y="19"/>
                  </a:cubicBezTo>
                  <a:moveTo>
                    <a:pt x="171" y="0"/>
                  </a:moveTo>
                  <a:cubicBezTo>
                    <a:pt x="160" y="0"/>
                    <a:pt x="160" y="0"/>
                    <a:pt x="160" y="0"/>
                  </a:cubicBezTo>
                  <a:cubicBezTo>
                    <a:pt x="160" y="10"/>
                    <a:pt x="160" y="10"/>
                    <a:pt x="160" y="10"/>
                  </a:cubicBezTo>
                  <a:cubicBezTo>
                    <a:pt x="171" y="0"/>
                    <a:pt x="171" y="0"/>
                    <a:pt x="171" y="0"/>
                  </a:cubicBezTo>
                </a:path>
              </a:pathLst>
            </a:custGeom>
            <a:solidFill>
              <a:srgbClr val="1E485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98" name="íş1íḑé"/>
            <p:cNvSpPr/>
            <p:nvPr/>
          </p:nvSpPr>
          <p:spPr bwMode="auto">
            <a:xfrm>
              <a:off x="5184776" y="2379663"/>
              <a:ext cx="390525" cy="34925"/>
            </a:xfrm>
            <a:custGeom>
              <a:avLst/>
              <a:gdLst>
                <a:gd name="T0" fmla="*/ 130 w 130"/>
                <a:gd name="T1" fmla="*/ 0 h 12"/>
                <a:gd name="T2" fmla="*/ 6 w 130"/>
                <a:gd name="T3" fmla="*/ 0 h 12"/>
                <a:gd name="T4" fmla="*/ 0 w 130"/>
                <a:gd name="T5" fmla="*/ 6 h 12"/>
                <a:gd name="T6" fmla="*/ 6 w 130"/>
                <a:gd name="T7" fmla="*/ 12 h 12"/>
                <a:gd name="T8" fmla="*/ 118 w 130"/>
                <a:gd name="T9" fmla="*/ 12 h 12"/>
                <a:gd name="T10" fmla="*/ 130 w 130"/>
                <a:gd name="T11" fmla="*/ 0 h 12"/>
              </a:gdLst>
              <a:ahLst/>
              <a:cxnLst>
                <a:cxn ang="0">
                  <a:pos x="T0" y="T1"/>
                </a:cxn>
                <a:cxn ang="0">
                  <a:pos x="T2" y="T3"/>
                </a:cxn>
                <a:cxn ang="0">
                  <a:pos x="T4" y="T5"/>
                </a:cxn>
                <a:cxn ang="0">
                  <a:pos x="T6" y="T7"/>
                </a:cxn>
                <a:cxn ang="0">
                  <a:pos x="T8" y="T9"/>
                </a:cxn>
                <a:cxn ang="0">
                  <a:pos x="T10" y="T11"/>
                </a:cxn>
              </a:cxnLst>
              <a:rect l="0" t="0" r="r" b="b"/>
              <a:pathLst>
                <a:path w="130" h="12">
                  <a:moveTo>
                    <a:pt x="130" y="0"/>
                  </a:moveTo>
                  <a:cubicBezTo>
                    <a:pt x="6" y="0"/>
                    <a:pt x="6" y="0"/>
                    <a:pt x="6" y="0"/>
                  </a:cubicBezTo>
                  <a:cubicBezTo>
                    <a:pt x="2" y="0"/>
                    <a:pt x="0" y="2"/>
                    <a:pt x="0" y="6"/>
                  </a:cubicBezTo>
                  <a:cubicBezTo>
                    <a:pt x="0" y="9"/>
                    <a:pt x="2" y="12"/>
                    <a:pt x="6" y="12"/>
                  </a:cubicBezTo>
                  <a:cubicBezTo>
                    <a:pt x="118" y="12"/>
                    <a:pt x="118" y="12"/>
                    <a:pt x="118" y="12"/>
                  </a:cubicBezTo>
                  <a:cubicBezTo>
                    <a:pt x="130" y="0"/>
                    <a:pt x="130" y="0"/>
                    <a:pt x="130" y="0"/>
                  </a:cubicBezTo>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99" name="iśľïďe"/>
            <p:cNvSpPr/>
            <p:nvPr/>
          </p:nvSpPr>
          <p:spPr bwMode="auto">
            <a:xfrm>
              <a:off x="5192713" y="2628900"/>
              <a:ext cx="130175" cy="17463"/>
            </a:xfrm>
            <a:custGeom>
              <a:avLst/>
              <a:gdLst>
                <a:gd name="T0" fmla="*/ 43 w 43"/>
                <a:gd name="T1" fmla="*/ 0 h 6"/>
                <a:gd name="T2" fmla="*/ 3 w 43"/>
                <a:gd name="T3" fmla="*/ 0 h 6"/>
                <a:gd name="T4" fmla="*/ 0 w 43"/>
                <a:gd name="T5" fmla="*/ 3 h 6"/>
                <a:gd name="T6" fmla="*/ 3 w 43"/>
                <a:gd name="T7" fmla="*/ 6 h 6"/>
                <a:gd name="T8" fmla="*/ 37 w 43"/>
                <a:gd name="T9" fmla="*/ 6 h 6"/>
                <a:gd name="T10" fmla="*/ 43 w 43"/>
                <a:gd name="T11" fmla="*/ 0 h 6"/>
              </a:gdLst>
              <a:ahLst/>
              <a:cxnLst>
                <a:cxn ang="0">
                  <a:pos x="T0" y="T1"/>
                </a:cxn>
                <a:cxn ang="0">
                  <a:pos x="T2" y="T3"/>
                </a:cxn>
                <a:cxn ang="0">
                  <a:pos x="T4" y="T5"/>
                </a:cxn>
                <a:cxn ang="0">
                  <a:pos x="T6" y="T7"/>
                </a:cxn>
                <a:cxn ang="0">
                  <a:pos x="T8" y="T9"/>
                </a:cxn>
                <a:cxn ang="0">
                  <a:pos x="T10" y="T11"/>
                </a:cxn>
              </a:cxnLst>
              <a:rect l="0" t="0" r="r" b="b"/>
              <a:pathLst>
                <a:path w="43" h="6">
                  <a:moveTo>
                    <a:pt x="43" y="0"/>
                  </a:moveTo>
                  <a:cubicBezTo>
                    <a:pt x="3" y="0"/>
                    <a:pt x="3" y="0"/>
                    <a:pt x="3" y="0"/>
                  </a:cubicBezTo>
                  <a:cubicBezTo>
                    <a:pt x="2" y="0"/>
                    <a:pt x="0" y="2"/>
                    <a:pt x="0" y="3"/>
                  </a:cubicBezTo>
                  <a:cubicBezTo>
                    <a:pt x="0" y="5"/>
                    <a:pt x="2" y="6"/>
                    <a:pt x="3" y="6"/>
                  </a:cubicBezTo>
                  <a:cubicBezTo>
                    <a:pt x="37" y="6"/>
                    <a:pt x="37" y="6"/>
                    <a:pt x="37" y="6"/>
                  </a:cubicBezTo>
                  <a:cubicBezTo>
                    <a:pt x="43" y="0"/>
                    <a:pt x="43" y="0"/>
                    <a:pt x="43" y="0"/>
                  </a:cubicBezTo>
                </a:path>
              </a:pathLst>
            </a:custGeom>
            <a:solidFill>
              <a:srgbClr val="A9F45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00" name="íšḷíḑé"/>
            <p:cNvSpPr/>
            <p:nvPr/>
          </p:nvSpPr>
          <p:spPr bwMode="auto">
            <a:xfrm>
              <a:off x="5192713" y="2700338"/>
              <a:ext cx="60325" cy="19050"/>
            </a:xfrm>
            <a:custGeom>
              <a:avLst/>
              <a:gdLst>
                <a:gd name="T0" fmla="*/ 20 w 20"/>
                <a:gd name="T1" fmla="*/ 0 h 6"/>
                <a:gd name="T2" fmla="*/ 3 w 20"/>
                <a:gd name="T3" fmla="*/ 0 h 6"/>
                <a:gd name="T4" fmla="*/ 0 w 20"/>
                <a:gd name="T5" fmla="*/ 3 h 6"/>
                <a:gd name="T6" fmla="*/ 3 w 20"/>
                <a:gd name="T7" fmla="*/ 6 h 6"/>
                <a:gd name="T8" fmla="*/ 14 w 20"/>
                <a:gd name="T9" fmla="*/ 6 h 6"/>
                <a:gd name="T10" fmla="*/ 20 w 20"/>
                <a:gd name="T11" fmla="*/ 0 h 6"/>
              </a:gdLst>
              <a:ahLst/>
              <a:cxnLst>
                <a:cxn ang="0">
                  <a:pos x="T0" y="T1"/>
                </a:cxn>
                <a:cxn ang="0">
                  <a:pos x="T2" y="T3"/>
                </a:cxn>
                <a:cxn ang="0">
                  <a:pos x="T4" y="T5"/>
                </a:cxn>
                <a:cxn ang="0">
                  <a:pos x="T6" y="T7"/>
                </a:cxn>
                <a:cxn ang="0">
                  <a:pos x="T8" y="T9"/>
                </a:cxn>
                <a:cxn ang="0">
                  <a:pos x="T10" y="T11"/>
                </a:cxn>
              </a:cxnLst>
              <a:rect l="0" t="0" r="r" b="b"/>
              <a:pathLst>
                <a:path w="20" h="6">
                  <a:moveTo>
                    <a:pt x="20" y="0"/>
                  </a:moveTo>
                  <a:cubicBezTo>
                    <a:pt x="3" y="0"/>
                    <a:pt x="3" y="0"/>
                    <a:pt x="3" y="0"/>
                  </a:cubicBezTo>
                  <a:cubicBezTo>
                    <a:pt x="2" y="0"/>
                    <a:pt x="0" y="1"/>
                    <a:pt x="0" y="3"/>
                  </a:cubicBezTo>
                  <a:cubicBezTo>
                    <a:pt x="0" y="4"/>
                    <a:pt x="2" y="6"/>
                    <a:pt x="3" y="6"/>
                  </a:cubicBezTo>
                  <a:cubicBezTo>
                    <a:pt x="14" y="6"/>
                    <a:pt x="14" y="6"/>
                    <a:pt x="14" y="6"/>
                  </a:cubicBezTo>
                  <a:cubicBezTo>
                    <a:pt x="20" y="0"/>
                    <a:pt x="20" y="0"/>
                    <a:pt x="20" y="0"/>
                  </a:cubicBezTo>
                </a:path>
              </a:pathLst>
            </a:custGeom>
            <a:solidFill>
              <a:srgbClr val="A9F45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01" name="íśļïdé"/>
            <p:cNvSpPr/>
            <p:nvPr/>
          </p:nvSpPr>
          <p:spPr bwMode="auto">
            <a:xfrm>
              <a:off x="5253038" y="2322513"/>
              <a:ext cx="442913" cy="377825"/>
            </a:xfrm>
            <a:custGeom>
              <a:avLst/>
              <a:gdLst>
                <a:gd name="T0" fmla="*/ 146 w 147"/>
                <a:gd name="T1" fmla="*/ 108 h 126"/>
                <a:gd name="T2" fmla="*/ 17 w 147"/>
                <a:gd name="T3" fmla="*/ 108 h 126"/>
                <a:gd name="T4" fmla="*/ 0 w 147"/>
                <a:gd name="T5" fmla="*/ 126 h 126"/>
                <a:gd name="T6" fmla="*/ 135 w 147"/>
                <a:gd name="T7" fmla="*/ 126 h 126"/>
                <a:gd name="T8" fmla="*/ 146 w 147"/>
                <a:gd name="T9" fmla="*/ 108 h 126"/>
                <a:gd name="T10" fmla="*/ 147 w 147"/>
                <a:gd name="T11" fmla="*/ 85 h 126"/>
                <a:gd name="T12" fmla="*/ 115 w 147"/>
                <a:gd name="T13" fmla="*/ 85 h 126"/>
                <a:gd name="T14" fmla="*/ 115 w 147"/>
                <a:gd name="T15" fmla="*/ 85 h 126"/>
                <a:gd name="T16" fmla="*/ 40 w 147"/>
                <a:gd name="T17" fmla="*/ 85 h 126"/>
                <a:gd name="T18" fmla="*/ 23 w 147"/>
                <a:gd name="T19" fmla="*/ 102 h 126"/>
                <a:gd name="T20" fmla="*/ 147 w 147"/>
                <a:gd name="T21" fmla="*/ 102 h 126"/>
                <a:gd name="T22" fmla="*/ 147 w 147"/>
                <a:gd name="T23" fmla="*/ 102 h 126"/>
                <a:gd name="T24" fmla="*/ 147 w 147"/>
                <a:gd name="T25" fmla="*/ 85 h 126"/>
                <a:gd name="T26" fmla="*/ 147 w 147"/>
                <a:gd name="T27" fmla="*/ 59 h 126"/>
                <a:gd name="T28" fmla="*/ 115 w 147"/>
                <a:gd name="T29" fmla="*/ 59 h 126"/>
                <a:gd name="T30" fmla="*/ 115 w 147"/>
                <a:gd name="T31" fmla="*/ 79 h 126"/>
                <a:gd name="T32" fmla="*/ 147 w 147"/>
                <a:gd name="T33" fmla="*/ 79 h 126"/>
                <a:gd name="T34" fmla="*/ 147 w 147"/>
                <a:gd name="T35" fmla="*/ 59 h 126"/>
                <a:gd name="T36" fmla="*/ 147 w 147"/>
                <a:gd name="T37" fmla="*/ 31 h 126"/>
                <a:gd name="T38" fmla="*/ 95 w 147"/>
                <a:gd name="T39" fmla="*/ 31 h 126"/>
                <a:gd name="T40" fmla="*/ 89 w 147"/>
                <a:gd name="T41" fmla="*/ 36 h 126"/>
                <a:gd name="T42" fmla="*/ 115 w 147"/>
                <a:gd name="T43" fmla="*/ 36 h 126"/>
                <a:gd name="T44" fmla="*/ 115 w 147"/>
                <a:gd name="T45" fmla="*/ 50 h 126"/>
                <a:gd name="T46" fmla="*/ 147 w 147"/>
                <a:gd name="T47" fmla="*/ 50 h 126"/>
                <a:gd name="T48" fmla="*/ 147 w 147"/>
                <a:gd name="T49" fmla="*/ 31 h 126"/>
                <a:gd name="T50" fmla="*/ 147 w 147"/>
                <a:gd name="T51" fmla="*/ 0 h 126"/>
                <a:gd name="T52" fmla="*/ 126 w 147"/>
                <a:gd name="T53" fmla="*/ 0 h 126"/>
                <a:gd name="T54" fmla="*/ 115 w 147"/>
                <a:gd name="T55" fmla="*/ 10 h 126"/>
                <a:gd name="T56" fmla="*/ 115 w 147"/>
                <a:gd name="T57" fmla="*/ 19 h 126"/>
                <a:gd name="T58" fmla="*/ 107 w 147"/>
                <a:gd name="T59" fmla="*/ 19 h 126"/>
                <a:gd name="T60" fmla="*/ 147 w 147"/>
                <a:gd name="T61" fmla="*/ 19 h 126"/>
                <a:gd name="T62" fmla="*/ 147 w 147"/>
                <a:gd name="T6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7" h="126">
                  <a:moveTo>
                    <a:pt x="146" y="108"/>
                  </a:moveTo>
                  <a:cubicBezTo>
                    <a:pt x="17" y="108"/>
                    <a:pt x="17" y="108"/>
                    <a:pt x="17" y="108"/>
                  </a:cubicBezTo>
                  <a:cubicBezTo>
                    <a:pt x="0" y="126"/>
                    <a:pt x="0" y="126"/>
                    <a:pt x="0" y="126"/>
                  </a:cubicBezTo>
                  <a:cubicBezTo>
                    <a:pt x="135" y="126"/>
                    <a:pt x="135" y="126"/>
                    <a:pt x="135" y="126"/>
                  </a:cubicBezTo>
                  <a:cubicBezTo>
                    <a:pt x="140" y="122"/>
                    <a:pt x="145" y="115"/>
                    <a:pt x="146" y="108"/>
                  </a:cubicBezTo>
                  <a:moveTo>
                    <a:pt x="147" y="85"/>
                  </a:moveTo>
                  <a:cubicBezTo>
                    <a:pt x="115" y="85"/>
                    <a:pt x="115" y="85"/>
                    <a:pt x="115" y="85"/>
                  </a:cubicBezTo>
                  <a:cubicBezTo>
                    <a:pt x="115" y="85"/>
                    <a:pt x="115" y="85"/>
                    <a:pt x="115" y="85"/>
                  </a:cubicBezTo>
                  <a:cubicBezTo>
                    <a:pt x="40" y="85"/>
                    <a:pt x="40" y="85"/>
                    <a:pt x="40" y="85"/>
                  </a:cubicBezTo>
                  <a:cubicBezTo>
                    <a:pt x="23" y="102"/>
                    <a:pt x="23" y="102"/>
                    <a:pt x="23" y="102"/>
                  </a:cubicBezTo>
                  <a:cubicBezTo>
                    <a:pt x="147" y="102"/>
                    <a:pt x="147" y="102"/>
                    <a:pt x="147" y="102"/>
                  </a:cubicBezTo>
                  <a:cubicBezTo>
                    <a:pt x="147" y="102"/>
                    <a:pt x="147" y="102"/>
                    <a:pt x="147" y="102"/>
                  </a:cubicBezTo>
                  <a:cubicBezTo>
                    <a:pt x="147" y="85"/>
                    <a:pt x="147" y="85"/>
                    <a:pt x="147" y="85"/>
                  </a:cubicBezTo>
                  <a:moveTo>
                    <a:pt x="147" y="59"/>
                  </a:moveTo>
                  <a:cubicBezTo>
                    <a:pt x="115" y="59"/>
                    <a:pt x="115" y="59"/>
                    <a:pt x="115" y="59"/>
                  </a:cubicBezTo>
                  <a:cubicBezTo>
                    <a:pt x="115" y="79"/>
                    <a:pt x="115" y="79"/>
                    <a:pt x="115" y="79"/>
                  </a:cubicBezTo>
                  <a:cubicBezTo>
                    <a:pt x="147" y="79"/>
                    <a:pt x="147" y="79"/>
                    <a:pt x="147" y="79"/>
                  </a:cubicBezTo>
                  <a:cubicBezTo>
                    <a:pt x="147" y="59"/>
                    <a:pt x="147" y="59"/>
                    <a:pt x="147" y="59"/>
                  </a:cubicBezTo>
                  <a:moveTo>
                    <a:pt x="147" y="31"/>
                  </a:moveTo>
                  <a:cubicBezTo>
                    <a:pt x="95" y="31"/>
                    <a:pt x="95" y="31"/>
                    <a:pt x="95" y="31"/>
                  </a:cubicBezTo>
                  <a:cubicBezTo>
                    <a:pt x="89" y="36"/>
                    <a:pt x="89" y="36"/>
                    <a:pt x="89" y="36"/>
                  </a:cubicBezTo>
                  <a:cubicBezTo>
                    <a:pt x="115" y="36"/>
                    <a:pt x="115" y="36"/>
                    <a:pt x="115" y="36"/>
                  </a:cubicBezTo>
                  <a:cubicBezTo>
                    <a:pt x="115" y="50"/>
                    <a:pt x="115" y="50"/>
                    <a:pt x="115" y="50"/>
                  </a:cubicBezTo>
                  <a:cubicBezTo>
                    <a:pt x="147" y="50"/>
                    <a:pt x="147" y="50"/>
                    <a:pt x="147" y="50"/>
                  </a:cubicBezTo>
                  <a:cubicBezTo>
                    <a:pt x="147" y="31"/>
                    <a:pt x="147" y="31"/>
                    <a:pt x="147" y="31"/>
                  </a:cubicBezTo>
                  <a:moveTo>
                    <a:pt x="147" y="0"/>
                  </a:moveTo>
                  <a:cubicBezTo>
                    <a:pt x="126" y="0"/>
                    <a:pt x="126" y="0"/>
                    <a:pt x="126" y="0"/>
                  </a:cubicBezTo>
                  <a:cubicBezTo>
                    <a:pt x="115" y="10"/>
                    <a:pt x="115" y="10"/>
                    <a:pt x="115" y="10"/>
                  </a:cubicBezTo>
                  <a:cubicBezTo>
                    <a:pt x="115" y="19"/>
                    <a:pt x="115" y="19"/>
                    <a:pt x="115" y="19"/>
                  </a:cubicBezTo>
                  <a:cubicBezTo>
                    <a:pt x="107" y="19"/>
                    <a:pt x="107" y="19"/>
                    <a:pt x="107" y="19"/>
                  </a:cubicBezTo>
                  <a:cubicBezTo>
                    <a:pt x="147" y="19"/>
                    <a:pt x="147" y="19"/>
                    <a:pt x="147" y="19"/>
                  </a:cubicBezTo>
                  <a:cubicBezTo>
                    <a:pt x="147" y="0"/>
                    <a:pt x="147" y="0"/>
                    <a:pt x="147" y="0"/>
                  </a:cubicBezTo>
                </a:path>
              </a:pathLst>
            </a:custGeom>
            <a:solidFill>
              <a:srgbClr val="2459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02" name="íṥḻïḋè"/>
            <p:cNvSpPr/>
            <p:nvPr/>
          </p:nvSpPr>
          <p:spPr bwMode="auto">
            <a:xfrm>
              <a:off x="5600701" y="2471738"/>
              <a:ext cx="95250" cy="26988"/>
            </a:xfrm>
            <a:prstGeom prst="rect">
              <a:avLst/>
            </a:prstGeom>
            <a:solidFill>
              <a:srgbClr val="62E9F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03" name="íṡ1íḍè"/>
            <p:cNvSpPr/>
            <p:nvPr/>
          </p:nvSpPr>
          <p:spPr bwMode="auto">
            <a:xfrm>
              <a:off x="5600701" y="2471738"/>
              <a:ext cx="95250" cy="2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04" name="íşlïḑe"/>
            <p:cNvSpPr/>
            <p:nvPr/>
          </p:nvSpPr>
          <p:spPr bwMode="auto">
            <a:xfrm>
              <a:off x="5540376" y="2379663"/>
              <a:ext cx="155575" cy="34925"/>
            </a:xfrm>
            <a:custGeom>
              <a:avLst/>
              <a:gdLst>
                <a:gd name="T0" fmla="*/ 98 w 98"/>
                <a:gd name="T1" fmla="*/ 0 h 22"/>
                <a:gd name="T2" fmla="*/ 22 w 98"/>
                <a:gd name="T3" fmla="*/ 0 h 22"/>
                <a:gd name="T4" fmla="*/ 0 w 98"/>
                <a:gd name="T5" fmla="*/ 22 h 22"/>
                <a:gd name="T6" fmla="*/ 98 w 98"/>
                <a:gd name="T7" fmla="*/ 22 h 22"/>
                <a:gd name="T8" fmla="*/ 98 w 98"/>
                <a:gd name="T9" fmla="*/ 0 h 22"/>
              </a:gdLst>
              <a:ahLst/>
              <a:cxnLst>
                <a:cxn ang="0">
                  <a:pos x="T0" y="T1"/>
                </a:cxn>
                <a:cxn ang="0">
                  <a:pos x="T2" y="T3"/>
                </a:cxn>
                <a:cxn ang="0">
                  <a:pos x="T4" y="T5"/>
                </a:cxn>
                <a:cxn ang="0">
                  <a:pos x="T6" y="T7"/>
                </a:cxn>
                <a:cxn ang="0">
                  <a:pos x="T8" y="T9"/>
                </a:cxn>
              </a:cxnLst>
              <a:rect l="0" t="0" r="r" b="b"/>
              <a:pathLst>
                <a:path w="98" h="22">
                  <a:moveTo>
                    <a:pt x="98" y="0"/>
                  </a:moveTo>
                  <a:lnTo>
                    <a:pt x="22" y="0"/>
                  </a:lnTo>
                  <a:lnTo>
                    <a:pt x="0" y="22"/>
                  </a:lnTo>
                  <a:lnTo>
                    <a:pt x="98" y="22"/>
                  </a:lnTo>
                  <a:lnTo>
                    <a:pt x="98" y="0"/>
                  </a:lnTo>
                  <a:close/>
                </a:path>
              </a:pathLst>
            </a:custGeom>
            <a:solidFill>
              <a:srgbClr val="36D5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05" name="iṩ1íďè"/>
            <p:cNvSpPr/>
            <p:nvPr/>
          </p:nvSpPr>
          <p:spPr bwMode="auto">
            <a:xfrm>
              <a:off x="5540376" y="2379663"/>
              <a:ext cx="155575" cy="34925"/>
            </a:xfrm>
            <a:custGeom>
              <a:avLst/>
              <a:gdLst>
                <a:gd name="T0" fmla="*/ 98 w 98"/>
                <a:gd name="T1" fmla="*/ 0 h 22"/>
                <a:gd name="T2" fmla="*/ 22 w 98"/>
                <a:gd name="T3" fmla="*/ 0 h 22"/>
                <a:gd name="T4" fmla="*/ 0 w 98"/>
                <a:gd name="T5" fmla="*/ 22 h 22"/>
                <a:gd name="T6" fmla="*/ 98 w 98"/>
                <a:gd name="T7" fmla="*/ 22 h 22"/>
                <a:gd name="T8" fmla="*/ 98 w 98"/>
                <a:gd name="T9" fmla="*/ 0 h 22"/>
              </a:gdLst>
              <a:ahLst/>
              <a:cxnLst>
                <a:cxn ang="0">
                  <a:pos x="T0" y="T1"/>
                </a:cxn>
                <a:cxn ang="0">
                  <a:pos x="T2" y="T3"/>
                </a:cxn>
                <a:cxn ang="0">
                  <a:pos x="T4" y="T5"/>
                </a:cxn>
                <a:cxn ang="0">
                  <a:pos x="T6" y="T7"/>
                </a:cxn>
                <a:cxn ang="0">
                  <a:pos x="T8" y="T9"/>
                </a:cxn>
              </a:cxnLst>
              <a:rect l="0" t="0" r="r" b="b"/>
              <a:pathLst>
                <a:path w="98" h="22">
                  <a:moveTo>
                    <a:pt x="98" y="0"/>
                  </a:moveTo>
                  <a:lnTo>
                    <a:pt x="22" y="0"/>
                  </a:lnTo>
                  <a:lnTo>
                    <a:pt x="0" y="22"/>
                  </a:lnTo>
                  <a:lnTo>
                    <a:pt x="98" y="22"/>
                  </a:lnTo>
                  <a:lnTo>
                    <a:pt x="9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06" name="îšlîdé"/>
            <p:cNvSpPr/>
            <p:nvPr/>
          </p:nvSpPr>
          <p:spPr bwMode="auto">
            <a:xfrm>
              <a:off x="5600701" y="2559050"/>
              <a:ext cx="95250" cy="19050"/>
            </a:xfrm>
            <a:prstGeom prst="rect">
              <a:avLst/>
            </a:prstGeom>
            <a:solidFill>
              <a:srgbClr val="97E96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07" name="îṡḻíḓê"/>
            <p:cNvSpPr/>
            <p:nvPr/>
          </p:nvSpPr>
          <p:spPr bwMode="auto">
            <a:xfrm>
              <a:off x="5600701" y="2559050"/>
              <a:ext cx="95250"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08" name="ïś1ïḑè"/>
            <p:cNvSpPr/>
            <p:nvPr/>
          </p:nvSpPr>
          <p:spPr bwMode="auto">
            <a:xfrm>
              <a:off x="5305426" y="2628900"/>
              <a:ext cx="390525" cy="17463"/>
            </a:xfrm>
            <a:custGeom>
              <a:avLst/>
              <a:gdLst>
                <a:gd name="T0" fmla="*/ 130 w 130"/>
                <a:gd name="T1" fmla="*/ 0 h 6"/>
                <a:gd name="T2" fmla="*/ 6 w 130"/>
                <a:gd name="T3" fmla="*/ 0 h 6"/>
                <a:gd name="T4" fmla="*/ 0 w 130"/>
                <a:gd name="T5" fmla="*/ 6 h 6"/>
                <a:gd name="T6" fmla="*/ 129 w 130"/>
                <a:gd name="T7" fmla="*/ 6 h 6"/>
                <a:gd name="T8" fmla="*/ 130 w 130"/>
                <a:gd name="T9" fmla="*/ 0 h 6"/>
              </a:gdLst>
              <a:ahLst/>
              <a:cxnLst>
                <a:cxn ang="0">
                  <a:pos x="T0" y="T1"/>
                </a:cxn>
                <a:cxn ang="0">
                  <a:pos x="T2" y="T3"/>
                </a:cxn>
                <a:cxn ang="0">
                  <a:pos x="T4" y="T5"/>
                </a:cxn>
                <a:cxn ang="0">
                  <a:pos x="T6" y="T7"/>
                </a:cxn>
                <a:cxn ang="0">
                  <a:pos x="T8" y="T9"/>
                </a:cxn>
              </a:cxnLst>
              <a:rect l="0" t="0" r="r" b="b"/>
              <a:pathLst>
                <a:path w="130" h="6">
                  <a:moveTo>
                    <a:pt x="130" y="0"/>
                  </a:moveTo>
                  <a:cubicBezTo>
                    <a:pt x="6" y="0"/>
                    <a:pt x="6" y="0"/>
                    <a:pt x="6" y="0"/>
                  </a:cubicBezTo>
                  <a:cubicBezTo>
                    <a:pt x="0" y="6"/>
                    <a:pt x="0" y="6"/>
                    <a:pt x="0" y="6"/>
                  </a:cubicBezTo>
                  <a:cubicBezTo>
                    <a:pt x="129" y="6"/>
                    <a:pt x="129" y="6"/>
                    <a:pt x="129" y="6"/>
                  </a:cubicBezTo>
                  <a:cubicBezTo>
                    <a:pt x="130" y="4"/>
                    <a:pt x="130" y="2"/>
                    <a:pt x="130" y="0"/>
                  </a:cubicBezTo>
                </a:path>
              </a:pathLst>
            </a:custGeom>
            <a:solidFill>
              <a:srgbClr val="97E96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09" name="i$ľidé"/>
            <p:cNvSpPr/>
            <p:nvPr/>
          </p:nvSpPr>
          <p:spPr bwMode="auto">
            <a:xfrm>
              <a:off x="5235576" y="2700338"/>
              <a:ext cx="425450" cy="19050"/>
            </a:xfrm>
            <a:custGeom>
              <a:avLst/>
              <a:gdLst>
                <a:gd name="T0" fmla="*/ 141 w 141"/>
                <a:gd name="T1" fmla="*/ 0 h 6"/>
                <a:gd name="T2" fmla="*/ 6 w 141"/>
                <a:gd name="T3" fmla="*/ 0 h 6"/>
                <a:gd name="T4" fmla="*/ 0 w 141"/>
                <a:gd name="T5" fmla="*/ 6 h 6"/>
                <a:gd name="T6" fmla="*/ 123 w 141"/>
                <a:gd name="T7" fmla="*/ 6 h 6"/>
                <a:gd name="T8" fmla="*/ 141 w 141"/>
                <a:gd name="T9" fmla="*/ 0 h 6"/>
              </a:gdLst>
              <a:ahLst/>
              <a:cxnLst>
                <a:cxn ang="0">
                  <a:pos x="T0" y="T1"/>
                </a:cxn>
                <a:cxn ang="0">
                  <a:pos x="T2" y="T3"/>
                </a:cxn>
                <a:cxn ang="0">
                  <a:pos x="T4" y="T5"/>
                </a:cxn>
                <a:cxn ang="0">
                  <a:pos x="T6" y="T7"/>
                </a:cxn>
                <a:cxn ang="0">
                  <a:pos x="T8" y="T9"/>
                </a:cxn>
              </a:cxnLst>
              <a:rect l="0" t="0" r="r" b="b"/>
              <a:pathLst>
                <a:path w="141" h="6">
                  <a:moveTo>
                    <a:pt x="141" y="0"/>
                  </a:moveTo>
                  <a:cubicBezTo>
                    <a:pt x="6" y="0"/>
                    <a:pt x="6" y="0"/>
                    <a:pt x="6" y="0"/>
                  </a:cubicBezTo>
                  <a:cubicBezTo>
                    <a:pt x="0" y="6"/>
                    <a:pt x="0" y="6"/>
                    <a:pt x="0" y="6"/>
                  </a:cubicBezTo>
                  <a:cubicBezTo>
                    <a:pt x="123" y="6"/>
                    <a:pt x="123" y="6"/>
                    <a:pt x="123" y="6"/>
                  </a:cubicBezTo>
                  <a:cubicBezTo>
                    <a:pt x="129" y="6"/>
                    <a:pt x="136" y="4"/>
                    <a:pt x="141" y="0"/>
                  </a:cubicBezTo>
                </a:path>
              </a:pathLst>
            </a:custGeom>
            <a:solidFill>
              <a:srgbClr val="97E96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10" name="iṣḷîḓé"/>
            <p:cNvSpPr/>
            <p:nvPr/>
          </p:nvSpPr>
          <p:spPr bwMode="auto">
            <a:xfrm>
              <a:off x="4057651" y="1852613"/>
              <a:ext cx="957263" cy="342900"/>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11" name="îSļîḋè"/>
            <p:cNvSpPr/>
            <p:nvPr/>
          </p:nvSpPr>
          <p:spPr bwMode="auto">
            <a:xfrm>
              <a:off x="4057651" y="1852613"/>
              <a:ext cx="95726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12" name="iŝlíḓe"/>
            <p:cNvSpPr/>
            <p:nvPr/>
          </p:nvSpPr>
          <p:spPr bwMode="auto">
            <a:xfrm>
              <a:off x="4057651" y="2259013"/>
              <a:ext cx="336550" cy="107950"/>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13" name="îšlíďè"/>
            <p:cNvSpPr/>
            <p:nvPr/>
          </p:nvSpPr>
          <p:spPr bwMode="auto">
            <a:xfrm>
              <a:off x="4057651" y="2259013"/>
              <a:ext cx="3365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14" name="ïsḻîḋé"/>
            <p:cNvSpPr/>
            <p:nvPr/>
          </p:nvSpPr>
          <p:spPr bwMode="auto">
            <a:xfrm>
              <a:off x="4445001" y="2259013"/>
              <a:ext cx="569913" cy="107950"/>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15" name="ïṩḻîḑé"/>
            <p:cNvSpPr/>
            <p:nvPr/>
          </p:nvSpPr>
          <p:spPr bwMode="auto">
            <a:xfrm>
              <a:off x="4445001" y="2259013"/>
              <a:ext cx="569913"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16" name="ïşḷíďê"/>
            <p:cNvSpPr/>
            <p:nvPr/>
          </p:nvSpPr>
          <p:spPr bwMode="auto">
            <a:xfrm>
              <a:off x="5078413" y="1852613"/>
              <a:ext cx="522288" cy="147638"/>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17" name="í$ḻïďê"/>
            <p:cNvSpPr/>
            <p:nvPr/>
          </p:nvSpPr>
          <p:spPr bwMode="auto">
            <a:xfrm>
              <a:off x="5078413" y="1852613"/>
              <a:ext cx="522288"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18" name="işļíḓe"/>
            <p:cNvSpPr/>
            <p:nvPr/>
          </p:nvSpPr>
          <p:spPr bwMode="auto">
            <a:xfrm>
              <a:off x="4057651" y="2430463"/>
              <a:ext cx="976313" cy="147638"/>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19" name="îşļîḑé"/>
            <p:cNvSpPr/>
            <p:nvPr/>
          </p:nvSpPr>
          <p:spPr bwMode="auto">
            <a:xfrm>
              <a:off x="4057651" y="2430463"/>
              <a:ext cx="976313"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20" name="îšḷïḓê"/>
            <p:cNvSpPr/>
            <p:nvPr/>
          </p:nvSpPr>
          <p:spPr bwMode="auto">
            <a:xfrm>
              <a:off x="5033963" y="2430463"/>
              <a:ext cx="84138" cy="147638"/>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21" name="íṡlïḍê"/>
            <p:cNvSpPr/>
            <p:nvPr/>
          </p:nvSpPr>
          <p:spPr bwMode="auto">
            <a:xfrm>
              <a:off x="5033963" y="2430463"/>
              <a:ext cx="84138"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22" name="ísḻíďê"/>
            <p:cNvSpPr/>
            <p:nvPr/>
          </p:nvSpPr>
          <p:spPr bwMode="auto">
            <a:xfrm>
              <a:off x="5118101" y="2430463"/>
              <a:ext cx="403225" cy="147638"/>
            </a:xfrm>
            <a:custGeom>
              <a:avLst/>
              <a:gdLst>
                <a:gd name="T0" fmla="*/ 26 w 134"/>
                <a:gd name="T1" fmla="*/ 23 h 49"/>
                <a:gd name="T2" fmla="*/ 22 w 134"/>
                <a:gd name="T3" fmla="*/ 18 h 49"/>
                <a:gd name="T4" fmla="*/ 26 w 134"/>
                <a:gd name="T5" fmla="*/ 14 h 49"/>
                <a:gd name="T6" fmla="*/ 50 w 134"/>
                <a:gd name="T7" fmla="*/ 14 h 49"/>
                <a:gd name="T8" fmla="*/ 55 w 134"/>
                <a:gd name="T9" fmla="*/ 18 h 49"/>
                <a:gd name="T10" fmla="*/ 50 w 134"/>
                <a:gd name="T11" fmla="*/ 23 h 49"/>
                <a:gd name="T12" fmla="*/ 26 w 134"/>
                <a:gd name="T13" fmla="*/ 23 h 49"/>
                <a:gd name="T14" fmla="*/ 134 w 134"/>
                <a:gd name="T15" fmla="*/ 0 h 49"/>
                <a:gd name="T16" fmla="*/ 0 w 134"/>
                <a:gd name="T17" fmla="*/ 0 h 49"/>
                <a:gd name="T18" fmla="*/ 0 w 134"/>
                <a:gd name="T19" fmla="*/ 49 h 49"/>
                <a:gd name="T20" fmla="*/ 85 w 134"/>
                <a:gd name="T21" fmla="*/ 49 h 49"/>
                <a:gd name="T22" fmla="*/ 86 w 134"/>
                <a:gd name="T23" fmla="*/ 49 h 49"/>
                <a:gd name="T24" fmla="*/ 28 w 134"/>
                <a:gd name="T25" fmla="*/ 49 h 49"/>
                <a:gd name="T26" fmla="*/ 25 w 134"/>
                <a:gd name="T27" fmla="*/ 46 h 49"/>
                <a:gd name="T28" fmla="*/ 28 w 134"/>
                <a:gd name="T29" fmla="*/ 43 h 49"/>
                <a:gd name="T30" fmla="*/ 92 w 134"/>
                <a:gd name="T31" fmla="*/ 43 h 49"/>
                <a:gd name="T32" fmla="*/ 111 w 134"/>
                <a:gd name="T33" fmla="*/ 23 h 49"/>
                <a:gd name="T34" fmla="*/ 91 w 134"/>
                <a:gd name="T35" fmla="*/ 23 h 49"/>
                <a:gd name="T36" fmla="*/ 87 w 134"/>
                <a:gd name="T37" fmla="*/ 18 h 49"/>
                <a:gd name="T38" fmla="*/ 91 w 134"/>
                <a:gd name="T39" fmla="*/ 14 h 49"/>
                <a:gd name="T40" fmla="*/ 121 w 134"/>
                <a:gd name="T41" fmla="*/ 14 h 49"/>
                <a:gd name="T42" fmla="*/ 134 w 134"/>
                <a:gd name="T43"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49">
                  <a:moveTo>
                    <a:pt x="26" y="23"/>
                  </a:moveTo>
                  <a:cubicBezTo>
                    <a:pt x="24" y="23"/>
                    <a:pt x="22" y="21"/>
                    <a:pt x="22" y="18"/>
                  </a:cubicBezTo>
                  <a:cubicBezTo>
                    <a:pt x="22" y="16"/>
                    <a:pt x="24" y="14"/>
                    <a:pt x="26" y="14"/>
                  </a:cubicBezTo>
                  <a:cubicBezTo>
                    <a:pt x="50" y="14"/>
                    <a:pt x="50" y="14"/>
                    <a:pt x="50" y="14"/>
                  </a:cubicBezTo>
                  <a:cubicBezTo>
                    <a:pt x="53" y="14"/>
                    <a:pt x="55" y="16"/>
                    <a:pt x="55" y="18"/>
                  </a:cubicBezTo>
                  <a:cubicBezTo>
                    <a:pt x="55" y="21"/>
                    <a:pt x="53" y="23"/>
                    <a:pt x="50" y="23"/>
                  </a:cubicBezTo>
                  <a:cubicBezTo>
                    <a:pt x="26" y="23"/>
                    <a:pt x="26" y="23"/>
                    <a:pt x="26" y="23"/>
                  </a:cubicBezTo>
                  <a:moveTo>
                    <a:pt x="134" y="0"/>
                  </a:moveTo>
                  <a:cubicBezTo>
                    <a:pt x="0" y="0"/>
                    <a:pt x="0" y="0"/>
                    <a:pt x="0" y="0"/>
                  </a:cubicBezTo>
                  <a:cubicBezTo>
                    <a:pt x="0" y="49"/>
                    <a:pt x="0" y="49"/>
                    <a:pt x="0" y="49"/>
                  </a:cubicBezTo>
                  <a:cubicBezTo>
                    <a:pt x="85" y="49"/>
                    <a:pt x="85" y="49"/>
                    <a:pt x="85" y="49"/>
                  </a:cubicBezTo>
                  <a:cubicBezTo>
                    <a:pt x="86" y="49"/>
                    <a:pt x="86" y="49"/>
                    <a:pt x="86" y="49"/>
                  </a:cubicBezTo>
                  <a:cubicBezTo>
                    <a:pt x="28" y="49"/>
                    <a:pt x="28" y="49"/>
                    <a:pt x="28" y="49"/>
                  </a:cubicBezTo>
                  <a:cubicBezTo>
                    <a:pt x="27" y="49"/>
                    <a:pt x="25" y="47"/>
                    <a:pt x="25" y="46"/>
                  </a:cubicBezTo>
                  <a:cubicBezTo>
                    <a:pt x="25" y="44"/>
                    <a:pt x="27" y="43"/>
                    <a:pt x="28" y="43"/>
                  </a:cubicBezTo>
                  <a:cubicBezTo>
                    <a:pt x="92" y="43"/>
                    <a:pt x="92" y="43"/>
                    <a:pt x="92" y="43"/>
                  </a:cubicBezTo>
                  <a:cubicBezTo>
                    <a:pt x="111" y="23"/>
                    <a:pt x="111" y="23"/>
                    <a:pt x="111" y="23"/>
                  </a:cubicBezTo>
                  <a:cubicBezTo>
                    <a:pt x="91" y="23"/>
                    <a:pt x="91" y="23"/>
                    <a:pt x="91" y="23"/>
                  </a:cubicBezTo>
                  <a:cubicBezTo>
                    <a:pt x="89" y="23"/>
                    <a:pt x="87" y="21"/>
                    <a:pt x="87" y="18"/>
                  </a:cubicBezTo>
                  <a:cubicBezTo>
                    <a:pt x="87" y="16"/>
                    <a:pt x="89" y="14"/>
                    <a:pt x="91" y="14"/>
                  </a:cubicBezTo>
                  <a:cubicBezTo>
                    <a:pt x="121" y="14"/>
                    <a:pt x="121" y="14"/>
                    <a:pt x="121" y="14"/>
                  </a:cubicBezTo>
                  <a:cubicBezTo>
                    <a:pt x="134" y="0"/>
                    <a:pt x="134" y="0"/>
                    <a:pt x="134"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23" name="í$liḍè"/>
            <p:cNvSpPr/>
            <p:nvPr/>
          </p:nvSpPr>
          <p:spPr bwMode="auto">
            <a:xfrm>
              <a:off x="5380038" y="2471738"/>
              <a:ext cx="103188" cy="26988"/>
            </a:xfrm>
            <a:custGeom>
              <a:avLst/>
              <a:gdLst>
                <a:gd name="T0" fmla="*/ 34 w 34"/>
                <a:gd name="T1" fmla="*/ 0 h 9"/>
                <a:gd name="T2" fmla="*/ 4 w 34"/>
                <a:gd name="T3" fmla="*/ 0 h 9"/>
                <a:gd name="T4" fmla="*/ 0 w 34"/>
                <a:gd name="T5" fmla="*/ 4 h 9"/>
                <a:gd name="T6" fmla="*/ 4 w 34"/>
                <a:gd name="T7" fmla="*/ 9 h 9"/>
                <a:gd name="T8" fmla="*/ 24 w 34"/>
                <a:gd name="T9" fmla="*/ 9 h 9"/>
                <a:gd name="T10" fmla="*/ 34 w 34"/>
                <a:gd name="T11" fmla="*/ 0 h 9"/>
              </a:gdLst>
              <a:ahLst/>
              <a:cxnLst>
                <a:cxn ang="0">
                  <a:pos x="T0" y="T1"/>
                </a:cxn>
                <a:cxn ang="0">
                  <a:pos x="T2" y="T3"/>
                </a:cxn>
                <a:cxn ang="0">
                  <a:pos x="T4" y="T5"/>
                </a:cxn>
                <a:cxn ang="0">
                  <a:pos x="T6" y="T7"/>
                </a:cxn>
                <a:cxn ang="0">
                  <a:pos x="T8" y="T9"/>
                </a:cxn>
                <a:cxn ang="0">
                  <a:pos x="T10" y="T11"/>
                </a:cxn>
              </a:cxnLst>
              <a:rect l="0" t="0" r="r" b="b"/>
              <a:pathLst>
                <a:path w="34" h="9">
                  <a:moveTo>
                    <a:pt x="34" y="0"/>
                  </a:moveTo>
                  <a:cubicBezTo>
                    <a:pt x="4" y="0"/>
                    <a:pt x="4" y="0"/>
                    <a:pt x="4" y="0"/>
                  </a:cubicBezTo>
                  <a:cubicBezTo>
                    <a:pt x="2" y="0"/>
                    <a:pt x="0" y="2"/>
                    <a:pt x="0" y="4"/>
                  </a:cubicBezTo>
                  <a:cubicBezTo>
                    <a:pt x="0" y="7"/>
                    <a:pt x="2" y="9"/>
                    <a:pt x="4" y="9"/>
                  </a:cubicBezTo>
                  <a:cubicBezTo>
                    <a:pt x="24" y="9"/>
                    <a:pt x="24" y="9"/>
                    <a:pt x="24" y="9"/>
                  </a:cubicBezTo>
                  <a:cubicBezTo>
                    <a:pt x="34" y="0"/>
                    <a:pt x="34" y="0"/>
                    <a:pt x="34" y="0"/>
                  </a:cubicBezTo>
                </a:path>
              </a:pathLst>
            </a:custGeom>
            <a:solidFill>
              <a:srgbClr val="59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24" name="iṩḷîdé"/>
            <p:cNvSpPr/>
            <p:nvPr/>
          </p:nvSpPr>
          <p:spPr bwMode="auto">
            <a:xfrm>
              <a:off x="5184776" y="2471738"/>
              <a:ext cx="98425" cy="26988"/>
            </a:xfrm>
            <a:custGeom>
              <a:avLst/>
              <a:gdLst>
                <a:gd name="T0" fmla="*/ 28 w 33"/>
                <a:gd name="T1" fmla="*/ 0 h 9"/>
                <a:gd name="T2" fmla="*/ 4 w 33"/>
                <a:gd name="T3" fmla="*/ 0 h 9"/>
                <a:gd name="T4" fmla="*/ 0 w 33"/>
                <a:gd name="T5" fmla="*/ 4 h 9"/>
                <a:gd name="T6" fmla="*/ 4 w 33"/>
                <a:gd name="T7" fmla="*/ 9 h 9"/>
                <a:gd name="T8" fmla="*/ 28 w 33"/>
                <a:gd name="T9" fmla="*/ 9 h 9"/>
                <a:gd name="T10" fmla="*/ 33 w 33"/>
                <a:gd name="T11" fmla="*/ 4 h 9"/>
                <a:gd name="T12" fmla="*/ 28 w 33"/>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33" h="9">
                  <a:moveTo>
                    <a:pt x="28" y="0"/>
                  </a:moveTo>
                  <a:cubicBezTo>
                    <a:pt x="4" y="0"/>
                    <a:pt x="4" y="0"/>
                    <a:pt x="4" y="0"/>
                  </a:cubicBezTo>
                  <a:cubicBezTo>
                    <a:pt x="2" y="0"/>
                    <a:pt x="0" y="2"/>
                    <a:pt x="0" y="4"/>
                  </a:cubicBezTo>
                  <a:cubicBezTo>
                    <a:pt x="0" y="7"/>
                    <a:pt x="2" y="9"/>
                    <a:pt x="4" y="9"/>
                  </a:cubicBezTo>
                  <a:cubicBezTo>
                    <a:pt x="28" y="9"/>
                    <a:pt x="28" y="9"/>
                    <a:pt x="28" y="9"/>
                  </a:cubicBezTo>
                  <a:cubicBezTo>
                    <a:pt x="31" y="9"/>
                    <a:pt x="33" y="7"/>
                    <a:pt x="33" y="4"/>
                  </a:cubicBezTo>
                  <a:cubicBezTo>
                    <a:pt x="33" y="2"/>
                    <a:pt x="31" y="0"/>
                    <a:pt x="28" y="0"/>
                  </a:cubicBezTo>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25" name="ïṡliḓe"/>
            <p:cNvSpPr/>
            <p:nvPr/>
          </p:nvSpPr>
          <p:spPr bwMode="auto">
            <a:xfrm>
              <a:off x="5192713" y="2559051"/>
              <a:ext cx="201613" cy="19050"/>
            </a:xfrm>
            <a:custGeom>
              <a:avLst/>
              <a:gdLst>
                <a:gd name="T0" fmla="*/ 67 w 67"/>
                <a:gd name="T1" fmla="*/ 0 h 6"/>
                <a:gd name="T2" fmla="*/ 3 w 67"/>
                <a:gd name="T3" fmla="*/ 0 h 6"/>
                <a:gd name="T4" fmla="*/ 0 w 67"/>
                <a:gd name="T5" fmla="*/ 3 h 6"/>
                <a:gd name="T6" fmla="*/ 3 w 67"/>
                <a:gd name="T7" fmla="*/ 6 h 6"/>
                <a:gd name="T8" fmla="*/ 61 w 67"/>
                <a:gd name="T9" fmla="*/ 6 h 6"/>
                <a:gd name="T10" fmla="*/ 67 w 67"/>
                <a:gd name="T11" fmla="*/ 0 h 6"/>
              </a:gdLst>
              <a:ahLst/>
              <a:cxnLst>
                <a:cxn ang="0">
                  <a:pos x="T0" y="T1"/>
                </a:cxn>
                <a:cxn ang="0">
                  <a:pos x="T2" y="T3"/>
                </a:cxn>
                <a:cxn ang="0">
                  <a:pos x="T4" y="T5"/>
                </a:cxn>
                <a:cxn ang="0">
                  <a:pos x="T6" y="T7"/>
                </a:cxn>
                <a:cxn ang="0">
                  <a:pos x="T8" y="T9"/>
                </a:cxn>
                <a:cxn ang="0">
                  <a:pos x="T10" y="T11"/>
                </a:cxn>
              </a:cxnLst>
              <a:rect l="0" t="0" r="r" b="b"/>
              <a:pathLst>
                <a:path w="67" h="6">
                  <a:moveTo>
                    <a:pt x="67" y="0"/>
                  </a:moveTo>
                  <a:cubicBezTo>
                    <a:pt x="3" y="0"/>
                    <a:pt x="3" y="0"/>
                    <a:pt x="3" y="0"/>
                  </a:cubicBezTo>
                  <a:cubicBezTo>
                    <a:pt x="2" y="0"/>
                    <a:pt x="0" y="1"/>
                    <a:pt x="0" y="3"/>
                  </a:cubicBezTo>
                  <a:cubicBezTo>
                    <a:pt x="0" y="4"/>
                    <a:pt x="2" y="6"/>
                    <a:pt x="3" y="6"/>
                  </a:cubicBezTo>
                  <a:cubicBezTo>
                    <a:pt x="61" y="6"/>
                    <a:pt x="61" y="6"/>
                    <a:pt x="61" y="6"/>
                  </a:cubicBezTo>
                  <a:cubicBezTo>
                    <a:pt x="67" y="0"/>
                    <a:pt x="67" y="0"/>
                    <a:pt x="67" y="0"/>
                  </a:cubicBezTo>
                </a:path>
              </a:pathLst>
            </a:custGeom>
            <a:solidFill>
              <a:srgbClr val="86ED7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26" name="iṩļiḋé"/>
            <p:cNvSpPr/>
            <p:nvPr/>
          </p:nvSpPr>
          <p:spPr bwMode="auto">
            <a:xfrm>
              <a:off x="5373688" y="2430463"/>
              <a:ext cx="227013" cy="147638"/>
            </a:xfrm>
            <a:custGeom>
              <a:avLst/>
              <a:gdLst>
                <a:gd name="T0" fmla="*/ 143 w 143"/>
                <a:gd name="T1" fmla="*/ 93 h 93"/>
                <a:gd name="T2" fmla="*/ 2 w 143"/>
                <a:gd name="T3" fmla="*/ 93 h 93"/>
                <a:gd name="T4" fmla="*/ 0 w 143"/>
                <a:gd name="T5" fmla="*/ 93 h 93"/>
                <a:gd name="T6" fmla="*/ 143 w 143"/>
                <a:gd name="T7" fmla="*/ 93 h 93"/>
                <a:gd name="T8" fmla="*/ 143 w 143"/>
                <a:gd name="T9" fmla="*/ 93 h 93"/>
                <a:gd name="T10" fmla="*/ 143 w 143"/>
                <a:gd name="T11" fmla="*/ 43 h 93"/>
                <a:gd name="T12" fmla="*/ 50 w 143"/>
                <a:gd name="T13" fmla="*/ 43 h 93"/>
                <a:gd name="T14" fmla="*/ 13 w 143"/>
                <a:gd name="T15" fmla="*/ 81 h 93"/>
                <a:gd name="T16" fmla="*/ 143 w 143"/>
                <a:gd name="T17" fmla="*/ 81 h 93"/>
                <a:gd name="T18" fmla="*/ 143 w 143"/>
                <a:gd name="T19" fmla="*/ 43 h 93"/>
                <a:gd name="T20" fmla="*/ 143 w 143"/>
                <a:gd name="T21" fmla="*/ 0 h 93"/>
                <a:gd name="T22" fmla="*/ 93 w 143"/>
                <a:gd name="T23" fmla="*/ 0 h 93"/>
                <a:gd name="T24" fmla="*/ 69 w 143"/>
                <a:gd name="T25" fmla="*/ 26 h 93"/>
                <a:gd name="T26" fmla="*/ 143 w 143"/>
                <a:gd name="T27" fmla="*/ 26 h 93"/>
                <a:gd name="T28" fmla="*/ 143 w 143"/>
                <a:gd name="T29"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3" h="93">
                  <a:moveTo>
                    <a:pt x="143" y="93"/>
                  </a:moveTo>
                  <a:lnTo>
                    <a:pt x="2" y="93"/>
                  </a:lnTo>
                  <a:lnTo>
                    <a:pt x="0" y="93"/>
                  </a:lnTo>
                  <a:lnTo>
                    <a:pt x="143" y="93"/>
                  </a:lnTo>
                  <a:lnTo>
                    <a:pt x="143" y="93"/>
                  </a:lnTo>
                  <a:close/>
                  <a:moveTo>
                    <a:pt x="143" y="43"/>
                  </a:moveTo>
                  <a:lnTo>
                    <a:pt x="50" y="43"/>
                  </a:lnTo>
                  <a:lnTo>
                    <a:pt x="13" y="81"/>
                  </a:lnTo>
                  <a:lnTo>
                    <a:pt x="143" y="81"/>
                  </a:lnTo>
                  <a:lnTo>
                    <a:pt x="143" y="43"/>
                  </a:lnTo>
                  <a:close/>
                  <a:moveTo>
                    <a:pt x="143" y="0"/>
                  </a:moveTo>
                  <a:lnTo>
                    <a:pt x="93" y="0"/>
                  </a:lnTo>
                  <a:lnTo>
                    <a:pt x="69" y="26"/>
                  </a:lnTo>
                  <a:lnTo>
                    <a:pt x="143" y="26"/>
                  </a:lnTo>
                  <a:lnTo>
                    <a:pt x="143" y="0"/>
                  </a:lnTo>
                  <a:close/>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27" name="îṩļîdé"/>
            <p:cNvSpPr/>
            <p:nvPr/>
          </p:nvSpPr>
          <p:spPr bwMode="auto">
            <a:xfrm>
              <a:off x="5373688" y="2430463"/>
              <a:ext cx="227013" cy="147638"/>
            </a:xfrm>
            <a:custGeom>
              <a:avLst/>
              <a:gdLst>
                <a:gd name="T0" fmla="*/ 143 w 143"/>
                <a:gd name="T1" fmla="*/ 93 h 93"/>
                <a:gd name="T2" fmla="*/ 2 w 143"/>
                <a:gd name="T3" fmla="*/ 93 h 93"/>
                <a:gd name="T4" fmla="*/ 0 w 143"/>
                <a:gd name="T5" fmla="*/ 93 h 93"/>
                <a:gd name="T6" fmla="*/ 143 w 143"/>
                <a:gd name="T7" fmla="*/ 93 h 93"/>
                <a:gd name="T8" fmla="*/ 143 w 143"/>
                <a:gd name="T9" fmla="*/ 93 h 93"/>
                <a:gd name="T10" fmla="*/ 143 w 143"/>
                <a:gd name="T11" fmla="*/ 43 h 93"/>
                <a:gd name="T12" fmla="*/ 50 w 143"/>
                <a:gd name="T13" fmla="*/ 43 h 93"/>
                <a:gd name="T14" fmla="*/ 13 w 143"/>
                <a:gd name="T15" fmla="*/ 81 h 93"/>
                <a:gd name="T16" fmla="*/ 143 w 143"/>
                <a:gd name="T17" fmla="*/ 81 h 93"/>
                <a:gd name="T18" fmla="*/ 143 w 143"/>
                <a:gd name="T19" fmla="*/ 43 h 93"/>
                <a:gd name="T20" fmla="*/ 143 w 143"/>
                <a:gd name="T21" fmla="*/ 0 h 93"/>
                <a:gd name="T22" fmla="*/ 93 w 143"/>
                <a:gd name="T23" fmla="*/ 0 h 93"/>
                <a:gd name="T24" fmla="*/ 69 w 143"/>
                <a:gd name="T25" fmla="*/ 26 h 93"/>
                <a:gd name="T26" fmla="*/ 143 w 143"/>
                <a:gd name="T27" fmla="*/ 26 h 93"/>
                <a:gd name="T28" fmla="*/ 143 w 143"/>
                <a:gd name="T29"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3" h="93">
                  <a:moveTo>
                    <a:pt x="143" y="93"/>
                  </a:moveTo>
                  <a:lnTo>
                    <a:pt x="2" y="93"/>
                  </a:lnTo>
                  <a:lnTo>
                    <a:pt x="0" y="93"/>
                  </a:lnTo>
                  <a:lnTo>
                    <a:pt x="143" y="93"/>
                  </a:lnTo>
                  <a:lnTo>
                    <a:pt x="143" y="93"/>
                  </a:lnTo>
                  <a:moveTo>
                    <a:pt x="143" y="43"/>
                  </a:moveTo>
                  <a:lnTo>
                    <a:pt x="50" y="43"/>
                  </a:lnTo>
                  <a:lnTo>
                    <a:pt x="13" y="81"/>
                  </a:lnTo>
                  <a:lnTo>
                    <a:pt x="143" y="81"/>
                  </a:lnTo>
                  <a:lnTo>
                    <a:pt x="143" y="43"/>
                  </a:lnTo>
                  <a:moveTo>
                    <a:pt x="143" y="0"/>
                  </a:moveTo>
                  <a:lnTo>
                    <a:pt x="93" y="0"/>
                  </a:lnTo>
                  <a:lnTo>
                    <a:pt x="69" y="26"/>
                  </a:lnTo>
                  <a:lnTo>
                    <a:pt x="143" y="26"/>
                  </a:lnTo>
                  <a:lnTo>
                    <a:pt x="14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28" name="is1ïḋè"/>
            <p:cNvSpPr/>
            <p:nvPr/>
          </p:nvSpPr>
          <p:spPr bwMode="auto">
            <a:xfrm>
              <a:off x="5453063" y="2471738"/>
              <a:ext cx="147638" cy="26988"/>
            </a:xfrm>
            <a:custGeom>
              <a:avLst/>
              <a:gdLst>
                <a:gd name="T0" fmla="*/ 93 w 93"/>
                <a:gd name="T1" fmla="*/ 0 h 17"/>
                <a:gd name="T2" fmla="*/ 19 w 93"/>
                <a:gd name="T3" fmla="*/ 0 h 17"/>
                <a:gd name="T4" fmla="*/ 0 w 93"/>
                <a:gd name="T5" fmla="*/ 17 h 17"/>
                <a:gd name="T6" fmla="*/ 93 w 93"/>
                <a:gd name="T7" fmla="*/ 17 h 17"/>
                <a:gd name="T8" fmla="*/ 93 w 93"/>
                <a:gd name="T9" fmla="*/ 0 h 17"/>
              </a:gdLst>
              <a:ahLst/>
              <a:cxnLst>
                <a:cxn ang="0">
                  <a:pos x="T0" y="T1"/>
                </a:cxn>
                <a:cxn ang="0">
                  <a:pos x="T2" y="T3"/>
                </a:cxn>
                <a:cxn ang="0">
                  <a:pos x="T4" y="T5"/>
                </a:cxn>
                <a:cxn ang="0">
                  <a:pos x="T6" y="T7"/>
                </a:cxn>
                <a:cxn ang="0">
                  <a:pos x="T8" y="T9"/>
                </a:cxn>
              </a:cxnLst>
              <a:rect l="0" t="0" r="r" b="b"/>
              <a:pathLst>
                <a:path w="93" h="17">
                  <a:moveTo>
                    <a:pt x="93" y="0"/>
                  </a:moveTo>
                  <a:lnTo>
                    <a:pt x="19" y="0"/>
                  </a:lnTo>
                  <a:lnTo>
                    <a:pt x="0" y="17"/>
                  </a:lnTo>
                  <a:lnTo>
                    <a:pt x="93" y="17"/>
                  </a:lnTo>
                  <a:lnTo>
                    <a:pt x="93" y="0"/>
                  </a:lnTo>
                  <a:close/>
                </a:path>
              </a:pathLst>
            </a:custGeom>
            <a:solidFill>
              <a:srgbClr val="54E5F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29" name="íṥľíḓè"/>
            <p:cNvSpPr/>
            <p:nvPr/>
          </p:nvSpPr>
          <p:spPr bwMode="auto">
            <a:xfrm>
              <a:off x="5453063" y="2471738"/>
              <a:ext cx="147638" cy="26988"/>
            </a:xfrm>
            <a:custGeom>
              <a:avLst/>
              <a:gdLst>
                <a:gd name="T0" fmla="*/ 93 w 93"/>
                <a:gd name="T1" fmla="*/ 0 h 17"/>
                <a:gd name="T2" fmla="*/ 19 w 93"/>
                <a:gd name="T3" fmla="*/ 0 h 17"/>
                <a:gd name="T4" fmla="*/ 0 w 93"/>
                <a:gd name="T5" fmla="*/ 17 h 17"/>
                <a:gd name="T6" fmla="*/ 93 w 93"/>
                <a:gd name="T7" fmla="*/ 17 h 17"/>
                <a:gd name="T8" fmla="*/ 93 w 93"/>
                <a:gd name="T9" fmla="*/ 0 h 17"/>
              </a:gdLst>
              <a:ahLst/>
              <a:cxnLst>
                <a:cxn ang="0">
                  <a:pos x="T0" y="T1"/>
                </a:cxn>
                <a:cxn ang="0">
                  <a:pos x="T2" y="T3"/>
                </a:cxn>
                <a:cxn ang="0">
                  <a:pos x="T4" y="T5"/>
                </a:cxn>
                <a:cxn ang="0">
                  <a:pos x="T6" y="T7"/>
                </a:cxn>
                <a:cxn ang="0">
                  <a:pos x="T8" y="T9"/>
                </a:cxn>
              </a:cxnLst>
              <a:rect l="0" t="0" r="r" b="b"/>
              <a:pathLst>
                <a:path w="93" h="17">
                  <a:moveTo>
                    <a:pt x="93" y="0"/>
                  </a:moveTo>
                  <a:lnTo>
                    <a:pt x="19" y="0"/>
                  </a:lnTo>
                  <a:lnTo>
                    <a:pt x="0" y="17"/>
                  </a:lnTo>
                  <a:lnTo>
                    <a:pt x="93" y="17"/>
                  </a:lnTo>
                  <a:lnTo>
                    <a:pt x="9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30" name="ïṧlîďê"/>
            <p:cNvSpPr/>
            <p:nvPr/>
          </p:nvSpPr>
          <p:spPr bwMode="auto">
            <a:xfrm>
              <a:off x="5376863" y="2559051"/>
              <a:ext cx="223838" cy="19050"/>
            </a:xfrm>
            <a:custGeom>
              <a:avLst/>
              <a:gdLst>
                <a:gd name="T0" fmla="*/ 141 w 141"/>
                <a:gd name="T1" fmla="*/ 0 h 12"/>
                <a:gd name="T2" fmla="*/ 11 w 141"/>
                <a:gd name="T3" fmla="*/ 0 h 12"/>
                <a:gd name="T4" fmla="*/ 0 w 141"/>
                <a:gd name="T5" fmla="*/ 12 h 12"/>
                <a:gd name="T6" fmla="*/ 141 w 141"/>
                <a:gd name="T7" fmla="*/ 12 h 12"/>
                <a:gd name="T8" fmla="*/ 141 w 141"/>
                <a:gd name="T9" fmla="*/ 0 h 12"/>
              </a:gdLst>
              <a:ahLst/>
              <a:cxnLst>
                <a:cxn ang="0">
                  <a:pos x="T0" y="T1"/>
                </a:cxn>
                <a:cxn ang="0">
                  <a:pos x="T2" y="T3"/>
                </a:cxn>
                <a:cxn ang="0">
                  <a:pos x="T4" y="T5"/>
                </a:cxn>
                <a:cxn ang="0">
                  <a:pos x="T6" y="T7"/>
                </a:cxn>
                <a:cxn ang="0">
                  <a:pos x="T8" y="T9"/>
                </a:cxn>
              </a:cxnLst>
              <a:rect l="0" t="0" r="r" b="b"/>
              <a:pathLst>
                <a:path w="141" h="12">
                  <a:moveTo>
                    <a:pt x="141" y="0"/>
                  </a:moveTo>
                  <a:lnTo>
                    <a:pt x="11" y="0"/>
                  </a:lnTo>
                  <a:lnTo>
                    <a:pt x="0" y="12"/>
                  </a:lnTo>
                  <a:lnTo>
                    <a:pt x="141" y="12"/>
                  </a:lnTo>
                  <a:lnTo>
                    <a:pt x="141" y="0"/>
                  </a:lnTo>
                  <a:close/>
                </a:path>
              </a:pathLst>
            </a:custGeom>
            <a:solidFill>
              <a:srgbClr val="79E5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31" name="î$ľïḍè"/>
            <p:cNvSpPr/>
            <p:nvPr/>
          </p:nvSpPr>
          <p:spPr bwMode="auto">
            <a:xfrm>
              <a:off x="5376863" y="2559051"/>
              <a:ext cx="223838" cy="19050"/>
            </a:xfrm>
            <a:custGeom>
              <a:avLst/>
              <a:gdLst>
                <a:gd name="T0" fmla="*/ 141 w 141"/>
                <a:gd name="T1" fmla="*/ 0 h 12"/>
                <a:gd name="T2" fmla="*/ 11 w 141"/>
                <a:gd name="T3" fmla="*/ 0 h 12"/>
                <a:gd name="T4" fmla="*/ 0 w 141"/>
                <a:gd name="T5" fmla="*/ 12 h 12"/>
                <a:gd name="T6" fmla="*/ 141 w 141"/>
                <a:gd name="T7" fmla="*/ 12 h 12"/>
                <a:gd name="T8" fmla="*/ 141 w 141"/>
                <a:gd name="T9" fmla="*/ 0 h 12"/>
              </a:gdLst>
              <a:ahLst/>
              <a:cxnLst>
                <a:cxn ang="0">
                  <a:pos x="T0" y="T1"/>
                </a:cxn>
                <a:cxn ang="0">
                  <a:pos x="T2" y="T3"/>
                </a:cxn>
                <a:cxn ang="0">
                  <a:pos x="T4" y="T5"/>
                </a:cxn>
                <a:cxn ang="0">
                  <a:pos x="T6" y="T7"/>
                </a:cxn>
                <a:cxn ang="0">
                  <a:pos x="T8" y="T9"/>
                </a:cxn>
              </a:cxnLst>
              <a:rect l="0" t="0" r="r" b="b"/>
              <a:pathLst>
                <a:path w="141" h="12">
                  <a:moveTo>
                    <a:pt x="141" y="0"/>
                  </a:moveTo>
                  <a:lnTo>
                    <a:pt x="11" y="0"/>
                  </a:lnTo>
                  <a:lnTo>
                    <a:pt x="0" y="12"/>
                  </a:lnTo>
                  <a:lnTo>
                    <a:pt x="141" y="12"/>
                  </a:lnTo>
                  <a:lnTo>
                    <a:pt x="1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32" name="iSḻîḍê"/>
            <p:cNvSpPr/>
            <p:nvPr/>
          </p:nvSpPr>
          <p:spPr bwMode="auto">
            <a:xfrm>
              <a:off x="5078413" y="2039938"/>
              <a:ext cx="522288" cy="188913"/>
            </a:xfrm>
            <a:custGeom>
              <a:avLst/>
              <a:gdLst>
                <a:gd name="T0" fmla="*/ 173 w 173"/>
                <a:gd name="T1" fmla="*/ 0 h 63"/>
                <a:gd name="T2" fmla="*/ 0 w 173"/>
                <a:gd name="T3" fmla="*/ 0 h 63"/>
                <a:gd name="T4" fmla="*/ 0 w 173"/>
                <a:gd name="T5" fmla="*/ 63 h 63"/>
                <a:gd name="T6" fmla="*/ 5 w 173"/>
                <a:gd name="T7" fmla="*/ 63 h 63"/>
                <a:gd name="T8" fmla="*/ 173 w 173"/>
                <a:gd name="T9" fmla="*/ 63 h 63"/>
                <a:gd name="T10" fmla="*/ 173 w 173"/>
                <a:gd name="T11" fmla="*/ 0 h 63"/>
              </a:gdLst>
              <a:ahLst/>
              <a:cxnLst>
                <a:cxn ang="0">
                  <a:pos x="T0" y="T1"/>
                </a:cxn>
                <a:cxn ang="0">
                  <a:pos x="T2" y="T3"/>
                </a:cxn>
                <a:cxn ang="0">
                  <a:pos x="T4" y="T5"/>
                </a:cxn>
                <a:cxn ang="0">
                  <a:pos x="T6" y="T7"/>
                </a:cxn>
                <a:cxn ang="0">
                  <a:pos x="T8" y="T9"/>
                </a:cxn>
                <a:cxn ang="0">
                  <a:pos x="T10" y="T11"/>
                </a:cxn>
              </a:cxnLst>
              <a:rect l="0" t="0" r="r" b="b"/>
              <a:pathLst>
                <a:path w="173" h="63">
                  <a:moveTo>
                    <a:pt x="173" y="0"/>
                  </a:moveTo>
                  <a:cubicBezTo>
                    <a:pt x="0" y="0"/>
                    <a:pt x="0" y="0"/>
                    <a:pt x="0" y="0"/>
                  </a:cubicBezTo>
                  <a:cubicBezTo>
                    <a:pt x="0" y="63"/>
                    <a:pt x="0" y="63"/>
                    <a:pt x="0" y="63"/>
                  </a:cubicBezTo>
                  <a:cubicBezTo>
                    <a:pt x="2" y="63"/>
                    <a:pt x="3" y="63"/>
                    <a:pt x="5" y="63"/>
                  </a:cubicBezTo>
                  <a:cubicBezTo>
                    <a:pt x="173" y="63"/>
                    <a:pt x="173" y="63"/>
                    <a:pt x="173" y="63"/>
                  </a:cubicBezTo>
                  <a:cubicBezTo>
                    <a:pt x="173" y="0"/>
                    <a:pt x="173" y="0"/>
                    <a:pt x="173"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33" name="îṩlíḍe"/>
            <p:cNvSpPr/>
            <p:nvPr/>
          </p:nvSpPr>
          <p:spPr bwMode="auto">
            <a:xfrm>
              <a:off x="5078413" y="2232026"/>
              <a:ext cx="522288" cy="147638"/>
            </a:xfrm>
            <a:custGeom>
              <a:avLst/>
              <a:gdLst>
                <a:gd name="T0" fmla="*/ 173 w 173"/>
                <a:gd name="T1" fmla="*/ 0 h 49"/>
                <a:gd name="T2" fmla="*/ 5 w 173"/>
                <a:gd name="T3" fmla="*/ 0 h 49"/>
                <a:gd name="T4" fmla="*/ 0 w 173"/>
                <a:gd name="T5" fmla="*/ 1 h 49"/>
                <a:gd name="T6" fmla="*/ 0 w 173"/>
                <a:gd name="T7" fmla="*/ 49 h 49"/>
                <a:gd name="T8" fmla="*/ 13 w 173"/>
                <a:gd name="T9" fmla="*/ 49 h 49"/>
                <a:gd name="T10" fmla="*/ 13 w 173"/>
                <a:gd name="T11" fmla="*/ 30 h 49"/>
                <a:gd name="T12" fmla="*/ 173 w 173"/>
                <a:gd name="T13" fmla="*/ 30 h 49"/>
                <a:gd name="T14" fmla="*/ 173 w 17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3" h="49">
                  <a:moveTo>
                    <a:pt x="173" y="0"/>
                  </a:moveTo>
                  <a:cubicBezTo>
                    <a:pt x="5" y="0"/>
                    <a:pt x="5" y="0"/>
                    <a:pt x="5" y="0"/>
                  </a:cubicBezTo>
                  <a:cubicBezTo>
                    <a:pt x="3" y="0"/>
                    <a:pt x="2" y="0"/>
                    <a:pt x="0" y="1"/>
                  </a:cubicBezTo>
                  <a:cubicBezTo>
                    <a:pt x="0" y="49"/>
                    <a:pt x="0" y="49"/>
                    <a:pt x="0" y="49"/>
                  </a:cubicBezTo>
                  <a:cubicBezTo>
                    <a:pt x="13" y="49"/>
                    <a:pt x="13" y="49"/>
                    <a:pt x="13" y="49"/>
                  </a:cubicBezTo>
                  <a:cubicBezTo>
                    <a:pt x="13" y="30"/>
                    <a:pt x="13" y="30"/>
                    <a:pt x="13" y="30"/>
                  </a:cubicBezTo>
                  <a:cubicBezTo>
                    <a:pt x="173" y="30"/>
                    <a:pt x="173" y="30"/>
                    <a:pt x="173" y="30"/>
                  </a:cubicBezTo>
                  <a:cubicBezTo>
                    <a:pt x="173" y="0"/>
                    <a:pt x="173" y="0"/>
                    <a:pt x="173" y="0"/>
                  </a:cubicBezTo>
                </a:path>
              </a:pathLst>
            </a:custGeom>
            <a:solidFill>
              <a:srgbClr val="2BA7D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34" name="îş1ïḓe"/>
            <p:cNvSpPr/>
            <p:nvPr/>
          </p:nvSpPr>
          <p:spPr bwMode="auto">
            <a:xfrm>
              <a:off x="5078413" y="2228851"/>
              <a:ext cx="522288" cy="6350"/>
            </a:xfrm>
            <a:custGeom>
              <a:avLst/>
              <a:gdLst>
                <a:gd name="T0" fmla="*/ 173 w 173"/>
                <a:gd name="T1" fmla="*/ 0 h 2"/>
                <a:gd name="T2" fmla="*/ 5 w 173"/>
                <a:gd name="T3" fmla="*/ 0 h 2"/>
                <a:gd name="T4" fmla="*/ 0 w 173"/>
                <a:gd name="T5" fmla="*/ 0 h 2"/>
                <a:gd name="T6" fmla="*/ 0 w 173"/>
                <a:gd name="T7" fmla="*/ 2 h 2"/>
                <a:gd name="T8" fmla="*/ 5 w 173"/>
                <a:gd name="T9" fmla="*/ 1 h 2"/>
                <a:gd name="T10" fmla="*/ 173 w 173"/>
                <a:gd name="T11" fmla="*/ 1 h 2"/>
                <a:gd name="T12" fmla="*/ 173 w 173"/>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173" h="2">
                  <a:moveTo>
                    <a:pt x="173" y="0"/>
                  </a:moveTo>
                  <a:cubicBezTo>
                    <a:pt x="5" y="0"/>
                    <a:pt x="5" y="0"/>
                    <a:pt x="5" y="0"/>
                  </a:cubicBezTo>
                  <a:cubicBezTo>
                    <a:pt x="3" y="0"/>
                    <a:pt x="2" y="0"/>
                    <a:pt x="0" y="0"/>
                  </a:cubicBezTo>
                  <a:cubicBezTo>
                    <a:pt x="0" y="2"/>
                    <a:pt x="0" y="2"/>
                    <a:pt x="0" y="2"/>
                  </a:cubicBezTo>
                  <a:cubicBezTo>
                    <a:pt x="2" y="1"/>
                    <a:pt x="3" y="1"/>
                    <a:pt x="5" y="1"/>
                  </a:cubicBezTo>
                  <a:cubicBezTo>
                    <a:pt x="173" y="1"/>
                    <a:pt x="173" y="1"/>
                    <a:pt x="173" y="1"/>
                  </a:cubicBezTo>
                  <a:cubicBezTo>
                    <a:pt x="173" y="0"/>
                    <a:pt x="173" y="0"/>
                    <a:pt x="173" y="0"/>
                  </a:cubicBezTo>
                </a:path>
              </a:pathLst>
            </a:custGeom>
            <a:solidFill>
              <a:srgbClr val="3DBEE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35" name="îṥḷíḋé"/>
            <p:cNvSpPr/>
            <p:nvPr/>
          </p:nvSpPr>
          <p:spPr bwMode="auto">
            <a:xfrm>
              <a:off x="5118101" y="2322513"/>
              <a:ext cx="482600" cy="57150"/>
            </a:xfrm>
            <a:custGeom>
              <a:avLst/>
              <a:gdLst>
                <a:gd name="T0" fmla="*/ 304 w 304"/>
                <a:gd name="T1" fmla="*/ 0 h 36"/>
                <a:gd name="T2" fmla="*/ 0 w 304"/>
                <a:gd name="T3" fmla="*/ 0 h 36"/>
                <a:gd name="T4" fmla="*/ 0 w 304"/>
                <a:gd name="T5" fmla="*/ 36 h 36"/>
                <a:gd name="T6" fmla="*/ 288 w 304"/>
                <a:gd name="T7" fmla="*/ 36 h 36"/>
                <a:gd name="T8" fmla="*/ 304 w 304"/>
                <a:gd name="T9" fmla="*/ 19 h 36"/>
                <a:gd name="T10" fmla="*/ 304 w 304"/>
                <a:gd name="T11" fmla="*/ 0 h 36"/>
              </a:gdLst>
              <a:ahLst/>
              <a:cxnLst>
                <a:cxn ang="0">
                  <a:pos x="T0" y="T1"/>
                </a:cxn>
                <a:cxn ang="0">
                  <a:pos x="T2" y="T3"/>
                </a:cxn>
                <a:cxn ang="0">
                  <a:pos x="T4" y="T5"/>
                </a:cxn>
                <a:cxn ang="0">
                  <a:pos x="T6" y="T7"/>
                </a:cxn>
                <a:cxn ang="0">
                  <a:pos x="T8" y="T9"/>
                </a:cxn>
                <a:cxn ang="0">
                  <a:pos x="T10" y="T11"/>
                </a:cxn>
              </a:cxnLst>
              <a:rect l="0" t="0" r="r" b="b"/>
              <a:pathLst>
                <a:path w="304" h="36">
                  <a:moveTo>
                    <a:pt x="304" y="0"/>
                  </a:moveTo>
                  <a:lnTo>
                    <a:pt x="0" y="0"/>
                  </a:lnTo>
                  <a:lnTo>
                    <a:pt x="0" y="36"/>
                  </a:lnTo>
                  <a:lnTo>
                    <a:pt x="288" y="36"/>
                  </a:lnTo>
                  <a:lnTo>
                    <a:pt x="304" y="19"/>
                  </a:lnTo>
                  <a:lnTo>
                    <a:pt x="304" y="0"/>
                  </a:lnTo>
                  <a:close/>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36" name="íSļîḋê"/>
            <p:cNvSpPr/>
            <p:nvPr/>
          </p:nvSpPr>
          <p:spPr bwMode="auto">
            <a:xfrm>
              <a:off x="5118101" y="2322513"/>
              <a:ext cx="482600" cy="57150"/>
            </a:xfrm>
            <a:custGeom>
              <a:avLst/>
              <a:gdLst>
                <a:gd name="T0" fmla="*/ 304 w 304"/>
                <a:gd name="T1" fmla="*/ 0 h 36"/>
                <a:gd name="T2" fmla="*/ 0 w 304"/>
                <a:gd name="T3" fmla="*/ 0 h 36"/>
                <a:gd name="T4" fmla="*/ 0 w 304"/>
                <a:gd name="T5" fmla="*/ 36 h 36"/>
                <a:gd name="T6" fmla="*/ 288 w 304"/>
                <a:gd name="T7" fmla="*/ 36 h 36"/>
                <a:gd name="T8" fmla="*/ 304 w 304"/>
                <a:gd name="T9" fmla="*/ 19 h 36"/>
                <a:gd name="T10" fmla="*/ 304 w 304"/>
                <a:gd name="T11" fmla="*/ 0 h 36"/>
              </a:gdLst>
              <a:ahLst/>
              <a:cxnLst>
                <a:cxn ang="0">
                  <a:pos x="T0" y="T1"/>
                </a:cxn>
                <a:cxn ang="0">
                  <a:pos x="T2" y="T3"/>
                </a:cxn>
                <a:cxn ang="0">
                  <a:pos x="T4" y="T5"/>
                </a:cxn>
                <a:cxn ang="0">
                  <a:pos x="T6" y="T7"/>
                </a:cxn>
                <a:cxn ang="0">
                  <a:pos x="T8" y="T9"/>
                </a:cxn>
                <a:cxn ang="0">
                  <a:pos x="T10" y="T11"/>
                </a:cxn>
              </a:cxnLst>
              <a:rect l="0" t="0" r="r" b="b"/>
              <a:pathLst>
                <a:path w="304" h="36">
                  <a:moveTo>
                    <a:pt x="304" y="0"/>
                  </a:moveTo>
                  <a:lnTo>
                    <a:pt x="0" y="0"/>
                  </a:lnTo>
                  <a:lnTo>
                    <a:pt x="0" y="36"/>
                  </a:lnTo>
                  <a:lnTo>
                    <a:pt x="288" y="36"/>
                  </a:lnTo>
                  <a:lnTo>
                    <a:pt x="304" y="19"/>
                  </a:lnTo>
                  <a:lnTo>
                    <a:pt x="30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37" name="iṡḷîḑe"/>
            <p:cNvSpPr/>
            <p:nvPr/>
          </p:nvSpPr>
          <p:spPr bwMode="auto">
            <a:xfrm>
              <a:off x="5575301" y="2352676"/>
              <a:ext cx="25400" cy="26988"/>
            </a:xfrm>
            <a:custGeom>
              <a:avLst/>
              <a:gdLst>
                <a:gd name="T0" fmla="*/ 16 w 16"/>
                <a:gd name="T1" fmla="*/ 0 h 17"/>
                <a:gd name="T2" fmla="*/ 0 w 16"/>
                <a:gd name="T3" fmla="*/ 17 h 17"/>
                <a:gd name="T4" fmla="*/ 16 w 16"/>
                <a:gd name="T5" fmla="*/ 17 h 17"/>
                <a:gd name="T6" fmla="*/ 16 w 16"/>
                <a:gd name="T7" fmla="*/ 0 h 17"/>
              </a:gdLst>
              <a:ahLst/>
              <a:cxnLst>
                <a:cxn ang="0">
                  <a:pos x="T0" y="T1"/>
                </a:cxn>
                <a:cxn ang="0">
                  <a:pos x="T2" y="T3"/>
                </a:cxn>
                <a:cxn ang="0">
                  <a:pos x="T4" y="T5"/>
                </a:cxn>
                <a:cxn ang="0">
                  <a:pos x="T6" y="T7"/>
                </a:cxn>
              </a:cxnLst>
              <a:rect l="0" t="0" r="r" b="b"/>
              <a:pathLst>
                <a:path w="16" h="17">
                  <a:moveTo>
                    <a:pt x="16" y="0"/>
                  </a:moveTo>
                  <a:lnTo>
                    <a:pt x="0" y="17"/>
                  </a:lnTo>
                  <a:lnTo>
                    <a:pt x="16" y="17"/>
                  </a:lnTo>
                  <a:lnTo>
                    <a:pt x="16" y="0"/>
                  </a:lnTo>
                  <a:close/>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38" name="îṧ1íḓè"/>
            <p:cNvSpPr/>
            <p:nvPr/>
          </p:nvSpPr>
          <p:spPr bwMode="auto">
            <a:xfrm>
              <a:off x="5575301" y="2352676"/>
              <a:ext cx="25400" cy="26988"/>
            </a:xfrm>
            <a:custGeom>
              <a:avLst/>
              <a:gdLst>
                <a:gd name="T0" fmla="*/ 16 w 16"/>
                <a:gd name="T1" fmla="*/ 0 h 17"/>
                <a:gd name="T2" fmla="*/ 0 w 16"/>
                <a:gd name="T3" fmla="*/ 17 h 17"/>
                <a:gd name="T4" fmla="*/ 16 w 16"/>
                <a:gd name="T5" fmla="*/ 17 h 17"/>
                <a:gd name="T6" fmla="*/ 16 w 16"/>
                <a:gd name="T7" fmla="*/ 0 h 17"/>
              </a:gdLst>
              <a:ahLst/>
              <a:cxnLst>
                <a:cxn ang="0">
                  <a:pos x="T0" y="T1"/>
                </a:cxn>
                <a:cxn ang="0">
                  <a:pos x="T2" y="T3"/>
                </a:cxn>
                <a:cxn ang="0">
                  <a:pos x="T4" y="T5"/>
                </a:cxn>
                <a:cxn ang="0">
                  <a:pos x="T6" y="T7"/>
                </a:cxn>
              </a:cxnLst>
              <a:rect l="0" t="0" r="r" b="b"/>
              <a:pathLst>
                <a:path w="16" h="17">
                  <a:moveTo>
                    <a:pt x="16" y="0"/>
                  </a:moveTo>
                  <a:lnTo>
                    <a:pt x="0" y="17"/>
                  </a:lnTo>
                  <a:lnTo>
                    <a:pt x="16" y="17"/>
                  </a:lnTo>
                  <a:lnTo>
                    <a:pt x="1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39" name="ïṣľídê"/>
            <p:cNvSpPr/>
            <p:nvPr/>
          </p:nvSpPr>
          <p:spPr bwMode="auto">
            <a:xfrm>
              <a:off x="3897313" y="1620838"/>
              <a:ext cx="1798638" cy="180975"/>
            </a:xfrm>
            <a:custGeom>
              <a:avLst/>
              <a:gdLst>
                <a:gd name="T0" fmla="*/ 522 w 597"/>
                <a:gd name="T1" fmla="*/ 3 h 60"/>
                <a:gd name="T2" fmla="*/ 329 w 597"/>
                <a:gd name="T3" fmla="*/ 3 h 60"/>
                <a:gd name="T4" fmla="*/ 329 w 597"/>
                <a:gd name="T5" fmla="*/ 10 h 60"/>
                <a:gd name="T6" fmla="*/ 320 w 597"/>
                <a:gd name="T7" fmla="*/ 19 h 60"/>
                <a:gd name="T8" fmla="*/ 281 w 597"/>
                <a:gd name="T9" fmla="*/ 19 h 60"/>
                <a:gd name="T10" fmla="*/ 271 w 597"/>
                <a:gd name="T11" fmla="*/ 10 h 60"/>
                <a:gd name="T12" fmla="*/ 271 w 597"/>
                <a:gd name="T13" fmla="*/ 3 h 60"/>
                <a:gd name="T14" fmla="*/ 113 w 597"/>
                <a:gd name="T15" fmla="*/ 3 h 60"/>
                <a:gd name="T16" fmla="*/ 104 w 597"/>
                <a:gd name="T17" fmla="*/ 30 h 60"/>
                <a:gd name="T18" fmla="*/ 105 w 597"/>
                <a:gd name="T19" fmla="*/ 37 h 60"/>
                <a:gd name="T20" fmla="*/ 525 w 597"/>
                <a:gd name="T21" fmla="*/ 37 h 60"/>
                <a:gd name="T22" fmla="*/ 526 w 597"/>
                <a:gd name="T23" fmla="*/ 25 h 60"/>
                <a:gd name="T24" fmla="*/ 522 w 597"/>
                <a:gd name="T25" fmla="*/ 3 h 60"/>
                <a:gd name="T26" fmla="*/ 24 w 597"/>
                <a:gd name="T27" fmla="*/ 41 h 60"/>
                <a:gd name="T28" fmla="*/ 12 w 597"/>
                <a:gd name="T29" fmla="*/ 29 h 60"/>
                <a:gd name="T30" fmla="*/ 24 w 597"/>
                <a:gd name="T31" fmla="*/ 16 h 60"/>
                <a:gd name="T32" fmla="*/ 36 w 597"/>
                <a:gd name="T33" fmla="*/ 29 h 60"/>
                <a:gd name="T34" fmla="*/ 24 w 597"/>
                <a:gd name="T35" fmla="*/ 41 h 60"/>
                <a:gd name="T36" fmla="*/ 53 w 597"/>
                <a:gd name="T37" fmla="*/ 41 h 60"/>
                <a:gd name="T38" fmla="*/ 41 w 597"/>
                <a:gd name="T39" fmla="*/ 29 h 60"/>
                <a:gd name="T40" fmla="*/ 53 w 597"/>
                <a:gd name="T41" fmla="*/ 16 h 60"/>
                <a:gd name="T42" fmla="*/ 66 w 597"/>
                <a:gd name="T43" fmla="*/ 29 h 60"/>
                <a:gd name="T44" fmla="*/ 53 w 597"/>
                <a:gd name="T45" fmla="*/ 41 h 60"/>
                <a:gd name="T46" fmla="*/ 82 w 597"/>
                <a:gd name="T47" fmla="*/ 41 h 60"/>
                <a:gd name="T48" fmla="*/ 70 w 597"/>
                <a:gd name="T49" fmla="*/ 29 h 60"/>
                <a:gd name="T50" fmla="*/ 82 w 597"/>
                <a:gd name="T51" fmla="*/ 16 h 60"/>
                <a:gd name="T52" fmla="*/ 95 w 597"/>
                <a:gd name="T53" fmla="*/ 29 h 60"/>
                <a:gd name="T54" fmla="*/ 82 w 597"/>
                <a:gd name="T55" fmla="*/ 41 h 60"/>
                <a:gd name="T56" fmla="*/ 597 w 597"/>
                <a:gd name="T57" fmla="*/ 0 h 60"/>
                <a:gd name="T58" fmla="*/ 527 w 597"/>
                <a:gd name="T59" fmla="*/ 0 h 60"/>
                <a:gd name="T60" fmla="*/ 527 w 597"/>
                <a:gd name="T61" fmla="*/ 0 h 60"/>
                <a:gd name="T62" fmla="*/ 597 w 597"/>
                <a:gd name="T63" fmla="*/ 0 h 60"/>
                <a:gd name="T64" fmla="*/ 597 w 597"/>
                <a:gd name="T65" fmla="*/ 3 h 60"/>
                <a:gd name="T66" fmla="*/ 528 w 597"/>
                <a:gd name="T67" fmla="*/ 3 h 60"/>
                <a:gd name="T68" fmla="*/ 531 w 597"/>
                <a:gd name="T69" fmla="*/ 25 h 60"/>
                <a:gd name="T70" fmla="*/ 530 w 597"/>
                <a:gd name="T71" fmla="*/ 40 h 60"/>
                <a:gd name="T72" fmla="*/ 529 w 597"/>
                <a:gd name="T73" fmla="*/ 42 h 60"/>
                <a:gd name="T74" fmla="*/ 101 w 597"/>
                <a:gd name="T75" fmla="*/ 42 h 60"/>
                <a:gd name="T76" fmla="*/ 100 w 597"/>
                <a:gd name="T77" fmla="*/ 40 h 60"/>
                <a:gd name="T78" fmla="*/ 99 w 597"/>
                <a:gd name="T79" fmla="*/ 30 h 60"/>
                <a:gd name="T80" fmla="*/ 107 w 597"/>
                <a:gd name="T81" fmla="*/ 3 h 60"/>
                <a:gd name="T82" fmla="*/ 0 w 597"/>
                <a:gd name="T83" fmla="*/ 3 h 60"/>
                <a:gd name="T84" fmla="*/ 0 w 597"/>
                <a:gd name="T85" fmla="*/ 60 h 60"/>
                <a:gd name="T86" fmla="*/ 597 w 597"/>
                <a:gd name="T87" fmla="*/ 60 h 60"/>
                <a:gd name="T88" fmla="*/ 0 w 597"/>
                <a:gd name="T89" fmla="*/ 60 h 60"/>
                <a:gd name="T90" fmla="*/ 0 w 597"/>
                <a:gd name="T91" fmla="*/ 59 h 60"/>
                <a:gd name="T92" fmla="*/ 597 w 597"/>
                <a:gd name="T93" fmla="*/ 59 h 60"/>
                <a:gd name="T94" fmla="*/ 597 w 597"/>
                <a:gd name="T95"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97" h="60">
                  <a:moveTo>
                    <a:pt x="522" y="3"/>
                  </a:moveTo>
                  <a:cubicBezTo>
                    <a:pt x="329" y="3"/>
                    <a:pt x="329" y="3"/>
                    <a:pt x="329" y="3"/>
                  </a:cubicBezTo>
                  <a:cubicBezTo>
                    <a:pt x="329" y="10"/>
                    <a:pt x="329" y="10"/>
                    <a:pt x="329" y="10"/>
                  </a:cubicBezTo>
                  <a:cubicBezTo>
                    <a:pt x="329" y="15"/>
                    <a:pt x="325" y="19"/>
                    <a:pt x="320" y="19"/>
                  </a:cubicBezTo>
                  <a:cubicBezTo>
                    <a:pt x="281" y="19"/>
                    <a:pt x="281" y="19"/>
                    <a:pt x="281" y="19"/>
                  </a:cubicBezTo>
                  <a:cubicBezTo>
                    <a:pt x="276" y="19"/>
                    <a:pt x="271" y="15"/>
                    <a:pt x="271" y="10"/>
                  </a:cubicBezTo>
                  <a:cubicBezTo>
                    <a:pt x="271" y="3"/>
                    <a:pt x="271" y="3"/>
                    <a:pt x="271" y="3"/>
                  </a:cubicBezTo>
                  <a:cubicBezTo>
                    <a:pt x="113" y="3"/>
                    <a:pt x="113" y="3"/>
                    <a:pt x="113" y="3"/>
                  </a:cubicBezTo>
                  <a:cubicBezTo>
                    <a:pt x="108" y="11"/>
                    <a:pt x="104" y="20"/>
                    <a:pt x="104" y="30"/>
                  </a:cubicBezTo>
                  <a:cubicBezTo>
                    <a:pt x="104" y="32"/>
                    <a:pt x="104" y="35"/>
                    <a:pt x="105" y="37"/>
                  </a:cubicBezTo>
                  <a:cubicBezTo>
                    <a:pt x="525" y="37"/>
                    <a:pt x="525" y="37"/>
                    <a:pt x="525" y="37"/>
                  </a:cubicBezTo>
                  <a:cubicBezTo>
                    <a:pt x="526" y="33"/>
                    <a:pt x="526" y="29"/>
                    <a:pt x="526" y="25"/>
                  </a:cubicBezTo>
                  <a:cubicBezTo>
                    <a:pt x="526" y="18"/>
                    <a:pt x="525" y="10"/>
                    <a:pt x="522" y="3"/>
                  </a:cubicBezTo>
                  <a:moveTo>
                    <a:pt x="24" y="41"/>
                  </a:moveTo>
                  <a:cubicBezTo>
                    <a:pt x="17" y="41"/>
                    <a:pt x="12" y="36"/>
                    <a:pt x="12" y="29"/>
                  </a:cubicBezTo>
                  <a:cubicBezTo>
                    <a:pt x="12" y="22"/>
                    <a:pt x="17" y="16"/>
                    <a:pt x="24" y="16"/>
                  </a:cubicBezTo>
                  <a:cubicBezTo>
                    <a:pt x="31" y="16"/>
                    <a:pt x="36" y="22"/>
                    <a:pt x="36" y="29"/>
                  </a:cubicBezTo>
                  <a:cubicBezTo>
                    <a:pt x="36" y="36"/>
                    <a:pt x="31" y="41"/>
                    <a:pt x="24" y="41"/>
                  </a:cubicBezTo>
                  <a:moveTo>
                    <a:pt x="53" y="41"/>
                  </a:moveTo>
                  <a:cubicBezTo>
                    <a:pt x="47" y="41"/>
                    <a:pt x="41" y="36"/>
                    <a:pt x="41" y="29"/>
                  </a:cubicBezTo>
                  <a:cubicBezTo>
                    <a:pt x="41" y="22"/>
                    <a:pt x="47" y="16"/>
                    <a:pt x="53" y="16"/>
                  </a:cubicBezTo>
                  <a:cubicBezTo>
                    <a:pt x="60" y="16"/>
                    <a:pt x="66" y="22"/>
                    <a:pt x="66" y="29"/>
                  </a:cubicBezTo>
                  <a:cubicBezTo>
                    <a:pt x="66" y="36"/>
                    <a:pt x="60" y="41"/>
                    <a:pt x="53" y="41"/>
                  </a:cubicBezTo>
                  <a:moveTo>
                    <a:pt x="82" y="41"/>
                  </a:moveTo>
                  <a:cubicBezTo>
                    <a:pt x="76" y="41"/>
                    <a:pt x="70" y="36"/>
                    <a:pt x="70" y="29"/>
                  </a:cubicBezTo>
                  <a:cubicBezTo>
                    <a:pt x="70" y="22"/>
                    <a:pt x="76" y="16"/>
                    <a:pt x="82" y="16"/>
                  </a:cubicBezTo>
                  <a:cubicBezTo>
                    <a:pt x="89" y="16"/>
                    <a:pt x="95" y="22"/>
                    <a:pt x="95" y="29"/>
                  </a:cubicBezTo>
                  <a:cubicBezTo>
                    <a:pt x="95" y="36"/>
                    <a:pt x="89" y="41"/>
                    <a:pt x="82" y="41"/>
                  </a:cubicBezTo>
                  <a:moveTo>
                    <a:pt x="597" y="0"/>
                  </a:moveTo>
                  <a:cubicBezTo>
                    <a:pt x="527" y="0"/>
                    <a:pt x="527" y="0"/>
                    <a:pt x="527" y="0"/>
                  </a:cubicBezTo>
                  <a:cubicBezTo>
                    <a:pt x="527" y="0"/>
                    <a:pt x="527" y="0"/>
                    <a:pt x="527" y="0"/>
                  </a:cubicBezTo>
                  <a:cubicBezTo>
                    <a:pt x="597" y="0"/>
                    <a:pt x="597" y="0"/>
                    <a:pt x="597" y="0"/>
                  </a:cubicBezTo>
                  <a:cubicBezTo>
                    <a:pt x="597" y="3"/>
                    <a:pt x="597" y="3"/>
                    <a:pt x="597" y="3"/>
                  </a:cubicBezTo>
                  <a:cubicBezTo>
                    <a:pt x="528" y="3"/>
                    <a:pt x="528" y="3"/>
                    <a:pt x="528" y="3"/>
                  </a:cubicBezTo>
                  <a:cubicBezTo>
                    <a:pt x="530" y="10"/>
                    <a:pt x="531" y="18"/>
                    <a:pt x="531" y="25"/>
                  </a:cubicBezTo>
                  <a:cubicBezTo>
                    <a:pt x="531" y="30"/>
                    <a:pt x="531" y="35"/>
                    <a:pt x="530" y="40"/>
                  </a:cubicBezTo>
                  <a:cubicBezTo>
                    <a:pt x="529" y="42"/>
                    <a:pt x="529" y="42"/>
                    <a:pt x="529" y="42"/>
                  </a:cubicBezTo>
                  <a:cubicBezTo>
                    <a:pt x="101" y="42"/>
                    <a:pt x="101" y="42"/>
                    <a:pt x="101" y="42"/>
                  </a:cubicBezTo>
                  <a:cubicBezTo>
                    <a:pt x="100" y="40"/>
                    <a:pt x="100" y="40"/>
                    <a:pt x="100" y="40"/>
                  </a:cubicBezTo>
                  <a:cubicBezTo>
                    <a:pt x="100" y="37"/>
                    <a:pt x="99" y="33"/>
                    <a:pt x="99" y="30"/>
                  </a:cubicBezTo>
                  <a:cubicBezTo>
                    <a:pt x="99" y="20"/>
                    <a:pt x="102" y="11"/>
                    <a:pt x="107" y="3"/>
                  </a:cubicBezTo>
                  <a:cubicBezTo>
                    <a:pt x="0" y="3"/>
                    <a:pt x="0" y="3"/>
                    <a:pt x="0" y="3"/>
                  </a:cubicBezTo>
                  <a:cubicBezTo>
                    <a:pt x="0" y="60"/>
                    <a:pt x="0" y="60"/>
                    <a:pt x="0" y="60"/>
                  </a:cubicBezTo>
                  <a:cubicBezTo>
                    <a:pt x="597" y="60"/>
                    <a:pt x="597" y="60"/>
                    <a:pt x="597" y="60"/>
                  </a:cubicBezTo>
                  <a:cubicBezTo>
                    <a:pt x="0" y="60"/>
                    <a:pt x="0" y="60"/>
                    <a:pt x="0" y="60"/>
                  </a:cubicBezTo>
                  <a:cubicBezTo>
                    <a:pt x="0" y="59"/>
                    <a:pt x="0" y="59"/>
                    <a:pt x="0" y="59"/>
                  </a:cubicBezTo>
                  <a:cubicBezTo>
                    <a:pt x="597" y="59"/>
                    <a:pt x="597" y="59"/>
                    <a:pt x="597" y="59"/>
                  </a:cubicBezTo>
                  <a:cubicBezTo>
                    <a:pt x="597" y="0"/>
                    <a:pt x="597" y="0"/>
                    <a:pt x="597"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40" name="ïŝľiḋê"/>
            <p:cNvSpPr/>
            <p:nvPr/>
          </p:nvSpPr>
          <p:spPr bwMode="auto">
            <a:xfrm>
              <a:off x="4195763" y="1630363"/>
              <a:ext cx="1301750" cy="117475"/>
            </a:xfrm>
            <a:custGeom>
              <a:avLst/>
              <a:gdLst>
                <a:gd name="T0" fmla="*/ 429 w 432"/>
                <a:gd name="T1" fmla="*/ 0 h 39"/>
                <a:gd name="T2" fmla="*/ 423 w 432"/>
                <a:gd name="T3" fmla="*/ 0 h 39"/>
                <a:gd name="T4" fmla="*/ 427 w 432"/>
                <a:gd name="T5" fmla="*/ 22 h 39"/>
                <a:gd name="T6" fmla="*/ 426 w 432"/>
                <a:gd name="T7" fmla="*/ 34 h 39"/>
                <a:gd name="T8" fmla="*/ 6 w 432"/>
                <a:gd name="T9" fmla="*/ 34 h 39"/>
                <a:gd name="T10" fmla="*/ 5 w 432"/>
                <a:gd name="T11" fmla="*/ 27 h 39"/>
                <a:gd name="T12" fmla="*/ 14 w 432"/>
                <a:gd name="T13" fmla="*/ 0 h 39"/>
                <a:gd name="T14" fmla="*/ 8 w 432"/>
                <a:gd name="T15" fmla="*/ 0 h 39"/>
                <a:gd name="T16" fmla="*/ 0 w 432"/>
                <a:gd name="T17" fmla="*/ 27 h 39"/>
                <a:gd name="T18" fmla="*/ 1 w 432"/>
                <a:gd name="T19" fmla="*/ 37 h 39"/>
                <a:gd name="T20" fmla="*/ 2 w 432"/>
                <a:gd name="T21" fmla="*/ 39 h 39"/>
                <a:gd name="T22" fmla="*/ 430 w 432"/>
                <a:gd name="T23" fmla="*/ 39 h 39"/>
                <a:gd name="T24" fmla="*/ 431 w 432"/>
                <a:gd name="T25" fmla="*/ 37 h 39"/>
                <a:gd name="T26" fmla="*/ 432 w 432"/>
                <a:gd name="T27" fmla="*/ 22 h 39"/>
                <a:gd name="T28" fmla="*/ 429 w 432"/>
                <a:gd name="T29"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2" h="39">
                  <a:moveTo>
                    <a:pt x="429" y="0"/>
                  </a:moveTo>
                  <a:cubicBezTo>
                    <a:pt x="423" y="0"/>
                    <a:pt x="423" y="0"/>
                    <a:pt x="423" y="0"/>
                  </a:cubicBezTo>
                  <a:cubicBezTo>
                    <a:pt x="426" y="7"/>
                    <a:pt x="427" y="15"/>
                    <a:pt x="427" y="22"/>
                  </a:cubicBezTo>
                  <a:cubicBezTo>
                    <a:pt x="427" y="26"/>
                    <a:pt x="427" y="30"/>
                    <a:pt x="426" y="34"/>
                  </a:cubicBezTo>
                  <a:cubicBezTo>
                    <a:pt x="6" y="34"/>
                    <a:pt x="6" y="34"/>
                    <a:pt x="6" y="34"/>
                  </a:cubicBezTo>
                  <a:cubicBezTo>
                    <a:pt x="5" y="32"/>
                    <a:pt x="5" y="29"/>
                    <a:pt x="5" y="27"/>
                  </a:cubicBezTo>
                  <a:cubicBezTo>
                    <a:pt x="5" y="17"/>
                    <a:pt x="9" y="8"/>
                    <a:pt x="14" y="0"/>
                  </a:cubicBezTo>
                  <a:cubicBezTo>
                    <a:pt x="8" y="0"/>
                    <a:pt x="8" y="0"/>
                    <a:pt x="8" y="0"/>
                  </a:cubicBezTo>
                  <a:cubicBezTo>
                    <a:pt x="3" y="8"/>
                    <a:pt x="0" y="17"/>
                    <a:pt x="0" y="27"/>
                  </a:cubicBezTo>
                  <a:cubicBezTo>
                    <a:pt x="0" y="30"/>
                    <a:pt x="1" y="34"/>
                    <a:pt x="1" y="37"/>
                  </a:cubicBezTo>
                  <a:cubicBezTo>
                    <a:pt x="2" y="39"/>
                    <a:pt x="2" y="39"/>
                    <a:pt x="2" y="39"/>
                  </a:cubicBezTo>
                  <a:cubicBezTo>
                    <a:pt x="430" y="39"/>
                    <a:pt x="430" y="39"/>
                    <a:pt x="430" y="39"/>
                  </a:cubicBezTo>
                  <a:cubicBezTo>
                    <a:pt x="431" y="37"/>
                    <a:pt x="431" y="37"/>
                    <a:pt x="431" y="37"/>
                  </a:cubicBezTo>
                  <a:cubicBezTo>
                    <a:pt x="432" y="32"/>
                    <a:pt x="432" y="27"/>
                    <a:pt x="432" y="22"/>
                  </a:cubicBezTo>
                  <a:cubicBezTo>
                    <a:pt x="432" y="15"/>
                    <a:pt x="431" y="7"/>
                    <a:pt x="429" y="0"/>
                  </a:cubicBezTo>
                </a:path>
              </a:pathLst>
            </a:custGeom>
            <a:solidFill>
              <a:srgbClr val="257B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41" name="îşḷíḋè"/>
            <p:cNvSpPr/>
            <p:nvPr/>
          </p:nvSpPr>
          <p:spPr bwMode="auto">
            <a:xfrm>
              <a:off x="4729163" y="1630363"/>
              <a:ext cx="144463" cy="33338"/>
            </a:xfrm>
            <a:custGeom>
              <a:avLst/>
              <a:gdLst>
                <a:gd name="T0" fmla="*/ 48 w 48"/>
                <a:gd name="T1" fmla="*/ 0 h 11"/>
                <a:gd name="T2" fmla="*/ 0 w 48"/>
                <a:gd name="T3" fmla="*/ 0 h 11"/>
                <a:gd name="T4" fmla="*/ 0 w 48"/>
                <a:gd name="T5" fmla="*/ 7 h 11"/>
                <a:gd name="T6" fmla="*/ 5 w 48"/>
                <a:gd name="T7" fmla="*/ 11 h 11"/>
                <a:gd name="T8" fmla="*/ 44 w 48"/>
                <a:gd name="T9" fmla="*/ 11 h 11"/>
                <a:gd name="T10" fmla="*/ 48 w 48"/>
                <a:gd name="T11" fmla="*/ 7 h 11"/>
                <a:gd name="T12" fmla="*/ 48 w 48"/>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8" h="11">
                  <a:moveTo>
                    <a:pt x="48" y="0"/>
                  </a:moveTo>
                  <a:cubicBezTo>
                    <a:pt x="0" y="0"/>
                    <a:pt x="0" y="0"/>
                    <a:pt x="0" y="0"/>
                  </a:cubicBezTo>
                  <a:cubicBezTo>
                    <a:pt x="0" y="7"/>
                    <a:pt x="0" y="7"/>
                    <a:pt x="0" y="7"/>
                  </a:cubicBezTo>
                  <a:cubicBezTo>
                    <a:pt x="0" y="9"/>
                    <a:pt x="2" y="11"/>
                    <a:pt x="5" y="11"/>
                  </a:cubicBezTo>
                  <a:cubicBezTo>
                    <a:pt x="44" y="11"/>
                    <a:pt x="44" y="11"/>
                    <a:pt x="44" y="11"/>
                  </a:cubicBezTo>
                  <a:cubicBezTo>
                    <a:pt x="46" y="11"/>
                    <a:pt x="48" y="9"/>
                    <a:pt x="48" y="7"/>
                  </a:cubicBezTo>
                  <a:cubicBezTo>
                    <a:pt x="48" y="0"/>
                    <a:pt x="48" y="0"/>
                    <a:pt x="48"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42" name="í$líḋe"/>
            <p:cNvSpPr/>
            <p:nvPr/>
          </p:nvSpPr>
          <p:spPr bwMode="auto">
            <a:xfrm>
              <a:off x="4713288" y="1630363"/>
              <a:ext cx="176213" cy="47625"/>
            </a:xfrm>
            <a:custGeom>
              <a:avLst/>
              <a:gdLst>
                <a:gd name="T0" fmla="*/ 58 w 58"/>
                <a:gd name="T1" fmla="*/ 0 h 16"/>
                <a:gd name="T2" fmla="*/ 53 w 58"/>
                <a:gd name="T3" fmla="*/ 0 h 16"/>
                <a:gd name="T4" fmla="*/ 53 w 58"/>
                <a:gd name="T5" fmla="*/ 7 h 16"/>
                <a:gd name="T6" fmla="*/ 49 w 58"/>
                <a:gd name="T7" fmla="*/ 11 h 16"/>
                <a:gd name="T8" fmla="*/ 10 w 58"/>
                <a:gd name="T9" fmla="*/ 11 h 16"/>
                <a:gd name="T10" fmla="*/ 5 w 58"/>
                <a:gd name="T11" fmla="*/ 7 h 16"/>
                <a:gd name="T12" fmla="*/ 5 w 58"/>
                <a:gd name="T13" fmla="*/ 0 h 16"/>
                <a:gd name="T14" fmla="*/ 0 w 58"/>
                <a:gd name="T15" fmla="*/ 0 h 16"/>
                <a:gd name="T16" fmla="*/ 0 w 58"/>
                <a:gd name="T17" fmla="*/ 7 h 16"/>
                <a:gd name="T18" fmla="*/ 10 w 58"/>
                <a:gd name="T19" fmla="*/ 16 h 16"/>
                <a:gd name="T20" fmla="*/ 49 w 58"/>
                <a:gd name="T21" fmla="*/ 16 h 16"/>
                <a:gd name="T22" fmla="*/ 58 w 58"/>
                <a:gd name="T23" fmla="*/ 7 h 16"/>
                <a:gd name="T24" fmla="*/ 58 w 58"/>
                <a:gd name="T2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 h="16">
                  <a:moveTo>
                    <a:pt x="58" y="0"/>
                  </a:moveTo>
                  <a:cubicBezTo>
                    <a:pt x="53" y="0"/>
                    <a:pt x="53" y="0"/>
                    <a:pt x="53" y="0"/>
                  </a:cubicBezTo>
                  <a:cubicBezTo>
                    <a:pt x="53" y="7"/>
                    <a:pt x="53" y="7"/>
                    <a:pt x="53" y="7"/>
                  </a:cubicBezTo>
                  <a:cubicBezTo>
                    <a:pt x="53" y="9"/>
                    <a:pt x="51" y="11"/>
                    <a:pt x="49" y="11"/>
                  </a:cubicBezTo>
                  <a:cubicBezTo>
                    <a:pt x="10" y="11"/>
                    <a:pt x="10" y="11"/>
                    <a:pt x="10" y="11"/>
                  </a:cubicBezTo>
                  <a:cubicBezTo>
                    <a:pt x="7" y="11"/>
                    <a:pt x="5" y="9"/>
                    <a:pt x="5" y="7"/>
                  </a:cubicBezTo>
                  <a:cubicBezTo>
                    <a:pt x="5" y="0"/>
                    <a:pt x="5" y="0"/>
                    <a:pt x="5" y="0"/>
                  </a:cubicBezTo>
                  <a:cubicBezTo>
                    <a:pt x="0" y="0"/>
                    <a:pt x="0" y="0"/>
                    <a:pt x="0" y="0"/>
                  </a:cubicBezTo>
                  <a:cubicBezTo>
                    <a:pt x="0" y="7"/>
                    <a:pt x="0" y="7"/>
                    <a:pt x="0" y="7"/>
                  </a:cubicBezTo>
                  <a:cubicBezTo>
                    <a:pt x="0" y="12"/>
                    <a:pt x="5" y="16"/>
                    <a:pt x="10" y="16"/>
                  </a:cubicBezTo>
                  <a:cubicBezTo>
                    <a:pt x="49" y="16"/>
                    <a:pt x="49" y="16"/>
                    <a:pt x="49" y="16"/>
                  </a:cubicBezTo>
                  <a:cubicBezTo>
                    <a:pt x="54" y="16"/>
                    <a:pt x="58" y="12"/>
                    <a:pt x="58" y="7"/>
                  </a:cubicBezTo>
                  <a:cubicBezTo>
                    <a:pt x="58" y="0"/>
                    <a:pt x="58" y="0"/>
                    <a:pt x="58" y="0"/>
                  </a:cubicBezTo>
                </a:path>
              </a:pathLst>
            </a:custGeom>
            <a:solidFill>
              <a:srgbClr val="257B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43" name="íšlïḋê"/>
            <p:cNvSpPr/>
            <p:nvPr/>
          </p:nvSpPr>
          <p:spPr bwMode="auto">
            <a:xfrm>
              <a:off x="4889501" y="1620838"/>
              <a:ext cx="806450" cy="9525"/>
            </a:xfrm>
            <a:custGeom>
              <a:avLst/>
              <a:gdLst>
                <a:gd name="T0" fmla="*/ 192 w 268"/>
                <a:gd name="T1" fmla="*/ 0 h 3"/>
                <a:gd name="T2" fmla="*/ 0 w 268"/>
                <a:gd name="T3" fmla="*/ 0 h 3"/>
                <a:gd name="T4" fmla="*/ 0 w 268"/>
                <a:gd name="T5" fmla="*/ 3 h 3"/>
                <a:gd name="T6" fmla="*/ 193 w 268"/>
                <a:gd name="T7" fmla="*/ 3 h 3"/>
                <a:gd name="T8" fmla="*/ 192 w 268"/>
                <a:gd name="T9" fmla="*/ 0 h 3"/>
                <a:gd name="T10" fmla="*/ 268 w 268"/>
                <a:gd name="T11" fmla="*/ 0 h 3"/>
                <a:gd name="T12" fmla="*/ 198 w 268"/>
                <a:gd name="T13" fmla="*/ 0 h 3"/>
                <a:gd name="T14" fmla="*/ 199 w 268"/>
                <a:gd name="T15" fmla="*/ 3 h 3"/>
                <a:gd name="T16" fmla="*/ 268 w 268"/>
                <a:gd name="T17" fmla="*/ 3 h 3"/>
                <a:gd name="T18" fmla="*/ 268 w 268"/>
                <a:gd name="T19"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3">
                  <a:moveTo>
                    <a:pt x="192" y="0"/>
                  </a:moveTo>
                  <a:cubicBezTo>
                    <a:pt x="0" y="0"/>
                    <a:pt x="0" y="0"/>
                    <a:pt x="0" y="0"/>
                  </a:cubicBezTo>
                  <a:cubicBezTo>
                    <a:pt x="0" y="3"/>
                    <a:pt x="0" y="3"/>
                    <a:pt x="0" y="3"/>
                  </a:cubicBezTo>
                  <a:cubicBezTo>
                    <a:pt x="193" y="3"/>
                    <a:pt x="193" y="3"/>
                    <a:pt x="193" y="3"/>
                  </a:cubicBezTo>
                  <a:cubicBezTo>
                    <a:pt x="193" y="2"/>
                    <a:pt x="193" y="1"/>
                    <a:pt x="192" y="0"/>
                  </a:cubicBezTo>
                  <a:moveTo>
                    <a:pt x="268" y="0"/>
                  </a:moveTo>
                  <a:cubicBezTo>
                    <a:pt x="198" y="0"/>
                    <a:pt x="198" y="0"/>
                    <a:pt x="198" y="0"/>
                  </a:cubicBezTo>
                  <a:cubicBezTo>
                    <a:pt x="198" y="1"/>
                    <a:pt x="198" y="2"/>
                    <a:pt x="199" y="3"/>
                  </a:cubicBezTo>
                  <a:cubicBezTo>
                    <a:pt x="268" y="3"/>
                    <a:pt x="268" y="3"/>
                    <a:pt x="268" y="3"/>
                  </a:cubicBezTo>
                  <a:cubicBezTo>
                    <a:pt x="268" y="0"/>
                    <a:pt x="268" y="0"/>
                    <a:pt x="268" y="0"/>
                  </a:cubicBezTo>
                </a:path>
              </a:pathLst>
            </a:cu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44" name="isḷíḋé"/>
            <p:cNvSpPr/>
            <p:nvPr/>
          </p:nvSpPr>
          <p:spPr bwMode="auto">
            <a:xfrm>
              <a:off x="5467351" y="1620838"/>
              <a:ext cx="20638" cy="9525"/>
            </a:xfrm>
            <a:custGeom>
              <a:avLst/>
              <a:gdLst>
                <a:gd name="T0" fmla="*/ 6 w 7"/>
                <a:gd name="T1" fmla="*/ 0 h 3"/>
                <a:gd name="T2" fmla="*/ 0 w 7"/>
                <a:gd name="T3" fmla="*/ 0 h 3"/>
                <a:gd name="T4" fmla="*/ 1 w 7"/>
                <a:gd name="T5" fmla="*/ 3 h 3"/>
                <a:gd name="T6" fmla="*/ 7 w 7"/>
                <a:gd name="T7" fmla="*/ 3 h 3"/>
                <a:gd name="T8" fmla="*/ 6 w 7"/>
                <a:gd name="T9" fmla="*/ 0 h 3"/>
              </a:gdLst>
              <a:ahLst/>
              <a:cxnLst>
                <a:cxn ang="0">
                  <a:pos x="T0" y="T1"/>
                </a:cxn>
                <a:cxn ang="0">
                  <a:pos x="T2" y="T3"/>
                </a:cxn>
                <a:cxn ang="0">
                  <a:pos x="T4" y="T5"/>
                </a:cxn>
                <a:cxn ang="0">
                  <a:pos x="T6" y="T7"/>
                </a:cxn>
                <a:cxn ang="0">
                  <a:pos x="T8" y="T9"/>
                </a:cxn>
              </a:cxnLst>
              <a:rect l="0" t="0" r="r" b="b"/>
              <a:pathLst>
                <a:path w="7" h="3">
                  <a:moveTo>
                    <a:pt x="6" y="0"/>
                  </a:moveTo>
                  <a:cubicBezTo>
                    <a:pt x="0" y="0"/>
                    <a:pt x="0" y="0"/>
                    <a:pt x="0" y="0"/>
                  </a:cubicBezTo>
                  <a:cubicBezTo>
                    <a:pt x="1" y="1"/>
                    <a:pt x="1" y="2"/>
                    <a:pt x="1" y="3"/>
                  </a:cubicBezTo>
                  <a:cubicBezTo>
                    <a:pt x="7" y="3"/>
                    <a:pt x="7" y="3"/>
                    <a:pt x="7" y="3"/>
                  </a:cubicBezTo>
                  <a:cubicBezTo>
                    <a:pt x="6" y="2"/>
                    <a:pt x="6" y="1"/>
                    <a:pt x="6" y="0"/>
                  </a:cubicBezTo>
                </a:path>
              </a:pathLst>
            </a:custGeom>
            <a:solidFill>
              <a:srgbClr val="2A98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45" name="iSḻîḓè"/>
            <p:cNvSpPr/>
            <p:nvPr/>
          </p:nvSpPr>
          <p:spPr bwMode="auto">
            <a:xfrm>
              <a:off x="3897313" y="1620838"/>
              <a:ext cx="976313" cy="9525"/>
            </a:xfrm>
            <a:custGeom>
              <a:avLst/>
              <a:gdLst>
                <a:gd name="T0" fmla="*/ 110 w 324"/>
                <a:gd name="T1" fmla="*/ 0 h 3"/>
                <a:gd name="T2" fmla="*/ 0 w 324"/>
                <a:gd name="T3" fmla="*/ 0 h 3"/>
                <a:gd name="T4" fmla="*/ 0 w 324"/>
                <a:gd name="T5" fmla="*/ 3 h 3"/>
                <a:gd name="T6" fmla="*/ 107 w 324"/>
                <a:gd name="T7" fmla="*/ 3 h 3"/>
                <a:gd name="T8" fmla="*/ 110 w 324"/>
                <a:gd name="T9" fmla="*/ 0 h 3"/>
                <a:gd name="T10" fmla="*/ 271 w 324"/>
                <a:gd name="T11" fmla="*/ 0 h 3"/>
                <a:gd name="T12" fmla="*/ 116 w 324"/>
                <a:gd name="T13" fmla="*/ 0 h 3"/>
                <a:gd name="T14" fmla="*/ 113 w 324"/>
                <a:gd name="T15" fmla="*/ 3 h 3"/>
                <a:gd name="T16" fmla="*/ 271 w 324"/>
                <a:gd name="T17" fmla="*/ 3 h 3"/>
                <a:gd name="T18" fmla="*/ 271 w 324"/>
                <a:gd name="T19" fmla="*/ 0 h 3"/>
                <a:gd name="T20" fmla="*/ 324 w 324"/>
                <a:gd name="T21" fmla="*/ 0 h 3"/>
                <a:gd name="T22" fmla="*/ 276 w 324"/>
                <a:gd name="T23" fmla="*/ 0 h 3"/>
                <a:gd name="T24" fmla="*/ 276 w 324"/>
                <a:gd name="T25" fmla="*/ 3 h 3"/>
                <a:gd name="T26" fmla="*/ 324 w 324"/>
                <a:gd name="T27" fmla="*/ 3 h 3"/>
                <a:gd name="T28" fmla="*/ 324 w 324"/>
                <a:gd name="T29"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3">
                  <a:moveTo>
                    <a:pt x="110" y="0"/>
                  </a:moveTo>
                  <a:cubicBezTo>
                    <a:pt x="0" y="0"/>
                    <a:pt x="0" y="0"/>
                    <a:pt x="0" y="0"/>
                  </a:cubicBezTo>
                  <a:cubicBezTo>
                    <a:pt x="0" y="3"/>
                    <a:pt x="0" y="3"/>
                    <a:pt x="0" y="3"/>
                  </a:cubicBezTo>
                  <a:cubicBezTo>
                    <a:pt x="107" y="3"/>
                    <a:pt x="107" y="3"/>
                    <a:pt x="107" y="3"/>
                  </a:cubicBezTo>
                  <a:cubicBezTo>
                    <a:pt x="108" y="2"/>
                    <a:pt x="109" y="1"/>
                    <a:pt x="110" y="0"/>
                  </a:cubicBezTo>
                  <a:moveTo>
                    <a:pt x="271" y="0"/>
                  </a:moveTo>
                  <a:cubicBezTo>
                    <a:pt x="116" y="0"/>
                    <a:pt x="116" y="0"/>
                    <a:pt x="116" y="0"/>
                  </a:cubicBezTo>
                  <a:cubicBezTo>
                    <a:pt x="115" y="1"/>
                    <a:pt x="114" y="2"/>
                    <a:pt x="113" y="3"/>
                  </a:cubicBezTo>
                  <a:cubicBezTo>
                    <a:pt x="271" y="3"/>
                    <a:pt x="271" y="3"/>
                    <a:pt x="271" y="3"/>
                  </a:cubicBezTo>
                  <a:cubicBezTo>
                    <a:pt x="271" y="0"/>
                    <a:pt x="271" y="0"/>
                    <a:pt x="271" y="0"/>
                  </a:cubicBezTo>
                  <a:moveTo>
                    <a:pt x="324" y="0"/>
                  </a:moveTo>
                  <a:cubicBezTo>
                    <a:pt x="276" y="0"/>
                    <a:pt x="276" y="0"/>
                    <a:pt x="276" y="0"/>
                  </a:cubicBezTo>
                  <a:cubicBezTo>
                    <a:pt x="276" y="3"/>
                    <a:pt x="276" y="3"/>
                    <a:pt x="276" y="3"/>
                  </a:cubicBezTo>
                  <a:cubicBezTo>
                    <a:pt x="324" y="3"/>
                    <a:pt x="324" y="3"/>
                    <a:pt x="324" y="3"/>
                  </a:cubicBezTo>
                  <a:cubicBezTo>
                    <a:pt x="324" y="0"/>
                    <a:pt x="324" y="0"/>
                    <a:pt x="324" y="0"/>
                  </a:cubicBezTo>
                </a:path>
              </a:pathLst>
            </a:cu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46" name="îş1ïďé"/>
            <p:cNvSpPr/>
            <p:nvPr/>
          </p:nvSpPr>
          <p:spPr bwMode="auto">
            <a:xfrm>
              <a:off x="4219576" y="1620838"/>
              <a:ext cx="26988" cy="9525"/>
            </a:xfrm>
            <a:custGeom>
              <a:avLst/>
              <a:gdLst>
                <a:gd name="T0" fmla="*/ 9 w 9"/>
                <a:gd name="T1" fmla="*/ 0 h 3"/>
                <a:gd name="T2" fmla="*/ 3 w 9"/>
                <a:gd name="T3" fmla="*/ 0 h 3"/>
                <a:gd name="T4" fmla="*/ 0 w 9"/>
                <a:gd name="T5" fmla="*/ 3 h 3"/>
                <a:gd name="T6" fmla="*/ 6 w 9"/>
                <a:gd name="T7" fmla="*/ 3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3" y="0"/>
                    <a:pt x="3" y="0"/>
                    <a:pt x="3" y="0"/>
                  </a:cubicBezTo>
                  <a:cubicBezTo>
                    <a:pt x="2" y="1"/>
                    <a:pt x="1" y="2"/>
                    <a:pt x="0" y="3"/>
                  </a:cubicBezTo>
                  <a:cubicBezTo>
                    <a:pt x="6" y="3"/>
                    <a:pt x="6" y="3"/>
                    <a:pt x="6" y="3"/>
                  </a:cubicBezTo>
                  <a:cubicBezTo>
                    <a:pt x="7" y="2"/>
                    <a:pt x="8" y="1"/>
                    <a:pt x="9" y="0"/>
                  </a:cubicBezTo>
                </a:path>
              </a:pathLst>
            </a:custGeom>
            <a:solidFill>
              <a:srgbClr val="2A98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47" name="í$ļïdé"/>
            <p:cNvSpPr/>
            <p:nvPr/>
          </p:nvSpPr>
          <p:spPr bwMode="auto">
            <a:xfrm>
              <a:off x="4713288" y="1620838"/>
              <a:ext cx="176213" cy="9525"/>
            </a:xfrm>
            <a:custGeom>
              <a:avLst/>
              <a:gdLst>
                <a:gd name="T0" fmla="*/ 10 w 111"/>
                <a:gd name="T1" fmla="*/ 0 h 6"/>
                <a:gd name="T2" fmla="*/ 0 w 111"/>
                <a:gd name="T3" fmla="*/ 0 h 6"/>
                <a:gd name="T4" fmla="*/ 0 w 111"/>
                <a:gd name="T5" fmla="*/ 6 h 6"/>
                <a:gd name="T6" fmla="*/ 10 w 111"/>
                <a:gd name="T7" fmla="*/ 6 h 6"/>
                <a:gd name="T8" fmla="*/ 10 w 111"/>
                <a:gd name="T9" fmla="*/ 0 h 6"/>
                <a:gd name="T10" fmla="*/ 111 w 111"/>
                <a:gd name="T11" fmla="*/ 0 h 6"/>
                <a:gd name="T12" fmla="*/ 101 w 111"/>
                <a:gd name="T13" fmla="*/ 0 h 6"/>
                <a:gd name="T14" fmla="*/ 101 w 111"/>
                <a:gd name="T15" fmla="*/ 6 h 6"/>
                <a:gd name="T16" fmla="*/ 111 w 111"/>
                <a:gd name="T17" fmla="*/ 6 h 6"/>
                <a:gd name="T18" fmla="*/ 111 w 111"/>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6">
                  <a:moveTo>
                    <a:pt x="10" y="0"/>
                  </a:moveTo>
                  <a:lnTo>
                    <a:pt x="0" y="0"/>
                  </a:lnTo>
                  <a:lnTo>
                    <a:pt x="0" y="6"/>
                  </a:lnTo>
                  <a:lnTo>
                    <a:pt x="10" y="6"/>
                  </a:lnTo>
                  <a:lnTo>
                    <a:pt x="10" y="0"/>
                  </a:lnTo>
                  <a:close/>
                  <a:moveTo>
                    <a:pt x="111" y="0"/>
                  </a:moveTo>
                  <a:lnTo>
                    <a:pt x="101" y="0"/>
                  </a:lnTo>
                  <a:lnTo>
                    <a:pt x="101" y="6"/>
                  </a:lnTo>
                  <a:lnTo>
                    <a:pt x="111" y="6"/>
                  </a:lnTo>
                  <a:lnTo>
                    <a:pt x="111" y="0"/>
                  </a:lnTo>
                  <a:close/>
                </a:path>
              </a:pathLst>
            </a:custGeom>
            <a:solidFill>
              <a:srgbClr val="2A98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48" name="iṣľíďe"/>
            <p:cNvSpPr/>
            <p:nvPr/>
          </p:nvSpPr>
          <p:spPr bwMode="auto">
            <a:xfrm>
              <a:off x="4713288" y="1620838"/>
              <a:ext cx="176213" cy="9525"/>
            </a:xfrm>
            <a:custGeom>
              <a:avLst/>
              <a:gdLst>
                <a:gd name="T0" fmla="*/ 10 w 111"/>
                <a:gd name="T1" fmla="*/ 0 h 6"/>
                <a:gd name="T2" fmla="*/ 0 w 111"/>
                <a:gd name="T3" fmla="*/ 0 h 6"/>
                <a:gd name="T4" fmla="*/ 0 w 111"/>
                <a:gd name="T5" fmla="*/ 6 h 6"/>
                <a:gd name="T6" fmla="*/ 10 w 111"/>
                <a:gd name="T7" fmla="*/ 6 h 6"/>
                <a:gd name="T8" fmla="*/ 10 w 111"/>
                <a:gd name="T9" fmla="*/ 0 h 6"/>
                <a:gd name="T10" fmla="*/ 111 w 111"/>
                <a:gd name="T11" fmla="*/ 0 h 6"/>
                <a:gd name="T12" fmla="*/ 101 w 111"/>
                <a:gd name="T13" fmla="*/ 0 h 6"/>
                <a:gd name="T14" fmla="*/ 101 w 111"/>
                <a:gd name="T15" fmla="*/ 6 h 6"/>
                <a:gd name="T16" fmla="*/ 111 w 111"/>
                <a:gd name="T17" fmla="*/ 6 h 6"/>
                <a:gd name="T18" fmla="*/ 111 w 111"/>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6">
                  <a:moveTo>
                    <a:pt x="10" y="0"/>
                  </a:moveTo>
                  <a:lnTo>
                    <a:pt x="0" y="0"/>
                  </a:lnTo>
                  <a:lnTo>
                    <a:pt x="0" y="6"/>
                  </a:lnTo>
                  <a:lnTo>
                    <a:pt x="10" y="6"/>
                  </a:lnTo>
                  <a:lnTo>
                    <a:pt x="10" y="0"/>
                  </a:lnTo>
                  <a:moveTo>
                    <a:pt x="111" y="0"/>
                  </a:moveTo>
                  <a:lnTo>
                    <a:pt x="101" y="0"/>
                  </a:lnTo>
                  <a:lnTo>
                    <a:pt x="101" y="6"/>
                  </a:lnTo>
                  <a:lnTo>
                    <a:pt x="111" y="6"/>
                  </a:lnTo>
                  <a:lnTo>
                    <a:pt x="11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49" name="îšļíde"/>
            <p:cNvSpPr/>
            <p:nvPr/>
          </p:nvSpPr>
          <p:spPr bwMode="auto">
            <a:xfrm>
              <a:off x="3933826" y="1670051"/>
              <a:ext cx="71438" cy="74613"/>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50" name="i$ḷiḋe"/>
            <p:cNvSpPr/>
            <p:nvPr/>
          </p:nvSpPr>
          <p:spPr bwMode="auto">
            <a:xfrm>
              <a:off x="3933826" y="1708151"/>
              <a:ext cx="71438" cy="39688"/>
            </a:xfrm>
            <a:custGeom>
              <a:avLst/>
              <a:gdLst>
                <a:gd name="T0" fmla="*/ 12 w 24"/>
                <a:gd name="T1" fmla="*/ 12 h 13"/>
                <a:gd name="T2" fmla="*/ 0 w 24"/>
                <a:gd name="T3" fmla="*/ 0 h 13"/>
                <a:gd name="T4" fmla="*/ 0 w 24"/>
                <a:gd name="T5" fmla="*/ 0 h 13"/>
                <a:gd name="T6" fmla="*/ 12 w 24"/>
                <a:gd name="T7" fmla="*/ 13 h 13"/>
                <a:gd name="T8" fmla="*/ 24 w 24"/>
                <a:gd name="T9" fmla="*/ 0 h 13"/>
                <a:gd name="T10" fmla="*/ 24 w 24"/>
                <a:gd name="T11" fmla="*/ 0 h 13"/>
                <a:gd name="T12" fmla="*/ 12 w 24"/>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24" h="13">
                  <a:moveTo>
                    <a:pt x="12" y="12"/>
                  </a:moveTo>
                  <a:cubicBezTo>
                    <a:pt x="5" y="12"/>
                    <a:pt x="0" y="7"/>
                    <a:pt x="0" y="0"/>
                  </a:cubicBezTo>
                  <a:cubicBezTo>
                    <a:pt x="0" y="0"/>
                    <a:pt x="0" y="0"/>
                    <a:pt x="0" y="0"/>
                  </a:cubicBezTo>
                  <a:cubicBezTo>
                    <a:pt x="0" y="7"/>
                    <a:pt x="5" y="13"/>
                    <a:pt x="12" y="13"/>
                  </a:cubicBezTo>
                  <a:cubicBezTo>
                    <a:pt x="19" y="13"/>
                    <a:pt x="24" y="7"/>
                    <a:pt x="24" y="0"/>
                  </a:cubicBezTo>
                  <a:cubicBezTo>
                    <a:pt x="24" y="0"/>
                    <a:pt x="24" y="0"/>
                    <a:pt x="24" y="0"/>
                  </a:cubicBezTo>
                  <a:cubicBezTo>
                    <a:pt x="24" y="7"/>
                    <a:pt x="19" y="12"/>
                    <a:pt x="12" y="12"/>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51" name="íšľîďè"/>
            <p:cNvSpPr/>
            <p:nvPr/>
          </p:nvSpPr>
          <p:spPr bwMode="auto">
            <a:xfrm>
              <a:off x="4021138" y="1670051"/>
              <a:ext cx="74613" cy="74613"/>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52" name="ïṡḻîḑe"/>
            <p:cNvSpPr/>
            <p:nvPr/>
          </p:nvSpPr>
          <p:spPr bwMode="auto">
            <a:xfrm>
              <a:off x="4021138" y="1708151"/>
              <a:ext cx="74613" cy="39688"/>
            </a:xfrm>
            <a:custGeom>
              <a:avLst/>
              <a:gdLst>
                <a:gd name="T0" fmla="*/ 12 w 25"/>
                <a:gd name="T1" fmla="*/ 12 h 13"/>
                <a:gd name="T2" fmla="*/ 0 w 25"/>
                <a:gd name="T3" fmla="*/ 0 h 13"/>
                <a:gd name="T4" fmla="*/ 0 w 25"/>
                <a:gd name="T5" fmla="*/ 0 h 13"/>
                <a:gd name="T6" fmla="*/ 12 w 25"/>
                <a:gd name="T7" fmla="*/ 13 h 13"/>
                <a:gd name="T8" fmla="*/ 25 w 25"/>
                <a:gd name="T9" fmla="*/ 0 h 13"/>
                <a:gd name="T10" fmla="*/ 25 w 25"/>
                <a:gd name="T11" fmla="*/ 0 h 13"/>
                <a:gd name="T12" fmla="*/ 12 w 25"/>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25" h="13">
                  <a:moveTo>
                    <a:pt x="12" y="12"/>
                  </a:moveTo>
                  <a:cubicBezTo>
                    <a:pt x="6" y="12"/>
                    <a:pt x="0" y="7"/>
                    <a:pt x="0" y="0"/>
                  </a:cubicBezTo>
                  <a:cubicBezTo>
                    <a:pt x="0" y="0"/>
                    <a:pt x="0" y="0"/>
                    <a:pt x="0" y="0"/>
                  </a:cubicBezTo>
                  <a:cubicBezTo>
                    <a:pt x="0" y="7"/>
                    <a:pt x="6" y="13"/>
                    <a:pt x="12" y="13"/>
                  </a:cubicBezTo>
                  <a:cubicBezTo>
                    <a:pt x="19" y="13"/>
                    <a:pt x="25" y="7"/>
                    <a:pt x="25" y="0"/>
                  </a:cubicBezTo>
                  <a:cubicBezTo>
                    <a:pt x="25" y="0"/>
                    <a:pt x="25" y="0"/>
                    <a:pt x="25" y="0"/>
                  </a:cubicBezTo>
                  <a:cubicBezTo>
                    <a:pt x="25" y="7"/>
                    <a:pt x="19" y="12"/>
                    <a:pt x="12" y="12"/>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53" name="íś1íḍé"/>
            <p:cNvSpPr/>
            <p:nvPr/>
          </p:nvSpPr>
          <p:spPr bwMode="auto">
            <a:xfrm>
              <a:off x="4108451" y="1670051"/>
              <a:ext cx="74613" cy="74613"/>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54" name="iš1ïďê"/>
            <p:cNvSpPr/>
            <p:nvPr/>
          </p:nvSpPr>
          <p:spPr bwMode="auto">
            <a:xfrm>
              <a:off x="4108451" y="1708151"/>
              <a:ext cx="74613" cy="39688"/>
            </a:xfrm>
            <a:custGeom>
              <a:avLst/>
              <a:gdLst>
                <a:gd name="T0" fmla="*/ 12 w 25"/>
                <a:gd name="T1" fmla="*/ 12 h 13"/>
                <a:gd name="T2" fmla="*/ 0 w 25"/>
                <a:gd name="T3" fmla="*/ 0 h 13"/>
                <a:gd name="T4" fmla="*/ 0 w 25"/>
                <a:gd name="T5" fmla="*/ 0 h 13"/>
                <a:gd name="T6" fmla="*/ 12 w 25"/>
                <a:gd name="T7" fmla="*/ 13 h 13"/>
                <a:gd name="T8" fmla="*/ 25 w 25"/>
                <a:gd name="T9" fmla="*/ 0 h 13"/>
                <a:gd name="T10" fmla="*/ 25 w 25"/>
                <a:gd name="T11" fmla="*/ 0 h 13"/>
                <a:gd name="T12" fmla="*/ 12 w 25"/>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25" h="13">
                  <a:moveTo>
                    <a:pt x="12" y="12"/>
                  </a:moveTo>
                  <a:cubicBezTo>
                    <a:pt x="6" y="12"/>
                    <a:pt x="0" y="7"/>
                    <a:pt x="0" y="0"/>
                  </a:cubicBezTo>
                  <a:cubicBezTo>
                    <a:pt x="0" y="0"/>
                    <a:pt x="0" y="0"/>
                    <a:pt x="0" y="0"/>
                  </a:cubicBezTo>
                  <a:cubicBezTo>
                    <a:pt x="0" y="7"/>
                    <a:pt x="6" y="13"/>
                    <a:pt x="12" y="13"/>
                  </a:cubicBezTo>
                  <a:cubicBezTo>
                    <a:pt x="19" y="13"/>
                    <a:pt x="25" y="7"/>
                    <a:pt x="25" y="0"/>
                  </a:cubicBezTo>
                  <a:cubicBezTo>
                    <a:pt x="25" y="0"/>
                    <a:pt x="25" y="0"/>
                    <a:pt x="25" y="0"/>
                  </a:cubicBezTo>
                  <a:cubicBezTo>
                    <a:pt x="25" y="7"/>
                    <a:pt x="19" y="12"/>
                    <a:pt x="12" y="12"/>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55" name="ïSḷïďé"/>
            <p:cNvSpPr/>
            <p:nvPr/>
          </p:nvSpPr>
          <p:spPr bwMode="auto">
            <a:xfrm>
              <a:off x="3897313" y="1798638"/>
              <a:ext cx="1798638" cy="3175"/>
            </a:xfrm>
            <a:prstGeom prst="rect">
              <a:avLst/>
            </a:prstGeom>
            <a:solidFill>
              <a:srgbClr val="55E2E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56" name="ïsḻíḍe"/>
            <p:cNvSpPr/>
            <p:nvPr/>
          </p:nvSpPr>
          <p:spPr bwMode="auto">
            <a:xfrm>
              <a:off x="3897313" y="1798638"/>
              <a:ext cx="1798638" cy="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57" name="iṡḷiḋé"/>
            <p:cNvSpPr/>
            <p:nvPr/>
          </p:nvSpPr>
          <p:spPr bwMode="auto">
            <a:xfrm>
              <a:off x="3938588" y="1677988"/>
              <a:ext cx="60325" cy="60325"/>
            </a:xfrm>
            <a:prstGeom prst="ellipse">
              <a:avLst/>
            </a:pr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58" name="iSlídê"/>
            <p:cNvSpPr/>
            <p:nvPr/>
          </p:nvSpPr>
          <p:spPr bwMode="auto">
            <a:xfrm>
              <a:off x="4029076" y="1677988"/>
              <a:ext cx="58738" cy="60325"/>
            </a:xfrm>
            <a:prstGeom prst="ellipse">
              <a:avLst/>
            </a:pr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59" name="iṧḷidè"/>
            <p:cNvSpPr/>
            <p:nvPr/>
          </p:nvSpPr>
          <p:spPr bwMode="auto">
            <a:xfrm>
              <a:off x="4117976" y="1677988"/>
              <a:ext cx="57150" cy="60325"/>
            </a:xfrm>
            <a:prstGeom prst="ellipse">
              <a:avLst/>
            </a:pr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60" name="iṣḻîḓê"/>
            <p:cNvSpPr/>
            <p:nvPr/>
          </p:nvSpPr>
          <p:spPr bwMode="auto">
            <a:xfrm>
              <a:off x="3938588" y="1828801"/>
              <a:ext cx="60325" cy="817563"/>
            </a:xfrm>
            <a:custGeom>
              <a:avLst/>
              <a:gdLst>
                <a:gd name="T0" fmla="*/ 10 w 20"/>
                <a:gd name="T1" fmla="*/ 0 h 272"/>
                <a:gd name="T2" fmla="*/ 0 w 20"/>
                <a:gd name="T3" fmla="*/ 9 h 272"/>
                <a:gd name="T4" fmla="*/ 0 w 20"/>
                <a:gd name="T5" fmla="*/ 262 h 272"/>
                <a:gd name="T6" fmla="*/ 10 w 20"/>
                <a:gd name="T7" fmla="*/ 272 h 272"/>
                <a:gd name="T8" fmla="*/ 20 w 20"/>
                <a:gd name="T9" fmla="*/ 262 h 272"/>
                <a:gd name="T10" fmla="*/ 20 w 20"/>
                <a:gd name="T11" fmla="*/ 9 h 272"/>
                <a:gd name="T12" fmla="*/ 10 w 20"/>
                <a:gd name="T13" fmla="*/ 0 h 272"/>
              </a:gdLst>
              <a:ahLst/>
              <a:cxnLst>
                <a:cxn ang="0">
                  <a:pos x="T0" y="T1"/>
                </a:cxn>
                <a:cxn ang="0">
                  <a:pos x="T2" y="T3"/>
                </a:cxn>
                <a:cxn ang="0">
                  <a:pos x="T4" y="T5"/>
                </a:cxn>
                <a:cxn ang="0">
                  <a:pos x="T6" y="T7"/>
                </a:cxn>
                <a:cxn ang="0">
                  <a:pos x="T8" y="T9"/>
                </a:cxn>
                <a:cxn ang="0">
                  <a:pos x="T10" y="T11"/>
                </a:cxn>
                <a:cxn ang="0">
                  <a:pos x="T12" y="T13"/>
                </a:cxn>
              </a:cxnLst>
              <a:rect l="0" t="0" r="r" b="b"/>
              <a:pathLst>
                <a:path w="20" h="272">
                  <a:moveTo>
                    <a:pt x="10" y="0"/>
                  </a:moveTo>
                  <a:cubicBezTo>
                    <a:pt x="5" y="0"/>
                    <a:pt x="0" y="4"/>
                    <a:pt x="0" y="9"/>
                  </a:cubicBezTo>
                  <a:cubicBezTo>
                    <a:pt x="0" y="262"/>
                    <a:pt x="0" y="262"/>
                    <a:pt x="0" y="262"/>
                  </a:cubicBezTo>
                  <a:cubicBezTo>
                    <a:pt x="0" y="268"/>
                    <a:pt x="5" y="272"/>
                    <a:pt x="10" y="272"/>
                  </a:cubicBezTo>
                  <a:cubicBezTo>
                    <a:pt x="15" y="272"/>
                    <a:pt x="20" y="268"/>
                    <a:pt x="20" y="262"/>
                  </a:cubicBezTo>
                  <a:cubicBezTo>
                    <a:pt x="20" y="9"/>
                    <a:pt x="20" y="9"/>
                    <a:pt x="20" y="9"/>
                  </a:cubicBezTo>
                  <a:cubicBezTo>
                    <a:pt x="20" y="4"/>
                    <a:pt x="15" y="0"/>
                    <a:pt x="10"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61" name="íSľiḓè"/>
            <p:cNvSpPr/>
            <p:nvPr/>
          </p:nvSpPr>
          <p:spPr bwMode="auto">
            <a:xfrm>
              <a:off x="3954463" y="1852613"/>
              <a:ext cx="23813" cy="217488"/>
            </a:xfrm>
            <a:custGeom>
              <a:avLst/>
              <a:gdLst>
                <a:gd name="T0" fmla="*/ 4 w 8"/>
                <a:gd name="T1" fmla="*/ 72 h 72"/>
                <a:gd name="T2" fmla="*/ 4 w 8"/>
                <a:gd name="T3" fmla="*/ 72 h 72"/>
                <a:gd name="T4" fmla="*/ 0 w 8"/>
                <a:gd name="T5" fmla="*/ 68 h 72"/>
                <a:gd name="T6" fmla="*/ 0 w 8"/>
                <a:gd name="T7" fmla="*/ 4 h 72"/>
                <a:gd name="T8" fmla="*/ 4 w 8"/>
                <a:gd name="T9" fmla="*/ 0 h 72"/>
                <a:gd name="T10" fmla="*/ 8 w 8"/>
                <a:gd name="T11" fmla="*/ 4 h 72"/>
                <a:gd name="T12" fmla="*/ 8 w 8"/>
                <a:gd name="T13" fmla="*/ 68 h 72"/>
                <a:gd name="T14" fmla="*/ 4 w 8"/>
                <a:gd name="T15" fmla="*/ 72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72">
                  <a:moveTo>
                    <a:pt x="4" y="72"/>
                  </a:moveTo>
                  <a:cubicBezTo>
                    <a:pt x="4" y="72"/>
                    <a:pt x="4" y="72"/>
                    <a:pt x="4" y="72"/>
                  </a:cubicBezTo>
                  <a:cubicBezTo>
                    <a:pt x="2" y="72"/>
                    <a:pt x="0" y="70"/>
                    <a:pt x="0" y="68"/>
                  </a:cubicBezTo>
                  <a:cubicBezTo>
                    <a:pt x="0" y="4"/>
                    <a:pt x="0" y="4"/>
                    <a:pt x="0" y="4"/>
                  </a:cubicBezTo>
                  <a:cubicBezTo>
                    <a:pt x="0" y="2"/>
                    <a:pt x="2" y="0"/>
                    <a:pt x="4" y="0"/>
                  </a:cubicBezTo>
                  <a:cubicBezTo>
                    <a:pt x="6" y="0"/>
                    <a:pt x="8" y="2"/>
                    <a:pt x="8" y="4"/>
                  </a:cubicBezTo>
                  <a:cubicBezTo>
                    <a:pt x="8" y="68"/>
                    <a:pt x="8" y="68"/>
                    <a:pt x="8" y="68"/>
                  </a:cubicBezTo>
                  <a:cubicBezTo>
                    <a:pt x="8" y="70"/>
                    <a:pt x="6" y="72"/>
                    <a:pt x="4" y="72"/>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62" name="işḻïḋe"/>
            <p:cNvSpPr/>
            <p:nvPr/>
          </p:nvSpPr>
          <p:spPr bwMode="auto">
            <a:xfrm>
              <a:off x="4089401" y="1895476"/>
              <a:ext cx="415925" cy="11113"/>
            </a:xfrm>
            <a:custGeom>
              <a:avLst/>
              <a:gdLst>
                <a:gd name="T0" fmla="*/ 2 w 138"/>
                <a:gd name="T1" fmla="*/ 4 h 4"/>
                <a:gd name="T2" fmla="*/ 136 w 138"/>
                <a:gd name="T3" fmla="*/ 4 h 4"/>
                <a:gd name="T4" fmla="*/ 138 w 138"/>
                <a:gd name="T5" fmla="*/ 2 h 4"/>
                <a:gd name="T6" fmla="*/ 136 w 138"/>
                <a:gd name="T7" fmla="*/ 0 h 4"/>
                <a:gd name="T8" fmla="*/ 2 w 138"/>
                <a:gd name="T9" fmla="*/ 0 h 4"/>
                <a:gd name="T10" fmla="*/ 0 w 138"/>
                <a:gd name="T11" fmla="*/ 2 h 4"/>
                <a:gd name="T12" fmla="*/ 2 w 13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38" h="4">
                  <a:moveTo>
                    <a:pt x="2" y="4"/>
                  </a:moveTo>
                  <a:cubicBezTo>
                    <a:pt x="136" y="4"/>
                    <a:pt x="136" y="4"/>
                    <a:pt x="136" y="4"/>
                  </a:cubicBezTo>
                  <a:cubicBezTo>
                    <a:pt x="137" y="4"/>
                    <a:pt x="138" y="3"/>
                    <a:pt x="138" y="2"/>
                  </a:cubicBezTo>
                  <a:cubicBezTo>
                    <a:pt x="138" y="1"/>
                    <a:pt x="137" y="0"/>
                    <a:pt x="13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63" name="ïšļíḑê"/>
            <p:cNvSpPr/>
            <p:nvPr/>
          </p:nvSpPr>
          <p:spPr bwMode="auto">
            <a:xfrm>
              <a:off x="4530726" y="1895476"/>
              <a:ext cx="77788" cy="11113"/>
            </a:xfrm>
            <a:custGeom>
              <a:avLst/>
              <a:gdLst>
                <a:gd name="T0" fmla="*/ 2 w 26"/>
                <a:gd name="T1" fmla="*/ 4 h 4"/>
                <a:gd name="T2" fmla="*/ 24 w 26"/>
                <a:gd name="T3" fmla="*/ 4 h 4"/>
                <a:gd name="T4" fmla="*/ 26 w 26"/>
                <a:gd name="T5" fmla="*/ 2 h 4"/>
                <a:gd name="T6" fmla="*/ 24 w 26"/>
                <a:gd name="T7" fmla="*/ 0 h 4"/>
                <a:gd name="T8" fmla="*/ 2 w 26"/>
                <a:gd name="T9" fmla="*/ 0 h 4"/>
                <a:gd name="T10" fmla="*/ 0 w 26"/>
                <a:gd name="T11" fmla="*/ 2 h 4"/>
                <a:gd name="T12" fmla="*/ 2 w 2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6" h="4">
                  <a:moveTo>
                    <a:pt x="2" y="4"/>
                  </a:moveTo>
                  <a:cubicBezTo>
                    <a:pt x="24" y="4"/>
                    <a:pt x="24" y="4"/>
                    <a:pt x="24" y="4"/>
                  </a:cubicBezTo>
                  <a:cubicBezTo>
                    <a:pt x="25" y="4"/>
                    <a:pt x="26" y="3"/>
                    <a:pt x="26" y="2"/>
                  </a:cubicBezTo>
                  <a:cubicBezTo>
                    <a:pt x="26" y="1"/>
                    <a:pt x="25" y="0"/>
                    <a:pt x="2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64" name="îṩḻïďe"/>
            <p:cNvSpPr/>
            <p:nvPr/>
          </p:nvSpPr>
          <p:spPr bwMode="auto">
            <a:xfrm>
              <a:off x="4668838" y="1895476"/>
              <a:ext cx="298450" cy="11113"/>
            </a:xfrm>
            <a:custGeom>
              <a:avLst/>
              <a:gdLst>
                <a:gd name="T0" fmla="*/ 2 w 99"/>
                <a:gd name="T1" fmla="*/ 4 h 4"/>
                <a:gd name="T2" fmla="*/ 97 w 99"/>
                <a:gd name="T3" fmla="*/ 4 h 4"/>
                <a:gd name="T4" fmla="*/ 99 w 99"/>
                <a:gd name="T5" fmla="*/ 2 h 4"/>
                <a:gd name="T6" fmla="*/ 97 w 99"/>
                <a:gd name="T7" fmla="*/ 0 h 4"/>
                <a:gd name="T8" fmla="*/ 2 w 99"/>
                <a:gd name="T9" fmla="*/ 0 h 4"/>
                <a:gd name="T10" fmla="*/ 0 w 99"/>
                <a:gd name="T11" fmla="*/ 2 h 4"/>
                <a:gd name="T12" fmla="*/ 2 w 9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99" h="4">
                  <a:moveTo>
                    <a:pt x="2" y="4"/>
                  </a:moveTo>
                  <a:cubicBezTo>
                    <a:pt x="97" y="4"/>
                    <a:pt x="97" y="4"/>
                    <a:pt x="97" y="4"/>
                  </a:cubicBezTo>
                  <a:cubicBezTo>
                    <a:pt x="98" y="4"/>
                    <a:pt x="99" y="3"/>
                    <a:pt x="99" y="2"/>
                  </a:cubicBezTo>
                  <a:cubicBezTo>
                    <a:pt x="99" y="1"/>
                    <a:pt x="98" y="0"/>
                    <a:pt x="97"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65" name="ïş1îḋê"/>
            <p:cNvSpPr/>
            <p:nvPr/>
          </p:nvSpPr>
          <p:spPr bwMode="auto">
            <a:xfrm>
              <a:off x="4089401" y="1936751"/>
              <a:ext cx="501650" cy="12700"/>
            </a:xfrm>
            <a:custGeom>
              <a:avLst/>
              <a:gdLst>
                <a:gd name="T0" fmla="*/ 2 w 166"/>
                <a:gd name="T1" fmla="*/ 4 h 4"/>
                <a:gd name="T2" fmla="*/ 164 w 166"/>
                <a:gd name="T3" fmla="*/ 4 h 4"/>
                <a:gd name="T4" fmla="*/ 166 w 166"/>
                <a:gd name="T5" fmla="*/ 2 h 4"/>
                <a:gd name="T6" fmla="*/ 164 w 166"/>
                <a:gd name="T7" fmla="*/ 0 h 4"/>
                <a:gd name="T8" fmla="*/ 2 w 166"/>
                <a:gd name="T9" fmla="*/ 0 h 4"/>
                <a:gd name="T10" fmla="*/ 0 w 166"/>
                <a:gd name="T11" fmla="*/ 2 h 4"/>
                <a:gd name="T12" fmla="*/ 2 w 16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66" h="4">
                  <a:moveTo>
                    <a:pt x="2" y="4"/>
                  </a:moveTo>
                  <a:cubicBezTo>
                    <a:pt x="164" y="4"/>
                    <a:pt x="164" y="4"/>
                    <a:pt x="164" y="4"/>
                  </a:cubicBezTo>
                  <a:cubicBezTo>
                    <a:pt x="165" y="4"/>
                    <a:pt x="166" y="3"/>
                    <a:pt x="166" y="2"/>
                  </a:cubicBezTo>
                  <a:cubicBezTo>
                    <a:pt x="166" y="1"/>
                    <a:pt x="165" y="0"/>
                    <a:pt x="16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66" name="iṩļïḓè"/>
            <p:cNvSpPr/>
            <p:nvPr/>
          </p:nvSpPr>
          <p:spPr bwMode="auto">
            <a:xfrm>
              <a:off x="4625976" y="1930401"/>
              <a:ext cx="207963" cy="12700"/>
            </a:xfrm>
            <a:custGeom>
              <a:avLst/>
              <a:gdLst>
                <a:gd name="T0" fmla="*/ 2 w 69"/>
                <a:gd name="T1" fmla="*/ 4 h 4"/>
                <a:gd name="T2" fmla="*/ 67 w 69"/>
                <a:gd name="T3" fmla="*/ 4 h 4"/>
                <a:gd name="T4" fmla="*/ 69 w 69"/>
                <a:gd name="T5" fmla="*/ 2 h 4"/>
                <a:gd name="T6" fmla="*/ 67 w 69"/>
                <a:gd name="T7" fmla="*/ 0 h 4"/>
                <a:gd name="T8" fmla="*/ 2 w 69"/>
                <a:gd name="T9" fmla="*/ 0 h 4"/>
                <a:gd name="T10" fmla="*/ 0 w 69"/>
                <a:gd name="T11" fmla="*/ 2 h 4"/>
                <a:gd name="T12" fmla="*/ 2 w 6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69" h="4">
                  <a:moveTo>
                    <a:pt x="2" y="4"/>
                  </a:moveTo>
                  <a:cubicBezTo>
                    <a:pt x="67" y="4"/>
                    <a:pt x="67" y="4"/>
                    <a:pt x="67" y="4"/>
                  </a:cubicBezTo>
                  <a:cubicBezTo>
                    <a:pt x="68" y="4"/>
                    <a:pt x="69" y="3"/>
                    <a:pt x="69" y="2"/>
                  </a:cubicBezTo>
                  <a:cubicBezTo>
                    <a:pt x="69" y="0"/>
                    <a:pt x="68" y="0"/>
                    <a:pt x="67" y="0"/>
                  </a:cubicBezTo>
                  <a:cubicBezTo>
                    <a:pt x="2" y="0"/>
                    <a:pt x="2" y="0"/>
                    <a:pt x="2" y="0"/>
                  </a:cubicBezTo>
                  <a:cubicBezTo>
                    <a:pt x="0" y="0"/>
                    <a:pt x="0" y="0"/>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67" name="işľïḍe"/>
            <p:cNvSpPr/>
            <p:nvPr/>
          </p:nvSpPr>
          <p:spPr bwMode="auto">
            <a:xfrm>
              <a:off x="4860926" y="1930401"/>
              <a:ext cx="112713" cy="12700"/>
            </a:xfrm>
            <a:custGeom>
              <a:avLst/>
              <a:gdLst>
                <a:gd name="T0" fmla="*/ 2 w 37"/>
                <a:gd name="T1" fmla="*/ 4 h 4"/>
                <a:gd name="T2" fmla="*/ 35 w 37"/>
                <a:gd name="T3" fmla="*/ 4 h 4"/>
                <a:gd name="T4" fmla="*/ 37 w 37"/>
                <a:gd name="T5" fmla="*/ 2 h 4"/>
                <a:gd name="T6" fmla="*/ 35 w 37"/>
                <a:gd name="T7" fmla="*/ 0 h 4"/>
                <a:gd name="T8" fmla="*/ 2 w 37"/>
                <a:gd name="T9" fmla="*/ 0 h 4"/>
                <a:gd name="T10" fmla="*/ 0 w 37"/>
                <a:gd name="T11" fmla="*/ 2 h 4"/>
                <a:gd name="T12" fmla="*/ 2 w 37"/>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7" h="4">
                  <a:moveTo>
                    <a:pt x="2" y="4"/>
                  </a:moveTo>
                  <a:cubicBezTo>
                    <a:pt x="35" y="4"/>
                    <a:pt x="35" y="4"/>
                    <a:pt x="35" y="4"/>
                  </a:cubicBezTo>
                  <a:cubicBezTo>
                    <a:pt x="36" y="4"/>
                    <a:pt x="37" y="3"/>
                    <a:pt x="37" y="2"/>
                  </a:cubicBezTo>
                  <a:cubicBezTo>
                    <a:pt x="37" y="0"/>
                    <a:pt x="36" y="0"/>
                    <a:pt x="35" y="0"/>
                  </a:cubicBezTo>
                  <a:cubicBezTo>
                    <a:pt x="2" y="0"/>
                    <a:pt x="2" y="0"/>
                    <a:pt x="2" y="0"/>
                  </a:cubicBezTo>
                  <a:cubicBezTo>
                    <a:pt x="0" y="0"/>
                    <a:pt x="0" y="0"/>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68" name="ïSļïde"/>
            <p:cNvSpPr/>
            <p:nvPr/>
          </p:nvSpPr>
          <p:spPr bwMode="auto">
            <a:xfrm>
              <a:off x="4111626" y="1987551"/>
              <a:ext cx="587375" cy="12700"/>
            </a:xfrm>
            <a:custGeom>
              <a:avLst/>
              <a:gdLst>
                <a:gd name="T0" fmla="*/ 2 w 195"/>
                <a:gd name="T1" fmla="*/ 4 h 4"/>
                <a:gd name="T2" fmla="*/ 193 w 195"/>
                <a:gd name="T3" fmla="*/ 4 h 4"/>
                <a:gd name="T4" fmla="*/ 195 w 195"/>
                <a:gd name="T5" fmla="*/ 2 h 4"/>
                <a:gd name="T6" fmla="*/ 193 w 195"/>
                <a:gd name="T7" fmla="*/ 0 h 4"/>
                <a:gd name="T8" fmla="*/ 2 w 195"/>
                <a:gd name="T9" fmla="*/ 0 h 4"/>
                <a:gd name="T10" fmla="*/ 0 w 195"/>
                <a:gd name="T11" fmla="*/ 2 h 4"/>
                <a:gd name="T12" fmla="*/ 2 w 19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5" h="4">
                  <a:moveTo>
                    <a:pt x="2" y="4"/>
                  </a:moveTo>
                  <a:cubicBezTo>
                    <a:pt x="193" y="4"/>
                    <a:pt x="193" y="4"/>
                    <a:pt x="193" y="4"/>
                  </a:cubicBezTo>
                  <a:cubicBezTo>
                    <a:pt x="194" y="4"/>
                    <a:pt x="195" y="3"/>
                    <a:pt x="195" y="2"/>
                  </a:cubicBezTo>
                  <a:cubicBezTo>
                    <a:pt x="195" y="1"/>
                    <a:pt x="194" y="0"/>
                    <a:pt x="19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69" name="îṣ1ïde"/>
            <p:cNvSpPr/>
            <p:nvPr/>
          </p:nvSpPr>
          <p:spPr bwMode="auto">
            <a:xfrm>
              <a:off x="4756151" y="1987551"/>
              <a:ext cx="165100" cy="12700"/>
            </a:xfrm>
            <a:custGeom>
              <a:avLst/>
              <a:gdLst>
                <a:gd name="T0" fmla="*/ 2 w 55"/>
                <a:gd name="T1" fmla="*/ 4 h 4"/>
                <a:gd name="T2" fmla="*/ 53 w 55"/>
                <a:gd name="T3" fmla="*/ 4 h 4"/>
                <a:gd name="T4" fmla="*/ 55 w 55"/>
                <a:gd name="T5" fmla="*/ 2 h 4"/>
                <a:gd name="T6" fmla="*/ 53 w 55"/>
                <a:gd name="T7" fmla="*/ 0 h 4"/>
                <a:gd name="T8" fmla="*/ 2 w 55"/>
                <a:gd name="T9" fmla="*/ 0 h 4"/>
                <a:gd name="T10" fmla="*/ 0 w 55"/>
                <a:gd name="T11" fmla="*/ 2 h 4"/>
                <a:gd name="T12" fmla="*/ 2 w 5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55" h="4">
                  <a:moveTo>
                    <a:pt x="2" y="4"/>
                  </a:moveTo>
                  <a:cubicBezTo>
                    <a:pt x="53" y="4"/>
                    <a:pt x="53" y="4"/>
                    <a:pt x="53" y="4"/>
                  </a:cubicBezTo>
                  <a:cubicBezTo>
                    <a:pt x="54" y="4"/>
                    <a:pt x="55" y="3"/>
                    <a:pt x="55" y="2"/>
                  </a:cubicBezTo>
                  <a:cubicBezTo>
                    <a:pt x="55" y="1"/>
                    <a:pt x="54" y="0"/>
                    <a:pt x="53" y="0"/>
                  </a:cubicBezTo>
                  <a:cubicBezTo>
                    <a:pt x="2" y="0"/>
                    <a:pt x="2" y="0"/>
                    <a:pt x="2" y="0"/>
                  </a:cubicBezTo>
                  <a:cubicBezTo>
                    <a:pt x="0" y="0"/>
                    <a:pt x="0" y="1"/>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70" name="ïṥ1íḋé"/>
            <p:cNvSpPr/>
            <p:nvPr/>
          </p:nvSpPr>
          <p:spPr bwMode="auto">
            <a:xfrm>
              <a:off x="4514851" y="2033588"/>
              <a:ext cx="458788" cy="11113"/>
            </a:xfrm>
            <a:custGeom>
              <a:avLst/>
              <a:gdLst>
                <a:gd name="T0" fmla="*/ 150 w 152"/>
                <a:gd name="T1" fmla="*/ 0 h 4"/>
                <a:gd name="T2" fmla="*/ 2 w 152"/>
                <a:gd name="T3" fmla="*/ 0 h 4"/>
                <a:gd name="T4" fmla="*/ 0 w 152"/>
                <a:gd name="T5" fmla="*/ 2 h 4"/>
                <a:gd name="T6" fmla="*/ 2 w 152"/>
                <a:gd name="T7" fmla="*/ 4 h 4"/>
                <a:gd name="T8" fmla="*/ 150 w 152"/>
                <a:gd name="T9" fmla="*/ 4 h 4"/>
                <a:gd name="T10" fmla="*/ 152 w 152"/>
                <a:gd name="T11" fmla="*/ 2 h 4"/>
                <a:gd name="T12" fmla="*/ 150 w 152"/>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52" h="4">
                  <a:moveTo>
                    <a:pt x="150" y="0"/>
                  </a:moveTo>
                  <a:cubicBezTo>
                    <a:pt x="2" y="0"/>
                    <a:pt x="2" y="0"/>
                    <a:pt x="2" y="0"/>
                  </a:cubicBezTo>
                  <a:cubicBezTo>
                    <a:pt x="1" y="0"/>
                    <a:pt x="0" y="1"/>
                    <a:pt x="0" y="2"/>
                  </a:cubicBezTo>
                  <a:cubicBezTo>
                    <a:pt x="0" y="3"/>
                    <a:pt x="1" y="4"/>
                    <a:pt x="2" y="4"/>
                  </a:cubicBezTo>
                  <a:cubicBezTo>
                    <a:pt x="150" y="4"/>
                    <a:pt x="150" y="4"/>
                    <a:pt x="150" y="4"/>
                  </a:cubicBezTo>
                  <a:cubicBezTo>
                    <a:pt x="151" y="4"/>
                    <a:pt x="152" y="3"/>
                    <a:pt x="152" y="2"/>
                  </a:cubicBezTo>
                  <a:cubicBezTo>
                    <a:pt x="152" y="1"/>
                    <a:pt x="151" y="0"/>
                    <a:pt x="150"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71" name="íśḷiḓé"/>
            <p:cNvSpPr/>
            <p:nvPr/>
          </p:nvSpPr>
          <p:spPr bwMode="auto">
            <a:xfrm>
              <a:off x="4089401" y="2097088"/>
              <a:ext cx="630238" cy="11113"/>
            </a:xfrm>
            <a:custGeom>
              <a:avLst/>
              <a:gdLst>
                <a:gd name="T0" fmla="*/ 207 w 209"/>
                <a:gd name="T1" fmla="*/ 0 h 4"/>
                <a:gd name="T2" fmla="*/ 2 w 209"/>
                <a:gd name="T3" fmla="*/ 0 h 4"/>
                <a:gd name="T4" fmla="*/ 0 w 209"/>
                <a:gd name="T5" fmla="*/ 2 h 4"/>
                <a:gd name="T6" fmla="*/ 2 w 209"/>
                <a:gd name="T7" fmla="*/ 4 h 4"/>
                <a:gd name="T8" fmla="*/ 207 w 209"/>
                <a:gd name="T9" fmla="*/ 4 h 4"/>
                <a:gd name="T10" fmla="*/ 209 w 209"/>
                <a:gd name="T11" fmla="*/ 2 h 4"/>
                <a:gd name="T12" fmla="*/ 207 w 209"/>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09" h="4">
                  <a:moveTo>
                    <a:pt x="207" y="0"/>
                  </a:moveTo>
                  <a:cubicBezTo>
                    <a:pt x="2" y="0"/>
                    <a:pt x="2" y="0"/>
                    <a:pt x="2" y="0"/>
                  </a:cubicBezTo>
                  <a:cubicBezTo>
                    <a:pt x="1" y="0"/>
                    <a:pt x="0" y="1"/>
                    <a:pt x="0" y="2"/>
                  </a:cubicBezTo>
                  <a:cubicBezTo>
                    <a:pt x="0" y="3"/>
                    <a:pt x="1" y="4"/>
                    <a:pt x="2" y="4"/>
                  </a:cubicBezTo>
                  <a:cubicBezTo>
                    <a:pt x="207" y="4"/>
                    <a:pt x="207" y="4"/>
                    <a:pt x="207" y="4"/>
                  </a:cubicBezTo>
                  <a:cubicBezTo>
                    <a:pt x="208" y="4"/>
                    <a:pt x="209" y="3"/>
                    <a:pt x="209" y="2"/>
                  </a:cubicBezTo>
                  <a:cubicBezTo>
                    <a:pt x="209" y="1"/>
                    <a:pt x="208" y="0"/>
                    <a:pt x="207"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72" name="íš1íḋé"/>
            <p:cNvSpPr/>
            <p:nvPr/>
          </p:nvSpPr>
          <p:spPr bwMode="auto">
            <a:xfrm>
              <a:off x="4514851" y="2135188"/>
              <a:ext cx="469900" cy="12700"/>
            </a:xfrm>
            <a:custGeom>
              <a:avLst/>
              <a:gdLst>
                <a:gd name="T0" fmla="*/ 2 w 156"/>
                <a:gd name="T1" fmla="*/ 4 h 4"/>
                <a:gd name="T2" fmla="*/ 154 w 156"/>
                <a:gd name="T3" fmla="*/ 4 h 4"/>
                <a:gd name="T4" fmla="*/ 156 w 156"/>
                <a:gd name="T5" fmla="*/ 2 h 4"/>
                <a:gd name="T6" fmla="*/ 154 w 156"/>
                <a:gd name="T7" fmla="*/ 0 h 4"/>
                <a:gd name="T8" fmla="*/ 2 w 156"/>
                <a:gd name="T9" fmla="*/ 0 h 4"/>
                <a:gd name="T10" fmla="*/ 0 w 156"/>
                <a:gd name="T11" fmla="*/ 2 h 4"/>
                <a:gd name="T12" fmla="*/ 2 w 15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6" h="4">
                  <a:moveTo>
                    <a:pt x="2" y="4"/>
                  </a:moveTo>
                  <a:cubicBezTo>
                    <a:pt x="154" y="4"/>
                    <a:pt x="154" y="4"/>
                    <a:pt x="154" y="4"/>
                  </a:cubicBezTo>
                  <a:cubicBezTo>
                    <a:pt x="155" y="4"/>
                    <a:pt x="156" y="3"/>
                    <a:pt x="156" y="2"/>
                  </a:cubicBezTo>
                  <a:cubicBezTo>
                    <a:pt x="156" y="1"/>
                    <a:pt x="155" y="0"/>
                    <a:pt x="15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73" name="îṧ1ïďê"/>
            <p:cNvSpPr/>
            <p:nvPr/>
          </p:nvSpPr>
          <p:spPr bwMode="auto">
            <a:xfrm>
              <a:off x="4189413" y="2155826"/>
              <a:ext cx="385763" cy="12700"/>
            </a:xfrm>
            <a:custGeom>
              <a:avLst/>
              <a:gdLst>
                <a:gd name="T0" fmla="*/ 126 w 128"/>
                <a:gd name="T1" fmla="*/ 0 h 4"/>
                <a:gd name="T2" fmla="*/ 2 w 128"/>
                <a:gd name="T3" fmla="*/ 0 h 4"/>
                <a:gd name="T4" fmla="*/ 0 w 128"/>
                <a:gd name="T5" fmla="*/ 2 h 4"/>
                <a:gd name="T6" fmla="*/ 2 w 128"/>
                <a:gd name="T7" fmla="*/ 4 h 4"/>
                <a:gd name="T8" fmla="*/ 126 w 128"/>
                <a:gd name="T9" fmla="*/ 4 h 4"/>
                <a:gd name="T10" fmla="*/ 128 w 128"/>
                <a:gd name="T11" fmla="*/ 2 h 4"/>
                <a:gd name="T12" fmla="*/ 126 w 1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28" h="4">
                  <a:moveTo>
                    <a:pt x="126" y="0"/>
                  </a:moveTo>
                  <a:cubicBezTo>
                    <a:pt x="2" y="0"/>
                    <a:pt x="2" y="0"/>
                    <a:pt x="2" y="0"/>
                  </a:cubicBezTo>
                  <a:cubicBezTo>
                    <a:pt x="0" y="0"/>
                    <a:pt x="0" y="0"/>
                    <a:pt x="0" y="2"/>
                  </a:cubicBezTo>
                  <a:cubicBezTo>
                    <a:pt x="0" y="3"/>
                    <a:pt x="0" y="4"/>
                    <a:pt x="2" y="4"/>
                  </a:cubicBezTo>
                  <a:cubicBezTo>
                    <a:pt x="126" y="4"/>
                    <a:pt x="126" y="4"/>
                    <a:pt x="126" y="4"/>
                  </a:cubicBezTo>
                  <a:cubicBezTo>
                    <a:pt x="127" y="4"/>
                    <a:pt x="128" y="3"/>
                    <a:pt x="128" y="2"/>
                  </a:cubicBezTo>
                  <a:cubicBezTo>
                    <a:pt x="128" y="0"/>
                    <a:pt x="127" y="0"/>
                    <a:pt x="1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74" name="îsḷïdé"/>
            <p:cNvSpPr/>
            <p:nvPr/>
          </p:nvSpPr>
          <p:spPr bwMode="auto">
            <a:xfrm>
              <a:off x="4089401" y="2033588"/>
              <a:ext cx="176213" cy="11113"/>
            </a:xfrm>
            <a:custGeom>
              <a:avLst/>
              <a:gdLst>
                <a:gd name="T0" fmla="*/ 2 w 58"/>
                <a:gd name="T1" fmla="*/ 4 h 4"/>
                <a:gd name="T2" fmla="*/ 56 w 58"/>
                <a:gd name="T3" fmla="*/ 4 h 4"/>
                <a:gd name="T4" fmla="*/ 58 w 58"/>
                <a:gd name="T5" fmla="*/ 2 h 4"/>
                <a:gd name="T6" fmla="*/ 56 w 58"/>
                <a:gd name="T7" fmla="*/ 0 h 4"/>
                <a:gd name="T8" fmla="*/ 2 w 58"/>
                <a:gd name="T9" fmla="*/ 0 h 4"/>
                <a:gd name="T10" fmla="*/ 0 w 58"/>
                <a:gd name="T11" fmla="*/ 2 h 4"/>
                <a:gd name="T12" fmla="*/ 2 w 5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58" h="4">
                  <a:moveTo>
                    <a:pt x="2" y="4"/>
                  </a:moveTo>
                  <a:cubicBezTo>
                    <a:pt x="56" y="4"/>
                    <a:pt x="56" y="4"/>
                    <a:pt x="56" y="4"/>
                  </a:cubicBezTo>
                  <a:cubicBezTo>
                    <a:pt x="57" y="4"/>
                    <a:pt x="58" y="3"/>
                    <a:pt x="58" y="2"/>
                  </a:cubicBezTo>
                  <a:cubicBezTo>
                    <a:pt x="58" y="1"/>
                    <a:pt x="57" y="0"/>
                    <a:pt x="5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75" name="î$ľíde"/>
            <p:cNvSpPr/>
            <p:nvPr/>
          </p:nvSpPr>
          <p:spPr bwMode="auto">
            <a:xfrm>
              <a:off x="4240213" y="2279651"/>
              <a:ext cx="123825" cy="12700"/>
            </a:xfrm>
            <a:custGeom>
              <a:avLst/>
              <a:gdLst>
                <a:gd name="T0" fmla="*/ 39 w 41"/>
                <a:gd name="T1" fmla="*/ 0 h 4"/>
                <a:gd name="T2" fmla="*/ 2 w 41"/>
                <a:gd name="T3" fmla="*/ 0 h 4"/>
                <a:gd name="T4" fmla="*/ 0 w 41"/>
                <a:gd name="T5" fmla="*/ 2 h 4"/>
                <a:gd name="T6" fmla="*/ 2 w 41"/>
                <a:gd name="T7" fmla="*/ 4 h 4"/>
                <a:gd name="T8" fmla="*/ 39 w 41"/>
                <a:gd name="T9" fmla="*/ 4 h 4"/>
                <a:gd name="T10" fmla="*/ 41 w 41"/>
                <a:gd name="T11" fmla="*/ 2 h 4"/>
                <a:gd name="T12" fmla="*/ 39 w 41"/>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41" h="4">
                  <a:moveTo>
                    <a:pt x="39" y="0"/>
                  </a:moveTo>
                  <a:cubicBezTo>
                    <a:pt x="2" y="0"/>
                    <a:pt x="2" y="0"/>
                    <a:pt x="2" y="0"/>
                  </a:cubicBezTo>
                  <a:cubicBezTo>
                    <a:pt x="0" y="0"/>
                    <a:pt x="0" y="0"/>
                    <a:pt x="0" y="2"/>
                  </a:cubicBezTo>
                  <a:cubicBezTo>
                    <a:pt x="0" y="3"/>
                    <a:pt x="0" y="4"/>
                    <a:pt x="2" y="4"/>
                  </a:cubicBezTo>
                  <a:cubicBezTo>
                    <a:pt x="39" y="4"/>
                    <a:pt x="39" y="4"/>
                    <a:pt x="39" y="4"/>
                  </a:cubicBezTo>
                  <a:cubicBezTo>
                    <a:pt x="40" y="4"/>
                    <a:pt x="41" y="3"/>
                    <a:pt x="41" y="2"/>
                  </a:cubicBezTo>
                  <a:cubicBezTo>
                    <a:pt x="41" y="0"/>
                    <a:pt x="40" y="0"/>
                    <a:pt x="39"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76" name="išļîḍe"/>
            <p:cNvSpPr/>
            <p:nvPr/>
          </p:nvSpPr>
          <p:spPr bwMode="auto">
            <a:xfrm>
              <a:off x="4081463" y="2327276"/>
              <a:ext cx="273050" cy="12700"/>
            </a:xfrm>
            <a:custGeom>
              <a:avLst/>
              <a:gdLst>
                <a:gd name="T0" fmla="*/ 89 w 91"/>
                <a:gd name="T1" fmla="*/ 0 h 4"/>
                <a:gd name="T2" fmla="*/ 2 w 91"/>
                <a:gd name="T3" fmla="*/ 0 h 4"/>
                <a:gd name="T4" fmla="*/ 0 w 91"/>
                <a:gd name="T5" fmla="*/ 2 h 4"/>
                <a:gd name="T6" fmla="*/ 2 w 91"/>
                <a:gd name="T7" fmla="*/ 4 h 4"/>
                <a:gd name="T8" fmla="*/ 89 w 91"/>
                <a:gd name="T9" fmla="*/ 4 h 4"/>
                <a:gd name="T10" fmla="*/ 91 w 91"/>
                <a:gd name="T11" fmla="*/ 2 h 4"/>
                <a:gd name="T12" fmla="*/ 89 w 91"/>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91" h="4">
                  <a:moveTo>
                    <a:pt x="89" y="0"/>
                  </a:moveTo>
                  <a:cubicBezTo>
                    <a:pt x="2" y="0"/>
                    <a:pt x="2" y="0"/>
                    <a:pt x="2" y="0"/>
                  </a:cubicBezTo>
                  <a:cubicBezTo>
                    <a:pt x="1" y="0"/>
                    <a:pt x="0" y="1"/>
                    <a:pt x="0" y="2"/>
                  </a:cubicBezTo>
                  <a:cubicBezTo>
                    <a:pt x="0" y="3"/>
                    <a:pt x="1" y="4"/>
                    <a:pt x="2" y="4"/>
                  </a:cubicBezTo>
                  <a:cubicBezTo>
                    <a:pt x="89" y="4"/>
                    <a:pt x="89" y="4"/>
                    <a:pt x="89" y="4"/>
                  </a:cubicBezTo>
                  <a:cubicBezTo>
                    <a:pt x="90" y="4"/>
                    <a:pt x="91" y="3"/>
                    <a:pt x="91" y="2"/>
                  </a:cubicBezTo>
                  <a:cubicBezTo>
                    <a:pt x="91" y="1"/>
                    <a:pt x="90" y="0"/>
                    <a:pt x="89"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77" name="íšlïḍè"/>
            <p:cNvSpPr/>
            <p:nvPr/>
          </p:nvSpPr>
          <p:spPr bwMode="auto">
            <a:xfrm>
              <a:off x="4470401" y="2279651"/>
              <a:ext cx="57150" cy="12700"/>
            </a:xfrm>
            <a:custGeom>
              <a:avLst/>
              <a:gdLst>
                <a:gd name="T0" fmla="*/ 2 w 19"/>
                <a:gd name="T1" fmla="*/ 4 h 4"/>
                <a:gd name="T2" fmla="*/ 17 w 19"/>
                <a:gd name="T3" fmla="*/ 4 h 4"/>
                <a:gd name="T4" fmla="*/ 19 w 19"/>
                <a:gd name="T5" fmla="*/ 2 h 4"/>
                <a:gd name="T6" fmla="*/ 17 w 19"/>
                <a:gd name="T7" fmla="*/ 0 h 4"/>
                <a:gd name="T8" fmla="*/ 2 w 19"/>
                <a:gd name="T9" fmla="*/ 0 h 4"/>
                <a:gd name="T10" fmla="*/ 0 w 19"/>
                <a:gd name="T11" fmla="*/ 2 h 4"/>
                <a:gd name="T12" fmla="*/ 2 w 1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 h="4">
                  <a:moveTo>
                    <a:pt x="2" y="4"/>
                  </a:moveTo>
                  <a:cubicBezTo>
                    <a:pt x="17" y="4"/>
                    <a:pt x="17" y="4"/>
                    <a:pt x="17" y="4"/>
                  </a:cubicBezTo>
                  <a:cubicBezTo>
                    <a:pt x="18" y="4"/>
                    <a:pt x="19" y="3"/>
                    <a:pt x="19" y="2"/>
                  </a:cubicBezTo>
                  <a:cubicBezTo>
                    <a:pt x="19" y="0"/>
                    <a:pt x="18" y="0"/>
                    <a:pt x="17" y="0"/>
                  </a:cubicBezTo>
                  <a:cubicBezTo>
                    <a:pt x="2" y="0"/>
                    <a:pt x="2" y="0"/>
                    <a:pt x="2" y="0"/>
                  </a:cubicBezTo>
                  <a:cubicBezTo>
                    <a:pt x="0" y="0"/>
                    <a:pt x="0" y="0"/>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78" name="iśľíḍè"/>
            <p:cNvSpPr/>
            <p:nvPr/>
          </p:nvSpPr>
          <p:spPr bwMode="auto">
            <a:xfrm>
              <a:off x="4554538" y="2279651"/>
              <a:ext cx="57150" cy="12700"/>
            </a:xfrm>
            <a:custGeom>
              <a:avLst/>
              <a:gdLst>
                <a:gd name="T0" fmla="*/ 2 w 19"/>
                <a:gd name="T1" fmla="*/ 4 h 4"/>
                <a:gd name="T2" fmla="*/ 17 w 19"/>
                <a:gd name="T3" fmla="*/ 4 h 4"/>
                <a:gd name="T4" fmla="*/ 19 w 19"/>
                <a:gd name="T5" fmla="*/ 2 h 4"/>
                <a:gd name="T6" fmla="*/ 17 w 19"/>
                <a:gd name="T7" fmla="*/ 0 h 4"/>
                <a:gd name="T8" fmla="*/ 2 w 19"/>
                <a:gd name="T9" fmla="*/ 0 h 4"/>
                <a:gd name="T10" fmla="*/ 0 w 19"/>
                <a:gd name="T11" fmla="*/ 2 h 4"/>
                <a:gd name="T12" fmla="*/ 2 w 1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 h="4">
                  <a:moveTo>
                    <a:pt x="2" y="4"/>
                  </a:moveTo>
                  <a:cubicBezTo>
                    <a:pt x="17" y="4"/>
                    <a:pt x="17" y="4"/>
                    <a:pt x="17" y="4"/>
                  </a:cubicBezTo>
                  <a:cubicBezTo>
                    <a:pt x="18" y="4"/>
                    <a:pt x="19" y="3"/>
                    <a:pt x="19" y="2"/>
                  </a:cubicBezTo>
                  <a:cubicBezTo>
                    <a:pt x="19" y="0"/>
                    <a:pt x="18" y="0"/>
                    <a:pt x="17"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79" name="isļíḓe"/>
            <p:cNvSpPr/>
            <p:nvPr/>
          </p:nvSpPr>
          <p:spPr bwMode="auto">
            <a:xfrm>
              <a:off x="4638676" y="2279651"/>
              <a:ext cx="60325" cy="12700"/>
            </a:xfrm>
            <a:custGeom>
              <a:avLst/>
              <a:gdLst>
                <a:gd name="T0" fmla="*/ 2 w 20"/>
                <a:gd name="T1" fmla="*/ 4 h 4"/>
                <a:gd name="T2" fmla="*/ 18 w 20"/>
                <a:gd name="T3" fmla="*/ 4 h 4"/>
                <a:gd name="T4" fmla="*/ 20 w 20"/>
                <a:gd name="T5" fmla="*/ 2 h 4"/>
                <a:gd name="T6" fmla="*/ 18 w 20"/>
                <a:gd name="T7" fmla="*/ 0 h 4"/>
                <a:gd name="T8" fmla="*/ 2 w 20"/>
                <a:gd name="T9" fmla="*/ 0 h 4"/>
                <a:gd name="T10" fmla="*/ 0 w 20"/>
                <a:gd name="T11" fmla="*/ 2 h 4"/>
                <a:gd name="T12" fmla="*/ 2 w 20"/>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0" h="4">
                  <a:moveTo>
                    <a:pt x="2" y="4"/>
                  </a:moveTo>
                  <a:cubicBezTo>
                    <a:pt x="18" y="4"/>
                    <a:pt x="18" y="4"/>
                    <a:pt x="18" y="4"/>
                  </a:cubicBezTo>
                  <a:cubicBezTo>
                    <a:pt x="19" y="4"/>
                    <a:pt x="20" y="3"/>
                    <a:pt x="20" y="2"/>
                  </a:cubicBezTo>
                  <a:cubicBezTo>
                    <a:pt x="20" y="0"/>
                    <a:pt x="19" y="0"/>
                    <a:pt x="18"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80" name="ïṩlïḍé"/>
            <p:cNvSpPr/>
            <p:nvPr/>
          </p:nvSpPr>
          <p:spPr bwMode="auto">
            <a:xfrm>
              <a:off x="4722813" y="2279651"/>
              <a:ext cx="60325" cy="12700"/>
            </a:xfrm>
            <a:custGeom>
              <a:avLst/>
              <a:gdLst>
                <a:gd name="T0" fmla="*/ 2 w 20"/>
                <a:gd name="T1" fmla="*/ 4 h 4"/>
                <a:gd name="T2" fmla="*/ 18 w 20"/>
                <a:gd name="T3" fmla="*/ 4 h 4"/>
                <a:gd name="T4" fmla="*/ 20 w 20"/>
                <a:gd name="T5" fmla="*/ 2 h 4"/>
                <a:gd name="T6" fmla="*/ 18 w 20"/>
                <a:gd name="T7" fmla="*/ 0 h 4"/>
                <a:gd name="T8" fmla="*/ 2 w 20"/>
                <a:gd name="T9" fmla="*/ 0 h 4"/>
                <a:gd name="T10" fmla="*/ 0 w 20"/>
                <a:gd name="T11" fmla="*/ 2 h 4"/>
                <a:gd name="T12" fmla="*/ 2 w 20"/>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0" h="4">
                  <a:moveTo>
                    <a:pt x="2" y="4"/>
                  </a:moveTo>
                  <a:cubicBezTo>
                    <a:pt x="18" y="4"/>
                    <a:pt x="18" y="4"/>
                    <a:pt x="18" y="4"/>
                  </a:cubicBezTo>
                  <a:cubicBezTo>
                    <a:pt x="19" y="4"/>
                    <a:pt x="20" y="3"/>
                    <a:pt x="20" y="2"/>
                  </a:cubicBezTo>
                  <a:cubicBezTo>
                    <a:pt x="20" y="0"/>
                    <a:pt x="19" y="0"/>
                    <a:pt x="18"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81" name="iSḷïḋè"/>
            <p:cNvSpPr/>
            <p:nvPr/>
          </p:nvSpPr>
          <p:spPr bwMode="auto">
            <a:xfrm>
              <a:off x="4810126" y="2279651"/>
              <a:ext cx="57150" cy="12700"/>
            </a:xfrm>
            <a:custGeom>
              <a:avLst/>
              <a:gdLst>
                <a:gd name="T0" fmla="*/ 2 w 19"/>
                <a:gd name="T1" fmla="*/ 4 h 4"/>
                <a:gd name="T2" fmla="*/ 17 w 19"/>
                <a:gd name="T3" fmla="*/ 4 h 4"/>
                <a:gd name="T4" fmla="*/ 19 w 19"/>
                <a:gd name="T5" fmla="*/ 2 h 4"/>
                <a:gd name="T6" fmla="*/ 17 w 19"/>
                <a:gd name="T7" fmla="*/ 0 h 4"/>
                <a:gd name="T8" fmla="*/ 2 w 19"/>
                <a:gd name="T9" fmla="*/ 0 h 4"/>
                <a:gd name="T10" fmla="*/ 0 w 19"/>
                <a:gd name="T11" fmla="*/ 2 h 4"/>
                <a:gd name="T12" fmla="*/ 2 w 1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 h="4">
                  <a:moveTo>
                    <a:pt x="2" y="4"/>
                  </a:moveTo>
                  <a:cubicBezTo>
                    <a:pt x="17" y="4"/>
                    <a:pt x="17" y="4"/>
                    <a:pt x="17" y="4"/>
                  </a:cubicBezTo>
                  <a:cubicBezTo>
                    <a:pt x="18" y="4"/>
                    <a:pt x="19" y="3"/>
                    <a:pt x="19" y="2"/>
                  </a:cubicBezTo>
                  <a:cubicBezTo>
                    <a:pt x="19" y="0"/>
                    <a:pt x="18" y="0"/>
                    <a:pt x="17" y="0"/>
                  </a:cubicBezTo>
                  <a:cubicBezTo>
                    <a:pt x="2" y="0"/>
                    <a:pt x="2" y="0"/>
                    <a:pt x="2" y="0"/>
                  </a:cubicBezTo>
                  <a:cubicBezTo>
                    <a:pt x="0" y="0"/>
                    <a:pt x="0" y="0"/>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82" name="ïSlïḋe"/>
            <p:cNvSpPr/>
            <p:nvPr/>
          </p:nvSpPr>
          <p:spPr bwMode="auto">
            <a:xfrm>
              <a:off x="4894263" y="2279651"/>
              <a:ext cx="57150" cy="12700"/>
            </a:xfrm>
            <a:custGeom>
              <a:avLst/>
              <a:gdLst>
                <a:gd name="T0" fmla="*/ 2 w 19"/>
                <a:gd name="T1" fmla="*/ 4 h 4"/>
                <a:gd name="T2" fmla="*/ 17 w 19"/>
                <a:gd name="T3" fmla="*/ 4 h 4"/>
                <a:gd name="T4" fmla="*/ 19 w 19"/>
                <a:gd name="T5" fmla="*/ 2 h 4"/>
                <a:gd name="T6" fmla="*/ 17 w 19"/>
                <a:gd name="T7" fmla="*/ 0 h 4"/>
                <a:gd name="T8" fmla="*/ 2 w 19"/>
                <a:gd name="T9" fmla="*/ 0 h 4"/>
                <a:gd name="T10" fmla="*/ 0 w 19"/>
                <a:gd name="T11" fmla="*/ 2 h 4"/>
                <a:gd name="T12" fmla="*/ 2 w 1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 h="4">
                  <a:moveTo>
                    <a:pt x="2" y="4"/>
                  </a:moveTo>
                  <a:cubicBezTo>
                    <a:pt x="17" y="4"/>
                    <a:pt x="17" y="4"/>
                    <a:pt x="17" y="4"/>
                  </a:cubicBezTo>
                  <a:cubicBezTo>
                    <a:pt x="18" y="4"/>
                    <a:pt x="19" y="3"/>
                    <a:pt x="19" y="2"/>
                  </a:cubicBezTo>
                  <a:cubicBezTo>
                    <a:pt x="19" y="0"/>
                    <a:pt x="18" y="0"/>
                    <a:pt x="17"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83" name="îŝḷîďé"/>
            <p:cNvSpPr/>
            <p:nvPr/>
          </p:nvSpPr>
          <p:spPr bwMode="auto">
            <a:xfrm>
              <a:off x="4470401" y="2316163"/>
              <a:ext cx="41275" cy="11113"/>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0"/>
                    <a:pt x="13" y="0"/>
                    <a:pt x="12" y="0"/>
                  </a:cubicBezTo>
                  <a:cubicBezTo>
                    <a:pt x="2" y="0"/>
                    <a:pt x="2" y="0"/>
                    <a:pt x="2" y="0"/>
                  </a:cubicBezTo>
                  <a:cubicBezTo>
                    <a:pt x="0" y="0"/>
                    <a:pt x="0" y="0"/>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84" name="í$ḷiḋê"/>
            <p:cNvSpPr/>
            <p:nvPr/>
          </p:nvSpPr>
          <p:spPr bwMode="auto">
            <a:xfrm>
              <a:off x="4538663" y="2316163"/>
              <a:ext cx="42863" cy="11113"/>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0"/>
                    <a:pt x="13" y="0"/>
                    <a:pt x="12"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85" name="îṧ1íḑê"/>
            <p:cNvSpPr/>
            <p:nvPr/>
          </p:nvSpPr>
          <p:spPr bwMode="auto">
            <a:xfrm>
              <a:off x="4608513" y="2316163"/>
              <a:ext cx="42863" cy="11113"/>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0"/>
                    <a:pt x="13" y="0"/>
                    <a:pt x="12"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86" name="ïṩļîḓè"/>
            <p:cNvSpPr/>
            <p:nvPr/>
          </p:nvSpPr>
          <p:spPr bwMode="auto">
            <a:xfrm>
              <a:off x="4678363" y="2316163"/>
              <a:ext cx="41275" cy="11113"/>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0"/>
                    <a:pt x="13" y="0"/>
                    <a:pt x="12"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87" name="íS1ïḑè"/>
            <p:cNvSpPr/>
            <p:nvPr/>
          </p:nvSpPr>
          <p:spPr bwMode="auto">
            <a:xfrm>
              <a:off x="4749801" y="2316163"/>
              <a:ext cx="42863" cy="11113"/>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0"/>
                    <a:pt x="13" y="0"/>
                    <a:pt x="12" y="0"/>
                  </a:cubicBezTo>
                  <a:cubicBezTo>
                    <a:pt x="2" y="0"/>
                    <a:pt x="2" y="0"/>
                    <a:pt x="2" y="0"/>
                  </a:cubicBezTo>
                  <a:cubicBezTo>
                    <a:pt x="0" y="0"/>
                    <a:pt x="0" y="0"/>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88" name="ïśḷîḓe"/>
            <p:cNvSpPr/>
            <p:nvPr/>
          </p:nvSpPr>
          <p:spPr bwMode="auto">
            <a:xfrm>
              <a:off x="4819651" y="2316163"/>
              <a:ext cx="41275" cy="11113"/>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0"/>
                    <a:pt x="13" y="0"/>
                    <a:pt x="12"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89" name="íṩļîḓe"/>
            <p:cNvSpPr/>
            <p:nvPr/>
          </p:nvSpPr>
          <p:spPr bwMode="auto">
            <a:xfrm>
              <a:off x="4889501" y="2316163"/>
              <a:ext cx="41275" cy="11113"/>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0"/>
                    <a:pt x="13" y="0"/>
                    <a:pt x="12"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90" name="ïşḻïḋè"/>
            <p:cNvSpPr/>
            <p:nvPr/>
          </p:nvSpPr>
          <p:spPr bwMode="auto">
            <a:xfrm>
              <a:off x="4084638" y="2460626"/>
              <a:ext cx="44450" cy="77788"/>
            </a:xfrm>
            <a:custGeom>
              <a:avLst/>
              <a:gdLst>
                <a:gd name="T0" fmla="*/ 12 w 15"/>
                <a:gd name="T1" fmla="*/ 1 h 26"/>
                <a:gd name="T2" fmla="*/ 1 w 15"/>
                <a:gd name="T3" fmla="*/ 12 h 26"/>
                <a:gd name="T4" fmla="*/ 1 w 15"/>
                <a:gd name="T5" fmla="*/ 15 h 26"/>
                <a:gd name="T6" fmla="*/ 11 w 15"/>
                <a:gd name="T7" fmla="*/ 26 h 26"/>
                <a:gd name="T8" fmla="*/ 14 w 15"/>
                <a:gd name="T9" fmla="*/ 26 h 26"/>
                <a:gd name="T10" fmla="*/ 14 w 15"/>
                <a:gd name="T11" fmla="*/ 23 h 26"/>
                <a:gd name="T12" fmla="*/ 5 w 15"/>
                <a:gd name="T13" fmla="*/ 14 h 26"/>
                <a:gd name="T14" fmla="*/ 15 w 15"/>
                <a:gd name="T15" fmla="*/ 4 h 26"/>
                <a:gd name="T16" fmla="*/ 15 w 15"/>
                <a:gd name="T17" fmla="*/ 1 h 26"/>
                <a:gd name="T18" fmla="*/ 12 w 15"/>
                <a:gd name="T19"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26">
                  <a:moveTo>
                    <a:pt x="12" y="1"/>
                  </a:moveTo>
                  <a:cubicBezTo>
                    <a:pt x="1" y="12"/>
                    <a:pt x="1" y="12"/>
                    <a:pt x="1" y="12"/>
                  </a:cubicBezTo>
                  <a:cubicBezTo>
                    <a:pt x="0" y="13"/>
                    <a:pt x="0" y="14"/>
                    <a:pt x="1" y="15"/>
                  </a:cubicBezTo>
                  <a:cubicBezTo>
                    <a:pt x="11" y="26"/>
                    <a:pt x="11" y="26"/>
                    <a:pt x="11" y="26"/>
                  </a:cubicBezTo>
                  <a:cubicBezTo>
                    <a:pt x="12" y="26"/>
                    <a:pt x="13" y="26"/>
                    <a:pt x="14" y="26"/>
                  </a:cubicBezTo>
                  <a:cubicBezTo>
                    <a:pt x="15" y="25"/>
                    <a:pt x="15" y="24"/>
                    <a:pt x="14" y="23"/>
                  </a:cubicBezTo>
                  <a:cubicBezTo>
                    <a:pt x="5" y="14"/>
                    <a:pt x="5" y="14"/>
                    <a:pt x="5" y="14"/>
                  </a:cubicBezTo>
                  <a:cubicBezTo>
                    <a:pt x="15" y="4"/>
                    <a:pt x="15" y="4"/>
                    <a:pt x="15" y="4"/>
                  </a:cubicBezTo>
                  <a:cubicBezTo>
                    <a:pt x="15" y="3"/>
                    <a:pt x="15" y="2"/>
                    <a:pt x="15" y="1"/>
                  </a:cubicBezTo>
                  <a:cubicBezTo>
                    <a:pt x="14" y="0"/>
                    <a:pt x="13" y="0"/>
                    <a:pt x="12"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91" name="íṩľídê"/>
            <p:cNvSpPr/>
            <p:nvPr/>
          </p:nvSpPr>
          <p:spPr bwMode="auto">
            <a:xfrm>
              <a:off x="4117976" y="2460626"/>
              <a:ext cx="44450" cy="77788"/>
            </a:xfrm>
            <a:custGeom>
              <a:avLst/>
              <a:gdLst>
                <a:gd name="T0" fmla="*/ 12 w 15"/>
                <a:gd name="T1" fmla="*/ 1 h 26"/>
                <a:gd name="T2" fmla="*/ 1 w 15"/>
                <a:gd name="T3" fmla="*/ 12 h 26"/>
                <a:gd name="T4" fmla="*/ 1 w 15"/>
                <a:gd name="T5" fmla="*/ 15 h 26"/>
                <a:gd name="T6" fmla="*/ 11 w 15"/>
                <a:gd name="T7" fmla="*/ 26 h 26"/>
                <a:gd name="T8" fmla="*/ 14 w 15"/>
                <a:gd name="T9" fmla="*/ 26 h 26"/>
                <a:gd name="T10" fmla="*/ 14 w 15"/>
                <a:gd name="T11" fmla="*/ 23 h 26"/>
                <a:gd name="T12" fmla="*/ 5 w 15"/>
                <a:gd name="T13" fmla="*/ 14 h 26"/>
                <a:gd name="T14" fmla="*/ 15 w 15"/>
                <a:gd name="T15" fmla="*/ 4 h 26"/>
                <a:gd name="T16" fmla="*/ 15 w 15"/>
                <a:gd name="T17" fmla="*/ 1 h 26"/>
                <a:gd name="T18" fmla="*/ 12 w 15"/>
                <a:gd name="T19"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26">
                  <a:moveTo>
                    <a:pt x="12" y="1"/>
                  </a:moveTo>
                  <a:cubicBezTo>
                    <a:pt x="1" y="12"/>
                    <a:pt x="1" y="12"/>
                    <a:pt x="1" y="12"/>
                  </a:cubicBezTo>
                  <a:cubicBezTo>
                    <a:pt x="0" y="13"/>
                    <a:pt x="0" y="14"/>
                    <a:pt x="1" y="15"/>
                  </a:cubicBezTo>
                  <a:cubicBezTo>
                    <a:pt x="11" y="26"/>
                    <a:pt x="11" y="26"/>
                    <a:pt x="11" y="26"/>
                  </a:cubicBezTo>
                  <a:cubicBezTo>
                    <a:pt x="12" y="26"/>
                    <a:pt x="13" y="26"/>
                    <a:pt x="14" y="26"/>
                  </a:cubicBezTo>
                  <a:cubicBezTo>
                    <a:pt x="15" y="25"/>
                    <a:pt x="15" y="24"/>
                    <a:pt x="14" y="23"/>
                  </a:cubicBezTo>
                  <a:cubicBezTo>
                    <a:pt x="5" y="14"/>
                    <a:pt x="5" y="14"/>
                    <a:pt x="5" y="14"/>
                  </a:cubicBezTo>
                  <a:cubicBezTo>
                    <a:pt x="15" y="4"/>
                    <a:pt x="15" y="4"/>
                    <a:pt x="15" y="4"/>
                  </a:cubicBezTo>
                  <a:cubicBezTo>
                    <a:pt x="15" y="3"/>
                    <a:pt x="15" y="2"/>
                    <a:pt x="15" y="1"/>
                  </a:cubicBezTo>
                  <a:cubicBezTo>
                    <a:pt x="14" y="0"/>
                    <a:pt x="13" y="0"/>
                    <a:pt x="12"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92" name="îşḻídê"/>
            <p:cNvSpPr/>
            <p:nvPr/>
          </p:nvSpPr>
          <p:spPr bwMode="auto">
            <a:xfrm>
              <a:off x="5127626" y="1889126"/>
              <a:ext cx="44450" cy="77788"/>
            </a:xfrm>
            <a:custGeom>
              <a:avLst/>
              <a:gdLst>
                <a:gd name="T0" fmla="*/ 12 w 15"/>
                <a:gd name="T1" fmla="*/ 0 h 26"/>
                <a:gd name="T2" fmla="*/ 1 w 15"/>
                <a:gd name="T3" fmla="*/ 11 h 26"/>
                <a:gd name="T4" fmla="*/ 1 w 15"/>
                <a:gd name="T5" fmla="*/ 14 h 26"/>
                <a:gd name="T6" fmla="*/ 11 w 15"/>
                <a:gd name="T7" fmla="*/ 25 h 26"/>
                <a:gd name="T8" fmla="*/ 14 w 15"/>
                <a:gd name="T9" fmla="*/ 25 h 26"/>
                <a:gd name="T10" fmla="*/ 14 w 15"/>
                <a:gd name="T11" fmla="*/ 22 h 26"/>
                <a:gd name="T12" fmla="*/ 5 w 15"/>
                <a:gd name="T13" fmla="*/ 13 h 26"/>
                <a:gd name="T14" fmla="*/ 15 w 15"/>
                <a:gd name="T15" fmla="*/ 3 h 26"/>
                <a:gd name="T16" fmla="*/ 15 w 15"/>
                <a:gd name="T17" fmla="*/ 0 h 26"/>
                <a:gd name="T18" fmla="*/ 12 w 15"/>
                <a:gd name="T19"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26">
                  <a:moveTo>
                    <a:pt x="12" y="0"/>
                  </a:moveTo>
                  <a:cubicBezTo>
                    <a:pt x="1" y="11"/>
                    <a:pt x="1" y="11"/>
                    <a:pt x="1" y="11"/>
                  </a:cubicBezTo>
                  <a:cubicBezTo>
                    <a:pt x="0" y="12"/>
                    <a:pt x="0" y="14"/>
                    <a:pt x="1" y="14"/>
                  </a:cubicBezTo>
                  <a:cubicBezTo>
                    <a:pt x="11" y="25"/>
                    <a:pt x="11" y="25"/>
                    <a:pt x="11" y="25"/>
                  </a:cubicBezTo>
                  <a:cubicBezTo>
                    <a:pt x="12" y="26"/>
                    <a:pt x="13" y="26"/>
                    <a:pt x="14" y="25"/>
                  </a:cubicBezTo>
                  <a:cubicBezTo>
                    <a:pt x="15" y="24"/>
                    <a:pt x="15" y="23"/>
                    <a:pt x="14" y="22"/>
                  </a:cubicBezTo>
                  <a:cubicBezTo>
                    <a:pt x="5" y="13"/>
                    <a:pt x="5" y="13"/>
                    <a:pt x="5" y="13"/>
                  </a:cubicBezTo>
                  <a:cubicBezTo>
                    <a:pt x="15" y="3"/>
                    <a:pt x="15" y="3"/>
                    <a:pt x="15" y="3"/>
                  </a:cubicBezTo>
                  <a:cubicBezTo>
                    <a:pt x="15" y="3"/>
                    <a:pt x="15" y="1"/>
                    <a:pt x="15" y="0"/>
                  </a:cubicBezTo>
                  <a:cubicBezTo>
                    <a:pt x="14" y="0"/>
                    <a:pt x="13" y="0"/>
                    <a:pt x="12" y="0"/>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93" name="îśļíḋê"/>
            <p:cNvSpPr/>
            <p:nvPr/>
          </p:nvSpPr>
          <p:spPr bwMode="auto">
            <a:xfrm>
              <a:off x="5111751" y="2071688"/>
              <a:ext cx="274638" cy="12700"/>
            </a:xfrm>
            <a:custGeom>
              <a:avLst/>
              <a:gdLst>
                <a:gd name="T0" fmla="*/ 2 w 91"/>
                <a:gd name="T1" fmla="*/ 4 h 4"/>
                <a:gd name="T2" fmla="*/ 89 w 91"/>
                <a:gd name="T3" fmla="*/ 4 h 4"/>
                <a:gd name="T4" fmla="*/ 91 w 91"/>
                <a:gd name="T5" fmla="*/ 2 h 4"/>
                <a:gd name="T6" fmla="*/ 89 w 91"/>
                <a:gd name="T7" fmla="*/ 0 h 4"/>
                <a:gd name="T8" fmla="*/ 2 w 91"/>
                <a:gd name="T9" fmla="*/ 0 h 4"/>
                <a:gd name="T10" fmla="*/ 0 w 91"/>
                <a:gd name="T11" fmla="*/ 2 h 4"/>
                <a:gd name="T12" fmla="*/ 2 w 91"/>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91" h="4">
                  <a:moveTo>
                    <a:pt x="2" y="4"/>
                  </a:moveTo>
                  <a:cubicBezTo>
                    <a:pt x="89" y="4"/>
                    <a:pt x="89" y="4"/>
                    <a:pt x="89" y="4"/>
                  </a:cubicBezTo>
                  <a:cubicBezTo>
                    <a:pt x="90" y="4"/>
                    <a:pt x="91" y="3"/>
                    <a:pt x="91" y="2"/>
                  </a:cubicBezTo>
                  <a:cubicBezTo>
                    <a:pt x="91" y="1"/>
                    <a:pt x="90" y="0"/>
                    <a:pt x="89"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94" name="iS1iďe"/>
            <p:cNvSpPr/>
            <p:nvPr/>
          </p:nvSpPr>
          <p:spPr bwMode="auto">
            <a:xfrm>
              <a:off x="5111751" y="2105026"/>
              <a:ext cx="114300" cy="12700"/>
            </a:xfrm>
            <a:custGeom>
              <a:avLst/>
              <a:gdLst>
                <a:gd name="T0" fmla="*/ 2 w 38"/>
                <a:gd name="T1" fmla="*/ 4 h 4"/>
                <a:gd name="T2" fmla="*/ 36 w 38"/>
                <a:gd name="T3" fmla="*/ 4 h 4"/>
                <a:gd name="T4" fmla="*/ 38 w 38"/>
                <a:gd name="T5" fmla="*/ 2 h 4"/>
                <a:gd name="T6" fmla="*/ 36 w 38"/>
                <a:gd name="T7" fmla="*/ 0 h 4"/>
                <a:gd name="T8" fmla="*/ 2 w 38"/>
                <a:gd name="T9" fmla="*/ 0 h 4"/>
                <a:gd name="T10" fmla="*/ 0 w 38"/>
                <a:gd name="T11" fmla="*/ 2 h 4"/>
                <a:gd name="T12" fmla="*/ 2 w 3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8" h="4">
                  <a:moveTo>
                    <a:pt x="2" y="4"/>
                  </a:moveTo>
                  <a:cubicBezTo>
                    <a:pt x="36" y="4"/>
                    <a:pt x="36" y="4"/>
                    <a:pt x="36" y="4"/>
                  </a:cubicBezTo>
                  <a:cubicBezTo>
                    <a:pt x="37" y="4"/>
                    <a:pt x="38" y="3"/>
                    <a:pt x="38" y="2"/>
                  </a:cubicBezTo>
                  <a:cubicBezTo>
                    <a:pt x="38" y="1"/>
                    <a:pt x="37" y="0"/>
                    <a:pt x="3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95" name="í$ḷíḓé"/>
            <p:cNvSpPr/>
            <p:nvPr/>
          </p:nvSpPr>
          <p:spPr bwMode="auto">
            <a:xfrm>
              <a:off x="5111751" y="2155826"/>
              <a:ext cx="114300" cy="12700"/>
            </a:xfrm>
            <a:custGeom>
              <a:avLst/>
              <a:gdLst>
                <a:gd name="T0" fmla="*/ 2 w 38"/>
                <a:gd name="T1" fmla="*/ 4 h 4"/>
                <a:gd name="T2" fmla="*/ 36 w 38"/>
                <a:gd name="T3" fmla="*/ 4 h 4"/>
                <a:gd name="T4" fmla="*/ 38 w 38"/>
                <a:gd name="T5" fmla="*/ 2 h 4"/>
                <a:gd name="T6" fmla="*/ 36 w 38"/>
                <a:gd name="T7" fmla="*/ 0 h 4"/>
                <a:gd name="T8" fmla="*/ 2 w 38"/>
                <a:gd name="T9" fmla="*/ 0 h 4"/>
                <a:gd name="T10" fmla="*/ 0 w 38"/>
                <a:gd name="T11" fmla="*/ 2 h 4"/>
                <a:gd name="T12" fmla="*/ 2 w 3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8" h="4">
                  <a:moveTo>
                    <a:pt x="2" y="4"/>
                  </a:moveTo>
                  <a:cubicBezTo>
                    <a:pt x="36" y="4"/>
                    <a:pt x="36" y="4"/>
                    <a:pt x="36" y="4"/>
                  </a:cubicBezTo>
                  <a:cubicBezTo>
                    <a:pt x="37" y="4"/>
                    <a:pt x="38" y="3"/>
                    <a:pt x="38" y="2"/>
                  </a:cubicBezTo>
                  <a:cubicBezTo>
                    <a:pt x="38" y="0"/>
                    <a:pt x="37" y="0"/>
                    <a:pt x="36"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96" name="îṣḷîḓe"/>
            <p:cNvSpPr/>
            <p:nvPr/>
          </p:nvSpPr>
          <p:spPr bwMode="auto">
            <a:xfrm>
              <a:off x="5111751" y="2205038"/>
              <a:ext cx="114300" cy="11113"/>
            </a:xfrm>
            <a:custGeom>
              <a:avLst/>
              <a:gdLst>
                <a:gd name="T0" fmla="*/ 2 w 38"/>
                <a:gd name="T1" fmla="*/ 4 h 4"/>
                <a:gd name="T2" fmla="*/ 36 w 38"/>
                <a:gd name="T3" fmla="*/ 4 h 4"/>
                <a:gd name="T4" fmla="*/ 38 w 38"/>
                <a:gd name="T5" fmla="*/ 2 h 4"/>
                <a:gd name="T6" fmla="*/ 36 w 38"/>
                <a:gd name="T7" fmla="*/ 0 h 4"/>
                <a:gd name="T8" fmla="*/ 2 w 38"/>
                <a:gd name="T9" fmla="*/ 0 h 4"/>
                <a:gd name="T10" fmla="*/ 0 w 38"/>
                <a:gd name="T11" fmla="*/ 2 h 4"/>
                <a:gd name="T12" fmla="*/ 2 w 3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8" h="4">
                  <a:moveTo>
                    <a:pt x="2" y="4"/>
                  </a:moveTo>
                  <a:cubicBezTo>
                    <a:pt x="36" y="4"/>
                    <a:pt x="36" y="4"/>
                    <a:pt x="36" y="4"/>
                  </a:cubicBezTo>
                  <a:cubicBezTo>
                    <a:pt x="37" y="4"/>
                    <a:pt x="38" y="3"/>
                    <a:pt x="38" y="2"/>
                  </a:cubicBezTo>
                  <a:cubicBezTo>
                    <a:pt x="38" y="1"/>
                    <a:pt x="37" y="0"/>
                    <a:pt x="3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97" name="ïṣlïdé"/>
            <p:cNvSpPr/>
            <p:nvPr/>
          </p:nvSpPr>
          <p:spPr bwMode="auto">
            <a:xfrm>
              <a:off x="5111751" y="2255838"/>
              <a:ext cx="114300" cy="12700"/>
            </a:xfrm>
            <a:custGeom>
              <a:avLst/>
              <a:gdLst>
                <a:gd name="T0" fmla="*/ 2 w 38"/>
                <a:gd name="T1" fmla="*/ 4 h 4"/>
                <a:gd name="T2" fmla="*/ 36 w 38"/>
                <a:gd name="T3" fmla="*/ 4 h 4"/>
                <a:gd name="T4" fmla="*/ 38 w 38"/>
                <a:gd name="T5" fmla="*/ 2 h 4"/>
                <a:gd name="T6" fmla="*/ 36 w 38"/>
                <a:gd name="T7" fmla="*/ 0 h 4"/>
                <a:gd name="T8" fmla="*/ 2 w 38"/>
                <a:gd name="T9" fmla="*/ 0 h 4"/>
                <a:gd name="T10" fmla="*/ 0 w 38"/>
                <a:gd name="T11" fmla="*/ 2 h 4"/>
                <a:gd name="T12" fmla="*/ 2 w 3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8" h="4">
                  <a:moveTo>
                    <a:pt x="2" y="4"/>
                  </a:moveTo>
                  <a:cubicBezTo>
                    <a:pt x="36" y="4"/>
                    <a:pt x="36" y="4"/>
                    <a:pt x="36" y="4"/>
                  </a:cubicBezTo>
                  <a:cubicBezTo>
                    <a:pt x="37" y="4"/>
                    <a:pt x="38" y="3"/>
                    <a:pt x="38" y="2"/>
                  </a:cubicBezTo>
                  <a:cubicBezTo>
                    <a:pt x="38" y="1"/>
                    <a:pt x="37" y="0"/>
                    <a:pt x="3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98" name="isľïďè"/>
            <p:cNvSpPr/>
            <p:nvPr/>
          </p:nvSpPr>
          <p:spPr bwMode="auto">
            <a:xfrm>
              <a:off x="5449888" y="2135188"/>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1"/>
                    <a:pt x="0" y="2"/>
                  </a:cubicBezTo>
                  <a:cubicBezTo>
                    <a:pt x="0" y="3"/>
                    <a:pt x="1" y="4"/>
                    <a:pt x="2" y="4"/>
                  </a:cubicBezTo>
                  <a:cubicBezTo>
                    <a:pt x="26" y="4"/>
                    <a:pt x="26" y="4"/>
                    <a:pt x="26" y="4"/>
                  </a:cubicBezTo>
                  <a:cubicBezTo>
                    <a:pt x="27" y="4"/>
                    <a:pt x="28" y="3"/>
                    <a:pt x="28" y="2"/>
                  </a:cubicBezTo>
                  <a:cubicBezTo>
                    <a:pt x="28" y="1"/>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99" name="îṡḷïḑe"/>
            <p:cNvSpPr/>
            <p:nvPr/>
          </p:nvSpPr>
          <p:spPr bwMode="auto">
            <a:xfrm>
              <a:off x="5449888" y="2165351"/>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0"/>
                    <a:pt x="0" y="2"/>
                  </a:cubicBezTo>
                  <a:cubicBezTo>
                    <a:pt x="0" y="3"/>
                    <a:pt x="1" y="4"/>
                    <a:pt x="2" y="4"/>
                  </a:cubicBezTo>
                  <a:cubicBezTo>
                    <a:pt x="26" y="4"/>
                    <a:pt x="26" y="4"/>
                    <a:pt x="26" y="4"/>
                  </a:cubicBezTo>
                  <a:cubicBezTo>
                    <a:pt x="27" y="4"/>
                    <a:pt x="28" y="3"/>
                    <a:pt x="28" y="2"/>
                  </a:cubicBezTo>
                  <a:cubicBezTo>
                    <a:pt x="28" y="0"/>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00" name="íśļiďê"/>
            <p:cNvSpPr/>
            <p:nvPr/>
          </p:nvSpPr>
          <p:spPr bwMode="auto">
            <a:xfrm>
              <a:off x="5449888" y="2192338"/>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1"/>
                    <a:pt x="0" y="2"/>
                  </a:cubicBezTo>
                  <a:cubicBezTo>
                    <a:pt x="0" y="3"/>
                    <a:pt x="1" y="4"/>
                    <a:pt x="2" y="4"/>
                  </a:cubicBezTo>
                  <a:cubicBezTo>
                    <a:pt x="26" y="4"/>
                    <a:pt x="26" y="4"/>
                    <a:pt x="26" y="4"/>
                  </a:cubicBezTo>
                  <a:cubicBezTo>
                    <a:pt x="27" y="4"/>
                    <a:pt x="28" y="3"/>
                    <a:pt x="28" y="2"/>
                  </a:cubicBezTo>
                  <a:cubicBezTo>
                    <a:pt x="28" y="1"/>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01" name="i$1iďè"/>
            <p:cNvSpPr/>
            <p:nvPr/>
          </p:nvSpPr>
          <p:spPr bwMode="auto">
            <a:xfrm>
              <a:off x="5449888" y="2222501"/>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0"/>
                    <a:pt x="0" y="2"/>
                  </a:cubicBezTo>
                  <a:cubicBezTo>
                    <a:pt x="0" y="3"/>
                    <a:pt x="1" y="4"/>
                    <a:pt x="2" y="4"/>
                  </a:cubicBezTo>
                  <a:cubicBezTo>
                    <a:pt x="26" y="4"/>
                    <a:pt x="26" y="4"/>
                    <a:pt x="26" y="4"/>
                  </a:cubicBezTo>
                  <a:cubicBezTo>
                    <a:pt x="27" y="4"/>
                    <a:pt x="28" y="3"/>
                    <a:pt x="28" y="2"/>
                  </a:cubicBezTo>
                  <a:cubicBezTo>
                    <a:pt x="28" y="0"/>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02" name="işļîḍé"/>
            <p:cNvSpPr/>
            <p:nvPr/>
          </p:nvSpPr>
          <p:spPr bwMode="auto">
            <a:xfrm>
              <a:off x="5449888" y="2249488"/>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1"/>
                    <a:pt x="0" y="2"/>
                  </a:cubicBezTo>
                  <a:cubicBezTo>
                    <a:pt x="0" y="3"/>
                    <a:pt x="1" y="4"/>
                    <a:pt x="2" y="4"/>
                  </a:cubicBezTo>
                  <a:cubicBezTo>
                    <a:pt x="26" y="4"/>
                    <a:pt x="26" y="4"/>
                    <a:pt x="26" y="4"/>
                  </a:cubicBezTo>
                  <a:cubicBezTo>
                    <a:pt x="27" y="4"/>
                    <a:pt x="28" y="3"/>
                    <a:pt x="28" y="2"/>
                  </a:cubicBezTo>
                  <a:cubicBezTo>
                    <a:pt x="28" y="1"/>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03" name="îś1íďê"/>
            <p:cNvSpPr/>
            <p:nvPr/>
          </p:nvSpPr>
          <p:spPr bwMode="auto">
            <a:xfrm>
              <a:off x="5449888" y="2279651"/>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1"/>
                    <a:pt x="0" y="2"/>
                  </a:cubicBezTo>
                  <a:cubicBezTo>
                    <a:pt x="0" y="3"/>
                    <a:pt x="1" y="4"/>
                    <a:pt x="2" y="4"/>
                  </a:cubicBezTo>
                  <a:cubicBezTo>
                    <a:pt x="26" y="4"/>
                    <a:pt x="26" y="4"/>
                    <a:pt x="26" y="4"/>
                  </a:cubicBezTo>
                  <a:cubicBezTo>
                    <a:pt x="27" y="4"/>
                    <a:pt x="28" y="3"/>
                    <a:pt x="28" y="2"/>
                  </a:cubicBezTo>
                  <a:cubicBezTo>
                    <a:pt x="28" y="1"/>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04" name="ïṥlíḓè"/>
            <p:cNvSpPr/>
            <p:nvPr/>
          </p:nvSpPr>
          <p:spPr bwMode="auto">
            <a:xfrm>
              <a:off x="5449888" y="2306638"/>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1"/>
                    <a:pt x="0" y="2"/>
                  </a:cubicBezTo>
                  <a:cubicBezTo>
                    <a:pt x="0" y="3"/>
                    <a:pt x="1" y="4"/>
                    <a:pt x="2" y="4"/>
                  </a:cubicBezTo>
                  <a:cubicBezTo>
                    <a:pt x="26" y="4"/>
                    <a:pt x="26" y="4"/>
                    <a:pt x="26" y="4"/>
                  </a:cubicBezTo>
                  <a:cubicBezTo>
                    <a:pt x="27" y="4"/>
                    <a:pt x="28" y="3"/>
                    <a:pt x="28" y="2"/>
                  </a:cubicBezTo>
                  <a:cubicBezTo>
                    <a:pt x="28" y="1"/>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05" name="iṥḻîḋè"/>
            <p:cNvSpPr/>
            <p:nvPr/>
          </p:nvSpPr>
          <p:spPr bwMode="auto">
            <a:xfrm>
              <a:off x="5449888" y="2336801"/>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1"/>
                    <a:pt x="0" y="2"/>
                  </a:cubicBezTo>
                  <a:cubicBezTo>
                    <a:pt x="0" y="3"/>
                    <a:pt x="1" y="4"/>
                    <a:pt x="2" y="4"/>
                  </a:cubicBezTo>
                  <a:cubicBezTo>
                    <a:pt x="26" y="4"/>
                    <a:pt x="26" y="4"/>
                    <a:pt x="26" y="4"/>
                  </a:cubicBezTo>
                  <a:cubicBezTo>
                    <a:pt x="27" y="4"/>
                    <a:pt x="28" y="3"/>
                    <a:pt x="28" y="2"/>
                  </a:cubicBezTo>
                  <a:cubicBezTo>
                    <a:pt x="28" y="1"/>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06" name="îṧļíďê"/>
            <p:cNvSpPr/>
            <p:nvPr/>
          </p:nvSpPr>
          <p:spPr bwMode="auto">
            <a:xfrm>
              <a:off x="4235451" y="2463801"/>
              <a:ext cx="715963" cy="11113"/>
            </a:xfrm>
            <a:custGeom>
              <a:avLst/>
              <a:gdLst>
                <a:gd name="T0" fmla="*/ 2 w 238"/>
                <a:gd name="T1" fmla="*/ 4 h 4"/>
                <a:gd name="T2" fmla="*/ 236 w 238"/>
                <a:gd name="T3" fmla="*/ 4 h 4"/>
                <a:gd name="T4" fmla="*/ 238 w 238"/>
                <a:gd name="T5" fmla="*/ 2 h 4"/>
                <a:gd name="T6" fmla="*/ 236 w 238"/>
                <a:gd name="T7" fmla="*/ 0 h 4"/>
                <a:gd name="T8" fmla="*/ 2 w 238"/>
                <a:gd name="T9" fmla="*/ 0 h 4"/>
                <a:gd name="T10" fmla="*/ 0 w 238"/>
                <a:gd name="T11" fmla="*/ 2 h 4"/>
                <a:gd name="T12" fmla="*/ 2 w 23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38" h="4">
                  <a:moveTo>
                    <a:pt x="2" y="4"/>
                  </a:moveTo>
                  <a:cubicBezTo>
                    <a:pt x="236" y="4"/>
                    <a:pt x="236" y="4"/>
                    <a:pt x="236" y="4"/>
                  </a:cubicBezTo>
                  <a:cubicBezTo>
                    <a:pt x="237" y="4"/>
                    <a:pt x="238" y="3"/>
                    <a:pt x="238" y="2"/>
                  </a:cubicBezTo>
                  <a:cubicBezTo>
                    <a:pt x="238" y="1"/>
                    <a:pt x="237" y="0"/>
                    <a:pt x="236" y="0"/>
                  </a:cubicBezTo>
                  <a:cubicBezTo>
                    <a:pt x="2" y="0"/>
                    <a:pt x="2" y="0"/>
                    <a:pt x="2" y="0"/>
                  </a:cubicBezTo>
                  <a:cubicBezTo>
                    <a:pt x="0" y="0"/>
                    <a:pt x="0" y="1"/>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07" name="îšlïḓê"/>
            <p:cNvSpPr/>
            <p:nvPr/>
          </p:nvSpPr>
          <p:spPr bwMode="auto">
            <a:xfrm>
              <a:off x="4235451" y="2493963"/>
              <a:ext cx="439738" cy="11113"/>
            </a:xfrm>
            <a:custGeom>
              <a:avLst/>
              <a:gdLst>
                <a:gd name="T0" fmla="*/ 2 w 146"/>
                <a:gd name="T1" fmla="*/ 4 h 4"/>
                <a:gd name="T2" fmla="*/ 144 w 146"/>
                <a:gd name="T3" fmla="*/ 4 h 4"/>
                <a:gd name="T4" fmla="*/ 146 w 146"/>
                <a:gd name="T5" fmla="*/ 2 h 4"/>
                <a:gd name="T6" fmla="*/ 144 w 146"/>
                <a:gd name="T7" fmla="*/ 0 h 4"/>
                <a:gd name="T8" fmla="*/ 2 w 146"/>
                <a:gd name="T9" fmla="*/ 0 h 4"/>
                <a:gd name="T10" fmla="*/ 0 w 146"/>
                <a:gd name="T11" fmla="*/ 2 h 4"/>
                <a:gd name="T12" fmla="*/ 2 w 14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6" h="4">
                  <a:moveTo>
                    <a:pt x="2" y="4"/>
                  </a:moveTo>
                  <a:cubicBezTo>
                    <a:pt x="144" y="4"/>
                    <a:pt x="144" y="4"/>
                    <a:pt x="144" y="4"/>
                  </a:cubicBezTo>
                  <a:cubicBezTo>
                    <a:pt x="145" y="4"/>
                    <a:pt x="146" y="4"/>
                    <a:pt x="146" y="2"/>
                  </a:cubicBezTo>
                  <a:cubicBezTo>
                    <a:pt x="146" y="1"/>
                    <a:pt x="145" y="0"/>
                    <a:pt x="144" y="0"/>
                  </a:cubicBezTo>
                  <a:cubicBezTo>
                    <a:pt x="2" y="0"/>
                    <a:pt x="2" y="0"/>
                    <a:pt x="2" y="0"/>
                  </a:cubicBezTo>
                  <a:cubicBezTo>
                    <a:pt x="0" y="0"/>
                    <a:pt x="0" y="1"/>
                    <a:pt x="0" y="2"/>
                  </a:cubicBezTo>
                  <a:cubicBezTo>
                    <a:pt x="0" y="4"/>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08" name="ïşḻiḍè"/>
            <p:cNvSpPr/>
            <p:nvPr/>
          </p:nvSpPr>
          <p:spPr bwMode="auto">
            <a:xfrm>
              <a:off x="4235451" y="2541588"/>
              <a:ext cx="439738" cy="12700"/>
            </a:xfrm>
            <a:custGeom>
              <a:avLst/>
              <a:gdLst>
                <a:gd name="T0" fmla="*/ 2 w 146"/>
                <a:gd name="T1" fmla="*/ 4 h 4"/>
                <a:gd name="T2" fmla="*/ 144 w 146"/>
                <a:gd name="T3" fmla="*/ 4 h 4"/>
                <a:gd name="T4" fmla="*/ 146 w 146"/>
                <a:gd name="T5" fmla="*/ 2 h 4"/>
                <a:gd name="T6" fmla="*/ 144 w 146"/>
                <a:gd name="T7" fmla="*/ 0 h 4"/>
                <a:gd name="T8" fmla="*/ 2 w 146"/>
                <a:gd name="T9" fmla="*/ 0 h 4"/>
                <a:gd name="T10" fmla="*/ 0 w 146"/>
                <a:gd name="T11" fmla="*/ 2 h 4"/>
                <a:gd name="T12" fmla="*/ 2 w 14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6" h="4">
                  <a:moveTo>
                    <a:pt x="2" y="4"/>
                  </a:moveTo>
                  <a:cubicBezTo>
                    <a:pt x="144" y="4"/>
                    <a:pt x="144" y="4"/>
                    <a:pt x="144" y="4"/>
                  </a:cubicBezTo>
                  <a:cubicBezTo>
                    <a:pt x="145" y="4"/>
                    <a:pt x="146" y="3"/>
                    <a:pt x="146" y="2"/>
                  </a:cubicBezTo>
                  <a:cubicBezTo>
                    <a:pt x="146" y="1"/>
                    <a:pt x="145" y="0"/>
                    <a:pt x="144" y="0"/>
                  </a:cubicBezTo>
                  <a:cubicBezTo>
                    <a:pt x="2" y="0"/>
                    <a:pt x="2" y="0"/>
                    <a:pt x="2" y="0"/>
                  </a:cubicBezTo>
                  <a:cubicBezTo>
                    <a:pt x="0" y="0"/>
                    <a:pt x="0" y="1"/>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09" name="işľîḍè"/>
            <p:cNvSpPr/>
            <p:nvPr/>
          </p:nvSpPr>
          <p:spPr bwMode="auto">
            <a:xfrm>
              <a:off x="4551363" y="2833688"/>
              <a:ext cx="482600" cy="796925"/>
            </a:xfrm>
            <a:custGeom>
              <a:avLst/>
              <a:gdLst>
                <a:gd name="T0" fmla="*/ 39 w 160"/>
                <a:gd name="T1" fmla="*/ 180 h 265"/>
                <a:gd name="T2" fmla="*/ 39 w 160"/>
                <a:gd name="T3" fmla="*/ 154 h 265"/>
                <a:gd name="T4" fmla="*/ 121 w 160"/>
                <a:gd name="T5" fmla="*/ 154 h 265"/>
                <a:gd name="T6" fmla="*/ 121 w 160"/>
                <a:gd name="T7" fmla="*/ 180 h 265"/>
                <a:gd name="T8" fmla="*/ 39 w 160"/>
                <a:gd name="T9" fmla="*/ 180 h 265"/>
                <a:gd name="T10" fmla="*/ 17 w 160"/>
                <a:gd name="T11" fmla="*/ 248 h 265"/>
                <a:gd name="T12" fmla="*/ 11 w 160"/>
                <a:gd name="T13" fmla="*/ 242 h 265"/>
                <a:gd name="T14" fmla="*/ 11 w 160"/>
                <a:gd name="T15" fmla="*/ 56 h 265"/>
                <a:gd name="T16" fmla="*/ 17 w 160"/>
                <a:gd name="T17" fmla="*/ 50 h 265"/>
                <a:gd name="T18" fmla="*/ 19 w 160"/>
                <a:gd name="T19" fmla="*/ 50 h 265"/>
                <a:gd name="T20" fmla="*/ 25 w 160"/>
                <a:gd name="T21" fmla="*/ 56 h 265"/>
                <a:gd name="T22" fmla="*/ 25 w 160"/>
                <a:gd name="T23" fmla="*/ 242 h 265"/>
                <a:gd name="T24" fmla="*/ 19 w 160"/>
                <a:gd name="T25" fmla="*/ 248 h 265"/>
                <a:gd name="T26" fmla="*/ 17 w 160"/>
                <a:gd name="T27" fmla="*/ 248 h 265"/>
                <a:gd name="T28" fmla="*/ 0 w 160"/>
                <a:gd name="T29" fmla="*/ 0 h 265"/>
                <a:gd name="T30" fmla="*/ 0 w 160"/>
                <a:gd name="T31" fmla="*/ 0 h 265"/>
                <a:gd name="T32" fmla="*/ 0 w 160"/>
                <a:gd name="T33" fmla="*/ 235 h 265"/>
                <a:gd name="T34" fmla="*/ 30 w 160"/>
                <a:gd name="T35" fmla="*/ 265 h 265"/>
                <a:gd name="T36" fmla="*/ 160 w 160"/>
                <a:gd name="T37" fmla="*/ 265 h 265"/>
                <a:gd name="T38" fmla="*/ 160 w 160"/>
                <a:gd name="T39" fmla="*/ 180 h 265"/>
                <a:gd name="T40" fmla="*/ 133 w 160"/>
                <a:gd name="T41" fmla="*/ 180 h 265"/>
                <a:gd name="T42" fmla="*/ 133 w 160"/>
                <a:gd name="T43" fmla="*/ 154 h 265"/>
                <a:gd name="T44" fmla="*/ 160 w 160"/>
                <a:gd name="T45" fmla="*/ 154 h 265"/>
                <a:gd name="T46" fmla="*/ 160 w 160"/>
                <a:gd name="T47" fmla="*/ 139 h 265"/>
                <a:gd name="T48" fmla="*/ 39 w 160"/>
                <a:gd name="T49" fmla="*/ 139 h 265"/>
                <a:gd name="T50" fmla="*/ 39 w 160"/>
                <a:gd name="T51" fmla="*/ 56 h 265"/>
                <a:gd name="T52" fmla="*/ 160 w 160"/>
                <a:gd name="T53" fmla="*/ 56 h 265"/>
                <a:gd name="T54" fmla="*/ 160 w 160"/>
                <a:gd name="T55" fmla="*/ 43 h 265"/>
                <a:gd name="T56" fmla="*/ 0 w 160"/>
                <a:gd name="T57" fmla="*/ 43 h 265"/>
                <a:gd name="T58" fmla="*/ 0 w 160"/>
                <a:gd name="T59" fmla="*/ 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 h="265">
                  <a:moveTo>
                    <a:pt x="39" y="180"/>
                  </a:moveTo>
                  <a:cubicBezTo>
                    <a:pt x="39" y="154"/>
                    <a:pt x="39" y="154"/>
                    <a:pt x="39" y="154"/>
                  </a:cubicBezTo>
                  <a:cubicBezTo>
                    <a:pt x="121" y="154"/>
                    <a:pt x="121" y="154"/>
                    <a:pt x="121" y="154"/>
                  </a:cubicBezTo>
                  <a:cubicBezTo>
                    <a:pt x="121" y="180"/>
                    <a:pt x="121" y="180"/>
                    <a:pt x="121" y="180"/>
                  </a:cubicBezTo>
                  <a:cubicBezTo>
                    <a:pt x="39" y="180"/>
                    <a:pt x="39" y="180"/>
                    <a:pt x="39" y="180"/>
                  </a:cubicBezTo>
                  <a:moveTo>
                    <a:pt x="17" y="248"/>
                  </a:moveTo>
                  <a:cubicBezTo>
                    <a:pt x="14" y="248"/>
                    <a:pt x="11" y="245"/>
                    <a:pt x="11" y="242"/>
                  </a:cubicBezTo>
                  <a:cubicBezTo>
                    <a:pt x="11" y="56"/>
                    <a:pt x="11" y="56"/>
                    <a:pt x="11" y="56"/>
                  </a:cubicBezTo>
                  <a:cubicBezTo>
                    <a:pt x="11" y="53"/>
                    <a:pt x="14" y="50"/>
                    <a:pt x="17" y="50"/>
                  </a:cubicBezTo>
                  <a:cubicBezTo>
                    <a:pt x="19" y="50"/>
                    <a:pt x="19" y="50"/>
                    <a:pt x="19" y="50"/>
                  </a:cubicBezTo>
                  <a:cubicBezTo>
                    <a:pt x="22" y="50"/>
                    <a:pt x="25" y="53"/>
                    <a:pt x="25" y="56"/>
                  </a:cubicBezTo>
                  <a:cubicBezTo>
                    <a:pt x="25" y="242"/>
                    <a:pt x="25" y="242"/>
                    <a:pt x="25" y="242"/>
                  </a:cubicBezTo>
                  <a:cubicBezTo>
                    <a:pt x="25" y="245"/>
                    <a:pt x="22" y="248"/>
                    <a:pt x="19" y="248"/>
                  </a:cubicBezTo>
                  <a:cubicBezTo>
                    <a:pt x="17" y="248"/>
                    <a:pt x="17" y="248"/>
                    <a:pt x="17" y="248"/>
                  </a:cubicBezTo>
                  <a:moveTo>
                    <a:pt x="0" y="0"/>
                  </a:moveTo>
                  <a:cubicBezTo>
                    <a:pt x="0" y="0"/>
                    <a:pt x="0" y="0"/>
                    <a:pt x="0" y="0"/>
                  </a:cubicBezTo>
                  <a:cubicBezTo>
                    <a:pt x="0" y="235"/>
                    <a:pt x="0" y="235"/>
                    <a:pt x="0" y="235"/>
                  </a:cubicBezTo>
                  <a:cubicBezTo>
                    <a:pt x="0" y="252"/>
                    <a:pt x="14" y="265"/>
                    <a:pt x="30" y="265"/>
                  </a:cubicBezTo>
                  <a:cubicBezTo>
                    <a:pt x="160" y="265"/>
                    <a:pt x="160" y="265"/>
                    <a:pt x="160" y="265"/>
                  </a:cubicBezTo>
                  <a:cubicBezTo>
                    <a:pt x="160" y="180"/>
                    <a:pt x="160" y="180"/>
                    <a:pt x="160" y="180"/>
                  </a:cubicBezTo>
                  <a:cubicBezTo>
                    <a:pt x="133" y="180"/>
                    <a:pt x="133" y="180"/>
                    <a:pt x="133" y="180"/>
                  </a:cubicBezTo>
                  <a:cubicBezTo>
                    <a:pt x="133" y="154"/>
                    <a:pt x="133" y="154"/>
                    <a:pt x="133" y="154"/>
                  </a:cubicBezTo>
                  <a:cubicBezTo>
                    <a:pt x="160" y="154"/>
                    <a:pt x="160" y="154"/>
                    <a:pt x="160" y="154"/>
                  </a:cubicBezTo>
                  <a:cubicBezTo>
                    <a:pt x="160" y="139"/>
                    <a:pt x="160" y="139"/>
                    <a:pt x="160" y="139"/>
                  </a:cubicBezTo>
                  <a:cubicBezTo>
                    <a:pt x="39" y="139"/>
                    <a:pt x="39" y="139"/>
                    <a:pt x="39" y="139"/>
                  </a:cubicBezTo>
                  <a:cubicBezTo>
                    <a:pt x="39" y="56"/>
                    <a:pt x="39" y="56"/>
                    <a:pt x="39" y="56"/>
                  </a:cubicBezTo>
                  <a:cubicBezTo>
                    <a:pt x="160" y="56"/>
                    <a:pt x="160" y="56"/>
                    <a:pt x="160" y="56"/>
                  </a:cubicBezTo>
                  <a:cubicBezTo>
                    <a:pt x="160" y="43"/>
                    <a:pt x="160" y="43"/>
                    <a:pt x="160" y="43"/>
                  </a:cubicBezTo>
                  <a:cubicBezTo>
                    <a:pt x="0" y="43"/>
                    <a:pt x="0" y="43"/>
                    <a:pt x="0" y="43"/>
                  </a:cubicBezTo>
                  <a:cubicBezTo>
                    <a:pt x="0" y="0"/>
                    <a:pt x="0" y="0"/>
                    <a:pt x="0" y="0"/>
                  </a:cubicBezTo>
                </a:path>
              </a:pathLst>
            </a:custGeom>
            <a:solidFill>
              <a:srgbClr val="C2F4F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10" name="îŝľîḋè"/>
            <p:cNvSpPr/>
            <p:nvPr/>
          </p:nvSpPr>
          <p:spPr bwMode="auto">
            <a:xfrm>
              <a:off x="5033963" y="3375026"/>
              <a:ext cx="366713" cy="255588"/>
            </a:xfrm>
            <a:custGeom>
              <a:avLst/>
              <a:gdLst>
                <a:gd name="T0" fmla="*/ 0 w 122"/>
                <a:gd name="T1" fmla="*/ 0 h 85"/>
                <a:gd name="T2" fmla="*/ 0 w 122"/>
                <a:gd name="T3" fmla="*/ 0 h 85"/>
                <a:gd name="T4" fmla="*/ 0 w 122"/>
                <a:gd name="T5" fmla="*/ 85 h 85"/>
                <a:gd name="T6" fmla="*/ 93 w 122"/>
                <a:gd name="T7" fmla="*/ 85 h 85"/>
                <a:gd name="T8" fmla="*/ 122 w 122"/>
                <a:gd name="T9" fmla="*/ 60 h 85"/>
                <a:gd name="T10" fmla="*/ 0 w 122"/>
                <a:gd name="T11" fmla="*/ 60 h 85"/>
                <a:gd name="T12" fmla="*/ 0 w 122"/>
                <a:gd name="T13" fmla="*/ 0 h 85"/>
              </a:gdLst>
              <a:ahLst/>
              <a:cxnLst>
                <a:cxn ang="0">
                  <a:pos x="T0" y="T1"/>
                </a:cxn>
                <a:cxn ang="0">
                  <a:pos x="T2" y="T3"/>
                </a:cxn>
                <a:cxn ang="0">
                  <a:pos x="T4" y="T5"/>
                </a:cxn>
                <a:cxn ang="0">
                  <a:pos x="T6" y="T7"/>
                </a:cxn>
                <a:cxn ang="0">
                  <a:pos x="T8" y="T9"/>
                </a:cxn>
                <a:cxn ang="0">
                  <a:pos x="T10" y="T11"/>
                </a:cxn>
                <a:cxn ang="0">
                  <a:pos x="T12" y="T13"/>
                </a:cxn>
              </a:cxnLst>
              <a:rect l="0" t="0" r="r" b="b"/>
              <a:pathLst>
                <a:path w="122" h="85">
                  <a:moveTo>
                    <a:pt x="0" y="0"/>
                  </a:moveTo>
                  <a:cubicBezTo>
                    <a:pt x="0" y="0"/>
                    <a:pt x="0" y="0"/>
                    <a:pt x="0" y="0"/>
                  </a:cubicBezTo>
                  <a:cubicBezTo>
                    <a:pt x="0" y="85"/>
                    <a:pt x="0" y="85"/>
                    <a:pt x="0" y="85"/>
                  </a:cubicBezTo>
                  <a:cubicBezTo>
                    <a:pt x="93" y="85"/>
                    <a:pt x="93" y="85"/>
                    <a:pt x="93" y="85"/>
                  </a:cubicBezTo>
                  <a:cubicBezTo>
                    <a:pt x="108" y="85"/>
                    <a:pt x="120" y="74"/>
                    <a:pt x="122" y="60"/>
                  </a:cubicBezTo>
                  <a:cubicBezTo>
                    <a:pt x="0" y="60"/>
                    <a:pt x="0" y="60"/>
                    <a:pt x="0" y="60"/>
                  </a:cubicBezTo>
                  <a:cubicBezTo>
                    <a:pt x="0" y="0"/>
                    <a:pt x="0" y="0"/>
                    <a:pt x="0" y="0"/>
                  </a:cubicBezTo>
                </a:path>
              </a:pathLst>
            </a:custGeom>
            <a:solidFill>
              <a:srgbClr val="2778C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11" name="íṥḷidé"/>
            <p:cNvSpPr/>
            <p:nvPr/>
          </p:nvSpPr>
          <p:spPr bwMode="auto">
            <a:xfrm>
              <a:off x="5033963" y="2962276"/>
              <a:ext cx="369888" cy="593725"/>
            </a:xfrm>
            <a:custGeom>
              <a:avLst/>
              <a:gdLst>
                <a:gd name="T0" fmla="*/ 28 w 123"/>
                <a:gd name="T1" fmla="*/ 137 h 197"/>
                <a:gd name="T2" fmla="*/ 0 w 123"/>
                <a:gd name="T3" fmla="*/ 137 h 197"/>
                <a:gd name="T4" fmla="*/ 0 w 123"/>
                <a:gd name="T5" fmla="*/ 197 h 197"/>
                <a:gd name="T6" fmla="*/ 122 w 123"/>
                <a:gd name="T7" fmla="*/ 197 h 197"/>
                <a:gd name="T8" fmla="*/ 123 w 123"/>
                <a:gd name="T9" fmla="*/ 192 h 197"/>
                <a:gd name="T10" fmla="*/ 123 w 123"/>
                <a:gd name="T11" fmla="*/ 180 h 197"/>
                <a:gd name="T12" fmla="*/ 28 w 123"/>
                <a:gd name="T13" fmla="*/ 180 h 197"/>
                <a:gd name="T14" fmla="*/ 28 w 123"/>
                <a:gd name="T15" fmla="*/ 137 h 197"/>
                <a:gd name="T16" fmla="*/ 28 w 123"/>
                <a:gd name="T17" fmla="*/ 96 h 197"/>
                <a:gd name="T18" fmla="*/ 0 w 123"/>
                <a:gd name="T19" fmla="*/ 96 h 197"/>
                <a:gd name="T20" fmla="*/ 0 w 123"/>
                <a:gd name="T21" fmla="*/ 111 h 197"/>
                <a:gd name="T22" fmla="*/ 28 w 123"/>
                <a:gd name="T23" fmla="*/ 111 h 197"/>
                <a:gd name="T24" fmla="*/ 28 w 123"/>
                <a:gd name="T25" fmla="*/ 96 h 197"/>
                <a:gd name="T26" fmla="*/ 28 w 123"/>
                <a:gd name="T27" fmla="*/ 0 h 197"/>
                <a:gd name="T28" fmla="*/ 0 w 123"/>
                <a:gd name="T29" fmla="*/ 0 h 197"/>
                <a:gd name="T30" fmla="*/ 0 w 123"/>
                <a:gd name="T31" fmla="*/ 13 h 197"/>
                <a:gd name="T32" fmla="*/ 28 w 123"/>
                <a:gd name="T33" fmla="*/ 13 h 197"/>
                <a:gd name="T34" fmla="*/ 28 w 123"/>
                <a:gd name="T35"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 h="197">
                  <a:moveTo>
                    <a:pt x="28" y="137"/>
                  </a:moveTo>
                  <a:cubicBezTo>
                    <a:pt x="0" y="137"/>
                    <a:pt x="0" y="137"/>
                    <a:pt x="0" y="137"/>
                  </a:cubicBezTo>
                  <a:cubicBezTo>
                    <a:pt x="0" y="197"/>
                    <a:pt x="0" y="197"/>
                    <a:pt x="0" y="197"/>
                  </a:cubicBezTo>
                  <a:cubicBezTo>
                    <a:pt x="122" y="197"/>
                    <a:pt x="122" y="197"/>
                    <a:pt x="122" y="197"/>
                  </a:cubicBezTo>
                  <a:cubicBezTo>
                    <a:pt x="123" y="195"/>
                    <a:pt x="123" y="194"/>
                    <a:pt x="123" y="192"/>
                  </a:cubicBezTo>
                  <a:cubicBezTo>
                    <a:pt x="123" y="180"/>
                    <a:pt x="123" y="180"/>
                    <a:pt x="123" y="180"/>
                  </a:cubicBezTo>
                  <a:cubicBezTo>
                    <a:pt x="28" y="180"/>
                    <a:pt x="28" y="180"/>
                    <a:pt x="28" y="180"/>
                  </a:cubicBezTo>
                  <a:cubicBezTo>
                    <a:pt x="28" y="137"/>
                    <a:pt x="28" y="137"/>
                    <a:pt x="28" y="137"/>
                  </a:cubicBezTo>
                  <a:moveTo>
                    <a:pt x="28" y="96"/>
                  </a:moveTo>
                  <a:cubicBezTo>
                    <a:pt x="0" y="96"/>
                    <a:pt x="0" y="96"/>
                    <a:pt x="0" y="96"/>
                  </a:cubicBezTo>
                  <a:cubicBezTo>
                    <a:pt x="0" y="111"/>
                    <a:pt x="0" y="111"/>
                    <a:pt x="0" y="111"/>
                  </a:cubicBezTo>
                  <a:cubicBezTo>
                    <a:pt x="28" y="111"/>
                    <a:pt x="28" y="111"/>
                    <a:pt x="28" y="111"/>
                  </a:cubicBezTo>
                  <a:cubicBezTo>
                    <a:pt x="28" y="96"/>
                    <a:pt x="28" y="96"/>
                    <a:pt x="28" y="96"/>
                  </a:cubicBezTo>
                  <a:moveTo>
                    <a:pt x="28" y="0"/>
                  </a:moveTo>
                  <a:cubicBezTo>
                    <a:pt x="0" y="0"/>
                    <a:pt x="0" y="0"/>
                    <a:pt x="0" y="0"/>
                  </a:cubicBezTo>
                  <a:cubicBezTo>
                    <a:pt x="0" y="13"/>
                    <a:pt x="0" y="13"/>
                    <a:pt x="0" y="13"/>
                  </a:cubicBezTo>
                  <a:cubicBezTo>
                    <a:pt x="28" y="13"/>
                    <a:pt x="28" y="13"/>
                    <a:pt x="28" y="13"/>
                  </a:cubicBezTo>
                  <a:cubicBezTo>
                    <a:pt x="28" y="0"/>
                    <a:pt x="28" y="0"/>
                    <a:pt x="28" y="0"/>
                  </a:cubicBezTo>
                </a:path>
              </a:pathLst>
            </a:custGeom>
            <a:solidFill>
              <a:srgbClr val="2790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12" name="ïsľiḓe"/>
            <p:cNvSpPr/>
            <p:nvPr/>
          </p:nvSpPr>
          <p:spPr bwMode="auto">
            <a:xfrm>
              <a:off x="5118101" y="3028951"/>
              <a:ext cx="285750" cy="474663"/>
            </a:xfrm>
            <a:custGeom>
              <a:avLst/>
              <a:gdLst>
                <a:gd name="T0" fmla="*/ 95 w 95"/>
                <a:gd name="T1" fmla="*/ 102 h 158"/>
                <a:gd name="T2" fmla="*/ 83 w 95"/>
                <a:gd name="T3" fmla="*/ 102 h 158"/>
                <a:gd name="T4" fmla="*/ 83 w 95"/>
                <a:gd name="T5" fmla="*/ 115 h 158"/>
                <a:gd name="T6" fmla="*/ 0 w 95"/>
                <a:gd name="T7" fmla="*/ 115 h 158"/>
                <a:gd name="T8" fmla="*/ 0 w 95"/>
                <a:gd name="T9" fmla="*/ 158 h 158"/>
                <a:gd name="T10" fmla="*/ 95 w 95"/>
                <a:gd name="T11" fmla="*/ 158 h 158"/>
                <a:gd name="T12" fmla="*/ 95 w 95"/>
                <a:gd name="T13" fmla="*/ 102 h 158"/>
                <a:gd name="T14" fmla="*/ 95 w 95"/>
                <a:gd name="T15" fmla="*/ 63 h 158"/>
                <a:gd name="T16" fmla="*/ 83 w 95"/>
                <a:gd name="T17" fmla="*/ 63 h 158"/>
                <a:gd name="T18" fmla="*/ 83 w 95"/>
                <a:gd name="T19" fmla="*/ 74 h 158"/>
                <a:gd name="T20" fmla="*/ 21 w 95"/>
                <a:gd name="T21" fmla="*/ 74 h 158"/>
                <a:gd name="T22" fmla="*/ 5 w 95"/>
                <a:gd name="T23" fmla="*/ 89 h 158"/>
                <a:gd name="T24" fmla="*/ 83 w 95"/>
                <a:gd name="T25" fmla="*/ 89 h 158"/>
                <a:gd name="T26" fmla="*/ 83 w 95"/>
                <a:gd name="T27" fmla="*/ 94 h 158"/>
                <a:gd name="T28" fmla="*/ 95 w 95"/>
                <a:gd name="T29" fmla="*/ 94 h 158"/>
                <a:gd name="T30" fmla="*/ 95 w 95"/>
                <a:gd name="T31" fmla="*/ 83 h 158"/>
                <a:gd name="T32" fmla="*/ 58 w 95"/>
                <a:gd name="T33" fmla="*/ 83 h 158"/>
                <a:gd name="T34" fmla="*/ 54 w 95"/>
                <a:gd name="T35" fmla="*/ 79 h 158"/>
                <a:gd name="T36" fmla="*/ 58 w 95"/>
                <a:gd name="T37" fmla="*/ 75 h 158"/>
                <a:gd name="T38" fmla="*/ 95 w 95"/>
                <a:gd name="T39" fmla="*/ 75 h 158"/>
                <a:gd name="T40" fmla="*/ 95 w 95"/>
                <a:gd name="T41" fmla="*/ 63 h 158"/>
                <a:gd name="T42" fmla="*/ 95 w 95"/>
                <a:gd name="T43" fmla="*/ 44 h 158"/>
                <a:gd name="T44" fmla="*/ 83 w 95"/>
                <a:gd name="T45" fmla="*/ 44 h 158"/>
                <a:gd name="T46" fmla="*/ 83 w 95"/>
                <a:gd name="T47" fmla="*/ 55 h 158"/>
                <a:gd name="T48" fmla="*/ 95 w 95"/>
                <a:gd name="T49" fmla="*/ 55 h 158"/>
                <a:gd name="T50" fmla="*/ 95 w 95"/>
                <a:gd name="T51" fmla="*/ 44 h 158"/>
                <a:gd name="T52" fmla="*/ 95 w 95"/>
                <a:gd name="T53" fmla="*/ 0 h 158"/>
                <a:gd name="T54" fmla="*/ 83 w 95"/>
                <a:gd name="T55" fmla="*/ 12 h 158"/>
                <a:gd name="T56" fmla="*/ 83 w 95"/>
                <a:gd name="T57" fmla="*/ 36 h 158"/>
                <a:gd name="T58" fmla="*/ 95 w 95"/>
                <a:gd name="T59" fmla="*/ 36 h 158"/>
                <a:gd name="T60" fmla="*/ 95 w 95"/>
                <a:gd name="T61"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5" h="158">
                  <a:moveTo>
                    <a:pt x="95" y="102"/>
                  </a:moveTo>
                  <a:cubicBezTo>
                    <a:pt x="83" y="102"/>
                    <a:pt x="83" y="102"/>
                    <a:pt x="83" y="102"/>
                  </a:cubicBezTo>
                  <a:cubicBezTo>
                    <a:pt x="83" y="115"/>
                    <a:pt x="83" y="115"/>
                    <a:pt x="83" y="115"/>
                  </a:cubicBezTo>
                  <a:cubicBezTo>
                    <a:pt x="0" y="115"/>
                    <a:pt x="0" y="115"/>
                    <a:pt x="0" y="115"/>
                  </a:cubicBezTo>
                  <a:cubicBezTo>
                    <a:pt x="0" y="158"/>
                    <a:pt x="0" y="158"/>
                    <a:pt x="0" y="158"/>
                  </a:cubicBezTo>
                  <a:cubicBezTo>
                    <a:pt x="95" y="158"/>
                    <a:pt x="95" y="158"/>
                    <a:pt x="95" y="158"/>
                  </a:cubicBezTo>
                  <a:cubicBezTo>
                    <a:pt x="95" y="102"/>
                    <a:pt x="95" y="102"/>
                    <a:pt x="95" y="102"/>
                  </a:cubicBezTo>
                  <a:moveTo>
                    <a:pt x="95" y="63"/>
                  </a:moveTo>
                  <a:cubicBezTo>
                    <a:pt x="83" y="63"/>
                    <a:pt x="83" y="63"/>
                    <a:pt x="83" y="63"/>
                  </a:cubicBezTo>
                  <a:cubicBezTo>
                    <a:pt x="83" y="74"/>
                    <a:pt x="83" y="74"/>
                    <a:pt x="83" y="74"/>
                  </a:cubicBezTo>
                  <a:cubicBezTo>
                    <a:pt x="21" y="74"/>
                    <a:pt x="21" y="74"/>
                    <a:pt x="21" y="74"/>
                  </a:cubicBezTo>
                  <a:cubicBezTo>
                    <a:pt x="5" y="89"/>
                    <a:pt x="5" y="89"/>
                    <a:pt x="5" y="89"/>
                  </a:cubicBezTo>
                  <a:cubicBezTo>
                    <a:pt x="83" y="89"/>
                    <a:pt x="83" y="89"/>
                    <a:pt x="83" y="89"/>
                  </a:cubicBezTo>
                  <a:cubicBezTo>
                    <a:pt x="83" y="94"/>
                    <a:pt x="83" y="94"/>
                    <a:pt x="83" y="94"/>
                  </a:cubicBezTo>
                  <a:cubicBezTo>
                    <a:pt x="95" y="94"/>
                    <a:pt x="95" y="94"/>
                    <a:pt x="95" y="94"/>
                  </a:cubicBezTo>
                  <a:cubicBezTo>
                    <a:pt x="95" y="83"/>
                    <a:pt x="95" y="83"/>
                    <a:pt x="95" y="83"/>
                  </a:cubicBezTo>
                  <a:cubicBezTo>
                    <a:pt x="58" y="83"/>
                    <a:pt x="58" y="83"/>
                    <a:pt x="58" y="83"/>
                  </a:cubicBezTo>
                  <a:cubicBezTo>
                    <a:pt x="56" y="83"/>
                    <a:pt x="54" y="81"/>
                    <a:pt x="54" y="79"/>
                  </a:cubicBezTo>
                  <a:cubicBezTo>
                    <a:pt x="54" y="76"/>
                    <a:pt x="56" y="75"/>
                    <a:pt x="58" y="75"/>
                  </a:cubicBezTo>
                  <a:cubicBezTo>
                    <a:pt x="95" y="75"/>
                    <a:pt x="95" y="75"/>
                    <a:pt x="95" y="75"/>
                  </a:cubicBezTo>
                  <a:cubicBezTo>
                    <a:pt x="95" y="63"/>
                    <a:pt x="95" y="63"/>
                    <a:pt x="95" y="63"/>
                  </a:cubicBezTo>
                  <a:moveTo>
                    <a:pt x="95" y="44"/>
                  </a:moveTo>
                  <a:cubicBezTo>
                    <a:pt x="83" y="44"/>
                    <a:pt x="83" y="44"/>
                    <a:pt x="83" y="44"/>
                  </a:cubicBezTo>
                  <a:cubicBezTo>
                    <a:pt x="83" y="55"/>
                    <a:pt x="83" y="55"/>
                    <a:pt x="83" y="55"/>
                  </a:cubicBezTo>
                  <a:cubicBezTo>
                    <a:pt x="95" y="55"/>
                    <a:pt x="95" y="55"/>
                    <a:pt x="95" y="55"/>
                  </a:cubicBezTo>
                  <a:cubicBezTo>
                    <a:pt x="95" y="44"/>
                    <a:pt x="95" y="44"/>
                    <a:pt x="95" y="44"/>
                  </a:cubicBezTo>
                  <a:moveTo>
                    <a:pt x="95" y="0"/>
                  </a:moveTo>
                  <a:cubicBezTo>
                    <a:pt x="83" y="12"/>
                    <a:pt x="83" y="12"/>
                    <a:pt x="83" y="12"/>
                  </a:cubicBezTo>
                  <a:cubicBezTo>
                    <a:pt x="83" y="36"/>
                    <a:pt x="83" y="36"/>
                    <a:pt x="83" y="36"/>
                  </a:cubicBezTo>
                  <a:cubicBezTo>
                    <a:pt x="95" y="36"/>
                    <a:pt x="95" y="36"/>
                    <a:pt x="95" y="36"/>
                  </a:cubicBezTo>
                  <a:cubicBezTo>
                    <a:pt x="95" y="0"/>
                    <a:pt x="95" y="0"/>
                    <a:pt x="95" y="0"/>
                  </a:cubicBezTo>
                </a:path>
              </a:pathLst>
            </a:custGeom>
            <a:solidFill>
              <a:srgbClr val="1E485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13" name="îşḷíḑê"/>
            <p:cNvSpPr/>
            <p:nvPr/>
          </p:nvSpPr>
          <p:spPr bwMode="auto">
            <a:xfrm>
              <a:off x="5367338" y="3311526"/>
              <a:ext cx="36513" cy="23813"/>
            </a:xfrm>
            <a:prstGeom prst="rect">
              <a:avLst/>
            </a:prstGeom>
            <a:solidFill>
              <a:srgbClr val="C25FA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14" name="íş1îḋè"/>
            <p:cNvSpPr/>
            <p:nvPr/>
          </p:nvSpPr>
          <p:spPr bwMode="auto">
            <a:xfrm>
              <a:off x="5367338" y="3311526"/>
              <a:ext cx="36513" cy="2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15" name="iṧľiďe"/>
            <p:cNvSpPr/>
            <p:nvPr/>
          </p:nvSpPr>
          <p:spPr bwMode="auto">
            <a:xfrm>
              <a:off x="5280026" y="3254376"/>
              <a:ext cx="123825" cy="23813"/>
            </a:xfrm>
            <a:custGeom>
              <a:avLst/>
              <a:gdLst>
                <a:gd name="T0" fmla="*/ 41 w 41"/>
                <a:gd name="T1" fmla="*/ 0 h 8"/>
                <a:gd name="T2" fmla="*/ 4 w 41"/>
                <a:gd name="T3" fmla="*/ 0 h 8"/>
                <a:gd name="T4" fmla="*/ 0 w 41"/>
                <a:gd name="T5" fmla="*/ 4 h 8"/>
                <a:gd name="T6" fmla="*/ 4 w 41"/>
                <a:gd name="T7" fmla="*/ 8 h 8"/>
                <a:gd name="T8" fmla="*/ 41 w 41"/>
                <a:gd name="T9" fmla="*/ 8 h 8"/>
                <a:gd name="T10" fmla="*/ 41 w 41"/>
                <a:gd name="T11" fmla="*/ 0 h 8"/>
              </a:gdLst>
              <a:ahLst/>
              <a:cxnLst>
                <a:cxn ang="0">
                  <a:pos x="T0" y="T1"/>
                </a:cxn>
                <a:cxn ang="0">
                  <a:pos x="T2" y="T3"/>
                </a:cxn>
                <a:cxn ang="0">
                  <a:pos x="T4" y="T5"/>
                </a:cxn>
                <a:cxn ang="0">
                  <a:pos x="T6" y="T7"/>
                </a:cxn>
                <a:cxn ang="0">
                  <a:pos x="T8" y="T9"/>
                </a:cxn>
                <a:cxn ang="0">
                  <a:pos x="T10" y="T11"/>
                </a:cxn>
              </a:cxnLst>
              <a:rect l="0" t="0" r="r" b="b"/>
              <a:pathLst>
                <a:path w="41" h="8">
                  <a:moveTo>
                    <a:pt x="41" y="0"/>
                  </a:moveTo>
                  <a:cubicBezTo>
                    <a:pt x="4" y="0"/>
                    <a:pt x="4" y="0"/>
                    <a:pt x="4" y="0"/>
                  </a:cubicBezTo>
                  <a:cubicBezTo>
                    <a:pt x="2" y="0"/>
                    <a:pt x="0" y="1"/>
                    <a:pt x="0" y="4"/>
                  </a:cubicBezTo>
                  <a:cubicBezTo>
                    <a:pt x="0" y="6"/>
                    <a:pt x="2" y="8"/>
                    <a:pt x="4" y="8"/>
                  </a:cubicBezTo>
                  <a:cubicBezTo>
                    <a:pt x="41" y="8"/>
                    <a:pt x="41" y="8"/>
                    <a:pt x="41" y="8"/>
                  </a:cubicBezTo>
                  <a:cubicBezTo>
                    <a:pt x="41" y="0"/>
                    <a:pt x="41" y="0"/>
                    <a:pt x="41" y="0"/>
                  </a:cubicBezTo>
                </a:path>
              </a:pathLst>
            </a:custGeom>
            <a:solidFill>
              <a:srgbClr val="C25FA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16" name="íšļïḍe"/>
            <p:cNvSpPr/>
            <p:nvPr/>
          </p:nvSpPr>
          <p:spPr bwMode="auto">
            <a:xfrm>
              <a:off x="5367338" y="3194051"/>
              <a:ext cx="36513" cy="23813"/>
            </a:xfrm>
            <a:prstGeom prst="rect">
              <a:avLst/>
            </a:prstGeom>
            <a:solidFill>
              <a:srgbClr val="C25FA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17" name="íṣḻíde"/>
            <p:cNvSpPr/>
            <p:nvPr/>
          </p:nvSpPr>
          <p:spPr bwMode="auto">
            <a:xfrm>
              <a:off x="5367338" y="3194051"/>
              <a:ext cx="36513" cy="2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18" name="ïş1ídè"/>
            <p:cNvSpPr/>
            <p:nvPr/>
          </p:nvSpPr>
          <p:spPr bwMode="auto">
            <a:xfrm>
              <a:off x="5367338" y="3136901"/>
              <a:ext cx="36513" cy="23813"/>
            </a:xfrm>
            <a:prstGeom prst="rect">
              <a:avLst/>
            </a:prstGeom>
            <a:solidFill>
              <a:srgbClr val="C25FA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19" name="î$lîḋè"/>
            <p:cNvSpPr/>
            <p:nvPr/>
          </p:nvSpPr>
          <p:spPr bwMode="auto">
            <a:xfrm>
              <a:off x="5367338" y="3136901"/>
              <a:ext cx="36513" cy="2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20" name="išlíde"/>
            <p:cNvSpPr/>
            <p:nvPr/>
          </p:nvSpPr>
          <p:spPr bwMode="auto">
            <a:xfrm>
              <a:off x="5118101" y="2962276"/>
              <a:ext cx="285750" cy="334963"/>
            </a:xfrm>
            <a:custGeom>
              <a:avLst/>
              <a:gdLst>
                <a:gd name="T0" fmla="*/ 40 w 180"/>
                <a:gd name="T1" fmla="*/ 182 h 211"/>
                <a:gd name="T2" fmla="*/ 0 w 180"/>
                <a:gd name="T3" fmla="*/ 182 h 211"/>
                <a:gd name="T4" fmla="*/ 0 w 180"/>
                <a:gd name="T5" fmla="*/ 211 h 211"/>
                <a:gd name="T6" fmla="*/ 9 w 180"/>
                <a:gd name="T7" fmla="*/ 211 h 211"/>
                <a:gd name="T8" fmla="*/ 40 w 180"/>
                <a:gd name="T9" fmla="*/ 182 h 211"/>
                <a:gd name="T10" fmla="*/ 180 w 180"/>
                <a:gd name="T11" fmla="*/ 0 h 211"/>
                <a:gd name="T12" fmla="*/ 0 w 180"/>
                <a:gd name="T13" fmla="*/ 0 h 211"/>
                <a:gd name="T14" fmla="*/ 0 w 180"/>
                <a:gd name="T15" fmla="*/ 25 h 211"/>
                <a:gd name="T16" fmla="*/ 157 w 180"/>
                <a:gd name="T17" fmla="*/ 25 h 211"/>
                <a:gd name="T18" fmla="*/ 157 w 180"/>
                <a:gd name="T19" fmla="*/ 65 h 211"/>
                <a:gd name="T20" fmla="*/ 180 w 180"/>
                <a:gd name="T21" fmla="*/ 42 h 211"/>
                <a:gd name="T22" fmla="*/ 180 w 180"/>
                <a:gd name="T23"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0" h="211">
                  <a:moveTo>
                    <a:pt x="40" y="182"/>
                  </a:moveTo>
                  <a:lnTo>
                    <a:pt x="0" y="182"/>
                  </a:lnTo>
                  <a:lnTo>
                    <a:pt x="0" y="211"/>
                  </a:lnTo>
                  <a:lnTo>
                    <a:pt x="9" y="211"/>
                  </a:lnTo>
                  <a:lnTo>
                    <a:pt x="40" y="182"/>
                  </a:lnTo>
                  <a:close/>
                  <a:moveTo>
                    <a:pt x="180" y="0"/>
                  </a:moveTo>
                  <a:lnTo>
                    <a:pt x="0" y="0"/>
                  </a:lnTo>
                  <a:lnTo>
                    <a:pt x="0" y="25"/>
                  </a:lnTo>
                  <a:lnTo>
                    <a:pt x="157" y="25"/>
                  </a:lnTo>
                  <a:lnTo>
                    <a:pt x="157" y="65"/>
                  </a:lnTo>
                  <a:lnTo>
                    <a:pt x="180" y="42"/>
                  </a:lnTo>
                  <a:lnTo>
                    <a:pt x="180" y="0"/>
                  </a:lnTo>
                  <a:close/>
                </a:path>
              </a:pathLst>
            </a:custGeom>
            <a:solidFill>
              <a:srgbClr val="2459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21" name="iṧlíḓê"/>
            <p:cNvSpPr/>
            <p:nvPr/>
          </p:nvSpPr>
          <p:spPr bwMode="auto">
            <a:xfrm>
              <a:off x="5118101" y="2962276"/>
              <a:ext cx="285750" cy="334963"/>
            </a:xfrm>
            <a:custGeom>
              <a:avLst/>
              <a:gdLst>
                <a:gd name="T0" fmla="*/ 40 w 180"/>
                <a:gd name="T1" fmla="*/ 182 h 211"/>
                <a:gd name="T2" fmla="*/ 0 w 180"/>
                <a:gd name="T3" fmla="*/ 182 h 211"/>
                <a:gd name="T4" fmla="*/ 0 w 180"/>
                <a:gd name="T5" fmla="*/ 211 h 211"/>
                <a:gd name="T6" fmla="*/ 9 w 180"/>
                <a:gd name="T7" fmla="*/ 211 h 211"/>
                <a:gd name="T8" fmla="*/ 40 w 180"/>
                <a:gd name="T9" fmla="*/ 182 h 211"/>
                <a:gd name="T10" fmla="*/ 180 w 180"/>
                <a:gd name="T11" fmla="*/ 0 h 211"/>
                <a:gd name="T12" fmla="*/ 0 w 180"/>
                <a:gd name="T13" fmla="*/ 0 h 211"/>
                <a:gd name="T14" fmla="*/ 0 w 180"/>
                <a:gd name="T15" fmla="*/ 25 h 211"/>
                <a:gd name="T16" fmla="*/ 157 w 180"/>
                <a:gd name="T17" fmla="*/ 25 h 211"/>
                <a:gd name="T18" fmla="*/ 157 w 180"/>
                <a:gd name="T19" fmla="*/ 65 h 211"/>
                <a:gd name="T20" fmla="*/ 180 w 180"/>
                <a:gd name="T21" fmla="*/ 42 h 211"/>
                <a:gd name="T22" fmla="*/ 180 w 180"/>
                <a:gd name="T23"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0" h="211">
                  <a:moveTo>
                    <a:pt x="40" y="182"/>
                  </a:moveTo>
                  <a:lnTo>
                    <a:pt x="0" y="182"/>
                  </a:lnTo>
                  <a:lnTo>
                    <a:pt x="0" y="211"/>
                  </a:lnTo>
                  <a:lnTo>
                    <a:pt x="9" y="211"/>
                  </a:lnTo>
                  <a:lnTo>
                    <a:pt x="40" y="182"/>
                  </a:lnTo>
                  <a:moveTo>
                    <a:pt x="180" y="0"/>
                  </a:moveTo>
                  <a:lnTo>
                    <a:pt x="0" y="0"/>
                  </a:lnTo>
                  <a:lnTo>
                    <a:pt x="0" y="25"/>
                  </a:lnTo>
                  <a:lnTo>
                    <a:pt x="157" y="25"/>
                  </a:lnTo>
                  <a:lnTo>
                    <a:pt x="157" y="65"/>
                  </a:lnTo>
                  <a:lnTo>
                    <a:pt x="180" y="42"/>
                  </a:lnTo>
                  <a:lnTo>
                    <a:pt x="18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22" name="íŝļîdê"/>
            <p:cNvSpPr/>
            <p:nvPr/>
          </p:nvSpPr>
          <p:spPr bwMode="auto">
            <a:xfrm>
              <a:off x="4668838" y="3001963"/>
              <a:ext cx="365125" cy="249238"/>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23" name="ïsḻïḓè"/>
            <p:cNvSpPr/>
            <p:nvPr/>
          </p:nvSpPr>
          <p:spPr bwMode="auto">
            <a:xfrm>
              <a:off x="4668838" y="3001963"/>
              <a:ext cx="365125"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24" name="iŝḷïḑé"/>
            <p:cNvSpPr/>
            <p:nvPr/>
          </p:nvSpPr>
          <p:spPr bwMode="auto">
            <a:xfrm>
              <a:off x="5033963" y="3001963"/>
              <a:ext cx="84138" cy="249238"/>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25" name="ïšļíḓé"/>
            <p:cNvSpPr/>
            <p:nvPr/>
          </p:nvSpPr>
          <p:spPr bwMode="auto">
            <a:xfrm>
              <a:off x="5033963" y="3001963"/>
              <a:ext cx="84138"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26" name="ïşľîdè"/>
            <p:cNvSpPr/>
            <p:nvPr/>
          </p:nvSpPr>
          <p:spPr bwMode="auto">
            <a:xfrm>
              <a:off x="5181601" y="3065463"/>
              <a:ext cx="185738" cy="185738"/>
            </a:xfrm>
            <a:custGeom>
              <a:avLst/>
              <a:gdLst>
                <a:gd name="T0" fmla="*/ 33 w 62"/>
                <a:gd name="T1" fmla="*/ 28 h 62"/>
                <a:gd name="T2" fmla="*/ 0 w 62"/>
                <a:gd name="T3" fmla="*/ 62 h 62"/>
                <a:gd name="T4" fmla="*/ 62 w 62"/>
                <a:gd name="T5" fmla="*/ 62 h 62"/>
                <a:gd name="T6" fmla="*/ 62 w 62"/>
                <a:gd name="T7" fmla="*/ 51 h 62"/>
                <a:gd name="T8" fmla="*/ 37 w 62"/>
                <a:gd name="T9" fmla="*/ 51 h 62"/>
                <a:gd name="T10" fmla="*/ 33 w 62"/>
                <a:gd name="T11" fmla="*/ 47 h 62"/>
                <a:gd name="T12" fmla="*/ 37 w 62"/>
                <a:gd name="T13" fmla="*/ 43 h 62"/>
                <a:gd name="T14" fmla="*/ 62 w 62"/>
                <a:gd name="T15" fmla="*/ 43 h 62"/>
                <a:gd name="T16" fmla="*/ 62 w 62"/>
                <a:gd name="T17" fmla="*/ 32 h 62"/>
                <a:gd name="T18" fmla="*/ 37 w 62"/>
                <a:gd name="T19" fmla="*/ 32 h 62"/>
                <a:gd name="T20" fmla="*/ 33 w 62"/>
                <a:gd name="T21" fmla="*/ 28 h 62"/>
                <a:gd name="T22" fmla="*/ 33 w 62"/>
                <a:gd name="T23" fmla="*/ 28 h 62"/>
                <a:gd name="T24" fmla="*/ 62 w 62"/>
                <a:gd name="T25" fmla="*/ 0 h 62"/>
                <a:gd name="T26" fmla="*/ 37 w 62"/>
                <a:gd name="T27" fmla="*/ 24 h 62"/>
                <a:gd name="T28" fmla="*/ 37 w 62"/>
                <a:gd name="T29" fmla="*/ 24 h 62"/>
                <a:gd name="T30" fmla="*/ 62 w 62"/>
                <a:gd name="T31" fmla="*/ 24 h 62"/>
                <a:gd name="T32" fmla="*/ 62 w 62"/>
                <a:gd name="T33"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 h="62">
                  <a:moveTo>
                    <a:pt x="33" y="28"/>
                  </a:moveTo>
                  <a:cubicBezTo>
                    <a:pt x="0" y="62"/>
                    <a:pt x="0" y="62"/>
                    <a:pt x="0" y="62"/>
                  </a:cubicBezTo>
                  <a:cubicBezTo>
                    <a:pt x="62" y="62"/>
                    <a:pt x="62" y="62"/>
                    <a:pt x="62" y="62"/>
                  </a:cubicBezTo>
                  <a:cubicBezTo>
                    <a:pt x="62" y="51"/>
                    <a:pt x="62" y="51"/>
                    <a:pt x="62" y="51"/>
                  </a:cubicBezTo>
                  <a:cubicBezTo>
                    <a:pt x="37" y="51"/>
                    <a:pt x="37" y="51"/>
                    <a:pt x="37" y="51"/>
                  </a:cubicBezTo>
                  <a:cubicBezTo>
                    <a:pt x="35" y="51"/>
                    <a:pt x="33" y="50"/>
                    <a:pt x="33" y="47"/>
                  </a:cubicBezTo>
                  <a:cubicBezTo>
                    <a:pt x="33" y="45"/>
                    <a:pt x="35" y="43"/>
                    <a:pt x="37" y="43"/>
                  </a:cubicBezTo>
                  <a:cubicBezTo>
                    <a:pt x="62" y="43"/>
                    <a:pt x="62" y="43"/>
                    <a:pt x="62" y="43"/>
                  </a:cubicBezTo>
                  <a:cubicBezTo>
                    <a:pt x="62" y="32"/>
                    <a:pt x="62" y="32"/>
                    <a:pt x="62" y="32"/>
                  </a:cubicBezTo>
                  <a:cubicBezTo>
                    <a:pt x="37" y="32"/>
                    <a:pt x="37" y="32"/>
                    <a:pt x="37" y="32"/>
                  </a:cubicBezTo>
                  <a:cubicBezTo>
                    <a:pt x="35" y="32"/>
                    <a:pt x="33" y="30"/>
                    <a:pt x="33" y="28"/>
                  </a:cubicBezTo>
                  <a:cubicBezTo>
                    <a:pt x="33" y="28"/>
                    <a:pt x="33" y="28"/>
                    <a:pt x="33" y="28"/>
                  </a:cubicBezTo>
                  <a:moveTo>
                    <a:pt x="62" y="0"/>
                  </a:moveTo>
                  <a:cubicBezTo>
                    <a:pt x="37" y="24"/>
                    <a:pt x="37" y="24"/>
                    <a:pt x="37" y="24"/>
                  </a:cubicBezTo>
                  <a:cubicBezTo>
                    <a:pt x="37" y="24"/>
                    <a:pt x="37" y="24"/>
                    <a:pt x="37" y="24"/>
                  </a:cubicBezTo>
                  <a:cubicBezTo>
                    <a:pt x="62" y="24"/>
                    <a:pt x="62" y="24"/>
                    <a:pt x="62" y="24"/>
                  </a:cubicBezTo>
                  <a:cubicBezTo>
                    <a:pt x="62" y="0"/>
                    <a:pt x="62" y="0"/>
                    <a:pt x="62"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27" name="ïṣliďè"/>
            <p:cNvSpPr/>
            <p:nvPr/>
          </p:nvSpPr>
          <p:spPr bwMode="auto">
            <a:xfrm>
              <a:off x="5280026" y="3194051"/>
              <a:ext cx="87313" cy="23813"/>
            </a:xfrm>
            <a:custGeom>
              <a:avLst/>
              <a:gdLst>
                <a:gd name="T0" fmla="*/ 29 w 29"/>
                <a:gd name="T1" fmla="*/ 0 h 8"/>
                <a:gd name="T2" fmla="*/ 4 w 29"/>
                <a:gd name="T3" fmla="*/ 0 h 8"/>
                <a:gd name="T4" fmla="*/ 0 w 29"/>
                <a:gd name="T5" fmla="*/ 4 h 8"/>
                <a:gd name="T6" fmla="*/ 4 w 29"/>
                <a:gd name="T7" fmla="*/ 8 h 8"/>
                <a:gd name="T8" fmla="*/ 29 w 29"/>
                <a:gd name="T9" fmla="*/ 8 h 8"/>
                <a:gd name="T10" fmla="*/ 29 w 29"/>
                <a:gd name="T11" fmla="*/ 0 h 8"/>
              </a:gdLst>
              <a:ahLst/>
              <a:cxnLst>
                <a:cxn ang="0">
                  <a:pos x="T0" y="T1"/>
                </a:cxn>
                <a:cxn ang="0">
                  <a:pos x="T2" y="T3"/>
                </a:cxn>
                <a:cxn ang="0">
                  <a:pos x="T4" y="T5"/>
                </a:cxn>
                <a:cxn ang="0">
                  <a:pos x="T6" y="T7"/>
                </a:cxn>
                <a:cxn ang="0">
                  <a:pos x="T8" y="T9"/>
                </a:cxn>
                <a:cxn ang="0">
                  <a:pos x="T10" y="T11"/>
                </a:cxn>
              </a:cxnLst>
              <a:rect l="0" t="0" r="r" b="b"/>
              <a:pathLst>
                <a:path w="29" h="8">
                  <a:moveTo>
                    <a:pt x="29" y="0"/>
                  </a:moveTo>
                  <a:cubicBezTo>
                    <a:pt x="4" y="0"/>
                    <a:pt x="4" y="0"/>
                    <a:pt x="4" y="0"/>
                  </a:cubicBezTo>
                  <a:cubicBezTo>
                    <a:pt x="2" y="0"/>
                    <a:pt x="0" y="2"/>
                    <a:pt x="0" y="4"/>
                  </a:cubicBezTo>
                  <a:cubicBezTo>
                    <a:pt x="0" y="7"/>
                    <a:pt x="2" y="8"/>
                    <a:pt x="4" y="8"/>
                  </a:cubicBezTo>
                  <a:cubicBezTo>
                    <a:pt x="29" y="8"/>
                    <a:pt x="29" y="8"/>
                    <a:pt x="29" y="8"/>
                  </a:cubicBezTo>
                  <a:cubicBezTo>
                    <a:pt x="29" y="0"/>
                    <a:pt x="29" y="0"/>
                    <a:pt x="29" y="0"/>
                  </a:cubicBezTo>
                </a:path>
              </a:pathLst>
            </a:custGeom>
            <a:solidFill>
              <a:srgbClr val="9785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28" name="ïSliḓe"/>
            <p:cNvSpPr/>
            <p:nvPr/>
          </p:nvSpPr>
          <p:spPr bwMode="auto">
            <a:xfrm>
              <a:off x="5280026" y="3136901"/>
              <a:ext cx="87313" cy="23813"/>
            </a:xfrm>
            <a:custGeom>
              <a:avLst/>
              <a:gdLst>
                <a:gd name="T0" fmla="*/ 29 w 29"/>
                <a:gd name="T1" fmla="*/ 0 h 8"/>
                <a:gd name="T2" fmla="*/ 4 w 29"/>
                <a:gd name="T3" fmla="*/ 0 h 8"/>
                <a:gd name="T4" fmla="*/ 4 w 29"/>
                <a:gd name="T5" fmla="*/ 0 h 8"/>
                <a:gd name="T6" fmla="*/ 0 w 29"/>
                <a:gd name="T7" fmla="*/ 4 h 8"/>
                <a:gd name="T8" fmla="*/ 0 w 29"/>
                <a:gd name="T9" fmla="*/ 4 h 8"/>
                <a:gd name="T10" fmla="*/ 4 w 29"/>
                <a:gd name="T11" fmla="*/ 8 h 8"/>
                <a:gd name="T12" fmla="*/ 29 w 29"/>
                <a:gd name="T13" fmla="*/ 8 h 8"/>
                <a:gd name="T14" fmla="*/ 29 w 29"/>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8">
                  <a:moveTo>
                    <a:pt x="29" y="0"/>
                  </a:moveTo>
                  <a:cubicBezTo>
                    <a:pt x="4" y="0"/>
                    <a:pt x="4" y="0"/>
                    <a:pt x="4" y="0"/>
                  </a:cubicBezTo>
                  <a:cubicBezTo>
                    <a:pt x="4" y="0"/>
                    <a:pt x="4" y="0"/>
                    <a:pt x="4" y="0"/>
                  </a:cubicBezTo>
                  <a:cubicBezTo>
                    <a:pt x="0" y="4"/>
                    <a:pt x="0" y="4"/>
                    <a:pt x="0" y="4"/>
                  </a:cubicBezTo>
                  <a:cubicBezTo>
                    <a:pt x="0" y="4"/>
                    <a:pt x="0" y="4"/>
                    <a:pt x="0" y="4"/>
                  </a:cubicBezTo>
                  <a:cubicBezTo>
                    <a:pt x="0" y="6"/>
                    <a:pt x="2" y="8"/>
                    <a:pt x="4" y="8"/>
                  </a:cubicBezTo>
                  <a:cubicBezTo>
                    <a:pt x="29" y="8"/>
                    <a:pt x="29" y="8"/>
                    <a:pt x="29" y="8"/>
                  </a:cubicBezTo>
                  <a:cubicBezTo>
                    <a:pt x="29" y="0"/>
                    <a:pt x="29" y="0"/>
                    <a:pt x="29" y="0"/>
                  </a:cubicBezTo>
                </a:path>
              </a:pathLst>
            </a:custGeom>
            <a:solidFill>
              <a:srgbClr val="9785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29" name="íślïdè"/>
            <p:cNvSpPr/>
            <p:nvPr/>
          </p:nvSpPr>
          <p:spPr bwMode="auto">
            <a:xfrm>
              <a:off x="5118101" y="3001963"/>
              <a:ext cx="249238" cy="249238"/>
            </a:xfrm>
            <a:custGeom>
              <a:avLst/>
              <a:gdLst>
                <a:gd name="T0" fmla="*/ 83 w 83"/>
                <a:gd name="T1" fmla="*/ 0 h 83"/>
                <a:gd name="T2" fmla="*/ 0 w 83"/>
                <a:gd name="T3" fmla="*/ 0 h 83"/>
                <a:gd name="T4" fmla="*/ 0 w 83"/>
                <a:gd name="T5" fmla="*/ 83 h 83"/>
                <a:gd name="T6" fmla="*/ 21 w 83"/>
                <a:gd name="T7" fmla="*/ 83 h 83"/>
                <a:gd name="T8" fmla="*/ 54 w 83"/>
                <a:gd name="T9" fmla="*/ 49 h 83"/>
                <a:gd name="T10" fmla="*/ 58 w 83"/>
                <a:gd name="T11" fmla="*/ 45 h 83"/>
                <a:gd name="T12" fmla="*/ 83 w 83"/>
                <a:gd name="T13" fmla="*/ 21 h 83"/>
                <a:gd name="T14" fmla="*/ 83 w 83"/>
                <a:gd name="T15" fmla="*/ 0 h 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83">
                  <a:moveTo>
                    <a:pt x="83" y="0"/>
                  </a:moveTo>
                  <a:cubicBezTo>
                    <a:pt x="0" y="0"/>
                    <a:pt x="0" y="0"/>
                    <a:pt x="0" y="0"/>
                  </a:cubicBezTo>
                  <a:cubicBezTo>
                    <a:pt x="0" y="83"/>
                    <a:pt x="0" y="83"/>
                    <a:pt x="0" y="83"/>
                  </a:cubicBezTo>
                  <a:cubicBezTo>
                    <a:pt x="21" y="83"/>
                    <a:pt x="21" y="83"/>
                    <a:pt x="21" y="83"/>
                  </a:cubicBezTo>
                  <a:cubicBezTo>
                    <a:pt x="54" y="49"/>
                    <a:pt x="54" y="49"/>
                    <a:pt x="54" y="49"/>
                  </a:cubicBezTo>
                  <a:cubicBezTo>
                    <a:pt x="54" y="47"/>
                    <a:pt x="56" y="45"/>
                    <a:pt x="58" y="45"/>
                  </a:cubicBezTo>
                  <a:cubicBezTo>
                    <a:pt x="83" y="21"/>
                    <a:pt x="83" y="21"/>
                    <a:pt x="83" y="21"/>
                  </a:cubicBezTo>
                  <a:cubicBezTo>
                    <a:pt x="83" y="0"/>
                    <a:pt x="83" y="0"/>
                    <a:pt x="83" y="0"/>
                  </a:cubicBezTo>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30" name="îślîḍê"/>
            <p:cNvSpPr/>
            <p:nvPr/>
          </p:nvSpPr>
          <p:spPr bwMode="auto">
            <a:xfrm>
              <a:off x="5280026" y="3136901"/>
              <a:ext cx="12700" cy="12700"/>
            </a:xfrm>
            <a:custGeom>
              <a:avLst/>
              <a:gdLst>
                <a:gd name="T0" fmla="*/ 4 w 4"/>
                <a:gd name="T1" fmla="*/ 0 h 4"/>
                <a:gd name="T2" fmla="*/ 0 w 4"/>
                <a:gd name="T3" fmla="*/ 4 h 4"/>
                <a:gd name="T4" fmla="*/ 4 w 4"/>
                <a:gd name="T5" fmla="*/ 0 h 4"/>
              </a:gdLst>
              <a:ahLst/>
              <a:cxnLst>
                <a:cxn ang="0">
                  <a:pos x="T0" y="T1"/>
                </a:cxn>
                <a:cxn ang="0">
                  <a:pos x="T2" y="T3"/>
                </a:cxn>
                <a:cxn ang="0">
                  <a:pos x="T4" y="T5"/>
                </a:cxn>
              </a:cxnLst>
              <a:rect l="0" t="0" r="r" b="b"/>
              <a:pathLst>
                <a:path w="4" h="4">
                  <a:moveTo>
                    <a:pt x="4" y="0"/>
                  </a:moveTo>
                  <a:cubicBezTo>
                    <a:pt x="2" y="0"/>
                    <a:pt x="0" y="2"/>
                    <a:pt x="0" y="4"/>
                  </a:cubicBezTo>
                  <a:cubicBezTo>
                    <a:pt x="4" y="0"/>
                    <a:pt x="4" y="0"/>
                    <a:pt x="4" y="0"/>
                  </a:cubicBezTo>
                </a:path>
              </a:pathLst>
            </a:custGeom>
            <a:solidFill>
              <a:srgbClr val="888F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31" name="íSḻiḑe"/>
            <p:cNvSpPr/>
            <p:nvPr/>
          </p:nvSpPr>
          <p:spPr bwMode="auto">
            <a:xfrm>
              <a:off x="4668838" y="3297238"/>
              <a:ext cx="247650" cy="77788"/>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32" name="í$1îďe"/>
            <p:cNvSpPr/>
            <p:nvPr/>
          </p:nvSpPr>
          <p:spPr bwMode="auto">
            <a:xfrm>
              <a:off x="4668838" y="3297238"/>
              <a:ext cx="247650" cy="7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33" name="isḷídè"/>
            <p:cNvSpPr/>
            <p:nvPr/>
          </p:nvSpPr>
          <p:spPr bwMode="auto">
            <a:xfrm>
              <a:off x="4951413" y="3297238"/>
              <a:ext cx="82550" cy="77788"/>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34" name="íŝ1íďè"/>
            <p:cNvSpPr/>
            <p:nvPr/>
          </p:nvSpPr>
          <p:spPr bwMode="auto">
            <a:xfrm>
              <a:off x="4951413" y="3297238"/>
              <a:ext cx="82550" cy="7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35" name="íSḻiḋê"/>
            <p:cNvSpPr/>
            <p:nvPr/>
          </p:nvSpPr>
          <p:spPr bwMode="auto">
            <a:xfrm>
              <a:off x="5033963" y="3297238"/>
              <a:ext cx="84138" cy="77788"/>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36" name="iṡlíḓê"/>
            <p:cNvSpPr/>
            <p:nvPr/>
          </p:nvSpPr>
          <p:spPr bwMode="auto">
            <a:xfrm>
              <a:off x="5033963" y="3297238"/>
              <a:ext cx="84138" cy="7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37" name="íşľiḓé"/>
            <p:cNvSpPr/>
            <p:nvPr/>
          </p:nvSpPr>
          <p:spPr bwMode="auto">
            <a:xfrm>
              <a:off x="5118101" y="3297238"/>
              <a:ext cx="249238" cy="77788"/>
            </a:xfrm>
            <a:custGeom>
              <a:avLst/>
              <a:gdLst>
                <a:gd name="T0" fmla="*/ 83 w 83"/>
                <a:gd name="T1" fmla="*/ 0 h 26"/>
                <a:gd name="T2" fmla="*/ 5 w 83"/>
                <a:gd name="T3" fmla="*/ 0 h 26"/>
                <a:gd name="T4" fmla="*/ 0 w 83"/>
                <a:gd name="T5" fmla="*/ 6 h 26"/>
                <a:gd name="T6" fmla="*/ 0 w 83"/>
                <a:gd name="T7" fmla="*/ 0 h 26"/>
                <a:gd name="T8" fmla="*/ 0 w 83"/>
                <a:gd name="T9" fmla="*/ 26 h 26"/>
                <a:gd name="T10" fmla="*/ 83 w 83"/>
                <a:gd name="T11" fmla="*/ 26 h 26"/>
                <a:gd name="T12" fmla="*/ 83 w 83"/>
                <a:gd name="T13" fmla="*/ 13 h 26"/>
                <a:gd name="T14" fmla="*/ 58 w 83"/>
                <a:gd name="T15" fmla="*/ 13 h 26"/>
                <a:gd name="T16" fmla="*/ 54 w 83"/>
                <a:gd name="T17" fmla="*/ 9 h 26"/>
                <a:gd name="T18" fmla="*/ 58 w 83"/>
                <a:gd name="T19" fmla="*/ 5 h 26"/>
                <a:gd name="T20" fmla="*/ 83 w 83"/>
                <a:gd name="T21" fmla="*/ 5 h 26"/>
                <a:gd name="T22" fmla="*/ 83 w 83"/>
                <a:gd name="T23"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26">
                  <a:moveTo>
                    <a:pt x="83" y="0"/>
                  </a:moveTo>
                  <a:cubicBezTo>
                    <a:pt x="5" y="0"/>
                    <a:pt x="5" y="0"/>
                    <a:pt x="5" y="0"/>
                  </a:cubicBezTo>
                  <a:cubicBezTo>
                    <a:pt x="0" y="6"/>
                    <a:pt x="0" y="6"/>
                    <a:pt x="0" y="6"/>
                  </a:cubicBezTo>
                  <a:cubicBezTo>
                    <a:pt x="0" y="0"/>
                    <a:pt x="0" y="0"/>
                    <a:pt x="0" y="0"/>
                  </a:cubicBezTo>
                  <a:cubicBezTo>
                    <a:pt x="0" y="26"/>
                    <a:pt x="0" y="26"/>
                    <a:pt x="0" y="26"/>
                  </a:cubicBezTo>
                  <a:cubicBezTo>
                    <a:pt x="83" y="26"/>
                    <a:pt x="83" y="26"/>
                    <a:pt x="83" y="26"/>
                  </a:cubicBezTo>
                  <a:cubicBezTo>
                    <a:pt x="83" y="13"/>
                    <a:pt x="83" y="13"/>
                    <a:pt x="83" y="13"/>
                  </a:cubicBezTo>
                  <a:cubicBezTo>
                    <a:pt x="58" y="13"/>
                    <a:pt x="58" y="13"/>
                    <a:pt x="58" y="13"/>
                  </a:cubicBezTo>
                  <a:cubicBezTo>
                    <a:pt x="56" y="13"/>
                    <a:pt x="54" y="11"/>
                    <a:pt x="54" y="9"/>
                  </a:cubicBezTo>
                  <a:cubicBezTo>
                    <a:pt x="54" y="7"/>
                    <a:pt x="56" y="5"/>
                    <a:pt x="58" y="5"/>
                  </a:cubicBezTo>
                  <a:cubicBezTo>
                    <a:pt x="83" y="5"/>
                    <a:pt x="83" y="5"/>
                    <a:pt x="83" y="5"/>
                  </a:cubicBezTo>
                  <a:cubicBezTo>
                    <a:pt x="83" y="0"/>
                    <a:pt x="83" y="0"/>
                    <a:pt x="83"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38" name="iṧliḓê"/>
            <p:cNvSpPr/>
            <p:nvPr/>
          </p:nvSpPr>
          <p:spPr bwMode="auto">
            <a:xfrm>
              <a:off x="5280026" y="3311526"/>
              <a:ext cx="87313" cy="23813"/>
            </a:xfrm>
            <a:custGeom>
              <a:avLst/>
              <a:gdLst>
                <a:gd name="T0" fmla="*/ 29 w 29"/>
                <a:gd name="T1" fmla="*/ 0 h 8"/>
                <a:gd name="T2" fmla="*/ 4 w 29"/>
                <a:gd name="T3" fmla="*/ 0 h 8"/>
                <a:gd name="T4" fmla="*/ 0 w 29"/>
                <a:gd name="T5" fmla="*/ 4 h 8"/>
                <a:gd name="T6" fmla="*/ 4 w 29"/>
                <a:gd name="T7" fmla="*/ 8 h 8"/>
                <a:gd name="T8" fmla="*/ 29 w 29"/>
                <a:gd name="T9" fmla="*/ 8 h 8"/>
                <a:gd name="T10" fmla="*/ 29 w 29"/>
                <a:gd name="T11" fmla="*/ 0 h 8"/>
              </a:gdLst>
              <a:ahLst/>
              <a:cxnLst>
                <a:cxn ang="0">
                  <a:pos x="T0" y="T1"/>
                </a:cxn>
                <a:cxn ang="0">
                  <a:pos x="T2" y="T3"/>
                </a:cxn>
                <a:cxn ang="0">
                  <a:pos x="T4" y="T5"/>
                </a:cxn>
                <a:cxn ang="0">
                  <a:pos x="T6" y="T7"/>
                </a:cxn>
                <a:cxn ang="0">
                  <a:pos x="T8" y="T9"/>
                </a:cxn>
                <a:cxn ang="0">
                  <a:pos x="T10" y="T11"/>
                </a:cxn>
              </a:cxnLst>
              <a:rect l="0" t="0" r="r" b="b"/>
              <a:pathLst>
                <a:path w="29" h="8">
                  <a:moveTo>
                    <a:pt x="29" y="0"/>
                  </a:moveTo>
                  <a:cubicBezTo>
                    <a:pt x="4" y="0"/>
                    <a:pt x="4" y="0"/>
                    <a:pt x="4" y="0"/>
                  </a:cubicBezTo>
                  <a:cubicBezTo>
                    <a:pt x="2" y="0"/>
                    <a:pt x="0" y="2"/>
                    <a:pt x="0" y="4"/>
                  </a:cubicBezTo>
                  <a:cubicBezTo>
                    <a:pt x="0" y="6"/>
                    <a:pt x="2" y="8"/>
                    <a:pt x="4" y="8"/>
                  </a:cubicBezTo>
                  <a:cubicBezTo>
                    <a:pt x="29" y="8"/>
                    <a:pt x="29" y="8"/>
                    <a:pt x="29" y="8"/>
                  </a:cubicBezTo>
                  <a:cubicBezTo>
                    <a:pt x="29" y="0"/>
                    <a:pt x="29" y="0"/>
                    <a:pt x="29" y="0"/>
                  </a:cubicBezTo>
                </a:path>
              </a:pathLst>
            </a:custGeom>
            <a:solidFill>
              <a:srgbClr val="9785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39" name="î$lïdé"/>
            <p:cNvSpPr/>
            <p:nvPr/>
          </p:nvSpPr>
          <p:spPr bwMode="auto">
            <a:xfrm>
              <a:off x="5118101" y="3297238"/>
              <a:ext cx="14288" cy="17463"/>
            </a:xfrm>
            <a:custGeom>
              <a:avLst/>
              <a:gdLst>
                <a:gd name="T0" fmla="*/ 9 w 9"/>
                <a:gd name="T1" fmla="*/ 0 h 11"/>
                <a:gd name="T2" fmla="*/ 0 w 9"/>
                <a:gd name="T3" fmla="*/ 0 h 11"/>
                <a:gd name="T4" fmla="*/ 0 w 9"/>
                <a:gd name="T5" fmla="*/ 11 h 11"/>
                <a:gd name="T6" fmla="*/ 9 w 9"/>
                <a:gd name="T7" fmla="*/ 0 h 11"/>
              </a:gdLst>
              <a:ahLst/>
              <a:cxnLst>
                <a:cxn ang="0">
                  <a:pos x="T0" y="T1"/>
                </a:cxn>
                <a:cxn ang="0">
                  <a:pos x="T2" y="T3"/>
                </a:cxn>
                <a:cxn ang="0">
                  <a:pos x="T4" y="T5"/>
                </a:cxn>
                <a:cxn ang="0">
                  <a:pos x="T6" y="T7"/>
                </a:cxn>
              </a:cxnLst>
              <a:rect l="0" t="0" r="r" b="b"/>
              <a:pathLst>
                <a:path w="9" h="11">
                  <a:moveTo>
                    <a:pt x="9" y="0"/>
                  </a:moveTo>
                  <a:lnTo>
                    <a:pt x="0" y="0"/>
                  </a:lnTo>
                  <a:lnTo>
                    <a:pt x="0" y="11"/>
                  </a:lnTo>
                  <a:lnTo>
                    <a:pt x="9" y="0"/>
                  </a:lnTo>
                  <a:close/>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40" name="ïş1îḓé"/>
            <p:cNvSpPr/>
            <p:nvPr/>
          </p:nvSpPr>
          <p:spPr bwMode="auto">
            <a:xfrm>
              <a:off x="5118101" y="3297238"/>
              <a:ext cx="14288" cy="17463"/>
            </a:xfrm>
            <a:custGeom>
              <a:avLst/>
              <a:gdLst>
                <a:gd name="T0" fmla="*/ 9 w 9"/>
                <a:gd name="T1" fmla="*/ 0 h 11"/>
                <a:gd name="T2" fmla="*/ 0 w 9"/>
                <a:gd name="T3" fmla="*/ 0 h 11"/>
                <a:gd name="T4" fmla="*/ 0 w 9"/>
                <a:gd name="T5" fmla="*/ 11 h 11"/>
                <a:gd name="T6" fmla="*/ 9 w 9"/>
                <a:gd name="T7" fmla="*/ 0 h 11"/>
              </a:gdLst>
              <a:ahLst/>
              <a:cxnLst>
                <a:cxn ang="0">
                  <a:pos x="T0" y="T1"/>
                </a:cxn>
                <a:cxn ang="0">
                  <a:pos x="T2" y="T3"/>
                </a:cxn>
                <a:cxn ang="0">
                  <a:pos x="T4" y="T5"/>
                </a:cxn>
                <a:cxn ang="0">
                  <a:pos x="T6" y="T7"/>
                </a:cxn>
              </a:cxnLst>
              <a:rect l="0" t="0" r="r" b="b"/>
              <a:pathLst>
                <a:path w="9" h="11">
                  <a:moveTo>
                    <a:pt x="9" y="0"/>
                  </a:moveTo>
                  <a:lnTo>
                    <a:pt x="0" y="0"/>
                  </a:lnTo>
                  <a:lnTo>
                    <a:pt x="0" y="11"/>
                  </a:lnTo>
                  <a:lnTo>
                    <a:pt x="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41" name="iṡḻiḑé"/>
            <p:cNvSpPr/>
            <p:nvPr/>
          </p:nvSpPr>
          <p:spPr bwMode="auto">
            <a:xfrm>
              <a:off x="4551363" y="2833688"/>
              <a:ext cx="482600" cy="128588"/>
            </a:xfrm>
            <a:custGeom>
              <a:avLst/>
              <a:gdLst>
                <a:gd name="T0" fmla="*/ 9 w 160"/>
                <a:gd name="T1" fmla="*/ 21 h 43"/>
                <a:gd name="T2" fmla="*/ 9 w 160"/>
                <a:gd name="T3" fmla="*/ 21 h 43"/>
                <a:gd name="T4" fmla="*/ 18 w 160"/>
                <a:gd name="T5" fmla="*/ 12 h 43"/>
                <a:gd name="T6" fmla="*/ 27 w 160"/>
                <a:gd name="T7" fmla="*/ 21 h 43"/>
                <a:gd name="T8" fmla="*/ 27 w 160"/>
                <a:gd name="T9" fmla="*/ 21 h 43"/>
                <a:gd name="T10" fmla="*/ 27 w 160"/>
                <a:gd name="T11" fmla="*/ 21 h 43"/>
                <a:gd name="T12" fmla="*/ 18 w 160"/>
                <a:gd name="T13" fmla="*/ 30 h 43"/>
                <a:gd name="T14" fmla="*/ 9 w 160"/>
                <a:gd name="T15" fmla="*/ 21 h 43"/>
                <a:gd name="T16" fmla="*/ 9 w 160"/>
                <a:gd name="T17" fmla="*/ 21 h 43"/>
                <a:gd name="T18" fmla="*/ 39 w 160"/>
                <a:gd name="T19" fmla="*/ 30 h 43"/>
                <a:gd name="T20" fmla="*/ 30 w 160"/>
                <a:gd name="T21" fmla="*/ 21 h 43"/>
                <a:gd name="T22" fmla="*/ 39 w 160"/>
                <a:gd name="T23" fmla="*/ 12 h 43"/>
                <a:gd name="T24" fmla="*/ 48 w 160"/>
                <a:gd name="T25" fmla="*/ 21 h 43"/>
                <a:gd name="T26" fmla="*/ 39 w 160"/>
                <a:gd name="T27" fmla="*/ 30 h 43"/>
                <a:gd name="T28" fmla="*/ 60 w 160"/>
                <a:gd name="T29" fmla="*/ 30 h 43"/>
                <a:gd name="T30" fmla="*/ 51 w 160"/>
                <a:gd name="T31" fmla="*/ 21 h 43"/>
                <a:gd name="T32" fmla="*/ 60 w 160"/>
                <a:gd name="T33" fmla="*/ 12 h 43"/>
                <a:gd name="T34" fmla="*/ 69 w 160"/>
                <a:gd name="T35" fmla="*/ 21 h 43"/>
                <a:gd name="T36" fmla="*/ 60 w 160"/>
                <a:gd name="T37" fmla="*/ 30 h 43"/>
                <a:gd name="T38" fmla="*/ 160 w 160"/>
                <a:gd name="T39" fmla="*/ 0 h 43"/>
                <a:gd name="T40" fmla="*/ 0 w 160"/>
                <a:gd name="T41" fmla="*/ 0 h 43"/>
                <a:gd name="T42" fmla="*/ 0 w 160"/>
                <a:gd name="T43" fmla="*/ 43 h 43"/>
                <a:gd name="T44" fmla="*/ 160 w 160"/>
                <a:gd name="T45" fmla="*/ 43 h 43"/>
                <a:gd name="T46" fmla="*/ 0 w 160"/>
                <a:gd name="T47" fmla="*/ 43 h 43"/>
                <a:gd name="T48" fmla="*/ 0 w 160"/>
                <a:gd name="T49" fmla="*/ 43 h 43"/>
                <a:gd name="T50" fmla="*/ 160 w 160"/>
                <a:gd name="T51" fmla="*/ 43 h 43"/>
                <a:gd name="T52" fmla="*/ 160 w 160"/>
                <a:gd name="T5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0" h="43">
                  <a:moveTo>
                    <a:pt x="9" y="21"/>
                  </a:moveTo>
                  <a:cubicBezTo>
                    <a:pt x="9" y="21"/>
                    <a:pt x="9" y="21"/>
                    <a:pt x="9" y="21"/>
                  </a:cubicBezTo>
                  <a:cubicBezTo>
                    <a:pt x="9" y="16"/>
                    <a:pt x="13" y="12"/>
                    <a:pt x="18" y="12"/>
                  </a:cubicBezTo>
                  <a:cubicBezTo>
                    <a:pt x="23" y="12"/>
                    <a:pt x="27" y="16"/>
                    <a:pt x="27" y="21"/>
                  </a:cubicBezTo>
                  <a:cubicBezTo>
                    <a:pt x="27" y="21"/>
                    <a:pt x="27" y="21"/>
                    <a:pt x="27" y="21"/>
                  </a:cubicBezTo>
                  <a:cubicBezTo>
                    <a:pt x="27" y="21"/>
                    <a:pt x="27" y="21"/>
                    <a:pt x="27" y="21"/>
                  </a:cubicBezTo>
                  <a:cubicBezTo>
                    <a:pt x="27" y="26"/>
                    <a:pt x="23" y="30"/>
                    <a:pt x="18" y="30"/>
                  </a:cubicBezTo>
                  <a:cubicBezTo>
                    <a:pt x="13" y="30"/>
                    <a:pt x="9" y="26"/>
                    <a:pt x="9" y="21"/>
                  </a:cubicBezTo>
                  <a:cubicBezTo>
                    <a:pt x="9" y="21"/>
                    <a:pt x="9" y="21"/>
                    <a:pt x="9" y="21"/>
                  </a:cubicBezTo>
                  <a:moveTo>
                    <a:pt x="39" y="30"/>
                  </a:moveTo>
                  <a:cubicBezTo>
                    <a:pt x="34" y="30"/>
                    <a:pt x="30" y="26"/>
                    <a:pt x="30" y="21"/>
                  </a:cubicBezTo>
                  <a:cubicBezTo>
                    <a:pt x="30" y="16"/>
                    <a:pt x="34" y="12"/>
                    <a:pt x="39" y="12"/>
                  </a:cubicBezTo>
                  <a:cubicBezTo>
                    <a:pt x="44" y="12"/>
                    <a:pt x="48" y="16"/>
                    <a:pt x="48" y="21"/>
                  </a:cubicBezTo>
                  <a:cubicBezTo>
                    <a:pt x="48" y="26"/>
                    <a:pt x="44" y="30"/>
                    <a:pt x="39" y="30"/>
                  </a:cubicBezTo>
                  <a:moveTo>
                    <a:pt x="60" y="30"/>
                  </a:moveTo>
                  <a:cubicBezTo>
                    <a:pt x="55" y="30"/>
                    <a:pt x="51" y="26"/>
                    <a:pt x="51" y="21"/>
                  </a:cubicBezTo>
                  <a:cubicBezTo>
                    <a:pt x="51" y="16"/>
                    <a:pt x="55" y="12"/>
                    <a:pt x="60" y="12"/>
                  </a:cubicBezTo>
                  <a:cubicBezTo>
                    <a:pt x="65" y="12"/>
                    <a:pt x="69" y="16"/>
                    <a:pt x="69" y="21"/>
                  </a:cubicBezTo>
                  <a:cubicBezTo>
                    <a:pt x="69" y="26"/>
                    <a:pt x="65" y="30"/>
                    <a:pt x="60" y="30"/>
                  </a:cubicBezTo>
                  <a:moveTo>
                    <a:pt x="160" y="0"/>
                  </a:moveTo>
                  <a:cubicBezTo>
                    <a:pt x="0" y="0"/>
                    <a:pt x="0" y="0"/>
                    <a:pt x="0" y="0"/>
                  </a:cubicBezTo>
                  <a:cubicBezTo>
                    <a:pt x="0" y="43"/>
                    <a:pt x="0" y="43"/>
                    <a:pt x="0" y="43"/>
                  </a:cubicBezTo>
                  <a:cubicBezTo>
                    <a:pt x="160" y="43"/>
                    <a:pt x="160" y="43"/>
                    <a:pt x="160" y="43"/>
                  </a:cubicBezTo>
                  <a:cubicBezTo>
                    <a:pt x="0" y="43"/>
                    <a:pt x="0" y="43"/>
                    <a:pt x="0" y="43"/>
                  </a:cubicBezTo>
                  <a:cubicBezTo>
                    <a:pt x="0" y="43"/>
                    <a:pt x="0" y="43"/>
                    <a:pt x="0" y="43"/>
                  </a:cubicBezTo>
                  <a:cubicBezTo>
                    <a:pt x="160" y="43"/>
                    <a:pt x="160" y="43"/>
                    <a:pt x="160" y="43"/>
                  </a:cubicBezTo>
                  <a:cubicBezTo>
                    <a:pt x="160" y="0"/>
                    <a:pt x="160" y="0"/>
                    <a:pt x="160"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42" name="ïṧľïďe"/>
            <p:cNvSpPr/>
            <p:nvPr/>
          </p:nvSpPr>
          <p:spPr bwMode="auto">
            <a:xfrm>
              <a:off x="5033963" y="2833688"/>
              <a:ext cx="84138" cy="128588"/>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43" name="i$ḻîḍe"/>
            <p:cNvSpPr/>
            <p:nvPr/>
          </p:nvSpPr>
          <p:spPr bwMode="auto">
            <a:xfrm>
              <a:off x="5033963" y="2833688"/>
              <a:ext cx="84138" cy="12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44" name="i$lïḍê"/>
            <p:cNvSpPr/>
            <p:nvPr/>
          </p:nvSpPr>
          <p:spPr bwMode="auto">
            <a:xfrm>
              <a:off x="5118101" y="2833688"/>
              <a:ext cx="0" cy="128588"/>
            </a:xfrm>
            <a:custGeom>
              <a:avLst/>
              <a:gdLst>
                <a:gd name="T0" fmla="*/ 0 h 81"/>
                <a:gd name="T1" fmla="*/ 0 h 81"/>
                <a:gd name="T2" fmla="*/ 81 h 81"/>
                <a:gd name="T3" fmla="*/ 2 h 81"/>
                <a:gd name="T4" fmla="*/ 0 h 81"/>
              </a:gdLst>
              <a:ahLst/>
              <a:cxnLst>
                <a:cxn ang="0">
                  <a:pos x="0" y="T0"/>
                </a:cxn>
                <a:cxn ang="0">
                  <a:pos x="0" y="T1"/>
                </a:cxn>
                <a:cxn ang="0">
                  <a:pos x="0" y="T2"/>
                </a:cxn>
                <a:cxn ang="0">
                  <a:pos x="0" y="T3"/>
                </a:cxn>
                <a:cxn ang="0">
                  <a:pos x="0" y="T4"/>
                </a:cxn>
              </a:cxnLst>
              <a:rect l="0" t="0" r="r" b="b"/>
              <a:pathLst>
                <a:path h="81">
                  <a:moveTo>
                    <a:pt x="0" y="0"/>
                  </a:moveTo>
                  <a:lnTo>
                    <a:pt x="0" y="0"/>
                  </a:lnTo>
                  <a:lnTo>
                    <a:pt x="0" y="81"/>
                  </a:lnTo>
                  <a:lnTo>
                    <a:pt x="0" y="2"/>
                  </a:lnTo>
                  <a:lnTo>
                    <a:pt x="0" y="0"/>
                  </a:lnTo>
                  <a:close/>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45" name="îślîḑê"/>
            <p:cNvSpPr/>
            <p:nvPr/>
          </p:nvSpPr>
          <p:spPr bwMode="auto">
            <a:xfrm>
              <a:off x="5118101" y="2833688"/>
              <a:ext cx="0" cy="128588"/>
            </a:xfrm>
            <a:custGeom>
              <a:avLst/>
              <a:gdLst>
                <a:gd name="T0" fmla="*/ 0 h 81"/>
                <a:gd name="T1" fmla="*/ 0 h 81"/>
                <a:gd name="T2" fmla="*/ 81 h 81"/>
                <a:gd name="T3" fmla="*/ 2 h 81"/>
                <a:gd name="T4" fmla="*/ 0 h 81"/>
              </a:gdLst>
              <a:ahLst/>
              <a:cxnLst>
                <a:cxn ang="0">
                  <a:pos x="0" y="T0"/>
                </a:cxn>
                <a:cxn ang="0">
                  <a:pos x="0" y="T1"/>
                </a:cxn>
                <a:cxn ang="0">
                  <a:pos x="0" y="T2"/>
                </a:cxn>
                <a:cxn ang="0">
                  <a:pos x="0" y="T3"/>
                </a:cxn>
                <a:cxn ang="0">
                  <a:pos x="0" y="T4"/>
                </a:cxn>
              </a:cxnLst>
              <a:rect l="0" t="0" r="r" b="b"/>
              <a:pathLst>
                <a:path h="81">
                  <a:moveTo>
                    <a:pt x="0" y="0"/>
                  </a:moveTo>
                  <a:lnTo>
                    <a:pt x="0" y="0"/>
                  </a:lnTo>
                  <a:lnTo>
                    <a:pt x="0" y="81"/>
                  </a:lnTo>
                  <a:lnTo>
                    <a:pt x="0"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46" name="ïšlïdè"/>
            <p:cNvSpPr/>
            <p:nvPr/>
          </p:nvSpPr>
          <p:spPr bwMode="auto">
            <a:xfrm>
              <a:off x="5118101" y="2833688"/>
              <a:ext cx="285750" cy="128588"/>
            </a:xfrm>
            <a:custGeom>
              <a:avLst/>
              <a:gdLst>
                <a:gd name="T0" fmla="*/ 28 w 95"/>
                <a:gd name="T1" fmla="*/ 9 h 43"/>
                <a:gd name="T2" fmla="*/ 25 w 95"/>
                <a:gd name="T3" fmla="*/ 6 h 43"/>
                <a:gd name="T4" fmla="*/ 28 w 95"/>
                <a:gd name="T5" fmla="*/ 3 h 43"/>
                <a:gd name="T6" fmla="*/ 58 w 95"/>
                <a:gd name="T7" fmla="*/ 3 h 43"/>
                <a:gd name="T8" fmla="*/ 61 w 95"/>
                <a:gd name="T9" fmla="*/ 6 h 43"/>
                <a:gd name="T10" fmla="*/ 58 w 95"/>
                <a:gd name="T11" fmla="*/ 9 h 43"/>
                <a:gd name="T12" fmla="*/ 28 w 95"/>
                <a:gd name="T13" fmla="*/ 9 h 43"/>
                <a:gd name="T14" fmla="*/ 95 w 95"/>
                <a:gd name="T15" fmla="*/ 0 h 43"/>
                <a:gd name="T16" fmla="*/ 0 w 95"/>
                <a:gd name="T17" fmla="*/ 0 h 43"/>
                <a:gd name="T18" fmla="*/ 0 w 95"/>
                <a:gd name="T19" fmla="*/ 1 h 43"/>
                <a:gd name="T20" fmla="*/ 0 w 95"/>
                <a:gd name="T21" fmla="*/ 43 h 43"/>
                <a:gd name="T22" fmla="*/ 95 w 95"/>
                <a:gd name="T23" fmla="*/ 43 h 43"/>
                <a:gd name="T24" fmla="*/ 95 w 95"/>
                <a:gd name="T25" fmla="*/ 32 h 43"/>
                <a:gd name="T26" fmla="*/ 28 w 95"/>
                <a:gd name="T27" fmla="*/ 32 h 43"/>
                <a:gd name="T28" fmla="*/ 25 w 95"/>
                <a:gd name="T29" fmla="*/ 29 h 43"/>
                <a:gd name="T30" fmla="*/ 28 w 95"/>
                <a:gd name="T31" fmla="*/ 27 h 43"/>
                <a:gd name="T32" fmla="*/ 95 w 95"/>
                <a:gd name="T33" fmla="*/ 27 h 43"/>
                <a:gd name="T34" fmla="*/ 95 w 95"/>
                <a:gd name="T35" fmla="*/ 9 h 43"/>
                <a:gd name="T36" fmla="*/ 80 w 95"/>
                <a:gd name="T37" fmla="*/ 9 h 43"/>
                <a:gd name="T38" fmla="*/ 77 w 95"/>
                <a:gd name="T39" fmla="*/ 6 h 43"/>
                <a:gd name="T40" fmla="*/ 80 w 95"/>
                <a:gd name="T41" fmla="*/ 3 h 43"/>
                <a:gd name="T42" fmla="*/ 95 w 95"/>
                <a:gd name="T43" fmla="*/ 3 h 43"/>
                <a:gd name="T44" fmla="*/ 95 w 95"/>
                <a:gd name="T45"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43">
                  <a:moveTo>
                    <a:pt x="28" y="9"/>
                  </a:moveTo>
                  <a:cubicBezTo>
                    <a:pt x="27" y="9"/>
                    <a:pt x="25" y="7"/>
                    <a:pt x="25" y="6"/>
                  </a:cubicBezTo>
                  <a:cubicBezTo>
                    <a:pt x="25" y="4"/>
                    <a:pt x="27" y="3"/>
                    <a:pt x="28" y="3"/>
                  </a:cubicBezTo>
                  <a:cubicBezTo>
                    <a:pt x="58" y="3"/>
                    <a:pt x="58" y="3"/>
                    <a:pt x="58" y="3"/>
                  </a:cubicBezTo>
                  <a:cubicBezTo>
                    <a:pt x="59" y="3"/>
                    <a:pt x="61" y="4"/>
                    <a:pt x="61" y="6"/>
                  </a:cubicBezTo>
                  <a:cubicBezTo>
                    <a:pt x="61" y="7"/>
                    <a:pt x="59" y="9"/>
                    <a:pt x="58" y="9"/>
                  </a:cubicBezTo>
                  <a:cubicBezTo>
                    <a:pt x="28" y="9"/>
                    <a:pt x="28" y="9"/>
                    <a:pt x="28" y="9"/>
                  </a:cubicBezTo>
                  <a:moveTo>
                    <a:pt x="95" y="0"/>
                  </a:moveTo>
                  <a:cubicBezTo>
                    <a:pt x="0" y="0"/>
                    <a:pt x="0" y="0"/>
                    <a:pt x="0" y="0"/>
                  </a:cubicBezTo>
                  <a:cubicBezTo>
                    <a:pt x="0" y="1"/>
                    <a:pt x="0" y="1"/>
                    <a:pt x="0" y="1"/>
                  </a:cubicBezTo>
                  <a:cubicBezTo>
                    <a:pt x="0" y="43"/>
                    <a:pt x="0" y="43"/>
                    <a:pt x="0" y="43"/>
                  </a:cubicBezTo>
                  <a:cubicBezTo>
                    <a:pt x="95" y="43"/>
                    <a:pt x="95" y="43"/>
                    <a:pt x="95" y="43"/>
                  </a:cubicBezTo>
                  <a:cubicBezTo>
                    <a:pt x="95" y="32"/>
                    <a:pt x="95" y="32"/>
                    <a:pt x="95" y="32"/>
                  </a:cubicBezTo>
                  <a:cubicBezTo>
                    <a:pt x="28" y="32"/>
                    <a:pt x="28" y="32"/>
                    <a:pt x="28" y="32"/>
                  </a:cubicBezTo>
                  <a:cubicBezTo>
                    <a:pt x="27" y="32"/>
                    <a:pt x="25" y="31"/>
                    <a:pt x="25" y="29"/>
                  </a:cubicBezTo>
                  <a:cubicBezTo>
                    <a:pt x="25" y="28"/>
                    <a:pt x="27" y="27"/>
                    <a:pt x="28" y="27"/>
                  </a:cubicBezTo>
                  <a:cubicBezTo>
                    <a:pt x="95" y="27"/>
                    <a:pt x="95" y="27"/>
                    <a:pt x="95" y="27"/>
                  </a:cubicBezTo>
                  <a:cubicBezTo>
                    <a:pt x="95" y="9"/>
                    <a:pt x="95" y="9"/>
                    <a:pt x="95" y="9"/>
                  </a:cubicBezTo>
                  <a:cubicBezTo>
                    <a:pt x="80" y="9"/>
                    <a:pt x="80" y="9"/>
                    <a:pt x="80" y="9"/>
                  </a:cubicBezTo>
                  <a:cubicBezTo>
                    <a:pt x="78" y="9"/>
                    <a:pt x="77" y="7"/>
                    <a:pt x="77" y="6"/>
                  </a:cubicBezTo>
                  <a:cubicBezTo>
                    <a:pt x="77" y="4"/>
                    <a:pt x="78" y="3"/>
                    <a:pt x="80" y="3"/>
                  </a:cubicBezTo>
                  <a:cubicBezTo>
                    <a:pt x="95" y="3"/>
                    <a:pt x="95" y="3"/>
                    <a:pt x="95" y="3"/>
                  </a:cubicBezTo>
                  <a:cubicBezTo>
                    <a:pt x="95" y="0"/>
                    <a:pt x="95" y="0"/>
                    <a:pt x="95" y="0"/>
                  </a:cubicBezTo>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47" name="îşlîḋe"/>
            <p:cNvSpPr/>
            <p:nvPr/>
          </p:nvSpPr>
          <p:spPr bwMode="auto">
            <a:xfrm>
              <a:off x="5192713" y="2841626"/>
              <a:ext cx="109538" cy="19050"/>
            </a:xfrm>
            <a:custGeom>
              <a:avLst/>
              <a:gdLst>
                <a:gd name="T0" fmla="*/ 33 w 36"/>
                <a:gd name="T1" fmla="*/ 0 h 6"/>
                <a:gd name="T2" fmla="*/ 3 w 36"/>
                <a:gd name="T3" fmla="*/ 0 h 6"/>
                <a:gd name="T4" fmla="*/ 0 w 36"/>
                <a:gd name="T5" fmla="*/ 3 h 6"/>
                <a:gd name="T6" fmla="*/ 3 w 36"/>
                <a:gd name="T7" fmla="*/ 6 h 6"/>
                <a:gd name="T8" fmla="*/ 33 w 36"/>
                <a:gd name="T9" fmla="*/ 6 h 6"/>
                <a:gd name="T10" fmla="*/ 36 w 36"/>
                <a:gd name="T11" fmla="*/ 3 h 6"/>
                <a:gd name="T12" fmla="*/ 33 w 36"/>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36" h="6">
                  <a:moveTo>
                    <a:pt x="33" y="0"/>
                  </a:moveTo>
                  <a:cubicBezTo>
                    <a:pt x="3" y="0"/>
                    <a:pt x="3" y="0"/>
                    <a:pt x="3" y="0"/>
                  </a:cubicBezTo>
                  <a:cubicBezTo>
                    <a:pt x="2" y="0"/>
                    <a:pt x="0" y="1"/>
                    <a:pt x="0" y="3"/>
                  </a:cubicBezTo>
                  <a:cubicBezTo>
                    <a:pt x="0" y="4"/>
                    <a:pt x="2" y="6"/>
                    <a:pt x="3" y="6"/>
                  </a:cubicBezTo>
                  <a:cubicBezTo>
                    <a:pt x="33" y="6"/>
                    <a:pt x="33" y="6"/>
                    <a:pt x="33" y="6"/>
                  </a:cubicBezTo>
                  <a:cubicBezTo>
                    <a:pt x="34" y="6"/>
                    <a:pt x="36" y="4"/>
                    <a:pt x="36" y="3"/>
                  </a:cubicBezTo>
                  <a:cubicBezTo>
                    <a:pt x="36" y="1"/>
                    <a:pt x="34" y="0"/>
                    <a:pt x="33" y="0"/>
                  </a:cubicBezTo>
                </a:path>
              </a:pathLst>
            </a:custGeom>
            <a:solidFill>
              <a:srgbClr val="79E5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48" name="îṧľiḓê"/>
            <p:cNvSpPr/>
            <p:nvPr/>
          </p:nvSpPr>
          <p:spPr bwMode="auto">
            <a:xfrm>
              <a:off x="5349876" y="2841626"/>
              <a:ext cx="53975" cy="19050"/>
            </a:xfrm>
            <a:custGeom>
              <a:avLst/>
              <a:gdLst>
                <a:gd name="T0" fmla="*/ 18 w 18"/>
                <a:gd name="T1" fmla="*/ 0 h 6"/>
                <a:gd name="T2" fmla="*/ 3 w 18"/>
                <a:gd name="T3" fmla="*/ 0 h 6"/>
                <a:gd name="T4" fmla="*/ 0 w 18"/>
                <a:gd name="T5" fmla="*/ 3 h 6"/>
                <a:gd name="T6" fmla="*/ 3 w 18"/>
                <a:gd name="T7" fmla="*/ 6 h 6"/>
                <a:gd name="T8" fmla="*/ 18 w 18"/>
                <a:gd name="T9" fmla="*/ 6 h 6"/>
                <a:gd name="T10" fmla="*/ 18 w 18"/>
                <a:gd name="T11" fmla="*/ 0 h 6"/>
              </a:gdLst>
              <a:ahLst/>
              <a:cxnLst>
                <a:cxn ang="0">
                  <a:pos x="T0" y="T1"/>
                </a:cxn>
                <a:cxn ang="0">
                  <a:pos x="T2" y="T3"/>
                </a:cxn>
                <a:cxn ang="0">
                  <a:pos x="T4" y="T5"/>
                </a:cxn>
                <a:cxn ang="0">
                  <a:pos x="T6" y="T7"/>
                </a:cxn>
                <a:cxn ang="0">
                  <a:pos x="T8" y="T9"/>
                </a:cxn>
                <a:cxn ang="0">
                  <a:pos x="T10" y="T11"/>
                </a:cxn>
              </a:cxnLst>
              <a:rect l="0" t="0" r="r" b="b"/>
              <a:pathLst>
                <a:path w="18" h="6">
                  <a:moveTo>
                    <a:pt x="18" y="0"/>
                  </a:moveTo>
                  <a:cubicBezTo>
                    <a:pt x="3" y="0"/>
                    <a:pt x="3" y="0"/>
                    <a:pt x="3" y="0"/>
                  </a:cubicBezTo>
                  <a:cubicBezTo>
                    <a:pt x="1" y="0"/>
                    <a:pt x="0" y="1"/>
                    <a:pt x="0" y="3"/>
                  </a:cubicBezTo>
                  <a:cubicBezTo>
                    <a:pt x="0" y="4"/>
                    <a:pt x="1" y="6"/>
                    <a:pt x="3" y="6"/>
                  </a:cubicBezTo>
                  <a:cubicBezTo>
                    <a:pt x="18" y="6"/>
                    <a:pt x="18" y="6"/>
                    <a:pt x="18" y="6"/>
                  </a:cubicBezTo>
                  <a:cubicBezTo>
                    <a:pt x="18" y="0"/>
                    <a:pt x="18" y="0"/>
                    <a:pt x="18" y="0"/>
                  </a:cubicBezTo>
                </a:path>
              </a:pathLst>
            </a:custGeom>
            <a:solidFill>
              <a:srgbClr val="79E5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49" name="î$ļïḍé"/>
            <p:cNvSpPr/>
            <p:nvPr/>
          </p:nvSpPr>
          <p:spPr bwMode="auto">
            <a:xfrm>
              <a:off x="5192713" y="2914651"/>
              <a:ext cx="211138" cy="14288"/>
            </a:xfrm>
            <a:custGeom>
              <a:avLst/>
              <a:gdLst>
                <a:gd name="T0" fmla="*/ 70 w 70"/>
                <a:gd name="T1" fmla="*/ 0 h 5"/>
                <a:gd name="T2" fmla="*/ 3 w 70"/>
                <a:gd name="T3" fmla="*/ 0 h 5"/>
                <a:gd name="T4" fmla="*/ 0 w 70"/>
                <a:gd name="T5" fmla="*/ 2 h 5"/>
                <a:gd name="T6" fmla="*/ 3 w 70"/>
                <a:gd name="T7" fmla="*/ 5 h 5"/>
                <a:gd name="T8" fmla="*/ 70 w 70"/>
                <a:gd name="T9" fmla="*/ 5 h 5"/>
                <a:gd name="T10" fmla="*/ 70 w 70"/>
                <a:gd name="T11" fmla="*/ 0 h 5"/>
              </a:gdLst>
              <a:ahLst/>
              <a:cxnLst>
                <a:cxn ang="0">
                  <a:pos x="T0" y="T1"/>
                </a:cxn>
                <a:cxn ang="0">
                  <a:pos x="T2" y="T3"/>
                </a:cxn>
                <a:cxn ang="0">
                  <a:pos x="T4" y="T5"/>
                </a:cxn>
                <a:cxn ang="0">
                  <a:pos x="T6" y="T7"/>
                </a:cxn>
                <a:cxn ang="0">
                  <a:pos x="T8" y="T9"/>
                </a:cxn>
                <a:cxn ang="0">
                  <a:pos x="T10" y="T11"/>
                </a:cxn>
              </a:cxnLst>
              <a:rect l="0" t="0" r="r" b="b"/>
              <a:pathLst>
                <a:path w="70" h="5">
                  <a:moveTo>
                    <a:pt x="70" y="0"/>
                  </a:moveTo>
                  <a:cubicBezTo>
                    <a:pt x="3" y="0"/>
                    <a:pt x="3" y="0"/>
                    <a:pt x="3" y="0"/>
                  </a:cubicBezTo>
                  <a:cubicBezTo>
                    <a:pt x="2" y="0"/>
                    <a:pt x="0" y="1"/>
                    <a:pt x="0" y="2"/>
                  </a:cubicBezTo>
                  <a:cubicBezTo>
                    <a:pt x="0" y="4"/>
                    <a:pt x="2" y="5"/>
                    <a:pt x="3" y="5"/>
                  </a:cubicBezTo>
                  <a:cubicBezTo>
                    <a:pt x="70" y="5"/>
                    <a:pt x="70" y="5"/>
                    <a:pt x="70" y="5"/>
                  </a:cubicBezTo>
                  <a:cubicBezTo>
                    <a:pt x="70" y="0"/>
                    <a:pt x="70" y="0"/>
                    <a:pt x="70" y="0"/>
                  </a:cubicBezTo>
                </a:path>
              </a:pathLst>
            </a:custGeom>
            <a:solidFill>
              <a:srgbClr val="79E5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50" name="í$1iḍè"/>
            <p:cNvSpPr/>
            <p:nvPr/>
          </p:nvSpPr>
          <p:spPr bwMode="auto">
            <a:xfrm>
              <a:off x="4602163" y="2924176"/>
              <a:ext cx="6350" cy="0"/>
            </a:xfrm>
            <a:custGeom>
              <a:avLst/>
              <a:gdLst>
                <a:gd name="T0" fmla="*/ 1 w 2"/>
                <a:gd name="T1" fmla="*/ 1 w 2"/>
                <a:gd name="T2" fmla="*/ 1 w 2"/>
                <a:gd name="T3" fmla="*/ 1 w 2"/>
                <a:gd name="T4" fmla="*/ 1 w 2"/>
                <a:gd name="T5" fmla="*/ 1 w 2"/>
                <a:gd name="T6" fmla="*/ 1 w 2"/>
                <a:gd name="T7" fmla="*/ 1 w 2"/>
                <a:gd name="T8" fmla="*/ 1 w 2"/>
                <a:gd name="T9" fmla="*/ 1 w 2"/>
                <a:gd name="T10" fmla="*/ 1 w 2"/>
                <a:gd name="T11" fmla="*/ 1 w 2"/>
                <a:gd name="T12" fmla="*/ 0 w 2"/>
                <a:gd name="T13" fmla="*/ 1 w 2"/>
                <a:gd name="T14" fmla="*/ 1 w 2"/>
                <a:gd name="T15" fmla="*/ 1 w 2"/>
                <a:gd name="T16" fmla="*/ 0 w 2"/>
                <a:gd name="T17" fmla="*/ 0 w 2"/>
                <a:gd name="T18" fmla="*/ 0 w 2"/>
                <a:gd name="T19" fmla="*/ 1 w 2"/>
                <a:gd name="T20" fmla="*/ 1 w 2"/>
                <a:gd name="T21" fmla="*/ 0 w 2"/>
                <a:gd name="T22" fmla="*/ 1 w 2"/>
                <a:gd name="T23" fmla="*/ 1 w 2"/>
                <a:gd name="T24" fmla="*/ 0 w 2"/>
                <a:gd name="T25" fmla="*/ 1 w 2"/>
                <a:gd name="T26" fmla="*/ 1 w 2"/>
                <a:gd name="T27" fmla="*/ 2 w 2"/>
                <a:gd name="T28" fmla="*/ 0 w 2"/>
                <a:gd name="T29" fmla="*/ 0 w 2"/>
                <a:gd name="T30" fmla="*/ 2 w 2"/>
                <a:gd name="T31" fmla="*/ 0 w 2"/>
                <a:gd name="T32" fmla="*/ 0 w 2"/>
                <a:gd name="T33" fmla="*/ 2 w 2"/>
                <a:gd name="T34" fmla="*/ 0 w 2"/>
                <a:gd name="T35" fmla="*/ 0 w 2"/>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 ang="0">
                  <a:pos x="T14" y="0"/>
                </a:cxn>
                <a:cxn ang="0">
                  <a:pos x="T15" y="0"/>
                </a:cxn>
                <a:cxn ang="0">
                  <a:pos x="T16" y="0"/>
                </a:cxn>
                <a:cxn ang="0">
                  <a:pos x="T17" y="0"/>
                </a:cxn>
                <a:cxn ang="0">
                  <a:pos x="T18" y="0"/>
                </a:cxn>
                <a:cxn ang="0">
                  <a:pos x="T19" y="0"/>
                </a:cxn>
                <a:cxn ang="0">
                  <a:pos x="T20" y="0"/>
                </a:cxn>
                <a:cxn ang="0">
                  <a:pos x="T21" y="0"/>
                </a:cxn>
                <a:cxn ang="0">
                  <a:pos x="T22" y="0"/>
                </a:cxn>
                <a:cxn ang="0">
                  <a:pos x="T23" y="0"/>
                </a:cxn>
                <a:cxn ang="0">
                  <a:pos x="T24" y="0"/>
                </a:cxn>
                <a:cxn ang="0">
                  <a:pos x="T25" y="0"/>
                </a:cxn>
                <a:cxn ang="0">
                  <a:pos x="T26" y="0"/>
                </a:cxn>
                <a:cxn ang="0">
                  <a:pos x="T27" y="0"/>
                </a:cxn>
                <a:cxn ang="0">
                  <a:pos x="T28" y="0"/>
                </a:cxn>
                <a:cxn ang="0">
                  <a:pos x="T29" y="0"/>
                </a:cxn>
                <a:cxn ang="0">
                  <a:pos x="T30" y="0"/>
                </a:cxn>
                <a:cxn ang="0">
                  <a:pos x="T31" y="0"/>
                </a:cxn>
                <a:cxn ang="0">
                  <a:pos x="T32" y="0"/>
                </a:cxn>
                <a:cxn ang="0">
                  <a:pos x="T33" y="0"/>
                </a:cxn>
                <a:cxn ang="0">
                  <a:pos x="T34" y="0"/>
                </a:cxn>
                <a:cxn ang="0">
                  <a:pos x="T35" y="0"/>
                </a:cxn>
              </a:cxnLst>
              <a:rect l="0" t="0" r="r" b="b"/>
              <a:pathLst>
                <a:path w="2">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0" y="0"/>
                  </a:moveTo>
                  <a:cubicBezTo>
                    <a:pt x="0" y="0"/>
                    <a:pt x="0" y="0"/>
                    <a:pt x="0" y="0"/>
                  </a:cubicBezTo>
                  <a:cubicBezTo>
                    <a:pt x="0" y="0"/>
                    <a:pt x="0" y="0"/>
                    <a:pt x="0"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1" y="0"/>
                    <a:pt x="1" y="0"/>
                    <a:pt x="1" y="0"/>
                  </a:cubicBezTo>
                  <a:cubicBezTo>
                    <a:pt x="1" y="0"/>
                    <a:pt x="1" y="0"/>
                    <a:pt x="1" y="0"/>
                  </a:cubicBezTo>
                  <a:moveTo>
                    <a:pt x="0" y="0"/>
                  </a:moveTo>
                  <a:cubicBezTo>
                    <a:pt x="0" y="0"/>
                    <a:pt x="0" y="0"/>
                    <a:pt x="0" y="0"/>
                  </a:cubicBezTo>
                  <a:cubicBezTo>
                    <a:pt x="0" y="0"/>
                    <a:pt x="0" y="0"/>
                    <a:pt x="0" y="0"/>
                  </a:cubicBezTo>
                  <a:moveTo>
                    <a:pt x="1" y="0"/>
                  </a:moveTo>
                  <a:cubicBezTo>
                    <a:pt x="1" y="0"/>
                    <a:pt x="1" y="0"/>
                    <a:pt x="1" y="0"/>
                  </a:cubicBezTo>
                  <a:cubicBezTo>
                    <a:pt x="1" y="0"/>
                    <a:pt x="1" y="0"/>
                    <a:pt x="1" y="0"/>
                  </a:cubicBezTo>
                  <a:moveTo>
                    <a:pt x="0" y="0"/>
                  </a:moveTo>
                  <a:cubicBezTo>
                    <a:pt x="0" y="0"/>
                    <a:pt x="0" y="0"/>
                    <a:pt x="0" y="0"/>
                  </a:cubicBezTo>
                  <a:cubicBezTo>
                    <a:pt x="0" y="0"/>
                    <a:pt x="0" y="0"/>
                    <a:pt x="0"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0" y="0"/>
                  </a:moveTo>
                  <a:cubicBezTo>
                    <a:pt x="0" y="0"/>
                    <a:pt x="0" y="0"/>
                    <a:pt x="0" y="0"/>
                  </a:cubicBezTo>
                  <a:cubicBezTo>
                    <a:pt x="0" y="0"/>
                    <a:pt x="0" y="0"/>
                    <a:pt x="0" y="0"/>
                  </a:cubicBezTo>
                  <a:moveTo>
                    <a:pt x="2" y="0"/>
                  </a:moveTo>
                  <a:cubicBezTo>
                    <a:pt x="2" y="0"/>
                    <a:pt x="2" y="0"/>
                    <a:pt x="2" y="0"/>
                  </a:cubicBezTo>
                  <a:cubicBezTo>
                    <a:pt x="2" y="0"/>
                    <a:pt x="2" y="0"/>
                    <a:pt x="2" y="0"/>
                  </a:cubicBezTo>
                  <a:moveTo>
                    <a:pt x="0" y="0"/>
                  </a:moveTo>
                  <a:cubicBezTo>
                    <a:pt x="0" y="0"/>
                    <a:pt x="0" y="0"/>
                    <a:pt x="0" y="0"/>
                  </a:cubicBezTo>
                  <a:cubicBezTo>
                    <a:pt x="0" y="0"/>
                    <a:pt x="0" y="0"/>
                    <a:pt x="0" y="0"/>
                  </a:cubicBezTo>
                  <a:moveTo>
                    <a:pt x="2" y="0"/>
                  </a:moveTo>
                  <a:cubicBezTo>
                    <a:pt x="2" y="0"/>
                    <a:pt x="2" y="0"/>
                    <a:pt x="2" y="0"/>
                  </a:cubicBezTo>
                  <a:cubicBezTo>
                    <a:pt x="2" y="0"/>
                    <a:pt x="2" y="0"/>
                    <a:pt x="2" y="0"/>
                  </a:cubicBezTo>
                  <a:moveTo>
                    <a:pt x="0" y="0"/>
                  </a:moveTo>
                  <a:cubicBezTo>
                    <a:pt x="0" y="0"/>
                    <a:pt x="0" y="0"/>
                    <a:pt x="0" y="0"/>
                  </a:cubicBezTo>
                  <a:cubicBezTo>
                    <a:pt x="0" y="0"/>
                    <a:pt x="0" y="0"/>
                    <a:pt x="0"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51" name="íślîdê"/>
            <p:cNvSpPr/>
            <p:nvPr/>
          </p:nvSpPr>
          <p:spPr bwMode="auto">
            <a:xfrm>
              <a:off x="4578351" y="2870201"/>
              <a:ext cx="53975" cy="53975"/>
            </a:xfrm>
            <a:custGeom>
              <a:avLst/>
              <a:gdLst>
                <a:gd name="T0" fmla="*/ 9 w 18"/>
                <a:gd name="T1" fmla="*/ 0 h 18"/>
                <a:gd name="T2" fmla="*/ 0 w 18"/>
                <a:gd name="T3" fmla="*/ 9 h 18"/>
                <a:gd name="T4" fmla="*/ 0 w 18"/>
                <a:gd name="T5" fmla="*/ 9 h 18"/>
                <a:gd name="T6" fmla="*/ 0 w 18"/>
                <a:gd name="T7" fmla="*/ 9 h 18"/>
                <a:gd name="T8" fmla="*/ 8 w 18"/>
                <a:gd name="T9" fmla="*/ 18 h 18"/>
                <a:gd name="T10" fmla="*/ 8 w 18"/>
                <a:gd name="T11" fmla="*/ 18 h 18"/>
                <a:gd name="T12" fmla="*/ 8 w 18"/>
                <a:gd name="T13" fmla="*/ 18 h 18"/>
                <a:gd name="T14" fmla="*/ 8 w 18"/>
                <a:gd name="T15" fmla="*/ 18 h 18"/>
                <a:gd name="T16" fmla="*/ 8 w 18"/>
                <a:gd name="T17" fmla="*/ 18 h 18"/>
                <a:gd name="T18" fmla="*/ 8 w 18"/>
                <a:gd name="T19" fmla="*/ 18 h 18"/>
                <a:gd name="T20" fmla="*/ 8 w 18"/>
                <a:gd name="T21" fmla="*/ 18 h 18"/>
                <a:gd name="T22" fmla="*/ 8 w 18"/>
                <a:gd name="T23" fmla="*/ 18 h 18"/>
                <a:gd name="T24" fmla="*/ 8 w 18"/>
                <a:gd name="T25" fmla="*/ 18 h 18"/>
                <a:gd name="T26" fmla="*/ 8 w 18"/>
                <a:gd name="T27" fmla="*/ 18 h 18"/>
                <a:gd name="T28" fmla="*/ 8 w 18"/>
                <a:gd name="T29" fmla="*/ 18 h 18"/>
                <a:gd name="T30" fmla="*/ 8 w 18"/>
                <a:gd name="T31" fmla="*/ 18 h 18"/>
                <a:gd name="T32" fmla="*/ 8 w 18"/>
                <a:gd name="T33" fmla="*/ 18 h 18"/>
                <a:gd name="T34" fmla="*/ 8 w 18"/>
                <a:gd name="T35" fmla="*/ 18 h 18"/>
                <a:gd name="T36" fmla="*/ 8 w 18"/>
                <a:gd name="T37" fmla="*/ 18 h 18"/>
                <a:gd name="T38" fmla="*/ 8 w 18"/>
                <a:gd name="T39" fmla="*/ 18 h 18"/>
                <a:gd name="T40" fmla="*/ 9 w 18"/>
                <a:gd name="T41" fmla="*/ 18 h 18"/>
                <a:gd name="T42" fmla="*/ 9 w 18"/>
                <a:gd name="T43" fmla="*/ 18 h 18"/>
                <a:gd name="T44" fmla="*/ 9 w 18"/>
                <a:gd name="T45" fmla="*/ 18 h 18"/>
                <a:gd name="T46" fmla="*/ 9 w 18"/>
                <a:gd name="T47" fmla="*/ 18 h 18"/>
                <a:gd name="T48" fmla="*/ 9 w 18"/>
                <a:gd name="T49" fmla="*/ 18 h 18"/>
                <a:gd name="T50" fmla="*/ 9 w 18"/>
                <a:gd name="T51" fmla="*/ 18 h 18"/>
                <a:gd name="T52" fmla="*/ 9 w 18"/>
                <a:gd name="T53" fmla="*/ 18 h 18"/>
                <a:gd name="T54" fmla="*/ 9 w 18"/>
                <a:gd name="T55" fmla="*/ 18 h 18"/>
                <a:gd name="T56" fmla="*/ 9 w 18"/>
                <a:gd name="T57" fmla="*/ 18 h 18"/>
                <a:gd name="T58" fmla="*/ 9 w 18"/>
                <a:gd name="T59" fmla="*/ 18 h 18"/>
                <a:gd name="T60" fmla="*/ 9 w 18"/>
                <a:gd name="T61" fmla="*/ 18 h 18"/>
                <a:gd name="T62" fmla="*/ 9 w 18"/>
                <a:gd name="T63" fmla="*/ 18 h 18"/>
                <a:gd name="T64" fmla="*/ 9 w 18"/>
                <a:gd name="T65" fmla="*/ 18 h 18"/>
                <a:gd name="T66" fmla="*/ 9 w 18"/>
                <a:gd name="T67" fmla="*/ 18 h 18"/>
                <a:gd name="T68" fmla="*/ 9 w 18"/>
                <a:gd name="T69" fmla="*/ 18 h 18"/>
                <a:gd name="T70" fmla="*/ 9 w 18"/>
                <a:gd name="T71" fmla="*/ 18 h 18"/>
                <a:gd name="T72" fmla="*/ 9 w 18"/>
                <a:gd name="T73" fmla="*/ 18 h 18"/>
                <a:gd name="T74" fmla="*/ 9 w 18"/>
                <a:gd name="T75" fmla="*/ 18 h 18"/>
                <a:gd name="T76" fmla="*/ 9 w 18"/>
                <a:gd name="T77" fmla="*/ 18 h 18"/>
                <a:gd name="T78" fmla="*/ 9 w 18"/>
                <a:gd name="T79" fmla="*/ 18 h 18"/>
                <a:gd name="T80" fmla="*/ 9 w 18"/>
                <a:gd name="T81" fmla="*/ 18 h 18"/>
                <a:gd name="T82" fmla="*/ 9 w 18"/>
                <a:gd name="T83" fmla="*/ 18 h 18"/>
                <a:gd name="T84" fmla="*/ 9 w 18"/>
                <a:gd name="T85" fmla="*/ 18 h 18"/>
                <a:gd name="T86" fmla="*/ 9 w 18"/>
                <a:gd name="T87" fmla="*/ 18 h 18"/>
                <a:gd name="T88" fmla="*/ 9 w 18"/>
                <a:gd name="T89" fmla="*/ 18 h 18"/>
                <a:gd name="T90" fmla="*/ 9 w 18"/>
                <a:gd name="T91" fmla="*/ 18 h 18"/>
                <a:gd name="T92" fmla="*/ 9 w 18"/>
                <a:gd name="T93" fmla="*/ 18 h 18"/>
                <a:gd name="T94" fmla="*/ 10 w 18"/>
                <a:gd name="T95" fmla="*/ 18 h 18"/>
                <a:gd name="T96" fmla="*/ 10 w 18"/>
                <a:gd name="T97" fmla="*/ 18 h 18"/>
                <a:gd name="T98" fmla="*/ 10 w 18"/>
                <a:gd name="T99" fmla="*/ 18 h 18"/>
                <a:gd name="T100" fmla="*/ 10 w 18"/>
                <a:gd name="T101" fmla="*/ 18 h 18"/>
                <a:gd name="T102" fmla="*/ 10 w 18"/>
                <a:gd name="T103" fmla="*/ 18 h 18"/>
                <a:gd name="T104" fmla="*/ 10 w 18"/>
                <a:gd name="T105" fmla="*/ 18 h 18"/>
                <a:gd name="T106" fmla="*/ 18 w 18"/>
                <a:gd name="T107" fmla="*/ 9 h 18"/>
                <a:gd name="T108" fmla="*/ 18 w 18"/>
                <a:gd name="T109" fmla="*/ 9 h 18"/>
                <a:gd name="T110" fmla="*/ 18 w 18"/>
                <a:gd name="T111" fmla="*/ 9 h 18"/>
                <a:gd name="T112" fmla="*/ 9 w 18"/>
                <a:gd name="T11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8" h="18">
                  <a:moveTo>
                    <a:pt x="9" y="0"/>
                  </a:moveTo>
                  <a:cubicBezTo>
                    <a:pt x="4" y="0"/>
                    <a:pt x="0" y="4"/>
                    <a:pt x="0" y="9"/>
                  </a:cubicBezTo>
                  <a:cubicBezTo>
                    <a:pt x="0" y="9"/>
                    <a:pt x="0" y="9"/>
                    <a:pt x="0" y="9"/>
                  </a:cubicBezTo>
                  <a:cubicBezTo>
                    <a:pt x="0" y="9"/>
                    <a:pt x="0" y="9"/>
                    <a:pt x="0" y="9"/>
                  </a:cubicBezTo>
                  <a:cubicBezTo>
                    <a:pt x="0" y="13"/>
                    <a:pt x="3" y="17"/>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10" y="18"/>
                    <a:pt x="10" y="18"/>
                  </a:cubicBezTo>
                  <a:cubicBezTo>
                    <a:pt x="10" y="18"/>
                    <a:pt x="10" y="18"/>
                    <a:pt x="10" y="18"/>
                  </a:cubicBezTo>
                  <a:cubicBezTo>
                    <a:pt x="10" y="18"/>
                    <a:pt x="10" y="18"/>
                    <a:pt x="10" y="18"/>
                  </a:cubicBezTo>
                  <a:cubicBezTo>
                    <a:pt x="10" y="18"/>
                    <a:pt x="10" y="18"/>
                    <a:pt x="10" y="18"/>
                  </a:cubicBezTo>
                  <a:cubicBezTo>
                    <a:pt x="10" y="18"/>
                    <a:pt x="10" y="18"/>
                    <a:pt x="10" y="18"/>
                  </a:cubicBezTo>
                  <a:cubicBezTo>
                    <a:pt x="10" y="18"/>
                    <a:pt x="10" y="18"/>
                    <a:pt x="10" y="18"/>
                  </a:cubicBezTo>
                  <a:cubicBezTo>
                    <a:pt x="14" y="17"/>
                    <a:pt x="18" y="13"/>
                    <a:pt x="18" y="9"/>
                  </a:cubicBezTo>
                  <a:cubicBezTo>
                    <a:pt x="18" y="9"/>
                    <a:pt x="18" y="9"/>
                    <a:pt x="18" y="9"/>
                  </a:cubicBezTo>
                  <a:cubicBezTo>
                    <a:pt x="18" y="9"/>
                    <a:pt x="18" y="9"/>
                    <a:pt x="18" y="9"/>
                  </a:cubicBezTo>
                  <a:cubicBezTo>
                    <a:pt x="18" y="4"/>
                    <a:pt x="14" y="0"/>
                    <a:pt x="9" y="0"/>
                  </a:cubicBezTo>
                </a:path>
              </a:pathLst>
            </a:cu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52" name="ïs1îdè"/>
            <p:cNvSpPr/>
            <p:nvPr/>
          </p:nvSpPr>
          <p:spPr bwMode="auto">
            <a:xfrm>
              <a:off x="4578351" y="2897188"/>
              <a:ext cx="53975" cy="26988"/>
            </a:xfrm>
            <a:custGeom>
              <a:avLst/>
              <a:gdLst>
                <a:gd name="T0" fmla="*/ 9 w 18"/>
                <a:gd name="T1" fmla="*/ 9 h 9"/>
                <a:gd name="T2" fmla="*/ 0 w 18"/>
                <a:gd name="T3" fmla="*/ 0 h 9"/>
                <a:gd name="T4" fmla="*/ 0 w 18"/>
                <a:gd name="T5" fmla="*/ 0 h 9"/>
                <a:gd name="T6" fmla="*/ 9 w 18"/>
                <a:gd name="T7" fmla="*/ 9 h 9"/>
                <a:gd name="T8" fmla="*/ 18 w 18"/>
                <a:gd name="T9" fmla="*/ 0 h 9"/>
                <a:gd name="T10" fmla="*/ 18 w 18"/>
                <a:gd name="T11" fmla="*/ 0 h 9"/>
                <a:gd name="T12" fmla="*/ 9 w 18"/>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18" h="9">
                  <a:moveTo>
                    <a:pt x="9" y="9"/>
                  </a:moveTo>
                  <a:cubicBezTo>
                    <a:pt x="4" y="9"/>
                    <a:pt x="0" y="5"/>
                    <a:pt x="0" y="0"/>
                  </a:cubicBezTo>
                  <a:cubicBezTo>
                    <a:pt x="0" y="0"/>
                    <a:pt x="0" y="0"/>
                    <a:pt x="0" y="0"/>
                  </a:cubicBezTo>
                  <a:cubicBezTo>
                    <a:pt x="0" y="5"/>
                    <a:pt x="4" y="9"/>
                    <a:pt x="9" y="9"/>
                  </a:cubicBezTo>
                  <a:cubicBezTo>
                    <a:pt x="14" y="9"/>
                    <a:pt x="18" y="5"/>
                    <a:pt x="18" y="0"/>
                  </a:cubicBezTo>
                  <a:cubicBezTo>
                    <a:pt x="18" y="0"/>
                    <a:pt x="18" y="0"/>
                    <a:pt x="18" y="0"/>
                  </a:cubicBezTo>
                  <a:cubicBezTo>
                    <a:pt x="18" y="5"/>
                    <a:pt x="14" y="9"/>
                    <a:pt x="9" y="9"/>
                  </a:cubicBezTo>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53" name="ïṩḻiḍé"/>
            <p:cNvSpPr/>
            <p:nvPr/>
          </p:nvSpPr>
          <p:spPr bwMode="auto">
            <a:xfrm>
              <a:off x="4641851" y="2870201"/>
              <a:ext cx="53975" cy="53975"/>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54" name="îṩľíḓè"/>
            <p:cNvSpPr/>
            <p:nvPr/>
          </p:nvSpPr>
          <p:spPr bwMode="auto">
            <a:xfrm>
              <a:off x="4641851" y="2897188"/>
              <a:ext cx="53975" cy="26988"/>
            </a:xfrm>
            <a:custGeom>
              <a:avLst/>
              <a:gdLst>
                <a:gd name="T0" fmla="*/ 9 w 18"/>
                <a:gd name="T1" fmla="*/ 9 h 9"/>
                <a:gd name="T2" fmla="*/ 0 w 18"/>
                <a:gd name="T3" fmla="*/ 0 h 9"/>
                <a:gd name="T4" fmla="*/ 0 w 18"/>
                <a:gd name="T5" fmla="*/ 0 h 9"/>
                <a:gd name="T6" fmla="*/ 9 w 18"/>
                <a:gd name="T7" fmla="*/ 9 h 9"/>
                <a:gd name="T8" fmla="*/ 18 w 18"/>
                <a:gd name="T9" fmla="*/ 0 h 9"/>
                <a:gd name="T10" fmla="*/ 18 w 18"/>
                <a:gd name="T11" fmla="*/ 0 h 9"/>
                <a:gd name="T12" fmla="*/ 9 w 18"/>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18" h="9">
                  <a:moveTo>
                    <a:pt x="9" y="9"/>
                  </a:moveTo>
                  <a:cubicBezTo>
                    <a:pt x="4" y="9"/>
                    <a:pt x="0" y="5"/>
                    <a:pt x="0" y="0"/>
                  </a:cubicBezTo>
                  <a:cubicBezTo>
                    <a:pt x="0" y="0"/>
                    <a:pt x="0" y="0"/>
                    <a:pt x="0" y="0"/>
                  </a:cubicBezTo>
                  <a:cubicBezTo>
                    <a:pt x="0" y="5"/>
                    <a:pt x="4" y="9"/>
                    <a:pt x="9" y="9"/>
                  </a:cubicBezTo>
                  <a:cubicBezTo>
                    <a:pt x="14" y="9"/>
                    <a:pt x="18" y="5"/>
                    <a:pt x="18" y="0"/>
                  </a:cubicBezTo>
                  <a:cubicBezTo>
                    <a:pt x="18" y="0"/>
                    <a:pt x="18" y="0"/>
                    <a:pt x="18" y="0"/>
                  </a:cubicBezTo>
                  <a:cubicBezTo>
                    <a:pt x="18" y="5"/>
                    <a:pt x="14" y="9"/>
                    <a:pt x="9" y="9"/>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55" name="íşļîḑê"/>
            <p:cNvSpPr/>
            <p:nvPr/>
          </p:nvSpPr>
          <p:spPr bwMode="auto">
            <a:xfrm>
              <a:off x="4705351" y="2870201"/>
              <a:ext cx="53975" cy="53975"/>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56" name="íṥľiḍê"/>
            <p:cNvSpPr/>
            <p:nvPr/>
          </p:nvSpPr>
          <p:spPr bwMode="auto">
            <a:xfrm>
              <a:off x="4705351" y="2897188"/>
              <a:ext cx="53975" cy="26988"/>
            </a:xfrm>
            <a:custGeom>
              <a:avLst/>
              <a:gdLst>
                <a:gd name="T0" fmla="*/ 9 w 18"/>
                <a:gd name="T1" fmla="*/ 9 h 9"/>
                <a:gd name="T2" fmla="*/ 0 w 18"/>
                <a:gd name="T3" fmla="*/ 0 h 9"/>
                <a:gd name="T4" fmla="*/ 0 w 18"/>
                <a:gd name="T5" fmla="*/ 0 h 9"/>
                <a:gd name="T6" fmla="*/ 9 w 18"/>
                <a:gd name="T7" fmla="*/ 9 h 9"/>
                <a:gd name="T8" fmla="*/ 18 w 18"/>
                <a:gd name="T9" fmla="*/ 0 h 9"/>
                <a:gd name="T10" fmla="*/ 18 w 18"/>
                <a:gd name="T11" fmla="*/ 0 h 9"/>
                <a:gd name="T12" fmla="*/ 9 w 18"/>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18" h="9">
                  <a:moveTo>
                    <a:pt x="9" y="9"/>
                  </a:moveTo>
                  <a:cubicBezTo>
                    <a:pt x="5" y="9"/>
                    <a:pt x="1" y="5"/>
                    <a:pt x="0" y="0"/>
                  </a:cubicBezTo>
                  <a:cubicBezTo>
                    <a:pt x="0" y="0"/>
                    <a:pt x="0" y="0"/>
                    <a:pt x="0" y="0"/>
                  </a:cubicBezTo>
                  <a:cubicBezTo>
                    <a:pt x="0" y="5"/>
                    <a:pt x="4" y="9"/>
                    <a:pt x="9" y="9"/>
                  </a:cubicBezTo>
                  <a:cubicBezTo>
                    <a:pt x="14" y="9"/>
                    <a:pt x="18" y="5"/>
                    <a:pt x="18" y="0"/>
                  </a:cubicBezTo>
                  <a:cubicBezTo>
                    <a:pt x="18" y="0"/>
                    <a:pt x="18" y="0"/>
                    <a:pt x="18" y="0"/>
                  </a:cubicBezTo>
                  <a:cubicBezTo>
                    <a:pt x="18" y="5"/>
                    <a:pt x="14" y="9"/>
                    <a:pt x="9" y="9"/>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57" name="ïSḷíḍé"/>
            <p:cNvSpPr/>
            <p:nvPr/>
          </p:nvSpPr>
          <p:spPr bwMode="auto">
            <a:xfrm>
              <a:off x="4551363" y="2962276"/>
              <a:ext cx="482600" cy="1588"/>
            </a:xfrm>
            <a:prstGeom prst="rect">
              <a:avLst/>
            </a:prstGeom>
            <a:solidFill>
              <a:srgbClr val="55E2E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58" name="îslidê"/>
            <p:cNvSpPr/>
            <p:nvPr/>
          </p:nvSpPr>
          <p:spPr bwMode="auto">
            <a:xfrm>
              <a:off x="4551363" y="2962276"/>
              <a:ext cx="482600"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59" name="îsḻíḍe"/>
            <p:cNvSpPr/>
            <p:nvPr/>
          </p:nvSpPr>
          <p:spPr bwMode="auto">
            <a:xfrm>
              <a:off x="5033963" y="2962276"/>
              <a:ext cx="84138" cy="1588"/>
            </a:xfrm>
            <a:prstGeom prst="rect">
              <a:avLst/>
            </a:prstGeom>
            <a:solidFill>
              <a:srgbClr val="31CAE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60" name="ïşļïḋe"/>
            <p:cNvSpPr/>
            <p:nvPr/>
          </p:nvSpPr>
          <p:spPr bwMode="auto">
            <a:xfrm>
              <a:off x="5033963" y="2962276"/>
              <a:ext cx="8413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61" name="íSļiḋè"/>
            <p:cNvSpPr/>
            <p:nvPr/>
          </p:nvSpPr>
          <p:spPr bwMode="auto">
            <a:xfrm>
              <a:off x="5118101" y="2962276"/>
              <a:ext cx="285750" cy="1588"/>
            </a:xfrm>
            <a:prstGeom prst="rect">
              <a:avLst/>
            </a:prstGeom>
            <a:solidFill>
              <a:srgbClr val="30BDC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62" name="ïṧ1ïḍè"/>
            <p:cNvSpPr/>
            <p:nvPr/>
          </p:nvSpPr>
          <p:spPr bwMode="auto">
            <a:xfrm>
              <a:off x="5118101" y="2962276"/>
              <a:ext cx="285750"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63" name="ï$1ïḑé"/>
            <p:cNvSpPr/>
            <p:nvPr/>
          </p:nvSpPr>
          <p:spPr bwMode="auto">
            <a:xfrm>
              <a:off x="4584701" y="2874963"/>
              <a:ext cx="41275" cy="42863"/>
            </a:xfrm>
            <a:prstGeom prst="ellipse">
              <a:avLst/>
            </a:pr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64" name="isḻîdè"/>
            <p:cNvSpPr/>
            <p:nvPr/>
          </p:nvSpPr>
          <p:spPr bwMode="auto">
            <a:xfrm>
              <a:off x="4648201" y="2874963"/>
              <a:ext cx="41275" cy="42863"/>
            </a:xfrm>
            <a:prstGeom prst="ellipse">
              <a:avLst/>
            </a:pr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65" name="işlíḋè"/>
            <p:cNvSpPr/>
            <p:nvPr/>
          </p:nvSpPr>
          <p:spPr bwMode="auto">
            <a:xfrm>
              <a:off x="4711701" y="2874963"/>
              <a:ext cx="44450" cy="42863"/>
            </a:xfrm>
            <a:prstGeom prst="ellipse">
              <a:avLst/>
            </a:pr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66" name="íṧḷîdè"/>
            <p:cNvSpPr/>
            <p:nvPr/>
          </p:nvSpPr>
          <p:spPr bwMode="auto">
            <a:xfrm>
              <a:off x="4584701" y="2984501"/>
              <a:ext cx="41275" cy="595313"/>
            </a:xfrm>
            <a:custGeom>
              <a:avLst/>
              <a:gdLst>
                <a:gd name="T0" fmla="*/ 8 w 14"/>
                <a:gd name="T1" fmla="*/ 0 h 198"/>
                <a:gd name="T2" fmla="*/ 6 w 14"/>
                <a:gd name="T3" fmla="*/ 0 h 198"/>
                <a:gd name="T4" fmla="*/ 0 w 14"/>
                <a:gd name="T5" fmla="*/ 6 h 198"/>
                <a:gd name="T6" fmla="*/ 0 w 14"/>
                <a:gd name="T7" fmla="*/ 192 h 198"/>
                <a:gd name="T8" fmla="*/ 6 w 14"/>
                <a:gd name="T9" fmla="*/ 198 h 198"/>
                <a:gd name="T10" fmla="*/ 8 w 14"/>
                <a:gd name="T11" fmla="*/ 198 h 198"/>
                <a:gd name="T12" fmla="*/ 14 w 14"/>
                <a:gd name="T13" fmla="*/ 192 h 198"/>
                <a:gd name="T14" fmla="*/ 14 w 14"/>
                <a:gd name="T15" fmla="*/ 6 h 198"/>
                <a:gd name="T16" fmla="*/ 8 w 14"/>
                <a:gd name="T17" fmla="*/ 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198">
                  <a:moveTo>
                    <a:pt x="8" y="0"/>
                  </a:moveTo>
                  <a:cubicBezTo>
                    <a:pt x="6" y="0"/>
                    <a:pt x="6" y="0"/>
                    <a:pt x="6" y="0"/>
                  </a:cubicBezTo>
                  <a:cubicBezTo>
                    <a:pt x="3" y="0"/>
                    <a:pt x="0" y="3"/>
                    <a:pt x="0" y="6"/>
                  </a:cubicBezTo>
                  <a:cubicBezTo>
                    <a:pt x="0" y="192"/>
                    <a:pt x="0" y="192"/>
                    <a:pt x="0" y="192"/>
                  </a:cubicBezTo>
                  <a:cubicBezTo>
                    <a:pt x="0" y="195"/>
                    <a:pt x="3" y="198"/>
                    <a:pt x="6" y="198"/>
                  </a:cubicBezTo>
                  <a:cubicBezTo>
                    <a:pt x="8" y="198"/>
                    <a:pt x="8" y="198"/>
                    <a:pt x="8" y="198"/>
                  </a:cubicBezTo>
                  <a:cubicBezTo>
                    <a:pt x="11" y="198"/>
                    <a:pt x="14" y="195"/>
                    <a:pt x="14" y="192"/>
                  </a:cubicBezTo>
                  <a:cubicBezTo>
                    <a:pt x="14" y="6"/>
                    <a:pt x="14" y="6"/>
                    <a:pt x="14" y="6"/>
                  </a:cubicBezTo>
                  <a:cubicBezTo>
                    <a:pt x="14" y="3"/>
                    <a:pt x="11" y="0"/>
                    <a:pt x="8"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67" name="iṩḻîde"/>
            <p:cNvSpPr/>
            <p:nvPr/>
          </p:nvSpPr>
          <p:spPr bwMode="auto">
            <a:xfrm>
              <a:off x="4595813" y="3001963"/>
              <a:ext cx="15875" cy="155575"/>
            </a:xfrm>
            <a:custGeom>
              <a:avLst/>
              <a:gdLst>
                <a:gd name="T0" fmla="*/ 3 w 5"/>
                <a:gd name="T1" fmla="*/ 52 h 52"/>
                <a:gd name="T2" fmla="*/ 2 w 5"/>
                <a:gd name="T3" fmla="*/ 52 h 52"/>
                <a:gd name="T4" fmla="*/ 0 w 5"/>
                <a:gd name="T5" fmla="*/ 49 h 52"/>
                <a:gd name="T6" fmla="*/ 0 w 5"/>
                <a:gd name="T7" fmla="*/ 2 h 52"/>
                <a:gd name="T8" fmla="*/ 2 w 5"/>
                <a:gd name="T9" fmla="*/ 0 h 52"/>
                <a:gd name="T10" fmla="*/ 3 w 5"/>
                <a:gd name="T11" fmla="*/ 0 h 52"/>
                <a:gd name="T12" fmla="*/ 5 w 5"/>
                <a:gd name="T13" fmla="*/ 2 h 52"/>
                <a:gd name="T14" fmla="*/ 5 w 5"/>
                <a:gd name="T15" fmla="*/ 49 h 52"/>
                <a:gd name="T16" fmla="*/ 3 w 5"/>
                <a:gd name="T1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52">
                  <a:moveTo>
                    <a:pt x="3" y="52"/>
                  </a:moveTo>
                  <a:cubicBezTo>
                    <a:pt x="2" y="52"/>
                    <a:pt x="2" y="52"/>
                    <a:pt x="2" y="52"/>
                  </a:cubicBezTo>
                  <a:cubicBezTo>
                    <a:pt x="1" y="52"/>
                    <a:pt x="0" y="51"/>
                    <a:pt x="0" y="49"/>
                  </a:cubicBezTo>
                  <a:cubicBezTo>
                    <a:pt x="0" y="2"/>
                    <a:pt x="0" y="2"/>
                    <a:pt x="0" y="2"/>
                  </a:cubicBezTo>
                  <a:cubicBezTo>
                    <a:pt x="0" y="1"/>
                    <a:pt x="1" y="0"/>
                    <a:pt x="2" y="0"/>
                  </a:cubicBezTo>
                  <a:cubicBezTo>
                    <a:pt x="3" y="0"/>
                    <a:pt x="3" y="0"/>
                    <a:pt x="3" y="0"/>
                  </a:cubicBezTo>
                  <a:cubicBezTo>
                    <a:pt x="4" y="0"/>
                    <a:pt x="5" y="1"/>
                    <a:pt x="5" y="2"/>
                  </a:cubicBezTo>
                  <a:cubicBezTo>
                    <a:pt x="5" y="49"/>
                    <a:pt x="5" y="49"/>
                    <a:pt x="5" y="49"/>
                  </a:cubicBezTo>
                  <a:cubicBezTo>
                    <a:pt x="5" y="51"/>
                    <a:pt x="4" y="52"/>
                    <a:pt x="3" y="52"/>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68" name="ïṣḷíḑe"/>
            <p:cNvSpPr/>
            <p:nvPr/>
          </p:nvSpPr>
          <p:spPr bwMode="auto">
            <a:xfrm>
              <a:off x="4689476" y="3032126"/>
              <a:ext cx="307975" cy="11113"/>
            </a:xfrm>
            <a:custGeom>
              <a:avLst/>
              <a:gdLst>
                <a:gd name="T0" fmla="*/ 2 w 102"/>
                <a:gd name="T1" fmla="*/ 4 h 4"/>
                <a:gd name="T2" fmla="*/ 100 w 102"/>
                <a:gd name="T3" fmla="*/ 4 h 4"/>
                <a:gd name="T4" fmla="*/ 102 w 102"/>
                <a:gd name="T5" fmla="*/ 2 h 4"/>
                <a:gd name="T6" fmla="*/ 100 w 102"/>
                <a:gd name="T7" fmla="*/ 0 h 4"/>
                <a:gd name="T8" fmla="*/ 2 w 102"/>
                <a:gd name="T9" fmla="*/ 0 h 4"/>
                <a:gd name="T10" fmla="*/ 0 w 102"/>
                <a:gd name="T11" fmla="*/ 2 h 4"/>
                <a:gd name="T12" fmla="*/ 2 w 10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02" h="4">
                  <a:moveTo>
                    <a:pt x="2" y="4"/>
                  </a:moveTo>
                  <a:cubicBezTo>
                    <a:pt x="100" y="4"/>
                    <a:pt x="100" y="4"/>
                    <a:pt x="100" y="4"/>
                  </a:cubicBezTo>
                  <a:cubicBezTo>
                    <a:pt x="101" y="4"/>
                    <a:pt x="102" y="3"/>
                    <a:pt x="102" y="2"/>
                  </a:cubicBezTo>
                  <a:cubicBezTo>
                    <a:pt x="102" y="1"/>
                    <a:pt x="101" y="0"/>
                    <a:pt x="100"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69" name="ïşlïďe"/>
            <p:cNvSpPr/>
            <p:nvPr/>
          </p:nvSpPr>
          <p:spPr bwMode="auto">
            <a:xfrm>
              <a:off x="5011738" y="3032126"/>
              <a:ext cx="60325" cy="11113"/>
            </a:xfrm>
            <a:custGeom>
              <a:avLst/>
              <a:gdLst>
                <a:gd name="T0" fmla="*/ 2 w 20"/>
                <a:gd name="T1" fmla="*/ 4 h 4"/>
                <a:gd name="T2" fmla="*/ 18 w 20"/>
                <a:gd name="T3" fmla="*/ 4 h 4"/>
                <a:gd name="T4" fmla="*/ 20 w 20"/>
                <a:gd name="T5" fmla="*/ 2 h 4"/>
                <a:gd name="T6" fmla="*/ 18 w 20"/>
                <a:gd name="T7" fmla="*/ 0 h 4"/>
                <a:gd name="T8" fmla="*/ 2 w 20"/>
                <a:gd name="T9" fmla="*/ 0 h 4"/>
                <a:gd name="T10" fmla="*/ 0 w 20"/>
                <a:gd name="T11" fmla="*/ 2 h 4"/>
                <a:gd name="T12" fmla="*/ 2 w 20"/>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0" h="4">
                  <a:moveTo>
                    <a:pt x="2" y="4"/>
                  </a:moveTo>
                  <a:cubicBezTo>
                    <a:pt x="18" y="4"/>
                    <a:pt x="18" y="4"/>
                    <a:pt x="18" y="4"/>
                  </a:cubicBezTo>
                  <a:cubicBezTo>
                    <a:pt x="19" y="4"/>
                    <a:pt x="20" y="3"/>
                    <a:pt x="20" y="2"/>
                  </a:cubicBezTo>
                  <a:cubicBezTo>
                    <a:pt x="20" y="1"/>
                    <a:pt x="19" y="0"/>
                    <a:pt x="18"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70" name="iṧḻiḋè"/>
            <p:cNvSpPr/>
            <p:nvPr/>
          </p:nvSpPr>
          <p:spPr bwMode="auto">
            <a:xfrm>
              <a:off x="5111751" y="3032126"/>
              <a:ext cx="220663" cy="11113"/>
            </a:xfrm>
            <a:custGeom>
              <a:avLst/>
              <a:gdLst>
                <a:gd name="T0" fmla="*/ 2 w 73"/>
                <a:gd name="T1" fmla="*/ 4 h 4"/>
                <a:gd name="T2" fmla="*/ 71 w 73"/>
                <a:gd name="T3" fmla="*/ 4 h 4"/>
                <a:gd name="T4" fmla="*/ 73 w 73"/>
                <a:gd name="T5" fmla="*/ 2 h 4"/>
                <a:gd name="T6" fmla="*/ 71 w 73"/>
                <a:gd name="T7" fmla="*/ 0 h 4"/>
                <a:gd name="T8" fmla="*/ 2 w 73"/>
                <a:gd name="T9" fmla="*/ 0 h 4"/>
                <a:gd name="T10" fmla="*/ 0 w 73"/>
                <a:gd name="T11" fmla="*/ 2 h 4"/>
                <a:gd name="T12" fmla="*/ 2 w 7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73" h="4">
                  <a:moveTo>
                    <a:pt x="2" y="4"/>
                  </a:moveTo>
                  <a:cubicBezTo>
                    <a:pt x="71" y="4"/>
                    <a:pt x="71" y="4"/>
                    <a:pt x="71" y="4"/>
                  </a:cubicBezTo>
                  <a:cubicBezTo>
                    <a:pt x="72" y="4"/>
                    <a:pt x="73" y="3"/>
                    <a:pt x="73" y="2"/>
                  </a:cubicBezTo>
                  <a:cubicBezTo>
                    <a:pt x="73" y="1"/>
                    <a:pt x="72" y="0"/>
                    <a:pt x="71"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71" name="íṥļîḑé"/>
            <p:cNvSpPr/>
            <p:nvPr/>
          </p:nvSpPr>
          <p:spPr bwMode="auto">
            <a:xfrm>
              <a:off x="4689476" y="3062288"/>
              <a:ext cx="368300" cy="11113"/>
            </a:xfrm>
            <a:custGeom>
              <a:avLst/>
              <a:gdLst>
                <a:gd name="T0" fmla="*/ 2 w 122"/>
                <a:gd name="T1" fmla="*/ 4 h 4"/>
                <a:gd name="T2" fmla="*/ 120 w 122"/>
                <a:gd name="T3" fmla="*/ 4 h 4"/>
                <a:gd name="T4" fmla="*/ 122 w 122"/>
                <a:gd name="T5" fmla="*/ 2 h 4"/>
                <a:gd name="T6" fmla="*/ 120 w 122"/>
                <a:gd name="T7" fmla="*/ 0 h 4"/>
                <a:gd name="T8" fmla="*/ 2 w 122"/>
                <a:gd name="T9" fmla="*/ 0 h 4"/>
                <a:gd name="T10" fmla="*/ 0 w 122"/>
                <a:gd name="T11" fmla="*/ 2 h 4"/>
                <a:gd name="T12" fmla="*/ 2 w 12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22" h="4">
                  <a:moveTo>
                    <a:pt x="2" y="4"/>
                  </a:moveTo>
                  <a:cubicBezTo>
                    <a:pt x="120" y="4"/>
                    <a:pt x="120" y="4"/>
                    <a:pt x="120" y="4"/>
                  </a:cubicBezTo>
                  <a:cubicBezTo>
                    <a:pt x="121" y="4"/>
                    <a:pt x="122" y="3"/>
                    <a:pt x="122" y="2"/>
                  </a:cubicBezTo>
                  <a:cubicBezTo>
                    <a:pt x="122" y="1"/>
                    <a:pt x="121" y="0"/>
                    <a:pt x="120"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72" name="îslïḓe"/>
            <p:cNvSpPr/>
            <p:nvPr/>
          </p:nvSpPr>
          <p:spPr bwMode="auto">
            <a:xfrm>
              <a:off x="5081588" y="3055938"/>
              <a:ext cx="157163" cy="12700"/>
            </a:xfrm>
            <a:custGeom>
              <a:avLst/>
              <a:gdLst>
                <a:gd name="T0" fmla="*/ 2 w 52"/>
                <a:gd name="T1" fmla="*/ 4 h 4"/>
                <a:gd name="T2" fmla="*/ 50 w 52"/>
                <a:gd name="T3" fmla="*/ 4 h 4"/>
                <a:gd name="T4" fmla="*/ 52 w 52"/>
                <a:gd name="T5" fmla="*/ 2 h 4"/>
                <a:gd name="T6" fmla="*/ 50 w 52"/>
                <a:gd name="T7" fmla="*/ 0 h 4"/>
                <a:gd name="T8" fmla="*/ 2 w 52"/>
                <a:gd name="T9" fmla="*/ 0 h 4"/>
                <a:gd name="T10" fmla="*/ 0 w 52"/>
                <a:gd name="T11" fmla="*/ 2 h 4"/>
                <a:gd name="T12" fmla="*/ 2 w 5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52" h="4">
                  <a:moveTo>
                    <a:pt x="2" y="4"/>
                  </a:moveTo>
                  <a:cubicBezTo>
                    <a:pt x="50" y="4"/>
                    <a:pt x="50" y="4"/>
                    <a:pt x="50" y="4"/>
                  </a:cubicBezTo>
                  <a:cubicBezTo>
                    <a:pt x="51" y="4"/>
                    <a:pt x="52" y="3"/>
                    <a:pt x="52" y="2"/>
                  </a:cubicBezTo>
                  <a:cubicBezTo>
                    <a:pt x="52" y="1"/>
                    <a:pt x="51" y="0"/>
                    <a:pt x="50"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73" name="ïṩḻîḓé"/>
            <p:cNvSpPr/>
            <p:nvPr/>
          </p:nvSpPr>
          <p:spPr bwMode="auto">
            <a:xfrm>
              <a:off x="5249863" y="3055938"/>
              <a:ext cx="87313" cy="12700"/>
            </a:xfrm>
            <a:custGeom>
              <a:avLst/>
              <a:gdLst>
                <a:gd name="T0" fmla="*/ 2 w 29"/>
                <a:gd name="T1" fmla="*/ 4 h 4"/>
                <a:gd name="T2" fmla="*/ 27 w 29"/>
                <a:gd name="T3" fmla="*/ 4 h 4"/>
                <a:gd name="T4" fmla="*/ 29 w 29"/>
                <a:gd name="T5" fmla="*/ 2 h 4"/>
                <a:gd name="T6" fmla="*/ 27 w 29"/>
                <a:gd name="T7" fmla="*/ 0 h 4"/>
                <a:gd name="T8" fmla="*/ 2 w 29"/>
                <a:gd name="T9" fmla="*/ 0 h 4"/>
                <a:gd name="T10" fmla="*/ 0 w 29"/>
                <a:gd name="T11" fmla="*/ 2 h 4"/>
                <a:gd name="T12" fmla="*/ 2 w 2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9" h="4">
                  <a:moveTo>
                    <a:pt x="2" y="4"/>
                  </a:moveTo>
                  <a:cubicBezTo>
                    <a:pt x="27" y="4"/>
                    <a:pt x="27" y="4"/>
                    <a:pt x="27" y="4"/>
                  </a:cubicBezTo>
                  <a:cubicBezTo>
                    <a:pt x="28" y="4"/>
                    <a:pt x="29" y="3"/>
                    <a:pt x="29" y="2"/>
                  </a:cubicBezTo>
                  <a:cubicBezTo>
                    <a:pt x="29" y="1"/>
                    <a:pt x="28" y="0"/>
                    <a:pt x="27"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74" name="îṥľiḑè"/>
            <p:cNvSpPr/>
            <p:nvPr/>
          </p:nvSpPr>
          <p:spPr bwMode="auto">
            <a:xfrm>
              <a:off x="4705351" y="3098801"/>
              <a:ext cx="433388" cy="11113"/>
            </a:xfrm>
            <a:custGeom>
              <a:avLst/>
              <a:gdLst>
                <a:gd name="T0" fmla="*/ 2 w 144"/>
                <a:gd name="T1" fmla="*/ 4 h 4"/>
                <a:gd name="T2" fmla="*/ 142 w 144"/>
                <a:gd name="T3" fmla="*/ 4 h 4"/>
                <a:gd name="T4" fmla="*/ 144 w 144"/>
                <a:gd name="T5" fmla="*/ 2 h 4"/>
                <a:gd name="T6" fmla="*/ 142 w 144"/>
                <a:gd name="T7" fmla="*/ 0 h 4"/>
                <a:gd name="T8" fmla="*/ 2 w 144"/>
                <a:gd name="T9" fmla="*/ 0 h 4"/>
                <a:gd name="T10" fmla="*/ 0 w 144"/>
                <a:gd name="T11" fmla="*/ 2 h 4"/>
                <a:gd name="T12" fmla="*/ 2 w 14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4" h="4">
                  <a:moveTo>
                    <a:pt x="2" y="4"/>
                  </a:moveTo>
                  <a:cubicBezTo>
                    <a:pt x="142" y="4"/>
                    <a:pt x="142" y="4"/>
                    <a:pt x="142" y="4"/>
                  </a:cubicBezTo>
                  <a:cubicBezTo>
                    <a:pt x="143" y="4"/>
                    <a:pt x="144" y="3"/>
                    <a:pt x="144" y="2"/>
                  </a:cubicBezTo>
                  <a:cubicBezTo>
                    <a:pt x="144" y="1"/>
                    <a:pt x="143" y="0"/>
                    <a:pt x="14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75" name="iṥḻíḑe"/>
            <p:cNvSpPr/>
            <p:nvPr/>
          </p:nvSpPr>
          <p:spPr bwMode="auto">
            <a:xfrm>
              <a:off x="5175251" y="3098801"/>
              <a:ext cx="127000" cy="11113"/>
            </a:xfrm>
            <a:custGeom>
              <a:avLst/>
              <a:gdLst>
                <a:gd name="T0" fmla="*/ 2 w 42"/>
                <a:gd name="T1" fmla="*/ 4 h 4"/>
                <a:gd name="T2" fmla="*/ 40 w 42"/>
                <a:gd name="T3" fmla="*/ 4 h 4"/>
                <a:gd name="T4" fmla="*/ 42 w 42"/>
                <a:gd name="T5" fmla="*/ 2 h 4"/>
                <a:gd name="T6" fmla="*/ 40 w 42"/>
                <a:gd name="T7" fmla="*/ 0 h 4"/>
                <a:gd name="T8" fmla="*/ 2 w 42"/>
                <a:gd name="T9" fmla="*/ 0 h 4"/>
                <a:gd name="T10" fmla="*/ 0 w 42"/>
                <a:gd name="T11" fmla="*/ 2 h 4"/>
                <a:gd name="T12" fmla="*/ 2 w 4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42" h="4">
                  <a:moveTo>
                    <a:pt x="2" y="4"/>
                  </a:moveTo>
                  <a:cubicBezTo>
                    <a:pt x="40" y="4"/>
                    <a:pt x="40" y="4"/>
                    <a:pt x="40" y="4"/>
                  </a:cubicBezTo>
                  <a:cubicBezTo>
                    <a:pt x="41" y="4"/>
                    <a:pt x="42" y="3"/>
                    <a:pt x="42" y="2"/>
                  </a:cubicBezTo>
                  <a:cubicBezTo>
                    <a:pt x="42" y="1"/>
                    <a:pt x="41" y="0"/>
                    <a:pt x="40"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76" name="íSlîḍé"/>
            <p:cNvSpPr/>
            <p:nvPr/>
          </p:nvSpPr>
          <p:spPr bwMode="auto">
            <a:xfrm>
              <a:off x="5000626" y="3130551"/>
              <a:ext cx="336550" cy="12700"/>
            </a:xfrm>
            <a:custGeom>
              <a:avLst/>
              <a:gdLst>
                <a:gd name="T0" fmla="*/ 110 w 112"/>
                <a:gd name="T1" fmla="*/ 0 h 4"/>
                <a:gd name="T2" fmla="*/ 2 w 112"/>
                <a:gd name="T3" fmla="*/ 0 h 4"/>
                <a:gd name="T4" fmla="*/ 0 w 112"/>
                <a:gd name="T5" fmla="*/ 2 h 4"/>
                <a:gd name="T6" fmla="*/ 2 w 112"/>
                <a:gd name="T7" fmla="*/ 4 h 4"/>
                <a:gd name="T8" fmla="*/ 110 w 112"/>
                <a:gd name="T9" fmla="*/ 4 h 4"/>
                <a:gd name="T10" fmla="*/ 112 w 112"/>
                <a:gd name="T11" fmla="*/ 2 h 4"/>
                <a:gd name="T12" fmla="*/ 110 w 112"/>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12" h="4">
                  <a:moveTo>
                    <a:pt x="110" y="0"/>
                  </a:moveTo>
                  <a:cubicBezTo>
                    <a:pt x="2" y="0"/>
                    <a:pt x="2" y="0"/>
                    <a:pt x="2" y="0"/>
                  </a:cubicBezTo>
                  <a:cubicBezTo>
                    <a:pt x="1" y="0"/>
                    <a:pt x="0" y="1"/>
                    <a:pt x="0" y="2"/>
                  </a:cubicBezTo>
                  <a:cubicBezTo>
                    <a:pt x="0" y="3"/>
                    <a:pt x="1" y="4"/>
                    <a:pt x="2" y="4"/>
                  </a:cubicBezTo>
                  <a:cubicBezTo>
                    <a:pt x="110" y="4"/>
                    <a:pt x="110" y="4"/>
                    <a:pt x="110" y="4"/>
                  </a:cubicBezTo>
                  <a:cubicBezTo>
                    <a:pt x="111" y="4"/>
                    <a:pt x="112" y="3"/>
                    <a:pt x="112" y="2"/>
                  </a:cubicBezTo>
                  <a:cubicBezTo>
                    <a:pt x="112" y="1"/>
                    <a:pt x="111" y="0"/>
                    <a:pt x="110"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77" name="îś1iḓè"/>
            <p:cNvSpPr/>
            <p:nvPr/>
          </p:nvSpPr>
          <p:spPr bwMode="auto">
            <a:xfrm>
              <a:off x="4689476" y="3176588"/>
              <a:ext cx="461963" cy="11113"/>
            </a:xfrm>
            <a:custGeom>
              <a:avLst/>
              <a:gdLst>
                <a:gd name="T0" fmla="*/ 151 w 153"/>
                <a:gd name="T1" fmla="*/ 0 h 4"/>
                <a:gd name="T2" fmla="*/ 2 w 153"/>
                <a:gd name="T3" fmla="*/ 0 h 4"/>
                <a:gd name="T4" fmla="*/ 0 w 153"/>
                <a:gd name="T5" fmla="*/ 2 h 4"/>
                <a:gd name="T6" fmla="*/ 2 w 153"/>
                <a:gd name="T7" fmla="*/ 4 h 4"/>
                <a:gd name="T8" fmla="*/ 151 w 153"/>
                <a:gd name="T9" fmla="*/ 4 h 4"/>
                <a:gd name="T10" fmla="*/ 153 w 153"/>
                <a:gd name="T11" fmla="*/ 2 h 4"/>
                <a:gd name="T12" fmla="*/ 151 w 153"/>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53" h="4">
                  <a:moveTo>
                    <a:pt x="151" y="0"/>
                  </a:moveTo>
                  <a:cubicBezTo>
                    <a:pt x="2" y="0"/>
                    <a:pt x="2" y="0"/>
                    <a:pt x="2" y="0"/>
                  </a:cubicBezTo>
                  <a:cubicBezTo>
                    <a:pt x="1" y="0"/>
                    <a:pt x="0" y="1"/>
                    <a:pt x="0" y="2"/>
                  </a:cubicBezTo>
                  <a:cubicBezTo>
                    <a:pt x="0" y="3"/>
                    <a:pt x="1" y="4"/>
                    <a:pt x="2" y="4"/>
                  </a:cubicBezTo>
                  <a:cubicBezTo>
                    <a:pt x="151" y="4"/>
                    <a:pt x="151" y="4"/>
                    <a:pt x="151" y="4"/>
                  </a:cubicBezTo>
                  <a:cubicBezTo>
                    <a:pt x="152" y="4"/>
                    <a:pt x="153" y="3"/>
                    <a:pt x="153" y="2"/>
                  </a:cubicBezTo>
                  <a:cubicBezTo>
                    <a:pt x="153" y="1"/>
                    <a:pt x="152" y="0"/>
                    <a:pt x="151"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78" name="ïSlidè"/>
            <p:cNvSpPr/>
            <p:nvPr/>
          </p:nvSpPr>
          <p:spPr bwMode="auto">
            <a:xfrm>
              <a:off x="5000626" y="3206751"/>
              <a:ext cx="342900" cy="11113"/>
            </a:xfrm>
            <a:custGeom>
              <a:avLst/>
              <a:gdLst>
                <a:gd name="T0" fmla="*/ 2 w 114"/>
                <a:gd name="T1" fmla="*/ 4 h 4"/>
                <a:gd name="T2" fmla="*/ 112 w 114"/>
                <a:gd name="T3" fmla="*/ 4 h 4"/>
                <a:gd name="T4" fmla="*/ 114 w 114"/>
                <a:gd name="T5" fmla="*/ 2 h 4"/>
                <a:gd name="T6" fmla="*/ 112 w 114"/>
                <a:gd name="T7" fmla="*/ 0 h 4"/>
                <a:gd name="T8" fmla="*/ 2 w 114"/>
                <a:gd name="T9" fmla="*/ 0 h 4"/>
                <a:gd name="T10" fmla="*/ 0 w 114"/>
                <a:gd name="T11" fmla="*/ 2 h 4"/>
                <a:gd name="T12" fmla="*/ 2 w 1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14" h="4">
                  <a:moveTo>
                    <a:pt x="2" y="4"/>
                  </a:moveTo>
                  <a:cubicBezTo>
                    <a:pt x="112" y="4"/>
                    <a:pt x="112" y="4"/>
                    <a:pt x="112" y="4"/>
                  </a:cubicBezTo>
                  <a:cubicBezTo>
                    <a:pt x="113" y="4"/>
                    <a:pt x="114" y="3"/>
                    <a:pt x="114" y="2"/>
                  </a:cubicBezTo>
                  <a:cubicBezTo>
                    <a:pt x="114" y="1"/>
                    <a:pt x="113" y="0"/>
                    <a:pt x="1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79" name="iṩ1íḍé"/>
            <p:cNvSpPr/>
            <p:nvPr/>
          </p:nvSpPr>
          <p:spPr bwMode="auto">
            <a:xfrm>
              <a:off x="4762501" y="3217863"/>
              <a:ext cx="285750" cy="12700"/>
            </a:xfrm>
            <a:custGeom>
              <a:avLst/>
              <a:gdLst>
                <a:gd name="T0" fmla="*/ 93 w 95"/>
                <a:gd name="T1" fmla="*/ 0 h 4"/>
                <a:gd name="T2" fmla="*/ 2 w 95"/>
                <a:gd name="T3" fmla="*/ 0 h 4"/>
                <a:gd name="T4" fmla="*/ 0 w 95"/>
                <a:gd name="T5" fmla="*/ 2 h 4"/>
                <a:gd name="T6" fmla="*/ 2 w 95"/>
                <a:gd name="T7" fmla="*/ 4 h 4"/>
                <a:gd name="T8" fmla="*/ 93 w 95"/>
                <a:gd name="T9" fmla="*/ 4 h 4"/>
                <a:gd name="T10" fmla="*/ 95 w 95"/>
                <a:gd name="T11" fmla="*/ 2 h 4"/>
                <a:gd name="T12" fmla="*/ 93 w 95"/>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95" h="4">
                  <a:moveTo>
                    <a:pt x="93" y="0"/>
                  </a:moveTo>
                  <a:cubicBezTo>
                    <a:pt x="2" y="0"/>
                    <a:pt x="2" y="0"/>
                    <a:pt x="2" y="0"/>
                  </a:cubicBezTo>
                  <a:cubicBezTo>
                    <a:pt x="1" y="0"/>
                    <a:pt x="0" y="1"/>
                    <a:pt x="0" y="2"/>
                  </a:cubicBezTo>
                  <a:cubicBezTo>
                    <a:pt x="0" y="4"/>
                    <a:pt x="1" y="4"/>
                    <a:pt x="2" y="4"/>
                  </a:cubicBezTo>
                  <a:cubicBezTo>
                    <a:pt x="93" y="4"/>
                    <a:pt x="93" y="4"/>
                    <a:pt x="93" y="4"/>
                  </a:cubicBezTo>
                  <a:cubicBezTo>
                    <a:pt x="94" y="4"/>
                    <a:pt x="95" y="4"/>
                    <a:pt x="95" y="2"/>
                  </a:cubicBezTo>
                  <a:cubicBezTo>
                    <a:pt x="95" y="1"/>
                    <a:pt x="94" y="0"/>
                    <a:pt x="93"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80" name="ïś1íḍe"/>
            <p:cNvSpPr/>
            <p:nvPr/>
          </p:nvSpPr>
          <p:spPr bwMode="auto">
            <a:xfrm>
              <a:off x="4689476" y="3130551"/>
              <a:ext cx="133350" cy="12700"/>
            </a:xfrm>
            <a:custGeom>
              <a:avLst/>
              <a:gdLst>
                <a:gd name="T0" fmla="*/ 2 w 44"/>
                <a:gd name="T1" fmla="*/ 4 h 4"/>
                <a:gd name="T2" fmla="*/ 42 w 44"/>
                <a:gd name="T3" fmla="*/ 4 h 4"/>
                <a:gd name="T4" fmla="*/ 44 w 44"/>
                <a:gd name="T5" fmla="*/ 2 h 4"/>
                <a:gd name="T6" fmla="*/ 42 w 44"/>
                <a:gd name="T7" fmla="*/ 0 h 4"/>
                <a:gd name="T8" fmla="*/ 2 w 44"/>
                <a:gd name="T9" fmla="*/ 0 h 4"/>
                <a:gd name="T10" fmla="*/ 0 w 44"/>
                <a:gd name="T11" fmla="*/ 2 h 4"/>
                <a:gd name="T12" fmla="*/ 2 w 4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44" h="4">
                  <a:moveTo>
                    <a:pt x="2" y="4"/>
                  </a:moveTo>
                  <a:cubicBezTo>
                    <a:pt x="42" y="4"/>
                    <a:pt x="42" y="4"/>
                    <a:pt x="42" y="4"/>
                  </a:cubicBezTo>
                  <a:cubicBezTo>
                    <a:pt x="43" y="4"/>
                    <a:pt x="44" y="3"/>
                    <a:pt x="44" y="2"/>
                  </a:cubicBezTo>
                  <a:cubicBezTo>
                    <a:pt x="44" y="1"/>
                    <a:pt x="43" y="0"/>
                    <a:pt x="4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81" name="î$ļiḍé"/>
            <p:cNvSpPr/>
            <p:nvPr/>
          </p:nvSpPr>
          <p:spPr bwMode="auto">
            <a:xfrm>
              <a:off x="4800601" y="3308351"/>
              <a:ext cx="93663" cy="12700"/>
            </a:xfrm>
            <a:custGeom>
              <a:avLst/>
              <a:gdLst>
                <a:gd name="T0" fmla="*/ 29 w 31"/>
                <a:gd name="T1" fmla="*/ 0 h 4"/>
                <a:gd name="T2" fmla="*/ 2 w 31"/>
                <a:gd name="T3" fmla="*/ 0 h 4"/>
                <a:gd name="T4" fmla="*/ 0 w 31"/>
                <a:gd name="T5" fmla="*/ 2 h 4"/>
                <a:gd name="T6" fmla="*/ 2 w 31"/>
                <a:gd name="T7" fmla="*/ 4 h 4"/>
                <a:gd name="T8" fmla="*/ 29 w 31"/>
                <a:gd name="T9" fmla="*/ 4 h 4"/>
                <a:gd name="T10" fmla="*/ 31 w 31"/>
                <a:gd name="T11" fmla="*/ 2 h 4"/>
                <a:gd name="T12" fmla="*/ 29 w 31"/>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1" h="4">
                  <a:moveTo>
                    <a:pt x="29" y="0"/>
                  </a:moveTo>
                  <a:cubicBezTo>
                    <a:pt x="2" y="0"/>
                    <a:pt x="2" y="0"/>
                    <a:pt x="2" y="0"/>
                  </a:cubicBezTo>
                  <a:cubicBezTo>
                    <a:pt x="0" y="0"/>
                    <a:pt x="0" y="1"/>
                    <a:pt x="0" y="2"/>
                  </a:cubicBezTo>
                  <a:cubicBezTo>
                    <a:pt x="0" y="3"/>
                    <a:pt x="0" y="4"/>
                    <a:pt x="2" y="4"/>
                  </a:cubicBezTo>
                  <a:cubicBezTo>
                    <a:pt x="29" y="4"/>
                    <a:pt x="29" y="4"/>
                    <a:pt x="29" y="4"/>
                  </a:cubicBezTo>
                  <a:cubicBezTo>
                    <a:pt x="30" y="4"/>
                    <a:pt x="31" y="3"/>
                    <a:pt x="31" y="2"/>
                  </a:cubicBezTo>
                  <a:cubicBezTo>
                    <a:pt x="31" y="1"/>
                    <a:pt x="30" y="0"/>
                    <a:pt x="29"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82" name="ïś1ídè"/>
            <p:cNvSpPr/>
            <p:nvPr/>
          </p:nvSpPr>
          <p:spPr bwMode="auto">
            <a:xfrm>
              <a:off x="4683126" y="3344863"/>
              <a:ext cx="203200" cy="11113"/>
            </a:xfrm>
            <a:custGeom>
              <a:avLst/>
              <a:gdLst>
                <a:gd name="T0" fmla="*/ 65 w 67"/>
                <a:gd name="T1" fmla="*/ 0 h 4"/>
                <a:gd name="T2" fmla="*/ 2 w 67"/>
                <a:gd name="T3" fmla="*/ 0 h 4"/>
                <a:gd name="T4" fmla="*/ 0 w 67"/>
                <a:gd name="T5" fmla="*/ 2 h 4"/>
                <a:gd name="T6" fmla="*/ 2 w 67"/>
                <a:gd name="T7" fmla="*/ 4 h 4"/>
                <a:gd name="T8" fmla="*/ 65 w 67"/>
                <a:gd name="T9" fmla="*/ 4 h 4"/>
                <a:gd name="T10" fmla="*/ 67 w 67"/>
                <a:gd name="T11" fmla="*/ 2 h 4"/>
                <a:gd name="T12" fmla="*/ 65 w 67"/>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67" h="4">
                  <a:moveTo>
                    <a:pt x="65" y="0"/>
                  </a:moveTo>
                  <a:cubicBezTo>
                    <a:pt x="2" y="0"/>
                    <a:pt x="2" y="0"/>
                    <a:pt x="2" y="0"/>
                  </a:cubicBezTo>
                  <a:cubicBezTo>
                    <a:pt x="1" y="0"/>
                    <a:pt x="0" y="1"/>
                    <a:pt x="0" y="2"/>
                  </a:cubicBezTo>
                  <a:cubicBezTo>
                    <a:pt x="0" y="3"/>
                    <a:pt x="1" y="4"/>
                    <a:pt x="2" y="4"/>
                  </a:cubicBezTo>
                  <a:cubicBezTo>
                    <a:pt x="65" y="4"/>
                    <a:pt x="65" y="4"/>
                    <a:pt x="65" y="4"/>
                  </a:cubicBezTo>
                  <a:cubicBezTo>
                    <a:pt x="66" y="4"/>
                    <a:pt x="67" y="3"/>
                    <a:pt x="67" y="2"/>
                  </a:cubicBezTo>
                  <a:cubicBezTo>
                    <a:pt x="67" y="1"/>
                    <a:pt x="66" y="0"/>
                    <a:pt x="65"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83" name="îṥḷidè"/>
            <p:cNvSpPr/>
            <p:nvPr/>
          </p:nvSpPr>
          <p:spPr bwMode="auto">
            <a:xfrm>
              <a:off x="4967288" y="3308351"/>
              <a:ext cx="44450" cy="12700"/>
            </a:xfrm>
            <a:custGeom>
              <a:avLst/>
              <a:gdLst>
                <a:gd name="T0" fmla="*/ 2 w 15"/>
                <a:gd name="T1" fmla="*/ 4 h 4"/>
                <a:gd name="T2" fmla="*/ 13 w 15"/>
                <a:gd name="T3" fmla="*/ 4 h 4"/>
                <a:gd name="T4" fmla="*/ 15 w 15"/>
                <a:gd name="T5" fmla="*/ 2 h 4"/>
                <a:gd name="T6" fmla="*/ 13 w 15"/>
                <a:gd name="T7" fmla="*/ 0 h 4"/>
                <a:gd name="T8" fmla="*/ 2 w 15"/>
                <a:gd name="T9" fmla="*/ 0 h 4"/>
                <a:gd name="T10" fmla="*/ 0 w 15"/>
                <a:gd name="T11" fmla="*/ 2 h 4"/>
                <a:gd name="T12" fmla="*/ 2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2" y="4"/>
                  </a:moveTo>
                  <a:cubicBezTo>
                    <a:pt x="13" y="4"/>
                    <a:pt x="13" y="4"/>
                    <a:pt x="13" y="4"/>
                  </a:cubicBezTo>
                  <a:cubicBezTo>
                    <a:pt x="14" y="4"/>
                    <a:pt x="15" y="3"/>
                    <a:pt x="15" y="2"/>
                  </a:cubicBezTo>
                  <a:cubicBezTo>
                    <a:pt x="15" y="1"/>
                    <a:pt x="14" y="0"/>
                    <a:pt x="1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84" name="iSļîḋe"/>
            <p:cNvSpPr/>
            <p:nvPr/>
          </p:nvSpPr>
          <p:spPr bwMode="auto">
            <a:xfrm>
              <a:off x="5027613" y="3308351"/>
              <a:ext cx="47625" cy="12700"/>
            </a:xfrm>
            <a:custGeom>
              <a:avLst/>
              <a:gdLst>
                <a:gd name="T0" fmla="*/ 2 w 16"/>
                <a:gd name="T1" fmla="*/ 4 h 4"/>
                <a:gd name="T2" fmla="*/ 14 w 16"/>
                <a:gd name="T3" fmla="*/ 4 h 4"/>
                <a:gd name="T4" fmla="*/ 16 w 16"/>
                <a:gd name="T5" fmla="*/ 2 h 4"/>
                <a:gd name="T6" fmla="*/ 14 w 16"/>
                <a:gd name="T7" fmla="*/ 0 h 4"/>
                <a:gd name="T8" fmla="*/ 2 w 16"/>
                <a:gd name="T9" fmla="*/ 0 h 4"/>
                <a:gd name="T10" fmla="*/ 0 w 16"/>
                <a:gd name="T11" fmla="*/ 2 h 4"/>
                <a:gd name="T12" fmla="*/ 2 w 1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2" y="4"/>
                  </a:moveTo>
                  <a:cubicBezTo>
                    <a:pt x="14" y="4"/>
                    <a:pt x="14" y="4"/>
                    <a:pt x="14" y="4"/>
                  </a:cubicBezTo>
                  <a:cubicBezTo>
                    <a:pt x="15" y="4"/>
                    <a:pt x="16" y="3"/>
                    <a:pt x="16" y="2"/>
                  </a:cubicBezTo>
                  <a:cubicBezTo>
                    <a:pt x="16" y="1"/>
                    <a:pt x="15" y="0"/>
                    <a:pt x="1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85" name="iSḷîḓe"/>
            <p:cNvSpPr/>
            <p:nvPr/>
          </p:nvSpPr>
          <p:spPr bwMode="auto">
            <a:xfrm>
              <a:off x="5091113" y="3308351"/>
              <a:ext cx="44450" cy="12700"/>
            </a:xfrm>
            <a:custGeom>
              <a:avLst/>
              <a:gdLst>
                <a:gd name="T0" fmla="*/ 2 w 15"/>
                <a:gd name="T1" fmla="*/ 4 h 4"/>
                <a:gd name="T2" fmla="*/ 13 w 15"/>
                <a:gd name="T3" fmla="*/ 4 h 4"/>
                <a:gd name="T4" fmla="*/ 15 w 15"/>
                <a:gd name="T5" fmla="*/ 2 h 4"/>
                <a:gd name="T6" fmla="*/ 13 w 15"/>
                <a:gd name="T7" fmla="*/ 0 h 4"/>
                <a:gd name="T8" fmla="*/ 2 w 15"/>
                <a:gd name="T9" fmla="*/ 0 h 4"/>
                <a:gd name="T10" fmla="*/ 0 w 15"/>
                <a:gd name="T11" fmla="*/ 2 h 4"/>
                <a:gd name="T12" fmla="*/ 2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2" y="4"/>
                  </a:moveTo>
                  <a:cubicBezTo>
                    <a:pt x="13" y="4"/>
                    <a:pt x="13" y="4"/>
                    <a:pt x="13" y="4"/>
                  </a:cubicBezTo>
                  <a:cubicBezTo>
                    <a:pt x="14" y="4"/>
                    <a:pt x="15" y="3"/>
                    <a:pt x="15" y="2"/>
                  </a:cubicBezTo>
                  <a:cubicBezTo>
                    <a:pt x="15" y="1"/>
                    <a:pt x="14" y="0"/>
                    <a:pt x="1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86" name="îṡḷiḑé"/>
            <p:cNvSpPr/>
            <p:nvPr/>
          </p:nvSpPr>
          <p:spPr bwMode="auto">
            <a:xfrm>
              <a:off x="5151438" y="3308351"/>
              <a:ext cx="47625" cy="12700"/>
            </a:xfrm>
            <a:custGeom>
              <a:avLst/>
              <a:gdLst>
                <a:gd name="T0" fmla="*/ 2 w 16"/>
                <a:gd name="T1" fmla="*/ 4 h 4"/>
                <a:gd name="T2" fmla="*/ 14 w 16"/>
                <a:gd name="T3" fmla="*/ 4 h 4"/>
                <a:gd name="T4" fmla="*/ 16 w 16"/>
                <a:gd name="T5" fmla="*/ 2 h 4"/>
                <a:gd name="T6" fmla="*/ 14 w 16"/>
                <a:gd name="T7" fmla="*/ 0 h 4"/>
                <a:gd name="T8" fmla="*/ 2 w 16"/>
                <a:gd name="T9" fmla="*/ 0 h 4"/>
                <a:gd name="T10" fmla="*/ 0 w 16"/>
                <a:gd name="T11" fmla="*/ 2 h 4"/>
                <a:gd name="T12" fmla="*/ 2 w 1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2" y="4"/>
                  </a:moveTo>
                  <a:cubicBezTo>
                    <a:pt x="14" y="4"/>
                    <a:pt x="14" y="4"/>
                    <a:pt x="14" y="4"/>
                  </a:cubicBezTo>
                  <a:cubicBezTo>
                    <a:pt x="15" y="4"/>
                    <a:pt x="16" y="3"/>
                    <a:pt x="16" y="2"/>
                  </a:cubicBezTo>
                  <a:cubicBezTo>
                    <a:pt x="16" y="1"/>
                    <a:pt x="15" y="0"/>
                    <a:pt x="1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87" name="ïşļîḋé"/>
            <p:cNvSpPr/>
            <p:nvPr/>
          </p:nvSpPr>
          <p:spPr bwMode="auto">
            <a:xfrm>
              <a:off x="5214938" y="3308351"/>
              <a:ext cx="44450" cy="12700"/>
            </a:xfrm>
            <a:custGeom>
              <a:avLst/>
              <a:gdLst>
                <a:gd name="T0" fmla="*/ 2 w 15"/>
                <a:gd name="T1" fmla="*/ 4 h 4"/>
                <a:gd name="T2" fmla="*/ 13 w 15"/>
                <a:gd name="T3" fmla="*/ 4 h 4"/>
                <a:gd name="T4" fmla="*/ 15 w 15"/>
                <a:gd name="T5" fmla="*/ 2 h 4"/>
                <a:gd name="T6" fmla="*/ 13 w 15"/>
                <a:gd name="T7" fmla="*/ 0 h 4"/>
                <a:gd name="T8" fmla="*/ 2 w 15"/>
                <a:gd name="T9" fmla="*/ 0 h 4"/>
                <a:gd name="T10" fmla="*/ 0 w 15"/>
                <a:gd name="T11" fmla="*/ 2 h 4"/>
                <a:gd name="T12" fmla="*/ 2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2" y="4"/>
                  </a:moveTo>
                  <a:cubicBezTo>
                    <a:pt x="13" y="4"/>
                    <a:pt x="13" y="4"/>
                    <a:pt x="13" y="4"/>
                  </a:cubicBezTo>
                  <a:cubicBezTo>
                    <a:pt x="14" y="4"/>
                    <a:pt x="15" y="3"/>
                    <a:pt x="15" y="2"/>
                  </a:cubicBezTo>
                  <a:cubicBezTo>
                    <a:pt x="15" y="1"/>
                    <a:pt x="14" y="0"/>
                    <a:pt x="1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88" name="íšľîḓê"/>
            <p:cNvSpPr/>
            <p:nvPr/>
          </p:nvSpPr>
          <p:spPr bwMode="auto">
            <a:xfrm>
              <a:off x="5276851" y="3308351"/>
              <a:ext cx="46038" cy="12700"/>
            </a:xfrm>
            <a:custGeom>
              <a:avLst/>
              <a:gdLst>
                <a:gd name="T0" fmla="*/ 2 w 15"/>
                <a:gd name="T1" fmla="*/ 4 h 4"/>
                <a:gd name="T2" fmla="*/ 13 w 15"/>
                <a:gd name="T3" fmla="*/ 4 h 4"/>
                <a:gd name="T4" fmla="*/ 15 w 15"/>
                <a:gd name="T5" fmla="*/ 2 h 4"/>
                <a:gd name="T6" fmla="*/ 13 w 15"/>
                <a:gd name="T7" fmla="*/ 0 h 4"/>
                <a:gd name="T8" fmla="*/ 2 w 15"/>
                <a:gd name="T9" fmla="*/ 0 h 4"/>
                <a:gd name="T10" fmla="*/ 0 w 15"/>
                <a:gd name="T11" fmla="*/ 2 h 4"/>
                <a:gd name="T12" fmla="*/ 2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2" y="4"/>
                  </a:moveTo>
                  <a:cubicBezTo>
                    <a:pt x="13" y="4"/>
                    <a:pt x="13" y="4"/>
                    <a:pt x="13" y="4"/>
                  </a:cubicBezTo>
                  <a:cubicBezTo>
                    <a:pt x="14" y="4"/>
                    <a:pt x="15" y="3"/>
                    <a:pt x="15" y="2"/>
                  </a:cubicBezTo>
                  <a:cubicBezTo>
                    <a:pt x="15" y="1"/>
                    <a:pt x="14" y="0"/>
                    <a:pt x="1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89" name="ïṧlîḋè"/>
            <p:cNvSpPr/>
            <p:nvPr/>
          </p:nvSpPr>
          <p:spPr bwMode="auto">
            <a:xfrm>
              <a:off x="4967288" y="3335338"/>
              <a:ext cx="33338" cy="12700"/>
            </a:xfrm>
            <a:custGeom>
              <a:avLst/>
              <a:gdLst>
                <a:gd name="T0" fmla="*/ 2 w 11"/>
                <a:gd name="T1" fmla="*/ 4 h 4"/>
                <a:gd name="T2" fmla="*/ 9 w 11"/>
                <a:gd name="T3" fmla="*/ 4 h 4"/>
                <a:gd name="T4" fmla="*/ 11 w 11"/>
                <a:gd name="T5" fmla="*/ 2 h 4"/>
                <a:gd name="T6" fmla="*/ 9 w 11"/>
                <a:gd name="T7" fmla="*/ 0 h 4"/>
                <a:gd name="T8" fmla="*/ 2 w 11"/>
                <a:gd name="T9" fmla="*/ 0 h 4"/>
                <a:gd name="T10" fmla="*/ 0 w 11"/>
                <a:gd name="T11" fmla="*/ 2 h 4"/>
                <a:gd name="T12" fmla="*/ 2 w 11"/>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1" h="4">
                  <a:moveTo>
                    <a:pt x="2" y="4"/>
                  </a:moveTo>
                  <a:cubicBezTo>
                    <a:pt x="9" y="4"/>
                    <a:pt x="9" y="4"/>
                    <a:pt x="9" y="4"/>
                  </a:cubicBezTo>
                  <a:cubicBezTo>
                    <a:pt x="10" y="4"/>
                    <a:pt x="11" y="3"/>
                    <a:pt x="11" y="2"/>
                  </a:cubicBezTo>
                  <a:cubicBezTo>
                    <a:pt x="11" y="1"/>
                    <a:pt x="10" y="0"/>
                    <a:pt x="9"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90" name="ísḻíďè"/>
            <p:cNvSpPr/>
            <p:nvPr/>
          </p:nvSpPr>
          <p:spPr bwMode="auto">
            <a:xfrm>
              <a:off x="5018088" y="3335338"/>
              <a:ext cx="33338" cy="12700"/>
            </a:xfrm>
            <a:custGeom>
              <a:avLst/>
              <a:gdLst>
                <a:gd name="T0" fmla="*/ 2 w 11"/>
                <a:gd name="T1" fmla="*/ 4 h 4"/>
                <a:gd name="T2" fmla="*/ 9 w 11"/>
                <a:gd name="T3" fmla="*/ 4 h 4"/>
                <a:gd name="T4" fmla="*/ 11 w 11"/>
                <a:gd name="T5" fmla="*/ 2 h 4"/>
                <a:gd name="T6" fmla="*/ 9 w 11"/>
                <a:gd name="T7" fmla="*/ 0 h 4"/>
                <a:gd name="T8" fmla="*/ 2 w 11"/>
                <a:gd name="T9" fmla="*/ 0 h 4"/>
                <a:gd name="T10" fmla="*/ 0 w 11"/>
                <a:gd name="T11" fmla="*/ 2 h 4"/>
                <a:gd name="T12" fmla="*/ 2 w 11"/>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1" h="4">
                  <a:moveTo>
                    <a:pt x="2" y="4"/>
                  </a:moveTo>
                  <a:cubicBezTo>
                    <a:pt x="9" y="4"/>
                    <a:pt x="9" y="4"/>
                    <a:pt x="9" y="4"/>
                  </a:cubicBezTo>
                  <a:cubicBezTo>
                    <a:pt x="10" y="4"/>
                    <a:pt x="11" y="3"/>
                    <a:pt x="11" y="2"/>
                  </a:cubicBezTo>
                  <a:cubicBezTo>
                    <a:pt x="11" y="1"/>
                    <a:pt x="10" y="0"/>
                    <a:pt x="9"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91" name="ïsļiḓé"/>
            <p:cNvSpPr/>
            <p:nvPr/>
          </p:nvSpPr>
          <p:spPr bwMode="auto">
            <a:xfrm>
              <a:off x="5068888" y="3335338"/>
              <a:ext cx="33338" cy="12700"/>
            </a:xfrm>
            <a:custGeom>
              <a:avLst/>
              <a:gdLst>
                <a:gd name="T0" fmla="*/ 2 w 11"/>
                <a:gd name="T1" fmla="*/ 4 h 4"/>
                <a:gd name="T2" fmla="*/ 9 w 11"/>
                <a:gd name="T3" fmla="*/ 4 h 4"/>
                <a:gd name="T4" fmla="*/ 11 w 11"/>
                <a:gd name="T5" fmla="*/ 2 h 4"/>
                <a:gd name="T6" fmla="*/ 9 w 11"/>
                <a:gd name="T7" fmla="*/ 0 h 4"/>
                <a:gd name="T8" fmla="*/ 2 w 11"/>
                <a:gd name="T9" fmla="*/ 0 h 4"/>
                <a:gd name="T10" fmla="*/ 0 w 11"/>
                <a:gd name="T11" fmla="*/ 2 h 4"/>
                <a:gd name="T12" fmla="*/ 2 w 11"/>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1" h="4">
                  <a:moveTo>
                    <a:pt x="2" y="4"/>
                  </a:moveTo>
                  <a:cubicBezTo>
                    <a:pt x="9" y="4"/>
                    <a:pt x="9" y="4"/>
                    <a:pt x="9" y="4"/>
                  </a:cubicBezTo>
                  <a:cubicBezTo>
                    <a:pt x="10" y="4"/>
                    <a:pt x="11" y="3"/>
                    <a:pt x="11" y="2"/>
                  </a:cubicBezTo>
                  <a:cubicBezTo>
                    <a:pt x="11" y="1"/>
                    <a:pt x="10" y="0"/>
                    <a:pt x="9"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92" name="îṩḻiḋe"/>
            <p:cNvSpPr/>
            <p:nvPr/>
          </p:nvSpPr>
          <p:spPr bwMode="auto">
            <a:xfrm>
              <a:off x="5121276" y="3335338"/>
              <a:ext cx="33338" cy="12700"/>
            </a:xfrm>
            <a:custGeom>
              <a:avLst/>
              <a:gdLst>
                <a:gd name="T0" fmla="*/ 2 w 11"/>
                <a:gd name="T1" fmla="*/ 4 h 4"/>
                <a:gd name="T2" fmla="*/ 9 w 11"/>
                <a:gd name="T3" fmla="*/ 4 h 4"/>
                <a:gd name="T4" fmla="*/ 11 w 11"/>
                <a:gd name="T5" fmla="*/ 2 h 4"/>
                <a:gd name="T6" fmla="*/ 9 w 11"/>
                <a:gd name="T7" fmla="*/ 0 h 4"/>
                <a:gd name="T8" fmla="*/ 2 w 11"/>
                <a:gd name="T9" fmla="*/ 0 h 4"/>
                <a:gd name="T10" fmla="*/ 0 w 11"/>
                <a:gd name="T11" fmla="*/ 2 h 4"/>
                <a:gd name="T12" fmla="*/ 2 w 11"/>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1" h="4">
                  <a:moveTo>
                    <a:pt x="2" y="4"/>
                  </a:moveTo>
                  <a:cubicBezTo>
                    <a:pt x="9" y="4"/>
                    <a:pt x="9" y="4"/>
                    <a:pt x="9" y="4"/>
                  </a:cubicBezTo>
                  <a:cubicBezTo>
                    <a:pt x="10" y="4"/>
                    <a:pt x="11" y="3"/>
                    <a:pt x="11" y="2"/>
                  </a:cubicBezTo>
                  <a:cubicBezTo>
                    <a:pt x="11" y="1"/>
                    <a:pt x="10" y="0"/>
                    <a:pt x="9" y="0"/>
                  </a:cubicBezTo>
                  <a:cubicBezTo>
                    <a:pt x="2" y="0"/>
                    <a:pt x="2" y="0"/>
                    <a:pt x="2" y="0"/>
                  </a:cubicBezTo>
                  <a:cubicBezTo>
                    <a:pt x="0" y="0"/>
                    <a:pt x="0" y="1"/>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93" name="ïṥḷïdè"/>
            <p:cNvSpPr/>
            <p:nvPr/>
          </p:nvSpPr>
          <p:spPr bwMode="auto">
            <a:xfrm>
              <a:off x="5172076" y="3335338"/>
              <a:ext cx="33338" cy="12700"/>
            </a:xfrm>
            <a:custGeom>
              <a:avLst/>
              <a:gdLst>
                <a:gd name="T0" fmla="*/ 2 w 11"/>
                <a:gd name="T1" fmla="*/ 4 h 4"/>
                <a:gd name="T2" fmla="*/ 9 w 11"/>
                <a:gd name="T3" fmla="*/ 4 h 4"/>
                <a:gd name="T4" fmla="*/ 11 w 11"/>
                <a:gd name="T5" fmla="*/ 2 h 4"/>
                <a:gd name="T6" fmla="*/ 9 w 11"/>
                <a:gd name="T7" fmla="*/ 0 h 4"/>
                <a:gd name="T8" fmla="*/ 2 w 11"/>
                <a:gd name="T9" fmla="*/ 0 h 4"/>
                <a:gd name="T10" fmla="*/ 0 w 11"/>
                <a:gd name="T11" fmla="*/ 2 h 4"/>
                <a:gd name="T12" fmla="*/ 2 w 11"/>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1" h="4">
                  <a:moveTo>
                    <a:pt x="2" y="4"/>
                  </a:moveTo>
                  <a:cubicBezTo>
                    <a:pt x="9" y="4"/>
                    <a:pt x="9" y="4"/>
                    <a:pt x="9" y="4"/>
                  </a:cubicBezTo>
                  <a:cubicBezTo>
                    <a:pt x="10" y="4"/>
                    <a:pt x="11" y="3"/>
                    <a:pt x="11" y="2"/>
                  </a:cubicBezTo>
                  <a:cubicBezTo>
                    <a:pt x="11" y="1"/>
                    <a:pt x="10" y="0"/>
                    <a:pt x="9" y="0"/>
                  </a:cubicBezTo>
                  <a:cubicBezTo>
                    <a:pt x="2" y="0"/>
                    <a:pt x="2" y="0"/>
                    <a:pt x="2" y="0"/>
                  </a:cubicBezTo>
                  <a:cubicBezTo>
                    <a:pt x="0" y="0"/>
                    <a:pt x="0" y="1"/>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94" name="îṩlïďê"/>
            <p:cNvSpPr/>
            <p:nvPr/>
          </p:nvSpPr>
          <p:spPr bwMode="auto">
            <a:xfrm>
              <a:off x="5219701" y="3335338"/>
              <a:ext cx="36513" cy="12700"/>
            </a:xfrm>
            <a:custGeom>
              <a:avLst/>
              <a:gdLst>
                <a:gd name="T0" fmla="*/ 2 w 12"/>
                <a:gd name="T1" fmla="*/ 4 h 4"/>
                <a:gd name="T2" fmla="*/ 10 w 12"/>
                <a:gd name="T3" fmla="*/ 4 h 4"/>
                <a:gd name="T4" fmla="*/ 12 w 12"/>
                <a:gd name="T5" fmla="*/ 2 h 4"/>
                <a:gd name="T6" fmla="*/ 10 w 12"/>
                <a:gd name="T7" fmla="*/ 0 h 4"/>
                <a:gd name="T8" fmla="*/ 2 w 12"/>
                <a:gd name="T9" fmla="*/ 0 h 4"/>
                <a:gd name="T10" fmla="*/ 0 w 12"/>
                <a:gd name="T11" fmla="*/ 2 h 4"/>
                <a:gd name="T12" fmla="*/ 2 w 1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2" h="4">
                  <a:moveTo>
                    <a:pt x="2" y="4"/>
                  </a:moveTo>
                  <a:cubicBezTo>
                    <a:pt x="10" y="4"/>
                    <a:pt x="10" y="4"/>
                    <a:pt x="10" y="4"/>
                  </a:cubicBezTo>
                  <a:cubicBezTo>
                    <a:pt x="11" y="4"/>
                    <a:pt x="12" y="3"/>
                    <a:pt x="12" y="2"/>
                  </a:cubicBezTo>
                  <a:cubicBezTo>
                    <a:pt x="12" y="1"/>
                    <a:pt x="11" y="0"/>
                    <a:pt x="10"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95" name="îşlíḑè"/>
            <p:cNvSpPr/>
            <p:nvPr/>
          </p:nvSpPr>
          <p:spPr bwMode="auto">
            <a:xfrm>
              <a:off x="5272088" y="3335338"/>
              <a:ext cx="34925" cy="12700"/>
            </a:xfrm>
            <a:custGeom>
              <a:avLst/>
              <a:gdLst>
                <a:gd name="T0" fmla="*/ 2 w 12"/>
                <a:gd name="T1" fmla="*/ 4 h 4"/>
                <a:gd name="T2" fmla="*/ 10 w 12"/>
                <a:gd name="T3" fmla="*/ 4 h 4"/>
                <a:gd name="T4" fmla="*/ 12 w 12"/>
                <a:gd name="T5" fmla="*/ 2 h 4"/>
                <a:gd name="T6" fmla="*/ 10 w 12"/>
                <a:gd name="T7" fmla="*/ 0 h 4"/>
                <a:gd name="T8" fmla="*/ 2 w 12"/>
                <a:gd name="T9" fmla="*/ 0 h 4"/>
                <a:gd name="T10" fmla="*/ 0 w 12"/>
                <a:gd name="T11" fmla="*/ 2 h 4"/>
                <a:gd name="T12" fmla="*/ 2 w 1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2" h="4">
                  <a:moveTo>
                    <a:pt x="2" y="4"/>
                  </a:moveTo>
                  <a:cubicBezTo>
                    <a:pt x="10" y="4"/>
                    <a:pt x="10" y="4"/>
                    <a:pt x="10" y="4"/>
                  </a:cubicBezTo>
                  <a:cubicBezTo>
                    <a:pt x="11" y="4"/>
                    <a:pt x="12" y="3"/>
                    <a:pt x="12" y="2"/>
                  </a:cubicBezTo>
                  <a:cubicBezTo>
                    <a:pt x="12" y="1"/>
                    <a:pt x="11" y="0"/>
                    <a:pt x="10"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96" name="îṩ1iḑe"/>
            <p:cNvSpPr/>
            <p:nvPr/>
          </p:nvSpPr>
          <p:spPr bwMode="auto">
            <a:xfrm>
              <a:off x="4686301" y="3443288"/>
              <a:ext cx="36513" cy="60325"/>
            </a:xfrm>
            <a:custGeom>
              <a:avLst/>
              <a:gdLst>
                <a:gd name="T0" fmla="*/ 9 w 12"/>
                <a:gd name="T1" fmla="*/ 0 h 20"/>
                <a:gd name="T2" fmla="*/ 1 w 12"/>
                <a:gd name="T3" fmla="*/ 8 h 20"/>
                <a:gd name="T4" fmla="*/ 1 w 12"/>
                <a:gd name="T5" fmla="*/ 11 h 20"/>
                <a:gd name="T6" fmla="*/ 8 w 12"/>
                <a:gd name="T7" fmla="*/ 19 h 20"/>
                <a:gd name="T8" fmla="*/ 11 w 12"/>
                <a:gd name="T9" fmla="*/ 19 h 20"/>
                <a:gd name="T10" fmla="*/ 11 w 12"/>
                <a:gd name="T11" fmla="*/ 16 h 20"/>
                <a:gd name="T12" fmla="*/ 5 w 12"/>
                <a:gd name="T13" fmla="*/ 10 h 20"/>
                <a:gd name="T14" fmla="*/ 12 w 12"/>
                <a:gd name="T15" fmla="*/ 3 h 20"/>
                <a:gd name="T16" fmla="*/ 12 w 12"/>
                <a:gd name="T17" fmla="*/ 0 h 20"/>
                <a:gd name="T18" fmla="*/ 9 w 1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0">
                  <a:moveTo>
                    <a:pt x="9" y="0"/>
                  </a:moveTo>
                  <a:cubicBezTo>
                    <a:pt x="1" y="8"/>
                    <a:pt x="1" y="8"/>
                    <a:pt x="1" y="8"/>
                  </a:cubicBezTo>
                  <a:cubicBezTo>
                    <a:pt x="0" y="9"/>
                    <a:pt x="0" y="10"/>
                    <a:pt x="1" y="11"/>
                  </a:cubicBezTo>
                  <a:cubicBezTo>
                    <a:pt x="8" y="19"/>
                    <a:pt x="8" y="19"/>
                    <a:pt x="8" y="19"/>
                  </a:cubicBezTo>
                  <a:cubicBezTo>
                    <a:pt x="9" y="20"/>
                    <a:pt x="11" y="20"/>
                    <a:pt x="11" y="19"/>
                  </a:cubicBezTo>
                  <a:cubicBezTo>
                    <a:pt x="12" y="18"/>
                    <a:pt x="12" y="17"/>
                    <a:pt x="11" y="16"/>
                  </a:cubicBezTo>
                  <a:cubicBezTo>
                    <a:pt x="5" y="10"/>
                    <a:pt x="5" y="10"/>
                    <a:pt x="5" y="10"/>
                  </a:cubicBezTo>
                  <a:cubicBezTo>
                    <a:pt x="12" y="3"/>
                    <a:pt x="12" y="3"/>
                    <a:pt x="12" y="3"/>
                  </a:cubicBezTo>
                  <a:cubicBezTo>
                    <a:pt x="12" y="2"/>
                    <a:pt x="12" y="1"/>
                    <a:pt x="12" y="0"/>
                  </a:cubicBezTo>
                  <a:cubicBezTo>
                    <a:pt x="11" y="0"/>
                    <a:pt x="10" y="0"/>
                    <a:pt x="9" y="0"/>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97" name="iś1ïdè"/>
            <p:cNvSpPr/>
            <p:nvPr/>
          </p:nvSpPr>
          <p:spPr bwMode="auto">
            <a:xfrm>
              <a:off x="4711701" y="3443288"/>
              <a:ext cx="34925" cy="60325"/>
            </a:xfrm>
            <a:custGeom>
              <a:avLst/>
              <a:gdLst>
                <a:gd name="T0" fmla="*/ 9 w 12"/>
                <a:gd name="T1" fmla="*/ 0 h 20"/>
                <a:gd name="T2" fmla="*/ 1 w 12"/>
                <a:gd name="T3" fmla="*/ 8 h 20"/>
                <a:gd name="T4" fmla="*/ 1 w 12"/>
                <a:gd name="T5" fmla="*/ 11 h 20"/>
                <a:gd name="T6" fmla="*/ 8 w 12"/>
                <a:gd name="T7" fmla="*/ 19 h 20"/>
                <a:gd name="T8" fmla="*/ 11 w 12"/>
                <a:gd name="T9" fmla="*/ 19 h 20"/>
                <a:gd name="T10" fmla="*/ 11 w 12"/>
                <a:gd name="T11" fmla="*/ 16 h 20"/>
                <a:gd name="T12" fmla="*/ 5 w 12"/>
                <a:gd name="T13" fmla="*/ 10 h 20"/>
                <a:gd name="T14" fmla="*/ 12 w 12"/>
                <a:gd name="T15" fmla="*/ 3 h 20"/>
                <a:gd name="T16" fmla="*/ 12 w 12"/>
                <a:gd name="T17" fmla="*/ 0 h 20"/>
                <a:gd name="T18" fmla="*/ 9 w 1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0">
                  <a:moveTo>
                    <a:pt x="9" y="0"/>
                  </a:moveTo>
                  <a:cubicBezTo>
                    <a:pt x="1" y="8"/>
                    <a:pt x="1" y="8"/>
                    <a:pt x="1" y="8"/>
                  </a:cubicBezTo>
                  <a:cubicBezTo>
                    <a:pt x="0" y="9"/>
                    <a:pt x="0" y="10"/>
                    <a:pt x="1" y="11"/>
                  </a:cubicBezTo>
                  <a:cubicBezTo>
                    <a:pt x="8" y="19"/>
                    <a:pt x="8" y="19"/>
                    <a:pt x="8" y="19"/>
                  </a:cubicBezTo>
                  <a:cubicBezTo>
                    <a:pt x="9" y="20"/>
                    <a:pt x="11" y="20"/>
                    <a:pt x="11" y="19"/>
                  </a:cubicBezTo>
                  <a:cubicBezTo>
                    <a:pt x="12" y="18"/>
                    <a:pt x="12" y="17"/>
                    <a:pt x="11" y="16"/>
                  </a:cubicBezTo>
                  <a:cubicBezTo>
                    <a:pt x="5" y="10"/>
                    <a:pt x="5" y="10"/>
                    <a:pt x="5" y="10"/>
                  </a:cubicBezTo>
                  <a:cubicBezTo>
                    <a:pt x="12" y="3"/>
                    <a:pt x="12" y="3"/>
                    <a:pt x="12" y="3"/>
                  </a:cubicBezTo>
                  <a:cubicBezTo>
                    <a:pt x="12" y="2"/>
                    <a:pt x="12" y="1"/>
                    <a:pt x="12" y="0"/>
                  </a:cubicBezTo>
                  <a:cubicBezTo>
                    <a:pt x="11" y="0"/>
                    <a:pt x="10" y="0"/>
                    <a:pt x="9" y="0"/>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98" name="ïṧļiḓé"/>
            <p:cNvSpPr/>
            <p:nvPr/>
          </p:nvSpPr>
          <p:spPr bwMode="auto">
            <a:xfrm>
              <a:off x="4795838" y="3443288"/>
              <a:ext cx="527050" cy="12700"/>
            </a:xfrm>
            <a:custGeom>
              <a:avLst/>
              <a:gdLst>
                <a:gd name="T0" fmla="*/ 2 w 175"/>
                <a:gd name="T1" fmla="*/ 4 h 4"/>
                <a:gd name="T2" fmla="*/ 173 w 175"/>
                <a:gd name="T3" fmla="*/ 4 h 4"/>
                <a:gd name="T4" fmla="*/ 175 w 175"/>
                <a:gd name="T5" fmla="*/ 2 h 4"/>
                <a:gd name="T6" fmla="*/ 173 w 175"/>
                <a:gd name="T7" fmla="*/ 0 h 4"/>
                <a:gd name="T8" fmla="*/ 2 w 175"/>
                <a:gd name="T9" fmla="*/ 0 h 4"/>
                <a:gd name="T10" fmla="*/ 0 w 175"/>
                <a:gd name="T11" fmla="*/ 2 h 4"/>
                <a:gd name="T12" fmla="*/ 2 w 17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75" h="4">
                  <a:moveTo>
                    <a:pt x="2" y="4"/>
                  </a:moveTo>
                  <a:cubicBezTo>
                    <a:pt x="173" y="4"/>
                    <a:pt x="173" y="4"/>
                    <a:pt x="173" y="4"/>
                  </a:cubicBezTo>
                  <a:cubicBezTo>
                    <a:pt x="174" y="4"/>
                    <a:pt x="175" y="3"/>
                    <a:pt x="175" y="2"/>
                  </a:cubicBezTo>
                  <a:cubicBezTo>
                    <a:pt x="175" y="1"/>
                    <a:pt x="174" y="0"/>
                    <a:pt x="17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99" name="îṣḻîḓè"/>
            <p:cNvSpPr/>
            <p:nvPr/>
          </p:nvSpPr>
          <p:spPr bwMode="auto">
            <a:xfrm>
              <a:off x="4795838" y="3468688"/>
              <a:ext cx="325438" cy="11113"/>
            </a:xfrm>
            <a:custGeom>
              <a:avLst/>
              <a:gdLst>
                <a:gd name="T0" fmla="*/ 2 w 108"/>
                <a:gd name="T1" fmla="*/ 4 h 4"/>
                <a:gd name="T2" fmla="*/ 106 w 108"/>
                <a:gd name="T3" fmla="*/ 4 h 4"/>
                <a:gd name="T4" fmla="*/ 108 w 108"/>
                <a:gd name="T5" fmla="*/ 2 h 4"/>
                <a:gd name="T6" fmla="*/ 106 w 108"/>
                <a:gd name="T7" fmla="*/ 0 h 4"/>
                <a:gd name="T8" fmla="*/ 2 w 108"/>
                <a:gd name="T9" fmla="*/ 0 h 4"/>
                <a:gd name="T10" fmla="*/ 0 w 108"/>
                <a:gd name="T11" fmla="*/ 2 h 4"/>
                <a:gd name="T12" fmla="*/ 2 w 10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08" h="4">
                  <a:moveTo>
                    <a:pt x="2" y="4"/>
                  </a:moveTo>
                  <a:cubicBezTo>
                    <a:pt x="106" y="4"/>
                    <a:pt x="106" y="4"/>
                    <a:pt x="106" y="4"/>
                  </a:cubicBezTo>
                  <a:cubicBezTo>
                    <a:pt x="107" y="4"/>
                    <a:pt x="108" y="3"/>
                    <a:pt x="108" y="2"/>
                  </a:cubicBezTo>
                  <a:cubicBezTo>
                    <a:pt x="108" y="1"/>
                    <a:pt x="107" y="0"/>
                    <a:pt x="10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00" name="íslîḋê"/>
            <p:cNvSpPr/>
            <p:nvPr/>
          </p:nvSpPr>
          <p:spPr bwMode="auto">
            <a:xfrm>
              <a:off x="4795838" y="3500438"/>
              <a:ext cx="325438" cy="12700"/>
            </a:xfrm>
            <a:custGeom>
              <a:avLst/>
              <a:gdLst>
                <a:gd name="T0" fmla="*/ 2 w 108"/>
                <a:gd name="T1" fmla="*/ 4 h 4"/>
                <a:gd name="T2" fmla="*/ 106 w 108"/>
                <a:gd name="T3" fmla="*/ 4 h 4"/>
                <a:gd name="T4" fmla="*/ 108 w 108"/>
                <a:gd name="T5" fmla="*/ 2 h 4"/>
                <a:gd name="T6" fmla="*/ 106 w 108"/>
                <a:gd name="T7" fmla="*/ 0 h 4"/>
                <a:gd name="T8" fmla="*/ 2 w 108"/>
                <a:gd name="T9" fmla="*/ 0 h 4"/>
                <a:gd name="T10" fmla="*/ 0 w 108"/>
                <a:gd name="T11" fmla="*/ 2 h 4"/>
                <a:gd name="T12" fmla="*/ 2 w 10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08" h="4">
                  <a:moveTo>
                    <a:pt x="2" y="4"/>
                  </a:moveTo>
                  <a:cubicBezTo>
                    <a:pt x="106" y="4"/>
                    <a:pt x="106" y="4"/>
                    <a:pt x="106" y="4"/>
                  </a:cubicBezTo>
                  <a:cubicBezTo>
                    <a:pt x="107" y="4"/>
                    <a:pt x="108" y="3"/>
                    <a:pt x="108" y="2"/>
                  </a:cubicBezTo>
                  <a:cubicBezTo>
                    <a:pt x="108" y="1"/>
                    <a:pt x="107" y="0"/>
                    <a:pt x="10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01" name="í$ḻîḍé"/>
            <p:cNvSpPr/>
            <p:nvPr/>
          </p:nvSpPr>
          <p:spPr bwMode="auto">
            <a:xfrm>
              <a:off x="7207251" y="3344863"/>
              <a:ext cx="417513" cy="265113"/>
            </a:xfrm>
            <a:custGeom>
              <a:avLst/>
              <a:gdLst>
                <a:gd name="T0" fmla="*/ 139 w 139"/>
                <a:gd name="T1" fmla="*/ 0 h 88"/>
                <a:gd name="T2" fmla="*/ 0 w 139"/>
                <a:gd name="T3" fmla="*/ 0 h 88"/>
                <a:gd name="T4" fmla="*/ 0 w 139"/>
                <a:gd name="T5" fmla="*/ 7 h 88"/>
                <a:gd name="T6" fmla="*/ 68 w 139"/>
                <a:gd name="T7" fmla="*/ 7 h 88"/>
                <a:gd name="T8" fmla="*/ 68 w 139"/>
                <a:gd name="T9" fmla="*/ 57 h 88"/>
                <a:gd name="T10" fmla="*/ 0 w 139"/>
                <a:gd name="T11" fmla="*/ 57 h 88"/>
                <a:gd name="T12" fmla="*/ 0 w 139"/>
                <a:gd name="T13" fmla="*/ 70 h 88"/>
                <a:gd name="T14" fmla="*/ 0 w 139"/>
                <a:gd name="T15" fmla="*/ 88 h 88"/>
                <a:gd name="T16" fmla="*/ 109 w 139"/>
                <a:gd name="T17" fmla="*/ 88 h 88"/>
                <a:gd name="T18" fmla="*/ 139 w 139"/>
                <a:gd name="T19" fmla="*/ 58 h 88"/>
                <a:gd name="T20" fmla="*/ 139 w 139"/>
                <a:gd name="T21"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88">
                  <a:moveTo>
                    <a:pt x="139" y="0"/>
                  </a:moveTo>
                  <a:cubicBezTo>
                    <a:pt x="0" y="0"/>
                    <a:pt x="0" y="0"/>
                    <a:pt x="0" y="0"/>
                  </a:cubicBezTo>
                  <a:cubicBezTo>
                    <a:pt x="0" y="7"/>
                    <a:pt x="0" y="7"/>
                    <a:pt x="0" y="7"/>
                  </a:cubicBezTo>
                  <a:cubicBezTo>
                    <a:pt x="68" y="7"/>
                    <a:pt x="68" y="7"/>
                    <a:pt x="68" y="7"/>
                  </a:cubicBezTo>
                  <a:cubicBezTo>
                    <a:pt x="68" y="57"/>
                    <a:pt x="68" y="57"/>
                    <a:pt x="68" y="57"/>
                  </a:cubicBezTo>
                  <a:cubicBezTo>
                    <a:pt x="0" y="57"/>
                    <a:pt x="0" y="57"/>
                    <a:pt x="0" y="57"/>
                  </a:cubicBezTo>
                  <a:cubicBezTo>
                    <a:pt x="0" y="70"/>
                    <a:pt x="0" y="70"/>
                    <a:pt x="0" y="70"/>
                  </a:cubicBezTo>
                  <a:cubicBezTo>
                    <a:pt x="0" y="88"/>
                    <a:pt x="0" y="88"/>
                    <a:pt x="0" y="88"/>
                  </a:cubicBezTo>
                  <a:cubicBezTo>
                    <a:pt x="109" y="88"/>
                    <a:pt x="109" y="88"/>
                    <a:pt x="109" y="88"/>
                  </a:cubicBezTo>
                  <a:cubicBezTo>
                    <a:pt x="126" y="88"/>
                    <a:pt x="139" y="75"/>
                    <a:pt x="139" y="58"/>
                  </a:cubicBezTo>
                  <a:cubicBezTo>
                    <a:pt x="139" y="0"/>
                    <a:pt x="139" y="0"/>
                    <a:pt x="139" y="0"/>
                  </a:cubicBezTo>
                </a:path>
              </a:pathLst>
            </a:custGeom>
            <a:solidFill>
              <a:srgbClr val="C2F4F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02" name="iṣḻîḑê"/>
            <p:cNvSpPr/>
            <p:nvPr/>
          </p:nvSpPr>
          <p:spPr bwMode="auto">
            <a:xfrm>
              <a:off x="6953251" y="3556001"/>
              <a:ext cx="254000" cy="53975"/>
            </a:xfrm>
            <a:custGeom>
              <a:avLst/>
              <a:gdLst>
                <a:gd name="T0" fmla="*/ 84 w 84"/>
                <a:gd name="T1" fmla="*/ 0 h 18"/>
                <a:gd name="T2" fmla="*/ 13 w 84"/>
                <a:gd name="T3" fmla="*/ 0 h 18"/>
                <a:gd name="T4" fmla="*/ 13 w 84"/>
                <a:gd name="T5" fmla="*/ 4 h 18"/>
                <a:gd name="T6" fmla="*/ 8 w 84"/>
                <a:gd name="T7" fmla="*/ 8 h 18"/>
                <a:gd name="T8" fmla="*/ 4 w 84"/>
                <a:gd name="T9" fmla="*/ 4 h 18"/>
                <a:gd name="T10" fmla="*/ 4 w 84"/>
                <a:gd name="T11" fmla="*/ 0 h 18"/>
                <a:gd name="T12" fmla="*/ 0 w 84"/>
                <a:gd name="T13" fmla="*/ 0 h 18"/>
                <a:gd name="T14" fmla="*/ 28 w 84"/>
                <a:gd name="T15" fmla="*/ 18 h 18"/>
                <a:gd name="T16" fmla="*/ 84 w 84"/>
                <a:gd name="T17" fmla="*/ 18 h 18"/>
                <a:gd name="T18" fmla="*/ 84 w 84"/>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18">
                  <a:moveTo>
                    <a:pt x="84" y="0"/>
                  </a:moveTo>
                  <a:cubicBezTo>
                    <a:pt x="13" y="0"/>
                    <a:pt x="13" y="0"/>
                    <a:pt x="13" y="0"/>
                  </a:cubicBezTo>
                  <a:cubicBezTo>
                    <a:pt x="13" y="4"/>
                    <a:pt x="13" y="4"/>
                    <a:pt x="13" y="4"/>
                  </a:cubicBezTo>
                  <a:cubicBezTo>
                    <a:pt x="13" y="6"/>
                    <a:pt x="11" y="8"/>
                    <a:pt x="8" y="8"/>
                  </a:cubicBezTo>
                  <a:cubicBezTo>
                    <a:pt x="6" y="8"/>
                    <a:pt x="4" y="6"/>
                    <a:pt x="4" y="4"/>
                  </a:cubicBezTo>
                  <a:cubicBezTo>
                    <a:pt x="4" y="0"/>
                    <a:pt x="4" y="0"/>
                    <a:pt x="4" y="0"/>
                  </a:cubicBezTo>
                  <a:cubicBezTo>
                    <a:pt x="0" y="0"/>
                    <a:pt x="0" y="0"/>
                    <a:pt x="0" y="0"/>
                  </a:cubicBezTo>
                  <a:cubicBezTo>
                    <a:pt x="5" y="11"/>
                    <a:pt x="15" y="18"/>
                    <a:pt x="28" y="18"/>
                  </a:cubicBezTo>
                  <a:cubicBezTo>
                    <a:pt x="84" y="18"/>
                    <a:pt x="84" y="18"/>
                    <a:pt x="84" y="18"/>
                  </a:cubicBezTo>
                  <a:cubicBezTo>
                    <a:pt x="84" y="0"/>
                    <a:pt x="84" y="0"/>
                    <a:pt x="84" y="0"/>
                  </a:cubicBezTo>
                </a:path>
              </a:pathLst>
            </a:custGeom>
            <a:solidFill>
              <a:srgbClr val="2778C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03" name="íşľïďe"/>
            <p:cNvSpPr/>
            <p:nvPr/>
          </p:nvSpPr>
          <p:spPr bwMode="auto">
            <a:xfrm>
              <a:off x="6946901" y="3344863"/>
              <a:ext cx="260350" cy="211138"/>
            </a:xfrm>
            <a:custGeom>
              <a:avLst/>
              <a:gdLst>
                <a:gd name="T0" fmla="*/ 6 w 86"/>
                <a:gd name="T1" fmla="*/ 53 h 70"/>
                <a:gd name="T2" fmla="*/ 0 w 86"/>
                <a:gd name="T3" fmla="*/ 53 h 70"/>
                <a:gd name="T4" fmla="*/ 0 w 86"/>
                <a:gd name="T5" fmla="*/ 58 h 70"/>
                <a:gd name="T6" fmla="*/ 2 w 86"/>
                <a:gd name="T7" fmla="*/ 70 h 70"/>
                <a:gd name="T8" fmla="*/ 6 w 86"/>
                <a:gd name="T9" fmla="*/ 70 h 70"/>
                <a:gd name="T10" fmla="*/ 6 w 86"/>
                <a:gd name="T11" fmla="*/ 53 h 70"/>
                <a:gd name="T12" fmla="*/ 23 w 86"/>
                <a:gd name="T13" fmla="*/ 53 h 70"/>
                <a:gd name="T14" fmla="*/ 15 w 86"/>
                <a:gd name="T15" fmla="*/ 53 h 70"/>
                <a:gd name="T16" fmla="*/ 15 w 86"/>
                <a:gd name="T17" fmla="*/ 70 h 70"/>
                <a:gd name="T18" fmla="*/ 86 w 86"/>
                <a:gd name="T19" fmla="*/ 70 h 70"/>
                <a:gd name="T20" fmla="*/ 86 w 86"/>
                <a:gd name="T21" fmla="*/ 57 h 70"/>
                <a:gd name="T22" fmla="*/ 23 w 86"/>
                <a:gd name="T23" fmla="*/ 57 h 70"/>
                <a:gd name="T24" fmla="*/ 23 w 86"/>
                <a:gd name="T25" fmla="*/ 53 h 70"/>
                <a:gd name="T26" fmla="*/ 86 w 86"/>
                <a:gd name="T27" fmla="*/ 0 h 70"/>
                <a:gd name="T28" fmla="*/ 58 w 86"/>
                <a:gd name="T29" fmla="*/ 0 h 70"/>
                <a:gd name="T30" fmla="*/ 58 w 86"/>
                <a:gd name="T31" fmla="*/ 7 h 70"/>
                <a:gd name="T32" fmla="*/ 86 w 86"/>
                <a:gd name="T33" fmla="*/ 7 h 70"/>
                <a:gd name="T34" fmla="*/ 86 w 86"/>
                <a:gd name="T35"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6" h="70">
                  <a:moveTo>
                    <a:pt x="6" y="53"/>
                  </a:moveTo>
                  <a:cubicBezTo>
                    <a:pt x="0" y="53"/>
                    <a:pt x="0" y="53"/>
                    <a:pt x="0" y="53"/>
                  </a:cubicBezTo>
                  <a:cubicBezTo>
                    <a:pt x="0" y="58"/>
                    <a:pt x="0" y="58"/>
                    <a:pt x="0" y="58"/>
                  </a:cubicBezTo>
                  <a:cubicBezTo>
                    <a:pt x="0" y="62"/>
                    <a:pt x="1" y="66"/>
                    <a:pt x="2" y="70"/>
                  </a:cubicBezTo>
                  <a:cubicBezTo>
                    <a:pt x="6" y="70"/>
                    <a:pt x="6" y="70"/>
                    <a:pt x="6" y="70"/>
                  </a:cubicBezTo>
                  <a:cubicBezTo>
                    <a:pt x="6" y="53"/>
                    <a:pt x="6" y="53"/>
                    <a:pt x="6" y="53"/>
                  </a:cubicBezTo>
                  <a:moveTo>
                    <a:pt x="23" y="53"/>
                  </a:moveTo>
                  <a:cubicBezTo>
                    <a:pt x="15" y="53"/>
                    <a:pt x="15" y="53"/>
                    <a:pt x="15" y="53"/>
                  </a:cubicBezTo>
                  <a:cubicBezTo>
                    <a:pt x="15" y="70"/>
                    <a:pt x="15" y="70"/>
                    <a:pt x="15" y="70"/>
                  </a:cubicBezTo>
                  <a:cubicBezTo>
                    <a:pt x="86" y="70"/>
                    <a:pt x="86" y="70"/>
                    <a:pt x="86" y="70"/>
                  </a:cubicBezTo>
                  <a:cubicBezTo>
                    <a:pt x="86" y="57"/>
                    <a:pt x="86" y="57"/>
                    <a:pt x="86" y="57"/>
                  </a:cubicBezTo>
                  <a:cubicBezTo>
                    <a:pt x="23" y="57"/>
                    <a:pt x="23" y="57"/>
                    <a:pt x="23" y="57"/>
                  </a:cubicBezTo>
                  <a:cubicBezTo>
                    <a:pt x="23" y="53"/>
                    <a:pt x="23" y="53"/>
                    <a:pt x="23" y="53"/>
                  </a:cubicBezTo>
                  <a:moveTo>
                    <a:pt x="86" y="0"/>
                  </a:moveTo>
                  <a:cubicBezTo>
                    <a:pt x="58" y="0"/>
                    <a:pt x="58" y="0"/>
                    <a:pt x="58" y="0"/>
                  </a:cubicBezTo>
                  <a:cubicBezTo>
                    <a:pt x="58" y="7"/>
                    <a:pt x="58" y="7"/>
                    <a:pt x="58" y="7"/>
                  </a:cubicBezTo>
                  <a:cubicBezTo>
                    <a:pt x="86" y="7"/>
                    <a:pt x="86" y="7"/>
                    <a:pt x="86" y="7"/>
                  </a:cubicBezTo>
                  <a:cubicBezTo>
                    <a:pt x="86" y="0"/>
                    <a:pt x="86" y="0"/>
                    <a:pt x="86" y="0"/>
                  </a:cubicBezTo>
                </a:path>
              </a:pathLst>
            </a:custGeom>
            <a:solidFill>
              <a:srgbClr val="2790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04" name="íṥlîḓê"/>
            <p:cNvSpPr/>
            <p:nvPr/>
          </p:nvSpPr>
          <p:spPr bwMode="auto">
            <a:xfrm>
              <a:off x="6946901" y="3267076"/>
              <a:ext cx="174625" cy="236538"/>
            </a:xfrm>
            <a:custGeom>
              <a:avLst/>
              <a:gdLst>
                <a:gd name="T0" fmla="*/ 0 w 58"/>
                <a:gd name="T1" fmla="*/ 0 h 79"/>
                <a:gd name="T2" fmla="*/ 0 w 58"/>
                <a:gd name="T3" fmla="*/ 0 h 79"/>
                <a:gd name="T4" fmla="*/ 0 w 58"/>
                <a:gd name="T5" fmla="*/ 79 h 79"/>
                <a:gd name="T6" fmla="*/ 6 w 58"/>
                <a:gd name="T7" fmla="*/ 79 h 79"/>
                <a:gd name="T8" fmla="*/ 6 w 58"/>
                <a:gd name="T9" fmla="*/ 34 h 79"/>
                <a:gd name="T10" fmla="*/ 10 w 58"/>
                <a:gd name="T11" fmla="*/ 30 h 79"/>
                <a:gd name="T12" fmla="*/ 15 w 58"/>
                <a:gd name="T13" fmla="*/ 34 h 79"/>
                <a:gd name="T14" fmla="*/ 15 w 58"/>
                <a:gd name="T15" fmla="*/ 79 h 79"/>
                <a:gd name="T16" fmla="*/ 23 w 58"/>
                <a:gd name="T17" fmla="*/ 79 h 79"/>
                <a:gd name="T18" fmla="*/ 23 w 58"/>
                <a:gd name="T19" fmla="*/ 33 h 79"/>
                <a:gd name="T20" fmla="*/ 58 w 58"/>
                <a:gd name="T21" fmla="*/ 33 h 79"/>
                <a:gd name="T22" fmla="*/ 58 w 58"/>
                <a:gd name="T23" fmla="*/ 26 h 79"/>
                <a:gd name="T24" fmla="*/ 0 w 58"/>
                <a:gd name="T25" fmla="*/ 26 h 79"/>
                <a:gd name="T26" fmla="*/ 0 w 58"/>
                <a:gd name="T27"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79">
                  <a:moveTo>
                    <a:pt x="0" y="0"/>
                  </a:moveTo>
                  <a:cubicBezTo>
                    <a:pt x="0" y="0"/>
                    <a:pt x="0" y="0"/>
                    <a:pt x="0" y="0"/>
                  </a:cubicBezTo>
                  <a:cubicBezTo>
                    <a:pt x="0" y="79"/>
                    <a:pt x="0" y="79"/>
                    <a:pt x="0" y="79"/>
                  </a:cubicBezTo>
                  <a:cubicBezTo>
                    <a:pt x="6" y="79"/>
                    <a:pt x="6" y="79"/>
                    <a:pt x="6" y="79"/>
                  </a:cubicBezTo>
                  <a:cubicBezTo>
                    <a:pt x="6" y="34"/>
                    <a:pt x="6" y="34"/>
                    <a:pt x="6" y="34"/>
                  </a:cubicBezTo>
                  <a:cubicBezTo>
                    <a:pt x="6" y="32"/>
                    <a:pt x="8" y="30"/>
                    <a:pt x="10" y="30"/>
                  </a:cubicBezTo>
                  <a:cubicBezTo>
                    <a:pt x="13" y="30"/>
                    <a:pt x="15" y="32"/>
                    <a:pt x="15" y="34"/>
                  </a:cubicBezTo>
                  <a:cubicBezTo>
                    <a:pt x="15" y="79"/>
                    <a:pt x="15" y="79"/>
                    <a:pt x="15" y="79"/>
                  </a:cubicBezTo>
                  <a:cubicBezTo>
                    <a:pt x="23" y="79"/>
                    <a:pt x="23" y="79"/>
                    <a:pt x="23" y="79"/>
                  </a:cubicBezTo>
                  <a:cubicBezTo>
                    <a:pt x="23" y="33"/>
                    <a:pt x="23" y="33"/>
                    <a:pt x="23" y="33"/>
                  </a:cubicBezTo>
                  <a:cubicBezTo>
                    <a:pt x="58" y="33"/>
                    <a:pt x="58" y="33"/>
                    <a:pt x="58" y="33"/>
                  </a:cubicBezTo>
                  <a:cubicBezTo>
                    <a:pt x="58" y="26"/>
                    <a:pt x="58" y="26"/>
                    <a:pt x="58" y="26"/>
                  </a:cubicBezTo>
                  <a:cubicBezTo>
                    <a:pt x="0" y="26"/>
                    <a:pt x="0" y="26"/>
                    <a:pt x="0" y="26"/>
                  </a:cubicBezTo>
                  <a:cubicBezTo>
                    <a:pt x="0" y="0"/>
                    <a:pt x="0" y="0"/>
                    <a:pt x="0" y="0"/>
                  </a:cubicBezTo>
                </a:path>
              </a:pathLst>
            </a:custGeom>
            <a:solidFill>
              <a:srgbClr val="1E485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05" name="ísḷîďè"/>
            <p:cNvSpPr/>
            <p:nvPr/>
          </p:nvSpPr>
          <p:spPr bwMode="auto">
            <a:xfrm>
              <a:off x="7207251" y="3365501"/>
              <a:ext cx="204788" cy="150813"/>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06" name="ïṣḻíḋê"/>
            <p:cNvSpPr/>
            <p:nvPr/>
          </p:nvSpPr>
          <p:spPr bwMode="auto">
            <a:xfrm>
              <a:off x="7207251" y="3365501"/>
              <a:ext cx="204788" cy="15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07" name="íśľïḋe"/>
            <p:cNvSpPr/>
            <p:nvPr/>
          </p:nvSpPr>
          <p:spPr bwMode="auto">
            <a:xfrm>
              <a:off x="7016751" y="3365501"/>
              <a:ext cx="190500" cy="150813"/>
            </a:xfrm>
            <a:custGeom>
              <a:avLst/>
              <a:gdLst>
                <a:gd name="T0" fmla="*/ 120 w 120"/>
                <a:gd name="T1" fmla="*/ 0 h 95"/>
                <a:gd name="T2" fmla="*/ 66 w 120"/>
                <a:gd name="T3" fmla="*/ 0 h 95"/>
                <a:gd name="T4" fmla="*/ 66 w 120"/>
                <a:gd name="T5" fmla="*/ 87 h 95"/>
                <a:gd name="T6" fmla="*/ 0 w 120"/>
                <a:gd name="T7" fmla="*/ 87 h 95"/>
                <a:gd name="T8" fmla="*/ 0 w 120"/>
                <a:gd name="T9" fmla="*/ 95 h 95"/>
                <a:gd name="T10" fmla="*/ 120 w 120"/>
                <a:gd name="T11" fmla="*/ 95 h 95"/>
                <a:gd name="T12" fmla="*/ 120 w 120"/>
                <a:gd name="T13" fmla="*/ 0 h 95"/>
              </a:gdLst>
              <a:ahLst/>
              <a:cxnLst>
                <a:cxn ang="0">
                  <a:pos x="T0" y="T1"/>
                </a:cxn>
                <a:cxn ang="0">
                  <a:pos x="T2" y="T3"/>
                </a:cxn>
                <a:cxn ang="0">
                  <a:pos x="T4" y="T5"/>
                </a:cxn>
                <a:cxn ang="0">
                  <a:pos x="T6" y="T7"/>
                </a:cxn>
                <a:cxn ang="0">
                  <a:pos x="T8" y="T9"/>
                </a:cxn>
                <a:cxn ang="0">
                  <a:pos x="T10" y="T11"/>
                </a:cxn>
                <a:cxn ang="0">
                  <a:pos x="T12" y="T13"/>
                </a:cxn>
              </a:cxnLst>
              <a:rect l="0" t="0" r="r" b="b"/>
              <a:pathLst>
                <a:path w="120" h="95">
                  <a:moveTo>
                    <a:pt x="120" y="0"/>
                  </a:moveTo>
                  <a:lnTo>
                    <a:pt x="66" y="0"/>
                  </a:lnTo>
                  <a:lnTo>
                    <a:pt x="66" y="87"/>
                  </a:lnTo>
                  <a:lnTo>
                    <a:pt x="0" y="87"/>
                  </a:lnTo>
                  <a:lnTo>
                    <a:pt x="0" y="95"/>
                  </a:lnTo>
                  <a:lnTo>
                    <a:pt x="120" y="95"/>
                  </a:lnTo>
                  <a:lnTo>
                    <a:pt x="120" y="0"/>
                  </a:lnTo>
                  <a:close/>
                </a:path>
              </a:pathLst>
            </a:custGeom>
            <a:solidFill>
              <a:srgbClr val="2BA7D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08" name="îş1iḋê"/>
            <p:cNvSpPr/>
            <p:nvPr/>
          </p:nvSpPr>
          <p:spPr bwMode="auto">
            <a:xfrm>
              <a:off x="7016751" y="3365501"/>
              <a:ext cx="190500" cy="150813"/>
            </a:xfrm>
            <a:custGeom>
              <a:avLst/>
              <a:gdLst>
                <a:gd name="T0" fmla="*/ 120 w 120"/>
                <a:gd name="T1" fmla="*/ 0 h 95"/>
                <a:gd name="T2" fmla="*/ 66 w 120"/>
                <a:gd name="T3" fmla="*/ 0 h 95"/>
                <a:gd name="T4" fmla="*/ 66 w 120"/>
                <a:gd name="T5" fmla="*/ 87 h 95"/>
                <a:gd name="T6" fmla="*/ 0 w 120"/>
                <a:gd name="T7" fmla="*/ 87 h 95"/>
                <a:gd name="T8" fmla="*/ 0 w 120"/>
                <a:gd name="T9" fmla="*/ 95 h 95"/>
                <a:gd name="T10" fmla="*/ 120 w 120"/>
                <a:gd name="T11" fmla="*/ 95 h 95"/>
                <a:gd name="T12" fmla="*/ 120 w 120"/>
                <a:gd name="T13" fmla="*/ 0 h 95"/>
              </a:gdLst>
              <a:ahLst/>
              <a:cxnLst>
                <a:cxn ang="0">
                  <a:pos x="T0" y="T1"/>
                </a:cxn>
                <a:cxn ang="0">
                  <a:pos x="T2" y="T3"/>
                </a:cxn>
                <a:cxn ang="0">
                  <a:pos x="T4" y="T5"/>
                </a:cxn>
                <a:cxn ang="0">
                  <a:pos x="T6" y="T7"/>
                </a:cxn>
                <a:cxn ang="0">
                  <a:pos x="T8" y="T9"/>
                </a:cxn>
                <a:cxn ang="0">
                  <a:pos x="T10" y="T11"/>
                </a:cxn>
                <a:cxn ang="0">
                  <a:pos x="T12" y="T13"/>
                </a:cxn>
              </a:cxnLst>
              <a:rect l="0" t="0" r="r" b="b"/>
              <a:pathLst>
                <a:path w="120" h="95">
                  <a:moveTo>
                    <a:pt x="120" y="0"/>
                  </a:moveTo>
                  <a:lnTo>
                    <a:pt x="66" y="0"/>
                  </a:lnTo>
                  <a:lnTo>
                    <a:pt x="66" y="87"/>
                  </a:lnTo>
                  <a:lnTo>
                    <a:pt x="0" y="87"/>
                  </a:lnTo>
                  <a:lnTo>
                    <a:pt x="0" y="95"/>
                  </a:lnTo>
                  <a:lnTo>
                    <a:pt x="120" y="95"/>
                  </a:lnTo>
                  <a:lnTo>
                    <a:pt x="12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09" name="iṡlidê"/>
            <p:cNvSpPr/>
            <p:nvPr/>
          </p:nvSpPr>
          <p:spPr bwMode="auto">
            <a:xfrm>
              <a:off x="7016751" y="3365501"/>
              <a:ext cx="104775" cy="138113"/>
            </a:xfrm>
            <a:prstGeom prst="rect">
              <a:avLst/>
            </a:prstGeom>
            <a:solidFill>
              <a:srgbClr val="25758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10" name="îşľïḋe"/>
            <p:cNvSpPr/>
            <p:nvPr/>
          </p:nvSpPr>
          <p:spPr bwMode="auto">
            <a:xfrm>
              <a:off x="7016751" y="3365501"/>
              <a:ext cx="104775" cy="13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11" name="ïṥḷíďê"/>
            <p:cNvSpPr/>
            <p:nvPr/>
          </p:nvSpPr>
          <p:spPr bwMode="auto">
            <a:xfrm>
              <a:off x="7207251" y="3267076"/>
              <a:ext cx="417513" cy="77788"/>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12" name="ïşḷîḍé"/>
            <p:cNvSpPr/>
            <p:nvPr/>
          </p:nvSpPr>
          <p:spPr bwMode="auto">
            <a:xfrm>
              <a:off x="7207251" y="3267076"/>
              <a:ext cx="417513" cy="7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13" name="îṣľiḓê"/>
            <p:cNvSpPr/>
            <p:nvPr/>
          </p:nvSpPr>
          <p:spPr bwMode="auto">
            <a:xfrm>
              <a:off x="7121526" y="3267076"/>
              <a:ext cx="85725" cy="77788"/>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14" name="ïśḻïḍé"/>
            <p:cNvSpPr/>
            <p:nvPr/>
          </p:nvSpPr>
          <p:spPr bwMode="auto">
            <a:xfrm>
              <a:off x="7121526" y="3267076"/>
              <a:ext cx="85725" cy="7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15" name="iṥľiḓè"/>
            <p:cNvSpPr/>
            <p:nvPr/>
          </p:nvSpPr>
          <p:spPr bwMode="auto">
            <a:xfrm>
              <a:off x="6946901" y="3267076"/>
              <a:ext cx="174625" cy="77788"/>
            </a:xfrm>
            <a:custGeom>
              <a:avLst/>
              <a:gdLst>
                <a:gd name="T0" fmla="*/ 10 w 58"/>
                <a:gd name="T1" fmla="*/ 18 h 26"/>
                <a:gd name="T2" fmla="*/ 10 w 58"/>
                <a:gd name="T3" fmla="*/ 18 h 26"/>
                <a:gd name="T4" fmla="*/ 10 w 58"/>
                <a:gd name="T5" fmla="*/ 18 h 26"/>
                <a:gd name="T6" fmla="*/ 10 w 58"/>
                <a:gd name="T7" fmla="*/ 18 h 26"/>
                <a:gd name="T8" fmla="*/ 11 w 58"/>
                <a:gd name="T9" fmla="*/ 18 h 26"/>
                <a:gd name="T10" fmla="*/ 11 w 58"/>
                <a:gd name="T11" fmla="*/ 18 h 26"/>
                <a:gd name="T12" fmla="*/ 11 w 58"/>
                <a:gd name="T13" fmla="*/ 18 h 26"/>
                <a:gd name="T14" fmla="*/ 11 w 58"/>
                <a:gd name="T15" fmla="*/ 18 h 26"/>
                <a:gd name="T16" fmla="*/ 11 w 58"/>
                <a:gd name="T17" fmla="*/ 18 h 26"/>
                <a:gd name="T18" fmla="*/ 11 w 58"/>
                <a:gd name="T19" fmla="*/ 18 h 26"/>
                <a:gd name="T20" fmla="*/ 11 w 58"/>
                <a:gd name="T21" fmla="*/ 18 h 26"/>
                <a:gd name="T22" fmla="*/ 11 w 58"/>
                <a:gd name="T23" fmla="*/ 18 h 26"/>
                <a:gd name="T24" fmla="*/ 11 w 58"/>
                <a:gd name="T25" fmla="*/ 18 h 26"/>
                <a:gd name="T26" fmla="*/ 11 w 58"/>
                <a:gd name="T27" fmla="*/ 18 h 26"/>
                <a:gd name="T28" fmla="*/ 11 w 58"/>
                <a:gd name="T29" fmla="*/ 18 h 26"/>
                <a:gd name="T30" fmla="*/ 11 w 58"/>
                <a:gd name="T31" fmla="*/ 18 h 26"/>
                <a:gd name="T32" fmla="*/ 11 w 58"/>
                <a:gd name="T33" fmla="*/ 18 h 26"/>
                <a:gd name="T34" fmla="*/ 11 w 58"/>
                <a:gd name="T35" fmla="*/ 18 h 26"/>
                <a:gd name="T36" fmla="*/ 11 w 58"/>
                <a:gd name="T37" fmla="*/ 18 h 26"/>
                <a:gd name="T38" fmla="*/ 11 w 58"/>
                <a:gd name="T39" fmla="*/ 18 h 26"/>
                <a:gd name="T40" fmla="*/ 11 w 58"/>
                <a:gd name="T41" fmla="*/ 18 h 26"/>
                <a:gd name="T42" fmla="*/ 11 w 58"/>
                <a:gd name="T43" fmla="*/ 18 h 26"/>
                <a:gd name="T44" fmla="*/ 11 w 58"/>
                <a:gd name="T45" fmla="*/ 18 h 26"/>
                <a:gd name="T46" fmla="*/ 11 w 58"/>
                <a:gd name="T47" fmla="*/ 18 h 26"/>
                <a:gd name="T48" fmla="*/ 11 w 58"/>
                <a:gd name="T49" fmla="*/ 18 h 26"/>
                <a:gd name="T50" fmla="*/ 12 w 58"/>
                <a:gd name="T51" fmla="*/ 18 h 26"/>
                <a:gd name="T52" fmla="*/ 12 w 58"/>
                <a:gd name="T53" fmla="*/ 18 h 26"/>
                <a:gd name="T54" fmla="*/ 12 w 58"/>
                <a:gd name="T55" fmla="*/ 18 h 26"/>
                <a:gd name="T56" fmla="*/ 12 w 58"/>
                <a:gd name="T57" fmla="*/ 18 h 26"/>
                <a:gd name="T58" fmla="*/ 12 w 58"/>
                <a:gd name="T59" fmla="*/ 18 h 26"/>
                <a:gd name="T60" fmla="*/ 12 w 58"/>
                <a:gd name="T61" fmla="*/ 18 h 26"/>
                <a:gd name="T62" fmla="*/ 12 w 58"/>
                <a:gd name="T63" fmla="*/ 18 h 26"/>
                <a:gd name="T64" fmla="*/ 12 w 58"/>
                <a:gd name="T65" fmla="*/ 18 h 26"/>
                <a:gd name="T66" fmla="*/ 12 w 58"/>
                <a:gd name="T67" fmla="*/ 18 h 26"/>
                <a:gd name="T68" fmla="*/ 5 w 58"/>
                <a:gd name="T69" fmla="*/ 13 h 26"/>
                <a:gd name="T70" fmla="*/ 10 w 58"/>
                <a:gd name="T71" fmla="*/ 7 h 26"/>
                <a:gd name="T72" fmla="*/ 16 w 58"/>
                <a:gd name="T73" fmla="*/ 13 h 26"/>
                <a:gd name="T74" fmla="*/ 10 w 58"/>
                <a:gd name="T75" fmla="*/ 18 h 26"/>
                <a:gd name="T76" fmla="*/ 5 w 58"/>
                <a:gd name="T77" fmla="*/ 13 h 26"/>
                <a:gd name="T78" fmla="*/ 18 w 58"/>
                <a:gd name="T79" fmla="*/ 12 h 26"/>
                <a:gd name="T80" fmla="*/ 29 w 58"/>
                <a:gd name="T81" fmla="*/ 12 h 26"/>
                <a:gd name="T82" fmla="*/ 36 w 58"/>
                <a:gd name="T83" fmla="*/ 18 h 26"/>
                <a:gd name="T84" fmla="*/ 36 w 58"/>
                <a:gd name="T85" fmla="*/ 7 h 26"/>
                <a:gd name="T86" fmla="*/ 36 w 58"/>
                <a:gd name="T87" fmla="*/ 18 h 26"/>
                <a:gd name="T88" fmla="*/ 0 w 58"/>
                <a:gd name="T89" fmla="*/ 0 h 26"/>
                <a:gd name="T90" fmla="*/ 58 w 58"/>
                <a:gd name="T91" fmla="*/ 26 h 26"/>
                <a:gd name="T92" fmla="*/ 0 w 58"/>
                <a:gd name="T93" fmla="*/ 26 h 26"/>
                <a:gd name="T94" fmla="*/ 58 w 58"/>
                <a:gd name="T9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8" h="26">
                  <a:moveTo>
                    <a:pt x="10" y="18"/>
                  </a:moveTo>
                  <a:cubicBezTo>
                    <a:pt x="10" y="18"/>
                    <a:pt x="10" y="18"/>
                    <a:pt x="10" y="18"/>
                  </a:cubicBezTo>
                  <a:cubicBezTo>
                    <a:pt x="10" y="18"/>
                    <a:pt x="10" y="18"/>
                    <a:pt x="10" y="18"/>
                  </a:cubicBezTo>
                  <a:moveTo>
                    <a:pt x="10" y="18"/>
                  </a:moveTo>
                  <a:cubicBezTo>
                    <a:pt x="10" y="18"/>
                    <a:pt x="10" y="18"/>
                    <a:pt x="10" y="18"/>
                  </a:cubicBezTo>
                  <a:cubicBezTo>
                    <a:pt x="10" y="18"/>
                    <a:pt x="10" y="18"/>
                    <a:pt x="10" y="18"/>
                  </a:cubicBezTo>
                  <a:moveTo>
                    <a:pt x="11" y="18"/>
                  </a:moveTo>
                  <a:cubicBezTo>
                    <a:pt x="11" y="18"/>
                    <a:pt x="11" y="18"/>
                    <a:pt x="10"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2" y="18"/>
                  </a:moveTo>
                  <a:cubicBezTo>
                    <a:pt x="12" y="18"/>
                    <a:pt x="12" y="18"/>
                    <a:pt x="11" y="18"/>
                  </a:cubicBezTo>
                  <a:cubicBezTo>
                    <a:pt x="12" y="18"/>
                    <a:pt x="12" y="18"/>
                    <a:pt x="12" y="18"/>
                  </a:cubicBezTo>
                  <a:moveTo>
                    <a:pt x="12" y="18"/>
                  </a:moveTo>
                  <a:cubicBezTo>
                    <a:pt x="12" y="18"/>
                    <a:pt x="12" y="18"/>
                    <a:pt x="12" y="18"/>
                  </a:cubicBezTo>
                  <a:cubicBezTo>
                    <a:pt x="12" y="18"/>
                    <a:pt x="12" y="18"/>
                    <a:pt x="12" y="18"/>
                  </a:cubicBezTo>
                  <a:moveTo>
                    <a:pt x="12" y="18"/>
                  </a:moveTo>
                  <a:cubicBezTo>
                    <a:pt x="12" y="18"/>
                    <a:pt x="12" y="18"/>
                    <a:pt x="12" y="18"/>
                  </a:cubicBezTo>
                  <a:cubicBezTo>
                    <a:pt x="12" y="18"/>
                    <a:pt x="12" y="18"/>
                    <a:pt x="12" y="18"/>
                  </a:cubicBezTo>
                  <a:moveTo>
                    <a:pt x="12" y="18"/>
                  </a:moveTo>
                  <a:cubicBezTo>
                    <a:pt x="12" y="18"/>
                    <a:pt x="12" y="18"/>
                    <a:pt x="12" y="18"/>
                  </a:cubicBezTo>
                  <a:cubicBezTo>
                    <a:pt x="12" y="18"/>
                    <a:pt x="12" y="18"/>
                    <a:pt x="12" y="18"/>
                  </a:cubicBezTo>
                  <a:moveTo>
                    <a:pt x="12" y="18"/>
                  </a:moveTo>
                  <a:cubicBezTo>
                    <a:pt x="12" y="18"/>
                    <a:pt x="12" y="18"/>
                    <a:pt x="12" y="18"/>
                  </a:cubicBezTo>
                  <a:cubicBezTo>
                    <a:pt x="12" y="18"/>
                    <a:pt x="12" y="18"/>
                    <a:pt x="12" y="18"/>
                  </a:cubicBezTo>
                  <a:moveTo>
                    <a:pt x="12" y="18"/>
                  </a:moveTo>
                  <a:cubicBezTo>
                    <a:pt x="12" y="18"/>
                    <a:pt x="12" y="18"/>
                    <a:pt x="12" y="18"/>
                  </a:cubicBezTo>
                  <a:cubicBezTo>
                    <a:pt x="12" y="18"/>
                    <a:pt x="12" y="18"/>
                    <a:pt x="12" y="18"/>
                  </a:cubicBezTo>
                  <a:moveTo>
                    <a:pt x="5" y="13"/>
                  </a:moveTo>
                  <a:cubicBezTo>
                    <a:pt x="5" y="13"/>
                    <a:pt x="5" y="12"/>
                    <a:pt x="5" y="12"/>
                  </a:cubicBezTo>
                  <a:cubicBezTo>
                    <a:pt x="5" y="9"/>
                    <a:pt x="7" y="7"/>
                    <a:pt x="10" y="7"/>
                  </a:cubicBezTo>
                  <a:cubicBezTo>
                    <a:pt x="13" y="7"/>
                    <a:pt x="16" y="9"/>
                    <a:pt x="16" y="12"/>
                  </a:cubicBezTo>
                  <a:cubicBezTo>
                    <a:pt x="16" y="12"/>
                    <a:pt x="16" y="13"/>
                    <a:pt x="16" y="13"/>
                  </a:cubicBezTo>
                  <a:cubicBezTo>
                    <a:pt x="16" y="13"/>
                    <a:pt x="16" y="13"/>
                    <a:pt x="16" y="13"/>
                  </a:cubicBezTo>
                  <a:cubicBezTo>
                    <a:pt x="16" y="16"/>
                    <a:pt x="13" y="18"/>
                    <a:pt x="10" y="18"/>
                  </a:cubicBezTo>
                  <a:cubicBezTo>
                    <a:pt x="7" y="18"/>
                    <a:pt x="5" y="16"/>
                    <a:pt x="5" y="13"/>
                  </a:cubicBezTo>
                  <a:cubicBezTo>
                    <a:pt x="5" y="13"/>
                    <a:pt x="5" y="13"/>
                    <a:pt x="5" y="13"/>
                  </a:cubicBezTo>
                  <a:moveTo>
                    <a:pt x="23" y="18"/>
                  </a:moveTo>
                  <a:cubicBezTo>
                    <a:pt x="20" y="18"/>
                    <a:pt x="18" y="15"/>
                    <a:pt x="18" y="12"/>
                  </a:cubicBezTo>
                  <a:cubicBezTo>
                    <a:pt x="18" y="9"/>
                    <a:pt x="20" y="7"/>
                    <a:pt x="23" y="7"/>
                  </a:cubicBezTo>
                  <a:cubicBezTo>
                    <a:pt x="26" y="7"/>
                    <a:pt x="29" y="9"/>
                    <a:pt x="29" y="12"/>
                  </a:cubicBezTo>
                  <a:cubicBezTo>
                    <a:pt x="29" y="15"/>
                    <a:pt x="26" y="18"/>
                    <a:pt x="23" y="18"/>
                  </a:cubicBezTo>
                  <a:moveTo>
                    <a:pt x="36" y="18"/>
                  </a:moveTo>
                  <a:cubicBezTo>
                    <a:pt x="33" y="18"/>
                    <a:pt x="30" y="15"/>
                    <a:pt x="30" y="12"/>
                  </a:cubicBezTo>
                  <a:cubicBezTo>
                    <a:pt x="30" y="9"/>
                    <a:pt x="33" y="7"/>
                    <a:pt x="36" y="7"/>
                  </a:cubicBezTo>
                  <a:cubicBezTo>
                    <a:pt x="39" y="7"/>
                    <a:pt x="41" y="9"/>
                    <a:pt x="41" y="12"/>
                  </a:cubicBezTo>
                  <a:cubicBezTo>
                    <a:pt x="41" y="15"/>
                    <a:pt x="39" y="18"/>
                    <a:pt x="36" y="18"/>
                  </a:cubicBezTo>
                  <a:moveTo>
                    <a:pt x="58" y="0"/>
                  </a:moveTo>
                  <a:cubicBezTo>
                    <a:pt x="0" y="0"/>
                    <a:pt x="0" y="0"/>
                    <a:pt x="0" y="0"/>
                  </a:cubicBezTo>
                  <a:cubicBezTo>
                    <a:pt x="0" y="26"/>
                    <a:pt x="0" y="26"/>
                    <a:pt x="0" y="26"/>
                  </a:cubicBezTo>
                  <a:cubicBezTo>
                    <a:pt x="58" y="26"/>
                    <a:pt x="58" y="26"/>
                    <a:pt x="58" y="26"/>
                  </a:cubicBezTo>
                  <a:cubicBezTo>
                    <a:pt x="0" y="26"/>
                    <a:pt x="0" y="26"/>
                    <a:pt x="0" y="26"/>
                  </a:cubicBezTo>
                  <a:cubicBezTo>
                    <a:pt x="0" y="26"/>
                    <a:pt x="0" y="26"/>
                    <a:pt x="0" y="26"/>
                  </a:cubicBezTo>
                  <a:cubicBezTo>
                    <a:pt x="58" y="26"/>
                    <a:pt x="58" y="26"/>
                    <a:pt x="58" y="26"/>
                  </a:cubicBezTo>
                  <a:cubicBezTo>
                    <a:pt x="58" y="0"/>
                    <a:pt x="58" y="0"/>
                    <a:pt x="58"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16" name="íṩ1iḓé"/>
            <p:cNvSpPr/>
            <p:nvPr/>
          </p:nvSpPr>
          <p:spPr bwMode="auto">
            <a:xfrm>
              <a:off x="6962776" y="3287713"/>
              <a:ext cx="33338" cy="33338"/>
            </a:xfrm>
            <a:custGeom>
              <a:avLst/>
              <a:gdLst>
                <a:gd name="T0" fmla="*/ 5 w 11"/>
                <a:gd name="T1" fmla="*/ 0 h 11"/>
                <a:gd name="T2" fmla="*/ 0 w 11"/>
                <a:gd name="T3" fmla="*/ 5 h 11"/>
                <a:gd name="T4" fmla="*/ 0 w 11"/>
                <a:gd name="T5" fmla="*/ 6 h 11"/>
                <a:gd name="T6" fmla="*/ 0 w 11"/>
                <a:gd name="T7" fmla="*/ 5 h 11"/>
                <a:gd name="T8" fmla="*/ 5 w 11"/>
                <a:gd name="T9" fmla="*/ 11 h 11"/>
                <a:gd name="T10" fmla="*/ 5 w 11"/>
                <a:gd name="T11" fmla="*/ 11 h 11"/>
                <a:gd name="T12" fmla="*/ 5 w 11"/>
                <a:gd name="T13" fmla="*/ 11 h 11"/>
                <a:gd name="T14" fmla="*/ 5 w 11"/>
                <a:gd name="T15" fmla="*/ 11 h 11"/>
                <a:gd name="T16" fmla="*/ 5 w 11"/>
                <a:gd name="T17" fmla="*/ 11 h 11"/>
                <a:gd name="T18" fmla="*/ 5 w 11"/>
                <a:gd name="T19" fmla="*/ 11 h 11"/>
                <a:gd name="T20" fmla="*/ 6 w 11"/>
                <a:gd name="T21" fmla="*/ 11 h 11"/>
                <a:gd name="T22" fmla="*/ 6 w 11"/>
                <a:gd name="T23" fmla="*/ 11 h 11"/>
                <a:gd name="T24" fmla="*/ 6 w 11"/>
                <a:gd name="T25" fmla="*/ 11 h 11"/>
                <a:gd name="T26" fmla="*/ 6 w 11"/>
                <a:gd name="T27" fmla="*/ 11 h 11"/>
                <a:gd name="T28" fmla="*/ 6 w 11"/>
                <a:gd name="T29" fmla="*/ 11 h 11"/>
                <a:gd name="T30" fmla="*/ 6 w 11"/>
                <a:gd name="T31" fmla="*/ 11 h 11"/>
                <a:gd name="T32" fmla="*/ 6 w 11"/>
                <a:gd name="T33" fmla="*/ 11 h 11"/>
                <a:gd name="T34" fmla="*/ 6 w 11"/>
                <a:gd name="T35" fmla="*/ 11 h 11"/>
                <a:gd name="T36" fmla="*/ 6 w 11"/>
                <a:gd name="T37" fmla="*/ 11 h 11"/>
                <a:gd name="T38" fmla="*/ 6 w 11"/>
                <a:gd name="T39" fmla="*/ 11 h 11"/>
                <a:gd name="T40" fmla="*/ 6 w 11"/>
                <a:gd name="T41" fmla="*/ 11 h 11"/>
                <a:gd name="T42" fmla="*/ 6 w 11"/>
                <a:gd name="T43" fmla="*/ 11 h 11"/>
                <a:gd name="T44" fmla="*/ 6 w 11"/>
                <a:gd name="T45" fmla="*/ 11 h 11"/>
                <a:gd name="T46" fmla="*/ 6 w 11"/>
                <a:gd name="T47" fmla="*/ 11 h 11"/>
                <a:gd name="T48" fmla="*/ 6 w 11"/>
                <a:gd name="T49" fmla="*/ 11 h 11"/>
                <a:gd name="T50" fmla="*/ 6 w 11"/>
                <a:gd name="T51" fmla="*/ 11 h 11"/>
                <a:gd name="T52" fmla="*/ 6 w 11"/>
                <a:gd name="T53" fmla="*/ 11 h 11"/>
                <a:gd name="T54" fmla="*/ 6 w 11"/>
                <a:gd name="T55" fmla="*/ 11 h 11"/>
                <a:gd name="T56" fmla="*/ 6 w 11"/>
                <a:gd name="T57" fmla="*/ 11 h 11"/>
                <a:gd name="T58" fmla="*/ 6 w 11"/>
                <a:gd name="T59" fmla="*/ 11 h 11"/>
                <a:gd name="T60" fmla="*/ 6 w 11"/>
                <a:gd name="T61" fmla="*/ 11 h 11"/>
                <a:gd name="T62" fmla="*/ 6 w 11"/>
                <a:gd name="T63" fmla="*/ 11 h 11"/>
                <a:gd name="T64" fmla="*/ 6 w 11"/>
                <a:gd name="T65" fmla="*/ 11 h 11"/>
                <a:gd name="T66" fmla="*/ 6 w 11"/>
                <a:gd name="T67" fmla="*/ 11 h 11"/>
                <a:gd name="T68" fmla="*/ 6 w 11"/>
                <a:gd name="T69" fmla="*/ 11 h 11"/>
                <a:gd name="T70" fmla="*/ 6 w 11"/>
                <a:gd name="T71" fmla="*/ 11 h 11"/>
                <a:gd name="T72" fmla="*/ 6 w 11"/>
                <a:gd name="T73" fmla="*/ 11 h 11"/>
                <a:gd name="T74" fmla="*/ 6 w 11"/>
                <a:gd name="T75" fmla="*/ 11 h 11"/>
                <a:gd name="T76" fmla="*/ 6 w 11"/>
                <a:gd name="T77" fmla="*/ 11 h 11"/>
                <a:gd name="T78" fmla="*/ 6 w 11"/>
                <a:gd name="T79" fmla="*/ 11 h 11"/>
                <a:gd name="T80" fmla="*/ 7 w 11"/>
                <a:gd name="T81" fmla="*/ 11 h 11"/>
                <a:gd name="T82" fmla="*/ 7 w 11"/>
                <a:gd name="T83" fmla="*/ 11 h 11"/>
                <a:gd name="T84" fmla="*/ 7 w 11"/>
                <a:gd name="T85" fmla="*/ 11 h 11"/>
                <a:gd name="T86" fmla="*/ 7 w 11"/>
                <a:gd name="T87" fmla="*/ 11 h 11"/>
                <a:gd name="T88" fmla="*/ 7 w 11"/>
                <a:gd name="T89" fmla="*/ 11 h 11"/>
                <a:gd name="T90" fmla="*/ 7 w 11"/>
                <a:gd name="T91" fmla="*/ 11 h 11"/>
                <a:gd name="T92" fmla="*/ 7 w 11"/>
                <a:gd name="T93" fmla="*/ 11 h 11"/>
                <a:gd name="T94" fmla="*/ 7 w 11"/>
                <a:gd name="T95" fmla="*/ 11 h 11"/>
                <a:gd name="T96" fmla="*/ 7 w 11"/>
                <a:gd name="T97" fmla="*/ 11 h 11"/>
                <a:gd name="T98" fmla="*/ 7 w 11"/>
                <a:gd name="T99" fmla="*/ 11 h 11"/>
                <a:gd name="T100" fmla="*/ 7 w 11"/>
                <a:gd name="T101" fmla="*/ 11 h 11"/>
                <a:gd name="T102" fmla="*/ 11 w 11"/>
                <a:gd name="T103" fmla="*/ 5 h 11"/>
                <a:gd name="T104" fmla="*/ 11 w 11"/>
                <a:gd name="T105" fmla="*/ 6 h 11"/>
                <a:gd name="T106" fmla="*/ 11 w 11"/>
                <a:gd name="T107" fmla="*/ 5 h 11"/>
                <a:gd name="T108" fmla="*/ 5 w 11"/>
                <a:gd name="T10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 h="11">
                  <a:moveTo>
                    <a:pt x="5" y="0"/>
                  </a:moveTo>
                  <a:cubicBezTo>
                    <a:pt x="2" y="0"/>
                    <a:pt x="0" y="2"/>
                    <a:pt x="0" y="5"/>
                  </a:cubicBezTo>
                  <a:cubicBezTo>
                    <a:pt x="0" y="5"/>
                    <a:pt x="0" y="6"/>
                    <a:pt x="0" y="6"/>
                  </a:cubicBezTo>
                  <a:cubicBezTo>
                    <a:pt x="0" y="5"/>
                    <a:pt x="0" y="5"/>
                    <a:pt x="0" y="5"/>
                  </a:cubicBezTo>
                  <a:cubicBezTo>
                    <a:pt x="0" y="8"/>
                    <a:pt x="2"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7" y="11"/>
                    <a:pt x="7" y="11"/>
                    <a:pt x="7" y="11"/>
                  </a:cubicBezTo>
                  <a:cubicBezTo>
                    <a:pt x="7" y="11"/>
                    <a:pt x="7" y="11"/>
                    <a:pt x="7" y="11"/>
                  </a:cubicBezTo>
                  <a:cubicBezTo>
                    <a:pt x="7" y="11"/>
                    <a:pt x="7" y="11"/>
                    <a:pt x="7" y="11"/>
                  </a:cubicBezTo>
                  <a:cubicBezTo>
                    <a:pt x="7" y="11"/>
                    <a:pt x="7" y="11"/>
                    <a:pt x="7" y="11"/>
                  </a:cubicBezTo>
                  <a:cubicBezTo>
                    <a:pt x="7" y="11"/>
                    <a:pt x="7" y="11"/>
                    <a:pt x="7" y="11"/>
                  </a:cubicBezTo>
                  <a:cubicBezTo>
                    <a:pt x="7" y="11"/>
                    <a:pt x="7" y="11"/>
                    <a:pt x="7" y="11"/>
                  </a:cubicBezTo>
                  <a:cubicBezTo>
                    <a:pt x="7" y="11"/>
                    <a:pt x="7" y="11"/>
                    <a:pt x="7" y="11"/>
                  </a:cubicBezTo>
                  <a:cubicBezTo>
                    <a:pt x="7" y="11"/>
                    <a:pt x="7" y="11"/>
                    <a:pt x="7" y="11"/>
                  </a:cubicBezTo>
                  <a:cubicBezTo>
                    <a:pt x="7" y="11"/>
                    <a:pt x="7" y="11"/>
                    <a:pt x="7" y="11"/>
                  </a:cubicBezTo>
                  <a:cubicBezTo>
                    <a:pt x="7" y="11"/>
                    <a:pt x="7" y="11"/>
                    <a:pt x="7" y="11"/>
                  </a:cubicBezTo>
                  <a:cubicBezTo>
                    <a:pt x="7" y="11"/>
                    <a:pt x="7" y="11"/>
                    <a:pt x="7" y="11"/>
                  </a:cubicBezTo>
                  <a:cubicBezTo>
                    <a:pt x="9" y="10"/>
                    <a:pt x="11" y="8"/>
                    <a:pt x="11" y="5"/>
                  </a:cubicBezTo>
                  <a:cubicBezTo>
                    <a:pt x="11" y="6"/>
                    <a:pt x="11" y="6"/>
                    <a:pt x="11" y="6"/>
                  </a:cubicBezTo>
                  <a:cubicBezTo>
                    <a:pt x="11" y="6"/>
                    <a:pt x="11" y="5"/>
                    <a:pt x="11" y="5"/>
                  </a:cubicBezTo>
                  <a:cubicBezTo>
                    <a:pt x="11" y="2"/>
                    <a:pt x="8" y="0"/>
                    <a:pt x="5" y="0"/>
                  </a:cubicBezTo>
                </a:path>
              </a:pathLst>
            </a:custGeom>
            <a:solidFill>
              <a:srgbClr val="2A94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17" name="íś1iḋè"/>
            <p:cNvSpPr/>
            <p:nvPr/>
          </p:nvSpPr>
          <p:spPr bwMode="auto">
            <a:xfrm>
              <a:off x="6962776" y="3302001"/>
              <a:ext cx="33338" cy="19050"/>
            </a:xfrm>
            <a:custGeom>
              <a:avLst/>
              <a:gdLst>
                <a:gd name="T0" fmla="*/ 5 w 11"/>
                <a:gd name="T1" fmla="*/ 6 h 6"/>
                <a:gd name="T2" fmla="*/ 0 w 11"/>
                <a:gd name="T3" fmla="*/ 0 h 6"/>
                <a:gd name="T4" fmla="*/ 0 w 11"/>
                <a:gd name="T5" fmla="*/ 1 h 6"/>
                <a:gd name="T6" fmla="*/ 5 w 11"/>
                <a:gd name="T7" fmla="*/ 6 h 6"/>
                <a:gd name="T8" fmla="*/ 11 w 11"/>
                <a:gd name="T9" fmla="*/ 1 h 6"/>
                <a:gd name="T10" fmla="*/ 11 w 11"/>
                <a:gd name="T11" fmla="*/ 0 h 6"/>
                <a:gd name="T12" fmla="*/ 5 w 11"/>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1" h="6">
                  <a:moveTo>
                    <a:pt x="5" y="6"/>
                  </a:moveTo>
                  <a:cubicBezTo>
                    <a:pt x="2" y="6"/>
                    <a:pt x="0" y="3"/>
                    <a:pt x="0" y="0"/>
                  </a:cubicBezTo>
                  <a:cubicBezTo>
                    <a:pt x="0" y="1"/>
                    <a:pt x="0" y="1"/>
                    <a:pt x="0" y="1"/>
                  </a:cubicBezTo>
                  <a:cubicBezTo>
                    <a:pt x="0" y="4"/>
                    <a:pt x="2" y="6"/>
                    <a:pt x="5" y="6"/>
                  </a:cubicBezTo>
                  <a:cubicBezTo>
                    <a:pt x="8" y="6"/>
                    <a:pt x="11" y="4"/>
                    <a:pt x="11" y="1"/>
                  </a:cubicBezTo>
                  <a:cubicBezTo>
                    <a:pt x="11" y="0"/>
                    <a:pt x="11" y="0"/>
                    <a:pt x="11" y="0"/>
                  </a:cubicBezTo>
                  <a:cubicBezTo>
                    <a:pt x="11" y="3"/>
                    <a:pt x="8" y="6"/>
                    <a:pt x="5" y="6"/>
                  </a:cubicBezTo>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18" name="iṡḻîḍé"/>
            <p:cNvSpPr/>
            <p:nvPr/>
          </p:nvSpPr>
          <p:spPr bwMode="auto">
            <a:xfrm>
              <a:off x="7000876" y="3287713"/>
              <a:ext cx="33338" cy="33338"/>
            </a:xfrm>
            <a:prstGeom prst="ellipse">
              <a:avLst/>
            </a:prstGeom>
            <a:solidFill>
              <a:srgbClr val="2A94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19" name="íṩlîdê"/>
            <p:cNvSpPr/>
            <p:nvPr/>
          </p:nvSpPr>
          <p:spPr bwMode="auto">
            <a:xfrm>
              <a:off x="7000876" y="3302001"/>
              <a:ext cx="33338" cy="19050"/>
            </a:xfrm>
            <a:custGeom>
              <a:avLst/>
              <a:gdLst>
                <a:gd name="T0" fmla="*/ 5 w 11"/>
                <a:gd name="T1" fmla="*/ 6 h 6"/>
                <a:gd name="T2" fmla="*/ 0 w 11"/>
                <a:gd name="T3" fmla="*/ 0 h 6"/>
                <a:gd name="T4" fmla="*/ 0 w 11"/>
                <a:gd name="T5" fmla="*/ 1 h 6"/>
                <a:gd name="T6" fmla="*/ 5 w 11"/>
                <a:gd name="T7" fmla="*/ 6 h 6"/>
                <a:gd name="T8" fmla="*/ 11 w 11"/>
                <a:gd name="T9" fmla="*/ 1 h 6"/>
                <a:gd name="T10" fmla="*/ 11 w 11"/>
                <a:gd name="T11" fmla="*/ 0 h 6"/>
                <a:gd name="T12" fmla="*/ 5 w 11"/>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1" h="6">
                  <a:moveTo>
                    <a:pt x="5" y="6"/>
                  </a:moveTo>
                  <a:cubicBezTo>
                    <a:pt x="2" y="6"/>
                    <a:pt x="0" y="3"/>
                    <a:pt x="0" y="0"/>
                  </a:cubicBezTo>
                  <a:cubicBezTo>
                    <a:pt x="0" y="1"/>
                    <a:pt x="0" y="1"/>
                    <a:pt x="0" y="1"/>
                  </a:cubicBezTo>
                  <a:cubicBezTo>
                    <a:pt x="0" y="4"/>
                    <a:pt x="2" y="6"/>
                    <a:pt x="5" y="6"/>
                  </a:cubicBezTo>
                  <a:cubicBezTo>
                    <a:pt x="8" y="6"/>
                    <a:pt x="11" y="4"/>
                    <a:pt x="11" y="1"/>
                  </a:cubicBezTo>
                  <a:cubicBezTo>
                    <a:pt x="11" y="0"/>
                    <a:pt x="11" y="0"/>
                    <a:pt x="11" y="0"/>
                  </a:cubicBezTo>
                  <a:cubicBezTo>
                    <a:pt x="11" y="3"/>
                    <a:pt x="8" y="6"/>
                    <a:pt x="5" y="6"/>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20" name="íS1iḋè"/>
            <p:cNvSpPr/>
            <p:nvPr/>
          </p:nvSpPr>
          <p:spPr bwMode="auto">
            <a:xfrm>
              <a:off x="7037388" y="3287713"/>
              <a:ext cx="33338" cy="33338"/>
            </a:xfrm>
            <a:prstGeom prst="ellipse">
              <a:avLst/>
            </a:prstGeom>
            <a:solidFill>
              <a:srgbClr val="2A94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21" name="íŝlíḍê"/>
            <p:cNvSpPr/>
            <p:nvPr/>
          </p:nvSpPr>
          <p:spPr bwMode="auto">
            <a:xfrm>
              <a:off x="7037388" y="3302000"/>
              <a:ext cx="33338" cy="19050"/>
            </a:xfrm>
            <a:custGeom>
              <a:avLst/>
              <a:gdLst>
                <a:gd name="T0" fmla="*/ 6 w 11"/>
                <a:gd name="T1" fmla="*/ 6 h 6"/>
                <a:gd name="T2" fmla="*/ 0 w 11"/>
                <a:gd name="T3" fmla="*/ 0 h 6"/>
                <a:gd name="T4" fmla="*/ 0 w 11"/>
                <a:gd name="T5" fmla="*/ 1 h 6"/>
                <a:gd name="T6" fmla="*/ 6 w 11"/>
                <a:gd name="T7" fmla="*/ 6 h 6"/>
                <a:gd name="T8" fmla="*/ 11 w 11"/>
                <a:gd name="T9" fmla="*/ 1 h 6"/>
                <a:gd name="T10" fmla="*/ 11 w 11"/>
                <a:gd name="T11" fmla="*/ 0 h 6"/>
                <a:gd name="T12" fmla="*/ 6 w 11"/>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1" h="6">
                  <a:moveTo>
                    <a:pt x="6" y="6"/>
                  </a:moveTo>
                  <a:cubicBezTo>
                    <a:pt x="3" y="6"/>
                    <a:pt x="1" y="3"/>
                    <a:pt x="0" y="0"/>
                  </a:cubicBezTo>
                  <a:cubicBezTo>
                    <a:pt x="0" y="1"/>
                    <a:pt x="0" y="1"/>
                    <a:pt x="0" y="1"/>
                  </a:cubicBezTo>
                  <a:cubicBezTo>
                    <a:pt x="0" y="4"/>
                    <a:pt x="3" y="6"/>
                    <a:pt x="6" y="6"/>
                  </a:cubicBezTo>
                  <a:cubicBezTo>
                    <a:pt x="9" y="6"/>
                    <a:pt x="11" y="4"/>
                    <a:pt x="11" y="1"/>
                  </a:cubicBezTo>
                  <a:cubicBezTo>
                    <a:pt x="11" y="0"/>
                    <a:pt x="11" y="0"/>
                    <a:pt x="11" y="0"/>
                  </a:cubicBezTo>
                  <a:cubicBezTo>
                    <a:pt x="11" y="3"/>
                    <a:pt x="9" y="6"/>
                    <a:pt x="6" y="6"/>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22" name="îṣḷîḓé"/>
            <p:cNvSpPr/>
            <p:nvPr/>
          </p:nvSpPr>
          <p:spPr bwMode="auto">
            <a:xfrm>
              <a:off x="7207251" y="3344863"/>
              <a:ext cx="417513" cy="1588"/>
            </a:xfrm>
            <a:prstGeom prst="rect">
              <a:avLst/>
            </a:prstGeom>
            <a:solidFill>
              <a:srgbClr val="55E2E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23" name="ïš1îďe"/>
            <p:cNvSpPr/>
            <p:nvPr/>
          </p:nvSpPr>
          <p:spPr bwMode="auto">
            <a:xfrm>
              <a:off x="7207251" y="3344863"/>
              <a:ext cx="417513"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24" name="îŝ1ïḓè"/>
            <p:cNvSpPr/>
            <p:nvPr/>
          </p:nvSpPr>
          <p:spPr bwMode="auto">
            <a:xfrm>
              <a:off x="7121526" y="3344863"/>
              <a:ext cx="85725" cy="1588"/>
            </a:xfrm>
            <a:prstGeom prst="rect">
              <a:avLst/>
            </a:prstGeom>
            <a:solidFill>
              <a:srgbClr val="31CAE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25" name="iṣľiḓê"/>
            <p:cNvSpPr/>
            <p:nvPr/>
          </p:nvSpPr>
          <p:spPr bwMode="auto">
            <a:xfrm>
              <a:off x="7121526" y="3344863"/>
              <a:ext cx="85725"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26" name="î$1îḑé"/>
            <p:cNvSpPr/>
            <p:nvPr/>
          </p:nvSpPr>
          <p:spPr bwMode="auto">
            <a:xfrm>
              <a:off x="6946901" y="3344863"/>
              <a:ext cx="174625" cy="1588"/>
            </a:xfrm>
            <a:prstGeom prst="rect">
              <a:avLst/>
            </a:prstGeom>
            <a:solidFill>
              <a:srgbClr val="2FB9C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27" name="iŝ1iďê"/>
            <p:cNvSpPr/>
            <p:nvPr/>
          </p:nvSpPr>
          <p:spPr bwMode="auto">
            <a:xfrm>
              <a:off x="6946901" y="3344863"/>
              <a:ext cx="174625"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28" name="ïṧḷîďe"/>
            <p:cNvSpPr/>
            <p:nvPr/>
          </p:nvSpPr>
          <p:spPr bwMode="auto">
            <a:xfrm>
              <a:off x="6965951" y="3290888"/>
              <a:ext cx="26988" cy="26988"/>
            </a:xfrm>
            <a:prstGeom prst="ellipse">
              <a:avLst/>
            </a:pr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29" name="ïŝ1ïḓé"/>
            <p:cNvSpPr/>
            <p:nvPr/>
          </p:nvSpPr>
          <p:spPr bwMode="auto">
            <a:xfrm>
              <a:off x="7004051" y="3290888"/>
              <a:ext cx="25400" cy="26988"/>
            </a:xfrm>
            <a:prstGeom prst="ellipse">
              <a:avLst/>
            </a:pr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30" name="iṥḻïḋé"/>
            <p:cNvSpPr/>
            <p:nvPr/>
          </p:nvSpPr>
          <p:spPr bwMode="auto">
            <a:xfrm>
              <a:off x="7043738" y="3290888"/>
              <a:ext cx="23813" cy="26988"/>
            </a:xfrm>
            <a:prstGeom prst="ellipse">
              <a:avLst/>
            </a:pr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31" name="îṡḻïdé"/>
            <p:cNvSpPr/>
            <p:nvPr/>
          </p:nvSpPr>
          <p:spPr bwMode="auto">
            <a:xfrm>
              <a:off x="6965951" y="3556000"/>
              <a:ext cx="26988" cy="23813"/>
            </a:xfrm>
            <a:custGeom>
              <a:avLst/>
              <a:gdLst>
                <a:gd name="T0" fmla="*/ 9 w 9"/>
                <a:gd name="T1" fmla="*/ 0 h 8"/>
                <a:gd name="T2" fmla="*/ 0 w 9"/>
                <a:gd name="T3" fmla="*/ 0 h 8"/>
                <a:gd name="T4" fmla="*/ 0 w 9"/>
                <a:gd name="T5" fmla="*/ 4 h 8"/>
                <a:gd name="T6" fmla="*/ 4 w 9"/>
                <a:gd name="T7" fmla="*/ 8 h 8"/>
                <a:gd name="T8" fmla="*/ 9 w 9"/>
                <a:gd name="T9" fmla="*/ 4 h 8"/>
                <a:gd name="T10" fmla="*/ 9 w 9"/>
                <a:gd name="T11" fmla="*/ 0 h 8"/>
              </a:gdLst>
              <a:ahLst/>
              <a:cxnLst>
                <a:cxn ang="0">
                  <a:pos x="T0" y="T1"/>
                </a:cxn>
                <a:cxn ang="0">
                  <a:pos x="T2" y="T3"/>
                </a:cxn>
                <a:cxn ang="0">
                  <a:pos x="T4" y="T5"/>
                </a:cxn>
                <a:cxn ang="0">
                  <a:pos x="T6" y="T7"/>
                </a:cxn>
                <a:cxn ang="0">
                  <a:pos x="T8" y="T9"/>
                </a:cxn>
                <a:cxn ang="0">
                  <a:pos x="T10" y="T11"/>
                </a:cxn>
              </a:cxnLst>
              <a:rect l="0" t="0" r="r" b="b"/>
              <a:pathLst>
                <a:path w="9" h="8">
                  <a:moveTo>
                    <a:pt x="9" y="0"/>
                  </a:moveTo>
                  <a:cubicBezTo>
                    <a:pt x="0" y="0"/>
                    <a:pt x="0" y="0"/>
                    <a:pt x="0" y="0"/>
                  </a:cubicBezTo>
                  <a:cubicBezTo>
                    <a:pt x="0" y="4"/>
                    <a:pt x="0" y="4"/>
                    <a:pt x="0" y="4"/>
                  </a:cubicBezTo>
                  <a:cubicBezTo>
                    <a:pt x="0" y="6"/>
                    <a:pt x="2" y="8"/>
                    <a:pt x="4" y="8"/>
                  </a:cubicBezTo>
                  <a:cubicBezTo>
                    <a:pt x="7" y="8"/>
                    <a:pt x="9" y="6"/>
                    <a:pt x="9" y="4"/>
                  </a:cubicBezTo>
                  <a:cubicBezTo>
                    <a:pt x="9" y="0"/>
                    <a:pt x="9" y="0"/>
                    <a:pt x="9" y="0"/>
                  </a:cubicBezTo>
                </a:path>
              </a:pathLst>
            </a:custGeom>
            <a:solidFill>
              <a:srgbClr val="2B96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32" name="íSlîḍe"/>
            <p:cNvSpPr/>
            <p:nvPr/>
          </p:nvSpPr>
          <p:spPr bwMode="auto">
            <a:xfrm>
              <a:off x="6965951" y="3503613"/>
              <a:ext cx="26988" cy="52388"/>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33" name="iṥḷídê"/>
            <p:cNvSpPr/>
            <p:nvPr/>
          </p:nvSpPr>
          <p:spPr bwMode="auto">
            <a:xfrm>
              <a:off x="6965951" y="3503613"/>
              <a:ext cx="26988" cy="5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34" name="îṩḷiḍe"/>
            <p:cNvSpPr/>
            <p:nvPr/>
          </p:nvSpPr>
          <p:spPr bwMode="auto">
            <a:xfrm>
              <a:off x="6965951" y="3355975"/>
              <a:ext cx="26988" cy="147638"/>
            </a:xfrm>
            <a:custGeom>
              <a:avLst/>
              <a:gdLst>
                <a:gd name="T0" fmla="*/ 4 w 9"/>
                <a:gd name="T1" fmla="*/ 0 h 49"/>
                <a:gd name="T2" fmla="*/ 0 w 9"/>
                <a:gd name="T3" fmla="*/ 4 h 49"/>
                <a:gd name="T4" fmla="*/ 0 w 9"/>
                <a:gd name="T5" fmla="*/ 49 h 49"/>
                <a:gd name="T6" fmla="*/ 9 w 9"/>
                <a:gd name="T7" fmla="*/ 49 h 49"/>
                <a:gd name="T8" fmla="*/ 9 w 9"/>
                <a:gd name="T9" fmla="*/ 4 h 49"/>
                <a:gd name="T10" fmla="*/ 4 w 9"/>
                <a:gd name="T11" fmla="*/ 0 h 49"/>
              </a:gdLst>
              <a:ahLst/>
              <a:cxnLst>
                <a:cxn ang="0">
                  <a:pos x="T0" y="T1"/>
                </a:cxn>
                <a:cxn ang="0">
                  <a:pos x="T2" y="T3"/>
                </a:cxn>
                <a:cxn ang="0">
                  <a:pos x="T4" y="T5"/>
                </a:cxn>
                <a:cxn ang="0">
                  <a:pos x="T6" y="T7"/>
                </a:cxn>
                <a:cxn ang="0">
                  <a:pos x="T8" y="T9"/>
                </a:cxn>
                <a:cxn ang="0">
                  <a:pos x="T10" y="T11"/>
                </a:cxn>
              </a:cxnLst>
              <a:rect l="0" t="0" r="r" b="b"/>
              <a:pathLst>
                <a:path w="9" h="49">
                  <a:moveTo>
                    <a:pt x="4" y="0"/>
                  </a:moveTo>
                  <a:cubicBezTo>
                    <a:pt x="2" y="0"/>
                    <a:pt x="0" y="2"/>
                    <a:pt x="0" y="4"/>
                  </a:cubicBezTo>
                  <a:cubicBezTo>
                    <a:pt x="0" y="49"/>
                    <a:pt x="0" y="49"/>
                    <a:pt x="0" y="49"/>
                  </a:cubicBezTo>
                  <a:cubicBezTo>
                    <a:pt x="9" y="49"/>
                    <a:pt x="9" y="49"/>
                    <a:pt x="9" y="49"/>
                  </a:cubicBezTo>
                  <a:cubicBezTo>
                    <a:pt x="9" y="4"/>
                    <a:pt x="9" y="4"/>
                    <a:pt x="9" y="4"/>
                  </a:cubicBezTo>
                  <a:cubicBezTo>
                    <a:pt x="9" y="2"/>
                    <a:pt x="7" y="0"/>
                    <a:pt x="4"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35" name="îṣļîḑe"/>
            <p:cNvSpPr/>
            <p:nvPr/>
          </p:nvSpPr>
          <p:spPr bwMode="auto">
            <a:xfrm>
              <a:off x="6970713" y="3365500"/>
              <a:ext cx="12700" cy="96838"/>
            </a:xfrm>
            <a:custGeom>
              <a:avLst/>
              <a:gdLst>
                <a:gd name="T0" fmla="*/ 2 w 4"/>
                <a:gd name="T1" fmla="*/ 32 h 32"/>
                <a:gd name="T2" fmla="*/ 2 w 4"/>
                <a:gd name="T3" fmla="*/ 32 h 32"/>
                <a:gd name="T4" fmla="*/ 0 w 4"/>
                <a:gd name="T5" fmla="*/ 30 h 32"/>
                <a:gd name="T6" fmla="*/ 0 w 4"/>
                <a:gd name="T7" fmla="*/ 2 h 32"/>
                <a:gd name="T8" fmla="*/ 2 w 4"/>
                <a:gd name="T9" fmla="*/ 0 h 32"/>
                <a:gd name="T10" fmla="*/ 4 w 4"/>
                <a:gd name="T11" fmla="*/ 2 h 32"/>
                <a:gd name="T12" fmla="*/ 4 w 4"/>
                <a:gd name="T13" fmla="*/ 30 h 32"/>
                <a:gd name="T14" fmla="*/ 2 w 4"/>
                <a:gd name="T15" fmla="*/ 32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32">
                  <a:moveTo>
                    <a:pt x="2" y="32"/>
                  </a:moveTo>
                  <a:cubicBezTo>
                    <a:pt x="2" y="32"/>
                    <a:pt x="2" y="32"/>
                    <a:pt x="2" y="32"/>
                  </a:cubicBezTo>
                  <a:cubicBezTo>
                    <a:pt x="1" y="32"/>
                    <a:pt x="0" y="31"/>
                    <a:pt x="0" y="30"/>
                  </a:cubicBezTo>
                  <a:cubicBezTo>
                    <a:pt x="0" y="2"/>
                    <a:pt x="0" y="2"/>
                    <a:pt x="0" y="2"/>
                  </a:cubicBezTo>
                  <a:cubicBezTo>
                    <a:pt x="0" y="1"/>
                    <a:pt x="1" y="0"/>
                    <a:pt x="2" y="0"/>
                  </a:cubicBezTo>
                  <a:cubicBezTo>
                    <a:pt x="3" y="0"/>
                    <a:pt x="4" y="1"/>
                    <a:pt x="4" y="2"/>
                  </a:cubicBezTo>
                  <a:cubicBezTo>
                    <a:pt x="4" y="30"/>
                    <a:pt x="4" y="30"/>
                    <a:pt x="4" y="30"/>
                  </a:cubicBezTo>
                  <a:cubicBezTo>
                    <a:pt x="4" y="31"/>
                    <a:pt x="3" y="32"/>
                    <a:pt x="2" y="32"/>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36" name="îśľíḑé"/>
            <p:cNvSpPr/>
            <p:nvPr/>
          </p:nvSpPr>
          <p:spPr bwMode="auto">
            <a:xfrm>
              <a:off x="7029451" y="3378200"/>
              <a:ext cx="128588" cy="6350"/>
            </a:xfrm>
            <a:custGeom>
              <a:avLst/>
              <a:gdLst>
                <a:gd name="T0" fmla="*/ 42 w 43"/>
                <a:gd name="T1" fmla="*/ 2 h 2"/>
                <a:gd name="T2" fmla="*/ 1 w 43"/>
                <a:gd name="T3" fmla="*/ 2 h 2"/>
                <a:gd name="T4" fmla="*/ 0 w 43"/>
                <a:gd name="T5" fmla="*/ 1 h 2"/>
                <a:gd name="T6" fmla="*/ 1 w 43"/>
                <a:gd name="T7" fmla="*/ 0 h 2"/>
                <a:gd name="T8" fmla="*/ 42 w 43"/>
                <a:gd name="T9" fmla="*/ 0 h 2"/>
                <a:gd name="T10" fmla="*/ 43 w 43"/>
                <a:gd name="T11" fmla="*/ 1 h 2"/>
                <a:gd name="T12" fmla="*/ 42 w 43"/>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43" h="2">
                  <a:moveTo>
                    <a:pt x="42" y="2"/>
                  </a:moveTo>
                  <a:cubicBezTo>
                    <a:pt x="1" y="2"/>
                    <a:pt x="1" y="2"/>
                    <a:pt x="1" y="2"/>
                  </a:cubicBezTo>
                  <a:cubicBezTo>
                    <a:pt x="1" y="2"/>
                    <a:pt x="0" y="1"/>
                    <a:pt x="0" y="1"/>
                  </a:cubicBezTo>
                  <a:cubicBezTo>
                    <a:pt x="0" y="1"/>
                    <a:pt x="1" y="0"/>
                    <a:pt x="1" y="0"/>
                  </a:cubicBezTo>
                  <a:cubicBezTo>
                    <a:pt x="42" y="0"/>
                    <a:pt x="42" y="0"/>
                    <a:pt x="42" y="0"/>
                  </a:cubicBezTo>
                  <a:cubicBezTo>
                    <a:pt x="43" y="0"/>
                    <a:pt x="43" y="1"/>
                    <a:pt x="43" y="1"/>
                  </a:cubicBezTo>
                  <a:cubicBezTo>
                    <a:pt x="43" y="1"/>
                    <a:pt x="43" y="2"/>
                    <a:pt x="42"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37" name="ïšḷiḋê"/>
            <p:cNvSpPr/>
            <p:nvPr/>
          </p:nvSpPr>
          <p:spPr bwMode="auto">
            <a:xfrm>
              <a:off x="7164388" y="3378200"/>
              <a:ext cx="20638" cy="6350"/>
            </a:xfrm>
            <a:custGeom>
              <a:avLst/>
              <a:gdLst>
                <a:gd name="T0" fmla="*/ 6 w 7"/>
                <a:gd name="T1" fmla="*/ 2 h 2"/>
                <a:gd name="T2" fmla="*/ 0 w 7"/>
                <a:gd name="T3" fmla="*/ 2 h 2"/>
                <a:gd name="T4" fmla="*/ 0 w 7"/>
                <a:gd name="T5" fmla="*/ 1 h 2"/>
                <a:gd name="T6" fmla="*/ 0 w 7"/>
                <a:gd name="T7" fmla="*/ 0 h 2"/>
                <a:gd name="T8" fmla="*/ 6 w 7"/>
                <a:gd name="T9" fmla="*/ 0 h 2"/>
                <a:gd name="T10" fmla="*/ 7 w 7"/>
                <a:gd name="T11" fmla="*/ 1 h 2"/>
                <a:gd name="T12" fmla="*/ 6 w 7"/>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7" h="2">
                  <a:moveTo>
                    <a:pt x="6" y="2"/>
                  </a:moveTo>
                  <a:cubicBezTo>
                    <a:pt x="0" y="2"/>
                    <a:pt x="0" y="2"/>
                    <a:pt x="0" y="2"/>
                  </a:cubicBezTo>
                  <a:cubicBezTo>
                    <a:pt x="0" y="2"/>
                    <a:pt x="0" y="1"/>
                    <a:pt x="0" y="1"/>
                  </a:cubicBezTo>
                  <a:cubicBezTo>
                    <a:pt x="0" y="1"/>
                    <a:pt x="0" y="0"/>
                    <a:pt x="0" y="0"/>
                  </a:cubicBezTo>
                  <a:cubicBezTo>
                    <a:pt x="6" y="0"/>
                    <a:pt x="6" y="0"/>
                    <a:pt x="6" y="0"/>
                  </a:cubicBezTo>
                  <a:cubicBezTo>
                    <a:pt x="6" y="0"/>
                    <a:pt x="7" y="1"/>
                    <a:pt x="7" y="1"/>
                  </a:cubicBezTo>
                  <a:cubicBezTo>
                    <a:pt x="7" y="1"/>
                    <a:pt x="6" y="2"/>
                    <a:pt x="6"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38" name="ï$lïďe"/>
            <p:cNvSpPr/>
            <p:nvPr/>
          </p:nvSpPr>
          <p:spPr bwMode="auto">
            <a:xfrm>
              <a:off x="7197726" y="3378200"/>
              <a:ext cx="157163" cy="6350"/>
            </a:xfrm>
            <a:custGeom>
              <a:avLst/>
              <a:gdLst>
                <a:gd name="T0" fmla="*/ 51 w 52"/>
                <a:gd name="T1" fmla="*/ 2 h 2"/>
                <a:gd name="T2" fmla="*/ 1 w 52"/>
                <a:gd name="T3" fmla="*/ 2 h 2"/>
                <a:gd name="T4" fmla="*/ 0 w 52"/>
                <a:gd name="T5" fmla="*/ 1 h 2"/>
                <a:gd name="T6" fmla="*/ 1 w 52"/>
                <a:gd name="T7" fmla="*/ 0 h 2"/>
                <a:gd name="T8" fmla="*/ 51 w 52"/>
                <a:gd name="T9" fmla="*/ 0 h 2"/>
                <a:gd name="T10" fmla="*/ 52 w 52"/>
                <a:gd name="T11" fmla="*/ 1 h 2"/>
                <a:gd name="T12" fmla="*/ 51 w 52"/>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52" h="2">
                  <a:moveTo>
                    <a:pt x="51" y="2"/>
                  </a:moveTo>
                  <a:cubicBezTo>
                    <a:pt x="1" y="2"/>
                    <a:pt x="1" y="2"/>
                    <a:pt x="1" y="2"/>
                  </a:cubicBezTo>
                  <a:cubicBezTo>
                    <a:pt x="1" y="2"/>
                    <a:pt x="0" y="1"/>
                    <a:pt x="0" y="1"/>
                  </a:cubicBezTo>
                  <a:cubicBezTo>
                    <a:pt x="0" y="1"/>
                    <a:pt x="1" y="0"/>
                    <a:pt x="1" y="0"/>
                  </a:cubicBezTo>
                  <a:cubicBezTo>
                    <a:pt x="51" y="0"/>
                    <a:pt x="51" y="0"/>
                    <a:pt x="51" y="0"/>
                  </a:cubicBezTo>
                  <a:cubicBezTo>
                    <a:pt x="51" y="0"/>
                    <a:pt x="52" y="1"/>
                    <a:pt x="52" y="1"/>
                  </a:cubicBezTo>
                  <a:cubicBezTo>
                    <a:pt x="52" y="1"/>
                    <a:pt x="51" y="2"/>
                    <a:pt x="51"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39" name="îšľïḋê"/>
            <p:cNvSpPr/>
            <p:nvPr/>
          </p:nvSpPr>
          <p:spPr bwMode="auto">
            <a:xfrm>
              <a:off x="7029451" y="3389313"/>
              <a:ext cx="149225" cy="3175"/>
            </a:xfrm>
            <a:custGeom>
              <a:avLst/>
              <a:gdLst>
                <a:gd name="T0" fmla="*/ 49 w 50"/>
                <a:gd name="T1" fmla="*/ 1 h 1"/>
                <a:gd name="T2" fmla="*/ 1 w 50"/>
                <a:gd name="T3" fmla="*/ 1 h 1"/>
                <a:gd name="T4" fmla="*/ 0 w 50"/>
                <a:gd name="T5" fmla="*/ 1 h 1"/>
                <a:gd name="T6" fmla="*/ 1 w 50"/>
                <a:gd name="T7" fmla="*/ 0 h 1"/>
                <a:gd name="T8" fmla="*/ 49 w 50"/>
                <a:gd name="T9" fmla="*/ 0 h 1"/>
                <a:gd name="T10" fmla="*/ 50 w 50"/>
                <a:gd name="T11" fmla="*/ 1 h 1"/>
                <a:gd name="T12" fmla="*/ 49 w 50"/>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50" h="1">
                  <a:moveTo>
                    <a:pt x="49" y="1"/>
                  </a:moveTo>
                  <a:cubicBezTo>
                    <a:pt x="1" y="1"/>
                    <a:pt x="1" y="1"/>
                    <a:pt x="1" y="1"/>
                  </a:cubicBezTo>
                  <a:cubicBezTo>
                    <a:pt x="1" y="1"/>
                    <a:pt x="0" y="1"/>
                    <a:pt x="0" y="1"/>
                  </a:cubicBezTo>
                  <a:cubicBezTo>
                    <a:pt x="0" y="0"/>
                    <a:pt x="1" y="0"/>
                    <a:pt x="1" y="0"/>
                  </a:cubicBezTo>
                  <a:cubicBezTo>
                    <a:pt x="49" y="0"/>
                    <a:pt x="49" y="0"/>
                    <a:pt x="49" y="0"/>
                  </a:cubicBezTo>
                  <a:cubicBezTo>
                    <a:pt x="50" y="0"/>
                    <a:pt x="50" y="0"/>
                    <a:pt x="50" y="1"/>
                  </a:cubicBezTo>
                  <a:cubicBezTo>
                    <a:pt x="50" y="1"/>
                    <a:pt x="50" y="1"/>
                    <a:pt x="49"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40" name="ïśḻïḋè"/>
            <p:cNvSpPr/>
            <p:nvPr/>
          </p:nvSpPr>
          <p:spPr bwMode="auto">
            <a:xfrm>
              <a:off x="7188201" y="3386138"/>
              <a:ext cx="133350" cy="6350"/>
            </a:xfrm>
            <a:custGeom>
              <a:avLst/>
              <a:gdLst>
                <a:gd name="T0" fmla="*/ 43 w 44"/>
                <a:gd name="T1" fmla="*/ 2 h 2"/>
                <a:gd name="T2" fmla="*/ 0 w 44"/>
                <a:gd name="T3" fmla="*/ 2 h 2"/>
                <a:gd name="T4" fmla="*/ 0 w 44"/>
                <a:gd name="T5" fmla="*/ 1 h 2"/>
                <a:gd name="T6" fmla="*/ 0 w 44"/>
                <a:gd name="T7" fmla="*/ 0 h 2"/>
                <a:gd name="T8" fmla="*/ 43 w 44"/>
                <a:gd name="T9" fmla="*/ 0 h 2"/>
                <a:gd name="T10" fmla="*/ 44 w 44"/>
                <a:gd name="T11" fmla="*/ 1 h 2"/>
                <a:gd name="T12" fmla="*/ 43 w 44"/>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44" h="2">
                  <a:moveTo>
                    <a:pt x="43" y="2"/>
                  </a:moveTo>
                  <a:cubicBezTo>
                    <a:pt x="0" y="2"/>
                    <a:pt x="0" y="2"/>
                    <a:pt x="0" y="2"/>
                  </a:cubicBezTo>
                  <a:cubicBezTo>
                    <a:pt x="0" y="2"/>
                    <a:pt x="0" y="1"/>
                    <a:pt x="0" y="1"/>
                  </a:cubicBezTo>
                  <a:cubicBezTo>
                    <a:pt x="0" y="1"/>
                    <a:pt x="0" y="0"/>
                    <a:pt x="0" y="0"/>
                  </a:cubicBezTo>
                  <a:cubicBezTo>
                    <a:pt x="43" y="0"/>
                    <a:pt x="43" y="0"/>
                    <a:pt x="43" y="0"/>
                  </a:cubicBezTo>
                  <a:cubicBezTo>
                    <a:pt x="43" y="0"/>
                    <a:pt x="44" y="1"/>
                    <a:pt x="44" y="1"/>
                  </a:cubicBezTo>
                  <a:cubicBezTo>
                    <a:pt x="44" y="1"/>
                    <a:pt x="43" y="2"/>
                    <a:pt x="43"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41" name="ïşľiďe"/>
            <p:cNvSpPr/>
            <p:nvPr/>
          </p:nvSpPr>
          <p:spPr bwMode="auto">
            <a:xfrm>
              <a:off x="7324726" y="3386138"/>
              <a:ext cx="30163" cy="6350"/>
            </a:xfrm>
            <a:custGeom>
              <a:avLst/>
              <a:gdLst>
                <a:gd name="T0" fmla="*/ 10 w 10"/>
                <a:gd name="T1" fmla="*/ 2 h 2"/>
                <a:gd name="T2" fmla="*/ 1 w 10"/>
                <a:gd name="T3" fmla="*/ 2 h 2"/>
                <a:gd name="T4" fmla="*/ 0 w 10"/>
                <a:gd name="T5" fmla="*/ 1 h 2"/>
                <a:gd name="T6" fmla="*/ 1 w 10"/>
                <a:gd name="T7" fmla="*/ 0 h 2"/>
                <a:gd name="T8" fmla="*/ 10 w 10"/>
                <a:gd name="T9" fmla="*/ 0 h 2"/>
                <a:gd name="T10" fmla="*/ 10 w 10"/>
                <a:gd name="T11" fmla="*/ 1 h 2"/>
                <a:gd name="T12" fmla="*/ 10 w 10"/>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10" h="2">
                  <a:moveTo>
                    <a:pt x="10" y="2"/>
                  </a:moveTo>
                  <a:cubicBezTo>
                    <a:pt x="1" y="2"/>
                    <a:pt x="1" y="2"/>
                    <a:pt x="1" y="2"/>
                  </a:cubicBezTo>
                  <a:cubicBezTo>
                    <a:pt x="1" y="2"/>
                    <a:pt x="0" y="1"/>
                    <a:pt x="0" y="1"/>
                  </a:cubicBezTo>
                  <a:cubicBezTo>
                    <a:pt x="0" y="1"/>
                    <a:pt x="1" y="0"/>
                    <a:pt x="1" y="0"/>
                  </a:cubicBezTo>
                  <a:cubicBezTo>
                    <a:pt x="10" y="0"/>
                    <a:pt x="10" y="0"/>
                    <a:pt x="10" y="0"/>
                  </a:cubicBezTo>
                  <a:cubicBezTo>
                    <a:pt x="10" y="0"/>
                    <a:pt x="10" y="1"/>
                    <a:pt x="10" y="1"/>
                  </a:cubicBezTo>
                  <a:cubicBezTo>
                    <a:pt x="10" y="1"/>
                    <a:pt x="10" y="2"/>
                    <a:pt x="10"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42" name="ïŝḻiḍe"/>
            <p:cNvSpPr/>
            <p:nvPr/>
          </p:nvSpPr>
          <p:spPr bwMode="auto">
            <a:xfrm>
              <a:off x="7034213" y="3402013"/>
              <a:ext cx="173038" cy="6350"/>
            </a:xfrm>
            <a:custGeom>
              <a:avLst/>
              <a:gdLst>
                <a:gd name="T0" fmla="*/ 57 w 57"/>
                <a:gd name="T1" fmla="*/ 2 h 2"/>
                <a:gd name="T2" fmla="*/ 1 w 57"/>
                <a:gd name="T3" fmla="*/ 2 h 2"/>
                <a:gd name="T4" fmla="*/ 0 w 57"/>
                <a:gd name="T5" fmla="*/ 1 h 2"/>
                <a:gd name="T6" fmla="*/ 1 w 57"/>
                <a:gd name="T7" fmla="*/ 0 h 2"/>
                <a:gd name="T8" fmla="*/ 57 w 57"/>
                <a:gd name="T9" fmla="*/ 0 h 2"/>
                <a:gd name="T10" fmla="*/ 57 w 57"/>
                <a:gd name="T11" fmla="*/ 1 h 2"/>
                <a:gd name="T12" fmla="*/ 57 w 57"/>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57" h="2">
                  <a:moveTo>
                    <a:pt x="57" y="2"/>
                  </a:moveTo>
                  <a:cubicBezTo>
                    <a:pt x="1" y="2"/>
                    <a:pt x="1" y="2"/>
                    <a:pt x="1" y="2"/>
                  </a:cubicBezTo>
                  <a:cubicBezTo>
                    <a:pt x="0" y="2"/>
                    <a:pt x="0" y="1"/>
                    <a:pt x="0" y="1"/>
                  </a:cubicBezTo>
                  <a:cubicBezTo>
                    <a:pt x="0" y="1"/>
                    <a:pt x="0" y="0"/>
                    <a:pt x="1" y="0"/>
                  </a:cubicBezTo>
                  <a:cubicBezTo>
                    <a:pt x="57" y="0"/>
                    <a:pt x="57" y="0"/>
                    <a:pt x="57" y="0"/>
                  </a:cubicBezTo>
                  <a:cubicBezTo>
                    <a:pt x="57" y="0"/>
                    <a:pt x="57" y="1"/>
                    <a:pt x="57" y="1"/>
                  </a:cubicBezTo>
                  <a:cubicBezTo>
                    <a:pt x="57" y="1"/>
                    <a:pt x="57" y="2"/>
                    <a:pt x="57"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43" name="íślïḋè"/>
            <p:cNvSpPr/>
            <p:nvPr/>
          </p:nvSpPr>
          <p:spPr bwMode="auto">
            <a:xfrm>
              <a:off x="7296151" y="3402013"/>
              <a:ext cx="46038" cy="6350"/>
            </a:xfrm>
            <a:custGeom>
              <a:avLst/>
              <a:gdLst>
                <a:gd name="T0" fmla="*/ 14 w 15"/>
                <a:gd name="T1" fmla="*/ 2 h 2"/>
                <a:gd name="T2" fmla="*/ 1 w 15"/>
                <a:gd name="T3" fmla="*/ 2 h 2"/>
                <a:gd name="T4" fmla="*/ 0 w 15"/>
                <a:gd name="T5" fmla="*/ 1 h 2"/>
                <a:gd name="T6" fmla="*/ 1 w 15"/>
                <a:gd name="T7" fmla="*/ 0 h 2"/>
                <a:gd name="T8" fmla="*/ 14 w 15"/>
                <a:gd name="T9" fmla="*/ 0 h 2"/>
                <a:gd name="T10" fmla="*/ 15 w 15"/>
                <a:gd name="T11" fmla="*/ 1 h 2"/>
                <a:gd name="T12" fmla="*/ 14 w 15"/>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15" h="2">
                  <a:moveTo>
                    <a:pt x="14" y="2"/>
                  </a:moveTo>
                  <a:cubicBezTo>
                    <a:pt x="1" y="2"/>
                    <a:pt x="1" y="2"/>
                    <a:pt x="1" y="2"/>
                  </a:cubicBezTo>
                  <a:cubicBezTo>
                    <a:pt x="1" y="2"/>
                    <a:pt x="0" y="1"/>
                    <a:pt x="0" y="1"/>
                  </a:cubicBezTo>
                  <a:cubicBezTo>
                    <a:pt x="0" y="1"/>
                    <a:pt x="1" y="0"/>
                    <a:pt x="1" y="0"/>
                  </a:cubicBezTo>
                  <a:cubicBezTo>
                    <a:pt x="14" y="0"/>
                    <a:pt x="14" y="0"/>
                    <a:pt x="14" y="0"/>
                  </a:cubicBezTo>
                  <a:cubicBezTo>
                    <a:pt x="15" y="0"/>
                    <a:pt x="15" y="1"/>
                    <a:pt x="15" y="1"/>
                  </a:cubicBezTo>
                  <a:cubicBezTo>
                    <a:pt x="15" y="1"/>
                    <a:pt x="15" y="2"/>
                    <a:pt x="14"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44" name="ïšļíḓé"/>
            <p:cNvSpPr/>
            <p:nvPr/>
          </p:nvSpPr>
          <p:spPr bwMode="auto">
            <a:xfrm>
              <a:off x="7158038" y="3413125"/>
              <a:ext cx="196850" cy="3175"/>
            </a:xfrm>
            <a:custGeom>
              <a:avLst/>
              <a:gdLst>
                <a:gd name="T0" fmla="*/ 65 w 65"/>
                <a:gd name="T1" fmla="*/ 1 h 1"/>
                <a:gd name="T2" fmla="*/ 1 w 65"/>
                <a:gd name="T3" fmla="*/ 1 h 1"/>
                <a:gd name="T4" fmla="*/ 0 w 65"/>
                <a:gd name="T5" fmla="*/ 1 h 1"/>
                <a:gd name="T6" fmla="*/ 1 w 65"/>
                <a:gd name="T7" fmla="*/ 0 h 1"/>
                <a:gd name="T8" fmla="*/ 65 w 65"/>
                <a:gd name="T9" fmla="*/ 0 h 1"/>
                <a:gd name="T10" fmla="*/ 65 w 65"/>
                <a:gd name="T11" fmla="*/ 1 h 1"/>
                <a:gd name="T12" fmla="*/ 65 w 65"/>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65" h="1">
                  <a:moveTo>
                    <a:pt x="65" y="1"/>
                  </a:moveTo>
                  <a:cubicBezTo>
                    <a:pt x="1" y="1"/>
                    <a:pt x="1" y="1"/>
                    <a:pt x="1" y="1"/>
                  </a:cubicBezTo>
                  <a:cubicBezTo>
                    <a:pt x="1" y="1"/>
                    <a:pt x="0" y="1"/>
                    <a:pt x="0" y="1"/>
                  </a:cubicBezTo>
                  <a:cubicBezTo>
                    <a:pt x="0" y="0"/>
                    <a:pt x="1" y="0"/>
                    <a:pt x="1" y="0"/>
                  </a:cubicBezTo>
                  <a:cubicBezTo>
                    <a:pt x="65" y="0"/>
                    <a:pt x="65" y="0"/>
                    <a:pt x="65" y="0"/>
                  </a:cubicBezTo>
                  <a:cubicBezTo>
                    <a:pt x="65" y="0"/>
                    <a:pt x="65" y="0"/>
                    <a:pt x="65" y="1"/>
                  </a:cubicBezTo>
                  <a:cubicBezTo>
                    <a:pt x="65" y="1"/>
                    <a:pt x="65" y="1"/>
                    <a:pt x="65"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45" name="îṣḻîḍe"/>
            <p:cNvSpPr/>
            <p:nvPr/>
          </p:nvSpPr>
          <p:spPr bwMode="auto">
            <a:xfrm>
              <a:off x="7029451" y="3429000"/>
              <a:ext cx="182563" cy="6350"/>
            </a:xfrm>
            <a:custGeom>
              <a:avLst/>
              <a:gdLst>
                <a:gd name="T0" fmla="*/ 60 w 61"/>
                <a:gd name="T1" fmla="*/ 2 h 2"/>
                <a:gd name="T2" fmla="*/ 1 w 61"/>
                <a:gd name="T3" fmla="*/ 2 h 2"/>
                <a:gd name="T4" fmla="*/ 0 w 61"/>
                <a:gd name="T5" fmla="*/ 1 h 2"/>
                <a:gd name="T6" fmla="*/ 1 w 61"/>
                <a:gd name="T7" fmla="*/ 0 h 2"/>
                <a:gd name="T8" fmla="*/ 60 w 61"/>
                <a:gd name="T9" fmla="*/ 0 h 2"/>
                <a:gd name="T10" fmla="*/ 61 w 61"/>
                <a:gd name="T11" fmla="*/ 1 h 2"/>
                <a:gd name="T12" fmla="*/ 60 w 61"/>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61" h="2">
                  <a:moveTo>
                    <a:pt x="60" y="2"/>
                  </a:moveTo>
                  <a:cubicBezTo>
                    <a:pt x="1" y="2"/>
                    <a:pt x="1" y="2"/>
                    <a:pt x="1" y="2"/>
                  </a:cubicBezTo>
                  <a:cubicBezTo>
                    <a:pt x="1" y="2"/>
                    <a:pt x="0" y="1"/>
                    <a:pt x="0" y="1"/>
                  </a:cubicBezTo>
                  <a:cubicBezTo>
                    <a:pt x="0" y="1"/>
                    <a:pt x="1" y="0"/>
                    <a:pt x="1" y="0"/>
                  </a:cubicBezTo>
                  <a:cubicBezTo>
                    <a:pt x="60" y="0"/>
                    <a:pt x="60" y="0"/>
                    <a:pt x="60" y="0"/>
                  </a:cubicBezTo>
                  <a:cubicBezTo>
                    <a:pt x="61" y="0"/>
                    <a:pt x="61" y="1"/>
                    <a:pt x="61" y="1"/>
                  </a:cubicBezTo>
                  <a:cubicBezTo>
                    <a:pt x="61" y="1"/>
                    <a:pt x="61" y="2"/>
                    <a:pt x="60"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46" name="îsļiḋe"/>
            <p:cNvSpPr/>
            <p:nvPr/>
          </p:nvSpPr>
          <p:spPr bwMode="auto">
            <a:xfrm>
              <a:off x="7158038" y="3441700"/>
              <a:ext cx="198438" cy="1588"/>
            </a:xfrm>
            <a:custGeom>
              <a:avLst/>
              <a:gdLst>
                <a:gd name="T0" fmla="*/ 65 w 66"/>
                <a:gd name="T1" fmla="*/ 1 h 1"/>
                <a:gd name="T2" fmla="*/ 1 w 66"/>
                <a:gd name="T3" fmla="*/ 1 h 1"/>
                <a:gd name="T4" fmla="*/ 0 w 66"/>
                <a:gd name="T5" fmla="*/ 0 h 1"/>
                <a:gd name="T6" fmla="*/ 1 w 66"/>
                <a:gd name="T7" fmla="*/ 0 h 1"/>
                <a:gd name="T8" fmla="*/ 65 w 66"/>
                <a:gd name="T9" fmla="*/ 0 h 1"/>
                <a:gd name="T10" fmla="*/ 66 w 66"/>
                <a:gd name="T11" fmla="*/ 0 h 1"/>
                <a:gd name="T12" fmla="*/ 65 w 66"/>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66" h="1">
                  <a:moveTo>
                    <a:pt x="65" y="1"/>
                  </a:moveTo>
                  <a:cubicBezTo>
                    <a:pt x="1" y="1"/>
                    <a:pt x="1" y="1"/>
                    <a:pt x="1" y="1"/>
                  </a:cubicBezTo>
                  <a:cubicBezTo>
                    <a:pt x="1" y="1"/>
                    <a:pt x="0" y="1"/>
                    <a:pt x="0" y="0"/>
                  </a:cubicBezTo>
                  <a:cubicBezTo>
                    <a:pt x="0" y="0"/>
                    <a:pt x="1" y="0"/>
                    <a:pt x="1" y="0"/>
                  </a:cubicBezTo>
                  <a:cubicBezTo>
                    <a:pt x="65" y="0"/>
                    <a:pt x="65" y="0"/>
                    <a:pt x="65" y="0"/>
                  </a:cubicBezTo>
                  <a:cubicBezTo>
                    <a:pt x="66" y="0"/>
                    <a:pt x="66" y="0"/>
                    <a:pt x="66" y="0"/>
                  </a:cubicBezTo>
                  <a:cubicBezTo>
                    <a:pt x="66" y="1"/>
                    <a:pt x="66" y="1"/>
                    <a:pt x="65"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47" name="íṧlidè"/>
            <p:cNvSpPr/>
            <p:nvPr/>
          </p:nvSpPr>
          <p:spPr bwMode="auto">
            <a:xfrm>
              <a:off x="7056438" y="3443288"/>
              <a:ext cx="57150" cy="6350"/>
            </a:xfrm>
            <a:custGeom>
              <a:avLst/>
              <a:gdLst>
                <a:gd name="T0" fmla="*/ 18 w 19"/>
                <a:gd name="T1" fmla="*/ 2 h 2"/>
                <a:gd name="T2" fmla="*/ 0 w 19"/>
                <a:gd name="T3" fmla="*/ 2 h 2"/>
                <a:gd name="T4" fmla="*/ 0 w 19"/>
                <a:gd name="T5" fmla="*/ 1 h 2"/>
                <a:gd name="T6" fmla="*/ 0 w 19"/>
                <a:gd name="T7" fmla="*/ 0 h 2"/>
                <a:gd name="T8" fmla="*/ 18 w 19"/>
                <a:gd name="T9" fmla="*/ 0 h 2"/>
                <a:gd name="T10" fmla="*/ 19 w 19"/>
                <a:gd name="T11" fmla="*/ 1 h 2"/>
                <a:gd name="T12" fmla="*/ 18 w 19"/>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19" h="2">
                  <a:moveTo>
                    <a:pt x="18" y="2"/>
                  </a:moveTo>
                  <a:cubicBezTo>
                    <a:pt x="0" y="2"/>
                    <a:pt x="0" y="2"/>
                    <a:pt x="0" y="2"/>
                  </a:cubicBezTo>
                  <a:cubicBezTo>
                    <a:pt x="0" y="2"/>
                    <a:pt x="0" y="1"/>
                    <a:pt x="0" y="1"/>
                  </a:cubicBezTo>
                  <a:cubicBezTo>
                    <a:pt x="0" y="1"/>
                    <a:pt x="0" y="0"/>
                    <a:pt x="0" y="0"/>
                  </a:cubicBezTo>
                  <a:cubicBezTo>
                    <a:pt x="18" y="0"/>
                    <a:pt x="18" y="0"/>
                    <a:pt x="18" y="0"/>
                  </a:cubicBezTo>
                  <a:cubicBezTo>
                    <a:pt x="18" y="0"/>
                    <a:pt x="19" y="1"/>
                    <a:pt x="19" y="1"/>
                  </a:cubicBezTo>
                  <a:cubicBezTo>
                    <a:pt x="19" y="1"/>
                    <a:pt x="18" y="2"/>
                    <a:pt x="18"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48" name="iṩļiḑê"/>
            <p:cNvSpPr/>
            <p:nvPr/>
          </p:nvSpPr>
          <p:spPr bwMode="auto">
            <a:xfrm>
              <a:off x="7029451" y="3413125"/>
              <a:ext cx="47625" cy="3175"/>
            </a:xfrm>
            <a:custGeom>
              <a:avLst/>
              <a:gdLst>
                <a:gd name="T0" fmla="*/ 15 w 16"/>
                <a:gd name="T1" fmla="*/ 1 h 1"/>
                <a:gd name="T2" fmla="*/ 1 w 16"/>
                <a:gd name="T3" fmla="*/ 1 h 1"/>
                <a:gd name="T4" fmla="*/ 0 w 16"/>
                <a:gd name="T5" fmla="*/ 1 h 1"/>
                <a:gd name="T6" fmla="*/ 1 w 16"/>
                <a:gd name="T7" fmla="*/ 0 h 1"/>
                <a:gd name="T8" fmla="*/ 15 w 16"/>
                <a:gd name="T9" fmla="*/ 0 h 1"/>
                <a:gd name="T10" fmla="*/ 16 w 16"/>
                <a:gd name="T11" fmla="*/ 1 h 1"/>
                <a:gd name="T12" fmla="*/ 15 w 16"/>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16" h="1">
                  <a:moveTo>
                    <a:pt x="15" y="1"/>
                  </a:moveTo>
                  <a:cubicBezTo>
                    <a:pt x="1" y="1"/>
                    <a:pt x="1" y="1"/>
                    <a:pt x="1" y="1"/>
                  </a:cubicBezTo>
                  <a:cubicBezTo>
                    <a:pt x="1" y="1"/>
                    <a:pt x="0" y="1"/>
                    <a:pt x="0" y="1"/>
                  </a:cubicBezTo>
                  <a:cubicBezTo>
                    <a:pt x="0" y="0"/>
                    <a:pt x="1" y="0"/>
                    <a:pt x="1" y="0"/>
                  </a:cubicBezTo>
                  <a:cubicBezTo>
                    <a:pt x="15" y="0"/>
                    <a:pt x="15" y="0"/>
                    <a:pt x="15" y="0"/>
                  </a:cubicBezTo>
                  <a:cubicBezTo>
                    <a:pt x="15" y="0"/>
                    <a:pt x="16" y="0"/>
                    <a:pt x="16" y="1"/>
                  </a:cubicBezTo>
                  <a:cubicBezTo>
                    <a:pt x="16" y="1"/>
                    <a:pt x="15" y="1"/>
                    <a:pt x="15"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49" name="îş1îdè"/>
            <p:cNvSpPr/>
            <p:nvPr/>
          </p:nvSpPr>
          <p:spPr bwMode="auto">
            <a:xfrm>
              <a:off x="6670676" y="1335088"/>
              <a:ext cx="1211263" cy="1751013"/>
            </a:xfrm>
            <a:custGeom>
              <a:avLst/>
              <a:gdLst>
                <a:gd name="T0" fmla="*/ 182 w 402"/>
                <a:gd name="T1" fmla="*/ 466 h 582"/>
                <a:gd name="T2" fmla="*/ 182 w 402"/>
                <a:gd name="T3" fmla="*/ 430 h 582"/>
                <a:gd name="T4" fmla="*/ 372 w 402"/>
                <a:gd name="T5" fmla="*/ 430 h 582"/>
                <a:gd name="T6" fmla="*/ 372 w 402"/>
                <a:gd name="T7" fmla="*/ 466 h 582"/>
                <a:gd name="T8" fmla="*/ 182 w 402"/>
                <a:gd name="T9" fmla="*/ 466 h 582"/>
                <a:gd name="T10" fmla="*/ 0 w 402"/>
                <a:gd name="T11" fmla="*/ 0 h 582"/>
                <a:gd name="T12" fmla="*/ 0 w 402"/>
                <a:gd name="T13" fmla="*/ 0 h 582"/>
                <a:gd name="T14" fmla="*/ 0 w 402"/>
                <a:gd name="T15" fmla="*/ 297 h 582"/>
                <a:gd name="T16" fmla="*/ 15 w 402"/>
                <a:gd name="T17" fmla="*/ 297 h 582"/>
                <a:gd name="T18" fmla="*/ 15 w 402"/>
                <a:gd name="T19" fmla="*/ 78 h 582"/>
                <a:gd name="T20" fmla="*/ 24 w 402"/>
                <a:gd name="T21" fmla="*/ 68 h 582"/>
                <a:gd name="T22" fmla="*/ 34 w 402"/>
                <a:gd name="T23" fmla="*/ 78 h 582"/>
                <a:gd name="T24" fmla="*/ 34 w 402"/>
                <a:gd name="T25" fmla="*/ 297 h 582"/>
                <a:gd name="T26" fmla="*/ 54 w 402"/>
                <a:gd name="T27" fmla="*/ 297 h 582"/>
                <a:gd name="T28" fmla="*/ 54 w 402"/>
                <a:gd name="T29" fmla="*/ 77 h 582"/>
                <a:gd name="T30" fmla="*/ 372 w 402"/>
                <a:gd name="T31" fmla="*/ 77 h 582"/>
                <a:gd name="T32" fmla="*/ 372 w 402"/>
                <a:gd name="T33" fmla="*/ 355 h 582"/>
                <a:gd name="T34" fmla="*/ 178 w 402"/>
                <a:gd name="T35" fmla="*/ 355 h 582"/>
                <a:gd name="T36" fmla="*/ 178 w 402"/>
                <a:gd name="T37" fmla="*/ 487 h 582"/>
                <a:gd name="T38" fmla="*/ 372 w 402"/>
                <a:gd name="T39" fmla="*/ 487 h 582"/>
                <a:gd name="T40" fmla="*/ 372 w 402"/>
                <a:gd name="T41" fmla="*/ 536 h 582"/>
                <a:gd name="T42" fmla="*/ 178 w 402"/>
                <a:gd name="T43" fmla="*/ 536 h 582"/>
                <a:gd name="T44" fmla="*/ 178 w 402"/>
                <a:gd name="T45" fmla="*/ 582 h 582"/>
                <a:gd name="T46" fmla="*/ 372 w 402"/>
                <a:gd name="T47" fmla="*/ 582 h 582"/>
                <a:gd name="T48" fmla="*/ 402 w 402"/>
                <a:gd name="T49" fmla="*/ 552 h 582"/>
                <a:gd name="T50" fmla="*/ 402 w 402"/>
                <a:gd name="T51" fmla="*/ 60 h 582"/>
                <a:gd name="T52" fmla="*/ 0 w 402"/>
                <a:gd name="T53" fmla="*/ 60 h 582"/>
                <a:gd name="T54" fmla="*/ 0 w 402"/>
                <a:gd name="T55"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2" h="582">
                  <a:moveTo>
                    <a:pt x="182" y="466"/>
                  </a:moveTo>
                  <a:cubicBezTo>
                    <a:pt x="182" y="430"/>
                    <a:pt x="182" y="430"/>
                    <a:pt x="182" y="430"/>
                  </a:cubicBezTo>
                  <a:cubicBezTo>
                    <a:pt x="372" y="430"/>
                    <a:pt x="372" y="430"/>
                    <a:pt x="372" y="430"/>
                  </a:cubicBezTo>
                  <a:cubicBezTo>
                    <a:pt x="372" y="466"/>
                    <a:pt x="372" y="466"/>
                    <a:pt x="372" y="466"/>
                  </a:cubicBezTo>
                  <a:cubicBezTo>
                    <a:pt x="182" y="466"/>
                    <a:pt x="182" y="466"/>
                    <a:pt x="182" y="466"/>
                  </a:cubicBezTo>
                  <a:moveTo>
                    <a:pt x="0" y="0"/>
                  </a:moveTo>
                  <a:cubicBezTo>
                    <a:pt x="0" y="0"/>
                    <a:pt x="0" y="0"/>
                    <a:pt x="0" y="0"/>
                  </a:cubicBezTo>
                  <a:cubicBezTo>
                    <a:pt x="0" y="297"/>
                    <a:pt x="0" y="297"/>
                    <a:pt x="0" y="297"/>
                  </a:cubicBezTo>
                  <a:cubicBezTo>
                    <a:pt x="15" y="297"/>
                    <a:pt x="15" y="297"/>
                    <a:pt x="15" y="297"/>
                  </a:cubicBezTo>
                  <a:cubicBezTo>
                    <a:pt x="15" y="78"/>
                    <a:pt x="15" y="78"/>
                    <a:pt x="15" y="78"/>
                  </a:cubicBezTo>
                  <a:cubicBezTo>
                    <a:pt x="15" y="73"/>
                    <a:pt x="19" y="68"/>
                    <a:pt x="24" y="68"/>
                  </a:cubicBezTo>
                  <a:cubicBezTo>
                    <a:pt x="30" y="68"/>
                    <a:pt x="34" y="73"/>
                    <a:pt x="34" y="78"/>
                  </a:cubicBezTo>
                  <a:cubicBezTo>
                    <a:pt x="34" y="297"/>
                    <a:pt x="34" y="297"/>
                    <a:pt x="34" y="297"/>
                  </a:cubicBezTo>
                  <a:cubicBezTo>
                    <a:pt x="54" y="297"/>
                    <a:pt x="54" y="297"/>
                    <a:pt x="54" y="297"/>
                  </a:cubicBezTo>
                  <a:cubicBezTo>
                    <a:pt x="54" y="77"/>
                    <a:pt x="54" y="77"/>
                    <a:pt x="54" y="77"/>
                  </a:cubicBezTo>
                  <a:cubicBezTo>
                    <a:pt x="372" y="77"/>
                    <a:pt x="372" y="77"/>
                    <a:pt x="372" y="77"/>
                  </a:cubicBezTo>
                  <a:cubicBezTo>
                    <a:pt x="372" y="355"/>
                    <a:pt x="372" y="355"/>
                    <a:pt x="372" y="355"/>
                  </a:cubicBezTo>
                  <a:cubicBezTo>
                    <a:pt x="178" y="355"/>
                    <a:pt x="178" y="355"/>
                    <a:pt x="178" y="355"/>
                  </a:cubicBezTo>
                  <a:cubicBezTo>
                    <a:pt x="178" y="487"/>
                    <a:pt x="178" y="487"/>
                    <a:pt x="178" y="487"/>
                  </a:cubicBezTo>
                  <a:cubicBezTo>
                    <a:pt x="372" y="487"/>
                    <a:pt x="372" y="487"/>
                    <a:pt x="372" y="487"/>
                  </a:cubicBezTo>
                  <a:cubicBezTo>
                    <a:pt x="372" y="536"/>
                    <a:pt x="372" y="536"/>
                    <a:pt x="372" y="536"/>
                  </a:cubicBezTo>
                  <a:cubicBezTo>
                    <a:pt x="178" y="536"/>
                    <a:pt x="178" y="536"/>
                    <a:pt x="178" y="536"/>
                  </a:cubicBezTo>
                  <a:cubicBezTo>
                    <a:pt x="178" y="582"/>
                    <a:pt x="178" y="582"/>
                    <a:pt x="178" y="582"/>
                  </a:cubicBezTo>
                  <a:cubicBezTo>
                    <a:pt x="372" y="582"/>
                    <a:pt x="372" y="582"/>
                    <a:pt x="372" y="582"/>
                  </a:cubicBezTo>
                  <a:cubicBezTo>
                    <a:pt x="388" y="582"/>
                    <a:pt x="402" y="569"/>
                    <a:pt x="402" y="552"/>
                  </a:cubicBezTo>
                  <a:cubicBezTo>
                    <a:pt x="402" y="60"/>
                    <a:pt x="402" y="60"/>
                    <a:pt x="402" y="60"/>
                  </a:cubicBezTo>
                  <a:cubicBezTo>
                    <a:pt x="0" y="60"/>
                    <a:pt x="0" y="60"/>
                    <a:pt x="0" y="60"/>
                  </a:cubicBezTo>
                  <a:cubicBezTo>
                    <a:pt x="0" y="0"/>
                    <a:pt x="0" y="0"/>
                    <a:pt x="0" y="0"/>
                  </a:cubicBezTo>
                </a:path>
              </a:pathLst>
            </a:custGeom>
            <a:solidFill>
              <a:srgbClr val="C2F4F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50" name="ïṣlïḑè"/>
            <p:cNvSpPr/>
            <p:nvPr/>
          </p:nvSpPr>
          <p:spPr bwMode="auto">
            <a:xfrm>
              <a:off x="6670676" y="2232025"/>
              <a:ext cx="536575" cy="854075"/>
            </a:xfrm>
            <a:custGeom>
              <a:avLst/>
              <a:gdLst>
                <a:gd name="T0" fmla="*/ 338 w 338"/>
                <a:gd name="T1" fmla="*/ 451 h 538"/>
                <a:gd name="T2" fmla="*/ 284 w 338"/>
                <a:gd name="T3" fmla="*/ 451 h 538"/>
                <a:gd name="T4" fmla="*/ 284 w 338"/>
                <a:gd name="T5" fmla="*/ 528 h 538"/>
                <a:gd name="T6" fmla="*/ 284 w 338"/>
                <a:gd name="T7" fmla="*/ 538 h 538"/>
                <a:gd name="T8" fmla="*/ 338 w 338"/>
                <a:gd name="T9" fmla="*/ 538 h 538"/>
                <a:gd name="T10" fmla="*/ 338 w 338"/>
                <a:gd name="T11" fmla="*/ 451 h 538"/>
                <a:gd name="T12" fmla="*/ 338 w 338"/>
                <a:gd name="T13" fmla="*/ 108 h 538"/>
                <a:gd name="T14" fmla="*/ 284 w 338"/>
                <a:gd name="T15" fmla="*/ 108 h 538"/>
                <a:gd name="T16" fmla="*/ 284 w 338"/>
                <a:gd name="T17" fmla="*/ 250 h 538"/>
                <a:gd name="T18" fmla="*/ 315 w 338"/>
                <a:gd name="T19" fmla="*/ 250 h 538"/>
                <a:gd name="T20" fmla="*/ 315 w 338"/>
                <a:gd name="T21" fmla="*/ 318 h 538"/>
                <a:gd name="T22" fmla="*/ 284 w 338"/>
                <a:gd name="T23" fmla="*/ 318 h 538"/>
                <a:gd name="T24" fmla="*/ 284 w 338"/>
                <a:gd name="T25" fmla="*/ 358 h 538"/>
                <a:gd name="T26" fmla="*/ 338 w 338"/>
                <a:gd name="T27" fmla="*/ 358 h 538"/>
                <a:gd name="T28" fmla="*/ 338 w 338"/>
                <a:gd name="T29" fmla="*/ 108 h 538"/>
                <a:gd name="T30" fmla="*/ 28 w 338"/>
                <a:gd name="T31" fmla="*/ 0 h 538"/>
                <a:gd name="T32" fmla="*/ 0 w 338"/>
                <a:gd name="T33" fmla="*/ 0 h 538"/>
                <a:gd name="T34" fmla="*/ 0 w 338"/>
                <a:gd name="T35" fmla="*/ 57 h 538"/>
                <a:gd name="T36" fmla="*/ 28 w 338"/>
                <a:gd name="T37" fmla="*/ 57 h 538"/>
                <a:gd name="T38" fmla="*/ 28 w 338"/>
                <a:gd name="T39" fmla="*/ 0 h 538"/>
                <a:gd name="T40" fmla="*/ 102 w 338"/>
                <a:gd name="T41" fmla="*/ 0 h 538"/>
                <a:gd name="T42" fmla="*/ 64 w 338"/>
                <a:gd name="T43" fmla="*/ 0 h 538"/>
                <a:gd name="T44" fmla="*/ 64 w 338"/>
                <a:gd name="T45" fmla="*/ 57 h 538"/>
                <a:gd name="T46" fmla="*/ 102 w 338"/>
                <a:gd name="T47" fmla="*/ 57 h 538"/>
                <a:gd name="T48" fmla="*/ 102 w 338"/>
                <a:gd name="T49" fmla="*/ 0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38" h="538">
                  <a:moveTo>
                    <a:pt x="338" y="451"/>
                  </a:moveTo>
                  <a:lnTo>
                    <a:pt x="284" y="451"/>
                  </a:lnTo>
                  <a:lnTo>
                    <a:pt x="284" y="528"/>
                  </a:lnTo>
                  <a:lnTo>
                    <a:pt x="284" y="538"/>
                  </a:lnTo>
                  <a:lnTo>
                    <a:pt x="338" y="538"/>
                  </a:lnTo>
                  <a:lnTo>
                    <a:pt x="338" y="451"/>
                  </a:lnTo>
                  <a:close/>
                  <a:moveTo>
                    <a:pt x="338" y="108"/>
                  </a:moveTo>
                  <a:lnTo>
                    <a:pt x="284" y="108"/>
                  </a:lnTo>
                  <a:lnTo>
                    <a:pt x="284" y="250"/>
                  </a:lnTo>
                  <a:lnTo>
                    <a:pt x="315" y="250"/>
                  </a:lnTo>
                  <a:lnTo>
                    <a:pt x="315" y="318"/>
                  </a:lnTo>
                  <a:lnTo>
                    <a:pt x="284" y="318"/>
                  </a:lnTo>
                  <a:lnTo>
                    <a:pt x="284" y="358"/>
                  </a:lnTo>
                  <a:lnTo>
                    <a:pt x="338" y="358"/>
                  </a:lnTo>
                  <a:lnTo>
                    <a:pt x="338" y="108"/>
                  </a:lnTo>
                  <a:close/>
                  <a:moveTo>
                    <a:pt x="28" y="0"/>
                  </a:moveTo>
                  <a:lnTo>
                    <a:pt x="0" y="0"/>
                  </a:lnTo>
                  <a:lnTo>
                    <a:pt x="0" y="57"/>
                  </a:lnTo>
                  <a:lnTo>
                    <a:pt x="28" y="57"/>
                  </a:lnTo>
                  <a:lnTo>
                    <a:pt x="28" y="0"/>
                  </a:lnTo>
                  <a:close/>
                  <a:moveTo>
                    <a:pt x="102" y="0"/>
                  </a:moveTo>
                  <a:lnTo>
                    <a:pt x="64" y="0"/>
                  </a:lnTo>
                  <a:lnTo>
                    <a:pt x="64" y="57"/>
                  </a:lnTo>
                  <a:lnTo>
                    <a:pt x="102" y="57"/>
                  </a:lnTo>
                  <a:lnTo>
                    <a:pt x="102" y="0"/>
                  </a:lnTo>
                  <a:close/>
                </a:path>
              </a:pathLst>
            </a:custGeom>
            <a:solidFill>
              <a:srgbClr val="2790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51" name="i$lïḑe"/>
            <p:cNvSpPr/>
            <p:nvPr/>
          </p:nvSpPr>
          <p:spPr bwMode="auto">
            <a:xfrm>
              <a:off x="6670676" y="2232025"/>
              <a:ext cx="536575" cy="854075"/>
            </a:xfrm>
            <a:custGeom>
              <a:avLst/>
              <a:gdLst>
                <a:gd name="T0" fmla="*/ 338 w 338"/>
                <a:gd name="T1" fmla="*/ 451 h 538"/>
                <a:gd name="T2" fmla="*/ 284 w 338"/>
                <a:gd name="T3" fmla="*/ 451 h 538"/>
                <a:gd name="T4" fmla="*/ 284 w 338"/>
                <a:gd name="T5" fmla="*/ 528 h 538"/>
                <a:gd name="T6" fmla="*/ 284 w 338"/>
                <a:gd name="T7" fmla="*/ 538 h 538"/>
                <a:gd name="T8" fmla="*/ 338 w 338"/>
                <a:gd name="T9" fmla="*/ 538 h 538"/>
                <a:gd name="T10" fmla="*/ 338 w 338"/>
                <a:gd name="T11" fmla="*/ 451 h 538"/>
                <a:gd name="T12" fmla="*/ 338 w 338"/>
                <a:gd name="T13" fmla="*/ 108 h 538"/>
                <a:gd name="T14" fmla="*/ 284 w 338"/>
                <a:gd name="T15" fmla="*/ 108 h 538"/>
                <a:gd name="T16" fmla="*/ 284 w 338"/>
                <a:gd name="T17" fmla="*/ 250 h 538"/>
                <a:gd name="T18" fmla="*/ 315 w 338"/>
                <a:gd name="T19" fmla="*/ 250 h 538"/>
                <a:gd name="T20" fmla="*/ 315 w 338"/>
                <a:gd name="T21" fmla="*/ 318 h 538"/>
                <a:gd name="T22" fmla="*/ 284 w 338"/>
                <a:gd name="T23" fmla="*/ 318 h 538"/>
                <a:gd name="T24" fmla="*/ 284 w 338"/>
                <a:gd name="T25" fmla="*/ 358 h 538"/>
                <a:gd name="T26" fmla="*/ 338 w 338"/>
                <a:gd name="T27" fmla="*/ 358 h 538"/>
                <a:gd name="T28" fmla="*/ 338 w 338"/>
                <a:gd name="T29" fmla="*/ 108 h 538"/>
                <a:gd name="T30" fmla="*/ 28 w 338"/>
                <a:gd name="T31" fmla="*/ 0 h 538"/>
                <a:gd name="T32" fmla="*/ 0 w 338"/>
                <a:gd name="T33" fmla="*/ 0 h 538"/>
                <a:gd name="T34" fmla="*/ 0 w 338"/>
                <a:gd name="T35" fmla="*/ 57 h 538"/>
                <a:gd name="T36" fmla="*/ 28 w 338"/>
                <a:gd name="T37" fmla="*/ 57 h 538"/>
                <a:gd name="T38" fmla="*/ 28 w 338"/>
                <a:gd name="T39" fmla="*/ 0 h 538"/>
                <a:gd name="T40" fmla="*/ 102 w 338"/>
                <a:gd name="T41" fmla="*/ 0 h 538"/>
                <a:gd name="T42" fmla="*/ 64 w 338"/>
                <a:gd name="T43" fmla="*/ 0 h 538"/>
                <a:gd name="T44" fmla="*/ 64 w 338"/>
                <a:gd name="T45" fmla="*/ 57 h 538"/>
                <a:gd name="T46" fmla="*/ 102 w 338"/>
                <a:gd name="T47" fmla="*/ 57 h 538"/>
                <a:gd name="T48" fmla="*/ 102 w 338"/>
                <a:gd name="T49" fmla="*/ 0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38" h="538">
                  <a:moveTo>
                    <a:pt x="338" y="451"/>
                  </a:moveTo>
                  <a:lnTo>
                    <a:pt x="284" y="451"/>
                  </a:lnTo>
                  <a:lnTo>
                    <a:pt x="284" y="528"/>
                  </a:lnTo>
                  <a:lnTo>
                    <a:pt x="284" y="538"/>
                  </a:lnTo>
                  <a:lnTo>
                    <a:pt x="338" y="538"/>
                  </a:lnTo>
                  <a:lnTo>
                    <a:pt x="338" y="451"/>
                  </a:lnTo>
                  <a:moveTo>
                    <a:pt x="338" y="108"/>
                  </a:moveTo>
                  <a:lnTo>
                    <a:pt x="284" y="108"/>
                  </a:lnTo>
                  <a:lnTo>
                    <a:pt x="284" y="250"/>
                  </a:lnTo>
                  <a:lnTo>
                    <a:pt x="315" y="250"/>
                  </a:lnTo>
                  <a:lnTo>
                    <a:pt x="315" y="318"/>
                  </a:lnTo>
                  <a:lnTo>
                    <a:pt x="284" y="318"/>
                  </a:lnTo>
                  <a:lnTo>
                    <a:pt x="284" y="358"/>
                  </a:lnTo>
                  <a:lnTo>
                    <a:pt x="338" y="358"/>
                  </a:lnTo>
                  <a:lnTo>
                    <a:pt x="338" y="108"/>
                  </a:lnTo>
                  <a:moveTo>
                    <a:pt x="28" y="0"/>
                  </a:moveTo>
                  <a:lnTo>
                    <a:pt x="0" y="0"/>
                  </a:lnTo>
                  <a:lnTo>
                    <a:pt x="0" y="57"/>
                  </a:lnTo>
                  <a:lnTo>
                    <a:pt x="28" y="57"/>
                  </a:lnTo>
                  <a:lnTo>
                    <a:pt x="28" y="0"/>
                  </a:lnTo>
                  <a:moveTo>
                    <a:pt x="102" y="0"/>
                  </a:moveTo>
                  <a:lnTo>
                    <a:pt x="64" y="0"/>
                  </a:lnTo>
                  <a:lnTo>
                    <a:pt x="64" y="57"/>
                  </a:lnTo>
                  <a:lnTo>
                    <a:pt x="102" y="57"/>
                  </a:lnTo>
                  <a:lnTo>
                    <a:pt x="1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52" name="îs1iḑè"/>
            <p:cNvSpPr/>
            <p:nvPr/>
          </p:nvSpPr>
          <p:spPr bwMode="auto">
            <a:xfrm>
              <a:off x="6670676" y="2228850"/>
              <a:ext cx="161925" cy="3175"/>
            </a:xfrm>
            <a:custGeom>
              <a:avLst/>
              <a:gdLst>
                <a:gd name="T0" fmla="*/ 28 w 102"/>
                <a:gd name="T1" fmla="*/ 0 h 2"/>
                <a:gd name="T2" fmla="*/ 0 w 102"/>
                <a:gd name="T3" fmla="*/ 0 h 2"/>
                <a:gd name="T4" fmla="*/ 0 w 102"/>
                <a:gd name="T5" fmla="*/ 2 h 2"/>
                <a:gd name="T6" fmla="*/ 28 w 102"/>
                <a:gd name="T7" fmla="*/ 2 h 2"/>
                <a:gd name="T8" fmla="*/ 28 w 102"/>
                <a:gd name="T9" fmla="*/ 0 h 2"/>
                <a:gd name="T10" fmla="*/ 102 w 102"/>
                <a:gd name="T11" fmla="*/ 0 h 2"/>
                <a:gd name="T12" fmla="*/ 64 w 102"/>
                <a:gd name="T13" fmla="*/ 0 h 2"/>
                <a:gd name="T14" fmla="*/ 64 w 102"/>
                <a:gd name="T15" fmla="*/ 2 h 2"/>
                <a:gd name="T16" fmla="*/ 102 w 102"/>
                <a:gd name="T17" fmla="*/ 2 h 2"/>
                <a:gd name="T18" fmla="*/ 102 w 102"/>
                <a:gd name="T1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2">
                  <a:moveTo>
                    <a:pt x="28" y="0"/>
                  </a:moveTo>
                  <a:lnTo>
                    <a:pt x="0" y="0"/>
                  </a:lnTo>
                  <a:lnTo>
                    <a:pt x="0" y="2"/>
                  </a:lnTo>
                  <a:lnTo>
                    <a:pt x="28" y="2"/>
                  </a:lnTo>
                  <a:lnTo>
                    <a:pt x="28" y="0"/>
                  </a:lnTo>
                  <a:close/>
                  <a:moveTo>
                    <a:pt x="102" y="0"/>
                  </a:moveTo>
                  <a:lnTo>
                    <a:pt x="64" y="0"/>
                  </a:lnTo>
                  <a:lnTo>
                    <a:pt x="64" y="2"/>
                  </a:lnTo>
                  <a:lnTo>
                    <a:pt x="102" y="2"/>
                  </a:lnTo>
                  <a:lnTo>
                    <a:pt x="102" y="0"/>
                  </a:lnTo>
                  <a:close/>
                </a:path>
              </a:pathLst>
            </a:custGeom>
            <a:solidFill>
              <a:srgbClr val="41B1E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53" name="iṧḷídè"/>
            <p:cNvSpPr/>
            <p:nvPr/>
          </p:nvSpPr>
          <p:spPr bwMode="auto">
            <a:xfrm>
              <a:off x="6670676" y="2228850"/>
              <a:ext cx="161925" cy="3175"/>
            </a:xfrm>
            <a:custGeom>
              <a:avLst/>
              <a:gdLst>
                <a:gd name="T0" fmla="*/ 28 w 102"/>
                <a:gd name="T1" fmla="*/ 0 h 2"/>
                <a:gd name="T2" fmla="*/ 0 w 102"/>
                <a:gd name="T3" fmla="*/ 0 h 2"/>
                <a:gd name="T4" fmla="*/ 0 w 102"/>
                <a:gd name="T5" fmla="*/ 2 h 2"/>
                <a:gd name="T6" fmla="*/ 28 w 102"/>
                <a:gd name="T7" fmla="*/ 2 h 2"/>
                <a:gd name="T8" fmla="*/ 28 w 102"/>
                <a:gd name="T9" fmla="*/ 0 h 2"/>
                <a:gd name="T10" fmla="*/ 102 w 102"/>
                <a:gd name="T11" fmla="*/ 0 h 2"/>
                <a:gd name="T12" fmla="*/ 64 w 102"/>
                <a:gd name="T13" fmla="*/ 0 h 2"/>
                <a:gd name="T14" fmla="*/ 64 w 102"/>
                <a:gd name="T15" fmla="*/ 2 h 2"/>
                <a:gd name="T16" fmla="*/ 102 w 102"/>
                <a:gd name="T17" fmla="*/ 2 h 2"/>
                <a:gd name="T18" fmla="*/ 102 w 102"/>
                <a:gd name="T1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2">
                  <a:moveTo>
                    <a:pt x="28" y="0"/>
                  </a:moveTo>
                  <a:lnTo>
                    <a:pt x="0" y="0"/>
                  </a:lnTo>
                  <a:lnTo>
                    <a:pt x="0" y="2"/>
                  </a:lnTo>
                  <a:lnTo>
                    <a:pt x="28" y="2"/>
                  </a:lnTo>
                  <a:lnTo>
                    <a:pt x="28" y="0"/>
                  </a:lnTo>
                  <a:moveTo>
                    <a:pt x="102" y="0"/>
                  </a:moveTo>
                  <a:lnTo>
                    <a:pt x="64" y="0"/>
                  </a:lnTo>
                  <a:lnTo>
                    <a:pt x="64" y="2"/>
                  </a:lnTo>
                  <a:lnTo>
                    <a:pt x="102" y="2"/>
                  </a:lnTo>
                  <a:lnTo>
                    <a:pt x="1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54" name="iś1idé"/>
            <p:cNvSpPr/>
            <p:nvPr/>
          </p:nvSpPr>
          <p:spPr bwMode="auto">
            <a:xfrm>
              <a:off x="6670676" y="2403475"/>
              <a:ext cx="450850" cy="682625"/>
            </a:xfrm>
            <a:custGeom>
              <a:avLst/>
              <a:gdLst>
                <a:gd name="T0" fmla="*/ 150 w 150"/>
                <a:gd name="T1" fmla="*/ 222 h 227"/>
                <a:gd name="T2" fmla="*/ 144 w 150"/>
                <a:gd name="T3" fmla="*/ 227 h 227"/>
                <a:gd name="T4" fmla="*/ 150 w 150"/>
                <a:gd name="T5" fmla="*/ 227 h 227"/>
                <a:gd name="T6" fmla="*/ 150 w 150"/>
                <a:gd name="T7" fmla="*/ 222 h 227"/>
                <a:gd name="T8" fmla="*/ 103 w 150"/>
                <a:gd name="T9" fmla="*/ 198 h 227"/>
                <a:gd name="T10" fmla="*/ 33 w 150"/>
                <a:gd name="T11" fmla="*/ 198 h 227"/>
                <a:gd name="T12" fmla="*/ 24 w 150"/>
                <a:gd name="T13" fmla="*/ 204 h 227"/>
                <a:gd name="T14" fmla="*/ 16 w 150"/>
                <a:gd name="T15" fmla="*/ 198 h 227"/>
                <a:gd name="T16" fmla="*/ 0 w 150"/>
                <a:gd name="T17" fmla="*/ 198 h 227"/>
                <a:gd name="T18" fmla="*/ 15 w 150"/>
                <a:gd name="T19" fmla="*/ 223 h 227"/>
                <a:gd name="T20" fmla="*/ 78 w 150"/>
                <a:gd name="T21" fmla="*/ 223 h 227"/>
                <a:gd name="T22" fmla="*/ 103 w 150"/>
                <a:gd name="T23" fmla="*/ 198 h 227"/>
                <a:gd name="T24" fmla="*/ 15 w 150"/>
                <a:gd name="T25" fmla="*/ 165 h 227"/>
                <a:gd name="T26" fmla="*/ 0 w 150"/>
                <a:gd name="T27" fmla="*/ 165 h 227"/>
                <a:gd name="T28" fmla="*/ 0 w 150"/>
                <a:gd name="T29" fmla="*/ 190 h 227"/>
                <a:gd name="T30" fmla="*/ 15 w 150"/>
                <a:gd name="T31" fmla="*/ 190 h 227"/>
                <a:gd name="T32" fmla="*/ 15 w 150"/>
                <a:gd name="T33" fmla="*/ 165 h 227"/>
                <a:gd name="T34" fmla="*/ 54 w 150"/>
                <a:gd name="T35" fmla="*/ 165 h 227"/>
                <a:gd name="T36" fmla="*/ 34 w 150"/>
                <a:gd name="T37" fmla="*/ 165 h 227"/>
                <a:gd name="T38" fmla="*/ 34 w 150"/>
                <a:gd name="T39" fmla="*/ 190 h 227"/>
                <a:gd name="T40" fmla="*/ 105 w 150"/>
                <a:gd name="T41" fmla="*/ 190 h 227"/>
                <a:gd name="T42" fmla="*/ 109 w 150"/>
                <a:gd name="T43" fmla="*/ 192 h 227"/>
                <a:gd name="T44" fmla="*/ 120 w 150"/>
                <a:gd name="T45" fmla="*/ 181 h 227"/>
                <a:gd name="T46" fmla="*/ 54 w 150"/>
                <a:gd name="T47" fmla="*/ 181 h 227"/>
                <a:gd name="T48" fmla="*/ 54 w 150"/>
                <a:gd name="T49" fmla="*/ 165 h 227"/>
                <a:gd name="T50" fmla="*/ 15 w 150"/>
                <a:gd name="T51" fmla="*/ 132 h 227"/>
                <a:gd name="T52" fmla="*/ 14 w 150"/>
                <a:gd name="T53" fmla="*/ 132 h 227"/>
                <a:gd name="T54" fmla="*/ 0 w 150"/>
                <a:gd name="T55" fmla="*/ 146 h 227"/>
                <a:gd name="T56" fmla="*/ 0 w 150"/>
                <a:gd name="T57" fmla="*/ 157 h 227"/>
                <a:gd name="T58" fmla="*/ 15 w 150"/>
                <a:gd name="T59" fmla="*/ 157 h 227"/>
                <a:gd name="T60" fmla="*/ 15 w 150"/>
                <a:gd name="T61" fmla="*/ 132 h 227"/>
                <a:gd name="T62" fmla="*/ 54 w 150"/>
                <a:gd name="T63" fmla="*/ 132 h 227"/>
                <a:gd name="T64" fmla="*/ 34 w 150"/>
                <a:gd name="T65" fmla="*/ 132 h 227"/>
                <a:gd name="T66" fmla="*/ 34 w 150"/>
                <a:gd name="T67" fmla="*/ 157 h 227"/>
                <a:gd name="T68" fmla="*/ 54 w 150"/>
                <a:gd name="T69" fmla="*/ 157 h 227"/>
                <a:gd name="T70" fmla="*/ 54 w 150"/>
                <a:gd name="T71" fmla="*/ 132 h 227"/>
                <a:gd name="T72" fmla="*/ 54 w 150"/>
                <a:gd name="T73" fmla="*/ 97 h 227"/>
                <a:gd name="T74" fmla="*/ 49 w 150"/>
                <a:gd name="T75" fmla="*/ 97 h 227"/>
                <a:gd name="T76" fmla="*/ 34 w 150"/>
                <a:gd name="T77" fmla="*/ 112 h 227"/>
                <a:gd name="T78" fmla="*/ 34 w 150"/>
                <a:gd name="T79" fmla="*/ 124 h 227"/>
                <a:gd name="T80" fmla="*/ 105 w 150"/>
                <a:gd name="T81" fmla="*/ 124 h 227"/>
                <a:gd name="T82" fmla="*/ 109 w 150"/>
                <a:gd name="T83" fmla="*/ 128 h 227"/>
                <a:gd name="T84" fmla="*/ 107 w 150"/>
                <a:gd name="T85" fmla="*/ 132 h 227"/>
                <a:gd name="T86" fmla="*/ 150 w 150"/>
                <a:gd name="T87" fmla="*/ 132 h 227"/>
                <a:gd name="T88" fmla="*/ 150 w 150"/>
                <a:gd name="T89" fmla="*/ 111 h 227"/>
                <a:gd name="T90" fmla="*/ 54 w 150"/>
                <a:gd name="T91" fmla="*/ 111 h 227"/>
                <a:gd name="T92" fmla="*/ 54 w 150"/>
                <a:gd name="T93" fmla="*/ 97 h 227"/>
                <a:gd name="T94" fmla="*/ 150 w 150"/>
                <a:gd name="T95" fmla="*/ 0 h 227"/>
                <a:gd name="T96" fmla="*/ 147 w 150"/>
                <a:gd name="T97" fmla="*/ 0 h 227"/>
                <a:gd name="T98" fmla="*/ 71 w 150"/>
                <a:gd name="T99" fmla="*/ 75 h 227"/>
                <a:gd name="T100" fmla="*/ 150 w 150"/>
                <a:gd name="T101" fmla="*/ 75 h 227"/>
                <a:gd name="T102" fmla="*/ 150 w 150"/>
                <a:gd name="T103"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50" h="227">
                  <a:moveTo>
                    <a:pt x="150" y="222"/>
                  </a:moveTo>
                  <a:cubicBezTo>
                    <a:pt x="144" y="227"/>
                    <a:pt x="144" y="227"/>
                    <a:pt x="144" y="227"/>
                  </a:cubicBezTo>
                  <a:cubicBezTo>
                    <a:pt x="150" y="227"/>
                    <a:pt x="150" y="227"/>
                    <a:pt x="150" y="227"/>
                  </a:cubicBezTo>
                  <a:cubicBezTo>
                    <a:pt x="150" y="222"/>
                    <a:pt x="150" y="222"/>
                    <a:pt x="150" y="222"/>
                  </a:cubicBezTo>
                  <a:moveTo>
                    <a:pt x="103" y="198"/>
                  </a:moveTo>
                  <a:cubicBezTo>
                    <a:pt x="33" y="198"/>
                    <a:pt x="33" y="198"/>
                    <a:pt x="33" y="198"/>
                  </a:cubicBezTo>
                  <a:cubicBezTo>
                    <a:pt x="32" y="202"/>
                    <a:pt x="28" y="204"/>
                    <a:pt x="24" y="204"/>
                  </a:cubicBezTo>
                  <a:cubicBezTo>
                    <a:pt x="20" y="204"/>
                    <a:pt x="17" y="202"/>
                    <a:pt x="16" y="198"/>
                  </a:cubicBezTo>
                  <a:cubicBezTo>
                    <a:pt x="0" y="198"/>
                    <a:pt x="0" y="198"/>
                    <a:pt x="0" y="198"/>
                  </a:cubicBezTo>
                  <a:cubicBezTo>
                    <a:pt x="1" y="209"/>
                    <a:pt x="6" y="218"/>
                    <a:pt x="15" y="223"/>
                  </a:cubicBezTo>
                  <a:cubicBezTo>
                    <a:pt x="78" y="223"/>
                    <a:pt x="78" y="223"/>
                    <a:pt x="78" y="223"/>
                  </a:cubicBezTo>
                  <a:cubicBezTo>
                    <a:pt x="103" y="198"/>
                    <a:pt x="103" y="198"/>
                    <a:pt x="103" y="198"/>
                  </a:cubicBezTo>
                  <a:moveTo>
                    <a:pt x="15" y="165"/>
                  </a:moveTo>
                  <a:cubicBezTo>
                    <a:pt x="0" y="165"/>
                    <a:pt x="0" y="165"/>
                    <a:pt x="0" y="165"/>
                  </a:cubicBezTo>
                  <a:cubicBezTo>
                    <a:pt x="0" y="190"/>
                    <a:pt x="0" y="190"/>
                    <a:pt x="0" y="190"/>
                  </a:cubicBezTo>
                  <a:cubicBezTo>
                    <a:pt x="15" y="190"/>
                    <a:pt x="15" y="190"/>
                    <a:pt x="15" y="190"/>
                  </a:cubicBezTo>
                  <a:cubicBezTo>
                    <a:pt x="15" y="165"/>
                    <a:pt x="15" y="165"/>
                    <a:pt x="15" y="165"/>
                  </a:cubicBezTo>
                  <a:moveTo>
                    <a:pt x="54" y="165"/>
                  </a:moveTo>
                  <a:cubicBezTo>
                    <a:pt x="34" y="165"/>
                    <a:pt x="34" y="165"/>
                    <a:pt x="34" y="165"/>
                  </a:cubicBezTo>
                  <a:cubicBezTo>
                    <a:pt x="34" y="190"/>
                    <a:pt x="34" y="190"/>
                    <a:pt x="34" y="190"/>
                  </a:cubicBezTo>
                  <a:cubicBezTo>
                    <a:pt x="105" y="190"/>
                    <a:pt x="105" y="190"/>
                    <a:pt x="105" y="190"/>
                  </a:cubicBezTo>
                  <a:cubicBezTo>
                    <a:pt x="107" y="190"/>
                    <a:pt x="108" y="191"/>
                    <a:pt x="109" y="192"/>
                  </a:cubicBezTo>
                  <a:cubicBezTo>
                    <a:pt x="120" y="181"/>
                    <a:pt x="120" y="181"/>
                    <a:pt x="120" y="181"/>
                  </a:cubicBezTo>
                  <a:cubicBezTo>
                    <a:pt x="54" y="181"/>
                    <a:pt x="54" y="181"/>
                    <a:pt x="54" y="181"/>
                  </a:cubicBezTo>
                  <a:cubicBezTo>
                    <a:pt x="54" y="165"/>
                    <a:pt x="54" y="165"/>
                    <a:pt x="54" y="165"/>
                  </a:cubicBezTo>
                  <a:moveTo>
                    <a:pt x="15" y="132"/>
                  </a:moveTo>
                  <a:cubicBezTo>
                    <a:pt x="14" y="132"/>
                    <a:pt x="14" y="132"/>
                    <a:pt x="14" y="132"/>
                  </a:cubicBezTo>
                  <a:cubicBezTo>
                    <a:pt x="0" y="146"/>
                    <a:pt x="0" y="146"/>
                    <a:pt x="0" y="146"/>
                  </a:cubicBezTo>
                  <a:cubicBezTo>
                    <a:pt x="0" y="157"/>
                    <a:pt x="0" y="157"/>
                    <a:pt x="0" y="157"/>
                  </a:cubicBezTo>
                  <a:cubicBezTo>
                    <a:pt x="15" y="157"/>
                    <a:pt x="15" y="157"/>
                    <a:pt x="15" y="157"/>
                  </a:cubicBezTo>
                  <a:cubicBezTo>
                    <a:pt x="15" y="132"/>
                    <a:pt x="15" y="132"/>
                    <a:pt x="15" y="132"/>
                  </a:cubicBezTo>
                  <a:moveTo>
                    <a:pt x="54" y="132"/>
                  </a:moveTo>
                  <a:cubicBezTo>
                    <a:pt x="34" y="132"/>
                    <a:pt x="34" y="132"/>
                    <a:pt x="34" y="132"/>
                  </a:cubicBezTo>
                  <a:cubicBezTo>
                    <a:pt x="34" y="157"/>
                    <a:pt x="34" y="157"/>
                    <a:pt x="34" y="157"/>
                  </a:cubicBezTo>
                  <a:cubicBezTo>
                    <a:pt x="54" y="157"/>
                    <a:pt x="54" y="157"/>
                    <a:pt x="54" y="157"/>
                  </a:cubicBezTo>
                  <a:cubicBezTo>
                    <a:pt x="54" y="132"/>
                    <a:pt x="54" y="132"/>
                    <a:pt x="54" y="132"/>
                  </a:cubicBezTo>
                  <a:moveTo>
                    <a:pt x="54" y="97"/>
                  </a:moveTo>
                  <a:cubicBezTo>
                    <a:pt x="49" y="97"/>
                    <a:pt x="49" y="97"/>
                    <a:pt x="49" y="97"/>
                  </a:cubicBezTo>
                  <a:cubicBezTo>
                    <a:pt x="34" y="112"/>
                    <a:pt x="34" y="112"/>
                    <a:pt x="34" y="112"/>
                  </a:cubicBezTo>
                  <a:cubicBezTo>
                    <a:pt x="34" y="124"/>
                    <a:pt x="34" y="124"/>
                    <a:pt x="34" y="124"/>
                  </a:cubicBezTo>
                  <a:cubicBezTo>
                    <a:pt x="105" y="124"/>
                    <a:pt x="105" y="124"/>
                    <a:pt x="105" y="124"/>
                  </a:cubicBezTo>
                  <a:cubicBezTo>
                    <a:pt x="107" y="124"/>
                    <a:pt x="109" y="126"/>
                    <a:pt x="109" y="128"/>
                  </a:cubicBezTo>
                  <a:cubicBezTo>
                    <a:pt x="109" y="130"/>
                    <a:pt x="108" y="131"/>
                    <a:pt x="107" y="132"/>
                  </a:cubicBezTo>
                  <a:cubicBezTo>
                    <a:pt x="150" y="132"/>
                    <a:pt x="150" y="132"/>
                    <a:pt x="150" y="132"/>
                  </a:cubicBezTo>
                  <a:cubicBezTo>
                    <a:pt x="150" y="111"/>
                    <a:pt x="150" y="111"/>
                    <a:pt x="150" y="111"/>
                  </a:cubicBezTo>
                  <a:cubicBezTo>
                    <a:pt x="54" y="111"/>
                    <a:pt x="54" y="111"/>
                    <a:pt x="54" y="111"/>
                  </a:cubicBezTo>
                  <a:cubicBezTo>
                    <a:pt x="54" y="97"/>
                    <a:pt x="54" y="97"/>
                    <a:pt x="54" y="97"/>
                  </a:cubicBezTo>
                  <a:moveTo>
                    <a:pt x="150" y="0"/>
                  </a:moveTo>
                  <a:cubicBezTo>
                    <a:pt x="147" y="0"/>
                    <a:pt x="147" y="0"/>
                    <a:pt x="147" y="0"/>
                  </a:cubicBezTo>
                  <a:cubicBezTo>
                    <a:pt x="71" y="75"/>
                    <a:pt x="71" y="75"/>
                    <a:pt x="71" y="75"/>
                  </a:cubicBezTo>
                  <a:cubicBezTo>
                    <a:pt x="150" y="75"/>
                    <a:pt x="150" y="75"/>
                    <a:pt x="150" y="75"/>
                  </a:cubicBezTo>
                  <a:cubicBezTo>
                    <a:pt x="150" y="0"/>
                    <a:pt x="150" y="0"/>
                    <a:pt x="150" y="0"/>
                  </a:cubicBezTo>
                </a:path>
              </a:pathLst>
            </a:custGeom>
            <a:solidFill>
              <a:srgbClr val="1E485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55" name="iS1íḍé"/>
            <p:cNvSpPr/>
            <p:nvPr/>
          </p:nvSpPr>
          <p:spPr bwMode="auto">
            <a:xfrm>
              <a:off x="6818313" y="2679700"/>
              <a:ext cx="14288" cy="15875"/>
            </a:xfrm>
            <a:custGeom>
              <a:avLst/>
              <a:gdLst>
                <a:gd name="T0" fmla="*/ 9 w 9"/>
                <a:gd name="T1" fmla="*/ 0 h 10"/>
                <a:gd name="T2" fmla="*/ 0 w 9"/>
                <a:gd name="T3" fmla="*/ 10 h 10"/>
                <a:gd name="T4" fmla="*/ 9 w 9"/>
                <a:gd name="T5" fmla="*/ 10 h 10"/>
                <a:gd name="T6" fmla="*/ 9 w 9"/>
                <a:gd name="T7" fmla="*/ 0 h 10"/>
              </a:gdLst>
              <a:ahLst/>
              <a:cxnLst>
                <a:cxn ang="0">
                  <a:pos x="T0" y="T1"/>
                </a:cxn>
                <a:cxn ang="0">
                  <a:pos x="T2" y="T3"/>
                </a:cxn>
                <a:cxn ang="0">
                  <a:pos x="T4" y="T5"/>
                </a:cxn>
                <a:cxn ang="0">
                  <a:pos x="T6" y="T7"/>
                </a:cxn>
              </a:cxnLst>
              <a:rect l="0" t="0" r="r" b="b"/>
              <a:pathLst>
                <a:path w="9" h="10">
                  <a:moveTo>
                    <a:pt x="9" y="0"/>
                  </a:moveTo>
                  <a:lnTo>
                    <a:pt x="0" y="10"/>
                  </a:lnTo>
                  <a:lnTo>
                    <a:pt x="9" y="10"/>
                  </a:lnTo>
                  <a:lnTo>
                    <a:pt x="9" y="0"/>
                  </a:lnTo>
                  <a:close/>
                </a:path>
              </a:pathLst>
            </a:custGeom>
            <a:solidFill>
              <a:srgbClr val="C27E5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56" name="ïṩlïḓê"/>
            <p:cNvSpPr/>
            <p:nvPr/>
          </p:nvSpPr>
          <p:spPr bwMode="auto">
            <a:xfrm>
              <a:off x="6818313" y="2679700"/>
              <a:ext cx="14288" cy="15875"/>
            </a:xfrm>
            <a:custGeom>
              <a:avLst/>
              <a:gdLst>
                <a:gd name="T0" fmla="*/ 9 w 9"/>
                <a:gd name="T1" fmla="*/ 0 h 10"/>
                <a:gd name="T2" fmla="*/ 0 w 9"/>
                <a:gd name="T3" fmla="*/ 10 h 10"/>
                <a:gd name="T4" fmla="*/ 9 w 9"/>
                <a:gd name="T5" fmla="*/ 10 h 10"/>
                <a:gd name="T6" fmla="*/ 9 w 9"/>
                <a:gd name="T7" fmla="*/ 0 h 10"/>
              </a:gdLst>
              <a:ahLst/>
              <a:cxnLst>
                <a:cxn ang="0">
                  <a:pos x="T0" y="T1"/>
                </a:cxn>
                <a:cxn ang="0">
                  <a:pos x="T2" y="T3"/>
                </a:cxn>
                <a:cxn ang="0">
                  <a:pos x="T4" y="T5"/>
                </a:cxn>
                <a:cxn ang="0">
                  <a:pos x="T6" y="T7"/>
                </a:cxn>
              </a:cxnLst>
              <a:rect l="0" t="0" r="r" b="b"/>
              <a:pathLst>
                <a:path w="9" h="10">
                  <a:moveTo>
                    <a:pt x="9" y="0"/>
                  </a:moveTo>
                  <a:lnTo>
                    <a:pt x="0" y="10"/>
                  </a:lnTo>
                  <a:lnTo>
                    <a:pt x="9" y="10"/>
                  </a:lnTo>
                  <a:lnTo>
                    <a:pt x="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57" name="iṡḻíḓé"/>
            <p:cNvSpPr/>
            <p:nvPr/>
          </p:nvSpPr>
          <p:spPr bwMode="auto">
            <a:xfrm>
              <a:off x="6711951" y="2776538"/>
              <a:ext cx="287338" cy="23813"/>
            </a:xfrm>
            <a:custGeom>
              <a:avLst/>
              <a:gdLst>
                <a:gd name="T0" fmla="*/ 1 w 95"/>
                <a:gd name="T1" fmla="*/ 8 h 8"/>
                <a:gd name="T2" fmla="*/ 0 w 95"/>
                <a:gd name="T3" fmla="*/ 8 h 8"/>
                <a:gd name="T4" fmla="*/ 1 w 95"/>
                <a:gd name="T5" fmla="*/ 8 h 8"/>
                <a:gd name="T6" fmla="*/ 1 w 95"/>
                <a:gd name="T7" fmla="*/ 8 h 8"/>
                <a:gd name="T8" fmla="*/ 91 w 95"/>
                <a:gd name="T9" fmla="*/ 0 h 8"/>
                <a:gd name="T10" fmla="*/ 20 w 95"/>
                <a:gd name="T11" fmla="*/ 0 h 8"/>
                <a:gd name="T12" fmla="*/ 20 w 95"/>
                <a:gd name="T13" fmla="*/ 8 h 8"/>
                <a:gd name="T14" fmla="*/ 40 w 95"/>
                <a:gd name="T15" fmla="*/ 8 h 8"/>
                <a:gd name="T16" fmla="*/ 40 w 95"/>
                <a:gd name="T17" fmla="*/ 8 h 8"/>
                <a:gd name="T18" fmla="*/ 93 w 95"/>
                <a:gd name="T19" fmla="*/ 8 h 8"/>
                <a:gd name="T20" fmla="*/ 95 w 95"/>
                <a:gd name="T21" fmla="*/ 4 h 8"/>
                <a:gd name="T22" fmla="*/ 91 w 95"/>
                <a:gd name="T23"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5" h="8">
                  <a:moveTo>
                    <a:pt x="1" y="8"/>
                  </a:moveTo>
                  <a:cubicBezTo>
                    <a:pt x="0" y="8"/>
                    <a:pt x="0" y="8"/>
                    <a:pt x="0" y="8"/>
                  </a:cubicBezTo>
                  <a:cubicBezTo>
                    <a:pt x="1" y="8"/>
                    <a:pt x="1" y="8"/>
                    <a:pt x="1" y="8"/>
                  </a:cubicBezTo>
                  <a:cubicBezTo>
                    <a:pt x="1" y="8"/>
                    <a:pt x="1" y="8"/>
                    <a:pt x="1" y="8"/>
                  </a:cubicBezTo>
                  <a:moveTo>
                    <a:pt x="91" y="0"/>
                  </a:moveTo>
                  <a:cubicBezTo>
                    <a:pt x="20" y="0"/>
                    <a:pt x="20" y="0"/>
                    <a:pt x="20" y="0"/>
                  </a:cubicBezTo>
                  <a:cubicBezTo>
                    <a:pt x="20" y="8"/>
                    <a:pt x="20" y="8"/>
                    <a:pt x="20" y="8"/>
                  </a:cubicBezTo>
                  <a:cubicBezTo>
                    <a:pt x="40" y="8"/>
                    <a:pt x="40" y="8"/>
                    <a:pt x="40" y="8"/>
                  </a:cubicBezTo>
                  <a:cubicBezTo>
                    <a:pt x="40" y="8"/>
                    <a:pt x="40" y="8"/>
                    <a:pt x="40" y="8"/>
                  </a:cubicBezTo>
                  <a:cubicBezTo>
                    <a:pt x="93" y="8"/>
                    <a:pt x="93" y="8"/>
                    <a:pt x="93" y="8"/>
                  </a:cubicBezTo>
                  <a:cubicBezTo>
                    <a:pt x="94" y="7"/>
                    <a:pt x="95" y="6"/>
                    <a:pt x="95" y="4"/>
                  </a:cubicBezTo>
                  <a:cubicBezTo>
                    <a:pt x="95" y="2"/>
                    <a:pt x="93" y="0"/>
                    <a:pt x="91" y="0"/>
                  </a:cubicBezTo>
                </a:path>
              </a:pathLst>
            </a:custGeom>
            <a:solidFill>
              <a:srgbClr val="C25FA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58" name="ïṩlîḑè"/>
            <p:cNvSpPr/>
            <p:nvPr/>
          </p:nvSpPr>
          <p:spPr bwMode="auto">
            <a:xfrm>
              <a:off x="6670676" y="2874963"/>
              <a:ext cx="161925" cy="23813"/>
            </a:xfrm>
            <a:custGeom>
              <a:avLst/>
              <a:gdLst>
                <a:gd name="T0" fmla="*/ 28 w 102"/>
                <a:gd name="T1" fmla="*/ 0 h 15"/>
                <a:gd name="T2" fmla="*/ 0 w 102"/>
                <a:gd name="T3" fmla="*/ 0 h 15"/>
                <a:gd name="T4" fmla="*/ 0 w 102"/>
                <a:gd name="T5" fmla="*/ 15 h 15"/>
                <a:gd name="T6" fmla="*/ 28 w 102"/>
                <a:gd name="T7" fmla="*/ 15 h 15"/>
                <a:gd name="T8" fmla="*/ 28 w 102"/>
                <a:gd name="T9" fmla="*/ 0 h 15"/>
                <a:gd name="T10" fmla="*/ 102 w 102"/>
                <a:gd name="T11" fmla="*/ 0 h 15"/>
                <a:gd name="T12" fmla="*/ 64 w 102"/>
                <a:gd name="T13" fmla="*/ 0 h 15"/>
                <a:gd name="T14" fmla="*/ 64 w 102"/>
                <a:gd name="T15" fmla="*/ 15 h 15"/>
                <a:gd name="T16" fmla="*/ 102 w 102"/>
                <a:gd name="T17" fmla="*/ 15 h 15"/>
                <a:gd name="T18" fmla="*/ 102 w 102"/>
                <a:gd name="T19"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5">
                  <a:moveTo>
                    <a:pt x="28" y="0"/>
                  </a:moveTo>
                  <a:lnTo>
                    <a:pt x="0" y="0"/>
                  </a:lnTo>
                  <a:lnTo>
                    <a:pt x="0" y="15"/>
                  </a:lnTo>
                  <a:lnTo>
                    <a:pt x="28" y="15"/>
                  </a:lnTo>
                  <a:lnTo>
                    <a:pt x="28" y="0"/>
                  </a:lnTo>
                  <a:close/>
                  <a:moveTo>
                    <a:pt x="102" y="0"/>
                  </a:moveTo>
                  <a:lnTo>
                    <a:pt x="64" y="0"/>
                  </a:lnTo>
                  <a:lnTo>
                    <a:pt x="64" y="15"/>
                  </a:lnTo>
                  <a:lnTo>
                    <a:pt x="102" y="15"/>
                  </a:lnTo>
                  <a:lnTo>
                    <a:pt x="102" y="0"/>
                  </a:lnTo>
                  <a:close/>
                </a:path>
              </a:pathLst>
            </a:custGeom>
            <a:solidFill>
              <a:srgbClr val="C25FA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59" name="îṡļïḓè"/>
            <p:cNvSpPr/>
            <p:nvPr/>
          </p:nvSpPr>
          <p:spPr bwMode="auto">
            <a:xfrm>
              <a:off x="6670676" y="2874963"/>
              <a:ext cx="161925" cy="23813"/>
            </a:xfrm>
            <a:custGeom>
              <a:avLst/>
              <a:gdLst>
                <a:gd name="T0" fmla="*/ 28 w 102"/>
                <a:gd name="T1" fmla="*/ 0 h 15"/>
                <a:gd name="T2" fmla="*/ 0 w 102"/>
                <a:gd name="T3" fmla="*/ 0 h 15"/>
                <a:gd name="T4" fmla="*/ 0 w 102"/>
                <a:gd name="T5" fmla="*/ 15 h 15"/>
                <a:gd name="T6" fmla="*/ 28 w 102"/>
                <a:gd name="T7" fmla="*/ 15 h 15"/>
                <a:gd name="T8" fmla="*/ 28 w 102"/>
                <a:gd name="T9" fmla="*/ 0 h 15"/>
                <a:gd name="T10" fmla="*/ 102 w 102"/>
                <a:gd name="T11" fmla="*/ 0 h 15"/>
                <a:gd name="T12" fmla="*/ 64 w 102"/>
                <a:gd name="T13" fmla="*/ 0 h 15"/>
                <a:gd name="T14" fmla="*/ 64 w 102"/>
                <a:gd name="T15" fmla="*/ 15 h 15"/>
                <a:gd name="T16" fmla="*/ 102 w 102"/>
                <a:gd name="T17" fmla="*/ 15 h 15"/>
                <a:gd name="T18" fmla="*/ 102 w 102"/>
                <a:gd name="T19"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5">
                  <a:moveTo>
                    <a:pt x="28" y="0"/>
                  </a:moveTo>
                  <a:lnTo>
                    <a:pt x="0" y="0"/>
                  </a:lnTo>
                  <a:lnTo>
                    <a:pt x="0" y="15"/>
                  </a:lnTo>
                  <a:lnTo>
                    <a:pt x="28" y="15"/>
                  </a:lnTo>
                  <a:lnTo>
                    <a:pt x="28" y="0"/>
                  </a:lnTo>
                  <a:moveTo>
                    <a:pt x="102" y="0"/>
                  </a:moveTo>
                  <a:lnTo>
                    <a:pt x="64" y="0"/>
                  </a:lnTo>
                  <a:lnTo>
                    <a:pt x="64" y="15"/>
                  </a:lnTo>
                  <a:lnTo>
                    <a:pt x="102" y="15"/>
                  </a:lnTo>
                  <a:lnTo>
                    <a:pt x="1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60" name="íslîḑé"/>
            <p:cNvSpPr/>
            <p:nvPr/>
          </p:nvSpPr>
          <p:spPr bwMode="auto">
            <a:xfrm>
              <a:off x="6670676" y="2974975"/>
              <a:ext cx="328613" cy="23813"/>
            </a:xfrm>
            <a:custGeom>
              <a:avLst/>
              <a:gdLst>
                <a:gd name="T0" fmla="*/ 15 w 109"/>
                <a:gd name="T1" fmla="*/ 0 h 8"/>
                <a:gd name="T2" fmla="*/ 0 w 109"/>
                <a:gd name="T3" fmla="*/ 0 h 8"/>
                <a:gd name="T4" fmla="*/ 0 w 109"/>
                <a:gd name="T5" fmla="*/ 7 h 8"/>
                <a:gd name="T6" fmla="*/ 0 w 109"/>
                <a:gd name="T7" fmla="*/ 8 h 8"/>
                <a:gd name="T8" fmla="*/ 16 w 109"/>
                <a:gd name="T9" fmla="*/ 8 h 8"/>
                <a:gd name="T10" fmla="*/ 15 w 109"/>
                <a:gd name="T11" fmla="*/ 4 h 8"/>
                <a:gd name="T12" fmla="*/ 15 w 109"/>
                <a:gd name="T13" fmla="*/ 0 h 8"/>
                <a:gd name="T14" fmla="*/ 105 w 109"/>
                <a:gd name="T15" fmla="*/ 0 h 8"/>
                <a:gd name="T16" fmla="*/ 34 w 109"/>
                <a:gd name="T17" fmla="*/ 0 h 8"/>
                <a:gd name="T18" fmla="*/ 34 w 109"/>
                <a:gd name="T19" fmla="*/ 4 h 8"/>
                <a:gd name="T20" fmla="*/ 33 w 109"/>
                <a:gd name="T21" fmla="*/ 8 h 8"/>
                <a:gd name="T22" fmla="*/ 103 w 109"/>
                <a:gd name="T23" fmla="*/ 8 h 8"/>
                <a:gd name="T24" fmla="*/ 109 w 109"/>
                <a:gd name="T25" fmla="*/ 2 h 8"/>
                <a:gd name="T26" fmla="*/ 105 w 109"/>
                <a:gd name="T2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9" h="8">
                  <a:moveTo>
                    <a:pt x="15" y="0"/>
                  </a:moveTo>
                  <a:cubicBezTo>
                    <a:pt x="0" y="0"/>
                    <a:pt x="0" y="0"/>
                    <a:pt x="0" y="0"/>
                  </a:cubicBezTo>
                  <a:cubicBezTo>
                    <a:pt x="0" y="7"/>
                    <a:pt x="0" y="7"/>
                    <a:pt x="0" y="7"/>
                  </a:cubicBezTo>
                  <a:cubicBezTo>
                    <a:pt x="0" y="8"/>
                    <a:pt x="0" y="8"/>
                    <a:pt x="0" y="8"/>
                  </a:cubicBezTo>
                  <a:cubicBezTo>
                    <a:pt x="16" y="8"/>
                    <a:pt x="16" y="8"/>
                    <a:pt x="16" y="8"/>
                  </a:cubicBezTo>
                  <a:cubicBezTo>
                    <a:pt x="15" y="7"/>
                    <a:pt x="15" y="6"/>
                    <a:pt x="15" y="4"/>
                  </a:cubicBezTo>
                  <a:cubicBezTo>
                    <a:pt x="15" y="0"/>
                    <a:pt x="15" y="0"/>
                    <a:pt x="15" y="0"/>
                  </a:cubicBezTo>
                  <a:moveTo>
                    <a:pt x="105" y="0"/>
                  </a:moveTo>
                  <a:cubicBezTo>
                    <a:pt x="34" y="0"/>
                    <a:pt x="34" y="0"/>
                    <a:pt x="34" y="0"/>
                  </a:cubicBezTo>
                  <a:cubicBezTo>
                    <a:pt x="34" y="4"/>
                    <a:pt x="34" y="4"/>
                    <a:pt x="34" y="4"/>
                  </a:cubicBezTo>
                  <a:cubicBezTo>
                    <a:pt x="34" y="6"/>
                    <a:pt x="34" y="7"/>
                    <a:pt x="33" y="8"/>
                  </a:cubicBezTo>
                  <a:cubicBezTo>
                    <a:pt x="103" y="8"/>
                    <a:pt x="103" y="8"/>
                    <a:pt x="103" y="8"/>
                  </a:cubicBezTo>
                  <a:cubicBezTo>
                    <a:pt x="109" y="2"/>
                    <a:pt x="109" y="2"/>
                    <a:pt x="109" y="2"/>
                  </a:cubicBezTo>
                  <a:cubicBezTo>
                    <a:pt x="108" y="1"/>
                    <a:pt x="107" y="0"/>
                    <a:pt x="105" y="0"/>
                  </a:cubicBezTo>
                </a:path>
              </a:pathLst>
            </a:custGeom>
            <a:solidFill>
              <a:srgbClr val="C25FA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61" name="iśļíde"/>
            <p:cNvSpPr/>
            <p:nvPr/>
          </p:nvSpPr>
          <p:spPr bwMode="auto">
            <a:xfrm>
              <a:off x="6715126" y="3073400"/>
              <a:ext cx="190500" cy="12700"/>
            </a:xfrm>
            <a:custGeom>
              <a:avLst/>
              <a:gdLst>
                <a:gd name="T0" fmla="*/ 63 w 63"/>
                <a:gd name="T1" fmla="*/ 0 h 4"/>
                <a:gd name="T2" fmla="*/ 0 w 63"/>
                <a:gd name="T3" fmla="*/ 0 h 4"/>
                <a:gd name="T4" fmla="*/ 15 w 63"/>
                <a:gd name="T5" fmla="*/ 4 h 4"/>
                <a:gd name="T6" fmla="*/ 59 w 63"/>
                <a:gd name="T7" fmla="*/ 4 h 4"/>
                <a:gd name="T8" fmla="*/ 63 w 63"/>
                <a:gd name="T9" fmla="*/ 0 h 4"/>
              </a:gdLst>
              <a:ahLst/>
              <a:cxnLst>
                <a:cxn ang="0">
                  <a:pos x="T0" y="T1"/>
                </a:cxn>
                <a:cxn ang="0">
                  <a:pos x="T2" y="T3"/>
                </a:cxn>
                <a:cxn ang="0">
                  <a:pos x="T4" y="T5"/>
                </a:cxn>
                <a:cxn ang="0">
                  <a:pos x="T6" y="T7"/>
                </a:cxn>
                <a:cxn ang="0">
                  <a:pos x="T8" y="T9"/>
                </a:cxn>
              </a:cxnLst>
              <a:rect l="0" t="0" r="r" b="b"/>
              <a:pathLst>
                <a:path w="63" h="4">
                  <a:moveTo>
                    <a:pt x="63" y="0"/>
                  </a:moveTo>
                  <a:cubicBezTo>
                    <a:pt x="0" y="0"/>
                    <a:pt x="0" y="0"/>
                    <a:pt x="0" y="0"/>
                  </a:cubicBezTo>
                  <a:cubicBezTo>
                    <a:pt x="4" y="3"/>
                    <a:pt x="10" y="4"/>
                    <a:pt x="15" y="4"/>
                  </a:cubicBezTo>
                  <a:cubicBezTo>
                    <a:pt x="59" y="4"/>
                    <a:pt x="59" y="4"/>
                    <a:pt x="59" y="4"/>
                  </a:cubicBezTo>
                  <a:cubicBezTo>
                    <a:pt x="63" y="0"/>
                    <a:pt x="63" y="0"/>
                    <a:pt x="63" y="0"/>
                  </a:cubicBezTo>
                </a:path>
              </a:pathLst>
            </a:custGeom>
            <a:solidFill>
              <a:srgbClr val="C25FA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62" name="í$ḻïḋé"/>
            <p:cNvSpPr/>
            <p:nvPr/>
          </p:nvSpPr>
          <p:spPr bwMode="auto">
            <a:xfrm>
              <a:off x="6905626" y="2947988"/>
              <a:ext cx="215900" cy="138113"/>
            </a:xfrm>
            <a:custGeom>
              <a:avLst/>
              <a:gdLst>
                <a:gd name="T0" fmla="*/ 72 w 72"/>
                <a:gd name="T1" fmla="*/ 0 h 46"/>
                <a:gd name="T2" fmla="*/ 42 w 72"/>
                <a:gd name="T3" fmla="*/ 0 h 46"/>
                <a:gd name="T4" fmla="*/ 31 w 72"/>
                <a:gd name="T5" fmla="*/ 11 h 46"/>
                <a:gd name="T6" fmla="*/ 31 w 72"/>
                <a:gd name="T7" fmla="*/ 13 h 46"/>
                <a:gd name="T8" fmla="*/ 27 w 72"/>
                <a:gd name="T9" fmla="*/ 17 h 46"/>
                <a:gd name="T10" fmla="*/ 25 w 72"/>
                <a:gd name="T11" fmla="*/ 17 h 46"/>
                <a:gd name="T12" fmla="*/ 0 w 72"/>
                <a:gd name="T13" fmla="*/ 42 h 46"/>
                <a:gd name="T14" fmla="*/ 27 w 72"/>
                <a:gd name="T15" fmla="*/ 42 h 46"/>
                <a:gd name="T16" fmla="*/ 31 w 72"/>
                <a:gd name="T17" fmla="*/ 46 h 46"/>
                <a:gd name="T18" fmla="*/ 31 w 72"/>
                <a:gd name="T19" fmla="*/ 46 h 46"/>
                <a:gd name="T20" fmla="*/ 66 w 72"/>
                <a:gd name="T21" fmla="*/ 46 h 46"/>
                <a:gd name="T22" fmla="*/ 72 w 72"/>
                <a:gd name="T23" fmla="*/ 41 h 46"/>
                <a:gd name="T24" fmla="*/ 72 w 72"/>
                <a:gd name="T25"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46">
                  <a:moveTo>
                    <a:pt x="72" y="0"/>
                  </a:moveTo>
                  <a:cubicBezTo>
                    <a:pt x="42" y="0"/>
                    <a:pt x="42" y="0"/>
                    <a:pt x="42" y="0"/>
                  </a:cubicBezTo>
                  <a:cubicBezTo>
                    <a:pt x="31" y="11"/>
                    <a:pt x="31" y="11"/>
                    <a:pt x="31" y="11"/>
                  </a:cubicBezTo>
                  <a:cubicBezTo>
                    <a:pt x="31" y="12"/>
                    <a:pt x="31" y="13"/>
                    <a:pt x="31" y="13"/>
                  </a:cubicBezTo>
                  <a:cubicBezTo>
                    <a:pt x="31" y="15"/>
                    <a:pt x="29" y="17"/>
                    <a:pt x="27" y="17"/>
                  </a:cubicBezTo>
                  <a:cubicBezTo>
                    <a:pt x="25" y="17"/>
                    <a:pt x="25" y="17"/>
                    <a:pt x="25" y="17"/>
                  </a:cubicBezTo>
                  <a:cubicBezTo>
                    <a:pt x="0" y="42"/>
                    <a:pt x="0" y="42"/>
                    <a:pt x="0" y="42"/>
                  </a:cubicBezTo>
                  <a:cubicBezTo>
                    <a:pt x="27" y="42"/>
                    <a:pt x="27" y="42"/>
                    <a:pt x="27" y="42"/>
                  </a:cubicBezTo>
                  <a:cubicBezTo>
                    <a:pt x="29" y="42"/>
                    <a:pt x="31" y="44"/>
                    <a:pt x="31" y="46"/>
                  </a:cubicBezTo>
                  <a:cubicBezTo>
                    <a:pt x="31" y="46"/>
                    <a:pt x="31" y="46"/>
                    <a:pt x="31" y="46"/>
                  </a:cubicBezTo>
                  <a:cubicBezTo>
                    <a:pt x="66" y="46"/>
                    <a:pt x="66" y="46"/>
                    <a:pt x="66" y="46"/>
                  </a:cubicBezTo>
                  <a:cubicBezTo>
                    <a:pt x="72" y="41"/>
                    <a:pt x="72" y="41"/>
                    <a:pt x="72" y="41"/>
                  </a:cubicBezTo>
                  <a:cubicBezTo>
                    <a:pt x="72" y="0"/>
                    <a:pt x="72" y="0"/>
                    <a:pt x="72" y="0"/>
                  </a:cubicBezTo>
                </a:path>
              </a:pathLst>
            </a:custGeom>
            <a:solidFill>
              <a:srgbClr val="2459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63" name="íṧļíḋé"/>
            <p:cNvSpPr/>
            <p:nvPr/>
          </p:nvSpPr>
          <p:spPr bwMode="auto">
            <a:xfrm>
              <a:off x="6980238" y="2981325"/>
              <a:ext cx="19050" cy="17463"/>
            </a:xfrm>
            <a:custGeom>
              <a:avLst/>
              <a:gdLst>
                <a:gd name="T0" fmla="*/ 6 w 6"/>
                <a:gd name="T1" fmla="*/ 0 h 6"/>
                <a:gd name="T2" fmla="*/ 0 w 6"/>
                <a:gd name="T3" fmla="*/ 6 h 6"/>
                <a:gd name="T4" fmla="*/ 2 w 6"/>
                <a:gd name="T5" fmla="*/ 6 h 6"/>
                <a:gd name="T6" fmla="*/ 6 w 6"/>
                <a:gd name="T7" fmla="*/ 2 h 6"/>
                <a:gd name="T8" fmla="*/ 6 w 6"/>
                <a:gd name="T9" fmla="*/ 0 h 6"/>
              </a:gdLst>
              <a:ahLst/>
              <a:cxnLst>
                <a:cxn ang="0">
                  <a:pos x="T0" y="T1"/>
                </a:cxn>
                <a:cxn ang="0">
                  <a:pos x="T2" y="T3"/>
                </a:cxn>
                <a:cxn ang="0">
                  <a:pos x="T4" y="T5"/>
                </a:cxn>
                <a:cxn ang="0">
                  <a:pos x="T6" y="T7"/>
                </a:cxn>
                <a:cxn ang="0">
                  <a:pos x="T8" y="T9"/>
                </a:cxn>
              </a:cxnLst>
              <a:rect l="0" t="0" r="r" b="b"/>
              <a:pathLst>
                <a:path w="6" h="6">
                  <a:moveTo>
                    <a:pt x="6" y="0"/>
                  </a:moveTo>
                  <a:cubicBezTo>
                    <a:pt x="0" y="6"/>
                    <a:pt x="0" y="6"/>
                    <a:pt x="0" y="6"/>
                  </a:cubicBezTo>
                  <a:cubicBezTo>
                    <a:pt x="2" y="6"/>
                    <a:pt x="2" y="6"/>
                    <a:pt x="2" y="6"/>
                  </a:cubicBezTo>
                  <a:cubicBezTo>
                    <a:pt x="4" y="6"/>
                    <a:pt x="6" y="4"/>
                    <a:pt x="6" y="2"/>
                  </a:cubicBezTo>
                  <a:cubicBezTo>
                    <a:pt x="6" y="2"/>
                    <a:pt x="6" y="1"/>
                    <a:pt x="6" y="0"/>
                  </a:cubicBezTo>
                </a:path>
              </a:pathLst>
            </a:custGeom>
            <a:solidFill>
              <a:srgbClr val="AC6D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64" name="iṣľîḓe"/>
            <p:cNvSpPr/>
            <p:nvPr/>
          </p:nvSpPr>
          <p:spPr bwMode="auto">
            <a:xfrm>
              <a:off x="6892926" y="3073400"/>
              <a:ext cx="106363" cy="12700"/>
            </a:xfrm>
            <a:custGeom>
              <a:avLst/>
              <a:gdLst>
                <a:gd name="T0" fmla="*/ 31 w 35"/>
                <a:gd name="T1" fmla="*/ 0 h 4"/>
                <a:gd name="T2" fmla="*/ 4 w 35"/>
                <a:gd name="T3" fmla="*/ 0 h 4"/>
                <a:gd name="T4" fmla="*/ 0 w 35"/>
                <a:gd name="T5" fmla="*/ 4 h 4"/>
                <a:gd name="T6" fmla="*/ 35 w 35"/>
                <a:gd name="T7" fmla="*/ 4 h 4"/>
                <a:gd name="T8" fmla="*/ 35 w 35"/>
                <a:gd name="T9" fmla="*/ 4 h 4"/>
                <a:gd name="T10" fmla="*/ 31 w 35"/>
                <a:gd name="T11" fmla="*/ 0 h 4"/>
              </a:gdLst>
              <a:ahLst/>
              <a:cxnLst>
                <a:cxn ang="0">
                  <a:pos x="T0" y="T1"/>
                </a:cxn>
                <a:cxn ang="0">
                  <a:pos x="T2" y="T3"/>
                </a:cxn>
                <a:cxn ang="0">
                  <a:pos x="T4" y="T5"/>
                </a:cxn>
                <a:cxn ang="0">
                  <a:pos x="T6" y="T7"/>
                </a:cxn>
                <a:cxn ang="0">
                  <a:pos x="T8" y="T9"/>
                </a:cxn>
                <a:cxn ang="0">
                  <a:pos x="T10" y="T11"/>
                </a:cxn>
              </a:cxnLst>
              <a:rect l="0" t="0" r="r" b="b"/>
              <a:pathLst>
                <a:path w="35" h="4">
                  <a:moveTo>
                    <a:pt x="31" y="0"/>
                  </a:moveTo>
                  <a:cubicBezTo>
                    <a:pt x="4" y="0"/>
                    <a:pt x="4" y="0"/>
                    <a:pt x="4" y="0"/>
                  </a:cubicBezTo>
                  <a:cubicBezTo>
                    <a:pt x="0" y="4"/>
                    <a:pt x="0" y="4"/>
                    <a:pt x="0" y="4"/>
                  </a:cubicBezTo>
                  <a:cubicBezTo>
                    <a:pt x="35" y="4"/>
                    <a:pt x="35" y="4"/>
                    <a:pt x="35" y="4"/>
                  </a:cubicBezTo>
                  <a:cubicBezTo>
                    <a:pt x="35" y="4"/>
                    <a:pt x="35" y="4"/>
                    <a:pt x="35" y="4"/>
                  </a:cubicBezTo>
                  <a:cubicBezTo>
                    <a:pt x="35" y="2"/>
                    <a:pt x="33" y="0"/>
                    <a:pt x="31" y="0"/>
                  </a:cubicBezTo>
                </a:path>
              </a:pathLst>
            </a:custGeom>
            <a:solidFill>
              <a:srgbClr val="AC6D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65" name="iSḷïḑé"/>
            <p:cNvSpPr/>
            <p:nvPr/>
          </p:nvSpPr>
          <p:spPr bwMode="auto">
            <a:xfrm>
              <a:off x="6670676" y="2322513"/>
              <a:ext cx="442913" cy="347663"/>
            </a:xfrm>
            <a:custGeom>
              <a:avLst/>
              <a:gdLst>
                <a:gd name="T0" fmla="*/ 28 w 279"/>
                <a:gd name="T1" fmla="*/ 0 h 219"/>
                <a:gd name="T2" fmla="*/ 0 w 279"/>
                <a:gd name="T3" fmla="*/ 0 h 219"/>
                <a:gd name="T4" fmla="*/ 0 w 279"/>
                <a:gd name="T5" fmla="*/ 219 h 219"/>
                <a:gd name="T6" fmla="*/ 28 w 279"/>
                <a:gd name="T7" fmla="*/ 219 h 219"/>
                <a:gd name="T8" fmla="*/ 28 w 279"/>
                <a:gd name="T9" fmla="*/ 0 h 219"/>
                <a:gd name="T10" fmla="*/ 102 w 279"/>
                <a:gd name="T11" fmla="*/ 0 h 219"/>
                <a:gd name="T12" fmla="*/ 64 w 279"/>
                <a:gd name="T13" fmla="*/ 0 h 219"/>
                <a:gd name="T14" fmla="*/ 64 w 279"/>
                <a:gd name="T15" fmla="*/ 219 h 219"/>
                <a:gd name="T16" fmla="*/ 102 w 279"/>
                <a:gd name="T17" fmla="*/ 219 h 219"/>
                <a:gd name="T18" fmla="*/ 102 w 279"/>
                <a:gd name="T19" fmla="*/ 193 h 219"/>
                <a:gd name="T20" fmla="*/ 134 w 279"/>
                <a:gd name="T21" fmla="*/ 193 h 219"/>
                <a:gd name="T22" fmla="*/ 279 w 279"/>
                <a:gd name="T23" fmla="*/ 51 h 219"/>
                <a:gd name="T24" fmla="*/ 102 w 279"/>
                <a:gd name="T25" fmla="*/ 51 h 219"/>
                <a:gd name="T26" fmla="*/ 102 w 279"/>
                <a:gd name="T2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9" h="219">
                  <a:moveTo>
                    <a:pt x="28" y="0"/>
                  </a:moveTo>
                  <a:lnTo>
                    <a:pt x="0" y="0"/>
                  </a:lnTo>
                  <a:lnTo>
                    <a:pt x="0" y="219"/>
                  </a:lnTo>
                  <a:lnTo>
                    <a:pt x="28" y="219"/>
                  </a:lnTo>
                  <a:lnTo>
                    <a:pt x="28" y="0"/>
                  </a:lnTo>
                  <a:close/>
                  <a:moveTo>
                    <a:pt x="102" y="0"/>
                  </a:moveTo>
                  <a:lnTo>
                    <a:pt x="64" y="0"/>
                  </a:lnTo>
                  <a:lnTo>
                    <a:pt x="64" y="219"/>
                  </a:lnTo>
                  <a:lnTo>
                    <a:pt x="102" y="219"/>
                  </a:lnTo>
                  <a:lnTo>
                    <a:pt x="102" y="193"/>
                  </a:lnTo>
                  <a:lnTo>
                    <a:pt x="134" y="193"/>
                  </a:lnTo>
                  <a:lnTo>
                    <a:pt x="279" y="51"/>
                  </a:lnTo>
                  <a:lnTo>
                    <a:pt x="102" y="51"/>
                  </a:lnTo>
                  <a:lnTo>
                    <a:pt x="102" y="0"/>
                  </a:lnTo>
                  <a:close/>
                </a:path>
              </a:pathLst>
            </a:custGeom>
            <a:solidFill>
              <a:srgbClr val="2459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66" name="îśḷídè"/>
            <p:cNvSpPr/>
            <p:nvPr/>
          </p:nvSpPr>
          <p:spPr bwMode="auto">
            <a:xfrm>
              <a:off x="6670676" y="2322513"/>
              <a:ext cx="442913" cy="347663"/>
            </a:xfrm>
            <a:custGeom>
              <a:avLst/>
              <a:gdLst>
                <a:gd name="T0" fmla="*/ 28 w 279"/>
                <a:gd name="T1" fmla="*/ 0 h 219"/>
                <a:gd name="T2" fmla="*/ 0 w 279"/>
                <a:gd name="T3" fmla="*/ 0 h 219"/>
                <a:gd name="T4" fmla="*/ 0 w 279"/>
                <a:gd name="T5" fmla="*/ 219 h 219"/>
                <a:gd name="T6" fmla="*/ 28 w 279"/>
                <a:gd name="T7" fmla="*/ 219 h 219"/>
                <a:gd name="T8" fmla="*/ 28 w 279"/>
                <a:gd name="T9" fmla="*/ 0 h 219"/>
                <a:gd name="T10" fmla="*/ 102 w 279"/>
                <a:gd name="T11" fmla="*/ 0 h 219"/>
                <a:gd name="T12" fmla="*/ 64 w 279"/>
                <a:gd name="T13" fmla="*/ 0 h 219"/>
                <a:gd name="T14" fmla="*/ 64 w 279"/>
                <a:gd name="T15" fmla="*/ 219 h 219"/>
                <a:gd name="T16" fmla="*/ 102 w 279"/>
                <a:gd name="T17" fmla="*/ 219 h 219"/>
                <a:gd name="T18" fmla="*/ 102 w 279"/>
                <a:gd name="T19" fmla="*/ 193 h 219"/>
                <a:gd name="T20" fmla="*/ 134 w 279"/>
                <a:gd name="T21" fmla="*/ 193 h 219"/>
                <a:gd name="T22" fmla="*/ 279 w 279"/>
                <a:gd name="T23" fmla="*/ 51 h 219"/>
                <a:gd name="T24" fmla="*/ 102 w 279"/>
                <a:gd name="T25" fmla="*/ 51 h 219"/>
                <a:gd name="T26" fmla="*/ 102 w 279"/>
                <a:gd name="T2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9" h="219">
                  <a:moveTo>
                    <a:pt x="28" y="0"/>
                  </a:moveTo>
                  <a:lnTo>
                    <a:pt x="0" y="0"/>
                  </a:lnTo>
                  <a:lnTo>
                    <a:pt x="0" y="219"/>
                  </a:lnTo>
                  <a:lnTo>
                    <a:pt x="28" y="219"/>
                  </a:lnTo>
                  <a:lnTo>
                    <a:pt x="28" y="0"/>
                  </a:lnTo>
                  <a:moveTo>
                    <a:pt x="102" y="0"/>
                  </a:moveTo>
                  <a:lnTo>
                    <a:pt x="64" y="0"/>
                  </a:lnTo>
                  <a:lnTo>
                    <a:pt x="64" y="219"/>
                  </a:lnTo>
                  <a:lnTo>
                    <a:pt x="102" y="219"/>
                  </a:lnTo>
                  <a:lnTo>
                    <a:pt x="102" y="193"/>
                  </a:lnTo>
                  <a:lnTo>
                    <a:pt x="134" y="193"/>
                  </a:lnTo>
                  <a:lnTo>
                    <a:pt x="279" y="51"/>
                  </a:lnTo>
                  <a:lnTo>
                    <a:pt x="102" y="51"/>
                  </a:lnTo>
                  <a:lnTo>
                    <a:pt x="1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67" name="ïṡľiḋè"/>
            <p:cNvSpPr/>
            <p:nvPr/>
          </p:nvSpPr>
          <p:spPr bwMode="auto">
            <a:xfrm>
              <a:off x="6670676" y="2695575"/>
              <a:ext cx="147638" cy="146050"/>
            </a:xfrm>
            <a:custGeom>
              <a:avLst/>
              <a:gdLst>
                <a:gd name="T0" fmla="*/ 26 w 93"/>
                <a:gd name="T1" fmla="*/ 66 h 92"/>
                <a:gd name="T2" fmla="*/ 0 w 93"/>
                <a:gd name="T3" fmla="*/ 66 h 92"/>
                <a:gd name="T4" fmla="*/ 0 w 93"/>
                <a:gd name="T5" fmla="*/ 92 h 92"/>
                <a:gd name="T6" fmla="*/ 26 w 93"/>
                <a:gd name="T7" fmla="*/ 66 h 92"/>
                <a:gd name="T8" fmla="*/ 28 w 93"/>
                <a:gd name="T9" fmla="*/ 0 h 92"/>
                <a:gd name="T10" fmla="*/ 0 w 93"/>
                <a:gd name="T11" fmla="*/ 0 h 92"/>
                <a:gd name="T12" fmla="*/ 0 w 93"/>
                <a:gd name="T13" fmla="*/ 51 h 92"/>
                <a:gd name="T14" fmla="*/ 28 w 93"/>
                <a:gd name="T15" fmla="*/ 51 h 92"/>
                <a:gd name="T16" fmla="*/ 28 w 93"/>
                <a:gd name="T17" fmla="*/ 0 h 92"/>
                <a:gd name="T18" fmla="*/ 93 w 93"/>
                <a:gd name="T19" fmla="*/ 0 h 92"/>
                <a:gd name="T20" fmla="*/ 64 w 93"/>
                <a:gd name="T21" fmla="*/ 0 h 92"/>
                <a:gd name="T22" fmla="*/ 64 w 93"/>
                <a:gd name="T23" fmla="*/ 28 h 92"/>
                <a:gd name="T24" fmla="*/ 93 w 93"/>
                <a:gd name="T25"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92">
                  <a:moveTo>
                    <a:pt x="26" y="66"/>
                  </a:moveTo>
                  <a:lnTo>
                    <a:pt x="0" y="66"/>
                  </a:lnTo>
                  <a:lnTo>
                    <a:pt x="0" y="92"/>
                  </a:lnTo>
                  <a:lnTo>
                    <a:pt x="26" y="66"/>
                  </a:lnTo>
                  <a:close/>
                  <a:moveTo>
                    <a:pt x="28" y="0"/>
                  </a:moveTo>
                  <a:lnTo>
                    <a:pt x="0" y="0"/>
                  </a:lnTo>
                  <a:lnTo>
                    <a:pt x="0" y="51"/>
                  </a:lnTo>
                  <a:lnTo>
                    <a:pt x="28" y="51"/>
                  </a:lnTo>
                  <a:lnTo>
                    <a:pt x="28" y="0"/>
                  </a:lnTo>
                  <a:close/>
                  <a:moveTo>
                    <a:pt x="93" y="0"/>
                  </a:moveTo>
                  <a:lnTo>
                    <a:pt x="64" y="0"/>
                  </a:lnTo>
                  <a:lnTo>
                    <a:pt x="64" y="28"/>
                  </a:lnTo>
                  <a:lnTo>
                    <a:pt x="93" y="0"/>
                  </a:lnTo>
                  <a:close/>
                </a:path>
              </a:pathLst>
            </a:custGeom>
            <a:solidFill>
              <a:srgbClr val="2459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68" name="íṣ1ïḑe"/>
            <p:cNvSpPr/>
            <p:nvPr/>
          </p:nvSpPr>
          <p:spPr bwMode="auto">
            <a:xfrm>
              <a:off x="6670676" y="2695575"/>
              <a:ext cx="147638" cy="146050"/>
            </a:xfrm>
            <a:custGeom>
              <a:avLst/>
              <a:gdLst>
                <a:gd name="T0" fmla="*/ 26 w 93"/>
                <a:gd name="T1" fmla="*/ 66 h 92"/>
                <a:gd name="T2" fmla="*/ 0 w 93"/>
                <a:gd name="T3" fmla="*/ 66 h 92"/>
                <a:gd name="T4" fmla="*/ 0 w 93"/>
                <a:gd name="T5" fmla="*/ 92 h 92"/>
                <a:gd name="T6" fmla="*/ 26 w 93"/>
                <a:gd name="T7" fmla="*/ 66 h 92"/>
                <a:gd name="T8" fmla="*/ 28 w 93"/>
                <a:gd name="T9" fmla="*/ 0 h 92"/>
                <a:gd name="T10" fmla="*/ 0 w 93"/>
                <a:gd name="T11" fmla="*/ 0 h 92"/>
                <a:gd name="T12" fmla="*/ 0 w 93"/>
                <a:gd name="T13" fmla="*/ 51 h 92"/>
                <a:gd name="T14" fmla="*/ 28 w 93"/>
                <a:gd name="T15" fmla="*/ 51 h 92"/>
                <a:gd name="T16" fmla="*/ 28 w 93"/>
                <a:gd name="T17" fmla="*/ 0 h 92"/>
                <a:gd name="T18" fmla="*/ 93 w 93"/>
                <a:gd name="T19" fmla="*/ 0 h 92"/>
                <a:gd name="T20" fmla="*/ 64 w 93"/>
                <a:gd name="T21" fmla="*/ 0 h 92"/>
                <a:gd name="T22" fmla="*/ 64 w 93"/>
                <a:gd name="T23" fmla="*/ 28 h 92"/>
                <a:gd name="T24" fmla="*/ 93 w 93"/>
                <a:gd name="T25"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92">
                  <a:moveTo>
                    <a:pt x="26" y="66"/>
                  </a:moveTo>
                  <a:lnTo>
                    <a:pt x="0" y="66"/>
                  </a:lnTo>
                  <a:lnTo>
                    <a:pt x="0" y="92"/>
                  </a:lnTo>
                  <a:lnTo>
                    <a:pt x="26" y="66"/>
                  </a:lnTo>
                  <a:moveTo>
                    <a:pt x="28" y="0"/>
                  </a:moveTo>
                  <a:lnTo>
                    <a:pt x="0" y="0"/>
                  </a:lnTo>
                  <a:lnTo>
                    <a:pt x="0" y="51"/>
                  </a:lnTo>
                  <a:lnTo>
                    <a:pt x="28" y="51"/>
                  </a:lnTo>
                  <a:lnTo>
                    <a:pt x="28" y="0"/>
                  </a:lnTo>
                  <a:moveTo>
                    <a:pt x="93" y="0"/>
                  </a:moveTo>
                  <a:lnTo>
                    <a:pt x="64" y="0"/>
                  </a:lnTo>
                  <a:lnTo>
                    <a:pt x="64" y="28"/>
                  </a:lnTo>
                  <a:lnTo>
                    <a:pt x="9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69" name="îšḻîḍê"/>
            <p:cNvSpPr/>
            <p:nvPr/>
          </p:nvSpPr>
          <p:spPr bwMode="auto">
            <a:xfrm>
              <a:off x="6670676" y="2670175"/>
              <a:ext cx="161925" cy="25400"/>
            </a:xfrm>
            <a:custGeom>
              <a:avLst/>
              <a:gdLst>
                <a:gd name="T0" fmla="*/ 28 w 102"/>
                <a:gd name="T1" fmla="*/ 0 h 16"/>
                <a:gd name="T2" fmla="*/ 0 w 102"/>
                <a:gd name="T3" fmla="*/ 0 h 16"/>
                <a:gd name="T4" fmla="*/ 0 w 102"/>
                <a:gd name="T5" fmla="*/ 16 h 16"/>
                <a:gd name="T6" fmla="*/ 28 w 102"/>
                <a:gd name="T7" fmla="*/ 16 h 16"/>
                <a:gd name="T8" fmla="*/ 28 w 102"/>
                <a:gd name="T9" fmla="*/ 0 h 16"/>
                <a:gd name="T10" fmla="*/ 102 w 102"/>
                <a:gd name="T11" fmla="*/ 0 h 16"/>
                <a:gd name="T12" fmla="*/ 64 w 102"/>
                <a:gd name="T13" fmla="*/ 0 h 16"/>
                <a:gd name="T14" fmla="*/ 64 w 102"/>
                <a:gd name="T15" fmla="*/ 16 h 16"/>
                <a:gd name="T16" fmla="*/ 93 w 102"/>
                <a:gd name="T17" fmla="*/ 16 h 16"/>
                <a:gd name="T18" fmla="*/ 102 w 102"/>
                <a:gd name="T19" fmla="*/ 6 h 16"/>
                <a:gd name="T20" fmla="*/ 102 w 102"/>
                <a:gd name="T21"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2" h="16">
                  <a:moveTo>
                    <a:pt x="28" y="0"/>
                  </a:moveTo>
                  <a:lnTo>
                    <a:pt x="0" y="0"/>
                  </a:lnTo>
                  <a:lnTo>
                    <a:pt x="0" y="16"/>
                  </a:lnTo>
                  <a:lnTo>
                    <a:pt x="28" y="16"/>
                  </a:lnTo>
                  <a:lnTo>
                    <a:pt x="28" y="0"/>
                  </a:lnTo>
                  <a:close/>
                  <a:moveTo>
                    <a:pt x="102" y="0"/>
                  </a:moveTo>
                  <a:lnTo>
                    <a:pt x="64" y="0"/>
                  </a:lnTo>
                  <a:lnTo>
                    <a:pt x="64" y="16"/>
                  </a:lnTo>
                  <a:lnTo>
                    <a:pt x="93" y="16"/>
                  </a:lnTo>
                  <a:lnTo>
                    <a:pt x="102" y="6"/>
                  </a:lnTo>
                  <a:lnTo>
                    <a:pt x="102" y="0"/>
                  </a:lnTo>
                  <a:close/>
                </a:path>
              </a:pathLst>
            </a:custGeom>
            <a:solidFill>
              <a:srgbClr val="AC86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70" name="iṥļîḍe"/>
            <p:cNvSpPr/>
            <p:nvPr/>
          </p:nvSpPr>
          <p:spPr bwMode="auto">
            <a:xfrm>
              <a:off x="6670676" y="2670175"/>
              <a:ext cx="161925" cy="25400"/>
            </a:xfrm>
            <a:custGeom>
              <a:avLst/>
              <a:gdLst>
                <a:gd name="T0" fmla="*/ 28 w 102"/>
                <a:gd name="T1" fmla="*/ 0 h 16"/>
                <a:gd name="T2" fmla="*/ 0 w 102"/>
                <a:gd name="T3" fmla="*/ 0 h 16"/>
                <a:gd name="T4" fmla="*/ 0 w 102"/>
                <a:gd name="T5" fmla="*/ 16 h 16"/>
                <a:gd name="T6" fmla="*/ 28 w 102"/>
                <a:gd name="T7" fmla="*/ 16 h 16"/>
                <a:gd name="T8" fmla="*/ 28 w 102"/>
                <a:gd name="T9" fmla="*/ 0 h 16"/>
                <a:gd name="T10" fmla="*/ 102 w 102"/>
                <a:gd name="T11" fmla="*/ 0 h 16"/>
                <a:gd name="T12" fmla="*/ 64 w 102"/>
                <a:gd name="T13" fmla="*/ 0 h 16"/>
                <a:gd name="T14" fmla="*/ 64 w 102"/>
                <a:gd name="T15" fmla="*/ 16 h 16"/>
                <a:gd name="T16" fmla="*/ 93 w 102"/>
                <a:gd name="T17" fmla="*/ 16 h 16"/>
                <a:gd name="T18" fmla="*/ 102 w 102"/>
                <a:gd name="T19" fmla="*/ 6 h 16"/>
                <a:gd name="T20" fmla="*/ 102 w 102"/>
                <a:gd name="T21"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2" h="16">
                  <a:moveTo>
                    <a:pt x="28" y="0"/>
                  </a:moveTo>
                  <a:lnTo>
                    <a:pt x="0" y="0"/>
                  </a:lnTo>
                  <a:lnTo>
                    <a:pt x="0" y="16"/>
                  </a:lnTo>
                  <a:lnTo>
                    <a:pt x="28" y="16"/>
                  </a:lnTo>
                  <a:lnTo>
                    <a:pt x="28" y="0"/>
                  </a:lnTo>
                  <a:moveTo>
                    <a:pt x="102" y="0"/>
                  </a:moveTo>
                  <a:lnTo>
                    <a:pt x="64" y="0"/>
                  </a:lnTo>
                  <a:lnTo>
                    <a:pt x="64" y="16"/>
                  </a:lnTo>
                  <a:lnTo>
                    <a:pt x="93" y="16"/>
                  </a:lnTo>
                  <a:lnTo>
                    <a:pt x="102" y="6"/>
                  </a:lnTo>
                  <a:lnTo>
                    <a:pt x="1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71" name="íṡļíḋê"/>
            <p:cNvSpPr/>
            <p:nvPr/>
          </p:nvSpPr>
          <p:spPr bwMode="auto">
            <a:xfrm>
              <a:off x="6670676" y="2776538"/>
              <a:ext cx="44450" cy="23813"/>
            </a:xfrm>
            <a:custGeom>
              <a:avLst/>
              <a:gdLst>
                <a:gd name="T0" fmla="*/ 28 w 28"/>
                <a:gd name="T1" fmla="*/ 0 h 15"/>
                <a:gd name="T2" fmla="*/ 0 w 28"/>
                <a:gd name="T3" fmla="*/ 0 h 15"/>
                <a:gd name="T4" fmla="*/ 0 w 28"/>
                <a:gd name="T5" fmla="*/ 15 h 15"/>
                <a:gd name="T6" fmla="*/ 26 w 28"/>
                <a:gd name="T7" fmla="*/ 15 h 15"/>
                <a:gd name="T8" fmla="*/ 28 w 28"/>
                <a:gd name="T9" fmla="*/ 15 h 15"/>
                <a:gd name="T10" fmla="*/ 28 w 28"/>
                <a:gd name="T11" fmla="*/ 0 h 15"/>
              </a:gdLst>
              <a:ahLst/>
              <a:cxnLst>
                <a:cxn ang="0">
                  <a:pos x="T0" y="T1"/>
                </a:cxn>
                <a:cxn ang="0">
                  <a:pos x="T2" y="T3"/>
                </a:cxn>
                <a:cxn ang="0">
                  <a:pos x="T4" y="T5"/>
                </a:cxn>
                <a:cxn ang="0">
                  <a:pos x="T6" y="T7"/>
                </a:cxn>
                <a:cxn ang="0">
                  <a:pos x="T8" y="T9"/>
                </a:cxn>
                <a:cxn ang="0">
                  <a:pos x="T10" y="T11"/>
                </a:cxn>
              </a:cxnLst>
              <a:rect l="0" t="0" r="r" b="b"/>
              <a:pathLst>
                <a:path w="28" h="15">
                  <a:moveTo>
                    <a:pt x="28" y="0"/>
                  </a:moveTo>
                  <a:lnTo>
                    <a:pt x="0" y="0"/>
                  </a:lnTo>
                  <a:lnTo>
                    <a:pt x="0" y="15"/>
                  </a:lnTo>
                  <a:lnTo>
                    <a:pt x="26" y="15"/>
                  </a:lnTo>
                  <a:lnTo>
                    <a:pt x="28" y="15"/>
                  </a:lnTo>
                  <a:lnTo>
                    <a:pt x="28" y="0"/>
                  </a:lnTo>
                  <a:close/>
                </a:path>
              </a:pathLst>
            </a:custGeom>
            <a:solidFill>
              <a:srgbClr val="AC6D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72" name="ïSļíḑê"/>
            <p:cNvSpPr/>
            <p:nvPr/>
          </p:nvSpPr>
          <p:spPr bwMode="auto">
            <a:xfrm>
              <a:off x="6670676" y="2776538"/>
              <a:ext cx="44450" cy="23813"/>
            </a:xfrm>
            <a:custGeom>
              <a:avLst/>
              <a:gdLst>
                <a:gd name="T0" fmla="*/ 28 w 28"/>
                <a:gd name="T1" fmla="*/ 0 h 15"/>
                <a:gd name="T2" fmla="*/ 0 w 28"/>
                <a:gd name="T3" fmla="*/ 0 h 15"/>
                <a:gd name="T4" fmla="*/ 0 w 28"/>
                <a:gd name="T5" fmla="*/ 15 h 15"/>
                <a:gd name="T6" fmla="*/ 26 w 28"/>
                <a:gd name="T7" fmla="*/ 15 h 15"/>
                <a:gd name="T8" fmla="*/ 28 w 28"/>
                <a:gd name="T9" fmla="*/ 15 h 15"/>
                <a:gd name="T10" fmla="*/ 28 w 28"/>
                <a:gd name="T11" fmla="*/ 0 h 15"/>
              </a:gdLst>
              <a:ahLst/>
              <a:cxnLst>
                <a:cxn ang="0">
                  <a:pos x="T0" y="T1"/>
                </a:cxn>
                <a:cxn ang="0">
                  <a:pos x="T2" y="T3"/>
                </a:cxn>
                <a:cxn ang="0">
                  <a:pos x="T4" y="T5"/>
                </a:cxn>
                <a:cxn ang="0">
                  <a:pos x="T6" y="T7"/>
                </a:cxn>
                <a:cxn ang="0">
                  <a:pos x="T8" y="T9"/>
                </a:cxn>
                <a:cxn ang="0">
                  <a:pos x="T10" y="T11"/>
                </a:cxn>
              </a:cxnLst>
              <a:rect l="0" t="0" r="r" b="b"/>
              <a:pathLst>
                <a:path w="28" h="15">
                  <a:moveTo>
                    <a:pt x="28" y="0"/>
                  </a:moveTo>
                  <a:lnTo>
                    <a:pt x="0" y="0"/>
                  </a:lnTo>
                  <a:lnTo>
                    <a:pt x="0" y="15"/>
                  </a:lnTo>
                  <a:lnTo>
                    <a:pt x="26" y="15"/>
                  </a:lnTo>
                  <a:lnTo>
                    <a:pt x="28" y="15"/>
                  </a:lnTo>
                  <a:lnTo>
                    <a:pt x="2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73" name="isliḍe"/>
            <p:cNvSpPr/>
            <p:nvPr/>
          </p:nvSpPr>
          <p:spPr bwMode="auto">
            <a:xfrm>
              <a:off x="6832601" y="1566863"/>
              <a:ext cx="958850" cy="836613"/>
            </a:xfrm>
            <a:custGeom>
              <a:avLst/>
              <a:gdLst>
                <a:gd name="T0" fmla="*/ 318 w 318"/>
                <a:gd name="T1" fmla="*/ 0 h 278"/>
                <a:gd name="T2" fmla="*/ 0 w 318"/>
                <a:gd name="T3" fmla="*/ 0 h 278"/>
                <a:gd name="T4" fmla="*/ 0 w 318"/>
                <a:gd name="T5" fmla="*/ 220 h 278"/>
                <a:gd name="T6" fmla="*/ 103 w 318"/>
                <a:gd name="T7" fmla="*/ 220 h 278"/>
                <a:gd name="T8" fmla="*/ 124 w 318"/>
                <a:gd name="T9" fmla="*/ 240 h 278"/>
                <a:gd name="T10" fmla="*/ 124 w 318"/>
                <a:gd name="T11" fmla="*/ 241 h 278"/>
                <a:gd name="T12" fmla="*/ 124 w 318"/>
                <a:gd name="T13" fmla="*/ 241 h 278"/>
                <a:gd name="T14" fmla="*/ 124 w 318"/>
                <a:gd name="T15" fmla="*/ 278 h 278"/>
                <a:gd name="T16" fmla="*/ 318 w 318"/>
                <a:gd name="T17" fmla="*/ 278 h 278"/>
                <a:gd name="T18" fmla="*/ 318 w 318"/>
                <a:gd name="T19" fmla="*/ 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278">
                  <a:moveTo>
                    <a:pt x="318" y="0"/>
                  </a:moveTo>
                  <a:cubicBezTo>
                    <a:pt x="0" y="0"/>
                    <a:pt x="0" y="0"/>
                    <a:pt x="0" y="0"/>
                  </a:cubicBezTo>
                  <a:cubicBezTo>
                    <a:pt x="0" y="220"/>
                    <a:pt x="0" y="220"/>
                    <a:pt x="0" y="220"/>
                  </a:cubicBezTo>
                  <a:cubicBezTo>
                    <a:pt x="103" y="220"/>
                    <a:pt x="103" y="220"/>
                    <a:pt x="103" y="220"/>
                  </a:cubicBezTo>
                  <a:cubicBezTo>
                    <a:pt x="115" y="220"/>
                    <a:pt x="124" y="229"/>
                    <a:pt x="124" y="240"/>
                  </a:cubicBezTo>
                  <a:cubicBezTo>
                    <a:pt x="124" y="241"/>
                    <a:pt x="124" y="241"/>
                    <a:pt x="124" y="241"/>
                  </a:cubicBezTo>
                  <a:cubicBezTo>
                    <a:pt x="124" y="241"/>
                    <a:pt x="124" y="241"/>
                    <a:pt x="124" y="241"/>
                  </a:cubicBezTo>
                  <a:cubicBezTo>
                    <a:pt x="124" y="278"/>
                    <a:pt x="124" y="278"/>
                    <a:pt x="124" y="278"/>
                  </a:cubicBezTo>
                  <a:cubicBezTo>
                    <a:pt x="318" y="278"/>
                    <a:pt x="318" y="278"/>
                    <a:pt x="318" y="278"/>
                  </a:cubicBezTo>
                  <a:cubicBezTo>
                    <a:pt x="318" y="0"/>
                    <a:pt x="318" y="0"/>
                    <a:pt x="318"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74" name="ïśľîḋé"/>
            <p:cNvSpPr/>
            <p:nvPr/>
          </p:nvSpPr>
          <p:spPr bwMode="auto">
            <a:xfrm>
              <a:off x="6832601" y="2232025"/>
              <a:ext cx="374650" cy="171450"/>
            </a:xfrm>
            <a:custGeom>
              <a:avLst/>
              <a:gdLst>
                <a:gd name="T0" fmla="*/ 103 w 124"/>
                <a:gd name="T1" fmla="*/ 0 h 57"/>
                <a:gd name="T2" fmla="*/ 0 w 124"/>
                <a:gd name="T3" fmla="*/ 0 h 57"/>
                <a:gd name="T4" fmla="*/ 0 w 124"/>
                <a:gd name="T5" fmla="*/ 30 h 57"/>
                <a:gd name="T6" fmla="*/ 96 w 124"/>
                <a:gd name="T7" fmla="*/ 30 h 57"/>
                <a:gd name="T8" fmla="*/ 96 w 124"/>
                <a:gd name="T9" fmla="*/ 54 h 57"/>
                <a:gd name="T10" fmla="*/ 96 w 124"/>
                <a:gd name="T11" fmla="*/ 57 h 57"/>
                <a:gd name="T12" fmla="*/ 124 w 124"/>
                <a:gd name="T13" fmla="*/ 57 h 57"/>
                <a:gd name="T14" fmla="*/ 124 w 124"/>
                <a:gd name="T15" fmla="*/ 20 h 57"/>
                <a:gd name="T16" fmla="*/ 103 w 124"/>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4" h="57">
                  <a:moveTo>
                    <a:pt x="103" y="0"/>
                  </a:moveTo>
                  <a:cubicBezTo>
                    <a:pt x="0" y="0"/>
                    <a:pt x="0" y="0"/>
                    <a:pt x="0" y="0"/>
                  </a:cubicBezTo>
                  <a:cubicBezTo>
                    <a:pt x="0" y="30"/>
                    <a:pt x="0" y="30"/>
                    <a:pt x="0" y="30"/>
                  </a:cubicBezTo>
                  <a:cubicBezTo>
                    <a:pt x="96" y="30"/>
                    <a:pt x="96" y="30"/>
                    <a:pt x="96" y="30"/>
                  </a:cubicBezTo>
                  <a:cubicBezTo>
                    <a:pt x="96" y="54"/>
                    <a:pt x="96" y="54"/>
                    <a:pt x="96" y="54"/>
                  </a:cubicBezTo>
                  <a:cubicBezTo>
                    <a:pt x="96" y="57"/>
                    <a:pt x="96" y="57"/>
                    <a:pt x="96" y="57"/>
                  </a:cubicBezTo>
                  <a:cubicBezTo>
                    <a:pt x="124" y="57"/>
                    <a:pt x="124" y="57"/>
                    <a:pt x="124" y="57"/>
                  </a:cubicBezTo>
                  <a:cubicBezTo>
                    <a:pt x="124" y="20"/>
                    <a:pt x="124" y="20"/>
                    <a:pt x="124" y="20"/>
                  </a:cubicBezTo>
                  <a:cubicBezTo>
                    <a:pt x="124" y="9"/>
                    <a:pt x="115" y="0"/>
                    <a:pt x="103" y="0"/>
                  </a:cubicBezTo>
                </a:path>
              </a:pathLst>
            </a:custGeom>
            <a:solidFill>
              <a:srgbClr val="2BA7D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75" name="îSḻïḋé"/>
            <p:cNvSpPr/>
            <p:nvPr/>
          </p:nvSpPr>
          <p:spPr bwMode="auto">
            <a:xfrm>
              <a:off x="6832601" y="2228850"/>
              <a:ext cx="374650" cy="63500"/>
            </a:xfrm>
            <a:custGeom>
              <a:avLst/>
              <a:gdLst>
                <a:gd name="T0" fmla="*/ 103 w 124"/>
                <a:gd name="T1" fmla="*/ 0 h 21"/>
                <a:gd name="T2" fmla="*/ 0 w 124"/>
                <a:gd name="T3" fmla="*/ 0 h 21"/>
                <a:gd name="T4" fmla="*/ 0 w 124"/>
                <a:gd name="T5" fmla="*/ 1 h 21"/>
                <a:gd name="T6" fmla="*/ 103 w 124"/>
                <a:gd name="T7" fmla="*/ 1 h 21"/>
                <a:gd name="T8" fmla="*/ 124 w 124"/>
                <a:gd name="T9" fmla="*/ 21 h 21"/>
                <a:gd name="T10" fmla="*/ 124 w 124"/>
                <a:gd name="T11" fmla="*/ 21 h 21"/>
                <a:gd name="T12" fmla="*/ 124 w 124"/>
                <a:gd name="T13" fmla="*/ 20 h 21"/>
                <a:gd name="T14" fmla="*/ 103 w 124"/>
                <a:gd name="T15" fmla="*/ 0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21">
                  <a:moveTo>
                    <a:pt x="103" y="0"/>
                  </a:moveTo>
                  <a:cubicBezTo>
                    <a:pt x="0" y="0"/>
                    <a:pt x="0" y="0"/>
                    <a:pt x="0" y="0"/>
                  </a:cubicBezTo>
                  <a:cubicBezTo>
                    <a:pt x="0" y="1"/>
                    <a:pt x="0" y="1"/>
                    <a:pt x="0" y="1"/>
                  </a:cubicBezTo>
                  <a:cubicBezTo>
                    <a:pt x="103" y="1"/>
                    <a:pt x="103" y="1"/>
                    <a:pt x="103" y="1"/>
                  </a:cubicBezTo>
                  <a:cubicBezTo>
                    <a:pt x="115" y="1"/>
                    <a:pt x="124" y="10"/>
                    <a:pt x="124" y="21"/>
                  </a:cubicBezTo>
                  <a:cubicBezTo>
                    <a:pt x="124" y="21"/>
                    <a:pt x="124" y="21"/>
                    <a:pt x="124" y="21"/>
                  </a:cubicBezTo>
                  <a:cubicBezTo>
                    <a:pt x="124" y="20"/>
                    <a:pt x="124" y="20"/>
                    <a:pt x="124" y="20"/>
                  </a:cubicBezTo>
                  <a:cubicBezTo>
                    <a:pt x="124" y="9"/>
                    <a:pt x="115" y="0"/>
                    <a:pt x="103" y="0"/>
                  </a:cubicBezTo>
                </a:path>
              </a:pathLst>
            </a:custGeom>
            <a:solidFill>
              <a:srgbClr val="3DBEE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76" name="îśḻíḑê"/>
            <p:cNvSpPr/>
            <p:nvPr/>
          </p:nvSpPr>
          <p:spPr bwMode="auto">
            <a:xfrm>
              <a:off x="7113588" y="2393950"/>
              <a:ext cx="7938" cy="9525"/>
            </a:xfrm>
            <a:custGeom>
              <a:avLst/>
              <a:gdLst>
                <a:gd name="T0" fmla="*/ 5 w 5"/>
                <a:gd name="T1" fmla="*/ 0 h 6"/>
                <a:gd name="T2" fmla="*/ 0 w 5"/>
                <a:gd name="T3" fmla="*/ 6 h 6"/>
                <a:gd name="T4" fmla="*/ 5 w 5"/>
                <a:gd name="T5" fmla="*/ 6 h 6"/>
                <a:gd name="T6" fmla="*/ 5 w 5"/>
                <a:gd name="T7" fmla="*/ 0 h 6"/>
              </a:gdLst>
              <a:ahLst/>
              <a:cxnLst>
                <a:cxn ang="0">
                  <a:pos x="T0" y="T1"/>
                </a:cxn>
                <a:cxn ang="0">
                  <a:pos x="T2" y="T3"/>
                </a:cxn>
                <a:cxn ang="0">
                  <a:pos x="T4" y="T5"/>
                </a:cxn>
                <a:cxn ang="0">
                  <a:pos x="T6" y="T7"/>
                </a:cxn>
              </a:cxnLst>
              <a:rect l="0" t="0" r="r" b="b"/>
              <a:pathLst>
                <a:path w="5" h="6">
                  <a:moveTo>
                    <a:pt x="5" y="0"/>
                  </a:moveTo>
                  <a:lnTo>
                    <a:pt x="0" y="6"/>
                  </a:lnTo>
                  <a:lnTo>
                    <a:pt x="5" y="6"/>
                  </a:lnTo>
                  <a:lnTo>
                    <a:pt x="5" y="0"/>
                  </a:lnTo>
                  <a:close/>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77" name="ïSliďé"/>
            <p:cNvSpPr/>
            <p:nvPr/>
          </p:nvSpPr>
          <p:spPr bwMode="auto">
            <a:xfrm>
              <a:off x="7113588" y="2393950"/>
              <a:ext cx="7938" cy="9525"/>
            </a:xfrm>
            <a:custGeom>
              <a:avLst/>
              <a:gdLst>
                <a:gd name="T0" fmla="*/ 5 w 5"/>
                <a:gd name="T1" fmla="*/ 0 h 6"/>
                <a:gd name="T2" fmla="*/ 0 w 5"/>
                <a:gd name="T3" fmla="*/ 6 h 6"/>
                <a:gd name="T4" fmla="*/ 5 w 5"/>
                <a:gd name="T5" fmla="*/ 6 h 6"/>
                <a:gd name="T6" fmla="*/ 5 w 5"/>
                <a:gd name="T7" fmla="*/ 0 h 6"/>
              </a:gdLst>
              <a:ahLst/>
              <a:cxnLst>
                <a:cxn ang="0">
                  <a:pos x="T0" y="T1"/>
                </a:cxn>
                <a:cxn ang="0">
                  <a:pos x="T2" y="T3"/>
                </a:cxn>
                <a:cxn ang="0">
                  <a:pos x="T4" y="T5"/>
                </a:cxn>
                <a:cxn ang="0">
                  <a:pos x="T6" y="T7"/>
                </a:cxn>
              </a:cxnLst>
              <a:rect l="0" t="0" r="r" b="b"/>
              <a:pathLst>
                <a:path w="5" h="6">
                  <a:moveTo>
                    <a:pt x="5" y="0"/>
                  </a:moveTo>
                  <a:lnTo>
                    <a:pt x="0" y="6"/>
                  </a:lnTo>
                  <a:lnTo>
                    <a:pt x="5" y="6"/>
                  </a:lnTo>
                  <a:lnTo>
                    <a:pt x="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78" name="íṡliḍè"/>
            <p:cNvSpPr/>
            <p:nvPr/>
          </p:nvSpPr>
          <p:spPr bwMode="auto">
            <a:xfrm>
              <a:off x="6832601" y="2322513"/>
              <a:ext cx="288925" cy="80963"/>
            </a:xfrm>
            <a:custGeom>
              <a:avLst/>
              <a:gdLst>
                <a:gd name="T0" fmla="*/ 182 w 182"/>
                <a:gd name="T1" fmla="*/ 0 h 51"/>
                <a:gd name="T2" fmla="*/ 0 w 182"/>
                <a:gd name="T3" fmla="*/ 0 h 51"/>
                <a:gd name="T4" fmla="*/ 0 w 182"/>
                <a:gd name="T5" fmla="*/ 51 h 51"/>
                <a:gd name="T6" fmla="*/ 177 w 182"/>
                <a:gd name="T7" fmla="*/ 51 h 51"/>
                <a:gd name="T8" fmla="*/ 182 w 182"/>
                <a:gd name="T9" fmla="*/ 45 h 51"/>
                <a:gd name="T10" fmla="*/ 182 w 182"/>
                <a:gd name="T11" fmla="*/ 0 h 51"/>
              </a:gdLst>
              <a:ahLst/>
              <a:cxnLst>
                <a:cxn ang="0">
                  <a:pos x="T0" y="T1"/>
                </a:cxn>
                <a:cxn ang="0">
                  <a:pos x="T2" y="T3"/>
                </a:cxn>
                <a:cxn ang="0">
                  <a:pos x="T4" y="T5"/>
                </a:cxn>
                <a:cxn ang="0">
                  <a:pos x="T6" y="T7"/>
                </a:cxn>
                <a:cxn ang="0">
                  <a:pos x="T8" y="T9"/>
                </a:cxn>
                <a:cxn ang="0">
                  <a:pos x="T10" y="T11"/>
                </a:cxn>
              </a:cxnLst>
              <a:rect l="0" t="0" r="r" b="b"/>
              <a:pathLst>
                <a:path w="182" h="51">
                  <a:moveTo>
                    <a:pt x="182" y="0"/>
                  </a:moveTo>
                  <a:lnTo>
                    <a:pt x="0" y="0"/>
                  </a:lnTo>
                  <a:lnTo>
                    <a:pt x="0" y="51"/>
                  </a:lnTo>
                  <a:lnTo>
                    <a:pt x="177" y="51"/>
                  </a:lnTo>
                  <a:lnTo>
                    <a:pt x="182" y="45"/>
                  </a:lnTo>
                  <a:lnTo>
                    <a:pt x="182" y="0"/>
                  </a:lnTo>
                  <a:close/>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79" name="îS1îḑe"/>
            <p:cNvSpPr/>
            <p:nvPr/>
          </p:nvSpPr>
          <p:spPr bwMode="auto">
            <a:xfrm>
              <a:off x="6832601" y="2322513"/>
              <a:ext cx="288925" cy="80963"/>
            </a:xfrm>
            <a:custGeom>
              <a:avLst/>
              <a:gdLst>
                <a:gd name="T0" fmla="*/ 182 w 182"/>
                <a:gd name="T1" fmla="*/ 0 h 51"/>
                <a:gd name="T2" fmla="*/ 0 w 182"/>
                <a:gd name="T3" fmla="*/ 0 h 51"/>
                <a:gd name="T4" fmla="*/ 0 w 182"/>
                <a:gd name="T5" fmla="*/ 51 h 51"/>
                <a:gd name="T6" fmla="*/ 177 w 182"/>
                <a:gd name="T7" fmla="*/ 51 h 51"/>
                <a:gd name="T8" fmla="*/ 182 w 182"/>
                <a:gd name="T9" fmla="*/ 45 h 51"/>
                <a:gd name="T10" fmla="*/ 182 w 182"/>
                <a:gd name="T11" fmla="*/ 0 h 51"/>
              </a:gdLst>
              <a:ahLst/>
              <a:cxnLst>
                <a:cxn ang="0">
                  <a:pos x="T0" y="T1"/>
                </a:cxn>
                <a:cxn ang="0">
                  <a:pos x="T2" y="T3"/>
                </a:cxn>
                <a:cxn ang="0">
                  <a:pos x="T4" y="T5"/>
                </a:cxn>
                <a:cxn ang="0">
                  <a:pos x="T6" y="T7"/>
                </a:cxn>
                <a:cxn ang="0">
                  <a:pos x="T8" y="T9"/>
                </a:cxn>
                <a:cxn ang="0">
                  <a:pos x="T10" y="T11"/>
                </a:cxn>
              </a:cxnLst>
              <a:rect l="0" t="0" r="r" b="b"/>
              <a:pathLst>
                <a:path w="182" h="51">
                  <a:moveTo>
                    <a:pt x="182" y="0"/>
                  </a:moveTo>
                  <a:lnTo>
                    <a:pt x="0" y="0"/>
                  </a:lnTo>
                  <a:lnTo>
                    <a:pt x="0" y="51"/>
                  </a:lnTo>
                  <a:lnTo>
                    <a:pt x="177" y="51"/>
                  </a:lnTo>
                  <a:lnTo>
                    <a:pt x="182" y="45"/>
                  </a:lnTo>
                  <a:lnTo>
                    <a:pt x="18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80" name="îš1ïḑè"/>
            <p:cNvSpPr/>
            <p:nvPr/>
          </p:nvSpPr>
          <p:spPr bwMode="auto">
            <a:xfrm>
              <a:off x="7121526" y="2628900"/>
              <a:ext cx="49213" cy="107950"/>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81" name="isḷiḑè"/>
            <p:cNvSpPr/>
            <p:nvPr/>
          </p:nvSpPr>
          <p:spPr bwMode="auto">
            <a:xfrm>
              <a:off x="7121526" y="2628900"/>
              <a:ext cx="49213"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82" name="ïšļíḋè"/>
            <p:cNvSpPr/>
            <p:nvPr/>
          </p:nvSpPr>
          <p:spPr bwMode="auto">
            <a:xfrm>
              <a:off x="6832601" y="2628900"/>
              <a:ext cx="288925" cy="107950"/>
            </a:xfrm>
            <a:custGeom>
              <a:avLst/>
              <a:gdLst>
                <a:gd name="T0" fmla="*/ 96 w 96"/>
                <a:gd name="T1" fmla="*/ 0 h 36"/>
                <a:gd name="T2" fmla="*/ 17 w 96"/>
                <a:gd name="T3" fmla="*/ 0 h 36"/>
                <a:gd name="T4" fmla="*/ 3 w 96"/>
                <a:gd name="T5" fmla="*/ 14 h 36"/>
                <a:gd name="T6" fmla="*/ 51 w 96"/>
                <a:gd name="T7" fmla="*/ 14 h 36"/>
                <a:gd name="T8" fmla="*/ 55 w 96"/>
                <a:gd name="T9" fmla="*/ 18 h 36"/>
                <a:gd name="T10" fmla="*/ 51 w 96"/>
                <a:gd name="T11" fmla="*/ 22 h 36"/>
                <a:gd name="T12" fmla="*/ 0 w 96"/>
                <a:gd name="T13" fmla="*/ 22 h 36"/>
                <a:gd name="T14" fmla="*/ 0 w 96"/>
                <a:gd name="T15" fmla="*/ 36 h 36"/>
                <a:gd name="T16" fmla="*/ 96 w 96"/>
                <a:gd name="T17" fmla="*/ 36 h 36"/>
                <a:gd name="T18" fmla="*/ 96 w 96"/>
                <a:gd name="T19"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36">
                  <a:moveTo>
                    <a:pt x="96" y="0"/>
                  </a:moveTo>
                  <a:cubicBezTo>
                    <a:pt x="17" y="0"/>
                    <a:pt x="17" y="0"/>
                    <a:pt x="17" y="0"/>
                  </a:cubicBezTo>
                  <a:cubicBezTo>
                    <a:pt x="3" y="14"/>
                    <a:pt x="3" y="14"/>
                    <a:pt x="3" y="14"/>
                  </a:cubicBezTo>
                  <a:cubicBezTo>
                    <a:pt x="51" y="14"/>
                    <a:pt x="51" y="14"/>
                    <a:pt x="51" y="14"/>
                  </a:cubicBezTo>
                  <a:cubicBezTo>
                    <a:pt x="53" y="14"/>
                    <a:pt x="55" y="16"/>
                    <a:pt x="55" y="18"/>
                  </a:cubicBezTo>
                  <a:cubicBezTo>
                    <a:pt x="55" y="20"/>
                    <a:pt x="53" y="22"/>
                    <a:pt x="51" y="22"/>
                  </a:cubicBezTo>
                  <a:cubicBezTo>
                    <a:pt x="0" y="22"/>
                    <a:pt x="0" y="22"/>
                    <a:pt x="0" y="22"/>
                  </a:cubicBezTo>
                  <a:cubicBezTo>
                    <a:pt x="0" y="36"/>
                    <a:pt x="0" y="36"/>
                    <a:pt x="0" y="36"/>
                  </a:cubicBezTo>
                  <a:cubicBezTo>
                    <a:pt x="96" y="36"/>
                    <a:pt x="96" y="36"/>
                    <a:pt x="96" y="36"/>
                  </a:cubicBezTo>
                  <a:cubicBezTo>
                    <a:pt x="96" y="0"/>
                    <a:pt x="96" y="0"/>
                    <a:pt x="96"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83" name="îšľïḋê"/>
            <p:cNvSpPr/>
            <p:nvPr/>
          </p:nvSpPr>
          <p:spPr bwMode="auto">
            <a:xfrm>
              <a:off x="6832601" y="2670175"/>
              <a:ext cx="166688" cy="25400"/>
            </a:xfrm>
            <a:custGeom>
              <a:avLst/>
              <a:gdLst>
                <a:gd name="T0" fmla="*/ 51 w 55"/>
                <a:gd name="T1" fmla="*/ 0 h 8"/>
                <a:gd name="T2" fmla="*/ 3 w 55"/>
                <a:gd name="T3" fmla="*/ 0 h 8"/>
                <a:gd name="T4" fmla="*/ 0 w 55"/>
                <a:gd name="T5" fmla="*/ 3 h 8"/>
                <a:gd name="T6" fmla="*/ 0 w 55"/>
                <a:gd name="T7" fmla="*/ 8 h 8"/>
                <a:gd name="T8" fmla="*/ 51 w 55"/>
                <a:gd name="T9" fmla="*/ 8 h 8"/>
                <a:gd name="T10" fmla="*/ 55 w 55"/>
                <a:gd name="T11" fmla="*/ 4 h 8"/>
                <a:gd name="T12" fmla="*/ 51 w 55"/>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55" h="8">
                  <a:moveTo>
                    <a:pt x="51" y="0"/>
                  </a:moveTo>
                  <a:cubicBezTo>
                    <a:pt x="3" y="0"/>
                    <a:pt x="3" y="0"/>
                    <a:pt x="3" y="0"/>
                  </a:cubicBezTo>
                  <a:cubicBezTo>
                    <a:pt x="0" y="3"/>
                    <a:pt x="0" y="3"/>
                    <a:pt x="0" y="3"/>
                  </a:cubicBezTo>
                  <a:cubicBezTo>
                    <a:pt x="0" y="8"/>
                    <a:pt x="0" y="8"/>
                    <a:pt x="0" y="8"/>
                  </a:cubicBezTo>
                  <a:cubicBezTo>
                    <a:pt x="51" y="8"/>
                    <a:pt x="51" y="8"/>
                    <a:pt x="51" y="8"/>
                  </a:cubicBezTo>
                  <a:cubicBezTo>
                    <a:pt x="53" y="8"/>
                    <a:pt x="55" y="6"/>
                    <a:pt x="55" y="4"/>
                  </a:cubicBezTo>
                  <a:cubicBezTo>
                    <a:pt x="55" y="2"/>
                    <a:pt x="53" y="0"/>
                    <a:pt x="51" y="0"/>
                  </a:cubicBezTo>
                </a:path>
              </a:pathLst>
            </a:custGeom>
            <a:solidFill>
              <a:srgbClr val="979A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84" name="íṥļíde"/>
            <p:cNvSpPr/>
            <p:nvPr/>
          </p:nvSpPr>
          <p:spPr bwMode="auto">
            <a:xfrm>
              <a:off x="6832601" y="2628900"/>
              <a:ext cx="50800" cy="41275"/>
            </a:xfrm>
            <a:custGeom>
              <a:avLst/>
              <a:gdLst>
                <a:gd name="T0" fmla="*/ 32 w 32"/>
                <a:gd name="T1" fmla="*/ 0 h 26"/>
                <a:gd name="T2" fmla="*/ 0 w 32"/>
                <a:gd name="T3" fmla="*/ 0 h 26"/>
                <a:gd name="T4" fmla="*/ 0 w 32"/>
                <a:gd name="T5" fmla="*/ 26 h 26"/>
                <a:gd name="T6" fmla="*/ 6 w 32"/>
                <a:gd name="T7" fmla="*/ 26 h 26"/>
                <a:gd name="T8" fmla="*/ 32 w 32"/>
                <a:gd name="T9" fmla="*/ 0 h 26"/>
              </a:gdLst>
              <a:ahLst/>
              <a:cxnLst>
                <a:cxn ang="0">
                  <a:pos x="T0" y="T1"/>
                </a:cxn>
                <a:cxn ang="0">
                  <a:pos x="T2" y="T3"/>
                </a:cxn>
                <a:cxn ang="0">
                  <a:pos x="T4" y="T5"/>
                </a:cxn>
                <a:cxn ang="0">
                  <a:pos x="T6" y="T7"/>
                </a:cxn>
                <a:cxn ang="0">
                  <a:pos x="T8" y="T9"/>
                </a:cxn>
              </a:cxnLst>
              <a:rect l="0" t="0" r="r" b="b"/>
              <a:pathLst>
                <a:path w="32" h="26">
                  <a:moveTo>
                    <a:pt x="32" y="0"/>
                  </a:moveTo>
                  <a:lnTo>
                    <a:pt x="0" y="0"/>
                  </a:lnTo>
                  <a:lnTo>
                    <a:pt x="0" y="26"/>
                  </a:lnTo>
                  <a:lnTo>
                    <a:pt x="6" y="26"/>
                  </a:lnTo>
                  <a:lnTo>
                    <a:pt x="32" y="0"/>
                  </a:lnTo>
                  <a:close/>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85" name="ísḷïḓé"/>
            <p:cNvSpPr/>
            <p:nvPr/>
          </p:nvSpPr>
          <p:spPr bwMode="auto">
            <a:xfrm>
              <a:off x="6832601" y="2628900"/>
              <a:ext cx="50800" cy="41275"/>
            </a:xfrm>
            <a:custGeom>
              <a:avLst/>
              <a:gdLst>
                <a:gd name="T0" fmla="*/ 32 w 32"/>
                <a:gd name="T1" fmla="*/ 0 h 26"/>
                <a:gd name="T2" fmla="*/ 0 w 32"/>
                <a:gd name="T3" fmla="*/ 0 h 26"/>
                <a:gd name="T4" fmla="*/ 0 w 32"/>
                <a:gd name="T5" fmla="*/ 26 h 26"/>
                <a:gd name="T6" fmla="*/ 6 w 32"/>
                <a:gd name="T7" fmla="*/ 26 h 26"/>
                <a:gd name="T8" fmla="*/ 32 w 32"/>
                <a:gd name="T9" fmla="*/ 0 h 26"/>
              </a:gdLst>
              <a:ahLst/>
              <a:cxnLst>
                <a:cxn ang="0">
                  <a:pos x="T0" y="T1"/>
                </a:cxn>
                <a:cxn ang="0">
                  <a:pos x="T2" y="T3"/>
                </a:cxn>
                <a:cxn ang="0">
                  <a:pos x="T4" y="T5"/>
                </a:cxn>
                <a:cxn ang="0">
                  <a:pos x="T6" y="T7"/>
                </a:cxn>
                <a:cxn ang="0">
                  <a:pos x="T8" y="T9"/>
                </a:cxn>
              </a:cxnLst>
              <a:rect l="0" t="0" r="r" b="b"/>
              <a:pathLst>
                <a:path w="32" h="26">
                  <a:moveTo>
                    <a:pt x="32" y="0"/>
                  </a:moveTo>
                  <a:lnTo>
                    <a:pt x="0" y="0"/>
                  </a:lnTo>
                  <a:lnTo>
                    <a:pt x="0" y="26"/>
                  </a:lnTo>
                  <a:lnTo>
                    <a:pt x="6" y="26"/>
                  </a:lnTo>
                  <a:lnTo>
                    <a:pt x="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86" name="îṧľiďé"/>
            <p:cNvSpPr/>
            <p:nvPr/>
          </p:nvSpPr>
          <p:spPr bwMode="auto">
            <a:xfrm>
              <a:off x="6832601" y="2670175"/>
              <a:ext cx="9525" cy="9525"/>
            </a:xfrm>
            <a:custGeom>
              <a:avLst/>
              <a:gdLst>
                <a:gd name="T0" fmla="*/ 6 w 6"/>
                <a:gd name="T1" fmla="*/ 0 h 6"/>
                <a:gd name="T2" fmla="*/ 0 w 6"/>
                <a:gd name="T3" fmla="*/ 0 h 6"/>
                <a:gd name="T4" fmla="*/ 0 w 6"/>
                <a:gd name="T5" fmla="*/ 6 h 6"/>
                <a:gd name="T6" fmla="*/ 6 w 6"/>
                <a:gd name="T7" fmla="*/ 0 h 6"/>
              </a:gdLst>
              <a:ahLst/>
              <a:cxnLst>
                <a:cxn ang="0">
                  <a:pos x="T0" y="T1"/>
                </a:cxn>
                <a:cxn ang="0">
                  <a:pos x="T2" y="T3"/>
                </a:cxn>
                <a:cxn ang="0">
                  <a:pos x="T4" y="T5"/>
                </a:cxn>
                <a:cxn ang="0">
                  <a:pos x="T6" y="T7"/>
                </a:cxn>
              </a:cxnLst>
              <a:rect l="0" t="0" r="r" b="b"/>
              <a:pathLst>
                <a:path w="6" h="6">
                  <a:moveTo>
                    <a:pt x="6" y="0"/>
                  </a:moveTo>
                  <a:lnTo>
                    <a:pt x="0" y="0"/>
                  </a:lnTo>
                  <a:lnTo>
                    <a:pt x="0" y="6"/>
                  </a:lnTo>
                  <a:lnTo>
                    <a:pt x="6" y="0"/>
                  </a:lnTo>
                  <a:close/>
                </a:path>
              </a:pathLst>
            </a:custGeom>
            <a:solidFill>
              <a:srgbClr val="88A0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87" name="ïśḷiḋé"/>
            <p:cNvSpPr/>
            <p:nvPr/>
          </p:nvSpPr>
          <p:spPr bwMode="auto">
            <a:xfrm>
              <a:off x="6832601" y="2670175"/>
              <a:ext cx="9525" cy="9525"/>
            </a:xfrm>
            <a:custGeom>
              <a:avLst/>
              <a:gdLst>
                <a:gd name="T0" fmla="*/ 6 w 6"/>
                <a:gd name="T1" fmla="*/ 0 h 6"/>
                <a:gd name="T2" fmla="*/ 0 w 6"/>
                <a:gd name="T3" fmla="*/ 0 h 6"/>
                <a:gd name="T4" fmla="*/ 0 w 6"/>
                <a:gd name="T5" fmla="*/ 6 h 6"/>
                <a:gd name="T6" fmla="*/ 6 w 6"/>
                <a:gd name="T7" fmla="*/ 0 h 6"/>
              </a:gdLst>
              <a:ahLst/>
              <a:cxnLst>
                <a:cxn ang="0">
                  <a:pos x="T0" y="T1"/>
                </a:cxn>
                <a:cxn ang="0">
                  <a:pos x="T2" y="T3"/>
                </a:cxn>
                <a:cxn ang="0">
                  <a:pos x="T4" y="T5"/>
                </a:cxn>
                <a:cxn ang="0">
                  <a:pos x="T6" y="T7"/>
                </a:cxn>
              </a:cxnLst>
              <a:rect l="0" t="0" r="r" b="b"/>
              <a:pathLst>
                <a:path w="6" h="6">
                  <a:moveTo>
                    <a:pt x="6" y="0"/>
                  </a:moveTo>
                  <a:lnTo>
                    <a:pt x="0" y="0"/>
                  </a:lnTo>
                  <a:lnTo>
                    <a:pt x="0" y="6"/>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88" name="ï$ḷïďê"/>
            <p:cNvSpPr/>
            <p:nvPr/>
          </p:nvSpPr>
          <p:spPr bwMode="auto">
            <a:xfrm>
              <a:off x="7218363" y="2628900"/>
              <a:ext cx="573088" cy="107950"/>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89" name="îŝļiḑe"/>
            <p:cNvSpPr/>
            <p:nvPr/>
          </p:nvSpPr>
          <p:spPr bwMode="auto">
            <a:xfrm>
              <a:off x="7218363" y="2628900"/>
              <a:ext cx="573088"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90" name="ïṣḻîḑè"/>
            <p:cNvSpPr/>
            <p:nvPr/>
          </p:nvSpPr>
          <p:spPr bwMode="auto">
            <a:xfrm>
              <a:off x="7207251" y="2800350"/>
              <a:ext cx="584200" cy="147638"/>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91" name="îş1ïḓè"/>
            <p:cNvSpPr/>
            <p:nvPr/>
          </p:nvSpPr>
          <p:spPr bwMode="auto">
            <a:xfrm>
              <a:off x="7207251" y="2800350"/>
              <a:ext cx="584200"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92" name="ïŝḻîdê"/>
            <p:cNvSpPr/>
            <p:nvPr/>
          </p:nvSpPr>
          <p:spPr bwMode="auto">
            <a:xfrm>
              <a:off x="7121526" y="2800350"/>
              <a:ext cx="85725" cy="147638"/>
            </a:xfrm>
            <a:custGeom>
              <a:avLst/>
              <a:gdLst>
                <a:gd name="T0" fmla="*/ 54 w 54"/>
                <a:gd name="T1" fmla="*/ 0 h 93"/>
                <a:gd name="T2" fmla="*/ 0 w 54"/>
                <a:gd name="T3" fmla="*/ 0 h 93"/>
                <a:gd name="T4" fmla="*/ 0 w 54"/>
                <a:gd name="T5" fmla="*/ 38 h 93"/>
                <a:gd name="T6" fmla="*/ 0 w 54"/>
                <a:gd name="T7" fmla="*/ 93 h 93"/>
                <a:gd name="T8" fmla="*/ 54 w 54"/>
                <a:gd name="T9" fmla="*/ 93 h 93"/>
                <a:gd name="T10" fmla="*/ 54 w 54"/>
                <a:gd name="T11" fmla="*/ 0 h 93"/>
              </a:gdLst>
              <a:ahLst/>
              <a:cxnLst>
                <a:cxn ang="0">
                  <a:pos x="T0" y="T1"/>
                </a:cxn>
                <a:cxn ang="0">
                  <a:pos x="T2" y="T3"/>
                </a:cxn>
                <a:cxn ang="0">
                  <a:pos x="T4" y="T5"/>
                </a:cxn>
                <a:cxn ang="0">
                  <a:pos x="T6" y="T7"/>
                </a:cxn>
                <a:cxn ang="0">
                  <a:pos x="T8" y="T9"/>
                </a:cxn>
                <a:cxn ang="0">
                  <a:pos x="T10" y="T11"/>
                </a:cxn>
              </a:cxnLst>
              <a:rect l="0" t="0" r="r" b="b"/>
              <a:pathLst>
                <a:path w="54" h="93">
                  <a:moveTo>
                    <a:pt x="54" y="0"/>
                  </a:moveTo>
                  <a:lnTo>
                    <a:pt x="0" y="0"/>
                  </a:lnTo>
                  <a:lnTo>
                    <a:pt x="0" y="38"/>
                  </a:lnTo>
                  <a:lnTo>
                    <a:pt x="0" y="93"/>
                  </a:lnTo>
                  <a:lnTo>
                    <a:pt x="54" y="93"/>
                  </a:lnTo>
                  <a:lnTo>
                    <a:pt x="54" y="0"/>
                  </a:lnTo>
                  <a:close/>
                </a:path>
              </a:pathLst>
            </a:custGeom>
            <a:solidFill>
              <a:srgbClr val="2BA7D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93" name="iṡlïḓê"/>
            <p:cNvSpPr/>
            <p:nvPr/>
          </p:nvSpPr>
          <p:spPr bwMode="auto">
            <a:xfrm>
              <a:off x="7121526" y="2800350"/>
              <a:ext cx="85725" cy="147638"/>
            </a:xfrm>
            <a:custGeom>
              <a:avLst/>
              <a:gdLst>
                <a:gd name="T0" fmla="*/ 54 w 54"/>
                <a:gd name="T1" fmla="*/ 0 h 93"/>
                <a:gd name="T2" fmla="*/ 0 w 54"/>
                <a:gd name="T3" fmla="*/ 0 h 93"/>
                <a:gd name="T4" fmla="*/ 0 w 54"/>
                <a:gd name="T5" fmla="*/ 38 h 93"/>
                <a:gd name="T6" fmla="*/ 0 w 54"/>
                <a:gd name="T7" fmla="*/ 93 h 93"/>
                <a:gd name="T8" fmla="*/ 54 w 54"/>
                <a:gd name="T9" fmla="*/ 93 h 93"/>
                <a:gd name="T10" fmla="*/ 54 w 54"/>
                <a:gd name="T11" fmla="*/ 0 h 93"/>
              </a:gdLst>
              <a:ahLst/>
              <a:cxnLst>
                <a:cxn ang="0">
                  <a:pos x="T0" y="T1"/>
                </a:cxn>
                <a:cxn ang="0">
                  <a:pos x="T2" y="T3"/>
                </a:cxn>
                <a:cxn ang="0">
                  <a:pos x="T4" y="T5"/>
                </a:cxn>
                <a:cxn ang="0">
                  <a:pos x="T6" y="T7"/>
                </a:cxn>
                <a:cxn ang="0">
                  <a:pos x="T8" y="T9"/>
                </a:cxn>
                <a:cxn ang="0">
                  <a:pos x="T10" y="T11"/>
                </a:cxn>
              </a:cxnLst>
              <a:rect l="0" t="0" r="r" b="b"/>
              <a:pathLst>
                <a:path w="54" h="93">
                  <a:moveTo>
                    <a:pt x="54" y="0"/>
                  </a:moveTo>
                  <a:lnTo>
                    <a:pt x="0" y="0"/>
                  </a:lnTo>
                  <a:lnTo>
                    <a:pt x="0" y="38"/>
                  </a:lnTo>
                  <a:lnTo>
                    <a:pt x="0" y="93"/>
                  </a:lnTo>
                  <a:lnTo>
                    <a:pt x="54" y="93"/>
                  </a:lnTo>
                  <a:lnTo>
                    <a:pt x="5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94" name="íŝlïḋe"/>
            <p:cNvSpPr/>
            <p:nvPr/>
          </p:nvSpPr>
          <p:spPr bwMode="auto">
            <a:xfrm>
              <a:off x="6832601" y="2800350"/>
              <a:ext cx="288925" cy="147638"/>
            </a:xfrm>
            <a:custGeom>
              <a:avLst/>
              <a:gdLst>
                <a:gd name="T0" fmla="*/ 96 w 96"/>
                <a:gd name="T1" fmla="*/ 0 h 49"/>
                <a:gd name="T2" fmla="*/ 53 w 96"/>
                <a:gd name="T3" fmla="*/ 0 h 49"/>
                <a:gd name="T4" fmla="*/ 51 w 96"/>
                <a:gd name="T5" fmla="*/ 0 h 49"/>
                <a:gd name="T6" fmla="*/ 0 w 96"/>
                <a:gd name="T7" fmla="*/ 0 h 49"/>
                <a:gd name="T8" fmla="*/ 0 w 96"/>
                <a:gd name="T9" fmla="*/ 25 h 49"/>
                <a:gd name="T10" fmla="*/ 51 w 96"/>
                <a:gd name="T11" fmla="*/ 25 h 49"/>
                <a:gd name="T12" fmla="*/ 55 w 96"/>
                <a:gd name="T13" fmla="*/ 29 h 49"/>
                <a:gd name="T14" fmla="*/ 51 w 96"/>
                <a:gd name="T15" fmla="*/ 33 h 49"/>
                <a:gd name="T16" fmla="*/ 0 w 96"/>
                <a:gd name="T17" fmla="*/ 33 h 49"/>
                <a:gd name="T18" fmla="*/ 0 w 96"/>
                <a:gd name="T19" fmla="*/ 49 h 49"/>
                <a:gd name="T20" fmla="*/ 66 w 96"/>
                <a:gd name="T21" fmla="*/ 49 h 49"/>
                <a:gd name="T22" fmla="*/ 96 w 96"/>
                <a:gd name="T23" fmla="*/ 20 h 49"/>
                <a:gd name="T24" fmla="*/ 96 w 96"/>
                <a:gd name="T25"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49">
                  <a:moveTo>
                    <a:pt x="96" y="0"/>
                  </a:moveTo>
                  <a:cubicBezTo>
                    <a:pt x="53" y="0"/>
                    <a:pt x="53" y="0"/>
                    <a:pt x="53" y="0"/>
                  </a:cubicBezTo>
                  <a:cubicBezTo>
                    <a:pt x="52" y="0"/>
                    <a:pt x="52" y="0"/>
                    <a:pt x="51" y="0"/>
                  </a:cubicBezTo>
                  <a:cubicBezTo>
                    <a:pt x="0" y="0"/>
                    <a:pt x="0" y="0"/>
                    <a:pt x="0" y="0"/>
                  </a:cubicBezTo>
                  <a:cubicBezTo>
                    <a:pt x="0" y="25"/>
                    <a:pt x="0" y="25"/>
                    <a:pt x="0" y="25"/>
                  </a:cubicBezTo>
                  <a:cubicBezTo>
                    <a:pt x="51" y="25"/>
                    <a:pt x="51" y="25"/>
                    <a:pt x="51" y="25"/>
                  </a:cubicBezTo>
                  <a:cubicBezTo>
                    <a:pt x="53" y="25"/>
                    <a:pt x="55" y="27"/>
                    <a:pt x="55" y="29"/>
                  </a:cubicBezTo>
                  <a:cubicBezTo>
                    <a:pt x="55" y="31"/>
                    <a:pt x="53" y="33"/>
                    <a:pt x="51" y="33"/>
                  </a:cubicBezTo>
                  <a:cubicBezTo>
                    <a:pt x="0" y="33"/>
                    <a:pt x="0" y="33"/>
                    <a:pt x="0" y="33"/>
                  </a:cubicBezTo>
                  <a:cubicBezTo>
                    <a:pt x="0" y="49"/>
                    <a:pt x="0" y="49"/>
                    <a:pt x="0" y="49"/>
                  </a:cubicBezTo>
                  <a:cubicBezTo>
                    <a:pt x="66" y="49"/>
                    <a:pt x="66" y="49"/>
                    <a:pt x="66" y="49"/>
                  </a:cubicBezTo>
                  <a:cubicBezTo>
                    <a:pt x="96" y="20"/>
                    <a:pt x="96" y="20"/>
                    <a:pt x="96" y="20"/>
                  </a:cubicBezTo>
                  <a:cubicBezTo>
                    <a:pt x="96" y="0"/>
                    <a:pt x="96" y="0"/>
                    <a:pt x="96"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95" name="iṩliḋè"/>
            <p:cNvSpPr/>
            <p:nvPr/>
          </p:nvSpPr>
          <p:spPr bwMode="auto">
            <a:xfrm>
              <a:off x="6832601" y="2800350"/>
              <a:ext cx="160338" cy="0"/>
            </a:xfrm>
            <a:custGeom>
              <a:avLst/>
              <a:gdLst>
                <a:gd name="T0" fmla="*/ 53 w 53"/>
                <a:gd name="T1" fmla="*/ 0 w 53"/>
                <a:gd name="T2" fmla="*/ 0 w 53"/>
                <a:gd name="T3" fmla="*/ 51 w 53"/>
                <a:gd name="T4" fmla="*/ 53 w 53"/>
              </a:gdLst>
              <a:ahLst/>
              <a:cxnLst>
                <a:cxn ang="0">
                  <a:pos x="T0" y="0"/>
                </a:cxn>
                <a:cxn ang="0">
                  <a:pos x="T1" y="0"/>
                </a:cxn>
                <a:cxn ang="0">
                  <a:pos x="T2" y="0"/>
                </a:cxn>
                <a:cxn ang="0">
                  <a:pos x="T3" y="0"/>
                </a:cxn>
                <a:cxn ang="0">
                  <a:pos x="T4" y="0"/>
                </a:cxn>
              </a:cxnLst>
              <a:rect l="0" t="0" r="r" b="b"/>
              <a:pathLst>
                <a:path w="53">
                  <a:moveTo>
                    <a:pt x="53" y="0"/>
                  </a:moveTo>
                  <a:cubicBezTo>
                    <a:pt x="0" y="0"/>
                    <a:pt x="0" y="0"/>
                    <a:pt x="0" y="0"/>
                  </a:cubicBezTo>
                  <a:cubicBezTo>
                    <a:pt x="0" y="0"/>
                    <a:pt x="0" y="0"/>
                    <a:pt x="0" y="0"/>
                  </a:cubicBezTo>
                  <a:cubicBezTo>
                    <a:pt x="51" y="0"/>
                    <a:pt x="51" y="0"/>
                    <a:pt x="51" y="0"/>
                  </a:cubicBezTo>
                  <a:cubicBezTo>
                    <a:pt x="52" y="0"/>
                    <a:pt x="52" y="0"/>
                    <a:pt x="53" y="0"/>
                  </a:cubicBezTo>
                </a:path>
              </a:pathLst>
            </a:custGeom>
            <a:solidFill>
              <a:srgbClr val="9785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96" name="ïśḷíḍè"/>
            <p:cNvSpPr/>
            <p:nvPr/>
          </p:nvSpPr>
          <p:spPr bwMode="auto">
            <a:xfrm>
              <a:off x="6832601" y="2874963"/>
              <a:ext cx="166688" cy="23813"/>
            </a:xfrm>
            <a:custGeom>
              <a:avLst/>
              <a:gdLst>
                <a:gd name="T0" fmla="*/ 51 w 55"/>
                <a:gd name="T1" fmla="*/ 0 h 8"/>
                <a:gd name="T2" fmla="*/ 0 w 55"/>
                <a:gd name="T3" fmla="*/ 0 h 8"/>
                <a:gd name="T4" fmla="*/ 0 w 55"/>
                <a:gd name="T5" fmla="*/ 8 h 8"/>
                <a:gd name="T6" fmla="*/ 51 w 55"/>
                <a:gd name="T7" fmla="*/ 8 h 8"/>
                <a:gd name="T8" fmla="*/ 55 w 55"/>
                <a:gd name="T9" fmla="*/ 4 h 8"/>
                <a:gd name="T10" fmla="*/ 51 w 55"/>
                <a:gd name="T11" fmla="*/ 0 h 8"/>
              </a:gdLst>
              <a:ahLst/>
              <a:cxnLst>
                <a:cxn ang="0">
                  <a:pos x="T0" y="T1"/>
                </a:cxn>
                <a:cxn ang="0">
                  <a:pos x="T2" y="T3"/>
                </a:cxn>
                <a:cxn ang="0">
                  <a:pos x="T4" y="T5"/>
                </a:cxn>
                <a:cxn ang="0">
                  <a:pos x="T6" y="T7"/>
                </a:cxn>
                <a:cxn ang="0">
                  <a:pos x="T8" y="T9"/>
                </a:cxn>
                <a:cxn ang="0">
                  <a:pos x="T10" y="T11"/>
                </a:cxn>
              </a:cxnLst>
              <a:rect l="0" t="0" r="r" b="b"/>
              <a:pathLst>
                <a:path w="55" h="8">
                  <a:moveTo>
                    <a:pt x="51" y="0"/>
                  </a:moveTo>
                  <a:cubicBezTo>
                    <a:pt x="0" y="0"/>
                    <a:pt x="0" y="0"/>
                    <a:pt x="0" y="0"/>
                  </a:cubicBezTo>
                  <a:cubicBezTo>
                    <a:pt x="0" y="8"/>
                    <a:pt x="0" y="8"/>
                    <a:pt x="0" y="8"/>
                  </a:cubicBezTo>
                  <a:cubicBezTo>
                    <a:pt x="51" y="8"/>
                    <a:pt x="51" y="8"/>
                    <a:pt x="51" y="8"/>
                  </a:cubicBezTo>
                  <a:cubicBezTo>
                    <a:pt x="53" y="8"/>
                    <a:pt x="55" y="6"/>
                    <a:pt x="55" y="4"/>
                  </a:cubicBezTo>
                  <a:cubicBezTo>
                    <a:pt x="55" y="2"/>
                    <a:pt x="53" y="0"/>
                    <a:pt x="51" y="0"/>
                  </a:cubicBezTo>
                </a:path>
              </a:pathLst>
            </a:custGeom>
            <a:solidFill>
              <a:srgbClr val="9785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97" name="íşľiḓe"/>
            <p:cNvSpPr/>
            <p:nvPr/>
          </p:nvSpPr>
          <p:spPr bwMode="auto">
            <a:xfrm>
              <a:off x="7031038" y="2860675"/>
              <a:ext cx="90488" cy="87313"/>
            </a:xfrm>
            <a:custGeom>
              <a:avLst/>
              <a:gdLst>
                <a:gd name="T0" fmla="*/ 57 w 57"/>
                <a:gd name="T1" fmla="*/ 0 h 55"/>
                <a:gd name="T2" fmla="*/ 0 w 57"/>
                <a:gd name="T3" fmla="*/ 55 h 55"/>
                <a:gd name="T4" fmla="*/ 57 w 57"/>
                <a:gd name="T5" fmla="*/ 55 h 55"/>
                <a:gd name="T6" fmla="*/ 57 w 57"/>
                <a:gd name="T7" fmla="*/ 0 h 55"/>
              </a:gdLst>
              <a:ahLst/>
              <a:cxnLst>
                <a:cxn ang="0">
                  <a:pos x="T0" y="T1"/>
                </a:cxn>
                <a:cxn ang="0">
                  <a:pos x="T2" y="T3"/>
                </a:cxn>
                <a:cxn ang="0">
                  <a:pos x="T4" y="T5"/>
                </a:cxn>
                <a:cxn ang="0">
                  <a:pos x="T6" y="T7"/>
                </a:cxn>
              </a:cxnLst>
              <a:rect l="0" t="0" r="r" b="b"/>
              <a:pathLst>
                <a:path w="57" h="55">
                  <a:moveTo>
                    <a:pt x="57" y="0"/>
                  </a:moveTo>
                  <a:lnTo>
                    <a:pt x="0" y="55"/>
                  </a:lnTo>
                  <a:lnTo>
                    <a:pt x="57" y="55"/>
                  </a:lnTo>
                  <a:lnTo>
                    <a:pt x="57" y="0"/>
                  </a:lnTo>
                  <a:close/>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98" name="ïşļîde"/>
            <p:cNvSpPr/>
            <p:nvPr/>
          </p:nvSpPr>
          <p:spPr bwMode="auto">
            <a:xfrm>
              <a:off x="7031038" y="2860675"/>
              <a:ext cx="90488" cy="87313"/>
            </a:xfrm>
            <a:custGeom>
              <a:avLst/>
              <a:gdLst>
                <a:gd name="T0" fmla="*/ 57 w 57"/>
                <a:gd name="T1" fmla="*/ 0 h 55"/>
                <a:gd name="T2" fmla="*/ 0 w 57"/>
                <a:gd name="T3" fmla="*/ 55 h 55"/>
                <a:gd name="T4" fmla="*/ 57 w 57"/>
                <a:gd name="T5" fmla="*/ 55 h 55"/>
                <a:gd name="T6" fmla="*/ 57 w 57"/>
                <a:gd name="T7" fmla="*/ 0 h 55"/>
              </a:gdLst>
              <a:ahLst/>
              <a:cxnLst>
                <a:cxn ang="0">
                  <a:pos x="T0" y="T1"/>
                </a:cxn>
                <a:cxn ang="0">
                  <a:pos x="T2" y="T3"/>
                </a:cxn>
                <a:cxn ang="0">
                  <a:pos x="T4" y="T5"/>
                </a:cxn>
                <a:cxn ang="0">
                  <a:pos x="T6" y="T7"/>
                </a:cxn>
              </a:cxnLst>
              <a:rect l="0" t="0" r="r" b="b"/>
              <a:pathLst>
                <a:path w="57" h="55">
                  <a:moveTo>
                    <a:pt x="57" y="0"/>
                  </a:moveTo>
                  <a:lnTo>
                    <a:pt x="0" y="55"/>
                  </a:lnTo>
                  <a:lnTo>
                    <a:pt x="57" y="55"/>
                  </a:lnTo>
                  <a:lnTo>
                    <a:pt x="5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99" name="ïṧḻïdê"/>
            <p:cNvSpPr/>
            <p:nvPr/>
          </p:nvSpPr>
          <p:spPr bwMode="auto">
            <a:xfrm>
              <a:off x="6670676" y="1335088"/>
              <a:ext cx="1211263" cy="180975"/>
            </a:xfrm>
            <a:custGeom>
              <a:avLst/>
              <a:gdLst>
                <a:gd name="T0" fmla="*/ 24 w 402"/>
                <a:gd name="T1" fmla="*/ 41 h 60"/>
                <a:gd name="T2" fmla="*/ 12 w 402"/>
                <a:gd name="T3" fmla="*/ 28 h 60"/>
                <a:gd name="T4" fmla="*/ 24 w 402"/>
                <a:gd name="T5" fmla="*/ 16 h 60"/>
                <a:gd name="T6" fmla="*/ 37 w 402"/>
                <a:gd name="T7" fmla="*/ 28 h 60"/>
                <a:gd name="T8" fmla="*/ 24 w 402"/>
                <a:gd name="T9" fmla="*/ 41 h 60"/>
                <a:gd name="T10" fmla="*/ 54 w 402"/>
                <a:gd name="T11" fmla="*/ 41 h 60"/>
                <a:gd name="T12" fmla="*/ 41 w 402"/>
                <a:gd name="T13" fmla="*/ 28 h 60"/>
                <a:gd name="T14" fmla="*/ 54 w 402"/>
                <a:gd name="T15" fmla="*/ 16 h 60"/>
                <a:gd name="T16" fmla="*/ 66 w 402"/>
                <a:gd name="T17" fmla="*/ 28 h 60"/>
                <a:gd name="T18" fmla="*/ 54 w 402"/>
                <a:gd name="T19" fmla="*/ 41 h 60"/>
                <a:gd name="T20" fmla="*/ 83 w 402"/>
                <a:gd name="T21" fmla="*/ 41 h 60"/>
                <a:gd name="T22" fmla="*/ 71 w 402"/>
                <a:gd name="T23" fmla="*/ 28 h 60"/>
                <a:gd name="T24" fmla="*/ 83 w 402"/>
                <a:gd name="T25" fmla="*/ 16 h 60"/>
                <a:gd name="T26" fmla="*/ 95 w 402"/>
                <a:gd name="T27" fmla="*/ 28 h 60"/>
                <a:gd name="T28" fmla="*/ 83 w 402"/>
                <a:gd name="T29" fmla="*/ 41 h 60"/>
                <a:gd name="T30" fmla="*/ 402 w 402"/>
                <a:gd name="T31" fmla="*/ 0 h 60"/>
                <a:gd name="T32" fmla="*/ 0 w 402"/>
                <a:gd name="T33" fmla="*/ 0 h 60"/>
                <a:gd name="T34" fmla="*/ 0 w 402"/>
                <a:gd name="T35" fmla="*/ 60 h 60"/>
                <a:gd name="T36" fmla="*/ 402 w 402"/>
                <a:gd name="T37" fmla="*/ 60 h 60"/>
                <a:gd name="T38" fmla="*/ 0 w 402"/>
                <a:gd name="T39" fmla="*/ 60 h 60"/>
                <a:gd name="T40" fmla="*/ 0 w 402"/>
                <a:gd name="T41" fmla="*/ 58 h 60"/>
                <a:gd name="T42" fmla="*/ 402 w 402"/>
                <a:gd name="T43" fmla="*/ 58 h 60"/>
                <a:gd name="T44" fmla="*/ 402 w 402"/>
                <a:gd name="T45"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2" h="60">
                  <a:moveTo>
                    <a:pt x="24" y="41"/>
                  </a:moveTo>
                  <a:cubicBezTo>
                    <a:pt x="18" y="41"/>
                    <a:pt x="12" y="35"/>
                    <a:pt x="12" y="28"/>
                  </a:cubicBezTo>
                  <a:cubicBezTo>
                    <a:pt x="12" y="22"/>
                    <a:pt x="18" y="16"/>
                    <a:pt x="24" y="16"/>
                  </a:cubicBezTo>
                  <a:cubicBezTo>
                    <a:pt x="31" y="16"/>
                    <a:pt x="37" y="22"/>
                    <a:pt x="37" y="28"/>
                  </a:cubicBezTo>
                  <a:cubicBezTo>
                    <a:pt x="37" y="35"/>
                    <a:pt x="31" y="41"/>
                    <a:pt x="24" y="41"/>
                  </a:cubicBezTo>
                  <a:moveTo>
                    <a:pt x="54" y="41"/>
                  </a:moveTo>
                  <a:cubicBezTo>
                    <a:pt x="47" y="41"/>
                    <a:pt x="41" y="35"/>
                    <a:pt x="41" y="28"/>
                  </a:cubicBezTo>
                  <a:cubicBezTo>
                    <a:pt x="41" y="22"/>
                    <a:pt x="47" y="16"/>
                    <a:pt x="54" y="16"/>
                  </a:cubicBezTo>
                  <a:cubicBezTo>
                    <a:pt x="61" y="16"/>
                    <a:pt x="66" y="22"/>
                    <a:pt x="66" y="28"/>
                  </a:cubicBezTo>
                  <a:cubicBezTo>
                    <a:pt x="66" y="35"/>
                    <a:pt x="61" y="41"/>
                    <a:pt x="54" y="41"/>
                  </a:cubicBezTo>
                  <a:moveTo>
                    <a:pt x="83" y="41"/>
                  </a:moveTo>
                  <a:cubicBezTo>
                    <a:pt x="76" y="41"/>
                    <a:pt x="71" y="35"/>
                    <a:pt x="71" y="28"/>
                  </a:cubicBezTo>
                  <a:cubicBezTo>
                    <a:pt x="71" y="22"/>
                    <a:pt x="76" y="16"/>
                    <a:pt x="83" y="16"/>
                  </a:cubicBezTo>
                  <a:cubicBezTo>
                    <a:pt x="90" y="16"/>
                    <a:pt x="95" y="22"/>
                    <a:pt x="95" y="28"/>
                  </a:cubicBezTo>
                  <a:cubicBezTo>
                    <a:pt x="95" y="35"/>
                    <a:pt x="90" y="41"/>
                    <a:pt x="83" y="41"/>
                  </a:cubicBezTo>
                  <a:moveTo>
                    <a:pt x="402" y="0"/>
                  </a:moveTo>
                  <a:cubicBezTo>
                    <a:pt x="0" y="0"/>
                    <a:pt x="0" y="0"/>
                    <a:pt x="0" y="0"/>
                  </a:cubicBezTo>
                  <a:cubicBezTo>
                    <a:pt x="0" y="60"/>
                    <a:pt x="0" y="60"/>
                    <a:pt x="0" y="60"/>
                  </a:cubicBezTo>
                  <a:cubicBezTo>
                    <a:pt x="402" y="60"/>
                    <a:pt x="402" y="60"/>
                    <a:pt x="402" y="60"/>
                  </a:cubicBezTo>
                  <a:cubicBezTo>
                    <a:pt x="0" y="60"/>
                    <a:pt x="0" y="60"/>
                    <a:pt x="0" y="60"/>
                  </a:cubicBezTo>
                  <a:cubicBezTo>
                    <a:pt x="0" y="58"/>
                    <a:pt x="0" y="58"/>
                    <a:pt x="0" y="58"/>
                  </a:cubicBezTo>
                  <a:cubicBezTo>
                    <a:pt x="402" y="58"/>
                    <a:pt x="402" y="58"/>
                    <a:pt x="402" y="58"/>
                  </a:cubicBezTo>
                  <a:cubicBezTo>
                    <a:pt x="402" y="0"/>
                    <a:pt x="402" y="0"/>
                    <a:pt x="402"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00" name="íŝḷiḑè"/>
            <p:cNvSpPr/>
            <p:nvPr/>
          </p:nvSpPr>
          <p:spPr bwMode="auto">
            <a:xfrm>
              <a:off x="6705601" y="1384300"/>
              <a:ext cx="76200" cy="74613"/>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01" name="iŝľîďê"/>
            <p:cNvSpPr/>
            <p:nvPr/>
          </p:nvSpPr>
          <p:spPr bwMode="auto">
            <a:xfrm>
              <a:off x="6705601" y="1419225"/>
              <a:ext cx="76200" cy="39688"/>
            </a:xfrm>
            <a:custGeom>
              <a:avLst/>
              <a:gdLst>
                <a:gd name="T0" fmla="*/ 12 w 25"/>
                <a:gd name="T1" fmla="*/ 13 h 13"/>
                <a:gd name="T2" fmla="*/ 0 w 25"/>
                <a:gd name="T3" fmla="*/ 0 h 13"/>
                <a:gd name="T4" fmla="*/ 0 w 25"/>
                <a:gd name="T5" fmla="*/ 1 h 13"/>
                <a:gd name="T6" fmla="*/ 12 w 25"/>
                <a:gd name="T7" fmla="*/ 13 h 13"/>
                <a:gd name="T8" fmla="*/ 25 w 25"/>
                <a:gd name="T9" fmla="*/ 1 h 13"/>
                <a:gd name="T10" fmla="*/ 25 w 25"/>
                <a:gd name="T11" fmla="*/ 0 h 13"/>
                <a:gd name="T12" fmla="*/ 12 w 25"/>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25" h="13">
                  <a:moveTo>
                    <a:pt x="12" y="13"/>
                  </a:moveTo>
                  <a:cubicBezTo>
                    <a:pt x="6" y="13"/>
                    <a:pt x="0" y="7"/>
                    <a:pt x="0" y="0"/>
                  </a:cubicBezTo>
                  <a:cubicBezTo>
                    <a:pt x="0" y="1"/>
                    <a:pt x="0" y="1"/>
                    <a:pt x="0" y="1"/>
                  </a:cubicBezTo>
                  <a:cubicBezTo>
                    <a:pt x="0" y="8"/>
                    <a:pt x="6" y="13"/>
                    <a:pt x="12" y="13"/>
                  </a:cubicBezTo>
                  <a:cubicBezTo>
                    <a:pt x="19" y="13"/>
                    <a:pt x="25" y="8"/>
                    <a:pt x="25" y="1"/>
                  </a:cubicBezTo>
                  <a:cubicBezTo>
                    <a:pt x="25" y="0"/>
                    <a:pt x="25" y="0"/>
                    <a:pt x="25" y="0"/>
                  </a:cubicBezTo>
                  <a:cubicBezTo>
                    <a:pt x="25" y="7"/>
                    <a:pt x="19" y="13"/>
                    <a:pt x="12" y="13"/>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02" name="íšḻïḑé"/>
            <p:cNvSpPr/>
            <p:nvPr/>
          </p:nvSpPr>
          <p:spPr bwMode="auto">
            <a:xfrm>
              <a:off x="6792913" y="1384300"/>
              <a:ext cx="76200" cy="74613"/>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03" name="î$ḻïďè"/>
            <p:cNvSpPr/>
            <p:nvPr/>
          </p:nvSpPr>
          <p:spPr bwMode="auto">
            <a:xfrm>
              <a:off x="6792913" y="1419225"/>
              <a:ext cx="76200" cy="39688"/>
            </a:xfrm>
            <a:custGeom>
              <a:avLst/>
              <a:gdLst>
                <a:gd name="T0" fmla="*/ 13 w 25"/>
                <a:gd name="T1" fmla="*/ 13 h 13"/>
                <a:gd name="T2" fmla="*/ 0 w 25"/>
                <a:gd name="T3" fmla="*/ 0 h 13"/>
                <a:gd name="T4" fmla="*/ 0 w 25"/>
                <a:gd name="T5" fmla="*/ 1 h 13"/>
                <a:gd name="T6" fmla="*/ 13 w 25"/>
                <a:gd name="T7" fmla="*/ 13 h 13"/>
                <a:gd name="T8" fmla="*/ 25 w 25"/>
                <a:gd name="T9" fmla="*/ 1 h 13"/>
                <a:gd name="T10" fmla="*/ 25 w 25"/>
                <a:gd name="T11" fmla="*/ 0 h 13"/>
                <a:gd name="T12" fmla="*/ 13 w 25"/>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25" h="13">
                  <a:moveTo>
                    <a:pt x="13" y="13"/>
                  </a:moveTo>
                  <a:cubicBezTo>
                    <a:pt x="6" y="13"/>
                    <a:pt x="1" y="7"/>
                    <a:pt x="0" y="0"/>
                  </a:cubicBezTo>
                  <a:cubicBezTo>
                    <a:pt x="0" y="1"/>
                    <a:pt x="0" y="1"/>
                    <a:pt x="0" y="1"/>
                  </a:cubicBezTo>
                  <a:cubicBezTo>
                    <a:pt x="0" y="8"/>
                    <a:pt x="6" y="13"/>
                    <a:pt x="13" y="13"/>
                  </a:cubicBezTo>
                  <a:cubicBezTo>
                    <a:pt x="20" y="13"/>
                    <a:pt x="25" y="8"/>
                    <a:pt x="25" y="1"/>
                  </a:cubicBezTo>
                  <a:cubicBezTo>
                    <a:pt x="25" y="0"/>
                    <a:pt x="25" y="0"/>
                    <a:pt x="25" y="0"/>
                  </a:cubicBezTo>
                  <a:cubicBezTo>
                    <a:pt x="25" y="7"/>
                    <a:pt x="20" y="13"/>
                    <a:pt x="13" y="13"/>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04" name="íṣľiḋè"/>
            <p:cNvSpPr/>
            <p:nvPr/>
          </p:nvSpPr>
          <p:spPr bwMode="auto">
            <a:xfrm>
              <a:off x="6883401" y="1384300"/>
              <a:ext cx="73025" cy="74613"/>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05" name="íṧlïdé"/>
            <p:cNvSpPr/>
            <p:nvPr/>
          </p:nvSpPr>
          <p:spPr bwMode="auto">
            <a:xfrm>
              <a:off x="6883401" y="1419225"/>
              <a:ext cx="73025" cy="39688"/>
            </a:xfrm>
            <a:custGeom>
              <a:avLst/>
              <a:gdLst>
                <a:gd name="T0" fmla="*/ 12 w 24"/>
                <a:gd name="T1" fmla="*/ 13 h 13"/>
                <a:gd name="T2" fmla="*/ 0 w 24"/>
                <a:gd name="T3" fmla="*/ 0 h 13"/>
                <a:gd name="T4" fmla="*/ 0 w 24"/>
                <a:gd name="T5" fmla="*/ 1 h 13"/>
                <a:gd name="T6" fmla="*/ 12 w 24"/>
                <a:gd name="T7" fmla="*/ 13 h 13"/>
                <a:gd name="T8" fmla="*/ 24 w 24"/>
                <a:gd name="T9" fmla="*/ 1 h 13"/>
                <a:gd name="T10" fmla="*/ 24 w 24"/>
                <a:gd name="T11" fmla="*/ 0 h 13"/>
                <a:gd name="T12" fmla="*/ 12 w 24"/>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24" h="13">
                  <a:moveTo>
                    <a:pt x="12" y="13"/>
                  </a:moveTo>
                  <a:cubicBezTo>
                    <a:pt x="5" y="13"/>
                    <a:pt x="0" y="7"/>
                    <a:pt x="0" y="0"/>
                  </a:cubicBezTo>
                  <a:cubicBezTo>
                    <a:pt x="0" y="1"/>
                    <a:pt x="0" y="1"/>
                    <a:pt x="0" y="1"/>
                  </a:cubicBezTo>
                  <a:cubicBezTo>
                    <a:pt x="0" y="8"/>
                    <a:pt x="5" y="13"/>
                    <a:pt x="12" y="13"/>
                  </a:cubicBezTo>
                  <a:cubicBezTo>
                    <a:pt x="19" y="13"/>
                    <a:pt x="24" y="8"/>
                    <a:pt x="24" y="1"/>
                  </a:cubicBezTo>
                  <a:cubicBezTo>
                    <a:pt x="24" y="0"/>
                    <a:pt x="24" y="0"/>
                    <a:pt x="24" y="0"/>
                  </a:cubicBezTo>
                  <a:cubicBezTo>
                    <a:pt x="24" y="7"/>
                    <a:pt x="19" y="13"/>
                    <a:pt x="12" y="13"/>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06" name="îṡľide"/>
            <p:cNvSpPr/>
            <p:nvPr/>
          </p:nvSpPr>
          <p:spPr bwMode="auto">
            <a:xfrm>
              <a:off x="6670676" y="1509713"/>
              <a:ext cx="1211263" cy="6350"/>
            </a:xfrm>
            <a:prstGeom prst="rect">
              <a:avLst/>
            </a:prstGeom>
            <a:solidFill>
              <a:srgbClr val="55E2E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07" name="ïṡ1ïḋe"/>
            <p:cNvSpPr/>
            <p:nvPr/>
          </p:nvSpPr>
          <p:spPr bwMode="auto">
            <a:xfrm>
              <a:off x="6670676" y="1509713"/>
              <a:ext cx="1211263" cy="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08" name="islíḍê"/>
            <p:cNvSpPr/>
            <p:nvPr/>
          </p:nvSpPr>
          <p:spPr bwMode="auto">
            <a:xfrm>
              <a:off x="6715126" y="1392238"/>
              <a:ext cx="57150" cy="57150"/>
            </a:xfrm>
            <a:prstGeom prst="ellipse">
              <a:avLst/>
            </a:pr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09" name="iśḷíḓe"/>
            <p:cNvSpPr/>
            <p:nvPr/>
          </p:nvSpPr>
          <p:spPr bwMode="auto">
            <a:xfrm>
              <a:off x="6802438" y="1392238"/>
              <a:ext cx="60325" cy="57150"/>
            </a:xfrm>
            <a:prstGeom prst="ellipse">
              <a:avLst/>
            </a:pr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10" name="ïSľïḋe"/>
            <p:cNvSpPr/>
            <p:nvPr/>
          </p:nvSpPr>
          <p:spPr bwMode="auto">
            <a:xfrm>
              <a:off x="6889751" y="1392238"/>
              <a:ext cx="60325" cy="57150"/>
            </a:xfrm>
            <a:prstGeom prst="ellipse">
              <a:avLst/>
            </a:pr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11" name="îṩḻide"/>
            <p:cNvSpPr/>
            <p:nvPr/>
          </p:nvSpPr>
          <p:spPr bwMode="auto">
            <a:xfrm>
              <a:off x="6715126" y="1539875"/>
              <a:ext cx="57150" cy="688975"/>
            </a:xfrm>
            <a:custGeom>
              <a:avLst/>
              <a:gdLst>
                <a:gd name="T0" fmla="*/ 9 w 19"/>
                <a:gd name="T1" fmla="*/ 0 h 229"/>
                <a:gd name="T2" fmla="*/ 0 w 19"/>
                <a:gd name="T3" fmla="*/ 10 h 229"/>
                <a:gd name="T4" fmla="*/ 0 w 19"/>
                <a:gd name="T5" fmla="*/ 229 h 229"/>
                <a:gd name="T6" fmla="*/ 19 w 19"/>
                <a:gd name="T7" fmla="*/ 229 h 229"/>
                <a:gd name="T8" fmla="*/ 19 w 19"/>
                <a:gd name="T9" fmla="*/ 10 h 229"/>
                <a:gd name="T10" fmla="*/ 9 w 19"/>
                <a:gd name="T11" fmla="*/ 0 h 229"/>
              </a:gdLst>
              <a:ahLst/>
              <a:cxnLst>
                <a:cxn ang="0">
                  <a:pos x="T0" y="T1"/>
                </a:cxn>
                <a:cxn ang="0">
                  <a:pos x="T2" y="T3"/>
                </a:cxn>
                <a:cxn ang="0">
                  <a:pos x="T4" y="T5"/>
                </a:cxn>
                <a:cxn ang="0">
                  <a:pos x="T6" y="T7"/>
                </a:cxn>
                <a:cxn ang="0">
                  <a:pos x="T8" y="T9"/>
                </a:cxn>
                <a:cxn ang="0">
                  <a:pos x="T10" y="T11"/>
                </a:cxn>
              </a:cxnLst>
              <a:rect l="0" t="0" r="r" b="b"/>
              <a:pathLst>
                <a:path w="19" h="229">
                  <a:moveTo>
                    <a:pt x="9" y="0"/>
                  </a:moveTo>
                  <a:cubicBezTo>
                    <a:pt x="4" y="0"/>
                    <a:pt x="0" y="5"/>
                    <a:pt x="0" y="10"/>
                  </a:cubicBezTo>
                  <a:cubicBezTo>
                    <a:pt x="0" y="229"/>
                    <a:pt x="0" y="229"/>
                    <a:pt x="0" y="229"/>
                  </a:cubicBezTo>
                  <a:cubicBezTo>
                    <a:pt x="19" y="229"/>
                    <a:pt x="19" y="229"/>
                    <a:pt x="19" y="229"/>
                  </a:cubicBezTo>
                  <a:cubicBezTo>
                    <a:pt x="19" y="10"/>
                    <a:pt x="19" y="10"/>
                    <a:pt x="19" y="10"/>
                  </a:cubicBezTo>
                  <a:cubicBezTo>
                    <a:pt x="19" y="5"/>
                    <a:pt x="15" y="0"/>
                    <a:pt x="9"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12" name="íślïḋé"/>
            <p:cNvSpPr/>
            <p:nvPr/>
          </p:nvSpPr>
          <p:spPr bwMode="auto">
            <a:xfrm>
              <a:off x="6715126" y="2232025"/>
              <a:ext cx="57150" cy="90488"/>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13" name="íṥliďe"/>
            <p:cNvSpPr/>
            <p:nvPr/>
          </p:nvSpPr>
          <p:spPr bwMode="auto">
            <a:xfrm>
              <a:off x="6715126" y="2232025"/>
              <a:ext cx="57150" cy="9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14" name="islíḓé"/>
            <p:cNvSpPr/>
            <p:nvPr/>
          </p:nvSpPr>
          <p:spPr bwMode="auto">
            <a:xfrm>
              <a:off x="6715126" y="2228850"/>
              <a:ext cx="57150" cy="3175"/>
            </a:xfrm>
            <a:prstGeom prst="rect">
              <a:avLst/>
            </a:prstGeom>
            <a:solidFill>
              <a:srgbClr val="3DBEE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15" name="ïṡḷíḋê"/>
            <p:cNvSpPr/>
            <p:nvPr/>
          </p:nvSpPr>
          <p:spPr bwMode="auto">
            <a:xfrm>
              <a:off x="6715126" y="2228850"/>
              <a:ext cx="57150" cy="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16" name="îṧlïḍê"/>
            <p:cNvSpPr/>
            <p:nvPr/>
          </p:nvSpPr>
          <p:spPr bwMode="auto">
            <a:xfrm>
              <a:off x="6715126" y="2740025"/>
              <a:ext cx="57150" cy="276225"/>
            </a:xfrm>
            <a:custGeom>
              <a:avLst/>
              <a:gdLst>
                <a:gd name="T0" fmla="*/ 18 w 19"/>
                <a:gd name="T1" fmla="*/ 86 h 92"/>
                <a:gd name="T2" fmla="*/ 1 w 19"/>
                <a:gd name="T3" fmla="*/ 86 h 92"/>
                <a:gd name="T4" fmla="*/ 9 w 19"/>
                <a:gd name="T5" fmla="*/ 92 h 92"/>
                <a:gd name="T6" fmla="*/ 18 w 19"/>
                <a:gd name="T7" fmla="*/ 86 h 92"/>
                <a:gd name="T8" fmla="*/ 19 w 19"/>
                <a:gd name="T9" fmla="*/ 53 h 92"/>
                <a:gd name="T10" fmla="*/ 0 w 19"/>
                <a:gd name="T11" fmla="*/ 53 h 92"/>
                <a:gd name="T12" fmla="*/ 0 w 19"/>
                <a:gd name="T13" fmla="*/ 78 h 92"/>
                <a:gd name="T14" fmla="*/ 19 w 19"/>
                <a:gd name="T15" fmla="*/ 78 h 92"/>
                <a:gd name="T16" fmla="*/ 19 w 19"/>
                <a:gd name="T17" fmla="*/ 53 h 92"/>
                <a:gd name="T18" fmla="*/ 19 w 19"/>
                <a:gd name="T19" fmla="*/ 20 h 92"/>
                <a:gd name="T20" fmla="*/ 0 w 19"/>
                <a:gd name="T21" fmla="*/ 20 h 92"/>
                <a:gd name="T22" fmla="*/ 0 w 19"/>
                <a:gd name="T23" fmla="*/ 45 h 92"/>
                <a:gd name="T24" fmla="*/ 19 w 19"/>
                <a:gd name="T25" fmla="*/ 45 h 92"/>
                <a:gd name="T26" fmla="*/ 19 w 19"/>
                <a:gd name="T27" fmla="*/ 20 h 92"/>
                <a:gd name="T28" fmla="*/ 19 w 19"/>
                <a:gd name="T29" fmla="*/ 0 h 92"/>
                <a:gd name="T30" fmla="*/ 7 w 19"/>
                <a:gd name="T31" fmla="*/ 12 h 92"/>
                <a:gd name="T32" fmla="*/ 19 w 19"/>
                <a:gd name="T33" fmla="*/ 12 h 92"/>
                <a:gd name="T34" fmla="*/ 19 w 19"/>
                <a:gd name="T35"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 h="92">
                  <a:moveTo>
                    <a:pt x="18" y="86"/>
                  </a:moveTo>
                  <a:cubicBezTo>
                    <a:pt x="1" y="86"/>
                    <a:pt x="1" y="86"/>
                    <a:pt x="1" y="86"/>
                  </a:cubicBezTo>
                  <a:cubicBezTo>
                    <a:pt x="2" y="90"/>
                    <a:pt x="5" y="92"/>
                    <a:pt x="9" y="92"/>
                  </a:cubicBezTo>
                  <a:cubicBezTo>
                    <a:pt x="13" y="92"/>
                    <a:pt x="17" y="90"/>
                    <a:pt x="18" y="86"/>
                  </a:cubicBezTo>
                  <a:moveTo>
                    <a:pt x="19" y="53"/>
                  </a:moveTo>
                  <a:cubicBezTo>
                    <a:pt x="0" y="53"/>
                    <a:pt x="0" y="53"/>
                    <a:pt x="0" y="53"/>
                  </a:cubicBezTo>
                  <a:cubicBezTo>
                    <a:pt x="0" y="78"/>
                    <a:pt x="0" y="78"/>
                    <a:pt x="0" y="78"/>
                  </a:cubicBezTo>
                  <a:cubicBezTo>
                    <a:pt x="19" y="78"/>
                    <a:pt x="19" y="78"/>
                    <a:pt x="19" y="78"/>
                  </a:cubicBezTo>
                  <a:cubicBezTo>
                    <a:pt x="19" y="53"/>
                    <a:pt x="19" y="53"/>
                    <a:pt x="19" y="53"/>
                  </a:cubicBezTo>
                  <a:moveTo>
                    <a:pt x="19" y="20"/>
                  </a:moveTo>
                  <a:cubicBezTo>
                    <a:pt x="0" y="20"/>
                    <a:pt x="0" y="20"/>
                    <a:pt x="0" y="20"/>
                  </a:cubicBezTo>
                  <a:cubicBezTo>
                    <a:pt x="0" y="45"/>
                    <a:pt x="0" y="45"/>
                    <a:pt x="0" y="45"/>
                  </a:cubicBezTo>
                  <a:cubicBezTo>
                    <a:pt x="19" y="45"/>
                    <a:pt x="19" y="45"/>
                    <a:pt x="19" y="45"/>
                  </a:cubicBezTo>
                  <a:cubicBezTo>
                    <a:pt x="19" y="20"/>
                    <a:pt x="19" y="20"/>
                    <a:pt x="19" y="20"/>
                  </a:cubicBezTo>
                  <a:moveTo>
                    <a:pt x="19" y="0"/>
                  </a:moveTo>
                  <a:cubicBezTo>
                    <a:pt x="7" y="12"/>
                    <a:pt x="7" y="12"/>
                    <a:pt x="7" y="12"/>
                  </a:cubicBezTo>
                  <a:cubicBezTo>
                    <a:pt x="19" y="12"/>
                    <a:pt x="19" y="12"/>
                    <a:pt x="19" y="12"/>
                  </a:cubicBezTo>
                  <a:cubicBezTo>
                    <a:pt x="19" y="0"/>
                    <a:pt x="19" y="0"/>
                    <a:pt x="19"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17" name="íş1iďe"/>
            <p:cNvSpPr/>
            <p:nvPr/>
          </p:nvSpPr>
          <p:spPr bwMode="auto">
            <a:xfrm>
              <a:off x="6715126" y="2776538"/>
              <a:ext cx="57150" cy="23813"/>
            </a:xfrm>
            <a:custGeom>
              <a:avLst/>
              <a:gdLst>
                <a:gd name="T0" fmla="*/ 36 w 36"/>
                <a:gd name="T1" fmla="*/ 0 h 15"/>
                <a:gd name="T2" fmla="*/ 13 w 36"/>
                <a:gd name="T3" fmla="*/ 0 h 15"/>
                <a:gd name="T4" fmla="*/ 0 w 36"/>
                <a:gd name="T5" fmla="*/ 15 h 15"/>
                <a:gd name="T6" fmla="*/ 0 w 36"/>
                <a:gd name="T7" fmla="*/ 15 h 15"/>
                <a:gd name="T8" fmla="*/ 36 w 36"/>
                <a:gd name="T9" fmla="*/ 15 h 15"/>
                <a:gd name="T10" fmla="*/ 36 w 36"/>
                <a:gd name="T11" fmla="*/ 0 h 15"/>
              </a:gdLst>
              <a:ahLst/>
              <a:cxnLst>
                <a:cxn ang="0">
                  <a:pos x="T0" y="T1"/>
                </a:cxn>
                <a:cxn ang="0">
                  <a:pos x="T2" y="T3"/>
                </a:cxn>
                <a:cxn ang="0">
                  <a:pos x="T4" y="T5"/>
                </a:cxn>
                <a:cxn ang="0">
                  <a:pos x="T6" y="T7"/>
                </a:cxn>
                <a:cxn ang="0">
                  <a:pos x="T8" y="T9"/>
                </a:cxn>
                <a:cxn ang="0">
                  <a:pos x="T10" y="T11"/>
                </a:cxn>
              </a:cxnLst>
              <a:rect l="0" t="0" r="r" b="b"/>
              <a:pathLst>
                <a:path w="36" h="15">
                  <a:moveTo>
                    <a:pt x="36" y="0"/>
                  </a:moveTo>
                  <a:lnTo>
                    <a:pt x="13" y="0"/>
                  </a:lnTo>
                  <a:lnTo>
                    <a:pt x="0" y="15"/>
                  </a:lnTo>
                  <a:lnTo>
                    <a:pt x="0" y="15"/>
                  </a:lnTo>
                  <a:lnTo>
                    <a:pt x="36" y="15"/>
                  </a:lnTo>
                  <a:lnTo>
                    <a:pt x="36" y="0"/>
                  </a:lnTo>
                  <a:close/>
                </a:path>
              </a:pathLst>
            </a:custGeom>
            <a:solidFill>
              <a:srgbClr val="9785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18" name="î$1íde"/>
            <p:cNvSpPr/>
            <p:nvPr/>
          </p:nvSpPr>
          <p:spPr bwMode="auto">
            <a:xfrm>
              <a:off x="6715126" y="2776538"/>
              <a:ext cx="57150" cy="23813"/>
            </a:xfrm>
            <a:custGeom>
              <a:avLst/>
              <a:gdLst>
                <a:gd name="T0" fmla="*/ 36 w 36"/>
                <a:gd name="T1" fmla="*/ 0 h 15"/>
                <a:gd name="T2" fmla="*/ 13 w 36"/>
                <a:gd name="T3" fmla="*/ 0 h 15"/>
                <a:gd name="T4" fmla="*/ 0 w 36"/>
                <a:gd name="T5" fmla="*/ 15 h 15"/>
                <a:gd name="T6" fmla="*/ 0 w 36"/>
                <a:gd name="T7" fmla="*/ 15 h 15"/>
                <a:gd name="T8" fmla="*/ 36 w 36"/>
                <a:gd name="T9" fmla="*/ 15 h 15"/>
                <a:gd name="T10" fmla="*/ 36 w 36"/>
                <a:gd name="T11" fmla="*/ 0 h 15"/>
              </a:gdLst>
              <a:ahLst/>
              <a:cxnLst>
                <a:cxn ang="0">
                  <a:pos x="T0" y="T1"/>
                </a:cxn>
                <a:cxn ang="0">
                  <a:pos x="T2" y="T3"/>
                </a:cxn>
                <a:cxn ang="0">
                  <a:pos x="T4" y="T5"/>
                </a:cxn>
                <a:cxn ang="0">
                  <a:pos x="T6" y="T7"/>
                </a:cxn>
                <a:cxn ang="0">
                  <a:pos x="T8" y="T9"/>
                </a:cxn>
                <a:cxn ang="0">
                  <a:pos x="T10" y="T11"/>
                </a:cxn>
              </a:cxnLst>
              <a:rect l="0" t="0" r="r" b="b"/>
              <a:pathLst>
                <a:path w="36" h="15">
                  <a:moveTo>
                    <a:pt x="36" y="0"/>
                  </a:moveTo>
                  <a:lnTo>
                    <a:pt x="13" y="0"/>
                  </a:lnTo>
                  <a:lnTo>
                    <a:pt x="0" y="15"/>
                  </a:lnTo>
                  <a:lnTo>
                    <a:pt x="0" y="15"/>
                  </a:lnTo>
                  <a:lnTo>
                    <a:pt x="36" y="15"/>
                  </a:lnTo>
                  <a:lnTo>
                    <a:pt x="3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19" name="îṧ1iḓe"/>
            <p:cNvSpPr/>
            <p:nvPr/>
          </p:nvSpPr>
          <p:spPr bwMode="auto">
            <a:xfrm>
              <a:off x="6715126" y="2874963"/>
              <a:ext cx="57150" cy="23813"/>
            </a:xfrm>
            <a:prstGeom prst="rect">
              <a:avLst/>
            </a:prstGeom>
            <a:solidFill>
              <a:srgbClr val="9785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20" name="ïsḷiḋé"/>
            <p:cNvSpPr/>
            <p:nvPr/>
          </p:nvSpPr>
          <p:spPr bwMode="auto">
            <a:xfrm>
              <a:off x="6715126" y="2874963"/>
              <a:ext cx="57150" cy="2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21" name="íş1ídè"/>
            <p:cNvSpPr/>
            <p:nvPr/>
          </p:nvSpPr>
          <p:spPr bwMode="auto">
            <a:xfrm>
              <a:off x="6715126" y="2974975"/>
              <a:ext cx="57150" cy="23813"/>
            </a:xfrm>
            <a:custGeom>
              <a:avLst/>
              <a:gdLst>
                <a:gd name="T0" fmla="*/ 19 w 19"/>
                <a:gd name="T1" fmla="*/ 0 h 8"/>
                <a:gd name="T2" fmla="*/ 0 w 19"/>
                <a:gd name="T3" fmla="*/ 0 h 8"/>
                <a:gd name="T4" fmla="*/ 0 w 19"/>
                <a:gd name="T5" fmla="*/ 4 h 8"/>
                <a:gd name="T6" fmla="*/ 1 w 19"/>
                <a:gd name="T7" fmla="*/ 8 h 8"/>
                <a:gd name="T8" fmla="*/ 18 w 19"/>
                <a:gd name="T9" fmla="*/ 8 h 8"/>
                <a:gd name="T10" fmla="*/ 19 w 19"/>
                <a:gd name="T11" fmla="*/ 4 h 8"/>
                <a:gd name="T12" fmla="*/ 19 w 19"/>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9" h="8">
                  <a:moveTo>
                    <a:pt x="19" y="0"/>
                  </a:moveTo>
                  <a:cubicBezTo>
                    <a:pt x="0" y="0"/>
                    <a:pt x="0" y="0"/>
                    <a:pt x="0" y="0"/>
                  </a:cubicBezTo>
                  <a:cubicBezTo>
                    <a:pt x="0" y="4"/>
                    <a:pt x="0" y="4"/>
                    <a:pt x="0" y="4"/>
                  </a:cubicBezTo>
                  <a:cubicBezTo>
                    <a:pt x="0" y="6"/>
                    <a:pt x="0" y="7"/>
                    <a:pt x="1" y="8"/>
                  </a:cubicBezTo>
                  <a:cubicBezTo>
                    <a:pt x="18" y="8"/>
                    <a:pt x="18" y="8"/>
                    <a:pt x="18" y="8"/>
                  </a:cubicBezTo>
                  <a:cubicBezTo>
                    <a:pt x="19" y="7"/>
                    <a:pt x="19" y="6"/>
                    <a:pt x="19" y="4"/>
                  </a:cubicBezTo>
                  <a:cubicBezTo>
                    <a:pt x="19" y="0"/>
                    <a:pt x="19" y="0"/>
                    <a:pt x="19" y="0"/>
                  </a:cubicBezTo>
                </a:path>
              </a:pathLst>
            </a:custGeom>
            <a:solidFill>
              <a:srgbClr val="9785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22" name="íṡlíḓe"/>
            <p:cNvSpPr/>
            <p:nvPr/>
          </p:nvSpPr>
          <p:spPr bwMode="auto">
            <a:xfrm>
              <a:off x="6715126" y="2322513"/>
              <a:ext cx="57150" cy="347663"/>
            </a:xfrm>
            <a:prstGeom prst="rect">
              <a:avLst/>
            </a:prstGeom>
            <a:solidFill>
              <a:srgbClr val="29819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23" name="is1iḓé"/>
            <p:cNvSpPr/>
            <p:nvPr/>
          </p:nvSpPr>
          <p:spPr bwMode="auto">
            <a:xfrm>
              <a:off x="6715126" y="2322513"/>
              <a:ext cx="571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24" name="îŝľîḓé"/>
            <p:cNvSpPr/>
            <p:nvPr/>
          </p:nvSpPr>
          <p:spPr bwMode="auto">
            <a:xfrm>
              <a:off x="6715126" y="2695575"/>
              <a:ext cx="57150" cy="80963"/>
            </a:xfrm>
            <a:custGeom>
              <a:avLst/>
              <a:gdLst>
                <a:gd name="T0" fmla="*/ 36 w 36"/>
                <a:gd name="T1" fmla="*/ 0 h 51"/>
                <a:gd name="T2" fmla="*/ 0 w 36"/>
                <a:gd name="T3" fmla="*/ 0 h 51"/>
                <a:gd name="T4" fmla="*/ 0 w 36"/>
                <a:gd name="T5" fmla="*/ 51 h 51"/>
                <a:gd name="T6" fmla="*/ 13 w 36"/>
                <a:gd name="T7" fmla="*/ 51 h 51"/>
                <a:gd name="T8" fmla="*/ 36 w 36"/>
                <a:gd name="T9" fmla="*/ 28 h 51"/>
                <a:gd name="T10" fmla="*/ 36 w 36"/>
                <a:gd name="T11" fmla="*/ 0 h 51"/>
              </a:gdLst>
              <a:ahLst/>
              <a:cxnLst>
                <a:cxn ang="0">
                  <a:pos x="T0" y="T1"/>
                </a:cxn>
                <a:cxn ang="0">
                  <a:pos x="T2" y="T3"/>
                </a:cxn>
                <a:cxn ang="0">
                  <a:pos x="T4" y="T5"/>
                </a:cxn>
                <a:cxn ang="0">
                  <a:pos x="T6" y="T7"/>
                </a:cxn>
                <a:cxn ang="0">
                  <a:pos x="T8" y="T9"/>
                </a:cxn>
                <a:cxn ang="0">
                  <a:pos x="T10" y="T11"/>
                </a:cxn>
              </a:cxnLst>
              <a:rect l="0" t="0" r="r" b="b"/>
              <a:pathLst>
                <a:path w="36" h="51">
                  <a:moveTo>
                    <a:pt x="36" y="0"/>
                  </a:moveTo>
                  <a:lnTo>
                    <a:pt x="0" y="0"/>
                  </a:lnTo>
                  <a:lnTo>
                    <a:pt x="0" y="51"/>
                  </a:lnTo>
                  <a:lnTo>
                    <a:pt x="13" y="51"/>
                  </a:lnTo>
                  <a:lnTo>
                    <a:pt x="36" y="28"/>
                  </a:lnTo>
                  <a:lnTo>
                    <a:pt x="36" y="0"/>
                  </a:lnTo>
                  <a:close/>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25" name="ïṩ1ide"/>
            <p:cNvSpPr/>
            <p:nvPr/>
          </p:nvSpPr>
          <p:spPr bwMode="auto">
            <a:xfrm>
              <a:off x="6715126" y="2695575"/>
              <a:ext cx="57150" cy="80963"/>
            </a:xfrm>
            <a:custGeom>
              <a:avLst/>
              <a:gdLst>
                <a:gd name="T0" fmla="*/ 36 w 36"/>
                <a:gd name="T1" fmla="*/ 0 h 51"/>
                <a:gd name="T2" fmla="*/ 0 w 36"/>
                <a:gd name="T3" fmla="*/ 0 h 51"/>
                <a:gd name="T4" fmla="*/ 0 w 36"/>
                <a:gd name="T5" fmla="*/ 51 h 51"/>
                <a:gd name="T6" fmla="*/ 13 w 36"/>
                <a:gd name="T7" fmla="*/ 51 h 51"/>
                <a:gd name="T8" fmla="*/ 36 w 36"/>
                <a:gd name="T9" fmla="*/ 28 h 51"/>
                <a:gd name="T10" fmla="*/ 36 w 36"/>
                <a:gd name="T11" fmla="*/ 0 h 51"/>
              </a:gdLst>
              <a:ahLst/>
              <a:cxnLst>
                <a:cxn ang="0">
                  <a:pos x="T0" y="T1"/>
                </a:cxn>
                <a:cxn ang="0">
                  <a:pos x="T2" y="T3"/>
                </a:cxn>
                <a:cxn ang="0">
                  <a:pos x="T4" y="T5"/>
                </a:cxn>
                <a:cxn ang="0">
                  <a:pos x="T6" y="T7"/>
                </a:cxn>
                <a:cxn ang="0">
                  <a:pos x="T8" y="T9"/>
                </a:cxn>
                <a:cxn ang="0">
                  <a:pos x="T10" y="T11"/>
                </a:cxn>
              </a:cxnLst>
              <a:rect l="0" t="0" r="r" b="b"/>
              <a:pathLst>
                <a:path w="36" h="51">
                  <a:moveTo>
                    <a:pt x="36" y="0"/>
                  </a:moveTo>
                  <a:lnTo>
                    <a:pt x="0" y="0"/>
                  </a:lnTo>
                  <a:lnTo>
                    <a:pt x="0" y="51"/>
                  </a:lnTo>
                  <a:lnTo>
                    <a:pt x="13" y="51"/>
                  </a:lnTo>
                  <a:lnTo>
                    <a:pt x="36" y="28"/>
                  </a:lnTo>
                  <a:lnTo>
                    <a:pt x="3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26" name="i$ļíḑe"/>
            <p:cNvSpPr/>
            <p:nvPr/>
          </p:nvSpPr>
          <p:spPr bwMode="auto">
            <a:xfrm>
              <a:off x="6715126" y="2670175"/>
              <a:ext cx="57150" cy="25400"/>
            </a:xfrm>
            <a:prstGeom prst="rect">
              <a:avLst/>
            </a:prstGeom>
            <a:solidFill>
              <a:srgbClr val="88A09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27" name="iṡ1îďé"/>
            <p:cNvSpPr/>
            <p:nvPr/>
          </p:nvSpPr>
          <p:spPr bwMode="auto">
            <a:xfrm>
              <a:off x="6715126" y="2670175"/>
              <a:ext cx="57150" cy="2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28" name="ï$1idé"/>
            <p:cNvSpPr/>
            <p:nvPr/>
          </p:nvSpPr>
          <p:spPr bwMode="auto">
            <a:xfrm>
              <a:off x="6715126" y="2776538"/>
              <a:ext cx="20638" cy="23813"/>
            </a:xfrm>
            <a:custGeom>
              <a:avLst/>
              <a:gdLst>
                <a:gd name="T0" fmla="*/ 13 w 13"/>
                <a:gd name="T1" fmla="*/ 0 h 15"/>
                <a:gd name="T2" fmla="*/ 0 w 13"/>
                <a:gd name="T3" fmla="*/ 0 h 15"/>
                <a:gd name="T4" fmla="*/ 0 w 13"/>
                <a:gd name="T5" fmla="*/ 15 h 15"/>
                <a:gd name="T6" fmla="*/ 13 w 13"/>
                <a:gd name="T7" fmla="*/ 0 h 15"/>
              </a:gdLst>
              <a:ahLst/>
              <a:cxnLst>
                <a:cxn ang="0">
                  <a:pos x="T0" y="T1"/>
                </a:cxn>
                <a:cxn ang="0">
                  <a:pos x="T2" y="T3"/>
                </a:cxn>
                <a:cxn ang="0">
                  <a:pos x="T4" y="T5"/>
                </a:cxn>
                <a:cxn ang="0">
                  <a:pos x="T6" y="T7"/>
                </a:cxn>
              </a:cxnLst>
              <a:rect l="0" t="0" r="r" b="b"/>
              <a:pathLst>
                <a:path w="13" h="15">
                  <a:moveTo>
                    <a:pt x="13" y="0"/>
                  </a:moveTo>
                  <a:lnTo>
                    <a:pt x="0" y="0"/>
                  </a:lnTo>
                  <a:lnTo>
                    <a:pt x="0" y="15"/>
                  </a:lnTo>
                  <a:lnTo>
                    <a:pt x="13" y="0"/>
                  </a:lnTo>
                  <a:close/>
                </a:path>
              </a:pathLst>
            </a:custGeom>
            <a:solidFill>
              <a:srgbClr val="888F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29" name="ïṣliḑé"/>
            <p:cNvSpPr/>
            <p:nvPr/>
          </p:nvSpPr>
          <p:spPr bwMode="auto">
            <a:xfrm>
              <a:off x="6715126" y="2776538"/>
              <a:ext cx="20638" cy="23813"/>
            </a:xfrm>
            <a:custGeom>
              <a:avLst/>
              <a:gdLst>
                <a:gd name="T0" fmla="*/ 13 w 13"/>
                <a:gd name="T1" fmla="*/ 0 h 15"/>
                <a:gd name="T2" fmla="*/ 0 w 13"/>
                <a:gd name="T3" fmla="*/ 0 h 15"/>
                <a:gd name="T4" fmla="*/ 0 w 13"/>
                <a:gd name="T5" fmla="*/ 15 h 15"/>
                <a:gd name="T6" fmla="*/ 13 w 13"/>
                <a:gd name="T7" fmla="*/ 0 h 15"/>
              </a:gdLst>
              <a:ahLst/>
              <a:cxnLst>
                <a:cxn ang="0">
                  <a:pos x="T0" y="T1"/>
                </a:cxn>
                <a:cxn ang="0">
                  <a:pos x="T2" y="T3"/>
                </a:cxn>
                <a:cxn ang="0">
                  <a:pos x="T4" y="T5"/>
                </a:cxn>
                <a:cxn ang="0">
                  <a:pos x="T6" y="T7"/>
                </a:cxn>
              </a:cxnLst>
              <a:rect l="0" t="0" r="r" b="b"/>
              <a:pathLst>
                <a:path w="13" h="15">
                  <a:moveTo>
                    <a:pt x="13" y="0"/>
                  </a:moveTo>
                  <a:lnTo>
                    <a:pt x="0" y="0"/>
                  </a:lnTo>
                  <a:lnTo>
                    <a:pt x="0" y="15"/>
                  </a:lnTo>
                  <a:lnTo>
                    <a:pt x="1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30" name="íşlîḍé"/>
            <p:cNvSpPr/>
            <p:nvPr/>
          </p:nvSpPr>
          <p:spPr bwMode="auto">
            <a:xfrm>
              <a:off x="6731001" y="1566863"/>
              <a:ext cx="23813" cy="214313"/>
            </a:xfrm>
            <a:custGeom>
              <a:avLst/>
              <a:gdLst>
                <a:gd name="T0" fmla="*/ 4 w 8"/>
                <a:gd name="T1" fmla="*/ 71 h 71"/>
                <a:gd name="T2" fmla="*/ 4 w 8"/>
                <a:gd name="T3" fmla="*/ 71 h 71"/>
                <a:gd name="T4" fmla="*/ 0 w 8"/>
                <a:gd name="T5" fmla="*/ 67 h 71"/>
                <a:gd name="T6" fmla="*/ 0 w 8"/>
                <a:gd name="T7" fmla="*/ 4 h 71"/>
                <a:gd name="T8" fmla="*/ 4 w 8"/>
                <a:gd name="T9" fmla="*/ 0 h 71"/>
                <a:gd name="T10" fmla="*/ 8 w 8"/>
                <a:gd name="T11" fmla="*/ 4 h 71"/>
                <a:gd name="T12" fmla="*/ 8 w 8"/>
                <a:gd name="T13" fmla="*/ 67 h 71"/>
                <a:gd name="T14" fmla="*/ 4 w 8"/>
                <a:gd name="T15" fmla="*/ 71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71">
                  <a:moveTo>
                    <a:pt x="4" y="71"/>
                  </a:moveTo>
                  <a:cubicBezTo>
                    <a:pt x="4" y="71"/>
                    <a:pt x="4" y="71"/>
                    <a:pt x="4" y="71"/>
                  </a:cubicBezTo>
                  <a:cubicBezTo>
                    <a:pt x="2" y="71"/>
                    <a:pt x="0" y="69"/>
                    <a:pt x="0" y="67"/>
                  </a:cubicBezTo>
                  <a:cubicBezTo>
                    <a:pt x="0" y="4"/>
                    <a:pt x="0" y="4"/>
                    <a:pt x="0" y="4"/>
                  </a:cubicBezTo>
                  <a:cubicBezTo>
                    <a:pt x="0" y="1"/>
                    <a:pt x="2" y="0"/>
                    <a:pt x="4" y="0"/>
                  </a:cubicBezTo>
                  <a:cubicBezTo>
                    <a:pt x="6" y="0"/>
                    <a:pt x="8" y="1"/>
                    <a:pt x="8" y="4"/>
                  </a:cubicBezTo>
                  <a:cubicBezTo>
                    <a:pt x="8" y="67"/>
                    <a:pt x="8" y="67"/>
                    <a:pt x="8" y="67"/>
                  </a:cubicBezTo>
                  <a:cubicBezTo>
                    <a:pt x="8" y="69"/>
                    <a:pt x="6" y="71"/>
                    <a:pt x="4" y="71"/>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31" name="í$lïḍé"/>
            <p:cNvSpPr/>
            <p:nvPr/>
          </p:nvSpPr>
          <p:spPr bwMode="auto">
            <a:xfrm>
              <a:off x="6862763" y="1609725"/>
              <a:ext cx="415925" cy="11113"/>
            </a:xfrm>
            <a:custGeom>
              <a:avLst/>
              <a:gdLst>
                <a:gd name="T0" fmla="*/ 2 w 138"/>
                <a:gd name="T1" fmla="*/ 4 h 4"/>
                <a:gd name="T2" fmla="*/ 136 w 138"/>
                <a:gd name="T3" fmla="*/ 4 h 4"/>
                <a:gd name="T4" fmla="*/ 138 w 138"/>
                <a:gd name="T5" fmla="*/ 2 h 4"/>
                <a:gd name="T6" fmla="*/ 136 w 138"/>
                <a:gd name="T7" fmla="*/ 0 h 4"/>
                <a:gd name="T8" fmla="*/ 2 w 138"/>
                <a:gd name="T9" fmla="*/ 0 h 4"/>
                <a:gd name="T10" fmla="*/ 0 w 138"/>
                <a:gd name="T11" fmla="*/ 2 h 4"/>
                <a:gd name="T12" fmla="*/ 2 w 13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38" h="4">
                  <a:moveTo>
                    <a:pt x="2" y="4"/>
                  </a:moveTo>
                  <a:cubicBezTo>
                    <a:pt x="136" y="4"/>
                    <a:pt x="136" y="4"/>
                    <a:pt x="136" y="4"/>
                  </a:cubicBezTo>
                  <a:cubicBezTo>
                    <a:pt x="137" y="4"/>
                    <a:pt x="138" y="3"/>
                    <a:pt x="138" y="2"/>
                  </a:cubicBezTo>
                  <a:cubicBezTo>
                    <a:pt x="138" y="1"/>
                    <a:pt x="137" y="0"/>
                    <a:pt x="13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32" name="íṧļidè"/>
            <p:cNvSpPr/>
            <p:nvPr/>
          </p:nvSpPr>
          <p:spPr bwMode="auto">
            <a:xfrm>
              <a:off x="7305676" y="1609725"/>
              <a:ext cx="76200" cy="11113"/>
            </a:xfrm>
            <a:custGeom>
              <a:avLst/>
              <a:gdLst>
                <a:gd name="T0" fmla="*/ 2 w 25"/>
                <a:gd name="T1" fmla="*/ 4 h 4"/>
                <a:gd name="T2" fmla="*/ 23 w 25"/>
                <a:gd name="T3" fmla="*/ 4 h 4"/>
                <a:gd name="T4" fmla="*/ 25 w 25"/>
                <a:gd name="T5" fmla="*/ 2 h 4"/>
                <a:gd name="T6" fmla="*/ 23 w 25"/>
                <a:gd name="T7" fmla="*/ 0 h 4"/>
                <a:gd name="T8" fmla="*/ 2 w 25"/>
                <a:gd name="T9" fmla="*/ 0 h 4"/>
                <a:gd name="T10" fmla="*/ 0 w 25"/>
                <a:gd name="T11" fmla="*/ 2 h 4"/>
                <a:gd name="T12" fmla="*/ 2 w 2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5" h="4">
                  <a:moveTo>
                    <a:pt x="2" y="4"/>
                  </a:moveTo>
                  <a:cubicBezTo>
                    <a:pt x="23" y="4"/>
                    <a:pt x="23" y="4"/>
                    <a:pt x="23" y="4"/>
                  </a:cubicBezTo>
                  <a:cubicBezTo>
                    <a:pt x="25" y="4"/>
                    <a:pt x="25" y="3"/>
                    <a:pt x="25" y="2"/>
                  </a:cubicBezTo>
                  <a:cubicBezTo>
                    <a:pt x="25" y="1"/>
                    <a:pt x="25" y="0"/>
                    <a:pt x="2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33" name="íṧḷîḑè"/>
            <p:cNvSpPr/>
            <p:nvPr/>
          </p:nvSpPr>
          <p:spPr bwMode="auto">
            <a:xfrm>
              <a:off x="7442201" y="1609725"/>
              <a:ext cx="298450" cy="11113"/>
            </a:xfrm>
            <a:custGeom>
              <a:avLst/>
              <a:gdLst>
                <a:gd name="T0" fmla="*/ 2 w 99"/>
                <a:gd name="T1" fmla="*/ 4 h 4"/>
                <a:gd name="T2" fmla="*/ 97 w 99"/>
                <a:gd name="T3" fmla="*/ 4 h 4"/>
                <a:gd name="T4" fmla="*/ 99 w 99"/>
                <a:gd name="T5" fmla="*/ 2 h 4"/>
                <a:gd name="T6" fmla="*/ 97 w 99"/>
                <a:gd name="T7" fmla="*/ 0 h 4"/>
                <a:gd name="T8" fmla="*/ 2 w 99"/>
                <a:gd name="T9" fmla="*/ 0 h 4"/>
                <a:gd name="T10" fmla="*/ 0 w 99"/>
                <a:gd name="T11" fmla="*/ 2 h 4"/>
                <a:gd name="T12" fmla="*/ 2 w 9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99" h="4">
                  <a:moveTo>
                    <a:pt x="2" y="4"/>
                  </a:moveTo>
                  <a:cubicBezTo>
                    <a:pt x="97" y="4"/>
                    <a:pt x="97" y="4"/>
                    <a:pt x="97" y="4"/>
                  </a:cubicBezTo>
                  <a:cubicBezTo>
                    <a:pt x="99" y="4"/>
                    <a:pt x="99" y="3"/>
                    <a:pt x="99" y="2"/>
                  </a:cubicBezTo>
                  <a:cubicBezTo>
                    <a:pt x="99" y="1"/>
                    <a:pt x="99" y="0"/>
                    <a:pt x="97"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34" name="íŝlídé"/>
            <p:cNvSpPr/>
            <p:nvPr/>
          </p:nvSpPr>
          <p:spPr bwMode="auto">
            <a:xfrm>
              <a:off x="6862763" y="1651000"/>
              <a:ext cx="500063" cy="12700"/>
            </a:xfrm>
            <a:custGeom>
              <a:avLst/>
              <a:gdLst>
                <a:gd name="T0" fmla="*/ 2 w 166"/>
                <a:gd name="T1" fmla="*/ 4 h 4"/>
                <a:gd name="T2" fmla="*/ 164 w 166"/>
                <a:gd name="T3" fmla="*/ 4 h 4"/>
                <a:gd name="T4" fmla="*/ 166 w 166"/>
                <a:gd name="T5" fmla="*/ 2 h 4"/>
                <a:gd name="T6" fmla="*/ 164 w 166"/>
                <a:gd name="T7" fmla="*/ 0 h 4"/>
                <a:gd name="T8" fmla="*/ 2 w 166"/>
                <a:gd name="T9" fmla="*/ 0 h 4"/>
                <a:gd name="T10" fmla="*/ 0 w 166"/>
                <a:gd name="T11" fmla="*/ 2 h 4"/>
                <a:gd name="T12" fmla="*/ 2 w 16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66" h="4">
                  <a:moveTo>
                    <a:pt x="2" y="4"/>
                  </a:moveTo>
                  <a:cubicBezTo>
                    <a:pt x="164" y="4"/>
                    <a:pt x="164" y="4"/>
                    <a:pt x="164" y="4"/>
                  </a:cubicBezTo>
                  <a:cubicBezTo>
                    <a:pt x="165" y="4"/>
                    <a:pt x="166" y="3"/>
                    <a:pt x="166" y="2"/>
                  </a:cubicBezTo>
                  <a:cubicBezTo>
                    <a:pt x="166" y="1"/>
                    <a:pt x="165" y="0"/>
                    <a:pt x="16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35" name="ïšļiďé"/>
            <p:cNvSpPr/>
            <p:nvPr/>
          </p:nvSpPr>
          <p:spPr bwMode="auto">
            <a:xfrm>
              <a:off x="7399338" y="1641475"/>
              <a:ext cx="211138" cy="12700"/>
            </a:xfrm>
            <a:custGeom>
              <a:avLst/>
              <a:gdLst>
                <a:gd name="T0" fmla="*/ 2 w 70"/>
                <a:gd name="T1" fmla="*/ 4 h 4"/>
                <a:gd name="T2" fmla="*/ 68 w 70"/>
                <a:gd name="T3" fmla="*/ 4 h 4"/>
                <a:gd name="T4" fmla="*/ 70 w 70"/>
                <a:gd name="T5" fmla="*/ 2 h 4"/>
                <a:gd name="T6" fmla="*/ 68 w 70"/>
                <a:gd name="T7" fmla="*/ 0 h 4"/>
                <a:gd name="T8" fmla="*/ 2 w 70"/>
                <a:gd name="T9" fmla="*/ 0 h 4"/>
                <a:gd name="T10" fmla="*/ 0 w 70"/>
                <a:gd name="T11" fmla="*/ 2 h 4"/>
                <a:gd name="T12" fmla="*/ 2 w 70"/>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70" h="4">
                  <a:moveTo>
                    <a:pt x="2" y="4"/>
                  </a:moveTo>
                  <a:cubicBezTo>
                    <a:pt x="68" y="4"/>
                    <a:pt x="68" y="4"/>
                    <a:pt x="68" y="4"/>
                  </a:cubicBezTo>
                  <a:cubicBezTo>
                    <a:pt x="69" y="4"/>
                    <a:pt x="70" y="3"/>
                    <a:pt x="70" y="2"/>
                  </a:cubicBezTo>
                  <a:cubicBezTo>
                    <a:pt x="70" y="1"/>
                    <a:pt x="69" y="0"/>
                    <a:pt x="68"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36" name="ïṥḻíḍê"/>
            <p:cNvSpPr/>
            <p:nvPr/>
          </p:nvSpPr>
          <p:spPr bwMode="auto">
            <a:xfrm>
              <a:off x="7634288" y="1641475"/>
              <a:ext cx="111125" cy="12700"/>
            </a:xfrm>
            <a:custGeom>
              <a:avLst/>
              <a:gdLst>
                <a:gd name="T0" fmla="*/ 2 w 37"/>
                <a:gd name="T1" fmla="*/ 4 h 4"/>
                <a:gd name="T2" fmla="*/ 35 w 37"/>
                <a:gd name="T3" fmla="*/ 4 h 4"/>
                <a:gd name="T4" fmla="*/ 37 w 37"/>
                <a:gd name="T5" fmla="*/ 2 h 4"/>
                <a:gd name="T6" fmla="*/ 35 w 37"/>
                <a:gd name="T7" fmla="*/ 0 h 4"/>
                <a:gd name="T8" fmla="*/ 2 w 37"/>
                <a:gd name="T9" fmla="*/ 0 h 4"/>
                <a:gd name="T10" fmla="*/ 0 w 37"/>
                <a:gd name="T11" fmla="*/ 2 h 4"/>
                <a:gd name="T12" fmla="*/ 2 w 37"/>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7" h="4">
                  <a:moveTo>
                    <a:pt x="2" y="4"/>
                  </a:moveTo>
                  <a:cubicBezTo>
                    <a:pt x="35" y="4"/>
                    <a:pt x="35" y="4"/>
                    <a:pt x="35" y="4"/>
                  </a:cubicBezTo>
                  <a:cubicBezTo>
                    <a:pt x="37" y="4"/>
                    <a:pt x="37" y="3"/>
                    <a:pt x="37" y="2"/>
                  </a:cubicBezTo>
                  <a:cubicBezTo>
                    <a:pt x="37" y="1"/>
                    <a:pt x="37" y="0"/>
                    <a:pt x="35"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37" name="íşḷîḓè"/>
            <p:cNvSpPr/>
            <p:nvPr/>
          </p:nvSpPr>
          <p:spPr bwMode="auto">
            <a:xfrm>
              <a:off x="6883401" y="1701800"/>
              <a:ext cx="588963" cy="12700"/>
            </a:xfrm>
            <a:custGeom>
              <a:avLst/>
              <a:gdLst>
                <a:gd name="T0" fmla="*/ 2 w 195"/>
                <a:gd name="T1" fmla="*/ 4 h 4"/>
                <a:gd name="T2" fmla="*/ 193 w 195"/>
                <a:gd name="T3" fmla="*/ 4 h 4"/>
                <a:gd name="T4" fmla="*/ 195 w 195"/>
                <a:gd name="T5" fmla="*/ 2 h 4"/>
                <a:gd name="T6" fmla="*/ 193 w 195"/>
                <a:gd name="T7" fmla="*/ 0 h 4"/>
                <a:gd name="T8" fmla="*/ 2 w 195"/>
                <a:gd name="T9" fmla="*/ 0 h 4"/>
                <a:gd name="T10" fmla="*/ 0 w 195"/>
                <a:gd name="T11" fmla="*/ 2 h 4"/>
                <a:gd name="T12" fmla="*/ 2 w 19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5" h="4">
                  <a:moveTo>
                    <a:pt x="2" y="4"/>
                  </a:moveTo>
                  <a:cubicBezTo>
                    <a:pt x="193" y="4"/>
                    <a:pt x="193" y="4"/>
                    <a:pt x="193" y="4"/>
                  </a:cubicBezTo>
                  <a:cubicBezTo>
                    <a:pt x="195" y="4"/>
                    <a:pt x="195" y="3"/>
                    <a:pt x="195" y="2"/>
                  </a:cubicBezTo>
                  <a:cubicBezTo>
                    <a:pt x="195" y="1"/>
                    <a:pt x="195" y="0"/>
                    <a:pt x="19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38" name="išļïḓê"/>
            <p:cNvSpPr/>
            <p:nvPr/>
          </p:nvSpPr>
          <p:spPr bwMode="auto">
            <a:xfrm>
              <a:off x="7529513" y="1701800"/>
              <a:ext cx="168275" cy="12700"/>
            </a:xfrm>
            <a:custGeom>
              <a:avLst/>
              <a:gdLst>
                <a:gd name="T0" fmla="*/ 2 w 56"/>
                <a:gd name="T1" fmla="*/ 4 h 4"/>
                <a:gd name="T2" fmla="*/ 54 w 56"/>
                <a:gd name="T3" fmla="*/ 4 h 4"/>
                <a:gd name="T4" fmla="*/ 56 w 56"/>
                <a:gd name="T5" fmla="*/ 2 h 4"/>
                <a:gd name="T6" fmla="*/ 54 w 56"/>
                <a:gd name="T7" fmla="*/ 0 h 4"/>
                <a:gd name="T8" fmla="*/ 2 w 56"/>
                <a:gd name="T9" fmla="*/ 0 h 4"/>
                <a:gd name="T10" fmla="*/ 0 w 56"/>
                <a:gd name="T11" fmla="*/ 2 h 4"/>
                <a:gd name="T12" fmla="*/ 2 w 5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56" h="4">
                  <a:moveTo>
                    <a:pt x="2" y="4"/>
                  </a:moveTo>
                  <a:cubicBezTo>
                    <a:pt x="54" y="4"/>
                    <a:pt x="54" y="4"/>
                    <a:pt x="54" y="4"/>
                  </a:cubicBezTo>
                  <a:cubicBezTo>
                    <a:pt x="55" y="4"/>
                    <a:pt x="56" y="3"/>
                    <a:pt x="56" y="2"/>
                  </a:cubicBezTo>
                  <a:cubicBezTo>
                    <a:pt x="56" y="1"/>
                    <a:pt x="55" y="0"/>
                    <a:pt x="5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39" name="ïṣľïdé"/>
            <p:cNvSpPr/>
            <p:nvPr/>
          </p:nvSpPr>
          <p:spPr bwMode="auto">
            <a:xfrm>
              <a:off x="7288213" y="1747838"/>
              <a:ext cx="457200" cy="11113"/>
            </a:xfrm>
            <a:custGeom>
              <a:avLst/>
              <a:gdLst>
                <a:gd name="T0" fmla="*/ 150 w 152"/>
                <a:gd name="T1" fmla="*/ 0 h 4"/>
                <a:gd name="T2" fmla="*/ 2 w 152"/>
                <a:gd name="T3" fmla="*/ 0 h 4"/>
                <a:gd name="T4" fmla="*/ 0 w 152"/>
                <a:gd name="T5" fmla="*/ 2 h 4"/>
                <a:gd name="T6" fmla="*/ 2 w 152"/>
                <a:gd name="T7" fmla="*/ 4 h 4"/>
                <a:gd name="T8" fmla="*/ 150 w 152"/>
                <a:gd name="T9" fmla="*/ 4 h 4"/>
                <a:gd name="T10" fmla="*/ 152 w 152"/>
                <a:gd name="T11" fmla="*/ 2 h 4"/>
                <a:gd name="T12" fmla="*/ 150 w 152"/>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52" h="4">
                  <a:moveTo>
                    <a:pt x="150" y="0"/>
                  </a:moveTo>
                  <a:cubicBezTo>
                    <a:pt x="2" y="0"/>
                    <a:pt x="2" y="0"/>
                    <a:pt x="2" y="0"/>
                  </a:cubicBezTo>
                  <a:cubicBezTo>
                    <a:pt x="1" y="0"/>
                    <a:pt x="0" y="1"/>
                    <a:pt x="0" y="2"/>
                  </a:cubicBezTo>
                  <a:cubicBezTo>
                    <a:pt x="0" y="3"/>
                    <a:pt x="1" y="4"/>
                    <a:pt x="2" y="4"/>
                  </a:cubicBezTo>
                  <a:cubicBezTo>
                    <a:pt x="150" y="4"/>
                    <a:pt x="150" y="4"/>
                    <a:pt x="150" y="4"/>
                  </a:cubicBezTo>
                  <a:cubicBezTo>
                    <a:pt x="152" y="4"/>
                    <a:pt x="152" y="3"/>
                    <a:pt x="152" y="2"/>
                  </a:cubicBezTo>
                  <a:cubicBezTo>
                    <a:pt x="152" y="1"/>
                    <a:pt x="152" y="0"/>
                    <a:pt x="150"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40" name="íš1îďé"/>
            <p:cNvSpPr/>
            <p:nvPr/>
          </p:nvSpPr>
          <p:spPr bwMode="auto">
            <a:xfrm>
              <a:off x="6862763" y="1811338"/>
              <a:ext cx="630238" cy="11113"/>
            </a:xfrm>
            <a:custGeom>
              <a:avLst/>
              <a:gdLst>
                <a:gd name="T0" fmla="*/ 207 w 209"/>
                <a:gd name="T1" fmla="*/ 0 h 4"/>
                <a:gd name="T2" fmla="*/ 2 w 209"/>
                <a:gd name="T3" fmla="*/ 0 h 4"/>
                <a:gd name="T4" fmla="*/ 0 w 209"/>
                <a:gd name="T5" fmla="*/ 2 h 4"/>
                <a:gd name="T6" fmla="*/ 2 w 209"/>
                <a:gd name="T7" fmla="*/ 4 h 4"/>
                <a:gd name="T8" fmla="*/ 207 w 209"/>
                <a:gd name="T9" fmla="*/ 4 h 4"/>
                <a:gd name="T10" fmla="*/ 209 w 209"/>
                <a:gd name="T11" fmla="*/ 2 h 4"/>
                <a:gd name="T12" fmla="*/ 207 w 209"/>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09" h="4">
                  <a:moveTo>
                    <a:pt x="207" y="0"/>
                  </a:moveTo>
                  <a:cubicBezTo>
                    <a:pt x="2" y="0"/>
                    <a:pt x="2" y="0"/>
                    <a:pt x="2" y="0"/>
                  </a:cubicBezTo>
                  <a:cubicBezTo>
                    <a:pt x="1" y="0"/>
                    <a:pt x="0" y="1"/>
                    <a:pt x="0" y="2"/>
                  </a:cubicBezTo>
                  <a:cubicBezTo>
                    <a:pt x="0" y="3"/>
                    <a:pt x="1" y="4"/>
                    <a:pt x="2" y="4"/>
                  </a:cubicBezTo>
                  <a:cubicBezTo>
                    <a:pt x="207" y="4"/>
                    <a:pt x="207" y="4"/>
                    <a:pt x="207" y="4"/>
                  </a:cubicBezTo>
                  <a:cubicBezTo>
                    <a:pt x="208" y="4"/>
                    <a:pt x="209" y="3"/>
                    <a:pt x="209" y="2"/>
                  </a:cubicBezTo>
                  <a:cubicBezTo>
                    <a:pt x="209" y="1"/>
                    <a:pt x="208" y="0"/>
                    <a:pt x="207"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41" name="ïṡḷïḍè"/>
            <p:cNvSpPr/>
            <p:nvPr/>
          </p:nvSpPr>
          <p:spPr bwMode="auto">
            <a:xfrm>
              <a:off x="7288213" y="1849438"/>
              <a:ext cx="469900" cy="12700"/>
            </a:xfrm>
            <a:custGeom>
              <a:avLst/>
              <a:gdLst>
                <a:gd name="T0" fmla="*/ 2 w 156"/>
                <a:gd name="T1" fmla="*/ 4 h 4"/>
                <a:gd name="T2" fmla="*/ 154 w 156"/>
                <a:gd name="T3" fmla="*/ 4 h 4"/>
                <a:gd name="T4" fmla="*/ 156 w 156"/>
                <a:gd name="T5" fmla="*/ 2 h 4"/>
                <a:gd name="T6" fmla="*/ 154 w 156"/>
                <a:gd name="T7" fmla="*/ 0 h 4"/>
                <a:gd name="T8" fmla="*/ 2 w 156"/>
                <a:gd name="T9" fmla="*/ 0 h 4"/>
                <a:gd name="T10" fmla="*/ 0 w 156"/>
                <a:gd name="T11" fmla="*/ 2 h 4"/>
                <a:gd name="T12" fmla="*/ 2 w 15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6" h="4">
                  <a:moveTo>
                    <a:pt x="2" y="4"/>
                  </a:moveTo>
                  <a:cubicBezTo>
                    <a:pt x="154" y="4"/>
                    <a:pt x="154" y="4"/>
                    <a:pt x="154" y="4"/>
                  </a:cubicBezTo>
                  <a:cubicBezTo>
                    <a:pt x="155" y="4"/>
                    <a:pt x="156" y="3"/>
                    <a:pt x="156" y="2"/>
                  </a:cubicBezTo>
                  <a:cubicBezTo>
                    <a:pt x="156" y="1"/>
                    <a:pt x="155" y="0"/>
                    <a:pt x="15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42" name="îSľïḋé"/>
            <p:cNvSpPr/>
            <p:nvPr/>
          </p:nvSpPr>
          <p:spPr bwMode="auto">
            <a:xfrm>
              <a:off x="6878638" y="1963738"/>
              <a:ext cx="385763" cy="12700"/>
            </a:xfrm>
            <a:custGeom>
              <a:avLst/>
              <a:gdLst>
                <a:gd name="T0" fmla="*/ 126 w 128"/>
                <a:gd name="T1" fmla="*/ 0 h 4"/>
                <a:gd name="T2" fmla="*/ 2 w 128"/>
                <a:gd name="T3" fmla="*/ 0 h 4"/>
                <a:gd name="T4" fmla="*/ 0 w 128"/>
                <a:gd name="T5" fmla="*/ 2 h 4"/>
                <a:gd name="T6" fmla="*/ 2 w 128"/>
                <a:gd name="T7" fmla="*/ 4 h 4"/>
                <a:gd name="T8" fmla="*/ 126 w 128"/>
                <a:gd name="T9" fmla="*/ 4 h 4"/>
                <a:gd name="T10" fmla="*/ 128 w 128"/>
                <a:gd name="T11" fmla="*/ 2 h 4"/>
                <a:gd name="T12" fmla="*/ 126 w 1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28" h="4">
                  <a:moveTo>
                    <a:pt x="126" y="0"/>
                  </a:moveTo>
                  <a:cubicBezTo>
                    <a:pt x="2" y="0"/>
                    <a:pt x="2" y="0"/>
                    <a:pt x="2" y="0"/>
                  </a:cubicBezTo>
                  <a:cubicBezTo>
                    <a:pt x="1" y="0"/>
                    <a:pt x="0" y="1"/>
                    <a:pt x="0" y="2"/>
                  </a:cubicBezTo>
                  <a:cubicBezTo>
                    <a:pt x="0" y="3"/>
                    <a:pt x="1" y="4"/>
                    <a:pt x="2" y="4"/>
                  </a:cubicBezTo>
                  <a:cubicBezTo>
                    <a:pt x="126" y="4"/>
                    <a:pt x="126" y="4"/>
                    <a:pt x="126" y="4"/>
                  </a:cubicBezTo>
                  <a:cubicBezTo>
                    <a:pt x="127" y="4"/>
                    <a:pt x="128" y="3"/>
                    <a:pt x="128" y="2"/>
                  </a:cubicBezTo>
                  <a:cubicBezTo>
                    <a:pt x="128" y="1"/>
                    <a:pt x="127" y="0"/>
                    <a:pt x="1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43" name="îş1iḍè"/>
            <p:cNvSpPr/>
            <p:nvPr/>
          </p:nvSpPr>
          <p:spPr bwMode="auto">
            <a:xfrm>
              <a:off x="6862763" y="1747838"/>
              <a:ext cx="174625" cy="11113"/>
            </a:xfrm>
            <a:custGeom>
              <a:avLst/>
              <a:gdLst>
                <a:gd name="T0" fmla="*/ 2 w 58"/>
                <a:gd name="T1" fmla="*/ 4 h 4"/>
                <a:gd name="T2" fmla="*/ 56 w 58"/>
                <a:gd name="T3" fmla="*/ 4 h 4"/>
                <a:gd name="T4" fmla="*/ 58 w 58"/>
                <a:gd name="T5" fmla="*/ 2 h 4"/>
                <a:gd name="T6" fmla="*/ 56 w 58"/>
                <a:gd name="T7" fmla="*/ 0 h 4"/>
                <a:gd name="T8" fmla="*/ 2 w 58"/>
                <a:gd name="T9" fmla="*/ 0 h 4"/>
                <a:gd name="T10" fmla="*/ 0 w 58"/>
                <a:gd name="T11" fmla="*/ 2 h 4"/>
                <a:gd name="T12" fmla="*/ 2 w 5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58" h="4">
                  <a:moveTo>
                    <a:pt x="2" y="4"/>
                  </a:moveTo>
                  <a:cubicBezTo>
                    <a:pt x="56" y="4"/>
                    <a:pt x="56" y="4"/>
                    <a:pt x="56" y="4"/>
                  </a:cubicBezTo>
                  <a:cubicBezTo>
                    <a:pt x="58" y="4"/>
                    <a:pt x="58" y="3"/>
                    <a:pt x="58" y="2"/>
                  </a:cubicBezTo>
                  <a:cubicBezTo>
                    <a:pt x="58" y="1"/>
                    <a:pt x="58" y="0"/>
                    <a:pt x="5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44" name="ïs1ïdè"/>
            <p:cNvSpPr/>
            <p:nvPr/>
          </p:nvSpPr>
          <p:spPr bwMode="auto">
            <a:xfrm>
              <a:off x="7013576" y="2646363"/>
              <a:ext cx="123825" cy="12700"/>
            </a:xfrm>
            <a:custGeom>
              <a:avLst/>
              <a:gdLst>
                <a:gd name="T0" fmla="*/ 39 w 41"/>
                <a:gd name="T1" fmla="*/ 0 h 4"/>
                <a:gd name="T2" fmla="*/ 2 w 41"/>
                <a:gd name="T3" fmla="*/ 0 h 4"/>
                <a:gd name="T4" fmla="*/ 0 w 41"/>
                <a:gd name="T5" fmla="*/ 2 h 4"/>
                <a:gd name="T6" fmla="*/ 2 w 41"/>
                <a:gd name="T7" fmla="*/ 4 h 4"/>
                <a:gd name="T8" fmla="*/ 39 w 41"/>
                <a:gd name="T9" fmla="*/ 4 h 4"/>
                <a:gd name="T10" fmla="*/ 41 w 41"/>
                <a:gd name="T11" fmla="*/ 2 h 4"/>
                <a:gd name="T12" fmla="*/ 39 w 41"/>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41" h="4">
                  <a:moveTo>
                    <a:pt x="39" y="0"/>
                  </a:moveTo>
                  <a:cubicBezTo>
                    <a:pt x="2" y="0"/>
                    <a:pt x="2" y="0"/>
                    <a:pt x="2" y="0"/>
                  </a:cubicBezTo>
                  <a:cubicBezTo>
                    <a:pt x="1" y="0"/>
                    <a:pt x="0" y="1"/>
                    <a:pt x="0" y="2"/>
                  </a:cubicBezTo>
                  <a:cubicBezTo>
                    <a:pt x="0" y="3"/>
                    <a:pt x="1" y="4"/>
                    <a:pt x="2" y="4"/>
                  </a:cubicBezTo>
                  <a:cubicBezTo>
                    <a:pt x="39" y="4"/>
                    <a:pt x="39" y="4"/>
                    <a:pt x="39" y="4"/>
                  </a:cubicBezTo>
                  <a:cubicBezTo>
                    <a:pt x="41" y="4"/>
                    <a:pt x="41" y="3"/>
                    <a:pt x="41" y="2"/>
                  </a:cubicBezTo>
                  <a:cubicBezTo>
                    <a:pt x="41" y="1"/>
                    <a:pt x="41" y="0"/>
                    <a:pt x="39"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45" name="işľíďé"/>
            <p:cNvSpPr/>
            <p:nvPr/>
          </p:nvSpPr>
          <p:spPr bwMode="auto">
            <a:xfrm>
              <a:off x="6853238" y="2698750"/>
              <a:ext cx="274638" cy="11113"/>
            </a:xfrm>
            <a:custGeom>
              <a:avLst/>
              <a:gdLst>
                <a:gd name="T0" fmla="*/ 89 w 91"/>
                <a:gd name="T1" fmla="*/ 0 h 4"/>
                <a:gd name="T2" fmla="*/ 2 w 91"/>
                <a:gd name="T3" fmla="*/ 0 h 4"/>
                <a:gd name="T4" fmla="*/ 0 w 91"/>
                <a:gd name="T5" fmla="*/ 2 h 4"/>
                <a:gd name="T6" fmla="*/ 2 w 91"/>
                <a:gd name="T7" fmla="*/ 4 h 4"/>
                <a:gd name="T8" fmla="*/ 89 w 91"/>
                <a:gd name="T9" fmla="*/ 4 h 4"/>
                <a:gd name="T10" fmla="*/ 91 w 91"/>
                <a:gd name="T11" fmla="*/ 2 h 4"/>
                <a:gd name="T12" fmla="*/ 89 w 91"/>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91" h="4">
                  <a:moveTo>
                    <a:pt x="89" y="0"/>
                  </a:moveTo>
                  <a:cubicBezTo>
                    <a:pt x="2" y="0"/>
                    <a:pt x="2" y="0"/>
                    <a:pt x="2" y="0"/>
                  </a:cubicBezTo>
                  <a:cubicBezTo>
                    <a:pt x="1" y="0"/>
                    <a:pt x="0" y="1"/>
                    <a:pt x="0" y="2"/>
                  </a:cubicBezTo>
                  <a:cubicBezTo>
                    <a:pt x="0" y="3"/>
                    <a:pt x="1" y="4"/>
                    <a:pt x="2" y="4"/>
                  </a:cubicBezTo>
                  <a:cubicBezTo>
                    <a:pt x="89" y="4"/>
                    <a:pt x="89" y="4"/>
                    <a:pt x="89" y="4"/>
                  </a:cubicBezTo>
                  <a:cubicBezTo>
                    <a:pt x="90" y="4"/>
                    <a:pt x="91" y="3"/>
                    <a:pt x="91" y="2"/>
                  </a:cubicBezTo>
                  <a:cubicBezTo>
                    <a:pt x="91" y="1"/>
                    <a:pt x="90" y="0"/>
                    <a:pt x="89"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46" name="ïŝ1íḑè"/>
            <p:cNvSpPr/>
            <p:nvPr/>
          </p:nvSpPr>
          <p:spPr bwMode="auto">
            <a:xfrm>
              <a:off x="7242176" y="2646363"/>
              <a:ext cx="57150" cy="12700"/>
            </a:xfrm>
            <a:custGeom>
              <a:avLst/>
              <a:gdLst>
                <a:gd name="T0" fmla="*/ 2 w 19"/>
                <a:gd name="T1" fmla="*/ 4 h 4"/>
                <a:gd name="T2" fmla="*/ 17 w 19"/>
                <a:gd name="T3" fmla="*/ 4 h 4"/>
                <a:gd name="T4" fmla="*/ 19 w 19"/>
                <a:gd name="T5" fmla="*/ 2 h 4"/>
                <a:gd name="T6" fmla="*/ 17 w 19"/>
                <a:gd name="T7" fmla="*/ 0 h 4"/>
                <a:gd name="T8" fmla="*/ 2 w 19"/>
                <a:gd name="T9" fmla="*/ 0 h 4"/>
                <a:gd name="T10" fmla="*/ 0 w 19"/>
                <a:gd name="T11" fmla="*/ 2 h 4"/>
                <a:gd name="T12" fmla="*/ 2 w 1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 h="4">
                  <a:moveTo>
                    <a:pt x="2" y="4"/>
                  </a:moveTo>
                  <a:cubicBezTo>
                    <a:pt x="17" y="4"/>
                    <a:pt x="17" y="4"/>
                    <a:pt x="17" y="4"/>
                  </a:cubicBezTo>
                  <a:cubicBezTo>
                    <a:pt x="19" y="4"/>
                    <a:pt x="19" y="3"/>
                    <a:pt x="19" y="2"/>
                  </a:cubicBezTo>
                  <a:cubicBezTo>
                    <a:pt x="19" y="1"/>
                    <a:pt x="19" y="0"/>
                    <a:pt x="17"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47" name="íSľiḋé"/>
            <p:cNvSpPr/>
            <p:nvPr/>
          </p:nvSpPr>
          <p:spPr bwMode="auto">
            <a:xfrm>
              <a:off x="7326313" y="2646363"/>
              <a:ext cx="60325" cy="12700"/>
            </a:xfrm>
            <a:custGeom>
              <a:avLst/>
              <a:gdLst>
                <a:gd name="T0" fmla="*/ 2 w 20"/>
                <a:gd name="T1" fmla="*/ 4 h 4"/>
                <a:gd name="T2" fmla="*/ 18 w 20"/>
                <a:gd name="T3" fmla="*/ 4 h 4"/>
                <a:gd name="T4" fmla="*/ 20 w 20"/>
                <a:gd name="T5" fmla="*/ 2 h 4"/>
                <a:gd name="T6" fmla="*/ 18 w 20"/>
                <a:gd name="T7" fmla="*/ 0 h 4"/>
                <a:gd name="T8" fmla="*/ 2 w 20"/>
                <a:gd name="T9" fmla="*/ 0 h 4"/>
                <a:gd name="T10" fmla="*/ 0 w 20"/>
                <a:gd name="T11" fmla="*/ 2 h 4"/>
                <a:gd name="T12" fmla="*/ 2 w 20"/>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0" h="4">
                  <a:moveTo>
                    <a:pt x="2" y="4"/>
                  </a:moveTo>
                  <a:cubicBezTo>
                    <a:pt x="18" y="4"/>
                    <a:pt x="18" y="4"/>
                    <a:pt x="18" y="4"/>
                  </a:cubicBezTo>
                  <a:cubicBezTo>
                    <a:pt x="19" y="4"/>
                    <a:pt x="20" y="3"/>
                    <a:pt x="20" y="2"/>
                  </a:cubicBezTo>
                  <a:cubicBezTo>
                    <a:pt x="20" y="1"/>
                    <a:pt x="19" y="0"/>
                    <a:pt x="18"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48" name="íşľïde"/>
            <p:cNvSpPr/>
            <p:nvPr/>
          </p:nvSpPr>
          <p:spPr bwMode="auto">
            <a:xfrm>
              <a:off x="7412038" y="2646363"/>
              <a:ext cx="60325" cy="12700"/>
            </a:xfrm>
            <a:custGeom>
              <a:avLst/>
              <a:gdLst>
                <a:gd name="T0" fmla="*/ 2 w 20"/>
                <a:gd name="T1" fmla="*/ 4 h 4"/>
                <a:gd name="T2" fmla="*/ 18 w 20"/>
                <a:gd name="T3" fmla="*/ 4 h 4"/>
                <a:gd name="T4" fmla="*/ 20 w 20"/>
                <a:gd name="T5" fmla="*/ 2 h 4"/>
                <a:gd name="T6" fmla="*/ 18 w 20"/>
                <a:gd name="T7" fmla="*/ 0 h 4"/>
                <a:gd name="T8" fmla="*/ 2 w 20"/>
                <a:gd name="T9" fmla="*/ 0 h 4"/>
                <a:gd name="T10" fmla="*/ 0 w 20"/>
                <a:gd name="T11" fmla="*/ 2 h 4"/>
                <a:gd name="T12" fmla="*/ 2 w 20"/>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0" h="4">
                  <a:moveTo>
                    <a:pt x="2" y="4"/>
                  </a:moveTo>
                  <a:cubicBezTo>
                    <a:pt x="18" y="4"/>
                    <a:pt x="18" y="4"/>
                    <a:pt x="18" y="4"/>
                  </a:cubicBezTo>
                  <a:cubicBezTo>
                    <a:pt x="19" y="4"/>
                    <a:pt x="20" y="3"/>
                    <a:pt x="20" y="2"/>
                  </a:cubicBezTo>
                  <a:cubicBezTo>
                    <a:pt x="20" y="1"/>
                    <a:pt x="19" y="0"/>
                    <a:pt x="18"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49" name="îṡľîḓê"/>
            <p:cNvSpPr/>
            <p:nvPr/>
          </p:nvSpPr>
          <p:spPr bwMode="auto">
            <a:xfrm>
              <a:off x="7499351" y="2646363"/>
              <a:ext cx="57150" cy="12700"/>
            </a:xfrm>
            <a:custGeom>
              <a:avLst/>
              <a:gdLst>
                <a:gd name="T0" fmla="*/ 2 w 19"/>
                <a:gd name="T1" fmla="*/ 4 h 4"/>
                <a:gd name="T2" fmla="*/ 17 w 19"/>
                <a:gd name="T3" fmla="*/ 4 h 4"/>
                <a:gd name="T4" fmla="*/ 19 w 19"/>
                <a:gd name="T5" fmla="*/ 2 h 4"/>
                <a:gd name="T6" fmla="*/ 17 w 19"/>
                <a:gd name="T7" fmla="*/ 0 h 4"/>
                <a:gd name="T8" fmla="*/ 2 w 19"/>
                <a:gd name="T9" fmla="*/ 0 h 4"/>
                <a:gd name="T10" fmla="*/ 0 w 19"/>
                <a:gd name="T11" fmla="*/ 2 h 4"/>
                <a:gd name="T12" fmla="*/ 2 w 1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 h="4">
                  <a:moveTo>
                    <a:pt x="2" y="4"/>
                  </a:moveTo>
                  <a:cubicBezTo>
                    <a:pt x="17" y="4"/>
                    <a:pt x="17" y="4"/>
                    <a:pt x="17" y="4"/>
                  </a:cubicBezTo>
                  <a:cubicBezTo>
                    <a:pt x="18" y="4"/>
                    <a:pt x="19" y="3"/>
                    <a:pt x="19" y="2"/>
                  </a:cubicBezTo>
                  <a:cubicBezTo>
                    <a:pt x="19" y="1"/>
                    <a:pt x="18" y="0"/>
                    <a:pt x="17"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50" name="íSlíḓè"/>
            <p:cNvSpPr/>
            <p:nvPr/>
          </p:nvSpPr>
          <p:spPr bwMode="auto">
            <a:xfrm>
              <a:off x="7583488" y="2646363"/>
              <a:ext cx="57150" cy="12700"/>
            </a:xfrm>
            <a:custGeom>
              <a:avLst/>
              <a:gdLst>
                <a:gd name="T0" fmla="*/ 2 w 19"/>
                <a:gd name="T1" fmla="*/ 4 h 4"/>
                <a:gd name="T2" fmla="*/ 17 w 19"/>
                <a:gd name="T3" fmla="*/ 4 h 4"/>
                <a:gd name="T4" fmla="*/ 19 w 19"/>
                <a:gd name="T5" fmla="*/ 2 h 4"/>
                <a:gd name="T6" fmla="*/ 17 w 19"/>
                <a:gd name="T7" fmla="*/ 0 h 4"/>
                <a:gd name="T8" fmla="*/ 2 w 19"/>
                <a:gd name="T9" fmla="*/ 0 h 4"/>
                <a:gd name="T10" fmla="*/ 0 w 19"/>
                <a:gd name="T11" fmla="*/ 2 h 4"/>
                <a:gd name="T12" fmla="*/ 2 w 1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 h="4">
                  <a:moveTo>
                    <a:pt x="2" y="4"/>
                  </a:moveTo>
                  <a:cubicBezTo>
                    <a:pt x="17" y="4"/>
                    <a:pt x="17" y="4"/>
                    <a:pt x="17" y="4"/>
                  </a:cubicBezTo>
                  <a:cubicBezTo>
                    <a:pt x="19" y="4"/>
                    <a:pt x="19" y="3"/>
                    <a:pt x="19" y="2"/>
                  </a:cubicBezTo>
                  <a:cubicBezTo>
                    <a:pt x="19" y="1"/>
                    <a:pt x="19" y="0"/>
                    <a:pt x="17"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51" name="ï$1ïḋé"/>
            <p:cNvSpPr/>
            <p:nvPr/>
          </p:nvSpPr>
          <p:spPr bwMode="auto">
            <a:xfrm>
              <a:off x="7667626" y="2646363"/>
              <a:ext cx="60325" cy="12700"/>
            </a:xfrm>
            <a:custGeom>
              <a:avLst/>
              <a:gdLst>
                <a:gd name="T0" fmla="*/ 2 w 20"/>
                <a:gd name="T1" fmla="*/ 4 h 4"/>
                <a:gd name="T2" fmla="*/ 18 w 20"/>
                <a:gd name="T3" fmla="*/ 4 h 4"/>
                <a:gd name="T4" fmla="*/ 20 w 20"/>
                <a:gd name="T5" fmla="*/ 2 h 4"/>
                <a:gd name="T6" fmla="*/ 18 w 20"/>
                <a:gd name="T7" fmla="*/ 0 h 4"/>
                <a:gd name="T8" fmla="*/ 2 w 20"/>
                <a:gd name="T9" fmla="*/ 0 h 4"/>
                <a:gd name="T10" fmla="*/ 0 w 20"/>
                <a:gd name="T11" fmla="*/ 2 h 4"/>
                <a:gd name="T12" fmla="*/ 2 w 20"/>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0" h="4">
                  <a:moveTo>
                    <a:pt x="2" y="4"/>
                  </a:moveTo>
                  <a:cubicBezTo>
                    <a:pt x="18" y="4"/>
                    <a:pt x="18" y="4"/>
                    <a:pt x="18" y="4"/>
                  </a:cubicBezTo>
                  <a:cubicBezTo>
                    <a:pt x="19" y="4"/>
                    <a:pt x="20" y="3"/>
                    <a:pt x="20" y="2"/>
                  </a:cubicBezTo>
                  <a:cubicBezTo>
                    <a:pt x="20" y="1"/>
                    <a:pt x="19" y="0"/>
                    <a:pt x="18"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52" name="îślîḑè"/>
            <p:cNvSpPr/>
            <p:nvPr/>
          </p:nvSpPr>
          <p:spPr bwMode="auto">
            <a:xfrm>
              <a:off x="7242176" y="2682875"/>
              <a:ext cx="42863" cy="12700"/>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1"/>
                    <a:pt x="13" y="0"/>
                    <a:pt x="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53" name="ïṧḻíḍe"/>
            <p:cNvSpPr/>
            <p:nvPr/>
          </p:nvSpPr>
          <p:spPr bwMode="auto">
            <a:xfrm>
              <a:off x="7312026" y="2682875"/>
              <a:ext cx="42863" cy="12700"/>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1"/>
                    <a:pt x="13" y="0"/>
                    <a:pt x="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54" name="ïṩḷíḑé"/>
            <p:cNvSpPr/>
            <p:nvPr/>
          </p:nvSpPr>
          <p:spPr bwMode="auto">
            <a:xfrm>
              <a:off x="7381876" y="2682875"/>
              <a:ext cx="41275" cy="12700"/>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4" y="4"/>
                    <a:pt x="14" y="3"/>
                    <a:pt x="14" y="2"/>
                  </a:cubicBezTo>
                  <a:cubicBezTo>
                    <a:pt x="14" y="1"/>
                    <a:pt x="14" y="0"/>
                    <a:pt x="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55" name="iSḻiďé"/>
            <p:cNvSpPr/>
            <p:nvPr/>
          </p:nvSpPr>
          <p:spPr bwMode="auto">
            <a:xfrm>
              <a:off x="7453313" y="2682875"/>
              <a:ext cx="42863" cy="12700"/>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1"/>
                    <a:pt x="13" y="0"/>
                    <a:pt x="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56" name="işľiḋe"/>
            <p:cNvSpPr/>
            <p:nvPr/>
          </p:nvSpPr>
          <p:spPr bwMode="auto">
            <a:xfrm>
              <a:off x="7523163" y="2682875"/>
              <a:ext cx="41275" cy="12700"/>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1"/>
                    <a:pt x="13" y="0"/>
                    <a:pt x="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57" name="îṩḷïḋê"/>
            <p:cNvSpPr/>
            <p:nvPr/>
          </p:nvSpPr>
          <p:spPr bwMode="auto">
            <a:xfrm>
              <a:off x="7593013" y="2682875"/>
              <a:ext cx="41275" cy="12700"/>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1"/>
                    <a:pt x="13" y="0"/>
                    <a:pt x="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58" name="ïşḷiďe"/>
            <p:cNvSpPr/>
            <p:nvPr/>
          </p:nvSpPr>
          <p:spPr bwMode="auto">
            <a:xfrm>
              <a:off x="7661276" y="2682875"/>
              <a:ext cx="42863" cy="12700"/>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4" y="4"/>
                    <a:pt x="14" y="3"/>
                    <a:pt x="14" y="2"/>
                  </a:cubicBezTo>
                  <a:cubicBezTo>
                    <a:pt x="14" y="1"/>
                    <a:pt x="14" y="0"/>
                    <a:pt x="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59" name="ïSļïḑè"/>
            <p:cNvSpPr/>
            <p:nvPr/>
          </p:nvSpPr>
          <p:spPr bwMode="auto">
            <a:xfrm>
              <a:off x="6859588" y="2830513"/>
              <a:ext cx="46038" cy="77788"/>
            </a:xfrm>
            <a:custGeom>
              <a:avLst/>
              <a:gdLst>
                <a:gd name="T0" fmla="*/ 11 w 15"/>
                <a:gd name="T1" fmla="*/ 1 h 26"/>
                <a:gd name="T2" fmla="*/ 0 w 15"/>
                <a:gd name="T3" fmla="*/ 12 h 26"/>
                <a:gd name="T4" fmla="*/ 0 w 15"/>
                <a:gd name="T5" fmla="*/ 15 h 26"/>
                <a:gd name="T6" fmla="*/ 11 w 15"/>
                <a:gd name="T7" fmla="*/ 25 h 26"/>
                <a:gd name="T8" fmla="*/ 14 w 15"/>
                <a:gd name="T9" fmla="*/ 25 h 26"/>
                <a:gd name="T10" fmla="*/ 14 w 15"/>
                <a:gd name="T11" fmla="*/ 23 h 26"/>
                <a:gd name="T12" fmla="*/ 5 w 15"/>
                <a:gd name="T13" fmla="*/ 13 h 26"/>
                <a:gd name="T14" fmla="*/ 14 w 15"/>
                <a:gd name="T15" fmla="*/ 4 h 26"/>
                <a:gd name="T16" fmla="*/ 14 w 15"/>
                <a:gd name="T17" fmla="*/ 1 h 26"/>
                <a:gd name="T18" fmla="*/ 11 w 15"/>
                <a:gd name="T19"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26">
                  <a:moveTo>
                    <a:pt x="11" y="1"/>
                  </a:moveTo>
                  <a:cubicBezTo>
                    <a:pt x="0" y="12"/>
                    <a:pt x="0" y="12"/>
                    <a:pt x="0" y="12"/>
                  </a:cubicBezTo>
                  <a:cubicBezTo>
                    <a:pt x="0" y="13"/>
                    <a:pt x="0" y="14"/>
                    <a:pt x="0" y="15"/>
                  </a:cubicBezTo>
                  <a:cubicBezTo>
                    <a:pt x="11" y="25"/>
                    <a:pt x="11" y="25"/>
                    <a:pt x="11" y="25"/>
                  </a:cubicBezTo>
                  <a:cubicBezTo>
                    <a:pt x="12" y="26"/>
                    <a:pt x="13" y="26"/>
                    <a:pt x="14" y="25"/>
                  </a:cubicBezTo>
                  <a:cubicBezTo>
                    <a:pt x="14" y="25"/>
                    <a:pt x="14" y="23"/>
                    <a:pt x="14" y="23"/>
                  </a:cubicBezTo>
                  <a:cubicBezTo>
                    <a:pt x="5" y="13"/>
                    <a:pt x="5" y="13"/>
                    <a:pt x="5" y="13"/>
                  </a:cubicBezTo>
                  <a:cubicBezTo>
                    <a:pt x="14" y="4"/>
                    <a:pt x="14" y="4"/>
                    <a:pt x="14" y="4"/>
                  </a:cubicBezTo>
                  <a:cubicBezTo>
                    <a:pt x="15" y="3"/>
                    <a:pt x="15" y="2"/>
                    <a:pt x="14" y="1"/>
                  </a:cubicBezTo>
                  <a:cubicBezTo>
                    <a:pt x="13" y="0"/>
                    <a:pt x="12" y="0"/>
                    <a:pt x="11"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60" name="îṣļíḓe"/>
            <p:cNvSpPr/>
            <p:nvPr/>
          </p:nvSpPr>
          <p:spPr bwMode="auto">
            <a:xfrm>
              <a:off x="6892926" y="2830513"/>
              <a:ext cx="46038" cy="77788"/>
            </a:xfrm>
            <a:custGeom>
              <a:avLst/>
              <a:gdLst>
                <a:gd name="T0" fmla="*/ 11 w 15"/>
                <a:gd name="T1" fmla="*/ 1 h 26"/>
                <a:gd name="T2" fmla="*/ 0 w 15"/>
                <a:gd name="T3" fmla="*/ 12 h 26"/>
                <a:gd name="T4" fmla="*/ 0 w 15"/>
                <a:gd name="T5" fmla="*/ 15 h 26"/>
                <a:gd name="T6" fmla="*/ 11 w 15"/>
                <a:gd name="T7" fmla="*/ 25 h 26"/>
                <a:gd name="T8" fmla="*/ 14 w 15"/>
                <a:gd name="T9" fmla="*/ 25 h 26"/>
                <a:gd name="T10" fmla="*/ 14 w 15"/>
                <a:gd name="T11" fmla="*/ 23 h 26"/>
                <a:gd name="T12" fmla="*/ 5 w 15"/>
                <a:gd name="T13" fmla="*/ 13 h 26"/>
                <a:gd name="T14" fmla="*/ 14 w 15"/>
                <a:gd name="T15" fmla="*/ 4 h 26"/>
                <a:gd name="T16" fmla="*/ 14 w 15"/>
                <a:gd name="T17" fmla="*/ 1 h 26"/>
                <a:gd name="T18" fmla="*/ 11 w 15"/>
                <a:gd name="T19"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26">
                  <a:moveTo>
                    <a:pt x="11" y="1"/>
                  </a:moveTo>
                  <a:cubicBezTo>
                    <a:pt x="0" y="12"/>
                    <a:pt x="0" y="12"/>
                    <a:pt x="0" y="12"/>
                  </a:cubicBezTo>
                  <a:cubicBezTo>
                    <a:pt x="0" y="13"/>
                    <a:pt x="0" y="14"/>
                    <a:pt x="0" y="15"/>
                  </a:cubicBezTo>
                  <a:cubicBezTo>
                    <a:pt x="11" y="25"/>
                    <a:pt x="11" y="25"/>
                    <a:pt x="11" y="25"/>
                  </a:cubicBezTo>
                  <a:cubicBezTo>
                    <a:pt x="12" y="26"/>
                    <a:pt x="13" y="26"/>
                    <a:pt x="14" y="25"/>
                  </a:cubicBezTo>
                  <a:cubicBezTo>
                    <a:pt x="14" y="25"/>
                    <a:pt x="14" y="23"/>
                    <a:pt x="14" y="23"/>
                  </a:cubicBezTo>
                  <a:cubicBezTo>
                    <a:pt x="5" y="13"/>
                    <a:pt x="5" y="13"/>
                    <a:pt x="5" y="13"/>
                  </a:cubicBezTo>
                  <a:cubicBezTo>
                    <a:pt x="14" y="4"/>
                    <a:pt x="14" y="4"/>
                    <a:pt x="14" y="4"/>
                  </a:cubicBezTo>
                  <a:cubicBezTo>
                    <a:pt x="15" y="3"/>
                    <a:pt x="15" y="2"/>
                    <a:pt x="14" y="1"/>
                  </a:cubicBezTo>
                  <a:cubicBezTo>
                    <a:pt x="13" y="0"/>
                    <a:pt x="12" y="0"/>
                    <a:pt x="11"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61" name="îṡľîḑé"/>
            <p:cNvSpPr/>
            <p:nvPr/>
          </p:nvSpPr>
          <p:spPr bwMode="auto">
            <a:xfrm>
              <a:off x="7124701" y="2039938"/>
              <a:ext cx="87313" cy="158750"/>
            </a:xfrm>
            <a:custGeom>
              <a:avLst/>
              <a:gdLst>
                <a:gd name="T0" fmla="*/ 26 w 29"/>
                <a:gd name="T1" fmla="*/ 1 h 53"/>
                <a:gd name="T2" fmla="*/ 1 w 29"/>
                <a:gd name="T3" fmla="*/ 26 h 53"/>
                <a:gd name="T4" fmla="*/ 1 w 29"/>
                <a:gd name="T5" fmla="*/ 28 h 53"/>
                <a:gd name="T6" fmla="*/ 25 w 29"/>
                <a:gd name="T7" fmla="*/ 52 h 53"/>
                <a:gd name="T8" fmla="*/ 28 w 29"/>
                <a:gd name="T9" fmla="*/ 52 h 53"/>
                <a:gd name="T10" fmla="*/ 28 w 29"/>
                <a:gd name="T11" fmla="*/ 49 h 53"/>
                <a:gd name="T12" fmla="*/ 5 w 29"/>
                <a:gd name="T13" fmla="*/ 27 h 53"/>
                <a:gd name="T14" fmla="*/ 29 w 29"/>
                <a:gd name="T15" fmla="*/ 4 h 53"/>
                <a:gd name="T16" fmla="*/ 29 w 29"/>
                <a:gd name="T17" fmla="*/ 1 h 53"/>
                <a:gd name="T18" fmla="*/ 26 w 29"/>
                <a:gd name="T19" fmla="*/ 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26" y="1"/>
                  </a:moveTo>
                  <a:cubicBezTo>
                    <a:pt x="1" y="26"/>
                    <a:pt x="1" y="26"/>
                    <a:pt x="1" y="26"/>
                  </a:cubicBezTo>
                  <a:cubicBezTo>
                    <a:pt x="0" y="26"/>
                    <a:pt x="0" y="28"/>
                    <a:pt x="1" y="28"/>
                  </a:cubicBezTo>
                  <a:cubicBezTo>
                    <a:pt x="25" y="52"/>
                    <a:pt x="25" y="52"/>
                    <a:pt x="25" y="52"/>
                  </a:cubicBezTo>
                  <a:cubicBezTo>
                    <a:pt x="26" y="53"/>
                    <a:pt x="27" y="53"/>
                    <a:pt x="28" y="52"/>
                  </a:cubicBezTo>
                  <a:cubicBezTo>
                    <a:pt x="28" y="51"/>
                    <a:pt x="28" y="50"/>
                    <a:pt x="28" y="49"/>
                  </a:cubicBezTo>
                  <a:cubicBezTo>
                    <a:pt x="5" y="27"/>
                    <a:pt x="5" y="27"/>
                    <a:pt x="5" y="27"/>
                  </a:cubicBezTo>
                  <a:cubicBezTo>
                    <a:pt x="29" y="4"/>
                    <a:pt x="29" y="4"/>
                    <a:pt x="29" y="4"/>
                  </a:cubicBezTo>
                  <a:cubicBezTo>
                    <a:pt x="29" y="3"/>
                    <a:pt x="29" y="2"/>
                    <a:pt x="29" y="1"/>
                  </a:cubicBezTo>
                  <a:cubicBezTo>
                    <a:pt x="28" y="0"/>
                    <a:pt x="27" y="0"/>
                    <a:pt x="26"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62" name="iŝļïḓe"/>
            <p:cNvSpPr/>
            <p:nvPr/>
          </p:nvSpPr>
          <p:spPr bwMode="auto">
            <a:xfrm>
              <a:off x="7200901" y="2039938"/>
              <a:ext cx="87313" cy="158750"/>
            </a:xfrm>
            <a:custGeom>
              <a:avLst/>
              <a:gdLst>
                <a:gd name="T0" fmla="*/ 26 w 29"/>
                <a:gd name="T1" fmla="*/ 1 h 53"/>
                <a:gd name="T2" fmla="*/ 1 w 29"/>
                <a:gd name="T3" fmla="*/ 26 h 53"/>
                <a:gd name="T4" fmla="*/ 1 w 29"/>
                <a:gd name="T5" fmla="*/ 28 h 53"/>
                <a:gd name="T6" fmla="*/ 25 w 29"/>
                <a:gd name="T7" fmla="*/ 52 h 53"/>
                <a:gd name="T8" fmla="*/ 27 w 29"/>
                <a:gd name="T9" fmla="*/ 52 h 53"/>
                <a:gd name="T10" fmla="*/ 27 w 29"/>
                <a:gd name="T11" fmla="*/ 49 h 53"/>
                <a:gd name="T12" fmla="*/ 5 w 29"/>
                <a:gd name="T13" fmla="*/ 27 h 53"/>
                <a:gd name="T14" fmla="*/ 28 w 29"/>
                <a:gd name="T15" fmla="*/ 4 h 53"/>
                <a:gd name="T16" fmla="*/ 28 w 29"/>
                <a:gd name="T17" fmla="*/ 1 h 53"/>
                <a:gd name="T18" fmla="*/ 26 w 29"/>
                <a:gd name="T19" fmla="*/ 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26" y="1"/>
                  </a:moveTo>
                  <a:cubicBezTo>
                    <a:pt x="1" y="26"/>
                    <a:pt x="1" y="26"/>
                    <a:pt x="1" y="26"/>
                  </a:cubicBezTo>
                  <a:cubicBezTo>
                    <a:pt x="0" y="26"/>
                    <a:pt x="0" y="28"/>
                    <a:pt x="1" y="28"/>
                  </a:cubicBezTo>
                  <a:cubicBezTo>
                    <a:pt x="25" y="52"/>
                    <a:pt x="25" y="52"/>
                    <a:pt x="25" y="52"/>
                  </a:cubicBezTo>
                  <a:cubicBezTo>
                    <a:pt x="25" y="53"/>
                    <a:pt x="27" y="53"/>
                    <a:pt x="27" y="52"/>
                  </a:cubicBezTo>
                  <a:cubicBezTo>
                    <a:pt x="28" y="51"/>
                    <a:pt x="28" y="50"/>
                    <a:pt x="27" y="49"/>
                  </a:cubicBezTo>
                  <a:cubicBezTo>
                    <a:pt x="5" y="27"/>
                    <a:pt x="5" y="27"/>
                    <a:pt x="5" y="27"/>
                  </a:cubicBezTo>
                  <a:cubicBezTo>
                    <a:pt x="28" y="4"/>
                    <a:pt x="28" y="4"/>
                    <a:pt x="28" y="4"/>
                  </a:cubicBezTo>
                  <a:cubicBezTo>
                    <a:pt x="29" y="3"/>
                    <a:pt x="29" y="2"/>
                    <a:pt x="28" y="1"/>
                  </a:cubicBezTo>
                  <a:cubicBezTo>
                    <a:pt x="28" y="0"/>
                    <a:pt x="26" y="0"/>
                    <a:pt x="26"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63" name="íSlïḍé"/>
            <p:cNvSpPr/>
            <p:nvPr/>
          </p:nvSpPr>
          <p:spPr bwMode="auto">
            <a:xfrm>
              <a:off x="7007226" y="2830513"/>
              <a:ext cx="720725" cy="11113"/>
            </a:xfrm>
            <a:custGeom>
              <a:avLst/>
              <a:gdLst>
                <a:gd name="T0" fmla="*/ 2 w 239"/>
                <a:gd name="T1" fmla="*/ 4 h 4"/>
                <a:gd name="T2" fmla="*/ 237 w 239"/>
                <a:gd name="T3" fmla="*/ 4 h 4"/>
                <a:gd name="T4" fmla="*/ 239 w 239"/>
                <a:gd name="T5" fmla="*/ 2 h 4"/>
                <a:gd name="T6" fmla="*/ 237 w 239"/>
                <a:gd name="T7" fmla="*/ 0 h 4"/>
                <a:gd name="T8" fmla="*/ 2 w 239"/>
                <a:gd name="T9" fmla="*/ 0 h 4"/>
                <a:gd name="T10" fmla="*/ 0 w 239"/>
                <a:gd name="T11" fmla="*/ 2 h 4"/>
                <a:gd name="T12" fmla="*/ 2 w 23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39" h="4">
                  <a:moveTo>
                    <a:pt x="2" y="4"/>
                  </a:moveTo>
                  <a:cubicBezTo>
                    <a:pt x="237" y="4"/>
                    <a:pt x="237" y="4"/>
                    <a:pt x="237" y="4"/>
                  </a:cubicBezTo>
                  <a:cubicBezTo>
                    <a:pt x="238" y="4"/>
                    <a:pt x="239" y="4"/>
                    <a:pt x="239" y="2"/>
                  </a:cubicBezTo>
                  <a:cubicBezTo>
                    <a:pt x="239" y="1"/>
                    <a:pt x="238" y="0"/>
                    <a:pt x="237" y="0"/>
                  </a:cubicBezTo>
                  <a:cubicBezTo>
                    <a:pt x="2" y="0"/>
                    <a:pt x="2" y="0"/>
                    <a:pt x="2" y="0"/>
                  </a:cubicBezTo>
                  <a:cubicBezTo>
                    <a:pt x="1" y="0"/>
                    <a:pt x="0" y="1"/>
                    <a:pt x="0" y="2"/>
                  </a:cubicBezTo>
                  <a:cubicBezTo>
                    <a:pt x="0" y="4"/>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64" name="ïslïḋê"/>
            <p:cNvSpPr/>
            <p:nvPr/>
          </p:nvSpPr>
          <p:spPr bwMode="auto">
            <a:xfrm>
              <a:off x="7007226" y="2863850"/>
              <a:ext cx="439738" cy="11113"/>
            </a:xfrm>
            <a:custGeom>
              <a:avLst/>
              <a:gdLst>
                <a:gd name="T0" fmla="*/ 2 w 146"/>
                <a:gd name="T1" fmla="*/ 4 h 4"/>
                <a:gd name="T2" fmla="*/ 144 w 146"/>
                <a:gd name="T3" fmla="*/ 4 h 4"/>
                <a:gd name="T4" fmla="*/ 146 w 146"/>
                <a:gd name="T5" fmla="*/ 2 h 4"/>
                <a:gd name="T6" fmla="*/ 144 w 146"/>
                <a:gd name="T7" fmla="*/ 0 h 4"/>
                <a:gd name="T8" fmla="*/ 2 w 146"/>
                <a:gd name="T9" fmla="*/ 0 h 4"/>
                <a:gd name="T10" fmla="*/ 0 w 146"/>
                <a:gd name="T11" fmla="*/ 2 h 4"/>
                <a:gd name="T12" fmla="*/ 2 w 14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6" h="4">
                  <a:moveTo>
                    <a:pt x="2" y="4"/>
                  </a:moveTo>
                  <a:cubicBezTo>
                    <a:pt x="144" y="4"/>
                    <a:pt x="144" y="4"/>
                    <a:pt x="144" y="4"/>
                  </a:cubicBezTo>
                  <a:cubicBezTo>
                    <a:pt x="145" y="4"/>
                    <a:pt x="146" y="3"/>
                    <a:pt x="146" y="2"/>
                  </a:cubicBezTo>
                  <a:cubicBezTo>
                    <a:pt x="146" y="1"/>
                    <a:pt x="145" y="0"/>
                    <a:pt x="14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65" name="isľiḑé"/>
            <p:cNvSpPr/>
            <p:nvPr/>
          </p:nvSpPr>
          <p:spPr bwMode="auto">
            <a:xfrm>
              <a:off x="7007226" y="2908300"/>
              <a:ext cx="439738" cy="12700"/>
            </a:xfrm>
            <a:custGeom>
              <a:avLst/>
              <a:gdLst>
                <a:gd name="T0" fmla="*/ 2 w 146"/>
                <a:gd name="T1" fmla="*/ 4 h 4"/>
                <a:gd name="T2" fmla="*/ 144 w 146"/>
                <a:gd name="T3" fmla="*/ 4 h 4"/>
                <a:gd name="T4" fmla="*/ 146 w 146"/>
                <a:gd name="T5" fmla="*/ 2 h 4"/>
                <a:gd name="T6" fmla="*/ 144 w 146"/>
                <a:gd name="T7" fmla="*/ 0 h 4"/>
                <a:gd name="T8" fmla="*/ 2 w 146"/>
                <a:gd name="T9" fmla="*/ 0 h 4"/>
                <a:gd name="T10" fmla="*/ 0 w 146"/>
                <a:gd name="T11" fmla="*/ 2 h 4"/>
                <a:gd name="T12" fmla="*/ 2 w 14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6" h="4">
                  <a:moveTo>
                    <a:pt x="2" y="4"/>
                  </a:moveTo>
                  <a:cubicBezTo>
                    <a:pt x="144" y="4"/>
                    <a:pt x="144" y="4"/>
                    <a:pt x="144" y="4"/>
                  </a:cubicBezTo>
                  <a:cubicBezTo>
                    <a:pt x="145" y="4"/>
                    <a:pt x="146" y="4"/>
                    <a:pt x="146" y="2"/>
                  </a:cubicBezTo>
                  <a:cubicBezTo>
                    <a:pt x="146" y="1"/>
                    <a:pt x="145" y="0"/>
                    <a:pt x="144" y="0"/>
                  </a:cubicBezTo>
                  <a:cubicBezTo>
                    <a:pt x="2" y="0"/>
                    <a:pt x="2" y="0"/>
                    <a:pt x="2" y="0"/>
                  </a:cubicBezTo>
                  <a:cubicBezTo>
                    <a:pt x="1" y="0"/>
                    <a:pt x="0" y="1"/>
                    <a:pt x="0" y="2"/>
                  </a:cubicBezTo>
                  <a:cubicBezTo>
                    <a:pt x="0" y="4"/>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66" name="ísḷîḋê"/>
            <p:cNvSpPr/>
            <p:nvPr/>
          </p:nvSpPr>
          <p:spPr bwMode="auto">
            <a:xfrm>
              <a:off x="7326313" y="1927225"/>
              <a:ext cx="307975" cy="307975"/>
            </a:xfrm>
            <a:custGeom>
              <a:avLst/>
              <a:gdLst>
                <a:gd name="T0" fmla="*/ 2 w 102"/>
                <a:gd name="T1" fmla="*/ 51 h 102"/>
                <a:gd name="T2" fmla="*/ 0 w 102"/>
                <a:gd name="T3" fmla="*/ 51 h 102"/>
                <a:gd name="T4" fmla="*/ 51 w 102"/>
                <a:gd name="T5" fmla="*/ 102 h 102"/>
                <a:gd name="T6" fmla="*/ 102 w 102"/>
                <a:gd name="T7" fmla="*/ 51 h 102"/>
                <a:gd name="T8" fmla="*/ 51 w 102"/>
                <a:gd name="T9" fmla="*/ 0 h 102"/>
                <a:gd name="T10" fmla="*/ 0 w 102"/>
                <a:gd name="T11" fmla="*/ 51 h 102"/>
                <a:gd name="T12" fmla="*/ 2 w 102"/>
                <a:gd name="T13" fmla="*/ 51 h 102"/>
                <a:gd name="T14" fmla="*/ 4 w 102"/>
                <a:gd name="T15" fmla="*/ 51 h 102"/>
                <a:gd name="T16" fmla="*/ 18 w 102"/>
                <a:gd name="T17" fmla="*/ 18 h 102"/>
                <a:gd name="T18" fmla="*/ 51 w 102"/>
                <a:gd name="T19" fmla="*/ 4 h 102"/>
                <a:gd name="T20" fmla="*/ 84 w 102"/>
                <a:gd name="T21" fmla="*/ 18 h 102"/>
                <a:gd name="T22" fmla="*/ 98 w 102"/>
                <a:gd name="T23" fmla="*/ 51 h 102"/>
                <a:gd name="T24" fmla="*/ 84 w 102"/>
                <a:gd name="T25" fmla="*/ 84 h 102"/>
                <a:gd name="T26" fmla="*/ 51 w 102"/>
                <a:gd name="T27" fmla="*/ 98 h 102"/>
                <a:gd name="T28" fmla="*/ 18 w 102"/>
                <a:gd name="T29" fmla="*/ 84 h 102"/>
                <a:gd name="T30" fmla="*/ 4 w 102"/>
                <a:gd name="T31" fmla="*/ 51 h 102"/>
                <a:gd name="T32" fmla="*/ 2 w 102"/>
                <a:gd name="T33" fmla="*/ 5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102">
                  <a:moveTo>
                    <a:pt x="2" y="51"/>
                  </a:moveTo>
                  <a:cubicBezTo>
                    <a:pt x="0" y="51"/>
                    <a:pt x="0" y="51"/>
                    <a:pt x="0" y="51"/>
                  </a:cubicBezTo>
                  <a:cubicBezTo>
                    <a:pt x="0" y="79"/>
                    <a:pt x="23" y="102"/>
                    <a:pt x="51" y="102"/>
                  </a:cubicBezTo>
                  <a:cubicBezTo>
                    <a:pt x="79" y="102"/>
                    <a:pt x="102" y="79"/>
                    <a:pt x="102" y="51"/>
                  </a:cubicBezTo>
                  <a:cubicBezTo>
                    <a:pt x="102" y="23"/>
                    <a:pt x="79" y="0"/>
                    <a:pt x="51" y="0"/>
                  </a:cubicBezTo>
                  <a:cubicBezTo>
                    <a:pt x="23" y="0"/>
                    <a:pt x="0" y="23"/>
                    <a:pt x="0" y="51"/>
                  </a:cubicBezTo>
                  <a:cubicBezTo>
                    <a:pt x="2" y="51"/>
                    <a:pt x="2" y="51"/>
                    <a:pt x="2" y="51"/>
                  </a:cubicBezTo>
                  <a:cubicBezTo>
                    <a:pt x="4" y="51"/>
                    <a:pt x="4" y="51"/>
                    <a:pt x="4" y="51"/>
                  </a:cubicBezTo>
                  <a:cubicBezTo>
                    <a:pt x="4" y="38"/>
                    <a:pt x="9" y="26"/>
                    <a:pt x="18" y="18"/>
                  </a:cubicBezTo>
                  <a:cubicBezTo>
                    <a:pt x="27" y="9"/>
                    <a:pt x="38" y="4"/>
                    <a:pt x="51" y="4"/>
                  </a:cubicBezTo>
                  <a:cubicBezTo>
                    <a:pt x="64" y="4"/>
                    <a:pt x="76" y="9"/>
                    <a:pt x="84" y="18"/>
                  </a:cubicBezTo>
                  <a:cubicBezTo>
                    <a:pt x="93" y="26"/>
                    <a:pt x="98" y="38"/>
                    <a:pt x="98" y="51"/>
                  </a:cubicBezTo>
                  <a:cubicBezTo>
                    <a:pt x="98" y="64"/>
                    <a:pt x="93" y="76"/>
                    <a:pt x="84" y="84"/>
                  </a:cubicBezTo>
                  <a:cubicBezTo>
                    <a:pt x="76" y="93"/>
                    <a:pt x="64" y="98"/>
                    <a:pt x="51" y="98"/>
                  </a:cubicBezTo>
                  <a:cubicBezTo>
                    <a:pt x="38" y="98"/>
                    <a:pt x="27" y="93"/>
                    <a:pt x="18" y="84"/>
                  </a:cubicBezTo>
                  <a:cubicBezTo>
                    <a:pt x="9" y="76"/>
                    <a:pt x="4" y="64"/>
                    <a:pt x="4" y="51"/>
                  </a:cubicBezTo>
                  <a:lnTo>
                    <a:pt x="2" y="51"/>
                  </a:ln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67" name="í$ľiďe"/>
            <p:cNvSpPr/>
            <p:nvPr/>
          </p:nvSpPr>
          <p:spPr bwMode="auto">
            <a:xfrm>
              <a:off x="7416801" y="2114550"/>
              <a:ext cx="130175" cy="69850"/>
            </a:xfrm>
            <a:custGeom>
              <a:avLst/>
              <a:gdLst>
                <a:gd name="T0" fmla="*/ 2 w 43"/>
                <a:gd name="T1" fmla="*/ 2 h 23"/>
                <a:gd name="T2" fmla="*/ 0 w 43"/>
                <a:gd name="T3" fmla="*/ 2 h 23"/>
                <a:gd name="T4" fmla="*/ 21 w 43"/>
                <a:gd name="T5" fmla="*/ 23 h 23"/>
                <a:gd name="T6" fmla="*/ 43 w 43"/>
                <a:gd name="T7" fmla="*/ 2 h 23"/>
                <a:gd name="T8" fmla="*/ 42 w 43"/>
                <a:gd name="T9" fmla="*/ 0 h 23"/>
                <a:gd name="T10" fmla="*/ 41 w 43"/>
                <a:gd name="T11" fmla="*/ 0 h 23"/>
                <a:gd name="T12" fmla="*/ 2 w 43"/>
                <a:gd name="T13" fmla="*/ 0 h 23"/>
                <a:gd name="T14" fmla="*/ 0 w 43"/>
                <a:gd name="T15" fmla="*/ 0 h 23"/>
                <a:gd name="T16" fmla="*/ 0 w 43"/>
                <a:gd name="T17" fmla="*/ 2 h 23"/>
                <a:gd name="T18" fmla="*/ 2 w 43"/>
                <a:gd name="T19" fmla="*/ 2 h 23"/>
                <a:gd name="T20" fmla="*/ 2 w 43"/>
                <a:gd name="T21" fmla="*/ 4 h 23"/>
                <a:gd name="T22" fmla="*/ 41 w 43"/>
                <a:gd name="T23" fmla="*/ 4 h 23"/>
                <a:gd name="T24" fmla="*/ 41 w 43"/>
                <a:gd name="T25" fmla="*/ 2 h 23"/>
                <a:gd name="T26" fmla="*/ 39 w 43"/>
                <a:gd name="T27" fmla="*/ 2 h 23"/>
                <a:gd name="T28" fmla="*/ 34 w 43"/>
                <a:gd name="T29" fmla="*/ 14 h 23"/>
                <a:gd name="T30" fmla="*/ 21 w 43"/>
                <a:gd name="T31" fmla="*/ 19 h 23"/>
                <a:gd name="T32" fmla="*/ 9 w 43"/>
                <a:gd name="T33" fmla="*/ 14 h 23"/>
                <a:gd name="T34" fmla="*/ 4 w 43"/>
                <a:gd name="T35" fmla="*/ 2 h 23"/>
                <a:gd name="T36" fmla="*/ 2 w 43"/>
                <a:gd name="T37" fmla="*/ 2 h 23"/>
                <a:gd name="T38" fmla="*/ 2 w 43"/>
                <a:gd name="T39" fmla="*/ 4 h 23"/>
                <a:gd name="T40" fmla="*/ 2 w 43"/>
                <a:gd name="T41" fmla="*/ 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23">
                  <a:moveTo>
                    <a:pt x="2" y="2"/>
                  </a:moveTo>
                  <a:cubicBezTo>
                    <a:pt x="0" y="2"/>
                    <a:pt x="0" y="2"/>
                    <a:pt x="0" y="2"/>
                  </a:cubicBezTo>
                  <a:cubicBezTo>
                    <a:pt x="0" y="13"/>
                    <a:pt x="9" y="23"/>
                    <a:pt x="21" y="23"/>
                  </a:cubicBezTo>
                  <a:cubicBezTo>
                    <a:pt x="33" y="23"/>
                    <a:pt x="43" y="13"/>
                    <a:pt x="43" y="2"/>
                  </a:cubicBezTo>
                  <a:cubicBezTo>
                    <a:pt x="43" y="1"/>
                    <a:pt x="43" y="0"/>
                    <a:pt x="42" y="0"/>
                  </a:cubicBezTo>
                  <a:cubicBezTo>
                    <a:pt x="42" y="0"/>
                    <a:pt x="41" y="0"/>
                    <a:pt x="41" y="0"/>
                  </a:cubicBezTo>
                  <a:cubicBezTo>
                    <a:pt x="2" y="0"/>
                    <a:pt x="2" y="0"/>
                    <a:pt x="2" y="0"/>
                  </a:cubicBezTo>
                  <a:cubicBezTo>
                    <a:pt x="1" y="0"/>
                    <a:pt x="1" y="0"/>
                    <a:pt x="0" y="0"/>
                  </a:cubicBezTo>
                  <a:cubicBezTo>
                    <a:pt x="0" y="0"/>
                    <a:pt x="0" y="1"/>
                    <a:pt x="0" y="2"/>
                  </a:cubicBezTo>
                  <a:cubicBezTo>
                    <a:pt x="2" y="2"/>
                    <a:pt x="2" y="2"/>
                    <a:pt x="2" y="2"/>
                  </a:cubicBezTo>
                  <a:cubicBezTo>
                    <a:pt x="2" y="4"/>
                    <a:pt x="2" y="4"/>
                    <a:pt x="2" y="4"/>
                  </a:cubicBezTo>
                  <a:cubicBezTo>
                    <a:pt x="41" y="4"/>
                    <a:pt x="41" y="4"/>
                    <a:pt x="41" y="4"/>
                  </a:cubicBezTo>
                  <a:cubicBezTo>
                    <a:pt x="41" y="2"/>
                    <a:pt x="41" y="2"/>
                    <a:pt x="41" y="2"/>
                  </a:cubicBezTo>
                  <a:cubicBezTo>
                    <a:pt x="39" y="2"/>
                    <a:pt x="39" y="2"/>
                    <a:pt x="39" y="2"/>
                  </a:cubicBezTo>
                  <a:cubicBezTo>
                    <a:pt x="39" y="6"/>
                    <a:pt x="37" y="11"/>
                    <a:pt x="34" y="14"/>
                  </a:cubicBezTo>
                  <a:cubicBezTo>
                    <a:pt x="31" y="17"/>
                    <a:pt x="26" y="19"/>
                    <a:pt x="21" y="19"/>
                  </a:cubicBezTo>
                  <a:cubicBezTo>
                    <a:pt x="16" y="19"/>
                    <a:pt x="12" y="17"/>
                    <a:pt x="9" y="14"/>
                  </a:cubicBezTo>
                  <a:cubicBezTo>
                    <a:pt x="6" y="11"/>
                    <a:pt x="4" y="6"/>
                    <a:pt x="4" y="2"/>
                  </a:cubicBezTo>
                  <a:cubicBezTo>
                    <a:pt x="2" y="2"/>
                    <a:pt x="2" y="2"/>
                    <a:pt x="2" y="2"/>
                  </a:cubicBezTo>
                  <a:cubicBezTo>
                    <a:pt x="2" y="4"/>
                    <a:pt x="2" y="4"/>
                    <a:pt x="2" y="4"/>
                  </a:cubicBezTo>
                  <a:lnTo>
                    <a:pt x="2" y="2"/>
                  </a:ln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68" name="í$ľîḍè"/>
            <p:cNvSpPr/>
            <p:nvPr/>
          </p:nvSpPr>
          <p:spPr bwMode="auto">
            <a:xfrm>
              <a:off x="7386638" y="2024063"/>
              <a:ext cx="69850" cy="39688"/>
            </a:xfrm>
            <a:custGeom>
              <a:avLst/>
              <a:gdLst>
                <a:gd name="T0" fmla="*/ 4 w 23"/>
                <a:gd name="T1" fmla="*/ 11 h 13"/>
                <a:gd name="T2" fmla="*/ 12 w 23"/>
                <a:gd name="T3" fmla="*/ 4 h 13"/>
                <a:gd name="T4" fmla="*/ 19 w 23"/>
                <a:gd name="T5" fmla="*/ 11 h 13"/>
                <a:gd name="T6" fmla="*/ 21 w 23"/>
                <a:gd name="T7" fmla="*/ 13 h 13"/>
                <a:gd name="T8" fmla="*/ 23 w 23"/>
                <a:gd name="T9" fmla="*/ 11 h 13"/>
                <a:gd name="T10" fmla="*/ 12 w 23"/>
                <a:gd name="T11" fmla="*/ 0 h 13"/>
                <a:gd name="T12" fmla="*/ 0 w 23"/>
                <a:gd name="T13" fmla="*/ 11 h 13"/>
                <a:gd name="T14" fmla="*/ 2 w 23"/>
                <a:gd name="T15" fmla="*/ 13 h 13"/>
                <a:gd name="T16" fmla="*/ 4 w 23"/>
                <a:gd name="T17" fmla="*/ 1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3">
                  <a:moveTo>
                    <a:pt x="4" y="11"/>
                  </a:moveTo>
                  <a:cubicBezTo>
                    <a:pt x="4" y="7"/>
                    <a:pt x="7" y="4"/>
                    <a:pt x="12" y="4"/>
                  </a:cubicBezTo>
                  <a:cubicBezTo>
                    <a:pt x="16" y="4"/>
                    <a:pt x="19" y="7"/>
                    <a:pt x="19" y="11"/>
                  </a:cubicBezTo>
                  <a:cubicBezTo>
                    <a:pt x="19" y="12"/>
                    <a:pt x="20" y="13"/>
                    <a:pt x="21" y="13"/>
                  </a:cubicBezTo>
                  <a:cubicBezTo>
                    <a:pt x="22" y="13"/>
                    <a:pt x="23" y="12"/>
                    <a:pt x="23" y="11"/>
                  </a:cubicBezTo>
                  <a:cubicBezTo>
                    <a:pt x="23" y="5"/>
                    <a:pt x="18" y="0"/>
                    <a:pt x="12" y="0"/>
                  </a:cubicBezTo>
                  <a:cubicBezTo>
                    <a:pt x="5" y="0"/>
                    <a:pt x="0" y="5"/>
                    <a:pt x="0" y="11"/>
                  </a:cubicBezTo>
                  <a:cubicBezTo>
                    <a:pt x="0" y="12"/>
                    <a:pt x="1" y="13"/>
                    <a:pt x="2" y="13"/>
                  </a:cubicBezTo>
                  <a:cubicBezTo>
                    <a:pt x="3" y="13"/>
                    <a:pt x="4" y="12"/>
                    <a:pt x="4" y="1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69" name="iṣlïḑé"/>
            <p:cNvSpPr/>
            <p:nvPr/>
          </p:nvSpPr>
          <p:spPr bwMode="auto">
            <a:xfrm>
              <a:off x="7504113" y="2024063"/>
              <a:ext cx="69850" cy="39688"/>
            </a:xfrm>
            <a:custGeom>
              <a:avLst/>
              <a:gdLst>
                <a:gd name="T0" fmla="*/ 4 w 23"/>
                <a:gd name="T1" fmla="*/ 11 h 13"/>
                <a:gd name="T2" fmla="*/ 12 w 23"/>
                <a:gd name="T3" fmla="*/ 4 h 13"/>
                <a:gd name="T4" fmla="*/ 19 w 23"/>
                <a:gd name="T5" fmla="*/ 11 h 13"/>
                <a:gd name="T6" fmla="*/ 21 w 23"/>
                <a:gd name="T7" fmla="*/ 13 h 13"/>
                <a:gd name="T8" fmla="*/ 23 w 23"/>
                <a:gd name="T9" fmla="*/ 11 h 13"/>
                <a:gd name="T10" fmla="*/ 12 w 23"/>
                <a:gd name="T11" fmla="*/ 0 h 13"/>
                <a:gd name="T12" fmla="*/ 0 w 23"/>
                <a:gd name="T13" fmla="*/ 11 h 13"/>
                <a:gd name="T14" fmla="*/ 2 w 23"/>
                <a:gd name="T15" fmla="*/ 13 h 13"/>
                <a:gd name="T16" fmla="*/ 4 w 23"/>
                <a:gd name="T17" fmla="*/ 1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3">
                  <a:moveTo>
                    <a:pt x="4" y="11"/>
                  </a:moveTo>
                  <a:cubicBezTo>
                    <a:pt x="4" y="7"/>
                    <a:pt x="8" y="4"/>
                    <a:pt x="12" y="4"/>
                  </a:cubicBezTo>
                  <a:cubicBezTo>
                    <a:pt x="16" y="4"/>
                    <a:pt x="19" y="7"/>
                    <a:pt x="19" y="11"/>
                  </a:cubicBezTo>
                  <a:cubicBezTo>
                    <a:pt x="19" y="12"/>
                    <a:pt x="20" y="13"/>
                    <a:pt x="21" y="13"/>
                  </a:cubicBezTo>
                  <a:cubicBezTo>
                    <a:pt x="22" y="13"/>
                    <a:pt x="23" y="12"/>
                    <a:pt x="23" y="11"/>
                  </a:cubicBezTo>
                  <a:cubicBezTo>
                    <a:pt x="23" y="5"/>
                    <a:pt x="18" y="0"/>
                    <a:pt x="12" y="0"/>
                  </a:cubicBezTo>
                  <a:cubicBezTo>
                    <a:pt x="5" y="0"/>
                    <a:pt x="0" y="5"/>
                    <a:pt x="0" y="11"/>
                  </a:cubicBezTo>
                  <a:cubicBezTo>
                    <a:pt x="0" y="12"/>
                    <a:pt x="1" y="13"/>
                    <a:pt x="2" y="13"/>
                  </a:cubicBezTo>
                  <a:cubicBezTo>
                    <a:pt x="3" y="13"/>
                    <a:pt x="4" y="12"/>
                    <a:pt x="4" y="1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70" name="ïṣlîḑè"/>
            <p:cNvSpPr/>
            <p:nvPr/>
          </p:nvSpPr>
          <p:spPr bwMode="auto">
            <a:xfrm>
              <a:off x="7600951" y="2219325"/>
              <a:ext cx="133350" cy="12700"/>
            </a:xfrm>
            <a:custGeom>
              <a:avLst/>
              <a:gdLst>
                <a:gd name="T0" fmla="*/ 2 w 44"/>
                <a:gd name="T1" fmla="*/ 4 h 4"/>
                <a:gd name="T2" fmla="*/ 42 w 44"/>
                <a:gd name="T3" fmla="*/ 4 h 4"/>
                <a:gd name="T4" fmla="*/ 44 w 44"/>
                <a:gd name="T5" fmla="*/ 2 h 4"/>
                <a:gd name="T6" fmla="*/ 42 w 44"/>
                <a:gd name="T7" fmla="*/ 0 h 4"/>
                <a:gd name="T8" fmla="*/ 2 w 44"/>
                <a:gd name="T9" fmla="*/ 0 h 4"/>
                <a:gd name="T10" fmla="*/ 0 w 44"/>
                <a:gd name="T11" fmla="*/ 2 h 4"/>
                <a:gd name="T12" fmla="*/ 2 w 4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44" h="4">
                  <a:moveTo>
                    <a:pt x="2" y="4"/>
                  </a:moveTo>
                  <a:cubicBezTo>
                    <a:pt x="42" y="4"/>
                    <a:pt x="42" y="4"/>
                    <a:pt x="42" y="4"/>
                  </a:cubicBezTo>
                  <a:cubicBezTo>
                    <a:pt x="43" y="4"/>
                    <a:pt x="44" y="3"/>
                    <a:pt x="44" y="2"/>
                  </a:cubicBezTo>
                  <a:cubicBezTo>
                    <a:pt x="44" y="0"/>
                    <a:pt x="43" y="0"/>
                    <a:pt x="42" y="0"/>
                  </a:cubicBezTo>
                  <a:cubicBezTo>
                    <a:pt x="2" y="0"/>
                    <a:pt x="2" y="0"/>
                    <a:pt x="2" y="0"/>
                  </a:cubicBezTo>
                  <a:cubicBezTo>
                    <a:pt x="0" y="0"/>
                    <a:pt x="0" y="0"/>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71" name="iSlïḋé"/>
            <p:cNvSpPr/>
            <p:nvPr/>
          </p:nvSpPr>
          <p:spPr bwMode="auto">
            <a:xfrm>
              <a:off x="7805738" y="3214688"/>
              <a:ext cx="147638" cy="144463"/>
            </a:xfrm>
            <a:custGeom>
              <a:avLst/>
              <a:gdLst>
                <a:gd name="T0" fmla="*/ 25 w 49"/>
                <a:gd name="T1" fmla="*/ 48 h 48"/>
                <a:gd name="T2" fmla="*/ 0 w 49"/>
                <a:gd name="T3" fmla="*/ 24 h 48"/>
                <a:gd name="T4" fmla="*/ 25 w 49"/>
                <a:gd name="T5" fmla="*/ 0 h 48"/>
                <a:gd name="T6" fmla="*/ 49 w 49"/>
                <a:gd name="T7" fmla="*/ 24 h 48"/>
                <a:gd name="T8" fmla="*/ 25 w 49"/>
                <a:gd name="T9" fmla="*/ 48 h 48"/>
                <a:gd name="T10" fmla="*/ 25 w 49"/>
                <a:gd name="T11" fmla="*/ 4 h 48"/>
                <a:gd name="T12" fmla="*/ 5 w 49"/>
                <a:gd name="T13" fmla="*/ 24 h 48"/>
                <a:gd name="T14" fmla="*/ 25 w 49"/>
                <a:gd name="T15" fmla="*/ 44 h 48"/>
                <a:gd name="T16" fmla="*/ 45 w 49"/>
                <a:gd name="T17" fmla="*/ 24 h 48"/>
                <a:gd name="T18" fmla="*/ 25 w 49"/>
                <a:gd name="T19"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48">
                  <a:moveTo>
                    <a:pt x="25" y="48"/>
                  </a:moveTo>
                  <a:cubicBezTo>
                    <a:pt x="11" y="48"/>
                    <a:pt x="0" y="37"/>
                    <a:pt x="0" y="24"/>
                  </a:cubicBezTo>
                  <a:cubicBezTo>
                    <a:pt x="0" y="11"/>
                    <a:pt x="11" y="0"/>
                    <a:pt x="25" y="0"/>
                  </a:cubicBezTo>
                  <a:cubicBezTo>
                    <a:pt x="38" y="0"/>
                    <a:pt x="49" y="11"/>
                    <a:pt x="49" y="24"/>
                  </a:cubicBezTo>
                  <a:cubicBezTo>
                    <a:pt x="49" y="37"/>
                    <a:pt x="38" y="48"/>
                    <a:pt x="25" y="48"/>
                  </a:cubicBezTo>
                  <a:close/>
                  <a:moveTo>
                    <a:pt x="25" y="4"/>
                  </a:moveTo>
                  <a:cubicBezTo>
                    <a:pt x="14" y="4"/>
                    <a:pt x="5" y="13"/>
                    <a:pt x="5" y="24"/>
                  </a:cubicBezTo>
                  <a:cubicBezTo>
                    <a:pt x="5" y="35"/>
                    <a:pt x="14" y="44"/>
                    <a:pt x="25" y="44"/>
                  </a:cubicBezTo>
                  <a:cubicBezTo>
                    <a:pt x="36" y="44"/>
                    <a:pt x="45" y="35"/>
                    <a:pt x="45" y="24"/>
                  </a:cubicBezTo>
                  <a:cubicBezTo>
                    <a:pt x="45" y="13"/>
                    <a:pt x="36" y="4"/>
                    <a:pt x="25" y="4"/>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72" name="íšḷíḑe"/>
            <p:cNvSpPr/>
            <p:nvPr/>
          </p:nvSpPr>
          <p:spPr bwMode="auto">
            <a:xfrm>
              <a:off x="4222751" y="2894013"/>
              <a:ext cx="147638" cy="147638"/>
            </a:xfrm>
            <a:custGeom>
              <a:avLst/>
              <a:gdLst>
                <a:gd name="T0" fmla="*/ 25 w 49"/>
                <a:gd name="T1" fmla="*/ 49 h 49"/>
                <a:gd name="T2" fmla="*/ 0 w 49"/>
                <a:gd name="T3" fmla="*/ 24 h 49"/>
                <a:gd name="T4" fmla="*/ 25 w 49"/>
                <a:gd name="T5" fmla="*/ 0 h 49"/>
                <a:gd name="T6" fmla="*/ 49 w 49"/>
                <a:gd name="T7" fmla="*/ 24 h 49"/>
                <a:gd name="T8" fmla="*/ 25 w 49"/>
                <a:gd name="T9" fmla="*/ 49 h 49"/>
                <a:gd name="T10" fmla="*/ 25 w 49"/>
                <a:gd name="T11" fmla="*/ 4 h 49"/>
                <a:gd name="T12" fmla="*/ 5 w 49"/>
                <a:gd name="T13" fmla="*/ 24 h 49"/>
                <a:gd name="T14" fmla="*/ 25 w 49"/>
                <a:gd name="T15" fmla="*/ 44 h 49"/>
                <a:gd name="T16" fmla="*/ 45 w 49"/>
                <a:gd name="T17" fmla="*/ 24 h 49"/>
                <a:gd name="T18" fmla="*/ 25 w 49"/>
                <a:gd name="T19" fmla="*/ 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49">
                  <a:moveTo>
                    <a:pt x="25" y="49"/>
                  </a:moveTo>
                  <a:cubicBezTo>
                    <a:pt x="11" y="49"/>
                    <a:pt x="0" y="38"/>
                    <a:pt x="0" y="24"/>
                  </a:cubicBezTo>
                  <a:cubicBezTo>
                    <a:pt x="0" y="11"/>
                    <a:pt x="11" y="0"/>
                    <a:pt x="25" y="0"/>
                  </a:cubicBezTo>
                  <a:cubicBezTo>
                    <a:pt x="38" y="0"/>
                    <a:pt x="49" y="11"/>
                    <a:pt x="49" y="24"/>
                  </a:cubicBezTo>
                  <a:cubicBezTo>
                    <a:pt x="49" y="38"/>
                    <a:pt x="38" y="49"/>
                    <a:pt x="25" y="49"/>
                  </a:cubicBezTo>
                  <a:close/>
                  <a:moveTo>
                    <a:pt x="25" y="4"/>
                  </a:moveTo>
                  <a:cubicBezTo>
                    <a:pt x="14" y="4"/>
                    <a:pt x="5" y="13"/>
                    <a:pt x="5" y="24"/>
                  </a:cubicBezTo>
                  <a:cubicBezTo>
                    <a:pt x="5" y="35"/>
                    <a:pt x="14" y="44"/>
                    <a:pt x="25" y="44"/>
                  </a:cubicBezTo>
                  <a:cubicBezTo>
                    <a:pt x="36" y="44"/>
                    <a:pt x="45" y="35"/>
                    <a:pt x="45" y="24"/>
                  </a:cubicBezTo>
                  <a:cubicBezTo>
                    <a:pt x="45" y="13"/>
                    <a:pt x="36" y="4"/>
                    <a:pt x="25" y="4"/>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73" name="íṣ1iḍe"/>
            <p:cNvSpPr/>
            <p:nvPr/>
          </p:nvSpPr>
          <p:spPr bwMode="auto">
            <a:xfrm>
              <a:off x="5751513" y="1455738"/>
              <a:ext cx="168275" cy="168275"/>
            </a:xfrm>
            <a:custGeom>
              <a:avLst/>
              <a:gdLst>
                <a:gd name="T0" fmla="*/ 94 w 106"/>
                <a:gd name="T1" fmla="*/ 106 h 106"/>
                <a:gd name="T2" fmla="*/ 0 w 106"/>
                <a:gd name="T3" fmla="*/ 11 h 106"/>
                <a:gd name="T4" fmla="*/ 9 w 106"/>
                <a:gd name="T5" fmla="*/ 0 h 106"/>
                <a:gd name="T6" fmla="*/ 106 w 106"/>
                <a:gd name="T7" fmla="*/ 97 h 106"/>
                <a:gd name="T8" fmla="*/ 94 w 106"/>
                <a:gd name="T9" fmla="*/ 106 h 106"/>
              </a:gdLst>
              <a:ahLst/>
              <a:cxnLst>
                <a:cxn ang="0">
                  <a:pos x="T0" y="T1"/>
                </a:cxn>
                <a:cxn ang="0">
                  <a:pos x="T2" y="T3"/>
                </a:cxn>
                <a:cxn ang="0">
                  <a:pos x="T4" y="T5"/>
                </a:cxn>
                <a:cxn ang="0">
                  <a:pos x="T6" y="T7"/>
                </a:cxn>
                <a:cxn ang="0">
                  <a:pos x="T8" y="T9"/>
                </a:cxn>
              </a:cxnLst>
              <a:rect l="0" t="0" r="r" b="b"/>
              <a:pathLst>
                <a:path w="106" h="106">
                  <a:moveTo>
                    <a:pt x="94" y="106"/>
                  </a:moveTo>
                  <a:lnTo>
                    <a:pt x="0" y="11"/>
                  </a:lnTo>
                  <a:lnTo>
                    <a:pt x="9" y="0"/>
                  </a:lnTo>
                  <a:lnTo>
                    <a:pt x="106" y="97"/>
                  </a:lnTo>
                  <a:lnTo>
                    <a:pt x="94" y="106"/>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74" name="íṩḷïďê"/>
            <p:cNvSpPr/>
            <p:nvPr/>
          </p:nvSpPr>
          <p:spPr bwMode="auto">
            <a:xfrm>
              <a:off x="5751513" y="1455738"/>
              <a:ext cx="168275" cy="168275"/>
            </a:xfrm>
            <a:custGeom>
              <a:avLst/>
              <a:gdLst>
                <a:gd name="T0" fmla="*/ 9 w 106"/>
                <a:gd name="T1" fmla="*/ 106 h 106"/>
                <a:gd name="T2" fmla="*/ 0 w 106"/>
                <a:gd name="T3" fmla="*/ 97 h 106"/>
                <a:gd name="T4" fmla="*/ 94 w 106"/>
                <a:gd name="T5" fmla="*/ 0 h 106"/>
                <a:gd name="T6" fmla="*/ 106 w 106"/>
                <a:gd name="T7" fmla="*/ 11 h 106"/>
                <a:gd name="T8" fmla="*/ 9 w 106"/>
                <a:gd name="T9" fmla="*/ 106 h 106"/>
              </a:gdLst>
              <a:ahLst/>
              <a:cxnLst>
                <a:cxn ang="0">
                  <a:pos x="T0" y="T1"/>
                </a:cxn>
                <a:cxn ang="0">
                  <a:pos x="T2" y="T3"/>
                </a:cxn>
                <a:cxn ang="0">
                  <a:pos x="T4" y="T5"/>
                </a:cxn>
                <a:cxn ang="0">
                  <a:pos x="T6" y="T7"/>
                </a:cxn>
                <a:cxn ang="0">
                  <a:pos x="T8" y="T9"/>
                </a:cxn>
              </a:cxnLst>
              <a:rect l="0" t="0" r="r" b="b"/>
              <a:pathLst>
                <a:path w="106" h="106">
                  <a:moveTo>
                    <a:pt x="9" y="106"/>
                  </a:moveTo>
                  <a:lnTo>
                    <a:pt x="0" y="97"/>
                  </a:lnTo>
                  <a:lnTo>
                    <a:pt x="94" y="0"/>
                  </a:lnTo>
                  <a:lnTo>
                    <a:pt x="106" y="11"/>
                  </a:lnTo>
                  <a:lnTo>
                    <a:pt x="9" y="106"/>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75" name="íṣļiḓé"/>
            <p:cNvSpPr/>
            <p:nvPr/>
          </p:nvSpPr>
          <p:spPr bwMode="auto">
            <a:xfrm>
              <a:off x="4743451" y="4319588"/>
              <a:ext cx="344488" cy="342900"/>
            </a:xfrm>
            <a:custGeom>
              <a:avLst/>
              <a:gdLst>
                <a:gd name="T0" fmla="*/ 109 w 217"/>
                <a:gd name="T1" fmla="*/ 216 h 216"/>
                <a:gd name="T2" fmla="*/ 0 w 217"/>
                <a:gd name="T3" fmla="*/ 108 h 216"/>
                <a:gd name="T4" fmla="*/ 109 w 217"/>
                <a:gd name="T5" fmla="*/ 0 h 216"/>
                <a:gd name="T6" fmla="*/ 217 w 217"/>
                <a:gd name="T7" fmla="*/ 108 h 216"/>
                <a:gd name="T8" fmla="*/ 109 w 217"/>
                <a:gd name="T9" fmla="*/ 216 h 216"/>
                <a:gd name="T10" fmla="*/ 21 w 217"/>
                <a:gd name="T11" fmla="*/ 108 h 216"/>
                <a:gd name="T12" fmla="*/ 109 w 217"/>
                <a:gd name="T13" fmla="*/ 195 h 216"/>
                <a:gd name="T14" fmla="*/ 194 w 217"/>
                <a:gd name="T15" fmla="*/ 108 h 216"/>
                <a:gd name="T16" fmla="*/ 109 w 217"/>
                <a:gd name="T17" fmla="*/ 21 h 216"/>
                <a:gd name="T18" fmla="*/ 21 w 217"/>
                <a:gd name="T19" fmla="*/ 108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 h="216">
                  <a:moveTo>
                    <a:pt x="109" y="216"/>
                  </a:moveTo>
                  <a:lnTo>
                    <a:pt x="0" y="108"/>
                  </a:lnTo>
                  <a:lnTo>
                    <a:pt x="109" y="0"/>
                  </a:lnTo>
                  <a:lnTo>
                    <a:pt x="217" y="108"/>
                  </a:lnTo>
                  <a:lnTo>
                    <a:pt x="109" y="216"/>
                  </a:lnTo>
                  <a:close/>
                  <a:moveTo>
                    <a:pt x="21" y="108"/>
                  </a:moveTo>
                  <a:lnTo>
                    <a:pt x="109" y="195"/>
                  </a:lnTo>
                  <a:lnTo>
                    <a:pt x="194" y="108"/>
                  </a:lnTo>
                  <a:lnTo>
                    <a:pt x="109" y="21"/>
                  </a:lnTo>
                  <a:lnTo>
                    <a:pt x="21" y="108"/>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76" name="îṧļidê"/>
            <p:cNvSpPr/>
            <p:nvPr/>
          </p:nvSpPr>
          <p:spPr bwMode="auto">
            <a:xfrm>
              <a:off x="4168776" y="3244850"/>
              <a:ext cx="342900" cy="342900"/>
            </a:xfrm>
            <a:custGeom>
              <a:avLst/>
              <a:gdLst>
                <a:gd name="T0" fmla="*/ 108 w 216"/>
                <a:gd name="T1" fmla="*/ 216 h 216"/>
                <a:gd name="T2" fmla="*/ 0 w 216"/>
                <a:gd name="T3" fmla="*/ 108 h 216"/>
                <a:gd name="T4" fmla="*/ 108 w 216"/>
                <a:gd name="T5" fmla="*/ 0 h 216"/>
                <a:gd name="T6" fmla="*/ 216 w 216"/>
                <a:gd name="T7" fmla="*/ 108 h 216"/>
                <a:gd name="T8" fmla="*/ 108 w 216"/>
                <a:gd name="T9" fmla="*/ 216 h 216"/>
                <a:gd name="T10" fmla="*/ 21 w 216"/>
                <a:gd name="T11" fmla="*/ 108 h 216"/>
                <a:gd name="T12" fmla="*/ 108 w 216"/>
                <a:gd name="T13" fmla="*/ 194 h 216"/>
                <a:gd name="T14" fmla="*/ 193 w 216"/>
                <a:gd name="T15" fmla="*/ 108 h 216"/>
                <a:gd name="T16" fmla="*/ 108 w 216"/>
                <a:gd name="T17" fmla="*/ 21 h 216"/>
                <a:gd name="T18" fmla="*/ 21 w 216"/>
                <a:gd name="T19" fmla="*/ 108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6" h="216">
                  <a:moveTo>
                    <a:pt x="108" y="216"/>
                  </a:moveTo>
                  <a:lnTo>
                    <a:pt x="0" y="108"/>
                  </a:lnTo>
                  <a:lnTo>
                    <a:pt x="108" y="0"/>
                  </a:lnTo>
                  <a:lnTo>
                    <a:pt x="216" y="108"/>
                  </a:lnTo>
                  <a:lnTo>
                    <a:pt x="108" y="216"/>
                  </a:lnTo>
                  <a:close/>
                  <a:moveTo>
                    <a:pt x="21" y="108"/>
                  </a:moveTo>
                  <a:lnTo>
                    <a:pt x="108" y="194"/>
                  </a:lnTo>
                  <a:lnTo>
                    <a:pt x="193" y="108"/>
                  </a:lnTo>
                  <a:lnTo>
                    <a:pt x="108" y="21"/>
                  </a:lnTo>
                  <a:lnTo>
                    <a:pt x="21" y="108"/>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77" name="ïṥḻïḋé"/>
            <p:cNvSpPr/>
            <p:nvPr/>
          </p:nvSpPr>
          <p:spPr bwMode="auto">
            <a:xfrm>
              <a:off x="7770813" y="3549650"/>
              <a:ext cx="171450" cy="171450"/>
            </a:xfrm>
            <a:custGeom>
              <a:avLst/>
              <a:gdLst>
                <a:gd name="T0" fmla="*/ 53 w 108"/>
                <a:gd name="T1" fmla="*/ 108 h 108"/>
                <a:gd name="T2" fmla="*/ 0 w 108"/>
                <a:gd name="T3" fmla="*/ 55 h 108"/>
                <a:gd name="T4" fmla="*/ 53 w 108"/>
                <a:gd name="T5" fmla="*/ 0 h 108"/>
                <a:gd name="T6" fmla="*/ 108 w 108"/>
                <a:gd name="T7" fmla="*/ 55 h 108"/>
                <a:gd name="T8" fmla="*/ 53 w 108"/>
                <a:gd name="T9" fmla="*/ 108 h 108"/>
                <a:gd name="T10" fmla="*/ 9 w 108"/>
                <a:gd name="T11" fmla="*/ 55 h 108"/>
                <a:gd name="T12" fmla="*/ 53 w 108"/>
                <a:gd name="T13" fmla="*/ 98 h 108"/>
                <a:gd name="T14" fmla="*/ 96 w 108"/>
                <a:gd name="T15" fmla="*/ 55 h 108"/>
                <a:gd name="T16" fmla="*/ 53 w 108"/>
                <a:gd name="T17" fmla="*/ 11 h 108"/>
                <a:gd name="T18" fmla="*/ 9 w 108"/>
                <a:gd name="T19" fmla="*/ 5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3" y="108"/>
                  </a:moveTo>
                  <a:lnTo>
                    <a:pt x="0" y="55"/>
                  </a:lnTo>
                  <a:lnTo>
                    <a:pt x="53" y="0"/>
                  </a:lnTo>
                  <a:lnTo>
                    <a:pt x="108" y="55"/>
                  </a:lnTo>
                  <a:lnTo>
                    <a:pt x="53" y="108"/>
                  </a:lnTo>
                  <a:close/>
                  <a:moveTo>
                    <a:pt x="9" y="55"/>
                  </a:moveTo>
                  <a:lnTo>
                    <a:pt x="53" y="98"/>
                  </a:lnTo>
                  <a:lnTo>
                    <a:pt x="96" y="55"/>
                  </a:lnTo>
                  <a:lnTo>
                    <a:pt x="53" y="11"/>
                  </a:lnTo>
                  <a:lnTo>
                    <a:pt x="9" y="55"/>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78" name="îŝ1ïḑe"/>
            <p:cNvSpPr/>
            <p:nvPr/>
          </p:nvSpPr>
          <p:spPr bwMode="auto">
            <a:xfrm>
              <a:off x="8107363" y="2670175"/>
              <a:ext cx="111125" cy="201613"/>
            </a:xfrm>
            <a:custGeom>
              <a:avLst/>
              <a:gdLst>
                <a:gd name="T0" fmla="*/ 63 w 70"/>
                <a:gd name="T1" fmla="*/ 127 h 127"/>
                <a:gd name="T2" fmla="*/ 0 w 70"/>
                <a:gd name="T3" fmla="*/ 63 h 127"/>
                <a:gd name="T4" fmla="*/ 63 w 70"/>
                <a:gd name="T5" fmla="*/ 0 h 127"/>
                <a:gd name="T6" fmla="*/ 70 w 70"/>
                <a:gd name="T7" fmla="*/ 6 h 127"/>
                <a:gd name="T8" fmla="*/ 13 w 70"/>
                <a:gd name="T9" fmla="*/ 63 h 127"/>
                <a:gd name="T10" fmla="*/ 70 w 70"/>
                <a:gd name="T11" fmla="*/ 120 h 127"/>
                <a:gd name="T12" fmla="*/ 63 w 70"/>
                <a:gd name="T13" fmla="*/ 127 h 127"/>
              </a:gdLst>
              <a:ahLst/>
              <a:cxnLst>
                <a:cxn ang="0">
                  <a:pos x="T0" y="T1"/>
                </a:cxn>
                <a:cxn ang="0">
                  <a:pos x="T2" y="T3"/>
                </a:cxn>
                <a:cxn ang="0">
                  <a:pos x="T4" y="T5"/>
                </a:cxn>
                <a:cxn ang="0">
                  <a:pos x="T6" y="T7"/>
                </a:cxn>
                <a:cxn ang="0">
                  <a:pos x="T8" y="T9"/>
                </a:cxn>
                <a:cxn ang="0">
                  <a:pos x="T10" y="T11"/>
                </a:cxn>
                <a:cxn ang="0">
                  <a:pos x="T12" y="T13"/>
                </a:cxn>
              </a:cxnLst>
              <a:rect l="0" t="0" r="r" b="b"/>
              <a:pathLst>
                <a:path w="70" h="127">
                  <a:moveTo>
                    <a:pt x="63" y="127"/>
                  </a:moveTo>
                  <a:lnTo>
                    <a:pt x="0" y="63"/>
                  </a:lnTo>
                  <a:lnTo>
                    <a:pt x="63" y="0"/>
                  </a:lnTo>
                  <a:lnTo>
                    <a:pt x="70" y="6"/>
                  </a:lnTo>
                  <a:lnTo>
                    <a:pt x="13" y="63"/>
                  </a:lnTo>
                  <a:lnTo>
                    <a:pt x="70" y="120"/>
                  </a:lnTo>
                  <a:lnTo>
                    <a:pt x="63" y="127"/>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79" name="íšlide"/>
            <p:cNvSpPr/>
            <p:nvPr/>
          </p:nvSpPr>
          <p:spPr bwMode="auto">
            <a:xfrm>
              <a:off x="8183563" y="2670175"/>
              <a:ext cx="111125" cy="201613"/>
            </a:xfrm>
            <a:custGeom>
              <a:avLst/>
              <a:gdLst>
                <a:gd name="T0" fmla="*/ 64 w 70"/>
                <a:gd name="T1" fmla="*/ 127 h 127"/>
                <a:gd name="T2" fmla="*/ 0 w 70"/>
                <a:gd name="T3" fmla="*/ 63 h 127"/>
                <a:gd name="T4" fmla="*/ 64 w 70"/>
                <a:gd name="T5" fmla="*/ 0 h 127"/>
                <a:gd name="T6" fmla="*/ 70 w 70"/>
                <a:gd name="T7" fmla="*/ 6 h 127"/>
                <a:gd name="T8" fmla="*/ 13 w 70"/>
                <a:gd name="T9" fmla="*/ 63 h 127"/>
                <a:gd name="T10" fmla="*/ 70 w 70"/>
                <a:gd name="T11" fmla="*/ 120 h 127"/>
                <a:gd name="T12" fmla="*/ 64 w 70"/>
                <a:gd name="T13" fmla="*/ 127 h 127"/>
              </a:gdLst>
              <a:ahLst/>
              <a:cxnLst>
                <a:cxn ang="0">
                  <a:pos x="T0" y="T1"/>
                </a:cxn>
                <a:cxn ang="0">
                  <a:pos x="T2" y="T3"/>
                </a:cxn>
                <a:cxn ang="0">
                  <a:pos x="T4" y="T5"/>
                </a:cxn>
                <a:cxn ang="0">
                  <a:pos x="T6" y="T7"/>
                </a:cxn>
                <a:cxn ang="0">
                  <a:pos x="T8" y="T9"/>
                </a:cxn>
                <a:cxn ang="0">
                  <a:pos x="T10" y="T11"/>
                </a:cxn>
                <a:cxn ang="0">
                  <a:pos x="T12" y="T13"/>
                </a:cxn>
              </a:cxnLst>
              <a:rect l="0" t="0" r="r" b="b"/>
              <a:pathLst>
                <a:path w="70" h="127">
                  <a:moveTo>
                    <a:pt x="64" y="127"/>
                  </a:moveTo>
                  <a:lnTo>
                    <a:pt x="0" y="63"/>
                  </a:lnTo>
                  <a:lnTo>
                    <a:pt x="64" y="0"/>
                  </a:lnTo>
                  <a:lnTo>
                    <a:pt x="70" y="6"/>
                  </a:lnTo>
                  <a:lnTo>
                    <a:pt x="13" y="63"/>
                  </a:lnTo>
                  <a:lnTo>
                    <a:pt x="70" y="120"/>
                  </a:lnTo>
                  <a:lnTo>
                    <a:pt x="64" y="127"/>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80" name="îs1íḑé"/>
            <p:cNvSpPr/>
            <p:nvPr/>
          </p:nvSpPr>
          <p:spPr bwMode="auto">
            <a:xfrm>
              <a:off x="6319838" y="1900238"/>
              <a:ext cx="112713" cy="201613"/>
            </a:xfrm>
            <a:custGeom>
              <a:avLst/>
              <a:gdLst>
                <a:gd name="T0" fmla="*/ 65 w 71"/>
                <a:gd name="T1" fmla="*/ 127 h 127"/>
                <a:gd name="T2" fmla="*/ 0 w 71"/>
                <a:gd name="T3" fmla="*/ 63 h 127"/>
                <a:gd name="T4" fmla="*/ 65 w 71"/>
                <a:gd name="T5" fmla="*/ 0 h 127"/>
                <a:gd name="T6" fmla="*/ 71 w 71"/>
                <a:gd name="T7" fmla="*/ 6 h 127"/>
                <a:gd name="T8" fmla="*/ 14 w 71"/>
                <a:gd name="T9" fmla="*/ 63 h 127"/>
                <a:gd name="T10" fmla="*/ 71 w 71"/>
                <a:gd name="T11" fmla="*/ 120 h 127"/>
                <a:gd name="T12" fmla="*/ 65 w 71"/>
                <a:gd name="T13" fmla="*/ 127 h 127"/>
              </a:gdLst>
              <a:ahLst/>
              <a:cxnLst>
                <a:cxn ang="0">
                  <a:pos x="T0" y="T1"/>
                </a:cxn>
                <a:cxn ang="0">
                  <a:pos x="T2" y="T3"/>
                </a:cxn>
                <a:cxn ang="0">
                  <a:pos x="T4" y="T5"/>
                </a:cxn>
                <a:cxn ang="0">
                  <a:pos x="T6" y="T7"/>
                </a:cxn>
                <a:cxn ang="0">
                  <a:pos x="T8" y="T9"/>
                </a:cxn>
                <a:cxn ang="0">
                  <a:pos x="T10" y="T11"/>
                </a:cxn>
                <a:cxn ang="0">
                  <a:pos x="T12" y="T13"/>
                </a:cxn>
              </a:cxnLst>
              <a:rect l="0" t="0" r="r" b="b"/>
              <a:pathLst>
                <a:path w="71" h="127">
                  <a:moveTo>
                    <a:pt x="65" y="127"/>
                  </a:moveTo>
                  <a:lnTo>
                    <a:pt x="0" y="63"/>
                  </a:lnTo>
                  <a:lnTo>
                    <a:pt x="65" y="0"/>
                  </a:lnTo>
                  <a:lnTo>
                    <a:pt x="71" y="6"/>
                  </a:lnTo>
                  <a:lnTo>
                    <a:pt x="14" y="63"/>
                  </a:lnTo>
                  <a:lnTo>
                    <a:pt x="71" y="120"/>
                  </a:lnTo>
                  <a:lnTo>
                    <a:pt x="65" y="127"/>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81" name="iśliḓê"/>
            <p:cNvSpPr/>
            <p:nvPr/>
          </p:nvSpPr>
          <p:spPr bwMode="auto">
            <a:xfrm>
              <a:off x="6399213" y="1900238"/>
              <a:ext cx="111125" cy="201613"/>
            </a:xfrm>
            <a:custGeom>
              <a:avLst/>
              <a:gdLst>
                <a:gd name="T0" fmla="*/ 64 w 70"/>
                <a:gd name="T1" fmla="*/ 127 h 127"/>
                <a:gd name="T2" fmla="*/ 0 w 70"/>
                <a:gd name="T3" fmla="*/ 63 h 127"/>
                <a:gd name="T4" fmla="*/ 64 w 70"/>
                <a:gd name="T5" fmla="*/ 0 h 127"/>
                <a:gd name="T6" fmla="*/ 70 w 70"/>
                <a:gd name="T7" fmla="*/ 6 h 127"/>
                <a:gd name="T8" fmla="*/ 13 w 70"/>
                <a:gd name="T9" fmla="*/ 63 h 127"/>
                <a:gd name="T10" fmla="*/ 70 w 70"/>
                <a:gd name="T11" fmla="*/ 120 h 127"/>
                <a:gd name="T12" fmla="*/ 64 w 70"/>
                <a:gd name="T13" fmla="*/ 127 h 127"/>
              </a:gdLst>
              <a:ahLst/>
              <a:cxnLst>
                <a:cxn ang="0">
                  <a:pos x="T0" y="T1"/>
                </a:cxn>
                <a:cxn ang="0">
                  <a:pos x="T2" y="T3"/>
                </a:cxn>
                <a:cxn ang="0">
                  <a:pos x="T4" y="T5"/>
                </a:cxn>
                <a:cxn ang="0">
                  <a:pos x="T6" y="T7"/>
                </a:cxn>
                <a:cxn ang="0">
                  <a:pos x="T8" y="T9"/>
                </a:cxn>
                <a:cxn ang="0">
                  <a:pos x="T10" y="T11"/>
                </a:cxn>
                <a:cxn ang="0">
                  <a:pos x="T12" y="T13"/>
                </a:cxn>
              </a:cxnLst>
              <a:rect l="0" t="0" r="r" b="b"/>
              <a:pathLst>
                <a:path w="70" h="127">
                  <a:moveTo>
                    <a:pt x="64" y="127"/>
                  </a:moveTo>
                  <a:lnTo>
                    <a:pt x="0" y="63"/>
                  </a:lnTo>
                  <a:lnTo>
                    <a:pt x="64" y="0"/>
                  </a:lnTo>
                  <a:lnTo>
                    <a:pt x="70" y="6"/>
                  </a:lnTo>
                  <a:lnTo>
                    <a:pt x="13" y="63"/>
                  </a:lnTo>
                  <a:lnTo>
                    <a:pt x="70" y="120"/>
                  </a:lnTo>
                  <a:lnTo>
                    <a:pt x="64" y="127"/>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82" name="îṡľidê"/>
            <p:cNvSpPr/>
            <p:nvPr/>
          </p:nvSpPr>
          <p:spPr bwMode="auto">
            <a:xfrm>
              <a:off x="5865813" y="1846263"/>
              <a:ext cx="177800" cy="166688"/>
            </a:xfrm>
            <a:custGeom>
              <a:avLst/>
              <a:gdLst>
                <a:gd name="T0" fmla="*/ 41 w 59"/>
                <a:gd name="T1" fmla="*/ 55 h 55"/>
                <a:gd name="T2" fmla="*/ 18 w 59"/>
                <a:gd name="T3" fmla="*/ 55 h 55"/>
                <a:gd name="T4" fmla="*/ 12 w 59"/>
                <a:gd name="T5" fmla="*/ 49 h 55"/>
                <a:gd name="T6" fmla="*/ 12 w 59"/>
                <a:gd name="T7" fmla="*/ 35 h 55"/>
                <a:gd name="T8" fmla="*/ 6 w 59"/>
                <a:gd name="T9" fmla="*/ 35 h 55"/>
                <a:gd name="T10" fmla="*/ 1 w 59"/>
                <a:gd name="T11" fmla="*/ 32 h 55"/>
                <a:gd name="T12" fmla="*/ 2 w 59"/>
                <a:gd name="T13" fmla="*/ 26 h 55"/>
                <a:gd name="T14" fmla="*/ 26 w 59"/>
                <a:gd name="T15" fmla="*/ 2 h 55"/>
                <a:gd name="T16" fmla="*/ 34 w 59"/>
                <a:gd name="T17" fmla="*/ 2 h 55"/>
                <a:gd name="T18" fmla="*/ 57 w 59"/>
                <a:gd name="T19" fmla="*/ 26 h 55"/>
                <a:gd name="T20" fmla="*/ 58 w 59"/>
                <a:gd name="T21" fmla="*/ 32 h 55"/>
                <a:gd name="T22" fmla="*/ 53 w 59"/>
                <a:gd name="T23" fmla="*/ 35 h 55"/>
                <a:gd name="T24" fmla="*/ 47 w 59"/>
                <a:gd name="T25" fmla="*/ 35 h 55"/>
                <a:gd name="T26" fmla="*/ 47 w 59"/>
                <a:gd name="T27" fmla="*/ 49 h 55"/>
                <a:gd name="T28" fmla="*/ 41 w 59"/>
                <a:gd name="T29" fmla="*/ 55 h 55"/>
                <a:gd name="T30" fmla="*/ 30 w 59"/>
                <a:gd name="T31" fmla="*/ 5 h 55"/>
                <a:gd name="T32" fmla="*/ 28 w 59"/>
                <a:gd name="T33" fmla="*/ 5 h 55"/>
                <a:gd name="T34" fmla="*/ 5 w 59"/>
                <a:gd name="T35" fmla="*/ 29 h 55"/>
                <a:gd name="T36" fmla="*/ 5 w 59"/>
                <a:gd name="T37" fmla="*/ 30 h 55"/>
                <a:gd name="T38" fmla="*/ 6 w 59"/>
                <a:gd name="T39" fmla="*/ 31 h 55"/>
                <a:gd name="T40" fmla="*/ 16 w 59"/>
                <a:gd name="T41" fmla="*/ 31 h 55"/>
                <a:gd name="T42" fmla="*/ 16 w 59"/>
                <a:gd name="T43" fmla="*/ 49 h 55"/>
                <a:gd name="T44" fmla="*/ 18 w 59"/>
                <a:gd name="T45" fmla="*/ 51 h 55"/>
                <a:gd name="T46" fmla="*/ 41 w 59"/>
                <a:gd name="T47" fmla="*/ 51 h 55"/>
                <a:gd name="T48" fmla="*/ 43 w 59"/>
                <a:gd name="T49" fmla="*/ 49 h 55"/>
                <a:gd name="T50" fmla="*/ 43 w 59"/>
                <a:gd name="T51" fmla="*/ 31 h 55"/>
                <a:gd name="T52" fmla="*/ 53 w 59"/>
                <a:gd name="T53" fmla="*/ 31 h 55"/>
                <a:gd name="T54" fmla="*/ 55 w 59"/>
                <a:gd name="T55" fmla="*/ 30 h 55"/>
                <a:gd name="T56" fmla="*/ 54 w 59"/>
                <a:gd name="T57" fmla="*/ 29 h 55"/>
                <a:gd name="T58" fmla="*/ 31 w 59"/>
                <a:gd name="T59" fmla="*/ 5 h 55"/>
                <a:gd name="T60" fmla="*/ 30 w 59"/>
                <a:gd name="T61" fmla="*/ 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9" h="55">
                  <a:moveTo>
                    <a:pt x="41" y="55"/>
                  </a:moveTo>
                  <a:cubicBezTo>
                    <a:pt x="18" y="55"/>
                    <a:pt x="18" y="55"/>
                    <a:pt x="18" y="55"/>
                  </a:cubicBezTo>
                  <a:cubicBezTo>
                    <a:pt x="15" y="55"/>
                    <a:pt x="12" y="52"/>
                    <a:pt x="12" y="49"/>
                  </a:cubicBezTo>
                  <a:cubicBezTo>
                    <a:pt x="12" y="35"/>
                    <a:pt x="12" y="35"/>
                    <a:pt x="12" y="35"/>
                  </a:cubicBezTo>
                  <a:cubicBezTo>
                    <a:pt x="6" y="35"/>
                    <a:pt x="6" y="35"/>
                    <a:pt x="6" y="35"/>
                  </a:cubicBezTo>
                  <a:cubicBezTo>
                    <a:pt x="4" y="35"/>
                    <a:pt x="2" y="34"/>
                    <a:pt x="1" y="32"/>
                  </a:cubicBezTo>
                  <a:cubicBezTo>
                    <a:pt x="0" y="30"/>
                    <a:pt x="1" y="27"/>
                    <a:pt x="2" y="26"/>
                  </a:cubicBezTo>
                  <a:cubicBezTo>
                    <a:pt x="26" y="2"/>
                    <a:pt x="26" y="2"/>
                    <a:pt x="26" y="2"/>
                  </a:cubicBezTo>
                  <a:cubicBezTo>
                    <a:pt x="28" y="0"/>
                    <a:pt x="31" y="0"/>
                    <a:pt x="34" y="2"/>
                  </a:cubicBezTo>
                  <a:cubicBezTo>
                    <a:pt x="57" y="26"/>
                    <a:pt x="57" y="26"/>
                    <a:pt x="57" y="26"/>
                  </a:cubicBezTo>
                  <a:cubicBezTo>
                    <a:pt x="59" y="27"/>
                    <a:pt x="59" y="30"/>
                    <a:pt x="58" y="32"/>
                  </a:cubicBezTo>
                  <a:cubicBezTo>
                    <a:pt x="57" y="34"/>
                    <a:pt x="55" y="35"/>
                    <a:pt x="53" y="35"/>
                  </a:cubicBezTo>
                  <a:cubicBezTo>
                    <a:pt x="47" y="35"/>
                    <a:pt x="47" y="35"/>
                    <a:pt x="47" y="35"/>
                  </a:cubicBezTo>
                  <a:cubicBezTo>
                    <a:pt x="47" y="49"/>
                    <a:pt x="47" y="49"/>
                    <a:pt x="47" y="49"/>
                  </a:cubicBezTo>
                  <a:cubicBezTo>
                    <a:pt x="47" y="52"/>
                    <a:pt x="45" y="55"/>
                    <a:pt x="41" y="55"/>
                  </a:cubicBezTo>
                  <a:close/>
                  <a:moveTo>
                    <a:pt x="30" y="5"/>
                  </a:moveTo>
                  <a:cubicBezTo>
                    <a:pt x="29" y="5"/>
                    <a:pt x="29" y="5"/>
                    <a:pt x="28" y="5"/>
                  </a:cubicBezTo>
                  <a:cubicBezTo>
                    <a:pt x="5" y="29"/>
                    <a:pt x="5" y="29"/>
                    <a:pt x="5" y="29"/>
                  </a:cubicBezTo>
                  <a:cubicBezTo>
                    <a:pt x="4" y="29"/>
                    <a:pt x="5" y="30"/>
                    <a:pt x="5" y="30"/>
                  </a:cubicBezTo>
                  <a:cubicBezTo>
                    <a:pt x="5" y="31"/>
                    <a:pt x="5" y="31"/>
                    <a:pt x="6" y="31"/>
                  </a:cubicBezTo>
                  <a:cubicBezTo>
                    <a:pt x="16" y="31"/>
                    <a:pt x="16" y="31"/>
                    <a:pt x="16" y="31"/>
                  </a:cubicBezTo>
                  <a:cubicBezTo>
                    <a:pt x="16" y="49"/>
                    <a:pt x="16" y="49"/>
                    <a:pt x="16" y="49"/>
                  </a:cubicBezTo>
                  <a:cubicBezTo>
                    <a:pt x="16" y="50"/>
                    <a:pt x="17" y="51"/>
                    <a:pt x="18" y="51"/>
                  </a:cubicBezTo>
                  <a:cubicBezTo>
                    <a:pt x="41" y="51"/>
                    <a:pt x="41" y="51"/>
                    <a:pt x="41" y="51"/>
                  </a:cubicBezTo>
                  <a:cubicBezTo>
                    <a:pt x="42" y="51"/>
                    <a:pt x="43" y="50"/>
                    <a:pt x="43" y="49"/>
                  </a:cubicBezTo>
                  <a:cubicBezTo>
                    <a:pt x="43" y="31"/>
                    <a:pt x="43" y="31"/>
                    <a:pt x="43" y="31"/>
                  </a:cubicBezTo>
                  <a:cubicBezTo>
                    <a:pt x="53" y="31"/>
                    <a:pt x="53" y="31"/>
                    <a:pt x="53" y="31"/>
                  </a:cubicBezTo>
                  <a:cubicBezTo>
                    <a:pt x="54" y="31"/>
                    <a:pt x="54" y="31"/>
                    <a:pt x="55" y="30"/>
                  </a:cubicBezTo>
                  <a:cubicBezTo>
                    <a:pt x="55" y="30"/>
                    <a:pt x="55" y="29"/>
                    <a:pt x="54" y="29"/>
                  </a:cubicBezTo>
                  <a:cubicBezTo>
                    <a:pt x="31" y="5"/>
                    <a:pt x="31" y="5"/>
                    <a:pt x="31" y="5"/>
                  </a:cubicBezTo>
                  <a:cubicBezTo>
                    <a:pt x="31" y="5"/>
                    <a:pt x="30" y="5"/>
                    <a:pt x="30" y="5"/>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83" name="iŝliḋe"/>
            <p:cNvSpPr/>
            <p:nvPr/>
          </p:nvSpPr>
          <p:spPr bwMode="auto">
            <a:xfrm>
              <a:off x="8016876" y="2228850"/>
              <a:ext cx="177800" cy="165100"/>
            </a:xfrm>
            <a:custGeom>
              <a:avLst/>
              <a:gdLst>
                <a:gd name="T0" fmla="*/ 41 w 59"/>
                <a:gd name="T1" fmla="*/ 55 h 55"/>
                <a:gd name="T2" fmla="*/ 18 w 59"/>
                <a:gd name="T3" fmla="*/ 55 h 55"/>
                <a:gd name="T4" fmla="*/ 12 w 59"/>
                <a:gd name="T5" fmla="*/ 49 h 55"/>
                <a:gd name="T6" fmla="*/ 12 w 59"/>
                <a:gd name="T7" fmla="*/ 35 h 55"/>
                <a:gd name="T8" fmla="*/ 6 w 59"/>
                <a:gd name="T9" fmla="*/ 35 h 55"/>
                <a:gd name="T10" fmla="*/ 1 w 59"/>
                <a:gd name="T11" fmla="*/ 32 h 55"/>
                <a:gd name="T12" fmla="*/ 2 w 59"/>
                <a:gd name="T13" fmla="*/ 26 h 55"/>
                <a:gd name="T14" fmla="*/ 26 w 59"/>
                <a:gd name="T15" fmla="*/ 2 h 55"/>
                <a:gd name="T16" fmla="*/ 34 w 59"/>
                <a:gd name="T17" fmla="*/ 2 h 55"/>
                <a:gd name="T18" fmla="*/ 57 w 59"/>
                <a:gd name="T19" fmla="*/ 26 h 55"/>
                <a:gd name="T20" fmla="*/ 58 w 59"/>
                <a:gd name="T21" fmla="*/ 32 h 55"/>
                <a:gd name="T22" fmla="*/ 53 w 59"/>
                <a:gd name="T23" fmla="*/ 35 h 55"/>
                <a:gd name="T24" fmla="*/ 47 w 59"/>
                <a:gd name="T25" fmla="*/ 35 h 55"/>
                <a:gd name="T26" fmla="*/ 47 w 59"/>
                <a:gd name="T27" fmla="*/ 49 h 55"/>
                <a:gd name="T28" fmla="*/ 41 w 59"/>
                <a:gd name="T29" fmla="*/ 55 h 55"/>
                <a:gd name="T30" fmla="*/ 30 w 59"/>
                <a:gd name="T31" fmla="*/ 5 h 55"/>
                <a:gd name="T32" fmla="*/ 29 w 59"/>
                <a:gd name="T33" fmla="*/ 5 h 55"/>
                <a:gd name="T34" fmla="*/ 5 w 59"/>
                <a:gd name="T35" fmla="*/ 29 h 55"/>
                <a:gd name="T36" fmla="*/ 5 w 59"/>
                <a:gd name="T37" fmla="*/ 30 h 55"/>
                <a:gd name="T38" fmla="*/ 6 w 59"/>
                <a:gd name="T39" fmla="*/ 31 h 55"/>
                <a:gd name="T40" fmla="*/ 16 w 59"/>
                <a:gd name="T41" fmla="*/ 31 h 55"/>
                <a:gd name="T42" fmla="*/ 16 w 59"/>
                <a:gd name="T43" fmla="*/ 49 h 55"/>
                <a:gd name="T44" fmla="*/ 18 w 59"/>
                <a:gd name="T45" fmla="*/ 51 h 55"/>
                <a:gd name="T46" fmla="*/ 41 w 59"/>
                <a:gd name="T47" fmla="*/ 51 h 55"/>
                <a:gd name="T48" fmla="*/ 43 w 59"/>
                <a:gd name="T49" fmla="*/ 49 h 55"/>
                <a:gd name="T50" fmla="*/ 43 w 59"/>
                <a:gd name="T51" fmla="*/ 31 h 55"/>
                <a:gd name="T52" fmla="*/ 53 w 59"/>
                <a:gd name="T53" fmla="*/ 31 h 55"/>
                <a:gd name="T54" fmla="*/ 55 w 59"/>
                <a:gd name="T55" fmla="*/ 30 h 55"/>
                <a:gd name="T56" fmla="*/ 54 w 59"/>
                <a:gd name="T57" fmla="*/ 29 h 55"/>
                <a:gd name="T58" fmla="*/ 31 w 59"/>
                <a:gd name="T59" fmla="*/ 5 h 55"/>
                <a:gd name="T60" fmla="*/ 30 w 59"/>
                <a:gd name="T61" fmla="*/ 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9" h="55">
                  <a:moveTo>
                    <a:pt x="41" y="55"/>
                  </a:moveTo>
                  <a:cubicBezTo>
                    <a:pt x="18" y="55"/>
                    <a:pt x="18" y="55"/>
                    <a:pt x="18" y="55"/>
                  </a:cubicBezTo>
                  <a:cubicBezTo>
                    <a:pt x="15" y="55"/>
                    <a:pt x="12" y="53"/>
                    <a:pt x="12" y="49"/>
                  </a:cubicBezTo>
                  <a:cubicBezTo>
                    <a:pt x="12" y="35"/>
                    <a:pt x="12" y="35"/>
                    <a:pt x="12" y="35"/>
                  </a:cubicBezTo>
                  <a:cubicBezTo>
                    <a:pt x="6" y="35"/>
                    <a:pt x="6" y="35"/>
                    <a:pt x="6" y="35"/>
                  </a:cubicBezTo>
                  <a:cubicBezTo>
                    <a:pt x="4" y="35"/>
                    <a:pt x="2" y="34"/>
                    <a:pt x="1" y="32"/>
                  </a:cubicBezTo>
                  <a:cubicBezTo>
                    <a:pt x="0" y="30"/>
                    <a:pt x="1" y="27"/>
                    <a:pt x="2" y="26"/>
                  </a:cubicBezTo>
                  <a:cubicBezTo>
                    <a:pt x="26" y="2"/>
                    <a:pt x="26" y="2"/>
                    <a:pt x="26" y="2"/>
                  </a:cubicBezTo>
                  <a:cubicBezTo>
                    <a:pt x="28" y="0"/>
                    <a:pt x="31" y="0"/>
                    <a:pt x="34" y="2"/>
                  </a:cubicBezTo>
                  <a:cubicBezTo>
                    <a:pt x="57" y="26"/>
                    <a:pt x="57" y="26"/>
                    <a:pt x="57" y="26"/>
                  </a:cubicBezTo>
                  <a:cubicBezTo>
                    <a:pt x="59" y="27"/>
                    <a:pt x="59" y="30"/>
                    <a:pt x="58" y="32"/>
                  </a:cubicBezTo>
                  <a:cubicBezTo>
                    <a:pt x="57" y="34"/>
                    <a:pt x="55" y="35"/>
                    <a:pt x="53" y="35"/>
                  </a:cubicBezTo>
                  <a:cubicBezTo>
                    <a:pt x="47" y="35"/>
                    <a:pt x="47" y="35"/>
                    <a:pt x="47" y="35"/>
                  </a:cubicBezTo>
                  <a:cubicBezTo>
                    <a:pt x="47" y="49"/>
                    <a:pt x="47" y="49"/>
                    <a:pt x="47" y="49"/>
                  </a:cubicBezTo>
                  <a:cubicBezTo>
                    <a:pt x="47" y="53"/>
                    <a:pt x="45" y="55"/>
                    <a:pt x="41" y="55"/>
                  </a:cubicBezTo>
                  <a:close/>
                  <a:moveTo>
                    <a:pt x="30" y="5"/>
                  </a:moveTo>
                  <a:cubicBezTo>
                    <a:pt x="29" y="5"/>
                    <a:pt x="29" y="5"/>
                    <a:pt x="29" y="5"/>
                  </a:cubicBezTo>
                  <a:cubicBezTo>
                    <a:pt x="5" y="29"/>
                    <a:pt x="5" y="29"/>
                    <a:pt x="5" y="29"/>
                  </a:cubicBezTo>
                  <a:cubicBezTo>
                    <a:pt x="4" y="29"/>
                    <a:pt x="5" y="30"/>
                    <a:pt x="5" y="30"/>
                  </a:cubicBezTo>
                  <a:cubicBezTo>
                    <a:pt x="5" y="31"/>
                    <a:pt x="5" y="31"/>
                    <a:pt x="6" y="31"/>
                  </a:cubicBezTo>
                  <a:cubicBezTo>
                    <a:pt x="16" y="31"/>
                    <a:pt x="16" y="31"/>
                    <a:pt x="16" y="31"/>
                  </a:cubicBezTo>
                  <a:cubicBezTo>
                    <a:pt x="16" y="49"/>
                    <a:pt x="16" y="49"/>
                    <a:pt x="16" y="49"/>
                  </a:cubicBezTo>
                  <a:cubicBezTo>
                    <a:pt x="16" y="50"/>
                    <a:pt x="17" y="51"/>
                    <a:pt x="18" y="51"/>
                  </a:cubicBezTo>
                  <a:cubicBezTo>
                    <a:pt x="41" y="51"/>
                    <a:pt x="41" y="51"/>
                    <a:pt x="41" y="51"/>
                  </a:cubicBezTo>
                  <a:cubicBezTo>
                    <a:pt x="43" y="51"/>
                    <a:pt x="43" y="50"/>
                    <a:pt x="43" y="49"/>
                  </a:cubicBezTo>
                  <a:cubicBezTo>
                    <a:pt x="43" y="31"/>
                    <a:pt x="43" y="31"/>
                    <a:pt x="43" y="31"/>
                  </a:cubicBezTo>
                  <a:cubicBezTo>
                    <a:pt x="53" y="31"/>
                    <a:pt x="53" y="31"/>
                    <a:pt x="53" y="31"/>
                  </a:cubicBezTo>
                  <a:cubicBezTo>
                    <a:pt x="54" y="31"/>
                    <a:pt x="55" y="31"/>
                    <a:pt x="55" y="30"/>
                  </a:cubicBezTo>
                  <a:cubicBezTo>
                    <a:pt x="55" y="30"/>
                    <a:pt x="55" y="29"/>
                    <a:pt x="54" y="29"/>
                  </a:cubicBezTo>
                  <a:cubicBezTo>
                    <a:pt x="31" y="5"/>
                    <a:pt x="31" y="5"/>
                    <a:pt x="31" y="5"/>
                  </a:cubicBezTo>
                  <a:cubicBezTo>
                    <a:pt x="31" y="5"/>
                    <a:pt x="30" y="5"/>
                    <a:pt x="30" y="5"/>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grpSp>
    </p:spTree>
    <p:extLst>
      <p:ext uri="{BB962C8B-B14F-4D97-AF65-F5344CB8AC3E}">
        <p14:creationId xmlns:p14="http://schemas.microsoft.com/office/powerpoint/2010/main" val="245123119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25911"/>
            <a:ext cx="5269706" cy="415498"/>
          </a:xfrm>
          <a:prstGeom prst="rect">
            <a:avLst/>
          </a:prstGeom>
        </p:spPr>
        <p:txBody>
          <a:bodyPr wrap="square">
            <a:spAutoFit/>
          </a:bodyPr>
          <a:lstStyle/>
          <a:p>
            <a:r>
              <a:rPr lang="zh-CN" altLang="en-US" sz="2100" b="1" dirty="0">
                <a:solidFill>
                  <a:schemeClr val="bg1"/>
                </a:solidFill>
              </a:rPr>
              <a:t>存在问题及解决方案</a:t>
            </a:r>
          </a:p>
        </p:txBody>
      </p:sp>
      <p:sp>
        <p:nvSpPr>
          <p:cNvPr id="9" name="iṥlídè"/>
          <p:cNvSpPr/>
          <p:nvPr/>
        </p:nvSpPr>
        <p:spPr>
          <a:xfrm>
            <a:off x="4996523" y="1762509"/>
            <a:ext cx="3925316" cy="3756215"/>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lang="zh-CN" altLang="en-US" sz="1800" dirty="0"/>
          </a:p>
        </p:txBody>
      </p:sp>
      <p:grpSp>
        <p:nvGrpSpPr>
          <p:cNvPr id="10" name="iṡļiḓe"/>
          <p:cNvGrpSpPr/>
          <p:nvPr/>
        </p:nvGrpSpPr>
        <p:grpSpPr>
          <a:xfrm>
            <a:off x="502444" y="1703968"/>
            <a:ext cx="4380594" cy="1529087"/>
            <a:chOff x="653628" y="1293168"/>
            <a:chExt cx="5840792" cy="2038782"/>
          </a:xfrm>
        </p:grpSpPr>
        <p:sp>
          <p:nvSpPr>
            <p:cNvPr id="24" name="îṧľîḋé"/>
            <p:cNvSpPr txBox="1"/>
            <p:nvPr/>
          </p:nvSpPr>
          <p:spPr>
            <a:xfrm>
              <a:off x="1309446" y="1293168"/>
              <a:ext cx="5184974" cy="2038782"/>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3000"/>
                </a:lnSpc>
              </a:pPr>
              <a:r>
                <a:rPr lang="zh-CN" altLang="en-US" dirty="0"/>
                <a:t>可能引起死锁，如五个哲学家同时饥饿而各自拿起左筷子时，会使信号量</a:t>
              </a:r>
              <a:r>
                <a:rPr lang="en-US" altLang="zh-CN" dirty="0"/>
                <a:t>chopstick</a:t>
              </a:r>
              <a:r>
                <a:rPr lang="zh-CN" altLang="en-US" dirty="0"/>
                <a:t>均为</a:t>
              </a:r>
              <a:r>
                <a:rPr lang="en-US" altLang="zh-CN" dirty="0"/>
                <a:t>0</a:t>
              </a:r>
              <a:r>
                <a:rPr lang="zh-CN" altLang="en-US" dirty="0"/>
                <a:t>；因此他们试图去拿右筷子时，无法拿到而无限期等待。</a:t>
              </a:r>
            </a:p>
          </p:txBody>
        </p:sp>
        <p:grpSp>
          <p:nvGrpSpPr>
            <p:cNvPr id="21" name="ïS1íḋé"/>
            <p:cNvGrpSpPr/>
            <p:nvPr/>
          </p:nvGrpSpPr>
          <p:grpSpPr>
            <a:xfrm>
              <a:off x="653628" y="1989925"/>
              <a:ext cx="497734" cy="497734"/>
              <a:chOff x="653628" y="1989925"/>
              <a:chExt cx="497734" cy="497734"/>
            </a:xfrm>
          </p:grpSpPr>
          <p:sp>
            <p:nvSpPr>
              <p:cNvPr id="22" name="islîḋe"/>
              <p:cNvSpPr/>
              <p:nvPr/>
            </p:nvSpPr>
            <p:spPr>
              <a:xfrm>
                <a:off x="653628" y="1989925"/>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200" dirty="0">
                  <a:solidFill>
                    <a:schemeClr val="bg1"/>
                  </a:solidFill>
                </a:endParaRPr>
              </a:p>
            </p:txBody>
          </p:sp>
          <p:sp>
            <p:nvSpPr>
              <p:cNvPr id="23" name="îŝlîďe"/>
              <p:cNvSpPr/>
              <p:nvPr/>
            </p:nvSpPr>
            <p:spPr>
              <a:xfrm>
                <a:off x="773076" y="212136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500" b="1" dirty="0">
                  <a:solidFill>
                    <a:schemeClr val="bg1"/>
                  </a:solidFill>
                </a:endParaRPr>
              </a:p>
            </p:txBody>
          </p:sp>
        </p:grpSp>
      </p:grpSp>
      <p:grpSp>
        <p:nvGrpSpPr>
          <p:cNvPr id="11" name="iŝļïḓê"/>
          <p:cNvGrpSpPr/>
          <p:nvPr/>
        </p:nvGrpSpPr>
        <p:grpSpPr>
          <a:xfrm>
            <a:off x="502444" y="3562699"/>
            <a:ext cx="4494078" cy="2178975"/>
            <a:chOff x="660400" y="1935907"/>
            <a:chExt cx="5992104" cy="2905300"/>
          </a:xfrm>
        </p:grpSpPr>
        <p:grpSp>
          <p:nvGrpSpPr>
            <p:cNvPr id="13" name="ïṧļïḓe"/>
            <p:cNvGrpSpPr/>
            <p:nvPr/>
          </p:nvGrpSpPr>
          <p:grpSpPr>
            <a:xfrm>
              <a:off x="1309446" y="1935907"/>
              <a:ext cx="5343058" cy="2905300"/>
              <a:chOff x="1312811" y="1935907"/>
              <a:chExt cx="6738934" cy="2905300"/>
            </a:xfrm>
          </p:grpSpPr>
          <p:sp>
            <p:nvSpPr>
              <p:cNvPr id="17" name="ïšļíďè"/>
              <p:cNvSpPr txBox="1"/>
              <p:nvPr/>
            </p:nvSpPr>
            <p:spPr>
              <a:xfrm>
                <a:off x="1312811" y="1935907"/>
                <a:ext cx="6293555" cy="389423"/>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dirty="0">
                    <a:solidFill>
                      <a:srgbClr val="FF0000"/>
                    </a:solidFill>
                  </a:rPr>
                  <a:t>解决方法：</a:t>
                </a:r>
              </a:p>
            </p:txBody>
          </p:sp>
          <p:sp>
            <p:nvSpPr>
              <p:cNvPr id="18" name="íşľíḑè"/>
              <p:cNvSpPr/>
              <p:nvPr/>
            </p:nvSpPr>
            <p:spPr bwMode="auto">
              <a:xfrm>
                <a:off x="1312811" y="2369102"/>
                <a:ext cx="6738934" cy="24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1" indent="-342900">
                  <a:lnSpc>
                    <a:spcPct val="123000"/>
                  </a:lnSpc>
                  <a:buClr>
                    <a:srgbClr val="FF0000"/>
                  </a:buClr>
                  <a:buFont typeface="+mj-ea"/>
                  <a:buAutoNum type="circleNumDbPlain"/>
                </a:pPr>
                <a:r>
                  <a:rPr lang="zh-CN" altLang="en-US" sz="1650" dirty="0"/>
                  <a:t>最多允许</a:t>
                </a:r>
                <a:r>
                  <a:rPr lang="en-US" altLang="zh-CN" sz="1650" dirty="0"/>
                  <a:t>4</a:t>
                </a:r>
                <a:r>
                  <a:rPr lang="zh-CN" altLang="en-US" sz="1650" dirty="0"/>
                  <a:t>个哲学家同时坐在桌子周围</a:t>
                </a:r>
              </a:p>
              <a:p>
                <a:pPr lvl="1" indent="-342900">
                  <a:lnSpc>
                    <a:spcPct val="123000"/>
                  </a:lnSpc>
                  <a:buClr>
                    <a:srgbClr val="FF0000"/>
                  </a:buClr>
                  <a:buFont typeface="+mj-ea"/>
                  <a:buAutoNum type="circleNumDbPlain"/>
                </a:pPr>
                <a:r>
                  <a:rPr lang="zh-CN" altLang="en-US" sz="1650" dirty="0"/>
                  <a:t>仅当一个哲学家左右两边的筷子都可用时，才允许他拿筷子。</a:t>
                </a:r>
              </a:p>
              <a:p>
                <a:pPr lvl="1" indent="-342900">
                  <a:lnSpc>
                    <a:spcPct val="123000"/>
                  </a:lnSpc>
                  <a:buClr>
                    <a:srgbClr val="FF0000"/>
                  </a:buClr>
                  <a:buFont typeface="+mj-ea"/>
                  <a:buAutoNum type="circleNumDbPlain"/>
                </a:pPr>
                <a:r>
                  <a:rPr lang="zh-CN" altLang="en-US" sz="1650" dirty="0"/>
                  <a:t>给所有哲学家编号，奇数号的哲学家必须首先拿左边的筷子，偶数号的哲学家则反之</a:t>
                </a:r>
              </a:p>
            </p:txBody>
          </p:sp>
        </p:grpSp>
        <p:grpSp>
          <p:nvGrpSpPr>
            <p:cNvPr id="14" name="ïŝľídè"/>
            <p:cNvGrpSpPr/>
            <p:nvPr/>
          </p:nvGrpSpPr>
          <p:grpSpPr>
            <a:xfrm>
              <a:off x="660400" y="2096245"/>
              <a:ext cx="497734" cy="497734"/>
              <a:chOff x="660400" y="2096245"/>
              <a:chExt cx="497734" cy="497734"/>
            </a:xfrm>
          </p:grpSpPr>
          <p:sp>
            <p:nvSpPr>
              <p:cNvPr id="15"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200" dirty="0">
                  <a:solidFill>
                    <a:schemeClr val="bg1"/>
                  </a:solidFill>
                </a:endParaRPr>
              </a:p>
            </p:txBody>
          </p:sp>
          <p:sp>
            <p:nvSpPr>
              <p:cNvPr id="16"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500" b="1" dirty="0">
                  <a:solidFill>
                    <a:schemeClr val="bg1"/>
                  </a:solidFill>
                </a:endParaRPr>
              </a:p>
            </p:txBody>
          </p:sp>
        </p:grpSp>
      </p:grpSp>
      <p:cxnSp>
        <p:nvCxnSpPr>
          <p:cNvPr id="12" name="直接连接符 11"/>
          <p:cNvCxnSpPr/>
          <p:nvPr/>
        </p:nvCxnSpPr>
        <p:spPr>
          <a:xfrm>
            <a:off x="1040440" y="3397877"/>
            <a:ext cx="364002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288168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99248" y="1895951"/>
            <a:ext cx="3048000" cy="369332"/>
          </a:xfrm>
          <a:prstGeom prst="rect">
            <a:avLst/>
          </a:prstGeom>
          <a:noFill/>
        </p:spPr>
        <p:txBody>
          <a:bodyPr wrap="square" rtlCol="0">
            <a:spAutoFit/>
          </a:bodyPr>
          <a:lstStyle/>
          <a:p>
            <a:endParaRPr lang="zh-CN" altLang="en-US" sz="1800"/>
          </a:p>
        </p:txBody>
      </p:sp>
    </p:spTree>
    <p:extLst>
      <p:ext uri="{BB962C8B-B14F-4D97-AF65-F5344CB8AC3E}">
        <p14:creationId xmlns:p14="http://schemas.microsoft.com/office/powerpoint/2010/main" val="18009992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灯片编号占位符 5"/>
          <p:cNvSpPr txBox="1">
            <a:spLocks noGrp="1" noChangeArrowheads="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b" anchorCtr="0" compatLnSpc="1"/>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defTabSz="685800">
              <a:buFont typeface="Arial" panose="020B0604020202020204" pitchFamily="34" charset="0"/>
              <a:buChar char="•"/>
              <a:defRPr/>
            </a:pPr>
            <a:fld id="{572E6068-EFA4-4E43-B34D-A90CB4260063}" type="slidenum">
              <a:rPr lang="zh-CN" altLang="zh-CN" sz="1050" i="0" noProof="1">
                <a:solidFill>
                  <a:srgbClr val="000000"/>
                </a:solidFill>
                <a:cs typeface="+mn-ea"/>
              </a:rPr>
              <a:pPr algn="r" defTabSz="685800">
                <a:buFont typeface="Arial" panose="020B0604020202020204" pitchFamily="34" charset="0"/>
                <a:buChar char="•"/>
                <a:defRPr/>
              </a:pPr>
              <a:t>133</a:t>
            </a:fld>
            <a:endParaRPr lang="zh-CN" altLang="zh-CN" sz="1050" i="0" noProof="1">
              <a:solidFill>
                <a:srgbClr val="000000"/>
              </a:solidFill>
              <a:cs typeface="+mn-ea"/>
            </a:endParaRPr>
          </a:p>
        </p:txBody>
      </p:sp>
      <p:sp>
        <p:nvSpPr>
          <p:cNvPr id="55298" name="Rectangle 3"/>
          <p:cNvSpPr>
            <a:spLocks noGrp="1"/>
          </p:cNvSpPr>
          <p:nvPr>
            <p:ph idx="1"/>
          </p:nvPr>
        </p:nvSpPr>
        <p:spPr>
          <a:xfrm>
            <a:off x="1494235" y="2025253"/>
            <a:ext cx="6372225" cy="3509963"/>
          </a:xfrm>
        </p:spPr>
        <p:txBody>
          <a:bodyPr vert="horz" wrap="square" lIns="68580" tIns="34290" rIns="68580" bIns="34290" anchor="t" anchorCtr="0"/>
          <a:lstStyle/>
          <a:p>
            <a:pPr eaLnBrk="1" hangingPunct="1">
              <a:buNone/>
            </a:pPr>
            <a:r>
              <a:rPr lang="en-US" altLang="zh-CN" sz="1800" b="1" dirty="0"/>
              <a:t> </a:t>
            </a:r>
            <a:r>
              <a:rPr lang="zh-CN" altLang="zh-CN" sz="1800" b="1" dirty="0"/>
              <a:t>While(true){</a:t>
            </a:r>
          </a:p>
          <a:p>
            <a:pPr eaLnBrk="1" hangingPunct="1">
              <a:buNone/>
            </a:pPr>
            <a:r>
              <a:rPr lang="zh-CN" altLang="zh-CN" sz="1800" b="1" dirty="0"/>
              <a:t>		think;</a:t>
            </a:r>
          </a:p>
          <a:p>
            <a:pPr eaLnBrk="1" hangingPunct="1">
              <a:buNone/>
            </a:pPr>
            <a:r>
              <a:rPr lang="zh-CN" altLang="zh-CN" sz="1800" b="1" dirty="0"/>
              <a:t>		</a:t>
            </a:r>
            <a:r>
              <a:rPr lang="en-US" altLang="zh-CN" sz="1800" b="1" dirty="0">
                <a:solidFill>
                  <a:srgbClr val="FF0000"/>
                </a:solidFill>
              </a:rPr>
              <a:t>P(count);</a:t>
            </a:r>
          </a:p>
          <a:p>
            <a:pPr eaLnBrk="1" hangingPunct="1">
              <a:buNone/>
            </a:pPr>
            <a:r>
              <a:rPr lang="en-US" altLang="zh-CN" sz="1800" b="1" dirty="0"/>
              <a:t>          </a:t>
            </a:r>
            <a:r>
              <a:rPr lang="zh-CN" altLang="zh-CN" sz="1800" b="1" dirty="0"/>
              <a:t>P(chopstick[</a:t>
            </a:r>
            <a:r>
              <a:rPr lang="en-US" altLang="zh-CN" sz="1800" b="1" dirty="0"/>
              <a:t>I</a:t>
            </a:r>
            <a:r>
              <a:rPr lang="zh-CN" altLang="zh-CN" sz="1800" b="1" dirty="0"/>
              <a:t>]);</a:t>
            </a:r>
          </a:p>
          <a:p>
            <a:pPr eaLnBrk="1" hangingPunct="1">
              <a:buNone/>
            </a:pPr>
            <a:r>
              <a:rPr lang="zh-CN" altLang="zh-CN" sz="1800" b="1" dirty="0"/>
              <a:t>		P(chopstick[(</a:t>
            </a:r>
            <a:r>
              <a:rPr lang="en-US" altLang="zh-CN" sz="1800" b="1" dirty="0"/>
              <a:t>I</a:t>
            </a:r>
            <a:r>
              <a:rPr lang="zh-CN" altLang="zh-CN" sz="1800" b="1" dirty="0"/>
              <a:t>+1)mod5]);</a:t>
            </a:r>
          </a:p>
          <a:p>
            <a:pPr eaLnBrk="1" hangingPunct="1">
              <a:buNone/>
            </a:pPr>
            <a:r>
              <a:rPr lang="zh-CN" altLang="zh-CN" sz="1800" b="1" dirty="0"/>
              <a:t>		</a:t>
            </a:r>
            <a:r>
              <a:rPr lang="en-US" altLang="zh-CN" sz="1800" b="1" dirty="0"/>
              <a:t>E</a:t>
            </a:r>
            <a:r>
              <a:rPr lang="zh-CN" altLang="zh-CN" sz="1800" b="1" dirty="0"/>
              <a:t>at;</a:t>
            </a:r>
          </a:p>
          <a:p>
            <a:pPr eaLnBrk="1" hangingPunct="1">
              <a:buNone/>
            </a:pPr>
            <a:r>
              <a:rPr lang="zh-CN" altLang="zh-CN" sz="1800" b="1" dirty="0"/>
              <a:t>		V(chopstick[</a:t>
            </a:r>
            <a:r>
              <a:rPr lang="en-US" altLang="zh-CN" sz="1800" b="1" dirty="0"/>
              <a:t>I</a:t>
            </a:r>
            <a:r>
              <a:rPr lang="zh-CN" altLang="zh-CN" sz="1800" b="1" dirty="0"/>
              <a:t>]);</a:t>
            </a:r>
          </a:p>
          <a:p>
            <a:pPr eaLnBrk="1" hangingPunct="1">
              <a:buNone/>
            </a:pPr>
            <a:r>
              <a:rPr lang="zh-CN" altLang="zh-CN" sz="1800" b="1" dirty="0"/>
              <a:t>		V(chopstick[(</a:t>
            </a:r>
            <a:r>
              <a:rPr lang="en-US" altLang="zh-CN" sz="1800" b="1" dirty="0"/>
              <a:t>I</a:t>
            </a:r>
            <a:r>
              <a:rPr lang="zh-CN" altLang="zh-CN" sz="1800" b="1" dirty="0"/>
              <a:t>+1)mod5]);</a:t>
            </a:r>
            <a:r>
              <a:rPr lang="en-US" altLang="zh-CN" sz="1800" b="1" dirty="0"/>
              <a:t>  </a:t>
            </a:r>
          </a:p>
          <a:p>
            <a:pPr eaLnBrk="1" hangingPunct="1">
              <a:buNone/>
            </a:pPr>
            <a:r>
              <a:rPr lang="en-US" altLang="zh-CN" sz="1800" b="1" dirty="0"/>
              <a:t>          </a:t>
            </a:r>
            <a:r>
              <a:rPr lang="en-US" altLang="zh-CN" sz="1800" b="1" dirty="0">
                <a:solidFill>
                  <a:srgbClr val="FF0000"/>
                </a:solidFill>
              </a:rPr>
              <a:t>V(count);</a:t>
            </a:r>
          </a:p>
          <a:p>
            <a:pPr eaLnBrk="1" hangingPunct="1">
              <a:buNone/>
            </a:pPr>
            <a:r>
              <a:rPr lang="en-US" altLang="zh-CN" sz="1800" b="1" dirty="0"/>
              <a:t> </a:t>
            </a:r>
            <a:r>
              <a:rPr lang="zh-CN" altLang="zh-CN" sz="1800" b="1" dirty="0"/>
              <a:t>}</a:t>
            </a:r>
          </a:p>
          <a:p>
            <a:pPr eaLnBrk="1" hangingPunct="1">
              <a:buNone/>
            </a:pPr>
            <a:endParaRPr lang="zh-CN" altLang="zh-CN" sz="1800" b="1" dirty="0"/>
          </a:p>
          <a:p>
            <a:pPr eaLnBrk="1" hangingPunct="1">
              <a:lnSpc>
                <a:spcPct val="80000"/>
              </a:lnSpc>
              <a:buNone/>
            </a:pPr>
            <a:endParaRPr lang="zh-CN" altLang="zh-CN" sz="2100" b="1" dirty="0"/>
          </a:p>
        </p:txBody>
      </p:sp>
      <p:sp>
        <p:nvSpPr>
          <p:cNvPr id="55299" name="Rectangle 2"/>
          <p:cNvSpPr>
            <a:spLocks noGrp="1"/>
          </p:cNvSpPr>
          <p:nvPr>
            <p:ph type="title"/>
          </p:nvPr>
        </p:nvSpPr>
        <p:spPr>
          <a:xfrm>
            <a:off x="1380888" y="1473994"/>
            <a:ext cx="5844778" cy="485775"/>
          </a:xfrm>
        </p:spPr>
        <p:txBody>
          <a:bodyPr vert="horz" wrap="square" lIns="68580" tIns="34290" rIns="68580" bIns="34290" anchor="b" anchorCtr="0"/>
          <a:lstStyle/>
          <a:p>
            <a:pPr eaLnBrk="1" hangingPunct="1"/>
            <a:r>
              <a:rPr lang="zh-CN" altLang="en-US" sz="2100" b="1" dirty="0">
                <a:solidFill>
                  <a:srgbClr val="3333CC"/>
                </a:solidFill>
              </a:rPr>
              <a:t>第</a:t>
            </a:r>
            <a:r>
              <a:rPr lang="en-US" altLang="zh-CN" sz="2100" b="1" dirty="0">
                <a:solidFill>
                  <a:srgbClr val="3333CC"/>
                </a:solidFill>
              </a:rPr>
              <a:t>I</a:t>
            </a:r>
            <a:r>
              <a:rPr lang="zh-CN" altLang="en-US" sz="2100" b="1" dirty="0">
                <a:solidFill>
                  <a:srgbClr val="3333CC"/>
                </a:solidFill>
              </a:rPr>
              <a:t>个哲学家进程</a:t>
            </a:r>
            <a:r>
              <a:rPr lang="en-US" altLang="zh-CN" sz="2100" b="1" dirty="0">
                <a:solidFill>
                  <a:srgbClr val="3333CC"/>
                </a:solidFill>
              </a:rPr>
              <a:t>Process I</a:t>
            </a:r>
            <a:r>
              <a:rPr lang="zh-CN" altLang="en-US" sz="2100" b="1" dirty="0">
                <a:solidFill>
                  <a:srgbClr val="3333CC"/>
                </a:solidFill>
              </a:rPr>
              <a:t>：</a:t>
            </a:r>
          </a:p>
        </p:txBody>
      </p:sp>
      <p:sp>
        <p:nvSpPr>
          <p:cNvPr id="5" name="圆角矩形标注 4"/>
          <p:cNvSpPr/>
          <p:nvPr/>
        </p:nvSpPr>
        <p:spPr>
          <a:xfrm>
            <a:off x="4356497" y="1959769"/>
            <a:ext cx="3327797" cy="1253729"/>
          </a:xfrm>
          <a:prstGeom prst="wedgeRoundRectCallout">
            <a:avLst>
              <a:gd name="adj1" fmla="val -46472"/>
              <a:gd name="adj2" fmla="val 16912"/>
              <a:gd name="adj3" fmla="val 16667"/>
            </a:avLst>
          </a:prstGeom>
          <a:solidFill>
            <a:srgbClr val="FFFF00"/>
          </a:solidFill>
          <a:ln w="9525" cap="flat" cmpd="sng">
            <a:solidFill>
              <a:srgbClr val="3333CC"/>
            </a:solidFill>
            <a:prstDash val="solid"/>
            <a:miter/>
            <a:headEnd type="none" w="med" len="med"/>
            <a:tailEnd type="none" w="med" len="med"/>
          </a:ln>
        </p:spPr>
        <p:txBody>
          <a:bodyPr anchor="t" anchorCtr="0"/>
          <a:lstStyle/>
          <a:p>
            <a:pPr>
              <a:buClrTx/>
              <a:buFont typeface="Arial" panose="020B0604020202020204" pitchFamily="34" charset="0"/>
            </a:pPr>
            <a:r>
              <a:rPr lang="zh-CN" altLang="en-US" sz="1800" b="1" i="0" dirty="0">
                <a:solidFill>
                  <a:srgbClr val="000000"/>
                </a:solidFill>
                <a:latin typeface="Arial" panose="020B0604020202020204" pitchFamily="34" charset="0"/>
              </a:rPr>
              <a:t>信号量</a:t>
            </a:r>
            <a:r>
              <a:rPr lang="en-US" altLang="zh-CN" sz="1800" b="1" i="0" dirty="0">
                <a:solidFill>
                  <a:srgbClr val="000000"/>
                </a:solidFill>
                <a:latin typeface="Arial" panose="020B0604020202020204" pitchFamily="34" charset="0"/>
              </a:rPr>
              <a:t>count</a:t>
            </a:r>
            <a:r>
              <a:rPr lang="zh-CN" altLang="en-US" sz="1800" b="1" i="0" dirty="0">
                <a:solidFill>
                  <a:srgbClr val="000000"/>
                </a:solidFill>
                <a:latin typeface="Arial" panose="020B0604020202020204" pitchFamily="34" charset="0"/>
              </a:rPr>
              <a:t>表示允许同时拿筷子准备进餐的哲学家数量，将其看作一种资源。使用前申请，使用后释放。</a:t>
            </a:r>
            <a:endParaRPr lang="zh-CN" altLang="en-US" sz="1800" i="0" dirty="0">
              <a:solidFill>
                <a:srgbClr val="000000"/>
              </a:solidFill>
              <a:latin typeface="Arial" panose="020B0604020202020204" pitchFamily="34" charset="0"/>
            </a:endParaRPr>
          </a:p>
        </p:txBody>
      </p:sp>
    </p:spTree>
    <p:extLst>
      <p:ext uri="{BB962C8B-B14F-4D97-AF65-F5344CB8AC3E}">
        <p14:creationId xmlns:p14="http://schemas.microsoft.com/office/powerpoint/2010/main" val="2606925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a:t>
            </a:r>
            <a:r>
              <a:rPr lang="en-US" altLang="zh-CN" sz="2100" b="1" dirty="0">
                <a:solidFill>
                  <a:schemeClr val="bg1"/>
                </a:solidFill>
              </a:rPr>
              <a:t>AND</a:t>
            </a:r>
            <a:r>
              <a:rPr lang="zh-CN" altLang="en-US" sz="2100" b="1" dirty="0">
                <a:solidFill>
                  <a:schemeClr val="bg1"/>
                </a:solidFill>
              </a:rPr>
              <a:t>信号量机制解决哲学家就餐问题</a:t>
            </a:r>
          </a:p>
        </p:txBody>
      </p:sp>
      <p:sp>
        <p:nvSpPr>
          <p:cNvPr id="584" name="Rectangle 7"/>
          <p:cNvSpPr txBox="1">
            <a:spLocks noChangeArrowheads="1"/>
          </p:cNvSpPr>
          <p:nvPr/>
        </p:nvSpPr>
        <p:spPr>
          <a:xfrm>
            <a:off x="502444" y="1843886"/>
            <a:ext cx="5573165" cy="3524190"/>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450"/>
              </a:spcBef>
              <a:buNone/>
            </a:pPr>
            <a:r>
              <a:rPr lang="en-US" altLang="zh-CN" dirty="0"/>
              <a:t>semaphore chopstick chopstick[5]={1,1,1,1,1}</a:t>
            </a:r>
            <a:r>
              <a:rPr lang="zh-CN" altLang="en-US" dirty="0"/>
              <a:t>；</a:t>
            </a:r>
          </a:p>
          <a:p>
            <a:pPr marL="0" indent="0">
              <a:spcBef>
                <a:spcPts val="450"/>
              </a:spcBef>
              <a:buNone/>
            </a:pPr>
            <a:r>
              <a:rPr lang="en-US" altLang="zh-CN" dirty="0"/>
              <a:t>do {</a:t>
            </a:r>
          </a:p>
          <a:p>
            <a:pPr marL="0" indent="0">
              <a:spcBef>
                <a:spcPts val="450"/>
              </a:spcBef>
              <a:buNone/>
            </a:pPr>
            <a:r>
              <a:rPr lang="en-US" altLang="zh-CN" dirty="0"/>
              <a:t>	…</a:t>
            </a:r>
          </a:p>
          <a:p>
            <a:pPr marL="0" indent="0">
              <a:spcBef>
                <a:spcPts val="450"/>
              </a:spcBef>
              <a:buNone/>
            </a:pPr>
            <a:r>
              <a:rPr lang="en-US" altLang="zh-CN" dirty="0"/>
              <a:t>	</a:t>
            </a:r>
            <a:r>
              <a:rPr lang="en-US" altLang="zh-CN" dirty="0">
                <a:solidFill>
                  <a:srgbClr val="FF0000"/>
                </a:solidFill>
              </a:rPr>
              <a:t>//think</a:t>
            </a:r>
          </a:p>
          <a:p>
            <a:pPr marL="0" indent="0">
              <a:spcBef>
                <a:spcPts val="450"/>
              </a:spcBef>
              <a:buNone/>
            </a:pPr>
            <a:r>
              <a:rPr lang="en-US" altLang="zh-CN" dirty="0"/>
              <a:t>	…</a:t>
            </a:r>
          </a:p>
          <a:p>
            <a:pPr marL="0" indent="0">
              <a:spcBef>
                <a:spcPts val="450"/>
              </a:spcBef>
              <a:buNone/>
            </a:pPr>
            <a:r>
              <a:rPr lang="en-US" altLang="zh-CN" dirty="0"/>
              <a:t>	</a:t>
            </a:r>
            <a:r>
              <a:rPr lang="en-US" altLang="zh-CN" dirty="0" err="1"/>
              <a:t>Sswait</a:t>
            </a:r>
            <a:r>
              <a:rPr lang="en-US" altLang="zh-CN" dirty="0"/>
              <a:t>(chopstick[(i+1)%5]</a:t>
            </a:r>
            <a:r>
              <a:rPr lang="zh-CN" altLang="en-US" dirty="0"/>
              <a:t>，</a:t>
            </a:r>
            <a:r>
              <a:rPr lang="en-US" altLang="zh-CN" dirty="0"/>
              <a:t>chopstick[</a:t>
            </a:r>
            <a:r>
              <a:rPr lang="en-US" altLang="zh-CN" dirty="0" err="1"/>
              <a:t>i</a:t>
            </a:r>
            <a:r>
              <a:rPr lang="en-US" altLang="zh-CN" dirty="0"/>
              <a:t>])</a:t>
            </a:r>
            <a:r>
              <a:rPr lang="zh-CN" altLang="en-US" dirty="0"/>
              <a:t>；</a:t>
            </a:r>
          </a:p>
          <a:p>
            <a:pPr marL="0" indent="0">
              <a:spcBef>
                <a:spcPts val="450"/>
              </a:spcBef>
              <a:buNone/>
            </a:pPr>
            <a:r>
              <a:rPr lang="en-US" altLang="zh-CN" dirty="0"/>
              <a:t>	…</a:t>
            </a:r>
          </a:p>
          <a:p>
            <a:pPr marL="0" indent="0">
              <a:spcBef>
                <a:spcPts val="450"/>
              </a:spcBef>
              <a:buNone/>
            </a:pPr>
            <a:r>
              <a:rPr lang="en-US" altLang="zh-CN" dirty="0"/>
              <a:t>	</a:t>
            </a:r>
            <a:r>
              <a:rPr lang="en-US" altLang="zh-CN" dirty="0">
                <a:solidFill>
                  <a:srgbClr val="FF0000"/>
                </a:solidFill>
              </a:rPr>
              <a:t>//eat</a:t>
            </a:r>
          </a:p>
          <a:p>
            <a:pPr marL="0" indent="0">
              <a:spcBef>
                <a:spcPts val="450"/>
              </a:spcBef>
              <a:buNone/>
            </a:pPr>
            <a:r>
              <a:rPr lang="en-US" altLang="zh-CN" dirty="0"/>
              <a:t>	…</a:t>
            </a:r>
          </a:p>
          <a:p>
            <a:pPr marL="0" indent="0">
              <a:spcBef>
                <a:spcPts val="450"/>
              </a:spcBef>
              <a:buNone/>
            </a:pPr>
            <a:r>
              <a:rPr lang="en-US" altLang="zh-CN" dirty="0"/>
              <a:t>	</a:t>
            </a:r>
            <a:r>
              <a:rPr lang="en-US" altLang="zh-CN" dirty="0" err="1"/>
              <a:t>Ssignal</a:t>
            </a:r>
            <a:r>
              <a:rPr lang="en-US" altLang="zh-CN" dirty="0"/>
              <a:t>(chopstick[(i+1)%5]</a:t>
            </a:r>
            <a:r>
              <a:rPr lang="zh-CN" altLang="en-US" dirty="0"/>
              <a:t>，</a:t>
            </a:r>
            <a:r>
              <a:rPr lang="en-US" altLang="zh-CN" dirty="0"/>
              <a:t>chopstick[</a:t>
            </a:r>
            <a:r>
              <a:rPr lang="en-US" altLang="zh-CN" dirty="0" err="1"/>
              <a:t>i</a:t>
            </a:r>
            <a:r>
              <a:rPr lang="en-US" altLang="zh-CN" dirty="0"/>
              <a:t>])</a:t>
            </a:r>
            <a:r>
              <a:rPr lang="zh-CN" altLang="en-US" dirty="0"/>
              <a:t>；</a:t>
            </a:r>
          </a:p>
          <a:p>
            <a:pPr marL="0" indent="0">
              <a:spcBef>
                <a:spcPts val="450"/>
              </a:spcBef>
              <a:buNone/>
            </a:pPr>
            <a:r>
              <a:rPr lang="en-US" altLang="zh-CN" dirty="0"/>
              <a:t>} while[TRUE]</a:t>
            </a:r>
            <a:r>
              <a:rPr lang="zh-CN" altLang="en-US" dirty="0"/>
              <a:t>；</a:t>
            </a:r>
          </a:p>
        </p:txBody>
      </p:sp>
      <p:sp>
        <p:nvSpPr>
          <p:cNvPr id="585" name="íśḷíḋé"/>
          <p:cNvSpPr/>
          <p:nvPr/>
        </p:nvSpPr>
        <p:spPr bwMode="auto">
          <a:xfrm>
            <a:off x="6585565" y="3229838"/>
            <a:ext cx="1941825" cy="1941170"/>
          </a:xfrm>
          <a:prstGeom prst="ellipse">
            <a:avLst/>
          </a:prstGeom>
          <a:blipFill>
            <a:blip r:embed="rId2"/>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a:bodyPr>
          <a:lstStyle/>
          <a:p>
            <a:pPr algn="ctr"/>
            <a:endParaRPr lang="en-US" sz="2100" b="1"/>
          </a:p>
        </p:txBody>
      </p:sp>
    </p:spTree>
    <p:extLst>
      <p:ext uri="{BB962C8B-B14F-4D97-AF65-F5344CB8AC3E}">
        <p14:creationId xmlns:p14="http://schemas.microsoft.com/office/powerpoint/2010/main" val="311357844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利用管程解决哲学家就餐问题（略）</a:t>
            </a:r>
          </a:p>
        </p:txBody>
      </p:sp>
      <p:sp>
        <p:nvSpPr>
          <p:cNvPr id="584" name="Rectangle 7"/>
          <p:cNvSpPr txBox="1">
            <a:spLocks noChangeArrowheads="1"/>
          </p:cNvSpPr>
          <p:nvPr/>
        </p:nvSpPr>
        <p:spPr>
          <a:xfrm>
            <a:off x="570058" y="1592748"/>
            <a:ext cx="4674863" cy="4045784"/>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0"/>
              </a:spcBef>
              <a:buNone/>
            </a:pPr>
            <a:r>
              <a:rPr lang="en-US" altLang="zh-CN" dirty="0">
                <a:solidFill>
                  <a:srgbClr val="FF0000"/>
                </a:solidFill>
              </a:rPr>
              <a:t>monitor </a:t>
            </a:r>
            <a:r>
              <a:rPr lang="en-US" altLang="zh-CN" dirty="0" err="1">
                <a:solidFill>
                  <a:srgbClr val="FF0000"/>
                </a:solidFill>
              </a:rPr>
              <a:t>dp</a:t>
            </a:r>
            <a:r>
              <a:rPr lang="en-US" altLang="zh-CN" dirty="0"/>
              <a:t>{ </a:t>
            </a:r>
          </a:p>
          <a:p>
            <a:pPr marL="0" indent="0">
              <a:lnSpc>
                <a:spcPct val="123000"/>
              </a:lnSpc>
              <a:spcBef>
                <a:spcPts val="0"/>
              </a:spcBef>
              <a:buNone/>
            </a:pPr>
            <a:r>
              <a:rPr lang="en-US" altLang="zh-CN" dirty="0" err="1"/>
              <a:t>enum</a:t>
            </a:r>
            <a:r>
              <a:rPr lang="en-US" altLang="zh-CN" dirty="0"/>
              <a:t> { thinking, hungry, eating} state [5];</a:t>
            </a:r>
          </a:p>
          <a:p>
            <a:pPr marL="0" indent="0">
              <a:lnSpc>
                <a:spcPct val="123000"/>
              </a:lnSpc>
              <a:spcBef>
                <a:spcPts val="0"/>
              </a:spcBef>
              <a:buNone/>
            </a:pPr>
            <a:r>
              <a:rPr lang="en-US" altLang="zh-CN" dirty="0"/>
              <a:t>condition self [5];</a:t>
            </a:r>
          </a:p>
          <a:p>
            <a:pPr marL="0" indent="0">
              <a:lnSpc>
                <a:spcPct val="123000"/>
              </a:lnSpc>
              <a:spcBef>
                <a:spcPts val="0"/>
              </a:spcBef>
              <a:buNone/>
            </a:pPr>
            <a:r>
              <a:rPr lang="en-US" altLang="zh-CN" dirty="0" err="1"/>
              <a:t>initialization_code</a:t>
            </a:r>
            <a:r>
              <a:rPr lang="en-US" altLang="zh-CN" dirty="0"/>
              <a:t>() { </a:t>
            </a:r>
          </a:p>
          <a:p>
            <a:pPr marL="0" indent="0">
              <a:lnSpc>
                <a:spcPct val="123000"/>
              </a:lnSpc>
              <a:spcBef>
                <a:spcPts val="0"/>
              </a:spcBef>
              <a:buNone/>
            </a:pPr>
            <a:r>
              <a:rPr lang="en-US" altLang="zh-CN" dirty="0"/>
              <a:t>    for (int </a:t>
            </a:r>
            <a:r>
              <a:rPr lang="en-US" altLang="zh-CN" dirty="0" err="1"/>
              <a:t>i</a:t>
            </a:r>
            <a:r>
              <a:rPr lang="en-US" altLang="zh-CN" dirty="0"/>
              <a:t> = 0; </a:t>
            </a:r>
            <a:r>
              <a:rPr lang="en-US" altLang="zh-CN" dirty="0" err="1"/>
              <a:t>i</a:t>
            </a:r>
            <a:r>
              <a:rPr lang="en-US" altLang="zh-CN" dirty="0"/>
              <a:t> &lt; 5; </a:t>
            </a:r>
            <a:r>
              <a:rPr lang="en-US" altLang="zh-CN" dirty="0" err="1"/>
              <a:t>i</a:t>
            </a:r>
            <a:r>
              <a:rPr lang="en-US" altLang="zh-CN" dirty="0"/>
              <a:t>++)</a:t>
            </a:r>
          </a:p>
          <a:p>
            <a:pPr marL="0" indent="0">
              <a:lnSpc>
                <a:spcPct val="123000"/>
              </a:lnSpc>
              <a:spcBef>
                <a:spcPts val="0"/>
              </a:spcBef>
              <a:buNone/>
            </a:pPr>
            <a:r>
              <a:rPr lang="en-US" altLang="zh-CN" dirty="0"/>
              <a:t>    state[</a:t>
            </a:r>
            <a:r>
              <a:rPr lang="en-US" altLang="zh-CN" dirty="0" err="1"/>
              <a:t>i</a:t>
            </a:r>
            <a:r>
              <a:rPr lang="en-US" altLang="zh-CN" dirty="0"/>
              <a:t>] = thinking;</a:t>
            </a:r>
          </a:p>
          <a:p>
            <a:pPr marL="0" indent="0">
              <a:lnSpc>
                <a:spcPct val="123000"/>
              </a:lnSpc>
              <a:spcBef>
                <a:spcPts val="0"/>
              </a:spcBef>
              <a:buNone/>
            </a:pPr>
            <a:r>
              <a:rPr lang="en-US" altLang="zh-CN" dirty="0"/>
              <a:t>}</a:t>
            </a:r>
          </a:p>
          <a:p>
            <a:pPr marL="0" indent="0">
              <a:lnSpc>
                <a:spcPct val="123000"/>
              </a:lnSpc>
              <a:spcBef>
                <a:spcPts val="0"/>
              </a:spcBef>
              <a:buNone/>
            </a:pPr>
            <a:r>
              <a:rPr lang="en-US" altLang="zh-CN" dirty="0"/>
              <a:t>void </a:t>
            </a:r>
            <a:r>
              <a:rPr lang="en-US" altLang="zh-CN" dirty="0">
                <a:solidFill>
                  <a:srgbClr val="FF0000"/>
                </a:solidFill>
              </a:rPr>
              <a:t>pickup</a:t>
            </a:r>
            <a:r>
              <a:rPr lang="en-US" altLang="zh-CN" dirty="0"/>
              <a:t> (int </a:t>
            </a:r>
            <a:r>
              <a:rPr lang="en-US" altLang="zh-CN" dirty="0" err="1"/>
              <a:t>i</a:t>
            </a:r>
            <a:r>
              <a:rPr lang="en-US" altLang="zh-CN" dirty="0"/>
              <a:t>) { </a:t>
            </a:r>
          </a:p>
          <a:p>
            <a:pPr marL="0" indent="0">
              <a:lnSpc>
                <a:spcPct val="123000"/>
              </a:lnSpc>
              <a:spcBef>
                <a:spcPts val="0"/>
              </a:spcBef>
              <a:buNone/>
            </a:pPr>
            <a:r>
              <a:rPr lang="en-US" altLang="zh-CN" dirty="0"/>
              <a:t>    state[</a:t>
            </a:r>
            <a:r>
              <a:rPr lang="en-US" altLang="zh-CN" dirty="0" err="1"/>
              <a:t>i</a:t>
            </a:r>
            <a:r>
              <a:rPr lang="en-US" altLang="zh-CN" dirty="0"/>
              <a:t>] = hungry;</a:t>
            </a:r>
          </a:p>
          <a:p>
            <a:pPr marL="0" indent="0">
              <a:lnSpc>
                <a:spcPct val="123000"/>
              </a:lnSpc>
              <a:spcBef>
                <a:spcPts val="0"/>
              </a:spcBef>
              <a:buNone/>
            </a:pPr>
            <a:r>
              <a:rPr lang="en-US" altLang="zh-CN" dirty="0"/>
              <a:t>    test(</a:t>
            </a:r>
            <a:r>
              <a:rPr lang="en-US" altLang="zh-CN" dirty="0" err="1"/>
              <a:t>i</a:t>
            </a:r>
            <a:r>
              <a:rPr lang="en-US" altLang="zh-CN" dirty="0"/>
              <a:t>);</a:t>
            </a:r>
          </a:p>
          <a:p>
            <a:pPr marL="0" indent="0">
              <a:lnSpc>
                <a:spcPct val="123000"/>
              </a:lnSpc>
              <a:spcBef>
                <a:spcPts val="0"/>
              </a:spcBef>
              <a:buNone/>
            </a:pPr>
            <a:r>
              <a:rPr lang="en-US" altLang="zh-CN" dirty="0"/>
              <a:t>    if (state[</a:t>
            </a:r>
            <a:r>
              <a:rPr lang="en-US" altLang="zh-CN" dirty="0" err="1"/>
              <a:t>i</a:t>
            </a:r>
            <a:r>
              <a:rPr lang="en-US" altLang="zh-CN" dirty="0"/>
              <a:t>] != eating) self[</a:t>
            </a:r>
            <a:r>
              <a:rPr lang="en-US" altLang="zh-CN" dirty="0" err="1"/>
              <a:t>i</a:t>
            </a:r>
            <a:r>
              <a:rPr lang="en-US" altLang="zh-CN" dirty="0"/>
              <a:t>].wait</a:t>
            </a:r>
            <a:r>
              <a:rPr lang="zh-CN" altLang="en-US" dirty="0"/>
              <a:t>（）</a:t>
            </a:r>
            <a:r>
              <a:rPr lang="en-US" altLang="zh-CN" dirty="0"/>
              <a:t>;</a:t>
            </a:r>
          </a:p>
          <a:p>
            <a:pPr marL="0" indent="0">
              <a:lnSpc>
                <a:spcPct val="123000"/>
              </a:lnSpc>
              <a:spcBef>
                <a:spcPts val="0"/>
              </a:spcBef>
              <a:buNone/>
            </a:pPr>
            <a:r>
              <a:rPr lang="en-US" altLang="zh-CN" dirty="0"/>
              <a:t>}</a:t>
            </a:r>
          </a:p>
        </p:txBody>
      </p:sp>
      <p:sp>
        <p:nvSpPr>
          <p:cNvPr id="5" name="Rectangle 7"/>
          <p:cNvSpPr txBox="1">
            <a:spLocks noChangeArrowheads="1"/>
          </p:cNvSpPr>
          <p:nvPr/>
        </p:nvSpPr>
        <p:spPr>
          <a:xfrm>
            <a:off x="5068005" y="3354844"/>
            <a:ext cx="3654212" cy="1978724"/>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0"/>
              </a:spcBef>
              <a:buNone/>
            </a:pPr>
            <a:r>
              <a:rPr lang="en-US" altLang="zh-CN" dirty="0"/>
              <a:t>void </a:t>
            </a:r>
            <a:r>
              <a:rPr lang="en-US" altLang="zh-CN" dirty="0">
                <a:solidFill>
                  <a:srgbClr val="FF0000"/>
                </a:solidFill>
              </a:rPr>
              <a:t>putdown </a:t>
            </a:r>
            <a:r>
              <a:rPr lang="en-US" altLang="zh-CN" dirty="0"/>
              <a:t>(int </a:t>
            </a:r>
            <a:r>
              <a:rPr lang="en-US" altLang="zh-CN" dirty="0" err="1"/>
              <a:t>i</a:t>
            </a:r>
            <a:r>
              <a:rPr lang="en-US" altLang="zh-CN" dirty="0"/>
              <a:t>) { </a:t>
            </a:r>
          </a:p>
          <a:p>
            <a:pPr marL="0" indent="0">
              <a:lnSpc>
                <a:spcPct val="123000"/>
              </a:lnSpc>
              <a:spcBef>
                <a:spcPts val="0"/>
              </a:spcBef>
              <a:buNone/>
            </a:pPr>
            <a:r>
              <a:rPr lang="en-US" altLang="zh-CN" dirty="0"/>
              <a:t>    state[</a:t>
            </a:r>
            <a:r>
              <a:rPr lang="en-US" altLang="zh-CN" dirty="0" err="1"/>
              <a:t>i</a:t>
            </a:r>
            <a:r>
              <a:rPr lang="en-US" altLang="zh-CN" dirty="0"/>
              <a:t>] = thinking;</a:t>
            </a:r>
          </a:p>
          <a:p>
            <a:pPr marL="0" indent="0">
              <a:lnSpc>
                <a:spcPct val="123000"/>
              </a:lnSpc>
              <a:spcBef>
                <a:spcPts val="0"/>
              </a:spcBef>
              <a:buNone/>
            </a:pPr>
            <a:r>
              <a:rPr lang="en-US" altLang="zh-CN" dirty="0"/>
              <a:t>    // test left and right neighbors</a:t>
            </a:r>
          </a:p>
          <a:p>
            <a:pPr marL="0" indent="0">
              <a:lnSpc>
                <a:spcPct val="123000"/>
              </a:lnSpc>
              <a:spcBef>
                <a:spcPts val="0"/>
              </a:spcBef>
              <a:buNone/>
            </a:pPr>
            <a:r>
              <a:rPr lang="en-US" altLang="zh-CN" dirty="0"/>
              <a:t>    test((</a:t>
            </a:r>
            <a:r>
              <a:rPr lang="en-US" altLang="zh-CN" dirty="0" err="1"/>
              <a:t>i</a:t>
            </a:r>
            <a:r>
              <a:rPr lang="en-US" altLang="zh-CN" dirty="0"/>
              <a:t> + 4) % 5);</a:t>
            </a:r>
          </a:p>
          <a:p>
            <a:pPr marL="0" indent="0">
              <a:lnSpc>
                <a:spcPct val="123000"/>
              </a:lnSpc>
              <a:spcBef>
                <a:spcPts val="0"/>
              </a:spcBef>
              <a:buNone/>
            </a:pPr>
            <a:r>
              <a:rPr lang="en-US" altLang="zh-CN" dirty="0"/>
              <a:t>    test((</a:t>
            </a:r>
            <a:r>
              <a:rPr lang="en-US" altLang="zh-CN" dirty="0" err="1"/>
              <a:t>i</a:t>
            </a:r>
            <a:r>
              <a:rPr lang="en-US" altLang="zh-CN" dirty="0"/>
              <a:t> + 1) % 5);</a:t>
            </a:r>
          </a:p>
          <a:p>
            <a:pPr marL="0" indent="0">
              <a:lnSpc>
                <a:spcPct val="123000"/>
              </a:lnSpc>
              <a:spcBef>
                <a:spcPts val="0"/>
              </a:spcBef>
              <a:buNone/>
            </a:pPr>
            <a:r>
              <a:rPr lang="en-US" altLang="zh-CN" dirty="0"/>
              <a:t> }</a:t>
            </a:r>
          </a:p>
        </p:txBody>
      </p:sp>
      <p:cxnSp>
        <p:nvCxnSpPr>
          <p:cNvPr id="3" name="直接连接符 2"/>
          <p:cNvCxnSpPr/>
          <p:nvPr/>
        </p:nvCxnSpPr>
        <p:spPr>
          <a:xfrm>
            <a:off x="4739594" y="2910522"/>
            <a:ext cx="0" cy="2530699"/>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4752304" y="2914650"/>
            <a:ext cx="409548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746662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利用管程解决哲学家就餐问题（略）</a:t>
            </a:r>
          </a:p>
        </p:txBody>
      </p:sp>
      <p:sp>
        <p:nvSpPr>
          <p:cNvPr id="584" name="Rectangle 7"/>
          <p:cNvSpPr txBox="1">
            <a:spLocks noChangeArrowheads="1"/>
          </p:cNvSpPr>
          <p:nvPr/>
        </p:nvSpPr>
        <p:spPr>
          <a:xfrm>
            <a:off x="386367" y="1714188"/>
            <a:ext cx="7060842" cy="2732138"/>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0">
              <a:lnSpc>
                <a:spcPct val="123000"/>
              </a:lnSpc>
              <a:spcBef>
                <a:spcPts val="450"/>
              </a:spcBef>
              <a:buNone/>
            </a:pPr>
            <a:r>
              <a:rPr lang="en-US" altLang="zh-CN" sz="1800" dirty="0"/>
              <a:t>void </a:t>
            </a:r>
            <a:r>
              <a:rPr lang="en-US" altLang="zh-CN" sz="1800" dirty="0">
                <a:solidFill>
                  <a:srgbClr val="FF0000"/>
                </a:solidFill>
              </a:rPr>
              <a:t>test</a:t>
            </a:r>
            <a:r>
              <a:rPr lang="en-US" altLang="zh-CN" sz="1800" dirty="0"/>
              <a:t> (int </a:t>
            </a:r>
            <a:r>
              <a:rPr lang="en-US" altLang="zh-CN" sz="1800" dirty="0" err="1"/>
              <a:t>i</a:t>
            </a:r>
            <a:r>
              <a:rPr lang="en-US" altLang="zh-CN" sz="1800" dirty="0"/>
              <a:t>) { </a:t>
            </a:r>
          </a:p>
          <a:p>
            <a:pPr marL="342900" lvl="1" indent="0">
              <a:lnSpc>
                <a:spcPct val="123000"/>
              </a:lnSpc>
              <a:spcBef>
                <a:spcPts val="450"/>
              </a:spcBef>
              <a:buNone/>
            </a:pPr>
            <a:r>
              <a:rPr lang="en-US" altLang="zh-CN" sz="1800" dirty="0"/>
              <a:t>	if ( (state[(</a:t>
            </a:r>
            <a:r>
              <a:rPr lang="en-US" altLang="zh-CN" sz="1800" dirty="0" err="1"/>
              <a:t>i</a:t>
            </a:r>
            <a:r>
              <a:rPr lang="en-US" altLang="zh-CN" sz="1800" dirty="0"/>
              <a:t> + 4) % 5] != eating) &amp;&amp;(state[</a:t>
            </a:r>
            <a:r>
              <a:rPr lang="en-US" altLang="zh-CN" sz="1800" dirty="0" err="1"/>
              <a:t>i</a:t>
            </a:r>
            <a:r>
              <a:rPr lang="en-US" altLang="zh-CN" sz="1800" dirty="0"/>
              <a:t>] == hungry) </a:t>
            </a:r>
            <a:br>
              <a:rPr lang="en-US" altLang="zh-CN" sz="1800" dirty="0"/>
            </a:br>
            <a:r>
              <a:rPr lang="en-US" altLang="zh-CN" sz="1800" dirty="0"/>
              <a:t>	&amp;&amp;(state[(</a:t>
            </a:r>
            <a:r>
              <a:rPr lang="en-US" altLang="zh-CN" sz="1800" dirty="0" err="1"/>
              <a:t>i</a:t>
            </a:r>
            <a:r>
              <a:rPr lang="en-US" altLang="zh-CN" sz="1800" dirty="0"/>
              <a:t> + 1) % 5] != eating) ) { </a:t>
            </a:r>
          </a:p>
          <a:p>
            <a:pPr marL="342900" lvl="1" indent="0">
              <a:lnSpc>
                <a:spcPct val="123000"/>
              </a:lnSpc>
              <a:spcBef>
                <a:spcPts val="450"/>
              </a:spcBef>
              <a:buNone/>
            </a:pPr>
            <a:r>
              <a:rPr lang="en-US" altLang="zh-CN" sz="1800" dirty="0"/>
              <a:t>		state[</a:t>
            </a:r>
            <a:r>
              <a:rPr lang="en-US" altLang="zh-CN" sz="1800" dirty="0" err="1"/>
              <a:t>i</a:t>
            </a:r>
            <a:r>
              <a:rPr lang="en-US" altLang="zh-CN" sz="1800" dirty="0"/>
              <a:t>] = eating ;</a:t>
            </a:r>
          </a:p>
          <a:p>
            <a:pPr marL="342900" lvl="1" indent="0">
              <a:lnSpc>
                <a:spcPct val="123000"/>
              </a:lnSpc>
              <a:spcBef>
                <a:spcPts val="450"/>
              </a:spcBef>
              <a:buNone/>
            </a:pPr>
            <a:r>
              <a:rPr lang="en-US" altLang="zh-CN" sz="1800" dirty="0"/>
              <a:t>		self[</a:t>
            </a:r>
            <a:r>
              <a:rPr lang="en-US" altLang="zh-CN" sz="1800" dirty="0" err="1"/>
              <a:t>i</a:t>
            </a:r>
            <a:r>
              <a:rPr lang="en-US" altLang="zh-CN" sz="1800" dirty="0"/>
              <a:t>].signal() ;</a:t>
            </a:r>
          </a:p>
          <a:p>
            <a:pPr marL="342900" lvl="1" indent="0">
              <a:lnSpc>
                <a:spcPct val="123000"/>
              </a:lnSpc>
              <a:spcBef>
                <a:spcPts val="450"/>
              </a:spcBef>
              <a:buNone/>
            </a:pPr>
            <a:r>
              <a:rPr lang="en-US" altLang="zh-CN" sz="1800" dirty="0"/>
              <a:t> 	}</a:t>
            </a:r>
          </a:p>
          <a:p>
            <a:pPr marL="342900" lvl="1" indent="0">
              <a:lnSpc>
                <a:spcPct val="123000"/>
              </a:lnSpc>
              <a:spcBef>
                <a:spcPts val="450"/>
              </a:spcBef>
              <a:buNone/>
            </a:pPr>
            <a:r>
              <a:rPr lang="en-US" altLang="zh-CN" sz="1800" dirty="0"/>
              <a:t>}</a:t>
            </a:r>
          </a:p>
          <a:p>
            <a:pPr marL="0" indent="0">
              <a:lnSpc>
                <a:spcPct val="123000"/>
              </a:lnSpc>
              <a:spcBef>
                <a:spcPts val="450"/>
              </a:spcBef>
              <a:buNone/>
            </a:pPr>
            <a:r>
              <a:rPr lang="en-US" altLang="zh-CN" dirty="0"/>
              <a:t>}</a:t>
            </a:r>
          </a:p>
        </p:txBody>
      </p:sp>
      <p:sp>
        <p:nvSpPr>
          <p:cNvPr id="4" name="Rectangle 7"/>
          <p:cNvSpPr txBox="1">
            <a:spLocks noChangeArrowheads="1"/>
          </p:cNvSpPr>
          <p:nvPr/>
        </p:nvSpPr>
        <p:spPr>
          <a:xfrm>
            <a:off x="4953217" y="3080257"/>
            <a:ext cx="4190783" cy="2527897"/>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450"/>
              </a:spcBef>
              <a:buNone/>
            </a:pPr>
            <a:r>
              <a:rPr lang="zh-CN" altLang="en-US" dirty="0">
                <a:solidFill>
                  <a:srgbClr val="0000FF"/>
                </a:solidFill>
              </a:rPr>
              <a:t>哲学家</a:t>
            </a:r>
            <a:r>
              <a:rPr lang="en-US" altLang="zh-CN" dirty="0" err="1">
                <a:solidFill>
                  <a:srgbClr val="0000FF"/>
                </a:solidFill>
              </a:rPr>
              <a:t>i</a:t>
            </a:r>
            <a:r>
              <a:rPr lang="zh-CN" altLang="en-US" dirty="0">
                <a:solidFill>
                  <a:srgbClr val="0000FF"/>
                </a:solidFill>
              </a:rPr>
              <a:t>的活动可描述为：</a:t>
            </a:r>
          </a:p>
          <a:p>
            <a:pPr marL="0" indent="0">
              <a:spcBef>
                <a:spcPts val="450"/>
              </a:spcBef>
              <a:buNone/>
            </a:pPr>
            <a:r>
              <a:rPr lang="en-US" altLang="zh-CN" dirty="0"/>
              <a:t>do {</a:t>
            </a:r>
          </a:p>
          <a:p>
            <a:pPr marL="0" indent="0">
              <a:spcBef>
                <a:spcPts val="450"/>
              </a:spcBef>
              <a:buNone/>
            </a:pPr>
            <a:r>
              <a:rPr lang="en-US" altLang="zh-CN" dirty="0"/>
              <a:t>         </a:t>
            </a:r>
            <a:r>
              <a:rPr lang="en-US" altLang="zh-CN" dirty="0" err="1"/>
              <a:t>dp.pickup</a:t>
            </a:r>
            <a:r>
              <a:rPr lang="en-US" altLang="zh-CN" dirty="0"/>
              <a:t> (</a:t>
            </a:r>
            <a:r>
              <a:rPr lang="en-US" altLang="zh-CN" dirty="0" err="1"/>
              <a:t>i</a:t>
            </a:r>
            <a:r>
              <a:rPr lang="en-US" altLang="zh-CN" dirty="0"/>
              <a:t>);</a:t>
            </a:r>
          </a:p>
          <a:p>
            <a:pPr marL="0" indent="0">
              <a:spcBef>
                <a:spcPts val="450"/>
              </a:spcBef>
              <a:buNone/>
            </a:pPr>
            <a:r>
              <a:rPr lang="en-US" altLang="zh-CN" dirty="0"/>
              <a:t>	 …</a:t>
            </a:r>
          </a:p>
          <a:p>
            <a:pPr marL="0" indent="0">
              <a:spcBef>
                <a:spcPts val="450"/>
              </a:spcBef>
              <a:buNone/>
            </a:pPr>
            <a:r>
              <a:rPr lang="en-US" altLang="zh-CN" dirty="0"/>
              <a:t>         eat</a:t>
            </a:r>
          </a:p>
          <a:p>
            <a:pPr marL="0" indent="0">
              <a:spcBef>
                <a:spcPts val="450"/>
              </a:spcBef>
              <a:buNone/>
            </a:pPr>
            <a:r>
              <a:rPr lang="en-US" altLang="zh-CN" dirty="0"/>
              <a:t>	 …</a:t>
            </a:r>
          </a:p>
          <a:p>
            <a:pPr marL="0" indent="0">
              <a:spcBef>
                <a:spcPts val="450"/>
              </a:spcBef>
              <a:buNone/>
            </a:pPr>
            <a:r>
              <a:rPr lang="en-US" altLang="zh-CN" dirty="0"/>
              <a:t>         </a:t>
            </a:r>
            <a:r>
              <a:rPr lang="en-US" altLang="zh-CN" dirty="0" err="1"/>
              <a:t>dp.putdown</a:t>
            </a:r>
            <a:r>
              <a:rPr lang="en-US" altLang="zh-CN" dirty="0"/>
              <a:t> (</a:t>
            </a:r>
            <a:r>
              <a:rPr lang="en-US" altLang="zh-CN" dirty="0" err="1"/>
              <a:t>i</a:t>
            </a:r>
            <a:r>
              <a:rPr lang="en-US" altLang="zh-CN" dirty="0"/>
              <a:t>);</a:t>
            </a:r>
          </a:p>
          <a:p>
            <a:pPr marL="0" indent="0">
              <a:spcBef>
                <a:spcPts val="450"/>
              </a:spcBef>
              <a:buNone/>
            </a:pPr>
            <a:r>
              <a:rPr lang="en-US" altLang="zh-CN" dirty="0"/>
              <a:t>} while[TRUE];</a:t>
            </a:r>
          </a:p>
        </p:txBody>
      </p:sp>
      <p:cxnSp>
        <p:nvCxnSpPr>
          <p:cNvPr id="3" name="直接连接符 2"/>
          <p:cNvCxnSpPr/>
          <p:nvPr/>
        </p:nvCxnSpPr>
        <p:spPr>
          <a:xfrm>
            <a:off x="154547" y="5030005"/>
            <a:ext cx="45011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4655713" y="2978136"/>
            <a:ext cx="0" cy="2042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4655713" y="2978136"/>
            <a:ext cx="418241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549950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502444" y="5059446"/>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t>Date</a:t>
            </a:r>
            <a:endParaRPr lang="zh-CN" altLang="en-US" sz="1125" dirty="0"/>
          </a:p>
        </p:txBody>
      </p:sp>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矩形 19"/>
          <p:cNvSpPr/>
          <p:nvPr/>
        </p:nvSpPr>
        <p:spPr>
          <a:xfrm>
            <a:off x="578644" y="1050622"/>
            <a:ext cx="1539204" cy="415498"/>
          </a:xfrm>
          <a:prstGeom prst="rect">
            <a:avLst/>
          </a:prstGeom>
        </p:spPr>
        <p:txBody>
          <a:bodyPr wrap="none">
            <a:spAutoFit/>
          </a:bodyPr>
          <a:lstStyle/>
          <a:p>
            <a:r>
              <a:rPr lang="zh-CN" altLang="en-US" sz="2100" b="1" dirty="0">
                <a:solidFill>
                  <a:schemeClr val="bg1"/>
                </a:solidFill>
              </a:rPr>
              <a:t>内容导航：</a:t>
            </a:r>
          </a:p>
        </p:txBody>
      </p:sp>
      <p:sp>
        <p:nvSpPr>
          <p:cNvPr id="3" name="矩形 2"/>
          <p:cNvSpPr/>
          <p:nvPr/>
        </p:nvSpPr>
        <p:spPr>
          <a:xfrm>
            <a:off x="6180941" y="2700908"/>
            <a:ext cx="2560316" cy="507831"/>
          </a:xfrm>
          <a:prstGeom prst="rect">
            <a:avLst/>
          </a:prstGeom>
        </p:spPr>
        <p:txBody>
          <a:bodyPr wrap="none">
            <a:spAutoFit/>
          </a:bodyPr>
          <a:lstStyle/>
          <a:p>
            <a:r>
              <a:rPr lang="zh-CN" altLang="en-US" sz="2700" dirty="0">
                <a:solidFill>
                  <a:srgbClr val="000000"/>
                </a:solidFill>
                <a:sym typeface="+mn-ea"/>
              </a:rPr>
              <a:t>第</a:t>
            </a:r>
            <a:r>
              <a:rPr lang="en-US" altLang="zh-CN" sz="2700" dirty="0">
                <a:solidFill>
                  <a:srgbClr val="000000"/>
                </a:solidFill>
                <a:sym typeface="+mn-ea"/>
              </a:rPr>
              <a:t>4</a:t>
            </a:r>
            <a:r>
              <a:rPr lang="zh-CN" altLang="en-US" sz="2700" dirty="0">
                <a:solidFill>
                  <a:srgbClr val="000000"/>
                </a:solidFill>
                <a:sym typeface="+mn-ea"/>
              </a:rPr>
              <a:t>章 进程同步</a:t>
            </a:r>
            <a:endParaRPr lang="zh-CN" altLang="en-US" sz="2700" dirty="0">
              <a:solidFill>
                <a:srgbClr val="000000"/>
              </a:solidFill>
            </a:endParaRPr>
          </a:p>
        </p:txBody>
      </p:sp>
      <p:cxnSp>
        <p:nvCxnSpPr>
          <p:cNvPr id="5" name="直接连接符 4"/>
          <p:cNvCxnSpPr/>
          <p:nvPr/>
        </p:nvCxnSpPr>
        <p:spPr>
          <a:xfrm>
            <a:off x="5669925" y="3250103"/>
            <a:ext cx="2990417"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521248" y="3292521"/>
            <a:ext cx="3247181" cy="412613"/>
          </a:xfrm>
          <a:prstGeom prst="rect">
            <a:avLst/>
          </a:prstGeom>
        </p:spPr>
        <p:txBody>
          <a:bodyPr wrap="square">
            <a:spAutoFit/>
          </a:bodyPr>
          <a:lstStyle/>
          <a:p>
            <a:pPr algn="ctr">
              <a:lnSpc>
                <a:spcPct val="132000"/>
              </a:lnSpc>
            </a:pPr>
            <a:r>
              <a:rPr lang="zh-CN" altLang="en-US" sz="1800" dirty="0">
                <a:solidFill>
                  <a:srgbClr val="002060"/>
                </a:solidFill>
              </a:rPr>
              <a:t>主讲：王红玲    主审：汤小丹</a:t>
            </a:r>
            <a:endParaRPr lang="en-US" altLang="zh-CN" sz="1800" dirty="0">
              <a:solidFill>
                <a:srgbClr val="002060"/>
              </a:solidFill>
            </a:endParaRPr>
          </a:p>
        </p:txBody>
      </p:sp>
      <p:sp>
        <p:nvSpPr>
          <p:cNvPr id="8" name="矩形 7"/>
          <p:cNvSpPr/>
          <p:nvPr/>
        </p:nvSpPr>
        <p:spPr>
          <a:xfrm>
            <a:off x="-7145" y="5638531"/>
            <a:ext cx="9151145" cy="3622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6" name="任意多边形: 形状 25"/>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sz="1800">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116811"/>
            <a:ext cx="395288" cy="395288"/>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555666"/>
            <a:ext cx="395288" cy="395288"/>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047268"/>
            <a:ext cx="395288" cy="395288"/>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511123"/>
            <a:ext cx="395288" cy="395288"/>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980683"/>
            <a:ext cx="395288" cy="395288"/>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458967"/>
            <a:ext cx="395288" cy="395288"/>
          </a:xfrm>
          <a:prstGeom prst="rect">
            <a:avLst/>
          </a:prstGeom>
          <a:ln>
            <a:noFill/>
          </a:ln>
          <a:effectLst>
            <a:softEdge rad="0"/>
          </a:effectLst>
        </p:spPr>
      </p:pic>
      <p:sp>
        <p:nvSpPr>
          <p:cNvPr id="33" name="矩形 32"/>
          <p:cNvSpPr/>
          <p:nvPr/>
        </p:nvSpPr>
        <p:spPr>
          <a:xfrm>
            <a:off x="1273253" y="2158852"/>
            <a:ext cx="2616725" cy="369332"/>
          </a:xfrm>
          <a:prstGeom prst="rect">
            <a:avLst/>
          </a:prstGeom>
        </p:spPr>
        <p:txBody>
          <a:bodyPr wrap="square">
            <a:spAutoFit/>
          </a:bodyPr>
          <a:lstStyle/>
          <a:p>
            <a:r>
              <a:rPr lang="en-US" altLang="zh-CN" sz="1800" dirty="0">
                <a:latin typeface="+mj-ea"/>
                <a:ea typeface="+mj-ea"/>
              </a:rPr>
              <a:t>4.1 </a:t>
            </a:r>
            <a:r>
              <a:rPr lang="zh-CN" altLang="en-US" sz="1800" dirty="0">
                <a:latin typeface="+mj-ea"/>
                <a:ea typeface="+mj-ea"/>
              </a:rPr>
              <a:t>进程同步的概念</a:t>
            </a:r>
          </a:p>
        </p:txBody>
      </p:sp>
      <p:sp>
        <p:nvSpPr>
          <p:cNvPr id="34" name="矩形 33"/>
          <p:cNvSpPr/>
          <p:nvPr/>
        </p:nvSpPr>
        <p:spPr>
          <a:xfrm>
            <a:off x="1273253" y="2623196"/>
            <a:ext cx="2761613" cy="369332"/>
          </a:xfrm>
          <a:prstGeom prst="rect">
            <a:avLst/>
          </a:prstGeom>
        </p:spPr>
        <p:txBody>
          <a:bodyPr wrap="square">
            <a:spAutoFit/>
          </a:bodyPr>
          <a:lstStyle/>
          <a:p>
            <a:r>
              <a:rPr lang="en-US" altLang="zh-CN" sz="1800" dirty="0">
                <a:latin typeface="+mj-ea"/>
              </a:rPr>
              <a:t>4.2 </a:t>
            </a:r>
            <a:r>
              <a:rPr lang="zh-CN" altLang="en-US" sz="1800" dirty="0">
                <a:latin typeface="+mj-ea"/>
              </a:rPr>
              <a:t>软件同步机制</a:t>
            </a:r>
          </a:p>
        </p:txBody>
      </p:sp>
      <p:sp>
        <p:nvSpPr>
          <p:cNvPr id="35" name="矩形 34"/>
          <p:cNvSpPr/>
          <p:nvPr/>
        </p:nvSpPr>
        <p:spPr>
          <a:xfrm>
            <a:off x="1273253" y="3087539"/>
            <a:ext cx="2616725" cy="369332"/>
          </a:xfrm>
          <a:prstGeom prst="rect">
            <a:avLst/>
          </a:prstGeom>
        </p:spPr>
        <p:txBody>
          <a:bodyPr wrap="square">
            <a:spAutoFit/>
          </a:bodyPr>
          <a:lstStyle/>
          <a:p>
            <a:r>
              <a:rPr lang="en-US" altLang="zh-CN" sz="1800" dirty="0">
                <a:latin typeface="+mj-ea"/>
              </a:rPr>
              <a:t>4.3 </a:t>
            </a:r>
            <a:r>
              <a:rPr lang="zh-CN" altLang="en-US" sz="1800" dirty="0">
                <a:latin typeface="+mj-ea"/>
              </a:rPr>
              <a:t>硬件同步机制</a:t>
            </a:r>
          </a:p>
        </p:txBody>
      </p:sp>
      <p:sp>
        <p:nvSpPr>
          <p:cNvPr id="36" name="矩形 35"/>
          <p:cNvSpPr/>
          <p:nvPr/>
        </p:nvSpPr>
        <p:spPr>
          <a:xfrm>
            <a:off x="1273253" y="3551883"/>
            <a:ext cx="2616725" cy="369332"/>
          </a:xfrm>
          <a:prstGeom prst="rect">
            <a:avLst/>
          </a:prstGeom>
        </p:spPr>
        <p:txBody>
          <a:bodyPr wrap="square">
            <a:spAutoFit/>
          </a:bodyPr>
          <a:lstStyle/>
          <a:p>
            <a:r>
              <a:rPr lang="en-US" altLang="zh-CN" sz="1800" dirty="0">
                <a:latin typeface="+mj-ea"/>
              </a:rPr>
              <a:t>4.4 </a:t>
            </a:r>
            <a:r>
              <a:rPr lang="zh-CN" altLang="en-US" sz="1800" dirty="0">
                <a:latin typeface="+mj-ea"/>
              </a:rPr>
              <a:t>信号量机制</a:t>
            </a:r>
          </a:p>
        </p:txBody>
      </p:sp>
      <p:sp>
        <p:nvSpPr>
          <p:cNvPr id="37" name="矩形 36"/>
          <p:cNvSpPr/>
          <p:nvPr/>
        </p:nvSpPr>
        <p:spPr>
          <a:xfrm>
            <a:off x="1273253" y="4016227"/>
            <a:ext cx="2525359" cy="369332"/>
          </a:xfrm>
          <a:prstGeom prst="rect">
            <a:avLst/>
          </a:prstGeom>
        </p:spPr>
        <p:txBody>
          <a:bodyPr wrap="square">
            <a:spAutoFit/>
          </a:bodyPr>
          <a:lstStyle/>
          <a:p>
            <a:r>
              <a:rPr lang="en-US" altLang="zh-CN" sz="1800" dirty="0">
                <a:latin typeface="+mj-ea"/>
              </a:rPr>
              <a:t>4.5 </a:t>
            </a:r>
            <a:r>
              <a:rPr lang="zh-CN" altLang="en-US" sz="1800" dirty="0">
                <a:latin typeface="+mj-ea"/>
              </a:rPr>
              <a:t>管程机制</a:t>
            </a:r>
          </a:p>
        </p:txBody>
      </p:sp>
      <p:sp>
        <p:nvSpPr>
          <p:cNvPr id="38" name="矩形 37"/>
          <p:cNvSpPr/>
          <p:nvPr/>
        </p:nvSpPr>
        <p:spPr>
          <a:xfrm>
            <a:off x="1273253" y="4480571"/>
            <a:ext cx="2761613" cy="369332"/>
          </a:xfrm>
          <a:prstGeom prst="rect">
            <a:avLst/>
          </a:prstGeom>
        </p:spPr>
        <p:txBody>
          <a:bodyPr wrap="square">
            <a:spAutoFit/>
          </a:bodyPr>
          <a:lstStyle/>
          <a:p>
            <a:r>
              <a:rPr lang="en-US" altLang="zh-CN" sz="1800" dirty="0">
                <a:latin typeface="+mj-ea"/>
              </a:rPr>
              <a:t>4.6 </a:t>
            </a:r>
            <a:r>
              <a:rPr lang="zh-CN" altLang="en-US" sz="1800" dirty="0">
                <a:latin typeface="+mj-ea"/>
              </a:rPr>
              <a:t>经典进程的同步问题</a:t>
            </a:r>
          </a:p>
        </p:txBody>
      </p:sp>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913797"/>
            <a:ext cx="395288" cy="395288"/>
          </a:xfrm>
          <a:prstGeom prst="rect">
            <a:avLst/>
          </a:prstGeom>
          <a:ln>
            <a:noFill/>
          </a:ln>
          <a:effectLst>
            <a:softEdge rad="0"/>
          </a:effectLst>
        </p:spPr>
      </p:pic>
      <p:sp>
        <p:nvSpPr>
          <p:cNvPr id="24" name="矩形 23"/>
          <p:cNvSpPr/>
          <p:nvPr/>
        </p:nvSpPr>
        <p:spPr>
          <a:xfrm>
            <a:off x="1273253" y="4935400"/>
            <a:ext cx="2761613" cy="369332"/>
          </a:xfrm>
          <a:prstGeom prst="rect">
            <a:avLst/>
          </a:prstGeom>
        </p:spPr>
        <p:txBody>
          <a:bodyPr wrap="square">
            <a:spAutoFit/>
          </a:bodyPr>
          <a:lstStyle/>
          <a:p>
            <a:r>
              <a:rPr lang="en-US" altLang="zh-CN" sz="1800" dirty="0">
                <a:latin typeface="+mj-ea"/>
              </a:rPr>
              <a:t>4.7 Linux</a:t>
            </a:r>
            <a:r>
              <a:rPr lang="zh-CN" altLang="en-US" sz="1800" dirty="0">
                <a:latin typeface="+mj-ea"/>
              </a:rPr>
              <a:t>进程同步机制</a:t>
            </a:r>
          </a:p>
        </p:txBody>
      </p:sp>
      <p:sp>
        <p:nvSpPr>
          <p:cNvPr id="2" name="右箭头 1"/>
          <p:cNvSpPr/>
          <p:nvPr/>
        </p:nvSpPr>
        <p:spPr>
          <a:xfrm>
            <a:off x="3918956" y="4568079"/>
            <a:ext cx="379369" cy="2346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7" name="矩形 26"/>
          <p:cNvSpPr/>
          <p:nvPr/>
        </p:nvSpPr>
        <p:spPr>
          <a:xfrm>
            <a:off x="4431207" y="4110649"/>
            <a:ext cx="3189866" cy="1121525"/>
          </a:xfrm>
          <a:prstGeom prst="rect">
            <a:avLst/>
          </a:prstGeom>
        </p:spPr>
        <p:txBody>
          <a:bodyPr wrap="square">
            <a:spAutoFit/>
          </a:bodyPr>
          <a:lstStyle/>
          <a:p>
            <a:pPr marL="257175" indent="-257175">
              <a:lnSpc>
                <a:spcPct val="130000"/>
              </a:lnSpc>
              <a:buFont typeface="Wingdings" panose="05000000000000000000" pitchFamily="2" charset="2"/>
              <a:buChar char="n"/>
            </a:pPr>
            <a:r>
              <a:rPr lang="en-US" altLang="zh-CN" sz="1800" dirty="0">
                <a:latin typeface="+mj-ea"/>
              </a:rPr>
              <a:t>4.6.1 </a:t>
            </a:r>
            <a:r>
              <a:rPr lang="zh-CN" altLang="en-US" sz="1800" dirty="0">
                <a:latin typeface="+mj-ea"/>
              </a:rPr>
              <a:t>生产者</a:t>
            </a:r>
            <a:r>
              <a:rPr lang="en-US" altLang="zh-CN" sz="1800" dirty="0">
                <a:latin typeface="+mj-ea"/>
              </a:rPr>
              <a:t>-</a:t>
            </a:r>
            <a:r>
              <a:rPr lang="zh-CN" altLang="en-US" sz="1800" dirty="0">
                <a:latin typeface="+mj-ea"/>
              </a:rPr>
              <a:t>消费者问题</a:t>
            </a:r>
          </a:p>
          <a:p>
            <a:pPr marL="257175" indent="-257175">
              <a:lnSpc>
                <a:spcPct val="130000"/>
              </a:lnSpc>
              <a:buFont typeface="Wingdings" panose="05000000000000000000" pitchFamily="2" charset="2"/>
              <a:buChar char="n"/>
            </a:pPr>
            <a:r>
              <a:rPr lang="en-US" altLang="zh-CN" sz="1800" dirty="0">
                <a:latin typeface="+mj-ea"/>
              </a:rPr>
              <a:t>4.6.2 </a:t>
            </a:r>
            <a:r>
              <a:rPr lang="zh-CN" altLang="en-US" sz="1800" dirty="0">
                <a:latin typeface="+mj-ea"/>
              </a:rPr>
              <a:t>哲学家进餐问题</a:t>
            </a:r>
          </a:p>
          <a:p>
            <a:pPr marL="257175" indent="-257175">
              <a:lnSpc>
                <a:spcPct val="130000"/>
              </a:lnSpc>
              <a:buFont typeface="Wingdings" panose="05000000000000000000" pitchFamily="2" charset="2"/>
              <a:buChar char="n"/>
            </a:pPr>
            <a:r>
              <a:rPr lang="en-US" altLang="zh-CN" sz="1800" b="1" dirty="0">
                <a:solidFill>
                  <a:srgbClr val="0000FF"/>
                </a:solidFill>
                <a:latin typeface="+mj-ea"/>
              </a:rPr>
              <a:t>4.6.3 </a:t>
            </a:r>
            <a:r>
              <a:rPr lang="zh-CN" altLang="en-US" sz="1800" b="1" dirty="0">
                <a:solidFill>
                  <a:srgbClr val="0000FF"/>
                </a:solidFill>
                <a:latin typeface="+mj-ea"/>
              </a:rPr>
              <a:t>读者</a:t>
            </a:r>
            <a:r>
              <a:rPr lang="en-US" altLang="zh-CN" sz="1800" b="1" dirty="0">
                <a:solidFill>
                  <a:srgbClr val="0000FF"/>
                </a:solidFill>
                <a:latin typeface="+mj-ea"/>
              </a:rPr>
              <a:t>-</a:t>
            </a:r>
            <a:r>
              <a:rPr lang="zh-CN" altLang="en-US" sz="1800" b="1" dirty="0">
                <a:solidFill>
                  <a:srgbClr val="0000FF"/>
                </a:solidFill>
                <a:latin typeface="+mj-ea"/>
              </a:rPr>
              <a:t>写者问题</a:t>
            </a:r>
          </a:p>
        </p:txBody>
      </p:sp>
    </p:spTree>
    <p:extLst>
      <p:ext uri="{BB962C8B-B14F-4D97-AF65-F5344CB8AC3E}">
        <p14:creationId xmlns:p14="http://schemas.microsoft.com/office/powerpoint/2010/main" val="326535904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读者</a:t>
            </a:r>
            <a:r>
              <a:rPr lang="en-US" altLang="zh-CN" sz="2100" b="1" dirty="0">
                <a:solidFill>
                  <a:schemeClr val="bg1"/>
                </a:solidFill>
              </a:rPr>
              <a:t>-</a:t>
            </a:r>
            <a:r>
              <a:rPr lang="zh-CN" altLang="en-US" sz="2100" b="1" dirty="0">
                <a:solidFill>
                  <a:schemeClr val="bg1"/>
                </a:solidFill>
              </a:rPr>
              <a:t>写者问题</a:t>
            </a:r>
          </a:p>
        </p:txBody>
      </p:sp>
      <p:grpSp>
        <p:nvGrpSpPr>
          <p:cNvPr id="29"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15512" y="1801764"/>
            <a:ext cx="8270126" cy="3313424"/>
            <a:chOff x="673099" y="1194957"/>
            <a:chExt cx="11026835" cy="4417899"/>
          </a:xfrm>
        </p:grpSpPr>
        <p:sp>
          <p:nvSpPr>
            <p:cNvPr id="30"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endParaRPr lang="zh-CN" altLang="en-US" sz="1800"/>
            </a:p>
          </p:txBody>
        </p:sp>
        <p:sp>
          <p:nvSpPr>
            <p:cNvPr id="32"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endParaRPr lang="zh-CN" altLang="en-US" sz="1800" dirty="0"/>
            </a:p>
          </p:txBody>
        </p:sp>
        <p:sp>
          <p:nvSpPr>
            <p:cNvPr id="33"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endParaRPr lang="zh-CN" altLang="en-US" sz="1800"/>
            </a:p>
          </p:txBody>
        </p:sp>
        <p:sp>
          <p:nvSpPr>
            <p:cNvPr id="34"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endParaRPr lang="zh-CN" altLang="en-US" sz="1800" dirty="0"/>
            </a:p>
          </p:txBody>
        </p:sp>
        <p:sp>
          <p:nvSpPr>
            <p:cNvPr id="35"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endParaRPr lang="zh-CN" altLang="en-US" sz="1800" dirty="0"/>
            </a:p>
          </p:txBody>
        </p:sp>
        <p:sp>
          <p:nvSpPr>
            <p:cNvPr id="37" name="isľîdê"/>
            <p:cNvSpPr txBox="1"/>
            <p:nvPr/>
          </p:nvSpPr>
          <p:spPr>
            <a:xfrm>
              <a:off x="673099" y="4123968"/>
              <a:ext cx="2151107" cy="1461716"/>
            </a:xfrm>
            <a:prstGeom prst="rect">
              <a:avLst/>
            </a:prstGeom>
            <a:noFill/>
            <a:ln>
              <a:noFill/>
            </a:ln>
          </p:spPr>
          <p:txBody>
            <a:bodyPr wrap="square" lIns="68580" tIns="34290" rIns="68580" bIns="34290" anchor="t" anchorCtr="0">
              <a:noAutofit/>
            </a:bodyPr>
            <a:lstStyle/>
            <a:p>
              <a:pPr marL="257175" indent="-257175">
                <a:lnSpc>
                  <a:spcPct val="120000"/>
                </a:lnSpc>
                <a:buClr>
                  <a:srgbClr val="0000FF"/>
                </a:buClr>
                <a:buFont typeface="Wingdings" panose="05000000000000000000" pitchFamily="2" charset="2"/>
                <a:buChar char="Ø"/>
              </a:pPr>
              <a:r>
                <a:rPr lang="zh-CN" altLang="en-US" sz="1650" dirty="0"/>
                <a:t>读者和写者，共享一组数据区。</a:t>
              </a:r>
            </a:p>
          </p:txBody>
        </p:sp>
        <p:sp>
          <p:nvSpPr>
            <p:cNvPr id="38" name="íṩ1ïḑe"/>
            <p:cNvSpPr txBox="1"/>
            <p:nvPr/>
          </p:nvSpPr>
          <p:spPr>
            <a:xfrm>
              <a:off x="3890458" y="1194957"/>
              <a:ext cx="1746263" cy="392512"/>
            </a:xfrm>
            <a:prstGeom prst="rect">
              <a:avLst/>
            </a:prstGeom>
            <a:noFill/>
            <a:ln>
              <a:noFill/>
            </a:ln>
          </p:spPr>
          <p:txBody>
            <a:bodyPr wrap="square" lIns="68580" tIns="34290" rIns="68580" bIns="34290" anchor="t" anchorCtr="0">
              <a:noAutofit/>
            </a:bodyPr>
            <a:lstStyle/>
            <a:p>
              <a:pPr algn="ctr">
                <a:lnSpc>
                  <a:spcPct val="110000"/>
                </a:lnSpc>
              </a:pPr>
              <a:r>
                <a:rPr lang="zh-CN" altLang="en-US" sz="1800" b="1" dirty="0">
                  <a:solidFill>
                    <a:srgbClr val="FF0000"/>
                  </a:solidFill>
                </a:rPr>
                <a:t>要求：</a:t>
              </a:r>
            </a:p>
          </p:txBody>
        </p:sp>
        <p:sp>
          <p:nvSpPr>
            <p:cNvPr id="39" name="ïsḻiďê"/>
            <p:cNvSpPr txBox="1"/>
            <p:nvPr/>
          </p:nvSpPr>
          <p:spPr>
            <a:xfrm>
              <a:off x="6344390" y="1194957"/>
              <a:ext cx="2356280" cy="392512"/>
            </a:xfrm>
            <a:prstGeom prst="rect">
              <a:avLst/>
            </a:prstGeom>
            <a:noFill/>
            <a:ln>
              <a:noFill/>
            </a:ln>
          </p:spPr>
          <p:txBody>
            <a:bodyPr wrap="square" lIns="68580" tIns="34290" rIns="68580" bIns="34290" anchor="t" anchorCtr="0">
              <a:noAutofit/>
            </a:bodyPr>
            <a:lstStyle/>
            <a:p>
              <a:pPr algn="ctr"/>
              <a:r>
                <a:rPr lang="zh-CN" altLang="en-US" sz="1800" b="1" dirty="0"/>
                <a:t>分类：</a:t>
              </a:r>
            </a:p>
          </p:txBody>
        </p:sp>
        <p:sp>
          <p:nvSpPr>
            <p:cNvPr id="41" name="isḷiḋé"/>
            <p:cNvSpPr txBox="1"/>
            <p:nvPr/>
          </p:nvSpPr>
          <p:spPr>
            <a:xfrm>
              <a:off x="8876717" y="1194957"/>
              <a:ext cx="2823217" cy="392512"/>
            </a:xfrm>
            <a:prstGeom prst="rect">
              <a:avLst/>
            </a:prstGeom>
            <a:noFill/>
            <a:ln>
              <a:noFill/>
            </a:ln>
          </p:spPr>
          <p:txBody>
            <a:bodyPr wrap="square" lIns="68580" tIns="34290" rIns="68580" bIns="34290" anchor="t" anchorCtr="0">
              <a:noAutofit/>
            </a:bodyPr>
            <a:lstStyle/>
            <a:p>
              <a:pPr algn="ctr"/>
              <a:r>
                <a:rPr lang="zh-CN" altLang="en-US" sz="1800" b="1" dirty="0"/>
                <a:t>解决方案：</a:t>
              </a:r>
            </a:p>
          </p:txBody>
        </p:sp>
        <p:sp>
          <p:nvSpPr>
            <p:cNvPr id="42" name="îṣḻidé"/>
            <p:cNvSpPr txBox="1"/>
            <p:nvPr/>
          </p:nvSpPr>
          <p:spPr>
            <a:xfrm>
              <a:off x="1960664" y="2605404"/>
              <a:ext cx="708108" cy="678249"/>
            </a:xfrm>
            <a:prstGeom prst="rect">
              <a:avLst/>
            </a:prstGeom>
            <a:noFill/>
          </p:spPr>
          <p:txBody>
            <a:bodyPr wrap="square" lIns="68580" tIns="34290" rIns="68580" bIns="34290" rtlCol="0" anchor="ctr">
              <a:normAutofit/>
            </a:bodyPr>
            <a:lstStyle/>
            <a:p>
              <a:pPr algn="ctr"/>
              <a:r>
                <a:rPr lang="en-US" altLang="zh-CN" b="1" dirty="0">
                  <a:solidFill>
                    <a:schemeClr val="bg1"/>
                  </a:solidFill>
                </a:rPr>
                <a:t>00</a:t>
              </a:r>
              <a:endParaRPr lang="zh-CN" altLang="en-US" b="1" dirty="0">
                <a:solidFill>
                  <a:schemeClr val="bg1"/>
                </a:solidFill>
              </a:endParaRPr>
            </a:p>
          </p:txBody>
        </p:sp>
        <p:sp>
          <p:nvSpPr>
            <p:cNvPr id="43" name="ïŝ1ïḋè"/>
            <p:cNvSpPr txBox="1"/>
            <p:nvPr/>
          </p:nvSpPr>
          <p:spPr>
            <a:xfrm>
              <a:off x="4741597" y="2605404"/>
              <a:ext cx="708108" cy="678249"/>
            </a:xfrm>
            <a:prstGeom prst="rect">
              <a:avLst/>
            </a:prstGeom>
            <a:noFill/>
          </p:spPr>
          <p:txBody>
            <a:bodyPr wrap="square" lIns="68580" tIns="34290" rIns="68580" bIns="34290" rtlCol="0" anchor="ctr">
              <a:normAutofit/>
            </a:bodyPr>
            <a:lstStyle/>
            <a:p>
              <a:pPr algn="ctr"/>
              <a:r>
                <a:rPr lang="en-US" altLang="zh-CN" b="1" dirty="0">
                  <a:solidFill>
                    <a:schemeClr val="bg1"/>
                  </a:solidFill>
                </a:rPr>
                <a:t>00</a:t>
              </a:r>
              <a:endParaRPr lang="zh-CN" altLang="en-US" b="1" dirty="0">
                <a:solidFill>
                  <a:schemeClr val="bg1"/>
                </a:solidFill>
              </a:endParaRPr>
            </a:p>
          </p:txBody>
        </p:sp>
        <p:sp>
          <p:nvSpPr>
            <p:cNvPr id="44" name="í$lîdé"/>
            <p:cNvSpPr txBox="1"/>
            <p:nvPr/>
          </p:nvSpPr>
          <p:spPr>
            <a:xfrm>
              <a:off x="7522530" y="2605404"/>
              <a:ext cx="708108" cy="678249"/>
            </a:xfrm>
            <a:prstGeom prst="rect">
              <a:avLst/>
            </a:prstGeom>
            <a:noFill/>
          </p:spPr>
          <p:txBody>
            <a:bodyPr wrap="square" lIns="68580" tIns="34290" rIns="68580" bIns="34290" rtlCol="0" anchor="ctr">
              <a:normAutofit/>
            </a:bodyPr>
            <a:lstStyle/>
            <a:p>
              <a:pPr algn="ctr"/>
              <a:r>
                <a:rPr lang="en-US" altLang="zh-CN" b="1" dirty="0">
                  <a:solidFill>
                    <a:schemeClr val="bg1"/>
                  </a:solidFill>
                </a:rPr>
                <a:t>00</a:t>
              </a:r>
              <a:endParaRPr lang="zh-CN" altLang="en-US" b="1" dirty="0">
                <a:solidFill>
                  <a:schemeClr val="bg1"/>
                </a:solidFill>
              </a:endParaRPr>
            </a:p>
          </p:txBody>
        </p:sp>
        <p:sp>
          <p:nvSpPr>
            <p:cNvPr id="45" name="išḻïďè"/>
            <p:cNvSpPr txBox="1"/>
            <p:nvPr/>
          </p:nvSpPr>
          <p:spPr>
            <a:xfrm>
              <a:off x="10303464" y="2605404"/>
              <a:ext cx="708108" cy="678249"/>
            </a:xfrm>
            <a:prstGeom prst="rect">
              <a:avLst/>
            </a:prstGeom>
            <a:noFill/>
          </p:spPr>
          <p:txBody>
            <a:bodyPr wrap="square" lIns="68580" tIns="34290" rIns="68580" bIns="34290" rtlCol="0" anchor="ctr">
              <a:normAutofit/>
            </a:bodyPr>
            <a:lstStyle/>
            <a:p>
              <a:pPr algn="ctr"/>
              <a:r>
                <a:rPr lang="en-US" altLang="zh-CN" b="1" dirty="0">
                  <a:solidFill>
                    <a:schemeClr val="bg1"/>
                  </a:solidFill>
                </a:rPr>
                <a:t>00</a:t>
              </a:r>
              <a:endParaRPr lang="zh-CN" altLang="en-US" b="1" dirty="0">
                <a:solidFill>
                  <a:schemeClr val="bg1"/>
                </a:solidFill>
              </a:endParaRPr>
            </a:p>
          </p:txBody>
        </p:sp>
        <p:sp>
          <p:nvSpPr>
            <p:cNvPr id="46" name="isľîdê"/>
            <p:cNvSpPr txBox="1"/>
            <p:nvPr/>
          </p:nvSpPr>
          <p:spPr>
            <a:xfrm>
              <a:off x="3097547" y="4151140"/>
              <a:ext cx="3031190" cy="923137"/>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650" dirty="0"/>
                <a:t>允许多个读者同时执行读操作；</a:t>
              </a:r>
            </a:p>
            <a:p>
              <a:pPr marL="257175" indent="-257175">
                <a:lnSpc>
                  <a:spcPct val="120000"/>
                </a:lnSpc>
                <a:buClr>
                  <a:srgbClr val="FF0000"/>
                </a:buClr>
                <a:buFont typeface="Wingdings" panose="05000000000000000000" pitchFamily="2" charset="2"/>
                <a:buChar char="Ø"/>
              </a:pPr>
              <a:r>
                <a:rPr lang="zh-CN" altLang="en-US" sz="1650" dirty="0"/>
                <a:t>不允许读者、写者同时操作；</a:t>
              </a:r>
            </a:p>
            <a:p>
              <a:pPr marL="257175" indent="-257175">
                <a:lnSpc>
                  <a:spcPct val="120000"/>
                </a:lnSpc>
                <a:buClr>
                  <a:srgbClr val="FF0000"/>
                </a:buClr>
                <a:buFont typeface="Wingdings" panose="05000000000000000000" pitchFamily="2" charset="2"/>
                <a:buChar char="Ø"/>
              </a:pPr>
              <a:r>
                <a:rPr lang="zh-CN" altLang="en-US" sz="1650" dirty="0"/>
                <a:t>不允许多个写者同时操作。</a:t>
              </a:r>
            </a:p>
          </p:txBody>
        </p:sp>
        <p:sp>
          <p:nvSpPr>
            <p:cNvPr id="47" name="isľîdê"/>
            <p:cNvSpPr txBox="1"/>
            <p:nvPr/>
          </p:nvSpPr>
          <p:spPr>
            <a:xfrm>
              <a:off x="6342369" y="4151140"/>
              <a:ext cx="2763284" cy="1461716"/>
            </a:xfrm>
            <a:prstGeom prst="rect">
              <a:avLst/>
            </a:prstGeom>
            <a:noFill/>
            <a:ln>
              <a:noFill/>
            </a:ln>
          </p:spPr>
          <p:txBody>
            <a:bodyPr wrap="square" lIns="68580" tIns="34290" rIns="68580" bIns="34290" anchor="t" anchorCtr="0">
              <a:noAutofit/>
            </a:bodyPr>
            <a:lstStyle/>
            <a:p>
              <a:pPr marL="257175" indent="-257175">
                <a:lnSpc>
                  <a:spcPct val="120000"/>
                </a:lnSpc>
                <a:buClr>
                  <a:srgbClr val="0000FF"/>
                </a:buClr>
                <a:buFont typeface="Wingdings" panose="05000000000000000000" pitchFamily="2" charset="2"/>
                <a:buChar char="Ø"/>
              </a:pPr>
              <a:r>
                <a:rPr lang="zh-CN" altLang="en-US" sz="1650" dirty="0"/>
                <a:t>读者优先</a:t>
              </a:r>
              <a:r>
                <a:rPr lang="en-US" altLang="zh-CN" sz="1650" dirty="0"/>
                <a:t>(</a:t>
              </a:r>
              <a:r>
                <a:rPr lang="zh-CN" altLang="en-US" sz="1650" dirty="0"/>
                <a:t>第一类读者写者问题</a:t>
              </a:r>
              <a:r>
                <a:rPr lang="en-US" altLang="zh-CN" sz="1650" dirty="0"/>
                <a:t>)</a:t>
              </a:r>
            </a:p>
            <a:p>
              <a:pPr marL="257175" indent="-257175">
                <a:lnSpc>
                  <a:spcPct val="120000"/>
                </a:lnSpc>
                <a:buClr>
                  <a:srgbClr val="0000FF"/>
                </a:buClr>
                <a:buFont typeface="Wingdings" panose="05000000000000000000" pitchFamily="2" charset="2"/>
                <a:buChar char="Ø"/>
              </a:pPr>
              <a:r>
                <a:rPr lang="zh-CN" altLang="en-US" sz="1650" dirty="0"/>
                <a:t>写者优先</a:t>
              </a:r>
              <a:r>
                <a:rPr lang="en-US" altLang="zh-CN" sz="1650" dirty="0"/>
                <a:t>(</a:t>
              </a:r>
              <a:r>
                <a:rPr lang="zh-CN" altLang="en-US" sz="1650" dirty="0"/>
                <a:t>第二类读者写者问题</a:t>
              </a:r>
              <a:r>
                <a:rPr lang="en-US" altLang="zh-CN" sz="1650" dirty="0"/>
                <a:t>)</a:t>
              </a:r>
            </a:p>
          </p:txBody>
        </p:sp>
        <p:sp>
          <p:nvSpPr>
            <p:cNvPr id="48" name="isľîdê"/>
            <p:cNvSpPr txBox="1"/>
            <p:nvPr/>
          </p:nvSpPr>
          <p:spPr>
            <a:xfrm>
              <a:off x="9378993" y="4151140"/>
              <a:ext cx="2292439" cy="1461716"/>
            </a:xfrm>
            <a:prstGeom prst="rect">
              <a:avLst/>
            </a:prstGeom>
            <a:noFill/>
            <a:ln>
              <a:noFill/>
            </a:ln>
          </p:spPr>
          <p:txBody>
            <a:bodyPr wrap="square" lIns="68580" tIns="34290" rIns="68580" bIns="34290" anchor="t" anchorCtr="0">
              <a:noAutofit/>
            </a:bodyPr>
            <a:lstStyle/>
            <a:p>
              <a:pPr marL="257175" indent="-257175">
                <a:lnSpc>
                  <a:spcPct val="120000"/>
                </a:lnSpc>
                <a:buClr>
                  <a:srgbClr val="0000FF"/>
                </a:buClr>
                <a:buFont typeface="Wingdings" panose="05000000000000000000" pitchFamily="2" charset="2"/>
                <a:buChar char="Ø"/>
              </a:pPr>
              <a:r>
                <a:rPr lang="zh-CN" altLang="en-US" sz="1650" dirty="0"/>
                <a:t>记录型信号量</a:t>
              </a:r>
            </a:p>
            <a:p>
              <a:pPr marL="257175" indent="-257175">
                <a:lnSpc>
                  <a:spcPct val="120000"/>
                </a:lnSpc>
                <a:buClr>
                  <a:srgbClr val="0000FF"/>
                </a:buClr>
                <a:buFont typeface="Wingdings" panose="05000000000000000000" pitchFamily="2" charset="2"/>
                <a:buChar char="Ø"/>
              </a:pPr>
              <a:r>
                <a:rPr lang="zh-CN" altLang="en-US" sz="1650" dirty="0"/>
                <a:t>信号量集</a:t>
              </a:r>
            </a:p>
          </p:txBody>
        </p:sp>
        <p:sp>
          <p:nvSpPr>
            <p:cNvPr id="21" name="íṩ1ïḑe"/>
            <p:cNvSpPr txBox="1"/>
            <p:nvPr/>
          </p:nvSpPr>
          <p:spPr>
            <a:xfrm>
              <a:off x="1077943" y="1232195"/>
              <a:ext cx="1746263" cy="392512"/>
            </a:xfrm>
            <a:prstGeom prst="rect">
              <a:avLst/>
            </a:prstGeom>
            <a:noFill/>
            <a:ln>
              <a:noFill/>
            </a:ln>
          </p:spPr>
          <p:txBody>
            <a:bodyPr wrap="square" lIns="68580" tIns="34290" rIns="68580" bIns="34290" anchor="t" anchorCtr="0">
              <a:noAutofit/>
            </a:bodyPr>
            <a:lstStyle/>
            <a:p>
              <a:pPr algn="ctr">
                <a:lnSpc>
                  <a:spcPct val="110000"/>
                </a:lnSpc>
              </a:pPr>
              <a:r>
                <a:rPr lang="zh-CN" altLang="en-US" sz="1800" b="1" dirty="0"/>
                <a:t>有两组并发进程：</a:t>
              </a:r>
            </a:p>
          </p:txBody>
        </p:sp>
      </p:grpSp>
    </p:spTree>
    <p:extLst>
      <p:ext uri="{BB962C8B-B14F-4D97-AF65-F5344CB8AC3E}">
        <p14:creationId xmlns:p14="http://schemas.microsoft.com/office/powerpoint/2010/main" val="106134261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读者优先</a:t>
            </a:r>
            <a:r>
              <a:rPr lang="en-US" altLang="zh-CN" sz="2100" b="1" dirty="0">
                <a:solidFill>
                  <a:schemeClr val="bg1"/>
                </a:solidFill>
              </a:rPr>
              <a:t>(</a:t>
            </a:r>
            <a:r>
              <a:rPr lang="zh-CN" altLang="en-US" sz="2100" b="1" dirty="0">
                <a:solidFill>
                  <a:schemeClr val="bg1"/>
                </a:solidFill>
              </a:rPr>
              <a:t>第一类读者写者问题</a:t>
            </a:r>
            <a:r>
              <a:rPr lang="en-US" altLang="zh-CN" sz="2100" b="1" dirty="0">
                <a:solidFill>
                  <a:schemeClr val="bg1"/>
                </a:solidFill>
              </a:rPr>
              <a:t>)</a:t>
            </a:r>
            <a:endParaRPr lang="zh-CN" altLang="en-US" sz="2100" b="1" dirty="0">
              <a:solidFill>
                <a:schemeClr val="bg1"/>
              </a:solidFill>
            </a:endParaRPr>
          </a:p>
        </p:txBody>
      </p:sp>
      <p:sp>
        <p:nvSpPr>
          <p:cNvPr id="21" name="îṧľîdé"/>
          <p:cNvSpPr/>
          <p:nvPr/>
        </p:nvSpPr>
        <p:spPr>
          <a:xfrm>
            <a:off x="2932597" y="1873035"/>
            <a:ext cx="2663177" cy="1843325"/>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sz="1800"/>
          </a:p>
        </p:txBody>
      </p:sp>
      <p:sp>
        <p:nvSpPr>
          <p:cNvPr id="22" name="内容占位符 2"/>
          <p:cNvSpPr txBox="1"/>
          <p:nvPr/>
        </p:nvSpPr>
        <p:spPr>
          <a:xfrm>
            <a:off x="589426" y="2137037"/>
            <a:ext cx="2803371" cy="317308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435"/>
              </a:spcBef>
              <a:buNone/>
              <a:defRPr/>
            </a:pPr>
            <a:r>
              <a:rPr lang="zh-CN" altLang="en-US" sz="2100" dirty="0"/>
              <a:t>如果</a:t>
            </a:r>
            <a:r>
              <a:rPr lang="zh-CN" altLang="en-US" sz="2100" dirty="0">
                <a:solidFill>
                  <a:srgbClr val="0000FF"/>
                </a:solidFill>
              </a:rPr>
              <a:t>读者</a:t>
            </a:r>
            <a:r>
              <a:rPr lang="zh-CN" altLang="en-US" sz="2100" dirty="0"/>
              <a:t>来：</a:t>
            </a:r>
          </a:p>
          <a:p>
            <a:pPr marL="257175" lvl="1" indent="-257175">
              <a:lnSpc>
                <a:spcPct val="123000"/>
              </a:lnSpc>
              <a:spcBef>
                <a:spcPts val="225"/>
              </a:spcBef>
              <a:buClr>
                <a:srgbClr val="E71101"/>
              </a:buClr>
              <a:buSzPct val="60000"/>
              <a:buFont typeface="Wingdings" panose="05000000000000000000" pitchFamily="2" charset="2"/>
              <a:buChar char="n"/>
              <a:defRPr/>
            </a:pPr>
            <a:r>
              <a:rPr lang="zh-CN" altLang="en-US" sz="2100" dirty="0">
                <a:solidFill>
                  <a:schemeClr val="tx1">
                    <a:lumMod val="65000"/>
                    <a:lumOff val="35000"/>
                  </a:schemeClr>
                </a:solidFill>
              </a:rPr>
              <a:t>无读者、写者，新读者可以读。</a:t>
            </a:r>
          </a:p>
          <a:p>
            <a:pPr marL="257175" lvl="1" indent="-257175">
              <a:lnSpc>
                <a:spcPct val="123000"/>
              </a:lnSpc>
              <a:spcBef>
                <a:spcPts val="225"/>
              </a:spcBef>
              <a:buClr>
                <a:srgbClr val="E71101"/>
              </a:buClr>
              <a:buSzPct val="60000"/>
              <a:buFont typeface="Wingdings" panose="05000000000000000000" pitchFamily="2" charset="2"/>
              <a:buChar char="n"/>
              <a:defRPr/>
            </a:pPr>
            <a:r>
              <a:rPr lang="zh-CN" altLang="en-US" sz="2100" dirty="0">
                <a:solidFill>
                  <a:schemeClr val="tx1">
                    <a:lumMod val="65000"/>
                    <a:lumOff val="35000"/>
                  </a:schemeClr>
                </a:solidFill>
              </a:rPr>
              <a:t>有写者等，但有其它读者正在读，则新读者也可以读。</a:t>
            </a:r>
          </a:p>
          <a:p>
            <a:pPr marL="257175" lvl="1" indent="-257175">
              <a:lnSpc>
                <a:spcPct val="123000"/>
              </a:lnSpc>
              <a:spcBef>
                <a:spcPts val="225"/>
              </a:spcBef>
              <a:buClr>
                <a:srgbClr val="E71101"/>
              </a:buClr>
              <a:buSzPct val="60000"/>
              <a:buFont typeface="Wingdings" panose="05000000000000000000" pitchFamily="2" charset="2"/>
              <a:buChar char="n"/>
              <a:defRPr/>
            </a:pPr>
            <a:r>
              <a:rPr lang="zh-CN" altLang="en-US" sz="2100" dirty="0">
                <a:solidFill>
                  <a:schemeClr val="tx1">
                    <a:lumMod val="65000"/>
                    <a:lumOff val="35000"/>
                  </a:schemeClr>
                </a:solidFill>
              </a:rPr>
              <a:t>有写者写，新读者等。</a:t>
            </a:r>
          </a:p>
          <a:p>
            <a:pPr marL="257175" lvl="1" indent="-257175">
              <a:lnSpc>
                <a:spcPct val="150000"/>
              </a:lnSpc>
              <a:spcBef>
                <a:spcPts val="225"/>
              </a:spcBef>
              <a:buClr>
                <a:srgbClr val="E71101"/>
              </a:buClr>
              <a:buSzPct val="60000"/>
              <a:buFont typeface="Wingdings" panose="05000000000000000000" pitchFamily="2" charset="2"/>
              <a:buChar char="n"/>
              <a:defRPr/>
            </a:pPr>
            <a:endParaRPr lang="zh-CN" altLang="en-US" sz="2100" dirty="0">
              <a:solidFill>
                <a:schemeClr val="tx1">
                  <a:lumMod val="65000"/>
                  <a:lumOff val="35000"/>
                </a:schemeClr>
              </a:solidFill>
            </a:endParaRPr>
          </a:p>
        </p:txBody>
      </p:sp>
      <p:sp>
        <p:nvSpPr>
          <p:cNvPr id="23" name="内容占位符 2"/>
          <p:cNvSpPr txBox="1"/>
          <p:nvPr/>
        </p:nvSpPr>
        <p:spPr>
          <a:xfrm>
            <a:off x="5772150" y="2728309"/>
            <a:ext cx="2959726" cy="268806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435"/>
              </a:spcBef>
              <a:buNone/>
              <a:defRPr/>
            </a:pPr>
            <a:r>
              <a:rPr lang="zh-CN" altLang="en-US" sz="2100" dirty="0"/>
              <a:t>如果</a:t>
            </a:r>
            <a:r>
              <a:rPr lang="zh-CN" altLang="en-US" sz="2100" dirty="0">
                <a:solidFill>
                  <a:srgbClr val="FF0000"/>
                </a:solidFill>
              </a:rPr>
              <a:t>写者</a:t>
            </a:r>
            <a:r>
              <a:rPr lang="zh-CN" altLang="en-US" sz="2100" dirty="0"/>
              <a:t>来：</a:t>
            </a:r>
          </a:p>
          <a:p>
            <a:pPr marL="0" lvl="1" indent="-257175">
              <a:lnSpc>
                <a:spcPct val="123000"/>
              </a:lnSpc>
              <a:spcBef>
                <a:spcPts val="278"/>
              </a:spcBef>
              <a:buClr>
                <a:srgbClr val="E71101"/>
              </a:buClr>
              <a:buSzPct val="60000"/>
              <a:buFont typeface="Wingdings" panose="05000000000000000000" pitchFamily="2" charset="2"/>
              <a:buChar char="n"/>
              <a:defRPr/>
            </a:pPr>
            <a:r>
              <a:rPr lang="zh-CN" altLang="en-US" sz="2100" dirty="0"/>
              <a:t>无读者，新写者可以写。</a:t>
            </a:r>
          </a:p>
          <a:p>
            <a:pPr marL="0" lvl="1" indent="-257175">
              <a:lnSpc>
                <a:spcPct val="123000"/>
              </a:lnSpc>
              <a:spcBef>
                <a:spcPts val="278"/>
              </a:spcBef>
              <a:buClr>
                <a:srgbClr val="E71101"/>
              </a:buClr>
              <a:buSzPct val="60000"/>
              <a:buFont typeface="Wingdings" panose="05000000000000000000" pitchFamily="2" charset="2"/>
              <a:buChar char="n"/>
              <a:defRPr/>
            </a:pPr>
            <a:r>
              <a:rPr lang="zh-CN" altLang="en-US" sz="2100" dirty="0"/>
              <a:t>有读者，新写者等待。</a:t>
            </a:r>
          </a:p>
          <a:p>
            <a:pPr marL="0" lvl="1" indent="-257175">
              <a:lnSpc>
                <a:spcPct val="123000"/>
              </a:lnSpc>
              <a:spcBef>
                <a:spcPts val="278"/>
              </a:spcBef>
              <a:buClr>
                <a:srgbClr val="E71101"/>
              </a:buClr>
              <a:buSzPct val="60000"/>
              <a:buFont typeface="Wingdings" panose="05000000000000000000" pitchFamily="2" charset="2"/>
              <a:buChar char="n"/>
              <a:defRPr/>
            </a:pPr>
            <a:r>
              <a:rPr lang="zh-CN" altLang="en-US" sz="2100" dirty="0"/>
              <a:t>有其它写者，新写者等待。</a:t>
            </a:r>
          </a:p>
        </p:txBody>
      </p:sp>
      <p:sp>
        <p:nvSpPr>
          <p:cNvPr id="24" name="íSľïdé"/>
          <p:cNvSpPr/>
          <p:nvPr/>
        </p:nvSpPr>
        <p:spPr>
          <a:xfrm>
            <a:off x="3605601" y="2199176"/>
            <a:ext cx="425777" cy="383952"/>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34290" rIns="68580" bIns="3429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733425">
              <a:lnSpc>
                <a:spcPct val="90000"/>
              </a:lnSpc>
              <a:spcAft>
                <a:spcPct val="35000"/>
              </a:spcAft>
            </a:pPr>
            <a:endParaRPr lang="en-US" sz="1650"/>
          </a:p>
        </p:txBody>
      </p:sp>
      <p:sp>
        <p:nvSpPr>
          <p:cNvPr id="25" name="ïŝļíḓê"/>
          <p:cNvSpPr/>
          <p:nvPr/>
        </p:nvSpPr>
        <p:spPr bwMode="auto">
          <a:xfrm>
            <a:off x="4417494" y="2910607"/>
            <a:ext cx="417581" cy="415203"/>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68580" tIns="34290" rIns="68580" bIns="34290">
            <a:normAutofit/>
          </a:bodyPr>
          <a:lstStyle/>
          <a:p>
            <a:endParaRPr lang="zh-CN" altLang="en-US" sz="1800"/>
          </a:p>
        </p:txBody>
      </p:sp>
    </p:spTree>
    <p:extLst>
      <p:ext uri="{BB962C8B-B14F-4D97-AF65-F5344CB8AC3E}">
        <p14:creationId xmlns:p14="http://schemas.microsoft.com/office/powerpoint/2010/main" val="347254595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读者优先</a:t>
            </a:r>
            <a:r>
              <a:rPr lang="en-US" altLang="zh-CN" sz="2100" b="1" dirty="0">
                <a:solidFill>
                  <a:schemeClr val="bg1"/>
                </a:solidFill>
              </a:rPr>
              <a:t>(</a:t>
            </a:r>
            <a:r>
              <a:rPr lang="zh-CN" altLang="en-US" sz="2100" b="1" dirty="0">
                <a:solidFill>
                  <a:schemeClr val="bg1"/>
                </a:solidFill>
              </a:rPr>
              <a:t>第一类读者写者问题</a:t>
            </a:r>
            <a:r>
              <a:rPr lang="en-US" altLang="zh-CN" sz="2100" b="1" dirty="0">
                <a:solidFill>
                  <a:schemeClr val="bg1"/>
                </a:solidFill>
              </a:rPr>
              <a:t>)</a:t>
            </a:r>
            <a:endParaRPr lang="zh-CN" altLang="en-US" sz="2100" b="1" dirty="0">
              <a:solidFill>
                <a:schemeClr val="bg1"/>
              </a:solidFill>
            </a:endParaRPr>
          </a:p>
        </p:txBody>
      </p:sp>
      <p:sp>
        <p:nvSpPr>
          <p:cNvPr id="8" name="内容占位符 4"/>
          <p:cNvSpPr txBox="1"/>
          <p:nvPr/>
        </p:nvSpPr>
        <p:spPr>
          <a:xfrm>
            <a:off x="502444" y="1621306"/>
            <a:ext cx="4004880" cy="49210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450"/>
              </a:spcBef>
              <a:buNone/>
            </a:pPr>
            <a:r>
              <a:rPr kumimoji="1" lang="en-US" altLang="zh-CN" dirty="0">
                <a:latin typeface="+mn-ea"/>
              </a:rPr>
              <a:t>void </a:t>
            </a:r>
            <a:r>
              <a:rPr kumimoji="1" lang="en-US" altLang="zh-CN" dirty="0">
                <a:solidFill>
                  <a:srgbClr val="FF0000"/>
                </a:solidFill>
                <a:latin typeface="+mn-ea"/>
              </a:rPr>
              <a:t>reader</a:t>
            </a:r>
            <a:r>
              <a:rPr kumimoji="1" lang="en-US" altLang="zh-CN" dirty="0">
                <a:latin typeface="+mn-ea"/>
              </a:rPr>
              <a:t>() {</a:t>
            </a:r>
          </a:p>
          <a:p>
            <a:pPr marL="0" indent="0" algn="just">
              <a:spcBef>
                <a:spcPts val="450"/>
              </a:spcBef>
              <a:buNone/>
            </a:pPr>
            <a:r>
              <a:rPr kumimoji="1" lang="en-US" altLang="zh-CN" dirty="0">
                <a:latin typeface="+mn-ea"/>
              </a:rPr>
              <a:t>    do {</a:t>
            </a:r>
          </a:p>
          <a:p>
            <a:pPr marL="0" indent="0" algn="just">
              <a:spcBef>
                <a:spcPts val="450"/>
              </a:spcBef>
              <a:buNone/>
            </a:pPr>
            <a:r>
              <a:rPr kumimoji="1" lang="en-US" altLang="zh-CN" dirty="0">
                <a:latin typeface="+mn-ea"/>
              </a:rPr>
              <a:t>	wait(</a:t>
            </a:r>
            <a:r>
              <a:rPr kumimoji="1" lang="en-US" altLang="zh-CN" dirty="0" err="1">
                <a:latin typeface="+mn-ea"/>
              </a:rPr>
              <a:t>mutex</a:t>
            </a:r>
            <a:r>
              <a:rPr kumimoji="1" lang="en-US" altLang="zh-CN" dirty="0">
                <a:latin typeface="+mn-ea"/>
              </a:rPr>
              <a:t>);</a:t>
            </a:r>
          </a:p>
          <a:p>
            <a:pPr marL="0" indent="0" algn="just">
              <a:spcBef>
                <a:spcPts val="450"/>
              </a:spcBef>
              <a:buNone/>
            </a:pPr>
            <a:r>
              <a:rPr kumimoji="1" lang="en-US" altLang="zh-CN" dirty="0">
                <a:latin typeface="+mn-ea"/>
              </a:rPr>
              <a:t>	if (</a:t>
            </a:r>
            <a:r>
              <a:rPr kumimoji="1" lang="en-US" altLang="zh-CN" dirty="0" err="1">
                <a:latin typeface="+mn-ea"/>
              </a:rPr>
              <a:t>readcount</a:t>
            </a:r>
            <a:r>
              <a:rPr kumimoji="1" lang="en-US" altLang="zh-CN" dirty="0">
                <a:latin typeface="+mn-ea"/>
              </a:rPr>
              <a:t>==0) wait(w);</a:t>
            </a:r>
          </a:p>
          <a:p>
            <a:pPr marL="0" indent="0" algn="just">
              <a:spcBef>
                <a:spcPts val="450"/>
              </a:spcBef>
              <a:buNone/>
            </a:pPr>
            <a:r>
              <a:rPr kumimoji="1" lang="en-US" altLang="zh-CN" dirty="0">
                <a:latin typeface="+mn-ea"/>
              </a:rPr>
              <a:t>	</a:t>
            </a:r>
            <a:r>
              <a:rPr kumimoji="1" lang="en-US" altLang="zh-CN" dirty="0" err="1">
                <a:latin typeface="+mn-ea"/>
              </a:rPr>
              <a:t>readcount</a:t>
            </a:r>
            <a:r>
              <a:rPr kumimoji="1" lang="en-US" altLang="zh-CN" dirty="0">
                <a:latin typeface="+mn-ea"/>
              </a:rPr>
              <a:t>++;</a:t>
            </a:r>
          </a:p>
          <a:p>
            <a:pPr marL="0" indent="0" algn="just">
              <a:spcBef>
                <a:spcPts val="450"/>
              </a:spcBef>
              <a:buNone/>
            </a:pPr>
            <a:r>
              <a:rPr kumimoji="1" lang="en-US" altLang="zh-CN" dirty="0">
                <a:latin typeface="+mn-ea"/>
              </a:rPr>
              <a:t>	signal(</a:t>
            </a:r>
            <a:r>
              <a:rPr kumimoji="1" lang="en-US" altLang="zh-CN" dirty="0" err="1">
                <a:latin typeface="+mn-ea"/>
              </a:rPr>
              <a:t>mutex</a:t>
            </a:r>
            <a:r>
              <a:rPr kumimoji="1" lang="en-US" altLang="zh-CN" dirty="0">
                <a:latin typeface="+mn-ea"/>
              </a:rPr>
              <a:t>);</a:t>
            </a:r>
          </a:p>
          <a:p>
            <a:pPr marL="0" indent="0" algn="just">
              <a:spcBef>
                <a:spcPts val="450"/>
              </a:spcBef>
              <a:buNone/>
            </a:pPr>
            <a:r>
              <a:rPr kumimoji="1" lang="en-US" altLang="zh-CN" dirty="0">
                <a:latin typeface="+mn-ea"/>
              </a:rPr>
              <a:t>	…</a:t>
            </a:r>
          </a:p>
          <a:p>
            <a:pPr marL="0" indent="0" algn="just">
              <a:spcBef>
                <a:spcPts val="450"/>
              </a:spcBef>
              <a:buNone/>
            </a:pPr>
            <a:r>
              <a:rPr kumimoji="1" lang="en-US" altLang="zh-CN" dirty="0">
                <a:latin typeface="+mn-ea"/>
              </a:rPr>
              <a:t>	</a:t>
            </a:r>
            <a:r>
              <a:rPr kumimoji="1" lang="zh-CN" altLang="en-US" dirty="0">
                <a:solidFill>
                  <a:srgbClr val="FF0000"/>
                </a:solidFill>
                <a:latin typeface="+mn-ea"/>
              </a:rPr>
              <a:t>读</a:t>
            </a:r>
            <a:endParaRPr kumimoji="1" lang="en-US" altLang="zh-CN" dirty="0">
              <a:latin typeface="+mn-ea"/>
            </a:endParaRPr>
          </a:p>
          <a:p>
            <a:pPr marL="0" indent="0" algn="just">
              <a:spcBef>
                <a:spcPts val="450"/>
              </a:spcBef>
              <a:buNone/>
            </a:pPr>
            <a:r>
              <a:rPr kumimoji="1" lang="en-US" altLang="zh-CN" dirty="0">
                <a:latin typeface="+mn-ea"/>
              </a:rPr>
              <a:t>	…</a:t>
            </a:r>
          </a:p>
          <a:p>
            <a:pPr marL="0" indent="0" algn="just">
              <a:spcBef>
                <a:spcPts val="450"/>
              </a:spcBef>
              <a:buNone/>
            </a:pPr>
            <a:r>
              <a:rPr kumimoji="1" lang="en-US" altLang="zh-CN" dirty="0">
                <a:latin typeface="+mn-ea"/>
              </a:rPr>
              <a:t>	wait(</a:t>
            </a:r>
            <a:r>
              <a:rPr kumimoji="1" lang="en-US" altLang="zh-CN" dirty="0" err="1">
                <a:latin typeface="+mn-ea"/>
              </a:rPr>
              <a:t>mutex</a:t>
            </a:r>
            <a:r>
              <a:rPr kumimoji="1" lang="en-US" altLang="zh-CN" dirty="0">
                <a:latin typeface="+mn-ea"/>
              </a:rPr>
              <a:t>);</a:t>
            </a:r>
          </a:p>
          <a:p>
            <a:pPr marL="0" indent="0" algn="just">
              <a:spcBef>
                <a:spcPts val="450"/>
              </a:spcBef>
              <a:buNone/>
            </a:pPr>
            <a:r>
              <a:rPr kumimoji="1" lang="en-US" altLang="zh-CN" dirty="0">
                <a:latin typeface="+mn-ea"/>
              </a:rPr>
              <a:t>	</a:t>
            </a:r>
            <a:r>
              <a:rPr kumimoji="1" lang="en-US" altLang="zh-CN" dirty="0" err="1">
                <a:latin typeface="+mn-ea"/>
              </a:rPr>
              <a:t>readcount</a:t>
            </a:r>
            <a:r>
              <a:rPr kumimoji="1" lang="en-US" altLang="zh-CN" dirty="0">
                <a:latin typeface="+mn-ea"/>
              </a:rPr>
              <a:t>--;</a:t>
            </a:r>
          </a:p>
          <a:p>
            <a:pPr marL="0" indent="0" algn="just">
              <a:spcBef>
                <a:spcPts val="450"/>
              </a:spcBef>
              <a:buNone/>
            </a:pPr>
            <a:r>
              <a:rPr kumimoji="1" lang="en-US" altLang="zh-CN" dirty="0">
                <a:latin typeface="+mn-ea"/>
              </a:rPr>
              <a:t>	if (</a:t>
            </a:r>
            <a:r>
              <a:rPr kumimoji="1" lang="en-US" altLang="zh-CN" dirty="0" err="1">
                <a:latin typeface="+mn-ea"/>
              </a:rPr>
              <a:t>readcount</a:t>
            </a:r>
            <a:r>
              <a:rPr kumimoji="1" lang="en-US" altLang="zh-CN" dirty="0">
                <a:latin typeface="+mn-ea"/>
              </a:rPr>
              <a:t>==0) signal(w);</a:t>
            </a:r>
          </a:p>
          <a:p>
            <a:pPr marL="0" indent="0" algn="just">
              <a:spcBef>
                <a:spcPts val="450"/>
              </a:spcBef>
              <a:buNone/>
            </a:pPr>
            <a:r>
              <a:rPr kumimoji="1" lang="en-US" altLang="zh-CN" dirty="0">
                <a:latin typeface="+mn-ea"/>
              </a:rPr>
              <a:t>	signal(</a:t>
            </a:r>
            <a:r>
              <a:rPr kumimoji="1" lang="en-US" altLang="zh-CN" dirty="0" err="1">
                <a:latin typeface="+mn-ea"/>
              </a:rPr>
              <a:t>mutex</a:t>
            </a:r>
            <a:r>
              <a:rPr kumimoji="1" lang="en-US" altLang="zh-CN" dirty="0">
                <a:latin typeface="+mn-ea"/>
              </a:rPr>
              <a:t>);</a:t>
            </a:r>
          </a:p>
          <a:p>
            <a:pPr marL="0" indent="0" algn="just">
              <a:spcBef>
                <a:spcPts val="450"/>
              </a:spcBef>
              <a:buNone/>
            </a:pPr>
            <a:r>
              <a:rPr kumimoji="1" lang="en-US" altLang="zh-CN" dirty="0">
                <a:latin typeface="+mn-ea"/>
              </a:rPr>
              <a:t>    }while(TRUE);</a:t>
            </a:r>
          </a:p>
          <a:p>
            <a:pPr marL="0" indent="0" algn="just">
              <a:spcBef>
                <a:spcPts val="450"/>
              </a:spcBef>
              <a:buNone/>
            </a:pPr>
            <a:r>
              <a:rPr kumimoji="1" lang="en-US" altLang="zh-CN" dirty="0">
                <a:latin typeface="+mn-ea"/>
              </a:rPr>
              <a:t>}</a:t>
            </a:r>
          </a:p>
          <a:p>
            <a:pPr marL="0" indent="0">
              <a:spcBef>
                <a:spcPts val="450"/>
              </a:spcBef>
              <a:buNone/>
            </a:pPr>
            <a:endParaRPr lang="zh-CN" altLang="en-US" dirty="0">
              <a:latin typeface="+mn-ea"/>
            </a:endParaRPr>
          </a:p>
        </p:txBody>
      </p:sp>
      <p:sp>
        <p:nvSpPr>
          <p:cNvPr id="9" name="内容占位符 5"/>
          <p:cNvSpPr txBox="1"/>
          <p:nvPr/>
        </p:nvSpPr>
        <p:spPr>
          <a:xfrm>
            <a:off x="4934487" y="2622747"/>
            <a:ext cx="2811066" cy="31873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en-US" altLang="zh-CN" dirty="0">
                <a:latin typeface="+mn-ea"/>
              </a:rPr>
              <a:t>void </a:t>
            </a:r>
            <a:r>
              <a:rPr kumimoji="1" lang="en-US" altLang="zh-CN" dirty="0">
                <a:solidFill>
                  <a:srgbClr val="0000CC"/>
                </a:solidFill>
                <a:latin typeface="+mn-ea"/>
              </a:rPr>
              <a:t>writer</a:t>
            </a:r>
            <a:r>
              <a:rPr kumimoji="1" lang="en-US" altLang="zh-CN" dirty="0">
                <a:latin typeface="+mn-ea"/>
              </a:rPr>
              <a:t>() {</a:t>
            </a:r>
          </a:p>
          <a:p>
            <a:pPr marL="0" indent="0">
              <a:buNone/>
            </a:pPr>
            <a:r>
              <a:rPr kumimoji="1" lang="en-US" altLang="zh-CN" dirty="0">
                <a:latin typeface="+mn-ea"/>
              </a:rPr>
              <a:t>  do {</a:t>
            </a:r>
          </a:p>
          <a:p>
            <a:pPr marL="0" indent="0">
              <a:buNone/>
            </a:pPr>
            <a:r>
              <a:rPr kumimoji="1" lang="en-US" altLang="zh-CN" dirty="0">
                <a:latin typeface="+mn-ea"/>
              </a:rPr>
              <a:t>	wait(w);</a:t>
            </a:r>
          </a:p>
          <a:p>
            <a:pPr marL="0" indent="0">
              <a:buNone/>
            </a:pPr>
            <a:r>
              <a:rPr kumimoji="1" lang="en-US" altLang="zh-CN" dirty="0">
                <a:latin typeface="+mn-ea"/>
              </a:rPr>
              <a:t>	…</a:t>
            </a:r>
          </a:p>
          <a:p>
            <a:pPr marL="0" indent="0">
              <a:buNone/>
            </a:pPr>
            <a:r>
              <a:rPr kumimoji="1" lang="en-US" altLang="zh-CN" dirty="0">
                <a:latin typeface="+mn-ea"/>
              </a:rPr>
              <a:t>	</a:t>
            </a:r>
            <a:r>
              <a:rPr kumimoji="1" lang="zh-CN" altLang="en-US" dirty="0">
                <a:solidFill>
                  <a:srgbClr val="0000CC"/>
                </a:solidFill>
                <a:latin typeface="+mn-ea"/>
              </a:rPr>
              <a:t>写</a:t>
            </a:r>
            <a:endParaRPr kumimoji="1" lang="zh-CN" altLang="en-US" dirty="0">
              <a:latin typeface="+mn-ea"/>
            </a:endParaRPr>
          </a:p>
          <a:p>
            <a:pPr marL="0" indent="0">
              <a:buNone/>
            </a:pPr>
            <a:r>
              <a:rPr kumimoji="1" lang="en-US" altLang="zh-CN" dirty="0">
                <a:latin typeface="+mn-ea"/>
              </a:rPr>
              <a:t>	…</a:t>
            </a:r>
            <a:endParaRPr kumimoji="1" lang="zh-CN" altLang="en-US" dirty="0">
              <a:latin typeface="+mn-ea"/>
            </a:endParaRPr>
          </a:p>
          <a:p>
            <a:pPr marL="0" indent="0">
              <a:buNone/>
            </a:pPr>
            <a:r>
              <a:rPr kumimoji="1" lang="en-US" altLang="zh-CN" dirty="0">
                <a:latin typeface="+mn-ea"/>
              </a:rPr>
              <a:t>	signal(w);</a:t>
            </a:r>
          </a:p>
          <a:p>
            <a:pPr marL="0" indent="0">
              <a:buNone/>
            </a:pPr>
            <a:r>
              <a:rPr lang="en-US" altLang="zh-CN" sz="1350" dirty="0">
                <a:latin typeface="+mn-ea"/>
              </a:rPr>
              <a:t>    }</a:t>
            </a:r>
          </a:p>
          <a:p>
            <a:pPr marL="0" indent="0">
              <a:buNone/>
            </a:pPr>
            <a:r>
              <a:rPr kumimoji="1" lang="en-US" altLang="zh-CN" dirty="0">
                <a:latin typeface="+mn-ea"/>
              </a:rPr>
              <a:t>}while(TRUE)</a:t>
            </a:r>
          </a:p>
        </p:txBody>
      </p:sp>
      <p:sp>
        <p:nvSpPr>
          <p:cNvPr id="10" name="文本框 6"/>
          <p:cNvSpPr txBox="1">
            <a:spLocks noChangeArrowheads="1"/>
          </p:cNvSpPr>
          <p:nvPr/>
        </p:nvSpPr>
        <p:spPr bwMode="auto">
          <a:xfrm>
            <a:off x="4934488" y="1621306"/>
            <a:ext cx="291703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800" dirty="0">
                <a:latin typeface="+mn-ea"/>
                <a:ea typeface="+mn-ea"/>
              </a:rPr>
              <a:t>初始化：</a:t>
            </a:r>
            <a:endParaRPr lang="en-US" altLang="zh-CN" sz="1800" dirty="0">
              <a:latin typeface="+mn-ea"/>
              <a:ea typeface="+mn-ea"/>
            </a:endParaRPr>
          </a:p>
          <a:p>
            <a:r>
              <a:rPr lang="en-US" altLang="zh-CN" sz="1800" dirty="0"/>
              <a:t>semaphore </a:t>
            </a:r>
            <a:r>
              <a:rPr lang="en-US" altLang="zh-CN" sz="1800" dirty="0" err="1"/>
              <a:t>mutext</a:t>
            </a:r>
            <a:r>
              <a:rPr lang="en-US" altLang="zh-CN" sz="1800" dirty="0"/>
              <a:t>=1, w=1;</a:t>
            </a:r>
          </a:p>
          <a:p>
            <a:r>
              <a:rPr lang="en-US" altLang="zh-CN" sz="1800" dirty="0"/>
              <a:t>int </a:t>
            </a:r>
            <a:r>
              <a:rPr lang="en-US" altLang="zh-CN" sz="1800" dirty="0" err="1"/>
              <a:t>readcount</a:t>
            </a:r>
            <a:r>
              <a:rPr lang="en-US" altLang="zh-CN" sz="1800" dirty="0"/>
              <a:t>=0;</a:t>
            </a:r>
            <a:endParaRPr lang="zh-CN" altLang="en-US" sz="1800" dirty="0"/>
          </a:p>
        </p:txBody>
      </p:sp>
      <p:cxnSp>
        <p:nvCxnSpPr>
          <p:cNvPr id="3" name="直接连接符 2"/>
          <p:cNvCxnSpPr/>
          <p:nvPr/>
        </p:nvCxnSpPr>
        <p:spPr>
          <a:xfrm>
            <a:off x="4507324" y="1621306"/>
            <a:ext cx="0" cy="3804725"/>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02432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写者优先</a:t>
            </a:r>
            <a:r>
              <a:rPr lang="en-US" altLang="zh-CN" sz="2100" b="1" dirty="0">
                <a:solidFill>
                  <a:schemeClr val="bg1"/>
                </a:solidFill>
              </a:rPr>
              <a:t>(</a:t>
            </a:r>
            <a:r>
              <a:rPr lang="zh-CN" altLang="en-US" sz="2100" b="1" dirty="0">
                <a:solidFill>
                  <a:schemeClr val="bg1"/>
                </a:solidFill>
              </a:rPr>
              <a:t>第二类读者写者问题</a:t>
            </a:r>
            <a:r>
              <a:rPr lang="en-US" altLang="zh-CN" sz="2100" b="1" dirty="0">
                <a:solidFill>
                  <a:schemeClr val="bg1"/>
                </a:solidFill>
              </a:rPr>
              <a:t>)</a:t>
            </a:r>
            <a:endParaRPr lang="zh-CN" altLang="en-US" sz="2100" b="1" dirty="0">
              <a:solidFill>
                <a:schemeClr val="bg1"/>
              </a:solidFill>
            </a:endParaRPr>
          </a:p>
        </p:txBody>
      </p:sp>
      <p:sp>
        <p:nvSpPr>
          <p:cNvPr id="24" name="文本框 23"/>
          <p:cNvSpPr txBox="1"/>
          <p:nvPr/>
        </p:nvSpPr>
        <p:spPr>
          <a:xfrm>
            <a:off x="1394848" y="2004107"/>
            <a:ext cx="6670547" cy="3065968"/>
          </a:xfrm>
          <a:prstGeom prst="rect">
            <a:avLst/>
          </a:prstGeom>
          <a:noFill/>
        </p:spPr>
        <p:txBody>
          <a:bodyPr wrap="square" rtlCol="0">
            <a:spAutoFit/>
          </a:bodyPr>
          <a:lstStyle/>
          <a:p>
            <a:pPr>
              <a:lnSpc>
                <a:spcPct val="120000"/>
              </a:lnSpc>
              <a:spcBef>
                <a:spcPts val="450"/>
              </a:spcBef>
              <a:spcAft>
                <a:spcPts val="450"/>
              </a:spcAft>
            </a:pPr>
            <a:r>
              <a:rPr lang="zh-CN" altLang="en-US" sz="1950" dirty="0"/>
              <a:t>问题描述：</a:t>
            </a:r>
          </a:p>
          <a:p>
            <a:pPr marL="257175" indent="-257175" algn="just">
              <a:lnSpc>
                <a:spcPct val="120000"/>
              </a:lnSpc>
              <a:spcBef>
                <a:spcPts val="450"/>
              </a:spcBef>
              <a:spcAft>
                <a:spcPts val="450"/>
              </a:spcAft>
              <a:buClr>
                <a:srgbClr val="FF0000"/>
              </a:buClr>
              <a:buFont typeface="Wingdings" panose="05000000000000000000" pitchFamily="2" charset="2"/>
              <a:buChar char="Ø"/>
            </a:pPr>
            <a:r>
              <a:rPr lang="zh-CN" altLang="en-US" sz="1950" dirty="0">
                <a:latin typeface="+mn-ea"/>
              </a:rPr>
              <a:t>多个读者可以同时进行读</a:t>
            </a:r>
          </a:p>
          <a:p>
            <a:pPr marL="257175" indent="-257175" algn="just">
              <a:lnSpc>
                <a:spcPct val="120000"/>
              </a:lnSpc>
              <a:spcBef>
                <a:spcPts val="450"/>
              </a:spcBef>
              <a:spcAft>
                <a:spcPts val="450"/>
              </a:spcAft>
              <a:buClr>
                <a:srgbClr val="FF0000"/>
              </a:buClr>
              <a:buFont typeface="Wingdings" panose="05000000000000000000" pitchFamily="2" charset="2"/>
              <a:buChar char="Ø"/>
            </a:pPr>
            <a:r>
              <a:rPr lang="zh-CN" altLang="en-US" sz="1950" dirty="0">
                <a:latin typeface="+mn-ea"/>
              </a:rPr>
              <a:t>写者必须互斥（只允许一个写者写，也不能读者写者同时进行）</a:t>
            </a:r>
          </a:p>
          <a:p>
            <a:pPr marL="257175" indent="-257175" algn="just">
              <a:lnSpc>
                <a:spcPct val="120000"/>
              </a:lnSpc>
              <a:spcBef>
                <a:spcPts val="450"/>
              </a:spcBef>
              <a:spcAft>
                <a:spcPts val="450"/>
              </a:spcAft>
              <a:buClr>
                <a:srgbClr val="FF0000"/>
              </a:buClr>
              <a:buFont typeface="Wingdings" panose="05000000000000000000" pitchFamily="2" charset="2"/>
              <a:buChar char="Ø"/>
            </a:pPr>
            <a:r>
              <a:rPr lang="zh-CN" altLang="en-US" sz="1950" dirty="0">
                <a:latin typeface="+mn-ea"/>
              </a:rPr>
              <a:t>写者优先于读者（一旦有写者，则后续读者必须等待，唤醒时优先考虑写者）</a:t>
            </a:r>
          </a:p>
          <a:p>
            <a:pPr>
              <a:spcBef>
                <a:spcPts val="450"/>
              </a:spcBef>
              <a:spcAft>
                <a:spcPts val="450"/>
              </a:spcAft>
              <a:defRPr/>
            </a:pPr>
            <a:r>
              <a:rPr lang="zh-CN" altLang="en-US" sz="1950" dirty="0">
                <a:solidFill>
                  <a:srgbClr val="FF0000"/>
                </a:solidFill>
              </a:rPr>
              <a:t>如何用</a:t>
            </a:r>
            <a:r>
              <a:rPr lang="en-US" altLang="zh-CN" sz="1950" dirty="0">
                <a:solidFill>
                  <a:srgbClr val="FF0000"/>
                </a:solidFill>
              </a:rPr>
              <a:t>P/V</a:t>
            </a:r>
            <a:r>
              <a:rPr lang="zh-CN" altLang="en-US" sz="1950" dirty="0">
                <a:solidFill>
                  <a:srgbClr val="FF0000"/>
                </a:solidFill>
              </a:rPr>
              <a:t>操作实现</a:t>
            </a:r>
            <a:r>
              <a:rPr lang="zh-CN" altLang="en-US" sz="1950" dirty="0"/>
              <a:t>？（思考题）</a:t>
            </a:r>
          </a:p>
        </p:txBody>
      </p:sp>
      <p:pic>
        <p:nvPicPr>
          <p:cNvPr id="29" name="图片 2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9151" y="2004107"/>
            <a:ext cx="395288" cy="395288"/>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9151" y="4566795"/>
            <a:ext cx="395288" cy="395288"/>
          </a:xfrm>
          <a:prstGeom prst="rect">
            <a:avLst/>
          </a:prstGeom>
          <a:ln>
            <a:noFill/>
          </a:ln>
          <a:effectLst>
            <a:softEdge rad="0"/>
          </a:effectLst>
        </p:spPr>
      </p:pic>
    </p:spTree>
    <p:extLst>
      <p:ext uri="{BB962C8B-B14F-4D97-AF65-F5344CB8AC3E}">
        <p14:creationId xmlns:p14="http://schemas.microsoft.com/office/powerpoint/2010/main" val="409180623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利用信号量集解决读者</a:t>
            </a:r>
            <a:r>
              <a:rPr lang="en-US" altLang="zh-CN" sz="2100" b="1" dirty="0">
                <a:solidFill>
                  <a:schemeClr val="bg1"/>
                </a:solidFill>
              </a:rPr>
              <a:t>-</a:t>
            </a:r>
            <a:r>
              <a:rPr lang="zh-CN" altLang="en-US" sz="2100" b="1" dirty="0">
                <a:solidFill>
                  <a:schemeClr val="bg1"/>
                </a:solidFill>
              </a:rPr>
              <a:t>写者问题（略）</a:t>
            </a:r>
          </a:p>
        </p:txBody>
      </p:sp>
      <p:sp>
        <p:nvSpPr>
          <p:cNvPr id="8" name="内容占位符 4"/>
          <p:cNvSpPr txBox="1"/>
          <p:nvPr/>
        </p:nvSpPr>
        <p:spPr>
          <a:xfrm>
            <a:off x="502444" y="1838007"/>
            <a:ext cx="4004880" cy="32251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450"/>
              </a:spcBef>
              <a:buNone/>
            </a:pPr>
            <a:r>
              <a:rPr kumimoji="1" lang="en-US" altLang="zh-CN" dirty="0">
                <a:latin typeface="+mn-ea"/>
              </a:rPr>
              <a:t> void </a:t>
            </a:r>
            <a:r>
              <a:rPr kumimoji="1" lang="en-US" altLang="zh-CN" dirty="0">
                <a:solidFill>
                  <a:srgbClr val="FF0000"/>
                </a:solidFill>
                <a:latin typeface="+mn-ea"/>
              </a:rPr>
              <a:t>reader</a:t>
            </a:r>
            <a:r>
              <a:rPr kumimoji="1" lang="en-US" altLang="zh-CN" dirty="0">
                <a:latin typeface="+mn-ea"/>
              </a:rPr>
              <a:t>() {</a:t>
            </a:r>
          </a:p>
          <a:p>
            <a:pPr marL="0" indent="0" algn="just">
              <a:spcBef>
                <a:spcPts val="450"/>
              </a:spcBef>
              <a:buNone/>
            </a:pPr>
            <a:r>
              <a:rPr kumimoji="1" lang="en-US" altLang="zh-CN" dirty="0">
                <a:latin typeface="+mn-ea"/>
              </a:rPr>
              <a:t>     do {</a:t>
            </a:r>
          </a:p>
          <a:p>
            <a:pPr marL="0" indent="0" algn="just">
              <a:spcBef>
                <a:spcPts val="450"/>
              </a:spcBef>
              <a:buNone/>
            </a:pPr>
            <a:r>
              <a:rPr kumimoji="1" lang="zh-CN" altLang="en-US" dirty="0">
                <a:latin typeface="+mn-ea"/>
              </a:rPr>
              <a:t>　　　</a:t>
            </a:r>
            <a:r>
              <a:rPr kumimoji="1" lang="en-US" altLang="zh-CN" dirty="0" err="1">
                <a:latin typeface="+mn-ea"/>
              </a:rPr>
              <a:t>Swait</a:t>
            </a:r>
            <a:r>
              <a:rPr kumimoji="1" lang="en-US" altLang="zh-CN" dirty="0">
                <a:latin typeface="+mn-ea"/>
              </a:rPr>
              <a:t>(L,1,1)</a:t>
            </a:r>
          </a:p>
          <a:p>
            <a:pPr marL="0" indent="0" algn="just">
              <a:spcBef>
                <a:spcPts val="450"/>
              </a:spcBef>
              <a:buNone/>
            </a:pPr>
            <a:r>
              <a:rPr kumimoji="1" lang="en-US" altLang="zh-CN" dirty="0">
                <a:latin typeface="+mn-ea"/>
              </a:rPr>
              <a:t>          </a:t>
            </a:r>
            <a:r>
              <a:rPr kumimoji="1" lang="en-US" altLang="zh-CN" dirty="0" err="1">
                <a:latin typeface="+mn-ea"/>
              </a:rPr>
              <a:t>Swait</a:t>
            </a:r>
            <a:r>
              <a:rPr kumimoji="1" lang="en-US" altLang="zh-CN" dirty="0">
                <a:latin typeface="+mn-ea"/>
              </a:rPr>
              <a:t>(mx,1,0)</a:t>
            </a:r>
            <a:r>
              <a:rPr kumimoji="1" lang="zh-CN" altLang="en-US" dirty="0">
                <a:latin typeface="+mn-ea"/>
              </a:rPr>
              <a:t>；</a:t>
            </a:r>
          </a:p>
          <a:p>
            <a:pPr marL="0" indent="0" algn="just">
              <a:spcBef>
                <a:spcPts val="450"/>
              </a:spcBef>
              <a:buNone/>
            </a:pPr>
            <a:r>
              <a:rPr kumimoji="1" lang="zh-CN" altLang="en-US" dirty="0">
                <a:latin typeface="+mn-ea"/>
              </a:rPr>
              <a:t>　　　</a:t>
            </a:r>
            <a:r>
              <a:rPr kumimoji="1" lang="en-US" altLang="zh-CN" dirty="0">
                <a:latin typeface="+mn-ea"/>
              </a:rPr>
              <a:t>…</a:t>
            </a:r>
          </a:p>
          <a:p>
            <a:pPr marL="0" indent="0" algn="just">
              <a:spcBef>
                <a:spcPts val="450"/>
              </a:spcBef>
              <a:buNone/>
            </a:pPr>
            <a:r>
              <a:rPr kumimoji="1" lang="en-US" altLang="zh-CN" dirty="0">
                <a:latin typeface="+mn-ea"/>
              </a:rPr>
              <a:t>          perform read operation</a:t>
            </a:r>
            <a:r>
              <a:rPr kumimoji="1" lang="zh-CN" altLang="en-US" dirty="0">
                <a:latin typeface="+mn-ea"/>
              </a:rPr>
              <a:t>；</a:t>
            </a:r>
          </a:p>
          <a:p>
            <a:pPr marL="0" indent="0" algn="just">
              <a:spcBef>
                <a:spcPts val="450"/>
              </a:spcBef>
              <a:buNone/>
            </a:pPr>
            <a:r>
              <a:rPr kumimoji="1" lang="zh-CN" altLang="en-US" dirty="0">
                <a:latin typeface="+mn-ea"/>
              </a:rPr>
              <a:t>　　　</a:t>
            </a:r>
            <a:r>
              <a:rPr kumimoji="1" lang="en-US" altLang="zh-CN" dirty="0">
                <a:latin typeface="+mn-ea"/>
              </a:rPr>
              <a:t>…</a:t>
            </a:r>
          </a:p>
          <a:p>
            <a:pPr marL="0" indent="0" algn="just">
              <a:spcBef>
                <a:spcPts val="450"/>
              </a:spcBef>
              <a:buNone/>
            </a:pPr>
            <a:r>
              <a:rPr kumimoji="1" lang="en-US" altLang="zh-CN" dirty="0">
                <a:latin typeface="+mn-ea"/>
              </a:rPr>
              <a:t>          </a:t>
            </a:r>
            <a:r>
              <a:rPr kumimoji="1" lang="en-US" altLang="zh-CN" dirty="0" err="1">
                <a:latin typeface="+mn-ea"/>
              </a:rPr>
              <a:t>Ssignal</a:t>
            </a:r>
            <a:r>
              <a:rPr kumimoji="1" lang="en-US" altLang="zh-CN" dirty="0">
                <a:latin typeface="+mn-ea"/>
              </a:rPr>
              <a:t>(L,1)</a:t>
            </a:r>
            <a:r>
              <a:rPr kumimoji="1" lang="zh-CN" altLang="en-US" dirty="0">
                <a:latin typeface="+mn-ea"/>
              </a:rPr>
              <a:t>；</a:t>
            </a:r>
          </a:p>
          <a:p>
            <a:pPr marL="0" indent="0" algn="just">
              <a:spcBef>
                <a:spcPts val="450"/>
              </a:spcBef>
              <a:buNone/>
            </a:pPr>
            <a:r>
              <a:rPr kumimoji="1" lang="zh-CN" altLang="en-US" dirty="0">
                <a:latin typeface="+mn-ea"/>
              </a:rPr>
              <a:t>    </a:t>
            </a:r>
            <a:r>
              <a:rPr kumimoji="1" lang="en-US" altLang="zh-CN" dirty="0">
                <a:latin typeface="+mn-ea"/>
              </a:rPr>
              <a:t>}while(TRUE);</a:t>
            </a:r>
          </a:p>
          <a:p>
            <a:pPr marL="0" indent="0" algn="just">
              <a:spcBef>
                <a:spcPts val="450"/>
              </a:spcBef>
              <a:buNone/>
            </a:pPr>
            <a:r>
              <a:rPr kumimoji="1" lang="en-US" altLang="zh-CN" dirty="0">
                <a:latin typeface="+mn-ea"/>
              </a:rPr>
              <a:t>}</a:t>
            </a:r>
          </a:p>
        </p:txBody>
      </p:sp>
      <p:sp>
        <p:nvSpPr>
          <p:cNvPr id="9" name="内容占位符 5"/>
          <p:cNvSpPr txBox="1"/>
          <p:nvPr/>
        </p:nvSpPr>
        <p:spPr>
          <a:xfrm>
            <a:off x="4895851" y="1751074"/>
            <a:ext cx="4029209" cy="36146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en-US" altLang="zh-CN" dirty="0">
                <a:latin typeface="+mn-ea"/>
              </a:rPr>
              <a:t>void  </a:t>
            </a:r>
            <a:r>
              <a:rPr kumimoji="1" lang="en-US" altLang="zh-CN" dirty="0">
                <a:solidFill>
                  <a:srgbClr val="0000FF"/>
                </a:solidFill>
                <a:latin typeface="+mn-ea"/>
              </a:rPr>
              <a:t>writer</a:t>
            </a:r>
            <a:r>
              <a:rPr kumimoji="1" lang="en-US" altLang="zh-CN" dirty="0">
                <a:latin typeface="+mn-ea"/>
              </a:rPr>
              <a:t>() {</a:t>
            </a:r>
          </a:p>
          <a:p>
            <a:pPr marL="0" indent="0">
              <a:buNone/>
            </a:pPr>
            <a:r>
              <a:rPr kumimoji="1" lang="en-US" altLang="zh-CN" dirty="0">
                <a:latin typeface="+mn-ea"/>
              </a:rPr>
              <a:t>   do {</a:t>
            </a:r>
          </a:p>
          <a:p>
            <a:pPr marL="0" indent="0">
              <a:buNone/>
            </a:pPr>
            <a:r>
              <a:rPr kumimoji="1" lang="en-US" altLang="zh-CN" dirty="0">
                <a:latin typeface="+mn-ea"/>
              </a:rPr>
              <a:t>      </a:t>
            </a:r>
            <a:r>
              <a:rPr kumimoji="1" lang="en-US" altLang="zh-CN" dirty="0" err="1">
                <a:latin typeface="+mn-ea"/>
              </a:rPr>
              <a:t>Swait</a:t>
            </a:r>
            <a:r>
              <a:rPr kumimoji="1" lang="en-US" altLang="zh-CN" dirty="0">
                <a:latin typeface="+mn-ea"/>
              </a:rPr>
              <a:t>(mx,1,1</a:t>
            </a:r>
            <a:r>
              <a:rPr kumimoji="1" lang="zh-CN" altLang="en-US" dirty="0">
                <a:latin typeface="+mn-ea"/>
              </a:rPr>
              <a:t>；</a:t>
            </a:r>
            <a:r>
              <a:rPr kumimoji="1" lang="en-US" altLang="zh-CN" dirty="0">
                <a:latin typeface="+mn-ea"/>
              </a:rPr>
              <a:t>L,RN,0)</a:t>
            </a:r>
            <a:r>
              <a:rPr kumimoji="1" lang="zh-CN" altLang="en-US" dirty="0">
                <a:latin typeface="+mn-ea"/>
              </a:rPr>
              <a:t>；</a:t>
            </a:r>
          </a:p>
          <a:p>
            <a:pPr marL="0" indent="0">
              <a:buNone/>
            </a:pPr>
            <a:r>
              <a:rPr kumimoji="1" lang="zh-CN" altLang="en-US" dirty="0">
                <a:latin typeface="+mn-ea"/>
              </a:rPr>
              <a:t>      </a:t>
            </a:r>
            <a:r>
              <a:rPr kumimoji="1" lang="en-US" altLang="zh-CN" dirty="0">
                <a:latin typeface="+mn-ea"/>
              </a:rPr>
              <a:t>perform write operation</a:t>
            </a:r>
            <a:r>
              <a:rPr kumimoji="1" lang="zh-CN" altLang="en-US" dirty="0">
                <a:latin typeface="+mn-ea"/>
              </a:rPr>
              <a:t>；</a:t>
            </a:r>
          </a:p>
          <a:p>
            <a:pPr marL="0" indent="0">
              <a:buNone/>
            </a:pPr>
            <a:r>
              <a:rPr kumimoji="1" lang="zh-CN" altLang="en-US" dirty="0">
                <a:latin typeface="+mn-ea"/>
              </a:rPr>
              <a:t>      </a:t>
            </a:r>
            <a:r>
              <a:rPr kumimoji="1" lang="en-US" altLang="zh-CN" dirty="0" err="1">
                <a:latin typeface="+mn-ea"/>
              </a:rPr>
              <a:t>Ssignal</a:t>
            </a:r>
            <a:r>
              <a:rPr kumimoji="1" lang="en-US" altLang="zh-CN" dirty="0">
                <a:latin typeface="+mn-ea"/>
              </a:rPr>
              <a:t>(mx,1)</a:t>
            </a:r>
            <a:r>
              <a:rPr kumimoji="1" lang="zh-CN" altLang="en-US" dirty="0">
                <a:latin typeface="+mn-ea"/>
              </a:rPr>
              <a:t>；</a:t>
            </a:r>
          </a:p>
          <a:p>
            <a:pPr marL="0" indent="0">
              <a:buNone/>
            </a:pPr>
            <a:r>
              <a:rPr kumimoji="1" lang="zh-CN" altLang="en-US" dirty="0">
                <a:latin typeface="+mn-ea"/>
              </a:rPr>
              <a:t>    </a:t>
            </a:r>
            <a:r>
              <a:rPr kumimoji="1" lang="en-US" altLang="zh-CN" dirty="0">
                <a:latin typeface="+mn-ea"/>
              </a:rPr>
              <a:t>}while(TRUE);</a:t>
            </a:r>
          </a:p>
          <a:p>
            <a:pPr marL="0" indent="0">
              <a:buNone/>
            </a:pPr>
            <a:r>
              <a:rPr kumimoji="1" lang="en-US" altLang="zh-CN" dirty="0">
                <a:latin typeface="+mn-ea"/>
              </a:rPr>
              <a:t>}</a:t>
            </a:r>
          </a:p>
          <a:p>
            <a:pPr marL="0" indent="0">
              <a:buNone/>
            </a:pPr>
            <a:endParaRPr kumimoji="1" lang="en-US" altLang="zh-CN" dirty="0">
              <a:latin typeface="+mn-ea"/>
            </a:endParaRPr>
          </a:p>
          <a:p>
            <a:pPr marL="0" indent="0">
              <a:buNone/>
            </a:pPr>
            <a:r>
              <a:rPr kumimoji="1" lang="en-US" altLang="zh-CN" dirty="0">
                <a:latin typeface="+mn-ea"/>
              </a:rPr>
              <a:t>int RN</a:t>
            </a:r>
            <a:r>
              <a:rPr kumimoji="1" lang="zh-CN" altLang="en-US" dirty="0">
                <a:latin typeface="+mn-ea"/>
              </a:rPr>
              <a:t>；</a:t>
            </a:r>
          </a:p>
          <a:p>
            <a:pPr marL="0" indent="0">
              <a:buNone/>
            </a:pPr>
            <a:r>
              <a:rPr kumimoji="1" lang="en-US" altLang="zh-CN" dirty="0">
                <a:latin typeface="+mn-ea"/>
              </a:rPr>
              <a:t>semaphore L=RN</a:t>
            </a:r>
            <a:r>
              <a:rPr kumimoji="1" lang="zh-CN" altLang="en-US" dirty="0">
                <a:latin typeface="+mn-ea"/>
              </a:rPr>
              <a:t>，</a:t>
            </a:r>
            <a:r>
              <a:rPr kumimoji="1" lang="en-US" altLang="zh-CN" dirty="0">
                <a:latin typeface="+mn-ea"/>
              </a:rPr>
              <a:t>mx=1</a:t>
            </a:r>
            <a:r>
              <a:rPr kumimoji="1" lang="zh-CN" altLang="en-US" dirty="0">
                <a:latin typeface="+mn-ea"/>
              </a:rPr>
              <a:t>；</a:t>
            </a:r>
          </a:p>
        </p:txBody>
      </p:sp>
      <p:cxnSp>
        <p:nvCxnSpPr>
          <p:cNvPr id="3" name="直接连接符 2"/>
          <p:cNvCxnSpPr/>
          <p:nvPr/>
        </p:nvCxnSpPr>
        <p:spPr>
          <a:xfrm>
            <a:off x="4362437" y="1838008"/>
            <a:ext cx="0" cy="338938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676141" y="5063183"/>
            <a:ext cx="354141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56823" y="5227388"/>
            <a:ext cx="354141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640468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关于信号量的讨论</a:t>
            </a:r>
          </a:p>
        </p:txBody>
      </p:sp>
      <p:sp>
        <p:nvSpPr>
          <p:cNvPr id="10" name="îṧľîdé"/>
          <p:cNvSpPr/>
          <p:nvPr/>
        </p:nvSpPr>
        <p:spPr>
          <a:xfrm>
            <a:off x="3222372" y="2191787"/>
            <a:ext cx="2663177" cy="1843325"/>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sz="1800"/>
          </a:p>
        </p:txBody>
      </p:sp>
      <p:sp>
        <p:nvSpPr>
          <p:cNvPr id="12" name="内容占位符 2"/>
          <p:cNvSpPr txBox="1"/>
          <p:nvPr/>
        </p:nvSpPr>
        <p:spPr>
          <a:xfrm>
            <a:off x="740186" y="2448570"/>
            <a:ext cx="2482186" cy="317308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435"/>
              </a:spcBef>
              <a:buNone/>
              <a:defRPr/>
            </a:pPr>
            <a:r>
              <a:rPr lang="zh-CN" altLang="en-US" sz="2100" dirty="0"/>
              <a:t>信号量的使用：</a:t>
            </a:r>
          </a:p>
          <a:p>
            <a:pPr marL="257175" lvl="1" indent="-257175">
              <a:lnSpc>
                <a:spcPct val="123000"/>
              </a:lnSpc>
              <a:spcBef>
                <a:spcPts val="225"/>
              </a:spcBef>
              <a:buClr>
                <a:srgbClr val="E71101"/>
              </a:buClr>
              <a:buSzPct val="60000"/>
              <a:buFont typeface="Wingdings" panose="05000000000000000000" pitchFamily="2" charset="2"/>
              <a:buChar char="n"/>
              <a:defRPr/>
            </a:pPr>
            <a:r>
              <a:rPr lang="zh-CN" altLang="en-US" sz="1800" dirty="0">
                <a:solidFill>
                  <a:schemeClr val="tx1">
                    <a:lumMod val="65000"/>
                    <a:lumOff val="35000"/>
                  </a:schemeClr>
                </a:solidFill>
              </a:rPr>
              <a:t>信号量必须置一次且只能置一次初值，初值不能为负数</a:t>
            </a:r>
          </a:p>
          <a:p>
            <a:pPr marL="257175" lvl="1" indent="-257175">
              <a:lnSpc>
                <a:spcPct val="123000"/>
              </a:lnSpc>
              <a:spcBef>
                <a:spcPts val="225"/>
              </a:spcBef>
              <a:buClr>
                <a:srgbClr val="E71101"/>
              </a:buClr>
              <a:buSzPct val="60000"/>
              <a:buFont typeface="Wingdings" panose="05000000000000000000" pitchFamily="2" charset="2"/>
              <a:buChar char="n"/>
              <a:defRPr/>
            </a:pPr>
            <a:r>
              <a:rPr lang="zh-CN" altLang="en-US" sz="1800" dirty="0">
                <a:solidFill>
                  <a:schemeClr val="tx1">
                    <a:lumMod val="65000"/>
                    <a:lumOff val="35000"/>
                  </a:schemeClr>
                </a:solidFill>
              </a:rPr>
              <a:t>除了初始化，只能通过执行</a:t>
            </a:r>
            <a:r>
              <a:rPr lang="en-US" altLang="zh-CN" sz="1800" dirty="0">
                <a:solidFill>
                  <a:schemeClr val="tx1">
                    <a:lumMod val="65000"/>
                    <a:lumOff val="35000"/>
                  </a:schemeClr>
                </a:solidFill>
              </a:rPr>
              <a:t>P</a:t>
            </a:r>
            <a:r>
              <a:rPr lang="zh-CN" altLang="en-US" sz="1800" dirty="0">
                <a:solidFill>
                  <a:schemeClr val="tx1">
                    <a:lumMod val="65000"/>
                    <a:lumOff val="35000"/>
                  </a:schemeClr>
                </a:solidFill>
              </a:rPr>
              <a:t>、</a:t>
            </a:r>
            <a:r>
              <a:rPr lang="en-US" altLang="zh-CN" sz="1800" dirty="0">
                <a:solidFill>
                  <a:schemeClr val="tx1">
                    <a:lumMod val="65000"/>
                    <a:lumOff val="35000"/>
                  </a:schemeClr>
                </a:solidFill>
              </a:rPr>
              <a:t>V</a:t>
            </a:r>
            <a:r>
              <a:rPr lang="zh-CN" altLang="en-US" sz="1800" dirty="0">
                <a:solidFill>
                  <a:schemeClr val="tx1">
                    <a:lumMod val="65000"/>
                    <a:lumOff val="35000"/>
                  </a:schemeClr>
                </a:solidFill>
              </a:rPr>
              <a:t>操作来访问信号量</a:t>
            </a:r>
          </a:p>
        </p:txBody>
      </p:sp>
      <p:sp>
        <p:nvSpPr>
          <p:cNvPr id="13" name="内容占位符 2"/>
          <p:cNvSpPr txBox="1"/>
          <p:nvPr/>
        </p:nvSpPr>
        <p:spPr>
          <a:xfrm>
            <a:off x="6061925" y="3047061"/>
            <a:ext cx="2959726" cy="15482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435"/>
              </a:spcBef>
              <a:buNone/>
              <a:defRPr/>
            </a:pPr>
            <a:r>
              <a:rPr lang="zh-CN" altLang="en-US" sz="2100" dirty="0">
                <a:solidFill>
                  <a:srgbClr val="FF0000"/>
                </a:solidFill>
              </a:rPr>
              <a:t>使用中存在的问题</a:t>
            </a:r>
            <a:endParaRPr lang="zh-CN" altLang="en-US" sz="2100" dirty="0"/>
          </a:p>
          <a:p>
            <a:pPr marL="0" lvl="1" indent="-257175">
              <a:lnSpc>
                <a:spcPct val="123000"/>
              </a:lnSpc>
              <a:spcBef>
                <a:spcPts val="278"/>
              </a:spcBef>
              <a:buClr>
                <a:srgbClr val="E71101"/>
              </a:buClr>
              <a:buSzPct val="60000"/>
              <a:buFont typeface="Wingdings" panose="05000000000000000000" pitchFamily="2" charset="2"/>
              <a:buChar char="n"/>
              <a:defRPr/>
            </a:pPr>
            <a:r>
              <a:rPr lang="zh-CN" altLang="en-US" sz="1800" dirty="0"/>
              <a:t>死锁 </a:t>
            </a:r>
          </a:p>
          <a:p>
            <a:pPr marL="0" lvl="1" indent="-257175">
              <a:lnSpc>
                <a:spcPct val="123000"/>
              </a:lnSpc>
              <a:spcBef>
                <a:spcPts val="278"/>
              </a:spcBef>
              <a:buClr>
                <a:srgbClr val="E71101"/>
              </a:buClr>
              <a:buSzPct val="60000"/>
              <a:buFont typeface="Wingdings" panose="05000000000000000000" pitchFamily="2" charset="2"/>
              <a:buChar char="n"/>
              <a:defRPr/>
            </a:pPr>
            <a:r>
              <a:rPr lang="zh-CN" altLang="en-US" sz="1800" dirty="0"/>
              <a:t>饥饿</a:t>
            </a:r>
          </a:p>
        </p:txBody>
      </p:sp>
      <p:sp>
        <p:nvSpPr>
          <p:cNvPr id="14" name="íSľïdé"/>
          <p:cNvSpPr/>
          <p:nvPr/>
        </p:nvSpPr>
        <p:spPr>
          <a:xfrm>
            <a:off x="3895376" y="2517929"/>
            <a:ext cx="425777" cy="383952"/>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34290" rIns="68580" bIns="3429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733425">
              <a:lnSpc>
                <a:spcPct val="90000"/>
              </a:lnSpc>
              <a:spcAft>
                <a:spcPct val="35000"/>
              </a:spcAft>
            </a:pPr>
            <a:endParaRPr lang="en-US" sz="1650"/>
          </a:p>
        </p:txBody>
      </p:sp>
      <p:sp>
        <p:nvSpPr>
          <p:cNvPr id="15" name="ïŝļíḓê"/>
          <p:cNvSpPr/>
          <p:nvPr/>
        </p:nvSpPr>
        <p:spPr bwMode="auto">
          <a:xfrm>
            <a:off x="4707269" y="3229359"/>
            <a:ext cx="417581" cy="415203"/>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68580" tIns="34290" rIns="68580" bIns="34290">
            <a:normAutofit/>
          </a:bodyPr>
          <a:lstStyle/>
          <a:p>
            <a:endParaRPr lang="zh-CN" altLang="en-US" sz="1800"/>
          </a:p>
        </p:txBody>
      </p:sp>
    </p:spTree>
    <p:extLst>
      <p:ext uri="{BB962C8B-B14F-4D97-AF65-F5344CB8AC3E}">
        <p14:creationId xmlns:p14="http://schemas.microsoft.com/office/powerpoint/2010/main" val="170312926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死锁和饥饿</a:t>
            </a:r>
          </a:p>
        </p:txBody>
      </p:sp>
      <p:sp>
        <p:nvSpPr>
          <p:cNvPr id="8" name="文本框 7"/>
          <p:cNvSpPr txBox="1"/>
          <p:nvPr/>
        </p:nvSpPr>
        <p:spPr>
          <a:xfrm>
            <a:off x="1076794" y="1713153"/>
            <a:ext cx="7770992" cy="720069"/>
          </a:xfrm>
          <a:prstGeom prst="rect">
            <a:avLst/>
          </a:prstGeom>
          <a:noFill/>
        </p:spPr>
        <p:txBody>
          <a:bodyPr wrap="square" rtlCol="0">
            <a:spAutoFit/>
          </a:bodyPr>
          <a:lstStyle/>
          <a:p>
            <a:pPr>
              <a:lnSpc>
                <a:spcPct val="120000"/>
              </a:lnSpc>
              <a:spcBef>
                <a:spcPts val="450"/>
              </a:spcBef>
              <a:spcAft>
                <a:spcPts val="450"/>
              </a:spcAft>
            </a:pPr>
            <a:r>
              <a:rPr lang="zh-CN" altLang="en-US" sz="1800" dirty="0">
                <a:solidFill>
                  <a:srgbClr val="FF0000"/>
                </a:solidFill>
              </a:rPr>
              <a:t>死锁 ：</a:t>
            </a:r>
            <a:r>
              <a:rPr lang="zh-CN" altLang="en-US" sz="1800" dirty="0"/>
              <a:t>两个或多个进程无限期地等待一个事件的发生，而该事件正是由其中的一个等待进程引起的。</a:t>
            </a: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70757" y="1800085"/>
            <a:ext cx="395288" cy="395288"/>
          </a:xfrm>
          <a:prstGeom prst="rect">
            <a:avLst/>
          </a:prstGeom>
          <a:ln>
            <a:noFill/>
          </a:ln>
          <a:effectLst>
            <a:softEdge rad="0"/>
          </a:effectLst>
        </p:spPr>
      </p:pic>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70757" y="5107277"/>
            <a:ext cx="395288" cy="395288"/>
          </a:xfrm>
          <a:prstGeom prst="rect">
            <a:avLst/>
          </a:prstGeom>
          <a:ln>
            <a:noFill/>
          </a:ln>
          <a:effectLst>
            <a:softEdge rad="0"/>
          </a:effectLst>
        </p:spPr>
      </p:pic>
      <p:sp>
        <p:nvSpPr>
          <p:cNvPr id="16" name="内容占位符 2"/>
          <p:cNvSpPr txBox="1"/>
          <p:nvPr/>
        </p:nvSpPr>
        <p:spPr>
          <a:xfrm>
            <a:off x="811536" y="2474351"/>
            <a:ext cx="7772400" cy="25556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9554" lvl="1" indent="0">
              <a:buNone/>
              <a:tabLst>
                <a:tab pos="1415415" algn="ctr"/>
                <a:tab pos="3429000" algn="ctr"/>
              </a:tabLst>
            </a:pPr>
            <a:r>
              <a:rPr lang="zh-CN" altLang="en-US" sz="1800" dirty="0"/>
              <a:t>例如：</a:t>
            </a:r>
            <a:r>
              <a:rPr lang="en-US" altLang="zh-CN" sz="1800" dirty="0"/>
              <a:t>S</a:t>
            </a:r>
            <a:r>
              <a:rPr lang="zh-CN" altLang="en-US" sz="1800" dirty="0"/>
              <a:t>和</a:t>
            </a:r>
            <a:r>
              <a:rPr lang="en-US" altLang="zh-CN" sz="1800" dirty="0"/>
              <a:t>Q</a:t>
            </a:r>
            <a:r>
              <a:rPr lang="zh-CN" altLang="en-US" sz="1800" dirty="0"/>
              <a:t>是两个初值为</a:t>
            </a:r>
            <a:r>
              <a:rPr lang="zh-CN" altLang="zh-CN" sz="1800" dirty="0"/>
              <a:t>1</a:t>
            </a:r>
            <a:r>
              <a:rPr lang="zh-CN" altLang="en-US" sz="1800" dirty="0"/>
              <a:t>的信号量</a:t>
            </a:r>
          </a:p>
          <a:p>
            <a:pPr>
              <a:buNone/>
              <a:tabLst>
                <a:tab pos="1415415" algn="ctr"/>
                <a:tab pos="3429000" algn="ctr"/>
              </a:tabLst>
            </a:pPr>
            <a:r>
              <a:rPr lang="zh-CN" altLang="zh-CN" dirty="0"/>
              <a:t>		</a:t>
            </a:r>
            <a:r>
              <a:rPr lang="en-US" altLang="zh-CN" dirty="0"/>
              <a:t>P</a:t>
            </a:r>
            <a:r>
              <a:rPr lang="en-US" altLang="zh-CN" baseline="-25000" dirty="0"/>
              <a:t>0</a:t>
            </a:r>
            <a:r>
              <a:rPr lang="en-US" altLang="zh-CN" dirty="0"/>
              <a:t>	P</a:t>
            </a:r>
            <a:r>
              <a:rPr lang="en-US" altLang="zh-CN" baseline="-25000" dirty="0"/>
              <a:t>1</a:t>
            </a:r>
            <a:endParaRPr lang="en-US" altLang="zh-CN" dirty="0"/>
          </a:p>
          <a:p>
            <a:pPr>
              <a:buNone/>
              <a:tabLst>
                <a:tab pos="1415415" algn="ctr"/>
                <a:tab pos="3429000" algn="ctr"/>
              </a:tabLst>
            </a:pPr>
            <a:r>
              <a:rPr lang="en-US" altLang="zh-CN" dirty="0"/>
              <a:t>		</a:t>
            </a:r>
            <a:r>
              <a:rPr lang="en-US" altLang="zh-CN" dirty="0">
                <a:solidFill>
                  <a:srgbClr val="FF0000"/>
                </a:solidFill>
              </a:rPr>
              <a:t>P(S);	P(Q);</a:t>
            </a:r>
          </a:p>
          <a:p>
            <a:pPr>
              <a:buNone/>
              <a:tabLst>
                <a:tab pos="1415415" algn="ctr"/>
                <a:tab pos="3429000" algn="ctr"/>
              </a:tabLst>
            </a:pPr>
            <a:r>
              <a:rPr lang="en-US" altLang="zh-CN" dirty="0">
                <a:solidFill>
                  <a:srgbClr val="FF0000"/>
                </a:solidFill>
              </a:rPr>
              <a:t>		P(Q)</a:t>
            </a:r>
            <a:r>
              <a:rPr lang="en-US" altLang="zh-CN" dirty="0"/>
              <a:t>;	</a:t>
            </a:r>
            <a:r>
              <a:rPr lang="en-US" altLang="zh-CN" dirty="0">
                <a:solidFill>
                  <a:srgbClr val="FF0000"/>
                </a:solidFill>
              </a:rPr>
              <a:t>P(S);</a:t>
            </a:r>
            <a:endParaRPr lang="en-US" altLang="zh-CN" dirty="0"/>
          </a:p>
          <a:p>
            <a:pPr>
              <a:buNone/>
              <a:tabLst>
                <a:tab pos="1415415" algn="ctr"/>
                <a:tab pos="3429000" algn="ctr"/>
              </a:tabLst>
            </a:pPr>
            <a:r>
              <a:rPr lang="en-US" altLang="zh-CN" dirty="0"/>
              <a:t>		 </a:t>
            </a:r>
            <a:r>
              <a:rPr lang="en-US" altLang="zh-CN" dirty="0">
                <a:sym typeface="MT Extra" panose="05050102010205020202" pitchFamily="18" charset="2"/>
              </a:rPr>
              <a:t>	 </a:t>
            </a:r>
          </a:p>
          <a:p>
            <a:pPr>
              <a:buNone/>
              <a:tabLst>
                <a:tab pos="1415415" algn="ctr"/>
                <a:tab pos="3429000" algn="ctr"/>
              </a:tabLst>
            </a:pPr>
            <a:r>
              <a:rPr lang="en-US" altLang="zh-CN" dirty="0">
                <a:sym typeface="MT Extra" panose="05050102010205020202" pitchFamily="18" charset="2"/>
              </a:rPr>
              <a:t>		V(S);	V(Q);</a:t>
            </a:r>
          </a:p>
          <a:p>
            <a:pPr>
              <a:buNone/>
              <a:tabLst>
                <a:tab pos="1415415" algn="ctr"/>
                <a:tab pos="3429000" algn="ctr"/>
              </a:tabLst>
            </a:pPr>
            <a:r>
              <a:rPr lang="en-US" altLang="zh-CN" dirty="0">
                <a:sym typeface="MT Extra" panose="05050102010205020202" pitchFamily="18" charset="2"/>
              </a:rPr>
              <a:t>		V(Q)	V(S);</a:t>
            </a:r>
          </a:p>
        </p:txBody>
      </p:sp>
      <p:sp>
        <p:nvSpPr>
          <p:cNvPr id="17" name="文本框 16"/>
          <p:cNvSpPr txBox="1"/>
          <p:nvPr/>
        </p:nvSpPr>
        <p:spPr>
          <a:xfrm>
            <a:off x="1076794" y="5016583"/>
            <a:ext cx="7770992" cy="720069"/>
          </a:xfrm>
          <a:prstGeom prst="rect">
            <a:avLst/>
          </a:prstGeom>
          <a:noFill/>
        </p:spPr>
        <p:txBody>
          <a:bodyPr wrap="square" rtlCol="0">
            <a:spAutoFit/>
          </a:bodyPr>
          <a:lstStyle/>
          <a:p>
            <a:pPr>
              <a:lnSpc>
                <a:spcPct val="120000"/>
              </a:lnSpc>
              <a:spcBef>
                <a:spcPts val="450"/>
              </a:spcBef>
              <a:spcAft>
                <a:spcPts val="450"/>
              </a:spcAft>
            </a:pPr>
            <a:r>
              <a:rPr lang="zh-CN" altLang="en-US" sz="1800" dirty="0">
                <a:solidFill>
                  <a:srgbClr val="FF0000"/>
                </a:solidFill>
              </a:rPr>
              <a:t>饥饿 ：</a:t>
            </a:r>
            <a:r>
              <a:rPr lang="zh-CN" altLang="en-US" sz="1800" dirty="0"/>
              <a:t>无限期地阻塞，进程可能永远无法从它等待的信号量队列中移去（只涉及一个进程）。</a:t>
            </a:r>
          </a:p>
        </p:txBody>
      </p:sp>
    </p:spTree>
    <p:extLst>
      <p:ext uri="{BB962C8B-B14F-4D97-AF65-F5344CB8AC3E}">
        <p14:creationId xmlns:p14="http://schemas.microsoft.com/office/powerpoint/2010/main" val="91776210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互斥分析基本方法</a:t>
            </a:r>
          </a:p>
        </p:txBody>
      </p:sp>
      <p:sp>
        <p:nvSpPr>
          <p:cNvPr id="24" name="圆角矩形 23"/>
          <p:cNvSpPr/>
          <p:nvPr/>
        </p:nvSpPr>
        <p:spPr>
          <a:xfrm>
            <a:off x="3301909" y="1980772"/>
            <a:ext cx="1789271" cy="490223"/>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sym typeface="+mn-ea"/>
              </a:rPr>
              <a:t>查找临界资源</a:t>
            </a:r>
          </a:p>
        </p:txBody>
      </p:sp>
      <p:sp>
        <p:nvSpPr>
          <p:cNvPr id="29" name="圆角矩形 28"/>
          <p:cNvSpPr/>
          <p:nvPr/>
        </p:nvSpPr>
        <p:spPr>
          <a:xfrm>
            <a:off x="3301909" y="2846634"/>
            <a:ext cx="1789271" cy="490223"/>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sym typeface="+mn-ea"/>
              </a:rPr>
              <a:t>划分临界区</a:t>
            </a:r>
          </a:p>
        </p:txBody>
      </p:sp>
      <p:sp>
        <p:nvSpPr>
          <p:cNvPr id="32" name="圆角矩形 31"/>
          <p:cNvSpPr/>
          <p:nvPr/>
        </p:nvSpPr>
        <p:spPr>
          <a:xfrm>
            <a:off x="2557972" y="3682664"/>
            <a:ext cx="3276668" cy="531173"/>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00000"/>
              </a:lnSpc>
              <a:spcBef>
                <a:spcPct val="0"/>
              </a:spcBef>
              <a:spcAft>
                <a:spcPct val="35000"/>
              </a:spcAft>
            </a:pPr>
            <a:r>
              <a:rPr lang="zh-CN" altLang="en-US" sz="1800" dirty="0">
                <a:solidFill>
                  <a:schemeClr val="tx1"/>
                </a:solidFill>
                <a:sym typeface="+mn-ea"/>
              </a:rPr>
              <a:t>定义互斥信号量并赋初值</a:t>
            </a:r>
          </a:p>
        </p:txBody>
      </p:sp>
      <p:sp>
        <p:nvSpPr>
          <p:cNvPr id="33" name="圆角矩形 32"/>
          <p:cNvSpPr/>
          <p:nvPr/>
        </p:nvSpPr>
        <p:spPr>
          <a:xfrm>
            <a:off x="2229051" y="4588622"/>
            <a:ext cx="3954304" cy="750424"/>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3000"/>
              </a:lnSpc>
            </a:pPr>
            <a:r>
              <a:rPr lang="zh-CN" altLang="en-US" sz="1800" dirty="0">
                <a:solidFill>
                  <a:schemeClr val="tx1"/>
                </a:solidFill>
                <a:sym typeface="+mn-ea"/>
              </a:rPr>
              <a:t>在临界区前的进入区加</a:t>
            </a:r>
            <a:r>
              <a:rPr lang="en-US" altLang="zh-CN" sz="1800" dirty="0">
                <a:solidFill>
                  <a:schemeClr val="tx1"/>
                </a:solidFill>
                <a:sym typeface="+mn-ea"/>
              </a:rPr>
              <a:t>wait</a:t>
            </a:r>
            <a:r>
              <a:rPr lang="zh-CN" altLang="en-US" sz="1800" dirty="0">
                <a:solidFill>
                  <a:schemeClr val="tx1"/>
                </a:solidFill>
                <a:sym typeface="+mn-ea"/>
              </a:rPr>
              <a:t>操作；</a:t>
            </a:r>
          </a:p>
          <a:p>
            <a:pPr algn="ctr">
              <a:lnSpc>
                <a:spcPct val="123000"/>
              </a:lnSpc>
            </a:pPr>
            <a:r>
              <a:rPr lang="zh-CN" altLang="en-US" sz="1800" dirty="0">
                <a:solidFill>
                  <a:schemeClr val="tx1"/>
                </a:solidFill>
                <a:sym typeface="+mn-ea"/>
              </a:rPr>
              <a:t>退出区加</a:t>
            </a:r>
            <a:r>
              <a:rPr lang="en-US" altLang="zh-CN" sz="1800" dirty="0">
                <a:solidFill>
                  <a:schemeClr val="tx1"/>
                </a:solidFill>
                <a:sym typeface="+mn-ea"/>
              </a:rPr>
              <a:t>signal</a:t>
            </a:r>
            <a:r>
              <a:rPr lang="zh-CN" altLang="en-US" sz="1800" dirty="0">
                <a:solidFill>
                  <a:schemeClr val="tx1"/>
                </a:solidFill>
                <a:sym typeface="+mn-ea"/>
              </a:rPr>
              <a:t>操作</a:t>
            </a:r>
          </a:p>
        </p:txBody>
      </p:sp>
      <p:sp>
        <p:nvSpPr>
          <p:cNvPr id="34" name="下箭头 33"/>
          <p:cNvSpPr/>
          <p:nvPr/>
        </p:nvSpPr>
        <p:spPr>
          <a:xfrm>
            <a:off x="4076291" y="2491318"/>
            <a:ext cx="240030" cy="312896"/>
          </a:xfrm>
          <a:prstGeom prst="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5" name="下箭头 34"/>
          <p:cNvSpPr/>
          <p:nvPr/>
        </p:nvSpPr>
        <p:spPr>
          <a:xfrm>
            <a:off x="4076291" y="3357181"/>
            <a:ext cx="240030" cy="312896"/>
          </a:xfrm>
          <a:prstGeom prst="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6" name="下箭头 35"/>
          <p:cNvSpPr/>
          <p:nvPr/>
        </p:nvSpPr>
        <p:spPr>
          <a:xfrm>
            <a:off x="4076291" y="4261146"/>
            <a:ext cx="240030" cy="312896"/>
          </a:xfrm>
          <a:prstGeom prst="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269370092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同步分析</a:t>
            </a:r>
          </a:p>
        </p:txBody>
      </p:sp>
      <p:sp>
        <p:nvSpPr>
          <p:cNvPr id="10" name="内容占位符 3"/>
          <p:cNvSpPr txBox="1"/>
          <p:nvPr/>
        </p:nvSpPr>
        <p:spPr>
          <a:xfrm>
            <a:off x="3702694" y="5105131"/>
            <a:ext cx="2646759" cy="3669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solidFill>
                  <a:srgbClr val="FF0000"/>
                </a:solidFill>
              </a:rPr>
              <a:t>同步分析较为困难！</a:t>
            </a:r>
          </a:p>
        </p:txBody>
      </p:sp>
      <p:graphicFrame>
        <p:nvGraphicFramePr>
          <p:cNvPr id="11" name="图示 10"/>
          <p:cNvGraphicFramePr/>
          <p:nvPr/>
        </p:nvGraphicFramePr>
        <p:xfrm>
          <a:off x="1880315" y="1827727"/>
          <a:ext cx="5450983" cy="304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02054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p:cNvSpPr>
          <p:nvPr>
            <p:ph type="title"/>
          </p:nvPr>
        </p:nvSpPr>
        <p:spPr>
          <a:xfrm>
            <a:off x="1631157" y="977741"/>
            <a:ext cx="5569744" cy="487680"/>
          </a:xfrm>
        </p:spPr>
        <p:txBody>
          <a:bodyPr vert="horz" wrap="square" lIns="68580" tIns="34290" rIns="68580" bIns="34290" anchor="b" anchorCtr="0">
            <a:normAutofit fontScale="90000"/>
          </a:bodyPr>
          <a:lstStyle/>
          <a:p>
            <a:pPr eaLnBrk="1" hangingPunct="1"/>
            <a:r>
              <a:rPr lang="zh-CN" altLang="en-US" sz="2700" b="1" dirty="0"/>
              <a:t>练习</a:t>
            </a:r>
          </a:p>
        </p:txBody>
      </p:sp>
      <p:pic>
        <p:nvPicPr>
          <p:cNvPr id="76803" name="图片 4" descr="E:\wjx\1. 教学\2.OS\5.OS习题\3. 考研真题-研究生整理\2022年46题.PNG"/>
          <p:cNvPicPr>
            <a:picLocks noChangeAspect="1"/>
          </p:cNvPicPr>
          <p:nvPr/>
        </p:nvPicPr>
        <p:blipFill>
          <a:blip r:embed="rId3"/>
          <a:stretch>
            <a:fillRect/>
          </a:stretch>
        </p:blipFill>
        <p:spPr>
          <a:xfrm>
            <a:off x="1250156" y="1529239"/>
            <a:ext cx="6616304" cy="2224088"/>
          </a:xfrm>
          <a:prstGeom prst="rect">
            <a:avLst/>
          </a:prstGeom>
          <a:noFill/>
          <a:ln w="9525">
            <a:noFill/>
          </a:ln>
        </p:spPr>
      </p:pic>
      <p:pic>
        <p:nvPicPr>
          <p:cNvPr id="6" name="图片 5" descr="E:\wjx\1. 教学\2.OS\5.OS习题\3. 考研真题-研究生整理\2022年46题答案.PNG"/>
          <p:cNvPicPr>
            <a:picLocks noChangeAspect="1"/>
          </p:cNvPicPr>
          <p:nvPr/>
        </p:nvPicPr>
        <p:blipFill>
          <a:blip r:embed="rId4"/>
          <a:stretch>
            <a:fillRect/>
          </a:stretch>
        </p:blipFill>
        <p:spPr>
          <a:xfrm>
            <a:off x="1358742" y="3429476"/>
            <a:ext cx="6346031" cy="2334578"/>
          </a:xfrm>
          <a:prstGeom prst="rect">
            <a:avLst/>
          </a:prstGeom>
          <a:noFill/>
          <a:ln w="9525">
            <a:noFill/>
          </a:ln>
        </p:spPr>
      </p:pic>
      <p:sp>
        <p:nvSpPr>
          <p:cNvPr id="3" name="椭圆 2"/>
          <p:cNvSpPr/>
          <p:nvPr/>
        </p:nvSpPr>
        <p:spPr>
          <a:xfrm>
            <a:off x="3654028" y="2491264"/>
            <a:ext cx="377429" cy="344091"/>
          </a:xfrm>
          <a:prstGeom prst="ellipse">
            <a:avLst/>
          </a:prstGeom>
          <a:noFill/>
          <a:ln w="28575">
            <a:solidFill>
              <a:srgbClr val="3333CC"/>
            </a:solidFill>
          </a:ln>
        </p:spPr>
        <p:txBody>
          <a:bodyPr>
            <a:scene3d>
              <a:camera prst="orthographicFront"/>
              <a:lightRig rig="threePt" dir="t"/>
            </a:scene3d>
            <a:sp3d extrusionH="57150">
              <a:bevelT w="38100" h="38100"/>
            </a:sp3d>
          </a:bodyPr>
          <a:lstStyle/>
          <a:p>
            <a:pPr defTabSz="685800">
              <a:defRPr/>
            </a:pPr>
            <a:endParaRPr lang="zh-CN" altLang="en-US" sz="1800">
              <a:ln>
                <a:solidFill>
                  <a:srgbClr val="009900"/>
                </a:solidFill>
              </a:ln>
              <a:effectLst>
                <a:glow rad="228600">
                  <a:schemeClr val="accent4">
                    <a:satMod val="175000"/>
                    <a:alpha val="40000"/>
                  </a:schemeClr>
                </a:glow>
                <a:outerShdw blurRad="50800" dist="38100" dir="2700000" algn="tl" rotWithShape="0">
                  <a:prstClr val="black">
                    <a:alpha val="40000"/>
                  </a:prstClr>
                </a:outerShdw>
              </a:effectLst>
            </a:endParaRPr>
          </a:p>
        </p:txBody>
      </p:sp>
      <p:sp>
        <p:nvSpPr>
          <p:cNvPr id="8" name="椭圆 7"/>
          <p:cNvSpPr/>
          <p:nvPr/>
        </p:nvSpPr>
        <p:spPr>
          <a:xfrm>
            <a:off x="5112544" y="2835355"/>
            <a:ext cx="377429" cy="323850"/>
          </a:xfrm>
          <a:prstGeom prst="ellipse">
            <a:avLst/>
          </a:prstGeom>
          <a:noFill/>
          <a:ln w="28575">
            <a:solidFill>
              <a:srgbClr val="3333CC"/>
            </a:solidFill>
          </a:ln>
        </p:spPr>
        <p:txBody>
          <a:bodyPr>
            <a:scene3d>
              <a:camera prst="orthographicFront"/>
              <a:lightRig rig="threePt" dir="t"/>
            </a:scene3d>
            <a:sp3d extrusionH="57150">
              <a:bevelT w="38100" h="38100"/>
            </a:sp3d>
          </a:bodyPr>
          <a:lstStyle/>
          <a:p>
            <a:pPr defTabSz="685800">
              <a:defRPr/>
            </a:pPr>
            <a:endParaRPr lang="zh-CN" altLang="en-US" sz="1800">
              <a:ln>
                <a:solidFill>
                  <a:srgbClr val="009900"/>
                </a:solidFill>
              </a:ln>
              <a:effectLst>
                <a:glow rad="228600">
                  <a:schemeClr val="accent4">
                    <a:satMod val="175000"/>
                    <a:alpha val="40000"/>
                  </a:schemeClr>
                </a:glow>
                <a:outerShdw blurRad="50800" dist="38100" dir="2700000" algn="tl" rotWithShape="0">
                  <a:prstClr val="black">
                    <a:alpha val="40000"/>
                  </a:prstClr>
                </a:outerShdw>
              </a:effectLst>
            </a:endParaRPr>
          </a:p>
        </p:txBody>
      </p:sp>
      <p:sp>
        <p:nvSpPr>
          <p:cNvPr id="9" name="椭圆 8"/>
          <p:cNvSpPr/>
          <p:nvPr/>
        </p:nvSpPr>
        <p:spPr>
          <a:xfrm>
            <a:off x="4625579" y="3100864"/>
            <a:ext cx="378619" cy="323850"/>
          </a:xfrm>
          <a:prstGeom prst="ellipse">
            <a:avLst/>
          </a:prstGeom>
          <a:noFill/>
          <a:ln w="28575">
            <a:solidFill>
              <a:srgbClr val="3333CC"/>
            </a:solidFill>
          </a:ln>
        </p:spPr>
        <p:txBody>
          <a:bodyPr>
            <a:scene3d>
              <a:camera prst="orthographicFront"/>
              <a:lightRig rig="threePt" dir="t"/>
            </a:scene3d>
            <a:sp3d extrusionH="57150">
              <a:bevelT w="38100" h="38100"/>
            </a:sp3d>
          </a:bodyPr>
          <a:lstStyle/>
          <a:p>
            <a:pPr defTabSz="685800">
              <a:defRPr/>
            </a:pPr>
            <a:endParaRPr lang="zh-CN" altLang="en-US" sz="1800">
              <a:ln>
                <a:solidFill>
                  <a:srgbClr val="009900"/>
                </a:solidFill>
              </a:ln>
              <a:effectLst>
                <a:glow rad="228600">
                  <a:schemeClr val="accent4">
                    <a:satMod val="175000"/>
                    <a:alpha val="40000"/>
                  </a:schemeClr>
                </a:glow>
                <a:outerShdw blurRad="50800" dist="38100" dir="2700000" algn="tl" rotWithShape="0">
                  <a:prstClr val="black">
                    <a:alpha val="40000"/>
                  </a:prstClr>
                </a:outerShdw>
              </a:effectLst>
            </a:endParaRPr>
          </a:p>
        </p:txBody>
      </p:sp>
      <p:sp>
        <p:nvSpPr>
          <p:cNvPr id="13" name="右箭头 12"/>
          <p:cNvSpPr/>
          <p:nvPr/>
        </p:nvSpPr>
        <p:spPr>
          <a:xfrm rot="1976041">
            <a:off x="3993357" y="2753202"/>
            <a:ext cx="294085" cy="178594"/>
          </a:xfrm>
          <a:prstGeom prst="rightArrow">
            <a:avLst>
              <a:gd name="adj1" fmla="val 50000"/>
              <a:gd name="adj2" fmla="val 50109"/>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i="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indent="0" eaLnBrk="1" hangingPunct="1">
              <a:spcBef>
                <a:spcPct val="0"/>
              </a:spcBef>
              <a:buClrTx/>
              <a:buSzTx/>
              <a:buNone/>
            </a:pPr>
            <a:endParaRPr lang="zh-CN" altLang="en-US" sz="1800" i="1" dirty="0">
              <a:latin typeface="Times New Roman" panose="02020603050405020304" pitchFamily="18" charset="0"/>
            </a:endParaRPr>
          </a:p>
        </p:txBody>
      </p:sp>
      <p:sp>
        <p:nvSpPr>
          <p:cNvPr id="14" name="右箭头 13"/>
          <p:cNvSpPr/>
          <p:nvPr/>
        </p:nvSpPr>
        <p:spPr>
          <a:xfrm rot="2014904">
            <a:off x="4361260" y="3023474"/>
            <a:ext cx="294084" cy="178594"/>
          </a:xfrm>
          <a:prstGeom prst="rightArrow">
            <a:avLst>
              <a:gd name="adj1" fmla="val 50000"/>
              <a:gd name="adj2" fmla="val 50108"/>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i="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indent="0" eaLnBrk="1" hangingPunct="1">
              <a:spcBef>
                <a:spcPct val="0"/>
              </a:spcBef>
              <a:buClrTx/>
              <a:buSzTx/>
              <a:buNone/>
            </a:pPr>
            <a:endParaRPr lang="zh-CN" altLang="en-US" sz="1800" i="1" dirty="0">
              <a:latin typeface="Times New Roman" panose="02020603050405020304" pitchFamily="18" charset="0"/>
            </a:endParaRPr>
          </a:p>
        </p:txBody>
      </p:sp>
    </p:spTree>
    <p:extLst>
      <p:ext uri="{BB962C8B-B14F-4D97-AF65-F5344CB8AC3E}">
        <p14:creationId xmlns:p14="http://schemas.microsoft.com/office/powerpoint/2010/main" val="365615429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8" grpId="0" bldLvl="0" animBg="1"/>
      <p:bldP spid="9" grpId="0" bldLvl="0" animBg="1"/>
      <p:bldP spid="13" grpId="0" bldLvl="0" animBg="1"/>
      <p:bldP spid="14" grpId="0" bldLvl="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1" name="图片 1"/>
          <p:cNvPicPr>
            <a:picLocks noChangeAspect="1"/>
          </p:cNvPicPr>
          <p:nvPr/>
        </p:nvPicPr>
        <p:blipFill>
          <a:blip r:embed="rId3"/>
          <a:stretch>
            <a:fillRect/>
          </a:stretch>
        </p:blipFill>
        <p:spPr>
          <a:xfrm>
            <a:off x="854392" y="1485424"/>
            <a:ext cx="7721918" cy="809625"/>
          </a:xfrm>
          <a:prstGeom prst="rect">
            <a:avLst/>
          </a:prstGeom>
          <a:noFill/>
          <a:ln w="9525">
            <a:noFill/>
          </a:ln>
        </p:spPr>
      </p:pic>
      <p:pic>
        <p:nvPicPr>
          <p:cNvPr id="2" name="图片 1"/>
          <p:cNvPicPr>
            <a:picLocks noChangeAspect="1"/>
          </p:cNvPicPr>
          <p:nvPr/>
        </p:nvPicPr>
        <p:blipFill>
          <a:blip r:embed="rId4"/>
          <a:stretch>
            <a:fillRect/>
          </a:stretch>
        </p:blipFill>
        <p:spPr>
          <a:xfrm>
            <a:off x="1452563" y="2403396"/>
            <a:ext cx="6211491" cy="3406378"/>
          </a:xfrm>
          <a:prstGeom prst="rect">
            <a:avLst/>
          </a:prstGeom>
          <a:noFill/>
          <a:ln w="9525">
            <a:noFill/>
          </a:ln>
        </p:spPr>
      </p:pic>
      <p:sp>
        <p:nvSpPr>
          <p:cNvPr id="76802" name="Rectangle 3"/>
          <p:cNvSpPr>
            <a:spLocks noGrp="1"/>
          </p:cNvSpPr>
          <p:nvPr>
            <p:ph type="title"/>
          </p:nvPr>
        </p:nvSpPr>
        <p:spPr>
          <a:xfrm>
            <a:off x="1631157" y="977741"/>
            <a:ext cx="5569744" cy="487680"/>
          </a:xfrm>
        </p:spPr>
        <p:txBody>
          <a:bodyPr vert="horz" wrap="square" lIns="68580" tIns="34290" rIns="68580" bIns="34290" anchor="b" anchorCtr="0">
            <a:normAutofit fontScale="90000"/>
          </a:bodyPr>
          <a:lstStyle/>
          <a:p>
            <a:pPr eaLnBrk="1" hangingPunct="1"/>
            <a:r>
              <a:rPr lang="zh-CN" altLang="en-US" sz="2700" b="1" dirty="0"/>
              <a:t>练习</a:t>
            </a:r>
          </a:p>
        </p:txBody>
      </p:sp>
    </p:spTree>
    <p:extLst>
      <p:ext uri="{BB962C8B-B14F-4D97-AF65-F5344CB8AC3E}">
        <p14:creationId xmlns:p14="http://schemas.microsoft.com/office/powerpoint/2010/main" val="12251136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图片 51" descr="C:\Users\WJX\Desktop\2021年45题-同步-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11994" y="1471613"/>
            <a:ext cx="6453188" cy="3501390"/>
          </a:xfrm>
          <a:prstGeom prst="rect">
            <a:avLst/>
          </a:prstGeom>
          <a:noFill/>
          <a:ln>
            <a:noFill/>
          </a:ln>
        </p:spPr>
      </p:pic>
      <p:sp>
        <p:nvSpPr>
          <p:cNvPr id="2" name="文本框 1"/>
          <p:cNvSpPr txBox="1"/>
          <p:nvPr/>
        </p:nvSpPr>
        <p:spPr>
          <a:xfrm>
            <a:off x="6471286" y="1794034"/>
            <a:ext cx="2553176" cy="2184083"/>
          </a:xfrm>
          <a:prstGeom prst="rect">
            <a:avLst/>
          </a:prstGeom>
          <a:noFill/>
        </p:spPr>
        <p:txBody>
          <a:bodyPr wrap="square" rtlCol="0">
            <a:noAutofit/>
          </a:bodyPr>
          <a:lstStyle/>
          <a:p>
            <a:endParaRPr lang="zh-CN" altLang="en-US" sz="1800"/>
          </a:p>
        </p:txBody>
      </p:sp>
      <p:pic>
        <p:nvPicPr>
          <p:cNvPr id="52" name="图片 52" descr="C:\Users\WJX\Desktop\2021年45题-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245870" y="4973003"/>
            <a:ext cx="5501164" cy="748665"/>
          </a:xfrm>
          <a:prstGeom prst="rect">
            <a:avLst/>
          </a:prstGeom>
          <a:noFill/>
          <a:ln>
            <a:noFill/>
          </a:ln>
        </p:spPr>
      </p:pic>
    </p:spTree>
    <p:extLst>
      <p:ext uri="{BB962C8B-B14F-4D97-AF65-F5344CB8AC3E}">
        <p14:creationId xmlns:p14="http://schemas.microsoft.com/office/powerpoint/2010/main" val="75074141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8" descr="文档扫描_20241027210607235"/>
          <p:cNvPicPr>
            <a:picLocks noChangeAspect="1"/>
          </p:cNvPicPr>
          <p:nvPr/>
        </p:nvPicPr>
        <p:blipFill>
          <a:blip r:embed="rId2"/>
          <a:stretch>
            <a:fillRect/>
          </a:stretch>
        </p:blipFill>
        <p:spPr>
          <a:xfrm>
            <a:off x="1114901" y="1782128"/>
            <a:ext cx="7176135" cy="2262664"/>
          </a:xfrm>
          <a:prstGeom prst="rect">
            <a:avLst/>
          </a:prstGeom>
        </p:spPr>
      </p:pic>
    </p:spTree>
    <p:extLst>
      <p:ext uri="{BB962C8B-B14F-4D97-AF65-F5344CB8AC3E}">
        <p14:creationId xmlns:p14="http://schemas.microsoft.com/office/powerpoint/2010/main" val="111029723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8221" y="1756887"/>
            <a:ext cx="7196138" cy="2814161"/>
          </a:xfrm>
          <a:prstGeom prst="rect">
            <a:avLst/>
          </a:prstGeom>
        </p:spPr>
        <p:txBody>
          <a:bodyPr>
            <a:noAutofit/>
          </a:bodyPr>
          <a:lstStyle/>
          <a:p>
            <a:pPr indent="200025" algn="just" defTabSz="200025">
              <a:lnSpc>
                <a:spcPct val="150000"/>
              </a:lnSpc>
            </a:pPr>
            <a:r>
              <a:rPr lang="en-US" altLang="zh-CN" sz="1200">
                <a:latin typeface="Times New Roman" panose="02020603050405020304"/>
              </a:rPr>
              <a:t>11.</a:t>
            </a:r>
            <a:r>
              <a:rPr lang="zh-CN" altLang="en-US" sz="1200">
                <a:latin typeface="Times New Roman" panose="02020603050405020304"/>
              </a:rPr>
              <a:t>（</a:t>
            </a:r>
            <a:r>
              <a:rPr lang="en-US" altLang="zh-CN" sz="1200">
                <a:latin typeface="Times New Roman" panose="02020603050405020304"/>
              </a:rPr>
              <a:t>8</a:t>
            </a:r>
            <a:r>
              <a:rPr lang="zh-CN" altLang="en-US" sz="1200">
                <a:latin typeface="宋体" panose="02010600030101010101" pitchFamily="2" charset="-122"/>
              </a:rPr>
              <a:t>分</a:t>
            </a:r>
            <a:r>
              <a:rPr lang="zh-CN" altLang="en-US" sz="1200">
                <a:latin typeface="Times New Roman" panose="02020603050405020304"/>
              </a:rPr>
              <a:t>）</a:t>
            </a:r>
            <a:r>
              <a:rPr lang="zh-CN" altLang="en-US" sz="1200">
                <a:latin typeface="宋体" panose="02010600030101010101" pitchFamily="2" charset="-122"/>
              </a:rPr>
              <a:t>有</a:t>
            </a:r>
            <a:r>
              <a:rPr lang="en-US" altLang="zh-CN" sz="1200">
                <a:latin typeface="Times New Roman" panose="02020603050405020304"/>
              </a:rPr>
              <a:t>n</a:t>
            </a:r>
            <a:r>
              <a:rPr lang="zh-CN" altLang="en-US" sz="1200">
                <a:latin typeface="Times New Roman" panose="02020603050405020304"/>
              </a:rPr>
              <a:t>（</a:t>
            </a:r>
            <a:r>
              <a:rPr lang="en-US" altLang="zh-CN" sz="1200">
                <a:latin typeface="Times New Roman" panose="02020603050405020304"/>
              </a:rPr>
              <a:t>n</a:t>
            </a:r>
            <a:r>
              <a:rPr lang="en-US" altLang="zh-CN" sz="1200">
                <a:latin typeface="宋体" panose="02010600030101010101" pitchFamily="2" charset="-122"/>
              </a:rPr>
              <a:t>≥</a:t>
            </a:r>
            <a:r>
              <a:rPr lang="en-US" altLang="zh-CN" sz="1200">
                <a:latin typeface="Times New Roman" panose="02020603050405020304"/>
              </a:rPr>
              <a:t>3</a:t>
            </a:r>
            <a:r>
              <a:rPr lang="zh-CN" altLang="en-US" sz="1200">
                <a:latin typeface="Times New Roman" panose="02020603050405020304"/>
              </a:rPr>
              <a:t>）</a:t>
            </a:r>
            <a:r>
              <a:rPr lang="zh-CN" altLang="en-US" sz="1200">
                <a:latin typeface="宋体" panose="02010600030101010101" pitchFamily="2" charset="-122"/>
              </a:rPr>
              <a:t>位哲学家围坐在一张圆桌边，每位哲学家交替地就餐和思考。在圆桌中心有</a:t>
            </a:r>
            <a:r>
              <a:rPr lang="en-US" altLang="zh-CN" sz="1200">
                <a:latin typeface="Times New Roman" panose="02020603050405020304"/>
              </a:rPr>
              <a:t>m</a:t>
            </a:r>
            <a:r>
              <a:rPr lang="zh-CN" altLang="en-US" sz="1200">
                <a:latin typeface="Times New Roman" panose="02020603050405020304"/>
              </a:rPr>
              <a:t>（</a:t>
            </a:r>
            <a:r>
              <a:rPr lang="en-US" altLang="zh-CN" sz="1200">
                <a:latin typeface="Times New Roman" panose="02020603050405020304"/>
              </a:rPr>
              <a:t>m</a:t>
            </a:r>
            <a:r>
              <a:rPr lang="en-US" altLang="zh-CN" sz="1200">
                <a:latin typeface="宋体" panose="02010600030101010101" pitchFamily="2" charset="-122"/>
              </a:rPr>
              <a:t>≥</a:t>
            </a:r>
            <a:r>
              <a:rPr lang="en-US" altLang="zh-CN" sz="1200">
                <a:latin typeface="Times New Roman" panose="02020603050405020304"/>
              </a:rPr>
              <a:t>1</a:t>
            </a:r>
            <a:r>
              <a:rPr lang="zh-CN" altLang="en-US" sz="1200">
                <a:latin typeface="Times New Roman" panose="02020603050405020304"/>
              </a:rPr>
              <a:t>）</a:t>
            </a:r>
            <a:r>
              <a:rPr lang="zh-CN" altLang="en-US" sz="1200">
                <a:latin typeface="宋体" panose="02010600030101010101" pitchFamily="2" charset="-122"/>
              </a:rPr>
              <a:t>个碗，每两位哲学家之间有</a:t>
            </a:r>
            <a:r>
              <a:rPr lang="en-US" altLang="zh-CN" sz="1200">
                <a:latin typeface="Times New Roman" panose="02020603050405020304"/>
              </a:rPr>
              <a:t>1</a:t>
            </a:r>
            <a:r>
              <a:rPr lang="zh-CN" altLang="en-US" sz="1200">
                <a:latin typeface="宋体" panose="02010600030101010101" pitchFamily="2" charset="-122"/>
              </a:rPr>
              <a:t>根筷子。每位哲学家必须取到一个碗和两侧的筷子之后，才能就餐，进餐完毕，将碗和筷子放回原位，并继续思考。为使尽可能多的哲学家同时就餐，且防止出现死锁现象，请使用信号量的</a:t>
            </a:r>
            <a:r>
              <a:rPr lang="en-US" altLang="zh-CN" sz="1200">
                <a:latin typeface="Times New Roman" panose="02020603050405020304"/>
              </a:rPr>
              <a:t>P</a:t>
            </a:r>
            <a:r>
              <a:rPr lang="zh-CN" altLang="en-US" sz="1200">
                <a:latin typeface="宋体" panose="02010600030101010101" pitchFamily="2" charset="-122"/>
              </a:rPr>
              <a:t>、</a:t>
            </a:r>
            <a:r>
              <a:rPr lang="en-US" altLang="zh-CN" sz="1200">
                <a:latin typeface="Times New Roman" panose="02020603050405020304"/>
              </a:rPr>
              <a:t>V</a:t>
            </a:r>
            <a:r>
              <a:rPr lang="zh-CN" altLang="en-US" sz="1200">
                <a:latin typeface="宋体" panose="02010600030101010101" pitchFamily="2" charset="-122"/>
              </a:rPr>
              <a:t>操作</a:t>
            </a:r>
            <a:r>
              <a:rPr lang="zh-CN" altLang="en-US" sz="1200">
                <a:latin typeface="Times New Roman" panose="02020603050405020304"/>
              </a:rPr>
              <a:t>（</a:t>
            </a:r>
            <a:r>
              <a:rPr lang="en-US" altLang="zh-CN" sz="1200">
                <a:latin typeface="Times New Roman" panose="02020603050405020304"/>
              </a:rPr>
              <a:t>wait</a:t>
            </a:r>
            <a:r>
              <a:rPr lang="en-US" altLang="zh-CN" sz="1200">
                <a:latin typeface="Times New Roman" panose="02020603050405020304"/>
                <a:ea typeface="Times New Roman" panose="02020603050405020304"/>
              </a:rPr>
              <a:t>()</a:t>
            </a:r>
            <a:r>
              <a:rPr lang="zh-CN" altLang="en-US" sz="1200">
                <a:latin typeface="宋体" panose="02010600030101010101" pitchFamily="2" charset="-122"/>
              </a:rPr>
              <a:t>、</a:t>
            </a:r>
            <a:r>
              <a:rPr lang="en-US" altLang="zh-CN" sz="1200">
                <a:latin typeface="Times New Roman" panose="02020603050405020304"/>
              </a:rPr>
              <a:t>signal</a:t>
            </a:r>
            <a:r>
              <a:rPr lang="en-US" altLang="zh-CN" sz="1200">
                <a:latin typeface="Times New Roman" panose="02020603050405020304"/>
                <a:ea typeface="Times New Roman" panose="02020603050405020304"/>
              </a:rPr>
              <a:t>()</a:t>
            </a:r>
            <a:r>
              <a:rPr lang="zh-CN" altLang="en-US" sz="1200">
                <a:latin typeface="宋体" panose="02010600030101010101" pitchFamily="2" charset="-122"/>
              </a:rPr>
              <a:t>操作</a:t>
            </a:r>
            <a:r>
              <a:rPr lang="zh-CN" altLang="en-US" sz="1200">
                <a:latin typeface="Times New Roman" panose="02020603050405020304"/>
              </a:rPr>
              <a:t>）</a:t>
            </a:r>
            <a:r>
              <a:rPr lang="zh-CN" altLang="en-US" sz="1200">
                <a:latin typeface="宋体" panose="02010600030101010101" pitchFamily="2" charset="-122"/>
              </a:rPr>
              <a:t>描述上述过程中的互斥与同步，并说明所用信号量及初值的含义。</a:t>
            </a:r>
          </a:p>
          <a:p>
            <a:pPr indent="200025" algn="just" defTabSz="200025">
              <a:lnSpc>
                <a:spcPct val="150000"/>
              </a:lnSpc>
            </a:pPr>
            <a:r>
              <a:rPr lang="zh-CN" altLang="en-US" sz="1200">
                <a:latin typeface="宋体" panose="02010600030101010101" pitchFamily="2" charset="-122"/>
              </a:rPr>
              <a:t>解题思路：原题基础上增加一个信号量</a:t>
            </a:r>
          </a:p>
          <a:p>
            <a:pPr indent="200025" algn="just" defTabSz="200025">
              <a:lnSpc>
                <a:spcPct val="150000"/>
              </a:lnSpc>
            </a:pPr>
            <a:endParaRPr lang="zh-CN" altLang="en-US" sz="1200">
              <a:latin typeface="宋体" panose="02010600030101010101" pitchFamily="2" charset="-122"/>
            </a:endParaRPr>
          </a:p>
          <a:p>
            <a:pPr indent="200025" algn="just" defTabSz="200025">
              <a:lnSpc>
                <a:spcPct val="150000"/>
              </a:lnSpc>
            </a:pPr>
            <a:r>
              <a:rPr lang="en-US" altLang="zh-CN" sz="1200">
                <a:latin typeface="宋体" panose="02010600030101010101" pitchFamily="2" charset="-122"/>
              </a:rPr>
              <a:t>semaphore bowl</a:t>
            </a:r>
            <a:r>
              <a:rPr lang="zh-CN" altLang="en-US" sz="1200">
                <a:latin typeface="宋体" panose="02010600030101010101" pitchFamily="2" charset="-122"/>
              </a:rPr>
              <a:t>；</a:t>
            </a:r>
            <a:r>
              <a:rPr lang="en-US" altLang="zh-CN" sz="1200">
                <a:latin typeface="宋体" panose="02010600030101010101" pitchFamily="2" charset="-122"/>
              </a:rPr>
              <a:t>//</a:t>
            </a:r>
            <a:r>
              <a:rPr lang="zh-CN" altLang="en-US" sz="1200">
                <a:latin typeface="宋体" panose="02010600030101010101" pitchFamily="2" charset="-122"/>
              </a:rPr>
              <a:t>用于协调哲学家对碗的使用</a:t>
            </a:r>
          </a:p>
          <a:p>
            <a:pPr indent="200025" algn="just" defTabSz="200025">
              <a:lnSpc>
                <a:spcPct val="150000"/>
              </a:lnSpc>
            </a:pPr>
            <a:r>
              <a:rPr lang="en-US" altLang="zh-CN" sz="1200">
                <a:latin typeface="宋体" panose="02010600030101010101" pitchFamily="2" charset="-122"/>
              </a:rPr>
              <a:t>bowl.value=m</a:t>
            </a:r>
            <a:r>
              <a:rPr lang="zh-CN" altLang="en-US" sz="1200">
                <a:latin typeface="宋体" panose="02010600030101010101" pitchFamily="2" charset="-122"/>
              </a:rPr>
              <a:t>；</a:t>
            </a:r>
            <a:r>
              <a:rPr lang="en-US" altLang="zh-CN" sz="1200">
                <a:latin typeface="宋体" panose="02010600030101010101" pitchFamily="2" charset="-122"/>
              </a:rPr>
              <a:t>//</a:t>
            </a:r>
            <a:r>
              <a:rPr lang="zh-CN" altLang="en-US" sz="1200">
                <a:latin typeface="宋体" panose="02010600030101010101" pitchFamily="2" charset="-122"/>
              </a:rPr>
              <a:t>碗的数量，初始值为</a:t>
            </a:r>
            <a:r>
              <a:rPr lang="en-US" altLang="zh-CN" sz="1200">
                <a:latin typeface="宋体" panose="02010600030101010101" pitchFamily="2" charset="-122"/>
              </a:rPr>
              <a:t>m</a:t>
            </a:r>
          </a:p>
        </p:txBody>
      </p:sp>
    </p:spTree>
    <p:extLst>
      <p:ext uri="{BB962C8B-B14F-4D97-AF65-F5344CB8AC3E}">
        <p14:creationId xmlns:p14="http://schemas.microsoft.com/office/powerpoint/2010/main" val="196667120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关于</a:t>
            </a:r>
            <a:r>
              <a:rPr lang="en-US" altLang="zh-CN" sz="2100" b="1" dirty="0">
                <a:solidFill>
                  <a:schemeClr val="bg1"/>
                </a:solidFill>
              </a:rPr>
              <a:t>PV</a:t>
            </a:r>
            <a:r>
              <a:rPr lang="zh-CN" altLang="en-US" sz="2100" b="1" dirty="0">
                <a:solidFill>
                  <a:schemeClr val="bg1"/>
                </a:solidFill>
              </a:rPr>
              <a:t>的操作讨论</a:t>
            </a:r>
          </a:p>
        </p:txBody>
      </p:sp>
      <p:grpSp>
        <p:nvGrpSpPr>
          <p:cNvPr id="6" name="iṡļiḓe"/>
          <p:cNvGrpSpPr/>
          <p:nvPr/>
        </p:nvGrpSpPr>
        <p:grpSpPr>
          <a:xfrm>
            <a:off x="502444" y="1917499"/>
            <a:ext cx="4219575" cy="3138832"/>
            <a:chOff x="660400" y="1774273"/>
            <a:chExt cx="5626100" cy="4185109"/>
          </a:xfrm>
        </p:grpSpPr>
        <p:grpSp>
          <p:nvGrpSpPr>
            <p:cNvPr id="7" name="iSḻíḓè"/>
            <p:cNvGrpSpPr/>
            <p:nvPr/>
          </p:nvGrpSpPr>
          <p:grpSpPr>
            <a:xfrm>
              <a:off x="660400" y="1835355"/>
              <a:ext cx="5626100" cy="4124027"/>
              <a:chOff x="494201" y="1835355"/>
              <a:chExt cx="7095921" cy="4124027"/>
            </a:xfrm>
          </p:grpSpPr>
          <p:sp>
            <p:nvSpPr>
              <p:cNvPr id="13" name="îṧľîḋé"/>
              <p:cNvSpPr txBox="1"/>
              <p:nvPr/>
            </p:nvSpPr>
            <p:spPr>
              <a:xfrm>
                <a:off x="1296567" y="1835355"/>
                <a:ext cx="6293555" cy="389423"/>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100" dirty="0">
                    <a:solidFill>
                      <a:srgbClr val="FF0000"/>
                    </a:solidFill>
                  </a:rPr>
                  <a:t>信号量的物理含义</a:t>
                </a:r>
              </a:p>
            </p:txBody>
          </p:sp>
          <p:sp>
            <p:nvSpPr>
              <p:cNvPr id="14" name="íşļîḓé"/>
              <p:cNvSpPr/>
              <p:nvPr/>
            </p:nvSpPr>
            <p:spPr bwMode="auto">
              <a:xfrm>
                <a:off x="494201" y="2430088"/>
                <a:ext cx="5652450" cy="3529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57175" lvl="1" indent="-257175">
                  <a:lnSpc>
                    <a:spcPct val="132000"/>
                  </a:lnSpc>
                  <a:buClr>
                    <a:schemeClr val="accent4">
                      <a:lumMod val="40000"/>
                      <a:lumOff val="60000"/>
                    </a:schemeClr>
                  </a:buClr>
                  <a:buFont typeface="Wingdings" panose="05000000000000000000" pitchFamily="2" charset="2"/>
                  <a:buChar char="Ø"/>
                </a:pPr>
                <a:r>
                  <a:rPr lang="en-US" altLang="zh-CN" dirty="0"/>
                  <a:t>S&gt;0</a:t>
                </a:r>
                <a:r>
                  <a:rPr lang="zh-CN" altLang="en-US" dirty="0"/>
                  <a:t>表示有</a:t>
                </a:r>
                <a:r>
                  <a:rPr lang="en-US" altLang="zh-CN" dirty="0"/>
                  <a:t>S</a:t>
                </a:r>
                <a:r>
                  <a:rPr lang="zh-CN" altLang="en-US" dirty="0"/>
                  <a:t>个资源可用；</a:t>
                </a:r>
              </a:p>
              <a:p>
                <a:pPr marL="257175" lvl="1" indent="-257175">
                  <a:lnSpc>
                    <a:spcPct val="132000"/>
                  </a:lnSpc>
                  <a:buClr>
                    <a:schemeClr val="accent4">
                      <a:lumMod val="40000"/>
                      <a:lumOff val="60000"/>
                    </a:schemeClr>
                  </a:buClr>
                  <a:buFont typeface="Wingdings" panose="05000000000000000000" pitchFamily="2" charset="2"/>
                  <a:buChar char="Ø"/>
                </a:pPr>
                <a:r>
                  <a:rPr lang="en-US" altLang="zh-CN" dirty="0"/>
                  <a:t>S=0</a:t>
                </a:r>
                <a:r>
                  <a:rPr lang="zh-CN" altLang="en-US" dirty="0"/>
                  <a:t>表示无资源可用；</a:t>
                </a:r>
              </a:p>
              <a:p>
                <a:pPr marL="257175" lvl="1" indent="-257175">
                  <a:lnSpc>
                    <a:spcPct val="132000"/>
                  </a:lnSpc>
                  <a:buClr>
                    <a:schemeClr val="accent4">
                      <a:lumMod val="40000"/>
                      <a:lumOff val="60000"/>
                    </a:schemeClr>
                  </a:buClr>
                  <a:buFont typeface="Wingdings" panose="05000000000000000000" pitchFamily="2" charset="2"/>
                  <a:buChar char="Ø"/>
                </a:pPr>
                <a:r>
                  <a:rPr lang="en-US" altLang="zh-CN" dirty="0"/>
                  <a:t>S&lt;0</a:t>
                </a:r>
                <a:r>
                  <a:rPr lang="zh-CN" altLang="en-US" dirty="0"/>
                  <a:t>则</a:t>
                </a:r>
                <a:r>
                  <a:rPr lang="en-US" altLang="zh-CN" dirty="0"/>
                  <a:t>| S |</a:t>
                </a:r>
                <a:r>
                  <a:rPr lang="zh-CN" altLang="en-US" dirty="0"/>
                  <a:t>表示</a:t>
                </a:r>
                <a:r>
                  <a:rPr lang="en-US" altLang="zh-CN" dirty="0"/>
                  <a:t>S</a:t>
                </a:r>
                <a:r>
                  <a:rPr lang="zh-CN" altLang="en-US" dirty="0"/>
                  <a:t>等待队列中的进程个数。</a:t>
                </a:r>
              </a:p>
              <a:p>
                <a:pPr marL="257175" lvl="1" indent="-257175">
                  <a:lnSpc>
                    <a:spcPct val="132000"/>
                  </a:lnSpc>
                  <a:buClr>
                    <a:schemeClr val="accent4">
                      <a:lumMod val="40000"/>
                      <a:lumOff val="60000"/>
                    </a:schemeClr>
                  </a:buClr>
                  <a:buFont typeface="Wingdings" panose="05000000000000000000" pitchFamily="2" charset="2"/>
                  <a:buChar char="Ø"/>
                </a:pPr>
                <a:r>
                  <a:rPr lang="en-US" altLang="zh-CN" dirty="0"/>
                  <a:t>P(S):</a:t>
                </a:r>
                <a:r>
                  <a:rPr lang="zh-CN" altLang="en-US" dirty="0"/>
                  <a:t>表示申请一个资源</a:t>
                </a:r>
                <a:r>
                  <a:rPr lang="en-US" altLang="zh-CN" dirty="0"/>
                  <a:t>; </a:t>
                </a:r>
              </a:p>
              <a:p>
                <a:pPr marL="257175" lvl="1" indent="-257175">
                  <a:lnSpc>
                    <a:spcPct val="132000"/>
                  </a:lnSpc>
                  <a:buClr>
                    <a:schemeClr val="accent4">
                      <a:lumMod val="40000"/>
                      <a:lumOff val="60000"/>
                    </a:schemeClr>
                  </a:buClr>
                  <a:buFont typeface="Wingdings" panose="05000000000000000000" pitchFamily="2" charset="2"/>
                  <a:buChar char="Ø"/>
                </a:pPr>
                <a:r>
                  <a:rPr lang="en-US" altLang="zh-CN" dirty="0"/>
                  <a:t>V(S)</a:t>
                </a:r>
                <a:r>
                  <a:rPr lang="zh-CN" altLang="en-US" dirty="0"/>
                  <a:t>表示释放一个资源。信号量的初值应该大于等于</a:t>
                </a:r>
                <a:r>
                  <a:rPr lang="en-US" altLang="zh-CN" dirty="0"/>
                  <a:t>0</a:t>
                </a:r>
              </a:p>
            </p:txBody>
          </p:sp>
        </p:grpSp>
        <p:grpSp>
          <p:nvGrpSpPr>
            <p:cNvPr id="8" name="ïS1íḋé"/>
            <p:cNvGrpSpPr/>
            <p:nvPr/>
          </p:nvGrpSpPr>
          <p:grpSpPr>
            <a:xfrm>
              <a:off x="660400" y="1774273"/>
              <a:ext cx="497734" cy="497734"/>
              <a:chOff x="660400" y="1774273"/>
              <a:chExt cx="497734" cy="497734"/>
            </a:xfrm>
          </p:grpSpPr>
          <p:sp>
            <p:nvSpPr>
              <p:cNvPr id="9" name="islîḋe"/>
              <p:cNvSpPr/>
              <p:nvPr/>
            </p:nvSpPr>
            <p:spPr>
              <a:xfrm>
                <a:off x="660400" y="1774273"/>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200" dirty="0">
                  <a:solidFill>
                    <a:schemeClr val="bg1"/>
                  </a:solidFill>
                </a:endParaRPr>
              </a:p>
            </p:txBody>
          </p:sp>
          <p:sp>
            <p:nvSpPr>
              <p:cNvPr id="12" name="îŝlîďe"/>
              <p:cNvSpPr/>
              <p:nvPr/>
            </p:nvSpPr>
            <p:spPr>
              <a:xfrm>
                <a:off x="779848" y="1905708"/>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500" b="1" dirty="0">
                  <a:solidFill>
                    <a:schemeClr val="bg1"/>
                  </a:solidFill>
                </a:endParaRPr>
              </a:p>
            </p:txBody>
          </p:sp>
        </p:grpSp>
      </p:grpSp>
      <p:grpSp>
        <p:nvGrpSpPr>
          <p:cNvPr id="15" name="iŝļïḓê"/>
          <p:cNvGrpSpPr/>
          <p:nvPr/>
        </p:nvGrpSpPr>
        <p:grpSpPr>
          <a:xfrm>
            <a:off x="4230878" y="1917499"/>
            <a:ext cx="4597590" cy="3614782"/>
            <a:chOff x="660400" y="1387902"/>
            <a:chExt cx="6130120" cy="4819709"/>
          </a:xfrm>
        </p:grpSpPr>
        <p:grpSp>
          <p:nvGrpSpPr>
            <p:cNvPr id="16" name="ïṧļïḓe"/>
            <p:cNvGrpSpPr/>
            <p:nvPr/>
          </p:nvGrpSpPr>
          <p:grpSpPr>
            <a:xfrm>
              <a:off x="660400" y="1447575"/>
              <a:ext cx="6130120" cy="4760036"/>
              <a:chOff x="494201" y="1447575"/>
              <a:chExt cx="7731617" cy="4760036"/>
            </a:xfrm>
          </p:grpSpPr>
          <p:sp>
            <p:nvSpPr>
              <p:cNvPr id="21" name="ïšļíďè"/>
              <p:cNvSpPr txBox="1"/>
              <p:nvPr/>
            </p:nvSpPr>
            <p:spPr>
              <a:xfrm>
                <a:off x="1296568" y="1447575"/>
                <a:ext cx="6293554" cy="389423"/>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2100" dirty="0">
                    <a:solidFill>
                      <a:srgbClr val="FF0000"/>
                    </a:solidFill>
                  </a:rPr>
                  <a:t>PV</a:t>
                </a:r>
                <a:r>
                  <a:rPr lang="zh-CN" altLang="en-US" sz="2100" dirty="0">
                    <a:solidFill>
                      <a:srgbClr val="FF0000"/>
                    </a:solidFill>
                  </a:rPr>
                  <a:t>操作的使用</a:t>
                </a:r>
              </a:p>
            </p:txBody>
          </p:sp>
          <p:sp>
            <p:nvSpPr>
              <p:cNvPr id="22" name="íşľíḑè"/>
              <p:cNvSpPr/>
              <p:nvPr/>
            </p:nvSpPr>
            <p:spPr bwMode="auto">
              <a:xfrm>
                <a:off x="494201" y="2043716"/>
                <a:ext cx="7731617" cy="4163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57175" lvl="1" indent="-257175">
                  <a:lnSpc>
                    <a:spcPct val="123000"/>
                  </a:lnSpc>
                  <a:buFont typeface="Wingdings" panose="05000000000000000000" pitchFamily="2" charset="2"/>
                  <a:buChar char="Ø"/>
                </a:pPr>
                <a:r>
                  <a:rPr lang="en-US" altLang="zh-CN" dirty="0"/>
                  <a:t>P.V</a:t>
                </a:r>
                <a:r>
                  <a:rPr lang="zh-CN" altLang="en-US" dirty="0"/>
                  <a:t>操作必须成对出现，有一个</a:t>
                </a:r>
                <a:r>
                  <a:rPr lang="en-US" altLang="zh-CN" dirty="0"/>
                  <a:t>P</a:t>
                </a:r>
                <a:r>
                  <a:rPr lang="zh-CN" altLang="en-US" dirty="0"/>
                  <a:t>操作就一定有一个</a:t>
                </a:r>
                <a:r>
                  <a:rPr lang="en-US" altLang="zh-CN" dirty="0"/>
                  <a:t>V</a:t>
                </a:r>
                <a:r>
                  <a:rPr lang="zh-CN" altLang="en-US" dirty="0"/>
                  <a:t>操作</a:t>
                </a:r>
              </a:p>
              <a:p>
                <a:pPr marL="257175" lvl="1" indent="-257175">
                  <a:lnSpc>
                    <a:spcPct val="123000"/>
                  </a:lnSpc>
                  <a:buFont typeface="Wingdings" panose="05000000000000000000" pitchFamily="2" charset="2"/>
                  <a:buChar char="Ø"/>
                </a:pPr>
                <a:r>
                  <a:rPr lang="zh-CN" altLang="en-US" dirty="0"/>
                  <a:t>当为互斥操作时，它们同处于同一进程</a:t>
                </a:r>
              </a:p>
              <a:p>
                <a:pPr marL="257175" lvl="1" indent="-257175">
                  <a:lnSpc>
                    <a:spcPct val="123000"/>
                  </a:lnSpc>
                  <a:buFont typeface="Wingdings" panose="05000000000000000000" pitchFamily="2" charset="2"/>
                  <a:buChar char="Ø"/>
                </a:pPr>
                <a:r>
                  <a:rPr lang="zh-CN" altLang="en-US" dirty="0"/>
                  <a:t>当为同步操作时，则不在同一进程中出现</a:t>
                </a:r>
              </a:p>
              <a:p>
                <a:pPr marL="257175" lvl="1" indent="-257175">
                  <a:lnSpc>
                    <a:spcPct val="123000"/>
                  </a:lnSpc>
                  <a:buFont typeface="Wingdings" panose="05000000000000000000" pitchFamily="2" charset="2"/>
                  <a:buChar char="Ø"/>
                </a:pPr>
                <a:r>
                  <a:rPr lang="zh-CN" altLang="en-US" dirty="0"/>
                  <a:t>如果</a:t>
                </a:r>
                <a:r>
                  <a:rPr lang="en-US" altLang="zh-CN" dirty="0"/>
                  <a:t>P(S1)</a:t>
                </a:r>
                <a:r>
                  <a:rPr lang="zh-CN" altLang="en-US" dirty="0"/>
                  <a:t>和</a:t>
                </a:r>
                <a:r>
                  <a:rPr lang="en-US" altLang="zh-CN" dirty="0"/>
                  <a:t>P(S2)</a:t>
                </a:r>
                <a:r>
                  <a:rPr lang="zh-CN" altLang="en-US" dirty="0"/>
                  <a:t>两个操作在一起，那么</a:t>
                </a:r>
                <a:r>
                  <a:rPr lang="en-US" altLang="zh-CN" dirty="0"/>
                  <a:t>P</a:t>
                </a:r>
                <a:r>
                  <a:rPr lang="zh-CN" altLang="en-US" dirty="0"/>
                  <a:t>操作的顺序至关重要</a:t>
                </a:r>
                <a:r>
                  <a:rPr lang="en-US" altLang="zh-CN" dirty="0"/>
                  <a:t>,</a:t>
                </a:r>
                <a:r>
                  <a:rPr lang="zh-CN" altLang="en-US" dirty="0"/>
                  <a:t>一个同步</a:t>
                </a:r>
                <a:r>
                  <a:rPr lang="en-US" altLang="zh-CN" dirty="0"/>
                  <a:t>P</a:t>
                </a:r>
                <a:r>
                  <a:rPr lang="zh-CN" altLang="en-US" dirty="0"/>
                  <a:t>操作与一个互斥</a:t>
                </a:r>
                <a:r>
                  <a:rPr lang="en-US" altLang="zh-CN" dirty="0"/>
                  <a:t>P</a:t>
                </a:r>
                <a:r>
                  <a:rPr lang="zh-CN" altLang="en-US" dirty="0"/>
                  <a:t>操作在一起时同步</a:t>
                </a:r>
                <a:r>
                  <a:rPr lang="en-US" altLang="zh-CN" dirty="0"/>
                  <a:t>P</a:t>
                </a:r>
                <a:r>
                  <a:rPr lang="zh-CN" altLang="en-US" dirty="0"/>
                  <a:t>操作在互斥</a:t>
                </a:r>
                <a:r>
                  <a:rPr lang="en-US" altLang="zh-CN" dirty="0"/>
                  <a:t>P</a:t>
                </a:r>
                <a:r>
                  <a:rPr lang="zh-CN" altLang="en-US" dirty="0"/>
                  <a:t>操作前，防止死锁发生</a:t>
                </a:r>
              </a:p>
              <a:p>
                <a:pPr marL="257175" lvl="1" indent="-257175">
                  <a:lnSpc>
                    <a:spcPct val="123000"/>
                  </a:lnSpc>
                  <a:buFont typeface="Wingdings" panose="05000000000000000000" pitchFamily="2" charset="2"/>
                  <a:buChar char="Ø"/>
                </a:pPr>
                <a:r>
                  <a:rPr lang="zh-CN" altLang="en-US" dirty="0"/>
                  <a:t>而两个</a:t>
                </a:r>
                <a:r>
                  <a:rPr lang="en-US" altLang="zh-CN" dirty="0"/>
                  <a:t>V</a:t>
                </a:r>
                <a:r>
                  <a:rPr lang="zh-CN" altLang="en-US" dirty="0"/>
                  <a:t>操作无关紧要</a:t>
                </a:r>
              </a:p>
            </p:txBody>
          </p:sp>
        </p:grpSp>
        <p:grpSp>
          <p:nvGrpSpPr>
            <p:cNvPr id="17" name="ïŝľídè"/>
            <p:cNvGrpSpPr/>
            <p:nvPr/>
          </p:nvGrpSpPr>
          <p:grpSpPr>
            <a:xfrm>
              <a:off x="660400" y="1387902"/>
              <a:ext cx="497734" cy="497734"/>
              <a:chOff x="660400" y="1387902"/>
              <a:chExt cx="497734" cy="497734"/>
            </a:xfrm>
          </p:grpSpPr>
          <p:sp>
            <p:nvSpPr>
              <p:cNvPr id="18" name="ïṡľïde"/>
              <p:cNvSpPr/>
              <p:nvPr/>
            </p:nvSpPr>
            <p:spPr>
              <a:xfrm>
                <a:off x="660400" y="1387902"/>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200" dirty="0">
                  <a:solidFill>
                    <a:schemeClr val="bg1"/>
                  </a:solidFill>
                </a:endParaRPr>
              </a:p>
            </p:txBody>
          </p:sp>
          <p:sp>
            <p:nvSpPr>
              <p:cNvPr id="19" name="ïšliḍe"/>
              <p:cNvSpPr/>
              <p:nvPr/>
            </p:nvSpPr>
            <p:spPr>
              <a:xfrm>
                <a:off x="779848" y="1519337"/>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500" b="1" dirty="0">
                  <a:solidFill>
                    <a:schemeClr val="bg1"/>
                  </a:solidFill>
                </a:endParaRPr>
              </a:p>
            </p:txBody>
          </p:sp>
        </p:grpSp>
      </p:grpSp>
      <p:cxnSp>
        <p:nvCxnSpPr>
          <p:cNvPr id="3" name="直接连接符 2"/>
          <p:cNvCxnSpPr/>
          <p:nvPr/>
        </p:nvCxnSpPr>
        <p:spPr>
          <a:xfrm>
            <a:off x="3969913" y="2016075"/>
            <a:ext cx="0" cy="3386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02444" y="5261825"/>
            <a:ext cx="354474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18191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信号量同步的缺点</a:t>
            </a:r>
          </a:p>
        </p:txBody>
      </p:sp>
      <p:grpSp>
        <p:nvGrpSpPr>
          <p:cNvPr id="29" name="21090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82458" y="1771624"/>
            <a:ext cx="8470858" cy="3454853"/>
            <a:chOff x="350852" y="1077497"/>
            <a:chExt cx="11294477" cy="4606470"/>
          </a:xfrm>
        </p:grpSpPr>
        <p:cxnSp>
          <p:nvCxnSpPr>
            <p:cNvPr id="30" name="直接连接符 29"/>
            <p:cNvCxnSpPr/>
            <p:nvPr/>
          </p:nvCxnSpPr>
          <p:spPr>
            <a:xfrm flipV="1">
              <a:off x="6099535" y="2407919"/>
              <a:ext cx="0" cy="76130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595108" y="3664801"/>
              <a:ext cx="724059"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6449958" y="2339556"/>
              <a:ext cx="912050" cy="97482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flipV="1">
              <a:off x="4764529" y="2318437"/>
              <a:ext cx="984583" cy="99594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4854098" y="3664801"/>
              <a:ext cx="749865"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4796612" y="4015224"/>
              <a:ext cx="952500" cy="95682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6092466" y="4160374"/>
              <a:ext cx="7069" cy="70084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6449958" y="4015224"/>
              <a:ext cx="951085" cy="95108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îśḷîde"/>
            <p:cNvSpPr/>
            <p:nvPr/>
          </p:nvSpPr>
          <p:spPr bwMode="auto">
            <a:xfrm>
              <a:off x="5661932" y="4251476"/>
              <a:ext cx="873791" cy="664534"/>
            </a:xfrm>
            <a:custGeom>
              <a:avLst/>
              <a:gdLst>
                <a:gd name="T0" fmla="*/ 647 w 647"/>
                <a:gd name="T1" fmla="*/ 413 h 492"/>
                <a:gd name="T2" fmla="*/ 647 w 647"/>
                <a:gd name="T3" fmla="*/ 413 h 492"/>
                <a:gd name="T4" fmla="*/ 0 w 647"/>
                <a:gd name="T5" fmla="*/ 415 h 492"/>
                <a:gd name="T6" fmla="*/ 153 w 647"/>
                <a:gd name="T7" fmla="*/ 1 h 492"/>
                <a:gd name="T8" fmla="*/ 492 w 647"/>
                <a:gd name="T9" fmla="*/ 0 h 492"/>
                <a:gd name="T10" fmla="*/ 492 w 647"/>
                <a:gd name="T11" fmla="*/ 0 h 492"/>
                <a:gd name="T12" fmla="*/ 647 w 647"/>
                <a:gd name="T13" fmla="*/ 413 h 492"/>
              </a:gdLst>
              <a:ahLst/>
              <a:cxnLst>
                <a:cxn ang="0">
                  <a:pos x="T0" y="T1"/>
                </a:cxn>
                <a:cxn ang="0">
                  <a:pos x="T2" y="T3"/>
                </a:cxn>
                <a:cxn ang="0">
                  <a:pos x="T4" y="T5"/>
                </a:cxn>
                <a:cxn ang="0">
                  <a:pos x="T6" y="T7"/>
                </a:cxn>
                <a:cxn ang="0">
                  <a:pos x="T8" y="T9"/>
                </a:cxn>
                <a:cxn ang="0">
                  <a:pos x="T10" y="T11"/>
                </a:cxn>
                <a:cxn ang="0">
                  <a:pos x="T12" y="T13"/>
                </a:cxn>
              </a:cxnLst>
              <a:rect l="0" t="0" r="r" b="b"/>
              <a:pathLst>
                <a:path w="647" h="492">
                  <a:moveTo>
                    <a:pt x="647" y="413"/>
                  </a:moveTo>
                  <a:cubicBezTo>
                    <a:pt x="647" y="413"/>
                    <a:pt x="647" y="413"/>
                    <a:pt x="647" y="413"/>
                  </a:cubicBezTo>
                  <a:cubicBezTo>
                    <a:pt x="439" y="491"/>
                    <a:pt x="209" y="492"/>
                    <a:pt x="0" y="415"/>
                  </a:cubicBezTo>
                  <a:cubicBezTo>
                    <a:pt x="153" y="1"/>
                    <a:pt x="153" y="1"/>
                    <a:pt x="153" y="1"/>
                  </a:cubicBezTo>
                  <a:cubicBezTo>
                    <a:pt x="263" y="41"/>
                    <a:pt x="383" y="41"/>
                    <a:pt x="492" y="0"/>
                  </a:cubicBezTo>
                  <a:cubicBezTo>
                    <a:pt x="492" y="0"/>
                    <a:pt x="492" y="0"/>
                    <a:pt x="492" y="0"/>
                  </a:cubicBezTo>
                  <a:cubicBezTo>
                    <a:pt x="647" y="413"/>
                    <a:pt x="647" y="413"/>
                    <a:pt x="647" y="413"/>
                  </a:cubicBezTo>
                </a:path>
              </a:pathLst>
            </a:custGeom>
            <a:solidFill>
              <a:schemeClr val="bg1">
                <a:lumMod val="95000"/>
              </a:schemeClr>
            </a:solidFill>
            <a:ln>
              <a:noFill/>
            </a:ln>
          </p:spPr>
          <p:txBody>
            <a:bodyPr vert="horz" wrap="square" lIns="68580" tIns="34290" rIns="68580" bIns="34290" numCol="1" anchor="t" anchorCtr="0" compatLnSpc="1">
              <a:normAutofit/>
            </a:bodyPr>
            <a:lstStyle/>
            <a:p>
              <a:endParaRPr lang="en-US" sz="1800"/>
            </a:p>
          </p:txBody>
        </p:sp>
        <p:sp>
          <p:nvSpPr>
            <p:cNvPr id="41" name="îṣľiďe"/>
            <p:cNvSpPr/>
            <p:nvPr/>
          </p:nvSpPr>
          <p:spPr bwMode="auto">
            <a:xfrm>
              <a:off x="6507445" y="4046460"/>
              <a:ext cx="1303618" cy="1303617"/>
            </a:xfrm>
            <a:custGeom>
              <a:avLst/>
              <a:gdLst>
                <a:gd name="T0" fmla="*/ 277 w 966"/>
                <a:gd name="T1" fmla="*/ 966 h 966"/>
                <a:gd name="T2" fmla="*/ 0 w 966"/>
                <a:gd name="T3" fmla="*/ 362 h 966"/>
                <a:gd name="T4" fmla="*/ 360 w 966"/>
                <a:gd name="T5" fmla="*/ 0 h 966"/>
                <a:gd name="T6" fmla="*/ 966 w 966"/>
                <a:gd name="T7" fmla="*/ 275 h 966"/>
                <a:gd name="T8" fmla="*/ 277 w 966"/>
                <a:gd name="T9" fmla="*/ 966 h 966"/>
              </a:gdLst>
              <a:ahLst/>
              <a:cxnLst>
                <a:cxn ang="0">
                  <a:pos x="T0" y="T1"/>
                </a:cxn>
                <a:cxn ang="0">
                  <a:pos x="T2" y="T3"/>
                </a:cxn>
                <a:cxn ang="0">
                  <a:pos x="T4" y="T5"/>
                </a:cxn>
                <a:cxn ang="0">
                  <a:pos x="T6" y="T7"/>
                </a:cxn>
                <a:cxn ang="0">
                  <a:pos x="T8" y="T9"/>
                </a:cxn>
              </a:cxnLst>
              <a:rect l="0" t="0" r="r" b="b"/>
              <a:pathLst>
                <a:path w="966" h="966">
                  <a:moveTo>
                    <a:pt x="277" y="966"/>
                  </a:moveTo>
                  <a:cubicBezTo>
                    <a:pt x="0" y="362"/>
                    <a:pt x="0" y="362"/>
                    <a:pt x="0" y="362"/>
                  </a:cubicBezTo>
                  <a:cubicBezTo>
                    <a:pt x="160" y="289"/>
                    <a:pt x="287" y="160"/>
                    <a:pt x="360" y="0"/>
                  </a:cubicBezTo>
                  <a:cubicBezTo>
                    <a:pt x="966" y="275"/>
                    <a:pt x="966" y="275"/>
                    <a:pt x="966" y="275"/>
                  </a:cubicBezTo>
                  <a:cubicBezTo>
                    <a:pt x="827" y="581"/>
                    <a:pt x="582" y="826"/>
                    <a:pt x="277" y="966"/>
                  </a:cubicBezTo>
                </a:path>
              </a:pathLst>
            </a:custGeom>
            <a:solidFill>
              <a:schemeClr val="bg1">
                <a:lumMod val="65000"/>
              </a:schemeClr>
            </a:solidFill>
            <a:ln>
              <a:noFill/>
            </a:ln>
          </p:spPr>
          <p:txBody>
            <a:bodyPr vert="horz" wrap="square" lIns="68580" tIns="34290" rIns="68580" bIns="34290" numCol="1" anchor="t" anchorCtr="0" compatLnSpc="1">
              <a:normAutofit/>
            </a:bodyPr>
            <a:lstStyle/>
            <a:p>
              <a:endParaRPr lang="en-US" sz="1800"/>
            </a:p>
          </p:txBody>
        </p:sp>
        <p:sp>
          <p:nvSpPr>
            <p:cNvPr id="42" name="ïṡľîḋe"/>
            <p:cNvSpPr/>
            <p:nvPr/>
          </p:nvSpPr>
          <p:spPr bwMode="auto">
            <a:xfrm>
              <a:off x="4386593" y="4052116"/>
              <a:ext cx="1302204" cy="1302204"/>
            </a:xfrm>
            <a:custGeom>
              <a:avLst/>
              <a:gdLst>
                <a:gd name="T0" fmla="*/ 691 w 966"/>
                <a:gd name="T1" fmla="*/ 965 h 965"/>
                <a:gd name="T2" fmla="*/ 0 w 966"/>
                <a:gd name="T3" fmla="*/ 277 h 965"/>
                <a:gd name="T4" fmla="*/ 604 w 966"/>
                <a:gd name="T5" fmla="*/ 0 h 965"/>
                <a:gd name="T6" fmla="*/ 966 w 966"/>
                <a:gd name="T7" fmla="*/ 360 h 965"/>
                <a:gd name="T8" fmla="*/ 691 w 966"/>
                <a:gd name="T9" fmla="*/ 965 h 965"/>
              </a:gdLst>
              <a:ahLst/>
              <a:cxnLst>
                <a:cxn ang="0">
                  <a:pos x="T0" y="T1"/>
                </a:cxn>
                <a:cxn ang="0">
                  <a:pos x="T2" y="T3"/>
                </a:cxn>
                <a:cxn ang="0">
                  <a:pos x="T4" y="T5"/>
                </a:cxn>
                <a:cxn ang="0">
                  <a:pos x="T6" y="T7"/>
                </a:cxn>
                <a:cxn ang="0">
                  <a:pos x="T8" y="T9"/>
                </a:cxn>
              </a:cxnLst>
              <a:rect l="0" t="0" r="r" b="b"/>
              <a:pathLst>
                <a:path w="966" h="965">
                  <a:moveTo>
                    <a:pt x="691" y="965"/>
                  </a:moveTo>
                  <a:cubicBezTo>
                    <a:pt x="385" y="826"/>
                    <a:pt x="140" y="582"/>
                    <a:pt x="0" y="277"/>
                  </a:cubicBezTo>
                  <a:cubicBezTo>
                    <a:pt x="604" y="0"/>
                    <a:pt x="604" y="0"/>
                    <a:pt x="604" y="0"/>
                  </a:cubicBezTo>
                  <a:cubicBezTo>
                    <a:pt x="677" y="159"/>
                    <a:pt x="805" y="287"/>
                    <a:pt x="966" y="360"/>
                  </a:cubicBezTo>
                  <a:cubicBezTo>
                    <a:pt x="691" y="965"/>
                    <a:pt x="691" y="965"/>
                    <a:pt x="691" y="965"/>
                  </a:cubicBezTo>
                </a:path>
              </a:pathLst>
            </a:custGeom>
            <a:solidFill>
              <a:schemeClr val="accent1"/>
            </a:solidFill>
            <a:ln>
              <a:noFill/>
            </a:ln>
          </p:spPr>
          <p:txBody>
            <a:bodyPr vert="horz" wrap="square" lIns="68580" tIns="34290" rIns="68580" bIns="34290" numCol="1" anchor="t" anchorCtr="0" compatLnSpc="1">
              <a:normAutofit/>
            </a:bodyPr>
            <a:lstStyle/>
            <a:p>
              <a:endParaRPr lang="en-US" sz="1800"/>
            </a:p>
          </p:txBody>
        </p:sp>
        <p:sp>
          <p:nvSpPr>
            <p:cNvPr id="43" name="ïšľiḓé"/>
            <p:cNvSpPr/>
            <p:nvPr/>
          </p:nvSpPr>
          <p:spPr bwMode="auto">
            <a:xfrm>
              <a:off x="6708220" y="3198119"/>
              <a:ext cx="664534" cy="875206"/>
            </a:xfrm>
            <a:custGeom>
              <a:avLst/>
              <a:gdLst>
                <a:gd name="T0" fmla="*/ 415 w 493"/>
                <a:gd name="T1" fmla="*/ 649 h 649"/>
                <a:gd name="T2" fmla="*/ 2 w 493"/>
                <a:gd name="T3" fmla="*/ 495 h 649"/>
                <a:gd name="T4" fmla="*/ 1 w 493"/>
                <a:gd name="T5" fmla="*/ 156 h 649"/>
                <a:gd name="T6" fmla="*/ 0 w 493"/>
                <a:gd name="T7" fmla="*/ 155 h 649"/>
                <a:gd name="T8" fmla="*/ 413 w 493"/>
                <a:gd name="T9" fmla="*/ 0 h 649"/>
                <a:gd name="T10" fmla="*/ 414 w 493"/>
                <a:gd name="T11" fmla="*/ 1 h 649"/>
                <a:gd name="T12" fmla="*/ 415 w 493"/>
                <a:gd name="T13" fmla="*/ 649 h 649"/>
              </a:gdLst>
              <a:ahLst/>
              <a:cxnLst>
                <a:cxn ang="0">
                  <a:pos x="T0" y="T1"/>
                </a:cxn>
                <a:cxn ang="0">
                  <a:pos x="T2" y="T3"/>
                </a:cxn>
                <a:cxn ang="0">
                  <a:pos x="T4" y="T5"/>
                </a:cxn>
                <a:cxn ang="0">
                  <a:pos x="T6" y="T7"/>
                </a:cxn>
                <a:cxn ang="0">
                  <a:pos x="T8" y="T9"/>
                </a:cxn>
                <a:cxn ang="0">
                  <a:pos x="T10" y="T11"/>
                </a:cxn>
                <a:cxn ang="0">
                  <a:pos x="T12" y="T13"/>
                </a:cxn>
              </a:cxnLst>
              <a:rect l="0" t="0" r="r" b="b"/>
              <a:pathLst>
                <a:path w="493" h="649">
                  <a:moveTo>
                    <a:pt x="415" y="649"/>
                  </a:moveTo>
                  <a:cubicBezTo>
                    <a:pt x="2" y="495"/>
                    <a:pt x="2" y="495"/>
                    <a:pt x="2" y="495"/>
                  </a:cubicBezTo>
                  <a:cubicBezTo>
                    <a:pt x="42" y="386"/>
                    <a:pt x="42" y="266"/>
                    <a:pt x="1" y="156"/>
                  </a:cubicBezTo>
                  <a:cubicBezTo>
                    <a:pt x="0" y="155"/>
                    <a:pt x="0" y="155"/>
                    <a:pt x="0" y="155"/>
                  </a:cubicBezTo>
                  <a:cubicBezTo>
                    <a:pt x="413" y="0"/>
                    <a:pt x="413" y="0"/>
                    <a:pt x="413" y="0"/>
                  </a:cubicBezTo>
                  <a:cubicBezTo>
                    <a:pt x="414" y="1"/>
                    <a:pt x="414" y="1"/>
                    <a:pt x="414" y="1"/>
                  </a:cubicBezTo>
                  <a:cubicBezTo>
                    <a:pt x="492" y="210"/>
                    <a:pt x="493" y="440"/>
                    <a:pt x="415" y="649"/>
                  </a:cubicBezTo>
                </a:path>
              </a:pathLst>
            </a:custGeom>
            <a:solidFill>
              <a:schemeClr val="bg1">
                <a:lumMod val="95000"/>
              </a:schemeClr>
            </a:solidFill>
            <a:ln>
              <a:noFill/>
            </a:ln>
          </p:spPr>
          <p:txBody>
            <a:bodyPr vert="horz" wrap="square" lIns="68580" tIns="34290" rIns="68580" bIns="34290" numCol="1" anchor="t" anchorCtr="0" compatLnSpc="1">
              <a:normAutofit/>
            </a:bodyPr>
            <a:lstStyle/>
            <a:p>
              <a:endParaRPr lang="en-US" sz="1800"/>
            </a:p>
          </p:txBody>
        </p:sp>
        <p:sp>
          <p:nvSpPr>
            <p:cNvPr id="44" name="iṩḷide"/>
            <p:cNvSpPr/>
            <p:nvPr/>
          </p:nvSpPr>
          <p:spPr bwMode="auto">
            <a:xfrm>
              <a:off x="4820660" y="3206603"/>
              <a:ext cx="663120" cy="872378"/>
            </a:xfrm>
            <a:custGeom>
              <a:avLst/>
              <a:gdLst>
                <a:gd name="T0" fmla="*/ 492 w 492"/>
                <a:gd name="T1" fmla="*/ 492 h 647"/>
                <a:gd name="T2" fmla="*/ 79 w 492"/>
                <a:gd name="T3" fmla="*/ 647 h 647"/>
                <a:gd name="T4" fmla="*/ 78 w 492"/>
                <a:gd name="T5" fmla="*/ 646 h 647"/>
                <a:gd name="T6" fmla="*/ 77 w 492"/>
                <a:gd name="T7" fmla="*/ 0 h 647"/>
                <a:gd name="T8" fmla="*/ 491 w 492"/>
                <a:gd name="T9" fmla="*/ 153 h 647"/>
                <a:gd name="T10" fmla="*/ 491 w 492"/>
                <a:gd name="T11" fmla="*/ 491 h 647"/>
                <a:gd name="T12" fmla="*/ 492 w 492"/>
                <a:gd name="T13" fmla="*/ 492 h 647"/>
              </a:gdLst>
              <a:ahLst/>
              <a:cxnLst>
                <a:cxn ang="0">
                  <a:pos x="T0" y="T1"/>
                </a:cxn>
                <a:cxn ang="0">
                  <a:pos x="T2" y="T3"/>
                </a:cxn>
                <a:cxn ang="0">
                  <a:pos x="T4" y="T5"/>
                </a:cxn>
                <a:cxn ang="0">
                  <a:pos x="T6" y="T7"/>
                </a:cxn>
                <a:cxn ang="0">
                  <a:pos x="T8" y="T9"/>
                </a:cxn>
                <a:cxn ang="0">
                  <a:pos x="T10" y="T11"/>
                </a:cxn>
                <a:cxn ang="0">
                  <a:pos x="T12" y="T13"/>
                </a:cxn>
              </a:cxnLst>
              <a:rect l="0" t="0" r="r" b="b"/>
              <a:pathLst>
                <a:path w="492" h="647">
                  <a:moveTo>
                    <a:pt x="492" y="492"/>
                  </a:moveTo>
                  <a:cubicBezTo>
                    <a:pt x="79" y="647"/>
                    <a:pt x="79" y="647"/>
                    <a:pt x="79" y="647"/>
                  </a:cubicBezTo>
                  <a:cubicBezTo>
                    <a:pt x="78" y="646"/>
                    <a:pt x="78" y="646"/>
                    <a:pt x="78" y="646"/>
                  </a:cubicBezTo>
                  <a:cubicBezTo>
                    <a:pt x="0" y="438"/>
                    <a:pt x="0" y="208"/>
                    <a:pt x="77" y="0"/>
                  </a:cubicBezTo>
                  <a:cubicBezTo>
                    <a:pt x="491" y="153"/>
                    <a:pt x="491" y="153"/>
                    <a:pt x="491" y="153"/>
                  </a:cubicBezTo>
                  <a:cubicBezTo>
                    <a:pt x="450" y="262"/>
                    <a:pt x="451" y="382"/>
                    <a:pt x="491" y="491"/>
                  </a:cubicBezTo>
                  <a:cubicBezTo>
                    <a:pt x="492" y="492"/>
                    <a:pt x="492" y="492"/>
                    <a:pt x="492" y="492"/>
                  </a:cubicBezTo>
                </a:path>
              </a:pathLst>
            </a:custGeom>
            <a:solidFill>
              <a:schemeClr val="bg1">
                <a:lumMod val="95000"/>
              </a:schemeClr>
            </a:solidFill>
            <a:ln>
              <a:noFill/>
            </a:ln>
          </p:spPr>
          <p:txBody>
            <a:bodyPr vert="horz" wrap="square" lIns="68580" tIns="34290" rIns="68580" bIns="34290" numCol="1" anchor="t" anchorCtr="0" compatLnSpc="1">
              <a:normAutofit/>
            </a:bodyPr>
            <a:lstStyle/>
            <a:p>
              <a:endParaRPr lang="en-US" sz="1800"/>
            </a:p>
          </p:txBody>
        </p:sp>
        <p:sp>
          <p:nvSpPr>
            <p:cNvPr id="45" name="iṩľïďé"/>
            <p:cNvSpPr/>
            <p:nvPr/>
          </p:nvSpPr>
          <p:spPr bwMode="auto">
            <a:xfrm>
              <a:off x="6503203" y="1922780"/>
              <a:ext cx="1302204" cy="1302204"/>
            </a:xfrm>
            <a:custGeom>
              <a:avLst/>
              <a:gdLst>
                <a:gd name="T0" fmla="*/ 362 w 966"/>
                <a:gd name="T1" fmla="*/ 965 h 965"/>
                <a:gd name="T2" fmla="*/ 0 w 966"/>
                <a:gd name="T3" fmla="*/ 606 h 965"/>
                <a:gd name="T4" fmla="*/ 274 w 966"/>
                <a:gd name="T5" fmla="*/ 0 h 965"/>
                <a:gd name="T6" fmla="*/ 966 w 966"/>
                <a:gd name="T7" fmla="*/ 687 h 965"/>
                <a:gd name="T8" fmla="*/ 362 w 966"/>
                <a:gd name="T9" fmla="*/ 965 h 965"/>
              </a:gdLst>
              <a:ahLst/>
              <a:cxnLst>
                <a:cxn ang="0">
                  <a:pos x="T0" y="T1"/>
                </a:cxn>
                <a:cxn ang="0">
                  <a:pos x="T2" y="T3"/>
                </a:cxn>
                <a:cxn ang="0">
                  <a:pos x="T4" y="T5"/>
                </a:cxn>
                <a:cxn ang="0">
                  <a:pos x="T6" y="T7"/>
                </a:cxn>
                <a:cxn ang="0">
                  <a:pos x="T8" y="T9"/>
                </a:cxn>
              </a:cxnLst>
              <a:rect l="0" t="0" r="r" b="b"/>
              <a:pathLst>
                <a:path w="966" h="965">
                  <a:moveTo>
                    <a:pt x="362" y="965"/>
                  </a:moveTo>
                  <a:cubicBezTo>
                    <a:pt x="289" y="806"/>
                    <a:pt x="160" y="678"/>
                    <a:pt x="0" y="606"/>
                  </a:cubicBezTo>
                  <a:cubicBezTo>
                    <a:pt x="274" y="0"/>
                    <a:pt x="274" y="0"/>
                    <a:pt x="274" y="0"/>
                  </a:cubicBezTo>
                  <a:cubicBezTo>
                    <a:pt x="580" y="138"/>
                    <a:pt x="826" y="383"/>
                    <a:pt x="966" y="687"/>
                  </a:cubicBezTo>
                  <a:cubicBezTo>
                    <a:pt x="362" y="965"/>
                    <a:pt x="362" y="965"/>
                    <a:pt x="362" y="965"/>
                  </a:cubicBezTo>
                </a:path>
              </a:pathLst>
            </a:custGeom>
            <a:solidFill>
              <a:schemeClr val="accent1"/>
            </a:solidFill>
            <a:ln>
              <a:noFill/>
            </a:ln>
          </p:spPr>
          <p:txBody>
            <a:bodyPr vert="horz" wrap="square" lIns="68580" tIns="34290" rIns="68580" bIns="34290" numCol="1" anchor="t" anchorCtr="0" compatLnSpc="1">
              <a:normAutofit/>
            </a:bodyPr>
            <a:lstStyle/>
            <a:p>
              <a:endParaRPr lang="en-US" sz="1800"/>
            </a:p>
          </p:txBody>
        </p:sp>
        <p:sp>
          <p:nvSpPr>
            <p:cNvPr id="46" name="îṣ1îḓê"/>
            <p:cNvSpPr/>
            <p:nvPr/>
          </p:nvSpPr>
          <p:spPr bwMode="auto">
            <a:xfrm>
              <a:off x="4380937" y="1928436"/>
              <a:ext cx="1302204" cy="1303617"/>
            </a:xfrm>
            <a:custGeom>
              <a:avLst/>
              <a:gdLst>
                <a:gd name="T0" fmla="*/ 606 w 965"/>
                <a:gd name="T1" fmla="*/ 966 h 966"/>
                <a:gd name="T2" fmla="*/ 0 w 965"/>
                <a:gd name="T3" fmla="*/ 692 h 966"/>
                <a:gd name="T4" fmla="*/ 688 w 965"/>
                <a:gd name="T5" fmla="*/ 0 h 966"/>
                <a:gd name="T6" fmla="*/ 965 w 965"/>
                <a:gd name="T7" fmla="*/ 604 h 966"/>
                <a:gd name="T8" fmla="*/ 606 w 965"/>
                <a:gd name="T9" fmla="*/ 966 h 966"/>
              </a:gdLst>
              <a:ahLst/>
              <a:cxnLst>
                <a:cxn ang="0">
                  <a:pos x="T0" y="T1"/>
                </a:cxn>
                <a:cxn ang="0">
                  <a:pos x="T2" y="T3"/>
                </a:cxn>
                <a:cxn ang="0">
                  <a:pos x="T4" y="T5"/>
                </a:cxn>
                <a:cxn ang="0">
                  <a:pos x="T6" y="T7"/>
                </a:cxn>
                <a:cxn ang="0">
                  <a:pos x="T8" y="T9"/>
                </a:cxn>
              </a:cxnLst>
              <a:rect l="0" t="0" r="r" b="b"/>
              <a:pathLst>
                <a:path w="965" h="966">
                  <a:moveTo>
                    <a:pt x="606" y="966"/>
                  </a:moveTo>
                  <a:cubicBezTo>
                    <a:pt x="0" y="692"/>
                    <a:pt x="0" y="692"/>
                    <a:pt x="0" y="692"/>
                  </a:cubicBezTo>
                  <a:cubicBezTo>
                    <a:pt x="139" y="386"/>
                    <a:pt x="383" y="140"/>
                    <a:pt x="688" y="0"/>
                  </a:cubicBezTo>
                  <a:cubicBezTo>
                    <a:pt x="965" y="604"/>
                    <a:pt x="965" y="604"/>
                    <a:pt x="965" y="604"/>
                  </a:cubicBezTo>
                  <a:cubicBezTo>
                    <a:pt x="806" y="677"/>
                    <a:pt x="678" y="806"/>
                    <a:pt x="606" y="966"/>
                  </a:cubicBezTo>
                </a:path>
              </a:pathLst>
            </a:custGeom>
            <a:solidFill>
              <a:schemeClr val="bg1">
                <a:lumMod val="65000"/>
              </a:schemeClr>
            </a:solidFill>
            <a:ln>
              <a:noFill/>
            </a:ln>
          </p:spPr>
          <p:txBody>
            <a:bodyPr vert="horz" wrap="square" lIns="68580" tIns="34290" rIns="68580" bIns="34290" numCol="1" anchor="t" anchorCtr="0" compatLnSpc="1">
              <a:normAutofit/>
            </a:bodyPr>
            <a:lstStyle/>
            <a:p>
              <a:endParaRPr lang="en-US" sz="1800"/>
            </a:p>
          </p:txBody>
        </p:sp>
        <p:sp>
          <p:nvSpPr>
            <p:cNvPr id="47" name="íṩḷïḍè"/>
            <p:cNvSpPr/>
            <p:nvPr/>
          </p:nvSpPr>
          <p:spPr bwMode="auto">
            <a:xfrm>
              <a:off x="5656277" y="2362503"/>
              <a:ext cx="872378" cy="664534"/>
            </a:xfrm>
            <a:custGeom>
              <a:avLst/>
              <a:gdLst>
                <a:gd name="T0" fmla="*/ 494 w 647"/>
                <a:gd name="T1" fmla="*/ 491 h 492"/>
                <a:gd name="T2" fmla="*/ 156 w 647"/>
                <a:gd name="T3" fmla="*/ 492 h 492"/>
                <a:gd name="T4" fmla="*/ 155 w 647"/>
                <a:gd name="T5" fmla="*/ 492 h 492"/>
                <a:gd name="T6" fmla="*/ 0 w 647"/>
                <a:gd name="T7" fmla="*/ 79 h 492"/>
                <a:gd name="T8" fmla="*/ 1 w 647"/>
                <a:gd name="T9" fmla="*/ 79 h 492"/>
                <a:gd name="T10" fmla="*/ 647 w 647"/>
                <a:gd name="T11" fmla="*/ 77 h 492"/>
                <a:gd name="T12" fmla="*/ 494 w 647"/>
                <a:gd name="T13" fmla="*/ 491 h 492"/>
              </a:gdLst>
              <a:ahLst/>
              <a:cxnLst>
                <a:cxn ang="0">
                  <a:pos x="T0" y="T1"/>
                </a:cxn>
                <a:cxn ang="0">
                  <a:pos x="T2" y="T3"/>
                </a:cxn>
                <a:cxn ang="0">
                  <a:pos x="T4" y="T5"/>
                </a:cxn>
                <a:cxn ang="0">
                  <a:pos x="T6" y="T7"/>
                </a:cxn>
                <a:cxn ang="0">
                  <a:pos x="T8" y="T9"/>
                </a:cxn>
                <a:cxn ang="0">
                  <a:pos x="T10" y="T11"/>
                </a:cxn>
                <a:cxn ang="0">
                  <a:pos x="T12" y="T13"/>
                </a:cxn>
              </a:cxnLst>
              <a:rect l="0" t="0" r="r" b="b"/>
              <a:pathLst>
                <a:path w="647" h="492">
                  <a:moveTo>
                    <a:pt x="494" y="491"/>
                  </a:moveTo>
                  <a:cubicBezTo>
                    <a:pt x="385" y="450"/>
                    <a:pt x="265" y="451"/>
                    <a:pt x="156" y="492"/>
                  </a:cubicBezTo>
                  <a:cubicBezTo>
                    <a:pt x="155" y="492"/>
                    <a:pt x="155" y="492"/>
                    <a:pt x="155" y="492"/>
                  </a:cubicBezTo>
                  <a:cubicBezTo>
                    <a:pt x="0" y="79"/>
                    <a:pt x="0" y="79"/>
                    <a:pt x="0" y="79"/>
                  </a:cubicBezTo>
                  <a:cubicBezTo>
                    <a:pt x="1" y="79"/>
                    <a:pt x="1" y="79"/>
                    <a:pt x="1" y="79"/>
                  </a:cubicBezTo>
                  <a:cubicBezTo>
                    <a:pt x="209" y="1"/>
                    <a:pt x="439" y="0"/>
                    <a:pt x="647" y="77"/>
                  </a:cubicBezTo>
                  <a:cubicBezTo>
                    <a:pt x="494" y="491"/>
                    <a:pt x="494" y="491"/>
                    <a:pt x="494" y="491"/>
                  </a:cubicBezTo>
                </a:path>
              </a:pathLst>
            </a:custGeom>
            <a:solidFill>
              <a:schemeClr val="bg1">
                <a:lumMod val="95000"/>
              </a:schemeClr>
            </a:solidFill>
            <a:ln>
              <a:noFill/>
            </a:ln>
          </p:spPr>
          <p:txBody>
            <a:bodyPr vert="horz" wrap="square" lIns="68580" tIns="34290" rIns="68580" bIns="34290" numCol="1" anchor="t" anchorCtr="0" compatLnSpc="1">
              <a:normAutofit/>
            </a:bodyPr>
            <a:lstStyle/>
            <a:p>
              <a:endParaRPr lang="en-US" sz="1800"/>
            </a:p>
          </p:txBody>
        </p:sp>
        <p:sp>
          <p:nvSpPr>
            <p:cNvPr id="48" name="îṩ1íďè"/>
            <p:cNvSpPr/>
            <p:nvPr/>
          </p:nvSpPr>
          <p:spPr>
            <a:xfrm>
              <a:off x="5603962" y="3169228"/>
              <a:ext cx="991146" cy="99114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rmAutofit/>
            </a:bodyPr>
            <a:lstStyle/>
            <a:p>
              <a:pPr algn="ctr"/>
              <a:r>
                <a:rPr lang="en-US" sz="1500" b="1" dirty="0">
                  <a:solidFill>
                    <a:schemeClr val="tx1"/>
                  </a:solidFill>
                </a:rPr>
                <a:t>Text</a:t>
              </a:r>
            </a:p>
          </p:txBody>
        </p:sp>
        <p:sp>
          <p:nvSpPr>
            <p:cNvPr id="49" name="íśļiḑé"/>
            <p:cNvSpPr/>
            <p:nvPr/>
          </p:nvSpPr>
          <p:spPr bwMode="auto">
            <a:xfrm>
              <a:off x="4848405" y="2410352"/>
              <a:ext cx="367268" cy="339784"/>
            </a:xfrm>
            <a:custGeom>
              <a:avLst/>
              <a:gdLst/>
              <a:ahLst/>
              <a:cxnLst>
                <a:cxn ang="0">
                  <a:pos x="39" y="36"/>
                </a:cxn>
                <a:cxn ang="0">
                  <a:pos x="41" y="44"/>
                </a:cxn>
                <a:cxn ang="0">
                  <a:pos x="35" y="50"/>
                </a:cxn>
                <a:cxn ang="0">
                  <a:pos x="27" y="53"/>
                </a:cxn>
                <a:cxn ang="0">
                  <a:pos x="18" y="53"/>
                </a:cxn>
                <a:cxn ang="0">
                  <a:pos x="11" y="50"/>
                </a:cxn>
                <a:cxn ang="0">
                  <a:pos x="4" y="44"/>
                </a:cxn>
                <a:cxn ang="0">
                  <a:pos x="6" y="36"/>
                </a:cxn>
                <a:cxn ang="0">
                  <a:pos x="0" y="28"/>
                </a:cxn>
                <a:cxn ang="0">
                  <a:pos x="7" y="23"/>
                </a:cxn>
                <a:cxn ang="0">
                  <a:pos x="4" y="18"/>
                </a:cxn>
                <a:cxn ang="0">
                  <a:pos x="15" y="16"/>
                </a:cxn>
                <a:cxn ang="0">
                  <a:pos x="19" y="8"/>
                </a:cxn>
                <a:cxn ang="0">
                  <a:pos x="28" y="15"/>
                </a:cxn>
                <a:cxn ang="0">
                  <a:pos x="35" y="12"/>
                </a:cxn>
                <a:cxn ang="0">
                  <a:pos x="41" y="19"/>
                </a:cxn>
                <a:cxn ang="0">
                  <a:pos x="45" y="27"/>
                </a:cxn>
                <a:cxn ang="0">
                  <a:pos x="23" y="22"/>
                </a:cxn>
                <a:cxn ang="0">
                  <a:pos x="32" y="31"/>
                </a:cxn>
                <a:cxn ang="0">
                  <a:pos x="63" y="16"/>
                </a:cxn>
                <a:cxn ang="0">
                  <a:pos x="64" y="24"/>
                </a:cxn>
                <a:cxn ang="0">
                  <a:pos x="55" y="22"/>
                </a:cxn>
                <a:cxn ang="0">
                  <a:pos x="46" y="24"/>
                </a:cxn>
                <a:cxn ang="0">
                  <a:pos x="46" y="16"/>
                </a:cxn>
                <a:cxn ang="0">
                  <a:pos x="46" y="9"/>
                </a:cxn>
                <a:cxn ang="0">
                  <a:pos x="46" y="2"/>
                </a:cxn>
                <a:cxn ang="0">
                  <a:pos x="55" y="4"/>
                </a:cxn>
                <a:cxn ang="0">
                  <a:pos x="59" y="0"/>
                </a:cxn>
                <a:cxn ang="0">
                  <a:pos x="62" y="7"/>
                </a:cxn>
                <a:cxn ang="0">
                  <a:pos x="68" y="15"/>
                </a:cxn>
                <a:cxn ang="0">
                  <a:pos x="62" y="55"/>
                </a:cxn>
                <a:cxn ang="0">
                  <a:pos x="59" y="63"/>
                </a:cxn>
                <a:cxn ang="0">
                  <a:pos x="54" y="59"/>
                </a:cxn>
                <a:cxn ang="0">
                  <a:pos x="45" y="60"/>
                </a:cxn>
                <a:cxn ang="0">
                  <a:pos x="41" y="52"/>
                </a:cxn>
                <a:cxn ang="0">
                  <a:pos x="47" y="44"/>
                </a:cxn>
                <a:cxn ang="0">
                  <a:pos x="50" y="36"/>
                </a:cxn>
                <a:cxn ang="0">
                  <a:pos x="56" y="40"/>
                </a:cxn>
                <a:cxn ang="0">
                  <a:pos x="64" y="39"/>
                </a:cxn>
                <a:cxn ang="0">
                  <a:pos x="63" y="46"/>
                </a:cxn>
                <a:cxn ang="0">
                  <a:pos x="55" y="8"/>
                </a:cxn>
                <a:cxn ang="0">
                  <a:pos x="59" y="13"/>
                </a:cxn>
                <a:cxn ang="0">
                  <a:pos x="50" y="49"/>
                </a:cxn>
                <a:cxn ang="0">
                  <a:pos x="55" y="45"/>
                </a:cxn>
              </a:cxnLst>
              <a:rect l="0" t="0" r="r" b="b"/>
              <a:pathLst>
                <a:path w="68" h="63">
                  <a:moveTo>
                    <a:pt x="45" y="35"/>
                  </a:moveTo>
                  <a:cubicBezTo>
                    <a:pt x="45" y="35"/>
                    <a:pt x="45" y="36"/>
                    <a:pt x="45" y="36"/>
                  </a:cubicBezTo>
                  <a:cubicBezTo>
                    <a:pt x="39" y="36"/>
                    <a:pt x="39" y="36"/>
                    <a:pt x="39" y="36"/>
                  </a:cubicBezTo>
                  <a:cubicBezTo>
                    <a:pt x="39" y="37"/>
                    <a:pt x="38" y="38"/>
                    <a:pt x="38" y="39"/>
                  </a:cubicBezTo>
                  <a:cubicBezTo>
                    <a:pt x="39" y="41"/>
                    <a:pt x="40" y="42"/>
                    <a:pt x="41" y="43"/>
                  </a:cubicBezTo>
                  <a:cubicBezTo>
                    <a:pt x="41" y="43"/>
                    <a:pt x="41" y="44"/>
                    <a:pt x="41" y="44"/>
                  </a:cubicBezTo>
                  <a:cubicBezTo>
                    <a:pt x="41" y="44"/>
                    <a:pt x="41" y="44"/>
                    <a:pt x="41" y="45"/>
                  </a:cubicBezTo>
                  <a:cubicBezTo>
                    <a:pt x="40" y="46"/>
                    <a:pt x="36" y="50"/>
                    <a:pt x="35" y="50"/>
                  </a:cubicBezTo>
                  <a:cubicBezTo>
                    <a:pt x="35" y="50"/>
                    <a:pt x="35" y="50"/>
                    <a:pt x="35" y="50"/>
                  </a:cubicBezTo>
                  <a:cubicBezTo>
                    <a:pt x="31" y="47"/>
                    <a:pt x="31" y="47"/>
                    <a:pt x="31" y="47"/>
                  </a:cubicBezTo>
                  <a:cubicBezTo>
                    <a:pt x="30" y="47"/>
                    <a:pt x="29" y="47"/>
                    <a:pt x="28" y="48"/>
                  </a:cubicBezTo>
                  <a:cubicBezTo>
                    <a:pt x="28" y="49"/>
                    <a:pt x="27" y="51"/>
                    <a:pt x="27" y="53"/>
                  </a:cubicBezTo>
                  <a:cubicBezTo>
                    <a:pt x="27" y="54"/>
                    <a:pt x="26" y="54"/>
                    <a:pt x="26" y="54"/>
                  </a:cubicBezTo>
                  <a:cubicBezTo>
                    <a:pt x="19" y="54"/>
                    <a:pt x="19" y="54"/>
                    <a:pt x="19" y="54"/>
                  </a:cubicBezTo>
                  <a:cubicBezTo>
                    <a:pt x="19" y="54"/>
                    <a:pt x="18" y="54"/>
                    <a:pt x="18" y="53"/>
                  </a:cubicBezTo>
                  <a:cubicBezTo>
                    <a:pt x="17" y="48"/>
                    <a:pt x="17" y="48"/>
                    <a:pt x="17" y="48"/>
                  </a:cubicBezTo>
                  <a:cubicBezTo>
                    <a:pt x="16" y="47"/>
                    <a:pt x="16" y="47"/>
                    <a:pt x="15" y="47"/>
                  </a:cubicBezTo>
                  <a:cubicBezTo>
                    <a:pt x="11" y="50"/>
                    <a:pt x="11" y="50"/>
                    <a:pt x="11" y="50"/>
                  </a:cubicBezTo>
                  <a:cubicBezTo>
                    <a:pt x="10" y="50"/>
                    <a:pt x="10" y="50"/>
                    <a:pt x="10" y="50"/>
                  </a:cubicBezTo>
                  <a:cubicBezTo>
                    <a:pt x="10" y="50"/>
                    <a:pt x="9" y="50"/>
                    <a:pt x="9" y="50"/>
                  </a:cubicBezTo>
                  <a:cubicBezTo>
                    <a:pt x="8" y="49"/>
                    <a:pt x="4" y="45"/>
                    <a:pt x="4" y="44"/>
                  </a:cubicBezTo>
                  <a:cubicBezTo>
                    <a:pt x="4" y="44"/>
                    <a:pt x="4" y="44"/>
                    <a:pt x="4" y="43"/>
                  </a:cubicBezTo>
                  <a:cubicBezTo>
                    <a:pt x="5" y="42"/>
                    <a:pt x="6" y="41"/>
                    <a:pt x="7" y="39"/>
                  </a:cubicBezTo>
                  <a:cubicBezTo>
                    <a:pt x="7" y="38"/>
                    <a:pt x="6" y="37"/>
                    <a:pt x="6" y="36"/>
                  </a:cubicBezTo>
                  <a:cubicBezTo>
                    <a:pt x="1" y="35"/>
                    <a:pt x="1" y="35"/>
                    <a:pt x="1" y="35"/>
                  </a:cubicBezTo>
                  <a:cubicBezTo>
                    <a:pt x="0" y="35"/>
                    <a:pt x="0" y="35"/>
                    <a:pt x="0" y="34"/>
                  </a:cubicBezTo>
                  <a:cubicBezTo>
                    <a:pt x="0" y="28"/>
                    <a:pt x="0" y="28"/>
                    <a:pt x="0" y="28"/>
                  </a:cubicBezTo>
                  <a:cubicBezTo>
                    <a:pt x="0" y="27"/>
                    <a:pt x="0" y="27"/>
                    <a:pt x="1" y="27"/>
                  </a:cubicBezTo>
                  <a:cubicBezTo>
                    <a:pt x="6" y="26"/>
                    <a:pt x="6" y="26"/>
                    <a:pt x="6" y="26"/>
                  </a:cubicBezTo>
                  <a:cubicBezTo>
                    <a:pt x="6" y="25"/>
                    <a:pt x="7" y="24"/>
                    <a:pt x="7" y="23"/>
                  </a:cubicBezTo>
                  <a:cubicBezTo>
                    <a:pt x="6" y="22"/>
                    <a:pt x="5" y="20"/>
                    <a:pt x="4" y="19"/>
                  </a:cubicBezTo>
                  <a:cubicBezTo>
                    <a:pt x="4" y="19"/>
                    <a:pt x="4" y="19"/>
                    <a:pt x="4" y="18"/>
                  </a:cubicBezTo>
                  <a:cubicBezTo>
                    <a:pt x="4" y="18"/>
                    <a:pt x="4" y="18"/>
                    <a:pt x="4" y="18"/>
                  </a:cubicBezTo>
                  <a:cubicBezTo>
                    <a:pt x="5" y="17"/>
                    <a:pt x="9" y="12"/>
                    <a:pt x="10" y="12"/>
                  </a:cubicBezTo>
                  <a:cubicBezTo>
                    <a:pt x="10" y="12"/>
                    <a:pt x="10" y="12"/>
                    <a:pt x="11" y="13"/>
                  </a:cubicBezTo>
                  <a:cubicBezTo>
                    <a:pt x="15" y="16"/>
                    <a:pt x="15" y="16"/>
                    <a:pt x="15" y="16"/>
                  </a:cubicBezTo>
                  <a:cubicBezTo>
                    <a:pt x="16" y="15"/>
                    <a:pt x="16" y="15"/>
                    <a:pt x="17" y="15"/>
                  </a:cubicBezTo>
                  <a:cubicBezTo>
                    <a:pt x="18" y="13"/>
                    <a:pt x="18" y="11"/>
                    <a:pt x="18" y="9"/>
                  </a:cubicBezTo>
                  <a:cubicBezTo>
                    <a:pt x="18" y="9"/>
                    <a:pt x="19" y="8"/>
                    <a:pt x="19" y="8"/>
                  </a:cubicBezTo>
                  <a:cubicBezTo>
                    <a:pt x="26" y="8"/>
                    <a:pt x="26" y="8"/>
                    <a:pt x="26" y="8"/>
                  </a:cubicBezTo>
                  <a:cubicBezTo>
                    <a:pt x="26" y="8"/>
                    <a:pt x="27" y="9"/>
                    <a:pt x="27" y="9"/>
                  </a:cubicBezTo>
                  <a:cubicBezTo>
                    <a:pt x="28" y="15"/>
                    <a:pt x="28" y="15"/>
                    <a:pt x="28" y="15"/>
                  </a:cubicBezTo>
                  <a:cubicBezTo>
                    <a:pt x="29" y="15"/>
                    <a:pt x="30" y="15"/>
                    <a:pt x="31" y="16"/>
                  </a:cubicBezTo>
                  <a:cubicBezTo>
                    <a:pt x="35" y="13"/>
                    <a:pt x="35" y="13"/>
                    <a:pt x="35" y="13"/>
                  </a:cubicBezTo>
                  <a:cubicBezTo>
                    <a:pt x="35" y="12"/>
                    <a:pt x="35" y="12"/>
                    <a:pt x="35" y="12"/>
                  </a:cubicBezTo>
                  <a:cubicBezTo>
                    <a:pt x="36" y="12"/>
                    <a:pt x="36" y="12"/>
                    <a:pt x="36" y="13"/>
                  </a:cubicBezTo>
                  <a:cubicBezTo>
                    <a:pt x="37" y="13"/>
                    <a:pt x="41" y="17"/>
                    <a:pt x="41" y="18"/>
                  </a:cubicBezTo>
                  <a:cubicBezTo>
                    <a:pt x="41" y="19"/>
                    <a:pt x="41" y="19"/>
                    <a:pt x="41" y="19"/>
                  </a:cubicBezTo>
                  <a:cubicBezTo>
                    <a:pt x="40" y="20"/>
                    <a:pt x="39" y="22"/>
                    <a:pt x="38" y="23"/>
                  </a:cubicBezTo>
                  <a:cubicBezTo>
                    <a:pt x="38" y="24"/>
                    <a:pt x="39" y="25"/>
                    <a:pt x="39" y="26"/>
                  </a:cubicBezTo>
                  <a:cubicBezTo>
                    <a:pt x="45" y="27"/>
                    <a:pt x="45" y="27"/>
                    <a:pt x="45" y="27"/>
                  </a:cubicBezTo>
                  <a:cubicBezTo>
                    <a:pt x="45" y="27"/>
                    <a:pt x="45" y="27"/>
                    <a:pt x="45" y="28"/>
                  </a:cubicBezTo>
                  <a:lnTo>
                    <a:pt x="45" y="35"/>
                  </a:lnTo>
                  <a:close/>
                  <a:moveTo>
                    <a:pt x="23" y="22"/>
                  </a:moveTo>
                  <a:cubicBezTo>
                    <a:pt x="18" y="22"/>
                    <a:pt x="13" y="26"/>
                    <a:pt x="13" y="31"/>
                  </a:cubicBezTo>
                  <a:cubicBezTo>
                    <a:pt x="13" y="36"/>
                    <a:pt x="18" y="40"/>
                    <a:pt x="23" y="40"/>
                  </a:cubicBezTo>
                  <a:cubicBezTo>
                    <a:pt x="28" y="40"/>
                    <a:pt x="32" y="36"/>
                    <a:pt x="32" y="31"/>
                  </a:cubicBezTo>
                  <a:cubicBezTo>
                    <a:pt x="32" y="26"/>
                    <a:pt x="28" y="22"/>
                    <a:pt x="23" y="22"/>
                  </a:cubicBezTo>
                  <a:close/>
                  <a:moveTo>
                    <a:pt x="68" y="15"/>
                  </a:moveTo>
                  <a:cubicBezTo>
                    <a:pt x="68" y="16"/>
                    <a:pt x="64" y="16"/>
                    <a:pt x="63" y="16"/>
                  </a:cubicBezTo>
                  <a:cubicBezTo>
                    <a:pt x="63" y="17"/>
                    <a:pt x="62" y="18"/>
                    <a:pt x="62" y="18"/>
                  </a:cubicBezTo>
                  <a:cubicBezTo>
                    <a:pt x="62" y="19"/>
                    <a:pt x="64" y="23"/>
                    <a:pt x="64" y="23"/>
                  </a:cubicBezTo>
                  <a:cubicBezTo>
                    <a:pt x="64" y="23"/>
                    <a:pt x="64" y="23"/>
                    <a:pt x="64" y="24"/>
                  </a:cubicBezTo>
                  <a:cubicBezTo>
                    <a:pt x="63" y="24"/>
                    <a:pt x="59" y="26"/>
                    <a:pt x="59" y="26"/>
                  </a:cubicBezTo>
                  <a:cubicBezTo>
                    <a:pt x="59" y="26"/>
                    <a:pt x="56" y="22"/>
                    <a:pt x="56" y="22"/>
                  </a:cubicBezTo>
                  <a:cubicBezTo>
                    <a:pt x="55" y="22"/>
                    <a:pt x="55" y="22"/>
                    <a:pt x="55" y="22"/>
                  </a:cubicBezTo>
                  <a:cubicBezTo>
                    <a:pt x="54" y="22"/>
                    <a:pt x="54" y="22"/>
                    <a:pt x="54" y="22"/>
                  </a:cubicBezTo>
                  <a:cubicBezTo>
                    <a:pt x="53" y="22"/>
                    <a:pt x="50" y="26"/>
                    <a:pt x="50" y="26"/>
                  </a:cubicBezTo>
                  <a:cubicBezTo>
                    <a:pt x="50" y="26"/>
                    <a:pt x="46" y="24"/>
                    <a:pt x="46" y="24"/>
                  </a:cubicBezTo>
                  <a:cubicBezTo>
                    <a:pt x="45" y="23"/>
                    <a:pt x="45" y="23"/>
                    <a:pt x="45" y="23"/>
                  </a:cubicBezTo>
                  <a:cubicBezTo>
                    <a:pt x="45" y="23"/>
                    <a:pt x="47" y="19"/>
                    <a:pt x="47" y="18"/>
                  </a:cubicBezTo>
                  <a:cubicBezTo>
                    <a:pt x="47" y="18"/>
                    <a:pt x="46" y="17"/>
                    <a:pt x="46" y="16"/>
                  </a:cubicBezTo>
                  <a:cubicBezTo>
                    <a:pt x="45" y="16"/>
                    <a:pt x="41" y="16"/>
                    <a:pt x="41" y="15"/>
                  </a:cubicBezTo>
                  <a:cubicBezTo>
                    <a:pt x="41" y="10"/>
                    <a:pt x="41" y="10"/>
                    <a:pt x="41" y="10"/>
                  </a:cubicBezTo>
                  <a:cubicBezTo>
                    <a:pt x="41" y="10"/>
                    <a:pt x="45" y="9"/>
                    <a:pt x="46" y="9"/>
                  </a:cubicBezTo>
                  <a:cubicBezTo>
                    <a:pt x="46" y="9"/>
                    <a:pt x="47" y="8"/>
                    <a:pt x="47" y="7"/>
                  </a:cubicBezTo>
                  <a:cubicBezTo>
                    <a:pt x="47" y="7"/>
                    <a:pt x="45" y="3"/>
                    <a:pt x="45" y="2"/>
                  </a:cubicBezTo>
                  <a:cubicBezTo>
                    <a:pt x="45" y="2"/>
                    <a:pt x="45" y="2"/>
                    <a:pt x="46" y="2"/>
                  </a:cubicBezTo>
                  <a:cubicBezTo>
                    <a:pt x="46" y="2"/>
                    <a:pt x="50" y="0"/>
                    <a:pt x="50" y="0"/>
                  </a:cubicBezTo>
                  <a:cubicBezTo>
                    <a:pt x="50" y="0"/>
                    <a:pt x="53" y="3"/>
                    <a:pt x="54" y="4"/>
                  </a:cubicBezTo>
                  <a:cubicBezTo>
                    <a:pt x="54" y="4"/>
                    <a:pt x="54" y="4"/>
                    <a:pt x="55" y="4"/>
                  </a:cubicBezTo>
                  <a:cubicBezTo>
                    <a:pt x="55" y="4"/>
                    <a:pt x="55" y="4"/>
                    <a:pt x="56" y="4"/>
                  </a:cubicBezTo>
                  <a:cubicBezTo>
                    <a:pt x="57" y="2"/>
                    <a:pt x="58" y="1"/>
                    <a:pt x="59" y="0"/>
                  </a:cubicBezTo>
                  <a:cubicBezTo>
                    <a:pt x="59" y="0"/>
                    <a:pt x="59" y="0"/>
                    <a:pt x="59" y="0"/>
                  </a:cubicBezTo>
                  <a:cubicBezTo>
                    <a:pt x="59" y="0"/>
                    <a:pt x="63" y="2"/>
                    <a:pt x="64" y="2"/>
                  </a:cubicBezTo>
                  <a:cubicBezTo>
                    <a:pt x="64" y="2"/>
                    <a:pt x="64" y="2"/>
                    <a:pt x="64" y="2"/>
                  </a:cubicBezTo>
                  <a:cubicBezTo>
                    <a:pt x="64" y="3"/>
                    <a:pt x="62" y="7"/>
                    <a:pt x="62" y="7"/>
                  </a:cubicBezTo>
                  <a:cubicBezTo>
                    <a:pt x="62" y="8"/>
                    <a:pt x="63" y="9"/>
                    <a:pt x="63" y="9"/>
                  </a:cubicBezTo>
                  <a:cubicBezTo>
                    <a:pt x="64" y="9"/>
                    <a:pt x="68" y="10"/>
                    <a:pt x="68" y="10"/>
                  </a:cubicBezTo>
                  <a:lnTo>
                    <a:pt x="68" y="15"/>
                  </a:lnTo>
                  <a:close/>
                  <a:moveTo>
                    <a:pt x="68" y="52"/>
                  </a:moveTo>
                  <a:cubicBezTo>
                    <a:pt x="68" y="52"/>
                    <a:pt x="64" y="53"/>
                    <a:pt x="63" y="53"/>
                  </a:cubicBezTo>
                  <a:cubicBezTo>
                    <a:pt x="63" y="54"/>
                    <a:pt x="62" y="54"/>
                    <a:pt x="62" y="55"/>
                  </a:cubicBezTo>
                  <a:cubicBezTo>
                    <a:pt x="62" y="56"/>
                    <a:pt x="64" y="59"/>
                    <a:pt x="64" y="60"/>
                  </a:cubicBezTo>
                  <a:cubicBezTo>
                    <a:pt x="64" y="60"/>
                    <a:pt x="64" y="60"/>
                    <a:pt x="64" y="60"/>
                  </a:cubicBezTo>
                  <a:cubicBezTo>
                    <a:pt x="63" y="60"/>
                    <a:pt x="59" y="63"/>
                    <a:pt x="59" y="63"/>
                  </a:cubicBezTo>
                  <a:cubicBezTo>
                    <a:pt x="59" y="63"/>
                    <a:pt x="56" y="59"/>
                    <a:pt x="56" y="59"/>
                  </a:cubicBezTo>
                  <a:cubicBezTo>
                    <a:pt x="55" y="59"/>
                    <a:pt x="55" y="59"/>
                    <a:pt x="55" y="59"/>
                  </a:cubicBezTo>
                  <a:cubicBezTo>
                    <a:pt x="54" y="59"/>
                    <a:pt x="54" y="59"/>
                    <a:pt x="54" y="59"/>
                  </a:cubicBezTo>
                  <a:cubicBezTo>
                    <a:pt x="53" y="59"/>
                    <a:pt x="50" y="63"/>
                    <a:pt x="50" y="63"/>
                  </a:cubicBezTo>
                  <a:cubicBezTo>
                    <a:pt x="50" y="63"/>
                    <a:pt x="46" y="60"/>
                    <a:pt x="46" y="60"/>
                  </a:cubicBezTo>
                  <a:cubicBezTo>
                    <a:pt x="45" y="60"/>
                    <a:pt x="45" y="60"/>
                    <a:pt x="45" y="60"/>
                  </a:cubicBezTo>
                  <a:cubicBezTo>
                    <a:pt x="45" y="59"/>
                    <a:pt x="47" y="56"/>
                    <a:pt x="47" y="55"/>
                  </a:cubicBezTo>
                  <a:cubicBezTo>
                    <a:pt x="47" y="54"/>
                    <a:pt x="46" y="54"/>
                    <a:pt x="46" y="53"/>
                  </a:cubicBezTo>
                  <a:cubicBezTo>
                    <a:pt x="45" y="53"/>
                    <a:pt x="41" y="52"/>
                    <a:pt x="41" y="52"/>
                  </a:cubicBezTo>
                  <a:cubicBezTo>
                    <a:pt x="41" y="47"/>
                    <a:pt x="41" y="47"/>
                    <a:pt x="41" y="47"/>
                  </a:cubicBezTo>
                  <a:cubicBezTo>
                    <a:pt x="41" y="46"/>
                    <a:pt x="45" y="46"/>
                    <a:pt x="46" y="46"/>
                  </a:cubicBezTo>
                  <a:cubicBezTo>
                    <a:pt x="46" y="45"/>
                    <a:pt x="47" y="45"/>
                    <a:pt x="47" y="44"/>
                  </a:cubicBezTo>
                  <a:cubicBezTo>
                    <a:pt x="47" y="43"/>
                    <a:pt x="45" y="40"/>
                    <a:pt x="45" y="39"/>
                  </a:cubicBezTo>
                  <a:cubicBezTo>
                    <a:pt x="45" y="39"/>
                    <a:pt x="45" y="39"/>
                    <a:pt x="46" y="39"/>
                  </a:cubicBezTo>
                  <a:cubicBezTo>
                    <a:pt x="46" y="39"/>
                    <a:pt x="50" y="36"/>
                    <a:pt x="50" y="36"/>
                  </a:cubicBezTo>
                  <a:cubicBezTo>
                    <a:pt x="50" y="36"/>
                    <a:pt x="53" y="40"/>
                    <a:pt x="54" y="40"/>
                  </a:cubicBezTo>
                  <a:cubicBezTo>
                    <a:pt x="54" y="40"/>
                    <a:pt x="54" y="40"/>
                    <a:pt x="55" y="40"/>
                  </a:cubicBezTo>
                  <a:cubicBezTo>
                    <a:pt x="55" y="40"/>
                    <a:pt x="55" y="40"/>
                    <a:pt x="56" y="40"/>
                  </a:cubicBezTo>
                  <a:cubicBezTo>
                    <a:pt x="57" y="39"/>
                    <a:pt x="58" y="38"/>
                    <a:pt x="59" y="36"/>
                  </a:cubicBezTo>
                  <a:cubicBezTo>
                    <a:pt x="59" y="36"/>
                    <a:pt x="59" y="36"/>
                    <a:pt x="59" y="36"/>
                  </a:cubicBezTo>
                  <a:cubicBezTo>
                    <a:pt x="59" y="36"/>
                    <a:pt x="63" y="39"/>
                    <a:pt x="64" y="39"/>
                  </a:cubicBezTo>
                  <a:cubicBezTo>
                    <a:pt x="64" y="39"/>
                    <a:pt x="64" y="39"/>
                    <a:pt x="64" y="39"/>
                  </a:cubicBezTo>
                  <a:cubicBezTo>
                    <a:pt x="64" y="40"/>
                    <a:pt x="62" y="43"/>
                    <a:pt x="62" y="44"/>
                  </a:cubicBezTo>
                  <a:cubicBezTo>
                    <a:pt x="62" y="45"/>
                    <a:pt x="63" y="45"/>
                    <a:pt x="63" y="46"/>
                  </a:cubicBezTo>
                  <a:cubicBezTo>
                    <a:pt x="64" y="46"/>
                    <a:pt x="68" y="46"/>
                    <a:pt x="68" y="47"/>
                  </a:cubicBezTo>
                  <a:lnTo>
                    <a:pt x="68" y="52"/>
                  </a:lnTo>
                  <a:close/>
                  <a:moveTo>
                    <a:pt x="55" y="8"/>
                  </a:moveTo>
                  <a:cubicBezTo>
                    <a:pt x="52" y="8"/>
                    <a:pt x="50" y="10"/>
                    <a:pt x="50" y="13"/>
                  </a:cubicBezTo>
                  <a:cubicBezTo>
                    <a:pt x="50" y="15"/>
                    <a:pt x="52" y="17"/>
                    <a:pt x="55" y="17"/>
                  </a:cubicBezTo>
                  <a:cubicBezTo>
                    <a:pt x="57" y="17"/>
                    <a:pt x="59" y="15"/>
                    <a:pt x="59" y="13"/>
                  </a:cubicBezTo>
                  <a:cubicBezTo>
                    <a:pt x="59" y="10"/>
                    <a:pt x="57" y="8"/>
                    <a:pt x="55" y="8"/>
                  </a:cubicBezTo>
                  <a:close/>
                  <a:moveTo>
                    <a:pt x="55" y="45"/>
                  </a:moveTo>
                  <a:cubicBezTo>
                    <a:pt x="52" y="45"/>
                    <a:pt x="50" y="47"/>
                    <a:pt x="50" y="49"/>
                  </a:cubicBezTo>
                  <a:cubicBezTo>
                    <a:pt x="50" y="52"/>
                    <a:pt x="52" y="54"/>
                    <a:pt x="55" y="54"/>
                  </a:cubicBezTo>
                  <a:cubicBezTo>
                    <a:pt x="57" y="54"/>
                    <a:pt x="59" y="52"/>
                    <a:pt x="59" y="49"/>
                  </a:cubicBezTo>
                  <a:cubicBezTo>
                    <a:pt x="59" y="47"/>
                    <a:pt x="57" y="45"/>
                    <a:pt x="55" y="45"/>
                  </a:cubicBezTo>
                  <a:close/>
                </a:path>
              </a:pathLst>
            </a:custGeom>
            <a:solidFill>
              <a:schemeClr val="bg1"/>
            </a:solidFill>
            <a:ln w="9525">
              <a:noFill/>
              <a:round/>
            </a:ln>
          </p:spPr>
          <p:txBody>
            <a:bodyPr wrap="square" lIns="68580" tIns="34290" rIns="68580" bIns="34290" anchor="ctr">
              <a:normAutofit lnSpcReduction="10000"/>
            </a:bodyPr>
            <a:lstStyle/>
            <a:p>
              <a:pPr algn="ctr"/>
              <a:endParaRPr sz="1800"/>
            </a:p>
          </p:txBody>
        </p:sp>
        <p:sp>
          <p:nvSpPr>
            <p:cNvPr id="50" name="íṡļíďé"/>
            <p:cNvSpPr/>
            <p:nvPr/>
          </p:nvSpPr>
          <p:spPr bwMode="auto">
            <a:xfrm>
              <a:off x="6981915" y="2425226"/>
              <a:ext cx="344780" cy="297312"/>
            </a:xfrm>
            <a:custGeom>
              <a:avLst/>
              <a:gdLst/>
              <a:ahLst/>
              <a:cxnLst>
                <a:cxn ang="0">
                  <a:pos x="64" y="51"/>
                </a:cxn>
                <a:cxn ang="0">
                  <a:pos x="60" y="55"/>
                </a:cxn>
                <a:cxn ang="0">
                  <a:pos x="49" y="55"/>
                </a:cxn>
                <a:cxn ang="0">
                  <a:pos x="45" y="51"/>
                </a:cxn>
                <a:cxn ang="0">
                  <a:pos x="45" y="40"/>
                </a:cxn>
                <a:cxn ang="0">
                  <a:pos x="49" y="36"/>
                </a:cxn>
                <a:cxn ang="0">
                  <a:pos x="52" y="36"/>
                </a:cxn>
                <a:cxn ang="0">
                  <a:pos x="52" y="30"/>
                </a:cxn>
                <a:cxn ang="0">
                  <a:pos x="34" y="30"/>
                </a:cxn>
                <a:cxn ang="0">
                  <a:pos x="34" y="36"/>
                </a:cxn>
                <a:cxn ang="0">
                  <a:pos x="37" y="36"/>
                </a:cxn>
                <a:cxn ang="0">
                  <a:pos x="41" y="40"/>
                </a:cxn>
                <a:cxn ang="0">
                  <a:pos x="41" y="51"/>
                </a:cxn>
                <a:cxn ang="0">
                  <a:pos x="37" y="55"/>
                </a:cxn>
                <a:cxn ang="0">
                  <a:pos x="26" y="55"/>
                </a:cxn>
                <a:cxn ang="0">
                  <a:pos x="23" y="51"/>
                </a:cxn>
                <a:cxn ang="0">
                  <a:pos x="23" y="40"/>
                </a:cxn>
                <a:cxn ang="0">
                  <a:pos x="26" y="36"/>
                </a:cxn>
                <a:cxn ang="0">
                  <a:pos x="29" y="36"/>
                </a:cxn>
                <a:cxn ang="0">
                  <a:pos x="29" y="30"/>
                </a:cxn>
                <a:cxn ang="0">
                  <a:pos x="11" y="30"/>
                </a:cxn>
                <a:cxn ang="0">
                  <a:pos x="11" y="36"/>
                </a:cxn>
                <a:cxn ang="0">
                  <a:pos x="15" y="36"/>
                </a:cxn>
                <a:cxn ang="0">
                  <a:pos x="18" y="40"/>
                </a:cxn>
                <a:cxn ang="0">
                  <a:pos x="18" y="51"/>
                </a:cxn>
                <a:cxn ang="0">
                  <a:pos x="15" y="55"/>
                </a:cxn>
                <a:cxn ang="0">
                  <a:pos x="3" y="55"/>
                </a:cxn>
                <a:cxn ang="0">
                  <a:pos x="0" y="51"/>
                </a:cxn>
                <a:cxn ang="0">
                  <a:pos x="0" y="40"/>
                </a:cxn>
                <a:cxn ang="0">
                  <a:pos x="3" y="36"/>
                </a:cxn>
                <a:cxn ang="0">
                  <a:pos x="7" y="36"/>
                </a:cxn>
                <a:cxn ang="0">
                  <a:pos x="7" y="30"/>
                </a:cxn>
                <a:cxn ang="0">
                  <a:pos x="11" y="25"/>
                </a:cxn>
                <a:cxn ang="0">
                  <a:pos x="29" y="25"/>
                </a:cxn>
                <a:cxn ang="0">
                  <a:pos x="29" y="18"/>
                </a:cxn>
                <a:cxn ang="0">
                  <a:pos x="26" y="18"/>
                </a:cxn>
                <a:cxn ang="0">
                  <a:pos x="23" y="15"/>
                </a:cxn>
                <a:cxn ang="0">
                  <a:pos x="23" y="3"/>
                </a:cxn>
                <a:cxn ang="0">
                  <a:pos x="26" y="0"/>
                </a:cxn>
                <a:cxn ang="0">
                  <a:pos x="37" y="0"/>
                </a:cxn>
                <a:cxn ang="0">
                  <a:pos x="41" y="3"/>
                </a:cxn>
                <a:cxn ang="0">
                  <a:pos x="41" y="15"/>
                </a:cxn>
                <a:cxn ang="0">
                  <a:pos x="37" y="18"/>
                </a:cxn>
                <a:cxn ang="0">
                  <a:pos x="34" y="18"/>
                </a:cxn>
                <a:cxn ang="0">
                  <a:pos x="34" y="25"/>
                </a:cxn>
                <a:cxn ang="0">
                  <a:pos x="52" y="25"/>
                </a:cxn>
                <a:cxn ang="0">
                  <a:pos x="57" y="30"/>
                </a:cxn>
                <a:cxn ang="0">
                  <a:pos x="57" y="36"/>
                </a:cxn>
                <a:cxn ang="0">
                  <a:pos x="60" y="36"/>
                </a:cxn>
                <a:cxn ang="0">
                  <a:pos x="64" y="40"/>
                </a:cxn>
                <a:cxn ang="0">
                  <a:pos x="64" y="51"/>
                </a:cxn>
              </a:cxnLst>
              <a:rect l="0" t="0" r="r" b="b"/>
              <a:pathLst>
                <a:path w="64" h="55">
                  <a:moveTo>
                    <a:pt x="64" y="51"/>
                  </a:moveTo>
                  <a:cubicBezTo>
                    <a:pt x="64" y="53"/>
                    <a:pt x="62" y="55"/>
                    <a:pt x="60" y="55"/>
                  </a:cubicBezTo>
                  <a:cubicBezTo>
                    <a:pt x="49" y="55"/>
                    <a:pt x="49" y="55"/>
                    <a:pt x="49" y="55"/>
                  </a:cubicBezTo>
                  <a:cubicBezTo>
                    <a:pt x="47" y="55"/>
                    <a:pt x="45" y="53"/>
                    <a:pt x="45" y="51"/>
                  </a:cubicBezTo>
                  <a:cubicBezTo>
                    <a:pt x="45" y="40"/>
                    <a:pt x="45" y="40"/>
                    <a:pt x="45" y="40"/>
                  </a:cubicBezTo>
                  <a:cubicBezTo>
                    <a:pt x="45" y="38"/>
                    <a:pt x="47" y="36"/>
                    <a:pt x="49" y="36"/>
                  </a:cubicBezTo>
                  <a:cubicBezTo>
                    <a:pt x="52" y="36"/>
                    <a:pt x="52" y="36"/>
                    <a:pt x="52" y="36"/>
                  </a:cubicBezTo>
                  <a:cubicBezTo>
                    <a:pt x="52" y="30"/>
                    <a:pt x="52" y="30"/>
                    <a:pt x="52" y="30"/>
                  </a:cubicBezTo>
                  <a:cubicBezTo>
                    <a:pt x="34" y="30"/>
                    <a:pt x="34" y="30"/>
                    <a:pt x="34" y="30"/>
                  </a:cubicBezTo>
                  <a:cubicBezTo>
                    <a:pt x="34" y="36"/>
                    <a:pt x="34" y="36"/>
                    <a:pt x="34" y="36"/>
                  </a:cubicBezTo>
                  <a:cubicBezTo>
                    <a:pt x="37" y="36"/>
                    <a:pt x="37" y="36"/>
                    <a:pt x="37" y="36"/>
                  </a:cubicBezTo>
                  <a:cubicBezTo>
                    <a:pt x="39" y="36"/>
                    <a:pt x="41" y="38"/>
                    <a:pt x="41" y="40"/>
                  </a:cubicBezTo>
                  <a:cubicBezTo>
                    <a:pt x="41" y="51"/>
                    <a:pt x="41" y="51"/>
                    <a:pt x="41" y="51"/>
                  </a:cubicBezTo>
                  <a:cubicBezTo>
                    <a:pt x="41" y="53"/>
                    <a:pt x="39" y="55"/>
                    <a:pt x="37" y="55"/>
                  </a:cubicBezTo>
                  <a:cubicBezTo>
                    <a:pt x="26" y="55"/>
                    <a:pt x="26" y="55"/>
                    <a:pt x="26" y="55"/>
                  </a:cubicBezTo>
                  <a:cubicBezTo>
                    <a:pt x="24" y="55"/>
                    <a:pt x="23" y="53"/>
                    <a:pt x="23" y="51"/>
                  </a:cubicBezTo>
                  <a:cubicBezTo>
                    <a:pt x="23" y="40"/>
                    <a:pt x="23" y="40"/>
                    <a:pt x="23" y="40"/>
                  </a:cubicBezTo>
                  <a:cubicBezTo>
                    <a:pt x="23" y="38"/>
                    <a:pt x="24" y="36"/>
                    <a:pt x="26" y="36"/>
                  </a:cubicBezTo>
                  <a:cubicBezTo>
                    <a:pt x="29" y="36"/>
                    <a:pt x="29" y="36"/>
                    <a:pt x="29" y="36"/>
                  </a:cubicBezTo>
                  <a:cubicBezTo>
                    <a:pt x="29" y="30"/>
                    <a:pt x="29" y="30"/>
                    <a:pt x="29" y="30"/>
                  </a:cubicBezTo>
                  <a:cubicBezTo>
                    <a:pt x="11" y="30"/>
                    <a:pt x="11" y="30"/>
                    <a:pt x="11" y="30"/>
                  </a:cubicBezTo>
                  <a:cubicBezTo>
                    <a:pt x="11" y="36"/>
                    <a:pt x="11" y="36"/>
                    <a:pt x="11" y="36"/>
                  </a:cubicBezTo>
                  <a:cubicBezTo>
                    <a:pt x="15" y="36"/>
                    <a:pt x="15" y="36"/>
                    <a:pt x="15" y="36"/>
                  </a:cubicBezTo>
                  <a:cubicBezTo>
                    <a:pt x="17" y="36"/>
                    <a:pt x="18" y="38"/>
                    <a:pt x="18" y="40"/>
                  </a:cubicBezTo>
                  <a:cubicBezTo>
                    <a:pt x="18" y="51"/>
                    <a:pt x="18" y="51"/>
                    <a:pt x="18" y="51"/>
                  </a:cubicBezTo>
                  <a:cubicBezTo>
                    <a:pt x="18" y="53"/>
                    <a:pt x="17" y="55"/>
                    <a:pt x="15" y="55"/>
                  </a:cubicBezTo>
                  <a:cubicBezTo>
                    <a:pt x="3" y="55"/>
                    <a:pt x="3" y="55"/>
                    <a:pt x="3" y="55"/>
                  </a:cubicBezTo>
                  <a:cubicBezTo>
                    <a:pt x="1" y="55"/>
                    <a:pt x="0" y="53"/>
                    <a:pt x="0" y="51"/>
                  </a:cubicBezTo>
                  <a:cubicBezTo>
                    <a:pt x="0" y="40"/>
                    <a:pt x="0" y="40"/>
                    <a:pt x="0" y="40"/>
                  </a:cubicBezTo>
                  <a:cubicBezTo>
                    <a:pt x="0" y="38"/>
                    <a:pt x="1" y="36"/>
                    <a:pt x="3" y="36"/>
                  </a:cubicBezTo>
                  <a:cubicBezTo>
                    <a:pt x="7" y="36"/>
                    <a:pt x="7" y="36"/>
                    <a:pt x="7" y="36"/>
                  </a:cubicBezTo>
                  <a:cubicBezTo>
                    <a:pt x="7" y="30"/>
                    <a:pt x="7" y="30"/>
                    <a:pt x="7" y="30"/>
                  </a:cubicBezTo>
                  <a:cubicBezTo>
                    <a:pt x="7" y="27"/>
                    <a:pt x="9" y="25"/>
                    <a:pt x="11" y="25"/>
                  </a:cubicBezTo>
                  <a:cubicBezTo>
                    <a:pt x="29" y="25"/>
                    <a:pt x="29" y="25"/>
                    <a:pt x="29" y="25"/>
                  </a:cubicBezTo>
                  <a:cubicBezTo>
                    <a:pt x="29" y="18"/>
                    <a:pt x="29" y="18"/>
                    <a:pt x="29" y="18"/>
                  </a:cubicBezTo>
                  <a:cubicBezTo>
                    <a:pt x="26" y="18"/>
                    <a:pt x="26" y="18"/>
                    <a:pt x="26" y="18"/>
                  </a:cubicBezTo>
                  <a:cubicBezTo>
                    <a:pt x="24" y="18"/>
                    <a:pt x="23" y="17"/>
                    <a:pt x="23" y="15"/>
                  </a:cubicBezTo>
                  <a:cubicBezTo>
                    <a:pt x="23" y="3"/>
                    <a:pt x="23" y="3"/>
                    <a:pt x="23" y="3"/>
                  </a:cubicBezTo>
                  <a:cubicBezTo>
                    <a:pt x="23" y="1"/>
                    <a:pt x="24" y="0"/>
                    <a:pt x="26" y="0"/>
                  </a:cubicBezTo>
                  <a:cubicBezTo>
                    <a:pt x="37" y="0"/>
                    <a:pt x="37" y="0"/>
                    <a:pt x="37" y="0"/>
                  </a:cubicBezTo>
                  <a:cubicBezTo>
                    <a:pt x="39" y="0"/>
                    <a:pt x="41" y="1"/>
                    <a:pt x="41" y="3"/>
                  </a:cubicBezTo>
                  <a:cubicBezTo>
                    <a:pt x="41" y="15"/>
                    <a:pt x="41" y="15"/>
                    <a:pt x="41" y="15"/>
                  </a:cubicBezTo>
                  <a:cubicBezTo>
                    <a:pt x="41" y="17"/>
                    <a:pt x="39" y="18"/>
                    <a:pt x="37" y="18"/>
                  </a:cubicBezTo>
                  <a:cubicBezTo>
                    <a:pt x="34" y="18"/>
                    <a:pt x="34" y="18"/>
                    <a:pt x="34" y="18"/>
                  </a:cubicBezTo>
                  <a:cubicBezTo>
                    <a:pt x="34" y="25"/>
                    <a:pt x="34" y="25"/>
                    <a:pt x="34" y="25"/>
                  </a:cubicBezTo>
                  <a:cubicBezTo>
                    <a:pt x="52" y="25"/>
                    <a:pt x="52" y="25"/>
                    <a:pt x="52" y="25"/>
                  </a:cubicBezTo>
                  <a:cubicBezTo>
                    <a:pt x="55" y="25"/>
                    <a:pt x="57" y="27"/>
                    <a:pt x="57" y="30"/>
                  </a:cubicBezTo>
                  <a:cubicBezTo>
                    <a:pt x="57" y="36"/>
                    <a:pt x="57" y="36"/>
                    <a:pt x="57" y="36"/>
                  </a:cubicBezTo>
                  <a:cubicBezTo>
                    <a:pt x="60" y="36"/>
                    <a:pt x="60" y="36"/>
                    <a:pt x="60" y="36"/>
                  </a:cubicBezTo>
                  <a:cubicBezTo>
                    <a:pt x="62" y="36"/>
                    <a:pt x="64" y="38"/>
                    <a:pt x="64" y="40"/>
                  </a:cubicBezTo>
                  <a:lnTo>
                    <a:pt x="64" y="51"/>
                  </a:lnTo>
                  <a:close/>
                </a:path>
              </a:pathLst>
            </a:custGeom>
            <a:solidFill>
              <a:schemeClr val="bg1"/>
            </a:solidFill>
            <a:ln w="9525">
              <a:noFill/>
              <a:round/>
            </a:ln>
          </p:spPr>
          <p:txBody>
            <a:bodyPr wrap="square" lIns="68580" tIns="34290" rIns="68580" bIns="34290" anchor="ctr">
              <a:normAutofit fontScale="85000" lnSpcReduction="10000"/>
            </a:bodyPr>
            <a:lstStyle/>
            <a:p>
              <a:pPr algn="ctr"/>
              <a:endParaRPr sz="1800"/>
            </a:p>
          </p:txBody>
        </p:sp>
        <p:sp>
          <p:nvSpPr>
            <p:cNvPr id="51" name="îSľîďé"/>
            <p:cNvSpPr/>
            <p:nvPr/>
          </p:nvSpPr>
          <p:spPr bwMode="auto">
            <a:xfrm>
              <a:off x="4842970" y="4558830"/>
              <a:ext cx="389450" cy="288776"/>
            </a:xfrm>
            <a:custGeom>
              <a:avLst/>
              <a:gdLst/>
              <a:ahLst/>
              <a:cxnLst>
                <a:cxn ang="0">
                  <a:pos x="55" y="50"/>
                </a:cxn>
                <a:cxn ang="0">
                  <a:pos x="16" y="50"/>
                </a:cxn>
                <a:cxn ang="0">
                  <a:pos x="0" y="34"/>
                </a:cxn>
                <a:cxn ang="0">
                  <a:pos x="9" y="20"/>
                </a:cxn>
                <a:cxn ang="0">
                  <a:pos x="9" y="18"/>
                </a:cxn>
                <a:cxn ang="0">
                  <a:pos x="27" y="0"/>
                </a:cxn>
                <a:cxn ang="0">
                  <a:pos x="44" y="11"/>
                </a:cxn>
                <a:cxn ang="0">
                  <a:pos x="50" y="9"/>
                </a:cxn>
                <a:cxn ang="0">
                  <a:pos x="59" y="18"/>
                </a:cxn>
                <a:cxn ang="0">
                  <a:pos x="58" y="23"/>
                </a:cxn>
                <a:cxn ang="0">
                  <a:pos x="68" y="36"/>
                </a:cxn>
                <a:cxn ang="0">
                  <a:pos x="55" y="50"/>
                </a:cxn>
                <a:cxn ang="0">
                  <a:pos x="45" y="25"/>
                </a:cxn>
                <a:cxn ang="0">
                  <a:pos x="33" y="13"/>
                </a:cxn>
                <a:cxn ang="0">
                  <a:pos x="32" y="12"/>
                </a:cxn>
                <a:cxn ang="0">
                  <a:pos x="31" y="13"/>
                </a:cxn>
                <a:cxn ang="0">
                  <a:pos x="18" y="25"/>
                </a:cxn>
                <a:cxn ang="0">
                  <a:pos x="18" y="26"/>
                </a:cxn>
                <a:cxn ang="0">
                  <a:pos x="19" y="27"/>
                </a:cxn>
                <a:cxn ang="0">
                  <a:pos x="27" y="27"/>
                </a:cxn>
                <a:cxn ang="0">
                  <a:pos x="27" y="40"/>
                </a:cxn>
                <a:cxn ang="0">
                  <a:pos x="28" y="41"/>
                </a:cxn>
                <a:cxn ang="0">
                  <a:pos x="35" y="41"/>
                </a:cxn>
                <a:cxn ang="0">
                  <a:pos x="36" y="40"/>
                </a:cxn>
                <a:cxn ang="0">
                  <a:pos x="36" y="27"/>
                </a:cxn>
                <a:cxn ang="0">
                  <a:pos x="44" y="27"/>
                </a:cxn>
                <a:cxn ang="0">
                  <a:pos x="45" y="26"/>
                </a:cxn>
                <a:cxn ang="0">
                  <a:pos x="45" y="25"/>
                </a:cxn>
              </a:cxnLst>
              <a:rect l="0" t="0" r="r" b="b"/>
              <a:pathLst>
                <a:path w="68" h="50">
                  <a:moveTo>
                    <a:pt x="55" y="50"/>
                  </a:moveTo>
                  <a:cubicBezTo>
                    <a:pt x="16" y="50"/>
                    <a:pt x="16" y="50"/>
                    <a:pt x="16" y="50"/>
                  </a:cubicBezTo>
                  <a:cubicBezTo>
                    <a:pt x="7" y="50"/>
                    <a:pt x="0" y="43"/>
                    <a:pt x="0" y="34"/>
                  </a:cubicBezTo>
                  <a:cubicBezTo>
                    <a:pt x="0" y="28"/>
                    <a:pt x="3" y="22"/>
                    <a:pt x="9" y="20"/>
                  </a:cubicBezTo>
                  <a:cubicBezTo>
                    <a:pt x="9" y="19"/>
                    <a:pt x="9" y="19"/>
                    <a:pt x="9" y="18"/>
                  </a:cubicBezTo>
                  <a:cubicBezTo>
                    <a:pt x="9" y="8"/>
                    <a:pt x="17" y="0"/>
                    <a:pt x="27" y="0"/>
                  </a:cubicBezTo>
                  <a:cubicBezTo>
                    <a:pt x="35" y="0"/>
                    <a:pt x="41" y="4"/>
                    <a:pt x="44" y="11"/>
                  </a:cubicBezTo>
                  <a:cubicBezTo>
                    <a:pt x="46" y="10"/>
                    <a:pt x="48" y="9"/>
                    <a:pt x="50" y="9"/>
                  </a:cubicBezTo>
                  <a:cubicBezTo>
                    <a:pt x="55" y="9"/>
                    <a:pt x="59" y="13"/>
                    <a:pt x="59" y="18"/>
                  </a:cubicBezTo>
                  <a:cubicBezTo>
                    <a:pt x="59" y="20"/>
                    <a:pt x="59" y="22"/>
                    <a:pt x="58" y="23"/>
                  </a:cubicBezTo>
                  <a:cubicBezTo>
                    <a:pt x="64" y="25"/>
                    <a:pt x="68" y="30"/>
                    <a:pt x="68" y="36"/>
                  </a:cubicBezTo>
                  <a:cubicBezTo>
                    <a:pt x="68" y="44"/>
                    <a:pt x="62" y="50"/>
                    <a:pt x="55" y="50"/>
                  </a:cubicBezTo>
                  <a:close/>
                  <a:moveTo>
                    <a:pt x="45" y="25"/>
                  </a:moveTo>
                  <a:cubicBezTo>
                    <a:pt x="33" y="13"/>
                    <a:pt x="33" y="13"/>
                    <a:pt x="33" y="13"/>
                  </a:cubicBezTo>
                  <a:cubicBezTo>
                    <a:pt x="32" y="13"/>
                    <a:pt x="32" y="12"/>
                    <a:pt x="32" y="12"/>
                  </a:cubicBezTo>
                  <a:cubicBezTo>
                    <a:pt x="31" y="12"/>
                    <a:pt x="31" y="13"/>
                    <a:pt x="31" y="13"/>
                  </a:cubicBezTo>
                  <a:cubicBezTo>
                    <a:pt x="18" y="25"/>
                    <a:pt x="18" y="25"/>
                    <a:pt x="18" y="25"/>
                  </a:cubicBezTo>
                  <a:cubicBezTo>
                    <a:pt x="18" y="26"/>
                    <a:pt x="18" y="26"/>
                    <a:pt x="18" y="26"/>
                  </a:cubicBezTo>
                  <a:cubicBezTo>
                    <a:pt x="18" y="27"/>
                    <a:pt x="19" y="27"/>
                    <a:pt x="19" y="27"/>
                  </a:cubicBezTo>
                  <a:cubicBezTo>
                    <a:pt x="27" y="27"/>
                    <a:pt x="27" y="27"/>
                    <a:pt x="27" y="27"/>
                  </a:cubicBezTo>
                  <a:cubicBezTo>
                    <a:pt x="27" y="40"/>
                    <a:pt x="27" y="40"/>
                    <a:pt x="27" y="40"/>
                  </a:cubicBezTo>
                  <a:cubicBezTo>
                    <a:pt x="27" y="41"/>
                    <a:pt x="28" y="41"/>
                    <a:pt x="28" y="41"/>
                  </a:cubicBezTo>
                  <a:cubicBezTo>
                    <a:pt x="35" y="41"/>
                    <a:pt x="35" y="41"/>
                    <a:pt x="35" y="41"/>
                  </a:cubicBezTo>
                  <a:cubicBezTo>
                    <a:pt x="36" y="41"/>
                    <a:pt x="36" y="41"/>
                    <a:pt x="36" y="40"/>
                  </a:cubicBezTo>
                  <a:cubicBezTo>
                    <a:pt x="36" y="27"/>
                    <a:pt x="36" y="27"/>
                    <a:pt x="36" y="27"/>
                  </a:cubicBezTo>
                  <a:cubicBezTo>
                    <a:pt x="44" y="27"/>
                    <a:pt x="44" y="27"/>
                    <a:pt x="44" y="27"/>
                  </a:cubicBezTo>
                  <a:cubicBezTo>
                    <a:pt x="45" y="27"/>
                    <a:pt x="45" y="27"/>
                    <a:pt x="45" y="26"/>
                  </a:cubicBezTo>
                  <a:cubicBezTo>
                    <a:pt x="45" y="26"/>
                    <a:pt x="45" y="26"/>
                    <a:pt x="45" y="25"/>
                  </a:cubicBezTo>
                  <a:close/>
                </a:path>
              </a:pathLst>
            </a:custGeom>
            <a:solidFill>
              <a:schemeClr val="bg1"/>
            </a:solidFill>
            <a:ln w="9525">
              <a:noFill/>
              <a:round/>
            </a:ln>
          </p:spPr>
          <p:txBody>
            <a:bodyPr wrap="square" lIns="68580" tIns="34290" rIns="68580" bIns="34290" anchor="ctr">
              <a:normAutofit fontScale="85000" lnSpcReduction="20000"/>
            </a:bodyPr>
            <a:lstStyle/>
            <a:p>
              <a:pPr algn="ctr"/>
              <a:endParaRPr sz="1800"/>
            </a:p>
          </p:txBody>
        </p:sp>
        <p:sp>
          <p:nvSpPr>
            <p:cNvPr id="52" name="iślîḓe"/>
            <p:cNvSpPr/>
            <p:nvPr/>
          </p:nvSpPr>
          <p:spPr bwMode="auto">
            <a:xfrm>
              <a:off x="6975620" y="4538370"/>
              <a:ext cx="367268" cy="319796"/>
            </a:xfrm>
            <a:custGeom>
              <a:avLst/>
              <a:gdLst/>
              <a:ahLst/>
              <a:cxnLst>
                <a:cxn ang="0">
                  <a:pos x="68" y="18"/>
                </a:cxn>
                <a:cxn ang="0">
                  <a:pos x="68" y="50"/>
                </a:cxn>
                <a:cxn ang="0">
                  <a:pos x="59" y="59"/>
                </a:cxn>
                <a:cxn ang="0">
                  <a:pos x="9" y="59"/>
                </a:cxn>
                <a:cxn ang="0">
                  <a:pos x="0" y="50"/>
                </a:cxn>
                <a:cxn ang="0">
                  <a:pos x="0" y="18"/>
                </a:cxn>
                <a:cxn ang="0">
                  <a:pos x="9" y="9"/>
                </a:cxn>
                <a:cxn ang="0">
                  <a:pos x="17" y="9"/>
                </a:cxn>
                <a:cxn ang="0">
                  <a:pos x="19" y="4"/>
                </a:cxn>
                <a:cxn ang="0">
                  <a:pos x="25" y="0"/>
                </a:cxn>
                <a:cxn ang="0">
                  <a:pos x="43" y="0"/>
                </a:cxn>
                <a:cxn ang="0">
                  <a:pos x="49" y="4"/>
                </a:cxn>
                <a:cxn ang="0">
                  <a:pos x="51" y="9"/>
                </a:cxn>
                <a:cxn ang="0">
                  <a:pos x="59" y="9"/>
                </a:cxn>
                <a:cxn ang="0">
                  <a:pos x="68" y="18"/>
                </a:cxn>
                <a:cxn ang="0">
                  <a:pos x="50" y="34"/>
                </a:cxn>
                <a:cxn ang="0">
                  <a:pos x="34" y="18"/>
                </a:cxn>
                <a:cxn ang="0">
                  <a:pos x="18" y="34"/>
                </a:cxn>
                <a:cxn ang="0">
                  <a:pos x="34" y="50"/>
                </a:cxn>
                <a:cxn ang="0">
                  <a:pos x="50" y="34"/>
                </a:cxn>
                <a:cxn ang="0">
                  <a:pos x="44" y="34"/>
                </a:cxn>
                <a:cxn ang="0">
                  <a:pos x="34" y="44"/>
                </a:cxn>
                <a:cxn ang="0">
                  <a:pos x="24" y="34"/>
                </a:cxn>
                <a:cxn ang="0">
                  <a:pos x="34" y="24"/>
                </a:cxn>
                <a:cxn ang="0">
                  <a:pos x="44" y="34"/>
                </a:cxn>
              </a:cxnLst>
              <a:rect l="0" t="0" r="r" b="b"/>
              <a:pathLst>
                <a:path w="68" h="59">
                  <a:moveTo>
                    <a:pt x="68" y="18"/>
                  </a:moveTo>
                  <a:cubicBezTo>
                    <a:pt x="68" y="50"/>
                    <a:pt x="68" y="50"/>
                    <a:pt x="68" y="50"/>
                  </a:cubicBezTo>
                  <a:cubicBezTo>
                    <a:pt x="68" y="55"/>
                    <a:pt x="64" y="59"/>
                    <a:pt x="59" y="59"/>
                  </a:cubicBezTo>
                  <a:cubicBezTo>
                    <a:pt x="9" y="59"/>
                    <a:pt x="9" y="59"/>
                    <a:pt x="9" y="59"/>
                  </a:cubicBezTo>
                  <a:cubicBezTo>
                    <a:pt x="4" y="59"/>
                    <a:pt x="0" y="55"/>
                    <a:pt x="0" y="50"/>
                  </a:cubicBezTo>
                  <a:cubicBezTo>
                    <a:pt x="0" y="18"/>
                    <a:pt x="0" y="18"/>
                    <a:pt x="0" y="18"/>
                  </a:cubicBezTo>
                  <a:cubicBezTo>
                    <a:pt x="0" y="13"/>
                    <a:pt x="4" y="9"/>
                    <a:pt x="9" y="9"/>
                  </a:cubicBezTo>
                  <a:cubicBezTo>
                    <a:pt x="17" y="9"/>
                    <a:pt x="17" y="9"/>
                    <a:pt x="17" y="9"/>
                  </a:cubicBezTo>
                  <a:cubicBezTo>
                    <a:pt x="19" y="4"/>
                    <a:pt x="19" y="4"/>
                    <a:pt x="19" y="4"/>
                  </a:cubicBezTo>
                  <a:cubicBezTo>
                    <a:pt x="20" y="2"/>
                    <a:pt x="22" y="0"/>
                    <a:pt x="25" y="0"/>
                  </a:cubicBezTo>
                  <a:cubicBezTo>
                    <a:pt x="43" y="0"/>
                    <a:pt x="43" y="0"/>
                    <a:pt x="43" y="0"/>
                  </a:cubicBezTo>
                  <a:cubicBezTo>
                    <a:pt x="46" y="0"/>
                    <a:pt x="48" y="2"/>
                    <a:pt x="49" y="4"/>
                  </a:cubicBezTo>
                  <a:cubicBezTo>
                    <a:pt x="51" y="9"/>
                    <a:pt x="51" y="9"/>
                    <a:pt x="51" y="9"/>
                  </a:cubicBezTo>
                  <a:cubicBezTo>
                    <a:pt x="59" y="9"/>
                    <a:pt x="59" y="9"/>
                    <a:pt x="59" y="9"/>
                  </a:cubicBezTo>
                  <a:cubicBezTo>
                    <a:pt x="64" y="9"/>
                    <a:pt x="68" y="13"/>
                    <a:pt x="68" y="18"/>
                  </a:cubicBezTo>
                  <a:close/>
                  <a:moveTo>
                    <a:pt x="50" y="34"/>
                  </a:moveTo>
                  <a:cubicBezTo>
                    <a:pt x="50" y="25"/>
                    <a:pt x="43" y="18"/>
                    <a:pt x="34" y="18"/>
                  </a:cubicBezTo>
                  <a:cubicBezTo>
                    <a:pt x="25" y="18"/>
                    <a:pt x="18" y="25"/>
                    <a:pt x="18" y="34"/>
                  </a:cubicBezTo>
                  <a:cubicBezTo>
                    <a:pt x="18" y="43"/>
                    <a:pt x="25" y="50"/>
                    <a:pt x="34" y="50"/>
                  </a:cubicBezTo>
                  <a:cubicBezTo>
                    <a:pt x="43" y="50"/>
                    <a:pt x="50" y="43"/>
                    <a:pt x="50" y="34"/>
                  </a:cubicBezTo>
                  <a:close/>
                  <a:moveTo>
                    <a:pt x="44" y="34"/>
                  </a:moveTo>
                  <a:cubicBezTo>
                    <a:pt x="44" y="40"/>
                    <a:pt x="40" y="44"/>
                    <a:pt x="34" y="44"/>
                  </a:cubicBezTo>
                  <a:cubicBezTo>
                    <a:pt x="28" y="44"/>
                    <a:pt x="24" y="40"/>
                    <a:pt x="24" y="34"/>
                  </a:cubicBezTo>
                  <a:cubicBezTo>
                    <a:pt x="24" y="28"/>
                    <a:pt x="28" y="24"/>
                    <a:pt x="34" y="24"/>
                  </a:cubicBezTo>
                  <a:cubicBezTo>
                    <a:pt x="40" y="24"/>
                    <a:pt x="44" y="28"/>
                    <a:pt x="44" y="34"/>
                  </a:cubicBezTo>
                  <a:close/>
                </a:path>
              </a:pathLst>
            </a:custGeom>
            <a:solidFill>
              <a:schemeClr val="bg1"/>
            </a:solidFill>
            <a:ln w="9525">
              <a:noFill/>
              <a:round/>
            </a:ln>
          </p:spPr>
          <p:txBody>
            <a:bodyPr wrap="square" lIns="68580" tIns="34290" rIns="68580" bIns="34290" anchor="ctr">
              <a:normAutofit fontScale="92500" lnSpcReduction="20000"/>
            </a:bodyPr>
            <a:lstStyle/>
            <a:p>
              <a:pPr algn="ctr"/>
              <a:endParaRPr sz="1800"/>
            </a:p>
          </p:txBody>
        </p:sp>
        <p:sp>
          <p:nvSpPr>
            <p:cNvPr id="66" name="iṧļiḑé"/>
            <p:cNvSpPr/>
            <p:nvPr/>
          </p:nvSpPr>
          <p:spPr>
            <a:xfrm>
              <a:off x="375747" y="1077497"/>
              <a:ext cx="4007451" cy="2524117"/>
            </a:xfrm>
            <a:prstGeom prst="rect">
              <a:avLst/>
            </a:prstGeom>
          </p:spPr>
          <p:txBody>
            <a:bodyPr wrap="square" lIns="68580" tIns="34290" rIns="68580" bIns="34290" anchor="ctr">
              <a:normAutofit/>
            </a:bodyPr>
            <a:lstStyle/>
            <a:p>
              <a:pPr algn="r">
                <a:lnSpc>
                  <a:spcPct val="120000"/>
                </a:lnSpc>
              </a:pPr>
              <a:r>
                <a:rPr lang="zh-CN" altLang="en-US" sz="1800" dirty="0"/>
                <a:t>同步操作分散：信号量机制中，同步操作分散在各个进程中，使用</a:t>
              </a:r>
              <a:r>
                <a:rPr lang="zh-CN" altLang="en-US" sz="1800" dirty="0">
                  <a:solidFill>
                    <a:srgbClr val="FF0000"/>
                  </a:solidFill>
                </a:rPr>
                <a:t>不当就可能导致各进程死锁</a:t>
              </a:r>
              <a:r>
                <a:rPr lang="zh-CN" altLang="en-US" sz="1800" dirty="0"/>
                <a:t>（如</a:t>
              </a:r>
              <a:r>
                <a:rPr lang="en-US" altLang="zh-CN" sz="1800" dirty="0"/>
                <a:t>P</a:t>
              </a:r>
              <a:r>
                <a:rPr lang="zh-CN" altLang="en-US" sz="1800" dirty="0"/>
                <a:t>、</a:t>
              </a:r>
              <a:r>
                <a:rPr lang="en-US" altLang="zh-CN" sz="1800" dirty="0"/>
                <a:t>V</a:t>
              </a:r>
              <a:r>
                <a:rPr lang="zh-CN" altLang="en-US" sz="1800" dirty="0"/>
                <a:t>操作的次序错误、重复或遗漏）</a:t>
              </a:r>
            </a:p>
          </p:txBody>
        </p:sp>
        <p:sp>
          <p:nvSpPr>
            <p:cNvPr id="64" name="ísļiḋè"/>
            <p:cNvSpPr/>
            <p:nvPr/>
          </p:nvSpPr>
          <p:spPr>
            <a:xfrm>
              <a:off x="350852" y="3946992"/>
              <a:ext cx="4013107" cy="1736975"/>
            </a:xfrm>
            <a:prstGeom prst="rect">
              <a:avLst/>
            </a:prstGeom>
          </p:spPr>
          <p:txBody>
            <a:bodyPr wrap="square" lIns="68580" tIns="34290" rIns="68580" bIns="34290" anchor="ctr">
              <a:normAutofit lnSpcReduction="10000"/>
            </a:bodyPr>
            <a:lstStyle/>
            <a:p>
              <a:pPr algn="r">
                <a:lnSpc>
                  <a:spcPct val="120000"/>
                </a:lnSpc>
              </a:pPr>
              <a:r>
                <a:rPr lang="zh-CN" altLang="en-US" sz="1800" dirty="0"/>
                <a:t>不利于修改和维护：各模块的独立性差，任一组变量或一段代码的修改都可能影响全局；</a:t>
              </a:r>
            </a:p>
          </p:txBody>
        </p:sp>
        <p:cxnSp>
          <p:nvCxnSpPr>
            <p:cNvPr id="55" name="直接连接符 54"/>
            <p:cNvCxnSpPr/>
            <p:nvPr/>
          </p:nvCxnSpPr>
          <p:spPr>
            <a:xfrm>
              <a:off x="505675" y="3664801"/>
              <a:ext cx="40005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2" name="iŝļíḍe"/>
            <p:cNvSpPr/>
            <p:nvPr/>
          </p:nvSpPr>
          <p:spPr>
            <a:xfrm>
              <a:off x="7921347" y="1506300"/>
              <a:ext cx="3723982" cy="1837852"/>
            </a:xfrm>
            <a:prstGeom prst="rect">
              <a:avLst/>
            </a:prstGeom>
          </p:spPr>
          <p:txBody>
            <a:bodyPr wrap="square" lIns="68580" tIns="34290" rIns="68580" bIns="34290" anchor="ctr">
              <a:noAutofit/>
            </a:bodyPr>
            <a:lstStyle/>
            <a:p>
              <a:pPr>
                <a:lnSpc>
                  <a:spcPct val="120000"/>
                </a:lnSpc>
              </a:pPr>
              <a:r>
                <a:rPr lang="zh-CN" altLang="en-US" sz="1800" dirty="0"/>
                <a:t>易读性差：要了解对于一组共享变量及信号量的操作是否正确，必须通读整个系统或者并发程序；</a:t>
              </a:r>
            </a:p>
          </p:txBody>
        </p:sp>
        <p:sp>
          <p:nvSpPr>
            <p:cNvPr id="60" name="ïṥľïḑé"/>
            <p:cNvSpPr/>
            <p:nvPr/>
          </p:nvSpPr>
          <p:spPr>
            <a:xfrm>
              <a:off x="7924175" y="4243005"/>
              <a:ext cx="3718326" cy="1340509"/>
            </a:xfrm>
            <a:prstGeom prst="rect">
              <a:avLst/>
            </a:prstGeom>
          </p:spPr>
          <p:txBody>
            <a:bodyPr wrap="square" lIns="68580" tIns="34290" rIns="68580" bIns="34290" anchor="ctr">
              <a:noAutofit/>
            </a:bodyPr>
            <a:lstStyle/>
            <a:p>
              <a:pPr>
                <a:lnSpc>
                  <a:spcPct val="120000"/>
                </a:lnSpc>
              </a:pPr>
              <a:r>
                <a:rPr lang="zh-CN" altLang="en-US" sz="1800" dirty="0">
                  <a:solidFill>
                    <a:srgbClr val="FF0000"/>
                  </a:solidFill>
                </a:rPr>
                <a:t>正确性难以保证：</a:t>
              </a:r>
              <a:r>
                <a:rPr lang="zh-CN" altLang="en-US" sz="1800" dirty="0"/>
                <a:t>操作系统或并发程序通常很大，很难保证这样一个复杂的系统没有逻辑错误；</a:t>
              </a:r>
            </a:p>
          </p:txBody>
        </p:sp>
        <p:cxnSp>
          <p:nvCxnSpPr>
            <p:cNvPr id="58" name="直接连接符 57"/>
            <p:cNvCxnSpPr/>
            <p:nvPr/>
          </p:nvCxnSpPr>
          <p:spPr>
            <a:xfrm>
              <a:off x="7556500" y="3636429"/>
              <a:ext cx="39624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3579141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502444" y="5059446"/>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t>Date</a:t>
            </a:r>
            <a:endParaRPr lang="zh-CN" altLang="en-US" sz="1125" dirty="0"/>
          </a:p>
        </p:txBody>
      </p:sp>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矩形 19"/>
          <p:cNvSpPr/>
          <p:nvPr/>
        </p:nvSpPr>
        <p:spPr>
          <a:xfrm>
            <a:off x="578644" y="1050622"/>
            <a:ext cx="1539204" cy="415498"/>
          </a:xfrm>
          <a:prstGeom prst="rect">
            <a:avLst/>
          </a:prstGeom>
        </p:spPr>
        <p:txBody>
          <a:bodyPr wrap="none">
            <a:spAutoFit/>
          </a:bodyPr>
          <a:lstStyle/>
          <a:p>
            <a:r>
              <a:rPr lang="zh-CN" altLang="en-US" sz="2100" b="1" dirty="0">
                <a:solidFill>
                  <a:schemeClr val="bg1"/>
                </a:solidFill>
              </a:rPr>
              <a:t>内容导航：</a:t>
            </a:r>
          </a:p>
        </p:txBody>
      </p:sp>
      <p:sp>
        <p:nvSpPr>
          <p:cNvPr id="3" name="矩形 2"/>
          <p:cNvSpPr/>
          <p:nvPr/>
        </p:nvSpPr>
        <p:spPr>
          <a:xfrm>
            <a:off x="6180941" y="2700908"/>
            <a:ext cx="2560316" cy="507831"/>
          </a:xfrm>
          <a:prstGeom prst="rect">
            <a:avLst/>
          </a:prstGeom>
        </p:spPr>
        <p:txBody>
          <a:bodyPr wrap="none">
            <a:spAutoFit/>
          </a:bodyPr>
          <a:lstStyle/>
          <a:p>
            <a:r>
              <a:rPr lang="zh-CN" altLang="en-US" sz="2700" dirty="0">
                <a:solidFill>
                  <a:srgbClr val="000000"/>
                </a:solidFill>
                <a:sym typeface="+mn-ea"/>
              </a:rPr>
              <a:t>第</a:t>
            </a:r>
            <a:r>
              <a:rPr lang="en-US" altLang="zh-CN" sz="2700" dirty="0">
                <a:solidFill>
                  <a:srgbClr val="000000"/>
                </a:solidFill>
                <a:sym typeface="+mn-ea"/>
              </a:rPr>
              <a:t>4</a:t>
            </a:r>
            <a:r>
              <a:rPr lang="zh-CN" altLang="en-US" sz="2700" dirty="0">
                <a:solidFill>
                  <a:srgbClr val="000000"/>
                </a:solidFill>
                <a:sym typeface="+mn-ea"/>
              </a:rPr>
              <a:t>章 进程同步</a:t>
            </a:r>
            <a:endParaRPr lang="zh-CN" altLang="en-US" sz="2700" dirty="0">
              <a:solidFill>
                <a:srgbClr val="000000"/>
              </a:solidFill>
            </a:endParaRPr>
          </a:p>
        </p:txBody>
      </p:sp>
      <p:cxnSp>
        <p:nvCxnSpPr>
          <p:cNvPr id="5" name="直接连接符 4"/>
          <p:cNvCxnSpPr/>
          <p:nvPr/>
        </p:nvCxnSpPr>
        <p:spPr>
          <a:xfrm>
            <a:off x="5669925" y="3250103"/>
            <a:ext cx="2990417"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521248" y="3292521"/>
            <a:ext cx="3247181" cy="412613"/>
          </a:xfrm>
          <a:prstGeom prst="rect">
            <a:avLst/>
          </a:prstGeom>
        </p:spPr>
        <p:txBody>
          <a:bodyPr wrap="square">
            <a:spAutoFit/>
          </a:bodyPr>
          <a:lstStyle/>
          <a:p>
            <a:pPr algn="ctr">
              <a:lnSpc>
                <a:spcPct val="132000"/>
              </a:lnSpc>
            </a:pPr>
            <a:r>
              <a:rPr lang="zh-CN" altLang="en-US" sz="1800" dirty="0">
                <a:solidFill>
                  <a:srgbClr val="002060"/>
                </a:solidFill>
              </a:rPr>
              <a:t>主讲：王红玲    主审：汤小丹</a:t>
            </a:r>
            <a:endParaRPr lang="en-US" altLang="zh-CN" sz="1800" dirty="0">
              <a:solidFill>
                <a:srgbClr val="002060"/>
              </a:solidFill>
            </a:endParaRPr>
          </a:p>
        </p:txBody>
      </p:sp>
      <p:sp>
        <p:nvSpPr>
          <p:cNvPr id="8" name="矩形 7"/>
          <p:cNvSpPr/>
          <p:nvPr/>
        </p:nvSpPr>
        <p:spPr>
          <a:xfrm>
            <a:off x="-7145" y="5638531"/>
            <a:ext cx="9151145" cy="3622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6" name="任意多边形: 形状 25"/>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sz="1800">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116811"/>
            <a:ext cx="395288" cy="395288"/>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2555666"/>
            <a:ext cx="395288" cy="395288"/>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047268"/>
            <a:ext cx="395288" cy="395288"/>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511123"/>
            <a:ext cx="395288" cy="395288"/>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3980683"/>
            <a:ext cx="395288" cy="395288"/>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458967"/>
            <a:ext cx="395288" cy="395288"/>
          </a:xfrm>
          <a:prstGeom prst="rect">
            <a:avLst/>
          </a:prstGeom>
          <a:ln>
            <a:noFill/>
          </a:ln>
          <a:effectLst>
            <a:softEdge rad="0"/>
          </a:effectLst>
        </p:spPr>
      </p:pic>
      <p:sp>
        <p:nvSpPr>
          <p:cNvPr id="33" name="矩形 32"/>
          <p:cNvSpPr/>
          <p:nvPr/>
        </p:nvSpPr>
        <p:spPr>
          <a:xfrm>
            <a:off x="1273253" y="2158852"/>
            <a:ext cx="2616725" cy="369332"/>
          </a:xfrm>
          <a:prstGeom prst="rect">
            <a:avLst/>
          </a:prstGeom>
        </p:spPr>
        <p:txBody>
          <a:bodyPr wrap="square">
            <a:spAutoFit/>
          </a:bodyPr>
          <a:lstStyle/>
          <a:p>
            <a:r>
              <a:rPr lang="en-US" altLang="zh-CN" sz="1800" dirty="0">
                <a:latin typeface="+mj-ea"/>
                <a:ea typeface="+mj-ea"/>
              </a:rPr>
              <a:t>4.1 </a:t>
            </a:r>
            <a:r>
              <a:rPr lang="zh-CN" altLang="en-US" sz="1800" dirty="0">
                <a:latin typeface="+mj-ea"/>
                <a:ea typeface="+mj-ea"/>
              </a:rPr>
              <a:t>进程同步的概念</a:t>
            </a:r>
          </a:p>
        </p:txBody>
      </p:sp>
      <p:sp>
        <p:nvSpPr>
          <p:cNvPr id="34" name="矩形 33"/>
          <p:cNvSpPr/>
          <p:nvPr/>
        </p:nvSpPr>
        <p:spPr>
          <a:xfrm>
            <a:off x="1273253" y="2623196"/>
            <a:ext cx="2761613" cy="369332"/>
          </a:xfrm>
          <a:prstGeom prst="rect">
            <a:avLst/>
          </a:prstGeom>
        </p:spPr>
        <p:txBody>
          <a:bodyPr wrap="square">
            <a:spAutoFit/>
          </a:bodyPr>
          <a:lstStyle/>
          <a:p>
            <a:r>
              <a:rPr lang="en-US" altLang="zh-CN" sz="1800" dirty="0">
                <a:latin typeface="+mj-ea"/>
              </a:rPr>
              <a:t>4.2 </a:t>
            </a:r>
            <a:r>
              <a:rPr lang="zh-CN" altLang="en-US" sz="1800" dirty="0">
                <a:latin typeface="+mj-ea"/>
              </a:rPr>
              <a:t>软件同步机制</a:t>
            </a:r>
          </a:p>
        </p:txBody>
      </p:sp>
      <p:sp>
        <p:nvSpPr>
          <p:cNvPr id="35" name="矩形 34"/>
          <p:cNvSpPr/>
          <p:nvPr/>
        </p:nvSpPr>
        <p:spPr>
          <a:xfrm>
            <a:off x="1273253" y="3087539"/>
            <a:ext cx="2616725" cy="369332"/>
          </a:xfrm>
          <a:prstGeom prst="rect">
            <a:avLst/>
          </a:prstGeom>
        </p:spPr>
        <p:txBody>
          <a:bodyPr wrap="square">
            <a:spAutoFit/>
          </a:bodyPr>
          <a:lstStyle/>
          <a:p>
            <a:r>
              <a:rPr lang="en-US" altLang="zh-CN" sz="1800" dirty="0">
                <a:latin typeface="+mj-ea"/>
              </a:rPr>
              <a:t>4.3 </a:t>
            </a:r>
            <a:r>
              <a:rPr lang="zh-CN" altLang="en-US" sz="1800" dirty="0">
                <a:latin typeface="+mj-ea"/>
              </a:rPr>
              <a:t>硬件同步机制</a:t>
            </a:r>
          </a:p>
        </p:txBody>
      </p:sp>
      <p:sp>
        <p:nvSpPr>
          <p:cNvPr id="36" name="矩形 35"/>
          <p:cNvSpPr/>
          <p:nvPr/>
        </p:nvSpPr>
        <p:spPr>
          <a:xfrm>
            <a:off x="1273253" y="3551883"/>
            <a:ext cx="2616725" cy="369332"/>
          </a:xfrm>
          <a:prstGeom prst="rect">
            <a:avLst/>
          </a:prstGeom>
        </p:spPr>
        <p:txBody>
          <a:bodyPr wrap="square">
            <a:spAutoFit/>
          </a:bodyPr>
          <a:lstStyle/>
          <a:p>
            <a:r>
              <a:rPr lang="en-US" altLang="zh-CN" sz="1800" dirty="0">
                <a:latin typeface="+mj-ea"/>
              </a:rPr>
              <a:t>4.4 </a:t>
            </a:r>
            <a:r>
              <a:rPr lang="zh-CN" altLang="en-US" sz="1800" dirty="0">
                <a:latin typeface="+mj-ea"/>
              </a:rPr>
              <a:t>信号量机制</a:t>
            </a:r>
          </a:p>
        </p:txBody>
      </p:sp>
      <p:sp>
        <p:nvSpPr>
          <p:cNvPr id="37" name="矩形 36"/>
          <p:cNvSpPr/>
          <p:nvPr/>
        </p:nvSpPr>
        <p:spPr>
          <a:xfrm>
            <a:off x="1273253" y="4016227"/>
            <a:ext cx="2525359" cy="369332"/>
          </a:xfrm>
          <a:prstGeom prst="rect">
            <a:avLst/>
          </a:prstGeom>
        </p:spPr>
        <p:txBody>
          <a:bodyPr wrap="square">
            <a:spAutoFit/>
          </a:bodyPr>
          <a:lstStyle/>
          <a:p>
            <a:r>
              <a:rPr lang="en-US" altLang="zh-CN" sz="1800" dirty="0">
                <a:latin typeface="+mj-ea"/>
              </a:rPr>
              <a:t>4.5 </a:t>
            </a:r>
            <a:r>
              <a:rPr lang="zh-CN" altLang="en-US" sz="1800" dirty="0">
                <a:latin typeface="+mj-ea"/>
              </a:rPr>
              <a:t>管程机制</a:t>
            </a:r>
          </a:p>
        </p:txBody>
      </p:sp>
      <p:sp>
        <p:nvSpPr>
          <p:cNvPr id="38" name="矩形 37"/>
          <p:cNvSpPr/>
          <p:nvPr/>
        </p:nvSpPr>
        <p:spPr>
          <a:xfrm>
            <a:off x="1273253" y="4480571"/>
            <a:ext cx="2761613" cy="369332"/>
          </a:xfrm>
          <a:prstGeom prst="rect">
            <a:avLst/>
          </a:prstGeom>
        </p:spPr>
        <p:txBody>
          <a:bodyPr wrap="square">
            <a:spAutoFit/>
          </a:bodyPr>
          <a:lstStyle/>
          <a:p>
            <a:r>
              <a:rPr lang="en-US" altLang="zh-CN" sz="1800" dirty="0">
                <a:latin typeface="+mj-ea"/>
              </a:rPr>
              <a:t>4.6 </a:t>
            </a:r>
            <a:r>
              <a:rPr lang="zh-CN" altLang="en-US" sz="1800" dirty="0">
                <a:latin typeface="+mj-ea"/>
              </a:rPr>
              <a:t>经典进程的同步问题</a:t>
            </a:r>
          </a:p>
        </p:txBody>
      </p:sp>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70813" y="4913797"/>
            <a:ext cx="395288" cy="395288"/>
          </a:xfrm>
          <a:prstGeom prst="rect">
            <a:avLst/>
          </a:prstGeom>
          <a:ln>
            <a:noFill/>
          </a:ln>
          <a:effectLst>
            <a:softEdge rad="0"/>
          </a:effectLst>
        </p:spPr>
      </p:pic>
      <p:sp>
        <p:nvSpPr>
          <p:cNvPr id="24" name="矩形 23"/>
          <p:cNvSpPr/>
          <p:nvPr/>
        </p:nvSpPr>
        <p:spPr>
          <a:xfrm>
            <a:off x="1273253" y="4935400"/>
            <a:ext cx="2761613" cy="369332"/>
          </a:xfrm>
          <a:prstGeom prst="rect">
            <a:avLst/>
          </a:prstGeom>
        </p:spPr>
        <p:txBody>
          <a:bodyPr wrap="square">
            <a:spAutoFit/>
          </a:bodyPr>
          <a:lstStyle/>
          <a:p>
            <a:r>
              <a:rPr lang="en-US" altLang="zh-CN" sz="1800" b="1" dirty="0">
                <a:solidFill>
                  <a:srgbClr val="0000FF"/>
                </a:solidFill>
                <a:latin typeface="+mj-ea"/>
              </a:rPr>
              <a:t>4.7 Linux</a:t>
            </a:r>
            <a:r>
              <a:rPr lang="zh-CN" altLang="en-US" sz="1800" b="1" dirty="0">
                <a:solidFill>
                  <a:srgbClr val="0000FF"/>
                </a:solidFill>
                <a:latin typeface="+mj-ea"/>
              </a:rPr>
              <a:t>进程同步机制</a:t>
            </a:r>
          </a:p>
        </p:txBody>
      </p:sp>
    </p:spTree>
    <p:extLst>
      <p:ext uri="{BB962C8B-B14F-4D97-AF65-F5344CB8AC3E}">
        <p14:creationId xmlns:p14="http://schemas.microsoft.com/office/powerpoint/2010/main" val="112655953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en-US" altLang="zh-CN" sz="2100" b="1" dirty="0">
                <a:solidFill>
                  <a:schemeClr val="bg1"/>
                </a:solidFill>
              </a:rPr>
              <a:t>Linux</a:t>
            </a:r>
            <a:r>
              <a:rPr lang="zh-CN" altLang="en-US" sz="2100" b="1" dirty="0">
                <a:solidFill>
                  <a:schemeClr val="bg1"/>
                </a:solidFill>
              </a:rPr>
              <a:t>同步机制</a:t>
            </a:r>
          </a:p>
        </p:txBody>
      </p:sp>
      <p:sp>
        <p:nvSpPr>
          <p:cNvPr id="17" name="îṧľîdé"/>
          <p:cNvSpPr/>
          <p:nvPr/>
        </p:nvSpPr>
        <p:spPr>
          <a:xfrm>
            <a:off x="3016406" y="1863376"/>
            <a:ext cx="2663177" cy="1843325"/>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sz="1800"/>
          </a:p>
        </p:txBody>
      </p:sp>
      <p:sp>
        <p:nvSpPr>
          <p:cNvPr id="21" name="内容占位符 2"/>
          <p:cNvSpPr txBox="1"/>
          <p:nvPr/>
        </p:nvSpPr>
        <p:spPr>
          <a:xfrm>
            <a:off x="709664" y="2159550"/>
            <a:ext cx="2219048" cy="138294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435"/>
              </a:spcBef>
              <a:buNone/>
              <a:defRPr/>
            </a:pPr>
            <a:r>
              <a:rPr lang="en-US" altLang="zh-CN" sz="2100" dirty="0"/>
              <a:t>Linux</a:t>
            </a:r>
            <a:r>
              <a:rPr lang="zh-CN" altLang="en-US" sz="2100" dirty="0"/>
              <a:t>并发的主要来源：</a:t>
            </a:r>
          </a:p>
          <a:p>
            <a:pPr marL="257175" lvl="1" indent="-257175">
              <a:lnSpc>
                <a:spcPct val="123000"/>
              </a:lnSpc>
              <a:spcBef>
                <a:spcPts val="225"/>
              </a:spcBef>
              <a:buClr>
                <a:srgbClr val="E71101"/>
              </a:buClr>
              <a:buSzPct val="60000"/>
              <a:buFont typeface="Wingdings" panose="05000000000000000000" pitchFamily="2" charset="2"/>
              <a:buChar char="n"/>
              <a:defRPr/>
            </a:pPr>
            <a:r>
              <a:rPr lang="zh-CN" altLang="en-US" sz="1800" dirty="0">
                <a:solidFill>
                  <a:schemeClr val="tx1">
                    <a:lumMod val="65000"/>
                    <a:lumOff val="35000"/>
                  </a:schemeClr>
                </a:solidFill>
              </a:rPr>
              <a:t>中断处理、内核态抢占、多处理器的并发。</a:t>
            </a:r>
          </a:p>
        </p:txBody>
      </p:sp>
      <p:sp>
        <p:nvSpPr>
          <p:cNvPr id="22" name="内容占位符 2"/>
          <p:cNvSpPr txBox="1"/>
          <p:nvPr/>
        </p:nvSpPr>
        <p:spPr>
          <a:xfrm>
            <a:off x="5875278" y="2216371"/>
            <a:ext cx="3136714" cy="319034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450"/>
              </a:spcBef>
              <a:buNone/>
              <a:defRPr/>
            </a:pPr>
            <a:r>
              <a:rPr lang="zh-CN" altLang="en-US" sz="2100" dirty="0">
                <a:solidFill>
                  <a:srgbClr val="FF0000"/>
                </a:solidFill>
              </a:rPr>
              <a:t>同步方法：</a:t>
            </a:r>
            <a:endParaRPr lang="zh-CN" altLang="en-US" sz="2100" dirty="0"/>
          </a:p>
          <a:p>
            <a:pPr marL="0" lvl="1" indent="-257175">
              <a:lnSpc>
                <a:spcPct val="123000"/>
              </a:lnSpc>
              <a:spcBef>
                <a:spcPts val="450"/>
              </a:spcBef>
              <a:buClr>
                <a:srgbClr val="E71101"/>
              </a:buClr>
              <a:buSzPct val="60000"/>
              <a:buFont typeface="Wingdings" panose="05000000000000000000" pitchFamily="2" charset="2"/>
              <a:buChar char="n"/>
              <a:defRPr/>
            </a:pPr>
            <a:r>
              <a:rPr lang="zh-CN" altLang="en-US" sz="1800" dirty="0">
                <a:solidFill>
                  <a:srgbClr val="FF0000"/>
                </a:solidFill>
              </a:rPr>
              <a:t>原子操作</a:t>
            </a:r>
          </a:p>
          <a:p>
            <a:pPr marL="0" lvl="1" indent="-257175">
              <a:lnSpc>
                <a:spcPct val="123000"/>
              </a:lnSpc>
              <a:spcBef>
                <a:spcPts val="450"/>
              </a:spcBef>
              <a:buClr>
                <a:srgbClr val="E71101"/>
              </a:buClr>
              <a:buSzPct val="60000"/>
              <a:buFont typeface="Wingdings" panose="05000000000000000000" pitchFamily="2" charset="2"/>
              <a:buChar char="n"/>
              <a:defRPr/>
            </a:pPr>
            <a:r>
              <a:rPr lang="zh-CN" altLang="en-US" sz="1800" dirty="0">
                <a:solidFill>
                  <a:srgbClr val="FF0000"/>
                </a:solidFill>
              </a:rPr>
              <a:t>自旋锁</a:t>
            </a:r>
            <a:r>
              <a:rPr lang="zh-CN" altLang="en-US" sz="1800" dirty="0"/>
              <a:t>（</a:t>
            </a:r>
            <a:r>
              <a:rPr lang="en-US" altLang="zh-CN" sz="1800" dirty="0"/>
              <a:t>spin lock</a:t>
            </a:r>
            <a:r>
              <a:rPr lang="zh-CN" altLang="en-US" sz="1800" dirty="0"/>
              <a:t>）</a:t>
            </a:r>
          </a:p>
          <a:p>
            <a:pPr marL="342900" lvl="2" indent="-257175">
              <a:lnSpc>
                <a:spcPct val="123000"/>
              </a:lnSpc>
              <a:spcBef>
                <a:spcPts val="450"/>
              </a:spcBef>
              <a:buClr>
                <a:srgbClr val="E71101"/>
              </a:buClr>
              <a:buSzPct val="60000"/>
              <a:defRPr/>
            </a:pPr>
            <a:r>
              <a:rPr lang="zh-CN" altLang="en-US" sz="1650" dirty="0"/>
              <a:t>不会引起调用者阻塞</a:t>
            </a:r>
          </a:p>
          <a:p>
            <a:pPr marL="0" lvl="1" indent="-257175">
              <a:lnSpc>
                <a:spcPct val="123000"/>
              </a:lnSpc>
              <a:spcBef>
                <a:spcPts val="450"/>
              </a:spcBef>
              <a:buClr>
                <a:srgbClr val="E71101"/>
              </a:buClr>
              <a:buSzPct val="60000"/>
              <a:buFont typeface="Wingdings" panose="05000000000000000000" pitchFamily="2" charset="2"/>
              <a:buChar char="n"/>
              <a:defRPr/>
            </a:pPr>
            <a:r>
              <a:rPr lang="zh-CN" altLang="en-US" sz="1800" dirty="0">
                <a:solidFill>
                  <a:srgbClr val="FF0000"/>
                </a:solidFill>
              </a:rPr>
              <a:t>信号量</a:t>
            </a:r>
            <a:r>
              <a:rPr lang="zh-CN" altLang="en-US" sz="1800" dirty="0"/>
              <a:t>（</a:t>
            </a:r>
            <a:r>
              <a:rPr lang="en-US" altLang="zh-CN" sz="1800" dirty="0"/>
              <a:t>Semaphore</a:t>
            </a:r>
            <a:r>
              <a:rPr lang="zh-CN" altLang="en-US" sz="1800" dirty="0"/>
              <a:t>）</a:t>
            </a:r>
          </a:p>
          <a:p>
            <a:pPr marL="0" lvl="1" indent="-257175">
              <a:lnSpc>
                <a:spcPct val="123000"/>
              </a:lnSpc>
              <a:spcBef>
                <a:spcPts val="450"/>
              </a:spcBef>
              <a:buClr>
                <a:srgbClr val="E71101"/>
              </a:buClr>
              <a:buSzPct val="60000"/>
              <a:buFont typeface="Wingdings" panose="05000000000000000000" pitchFamily="2" charset="2"/>
              <a:buChar char="n"/>
              <a:defRPr/>
            </a:pPr>
            <a:r>
              <a:rPr lang="zh-CN" altLang="en-US" sz="1800" dirty="0">
                <a:solidFill>
                  <a:srgbClr val="FF0000"/>
                </a:solidFill>
              </a:rPr>
              <a:t>互斥锁</a:t>
            </a:r>
            <a:r>
              <a:rPr lang="zh-CN" altLang="en-US" sz="1800" dirty="0"/>
              <a:t>（</a:t>
            </a:r>
            <a:r>
              <a:rPr lang="en-US" altLang="zh-CN" sz="1800" dirty="0" err="1"/>
              <a:t>Mutex</a:t>
            </a:r>
            <a:r>
              <a:rPr lang="zh-CN" altLang="en-US" sz="1800" dirty="0"/>
              <a:t>）</a:t>
            </a:r>
          </a:p>
          <a:p>
            <a:pPr marL="0" lvl="1" indent="-257175">
              <a:lnSpc>
                <a:spcPct val="123000"/>
              </a:lnSpc>
              <a:spcBef>
                <a:spcPts val="450"/>
              </a:spcBef>
              <a:buClr>
                <a:srgbClr val="E71101"/>
              </a:buClr>
              <a:buSzPct val="60000"/>
              <a:buFont typeface="Wingdings" panose="05000000000000000000" pitchFamily="2" charset="2"/>
              <a:buChar char="n"/>
              <a:defRPr/>
            </a:pPr>
            <a:r>
              <a:rPr lang="zh-CN" altLang="en-US" sz="1800" dirty="0">
                <a:solidFill>
                  <a:srgbClr val="FF0000"/>
                </a:solidFill>
              </a:rPr>
              <a:t>禁止中断</a:t>
            </a:r>
            <a:r>
              <a:rPr lang="zh-CN" altLang="en-US" sz="1800" dirty="0"/>
              <a:t>（单处理器不可抢占系统）</a:t>
            </a:r>
          </a:p>
        </p:txBody>
      </p:sp>
      <p:sp>
        <p:nvSpPr>
          <p:cNvPr id="23" name="íSľïdé"/>
          <p:cNvSpPr/>
          <p:nvPr/>
        </p:nvSpPr>
        <p:spPr>
          <a:xfrm>
            <a:off x="3689410" y="2189517"/>
            <a:ext cx="425777" cy="383952"/>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34290" rIns="68580" bIns="3429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733425">
              <a:lnSpc>
                <a:spcPct val="90000"/>
              </a:lnSpc>
              <a:spcAft>
                <a:spcPct val="35000"/>
              </a:spcAft>
            </a:pPr>
            <a:endParaRPr lang="en-US" sz="1650"/>
          </a:p>
        </p:txBody>
      </p:sp>
      <p:sp>
        <p:nvSpPr>
          <p:cNvPr id="24" name="ïŝļíḓê"/>
          <p:cNvSpPr/>
          <p:nvPr/>
        </p:nvSpPr>
        <p:spPr bwMode="auto">
          <a:xfrm>
            <a:off x="4501303" y="2900948"/>
            <a:ext cx="417581" cy="415203"/>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68580" tIns="34290" rIns="68580" bIns="34290">
            <a:normAutofit/>
          </a:bodyPr>
          <a:lstStyle/>
          <a:p>
            <a:endParaRPr lang="zh-CN" altLang="en-US" sz="1800"/>
          </a:p>
        </p:txBody>
      </p:sp>
    </p:spTree>
    <p:extLst>
      <p:ext uri="{BB962C8B-B14F-4D97-AF65-F5344CB8AC3E}">
        <p14:creationId xmlns:p14="http://schemas.microsoft.com/office/powerpoint/2010/main" val="320221901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4章 知识导图"/>
          <p:cNvPicPr>
            <a:picLocks noChangeAspect="1"/>
          </p:cNvPicPr>
          <p:nvPr/>
        </p:nvPicPr>
        <p:blipFill>
          <a:blip r:embed="rId3"/>
          <a:stretch>
            <a:fillRect/>
          </a:stretch>
        </p:blipFill>
        <p:spPr>
          <a:xfrm>
            <a:off x="3018473" y="1935004"/>
            <a:ext cx="5982176" cy="3862388"/>
          </a:xfrm>
          <a:prstGeom prst="rect">
            <a:avLst/>
          </a:prstGeom>
        </p:spPr>
      </p:pic>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任意多边形: 形状 10"/>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sz="1800">
              <a:gradFill>
                <a:gsLst>
                  <a:gs pos="100000">
                    <a:schemeClr val="accent3"/>
                  </a:gs>
                  <a:gs pos="0">
                    <a:schemeClr val="accent4"/>
                  </a:gs>
                </a:gsLst>
                <a:lin ang="13500000" scaled="1"/>
              </a:gradFill>
            </a:endParaRPr>
          </a:p>
        </p:txBody>
      </p:sp>
      <p:sp>
        <p:nvSpPr>
          <p:cNvPr id="20" name="矩形 19"/>
          <p:cNvSpPr/>
          <p:nvPr/>
        </p:nvSpPr>
        <p:spPr>
          <a:xfrm>
            <a:off x="578644" y="1050622"/>
            <a:ext cx="3336170" cy="415498"/>
          </a:xfrm>
          <a:prstGeom prst="rect">
            <a:avLst/>
          </a:prstGeom>
        </p:spPr>
        <p:txBody>
          <a:bodyPr wrap="none">
            <a:spAutoFit/>
          </a:bodyPr>
          <a:lstStyle/>
          <a:p>
            <a:r>
              <a:rPr lang="zh-CN" altLang="en-US" sz="2100" b="1" dirty="0">
                <a:solidFill>
                  <a:schemeClr val="bg1"/>
                </a:solidFill>
              </a:rPr>
              <a:t>学而时习之（第</a:t>
            </a:r>
            <a:r>
              <a:rPr lang="en-US" altLang="zh-CN" sz="2100" b="1" dirty="0">
                <a:solidFill>
                  <a:schemeClr val="bg1"/>
                </a:solidFill>
              </a:rPr>
              <a:t>4</a:t>
            </a:r>
            <a:r>
              <a:rPr lang="zh-CN" altLang="en-US" sz="2100" b="1" dirty="0">
                <a:solidFill>
                  <a:schemeClr val="bg1"/>
                </a:solidFill>
              </a:rPr>
              <a:t>章总结）</a:t>
            </a:r>
          </a:p>
        </p:txBody>
      </p:sp>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graphicFrame>
        <p:nvGraphicFramePr>
          <p:cNvPr id="8" name="表格 7"/>
          <p:cNvGraphicFramePr/>
          <p:nvPr>
            <p:custDataLst>
              <p:tags r:id="rId1"/>
            </p:custDataLst>
          </p:nvPr>
        </p:nvGraphicFramePr>
        <p:xfrm>
          <a:off x="241479" y="2082903"/>
          <a:ext cx="2694905" cy="3566039"/>
        </p:xfrm>
        <a:graphic>
          <a:graphicData uri="http://schemas.openxmlformats.org/drawingml/2006/table">
            <a:tbl>
              <a:tblPr firstRow="1" bandRow="1">
                <a:tableStyleId>{72833802-FEF1-4C79-8D5D-14CF1EAF98D9}</a:tableStyleId>
              </a:tblPr>
              <a:tblGrid>
                <a:gridCol w="798350">
                  <a:extLst>
                    <a:ext uri="{9D8B030D-6E8A-4147-A177-3AD203B41FA5}">
                      <a16:colId xmlns:a16="http://schemas.microsoft.com/office/drawing/2014/main" val="20000"/>
                    </a:ext>
                  </a:extLst>
                </a:gridCol>
                <a:gridCol w="1896554">
                  <a:extLst>
                    <a:ext uri="{9D8B030D-6E8A-4147-A177-3AD203B41FA5}">
                      <a16:colId xmlns:a16="http://schemas.microsoft.com/office/drawing/2014/main" val="20001"/>
                    </a:ext>
                  </a:extLst>
                </a:gridCol>
              </a:tblGrid>
              <a:tr h="359767">
                <a:tc>
                  <a:txBody>
                    <a:bodyPr/>
                    <a:lstStyle/>
                    <a:p>
                      <a:pPr indent="0" algn="ctr">
                        <a:lnSpc>
                          <a:spcPct val="100000"/>
                        </a:lnSpc>
                        <a:buNone/>
                      </a:pPr>
                      <a:r>
                        <a:rPr lang="en-US" sz="1500" b="0" kern="1200" dirty="0">
                          <a:solidFill>
                            <a:schemeClr val="tx1"/>
                          </a:solidFill>
                          <a:latin typeface="+mn-ea"/>
                          <a:ea typeface="+mn-ea"/>
                          <a:cs typeface="+mn-cs"/>
                        </a:rPr>
                        <a:t>第1章</a:t>
                      </a:r>
                      <a:endParaRPr lang="en-US" altLang="en-US" sz="1500" b="0" kern="1200" dirty="0">
                        <a:solidFill>
                          <a:schemeClr val="tx1"/>
                        </a:solidFill>
                        <a:latin typeface="+mn-ea"/>
                        <a:ea typeface="+mn-ea"/>
                        <a:cs typeface="+mn-cs"/>
                      </a:endParaRPr>
                    </a:p>
                  </a:txBody>
                  <a:tcPr marL="38576" marR="38576" marT="0" marB="0" anchor="ctr">
                    <a:solidFill>
                      <a:schemeClr val="bg1"/>
                    </a:solidFill>
                  </a:tcPr>
                </a:tc>
                <a:tc>
                  <a:txBody>
                    <a:bodyPr/>
                    <a:lstStyle/>
                    <a:p>
                      <a:pPr indent="0" algn="l">
                        <a:lnSpc>
                          <a:spcPct val="100000"/>
                        </a:lnSpc>
                        <a:buNone/>
                      </a:pPr>
                      <a:r>
                        <a:rPr lang="en-US" sz="1500" b="0" kern="1200" dirty="0" err="1">
                          <a:solidFill>
                            <a:schemeClr val="tx1"/>
                          </a:solidFill>
                          <a:latin typeface="+mn-ea"/>
                          <a:ea typeface="+mn-ea"/>
                          <a:cs typeface="+mn-cs"/>
                        </a:rPr>
                        <a:t>操作系统引论</a:t>
                      </a:r>
                      <a:endParaRPr lang="en-US" altLang="en-US" sz="1500" b="0" kern="1200" dirty="0">
                        <a:solidFill>
                          <a:schemeClr val="tx1"/>
                        </a:solidFill>
                        <a:latin typeface="+mn-ea"/>
                        <a:ea typeface="+mn-ea"/>
                        <a:cs typeface="+mn-cs"/>
                      </a:endParaRPr>
                    </a:p>
                  </a:txBody>
                  <a:tcPr marL="38576" marR="38576" marT="0" marB="0" anchor="ctr">
                    <a:solidFill>
                      <a:schemeClr val="bg1"/>
                    </a:solidFill>
                  </a:tcPr>
                </a:tc>
                <a:extLst>
                  <a:ext uri="{0D108BD9-81ED-4DB2-BD59-A6C34878D82A}">
                    <a16:rowId xmlns:a16="http://schemas.microsoft.com/office/drawing/2014/main" val="10000"/>
                  </a:ext>
                </a:extLst>
              </a:tr>
              <a:tr h="284651">
                <a:tc>
                  <a:txBody>
                    <a:bodyPr/>
                    <a:lstStyle/>
                    <a:p>
                      <a:pPr indent="0" algn="ctr">
                        <a:lnSpc>
                          <a:spcPct val="100000"/>
                        </a:lnSpc>
                        <a:buNone/>
                      </a:pPr>
                      <a:r>
                        <a:rPr lang="en-US" sz="1500" b="0" kern="1200" dirty="0">
                          <a:solidFill>
                            <a:schemeClr val="tx1"/>
                          </a:solidFill>
                          <a:latin typeface="+mn-ea"/>
                          <a:ea typeface="+mn-ea"/>
                          <a:cs typeface="+mn-cs"/>
                        </a:rPr>
                        <a:t>第2章</a:t>
                      </a:r>
                      <a:endParaRPr lang="en-US" altLang="en-US" sz="1500" b="0" kern="1200" dirty="0">
                        <a:solidFill>
                          <a:schemeClr val="tx1"/>
                        </a:solidFill>
                        <a:latin typeface="+mn-ea"/>
                        <a:ea typeface="+mn-ea"/>
                        <a:cs typeface="+mn-cs"/>
                      </a:endParaRPr>
                    </a:p>
                  </a:txBody>
                  <a:tcPr marL="38576" marR="38576" marT="0" marB="0" anchor="ctr">
                    <a:noFill/>
                  </a:tcPr>
                </a:tc>
                <a:tc>
                  <a:txBody>
                    <a:bodyPr/>
                    <a:lstStyle/>
                    <a:p>
                      <a:pPr indent="0" algn="l">
                        <a:lnSpc>
                          <a:spcPct val="100000"/>
                        </a:lnSpc>
                        <a:buNone/>
                      </a:pPr>
                      <a:r>
                        <a:rPr lang="en-US" sz="1500" b="0" kern="1200" dirty="0" err="1">
                          <a:solidFill>
                            <a:schemeClr val="tx1"/>
                          </a:solidFill>
                          <a:latin typeface="+mn-ea"/>
                          <a:ea typeface="+mn-ea"/>
                          <a:cs typeface="+mn-cs"/>
                        </a:rPr>
                        <a:t>进程的描述与控制</a:t>
                      </a:r>
                      <a:endParaRPr lang="en-US" altLang="en-US" sz="1500" b="0" kern="1200" dirty="0">
                        <a:solidFill>
                          <a:schemeClr val="tx1"/>
                        </a:solidFill>
                        <a:latin typeface="+mn-ea"/>
                        <a:ea typeface="+mn-ea"/>
                        <a:cs typeface="+mn-cs"/>
                      </a:endParaRPr>
                    </a:p>
                  </a:txBody>
                  <a:tcPr marL="38576" marR="38576" marT="0" marB="0" anchor="ctr">
                    <a:noFill/>
                  </a:tcPr>
                </a:tc>
                <a:extLst>
                  <a:ext uri="{0D108BD9-81ED-4DB2-BD59-A6C34878D82A}">
                    <a16:rowId xmlns:a16="http://schemas.microsoft.com/office/drawing/2014/main" val="10001"/>
                  </a:ext>
                </a:extLst>
              </a:tr>
              <a:tr h="284651">
                <a:tc>
                  <a:txBody>
                    <a:bodyPr/>
                    <a:lstStyle/>
                    <a:p>
                      <a:pPr indent="0" algn="ctr">
                        <a:lnSpc>
                          <a:spcPct val="100000"/>
                        </a:lnSpc>
                        <a:buNone/>
                      </a:pPr>
                      <a:r>
                        <a:rPr lang="en-US" sz="1500">
                          <a:latin typeface="+mn-ea"/>
                          <a:ea typeface="+mn-ea"/>
                        </a:rPr>
                        <a:t>第3章</a:t>
                      </a:r>
                      <a:endParaRPr lang="en-US" altLang="en-US" sz="1500" b="0">
                        <a:solidFill>
                          <a:srgbClr val="000000"/>
                        </a:solidFill>
                        <a:latin typeface="+mn-ea"/>
                        <a:ea typeface="+mn-ea"/>
                        <a:cs typeface="华文楷体" panose="02010600040101010101" charset="-122"/>
                      </a:endParaRPr>
                    </a:p>
                  </a:txBody>
                  <a:tcPr marL="38576" marR="38576" marT="0" marB="0" anchor="ctr"/>
                </a:tc>
                <a:tc>
                  <a:txBody>
                    <a:bodyPr/>
                    <a:lstStyle/>
                    <a:p>
                      <a:pPr indent="0" algn="l">
                        <a:lnSpc>
                          <a:spcPct val="100000"/>
                        </a:lnSpc>
                        <a:buNone/>
                      </a:pPr>
                      <a:r>
                        <a:rPr lang="en-US" sz="1500" dirty="0" err="1">
                          <a:latin typeface="+mn-ea"/>
                          <a:ea typeface="+mn-ea"/>
                        </a:rPr>
                        <a:t>处理机调度与死锁</a:t>
                      </a:r>
                      <a:endParaRPr lang="en-US" altLang="en-US" sz="1500" b="0" dirty="0">
                        <a:solidFill>
                          <a:srgbClr val="000000"/>
                        </a:solidFill>
                        <a:latin typeface="+mn-ea"/>
                        <a:ea typeface="+mn-ea"/>
                        <a:cs typeface="华文楷体" panose="02010600040101010101" charset="-122"/>
                      </a:endParaRPr>
                    </a:p>
                  </a:txBody>
                  <a:tcPr marL="38576" marR="38576" marT="0" marB="0" anchor="ctr"/>
                </a:tc>
                <a:extLst>
                  <a:ext uri="{0D108BD9-81ED-4DB2-BD59-A6C34878D82A}">
                    <a16:rowId xmlns:a16="http://schemas.microsoft.com/office/drawing/2014/main" val="10002"/>
                  </a:ext>
                </a:extLst>
              </a:tr>
              <a:tr h="284651">
                <a:tc>
                  <a:txBody>
                    <a:bodyPr/>
                    <a:lstStyle/>
                    <a:p>
                      <a:pPr indent="0" algn="ctr">
                        <a:lnSpc>
                          <a:spcPct val="100000"/>
                        </a:lnSpc>
                        <a:buNone/>
                      </a:pPr>
                      <a:r>
                        <a:rPr lang="en-US" sz="1500" b="1" dirty="0">
                          <a:solidFill>
                            <a:schemeClr val="bg1"/>
                          </a:solidFill>
                          <a:latin typeface="+mn-ea"/>
                          <a:ea typeface="+mn-ea"/>
                        </a:rPr>
                        <a:t>第4章</a:t>
                      </a:r>
                      <a:endParaRPr lang="en-US" altLang="en-US" sz="1500" b="1" dirty="0">
                        <a:solidFill>
                          <a:schemeClr val="bg1"/>
                        </a:solidFill>
                        <a:latin typeface="+mn-ea"/>
                        <a:ea typeface="+mn-ea"/>
                        <a:cs typeface="华文楷体" panose="02010600040101010101" charset="-122"/>
                      </a:endParaRPr>
                    </a:p>
                  </a:txBody>
                  <a:tcPr marL="38576" marR="38576" marT="0" marB="0" anchor="ctr">
                    <a:solidFill>
                      <a:srgbClr val="FFC000"/>
                    </a:solidFill>
                  </a:tcPr>
                </a:tc>
                <a:tc>
                  <a:txBody>
                    <a:bodyPr/>
                    <a:lstStyle/>
                    <a:p>
                      <a:pPr indent="0" algn="l">
                        <a:lnSpc>
                          <a:spcPct val="100000"/>
                        </a:lnSpc>
                        <a:buNone/>
                      </a:pPr>
                      <a:r>
                        <a:rPr lang="en-US" sz="1500" b="1" dirty="0" err="1">
                          <a:solidFill>
                            <a:schemeClr val="bg1"/>
                          </a:solidFill>
                          <a:latin typeface="+mn-ea"/>
                          <a:ea typeface="+mn-ea"/>
                        </a:rPr>
                        <a:t>进程同步</a:t>
                      </a:r>
                      <a:endParaRPr lang="en-US" altLang="en-US" sz="1500" b="1" dirty="0">
                        <a:solidFill>
                          <a:schemeClr val="bg1"/>
                        </a:solidFill>
                        <a:latin typeface="+mn-ea"/>
                        <a:ea typeface="+mn-ea"/>
                        <a:cs typeface="华文楷体" panose="02010600040101010101" charset="-122"/>
                      </a:endParaRPr>
                    </a:p>
                  </a:txBody>
                  <a:tcPr marL="38576" marR="38576" marT="0" marB="0" anchor="ctr">
                    <a:solidFill>
                      <a:srgbClr val="FFC000"/>
                    </a:solidFill>
                  </a:tcPr>
                </a:tc>
                <a:extLst>
                  <a:ext uri="{0D108BD9-81ED-4DB2-BD59-A6C34878D82A}">
                    <a16:rowId xmlns:a16="http://schemas.microsoft.com/office/drawing/2014/main" val="10003"/>
                  </a:ext>
                </a:extLst>
              </a:tr>
              <a:tr h="284651">
                <a:tc>
                  <a:txBody>
                    <a:bodyPr/>
                    <a:lstStyle/>
                    <a:p>
                      <a:pPr indent="0" algn="ctr">
                        <a:lnSpc>
                          <a:spcPct val="100000"/>
                        </a:lnSpc>
                        <a:buNone/>
                      </a:pPr>
                      <a:r>
                        <a:rPr lang="en-US" sz="1500">
                          <a:latin typeface="+mn-ea"/>
                          <a:ea typeface="+mn-ea"/>
                        </a:rPr>
                        <a:t>第5章</a:t>
                      </a:r>
                      <a:endParaRPr lang="en-US" altLang="en-US" sz="1500" b="0">
                        <a:solidFill>
                          <a:srgbClr val="000000"/>
                        </a:solidFill>
                        <a:latin typeface="+mn-ea"/>
                        <a:ea typeface="+mn-ea"/>
                        <a:cs typeface="华文楷体" panose="02010600040101010101" charset="-122"/>
                      </a:endParaRPr>
                    </a:p>
                  </a:txBody>
                  <a:tcPr marL="38576" marR="38576" marT="0" marB="0" anchor="ctr"/>
                </a:tc>
                <a:tc>
                  <a:txBody>
                    <a:bodyPr/>
                    <a:lstStyle/>
                    <a:p>
                      <a:pPr indent="0" algn="l">
                        <a:lnSpc>
                          <a:spcPct val="100000"/>
                        </a:lnSpc>
                        <a:buNone/>
                      </a:pPr>
                      <a:r>
                        <a:rPr lang="en-US" sz="1500">
                          <a:latin typeface="+mn-ea"/>
                          <a:ea typeface="+mn-ea"/>
                        </a:rPr>
                        <a:t>存储器管理</a:t>
                      </a:r>
                      <a:endParaRPr lang="en-US" altLang="en-US" sz="1500" b="0">
                        <a:solidFill>
                          <a:srgbClr val="000000"/>
                        </a:solidFill>
                        <a:latin typeface="+mn-ea"/>
                        <a:ea typeface="+mn-ea"/>
                        <a:cs typeface="华文楷体" panose="02010600040101010101" charset="-122"/>
                      </a:endParaRPr>
                    </a:p>
                  </a:txBody>
                  <a:tcPr marL="38576" marR="38576" marT="0" marB="0" anchor="ctr"/>
                </a:tc>
                <a:extLst>
                  <a:ext uri="{0D108BD9-81ED-4DB2-BD59-A6C34878D82A}">
                    <a16:rowId xmlns:a16="http://schemas.microsoft.com/office/drawing/2014/main" val="10004"/>
                  </a:ext>
                </a:extLst>
              </a:tr>
              <a:tr h="284651">
                <a:tc>
                  <a:txBody>
                    <a:bodyPr/>
                    <a:lstStyle/>
                    <a:p>
                      <a:pPr indent="0" algn="ctr">
                        <a:lnSpc>
                          <a:spcPct val="100000"/>
                        </a:lnSpc>
                        <a:buNone/>
                      </a:pPr>
                      <a:r>
                        <a:rPr lang="en-US" sz="1500">
                          <a:latin typeface="+mn-ea"/>
                          <a:ea typeface="+mn-ea"/>
                        </a:rPr>
                        <a:t>第6章</a:t>
                      </a:r>
                      <a:endParaRPr lang="en-US" altLang="en-US" sz="1500" b="0">
                        <a:solidFill>
                          <a:srgbClr val="000000"/>
                        </a:solidFill>
                        <a:latin typeface="+mn-ea"/>
                        <a:ea typeface="+mn-ea"/>
                        <a:cs typeface="华文楷体" panose="02010600040101010101" charset="-122"/>
                      </a:endParaRPr>
                    </a:p>
                  </a:txBody>
                  <a:tcPr marL="38576" marR="38576" marT="0" marB="0" anchor="ctr"/>
                </a:tc>
                <a:tc>
                  <a:txBody>
                    <a:bodyPr/>
                    <a:lstStyle/>
                    <a:p>
                      <a:pPr indent="0" algn="l">
                        <a:lnSpc>
                          <a:spcPct val="100000"/>
                        </a:lnSpc>
                        <a:buNone/>
                      </a:pPr>
                      <a:r>
                        <a:rPr lang="en-US" sz="1500" dirty="0" err="1">
                          <a:latin typeface="+mn-ea"/>
                          <a:ea typeface="+mn-ea"/>
                        </a:rPr>
                        <a:t>虚拟存储器</a:t>
                      </a:r>
                      <a:endParaRPr lang="en-US" altLang="en-US" sz="1500" b="0" dirty="0">
                        <a:solidFill>
                          <a:srgbClr val="000000"/>
                        </a:solidFill>
                        <a:latin typeface="+mn-ea"/>
                        <a:ea typeface="+mn-ea"/>
                        <a:cs typeface="华文楷体" panose="02010600040101010101" charset="-122"/>
                      </a:endParaRPr>
                    </a:p>
                  </a:txBody>
                  <a:tcPr marL="38576" marR="38576" marT="0" marB="0" anchor="ctr"/>
                </a:tc>
                <a:extLst>
                  <a:ext uri="{0D108BD9-81ED-4DB2-BD59-A6C34878D82A}">
                    <a16:rowId xmlns:a16="http://schemas.microsoft.com/office/drawing/2014/main" val="10005"/>
                  </a:ext>
                </a:extLst>
              </a:tr>
              <a:tr h="284651">
                <a:tc>
                  <a:txBody>
                    <a:bodyPr/>
                    <a:lstStyle/>
                    <a:p>
                      <a:pPr indent="0" algn="ctr">
                        <a:lnSpc>
                          <a:spcPct val="100000"/>
                        </a:lnSpc>
                        <a:buNone/>
                      </a:pPr>
                      <a:r>
                        <a:rPr lang="en-US" sz="1500">
                          <a:latin typeface="+mn-ea"/>
                          <a:ea typeface="+mn-ea"/>
                        </a:rPr>
                        <a:t>第7章</a:t>
                      </a:r>
                      <a:endParaRPr lang="en-US" altLang="en-US" sz="1500" b="0">
                        <a:solidFill>
                          <a:srgbClr val="000000"/>
                        </a:solidFill>
                        <a:latin typeface="+mn-ea"/>
                        <a:ea typeface="+mn-ea"/>
                        <a:cs typeface="华文楷体" panose="02010600040101010101" charset="-122"/>
                      </a:endParaRPr>
                    </a:p>
                  </a:txBody>
                  <a:tcPr marL="38576" marR="38576" marT="0" marB="0" anchor="ctr"/>
                </a:tc>
                <a:tc>
                  <a:txBody>
                    <a:bodyPr/>
                    <a:lstStyle/>
                    <a:p>
                      <a:pPr indent="0" algn="l">
                        <a:lnSpc>
                          <a:spcPct val="100000"/>
                        </a:lnSpc>
                        <a:buNone/>
                      </a:pPr>
                      <a:r>
                        <a:rPr lang="en-US" sz="1500">
                          <a:latin typeface="+mn-ea"/>
                          <a:ea typeface="+mn-ea"/>
                        </a:rPr>
                        <a:t>输入/输出系统</a:t>
                      </a:r>
                      <a:endParaRPr lang="en-US" altLang="en-US" sz="1500" b="0">
                        <a:solidFill>
                          <a:srgbClr val="000000"/>
                        </a:solidFill>
                        <a:latin typeface="+mn-ea"/>
                        <a:ea typeface="+mn-ea"/>
                        <a:cs typeface="华文楷体" panose="02010600040101010101" charset="-122"/>
                      </a:endParaRPr>
                    </a:p>
                  </a:txBody>
                  <a:tcPr marL="38576" marR="38576" marT="0" marB="0" anchor="ctr"/>
                </a:tc>
                <a:extLst>
                  <a:ext uri="{0D108BD9-81ED-4DB2-BD59-A6C34878D82A}">
                    <a16:rowId xmlns:a16="http://schemas.microsoft.com/office/drawing/2014/main" val="10006"/>
                  </a:ext>
                </a:extLst>
              </a:tr>
              <a:tr h="284651">
                <a:tc>
                  <a:txBody>
                    <a:bodyPr/>
                    <a:lstStyle/>
                    <a:p>
                      <a:pPr indent="0" algn="ctr">
                        <a:lnSpc>
                          <a:spcPct val="100000"/>
                        </a:lnSpc>
                        <a:buNone/>
                      </a:pPr>
                      <a:r>
                        <a:rPr lang="en-US" sz="1500">
                          <a:latin typeface="+mn-ea"/>
                          <a:ea typeface="+mn-ea"/>
                        </a:rPr>
                        <a:t>第8章</a:t>
                      </a:r>
                      <a:endParaRPr lang="en-US" altLang="en-US" sz="1500" b="0">
                        <a:solidFill>
                          <a:srgbClr val="000000"/>
                        </a:solidFill>
                        <a:latin typeface="+mn-ea"/>
                        <a:ea typeface="+mn-ea"/>
                        <a:cs typeface="华文楷体" panose="02010600040101010101" charset="-122"/>
                      </a:endParaRPr>
                    </a:p>
                  </a:txBody>
                  <a:tcPr marL="38576" marR="38576" marT="0" marB="0" anchor="ctr"/>
                </a:tc>
                <a:tc>
                  <a:txBody>
                    <a:bodyPr/>
                    <a:lstStyle/>
                    <a:p>
                      <a:pPr indent="0" algn="l">
                        <a:lnSpc>
                          <a:spcPct val="100000"/>
                        </a:lnSpc>
                        <a:buNone/>
                      </a:pPr>
                      <a:r>
                        <a:rPr lang="en-US" sz="1500">
                          <a:latin typeface="+mn-ea"/>
                          <a:ea typeface="+mn-ea"/>
                        </a:rPr>
                        <a:t>文件管理</a:t>
                      </a:r>
                      <a:endParaRPr lang="en-US" altLang="en-US" sz="1500" b="0">
                        <a:solidFill>
                          <a:srgbClr val="000000"/>
                        </a:solidFill>
                        <a:latin typeface="+mn-ea"/>
                        <a:ea typeface="+mn-ea"/>
                        <a:cs typeface="华文楷体" panose="02010600040101010101" charset="-122"/>
                      </a:endParaRPr>
                    </a:p>
                  </a:txBody>
                  <a:tcPr marL="38576" marR="38576" marT="0" marB="0" anchor="ctr"/>
                </a:tc>
                <a:extLst>
                  <a:ext uri="{0D108BD9-81ED-4DB2-BD59-A6C34878D82A}">
                    <a16:rowId xmlns:a16="http://schemas.microsoft.com/office/drawing/2014/main" val="10007"/>
                  </a:ext>
                </a:extLst>
              </a:tr>
              <a:tr h="284651">
                <a:tc>
                  <a:txBody>
                    <a:bodyPr/>
                    <a:lstStyle/>
                    <a:p>
                      <a:pPr indent="0" algn="ctr">
                        <a:lnSpc>
                          <a:spcPct val="100000"/>
                        </a:lnSpc>
                        <a:buNone/>
                      </a:pPr>
                      <a:r>
                        <a:rPr lang="en-US" sz="1500">
                          <a:latin typeface="+mn-ea"/>
                          <a:ea typeface="+mn-ea"/>
                        </a:rPr>
                        <a:t>第9章</a:t>
                      </a:r>
                      <a:endParaRPr lang="en-US" altLang="en-US" sz="1500" b="0">
                        <a:solidFill>
                          <a:srgbClr val="000000"/>
                        </a:solidFill>
                        <a:latin typeface="+mn-ea"/>
                        <a:ea typeface="+mn-ea"/>
                        <a:cs typeface="华文楷体" panose="02010600040101010101" charset="-122"/>
                      </a:endParaRPr>
                    </a:p>
                  </a:txBody>
                  <a:tcPr marL="38576" marR="38576" marT="0" marB="0" anchor="ctr"/>
                </a:tc>
                <a:tc>
                  <a:txBody>
                    <a:bodyPr/>
                    <a:lstStyle/>
                    <a:p>
                      <a:pPr indent="0" algn="l">
                        <a:lnSpc>
                          <a:spcPct val="100000"/>
                        </a:lnSpc>
                        <a:buNone/>
                      </a:pPr>
                      <a:r>
                        <a:rPr lang="en-US" sz="1500">
                          <a:latin typeface="+mn-ea"/>
                          <a:ea typeface="+mn-ea"/>
                        </a:rPr>
                        <a:t>磁盘存储器管理</a:t>
                      </a:r>
                      <a:endParaRPr lang="en-US" altLang="en-US" sz="1500" b="0">
                        <a:solidFill>
                          <a:srgbClr val="000000"/>
                        </a:solidFill>
                        <a:latin typeface="+mn-ea"/>
                        <a:ea typeface="+mn-ea"/>
                        <a:cs typeface="华文楷体" panose="02010600040101010101" charset="-122"/>
                      </a:endParaRPr>
                    </a:p>
                  </a:txBody>
                  <a:tcPr marL="38576" marR="38576" marT="0" marB="0" anchor="ctr"/>
                </a:tc>
                <a:extLst>
                  <a:ext uri="{0D108BD9-81ED-4DB2-BD59-A6C34878D82A}">
                    <a16:rowId xmlns:a16="http://schemas.microsoft.com/office/drawing/2014/main" val="10008"/>
                  </a:ext>
                </a:extLst>
              </a:tr>
              <a:tr h="284651">
                <a:tc>
                  <a:txBody>
                    <a:bodyPr/>
                    <a:lstStyle/>
                    <a:p>
                      <a:pPr indent="0" algn="ctr">
                        <a:lnSpc>
                          <a:spcPct val="100000"/>
                        </a:lnSpc>
                        <a:buNone/>
                      </a:pPr>
                      <a:r>
                        <a:rPr lang="en-US" sz="1500">
                          <a:latin typeface="+mn-ea"/>
                          <a:ea typeface="+mn-ea"/>
                        </a:rPr>
                        <a:t>第10章</a:t>
                      </a:r>
                      <a:endParaRPr lang="en-US" altLang="en-US" sz="1500" b="0">
                        <a:solidFill>
                          <a:srgbClr val="000000"/>
                        </a:solidFill>
                        <a:latin typeface="+mn-ea"/>
                        <a:ea typeface="+mn-ea"/>
                        <a:cs typeface="华文楷体" panose="02010600040101010101" charset="-122"/>
                      </a:endParaRPr>
                    </a:p>
                  </a:txBody>
                  <a:tcPr marL="38576" marR="38576" marT="0" marB="0" anchor="ctr"/>
                </a:tc>
                <a:tc>
                  <a:txBody>
                    <a:bodyPr/>
                    <a:lstStyle/>
                    <a:p>
                      <a:pPr indent="0" algn="l">
                        <a:lnSpc>
                          <a:spcPct val="100000"/>
                        </a:lnSpc>
                        <a:buNone/>
                      </a:pPr>
                      <a:r>
                        <a:rPr lang="en-US" sz="1500" dirty="0" err="1">
                          <a:latin typeface="+mn-ea"/>
                          <a:ea typeface="+mn-ea"/>
                        </a:rPr>
                        <a:t>多处理机操作系统</a:t>
                      </a:r>
                      <a:endParaRPr lang="en-US" altLang="en-US" sz="1500" b="0" dirty="0">
                        <a:solidFill>
                          <a:srgbClr val="000000"/>
                        </a:solidFill>
                        <a:latin typeface="+mn-ea"/>
                        <a:ea typeface="+mn-ea"/>
                        <a:cs typeface="华文楷体" panose="02010600040101010101" charset="-122"/>
                      </a:endParaRPr>
                    </a:p>
                  </a:txBody>
                  <a:tcPr marL="38576" marR="38576" marT="0" marB="0" anchor="ctr"/>
                </a:tc>
                <a:extLst>
                  <a:ext uri="{0D108BD9-81ED-4DB2-BD59-A6C34878D82A}">
                    <a16:rowId xmlns:a16="http://schemas.microsoft.com/office/drawing/2014/main" val="10009"/>
                  </a:ext>
                </a:extLst>
              </a:tr>
              <a:tr h="284651">
                <a:tc>
                  <a:txBody>
                    <a:bodyPr/>
                    <a:lstStyle/>
                    <a:p>
                      <a:pPr indent="0" algn="ctr">
                        <a:lnSpc>
                          <a:spcPct val="100000"/>
                        </a:lnSpc>
                        <a:buNone/>
                      </a:pPr>
                      <a:r>
                        <a:rPr lang="en-US" sz="1500">
                          <a:latin typeface="+mn-ea"/>
                          <a:ea typeface="+mn-ea"/>
                        </a:rPr>
                        <a:t>第11章</a:t>
                      </a:r>
                      <a:endParaRPr lang="en-US" altLang="en-US" sz="1500" b="0">
                        <a:solidFill>
                          <a:srgbClr val="000000"/>
                        </a:solidFill>
                        <a:latin typeface="+mn-ea"/>
                        <a:ea typeface="+mn-ea"/>
                        <a:cs typeface="华文楷体" panose="02010600040101010101" charset="-122"/>
                      </a:endParaRPr>
                    </a:p>
                  </a:txBody>
                  <a:tcPr marL="38576" marR="38576" marT="0" marB="0" anchor="ctr"/>
                </a:tc>
                <a:tc>
                  <a:txBody>
                    <a:bodyPr/>
                    <a:lstStyle/>
                    <a:p>
                      <a:pPr indent="0" algn="l">
                        <a:lnSpc>
                          <a:spcPct val="100000"/>
                        </a:lnSpc>
                        <a:buNone/>
                      </a:pPr>
                      <a:r>
                        <a:rPr lang="en-US" sz="1500">
                          <a:latin typeface="+mn-ea"/>
                          <a:ea typeface="+mn-ea"/>
                        </a:rPr>
                        <a:t>虚拟化和云计算</a:t>
                      </a:r>
                      <a:endParaRPr lang="en-US" altLang="en-US" sz="1500" b="0">
                        <a:solidFill>
                          <a:srgbClr val="000000"/>
                        </a:solidFill>
                        <a:latin typeface="+mn-ea"/>
                        <a:ea typeface="+mn-ea"/>
                        <a:cs typeface="华文楷体" panose="02010600040101010101" charset="-122"/>
                      </a:endParaRPr>
                    </a:p>
                  </a:txBody>
                  <a:tcPr marL="38576" marR="38576" marT="0" marB="0" anchor="ctr"/>
                </a:tc>
                <a:extLst>
                  <a:ext uri="{0D108BD9-81ED-4DB2-BD59-A6C34878D82A}">
                    <a16:rowId xmlns:a16="http://schemas.microsoft.com/office/drawing/2014/main" val="10010"/>
                  </a:ext>
                </a:extLst>
              </a:tr>
              <a:tr h="359767">
                <a:tc>
                  <a:txBody>
                    <a:bodyPr/>
                    <a:lstStyle/>
                    <a:p>
                      <a:pPr indent="0" algn="ctr">
                        <a:lnSpc>
                          <a:spcPct val="100000"/>
                        </a:lnSpc>
                        <a:buNone/>
                      </a:pPr>
                      <a:r>
                        <a:rPr lang="en-US" sz="1500">
                          <a:latin typeface="+mn-ea"/>
                          <a:ea typeface="+mn-ea"/>
                        </a:rPr>
                        <a:t>第12章</a:t>
                      </a:r>
                      <a:endParaRPr lang="en-US" altLang="en-US" sz="1500" b="0">
                        <a:solidFill>
                          <a:srgbClr val="000000"/>
                        </a:solidFill>
                        <a:latin typeface="+mn-ea"/>
                        <a:ea typeface="+mn-ea"/>
                        <a:cs typeface="华文楷体" panose="02010600040101010101" charset="-122"/>
                      </a:endParaRPr>
                    </a:p>
                  </a:txBody>
                  <a:tcPr marL="38576" marR="38576" marT="0" marB="0" anchor="ctr"/>
                </a:tc>
                <a:tc>
                  <a:txBody>
                    <a:bodyPr/>
                    <a:lstStyle/>
                    <a:p>
                      <a:pPr indent="0" algn="l">
                        <a:lnSpc>
                          <a:spcPct val="100000"/>
                        </a:lnSpc>
                        <a:buNone/>
                      </a:pPr>
                      <a:r>
                        <a:rPr lang="en-US" sz="1500" dirty="0" err="1">
                          <a:latin typeface="+mn-ea"/>
                          <a:ea typeface="+mn-ea"/>
                        </a:rPr>
                        <a:t>保护和安全</a:t>
                      </a:r>
                      <a:endParaRPr lang="en-US" altLang="en-US" sz="1500" b="0" dirty="0">
                        <a:solidFill>
                          <a:srgbClr val="000000"/>
                        </a:solidFill>
                        <a:latin typeface="+mn-ea"/>
                        <a:ea typeface="+mn-ea"/>
                        <a:cs typeface="华文楷体" panose="02010600040101010101" charset="-122"/>
                      </a:endParaRPr>
                    </a:p>
                  </a:txBody>
                  <a:tcPr marL="38576" marR="38576" marT="0" marB="0" anchor="ctr"/>
                </a:tc>
                <a:extLst>
                  <a:ext uri="{0D108BD9-81ED-4DB2-BD59-A6C34878D82A}">
                    <a16:rowId xmlns:a16="http://schemas.microsoft.com/office/drawing/2014/main" val="10011"/>
                  </a:ext>
                </a:extLst>
              </a:tr>
            </a:tbl>
          </a:graphicData>
        </a:graphic>
      </p:graphicFrame>
      <p:sp>
        <p:nvSpPr>
          <p:cNvPr id="12" name="前凸带形 11"/>
          <p:cNvSpPr/>
          <p:nvPr/>
        </p:nvSpPr>
        <p:spPr>
          <a:xfrm>
            <a:off x="7329488" y="5477351"/>
            <a:ext cx="1602581" cy="343853"/>
          </a:xfrm>
          <a:prstGeom prst="ribbon">
            <a:avLst>
              <a:gd name="adj1" fmla="val 16667"/>
              <a:gd name="adj2" fmla="val 67555"/>
            </a:avLst>
          </a:prstGeom>
          <a:solidFill>
            <a:srgbClr val="00005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chemeClr val="bg1"/>
                </a:solidFill>
                <a:latin typeface="黑体" panose="02010609060101010101" charset="-122"/>
                <a:ea typeface="黑体" panose="02010609060101010101" charset="-122"/>
              </a:rPr>
              <a:t>本章学习结束</a:t>
            </a:r>
          </a:p>
        </p:txBody>
      </p:sp>
    </p:spTree>
    <p:extLst>
      <p:ext uri="{BB962C8B-B14F-4D97-AF65-F5344CB8AC3E}">
        <p14:creationId xmlns:p14="http://schemas.microsoft.com/office/powerpoint/2010/main" val="390091120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课程思政小讲堂</a:t>
            </a:r>
          </a:p>
        </p:txBody>
      </p:sp>
      <p:sp>
        <p:nvSpPr>
          <p:cNvPr id="52" name="内容占位符 3"/>
          <p:cNvSpPr txBox="1"/>
          <p:nvPr/>
        </p:nvSpPr>
        <p:spPr>
          <a:xfrm>
            <a:off x="611450" y="1682677"/>
            <a:ext cx="7921101" cy="40721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225"/>
              </a:spcBef>
              <a:spcAft>
                <a:spcPts val="225"/>
              </a:spcAft>
              <a:buNone/>
            </a:pPr>
            <a:r>
              <a:rPr lang="en-US" altLang="zh-CN" dirty="0">
                <a:solidFill>
                  <a:srgbClr val="0000FF"/>
                </a:solidFill>
                <a:latin typeface="+mn-ea"/>
                <a:cs typeface="黑体" panose="02010609060101010101" charset="-122"/>
              </a:rPr>
              <a:t>Windows XP</a:t>
            </a:r>
            <a:r>
              <a:rPr lang="zh-CN" altLang="en-US" dirty="0">
                <a:solidFill>
                  <a:srgbClr val="0000FF"/>
                </a:solidFill>
                <a:latin typeface="+mn-ea"/>
                <a:cs typeface="黑体" panose="02010609060101010101" charset="-122"/>
              </a:rPr>
              <a:t>系统宣布“退役”，国产操作系统迎来新机遇</a:t>
            </a:r>
          </a:p>
          <a:p>
            <a:pPr marL="0" indent="342900" algn="just">
              <a:lnSpc>
                <a:spcPct val="125000"/>
              </a:lnSpc>
              <a:spcBef>
                <a:spcPts val="225"/>
              </a:spcBef>
              <a:spcAft>
                <a:spcPts val="225"/>
              </a:spcAft>
              <a:buNone/>
            </a:pPr>
            <a:r>
              <a:rPr lang="en-US" altLang="zh-CN" dirty="0">
                <a:latin typeface="+mn-ea"/>
                <a:cs typeface="Times New Roman" panose="02020603050405020304" pitchFamily="18" charset="0"/>
                <a:sym typeface="+mn-ea"/>
              </a:rPr>
              <a:t>2001</a:t>
            </a:r>
            <a:r>
              <a:rPr lang="zh-CN" altLang="en-US" dirty="0">
                <a:latin typeface="+mn-ea"/>
                <a:cs typeface="Times New Roman" panose="02020603050405020304" pitchFamily="18" charset="0"/>
                <a:sym typeface="+mn-ea"/>
              </a:rPr>
              <a:t>年</a:t>
            </a:r>
            <a:r>
              <a:rPr lang="en-US" altLang="zh-CN" dirty="0">
                <a:latin typeface="+mn-ea"/>
                <a:cs typeface="Times New Roman" panose="02020603050405020304" pitchFamily="18" charset="0"/>
                <a:sym typeface="+mn-ea"/>
              </a:rPr>
              <a:t>10</a:t>
            </a:r>
            <a:r>
              <a:rPr lang="zh-CN" altLang="en-US" dirty="0">
                <a:latin typeface="+mn-ea"/>
                <a:cs typeface="Times New Roman" panose="02020603050405020304" pitchFamily="18" charset="0"/>
                <a:sym typeface="+mn-ea"/>
              </a:rPr>
              <a:t>月</a:t>
            </a:r>
            <a:r>
              <a:rPr lang="en-US" altLang="zh-CN" dirty="0">
                <a:latin typeface="+mn-ea"/>
                <a:cs typeface="Times New Roman" panose="02020603050405020304" pitchFamily="18" charset="0"/>
                <a:sym typeface="+mn-ea"/>
              </a:rPr>
              <a:t>25</a:t>
            </a:r>
            <a:r>
              <a:rPr lang="zh-CN" altLang="en-US" dirty="0">
                <a:latin typeface="+mn-ea"/>
                <a:cs typeface="Times New Roman" panose="02020603050405020304" pitchFamily="18" charset="0"/>
                <a:sym typeface="+mn-ea"/>
              </a:rPr>
              <a:t>日，由微软公司研发的</a:t>
            </a:r>
            <a:r>
              <a:rPr lang="en-US" altLang="zh-CN" dirty="0">
                <a:latin typeface="+mn-ea"/>
                <a:cs typeface="Times New Roman" panose="02020603050405020304" pitchFamily="18" charset="0"/>
                <a:sym typeface="+mn-ea"/>
              </a:rPr>
              <a:t>Windows XP</a:t>
            </a:r>
            <a:r>
              <a:rPr lang="zh-CN" altLang="en-US" dirty="0">
                <a:latin typeface="+mn-ea"/>
                <a:cs typeface="Times New Roman" panose="02020603050405020304" pitchFamily="18" charset="0"/>
                <a:sym typeface="+mn-ea"/>
              </a:rPr>
              <a:t>系统正式发布。</a:t>
            </a:r>
          </a:p>
          <a:p>
            <a:pPr marL="0" indent="342900" algn="just">
              <a:lnSpc>
                <a:spcPct val="125000"/>
              </a:lnSpc>
              <a:spcBef>
                <a:spcPts val="225"/>
              </a:spcBef>
              <a:spcAft>
                <a:spcPts val="225"/>
              </a:spcAft>
              <a:buNone/>
            </a:pPr>
            <a:r>
              <a:rPr lang="en-US" altLang="zh-CN" dirty="0">
                <a:latin typeface="+mn-ea"/>
                <a:cs typeface="Times New Roman" panose="02020603050405020304" pitchFamily="18" charset="0"/>
                <a:sym typeface="+mn-ea"/>
              </a:rPr>
              <a:t>Windows XP</a:t>
            </a:r>
            <a:r>
              <a:rPr lang="zh-CN" altLang="en-US" dirty="0">
                <a:latin typeface="+mn-ea"/>
                <a:cs typeface="Times New Roman" panose="02020603050405020304" pitchFamily="18" charset="0"/>
                <a:sym typeface="+mn-ea"/>
              </a:rPr>
              <a:t>系统是一款面向个人计算机和平板电脑的操纵系统，具有界面华丽、兼容性好、功能丰富、管理方便等特点，集成了微软公司的防火墙技术，支持在第一时间为用户所要升级的硬件提供相关程序下载等功能。相比于</a:t>
            </a:r>
            <a:r>
              <a:rPr lang="en-US" altLang="zh-CN" dirty="0">
                <a:latin typeface="+mn-ea"/>
                <a:cs typeface="Times New Roman" panose="02020603050405020304" pitchFamily="18" charset="0"/>
                <a:sym typeface="+mn-ea"/>
              </a:rPr>
              <a:t>Windows</a:t>
            </a:r>
            <a:r>
              <a:rPr lang="zh-CN" altLang="en-US" dirty="0">
                <a:latin typeface="+mn-ea"/>
                <a:cs typeface="Times New Roman" panose="02020603050405020304" pitchFamily="18" charset="0"/>
                <a:sym typeface="+mn-ea"/>
              </a:rPr>
              <a:t>系列之前的操作系统，</a:t>
            </a:r>
            <a:r>
              <a:rPr lang="en-US" altLang="zh-CN" dirty="0">
                <a:latin typeface="+mn-ea"/>
                <a:cs typeface="Times New Roman" panose="02020603050405020304" pitchFamily="18" charset="0"/>
                <a:sym typeface="+mn-ea"/>
              </a:rPr>
              <a:t>Windows XP</a:t>
            </a:r>
            <a:r>
              <a:rPr lang="zh-CN" altLang="en-US" dirty="0">
                <a:latin typeface="+mn-ea"/>
                <a:cs typeface="Times New Roman" panose="02020603050405020304" pitchFamily="18" charset="0"/>
                <a:sym typeface="+mn-ea"/>
              </a:rPr>
              <a:t>系统的用户体验得到了极大程度的提升。这也就引出了该操作系统名称中“</a:t>
            </a:r>
            <a:r>
              <a:rPr lang="en-US" altLang="zh-CN" dirty="0">
                <a:latin typeface="+mn-ea"/>
                <a:cs typeface="Times New Roman" panose="02020603050405020304" pitchFamily="18" charset="0"/>
                <a:sym typeface="+mn-ea"/>
              </a:rPr>
              <a:t>XP”</a:t>
            </a:r>
            <a:r>
              <a:rPr lang="zh-CN" altLang="en-US" dirty="0">
                <a:latin typeface="+mn-ea"/>
                <a:cs typeface="Times New Roman" panose="02020603050405020304" pitchFamily="18" charset="0"/>
                <a:sym typeface="+mn-ea"/>
              </a:rPr>
              <a:t>的由来，其即“</a:t>
            </a:r>
            <a:r>
              <a:rPr lang="en-US" altLang="zh-CN" dirty="0">
                <a:latin typeface="+mn-ea"/>
                <a:cs typeface="Times New Roman" panose="02020603050405020304" pitchFamily="18" charset="0"/>
                <a:sym typeface="+mn-ea"/>
              </a:rPr>
              <a:t>experience”</a:t>
            </a:r>
            <a:r>
              <a:rPr lang="zh-CN" altLang="en-US" dirty="0">
                <a:latin typeface="+mn-ea"/>
                <a:cs typeface="Times New Roman" panose="02020603050405020304" pitchFamily="18" charset="0"/>
                <a:sym typeface="+mn-ea"/>
              </a:rPr>
              <a:t>（体验）一词的缩写。</a:t>
            </a:r>
          </a:p>
          <a:p>
            <a:pPr marL="0" indent="342900" algn="just">
              <a:lnSpc>
                <a:spcPct val="125000"/>
              </a:lnSpc>
              <a:spcBef>
                <a:spcPts val="225"/>
              </a:spcBef>
              <a:spcAft>
                <a:spcPts val="225"/>
              </a:spcAft>
              <a:buNone/>
            </a:pPr>
            <a:r>
              <a:rPr lang="en-US" altLang="zh-CN" dirty="0">
                <a:latin typeface="+mn-ea"/>
                <a:cs typeface="Times New Roman" panose="02020603050405020304" pitchFamily="18" charset="0"/>
                <a:sym typeface="+mn-ea"/>
              </a:rPr>
              <a:t>2014</a:t>
            </a:r>
            <a:r>
              <a:rPr lang="zh-CN" altLang="en-US" dirty="0">
                <a:latin typeface="+mn-ea"/>
                <a:cs typeface="Times New Roman" panose="02020603050405020304" pitchFamily="18" charset="0"/>
                <a:sym typeface="+mn-ea"/>
              </a:rPr>
              <a:t>年</a:t>
            </a:r>
            <a:r>
              <a:rPr lang="en-US" altLang="zh-CN" dirty="0">
                <a:latin typeface="+mn-ea"/>
                <a:cs typeface="Times New Roman" panose="02020603050405020304" pitchFamily="18" charset="0"/>
                <a:sym typeface="+mn-ea"/>
              </a:rPr>
              <a:t>4</a:t>
            </a:r>
            <a:r>
              <a:rPr lang="zh-CN" altLang="en-US" dirty="0">
                <a:latin typeface="+mn-ea"/>
                <a:cs typeface="Times New Roman" panose="02020603050405020304" pitchFamily="18" charset="0"/>
                <a:sym typeface="+mn-ea"/>
              </a:rPr>
              <a:t>月</a:t>
            </a:r>
            <a:r>
              <a:rPr lang="en-US" altLang="zh-CN" dirty="0">
                <a:latin typeface="+mn-ea"/>
                <a:cs typeface="Times New Roman" panose="02020603050405020304" pitchFamily="18" charset="0"/>
                <a:sym typeface="+mn-ea"/>
              </a:rPr>
              <a:t>8</a:t>
            </a:r>
            <a:r>
              <a:rPr lang="zh-CN" altLang="en-US" dirty="0">
                <a:latin typeface="+mn-ea"/>
                <a:cs typeface="Times New Roman" panose="02020603050405020304" pitchFamily="18" charset="0"/>
                <a:sym typeface="+mn-ea"/>
              </a:rPr>
              <a:t>日，这款功能多、体验好，在各个领域经过</a:t>
            </a:r>
            <a:r>
              <a:rPr lang="en-US" altLang="zh-CN" dirty="0">
                <a:latin typeface="+mn-ea"/>
                <a:cs typeface="Times New Roman" panose="02020603050405020304" pitchFamily="18" charset="0"/>
                <a:sym typeface="+mn-ea"/>
              </a:rPr>
              <a:t>13</a:t>
            </a:r>
            <a:r>
              <a:rPr lang="zh-CN" altLang="en-US" dirty="0">
                <a:latin typeface="+mn-ea"/>
                <a:cs typeface="Times New Roman" panose="02020603050405020304" pitchFamily="18" charset="0"/>
                <a:sym typeface="+mn-ea"/>
              </a:rPr>
              <a:t>年广泛应用的操作系统正式宣布“退役”，即微软公司终止对</a:t>
            </a:r>
            <a:r>
              <a:rPr lang="en-US" altLang="zh-CN" dirty="0">
                <a:latin typeface="+mn-ea"/>
                <a:cs typeface="Times New Roman" panose="02020603050405020304" pitchFamily="18" charset="0"/>
                <a:sym typeface="+mn-ea"/>
              </a:rPr>
              <a:t>Windows XP</a:t>
            </a:r>
            <a:r>
              <a:rPr lang="zh-CN" altLang="en-US" dirty="0">
                <a:latin typeface="+mn-ea"/>
                <a:cs typeface="Times New Roman" panose="02020603050405020304" pitchFamily="18" charset="0"/>
                <a:sym typeface="+mn-ea"/>
              </a:rPr>
              <a:t>系统继续提供技术支持。</a:t>
            </a:r>
            <a:endParaRPr lang="zh-CN" altLang="en-US" dirty="0">
              <a:latin typeface="+mn-ea"/>
              <a:cs typeface="Times New Roman" panose="02020603050405020304" pitchFamily="18" charset="0"/>
            </a:endParaRPr>
          </a:p>
        </p:txBody>
      </p:sp>
    </p:spTree>
    <p:extLst>
      <p:ext uri="{BB962C8B-B14F-4D97-AF65-F5344CB8AC3E}">
        <p14:creationId xmlns:p14="http://schemas.microsoft.com/office/powerpoint/2010/main" val="420120712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rPr>
              <a:t>课程思政小讲堂</a:t>
            </a:r>
          </a:p>
        </p:txBody>
      </p:sp>
      <p:sp>
        <p:nvSpPr>
          <p:cNvPr id="52" name="内容占位符 3"/>
          <p:cNvSpPr txBox="1"/>
          <p:nvPr/>
        </p:nvSpPr>
        <p:spPr>
          <a:xfrm>
            <a:off x="502444" y="1915527"/>
            <a:ext cx="8136384" cy="342357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225"/>
              </a:spcBef>
              <a:spcAft>
                <a:spcPts val="225"/>
              </a:spcAft>
              <a:buNone/>
            </a:pPr>
            <a:r>
              <a:rPr lang="en-US" altLang="zh-CN" dirty="0">
                <a:solidFill>
                  <a:srgbClr val="0000FF"/>
                </a:solidFill>
                <a:latin typeface="+mn-ea"/>
                <a:cs typeface="黑体" panose="02010609060101010101" charset="-122"/>
              </a:rPr>
              <a:t>Windows XP</a:t>
            </a:r>
            <a:r>
              <a:rPr lang="zh-CN" altLang="en-US" dirty="0">
                <a:solidFill>
                  <a:srgbClr val="0000FF"/>
                </a:solidFill>
                <a:latin typeface="+mn-ea"/>
                <a:cs typeface="黑体" panose="02010609060101010101" charset="-122"/>
              </a:rPr>
              <a:t>系统宣布“退役”，国产操作系统迎来新机遇</a:t>
            </a:r>
          </a:p>
          <a:p>
            <a:pPr marL="0" indent="342900" algn="just">
              <a:lnSpc>
                <a:spcPct val="125000"/>
              </a:lnSpc>
              <a:spcBef>
                <a:spcPts val="225"/>
              </a:spcBef>
              <a:spcAft>
                <a:spcPts val="225"/>
              </a:spcAft>
              <a:buNone/>
            </a:pPr>
            <a:r>
              <a:rPr lang="zh-CN" altLang="en-US" dirty="0">
                <a:latin typeface="+mn-ea"/>
                <a:cs typeface="Times New Roman" panose="02020603050405020304" pitchFamily="18" charset="0"/>
                <a:sym typeface="+mn-ea"/>
              </a:rPr>
              <a:t>该事件实际上对我国工薪阶层以及行动迟缓的单位机关造成了一定的影响，但是同时也给国产操作系统的发展带来了新机遇。虽说当时我国还没有真正意义上自己的操作系统（没有自己的操作系统，就得继续受制于人），但是，计算机技术对国人来说具有独到优势（在计算机相关技术国际知名企业中有大量国人就业），而且我国的整体经济状况呈良好发展态势，因此，无论从哪个层面讲，我国都有必要投入人力、物力来研发自己的操作系统。</a:t>
            </a:r>
          </a:p>
          <a:p>
            <a:pPr marL="0" indent="342900" algn="just">
              <a:lnSpc>
                <a:spcPct val="125000"/>
              </a:lnSpc>
              <a:spcBef>
                <a:spcPts val="225"/>
              </a:spcBef>
              <a:spcAft>
                <a:spcPts val="225"/>
              </a:spcAft>
              <a:buNone/>
            </a:pPr>
            <a:r>
              <a:rPr lang="zh-CN" altLang="en-US" u="sng" dirty="0">
                <a:latin typeface="+mn-ea"/>
                <a:cs typeface="Times New Roman" panose="02020603050405020304" pitchFamily="18" charset="0"/>
                <a:sym typeface="+mn-ea"/>
              </a:rPr>
              <a:t>我们坚信，在众多知识分子与科技人才的共同努力下，我国必定能够早日研发成功自主可控的国产操作系统，从此不再受制于人！</a:t>
            </a:r>
          </a:p>
        </p:txBody>
      </p:sp>
    </p:spTree>
    <p:extLst>
      <p:ext uri="{BB962C8B-B14F-4D97-AF65-F5344CB8AC3E}">
        <p14:creationId xmlns:p14="http://schemas.microsoft.com/office/powerpoint/2010/main" val="44936912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191" y="858441"/>
          <a:ext cx="1191" cy="1191"/>
        </p:xfrm>
        <a:graphic>
          <a:graphicData uri="http://schemas.openxmlformats.org/presentationml/2006/ole">
            <mc:AlternateContent xmlns:mc="http://schemas.openxmlformats.org/markup-compatibility/2006">
              <mc:Choice xmlns:v="urn:schemas-microsoft-com:vml" Requires="v">
                <p:oleObj name="think-cell Slide" r:id="rId4" imgW="9525" imgH="9525" progId="TCLayout.ActiveDocument.1">
                  <p:embed/>
                </p:oleObj>
              </mc:Choice>
              <mc:Fallback>
                <p:oleObj name="think-cell Slide" r:id="rId4" imgW="9525" imgH="9525" progId="TCLayout.ActiveDocument.1">
                  <p:embed/>
                  <p:pic>
                    <p:nvPicPr>
                      <p:cNvPr id="3" name="对象 2" hidden="1"/>
                      <p:cNvPicPr/>
                      <p:nvPr/>
                    </p:nvPicPr>
                    <p:blipFill>
                      <a:blip r:embed="rId5"/>
                      <a:stretch>
                        <a:fillRect/>
                      </a:stretch>
                    </p:blipFill>
                    <p:spPr>
                      <a:xfrm>
                        <a:off x="1191" y="858441"/>
                        <a:ext cx="1191" cy="1191"/>
                      </a:xfrm>
                      <a:prstGeom prst="rect">
                        <a:avLst/>
                      </a:prstGeom>
                    </p:spPr>
                  </p:pic>
                </p:oleObj>
              </mc:Fallback>
            </mc:AlternateContent>
          </a:graphicData>
        </a:graphic>
      </p:graphicFrame>
      <p:sp>
        <p:nvSpPr>
          <p:cNvPr id="2" name="矩形 1" hidden="1"/>
          <p:cNvSpPr/>
          <p:nvPr>
            <p:custDataLst>
              <p:tags r:id="rId2"/>
            </p:custDataLst>
          </p:nvPr>
        </p:nvSpPr>
        <p:spPr>
          <a:xfrm>
            <a:off x="0" y="857250"/>
            <a:ext cx="119063" cy="119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1800"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 name="标题 4"/>
          <p:cNvSpPr>
            <a:spLocks noGrp="1"/>
          </p:cNvSpPr>
          <p:nvPr>
            <p:ph type="ctrTitle"/>
          </p:nvPr>
        </p:nvSpPr>
        <p:spPr>
          <a:xfrm>
            <a:off x="3556569" y="2415740"/>
            <a:ext cx="4902653" cy="1792820"/>
          </a:xfrm>
        </p:spPr>
        <p:txBody>
          <a:bodyPr>
            <a:normAutofit/>
          </a:bodyPr>
          <a:lstStyle/>
          <a:p>
            <a:r>
              <a:rPr lang="zh-CN" altLang="en-US" sz="4950" dirty="0"/>
              <a:t>学 习 进 步 ！</a:t>
            </a:r>
            <a:endParaRPr lang="zh-CN" altLang="en-US" sz="3000" dirty="0"/>
          </a:p>
        </p:txBody>
      </p:sp>
      <p:sp>
        <p:nvSpPr>
          <p:cNvPr id="8" name="任意多边形: 形状 7"/>
          <p:cNvSpPr/>
          <p:nvPr/>
        </p:nvSpPr>
        <p:spPr>
          <a:xfrm>
            <a:off x="502444" y="2615441"/>
            <a:ext cx="414147" cy="2922156"/>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 name="矩形: 圆角 13"/>
          <p:cNvSpPr/>
          <p:nvPr/>
        </p:nvSpPr>
        <p:spPr>
          <a:xfrm>
            <a:off x="558057" y="5559446"/>
            <a:ext cx="3274857" cy="344454"/>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chemeClr val="tx1"/>
                </a:solidFill>
              </a:rPr>
              <a:t>作者：汤小丹、王红玲、姜华、汤子瀛</a:t>
            </a:r>
          </a:p>
        </p:txBody>
      </p:sp>
      <p:sp>
        <p:nvSpPr>
          <p:cNvPr id="11" name="矩形 10"/>
          <p:cNvSpPr/>
          <p:nvPr/>
        </p:nvSpPr>
        <p:spPr>
          <a:xfrm>
            <a:off x="906771" y="1308973"/>
            <a:ext cx="3575018" cy="346249"/>
          </a:xfrm>
          <a:prstGeom prst="rect">
            <a:avLst/>
          </a:prstGeom>
        </p:spPr>
        <p:txBody>
          <a:bodyPr wrap="none">
            <a:spAutoFit/>
          </a:bodyPr>
          <a:lstStyle/>
          <a:p>
            <a:pPr algn="ctr"/>
            <a:r>
              <a:rPr lang="zh-CN" altLang="en-US" sz="1650" dirty="0">
                <a:solidFill>
                  <a:schemeClr val="bg1"/>
                </a:solidFill>
                <a:sym typeface="+mn-ea"/>
              </a:rPr>
              <a:t>经典教材《计算机操作系统》</a:t>
            </a:r>
            <a:r>
              <a:rPr lang="zh-CN" altLang="en-US" sz="1650" b="1" dirty="0">
                <a:solidFill>
                  <a:schemeClr val="accent2"/>
                </a:solidFill>
                <a:sym typeface="+mn-ea"/>
              </a:rPr>
              <a:t>最新版</a:t>
            </a:r>
            <a:endParaRPr lang="zh-CN" altLang="en-US" sz="1650" b="1" dirty="0">
              <a:solidFill>
                <a:schemeClr val="accent2"/>
              </a:solidFill>
            </a:endParaRPr>
          </a:p>
        </p:txBody>
      </p:sp>
      <p:pic>
        <p:nvPicPr>
          <p:cNvPr id="12" name="图片 11"/>
          <p:cNvPicPr>
            <a:picLocks noChangeAspect="1"/>
          </p:cNvPicPr>
          <p:nvPr/>
        </p:nvPicPr>
        <p:blipFill>
          <a:blip r:embed="rId6"/>
          <a:stretch>
            <a:fillRect/>
          </a:stretch>
        </p:blipFill>
        <p:spPr>
          <a:xfrm>
            <a:off x="1255106" y="2801607"/>
            <a:ext cx="1881000" cy="2665681"/>
          </a:xfrm>
          <a:prstGeom prst="rect">
            <a:avLst/>
          </a:prstGeom>
        </p:spPr>
      </p:pic>
      <p:pic>
        <p:nvPicPr>
          <p:cNvPr id="13" name="图片 12"/>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304800" y="1249320"/>
            <a:ext cx="395288" cy="395288"/>
          </a:xfrm>
          <a:prstGeom prst="rect">
            <a:avLst/>
          </a:prstGeom>
        </p:spPr>
      </p:pic>
    </p:spTree>
    <p:extLst>
      <p:ext uri="{BB962C8B-B14F-4D97-AF65-F5344CB8AC3E}">
        <p14:creationId xmlns:p14="http://schemas.microsoft.com/office/powerpoint/2010/main" val="28078250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143be339-8b5c-48ef-9129-20e608d631ed}"/>
  <p:tag name="TABLE_ENDDRAG_ORIGIN_RECT" val="282*301"/>
  <p:tag name="TABLE_ENDDRAG_RECT" val="19*130*282*301"/>
</p:tagLst>
</file>

<file path=ppt/tags/tag4.xml><?xml version="1.0" encoding="utf-8"?>
<p:tagLst xmlns:a="http://schemas.openxmlformats.org/drawingml/2006/main" xmlns:r="http://schemas.openxmlformats.org/officeDocument/2006/relationships" xmlns:p="http://schemas.openxmlformats.org/presentationml/2006/main">
  <p:tag name="ISLIDE.DIAGRAM" val="210901"/>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99d2ea35-d2ff-4984-8393-b5cbcbc00887}"/>
</p:tagLst>
</file>

<file path=ppt/tags/tag6.xml><?xml version="1.0" encoding="utf-8"?>
<p:tagLst xmlns:a="http://schemas.openxmlformats.org/drawingml/2006/main" xmlns:r="http://schemas.openxmlformats.org/officeDocument/2006/relationships" xmlns:p="http://schemas.openxmlformats.org/presentationml/2006/main">
  <p:tag name="ISLIDE.DIAGRAM" val="217641"/>
  <p:tag name="KSO_WM_DIAGRAM_VIRTUALLY_FRAME" val="{&quot;height&quot;:347.866062992126,&quot;left&quot;:41.59503937007874,&quot;top&quot;:113.35866141732284,&quot;width&quot;:875.7549191402319}"/>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75.7549191402319}"/>
</p:tagLst>
</file>

<file path=ppt/tags/tag24.xml><?xml version="1.0" encoding="utf-8"?>
<p:tagLst xmlns:a="http://schemas.openxmlformats.org/drawingml/2006/main" xmlns:r="http://schemas.openxmlformats.org/officeDocument/2006/relationships" xmlns:p="http://schemas.openxmlformats.org/presentationml/2006/main">
  <p:tag name="ISLIDE.DIAGRAM" val="217641"/>
  <p:tag name="KSO_WM_DIAGRAM_VIRTUALLY_FRAME" val="{&quot;height&quot;:347.866062992126,&quot;left&quot;:41.59503937007874,&quot;top&quot;:113.35866141732284,&quot;width&quot;:868.2548031496062}"/>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47.866062992126,&quot;left&quot;:41.59503937007874,&quot;top&quot;:113.35866141732284,&quot;width&quot;:868.2548031496062}"/>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44.xml><?xml version="1.0" encoding="utf-8"?>
<p:tagLst xmlns:a="http://schemas.openxmlformats.org/drawingml/2006/main" xmlns:r="http://schemas.openxmlformats.org/officeDocument/2006/relationships" xmlns:p="http://schemas.openxmlformats.org/presentationml/2006/main">
  <p:tag name="ISLIDE.DIAGRAM" val="217641"/>
</p:tagLst>
</file>

<file path=ppt/tags/tag45.xml><?xml version="1.0" encoding="utf-8"?>
<p:tagLst xmlns:a="http://schemas.openxmlformats.org/drawingml/2006/main" xmlns:r="http://schemas.openxmlformats.org/officeDocument/2006/relationships" xmlns:p="http://schemas.openxmlformats.org/presentationml/2006/main">
  <p:tag name="ISLIDE.DIAGRAM" val="210901"/>
</p:tagLst>
</file>

<file path=ppt/tags/tag46.xml><?xml version="1.0" encoding="utf-8"?>
<p:tagLst xmlns:a="http://schemas.openxmlformats.org/drawingml/2006/main" xmlns:r="http://schemas.openxmlformats.org/officeDocument/2006/relationships" xmlns:p="http://schemas.openxmlformats.org/presentationml/2006/main">
  <p:tag name="KSO_WM_UNIT_TABLE_BEAUTIFY" val="smartTable{58a06314-7e72-4d48-85a8-7253ed818c17}"/>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1Smkff3fSzGMOuItfjj3Fw"/>
</p:tagLst>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宋体"/>
        <a:cs typeface=""/>
      </a:majorFont>
      <a:minorFont>
        <a:latin typeface="Tahoma"/>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3333CC"/>
          </a:solidFill>
        </a:ln>
      </a:spPr>
      <a:bodyPr vert="horz" wrap="square" lIns="91440" tIns="45720" rIns="91440" bIns="45720" numCol="1" rtlCol="0" anchor="t" anchorCtr="0" compatLnSpc="1">
        <a:scene3d>
          <a:camera prst="orthographicFront"/>
          <a:lightRig rig="threePt" dir="t"/>
        </a:scene3d>
        <a:sp3d extrusionH="57150">
          <a:bevelT w="38100" h="38100"/>
        </a:sp3d>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sz="2400" b="0" i="1" u="none" strike="noStrike" cap="none" normalizeH="0" baseline="0" smtClean="0">
            <a:ln>
              <a:solidFill>
                <a:srgbClr val="009900"/>
              </a:solidFill>
            </a:ln>
            <a:solidFill>
              <a:schemeClr val="tx1"/>
            </a:solidFill>
            <a:effectLst>
              <a:glow rad="228600">
                <a:schemeClr val="accent4">
                  <a:satMod val="175000"/>
                  <a:alpha val="40000"/>
                </a:schemeClr>
              </a:glow>
              <a:outerShdw blurRad="50800" dist="38100" dir="2700000" algn="tl" rotWithShape="0">
                <a:prstClr val="black">
                  <a:alpha val="40000"/>
                </a:prstClr>
              </a:outerShdw>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1"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txDef>
      <a:spPr>
        <a:noFill/>
      </a:spPr>
      <a:bodyPr wrap="square" rtlCol="0">
        <a:spAutoFit/>
      </a:bodyPr>
      <a:lstStyle>
        <a:defPPr>
          <a:defRPr lang="zh-CN" altLang="en-US" b="1" i="0">
            <a:solidFill>
              <a:srgbClr val="C00000"/>
            </a:solidFill>
            <a:latin typeface="Calibri" panose="020F0502020204030204" pitchFamily="34" charset="0"/>
          </a:defRPr>
        </a:defPPr>
      </a:lstStyle>
    </a:tx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0</TotalTime>
  <Words>13328</Words>
  <Application>Microsoft Office PowerPoint</Application>
  <PresentationFormat>全屏显示(4:3)</PresentationFormat>
  <Paragraphs>1738</Paragraphs>
  <Slides>159</Slides>
  <Notes>19</Notes>
  <HiddenSlides>0</HiddenSlides>
  <MMClips>0</MMClips>
  <ScaleCrop>false</ScaleCrop>
  <HeadingPairs>
    <vt:vector size="8" baseType="variant">
      <vt:variant>
        <vt:lpstr>已用的字体</vt:lpstr>
      </vt:variant>
      <vt:variant>
        <vt:i4>12</vt:i4>
      </vt:variant>
      <vt:variant>
        <vt:lpstr>主题</vt:lpstr>
      </vt:variant>
      <vt:variant>
        <vt:i4>3</vt:i4>
      </vt:variant>
      <vt:variant>
        <vt:lpstr>嵌入 OLE 服务器</vt:lpstr>
      </vt:variant>
      <vt:variant>
        <vt:i4>2</vt:i4>
      </vt:variant>
      <vt:variant>
        <vt:lpstr>幻灯片标题</vt:lpstr>
      </vt:variant>
      <vt:variant>
        <vt:i4>159</vt:i4>
      </vt:variant>
    </vt:vector>
  </HeadingPairs>
  <TitlesOfParts>
    <vt:vector size="176" baseType="lpstr">
      <vt:lpstr>Monotype Sorts</vt:lpstr>
      <vt:lpstr>黑体</vt:lpstr>
      <vt:lpstr>楷体_GB2312</vt:lpstr>
      <vt:lpstr>宋体</vt:lpstr>
      <vt:lpstr>Arial</vt:lpstr>
      <vt:lpstr>Calibri</vt:lpstr>
      <vt:lpstr>Courier New</vt:lpstr>
      <vt:lpstr>MT Extra</vt:lpstr>
      <vt:lpstr>Tahoma</vt:lpstr>
      <vt:lpstr>Times New Roman</vt:lpstr>
      <vt:lpstr>Wingdings</vt:lpstr>
      <vt:lpstr>Wingdings 2</vt:lpstr>
      <vt:lpstr>Blends</vt:lpstr>
      <vt:lpstr>1_Blends</vt:lpstr>
      <vt:lpstr>2_Blends</vt:lpstr>
      <vt:lpstr>think-cell Slide</vt:lpstr>
      <vt:lpstr>VISIO</vt:lpstr>
      <vt:lpstr>2.5  进程的同步和通信 </vt:lpstr>
      <vt:lpstr>   2.5.1  进程的同步与互斥 </vt:lpstr>
      <vt:lpstr>互斥举例2</vt:lpstr>
      <vt:lpstr>2.5.2  临界资源和临界区 </vt:lpstr>
      <vt:lpstr>2.5.2  临界资源和临界区 </vt:lpstr>
      <vt:lpstr>2.5.2  临界资源和临界区</vt:lpstr>
      <vt:lpstr>2.5.4  信号量 用于解决进程同步、互斥问题的通用工具。</vt:lpstr>
      <vt:lpstr>PowerPoint 演示文稿</vt:lpstr>
      <vt:lpstr>利用整型信号量实现互斥</vt:lpstr>
      <vt:lpstr>PowerPoint 演示文稿</vt:lpstr>
      <vt:lpstr>2.5.4  信号量</vt:lpstr>
      <vt:lpstr>2.5.4  信号量 </vt:lpstr>
      <vt:lpstr>2.5.4  信号量 </vt:lpstr>
      <vt:lpstr>2.5.4  信号量 </vt:lpstr>
      <vt:lpstr>信号量S的物理意义</vt:lpstr>
      <vt:lpstr>2.5.4  信号量 </vt:lpstr>
      <vt:lpstr>PowerPoint 演示文稿</vt:lpstr>
      <vt:lpstr>互斥举例2</vt:lpstr>
      <vt:lpstr>2.5.5  信号量的一般应用 </vt:lpstr>
      <vt:lpstr>2.5.5  信号量的一般应用 </vt:lpstr>
      <vt:lpstr>2.5.5  信号量的一般应用 </vt:lpstr>
      <vt:lpstr>2.5.5  信号量的一般应用 </vt:lpstr>
      <vt:lpstr>2.5.5  信号量的一般应用 同步例如续</vt:lpstr>
      <vt:lpstr>2.5.5  信号量的一般应用 同步例如续</vt:lpstr>
      <vt:lpstr>2.5.5  信号量的一般应用 </vt:lpstr>
      <vt:lpstr>练习3</vt:lpstr>
      <vt:lpstr>练习3</vt:lpstr>
      <vt:lpstr>练习3解答</vt:lpstr>
      <vt:lpstr>练习3解答</vt:lpstr>
      <vt:lpstr>PowerPoint 演示文稿</vt:lpstr>
      <vt:lpstr>PowerPoint 演示文稿</vt:lpstr>
      <vt:lpstr>小结</vt:lpstr>
      <vt:lpstr>2.5 进程同步和通信</vt:lpstr>
      <vt:lpstr>2.5.4  信号量——整型信号量</vt:lpstr>
      <vt:lpstr>2.5.4  信号量——结构型信号量</vt:lpstr>
      <vt:lpstr>2.5.4  信号量——结构型信号量</vt:lpstr>
      <vt:lpstr>2.5.4  信号量——结构型信号量</vt:lpstr>
      <vt:lpstr>2.6  经典进程同步问题</vt:lpstr>
      <vt:lpstr>1．生产者-消费者问题</vt:lpstr>
      <vt:lpstr>1．生产者-消费者问题</vt:lpstr>
      <vt:lpstr>1．生产者-消费者问题</vt:lpstr>
      <vt:lpstr>思考</vt:lpstr>
      <vt:lpstr>练习1</vt:lpstr>
      <vt:lpstr>练习1</vt:lpstr>
      <vt:lpstr>PowerPoint 演示文稿</vt:lpstr>
      <vt:lpstr>2.6  经典进程同步问题</vt:lpstr>
      <vt:lpstr>2．读者-写者问题</vt:lpstr>
      <vt:lpstr>PowerPoint 演示文稿</vt:lpstr>
      <vt:lpstr>读写公平排队（写者优先）</vt:lpstr>
      <vt:lpstr>PowerPoint 演示文稿</vt:lpstr>
      <vt:lpstr>课后思考</vt:lpstr>
      <vt:lpstr>PowerPoint 演示文稿</vt:lpstr>
      <vt:lpstr>PowerPoint 演示文稿</vt:lpstr>
      <vt:lpstr>练习3</vt:lpstr>
      <vt:lpstr>练习3</vt:lpstr>
      <vt:lpstr>PowerPoint 演示文稿</vt:lpstr>
      <vt:lpstr>2.6  经典进程同步问题</vt:lpstr>
      <vt:lpstr>3. 哲学家进餐问题</vt:lpstr>
      <vt:lpstr>3. 哲学家进餐问题</vt:lpstr>
      <vt:lpstr>3. 哲学家进餐问题</vt:lpstr>
      <vt:lpstr>用第一种方法解决死锁——C语言描述的算法</vt:lpstr>
      <vt:lpstr>第I个哲学家进程Process I：</vt:lpstr>
      <vt:lpstr>第二种解决办法：</vt:lpstr>
      <vt:lpstr>3．哲学家进餐问题</vt:lpstr>
      <vt:lpstr>3．哲学家进餐问题</vt:lpstr>
      <vt:lpstr>3．哲学家进餐问题</vt:lpstr>
      <vt:lpstr>2.6  经典进程同步问题</vt:lpstr>
      <vt:lpstr>分析问题：</vt:lpstr>
      <vt:lpstr>分析问题：</vt:lpstr>
      <vt:lpstr>4．打瞌睡的理发师问题</vt:lpstr>
      <vt:lpstr>4．打瞌睡的理发师问题 </vt:lpstr>
      <vt:lpstr>4．打瞌睡的理发师问题 </vt:lpstr>
      <vt:lpstr>取值各什么范围。</vt:lpstr>
      <vt:lpstr>第4章 进程同步</vt:lpstr>
      <vt:lpstr>PowerPoint 演示文稿</vt:lpstr>
      <vt:lpstr>PowerPoint 演示文稿</vt:lpstr>
      <vt:lpstr>PowerPoint 演示文稿</vt:lpstr>
      <vt:lpstr>   2.5.1  进程的同步与互斥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练习</vt:lpstr>
      <vt:lpstr>练习</vt:lpstr>
      <vt:lpstr>第4章 进程同步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第I个哲学家进程Process I：</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练习</vt:lpstr>
      <vt:lpstr>练习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学 习 进 步 ！</vt:lpstr>
    </vt:vector>
  </TitlesOfParts>
  <Company>jsj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进程与线程(2)</dc:title>
  <dc:creator/>
  <cp:lastModifiedBy>maikal jason</cp:lastModifiedBy>
  <cp:revision>173</cp:revision>
  <dcterms:created xsi:type="dcterms:W3CDTF">2005-04-13T08:12:04Z</dcterms:created>
  <dcterms:modified xsi:type="dcterms:W3CDTF">2026-01-14T14:13:24Z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09FA9BAA34B6414B80C820C19E85B796_12</vt:lpwstr>
  </property>
</Properties>
</file>