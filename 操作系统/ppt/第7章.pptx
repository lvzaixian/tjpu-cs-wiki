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6"/>
  </p:notesMasterIdLst>
  <p:sldIdLst>
    <p:sldId id="435" r:id="rId2"/>
    <p:sldId id="486" r:id="rId3"/>
    <p:sldId id="487" r:id="rId4"/>
    <p:sldId id="489" r:id="rId5"/>
    <p:sldId id="491" r:id="rId6"/>
    <p:sldId id="492" r:id="rId7"/>
    <p:sldId id="494" r:id="rId8"/>
    <p:sldId id="497" r:id="rId9"/>
    <p:sldId id="436" r:id="rId10"/>
    <p:sldId id="500" r:id="rId11"/>
    <p:sldId id="501" r:id="rId12"/>
    <p:sldId id="502" r:id="rId13"/>
    <p:sldId id="505" r:id="rId14"/>
    <p:sldId id="506" r:id="rId15"/>
    <p:sldId id="507" r:id="rId16"/>
    <p:sldId id="508" r:id="rId17"/>
    <p:sldId id="509" r:id="rId18"/>
    <p:sldId id="510" r:id="rId19"/>
    <p:sldId id="511" r:id="rId20"/>
    <p:sldId id="512" r:id="rId21"/>
    <p:sldId id="513" r:id="rId22"/>
    <p:sldId id="514" r:id="rId23"/>
    <p:sldId id="515" r:id="rId24"/>
    <p:sldId id="516" r:id="rId25"/>
    <p:sldId id="518" r:id="rId26"/>
    <p:sldId id="517" r:id="rId27"/>
    <p:sldId id="519" r:id="rId28"/>
    <p:sldId id="520" r:id="rId29"/>
    <p:sldId id="521" r:id="rId30"/>
    <p:sldId id="523" r:id="rId31"/>
    <p:sldId id="524" r:id="rId32"/>
    <p:sldId id="522" r:id="rId33"/>
    <p:sldId id="353" r:id="rId34"/>
    <p:sldId id="426" r:id="rId35"/>
    <p:sldId id="261" r:id="rId36"/>
    <p:sldId id="311" r:id="rId37"/>
    <p:sldId id="312" r:id="rId38"/>
    <p:sldId id="315" r:id="rId39"/>
    <p:sldId id="296" r:id="rId40"/>
    <p:sldId id="428" r:id="rId41"/>
    <p:sldId id="427" r:id="rId42"/>
    <p:sldId id="437" r:id="rId43"/>
    <p:sldId id="439" r:id="rId44"/>
    <p:sldId id="541" r:id="rId45"/>
    <p:sldId id="542" r:id="rId46"/>
    <p:sldId id="441" r:id="rId47"/>
    <p:sldId id="430" r:id="rId48"/>
    <p:sldId id="442" r:id="rId49"/>
    <p:sldId id="543" r:id="rId50"/>
    <p:sldId id="445" r:id="rId51"/>
    <p:sldId id="446" r:id="rId52"/>
    <p:sldId id="454" r:id="rId53"/>
    <p:sldId id="455" r:id="rId54"/>
    <p:sldId id="544" r:id="rId55"/>
    <p:sldId id="526" r:id="rId56"/>
    <p:sldId id="456" r:id="rId57"/>
    <p:sldId id="528" r:id="rId58"/>
    <p:sldId id="530" r:id="rId59"/>
    <p:sldId id="531" r:id="rId60"/>
    <p:sldId id="431" r:id="rId61"/>
    <p:sldId id="457" r:id="rId62"/>
    <p:sldId id="458" r:id="rId63"/>
    <p:sldId id="459" r:id="rId64"/>
    <p:sldId id="432" r:id="rId65"/>
    <p:sldId id="461" r:id="rId66"/>
    <p:sldId id="462" r:id="rId67"/>
    <p:sldId id="433" r:id="rId68"/>
    <p:sldId id="464" r:id="rId69"/>
    <p:sldId id="466" r:id="rId70"/>
    <p:sldId id="469" r:id="rId71"/>
    <p:sldId id="472" r:id="rId72"/>
    <p:sldId id="473" r:id="rId73"/>
    <p:sldId id="434" r:id="rId74"/>
    <p:sldId id="474" r:id="rId75"/>
    <p:sldId id="475" r:id="rId76"/>
    <p:sldId id="476" r:id="rId77"/>
    <p:sldId id="477" r:id="rId78"/>
    <p:sldId id="538" r:id="rId79"/>
    <p:sldId id="539" r:id="rId80"/>
    <p:sldId id="540" r:id="rId81"/>
    <p:sldId id="481" r:id="rId82"/>
    <p:sldId id="482" r:id="rId83"/>
    <p:sldId id="483" r:id="rId84"/>
    <p:sldId id="484" r:id="rId85"/>
  </p:sldIdLst>
  <p:sldSz cx="12192000" cy="6858000"/>
  <p:notesSz cx="6858000" cy="9144000"/>
  <p:custDataLst>
    <p:tags r:id="rId8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5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FF9933"/>
    <a:srgbClr val="06D24C"/>
    <a:srgbClr val="FFC000"/>
    <a:srgbClr val="C2C4C6"/>
    <a:srgbClr val="FFFF00"/>
    <a:srgbClr val="00005C"/>
    <a:srgbClr val="FFF700"/>
    <a:srgbClr val="035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6182" autoAdjust="0"/>
  </p:normalViewPr>
  <p:slideViewPr>
    <p:cSldViewPr snapToGrid="0">
      <p:cViewPr>
        <p:scale>
          <a:sx n="75" d="100"/>
          <a:sy n="75" d="100"/>
        </p:scale>
        <p:origin x="-1776" y="-942"/>
      </p:cViewPr>
      <p:guideLst>
        <p:guide orient="horz" pos="2085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gs" Target="tags/tag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941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860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+mn-ea"/>
                <a:sym typeface="+mn-ea"/>
              </a:rPr>
              <a:t>方案修改：取消假脱机管理进程，为打印机建立一个守护进程，由它执行一部分原来的假脱机管理进程的功能。</a:t>
            </a:r>
            <a:endParaRPr lang="en-US" altLang="zh-CN" dirty="0">
              <a:latin typeface="+mn-ea"/>
            </a:endParaRP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FF0000"/>
                </a:solidFill>
                <a:latin typeface="+mn-ea"/>
                <a:sym typeface="+mn-ea"/>
              </a:rPr>
              <a:t>守护进程</a:t>
            </a:r>
            <a:r>
              <a:rPr lang="zh-CN" altLang="en-US" dirty="0">
                <a:latin typeface="+mn-ea"/>
                <a:sym typeface="+mn-ea"/>
              </a:rPr>
              <a:t>是</a:t>
            </a:r>
            <a:r>
              <a:rPr lang="zh-CN" altLang="en-US" dirty="0">
                <a:solidFill>
                  <a:srgbClr val="0000FF"/>
                </a:solidFill>
                <a:latin typeface="+mn-ea"/>
                <a:sym typeface="+mn-ea"/>
              </a:rPr>
              <a:t>允许使用打印机的唯一进程。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62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  <a:t>‹#›</a:t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Layout" Target="../slideLayouts/slideLayout3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5" Type="http://schemas.openxmlformats.org/officeDocument/2006/relationships/image" Target="../media/image19.jpeg"/><Relationship Id="rId4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9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8.png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2" Type="http://schemas.openxmlformats.org/officeDocument/2006/relationships/tags" Target="../tags/tag30.xml"/><Relationship Id="rId16" Type="http://schemas.openxmlformats.org/officeDocument/2006/relationships/image" Target="../media/image38.pn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slideLayout" Target="../slideLayouts/slideLayout3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6.xml"/><Relationship Id="rId5" Type="http://schemas.openxmlformats.org/officeDocument/2006/relationships/image" Target="../media/image19.jpeg"/><Relationship Id="rId4" Type="http://schemas.openxmlformats.org/officeDocument/2006/relationships/image" Target="../media/image6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7.7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 </a:t>
            </a:r>
            <a:r>
              <a:rPr lang="zh-CN" altLang="en-US" sz="2800" b="1" dirty="0">
                <a:solidFill>
                  <a:schemeClr val="bg1"/>
                </a:solidFill>
              </a:rPr>
              <a:t>缓冲区管理</a:t>
            </a:r>
          </a:p>
        </p:txBody>
      </p:sp>
      <p:sp>
        <p:nvSpPr>
          <p:cNvPr id="4" name="i$lîďê"/>
          <p:cNvSpPr/>
          <p:nvPr/>
        </p:nvSpPr>
        <p:spPr>
          <a:xfrm>
            <a:off x="1815357" y="3273253"/>
            <a:ext cx="940214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缓冲区是一个存储区域</a:t>
            </a:r>
            <a:r>
              <a:rPr lang="zh-CN" altLang="en-US" sz="2400" dirty="0"/>
              <a:t>，可以由专门的硬件组成；</a:t>
            </a:r>
            <a:r>
              <a:rPr lang="zh-CN" altLang="en-US" sz="2400" dirty="0">
                <a:solidFill>
                  <a:srgbClr val="FF0000"/>
                </a:solidFill>
              </a:rPr>
              <a:t>更多的是利用内存。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15359" y="4485194"/>
            <a:ext cx="9273350" cy="70919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缓冲管理的主要功能是组织好这些缓冲区，并提供获得和释放缓冲区的手段。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15359" y="1812316"/>
            <a:ext cx="9402140" cy="77633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现代操作系统中，几乎所有的</a:t>
            </a:r>
            <a:r>
              <a:rPr lang="en-US" altLang="zh-CN" sz="2400" dirty="0"/>
              <a:t>I/O</a:t>
            </a:r>
            <a:r>
              <a:rPr lang="zh-CN" altLang="en-US" sz="2400" dirty="0"/>
              <a:t>设备在与</a:t>
            </a:r>
            <a:r>
              <a:rPr lang="en-US" altLang="zh-CN" sz="2400" dirty="0"/>
              <a:t>CPU</a:t>
            </a:r>
            <a:r>
              <a:rPr lang="zh-CN" altLang="en-US" sz="2400" dirty="0"/>
              <a:t>交换数据时，都用了缓冲区。缓解二者速度不匹配问题。</a:t>
            </a:r>
          </a:p>
        </p:txBody>
      </p:sp>
      <p:sp>
        <p:nvSpPr>
          <p:cNvPr id="9" name="îSļiḓè"/>
          <p:cNvSpPr/>
          <p:nvPr/>
        </p:nvSpPr>
        <p:spPr>
          <a:xfrm>
            <a:off x="1131856" y="17987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31855" y="440259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31855" y="317272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22111" y="199489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22109" y="3394744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51048" y="4592053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7.7.1 </a:t>
            </a:r>
            <a:r>
              <a:rPr lang="zh-CN" altLang="en-US" sz="2800" b="1" dirty="0">
                <a:solidFill>
                  <a:schemeClr val="bg1"/>
                </a:solidFill>
              </a:rPr>
              <a:t>缓冲的引入</a:t>
            </a:r>
          </a:p>
        </p:txBody>
      </p:sp>
      <p:sp>
        <p:nvSpPr>
          <p:cNvPr id="3" name="íšḻíḑê"/>
          <p:cNvSpPr/>
          <p:nvPr/>
        </p:nvSpPr>
        <p:spPr>
          <a:xfrm>
            <a:off x="1029748" y="1335797"/>
            <a:ext cx="9402140" cy="77633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引入缓冲的主要原因</a:t>
            </a:r>
          </a:p>
        </p:txBody>
      </p:sp>
      <p:sp>
        <p:nvSpPr>
          <p:cNvPr id="4" name="íşļîḓé"/>
          <p:cNvSpPr/>
          <p:nvPr/>
        </p:nvSpPr>
        <p:spPr bwMode="auto">
          <a:xfrm>
            <a:off x="1029748" y="2112134"/>
            <a:ext cx="4443773" cy="390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缓和</a:t>
            </a:r>
            <a:r>
              <a:rPr lang="en-US" altLang="zh-CN" sz="2400" dirty="0"/>
              <a:t>CPU</a:t>
            </a:r>
            <a:r>
              <a:rPr lang="zh-CN" altLang="en-US" sz="2400" dirty="0"/>
              <a:t>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设备间</a:t>
            </a:r>
            <a:r>
              <a:rPr lang="zh-CN" altLang="en-US" sz="2400" b="1" dirty="0"/>
              <a:t>速度</a:t>
            </a:r>
            <a:r>
              <a:rPr lang="zh-CN" altLang="en-US" sz="2400" dirty="0"/>
              <a:t>不匹配的矛盾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减少对</a:t>
            </a:r>
            <a:r>
              <a:rPr lang="en-US" altLang="zh-CN" sz="2400" dirty="0"/>
              <a:t>CPU</a:t>
            </a:r>
            <a:r>
              <a:rPr lang="zh-CN" altLang="en-US" sz="2400" dirty="0"/>
              <a:t>的</a:t>
            </a:r>
            <a:r>
              <a:rPr lang="zh-CN" altLang="en-US" sz="2400" b="1" dirty="0"/>
              <a:t>中断</a:t>
            </a:r>
            <a:r>
              <a:rPr lang="zh-CN" altLang="en-US" sz="2400" dirty="0"/>
              <a:t>频率，放宽对</a:t>
            </a:r>
            <a:r>
              <a:rPr lang="en-US" altLang="zh-CN" sz="2400" dirty="0"/>
              <a:t>CPU</a:t>
            </a:r>
            <a:r>
              <a:rPr lang="zh-CN" altLang="en-US" sz="2400" dirty="0"/>
              <a:t>中断响应时间的限制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解决</a:t>
            </a:r>
            <a:r>
              <a:rPr lang="zh-CN" altLang="en-US" sz="2400" b="1" dirty="0">
                <a:solidFill>
                  <a:schemeClr val="tx1"/>
                </a:solidFill>
              </a:rPr>
              <a:t>数据粒度</a:t>
            </a:r>
            <a:r>
              <a:rPr lang="zh-CN" altLang="en-US" sz="2400" dirty="0"/>
              <a:t>（比如块和字节）不匹配的问题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提高</a:t>
            </a:r>
            <a:r>
              <a:rPr lang="en-US" altLang="zh-CN" sz="2400" dirty="0"/>
              <a:t>CPU</a:t>
            </a:r>
            <a:r>
              <a:rPr lang="zh-CN" altLang="en-US" sz="2400" dirty="0"/>
              <a:t>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设备之间的</a:t>
            </a:r>
            <a:r>
              <a:rPr lang="zh-CN" altLang="en-US" sz="2400" b="1" dirty="0"/>
              <a:t>并行性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029" y="2215165"/>
            <a:ext cx="6133480" cy="341620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单缓冲工作示意图</a:t>
            </a: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05" y="1261531"/>
            <a:ext cx="11531555" cy="4881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双缓冲工作示意图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07" y="1359685"/>
            <a:ext cx="11791883" cy="4422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7.7.3 </a:t>
            </a:r>
            <a:r>
              <a:rPr lang="zh-CN" altLang="en-US" sz="2800" b="1" dirty="0">
                <a:solidFill>
                  <a:schemeClr val="bg1"/>
                </a:solidFill>
              </a:rPr>
              <a:t>环形缓冲区</a:t>
            </a:r>
          </a:p>
        </p:txBody>
      </p:sp>
      <p:grpSp>
        <p:nvGrpSpPr>
          <p:cNvPr id="3" name="27239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28057"/>
            <a:ext cx="11531600" cy="5008286"/>
            <a:chOff x="660400" y="1128057"/>
            <a:chExt cx="11531600" cy="5008286"/>
          </a:xfrm>
        </p:grpSpPr>
        <p:sp>
          <p:nvSpPr>
            <p:cNvPr id="4" name="iṥlídè"/>
            <p:cNvSpPr/>
            <p:nvPr/>
          </p:nvSpPr>
          <p:spPr>
            <a:xfrm>
              <a:off x="6958245" y="1128057"/>
              <a:ext cx="5233755" cy="5008286"/>
            </a:xfrm>
            <a:prstGeom prst="rect">
              <a:avLst/>
            </a:prstGeom>
            <a:blipFill>
              <a:blip r:embed="rId3"/>
              <a:stretch>
                <a:fillRect t="-27413" b="-27272"/>
              </a:stretch>
            </a:blipFill>
            <a:ln w="28575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5" name="iṡļiḓe"/>
            <p:cNvGrpSpPr/>
            <p:nvPr/>
          </p:nvGrpSpPr>
          <p:grpSpPr>
            <a:xfrm>
              <a:off x="660400" y="1420792"/>
              <a:ext cx="5905613" cy="1692297"/>
              <a:chOff x="660400" y="1420792"/>
              <a:chExt cx="5905613" cy="1692297"/>
            </a:xfrm>
          </p:grpSpPr>
          <p:sp>
            <p:nvSpPr>
              <p:cNvPr id="18" name="îṧľîḋé"/>
              <p:cNvSpPr txBox="1"/>
              <p:nvPr/>
            </p:nvSpPr>
            <p:spPr>
              <a:xfrm>
                <a:off x="1576080" y="1420792"/>
                <a:ext cx="4989933" cy="169229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3000"/>
                  </a:lnSpc>
                </a:pPr>
                <a:r>
                  <a:rPr lang="zh-CN" altLang="en-US" sz="2800" dirty="0"/>
                  <a:t>当输入与输出若两者的速度相差悬殊，双缓冲的效果则不够理想，不过可以随着缓冲区数量的增加，使情况有所改善。</a:t>
                </a:r>
              </a:p>
            </p:txBody>
          </p:sp>
          <p:grpSp>
            <p:nvGrpSpPr>
              <p:cNvPr id="15" name="ïS1íḋé"/>
              <p:cNvGrpSpPr/>
              <p:nvPr/>
            </p:nvGrpSpPr>
            <p:grpSpPr>
              <a:xfrm>
                <a:off x="660400" y="1860585"/>
                <a:ext cx="733394" cy="733394"/>
                <a:chOff x="660400" y="1860585"/>
                <a:chExt cx="733394" cy="733394"/>
              </a:xfrm>
            </p:grpSpPr>
            <p:sp>
              <p:nvSpPr>
                <p:cNvPr id="16" name="islîḋe"/>
                <p:cNvSpPr/>
                <p:nvPr/>
              </p:nvSpPr>
              <p:spPr>
                <a:xfrm>
                  <a:off x="660400" y="1860585"/>
                  <a:ext cx="733394" cy="733394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îŝlîďe"/>
                <p:cNvSpPr/>
                <p:nvPr/>
              </p:nvSpPr>
              <p:spPr>
                <a:xfrm>
                  <a:off x="797603" y="2045456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6" name="iŝļïḓê"/>
            <p:cNvGrpSpPr/>
            <p:nvPr/>
          </p:nvGrpSpPr>
          <p:grpSpPr>
            <a:xfrm>
              <a:off x="660400" y="4251929"/>
              <a:ext cx="5869409" cy="925378"/>
              <a:chOff x="660400" y="1860585"/>
              <a:chExt cx="5869409" cy="925378"/>
            </a:xfrm>
          </p:grpSpPr>
          <p:sp>
            <p:nvSpPr>
              <p:cNvPr id="12" name="ïšļíďè"/>
              <p:cNvSpPr txBox="1"/>
              <p:nvPr/>
            </p:nvSpPr>
            <p:spPr>
              <a:xfrm>
                <a:off x="1539875" y="1889655"/>
                <a:ext cx="4989934" cy="8963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引入多缓冲机制，可将多个缓冲组织为循环缓冲。</a:t>
                </a:r>
              </a:p>
            </p:txBody>
          </p:sp>
          <p:grpSp>
            <p:nvGrpSpPr>
              <p:cNvPr id="9" name="ïŝľídè"/>
              <p:cNvGrpSpPr/>
              <p:nvPr/>
            </p:nvGrpSpPr>
            <p:grpSpPr>
              <a:xfrm>
                <a:off x="660400" y="1860585"/>
                <a:ext cx="733394" cy="733394"/>
                <a:chOff x="660400" y="1860585"/>
                <a:chExt cx="733394" cy="733394"/>
              </a:xfrm>
            </p:grpSpPr>
            <p:sp>
              <p:nvSpPr>
                <p:cNvPr id="10" name="ïṡľïde"/>
                <p:cNvSpPr/>
                <p:nvPr/>
              </p:nvSpPr>
              <p:spPr>
                <a:xfrm>
                  <a:off x="660400" y="1860585"/>
                  <a:ext cx="733394" cy="733394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ïšliḍe"/>
                <p:cNvSpPr/>
                <p:nvPr/>
              </p:nvSpPr>
              <p:spPr>
                <a:xfrm>
                  <a:off x="806481" y="2072090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cxnSp>
          <p:nvCxnSpPr>
            <p:cNvPr id="7" name="直接连接符 6"/>
            <p:cNvCxnSpPr/>
            <p:nvPr/>
          </p:nvCxnSpPr>
          <p:spPr>
            <a:xfrm>
              <a:off x="669925" y="3786746"/>
              <a:ext cx="54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环形缓冲区的组成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098809"/>
            <a:ext cx="10878471" cy="5145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缓冲池的组成</a:t>
            </a:r>
          </a:p>
        </p:txBody>
      </p:sp>
      <p:sp>
        <p:nvSpPr>
          <p:cNvPr id="3" name="îṧľîḋé"/>
          <p:cNvSpPr txBox="1"/>
          <p:nvPr/>
        </p:nvSpPr>
        <p:spPr>
          <a:xfrm>
            <a:off x="669925" y="1255010"/>
            <a:ext cx="8507609" cy="59954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400" dirty="0"/>
              <a:t>对于既可用于输入又可用于输出的公用缓冲池</a:t>
            </a:r>
          </a:p>
        </p:txBody>
      </p:sp>
      <p:grpSp>
        <p:nvGrpSpPr>
          <p:cNvPr id="4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2109688"/>
            <a:ext cx="10845800" cy="3659977"/>
            <a:chOff x="673100" y="1929384"/>
            <a:chExt cx="10845800" cy="3659977"/>
          </a:xfrm>
        </p:grpSpPr>
        <p:sp>
          <p:nvSpPr>
            <p:cNvPr id="5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7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0" name="isľîdê"/>
            <p:cNvSpPr txBox="1"/>
            <p:nvPr>
              <p:custDataLst>
                <p:tags r:id="rId7"/>
              </p:custDataLst>
            </p:nvPr>
          </p:nvSpPr>
          <p:spPr>
            <a:xfrm>
              <a:off x="684710" y="4055364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FF"/>
                  </a:solidFill>
                </a:rPr>
                <a:t>空闲缓冲队列</a:t>
              </a:r>
              <a:r>
                <a:rPr lang="en-US" altLang="zh-CN" sz="2200" dirty="0" err="1">
                  <a:solidFill>
                    <a:srgbClr val="0000FF"/>
                  </a:solidFill>
                </a:rPr>
                <a:t>emq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空缓冲区所链成的队列</a:t>
              </a:r>
            </a:p>
          </p:txBody>
        </p:sp>
        <p:sp>
          <p:nvSpPr>
            <p:cNvPr id="11" name="îṣḻidé"/>
            <p:cNvSpPr txBox="1"/>
            <p:nvPr>
              <p:custDataLst>
                <p:tags r:id="rId8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ŝ1ïḋè"/>
            <p:cNvSpPr txBox="1"/>
            <p:nvPr>
              <p:custDataLst>
                <p:tags r:id="rId9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3" name="í$lîdé"/>
            <p:cNvSpPr txBox="1"/>
            <p:nvPr>
              <p:custDataLst>
                <p:tags r:id="rId10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4" name="išḻïďè"/>
            <p:cNvSpPr txBox="1"/>
            <p:nvPr>
              <p:custDataLst>
                <p:tags r:id="rId11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isľîdê"/>
            <p:cNvSpPr txBox="1"/>
            <p:nvPr>
              <p:custDataLst>
                <p:tags r:id="rId12"/>
              </p:custDataLst>
            </p:nvPr>
          </p:nvSpPr>
          <p:spPr>
            <a:xfrm>
              <a:off x="347018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FF"/>
                  </a:solidFill>
                </a:rPr>
                <a:t>输入队列</a:t>
              </a:r>
              <a:r>
                <a:rPr lang="en-US" altLang="zh-CN" sz="2200" dirty="0" err="1">
                  <a:solidFill>
                    <a:srgbClr val="0000FF"/>
                  </a:solidFill>
                </a:rPr>
                <a:t>inq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装满输入数据的缓冲区所链成的队列</a:t>
              </a:r>
            </a:p>
          </p:txBody>
        </p:sp>
        <p:sp>
          <p:nvSpPr>
            <p:cNvPr id="16" name="isľîdê"/>
            <p:cNvSpPr txBox="1"/>
            <p:nvPr>
              <p:custDataLst>
                <p:tags r:id="rId13"/>
              </p:custDataLst>
            </p:nvPr>
          </p:nvSpPr>
          <p:spPr>
            <a:xfrm>
              <a:off x="623741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FF"/>
                  </a:solidFill>
                </a:rPr>
                <a:t>输出队列</a:t>
              </a:r>
              <a:r>
                <a:rPr lang="en-US" altLang="zh-CN" sz="2200" dirty="0">
                  <a:solidFill>
                    <a:srgbClr val="0000FF"/>
                  </a:solidFill>
                </a:rPr>
                <a:t>out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装满输入数据的缓冲区所链成的队列</a:t>
              </a:r>
            </a:p>
          </p:txBody>
        </p:sp>
        <p:sp>
          <p:nvSpPr>
            <p:cNvPr id="17" name="isľîdê"/>
            <p:cNvSpPr txBox="1"/>
            <p:nvPr>
              <p:custDataLst>
                <p:tags r:id="rId14"/>
              </p:custDataLst>
            </p:nvPr>
          </p:nvSpPr>
          <p:spPr>
            <a:xfrm>
              <a:off x="8951357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rgbClr val="0000FF"/>
                  </a:solidFill>
                </a:rPr>
                <a:t>4</a:t>
              </a:r>
              <a:r>
                <a:rPr lang="zh-CN" altLang="en-US" sz="2200" dirty="0">
                  <a:solidFill>
                    <a:srgbClr val="0000FF"/>
                  </a:solidFill>
                </a:rPr>
                <a:t>种工作缓冲区：</a:t>
              </a:r>
              <a:r>
                <a:rPr lang="zh-CN" altLang="en-US" sz="2200" dirty="0"/>
                <a:t>收容输入缓冲区、提取输入缓冲区、收容输出缓冲区、提取输出缓冲区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7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7.8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磁盘性能概述和磁盘调度</a:t>
            </a:r>
            <a:endParaRPr lang="en-US" altLang="zh-CN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7.8.1</a:t>
            </a:r>
            <a:r>
              <a:rPr lang="zh-CN" altLang="en-US" sz="2800" b="1" dirty="0">
                <a:solidFill>
                  <a:schemeClr val="bg1"/>
                </a:solidFill>
              </a:rPr>
              <a:t>磁盘性能简述</a:t>
            </a:r>
          </a:p>
        </p:txBody>
      </p:sp>
      <p:sp>
        <p:nvSpPr>
          <p:cNvPr id="3" name="îṧľîḋé"/>
          <p:cNvSpPr txBox="1"/>
          <p:nvPr/>
        </p:nvSpPr>
        <p:spPr>
          <a:xfrm>
            <a:off x="1107807" y="1177736"/>
            <a:ext cx="8507609" cy="59954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400" dirty="0"/>
              <a:t>磁盘的结构</a:t>
            </a:r>
          </a:p>
        </p:txBody>
      </p:sp>
      <p:sp>
        <p:nvSpPr>
          <p:cNvPr id="4" name="îs1iďé"/>
          <p:cNvSpPr/>
          <p:nvPr/>
        </p:nvSpPr>
        <p:spPr>
          <a:xfrm>
            <a:off x="1107807" y="1868752"/>
            <a:ext cx="9711234" cy="40297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盘面（磁头）</a:t>
            </a:r>
            <a:r>
              <a:rPr lang="zh-CN" altLang="en-US" sz="2400" dirty="0"/>
              <a:t>：磁盘设备可包含一或多个盘片，每个盘片分为一个或两个盘面，每个面上有一个读写磁头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磁道（柱面）</a:t>
            </a:r>
            <a:r>
              <a:rPr lang="zh-CN" altLang="en-US" sz="2400" dirty="0"/>
              <a:t>：每个盘面可分成若干条磁道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扇区</a:t>
            </a:r>
            <a:r>
              <a:rPr lang="zh-CN" altLang="en-US" sz="2400" dirty="0"/>
              <a:t>：每条磁道逻辑上分成若干个大小相同的扇区。每个扇区的大小相当于一个盘块（数据块）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每条磁道上可存储相同数目的二进制位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磁盘密度</a:t>
            </a:r>
            <a:r>
              <a:rPr lang="zh-CN" altLang="en-US" sz="2400" dirty="0"/>
              <a:t>即每英寸中所存储的位数，显然是内层磁道的密度较外层磁道的密度高。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7.8.1</a:t>
            </a:r>
            <a:r>
              <a:rPr lang="zh-CN" altLang="en-US" sz="2800" b="1" dirty="0">
                <a:solidFill>
                  <a:schemeClr val="bg1"/>
                </a:solidFill>
              </a:rPr>
              <a:t>磁盘性能简述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167129"/>
            <a:ext cx="405928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154" y="1167129"/>
            <a:ext cx="670840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6049010" y="6489700"/>
            <a:ext cx="427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现代磁盘：外环磁道数多余内环磁道数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磁盘容量计算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746844" y="2569382"/>
            <a:ext cx="7185122" cy="9625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柱面</a:t>
            </a:r>
            <a:r>
              <a:rPr lang="en-US" altLang="zh-CN" sz="2200" dirty="0"/>
              <a:t>cylinder:19710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计算：</a:t>
            </a:r>
            <a:r>
              <a:rPr lang="en-US" altLang="zh-CN" sz="2200" dirty="0"/>
              <a:t>19710×255×16×512B=41173401600B=40GB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79" y="2138095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ym typeface="Wingdings" panose="05000000000000000000" pitchFamily="2" charset="2"/>
              </a:rPr>
              <a:t>40GB</a:t>
            </a:r>
            <a:r>
              <a:rPr lang="zh-CN" altLang="en-US" sz="2400" dirty="0">
                <a:sym typeface="Wingdings" panose="05000000000000000000" pitchFamily="2" charset="2"/>
              </a:rPr>
              <a:t>硬盘</a:t>
            </a:r>
          </a:p>
        </p:txBody>
      </p:sp>
      <p:sp>
        <p:nvSpPr>
          <p:cNvPr id="5" name="î$ļíḋè"/>
          <p:cNvSpPr/>
          <p:nvPr/>
        </p:nvSpPr>
        <p:spPr>
          <a:xfrm>
            <a:off x="1802480" y="4371305"/>
            <a:ext cx="9840019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2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297161"/>
            <a:ext cx="6697576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容量</a:t>
            </a:r>
            <a:r>
              <a:rPr lang="en-US" altLang="zh-CN" sz="2400" dirty="0">
                <a:solidFill>
                  <a:srgbClr val="0000FF"/>
                </a:solidFill>
              </a:rPr>
              <a:t>=</a:t>
            </a:r>
            <a:r>
              <a:rPr lang="zh-CN" altLang="en-US" sz="2400" dirty="0">
                <a:solidFill>
                  <a:srgbClr val="0000FF"/>
                </a:solidFill>
              </a:rPr>
              <a:t>柱面×磁头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×</a:t>
            </a:r>
            <a:r>
              <a:rPr lang="zh-CN" altLang="en-US" sz="2400" dirty="0">
                <a:solidFill>
                  <a:srgbClr val="0000FF"/>
                </a:solidFill>
              </a:rPr>
              <a:t>扇区</a:t>
            </a:r>
            <a:r>
              <a:rPr lang="zh-CN" altLang="en-US" sz="2400" dirty="0"/>
              <a:t>，每扇区存放</a:t>
            </a:r>
            <a:r>
              <a:rPr lang="en-US" altLang="zh-CN" sz="2400" dirty="0">
                <a:solidFill>
                  <a:srgbClr val="FF0000"/>
                </a:solidFill>
              </a:rPr>
              <a:t>512B</a:t>
            </a:r>
            <a:r>
              <a:rPr lang="zh-CN" altLang="en-US" sz="2400" dirty="0"/>
              <a:t>数据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203756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225958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íšḻîḋè"/>
          <p:cNvSpPr/>
          <p:nvPr/>
        </p:nvSpPr>
        <p:spPr>
          <a:xfrm>
            <a:off x="7114309" y="259173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sector:255</a:t>
            </a:r>
          </a:p>
        </p:txBody>
      </p:sp>
      <p:sp>
        <p:nvSpPr>
          <p:cNvPr id="16" name="íšḻîḋè"/>
          <p:cNvSpPr/>
          <p:nvPr/>
        </p:nvSpPr>
        <p:spPr>
          <a:xfrm>
            <a:off x="4757192" y="259173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head:16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磁盘的类型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300767" y="1139017"/>
            <a:ext cx="9646275" cy="53132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1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硬盘、软盘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2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单片盘、多片盘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3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固定头磁盘：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每个磁道上都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有一个读写磁头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并行方式读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写，有效提高磁盘的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I/O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速度</a:t>
            </a:r>
            <a:endParaRPr lang="en-US" altLang="zh-CN" sz="22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主要用于大容量磁盘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移动头磁盘：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每个盘面仅配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有一个磁头，能移动寻道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串行方式读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写，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I/O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速度较慢</a:t>
            </a:r>
            <a:endParaRPr lang="en-US" altLang="zh-CN" sz="22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广泛应用于中、小型磁盘设备中，后面都是讨论这种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13901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93967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3021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磁盘访问时间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2157848" y="2798009"/>
            <a:ext cx="8808790" cy="15653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磁头必须移动到所要求的磁道上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并等待所指定的扇区的开始位置旋转到磁头下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开始读写数据</a:t>
            </a:r>
          </a:p>
        </p:txBody>
      </p:sp>
      <p:sp>
        <p:nvSpPr>
          <p:cNvPr id="4" name="i$lîďê"/>
          <p:cNvSpPr/>
          <p:nvPr/>
        </p:nvSpPr>
        <p:spPr>
          <a:xfrm>
            <a:off x="2157849" y="2357561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为了读写</a:t>
            </a:r>
          </a:p>
        </p:txBody>
      </p:sp>
      <p:sp>
        <p:nvSpPr>
          <p:cNvPr id="5" name="î$ļíḋè"/>
          <p:cNvSpPr/>
          <p:nvPr/>
        </p:nvSpPr>
        <p:spPr>
          <a:xfrm>
            <a:off x="3336913" y="5006342"/>
            <a:ext cx="225725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寻道时间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3336913" y="4493567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磁盘的访问时间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590527" y="1486893"/>
            <a:ext cx="4894533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磁盘在工作时是以恒定速率旋转。</a:t>
            </a:r>
          </a:p>
        </p:txBody>
      </p:sp>
      <p:sp>
        <p:nvSpPr>
          <p:cNvPr id="9" name="îSļiḓè"/>
          <p:cNvSpPr/>
          <p:nvPr/>
        </p:nvSpPr>
        <p:spPr>
          <a:xfrm>
            <a:off x="822764" y="1376545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2653409" y="4410965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474347" y="2347188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013019" y="157268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664601" y="256920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2872602" y="460042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î$ļíḋè"/>
          <p:cNvSpPr/>
          <p:nvPr/>
        </p:nvSpPr>
        <p:spPr>
          <a:xfrm>
            <a:off x="5397532" y="5006342"/>
            <a:ext cx="2466094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en-US" sz="2400" dirty="0">
                <a:solidFill>
                  <a:srgbClr val="FF0000"/>
                </a:solidFill>
              </a:rPr>
              <a:t>旋转延迟时间</a:t>
            </a:r>
          </a:p>
        </p:txBody>
      </p:sp>
      <p:sp>
        <p:nvSpPr>
          <p:cNvPr id="16" name="î$ļíḋè"/>
          <p:cNvSpPr/>
          <p:nvPr/>
        </p:nvSpPr>
        <p:spPr>
          <a:xfrm>
            <a:off x="7917898" y="5038832"/>
            <a:ext cx="2006347" cy="4914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en-US" sz="2400" dirty="0">
                <a:solidFill>
                  <a:srgbClr val="FF0000"/>
                </a:solidFill>
              </a:rPr>
              <a:t>传输时间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寻道时间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Ts</a:t>
            </a:r>
            <a:r>
              <a:rPr lang="zh-CN" altLang="en-US" sz="2800" b="1" dirty="0" err="1">
                <a:solidFill>
                  <a:schemeClr val="bg1"/>
                </a:solidFill>
              </a:rPr>
              <a:t>（略）</a:t>
            </a: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5752997" cy="2438981"/>
            <a:chOff x="660400" y="1787149"/>
            <a:chExt cx="5752997" cy="2438981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5116830" cy="2390775"/>
              <a:chOff x="1296567" y="1835355"/>
              <a:chExt cx="6453604" cy="2390775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7122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把磁臂（磁头）移动到指定磁道上所经历的时间。</a:t>
                </a: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601800"/>
                <a:ext cx="6453604" cy="1624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启动磁臂的时间</a:t>
                </a:r>
                <a:r>
                  <a:rPr lang="en-US" altLang="zh-CN" sz="2400" dirty="0"/>
                  <a:t>k</a:t>
                </a: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磁头移动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条磁道所花费的时间</a:t>
                </a:r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3307150"/>
            <a:ext cx="6297847" cy="3764280"/>
            <a:chOff x="660400" y="2092935"/>
            <a:chExt cx="6297847" cy="3764280"/>
          </a:xfrm>
        </p:grpSpPr>
        <p:grpSp>
          <p:nvGrpSpPr>
            <p:cNvPr id="12" name="ïṧļïḓe"/>
            <p:cNvGrpSpPr/>
            <p:nvPr/>
          </p:nvGrpSpPr>
          <p:grpSpPr>
            <a:xfrm>
              <a:off x="1296567" y="2092935"/>
              <a:ext cx="5661680" cy="3764280"/>
              <a:chOff x="1296567" y="2092935"/>
              <a:chExt cx="7140794" cy="3764280"/>
            </a:xfrm>
          </p:grpSpPr>
          <p:sp>
            <p:nvSpPr>
              <p:cNvPr id="16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公式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T</a:t>
                </a:r>
                <a:r>
                  <a:rPr lang="en-US" altLang="zh-CN" sz="2400" baseline="-25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altLang="zh-CN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=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altLang="zh-CN" sz="22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×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n+k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7" name="íşľíḑè"/>
              <p:cNvSpPr/>
              <p:nvPr/>
            </p:nvSpPr>
            <p:spPr bwMode="auto">
              <a:xfrm>
                <a:off x="1312585" y="2588235"/>
                <a:ext cx="6633002" cy="326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m:</a:t>
                </a:r>
                <a:r>
                  <a:rPr lang="zh-CN" altLang="en-US" sz="2400" dirty="0"/>
                  <a:t>常数，与磁盘驱动器的速度有关，对一般磁盘，</a:t>
                </a:r>
                <a:r>
                  <a:rPr lang="en-US" altLang="zh-CN" sz="2400" dirty="0"/>
                  <a:t>m=0.2</a:t>
                </a:r>
                <a:r>
                  <a:rPr lang="zh-CN" altLang="en-US" sz="2400" dirty="0"/>
                  <a:t>；对高速磁盘，</a:t>
                </a:r>
                <a:r>
                  <a:rPr lang="en-US" altLang="zh-CN" sz="2400" dirty="0"/>
                  <a:t>m&lt;=0.1</a:t>
                </a:r>
              </a:p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k:</a:t>
                </a:r>
                <a:r>
                  <a:rPr lang="zh-CN" altLang="en-US" sz="2400" dirty="0"/>
                  <a:t>约</a:t>
                </a:r>
                <a:r>
                  <a:rPr lang="en-US" altLang="zh-CN" sz="2400" dirty="0"/>
                  <a:t>2ms</a:t>
                </a:r>
              </a:p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对一般温盘，寻道时间将随寻道距离的增加而增大，大体上是</a:t>
                </a:r>
                <a:r>
                  <a:rPr lang="en-US" altLang="zh-CN" sz="2400" dirty="0"/>
                  <a:t>5~30ms</a:t>
                </a:r>
              </a:p>
            </p:txBody>
          </p:sp>
        </p:grp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磁盘访问时间（略）</a:t>
            </a:r>
          </a:p>
        </p:txBody>
      </p:sp>
      <p:sp>
        <p:nvSpPr>
          <p:cNvPr id="4" name="i$lîďê"/>
          <p:cNvSpPr/>
          <p:nvPr/>
        </p:nvSpPr>
        <p:spPr>
          <a:xfrm>
            <a:off x="1570379" y="3607002"/>
            <a:ext cx="9311989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软盘：旋转速度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300 r/min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或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600 r/min 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， 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latin typeface="+mn-ea"/>
                <a:sym typeface="Wingdings" panose="05000000000000000000" pitchFamily="2" charset="2"/>
              </a:rPr>
              <a:t>τ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=50~100ms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570379" y="2166347"/>
            <a:ext cx="9804982" cy="9952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硬盘：典型的旋转速度大多为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5400r/min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（现在大多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7200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），每转需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11.1ms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，平均旋转延迟时间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=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½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*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1/(5400/60)</a:t>
            </a:r>
            <a:r>
              <a:rPr lang="en-US" altLang="zh-CN" sz="2400" dirty="0">
                <a:latin typeface="+mn-ea"/>
              </a:rPr>
              <a:t>sec 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=5.56ms</a:t>
            </a:r>
          </a:p>
        </p:txBody>
      </p:sp>
      <p:sp>
        <p:nvSpPr>
          <p:cNvPr id="9" name="îSļiḓè"/>
          <p:cNvSpPr/>
          <p:nvPr/>
        </p:nvSpPr>
        <p:spPr>
          <a:xfrm>
            <a:off x="1118977" y="216685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348950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236299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371152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" name="íšḻíḑê"/>
          <p:cNvSpPr/>
          <p:nvPr/>
        </p:nvSpPr>
        <p:spPr>
          <a:xfrm>
            <a:off x="669925" y="1121033"/>
            <a:ext cx="9804982" cy="9952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把指定扇区移动到磁头下所经历的时间。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传输时间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Tt</a:t>
            </a:r>
            <a:r>
              <a:rPr lang="zh-CN" altLang="en-US" sz="2800" b="1" dirty="0" err="1">
                <a:solidFill>
                  <a:schemeClr val="bg1"/>
                </a:solidFill>
              </a:rPr>
              <a:t>（略）</a:t>
            </a:r>
          </a:p>
        </p:txBody>
      </p:sp>
      <p:sp>
        <p:nvSpPr>
          <p:cNvPr id="3" name="i$lîďê"/>
          <p:cNvSpPr/>
          <p:nvPr/>
        </p:nvSpPr>
        <p:spPr>
          <a:xfrm>
            <a:off x="1544621" y="3014573"/>
            <a:ext cx="9311989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defRPr/>
            </a:pP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的大小与每次所读写的字节数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b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和旋转速度有关</a:t>
            </a:r>
          </a:p>
        </p:txBody>
      </p:sp>
      <p:sp>
        <p:nvSpPr>
          <p:cNvPr id="4" name="íšḻíḑê"/>
          <p:cNvSpPr/>
          <p:nvPr/>
        </p:nvSpPr>
        <p:spPr>
          <a:xfrm>
            <a:off x="1544621" y="1573918"/>
            <a:ext cx="9804982" cy="6283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把数据从磁盘读出或向磁盘写入数据所经历的时间</a:t>
            </a:r>
          </a:p>
        </p:txBody>
      </p:sp>
      <p:sp>
        <p:nvSpPr>
          <p:cNvPr id="5" name="îSļiḓè"/>
          <p:cNvSpPr/>
          <p:nvPr/>
        </p:nvSpPr>
        <p:spPr>
          <a:xfrm>
            <a:off x="1093219" y="157442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îşļiḓè"/>
          <p:cNvSpPr/>
          <p:nvPr/>
        </p:nvSpPr>
        <p:spPr>
          <a:xfrm>
            <a:off x="1093219" y="289707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îṡḷíďe"/>
          <p:cNvSpPr/>
          <p:nvPr/>
        </p:nvSpPr>
        <p:spPr>
          <a:xfrm>
            <a:off x="1283474" y="1770564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íSlíḋe"/>
          <p:cNvSpPr/>
          <p:nvPr/>
        </p:nvSpPr>
        <p:spPr>
          <a:xfrm>
            <a:off x="1283473" y="311909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157247" y="3880042"/>
          <a:ext cx="3496578" cy="127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700" imgH="393700" progId="Equation.3">
                  <p:embed/>
                </p:oleObj>
              </mc:Choice>
              <mc:Fallback>
                <p:oleObj name="Equation" r:id="rId2" imgW="520700" imgH="393700" progId="Equation.3">
                  <p:embed/>
                  <p:pic>
                    <p:nvPicPr>
                      <p:cNvPr id="0" name="图片 4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247" y="3880042"/>
                        <a:ext cx="3496578" cy="1274794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5885647" y="3869366"/>
            <a:ext cx="4765182" cy="12854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r: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磁盘每秒的转数</a:t>
            </a:r>
          </a:p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N: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一条磁道上的字节数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访问时间</a:t>
            </a:r>
            <a:r>
              <a:rPr lang="en-US" altLang="zh-CN" sz="2800" b="1" dirty="0">
                <a:solidFill>
                  <a:schemeClr val="bg1"/>
                </a:solidFill>
              </a:rPr>
              <a:t>T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a</a:t>
            </a:r>
            <a:endParaRPr lang="zh-CN" altLang="en-US" sz="2800" b="1" baseline="-250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787857" y="1177653"/>
            <a:ext cx="10725855" cy="6150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当一次读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写的字节数相当于半条磁道上的字节数时， 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与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latin typeface="+mn-ea"/>
                <a:sym typeface="Wingdings" panose="05000000000000000000" pitchFamily="2" charset="2"/>
              </a:rPr>
              <a:t>τ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相同，可将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访问时间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a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表示为：</a:t>
            </a:r>
          </a:p>
          <a:p>
            <a:pPr marL="0" indent="0">
              <a:lnSpc>
                <a:spcPct val="132000"/>
              </a:lnSpc>
              <a:spcBef>
                <a:spcPts val="600"/>
              </a:spcBef>
              <a:buNone/>
              <a:defRPr/>
            </a:pPr>
            <a:endParaRPr lang="zh-CN" altLang="en-US" sz="2400" dirty="0">
              <a:latin typeface="+mn-ea"/>
              <a:sym typeface="Wingdings" panose="05000000000000000000" pitchFamily="2" charset="2"/>
            </a:endParaRPr>
          </a:p>
          <a:p>
            <a:pPr lvl="1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在访问时间中，寻道时间和旋转延迟时间基本上都与所读写数据的多少无关，而且通常占据了访问时间中的大头。</a:t>
            </a:r>
          </a:p>
          <a:p>
            <a:pPr indent="-360045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+mn-ea"/>
              </a:rPr>
              <a:t>例子：</a:t>
            </a:r>
            <a:r>
              <a:rPr lang="en-US" altLang="zh-CN" sz="2400" dirty="0">
                <a:latin typeface="+mn-ea"/>
              </a:rPr>
              <a:t>4KB</a:t>
            </a:r>
            <a:r>
              <a:rPr lang="zh-CN" altLang="en-US" sz="2400" dirty="0">
                <a:latin typeface="+mn-ea"/>
              </a:rPr>
              <a:t>块，</a:t>
            </a:r>
            <a:r>
              <a:rPr lang="en-US" altLang="zh-CN" sz="2400" dirty="0">
                <a:latin typeface="+mn-ea"/>
              </a:rPr>
              <a:t> 5400 RPM</a:t>
            </a:r>
            <a:r>
              <a:rPr lang="zh-CN" altLang="en-US" sz="2400" dirty="0">
                <a:latin typeface="+mn-ea"/>
              </a:rPr>
              <a:t>磁盘，</a:t>
            </a:r>
            <a:r>
              <a:rPr lang="en-US" altLang="zh-CN" sz="2400" dirty="0">
                <a:latin typeface="+mn-ea"/>
              </a:rPr>
              <a:t> 5ms</a:t>
            </a:r>
            <a:r>
              <a:rPr lang="zh-CN" altLang="en-US" sz="2400" dirty="0">
                <a:latin typeface="+mn-ea"/>
              </a:rPr>
              <a:t>平均寻道时间，</a:t>
            </a:r>
            <a:r>
              <a:rPr lang="en-US" altLang="zh-CN" sz="2400" dirty="0">
                <a:latin typeface="+mn-ea"/>
              </a:rPr>
              <a:t> 1Gb/sec</a:t>
            </a:r>
            <a:r>
              <a:rPr lang="zh-CN" altLang="en-US" sz="2400" dirty="0">
                <a:latin typeface="+mn-ea"/>
              </a:rPr>
              <a:t>传输率，</a:t>
            </a:r>
            <a:r>
              <a:rPr lang="en-US" altLang="zh-CN" sz="2400" dirty="0">
                <a:latin typeface="+mn-ea"/>
              </a:rPr>
              <a:t>0 .1ms </a:t>
            </a:r>
            <a:r>
              <a:rPr lang="zh-CN" altLang="en-US" sz="2400" dirty="0">
                <a:latin typeface="+mn-ea"/>
              </a:rPr>
              <a:t>控制开销</a:t>
            </a:r>
            <a:endParaRPr lang="en-US" altLang="zh-CN" sz="2400" dirty="0">
              <a:latin typeface="+mn-ea"/>
            </a:endParaRP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n-ea"/>
              </a:rPr>
              <a:t>T</a:t>
            </a:r>
            <a:r>
              <a:rPr lang="en-US" altLang="zh-CN" sz="2400" baseline="-25000" dirty="0">
                <a:latin typeface="+mn-ea"/>
              </a:rPr>
              <a:t>a</a:t>
            </a:r>
            <a:r>
              <a:rPr lang="en-US" altLang="zh-CN" sz="2400" dirty="0">
                <a:latin typeface="+mn-ea"/>
              </a:rPr>
              <a:t>=5ms + ½</a:t>
            </a:r>
            <a:r>
              <a:rPr lang="zh-CN" altLang="en-US" sz="2400" dirty="0">
                <a:latin typeface="+mn-ea"/>
              </a:rPr>
              <a:t>*</a:t>
            </a:r>
            <a:r>
              <a:rPr lang="en-US" altLang="zh-CN" sz="2400" dirty="0">
                <a:latin typeface="+mn-ea"/>
              </a:rPr>
              <a:t>1/(5400/60)sec + 4KB / 1Gb/sec + 0.1ms </a:t>
            </a: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n-ea"/>
              </a:rPr>
              <a:t>=5.1ms + 5.56ms+0.04ms </a:t>
            </a: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n-ea"/>
              </a:rPr>
              <a:t>=10.7ms</a:t>
            </a:r>
          </a:p>
          <a:p>
            <a:pPr>
              <a:lnSpc>
                <a:spcPct val="132000"/>
              </a:lnSpc>
              <a:spcBef>
                <a:spcPts val="600"/>
              </a:spcBef>
              <a:defRPr/>
            </a:pPr>
            <a:endParaRPr lang="zh-CN" altLang="en-US" sz="2400" dirty="0">
              <a:latin typeface="+mn-ea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3685556" y="1786163"/>
          <a:ext cx="6952393" cy="935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393700" progId="Equation.3">
                  <p:embed/>
                </p:oleObj>
              </mc:Choice>
              <mc:Fallback>
                <p:oleObj name="Equation" r:id="rId2" imgW="1104900" imgH="393700" progId="Equation.3">
                  <p:embed/>
                  <p:pic>
                    <p:nvPicPr>
                      <p:cNvPr id="0" name="图片 5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556" y="1786163"/>
                        <a:ext cx="6952393" cy="935899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915920" y="206375"/>
            <a:ext cx="4064000" cy="499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solidFill>
                  <a:schemeClr val="bg1"/>
                </a:solidFill>
              </a:rPr>
              <a:t>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7.8.2 </a:t>
            </a:r>
            <a:r>
              <a:rPr lang="zh-CN" altLang="en-US" sz="2800" b="1" dirty="0">
                <a:solidFill>
                  <a:schemeClr val="bg1"/>
                </a:solidFill>
              </a:rPr>
              <a:t>早期的磁盘调度算法</a:t>
            </a: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718277"/>
            <a:ext cx="5869189" cy="1573522"/>
            <a:chOff x="660400" y="1787149"/>
            <a:chExt cx="5869189" cy="1573522"/>
          </a:xfrm>
        </p:grpSpPr>
        <p:sp>
          <p:nvSpPr>
            <p:cNvPr id="9" name="îṧľîḋé"/>
            <p:cNvSpPr txBox="1"/>
            <p:nvPr/>
          </p:nvSpPr>
          <p:spPr>
            <a:xfrm>
              <a:off x="1296567" y="1835355"/>
              <a:ext cx="5233022" cy="15253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磁盘是可供多个进程共享的设备，当有多个进程都要求访问磁盘时，应采用一种最佳调度算法，以使各进程</a:t>
              </a:r>
              <a:r>
                <a:rPr lang="zh-CN" altLang="en-US" sz="2400" u="sng" dirty="0">
                  <a:sym typeface="Wingdings" panose="05000000000000000000" pitchFamily="2" charset="2"/>
                </a:rPr>
                <a:t>对磁盘的平均访问时间最小</a:t>
              </a:r>
              <a:r>
                <a:rPr lang="zh-CN" altLang="en-US" sz="2400" dirty="0">
                  <a:sym typeface="Wingdings" panose="05000000000000000000" pitchFamily="2" charset="2"/>
                </a:rPr>
                <a:t>。</a:t>
              </a:r>
              <a:endParaRPr lang="en-US" altLang="zh-CN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4144277"/>
            <a:ext cx="5869189" cy="1213335"/>
            <a:chOff x="660400" y="2092935"/>
            <a:chExt cx="5869189" cy="1213335"/>
          </a:xfrm>
        </p:grpSpPr>
        <p:sp>
          <p:nvSpPr>
            <p:cNvPr id="16" name="ïšļíďè"/>
            <p:cNvSpPr txBox="1"/>
            <p:nvPr/>
          </p:nvSpPr>
          <p:spPr>
            <a:xfrm>
              <a:off x="1296567" y="2092935"/>
              <a:ext cx="5233022" cy="12133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由于在访问磁盘的时间中，主要是寻道时间，因此，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磁盘调度的目标，是使磁盘的平均寻道时间最小</a:t>
              </a:r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。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先来先服务</a:t>
            </a:r>
            <a:r>
              <a:rPr lang="en-US" altLang="zh-CN" sz="2800" b="1" dirty="0">
                <a:solidFill>
                  <a:schemeClr val="bg1"/>
                </a:solidFill>
              </a:rPr>
              <a:t>FCFS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1201" y="1345427"/>
            <a:ext cx="9556298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最简单的磁盘调度算法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根据进程请求访问磁盘的先后次序进行调度。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优点：公平、简单，每个进程的请求都能依次得到处理，不会出现某一进程的请求长期得不到满足的情况。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缺点：由于未对寻道进行优化，致使平均寻道时间可能较长。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FCFS</a:t>
            </a:r>
            <a:r>
              <a:rPr lang="zh-CN" altLang="en-US" sz="2400" dirty="0">
                <a:latin typeface="+mn-ea"/>
              </a:rPr>
              <a:t>仅适用于请求磁盘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的进程数目较少的场合。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14562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206203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270644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386602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FCFS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" t="9740" r="514" b="9470"/>
          <a:stretch>
            <a:fillRect/>
          </a:stretch>
        </p:blipFill>
        <p:spPr bwMode="auto">
          <a:xfrm>
            <a:off x="5079331" y="1200151"/>
            <a:ext cx="6434382" cy="4282384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" y="1054100"/>
            <a:ext cx="3994785" cy="525653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449695" y="5680710"/>
            <a:ext cx="5536565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>
                <a:latin typeface="+mn-ea"/>
              </a:rPr>
              <a:t>总的磁头移动为</a:t>
            </a:r>
            <a:r>
              <a:rPr lang="en-US" altLang="zh-CN" sz="2400" dirty="0">
                <a:latin typeface="+mn-ea"/>
              </a:rPr>
              <a:t>640</a:t>
            </a:r>
            <a:r>
              <a:rPr lang="zh-CN" altLang="en-US" sz="2400" dirty="0">
                <a:latin typeface="+mn-ea"/>
              </a:rPr>
              <a:t>柱面（磁道）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最短寻道时间优先</a:t>
            </a:r>
            <a:r>
              <a:rPr lang="en-US" altLang="zh-CN" sz="2800" b="1" dirty="0">
                <a:solidFill>
                  <a:schemeClr val="bg1"/>
                </a:solidFill>
              </a:rPr>
              <a:t>SSTF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718277"/>
            <a:ext cx="5869189" cy="1573522"/>
            <a:chOff x="660400" y="1787149"/>
            <a:chExt cx="5869189" cy="1573522"/>
          </a:xfrm>
        </p:grpSpPr>
        <p:sp>
          <p:nvSpPr>
            <p:cNvPr id="5" name="îṧľîḋé"/>
            <p:cNvSpPr txBox="1"/>
            <p:nvPr/>
          </p:nvSpPr>
          <p:spPr>
            <a:xfrm>
              <a:off x="1296567" y="1835355"/>
              <a:ext cx="5233022" cy="15253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选择这样的进程，其要求访问的磁道，与当前磁头所在的</a:t>
              </a:r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磁道距离最近</a:t>
              </a:r>
              <a:r>
                <a:rPr lang="zh-CN" altLang="en-US" sz="2400" dirty="0">
                  <a:sym typeface="Wingdings" panose="05000000000000000000" pitchFamily="2" charset="2"/>
                </a:rPr>
                <a:t>，以使每次的寻道时间最短，但不保证平均寻道时间最短</a:t>
              </a:r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" name="iŝļïḓê"/>
          <p:cNvGrpSpPr/>
          <p:nvPr/>
        </p:nvGrpSpPr>
        <p:grpSpPr>
          <a:xfrm>
            <a:off x="669925" y="4144277"/>
            <a:ext cx="5869189" cy="1213335"/>
            <a:chOff x="660400" y="2092935"/>
            <a:chExt cx="5869189" cy="1213335"/>
          </a:xfrm>
        </p:grpSpPr>
        <p:sp>
          <p:nvSpPr>
            <p:cNvPr id="10" name="ïšļíďè"/>
            <p:cNvSpPr txBox="1"/>
            <p:nvPr/>
          </p:nvSpPr>
          <p:spPr>
            <a:xfrm>
              <a:off x="1296567" y="2092935"/>
              <a:ext cx="5233022" cy="12133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en-US" altLang="zh-CN" sz="2400" dirty="0">
                  <a:sym typeface="Wingdings" panose="05000000000000000000" pitchFamily="2" charset="2"/>
                </a:rPr>
                <a:t>SSTF</a:t>
              </a:r>
              <a:r>
                <a:rPr lang="zh-CN" altLang="en-US" sz="2400" dirty="0">
                  <a:sym typeface="Wingdings" panose="05000000000000000000" pitchFamily="2" charset="2"/>
                </a:rPr>
                <a:t>的平均每次磁头移动的距离，明显低于</a:t>
              </a:r>
              <a:r>
                <a:rPr lang="en-US" altLang="zh-CN" sz="2400" dirty="0">
                  <a:sym typeface="Wingdings" panose="05000000000000000000" pitchFamily="2" charset="2"/>
                </a:rPr>
                <a:t>FCFS</a:t>
              </a:r>
              <a:r>
                <a:rPr lang="zh-CN" altLang="en-US" sz="2400" dirty="0">
                  <a:sym typeface="Wingdings" panose="05000000000000000000" pitchFamily="2" charset="2"/>
                </a:rPr>
                <a:t>的距离，因而</a:t>
              </a:r>
              <a:r>
                <a:rPr lang="en-US" altLang="zh-CN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SSTF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比</a:t>
              </a:r>
              <a:r>
                <a:rPr lang="en-US" altLang="zh-CN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FCFS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寻道性能更好</a:t>
              </a:r>
            </a:p>
          </p:txBody>
        </p:sp>
        <p:grpSp>
          <p:nvGrpSpPr>
            <p:cNvPr id="11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2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SSTF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" t="9895" r="658" b="9366"/>
          <a:stretch>
            <a:fillRect/>
          </a:stretch>
        </p:blipFill>
        <p:spPr bwMode="auto">
          <a:xfrm>
            <a:off x="5387670" y="1265978"/>
            <a:ext cx="5752555" cy="435562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1088390"/>
            <a:ext cx="3830955" cy="5196205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511357" y="5770900"/>
            <a:ext cx="350518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>
                <a:latin typeface="+mn-ea"/>
              </a:rPr>
              <a:t>总的磁头移动为</a:t>
            </a:r>
            <a:r>
              <a:rPr lang="en-US" altLang="zh-CN" sz="2400" dirty="0">
                <a:latin typeface="+mn-ea"/>
              </a:rPr>
              <a:t>236</a:t>
            </a:r>
            <a:r>
              <a:rPr lang="zh-CN" altLang="en-US" sz="2400" dirty="0">
                <a:latin typeface="+mn-ea"/>
              </a:rPr>
              <a:t>柱面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7.8.3 </a:t>
            </a:r>
            <a:r>
              <a:rPr lang="zh-CN" altLang="en-US" sz="2800" b="1" dirty="0">
                <a:solidFill>
                  <a:schemeClr val="bg1"/>
                </a:solidFill>
              </a:rPr>
              <a:t>基于扫描的磁盘调度算法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9455" y="15263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4" name="文本框 3"/>
          <p:cNvSpPr txBox="1"/>
          <p:nvPr/>
        </p:nvSpPr>
        <p:spPr>
          <a:xfrm>
            <a:off x="1725596" y="1975820"/>
            <a:ext cx="9543418" cy="94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SSTF</a:t>
            </a:r>
            <a:r>
              <a:rPr lang="zh-CN" altLang="en-US" sz="2200" dirty="0">
                <a:latin typeface="+mn-ea"/>
              </a:rPr>
              <a:t>寻道性能好，但可能导致某个进程发生“饥饿”现象。改进</a:t>
            </a:r>
            <a:r>
              <a:rPr lang="en-US" altLang="zh-CN" sz="2200" dirty="0">
                <a:latin typeface="+mn-ea"/>
              </a:rPr>
              <a:t>SSTF</a:t>
            </a:r>
            <a:r>
              <a:rPr lang="zh-CN" altLang="en-US" sz="2200" dirty="0">
                <a:latin typeface="+mn-ea"/>
              </a:rPr>
              <a:t>后，可防止进程出现“饥饿”现象。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25596" y="1514155"/>
            <a:ext cx="633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进程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“饥饿”现象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9455" y="299003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1725596" y="3439509"/>
            <a:ext cx="9543418" cy="2436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也称：电梯调度算法。</a:t>
            </a: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不仅考虑到欲访问的磁道与当前磁道的距离，更优先考虑的是磁头当前的移动方向。</a:t>
            </a: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磁臂从磁盘的一端向另一段移动，沿途响应服务请求。当到达另一端时，磁头改变移动方向，继续处理。磁头在磁盘上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来回扫描</a:t>
            </a:r>
            <a:r>
              <a:rPr lang="zh-CN" altLang="en-US" sz="2200" dirty="0">
                <a:latin typeface="+mn-ea"/>
              </a:rPr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25596" y="2977844"/>
            <a:ext cx="633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SCAN</a:t>
            </a:r>
            <a:r>
              <a:rPr lang="zh-CN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算法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SCAN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7816" r="438" b="8105"/>
          <a:stretch>
            <a:fillRect/>
          </a:stretch>
        </p:blipFill>
        <p:spPr bwMode="auto">
          <a:xfrm>
            <a:off x="4797390" y="1249550"/>
            <a:ext cx="6928629" cy="397460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" y="1076325"/>
            <a:ext cx="3775075" cy="511810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343932" y="5471767"/>
            <a:ext cx="350518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>
                <a:latin typeface="+mn-ea"/>
              </a:rPr>
              <a:t>总的磁头移动为</a:t>
            </a:r>
            <a:r>
              <a:rPr lang="en-US" altLang="zh-CN" sz="2400" dirty="0">
                <a:latin typeface="+mn-ea"/>
              </a:rPr>
              <a:t>208</a:t>
            </a:r>
            <a:r>
              <a:rPr lang="zh-CN" altLang="en-US" sz="2400" dirty="0">
                <a:latin typeface="+mn-ea"/>
              </a:rPr>
              <a:t>柱面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循环扫描算法</a:t>
            </a:r>
            <a:r>
              <a:rPr lang="en-US" altLang="zh-CN" sz="2800" b="1" dirty="0">
                <a:solidFill>
                  <a:schemeClr val="bg1"/>
                </a:solidFill>
              </a:rPr>
              <a:t>CSCAN</a:t>
            </a:r>
            <a:r>
              <a:rPr lang="zh-CN" altLang="en-US" sz="2800" b="1" dirty="0">
                <a:solidFill>
                  <a:schemeClr val="bg1"/>
                </a:solidFill>
              </a:rPr>
              <a:t>：单向扫描</a:t>
            </a:r>
          </a:p>
        </p:txBody>
      </p:sp>
      <p:grpSp>
        <p:nvGrpSpPr>
          <p:cNvPr id="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93934"/>
            <a:ext cx="10838960" cy="5245502"/>
            <a:chOff x="660400" y="1580300"/>
            <a:chExt cx="10838960" cy="5245502"/>
          </a:xfrm>
        </p:grpSpPr>
        <p:sp>
          <p:nvSpPr>
            <p:cNvPr id="4" name="íṥḻîḑe"/>
            <p:cNvSpPr/>
            <p:nvPr/>
          </p:nvSpPr>
          <p:spPr>
            <a:xfrm>
              <a:off x="682048" y="1580300"/>
              <a:ext cx="3476055" cy="2567583"/>
            </a:xfrm>
            <a:prstGeom prst="rect">
              <a:avLst/>
            </a:prstGeom>
            <a:blipFill>
              <a:blip r:embed="rId3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şḻiḍé"/>
            <p:cNvSpPr/>
            <p:nvPr/>
          </p:nvSpPr>
          <p:spPr>
            <a:xfrm>
              <a:off x="660400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200" dirty="0">
                  <a:solidFill>
                    <a:srgbClr val="FF0000"/>
                  </a:solidFill>
                </a:rPr>
                <a:t>CSCAN</a:t>
              </a:r>
              <a:r>
                <a:rPr lang="zh-CN" altLang="en-US" sz="2200" dirty="0">
                  <a:solidFill>
                    <a:srgbClr val="FF0000"/>
                  </a:solidFill>
                </a:rPr>
                <a:t>算法</a:t>
              </a:r>
              <a:r>
                <a:rPr lang="zh-CN" altLang="en-US" sz="2200" dirty="0">
                  <a:solidFill>
                    <a:srgbClr val="0000FF"/>
                  </a:solidFill>
                </a:rPr>
                <a:t>提供比</a:t>
              </a:r>
              <a:r>
                <a:rPr lang="en-US" altLang="zh-CN" sz="2200" dirty="0">
                  <a:solidFill>
                    <a:srgbClr val="0000FF"/>
                  </a:solidFill>
                </a:rPr>
                <a:t>SCAN</a:t>
              </a:r>
              <a:r>
                <a:rPr lang="zh-CN" altLang="en-US" sz="2200" dirty="0">
                  <a:solidFill>
                    <a:srgbClr val="0000FF"/>
                  </a:solidFill>
                </a:rPr>
                <a:t>算法更为均匀的等待时间</a:t>
              </a:r>
              <a:r>
                <a:rPr lang="zh-CN" altLang="en-US" sz="2200" dirty="0">
                  <a:solidFill>
                    <a:schemeClr val="tx1"/>
                  </a:solidFill>
                </a:rPr>
                <a:t>。</a:t>
              </a:r>
            </a:p>
          </p:txBody>
        </p:sp>
        <p:sp>
          <p:nvSpPr>
            <p:cNvPr id="6" name="îŝļiḋe"/>
            <p:cNvSpPr/>
            <p:nvPr/>
          </p:nvSpPr>
          <p:spPr>
            <a:xfrm>
              <a:off x="4352677" y="1580300"/>
              <a:ext cx="3476055" cy="2567583"/>
            </a:xfrm>
            <a:prstGeom prst="rect">
              <a:avLst/>
            </a:prstGeom>
            <a:blipFill>
              <a:blip r:embed="rId4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ïšlïḑè"/>
            <p:cNvSpPr/>
            <p:nvPr/>
          </p:nvSpPr>
          <p:spPr>
            <a:xfrm>
              <a:off x="4331029" y="4245057"/>
              <a:ext cx="3517243" cy="2580745"/>
            </a:xfrm>
            <a:prstGeom prst="rect">
              <a:avLst/>
            </a:prstGeom>
            <a:noFill/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dirty="0">
                  <a:solidFill>
                    <a:schemeClr val="tx1"/>
                  </a:solidFill>
                </a:rPr>
                <a:t>磁头从磁盘一段移到另一端，随着移动不断的处理请求。不过，当磁头移到另一端时，马上返回到磁盘开始，返回时并不处理请求。</a:t>
              </a:r>
            </a:p>
          </p:txBody>
        </p:sp>
        <p:sp>
          <p:nvSpPr>
            <p:cNvPr id="8" name="íŝḻiďé"/>
            <p:cNvSpPr/>
            <p:nvPr/>
          </p:nvSpPr>
          <p:spPr>
            <a:xfrm>
              <a:off x="8023305" y="1580300"/>
              <a:ext cx="3476055" cy="2567583"/>
            </a:xfrm>
            <a:prstGeom prst="rect">
              <a:avLst/>
            </a:prstGeom>
            <a:blipFill>
              <a:blip r:embed="rId5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í$ḷîḋe"/>
            <p:cNvSpPr/>
            <p:nvPr/>
          </p:nvSpPr>
          <p:spPr>
            <a:xfrm>
              <a:off x="8001657" y="4245058"/>
              <a:ext cx="349770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dirty="0">
                  <a:solidFill>
                    <a:schemeClr val="tx1"/>
                  </a:solidFill>
                </a:rPr>
                <a:t>将柱面当作一个</a:t>
              </a:r>
              <a:r>
                <a:rPr lang="zh-CN" altLang="en-US" sz="2200" dirty="0">
                  <a:solidFill>
                    <a:srgbClr val="FF0000"/>
                  </a:solidFill>
                </a:rPr>
                <a:t>环链</a:t>
              </a:r>
              <a:r>
                <a:rPr lang="zh-CN" altLang="en-US" sz="2200" dirty="0">
                  <a:solidFill>
                    <a:schemeClr val="tx1"/>
                  </a:solidFill>
                </a:rPr>
                <a:t>，将最后柱面和第一柱面相连。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CSCAN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" t="7787" r="714" b="7481"/>
          <a:stretch>
            <a:fillRect/>
          </a:stretch>
        </p:blipFill>
        <p:spPr bwMode="auto">
          <a:xfrm>
            <a:off x="5008830" y="1214138"/>
            <a:ext cx="6486802" cy="477453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" y="1087120"/>
            <a:ext cx="3823970" cy="506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CLOOK</a:t>
            </a:r>
            <a:r>
              <a:rPr lang="zh-CN" altLang="en-US" sz="2800" b="1" dirty="0">
                <a:solidFill>
                  <a:schemeClr val="bg1"/>
                </a:solidFill>
              </a:rPr>
              <a:t>单向巡查法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39985" y="1442353"/>
            <a:ext cx="2666100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</a:rPr>
              <a:t>C-SCAN</a:t>
            </a:r>
            <a:r>
              <a:rPr lang="zh-CN" altLang="en-US" sz="2400" dirty="0">
                <a:latin typeface="+mn-ea"/>
              </a:rPr>
              <a:t>的一种形式。</a:t>
            </a:r>
          </a:p>
          <a:p>
            <a:pPr marL="342900" indent="-342900" algn="just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磁头只移动到一个方向上最远的请求为止。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接着，它马上回头，而不是继续到磁盘的尽头。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" t="7645" r="459" b="7677"/>
          <a:stretch>
            <a:fillRect/>
          </a:stretch>
        </p:blipFill>
        <p:spPr bwMode="auto">
          <a:xfrm>
            <a:off x="4213485" y="1606151"/>
            <a:ext cx="6965430" cy="4099191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NStepSCAN</a:t>
            </a:r>
            <a:r>
              <a:rPr lang="zh-CN" altLang="en-US" sz="2800" b="1" dirty="0">
                <a:solidFill>
                  <a:schemeClr val="bg1"/>
                </a:solidFill>
              </a:rPr>
              <a:t>和</a:t>
            </a:r>
            <a:r>
              <a:rPr lang="en-US" altLang="zh-CN" sz="2800" b="1" dirty="0">
                <a:solidFill>
                  <a:schemeClr val="bg1"/>
                </a:solidFill>
              </a:rPr>
              <a:t>FSCAN</a:t>
            </a:r>
            <a:r>
              <a:rPr lang="zh-CN" altLang="en-US" sz="2800" b="1" dirty="0">
                <a:solidFill>
                  <a:schemeClr val="bg1"/>
                </a:solidFill>
              </a:rPr>
              <a:t>算法</a:t>
            </a: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2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454157"/>
            <a:ext cx="7562215" cy="3462020"/>
            <a:chOff x="4136995" y="183879"/>
            <a:chExt cx="7562215" cy="3462020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485" y="183879"/>
              <a:ext cx="6816725" cy="34620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en-US" altLang="zh-CN" sz="2400" dirty="0" err="1">
                  <a:solidFill>
                    <a:srgbClr val="0000FF"/>
                  </a:solidFill>
                  <a:latin typeface="+mj-ea"/>
                  <a:ea typeface="+mj-ea"/>
                </a:rPr>
                <a:t>NStepSCAN</a:t>
              </a:r>
              <a:r>
                <a:rPr lang="zh-CN" altLang="en-US" sz="2400" dirty="0">
                  <a:solidFill>
                    <a:srgbClr val="0000FF"/>
                  </a:solidFill>
                  <a:latin typeface="+mj-ea"/>
                  <a:ea typeface="+mj-ea"/>
                </a:rPr>
                <a:t>算法：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solidFill>
                    <a:srgbClr val="FF0000"/>
                  </a:solidFill>
                  <a:latin typeface="+mn-ea"/>
                </a:rPr>
                <a:t>“磁臂粘着”现象</a:t>
              </a:r>
              <a:r>
                <a:rPr lang="zh-CN" altLang="en-US" sz="2200" dirty="0">
                  <a:latin typeface="+mn-ea"/>
                </a:rPr>
                <a:t>：进程反复请求对某一磁道的</a:t>
              </a:r>
              <a:r>
                <a:rPr lang="en-US" altLang="zh-CN" sz="2200" dirty="0">
                  <a:latin typeface="+mn-ea"/>
                </a:rPr>
                <a:t>I/O</a:t>
              </a:r>
              <a:r>
                <a:rPr lang="zh-CN" altLang="en-US" sz="2200" dirty="0">
                  <a:latin typeface="+mn-ea"/>
                </a:rPr>
                <a:t>操作；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将磁盘请求队列分为若干个长度为</a:t>
              </a:r>
              <a:r>
                <a:rPr lang="en-US" altLang="zh-CN" sz="2200" dirty="0">
                  <a:latin typeface="+mn-ea"/>
                </a:rPr>
                <a:t>N</a:t>
              </a:r>
              <a:r>
                <a:rPr lang="zh-CN" altLang="en-US" sz="2200" dirty="0">
                  <a:latin typeface="+mn-ea"/>
                </a:rPr>
                <a:t>的</a:t>
              </a:r>
              <a:r>
                <a:rPr lang="zh-CN" altLang="en-US" sz="2200" dirty="0">
                  <a:solidFill>
                    <a:srgbClr val="FF0000"/>
                  </a:solidFill>
                  <a:latin typeface="+mn-ea"/>
                </a:rPr>
                <a:t>子队列</a:t>
              </a:r>
              <a:r>
                <a:rPr lang="zh-CN" altLang="en-US" sz="2200" dirty="0">
                  <a:latin typeface="+mn-ea"/>
                </a:rPr>
                <a:t>；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按</a:t>
              </a:r>
              <a:r>
                <a:rPr lang="en-US" altLang="zh-CN" sz="2200" dirty="0">
                  <a:latin typeface="+mn-ea"/>
                </a:rPr>
                <a:t>FCFS</a:t>
              </a:r>
              <a:r>
                <a:rPr lang="zh-CN" altLang="en-US" sz="2200" dirty="0">
                  <a:latin typeface="+mn-ea"/>
                </a:rPr>
                <a:t>算法依次处理子队列；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每个子队列使用</a:t>
              </a:r>
              <a:r>
                <a:rPr lang="en-US" altLang="zh-CN" sz="2200" dirty="0">
                  <a:latin typeface="+mn-ea"/>
                </a:rPr>
                <a:t>SCAN</a:t>
              </a:r>
              <a:r>
                <a:rPr lang="zh-CN" altLang="en-US" sz="2200" dirty="0">
                  <a:latin typeface="+mn-ea"/>
                </a:rPr>
                <a:t>算法。</a:t>
              </a: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675723"/>
            <a:ext cx="7722870" cy="2470785"/>
            <a:chOff x="4136995" y="3106702"/>
            <a:chExt cx="7722870" cy="2470785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485" y="3106702"/>
              <a:ext cx="6977380" cy="247078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FSCAN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算法：</a:t>
              </a: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是</a:t>
              </a:r>
              <a:r>
                <a:rPr lang="en-US" altLang="zh-CN" sz="2200" dirty="0">
                  <a:latin typeface="+mn-ea"/>
                </a:rPr>
                <a:t>N</a:t>
              </a:r>
              <a:r>
                <a:rPr lang="zh-CN" altLang="en-US" sz="2200" dirty="0">
                  <a:latin typeface="+mn-ea"/>
                </a:rPr>
                <a:t>步</a:t>
              </a:r>
              <a:r>
                <a:rPr lang="en-US" altLang="zh-CN" sz="2200" dirty="0">
                  <a:latin typeface="+mn-ea"/>
                </a:rPr>
                <a:t>SCAN</a:t>
              </a:r>
              <a:r>
                <a:rPr lang="zh-CN" altLang="en-US" sz="2200" dirty="0">
                  <a:latin typeface="+mn-ea"/>
                </a:rPr>
                <a:t>算法的简化；</a:t>
              </a: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请求队列分为</a:t>
              </a:r>
              <a:r>
                <a:rPr lang="zh-CN" altLang="en-US" sz="2200" dirty="0">
                  <a:solidFill>
                    <a:srgbClr val="FF0000"/>
                  </a:solidFill>
                  <a:latin typeface="+mn-ea"/>
                </a:rPr>
                <a:t>两个</a:t>
              </a:r>
              <a:r>
                <a:rPr lang="zh-CN" altLang="en-US" sz="2200" dirty="0">
                  <a:latin typeface="+mn-ea"/>
                </a:rPr>
                <a:t>子队列：</a:t>
              </a:r>
            </a:p>
            <a:p>
              <a:pPr marL="800100" lvl="1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+mn-ea"/>
                </a:rPr>
                <a:t>一是当前所有请求队列，按</a:t>
              </a:r>
              <a:r>
                <a:rPr lang="en-US" altLang="zh-CN" sz="2000" dirty="0">
                  <a:latin typeface="+mn-ea"/>
                </a:rPr>
                <a:t>SCAN</a:t>
              </a:r>
              <a:r>
                <a:rPr lang="zh-CN" altLang="en-US" sz="2000" dirty="0">
                  <a:latin typeface="+mn-ea"/>
                </a:rPr>
                <a:t>算法调度；</a:t>
              </a:r>
            </a:p>
            <a:p>
              <a:pPr marL="800100" lvl="1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+mn-ea"/>
                </a:rPr>
                <a:t>二是扫描期间，新出现的请求队列，推迟到下一次扫描时处理。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20522" t="24852" r="22928" b="31727"/>
          <a:stretch>
            <a:fillRect/>
          </a:stretch>
        </p:blipFill>
        <p:spPr>
          <a:xfrm>
            <a:off x="1114425" y="1094740"/>
            <a:ext cx="9765030" cy="45383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21279" t="32023" r="23685" b="27917"/>
          <a:stretch>
            <a:fillRect/>
          </a:stretch>
        </p:blipFill>
        <p:spPr>
          <a:xfrm>
            <a:off x="1102360" y="1146810"/>
            <a:ext cx="9987280" cy="43732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5355" y="1301750"/>
            <a:ext cx="10323195" cy="4762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/>
              <a:t>17</a:t>
            </a:r>
            <a:r>
              <a:rPr lang="zh-CN" altLang="en-US" sz="2400"/>
              <a:t>题：</a:t>
            </a:r>
          </a:p>
          <a:p>
            <a:r>
              <a:rPr lang="zh-CN" altLang="en-US" sz="2400"/>
              <a:t>假设有</a:t>
            </a:r>
            <a:r>
              <a:rPr lang="en-US" altLang="zh-CN" sz="2400"/>
              <a:t>11</a:t>
            </a:r>
            <a:r>
              <a:rPr lang="zh-CN" altLang="en-US" sz="2400"/>
              <a:t>个进程先后提出磁盘</a:t>
            </a:r>
            <a:r>
              <a:rPr lang="en-US" altLang="zh-CN" sz="2400"/>
              <a:t>I/O</a:t>
            </a:r>
            <a:r>
              <a:rPr lang="zh-CN" altLang="en-US" sz="2400"/>
              <a:t>请求，请求队列顺序为</a:t>
            </a:r>
            <a:r>
              <a:rPr lang="en-US" altLang="zh-CN" sz="2400"/>
              <a:t>30</a:t>
            </a:r>
            <a:r>
              <a:rPr lang="zh-CN" altLang="en-US" sz="2400"/>
              <a:t>、</a:t>
            </a:r>
            <a:r>
              <a:rPr lang="en-US" altLang="zh-CN" sz="2400"/>
              <a:t>145</a:t>
            </a:r>
            <a:r>
              <a:rPr lang="zh-CN" altLang="en-US" sz="2400"/>
              <a:t>、</a:t>
            </a:r>
            <a:r>
              <a:rPr lang="en-US" altLang="zh-CN" sz="2400"/>
              <a:t>120</a:t>
            </a:r>
            <a:r>
              <a:rPr lang="zh-CN" altLang="en-US" sz="2400"/>
              <a:t>、</a:t>
            </a:r>
            <a:r>
              <a:rPr lang="en-US" altLang="zh-CN" sz="2400"/>
              <a:t>78</a:t>
            </a:r>
            <a:r>
              <a:rPr lang="zh-CN" altLang="en-US" sz="2400"/>
              <a:t>、</a:t>
            </a:r>
            <a:r>
              <a:rPr lang="en-US" altLang="zh-CN" sz="2400"/>
              <a:t>82</a:t>
            </a:r>
            <a:r>
              <a:rPr lang="zh-CN" altLang="en-US" sz="2400"/>
              <a:t>、</a:t>
            </a:r>
            <a:r>
              <a:rPr lang="en-US" altLang="zh-CN" sz="2400"/>
              <a:t>140</a:t>
            </a:r>
            <a:r>
              <a:rPr lang="zh-CN" altLang="en-US" sz="2400"/>
              <a:t>、</a:t>
            </a:r>
            <a:r>
              <a:rPr lang="en-US" altLang="zh-CN" sz="2400"/>
              <a:t>20</a:t>
            </a:r>
            <a:r>
              <a:rPr lang="zh-CN" altLang="en-US" sz="2400"/>
              <a:t>、</a:t>
            </a:r>
            <a:r>
              <a:rPr lang="en-US" altLang="zh-CN" sz="2400"/>
              <a:t>42</a:t>
            </a:r>
            <a:r>
              <a:rPr lang="zh-CN" altLang="en-US" sz="2400"/>
              <a:t>、</a:t>
            </a:r>
            <a:r>
              <a:rPr lang="en-US" altLang="zh-CN" sz="2400"/>
              <a:t>65</a:t>
            </a:r>
            <a:r>
              <a:rPr lang="zh-CN" altLang="en-US" sz="2400"/>
              <a:t>、</a:t>
            </a:r>
            <a:r>
              <a:rPr lang="en-US" altLang="zh-CN" sz="2400"/>
              <a:t>55</a:t>
            </a:r>
            <a:r>
              <a:rPr lang="zh-CN" altLang="en-US" sz="2400"/>
              <a:t>、</a:t>
            </a:r>
            <a:r>
              <a:rPr lang="en-US" altLang="zh-CN" sz="2400"/>
              <a:t>65</a:t>
            </a:r>
            <a:r>
              <a:rPr lang="zh-CN" altLang="en-US" sz="2400"/>
              <a:t>，磁头当前在</a:t>
            </a:r>
            <a:r>
              <a:rPr lang="en-US" altLang="zh-CN" sz="2400"/>
              <a:t>110</a:t>
            </a:r>
            <a:r>
              <a:rPr lang="zh-CN" altLang="en-US" sz="2400"/>
              <a:t>号磁道并朝磁道序号增加方向移动。</a:t>
            </a:r>
            <a:endParaRPr lang="en-US" altLang="zh-CN" sz="2400"/>
          </a:p>
          <a:p>
            <a:r>
              <a:rPr lang="zh-CN" altLang="en-US" sz="2400"/>
              <a:t>要求分别用</a:t>
            </a:r>
            <a:r>
              <a:rPr lang="en-US" altLang="zh-CN" sz="2400"/>
              <a:t>FCFS</a:t>
            </a:r>
            <a:r>
              <a:rPr lang="zh-CN" altLang="en-US" sz="2400"/>
              <a:t>（先来先服务）和</a:t>
            </a:r>
            <a:r>
              <a:rPr lang="en-US" altLang="zh-CN" sz="2400"/>
              <a:t>SCAN</a:t>
            </a:r>
            <a:r>
              <a:rPr lang="zh-CN" altLang="en-US" sz="2400"/>
              <a:t>（电梯）调度算法完成上述请求，写出磁道访问顺序及每次移动的磁道数，并计算平均移动磁道数。</a:t>
            </a:r>
          </a:p>
          <a:p>
            <a:endParaRPr lang="zh-CN" altLang="en-US" sz="2400"/>
          </a:p>
          <a:p>
            <a:r>
              <a:rPr lang="en-US" altLang="zh-CN" sz="2400"/>
              <a:t>18</a:t>
            </a:r>
            <a:r>
              <a:rPr lang="zh-CN" altLang="en-US" sz="2400"/>
              <a:t>题：</a:t>
            </a:r>
            <a:endParaRPr lang="en-US" altLang="zh-CN" sz="2400"/>
          </a:p>
          <a:p>
            <a:r>
              <a:rPr lang="zh-CN" altLang="en-US" sz="2400"/>
              <a:t>磁盘请求服务队列中要访问的磁道分别为</a:t>
            </a:r>
            <a:r>
              <a:rPr lang="en-US" altLang="zh-CN" sz="2400"/>
              <a:t>38</a:t>
            </a:r>
            <a:r>
              <a:rPr lang="zh-CN" altLang="en-US" sz="2400"/>
              <a:t>、</a:t>
            </a:r>
            <a:r>
              <a:rPr lang="en-US" altLang="zh-CN" sz="2400"/>
              <a:t>6</a:t>
            </a:r>
            <a:r>
              <a:rPr lang="zh-CN" altLang="en-US" sz="2400"/>
              <a:t>、</a:t>
            </a:r>
            <a:r>
              <a:rPr lang="en-US" altLang="zh-CN" sz="2400"/>
              <a:t>37</a:t>
            </a:r>
            <a:r>
              <a:rPr lang="zh-CN" altLang="en-US" sz="2400"/>
              <a:t>、</a:t>
            </a:r>
            <a:r>
              <a:rPr lang="en-US" altLang="zh-CN" sz="2400"/>
              <a:t>100</a:t>
            </a:r>
            <a:r>
              <a:rPr lang="zh-CN" altLang="en-US" sz="2400"/>
              <a:t>、</a:t>
            </a:r>
            <a:r>
              <a:rPr lang="en-US" altLang="zh-CN" sz="2400"/>
              <a:t>14</a:t>
            </a:r>
            <a:r>
              <a:rPr lang="zh-CN" altLang="en-US" sz="2400"/>
              <a:t>、</a:t>
            </a:r>
            <a:r>
              <a:rPr lang="en-US" altLang="zh-CN" sz="2400"/>
              <a:t>124</a:t>
            </a:r>
            <a:r>
              <a:rPr lang="zh-CN" altLang="en-US" sz="2400"/>
              <a:t>、</a:t>
            </a:r>
            <a:r>
              <a:rPr lang="en-US" altLang="zh-CN" sz="2400"/>
              <a:t>65</a:t>
            </a:r>
            <a:r>
              <a:rPr lang="zh-CN" altLang="en-US" sz="2400"/>
              <a:t>、</a:t>
            </a:r>
            <a:r>
              <a:rPr lang="en-US" altLang="zh-CN" sz="2400"/>
              <a:t>78</a:t>
            </a:r>
            <a:r>
              <a:rPr lang="zh-CN" altLang="en-US" sz="2400"/>
              <a:t>，当前磁头在</a:t>
            </a:r>
            <a:r>
              <a:rPr lang="en-US" altLang="zh-CN" sz="2400"/>
              <a:t>30</a:t>
            </a:r>
            <a:r>
              <a:rPr lang="zh-CN" altLang="en-US" sz="2400"/>
              <a:t>号磁道上。</a:t>
            </a:r>
          </a:p>
          <a:p>
            <a:r>
              <a:rPr lang="zh-CN" altLang="en-US" sz="2400"/>
              <a:t>采用</a:t>
            </a:r>
            <a:r>
              <a:rPr lang="en-US" altLang="zh-CN" sz="2400"/>
              <a:t>FCFS</a:t>
            </a:r>
            <a:r>
              <a:rPr lang="zh-CN" altLang="en-US" sz="2400"/>
              <a:t>（先来先服务）、</a:t>
            </a:r>
            <a:r>
              <a:rPr lang="en-US" altLang="zh-CN" sz="2400"/>
              <a:t>SSTF</a:t>
            </a:r>
            <a:r>
              <a:rPr lang="zh-CN" altLang="en-US" sz="2400"/>
              <a:t>（最短寻道时间优先）和</a:t>
            </a:r>
            <a:r>
              <a:rPr lang="en-US" altLang="zh-CN" sz="2400"/>
              <a:t>SCAN</a:t>
            </a:r>
            <a:r>
              <a:rPr lang="zh-CN" altLang="en-US" sz="2400"/>
              <a:t>（电梯）算法，分别计算磁头移动的磁道数。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04645" y="832485"/>
            <a:ext cx="4392295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</a:p>
        </p:txBody>
      </p:sp>
      <p:sp>
        <p:nvSpPr>
          <p:cNvPr id="52" name="内容占位符 3"/>
          <p:cNvSpPr txBox="1"/>
          <p:nvPr/>
        </p:nvSpPr>
        <p:spPr>
          <a:xfrm>
            <a:off x="669925" y="1109446"/>
            <a:ext cx="11243033" cy="54295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2014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日，微软公司在美国旧金山召开新品发布会，对外展示了新一代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系统，并将其命名为“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10”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。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2015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18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日，微软公司中国官网正式推出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系统中文介绍页面；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7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29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日，微软公司发布了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正式版。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在此背景下，中国信息安全测评中心承担了对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系统的网络安全审查工作，并于审查过程中发现其存在安全问题，即没有通过审查！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实际上，我们并不排斥引进国外操作系统，但是要求引进的国外操作系统必须完全可控。微软公司首先未向我们提供全部可重构的源代码，即有百万行量级的源代码未对我们开放（这等于是“黑盒子”），那么这部分源代码就无法做“白盒测试”，在这种情况下我们就难以对其安全性、可控性做准确评估。</a:t>
            </a:r>
            <a:endParaRPr lang="zh-CN" sz="2200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</a:p>
        </p:txBody>
      </p:sp>
      <p:sp>
        <p:nvSpPr>
          <p:cNvPr id="52" name="内容占位符 3"/>
          <p:cNvSpPr txBox="1"/>
          <p:nvPr/>
        </p:nvSpPr>
        <p:spPr>
          <a:xfrm>
            <a:off x="553792" y="1225357"/>
            <a:ext cx="10886023" cy="511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  同时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系统捆绑了可信计算技术和杀毒软件，这也对我国可信计算厂商和国内外信息安全厂商构成了不正当竞争！因此，我们要高度警惕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系统的安全问题，力求通过自主创新发展国产操作系统。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此外，考虑到我国的超级计算机、知名互联网企业等均采用了开源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系统这一基础软件，且经过实践检验证明其切实可行。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因此，我们应该深刻理解“国产操作系统才是安全可控国产信息技术体系的核心”这一关键点，基于开源</a:t>
            </a:r>
            <a:r>
              <a:rPr lang="en-US" altLang="zh-CN" sz="2400" u="sng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系统，依靠各方力量创新发展安全可靠、自主可控的国产操作系统。</a:t>
            </a:r>
            <a:endParaRPr lang="zh-CN" sz="2400" u="sng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9525" imgH="9525" progId="TCLayout.ActiveDocument.1">
                  <p:embed/>
                </p:oleObj>
              </mc:Choice>
              <mc:Fallback>
                <p:oleObj name="think-cell Slide" r:id="rId4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742091" y="2077986"/>
            <a:ext cx="6536871" cy="2390427"/>
          </a:xfrm>
        </p:spPr>
        <p:txBody>
          <a:bodyPr>
            <a:normAutofit/>
          </a:bodyPr>
          <a:lstStyle/>
          <a:p>
            <a:r>
              <a:rPr lang="zh-CN" altLang="en-US" sz="6600" dirty="0"/>
              <a:t>学 习 进 步 ！</a:t>
            </a:r>
            <a:endParaRPr lang="zh-CN" altLang="en-US" sz="4000" dirty="0"/>
          </a:p>
        </p:txBody>
      </p:sp>
      <p:sp>
        <p:nvSpPr>
          <p:cNvPr id="8" name="任意多边形: 形状 7"/>
          <p:cNvSpPr/>
          <p:nvPr/>
        </p:nvSpPr>
        <p:spPr>
          <a:xfrm>
            <a:off x="669925" y="2344255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744076" y="6269595"/>
            <a:ext cx="4366476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作者：汤小丹、王红玲、姜华、汤子瀛</a:t>
            </a:r>
          </a:p>
        </p:txBody>
      </p:sp>
      <p:sp>
        <p:nvSpPr>
          <p:cNvPr id="11" name="矩形 10"/>
          <p:cNvSpPr/>
          <p:nvPr/>
        </p:nvSpPr>
        <p:spPr>
          <a:xfrm>
            <a:off x="1243012" y="602297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3475" y="2592475"/>
            <a:ext cx="2508000" cy="35542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400" y="522760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9525" imgH="9525" progId="TCLayout.ActiveDocument.1">
                  <p:embed/>
                </p:oleObj>
              </mc:Choice>
              <mc:Fallback>
                <p:oleObj name="think-cell Slide" r:id="rId4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7</a:t>
            </a:r>
            <a:r>
              <a:rPr lang="zh-CN" altLang="en-US" sz="4800" dirty="0"/>
              <a:t>章 输入</a:t>
            </a:r>
            <a:r>
              <a:rPr lang="en-US" altLang="zh-CN" sz="4800" dirty="0"/>
              <a:t>/</a:t>
            </a:r>
            <a:r>
              <a:rPr lang="zh-CN" altLang="en-US" sz="4800" dirty="0"/>
              <a:t>输出系统</a:t>
            </a:r>
            <a:endParaRPr lang="zh-CN" altLang="en-US" sz="2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07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</a:p>
        </p:txBody>
      </p:sp>
      <p:graphicFrame>
        <p:nvGraphicFramePr>
          <p:cNvPr id="30" name="表格 29"/>
          <p:cNvGraphicFramePr/>
          <p:nvPr>
            <p:custDataLst>
              <p:tags r:id="rId1"/>
            </p:custDataLst>
          </p:nvPr>
        </p:nvGraphicFramePr>
        <p:xfrm>
          <a:off x="431951" y="1679924"/>
          <a:ext cx="3297555" cy="359219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虚拟存储器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第7章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输入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/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输出系统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2" name="图片 1" descr="第7章 知识导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835" y="262255"/>
            <a:ext cx="8208010" cy="655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26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7.1 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234135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系统的功能、模型和接口</a:t>
            </a:r>
          </a:p>
        </p:txBody>
      </p:sp>
      <p:grpSp>
        <p:nvGrpSpPr>
          <p:cNvPr id="14" name="ïşḻíḑé"/>
          <p:cNvGrpSpPr/>
          <p:nvPr/>
        </p:nvGrpSpPr>
        <p:grpSpPr>
          <a:xfrm>
            <a:off x="4085107" y="2411954"/>
            <a:ext cx="3403603" cy="2475425"/>
            <a:chOff x="4379297" y="1952067"/>
            <a:chExt cx="3054959" cy="2221859"/>
          </a:xfrm>
        </p:grpSpPr>
        <p:sp>
          <p:nvSpPr>
            <p:cNvPr id="42" name="íŝliḋè"/>
            <p:cNvSpPr/>
            <p:nvPr/>
          </p:nvSpPr>
          <p:spPr>
            <a:xfrm rot="10800000">
              <a:off x="5947546" y="1952067"/>
              <a:ext cx="1486710" cy="1486710"/>
            </a:xfrm>
            <a:prstGeom prst="teardrop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43" name="îṧľíḍé"/>
            <p:cNvSpPr/>
            <p:nvPr/>
          </p:nvSpPr>
          <p:spPr>
            <a:xfrm>
              <a:off x="4379297" y="2687216"/>
              <a:ext cx="1486710" cy="148671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44" name="íṧḷiďé"/>
            <p:cNvSpPr txBox="1"/>
            <p:nvPr/>
          </p:nvSpPr>
          <p:spPr>
            <a:xfrm>
              <a:off x="6128208" y="2381048"/>
              <a:ext cx="1179384" cy="577461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i="1" dirty="0">
                <a:solidFill>
                  <a:schemeClr val="bg1"/>
                </a:solidFill>
              </a:endParaRPr>
            </a:p>
          </p:txBody>
        </p:sp>
        <p:sp>
          <p:nvSpPr>
            <p:cNvPr id="45" name="ïṣľiḑè"/>
            <p:cNvSpPr txBox="1"/>
            <p:nvPr/>
          </p:nvSpPr>
          <p:spPr>
            <a:xfrm>
              <a:off x="4508819" y="3116197"/>
              <a:ext cx="1238371" cy="577461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360680" y="3112770"/>
            <a:ext cx="3432810" cy="173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系统管理的主要对象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设备、对应的设备控制器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861020" y="1583795"/>
            <a:ext cx="389739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系统的主要任务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完成用户提出的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请求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提高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速率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改善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利用率</a:t>
            </a:r>
          </a:p>
        </p:txBody>
      </p:sp>
    </p:spTree>
    <p:extLst>
      <p:ext uri="{BB962C8B-B14F-4D97-AF65-F5344CB8AC3E}">
        <p14:creationId xmlns:p14="http://schemas.microsoft.com/office/powerpoint/2010/main" val="29857589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7.1.1 I/O</a:t>
            </a:r>
            <a:r>
              <a:rPr lang="zh-CN" altLang="en-US" sz="2800" b="1" dirty="0">
                <a:solidFill>
                  <a:schemeClr val="bg1"/>
                </a:solidFill>
              </a:rPr>
              <a:t>系统的基本功能</a:t>
            </a:r>
          </a:p>
        </p:txBody>
      </p:sp>
      <p:grpSp>
        <p:nvGrpSpPr>
          <p:cNvPr id="10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9022" y="1702977"/>
            <a:ext cx="11489690" cy="4107815"/>
            <a:chOff x="71192" y="1393884"/>
            <a:chExt cx="11489690" cy="4107815"/>
          </a:xfrm>
        </p:grpSpPr>
        <p:sp>
          <p:nvSpPr>
            <p:cNvPr id="11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3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12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3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5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6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7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8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9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21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2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3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24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5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6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7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8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9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0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1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3" name="îṩļiḓè"/>
            <p:cNvSpPr/>
            <p:nvPr/>
          </p:nvSpPr>
          <p:spPr>
            <a:xfrm>
              <a:off x="233117" y="1393884"/>
              <a:ext cx="3924579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fontScale="90000"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sz="2400" dirty="0"/>
                <a:t>类型多：隐藏物理设备的细节</a:t>
              </a:r>
            </a:p>
          </p:txBody>
        </p:sp>
        <p:sp>
          <p:nvSpPr>
            <p:cNvPr id="35" name="ïṣľîḋê"/>
            <p:cNvSpPr/>
            <p:nvPr/>
          </p:nvSpPr>
          <p:spPr>
            <a:xfrm>
              <a:off x="8035362" y="1393884"/>
              <a:ext cx="3484880" cy="100774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能够对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设备进行控制：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dirty="0"/>
                <a:t>四种控制方式</a:t>
              </a:r>
            </a:p>
          </p:txBody>
        </p:sp>
        <p:sp>
          <p:nvSpPr>
            <p:cNvPr id="37" name="išľïḓe"/>
            <p:cNvSpPr/>
            <p:nvPr/>
          </p:nvSpPr>
          <p:spPr>
            <a:xfrm>
              <a:off x="71192" y="2921694"/>
              <a:ext cx="3472180" cy="70421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 algn="r">
                <a:lnSpc>
                  <a:spcPct val="123000"/>
                </a:lnSpc>
                <a:spcBef>
                  <a:spcPct val="0"/>
                </a:spcBef>
              </a:pPr>
              <a:r>
                <a:rPr lang="zh-CN" altLang="en-US" sz="2000" dirty="0"/>
                <a:t>设备无关性：逻辑设备名</a:t>
              </a:r>
            </a:p>
          </p:txBody>
        </p:sp>
        <p:sp>
          <p:nvSpPr>
            <p:cNvPr id="39" name="îṧľïdè"/>
            <p:cNvSpPr/>
            <p:nvPr/>
          </p:nvSpPr>
          <p:spPr>
            <a:xfrm>
              <a:off x="8678617" y="3104574"/>
              <a:ext cx="2882265" cy="101663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能够确保对设备的正确共享：独占设备，共享设备</a:t>
              </a:r>
            </a:p>
          </p:txBody>
        </p:sp>
        <p:sp>
          <p:nvSpPr>
            <p:cNvPr id="51" name="işľîḓé"/>
            <p:cNvSpPr/>
            <p:nvPr/>
          </p:nvSpPr>
          <p:spPr>
            <a:xfrm>
              <a:off x="473147" y="4607619"/>
              <a:ext cx="3669030" cy="690880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dirty="0"/>
                <a:t>并行性：能够提高处理机和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设备的利用率</a:t>
              </a:r>
            </a:p>
          </p:txBody>
        </p:sp>
        <p:sp>
          <p:nvSpPr>
            <p:cNvPr id="49" name="ïśļíde"/>
            <p:cNvSpPr/>
            <p:nvPr/>
          </p:nvSpPr>
          <p:spPr>
            <a:xfrm>
              <a:off x="8135692" y="4344729"/>
              <a:ext cx="2979420" cy="1156970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fontScale="90000"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能够处理错误：临时性错误多试，持久性错误上报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1840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7.1.2 I/O</a:t>
            </a:r>
            <a:r>
              <a:rPr lang="zh-CN" altLang="en-US" sz="2800" b="1" dirty="0">
                <a:solidFill>
                  <a:schemeClr val="bg1"/>
                </a:solidFill>
              </a:rPr>
              <a:t>软件的层次结构</a:t>
            </a:r>
          </a:p>
        </p:txBody>
      </p:sp>
      <p:sp>
        <p:nvSpPr>
          <p:cNvPr id="30" name="矩形 3"/>
          <p:cNvSpPr>
            <a:spLocks noChangeArrowheads="1"/>
          </p:cNvSpPr>
          <p:nvPr/>
        </p:nvSpPr>
        <p:spPr bwMode="auto">
          <a:xfrm>
            <a:off x="1671098" y="2382772"/>
            <a:ext cx="3656657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用户层软件（接口）</a:t>
            </a: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1666837" y="3023211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+mn-ea"/>
                <a:ea typeface="+mn-ea"/>
              </a:rPr>
              <a:t>设备无关</a:t>
            </a:r>
            <a:r>
              <a:rPr lang="en-US" altLang="zh-CN" sz="2400" b="1">
                <a:latin typeface="+mn-ea"/>
                <a:ea typeface="+mn-ea"/>
              </a:rPr>
              <a:t>I/O</a:t>
            </a:r>
            <a:r>
              <a:rPr lang="zh-CN" altLang="en-US" sz="2400" b="1">
                <a:latin typeface="+mn-ea"/>
                <a:ea typeface="+mn-ea"/>
              </a:rPr>
              <a:t>软件（管理）</a:t>
            </a:r>
          </a:p>
        </p:txBody>
      </p:sp>
      <p:sp>
        <p:nvSpPr>
          <p:cNvPr id="32" name="矩形 5"/>
          <p:cNvSpPr>
            <a:spLocks noChangeArrowheads="1"/>
          </p:cNvSpPr>
          <p:nvPr/>
        </p:nvSpPr>
        <p:spPr bwMode="auto">
          <a:xfrm>
            <a:off x="1666837" y="3676526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+mn-ea"/>
                <a:ea typeface="+mn-ea"/>
              </a:rPr>
              <a:t>设备驱动程序</a:t>
            </a:r>
          </a:p>
        </p:txBody>
      </p:sp>
      <p:sp>
        <p:nvSpPr>
          <p:cNvPr id="33" name="矩形 6"/>
          <p:cNvSpPr>
            <a:spLocks noChangeArrowheads="1"/>
          </p:cNvSpPr>
          <p:nvPr/>
        </p:nvSpPr>
        <p:spPr bwMode="auto">
          <a:xfrm>
            <a:off x="1666837" y="4329842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+mn-ea"/>
                <a:ea typeface="+mn-ea"/>
              </a:rPr>
              <a:t>中断处理程序</a:t>
            </a:r>
          </a:p>
        </p:txBody>
      </p:sp>
      <p:sp>
        <p:nvSpPr>
          <p:cNvPr id="34" name="矩形 7"/>
          <p:cNvSpPr>
            <a:spLocks noChangeArrowheads="1"/>
          </p:cNvSpPr>
          <p:nvPr/>
        </p:nvSpPr>
        <p:spPr bwMode="auto">
          <a:xfrm>
            <a:off x="1666837" y="4970278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硬件</a:t>
            </a:r>
          </a:p>
        </p:txBody>
      </p:sp>
      <p:cxnSp>
        <p:nvCxnSpPr>
          <p:cNvPr id="17" name="直接箭头连接符 10"/>
          <p:cNvCxnSpPr>
            <a:cxnSpLocks noChangeShapeType="1"/>
          </p:cNvCxnSpPr>
          <p:nvPr/>
        </p:nvCxnSpPr>
        <p:spPr bwMode="auto">
          <a:xfrm>
            <a:off x="2038323" y="2748897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箭头连接符 17"/>
          <p:cNvCxnSpPr>
            <a:cxnSpLocks noChangeShapeType="1"/>
          </p:cNvCxnSpPr>
          <p:nvPr/>
        </p:nvCxnSpPr>
        <p:spPr bwMode="auto">
          <a:xfrm flipV="1">
            <a:off x="4910906" y="479041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箭头连接符 18"/>
          <p:cNvCxnSpPr>
            <a:cxnSpLocks noChangeShapeType="1"/>
          </p:cNvCxnSpPr>
          <p:nvPr/>
        </p:nvCxnSpPr>
        <p:spPr bwMode="auto">
          <a:xfrm flipV="1">
            <a:off x="4946760" y="351443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箭头连接符 21"/>
          <p:cNvCxnSpPr>
            <a:cxnSpLocks noChangeShapeType="1"/>
          </p:cNvCxnSpPr>
          <p:nvPr/>
        </p:nvCxnSpPr>
        <p:spPr bwMode="auto">
          <a:xfrm flipV="1">
            <a:off x="4946760" y="286744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文本框 23"/>
          <p:cNvSpPr txBox="1">
            <a:spLocks noChangeArrowheads="1"/>
          </p:cNvSpPr>
          <p:nvPr/>
        </p:nvSpPr>
        <p:spPr bwMode="auto">
          <a:xfrm>
            <a:off x="1526148" y="1634518"/>
            <a:ext cx="12954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请求</a:t>
            </a:r>
          </a:p>
        </p:txBody>
      </p:sp>
      <p:sp>
        <p:nvSpPr>
          <p:cNvPr id="29" name="文本框 24"/>
          <p:cNvSpPr txBox="1">
            <a:spLocks noChangeArrowheads="1"/>
          </p:cNvSpPr>
          <p:nvPr/>
        </p:nvSpPr>
        <p:spPr bwMode="auto">
          <a:xfrm>
            <a:off x="4290197" y="1581717"/>
            <a:ext cx="12954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应答</a:t>
            </a:r>
          </a:p>
        </p:txBody>
      </p:sp>
      <p:sp>
        <p:nvSpPr>
          <p:cNvPr id="35" name="文本框 27"/>
          <p:cNvSpPr txBox="1">
            <a:spLocks noChangeArrowheads="1"/>
          </p:cNvSpPr>
          <p:nvPr/>
        </p:nvSpPr>
        <p:spPr bwMode="auto">
          <a:xfrm>
            <a:off x="5722515" y="2379372"/>
            <a:ext cx="5971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产生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请求、格式化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、</a:t>
            </a:r>
            <a:r>
              <a:rPr lang="en-US" altLang="zh-CN" sz="2400" b="0" dirty="0">
                <a:latin typeface="+mn-ea"/>
                <a:ea typeface="+mn-ea"/>
              </a:rPr>
              <a:t>Spooling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36" name="文本框 28"/>
          <p:cNvSpPr txBox="1">
            <a:spLocks noChangeArrowheads="1"/>
          </p:cNvSpPr>
          <p:nvPr/>
        </p:nvSpPr>
        <p:spPr bwMode="auto">
          <a:xfrm>
            <a:off x="5720715" y="3047365"/>
            <a:ext cx="61525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+mn-ea"/>
                <a:ea typeface="+mn-ea"/>
              </a:rPr>
              <a:t>命名、逻</a:t>
            </a:r>
            <a:r>
              <a:rPr lang="en-US" altLang="zh-CN" sz="2000" b="0" dirty="0">
                <a:latin typeface="+mn-ea"/>
                <a:ea typeface="+mn-ea"/>
              </a:rPr>
              <a:t>/</a:t>
            </a:r>
            <a:r>
              <a:rPr lang="zh-CN" altLang="en-US" sz="2000" b="0" dirty="0">
                <a:latin typeface="+mn-ea"/>
                <a:ea typeface="+mn-ea"/>
              </a:rPr>
              <a:t>物映射、保护、分块、缓冲、分配释放</a:t>
            </a:r>
          </a:p>
        </p:txBody>
      </p:sp>
      <p:sp>
        <p:nvSpPr>
          <p:cNvPr id="37" name="文本框 29"/>
          <p:cNvSpPr txBox="1">
            <a:spLocks noChangeArrowheads="1"/>
          </p:cNvSpPr>
          <p:nvPr/>
        </p:nvSpPr>
        <p:spPr bwMode="auto">
          <a:xfrm>
            <a:off x="5719445" y="3715385"/>
            <a:ext cx="53848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+mn-ea"/>
                <a:ea typeface="+mn-ea"/>
              </a:rPr>
              <a:t>转具体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命令和参数存入</a:t>
            </a:r>
            <a:r>
              <a:rPr lang="zh-CN" altLang="en-US" sz="2000" b="0" dirty="0">
                <a:latin typeface="+mn-ea"/>
                <a:ea typeface="+mn-ea"/>
              </a:rPr>
              <a:t>设备寄存器；检查状态</a:t>
            </a:r>
          </a:p>
        </p:txBody>
      </p:sp>
      <p:sp>
        <p:nvSpPr>
          <p:cNvPr id="38" name="文本框 30"/>
          <p:cNvSpPr txBox="1">
            <a:spLocks noChangeArrowheads="1"/>
          </p:cNvSpPr>
          <p:nvPr/>
        </p:nvSpPr>
        <p:spPr bwMode="auto">
          <a:xfrm>
            <a:off x="5719340" y="5052028"/>
            <a:ext cx="43100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执行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操作，设备控制器</a:t>
            </a:r>
          </a:p>
        </p:txBody>
      </p:sp>
      <p:sp>
        <p:nvSpPr>
          <p:cNvPr id="39" name="文本框 31"/>
          <p:cNvSpPr txBox="1">
            <a:spLocks noChangeArrowheads="1"/>
          </p:cNvSpPr>
          <p:nvPr/>
        </p:nvSpPr>
        <p:spPr bwMode="auto">
          <a:xfrm>
            <a:off x="5719445" y="4384040"/>
            <a:ext cx="53390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latin typeface="+mn-ea"/>
                <a:ea typeface="+mn-ea"/>
              </a:rPr>
              <a:t>发出操作指令、驱动设备工作</a:t>
            </a:r>
            <a:endParaRPr lang="zh-CN" altLang="en-US" sz="2400" b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0">
                <a:latin typeface="+mn-ea"/>
                <a:ea typeface="+mn-ea"/>
              </a:rPr>
              <a:t>（保存现场、中断处理、返回现场）</a:t>
            </a:r>
            <a:endParaRPr lang="en-US" altLang="zh-CN" sz="1600" b="0">
              <a:latin typeface="+mn-ea"/>
              <a:ea typeface="+mn-ea"/>
            </a:endParaRPr>
          </a:p>
        </p:txBody>
      </p:sp>
      <p:cxnSp>
        <p:nvCxnSpPr>
          <p:cNvPr id="40" name="直接箭头连接符 10"/>
          <p:cNvCxnSpPr>
            <a:cxnSpLocks noChangeShapeType="1"/>
          </p:cNvCxnSpPr>
          <p:nvPr/>
        </p:nvCxnSpPr>
        <p:spPr bwMode="auto">
          <a:xfrm>
            <a:off x="2038323" y="2100386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箭头连接符 10"/>
          <p:cNvCxnSpPr>
            <a:cxnSpLocks noChangeShapeType="1"/>
          </p:cNvCxnSpPr>
          <p:nvPr/>
        </p:nvCxnSpPr>
        <p:spPr bwMode="auto">
          <a:xfrm>
            <a:off x="2038323" y="4012747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箭头连接符 10"/>
          <p:cNvCxnSpPr>
            <a:cxnSpLocks noChangeShapeType="1"/>
          </p:cNvCxnSpPr>
          <p:nvPr/>
        </p:nvCxnSpPr>
        <p:spPr bwMode="auto">
          <a:xfrm>
            <a:off x="2038323" y="3364236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接箭头连接符 10"/>
          <p:cNvCxnSpPr>
            <a:cxnSpLocks noChangeShapeType="1"/>
          </p:cNvCxnSpPr>
          <p:nvPr/>
        </p:nvCxnSpPr>
        <p:spPr bwMode="auto">
          <a:xfrm>
            <a:off x="2038323" y="4632928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箭头连接符 18"/>
          <p:cNvCxnSpPr>
            <a:cxnSpLocks noChangeShapeType="1"/>
          </p:cNvCxnSpPr>
          <p:nvPr/>
        </p:nvCxnSpPr>
        <p:spPr bwMode="auto">
          <a:xfrm flipV="1">
            <a:off x="4937936" y="4171263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接箭头连接符 18"/>
          <p:cNvCxnSpPr>
            <a:cxnSpLocks noChangeShapeType="1"/>
          </p:cNvCxnSpPr>
          <p:nvPr/>
        </p:nvCxnSpPr>
        <p:spPr bwMode="auto">
          <a:xfrm flipV="1">
            <a:off x="4946760" y="2209286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直接连接符 4"/>
          <p:cNvCxnSpPr/>
          <p:nvPr/>
        </p:nvCxnSpPr>
        <p:spPr>
          <a:xfrm>
            <a:off x="5722473" y="2944726"/>
            <a:ext cx="5132705" cy="14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5722473" y="3639416"/>
            <a:ext cx="5132705" cy="14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230473" y="4319501"/>
            <a:ext cx="5132705" cy="14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5722473" y="4999586"/>
            <a:ext cx="5132705" cy="14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719298" y="5617441"/>
            <a:ext cx="5132705" cy="14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左中括号 6"/>
          <p:cNvSpPr/>
          <p:nvPr/>
        </p:nvSpPr>
        <p:spPr>
          <a:xfrm>
            <a:off x="1534795" y="2532380"/>
            <a:ext cx="75565" cy="89027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左中括号 8"/>
          <p:cNvSpPr/>
          <p:nvPr/>
        </p:nvSpPr>
        <p:spPr>
          <a:xfrm>
            <a:off x="1488440" y="4022090"/>
            <a:ext cx="153670" cy="65976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03860" y="2701290"/>
            <a:ext cx="1054100" cy="721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软件相关</a:t>
            </a:r>
          </a:p>
        </p:txBody>
      </p:sp>
      <p:sp>
        <p:nvSpPr>
          <p:cNvPr id="11" name="椭圆 10"/>
          <p:cNvSpPr/>
          <p:nvPr/>
        </p:nvSpPr>
        <p:spPr>
          <a:xfrm>
            <a:off x="337185" y="4013200"/>
            <a:ext cx="1013460" cy="7766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硬件相关</a:t>
            </a:r>
          </a:p>
        </p:txBody>
      </p:sp>
    </p:spTree>
    <p:extLst>
      <p:ext uri="{BB962C8B-B14F-4D97-AF65-F5344CB8AC3E}">
        <p14:creationId xmlns:p14="http://schemas.microsoft.com/office/powerpoint/2010/main" val="3694799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" y="617220"/>
            <a:ext cx="9047480" cy="622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546735" y="140263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各种</a:t>
            </a:r>
            <a:r>
              <a:rPr lang="en-US" altLang="zh-CN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I/O</a:t>
            </a: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模块之间的层次视图</a:t>
            </a:r>
          </a:p>
        </p:txBody>
      </p:sp>
      <p:sp>
        <p:nvSpPr>
          <p:cNvPr id="2" name="圆角矩形标注 1"/>
          <p:cNvSpPr/>
          <p:nvPr/>
        </p:nvSpPr>
        <p:spPr>
          <a:xfrm>
            <a:off x="9135110" y="1605280"/>
            <a:ext cx="2734945" cy="751840"/>
          </a:xfrm>
          <a:prstGeom prst="wedgeRoundRectCallout">
            <a:avLst>
              <a:gd name="adj1" fmla="val -60917"/>
              <a:gd name="adj2" fmla="val 5290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I/O</a:t>
            </a:r>
            <a:r>
              <a:rPr lang="zh-CN" altLang="en-US" sz="2000">
                <a:solidFill>
                  <a:schemeClr val="tx1"/>
                </a:solidFill>
              </a:rPr>
              <a:t>系统的上接口</a:t>
            </a: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上层：文件、虚存、用户进程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9134475" y="5325110"/>
            <a:ext cx="2223770" cy="476250"/>
          </a:xfrm>
          <a:prstGeom prst="wedgeRoundRectCallout">
            <a:avLst>
              <a:gd name="adj1" fmla="val -53712"/>
              <a:gd name="adj2" fmla="val -854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I/O</a:t>
            </a:r>
            <a:r>
              <a:rPr lang="zh-CN" altLang="en-US" sz="2000">
                <a:solidFill>
                  <a:schemeClr val="tx1"/>
                </a:solidFill>
              </a:rPr>
              <a:t>系统的下接口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9556115" y="2896870"/>
            <a:ext cx="492125" cy="1840865"/>
          </a:xfrm>
          <a:prstGeom prst="rightBrace">
            <a:avLst/>
          </a:prstGeom>
          <a:ln>
            <a:solidFill>
              <a:schemeClr val="accent1">
                <a:alpha val="9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10048240" y="3595370"/>
            <a:ext cx="2026920" cy="492125"/>
          </a:xfrm>
          <a:prstGeom prst="wedgeRoundRectCallout">
            <a:avLst>
              <a:gd name="adj1" fmla="val -42822"/>
              <a:gd name="adj2" fmla="val 1090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I/O</a:t>
            </a:r>
            <a:r>
              <a:rPr lang="zh-CN" altLang="en-US" sz="2000">
                <a:solidFill>
                  <a:schemeClr val="tx1"/>
                </a:solidFill>
              </a:rPr>
              <a:t>系统的分层</a:t>
            </a:r>
          </a:p>
        </p:txBody>
      </p:sp>
      <p:sp>
        <p:nvSpPr>
          <p:cNvPr id="6" name="矩形 5"/>
          <p:cNvSpPr/>
          <p:nvPr/>
        </p:nvSpPr>
        <p:spPr>
          <a:xfrm>
            <a:off x="582930" y="5309870"/>
            <a:ext cx="7047865" cy="15195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82930" y="1424940"/>
            <a:ext cx="2595880" cy="3670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85490" y="1440180"/>
            <a:ext cx="2487930" cy="3655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849620" y="1455420"/>
            <a:ext cx="1888490" cy="3654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402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2940" y="1146810"/>
            <a:ext cx="10419715" cy="644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块设备接口</a:t>
            </a:r>
          </a:p>
        </p:txBody>
      </p:sp>
      <p:grpSp>
        <p:nvGrpSpPr>
          <p:cNvPr id="10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2305" y="1791335"/>
            <a:ext cx="11092815" cy="4499610"/>
            <a:chOff x="640860" y="3008415"/>
            <a:chExt cx="11092815" cy="2967990"/>
          </a:xfrm>
        </p:grpSpPr>
        <p:sp>
          <p:nvSpPr>
            <p:cNvPr id="12" name="ïşḻiḍé"/>
            <p:cNvSpPr/>
            <p:nvPr/>
          </p:nvSpPr>
          <p:spPr>
            <a:xfrm>
              <a:off x="640860" y="3008415"/>
              <a:ext cx="3326130" cy="296799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dirty="0">
                  <a:solidFill>
                    <a:srgbClr val="FF0000"/>
                  </a:solidFill>
                </a:rPr>
                <a:t>块设备：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</a:rPr>
                <a:t>数据的存取和传输都是以数据块为单位的设备，如磁盘、光盘。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</a:rPr>
                <a:t>每秒几十</a:t>
              </a:r>
              <a:r>
                <a:rPr lang="en-US" altLang="zh-CN" sz="2400" dirty="0">
                  <a:solidFill>
                    <a:schemeClr val="tx1"/>
                  </a:solidFill>
                </a:rPr>
                <a:t>-</a:t>
              </a:r>
              <a:r>
                <a:rPr lang="zh-CN" altLang="en-US" sz="2400" dirty="0">
                  <a:solidFill>
                    <a:schemeClr val="tx1"/>
                  </a:solidFill>
                </a:rPr>
                <a:t>几百</a:t>
              </a:r>
              <a:r>
                <a:rPr lang="en-US" altLang="zh-CN" sz="2400" dirty="0">
                  <a:solidFill>
                    <a:schemeClr val="tx1"/>
                  </a:solidFill>
                </a:rPr>
                <a:t>MB.</a:t>
              </a:r>
              <a:endParaRPr lang="zh-CN" altLang="en-US" sz="2400" dirty="0">
                <a:solidFill>
                  <a:schemeClr val="tx1"/>
                </a:solidFill>
              </a:endParaRP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</a:rPr>
                <a:t>可寻址，可</a:t>
              </a:r>
              <a:r>
                <a:rPr lang="zh-CN" altLang="en-US" sz="2400" dirty="0">
                  <a:solidFill>
                    <a:srgbClr val="FF0000"/>
                  </a:solidFill>
                </a:rPr>
                <a:t>随机访问</a:t>
              </a:r>
              <a:r>
                <a:rPr lang="zh-CN" altLang="en-US" sz="2400" dirty="0">
                  <a:solidFill>
                    <a:schemeClr val="tx1"/>
                  </a:solidFill>
                </a:rPr>
                <a:t>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</a:rPr>
                <a:t>通常采用</a:t>
              </a:r>
              <a:r>
                <a:rPr lang="zh-CN" altLang="en-US" sz="2400" dirty="0">
                  <a:solidFill>
                    <a:srgbClr val="FF0000"/>
                  </a:solidFill>
                </a:rPr>
                <a:t>DMA</a:t>
              </a:r>
              <a:r>
                <a:rPr lang="zh-CN" altLang="en-US" sz="2400" dirty="0">
                  <a:solidFill>
                    <a:schemeClr val="tx1"/>
                  </a:solidFill>
                </a:rPr>
                <a:t> I/O控制方式。</a:t>
              </a:r>
            </a:p>
          </p:txBody>
        </p:sp>
        <p:sp>
          <p:nvSpPr>
            <p:cNvPr id="14" name="ïšlïḑè"/>
            <p:cNvSpPr/>
            <p:nvPr/>
          </p:nvSpPr>
          <p:spPr>
            <a:xfrm>
              <a:off x="4204480" y="3008415"/>
              <a:ext cx="3968750" cy="2781601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/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28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隐藏了磁盘的二维结构</a:t>
              </a:r>
              <a:r>
                <a:rPr lang="zh-CN" altLang="en-US" sz="20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（磁盘结构见下页）</a:t>
              </a:r>
              <a:endParaRPr lang="zh-CN" altLang="en-US" sz="2800" dirty="0">
                <a:solidFill>
                  <a:schemeClr val="accent3">
                    <a:lumMod val="75000"/>
                    <a:lumOff val="25000"/>
                  </a:schemeClr>
                </a:solidFill>
              </a:endParaRP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</a:rPr>
                <a:t>块设备接口将磁盘上的所有扇区从0至n-1编号为一维线性序列。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</a:rPr>
                <a:t>隐藏每个扇区的地址</a:t>
              </a:r>
              <a:r>
                <a:rPr lang="zh-CN" altLang="en-US" dirty="0">
                  <a:solidFill>
                    <a:schemeClr val="tx1"/>
                  </a:solidFill>
                </a:rPr>
                <a:t>二维</a:t>
              </a:r>
              <a:r>
                <a:rPr lang="zh-CN" altLang="en-US" sz="2400" dirty="0">
                  <a:solidFill>
                    <a:schemeClr val="tx1"/>
                  </a:solidFill>
                </a:rPr>
                <a:t>：包括磁道号和扇区号。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rgbClr val="FF0000"/>
                  </a:solidFill>
                </a:rPr>
                <a:t>扇区</a:t>
              </a:r>
              <a:r>
                <a:rPr lang="zh-CN" altLang="en-US" dirty="0">
                  <a:solidFill>
                    <a:schemeClr val="tx1"/>
                  </a:solidFill>
                </a:rPr>
                <a:t>是最小物理存储单位。</a:t>
              </a:r>
              <a:r>
                <a:rPr lang="zh-CN" altLang="en-US" dirty="0">
                  <a:solidFill>
                    <a:srgbClr val="FF0000"/>
                  </a:solidFill>
                </a:rPr>
                <a:t>块</a:t>
              </a:r>
              <a:r>
                <a:rPr lang="zh-CN" altLang="en-US" dirty="0">
                  <a:solidFill>
                    <a:schemeClr val="tx1"/>
                  </a:solidFill>
                </a:rPr>
                <a:t>是数据存储的最小逻辑单位。</a:t>
              </a:r>
            </a:p>
          </p:txBody>
        </p:sp>
        <p:sp>
          <p:nvSpPr>
            <p:cNvPr id="16" name="í$ḷîḋe"/>
            <p:cNvSpPr/>
            <p:nvPr/>
          </p:nvSpPr>
          <p:spPr>
            <a:xfrm>
              <a:off x="8173865" y="3008415"/>
              <a:ext cx="3559810" cy="2830187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将抽象命令映射为低层操作</a:t>
              </a: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</a:rPr>
                <a:t>如收到读磁盘命令时，先将抽象命令中的</a:t>
              </a:r>
              <a:r>
                <a:rPr lang="zh-CN" altLang="en-US" sz="2400" dirty="0">
                  <a:solidFill>
                    <a:srgbClr val="FF0000"/>
                  </a:solidFill>
                </a:rPr>
                <a:t>逻辑块号</a:t>
              </a:r>
              <a:r>
                <a:rPr lang="zh-CN" altLang="en-US" sz="2400" dirty="0">
                  <a:solidFill>
                    <a:schemeClr val="tx1"/>
                  </a:solidFill>
                </a:rPr>
                <a:t>转换为磁盘的</a:t>
              </a:r>
              <a:r>
                <a:rPr lang="zh-CN" altLang="en-US" sz="2400" dirty="0">
                  <a:solidFill>
                    <a:srgbClr val="FF0000"/>
                  </a:solidFill>
                </a:rPr>
                <a:t>盘面</a:t>
              </a:r>
              <a:r>
                <a:rPr lang="zh-CN" altLang="en-US" sz="2400" dirty="0">
                  <a:solidFill>
                    <a:schemeClr val="tx1"/>
                  </a:solidFill>
                </a:rPr>
                <a:t>号（磁头号）、</a:t>
              </a:r>
              <a:r>
                <a:rPr lang="zh-CN" altLang="en-US" sz="2400" dirty="0">
                  <a:solidFill>
                    <a:srgbClr val="FF0000"/>
                  </a:solidFill>
                </a:rPr>
                <a:t>磁道</a:t>
              </a:r>
              <a:r>
                <a:rPr lang="zh-CN" altLang="en-US" sz="2400" dirty="0">
                  <a:solidFill>
                    <a:schemeClr val="tx1"/>
                  </a:solidFill>
                </a:rPr>
                <a:t>号和</a:t>
              </a:r>
              <a:r>
                <a:rPr lang="zh-CN" altLang="en-US" sz="2400" dirty="0">
                  <a:solidFill>
                    <a:srgbClr val="FF0000"/>
                  </a:solidFill>
                </a:rPr>
                <a:t>扇区号</a:t>
              </a:r>
              <a:r>
                <a:rPr lang="zh-CN" altLang="en-US" sz="2400" dirty="0">
                  <a:solidFill>
                    <a:schemeClr val="tx1"/>
                  </a:solidFill>
                </a:rPr>
                <a:t>等。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5894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/>
          </p:cNvSpPr>
          <p:nvPr>
            <p:ph type="title" idx="4294967295"/>
          </p:nvPr>
        </p:nvSpPr>
        <p:spPr>
          <a:xfrm>
            <a:off x="2135505" y="444500"/>
            <a:ext cx="6337300" cy="939800"/>
          </a:xfrm>
        </p:spPr>
        <p:txBody>
          <a:bodyPr wrap="square" lIns="91440" tIns="45720" rIns="91440" bIns="45720" anchor="b" anchorCtr="0">
            <a:normAutofit fontScale="90000"/>
          </a:bodyPr>
          <a:lstStyle/>
          <a:p>
            <a:pPr eaLnBrk="1" hangingPunct="1"/>
            <a:br>
              <a:rPr lang="zh-CN" altLang="en-US" dirty="0"/>
            </a:br>
            <a:r>
              <a:rPr lang="en-US" altLang="zh-CN" sz="3600" dirty="0"/>
              <a:t> </a:t>
            </a:r>
            <a:r>
              <a:rPr lang="zh-CN" altLang="en-US" sz="3600" dirty="0"/>
              <a:t>磁盘硬件</a:t>
            </a:r>
          </a:p>
        </p:txBody>
      </p:sp>
      <p:sp>
        <p:nvSpPr>
          <p:cNvPr id="60418" name="Rectangle 5"/>
          <p:cNvSpPr/>
          <p:nvPr/>
        </p:nvSpPr>
        <p:spPr>
          <a:xfrm>
            <a:off x="1524000" y="17399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Font typeface="Arial" panose="020B0604020202020204" pitchFamily="34" charset="0"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0419" name="Picture 4" descr="C7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88" y="1248728"/>
            <a:ext cx="7993062" cy="5256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0" name="Rectangle 3"/>
          <p:cNvSpPr>
            <a:spLocks noGrp="1"/>
          </p:cNvSpPr>
          <p:nvPr>
            <p:ph type="body" idx="4294967295"/>
          </p:nvPr>
        </p:nvSpPr>
        <p:spPr>
          <a:xfrm>
            <a:off x="9440228" y="5414010"/>
            <a:ext cx="1800225" cy="404813"/>
          </a:xfrm>
          <a:solidFill>
            <a:srgbClr val="FFFFCC"/>
          </a:solidFill>
          <a:ln w="25400">
            <a:solidFill>
              <a:schemeClr val="hlink"/>
            </a:solidFill>
            <a:miter/>
          </a:ln>
        </p:spPr>
        <p:txBody>
          <a:bodyPr wrap="square" lIns="91440" tIns="45720" rIns="91440" bIns="45720" anchor="t" anchorCtr="0">
            <a:normAutofit fontScale="80000"/>
          </a:bodyPr>
          <a:lstStyle/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400" dirty="0"/>
              <a:t>磁盘的结构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225280" y="3554730"/>
            <a:ext cx="27133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现代</a:t>
            </a:r>
            <a:r>
              <a:rPr lang="zh-CN" altLang="en-US"/>
              <a:t>双面</a:t>
            </a:r>
            <a:r>
              <a:rPr lang="zh-CN" altLang="en-US">
                <a:sym typeface="+mn-ea"/>
              </a:rPr>
              <a:t>盘面</a:t>
            </a:r>
            <a:endParaRPr lang="zh-CN" altLang="en-US"/>
          </a:p>
          <a:p>
            <a:r>
              <a:rPr lang="zh-CN" altLang="en-US"/>
              <a:t>（磁头数是</a:t>
            </a:r>
            <a:r>
              <a:rPr lang="en-US" altLang="zh-CN"/>
              <a:t>2</a:t>
            </a:r>
            <a:r>
              <a:rPr lang="zh-CN" altLang="en-US"/>
              <a:t>倍）</a:t>
            </a:r>
          </a:p>
        </p:txBody>
      </p:sp>
    </p:spTree>
    <p:extLst>
      <p:ext uri="{BB962C8B-B14F-4D97-AF65-F5344CB8AC3E}">
        <p14:creationId xmlns:p14="http://schemas.microsoft.com/office/powerpoint/2010/main" val="10213050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(2)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2940" y="1146810"/>
            <a:ext cx="10419715" cy="644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流设备(字符设备)</a:t>
            </a: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接口</a:t>
            </a:r>
          </a:p>
        </p:txBody>
      </p:sp>
      <p:grpSp>
        <p:nvGrpSpPr>
          <p:cNvPr id="10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2305" y="1791335"/>
            <a:ext cx="11092815" cy="4499610"/>
            <a:chOff x="640860" y="3008415"/>
            <a:chExt cx="11092815" cy="2967990"/>
          </a:xfrm>
        </p:grpSpPr>
        <p:sp>
          <p:nvSpPr>
            <p:cNvPr id="12" name="ïşḻiḍé"/>
            <p:cNvSpPr/>
            <p:nvPr/>
          </p:nvSpPr>
          <p:spPr>
            <a:xfrm>
              <a:off x="640860" y="3008415"/>
              <a:ext cx="3326130" cy="296799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dirty="0">
                  <a:solidFill>
                    <a:srgbClr val="FF0000"/>
                  </a:solidFill>
                </a:rPr>
                <a:t>字符设备：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数据的存取和传输都是以字符为单位的设备，如键盘、打印机。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每秒几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-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几千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B.</a:t>
              </a:r>
              <a:endParaRPr lang="zh-CN" altLang="en-US" sz="2400" dirty="0">
                <a:solidFill>
                  <a:schemeClr val="tx1"/>
                </a:solidFill>
                <a:sym typeface="+mn-ea"/>
              </a:endParaRP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不可寻址，采用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顺序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存取方式。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通常采用</a:t>
              </a:r>
              <a:r>
                <a:rPr lang="zh-CN" altLang="en-US" sz="2400" u="sng" dirty="0">
                  <a:solidFill>
                    <a:srgbClr val="FF0000"/>
                  </a:solidFill>
                  <a:sym typeface="+mn-ea"/>
                </a:rPr>
                <a:t>中断</a:t>
              </a:r>
              <a:r>
                <a:rPr lang="zh-CN" altLang="en-US" sz="2400" b="1" u="sng" dirty="0">
                  <a:solidFill>
                    <a:srgbClr val="FF0000"/>
                  </a:solidFill>
                  <a:sym typeface="+mn-ea"/>
                </a:rPr>
                <a:t>驱动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I/O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方式。</a:t>
              </a:r>
              <a:r>
                <a:rPr lang="zh-CN" altLang="en-US" sz="2000" dirty="0">
                  <a:solidFill>
                    <a:schemeClr val="tx1"/>
                  </a:solidFill>
                  <a:sym typeface="+mn-ea"/>
                </a:rPr>
                <a:t>区别中断</a:t>
              </a:r>
              <a:endParaRPr lang="zh-CN" altLang="en-US" sz="2400" dirty="0">
                <a:solidFill>
                  <a:schemeClr val="tx1"/>
                </a:solidFill>
              </a:endParaRP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ïšlïḑè"/>
            <p:cNvSpPr/>
            <p:nvPr/>
          </p:nvSpPr>
          <p:spPr>
            <a:xfrm>
              <a:off x="4311795" y="3008415"/>
              <a:ext cx="3517265" cy="2781601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/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en-US" altLang="zh-CN" sz="28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get</a:t>
              </a:r>
              <a:r>
                <a:rPr lang="zh-CN" altLang="zh-CN" sz="28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操作和</a:t>
              </a:r>
              <a:r>
                <a:rPr lang="en-US" altLang="zh-CN" sz="28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put</a:t>
              </a:r>
              <a:r>
                <a:rPr lang="zh-CN" altLang="zh-CN" sz="28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操作</a:t>
              </a:r>
              <a:endParaRPr lang="zh-CN" altLang="en-US" sz="2800" dirty="0">
                <a:solidFill>
                  <a:schemeClr val="accent3">
                    <a:lumMod val="75000"/>
                    <a:lumOff val="25000"/>
                  </a:schemeClr>
                </a:solidFill>
              </a:endParaRP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get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操作从字符缓冲区取得一个字符（到内存），并将它返回给调用者。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put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操作用于将一个新字符（从内存）输出到字符缓冲区。</a:t>
              </a:r>
            </a:p>
          </p:txBody>
        </p:sp>
        <p:sp>
          <p:nvSpPr>
            <p:cNvPr id="16" name="í$ḷîḋe"/>
            <p:cNvSpPr/>
            <p:nvPr/>
          </p:nvSpPr>
          <p:spPr>
            <a:xfrm>
              <a:off x="8173865" y="3008415"/>
              <a:ext cx="3559810" cy="2830187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accent3">
                      <a:lumMod val="75000"/>
                      <a:lumOff val="25000"/>
                    </a:schemeClr>
                  </a:solidFill>
                  <a:sym typeface="+mn-ea"/>
                </a:rPr>
                <a:t>in-control指令</a:t>
              </a:r>
              <a:endParaRPr lang="zh-CN" altLang="en-US" sz="2800" dirty="0">
                <a:solidFill>
                  <a:schemeClr val="accent3">
                    <a:lumMod val="75000"/>
                    <a:lumOff val="25000"/>
                  </a:schemeClr>
                </a:solidFill>
              </a:endParaRP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字符设备接口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通用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指令。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包含许多参数，每个参数均表示一个与具体设备相关的特定功能。</a:t>
              </a:r>
            </a:p>
            <a:p>
              <a:pPr marL="285750" indent="-285750" algn="l">
                <a:lnSpc>
                  <a:spcPct val="130000"/>
                </a:lnSpc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大多字符设备属于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独占设备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：互斥操作（打开设备、关闭设备）。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139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(3)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5721882" cy="2764101"/>
            <a:chOff x="660400" y="1787149"/>
            <a:chExt cx="5721882" cy="2764101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5085715" cy="2715895"/>
              <a:chOff x="1296567" y="1835355"/>
              <a:chExt cx="6414361" cy="2715895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buClrTx/>
                  <a:buSzTx/>
                  <a:buFontTx/>
                </a:pPr>
                <a:r>
                  <a:rPr lang="zh-CN" altLang="en-US" sz="2800" b="1" dirty="0">
                    <a:solidFill>
                      <a:schemeClr val="accent3">
                        <a:lumMod val="75000"/>
                        <a:lumOff val="25000"/>
                      </a:schemeClr>
                    </a:solidFill>
                  </a:rPr>
                  <a:t>网络通信接口</a:t>
                </a: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279220"/>
                <a:ext cx="6414361" cy="22720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OS</a:t>
                </a:r>
                <a:r>
                  <a:rPr lang="zh-CN" altLang="en-US" sz="2400" dirty="0"/>
                  <a:t>提供相应的网络软件和网络通信接口，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以使计算机能通过网络同网络上的其他计算机进行通信</a:t>
                </a:r>
                <a:r>
                  <a:rPr lang="zh-CN" altLang="en-US" sz="2400" dirty="0"/>
                  <a:t>，或上网浏览信息。</a:t>
                </a:r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60682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7.2 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008141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843915" y="141605"/>
            <a:ext cx="6852285" cy="6356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7.2.1  I/O</a:t>
            </a:r>
            <a:r>
              <a:rPr lang="zh-CN" altLang="en-US" sz="2800" b="1" dirty="0">
                <a:solidFill>
                  <a:schemeClr val="bg1"/>
                </a:solidFill>
              </a:rPr>
              <a:t>设备</a:t>
            </a:r>
            <a:endParaRPr lang="zh-CN" altLang="en-US" sz="2800" b="1" dirty="0">
              <a:solidFill>
                <a:schemeClr val="bg1"/>
              </a:solidFill>
              <a:latin typeface="+mn-ea"/>
            </a:endParaRPr>
          </a:p>
          <a:p>
            <a:endParaRPr lang="zh-CN" alt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2940" y="1146810"/>
            <a:ext cx="10419715" cy="644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buClrTx/>
              <a:buSzTx/>
              <a:buFontTx/>
            </a:pPr>
            <a:r>
              <a:rPr lang="en-US" altLang="zh-CN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I/O</a:t>
            </a:r>
            <a:r>
              <a:rPr lang="zh-CN" altLang="zh-CN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设备的类型</a:t>
            </a:r>
          </a:p>
        </p:txBody>
      </p:sp>
      <p:grpSp>
        <p:nvGrpSpPr>
          <p:cNvPr id="2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2305" y="1791335"/>
            <a:ext cx="8025130" cy="4499610"/>
            <a:chOff x="640860" y="3008415"/>
            <a:chExt cx="8025130" cy="2967990"/>
          </a:xfrm>
        </p:grpSpPr>
        <p:sp>
          <p:nvSpPr>
            <p:cNvPr id="24" name="ïşḻiḍé"/>
            <p:cNvSpPr/>
            <p:nvPr/>
          </p:nvSpPr>
          <p:spPr>
            <a:xfrm>
              <a:off x="640860" y="3008415"/>
              <a:ext cx="2357755" cy="296799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2400" dirty="0">
                  <a:solidFill>
                    <a:schemeClr val="accent3">
                      <a:lumMod val="75000"/>
                      <a:lumOff val="25000"/>
                    </a:schemeClr>
                  </a:solidFill>
                  <a:sym typeface="+mn-ea"/>
                </a:rPr>
                <a:t>按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使用特性</a:t>
              </a:r>
              <a:r>
                <a:rPr lang="zh-CN" altLang="en-US" sz="2400" dirty="0">
                  <a:solidFill>
                    <a:schemeClr val="accent3">
                      <a:lumMod val="75000"/>
                      <a:lumOff val="25000"/>
                    </a:schemeClr>
                  </a:solidFill>
                  <a:sym typeface="+mn-ea"/>
                </a:rPr>
                <a:t>分类</a:t>
              </a:r>
              <a:endParaRPr lang="zh-CN" altLang="en-US" sz="2400" dirty="0">
                <a:solidFill>
                  <a:schemeClr val="accent3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endParaRPr lang="zh-CN" altLang="en-US" sz="2400" dirty="0">
                <a:solidFill>
                  <a:schemeClr val="tx1"/>
                </a:solidFill>
                <a:sym typeface="+mn-ea"/>
              </a:endParaRP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存储设备、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I/O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设备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输入设备、输出设备、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交互设备（显示器）</a:t>
              </a:r>
            </a:p>
          </p:txBody>
        </p:sp>
        <p:sp>
          <p:nvSpPr>
            <p:cNvPr id="25" name="ïšlïḑè"/>
            <p:cNvSpPr/>
            <p:nvPr/>
          </p:nvSpPr>
          <p:spPr>
            <a:xfrm>
              <a:off x="3200545" y="3008415"/>
              <a:ext cx="2822575" cy="2781601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/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24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按</a:t>
              </a:r>
              <a:r>
                <a:rPr lang="zh-CN" altLang="en-US" sz="2400" dirty="0">
                  <a:solidFill>
                    <a:srgbClr val="FF0000"/>
                  </a:solidFill>
                </a:rPr>
                <a:t>传输速率</a:t>
              </a:r>
              <a:r>
                <a:rPr lang="zh-CN" altLang="en-US" sz="2400" dirty="0">
                  <a:solidFill>
                    <a:schemeClr val="accent3">
                      <a:lumMod val="75000"/>
                      <a:lumOff val="25000"/>
                    </a:schemeClr>
                  </a:solidFill>
                </a:rPr>
                <a:t>分类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endParaRPr lang="zh-CN" altLang="en-US" sz="2000" b="1" dirty="0">
                <a:solidFill>
                  <a:schemeClr val="tx1"/>
                </a:solidFill>
                <a:sym typeface="+mn-ea"/>
              </a:endParaRP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solidFill>
                    <a:schemeClr val="tx1"/>
                  </a:solidFill>
                  <a:sym typeface="+mn-ea"/>
                </a:rPr>
                <a:t>低速设备</a:t>
              </a:r>
              <a:r>
                <a:rPr lang="zh-CN" altLang="en-US" sz="2000" dirty="0">
                  <a:solidFill>
                    <a:schemeClr val="tx1"/>
                  </a:solidFill>
                  <a:sym typeface="+mn-ea"/>
                </a:rPr>
                <a:t>：键盘、鼠标器、语音的输入和输出等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solidFill>
                    <a:schemeClr val="tx1"/>
                  </a:solidFill>
                  <a:sym typeface="+mn-ea"/>
                </a:rPr>
                <a:t>中速设备</a:t>
              </a:r>
              <a:r>
                <a:rPr lang="zh-CN" altLang="en-US" sz="2000" dirty="0">
                  <a:solidFill>
                    <a:schemeClr val="tx1"/>
                  </a:solidFill>
                  <a:sym typeface="+mn-ea"/>
                </a:rPr>
                <a:t>：行式打印机、激光打印机等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solidFill>
                    <a:schemeClr val="tx1"/>
                  </a:solidFill>
                  <a:sym typeface="+mn-ea"/>
                </a:rPr>
                <a:t>高速设备</a:t>
              </a:r>
              <a:r>
                <a:rPr lang="zh-CN" altLang="en-US" sz="2000" dirty="0">
                  <a:solidFill>
                    <a:schemeClr val="tx1"/>
                  </a:solidFill>
                  <a:sym typeface="+mn-ea"/>
                </a:rPr>
                <a:t>：磁带机、磁盘机、光盘机等</a:t>
              </a:r>
              <a:r>
                <a:rPr lang="zh-CN" altLang="en-US" sz="2400" dirty="0">
                  <a:sym typeface="+mn-ea"/>
                </a:rPr>
                <a:t>等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" name="í$ḷîḋe"/>
            <p:cNvSpPr/>
            <p:nvPr/>
          </p:nvSpPr>
          <p:spPr>
            <a:xfrm>
              <a:off x="6237115" y="3008415"/>
              <a:ext cx="2428875" cy="2830187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2400" dirty="0">
                  <a:solidFill>
                    <a:schemeClr val="accent3">
                      <a:lumMod val="75000"/>
                      <a:lumOff val="25000"/>
                    </a:schemeClr>
                  </a:solidFill>
                  <a:sym typeface="+mn-ea"/>
                </a:rPr>
                <a:t>按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信息交换单位</a:t>
              </a:r>
              <a:r>
                <a:rPr lang="zh-CN" altLang="en-US" sz="2400" dirty="0">
                  <a:solidFill>
                    <a:schemeClr val="accent3">
                      <a:lumMod val="75000"/>
                      <a:lumOff val="25000"/>
                    </a:schemeClr>
                  </a:solidFill>
                  <a:sym typeface="+mn-ea"/>
                </a:rPr>
                <a:t>分类</a:t>
              </a:r>
              <a:endParaRPr lang="zh-CN" altLang="en-US" sz="2400" dirty="0">
                <a:solidFill>
                  <a:schemeClr val="accent3">
                    <a:lumMod val="75000"/>
                    <a:lumOff val="25000"/>
                  </a:schemeClr>
                </a:solidFill>
              </a:endParaRPr>
            </a:p>
            <a:p>
              <a:pPr marL="342900" indent="-342900" algn="l">
                <a:lnSpc>
                  <a:spcPct val="120000"/>
                </a:lnSpc>
                <a:buClr>
                  <a:srgbClr val="FF0000"/>
                </a:buClr>
                <a:buSzTx/>
                <a:buFont typeface="Wingdings" panose="05000000000000000000" pitchFamily="2" charset="2"/>
                <a:buChar char="Ø"/>
              </a:pPr>
              <a:endParaRPr lang="zh-CN" altLang="en-US" sz="2400" dirty="0">
                <a:solidFill>
                  <a:schemeClr val="tx1"/>
                </a:solidFill>
                <a:sym typeface="+mn-ea"/>
              </a:endParaRPr>
            </a:p>
            <a:p>
              <a:pPr marL="342900" indent="-342900" algn="l">
                <a:lnSpc>
                  <a:spcPct val="120000"/>
                </a:lnSpc>
                <a:buClr>
                  <a:srgbClr val="FF0000"/>
                </a:buClr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块设备、字符设备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í$ḷîḋe"/>
          <p:cNvSpPr/>
          <p:nvPr/>
        </p:nvSpPr>
        <p:spPr>
          <a:xfrm>
            <a:off x="8850630" y="1791335"/>
            <a:ext cx="2742565" cy="4290695"/>
          </a:xfrm>
          <a:prstGeom prst="rect">
            <a:avLst/>
          </a:prstGeom>
          <a:solidFill>
            <a:schemeClr val="bg1"/>
          </a:solidFill>
          <a:ln w="952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按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设备的共享属性</a:t>
            </a:r>
            <a:r>
              <a:rPr lang="zh-CN" altLang="en-US" sz="2400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分类</a:t>
            </a:r>
            <a:endParaRPr lang="zh-CN" altLang="en-US" sz="2400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  <a:p>
            <a:pPr marL="342900" indent="-342900" algn="l">
              <a:lnSpc>
                <a:spcPct val="120000"/>
              </a:lnSpc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endParaRPr lang="zh-CN" altLang="en-US" sz="2400" dirty="0">
              <a:solidFill>
                <a:schemeClr val="tx1"/>
              </a:solidFill>
              <a:sym typeface="+mn-ea"/>
            </a:endParaRPr>
          </a:p>
          <a:p>
            <a:pPr marL="342900" indent="-342900" algn="l">
              <a:lnSpc>
                <a:spcPct val="120000"/>
              </a:lnSpc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</a:rPr>
              <a:t>独占设备、共享设备、</a:t>
            </a:r>
            <a:r>
              <a:rPr lang="zh-CN" altLang="en-US" dirty="0">
                <a:solidFill>
                  <a:schemeClr val="tx1"/>
                </a:solidFill>
              </a:rPr>
              <a:t>虚拟设备</a:t>
            </a:r>
          </a:p>
        </p:txBody>
      </p:sp>
    </p:spTree>
    <p:extLst>
      <p:ext uri="{BB962C8B-B14F-4D97-AF65-F5344CB8AC3E}">
        <p14:creationId xmlns:p14="http://schemas.microsoft.com/office/powerpoint/2010/main" val="1212443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843915" y="141605"/>
            <a:ext cx="6852285" cy="6356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7.2.2 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设备控制器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2940" y="1395095"/>
            <a:ext cx="7064375" cy="3227070"/>
            <a:chOff x="974987" y="3008415"/>
            <a:chExt cx="6770785" cy="3539856"/>
          </a:xfrm>
        </p:grpSpPr>
        <p:sp>
          <p:nvSpPr>
            <p:cNvPr id="24" name="ïşḻiḍé"/>
            <p:cNvSpPr/>
            <p:nvPr/>
          </p:nvSpPr>
          <p:spPr>
            <a:xfrm>
              <a:off x="974987" y="3008415"/>
              <a:ext cx="2982188" cy="3539856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342900" lvl="1" indent="-342900" algn="l" eaLnBrk="1" hangingPunct="1">
                <a:lnSpc>
                  <a:spcPct val="120000"/>
                </a:lnSpc>
                <a:buClr>
                  <a:srgbClr val="FF0000"/>
                </a:buClr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solidFill>
                    <a:schemeClr val="tx1"/>
                  </a:solidFill>
                  <a:sym typeface="+mn-ea"/>
                </a:rPr>
                <a:t>I/O设备由电子和机械两部分组成。</a:t>
              </a:r>
              <a:endParaRPr lang="zh-CN" altLang="en-US" sz="2400" b="1" dirty="0">
                <a:solidFill>
                  <a:schemeClr val="tx1"/>
                </a:solidFill>
              </a:endParaRPr>
            </a:p>
            <a:p>
              <a:pPr marL="342900" lvl="1" indent="-342900" algn="l" eaLnBrk="1" hangingPunct="1">
                <a:lnSpc>
                  <a:spcPct val="120000"/>
                </a:lnSpc>
                <a:buClr>
                  <a:srgbClr val="FF0000"/>
                </a:buClr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机械部分：设备本身。</a:t>
              </a:r>
            </a:p>
            <a:p>
              <a:pPr marL="0" lvl="1" indent="-342900" algn="l" eaLnBrk="1" hangingPunct="1">
                <a:lnSpc>
                  <a:spcPct val="120000"/>
                </a:lnSpc>
                <a:buClr>
                  <a:srgbClr val="FF0000"/>
                </a:buClr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电子部分：设备控制器或适配器。</a:t>
              </a:r>
              <a:r>
                <a:rPr lang="zh-CN" altLang="en-US" dirty="0">
                  <a:solidFill>
                    <a:schemeClr val="tx1"/>
                  </a:solidFill>
                  <a:sym typeface="+mn-ea"/>
                </a:rPr>
                <a:t>印刷电路卡</a:t>
              </a:r>
              <a:r>
                <a:rPr lang="en-US" altLang="zh-CN" dirty="0">
                  <a:solidFill>
                    <a:schemeClr val="tx1"/>
                  </a:solidFill>
                  <a:sym typeface="+mn-ea"/>
                </a:rPr>
                <a:t>-</a:t>
              </a:r>
              <a:r>
                <a:rPr lang="zh-CN" altLang="en-US" dirty="0">
                  <a:solidFill>
                    <a:schemeClr val="tx1"/>
                  </a:solidFill>
                  <a:sym typeface="+mn-ea"/>
                </a:rPr>
                <a:t>扩展槽。</a:t>
              </a:r>
            </a:p>
          </p:txBody>
        </p:sp>
        <p:sp>
          <p:nvSpPr>
            <p:cNvPr id="25" name="ïšlïḑè"/>
            <p:cNvSpPr/>
            <p:nvPr/>
          </p:nvSpPr>
          <p:spPr>
            <a:xfrm>
              <a:off x="4098373" y="3008415"/>
              <a:ext cx="3647399" cy="2781601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/>
            <a:lstStyle/>
            <a:p>
              <a:pPr marL="342900" indent="-342900" algn="l">
                <a:lnSpc>
                  <a:spcPct val="120000"/>
                </a:lnSpc>
                <a:buClr>
                  <a:srgbClr val="FF0000"/>
                </a:buClr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设备控制器控制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一个或多个同类设备。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设备控制器是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CPU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与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I/O设备之间的</a:t>
              </a:r>
              <a:r>
                <a:rPr lang="en-US" altLang="zh-CN" sz="2400" dirty="0">
                  <a:solidFill>
                    <a:srgbClr val="FF0000"/>
                  </a:solidFill>
                  <a:sym typeface="+mn-ea"/>
                </a:rPr>
                <a:t>接口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，接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收从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CPU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发来的命令，并去控制</a:t>
              </a:r>
              <a:r>
                <a:rPr lang="en-US" altLang="zh-CN" sz="2400" dirty="0">
                  <a:solidFill>
                    <a:schemeClr val="tx1"/>
                  </a:solidFill>
                  <a:sym typeface="+mn-ea"/>
                </a:rPr>
                <a:t>I/O</a:t>
              </a:r>
              <a:r>
                <a:rPr lang="zh-CN" altLang="en-US" sz="2400" dirty="0">
                  <a:solidFill>
                    <a:schemeClr val="tx1"/>
                  </a:solidFill>
                  <a:sym typeface="+mn-ea"/>
                </a:rPr>
                <a:t>设备工作。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í$ḷîḋe"/>
          <p:cNvSpPr/>
          <p:nvPr/>
        </p:nvSpPr>
        <p:spPr>
          <a:xfrm>
            <a:off x="7874635" y="1395095"/>
            <a:ext cx="3982720" cy="2956560"/>
          </a:xfrm>
          <a:prstGeom prst="rect">
            <a:avLst/>
          </a:prstGeom>
          <a:solidFill>
            <a:schemeClr val="bg1"/>
          </a:solidFill>
          <a:ln w="952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342900" indent="-342900" algn="l">
              <a:lnSpc>
                <a:spcPct val="120000"/>
              </a:lnSpc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控制器是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可编址设备。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当仅控制一个设备时，只有一个惟一的设备地址。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连接多个设备时，则含有多个设备地址，每个设备地址对应一个设备。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364" name="Rectangle 4"/>
          <p:cNvSpPr/>
          <p:nvPr/>
        </p:nvSpPr>
        <p:spPr>
          <a:xfrm>
            <a:off x="2611120" y="4879658"/>
            <a:ext cx="1225550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/>
              <a:t>CPU</a:t>
            </a:r>
          </a:p>
        </p:txBody>
      </p:sp>
      <p:sp>
        <p:nvSpPr>
          <p:cNvPr id="15365" name="Rectangle 5"/>
          <p:cNvSpPr/>
          <p:nvPr/>
        </p:nvSpPr>
        <p:spPr>
          <a:xfrm>
            <a:off x="5251133" y="4879658"/>
            <a:ext cx="1681162" cy="7762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/>
              <a:t>设备控制器</a:t>
            </a:r>
          </a:p>
        </p:txBody>
      </p:sp>
      <p:sp>
        <p:nvSpPr>
          <p:cNvPr id="15366" name="Rectangle 6"/>
          <p:cNvSpPr/>
          <p:nvPr/>
        </p:nvSpPr>
        <p:spPr>
          <a:xfrm>
            <a:off x="8175308" y="4846320"/>
            <a:ext cx="1223962" cy="792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/>
              <a:t>设备</a:t>
            </a:r>
          </a:p>
        </p:txBody>
      </p:sp>
      <p:sp>
        <p:nvSpPr>
          <p:cNvPr id="15367" name="双箭头 381"/>
          <p:cNvSpPr/>
          <p:nvPr/>
        </p:nvSpPr>
        <p:spPr>
          <a:xfrm>
            <a:off x="3979545" y="5240020"/>
            <a:ext cx="1152525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5368" name="双箭头 381"/>
          <p:cNvSpPr/>
          <p:nvPr/>
        </p:nvSpPr>
        <p:spPr>
          <a:xfrm>
            <a:off x="6976745" y="5222558"/>
            <a:ext cx="1152525" cy="1587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</p:spTree>
    <p:extLst>
      <p:ext uri="{BB962C8B-B14F-4D97-AF65-F5344CB8AC3E}">
        <p14:creationId xmlns:p14="http://schemas.microsoft.com/office/powerpoint/2010/main" val="20983110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设备控制器的基本功能</a:t>
            </a:r>
          </a:p>
        </p:txBody>
      </p:sp>
      <p:grpSp>
        <p:nvGrpSpPr>
          <p:cNvPr id="3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54015" y="1595646"/>
            <a:ext cx="10848974" cy="3733544"/>
            <a:chOff x="665163" y="1557009"/>
            <a:chExt cx="10848974" cy="3733544"/>
          </a:xfrm>
        </p:grpSpPr>
        <p:sp>
          <p:nvSpPr>
            <p:cNvPr id="4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3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5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6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7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8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9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0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1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2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3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4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5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6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7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8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9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1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2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3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4" name="îṩļiḓè"/>
            <p:cNvSpPr/>
            <p:nvPr/>
          </p:nvSpPr>
          <p:spPr>
            <a:xfrm>
              <a:off x="665163" y="1667557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接收和识别命令</a:t>
              </a:r>
            </a:p>
          </p:txBody>
        </p:sp>
        <p:sp>
          <p:nvSpPr>
            <p:cNvPr id="25" name="ïṣľîḋê"/>
            <p:cNvSpPr/>
            <p:nvPr/>
          </p:nvSpPr>
          <p:spPr>
            <a:xfrm>
              <a:off x="8029002" y="1667557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/>
                <a:t>地址识别</a:t>
              </a:r>
            </a:p>
          </p:txBody>
        </p:sp>
        <p:sp>
          <p:nvSpPr>
            <p:cNvPr id="26" name="išľïḓe"/>
            <p:cNvSpPr/>
            <p:nvPr/>
          </p:nvSpPr>
          <p:spPr>
            <a:xfrm>
              <a:off x="665164" y="3161434"/>
              <a:ext cx="2882020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数据交换</a:t>
              </a:r>
            </a:p>
          </p:txBody>
        </p:sp>
        <p:sp>
          <p:nvSpPr>
            <p:cNvPr id="27" name="îṧľïdè"/>
            <p:cNvSpPr/>
            <p:nvPr/>
          </p:nvSpPr>
          <p:spPr>
            <a:xfrm>
              <a:off x="8602796" y="2904889"/>
              <a:ext cx="2632134" cy="1066230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32000"/>
                </a:lnSpc>
              </a:pPr>
              <a:r>
                <a:rPr lang="zh-CN" altLang="en-US" sz="2400" dirty="0"/>
                <a:t>数据缓冲区</a:t>
              </a:r>
            </a:p>
          </p:txBody>
        </p:sp>
        <p:sp>
          <p:nvSpPr>
            <p:cNvPr id="28" name="işľîḓé"/>
            <p:cNvSpPr/>
            <p:nvPr/>
          </p:nvSpPr>
          <p:spPr>
            <a:xfrm>
              <a:off x="665163" y="4708346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标识和报告设备的状态</a:t>
              </a:r>
            </a:p>
          </p:txBody>
        </p:sp>
        <p:sp>
          <p:nvSpPr>
            <p:cNvPr id="29" name="ïśļíde"/>
            <p:cNvSpPr/>
            <p:nvPr/>
          </p:nvSpPr>
          <p:spPr>
            <a:xfrm>
              <a:off x="8029002" y="4708346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/>
                <a:t>差错控制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530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设备控制器的组成</a:t>
            </a:r>
          </a:p>
        </p:txBody>
      </p:sp>
      <p:sp>
        <p:nvSpPr>
          <p:cNvPr id="3" name="i$lîďê"/>
          <p:cNvSpPr/>
          <p:nvPr/>
        </p:nvSpPr>
        <p:spPr>
          <a:xfrm>
            <a:off x="1065530" y="3233420"/>
            <a:ext cx="3886835" cy="81470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</a:t>
            </a:r>
            <a:r>
              <a:rPr lang="zh-CN" altLang="en-US" sz="2400" dirty="0">
                <a:solidFill>
                  <a:srgbClr val="FF0000"/>
                </a:solidFill>
              </a:rPr>
              <a:t>与设备</a:t>
            </a:r>
            <a:r>
              <a:rPr lang="zh-CN" altLang="en-US" sz="2400" dirty="0"/>
              <a:t>的接口</a:t>
            </a:r>
          </a:p>
        </p:txBody>
      </p:sp>
      <p:sp>
        <p:nvSpPr>
          <p:cNvPr id="4" name="î$ļíḋè"/>
          <p:cNvSpPr/>
          <p:nvPr/>
        </p:nvSpPr>
        <p:spPr>
          <a:xfrm>
            <a:off x="1065244" y="5480079"/>
            <a:ext cx="3658163" cy="4949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实现对设备的控制</a:t>
            </a:r>
          </a:p>
        </p:txBody>
      </p:sp>
      <p:sp>
        <p:nvSpPr>
          <p:cNvPr id="5" name="ïṧḷïḋè"/>
          <p:cNvSpPr/>
          <p:nvPr/>
        </p:nvSpPr>
        <p:spPr>
          <a:xfrm>
            <a:off x="1065246" y="5064977"/>
            <a:ext cx="285967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逻辑</a:t>
            </a:r>
          </a:p>
        </p:txBody>
      </p:sp>
      <p:sp>
        <p:nvSpPr>
          <p:cNvPr id="6" name="íšḻíḑê"/>
          <p:cNvSpPr/>
          <p:nvPr/>
        </p:nvSpPr>
        <p:spPr>
          <a:xfrm>
            <a:off x="1076960" y="1388110"/>
            <a:ext cx="4132580" cy="6140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</a:t>
            </a:r>
            <a:r>
              <a:rPr lang="zh-CN" altLang="en-US" sz="2400" dirty="0">
                <a:solidFill>
                  <a:srgbClr val="FF0000"/>
                </a:solidFill>
              </a:rPr>
              <a:t>与处理机</a:t>
            </a:r>
            <a:r>
              <a:rPr lang="zh-CN" altLang="en-US" sz="2400" dirty="0"/>
              <a:t>的接口</a:t>
            </a:r>
          </a:p>
        </p:txBody>
      </p:sp>
      <p:sp>
        <p:nvSpPr>
          <p:cNvPr id="7" name="îSļiḓè"/>
          <p:cNvSpPr/>
          <p:nvPr/>
        </p:nvSpPr>
        <p:spPr>
          <a:xfrm>
            <a:off x="378567" y="137414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íṥḻîḓe"/>
          <p:cNvSpPr/>
          <p:nvPr/>
        </p:nvSpPr>
        <p:spPr>
          <a:xfrm>
            <a:off x="381742" y="502101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îşļiḓè"/>
          <p:cNvSpPr/>
          <p:nvPr/>
        </p:nvSpPr>
        <p:spPr>
          <a:xfrm>
            <a:off x="381742" y="332652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îṡḷíďe"/>
          <p:cNvSpPr/>
          <p:nvPr/>
        </p:nvSpPr>
        <p:spPr>
          <a:xfrm>
            <a:off x="568822" y="157028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" name="íSlíḋe"/>
          <p:cNvSpPr/>
          <p:nvPr/>
        </p:nvSpPr>
        <p:spPr>
          <a:xfrm>
            <a:off x="571996" y="354853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" name="ïśḷïḓe"/>
          <p:cNvSpPr/>
          <p:nvPr/>
        </p:nvSpPr>
        <p:spPr>
          <a:xfrm>
            <a:off x="600935" y="521047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î$ļíḋè"/>
          <p:cNvSpPr/>
          <p:nvPr/>
        </p:nvSpPr>
        <p:spPr>
          <a:xfrm>
            <a:off x="1065530" y="3953510"/>
            <a:ext cx="3658235" cy="10509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一个设备控制器可以连接一个或多个设备</a:t>
            </a:r>
          </a:p>
        </p:txBody>
      </p:sp>
      <p:sp>
        <p:nvSpPr>
          <p:cNvPr id="14" name="î$ļíḋè"/>
          <p:cNvSpPr/>
          <p:nvPr/>
        </p:nvSpPr>
        <p:spPr>
          <a:xfrm>
            <a:off x="1062355" y="1948180"/>
            <a:ext cx="3825240" cy="124079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实现</a:t>
            </a:r>
            <a:r>
              <a:rPr lang="en-US" altLang="zh-CN" sz="2200" dirty="0"/>
              <a:t>CPU</a:t>
            </a:r>
            <a:r>
              <a:rPr lang="zh-CN" altLang="en-US" sz="2200" dirty="0"/>
              <a:t>与设备控制器之间的通信，包括</a:t>
            </a:r>
            <a:r>
              <a:rPr lang="zh-CN" altLang="en-US" sz="2200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</a:rPr>
              <a:t>数据线、地址线和控制线</a:t>
            </a:r>
            <a:r>
              <a:rPr lang="zh-CN" altLang="en-US" sz="2200" dirty="0"/>
              <a:t>。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510" y="1570355"/>
            <a:ext cx="7066915" cy="427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145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740"/>
            <a:ext cx="99733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 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  <a:r>
              <a:rPr lang="zh-CN" altLang="en-US" sz="2000" b="1" dirty="0">
                <a:solidFill>
                  <a:schemeClr val="bg1"/>
                </a:solidFill>
              </a:rPr>
              <a:t>目标：减少主机干预</a:t>
            </a:r>
          </a:p>
        </p:txBody>
      </p:sp>
      <p:grpSp>
        <p:nvGrpSpPr>
          <p:cNvPr id="5" name="í$1iďè"/>
          <p:cNvGrpSpPr/>
          <p:nvPr/>
        </p:nvGrpSpPr>
        <p:grpSpPr>
          <a:xfrm>
            <a:off x="670877" y="1272672"/>
            <a:ext cx="11235055" cy="1702435"/>
            <a:chOff x="624810" y="1002394"/>
            <a:chExt cx="11235055" cy="1702435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6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 fontAlgn="auto">
                <a:lnSpc>
                  <a:spcPct val="125000"/>
                </a:lnSpc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624810" y="1002394"/>
              <a:ext cx="11235055" cy="17024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 fontAlgn="auto">
                <a:lnSpc>
                  <a:spcPct val="125000"/>
                </a:lnSpc>
              </a:pPr>
              <a:r>
                <a:rPr lang="en-US" altLang="zh-CN" sz="2800" dirty="0">
                  <a:solidFill>
                    <a:srgbClr val="0070C0"/>
                  </a:solidFill>
                  <a:latin typeface="+mj-ea"/>
                  <a:ea typeface="+mj-ea"/>
                </a:rPr>
                <a:t>1.</a:t>
              </a:r>
              <a:r>
                <a:rPr lang="zh-CN" altLang="en-US" sz="2800" dirty="0">
                  <a:solidFill>
                    <a:srgbClr val="0070C0"/>
                  </a:solidFill>
                  <a:latin typeface="+mj-ea"/>
                  <a:ea typeface="+mj-ea"/>
                </a:rPr>
                <a:t>使用轮询的可编程</a:t>
              </a:r>
              <a:r>
                <a:rPr lang="en-US" altLang="zh-CN" sz="2800" dirty="0">
                  <a:solidFill>
                    <a:srgbClr val="0070C0"/>
                  </a:solidFill>
                  <a:latin typeface="+mj-ea"/>
                  <a:ea typeface="+mj-ea"/>
                </a:rPr>
                <a:t>I/O</a:t>
              </a:r>
              <a:r>
                <a:rPr lang="zh-CN" altLang="en-US" sz="2800" dirty="0">
                  <a:solidFill>
                    <a:srgbClr val="0070C0"/>
                  </a:solidFill>
                  <a:latin typeface="+mj-ea"/>
                  <a:ea typeface="+mj-ea"/>
                </a:rPr>
                <a:t>方式</a:t>
              </a:r>
              <a:r>
                <a:rPr lang="zh-CN" altLang="en-US" sz="2800" dirty="0">
                  <a:latin typeface="+mj-ea"/>
                  <a:ea typeface="+mj-ea"/>
                </a:rPr>
                <a:t>（基本不用）</a:t>
              </a:r>
            </a:p>
            <a:p>
              <a:pPr marL="457200" indent="-457200" algn="just" fontAlgn="auto">
                <a:lnSpc>
                  <a:spcPct val="125000"/>
                </a:lnSpc>
                <a:buClr>
                  <a:srgbClr val="FF0000"/>
                </a:buClr>
                <a:buFont typeface="+mj-ea"/>
                <a:buAutoNum type="circleNumDbPlain"/>
              </a:pPr>
              <a:r>
                <a:rPr lang="zh-CN" altLang="en-US" sz="2200" dirty="0">
                  <a:latin typeface="+mj-ea"/>
                  <a:ea typeface="+mj-ea"/>
                </a:rPr>
                <a:t>由</a:t>
              </a:r>
              <a:r>
                <a:rPr lang="en-US" altLang="zh-CN" sz="2200" dirty="0">
                  <a:latin typeface="+mj-ea"/>
                  <a:ea typeface="+mj-ea"/>
                </a:rPr>
                <a:t>CPU</a:t>
              </a:r>
              <a:r>
                <a:rPr lang="zh-CN" altLang="en-US" sz="2200" dirty="0">
                  <a:latin typeface="+mj-ea"/>
                  <a:ea typeface="+mj-ea"/>
                </a:rPr>
                <a:t>定时发出询问设备是否忙，进程进入</a:t>
              </a:r>
              <a:r>
                <a:rPr lang="zh-CN" altLang="en-US" sz="2200" dirty="0">
                  <a:solidFill>
                    <a:srgbClr val="FF0000"/>
                  </a:solidFill>
                  <a:latin typeface="+mj-ea"/>
                  <a:ea typeface="+mj-ea"/>
                </a:rPr>
                <a:t>忙等</a:t>
              </a:r>
              <a:endParaRPr lang="zh-CN" altLang="en-US" sz="2200" dirty="0">
                <a:latin typeface="+mj-ea"/>
                <a:ea typeface="+mj-ea"/>
              </a:endParaRPr>
            </a:p>
            <a:p>
              <a:pPr marL="457200" indent="-457200" algn="just" fontAlgn="auto">
                <a:lnSpc>
                  <a:spcPct val="125000"/>
                </a:lnSpc>
                <a:buClr>
                  <a:srgbClr val="FF0000"/>
                </a:buClr>
                <a:buFont typeface="+mj-ea"/>
                <a:buAutoNum type="circleNumDbPlain"/>
              </a:pPr>
              <a:r>
                <a:rPr lang="zh-CN" altLang="en-US" sz="2200" dirty="0">
                  <a:latin typeface="+mj-ea"/>
                  <a:ea typeface="+mj-ea"/>
                </a:rPr>
                <a:t>不忙即进行</a:t>
              </a:r>
              <a:r>
                <a:rPr lang="en-US" altLang="zh-CN" sz="2200" dirty="0">
                  <a:latin typeface="+mj-ea"/>
                  <a:ea typeface="+mj-ea"/>
                </a:rPr>
                <a:t>I/O</a:t>
              </a:r>
              <a:r>
                <a:rPr lang="zh-CN" altLang="en-US" sz="2200" dirty="0">
                  <a:latin typeface="+mj-ea"/>
                  <a:ea typeface="+mj-ea"/>
                </a:rPr>
                <a:t>，否则转①</a:t>
              </a: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671512" y="3246120"/>
            <a:ext cx="11234420" cy="2677160"/>
            <a:chOff x="625445" y="3091021"/>
            <a:chExt cx="11234420" cy="2677160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625445" y="3091021"/>
              <a:ext cx="11234420" cy="267716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lvl="1" fontAlgn="auto">
                <a:lnSpc>
                  <a:spcPct val="125000"/>
                </a:lnSpc>
                <a:spcBef>
                  <a:spcPts val="575"/>
                </a:spcBef>
                <a:buClr>
                  <a:schemeClr val="accent1"/>
                </a:buClr>
              </a:pPr>
              <a:r>
                <a:rPr lang="en-US" altLang="zh-CN" sz="2800" dirty="0">
                  <a:solidFill>
                    <a:srgbClr val="0070C0"/>
                  </a:solidFill>
                </a:rPr>
                <a:t>2.</a:t>
              </a:r>
              <a:r>
                <a:rPr lang="zh-CN" altLang="en-US" sz="2800" b="1" dirty="0">
                  <a:solidFill>
                    <a:srgbClr val="0070C0"/>
                  </a:solidFill>
                </a:rPr>
                <a:t>使用中断的可编程</a:t>
              </a:r>
              <a:r>
                <a:rPr lang="en-US" altLang="zh-CN" sz="2800" b="1" dirty="0">
                  <a:solidFill>
                    <a:srgbClr val="0070C0"/>
                  </a:solidFill>
                </a:rPr>
                <a:t>I/O</a:t>
              </a:r>
              <a:r>
                <a:rPr lang="zh-CN" altLang="en-US" sz="2800" b="1" dirty="0">
                  <a:solidFill>
                    <a:srgbClr val="0070C0"/>
                  </a:solidFill>
                </a:rPr>
                <a:t>方式</a:t>
              </a:r>
              <a:r>
                <a:rPr lang="zh-CN" altLang="en-US" sz="2800" dirty="0"/>
                <a:t>（</a:t>
              </a:r>
              <a:r>
                <a:rPr lang="zh-CN" altLang="zh-CN" sz="2800" dirty="0">
                  <a:solidFill>
                    <a:srgbClr val="FF0000"/>
                  </a:solidFill>
                </a:rPr>
                <a:t>广泛采用</a:t>
              </a:r>
              <a:r>
                <a:rPr lang="zh-CN" altLang="en-US" sz="2800" dirty="0"/>
                <a:t>）中断控制</a:t>
              </a:r>
              <a:r>
                <a:rPr lang="en-US" altLang="zh-CN" sz="2800" dirty="0"/>
                <a:t>/</a:t>
              </a:r>
              <a:r>
                <a:rPr lang="zh-CN" altLang="en-US" sz="2800" dirty="0"/>
                <a:t>驱动方式</a:t>
              </a:r>
              <a:endParaRPr lang="en-US" altLang="zh-CN" sz="2800" dirty="0"/>
            </a:p>
            <a:p>
              <a:pPr marL="342900" indent="-342900" fontAlgn="auto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当某进程要启动某个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设备工作时，便由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向相应的设备控制器发出一条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命令，然后立即返回继续执行原来的任务。设备控制器于是按照该命令的要求去控制指定的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设备。此时，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与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设备并行操作。</a:t>
              </a:r>
            </a:p>
            <a:p>
              <a:pPr marL="342900" indent="-342900" fontAlgn="auto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传输一个或几个字（</a:t>
              </a:r>
              <a:r>
                <a:rPr lang="zh-CN" altLang="en-US" sz="2200" dirty="0">
                  <a:sym typeface="+mn-ea"/>
                </a:rPr>
                <a:t>节</a:t>
              </a:r>
              <a:r>
                <a:rPr lang="zh-CN" altLang="en-US" sz="2200" dirty="0"/>
                <a:t>）就中断一次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。</a:t>
              </a:r>
              <a:r>
                <a:rPr lang="en-US" altLang="zh-CN" sz="2200" dirty="0"/>
                <a:t>1</a:t>
              </a:r>
              <a:r>
                <a:rPr lang="zh-CN" altLang="en-US" sz="2200" dirty="0"/>
                <a:t>字</a:t>
              </a:r>
              <a:r>
                <a:rPr lang="en-US" altLang="zh-CN" sz="2200" dirty="0"/>
                <a:t>=4</a:t>
              </a:r>
              <a:r>
                <a:rPr lang="zh-CN" altLang="en-US" sz="2200" dirty="0"/>
                <a:t>字节（</a:t>
              </a:r>
              <a:r>
                <a:rPr lang="en-US" altLang="zh-CN" sz="2200" dirty="0"/>
                <a:t>32</a:t>
              </a:r>
              <a:r>
                <a:rPr lang="zh-CN" altLang="en-US" sz="2200" dirty="0"/>
                <a:t>位系统）</a:t>
              </a:r>
              <a:r>
                <a:rPr lang="en-US" altLang="zh-CN" sz="2200" dirty="0"/>
                <a:t>=8</a:t>
              </a:r>
              <a:r>
                <a:rPr lang="zh-CN" altLang="en-US" sz="2200" dirty="0"/>
                <a:t>字节（</a:t>
              </a:r>
              <a:r>
                <a:rPr lang="en-US" altLang="zh-CN" sz="2200" dirty="0"/>
                <a:t>64</a:t>
              </a:r>
              <a:r>
                <a:rPr lang="zh-CN" altLang="en-US" sz="2200" dirty="0"/>
                <a:t>位系统）</a:t>
              </a:r>
            </a:p>
            <a:p>
              <a:pPr marL="342900" indent="-342900" fontAlgn="auto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成百上千倍提高了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利用率。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06040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 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69925" y="1281950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zh-CN" sz="2800" b="1" dirty="0">
                <a:solidFill>
                  <a:srgbClr val="0070C0"/>
                </a:solidFill>
              </a:rPr>
              <a:t>直接存储器访问（</a:t>
            </a:r>
            <a:r>
              <a:rPr lang="en-US" altLang="zh-CN" sz="2800" b="1" dirty="0">
                <a:solidFill>
                  <a:srgbClr val="FF0000"/>
                </a:solidFill>
              </a:rPr>
              <a:t>DMA</a:t>
            </a:r>
            <a:r>
              <a:rPr lang="zh-CN" altLang="zh-CN" sz="2800" b="1" dirty="0">
                <a:solidFill>
                  <a:srgbClr val="0070C0"/>
                </a:solidFill>
              </a:rPr>
              <a:t>）方式</a:t>
            </a:r>
          </a:p>
        </p:txBody>
      </p:sp>
      <p:sp>
        <p:nvSpPr>
          <p:cNvPr id="4" name="矩形 3"/>
          <p:cNvSpPr/>
          <p:nvPr/>
        </p:nvSpPr>
        <p:spPr>
          <a:xfrm>
            <a:off x="1108075" y="2155190"/>
            <a:ext cx="10425430" cy="30314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fontAlgn="auto"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DMA</a:t>
            </a:r>
            <a:r>
              <a:rPr lang="zh-CN" altLang="en-US" sz="2400" dirty="0">
                <a:solidFill>
                  <a:srgbClr val="FF0000"/>
                </a:solidFill>
              </a:rPr>
              <a:t>的引入</a:t>
            </a:r>
            <a:r>
              <a:rPr lang="zh-CN" altLang="en-US" sz="2400" dirty="0"/>
              <a:t>：进一步减少</a:t>
            </a:r>
            <a:r>
              <a:rPr lang="en-US" altLang="zh-CN" sz="2400" dirty="0"/>
              <a:t>CPU</a:t>
            </a:r>
            <a:r>
              <a:rPr lang="zh-CN" altLang="en-US" sz="2400" dirty="0"/>
              <a:t>对</a:t>
            </a:r>
            <a:r>
              <a:rPr lang="en-US" altLang="zh-CN" sz="2400" dirty="0"/>
              <a:t>I/O</a:t>
            </a:r>
            <a:r>
              <a:rPr lang="zh-CN" altLang="en-US" sz="2400" dirty="0"/>
              <a:t>设备的干预</a:t>
            </a:r>
          </a:p>
          <a:p>
            <a:pPr marL="342900" indent="-342900" algn="l" fontAlgn="auto">
              <a:lnSpc>
                <a:spcPct val="125000"/>
              </a:lnSpc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具有4个特点：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914400" lvl="1" indent="-457200" fontAlgn="auto">
              <a:lnSpc>
                <a:spcPct val="125000"/>
              </a:lnSpc>
              <a:buSzPct val="100000"/>
              <a:buFont typeface="宋体" panose="02010600030101010101" pitchFamily="2" charset="-122"/>
              <a:buAutoNum type="circleNumDbPlain"/>
            </a:pPr>
            <a:r>
              <a:rPr lang="zh-CN" altLang="en-US" sz="2400" dirty="0">
                <a:sym typeface="+mn-ea"/>
              </a:rPr>
              <a:t>数据是在内存和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存储类块设备</a:t>
            </a:r>
            <a:r>
              <a:rPr lang="zh-CN" altLang="en-US" sz="2400" dirty="0">
                <a:sym typeface="+mn-ea"/>
              </a:rPr>
              <a:t>之间直接传送的，不需要</a:t>
            </a: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干预。</a:t>
            </a:r>
            <a:endParaRPr lang="zh-CN" altLang="en-US" sz="2400" dirty="0"/>
          </a:p>
          <a:p>
            <a:pPr marL="914400" lvl="1" indent="-457200" fontAlgn="auto">
              <a:lnSpc>
                <a:spcPct val="125000"/>
              </a:lnSpc>
              <a:buSzPct val="100000"/>
              <a:buFont typeface="宋体" panose="02010600030101010101" pitchFamily="2" charset="-122"/>
              <a:buAutoNum type="circleNumDbPlain"/>
            </a:pPr>
            <a:r>
              <a:rPr lang="zh-CN" altLang="en-US" sz="2400" dirty="0">
                <a:sym typeface="+mn-ea"/>
              </a:rPr>
              <a:t>仅在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一个或多个数据块</a:t>
            </a:r>
            <a:r>
              <a:rPr lang="zh-CN" altLang="en-US" sz="2400" dirty="0">
                <a:sym typeface="+mn-ea"/>
              </a:rPr>
              <a:t>传送结束后，</a:t>
            </a:r>
            <a:r>
              <a:rPr lang="en-US" altLang="zh-CN" sz="2400" dirty="0">
                <a:sym typeface="+mn-ea"/>
              </a:rPr>
              <a:t>DMA</a:t>
            </a:r>
            <a:r>
              <a:rPr lang="zh-CN" altLang="en-US" sz="2400" dirty="0">
                <a:sym typeface="+mn-ea"/>
              </a:rPr>
              <a:t>才向</a:t>
            </a: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发中断请求。</a:t>
            </a:r>
            <a:endParaRPr lang="zh-CN" altLang="en-US" sz="2400" dirty="0"/>
          </a:p>
          <a:p>
            <a:pPr marL="914400" lvl="1" indent="-457200" fontAlgn="auto">
              <a:lnSpc>
                <a:spcPct val="125000"/>
              </a:lnSpc>
              <a:buSzPct val="100000"/>
              <a:buFont typeface="宋体" panose="02010600030101010101" pitchFamily="2" charset="-122"/>
              <a:buAutoNum type="circleNumDbPlain"/>
            </a:pPr>
            <a:r>
              <a:rPr lang="zh-CN" altLang="en-US" sz="2400" dirty="0">
                <a:sym typeface="+mn-ea"/>
              </a:rPr>
              <a:t>数据的传送控制完全由</a:t>
            </a:r>
            <a:r>
              <a:rPr lang="en-US" altLang="zh-CN" sz="2400" dirty="0">
                <a:sym typeface="+mn-ea"/>
              </a:rPr>
              <a:t>DMA</a:t>
            </a:r>
            <a:r>
              <a:rPr lang="zh-CN" altLang="en-US" sz="2400" dirty="0">
                <a:sym typeface="+mn-ea"/>
              </a:rPr>
              <a:t>控制器完成，速度快。</a:t>
            </a:r>
            <a:endParaRPr lang="zh-CN" altLang="en-US" sz="2400" dirty="0"/>
          </a:p>
          <a:p>
            <a:pPr marL="914400" lvl="1" indent="-457200" fontAlgn="auto">
              <a:lnSpc>
                <a:spcPct val="125000"/>
              </a:lnSpc>
              <a:buSzPct val="100000"/>
              <a:buFont typeface="宋体" panose="02010600030101010101" pitchFamily="2" charset="-122"/>
              <a:buAutoNum type="circleNumDbPlain"/>
            </a:pPr>
            <a:r>
              <a:rPr lang="zh-CN" altLang="en-US" sz="2400" dirty="0">
                <a:sym typeface="+mn-ea"/>
              </a:rPr>
              <a:t>在传送过程中，</a:t>
            </a: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与外设并行工作，提高系统效率。</a:t>
            </a:r>
            <a:endParaRPr lang="zh-CN" altLang="en-US" sz="2400" dirty="0"/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86913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69925" y="1222260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zh-CN" sz="2400" dirty="0"/>
              <a:t>直接存储器访问（</a:t>
            </a:r>
            <a:r>
              <a:rPr lang="en-US" altLang="zh-CN" sz="2400" dirty="0">
                <a:solidFill>
                  <a:srgbClr val="FF0000"/>
                </a:solidFill>
              </a:rPr>
              <a:t>DMA</a:t>
            </a:r>
            <a:r>
              <a:rPr lang="zh-CN" altLang="zh-CN" sz="2400" dirty="0"/>
              <a:t>）方式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75" y="2461260"/>
            <a:ext cx="9544685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130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9925" y="619645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zh-CN" sz="2800" b="1" dirty="0">
                <a:solidFill>
                  <a:srgbClr val="0070C0"/>
                </a:solidFill>
              </a:rPr>
              <a:t>直接存储器访问（</a:t>
            </a:r>
            <a:r>
              <a:rPr lang="en-US" altLang="zh-CN" sz="2800" b="1" dirty="0">
                <a:solidFill>
                  <a:srgbClr val="FF0000"/>
                </a:solidFill>
              </a:rPr>
              <a:t>DMA</a:t>
            </a:r>
            <a:r>
              <a:rPr lang="zh-CN" altLang="zh-CN" sz="2800" b="1" dirty="0">
                <a:solidFill>
                  <a:srgbClr val="0070C0"/>
                </a:solidFill>
              </a:rPr>
              <a:t>）方式</a:t>
            </a:r>
          </a:p>
        </p:txBody>
      </p:sp>
      <p:pic>
        <p:nvPicPr>
          <p:cNvPr id="24579" name="Picture 4" descr="c7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1427480"/>
            <a:ext cx="9086215" cy="432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0" name="Rectangle 9"/>
          <p:cNvSpPr/>
          <p:nvPr/>
        </p:nvSpPr>
        <p:spPr>
          <a:xfrm>
            <a:off x="4222115" y="2651125"/>
            <a:ext cx="1239520" cy="1945005"/>
          </a:xfrm>
          <a:prstGeom prst="rect">
            <a:avLst/>
          </a:prstGeom>
          <a:solidFill>
            <a:schemeClr val="bg1">
              <a:alpha val="0"/>
            </a:schemeClr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718338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 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69925" y="1183525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altLang="zh-CN" sz="2800" b="1" dirty="0">
                <a:solidFill>
                  <a:srgbClr val="0070C0"/>
                </a:solidFill>
              </a:rPr>
              <a:t>I/O</a:t>
            </a:r>
            <a:r>
              <a:rPr lang="zh-CN" altLang="en-US" sz="2800" b="1" dirty="0">
                <a:solidFill>
                  <a:srgbClr val="0070C0"/>
                </a:solidFill>
              </a:rPr>
              <a:t>通道控制方式</a:t>
            </a:r>
          </a:p>
        </p:txBody>
      </p:sp>
      <p:sp>
        <p:nvSpPr>
          <p:cNvPr id="4" name="矩形 3"/>
          <p:cNvSpPr/>
          <p:nvPr/>
        </p:nvSpPr>
        <p:spPr>
          <a:xfrm>
            <a:off x="1340150" y="1802944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Clr>
                <a:srgbClr val="FF0000"/>
              </a:buClr>
            </a:pPr>
            <a:r>
              <a:rPr lang="zh-CN" altLang="en-US" sz="2400" dirty="0"/>
              <a:t>引入：</a:t>
            </a:r>
            <a:r>
              <a:rPr lang="zh-CN" altLang="en-US" sz="2400" dirty="0">
                <a:solidFill>
                  <a:schemeClr val="tx1"/>
                </a:solidFill>
              </a:rPr>
              <a:t>是</a:t>
            </a:r>
            <a:r>
              <a:rPr lang="en-US" altLang="zh-CN" sz="2400" dirty="0">
                <a:solidFill>
                  <a:schemeClr val="tx1"/>
                </a:solidFill>
              </a:rPr>
              <a:t>DMA</a:t>
            </a:r>
            <a:r>
              <a:rPr lang="zh-CN" altLang="en-US" sz="2400" dirty="0">
                <a:solidFill>
                  <a:schemeClr val="tx1"/>
                </a:solidFill>
              </a:rPr>
              <a:t>方式的发展</a:t>
            </a:r>
            <a:r>
              <a:rPr lang="zh-CN" altLang="en-US" sz="2400" dirty="0"/>
              <a:t>，可进一步减少</a:t>
            </a:r>
            <a:r>
              <a:rPr lang="en-US" altLang="zh-CN" sz="2400" dirty="0"/>
              <a:t>CPU</a:t>
            </a:r>
            <a:r>
              <a:rPr lang="zh-CN" altLang="en-US" sz="2400" dirty="0"/>
              <a:t>的干预。</a:t>
            </a:r>
          </a:p>
        </p:txBody>
      </p:sp>
      <p:sp>
        <p:nvSpPr>
          <p:cNvPr id="5" name="矩形 4"/>
          <p:cNvSpPr/>
          <p:nvPr/>
        </p:nvSpPr>
        <p:spPr>
          <a:xfrm>
            <a:off x="1339850" y="2352675"/>
            <a:ext cx="10265410" cy="20497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l" fontAlgn="auto">
              <a:lnSpc>
                <a:spcPct val="125000"/>
              </a:lnSpc>
              <a:buClr>
                <a:srgbClr val="FF0000"/>
              </a:buClr>
              <a:buSzTx/>
              <a:buFont typeface="+mj-ea"/>
              <a:buAutoNum type="circleNumDbPlain"/>
            </a:pPr>
            <a:r>
              <a:rPr lang="zh-CN" altLang="en-US" sz="2400" dirty="0">
                <a:sym typeface="+mn-ea"/>
              </a:rPr>
              <a:t>通道相当于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小型处理机</a:t>
            </a:r>
            <a:r>
              <a:rPr lang="zh-CN" altLang="en-US" sz="2400" dirty="0">
                <a:sym typeface="+mn-ea"/>
              </a:rPr>
              <a:t>，接受主机的委托，独立执行通道程序，控制外设I/O操作，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实现内存与外设之间的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成批数据传输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sz="2400" dirty="0"/>
          </a:p>
          <a:p>
            <a:pPr marL="457200" indent="-457200" algn="l" fontAlgn="auto">
              <a:lnSpc>
                <a:spcPct val="125000"/>
              </a:lnSpc>
              <a:buClr>
                <a:srgbClr val="FF0000"/>
              </a:buClr>
              <a:buSzTx/>
              <a:buFont typeface="+mj-ea"/>
              <a:buAutoNum type="circleNumDbPlain"/>
            </a:pPr>
            <a:r>
              <a:rPr lang="zh-CN" altLang="en-US" sz="2400" dirty="0">
                <a:sym typeface="+mn-ea"/>
              </a:rPr>
              <a:t>当主机委托的I/O任务完成后，通道发出中断信号，请求CPU处理。</a:t>
            </a:r>
            <a:endParaRPr lang="zh-CN" altLang="en-US" sz="2400" dirty="0"/>
          </a:p>
          <a:p>
            <a:pPr marL="457200" indent="-457200" fontAlgn="auto">
              <a:lnSpc>
                <a:spcPct val="125000"/>
              </a:lnSpc>
              <a:buClr>
                <a:srgbClr val="FF0000"/>
              </a:buClr>
              <a:buFont typeface="+mj-ea"/>
              <a:buAutoNum type="circleNumDbPlain"/>
            </a:pPr>
            <a:r>
              <a:rPr lang="zh-CN" altLang="en-US" sz="2400" dirty="0"/>
              <a:t>可实现</a:t>
            </a:r>
            <a:r>
              <a:rPr lang="en-US" altLang="zh-CN" sz="2400" dirty="0"/>
              <a:t>CPU</a:t>
            </a:r>
            <a:r>
              <a:rPr lang="zh-CN" altLang="en-US" sz="2400" dirty="0"/>
              <a:t>、通道和</a:t>
            </a:r>
            <a:r>
              <a:rPr lang="en-US" altLang="zh-CN" sz="2400" dirty="0"/>
              <a:t>I/O</a:t>
            </a:r>
            <a:r>
              <a:rPr lang="zh-CN" altLang="en-US" sz="2400" dirty="0"/>
              <a:t>设备</a:t>
            </a:r>
            <a:r>
              <a:rPr lang="zh-CN" altLang="en-US" sz="2400" dirty="0">
                <a:solidFill>
                  <a:srgbClr val="FF0000"/>
                </a:solidFill>
              </a:rPr>
              <a:t>三者的并行</a:t>
            </a:r>
            <a:r>
              <a:rPr lang="zh-CN" altLang="en-US" sz="2400" dirty="0"/>
              <a:t>操作。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5051" y="18257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" name="i$lîďê"/>
          <p:cNvSpPr/>
          <p:nvPr/>
        </p:nvSpPr>
        <p:spPr>
          <a:xfrm>
            <a:off x="1310005" y="4264660"/>
            <a:ext cx="10294620" cy="18281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/>
              <a:t>通道与普通处理机</a:t>
            </a:r>
          </a:p>
          <a:p>
            <a:pPr marL="800100" lvl="1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通道是特殊处理机，能执行</a:t>
            </a:r>
            <a:r>
              <a:rPr lang="en-US" altLang="zh-CN" sz="2400" dirty="0"/>
              <a:t>I/O</a:t>
            </a:r>
            <a:r>
              <a:rPr lang="zh-CN" altLang="zh-CN" sz="2400" dirty="0"/>
              <a:t>指令。</a:t>
            </a:r>
            <a:endParaRPr lang="zh-CN" altLang="en-US" sz="2400" dirty="0"/>
          </a:p>
          <a:p>
            <a:pPr marL="800100" lvl="1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不同点：指令类型单一；没有自己的内存（与</a:t>
            </a:r>
            <a:r>
              <a:rPr lang="en-US" altLang="zh-CN" sz="2400" dirty="0"/>
              <a:t>CPU</a:t>
            </a:r>
            <a:r>
              <a:rPr lang="zh-CN" altLang="en-US" sz="2400" dirty="0"/>
              <a:t>共享内存）。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4891" y="44673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165056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115" y="2869565"/>
            <a:ext cx="7602220" cy="2999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   I/O</a:t>
            </a:r>
            <a:r>
              <a:rPr lang="zh-CN" altLang="en-US" sz="2800" b="1" dirty="0">
                <a:solidFill>
                  <a:schemeClr val="bg1"/>
                </a:solidFill>
              </a:rPr>
              <a:t>通道类型</a:t>
            </a:r>
          </a:p>
        </p:txBody>
      </p:sp>
      <p:sp>
        <p:nvSpPr>
          <p:cNvPr id="5" name="i$lîďê"/>
          <p:cNvSpPr/>
          <p:nvPr/>
        </p:nvSpPr>
        <p:spPr>
          <a:xfrm>
            <a:off x="1326515" y="2065655"/>
            <a:ext cx="10020300" cy="8934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数组选择</a:t>
            </a:r>
            <a:r>
              <a:rPr lang="zh-CN" altLang="en-US" sz="2400" dirty="0"/>
              <a:t>通道：可连接多台高速设备，但在一段时间内只允许一台设备传输数据，传输率高。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326515" y="3122930"/>
            <a:ext cx="3002280" cy="15665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数组多路</a:t>
            </a:r>
            <a:r>
              <a:rPr lang="zh-CN" altLang="en-US" sz="2400" dirty="0"/>
              <a:t>通道：结合前两者优点，含有多个非分配型子通道。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336675" y="953770"/>
            <a:ext cx="10010140" cy="1112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字节多路</a:t>
            </a:r>
            <a:r>
              <a:rPr lang="zh-CN" altLang="en-US" sz="2400" dirty="0"/>
              <a:t>通道：按</a:t>
            </a:r>
            <a:r>
              <a:rPr lang="zh-CN" altLang="en-US" sz="2400" dirty="0">
                <a:solidFill>
                  <a:srgbClr val="FF0000"/>
                </a:solidFill>
              </a:rPr>
              <a:t>时间片轮转</a:t>
            </a:r>
            <a:r>
              <a:rPr lang="zh-CN" altLang="en-US" sz="2400" dirty="0"/>
              <a:t>方式共享主通道，每个子通道控制完成一个字节的交换，就切换。</a:t>
            </a:r>
          </a:p>
        </p:txBody>
      </p:sp>
      <p:sp>
        <p:nvSpPr>
          <p:cNvPr id="9" name="îSļiḓè"/>
          <p:cNvSpPr/>
          <p:nvPr/>
        </p:nvSpPr>
        <p:spPr>
          <a:xfrm>
            <a:off x="642888" y="110516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642887" y="300168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642889" y="206554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833143" y="130129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833143" y="228755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862080" y="319114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" name="íšḻíḑê"/>
          <p:cNvSpPr/>
          <p:nvPr/>
        </p:nvSpPr>
        <p:spPr>
          <a:xfrm>
            <a:off x="7299960" y="5843905"/>
            <a:ext cx="2802890" cy="4057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图示：字节多路通道</a:t>
            </a:r>
          </a:p>
        </p:txBody>
      </p:sp>
    </p:spTree>
    <p:extLst>
      <p:ext uri="{BB962C8B-B14F-4D97-AF65-F5344CB8AC3E}">
        <p14:creationId xmlns:p14="http://schemas.microsoft.com/office/powerpoint/2010/main" val="3867066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单通路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</a:t>
            </a: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614045" y="1771015"/>
            <a:ext cx="10665460" cy="4392295"/>
            <a:chOff x="381000" y="990600"/>
            <a:chExt cx="8267700" cy="4927600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381000" y="32766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2590800" y="19685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90800" y="45339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4914900" y="133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914900" y="25908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4914900" y="514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4927600" y="38227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7277100" y="9906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7277100" y="1600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7277100" y="2235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7277100" y="28575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7277100" y="3517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7277100" y="4152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7277100" y="48133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7277100" y="5461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8</a:t>
              </a:r>
            </a:p>
          </p:txBody>
        </p:sp>
        <p:grpSp>
          <p:nvGrpSpPr>
            <p:cNvPr id="19" name="Group 24"/>
            <p:cNvGrpSpPr/>
            <p:nvPr/>
          </p:nvGrpSpPr>
          <p:grpSpPr bwMode="auto">
            <a:xfrm>
              <a:off x="1752600" y="2209800"/>
              <a:ext cx="838200" cy="1219200"/>
              <a:chOff x="1104" y="1392"/>
              <a:chExt cx="528" cy="768"/>
            </a:xfrm>
          </p:grpSpPr>
          <p:sp>
            <p:nvSpPr>
              <p:cNvPr id="73" name="Line 21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4" name="Line 22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5" name="Line 23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1" name="Group 25"/>
            <p:cNvGrpSpPr/>
            <p:nvPr/>
          </p:nvGrpSpPr>
          <p:grpSpPr bwMode="auto">
            <a:xfrm>
              <a:off x="3962400" y="1524000"/>
              <a:ext cx="990600" cy="609600"/>
              <a:chOff x="1104" y="1392"/>
              <a:chExt cx="528" cy="768"/>
            </a:xfrm>
          </p:grpSpPr>
          <p:sp>
            <p:nvSpPr>
              <p:cNvPr id="70" name="Line 2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1" name="Line 2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2" name="Line 2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2" name="Group 29"/>
            <p:cNvGrpSpPr/>
            <p:nvPr/>
          </p:nvGrpSpPr>
          <p:grpSpPr bwMode="auto">
            <a:xfrm>
              <a:off x="3949700" y="4025900"/>
              <a:ext cx="990600" cy="609600"/>
              <a:chOff x="1104" y="1392"/>
              <a:chExt cx="528" cy="768"/>
            </a:xfrm>
          </p:grpSpPr>
          <p:sp>
            <p:nvSpPr>
              <p:cNvPr id="67" name="Line 30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8" name="Line 31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9" name="Line 32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3" name="Group 33"/>
            <p:cNvGrpSpPr/>
            <p:nvPr/>
          </p:nvGrpSpPr>
          <p:grpSpPr bwMode="auto">
            <a:xfrm>
              <a:off x="6286500" y="1219200"/>
              <a:ext cx="990600" cy="228600"/>
              <a:chOff x="1104" y="1392"/>
              <a:chExt cx="528" cy="768"/>
            </a:xfrm>
          </p:grpSpPr>
          <p:sp>
            <p:nvSpPr>
              <p:cNvPr id="64" name="Line 3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6" name="Line 3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4" name="Group 37"/>
            <p:cNvGrpSpPr/>
            <p:nvPr/>
          </p:nvGrpSpPr>
          <p:grpSpPr bwMode="auto">
            <a:xfrm>
              <a:off x="6299200" y="2476500"/>
              <a:ext cx="990600" cy="228600"/>
              <a:chOff x="1104" y="1392"/>
              <a:chExt cx="528" cy="768"/>
            </a:xfrm>
          </p:grpSpPr>
          <p:sp>
            <p:nvSpPr>
              <p:cNvPr id="61" name="Line 38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2" name="Line 39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3" name="Line 40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5" name="Group 41"/>
            <p:cNvGrpSpPr/>
            <p:nvPr/>
          </p:nvGrpSpPr>
          <p:grpSpPr bwMode="auto">
            <a:xfrm>
              <a:off x="6299200" y="3733800"/>
              <a:ext cx="990600" cy="228600"/>
              <a:chOff x="1104" y="1392"/>
              <a:chExt cx="528" cy="768"/>
            </a:xfrm>
          </p:grpSpPr>
          <p:sp>
            <p:nvSpPr>
              <p:cNvPr id="58" name="Line 42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9" name="Line 43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6" name="Group 45"/>
            <p:cNvGrpSpPr/>
            <p:nvPr/>
          </p:nvGrpSpPr>
          <p:grpSpPr bwMode="auto">
            <a:xfrm>
              <a:off x="6299200" y="5016500"/>
              <a:ext cx="990600" cy="228600"/>
              <a:chOff x="1104" y="1392"/>
              <a:chExt cx="528" cy="768"/>
            </a:xfrm>
          </p:grpSpPr>
          <p:sp>
            <p:nvSpPr>
              <p:cNvPr id="55" name="Line 4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6" name="Line 4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7" name="Line 4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7" name="Group 57"/>
            <p:cNvGrpSpPr/>
            <p:nvPr/>
          </p:nvGrpSpPr>
          <p:grpSpPr bwMode="auto">
            <a:xfrm>
              <a:off x="1752600" y="3568700"/>
              <a:ext cx="838200" cy="1219200"/>
              <a:chOff x="1104" y="2248"/>
              <a:chExt cx="528" cy="768"/>
            </a:xfrm>
          </p:grpSpPr>
          <p:sp>
            <p:nvSpPr>
              <p:cNvPr id="52" name="Line 54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3" name="Line 55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4" name="Line 56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8" name="Group 58"/>
            <p:cNvGrpSpPr/>
            <p:nvPr/>
          </p:nvGrpSpPr>
          <p:grpSpPr bwMode="auto">
            <a:xfrm>
              <a:off x="3962400" y="2286000"/>
              <a:ext cx="990600" cy="533400"/>
              <a:chOff x="1104" y="2248"/>
              <a:chExt cx="528" cy="768"/>
            </a:xfrm>
          </p:grpSpPr>
          <p:sp>
            <p:nvSpPr>
              <p:cNvPr id="49" name="Line 5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0" name="Line 6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1" name="Line 6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9" name="Group 62"/>
            <p:cNvGrpSpPr/>
            <p:nvPr/>
          </p:nvGrpSpPr>
          <p:grpSpPr bwMode="auto">
            <a:xfrm>
              <a:off x="3962400" y="4876800"/>
              <a:ext cx="990600" cy="533400"/>
              <a:chOff x="1104" y="2248"/>
              <a:chExt cx="528" cy="768"/>
            </a:xfrm>
          </p:grpSpPr>
          <p:sp>
            <p:nvSpPr>
              <p:cNvPr id="46" name="Line 63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7" name="Line 64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65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0" name="Group 66"/>
            <p:cNvGrpSpPr/>
            <p:nvPr/>
          </p:nvGrpSpPr>
          <p:grpSpPr bwMode="auto">
            <a:xfrm>
              <a:off x="6299200" y="1600200"/>
              <a:ext cx="990600" cy="228600"/>
              <a:chOff x="1104" y="2248"/>
              <a:chExt cx="528" cy="768"/>
            </a:xfrm>
          </p:grpSpPr>
          <p:sp>
            <p:nvSpPr>
              <p:cNvPr id="43" name="Line 67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4" name="Line 68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69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1" name="Group 70"/>
            <p:cNvGrpSpPr/>
            <p:nvPr/>
          </p:nvGrpSpPr>
          <p:grpSpPr bwMode="auto">
            <a:xfrm>
              <a:off x="6286500" y="2895600"/>
              <a:ext cx="990600" cy="228600"/>
              <a:chOff x="1104" y="2248"/>
              <a:chExt cx="528" cy="768"/>
            </a:xfrm>
          </p:grpSpPr>
          <p:sp>
            <p:nvSpPr>
              <p:cNvPr id="40" name="Line 71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72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73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2" name="Group 74"/>
            <p:cNvGrpSpPr/>
            <p:nvPr/>
          </p:nvGrpSpPr>
          <p:grpSpPr bwMode="auto">
            <a:xfrm>
              <a:off x="6299200" y="4140200"/>
              <a:ext cx="990600" cy="228600"/>
              <a:chOff x="1104" y="2248"/>
              <a:chExt cx="528" cy="768"/>
            </a:xfrm>
          </p:grpSpPr>
          <p:sp>
            <p:nvSpPr>
              <p:cNvPr id="37" name="Line 75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8" name="Line 76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9" name="Line 77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3" name="Group 78"/>
            <p:cNvGrpSpPr/>
            <p:nvPr/>
          </p:nvGrpSpPr>
          <p:grpSpPr bwMode="auto">
            <a:xfrm>
              <a:off x="6286500" y="5448300"/>
              <a:ext cx="990600" cy="228600"/>
              <a:chOff x="1104" y="2248"/>
              <a:chExt cx="528" cy="768"/>
            </a:xfrm>
          </p:grpSpPr>
          <p:sp>
            <p:nvSpPr>
              <p:cNvPr id="34" name="Line 7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5" name="Line 8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6" name="Line 8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</p:grpSp>
      <p:sp>
        <p:nvSpPr>
          <p:cNvPr id="2" name="ïSḻiḍé"/>
          <p:cNvSpPr txBox="1"/>
          <p:nvPr/>
        </p:nvSpPr>
        <p:spPr>
          <a:xfrm>
            <a:off x="769620" y="1050925"/>
            <a:ext cx="8621395" cy="7200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indent="-342900" algn="just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latin typeface="+mj-ea"/>
                <a:ea typeface="+mj-ea"/>
                <a:sym typeface="+mn-ea"/>
              </a:rPr>
              <a:t>通道价格昂贵，</a:t>
            </a:r>
            <a:r>
              <a:rPr lang="zh-CN" altLang="en-US" sz="2400" b="1" dirty="0">
                <a:solidFill>
                  <a:srgbClr val="0070C0"/>
                </a:solidFill>
                <a:latin typeface="+mj-ea"/>
                <a:ea typeface="+mj-ea"/>
              </a:rPr>
              <a:t>通道不足，造成“瓶颈”现象</a:t>
            </a:r>
          </a:p>
        </p:txBody>
      </p:sp>
    </p:spTree>
    <p:extLst>
      <p:ext uri="{BB962C8B-B14F-4D97-AF65-F5344CB8AC3E}">
        <p14:creationId xmlns:p14="http://schemas.microsoft.com/office/powerpoint/2010/main" val="40275788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多通路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</a:t>
            </a: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572252" y="2859217"/>
            <a:ext cx="11110786" cy="3240646"/>
            <a:chOff x="381000" y="1905000"/>
            <a:chExt cx="8229600" cy="3200400"/>
          </a:xfrm>
        </p:grpSpPr>
        <p:sp>
          <p:nvSpPr>
            <p:cNvPr id="4" name="Rectangle 1028"/>
            <p:cNvSpPr>
              <a:spLocks noChangeArrowheads="1"/>
            </p:cNvSpPr>
            <p:nvPr/>
          </p:nvSpPr>
          <p:spPr bwMode="auto">
            <a:xfrm>
              <a:off x="381000" y="32639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5" name="Rectangle 1029"/>
            <p:cNvSpPr>
              <a:spLocks noChangeArrowheads="1"/>
            </p:cNvSpPr>
            <p:nvPr/>
          </p:nvSpPr>
          <p:spPr bwMode="auto">
            <a:xfrm>
              <a:off x="2590800" y="23622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6" name="Rectangle 1030"/>
            <p:cNvSpPr>
              <a:spLocks noChangeArrowheads="1"/>
            </p:cNvSpPr>
            <p:nvPr/>
          </p:nvSpPr>
          <p:spPr bwMode="auto">
            <a:xfrm>
              <a:off x="2590800" y="41910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7" name="Rectangle 1031"/>
            <p:cNvSpPr>
              <a:spLocks noChangeArrowheads="1"/>
            </p:cNvSpPr>
            <p:nvPr/>
          </p:nvSpPr>
          <p:spPr bwMode="auto">
            <a:xfrm>
              <a:off x="4876800" y="23622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8" name="Rectangle 1032"/>
            <p:cNvSpPr>
              <a:spLocks noChangeArrowheads="1"/>
            </p:cNvSpPr>
            <p:nvPr/>
          </p:nvSpPr>
          <p:spPr bwMode="auto">
            <a:xfrm>
              <a:off x="4889500" y="41910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>
              <a:off x="7239000" y="1905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0" name="Rectangle 1036"/>
            <p:cNvSpPr>
              <a:spLocks noChangeArrowheads="1"/>
            </p:cNvSpPr>
            <p:nvPr/>
          </p:nvSpPr>
          <p:spPr bwMode="auto">
            <a:xfrm>
              <a:off x="7239000" y="28194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1" name="Rectangle 1037"/>
            <p:cNvSpPr>
              <a:spLocks noChangeArrowheads="1"/>
            </p:cNvSpPr>
            <p:nvPr/>
          </p:nvSpPr>
          <p:spPr bwMode="auto">
            <a:xfrm>
              <a:off x="7239000" y="37338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2" name="Rectangle 1038"/>
            <p:cNvSpPr>
              <a:spLocks noChangeArrowheads="1"/>
            </p:cNvSpPr>
            <p:nvPr/>
          </p:nvSpPr>
          <p:spPr bwMode="auto">
            <a:xfrm>
              <a:off x="7239000" y="4648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</a:p>
          </p:txBody>
        </p:sp>
        <p:grpSp>
          <p:nvGrpSpPr>
            <p:cNvPr id="13" name="Group 1043"/>
            <p:cNvGrpSpPr/>
            <p:nvPr/>
          </p:nvGrpSpPr>
          <p:grpSpPr bwMode="auto">
            <a:xfrm>
              <a:off x="1752600" y="2590800"/>
              <a:ext cx="838200" cy="838200"/>
              <a:chOff x="1104" y="1392"/>
              <a:chExt cx="528" cy="768"/>
            </a:xfrm>
          </p:grpSpPr>
          <p:sp>
            <p:nvSpPr>
              <p:cNvPr id="47" name="Line 104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104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9" name="Line 104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14" name="Group 1071"/>
            <p:cNvGrpSpPr/>
            <p:nvPr/>
          </p:nvGrpSpPr>
          <p:grpSpPr bwMode="auto">
            <a:xfrm>
              <a:off x="1752600" y="3568700"/>
              <a:ext cx="838200" cy="850900"/>
              <a:chOff x="1104" y="2248"/>
              <a:chExt cx="528" cy="768"/>
            </a:xfrm>
          </p:grpSpPr>
          <p:sp>
            <p:nvSpPr>
              <p:cNvPr id="44" name="Line 1072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1073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6" name="Line 1074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15" name="Line 1099"/>
            <p:cNvSpPr>
              <a:spLocks noChangeShapeType="1"/>
            </p:cNvSpPr>
            <p:nvPr/>
          </p:nvSpPr>
          <p:spPr bwMode="auto">
            <a:xfrm>
              <a:off x="3962400" y="24384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6" name="Line 1100"/>
            <p:cNvSpPr>
              <a:spLocks noChangeShapeType="1"/>
            </p:cNvSpPr>
            <p:nvPr/>
          </p:nvSpPr>
          <p:spPr bwMode="auto">
            <a:xfrm>
              <a:off x="4419600" y="44958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7" name="Line 1101"/>
            <p:cNvSpPr>
              <a:spLocks noChangeShapeType="1"/>
            </p:cNvSpPr>
            <p:nvPr/>
          </p:nvSpPr>
          <p:spPr bwMode="auto">
            <a:xfrm>
              <a:off x="4419600" y="2438400"/>
              <a:ext cx="0" cy="2057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8" name="Line 1102"/>
            <p:cNvSpPr>
              <a:spLocks noChangeShapeType="1"/>
            </p:cNvSpPr>
            <p:nvPr/>
          </p:nvSpPr>
          <p:spPr bwMode="auto">
            <a:xfrm>
              <a:off x="3975100" y="42799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9" name="Line 1103"/>
            <p:cNvSpPr>
              <a:spLocks noChangeShapeType="1"/>
            </p:cNvSpPr>
            <p:nvPr/>
          </p:nvSpPr>
          <p:spPr bwMode="auto">
            <a:xfrm flipV="1">
              <a:off x="4648200" y="2667000"/>
              <a:ext cx="0" cy="1600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1" name="Line 1104"/>
            <p:cNvSpPr>
              <a:spLocks noChangeShapeType="1"/>
            </p:cNvSpPr>
            <p:nvPr/>
          </p:nvSpPr>
          <p:spPr bwMode="auto">
            <a:xfrm>
              <a:off x="4648200" y="26670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2" name="Line 1105"/>
            <p:cNvSpPr>
              <a:spLocks noChangeShapeType="1"/>
            </p:cNvSpPr>
            <p:nvPr/>
          </p:nvSpPr>
          <p:spPr bwMode="auto">
            <a:xfrm>
              <a:off x="6248400" y="25908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grpSp>
          <p:nvGrpSpPr>
            <p:cNvPr id="23" name="Group 1111"/>
            <p:cNvGrpSpPr/>
            <p:nvPr/>
          </p:nvGrpSpPr>
          <p:grpSpPr bwMode="auto">
            <a:xfrm>
              <a:off x="6477000" y="2133600"/>
              <a:ext cx="774700" cy="2743200"/>
              <a:chOff x="4080" y="1344"/>
              <a:chExt cx="488" cy="1728"/>
            </a:xfrm>
          </p:grpSpPr>
          <p:sp>
            <p:nvSpPr>
              <p:cNvPr id="39" name="Line 1106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0" name="Line 1107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1108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1109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3" name="Line 1110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4" name="Group 1112"/>
            <p:cNvGrpSpPr/>
            <p:nvPr/>
          </p:nvGrpSpPr>
          <p:grpSpPr bwMode="auto">
            <a:xfrm>
              <a:off x="6896100" y="2286000"/>
              <a:ext cx="330200" cy="2743200"/>
              <a:chOff x="4080" y="1344"/>
              <a:chExt cx="488" cy="1728"/>
            </a:xfrm>
          </p:grpSpPr>
          <p:sp>
            <p:nvSpPr>
              <p:cNvPr id="34" name="Line 1113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5" name="Line 1114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6" name="Line 1115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7" name="Line 1116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8" name="Line 1117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25" name="Line 1118"/>
            <p:cNvSpPr>
              <a:spLocks noChangeShapeType="1"/>
            </p:cNvSpPr>
            <p:nvPr/>
          </p:nvSpPr>
          <p:spPr bwMode="auto">
            <a:xfrm>
              <a:off x="6248400" y="44196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6" name="Oval 1119"/>
            <p:cNvSpPr>
              <a:spLocks noChangeArrowheads="1"/>
            </p:cNvSpPr>
            <p:nvPr/>
          </p:nvSpPr>
          <p:spPr bwMode="auto">
            <a:xfrm>
              <a:off x="4572000" y="4191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7" name="Oval 1120"/>
            <p:cNvSpPr>
              <a:spLocks noChangeArrowheads="1"/>
            </p:cNvSpPr>
            <p:nvPr/>
          </p:nvSpPr>
          <p:spPr bwMode="auto">
            <a:xfrm>
              <a:off x="6400800" y="2514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8" name="Oval 1121"/>
            <p:cNvSpPr>
              <a:spLocks noChangeArrowheads="1"/>
            </p:cNvSpPr>
            <p:nvPr/>
          </p:nvSpPr>
          <p:spPr bwMode="auto">
            <a:xfrm>
              <a:off x="68199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9" name="Oval 1122"/>
            <p:cNvSpPr>
              <a:spLocks noChangeArrowheads="1"/>
            </p:cNvSpPr>
            <p:nvPr/>
          </p:nvSpPr>
          <p:spPr bwMode="auto">
            <a:xfrm>
              <a:off x="68072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0" name="Oval 1123"/>
            <p:cNvSpPr>
              <a:spLocks noChangeArrowheads="1"/>
            </p:cNvSpPr>
            <p:nvPr/>
          </p:nvSpPr>
          <p:spPr bwMode="auto">
            <a:xfrm>
              <a:off x="6807200" y="4038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1" name="Oval 1124"/>
            <p:cNvSpPr>
              <a:spLocks noChangeArrowheads="1"/>
            </p:cNvSpPr>
            <p:nvPr/>
          </p:nvSpPr>
          <p:spPr bwMode="auto">
            <a:xfrm>
              <a:off x="4343400" y="2362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2" name="Oval 1125"/>
            <p:cNvSpPr>
              <a:spLocks noChangeArrowheads="1"/>
            </p:cNvSpPr>
            <p:nvPr/>
          </p:nvSpPr>
          <p:spPr bwMode="auto">
            <a:xfrm>
              <a:off x="6400800" y="3886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3" name="Oval 1127"/>
            <p:cNvSpPr>
              <a:spLocks noChangeArrowheads="1"/>
            </p:cNvSpPr>
            <p:nvPr/>
          </p:nvSpPr>
          <p:spPr bwMode="auto">
            <a:xfrm>
              <a:off x="64008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</p:grpSp>
      <p:sp>
        <p:nvSpPr>
          <p:cNvPr id="2" name="îŝľîḓè"/>
          <p:cNvSpPr txBox="1"/>
          <p:nvPr/>
        </p:nvSpPr>
        <p:spPr>
          <a:xfrm>
            <a:off x="993140" y="989330"/>
            <a:ext cx="9310370" cy="176339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解决办法：</a:t>
            </a:r>
          </a:p>
          <a:p>
            <a:pPr marL="342900" indent="-342900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增加</a:t>
            </a:r>
            <a:r>
              <a:rPr lang="zh-CN" altLang="en-US" sz="2400" dirty="0"/>
              <a:t>设备到</a:t>
            </a:r>
            <a:r>
              <a:rPr lang="en-US" altLang="zh-CN" sz="2400" dirty="0"/>
              <a:t>CPU</a:t>
            </a:r>
            <a:r>
              <a:rPr lang="zh-CN" altLang="en-US" sz="2400" dirty="0"/>
              <a:t>间的</a:t>
            </a:r>
            <a:r>
              <a:rPr lang="zh-CN" altLang="en-US" sz="2400" dirty="0">
                <a:solidFill>
                  <a:srgbClr val="FF0000"/>
                </a:solidFill>
              </a:rPr>
              <a:t>通路</a:t>
            </a:r>
            <a:r>
              <a:rPr lang="zh-CN" altLang="en-US" sz="2400" dirty="0"/>
              <a:t>而不增加通道</a:t>
            </a:r>
          </a:p>
          <a:p>
            <a:pPr marL="342900" indent="-342900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多通路方式</a:t>
            </a:r>
            <a:r>
              <a:rPr lang="zh-CN" altLang="en-US" sz="2400" dirty="0"/>
              <a:t>不仅解决了“瓶颈”问题，而且提高了系统的可靠性</a:t>
            </a:r>
          </a:p>
        </p:txBody>
      </p:sp>
    </p:spTree>
    <p:extLst>
      <p:ext uri="{BB962C8B-B14F-4D97-AF65-F5344CB8AC3E}">
        <p14:creationId xmlns:p14="http://schemas.microsoft.com/office/powerpoint/2010/main" val="23268043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4669801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7.3.1 </a:t>
            </a:r>
            <a:r>
              <a:rPr lang="zh-CN" altLang="en-US" sz="2800" b="1" dirty="0">
                <a:solidFill>
                  <a:schemeClr val="bg1"/>
                </a:solidFill>
              </a:rPr>
              <a:t>中断简介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849875" y="3858203"/>
            <a:ext cx="8891105" cy="457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中断向量表存放每个设备的中断处理</a:t>
            </a:r>
            <a:r>
              <a:rPr lang="zh-CN" altLang="en-US" sz="2200" dirty="0">
                <a:solidFill>
                  <a:srgbClr val="FF0000"/>
                </a:solidFill>
              </a:rPr>
              <a:t>程序的入口地址</a:t>
            </a:r>
            <a:r>
              <a:rPr lang="zh-CN" altLang="en-US" sz="2200" dirty="0"/>
              <a:t>，并为每个设备的中断请求作为一个</a:t>
            </a:r>
            <a:r>
              <a:rPr lang="zh-CN" altLang="en-US" sz="2200" dirty="0">
                <a:solidFill>
                  <a:srgbClr val="FF0000"/>
                </a:solidFill>
              </a:rPr>
              <a:t>中断号，对应于中断向量表</a:t>
            </a:r>
            <a:r>
              <a:rPr lang="zh-CN" altLang="en-US" sz="2200" dirty="0"/>
              <a:t>中的一个表项</a:t>
            </a:r>
          </a:p>
        </p:txBody>
      </p:sp>
      <p:sp>
        <p:nvSpPr>
          <p:cNvPr id="4" name="i$lîďê"/>
          <p:cNvSpPr/>
          <p:nvPr/>
        </p:nvSpPr>
        <p:spPr>
          <a:xfrm>
            <a:off x="1905511" y="332803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中断向量表</a:t>
            </a:r>
          </a:p>
        </p:txBody>
      </p:sp>
      <p:sp>
        <p:nvSpPr>
          <p:cNvPr id="5" name="ïṧḷïḋè"/>
          <p:cNvSpPr/>
          <p:nvPr/>
        </p:nvSpPr>
        <p:spPr>
          <a:xfrm>
            <a:off x="1905512" y="5047660"/>
            <a:ext cx="606651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中断优先级</a:t>
            </a:r>
          </a:p>
        </p:txBody>
      </p:sp>
      <p:sp>
        <p:nvSpPr>
          <p:cNvPr id="6" name="îs1iďé"/>
          <p:cNvSpPr/>
          <p:nvPr/>
        </p:nvSpPr>
        <p:spPr>
          <a:xfrm>
            <a:off x="1924685" y="1907540"/>
            <a:ext cx="9451340" cy="11696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 fontScale="90000"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中断</a:t>
            </a:r>
            <a:r>
              <a:rPr lang="en-US" altLang="zh-CN" sz="2200" dirty="0">
                <a:solidFill>
                  <a:srgbClr val="FF0000"/>
                </a:solidFill>
              </a:rPr>
              <a:t>(Interrupt)</a:t>
            </a:r>
            <a:r>
              <a:rPr lang="zh-CN" altLang="en-US" sz="2200" dirty="0"/>
              <a:t>是指</a:t>
            </a:r>
            <a:r>
              <a:rPr lang="en-US" altLang="zh-CN" sz="2200" dirty="0"/>
              <a:t>CPU</a:t>
            </a:r>
            <a:r>
              <a:rPr lang="zh-CN" altLang="en-US" sz="2200" dirty="0"/>
              <a:t>对</a:t>
            </a:r>
            <a:r>
              <a:rPr lang="en-US" altLang="zh-CN" sz="2200" dirty="0">
                <a:solidFill>
                  <a:srgbClr val="FF0000"/>
                </a:solidFill>
              </a:rPr>
              <a:t>I/O</a:t>
            </a:r>
            <a:r>
              <a:rPr lang="zh-CN" altLang="en-US" sz="2200" dirty="0">
                <a:solidFill>
                  <a:srgbClr val="FF0000"/>
                </a:solidFill>
              </a:rPr>
              <a:t>设备</a:t>
            </a:r>
            <a:r>
              <a:rPr lang="zh-CN" altLang="en-US" sz="2200" dirty="0"/>
              <a:t>发来的中断信号的一种响应，</a:t>
            </a:r>
            <a:r>
              <a:rPr lang="zh-CN" altLang="en-US" sz="2000" dirty="0"/>
              <a:t>外中断硬中断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陷入</a:t>
            </a:r>
            <a:r>
              <a:rPr lang="en-US" altLang="zh-CN" sz="2200" dirty="0">
                <a:solidFill>
                  <a:srgbClr val="0000FF"/>
                </a:solidFill>
              </a:rPr>
              <a:t>(Trap)</a:t>
            </a:r>
            <a:r>
              <a:rPr lang="zh-CN" altLang="en-US" sz="2200" dirty="0"/>
              <a:t>是指</a:t>
            </a:r>
            <a:r>
              <a:rPr lang="en-US" altLang="zh-CN" sz="2200" dirty="0">
                <a:solidFill>
                  <a:srgbClr val="FF0000"/>
                </a:solidFill>
              </a:rPr>
              <a:t>CPU</a:t>
            </a:r>
            <a:r>
              <a:rPr lang="zh-CN" altLang="en-US" sz="2200" dirty="0">
                <a:solidFill>
                  <a:srgbClr val="FF0000"/>
                </a:solidFill>
              </a:rPr>
              <a:t>内部</a:t>
            </a:r>
            <a:r>
              <a:rPr lang="zh-CN" altLang="en-US" sz="2200" dirty="0"/>
              <a:t>事件所引起的中断，</a:t>
            </a:r>
            <a:r>
              <a:rPr lang="zh-CN" altLang="en-US" sz="2000" dirty="0"/>
              <a:t>内中断软中断</a:t>
            </a:r>
          </a:p>
        </p:txBody>
      </p:sp>
      <p:sp>
        <p:nvSpPr>
          <p:cNvPr id="7" name="íšḻíḑê"/>
          <p:cNvSpPr/>
          <p:nvPr/>
        </p:nvSpPr>
        <p:spPr>
          <a:xfrm>
            <a:off x="1905511" y="1374435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中断和陷入</a:t>
            </a:r>
          </a:p>
        </p:txBody>
      </p:sp>
      <p:sp>
        <p:nvSpPr>
          <p:cNvPr id="8" name="îSļiḓè"/>
          <p:cNvSpPr/>
          <p:nvPr/>
        </p:nvSpPr>
        <p:spPr>
          <a:xfrm>
            <a:off x="1222008" y="136087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íṥḻîḓe"/>
          <p:cNvSpPr/>
          <p:nvPr/>
        </p:nvSpPr>
        <p:spPr>
          <a:xfrm>
            <a:off x="1222008" y="513248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îşļiḓè"/>
          <p:cNvSpPr/>
          <p:nvPr/>
        </p:nvSpPr>
        <p:spPr>
          <a:xfrm>
            <a:off x="1222009" y="335629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ṡḷíďe"/>
          <p:cNvSpPr/>
          <p:nvPr/>
        </p:nvSpPr>
        <p:spPr>
          <a:xfrm>
            <a:off x="1412263" y="155701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" name="íSlíḋe"/>
          <p:cNvSpPr/>
          <p:nvPr/>
        </p:nvSpPr>
        <p:spPr>
          <a:xfrm>
            <a:off x="1412263" y="357831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ïśḷïḓe"/>
          <p:cNvSpPr/>
          <p:nvPr/>
        </p:nvSpPr>
        <p:spPr>
          <a:xfrm>
            <a:off x="1441201" y="532194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cxnSp>
        <p:nvCxnSpPr>
          <p:cNvPr id="15" name="直接连接符 14"/>
          <p:cNvCxnSpPr/>
          <p:nvPr/>
        </p:nvCxnSpPr>
        <p:spPr>
          <a:xfrm>
            <a:off x="1924568" y="3075481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905511" y="4788371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924568" y="6102019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íšḻîḋè"/>
          <p:cNvSpPr/>
          <p:nvPr/>
        </p:nvSpPr>
        <p:spPr>
          <a:xfrm>
            <a:off x="1905511" y="5505825"/>
            <a:ext cx="8891105" cy="457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系统为每个中断源规定不同的优先级</a:t>
            </a:r>
          </a:p>
        </p:txBody>
      </p:sp>
    </p:spTree>
    <p:extLst>
      <p:ext uri="{BB962C8B-B14F-4D97-AF65-F5344CB8AC3E}">
        <p14:creationId xmlns:p14="http://schemas.microsoft.com/office/powerpoint/2010/main" val="5193523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对多中断源的处理方式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403860" y="1156970"/>
            <a:ext cx="5570220" cy="690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中断源：引起中断的事件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540" y="1874520"/>
            <a:ext cx="8288020" cy="4046855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400050" y="1974850"/>
            <a:ext cx="3184525" cy="33947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 algn="just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当处理机正在处理一个中断时，又来了一个新的中断请求，有两种处理方式：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屏蔽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禁止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中断，顺序执行中断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嵌套中断，按优先级</a:t>
            </a:r>
          </a:p>
        </p:txBody>
      </p:sp>
    </p:spTree>
    <p:extLst>
      <p:ext uri="{BB962C8B-B14F-4D97-AF65-F5344CB8AC3E}">
        <p14:creationId xmlns:p14="http://schemas.microsoft.com/office/powerpoint/2010/main" val="42015528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7.3.2 </a:t>
            </a:r>
            <a:r>
              <a:rPr lang="zh-CN" altLang="en-US" sz="2800" b="1" dirty="0">
                <a:solidFill>
                  <a:schemeClr val="bg1"/>
                </a:solidFill>
              </a:rPr>
              <a:t>中断处理程序</a:t>
            </a:r>
          </a:p>
        </p:txBody>
      </p:sp>
      <p:sp>
        <p:nvSpPr>
          <p:cNvPr id="7" name="îşļïďè"/>
          <p:cNvSpPr/>
          <p:nvPr>
            <p:custDataLst>
              <p:tags r:id="rId1"/>
            </p:custDataLst>
          </p:nvPr>
        </p:nvSpPr>
        <p:spPr>
          <a:xfrm>
            <a:off x="6036849" y="4824638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05</a:t>
            </a:r>
          </a:p>
        </p:txBody>
      </p:sp>
      <p:sp>
        <p:nvSpPr>
          <p:cNvPr id="8" name="îšḷîḑé"/>
          <p:cNvSpPr txBox="1"/>
          <p:nvPr>
            <p:custDataLst>
              <p:tags r:id="rId2"/>
            </p:custDataLst>
          </p:nvPr>
        </p:nvSpPr>
        <p:spPr>
          <a:xfrm>
            <a:off x="7292028" y="5147923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恢复</a:t>
            </a:r>
            <a:r>
              <a:rPr lang="en-US" altLang="zh-CN" sz="2400" dirty="0"/>
              <a:t>CPU</a:t>
            </a:r>
            <a:r>
              <a:rPr lang="zh-CN" altLang="en-US" sz="2400" dirty="0"/>
              <a:t>现场并退出中断</a:t>
            </a:r>
          </a:p>
        </p:txBody>
      </p:sp>
      <p:sp>
        <p:nvSpPr>
          <p:cNvPr id="9" name="işlíḋé"/>
          <p:cNvSpPr/>
          <p:nvPr>
            <p:custDataLst>
              <p:tags r:id="rId3"/>
            </p:custDataLst>
          </p:nvPr>
        </p:nvSpPr>
        <p:spPr>
          <a:xfrm>
            <a:off x="6042288" y="3946062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04</a:t>
            </a:r>
          </a:p>
        </p:txBody>
      </p:sp>
      <p:sp>
        <p:nvSpPr>
          <p:cNvPr id="10" name="iṥlïḋè"/>
          <p:cNvSpPr txBox="1"/>
          <p:nvPr>
            <p:custDataLst>
              <p:tags r:id="rId4"/>
            </p:custDataLst>
          </p:nvPr>
        </p:nvSpPr>
        <p:spPr>
          <a:xfrm>
            <a:off x="7292028" y="4269347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处理中断</a:t>
            </a:r>
          </a:p>
        </p:txBody>
      </p:sp>
      <p:sp>
        <p:nvSpPr>
          <p:cNvPr id="11" name="i$1îḑe"/>
          <p:cNvSpPr/>
          <p:nvPr>
            <p:custDataLst>
              <p:tags r:id="rId5"/>
            </p:custDataLst>
          </p:nvPr>
        </p:nvSpPr>
        <p:spPr>
          <a:xfrm>
            <a:off x="6042288" y="3067486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12" name="í$1îḍe"/>
          <p:cNvSpPr txBox="1"/>
          <p:nvPr>
            <p:custDataLst>
              <p:tags r:id="rId6"/>
            </p:custDataLst>
          </p:nvPr>
        </p:nvSpPr>
        <p:spPr>
          <a:xfrm>
            <a:off x="7292028" y="339077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转入相应的设备处理程序</a:t>
            </a:r>
          </a:p>
        </p:txBody>
      </p:sp>
      <p:sp>
        <p:nvSpPr>
          <p:cNvPr id="13" name="ïSļïḓè"/>
          <p:cNvSpPr/>
          <p:nvPr>
            <p:custDataLst>
              <p:tags r:id="rId7"/>
            </p:custDataLst>
          </p:nvPr>
        </p:nvSpPr>
        <p:spPr>
          <a:xfrm>
            <a:off x="6042288" y="2188910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14" name="iŝļíďè"/>
          <p:cNvSpPr txBox="1"/>
          <p:nvPr>
            <p:custDataLst>
              <p:tags r:id="rId8"/>
            </p:custDataLst>
          </p:nvPr>
        </p:nvSpPr>
        <p:spPr>
          <a:xfrm>
            <a:off x="7292028" y="2512195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保护被中断进程的</a:t>
            </a:r>
            <a:r>
              <a:rPr lang="en-US" altLang="zh-CN" sz="2400" dirty="0"/>
              <a:t>CPU</a:t>
            </a:r>
            <a:r>
              <a:rPr lang="zh-CN" altLang="en-US" sz="2400" dirty="0"/>
              <a:t>现场</a:t>
            </a:r>
          </a:p>
        </p:txBody>
      </p:sp>
      <p:sp>
        <p:nvSpPr>
          <p:cNvPr id="15" name="ïśľiďe"/>
          <p:cNvSpPr/>
          <p:nvPr>
            <p:custDataLst>
              <p:tags r:id="rId9"/>
            </p:custDataLst>
          </p:nvPr>
        </p:nvSpPr>
        <p:spPr>
          <a:xfrm>
            <a:off x="6042290" y="1310334"/>
            <a:ext cx="1113511" cy="111351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16" name="îṡ1ide"/>
          <p:cNvSpPr txBox="1"/>
          <p:nvPr>
            <p:custDataLst>
              <p:tags r:id="rId10"/>
            </p:custDataLst>
          </p:nvPr>
        </p:nvSpPr>
        <p:spPr>
          <a:xfrm>
            <a:off x="7292028" y="1633619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测定是否有未响应的中断信号</a:t>
            </a:r>
          </a:p>
        </p:txBody>
      </p:sp>
      <p:cxnSp>
        <p:nvCxnSpPr>
          <p:cNvPr id="17" name="直接连接符 16"/>
          <p:cNvCxnSpPr/>
          <p:nvPr>
            <p:custDataLst>
              <p:tags r:id="rId11"/>
            </p:custDataLst>
          </p:nvPr>
        </p:nvCxnSpPr>
        <p:spPr>
          <a:xfrm>
            <a:off x="7150359" y="2216515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7150359" y="31046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7150359" y="399996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14"/>
            </p:custDataLst>
          </p:nvPr>
        </p:nvCxnSpPr>
        <p:spPr>
          <a:xfrm>
            <a:off x="7150359" y="48953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" y="1003300"/>
            <a:ext cx="5695950" cy="545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6816725" y="5935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书中</a:t>
            </a:r>
            <a:r>
              <a:rPr lang="en-US" altLang="zh-CN"/>
              <a:t>216</a:t>
            </a:r>
            <a:r>
              <a:rPr lang="zh-CN" altLang="en-US"/>
              <a:t>图有两处错</a:t>
            </a:r>
          </a:p>
        </p:txBody>
      </p:sp>
    </p:spTree>
    <p:extLst>
      <p:ext uri="{BB962C8B-B14F-4D97-AF65-F5344CB8AC3E}">
        <p14:creationId xmlns:p14="http://schemas.microsoft.com/office/powerpoint/2010/main" val="7177312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7742657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740"/>
            <a:ext cx="1040384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7.4.1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设备驱动程序概述</a:t>
            </a:r>
            <a:r>
              <a:rPr lang="en-US" altLang="zh-CN" sz="2800" b="1" dirty="0">
                <a:solidFill>
                  <a:schemeClr val="bg1"/>
                </a:solidFill>
              </a:rPr>
              <a:t>:</a:t>
            </a:r>
            <a:r>
              <a:rPr lang="zh-CN" altLang="en-US" b="1" dirty="0">
                <a:solidFill>
                  <a:schemeClr val="bg1"/>
                </a:solidFill>
              </a:rPr>
              <a:t>每类设备一种驱动程序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365250" y="714375"/>
            <a:ext cx="10697210" cy="63557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设备驱动程序的功能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接收上层软件发来的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抽象</a:t>
            </a:r>
            <a:r>
              <a:rPr lang="en-US" altLang="zh-CN" sz="2200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请求</a:t>
            </a:r>
            <a:r>
              <a:rPr lang="zh-CN" altLang="en-US" sz="2200" dirty="0">
                <a:latin typeface="+mn-ea"/>
              </a:rPr>
              <a:t>，合法性检查，再把它们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转换为具体</a:t>
            </a:r>
            <a:r>
              <a:rPr lang="zh-CN" altLang="en-US" sz="2200" dirty="0">
                <a:latin typeface="+mn-ea"/>
              </a:rPr>
              <a:t>要求后，发送给设备控制器，启动设备去执行（可能等待），设备完成后接受中断信号。</a:t>
            </a:r>
            <a:endParaRPr lang="en-US" altLang="zh-CN" sz="2200" dirty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+mn-ea"/>
              </a:rPr>
              <a:t>设备驱动程序的特点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实现与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设备无关</a:t>
            </a:r>
            <a:r>
              <a:rPr lang="zh-CN" altLang="en-US" sz="2200" dirty="0">
                <a:latin typeface="+mn-ea"/>
              </a:rPr>
              <a:t>的软件和设备控制器直接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通信和转换</a:t>
            </a:r>
            <a:r>
              <a:rPr lang="zh-CN" altLang="en-US" sz="2200" dirty="0">
                <a:latin typeface="+mn-ea"/>
              </a:rPr>
              <a:t>的程序</a:t>
            </a:r>
            <a:endParaRPr lang="en-US" altLang="zh-CN" sz="22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多种多样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与设备控制器以及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设备特性紧密相关</a:t>
            </a:r>
            <a:endParaRPr lang="en-US" altLang="zh-CN" sz="2200" dirty="0">
              <a:latin typeface="+mn-ea"/>
            </a:endParaRPr>
          </a:p>
          <a:p>
            <a:pPr lvl="1" indent="-360045" fontAlgn="auto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与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设备所采用的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控制方式紧密相关</a:t>
            </a:r>
          </a:p>
          <a:p>
            <a:pPr marL="325755" lvl="1" indent="0" fontAlgn="auto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 dirty="0">
                <a:latin typeface="+mn-ea"/>
              </a:rPr>
              <a:t> </a:t>
            </a:r>
            <a:r>
              <a:rPr lang="en-US" altLang="zh-CN" sz="1800" dirty="0">
                <a:latin typeface="+mn-ea"/>
              </a:rPr>
              <a:t>      </a:t>
            </a:r>
            <a:r>
              <a:rPr lang="zh-CN" altLang="en-US" sz="1800" dirty="0">
                <a:latin typeface="+mn-ea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中断控制、</a:t>
            </a: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DMA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控制</a:t>
            </a:r>
            <a:r>
              <a:rPr lang="zh-CN" altLang="en-US" sz="1800" dirty="0">
                <a:latin typeface="+mn-ea"/>
              </a:rPr>
              <a:t>）</a:t>
            </a:r>
            <a:endParaRPr lang="en-US" altLang="zh-CN" sz="2200" dirty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+mn-ea"/>
              </a:rPr>
              <a:t>设备处理方式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1800" dirty="0">
                <a:latin typeface="+mn-ea"/>
              </a:rPr>
              <a:t>为每类设备设置一个进程，专门用于执行这类设备的</a:t>
            </a:r>
            <a:r>
              <a:rPr lang="en-US" altLang="zh-CN" sz="1800" dirty="0">
                <a:latin typeface="+mn-ea"/>
              </a:rPr>
              <a:t>I/O</a:t>
            </a:r>
            <a:r>
              <a:rPr lang="zh-CN" altLang="zh-CN" sz="1800" dirty="0">
                <a:latin typeface="+mn-ea"/>
              </a:rPr>
              <a:t>操作</a:t>
            </a:r>
            <a:endParaRPr lang="en-US" altLang="zh-CN" sz="18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1800" dirty="0">
                <a:latin typeface="+mn-ea"/>
              </a:rPr>
              <a:t>在整个系统中设置一个</a:t>
            </a:r>
            <a:r>
              <a:rPr lang="en-US" altLang="zh-CN" sz="1800" dirty="0">
                <a:latin typeface="+mn-ea"/>
              </a:rPr>
              <a:t>I/O</a:t>
            </a:r>
            <a:r>
              <a:rPr lang="zh-CN" altLang="zh-CN" sz="1800" dirty="0">
                <a:latin typeface="+mn-ea"/>
              </a:rPr>
              <a:t>进程，专门用于执行系统中各类设备的</a:t>
            </a:r>
            <a:r>
              <a:rPr lang="en-US" altLang="zh-CN" sz="1800" dirty="0">
                <a:latin typeface="+mn-ea"/>
              </a:rPr>
              <a:t>I/O</a:t>
            </a:r>
            <a:r>
              <a:rPr lang="zh-CN" altLang="zh-CN" sz="1800" dirty="0">
                <a:latin typeface="+mn-ea"/>
              </a:rPr>
              <a:t>操作</a:t>
            </a:r>
            <a:endParaRPr lang="en-US" altLang="zh-CN" sz="18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200" dirty="0">
                <a:latin typeface="+mn-ea"/>
              </a:rPr>
              <a:t>不设置专门的设备处理进程，而只为各类设备设置相应的设备驱动程序（</a:t>
            </a:r>
            <a:r>
              <a:rPr lang="zh-CN" altLang="zh-CN" sz="2200" dirty="0">
                <a:solidFill>
                  <a:srgbClr val="FF0000"/>
                </a:solidFill>
                <a:latin typeface="+mn-ea"/>
              </a:rPr>
              <a:t>最多</a:t>
            </a:r>
            <a:r>
              <a:rPr lang="zh-CN" altLang="zh-CN" sz="2200" dirty="0">
                <a:latin typeface="+mn-ea"/>
              </a:rPr>
              <a:t>）</a:t>
            </a:r>
            <a:endParaRPr lang="en-US" altLang="zh-CN" sz="2200" dirty="0">
              <a:latin typeface="+mn-ea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7604125" y="3092450"/>
            <a:ext cx="4331335" cy="1508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   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sym typeface="+mn-ea"/>
              </a:rPr>
              <a:t>硬件密相关</a:t>
            </a:r>
            <a:r>
              <a:rPr lang="zh-CN" altLang="en-US" sz="2200" dirty="0">
                <a:latin typeface="+mn-ea"/>
              </a:rPr>
              <a:t>基本部分固化在</a:t>
            </a:r>
            <a:r>
              <a:rPr lang="en-US" altLang="zh-CN" sz="2200" dirty="0">
                <a:latin typeface="+mn-ea"/>
              </a:rPr>
              <a:t>ROM</a:t>
            </a:r>
            <a:r>
              <a:rPr lang="zh-CN" altLang="en-US" sz="2200" dirty="0">
                <a:latin typeface="+mn-ea"/>
              </a:rPr>
              <a:t>中</a:t>
            </a:r>
            <a:r>
              <a:rPr lang="zh-CN" altLang="en-US" sz="1800" dirty="0">
                <a:latin typeface="+mn-ea"/>
              </a:rPr>
              <a:t>（部分汇编语言编写）</a:t>
            </a:r>
            <a:endParaRPr lang="en-US" altLang="zh-CN" sz="22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允许可重入（重叠调用）</a:t>
            </a:r>
            <a:endParaRPr lang="en-US" altLang="zh-CN" sz="2200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560" y="85807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451994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305" y="229753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7669282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7.4.2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设备驱动程序的执行过程</a:t>
            </a:r>
          </a:p>
        </p:txBody>
      </p:sp>
      <p:grpSp>
        <p:nvGrpSpPr>
          <p:cNvPr id="3" name="20420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04488" y="1412647"/>
            <a:ext cx="10970324" cy="4388621"/>
            <a:chOff x="604488" y="1747927"/>
            <a:chExt cx="10970324" cy="4388621"/>
          </a:xfrm>
        </p:grpSpPr>
        <p:sp>
          <p:nvSpPr>
            <p:cNvPr id="4" name="iśḷíḑe"/>
            <p:cNvSpPr/>
            <p:nvPr/>
          </p:nvSpPr>
          <p:spPr>
            <a:xfrm>
              <a:off x="3262313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01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5" name="ïś1ïḑè"/>
            <p:cNvSpPr/>
            <p:nvPr/>
          </p:nvSpPr>
          <p:spPr>
            <a:xfrm>
              <a:off x="4243388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02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6" name="直接箭头连接符 5"/>
            <p:cNvCxnSpPr>
              <a:endCxn id="4" idx="6"/>
            </p:cNvCxnSpPr>
            <p:nvPr/>
          </p:nvCxnSpPr>
          <p:spPr>
            <a:xfrm flipH="1" flipV="1">
              <a:off x="3986213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>
              <a:stCxn id="8" idx="1"/>
              <a:endCxn id="5" idx="5"/>
            </p:cNvCxnSpPr>
            <p:nvPr/>
          </p:nvCxnSpPr>
          <p:spPr>
            <a:xfrm flipH="1" flipV="1">
              <a:off x="4861275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ïṥlîďe"/>
            <p:cNvSpPr/>
            <p:nvPr/>
          </p:nvSpPr>
          <p:spPr>
            <a:xfrm>
              <a:off x="5514975" y="4974498"/>
              <a:ext cx="1162050" cy="1162050"/>
            </a:xfrm>
            <a:prstGeom prst="donu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1DADD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ïṧľîdê"/>
            <p:cNvSpPr/>
            <p:nvPr/>
          </p:nvSpPr>
          <p:spPr>
            <a:xfrm>
              <a:off x="5734050" y="2361349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03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8" idx="0"/>
              <a:endCxn id="9" idx="4"/>
            </p:cNvCxnSpPr>
            <p:nvPr/>
          </p:nvCxnSpPr>
          <p:spPr>
            <a:xfrm flipV="1">
              <a:off x="6096000" y="3085249"/>
              <a:ext cx="0" cy="188924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ï$1ïdé"/>
            <p:cNvSpPr/>
            <p:nvPr/>
          </p:nvSpPr>
          <p:spPr>
            <a:xfrm>
              <a:off x="7224712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04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12" name="îṥ1ïḍé"/>
            <p:cNvSpPr/>
            <p:nvPr/>
          </p:nvSpPr>
          <p:spPr>
            <a:xfrm>
              <a:off x="8205787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05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3" name="直接箭头连接符 12"/>
            <p:cNvCxnSpPr>
              <a:stCxn id="8" idx="7"/>
              <a:endCxn id="11" idx="3"/>
            </p:cNvCxnSpPr>
            <p:nvPr/>
          </p:nvCxnSpPr>
          <p:spPr>
            <a:xfrm flipV="1">
              <a:off x="6506847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endCxn id="12" idx="2"/>
            </p:cNvCxnSpPr>
            <p:nvPr/>
          </p:nvCxnSpPr>
          <p:spPr>
            <a:xfrm flipV="1">
              <a:off x="6677025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ïṧ1îḋê"/>
            <p:cNvSpPr txBox="1"/>
            <p:nvPr/>
          </p:nvSpPr>
          <p:spPr bwMode="auto">
            <a:xfrm>
              <a:off x="604488" y="4686580"/>
              <a:ext cx="2506663" cy="81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dirty="0"/>
                <a:t>将抽象要求转换为具体要求</a:t>
              </a:r>
            </a:p>
          </p:txBody>
        </p:sp>
        <p:sp>
          <p:nvSpPr>
            <p:cNvPr id="18" name="ïṥlïḍè"/>
            <p:cNvSpPr txBox="1"/>
            <p:nvPr/>
          </p:nvSpPr>
          <p:spPr bwMode="auto">
            <a:xfrm>
              <a:off x="1065333" y="3085249"/>
              <a:ext cx="3114490" cy="514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dirty="0"/>
                <a:t>对服务请求进行校验</a:t>
              </a:r>
            </a:p>
          </p:txBody>
        </p:sp>
        <p:sp>
          <p:nvSpPr>
            <p:cNvPr id="26" name="íš1îḑê"/>
            <p:cNvSpPr txBox="1"/>
            <p:nvPr/>
          </p:nvSpPr>
          <p:spPr bwMode="auto">
            <a:xfrm>
              <a:off x="4712967" y="1747927"/>
              <a:ext cx="2617758" cy="46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ctr"/>
              <a:r>
                <a:rPr lang="zh-CN" altLang="en-US" sz="2400" dirty="0"/>
                <a:t>检查设备的状态</a:t>
              </a:r>
            </a:p>
          </p:txBody>
        </p:sp>
        <p:sp>
          <p:nvSpPr>
            <p:cNvPr id="22" name="ïṡḻiḋê"/>
            <p:cNvSpPr txBox="1"/>
            <p:nvPr/>
          </p:nvSpPr>
          <p:spPr bwMode="auto">
            <a:xfrm>
              <a:off x="8012178" y="3109232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dirty="0"/>
                <a:t>传送必要的参数</a:t>
              </a:r>
            </a:p>
          </p:txBody>
        </p:sp>
        <p:sp>
          <p:nvSpPr>
            <p:cNvPr id="24" name="ísļiḓè"/>
            <p:cNvSpPr txBox="1"/>
            <p:nvPr/>
          </p:nvSpPr>
          <p:spPr bwMode="auto">
            <a:xfrm>
              <a:off x="9080849" y="4730620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dirty="0"/>
                <a:t>启动</a:t>
              </a:r>
              <a:r>
                <a:rPr lang="en-US" altLang="zh-CN" sz="2400" dirty="0">
                  <a:solidFill>
                    <a:srgbClr val="0000FF"/>
                  </a:solidFill>
                </a:rPr>
                <a:t>I/O</a:t>
              </a:r>
              <a:r>
                <a:rPr lang="zh-CN" altLang="en-US" sz="2400" dirty="0">
                  <a:solidFill>
                    <a:srgbClr val="0000FF"/>
                  </a:solidFill>
                </a:rPr>
                <a:t>设备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3544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与设备无关的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9003988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7.5.1 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与设备无关软件的基本概念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716831" y="1192027"/>
            <a:ext cx="10943590" cy="1033780"/>
            <a:chOff x="623139" y="1043669"/>
            <a:chExt cx="10943590" cy="1033780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623139" y="1043669"/>
              <a:ext cx="10943590" cy="103378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342900" indent="-342900">
                <a:lnSpc>
                  <a:spcPct val="123000"/>
                </a:lnSpc>
                <a:buFont typeface="Wingdings" panose="05000000000000000000" charset="0"/>
                <a:buChar char="Ø"/>
              </a:pPr>
              <a:r>
                <a:rPr lang="zh-CN" altLang="en-US" sz="2400" dirty="0">
                  <a:sym typeface="Wingdings" panose="05000000000000000000" pitchFamily="2" charset="2"/>
                </a:rPr>
                <a:t>为了提高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的可适应性和可扩展性，现代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都</a:t>
              </a:r>
              <a:r>
                <a:rPr lang="zh-CN" altLang="en-US" sz="2400" dirty="0">
                  <a:sym typeface="+mn-ea"/>
                </a:rPr>
                <a:t>在设备驱动程序之上设置</a:t>
              </a:r>
              <a:r>
                <a:rPr lang="zh-CN" altLang="en-US" sz="2400" dirty="0">
                  <a:sym typeface="Wingdings" panose="05000000000000000000" pitchFamily="2" charset="2"/>
                </a:rPr>
                <a:t>了一层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+mn-ea"/>
                </a:rPr>
                <a:t>与设备无关的</a:t>
              </a:r>
              <a:r>
                <a:rPr lang="en-US" altLang="zh-CN" sz="2400" b="1" u="sng" dirty="0">
                  <a:solidFill>
                    <a:srgbClr val="FF0000"/>
                  </a:solidFill>
                  <a:sym typeface="+mn-ea"/>
                </a:rPr>
                <a:t>I/O</a:t>
              </a:r>
              <a:r>
                <a:rPr lang="zh-CN" altLang="en-US" sz="2400" b="1" u="sng" dirty="0">
                  <a:solidFill>
                    <a:srgbClr val="FF0000"/>
                  </a:solidFill>
                  <a:sym typeface="+mn-ea"/>
                </a:rPr>
                <a:t>软件</a:t>
              </a:r>
              <a:r>
                <a:rPr lang="zh-CN" altLang="en-US" sz="2400" dirty="0">
                  <a:sym typeface="Wingdings" panose="05000000000000000000" pitchFamily="2" charset="2"/>
                </a:rPr>
                <a:t>，以实现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设备独立性</a:t>
              </a:r>
              <a:r>
                <a:rPr lang="zh-CN" altLang="en-US" sz="2400" dirty="0">
                  <a:sym typeface="Wingdings" panose="05000000000000000000" pitchFamily="2" charset="2"/>
                </a:rPr>
                <a:t>，也称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设备无关性</a:t>
              </a:r>
              <a:r>
                <a:rPr lang="zh-CN" altLang="en-US" sz="2800" dirty="0">
                  <a:sym typeface="+mn-ea"/>
                </a:rPr>
                <a:t>。</a:t>
              </a:r>
              <a:endParaRPr lang="zh-CN" altLang="en-US" sz="2800" dirty="0">
                <a:sym typeface="Wingdings" panose="05000000000000000000" pitchFamily="2" charset="2"/>
              </a:endParaRPr>
            </a:p>
          </p:txBody>
        </p:sp>
      </p:grpSp>
      <p:sp>
        <p:nvSpPr>
          <p:cNvPr id="2" name="îs1iďé"/>
          <p:cNvSpPr/>
          <p:nvPr/>
        </p:nvSpPr>
        <p:spPr>
          <a:xfrm>
            <a:off x="716915" y="2616200"/>
            <a:ext cx="9711055" cy="6769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以物理设备名使用设备：</a:t>
            </a:r>
            <a:r>
              <a:rPr lang="zh-CN" altLang="en-US" sz="2200" dirty="0"/>
              <a:t>非常不灵活，使用不方便。</a:t>
            </a:r>
          </a:p>
        </p:txBody>
      </p:sp>
      <p:sp>
        <p:nvSpPr>
          <p:cNvPr id="11" name="íšḻîḋè"/>
          <p:cNvSpPr/>
          <p:nvPr/>
        </p:nvSpPr>
        <p:spPr>
          <a:xfrm>
            <a:off x="716915" y="3449955"/>
            <a:ext cx="10578465" cy="14890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引入了逻辑设备名：</a:t>
            </a:r>
            <a:endParaRPr lang="zh-CN" altLang="en-US" sz="2400" dirty="0"/>
          </a:p>
          <a:p>
            <a:pPr marL="800100" lvl="1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逻辑设备是抽象的设备名，如</a:t>
            </a:r>
            <a:r>
              <a:rPr lang="en-US" altLang="zh-CN" sz="2200" dirty="0"/>
              <a:t>/</a:t>
            </a:r>
            <a:r>
              <a:rPr lang="en-US" altLang="zh-CN" sz="2200" dirty="0" err="1"/>
              <a:t>dev</a:t>
            </a:r>
            <a:r>
              <a:rPr lang="en-US" altLang="zh-CN" sz="2200" dirty="0"/>
              <a:t>/printer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800100" lvl="1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可实现</a:t>
            </a:r>
            <a:r>
              <a:rPr lang="en-US" altLang="zh-CN" sz="2200" dirty="0"/>
              <a:t>I/O</a:t>
            </a:r>
            <a:r>
              <a:rPr lang="zh-CN" altLang="en-US" sz="2200" dirty="0"/>
              <a:t>重定向（指用于</a:t>
            </a:r>
            <a:r>
              <a:rPr lang="en-US" altLang="zh-CN" sz="2200" dirty="0"/>
              <a:t>I/O</a:t>
            </a:r>
            <a:r>
              <a:rPr lang="zh-CN" altLang="en-US" sz="2200" dirty="0"/>
              <a:t>操作的设备可以更换，而不必改变应用程序）。</a:t>
            </a:r>
          </a:p>
        </p:txBody>
      </p:sp>
      <p:sp>
        <p:nvSpPr>
          <p:cNvPr id="12" name="ïṧḷïḋè"/>
          <p:cNvSpPr/>
          <p:nvPr/>
        </p:nvSpPr>
        <p:spPr>
          <a:xfrm>
            <a:off x="758190" y="5233035"/>
            <a:ext cx="10110470" cy="41529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tx1"/>
                </a:solidFill>
              </a:rPr>
              <a:t>需要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逻辑设备表</a:t>
            </a:r>
            <a:r>
              <a:rPr lang="zh-CN" altLang="en-US" sz="2400" dirty="0">
                <a:solidFill>
                  <a:schemeClr val="tx1"/>
                </a:solidFill>
              </a:rPr>
              <a:t>实现</a:t>
            </a:r>
            <a:r>
              <a:rPr lang="zh-CN" altLang="en-US" sz="2400" dirty="0">
                <a:solidFill>
                  <a:srgbClr val="FF0000"/>
                </a:solidFill>
              </a:rPr>
              <a:t>逻辑设备名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FF0000"/>
                </a:solidFill>
              </a:rPr>
              <a:t>物理设备名</a:t>
            </a:r>
            <a:r>
              <a:rPr lang="zh-CN" altLang="en-US" sz="2400" dirty="0"/>
              <a:t>的转换。</a:t>
            </a:r>
          </a:p>
        </p:txBody>
      </p:sp>
    </p:spTree>
    <p:extLst>
      <p:ext uri="{BB962C8B-B14F-4D97-AF65-F5344CB8AC3E}">
        <p14:creationId xmlns:p14="http://schemas.microsoft.com/office/powerpoint/2010/main" val="36078988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7.5.2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与设备无关软件的共有操作</a:t>
            </a:r>
          </a:p>
        </p:txBody>
      </p:sp>
      <p:sp>
        <p:nvSpPr>
          <p:cNvPr id="22" name="内容占位符 2"/>
          <p:cNvSpPr txBox="1"/>
          <p:nvPr/>
        </p:nvSpPr>
        <p:spPr>
          <a:xfrm>
            <a:off x="825500" y="1422400"/>
            <a:ext cx="4843145" cy="37680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提供设备驱动程序的统一接口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缓冲管理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差错控制：</a:t>
            </a:r>
            <a:r>
              <a:rPr lang="zh-CN" altLang="en-US" dirty="0">
                <a:latin typeface="+mn-ea"/>
              </a:rPr>
              <a:t>暂时、持久</a:t>
            </a:r>
            <a:endParaRPr lang="en-US" altLang="zh-CN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独占设备的分配与回收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提供独立于设备的逻辑数据块：</a:t>
            </a:r>
            <a:r>
              <a:rPr lang="zh-CN" altLang="en-US" dirty="0">
                <a:latin typeface="+mn-ea"/>
              </a:rPr>
              <a:t>扇区大小不同导致物理块不同，屏蔽物理块不同。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949" y="1422352"/>
            <a:ext cx="4932787" cy="3502279"/>
          </a:xfrm>
          <a:prstGeom prst="rect">
            <a:avLst/>
          </a:prstGeom>
        </p:spPr>
      </p:pic>
      <p:sp>
        <p:nvSpPr>
          <p:cNvPr id="24" name="内容占位符 2"/>
          <p:cNvSpPr txBox="1"/>
          <p:nvPr/>
        </p:nvSpPr>
        <p:spPr>
          <a:xfrm>
            <a:off x="6595155" y="4903807"/>
            <a:ext cx="4274615" cy="572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与设备无关软件的功能层次</a:t>
            </a:r>
          </a:p>
        </p:txBody>
      </p:sp>
    </p:spTree>
    <p:extLst>
      <p:ext uri="{BB962C8B-B14F-4D97-AF65-F5344CB8AC3E}">
        <p14:creationId xmlns:p14="http://schemas.microsoft.com/office/powerpoint/2010/main" val="7414259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7.5.3 </a:t>
            </a:r>
            <a:r>
              <a:rPr lang="zh-CN" altLang="en-US" sz="2800" b="1" dirty="0">
                <a:solidFill>
                  <a:schemeClr val="bg1"/>
                </a:solidFill>
              </a:rPr>
              <a:t>设备分配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563370" y="4067175"/>
            <a:ext cx="6519545" cy="9690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独占设备、共享设备、虚拟设备的分配策略</a:t>
            </a:r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分配算法</a:t>
            </a:r>
            <a:r>
              <a:rPr lang="zh-CN" altLang="en-US" sz="2200" dirty="0"/>
              <a:t>：先来先服务、优先级高者优先</a:t>
            </a:r>
          </a:p>
        </p:txBody>
      </p:sp>
      <p:sp>
        <p:nvSpPr>
          <p:cNvPr id="4" name="i$lîďê"/>
          <p:cNvSpPr/>
          <p:nvPr/>
        </p:nvSpPr>
        <p:spPr>
          <a:xfrm>
            <a:off x="1543399" y="3719699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设备分配时应考虑的因素</a:t>
            </a:r>
          </a:p>
        </p:txBody>
      </p:sp>
      <p:sp>
        <p:nvSpPr>
          <p:cNvPr id="5" name="î$ļíḋè"/>
          <p:cNvSpPr/>
          <p:nvPr/>
        </p:nvSpPr>
        <p:spPr>
          <a:xfrm>
            <a:off x="1562735" y="5707380"/>
            <a:ext cx="7033260" cy="5238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分配步骤：</a:t>
            </a:r>
            <a:r>
              <a:rPr lang="zh-CN" altLang="en-US" sz="2200" dirty="0">
                <a:solidFill>
                  <a:srgbClr val="FF0000"/>
                </a:solidFill>
                <a:latin typeface="Calibri" panose="020F0502020204030204" charset="0"/>
              </a:rPr>
              <a:t>①</a:t>
            </a:r>
            <a:r>
              <a:rPr lang="zh-CN" altLang="en-US" sz="2200" dirty="0"/>
              <a:t>分配设备、</a:t>
            </a:r>
            <a:r>
              <a:rPr lang="zh-CN" altLang="en-US" sz="2200" dirty="0">
                <a:solidFill>
                  <a:srgbClr val="FF0000"/>
                </a:solidFill>
                <a:latin typeface="Calibri" panose="020F0502020204030204" charset="0"/>
              </a:rPr>
              <a:t>②</a:t>
            </a:r>
            <a:r>
              <a:rPr lang="zh-CN" altLang="en-US" sz="2200" dirty="0"/>
              <a:t>分配控制器、</a:t>
            </a:r>
            <a:r>
              <a:rPr lang="zh-CN" altLang="en-US" sz="2200" dirty="0">
                <a:solidFill>
                  <a:srgbClr val="FF0000"/>
                </a:solidFill>
                <a:latin typeface="Calibri" panose="020F0502020204030204" charset="0"/>
              </a:rPr>
              <a:t>③</a:t>
            </a:r>
            <a:r>
              <a:rPr lang="zh-CN" altLang="en-US" sz="2200" dirty="0"/>
              <a:t>分配通道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562458" y="5194497"/>
            <a:ext cx="5459358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独占设备的分配程序</a:t>
            </a:r>
          </a:p>
        </p:txBody>
      </p:sp>
      <p:sp>
        <p:nvSpPr>
          <p:cNvPr id="7" name="îs1iďé"/>
          <p:cNvSpPr/>
          <p:nvPr/>
        </p:nvSpPr>
        <p:spPr>
          <a:xfrm>
            <a:off x="1562735" y="1586230"/>
            <a:ext cx="7139940" cy="2133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 algn="l" fontAlgn="auto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200" dirty="0">
                <a:sym typeface="+mn-ea"/>
              </a:rPr>
              <a:t>系统设备表SDT——记录系统中全部设备情况</a:t>
            </a:r>
            <a:endParaRPr lang="zh-CN" altLang="en-US" sz="2200" dirty="0"/>
          </a:p>
          <a:p>
            <a:pPr marL="342900" indent="-342900" algn="l" fontAlgn="auto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200" dirty="0"/>
              <a:t>设备控制表DCT——记录设备的情况</a:t>
            </a:r>
            <a:r>
              <a:rPr lang="zh-CN" altLang="en-US" dirty="0"/>
              <a:t>（每个设备）</a:t>
            </a:r>
            <a:endParaRPr lang="zh-CN" altLang="en-US" sz="2200" dirty="0"/>
          </a:p>
          <a:p>
            <a:pPr marL="342900" indent="-342900" algn="l" fontAlgn="auto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200" dirty="0"/>
              <a:t>控制器控制表COCT——记录控制器的情况（每个）</a:t>
            </a:r>
          </a:p>
          <a:p>
            <a:pPr marL="342900" indent="-342900" algn="l" fontAlgn="auto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200" dirty="0"/>
              <a:t>通道控制表CHCT——记录通道情况（每个）</a:t>
            </a:r>
          </a:p>
          <a:p>
            <a:pPr marL="342900" indent="-342900" algn="l" fontAlgn="auto">
              <a:lnSpc>
                <a:spcPct val="100000"/>
              </a:lnSpc>
              <a:spcBef>
                <a:spcPts val="8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543400" y="116343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数据结构</a:t>
            </a:r>
          </a:p>
        </p:txBody>
      </p:sp>
      <p:sp>
        <p:nvSpPr>
          <p:cNvPr id="9" name="îSļiḓè"/>
          <p:cNvSpPr/>
          <p:nvPr/>
        </p:nvSpPr>
        <p:spPr>
          <a:xfrm>
            <a:off x="859897" y="105843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878954" y="508141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859897" y="358869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050152" y="125457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050151" y="3810710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098147" y="527087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graphicFrame>
        <p:nvGraphicFramePr>
          <p:cNvPr id="2" name="Group 107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06435" y="1058545"/>
          <a:ext cx="3258185" cy="297053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25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74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类型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type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标识符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deviceid</a:t>
                      </a:r>
                      <a:endParaRPr kumimoji="1" lang="en-US" altLang="zh-CN" sz="2000" b="0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状态：等待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不等待、忙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闲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指针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重复执行次数或时间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1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......</a:t>
                      </a: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658495" y="1804035"/>
            <a:ext cx="892810" cy="573405"/>
            <a:chOff x="1037" y="2841"/>
            <a:chExt cx="1406" cy="903"/>
          </a:xfrm>
        </p:grpSpPr>
        <p:sp>
          <p:nvSpPr>
            <p:cNvPr id="15" name="左弧形箭头 14"/>
            <p:cNvSpPr/>
            <p:nvPr/>
          </p:nvSpPr>
          <p:spPr>
            <a:xfrm>
              <a:off x="1795" y="2844"/>
              <a:ext cx="649" cy="901"/>
            </a:xfrm>
            <a:prstGeom prst="curvedRightArrow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37" y="2841"/>
              <a:ext cx="1001" cy="6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200" dirty="0">
                  <a:solidFill>
                    <a:srgbClr val="FF0000"/>
                  </a:solidFill>
                  <a:latin typeface="Calibri" panose="020F0502020204030204" charset="0"/>
                  <a:sym typeface="+mn-ea"/>
                </a:rPr>
                <a:t>①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73735" y="2376805"/>
            <a:ext cx="867410" cy="555625"/>
            <a:chOff x="1061" y="3743"/>
            <a:chExt cx="1366" cy="875"/>
          </a:xfrm>
        </p:grpSpPr>
        <p:sp>
          <p:nvSpPr>
            <p:cNvPr id="16" name="左弧形箭头 15"/>
            <p:cNvSpPr/>
            <p:nvPr/>
          </p:nvSpPr>
          <p:spPr>
            <a:xfrm>
              <a:off x="1779" y="3788"/>
              <a:ext cx="649" cy="830"/>
            </a:xfrm>
            <a:prstGeom prst="curvedRightArrow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61" y="3743"/>
              <a:ext cx="1001" cy="6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200" dirty="0">
                  <a:solidFill>
                    <a:srgbClr val="FF0000"/>
                  </a:solidFill>
                  <a:latin typeface="Calibri" panose="020F0502020204030204" charset="0"/>
                  <a:sym typeface="+mn-ea"/>
                </a:rPr>
                <a:t>②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94055" y="2930525"/>
            <a:ext cx="852170" cy="545465"/>
            <a:chOff x="1093" y="4615"/>
            <a:chExt cx="1342" cy="859"/>
          </a:xfrm>
        </p:grpSpPr>
        <p:sp>
          <p:nvSpPr>
            <p:cNvPr id="17" name="左弧形箭头 16"/>
            <p:cNvSpPr/>
            <p:nvPr/>
          </p:nvSpPr>
          <p:spPr>
            <a:xfrm>
              <a:off x="1787" y="4636"/>
              <a:ext cx="649" cy="839"/>
            </a:xfrm>
            <a:prstGeom prst="curvedRightArrow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93" y="4615"/>
              <a:ext cx="1001" cy="6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200" dirty="0">
                  <a:solidFill>
                    <a:srgbClr val="FF0000"/>
                  </a:solidFill>
                  <a:latin typeface="Calibri" panose="020F0502020204030204" charset="0"/>
                  <a:sym typeface="+mn-ea"/>
                </a:rPr>
                <a:t>③</a:t>
              </a:r>
            </a:p>
          </p:txBody>
        </p:sp>
      </p:grpSp>
      <p:sp>
        <p:nvSpPr>
          <p:cNvPr id="25" name="圆角矩形标注 24"/>
          <p:cNvSpPr/>
          <p:nvPr/>
        </p:nvSpPr>
        <p:spPr>
          <a:xfrm>
            <a:off x="4603750" y="5149850"/>
            <a:ext cx="4842510" cy="444500"/>
          </a:xfrm>
          <a:prstGeom prst="wedgeRoundRectCallout">
            <a:avLst>
              <a:gd name="adj1" fmla="val -47049"/>
              <a:gd name="adj2" fmla="val 10185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先根据</a:t>
            </a:r>
            <a:r>
              <a:rPr lang="en-US" altLang="zh-CN" sz="2000">
                <a:solidFill>
                  <a:schemeClr val="tx1"/>
                </a:solidFill>
              </a:rPr>
              <a:t>I/O</a:t>
            </a:r>
            <a:r>
              <a:rPr lang="zh-CN" altLang="zh-CN" sz="2000">
                <a:solidFill>
                  <a:schemeClr val="tx1"/>
                </a:solidFill>
              </a:rPr>
              <a:t>请求中的</a:t>
            </a:r>
            <a:r>
              <a:rPr lang="zh-CN" altLang="en-US" sz="2000">
                <a:solidFill>
                  <a:schemeClr val="tx1"/>
                </a:solidFill>
              </a:rPr>
              <a:t>物理设备名查找</a:t>
            </a:r>
            <a:r>
              <a:rPr lang="en-US" altLang="zh-CN" sz="2000">
                <a:solidFill>
                  <a:schemeClr val="tx1"/>
                </a:solidFill>
              </a:rPr>
              <a:t>SDT</a:t>
            </a:r>
          </a:p>
        </p:txBody>
      </p:sp>
      <p:sp>
        <p:nvSpPr>
          <p:cNvPr id="26" name="右箭头 25"/>
          <p:cNvSpPr/>
          <p:nvPr/>
        </p:nvSpPr>
        <p:spPr>
          <a:xfrm>
            <a:off x="7880350" y="2233930"/>
            <a:ext cx="426085" cy="2127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7.5.4 </a:t>
            </a:r>
            <a:r>
              <a:rPr lang="zh-CN" altLang="en-US" sz="2800" b="1" dirty="0">
                <a:solidFill>
                  <a:schemeClr val="bg1"/>
                </a:solidFill>
              </a:rPr>
              <a:t>逻辑设备名映射物理设备名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746885" y="2564765"/>
            <a:ext cx="9785985" cy="9531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包含：逻辑设备名、物理设备名和设备驱动程序入口地址。</a:t>
            </a:r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设置方式：整个系统一张</a:t>
            </a:r>
            <a:r>
              <a:rPr lang="en-US" altLang="zh-CN" sz="2200" dirty="0"/>
              <a:t>LUT</a:t>
            </a:r>
            <a:r>
              <a:rPr lang="zh-CN" altLang="en-US" sz="2200" dirty="0"/>
              <a:t>（单用户）；每个用户一张</a:t>
            </a:r>
            <a:r>
              <a:rPr lang="en-US" altLang="zh-CN" sz="2200" dirty="0"/>
              <a:t>LUT</a:t>
            </a:r>
            <a:r>
              <a:rPr lang="zh-CN" altLang="en-US" sz="2200" dirty="0"/>
              <a:t>（</a:t>
            </a:r>
            <a:r>
              <a:rPr lang="zh-CN" altLang="en-US" sz="2200" dirty="0">
                <a:solidFill>
                  <a:srgbClr val="FF0000"/>
                </a:solidFill>
              </a:rPr>
              <a:t>多见</a:t>
            </a:r>
            <a:r>
              <a:rPr lang="zh-CN" altLang="en-US" sz="2200" dirty="0"/>
              <a:t>）。</a:t>
            </a:r>
          </a:p>
        </p:txBody>
      </p:sp>
      <p:sp>
        <p:nvSpPr>
          <p:cNvPr id="4" name="i$lîďê"/>
          <p:cNvSpPr/>
          <p:nvPr/>
        </p:nvSpPr>
        <p:spPr>
          <a:xfrm>
            <a:off x="1802765" y="2038985"/>
            <a:ext cx="9544050" cy="4953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u="sng" dirty="0">
                <a:solidFill>
                  <a:srgbClr val="FF0000"/>
                </a:solidFill>
                <a:sym typeface="Wingdings" panose="05000000000000000000" pitchFamily="2" charset="2"/>
              </a:rPr>
              <a:t>逻辑设备表</a:t>
            </a:r>
            <a:r>
              <a:rPr lang="en-US" altLang="zh-CN" sz="2400" u="sng" dirty="0">
                <a:solidFill>
                  <a:srgbClr val="FF0000"/>
                </a:solidFill>
                <a:sym typeface="Wingdings" panose="05000000000000000000" pitchFamily="2" charset="2"/>
              </a:rPr>
              <a:t>LUT</a:t>
            </a:r>
            <a:r>
              <a:rPr lang="zh-CN" altLang="en-US" sz="2400" dirty="0">
                <a:sym typeface="Wingdings" panose="05000000000000000000" pitchFamily="2" charset="2"/>
              </a:rPr>
              <a:t>：用于将逻辑设备名映射为物理设备名。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  <p:sp>
        <p:nvSpPr>
          <p:cNvPr id="6" name="íšḻíḑê"/>
          <p:cNvSpPr/>
          <p:nvPr/>
        </p:nvSpPr>
        <p:spPr>
          <a:xfrm>
            <a:off x="1802480" y="1168373"/>
            <a:ext cx="9730290" cy="8132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在应用程序中请求使用</a:t>
            </a:r>
            <a:r>
              <a:rPr lang="en-US" altLang="zh-CN" sz="2400" dirty="0"/>
              <a:t>I/O</a:t>
            </a:r>
            <a:r>
              <a:rPr lang="zh-CN" altLang="en-US" sz="2400" dirty="0"/>
              <a:t>设备时，应使用逻辑设备名；而系统只识别物理设备名。</a:t>
            </a:r>
          </a:p>
        </p:txBody>
      </p:sp>
      <p:sp>
        <p:nvSpPr>
          <p:cNvPr id="7" name="îSļiḓè"/>
          <p:cNvSpPr/>
          <p:nvPr/>
        </p:nvSpPr>
        <p:spPr>
          <a:xfrm>
            <a:off x="1118977" y="115481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îşļiḓè"/>
          <p:cNvSpPr/>
          <p:nvPr/>
        </p:nvSpPr>
        <p:spPr>
          <a:xfrm>
            <a:off x="1118978" y="204065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îṡḷíďe"/>
          <p:cNvSpPr/>
          <p:nvPr/>
        </p:nvSpPr>
        <p:spPr>
          <a:xfrm>
            <a:off x="1309232" y="1350949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0" name="íSlíḋe"/>
          <p:cNvSpPr/>
          <p:nvPr/>
        </p:nvSpPr>
        <p:spPr>
          <a:xfrm>
            <a:off x="1309232" y="2262667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7435" y="3564890"/>
            <a:ext cx="10196830" cy="269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639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7.5.5 I/O</a:t>
            </a:r>
            <a:r>
              <a:rPr lang="zh-CN" altLang="en-US" sz="2800" b="1" dirty="0">
                <a:solidFill>
                  <a:schemeClr val="bg1"/>
                </a:solidFill>
              </a:rPr>
              <a:t>调度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2374711" y="3393990"/>
            <a:ext cx="8388829" cy="93313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改善系统整体性能；比如减少磁臂移动距离。</a:t>
            </a:r>
          </a:p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在进程间公平共享设备访问；</a:t>
            </a:r>
          </a:p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减少完成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调度所需的平均等待时间。</a:t>
            </a:r>
          </a:p>
        </p:txBody>
      </p:sp>
      <p:sp>
        <p:nvSpPr>
          <p:cNvPr id="4" name="i$lîďê"/>
          <p:cNvSpPr/>
          <p:nvPr/>
        </p:nvSpPr>
        <p:spPr>
          <a:xfrm>
            <a:off x="2430346" y="294286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通过</a:t>
            </a: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调度可以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3476732" y="5359729"/>
            <a:ext cx="9730290" cy="7577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为每个设备维护一个请求等待队列。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3476734" y="4944627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实现：</a:t>
            </a:r>
          </a:p>
        </p:txBody>
      </p:sp>
      <p:sp>
        <p:nvSpPr>
          <p:cNvPr id="7" name="îs1iďé"/>
          <p:cNvSpPr/>
          <p:nvPr/>
        </p:nvSpPr>
        <p:spPr>
          <a:xfrm>
            <a:off x="1821535" y="1637377"/>
            <a:ext cx="9711234" cy="150843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就是按照确定好的顺序来执行</a:t>
            </a:r>
            <a:r>
              <a:rPr lang="en-US" altLang="zh-CN" sz="2400" dirty="0"/>
              <a:t>I/O</a:t>
            </a:r>
            <a:r>
              <a:rPr lang="zh-CN" altLang="en-US" sz="2400" dirty="0"/>
              <a:t>操作；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提高计算机效率。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02480" y="1232766"/>
            <a:ext cx="3696051" cy="4105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调度一组</a:t>
            </a:r>
            <a:r>
              <a:rPr lang="en-US" altLang="zh-CN" sz="2400" dirty="0"/>
              <a:t>I/O</a:t>
            </a:r>
            <a:r>
              <a:rPr lang="zh-CN" altLang="en-US" sz="2400" dirty="0"/>
              <a:t>请求：</a:t>
            </a:r>
          </a:p>
        </p:txBody>
      </p:sp>
      <p:sp>
        <p:nvSpPr>
          <p:cNvPr id="9" name="îSļiḓè"/>
          <p:cNvSpPr/>
          <p:nvPr/>
        </p:nvSpPr>
        <p:spPr>
          <a:xfrm>
            <a:off x="1118977" y="1219204"/>
            <a:ext cx="627867" cy="635373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2793230" y="490066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746844" y="28938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415341"/>
            <a:ext cx="261147" cy="25083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937098" y="3115871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3012423" y="509012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204076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7.6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用户层的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5658757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 </a:t>
            </a:r>
            <a:r>
              <a:rPr lang="zh-CN" altLang="en-US" sz="2800" b="1" dirty="0">
                <a:solidFill>
                  <a:schemeClr val="bg1"/>
                </a:solidFill>
              </a:rPr>
              <a:t>用户层的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软件</a:t>
            </a:r>
          </a:p>
        </p:txBody>
      </p:sp>
      <p:sp>
        <p:nvSpPr>
          <p:cNvPr id="3" name="îṥľíḑé"/>
          <p:cNvSpPr txBox="1"/>
          <p:nvPr/>
        </p:nvSpPr>
        <p:spPr>
          <a:xfrm>
            <a:off x="1371564" y="1376799"/>
            <a:ext cx="8004255" cy="393389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zh-CN" altLang="en-US" sz="2400" dirty="0"/>
              <a:t>大部分</a:t>
            </a:r>
            <a:r>
              <a:rPr lang="en-US" altLang="zh-CN" sz="2400" dirty="0"/>
              <a:t>I/O</a:t>
            </a:r>
            <a:r>
              <a:rPr lang="zh-CN" altLang="en-US" sz="2400" dirty="0"/>
              <a:t>软件都放在</a:t>
            </a:r>
            <a:r>
              <a:rPr lang="en-US" altLang="zh-CN" sz="2400" dirty="0"/>
              <a:t>OS</a:t>
            </a:r>
            <a:r>
              <a:rPr lang="zh-CN" altLang="en-US" sz="2400" dirty="0"/>
              <a:t>内部，</a:t>
            </a:r>
            <a:r>
              <a:rPr lang="zh-CN" altLang="en-US" sz="2400" dirty="0">
                <a:solidFill>
                  <a:srgbClr val="FF0000"/>
                </a:solidFill>
              </a:rPr>
              <a:t>仍有一小部分在用户层。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" name="íSľïdé"/>
          <p:cNvSpPr/>
          <p:nvPr/>
        </p:nvSpPr>
        <p:spPr>
          <a:xfrm>
            <a:off x="1989992" y="3058170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5" name="ïŝļíḓê"/>
          <p:cNvSpPr/>
          <p:nvPr/>
        </p:nvSpPr>
        <p:spPr bwMode="auto">
          <a:xfrm>
            <a:off x="8772357" y="3690018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6" name="îṧľîdé"/>
          <p:cNvSpPr/>
          <p:nvPr/>
        </p:nvSpPr>
        <p:spPr>
          <a:xfrm>
            <a:off x="3661266" y="2642268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763380" y="3690018"/>
            <a:ext cx="1185882" cy="37970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80"/>
              </a:spcBef>
              <a:buNone/>
              <a:defRPr/>
            </a:pPr>
            <a:r>
              <a:rPr lang="zh-CN" altLang="en-US" sz="2400" dirty="0"/>
              <a:t>库函数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7779265" y="4368386"/>
            <a:ext cx="3232171" cy="8422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假脱机</a:t>
            </a:r>
            <a:r>
              <a:rPr lang="en-US" altLang="zh-CN" sz="2400" dirty="0"/>
              <a:t>(Spooling)</a:t>
            </a:r>
            <a:r>
              <a:rPr lang="zh-CN" altLang="en-US" sz="2400" dirty="0"/>
              <a:t>系统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22700" y="50203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网络中守护进程。</a:t>
            </a:r>
          </a:p>
        </p:txBody>
      </p:sp>
    </p:spTree>
    <p:extLst>
      <p:ext uri="{BB962C8B-B14F-4D97-AF65-F5344CB8AC3E}">
        <p14:creationId xmlns:p14="http://schemas.microsoft.com/office/powerpoint/2010/main" val="42775691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7.6.1 </a:t>
            </a:r>
            <a:r>
              <a:rPr lang="zh-CN" altLang="en-US" sz="2800" b="1" dirty="0">
                <a:solidFill>
                  <a:schemeClr val="bg1"/>
                </a:solidFill>
              </a:rPr>
              <a:t>系统调用与库函数</a:t>
            </a:r>
          </a:p>
        </p:txBody>
      </p:sp>
      <p:sp>
        <p:nvSpPr>
          <p:cNvPr id="3" name="矩形: 圆角 4"/>
          <p:cNvSpPr/>
          <p:nvPr/>
        </p:nvSpPr>
        <p:spPr>
          <a:xfrm>
            <a:off x="882015" y="1331595"/>
            <a:ext cx="1488440" cy="57023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系统调用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865850" y="1947661"/>
            <a:ext cx="4290910" cy="16032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en-US" altLang="zh-CN" sz="2400" dirty="0"/>
              <a:t>应用程序通过系统调用间接调用OS中的I/O过程，对I/O设备进行操作</a:t>
            </a:r>
            <a:r>
              <a:rPr lang="zh-CN" altLang="en-US" sz="2400" dirty="0"/>
              <a:t>。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916940" y="3704590"/>
            <a:ext cx="1453515" cy="57023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库函数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85190" y="4411980"/>
            <a:ext cx="4161790" cy="20770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2400" dirty="0"/>
              <a:t>Win32 API</a:t>
            </a:r>
          </a:p>
          <a:p>
            <a:pPr marL="342900" lvl="1" indent="-342900" algn="just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2400" dirty="0"/>
              <a:t>C </a:t>
            </a:r>
            <a:r>
              <a:rPr lang="zh-CN" altLang="en-US" sz="2400" dirty="0"/>
              <a:t>语言或</a:t>
            </a:r>
            <a:r>
              <a:rPr lang="en-US" altLang="zh-CN" sz="2400" dirty="0"/>
              <a:t>UNIX</a:t>
            </a:r>
            <a:r>
              <a:rPr lang="zh-CN" altLang="en-US" sz="2400" dirty="0"/>
              <a:t>系统中，系统调用与库函数，几乎一</a:t>
            </a:r>
            <a:r>
              <a:rPr lang="en-US" altLang="zh-CN" sz="2400" dirty="0"/>
              <a:t> </a:t>
            </a:r>
            <a:r>
              <a:rPr lang="zh-CN" altLang="en-US" sz="2400" dirty="0"/>
              <a:t>一对应。</a:t>
            </a:r>
          </a:p>
        </p:txBody>
      </p:sp>
      <p:grpSp>
        <p:nvGrpSpPr>
          <p:cNvPr id="10" name="组合 17"/>
          <p:cNvGrpSpPr/>
          <p:nvPr/>
        </p:nvGrpSpPr>
        <p:grpSpPr bwMode="auto">
          <a:xfrm>
            <a:off x="5763882" y="1681708"/>
            <a:ext cx="6159062" cy="4041776"/>
            <a:chOff x="2437056" y="1415356"/>
            <a:chExt cx="5030468" cy="4314368"/>
          </a:xfrm>
        </p:grpSpPr>
        <p:sp>
          <p:nvSpPr>
            <p:cNvPr id="11" name="矩形 10"/>
            <p:cNvSpPr/>
            <p:nvPr/>
          </p:nvSpPr>
          <p:spPr bwMode="auto">
            <a:xfrm>
              <a:off x="2519785" y="2512845"/>
              <a:ext cx="1670569" cy="762152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 anchorCtr="0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2400" b="0" dirty="0">
                  <a:solidFill>
                    <a:schemeClr val="tx1"/>
                  </a:solidFill>
                  <a:latin typeface="+mn-ea"/>
                </a:rPr>
                <a:t>系统调用命令</a:t>
              </a:r>
            </a:p>
          </p:txBody>
        </p:sp>
        <p:sp>
          <p:nvSpPr>
            <p:cNvPr id="12" name="矩形 19"/>
            <p:cNvSpPr>
              <a:spLocks noChangeArrowheads="1"/>
            </p:cNvSpPr>
            <p:nvPr/>
          </p:nvSpPr>
          <p:spPr bwMode="auto">
            <a:xfrm>
              <a:off x="2519785" y="4114782"/>
              <a:ext cx="1671225" cy="761980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矩形 20"/>
            <p:cNvSpPr>
              <a:spLocks noChangeArrowheads="1"/>
            </p:cNvSpPr>
            <p:nvPr/>
          </p:nvSpPr>
          <p:spPr bwMode="auto">
            <a:xfrm>
              <a:off x="6019762" y="3124208"/>
              <a:ext cx="1447762" cy="1066772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14" name="直接箭头连接符 21"/>
            <p:cNvCxnSpPr>
              <a:cxnSpLocks noChangeShapeType="1"/>
            </p:cNvCxnSpPr>
            <p:nvPr/>
          </p:nvCxnSpPr>
          <p:spPr bwMode="auto">
            <a:xfrm flipV="1">
              <a:off x="4191010" y="3124208"/>
              <a:ext cx="1828752" cy="15239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5" name="直接箭头连接符 22"/>
            <p:cNvCxnSpPr>
              <a:cxnSpLocks noChangeShapeType="1"/>
            </p:cNvCxnSpPr>
            <p:nvPr/>
          </p:nvCxnSpPr>
          <p:spPr bwMode="auto">
            <a:xfrm flipH="1" flipV="1">
              <a:off x="4191010" y="4114782"/>
              <a:ext cx="1828752" cy="7619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6" name="直接连接符 23"/>
            <p:cNvCxnSpPr>
              <a:cxnSpLocks noChangeShapeType="1"/>
            </p:cNvCxnSpPr>
            <p:nvPr/>
          </p:nvCxnSpPr>
          <p:spPr bwMode="auto">
            <a:xfrm>
              <a:off x="5281642" y="1691230"/>
              <a:ext cx="0" cy="40384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cxnSp>
          <p:nvCxnSpPr>
            <p:cNvPr id="17" name="直接连接符 24"/>
            <p:cNvCxnSpPr>
              <a:cxnSpLocks noChangeShapeType="1"/>
            </p:cNvCxnSpPr>
            <p:nvPr/>
          </p:nvCxnSpPr>
          <p:spPr bwMode="auto">
            <a:xfrm>
              <a:off x="2519785" y="3274997"/>
              <a:ext cx="0" cy="83817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cxnSp>
          <p:nvCxnSpPr>
            <p:cNvPr id="18" name="直接连接符 25"/>
            <p:cNvCxnSpPr>
              <a:cxnSpLocks noChangeShapeType="1"/>
            </p:cNvCxnSpPr>
            <p:nvPr/>
          </p:nvCxnSpPr>
          <p:spPr bwMode="auto">
            <a:xfrm>
              <a:off x="4191010" y="3276604"/>
              <a:ext cx="0" cy="83817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sp>
          <p:nvSpPr>
            <p:cNvPr id="19" name="文本框 26"/>
            <p:cNvSpPr txBox="1">
              <a:spLocks noChangeArrowheads="1"/>
            </p:cNvSpPr>
            <p:nvPr/>
          </p:nvSpPr>
          <p:spPr bwMode="auto">
            <a:xfrm>
              <a:off x="3535278" y="1444830"/>
              <a:ext cx="1142970" cy="492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r>
                <a:rPr lang="zh-CN" altLang="en-US" b="0" dirty="0">
                  <a:latin typeface="+mn-ea"/>
                  <a:ea typeface="+mn-ea"/>
                </a:rPr>
                <a:t>用户态</a:t>
              </a:r>
            </a:p>
          </p:txBody>
        </p:sp>
        <p:sp>
          <p:nvSpPr>
            <p:cNvPr id="21" name="文本框 27"/>
            <p:cNvSpPr txBox="1">
              <a:spLocks noChangeArrowheads="1"/>
            </p:cNvSpPr>
            <p:nvPr/>
          </p:nvSpPr>
          <p:spPr bwMode="auto">
            <a:xfrm>
              <a:off x="5772792" y="1415356"/>
              <a:ext cx="1142970" cy="492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r>
                <a:rPr lang="zh-CN" altLang="en-US" b="0">
                  <a:latin typeface="+mn-ea"/>
                  <a:ea typeface="+mn-ea"/>
                </a:rPr>
                <a:t>内核态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437056" y="1960879"/>
              <a:ext cx="1372246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用户程序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057520" y="2603026"/>
              <a:ext cx="1372245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solidFill>
                    <a:srgbClr val="FF0000"/>
                  </a:solidFill>
                  <a:latin typeface="+mn-ea"/>
                </a:rPr>
                <a:t>系统调用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373458" y="2676283"/>
              <a:ext cx="725080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调用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381896" y="4216780"/>
              <a:ext cx="723490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返回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5525037" y="1331757"/>
            <a:ext cx="0" cy="4793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172635" y="5924282"/>
            <a:ext cx="67503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9012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7.6.2 </a:t>
            </a:r>
            <a:r>
              <a:rPr lang="zh-CN" altLang="en-US" sz="2800" b="1" dirty="0">
                <a:solidFill>
                  <a:schemeClr val="bg1"/>
                </a:solidFill>
              </a:rPr>
              <a:t>假脱机系统</a:t>
            </a:r>
          </a:p>
        </p:txBody>
      </p:sp>
      <p:grpSp>
        <p:nvGrpSpPr>
          <p:cNvPr id="31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558125"/>
            <a:ext cx="10848975" cy="4233112"/>
            <a:chOff x="669925" y="1558125"/>
            <a:chExt cx="10848975" cy="4233112"/>
          </a:xfrm>
        </p:grpSpPr>
        <p:sp>
          <p:nvSpPr>
            <p:cNvPr id="32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4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6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8" name="isľîdê"/>
            <p:cNvSpPr txBox="1"/>
            <p:nvPr/>
          </p:nvSpPr>
          <p:spPr>
            <a:xfrm>
              <a:off x="669925" y="427800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假脱机技术</a:t>
              </a:r>
              <a:r>
                <a:rPr lang="en-US" altLang="zh-CN" sz="2400" dirty="0"/>
                <a:t>(</a:t>
              </a:r>
              <a:r>
                <a:rPr lang="en-US" altLang="zh-CN" sz="2400" dirty="0" err="1">
                  <a:solidFill>
                    <a:srgbClr val="FF0000"/>
                  </a:solidFill>
                </a:rPr>
                <a:t>SPOOLing</a:t>
              </a:r>
              <a:r>
                <a:rPr lang="en-US" altLang="zh-CN" sz="2400" dirty="0"/>
                <a:t>)</a:t>
              </a:r>
            </a:p>
          </p:txBody>
        </p:sp>
        <p:sp>
          <p:nvSpPr>
            <p:cNvPr id="42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3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4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5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6" name="ísḻiḋé"/>
            <p:cNvSpPr/>
            <p:nvPr/>
          </p:nvSpPr>
          <p:spPr bwMode="auto">
            <a:xfrm>
              <a:off x="1787050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47" name="ïṣḷiḑè"/>
            <p:cNvSpPr/>
            <p:nvPr/>
          </p:nvSpPr>
          <p:spPr bwMode="auto">
            <a:xfrm>
              <a:off x="4540744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48" name="ïṡļiḑê"/>
            <p:cNvSpPr/>
            <p:nvPr/>
          </p:nvSpPr>
          <p:spPr bwMode="auto">
            <a:xfrm>
              <a:off x="7294438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49" name="isḻíḓe"/>
            <p:cNvSpPr/>
            <p:nvPr/>
          </p:nvSpPr>
          <p:spPr bwMode="auto">
            <a:xfrm>
              <a:off x="10048132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50" name="isľîdê"/>
            <p:cNvSpPr txBox="1"/>
            <p:nvPr/>
          </p:nvSpPr>
          <p:spPr>
            <a:xfrm>
              <a:off x="3411035" y="4329521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400" dirty="0" err="1"/>
                <a:t>SPOOLing</a:t>
              </a:r>
              <a:r>
                <a:rPr lang="zh-CN" altLang="en-US" sz="2400" dirty="0"/>
                <a:t>系统的组成</a:t>
              </a:r>
            </a:p>
          </p:txBody>
        </p:sp>
        <p:sp>
          <p:nvSpPr>
            <p:cNvPr id="51" name="isľîdê"/>
            <p:cNvSpPr txBox="1"/>
            <p:nvPr/>
          </p:nvSpPr>
          <p:spPr>
            <a:xfrm>
              <a:off x="6252485" y="427800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共享打印机</a:t>
              </a:r>
            </a:p>
            <a:p>
              <a:pPr marL="0" lvl="1" algn="ctr">
                <a:lnSpc>
                  <a:spcPct val="120000"/>
                </a:lnSpc>
              </a:pPr>
              <a:endParaRPr lang="zh-CN" altLang="en-US" sz="2400" dirty="0"/>
            </a:p>
          </p:txBody>
        </p:sp>
        <p:sp>
          <p:nvSpPr>
            <p:cNvPr id="52" name="isľîdê"/>
            <p:cNvSpPr txBox="1"/>
            <p:nvPr/>
          </p:nvSpPr>
          <p:spPr>
            <a:xfrm>
              <a:off x="8981985" y="4278005"/>
              <a:ext cx="2533740" cy="11048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400" dirty="0" err="1"/>
                <a:t>SPOOLing</a:t>
              </a:r>
              <a:r>
                <a:rPr lang="zh-CN" altLang="en-US" sz="2400" dirty="0"/>
                <a:t>系统的特点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283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假脱机技术</a:t>
            </a:r>
          </a:p>
        </p:txBody>
      </p:sp>
      <p:sp>
        <p:nvSpPr>
          <p:cNvPr id="3" name="矩形 2"/>
          <p:cNvSpPr/>
          <p:nvPr/>
        </p:nvSpPr>
        <p:spPr>
          <a:xfrm>
            <a:off x="1506855" y="1279525"/>
            <a:ext cx="10070465" cy="48507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为了缓和</a:t>
            </a:r>
            <a:r>
              <a:rPr lang="en-US" altLang="zh-CN" sz="2400" dirty="0">
                <a:latin typeface="+mn-ea"/>
              </a:rPr>
              <a:t>CPU</a:t>
            </a:r>
            <a:r>
              <a:rPr lang="zh-CN" altLang="en-US" sz="2400" dirty="0">
                <a:latin typeface="+mn-ea"/>
              </a:rPr>
              <a:t>的高速性与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设备的低速性间的矛盾，引入了脱机输入、脱机输出技术。</a:t>
            </a: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利用一个程序</a:t>
            </a:r>
            <a:r>
              <a:rPr lang="zh-CN" altLang="en-US" sz="2400" b="1" dirty="0">
                <a:latin typeface="+mn-ea"/>
              </a:rPr>
              <a:t>模拟脱机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输入</a:t>
            </a:r>
            <a:r>
              <a:rPr lang="zh-CN" altLang="en-US" sz="2400" dirty="0">
                <a:latin typeface="+mn-ea"/>
              </a:rPr>
              <a:t>时的外围控制机功能，把低速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设备上的数据传送到高速磁盘上。</a:t>
            </a: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用另一道程序模拟脱机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输出</a:t>
            </a:r>
            <a:r>
              <a:rPr lang="zh-CN" altLang="en-US" sz="2400" dirty="0">
                <a:latin typeface="+mn-ea"/>
              </a:rPr>
              <a:t>时外围控制机的功能，把数据从磁盘传送到低速输出设备。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外围操作与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对数据的处理同时进行，这种在联机情况下实现的同时外围操作</a:t>
            </a:r>
            <a:r>
              <a:rPr lang="zh-CN" altLang="en-US" sz="2400" dirty="0">
                <a:latin typeface="+mn-ea"/>
              </a:rPr>
              <a:t>称为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SPOOLing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400" dirty="0">
                <a:latin typeface="+mn-ea"/>
              </a:rPr>
              <a:t>(Simultaneous Peripheral Operations On-Line)</a:t>
            </a:r>
            <a:r>
              <a:rPr lang="zh-CN" altLang="en-US" sz="2400" dirty="0">
                <a:latin typeface="+mn-ea"/>
              </a:rPr>
              <a:t>，或假脱机技术。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3370" y="13984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3370" y="477637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1437533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63550" y="22217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accent3">
                    <a:lumMod val="75000"/>
                    <a:lumOff val="25000"/>
                  </a:schemeClr>
                </a:solidFill>
              </a:rPr>
              <a:t>SPOOLing</a:t>
            </a: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系统的组成及工作原理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" y="871220"/>
            <a:ext cx="10261600" cy="3735705"/>
          </a:xfrm>
          <a:prstGeom prst="rect">
            <a:avLst/>
          </a:prstGeom>
        </p:spPr>
      </p:pic>
      <p:sp>
        <p:nvSpPr>
          <p:cNvPr id="13" name="íşļîḓé"/>
          <p:cNvSpPr/>
          <p:nvPr/>
        </p:nvSpPr>
        <p:spPr bwMode="auto">
          <a:xfrm>
            <a:off x="3053080" y="4535805"/>
            <a:ext cx="8503920" cy="1905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lvl="1" indent="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charset="0"/>
                <a:sym typeface="+mn-ea"/>
              </a:rPr>
              <a:t>①</a:t>
            </a:r>
            <a:r>
              <a:rPr lang="en-US" altLang="zh-CN" sz="28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输入井和输出井</a:t>
            </a:r>
            <a:endParaRPr lang="zh-CN" altLang="en-US" sz="2400" b="1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在磁盘上开辟的两个大存储空间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/>
              <a:t>输入井：模拟脱机输入时的磁盘，用于暂存输入设备输入的数据。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/>
              <a:t>输出井：模拟脱机输出时的磁盘，用于暂存用户程序的输出数据。</a:t>
            </a:r>
          </a:p>
        </p:txBody>
      </p:sp>
    </p:spTree>
    <p:extLst>
      <p:ext uri="{BB962C8B-B14F-4D97-AF65-F5344CB8AC3E}">
        <p14:creationId xmlns:p14="http://schemas.microsoft.com/office/powerpoint/2010/main" val="30874883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63550" y="22217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accent3">
                    <a:lumMod val="75000"/>
                    <a:lumOff val="25000"/>
                  </a:schemeClr>
                </a:solidFill>
              </a:rPr>
              <a:t>SPOOLing</a:t>
            </a: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系统的组成</a:t>
            </a: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及工作原理</a:t>
            </a:r>
            <a:endParaRPr lang="zh-CN" altLang="en-US" sz="2800" b="1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íşļîḓé"/>
          <p:cNvSpPr/>
          <p:nvPr/>
        </p:nvSpPr>
        <p:spPr bwMode="auto">
          <a:xfrm>
            <a:off x="3053080" y="4535805"/>
            <a:ext cx="8503920" cy="1905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lvl="1" indent="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28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输入缓冲区和输出缓冲区</a:t>
            </a:r>
            <a:endParaRPr lang="zh-CN" altLang="en-US" sz="2400" b="1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  <a:p>
            <a:pPr marL="342900" lvl="1" indent="-342900">
              <a:lnSpc>
                <a:spcPct val="123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内存中，缓和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CPU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和磁盘之间速度不匹配的矛盾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marL="342900" lvl="1" indent="-342900">
              <a:lnSpc>
                <a:spcPct val="123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ym typeface="+mn-ea"/>
              </a:rPr>
              <a:t>输入缓冲区：用于暂存由输入设备送来的数据，以后再传送到输入井。</a:t>
            </a:r>
            <a:endParaRPr lang="zh-CN" altLang="en-US" sz="2000" dirty="0"/>
          </a:p>
          <a:p>
            <a:pPr marL="342900" lvl="1" indent="-342900">
              <a:lnSpc>
                <a:spcPct val="123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ym typeface="+mn-ea"/>
              </a:rPr>
              <a:t>输出缓冲区：用于暂存从输出井送来的数据，以后再传送给输出设备。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" y="871220"/>
            <a:ext cx="10261600" cy="37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307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63550" y="22217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accent3">
                    <a:lumMod val="75000"/>
                    <a:lumOff val="25000"/>
                  </a:schemeClr>
                </a:solidFill>
              </a:rPr>
              <a:t>SPOOLing</a:t>
            </a: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系统的组成</a:t>
            </a: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及工作原理</a:t>
            </a:r>
            <a:endParaRPr lang="zh-CN" altLang="en-US" sz="2800" b="1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779780"/>
            <a:ext cx="10219055" cy="3720465"/>
          </a:xfrm>
          <a:prstGeom prst="rect">
            <a:avLst/>
          </a:prstGeom>
        </p:spPr>
      </p:pic>
      <p:sp>
        <p:nvSpPr>
          <p:cNvPr id="5" name="î$ļíḋè"/>
          <p:cNvSpPr/>
          <p:nvPr/>
        </p:nvSpPr>
        <p:spPr>
          <a:xfrm>
            <a:off x="2499995" y="6002655"/>
            <a:ext cx="7023100" cy="5238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n>
                  <a:noFill/>
                </a:ln>
                <a:solidFill>
                  <a:schemeClr val="accent3">
                    <a:lumMod val="75000"/>
                    <a:lumOff val="25000"/>
                  </a:schemeClr>
                </a:solidFill>
              </a:rPr>
              <a:t>④</a:t>
            </a:r>
            <a:r>
              <a:rPr lang="en-US" altLang="zh-CN" sz="2800" b="1" dirty="0">
                <a:ln>
                  <a:noFill/>
                </a:ln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2400" b="1" dirty="0">
                <a:ln>
                  <a:noFill/>
                </a:ln>
                <a:solidFill>
                  <a:schemeClr val="accent3">
                    <a:lumMod val="75000"/>
                    <a:lumOff val="25000"/>
                  </a:schemeClr>
                </a:solidFill>
              </a:rPr>
              <a:t>井管理程序</a:t>
            </a:r>
            <a:r>
              <a:rPr lang="zh-CN" altLang="en-US" sz="2200" dirty="0">
                <a:ln>
                  <a:noFill/>
                </a:ln>
              </a:rPr>
              <a:t>：</a:t>
            </a:r>
            <a:r>
              <a:rPr lang="zh-CN" altLang="en-US" sz="2000" dirty="0">
                <a:ln>
                  <a:noFill/>
                </a:ln>
              </a:rPr>
              <a:t>用于控制作业与磁盘井之间信息的交换。</a:t>
            </a:r>
          </a:p>
        </p:txBody>
      </p:sp>
      <p:sp>
        <p:nvSpPr>
          <p:cNvPr id="13" name="íşļîḓé"/>
          <p:cNvSpPr/>
          <p:nvPr/>
        </p:nvSpPr>
        <p:spPr bwMode="auto">
          <a:xfrm>
            <a:off x="2499995" y="4009390"/>
            <a:ext cx="9342120" cy="217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lvl="1" indent="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charset="0"/>
                <a:sym typeface="+mn-ea"/>
              </a:rPr>
              <a:t>③</a:t>
            </a:r>
            <a:r>
              <a:rPr lang="en-US" altLang="zh-CN" sz="28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3">
                    <a:lumMod val="75000"/>
                    <a:lumOff val="25000"/>
                  </a:schemeClr>
                </a:solidFill>
                <a:sym typeface="+mn-ea"/>
              </a:rPr>
              <a:t>输入进程和输出进程</a:t>
            </a:r>
            <a:endParaRPr lang="zh-CN" altLang="en-US" sz="2400" b="1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  <a:p>
            <a:pPr marL="342900" lvl="1" indent="-342900">
              <a:lnSpc>
                <a:spcPct val="123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chemeClr val="accent3">
                    <a:lumMod val="50000"/>
                    <a:lumOff val="50000"/>
                  </a:schemeClr>
                </a:solidFill>
                <a:sym typeface="+mn-ea"/>
              </a:rPr>
              <a:t>Sp</a:t>
            </a:r>
            <a:r>
              <a:rPr lang="en-US" altLang="zh-CN" sz="2000" baseline="-25000" dirty="0" err="1">
                <a:solidFill>
                  <a:schemeClr val="accent3">
                    <a:lumMod val="50000"/>
                    <a:lumOff val="50000"/>
                  </a:schemeClr>
                </a:solidFill>
                <a:sym typeface="+mn-ea"/>
              </a:rPr>
              <a:t>i</a:t>
            </a:r>
            <a:r>
              <a:rPr lang="zh-CN" altLang="en-US" sz="2000" dirty="0">
                <a:sym typeface="+mn-ea"/>
              </a:rPr>
              <a:t>模拟脱机输入时的外围控制机，将用户要求的数据从输入设备通过输入缓冲区再送入输入井，当</a:t>
            </a:r>
            <a:r>
              <a:rPr lang="en-US" altLang="zh-CN" sz="2000" dirty="0">
                <a:sym typeface="+mn-ea"/>
              </a:rPr>
              <a:t>CPU</a:t>
            </a:r>
            <a:r>
              <a:rPr lang="zh-CN" altLang="en-US" sz="2000" dirty="0">
                <a:sym typeface="+mn-ea"/>
              </a:rPr>
              <a:t>需要输入数据时，直接从输入井读入内存。</a:t>
            </a:r>
            <a:endParaRPr lang="zh-CN" altLang="en-US" sz="20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0000FF"/>
                </a:solidFill>
                <a:sym typeface="+mn-ea"/>
              </a:rPr>
              <a:t>Sp</a:t>
            </a:r>
            <a:r>
              <a:rPr lang="en-US" altLang="zh-CN" sz="2000" baseline="-25000" dirty="0" err="1">
                <a:solidFill>
                  <a:srgbClr val="0000FF"/>
                </a:solidFill>
                <a:sym typeface="+mn-ea"/>
              </a:rPr>
              <a:t>o</a:t>
            </a:r>
            <a:r>
              <a:rPr lang="zh-CN" altLang="en-US" sz="2000" dirty="0">
                <a:sym typeface="+mn-ea"/>
              </a:rPr>
              <a:t>模拟脱机输出时的外围控制机，把用户要求输出的数据，先从内存送到输出井，待输出设备空闲时，再将输出井中的数据经过输出缓冲区送到输出设备上。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589735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系统的特点</a:t>
            </a:r>
          </a:p>
        </p:txBody>
      </p:sp>
      <p:grpSp>
        <p:nvGrpSpPr>
          <p:cNvPr id="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915160"/>
            <a:ext cx="10858500" cy="2978785"/>
            <a:chOff x="640860" y="1580300"/>
            <a:chExt cx="10858500" cy="2474116"/>
          </a:xfrm>
        </p:grpSpPr>
        <p:sp>
          <p:nvSpPr>
            <p:cNvPr id="4" name="íṥḻîḑe"/>
            <p:cNvSpPr/>
            <p:nvPr/>
          </p:nvSpPr>
          <p:spPr>
            <a:xfrm>
              <a:off x="682048" y="1580300"/>
              <a:ext cx="3476055" cy="1291689"/>
            </a:xfrm>
            <a:prstGeom prst="rect">
              <a:avLst/>
            </a:prstGeom>
            <a:blipFill>
              <a:blip r:embed="rId3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şḻiḍé"/>
            <p:cNvSpPr/>
            <p:nvPr/>
          </p:nvSpPr>
          <p:spPr>
            <a:xfrm>
              <a:off x="640860" y="3147924"/>
              <a:ext cx="351724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提高了</a:t>
              </a:r>
              <a:r>
                <a:rPr lang="en-US" altLang="zh-CN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I/O</a:t>
              </a:r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的速度</a:t>
              </a:r>
            </a:p>
          </p:txBody>
        </p:sp>
        <p:sp>
          <p:nvSpPr>
            <p:cNvPr id="6" name="îŝļiḋe"/>
            <p:cNvSpPr/>
            <p:nvPr/>
          </p:nvSpPr>
          <p:spPr>
            <a:xfrm>
              <a:off x="4352677" y="1580300"/>
              <a:ext cx="3476055" cy="1291689"/>
            </a:xfrm>
            <a:prstGeom prst="rect">
              <a:avLst/>
            </a:prstGeom>
            <a:blipFill>
              <a:blip r:embed="rId4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ïšlïḑè"/>
            <p:cNvSpPr/>
            <p:nvPr/>
          </p:nvSpPr>
          <p:spPr>
            <a:xfrm>
              <a:off x="4311489" y="3135266"/>
              <a:ext cx="351724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将</a:t>
              </a:r>
              <a:r>
                <a:rPr lang="zh-CN" altLang="en-US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独占设备</a:t>
              </a:r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改造为</a:t>
              </a:r>
              <a:r>
                <a:rPr lang="zh-CN" altLang="en-US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共享设备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sp>
          <p:nvSpPr>
            <p:cNvPr id="8" name="íŝḻiďé"/>
            <p:cNvSpPr/>
            <p:nvPr/>
          </p:nvSpPr>
          <p:spPr>
            <a:xfrm>
              <a:off x="8023305" y="1580300"/>
              <a:ext cx="3476055" cy="1291689"/>
            </a:xfrm>
            <a:prstGeom prst="rect">
              <a:avLst/>
            </a:prstGeom>
            <a:blipFill>
              <a:blip r:embed="rId5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í$ḷîḋe"/>
            <p:cNvSpPr/>
            <p:nvPr/>
          </p:nvSpPr>
          <p:spPr>
            <a:xfrm>
              <a:off x="7982117" y="3122608"/>
              <a:ext cx="349770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实现了虚拟设备功能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04823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假脱机打印机系统</a:t>
            </a:r>
          </a:p>
        </p:txBody>
      </p:sp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1300767" y="1306442"/>
            <a:ext cx="10148552" cy="47337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打印机属于独占设备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。利用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SPOOLing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技术，可将之改造为一台可供多个用户共享的设备，从而提高设备的利用率，也方便了用户。</a:t>
            </a: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共享打印机技术已被广泛用于多用户系统和</a:t>
            </a:r>
            <a:r>
              <a:rPr lang="zh-CN" altLang="en-US" sz="2400" u="sng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局域网络（添加方法）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中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磁盘缓冲区：磁盘空间，暂存用户程序的输出数据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打印缓冲区：设在内存，暂存从磁盘缓冲区送来的数据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假脱机管理进程和假脱机打印进程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假脱机管理进程为每个要求打印的用户数据建立一个假脱机文件，并放入文件队列中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假脱机打印进程依次对队列中的文件进行打印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30644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227452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5815813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假脱机打印系统的组成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10" y="1052195"/>
            <a:ext cx="10532745" cy="4467225"/>
          </a:xfrm>
          <a:prstGeom prst="rect">
            <a:avLst/>
          </a:prstGeom>
        </p:spPr>
      </p:pic>
      <p:sp>
        <p:nvSpPr>
          <p:cNvPr id="7" name="Rectangle 1027"/>
          <p:cNvSpPr txBox="1">
            <a:spLocks noChangeArrowheads="1"/>
          </p:cNvSpPr>
          <p:nvPr/>
        </p:nvSpPr>
        <p:spPr>
          <a:xfrm>
            <a:off x="3839066" y="5772828"/>
            <a:ext cx="4610735" cy="381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假脱机打印机系统</a:t>
            </a:r>
            <a:r>
              <a:rPr lang="zh-CN" altLang="en-US" sz="2400">
                <a:sym typeface="Wingdings" panose="05000000000000000000" pitchFamily="2" charset="2"/>
              </a:rPr>
              <a:t>的组成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907333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共享打印机</a:t>
            </a:r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10749177" cy="2333571"/>
            <a:chOff x="660400" y="1787149"/>
            <a:chExt cx="10749177" cy="2333571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10113010" cy="2285365"/>
              <a:chOff x="1296567" y="1835355"/>
              <a:chExt cx="12755039" cy="2285365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假脱机</a:t>
                </a:r>
                <a:r>
                  <a:rPr lang="zh-CN" altLang="en-US" sz="24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管理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进程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279220"/>
                <a:ext cx="12755039" cy="184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在磁盘缓冲区中为之申请一个空闲盘块，并将要打印的数据送入其中暂存。</a:t>
                </a: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为用户进程申请一张空白的用户请求打印表，并将用户的打印要求填入表中，再将该表挂到假脱机文件队列上。</a:t>
                </a:r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3738573"/>
            <a:ext cx="10606937" cy="2140585"/>
            <a:chOff x="660400" y="2092935"/>
            <a:chExt cx="10606937" cy="2140585"/>
          </a:xfrm>
        </p:grpSpPr>
        <p:grpSp>
          <p:nvGrpSpPr>
            <p:cNvPr id="12" name="ïṧļïḓe"/>
            <p:cNvGrpSpPr/>
            <p:nvPr/>
          </p:nvGrpSpPr>
          <p:grpSpPr>
            <a:xfrm>
              <a:off x="1296567" y="2092935"/>
              <a:ext cx="9970770" cy="2140585"/>
              <a:chOff x="1296567" y="2092935"/>
              <a:chExt cx="12575634" cy="2140585"/>
            </a:xfrm>
          </p:grpSpPr>
          <p:sp>
            <p:nvSpPr>
              <p:cNvPr id="16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假脱机</a:t>
                </a:r>
                <a:r>
                  <a:rPr lang="zh-CN" alt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打印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进程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7" name="íşľíḑè"/>
              <p:cNvSpPr/>
              <p:nvPr/>
            </p:nvSpPr>
            <p:spPr bwMode="auto">
              <a:xfrm>
                <a:off x="1312585" y="2588235"/>
                <a:ext cx="12559616" cy="1645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当打印机空闲时，进程从请求打印队列的队首取出一张请求打印表，根据表中的要求将要打印的数据，从输出井传送到内存缓冲区，再由打印机进行打印。</a:t>
                </a:r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打印完，进程再次察看请求打印队列，若非空，重复上述工作，直到队列为空。此后进程才将自己阻塞起来。仅当下次再有打印请求时，进程才被唤醒。</a:t>
                </a:r>
              </a:p>
            </p:txBody>
          </p:sp>
        </p:grp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39916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7239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  <p:tag name="KSO_WM_DIAGRAM_VIRTUALLY_FRAME" val="{&quot;height&quot;:288.18716535433066,&quot;left&quot;:52.75,&quot;top&quot;:166.1171653543307,&quot;width&quot;:85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18716535433066,&quot;left&quot;:52.75,&quot;top&quot;:166.1171653543307,&quot;width&quot;:85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93e36d2-1865-4ff9-9c2d-3dc4c5962b2f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40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40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3948818897637,&quot;left&quot;:475.34244094488184,&quot;top&quot;:103.17590551181101,&quot;width&quot;:465.737637795275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0420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1*258"/>
  <p:tag name="TABLE_ENDDRAG_RECT" val="637*107*291*25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5814</Words>
  <Application>Microsoft Office PowerPoint</Application>
  <PresentationFormat>宽屏</PresentationFormat>
  <Paragraphs>608</Paragraphs>
  <Slides>84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94" baseType="lpstr">
      <vt:lpstr>Monotype Sorts</vt:lpstr>
      <vt:lpstr>宋体</vt:lpstr>
      <vt:lpstr>微软雅黑 (正文)</vt:lpstr>
      <vt:lpstr>Arial</vt:lpstr>
      <vt:lpstr>Calibri</vt:lpstr>
      <vt:lpstr>Tahoma</vt:lpstr>
      <vt:lpstr>Wingdings</vt:lpstr>
      <vt:lpstr>主题5</vt:lpstr>
      <vt:lpstr>Equation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 习 进 步 ！</vt:lpstr>
      <vt:lpstr>第7章 输入/输出系统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磁盘硬件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maikal jason</cp:lastModifiedBy>
  <cp:revision>199</cp:revision>
  <cp:lastPrinted>2019-04-18T16:00:00Z</cp:lastPrinted>
  <dcterms:created xsi:type="dcterms:W3CDTF">2019-04-18T16:00:00Z</dcterms:created>
  <dcterms:modified xsi:type="dcterms:W3CDTF">2026-01-14T14:13:48Z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29321D4FDD224ECE97E1CFE85E42D70A</vt:lpwstr>
  </property>
  <property fmtid="{D5CDD505-2E9C-101B-9397-08002B2CF9AE}" pid="4" name="KSOProductBuildVer">
    <vt:lpwstr>2052-12.1.0.20784</vt:lpwstr>
  </property>
</Properties>
</file>