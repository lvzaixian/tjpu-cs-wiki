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4"/>
  </p:notesMasterIdLst>
  <p:sldIdLst>
    <p:sldId id="311" r:id="rId3"/>
    <p:sldId id="312" r:id="rId4"/>
    <p:sldId id="672" r:id="rId5"/>
    <p:sldId id="315" r:id="rId6"/>
    <p:sldId id="296" r:id="rId7"/>
    <p:sldId id="297" r:id="rId8"/>
    <p:sldId id="305" r:id="rId9"/>
    <p:sldId id="362" r:id="rId10"/>
    <p:sldId id="465" r:id="rId11"/>
    <p:sldId id="300" r:id="rId12"/>
    <p:sldId id="301" r:id="rId13"/>
    <p:sldId id="319" r:id="rId14"/>
    <p:sldId id="363" r:id="rId15"/>
    <p:sldId id="365" r:id="rId16"/>
    <p:sldId id="364" r:id="rId17"/>
    <p:sldId id="317" r:id="rId18"/>
    <p:sldId id="505" r:id="rId19"/>
    <p:sldId id="367" r:id="rId20"/>
    <p:sldId id="368" r:id="rId21"/>
    <p:sldId id="369" r:id="rId22"/>
    <p:sldId id="366" r:id="rId23"/>
    <p:sldId id="371" r:id="rId24"/>
    <p:sldId id="372" r:id="rId25"/>
    <p:sldId id="514" r:id="rId26"/>
    <p:sldId id="373" r:id="rId27"/>
    <p:sldId id="304" r:id="rId28"/>
    <p:sldId id="374" r:id="rId29"/>
    <p:sldId id="466" r:id="rId30"/>
    <p:sldId id="370" r:id="rId31"/>
    <p:sldId id="512" r:id="rId32"/>
    <p:sldId id="513" r:id="rId33"/>
    <p:sldId id="515" r:id="rId34"/>
    <p:sldId id="510" r:id="rId35"/>
    <p:sldId id="518" r:id="rId36"/>
    <p:sldId id="299" r:id="rId37"/>
    <p:sldId id="467" r:id="rId38"/>
    <p:sldId id="511" r:id="rId39"/>
    <p:sldId id="307" r:id="rId40"/>
    <p:sldId id="298" r:id="rId41"/>
    <p:sldId id="377" r:id="rId42"/>
    <p:sldId id="506" r:id="rId43"/>
    <p:sldId id="378" r:id="rId44"/>
    <p:sldId id="504" r:id="rId45"/>
    <p:sldId id="507" r:id="rId46"/>
    <p:sldId id="508" r:id="rId47"/>
    <p:sldId id="509" r:id="rId48"/>
    <p:sldId id="379" r:id="rId49"/>
    <p:sldId id="380" r:id="rId50"/>
    <p:sldId id="553" r:id="rId51"/>
    <p:sldId id="381" r:id="rId52"/>
    <p:sldId id="516" r:id="rId53"/>
    <p:sldId id="517" r:id="rId54"/>
    <p:sldId id="302" r:id="rId55"/>
    <p:sldId id="554" r:id="rId56"/>
    <p:sldId id="391" r:id="rId57"/>
    <p:sldId id="389" r:id="rId58"/>
    <p:sldId id="392" r:id="rId59"/>
    <p:sldId id="564" r:id="rId60"/>
    <p:sldId id="555" r:id="rId61"/>
    <p:sldId id="565" r:id="rId62"/>
    <p:sldId id="556" r:id="rId63"/>
    <p:sldId id="557" r:id="rId64"/>
    <p:sldId id="558" r:id="rId65"/>
    <p:sldId id="559" r:id="rId66"/>
    <p:sldId id="560" r:id="rId67"/>
    <p:sldId id="561" r:id="rId68"/>
    <p:sldId id="562" r:id="rId69"/>
    <p:sldId id="563" r:id="rId70"/>
    <p:sldId id="468" r:id="rId71"/>
    <p:sldId id="469" r:id="rId72"/>
    <p:sldId id="470" r:id="rId73"/>
    <p:sldId id="471" r:id="rId74"/>
    <p:sldId id="472" r:id="rId75"/>
    <p:sldId id="473" r:id="rId76"/>
    <p:sldId id="474" r:id="rId77"/>
    <p:sldId id="393" r:id="rId78"/>
    <p:sldId id="375" r:id="rId79"/>
    <p:sldId id="395" r:id="rId80"/>
    <p:sldId id="329" r:id="rId81"/>
    <p:sldId id="394" r:id="rId82"/>
    <p:sldId id="398" r:id="rId83"/>
    <p:sldId id="320" r:id="rId84"/>
    <p:sldId id="399" r:id="rId85"/>
    <p:sldId id="400" r:id="rId86"/>
    <p:sldId id="397" r:id="rId87"/>
    <p:sldId id="402" r:id="rId88"/>
    <p:sldId id="611" r:id="rId89"/>
    <p:sldId id="612" r:id="rId90"/>
    <p:sldId id="613" r:id="rId91"/>
    <p:sldId id="403" r:id="rId92"/>
    <p:sldId id="405" r:id="rId93"/>
    <p:sldId id="567" r:id="rId95"/>
    <p:sldId id="401" r:id="rId96"/>
    <p:sldId id="407" r:id="rId97"/>
    <p:sldId id="569" r:id="rId98"/>
    <p:sldId id="568" r:id="rId99"/>
    <p:sldId id="622" r:id="rId100"/>
    <p:sldId id="404" r:id="rId101"/>
    <p:sldId id="408" r:id="rId102"/>
    <p:sldId id="614" r:id="rId103"/>
    <p:sldId id="409" r:id="rId104"/>
    <p:sldId id="410" r:id="rId105"/>
    <p:sldId id="609" r:id="rId106"/>
    <p:sldId id="411" r:id="rId107"/>
    <p:sldId id="412" r:id="rId108"/>
    <p:sldId id="406" r:id="rId109"/>
    <p:sldId id="413" r:id="rId110"/>
    <p:sldId id="619" r:id="rId111"/>
    <p:sldId id="620" r:id="rId112"/>
    <p:sldId id="621" r:id="rId113"/>
    <p:sldId id="615" r:id="rId114"/>
    <p:sldId id="616" r:id="rId115"/>
    <p:sldId id="666" r:id="rId116"/>
    <p:sldId id="414" r:id="rId117"/>
    <p:sldId id="415" r:id="rId118"/>
    <p:sldId id="443" r:id="rId119"/>
    <p:sldId id="418" r:id="rId120"/>
    <p:sldId id="419" r:id="rId121"/>
    <p:sldId id="420" r:id="rId122"/>
    <p:sldId id="617" r:id="rId123"/>
    <p:sldId id="421" r:id="rId124"/>
    <p:sldId id="422" r:id="rId125"/>
    <p:sldId id="610" r:id="rId126"/>
    <p:sldId id="425" r:id="rId127"/>
    <p:sldId id="427" r:id="rId128"/>
    <p:sldId id="428" r:id="rId129"/>
    <p:sldId id="429" r:id="rId130"/>
    <p:sldId id="618" r:id="rId131"/>
    <p:sldId id="430" r:id="rId132"/>
    <p:sldId id="431" r:id="rId133"/>
    <p:sldId id="438" r:id="rId134"/>
    <p:sldId id="667" r:id="rId135"/>
    <p:sldId id="571" r:id="rId136"/>
    <p:sldId id="570" r:id="rId137"/>
    <p:sldId id="668" r:id="rId138"/>
    <p:sldId id="669" r:id="rId139"/>
    <p:sldId id="670" r:id="rId140"/>
    <p:sldId id="671" r:id="rId141"/>
    <p:sldId id="353" r:id="rId142"/>
    <p:sldId id="440" r:id="rId143"/>
    <p:sldId id="354" r:id="rId144"/>
  </p:sldIdLst>
  <p:sldSz cx="12192000" cy="6858000"/>
  <p:notesSz cx="6858000" cy="9144000"/>
  <p:custDataLst>
    <p:tags r:id="rId1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005C"/>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p:scale>
          <a:sx n="100" d="100"/>
          <a:sy n="100" d="100"/>
        </p:scale>
        <p:origin x="-936" y="-402"/>
      </p:cViewPr>
      <p:guideLst>
        <p:guide orient="horz" pos="2159"/>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notesMaster" Target="notesMasters/notesMaster1.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8" Type="http://schemas.openxmlformats.org/officeDocument/2006/relationships/tags" Target="tags/tag65.xml"/><Relationship Id="rId147" Type="http://schemas.openxmlformats.org/officeDocument/2006/relationships/tableStyles" Target="tableStyles.xml"/><Relationship Id="rId146" Type="http://schemas.openxmlformats.org/officeDocument/2006/relationships/viewProps" Target="viewProps.xml"/><Relationship Id="rId145" Type="http://schemas.openxmlformats.org/officeDocument/2006/relationships/presProps" Target="presProps.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schemeClr val="accent4">
                    <a:lumMod val="60000"/>
                    <a:lumOff val="40000"/>
                  </a:schemeClr>
                </a:solidFill>
                <a:sym typeface="+mn-ea"/>
              </a:rPr>
              <a:t>资源分配状态</a:t>
            </a:r>
            <a:r>
              <a:rPr lang="zh-CN" altLang="en-US" dirty="0">
                <a:sym typeface="+mn-ea"/>
              </a:rPr>
              <a:t>定义为</a:t>
            </a:r>
            <a:r>
              <a:rPr lang="en-US" altLang="zh-CN" dirty="0">
                <a:sym typeface="+mn-ea"/>
              </a:rPr>
              <a:t>“</a:t>
            </a:r>
            <a:r>
              <a:rPr lang="zh-CN" altLang="en-US" dirty="0">
                <a:sym typeface="+mn-ea"/>
              </a:rPr>
              <a:t>可用的</a:t>
            </a:r>
            <a:r>
              <a:rPr lang="en-US" altLang="zh-CN" dirty="0">
                <a:sym typeface="+mn-ea"/>
              </a:rPr>
              <a:t>”</a:t>
            </a:r>
            <a:r>
              <a:rPr lang="zh-CN" altLang="en-US" dirty="0">
                <a:sym typeface="+mn-ea"/>
              </a:rPr>
              <a:t>与</a:t>
            </a:r>
            <a:r>
              <a:rPr lang="en-US" altLang="zh-CN" dirty="0">
                <a:sym typeface="+mn-ea"/>
              </a:rPr>
              <a:t>“</a:t>
            </a:r>
            <a:r>
              <a:rPr lang="zh-CN" altLang="en-US" dirty="0">
                <a:sym typeface="+mn-ea"/>
              </a:rPr>
              <a:t>已分配的资源数</a:t>
            </a:r>
            <a:r>
              <a:rPr lang="en-US" altLang="zh-CN" dirty="0">
                <a:sym typeface="+mn-ea"/>
              </a:rPr>
              <a:t>”</a:t>
            </a:r>
            <a:r>
              <a:rPr lang="zh-CN" altLang="en-US" dirty="0">
                <a:sym typeface="+mn-ea"/>
              </a:rPr>
              <a:t>和</a:t>
            </a:r>
            <a:r>
              <a:rPr lang="en-US" altLang="zh-CN" dirty="0">
                <a:sym typeface="+mn-ea"/>
              </a:rPr>
              <a:t>“</a:t>
            </a:r>
            <a:r>
              <a:rPr lang="zh-CN" altLang="en-US" dirty="0">
                <a:sym typeface="+mn-ea"/>
              </a:rPr>
              <a:t>进程所需的最大资源量</a:t>
            </a:r>
            <a:r>
              <a:rPr lang="en-US" altLang="zh-CN" dirty="0">
                <a:sym typeface="+mn-ea"/>
              </a:rPr>
              <a:t>”</a:t>
            </a:r>
            <a:r>
              <a:rPr lang="zh-CN" altLang="en-US" dirty="0">
                <a:sym typeface="+mn-ea"/>
              </a:rPr>
              <a:t>。</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5" Type="http://schemas.openxmlformats.org/officeDocument/2006/relationships/slideLayout" Target="../slideLayouts/slideLayout3.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image" Target="../media/image2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5" Type="http://schemas.openxmlformats.org/officeDocument/2006/relationships/slideLayout" Target="../slideLayouts/slideLayout3.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2" Type="http://schemas.openxmlformats.org/officeDocument/2006/relationships/notesSlide" Target="../notesSlides/notesSlide1.xml"/><Relationship Id="rId11" Type="http://schemas.openxmlformats.org/officeDocument/2006/relationships/slideLayout" Target="../slideLayouts/slideLayout3.xml"/><Relationship Id="rId10" Type="http://schemas.openxmlformats.org/officeDocument/2006/relationships/tags" Target="../tags/tag55.xml"/><Relationship Id="rId1" Type="http://schemas.openxmlformats.org/officeDocument/2006/relationships/tags" Target="../tags/tag46.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3.png"/><Relationship Id="rId1" Type="http://schemas.openxmlformats.org/officeDocument/2006/relationships/image" Target="../media/image4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5.wdp"/><Relationship Id="rId1" Type="http://schemas.openxmlformats.org/officeDocument/2006/relationships/image" Target="../media/image44.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48.wdp"/><Relationship Id="rId2" Type="http://schemas.openxmlformats.org/officeDocument/2006/relationships/image" Target="../media/image47.png"/><Relationship Id="rId1" Type="http://schemas.openxmlformats.org/officeDocument/2006/relationships/image" Target="../media/image46.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50.wdp"/><Relationship Id="rId1" Type="http://schemas.openxmlformats.org/officeDocument/2006/relationships/image" Target="../media/image4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1.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2.jpeg"/><Relationship Id="rId1" Type="http://schemas.openxmlformats.org/officeDocument/2006/relationships/tags" Target="../tags/tag5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3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tags" Target="../tags/tag64.xml"/><Relationship Id="rId1" Type="http://schemas.openxmlformats.org/officeDocument/2006/relationships/image" Target="../media/image2.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3.png"/></Relationships>
</file>

<file path=ppt/slides/_rels/slide13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13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0.png"/></Relationships>
</file>

<file path=ppt/slides/_rels/slide13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5.png"/><Relationship Id="rId1" Type="http://schemas.openxmlformats.org/officeDocument/2006/relationships/image" Target="../media/image64.pn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7.png"/><Relationship Id="rId1" Type="http://schemas.openxmlformats.org/officeDocument/2006/relationships/image" Target="../media/image6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3</a:t>
            </a:r>
            <a:r>
              <a:rPr lang="zh-CN" altLang="en-US" sz="4800" dirty="0"/>
              <a:t>章 </a:t>
            </a:r>
            <a:br>
              <a:rPr lang="en-US" altLang="zh-CN" sz="4800" dirty="0"/>
            </a:br>
            <a:r>
              <a:rPr lang="zh-CN" altLang="en-US" sz="4800" dirty="0"/>
              <a:t>处理机调度与死锁</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4"/>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3</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1"/>
            </p:custDataLst>
          </p:nvPr>
        </p:nvGraphicFramePr>
        <p:xfrm>
          <a:off x="188111" y="1801844"/>
          <a:ext cx="3804920" cy="3592195"/>
        </p:xfrm>
        <a:graphic>
          <a:graphicData uri="http://schemas.openxmlformats.org/drawingml/2006/table">
            <a:tbl>
              <a:tblPr firstRow="1" bandRow="1">
                <a:tableStyleId>{72833802-FEF1-4C79-8D5D-14CF1EAF98D9}</a:tableStyleId>
              </a:tblPr>
              <a:tblGrid>
                <a:gridCol w="1221039"/>
                <a:gridCol w="2583815"/>
              </a:tblGrid>
              <a:tr h="399121">
                <a:tc>
                  <a:txBody>
                    <a:bodyPr/>
                    <a:lstStyle/>
                    <a:p>
                      <a:pPr marL="71755" indent="0" algn="ctr"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第1章</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0" indent="0" algn="l"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 </a:t>
                      </a:r>
                      <a:r>
                        <a:rPr lang="en-US" sz="2000" b="0" kern="1200" dirty="0" err="1">
                          <a:solidFill>
                            <a:schemeClr val="tx1"/>
                          </a:solidFill>
                          <a:latin typeface="微软雅黑 (正文)"/>
                          <a:ea typeface="+mn-ea"/>
                          <a:cs typeface="+mn-cs"/>
                        </a:rPr>
                        <a:t>操作系统引论</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第2章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第3章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处理机调度与死锁</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3章 知识导图"/>
          <p:cNvPicPr>
            <a:picLocks noChangeAspect="1"/>
          </p:cNvPicPr>
          <p:nvPr/>
        </p:nvPicPr>
        <p:blipFill>
          <a:blip r:embed="rId3"/>
          <a:stretch>
            <a:fillRect/>
          </a:stretch>
        </p:blipFill>
        <p:spPr>
          <a:xfrm>
            <a:off x="4074160" y="953135"/>
            <a:ext cx="7999730" cy="50120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第3章 知识导图"/>
          <p:cNvPicPr>
            <a:picLocks noChangeAspect="1"/>
          </p:cNvPicPr>
          <p:nvPr/>
        </p:nvPicPr>
        <p:blipFill>
          <a:blip r:embed="rId1"/>
          <a:stretch>
            <a:fillRect/>
          </a:stretch>
        </p:blipFill>
        <p:spPr>
          <a:xfrm>
            <a:off x="462915" y="0"/>
            <a:ext cx="10772775" cy="6750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3046988"/>
          </a:xfrm>
          <a:prstGeom prst="rect">
            <a:avLst/>
          </a:prstGeom>
        </p:spPr>
        <p:txBody>
          <a:bodyPr wrap="square">
            <a:spAutoFit/>
          </a:bodyPr>
          <a:lstStyle/>
          <a:p>
            <a:r>
              <a:rPr lang="en-US" altLang="zh-CN" sz="2400" b="1" dirty="0">
                <a:solidFill>
                  <a:srgbClr val="0000FF"/>
                </a:solidFill>
                <a:latin typeface="+mj-ea"/>
                <a:ea typeface="+mj-ea"/>
              </a:rPr>
              <a:t>3.1 </a:t>
            </a:r>
            <a:r>
              <a:rPr lang="zh-CN" altLang="en-US" sz="2400" b="1" dirty="0">
                <a:solidFill>
                  <a:srgbClr val="0000FF"/>
                </a:solidFill>
                <a:latin typeface="+mj-ea"/>
                <a:ea typeface="+mj-ea"/>
              </a:rPr>
              <a:t>处理机调度概述</a:t>
            </a:r>
            <a:endParaRPr lang="zh-CN" altLang="en-US" sz="2400" b="1" dirty="0">
              <a:solidFill>
                <a:srgbClr val="0000FF"/>
              </a:solidFill>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处理机调度层次</a:t>
            </a:r>
            <a:endParaRPr lang="zh-CN" altLang="en-US" sz="2800" b="1" dirty="0">
              <a:solidFill>
                <a:schemeClr val="bg1"/>
              </a:solidFill>
            </a:endParaRPr>
          </a:p>
        </p:txBody>
      </p:sp>
      <p:sp>
        <p:nvSpPr>
          <p:cNvPr id="4" name="文本框 3"/>
          <p:cNvSpPr txBox="1"/>
          <p:nvPr/>
        </p:nvSpPr>
        <p:spPr>
          <a:xfrm>
            <a:off x="3353752" y="2070712"/>
            <a:ext cx="7200554" cy="461665"/>
          </a:xfrm>
          <a:prstGeom prst="rect">
            <a:avLst/>
          </a:prstGeom>
          <a:noFill/>
        </p:spPr>
        <p:txBody>
          <a:bodyPr wrap="square" rtlCol="0">
            <a:spAutoFit/>
          </a:bodyPr>
          <a:lstStyle/>
          <a:p>
            <a:r>
              <a:rPr lang="zh-CN" altLang="en-US" sz="2500" dirty="0">
                <a:solidFill>
                  <a:srgbClr val="FF0000"/>
                </a:solidFill>
              </a:rPr>
              <a:t>高级</a:t>
            </a:r>
            <a:r>
              <a:rPr lang="zh-CN" altLang="en-US" sz="2500" dirty="0"/>
              <a:t>调度（长程调度</a:t>
            </a:r>
            <a:r>
              <a:rPr lang="en-US" altLang="zh-CN" sz="2500" dirty="0"/>
              <a:t>/</a:t>
            </a:r>
            <a:r>
              <a:rPr lang="zh-CN" altLang="en-US" sz="2500" dirty="0">
                <a:solidFill>
                  <a:srgbClr val="FF0000"/>
                </a:solidFill>
              </a:rPr>
              <a:t>作业</a:t>
            </a:r>
            <a:r>
              <a:rPr lang="zh-CN" altLang="en-US" sz="2500" dirty="0"/>
              <a:t>调度）</a:t>
            </a:r>
            <a:endParaRPr lang="en-US" altLang="zh-CN" sz="2500" dirty="0"/>
          </a:p>
        </p:txBody>
      </p:sp>
      <p:sp>
        <p:nvSpPr>
          <p:cNvPr id="9" name="文本框 8"/>
          <p:cNvSpPr txBox="1"/>
          <p:nvPr/>
        </p:nvSpPr>
        <p:spPr>
          <a:xfrm>
            <a:off x="4519028" y="4108936"/>
            <a:ext cx="6706041" cy="461665"/>
          </a:xfrm>
          <a:prstGeom prst="rect">
            <a:avLst/>
          </a:prstGeom>
          <a:noFill/>
        </p:spPr>
        <p:txBody>
          <a:bodyPr wrap="square" rtlCol="0">
            <a:spAutoFit/>
          </a:bodyPr>
          <a:lstStyle/>
          <a:p>
            <a:r>
              <a:rPr lang="zh-CN" altLang="en-US" sz="2500" dirty="0">
                <a:solidFill>
                  <a:srgbClr val="00B050"/>
                </a:solidFill>
              </a:rPr>
              <a:t>中级</a:t>
            </a:r>
            <a:r>
              <a:rPr lang="zh-CN" altLang="en-US" sz="2500" dirty="0"/>
              <a:t>调度（中程调度</a:t>
            </a:r>
            <a:r>
              <a:rPr lang="en-US" altLang="zh-CN" sz="2500" dirty="0"/>
              <a:t>/</a:t>
            </a:r>
            <a:r>
              <a:rPr lang="zh-CN" altLang="en-US" sz="2500" dirty="0">
                <a:solidFill>
                  <a:srgbClr val="00B050"/>
                </a:solidFill>
              </a:rPr>
              <a:t>内存</a:t>
            </a:r>
            <a:r>
              <a:rPr lang="zh-CN" altLang="en-US" sz="2500" dirty="0"/>
              <a:t>调度）</a:t>
            </a:r>
            <a:endParaRPr lang="en-US" altLang="zh-CN" sz="2500"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730643" y="2052165"/>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257693" y="3065811"/>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880802" y="4076244"/>
            <a:ext cx="527050" cy="527050"/>
          </a:xfrm>
          <a:prstGeom prst="rect">
            <a:avLst/>
          </a:prstGeom>
          <a:ln>
            <a:noFill/>
          </a:ln>
          <a:effectLst>
            <a:softEdge rad="0"/>
          </a:effectLst>
        </p:spPr>
      </p:pic>
      <p:sp>
        <p:nvSpPr>
          <p:cNvPr id="10" name="文本框 9"/>
          <p:cNvSpPr txBox="1"/>
          <p:nvPr/>
        </p:nvSpPr>
        <p:spPr>
          <a:xfrm>
            <a:off x="3880802" y="3073478"/>
            <a:ext cx="7200554" cy="461665"/>
          </a:xfrm>
          <a:prstGeom prst="rect">
            <a:avLst/>
          </a:prstGeom>
          <a:noFill/>
        </p:spPr>
        <p:txBody>
          <a:bodyPr wrap="square" rtlCol="0">
            <a:spAutoFit/>
          </a:bodyPr>
          <a:lstStyle/>
          <a:p>
            <a:r>
              <a:rPr lang="zh-CN" altLang="en-US" sz="2500" dirty="0">
                <a:solidFill>
                  <a:srgbClr val="0000CC"/>
                </a:solidFill>
              </a:rPr>
              <a:t>低级</a:t>
            </a:r>
            <a:r>
              <a:rPr lang="zh-CN" altLang="en-US" sz="2500" dirty="0"/>
              <a:t>调度（短程调度</a:t>
            </a:r>
            <a:r>
              <a:rPr lang="en-US" altLang="zh-CN" sz="2500" dirty="0"/>
              <a:t>/</a:t>
            </a:r>
            <a:r>
              <a:rPr lang="zh-CN" altLang="en-US" sz="2500" dirty="0">
                <a:solidFill>
                  <a:srgbClr val="0000CC"/>
                </a:solidFill>
              </a:rPr>
              <a:t>进程</a:t>
            </a:r>
            <a:r>
              <a:rPr lang="zh-CN" altLang="en-US" sz="2500" dirty="0"/>
              <a:t>调度）</a:t>
            </a:r>
            <a:endParaRPr lang="en-US" altLang="zh-CN" sz="2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高级调度</a:t>
            </a:r>
            <a:endParaRPr lang="zh-CN" altLang="en-US" sz="2800" b="1" dirty="0">
              <a:solidFill>
                <a:schemeClr val="bg1"/>
              </a:solidFill>
            </a:endParaRPr>
          </a:p>
        </p:txBody>
      </p:sp>
      <p:sp>
        <p:nvSpPr>
          <p:cNvPr id="40" name="ïşľîďè"/>
          <p:cNvSpPr/>
          <p:nvPr/>
        </p:nvSpPr>
        <p:spPr>
          <a:xfrm>
            <a:off x="-635" y="1134110"/>
            <a:ext cx="3881755"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411869"/>
            <a:ext cx="7381904" cy="1002148"/>
            <a:chOff x="4136995" y="1408047"/>
            <a:chExt cx="7381904" cy="1002148"/>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调度对象：</a:t>
              </a:r>
              <a:r>
                <a:rPr lang="zh-CN" altLang="en-US" sz="2400" dirty="0">
                  <a:solidFill>
                    <a:srgbClr val="FF0000"/>
                  </a:solidFill>
                </a:rPr>
                <a:t>作业</a:t>
              </a:r>
              <a:endParaRPr lang="en-US" altLang="zh-CN" sz="2400" dirty="0"/>
            </a:p>
          </p:txBody>
        </p:sp>
      </p:grpSp>
      <p:grpSp>
        <p:nvGrpSpPr>
          <p:cNvPr id="45" name="išḷîḓé"/>
          <p:cNvGrpSpPr/>
          <p:nvPr/>
        </p:nvGrpSpPr>
        <p:grpSpPr>
          <a:xfrm>
            <a:off x="3348471" y="2414328"/>
            <a:ext cx="8378825" cy="1708150"/>
            <a:chOff x="4136995" y="2654445"/>
            <a:chExt cx="8378825" cy="1708150"/>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7" name="îŝľîḓè"/>
            <p:cNvSpPr txBox="1"/>
            <p:nvPr/>
          </p:nvSpPr>
          <p:spPr>
            <a:xfrm>
              <a:off x="4882485" y="2654445"/>
              <a:ext cx="7633335" cy="170815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根据某种算法，决定将外存上处于后备队列中的作业调入内存，</a:t>
              </a:r>
              <a:r>
                <a:rPr lang="zh-CN" altLang="zh-CN" sz="2400" dirty="0"/>
                <a:t>并为它们创建进程和分配必要的资源。然后，将新创建的进程排在就绪队列上等待调度。</a:t>
              </a:r>
              <a:endParaRPr lang="zh-CN" altLang="en-US" sz="2400" dirty="0">
                <a:solidFill>
                  <a:srgbClr val="FF0000"/>
                </a:solidFill>
              </a:endParaRPr>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主要用于多道批处理系统中</a:t>
              </a:r>
              <a:endParaRPr lang="en-US" altLang="zh-CN" sz="24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中级调度</a:t>
            </a:r>
            <a:endParaRPr lang="zh-CN" altLang="en-US" sz="2800" b="1" dirty="0">
              <a:solidFill>
                <a:schemeClr val="bg1"/>
              </a:solidFill>
            </a:endParaRPr>
          </a:p>
        </p:txBody>
      </p:sp>
      <p:sp>
        <p:nvSpPr>
          <p:cNvPr id="221" name="i$lîďê"/>
          <p:cNvSpPr/>
          <p:nvPr/>
        </p:nvSpPr>
        <p:spPr>
          <a:xfrm>
            <a:off x="2485983" y="2986584"/>
            <a:ext cx="8833046" cy="392877"/>
          </a:xfrm>
          <a:prstGeom prst="rect">
            <a:avLst/>
          </a:prstGeom>
          <a:noFill/>
          <a:ln>
            <a:noFill/>
          </a:ln>
        </p:spPr>
        <p:txBody>
          <a:bodyPr wrap="square" lIns="91440" tIns="45720" rIns="91440" bIns="45720" anchor="ctr" anchorCtr="0">
            <a:noAutofit/>
          </a:bodyPr>
          <a:lstStyle/>
          <a:p>
            <a:pPr>
              <a:defRPr/>
            </a:pPr>
            <a:endParaRPr lang="en-US" altLang="zh-CN" sz="2400" dirty="0"/>
          </a:p>
        </p:txBody>
      </p:sp>
      <p:sp>
        <p:nvSpPr>
          <p:cNvPr id="223" name="ïṧḷïḋè"/>
          <p:cNvSpPr/>
          <p:nvPr/>
        </p:nvSpPr>
        <p:spPr>
          <a:xfrm>
            <a:off x="3169487" y="4371789"/>
            <a:ext cx="3696051" cy="415102"/>
          </a:xfrm>
          <a:prstGeom prst="rect">
            <a:avLst/>
          </a:prstGeom>
          <a:noFill/>
          <a:ln>
            <a:noFill/>
          </a:ln>
        </p:spPr>
        <p:txBody>
          <a:bodyPr wrap="square" lIns="91440" tIns="45720" rIns="91440" bIns="45720" anchor="ctr" anchorCtr="0">
            <a:noAutofit/>
          </a:bodyPr>
          <a:lstStyle/>
          <a:p>
            <a:pPr>
              <a:defRPr/>
            </a:pPr>
            <a:r>
              <a:rPr lang="zh-CN" altLang="en-US" sz="2400" dirty="0"/>
              <a:t>即“</a:t>
            </a:r>
            <a:r>
              <a:rPr lang="zh-CN" altLang="en-US" sz="2400" dirty="0">
                <a:solidFill>
                  <a:srgbClr val="FF0000"/>
                </a:solidFill>
              </a:rPr>
              <a:t>对换</a:t>
            </a:r>
            <a:r>
              <a:rPr lang="zh-CN" altLang="en-US" sz="2400" dirty="0"/>
              <a:t>” 功能。</a:t>
            </a:r>
            <a:endParaRPr lang="zh-CN" altLang="en-US" sz="2400" dirty="0"/>
          </a:p>
        </p:txBody>
      </p:sp>
      <p:sp>
        <p:nvSpPr>
          <p:cNvPr id="225" name="íšḻíḑê"/>
          <p:cNvSpPr/>
          <p:nvPr/>
        </p:nvSpPr>
        <p:spPr>
          <a:xfrm>
            <a:off x="1992735" y="1818167"/>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将暂不运行的进程，调至外存等待；</a:t>
            </a:r>
            <a:endParaRPr lang="en-US" altLang="zh-CN" sz="2400" dirty="0"/>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485983"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802481"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992735"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705176"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9" name="文本框 18"/>
          <p:cNvSpPr txBox="1"/>
          <p:nvPr/>
        </p:nvSpPr>
        <p:spPr>
          <a:xfrm>
            <a:off x="2596259" y="3070602"/>
            <a:ext cx="6720396" cy="369332"/>
          </a:xfrm>
          <a:prstGeom prst="rect">
            <a:avLst/>
          </a:prstGeom>
          <a:noFill/>
        </p:spPr>
        <p:txBody>
          <a:bodyPr wrap="square">
            <a:spAutoFit/>
          </a:bodyPr>
          <a:lstStyle/>
          <a:p>
            <a:pPr>
              <a:defRPr/>
            </a:pPr>
            <a:r>
              <a:rPr lang="zh-CN" altLang="en-US" sz="2400" dirty="0"/>
              <a:t>将处于外存上的急需运行的进程，调入内存运行。</a:t>
            </a:r>
            <a:endParaRPr lang="en-US" altLang="zh-CN" sz="2400" dirty="0"/>
          </a:p>
        </p:txBody>
      </p:sp>
      <p:sp>
        <p:nvSpPr>
          <p:cNvPr id="21" name="矩形 20"/>
          <p:cNvSpPr/>
          <p:nvPr/>
        </p:nvSpPr>
        <p:spPr>
          <a:xfrm>
            <a:off x="7206942" y="5475767"/>
            <a:ext cx="4219425" cy="461665"/>
          </a:xfrm>
          <a:prstGeom prst="rect">
            <a:avLst/>
          </a:prstGeom>
        </p:spPr>
        <p:txBody>
          <a:bodyPr wrap="none">
            <a:spAutoFit/>
          </a:bodyPr>
          <a:lstStyle/>
          <a:p>
            <a:r>
              <a:rPr lang="en-US" altLang="zh-CN" sz="2400" dirty="0"/>
              <a:t> </a:t>
            </a:r>
            <a:r>
              <a:rPr lang="zh-CN" altLang="en-US" sz="2400" dirty="0">
                <a:solidFill>
                  <a:srgbClr val="0000CC"/>
                </a:solidFill>
              </a:rPr>
              <a:t>将在</a:t>
            </a:r>
            <a:r>
              <a:rPr lang="zh-CN" altLang="en-US" sz="2400" u="sng" dirty="0">
                <a:solidFill>
                  <a:srgbClr val="0000CC"/>
                </a:solidFill>
              </a:rPr>
              <a:t>第</a:t>
            </a:r>
            <a:r>
              <a:rPr lang="en-US" altLang="zh-CN" sz="2400" u="sng" dirty="0">
                <a:solidFill>
                  <a:srgbClr val="0000CC"/>
                </a:solidFill>
              </a:rPr>
              <a:t>5</a:t>
            </a:r>
            <a:r>
              <a:rPr lang="zh-CN" altLang="en-US" sz="2400" u="sng" dirty="0">
                <a:solidFill>
                  <a:srgbClr val="0000CC"/>
                </a:solidFill>
              </a:rPr>
              <a:t>章 存储器管理</a:t>
            </a:r>
            <a:r>
              <a:rPr lang="zh-CN" altLang="en-US" sz="2400" dirty="0">
                <a:solidFill>
                  <a:srgbClr val="0000CC"/>
                </a:solidFill>
              </a:rPr>
              <a:t>中介绍</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低级调度</a:t>
            </a:r>
            <a:endParaRPr lang="zh-CN" altLang="en-US" sz="2800" b="1" dirty="0">
              <a:solidFill>
                <a:schemeClr val="bg1"/>
              </a:solidFill>
            </a:endParaRPr>
          </a:p>
        </p:txBody>
      </p:sp>
      <p:sp>
        <p:nvSpPr>
          <p:cNvPr id="221" name="i$lîďê"/>
          <p:cNvSpPr/>
          <p:nvPr/>
        </p:nvSpPr>
        <p:spPr>
          <a:xfrm>
            <a:off x="2485983" y="2986584"/>
            <a:ext cx="8833046" cy="392877"/>
          </a:xfrm>
          <a:prstGeom prst="rect">
            <a:avLst/>
          </a:prstGeom>
          <a:noFill/>
          <a:ln>
            <a:noFill/>
          </a:ln>
        </p:spPr>
        <p:txBody>
          <a:bodyPr wrap="square" lIns="91440" tIns="45720" rIns="91440" bIns="45720" anchor="ctr" anchorCtr="0">
            <a:noAutofit/>
          </a:bodyPr>
          <a:lstStyle/>
          <a:p>
            <a:pPr>
              <a:defRPr/>
            </a:pPr>
            <a:endParaRPr lang="en-US" altLang="zh-CN" sz="2400" dirty="0"/>
          </a:p>
        </p:txBody>
      </p:sp>
      <p:sp>
        <p:nvSpPr>
          <p:cNvPr id="223" name="ïṧḷïḋè"/>
          <p:cNvSpPr/>
          <p:nvPr/>
        </p:nvSpPr>
        <p:spPr>
          <a:xfrm>
            <a:off x="3333043" y="4395569"/>
            <a:ext cx="6063290" cy="415102"/>
          </a:xfrm>
          <a:prstGeom prst="rect">
            <a:avLst/>
          </a:prstGeom>
          <a:noFill/>
          <a:ln>
            <a:noFill/>
          </a:ln>
        </p:spPr>
        <p:txBody>
          <a:bodyPr wrap="square" lIns="91440" tIns="45720" rIns="91440" bIns="45720" anchor="ctr" anchorCtr="0">
            <a:noAutofit/>
          </a:bodyPr>
          <a:lstStyle/>
          <a:p>
            <a:r>
              <a:rPr lang="zh-CN" altLang="en-US" sz="2400" dirty="0"/>
              <a:t>应用在于多道批处理、分时和实时</a:t>
            </a:r>
            <a:r>
              <a:rPr lang="en-US" altLang="zh-CN" sz="2400" dirty="0"/>
              <a:t>OS</a:t>
            </a:r>
            <a:endParaRPr lang="en-US" altLang="zh-CN" sz="2400" dirty="0"/>
          </a:p>
        </p:txBody>
      </p:sp>
      <p:sp>
        <p:nvSpPr>
          <p:cNvPr id="225" name="íšḻíḑê"/>
          <p:cNvSpPr/>
          <p:nvPr/>
        </p:nvSpPr>
        <p:spPr>
          <a:xfrm>
            <a:off x="1992735" y="1818167"/>
            <a:ext cx="7927445" cy="405747"/>
          </a:xfrm>
          <a:prstGeom prst="rect">
            <a:avLst/>
          </a:prstGeom>
          <a:noFill/>
          <a:ln>
            <a:noFill/>
          </a:ln>
        </p:spPr>
        <p:txBody>
          <a:bodyPr wrap="square" lIns="91440" tIns="45720" rIns="91440" bIns="45720" anchor="ctr" anchorCtr="0">
            <a:noAutofit/>
          </a:bodyPr>
          <a:lstStyle/>
          <a:p>
            <a:r>
              <a:rPr lang="zh-CN" altLang="en-US" sz="2400" dirty="0"/>
              <a:t>调度对象：</a:t>
            </a:r>
            <a:r>
              <a:rPr lang="zh-CN" altLang="en-US" sz="2400" dirty="0">
                <a:solidFill>
                  <a:srgbClr val="FF0000"/>
                </a:solidFill>
              </a:rPr>
              <a:t>进程</a:t>
            </a:r>
            <a:endParaRPr lang="en-US" altLang="zh-CN" sz="2400" dirty="0"/>
          </a:p>
        </p:txBody>
      </p:sp>
      <p:sp>
        <p:nvSpPr>
          <p:cNvPr id="226" name="îSļiḓè"/>
          <p:cNvSpPr/>
          <p:nvPr/>
        </p:nvSpPr>
        <p:spPr>
          <a:xfrm>
            <a:off x="1118978" y="168563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485983" y="42891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802481" y="297621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3" y="188177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992735" y="319822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705176" y="44786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9" name="文本框 18"/>
          <p:cNvSpPr txBox="1"/>
          <p:nvPr/>
        </p:nvSpPr>
        <p:spPr>
          <a:xfrm>
            <a:off x="2620602" y="3059311"/>
            <a:ext cx="8833045" cy="461665"/>
          </a:xfrm>
          <a:prstGeom prst="rect">
            <a:avLst/>
          </a:prstGeom>
          <a:noFill/>
        </p:spPr>
        <p:txBody>
          <a:bodyPr wrap="square">
            <a:spAutoFit/>
          </a:bodyPr>
          <a:lstStyle/>
          <a:p>
            <a:r>
              <a:rPr lang="zh-CN" altLang="en-US" sz="2400" dirty="0"/>
              <a:t>根据某种调度算法，决定就绪队列中的哪个进程应获得处理机</a:t>
            </a: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387" name="图片 3"/>
          <p:cNvPicPr>
            <a:picLocks noChangeAspect="1"/>
          </p:cNvPicPr>
          <p:nvPr/>
        </p:nvPicPr>
        <p:blipFill>
          <a:blip r:embed="rId1"/>
          <a:stretch>
            <a:fillRect/>
          </a:stretch>
        </p:blipFill>
        <p:spPr>
          <a:xfrm>
            <a:off x="1590675" y="1257300"/>
            <a:ext cx="8724900" cy="4953000"/>
          </a:xfrm>
          <a:prstGeom prst="rect">
            <a:avLst/>
          </a:prstGeom>
          <a:noFill/>
          <a:ln w="9525">
            <a:noFill/>
          </a:ln>
        </p:spPr>
      </p:pic>
      <p:sp>
        <p:nvSpPr>
          <p:cNvPr id="16388" name="Oval 7"/>
          <p:cNvSpPr/>
          <p:nvPr/>
        </p:nvSpPr>
        <p:spPr>
          <a:xfrm>
            <a:off x="3735388" y="1409700"/>
            <a:ext cx="1295400" cy="360363"/>
          </a:xfrm>
          <a:prstGeom prst="ellipse">
            <a:avLst/>
          </a:prstGeom>
          <a:noFill/>
          <a:ln w="2857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Tx/>
              <a:buNone/>
            </a:pPr>
            <a:endParaRPr lang="zh-CN" altLang="en-US" sz="1800" b="0" dirty="0"/>
          </a:p>
        </p:txBody>
      </p:sp>
      <p:sp>
        <p:nvSpPr>
          <p:cNvPr id="16389" name="Oval 8"/>
          <p:cNvSpPr/>
          <p:nvPr/>
        </p:nvSpPr>
        <p:spPr>
          <a:xfrm>
            <a:off x="7623175" y="1841500"/>
            <a:ext cx="1081088" cy="360363"/>
          </a:xfrm>
          <a:prstGeom prst="ellipse">
            <a:avLst/>
          </a:prstGeom>
          <a:noFill/>
          <a:ln w="2857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Tx/>
              <a:buNone/>
            </a:pPr>
            <a:endParaRPr lang="zh-CN" altLang="en-US" sz="1800" b="0" dirty="0"/>
          </a:p>
        </p:txBody>
      </p:sp>
      <p:sp>
        <p:nvSpPr>
          <p:cNvPr id="16390" name="Oval 10"/>
          <p:cNvSpPr/>
          <p:nvPr/>
        </p:nvSpPr>
        <p:spPr>
          <a:xfrm>
            <a:off x="4814888" y="2628900"/>
            <a:ext cx="1008062" cy="360363"/>
          </a:xfrm>
          <a:prstGeom prst="ellipse">
            <a:avLst/>
          </a:prstGeom>
          <a:noFill/>
          <a:ln w="2857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Tx/>
              <a:buNone/>
            </a:pPr>
            <a:endParaRPr lang="zh-CN" altLang="en-US" sz="1800" b="0" dirty="0"/>
          </a:p>
        </p:txBody>
      </p:sp>
      <p:sp>
        <p:nvSpPr>
          <p:cNvPr id="16391" name="Line 11"/>
          <p:cNvSpPr/>
          <p:nvPr/>
        </p:nvSpPr>
        <p:spPr>
          <a:xfrm>
            <a:off x="8272463" y="2778125"/>
            <a:ext cx="1079500" cy="647700"/>
          </a:xfrm>
          <a:prstGeom prst="line">
            <a:avLst/>
          </a:prstGeom>
          <a:ln w="28575" cap="flat" cmpd="sng">
            <a:solidFill>
              <a:schemeClr val="hlink"/>
            </a:solidFill>
            <a:prstDash val="dashDot"/>
            <a:headEnd type="stealth" w="lg" len="lg"/>
            <a:tailEnd type="none" w="med" len="med"/>
          </a:ln>
        </p:spPr>
      </p:sp>
      <p:sp>
        <p:nvSpPr>
          <p:cNvPr id="16392" name="Line 12"/>
          <p:cNvSpPr/>
          <p:nvPr/>
        </p:nvSpPr>
        <p:spPr>
          <a:xfrm flipH="1">
            <a:off x="8128000" y="4002088"/>
            <a:ext cx="1152525" cy="576262"/>
          </a:xfrm>
          <a:prstGeom prst="line">
            <a:avLst/>
          </a:prstGeom>
          <a:ln w="28575" cap="flat" cmpd="sng">
            <a:solidFill>
              <a:schemeClr val="hlink"/>
            </a:solidFill>
            <a:prstDash val="dashDot"/>
            <a:headEnd type="none" w="lg" len="lg"/>
            <a:tailEnd type="stealth" w="lg" len="lg"/>
          </a:ln>
        </p:spPr>
      </p:sp>
      <p:sp>
        <p:nvSpPr>
          <p:cNvPr id="16393" name="Text Box 13"/>
          <p:cNvSpPr txBox="1"/>
          <p:nvPr/>
        </p:nvSpPr>
        <p:spPr>
          <a:xfrm>
            <a:off x="9280525" y="3425825"/>
            <a:ext cx="6477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50000"/>
              </a:spcBef>
              <a:buClrTx/>
              <a:buSzTx/>
              <a:buFontTx/>
              <a:buNone/>
            </a:pPr>
            <a:r>
              <a:rPr lang="zh-CN" altLang="en-US" sz="1800" dirty="0"/>
              <a:t>中级调度</a:t>
            </a:r>
            <a:endParaRPr lang="zh-CN" altLang="en-US" sz="1800" dirty="0"/>
          </a:p>
        </p:txBody>
      </p:sp>
      <p:sp>
        <p:nvSpPr>
          <p:cNvPr id="16394" name="Oval 14"/>
          <p:cNvSpPr/>
          <p:nvPr/>
        </p:nvSpPr>
        <p:spPr>
          <a:xfrm>
            <a:off x="9229725" y="3390900"/>
            <a:ext cx="863600" cy="719138"/>
          </a:xfrm>
          <a:prstGeom prst="ellipse">
            <a:avLst/>
          </a:prstGeom>
          <a:noFill/>
          <a:ln w="2857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Tx/>
              <a:buNone/>
            </a:pPr>
            <a:endParaRPr lang="zh-CN" altLang="en-US" sz="1800" b="0" dirty="0"/>
          </a:p>
        </p:txBody>
      </p:sp>
      <p:sp>
        <p:nvSpPr>
          <p:cNvPr id="16386" name="标题 1"/>
          <p:cNvSpPr>
            <a:spLocks noGrp="1"/>
          </p:cNvSpPr>
          <p:nvPr>
            <p:ph type="title"/>
          </p:nvPr>
        </p:nvSpPr>
        <p:spPr>
          <a:xfrm>
            <a:off x="669925" y="316230"/>
            <a:ext cx="6675755" cy="712470"/>
          </a:xfrm>
        </p:spPr>
        <p:txBody>
          <a:bodyPr vert="horz" wrap="square" lIns="91440" tIns="45720" rIns="91440" bIns="45720" anchor="b" anchorCtr="0"/>
          <a:lstStyle/>
          <a:p>
            <a:r>
              <a:rPr lang="zh-CN" altLang="en-US" dirty="0"/>
              <a:t>三级调度队列图</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进程调度的任务和方式</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88925" y="1319182"/>
            <a:ext cx="10542572" cy="4650362"/>
            <a:chOff x="660400" y="1834087"/>
            <a:chExt cx="10542572" cy="4650362"/>
          </a:xfrm>
        </p:grpSpPr>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进程调度的任务</a:t>
                  </a:r>
                  <a:endParaRPr lang="en-US" altLang="zh-CN" sz="24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保存处理机的现场信息</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按某种算法选取进程</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把处理器分配给进程</a:t>
                  </a:r>
                  <a:endParaRPr lang="zh-CN" altLang="en-US"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10178415" cy="2232520"/>
              <a:chOff x="660400" y="1860585"/>
              <a:chExt cx="10178415" cy="2232520"/>
            </a:xfrm>
          </p:grpSpPr>
          <p:grpSp>
            <p:nvGrpSpPr>
              <p:cNvPr id="13" name="ïṧļïḓe"/>
              <p:cNvGrpSpPr/>
              <p:nvPr/>
            </p:nvGrpSpPr>
            <p:grpSpPr>
              <a:xfrm>
                <a:off x="1539875" y="1889655"/>
                <a:ext cx="9298940" cy="2203450"/>
                <a:chOff x="1603439" y="1889655"/>
                <a:chExt cx="11728293" cy="2203450"/>
              </a:xfrm>
            </p:grpSpPr>
            <p:sp>
              <p:nvSpPr>
                <p:cNvPr id="18" name="ïšļíďè"/>
                <p:cNvSpPr txBox="1"/>
                <p:nvPr/>
              </p:nvSpPr>
              <p:spPr>
                <a:xfrm>
                  <a:off x="1603439" y="1889655"/>
                  <a:ext cx="660107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进程调度机制</a:t>
                  </a:r>
                  <a:endParaRPr lang="zh-CN" altLang="en-US" sz="2400" dirty="0">
                    <a:solidFill>
                      <a:srgbClr val="FF0000"/>
                    </a:solidFill>
                  </a:endParaRPr>
                </a:p>
              </p:txBody>
            </p:sp>
            <p:sp>
              <p:nvSpPr>
                <p:cNvPr id="19" name="íşľíḑè"/>
                <p:cNvSpPr/>
                <p:nvPr/>
              </p:nvSpPr>
              <p:spPr bwMode="auto">
                <a:xfrm>
                  <a:off x="1619457" y="2384955"/>
                  <a:ext cx="1171227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r>
                    <a:rPr lang="zh-CN" altLang="en-US" sz="2400" dirty="0"/>
                    <a:t>排队器：用于将就绪进程插入相应的就绪队列，维护就绪队列。</a:t>
                  </a:r>
                  <a:endParaRPr lang="zh-CN" altLang="en-US" sz="2400" dirty="0"/>
                </a:p>
                <a:p>
                  <a:pPr marL="342900" lvl="1" indent="-342900">
                    <a:lnSpc>
                      <a:spcPct val="150000"/>
                    </a:lnSpc>
                    <a:buFont typeface="Wingdings" panose="05000000000000000000" pitchFamily="2" charset="2"/>
                    <a:buChar char="Ø"/>
                  </a:pPr>
                  <a:r>
                    <a:rPr lang="zh-CN" altLang="en-US" sz="2400" dirty="0"/>
                    <a:t>分派器：用于将选定的进程移出就绪队列</a:t>
                  </a:r>
                  <a:endParaRPr lang="zh-CN" altLang="en-US" sz="2400" dirty="0"/>
                </a:p>
                <a:p>
                  <a:pPr marL="342900" lvl="1" indent="-342900">
                    <a:lnSpc>
                      <a:spcPct val="150000"/>
                    </a:lnSpc>
                    <a:buFont typeface="Wingdings" panose="05000000000000000000" pitchFamily="2" charset="2"/>
                    <a:buChar char="Ø"/>
                  </a:pPr>
                  <a:r>
                    <a:rPr lang="zh-CN" altLang="en-US" sz="2400" dirty="0"/>
                    <a:t>上下文切换器：进行新旧进程之间的上下文切换</a:t>
                  </a:r>
                  <a:endParaRPr lang="zh-CN" altLang="en-US"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871897"/>
              <a:ext cx="105425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pic>
        <p:nvPicPr>
          <p:cNvPr id="27" name="图片 26"/>
          <p:cNvPicPr>
            <a:picLocks noChangeAspect="1"/>
          </p:cNvPicPr>
          <p:nvPr/>
        </p:nvPicPr>
        <p:blipFill>
          <a:blip r:embed="rId2"/>
          <a:stretch>
            <a:fillRect/>
          </a:stretch>
        </p:blipFill>
        <p:spPr>
          <a:xfrm>
            <a:off x="4867275" y="686435"/>
            <a:ext cx="7324090" cy="3061335"/>
          </a:xfrm>
          <a:prstGeom prst="rect">
            <a:avLst/>
          </a:prstGeom>
        </p:spPr>
      </p:pic>
      <p:sp>
        <p:nvSpPr>
          <p:cNvPr id="2" name="文本框 1"/>
          <p:cNvSpPr txBox="1"/>
          <p:nvPr/>
        </p:nvSpPr>
        <p:spPr>
          <a:xfrm>
            <a:off x="8224520" y="5503545"/>
            <a:ext cx="4064000" cy="368300"/>
          </a:xfrm>
          <a:prstGeom prst="rect">
            <a:avLst/>
          </a:prstGeom>
          <a:noFill/>
        </p:spPr>
        <p:txBody>
          <a:bodyPr wrap="square" rtlCol="0">
            <a:spAutoFit/>
          </a:bodyPr>
          <a:lstStyle/>
          <a:p>
            <a:r>
              <a:rPr lang="zh-CN" altLang="en-US"/>
              <a:t>进程切换程序负责。</a:t>
            </a:r>
            <a:endParaRPr lang="zh-CN" altLang="en-US"/>
          </a:p>
        </p:txBody>
      </p:sp>
      <p:sp>
        <p:nvSpPr>
          <p:cNvPr id="5" name="文本框 4"/>
          <p:cNvSpPr txBox="1"/>
          <p:nvPr/>
        </p:nvSpPr>
        <p:spPr>
          <a:xfrm>
            <a:off x="4308475" y="2397760"/>
            <a:ext cx="4064000" cy="368300"/>
          </a:xfrm>
          <a:prstGeom prst="rect">
            <a:avLst/>
          </a:prstGeom>
          <a:noFill/>
        </p:spPr>
        <p:txBody>
          <a:bodyPr wrap="square" rtlCol="0">
            <a:spAutoFit/>
          </a:bodyPr>
          <a:lstStyle/>
          <a:p>
            <a:r>
              <a:rPr lang="zh-CN" altLang="en-US"/>
              <a:t>进程调度程序负责</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进程调度的方式</a:t>
            </a:r>
            <a:endParaRPr lang="zh-CN" altLang="en-US" sz="2800" b="1" dirty="0">
              <a:solidFill>
                <a:schemeClr val="bg1"/>
              </a:solidFill>
            </a:endParaRPr>
          </a:p>
        </p:txBody>
      </p:sp>
      <p:sp>
        <p:nvSpPr>
          <p:cNvPr id="16" name="íSľïdé"/>
          <p:cNvSpPr/>
          <p:nvPr/>
        </p:nvSpPr>
        <p:spPr>
          <a:xfrm>
            <a:off x="1110649" y="128297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4849441" y="163801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1859404" y="998888"/>
            <a:ext cx="2808984" cy="1324398"/>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463550" y="1960245"/>
            <a:ext cx="3681730" cy="403923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solidFill>
                  <a:srgbClr val="FF0000"/>
                </a:solidFill>
              </a:rPr>
              <a:t>非抢占方式：</a:t>
            </a:r>
            <a:endParaRPr lang="en-US" altLang="zh-CN" sz="2200" dirty="0">
              <a:solidFill>
                <a:srgbClr val="FF0000"/>
              </a:solidFill>
            </a:endParaRPr>
          </a:p>
          <a:p>
            <a:pPr marL="0" indent="0">
              <a:lnSpc>
                <a:spcPct val="132000"/>
              </a:lnSpc>
              <a:spcBef>
                <a:spcPts val="580"/>
              </a:spcBef>
              <a:buNone/>
              <a:defRPr/>
            </a:pPr>
            <a:r>
              <a:rPr lang="zh-CN" altLang="en-US" sz="2200" dirty="0">
                <a:solidFill>
                  <a:schemeClr val="tx1">
                    <a:lumMod val="65000"/>
                    <a:lumOff val="35000"/>
                  </a:schemeClr>
                </a:solidFill>
              </a:rPr>
              <a:t>一旦把处理机分配给某进程后，便让该进程一直执行，直至该进程完成或发生某事件而被阻塞时，才再把处理机分配给其他进程，决不允许某进程抢占已经分配出去的处理机。</a:t>
            </a:r>
            <a:endParaRPr lang="zh-CN" altLang="en-US" sz="2200" dirty="0">
              <a:solidFill>
                <a:schemeClr val="tx1">
                  <a:lumMod val="65000"/>
                  <a:lumOff val="35000"/>
                </a:schemeClr>
              </a:solidFill>
            </a:endParaRPr>
          </a:p>
        </p:txBody>
      </p:sp>
      <p:sp>
        <p:nvSpPr>
          <p:cNvPr id="33" name="内容占位符 2"/>
          <p:cNvSpPr txBox="1"/>
          <p:nvPr/>
        </p:nvSpPr>
        <p:spPr>
          <a:xfrm>
            <a:off x="4473575" y="2237105"/>
            <a:ext cx="7435215" cy="403923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solidFill>
                  <a:srgbClr val="FF0000"/>
                </a:solidFill>
              </a:rPr>
              <a:t>抢占方式：</a:t>
            </a:r>
            <a:r>
              <a:rPr lang="zh-CN" altLang="en-US" sz="2200" dirty="0"/>
              <a:t>允许调度程序根据某种原则，去暂停某个正在执行的进程，将已分配给该进程的处理机重新分配给另一进程。</a:t>
            </a:r>
            <a:r>
              <a:rPr lang="en-US" altLang="zh-CN" sz="2200" dirty="0">
                <a:solidFill>
                  <a:srgbClr val="FF0000"/>
                </a:solidFill>
              </a:rPr>
              <a:t>(</a:t>
            </a:r>
            <a:r>
              <a:rPr lang="zh-CN" altLang="en-US" sz="2200" dirty="0">
                <a:solidFill>
                  <a:srgbClr val="FF0000"/>
                </a:solidFill>
              </a:rPr>
              <a:t>现代</a:t>
            </a:r>
            <a:r>
              <a:rPr lang="en-US" altLang="zh-CN" sz="2200" dirty="0">
                <a:solidFill>
                  <a:srgbClr val="FF0000"/>
                </a:solidFill>
              </a:rPr>
              <a:t>OS</a:t>
            </a:r>
            <a:r>
              <a:rPr lang="zh-CN" altLang="en-US" sz="2200" dirty="0">
                <a:solidFill>
                  <a:srgbClr val="FF0000"/>
                </a:solidFill>
              </a:rPr>
              <a:t>广泛采用</a:t>
            </a:r>
            <a:r>
              <a:rPr lang="en-US" altLang="zh-CN" sz="2200" dirty="0">
                <a:solidFill>
                  <a:srgbClr val="FF0000"/>
                </a:solidFill>
              </a:rPr>
              <a:t>)</a:t>
            </a:r>
            <a:endParaRPr lang="en-US" altLang="zh-CN" sz="22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优先权原则：允许优先权高的新到进程抢占当前进程的处理机</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短作业优先原则：短作业可以抢占当前较长作业的处理机</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时间片原则：各进程按时间片运行，当一个时间片用完后，便停止该进程的执行而重新进行调度</a:t>
            </a:r>
            <a:endParaRPr lang="zh-CN" altLang="en-US" sz="2000" dirty="0">
              <a:solidFill>
                <a:schemeClr val="tx1">
                  <a:lumMod val="65000"/>
                  <a:lumOff val="3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处理机调度算法的目标</a:t>
            </a:r>
            <a:endParaRPr lang="zh-CN" altLang="en-US" sz="2800" b="1" dirty="0">
              <a:solidFill>
                <a:schemeClr val="bg1"/>
              </a:solidFill>
            </a:endParaRPr>
          </a:p>
        </p:txBody>
      </p:sp>
      <p:pic>
        <p:nvPicPr>
          <p:cNvPr id="21" name="图片 20"/>
          <p:cNvPicPr>
            <a:picLocks noChangeAspect="1"/>
          </p:cNvPicPr>
          <p:nvPr/>
        </p:nvPicPr>
        <p:blipFill>
          <a:blip r:embed="rId1"/>
          <a:stretch>
            <a:fillRect/>
          </a:stretch>
        </p:blipFill>
        <p:spPr>
          <a:xfrm>
            <a:off x="3797389" y="5032408"/>
            <a:ext cx="7524273" cy="92172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23" name="iṡļiḓe"/>
          <p:cNvGrpSpPr/>
          <p:nvPr/>
        </p:nvGrpSpPr>
        <p:grpSpPr>
          <a:xfrm>
            <a:off x="721892" y="1167531"/>
            <a:ext cx="8924901" cy="2333733"/>
            <a:chOff x="660400" y="1787149"/>
            <a:chExt cx="8924901" cy="2333733"/>
          </a:xfrm>
        </p:grpSpPr>
        <p:grpSp>
          <p:nvGrpSpPr>
            <p:cNvPr id="25" name="iSḻíḓè"/>
            <p:cNvGrpSpPr/>
            <p:nvPr/>
          </p:nvGrpSpPr>
          <p:grpSpPr>
            <a:xfrm>
              <a:off x="1296567" y="1835355"/>
              <a:ext cx="8288734" cy="2285527"/>
              <a:chOff x="1296567" y="1835355"/>
              <a:chExt cx="10454169" cy="2285527"/>
            </a:xfrm>
          </p:grpSpPr>
          <p:sp>
            <p:nvSpPr>
              <p:cNvPr id="33" name="îṧľîḋé"/>
              <p:cNvSpPr txBox="1"/>
              <p:nvPr/>
            </p:nvSpPr>
            <p:spPr>
              <a:xfrm>
                <a:off x="1296568" y="1835355"/>
                <a:ext cx="249535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共同目标：</a:t>
                </a:r>
                <a:endParaRPr lang="zh-CN" altLang="en-US" sz="2400" dirty="0">
                  <a:solidFill>
                    <a:srgbClr val="FF0000"/>
                  </a:solidFill>
                </a:endParaRPr>
              </a:p>
            </p:txBody>
          </p:sp>
          <p:sp>
            <p:nvSpPr>
              <p:cNvPr id="37" name="íşļîḓé"/>
              <p:cNvSpPr/>
              <p:nvPr/>
            </p:nvSpPr>
            <p:spPr bwMode="auto">
              <a:xfrm>
                <a:off x="1296567" y="2279077"/>
                <a:ext cx="3095536"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资源利用率</a:t>
                </a:r>
                <a:endParaRPr lang="zh-CN" altLang="en-US" sz="2200" dirty="0"/>
              </a:p>
            </p:txBody>
          </p:sp>
          <p:sp>
            <p:nvSpPr>
              <p:cNvPr id="59" name="íşļîḓé"/>
              <p:cNvSpPr/>
              <p:nvPr/>
            </p:nvSpPr>
            <p:spPr bwMode="auto">
              <a:xfrm>
                <a:off x="4048290" y="2261706"/>
                <a:ext cx="3095536"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公平性</a:t>
                </a:r>
                <a:endParaRPr lang="zh-CN" altLang="en-US" sz="2200" dirty="0"/>
              </a:p>
            </p:txBody>
          </p:sp>
          <p:sp>
            <p:nvSpPr>
              <p:cNvPr id="60" name="íşļîḓé"/>
              <p:cNvSpPr/>
              <p:nvPr/>
            </p:nvSpPr>
            <p:spPr bwMode="auto">
              <a:xfrm>
                <a:off x="6334524" y="2271218"/>
                <a:ext cx="30955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平衡性</a:t>
                </a:r>
                <a:endParaRPr lang="zh-CN" altLang="en-US" sz="2200" dirty="0"/>
              </a:p>
            </p:txBody>
          </p:sp>
          <p:sp>
            <p:nvSpPr>
              <p:cNvPr id="61" name="íşļîḓé"/>
              <p:cNvSpPr/>
              <p:nvPr/>
            </p:nvSpPr>
            <p:spPr bwMode="auto">
              <a:xfrm>
                <a:off x="8655200" y="2286243"/>
                <a:ext cx="30955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策略强制执行</a:t>
                </a:r>
                <a:endParaRPr lang="zh-CN" altLang="en-US" sz="2200" dirty="0"/>
              </a:p>
            </p:txBody>
          </p:sp>
        </p:grpSp>
        <p:grpSp>
          <p:nvGrpSpPr>
            <p:cNvPr id="30" name="ïS1íḋé"/>
            <p:cNvGrpSpPr/>
            <p:nvPr/>
          </p:nvGrpSpPr>
          <p:grpSpPr>
            <a:xfrm>
              <a:off x="660400" y="1787149"/>
              <a:ext cx="497734" cy="497734"/>
              <a:chOff x="660400" y="1787149"/>
              <a:chExt cx="497734" cy="497734"/>
            </a:xfrm>
          </p:grpSpPr>
          <p:sp>
            <p:nvSpPr>
              <p:cNvPr id="3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8" name="iṡļiḓe"/>
          <p:cNvGrpSpPr/>
          <p:nvPr/>
        </p:nvGrpSpPr>
        <p:grpSpPr>
          <a:xfrm>
            <a:off x="1705320" y="2529970"/>
            <a:ext cx="7914168" cy="1188667"/>
            <a:chOff x="660400" y="1787149"/>
            <a:chExt cx="7914168" cy="1188667"/>
          </a:xfrm>
        </p:grpSpPr>
        <p:grpSp>
          <p:nvGrpSpPr>
            <p:cNvPr id="39" name="iSḻíḓè"/>
            <p:cNvGrpSpPr/>
            <p:nvPr/>
          </p:nvGrpSpPr>
          <p:grpSpPr>
            <a:xfrm>
              <a:off x="1296567" y="1835355"/>
              <a:ext cx="7278001" cy="1140461"/>
              <a:chOff x="1296567" y="1835355"/>
              <a:chExt cx="9179382" cy="1140461"/>
            </a:xfrm>
          </p:grpSpPr>
          <p:sp>
            <p:nvSpPr>
              <p:cNvPr id="43" name="îṧľîḋé"/>
              <p:cNvSpPr txBox="1"/>
              <p:nvPr/>
            </p:nvSpPr>
            <p:spPr>
              <a:xfrm>
                <a:off x="1296567" y="1835355"/>
                <a:ext cx="351657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批处理系统的目标：</a:t>
                </a:r>
                <a:endParaRPr lang="zh-CN" altLang="en-US" sz="2400" dirty="0"/>
              </a:p>
            </p:txBody>
          </p:sp>
          <p:sp>
            <p:nvSpPr>
              <p:cNvPr id="44" name="íşļîḓé"/>
              <p:cNvSpPr/>
              <p:nvPr/>
            </p:nvSpPr>
            <p:spPr bwMode="auto">
              <a:xfrm>
                <a:off x="1296567" y="2279078"/>
                <a:ext cx="9179382" cy="69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平均周转时间短、系统吞吐量高、处理机利用率高</a:t>
                </a:r>
                <a:endParaRPr lang="zh-CN" altLang="en-US" sz="2200" dirty="0"/>
              </a:p>
            </p:txBody>
          </p:sp>
        </p:grpSp>
        <p:grpSp>
          <p:nvGrpSpPr>
            <p:cNvPr id="40" name="ïS1íḋé"/>
            <p:cNvGrpSpPr/>
            <p:nvPr/>
          </p:nvGrpSpPr>
          <p:grpSpPr>
            <a:xfrm>
              <a:off x="660400" y="1787149"/>
              <a:ext cx="497734" cy="497734"/>
              <a:chOff x="660400" y="1787149"/>
              <a:chExt cx="497734" cy="497734"/>
            </a:xfrm>
          </p:grpSpPr>
          <p:sp>
            <p:nvSpPr>
              <p:cNvPr id="4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45" name="iṡļiḓe"/>
          <p:cNvGrpSpPr/>
          <p:nvPr/>
        </p:nvGrpSpPr>
        <p:grpSpPr>
          <a:xfrm>
            <a:off x="2865786" y="3772937"/>
            <a:ext cx="6589110" cy="1125831"/>
            <a:chOff x="660400" y="1787149"/>
            <a:chExt cx="6589110" cy="1125831"/>
          </a:xfrm>
        </p:grpSpPr>
        <p:grpSp>
          <p:nvGrpSpPr>
            <p:cNvPr id="46" name="iSḻíḓè"/>
            <p:cNvGrpSpPr/>
            <p:nvPr/>
          </p:nvGrpSpPr>
          <p:grpSpPr>
            <a:xfrm>
              <a:off x="1296567" y="1835355"/>
              <a:ext cx="5952943" cy="1077625"/>
              <a:chOff x="1296567" y="1835355"/>
              <a:chExt cx="7508152" cy="1077625"/>
            </a:xfrm>
          </p:grpSpPr>
          <p:sp>
            <p:nvSpPr>
              <p:cNvPr id="50" name="îṧľîḋé"/>
              <p:cNvSpPr txBox="1"/>
              <p:nvPr/>
            </p:nvSpPr>
            <p:spPr>
              <a:xfrm>
                <a:off x="1296567" y="1835355"/>
                <a:ext cx="351657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分时系统的目标：</a:t>
                </a:r>
                <a:endParaRPr lang="zh-CN" altLang="en-US" sz="2400" dirty="0"/>
              </a:p>
            </p:txBody>
          </p:sp>
          <p:sp>
            <p:nvSpPr>
              <p:cNvPr id="51" name="íşļîḓé"/>
              <p:cNvSpPr/>
              <p:nvPr/>
            </p:nvSpPr>
            <p:spPr bwMode="auto">
              <a:xfrm>
                <a:off x="1296567" y="2279078"/>
                <a:ext cx="7508152" cy="633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响应时间快、均衡性</a:t>
                </a:r>
                <a:endParaRPr lang="zh-CN" altLang="en-US" sz="2200" dirty="0"/>
              </a:p>
            </p:txBody>
          </p:sp>
        </p:grpSp>
        <p:grpSp>
          <p:nvGrpSpPr>
            <p:cNvPr id="47" name="ïS1íḋé"/>
            <p:cNvGrpSpPr/>
            <p:nvPr/>
          </p:nvGrpSpPr>
          <p:grpSpPr>
            <a:xfrm>
              <a:off x="660400" y="1787149"/>
              <a:ext cx="497734" cy="497734"/>
              <a:chOff x="660400" y="1787149"/>
              <a:chExt cx="497734" cy="497734"/>
            </a:xfrm>
          </p:grpSpPr>
          <p:sp>
            <p:nvSpPr>
              <p:cNvPr id="4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2" name="iṡļiḓe"/>
          <p:cNvGrpSpPr/>
          <p:nvPr/>
        </p:nvGrpSpPr>
        <p:grpSpPr>
          <a:xfrm>
            <a:off x="6923359" y="3767672"/>
            <a:ext cx="4566813" cy="1125831"/>
            <a:chOff x="660400" y="1787149"/>
            <a:chExt cx="4566813" cy="1125831"/>
          </a:xfrm>
        </p:grpSpPr>
        <p:grpSp>
          <p:nvGrpSpPr>
            <p:cNvPr id="53" name="iSḻíḓè"/>
            <p:cNvGrpSpPr/>
            <p:nvPr/>
          </p:nvGrpSpPr>
          <p:grpSpPr>
            <a:xfrm>
              <a:off x="1296567" y="1835355"/>
              <a:ext cx="3930646" cy="1077625"/>
              <a:chOff x="1296567" y="1835355"/>
              <a:chExt cx="4957529" cy="1077625"/>
            </a:xfrm>
          </p:grpSpPr>
          <p:sp>
            <p:nvSpPr>
              <p:cNvPr id="57" name="îṧľîḋé"/>
              <p:cNvSpPr txBox="1"/>
              <p:nvPr/>
            </p:nvSpPr>
            <p:spPr>
              <a:xfrm>
                <a:off x="1296567" y="1835355"/>
                <a:ext cx="351657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实时系统的目标：</a:t>
                </a:r>
                <a:endParaRPr lang="zh-CN" altLang="en-US" sz="2400" dirty="0"/>
              </a:p>
            </p:txBody>
          </p:sp>
          <p:sp>
            <p:nvSpPr>
              <p:cNvPr id="58" name="íşļîḓé"/>
              <p:cNvSpPr/>
              <p:nvPr/>
            </p:nvSpPr>
            <p:spPr bwMode="auto">
              <a:xfrm>
                <a:off x="1296567" y="2279078"/>
                <a:ext cx="4957529" cy="633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截止时间的保证、可预测性</a:t>
                </a:r>
                <a:endParaRPr lang="zh-CN" altLang="en-US" sz="2200" dirty="0"/>
              </a:p>
            </p:txBody>
          </p:sp>
        </p:grpSp>
        <p:grpSp>
          <p:nvGrpSpPr>
            <p:cNvPr id="54" name="ïS1íḋé"/>
            <p:cNvGrpSpPr/>
            <p:nvPr/>
          </p:nvGrpSpPr>
          <p:grpSpPr>
            <a:xfrm>
              <a:off x="660400" y="1787149"/>
              <a:ext cx="497734" cy="497734"/>
              <a:chOff x="660400" y="1787149"/>
              <a:chExt cx="497734" cy="497734"/>
            </a:xfrm>
          </p:grpSpPr>
          <p:sp>
            <p:nvSpPr>
              <p:cNvPr id="55"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56"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评价指标</a:t>
            </a:r>
            <a:endParaRPr lang="zh-CN" altLang="en-US" sz="2800" b="1" dirty="0">
              <a:solidFill>
                <a:schemeClr val="bg1"/>
              </a:solidFill>
            </a:endParaRPr>
          </a:p>
        </p:txBody>
      </p:sp>
      <p:sp>
        <p:nvSpPr>
          <p:cNvPr id="23" name="íšḻîḋè"/>
          <p:cNvSpPr/>
          <p:nvPr/>
        </p:nvSpPr>
        <p:spPr>
          <a:xfrm>
            <a:off x="1746843" y="4377656"/>
            <a:ext cx="1021137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从用户通过键盘提交请求开始，直到系统首次显示出处理结果为止的一段时间。</a:t>
            </a:r>
            <a:endParaRPr lang="zh-CN" altLang="en-US" sz="2200" dirty="0"/>
          </a:p>
        </p:txBody>
      </p:sp>
      <p:sp>
        <p:nvSpPr>
          <p:cNvPr id="25" name="i$lîďê"/>
          <p:cNvSpPr/>
          <p:nvPr/>
        </p:nvSpPr>
        <p:spPr>
          <a:xfrm>
            <a:off x="1802479" y="3847487"/>
            <a:ext cx="3696051" cy="392877"/>
          </a:xfrm>
          <a:prstGeom prst="rect">
            <a:avLst/>
          </a:prstGeom>
          <a:noFill/>
          <a:ln>
            <a:noFill/>
          </a:ln>
        </p:spPr>
        <p:txBody>
          <a:bodyPr wrap="square" lIns="91440" tIns="45720" rIns="91440" bIns="45720" anchor="ctr" anchorCtr="0">
            <a:noAutofit/>
          </a:bodyPr>
          <a:lstStyle/>
          <a:p>
            <a:r>
              <a:rPr lang="zh-CN" altLang="en-US" sz="2400" dirty="0"/>
              <a:t>响应时间：</a:t>
            </a:r>
            <a:endParaRPr lang="zh-CN" altLang="en-US" sz="2400" dirty="0"/>
          </a:p>
        </p:txBody>
      </p:sp>
      <p:sp>
        <p:nvSpPr>
          <p:cNvPr id="30" name="î$ļíḋè"/>
          <p:cNvSpPr/>
          <p:nvPr/>
        </p:nvSpPr>
        <p:spPr>
          <a:xfrm>
            <a:off x="1802481" y="5689101"/>
            <a:ext cx="6826614"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进程在就绪队列中等待调度的所有时间之和。</a:t>
            </a:r>
            <a:endParaRPr lang="zh-CN" altLang="en-US" sz="2200" dirty="0"/>
          </a:p>
        </p:txBody>
      </p:sp>
      <p:sp>
        <p:nvSpPr>
          <p:cNvPr id="31" name="ïṧḷïḋè"/>
          <p:cNvSpPr/>
          <p:nvPr/>
        </p:nvSpPr>
        <p:spPr>
          <a:xfrm>
            <a:off x="1802481" y="5176326"/>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等待时间（进程调度）：</a:t>
            </a:r>
            <a:endParaRPr lang="zh-CN" altLang="en-US" sz="2400" dirty="0">
              <a:solidFill>
                <a:srgbClr val="0000FF"/>
              </a:solidFill>
            </a:endParaRPr>
          </a:p>
        </p:txBody>
      </p:sp>
      <p:sp>
        <p:nvSpPr>
          <p:cNvPr id="32" name="îs1iďé"/>
          <p:cNvSpPr/>
          <p:nvPr/>
        </p:nvSpPr>
        <p:spPr>
          <a:xfrm>
            <a:off x="1821537" y="1830118"/>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从作业提交给系统开始，到作业完成为止的这段时间间隔。</a:t>
            </a:r>
            <a:endParaRPr lang="zh-CN" altLang="en-US" sz="2200" dirty="0"/>
          </a:p>
          <a:p>
            <a:pPr marL="342900" indent="-342900">
              <a:lnSpc>
                <a:spcPct val="120000"/>
              </a:lnSpc>
              <a:spcBef>
                <a:spcPts val="400"/>
              </a:spcBef>
              <a:buClr>
                <a:srgbClr val="FF0000"/>
              </a:buClr>
              <a:buFont typeface="Wingdings" panose="05000000000000000000" pitchFamily="2" charset="2"/>
              <a:buChar char="Ø"/>
            </a:pPr>
            <a:r>
              <a:rPr lang="zh-CN" altLang="en-US" sz="2200" dirty="0">
                <a:solidFill>
                  <a:srgbClr val="FF0000"/>
                </a:solidFill>
              </a:rPr>
              <a:t>平均周转时间</a:t>
            </a:r>
            <a:endParaRPr lang="zh-CN" altLang="en-US" sz="2200" dirty="0">
              <a:solidFill>
                <a:srgbClr val="FF0000"/>
              </a:solidFill>
            </a:endParaRPr>
          </a:p>
          <a:p>
            <a:pPr marL="342900" indent="-342900">
              <a:lnSpc>
                <a:spcPct val="120000"/>
              </a:lnSpc>
              <a:spcBef>
                <a:spcPts val="400"/>
              </a:spcBef>
              <a:buClr>
                <a:srgbClr val="FF0000"/>
              </a:buClr>
              <a:buFont typeface="Wingdings" panose="05000000000000000000" pitchFamily="2" charset="2"/>
              <a:buChar char="Ø"/>
            </a:pPr>
            <a:r>
              <a:rPr lang="zh-CN" altLang="en-US" sz="2200" dirty="0">
                <a:solidFill>
                  <a:srgbClr val="FF0000"/>
                </a:solidFill>
              </a:rPr>
              <a:t>带权周转时间：</a:t>
            </a:r>
            <a:r>
              <a:rPr lang="zh-CN" altLang="en-US" sz="2200" dirty="0"/>
              <a:t>权值为作业周转时间</a:t>
            </a:r>
            <a:r>
              <a:rPr lang="en-US" altLang="zh-CN" sz="2200" dirty="0"/>
              <a:t>T</a:t>
            </a:r>
            <a:r>
              <a:rPr lang="zh-CN" altLang="en-US" sz="2200" dirty="0"/>
              <a:t>与系统为之服务时间</a:t>
            </a:r>
            <a:r>
              <a:rPr lang="en-US" altLang="zh-CN" sz="2200" dirty="0"/>
              <a:t>TS</a:t>
            </a:r>
            <a:r>
              <a:rPr lang="zh-CN" altLang="en-US" sz="2200" dirty="0"/>
              <a:t>之比。</a:t>
            </a:r>
            <a:endParaRPr lang="zh-CN" altLang="en-US" sz="2200" dirty="0"/>
          </a:p>
          <a:p>
            <a:pPr marL="342900" indent="-342900">
              <a:lnSpc>
                <a:spcPct val="120000"/>
              </a:lnSpc>
              <a:spcBef>
                <a:spcPts val="400"/>
              </a:spcBef>
              <a:buClr>
                <a:srgbClr val="FF0000"/>
              </a:buClr>
              <a:buFont typeface="Wingdings" panose="05000000000000000000" pitchFamily="2" charset="2"/>
              <a:buChar char="Ø"/>
            </a:pPr>
            <a:r>
              <a:rPr lang="zh-CN" altLang="en-US" sz="2200" dirty="0"/>
              <a:t>平均带权周转时间</a:t>
            </a:r>
            <a:endParaRPr lang="zh-CN" altLang="en-US" sz="2200" dirty="0"/>
          </a:p>
        </p:txBody>
      </p:sp>
      <p:sp>
        <p:nvSpPr>
          <p:cNvPr id="33"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t>周转时间：</a:t>
            </a:r>
            <a:endParaRPr lang="zh-CN" altLang="en-US" sz="2400" dirty="0"/>
          </a:p>
        </p:txBody>
      </p:sp>
      <p:sp>
        <p:nvSpPr>
          <p:cNvPr id="37"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8" name="íṥḻîḓe"/>
          <p:cNvSpPr/>
          <p:nvPr/>
        </p:nvSpPr>
        <p:spPr>
          <a:xfrm>
            <a:off x="1118977" y="509372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118977" y="374696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1" name="íSlíḋe"/>
          <p:cNvSpPr/>
          <p:nvPr/>
        </p:nvSpPr>
        <p:spPr>
          <a:xfrm>
            <a:off x="1309231" y="396897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ïśḷïḓe"/>
          <p:cNvSpPr/>
          <p:nvPr/>
        </p:nvSpPr>
        <p:spPr>
          <a:xfrm>
            <a:off x="1338170" y="5283184"/>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grpSp>
        <p:nvGrpSpPr>
          <p:cNvPr id="10" name="组合 9"/>
          <p:cNvGrpSpPr/>
          <p:nvPr/>
        </p:nvGrpSpPr>
        <p:grpSpPr>
          <a:xfrm>
            <a:off x="4021584" y="1038358"/>
            <a:ext cx="4003830" cy="1509533"/>
            <a:chOff x="4021584" y="1038358"/>
            <a:chExt cx="4003830" cy="1509533"/>
          </a:xfrm>
        </p:grpSpPr>
        <p:cxnSp>
          <p:nvCxnSpPr>
            <p:cNvPr id="4" name="连接符: 肘形 3"/>
            <p:cNvCxnSpPr/>
            <p:nvPr/>
          </p:nvCxnSpPr>
          <p:spPr>
            <a:xfrm flipV="1">
              <a:off x="4021584" y="1544132"/>
              <a:ext cx="1997476" cy="1003759"/>
            </a:xfrm>
            <a:prstGeom prst="bentConnector3">
              <a:avLst>
                <a:gd name="adj1" fmla="val 59333"/>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4021455" y="2991485"/>
            <a:ext cx="2005965" cy="807720"/>
            <a:chOff x="4021455" y="2991485"/>
            <a:chExt cx="2005965" cy="807720"/>
          </a:xfrm>
        </p:grpSpPr>
        <p:cxnSp>
          <p:nvCxnSpPr>
            <p:cNvPr id="51" name="连接符: 肘形 50"/>
            <p:cNvCxnSpPr/>
            <p:nvPr/>
          </p:nvCxnSpPr>
          <p:spPr>
            <a:xfrm>
              <a:off x="4021455" y="2991485"/>
              <a:ext cx="2005965" cy="807720"/>
            </a:xfrm>
            <a:prstGeom prst="bentConnector3">
              <a:avLst>
                <a:gd name="adj1" fmla="val 50009"/>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7410" name="Picture 18"/>
          <p:cNvPicPr>
            <a:picLocks noChangeAspect="1"/>
          </p:cNvPicPr>
          <p:nvPr/>
        </p:nvPicPr>
        <p:blipFill>
          <a:blip r:embed="rId1"/>
          <a:stretch>
            <a:fillRect/>
          </a:stretch>
        </p:blipFill>
        <p:spPr>
          <a:xfrm>
            <a:off x="6111875" y="1000125"/>
            <a:ext cx="1647825" cy="976313"/>
          </a:xfrm>
          <a:prstGeom prst="rect">
            <a:avLst/>
          </a:prstGeom>
          <a:noFill/>
          <a:ln w="9525">
            <a:noFill/>
          </a:ln>
        </p:spPr>
      </p:pic>
      <p:pic>
        <p:nvPicPr>
          <p:cNvPr id="17426" name="Picture 19"/>
          <p:cNvPicPr>
            <a:picLocks noChangeAspect="1"/>
          </p:cNvPicPr>
          <p:nvPr/>
        </p:nvPicPr>
        <p:blipFill>
          <a:blip r:embed="rId2"/>
          <a:stretch>
            <a:fillRect/>
          </a:stretch>
        </p:blipFill>
        <p:spPr>
          <a:xfrm>
            <a:off x="6111875" y="3192463"/>
            <a:ext cx="1917700" cy="1203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b="1" dirty="0">
                <a:solidFill>
                  <a:srgbClr val="0000FF"/>
                </a:solidFill>
                <a:latin typeface="+mj-ea"/>
              </a:rPr>
              <a:t>3.2 </a:t>
            </a:r>
            <a:r>
              <a:rPr lang="zh-CN" altLang="en-US" sz="2400" b="1" dirty="0">
                <a:solidFill>
                  <a:srgbClr val="0000FF"/>
                </a:solidFill>
                <a:latin typeface="+mj-ea"/>
              </a:rPr>
              <a:t>调度算法</a:t>
            </a:r>
            <a:endParaRPr lang="en-US" altLang="zh-CN" sz="2400" b="1" dirty="0">
              <a:solidFill>
                <a:srgbClr val="0000FF"/>
              </a:solidFill>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作业调度算法</a:t>
            </a:r>
            <a:endParaRPr lang="zh-CN" altLang="en-US" sz="2800" b="1" dirty="0">
              <a:solidFill>
                <a:schemeClr val="bg1"/>
              </a:solidFill>
            </a:endParaRPr>
          </a:p>
        </p:txBody>
      </p:sp>
      <p:grpSp>
        <p:nvGrpSpPr>
          <p:cNvPr id="1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197344"/>
            <a:ext cx="10984047" cy="3818454"/>
            <a:chOff x="673100" y="1929384"/>
            <a:chExt cx="10984047" cy="3818454"/>
          </a:xfrm>
        </p:grpSpPr>
        <p:sp>
          <p:nvSpPr>
            <p:cNvPr id="12"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8" name="isľîdê"/>
            <p:cNvSpPr txBox="1"/>
            <p:nvPr>
              <p:custDataLst>
                <p:tags r:id="rId7"/>
              </p:custDataLst>
            </p:nvPr>
          </p:nvSpPr>
          <p:spPr>
            <a:xfrm>
              <a:off x="709542" y="4286122"/>
              <a:ext cx="2533740" cy="982407"/>
            </a:xfrm>
            <a:prstGeom prst="rect">
              <a:avLst/>
            </a:prstGeom>
            <a:noFill/>
            <a:ln>
              <a:noFill/>
            </a:ln>
          </p:spPr>
          <p:txBody>
            <a:bodyPr wrap="square" lIns="91440" tIns="45720" rIns="91440" bIns="45720" anchor="t" anchorCtr="0">
              <a:noAutofit/>
            </a:bodyPr>
            <a:lstStyle/>
            <a:p>
              <a:pPr marL="342900" lvl="1" indent="-342900">
                <a:lnSpc>
                  <a:spcPct val="120000"/>
                </a:lnSpc>
                <a:buClr>
                  <a:srgbClr val="FFC000"/>
                </a:buClr>
                <a:buFont typeface="Wingdings" panose="05000000000000000000" pitchFamily="2" charset="2"/>
                <a:buChar char="Ø"/>
              </a:pPr>
              <a:r>
                <a:rPr lang="zh-CN" altLang="en-US" sz="2400" dirty="0"/>
                <a:t>先来先服务调度算法</a:t>
              </a:r>
              <a:r>
                <a:rPr lang="en-US" altLang="zh-CN" sz="2400" dirty="0"/>
                <a:t>(FCFS)</a:t>
              </a:r>
              <a:endParaRPr lang="en-US" altLang="zh-CN" sz="2400" dirty="0"/>
            </a:p>
          </p:txBody>
        </p:sp>
        <p:sp>
          <p:nvSpPr>
            <p:cNvPr id="26" name="îṣḻidé"/>
            <p:cNvSpPr txBox="1"/>
            <p:nvPr>
              <p:custDataLst>
                <p:tags r:id="rId8"/>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27" name="ïŝ1ïḋè"/>
            <p:cNvSpPr txBox="1"/>
            <p:nvPr>
              <p:custDataLst>
                <p:tags r:id="rId9"/>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28" name="í$lîdé"/>
            <p:cNvSpPr txBox="1"/>
            <p:nvPr>
              <p:custDataLst>
                <p:tags r:id="rId10"/>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29" name="išḻïďè"/>
            <p:cNvSpPr txBox="1"/>
            <p:nvPr>
              <p:custDataLst>
                <p:tags r:id="rId11"/>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34" name="isľîdê"/>
            <p:cNvSpPr txBox="1"/>
            <p:nvPr>
              <p:custDataLst>
                <p:tags r:id="rId12"/>
              </p:custDataLst>
            </p:nvPr>
          </p:nvSpPr>
          <p:spPr>
            <a:xfrm>
              <a:off x="3243282" y="4300308"/>
              <a:ext cx="2769797" cy="982407"/>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400" dirty="0"/>
                <a:t>短作业优先调度算法</a:t>
              </a:r>
              <a:r>
                <a:rPr lang="en-US" altLang="zh-CN" sz="2400" dirty="0"/>
                <a:t>(SJF)</a:t>
              </a:r>
              <a:endParaRPr lang="en-US" altLang="zh-CN" sz="2400" dirty="0"/>
            </a:p>
          </p:txBody>
        </p:sp>
        <p:sp>
          <p:nvSpPr>
            <p:cNvPr id="35" name="isľîdê"/>
            <p:cNvSpPr txBox="1"/>
            <p:nvPr>
              <p:custDataLst>
                <p:tags r:id="rId13"/>
              </p:custDataLst>
            </p:nvPr>
          </p:nvSpPr>
          <p:spPr>
            <a:xfrm>
              <a:off x="6165124" y="4300308"/>
              <a:ext cx="2729500" cy="503359"/>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400" dirty="0"/>
                <a:t>优先级调度算法</a:t>
              </a:r>
              <a:r>
                <a:rPr lang="en-US" altLang="zh-CN" sz="2400" dirty="0"/>
                <a:t>(PR)=</a:t>
              </a:r>
              <a:r>
                <a:rPr lang="en-US" altLang="zh-CN" sz="2400" dirty="0">
                  <a:solidFill>
                    <a:srgbClr val="FF0000"/>
                  </a:solidFill>
                </a:rPr>
                <a:t>pr</a:t>
              </a:r>
              <a:r>
                <a:rPr lang="en-US" altLang="zh-CN" sz="2400" dirty="0"/>
                <a:t>iority scheduling algorithm</a:t>
              </a:r>
              <a:endParaRPr lang="en-US" altLang="zh-CN" sz="2400" dirty="0"/>
            </a:p>
          </p:txBody>
        </p:sp>
        <p:sp>
          <p:nvSpPr>
            <p:cNvPr id="36" name="isľîdê"/>
            <p:cNvSpPr txBox="1"/>
            <p:nvPr>
              <p:custDataLst>
                <p:tags r:id="rId14"/>
              </p:custDataLst>
            </p:nvPr>
          </p:nvSpPr>
          <p:spPr>
            <a:xfrm>
              <a:off x="9123407" y="4286122"/>
              <a:ext cx="2533740" cy="1461716"/>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400" dirty="0"/>
                <a:t>高响应比优先调度算法</a:t>
              </a:r>
              <a:r>
                <a:rPr lang="en-US" altLang="zh-CN" sz="2400" dirty="0"/>
                <a:t>(HRRN)</a:t>
              </a:r>
              <a:endParaRPr lang="en-US" altLang="zh-CN" sz="2400" dirty="0"/>
            </a:p>
          </p:txBody>
        </p:sp>
      </p:grpSp>
      <p:sp>
        <p:nvSpPr>
          <p:cNvPr id="25" name="isľîdê"/>
          <p:cNvSpPr txBox="1"/>
          <p:nvPr/>
        </p:nvSpPr>
        <p:spPr>
          <a:xfrm>
            <a:off x="953738" y="5247914"/>
            <a:ext cx="10416421" cy="665679"/>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en-US" altLang="zh-CN" sz="2400" dirty="0">
                <a:solidFill>
                  <a:schemeClr val="tx1">
                    <a:lumMod val="65000"/>
                    <a:lumOff val="35000"/>
                  </a:schemeClr>
                </a:solidFill>
              </a:rPr>
              <a:t>FCFS</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SJF</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PR</a:t>
            </a:r>
            <a:r>
              <a:rPr lang="zh-CN" altLang="en-US" sz="2400" dirty="0">
                <a:solidFill>
                  <a:schemeClr val="tx1">
                    <a:lumMod val="65000"/>
                    <a:lumOff val="35000"/>
                  </a:schemeClr>
                </a:solidFill>
              </a:rPr>
              <a:t>既可用于作业调度，也可用于进程调度</a:t>
            </a:r>
            <a:endParaRPr lang="zh-CN" altLang="en-US" sz="2400" dirty="0">
              <a:solidFill>
                <a:schemeClr val="tx1">
                  <a:lumMod val="65000"/>
                  <a:lumOff val="35000"/>
                </a:schemeClr>
              </a:solidFill>
            </a:endParaRPr>
          </a:p>
        </p:txBody>
      </p:sp>
      <p:cxnSp>
        <p:nvCxnSpPr>
          <p:cNvPr id="3" name="直接连接符 2"/>
          <p:cNvCxnSpPr/>
          <p:nvPr/>
        </p:nvCxnSpPr>
        <p:spPr>
          <a:xfrm>
            <a:off x="950393" y="5889729"/>
            <a:ext cx="10423111"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950393" y="5142937"/>
            <a:ext cx="10423111"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进程调度算法</a:t>
            </a:r>
            <a:endParaRPr lang="zh-CN" altLang="en-US" sz="2800" b="1" dirty="0">
              <a:solidFill>
                <a:schemeClr val="bg1"/>
              </a:solidFill>
            </a:endParaRPr>
          </a:p>
        </p:txBody>
      </p:sp>
      <p:sp>
        <p:nvSpPr>
          <p:cNvPr id="29" name="矩形 28"/>
          <p:cNvSpPr/>
          <p:nvPr/>
        </p:nvSpPr>
        <p:spPr>
          <a:xfrm>
            <a:off x="1754760" y="1686896"/>
            <a:ext cx="4500146" cy="461665"/>
          </a:xfrm>
          <a:prstGeom prst="rect">
            <a:avLst/>
          </a:prstGeom>
        </p:spPr>
        <p:txBody>
          <a:bodyPr wrap="square">
            <a:spAutoFit/>
          </a:bodyPr>
          <a:lstStyle/>
          <a:p>
            <a:r>
              <a:rPr lang="zh-CN" altLang="en-US" sz="2400" dirty="0">
                <a:solidFill>
                  <a:srgbClr val="0000FF"/>
                </a:solidFill>
                <a:latin typeface="+mj-ea"/>
                <a:ea typeface="+mj-ea"/>
              </a:rPr>
              <a:t>先来先服务调度算法</a:t>
            </a:r>
            <a:r>
              <a:rPr lang="en-US" altLang="zh-CN" sz="2400" dirty="0">
                <a:solidFill>
                  <a:srgbClr val="0000FF"/>
                </a:solidFill>
                <a:latin typeface="+mj-ea"/>
                <a:ea typeface="+mj-ea"/>
              </a:rPr>
              <a:t>(FCFS)</a:t>
            </a:r>
            <a:endParaRPr lang="en-US" altLang="zh-CN" sz="2400" dirty="0">
              <a:solidFill>
                <a:srgbClr val="0000FF"/>
              </a:solidFill>
              <a:latin typeface="+mj-ea"/>
              <a:ea typeface="+mj-ea"/>
            </a:endParaRPr>
          </a:p>
        </p:txBody>
      </p:sp>
      <p:sp>
        <p:nvSpPr>
          <p:cNvPr id="31" name="矩形 30"/>
          <p:cNvSpPr/>
          <p:nvPr/>
        </p:nvSpPr>
        <p:spPr>
          <a:xfrm>
            <a:off x="1754760" y="2744220"/>
            <a:ext cx="3682150" cy="461665"/>
          </a:xfrm>
          <a:prstGeom prst="rect">
            <a:avLst/>
          </a:prstGeom>
        </p:spPr>
        <p:txBody>
          <a:bodyPr wrap="square">
            <a:spAutoFit/>
          </a:bodyPr>
          <a:lstStyle/>
          <a:p>
            <a:r>
              <a:rPr lang="zh-CN" altLang="en-US" sz="2400" dirty="0">
                <a:solidFill>
                  <a:srgbClr val="0000FF"/>
                </a:solidFill>
                <a:latin typeface="+mj-ea"/>
              </a:rPr>
              <a:t>短作业优先调度算法</a:t>
            </a:r>
            <a:r>
              <a:rPr lang="en-US" altLang="zh-CN" sz="2400" dirty="0">
                <a:solidFill>
                  <a:srgbClr val="0000FF"/>
                </a:solidFill>
                <a:latin typeface="+mj-ea"/>
              </a:rPr>
              <a:t>(SJF)</a:t>
            </a:r>
            <a:endParaRPr lang="en-US" altLang="zh-CN" sz="2400" dirty="0">
              <a:solidFill>
                <a:srgbClr val="0000FF"/>
              </a:solidFill>
              <a:latin typeface="+mj-ea"/>
            </a:endParaRPr>
          </a:p>
        </p:txBody>
      </p:sp>
      <p:sp>
        <p:nvSpPr>
          <p:cNvPr id="32" name="矩形 31"/>
          <p:cNvSpPr/>
          <p:nvPr/>
        </p:nvSpPr>
        <p:spPr>
          <a:xfrm>
            <a:off x="1754759" y="3714808"/>
            <a:ext cx="3488967" cy="461665"/>
          </a:xfrm>
          <a:prstGeom prst="rect">
            <a:avLst/>
          </a:prstGeom>
        </p:spPr>
        <p:txBody>
          <a:bodyPr wrap="square">
            <a:spAutoFit/>
          </a:bodyPr>
          <a:lstStyle/>
          <a:p>
            <a:r>
              <a:rPr lang="zh-CN" altLang="en-US" sz="2400" dirty="0">
                <a:solidFill>
                  <a:srgbClr val="0000FF"/>
                </a:solidFill>
                <a:latin typeface="+mj-ea"/>
              </a:rPr>
              <a:t>优先权调度算法</a:t>
            </a:r>
            <a:r>
              <a:rPr lang="en-US" altLang="zh-CN" sz="2400" dirty="0">
                <a:solidFill>
                  <a:srgbClr val="0000FF"/>
                </a:solidFill>
                <a:latin typeface="+mj-ea"/>
              </a:rPr>
              <a:t>(PR)</a:t>
            </a:r>
            <a:endParaRPr lang="en-US" altLang="zh-CN" sz="2400" dirty="0">
              <a:latin typeface="+mj-ea"/>
            </a:endParaRPr>
          </a:p>
        </p:txBody>
      </p:sp>
      <p:sp>
        <p:nvSpPr>
          <p:cNvPr id="34" name="矩形 33"/>
          <p:cNvSpPr/>
          <p:nvPr/>
        </p:nvSpPr>
        <p:spPr>
          <a:xfrm>
            <a:off x="1754759" y="4772132"/>
            <a:ext cx="3488967" cy="461665"/>
          </a:xfrm>
          <a:prstGeom prst="rect">
            <a:avLst/>
          </a:prstGeom>
        </p:spPr>
        <p:txBody>
          <a:bodyPr wrap="square">
            <a:spAutoFit/>
          </a:bodyPr>
          <a:lstStyle/>
          <a:p>
            <a:r>
              <a:rPr lang="zh-CN" altLang="en-US" sz="2400" dirty="0">
                <a:latin typeface="+mj-ea"/>
              </a:rPr>
              <a:t>时间片轮转调度算法</a:t>
            </a:r>
            <a:r>
              <a:rPr lang="en-US" altLang="zh-CN" sz="2400" dirty="0">
                <a:latin typeface="+mj-ea"/>
              </a:rPr>
              <a:t>(RR)</a:t>
            </a:r>
            <a:endParaRPr lang="en-US" altLang="zh-CN" sz="2400" dirty="0">
              <a:latin typeface="+mj-ea"/>
            </a:endParaRPr>
          </a:p>
        </p:txBody>
      </p:sp>
      <p:sp>
        <p:nvSpPr>
          <p:cNvPr id="36" name="矩形 35"/>
          <p:cNvSpPr/>
          <p:nvPr/>
        </p:nvSpPr>
        <p:spPr>
          <a:xfrm>
            <a:off x="7339584" y="1715271"/>
            <a:ext cx="3905342" cy="461665"/>
          </a:xfrm>
          <a:prstGeom prst="rect">
            <a:avLst/>
          </a:prstGeom>
        </p:spPr>
        <p:txBody>
          <a:bodyPr wrap="square">
            <a:spAutoFit/>
          </a:bodyPr>
          <a:lstStyle/>
          <a:p>
            <a:r>
              <a:rPr lang="zh-CN" altLang="en-US" sz="2400" dirty="0">
                <a:latin typeface="+mj-ea"/>
              </a:rPr>
              <a:t>多级队列调度算法</a:t>
            </a:r>
            <a:endParaRPr lang="zh-CN" altLang="en-US" sz="2400" dirty="0">
              <a:latin typeface="+mj-ea"/>
            </a:endParaRPr>
          </a:p>
        </p:txBody>
      </p:sp>
      <p:sp>
        <p:nvSpPr>
          <p:cNvPr id="38" name="矩形 37"/>
          <p:cNvSpPr/>
          <p:nvPr/>
        </p:nvSpPr>
        <p:spPr>
          <a:xfrm>
            <a:off x="7338303" y="2750181"/>
            <a:ext cx="3682151" cy="461665"/>
          </a:xfrm>
          <a:prstGeom prst="rect">
            <a:avLst/>
          </a:prstGeom>
        </p:spPr>
        <p:txBody>
          <a:bodyPr wrap="square">
            <a:spAutoFit/>
          </a:bodyPr>
          <a:lstStyle/>
          <a:p>
            <a:r>
              <a:rPr lang="zh-CN" altLang="en-US" sz="2400" dirty="0">
                <a:latin typeface="+mj-ea"/>
              </a:rPr>
              <a:t>多级反馈队列调度算法</a:t>
            </a:r>
            <a:endParaRPr lang="zh-CN" altLang="en-US" sz="2400" dirty="0">
              <a:latin typeface="+mj-ea"/>
            </a:endParaRPr>
          </a:p>
        </p:txBody>
      </p:sp>
      <p:sp>
        <p:nvSpPr>
          <p:cNvPr id="39" name="矩形 38"/>
          <p:cNvSpPr/>
          <p:nvPr/>
        </p:nvSpPr>
        <p:spPr>
          <a:xfrm>
            <a:off x="7449431" y="3704535"/>
            <a:ext cx="3682150" cy="461665"/>
          </a:xfrm>
          <a:prstGeom prst="rect">
            <a:avLst/>
          </a:prstGeom>
        </p:spPr>
        <p:txBody>
          <a:bodyPr wrap="square">
            <a:spAutoFit/>
          </a:bodyPr>
          <a:lstStyle/>
          <a:p>
            <a:r>
              <a:rPr lang="zh-CN" altLang="en-US" sz="2400" dirty="0">
                <a:latin typeface="+mj-ea"/>
              </a:rPr>
              <a:t>基于公平原则的调度算法</a:t>
            </a:r>
            <a:endParaRPr lang="zh-CN" altLang="en-US" sz="2400" dirty="0">
              <a:latin typeface="+mj-ea"/>
            </a:endParaRPr>
          </a:p>
        </p:txBody>
      </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27709" y="1649886"/>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27709" y="2698565"/>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27709" y="3687741"/>
            <a:ext cx="527050" cy="527050"/>
          </a:xfrm>
          <a:prstGeom prst="rect">
            <a:avLst/>
          </a:prstGeom>
          <a:ln>
            <a:noFill/>
          </a:ln>
          <a:effectLst>
            <a:softEdge rad="0"/>
          </a:effectLst>
        </p:spPr>
      </p:pic>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27709" y="4744413"/>
            <a:ext cx="527050" cy="527050"/>
          </a:xfrm>
          <a:prstGeom prst="rect">
            <a:avLst/>
          </a:prstGeom>
          <a:ln>
            <a:noFill/>
          </a:ln>
          <a:effectLst>
            <a:softEdge rad="0"/>
          </a:effectLst>
        </p:spPr>
      </p:pic>
      <p:pic>
        <p:nvPicPr>
          <p:cNvPr id="46" name="图片 4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812533" y="1685629"/>
            <a:ext cx="527050" cy="527050"/>
          </a:xfrm>
          <a:prstGeom prst="rect">
            <a:avLst/>
          </a:prstGeom>
          <a:ln>
            <a:noFill/>
          </a:ln>
          <a:effectLst>
            <a:softEdge rad="0"/>
          </a:effectLst>
        </p:spPr>
      </p:pic>
      <p:pic>
        <p:nvPicPr>
          <p:cNvPr id="47" name="图片 4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811253" y="2712493"/>
            <a:ext cx="527050" cy="527050"/>
          </a:xfrm>
          <a:prstGeom prst="rect">
            <a:avLst/>
          </a:prstGeom>
          <a:ln>
            <a:noFill/>
          </a:ln>
          <a:effectLst>
            <a:softEdge rad="0"/>
          </a:effectLst>
        </p:spPr>
      </p:pic>
      <p:pic>
        <p:nvPicPr>
          <p:cNvPr id="48" name="图片 4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811253" y="3682731"/>
            <a:ext cx="527050" cy="527050"/>
          </a:xfrm>
          <a:prstGeom prst="rect">
            <a:avLst/>
          </a:prstGeom>
          <a:ln>
            <a:noFill/>
          </a:ln>
          <a:effectLst>
            <a:softEdge rad="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30935" y="1844675"/>
            <a:ext cx="9422130" cy="3784600"/>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下列事件中，可能引起进程调度程序执行的是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2021</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中断处理结束</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进程阻塞</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进程执行结束</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IV.</a:t>
            </a:r>
            <a:r>
              <a:rPr lang="zh-CN" altLang="en-US" sz="2400">
                <a:latin typeface="宋体" panose="02010600030101010101" pitchFamily="2" charset="-122"/>
                <a:ea typeface="宋体" panose="02010600030101010101" pitchFamily="2" charset="-122"/>
              </a:rPr>
              <a:t>进程的时间片用完</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IV</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先来先服务（</a:t>
            </a:r>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sp>
        <p:nvSpPr>
          <p:cNvPr id="21" name="iśḷíḑe"/>
          <p:cNvSpPr/>
          <p:nvPr/>
        </p:nvSpPr>
        <p:spPr>
          <a:xfrm>
            <a:off x="778194" y="1722501"/>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00</a:t>
            </a:r>
            <a:endParaRPr lang="zh-CN" altLang="en-US" sz="2400" b="1" kern="0" dirty="0">
              <a:solidFill>
                <a:prstClr val="white"/>
              </a:solidFill>
            </a:endParaRPr>
          </a:p>
        </p:txBody>
      </p:sp>
      <p:sp>
        <p:nvSpPr>
          <p:cNvPr id="22" name="ïś1ïḑè"/>
          <p:cNvSpPr/>
          <p:nvPr/>
        </p:nvSpPr>
        <p:spPr>
          <a:xfrm>
            <a:off x="5334945" y="1697864"/>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00</a:t>
            </a:r>
            <a:endParaRPr lang="zh-CN" altLang="en-US" sz="2400" b="1" kern="0" dirty="0">
              <a:solidFill>
                <a:prstClr val="white"/>
              </a:solidFill>
            </a:endParaRPr>
          </a:p>
        </p:txBody>
      </p:sp>
      <p:sp>
        <p:nvSpPr>
          <p:cNvPr id="31" name="内容占位符 2"/>
          <p:cNvSpPr txBox="1"/>
          <p:nvPr/>
        </p:nvSpPr>
        <p:spPr>
          <a:xfrm>
            <a:off x="1728371" y="1697864"/>
            <a:ext cx="3099659" cy="1010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按照作业到达的先后次序来进行调度：</a:t>
            </a:r>
            <a:endParaRPr lang="zh-CN" altLang="en-US" sz="2400" dirty="0"/>
          </a:p>
        </p:txBody>
      </p:sp>
      <p:sp>
        <p:nvSpPr>
          <p:cNvPr id="32" name="内容占位符 2"/>
          <p:cNvSpPr txBox="1"/>
          <p:nvPr/>
        </p:nvSpPr>
        <p:spPr>
          <a:xfrm>
            <a:off x="6285122" y="1689791"/>
            <a:ext cx="5128684" cy="11208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假定作业到达顺序如下</a:t>
            </a:r>
            <a:r>
              <a:rPr lang="en-US" altLang="zh-CN" sz="2400" dirty="0"/>
              <a:t>: J1 , J2 , J3  </a:t>
            </a:r>
            <a:r>
              <a:rPr lang="zh-CN" altLang="en-US" sz="2400" dirty="0"/>
              <a:t>该调度的甘特图</a:t>
            </a:r>
            <a:r>
              <a:rPr lang="en-US" altLang="zh-CN" sz="2400" dirty="0"/>
              <a:t>(Gantt)</a:t>
            </a:r>
            <a:r>
              <a:rPr lang="zh-CN" altLang="en-US" sz="2400" dirty="0"/>
              <a:t>为</a:t>
            </a:r>
            <a:r>
              <a:rPr lang="en-US" altLang="zh-CN" sz="2400" dirty="0"/>
              <a:t>:</a:t>
            </a:r>
            <a:endParaRPr lang="en-US" altLang="zh-CN" sz="2400" dirty="0"/>
          </a:p>
        </p:txBody>
      </p:sp>
      <p:sp>
        <p:nvSpPr>
          <p:cNvPr id="33" name="内容占位符 2"/>
          <p:cNvSpPr txBox="1"/>
          <p:nvPr/>
        </p:nvSpPr>
        <p:spPr>
          <a:xfrm>
            <a:off x="778194" y="5394839"/>
            <a:ext cx="5506927"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(0 + 24 + 27)/3 = 17</a:t>
            </a:r>
            <a:endParaRPr lang="en-US" altLang="zh-CN" sz="2400" dirty="0"/>
          </a:p>
        </p:txBody>
      </p:sp>
      <p:sp>
        <p:nvSpPr>
          <p:cNvPr id="37" name="内容占位符 2"/>
          <p:cNvSpPr txBox="1"/>
          <p:nvPr/>
        </p:nvSpPr>
        <p:spPr>
          <a:xfrm>
            <a:off x="6391299" y="5394839"/>
            <a:ext cx="5808772"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 </a:t>
            </a:r>
            <a:r>
              <a:rPr lang="en-US" altLang="zh-CN" sz="2400" dirty="0"/>
              <a:t>= (24 + 27 + 30)/3 = 27</a:t>
            </a:r>
            <a:endParaRPr lang="en-US" altLang="zh-CN" sz="2400" dirty="0"/>
          </a:p>
        </p:txBody>
      </p:sp>
      <p:sp>
        <p:nvSpPr>
          <p:cNvPr id="38" name="内容占位符 2"/>
          <p:cNvSpPr txBox="1"/>
          <p:nvPr/>
        </p:nvSpPr>
        <p:spPr>
          <a:xfrm>
            <a:off x="1256246" y="3128104"/>
            <a:ext cx="3773010" cy="1764617"/>
          </a:xfrm>
          <a:prstGeom prst="rect">
            <a:avLst/>
          </a:prstGeom>
          <a:ln>
            <a:solidFill>
              <a:schemeClr val="bg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 作业	              运行时间</a:t>
            </a:r>
            <a:endParaRPr lang="zh-CN" altLang="en-US" sz="2400" dirty="0"/>
          </a:p>
          <a:p>
            <a:pPr marL="0" indent="0">
              <a:buNone/>
            </a:pPr>
            <a:r>
              <a:rPr lang="en-US" altLang="zh-CN" sz="2400" dirty="0"/>
              <a:t>   J1		        24</a:t>
            </a:r>
            <a:endParaRPr lang="en-US" altLang="zh-CN" sz="2400" dirty="0"/>
          </a:p>
          <a:p>
            <a:pPr marL="0" indent="0">
              <a:buNone/>
            </a:pPr>
            <a:r>
              <a:rPr lang="en-US" altLang="zh-CN" sz="2400" dirty="0"/>
              <a:t>   J2 		         3</a:t>
            </a:r>
            <a:endParaRPr lang="en-US" altLang="zh-CN" sz="2400" dirty="0"/>
          </a:p>
          <a:p>
            <a:pPr marL="0" indent="0">
              <a:buNone/>
            </a:pPr>
            <a:r>
              <a:rPr lang="en-US" altLang="zh-CN" sz="2400" dirty="0"/>
              <a:t>   J3		         3 </a:t>
            </a:r>
            <a:endParaRPr lang="zh-CN" altLang="en-US" sz="2400" dirty="0"/>
          </a:p>
        </p:txBody>
      </p:sp>
      <p:grpSp>
        <p:nvGrpSpPr>
          <p:cNvPr id="39" name="Group 4"/>
          <p:cNvGrpSpPr/>
          <p:nvPr/>
        </p:nvGrpSpPr>
        <p:grpSpPr bwMode="auto">
          <a:xfrm>
            <a:off x="5710621" y="3166778"/>
            <a:ext cx="5752956" cy="1148749"/>
            <a:chOff x="850" y="2688"/>
            <a:chExt cx="3541" cy="953"/>
          </a:xfrm>
          <a:solidFill>
            <a:srgbClr val="FFFF00"/>
          </a:solidFill>
        </p:grpSpPr>
        <p:sp>
          <p:nvSpPr>
            <p:cNvPr id="40" name="Rectangle 5"/>
            <p:cNvSpPr>
              <a:spLocks noChangeArrowheads="1"/>
            </p:cNvSpPr>
            <p:nvPr/>
          </p:nvSpPr>
          <p:spPr bwMode="auto">
            <a:xfrm>
              <a:off x="960" y="2688"/>
              <a:ext cx="3312" cy="4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1" name="Text Box 6"/>
            <p:cNvSpPr txBox="1">
              <a:spLocks noChangeArrowheads="1"/>
            </p:cNvSpPr>
            <p:nvPr/>
          </p:nvSpPr>
          <p:spPr bwMode="auto">
            <a:xfrm>
              <a:off x="1764"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42" name="Text Box 7"/>
            <p:cNvSpPr txBox="1">
              <a:spLocks noChangeArrowheads="1"/>
            </p:cNvSpPr>
            <p:nvPr/>
          </p:nvSpPr>
          <p:spPr bwMode="auto">
            <a:xfrm>
              <a:off x="3252"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3" name="Text Box 8"/>
            <p:cNvSpPr txBox="1">
              <a:spLocks noChangeArrowheads="1"/>
            </p:cNvSpPr>
            <p:nvPr/>
          </p:nvSpPr>
          <p:spPr bwMode="auto">
            <a:xfrm>
              <a:off x="3828"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44" name="Line 9"/>
            <p:cNvSpPr>
              <a:spLocks noChangeShapeType="1"/>
            </p:cNvSpPr>
            <p:nvPr/>
          </p:nvSpPr>
          <p:spPr bwMode="auto">
            <a:xfrm>
              <a:off x="960" y="307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5" name="Line 10"/>
            <p:cNvSpPr>
              <a:spLocks noChangeShapeType="1"/>
            </p:cNvSpPr>
            <p:nvPr/>
          </p:nvSpPr>
          <p:spPr bwMode="auto">
            <a:xfrm>
              <a:off x="4272" y="3072"/>
              <a:ext cx="0" cy="217"/>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6" name="Line 11"/>
            <p:cNvSpPr>
              <a:spLocks noChangeShapeType="1"/>
            </p:cNvSpPr>
            <p:nvPr/>
          </p:nvSpPr>
          <p:spPr bwMode="auto">
            <a:xfrm>
              <a:off x="3072" y="268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7" name="Line 12"/>
            <p:cNvSpPr>
              <a:spLocks noChangeShapeType="1"/>
            </p:cNvSpPr>
            <p:nvPr/>
          </p:nvSpPr>
          <p:spPr bwMode="auto">
            <a:xfrm>
              <a:off x="3648" y="268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8" name="Line 13"/>
            <p:cNvSpPr>
              <a:spLocks noChangeShapeType="1"/>
            </p:cNvSpPr>
            <p:nvPr/>
          </p:nvSpPr>
          <p:spPr bwMode="auto">
            <a:xfrm>
              <a:off x="3072" y="3072"/>
              <a:ext cx="0" cy="186"/>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9" name="Line 14"/>
            <p:cNvSpPr>
              <a:spLocks noChangeShapeType="1"/>
            </p:cNvSpPr>
            <p:nvPr/>
          </p:nvSpPr>
          <p:spPr bwMode="auto">
            <a:xfrm>
              <a:off x="3648" y="3072"/>
              <a:ext cx="0" cy="217"/>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50" name="Text Box 15"/>
            <p:cNvSpPr txBox="1">
              <a:spLocks noChangeArrowheads="1"/>
            </p:cNvSpPr>
            <p:nvPr/>
          </p:nvSpPr>
          <p:spPr bwMode="auto">
            <a:xfrm>
              <a:off x="2911"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dirty="0">
                  <a:latin typeface="Arial" panose="020B0604020202020204" pitchFamily="34" charset="0"/>
                </a:rPr>
                <a:t>24</a:t>
              </a:r>
              <a:endParaRPr lang="en-US" altLang="zh-CN" sz="2400" dirty="0">
                <a:latin typeface="Arial" panose="020B0604020202020204" pitchFamily="34" charset="0"/>
              </a:endParaRPr>
            </a:p>
          </p:txBody>
        </p:sp>
        <p:sp>
          <p:nvSpPr>
            <p:cNvPr id="51" name="Text Box 16"/>
            <p:cNvSpPr txBox="1">
              <a:spLocks noChangeArrowheads="1"/>
            </p:cNvSpPr>
            <p:nvPr/>
          </p:nvSpPr>
          <p:spPr bwMode="auto">
            <a:xfrm>
              <a:off x="3447"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a:latin typeface="Arial" panose="020B0604020202020204" pitchFamily="34" charset="0"/>
                </a:rPr>
                <a:t>27</a:t>
              </a:r>
              <a:endParaRPr lang="en-US" altLang="zh-CN" sz="2400">
                <a:latin typeface="Arial" panose="020B0604020202020204" pitchFamily="34" charset="0"/>
              </a:endParaRPr>
            </a:p>
          </p:txBody>
        </p:sp>
        <p:sp>
          <p:nvSpPr>
            <p:cNvPr id="52" name="Text Box 17"/>
            <p:cNvSpPr txBox="1">
              <a:spLocks noChangeArrowheads="1"/>
            </p:cNvSpPr>
            <p:nvPr/>
          </p:nvSpPr>
          <p:spPr bwMode="auto">
            <a:xfrm>
              <a:off x="4066"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a:latin typeface="Arial" panose="020B0604020202020204" pitchFamily="34" charset="0"/>
                </a:rPr>
                <a:t>30</a:t>
              </a:r>
              <a:endParaRPr lang="en-US" altLang="zh-CN" sz="2400">
                <a:latin typeface="Arial" panose="020B0604020202020204" pitchFamily="34" charset="0"/>
              </a:endParaRPr>
            </a:p>
          </p:txBody>
        </p:sp>
        <p:sp>
          <p:nvSpPr>
            <p:cNvPr id="53" name="Text Box 18"/>
            <p:cNvSpPr txBox="1">
              <a:spLocks noChangeArrowheads="1"/>
            </p:cNvSpPr>
            <p:nvPr/>
          </p:nvSpPr>
          <p:spPr bwMode="auto">
            <a:xfrm>
              <a:off x="850" y="3217"/>
              <a:ext cx="219"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dirty="0">
                  <a:latin typeface="Arial" panose="020B0604020202020204" pitchFamily="34" charset="0"/>
                </a:rPr>
                <a:t>0</a:t>
              </a:r>
              <a:endParaRPr lang="en-US" altLang="zh-CN" sz="2400" dirty="0">
                <a:latin typeface="Arial" panose="020B0604020202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sp>
        <p:nvSpPr>
          <p:cNvPr id="21" name="iśḷíḑe"/>
          <p:cNvSpPr/>
          <p:nvPr/>
        </p:nvSpPr>
        <p:spPr>
          <a:xfrm>
            <a:off x="778194" y="13550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2" name="ïś1ïḑè"/>
          <p:cNvSpPr/>
          <p:nvPr/>
        </p:nvSpPr>
        <p:spPr>
          <a:xfrm>
            <a:off x="778194" y="246502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1" name="内容占位符 2"/>
          <p:cNvSpPr txBox="1"/>
          <p:nvPr/>
        </p:nvSpPr>
        <p:spPr>
          <a:xfrm>
            <a:off x="1728371" y="1330427"/>
            <a:ext cx="3099659" cy="1010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假定进程到达顺序如下  </a:t>
            </a:r>
            <a:r>
              <a:rPr lang="en-US" altLang="zh-CN" sz="2400" dirty="0"/>
              <a:t>J2 , J3 , J1 .</a:t>
            </a:r>
            <a:endParaRPr lang="en-US" altLang="zh-CN" sz="2400" dirty="0"/>
          </a:p>
        </p:txBody>
      </p:sp>
      <p:sp>
        <p:nvSpPr>
          <p:cNvPr id="32" name="内容占位符 2"/>
          <p:cNvSpPr txBox="1"/>
          <p:nvPr/>
        </p:nvSpPr>
        <p:spPr>
          <a:xfrm>
            <a:off x="1728370" y="2556116"/>
            <a:ext cx="5128684" cy="774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该调度的</a:t>
            </a:r>
            <a:r>
              <a:rPr lang="en-US" altLang="zh-CN" sz="2400" dirty="0"/>
              <a:t>Gantt</a:t>
            </a:r>
            <a:r>
              <a:rPr lang="zh-CN" altLang="en-US" sz="2400" dirty="0"/>
              <a:t>图为 </a:t>
            </a:r>
            <a:r>
              <a:rPr lang="en-US" altLang="zh-CN" sz="2400" dirty="0"/>
              <a:t>:</a:t>
            </a:r>
            <a:endParaRPr lang="en-US" altLang="zh-CN" sz="2400" dirty="0"/>
          </a:p>
        </p:txBody>
      </p:sp>
      <p:sp>
        <p:nvSpPr>
          <p:cNvPr id="33" name="内容占位符 2"/>
          <p:cNvSpPr txBox="1"/>
          <p:nvPr/>
        </p:nvSpPr>
        <p:spPr>
          <a:xfrm>
            <a:off x="849215" y="5620249"/>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  平均等待时间 </a:t>
            </a:r>
            <a:r>
              <a:rPr lang="en-US" altLang="zh-CN" sz="2400" dirty="0"/>
              <a:t>= (6 + 0 + 3)/3 = 3</a:t>
            </a:r>
            <a:endParaRPr lang="en-US" altLang="zh-CN" sz="2400" dirty="0"/>
          </a:p>
        </p:txBody>
      </p:sp>
      <p:grpSp>
        <p:nvGrpSpPr>
          <p:cNvPr id="25" name="Group 23"/>
          <p:cNvGrpSpPr/>
          <p:nvPr/>
        </p:nvGrpSpPr>
        <p:grpSpPr bwMode="auto">
          <a:xfrm>
            <a:off x="849215" y="3656007"/>
            <a:ext cx="10635612" cy="1651871"/>
            <a:chOff x="655" y="1968"/>
            <a:chExt cx="3443" cy="713"/>
          </a:xfrm>
          <a:solidFill>
            <a:srgbClr val="FFFF00"/>
          </a:solidFill>
        </p:grpSpPr>
        <p:sp>
          <p:nvSpPr>
            <p:cNvPr id="26" name="Rectangle 6"/>
            <p:cNvSpPr>
              <a:spLocks noChangeArrowheads="1"/>
            </p:cNvSpPr>
            <p:nvPr/>
          </p:nvSpPr>
          <p:spPr bwMode="auto">
            <a:xfrm flipH="1">
              <a:off x="720" y="1968"/>
              <a:ext cx="3312" cy="33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27" name="Text Box 7"/>
            <p:cNvSpPr txBox="1">
              <a:spLocks noChangeArrowheads="1"/>
            </p:cNvSpPr>
            <p:nvPr/>
          </p:nvSpPr>
          <p:spPr bwMode="auto">
            <a:xfrm flipH="1">
              <a:off x="3000"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28" name="Text Box 8"/>
            <p:cNvSpPr txBox="1">
              <a:spLocks noChangeArrowheads="1"/>
            </p:cNvSpPr>
            <p:nvPr/>
          </p:nvSpPr>
          <p:spPr bwMode="auto">
            <a:xfrm flipH="1">
              <a:off x="1512"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29" name="Text Box 9"/>
            <p:cNvSpPr txBox="1">
              <a:spLocks noChangeArrowheads="1"/>
            </p:cNvSpPr>
            <p:nvPr/>
          </p:nvSpPr>
          <p:spPr bwMode="auto">
            <a:xfrm flipH="1">
              <a:off x="936"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30" name="Line 10"/>
            <p:cNvSpPr>
              <a:spLocks noChangeShapeType="1"/>
            </p:cNvSpPr>
            <p:nvPr/>
          </p:nvSpPr>
          <p:spPr bwMode="auto">
            <a:xfrm flipH="1">
              <a:off x="4032" y="2302"/>
              <a:ext cx="0" cy="19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4" name="Line 11"/>
            <p:cNvSpPr>
              <a:spLocks noChangeShapeType="1"/>
            </p:cNvSpPr>
            <p:nvPr/>
          </p:nvSpPr>
          <p:spPr bwMode="auto">
            <a:xfrm flipH="1">
              <a:off x="720" y="2302"/>
              <a:ext cx="0" cy="19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5" name="Line 12"/>
            <p:cNvSpPr>
              <a:spLocks noChangeShapeType="1"/>
            </p:cNvSpPr>
            <p:nvPr/>
          </p:nvSpPr>
          <p:spPr bwMode="auto">
            <a:xfrm flipH="1">
              <a:off x="1920" y="196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6" name="Line 13"/>
            <p:cNvSpPr>
              <a:spLocks noChangeShapeType="1"/>
            </p:cNvSpPr>
            <p:nvPr/>
          </p:nvSpPr>
          <p:spPr bwMode="auto">
            <a:xfrm flipH="1">
              <a:off x="1344" y="196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4" name="Line 14"/>
            <p:cNvSpPr>
              <a:spLocks noChangeShapeType="1"/>
            </p:cNvSpPr>
            <p:nvPr/>
          </p:nvSpPr>
          <p:spPr bwMode="auto">
            <a:xfrm flipH="1">
              <a:off x="1920" y="235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5" name="Line 15"/>
            <p:cNvSpPr>
              <a:spLocks noChangeShapeType="1"/>
            </p:cNvSpPr>
            <p:nvPr/>
          </p:nvSpPr>
          <p:spPr bwMode="auto">
            <a:xfrm flipH="1">
              <a:off x="1344" y="235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Text Box 16"/>
            <p:cNvSpPr txBox="1">
              <a:spLocks noChangeArrowheads="1"/>
            </p:cNvSpPr>
            <p:nvPr/>
          </p:nvSpPr>
          <p:spPr bwMode="auto">
            <a:xfrm flipH="1">
              <a:off x="1859"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6</a:t>
              </a:r>
              <a:endParaRPr lang="en-US" altLang="zh-CN" sz="2600">
                <a:latin typeface="Arial" panose="020B0604020202020204" pitchFamily="34" charset="0"/>
              </a:endParaRPr>
            </a:p>
          </p:txBody>
        </p:sp>
        <p:sp>
          <p:nvSpPr>
            <p:cNvPr id="57" name="Text Box 17"/>
            <p:cNvSpPr txBox="1">
              <a:spLocks noChangeArrowheads="1"/>
            </p:cNvSpPr>
            <p:nvPr/>
          </p:nvSpPr>
          <p:spPr bwMode="auto">
            <a:xfrm flipH="1">
              <a:off x="1283"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3</a:t>
              </a:r>
              <a:endParaRPr lang="en-US" altLang="zh-CN" sz="2600">
                <a:latin typeface="Arial" panose="020B0604020202020204" pitchFamily="34" charset="0"/>
              </a:endParaRPr>
            </a:p>
          </p:txBody>
        </p:sp>
        <p:sp>
          <p:nvSpPr>
            <p:cNvPr id="58" name="Text Box 18"/>
            <p:cNvSpPr txBox="1">
              <a:spLocks noChangeArrowheads="1"/>
            </p:cNvSpPr>
            <p:nvPr/>
          </p:nvSpPr>
          <p:spPr bwMode="auto">
            <a:xfrm flipH="1">
              <a:off x="3899" y="2446"/>
              <a:ext cx="199"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30</a:t>
              </a:r>
              <a:endParaRPr lang="en-US" altLang="zh-CN" sz="2600">
                <a:latin typeface="Arial" panose="020B0604020202020204" pitchFamily="34" charset="0"/>
              </a:endParaRPr>
            </a:p>
          </p:txBody>
        </p:sp>
        <p:sp>
          <p:nvSpPr>
            <p:cNvPr id="59" name="Text Box 19"/>
            <p:cNvSpPr txBox="1">
              <a:spLocks noChangeArrowheads="1"/>
            </p:cNvSpPr>
            <p:nvPr/>
          </p:nvSpPr>
          <p:spPr bwMode="auto">
            <a:xfrm flipH="1">
              <a:off x="655"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grpSp>
      <p:sp>
        <p:nvSpPr>
          <p:cNvPr id="60" name="iśḷíḑe"/>
          <p:cNvSpPr/>
          <p:nvPr/>
        </p:nvSpPr>
        <p:spPr>
          <a:xfrm>
            <a:off x="6413795" y="13550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61" name="ïś1ïḑè"/>
          <p:cNvSpPr/>
          <p:nvPr/>
        </p:nvSpPr>
        <p:spPr>
          <a:xfrm>
            <a:off x="6413795" y="2486646"/>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62" name="内容占位符 2"/>
          <p:cNvSpPr txBox="1"/>
          <p:nvPr/>
        </p:nvSpPr>
        <p:spPr>
          <a:xfrm>
            <a:off x="7363972" y="1330427"/>
            <a:ext cx="3099659" cy="10102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比前例好得多</a:t>
            </a:r>
            <a:endParaRPr lang="zh-CN" altLang="en-US" sz="2400" dirty="0"/>
          </a:p>
        </p:txBody>
      </p:sp>
      <p:sp>
        <p:nvSpPr>
          <p:cNvPr id="63" name="内容占位符 2"/>
          <p:cNvSpPr txBox="1"/>
          <p:nvPr/>
        </p:nvSpPr>
        <p:spPr>
          <a:xfrm>
            <a:off x="7363971" y="2478573"/>
            <a:ext cx="4381177" cy="774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此结果产生是由于短进程先于长进程到达</a:t>
            </a:r>
            <a:endParaRPr lang="zh-CN" altLang="en-US" sz="2400" dirty="0"/>
          </a:p>
        </p:txBody>
      </p:sp>
      <p:sp>
        <p:nvSpPr>
          <p:cNvPr id="64" name="内容占位符 2"/>
          <p:cNvSpPr txBox="1"/>
          <p:nvPr/>
        </p:nvSpPr>
        <p:spPr>
          <a:xfrm>
            <a:off x="6165476" y="5620249"/>
            <a:ext cx="5506927" cy="5444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  平均周转时间 </a:t>
            </a:r>
            <a:r>
              <a:rPr lang="en-US" altLang="zh-CN" sz="2400" dirty="0"/>
              <a:t>= (30+ 3 + 6)/3 = 13</a:t>
            </a:r>
            <a:endParaRPr lang="en-US" altLang="zh-CN"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短作业优先（</a:t>
            </a:r>
            <a:r>
              <a:rPr lang="en-US" altLang="zh-CN" sz="2800" b="1" dirty="0">
                <a:solidFill>
                  <a:schemeClr val="bg1"/>
                </a:solidFill>
              </a:rPr>
              <a:t>SJF</a:t>
            </a:r>
            <a:r>
              <a:rPr lang="zh-CN" altLang="en-US" sz="2800" b="1" dirty="0">
                <a:solidFill>
                  <a:schemeClr val="bg1"/>
                </a:solidFill>
              </a:rPr>
              <a:t>）调度算法</a:t>
            </a:r>
            <a:r>
              <a:rPr lang="en-US" altLang="zh-CN" sz="2800" b="1" dirty="0">
                <a:solidFill>
                  <a:schemeClr val="bg1"/>
                </a:solidFill>
              </a:rPr>
              <a:t>(1)</a:t>
            </a:r>
            <a:endParaRPr lang="zh-CN" altLang="en-US" sz="2800" b="1" dirty="0">
              <a:solidFill>
                <a:schemeClr val="bg1"/>
              </a:solidFill>
            </a:endParaRPr>
          </a:p>
        </p:txBody>
      </p:sp>
      <p:sp>
        <p:nvSpPr>
          <p:cNvPr id="37" name="íšḻîḋè"/>
          <p:cNvSpPr/>
          <p:nvPr/>
        </p:nvSpPr>
        <p:spPr>
          <a:xfrm>
            <a:off x="1746844" y="3577516"/>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非抢占式</a:t>
            </a:r>
            <a:r>
              <a:rPr lang="en-US" altLang="zh-CN" sz="2200" dirty="0">
                <a:solidFill>
                  <a:srgbClr val="FF0000"/>
                </a:solidFill>
              </a:rPr>
              <a:t>SJF</a:t>
            </a:r>
            <a:endParaRPr lang="en-US" altLang="zh-CN" sz="22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抢占式</a:t>
            </a:r>
            <a:r>
              <a:rPr lang="en-US" altLang="zh-CN" sz="2200" dirty="0">
                <a:solidFill>
                  <a:srgbClr val="FF0000"/>
                </a:solidFill>
              </a:rPr>
              <a:t>SJF</a:t>
            </a:r>
            <a:r>
              <a:rPr lang="en-US" altLang="zh-CN" sz="2200" dirty="0"/>
              <a:t>–</a:t>
            </a:r>
            <a:r>
              <a:rPr lang="zh-CN" altLang="en-US" sz="2200" dirty="0"/>
              <a:t>抢占发生在有比当前进程剩余时间更短的进程到达时，也称为最短剩余时间优先调度 </a:t>
            </a:r>
            <a:endParaRPr lang="en-US" altLang="zh-CN" sz="2200" dirty="0"/>
          </a:p>
        </p:txBody>
      </p:sp>
      <p:sp>
        <p:nvSpPr>
          <p:cNvPr id="38" name="i$lîďê"/>
          <p:cNvSpPr/>
          <p:nvPr/>
        </p:nvSpPr>
        <p:spPr>
          <a:xfrm>
            <a:off x="1802479" y="3126390"/>
            <a:ext cx="6018748" cy="392877"/>
          </a:xfrm>
          <a:prstGeom prst="rect">
            <a:avLst/>
          </a:prstGeom>
          <a:noFill/>
          <a:ln>
            <a:noFill/>
          </a:ln>
        </p:spPr>
        <p:txBody>
          <a:bodyPr wrap="square" lIns="91440" tIns="45720" rIns="91440" bIns="45720" anchor="ctr" anchorCtr="0">
            <a:noAutofit/>
          </a:bodyPr>
          <a:lstStyle/>
          <a:p>
            <a:r>
              <a:rPr lang="zh-CN" altLang="en-US" sz="2400" dirty="0"/>
              <a:t>对进程调度，</a:t>
            </a:r>
            <a:r>
              <a:rPr lang="en-US" altLang="zh-CN" sz="2400" dirty="0"/>
              <a:t>SJF</a:t>
            </a:r>
            <a:r>
              <a:rPr lang="zh-CN" altLang="en-US" sz="2400" dirty="0"/>
              <a:t>有两种模式</a:t>
            </a:r>
            <a:r>
              <a:rPr lang="zh-CN" altLang="zh-CN" sz="2400" dirty="0"/>
              <a:t>：</a:t>
            </a:r>
            <a:endParaRPr lang="zh-CN" altLang="en-US" sz="2400" dirty="0"/>
          </a:p>
        </p:txBody>
      </p:sp>
      <p:sp>
        <p:nvSpPr>
          <p:cNvPr id="40" name="ïṧḷïḋè"/>
          <p:cNvSpPr/>
          <p:nvPr/>
        </p:nvSpPr>
        <p:spPr>
          <a:xfrm>
            <a:off x="1802481" y="5182826"/>
            <a:ext cx="9454404" cy="861372"/>
          </a:xfrm>
          <a:prstGeom prst="rect">
            <a:avLst/>
          </a:prstGeom>
          <a:noFill/>
          <a:ln>
            <a:noFill/>
          </a:ln>
        </p:spPr>
        <p:txBody>
          <a:bodyPr wrap="square" lIns="91440" tIns="45720" rIns="91440" bIns="45720" anchor="ctr" anchorCtr="0">
            <a:noAutofit/>
          </a:bodyPr>
          <a:lstStyle/>
          <a:p>
            <a:r>
              <a:rPr lang="en-US" altLang="zh-CN" sz="2400" dirty="0"/>
              <a:t>SJF</a:t>
            </a:r>
            <a:r>
              <a:rPr lang="zh-CN" altLang="en-US" sz="2400" dirty="0"/>
              <a:t>是最优的（对一组指定的进程而言），它给出了最短的平均等待时间。</a:t>
            </a:r>
            <a:endParaRPr lang="en-US" altLang="zh-CN" sz="2800" dirty="0"/>
          </a:p>
        </p:txBody>
      </p:sp>
      <p:sp>
        <p:nvSpPr>
          <p:cNvPr id="41" name="îs1iďé"/>
          <p:cNvSpPr/>
          <p:nvPr/>
        </p:nvSpPr>
        <p:spPr>
          <a:xfrm>
            <a:off x="1821535" y="1726157"/>
            <a:ext cx="9711234" cy="107919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对作业：从后备队列中选择若干个估计运行时间最短的作业。</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对进程：关联到每个进程下次运行的</a:t>
            </a:r>
            <a:r>
              <a:rPr lang="en-US" altLang="zh-CN" sz="2200" dirty="0"/>
              <a:t>CPU</a:t>
            </a:r>
            <a:r>
              <a:rPr lang="zh-CN" altLang="en-US" sz="2200" dirty="0"/>
              <a:t>区间长度，调度最短的进程。</a:t>
            </a:r>
            <a:endParaRPr lang="zh-CN" altLang="en-US" sz="2200" dirty="0"/>
          </a:p>
        </p:txBody>
      </p:sp>
      <p:sp>
        <p:nvSpPr>
          <p:cNvPr id="42" name="íšḻíḑê"/>
          <p:cNvSpPr/>
          <p:nvPr/>
        </p:nvSpPr>
        <p:spPr>
          <a:xfrm>
            <a:off x="1802480" y="1277156"/>
            <a:ext cx="7297132" cy="405747"/>
          </a:xfrm>
          <a:prstGeom prst="rect">
            <a:avLst/>
          </a:prstGeom>
          <a:noFill/>
          <a:ln>
            <a:noFill/>
          </a:ln>
        </p:spPr>
        <p:txBody>
          <a:bodyPr wrap="square" lIns="91440" tIns="45720" rIns="91440" bIns="45720" anchor="ctr" anchorCtr="0">
            <a:noAutofit/>
          </a:bodyPr>
          <a:lstStyle/>
          <a:p>
            <a:r>
              <a:rPr lang="en-US" altLang="zh-CN" sz="2400" dirty="0"/>
              <a:t>SJF</a:t>
            </a:r>
            <a:r>
              <a:rPr lang="zh-CN" altLang="en-US" sz="2400" dirty="0"/>
              <a:t>算法：既可用于作业，也可用于进程</a:t>
            </a:r>
            <a:endParaRPr lang="en-US" altLang="zh-CN" sz="2400" dirty="0"/>
          </a:p>
        </p:txBody>
      </p:sp>
      <p:sp>
        <p:nvSpPr>
          <p:cNvPr id="43" name="îSļiḓè"/>
          <p:cNvSpPr/>
          <p:nvPr/>
        </p:nvSpPr>
        <p:spPr>
          <a:xfrm>
            <a:off x="1118977" y="12635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4" name="íṥḻîḓe"/>
          <p:cNvSpPr/>
          <p:nvPr/>
        </p:nvSpPr>
        <p:spPr>
          <a:xfrm>
            <a:off x="1118977" y="513886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1309232" y="14597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8" name="ïśḷïḓe"/>
          <p:cNvSpPr/>
          <p:nvPr/>
        </p:nvSpPr>
        <p:spPr>
          <a:xfrm>
            <a:off x="1338170" y="532832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非抢占式</a:t>
            </a:r>
            <a:r>
              <a:rPr lang="en-US" altLang="zh-CN" sz="2800" b="1" dirty="0">
                <a:solidFill>
                  <a:schemeClr val="bg1"/>
                </a:solidFill>
              </a:rPr>
              <a:t>SJF</a:t>
            </a:r>
            <a:r>
              <a:rPr lang="zh-CN" altLang="en-US" sz="2800" b="1" dirty="0">
                <a:solidFill>
                  <a:schemeClr val="bg1"/>
                </a:solidFill>
              </a:rPr>
              <a:t>举例</a:t>
            </a:r>
            <a:endParaRPr lang="zh-CN" altLang="en-US" sz="2800" b="1" dirty="0">
              <a:solidFill>
                <a:schemeClr val="bg1"/>
              </a:solidFill>
            </a:endParaRPr>
          </a:p>
        </p:txBody>
      </p:sp>
      <p:sp>
        <p:nvSpPr>
          <p:cNvPr id="31" name="文本框 30"/>
          <p:cNvSpPr txBox="1"/>
          <p:nvPr/>
        </p:nvSpPr>
        <p:spPr>
          <a:xfrm>
            <a:off x="2489207" y="1285309"/>
            <a:ext cx="6720840" cy="2267544"/>
          </a:xfrm>
          <a:prstGeom prst="rect">
            <a:avLst/>
          </a:prstGeom>
          <a:noFill/>
          <a:ln>
            <a:solidFill>
              <a:schemeClr val="bg2">
                <a:lumMod val="75000"/>
              </a:schemeClr>
            </a:solidFill>
          </a:ln>
        </p:spPr>
        <p:txBody>
          <a:bodyPr wrap="square">
            <a:spAutoFit/>
          </a:bodyPr>
          <a:lstStyle/>
          <a:p>
            <a:pPr marL="0" indent="0">
              <a:lnSpc>
                <a:spcPct val="120000"/>
              </a:lnSpc>
              <a:buFont typeface="Wingdings 2" panose="05020102010507070707" pitchFamily="18" charset="2"/>
              <a:buNone/>
              <a:defRPr/>
            </a:pPr>
            <a:r>
              <a:rPr lang="en-US" altLang="zh-CN" sz="2400" dirty="0"/>
              <a:t> </a:t>
            </a:r>
            <a:r>
              <a:rPr lang="zh-CN" altLang="en-US" sz="2400" u="sng" dirty="0"/>
              <a:t>进程</a:t>
            </a:r>
            <a:r>
              <a:rPr lang="zh-CN" altLang="en-US" sz="2400" dirty="0"/>
              <a:t>	</a:t>
            </a:r>
            <a:r>
              <a:rPr lang="en-US" altLang="zh-CN" sz="2400" dirty="0"/>
              <a:t>	</a:t>
            </a:r>
            <a:r>
              <a:rPr lang="zh-CN" altLang="en-US" sz="2400" u="sng" dirty="0"/>
              <a:t>到达时间</a:t>
            </a:r>
            <a:r>
              <a:rPr lang="en-US" altLang="zh-CN" sz="2400" dirty="0"/>
              <a:t>		</a:t>
            </a:r>
            <a:r>
              <a:rPr lang="zh-CN" altLang="en-US" sz="2400" u="sng" dirty="0"/>
              <a:t>运行时间</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1	                         </a:t>
            </a:r>
            <a:r>
              <a:rPr lang="en-US" altLang="zh-CN" sz="2400" dirty="0"/>
              <a:t>0.0	  	 7</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2	                        </a:t>
            </a:r>
            <a:r>
              <a:rPr lang="en-US" altLang="zh-CN" sz="2400" dirty="0"/>
              <a:t>2.0		4</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3</a:t>
            </a:r>
            <a:r>
              <a:rPr lang="en-US" altLang="zh-CN" sz="2400" dirty="0"/>
              <a:t>	                4.0		1</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4</a:t>
            </a:r>
            <a:r>
              <a:rPr lang="en-US" altLang="zh-CN" sz="2400" dirty="0"/>
              <a:t>	                5.0		4</a:t>
            </a:r>
            <a:endParaRPr lang="zh-CN" altLang="en-US" sz="2400" dirty="0"/>
          </a:p>
        </p:txBody>
      </p:sp>
      <p:grpSp>
        <p:nvGrpSpPr>
          <p:cNvPr id="32" name="Group 37"/>
          <p:cNvGrpSpPr/>
          <p:nvPr/>
        </p:nvGrpSpPr>
        <p:grpSpPr bwMode="auto">
          <a:xfrm>
            <a:off x="1333953" y="3804046"/>
            <a:ext cx="9031348" cy="1537733"/>
            <a:chOff x="891" y="2859"/>
            <a:chExt cx="3454" cy="572"/>
          </a:xfrm>
          <a:solidFill>
            <a:srgbClr val="FFFF00"/>
          </a:solidFill>
        </p:grpSpPr>
        <p:sp>
          <p:nvSpPr>
            <p:cNvPr id="34" name="Rectangle 5"/>
            <p:cNvSpPr>
              <a:spLocks noChangeArrowheads="1"/>
            </p:cNvSpPr>
            <p:nvPr/>
          </p:nvSpPr>
          <p:spPr bwMode="auto">
            <a:xfrm flipH="1">
              <a:off x="960" y="2859"/>
              <a:ext cx="3312" cy="27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6" name="Text Box 6"/>
            <p:cNvSpPr txBox="1">
              <a:spLocks noChangeArrowheads="1"/>
            </p:cNvSpPr>
            <p:nvPr/>
          </p:nvSpPr>
          <p:spPr bwMode="auto">
            <a:xfrm flipH="1">
              <a:off x="1435"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38" name="Text Box 7"/>
            <p:cNvSpPr txBox="1">
              <a:spLocks noChangeArrowheads="1"/>
            </p:cNvSpPr>
            <p:nvPr/>
          </p:nvSpPr>
          <p:spPr bwMode="auto">
            <a:xfrm flipH="1">
              <a:off x="2443"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39" name="Text Box 8"/>
            <p:cNvSpPr txBox="1">
              <a:spLocks noChangeArrowheads="1"/>
            </p:cNvSpPr>
            <p:nvPr/>
          </p:nvSpPr>
          <p:spPr bwMode="auto">
            <a:xfrm flipH="1">
              <a:off x="3019"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0" name="Line 9"/>
            <p:cNvSpPr>
              <a:spLocks noChangeShapeType="1"/>
            </p:cNvSpPr>
            <p:nvPr/>
          </p:nvSpPr>
          <p:spPr bwMode="auto">
            <a:xfrm flipH="1">
              <a:off x="4272"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2" name="Line 10"/>
            <p:cNvSpPr>
              <a:spLocks noChangeShapeType="1"/>
            </p:cNvSpPr>
            <p:nvPr/>
          </p:nvSpPr>
          <p:spPr bwMode="auto">
            <a:xfrm flipH="1">
              <a:off x="960"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4" name="Line 11"/>
            <p:cNvSpPr>
              <a:spLocks noChangeShapeType="1"/>
            </p:cNvSpPr>
            <p:nvPr/>
          </p:nvSpPr>
          <p:spPr bwMode="auto">
            <a:xfrm flipH="1">
              <a:off x="2688"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5" name="Line 12"/>
            <p:cNvSpPr>
              <a:spLocks noChangeShapeType="1"/>
            </p:cNvSpPr>
            <p:nvPr/>
          </p:nvSpPr>
          <p:spPr bwMode="auto">
            <a:xfrm flipH="1">
              <a:off x="2400"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6" name="Line 13"/>
            <p:cNvSpPr>
              <a:spLocks noChangeShapeType="1"/>
            </p:cNvSpPr>
            <p:nvPr/>
          </p:nvSpPr>
          <p:spPr bwMode="auto">
            <a:xfrm flipH="1">
              <a:off x="2400"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7" name="Line 14"/>
            <p:cNvSpPr>
              <a:spLocks noChangeShapeType="1"/>
            </p:cNvSpPr>
            <p:nvPr/>
          </p:nvSpPr>
          <p:spPr bwMode="auto">
            <a:xfrm flipH="1">
              <a:off x="139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8" name="Text Box 15"/>
            <p:cNvSpPr txBox="1">
              <a:spLocks noChangeArrowheads="1"/>
            </p:cNvSpPr>
            <p:nvPr/>
          </p:nvSpPr>
          <p:spPr bwMode="auto">
            <a:xfrm flipH="1">
              <a:off x="2331"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7</a:t>
              </a:r>
              <a:endParaRPr lang="en-US" altLang="zh-CN" sz="2600">
                <a:latin typeface="Arial" panose="020B0604020202020204" pitchFamily="34" charset="0"/>
              </a:endParaRPr>
            </a:p>
          </p:txBody>
        </p:sp>
        <p:sp>
          <p:nvSpPr>
            <p:cNvPr id="49" name="Text Box 16"/>
            <p:cNvSpPr txBox="1">
              <a:spLocks noChangeArrowheads="1"/>
            </p:cNvSpPr>
            <p:nvPr/>
          </p:nvSpPr>
          <p:spPr bwMode="auto">
            <a:xfrm flipH="1">
              <a:off x="1519"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3</a:t>
              </a:r>
              <a:endParaRPr lang="en-US" altLang="zh-CN" sz="2600">
                <a:latin typeface="Arial" panose="020B0604020202020204" pitchFamily="34" charset="0"/>
              </a:endParaRPr>
            </a:p>
          </p:txBody>
        </p:sp>
        <p:sp>
          <p:nvSpPr>
            <p:cNvPr id="50" name="Text Box 17"/>
            <p:cNvSpPr txBox="1">
              <a:spLocks noChangeArrowheads="1"/>
            </p:cNvSpPr>
            <p:nvPr/>
          </p:nvSpPr>
          <p:spPr bwMode="auto">
            <a:xfrm flipH="1">
              <a:off x="4132" y="3248"/>
              <a:ext cx="213"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16</a:t>
              </a:r>
              <a:endParaRPr lang="en-US" altLang="zh-CN" sz="2600">
                <a:latin typeface="Arial" panose="020B0604020202020204" pitchFamily="34" charset="0"/>
              </a:endParaRPr>
            </a:p>
          </p:txBody>
        </p:sp>
        <p:sp>
          <p:nvSpPr>
            <p:cNvPr id="51" name="Text Box 18"/>
            <p:cNvSpPr txBox="1">
              <a:spLocks noChangeArrowheads="1"/>
            </p:cNvSpPr>
            <p:nvPr/>
          </p:nvSpPr>
          <p:spPr bwMode="auto">
            <a:xfrm flipH="1">
              <a:off x="891"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sp>
          <p:nvSpPr>
            <p:cNvPr id="52" name="Text Box 20"/>
            <p:cNvSpPr txBox="1">
              <a:spLocks noChangeArrowheads="1"/>
            </p:cNvSpPr>
            <p:nvPr/>
          </p:nvSpPr>
          <p:spPr bwMode="auto">
            <a:xfrm flipH="1">
              <a:off x="3739"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4</a:t>
              </a:r>
              <a:endParaRPr lang="en-US" altLang="zh-CN" sz="2600" dirty="0">
                <a:latin typeface="Arial" panose="020B0604020202020204" pitchFamily="34" charset="0"/>
              </a:endParaRPr>
            </a:p>
          </p:txBody>
        </p:sp>
        <p:sp>
          <p:nvSpPr>
            <p:cNvPr id="53" name="Line 21"/>
            <p:cNvSpPr>
              <a:spLocks noChangeShapeType="1"/>
            </p:cNvSpPr>
            <p:nvPr/>
          </p:nvSpPr>
          <p:spPr bwMode="auto">
            <a:xfrm flipH="1">
              <a:off x="3456"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4" name="Line 22"/>
            <p:cNvSpPr>
              <a:spLocks noChangeShapeType="1"/>
            </p:cNvSpPr>
            <p:nvPr/>
          </p:nvSpPr>
          <p:spPr bwMode="auto">
            <a:xfrm flipH="1">
              <a:off x="115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5" name="Line 23"/>
            <p:cNvSpPr>
              <a:spLocks noChangeShapeType="1"/>
            </p:cNvSpPr>
            <p:nvPr/>
          </p:nvSpPr>
          <p:spPr bwMode="auto">
            <a:xfrm flipH="1">
              <a:off x="163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Line 24"/>
            <p:cNvSpPr>
              <a:spLocks noChangeShapeType="1"/>
            </p:cNvSpPr>
            <p:nvPr/>
          </p:nvSpPr>
          <p:spPr bwMode="auto">
            <a:xfrm flipH="1">
              <a:off x="187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7" name="Line 25"/>
            <p:cNvSpPr>
              <a:spLocks noChangeShapeType="1"/>
            </p:cNvSpPr>
            <p:nvPr/>
          </p:nvSpPr>
          <p:spPr bwMode="auto">
            <a:xfrm flipH="1">
              <a:off x="2064"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8" name="Line 26"/>
            <p:cNvSpPr>
              <a:spLocks noChangeShapeType="1"/>
            </p:cNvSpPr>
            <p:nvPr/>
          </p:nvSpPr>
          <p:spPr bwMode="auto">
            <a:xfrm flipH="1">
              <a:off x="2256"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9" name="Line 27"/>
            <p:cNvSpPr>
              <a:spLocks noChangeShapeType="1"/>
            </p:cNvSpPr>
            <p:nvPr/>
          </p:nvSpPr>
          <p:spPr bwMode="auto">
            <a:xfrm flipH="1">
              <a:off x="2688"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0" name="Text Box 28"/>
            <p:cNvSpPr txBox="1">
              <a:spLocks noChangeArrowheads="1"/>
            </p:cNvSpPr>
            <p:nvPr/>
          </p:nvSpPr>
          <p:spPr bwMode="auto">
            <a:xfrm flipH="1">
              <a:off x="2619"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8</a:t>
              </a:r>
              <a:endParaRPr lang="en-US" altLang="zh-CN" sz="2600">
                <a:latin typeface="Arial" panose="020B0604020202020204" pitchFamily="34" charset="0"/>
              </a:endParaRPr>
            </a:p>
          </p:txBody>
        </p:sp>
        <p:sp>
          <p:nvSpPr>
            <p:cNvPr id="61" name="Line 29"/>
            <p:cNvSpPr>
              <a:spLocks noChangeShapeType="1"/>
            </p:cNvSpPr>
            <p:nvPr/>
          </p:nvSpPr>
          <p:spPr bwMode="auto">
            <a:xfrm flipH="1">
              <a:off x="2928"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2" name="Line 30"/>
            <p:cNvSpPr>
              <a:spLocks noChangeShapeType="1"/>
            </p:cNvSpPr>
            <p:nvPr/>
          </p:nvSpPr>
          <p:spPr bwMode="auto">
            <a:xfrm flipH="1">
              <a:off x="3120"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3" name="Line 31"/>
            <p:cNvSpPr>
              <a:spLocks noChangeShapeType="1"/>
            </p:cNvSpPr>
            <p:nvPr/>
          </p:nvSpPr>
          <p:spPr bwMode="auto">
            <a:xfrm flipH="1">
              <a:off x="331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4" name="Line 32"/>
            <p:cNvSpPr>
              <a:spLocks noChangeShapeType="1"/>
            </p:cNvSpPr>
            <p:nvPr/>
          </p:nvSpPr>
          <p:spPr bwMode="auto">
            <a:xfrm flipH="1">
              <a:off x="3456"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5" name="Text Box 33"/>
            <p:cNvSpPr txBox="1">
              <a:spLocks noChangeArrowheads="1"/>
            </p:cNvSpPr>
            <p:nvPr/>
          </p:nvSpPr>
          <p:spPr bwMode="auto">
            <a:xfrm flipH="1">
              <a:off x="3344" y="3248"/>
              <a:ext cx="213"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12</a:t>
              </a:r>
              <a:endParaRPr lang="en-US" altLang="zh-CN" sz="2600">
                <a:latin typeface="Arial" panose="020B0604020202020204" pitchFamily="34" charset="0"/>
              </a:endParaRPr>
            </a:p>
          </p:txBody>
        </p:sp>
        <p:sp>
          <p:nvSpPr>
            <p:cNvPr id="66" name="Line 34"/>
            <p:cNvSpPr>
              <a:spLocks noChangeShapeType="1"/>
            </p:cNvSpPr>
            <p:nvPr/>
          </p:nvSpPr>
          <p:spPr bwMode="auto">
            <a:xfrm flipH="1">
              <a:off x="3696"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7" name="Line 35"/>
            <p:cNvSpPr>
              <a:spLocks noChangeShapeType="1"/>
            </p:cNvSpPr>
            <p:nvPr/>
          </p:nvSpPr>
          <p:spPr bwMode="auto">
            <a:xfrm flipH="1">
              <a:off x="3888"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8" name="Line 36"/>
            <p:cNvSpPr>
              <a:spLocks noChangeShapeType="1"/>
            </p:cNvSpPr>
            <p:nvPr/>
          </p:nvSpPr>
          <p:spPr bwMode="auto">
            <a:xfrm flipH="1">
              <a:off x="4080"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grpSp>
      <p:sp>
        <p:nvSpPr>
          <p:cNvPr id="69" name="内容占位符 2"/>
          <p:cNvSpPr txBox="1"/>
          <p:nvPr/>
        </p:nvSpPr>
        <p:spPr>
          <a:xfrm>
            <a:off x="1004769" y="5642874"/>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(0 + 6 + 3 + 7)/4 = 4</a:t>
            </a:r>
            <a:endParaRPr lang="en-US" altLang="zh-CN" sz="2400" dirty="0"/>
          </a:p>
        </p:txBody>
      </p:sp>
      <p:sp>
        <p:nvSpPr>
          <p:cNvPr id="70" name="内容占位符 2"/>
          <p:cNvSpPr txBox="1"/>
          <p:nvPr/>
        </p:nvSpPr>
        <p:spPr>
          <a:xfrm>
            <a:off x="6660200" y="5654445"/>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a:t>
            </a:r>
            <a:r>
              <a:rPr lang="en-US" altLang="zh-CN" sz="2400" dirty="0"/>
              <a:t>=(7+10+4+11)/4= 8</a:t>
            </a:r>
            <a:endParaRPr lang="en-US" altLang="zh-C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抢占式</a:t>
            </a:r>
            <a:r>
              <a:rPr lang="en-US" altLang="zh-CN" sz="2800" b="1" dirty="0">
                <a:solidFill>
                  <a:schemeClr val="bg1"/>
                </a:solidFill>
              </a:rPr>
              <a:t>SJF</a:t>
            </a:r>
            <a:r>
              <a:rPr lang="zh-CN" altLang="en-US" sz="2800" b="1" dirty="0">
                <a:solidFill>
                  <a:schemeClr val="bg1"/>
                </a:solidFill>
              </a:rPr>
              <a:t>举例</a:t>
            </a:r>
            <a:endParaRPr lang="zh-CN" altLang="en-US" sz="2800" b="1" dirty="0">
              <a:solidFill>
                <a:schemeClr val="bg1"/>
              </a:solidFill>
            </a:endParaRPr>
          </a:p>
        </p:txBody>
      </p:sp>
      <p:sp>
        <p:nvSpPr>
          <p:cNvPr id="31" name="文本框 30"/>
          <p:cNvSpPr txBox="1"/>
          <p:nvPr/>
        </p:nvSpPr>
        <p:spPr>
          <a:xfrm>
            <a:off x="2489207" y="1285309"/>
            <a:ext cx="6720840" cy="2267544"/>
          </a:xfrm>
          <a:prstGeom prst="rect">
            <a:avLst/>
          </a:prstGeom>
          <a:noFill/>
          <a:ln>
            <a:solidFill>
              <a:schemeClr val="bg2">
                <a:lumMod val="75000"/>
              </a:schemeClr>
            </a:solidFill>
          </a:ln>
        </p:spPr>
        <p:txBody>
          <a:bodyPr wrap="square">
            <a:spAutoFit/>
          </a:bodyPr>
          <a:lstStyle/>
          <a:p>
            <a:pPr>
              <a:lnSpc>
                <a:spcPct val="120000"/>
              </a:lnSpc>
              <a:buClr>
                <a:srgbClr val="FF0000"/>
              </a:buClr>
              <a:defRPr/>
            </a:pPr>
            <a:r>
              <a:rPr lang="zh-CN" altLang="en-US" sz="2400" dirty="0"/>
              <a:t>前例：	</a:t>
            </a:r>
            <a:r>
              <a:rPr lang="zh-CN" altLang="en-US" sz="2400" u="sng" dirty="0"/>
              <a:t>进程</a:t>
            </a:r>
            <a:r>
              <a:rPr lang="zh-CN" altLang="en-US" sz="2400" dirty="0"/>
              <a:t>	</a:t>
            </a:r>
            <a:r>
              <a:rPr lang="zh-CN" altLang="en-US" sz="2400" u="sng" dirty="0"/>
              <a:t>到达时间</a:t>
            </a:r>
            <a:r>
              <a:rPr lang="zh-CN" altLang="en-US" sz="2400" dirty="0"/>
              <a:t>	</a:t>
            </a:r>
            <a:r>
              <a:rPr lang="zh-CN" altLang="en-US" sz="2400" u="sng" dirty="0"/>
              <a:t>区间时间</a:t>
            </a:r>
            <a:endParaRPr lang="zh-CN" altLang="en-US" sz="2400" u="sng" dirty="0"/>
          </a:p>
          <a:p>
            <a:pPr marL="0" indent="0">
              <a:lnSpc>
                <a:spcPct val="120000"/>
              </a:lnSpc>
              <a:buFont typeface="Wingdings 2" panose="05020102010507070707" pitchFamily="18" charset="2"/>
              <a:buNone/>
              <a:defRPr/>
            </a:pPr>
            <a:r>
              <a:rPr lang="zh-CN" altLang="en-US" sz="2400" dirty="0"/>
              <a:t>		 </a:t>
            </a:r>
            <a:r>
              <a:rPr lang="en-US" altLang="zh-CN" sz="2400" dirty="0"/>
              <a:t>P1	    0		   7</a:t>
            </a:r>
            <a:endParaRPr lang="en-US" altLang="zh-CN" sz="2400" dirty="0"/>
          </a:p>
          <a:p>
            <a:pPr marL="0" indent="0">
              <a:lnSpc>
                <a:spcPct val="120000"/>
              </a:lnSpc>
              <a:buFont typeface="Wingdings 2" panose="05020102010507070707" pitchFamily="18" charset="2"/>
              <a:buNone/>
              <a:defRPr/>
            </a:pPr>
            <a:r>
              <a:rPr lang="en-US" altLang="zh-CN" sz="2400" dirty="0"/>
              <a:t>		 P2	    2		   4</a:t>
            </a:r>
            <a:endParaRPr lang="en-US" altLang="zh-CN" sz="2400" dirty="0"/>
          </a:p>
          <a:p>
            <a:pPr marL="0" indent="0">
              <a:lnSpc>
                <a:spcPct val="120000"/>
              </a:lnSpc>
              <a:buFont typeface="Wingdings 2" panose="05020102010507070707" pitchFamily="18" charset="2"/>
              <a:buNone/>
              <a:defRPr/>
            </a:pPr>
            <a:r>
              <a:rPr lang="en-US" altLang="zh-CN" sz="2400" dirty="0"/>
              <a:t>		 P3	    4		   1</a:t>
            </a:r>
            <a:endParaRPr lang="en-US" altLang="zh-CN" sz="2400" dirty="0"/>
          </a:p>
          <a:p>
            <a:pPr marL="0" indent="0">
              <a:lnSpc>
                <a:spcPct val="120000"/>
              </a:lnSpc>
              <a:buFont typeface="Wingdings 2" panose="05020102010507070707" pitchFamily="18" charset="2"/>
              <a:buNone/>
              <a:defRPr/>
            </a:pPr>
            <a:r>
              <a:rPr lang="en-US" altLang="zh-CN" sz="2400" dirty="0"/>
              <a:t>		 P4	    5		   4</a:t>
            </a:r>
            <a:endParaRPr lang="en-US" altLang="zh-CN" sz="2400" dirty="0"/>
          </a:p>
        </p:txBody>
      </p:sp>
      <p:sp>
        <p:nvSpPr>
          <p:cNvPr id="69" name="内容占位符 2"/>
          <p:cNvSpPr txBox="1"/>
          <p:nvPr/>
        </p:nvSpPr>
        <p:spPr>
          <a:xfrm>
            <a:off x="1004769" y="5642874"/>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(9 + 1 + 0 +2)/4 = 3</a:t>
            </a:r>
            <a:endParaRPr lang="en-US" altLang="zh-CN" sz="2400" dirty="0"/>
          </a:p>
        </p:txBody>
      </p:sp>
      <p:sp>
        <p:nvSpPr>
          <p:cNvPr id="70" name="内容占位符 2"/>
          <p:cNvSpPr txBox="1"/>
          <p:nvPr/>
        </p:nvSpPr>
        <p:spPr>
          <a:xfrm>
            <a:off x="6660200" y="5654445"/>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 </a:t>
            </a:r>
            <a:r>
              <a:rPr lang="en-US" altLang="zh-CN" sz="2400" dirty="0"/>
              <a:t>= (16+ 5 +1+ 6)/4 = 7</a:t>
            </a:r>
            <a:endParaRPr lang="en-US" altLang="zh-CN" sz="2400" dirty="0"/>
          </a:p>
        </p:txBody>
      </p:sp>
      <p:grpSp>
        <p:nvGrpSpPr>
          <p:cNvPr id="41" name="组合 1"/>
          <p:cNvGrpSpPr/>
          <p:nvPr/>
        </p:nvGrpSpPr>
        <p:grpSpPr bwMode="auto">
          <a:xfrm>
            <a:off x="2343404" y="3759675"/>
            <a:ext cx="7345777" cy="1533786"/>
            <a:chOff x="1339943" y="4343400"/>
            <a:chExt cx="5963407" cy="1234588"/>
          </a:xfrm>
        </p:grpSpPr>
        <p:sp>
          <p:nvSpPr>
            <p:cNvPr id="43" name="Rectangle 37"/>
            <p:cNvSpPr>
              <a:spLocks noChangeArrowheads="1"/>
            </p:cNvSpPr>
            <p:nvPr/>
          </p:nvSpPr>
          <p:spPr bwMode="auto">
            <a:xfrm flipH="1">
              <a:off x="1524264" y="4357009"/>
              <a:ext cx="5562978" cy="610489"/>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defRPr/>
              </a:pPr>
              <a:endParaRPr lang="zh-CN" altLang="en-US" sz="2600"/>
            </a:p>
          </p:txBody>
        </p:sp>
        <p:sp>
          <p:nvSpPr>
            <p:cNvPr id="71" name="Text Box 38"/>
            <p:cNvSpPr txBox="1">
              <a:spLocks noChangeArrowheads="1"/>
            </p:cNvSpPr>
            <p:nvPr/>
          </p:nvSpPr>
          <p:spPr bwMode="auto">
            <a:xfrm flipH="1">
              <a:off x="1595048"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1</a:t>
              </a:r>
              <a:endParaRPr lang="en-US" altLang="zh-CN" sz="2600"/>
            </a:p>
          </p:txBody>
        </p:sp>
        <p:sp>
          <p:nvSpPr>
            <p:cNvPr id="72" name="Text Box 39"/>
            <p:cNvSpPr txBox="1">
              <a:spLocks noChangeArrowheads="1"/>
            </p:cNvSpPr>
            <p:nvPr/>
          </p:nvSpPr>
          <p:spPr bwMode="auto">
            <a:xfrm flipH="1">
              <a:off x="2890201"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3</a:t>
              </a:r>
              <a:endParaRPr lang="en-US" altLang="zh-CN" sz="2600"/>
            </a:p>
          </p:txBody>
        </p:sp>
        <p:sp>
          <p:nvSpPr>
            <p:cNvPr id="73" name="Text Box 40"/>
            <p:cNvSpPr txBox="1">
              <a:spLocks noChangeArrowheads="1"/>
            </p:cNvSpPr>
            <p:nvPr/>
          </p:nvSpPr>
          <p:spPr bwMode="auto">
            <a:xfrm flipH="1">
              <a:off x="2356845"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2</a:t>
              </a:r>
              <a:endParaRPr lang="en-US" altLang="zh-CN" sz="2600"/>
            </a:p>
          </p:txBody>
        </p:sp>
        <p:sp>
          <p:nvSpPr>
            <p:cNvPr id="74" name="Line 41"/>
            <p:cNvSpPr>
              <a:spLocks noChangeShapeType="1"/>
            </p:cNvSpPr>
            <p:nvPr/>
          </p:nvSpPr>
          <p:spPr bwMode="auto">
            <a:xfrm flipH="1">
              <a:off x="7089202" y="4953889"/>
              <a:ext cx="0" cy="2274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5" name="Line 42"/>
            <p:cNvSpPr>
              <a:spLocks noChangeShapeType="1"/>
            </p:cNvSpPr>
            <p:nvPr/>
          </p:nvSpPr>
          <p:spPr bwMode="auto">
            <a:xfrm flipH="1">
              <a:off x="1524264"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6" name="Line 43"/>
            <p:cNvSpPr>
              <a:spLocks noChangeShapeType="1"/>
            </p:cNvSpPr>
            <p:nvPr/>
          </p:nvSpPr>
          <p:spPr bwMode="auto">
            <a:xfrm flipH="1">
              <a:off x="4267517" y="4357009"/>
              <a:ext cx="0" cy="6104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7" name="Line 44"/>
            <p:cNvSpPr>
              <a:spLocks noChangeShapeType="1"/>
            </p:cNvSpPr>
            <p:nvPr/>
          </p:nvSpPr>
          <p:spPr bwMode="auto">
            <a:xfrm flipH="1">
              <a:off x="2134094"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8" name="Line 45"/>
            <p:cNvSpPr>
              <a:spLocks noChangeShapeType="1"/>
            </p:cNvSpPr>
            <p:nvPr/>
          </p:nvSpPr>
          <p:spPr bwMode="auto">
            <a:xfrm flipH="1">
              <a:off x="3820439" y="4856678"/>
              <a:ext cx="0" cy="2294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9" name="Text Box 47"/>
            <p:cNvSpPr txBox="1">
              <a:spLocks noChangeArrowheads="1"/>
            </p:cNvSpPr>
            <p:nvPr/>
          </p:nvSpPr>
          <p:spPr bwMode="auto">
            <a:xfrm flipH="1">
              <a:off x="2747416"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4</a:t>
              </a:r>
              <a:endParaRPr lang="en-US" altLang="zh-CN" sz="2600"/>
            </a:p>
          </p:txBody>
        </p:sp>
        <p:sp>
          <p:nvSpPr>
            <p:cNvPr id="80" name="Text Box 48"/>
            <p:cNvSpPr txBox="1">
              <a:spLocks noChangeArrowheads="1"/>
            </p:cNvSpPr>
            <p:nvPr/>
          </p:nvSpPr>
          <p:spPr bwMode="auto">
            <a:xfrm flipH="1">
              <a:off x="1986600"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2</a:t>
              </a:r>
              <a:endParaRPr lang="en-US" altLang="zh-CN" sz="2600"/>
            </a:p>
          </p:txBody>
        </p:sp>
        <p:sp>
          <p:nvSpPr>
            <p:cNvPr id="81" name="Text Box 49"/>
            <p:cNvSpPr txBox="1">
              <a:spLocks noChangeArrowheads="1"/>
            </p:cNvSpPr>
            <p:nvPr/>
          </p:nvSpPr>
          <p:spPr bwMode="auto">
            <a:xfrm flipH="1">
              <a:off x="5261504" y="5156210"/>
              <a:ext cx="431733"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11</a:t>
              </a:r>
              <a:endParaRPr lang="en-US" altLang="zh-CN" sz="2600"/>
            </a:p>
          </p:txBody>
        </p:sp>
        <p:sp>
          <p:nvSpPr>
            <p:cNvPr id="82" name="Text Box 50"/>
            <p:cNvSpPr txBox="1">
              <a:spLocks noChangeArrowheads="1"/>
            </p:cNvSpPr>
            <p:nvPr/>
          </p:nvSpPr>
          <p:spPr bwMode="auto">
            <a:xfrm flipH="1">
              <a:off x="1339943" y="5177476"/>
              <a:ext cx="337269" cy="400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0</a:t>
              </a:r>
              <a:endParaRPr lang="en-US" altLang="zh-CN" sz="2600" dirty="0"/>
            </a:p>
          </p:txBody>
        </p:sp>
        <p:sp>
          <p:nvSpPr>
            <p:cNvPr id="83" name="Text Box 51"/>
            <p:cNvSpPr txBox="1">
              <a:spLocks noChangeArrowheads="1"/>
            </p:cNvSpPr>
            <p:nvPr/>
          </p:nvSpPr>
          <p:spPr bwMode="auto">
            <a:xfrm flipH="1">
              <a:off x="4718709"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4</a:t>
              </a:r>
              <a:endParaRPr lang="en-US" altLang="zh-CN" sz="2600"/>
            </a:p>
          </p:txBody>
        </p:sp>
        <p:sp>
          <p:nvSpPr>
            <p:cNvPr id="84" name="Line 52"/>
            <p:cNvSpPr>
              <a:spLocks noChangeShapeType="1"/>
            </p:cNvSpPr>
            <p:nvPr/>
          </p:nvSpPr>
          <p:spPr bwMode="auto">
            <a:xfrm flipH="1">
              <a:off x="5487175" y="4357009"/>
              <a:ext cx="0" cy="6104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5" name="Line 53"/>
            <p:cNvSpPr>
              <a:spLocks noChangeShapeType="1"/>
            </p:cNvSpPr>
            <p:nvPr/>
          </p:nvSpPr>
          <p:spPr bwMode="auto">
            <a:xfrm flipH="1">
              <a:off x="1828199"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6" name="Line 54"/>
            <p:cNvSpPr>
              <a:spLocks noChangeShapeType="1"/>
            </p:cNvSpPr>
            <p:nvPr/>
          </p:nvSpPr>
          <p:spPr bwMode="auto">
            <a:xfrm flipH="1">
              <a:off x="2524306"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7" name="Line 58"/>
            <p:cNvSpPr>
              <a:spLocks noChangeShapeType="1"/>
            </p:cNvSpPr>
            <p:nvPr/>
          </p:nvSpPr>
          <p:spPr bwMode="auto">
            <a:xfrm flipH="1">
              <a:off x="4267517"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8" name="Text Box 59"/>
            <p:cNvSpPr txBox="1">
              <a:spLocks noChangeArrowheads="1"/>
            </p:cNvSpPr>
            <p:nvPr/>
          </p:nvSpPr>
          <p:spPr bwMode="auto">
            <a:xfrm flipH="1">
              <a:off x="3281753"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5</a:t>
              </a:r>
              <a:endParaRPr lang="en-US" altLang="zh-CN" sz="2600"/>
            </a:p>
          </p:txBody>
        </p:sp>
        <p:sp>
          <p:nvSpPr>
            <p:cNvPr id="89" name="Line 60"/>
            <p:cNvSpPr>
              <a:spLocks noChangeShapeType="1"/>
            </p:cNvSpPr>
            <p:nvPr/>
          </p:nvSpPr>
          <p:spPr bwMode="auto">
            <a:xfrm flipH="1">
              <a:off x="4638120"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0" name="Line 61"/>
            <p:cNvSpPr>
              <a:spLocks noChangeShapeType="1"/>
            </p:cNvSpPr>
            <p:nvPr/>
          </p:nvSpPr>
          <p:spPr bwMode="auto">
            <a:xfrm flipH="1">
              <a:off x="4953820"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1" name="Line 62"/>
            <p:cNvSpPr>
              <a:spLocks noChangeShapeType="1"/>
            </p:cNvSpPr>
            <p:nvPr/>
          </p:nvSpPr>
          <p:spPr bwMode="auto">
            <a:xfrm flipH="1">
              <a:off x="5257753"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2" name="Line 63"/>
            <p:cNvSpPr>
              <a:spLocks noChangeShapeType="1"/>
            </p:cNvSpPr>
            <p:nvPr/>
          </p:nvSpPr>
          <p:spPr bwMode="auto">
            <a:xfrm flipH="1">
              <a:off x="5487175"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3" name="Text Box 64"/>
            <p:cNvSpPr txBox="1">
              <a:spLocks noChangeArrowheads="1"/>
            </p:cNvSpPr>
            <p:nvPr/>
          </p:nvSpPr>
          <p:spPr bwMode="auto">
            <a:xfrm flipH="1">
              <a:off x="4120022"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7</a:t>
              </a:r>
              <a:endParaRPr lang="en-US" altLang="zh-CN" sz="2600"/>
            </a:p>
          </p:txBody>
        </p:sp>
        <p:sp>
          <p:nvSpPr>
            <p:cNvPr id="94" name="Line 65"/>
            <p:cNvSpPr>
              <a:spLocks noChangeShapeType="1"/>
            </p:cNvSpPr>
            <p:nvPr/>
          </p:nvSpPr>
          <p:spPr bwMode="auto">
            <a:xfrm flipH="1">
              <a:off x="5867583"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5" name="Line 66"/>
            <p:cNvSpPr>
              <a:spLocks noChangeShapeType="1"/>
            </p:cNvSpPr>
            <p:nvPr/>
          </p:nvSpPr>
          <p:spPr bwMode="auto">
            <a:xfrm flipH="1">
              <a:off x="6171517"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6" name="Line 67"/>
            <p:cNvSpPr>
              <a:spLocks noChangeShapeType="1"/>
            </p:cNvSpPr>
            <p:nvPr/>
          </p:nvSpPr>
          <p:spPr bwMode="auto">
            <a:xfrm flipH="1">
              <a:off x="6477412"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7" name="Line 68"/>
            <p:cNvSpPr>
              <a:spLocks noChangeShapeType="1"/>
            </p:cNvSpPr>
            <p:nvPr/>
          </p:nvSpPr>
          <p:spPr bwMode="auto">
            <a:xfrm flipH="1">
              <a:off x="2894910"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8" name="Line 69"/>
            <p:cNvSpPr>
              <a:spLocks noChangeShapeType="1"/>
            </p:cNvSpPr>
            <p:nvPr/>
          </p:nvSpPr>
          <p:spPr bwMode="auto">
            <a:xfrm flipH="1">
              <a:off x="3428266"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9" name="Text Box 70"/>
            <p:cNvSpPr txBox="1">
              <a:spLocks noChangeArrowheads="1"/>
            </p:cNvSpPr>
            <p:nvPr/>
          </p:nvSpPr>
          <p:spPr bwMode="auto">
            <a:xfrm flipH="1">
              <a:off x="3576504"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2</a:t>
              </a:r>
              <a:endParaRPr lang="en-US" altLang="zh-CN" sz="2600"/>
            </a:p>
          </p:txBody>
        </p:sp>
        <p:sp>
          <p:nvSpPr>
            <p:cNvPr id="100" name="Text Box 71"/>
            <p:cNvSpPr txBox="1">
              <a:spLocks noChangeArrowheads="1"/>
            </p:cNvSpPr>
            <p:nvPr/>
          </p:nvSpPr>
          <p:spPr bwMode="auto">
            <a:xfrm flipH="1">
              <a:off x="6091315" y="4404765"/>
              <a:ext cx="431004"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P</a:t>
              </a:r>
              <a:r>
                <a:rPr lang="en-US" altLang="zh-CN" sz="2600" baseline="-25000"/>
                <a:t>1</a:t>
              </a:r>
              <a:endParaRPr lang="en-US" altLang="zh-CN" sz="2600"/>
            </a:p>
          </p:txBody>
        </p:sp>
        <p:sp>
          <p:nvSpPr>
            <p:cNvPr id="101" name="Line 72"/>
            <p:cNvSpPr>
              <a:spLocks noChangeShapeType="1"/>
            </p:cNvSpPr>
            <p:nvPr/>
          </p:nvSpPr>
          <p:spPr bwMode="auto">
            <a:xfrm flipH="1">
              <a:off x="6781347"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102" name="Text Box 73"/>
            <p:cNvSpPr txBox="1">
              <a:spLocks noChangeArrowheads="1"/>
            </p:cNvSpPr>
            <p:nvPr/>
          </p:nvSpPr>
          <p:spPr bwMode="auto">
            <a:xfrm flipH="1">
              <a:off x="6851524" y="5156210"/>
              <a:ext cx="451826"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16</a:t>
              </a:r>
              <a:endParaRPr lang="en-US" altLang="zh-CN" sz="26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短作业优先（</a:t>
            </a:r>
            <a:r>
              <a:rPr lang="en-US" altLang="zh-CN" sz="2800" b="1" dirty="0">
                <a:solidFill>
                  <a:schemeClr val="bg1"/>
                </a:solidFill>
              </a:rPr>
              <a:t>SJF</a:t>
            </a:r>
            <a:r>
              <a:rPr lang="zh-CN" altLang="en-US" sz="2800" b="1" dirty="0">
                <a:solidFill>
                  <a:schemeClr val="bg1"/>
                </a:solidFill>
              </a:rPr>
              <a:t>）调度算法（</a:t>
            </a:r>
            <a:r>
              <a:rPr lang="en-US" altLang="zh-CN" sz="2800" b="1" dirty="0">
                <a:solidFill>
                  <a:schemeClr val="bg1"/>
                </a:solidFill>
              </a:rPr>
              <a:t>2</a:t>
            </a:r>
            <a:r>
              <a:rPr lang="zh-CN" altLang="en-US" sz="2800" b="1" dirty="0">
                <a:solidFill>
                  <a:schemeClr val="bg1"/>
                </a:solidFill>
              </a:rPr>
              <a:t>）</a:t>
            </a:r>
            <a:endParaRPr lang="zh-CN" altLang="en-US" sz="2800" b="1" dirty="0">
              <a:solidFill>
                <a:schemeClr val="bg1"/>
              </a:solidFill>
            </a:endParaRPr>
          </a:p>
        </p:txBody>
      </p:sp>
      <p:sp>
        <p:nvSpPr>
          <p:cNvPr id="42" name="文本框 41"/>
          <p:cNvSpPr txBox="1"/>
          <p:nvPr/>
        </p:nvSpPr>
        <p:spPr>
          <a:xfrm>
            <a:off x="1352002" y="1339489"/>
            <a:ext cx="6720840" cy="1821461"/>
          </a:xfrm>
          <a:prstGeom prst="rect">
            <a:avLst/>
          </a:prstGeom>
          <a:noFill/>
        </p:spPr>
        <p:txBody>
          <a:bodyPr wrap="square">
            <a:spAutoFit/>
          </a:bodyPr>
          <a:lstStyle/>
          <a:p>
            <a:pPr>
              <a:lnSpc>
                <a:spcPct val="150000"/>
              </a:lnSpc>
            </a:pPr>
            <a:r>
              <a:rPr lang="en-US" altLang="zh-CN" sz="2600" dirty="0"/>
              <a:t>SJF</a:t>
            </a:r>
            <a:r>
              <a:rPr lang="zh-CN" altLang="en-US" sz="2600" dirty="0"/>
              <a:t>比</a:t>
            </a:r>
            <a:r>
              <a:rPr lang="en-US" altLang="zh-CN" sz="2600" dirty="0"/>
              <a:t>FCFS</a:t>
            </a:r>
            <a:r>
              <a:rPr lang="zh-CN" altLang="en-US" sz="2600" dirty="0"/>
              <a:t>算法有明显改进</a:t>
            </a:r>
            <a:endParaRPr lang="en-US" altLang="zh-CN" sz="2600" dirty="0"/>
          </a:p>
          <a:p>
            <a:pPr>
              <a:lnSpc>
                <a:spcPct val="150000"/>
              </a:lnSpc>
            </a:pPr>
            <a:endParaRPr lang="en-US" altLang="zh-CN" sz="2600" dirty="0"/>
          </a:p>
          <a:p>
            <a:pPr>
              <a:lnSpc>
                <a:spcPct val="150000"/>
              </a:lnSpc>
            </a:pPr>
            <a:r>
              <a:rPr lang="zh-CN" altLang="en-US" sz="2600" b="1" dirty="0">
                <a:solidFill>
                  <a:srgbClr val="FF0000"/>
                </a:solidFill>
              </a:rPr>
              <a:t>缺点：</a:t>
            </a:r>
            <a:endParaRPr lang="zh-CN" altLang="en-US" sz="2600" b="1" dirty="0">
              <a:solidFill>
                <a:srgbClr val="FF0000"/>
              </a:solidFill>
            </a:endParaRPr>
          </a:p>
        </p:txBody>
      </p:sp>
      <p:sp>
        <p:nvSpPr>
          <p:cNvPr id="44" name="矩形 43"/>
          <p:cNvSpPr/>
          <p:nvPr/>
        </p:nvSpPr>
        <p:spPr>
          <a:xfrm>
            <a:off x="2083633" y="3248552"/>
            <a:ext cx="10112145" cy="1280540"/>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只能估算进程的运行时间（估值不准确），所以通常用于作业调度</a:t>
            </a:r>
            <a:endParaRPr lang="zh-CN" altLang="en-US" sz="2400" dirty="0">
              <a:latin typeface="+mn-ea"/>
            </a:endParaRPr>
          </a:p>
          <a:p>
            <a:pPr>
              <a:lnSpc>
                <a:spcPct val="132000"/>
              </a:lnSpc>
              <a:spcBef>
                <a:spcPts val="600"/>
              </a:spcBef>
              <a:spcAft>
                <a:spcPts val="600"/>
              </a:spcAft>
            </a:pPr>
            <a:r>
              <a:rPr lang="zh-CN" altLang="en-US" sz="2400" dirty="0">
                <a:latin typeface="+mn-ea"/>
              </a:rPr>
              <a:t>对长作业不利，不断有新作业流到达，它可能饥饿</a:t>
            </a:r>
            <a:endParaRPr lang="zh-CN" altLang="en-US" sz="2400" dirty="0">
              <a:latin typeface="+mn-ea"/>
            </a:endParaRPr>
          </a:p>
        </p:txBody>
      </p:sp>
      <p:sp>
        <p:nvSpPr>
          <p:cNvPr id="45" name="矩形 44"/>
          <p:cNvSpPr/>
          <p:nvPr/>
        </p:nvSpPr>
        <p:spPr>
          <a:xfrm>
            <a:off x="2083633" y="4555726"/>
            <a:ext cx="8024733" cy="1199405"/>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采用</a:t>
            </a:r>
            <a:r>
              <a:rPr lang="en-US" altLang="zh-CN" sz="2400" dirty="0">
                <a:latin typeface="+mn-ea"/>
              </a:rPr>
              <a:t>SJF</a:t>
            </a:r>
            <a:r>
              <a:rPr lang="zh-CN" altLang="en-US" sz="2400" dirty="0">
                <a:latin typeface="+mn-ea"/>
              </a:rPr>
              <a:t>算法时，人</a:t>
            </a:r>
            <a:r>
              <a:rPr lang="en-US" altLang="zh-CN" sz="2400" dirty="0">
                <a:latin typeface="+mn-ea"/>
              </a:rPr>
              <a:t>-</a:t>
            </a:r>
            <a:r>
              <a:rPr lang="zh-CN" altLang="en-US" sz="2400" dirty="0">
                <a:latin typeface="+mn-ea"/>
              </a:rPr>
              <a:t>机无法实现交互</a:t>
            </a:r>
            <a:endParaRPr lang="zh-CN" altLang="en-US" sz="2400" dirty="0">
              <a:latin typeface="+mn-ea"/>
            </a:endParaRPr>
          </a:p>
          <a:p>
            <a:pPr>
              <a:lnSpc>
                <a:spcPct val="132000"/>
              </a:lnSpc>
              <a:spcBef>
                <a:spcPts val="600"/>
              </a:spcBef>
              <a:spcAft>
                <a:spcPts val="600"/>
              </a:spcAft>
            </a:pPr>
            <a:r>
              <a:rPr lang="zh-CN" altLang="en-US" sz="2400" dirty="0">
                <a:latin typeface="+mn-ea"/>
              </a:rPr>
              <a:t>完全未考虑作业的紧迫程度</a:t>
            </a:r>
            <a:endParaRPr lang="zh-CN" altLang="en-US" sz="2400" dirty="0">
              <a:latin typeface="+mn-ea"/>
            </a:endParaRPr>
          </a:p>
        </p:txBody>
      </p:sp>
      <p:pic>
        <p:nvPicPr>
          <p:cNvPr id="46" name="图片 4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4557354"/>
            <a:ext cx="527050" cy="527050"/>
          </a:xfrm>
          <a:prstGeom prst="rect">
            <a:avLst/>
          </a:prstGeom>
          <a:ln>
            <a:noFill/>
          </a:ln>
          <a:effectLst>
            <a:softEdge rad="0"/>
          </a:effectLst>
        </p:spPr>
      </p:pic>
      <p:pic>
        <p:nvPicPr>
          <p:cNvPr id="47" name="图片 4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5230332"/>
            <a:ext cx="527050" cy="527050"/>
          </a:xfrm>
          <a:prstGeom prst="rect">
            <a:avLst/>
          </a:prstGeom>
          <a:ln>
            <a:noFill/>
          </a:ln>
          <a:effectLst>
            <a:softEdge rad="0"/>
          </a:effectLst>
        </p:spPr>
      </p:pic>
      <p:pic>
        <p:nvPicPr>
          <p:cNvPr id="48" name="图片 4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3257434"/>
            <a:ext cx="527050" cy="527050"/>
          </a:xfrm>
          <a:prstGeom prst="rect">
            <a:avLst/>
          </a:prstGeom>
          <a:ln>
            <a:noFill/>
          </a:ln>
          <a:effectLst>
            <a:softEdge rad="0"/>
          </a:effectLst>
        </p:spPr>
      </p:pic>
      <p:pic>
        <p:nvPicPr>
          <p:cNvPr id="49" name="图片 4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3906580"/>
            <a:ext cx="527050" cy="527050"/>
          </a:xfrm>
          <a:prstGeom prst="rect">
            <a:avLst/>
          </a:prstGeom>
          <a:ln>
            <a:noFill/>
          </a:ln>
          <a:effectLst>
            <a:softEdge rad="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4425" y="1318260"/>
            <a:ext cx="9372600" cy="398780"/>
          </a:xfrm>
          <a:prstGeom prst="rect">
            <a:avLst/>
          </a:prstGeom>
        </p:spPr>
        <p:txBody>
          <a:bodyPr wrap="square">
            <a:spAutoFit/>
          </a:bodyPr>
          <a:lstStyle/>
          <a:p>
            <a:pPr marL="266700" indent="-266700" algn="just" defTabSz="266700">
              <a:spcAft>
                <a:spcPct val="0"/>
              </a:spcAft>
            </a:pPr>
            <a:r>
              <a:rPr lang="en-US" altLang="zh-CN" sz="2000">
                <a:latin typeface="宋体" panose="02010600030101010101" pitchFamily="2" charset="-122"/>
                <a:ea typeface="宋体" panose="02010600030101010101" pitchFamily="2" charset="-122"/>
              </a:rPr>
              <a:t>1. </a:t>
            </a:r>
            <a:r>
              <a:rPr lang="zh-CN" altLang="en-US" sz="2000">
                <a:latin typeface="宋体" panose="02010600030101010101" pitchFamily="2" charset="-122"/>
                <a:ea typeface="宋体" panose="02010600030101010101" pitchFamily="2" charset="-122"/>
              </a:rPr>
              <a:t>假设</a:t>
            </a:r>
            <a:r>
              <a:rPr lang="en-US" altLang="zh-CN" sz="2000">
                <a:latin typeface="宋体" panose="02010600030101010101" pitchFamily="2" charset="-122"/>
                <a:ea typeface="宋体" panose="02010600030101010101" pitchFamily="2" charset="-122"/>
              </a:rPr>
              <a:t>4</a:t>
            </a:r>
            <a:r>
              <a:rPr lang="zh-CN" altLang="en-US" sz="2000">
                <a:latin typeface="宋体" panose="02010600030101010101" pitchFamily="2" charset="-122"/>
                <a:ea typeface="宋体" panose="02010600030101010101" pitchFamily="2" charset="-122"/>
              </a:rPr>
              <a:t>个作业到达系统的时刻和运行时间如下表所示。</a:t>
            </a:r>
            <a:endParaRPr lang="zh-CN" altLang="en-US" sz="20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022985" y="1655445"/>
          <a:ext cx="9770745" cy="2003425"/>
        </p:xfrm>
        <a:graphic>
          <a:graphicData uri="http://schemas.openxmlformats.org/drawingml/2006/table">
            <a:tbl>
              <a:tblPr/>
              <a:tblGrid>
                <a:gridCol w="3256915"/>
                <a:gridCol w="3256915"/>
                <a:gridCol w="3256915"/>
              </a:tblGrid>
              <a:tr h="400685">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作业</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到达时刻</a:t>
                      </a:r>
                      <a:r>
                        <a:rPr lang="en-US" altLang="zh-CN" sz="2000">
                          <a:latin typeface="宋体" panose="02010600030101010101" pitchFamily="2" charset="-122"/>
                          <a:ea typeface="宋体" panose="02010600030101010101" pitchFamily="2" charset="-122"/>
                        </a:rPr>
                        <a:t>t</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运行时间</a:t>
                      </a:r>
                      <a:endParaRPr 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40068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J1</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0068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J2</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0068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J3</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2</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0068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J4</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114425" y="3659505"/>
            <a:ext cx="9372600" cy="2187575"/>
          </a:xfrm>
          <a:prstGeom prst="rect">
            <a:avLst/>
          </a:prstGeom>
        </p:spPr>
        <p:txBody>
          <a:bodyPr wrap="square">
            <a:noAutofit/>
          </a:bodyPr>
          <a:lstStyle/>
          <a:p>
            <a:endParaRPr lang="zh-CN" altLang="en-US" sz="2000">
              <a:latin typeface="宋体" panose="02010600030101010101" pitchFamily="2" charset="-122"/>
              <a:ea typeface="宋体" panose="02010600030101010101" pitchFamily="2" charset="-122"/>
            </a:endParaRPr>
          </a:p>
          <a:p>
            <a:pPr marL="0" indent="0" algn="just" defTabSz="266700">
              <a:spcAft>
                <a:spcPct val="0"/>
              </a:spcAft>
            </a:pPr>
            <a:r>
              <a:rPr lang="zh-CN" altLang="en-US" sz="2000">
                <a:latin typeface="宋体" panose="02010600030101010101" pitchFamily="2" charset="-122"/>
                <a:ea typeface="宋体" panose="02010600030101010101" pitchFamily="2" charset="-122"/>
              </a:rPr>
              <a:t>系统在</a:t>
            </a:r>
            <a:r>
              <a:rPr lang="en-US" altLang="zh-CN" sz="2000">
                <a:latin typeface="宋体" panose="02010600030101010101" pitchFamily="2" charset="-122"/>
                <a:ea typeface="宋体" panose="02010600030101010101" pitchFamily="2" charset="-122"/>
              </a:rPr>
              <a:t>t=2</a:t>
            </a:r>
            <a:r>
              <a:rPr lang="zh-CN" altLang="en-US" sz="2000">
                <a:latin typeface="宋体" panose="02010600030101010101" pitchFamily="2" charset="-122"/>
                <a:ea typeface="宋体" panose="02010600030101010101" pitchFamily="2" charset="-122"/>
              </a:rPr>
              <a:t>时开始作业调度。若分别采用先来先服务和短作业优先调度算法，则选中的作业分别是</a:t>
            </a: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				</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全国联考</a:t>
            </a:r>
            <a:r>
              <a:rPr lang="en-US" altLang="zh-CN" sz="2000" b="1">
                <a:latin typeface="宋体" panose="02010600030101010101" pitchFamily="2" charset="-122"/>
                <a:ea typeface="宋体" panose="02010600030101010101" pitchFamily="2" charset="-122"/>
              </a:rPr>
              <a:t>2017</a:t>
            </a:r>
            <a:r>
              <a:rPr lang="zh-CN" altLang="en-US" sz="2000" b="1">
                <a:latin typeface="宋体" panose="02010600030101010101" pitchFamily="2" charset="-122"/>
                <a:ea typeface="宋体" panose="02010600030101010101" pitchFamily="2" charset="-122"/>
              </a:rPr>
              <a:t>年</a:t>
            </a:r>
            <a:r>
              <a:rPr lang="en-US" altLang="zh-CN" sz="2000" b="1">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A.J2</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J3</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B.J1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J4</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C.J2</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J4</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solidFill>
                  <a:srgbClr val="FF0000"/>
                </a:solidFill>
                <a:latin typeface="宋体" panose="02010600030101010101" pitchFamily="2" charset="-122"/>
                <a:ea typeface="宋体" panose="02010600030101010101" pitchFamily="2" charset="-122"/>
              </a:rPr>
              <a:t>D</a:t>
            </a:r>
            <a:r>
              <a:rPr lang="en-US" altLang="zh-CN" sz="2000">
                <a:latin typeface="宋体" panose="02010600030101010101" pitchFamily="2" charset="-122"/>
                <a:ea typeface="宋体" panose="02010600030101010101" pitchFamily="2" charset="-122"/>
              </a:rPr>
              <a:t>.J1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J3</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优先级调度算法</a:t>
            </a:r>
            <a:r>
              <a:rPr lang="en-US" altLang="zh-CN" sz="2800" b="1" dirty="0">
                <a:solidFill>
                  <a:schemeClr val="bg1"/>
                </a:solidFill>
              </a:rPr>
              <a:t>PR</a:t>
            </a:r>
            <a:r>
              <a:rPr lang="zh-CN" altLang="en-US" sz="2800" b="1" dirty="0">
                <a:solidFill>
                  <a:schemeClr val="bg1"/>
                </a:solidFill>
              </a:rPr>
              <a:t>（</a:t>
            </a:r>
            <a:r>
              <a:rPr lang="en-US" altLang="zh-CN" sz="2800" b="1" dirty="0">
                <a:solidFill>
                  <a:schemeClr val="bg1"/>
                </a:solidFill>
              </a:rPr>
              <a:t>1</a:t>
            </a:r>
            <a:r>
              <a:rPr lang="zh-CN" altLang="en-US" sz="2800" b="1" dirty="0">
                <a:solidFill>
                  <a:schemeClr val="bg1"/>
                </a:solidFill>
              </a:rPr>
              <a:t>）</a:t>
            </a:r>
            <a:endParaRPr lang="zh-CN" altLang="en-US" sz="2800" b="1" dirty="0">
              <a:solidFill>
                <a:schemeClr val="bg1"/>
              </a:solidFill>
            </a:endParaRPr>
          </a:p>
        </p:txBody>
      </p:sp>
      <p:sp>
        <p:nvSpPr>
          <p:cNvPr id="10" name="íšḻîḋè"/>
          <p:cNvSpPr/>
          <p:nvPr/>
        </p:nvSpPr>
        <p:spPr>
          <a:xfrm>
            <a:off x="1737966" y="3318826"/>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每个进程都有一个优先数，优先数为整数。</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默认：小的优先数具有高优先级。</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目前主流的操作系统调度算法。</a:t>
            </a:r>
            <a:endParaRPr lang="zh-CN" altLang="en-US" sz="2200" dirty="0"/>
          </a:p>
        </p:txBody>
      </p:sp>
      <p:sp>
        <p:nvSpPr>
          <p:cNvPr id="11" name="i$lîďê"/>
          <p:cNvSpPr/>
          <p:nvPr/>
        </p:nvSpPr>
        <p:spPr>
          <a:xfrm>
            <a:off x="1793602" y="2468737"/>
            <a:ext cx="9631960" cy="771612"/>
          </a:xfrm>
          <a:prstGeom prst="rect">
            <a:avLst/>
          </a:prstGeom>
          <a:noFill/>
          <a:ln>
            <a:noFill/>
          </a:ln>
        </p:spPr>
        <p:txBody>
          <a:bodyPr wrap="square" lIns="91440" tIns="45720" rIns="91440" bIns="45720" anchor="ctr" anchorCtr="0">
            <a:noAutofit/>
          </a:bodyPr>
          <a:lstStyle/>
          <a:p>
            <a:r>
              <a:rPr lang="zh-CN" altLang="en-US" sz="2400" dirty="0"/>
              <a:t>基于作业</a:t>
            </a:r>
            <a:r>
              <a:rPr lang="en-US" altLang="zh-CN" sz="2400" dirty="0"/>
              <a:t>/</a:t>
            </a:r>
            <a:r>
              <a:rPr lang="zh-CN" altLang="en-US" sz="2400" dirty="0"/>
              <a:t>进程的紧迫程度，由外部赋予作业相应的优先级，调度算法根据优先级进行调度。</a:t>
            </a:r>
            <a:endParaRPr lang="zh-CN" altLang="en-US" sz="2400" dirty="0"/>
          </a:p>
        </p:txBody>
      </p:sp>
      <p:sp>
        <p:nvSpPr>
          <p:cNvPr id="12" name="ïṧḷïḋè"/>
          <p:cNvSpPr/>
          <p:nvPr/>
        </p:nvSpPr>
        <p:spPr>
          <a:xfrm>
            <a:off x="1793602" y="4821281"/>
            <a:ext cx="9454404" cy="62786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高响应比优先调度算法是一种优先级调度算法</a:t>
            </a:r>
            <a:r>
              <a:rPr lang="zh-CN" altLang="en-US" sz="2400" dirty="0"/>
              <a:t>，用于作业调度。	</a:t>
            </a:r>
            <a:endParaRPr lang="zh-CN" altLang="en-US" sz="2400" dirty="0"/>
          </a:p>
        </p:txBody>
      </p:sp>
      <p:sp>
        <p:nvSpPr>
          <p:cNvPr id="14" name="íšḻíḑê"/>
          <p:cNvSpPr/>
          <p:nvPr/>
        </p:nvSpPr>
        <p:spPr>
          <a:xfrm>
            <a:off x="1793602" y="1543328"/>
            <a:ext cx="7297132" cy="405747"/>
          </a:xfrm>
          <a:prstGeom prst="rect">
            <a:avLst/>
          </a:prstGeom>
          <a:noFill/>
          <a:ln>
            <a:noFill/>
          </a:ln>
        </p:spPr>
        <p:txBody>
          <a:bodyPr wrap="square" lIns="91440" tIns="45720" rIns="91440" bIns="45720" anchor="ctr" anchorCtr="0">
            <a:noAutofit/>
          </a:bodyPr>
          <a:lstStyle/>
          <a:p>
            <a:r>
              <a:rPr lang="zh-CN" altLang="en-US" sz="2400" dirty="0"/>
              <a:t>既可用于作业调度，也可用于进程调度。</a:t>
            </a:r>
            <a:endParaRPr lang="zh-CN" altLang="en-US" sz="2400" dirty="0"/>
          </a:p>
        </p:txBody>
      </p:sp>
      <p:sp>
        <p:nvSpPr>
          <p:cNvPr id="15" name="îSļiḓè"/>
          <p:cNvSpPr/>
          <p:nvPr/>
        </p:nvSpPr>
        <p:spPr>
          <a:xfrm>
            <a:off x="1110099" y="143226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íṥḻîḓe"/>
          <p:cNvSpPr/>
          <p:nvPr/>
        </p:nvSpPr>
        <p:spPr>
          <a:xfrm>
            <a:off x="1110098" y="477731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7" name="îşļiḓè"/>
          <p:cNvSpPr/>
          <p:nvPr/>
        </p:nvSpPr>
        <p:spPr>
          <a:xfrm>
            <a:off x="1110100" y="241972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îṡḷíďe"/>
          <p:cNvSpPr/>
          <p:nvPr/>
        </p:nvSpPr>
        <p:spPr>
          <a:xfrm>
            <a:off x="1300354" y="162840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íSlíḋe"/>
          <p:cNvSpPr/>
          <p:nvPr/>
        </p:nvSpPr>
        <p:spPr>
          <a:xfrm>
            <a:off x="1300354" y="264174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1" name="ïśḷïḓe"/>
          <p:cNvSpPr/>
          <p:nvPr/>
        </p:nvSpPr>
        <p:spPr>
          <a:xfrm>
            <a:off x="1329291" y="496677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进程优先级调度算法</a:t>
            </a:r>
            <a:endParaRPr lang="zh-CN" altLang="en-US" sz="2800" b="1" dirty="0">
              <a:solidFill>
                <a:schemeClr val="bg1"/>
              </a:solidFill>
            </a:endParaRP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14491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7" y="1267883"/>
            <a:ext cx="4308362"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优先级调度算法的类型</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非抢占式</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抢占式</a:t>
            </a:r>
            <a:endParaRPr lang="zh-CN" altLang="en-US" sz="2200" dirty="0">
              <a:solidFill>
                <a:schemeClr val="tx1">
                  <a:lumMod val="65000"/>
                  <a:lumOff val="35000"/>
                </a:schemeClr>
              </a:solidFill>
            </a:endParaRPr>
          </a:p>
        </p:txBody>
      </p:sp>
      <p:sp>
        <p:nvSpPr>
          <p:cNvPr id="10" name="内容占位符 2"/>
          <p:cNvSpPr txBox="1"/>
          <p:nvPr/>
        </p:nvSpPr>
        <p:spPr>
          <a:xfrm>
            <a:off x="1739456" y="2950959"/>
            <a:ext cx="9970189" cy="32722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优先级类型</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静态优先级</a:t>
            </a:r>
            <a:endParaRPr lang="zh-CN" altLang="en-US" sz="2200" dirty="0">
              <a:solidFill>
                <a:srgbClr val="FF0000"/>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创建进程时确定优先数</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整数</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，在进程的整个运行期间保持不变</a:t>
            </a:r>
            <a:endParaRPr lang="zh-CN" altLang="en-US" sz="2000" dirty="0">
              <a:solidFill>
                <a:schemeClr val="tx1">
                  <a:lumMod val="65000"/>
                  <a:lumOff val="35000"/>
                </a:schemeClr>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简单易行，系统开销小</a:t>
            </a:r>
            <a:endParaRPr lang="zh-CN" altLang="en-US" sz="2000" dirty="0">
              <a:solidFill>
                <a:schemeClr val="tx1">
                  <a:lumMod val="65000"/>
                  <a:lumOff val="35000"/>
                </a:schemeClr>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不够精确，可能会出现优先级低的进程长期没有被调度的情况</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动态优先级</a:t>
            </a:r>
            <a:endParaRPr lang="zh-CN" altLang="en-US" sz="2200" dirty="0">
              <a:solidFill>
                <a:srgbClr val="FF0000"/>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创建进程时先赋予其一个优先级，然后其值随进程的推进或等待时间的增加而改变</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rgbClr val="FF0000"/>
              </a:solidFill>
            </a:endParaRPr>
          </a:p>
        </p:txBody>
      </p:sp>
      <p:cxnSp>
        <p:nvCxnSpPr>
          <p:cNvPr id="3" name="直接连接符 2"/>
          <p:cNvCxnSpPr/>
          <p:nvPr/>
        </p:nvCxnSpPr>
        <p:spPr>
          <a:xfrm>
            <a:off x="1074198" y="2849732"/>
            <a:ext cx="10244831"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非抢占式优先级调度算法举例</a:t>
            </a:r>
            <a:endParaRPr lang="zh-CN" altLang="en-US" sz="2800" b="1" dirty="0">
              <a:solidFill>
                <a:schemeClr val="bg1"/>
              </a:solidFill>
            </a:endParaRPr>
          </a:p>
        </p:txBody>
      </p:sp>
      <p:sp>
        <p:nvSpPr>
          <p:cNvPr id="31" name="文本框 30"/>
          <p:cNvSpPr txBox="1"/>
          <p:nvPr/>
        </p:nvSpPr>
        <p:spPr>
          <a:xfrm>
            <a:off x="571728" y="1407861"/>
            <a:ext cx="5275795" cy="2710742"/>
          </a:xfrm>
          <a:prstGeom prst="rect">
            <a:avLst/>
          </a:prstGeom>
          <a:noFill/>
          <a:ln>
            <a:solidFill>
              <a:schemeClr val="bg2">
                <a:lumMod val="75000"/>
              </a:schemeClr>
            </a:solidFill>
          </a:ln>
        </p:spPr>
        <p:txBody>
          <a:bodyPr wrap="square">
            <a:spAutoFit/>
          </a:bodyPr>
          <a:lstStyle/>
          <a:p>
            <a:pPr>
              <a:lnSpc>
                <a:spcPct val="120000"/>
              </a:lnSpc>
              <a:buClr>
                <a:srgbClr val="FF0000"/>
              </a:buClr>
              <a:defRPr/>
            </a:pPr>
            <a:r>
              <a:rPr lang="zh-CN" altLang="en-US" sz="2400" dirty="0"/>
              <a:t>进程	</a:t>
            </a:r>
            <a:r>
              <a:rPr lang="en-US" altLang="zh-CN" sz="2400" dirty="0"/>
              <a:t>	</a:t>
            </a:r>
            <a:r>
              <a:rPr lang="zh-CN" altLang="en-US" sz="2400" dirty="0"/>
              <a:t>优先级	运行时间</a:t>
            </a:r>
            <a:endParaRPr lang="zh-CN" altLang="en-US" sz="2400" dirty="0"/>
          </a:p>
          <a:p>
            <a:pPr>
              <a:lnSpc>
                <a:spcPct val="120000"/>
              </a:lnSpc>
              <a:buClr>
                <a:srgbClr val="FF0000"/>
              </a:buClr>
              <a:defRPr/>
            </a:pPr>
            <a:r>
              <a:rPr lang="en-US" altLang="zh-CN" sz="2400" dirty="0"/>
              <a:t>P1	   	3		10</a:t>
            </a:r>
            <a:endParaRPr lang="en-US" altLang="zh-CN" sz="2400" dirty="0"/>
          </a:p>
          <a:p>
            <a:pPr>
              <a:lnSpc>
                <a:spcPct val="120000"/>
              </a:lnSpc>
              <a:buClr>
                <a:srgbClr val="FF0000"/>
              </a:buClr>
              <a:defRPr/>
            </a:pPr>
            <a:r>
              <a:rPr lang="en-US" altLang="zh-CN" sz="2400" dirty="0"/>
              <a:t>P2	    	1		1</a:t>
            </a:r>
            <a:endParaRPr lang="en-US" altLang="zh-CN" sz="2400" dirty="0"/>
          </a:p>
          <a:p>
            <a:pPr>
              <a:lnSpc>
                <a:spcPct val="120000"/>
              </a:lnSpc>
              <a:buClr>
                <a:srgbClr val="FF0000"/>
              </a:buClr>
              <a:defRPr/>
            </a:pPr>
            <a:r>
              <a:rPr lang="en-US" altLang="zh-CN" sz="2400" dirty="0"/>
              <a:t>P3	   	3		2</a:t>
            </a:r>
            <a:endParaRPr lang="en-US" altLang="zh-CN" sz="2400" dirty="0"/>
          </a:p>
          <a:p>
            <a:pPr>
              <a:lnSpc>
                <a:spcPct val="120000"/>
              </a:lnSpc>
              <a:buClr>
                <a:srgbClr val="FF0000"/>
              </a:buClr>
              <a:defRPr/>
            </a:pPr>
            <a:r>
              <a:rPr lang="en-US" altLang="zh-CN" sz="2400" dirty="0"/>
              <a:t>P4	   	4		1</a:t>
            </a:r>
            <a:endParaRPr lang="en-US" altLang="zh-CN" sz="2400" dirty="0"/>
          </a:p>
          <a:p>
            <a:pPr>
              <a:lnSpc>
                <a:spcPct val="120000"/>
              </a:lnSpc>
              <a:buClr>
                <a:srgbClr val="FF0000"/>
              </a:buClr>
              <a:defRPr/>
            </a:pPr>
            <a:r>
              <a:rPr lang="en-US" altLang="zh-CN" sz="2400" dirty="0"/>
              <a:t>P5	   	2		5</a:t>
            </a:r>
            <a:endParaRPr lang="en-US" altLang="zh-CN" sz="2400" dirty="0"/>
          </a:p>
        </p:txBody>
      </p:sp>
      <p:sp>
        <p:nvSpPr>
          <p:cNvPr id="69" name="内容占位符 2"/>
          <p:cNvSpPr txBox="1"/>
          <p:nvPr/>
        </p:nvSpPr>
        <p:spPr>
          <a:xfrm>
            <a:off x="566397" y="4433398"/>
            <a:ext cx="11251523" cy="1500483"/>
          </a:xfrm>
          <a:prstGeom prst="rect">
            <a:avLst/>
          </a:prstGeom>
          <a:ln>
            <a:solidFill>
              <a:schemeClr val="bg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FF0000"/>
              </a:buClr>
              <a:buFont typeface="Wingdings" panose="05000000000000000000" pitchFamily="2" charset="2"/>
              <a:buChar char="Ø"/>
            </a:pPr>
            <a:r>
              <a:rPr lang="zh-CN" altLang="en-US" sz="2800" dirty="0"/>
              <a:t>  平均等待时间 </a:t>
            </a:r>
            <a:r>
              <a:rPr lang="en-US" altLang="zh-CN" sz="2800" dirty="0"/>
              <a:t>= (0 + 5 + 16+18+1)/5 =8</a:t>
            </a:r>
            <a:endParaRPr lang="en-US" altLang="zh-CN" sz="2800" dirty="0"/>
          </a:p>
          <a:p>
            <a:pPr>
              <a:lnSpc>
                <a:spcPct val="150000"/>
              </a:lnSpc>
              <a:buClr>
                <a:srgbClr val="FF0000"/>
              </a:buClr>
              <a:buFont typeface="Wingdings" panose="05000000000000000000" pitchFamily="2" charset="2"/>
              <a:buChar char="Ø"/>
            </a:pPr>
            <a:r>
              <a:rPr lang="zh-CN" altLang="en-US" sz="2800" dirty="0"/>
              <a:t>  平均周转时间 </a:t>
            </a:r>
            <a:r>
              <a:rPr lang="en-US" altLang="zh-CN" sz="2800" dirty="0"/>
              <a:t>= (16 + 1 + 18+19+6)/5 = 12</a:t>
            </a:r>
            <a:endParaRPr lang="en-US" altLang="zh-CN" sz="2800" dirty="0"/>
          </a:p>
        </p:txBody>
      </p:sp>
      <p:grpSp>
        <p:nvGrpSpPr>
          <p:cNvPr id="40" name="Group 39"/>
          <p:cNvGrpSpPr/>
          <p:nvPr/>
        </p:nvGrpSpPr>
        <p:grpSpPr bwMode="auto">
          <a:xfrm>
            <a:off x="6096000" y="2818223"/>
            <a:ext cx="5721920" cy="1221554"/>
            <a:chOff x="812" y="2744"/>
            <a:chExt cx="4690" cy="857"/>
          </a:xfrm>
          <a:solidFill>
            <a:srgbClr val="FFFF00"/>
          </a:solidFill>
        </p:grpSpPr>
        <p:sp>
          <p:nvSpPr>
            <p:cNvPr id="42" name="Rectangle 4"/>
            <p:cNvSpPr>
              <a:spLocks noChangeArrowheads="1"/>
            </p:cNvSpPr>
            <p:nvPr/>
          </p:nvSpPr>
          <p:spPr bwMode="auto">
            <a:xfrm flipH="1">
              <a:off x="928" y="2753"/>
              <a:ext cx="4352"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4" name="Text Box 5"/>
            <p:cNvSpPr txBox="1">
              <a:spLocks noChangeArrowheads="1"/>
            </p:cNvSpPr>
            <p:nvPr/>
          </p:nvSpPr>
          <p:spPr bwMode="auto">
            <a:xfrm flipH="1">
              <a:off x="961" y="2773"/>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5" name="Text Box 6"/>
            <p:cNvSpPr txBox="1">
              <a:spLocks noChangeArrowheads="1"/>
            </p:cNvSpPr>
            <p:nvPr/>
          </p:nvSpPr>
          <p:spPr bwMode="auto">
            <a:xfrm flipH="1">
              <a:off x="4376" y="2773"/>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46" name="Text Box 7"/>
            <p:cNvSpPr txBox="1">
              <a:spLocks noChangeArrowheads="1"/>
            </p:cNvSpPr>
            <p:nvPr/>
          </p:nvSpPr>
          <p:spPr bwMode="auto">
            <a:xfrm flipH="1">
              <a:off x="1597" y="2772"/>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5</a:t>
              </a:r>
              <a:endParaRPr lang="en-US" altLang="zh-CN" sz="2600" dirty="0">
                <a:latin typeface="Arial" panose="020B0604020202020204" pitchFamily="34" charset="0"/>
              </a:endParaRPr>
            </a:p>
          </p:txBody>
        </p:sp>
        <p:sp>
          <p:nvSpPr>
            <p:cNvPr id="47" name="Line 9"/>
            <p:cNvSpPr>
              <a:spLocks noChangeShapeType="1"/>
            </p:cNvSpPr>
            <p:nvPr/>
          </p:nvSpPr>
          <p:spPr bwMode="auto">
            <a:xfrm flipH="1">
              <a:off x="931"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8" name="Line 11"/>
            <p:cNvSpPr>
              <a:spLocks noChangeShapeType="1"/>
            </p:cNvSpPr>
            <p:nvPr/>
          </p:nvSpPr>
          <p:spPr bwMode="auto">
            <a:xfrm flipH="1">
              <a:off x="1411" y="2766"/>
              <a:ext cx="0" cy="51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9" name="Text Box 14"/>
            <p:cNvSpPr txBox="1">
              <a:spLocks noChangeArrowheads="1"/>
            </p:cNvSpPr>
            <p:nvPr/>
          </p:nvSpPr>
          <p:spPr bwMode="auto">
            <a:xfrm flipH="1">
              <a:off x="1259" y="3232"/>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50000"/>
                </a:spcBef>
                <a:defRPr/>
              </a:pPr>
              <a:r>
                <a:rPr lang="en-US" altLang="zh-CN" sz="2600" dirty="0">
                  <a:latin typeface="Arial" panose="020B0604020202020204" pitchFamily="34" charset="0"/>
                </a:rPr>
                <a:t>1</a:t>
              </a:r>
              <a:endParaRPr lang="en-US" altLang="zh-CN" sz="2600" dirty="0">
                <a:latin typeface="Arial" panose="020B0604020202020204" pitchFamily="34" charset="0"/>
              </a:endParaRPr>
            </a:p>
          </p:txBody>
        </p:sp>
        <p:sp>
          <p:nvSpPr>
            <p:cNvPr id="50" name="Text Box 15"/>
            <p:cNvSpPr txBox="1">
              <a:spLocks noChangeArrowheads="1"/>
            </p:cNvSpPr>
            <p:nvPr/>
          </p:nvSpPr>
          <p:spPr bwMode="auto">
            <a:xfrm flipH="1">
              <a:off x="4031"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16</a:t>
              </a:r>
              <a:endParaRPr lang="en-US" altLang="zh-CN" sz="2600" dirty="0">
                <a:latin typeface="Arial" panose="020B0604020202020204" pitchFamily="34" charset="0"/>
              </a:endParaRPr>
            </a:p>
          </p:txBody>
        </p:sp>
        <p:sp>
          <p:nvSpPr>
            <p:cNvPr id="51" name="Text Box 16"/>
            <p:cNvSpPr txBox="1">
              <a:spLocks noChangeArrowheads="1"/>
            </p:cNvSpPr>
            <p:nvPr/>
          </p:nvSpPr>
          <p:spPr bwMode="auto">
            <a:xfrm flipH="1">
              <a:off x="812" y="3236"/>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sp>
          <p:nvSpPr>
            <p:cNvPr id="52" name="Text Box 17"/>
            <p:cNvSpPr txBox="1">
              <a:spLocks noChangeArrowheads="1"/>
            </p:cNvSpPr>
            <p:nvPr/>
          </p:nvSpPr>
          <p:spPr bwMode="auto">
            <a:xfrm flipH="1">
              <a:off x="4857" y="2783"/>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4</a:t>
              </a:r>
              <a:endParaRPr lang="en-US" altLang="zh-CN" sz="2600" dirty="0">
                <a:latin typeface="Arial" panose="020B0604020202020204" pitchFamily="34" charset="0"/>
              </a:endParaRPr>
            </a:p>
          </p:txBody>
        </p:sp>
        <p:sp>
          <p:nvSpPr>
            <p:cNvPr id="53" name="Text Box 22"/>
            <p:cNvSpPr txBox="1">
              <a:spLocks noChangeArrowheads="1"/>
            </p:cNvSpPr>
            <p:nvPr/>
          </p:nvSpPr>
          <p:spPr bwMode="auto">
            <a:xfrm flipH="1">
              <a:off x="2014" y="3236"/>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6</a:t>
              </a:r>
              <a:endParaRPr lang="en-US" altLang="zh-CN" sz="2600" dirty="0">
                <a:latin typeface="Arial" panose="020B0604020202020204" pitchFamily="34" charset="0"/>
              </a:endParaRPr>
            </a:p>
          </p:txBody>
        </p:sp>
        <p:sp>
          <p:nvSpPr>
            <p:cNvPr id="54" name="Text Box 27"/>
            <p:cNvSpPr txBox="1">
              <a:spLocks noChangeArrowheads="1"/>
            </p:cNvSpPr>
            <p:nvPr/>
          </p:nvSpPr>
          <p:spPr bwMode="auto">
            <a:xfrm flipH="1">
              <a:off x="4562"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18</a:t>
              </a:r>
              <a:endParaRPr lang="en-US" altLang="zh-CN" sz="2600" dirty="0">
                <a:latin typeface="Arial" panose="020B0604020202020204" pitchFamily="34" charset="0"/>
              </a:endParaRPr>
            </a:p>
          </p:txBody>
        </p:sp>
        <p:sp>
          <p:nvSpPr>
            <p:cNvPr id="55" name="Line 31"/>
            <p:cNvSpPr>
              <a:spLocks noChangeShapeType="1"/>
            </p:cNvSpPr>
            <p:nvPr/>
          </p:nvSpPr>
          <p:spPr bwMode="auto">
            <a:xfrm flipH="1">
              <a:off x="4262" y="2762"/>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Line 32"/>
            <p:cNvSpPr>
              <a:spLocks noChangeShapeType="1"/>
            </p:cNvSpPr>
            <p:nvPr/>
          </p:nvSpPr>
          <p:spPr bwMode="auto">
            <a:xfrm flipH="1">
              <a:off x="2160" y="2744"/>
              <a:ext cx="0" cy="51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7" name="Text Box 33"/>
            <p:cNvSpPr txBox="1">
              <a:spLocks noChangeArrowheads="1"/>
            </p:cNvSpPr>
            <p:nvPr/>
          </p:nvSpPr>
          <p:spPr bwMode="auto">
            <a:xfrm flipH="1">
              <a:off x="3065" y="2772"/>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58" name="Text Box 36"/>
            <p:cNvSpPr txBox="1">
              <a:spLocks noChangeArrowheads="1"/>
            </p:cNvSpPr>
            <p:nvPr/>
          </p:nvSpPr>
          <p:spPr bwMode="auto">
            <a:xfrm flipH="1">
              <a:off x="5046"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19</a:t>
              </a:r>
              <a:endParaRPr lang="en-US" altLang="zh-CN" sz="2600" dirty="0">
                <a:latin typeface="Arial" panose="020B0604020202020204" pitchFamily="34" charset="0"/>
              </a:endParaRPr>
            </a:p>
          </p:txBody>
        </p:sp>
        <p:sp>
          <p:nvSpPr>
            <p:cNvPr id="59" name="Line 37"/>
            <p:cNvSpPr>
              <a:spLocks noChangeShapeType="1"/>
            </p:cNvSpPr>
            <p:nvPr/>
          </p:nvSpPr>
          <p:spPr bwMode="auto">
            <a:xfrm flipH="1">
              <a:off x="4852" y="2760"/>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0" name="Line 38"/>
            <p:cNvSpPr>
              <a:spLocks noChangeShapeType="1"/>
            </p:cNvSpPr>
            <p:nvPr/>
          </p:nvSpPr>
          <p:spPr bwMode="auto">
            <a:xfrm flipH="1">
              <a:off x="5280" y="2760"/>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27" name="文本框 4"/>
          <p:cNvSpPr txBox="1"/>
          <p:nvPr/>
        </p:nvSpPr>
        <p:spPr>
          <a:xfrm>
            <a:off x="2327910" y="1203960"/>
            <a:ext cx="497205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342900" lvl="0" indent="-342900" eaLnBrk="1" hangingPunct="1">
              <a:spcBef>
                <a:spcPct val="0"/>
              </a:spcBef>
              <a:buClr>
                <a:schemeClr val="tx2"/>
              </a:buClr>
              <a:buSzPct val="80000"/>
            </a:pPr>
            <a:r>
              <a:rPr lang="zh-CN" altLang="en-US" sz="2400" dirty="0">
                <a:latin typeface="宋体" panose="02010600030101010101" pitchFamily="2" charset="-122"/>
              </a:rPr>
              <a:t>本题优先数越大，优先级越高。</a:t>
            </a:r>
            <a:endParaRPr lang="zh-CN" altLang="en-US" sz="2400" dirty="0">
              <a:latin typeface="宋体" panose="02010600030101010101" pitchFamily="2" charset="-122"/>
            </a:endParaRPr>
          </a:p>
        </p:txBody>
      </p:sp>
      <p:pic>
        <p:nvPicPr>
          <p:cNvPr id="72728" name="图片 3"/>
          <p:cNvPicPr>
            <a:picLocks noChangeAspect="1"/>
          </p:cNvPicPr>
          <p:nvPr/>
        </p:nvPicPr>
        <p:blipFill>
          <a:blip r:embed="rId1"/>
          <a:stretch>
            <a:fillRect/>
          </a:stretch>
        </p:blipFill>
        <p:spPr>
          <a:xfrm>
            <a:off x="2704148" y="1665923"/>
            <a:ext cx="4219575" cy="1952625"/>
          </a:xfrm>
          <a:prstGeom prst="rect">
            <a:avLst/>
          </a:prstGeom>
          <a:noFill/>
          <a:ln w="9525">
            <a:noFill/>
          </a:ln>
        </p:spPr>
      </p:pic>
      <p:pic>
        <p:nvPicPr>
          <p:cNvPr id="5" name="图片 4"/>
          <p:cNvPicPr>
            <a:picLocks noChangeAspect="1"/>
          </p:cNvPicPr>
          <p:nvPr/>
        </p:nvPicPr>
        <p:blipFill>
          <a:blip r:embed="rId2"/>
          <a:stretch>
            <a:fillRect/>
          </a:stretch>
        </p:blipFill>
        <p:spPr>
          <a:xfrm>
            <a:off x="3075623" y="4998085"/>
            <a:ext cx="7040562" cy="1135063"/>
          </a:xfrm>
          <a:prstGeom prst="rect">
            <a:avLst/>
          </a:prstGeom>
          <a:noFill/>
          <a:ln w="9525">
            <a:noFill/>
          </a:ln>
        </p:spPr>
      </p:pic>
      <p:pic>
        <p:nvPicPr>
          <p:cNvPr id="6" name="图片 5"/>
          <p:cNvPicPr>
            <a:picLocks noChangeAspect="1"/>
          </p:cNvPicPr>
          <p:nvPr/>
        </p:nvPicPr>
        <p:blipFill>
          <a:blip r:embed="rId3"/>
          <a:stretch>
            <a:fillRect/>
          </a:stretch>
        </p:blipFill>
        <p:spPr>
          <a:xfrm>
            <a:off x="3099435" y="3709035"/>
            <a:ext cx="6992938" cy="1143000"/>
          </a:xfrm>
          <a:prstGeom prst="rect">
            <a:avLst/>
          </a:prstGeom>
          <a:noFill/>
          <a:ln w="9525">
            <a:noFill/>
          </a:ln>
        </p:spPr>
      </p:pic>
      <p:sp>
        <p:nvSpPr>
          <p:cNvPr id="31" name="AutoShape 20"/>
          <p:cNvSpPr/>
          <p:nvPr/>
        </p:nvSpPr>
        <p:spPr>
          <a:xfrm>
            <a:off x="1483360" y="3861435"/>
            <a:ext cx="1447800" cy="438150"/>
          </a:xfrm>
          <a:prstGeom prst="wedgeRoundRectCallout">
            <a:avLst>
              <a:gd name="adj1" fmla="val 61181"/>
              <a:gd name="adj2" fmla="val 144"/>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000" dirty="0">
                <a:ea typeface="楷体_GB2312" panose="02010609030101010101" pitchFamily="49" charset="-122"/>
              </a:rPr>
              <a:t>非抢占式</a:t>
            </a:r>
            <a:endParaRPr lang="zh-CN" altLang="en-US" sz="2000" dirty="0">
              <a:ea typeface="楷体_GB2312" panose="02010609030101010101" pitchFamily="49" charset="-122"/>
            </a:endParaRPr>
          </a:p>
        </p:txBody>
      </p:sp>
      <p:sp>
        <p:nvSpPr>
          <p:cNvPr id="32" name="AutoShape 20"/>
          <p:cNvSpPr/>
          <p:nvPr/>
        </p:nvSpPr>
        <p:spPr>
          <a:xfrm>
            <a:off x="1816735" y="4964748"/>
            <a:ext cx="1114425" cy="438150"/>
          </a:xfrm>
          <a:prstGeom prst="wedgeRoundRectCallout">
            <a:avLst>
              <a:gd name="adj1" fmla="val 61181"/>
              <a:gd name="adj2" fmla="val 144"/>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000" dirty="0">
                <a:ea typeface="楷体_GB2312" panose="02010609030101010101" pitchFamily="49" charset="-122"/>
              </a:rPr>
              <a:t>抢占式</a:t>
            </a:r>
            <a:endParaRPr lang="zh-CN" altLang="en-US" sz="2000" dirty="0">
              <a:ea typeface="楷体_GB2312" panose="02010609030101010101" pitchFamily="49" charset="-122"/>
            </a:endParaRPr>
          </a:p>
        </p:txBody>
      </p:sp>
      <p:sp>
        <p:nvSpPr>
          <p:cNvPr id="33" name="AutoShape 20"/>
          <p:cNvSpPr/>
          <p:nvPr/>
        </p:nvSpPr>
        <p:spPr>
          <a:xfrm>
            <a:off x="7269798" y="2188210"/>
            <a:ext cx="2667000" cy="893763"/>
          </a:xfrm>
          <a:prstGeom prst="wedgeRoundRectCallout">
            <a:avLst>
              <a:gd name="adj1" fmla="val -11269"/>
              <a:gd name="adj2" fmla="val 23435"/>
              <a:gd name="adj3" fmla="val 16667"/>
            </a:avLst>
          </a:prstGeom>
          <a:solidFill>
            <a:srgbClr val="FFFF00"/>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000" dirty="0">
                <a:ea typeface="楷体_GB2312" panose="02010609030101010101" pitchFamily="49" charset="-122"/>
              </a:rPr>
              <a:t>若几乎同时到达系统，则有抢占点吗？没有</a:t>
            </a:r>
            <a:endParaRPr lang="zh-CN" altLang="en-US" sz="2000" dirty="0">
              <a:ea typeface="楷体_GB2312" panose="02010609030101010101" pitchFamily="49" charset="-122"/>
            </a:endParaRPr>
          </a:p>
        </p:txBody>
      </p:sp>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优先级调度算法举例</a:t>
            </a:r>
            <a:endParaRPr lang="zh-CN" alt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P spid="3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优先级调度算法的优缺点</a:t>
            </a:r>
            <a:endParaRPr lang="zh-CN" altLang="en-US" sz="2800" b="1" dirty="0">
              <a:solidFill>
                <a:schemeClr val="bg1"/>
              </a:solidFill>
            </a:endParaRPr>
          </a:p>
        </p:txBody>
      </p:sp>
      <p:sp>
        <p:nvSpPr>
          <p:cNvPr id="29" name="ïşľîďè"/>
          <p:cNvSpPr/>
          <p:nvPr/>
        </p:nvSpPr>
        <p:spPr>
          <a:xfrm>
            <a:off x="259042" y="1214021"/>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427174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4396037" y="1248563"/>
            <a:ext cx="7381875" cy="1245235"/>
            <a:chOff x="4136995" y="1164842"/>
            <a:chExt cx="7381875" cy="1245235"/>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485" y="1164842"/>
              <a:ext cx="6636385" cy="12452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FF0000"/>
                  </a:solidFill>
                </a:rPr>
                <a:t>优点</a:t>
              </a:r>
              <a:endParaRPr lang="en-US" altLang="zh-CN" sz="2400" dirty="0">
                <a:solidFill>
                  <a:srgbClr val="FF0000"/>
                </a:solidFill>
              </a:endParaRPr>
            </a:p>
            <a:p>
              <a:pPr marL="342900" indent="-342900">
                <a:spcBef>
                  <a:spcPts val="600"/>
                </a:spcBef>
                <a:buClr>
                  <a:srgbClr val="0000FF"/>
                </a:buClr>
                <a:buFont typeface="Wingdings" panose="05000000000000000000" pitchFamily="2" charset="2"/>
                <a:buChar char="Ø"/>
                <a:defRPr/>
              </a:pPr>
              <a:r>
                <a:rPr lang="zh-CN" altLang="en-US" sz="2200" dirty="0"/>
                <a:t>实现简单，考虑了进程的紧迫程度</a:t>
              </a:r>
              <a:endParaRPr lang="zh-CN" altLang="en-US" sz="2200" dirty="0"/>
            </a:p>
            <a:p>
              <a:pPr marL="342900" indent="-342900">
                <a:spcBef>
                  <a:spcPts val="600"/>
                </a:spcBef>
                <a:buClr>
                  <a:srgbClr val="0000FF"/>
                </a:buClr>
                <a:buFont typeface="Wingdings" panose="05000000000000000000" pitchFamily="2" charset="2"/>
                <a:buChar char="Ø"/>
                <a:defRPr/>
              </a:pPr>
              <a:r>
                <a:rPr lang="zh-CN" altLang="en-US" sz="2200" dirty="0"/>
                <a:t>灵活，可动态</a:t>
              </a:r>
              <a:endParaRPr lang="en-US" altLang="zh-CN" sz="2200" dirty="0"/>
            </a:p>
          </p:txBody>
        </p:sp>
      </p:grpSp>
      <p:grpSp>
        <p:nvGrpSpPr>
          <p:cNvPr id="38" name="išḷîḓé"/>
          <p:cNvGrpSpPr/>
          <p:nvPr/>
        </p:nvGrpSpPr>
        <p:grpSpPr>
          <a:xfrm>
            <a:off x="4396037" y="3073347"/>
            <a:ext cx="7536922" cy="801176"/>
            <a:chOff x="4136995" y="3233565"/>
            <a:chExt cx="7536922" cy="80117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存在问题</a:t>
              </a:r>
              <a:endParaRPr lang="en-US" altLang="zh-CN" sz="2400" dirty="0"/>
            </a:p>
            <a:p>
              <a:pPr marL="342900" indent="-342900">
                <a:lnSpc>
                  <a:spcPct val="130000"/>
                </a:lnSpc>
                <a:buClr>
                  <a:srgbClr val="0000FF"/>
                </a:buClr>
                <a:buFont typeface="Wingdings" panose="05000000000000000000" pitchFamily="2" charset="2"/>
                <a:buChar char="Ø"/>
              </a:pPr>
              <a:r>
                <a:rPr lang="zh-CN" altLang="en-US" sz="2400" dirty="0"/>
                <a:t>饥饿 </a:t>
              </a:r>
              <a:r>
                <a:rPr lang="en-US" altLang="zh-CN" sz="2400" dirty="0"/>
                <a:t>——</a:t>
              </a:r>
              <a:r>
                <a:rPr lang="zh-CN" altLang="en-US" sz="2400" dirty="0"/>
                <a:t>低优先级的进程可能永远得不到运行</a:t>
              </a:r>
              <a:endParaRPr lang="zh-CN" altLang="en-US" sz="2400" dirty="0"/>
            </a:p>
          </p:txBody>
        </p:sp>
      </p:grpSp>
      <p:grpSp>
        <p:nvGrpSpPr>
          <p:cNvPr id="42" name="ïSlíḍê"/>
          <p:cNvGrpSpPr/>
          <p:nvPr/>
        </p:nvGrpSpPr>
        <p:grpSpPr>
          <a:xfrm>
            <a:off x="4396037" y="4451663"/>
            <a:ext cx="7637467" cy="1311067"/>
            <a:chOff x="4136995" y="4714289"/>
            <a:chExt cx="7637467"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82717" y="4714289"/>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t>解决方法</a:t>
              </a:r>
              <a:endParaRPr lang="en-US" altLang="zh-CN" sz="2400" dirty="0"/>
            </a:p>
            <a:p>
              <a:pPr marL="342900" indent="-342900">
                <a:spcBef>
                  <a:spcPts val="600"/>
                </a:spcBef>
                <a:buClr>
                  <a:srgbClr val="0000FF"/>
                </a:buClr>
                <a:buFont typeface="Wingdings" panose="05000000000000000000" pitchFamily="2" charset="2"/>
                <a:buChar char="Ø"/>
                <a:defRPr/>
              </a:pPr>
              <a:r>
                <a:rPr lang="zh-CN" altLang="en-US" sz="2400" dirty="0"/>
                <a:t>老化 </a:t>
              </a:r>
              <a:r>
                <a:rPr lang="en-US" altLang="zh-CN" sz="2400" dirty="0"/>
                <a:t>—— </a:t>
              </a:r>
              <a:r>
                <a:rPr lang="zh-CN" altLang="en-US" sz="2400" dirty="0"/>
                <a:t>视进程等待时间的延长提高其优先数</a:t>
              </a:r>
              <a:endParaRPr lang="zh-CN" altLang="en-US" sz="24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79830" y="963930"/>
            <a:ext cx="9225280" cy="82994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进程 </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 </a:t>
            </a:r>
            <a:r>
              <a:rPr lang="zh-CN" altLang="en-US" sz="2400">
                <a:latin typeface="宋体" panose="02010600030101010101" pitchFamily="2" charset="-122"/>
                <a:ea typeface="宋体" panose="02010600030101010101" pitchFamily="2" charset="-122"/>
              </a:rPr>
              <a:t>和 </a:t>
            </a:r>
            <a:r>
              <a:rPr lang="en-US" altLang="zh-CN" sz="2400">
                <a:latin typeface="宋体" panose="02010600030101010101" pitchFamily="2" charset="-122"/>
                <a:ea typeface="宋体" panose="02010600030101010101" pitchFamily="2" charset="-122"/>
              </a:rPr>
              <a:t>P3 </a:t>
            </a:r>
            <a:r>
              <a:rPr lang="zh-CN" altLang="en-US" sz="2400">
                <a:latin typeface="宋体" panose="02010600030101010101" pitchFamily="2" charset="-122"/>
                <a:ea typeface="宋体" panose="02010600030101010101" pitchFamily="2" charset="-122"/>
              </a:rPr>
              <a:t>进入就绪队列的时刻，优先值</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越大优先权越高</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以及</a:t>
            </a:r>
            <a:r>
              <a:rPr lang="en-US" altLang="zh-CN" sz="2400">
                <a:latin typeface="宋体" panose="02010600030101010101" pitchFamily="2" charset="-122"/>
                <a:ea typeface="宋体" panose="02010600030101010101" pitchFamily="2" charset="-122"/>
              </a:rPr>
              <a:t>CPU </a:t>
            </a:r>
            <a:r>
              <a:rPr lang="zh-CN" altLang="en-US" sz="2400">
                <a:latin typeface="宋体" panose="02010600030101010101" pitchFamily="2" charset="-122"/>
                <a:ea typeface="宋体" panose="02010600030101010101" pitchFamily="2" charset="-122"/>
              </a:rPr>
              <a:t>的执行时间如下表所示，</a:t>
            </a:r>
            <a:endParaRPr lang="zh-CN" altLang="en-US" sz="24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461135" y="2163445"/>
          <a:ext cx="8461375" cy="1882140"/>
        </p:xfrm>
        <a:graphic>
          <a:graphicData uri="http://schemas.openxmlformats.org/drawingml/2006/table">
            <a:tbl>
              <a:tblPr/>
              <a:tblGrid>
                <a:gridCol w="1898650"/>
                <a:gridCol w="2668905"/>
                <a:gridCol w="1618615"/>
                <a:gridCol w="2275205"/>
              </a:tblGrid>
              <a:tr h="470535">
                <a:tc>
                  <a:txBody>
                    <a:bodyPr/>
                    <a:lstStyle/>
                    <a:p>
                      <a:pPr marL="0" indent="266700" algn="ctr">
                        <a:spcBef>
                          <a:spcPct val="0"/>
                        </a:spcBef>
                        <a:spcAft>
                          <a:spcPct val="0"/>
                        </a:spcAft>
                      </a:pPr>
                      <a:r>
                        <a:rPr lang="zh-CN" sz="2000">
                          <a:solidFill>
                            <a:srgbClr val="000000"/>
                          </a:solidFill>
                          <a:latin typeface="宋体" panose="02010600030101010101" pitchFamily="2" charset="-122"/>
                          <a:ea typeface="宋体" panose="02010600030101010101" pitchFamily="2" charset="-122"/>
                        </a:rPr>
                        <a:t>进程名</a:t>
                      </a:r>
                      <a:endParaRPr 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zh-CN" sz="2000">
                          <a:solidFill>
                            <a:srgbClr val="000000"/>
                          </a:solidFill>
                          <a:latin typeface="宋体" panose="02010600030101010101" pitchFamily="2" charset="-122"/>
                          <a:ea typeface="宋体" panose="02010600030101010101" pitchFamily="2" charset="-122"/>
                        </a:rPr>
                        <a:t>进入就绪队列的时刻</a:t>
                      </a:r>
                      <a:endParaRPr 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zh-CN" sz="2000">
                          <a:solidFill>
                            <a:srgbClr val="000000"/>
                          </a:solidFill>
                          <a:latin typeface="宋体" panose="02010600030101010101" pitchFamily="2" charset="-122"/>
                          <a:ea typeface="宋体" panose="02010600030101010101" pitchFamily="2" charset="-122"/>
                        </a:rPr>
                        <a:t>优先数</a:t>
                      </a:r>
                      <a:endParaRPr 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CPU</a:t>
                      </a:r>
                      <a:r>
                        <a:rPr lang="zh-CN" altLang="en-US" sz="2000">
                          <a:solidFill>
                            <a:srgbClr val="000000"/>
                          </a:solidFill>
                          <a:latin typeface="宋体" panose="02010600030101010101" pitchFamily="2" charset="-122"/>
                          <a:ea typeface="宋体" panose="02010600030101010101" pitchFamily="2" charset="-122"/>
                        </a:rPr>
                        <a:t>的执行时间</a:t>
                      </a:r>
                      <a:endParaRPr lang="zh-CN" altLang="en-US"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70535">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p1</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0ms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1</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60ms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70535">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p2</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20ms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10</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42ms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70535">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p3</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30ms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100</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rPr>
                        <a:t>13ms</a:t>
                      </a:r>
                      <a:endParaRPr lang="en-US" altLang="zh-CN" sz="2000">
                        <a:solidFill>
                          <a:srgbClr val="000000"/>
                        </a:solidFill>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179830" y="4184650"/>
            <a:ext cx="9225280" cy="1630045"/>
          </a:xfrm>
          <a:prstGeom prst="rect">
            <a:avLst/>
          </a:prstGeom>
        </p:spPr>
        <p:txBody>
          <a:bodyPr wrap="square">
            <a:spAutoFit/>
          </a:bodyPr>
          <a:lstStyle/>
          <a:p>
            <a:endParaRPr lang="en-US" altLang="zh-CN" sz="2000"/>
          </a:p>
          <a:p>
            <a:pPr marL="0" indent="0" algn="just" defTabSz="266700">
              <a:spcAft>
                <a:spcPct val="0"/>
              </a:spcAft>
            </a:pPr>
            <a:r>
              <a:rPr lang="zh-CN" altLang="en-US" sz="2000">
                <a:solidFill>
                  <a:srgbClr val="000000"/>
                </a:solidFill>
                <a:latin typeface="宋体" panose="02010600030101010101" pitchFamily="2" charset="-122"/>
                <a:ea typeface="宋体" panose="02010600030101010101" pitchFamily="2" charset="-122"/>
              </a:rPr>
              <a:t>系统采用基于优先权的抢占式 </a:t>
            </a:r>
            <a:r>
              <a:rPr lang="en-US" altLang="zh-CN" sz="2000">
                <a:solidFill>
                  <a:srgbClr val="000000"/>
                </a:solidFill>
                <a:latin typeface="宋体" panose="02010600030101010101" pitchFamily="2" charset="-122"/>
                <a:ea typeface="宋体" panose="02010600030101010101" pitchFamily="2" charset="-122"/>
              </a:rPr>
              <a:t>CPU </a:t>
            </a:r>
            <a:r>
              <a:rPr lang="zh-CN" altLang="en-US" sz="2000">
                <a:solidFill>
                  <a:srgbClr val="000000"/>
                </a:solidFill>
                <a:latin typeface="宋体" panose="02010600030101010101" pitchFamily="2" charset="-122"/>
                <a:ea typeface="宋体" panose="02010600030101010101" pitchFamily="2" charset="-122"/>
              </a:rPr>
              <a:t>调度算法，从 </a:t>
            </a:r>
            <a:r>
              <a:rPr lang="en-US" altLang="zh-CN" sz="2000">
                <a:solidFill>
                  <a:srgbClr val="000000"/>
                </a:solidFill>
                <a:latin typeface="宋体" panose="02010600030101010101" pitchFamily="2" charset="-122"/>
                <a:ea typeface="宋体" panose="02010600030101010101" pitchFamily="2" charset="-122"/>
              </a:rPr>
              <a:t>Oms </a:t>
            </a:r>
            <a:r>
              <a:rPr lang="zh-CN" altLang="en-US" sz="2000">
                <a:solidFill>
                  <a:srgbClr val="000000"/>
                </a:solidFill>
                <a:latin typeface="宋体" panose="02010600030101010101" pitchFamily="2" charset="-122"/>
                <a:ea typeface="宋体" panose="02010600030101010101" pitchFamily="2" charset="-122"/>
              </a:rPr>
              <a:t>时刻开始进行调度，则</a:t>
            </a:r>
            <a:r>
              <a:rPr lang="en-US" altLang="zh-CN" sz="2000">
                <a:solidFill>
                  <a:srgbClr val="000000"/>
                </a:solidFill>
                <a:latin typeface="宋体" panose="02010600030101010101" pitchFamily="2" charset="-122"/>
                <a:ea typeface="宋体" panose="02010600030101010101" pitchFamily="2" charset="-122"/>
              </a:rPr>
              <a:t>P1,P2,P3 </a:t>
            </a:r>
            <a:r>
              <a:rPr lang="zh-CN" altLang="en-US" sz="2000">
                <a:solidFill>
                  <a:srgbClr val="000000"/>
                </a:solidFill>
                <a:latin typeface="宋体" panose="02010600030101010101" pitchFamily="2" charset="-122"/>
                <a:ea typeface="宋体" panose="02010600030101010101" pitchFamily="2" charset="-122"/>
              </a:rPr>
              <a:t>的平均周转时间为</a:t>
            </a:r>
            <a:r>
              <a:rPr lang="en-US" altLang="zh-CN" sz="2000">
                <a:solidFill>
                  <a:srgbClr val="000000"/>
                </a:solidFill>
                <a:latin typeface="宋体" panose="02010600030101010101" pitchFamily="2" charset="-122"/>
                <a:ea typeface="宋体" panose="02010600030101010101" pitchFamily="2" charset="-122"/>
              </a:rPr>
              <a:t>(    )</a:t>
            </a:r>
            <a:r>
              <a:rPr lang="zh-CN" altLang="en-US" sz="2000">
                <a:solidFill>
                  <a:srgbClr val="000000"/>
                </a:solidFill>
                <a:latin typeface="宋体" panose="02010600030101010101" pitchFamily="2" charset="-122"/>
                <a:ea typeface="宋体" panose="02010600030101010101" pitchFamily="2" charset="-122"/>
              </a:rPr>
              <a:t>。</a:t>
            </a:r>
            <a:r>
              <a:rPr lang="en-US" altLang="zh-CN" sz="2000">
                <a:solidFill>
                  <a:srgbClr val="000000"/>
                </a:solidFill>
                <a:latin typeface="宋体" panose="02010600030101010101" pitchFamily="2" charset="-122"/>
                <a:ea typeface="宋体" panose="02010600030101010101" pitchFamily="2" charset="-122"/>
              </a:rPr>
              <a:t> </a:t>
            </a:r>
            <a:endParaRPr lang="en-US" altLang="zh-CN" sz="2000">
              <a:solidFill>
                <a:srgbClr val="000000"/>
              </a:solidFill>
              <a:latin typeface="宋体" panose="02010600030101010101" pitchFamily="2" charset="-122"/>
              <a:ea typeface="宋体" panose="02010600030101010101" pitchFamily="2" charset="-122"/>
            </a:endParaRPr>
          </a:p>
          <a:p>
            <a:pPr marL="0" indent="0" algn="just" defTabSz="266700">
              <a:spcAft>
                <a:spcPct val="0"/>
              </a:spcAft>
            </a:pPr>
            <a:r>
              <a:rPr lang="en-US" altLang="zh-CN" sz="2000">
                <a:solidFill>
                  <a:srgbClr val="000000"/>
                </a:solidFill>
                <a:latin typeface="宋体" panose="02010600030101010101" pitchFamily="2" charset="-122"/>
                <a:ea typeface="宋体" panose="02010600030101010101" pitchFamily="2" charset="-122"/>
              </a:rPr>
              <a:t> </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全国联考</a:t>
            </a:r>
            <a:r>
              <a:rPr lang="en-US" altLang="zh-CN" sz="2000" b="1">
                <a:latin typeface="宋体" panose="02010600030101010101" pitchFamily="2" charset="-122"/>
                <a:ea typeface="宋体" panose="02010600030101010101" pitchFamily="2" charset="-122"/>
              </a:rPr>
              <a:t>2023</a:t>
            </a:r>
            <a:r>
              <a:rPr lang="zh-CN" altLang="en-US" sz="2000" b="1">
                <a:latin typeface="宋体" panose="02010600030101010101" pitchFamily="2" charset="-122"/>
                <a:ea typeface="宋体" panose="02010600030101010101" pitchFamily="2" charset="-122"/>
              </a:rPr>
              <a:t>年</a:t>
            </a:r>
            <a:r>
              <a:rPr lang="en-US" altLang="zh-CN" sz="2000" b="1">
                <a:latin typeface="宋体" panose="02010600030101010101" pitchFamily="2" charset="-122"/>
                <a:ea typeface="宋体" panose="02010600030101010101" pitchFamily="2" charset="-122"/>
              </a:rPr>
              <a:t>]</a:t>
            </a:r>
            <a:r>
              <a:rPr lang="en-US" altLang="zh-CN" sz="2000">
                <a:solidFill>
                  <a:srgbClr val="000000"/>
                </a:solidFill>
                <a:latin typeface="宋体" panose="02010600030101010101" pitchFamily="2" charset="-122"/>
                <a:ea typeface="宋体" panose="02010600030101010101" pitchFamily="2" charset="-122"/>
              </a:rPr>
              <a:t>                    </a:t>
            </a:r>
            <a:endParaRPr lang="en-US" altLang="zh-CN" sz="2000">
              <a:solidFill>
                <a:srgbClr val="000000"/>
              </a:solidFill>
              <a:latin typeface="宋体" panose="02010600030101010101" pitchFamily="2" charset="-122"/>
              <a:ea typeface="宋体" panose="02010600030101010101" pitchFamily="2" charset="-122"/>
            </a:endParaRPr>
          </a:p>
          <a:p>
            <a:pPr marL="0" indent="0" algn="l" defTabSz="266700">
              <a:spcAft>
                <a:spcPts val="300"/>
              </a:spcAft>
            </a:pPr>
            <a:r>
              <a:rPr lang="en-US" altLang="zh-CN" sz="2000">
                <a:solidFill>
                  <a:srgbClr val="000000"/>
                </a:solidFill>
                <a:latin typeface="宋体" panose="02010600030101010101" pitchFamily="2" charset="-122"/>
                <a:ea typeface="宋体" panose="02010600030101010101" pitchFamily="2" charset="-122"/>
              </a:rPr>
              <a:t>A.60ms              </a:t>
            </a:r>
            <a:r>
              <a:rPr lang="en-US" altLang="zh-CN" sz="2000">
                <a:solidFill>
                  <a:srgbClr val="FF0000"/>
                </a:solidFill>
                <a:latin typeface="宋体" panose="02010600030101010101" pitchFamily="2" charset="-122"/>
                <a:ea typeface="宋体" panose="02010600030101010101" pitchFamily="2" charset="-122"/>
              </a:rPr>
              <a:t> B</a:t>
            </a:r>
            <a:r>
              <a:rPr lang="en-US" altLang="zh-CN" sz="2000">
                <a:solidFill>
                  <a:srgbClr val="000000"/>
                </a:solidFill>
                <a:latin typeface="宋体" panose="02010600030101010101" pitchFamily="2" charset="-122"/>
                <a:ea typeface="宋体" panose="02010600030101010101" pitchFamily="2" charset="-122"/>
              </a:rPr>
              <a:t>.61ms          C.70ms                 D.71ms</a:t>
            </a:r>
            <a:endParaRPr lang="en-US" altLang="zh-CN" sz="200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4895" y="1114425"/>
            <a:ext cx="9799955" cy="706755"/>
          </a:xfrm>
          <a:prstGeom prst="rect">
            <a:avLst/>
          </a:prstGeom>
        </p:spPr>
        <p:txBody>
          <a:bodyPr wrap="square">
            <a:spAutoFit/>
          </a:bodyPr>
          <a:lstStyle/>
          <a:p>
            <a:pPr marL="266700" indent="-266700" algn="just" defTabSz="266700">
              <a:spcAft>
                <a:spcPct val="0"/>
              </a:spcAft>
            </a:pPr>
            <a:r>
              <a:rPr lang="en-US" altLang="zh-CN" sz="2000">
                <a:latin typeface="宋体" panose="02010600030101010101" pitchFamily="2" charset="-122"/>
                <a:ea typeface="宋体" panose="02010600030101010101" pitchFamily="2" charset="-122"/>
              </a:rPr>
              <a:t>1. </a:t>
            </a:r>
            <a:r>
              <a:rPr lang="zh-CN" altLang="en-US" sz="2000">
                <a:latin typeface="宋体" panose="02010600030101010101" pitchFamily="2" charset="-122"/>
                <a:ea typeface="宋体" panose="02010600030101010101" pitchFamily="2" charset="-122"/>
              </a:rPr>
              <a:t>进程 </a:t>
            </a:r>
            <a:r>
              <a:rPr lang="en-US" altLang="zh-CN" sz="2000">
                <a:latin typeface="宋体" panose="02010600030101010101" pitchFamily="2" charset="-122"/>
                <a:ea typeface="宋体" panose="02010600030101010101" pitchFamily="2" charset="-122"/>
              </a:rPr>
              <a:t>P0</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P1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P2 </a:t>
            </a:r>
            <a:r>
              <a:rPr lang="zh-CN" altLang="en-US" sz="2000">
                <a:latin typeface="宋体" panose="02010600030101010101" pitchFamily="2" charset="-122"/>
                <a:ea typeface="宋体" panose="02010600030101010101" pitchFamily="2" charset="-122"/>
              </a:rPr>
              <a:t>和 </a:t>
            </a:r>
            <a:r>
              <a:rPr lang="en-US" altLang="zh-CN" sz="2000">
                <a:latin typeface="宋体" panose="02010600030101010101" pitchFamily="2" charset="-122"/>
                <a:ea typeface="宋体" panose="02010600030101010101" pitchFamily="2" charset="-122"/>
              </a:rPr>
              <a:t>P3 </a:t>
            </a:r>
            <a:r>
              <a:rPr lang="zh-CN" altLang="en-US" sz="2000">
                <a:latin typeface="宋体" panose="02010600030101010101" pitchFamily="2" charset="-122"/>
                <a:ea typeface="宋体" panose="02010600030101010101" pitchFamily="2" charset="-122"/>
              </a:rPr>
              <a:t>进入就绪队列的时刻、优先级</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值越小优先权越高</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及 </a:t>
            </a:r>
            <a:r>
              <a:rPr lang="en-US" altLang="zh-CN" sz="2000">
                <a:latin typeface="宋体" panose="02010600030101010101" pitchFamily="2" charset="-122"/>
                <a:ea typeface="宋体" panose="02010600030101010101" pitchFamily="2" charset="-122"/>
              </a:rPr>
              <a:t>CPU </a:t>
            </a:r>
            <a:r>
              <a:rPr lang="zh-CN" altLang="en-US" sz="2000">
                <a:latin typeface="宋体" panose="02010600030101010101" pitchFamily="2" charset="-122"/>
                <a:ea typeface="宋体" panose="02010600030101010101" pitchFamily="2" charset="-122"/>
              </a:rPr>
              <a:t>执行时间如下表所示。</a:t>
            </a:r>
            <a:endParaRPr lang="zh-CN" altLang="en-US" sz="20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440180" y="1944370"/>
          <a:ext cx="8668385" cy="1905000"/>
        </p:xfrm>
        <a:graphic>
          <a:graphicData uri="http://schemas.openxmlformats.org/drawingml/2006/table">
            <a:tbl>
              <a:tblPr/>
              <a:tblGrid>
                <a:gridCol w="1057275"/>
                <a:gridCol w="3272155"/>
                <a:gridCol w="1627505"/>
                <a:gridCol w="2711450"/>
              </a:tblGrid>
              <a:tr h="381000">
                <a:tc>
                  <a:txBody>
                    <a:bodyPr/>
                    <a:lstStyle/>
                    <a:p>
                      <a:pPr marL="0" indent="266700" algn="ctr">
                        <a:spcBef>
                          <a:spcPct val="0"/>
                        </a:spcBef>
                        <a:spcAft>
                          <a:spcPct val="0"/>
                        </a:spcAft>
                      </a:pPr>
                      <a:r>
                        <a:rPr lang="zh-CN" sz="2000">
                          <a:latin typeface="宋体" panose="02010600030101010101" pitchFamily="2" charset="-122"/>
                          <a:ea typeface="宋体" panose="02010600030101010101" pitchFamily="2" charset="-122"/>
                        </a:rPr>
                        <a:t>进程</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266700" algn="ctr">
                        <a:spcBef>
                          <a:spcPct val="0"/>
                        </a:spcBef>
                        <a:spcAft>
                          <a:spcPct val="0"/>
                        </a:spcAft>
                      </a:pPr>
                      <a:r>
                        <a:rPr lang="zh-CN" sz="2000">
                          <a:latin typeface="宋体" panose="02010600030101010101" pitchFamily="2" charset="-122"/>
                          <a:ea typeface="宋体" panose="02010600030101010101" pitchFamily="2" charset="-122"/>
                        </a:rPr>
                        <a:t>进入就绪队列的时刻</a:t>
                      </a:r>
                      <a:endParaRPr 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266700" algn="ctr">
                        <a:spcBef>
                          <a:spcPct val="0"/>
                        </a:spcBef>
                        <a:spcAft>
                          <a:spcPct val="0"/>
                        </a:spcAft>
                      </a:pPr>
                      <a:r>
                        <a:rPr lang="zh-CN" sz="2000">
                          <a:latin typeface="宋体" panose="02010600030101010101" pitchFamily="2" charset="-122"/>
                          <a:ea typeface="宋体" panose="02010600030101010101" pitchFamily="2" charset="-122"/>
                        </a:rPr>
                        <a:t>优先级</a:t>
                      </a:r>
                      <a:endParaRPr 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执行时间</a:t>
                      </a:r>
                      <a:endParaRPr lang="zh-CN" altLang="en-US"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r>
              <a:tr h="381000">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P0</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15</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381000">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P1</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20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60ms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381000">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P2</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20ms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381000">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P3</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15ms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6</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10ms</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064895" y="3620770"/>
            <a:ext cx="9799955" cy="1814830"/>
          </a:xfrm>
          <a:prstGeom prst="rect">
            <a:avLst/>
          </a:prstGeom>
        </p:spPr>
        <p:txBody>
          <a:bodyPr wrap="square">
            <a:spAutoFit/>
          </a:bodyPr>
          <a:lstStyle/>
          <a:p>
            <a:endParaRPr lang="en-US" altLang="zh-CN" sz="3200"/>
          </a:p>
          <a:p>
            <a:pPr marL="0" indent="0" algn="just" defTabSz="266700">
              <a:spcAft>
                <a:spcPct val="0"/>
              </a:spcAft>
            </a:pPr>
            <a:r>
              <a:rPr lang="zh-CN" altLang="en-US" sz="2000">
                <a:latin typeface="宋体" panose="02010600030101010101" pitchFamily="2" charset="-122"/>
                <a:ea typeface="宋体" panose="02010600030101010101" pitchFamily="2" charset="-122"/>
              </a:rPr>
              <a:t>若系统采用基于优先权的抢占式进程调度算法，则从</a:t>
            </a:r>
            <a:r>
              <a:rPr lang="en-US" altLang="zh-CN" sz="2000">
                <a:latin typeface="宋体" panose="02010600030101010101" pitchFamily="2" charset="-122"/>
                <a:ea typeface="宋体" panose="02010600030101010101" pitchFamily="2" charset="-122"/>
              </a:rPr>
              <a:t> 0 ms </a:t>
            </a:r>
            <a:r>
              <a:rPr lang="zh-CN" altLang="en-US" sz="2000">
                <a:latin typeface="宋体" panose="02010600030101010101" pitchFamily="2" charset="-122"/>
                <a:ea typeface="宋体" panose="02010600030101010101" pitchFamily="2" charset="-122"/>
              </a:rPr>
              <a:t>时刻开始调度，到 </a:t>
            </a:r>
            <a:r>
              <a:rPr lang="en-US" altLang="zh-CN" sz="2000">
                <a:latin typeface="宋体" panose="02010600030101010101" pitchFamily="2" charset="-122"/>
                <a:ea typeface="宋体" panose="02010600030101010101" pitchFamily="2" charset="-122"/>
              </a:rPr>
              <a:t>4 </a:t>
            </a:r>
            <a:r>
              <a:rPr lang="zh-CN" altLang="en-US" sz="2000">
                <a:latin typeface="宋体" panose="02010600030101010101" pitchFamily="2" charset="-122"/>
                <a:ea typeface="宋体" panose="02010600030101010101" pitchFamily="2" charset="-122"/>
              </a:rPr>
              <a:t>个进程都运行结束为止，发生进程调度的总次数为（</a:t>
            </a: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a:t>
            </a:r>
            <a:r>
              <a:rPr lang="zh-CN" altLang="en-US" sz="2000">
                <a:solidFill>
                  <a:srgbClr val="FF0000"/>
                </a:solidFill>
                <a:latin typeface="宋体" panose="02010600030101010101" pitchFamily="2" charset="-122"/>
                <a:ea typeface="宋体" panose="02010600030101010101" pitchFamily="2" charset="-122"/>
              </a:rPr>
              <a:t>略</a:t>
            </a:r>
            <a:r>
              <a:rPr lang="en-US" altLang="zh-CN" sz="2000">
                <a:latin typeface="宋体" panose="02010600030101010101" pitchFamily="2" charset="-122"/>
                <a:ea typeface="宋体" panose="02010600030101010101" pitchFamily="2" charset="-122"/>
              </a:rPr>
              <a:t>     </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全国联考</a:t>
            </a:r>
            <a:r>
              <a:rPr lang="en-US" altLang="zh-CN" sz="2000" b="1">
                <a:latin typeface="宋体" panose="02010600030101010101" pitchFamily="2" charset="-122"/>
                <a:ea typeface="宋体" panose="02010600030101010101" pitchFamily="2" charset="-122"/>
              </a:rPr>
              <a:t>2022</a:t>
            </a:r>
            <a:r>
              <a:rPr lang="zh-CN" altLang="en-US" sz="2000" b="1">
                <a:latin typeface="宋体" panose="02010600030101010101" pitchFamily="2" charset="-122"/>
                <a:ea typeface="宋体" panose="02010600030101010101" pitchFamily="2" charset="-122"/>
              </a:rPr>
              <a:t>年</a:t>
            </a:r>
            <a:r>
              <a:rPr lang="en-US" altLang="zh-CN" sz="2000" b="1">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200025" algn="just" defTabSz="266700">
              <a:spcAft>
                <a:spcPct val="0"/>
              </a:spcAft>
            </a:pP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4     B.5     </a:t>
            </a:r>
            <a:r>
              <a:rPr lang="en-US" altLang="zh-CN" sz="2000">
                <a:solidFill>
                  <a:srgbClr val="FF0000"/>
                </a:solidFill>
                <a:latin typeface="宋体" panose="02010600030101010101" pitchFamily="2" charset="-122"/>
                <a:ea typeface="宋体" panose="02010600030101010101" pitchFamily="2" charset="-122"/>
              </a:rPr>
              <a:t>C</a:t>
            </a:r>
            <a:r>
              <a:rPr lang="en-US" altLang="zh-CN" sz="2000">
                <a:latin typeface="宋体" panose="02010600030101010101" pitchFamily="2" charset="-122"/>
                <a:ea typeface="宋体" panose="02010600030101010101" pitchFamily="2" charset="-122"/>
              </a:rPr>
              <a:t>.6    D.7</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9360" y="1211580"/>
            <a:ext cx="9438005" cy="1014730"/>
          </a:xfrm>
          <a:prstGeom prst="rect">
            <a:avLst/>
          </a:prstGeom>
        </p:spPr>
        <p:txBody>
          <a:bodyPr wrap="square">
            <a:spAutoFit/>
          </a:bodyPr>
          <a:lstStyle/>
          <a:p>
            <a:pPr marL="266700" indent="-266700" algn="just" defTabSz="266700">
              <a:spcAft>
                <a:spcPct val="0"/>
              </a:spcAft>
            </a:pPr>
            <a:r>
              <a:rPr lang="en-US" altLang="zh-CN" sz="1600">
                <a:latin typeface="宋体" panose="02010600030101010101" pitchFamily="2" charset="-122"/>
                <a:ea typeface="宋体" panose="02010600030101010101" pitchFamily="2" charset="-122"/>
              </a:rPr>
              <a:t>1.</a:t>
            </a: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某系统采用基于优先权的非抢占式进程调度策略</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完成一次进程调度和进程切换的系统时间开销为</a:t>
            </a:r>
            <a:r>
              <a:rPr lang="en-US" altLang="zh-CN" sz="2000">
                <a:latin typeface="宋体" panose="02010600030101010101" pitchFamily="2" charset="-122"/>
                <a:ea typeface="宋体" panose="02010600030101010101" pitchFamily="2" charset="-122"/>
              </a:rPr>
              <a:t>1 µs</a:t>
            </a:r>
            <a:r>
              <a:rPr lang="zh-CN" altLang="en-US" sz="2000">
                <a:latin typeface="宋体" panose="02010600030101010101" pitchFamily="2" charset="-122"/>
                <a:ea typeface="宋体" panose="02010600030101010101" pitchFamily="2" charset="-122"/>
              </a:rPr>
              <a:t>。在</a:t>
            </a:r>
            <a:r>
              <a:rPr lang="en-US" altLang="zh-CN" sz="2000">
                <a:latin typeface="宋体" panose="02010600030101010101" pitchFamily="2" charset="-122"/>
                <a:ea typeface="宋体" panose="02010600030101010101" pitchFamily="2" charset="-122"/>
              </a:rPr>
              <a:t>T</a:t>
            </a:r>
            <a:r>
              <a:rPr lang="zh-CN" altLang="en-US" sz="2000">
                <a:latin typeface="宋体" panose="02010600030101010101" pitchFamily="2" charset="-122"/>
                <a:ea typeface="宋体" panose="02010600030101010101" pitchFamily="2" charset="-122"/>
              </a:rPr>
              <a:t>时刻就绪队列中有</a:t>
            </a:r>
            <a:r>
              <a:rPr lang="en-US" altLang="zh-CN" sz="2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个进程</a:t>
            </a:r>
            <a:r>
              <a:rPr lang="en-US" altLang="zh-CN" sz="2000">
                <a:latin typeface="宋体" panose="02010600030101010101" pitchFamily="2" charset="-122"/>
                <a:ea typeface="宋体" panose="02010600030101010101" pitchFamily="2" charset="-122"/>
              </a:rPr>
              <a:t>P</a:t>
            </a:r>
            <a:r>
              <a:rPr lang="en-US" altLang="zh-CN" sz="2000" baseline="-25000">
                <a:latin typeface="宋体" panose="02010600030101010101" pitchFamily="2" charset="-122"/>
                <a:ea typeface="宋体" panose="02010600030101010101" pitchFamily="2" charset="-122"/>
              </a:rPr>
              <a:t>1</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P</a:t>
            </a:r>
            <a:r>
              <a:rPr lang="en-US" altLang="zh-CN" sz="2000" baseline="-25000">
                <a:latin typeface="宋体" panose="02010600030101010101" pitchFamily="2" charset="-122"/>
                <a:ea typeface="宋体" panose="02010600030101010101" pitchFamily="2" charset="-122"/>
              </a:rPr>
              <a:t>2</a:t>
            </a:r>
            <a:r>
              <a:rPr lang="zh-CN" altLang="en-US" sz="2000">
                <a:latin typeface="宋体" panose="02010600030101010101" pitchFamily="2" charset="-122"/>
                <a:ea typeface="宋体" panose="02010600030101010101" pitchFamily="2" charset="-122"/>
              </a:rPr>
              <a:t>和</a:t>
            </a:r>
            <a:r>
              <a:rPr lang="en-US" altLang="zh-CN" sz="2000">
                <a:latin typeface="宋体" panose="02010600030101010101" pitchFamily="2" charset="-122"/>
                <a:ea typeface="宋体" panose="02010600030101010101" pitchFamily="2" charset="-122"/>
              </a:rPr>
              <a:t>P</a:t>
            </a:r>
            <a:r>
              <a:rPr lang="en-US" altLang="zh-CN" sz="2000" baseline="-25000">
                <a:latin typeface="宋体" panose="02010600030101010101" pitchFamily="2" charset="-122"/>
                <a:ea typeface="宋体" panose="02010600030101010101" pitchFamily="2" charset="-122"/>
              </a:rPr>
              <a:t>3</a:t>
            </a:r>
            <a:r>
              <a:rPr lang="zh-CN" altLang="en-US" sz="2000">
                <a:latin typeface="宋体" panose="02010600030101010101" pitchFamily="2" charset="-122"/>
                <a:ea typeface="宋体" panose="02010600030101010101" pitchFamily="2" charset="-122"/>
              </a:rPr>
              <a:t>，其在就绪队列中的等待时间、需要的</a:t>
            </a:r>
            <a:r>
              <a:rPr lang="en-US" altLang="zh-CN" sz="2000">
                <a:latin typeface="宋体" panose="02010600030101010101" pitchFamily="2" charset="-122"/>
                <a:ea typeface="宋体" panose="02010600030101010101" pitchFamily="2" charset="-122"/>
              </a:rPr>
              <a:t>CPU</a:t>
            </a:r>
            <a:r>
              <a:rPr lang="zh-CN" altLang="en-US" sz="2000">
                <a:latin typeface="宋体" panose="02010600030101010101" pitchFamily="2" charset="-122"/>
                <a:ea typeface="宋体" panose="02010600030101010101" pitchFamily="2" charset="-122"/>
              </a:rPr>
              <a:t>时间和优先权如下表所示。</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143000" y="2226310"/>
          <a:ext cx="9758680" cy="1785620"/>
        </p:xfrm>
        <a:graphic>
          <a:graphicData uri="http://schemas.openxmlformats.org/drawingml/2006/table">
            <a:tbl>
              <a:tblPr/>
              <a:tblGrid>
                <a:gridCol w="2439670"/>
                <a:gridCol w="2439670"/>
                <a:gridCol w="2439670"/>
                <a:gridCol w="2439670"/>
              </a:tblGrid>
              <a:tr h="446405">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进程</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等待时间</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需要的</a:t>
                      </a:r>
                      <a:r>
                        <a:rPr lang="en-US" altLang="zh-CN" sz="2000">
                          <a:latin typeface="宋体" panose="02010600030101010101" pitchFamily="2" charset="-122"/>
                          <a:ea typeface="宋体" panose="02010600030101010101" pitchFamily="2" charset="-122"/>
                        </a:rPr>
                        <a:t>CPU</a:t>
                      </a:r>
                      <a:r>
                        <a:rPr lang="zh-CN" sz="2000">
                          <a:latin typeface="宋体" panose="02010600030101010101" pitchFamily="2" charset="-122"/>
                          <a:ea typeface="宋体" panose="02010600030101010101" pitchFamily="2" charset="-122"/>
                        </a:rPr>
                        <a:t>时间</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zh-CN" sz="2000">
                          <a:latin typeface="宋体" panose="02010600030101010101" pitchFamily="2" charset="-122"/>
                          <a:ea typeface="宋体" panose="02010600030101010101" pitchFamily="2" charset="-122"/>
                        </a:rPr>
                        <a:t>优先权</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44640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P1</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30µs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12µs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10</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4640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P2</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15µs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24µs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30</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46405">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P3</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18µs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36µs</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2000">
                          <a:latin typeface="宋体" panose="02010600030101010101" pitchFamily="2" charset="-122"/>
                          <a:ea typeface="宋体" panose="02010600030101010101" pitchFamily="2" charset="-122"/>
                        </a:rPr>
                        <a:t>20</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229360" y="4011930"/>
            <a:ext cx="9438005" cy="2261235"/>
          </a:xfrm>
          <a:prstGeom prst="rect">
            <a:avLst/>
          </a:prstGeom>
        </p:spPr>
        <p:txBody>
          <a:bodyPr wrap="square">
            <a:noAutofit/>
          </a:bodyPr>
          <a:lstStyle/>
          <a:p>
            <a:r>
              <a:rPr lang="zh-CN" altLang="en-US" sz="2000">
                <a:latin typeface="宋体" panose="02010600030101010101" pitchFamily="2" charset="-122"/>
                <a:ea typeface="宋体" panose="02010600030101010101" pitchFamily="2" charset="-122"/>
              </a:rPr>
              <a:t>若优先权值大的进程优先获得</a:t>
            </a:r>
            <a:r>
              <a:rPr lang="en-US" altLang="zh-CN" sz="2000">
                <a:latin typeface="宋体" panose="02010600030101010101" pitchFamily="2" charset="-122"/>
                <a:ea typeface="宋体" panose="02010600030101010101" pitchFamily="2" charset="-122"/>
              </a:rPr>
              <a:t> CPU</a:t>
            </a:r>
            <a:r>
              <a:rPr lang="zh-CN" altLang="en-US" sz="2000">
                <a:latin typeface="宋体" panose="02010600030101010101" pitchFamily="2" charset="-122"/>
                <a:ea typeface="宋体" panose="02010600030101010101" pitchFamily="2" charset="-122"/>
              </a:rPr>
              <a:t>，从</a:t>
            </a:r>
            <a:r>
              <a:rPr lang="en-US" altLang="zh-CN" sz="2000">
                <a:latin typeface="宋体" panose="02010600030101010101" pitchFamily="2" charset="-122"/>
                <a:ea typeface="宋体" panose="02010600030101010101" pitchFamily="2" charset="-122"/>
              </a:rPr>
              <a:t>T</a:t>
            </a:r>
            <a:r>
              <a:rPr lang="zh-CN" altLang="en-US" sz="2000">
                <a:latin typeface="宋体" panose="02010600030101010101" pitchFamily="2" charset="-122"/>
                <a:ea typeface="宋体" panose="02010600030101010101" pitchFamily="2" charset="-122"/>
              </a:rPr>
              <a:t>时刻起系统开始进程调度，则系统的平均周转时间为</a:t>
            </a: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		</a:t>
            </a:r>
            <a:r>
              <a:rPr lang="zh-CN" altLang="en-US" sz="2000">
                <a:solidFill>
                  <a:srgbClr val="FF0000"/>
                </a:solidFill>
                <a:latin typeface="宋体" panose="02010600030101010101" pitchFamily="2" charset="-122"/>
                <a:ea typeface="宋体" panose="02010600030101010101" pitchFamily="2" charset="-122"/>
              </a:rPr>
              <a:t>略</a:t>
            </a:r>
            <a:r>
              <a:rPr lang="zh-CN" altLang="en-US" sz="2000">
                <a:latin typeface="宋体" panose="02010600030101010101" pitchFamily="2" charset="-122"/>
                <a:ea typeface="宋体" panose="02010600030101010101" pitchFamily="2" charset="-122"/>
              </a:rPr>
              <a:t>			</a:t>
            </a:r>
            <a:r>
              <a:rPr lang="en-US" altLang="zh-CN" sz="2000">
                <a:latin typeface="宋体" panose="02010600030101010101" pitchFamily="2" charset="-122"/>
                <a:ea typeface="宋体" panose="02010600030101010101" pitchFamily="2" charset="-122"/>
              </a:rPr>
              <a:t>   [</a:t>
            </a:r>
            <a:r>
              <a:rPr lang="zh-CN" altLang="en-US" sz="2000" b="1">
                <a:latin typeface="宋体" panose="02010600030101010101" pitchFamily="2" charset="-122"/>
                <a:ea typeface="宋体" panose="02010600030101010101" pitchFamily="2" charset="-122"/>
              </a:rPr>
              <a:t>全国联考</a:t>
            </a:r>
            <a:r>
              <a:rPr lang="en-US" altLang="zh-CN" sz="2000" b="1">
                <a:latin typeface="宋体" panose="02010600030101010101" pitchFamily="2" charset="-122"/>
                <a:ea typeface="宋体" panose="02010600030101010101" pitchFamily="2" charset="-122"/>
              </a:rPr>
              <a:t>2018</a:t>
            </a:r>
            <a:r>
              <a:rPr lang="zh-CN" altLang="en-US" sz="2000" b="1">
                <a:latin typeface="宋体" panose="02010600030101010101" pitchFamily="2" charset="-122"/>
                <a:ea typeface="宋体" panose="02010600030101010101" pitchFamily="2" charset="-122"/>
              </a:rPr>
              <a:t>年</a:t>
            </a: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A.54 µs</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B.73 µs </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latin typeface="宋体" panose="02010600030101010101" pitchFamily="2" charset="-122"/>
                <a:ea typeface="宋体" panose="02010600030101010101" pitchFamily="2" charset="-122"/>
              </a:rPr>
              <a:t>C.74 µs</a:t>
            </a:r>
            <a:endParaRPr lang="en-US" altLang="zh-CN" sz="2000">
              <a:latin typeface="宋体" panose="02010600030101010101" pitchFamily="2" charset="-122"/>
              <a:ea typeface="宋体" panose="02010600030101010101" pitchFamily="2" charset="-122"/>
            </a:endParaRPr>
          </a:p>
          <a:p>
            <a:pPr marL="0" indent="0" algn="just" defTabSz="266700">
              <a:spcAft>
                <a:spcPct val="0"/>
              </a:spcAft>
            </a:pPr>
            <a:r>
              <a:rPr lang="en-US" altLang="zh-CN" sz="2000">
                <a:solidFill>
                  <a:srgbClr val="FF0000"/>
                </a:solidFill>
                <a:latin typeface="宋体" panose="02010600030101010101" pitchFamily="2" charset="-122"/>
                <a:ea typeface="宋体" panose="02010600030101010101" pitchFamily="2" charset="-122"/>
              </a:rPr>
              <a:t>D.</a:t>
            </a:r>
            <a:r>
              <a:rPr lang="en-US" altLang="zh-CN" sz="2000">
                <a:latin typeface="宋体" panose="02010600030101010101" pitchFamily="2" charset="-122"/>
                <a:ea typeface="宋体" panose="02010600030101010101" pitchFamily="2" charset="-122"/>
              </a:rPr>
              <a:t>75 µs</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81405" y="2459990"/>
            <a:ext cx="9685020"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下列选项中，降低进程优先级的合理时机是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 </a:t>
            </a:r>
            <a:r>
              <a:rPr lang="en-US" altLang="zh-CN" sz="2400" b="1">
                <a:latin typeface="宋体" panose="02010600030101010101" pitchFamily="2" charset="-122"/>
                <a:ea typeface="宋体" panose="02010600030101010101" pitchFamily="2" charset="-122"/>
              </a:rPr>
              <a:t>2010</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进程的时间片用完</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进程刚完成</a:t>
            </a:r>
            <a:r>
              <a:rPr lang="en-US" altLang="zh-CN" sz="2400">
                <a:latin typeface="宋体" panose="02010600030101010101" pitchFamily="2" charset="-122"/>
                <a:ea typeface="宋体" panose="02010600030101010101" pitchFamily="2" charset="-122"/>
              </a:rPr>
              <a:t>I/0</a:t>
            </a:r>
            <a:r>
              <a:rPr lang="zh-CN" altLang="en-US" sz="2400">
                <a:latin typeface="宋体" panose="02010600030101010101" pitchFamily="2" charset="-122"/>
                <a:ea typeface="宋体" panose="02010600030101010101" pitchFamily="2" charset="-122"/>
              </a:rPr>
              <a:t>，进入就绪队列</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进程长期处于就绪队列中</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进程从就绪状态转为运行状态</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4765" y="1586865"/>
            <a:ext cx="9455150" cy="82994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某系统正在执行三个进程</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，各进程的计算</a:t>
            </a:r>
            <a:r>
              <a:rPr lang="en-US" altLang="zh-CN" sz="2400">
                <a:latin typeface="宋体" panose="02010600030101010101" pitchFamily="2" charset="-122"/>
                <a:ea typeface="宋体" panose="02010600030101010101" pitchFamily="2" charset="-122"/>
              </a:rPr>
              <a:t>(CPU)</a:t>
            </a:r>
            <a:r>
              <a:rPr lang="zh-CN" altLang="en-US" sz="2400">
                <a:latin typeface="宋体" panose="02010600030101010101" pitchFamily="2" charset="-122"/>
                <a:ea typeface="宋体" panose="02010600030101010101" pitchFamily="2" charset="-122"/>
              </a:rPr>
              <a:t>时间和</a:t>
            </a:r>
            <a:r>
              <a:rPr lang="en-US" altLang="zh-CN" sz="2400">
                <a:latin typeface="宋体" panose="02010600030101010101" pitchFamily="2" charset="-122"/>
                <a:ea typeface="宋体" panose="02010600030101010101" pitchFamily="2" charset="-122"/>
              </a:rPr>
              <a:t>I/0</a:t>
            </a:r>
            <a:r>
              <a:rPr lang="zh-CN" altLang="en-US" sz="2400">
                <a:latin typeface="宋体" panose="02010600030101010101" pitchFamily="2" charset="-122"/>
                <a:ea typeface="宋体" panose="02010600030101010101" pitchFamily="2" charset="-122"/>
              </a:rPr>
              <a:t>时间比例如下表所示。</a:t>
            </a:r>
            <a:endParaRPr lang="zh-CN" altLang="en-US" sz="24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209675" y="2416810"/>
          <a:ext cx="9806940" cy="1800860"/>
        </p:xfrm>
        <a:graphic>
          <a:graphicData uri="http://schemas.openxmlformats.org/drawingml/2006/table">
            <a:tbl>
              <a:tblPr/>
              <a:tblGrid>
                <a:gridCol w="3268980"/>
                <a:gridCol w="3268980"/>
                <a:gridCol w="3268980"/>
              </a:tblGrid>
              <a:tr h="450215">
                <a:tc>
                  <a:txBody>
                    <a:bodyPr/>
                    <a:lstStyle/>
                    <a:p>
                      <a:pPr marL="0" indent="266700" algn="ctr">
                        <a:spcBef>
                          <a:spcPct val="0"/>
                        </a:spcBef>
                        <a:spcAft>
                          <a:spcPct val="0"/>
                        </a:spcAft>
                      </a:pPr>
                      <a:r>
                        <a:rPr lang="zh-CN" sz="2000">
                          <a:latin typeface="宋体" panose="02010600030101010101" pitchFamily="2" charset="-122"/>
                          <a:ea typeface="宋体" panose="02010600030101010101" pitchFamily="2" charset="-122"/>
                        </a:rPr>
                        <a:t>进程</a:t>
                      </a:r>
                      <a:endParaRPr 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266700" algn="ctr">
                        <a:spcBef>
                          <a:spcPct val="0"/>
                        </a:spcBef>
                        <a:spcAft>
                          <a:spcPct val="0"/>
                        </a:spcAft>
                      </a:pPr>
                      <a:r>
                        <a:rPr lang="zh-CN" sz="2000">
                          <a:latin typeface="宋体" panose="02010600030101010101" pitchFamily="2" charset="-122"/>
                          <a:ea typeface="宋体" panose="02010600030101010101" pitchFamily="2" charset="-122"/>
                        </a:rPr>
                        <a:t>计算时间</a:t>
                      </a:r>
                      <a:endParaRPr 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I/O</a:t>
                      </a:r>
                      <a:r>
                        <a:rPr lang="zh-CN" sz="2000">
                          <a:latin typeface="宋体" panose="02010600030101010101" pitchFamily="2" charset="-122"/>
                          <a:ea typeface="宋体" panose="02010600030101010101" pitchFamily="2" charset="-122"/>
                        </a:rPr>
                        <a:t>时间</a:t>
                      </a:r>
                      <a:endParaRPr 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r>
              <a:tr h="450215">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P1</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90%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50215">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P2</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50%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50%</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50215">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P3</a:t>
                      </a:r>
                      <a:endParaRPr lang="en-US" altLang="zh-CN" sz="20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15%</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266700" algn="ctr">
                        <a:spcBef>
                          <a:spcPct val="0"/>
                        </a:spcBef>
                        <a:spcAft>
                          <a:spcPct val="0"/>
                        </a:spcAft>
                      </a:pPr>
                      <a:r>
                        <a:rPr lang="en-US" altLang="zh-CN" sz="2000">
                          <a:latin typeface="宋体" panose="02010600030101010101" pitchFamily="2" charset="-122"/>
                          <a:ea typeface="宋体" panose="02010600030101010101" pitchFamily="2" charset="-122"/>
                        </a:rPr>
                        <a:t>85%</a:t>
                      </a:r>
                      <a:endParaRPr lang="en-US" altLang="zh-CN" sz="20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294765" y="4249420"/>
            <a:ext cx="9721215" cy="2056130"/>
          </a:xfrm>
          <a:prstGeom prst="rect">
            <a:avLst/>
          </a:prstGeom>
        </p:spPr>
        <p:txBody>
          <a:bodyPr wrap="square">
            <a:noAutofit/>
          </a:bodyPr>
          <a:lstStyle/>
          <a:p>
            <a:r>
              <a:rPr lang="zh-CN" altLang="en-US" sz="2400">
                <a:latin typeface="宋体" panose="02010600030101010101" pitchFamily="2" charset="-122"/>
                <a:ea typeface="宋体" panose="02010600030101010101" pitchFamily="2" charset="-122"/>
              </a:rPr>
              <a:t>为提高系统资源利用率，合理的进程优先级设置应为</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2013</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 P1&gt;P2&gt;P3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 P3&gt;P2&gt;P1  </a:t>
            </a:r>
            <a:r>
              <a:rPr lang="en-US" altLang="zh-CN" sz="2400">
                <a:solidFill>
                  <a:srgbClr val="FF0000"/>
                </a:solidFill>
                <a:latin typeface="宋体" panose="02010600030101010101" pitchFamily="2" charset="-122"/>
                <a:ea typeface="宋体" panose="02010600030101010101" pitchFamily="2" charset="-122"/>
              </a:rPr>
              <a:t>I/O</a:t>
            </a:r>
            <a:r>
              <a:rPr lang="zh-CN" altLang="en-US" sz="2400">
                <a:solidFill>
                  <a:srgbClr val="FF0000"/>
                </a:solidFill>
                <a:latin typeface="宋体" panose="02010600030101010101" pitchFamily="2" charset="-122"/>
                <a:ea typeface="宋体" panose="02010600030101010101" pitchFamily="2" charset="-122"/>
              </a:rPr>
              <a:t>密集型优先调度，提高</a:t>
            </a:r>
            <a:r>
              <a:rPr lang="en-US" altLang="zh-CN" sz="2400">
                <a:solidFill>
                  <a:srgbClr val="FF0000"/>
                </a:solidFill>
                <a:latin typeface="宋体" panose="02010600030101010101" pitchFamily="2" charset="-122"/>
                <a:ea typeface="宋体" panose="02010600030101010101" pitchFamily="2" charset="-122"/>
              </a:rPr>
              <a:t>cpu</a:t>
            </a:r>
            <a:r>
              <a:rPr lang="zh-CN" altLang="en-US" sz="2400">
                <a:solidFill>
                  <a:srgbClr val="FF0000"/>
                </a:solidFill>
                <a:latin typeface="宋体" panose="02010600030101010101" pitchFamily="2" charset="-122"/>
                <a:ea typeface="宋体" panose="02010600030101010101" pitchFamily="2" charset="-122"/>
              </a:rPr>
              <a:t>和外设并行。</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 P2&gt;P1=P3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 P1&gt;P2=P3</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高相应比优先调度算法（</a:t>
            </a:r>
            <a:r>
              <a:rPr lang="en-US" altLang="zh-CN" sz="2800" b="1" dirty="0">
                <a:solidFill>
                  <a:schemeClr val="bg1"/>
                </a:solidFill>
              </a:rPr>
              <a:t>PR</a:t>
            </a:r>
            <a:r>
              <a:rPr lang="zh-CN" altLang="en-US" sz="2800" b="1" dirty="0">
                <a:solidFill>
                  <a:schemeClr val="bg1"/>
                </a:solidFill>
              </a:rPr>
              <a:t>的特例）</a:t>
            </a:r>
            <a:endParaRPr lang="zh-CN" altLang="en-US" sz="2800" b="1" dirty="0">
              <a:solidFill>
                <a:schemeClr val="bg1"/>
              </a:solidFill>
            </a:endParaRPr>
          </a:p>
        </p:txBody>
      </p:sp>
      <p:sp>
        <p:nvSpPr>
          <p:cNvPr id="85" name="内容占位符 2"/>
          <p:cNvSpPr txBox="1"/>
          <p:nvPr/>
        </p:nvSpPr>
        <p:spPr>
          <a:xfrm>
            <a:off x="985520" y="1068705"/>
            <a:ext cx="10273030" cy="10712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zh-CN" altLang="en-US" sz="2400" dirty="0"/>
              <a:t>既考虑作业的等到时间，又考虑作业的运行时间，兼顾长短进程、公平。</a:t>
            </a:r>
            <a:endParaRPr lang="zh-CN" altLang="en-US" sz="2400" dirty="0"/>
          </a:p>
        </p:txBody>
      </p:sp>
      <p:sp>
        <p:nvSpPr>
          <p:cNvPr id="86" name="内容占位符 2"/>
          <p:cNvSpPr txBox="1"/>
          <p:nvPr/>
        </p:nvSpPr>
        <p:spPr>
          <a:xfrm>
            <a:off x="1247478" y="1974649"/>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solidFill>
                  <a:srgbClr val="0000FF"/>
                </a:solidFill>
              </a:rPr>
              <a:t>优先级：</a:t>
            </a:r>
            <a:endParaRPr lang="zh-CN" altLang="en-US" sz="2400" dirty="0">
              <a:solidFill>
                <a:srgbClr val="0000FF"/>
              </a:solidFill>
            </a:endParaRPr>
          </a:p>
        </p:txBody>
      </p:sp>
      <p:sp>
        <p:nvSpPr>
          <p:cNvPr id="87" name="内容占位符 2"/>
          <p:cNvSpPr txBox="1"/>
          <p:nvPr/>
        </p:nvSpPr>
        <p:spPr>
          <a:xfrm>
            <a:off x="1247478" y="2974644"/>
            <a:ext cx="257336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solidFill>
                  <a:srgbClr val="0000FF"/>
                </a:solidFill>
              </a:rPr>
              <a:t>响应比：</a:t>
            </a:r>
            <a:endParaRPr lang="zh-CN" altLang="en-US" sz="2400" dirty="0">
              <a:solidFill>
                <a:srgbClr val="0000FF"/>
              </a:solidFill>
            </a:endParaRPr>
          </a:p>
        </p:txBody>
      </p:sp>
      <p:sp>
        <p:nvSpPr>
          <p:cNvPr id="88" name="内容占位符 2"/>
          <p:cNvSpPr txBox="1"/>
          <p:nvPr/>
        </p:nvSpPr>
        <p:spPr>
          <a:xfrm>
            <a:off x="1247478" y="3840029"/>
            <a:ext cx="7323522"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t>如等待时间相同，运行时间越短，类似于</a:t>
            </a:r>
            <a:r>
              <a:rPr lang="en-US" altLang="zh-CN" sz="2400" dirty="0"/>
              <a:t>SJF</a:t>
            </a:r>
            <a:endParaRPr lang="en-US" altLang="zh-CN" sz="2400" dirty="0"/>
          </a:p>
        </p:txBody>
      </p:sp>
      <p:sp>
        <p:nvSpPr>
          <p:cNvPr id="90" name="内容占位符 2"/>
          <p:cNvSpPr txBox="1"/>
          <p:nvPr/>
        </p:nvSpPr>
        <p:spPr>
          <a:xfrm>
            <a:off x="1247478" y="4493386"/>
            <a:ext cx="7323522"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t>如运行时间相同，取决于等待时间，类似于</a:t>
            </a:r>
            <a:r>
              <a:rPr lang="en-US" altLang="zh-CN" sz="2400" dirty="0"/>
              <a:t>FCFS</a:t>
            </a:r>
            <a:endParaRPr lang="en-US" altLang="zh-CN" sz="2400" dirty="0"/>
          </a:p>
        </p:txBody>
      </p:sp>
      <p:sp>
        <p:nvSpPr>
          <p:cNvPr id="95" name="内容占位符 2"/>
          <p:cNvSpPr txBox="1"/>
          <p:nvPr/>
        </p:nvSpPr>
        <p:spPr>
          <a:xfrm>
            <a:off x="1247478" y="5047865"/>
            <a:ext cx="9272560" cy="7137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20000"/>
              </a:lnSpc>
              <a:buClr>
                <a:srgbClr val="FF0000"/>
              </a:buClr>
              <a:buFont typeface="Wingdings" panose="05000000000000000000" pitchFamily="2" charset="2"/>
              <a:buChar char="Ø"/>
            </a:pPr>
            <a:r>
              <a:rPr lang="zh-CN" altLang="en-US" sz="2400" dirty="0"/>
              <a:t>长作业可随其等待时间的增加而提高，也可得到服务</a:t>
            </a:r>
            <a:endParaRPr lang="zh-CN" altLang="en-US" sz="2400" dirty="0"/>
          </a:p>
        </p:txBody>
      </p:sp>
      <p:sp>
        <p:nvSpPr>
          <p:cNvPr id="96" name="内容占位符 2"/>
          <p:cNvSpPr txBox="1"/>
          <p:nvPr/>
        </p:nvSpPr>
        <p:spPr>
          <a:xfrm>
            <a:off x="1247478" y="5677059"/>
            <a:ext cx="10213593" cy="5728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20000"/>
              </a:lnSpc>
              <a:buClr>
                <a:srgbClr val="FF0000"/>
              </a:buClr>
              <a:buFont typeface="Wingdings" panose="05000000000000000000" pitchFamily="2" charset="2"/>
              <a:buChar char="Ø"/>
            </a:pPr>
            <a:r>
              <a:rPr lang="zh-CN" altLang="en-US" sz="2400" dirty="0"/>
              <a:t>缺点：每次调度之前，都需要计算响应比，增加系统开销，非抢占。</a:t>
            </a:r>
            <a:endParaRPr lang="zh-CN" altLang="en-US" sz="2400" dirty="0"/>
          </a:p>
        </p:txBody>
      </p:sp>
      <p:pic>
        <p:nvPicPr>
          <p:cNvPr id="22" name="图片 21"/>
          <p:cNvPicPr>
            <a:picLocks noChangeAspect="1"/>
          </p:cNvPicPr>
          <p:nvPr/>
        </p:nvPicPr>
        <p:blipFill>
          <a:blip r:embed="rId1"/>
          <a:stretch>
            <a:fillRect/>
          </a:stretch>
        </p:blipFill>
        <p:spPr>
          <a:xfrm>
            <a:off x="3061176" y="1729281"/>
            <a:ext cx="4463189" cy="849753"/>
          </a:xfrm>
          <a:prstGeom prst="rect">
            <a:avLst/>
          </a:prstGeom>
        </p:spPr>
      </p:pic>
      <p:pic>
        <p:nvPicPr>
          <p:cNvPr id="23" name="图片 22"/>
          <p:cNvPicPr>
            <a:picLocks noChangeAspect="1"/>
          </p:cNvPicPr>
          <p:nvPr/>
        </p:nvPicPr>
        <p:blipFill>
          <a:blip r:embed="rId2"/>
          <a:stretch>
            <a:fillRect/>
          </a:stretch>
        </p:blipFill>
        <p:spPr>
          <a:xfrm>
            <a:off x="3061176" y="2809105"/>
            <a:ext cx="5444897" cy="80085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高相应比优先调度算法（</a:t>
            </a:r>
            <a:r>
              <a:rPr lang="en-US" altLang="zh-CN" sz="2800" b="1" dirty="0">
                <a:solidFill>
                  <a:schemeClr val="bg1"/>
                </a:solidFill>
              </a:rPr>
              <a:t>PR</a:t>
            </a:r>
            <a:r>
              <a:rPr lang="zh-CN" altLang="en-US" sz="2800" b="1" dirty="0">
                <a:solidFill>
                  <a:schemeClr val="bg1"/>
                </a:solidFill>
              </a:rPr>
              <a:t>的特例）</a:t>
            </a:r>
            <a:endParaRPr lang="zh-CN" altLang="en-US" sz="2800" b="1" dirty="0">
              <a:solidFill>
                <a:schemeClr val="bg1"/>
              </a:solidFill>
            </a:endParaRPr>
          </a:p>
        </p:txBody>
      </p:sp>
      <p:sp>
        <p:nvSpPr>
          <p:cNvPr id="57347" name="Rectangle 2"/>
          <p:cNvSpPr>
            <a:spLocks noGrp="1"/>
          </p:cNvSpPr>
          <p:nvPr>
            <p:ph idx="1"/>
          </p:nvPr>
        </p:nvSpPr>
        <p:spPr>
          <a:xfrm>
            <a:off x="1574800" y="1859280"/>
            <a:ext cx="3810000" cy="2209800"/>
          </a:xfrm>
          <a:ln>
            <a:solidFill>
              <a:srgbClr val="0000FF">
                <a:alpha val="100000"/>
              </a:srgbClr>
            </a:solidFill>
            <a:miter lim="800000"/>
          </a:ln>
        </p:spPr>
        <p:txBody>
          <a:bodyPr vert="horz" wrap="square" lIns="91440" tIns="45720" rIns="91440" bIns="45720" anchor="t" anchorCtr="0">
            <a:normAutofit lnSpcReduction="10000"/>
          </a:bodyPr>
          <a:lstStyle/>
          <a:p>
            <a:pPr eaLnBrk="1" hangingPunct="1">
              <a:buNone/>
            </a:pPr>
            <a:r>
              <a:rPr lang="zh-CN" altLang="en-US" sz="2400" dirty="0"/>
              <a:t>作业   到达时间   运行时间</a:t>
            </a:r>
            <a:endParaRPr lang="zh-CN" altLang="en-US" sz="2400" dirty="0"/>
          </a:p>
          <a:p>
            <a:pPr eaLnBrk="1" hangingPunct="1">
              <a:buNone/>
            </a:pPr>
            <a:r>
              <a:rPr lang="zh-CN" altLang="en-US" sz="2400" dirty="0"/>
              <a:t>  J</a:t>
            </a:r>
            <a:r>
              <a:rPr lang="zh-CN" altLang="en-US" sz="2400" baseline="-25000" dirty="0"/>
              <a:t>1</a:t>
            </a:r>
            <a:r>
              <a:rPr lang="zh-CN" altLang="en-US" sz="2400" dirty="0"/>
              <a:t>         0              </a:t>
            </a:r>
            <a:r>
              <a:rPr lang="en-US" altLang="zh-CN" sz="2400" dirty="0"/>
              <a:t>7</a:t>
            </a:r>
            <a:endParaRPr lang="zh-CN" altLang="en-US" sz="2400" dirty="0"/>
          </a:p>
          <a:p>
            <a:pPr eaLnBrk="1" hangingPunct="1">
              <a:buNone/>
            </a:pPr>
            <a:r>
              <a:rPr lang="zh-CN" altLang="en-US" sz="2400" dirty="0"/>
              <a:t>  J</a:t>
            </a:r>
            <a:r>
              <a:rPr lang="zh-CN" altLang="en-US" sz="2400" baseline="-25000" dirty="0"/>
              <a:t>2</a:t>
            </a:r>
            <a:r>
              <a:rPr lang="zh-CN" altLang="en-US" sz="2400" dirty="0"/>
              <a:t>         </a:t>
            </a:r>
            <a:r>
              <a:rPr lang="en-US" altLang="zh-CN" sz="2400" dirty="0"/>
              <a:t>2</a:t>
            </a:r>
            <a:r>
              <a:rPr lang="zh-CN" altLang="en-US" sz="2400" dirty="0"/>
              <a:t>              </a:t>
            </a:r>
            <a:r>
              <a:rPr lang="zh-CN" altLang="en-US" sz="2400" dirty="0">
                <a:solidFill>
                  <a:srgbClr val="FF0000"/>
                </a:solidFill>
              </a:rPr>
              <a:t>4</a:t>
            </a:r>
            <a:endParaRPr lang="zh-CN" altLang="en-US" sz="2400" dirty="0">
              <a:solidFill>
                <a:srgbClr val="FF0000"/>
              </a:solidFill>
            </a:endParaRPr>
          </a:p>
          <a:p>
            <a:pPr eaLnBrk="1" hangingPunct="1">
              <a:buNone/>
            </a:pPr>
            <a:r>
              <a:rPr lang="zh-CN" altLang="en-US" sz="2400" dirty="0"/>
              <a:t>  J</a:t>
            </a:r>
            <a:r>
              <a:rPr lang="zh-CN" altLang="en-US" sz="2400" baseline="-25000" dirty="0"/>
              <a:t>3</a:t>
            </a:r>
            <a:r>
              <a:rPr lang="zh-CN" altLang="en-US" sz="2400" dirty="0"/>
              <a:t>         </a:t>
            </a:r>
            <a:r>
              <a:rPr lang="en-US" altLang="zh-CN" sz="2400" dirty="0"/>
              <a:t>4</a:t>
            </a:r>
            <a:r>
              <a:rPr lang="zh-CN" altLang="en-US" sz="2400" dirty="0"/>
              <a:t>              </a:t>
            </a:r>
            <a:r>
              <a:rPr lang="en-US" altLang="zh-CN" sz="2400" dirty="0"/>
              <a:t>1</a:t>
            </a:r>
            <a:endParaRPr lang="zh-CN" altLang="en-US" sz="2400" dirty="0"/>
          </a:p>
          <a:p>
            <a:pPr eaLnBrk="1" hangingPunct="1">
              <a:buNone/>
            </a:pPr>
            <a:r>
              <a:rPr lang="zh-CN" altLang="en-US" sz="2400" dirty="0"/>
              <a:t>  J</a:t>
            </a:r>
            <a:r>
              <a:rPr lang="zh-CN" altLang="en-US" sz="2400" baseline="-25000" dirty="0"/>
              <a:t>4</a:t>
            </a:r>
            <a:r>
              <a:rPr lang="zh-CN" altLang="en-US" sz="2400" dirty="0"/>
              <a:t>         </a:t>
            </a:r>
            <a:r>
              <a:rPr lang="en-US" altLang="zh-CN" sz="2400" dirty="0"/>
              <a:t>5</a:t>
            </a:r>
            <a:r>
              <a:rPr lang="zh-CN" altLang="en-US" sz="2400" dirty="0"/>
              <a:t>              </a:t>
            </a:r>
            <a:r>
              <a:rPr lang="en-US" altLang="zh-CN" sz="2400" dirty="0">
                <a:solidFill>
                  <a:srgbClr val="FF0000"/>
                </a:solidFill>
              </a:rPr>
              <a:t>4</a:t>
            </a:r>
            <a:endParaRPr lang="zh-CN" altLang="en-US" sz="2400" dirty="0">
              <a:solidFill>
                <a:srgbClr val="FF0000"/>
              </a:solidFill>
            </a:endParaRPr>
          </a:p>
        </p:txBody>
      </p:sp>
      <p:sp>
        <p:nvSpPr>
          <p:cNvPr id="6" name="Rectangle 2"/>
          <p:cNvSpPr txBox="1"/>
          <p:nvPr/>
        </p:nvSpPr>
        <p:spPr>
          <a:xfrm>
            <a:off x="5461000" y="1325880"/>
            <a:ext cx="4800600" cy="3276600"/>
          </a:xfrm>
          <a:prstGeom prst="rect">
            <a:avLst/>
          </a:prstGeom>
          <a:noFill/>
          <a:ln w="9525" cap="flat" cmpd="sng">
            <a:solidFill>
              <a:srgbClr val="00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342900" lvl="0" indent="-342900" eaLnBrk="1" hangingPunct="1"/>
            <a:r>
              <a:rPr lang="en-US" altLang="zh-CN" sz="2000" dirty="0">
                <a:solidFill>
                  <a:srgbClr val="0000FF"/>
                </a:solidFill>
              </a:rPr>
              <a:t>0</a:t>
            </a:r>
            <a:r>
              <a:rPr lang="zh-CN" altLang="en-US" sz="2000" dirty="0">
                <a:solidFill>
                  <a:srgbClr val="0000FF"/>
                </a:solidFill>
              </a:rPr>
              <a:t>时刻</a:t>
            </a:r>
            <a:r>
              <a:rPr lang="zh-CN" altLang="en-US" sz="2000" dirty="0"/>
              <a:t>：只有</a:t>
            </a:r>
            <a:r>
              <a:rPr lang="en-US" altLang="zh-CN" sz="2000" dirty="0"/>
              <a:t>J</a:t>
            </a:r>
            <a:r>
              <a:rPr lang="en-US" altLang="zh-CN" sz="2000" baseline="-25000" dirty="0"/>
              <a:t>1</a:t>
            </a:r>
            <a:r>
              <a:rPr lang="zh-CN" altLang="en-US" sz="2000" dirty="0"/>
              <a:t>，运行</a:t>
            </a:r>
            <a:endParaRPr lang="en-US" altLang="zh-CN" sz="2000" dirty="0"/>
          </a:p>
          <a:p>
            <a:pPr marL="342900" lvl="0" indent="-342900" eaLnBrk="1" hangingPunct="1"/>
            <a:r>
              <a:rPr lang="en-US" altLang="zh-CN" sz="2000" dirty="0">
                <a:solidFill>
                  <a:srgbClr val="0000FF"/>
                </a:solidFill>
              </a:rPr>
              <a:t>7</a:t>
            </a:r>
            <a:r>
              <a:rPr lang="zh-CN" altLang="en-US" sz="2000" dirty="0">
                <a:solidFill>
                  <a:srgbClr val="0000FF"/>
                </a:solidFill>
              </a:rPr>
              <a:t>时刻</a:t>
            </a:r>
            <a:r>
              <a:rPr lang="zh-CN" altLang="en-US" sz="2000" dirty="0"/>
              <a:t>：</a:t>
            </a:r>
            <a:r>
              <a:rPr lang="en-US" altLang="zh-CN" sz="2000" dirty="0"/>
              <a:t>J</a:t>
            </a:r>
            <a:r>
              <a:rPr lang="en-US" altLang="zh-CN" sz="2000" baseline="-25000" dirty="0"/>
              <a:t>1</a:t>
            </a:r>
            <a:r>
              <a:rPr lang="zh-CN" altLang="en-US" sz="2000" dirty="0"/>
              <a:t>结束，计算其他</a:t>
            </a:r>
            <a:r>
              <a:rPr lang="en-US" altLang="zh-CN" sz="2000" dirty="0"/>
              <a:t>3</a:t>
            </a:r>
            <a:r>
              <a:rPr lang="zh-CN" altLang="en-US" sz="2000" dirty="0"/>
              <a:t>个作业响应比</a:t>
            </a:r>
            <a:endParaRPr lang="en-US" altLang="zh-CN" sz="1600" dirty="0"/>
          </a:p>
          <a:p>
            <a:pPr marL="742950" lvl="1" indent="-285750" eaLnBrk="1" hangingPunct="1"/>
            <a:r>
              <a:rPr lang="en-US" altLang="zh-CN" sz="1600" dirty="0"/>
              <a:t>J</a:t>
            </a:r>
            <a:r>
              <a:rPr lang="en-US" altLang="zh-CN" sz="1600" baseline="-25000" dirty="0"/>
              <a:t>2</a:t>
            </a:r>
            <a:r>
              <a:rPr lang="zh-CN" altLang="en-US" sz="1600" dirty="0"/>
              <a:t>：</a:t>
            </a:r>
            <a:r>
              <a:rPr lang="en-US" altLang="zh-CN" sz="1600" dirty="0"/>
              <a:t>1+5/4=2.25</a:t>
            </a:r>
            <a:endParaRPr lang="en-US" altLang="zh-CN" sz="1600" dirty="0"/>
          </a:p>
          <a:p>
            <a:pPr marL="742950" lvl="1" indent="-285750" eaLnBrk="1" hangingPunct="1"/>
            <a:r>
              <a:rPr lang="en-US" altLang="zh-CN" sz="1600" dirty="0"/>
              <a:t>J</a:t>
            </a:r>
            <a:r>
              <a:rPr lang="en-US" altLang="zh-CN" sz="1600" baseline="-25000" dirty="0"/>
              <a:t>3</a:t>
            </a:r>
            <a:r>
              <a:rPr lang="zh-CN" altLang="en-US" sz="1600" dirty="0"/>
              <a:t>：</a:t>
            </a:r>
            <a:r>
              <a:rPr lang="en-US" altLang="zh-CN" sz="1600" dirty="0"/>
              <a:t>1+3/1=4</a:t>
            </a:r>
            <a:endParaRPr lang="en-US" altLang="zh-CN" sz="1600" dirty="0"/>
          </a:p>
          <a:p>
            <a:pPr marL="742950" lvl="1" indent="-285750" eaLnBrk="1" hangingPunct="1"/>
            <a:r>
              <a:rPr lang="en-US" altLang="zh-CN" sz="1600" dirty="0"/>
              <a:t>J</a:t>
            </a:r>
            <a:r>
              <a:rPr lang="en-US" altLang="zh-CN" sz="1600" baseline="-25000" dirty="0"/>
              <a:t>4</a:t>
            </a:r>
            <a:r>
              <a:rPr lang="zh-CN" altLang="en-US" sz="1600" dirty="0"/>
              <a:t>：</a:t>
            </a:r>
            <a:r>
              <a:rPr lang="en-US" altLang="zh-CN" sz="1600" dirty="0"/>
              <a:t>1+2/4=1.5</a:t>
            </a:r>
            <a:endParaRPr lang="en-US" altLang="zh-CN" sz="1600" dirty="0"/>
          </a:p>
          <a:p>
            <a:pPr marL="342900" lvl="0" indent="-342900" eaLnBrk="1" hangingPunct="1"/>
            <a:r>
              <a:rPr lang="en-US" altLang="zh-CN" sz="2000" dirty="0">
                <a:solidFill>
                  <a:srgbClr val="0000FF"/>
                </a:solidFill>
              </a:rPr>
              <a:t>8</a:t>
            </a:r>
            <a:r>
              <a:rPr lang="zh-CN" altLang="en-US" sz="2000" dirty="0">
                <a:solidFill>
                  <a:srgbClr val="0000FF"/>
                </a:solidFill>
              </a:rPr>
              <a:t>时刻</a:t>
            </a:r>
            <a:r>
              <a:rPr lang="zh-CN" altLang="en-US" sz="2000" dirty="0"/>
              <a:t>：</a:t>
            </a:r>
            <a:r>
              <a:rPr lang="en-US" altLang="zh-CN" sz="2000" dirty="0"/>
              <a:t>J</a:t>
            </a:r>
            <a:r>
              <a:rPr lang="en-US" altLang="zh-CN" sz="2000" baseline="-25000" dirty="0"/>
              <a:t>3</a:t>
            </a:r>
            <a:r>
              <a:rPr lang="zh-CN" altLang="en-US" sz="2000" dirty="0"/>
              <a:t>结束，计算</a:t>
            </a:r>
            <a:r>
              <a:rPr lang="en-US" altLang="zh-CN" sz="2000" dirty="0"/>
              <a:t>J</a:t>
            </a:r>
            <a:r>
              <a:rPr lang="en-US" altLang="zh-CN" sz="2000" baseline="-25000" dirty="0"/>
              <a:t>2</a:t>
            </a:r>
            <a:r>
              <a:rPr lang="zh-CN" altLang="en-US" sz="2000" dirty="0"/>
              <a:t>和</a:t>
            </a:r>
            <a:r>
              <a:rPr lang="en-US" altLang="zh-CN" sz="2000" dirty="0"/>
              <a:t>J</a:t>
            </a:r>
            <a:r>
              <a:rPr lang="en-US" altLang="zh-CN" sz="2000" baseline="-25000" dirty="0"/>
              <a:t>4</a:t>
            </a:r>
            <a:r>
              <a:rPr lang="zh-CN" altLang="en-US" sz="2000" dirty="0"/>
              <a:t>响应比</a:t>
            </a:r>
            <a:endParaRPr lang="zh-CN" altLang="en-US" sz="2000" dirty="0"/>
          </a:p>
          <a:p>
            <a:pPr marL="742950" lvl="1" indent="-285750" eaLnBrk="1" hangingPunct="1"/>
            <a:r>
              <a:rPr lang="en-US" altLang="zh-CN" sz="1600" dirty="0"/>
              <a:t>J</a:t>
            </a:r>
            <a:r>
              <a:rPr lang="en-US" altLang="zh-CN" sz="1600" baseline="-25000" dirty="0"/>
              <a:t>2</a:t>
            </a:r>
            <a:r>
              <a:rPr lang="zh-CN" altLang="en-US" sz="1600" dirty="0"/>
              <a:t>：</a:t>
            </a:r>
            <a:r>
              <a:rPr lang="en-US" altLang="zh-CN" sz="1600" dirty="0"/>
              <a:t>1+6/4=2.5</a:t>
            </a:r>
            <a:endParaRPr lang="en-US" altLang="zh-CN" sz="1600" dirty="0"/>
          </a:p>
          <a:p>
            <a:pPr marL="742950" lvl="1" indent="-285750" eaLnBrk="1" hangingPunct="1"/>
            <a:r>
              <a:rPr lang="en-US" altLang="zh-CN" sz="1600" dirty="0"/>
              <a:t>J</a:t>
            </a:r>
            <a:r>
              <a:rPr lang="en-US" altLang="zh-CN" sz="1600" baseline="-25000" dirty="0"/>
              <a:t>4</a:t>
            </a:r>
            <a:r>
              <a:rPr lang="zh-CN" altLang="en-US" sz="1600" dirty="0"/>
              <a:t>：</a:t>
            </a:r>
            <a:r>
              <a:rPr lang="en-US" altLang="zh-CN" sz="1600" dirty="0"/>
              <a:t>1+3/4=1.75</a:t>
            </a:r>
            <a:endParaRPr lang="en-US" altLang="zh-CN" sz="1600" dirty="0"/>
          </a:p>
          <a:p>
            <a:pPr marL="342900" lvl="0" indent="-342900" eaLnBrk="1" hangingPunct="1"/>
            <a:r>
              <a:rPr lang="en-US" altLang="zh-CN" sz="2000" dirty="0">
                <a:solidFill>
                  <a:srgbClr val="0000FF"/>
                </a:solidFill>
              </a:rPr>
              <a:t>12</a:t>
            </a:r>
            <a:r>
              <a:rPr lang="zh-CN" altLang="en-US" sz="2000" dirty="0">
                <a:solidFill>
                  <a:srgbClr val="0000FF"/>
                </a:solidFill>
              </a:rPr>
              <a:t>时刻</a:t>
            </a:r>
            <a:r>
              <a:rPr lang="zh-CN" altLang="en-US" sz="2000" dirty="0"/>
              <a:t>：</a:t>
            </a:r>
            <a:r>
              <a:rPr lang="en-US" altLang="zh-CN" sz="2000" dirty="0"/>
              <a:t>J</a:t>
            </a:r>
            <a:r>
              <a:rPr lang="en-US" altLang="zh-CN" sz="2000" baseline="-25000" dirty="0"/>
              <a:t>2</a:t>
            </a:r>
            <a:r>
              <a:rPr lang="zh-CN" altLang="en-US" sz="2000" dirty="0"/>
              <a:t>结束，</a:t>
            </a:r>
            <a:r>
              <a:rPr lang="en-US" altLang="zh-CN" sz="2000" dirty="0"/>
              <a:t>J</a:t>
            </a:r>
            <a:r>
              <a:rPr lang="en-US" altLang="zh-CN" sz="2000" baseline="-25000" dirty="0"/>
              <a:t>4</a:t>
            </a:r>
            <a:r>
              <a:rPr lang="zh-CN" altLang="en-US" sz="2000" dirty="0"/>
              <a:t>运行</a:t>
            </a:r>
            <a:endParaRPr lang="en-US" altLang="zh-CN" sz="2000" dirty="0"/>
          </a:p>
        </p:txBody>
      </p:sp>
      <p:sp>
        <p:nvSpPr>
          <p:cNvPr id="7" name="Rectangle 45"/>
          <p:cNvSpPr/>
          <p:nvPr/>
        </p:nvSpPr>
        <p:spPr>
          <a:xfrm>
            <a:off x="965200" y="532796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endParaRPr lang="zh-CN" altLang="en-US" sz="1800" b="0" dirty="0"/>
          </a:p>
        </p:txBody>
      </p:sp>
      <p:graphicFrame>
        <p:nvGraphicFramePr>
          <p:cNvPr id="8" name="表格 7"/>
          <p:cNvGraphicFramePr>
            <a:graphicFrameLocks noGrp="1"/>
          </p:cNvGraphicFramePr>
          <p:nvPr/>
        </p:nvGraphicFramePr>
        <p:xfrm>
          <a:off x="4030663" y="4908868"/>
          <a:ext cx="5773738" cy="523875"/>
        </p:xfrm>
        <a:graphic>
          <a:graphicData uri="http://schemas.openxmlformats.org/drawingml/2006/table">
            <a:tbl>
              <a:tblPr firstRow="1" bandRow="1">
                <a:tableStyleId>{5C22544A-7EE6-4342-B048-85BDC9FD1C3A}</a:tableStyleId>
              </a:tblPr>
              <a:tblGrid>
                <a:gridCol w="2497770"/>
                <a:gridCol w="380954"/>
                <a:gridCol w="1523577"/>
                <a:gridCol w="1371435"/>
              </a:tblGrid>
              <a:tr h="523875">
                <a:tc>
                  <a:txBody>
                    <a:bodyPr/>
                    <a:lstStyle/>
                    <a:p>
                      <a:pPr algn="ctr"/>
                      <a:r>
                        <a:rPr lang="en-US" altLang="zh-CN" sz="1600" b="1" dirty="0">
                          <a:solidFill>
                            <a:schemeClr val="tx1"/>
                          </a:solidFill>
                        </a:rPr>
                        <a:t>J</a:t>
                      </a:r>
                      <a:r>
                        <a:rPr lang="en-US" altLang="zh-CN" sz="1600" b="1" baseline="-25000" dirty="0">
                          <a:solidFill>
                            <a:schemeClr val="tx1"/>
                          </a:solidFill>
                        </a:rPr>
                        <a:t>1</a:t>
                      </a:r>
                      <a:endParaRPr lang="zh-CN" altLang="en-US" sz="1600" b="1" baseline="-25000" dirty="0">
                        <a:solidFill>
                          <a:schemeClr val="tx1"/>
                        </a:solidFill>
                      </a:endParaRPr>
                    </a:p>
                  </a:txBody>
                  <a:tcPr marL="91431" marR="91431" marT="45704" marB="457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1600" b="1" dirty="0">
                          <a:solidFill>
                            <a:schemeClr val="tx1"/>
                          </a:solidFill>
                        </a:rPr>
                        <a:t>J</a:t>
                      </a:r>
                      <a:r>
                        <a:rPr lang="en-US" altLang="zh-CN" sz="1600" b="1" baseline="-25000" dirty="0">
                          <a:solidFill>
                            <a:schemeClr val="tx1"/>
                          </a:solidFill>
                        </a:rPr>
                        <a:t>3</a:t>
                      </a:r>
                      <a:endParaRPr lang="zh-CN" altLang="en-US" sz="1600" b="1" baseline="-25000" dirty="0">
                        <a:solidFill>
                          <a:schemeClr val="tx1"/>
                        </a:solidFill>
                      </a:endParaRPr>
                    </a:p>
                  </a:txBody>
                  <a:tcPr marL="91431" marR="91431" marT="45704" marB="457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1600" b="1" dirty="0">
                          <a:solidFill>
                            <a:schemeClr val="tx1"/>
                          </a:solidFill>
                        </a:rPr>
                        <a:t>J</a:t>
                      </a:r>
                      <a:r>
                        <a:rPr lang="en-US" altLang="zh-CN" sz="1600" b="1" baseline="-25000" dirty="0">
                          <a:solidFill>
                            <a:schemeClr val="tx1"/>
                          </a:solidFill>
                        </a:rPr>
                        <a:t>2</a:t>
                      </a:r>
                      <a:endParaRPr lang="zh-CN" altLang="en-US" sz="1600" b="1" baseline="-25000" dirty="0">
                        <a:solidFill>
                          <a:schemeClr val="tx1"/>
                        </a:solidFill>
                      </a:endParaRPr>
                    </a:p>
                  </a:txBody>
                  <a:tcPr marL="91431" marR="91431" marT="45704" marB="457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sz="1600" b="1" dirty="0">
                          <a:solidFill>
                            <a:schemeClr val="tx1"/>
                          </a:solidFill>
                        </a:rPr>
                        <a:t>J</a:t>
                      </a:r>
                      <a:r>
                        <a:rPr lang="en-US" altLang="zh-CN" sz="1600" b="1" baseline="-25000" dirty="0">
                          <a:solidFill>
                            <a:schemeClr val="tx1"/>
                          </a:solidFill>
                        </a:rPr>
                        <a:t>3</a:t>
                      </a:r>
                      <a:endParaRPr lang="zh-CN" altLang="en-US" sz="1600" b="1" baseline="-25000" dirty="0">
                        <a:solidFill>
                          <a:schemeClr val="tx1"/>
                        </a:solidFill>
                      </a:endParaRPr>
                    </a:p>
                  </a:txBody>
                  <a:tcPr marL="91431" marR="91431" marT="45704" marB="457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sp>
        <p:nvSpPr>
          <p:cNvPr id="9" name="文本框 8"/>
          <p:cNvSpPr txBox="1"/>
          <p:nvPr/>
        </p:nvSpPr>
        <p:spPr>
          <a:xfrm>
            <a:off x="3455988" y="5477193"/>
            <a:ext cx="838200" cy="3381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a:spcBef>
                <a:spcPct val="0"/>
              </a:spcBef>
              <a:buClrTx/>
              <a:buSzTx/>
              <a:buFontTx/>
              <a:buNone/>
            </a:pPr>
            <a:r>
              <a:rPr lang="zh-CN" altLang="en-US" sz="1600" b="0" dirty="0"/>
              <a:t>时间 </a:t>
            </a:r>
            <a:r>
              <a:rPr lang="en-US" altLang="zh-CN" sz="1600" b="0" dirty="0"/>
              <a:t>0</a:t>
            </a:r>
            <a:endParaRPr lang="zh-CN" altLang="en-US" sz="1600" b="0" dirty="0"/>
          </a:p>
        </p:txBody>
      </p:sp>
      <p:sp>
        <p:nvSpPr>
          <p:cNvPr id="11" name="文本框 10"/>
          <p:cNvSpPr txBox="1"/>
          <p:nvPr/>
        </p:nvSpPr>
        <p:spPr>
          <a:xfrm>
            <a:off x="6321425" y="5477193"/>
            <a:ext cx="587375" cy="344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a:spcBef>
                <a:spcPct val="0"/>
              </a:spcBef>
              <a:buClrTx/>
              <a:buSzTx/>
              <a:buFontTx/>
              <a:buNone/>
            </a:pPr>
            <a:r>
              <a:rPr lang="zh-CN" altLang="en-US" sz="1600" b="0" dirty="0"/>
              <a:t> </a:t>
            </a:r>
            <a:r>
              <a:rPr lang="en-US" altLang="zh-CN" sz="1600" b="0" dirty="0"/>
              <a:t>7</a:t>
            </a:r>
            <a:endParaRPr lang="zh-CN" altLang="en-US" sz="1600" b="0" dirty="0"/>
          </a:p>
        </p:txBody>
      </p:sp>
      <p:sp>
        <p:nvSpPr>
          <p:cNvPr id="12" name="文本框 11"/>
          <p:cNvSpPr txBox="1"/>
          <p:nvPr/>
        </p:nvSpPr>
        <p:spPr>
          <a:xfrm>
            <a:off x="6680200" y="5477193"/>
            <a:ext cx="587375" cy="344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a:spcBef>
                <a:spcPct val="0"/>
              </a:spcBef>
              <a:buClrTx/>
              <a:buSzTx/>
              <a:buFontTx/>
              <a:buNone/>
            </a:pPr>
            <a:r>
              <a:rPr lang="zh-CN" altLang="en-US" sz="1600" b="0" dirty="0"/>
              <a:t> </a:t>
            </a:r>
            <a:r>
              <a:rPr lang="en-US" altLang="zh-CN" sz="1600" b="0" dirty="0"/>
              <a:t>8</a:t>
            </a:r>
            <a:endParaRPr lang="zh-CN" altLang="en-US" sz="1600" b="0" dirty="0"/>
          </a:p>
        </p:txBody>
      </p:sp>
      <p:sp>
        <p:nvSpPr>
          <p:cNvPr id="13" name="文本框 12"/>
          <p:cNvSpPr txBox="1"/>
          <p:nvPr/>
        </p:nvSpPr>
        <p:spPr>
          <a:xfrm>
            <a:off x="8128000" y="5477193"/>
            <a:ext cx="587375" cy="344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a:spcBef>
                <a:spcPct val="0"/>
              </a:spcBef>
              <a:buClrTx/>
              <a:buSzTx/>
              <a:buFontTx/>
              <a:buNone/>
            </a:pPr>
            <a:r>
              <a:rPr lang="zh-CN" altLang="en-US" sz="1600" b="0" dirty="0"/>
              <a:t> </a:t>
            </a:r>
            <a:r>
              <a:rPr lang="en-US" altLang="zh-CN" sz="1600" b="0" dirty="0"/>
              <a:t>12</a:t>
            </a:r>
            <a:endParaRPr lang="zh-CN" altLang="en-US" sz="1600" b="0" dirty="0"/>
          </a:p>
        </p:txBody>
      </p:sp>
      <p:sp>
        <p:nvSpPr>
          <p:cNvPr id="14" name="圆角矩形标注 13"/>
          <p:cNvSpPr/>
          <p:nvPr/>
        </p:nvSpPr>
        <p:spPr>
          <a:xfrm>
            <a:off x="1574800" y="5061268"/>
            <a:ext cx="1852613" cy="452437"/>
          </a:xfrm>
          <a:prstGeom prst="wedgeRoundRectCallout">
            <a:avLst>
              <a:gd name="adj1" fmla="val 70778"/>
              <a:gd name="adj2" fmla="val 8273"/>
              <a:gd name="adj3" fmla="val 16667"/>
            </a:avLst>
          </a:prstGeom>
          <a:solidFill>
            <a:srgbClr val="FFFF0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en-US" altLang="zh-CN" sz="2000" dirty="0"/>
              <a:t>HRRF</a:t>
            </a:r>
            <a:r>
              <a:rPr lang="zh-CN" altLang="en-US" sz="2000" dirty="0"/>
              <a:t>甘特图</a:t>
            </a:r>
            <a:endParaRPr lang="zh-CN" altLang="en-US" sz="2000" dirty="0"/>
          </a:p>
        </p:txBody>
      </p:sp>
      <p:sp>
        <p:nvSpPr>
          <p:cNvPr id="15" name="文本框 14"/>
          <p:cNvSpPr txBox="1"/>
          <p:nvPr/>
        </p:nvSpPr>
        <p:spPr>
          <a:xfrm>
            <a:off x="9445625" y="5461318"/>
            <a:ext cx="587375" cy="344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a:spcBef>
                <a:spcPct val="0"/>
              </a:spcBef>
              <a:buClrTx/>
              <a:buSzTx/>
              <a:buFontTx/>
              <a:buNone/>
            </a:pPr>
            <a:r>
              <a:rPr lang="zh-CN" altLang="en-US" sz="1600" b="0" dirty="0"/>
              <a:t> </a:t>
            </a:r>
            <a:r>
              <a:rPr lang="en-US" altLang="zh-CN" sz="1600" b="0" dirty="0"/>
              <a:t>16</a:t>
            </a:r>
            <a:endParaRPr lang="zh-CN" altLang="en-US" sz="1600" b="0" dirty="0"/>
          </a:p>
        </p:txBody>
      </p:sp>
      <p:sp>
        <p:nvSpPr>
          <p:cNvPr id="17" name="圆角矩形标注 16"/>
          <p:cNvSpPr/>
          <p:nvPr/>
        </p:nvSpPr>
        <p:spPr>
          <a:xfrm>
            <a:off x="10033000" y="2694305"/>
            <a:ext cx="1744663" cy="1503363"/>
          </a:xfrm>
          <a:prstGeom prst="wedgeRoundRectCallout">
            <a:avLst>
              <a:gd name="adj1" fmla="val -80583"/>
              <a:gd name="adj2" fmla="val 24356"/>
              <a:gd name="adj3" fmla="val 16667"/>
            </a:avLst>
          </a:prstGeom>
          <a:solidFill>
            <a:srgbClr val="FFFF0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en-US" altLang="zh-CN" sz="2000" dirty="0"/>
              <a:t>J2</a:t>
            </a:r>
            <a:r>
              <a:rPr lang="zh-CN" altLang="en-US" sz="2000" dirty="0"/>
              <a:t>和</a:t>
            </a:r>
            <a:r>
              <a:rPr lang="en-US" altLang="zh-CN" sz="2000" dirty="0"/>
              <a:t>J4</a:t>
            </a:r>
            <a:r>
              <a:rPr lang="zh-CN" altLang="en-US" sz="2000" dirty="0"/>
              <a:t>运行时间相同，但</a:t>
            </a:r>
            <a:r>
              <a:rPr lang="en-US" altLang="zh-CN" sz="2000" dirty="0"/>
              <a:t>J2</a:t>
            </a:r>
            <a:r>
              <a:rPr lang="zh-CN" altLang="en-US" sz="2000" dirty="0"/>
              <a:t>等的久，响应比更大</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fade">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nodePh="1">
                                  <p:stCondLst>
                                    <p:cond delay="0"/>
                                  </p:stCondLst>
                                  <p:endCondLst>
                                    <p:cond evt="begin" delay="0">
                                      <p:tn val="55"/>
                                    </p:cond>
                                  </p:end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500"/>
                                        <p:tgtEl>
                                          <p:spTgt spid="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500"/>
                                        <p:tgtEl>
                                          <p:spTgt spid="1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500"/>
                                        <p:tgtEl>
                                          <p:spTgt spid="1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2" grpId="0"/>
      <p:bldP spid="13" grpId="0"/>
      <p:bldP spid="14" grpId="0" bldLvl="0" animBg="1"/>
      <p:bldP spid="15" grpId="0"/>
      <p:bldP spid="17"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8890" y="2336800"/>
            <a:ext cx="8946515"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下列进程调度算法中，综合考虑进程等待时间和执行时间的是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 </a:t>
            </a:r>
            <a:r>
              <a:rPr lang="en-US" altLang="zh-CN" sz="2400" b="1">
                <a:latin typeface="宋体" panose="02010600030101010101" pitchFamily="2" charset="-122"/>
                <a:ea typeface="宋体" panose="02010600030101010101" pitchFamily="2" charset="-122"/>
              </a:rPr>
              <a:t>2009</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时间片轮转调度算法</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短进程优先调度算法</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先来先服务调度算法</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高响应比优先调度算法</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时间片轮转</a:t>
            </a:r>
            <a:r>
              <a:rPr lang="en-US" altLang="zh-CN" sz="2800" b="1" dirty="0">
                <a:solidFill>
                  <a:schemeClr val="bg1"/>
                </a:solidFill>
              </a:rPr>
              <a:t>(RR)</a:t>
            </a:r>
            <a:r>
              <a:rPr lang="zh-CN" altLang="en-US" sz="2800" b="1" dirty="0">
                <a:solidFill>
                  <a:schemeClr val="bg1"/>
                </a:solidFill>
              </a:rPr>
              <a:t>调度算法</a:t>
            </a:r>
            <a:endParaRPr lang="zh-CN" altLang="en-US" sz="2800" b="1" dirty="0">
              <a:solidFill>
                <a:schemeClr val="bg1"/>
              </a:solidFill>
            </a:endParaRPr>
          </a:p>
        </p:txBody>
      </p:sp>
      <p:grpSp>
        <p:nvGrpSpPr>
          <p:cNvPr id="58"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0631" y="874352"/>
            <a:ext cx="11510645" cy="5635625"/>
            <a:chOff x="673100" y="1929384"/>
            <a:chExt cx="11510645" cy="5635625"/>
          </a:xfrm>
        </p:grpSpPr>
        <p:sp>
          <p:nvSpPr>
            <p:cNvPr id="59"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0"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1"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2"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3"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5" name="isľîdê"/>
            <p:cNvSpPr txBox="1"/>
            <p:nvPr/>
          </p:nvSpPr>
          <p:spPr>
            <a:xfrm>
              <a:off x="873884" y="4127645"/>
              <a:ext cx="2091530" cy="1931412"/>
            </a:xfrm>
            <a:prstGeom prst="rect">
              <a:avLst/>
            </a:prstGeom>
            <a:noFill/>
            <a:ln>
              <a:noFill/>
            </a:ln>
          </p:spPr>
          <p:txBody>
            <a:bodyPr wrap="square" lIns="91440" tIns="45720" rIns="91440" bIns="45720" anchor="t" anchorCtr="0">
              <a:noAutofit/>
            </a:bodyPr>
            <a:lstStyle/>
            <a:p>
              <a:pPr algn="ctr">
                <a:lnSpc>
                  <a:spcPct val="120000"/>
                </a:lnSpc>
                <a:buClr>
                  <a:srgbClr val="FF0000"/>
                </a:buClr>
              </a:pPr>
              <a:r>
                <a:rPr lang="zh-CN" altLang="en-US" sz="2400" dirty="0"/>
                <a:t>专为分时系统设计，类似于</a:t>
              </a:r>
              <a:r>
                <a:rPr lang="en-US" altLang="zh-CN" sz="2400" dirty="0"/>
                <a:t>FCFS</a:t>
              </a:r>
              <a:r>
                <a:rPr lang="zh-CN" altLang="en-US" sz="2400" dirty="0"/>
                <a:t>打底，但增加了抢占</a:t>
              </a:r>
              <a:r>
                <a:rPr lang="en-US" altLang="zh-CN" sz="2400" dirty="0"/>
                <a:t>--</a:t>
              </a:r>
              <a:r>
                <a:rPr lang="zh-CN" altLang="en-US" sz="2400" dirty="0"/>
                <a:t>时钟抢占。</a:t>
              </a:r>
              <a:endParaRPr lang="zh-CN" altLang="en-US" sz="2400" dirty="0"/>
            </a:p>
          </p:txBody>
        </p:sp>
        <p:sp>
          <p:nvSpPr>
            <p:cNvPr id="69"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70"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7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7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77" name="isľîdê"/>
            <p:cNvSpPr txBox="1"/>
            <p:nvPr/>
          </p:nvSpPr>
          <p:spPr>
            <a:xfrm>
              <a:off x="3458154" y="4151139"/>
              <a:ext cx="2391476" cy="2270543"/>
            </a:xfrm>
            <a:prstGeom prst="rect">
              <a:avLst/>
            </a:prstGeom>
            <a:noFill/>
            <a:ln>
              <a:noFill/>
            </a:ln>
          </p:spPr>
          <p:txBody>
            <a:bodyPr wrap="square" lIns="91440" tIns="45720" rIns="91440" bIns="45720" anchor="t" anchorCtr="0">
              <a:noAutofit/>
            </a:bodyPr>
            <a:lstStyle/>
            <a:p>
              <a:pPr marL="0" lvl="1">
                <a:lnSpc>
                  <a:spcPct val="120000"/>
                </a:lnSpc>
              </a:pPr>
              <a:r>
                <a:rPr lang="zh-CN" altLang="en-US" sz="2400" dirty="0"/>
                <a:t>时间片</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200" dirty="0"/>
                <a:t>小单位的</a:t>
              </a:r>
              <a:r>
                <a:rPr lang="en-US" altLang="zh-CN" sz="2200" dirty="0"/>
                <a:t>CPU</a:t>
              </a:r>
              <a:r>
                <a:rPr lang="zh-CN" altLang="en-US" sz="2200" dirty="0"/>
                <a:t>时间，通常为</a:t>
              </a:r>
              <a:r>
                <a:rPr lang="en-US" altLang="zh-CN" sz="2200" dirty="0"/>
                <a:t>10~100</a:t>
              </a:r>
              <a:r>
                <a:rPr lang="zh-CN" altLang="en-US" sz="2200" dirty="0"/>
                <a:t>毫秒</a:t>
              </a:r>
              <a:endParaRPr lang="zh-CN" altLang="en-US" sz="2200" dirty="0"/>
            </a:p>
          </p:txBody>
        </p:sp>
        <p:sp>
          <p:nvSpPr>
            <p:cNvPr id="78" name="isľîdê"/>
            <p:cNvSpPr txBox="1"/>
            <p:nvPr/>
          </p:nvSpPr>
          <p:spPr>
            <a:xfrm>
              <a:off x="6015106" y="4159915"/>
              <a:ext cx="2893652" cy="1461716"/>
            </a:xfrm>
            <a:prstGeom prst="rect">
              <a:avLst/>
            </a:prstGeom>
            <a:noFill/>
            <a:ln>
              <a:noFill/>
            </a:ln>
          </p:spPr>
          <p:txBody>
            <a:bodyPr wrap="square" lIns="91440" tIns="45720" rIns="91440" bIns="45720" anchor="t" anchorCtr="0">
              <a:noAutofit/>
            </a:bodyPr>
            <a:lstStyle/>
            <a:p>
              <a:pPr>
                <a:lnSpc>
                  <a:spcPct val="120000"/>
                </a:lnSpc>
                <a:buClr>
                  <a:srgbClr val="0000FF"/>
                </a:buClr>
              </a:pPr>
              <a:r>
                <a:rPr lang="zh-CN" altLang="en-US" sz="2400" dirty="0"/>
                <a:t>为每个进程分配不超过一个时间片的</a:t>
              </a:r>
              <a:r>
                <a:rPr lang="en-US" altLang="zh-CN" sz="2400" dirty="0"/>
                <a:t>CPU</a:t>
              </a:r>
              <a:r>
                <a:rPr lang="zh-CN" altLang="en-US" sz="2400" dirty="0"/>
                <a:t>。时间片用完后，该进程将被抢占并插入就绪队列末尾，循环执行</a:t>
              </a:r>
              <a:endParaRPr lang="zh-CN" altLang="en-US" sz="2400" dirty="0"/>
            </a:p>
          </p:txBody>
        </p:sp>
        <p:sp>
          <p:nvSpPr>
            <p:cNvPr id="79" name="isľîdê"/>
            <p:cNvSpPr txBox="1"/>
            <p:nvPr/>
          </p:nvSpPr>
          <p:spPr>
            <a:xfrm>
              <a:off x="8979535" y="4055364"/>
              <a:ext cx="3204210" cy="3509645"/>
            </a:xfrm>
            <a:prstGeom prst="rect">
              <a:avLst/>
            </a:prstGeom>
            <a:noFill/>
            <a:ln>
              <a:noFill/>
            </a:ln>
          </p:spPr>
          <p:txBody>
            <a:bodyPr wrap="square" lIns="91440" tIns="45720" rIns="91440" bIns="45720" anchor="t" anchorCtr="0">
              <a:noAutofit/>
            </a:bodyPr>
            <a:lstStyle/>
            <a:p>
              <a:pPr>
                <a:lnSpc>
                  <a:spcPct val="120000"/>
                </a:lnSpc>
                <a:buClr>
                  <a:srgbClr val="0000FF"/>
                </a:buClr>
              </a:pPr>
              <a:r>
                <a:rPr lang="zh-CN" altLang="en-US" sz="2400" dirty="0"/>
                <a:t>假定就绪队列中有</a:t>
              </a:r>
              <a:r>
                <a:rPr lang="en-US" altLang="zh-CN" sz="2400" dirty="0"/>
                <a:t>n</a:t>
              </a:r>
              <a:r>
                <a:rPr lang="zh-CN" altLang="en-US" sz="2400" dirty="0"/>
                <a:t>个进程、时间片为</a:t>
              </a:r>
              <a:r>
                <a:rPr lang="en-US" altLang="zh-CN" sz="2400" dirty="0"/>
                <a:t>q, </a:t>
              </a:r>
              <a:r>
                <a:rPr lang="zh-CN" altLang="en-US" sz="2400" dirty="0"/>
                <a:t>则每个进程每次得到</a:t>
              </a:r>
              <a:r>
                <a:rPr lang="en-US" altLang="zh-CN" sz="2400" dirty="0"/>
                <a:t>1/n</a:t>
              </a:r>
              <a:r>
                <a:rPr lang="zh-CN" altLang="en-US" sz="2400" dirty="0"/>
                <a:t>的、不超过</a:t>
              </a:r>
              <a:r>
                <a:rPr lang="en-US" altLang="zh-CN" sz="2400" dirty="0"/>
                <a:t>q</a:t>
              </a:r>
              <a:r>
                <a:rPr lang="zh-CN" altLang="en-US" sz="2400" dirty="0"/>
                <a:t>单位的成块</a:t>
              </a:r>
              <a:r>
                <a:rPr lang="en-US" altLang="zh-CN" sz="2400" dirty="0"/>
                <a:t>CPU</a:t>
              </a:r>
              <a:r>
                <a:rPr lang="zh-CN" altLang="en-US" sz="2400" dirty="0"/>
                <a:t>时间，没有任何一个进程的等待时间会超过</a:t>
              </a:r>
              <a:r>
                <a:rPr lang="en-US" altLang="zh-CN" sz="2400" dirty="0"/>
                <a:t>(n-1) </a:t>
              </a:r>
              <a:r>
                <a:rPr lang="zh-CN" altLang="en-US" sz="2400" dirty="0"/>
                <a:t>个</a:t>
              </a:r>
              <a:r>
                <a:rPr lang="en-US" altLang="zh-CN" sz="2400" dirty="0"/>
                <a:t>q</a:t>
              </a:r>
              <a:r>
                <a:rPr lang="zh-CN" altLang="en-US" sz="2400" dirty="0"/>
                <a:t>单位</a:t>
              </a:r>
              <a:endParaRPr lang="zh-CN" altLang="en-US" sz="2400" dirty="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时间片为</a:t>
            </a:r>
            <a:r>
              <a:rPr lang="en-US" altLang="zh-CN" sz="2800" b="1" dirty="0">
                <a:solidFill>
                  <a:schemeClr val="bg1"/>
                </a:solidFill>
              </a:rPr>
              <a:t>20</a:t>
            </a:r>
            <a:r>
              <a:rPr lang="zh-CN" altLang="en-US" sz="2800" b="1" dirty="0">
                <a:solidFill>
                  <a:schemeClr val="bg1"/>
                </a:solidFill>
              </a:rPr>
              <a:t>的</a:t>
            </a:r>
            <a:r>
              <a:rPr lang="en-US" altLang="zh-CN" sz="2800" b="1" dirty="0">
                <a:solidFill>
                  <a:schemeClr val="bg1"/>
                </a:solidFill>
              </a:rPr>
              <a:t>RR</a:t>
            </a:r>
            <a:r>
              <a:rPr lang="zh-CN" altLang="en-US" sz="2800" b="1" dirty="0">
                <a:solidFill>
                  <a:schemeClr val="bg1"/>
                </a:solidFill>
              </a:rPr>
              <a:t>例子</a:t>
            </a:r>
            <a:endParaRPr lang="zh-CN" altLang="en-US" sz="2800" b="1" dirty="0">
              <a:solidFill>
                <a:schemeClr val="bg1"/>
              </a:solidFill>
            </a:endParaRPr>
          </a:p>
        </p:txBody>
      </p:sp>
      <p:sp>
        <p:nvSpPr>
          <p:cNvPr id="23" name="文本框 22"/>
          <p:cNvSpPr txBox="1"/>
          <p:nvPr/>
        </p:nvSpPr>
        <p:spPr>
          <a:xfrm>
            <a:off x="571729" y="1407861"/>
            <a:ext cx="3884862" cy="2267544"/>
          </a:xfrm>
          <a:prstGeom prst="rect">
            <a:avLst/>
          </a:prstGeom>
          <a:noFill/>
          <a:ln>
            <a:solidFill>
              <a:schemeClr val="bg2">
                <a:lumMod val="75000"/>
              </a:schemeClr>
            </a:solidFill>
          </a:ln>
        </p:spPr>
        <p:txBody>
          <a:bodyPr wrap="square">
            <a:spAutoFit/>
          </a:bodyPr>
          <a:lstStyle/>
          <a:p>
            <a:pPr>
              <a:lnSpc>
                <a:spcPct val="120000"/>
              </a:lnSpc>
              <a:buClr>
                <a:srgbClr val="FF0000"/>
              </a:buClr>
              <a:defRPr/>
            </a:pPr>
            <a:r>
              <a:rPr lang="zh-CN" altLang="en-US" sz="2400" dirty="0"/>
              <a:t>进程	</a:t>
            </a:r>
            <a:r>
              <a:rPr lang="en-US" altLang="zh-CN" sz="2400" dirty="0"/>
              <a:t>	</a:t>
            </a:r>
            <a:r>
              <a:rPr lang="zh-CN" altLang="en-US" sz="2400" dirty="0"/>
              <a:t>运行时间</a:t>
            </a:r>
            <a:endParaRPr lang="zh-CN" altLang="en-US" sz="2400" dirty="0"/>
          </a:p>
          <a:p>
            <a:pPr>
              <a:lnSpc>
                <a:spcPct val="120000"/>
              </a:lnSpc>
              <a:buClr>
                <a:srgbClr val="FF0000"/>
              </a:buClr>
              <a:defRPr/>
            </a:pPr>
            <a:r>
              <a:rPr lang="en-US" altLang="zh-CN" sz="2400" dirty="0"/>
              <a:t>P1		23</a:t>
            </a:r>
            <a:endParaRPr lang="en-US" altLang="zh-CN" sz="2400" dirty="0"/>
          </a:p>
          <a:p>
            <a:pPr>
              <a:lnSpc>
                <a:spcPct val="120000"/>
              </a:lnSpc>
              <a:buClr>
                <a:srgbClr val="FF0000"/>
              </a:buClr>
              <a:defRPr/>
            </a:pPr>
            <a:r>
              <a:rPr lang="en-US" altLang="zh-CN" sz="2400" dirty="0"/>
              <a:t>P2	 	17</a:t>
            </a:r>
            <a:endParaRPr lang="en-US" altLang="zh-CN" sz="2400" dirty="0"/>
          </a:p>
          <a:p>
            <a:pPr>
              <a:lnSpc>
                <a:spcPct val="120000"/>
              </a:lnSpc>
              <a:buClr>
                <a:srgbClr val="FF0000"/>
              </a:buClr>
              <a:defRPr/>
            </a:pPr>
            <a:r>
              <a:rPr lang="en-US" altLang="zh-CN" sz="2400" dirty="0"/>
              <a:t>P3		46</a:t>
            </a:r>
            <a:endParaRPr lang="en-US" altLang="zh-CN" sz="2400" dirty="0"/>
          </a:p>
          <a:p>
            <a:pPr>
              <a:lnSpc>
                <a:spcPct val="120000"/>
              </a:lnSpc>
              <a:buClr>
                <a:srgbClr val="FF0000"/>
              </a:buClr>
              <a:defRPr/>
            </a:pPr>
            <a:r>
              <a:rPr lang="en-US" altLang="zh-CN" sz="2400" dirty="0"/>
              <a:t>P4	 	24</a:t>
            </a:r>
            <a:endParaRPr lang="en-US" altLang="zh-CN" sz="2400" dirty="0"/>
          </a:p>
        </p:txBody>
      </p:sp>
      <p:sp>
        <p:nvSpPr>
          <p:cNvPr id="26" name="内容占位符 2"/>
          <p:cNvSpPr txBox="1"/>
          <p:nvPr/>
        </p:nvSpPr>
        <p:spPr>
          <a:xfrm>
            <a:off x="4712930" y="1234507"/>
            <a:ext cx="2507776" cy="6002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en-US" altLang="zh-CN" sz="2400" dirty="0"/>
              <a:t>Gantt</a:t>
            </a:r>
            <a:r>
              <a:rPr lang="zh-CN" altLang="en-US" sz="2400" dirty="0"/>
              <a:t>图如下：</a:t>
            </a:r>
            <a:endParaRPr lang="zh-CN" altLang="en-US" sz="2400" dirty="0"/>
          </a:p>
        </p:txBody>
      </p:sp>
      <p:grpSp>
        <p:nvGrpSpPr>
          <p:cNvPr id="29" name="组合 28"/>
          <p:cNvGrpSpPr/>
          <p:nvPr/>
        </p:nvGrpSpPr>
        <p:grpSpPr>
          <a:xfrm>
            <a:off x="4669056" y="2076572"/>
            <a:ext cx="7288139" cy="1483400"/>
            <a:chOff x="1578266" y="4039154"/>
            <a:chExt cx="4858579" cy="988897"/>
          </a:xfrm>
          <a:solidFill>
            <a:srgbClr val="FFFF00"/>
          </a:solidFill>
        </p:grpSpPr>
        <p:sp>
          <p:nvSpPr>
            <p:cNvPr id="32" name="Rectangle 4"/>
            <p:cNvSpPr>
              <a:spLocks noChangeArrowheads="1"/>
            </p:cNvSpPr>
            <p:nvPr/>
          </p:nvSpPr>
          <p:spPr bwMode="auto">
            <a:xfrm>
              <a:off x="169862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1</a:t>
              </a:r>
              <a:endParaRPr lang="en-US" altLang="zh-CN" sz="2600" dirty="0"/>
            </a:p>
          </p:txBody>
        </p:sp>
        <p:sp>
          <p:nvSpPr>
            <p:cNvPr id="35" name="Rectangle 5"/>
            <p:cNvSpPr>
              <a:spLocks noChangeArrowheads="1"/>
            </p:cNvSpPr>
            <p:nvPr/>
          </p:nvSpPr>
          <p:spPr bwMode="auto">
            <a:xfrm>
              <a:off x="226250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2</a:t>
              </a:r>
              <a:endParaRPr lang="en-US" altLang="zh-CN" sz="2600" baseline="-25000" dirty="0"/>
            </a:p>
          </p:txBody>
        </p:sp>
        <p:sp>
          <p:nvSpPr>
            <p:cNvPr id="40" name="Rectangle 6"/>
            <p:cNvSpPr>
              <a:spLocks noChangeArrowheads="1"/>
            </p:cNvSpPr>
            <p:nvPr/>
          </p:nvSpPr>
          <p:spPr bwMode="auto">
            <a:xfrm>
              <a:off x="282638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3</a:t>
              </a:r>
              <a:endParaRPr lang="en-US" altLang="zh-CN" sz="2600" baseline="-25000"/>
            </a:p>
          </p:txBody>
        </p:sp>
        <p:sp>
          <p:nvSpPr>
            <p:cNvPr id="41" name="Rectangle 7"/>
            <p:cNvSpPr>
              <a:spLocks noChangeArrowheads="1"/>
            </p:cNvSpPr>
            <p:nvPr/>
          </p:nvSpPr>
          <p:spPr bwMode="auto">
            <a:xfrm>
              <a:off x="339026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4</a:t>
              </a:r>
              <a:endParaRPr lang="en-US" altLang="zh-CN" sz="2600" baseline="-25000"/>
            </a:p>
          </p:txBody>
        </p:sp>
        <p:sp>
          <p:nvSpPr>
            <p:cNvPr id="42" name="Rectangle 8"/>
            <p:cNvSpPr>
              <a:spLocks noChangeArrowheads="1"/>
            </p:cNvSpPr>
            <p:nvPr/>
          </p:nvSpPr>
          <p:spPr bwMode="auto">
            <a:xfrm>
              <a:off x="395414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1</a:t>
              </a:r>
              <a:endParaRPr lang="en-US" altLang="zh-CN" sz="2600" baseline="-25000"/>
            </a:p>
          </p:txBody>
        </p:sp>
        <p:sp>
          <p:nvSpPr>
            <p:cNvPr id="43" name="Rectangle 9"/>
            <p:cNvSpPr>
              <a:spLocks noChangeArrowheads="1"/>
            </p:cNvSpPr>
            <p:nvPr/>
          </p:nvSpPr>
          <p:spPr bwMode="auto">
            <a:xfrm>
              <a:off x="451802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3</a:t>
              </a:r>
              <a:endParaRPr lang="en-US" altLang="zh-CN" sz="2600" baseline="-25000"/>
            </a:p>
          </p:txBody>
        </p:sp>
        <p:sp>
          <p:nvSpPr>
            <p:cNvPr id="44" name="Rectangle 10"/>
            <p:cNvSpPr>
              <a:spLocks noChangeArrowheads="1"/>
            </p:cNvSpPr>
            <p:nvPr/>
          </p:nvSpPr>
          <p:spPr bwMode="auto">
            <a:xfrm>
              <a:off x="508190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4</a:t>
              </a:r>
              <a:endParaRPr lang="en-US" altLang="zh-CN" sz="2600" baseline="-25000"/>
            </a:p>
          </p:txBody>
        </p:sp>
        <p:sp>
          <p:nvSpPr>
            <p:cNvPr id="45" name="Rectangle 11"/>
            <p:cNvSpPr>
              <a:spLocks noChangeArrowheads="1"/>
            </p:cNvSpPr>
            <p:nvPr/>
          </p:nvSpPr>
          <p:spPr bwMode="auto">
            <a:xfrm>
              <a:off x="564578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3</a:t>
              </a:r>
              <a:endParaRPr lang="en-US" altLang="zh-CN" sz="2600" baseline="-25000" dirty="0"/>
            </a:p>
          </p:txBody>
        </p:sp>
        <p:sp>
          <p:nvSpPr>
            <p:cNvPr id="46" name="Text Box 15"/>
            <p:cNvSpPr txBox="1">
              <a:spLocks noChangeArrowheads="1"/>
            </p:cNvSpPr>
            <p:nvPr/>
          </p:nvSpPr>
          <p:spPr bwMode="auto">
            <a:xfrm>
              <a:off x="1578266" y="4699768"/>
              <a:ext cx="247067"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0</a:t>
              </a:r>
              <a:endParaRPr lang="en-US" altLang="zh-CN" sz="2600" dirty="0"/>
            </a:p>
          </p:txBody>
        </p:sp>
        <p:sp>
          <p:nvSpPr>
            <p:cNvPr id="47" name="Text Box 16"/>
            <p:cNvSpPr txBox="1">
              <a:spLocks noChangeArrowheads="1"/>
            </p:cNvSpPr>
            <p:nvPr/>
          </p:nvSpPr>
          <p:spPr bwMode="auto">
            <a:xfrm>
              <a:off x="204968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20</a:t>
              </a:r>
              <a:endParaRPr lang="en-US" altLang="zh-CN" sz="2600" dirty="0"/>
            </a:p>
          </p:txBody>
        </p:sp>
        <p:sp>
          <p:nvSpPr>
            <p:cNvPr id="48" name="Text Box 17"/>
            <p:cNvSpPr txBox="1">
              <a:spLocks noChangeArrowheads="1"/>
            </p:cNvSpPr>
            <p:nvPr/>
          </p:nvSpPr>
          <p:spPr bwMode="auto">
            <a:xfrm>
              <a:off x="258308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37</a:t>
              </a:r>
              <a:endParaRPr lang="en-US" altLang="zh-CN" sz="2600" dirty="0"/>
            </a:p>
          </p:txBody>
        </p:sp>
        <p:sp>
          <p:nvSpPr>
            <p:cNvPr id="49" name="Text Box 18"/>
            <p:cNvSpPr txBox="1">
              <a:spLocks noChangeArrowheads="1"/>
            </p:cNvSpPr>
            <p:nvPr/>
          </p:nvSpPr>
          <p:spPr bwMode="auto">
            <a:xfrm>
              <a:off x="318633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57</a:t>
              </a:r>
              <a:endParaRPr lang="en-US" altLang="zh-CN" sz="2600"/>
            </a:p>
          </p:txBody>
        </p:sp>
        <p:sp>
          <p:nvSpPr>
            <p:cNvPr id="50" name="Text Box 19"/>
            <p:cNvSpPr txBox="1">
              <a:spLocks noChangeArrowheads="1"/>
            </p:cNvSpPr>
            <p:nvPr/>
          </p:nvSpPr>
          <p:spPr bwMode="auto">
            <a:xfrm>
              <a:off x="3802285"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77</a:t>
              </a:r>
              <a:endParaRPr lang="en-US" altLang="zh-CN" sz="2600" dirty="0"/>
            </a:p>
          </p:txBody>
        </p:sp>
        <p:sp>
          <p:nvSpPr>
            <p:cNvPr id="51" name="Text Box 20"/>
            <p:cNvSpPr txBox="1">
              <a:spLocks noChangeArrowheads="1"/>
            </p:cNvSpPr>
            <p:nvPr/>
          </p:nvSpPr>
          <p:spPr bwMode="auto">
            <a:xfrm>
              <a:off x="4334098" y="4698180"/>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80</a:t>
              </a:r>
              <a:endParaRPr lang="en-US" altLang="zh-CN" sz="2600" dirty="0"/>
            </a:p>
          </p:txBody>
        </p:sp>
        <p:sp>
          <p:nvSpPr>
            <p:cNvPr id="52" name="Text Box 21"/>
            <p:cNvSpPr txBox="1">
              <a:spLocks noChangeArrowheads="1"/>
            </p:cNvSpPr>
            <p:nvPr/>
          </p:nvSpPr>
          <p:spPr bwMode="auto">
            <a:xfrm>
              <a:off x="4807900" y="4698180"/>
              <a:ext cx="494989"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100</a:t>
              </a:r>
              <a:endParaRPr lang="en-US" altLang="zh-CN" sz="2600" dirty="0"/>
            </a:p>
          </p:txBody>
        </p:sp>
        <p:sp>
          <p:nvSpPr>
            <p:cNvPr id="53" name="Text Box 22"/>
            <p:cNvSpPr txBox="1">
              <a:spLocks noChangeArrowheads="1"/>
            </p:cNvSpPr>
            <p:nvPr/>
          </p:nvSpPr>
          <p:spPr bwMode="auto">
            <a:xfrm>
              <a:off x="5414325" y="4698180"/>
              <a:ext cx="494989"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104</a:t>
              </a:r>
              <a:endParaRPr lang="en-US" altLang="zh-CN" sz="2600" dirty="0"/>
            </a:p>
          </p:txBody>
        </p:sp>
        <p:sp>
          <p:nvSpPr>
            <p:cNvPr id="54" name="Text Box 24"/>
            <p:cNvSpPr txBox="1">
              <a:spLocks noChangeArrowheads="1"/>
            </p:cNvSpPr>
            <p:nvPr/>
          </p:nvSpPr>
          <p:spPr bwMode="auto">
            <a:xfrm>
              <a:off x="5958355" y="4698180"/>
              <a:ext cx="478490"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110</a:t>
              </a:r>
              <a:endParaRPr lang="en-US" altLang="zh-CN" sz="2600" dirty="0"/>
            </a:p>
          </p:txBody>
        </p:sp>
      </p:grpSp>
      <p:sp>
        <p:nvSpPr>
          <p:cNvPr id="55" name="内容占位符 2"/>
          <p:cNvSpPr txBox="1"/>
          <p:nvPr/>
        </p:nvSpPr>
        <p:spPr>
          <a:xfrm>
            <a:off x="571728" y="4057606"/>
            <a:ext cx="10951487" cy="1965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zh-CN" altLang="en-US" sz="2600" dirty="0"/>
              <a:t>平均等待时间：</a:t>
            </a:r>
            <a:r>
              <a:rPr lang="en-US" altLang="zh-CN" sz="2600" dirty="0"/>
              <a:t>(57+20+64+80)/4 = 55.25</a:t>
            </a:r>
            <a:endParaRPr lang="en-US" altLang="zh-CN" sz="2600" dirty="0"/>
          </a:p>
          <a:p>
            <a:pPr indent="-467995">
              <a:lnSpc>
                <a:spcPct val="132000"/>
              </a:lnSpc>
              <a:buClr>
                <a:srgbClr val="FF0000"/>
              </a:buClr>
              <a:buFont typeface="Wingdings" panose="05000000000000000000" pitchFamily="2" charset="2"/>
              <a:buChar char="Ø"/>
            </a:pPr>
            <a:r>
              <a:rPr lang="zh-CN" altLang="en-US" sz="2600" dirty="0"/>
              <a:t>平均响应时间</a:t>
            </a:r>
            <a:r>
              <a:rPr lang="en-US" altLang="zh-CN" sz="2600" dirty="0"/>
              <a:t>: (0+20+37+57)/4= 28.5</a:t>
            </a:r>
            <a:endParaRPr lang="en-US" altLang="zh-CN" sz="2600" dirty="0"/>
          </a:p>
          <a:p>
            <a:pPr indent="-467995">
              <a:lnSpc>
                <a:spcPct val="132000"/>
              </a:lnSpc>
              <a:buClr>
                <a:srgbClr val="FF0000"/>
              </a:buClr>
              <a:buFont typeface="Wingdings" panose="05000000000000000000" pitchFamily="2" charset="2"/>
              <a:buChar char="Ø"/>
            </a:pPr>
            <a:r>
              <a:rPr lang="zh-CN" altLang="en-US" sz="2600" dirty="0"/>
              <a:t>通常，</a:t>
            </a:r>
            <a:r>
              <a:rPr lang="en-US" altLang="zh-CN" sz="2600" dirty="0"/>
              <a:t>RR</a:t>
            </a:r>
            <a:r>
              <a:rPr lang="zh-CN" altLang="en-US" sz="2600" dirty="0"/>
              <a:t>的平均周转时间比</a:t>
            </a:r>
            <a:r>
              <a:rPr lang="en-US" altLang="zh-CN" sz="2600" dirty="0"/>
              <a:t>SJF</a:t>
            </a:r>
            <a:r>
              <a:rPr lang="zh-CN" altLang="en-US" sz="2600" dirty="0"/>
              <a:t>长，但响应时间要短一些。</a:t>
            </a:r>
            <a:endParaRPr lang="en-US" altLang="zh-CN" sz="2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时间片大小的确定</a:t>
            </a:r>
            <a:endParaRPr lang="zh-CN" altLang="en-US" sz="2800" b="1" dirty="0">
              <a:solidFill>
                <a:schemeClr val="bg1"/>
              </a:solidFill>
            </a:endParaRPr>
          </a:p>
        </p:txBody>
      </p:sp>
      <p:sp>
        <p:nvSpPr>
          <p:cNvPr id="10" name="íšḻîḋè"/>
          <p:cNvSpPr/>
          <p:nvPr/>
        </p:nvSpPr>
        <p:spPr>
          <a:xfrm>
            <a:off x="1134713" y="3908548"/>
            <a:ext cx="3650781" cy="127971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系统对响应时间的要求</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就绪队列中进程的数目</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系统的处理能力</a:t>
            </a:r>
            <a:endParaRPr lang="zh-CN" altLang="en-US" sz="2200" dirty="0"/>
          </a:p>
        </p:txBody>
      </p:sp>
      <p:sp>
        <p:nvSpPr>
          <p:cNvPr id="11" name="i$lîďê"/>
          <p:cNvSpPr/>
          <p:nvPr/>
        </p:nvSpPr>
        <p:spPr>
          <a:xfrm>
            <a:off x="1148504" y="3326123"/>
            <a:ext cx="3352906" cy="578857"/>
          </a:xfrm>
          <a:prstGeom prst="rect">
            <a:avLst/>
          </a:prstGeom>
          <a:noFill/>
          <a:ln>
            <a:noFill/>
          </a:ln>
        </p:spPr>
        <p:txBody>
          <a:bodyPr wrap="square" lIns="91440" tIns="45720" rIns="91440" bIns="45720" anchor="ctr" anchorCtr="0">
            <a:noAutofit/>
          </a:bodyPr>
          <a:lstStyle/>
          <a:p>
            <a:r>
              <a:rPr lang="zh-CN" altLang="en-US" sz="2400" dirty="0"/>
              <a:t>时间片设置应考虑</a:t>
            </a:r>
            <a:endParaRPr lang="zh-CN" altLang="en-US" sz="2400" dirty="0"/>
          </a:p>
        </p:txBody>
      </p:sp>
      <p:sp>
        <p:nvSpPr>
          <p:cNvPr id="12" name="ïṧḷïḋè"/>
          <p:cNvSpPr/>
          <p:nvPr/>
        </p:nvSpPr>
        <p:spPr>
          <a:xfrm>
            <a:off x="1215390" y="5372100"/>
            <a:ext cx="6454140" cy="628015"/>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一般准则：</a:t>
            </a:r>
            <a:r>
              <a:rPr lang="zh-CN" altLang="en-US" sz="2400" dirty="0"/>
              <a:t>时间片</a:t>
            </a:r>
            <a:r>
              <a:rPr lang="en-US" altLang="zh-CN" sz="2400" dirty="0"/>
              <a:t>/10&gt;</a:t>
            </a:r>
            <a:r>
              <a:rPr lang="zh-CN" altLang="en-US" sz="2400" dirty="0"/>
              <a:t>进程上下文切换时间</a:t>
            </a:r>
            <a:endParaRPr lang="zh-CN" altLang="en-US" sz="2400" dirty="0"/>
          </a:p>
        </p:txBody>
      </p:sp>
      <p:sp>
        <p:nvSpPr>
          <p:cNvPr id="14" name="íšḻíḑê"/>
          <p:cNvSpPr/>
          <p:nvPr/>
        </p:nvSpPr>
        <p:spPr>
          <a:xfrm>
            <a:off x="1190352" y="1348018"/>
            <a:ext cx="7297132" cy="405747"/>
          </a:xfrm>
          <a:prstGeom prst="rect">
            <a:avLst/>
          </a:prstGeom>
          <a:noFill/>
          <a:ln>
            <a:noFill/>
          </a:ln>
        </p:spPr>
        <p:txBody>
          <a:bodyPr wrap="square" lIns="91440" tIns="45720" rIns="91440" bIns="45720" anchor="ctr" anchorCtr="0">
            <a:noAutofit/>
          </a:bodyPr>
          <a:lstStyle/>
          <a:p>
            <a:r>
              <a:rPr lang="zh-CN" altLang="en-US" sz="2400" dirty="0"/>
              <a:t>特性</a:t>
            </a:r>
            <a:endParaRPr lang="zh-CN" altLang="en-US" sz="2400" dirty="0"/>
          </a:p>
        </p:txBody>
      </p:sp>
      <p:sp>
        <p:nvSpPr>
          <p:cNvPr id="15" name="îSļiḓè"/>
          <p:cNvSpPr/>
          <p:nvPr/>
        </p:nvSpPr>
        <p:spPr>
          <a:xfrm>
            <a:off x="506849" y="123695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íṥḻîḓe"/>
          <p:cNvSpPr/>
          <p:nvPr/>
        </p:nvSpPr>
        <p:spPr>
          <a:xfrm>
            <a:off x="506848" y="537212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7" name="îşļiḓè"/>
          <p:cNvSpPr/>
          <p:nvPr/>
        </p:nvSpPr>
        <p:spPr>
          <a:xfrm>
            <a:off x="506848" y="330161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îṡḷíďe"/>
          <p:cNvSpPr/>
          <p:nvPr/>
        </p:nvSpPr>
        <p:spPr>
          <a:xfrm>
            <a:off x="697104" y="143309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íSlíḋe"/>
          <p:cNvSpPr/>
          <p:nvPr/>
        </p:nvSpPr>
        <p:spPr>
          <a:xfrm>
            <a:off x="697102" y="352363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1" name="ïśḷïḓe"/>
          <p:cNvSpPr/>
          <p:nvPr/>
        </p:nvSpPr>
        <p:spPr>
          <a:xfrm>
            <a:off x="726041" y="556158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3" name="íšḻîḋè"/>
          <p:cNvSpPr/>
          <p:nvPr/>
        </p:nvSpPr>
        <p:spPr>
          <a:xfrm>
            <a:off x="1190351" y="1803853"/>
            <a:ext cx="3311059" cy="104206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q </a:t>
            </a:r>
            <a:r>
              <a:rPr lang="zh-CN" altLang="en-US" sz="2200" dirty="0"/>
              <a:t>大  </a:t>
            </a:r>
            <a:r>
              <a:rPr lang="en-US" altLang="zh-CN" sz="2200" dirty="0"/>
              <a:t>FCFS</a:t>
            </a:r>
            <a:endParaRPr lang="en-US" altLang="zh-CN" sz="2200" dirty="0"/>
          </a:p>
          <a:p>
            <a:pPr marL="342900" indent="-342900">
              <a:lnSpc>
                <a:spcPct val="120000"/>
              </a:lnSpc>
              <a:buClr>
                <a:srgbClr val="FF0000"/>
              </a:buClr>
              <a:buFont typeface="Wingdings" panose="05000000000000000000" pitchFamily="2" charset="2"/>
              <a:buChar char="Ø"/>
            </a:pPr>
            <a:r>
              <a:rPr lang="en-US" altLang="zh-CN" sz="2200" dirty="0"/>
              <a:t>q </a:t>
            </a:r>
            <a:r>
              <a:rPr lang="zh-CN" altLang="en-US" sz="2200" dirty="0"/>
              <a:t>小 增加上下文切换的时间</a:t>
            </a:r>
            <a:endParaRPr lang="zh-CN" altLang="en-US" sz="2200" dirty="0"/>
          </a:p>
        </p:txBody>
      </p:sp>
      <p:pic>
        <p:nvPicPr>
          <p:cNvPr id="22" name="Picture 5"/>
          <p:cNvPicPr>
            <a:picLocks noChangeAspect="1" noChangeArrowheads="1"/>
          </p:cNvPicPr>
          <p:nvPr/>
        </p:nvPicPr>
        <p:blipFill>
          <a:blip r:embed="rId1">
            <a:extLst>
              <a:ext uri="{28A0092B-C50C-407E-A947-70E740481C1C}">
                <a14:useLocalDpi xmlns:a14="http://schemas.microsoft.com/office/drawing/2010/main" val="0"/>
              </a:ext>
            </a:extLst>
          </a:blip>
          <a:srcRect l="36926" t="23140" r="28781" b="55464"/>
          <a:stretch>
            <a:fillRect/>
          </a:stretch>
        </p:blipFill>
        <p:spPr bwMode="auto">
          <a:xfrm>
            <a:off x="4515485" y="1114425"/>
            <a:ext cx="7638415" cy="4257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1844675"/>
            <a:ext cx="9749790"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下列有关基于时间片的进程调度的叙述中，错误的是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2017</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时间片越短，进程切换的次数越多，系统开销也越大</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当前进程的时间片用完后，该进程状态由执行态变为阻塞态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时钟中断发生后，系统会修改当前进程在时间片内的剩余时间</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影响时间片大小的主要因素包括响应时间、系统开销和进程数量等</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RR</a:t>
            </a:r>
            <a:r>
              <a:rPr lang="zh-CN" altLang="en-US" sz="2800" b="1" dirty="0">
                <a:solidFill>
                  <a:schemeClr val="bg1"/>
                </a:solidFill>
              </a:rPr>
              <a:t>例子</a:t>
            </a:r>
            <a:endParaRPr lang="zh-CN" altLang="en-US" sz="2800" b="1" dirty="0">
              <a:solidFill>
                <a:schemeClr val="bg1"/>
              </a:solidFill>
            </a:endParaRPr>
          </a:p>
        </p:txBody>
      </p:sp>
      <p:graphicFrame>
        <p:nvGraphicFramePr>
          <p:cNvPr id="23" name="Group 95"/>
          <p:cNvGraphicFramePr>
            <a:graphicFrameLocks noGrp="1"/>
          </p:cNvGraphicFramePr>
          <p:nvPr>
            <p:custDataLst>
              <p:tags r:id="rId1"/>
            </p:custDataLst>
          </p:nvPr>
        </p:nvGraphicFramePr>
        <p:xfrm>
          <a:off x="506095" y="1331595"/>
          <a:ext cx="10506710" cy="4838065"/>
        </p:xfrm>
        <a:graphic>
          <a:graphicData uri="http://schemas.openxmlformats.org/drawingml/2006/table">
            <a:tbl>
              <a:tblPr>
                <a:tableStyleId>{5DA37D80-6434-44D0-A028-1B22A696006F}</a:tableStyleId>
              </a:tblPr>
              <a:tblGrid>
                <a:gridCol w="2703830"/>
                <a:gridCol w="2454275"/>
                <a:gridCol w="859155"/>
                <a:gridCol w="955675"/>
                <a:gridCol w="859155"/>
                <a:gridCol w="763905"/>
                <a:gridCol w="947420"/>
                <a:gridCol w="963295"/>
              </a:tblGrid>
              <a:tr h="648970">
                <a:tc rowSpan="3">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           </a:t>
                      </a:r>
                      <a:endParaRPr kumimoji="1" lang="en-US" altLang="zh-CN" sz="2400" b="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             </a:t>
                      </a:r>
                      <a:r>
                        <a:rPr kumimoji="1" lang="zh-CN" altLang="en-US" sz="2400" b="0" u="none" strike="noStrike" cap="none" normalizeH="0" baseline="0" dirty="0">
                          <a:ln>
                            <a:noFill/>
                          </a:ln>
                          <a:solidFill>
                            <a:schemeClr val="tx1"/>
                          </a:solidFill>
                          <a:effectLst/>
                          <a:latin typeface="+mn-ea"/>
                          <a:ea typeface="+mn-ea"/>
                        </a:rPr>
                        <a:t>作业情况</a:t>
                      </a:r>
                      <a:endParaRPr kumimoji="1" lang="zh-CN" altLang="en-US" sz="2400" b="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      </a:t>
                      </a:r>
                      <a:endParaRPr kumimoji="1" lang="en-US" altLang="zh-CN" sz="2400" b="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    时间片</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进程名</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A</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B</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C</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D</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E</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平均</a:t>
                      </a:r>
                      <a:endParaRPr kumimoji="1" lang="zh-CN" altLang="en-US"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669290">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到达时间</a:t>
                      </a:r>
                      <a:endParaRPr kumimoji="1" lang="zh-CN" altLang="en-US"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0</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2</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504825">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服务时间</a:t>
                      </a:r>
                      <a:endParaRPr kumimoji="1" lang="zh-CN" altLang="en-US"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2</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495300">
                <a:tc rowSpan="3">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RR</a:t>
                      </a:r>
                      <a:endParaRPr kumimoji="1" lang="en-US" altLang="zh-CN" sz="2400" b="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q=1</a:t>
                      </a:r>
                      <a:endParaRPr kumimoji="1" lang="en-US" altLang="zh-CN"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完成时间</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12</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16</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9</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17</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494665">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周转时间</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11</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6</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11.8</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505460">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带权周转时间</a:t>
                      </a:r>
                      <a:endParaRPr kumimoji="1" lang="zh-CN" altLang="en-US"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3.75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3.67</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3.25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3.43</a:t>
                      </a:r>
                      <a:endParaRPr kumimoji="1" lang="en-US" altLang="zh-CN"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r>
              <a:tr h="505460">
                <a:tc rowSpan="3">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RR</a:t>
                      </a:r>
                      <a:endParaRPr kumimoji="1" lang="en-US" altLang="zh-CN" sz="2400" b="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q=4</a:t>
                      </a:r>
                      <a:endParaRPr kumimoji="1" lang="en-US" altLang="zh-CN"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完成时间</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4</a:t>
                      </a:r>
                      <a:endParaRPr kumimoji="1" lang="en-US" altLang="zh-CN"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11</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17</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endParaRPr kumimoji="1" lang="zh-CN"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508000">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周转时间</a:t>
                      </a:r>
                      <a:endParaRPr kumimoji="1" lang="zh-CN" altLang="en-US"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6</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9</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10</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13</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8.4</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r>
              <a:tr h="506095">
                <a:tc vMerge="1">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zh-CN" altLang="en-US" sz="2400" b="0" u="none" strike="noStrike" cap="none" normalizeH="0" baseline="0">
                          <a:ln>
                            <a:noFill/>
                          </a:ln>
                          <a:solidFill>
                            <a:schemeClr val="tx1"/>
                          </a:solidFill>
                          <a:effectLst/>
                          <a:latin typeface="+mn-ea"/>
                          <a:ea typeface="+mn-ea"/>
                        </a:rPr>
                        <a:t>带权周转时间</a:t>
                      </a:r>
                      <a:endParaRPr kumimoji="1" lang="zh-CN" altLang="en-US"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2</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2.25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3.25</a:t>
                      </a:r>
                      <a:endParaRPr kumimoji="1" lang="en-US" altLang="zh-CN" sz="2400" b="0" i="0" u="none" strike="noStrike" cap="none" normalizeH="0" baseline="0">
                        <a:ln>
                          <a:noFill/>
                        </a:ln>
                        <a:solidFill>
                          <a:schemeClr val="tx1"/>
                        </a:solidFill>
                        <a:effectLst/>
                        <a:latin typeface="+mn-ea"/>
                        <a:ea typeface="+mn-ea"/>
                      </a:endParaRPr>
                    </a:p>
                  </a:txBody>
                  <a:tcPr marL="92066" marR="92066" marT="34523" marB="3452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90000"/>
                        </a:lnSpc>
                        <a:spcBef>
                          <a:spcPct val="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2.7</a:t>
                      </a:r>
                      <a:endParaRPr kumimoji="1" lang="en-US" altLang="zh-CN" sz="2400" b="0" i="0" u="none" strike="noStrike" cap="none" normalizeH="0" baseline="0" dirty="0">
                        <a:ln>
                          <a:noFill/>
                        </a:ln>
                        <a:solidFill>
                          <a:schemeClr val="tx1"/>
                        </a:solidFill>
                        <a:effectLst/>
                        <a:latin typeface="+mn-ea"/>
                        <a:ea typeface="+mn-ea"/>
                      </a:endParaRPr>
                    </a:p>
                  </a:txBody>
                  <a:tcPr marL="92066" marR="92066" marT="34523" marB="34523" anchor="ctr" horzOverflow="overflow"/>
                </a:tc>
              </a:tr>
            </a:tbl>
          </a:graphicData>
        </a:graphic>
      </p:graphicFrame>
      <p:cxnSp>
        <p:nvCxnSpPr>
          <p:cNvPr id="3" name="直接连接符 2"/>
          <p:cNvCxnSpPr/>
          <p:nvPr/>
        </p:nvCxnSpPr>
        <p:spPr>
          <a:xfrm>
            <a:off x="669925" y="1331650"/>
            <a:ext cx="2801244" cy="1775534"/>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42720" y="1691005"/>
            <a:ext cx="8782685" cy="3784600"/>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下列内核的数据结构或程序中，分时系统实现时间片轮转调度需要使用的是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2021</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进程控制块</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时钟中断处理程序</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．进程就绪队列</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Ⅳ.</a:t>
            </a:r>
            <a:r>
              <a:rPr lang="zh-CN" altLang="en-US" sz="2400">
                <a:latin typeface="宋体" panose="02010600030101010101" pitchFamily="2" charset="-122"/>
                <a:ea typeface="宋体" panose="02010600030101010101" pitchFamily="2" charset="-122"/>
              </a:rPr>
              <a:t>进程阻塞队列</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IV</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9360" y="2459990"/>
            <a:ext cx="9486900"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下列调度算法中，不可能导致</a:t>
            </a:r>
            <a:r>
              <a:rPr lang="zh-CN" altLang="en-US" sz="2400">
                <a:solidFill>
                  <a:srgbClr val="FF0000"/>
                </a:solidFill>
                <a:latin typeface="宋体" panose="02010600030101010101" pitchFamily="2" charset="-122"/>
                <a:ea typeface="宋体" panose="02010600030101010101" pitchFamily="2" charset="-122"/>
              </a:rPr>
              <a:t>饥饿</a:t>
            </a:r>
            <a:r>
              <a:rPr lang="zh-CN" altLang="en-US" sz="2400">
                <a:latin typeface="宋体" panose="02010600030101010101" pitchFamily="2" charset="-122"/>
                <a:ea typeface="宋体" panose="02010600030101010101" pitchFamily="2" charset="-122"/>
              </a:rPr>
              <a:t>现象的是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 </a:t>
            </a:r>
            <a:r>
              <a:rPr lang="en-US" altLang="zh-CN" sz="2400" b="1">
                <a:latin typeface="宋体" panose="02010600030101010101" pitchFamily="2" charset="-122"/>
                <a:ea typeface="宋体" panose="02010600030101010101" pitchFamily="2" charset="-122"/>
              </a:rPr>
              <a:t>2014</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时间片轮转</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静态优先数调度</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非抢占式短作业优先</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抢占式短作业优先</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90980" y="2336800"/>
            <a:ext cx="9176385"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下列选项中，满足短任务优先且不会发生饥饿现象的调度算法是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2011</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先来先服务</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高响应比优先</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时间片轮转</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非抢占式短任务优先</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9360" y="2336800"/>
            <a:ext cx="9453880" cy="230695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一个进程的读磁盘操作完成后，操作系统针对该进程必做的是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2014</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修改进程状态为就绪态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降低进程优先级</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给进程分配用户内存空间</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增加进程时间片大小</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多级队列调度算法</a:t>
            </a:r>
            <a:endParaRPr lang="zh-CN" altLang="en-US" sz="2800" b="1" dirty="0">
              <a:solidFill>
                <a:schemeClr val="bg1"/>
              </a:solidFill>
            </a:endParaRPr>
          </a:p>
        </p:txBody>
      </p:sp>
      <p:sp>
        <p:nvSpPr>
          <p:cNvPr id="10" name="íšḻîḋè"/>
          <p:cNvSpPr/>
          <p:nvPr/>
        </p:nvSpPr>
        <p:spPr>
          <a:xfrm>
            <a:off x="1195317" y="2851192"/>
            <a:ext cx="3650781" cy="5316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前台 </a:t>
            </a:r>
            <a:r>
              <a:rPr lang="en-US" altLang="zh-CN" sz="2200" dirty="0"/>
              <a:t>– RR</a:t>
            </a:r>
            <a:endParaRPr lang="en-US" altLang="zh-CN" sz="2200" dirty="0"/>
          </a:p>
        </p:txBody>
      </p:sp>
      <p:sp>
        <p:nvSpPr>
          <p:cNvPr id="11" name="i$lîďê"/>
          <p:cNvSpPr/>
          <p:nvPr/>
        </p:nvSpPr>
        <p:spPr>
          <a:xfrm>
            <a:off x="1197532" y="2221839"/>
            <a:ext cx="4264855" cy="578857"/>
          </a:xfrm>
          <a:prstGeom prst="rect">
            <a:avLst/>
          </a:prstGeom>
          <a:noFill/>
          <a:ln>
            <a:noFill/>
          </a:ln>
        </p:spPr>
        <p:txBody>
          <a:bodyPr wrap="square" lIns="91440" tIns="45720" rIns="91440" bIns="45720" anchor="ctr" anchorCtr="0">
            <a:noAutofit/>
          </a:bodyPr>
          <a:lstStyle/>
          <a:p>
            <a:r>
              <a:rPr lang="zh-CN" altLang="en-US" sz="2400" dirty="0"/>
              <a:t>每个队列有自己的调度算法</a:t>
            </a:r>
            <a:endParaRPr lang="zh-CN" altLang="en-US" sz="2400" dirty="0"/>
          </a:p>
        </p:txBody>
      </p:sp>
      <p:sp>
        <p:nvSpPr>
          <p:cNvPr id="12" name="ïṧḷïḋè"/>
          <p:cNvSpPr/>
          <p:nvPr/>
        </p:nvSpPr>
        <p:spPr>
          <a:xfrm>
            <a:off x="1197532" y="3439402"/>
            <a:ext cx="3920246" cy="627867"/>
          </a:xfrm>
          <a:prstGeom prst="rect">
            <a:avLst/>
          </a:prstGeom>
          <a:noFill/>
          <a:ln>
            <a:noFill/>
          </a:ln>
        </p:spPr>
        <p:txBody>
          <a:bodyPr wrap="square" lIns="91440" tIns="45720" rIns="91440" bIns="45720" anchor="ctr" anchorCtr="0">
            <a:noAutofit/>
          </a:bodyPr>
          <a:lstStyle/>
          <a:p>
            <a:r>
              <a:rPr lang="zh-CN" altLang="en-US" sz="2400" dirty="0"/>
              <a:t>调度须在队列间进行</a:t>
            </a:r>
            <a:endParaRPr lang="zh-CN" altLang="en-US" sz="2400" dirty="0"/>
          </a:p>
        </p:txBody>
      </p:sp>
      <p:sp>
        <p:nvSpPr>
          <p:cNvPr id="14" name="íšḻíḑê"/>
          <p:cNvSpPr/>
          <p:nvPr/>
        </p:nvSpPr>
        <p:spPr>
          <a:xfrm>
            <a:off x="1197532" y="1194357"/>
            <a:ext cx="7297132" cy="405747"/>
          </a:xfrm>
          <a:prstGeom prst="rect">
            <a:avLst/>
          </a:prstGeom>
          <a:noFill/>
          <a:ln>
            <a:noFill/>
          </a:ln>
        </p:spPr>
        <p:txBody>
          <a:bodyPr wrap="square" lIns="91440" tIns="45720" rIns="91440" bIns="45720" anchor="ctr" anchorCtr="0">
            <a:noAutofit/>
          </a:bodyPr>
          <a:lstStyle/>
          <a:p>
            <a:r>
              <a:rPr lang="zh-CN" altLang="en-US" sz="2400" dirty="0"/>
              <a:t>就绪队列从一个分为多个，如</a:t>
            </a:r>
            <a:r>
              <a:rPr lang="en-US" altLang="zh-CN" sz="2400" dirty="0"/>
              <a:t>:</a:t>
            </a:r>
            <a:endParaRPr lang="en-US" altLang="zh-CN" sz="2400" dirty="0"/>
          </a:p>
        </p:txBody>
      </p:sp>
      <p:sp>
        <p:nvSpPr>
          <p:cNvPr id="15" name="îSļiḓè"/>
          <p:cNvSpPr/>
          <p:nvPr/>
        </p:nvSpPr>
        <p:spPr>
          <a:xfrm>
            <a:off x="425251" y="10771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íṥḻîḓe"/>
          <p:cNvSpPr/>
          <p:nvPr/>
        </p:nvSpPr>
        <p:spPr>
          <a:xfrm>
            <a:off x="425250" y="343940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7" name="îşļiḓè"/>
          <p:cNvSpPr/>
          <p:nvPr/>
        </p:nvSpPr>
        <p:spPr>
          <a:xfrm>
            <a:off x="425250" y="220780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îṡḷíďe"/>
          <p:cNvSpPr/>
          <p:nvPr/>
        </p:nvSpPr>
        <p:spPr>
          <a:xfrm>
            <a:off x="615506" y="127329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íSlíḋe"/>
          <p:cNvSpPr/>
          <p:nvPr/>
        </p:nvSpPr>
        <p:spPr>
          <a:xfrm>
            <a:off x="615504" y="242982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1" name="ïśḷïḓe"/>
          <p:cNvSpPr/>
          <p:nvPr/>
        </p:nvSpPr>
        <p:spPr>
          <a:xfrm>
            <a:off x="644443" y="362886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3" name="íšḻîḋè"/>
          <p:cNvSpPr/>
          <p:nvPr/>
        </p:nvSpPr>
        <p:spPr>
          <a:xfrm>
            <a:off x="1197532" y="1650932"/>
            <a:ext cx="3311059" cy="503578"/>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前台</a:t>
            </a:r>
            <a:r>
              <a:rPr lang="en-US" altLang="zh-CN" sz="2200" dirty="0"/>
              <a:t>[</a:t>
            </a:r>
            <a:r>
              <a:rPr lang="zh-CN" altLang="en-US" sz="2200" dirty="0"/>
              <a:t>交互式</a:t>
            </a:r>
            <a:r>
              <a:rPr lang="en-US" altLang="zh-CN" sz="2200" dirty="0"/>
              <a:t>]</a:t>
            </a:r>
            <a:endParaRPr lang="en-US" altLang="zh-CN" sz="2200" dirty="0"/>
          </a:p>
        </p:txBody>
      </p:sp>
      <p:pic>
        <p:nvPicPr>
          <p:cNvPr id="2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39355" y="2980055"/>
            <a:ext cx="3655695" cy="4234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íšḻîḋè"/>
          <p:cNvSpPr/>
          <p:nvPr/>
        </p:nvSpPr>
        <p:spPr>
          <a:xfrm>
            <a:off x="1197532" y="4067269"/>
            <a:ext cx="6197043" cy="246638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固定优先级调度抢占式调度，即前台运行完后再运行后台，有可能产生饥饿。</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给定时间片调度，即每个队列得到一定的</a:t>
            </a:r>
            <a:r>
              <a:rPr lang="en-US" altLang="zh-CN" sz="2200" dirty="0"/>
              <a:t>CPU</a:t>
            </a:r>
            <a:r>
              <a:rPr lang="zh-CN" altLang="en-US" sz="2200" dirty="0"/>
              <a:t>时间，进程在给定时间内执行；如</a:t>
            </a:r>
            <a:r>
              <a:rPr lang="en-US" altLang="zh-CN" sz="2200" dirty="0"/>
              <a:t>80%</a:t>
            </a:r>
            <a:r>
              <a:rPr lang="zh-CN" altLang="en-US" sz="2200" dirty="0"/>
              <a:t>的时间执行前台的</a:t>
            </a:r>
            <a:r>
              <a:rPr lang="en-US" altLang="zh-CN" sz="2200" dirty="0"/>
              <a:t>RR</a:t>
            </a:r>
            <a:r>
              <a:rPr lang="zh-CN" altLang="en-US" sz="2200" dirty="0"/>
              <a:t>调度，</a:t>
            </a:r>
            <a:r>
              <a:rPr lang="en-US" altLang="zh-CN" sz="2200" dirty="0"/>
              <a:t>20%</a:t>
            </a:r>
            <a:r>
              <a:rPr lang="zh-CN" altLang="en-US" sz="2200" dirty="0"/>
              <a:t>的时间执行后台的</a:t>
            </a:r>
            <a:r>
              <a:rPr lang="en-US" altLang="zh-CN" sz="2200" dirty="0"/>
              <a:t>FCFS</a:t>
            </a:r>
            <a:r>
              <a:rPr lang="zh-CN" altLang="en-US" sz="2200" dirty="0"/>
              <a:t>调度。</a:t>
            </a:r>
            <a:endParaRPr lang="zh-CN" altLang="en-US" sz="2200" dirty="0"/>
          </a:p>
        </p:txBody>
      </p:sp>
      <p:sp>
        <p:nvSpPr>
          <p:cNvPr id="25" name="íšḻîḋè"/>
          <p:cNvSpPr/>
          <p:nvPr/>
        </p:nvSpPr>
        <p:spPr>
          <a:xfrm>
            <a:off x="3769102" y="1650092"/>
            <a:ext cx="3311059" cy="550308"/>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后台</a:t>
            </a:r>
            <a:r>
              <a:rPr lang="en-US" altLang="zh-CN" sz="2200" dirty="0"/>
              <a:t>[</a:t>
            </a:r>
            <a:r>
              <a:rPr lang="zh-CN" altLang="en-US" sz="2200" dirty="0"/>
              <a:t>批处理</a:t>
            </a:r>
            <a:r>
              <a:rPr lang="en-US" altLang="zh-CN" sz="2200" dirty="0"/>
              <a:t>]</a:t>
            </a:r>
            <a:endParaRPr lang="en-US" altLang="zh-CN" sz="2200" dirty="0"/>
          </a:p>
        </p:txBody>
      </p:sp>
      <p:sp>
        <p:nvSpPr>
          <p:cNvPr id="26" name="íšḻîḋè"/>
          <p:cNvSpPr/>
          <p:nvPr/>
        </p:nvSpPr>
        <p:spPr>
          <a:xfrm>
            <a:off x="3794049" y="2868025"/>
            <a:ext cx="3650781" cy="5316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后台 </a:t>
            </a:r>
            <a:r>
              <a:rPr lang="en-US" altLang="zh-CN" sz="2200" dirty="0"/>
              <a:t>– FCFS</a:t>
            </a:r>
            <a:endParaRPr lang="en-US" altLang="zh-CN" sz="2200" dirty="0"/>
          </a:p>
        </p:txBody>
      </p:sp>
      <p:pic>
        <p:nvPicPr>
          <p:cNvPr id="2" name="图片 1" descr="4a11"/>
          <p:cNvPicPr>
            <a:picLocks noChangeAspect="1"/>
          </p:cNvPicPr>
          <p:nvPr/>
        </p:nvPicPr>
        <p:blipFill>
          <a:blip r:embed="rId2"/>
          <a:stretch>
            <a:fillRect/>
          </a:stretch>
        </p:blipFill>
        <p:spPr>
          <a:xfrm>
            <a:off x="7539355" y="351790"/>
            <a:ext cx="3443605" cy="248412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多级反馈队列调度算法</a:t>
            </a:r>
            <a:endParaRPr lang="zh-CN" altLang="en-US" sz="2800" b="1" dirty="0">
              <a:solidFill>
                <a:schemeClr val="bg1"/>
              </a:solidFill>
            </a:endParaRPr>
          </a:p>
        </p:txBody>
      </p:sp>
      <p:sp>
        <p:nvSpPr>
          <p:cNvPr id="10" name="íšḻîḋè"/>
          <p:cNvSpPr/>
          <p:nvPr/>
        </p:nvSpPr>
        <p:spPr>
          <a:xfrm>
            <a:off x="1737995" y="2788920"/>
            <a:ext cx="5365750" cy="127952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短进程优先的调度算法，仅照顾了短进程而忽略了长进程，</a:t>
            </a:r>
            <a:r>
              <a:rPr lang="en-US" altLang="zh-CN" sz="2200" dirty="0"/>
              <a:t>Bug</a:t>
            </a:r>
            <a:r>
              <a:rPr lang="zh-CN" altLang="en-US" sz="2200" dirty="0">
                <a:solidFill>
                  <a:srgbClr val="FF0000"/>
                </a:solidFill>
              </a:rPr>
              <a:t>饥饿问题</a:t>
            </a:r>
            <a:r>
              <a:rPr lang="zh-CN" altLang="en-US" sz="2200" dirty="0"/>
              <a:t>。</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如果并未指明进程的长度，则短进程优先和基于进程长度的抢占式调度算法都将无法使用。</a:t>
            </a:r>
            <a:endParaRPr lang="zh-CN" altLang="en-US" sz="2200" dirty="0"/>
          </a:p>
        </p:txBody>
      </p:sp>
      <p:sp>
        <p:nvSpPr>
          <p:cNvPr id="11" name="i$lîďê"/>
          <p:cNvSpPr/>
          <p:nvPr/>
        </p:nvSpPr>
        <p:spPr>
          <a:xfrm>
            <a:off x="1793602" y="2220716"/>
            <a:ext cx="5146196" cy="578857"/>
          </a:xfrm>
          <a:prstGeom prst="rect">
            <a:avLst/>
          </a:prstGeom>
          <a:noFill/>
          <a:ln>
            <a:noFill/>
          </a:ln>
        </p:spPr>
        <p:txBody>
          <a:bodyPr wrap="square" lIns="91440" tIns="45720" rIns="91440" bIns="45720" anchor="ctr" anchorCtr="0">
            <a:noAutofit/>
          </a:bodyPr>
          <a:lstStyle/>
          <a:p>
            <a:r>
              <a:rPr lang="zh-CN" altLang="en-US" sz="2400" dirty="0"/>
              <a:t>其他调度算法的局限性</a:t>
            </a:r>
            <a:endParaRPr lang="zh-CN" altLang="en-US" sz="2400" dirty="0"/>
          </a:p>
        </p:txBody>
      </p:sp>
      <p:sp>
        <p:nvSpPr>
          <p:cNvPr id="12" name="ïṧḷïḋè"/>
          <p:cNvSpPr/>
          <p:nvPr/>
        </p:nvSpPr>
        <p:spPr>
          <a:xfrm>
            <a:off x="1882140" y="4694555"/>
            <a:ext cx="3178810" cy="628015"/>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优点：</a:t>
            </a:r>
            <a:endParaRPr lang="zh-CN" altLang="en-US" sz="2400" dirty="0">
              <a:solidFill>
                <a:srgbClr val="FF0000"/>
              </a:solidFill>
            </a:endParaRPr>
          </a:p>
        </p:txBody>
      </p:sp>
      <p:sp>
        <p:nvSpPr>
          <p:cNvPr id="14" name="íšḻíḑê"/>
          <p:cNvSpPr/>
          <p:nvPr/>
        </p:nvSpPr>
        <p:spPr>
          <a:xfrm>
            <a:off x="1793602" y="1348018"/>
            <a:ext cx="7297132" cy="405747"/>
          </a:xfrm>
          <a:prstGeom prst="rect">
            <a:avLst/>
          </a:prstGeom>
          <a:noFill/>
          <a:ln>
            <a:noFill/>
          </a:ln>
        </p:spPr>
        <p:txBody>
          <a:bodyPr wrap="square" lIns="91440" tIns="45720" rIns="91440" bIns="45720" anchor="ctr" anchorCtr="0">
            <a:noAutofit/>
          </a:bodyPr>
          <a:lstStyle/>
          <a:p>
            <a:r>
              <a:rPr lang="zh-CN" altLang="en-US" sz="2400" dirty="0"/>
              <a:t>进程能在不同的队列间移动</a:t>
            </a:r>
            <a:r>
              <a:rPr lang="en-US" altLang="zh-CN" sz="2400" dirty="0"/>
              <a:t>,</a:t>
            </a:r>
            <a:endParaRPr lang="en-US" altLang="zh-CN" sz="2400" dirty="0"/>
          </a:p>
        </p:txBody>
      </p:sp>
      <p:sp>
        <p:nvSpPr>
          <p:cNvPr id="15" name="îSļiḓè"/>
          <p:cNvSpPr/>
          <p:nvPr/>
        </p:nvSpPr>
        <p:spPr>
          <a:xfrm>
            <a:off x="1110099" y="123695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íṥḻîḓe"/>
          <p:cNvSpPr/>
          <p:nvPr/>
        </p:nvSpPr>
        <p:spPr>
          <a:xfrm>
            <a:off x="1110099" y="469467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7" name="îşļiḓè"/>
          <p:cNvSpPr/>
          <p:nvPr/>
        </p:nvSpPr>
        <p:spPr>
          <a:xfrm>
            <a:off x="1110099" y="218221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îṡḷíďe"/>
          <p:cNvSpPr/>
          <p:nvPr/>
        </p:nvSpPr>
        <p:spPr>
          <a:xfrm>
            <a:off x="1300354" y="143309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íSlíḋe"/>
          <p:cNvSpPr/>
          <p:nvPr/>
        </p:nvSpPr>
        <p:spPr>
          <a:xfrm>
            <a:off x="1300353" y="240423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1" name="ïśḷïḓe"/>
          <p:cNvSpPr/>
          <p:nvPr/>
        </p:nvSpPr>
        <p:spPr>
          <a:xfrm>
            <a:off x="1350247" y="48441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 name="íšḻîḋè"/>
          <p:cNvSpPr/>
          <p:nvPr/>
        </p:nvSpPr>
        <p:spPr>
          <a:xfrm>
            <a:off x="1882140" y="5103495"/>
            <a:ext cx="5319395" cy="106997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不必事先知道各种进程所需的执行时间；</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可以满足各种类型进程的需要。</a:t>
            </a:r>
            <a:endParaRPr lang="zh-CN" altLang="en-US" sz="2200" dirty="0"/>
          </a:p>
        </p:txBody>
      </p:sp>
      <p:pic>
        <p:nvPicPr>
          <p:cNvPr id="61442" name="图片 61442" descr="4a12"/>
          <p:cNvPicPr>
            <a:picLocks noChangeAspect="1"/>
          </p:cNvPicPr>
          <p:nvPr/>
        </p:nvPicPr>
        <p:blipFill>
          <a:blip r:embed="rId1"/>
          <a:stretch>
            <a:fillRect/>
          </a:stretch>
        </p:blipFill>
        <p:spPr>
          <a:xfrm>
            <a:off x="6995795" y="1348105"/>
            <a:ext cx="4053205" cy="3889375"/>
          </a:xfrm>
          <a:prstGeom prst="rect">
            <a:avLst/>
          </a:prstGeom>
          <a:noFill/>
          <a:ln w="9525">
            <a:noFill/>
          </a:ln>
        </p:spPr>
      </p:pic>
      <p:sp>
        <p:nvSpPr>
          <p:cNvPr id="3" name="文本框 2"/>
          <p:cNvSpPr txBox="1"/>
          <p:nvPr/>
        </p:nvSpPr>
        <p:spPr>
          <a:xfrm>
            <a:off x="5668010" y="1249045"/>
            <a:ext cx="6096000" cy="460375"/>
          </a:xfrm>
          <a:prstGeom prst="rect">
            <a:avLst/>
          </a:prstGeom>
          <a:noFill/>
        </p:spPr>
        <p:txBody>
          <a:bodyPr wrap="square" rtlCol="0" anchor="t">
            <a:spAutoFit/>
          </a:bodyPr>
          <a:lstStyle/>
          <a:p>
            <a:r>
              <a:rPr lang="zh-CN" altLang="en-US" sz="2400" b="1">
                <a:solidFill>
                  <a:schemeClr val="accent2"/>
                </a:solidFill>
                <a:latin typeface="Tahoma" panose="020B0604030504040204" pitchFamily="2" charset="0"/>
                <a:ea typeface="宋体" panose="02010600030101010101" pitchFamily="2" charset="-122"/>
                <a:sym typeface="+mn-ea"/>
              </a:rPr>
              <a:t>抢占式，动态优先级</a:t>
            </a:r>
            <a:endParaRPr lang="zh-CN" altLang="en-US" sz="2400" b="1">
              <a:solidFill>
                <a:schemeClr val="accent2"/>
              </a:solidFill>
              <a:latin typeface="Tahoma" panose="020B0604030504040204" pitchFamily="2" charset="0"/>
              <a:ea typeface="宋体" panose="02010600030101010101" pitchFamily="2"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80465" y="855980"/>
            <a:ext cx="9011285" cy="5145405"/>
          </a:xfrm>
          <a:prstGeom prst="rect">
            <a:avLst/>
          </a:prstGeom>
          <a:noFill/>
        </p:spPr>
        <p:txBody>
          <a:bodyPr wrap="square" rtlCol="0" anchor="t">
            <a:noAutofit/>
          </a:bodyPr>
          <a:lstStyle/>
          <a:p>
            <a:pPr marL="457200" indent="-457200" algn="l" fontAlgn="base">
              <a:buFont typeface="Arial" panose="020B0604020202020204" pitchFamily="34" charset="0"/>
              <a:buChar char="•"/>
            </a:pPr>
            <a:r>
              <a:rPr lang="en-US" altLang="zh-CN" sz="3200" b="1">
                <a:solidFill>
                  <a:srgbClr val="000000"/>
                </a:solidFill>
                <a:latin typeface="Tahoma" panose="020B0604030504040204" pitchFamily="2" charset="0"/>
                <a:ea typeface="宋体" panose="02010600030101010101" pitchFamily="2" charset="-122"/>
                <a:cs typeface="+mn-ea"/>
                <a:sym typeface="+mn-ea"/>
              </a:rPr>
              <a:t>MFQ</a:t>
            </a:r>
            <a:r>
              <a:rPr lang="zh-CN" altLang="en-US" sz="3200" b="1">
                <a:solidFill>
                  <a:srgbClr val="000000"/>
                </a:solidFill>
                <a:latin typeface="Tahoma" panose="020B0604030504040204" pitchFamily="2" charset="0"/>
                <a:ea typeface="宋体" panose="02010600030101010101" pitchFamily="2" charset="-122"/>
                <a:cs typeface="+mn-ea"/>
                <a:sym typeface="+mn-ea"/>
              </a:rPr>
              <a:t>实现思想</a:t>
            </a:r>
            <a:r>
              <a:rPr lang="en-US" altLang="zh-CN" sz="3200" b="1">
                <a:solidFill>
                  <a:srgbClr val="000000"/>
                </a:solidFill>
                <a:latin typeface="Tahoma" panose="020B0604030504040204" pitchFamily="2" charset="0"/>
                <a:ea typeface="宋体" panose="02010600030101010101" pitchFamily="2" charset="-122"/>
                <a:cs typeface="+mn-ea"/>
                <a:sym typeface="+mn-ea"/>
              </a:rPr>
              <a:t>:</a:t>
            </a:r>
            <a:endParaRPr lang="en-US" altLang="zh-CN" sz="3200" b="1" strike="noStrike" noProof="1">
              <a:latin typeface="Tahoma" panose="020B0604030504040204" pitchFamily="2" charset="0"/>
            </a:endParaRPr>
          </a:p>
          <a:p>
            <a:pPr algn="l" fontAlgn="base">
              <a:buFont typeface="Arial" panose="020B0604020202020204" pitchFamily="34" charset="0"/>
            </a:pPr>
            <a:r>
              <a:rPr lang="en-US" altLang="zh-CN" sz="2400" b="1">
                <a:solidFill>
                  <a:srgbClr val="000000"/>
                </a:solidFill>
                <a:latin typeface="Tahoma" panose="020B0604030504040204" pitchFamily="2" charset="0"/>
                <a:ea typeface="宋体" panose="02010600030101010101" pitchFamily="2" charset="-122"/>
                <a:cs typeface="+mn-ea"/>
                <a:sym typeface="+mn-ea"/>
              </a:rPr>
              <a:t>① </a:t>
            </a:r>
            <a:r>
              <a:rPr lang="zh-CN" altLang="en-US" sz="2400" b="1">
                <a:solidFill>
                  <a:srgbClr val="000000"/>
                </a:solidFill>
                <a:latin typeface="Tahoma" panose="020B0604030504040204" pitchFamily="2" charset="0"/>
                <a:ea typeface="宋体" panose="02010600030101010101" pitchFamily="2" charset="-122"/>
                <a:cs typeface="+mn-ea"/>
                <a:sym typeface="+mn-ea"/>
              </a:rPr>
              <a:t>系统中设置多个就绪队列，每个队列对应一个</a:t>
            </a:r>
            <a:r>
              <a:rPr lang="zh-CN" altLang="en-US" sz="2400" b="1">
                <a:solidFill>
                  <a:srgbClr val="CC0000"/>
                </a:solidFill>
                <a:latin typeface="Tahoma" panose="020B0604030504040204" pitchFamily="2" charset="0"/>
                <a:ea typeface="宋体" panose="02010600030101010101" pitchFamily="2" charset="-122"/>
                <a:cs typeface="+mn-ea"/>
                <a:sym typeface="+mn-ea"/>
              </a:rPr>
              <a:t>优先级</a:t>
            </a:r>
            <a:r>
              <a:rPr lang="zh-CN" altLang="en-US" sz="2400" b="1">
                <a:solidFill>
                  <a:srgbClr val="000000"/>
                </a:solidFill>
                <a:latin typeface="Tahoma" panose="020B0604030504040204" pitchFamily="2" charset="0"/>
                <a:ea typeface="宋体" panose="02010600030101010101" pitchFamily="2" charset="-122"/>
                <a:cs typeface="+mn-ea"/>
                <a:sym typeface="+mn-ea"/>
              </a:rPr>
              <a:t>；</a:t>
            </a:r>
            <a:endParaRPr lang="zh-CN" altLang="en-US" sz="2400" b="1" strike="noStrike" noProof="1">
              <a:latin typeface="Tahoma" panose="020B0604030504040204" pitchFamily="2" charset="0"/>
            </a:endParaRPr>
          </a:p>
          <a:p>
            <a:pPr algn="l" fontAlgn="base">
              <a:buFont typeface="Arial" panose="020B0604020202020204" pitchFamily="34" charset="0"/>
            </a:pPr>
            <a:r>
              <a:rPr lang="en-US" altLang="zh-CN" sz="2400" b="1">
                <a:solidFill>
                  <a:srgbClr val="000000"/>
                </a:solidFill>
                <a:latin typeface="Tahoma" panose="020B0604030504040204" pitchFamily="2" charset="0"/>
                <a:ea typeface="宋体" panose="02010600030101010101" pitchFamily="2" charset="-122"/>
                <a:cs typeface="+mn-ea"/>
                <a:sym typeface="+mn-ea"/>
              </a:rPr>
              <a:t>② </a:t>
            </a:r>
            <a:r>
              <a:rPr lang="zh-CN" altLang="en-US" sz="2400" b="1">
                <a:solidFill>
                  <a:srgbClr val="000000"/>
                </a:solidFill>
                <a:latin typeface="Tahoma" panose="020B0604030504040204" pitchFamily="2" charset="0"/>
                <a:ea typeface="宋体" panose="02010600030101010101" pitchFamily="2" charset="-122"/>
                <a:cs typeface="+mn-ea"/>
                <a:sym typeface="+mn-ea"/>
              </a:rPr>
              <a:t>各就绪队列中进程的</a:t>
            </a:r>
            <a:r>
              <a:rPr lang="zh-CN" altLang="en-US" sz="2400" b="1">
                <a:solidFill>
                  <a:srgbClr val="CC0000"/>
                </a:solidFill>
                <a:latin typeface="Tahoma" panose="020B0604030504040204" pitchFamily="2" charset="0"/>
                <a:ea typeface="宋体" panose="02010600030101010101" pitchFamily="2" charset="-122"/>
                <a:cs typeface="+mn-ea"/>
                <a:sym typeface="+mn-ea"/>
              </a:rPr>
              <a:t>运行时间片不同</a:t>
            </a:r>
            <a:r>
              <a:rPr lang="zh-CN" altLang="en-US" sz="2400" b="1">
                <a:solidFill>
                  <a:srgbClr val="000000"/>
                </a:solidFill>
                <a:latin typeface="Tahoma" panose="020B0604030504040204" pitchFamily="2" charset="0"/>
                <a:ea typeface="宋体" panose="02010600030101010101" pitchFamily="2" charset="-122"/>
                <a:cs typeface="+mn-ea"/>
                <a:sym typeface="+mn-ea"/>
              </a:rPr>
              <a:t>，高优先级队列的时间片小，低优先级队列的时间片大；</a:t>
            </a:r>
            <a:endParaRPr lang="zh-CN" altLang="en-US" sz="2400" b="1" strike="noStrike" noProof="1">
              <a:latin typeface="Tahoma" panose="020B0604030504040204" pitchFamily="2" charset="0"/>
            </a:endParaRPr>
          </a:p>
          <a:p>
            <a:pPr algn="l" fontAlgn="base">
              <a:buFont typeface="Arial" panose="020B0604020202020204" pitchFamily="34" charset="0"/>
            </a:pPr>
            <a:r>
              <a:rPr lang="en-US" altLang="zh-CN" sz="2400" b="1">
                <a:solidFill>
                  <a:srgbClr val="000000"/>
                </a:solidFill>
                <a:latin typeface="Tahoma" panose="020B0604030504040204" pitchFamily="2" charset="0"/>
                <a:ea typeface="宋体" panose="02010600030101010101" pitchFamily="2" charset="-122"/>
                <a:cs typeface="+mn-ea"/>
                <a:sym typeface="+mn-ea"/>
              </a:rPr>
              <a:t>③ </a:t>
            </a:r>
            <a:r>
              <a:rPr lang="zh-CN" altLang="en-US" sz="2400" b="1">
                <a:solidFill>
                  <a:srgbClr val="000000"/>
                </a:solidFill>
                <a:effectLst>
                  <a:outerShdw blurRad="38100" dist="38100" dir="2700000">
                    <a:srgbClr val="FFFFFF"/>
                  </a:outerShdw>
                </a:effectLst>
                <a:latin typeface="Tahoma" panose="020B0604030504040204" pitchFamily="2" charset="0"/>
                <a:ea typeface="宋体" panose="02010600030101010101" pitchFamily="2" charset="-122"/>
                <a:cs typeface="+mn-ea"/>
                <a:sym typeface="+mn-ea"/>
              </a:rPr>
              <a:t>新进程进入系统后，先放入</a:t>
            </a:r>
            <a:r>
              <a:rPr lang="zh-CN" altLang="en-US" sz="2400" b="1">
                <a:solidFill>
                  <a:srgbClr val="CC0000"/>
                </a:solidFill>
                <a:effectLst>
                  <a:outerShdw blurRad="38100" dist="38100" dir="2700000">
                    <a:srgbClr val="000000"/>
                  </a:outerShdw>
                </a:effectLst>
                <a:latin typeface="Tahoma" panose="020B0604030504040204" pitchFamily="2" charset="0"/>
                <a:ea typeface="宋体" panose="02010600030101010101" pitchFamily="2" charset="-122"/>
                <a:cs typeface="+mn-ea"/>
                <a:sym typeface="+mn-ea"/>
              </a:rPr>
              <a:t>第</a:t>
            </a:r>
            <a:r>
              <a:rPr lang="en-US" altLang="zh-CN" sz="2400" b="1">
                <a:solidFill>
                  <a:srgbClr val="CC0000"/>
                </a:solidFill>
                <a:effectLst>
                  <a:outerShdw blurRad="38100" dist="38100" dir="2700000">
                    <a:srgbClr val="000000"/>
                  </a:outerShdw>
                </a:effectLst>
                <a:latin typeface="Tahoma" panose="020B0604030504040204" pitchFamily="2" charset="0"/>
                <a:ea typeface="宋体" panose="02010600030101010101" pitchFamily="2" charset="-122"/>
                <a:cs typeface="+mn-ea"/>
                <a:sym typeface="+mn-ea"/>
              </a:rPr>
              <a:t>1</a:t>
            </a:r>
            <a:r>
              <a:rPr lang="zh-CN" altLang="en-US" sz="2400" b="1">
                <a:solidFill>
                  <a:srgbClr val="CC0000"/>
                </a:solidFill>
                <a:effectLst>
                  <a:outerShdw blurRad="38100" dist="38100" dir="2700000">
                    <a:srgbClr val="000000"/>
                  </a:outerShdw>
                </a:effectLst>
                <a:latin typeface="Tahoma" panose="020B0604030504040204" pitchFamily="2" charset="0"/>
                <a:ea typeface="宋体" panose="02010600030101010101" pitchFamily="2" charset="-122"/>
                <a:cs typeface="+mn-ea"/>
                <a:sym typeface="+mn-ea"/>
              </a:rPr>
              <a:t>个队列</a:t>
            </a:r>
            <a:r>
              <a:rPr lang="zh-CN" altLang="en-US" sz="2400" b="1">
                <a:solidFill>
                  <a:srgbClr val="000000"/>
                </a:solidFill>
                <a:effectLst>
                  <a:outerShdw blurRad="38100" dist="38100" dir="2700000">
                    <a:srgbClr val="FFFFFF"/>
                  </a:outerShdw>
                </a:effectLst>
                <a:latin typeface="Tahoma" panose="020B0604030504040204" pitchFamily="2" charset="0"/>
                <a:ea typeface="宋体" panose="02010600030101010101" pitchFamily="2" charset="-122"/>
                <a:cs typeface="+mn-ea"/>
                <a:sym typeface="+mn-ea"/>
              </a:rPr>
              <a:t>的末尾，如果在时间片内工作未完成，则转入下一个队列尾，依此类推；</a:t>
            </a:r>
            <a:endParaRPr lang="zh-CN" altLang="en-US" sz="2400" b="1" strike="noStrike" noProof="1">
              <a:effectLst>
                <a:outerShdw blurRad="38100" dist="38100" dir="2700000">
                  <a:srgbClr val="FFFFFF"/>
                </a:outerShdw>
              </a:effectLst>
              <a:latin typeface="Tahoma" panose="020B0604030504040204" pitchFamily="2" charset="0"/>
            </a:endParaRPr>
          </a:p>
          <a:p>
            <a:pPr algn="l" fontAlgn="base">
              <a:buFont typeface="Arial" panose="020B0604020202020204" pitchFamily="34" charset="0"/>
            </a:pPr>
            <a:r>
              <a:rPr lang="en-US" altLang="zh-CN" sz="2400" b="1">
                <a:solidFill>
                  <a:srgbClr val="000000"/>
                </a:solidFill>
                <a:latin typeface="Tahoma" panose="020B0604030504040204" pitchFamily="2" charset="0"/>
                <a:ea typeface="宋体" panose="02010600030101010101" pitchFamily="2" charset="-122"/>
                <a:cs typeface="+mn-ea"/>
                <a:sym typeface="+mn-ea"/>
              </a:rPr>
              <a:t>④ </a:t>
            </a:r>
            <a:r>
              <a:rPr lang="zh-CN" altLang="en-US" sz="2400" b="1">
                <a:solidFill>
                  <a:srgbClr val="000000"/>
                </a:solidFill>
                <a:latin typeface="Tahoma" panose="020B0604030504040204" pitchFamily="2" charset="0"/>
                <a:ea typeface="宋体" panose="02010600030101010101" pitchFamily="2" charset="-122"/>
                <a:cs typeface="+mn-ea"/>
                <a:sym typeface="+mn-ea"/>
              </a:rPr>
              <a:t>系统先运行第</a:t>
            </a:r>
            <a:r>
              <a:rPr lang="en-US" altLang="zh-CN" sz="2400" b="1">
                <a:solidFill>
                  <a:srgbClr val="000000"/>
                </a:solidFill>
                <a:latin typeface="Tahoma" panose="020B0604030504040204" pitchFamily="2" charset="0"/>
                <a:ea typeface="宋体" panose="02010600030101010101" pitchFamily="2" charset="-122"/>
                <a:cs typeface="+mn-ea"/>
                <a:sym typeface="+mn-ea"/>
              </a:rPr>
              <a:t>1</a:t>
            </a:r>
            <a:r>
              <a:rPr lang="zh-CN" altLang="en-US" sz="2400" b="1">
                <a:solidFill>
                  <a:srgbClr val="000000"/>
                </a:solidFill>
                <a:latin typeface="Tahoma" panose="020B0604030504040204" pitchFamily="2" charset="0"/>
                <a:ea typeface="宋体" panose="02010600030101010101" pitchFamily="2" charset="-122"/>
                <a:cs typeface="+mn-ea"/>
                <a:sym typeface="+mn-ea"/>
              </a:rPr>
              <a:t>个队列中的进程</a:t>
            </a:r>
            <a:r>
              <a:rPr lang="en-US" altLang="zh-CN" sz="2400" b="1">
                <a:solidFill>
                  <a:srgbClr val="000000"/>
                </a:solidFill>
                <a:latin typeface="Tahoma" panose="020B0604030504040204" pitchFamily="2" charset="0"/>
                <a:ea typeface="宋体" panose="02010600030101010101" pitchFamily="2" charset="-122"/>
                <a:cs typeface="+mn-ea"/>
                <a:sym typeface="+mn-ea"/>
              </a:rPr>
              <a:t>,</a:t>
            </a:r>
            <a:r>
              <a:rPr lang="zh-CN" altLang="en-US" sz="2400" b="1">
                <a:solidFill>
                  <a:srgbClr val="000000"/>
                </a:solidFill>
                <a:latin typeface="Tahoma" panose="020B0604030504040204" pitchFamily="2" charset="0"/>
                <a:ea typeface="宋体" panose="02010600030101010101" pitchFamily="2" charset="-122"/>
                <a:cs typeface="+mn-ea"/>
                <a:sym typeface="+mn-ea"/>
              </a:rPr>
              <a:t>若</a:t>
            </a:r>
            <a:r>
              <a:rPr lang="zh-CN" altLang="en-US" sz="2400" b="1">
                <a:solidFill>
                  <a:srgbClr val="CC0000"/>
                </a:solidFill>
                <a:latin typeface="Tahoma" panose="020B0604030504040204" pitchFamily="2" charset="0"/>
                <a:ea typeface="宋体" panose="02010600030101010101" pitchFamily="2" charset="-122"/>
                <a:cs typeface="+mn-ea"/>
                <a:sym typeface="+mn-ea"/>
              </a:rPr>
              <a:t>第</a:t>
            </a:r>
            <a:r>
              <a:rPr lang="en-US" altLang="zh-CN" sz="2400" b="1">
                <a:solidFill>
                  <a:srgbClr val="CC0000"/>
                </a:solidFill>
                <a:latin typeface="Tahoma" panose="020B0604030504040204" pitchFamily="2" charset="0"/>
                <a:ea typeface="宋体" panose="02010600030101010101" pitchFamily="2" charset="-122"/>
                <a:cs typeface="+mn-ea"/>
                <a:sym typeface="+mn-ea"/>
              </a:rPr>
              <a:t>1</a:t>
            </a:r>
            <a:r>
              <a:rPr lang="zh-CN" altLang="en-US" sz="2400" b="1">
                <a:solidFill>
                  <a:srgbClr val="CC0000"/>
                </a:solidFill>
                <a:latin typeface="Tahoma" panose="020B0604030504040204" pitchFamily="2" charset="0"/>
                <a:ea typeface="宋体" panose="02010600030101010101" pitchFamily="2" charset="-122"/>
                <a:cs typeface="+mn-ea"/>
                <a:sym typeface="+mn-ea"/>
              </a:rPr>
              <a:t>队列为空</a:t>
            </a:r>
            <a:r>
              <a:rPr lang="en-US" altLang="zh-CN" sz="2400" b="1">
                <a:solidFill>
                  <a:srgbClr val="CC0000"/>
                </a:solidFill>
                <a:latin typeface="Tahoma" panose="020B0604030504040204" pitchFamily="2" charset="0"/>
                <a:ea typeface="宋体" panose="02010600030101010101" pitchFamily="2" charset="-122"/>
                <a:cs typeface="+mn-ea"/>
                <a:sym typeface="+mn-ea"/>
              </a:rPr>
              <a:t>,</a:t>
            </a:r>
            <a:r>
              <a:rPr lang="zh-CN" altLang="en-US" sz="2400" b="1">
                <a:solidFill>
                  <a:srgbClr val="CC0000"/>
                </a:solidFill>
                <a:latin typeface="Tahoma" panose="020B0604030504040204" pitchFamily="2" charset="0"/>
                <a:ea typeface="宋体" panose="02010600030101010101" pitchFamily="2" charset="-122"/>
                <a:cs typeface="+mn-ea"/>
                <a:sym typeface="+mn-ea"/>
              </a:rPr>
              <a:t>才运行第</a:t>
            </a:r>
            <a:r>
              <a:rPr lang="en-US" altLang="zh-CN" sz="2400" b="1">
                <a:solidFill>
                  <a:srgbClr val="CC0000"/>
                </a:solidFill>
                <a:latin typeface="Tahoma" panose="020B0604030504040204" pitchFamily="2" charset="0"/>
                <a:ea typeface="宋体" panose="02010600030101010101" pitchFamily="2" charset="-122"/>
                <a:cs typeface="+mn-ea"/>
                <a:sym typeface="+mn-ea"/>
              </a:rPr>
              <a:t>2</a:t>
            </a:r>
            <a:r>
              <a:rPr lang="zh-CN" altLang="en-US" sz="2400" b="1">
                <a:solidFill>
                  <a:srgbClr val="CC0000"/>
                </a:solidFill>
                <a:latin typeface="Tahoma" panose="020B0604030504040204" pitchFamily="2" charset="0"/>
                <a:ea typeface="宋体" panose="02010600030101010101" pitchFamily="2" charset="-122"/>
                <a:cs typeface="+mn-ea"/>
                <a:sym typeface="+mn-ea"/>
              </a:rPr>
              <a:t>队列，依次类推</a:t>
            </a:r>
            <a:r>
              <a:rPr lang="zh-CN" altLang="en-US" sz="2400" b="1">
                <a:solidFill>
                  <a:srgbClr val="000000"/>
                </a:solidFill>
                <a:latin typeface="Tahoma" panose="020B0604030504040204" pitchFamily="2" charset="0"/>
                <a:ea typeface="宋体" panose="02010600030101010101" pitchFamily="2" charset="-122"/>
                <a:cs typeface="+mn-ea"/>
                <a:sym typeface="+mn-ea"/>
              </a:rPr>
              <a:t>；</a:t>
            </a:r>
            <a:endParaRPr lang="zh-CN" altLang="en-US" sz="2400" b="1">
              <a:solidFill>
                <a:srgbClr val="000000"/>
              </a:solidFill>
              <a:latin typeface="Tahoma" panose="020B0604030504040204" pitchFamily="2" charset="0"/>
              <a:ea typeface="宋体" panose="02010600030101010101" pitchFamily="2" charset="-122"/>
              <a:cs typeface="+mn-ea"/>
              <a:sym typeface="+mn-ea"/>
            </a:endParaRPr>
          </a:p>
          <a:p>
            <a:pPr algn="l" fontAlgn="base">
              <a:buFont typeface="Arial" panose="020B0604020202020204" pitchFamily="34" charset="0"/>
            </a:pPr>
            <a:endParaRPr lang="zh-CN" altLang="en-US" sz="2400">
              <a:latin typeface="宋体" panose="02010600030101010101" pitchFamily="2" charset="-122"/>
              <a:sym typeface="+mn-ea"/>
            </a:endParaRPr>
          </a:p>
          <a:p>
            <a:pPr marL="342900" indent="-342900" algn="l" fontAlgn="base">
              <a:buFont typeface="Arial" panose="020B0604020202020204" pitchFamily="34" charset="0"/>
              <a:buChar char="•"/>
            </a:pPr>
            <a:r>
              <a:rPr lang="zh-CN" altLang="en-US" sz="2400">
                <a:latin typeface="宋体" panose="02010600030101010101" pitchFamily="2" charset="-122"/>
                <a:sym typeface="+mn-ea"/>
              </a:rPr>
              <a:t>特点</a:t>
            </a:r>
            <a:r>
              <a:rPr lang="en-US" altLang="zh-CN" sz="2400">
                <a:latin typeface="宋体" panose="02010600030101010101" pitchFamily="2" charset="-122"/>
                <a:sym typeface="+mn-ea"/>
              </a:rPr>
              <a:t>:</a:t>
            </a:r>
            <a:endParaRPr lang="zh-CN" altLang="en-US" sz="2400">
              <a:latin typeface="宋体" panose="02010600030101010101" pitchFamily="2" charset="-122"/>
            </a:endParaRPr>
          </a:p>
          <a:p>
            <a:pPr lvl="1"/>
            <a:r>
              <a:rPr lang="zh-CN" altLang="en-US" sz="2400">
                <a:latin typeface="宋体" panose="02010600030101010101" pitchFamily="2" charset="-122"/>
                <a:sym typeface="+mn-ea"/>
              </a:rPr>
              <a:t>抢占式调度</a:t>
            </a:r>
            <a:endParaRPr lang="zh-CN" altLang="en-US" sz="2400">
              <a:latin typeface="宋体" panose="02010600030101010101" pitchFamily="2" charset="-122"/>
            </a:endParaRPr>
          </a:p>
          <a:p>
            <a:pPr lvl="1"/>
            <a:r>
              <a:rPr lang="zh-CN" altLang="en-US" sz="2400">
                <a:latin typeface="宋体" panose="02010600030101010101" pitchFamily="2" charset="-122"/>
                <a:sym typeface="+mn-ea"/>
              </a:rPr>
              <a:t>动态优先级 </a:t>
            </a:r>
            <a:endParaRPr lang="zh-CN" altLang="en-US" sz="2400">
              <a:latin typeface="宋体" panose="02010600030101010101" pitchFamily="2" charset="-122"/>
            </a:endParaRPr>
          </a:p>
          <a:p>
            <a:pPr lvl="1"/>
            <a:r>
              <a:rPr lang="zh-CN" altLang="en-US" sz="2400">
                <a:latin typeface="宋体" panose="02010600030101010101" pitchFamily="2" charset="-122"/>
                <a:sym typeface="+mn-ea"/>
              </a:rPr>
              <a:t>需要解决“饥饿”问题</a:t>
            </a:r>
            <a:endParaRPr lang="zh-CN" altLang="en-US" sz="2400">
              <a:latin typeface="宋体" panose="02010600030101010101" pitchFamily="2" charset="-122"/>
            </a:endParaRPr>
          </a:p>
          <a:p>
            <a:pPr lvl="1"/>
            <a:r>
              <a:rPr lang="zh-CN" altLang="en-US" sz="2400">
                <a:latin typeface="宋体" panose="02010600030101010101" pitchFamily="2" charset="-122"/>
                <a:sym typeface="+mn-ea"/>
              </a:rPr>
              <a:t>是最通用的</a:t>
            </a:r>
            <a:r>
              <a:rPr lang="en-US" altLang="zh-CN" sz="2400">
                <a:latin typeface="宋体" panose="02010600030101010101" pitchFamily="2" charset="-122"/>
                <a:sym typeface="+mn-ea"/>
              </a:rPr>
              <a:t>CPU</a:t>
            </a:r>
            <a:r>
              <a:rPr lang="zh-CN" altLang="en-US" sz="2400">
                <a:latin typeface="宋体" panose="02010600030101010101" pitchFamily="2" charset="-122"/>
                <a:sym typeface="+mn-ea"/>
              </a:rPr>
              <a:t>调度算法</a:t>
            </a:r>
            <a:r>
              <a:rPr lang="en-US" altLang="zh-CN" sz="2400">
                <a:latin typeface="宋体" panose="02010600030101010101" pitchFamily="2" charset="-122"/>
                <a:sym typeface="+mn-ea"/>
              </a:rPr>
              <a:t>,</a:t>
            </a:r>
            <a:r>
              <a:rPr lang="zh-CN" altLang="en-US" sz="2400">
                <a:latin typeface="宋体" panose="02010600030101010101" pitchFamily="2" charset="-122"/>
                <a:sym typeface="+mn-ea"/>
              </a:rPr>
              <a:t>也最复杂</a:t>
            </a:r>
            <a:r>
              <a:rPr lang="en-US" altLang="zh-CN" sz="2400">
                <a:latin typeface="宋体" panose="02010600030101010101" pitchFamily="2" charset="-122"/>
                <a:sym typeface="+mn-ea"/>
              </a:rPr>
              <a:t>.</a:t>
            </a:r>
            <a:endParaRPr lang="en-US" altLang="zh-CN" sz="2400">
              <a:latin typeface="宋体" panose="02010600030101010101" pitchFamily="2" charset="-122"/>
            </a:endParaRPr>
          </a:p>
          <a:p>
            <a:pPr algn="l" fontAlgn="base">
              <a:buFont typeface="Arial" panose="020B0604020202020204" pitchFamily="34" charset="0"/>
            </a:pPr>
            <a:endParaRPr lang="zh-CN" altLang="en-US" sz="2400" b="1">
              <a:solidFill>
                <a:srgbClr val="000000"/>
              </a:solidFill>
              <a:latin typeface="Tahoma" panose="020B0604030504040204" pitchFamily="2" charset="0"/>
              <a:ea typeface="宋体" panose="02010600030101010101" pitchFamily="2" charset="-122"/>
              <a:cs typeface="+mn-ea"/>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多级反馈队列例子</a:t>
            </a:r>
            <a:endParaRPr lang="zh-CN" altLang="en-US" sz="2800" b="1" dirty="0">
              <a:solidFill>
                <a:schemeClr val="bg1"/>
              </a:solidFill>
            </a:endParaRPr>
          </a:p>
        </p:txBody>
      </p:sp>
      <p:pic>
        <p:nvPicPr>
          <p:cNvPr id="22" name="Picture 5"/>
          <p:cNvPicPr>
            <a:picLocks noChangeAspect="1" noChangeArrowheads="1"/>
          </p:cNvPicPr>
          <p:nvPr/>
        </p:nvPicPr>
        <p:blipFill>
          <a:blip r:embed="rId1">
            <a:extLst>
              <a:ext uri="{28A0092B-C50C-407E-A947-70E740481C1C}">
                <a14:useLocalDpi xmlns:a14="http://schemas.microsoft.com/office/drawing/2010/main" val="0"/>
              </a:ext>
            </a:extLst>
          </a:blip>
          <a:srcRect l="514" t="12209" r="537" b="12032"/>
          <a:stretch>
            <a:fillRect/>
          </a:stretch>
        </p:blipFill>
        <p:spPr bwMode="auto">
          <a:xfrm>
            <a:off x="349959" y="1737127"/>
            <a:ext cx="4928155" cy="34868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635" y="1737360"/>
            <a:ext cx="5217160" cy="3910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9360" y="920750"/>
            <a:ext cx="9717405" cy="4154170"/>
          </a:xfrm>
          <a:prstGeom prst="rect">
            <a:avLst/>
          </a:prstGeom>
        </p:spPr>
        <p:txBody>
          <a:bodyPr wrap="square">
            <a:spAutoFit/>
          </a:bodyPr>
          <a:lstStyle/>
          <a:p>
            <a:pPr marL="266700" indent="-266700" algn="just" defTabSz="266700">
              <a:spcAft>
                <a:spcPct val="0"/>
              </a:spcAft>
            </a:pPr>
            <a:r>
              <a:rPr lang="en-US" altLang="zh-CN" sz="2000">
                <a:latin typeface="宋体" panose="02010600030101010101" pitchFamily="2" charset="-122"/>
                <a:ea typeface="宋体" panose="02010600030101010101" pitchFamily="2" charset="-122"/>
              </a:rPr>
              <a:t>1</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系统采用二级反馈队列调度算法进行进程调度。就绪队列</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采用时间片轮转调度算法，时间片为</a:t>
            </a:r>
            <a:r>
              <a:rPr lang="en-US" altLang="zh-CN" sz="2400">
                <a:latin typeface="宋体" panose="02010600030101010101" pitchFamily="2" charset="-122"/>
                <a:ea typeface="宋体" panose="02010600030101010101" pitchFamily="2" charset="-122"/>
              </a:rPr>
              <a:t>10 ms</a:t>
            </a:r>
            <a:r>
              <a:rPr lang="zh-CN" altLang="en-US" sz="2400">
                <a:latin typeface="宋体" panose="02010600030101010101" pitchFamily="2" charset="-122"/>
                <a:ea typeface="宋体" panose="02010600030101010101" pitchFamily="2" charset="-122"/>
              </a:rPr>
              <a:t>；就绪队列</a:t>
            </a:r>
            <a:r>
              <a:rPr lang="en-US" altLang="zh-CN" sz="2400">
                <a:latin typeface="宋体" panose="02010600030101010101" pitchFamily="2" charset="-122"/>
                <a:ea typeface="宋体" panose="02010600030101010101" pitchFamily="2" charset="-122"/>
              </a:rPr>
              <a:t>Q2 </a:t>
            </a:r>
            <a:r>
              <a:rPr lang="zh-CN" altLang="en-US" sz="2400">
                <a:latin typeface="宋体" panose="02010600030101010101" pitchFamily="2" charset="-122"/>
                <a:ea typeface="宋体" panose="02010600030101010101" pitchFamily="2" charset="-122"/>
              </a:rPr>
              <a:t>采用短进程优先调度算法；系统优先调度</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队列中的进程，当</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为空时系统才会调度</a:t>
            </a:r>
            <a:r>
              <a:rPr lang="en-US" altLang="zh-CN" sz="2400">
                <a:latin typeface="宋体" panose="02010600030101010101" pitchFamily="2" charset="-122"/>
                <a:ea typeface="宋体" panose="02010600030101010101" pitchFamily="2" charset="-122"/>
              </a:rPr>
              <a:t>Q2</a:t>
            </a:r>
            <a:r>
              <a:rPr lang="zh-CN" altLang="en-US" sz="2400">
                <a:latin typeface="宋体" panose="02010600030101010101" pitchFamily="2" charset="-122"/>
                <a:ea typeface="宋体" panose="02010600030101010101" pitchFamily="2" charset="-122"/>
              </a:rPr>
              <a:t>中的进程；新创建的进程首先进入</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中的进程执行一个时间片后，若未结束，则转入</a:t>
            </a:r>
            <a:r>
              <a:rPr lang="en-US" altLang="zh-CN" sz="2400">
                <a:latin typeface="宋体" panose="02010600030101010101" pitchFamily="2" charset="-122"/>
                <a:ea typeface="宋体" panose="02010600030101010101" pitchFamily="2" charset="-122"/>
              </a:rPr>
              <a:t>Q2</a:t>
            </a:r>
            <a:r>
              <a:rPr lang="zh-CN" altLang="en-US" sz="2400">
                <a:latin typeface="宋体" panose="02010600030101010101" pitchFamily="2" charset="-122"/>
                <a:ea typeface="宋体" panose="02010600030101010101" pitchFamily="2" charset="-122"/>
              </a:rPr>
              <a:t>。若当前</a:t>
            </a:r>
            <a:r>
              <a:rPr lang="en-US" altLang="zh-CN" sz="2400">
                <a:latin typeface="宋体" panose="02010600030101010101" pitchFamily="2" charset="-122"/>
                <a:ea typeface="宋体" panose="02010600030101010101" pitchFamily="2" charset="-122"/>
              </a:rPr>
              <a:t>Q1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Q2</a:t>
            </a:r>
            <a:r>
              <a:rPr lang="zh-CN" altLang="en-US" sz="2400">
                <a:latin typeface="宋体" panose="02010600030101010101" pitchFamily="2" charset="-122"/>
                <a:ea typeface="宋体" panose="02010600030101010101" pitchFamily="2" charset="-122"/>
              </a:rPr>
              <a:t>为空，系统依次创建进程</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后即开始进程调度，</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需要的</a:t>
            </a:r>
            <a:r>
              <a:rPr lang="en-US" altLang="zh-CN" sz="2400">
                <a:latin typeface="宋体" panose="02010600030101010101" pitchFamily="2" charset="-122"/>
                <a:ea typeface="宋体" panose="02010600030101010101" pitchFamily="2" charset="-122"/>
              </a:rPr>
              <a:t>CPU</a:t>
            </a:r>
            <a:r>
              <a:rPr lang="zh-CN" altLang="en-US" sz="2400">
                <a:latin typeface="宋体" panose="02010600030101010101" pitchFamily="2" charset="-122"/>
                <a:ea typeface="宋体" panose="02010600030101010101" pitchFamily="2" charset="-122"/>
              </a:rPr>
              <a:t>时间分别为</a:t>
            </a:r>
            <a:r>
              <a:rPr lang="en-US" altLang="zh-CN" sz="2400">
                <a:latin typeface="宋体" panose="02010600030101010101" pitchFamily="2" charset="-122"/>
                <a:ea typeface="宋体" panose="02010600030101010101" pitchFamily="2" charset="-122"/>
              </a:rPr>
              <a:t>30 ms</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20ms</a:t>
            </a:r>
            <a:r>
              <a:rPr lang="zh-CN" altLang="en-US" sz="2400">
                <a:latin typeface="宋体" panose="02010600030101010101" pitchFamily="2" charset="-122"/>
                <a:ea typeface="宋体" panose="02010600030101010101" pitchFamily="2" charset="-122"/>
              </a:rPr>
              <a:t>，则进程</a:t>
            </a:r>
            <a:r>
              <a:rPr lang="en-US" altLang="zh-CN" sz="2400">
                <a:latin typeface="宋体" panose="02010600030101010101" pitchFamily="2" charset="-122"/>
                <a:ea typeface="宋体" panose="02010600030101010101" pitchFamily="2" charset="-122"/>
              </a:rPr>
              <a:t>P1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在系统中的平均等待时间为</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2019</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A.25 ms</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B.20 ms</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en-US" altLang="zh-CN" sz="2400">
                <a:latin typeface="宋体" panose="02010600030101010101" pitchFamily="2" charset="-122"/>
                <a:ea typeface="宋体" panose="02010600030101010101" pitchFamily="2" charset="-122"/>
              </a:rPr>
              <a:t>.15 ms</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D.10 ms</a:t>
            </a:r>
            <a:endParaRPr lang="en-US" altLang="zh-CN" sz="2400">
              <a:latin typeface="宋体" panose="02010600030101010101" pitchFamily="2" charset="-122"/>
              <a:ea typeface="宋体" panose="02010600030101010101" pitchFamily="2" charset="-122"/>
            </a:endParaRPr>
          </a:p>
        </p:txBody>
      </p:sp>
      <p:pic>
        <p:nvPicPr>
          <p:cNvPr id="9" name="图片 9" descr="a037dc400b70d142bb59f2dd88963a0"/>
          <p:cNvPicPr>
            <a:picLocks noChangeAspect="1"/>
          </p:cNvPicPr>
          <p:nvPr/>
        </p:nvPicPr>
        <p:blipFill>
          <a:blip r:embed="rId1"/>
          <a:srcRect t="17034" r="12283" b="6723"/>
          <a:stretch>
            <a:fillRect/>
          </a:stretch>
        </p:blipFill>
        <p:spPr>
          <a:xfrm rot="16200000">
            <a:off x="5622290" y="2733040"/>
            <a:ext cx="2339340" cy="45808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27785" y="1691005"/>
            <a:ext cx="9208770" cy="3784600"/>
          </a:xfrm>
          <a:prstGeom prst="rect">
            <a:avLst/>
          </a:prstGeom>
        </p:spPr>
        <p:txBody>
          <a:bodyPr wrap="square">
            <a:spAutoFit/>
          </a:bodyPr>
          <a:lstStyle/>
          <a:p>
            <a:pPr marL="266700" indent="-266700" algn="just" defTabSz="266700">
              <a:spcAft>
                <a:spcPct val="0"/>
              </a:spcAft>
            </a:pPr>
            <a:r>
              <a:rPr lang="en-US" altLang="zh-CN" sz="2000">
                <a:latin typeface="宋体" panose="02010600030101010101" pitchFamily="2" charset="-122"/>
                <a:ea typeface="宋体" panose="02010600030101010101" pitchFamily="2" charset="-122"/>
              </a:rPr>
              <a:t>1</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下列与进程有关的因素中，在设计多级反馈队列调度算法时需要考虑的是</a:t>
            </a:r>
            <a:r>
              <a:rPr lang="en-US" altLang="zh-CN" sz="2400">
                <a:latin typeface="宋体" panose="02010600030101010101" pitchFamily="2" charset="-122"/>
                <a:ea typeface="宋体" panose="02010600030101010101" pitchFamily="2" charset="-122"/>
              </a:rPr>
              <a:t>( </a:t>
            </a:r>
            <a:r>
              <a:rPr lang="en-US" altLang="zh-CN" sz="2400">
                <a:solidFill>
                  <a:srgbClr val="FF0000"/>
                </a:solidFill>
                <a:latin typeface="等线" panose="02010600030101010101" charset="-122"/>
                <a:ea typeface="等线" panose="02010600030101010101" charset="-122"/>
              </a:rPr>
              <a:t> </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2020</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．就绪队列的数量</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．就绪队列的优先级</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．各就绪队列的调度算法</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IV</a:t>
            </a:r>
            <a:r>
              <a:rPr lang="zh-CN" altLang="en-US" sz="2400">
                <a:latin typeface="宋体" panose="02010600030101010101" pitchFamily="2" charset="-122"/>
                <a:ea typeface="宋体" panose="02010600030101010101" pitchFamily="2" charset="-122"/>
              </a:rPr>
              <a:t>．进程在就绪队列间的迁移条件</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Ⅱ</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Ⅱ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Ⅲ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Ⅳ</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Ⅲ</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基于公平原则的调度算法</a:t>
            </a:r>
            <a:endParaRPr lang="zh-CN" altLang="en-US" sz="2800" b="1" dirty="0">
              <a:solidFill>
                <a:schemeClr val="bg1"/>
              </a:solidFill>
            </a:endParaRPr>
          </a:p>
        </p:txBody>
      </p:sp>
      <p:sp>
        <p:nvSpPr>
          <p:cNvPr id="11" name="íšḻîḋè"/>
          <p:cNvSpPr/>
          <p:nvPr/>
        </p:nvSpPr>
        <p:spPr>
          <a:xfrm>
            <a:off x="1746844" y="3046724"/>
            <a:ext cx="1034454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性能保证</a:t>
            </a:r>
            <a:r>
              <a:rPr lang="zh-CN" altLang="en-US" sz="2400" dirty="0"/>
              <a:t>，而非优先运行；</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如保证处理机分配的公平性（处理机时间为</a:t>
            </a:r>
            <a:r>
              <a:rPr lang="en-US" altLang="zh-CN" sz="2400" dirty="0"/>
              <a:t>1/n</a:t>
            </a:r>
            <a:r>
              <a:rPr lang="zh-CN" altLang="en-US" sz="2400" dirty="0"/>
              <a:t>）。</a:t>
            </a:r>
            <a:endParaRPr lang="zh-CN" altLang="en-US" sz="2400" dirty="0"/>
          </a:p>
          <a:p>
            <a:pPr marL="342900" indent="-342900">
              <a:lnSpc>
                <a:spcPct val="120000"/>
              </a:lnSpc>
              <a:buClr>
                <a:srgbClr val="FF0000"/>
              </a:buClr>
              <a:buFont typeface="Wingdings" panose="05000000000000000000" pitchFamily="2" charset="2"/>
              <a:buChar char="Ø"/>
            </a:pPr>
            <a:endParaRPr lang="zh-CN" altLang="en-US" sz="2400" dirty="0"/>
          </a:p>
        </p:txBody>
      </p:sp>
      <p:sp>
        <p:nvSpPr>
          <p:cNvPr id="12" name="i$lîďê"/>
          <p:cNvSpPr/>
          <p:nvPr/>
        </p:nvSpPr>
        <p:spPr>
          <a:xfrm>
            <a:off x="1802479" y="2516555"/>
            <a:ext cx="4882406" cy="392877"/>
          </a:xfrm>
          <a:prstGeom prst="rect">
            <a:avLst/>
          </a:prstGeom>
          <a:noFill/>
          <a:ln>
            <a:noFill/>
          </a:ln>
        </p:spPr>
        <p:txBody>
          <a:bodyPr wrap="square" lIns="91440" tIns="45720" rIns="91440" bIns="45720" anchor="ctr" anchorCtr="0">
            <a:noAutofit/>
          </a:bodyPr>
          <a:lstStyle/>
          <a:p>
            <a:r>
              <a:rPr lang="zh-CN" altLang="en-US" sz="2800" dirty="0">
                <a:solidFill>
                  <a:srgbClr val="FF0000"/>
                </a:solidFill>
              </a:rPr>
              <a:t>保证调度算法：</a:t>
            </a:r>
            <a:endParaRPr lang="zh-CN" altLang="en-US" sz="2800" dirty="0">
              <a:solidFill>
                <a:srgbClr val="FF0000"/>
              </a:solidFill>
            </a:endParaRPr>
          </a:p>
        </p:txBody>
      </p:sp>
      <p:sp>
        <p:nvSpPr>
          <p:cNvPr id="13" name="î$ļíḋè"/>
          <p:cNvSpPr/>
          <p:nvPr/>
        </p:nvSpPr>
        <p:spPr>
          <a:xfrm>
            <a:off x="1802477" y="4747839"/>
            <a:ext cx="10155743" cy="104040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调度的公平性主要</a:t>
            </a:r>
            <a:r>
              <a:rPr lang="zh-CN" altLang="en-US" sz="2400" dirty="0">
                <a:solidFill>
                  <a:srgbClr val="0000FF"/>
                </a:solidFill>
              </a:rPr>
              <a:t>针对用户而言；</a:t>
            </a:r>
            <a:endParaRPr lang="zh-CN" altLang="en-US" sz="2400" dirty="0">
              <a:solidFill>
                <a:srgbClr val="0000FF"/>
              </a:solidFill>
            </a:endParaRPr>
          </a:p>
          <a:p>
            <a:pPr marL="342900" indent="-342900">
              <a:lnSpc>
                <a:spcPct val="120000"/>
              </a:lnSpc>
              <a:buClr>
                <a:srgbClr val="FF0000"/>
              </a:buClr>
              <a:buFont typeface="Wingdings" panose="05000000000000000000" pitchFamily="2" charset="2"/>
              <a:buChar char="Ø"/>
            </a:pPr>
            <a:r>
              <a:rPr lang="zh-CN" altLang="en-US" sz="2400" dirty="0"/>
              <a:t>使所有用户能获得相同的处理机时间或时间比例。</a:t>
            </a:r>
            <a:endParaRPr lang="zh-CN" altLang="en-US" sz="2400" dirty="0"/>
          </a:p>
        </p:txBody>
      </p:sp>
      <p:sp>
        <p:nvSpPr>
          <p:cNvPr id="14" name="ïṧḷïḋè"/>
          <p:cNvSpPr/>
          <p:nvPr/>
        </p:nvSpPr>
        <p:spPr>
          <a:xfrm>
            <a:off x="1802478" y="4235064"/>
            <a:ext cx="4882406" cy="415102"/>
          </a:xfrm>
          <a:prstGeom prst="rect">
            <a:avLst/>
          </a:prstGeom>
          <a:noFill/>
          <a:ln>
            <a:noFill/>
          </a:ln>
        </p:spPr>
        <p:txBody>
          <a:bodyPr wrap="square" lIns="91440" tIns="45720" rIns="91440" bIns="45720" anchor="ctr" anchorCtr="0">
            <a:noAutofit/>
          </a:bodyPr>
          <a:lstStyle/>
          <a:p>
            <a:r>
              <a:rPr lang="zh-CN" altLang="en-US" sz="2800" dirty="0">
                <a:solidFill>
                  <a:srgbClr val="0000FF"/>
                </a:solidFill>
              </a:rPr>
              <a:t>公平分享</a:t>
            </a:r>
            <a:r>
              <a:rPr lang="zh-CN" altLang="en-US" sz="2800" dirty="0"/>
              <a:t>调度算法：</a:t>
            </a:r>
            <a:endParaRPr lang="zh-CN" altLang="en-US" sz="2800" dirty="0"/>
          </a:p>
        </p:txBody>
      </p:sp>
      <p:sp>
        <p:nvSpPr>
          <p:cNvPr id="16" name="íšḻíḑê"/>
          <p:cNvSpPr/>
          <p:nvPr/>
        </p:nvSpPr>
        <p:spPr>
          <a:xfrm>
            <a:off x="1802479" y="1469877"/>
            <a:ext cx="4882406" cy="405747"/>
          </a:xfrm>
          <a:prstGeom prst="rect">
            <a:avLst/>
          </a:prstGeom>
          <a:noFill/>
          <a:ln>
            <a:noFill/>
          </a:ln>
        </p:spPr>
        <p:txBody>
          <a:bodyPr wrap="square" lIns="91440" tIns="45720" rIns="91440" bIns="45720" anchor="ctr" anchorCtr="0">
            <a:noAutofit/>
          </a:bodyPr>
          <a:lstStyle/>
          <a:p>
            <a:r>
              <a:rPr lang="zh-CN" altLang="en-US" sz="2800" dirty="0"/>
              <a:t>主要考虑调度的公平性。</a:t>
            </a:r>
            <a:endParaRPr lang="zh-CN" altLang="en-US" sz="2800" dirty="0"/>
          </a:p>
        </p:txBody>
      </p:sp>
      <p:sp>
        <p:nvSpPr>
          <p:cNvPr id="17"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íṥḻîḓe"/>
          <p:cNvSpPr/>
          <p:nvPr/>
        </p:nvSpPr>
        <p:spPr>
          <a:xfrm>
            <a:off x="1118974" y="41524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9" name="îşļiḓè"/>
          <p:cNvSpPr/>
          <p:nvPr/>
        </p:nvSpPr>
        <p:spPr>
          <a:xfrm>
            <a:off x="1118977" y="241602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1"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2" name="íSlíḋe"/>
          <p:cNvSpPr/>
          <p:nvPr/>
        </p:nvSpPr>
        <p:spPr>
          <a:xfrm>
            <a:off x="1309231" y="263804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 name="ïśḷïḓe"/>
          <p:cNvSpPr/>
          <p:nvPr/>
        </p:nvSpPr>
        <p:spPr>
          <a:xfrm>
            <a:off x="1338167" y="434192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60805" y="1584960"/>
            <a:ext cx="9585325" cy="2821305"/>
          </a:xfrm>
          <a:prstGeom prst="rect">
            <a:avLst/>
          </a:prstGeom>
          <a:noFill/>
        </p:spPr>
        <p:txBody>
          <a:bodyPr wrap="square" rtlCol="0" anchor="t">
            <a:noAutofit/>
          </a:bodyPr>
          <a:lstStyle/>
          <a:p>
            <a:pPr>
              <a:lnSpc>
                <a:spcPct val="90000"/>
              </a:lnSpc>
            </a:pPr>
            <a:r>
              <a:rPr lang="zh-CN" altLang="en-US" sz="2600">
                <a:sym typeface="+mn-ea"/>
              </a:rPr>
              <a:t>系统为每个</a:t>
            </a:r>
            <a:r>
              <a:rPr lang="zh-CN" altLang="en-US" sz="2600" b="1">
                <a:solidFill>
                  <a:schemeClr val="accent2"/>
                </a:solidFill>
                <a:sym typeface="+mn-ea"/>
              </a:rPr>
              <a:t>用户</a:t>
            </a:r>
            <a:r>
              <a:rPr lang="zh-CN" altLang="en-US" sz="2600">
                <a:sym typeface="+mn-ea"/>
              </a:rPr>
              <a:t>分配</a:t>
            </a:r>
            <a:r>
              <a:rPr lang="zh-CN" altLang="en-US" sz="2600">
                <a:solidFill>
                  <a:schemeClr val="accent2"/>
                </a:solidFill>
                <a:sym typeface="+mn-ea"/>
              </a:rPr>
              <a:t>一定比例的</a:t>
            </a:r>
            <a:r>
              <a:rPr lang="en-US" altLang="zh-CN" sz="2600">
                <a:solidFill>
                  <a:schemeClr val="accent2"/>
                </a:solidFill>
                <a:sym typeface="+mn-ea"/>
              </a:rPr>
              <a:t>CPU</a:t>
            </a:r>
            <a:r>
              <a:rPr lang="zh-CN" altLang="en-US" sz="2600">
                <a:solidFill>
                  <a:schemeClr val="accent2"/>
                </a:solidFill>
                <a:sym typeface="+mn-ea"/>
              </a:rPr>
              <a:t>时间</a:t>
            </a:r>
            <a:r>
              <a:rPr lang="zh-CN" altLang="en-US" sz="2600">
                <a:sym typeface="+mn-ea"/>
              </a:rPr>
              <a:t>，然后按照这个比例在各用户之间挑选相应的进程。</a:t>
            </a:r>
            <a:endParaRPr lang="zh-CN" altLang="en-US" sz="2600"/>
          </a:p>
          <a:p>
            <a:pPr>
              <a:lnSpc>
                <a:spcPct val="90000"/>
              </a:lnSpc>
            </a:pPr>
            <a:endParaRPr lang="zh-CN" altLang="en-US" sz="2600"/>
          </a:p>
          <a:p>
            <a:pPr>
              <a:lnSpc>
                <a:spcPct val="90000"/>
              </a:lnSpc>
            </a:pPr>
            <a:r>
              <a:rPr lang="zh-CN" altLang="en-US" sz="2600">
                <a:sym typeface="+mn-ea"/>
              </a:rPr>
              <a:t>例如</a:t>
            </a:r>
            <a:r>
              <a:rPr lang="en-US" altLang="zh-CN" sz="2600">
                <a:sym typeface="+mn-ea"/>
              </a:rPr>
              <a:t>:</a:t>
            </a:r>
            <a:endParaRPr lang="en-US" altLang="zh-CN" sz="2600">
              <a:sym typeface="+mn-ea"/>
            </a:endParaRPr>
          </a:p>
          <a:p>
            <a:pPr marL="457200" indent="-457200">
              <a:lnSpc>
                <a:spcPct val="90000"/>
              </a:lnSpc>
              <a:buFont typeface="Arial" panose="020B0604020202020204" pitchFamily="34" charset="0"/>
              <a:buChar char="•"/>
            </a:pPr>
            <a:r>
              <a:rPr lang="en-US" altLang="zh-CN" sz="2600">
                <a:sym typeface="+mn-ea"/>
              </a:rPr>
              <a:t>A</a:t>
            </a:r>
            <a:r>
              <a:rPr lang="zh-CN" altLang="en-US" sz="2600">
                <a:sym typeface="+mn-ea"/>
              </a:rPr>
              <a:t>用户拥有进程</a:t>
            </a:r>
            <a:r>
              <a:rPr lang="en-US" altLang="zh-CN" sz="2600">
                <a:sym typeface="+mn-ea"/>
              </a:rPr>
              <a:t>a1,a2,a3,a4</a:t>
            </a:r>
            <a:r>
              <a:rPr lang="zh-CN" altLang="en-US" sz="2600">
                <a:sym typeface="+mn-ea"/>
              </a:rPr>
              <a:t>，</a:t>
            </a:r>
            <a:r>
              <a:rPr lang="en-US" altLang="zh-CN" sz="2600">
                <a:sym typeface="+mn-ea"/>
              </a:rPr>
              <a:t>B</a:t>
            </a:r>
            <a:r>
              <a:rPr lang="zh-CN" altLang="en-US" sz="2600">
                <a:sym typeface="+mn-ea"/>
              </a:rPr>
              <a:t>用户拥有进程</a:t>
            </a:r>
            <a:r>
              <a:rPr lang="en-US" altLang="zh-CN" sz="2600">
                <a:sym typeface="+mn-ea"/>
              </a:rPr>
              <a:t>b1</a:t>
            </a:r>
            <a:r>
              <a:rPr lang="zh-CN" altLang="en-US" sz="2600">
                <a:sym typeface="+mn-ea"/>
              </a:rPr>
              <a:t>，若每用户拥有</a:t>
            </a:r>
            <a:r>
              <a:rPr lang="en-US" altLang="zh-CN" sz="2600">
                <a:sym typeface="+mn-ea"/>
              </a:rPr>
              <a:t>50%</a:t>
            </a:r>
            <a:r>
              <a:rPr lang="zh-CN" altLang="en-US" sz="2600">
                <a:sym typeface="+mn-ea"/>
              </a:rPr>
              <a:t>的</a:t>
            </a:r>
            <a:r>
              <a:rPr lang="en-US" altLang="zh-CN" sz="2600">
                <a:sym typeface="+mn-ea"/>
              </a:rPr>
              <a:t>CPU</a:t>
            </a:r>
            <a:r>
              <a:rPr lang="zh-CN" altLang="en-US" sz="2600">
                <a:sym typeface="+mn-ea"/>
              </a:rPr>
              <a:t>时间，则调度序列为</a:t>
            </a:r>
            <a:endParaRPr lang="zh-CN" altLang="en-US" sz="2600">
              <a:sym typeface="+mn-ea"/>
            </a:endParaRPr>
          </a:p>
          <a:p>
            <a:pPr>
              <a:lnSpc>
                <a:spcPct val="90000"/>
              </a:lnSpc>
            </a:pPr>
            <a:endParaRPr lang="zh-CN" altLang="en-US" sz="2600">
              <a:sym typeface="+mn-ea"/>
            </a:endParaRPr>
          </a:p>
          <a:p>
            <a:pPr>
              <a:lnSpc>
                <a:spcPct val="90000"/>
              </a:lnSpc>
            </a:pPr>
            <a:r>
              <a:rPr lang="en-US" altLang="zh-CN" sz="2600">
                <a:sym typeface="+mn-ea"/>
              </a:rPr>
              <a:t>           a1,b1,a2,b1,a3,b1,a4,b1</a:t>
            </a:r>
            <a:r>
              <a:rPr lang="en-US" altLang="zh-CN" sz="2600">
                <a:latin typeface="Arial" panose="020B0604020202020204" pitchFamily="34" charset="0"/>
                <a:sym typeface="+mn-ea"/>
              </a:rPr>
              <a:t>……</a:t>
            </a:r>
            <a:endParaRPr lang="en-US" altLang="zh-CN" sz="2600">
              <a:latin typeface="Arial" panose="020B0604020202020204" pitchFamily="34" charset="0"/>
              <a:sym typeface="+mn-ea"/>
            </a:endParaRPr>
          </a:p>
          <a:p>
            <a:pPr>
              <a:lnSpc>
                <a:spcPct val="90000"/>
              </a:lnSpc>
            </a:pPr>
            <a:endParaRPr lang="en-US" altLang="zh-CN" sz="2600"/>
          </a:p>
          <a:p>
            <a:pPr marL="457200" indent="-457200">
              <a:lnSpc>
                <a:spcPct val="90000"/>
              </a:lnSpc>
              <a:buFont typeface="Arial" panose="020B0604020202020204" pitchFamily="34" charset="0"/>
              <a:buChar char="•"/>
            </a:pPr>
            <a:r>
              <a:rPr lang="zh-CN" altLang="en-US" sz="2600">
                <a:sym typeface="+mn-ea"/>
              </a:rPr>
              <a:t>若</a:t>
            </a:r>
            <a:r>
              <a:rPr lang="en-US" altLang="zh-CN" sz="2600">
                <a:sym typeface="+mn-ea"/>
              </a:rPr>
              <a:t>A</a:t>
            </a:r>
            <a:r>
              <a:rPr lang="zh-CN" altLang="en-US" sz="2600">
                <a:sym typeface="+mn-ea"/>
              </a:rPr>
              <a:t>用户是</a:t>
            </a:r>
            <a:r>
              <a:rPr lang="en-US" altLang="zh-CN" sz="2600">
                <a:sym typeface="+mn-ea"/>
              </a:rPr>
              <a:t>B</a:t>
            </a:r>
            <a:r>
              <a:rPr lang="zh-CN" altLang="en-US" sz="2600">
                <a:sym typeface="+mn-ea"/>
              </a:rPr>
              <a:t>用户的</a:t>
            </a:r>
            <a:r>
              <a:rPr lang="en-US" altLang="zh-CN" sz="2600">
                <a:sym typeface="+mn-ea"/>
              </a:rPr>
              <a:t>2</a:t>
            </a:r>
            <a:r>
              <a:rPr lang="zh-CN" altLang="en-US" sz="2600">
                <a:sym typeface="+mn-ea"/>
              </a:rPr>
              <a:t>倍，则调度序列为</a:t>
            </a:r>
            <a:endParaRPr lang="zh-CN" altLang="en-US" sz="2600">
              <a:sym typeface="+mn-ea"/>
            </a:endParaRPr>
          </a:p>
          <a:p>
            <a:pPr indent="0">
              <a:lnSpc>
                <a:spcPct val="90000"/>
              </a:lnSpc>
              <a:buFont typeface="Arial" panose="020B0604020202020204" pitchFamily="34" charset="0"/>
              <a:buNone/>
            </a:pPr>
            <a:r>
              <a:rPr lang="zh-CN" altLang="en-US" sz="2600">
                <a:sym typeface="+mn-ea"/>
              </a:rPr>
              <a:t> </a:t>
            </a:r>
            <a:r>
              <a:rPr lang="en-US" altLang="zh-CN" sz="2600">
                <a:sym typeface="+mn-ea"/>
              </a:rPr>
              <a:t>             </a:t>
            </a:r>
            <a:endParaRPr lang="en-US" altLang="zh-CN" sz="2600">
              <a:sym typeface="+mn-ea"/>
            </a:endParaRPr>
          </a:p>
          <a:p>
            <a:pPr indent="0">
              <a:lnSpc>
                <a:spcPct val="90000"/>
              </a:lnSpc>
              <a:buNone/>
            </a:pPr>
            <a:r>
              <a:rPr lang="en-US" altLang="zh-CN" sz="2600">
                <a:sym typeface="+mn-ea"/>
              </a:rPr>
              <a:t>           a1,a2,b1,a3,a4,b1</a:t>
            </a:r>
            <a:r>
              <a:rPr lang="en-US" altLang="zh-CN" sz="2600">
                <a:latin typeface="Arial" panose="020B0604020202020204" pitchFamily="34" charset="0"/>
                <a:sym typeface="+mn-ea"/>
              </a:rPr>
              <a:t>……</a:t>
            </a:r>
            <a:endParaRPr lang="en-US" altLang="zh-CN" sz="2600">
              <a:latin typeface="Arial" panose="020B0604020202020204" pitchFamily="34"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b="1" dirty="0">
                <a:solidFill>
                  <a:srgbClr val="0000FF"/>
                </a:solidFill>
                <a:latin typeface="+mj-ea"/>
              </a:rPr>
              <a:t>3.4 Linux</a:t>
            </a:r>
            <a:r>
              <a:rPr lang="zh-CN" altLang="en-US" sz="2400" b="1" dirty="0">
                <a:solidFill>
                  <a:srgbClr val="0000FF"/>
                </a:solidFill>
                <a:latin typeface="+mj-ea"/>
              </a:rPr>
              <a:t>进程调度</a:t>
            </a:r>
            <a:endParaRPr lang="en-US" altLang="zh-CN" sz="2400" b="1" dirty="0">
              <a:solidFill>
                <a:srgbClr val="0000FF"/>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Linux</a:t>
            </a:r>
            <a:r>
              <a:rPr lang="zh-CN" altLang="en-US" sz="2800" b="1" dirty="0">
                <a:solidFill>
                  <a:schemeClr val="bg1"/>
                </a:solidFill>
              </a:rPr>
              <a:t>进程调度（</a:t>
            </a:r>
            <a:r>
              <a:rPr lang="en-US" altLang="zh-CN" sz="2800" b="1" dirty="0">
                <a:solidFill>
                  <a:schemeClr val="bg1"/>
                </a:solidFill>
              </a:rPr>
              <a:t>1</a:t>
            </a:r>
            <a:r>
              <a:rPr lang="zh-CN" altLang="en-US" sz="2800" b="1" dirty="0">
                <a:solidFill>
                  <a:schemeClr val="bg1"/>
                </a:solidFill>
              </a:rPr>
              <a:t>）</a:t>
            </a:r>
            <a:endParaRPr lang="zh-CN" altLang="en-US" sz="2800" b="1" dirty="0">
              <a:solidFill>
                <a:schemeClr val="bg1"/>
              </a:solidFill>
            </a:endParaRPr>
          </a:p>
        </p:txBody>
      </p:sp>
      <p:sp>
        <p:nvSpPr>
          <p:cNvPr id="23" name="矩形 22"/>
          <p:cNvSpPr/>
          <p:nvPr/>
        </p:nvSpPr>
        <p:spPr>
          <a:xfrm>
            <a:off x="421351" y="1206373"/>
            <a:ext cx="10850563" cy="1909690"/>
          </a:xfrm>
          <a:prstGeom prst="rect">
            <a:avLst/>
          </a:prstGeom>
        </p:spPr>
        <p:txBody>
          <a:bodyPr wrap="square">
            <a:noAutofit/>
          </a:bodyPr>
          <a:lstStyle/>
          <a:p>
            <a:pPr indent="457200">
              <a:lnSpc>
                <a:spcPct val="132000"/>
              </a:lnSpc>
              <a:spcBef>
                <a:spcPts val="600"/>
              </a:spcBef>
              <a:spcAft>
                <a:spcPts val="600"/>
              </a:spcAft>
            </a:pPr>
            <a:r>
              <a:rPr lang="zh-CN" altLang="en-US" sz="2400" dirty="0">
                <a:latin typeface="+mn-ea"/>
              </a:rPr>
              <a:t>多种调度算法，其中默认调度算法：完全公平调度</a:t>
            </a:r>
            <a:r>
              <a:rPr lang="en-US" altLang="zh-CN" sz="2400" dirty="0">
                <a:latin typeface="+mn-ea"/>
              </a:rPr>
              <a:t>CFS</a:t>
            </a:r>
            <a:r>
              <a:rPr lang="zh-CN" altLang="en-US" sz="2400" dirty="0">
                <a:latin typeface="+mn-ea"/>
              </a:rPr>
              <a:t>算法。</a:t>
            </a:r>
            <a:endParaRPr lang="zh-CN" altLang="en-US" sz="2400" dirty="0">
              <a:latin typeface="+mn-ea"/>
            </a:endParaRPr>
          </a:p>
          <a:p>
            <a:pPr indent="457200">
              <a:lnSpc>
                <a:spcPct val="132000"/>
              </a:lnSpc>
              <a:spcBef>
                <a:spcPts val="600"/>
              </a:spcBef>
              <a:spcAft>
                <a:spcPts val="600"/>
              </a:spcAft>
            </a:pPr>
            <a:r>
              <a:rPr lang="zh-CN" altLang="en-US" sz="2400" dirty="0">
                <a:latin typeface="+mn-ea"/>
              </a:rPr>
              <a:t>基于调度器类：允许不同的可动态添加的调度算法并存，每个类都有一个特定的优先级。</a:t>
            </a:r>
            <a:endParaRPr lang="zh-CN" altLang="en-US" sz="2400" dirty="0">
              <a:latin typeface="+mn-ea"/>
            </a:endParaRPr>
          </a:p>
        </p:txBody>
      </p:sp>
      <p:sp>
        <p:nvSpPr>
          <p:cNvPr id="26" name="íšḻíḑê"/>
          <p:cNvSpPr/>
          <p:nvPr/>
        </p:nvSpPr>
        <p:spPr>
          <a:xfrm>
            <a:off x="1710977" y="3116063"/>
            <a:ext cx="9560937" cy="776549"/>
          </a:xfrm>
          <a:prstGeom prst="rect">
            <a:avLst/>
          </a:prstGeom>
          <a:noFill/>
          <a:ln>
            <a:noFill/>
          </a:ln>
        </p:spPr>
        <p:txBody>
          <a:bodyPr wrap="square" lIns="91440" tIns="45720" rIns="91440" bIns="45720" anchor="ctr" anchorCtr="0">
            <a:noAutofit/>
          </a:bodyPr>
          <a:lstStyle/>
          <a:p>
            <a:r>
              <a:rPr lang="zh-CN" altLang="en-US" sz="2400" dirty="0"/>
              <a:t>总调度器：根据调度器类的优先顺序，依次对调度器类中的进程进行调度。</a:t>
            </a:r>
            <a:endParaRPr lang="zh-CN" altLang="en-US" sz="2400" dirty="0"/>
          </a:p>
        </p:txBody>
      </p:sp>
      <p:sp>
        <p:nvSpPr>
          <p:cNvPr id="29" name="îSļiḓè"/>
          <p:cNvSpPr/>
          <p:nvPr/>
        </p:nvSpPr>
        <p:spPr>
          <a:xfrm>
            <a:off x="897036" y="311606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2" name="íṥḻîḓe"/>
          <p:cNvSpPr/>
          <p:nvPr/>
        </p:nvSpPr>
        <p:spPr>
          <a:xfrm>
            <a:off x="897035" y="517967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5" name="îşļiḓè"/>
          <p:cNvSpPr/>
          <p:nvPr/>
        </p:nvSpPr>
        <p:spPr>
          <a:xfrm>
            <a:off x="897035" y="414786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087291" y="331220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1" name="íSlíḋe"/>
          <p:cNvSpPr/>
          <p:nvPr/>
        </p:nvSpPr>
        <p:spPr>
          <a:xfrm>
            <a:off x="1087289" y="436988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ïśḷïḓe"/>
          <p:cNvSpPr/>
          <p:nvPr/>
        </p:nvSpPr>
        <p:spPr>
          <a:xfrm>
            <a:off x="1116228" y="536913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3" name="íšḻíḑê"/>
          <p:cNvSpPr/>
          <p:nvPr/>
        </p:nvSpPr>
        <p:spPr>
          <a:xfrm>
            <a:off x="1710977" y="4147869"/>
            <a:ext cx="9560937" cy="690462"/>
          </a:xfrm>
          <a:prstGeom prst="rect">
            <a:avLst/>
          </a:prstGeom>
          <a:noFill/>
          <a:ln>
            <a:noFill/>
          </a:ln>
        </p:spPr>
        <p:txBody>
          <a:bodyPr wrap="square" lIns="91440" tIns="45720" rIns="91440" bIns="45720" anchor="ctr" anchorCtr="0">
            <a:noAutofit/>
          </a:bodyPr>
          <a:lstStyle/>
          <a:p>
            <a:r>
              <a:rPr lang="zh-CN" altLang="en-US" sz="2400" dirty="0"/>
              <a:t>调度器类：使用所选的调度器类算法（调度策略）进行内部的调度。</a:t>
            </a:r>
            <a:endParaRPr lang="zh-CN" altLang="en-US" sz="2400" dirty="0"/>
          </a:p>
        </p:txBody>
      </p:sp>
      <p:sp>
        <p:nvSpPr>
          <p:cNvPr id="44" name="íšḻíḑê"/>
          <p:cNvSpPr/>
          <p:nvPr/>
        </p:nvSpPr>
        <p:spPr>
          <a:xfrm>
            <a:off x="1710977" y="5148375"/>
            <a:ext cx="10232449" cy="690462"/>
          </a:xfrm>
          <a:prstGeom prst="rect">
            <a:avLst/>
          </a:prstGeom>
          <a:noFill/>
          <a:ln>
            <a:noFill/>
          </a:ln>
        </p:spPr>
        <p:txBody>
          <a:bodyPr wrap="square" lIns="91440" tIns="45720" rIns="91440" bIns="45720" anchor="ctr" anchorCtr="0">
            <a:noAutofit/>
          </a:bodyPr>
          <a:lstStyle/>
          <a:p>
            <a:r>
              <a:rPr lang="zh-CN" altLang="en-US" sz="2400" dirty="0"/>
              <a:t>调度器类的默认优先级顺序为：</a:t>
            </a:r>
            <a:r>
              <a:rPr lang="en-US" altLang="zh-CN" sz="2400" dirty="0" err="1"/>
              <a:t>Stop_Task</a:t>
            </a:r>
            <a:r>
              <a:rPr lang="zh-CN" altLang="en-US" sz="2400" dirty="0"/>
              <a:t>＞</a:t>
            </a:r>
            <a:r>
              <a:rPr lang="en-US" altLang="zh-CN" sz="2400" dirty="0" err="1">
                <a:solidFill>
                  <a:srgbClr val="FF0000"/>
                </a:solidFill>
              </a:rPr>
              <a:t>Real_Time</a:t>
            </a:r>
            <a:r>
              <a:rPr lang="zh-CN" altLang="en-US" sz="2400" dirty="0"/>
              <a:t>＞</a:t>
            </a:r>
            <a:r>
              <a:rPr lang="en-US" altLang="zh-CN" sz="2400" dirty="0">
                <a:solidFill>
                  <a:srgbClr val="FF0000"/>
                </a:solidFill>
              </a:rPr>
              <a:t>Fair</a:t>
            </a:r>
            <a:r>
              <a:rPr lang="zh-CN" altLang="en-US" sz="2400" dirty="0"/>
              <a:t>＞</a:t>
            </a:r>
            <a:endParaRPr lang="zh-CN" altLang="en-US" sz="2400" dirty="0"/>
          </a:p>
          <a:p>
            <a:r>
              <a:rPr lang="en-US" altLang="zh-CN" sz="2400" dirty="0" err="1"/>
              <a:t>Idle_Task</a:t>
            </a:r>
            <a:endParaRPr lang="en-US" altLang="zh-CN"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Linux</a:t>
            </a:r>
            <a:r>
              <a:rPr lang="zh-CN" altLang="en-US" sz="2800" b="1" dirty="0">
                <a:solidFill>
                  <a:schemeClr val="bg1"/>
                </a:solidFill>
              </a:rPr>
              <a:t>进程调度（</a:t>
            </a:r>
            <a:r>
              <a:rPr lang="en-US" altLang="zh-CN" sz="2800" b="1" dirty="0">
                <a:solidFill>
                  <a:schemeClr val="bg1"/>
                </a:solidFill>
              </a:rPr>
              <a:t>2</a:t>
            </a:r>
            <a:r>
              <a:rPr lang="zh-CN" altLang="en-US" sz="2800" b="1" dirty="0">
                <a:solidFill>
                  <a:schemeClr val="bg1"/>
                </a:solidFill>
              </a:rPr>
              <a:t>）</a:t>
            </a:r>
            <a:endParaRPr lang="zh-CN" altLang="en-US" sz="2800" b="1" dirty="0">
              <a:solidFill>
                <a:schemeClr val="bg1"/>
              </a:solidFill>
            </a:endParaRPr>
          </a:p>
        </p:txBody>
      </p:sp>
      <p:grpSp>
        <p:nvGrpSpPr>
          <p:cNvPr id="571" name="iṡļiḓe"/>
          <p:cNvGrpSpPr/>
          <p:nvPr/>
        </p:nvGrpSpPr>
        <p:grpSpPr>
          <a:xfrm>
            <a:off x="669925" y="1197779"/>
            <a:ext cx="10551450" cy="1562001"/>
            <a:chOff x="660400" y="1787149"/>
            <a:chExt cx="10551450" cy="1562001"/>
          </a:xfrm>
        </p:grpSpPr>
        <p:grpSp>
          <p:nvGrpSpPr>
            <p:cNvPr id="1144" name="iSḻíḓè"/>
            <p:cNvGrpSpPr/>
            <p:nvPr/>
          </p:nvGrpSpPr>
          <p:grpSpPr>
            <a:xfrm>
              <a:off x="1296566" y="1835355"/>
              <a:ext cx="9915284" cy="1513795"/>
              <a:chOff x="1296566" y="1835355"/>
              <a:chExt cx="12505656" cy="1513795"/>
            </a:xfrm>
          </p:grpSpPr>
          <p:sp>
            <p:nvSpPr>
              <p:cNvPr id="1148" name="îṧľîḋé"/>
              <p:cNvSpPr txBox="1"/>
              <p:nvPr/>
            </p:nvSpPr>
            <p:spPr>
              <a:xfrm>
                <a:off x="1296567" y="1835355"/>
                <a:ext cx="6990140"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普通</a:t>
                </a:r>
                <a:r>
                  <a:rPr lang="zh-CN" altLang="en-US" sz="2400" dirty="0"/>
                  <a:t>进程调度：</a:t>
                </a:r>
                <a:endParaRPr lang="zh-CN" altLang="en-US" sz="2400" dirty="0"/>
              </a:p>
            </p:txBody>
          </p:sp>
          <p:sp>
            <p:nvSpPr>
              <p:cNvPr id="1149" name="íşļîḓé"/>
              <p:cNvSpPr/>
              <p:nvPr/>
            </p:nvSpPr>
            <p:spPr bwMode="auto">
              <a:xfrm>
                <a:off x="1296566" y="2279078"/>
                <a:ext cx="12505656" cy="107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t>采用</a:t>
                </a:r>
                <a:r>
                  <a:rPr lang="en-US" altLang="zh-CN" sz="2200" dirty="0"/>
                  <a:t>SCHED_NORMAL</a:t>
                </a:r>
                <a:r>
                  <a:rPr lang="zh-CN" altLang="en-US" sz="2200" dirty="0"/>
                  <a:t>调度策略。</a:t>
                </a:r>
                <a:endParaRPr lang="zh-CN" altLang="en-US" sz="2200" dirty="0"/>
              </a:p>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t>分配优先级、挑选进程并允许、计算使其运行多久。</a:t>
                </a:r>
                <a:endParaRPr lang="zh-CN" altLang="en-US" sz="2200" dirty="0"/>
              </a:p>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en-US" altLang="zh-CN" sz="2200" dirty="0"/>
                  <a:t>CPU</a:t>
                </a:r>
                <a:r>
                  <a:rPr lang="zh-CN" altLang="en-US" sz="2200" dirty="0"/>
                  <a:t>运行时间与友好值（</a:t>
                </a:r>
                <a:r>
                  <a:rPr lang="en-US" altLang="zh-CN" sz="2200" dirty="0"/>
                  <a:t>-20~+19</a:t>
                </a:r>
                <a:r>
                  <a:rPr lang="zh-CN" altLang="en-US" sz="2200" dirty="0"/>
                  <a:t>）有关，数值越低优先级越高。</a:t>
                </a:r>
                <a:endParaRPr lang="zh-CN" altLang="en-US" sz="22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550788"/>
            <a:ext cx="10871097" cy="2766695"/>
            <a:chOff x="660400" y="2092935"/>
            <a:chExt cx="10871097" cy="2766695"/>
          </a:xfrm>
        </p:grpSpPr>
        <p:grpSp>
          <p:nvGrpSpPr>
            <p:cNvPr id="574" name="ïṧļïḓe"/>
            <p:cNvGrpSpPr/>
            <p:nvPr/>
          </p:nvGrpSpPr>
          <p:grpSpPr>
            <a:xfrm>
              <a:off x="1296567" y="2092935"/>
              <a:ext cx="10234930" cy="2766695"/>
              <a:chOff x="1296567" y="2092935"/>
              <a:chExt cx="12908806" cy="2766695"/>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实时</a:t>
                </a:r>
                <a:r>
                  <a:rPr lang="zh-CN" altLang="en-US" sz="2400" dirty="0"/>
                  <a:t>进程调度：</a:t>
                </a:r>
                <a:endParaRPr lang="zh-CN" altLang="en-US" sz="2400" dirty="0"/>
              </a:p>
            </p:txBody>
          </p:sp>
          <p:sp>
            <p:nvSpPr>
              <p:cNvPr id="1143" name="íşľíḑè"/>
              <p:cNvSpPr/>
              <p:nvPr/>
            </p:nvSpPr>
            <p:spPr bwMode="auto">
              <a:xfrm>
                <a:off x="1312585" y="2588235"/>
                <a:ext cx="12892788" cy="2271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Font typeface="Wingdings" panose="05000000000000000000" pitchFamily="2" charset="2"/>
                  <a:buChar char="Ø"/>
                </a:pPr>
                <a:r>
                  <a:rPr lang="zh-CN" altLang="en-US" sz="2200" dirty="0">
                    <a:solidFill>
                      <a:srgbClr val="0000FF"/>
                    </a:solidFill>
                  </a:rPr>
                  <a:t>实时调度的进程比普通进程具有更高的优先级。</a:t>
                </a:r>
                <a:endParaRPr lang="zh-CN" altLang="en-US" sz="2200" dirty="0">
                  <a:solidFill>
                    <a:srgbClr val="0000FF"/>
                  </a:solidFill>
                </a:endParaRPr>
              </a:p>
              <a:p>
                <a:pPr marL="342900" lvl="1" indent="-342900">
                  <a:lnSpc>
                    <a:spcPct val="120000"/>
                  </a:lnSpc>
                  <a:spcBef>
                    <a:spcPts val="600"/>
                  </a:spcBef>
                  <a:buFont typeface="Wingdings" panose="05000000000000000000" pitchFamily="2" charset="2"/>
                  <a:buChar char="Ø"/>
                </a:pPr>
                <a:r>
                  <a:rPr lang="en-US" altLang="zh-CN" sz="2200" dirty="0"/>
                  <a:t>SCHED_FIFO</a:t>
                </a:r>
                <a:r>
                  <a:rPr lang="zh-CN" altLang="en-US" sz="2200" dirty="0"/>
                  <a:t>：进程若处于可执行的状态，就会一直执行，直到它自己被阻塞或者主动放弃</a:t>
                </a:r>
                <a:r>
                  <a:rPr lang="en-US" altLang="zh-CN" sz="2200" dirty="0"/>
                  <a:t>CPU</a:t>
                </a:r>
                <a:r>
                  <a:rPr lang="zh-CN" altLang="en-US" sz="2200" dirty="0"/>
                  <a:t>。</a:t>
                </a:r>
                <a:endParaRPr lang="zh-CN" altLang="en-US" sz="2200" dirty="0"/>
              </a:p>
              <a:p>
                <a:pPr marL="342900" lvl="1" indent="-342900">
                  <a:lnSpc>
                    <a:spcPct val="120000"/>
                  </a:lnSpc>
                  <a:spcBef>
                    <a:spcPts val="600"/>
                  </a:spcBef>
                  <a:buFont typeface="Wingdings" panose="05000000000000000000" pitchFamily="2" charset="2"/>
                  <a:buChar char="Ø"/>
                </a:pPr>
                <a:r>
                  <a:rPr lang="en-US" altLang="zh-CN" sz="2200" dirty="0"/>
                  <a:t>SCHED_RR</a:t>
                </a:r>
                <a:r>
                  <a:rPr lang="zh-CN" altLang="en-US" sz="2200" dirty="0"/>
                  <a:t>：与</a:t>
                </a:r>
                <a:r>
                  <a:rPr lang="en-US" altLang="zh-CN" sz="2200" dirty="0"/>
                  <a:t>SCHED_FIFO</a:t>
                </a:r>
                <a:r>
                  <a:rPr lang="zh-CN" altLang="en-US" sz="2200" dirty="0"/>
                  <a:t>大致相同，只是进程在耗尽其时间片后，不能再执行，而是需要接受</a:t>
                </a:r>
                <a:r>
                  <a:rPr lang="en-US" altLang="zh-CN" sz="2200" dirty="0"/>
                  <a:t>CPU</a:t>
                </a:r>
                <a:r>
                  <a:rPr lang="zh-CN" altLang="en-US" sz="2200" dirty="0"/>
                  <a:t>的调度。</a:t>
                </a:r>
                <a:endParaRPr lang="zh-CN" altLang="en-US" sz="2200"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5" name="直接连接符 4"/>
          <p:cNvCxnSpPr/>
          <p:nvPr/>
        </p:nvCxnSpPr>
        <p:spPr>
          <a:xfrm>
            <a:off x="669925" y="3318115"/>
            <a:ext cx="1086167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0560" y="1211580"/>
            <a:ext cx="10968355" cy="2676525"/>
          </a:xfrm>
          <a:prstGeom prst="rect">
            <a:avLst/>
          </a:prstGeom>
          <a:noFill/>
        </p:spPr>
        <p:txBody>
          <a:bodyPr wrap="square" rtlCol="0" anchor="t">
            <a:spAutoFit/>
          </a:bodyPr>
          <a:lstStyle/>
          <a:p>
            <a:r>
              <a:rPr lang="en-US" altLang="zh-CN" sz="2400"/>
              <a:t>8.</a:t>
            </a:r>
            <a:r>
              <a:rPr lang="zh-CN" altLang="en-US" sz="2400"/>
              <a:t>假定在单</a:t>
            </a:r>
            <a:r>
              <a:rPr lang="en-US" altLang="zh-CN" sz="2400"/>
              <a:t>CPU</a:t>
            </a:r>
            <a:r>
              <a:rPr lang="zh-CN" altLang="en-US" sz="2400"/>
              <a:t>条件下要执行的作业如表</a:t>
            </a:r>
            <a:r>
              <a:rPr lang="en-US" altLang="zh-CN" sz="2400"/>
              <a:t>3-8</a:t>
            </a:r>
            <a:r>
              <a:rPr lang="zh-CN" altLang="en-US" sz="2400"/>
              <a:t>所示。作业到来的时间是按作业编号顺序进行的（即后面作业依次比前一个作业迟到一个时间单位）。</a:t>
            </a:r>
            <a:endParaRPr lang="zh-CN" altLang="en-US" sz="2400"/>
          </a:p>
          <a:p>
            <a:r>
              <a:rPr lang="zh-CN" altLang="en-US" sz="2400"/>
              <a:t>（</a:t>
            </a:r>
            <a:r>
              <a:rPr lang="en-US" altLang="zh-CN" sz="2400"/>
              <a:t>1</a:t>
            </a:r>
            <a:r>
              <a:rPr lang="zh-CN" altLang="en-US" sz="2400"/>
              <a:t>）用一个执行时间图描述使用下列算法时各自执行这些作业的情况：先来先服务法、轮转法（时间片</a:t>
            </a:r>
            <a:r>
              <a:rPr lang="en-US" altLang="zh-CN" sz="2400"/>
              <a:t>=1</a:t>
            </a:r>
            <a:r>
              <a:rPr lang="zh-CN" altLang="en-US" sz="2400"/>
              <a:t>）和非抢占式优先级法。</a:t>
            </a:r>
            <a:endParaRPr lang="zh-CN" altLang="en-US" sz="2400"/>
          </a:p>
          <a:p>
            <a:r>
              <a:rPr lang="zh-CN" altLang="en-US" sz="2400"/>
              <a:t>（</a:t>
            </a:r>
            <a:r>
              <a:rPr lang="en-US" altLang="zh-CN" sz="2400"/>
              <a:t>2</a:t>
            </a:r>
            <a:r>
              <a:rPr lang="zh-CN" altLang="en-US" sz="2400"/>
              <a:t>）对于上述每种算法，各作业的周转时间是多少？平均周转时间是多少？</a:t>
            </a:r>
            <a:endParaRPr lang="zh-CN" altLang="en-US" sz="2400"/>
          </a:p>
          <a:p>
            <a:r>
              <a:rPr lang="zh-CN" altLang="en-US" sz="2400"/>
              <a:t>（</a:t>
            </a:r>
            <a:r>
              <a:rPr lang="en-US" altLang="zh-CN" sz="2400"/>
              <a:t>3</a:t>
            </a:r>
            <a:r>
              <a:rPr lang="zh-CN" altLang="en-US" sz="2400"/>
              <a:t>）对于上述每种算法，各作业的带权周转时间是多少？平均带权周转时间是多少？</a:t>
            </a:r>
            <a:endParaRPr lang="zh-CN" altLang="en-US" sz="2400"/>
          </a:p>
        </p:txBody>
      </p:sp>
      <p:sp>
        <p:nvSpPr>
          <p:cNvPr id="3" name="文本框 2"/>
          <p:cNvSpPr txBox="1"/>
          <p:nvPr/>
        </p:nvSpPr>
        <p:spPr>
          <a:xfrm>
            <a:off x="2035810" y="4016375"/>
            <a:ext cx="6551295" cy="2332990"/>
          </a:xfrm>
          <a:prstGeom prst="rect">
            <a:avLst/>
          </a:prstGeom>
          <a:noFill/>
        </p:spPr>
        <p:txBody>
          <a:bodyPr wrap="square" rtlCol="0" anchor="t">
            <a:noAutofit/>
          </a:bodyPr>
          <a:lstStyle/>
          <a:p>
            <a:r>
              <a:rPr lang="en-US" altLang="zh-CN"/>
              <a:t>|</a:t>
            </a:r>
            <a:r>
              <a:rPr lang="zh-CN" altLang="en-US"/>
              <a:t>作业</a:t>
            </a:r>
            <a:r>
              <a:rPr lang="en-US" altLang="zh-CN"/>
              <a:t>|</a:t>
            </a:r>
            <a:r>
              <a:rPr lang="zh-CN" altLang="en-US"/>
              <a:t>运行时间</a:t>
            </a:r>
            <a:r>
              <a:rPr lang="en-US" altLang="zh-CN"/>
              <a:t>|</a:t>
            </a:r>
            <a:r>
              <a:rPr lang="zh-CN" altLang="en-US"/>
              <a:t>优先级（数值越小优先级越高）</a:t>
            </a:r>
            <a:r>
              <a:rPr lang="en-US" altLang="zh-CN"/>
              <a:t>|</a:t>
            </a:r>
            <a:endParaRPr lang="en-US" altLang="zh-CN"/>
          </a:p>
          <a:p>
            <a:r>
              <a:rPr lang="en-US" altLang="zh-CN"/>
              <a:t>|------|----------|-----------------------------|</a:t>
            </a:r>
            <a:endParaRPr lang="en-US" altLang="zh-CN"/>
          </a:p>
          <a:p>
            <a:r>
              <a:rPr lang="en-US" altLang="zh-CN"/>
              <a:t>|1      |10        |3|</a:t>
            </a:r>
            <a:endParaRPr lang="en-US" altLang="zh-CN"/>
          </a:p>
          <a:p>
            <a:r>
              <a:rPr lang="en-US" altLang="zh-CN"/>
              <a:t>|2      |1          |1|</a:t>
            </a:r>
            <a:endParaRPr lang="en-US" altLang="zh-CN"/>
          </a:p>
          <a:p>
            <a:r>
              <a:rPr lang="en-US" altLang="zh-CN"/>
              <a:t>|3      |2          |3|</a:t>
            </a:r>
            <a:endParaRPr lang="en-US" altLang="zh-CN"/>
          </a:p>
          <a:p>
            <a:r>
              <a:rPr lang="en-US" altLang="zh-CN"/>
              <a:t>|4      |1          |4|</a:t>
            </a:r>
            <a:endParaRPr lang="en-US" altLang="zh-CN"/>
          </a:p>
          <a:p>
            <a:r>
              <a:rPr lang="en-US" altLang="zh-CN"/>
              <a:t>|5      |5          |2|</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l="20174" t="22568" r="34370" b="34912"/>
          <a:stretch>
            <a:fillRect/>
          </a:stretch>
        </p:blipFill>
        <p:spPr>
          <a:xfrm>
            <a:off x="1204595" y="1062355"/>
            <a:ext cx="9006205" cy="479806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IMG_20250331_130110"/>
          <p:cNvPicPr>
            <a:picLocks noChangeAspect="1"/>
          </p:cNvPicPr>
          <p:nvPr/>
        </p:nvPicPr>
        <p:blipFill>
          <a:blip r:embed="rId1"/>
          <a:srcRect l="2809" t="33789" r="3292" b="33178"/>
          <a:stretch>
            <a:fillRect/>
          </a:stretch>
        </p:blipFill>
        <p:spPr>
          <a:xfrm>
            <a:off x="1781810" y="3098165"/>
            <a:ext cx="8072755" cy="2130425"/>
          </a:xfrm>
          <a:prstGeom prst="rect">
            <a:avLst/>
          </a:prstGeom>
        </p:spPr>
      </p:pic>
      <p:sp>
        <p:nvSpPr>
          <p:cNvPr id="3" name="文本框 2"/>
          <p:cNvSpPr txBox="1"/>
          <p:nvPr/>
        </p:nvSpPr>
        <p:spPr>
          <a:xfrm>
            <a:off x="1781810" y="1493520"/>
            <a:ext cx="8072755" cy="1413510"/>
          </a:xfrm>
          <a:prstGeom prst="rect">
            <a:avLst/>
          </a:prstGeom>
          <a:noFill/>
        </p:spPr>
        <p:txBody>
          <a:bodyPr wrap="square" rtlCol="0">
            <a:noAutofit/>
          </a:bodyPr>
          <a:lstStyle/>
          <a:p>
            <a:r>
              <a:rPr lang="en-US" altLang="zh-CN" sz="2400"/>
              <a:t>RR</a:t>
            </a:r>
            <a:r>
              <a:rPr lang="zh-CN" altLang="en-US" sz="2400"/>
              <a:t>轮转法，不同时到达的话，考虑进程切换开销，推演出就绪队列。</a:t>
            </a:r>
            <a:endParaRPr lang="zh-CN" alt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p:cNvPicPr>
            <a:picLocks noChangeAspect="1"/>
          </p:cNvPicPr>
          <p:nvPr/>
        </p:nvPicPr>
        <p:blipFill>
          <a:blip r:embed="rId1"/>
          <a:srcRect l="18764" t="21667" r="24018" b="37634"/>
          <a:stretch>
            <a:fillRect/>
          </a:stretch>
        </p:blipFill>
        <p:spPr>
          <a:xfrm>
            <a:off x="1146810" y="1449705"/>
            <a:ext cx="10431780" cy="417258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
          <p:cNvPicPr>
            <a:picLocks noChangeAspect="1"/>
          </p:cNvPicPr>
          <p:nvPr/>
        </p:nvPicPr>
        <p:blipFill>
          <a:blip r:embed="rId1"/>
          <a:srcRect l="19125" t="19760" r="24946" b="41642"/>
          <a:stretch>
            <a:fillRect/>
          </a:stretch>
        </p:blipFill>
        <p:spPr>
          <a:xfrm>
            <a:off x="442595" y="1235075"/>
            <a:ext cx="11687175" cy="453580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4"/>
          <p:cNvPicPr>
            <a:picLocks noChangeAspect="1"/>
          </p:cNvPicPr>
          <p:nvPr/>
        </p:nvPicPr>
        <p:blipFill>
          <a:blip r:embed="rId1"/>
          <a:srcRect l="18486" t="21046" r="23777" b="39734"/>
          <a:stretch>
            <a:fillRect/>
          </a:stretch>
        </p:blipFill>
        <p:spPr>
          <a:xfrm>
            <a:off x="937260" y="1045210"/>
            <a:ext cx="10476230" cy="400177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6" descr="Cache_259f33a46733e700"/>
          <p:cNvPicPr>
            <a:picLocks noChangeAspect="1"/>
          </p:cNvPicPr>
          <p:nvPr/>
        </p:nvPicPr>
        <p:blipFill>
          <a:blip r:embed="rId1"/>
          <a:srcRect l="45670" t="22897" r="2355" b="29639"/>
          <a:stretch>
            <a:fillRect/>
          </a:stretch>
        </p:blipFill>
        <p:spPr>
          <a:xfrm>
            <a:off x="6212205" y="3018155"/>
            <a:ext cx="4588510" cy="2950210"/>
          </a:xfrm>
          <a:prstGeom prst="rect">
            <a:avLst/>
          </a:prstGeom>
          <a:noFill/>
          <a:ln>
            <a:noFill/>
          </a:ln>
        </p:spPr>
      </p:pic>
      <p:sp>
        <p:nvSpPr>
          <p:cNvPr id="2" name="文本框 1"/>
          <p:cNvSpPr txBox="1"/>
          <p:nvPr/>
        </p:nvSpPr>
        <p:spPr>
          <a:xfrm>
            <a:off x="1075055" y="1177290"/>
            <a:ext cx="10405110" cy="1073785"/>
          </a:xfrm>
          <a:prstGeom prst="rect">
            <a:avLst/>
          </a:prstGeom>
          <a:noFill/>
        </p:spPr>
        <p:txBody>
          <a:bodyPr wrap="square" rtlCol="0" anchor="t">
            <a:noAutofit/>
          </a:bodyPr>
          <a:lstStyle/>
          <a:p>
            <a:r>
              <a:rPr lang="en-US" altLang="zh-CN" sz="2800"/>
              <a:t>9.</a:t>
            </a:r>
            <a:r>
              <a:rPr lang="zh-CN" altLang="en-US" sz="2800"/>
              <a:t>在一个有两道作业的批处理系统中，作业调度采用短作业优先调度算法，进程调度采用抢占式优先级调度算法。设作业序列如表</a:t>
            </a:r>
            <a:r>
              <a:rPr lang="en-US" altLang="zh-CN" sz="2800"/>
              <a:t>3-9</a:t>
            </a:r>
            <a:r>
              <a:rPr lang="zh-CN" altLang="en-US" sz="2800"/>
              <a:t>所示。其中给出的作业优先数即为相应进程的优先数，其数值越小，优先级越高。</a:t>
            </a:r>
            <a:endParaRPr lang="zh-CN" altLang="en-US" sz="2800"/>
          </a:p>
        </p:txBody>
      </p:sp>
      <p:sp>
        <p:nvSpPr>
          <p:cNvPr id="3" name="文本框 2"/>
          <p:cNvSpPr txBox="1"/>
          <p:nvPr/>
        </p:nvSpPr>
        <p:spPr>
          <a:xfrm>
            <a:off x="1243330" y="3429000"/>
            <a:ext cx="4853305" cy="2775585"/>
          </a:xfrm>
          <a:prstGeom prst="rect">
            <a:avLst/>
          </a:prstGeom>
          <a:noFill/>
        </p:spPr>
        <p:txBody>
          <a:bodyPr wrap="square" rtlCol="0" anchor="t">
            <a:noAutofit/>
          </a:bodyPr>
          <a:lstStyle/>
          <a:p>
            <a:r>
              <a:rPr lang="zh-CN" altLang="en-US" sz="2400"/>
              <a:t>要求：</a:t>
            </a:r>
            <a:endParaRPr lang="zh-CN" altLang="en-US" sz="2400"/>
          </a:p>
          <a:p>
            <a:r>
              <a:rPr lang="zh-CN" altLang="en-US" sz="2400"/>
              <a:t>（</a:t>
            </a:r>
            <a:r>
              <a:rPr lang="en-US" altLang="zh-CN" sz="2400"/>
              <a:t>1</a:t>
            </a:r>
            <a:r>
              <a:rPr lang="zh-CN" altLang="en-US" sz="2400"/>
              <a:t>）列出所有作业进入内存的时间及结束时间。</a:t>
            </a:r>
            <a:endParaRPr lang="zh-CN" altLang="en-US" sz="2400"/>
          </a:p>
          <a:p>
            <a:r>
              <a:rPr lang="zh-CN" altLang="en-US" sz="2400"/>
              <a:t>（</a:t>
            </a:r>
            <a:r>
              <a:rPr lang="en-US" altLang="zh-CN" sz="2400"/>
              <a:t>2</a:t>
            </a:r>
            <a:r>
              <a:rPr lang="zh-CN" altLang="en-US" sz="2400"/>
              <a:t>）计算平均周转时间和平均带权周转时间。</a:t>
            </a:r>
            <a:endParaRPr lang="zh-CN" altLang="en-US" sz="2400"/>
          </a:p>
          <a:p>
            <a:r>
              <a:rPr lang="zh-CN" altLang="en-US" sz="2400"/>
              <a:t>（</a:t>
            </a:r>
            <a:r>
              <a:rPr lang="en-US" altLang="zh-CN" sz="2400"/>
              <a:t>3</a:t>
            </a:r>
            <a:r>
              <a:rPr lang="zh-CN" altLang="en-US" sz="2400"/>
              <a:t>）如果进程调度采用非抢占式优先级法，结果如何？</a:t>
            </a:r>
            <a:endParaRPr lang="zh-CN" alt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
          <p:cNvPicPr>
            <a:picLocks noChangeAspect="1"/>
          </p:cNvPicPr>
          <p:nvPr/>
        </p:nvPicPr>
        <p:blipFill>
          <a:blip r:embed="rId1"/>
          <a:srcRect l="18872" t="22803" r="24162" b="14381"/>
          <a:stretch>
            <a:fillRect/>
          </a:stretch>
        </p:blipFill>
        <p:spPr>
          <a:xfrm>
            <a:off x="1777365" y="903605"/>
            <a:ext cx="8162290" cy="50609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7"/>
          <p:cNvPicPr>
            <a:picLocks noChangeAspect="1"/>
          </p:cNvPicPr>
          <p:nvPr/>
        </p:nvPicPr>
        <p:blipFill>
          <a:blip r:embed="rId1"/>
          <a:srcRect l="18872" t="19353" r="23777" b="11595"/>
          <a:stretch>
            <a:fillRect/>
          </a:stretch>
        </p:blipFill>
        <p:spPr>
          <a:xfrm>
            <a:off x="1881505" y="1131570"/>
            <a:ext cx="7822565" cy="52959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46530" y="1321435"/>
            <a:ext cx="9062720" cy="4518660"/>
          </a:xfrm>
          <a:prstGeom prst="rect">
            <a:avLst/>
          </a:prstGeom>
          <a:noFill/>
        </p:spPr>
        <p:txBody>
          <a:bodyPr wrap="square" rtlCol="0" anchor="t">
            <a:noAutofit/>
          </a:bodyPr>
          <a:lstStyle/>
          <a:p>
            <a:r>
              <a:rPr lang="zh-CN" altLang="en-US" sz="2400"/>
              <a:t>第</a:t>
            </a:r>
            <a:r>
              <a:rPr lang="en-US" altLang="zh-CN" sz="2400"/>
              <a:t>10</a:t>
            </a:r>
            <a:r>
              <a:rPr lang="zh-CN" altLang="en-US" sz="2400"/>
              <a:t>题</a:t>
            </a:r>
            <a:endParaRPr lang="zh-CN" altLang="en-US" sz="2400"/>
          </a:p>
          <a:p>
            <a:r>
              <a:rPr lang="zh-CN" altLang="en-US" sz="2400"/>
              <a:t>有</a:t>
            </a:r>
            <a:r>
              <a:rPr lang="en-US" altLang="zh-CN" sz="2400"/>
              <a:t>5</a:t>
            </a:r>
            <a:r>
              <a:rPr lang="zh-CN" altLang="en-US" sz="2400"/>
              <a:t>个待运行作业</a:t>
            </a:r>
            <a:r>
              <a:rPr lang="en-US" altLang="zh-CN" sz="2400"/>
              <a:t>J1</a:t>
            </a:r>
            <a:r>
              <a:rPr lang="zh-CN" altLang="en-US" sz="2400"/>
              <a:t>、</a:t>
            </a:r>
            <a:r>
              <a:rPr lang="en-US" altLang="zh-CN" sz="2400"/>
              <a:t>J2</a:t>
            </a:r>
            <a:r>
              <a:rPr lang="zh-CN" altLang="en-US" sz="2400"/>
              <a:t>、</a:t>
            </a:r>
            <a:r>
              <a:rPr lang="en-US" altLang="zh-CN" sz="2400"/>
              <a:t>J3</a:t>
            </a:r>
            <a:r>
              <a:rPr lang="zh-CN" altLang="en-US" sz="2400"/>
              <a:t>、</a:t>
            </a:r>
            <a:r>
              <a:rPr lang="en-US" altLang="zh-CN" sz="2400"/>
              <a:t>J4</a:t>
            </a:r>
            <a:r>
              <a:rPr lang="zh-CN" altLang="en-US" sz="2400"/>
              <a:t>、</a:t>
            </a:r>
            <a:r>
              <a:rPr lang="en-US" altLang="zh-CN" sz="2400"/>
              <a:t>J5</a:t>
            </a:r>
            <a:r>
              <a:rPr lang="zh-CN" altLang="en-US" sz="2400"/>
              <a:t>，各自预计运行时间分别是</a:t>
            </a:r>
            <a:r>
              <a:rPr lang="en-US" altLang="zh-CN" sz="2400"/>
              <a:t>9</a:t>
            </a:r>
            <a:r>
              <a:rPr lang="zh-CN" altLang="en-US" sz="2400"/>
              <a:t>、</a:t>
            </a:r>
            <a:r>
              <a:rPr lang="en-US" altLang="zh-CN" sz="2400"/>
              <a:t>6</a:t>
            </a:r>
            <a:r>
              <a:rPr lang="zh-CN" altLang="en-US" sz="2400"/>
              <a:t>、</a:t>
            </a:r>
            <a:r>
              <a:rPr lang="en-US" altLang="zh-CN" sz="2400"/>
              <a:t>3</a:t>
            </a:r>
            <a:r>
              <a:rPr lang="zh-CN" altLang="en-US" sz="2400"/>
              <a:t>、</a:t>
            </a:r>
            <a:r>
              <a:rPr lang="en-US" altLang="zh-CN" sz="2400"/>
              <a:t>5</a:t>
            </a:r>
            <a:r>
              <a:rPr lang="zh-CN" altLang="en-US" sz="2400"/>
              <a:t>和</a:t>
            </a:r>
            <a:r>
              <a:rPr lang="en-US" altLang="zh-CN" sz="2400"/>
              <a:t>7</a:t>
            </a:r>
            <a:r>
              <a:rPr lang="zh-CN" altLang="en-US" sz="2400"/>
              <a:t>时间单位。假定这些作业同时到达，并且在一台处理机上按单道方式执行。讨论采用哪种调度算法和哪种运行次序将使平均周转时间最短？平均周转时间为多少？</a:t>
            </a:r>
            <a:endParaRPr lang="zh-CN" altLang="en-US"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8"/>
          <p:cNvPicPr>
            <a:picLocks noChangeAspect="1"/>
          </p:cNvPicPr>
          <p:nvPr/>
        </p:nvPicPr>
        <p:blipFill>
          <a:blip r:embed="rId1"/>
          <a:srcRect l="20294" t="21582" r="29585" b="17553"/>
          <a:stretch>
            <a:fillRect/>
          </a:stretch>
        </p:blipFill>
        <p:spPr>
          <a:xfrm>
            <a:off x="2219960" y="782320"/>
            <a:ext cx="8015605" cy="547306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f458c752-2672-4bed-9793-aafb56eb90d4"/>
          <p:cNvPicPr>
            <a:picLocks noChangeAspect="1"/>
          </p:cNvPicPr>
          <p:nvPr/>
        </p:nvPicPr>
        <p:blipFill>
          <a:blip r:embed="rId1"/>
          <a:stretch>
            <a:fillRect/>
          </a:stretch>
        </p:blipFill>
        <p:spPr>
          <a:xfrm>
            <a:off x="487680" y="714375"/>
            <a:ext cx="11398885" cy="44069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descr="e2caa19d-1206-4f80-a77a-3d2b8d4a7945"/>
          <p:cNvPicPr>
            <a:picLocks noChangeAspect="1"/>
          </p:cNvPicPr>
          <p:nvPr/>
        </p:nvPicPr>
        <p:blipFill>
          <a:blip r:embed="rId1"/>
          <a:stretch>
            <a:fillRect/>
          </a:stretch>
        </p:blipFill>
        <p:spPr>
          <a:xfrm>
            <a:off x="393700" y="650240"/>
            <a:ext cx="11475720" cy="482854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e1170bee-011c-4e42-90ff-f5bc8c37bfbb"/>
          <p:cNvPicPr>
            <a:picLocks noChangeAspect="1"/>
          </p:cNvPicPr>
          <p:nvPr/>
        </p:nvPicPr>
        <p:blipFill>
          <a:blip r:embed="rId1"/>
          <a:stretch>
            <a:fillRect/>
          </a:stretch>
        </p:blipFill>
        <p:spPr>
          <a:xfrm>
            <a:off x="496570" y="470535"/>
            <a:ext cx="11181715" cy="588708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054a3012-4c89-40a4-a390-805f189cd552"/>
          <p:cNvPicPr>
            <a:picLocks noChangeAspect="1"/>
          </p:cNvPicPr>
          <p:nvPr/>
        </p:nvPicPr>
        <p:blipFill>
          <a:blip r:embed="rId1"/>
          <a:stretch>
            <a:fillRect/>
          </a:stretch>
        </p:blipFill>
        <p:spPr>
          <a:xfrm>
            <a:off x="871855" y="301625"/>
            <a:ext cx="10242550" cy="592963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9b04d385-2670-4838-b66f-b6c5a0c58d5b"/>
          <p:cNvPicPr>
            <a:picLocks noChangeAspect="1"/>
          </p:cNvPicPr>
          <p:nvPr/>
        </p:nvPicPr>
        <p:blipFill>
          <a:blip r:embed="rId1"/>
          <a:stretch>
            <a:fillRect/>
          </a:stretch>
        </p:blipFill>
        <p:spPr>
          <a:xfrm>
            <a:off x="1362710" y="273050"/>
            <a:ext cx="9317355" cy="633603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45242d56-8898-4822-ba67-474e01c43410"/>
          <p:cNvPicPr>
            <a:picLocks noChangeAspect="1"/>
          </p:cNvPicPr>
          <p:nvPr/>
        </p:nvPicPr>
        <p:blipFill>
          <a:blip r:embed="rId1"/>
          <a:stretch>
            <a:fillRect/>
          </a:stretch>
        </p:blipFill>
        <p:spPr>
          <a:xfrm>
            <a:off x="508635" y="662940"/>
            <a:ext cx="11240135" cy="507428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97a19dbb-6d8e-40a3-b598-0d10bae0cfc6"/>
          <p:cNvPicPr>
            <a:picLocks noChangeAspect="1"/>
          </p:cNvPicPr>
          <p:nvPr/>
        </p:nvPicPr>
        <p:blipFill>
          <a:blip r:embed="rId1"/>
          <a:stretch>
            <a:fillRect/>
          </a:stretch>
        </p:blipFill>
        <p:spPr>
          <a:xfrm>
            <a:off x="365125" y="770890"/>
            <a:ext cx="11677650" cy="306959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b="1" dirty="0">
                <a:solidFill>
                  <a:srgbClr val="0000FF"/>
                </a:solidFill>
                <a:latin typeface="+mj-ea"/>
              </a:rPr>
              <a:t>3.5 </a:t>
            </a:r>
            <a:r>
              <a:rPr lang="zh-CN" altLang="en-US" sz="2400" b="1" dirty="0">
                <a:solidFill>
                  <a:srgbClr val="0000FF"/>
                </a:solidFill>
                <a:latin typeface="+mj-ea"/>
              </a:rPr>
              <a:t>死锁概述</a:t>
            </a:r>
            <a:endParaRPr lang="zh-CN" altLang="en-US" sz="2400" b="1" dirty="0">
              <a:solidFill>
                <a:srgbClr val="0000FF"/>
              </a:solidFill>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死锁概念</a:t>
            </a:r>
            <a:endParaRPr lang="zh-CN" altLang="en-US" sz="2800" b="1" dirty="0">
              <a:solidFill>
                <a:schemeClr val="bg1"/>
              </a:solidFill>
            </a:endParaRPr>
          </a:p>
        </p:txBody>
      </p:sp>
      <p:sp>
        <p:nvSpPr>
          <p:cNvPr id="29" name="矩形 28"/>
          <p:cNvSpPr/>
          <p:nvPr/>
        </p:nvSpPr>
        <p:spPr>
          <a:xfrm>
            <a:off x="669925" y="1206373"/>
            <a:ext cx="10601989" cy="1909690"/>
          </a:xfrm>
          <a:prstGeom prst="rect">
            <a:avLst/>
          </a:prstGeom>
        </p:spPr>
        <p:txBody>
          <a:bodyPr wrap="square">
            <a:noAutofit/>
          </a:bodyPr>
          <a:lstStyle/>
          <a:p>
            <a:pPr indent="457200">
              <a:lnSpc>
                <a:spcPct val="132000"/>
              </a:lnSpc>
              <a:spcBef>
                <a:spcPts val="600"/>
              </a:spcBef>
              <a:spcAft>
                <a:spcPts val="600"/>
              </a:spcAft>
            </a:pPr>
            <a:r>
              <a:rPr lang="zh-CN" altLang="en-US" sz="2400" dirty="0">
                <a:solidFill>
                  <a:srgbClr val="FF0000"/>
                </a:solidFill>
                <a:latin typeface="+mn-ea"/>
              </a:rPr>
              <a:t>死锁（</a:t>
            </a:r>
            <a:r>
              <a:rPr lang="en-US" altLang="zh-CN" sz="2400" dirty="0">
                <a:latin typeface="+mn-ea"/>
              </a:rPr>
              <a:t>Deadlock</a:t>
            </a:r>
            <a:r>
              <a:rPr lang="zh-CN" altLang="en-US" sz="2400" dirty="0">
                <a:latin typeface="+mn-ea"/>
              </a:rPr>
              <a:t>）：指多个进程在运行过程中因争夺资源而造成的一种僵局，当进程处于这种僵持状态时，若无外力作用，这些进程都将永远不能再向前推进。</a:t>
            </a:r>
            <a:endParaRPr lang="zh-CN" altLang="en-US" sz="2400" dirty="0">
              <a:latin typeface="+mn-ea"/>
            </a:endParaRPr>
          </a:p>
        </p:txBody>
      </p:sp>
      <p:pic>
        <p:nvPicPr>
          <p:cNvPr id="31" name="Picture 11" descr="1_1-63-1443_200310281343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1583" y="2835245"/>
            <a:ext cx="4707061" cy="3277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10"/>
          <p:cNvGrpSpPr/>
          <p:nvPr/>
        </p:nvGrpSpPr>
        <p:grpSpPr bwMode="auto">
          <a:xfrm>
            <a:off x="5831426" y="2924021"/>
            <a:ext cx="5342987" cy="2961873"/>
            <a:chOff x="672" y="1776"/>
            <a:chExt cx="2208" cy="1632"/>
          </a:xfrm>
        </p:grpSpPr>
        <p:sp>
          <p:nvSpPr>
            <p:cNvPr id="34" name="AutoShape 5"/>
            <p:cNvSpPr>
              <a:spLocks noChangeArrowheads="1"/>
            </p:cNvSpPr>
            <p:nvPr/>
          </p:nvSpPr>
          <p:spPr bwMode="auto">
            <a:xfrm>
              <a:off x="672" y="2928"/>
              <a:ext cx="1536" cy="384"/>
            </a:xfrm>
            <a:prstGeom prst="rightArrow">
              <a:avLst>
                <a:gd name="adj1" fmla="val 50000"/>
                <a:gd name="adj2" fmla="val 100000"/>
              </a:avLst>
            </a:prstGeom>
            <a:solidFill>
              <a:srgbClr val="0000CC"/>
            </a:solidFill>
            <a:ln w="2857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6" name="AutoShape 7"/>
            <p:cNvSpPr>
              <a:spLocks noChangeArrowheads="1"/>
            </p:cNvSpPr>
            <p:nvPr/>
          </p:nvSpPr>
          <p:spPr bwMode="auto">
            <a:xfrm>
              <a:off x="1344" y="1872"/>
              <a:ext cx="1536" cy="432"/>
            </a:xfrm>
            <a:prstGeom prst="leftArrow">
              <a:avLst>
                <a:gd name="adj1" fmla="val 50000"/>
                <a:gd name="adj2" fmla="val 88889"/>
              </a:avLst>
            </a:prstGeom>
            <a:solidFill>
              <a:srgbClr val="0000CC"/>
            </a:solidFill>
            <a:ln w="2857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8" name="AutoShape 8"/>
            <p:cNvSpPr>
              <a:spLocks noChangeArrowheads="1"/>
            </p:cNvSpPr>
            <p:nvPr/>
          </p:nvSpPr>
          <p:spPr bwMode="auto">
            <a:xfrm>
              <a:off x="2064" y="2208"/>
              <a:ext cx="480" cy="1200"/>
            </a:xfrm>
            <a:prstGeom prst="upArrow">
              <a:avLst>
                <a:gd name="adj1" fmla="val 50000"/>
                <a:gd name="adj2" fmla="val 62500"/>
              </a:avLst>
            </a:prstGeom>
            <a:solidFill>
              <a:srgbClr val="0000CC"/>
            </a:solidFill>
            <a:ln w="2857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9" name="AutoShape 9"/>
            <p:cNvSpPr>
              <a:spLocks noChangeArrowheads="1"/>
            </p:cNvSpPr>
            <p:nvPr/>
          </p:nvSpPr>
          <p:spPr bwMode="auto">
            <a:xfrm>
              <a:off x="960" y="1776"/>
              <a:ext cx="480" cy="1200"/>
            </a:xfrm>
            <a:prstGeom prst="downArrow">
              <a:avLst>
                <a:gd name="adj1" fmla="val 50000"/>
                <a:gd name="adj2" fmla="val 62500"/>
              </a:avLst>
            </a:prstGeom>
            <a:solidFill>
              <a:srgbClr val="0000CC"/>
            </a:solidFill>
            <a:ln w="2857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资源分类</a:t>
            </a:r>
            <a:endParaRPr lang="zh-CN" altLang="en-US" sz="2800" b="1" dirty="0">
              <a:solidFill>
                <a:schemeClr val="bg1"/>
              </a:solidFill>
            </a:endParaRPr>
          </a:p>
        </p:txBody>
      </p:sp>
      <p:grpSp>
        <p:nvGrpSpPr>
          <p:cNvPr id="571" name="iṡļiḓe"/>
          <p:cNvGrpSpPr/>
          <p:nvPr/>
        </p:nvGrpSpPr>
        <p:grpSpPr>
          <a:xfrm>
            <a:off x="669925" y="1197779"/>
            <a:ext cx="10551450" cy="1562001"/>
            <a:chOff x="660400" y="1787149"/>
            <a:chExt cx="10551450" cy="1562001"/>
          </a:xfrm>
        </p:grpSpPr>
        <p:grpSp>
          <p:nvGrpSpPr>
            <p:cNvPr id="1144" name="iSḻíḓè"/>
            <p:cNvGrpSpPr/>
            <p:nvPr/>
          </p:nvGrpSpPr>
          <p:grpSpPr>
            <a:xfrm>
              <a:off x="1296566" y="1835355"/>
              <a:ext cx="9915284" cy="1513795"/>
              <a:chOff x="1296566" y="1835355"/>
              <a:chExt cx="12505656" cy="1513795"/>
            </a:xfrm>
          </p:grpSpPr>
          <p:sp>
            <p:nvSpPr>
              <p:cNvPr id="1148" name="îṧľîḋé"/>
              <p:cNvSpPr txBox="1"/>
              <p:nvPr/>
            </p:nvSpPr>
            <p:spPr>
              <a:xfrm>
                <a:off x="1296567" y="1835355"/>
                <a:ext cx="6990140"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可重用性资源和可消耗性资源</a:t>
                </a:r>
                <a:endParaRPr lang="zh-CN" altLang="en-US" sz="2400" dirty="0"/>
              </a:p>
            </p:txBody>
          </p:sp>
          <p:sp>
            <p:nvSpPr>
              <p:cNvPr id="1149" name="íşļîḓé"/>
              <p:cNvSpPr/>
              <p:nvPr/>
            </p:nvSpPr>
            <p:spPr bwMode="auto">
              <a:xfrm>
                <a:off x="1296566" y="2279078"/>
                <a:ext cx="12505656" cy="107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solidFill>
                      <a:srgbClr val="FF0000"/>
                    </a:solidFill>
                  </a:rPr>
                  <a:t>可重用性资源</a:t>
                </a:r>
                <a:r>
                  <a:rPr lang="zh-CN" altLang="en-US" sz="2200" dirty="0"/>
                  <a:t>（临界资源）：一次只能分配给一个进程，不允许多个进程共享，遵循：请求资源</a:t>
                </a:r>
                <a:r>
                  <a:rPr lang="en-US" altLang="zh-CN" sz="2200" dirty="0"/>
                  <a:t>--</a:t>
                </a:r>
                <a:r>
                  <a:rPr lang="zh-CN" altLang="en-US" sz="2200" dirty="0"/>
                  <a:t>使用资源</a:t>
                </a:r>
                <a:r>
                  <a:rPr lang="en-US" altLang="zh-CN" sz="2200" dirty="0"/>
                  <a:t>--</a:t>
                </a:r>
                <a:r>
                  <a:rPr lang="zh-CN" altLang="en-US" sz="2200" dirty="0"/>
                  <a:t>释放资源 （大部分资源）。</a:t>
                </a:r>
                <a:endParaRPr lang="zh-CN" altLang="en-US" sz="2200" dirty="0"/>
              </a:p>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solidFill>
                      <a:srgbClr val="FF0000"/>
                    </a:solidFill>
                  </a:rPr>
                  <a:t>可消耗性资源</a:t>
                </a:r>
                <a:r>
                  <a:rPr lang="zh-CN" altLang="en-US" sz="2200" dirty="0"/>
                  <a:t>：由进程动态创建和消耗 （进程间通信的消息）。</a:t>
                </a:r>
                <a:endParaRPr lang="zh-CN" altLang="en-US" sz="2200" dirty="0"/>
              </a:p>
            </p:txBody>
          </p:sp>
        </p:grpSp>
        <p:grpSp>
          <p:nvGrpSpPr>
            <p:cNvPr id="1145" name="ïS1íḋé"/>
            <p:cNvGrpSpPr/>
            <p:nvPr/>
          </p:nvGrpSpPr>
          <p:grpSpPr>
            <a:xfrm>
              <a:off x="660400" y="1787149"/>
              <a:ext cx="497734" cy="497734"/>
              <a:chOff x="660400" y="1787149"/>
              <a:chExt cx="497734" cy="497734"/>
            </a:xfrm>
          </p:grpSpPr>
          <p:sp>
            <p:nvSpPr>
              <p:cNvPr id="1146"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7"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572" name="iŝļïḓê"/>
          <p:cNvGrpSpPr/>
          <p:nvPr/>
        </p:nvGrpSpPr>
        <p:grpSpPr>
          <a:xfrm>
            <a:off x="660400" y="3550788"/>
            <a:ext cx="10871201" cy="2343981"/>
            <a:chOff x="660400" y="2092935"/>
            <a:chExt cx="10871201" cy="2343981"/>
          </a:xfrm>
        </p:grpSpPr>
        <p:grpSp>
          <p:nvGrpSpPr>
            <p:cNvPr id="574" name="ïṧļïḓe"/>
            <p:cNvGrpSpPr/>
            <p:nvPr/>
          </p:nvGrpSpPr>
          <p:grpSpPr>
            <a:xfrm>
              <a:off x="1296567" y="2092935"/>
              <a:ext cx="10235034" cy="2343981"/>
              <a:chOff x="1296567" y="2092935"/>
              <a:chExt cx="12908937" cy="2343981"/>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可抢占性和不可抢占性资源</a:t>
                </a:r>
                <a:endParaRPr lang="zh-CN" altLang="en-US" sz="2400" dirty="0"/>
              </a:p>
            </p:txBody>
          </p:sp>
          <p:sp>
            <p:nvSpPr>
              <p:cNvPr id="1143" name="íşľíḑè"/>
              <p:cNvSpPr/>
              <p:nvPr/>
            </p:nvSpPr>
            <p:spPr bwMode="auto">
              <a:xfrm>
                <a:off x="1312811" y="2588173"/>
                <a:ext cx="12892693" cy="1848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Font typeface="Wingdings" panose="05000000000000000000" pitchFamily="2" charset="2"/>
                  <a:buChar char="Ø"/>
                </a:pPr>
                <a:r>
                  <a:rPr lang="zh-CN" altLang="en-US" sz="2200" dirty="0">
                    <a:solidFill>
                      <a:srgbClr val="FF0000"/>
                    </a:solidFill>
                  </a:rPr>
                  <a:t>可抢占性资源</a:t>
                </a:r>
                <a:r>
                  <a:rPr lang="zh-CN" altLang="en-US" sz="2200" dirty="0"/>
                  <a:t>：某进程在获得这类资源后，该资源可以再被其他进程或系统抢占，</a:t>
                </a:r>
                <a:r>
                  <a:rPr lang="en-US" altLang="zh-CN" sz="2200" b="1" dirty="0"/>
                  <a:t>CPU</a:t>
                </a:r>
                <a:r>
                  <a:rPr lang="zh-CN" altLang="en-US" sz="2200" b="1" dirty="0"/>
                  <a:t>（处理机）</a:t>
                </a:r>
                <a:r>
                  <a:rPr lang="zh-CN" altLang="en-US" sz="2200" dirty="0"/>
                  <a:t>和</a:t>
                </a:r>
                <a:r>
                  <a:rPr lang="zh-CN" altLang="en-US" sz="2200" b="1" dirty="0"/>
                  <a:t>主存区。不会产生不良影响。</a:t>
                </a:r>
                <a:endParaRPr lang="zh-CN" altLang="en-US" sz="2200" b="1" dirty="0"/>
              </a:p>
              <a:p>
                <a:pPr marL="342900" lvl="1" indent="-342900">
                  <a:lnSpc>
                    <a:spcPct val="120000"/>
                  </a:lnSpc>
                  <a:spcBef>
                    <a:spcPts val="600"/>
                  </a:spcBef>
                  <a:buFont typeface="Wingdings" panose="05000000000000000000" pitchFamily="2" charset="2"/>
                  <a:buChar char="Ø"/>
                </a:pPr>
                <a:r>
                  <a:rPr lang="zh-CN" altLang="en-US" sz="2200" dirty="0">
                    <a:solidFill>
                      <a:srgbClr val="FF0000"/>
                    </a:solidFill>
                  </a:rPr>
                  <a:t>不可抢占资源</a:t>
                </a:r>
                <a:r>
                  <a:rPr lang="zh-CN" altLang="en-US" sz="2200" dirty="0"/>
                  <a:t>：当系统把这类资源分配给某进程后，再不能强行收回，只能在进程用完后自行释放，比如</a:t>
                </a:r>
                <a:r>
                  <a:rPr lang="zh-CN" altLang="en-US" sz="2200" b="1" dirty="0"/>
                  <a:t>刻录机</a:t>
                </a:r>
                <a:r>
                  <a:rPr lang="zh-CN" altLang="en-US" sz="2200" dirty="0"/>
                  <a:t>、</a:t>
                </a:r>
                <a:r>
                  <a:rPr lang="zh-CN" altLang="en-US" sz="2200" b="1" dirty="0"/>
                  <a:t>打印机、磁带机。</a:t>
                </a:r>
                <a:r>
                  <a:rPr lang="zh-CN" altLang="en-US" sz="2200" b="1" dirty="0">
                    <a:solidFill>
                      <a:srgbClr val="FF0000"/>
                    </a:solidFill>
                  </a:rPr>
                  <a:t>和死锁有关</a:t>
                </a:r>
                <a:r>
                  <a:rPr lang="zh-CN" altLang="en-US" sz="2200" b="1" dirty="0"/>
                  <a:t>。</a:t>
                </a:r>
                <a:endParaRPr lang="zh-CN" altLang="en-US" sz="2200" b="1"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5" name="直接连接符 4"/>
          <p:cNvCxnSpPr/>
          <p:nvPr/>
        </p:nvCxnSpPr>
        <p:spPr>
          <a:xfrm>
            <a:off x="669925" y="3318115"/>
            <a:ext cx="1086167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死锁原因</a:t>
            </a:r>
            <a:endParaRPr lang="zh-CN" altLang="en-US" sz="2800" b="1" dirty="0">
              <a:solidFill>
                <a:schemeClr val="bg1"/>
              </a:solidFill>
            </a:endParaRPr>
          </a:p>
        </p:txBody>
      </p:sp>
      <p:sp>
        <p:nvSpPr>
          <p:cNvPr id="14" name="i$lîďê"/>
          <p:cNvSpPr/>
          <p:nvPr>
            <p:custDataLst>
              <p:tags r:id="rId1"/>
            </p:custDataLst>
          </p:nvPr>
        </p:nvSpPr>
        <p:spPr>
          <a:xfrm>
            <a:off x="1802479" y="3137390"/>
            <a:ext cx="5157613" cy="392877"/>
          </a:xfrm>
          <a:prstGeom prst="rect">
            <a:avLst/>
          </a:prstGeom>
          <a:noFill/>
          <a:ln>
            <a:noFill/>
          </a:ln>
        </p:spPr>
        <p:txBody>
          <a:bodyPr wrap="square" lIns="91440" tIns="45720" rIns="91440" bIns="45720" anchor="ctr" anchorCtr="0">
            <a:noAutofit/>
          </a:bodyPr>
          <a:lstStyle/>
          <a:p>
            <a:r>
              <a:rPr lang="zh-CN" altLang="en-US" sz="2600" dirty="0">
                <a:solidFill>
                  <a:schemeClr val="tx1"/>
                </a:solidFill>
              </a:rPr>
              <a:t>竞争</a:t>
            </a:r>
            <a:r>
              <a:rPr lang="zh-CN" altLang="en-US" sz="2600" dirty="0">
                <a:solidFill>
                  <a:schemeClr val="accent4">
                    <a:lumMod val="60000"/>
                    <a:lumOff val="40000"/>
                  </a:schemeClr>
                </a:solidFill>
              </a:rPr>
              <a:t>可消耗性资源</a:t>
            </a:r>
            <a:r>
              <a:rPr lang="zh-CN" altLang="en-US" sz="2600" dirty="0">
                <a:solidFill>
                  <a:schemeClr val="tx1"/>
                </a:solidFill>
              </a:rPr>
              <a:t>引起死锁</a:t>
            </a:r>
            <a:endParaRPr lang="zh-CN" altLang="en-US" sz="2600" dirty="0">
              <a:solidFill>
                <a:schemeClr val="tx1"/>
              </a:solidFill>
            </a:endParaRPr>
          </a:p>
        </p:txBody>
      </p:sp>
      <p:sp>
        <p:nvSpPr>
          <p:cNvPr id="15" name="î$ļíḋè"/>
          <p:cNvSpPr/>
          <p:nvPr/>
        </p:nvSpPr>
        <p:spPr>
          <a:xfrm>
            <a:off x="1802481" y="4937673"/>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进程推进顺序合法</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进程推进顺序非法</a:t>
            </a:r>
            <a:endParaRPr lang="zh-CN" altLang="en-US" sz="2400" dirty="0"/>
          </a:p>
        </p:txBody>
      </p:sp>
      <p:sp>
        <p:nvSpPr>
          <p:cNvPr id="16" name="ïṧḷïḋè"/>
          <p:cNvSpPr/>
          <p:nvPr>
            <p:custDataLst>
              <p:tags r:id="rId2"/>
            </p:custDataLst>
          </p:nvPr>
        </p:nvSpPr>
        <p:spPr>
          <a:xfrm>
            <a:off x="1802481" y="4424898"/>
            <a:ext cx="4749239" cy="415102"/>
          </a:xfrm>
          <a:prstGeom prst="rect">
            <a:avLst/>
          </a:prstGeom>
          <a:noFill/>
          <a:ln>
            <a:noFill/>
          </a:ln>
        </p:spPr>
        <p:txBody>
          <a:bodyPr wrap="square" lIns="91440" tIns="45720" rIns="91440" bIns="45720" anchor="ctr" anchorCtr="0">
            <a:noAutofit/>
          </a:bodyPr>
          <a:lstStyle/>
          <a:p>
            <a:r>
              <a:rPr lang="zh-CN" altLang="en-US" sz="2600" dirty="0">
                <a:solidFill>
                  <a:schemeClr val="accent4">
                    <a:lumMod val="60000"/>
                    <a:lumOff val="40000"/>
                  </a:schemeClr>
                </a:solidFill>
              </a:rPr>
              <a:t>进程推进顺序不当</a:t>
            </a:r>
            <a:r>
              <a:rPr lang="zh-CN" altLang="en-US" sz="2600" dirty="0"/>
              <a:t>引起死锁</a:t>
            </a:r>
            <a:endParaRPr lang="zh-CN" altLang="en-US" sz="2600" dirty="0"/>
          </a:p>
        </p:txBody>
      </p:sp>
      <p:sp>
        <p:nvSpPr>
          <p:cNvPr id="17" name="îs1iďé"/>
          <p:cNvSpPr/>
          <p:nvPr/>
        </p:nvSpPr>
        <p:spPr>
          <a:xfrm>
            <a:off x="1821537" y="1830118"/>
            <a:ext cx="9711234" cy="112467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系统中的不可抢占性资源，由于它们的数量不能满足诸进程运行的需要，会使进程在运行过程中，因争夺这些资源而陷入僵局。</a:t>
            </a:r>
            <a:endParaRPr lang="zh-CN" altLang="en-US" sz="2400" dirty="0"/>
          </a:p>
        </p:txBody>
      </p:sp>
      <p:sp>
        <p:nvSpPr>
          <p:cNvPr id="18" name="íšḻíḑê"/>
          <p:cNvSpPr/>
          <p:nvPr>
            <p:custDataLst>
              <p:tags r:id="rId3"/>
            </p:custDataLst>
          </p:nvPr>
        </p:nvSpPr>
        <p:spPr>
          <a:xfrm>
            <a:off x="1802480" y="1361556"/>
            <a:ext cx="5157613" cy="405747"/>
          </a:xfrm>
          <a:prstGeom prst="rect">
            <a:avLst/>
          </a:prstGeom>
          <a:noFill/>
          <a:ln>
            <a:noFill/>
          </a:ln>
        </p:spPr>
        <p:txBody>
          <a:bodyPr wrap="square" lIns="91440" tIns="45720" rIns="91440" bIns="45720" anchor="ctr" anchorCtr="0">
            <a:noAutofit/>
          </a:bodyPr>
          <a:lstStyle/>
          <a:p>
            <a:r>
              <a:rPr lang="zh-CN" altLang="en-US" sz="2600" dirty="0">
                <a:solidFill>
                  <a:schemeClr val="tx1"/>
                </a:solidFill>
              </a:rPr>
              <a:t>竞争</a:t>
            </a:r>
            <a:r>
              <a:rPr lang="zh-CN" altLang="en-US" sz="2600" dirty="0">
                <a:solidFill>
                  <a:srgbClr val="0000FF"/>
                </a:solidFill>
              </a:rPr>
              <a:t>不可抢占性资源</a:t>
            </a:r>
            <a:r>
              <a:rPr lang="zh-CN" altLang="en-US" sz="2600" dirty="0"/>
              <a:t>引起死锁</a:t>
            </a:r>
            <a:endParaRPr lang="zh-CN" altLang="en-US" sz="2600" dirty="0"/>
          </a:p>
        </p:txBody>
      </p:sp>
      <p:sp>
        <p:nvSpPr>
          <p:cNvPr id="19" name="îSļiḓè"/>
          <p:cNvSpPr/>
          <p:nvPr>
            <p:custDataLst>
              <p:tags r:id="rId4"/>
            </p:custDataLst>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sz="2400" dirty="0"/>
              <a:t>1</a:t>
            </a:r>
            <a:endParaRPr sz="2400" dirty="0"/>
          </a:p>
        </p:txBody>
      </p:sp>
      <p:sp>
        <p:nvSpPr>
          <p:cNvPr id="21" name="íṥḻîḓe"/>
          <p:cNvSpPr/>
          <p:nvPr>
            <p:custDataLst>
              <p:tags r:id="rId5"/>
            </p:custDataLst>
          </p:nvPr>
        </p:nvSpPr>
        <p:spPr>
          <a:xfrm>
            <a:off x="1118977" y="434229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sz="2400" dirty="0"/>
              <a:t>3</a:t>
            </a:r>
            <a:endParaRPr sz="2400" dirty="0"/>
          </a:p>
        </p:txBody>
      </p:sp>
      <p:sp>
        <p:nvSpPr>
          <p:cNvPr id="24" name="îşļiḓè"/>
          <p:cNvSpPr/>
          <p:nvPr>
            <p:custDataLst>
              <p:tags r:id="rId6"/>
            </p:custDataLst>
          </p:nvPr>
        </p:nvSpPr>
        <p:spPr>
          <a:xfrm>
            <a:off x="1118977" y="299553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t>2</a:t>
            </a:r>
            <a:endParaRPr lang="zh-CN" alt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死锁定义</a:t>
            </a:r>
            <a:endParaRPr lang="zh-CN" altLang="en-US" sz="2800" b="1" dirty="0">
              <a:solidFill>
                <a:schemeClr val="bg1"/>
              </a:solidFill>
            </a:endParaRPr>
          </a:p>
        </p:txBody>
      </p:sp>
      <p:sp>
        <p:nvSpPr>
          <p:cNvPr id="29" name="矩形 28"/>
          <p:cNvSpPr/>
          <p:nvPr/>
        </p:nvSpPr>
        <p:spPr>
          <a:xfrm>
            <a:off x="1055533" y="2706699"/>
            <a:ext cx="10080934" cy="1190598"/>
          </a:xfrm>
          <a:prstGeom prst="rect">
            <a:avLst/>
          </a:prstGeom>
          <a:ln>
            <a:solidFill>
              <a:srgbClr val="FFC000"/>
            </a:solidFill>
          </a:ln>
        </p:spPr>
        <p:txBody>
          <a:bodyPr wrap="square">
            <a:noAutofit/>
          </a:bodyPr>
          <a:lstStyle/>
          <a:p>
            <a:pPr indent="457200">
              <a:lnSpc>
                <a:spcPct val="132000"/>
              </a:lnSpc>
              <a:spcBef>
                <a:spcPts val="600"/>
              </a:spcBef>
              <a:spcAft>
                <a:spcPts val="600"/>
              </a:spcAft>
            </a:pPr>
            <a:r>
              <a:rPr lang="zh-CN" altLang="en-US" sz="2400" dirty="0">
                <a:solidFill>
                  <a:srgbClr val="FF0000"/>
                </a:solidFill>
                <a:latin typeface="+mn-ea"/>
              </a:rPr>
              <a:t>死锁：</a:t>
            </a:r>
            <a:r>
              <a:rPr lang="zh-CN" altLang="en-US" sz="2400" dirty="0">
                <a:latin typeface="+mn-ea"/>
              </a:rPr>
              <a:t>一组等待的进程，其中每一个进程都持有资源，并且等待着由这个组中其他进程所持有的资源。而产生</a:t>
            </a:r>
            <a:r>
              <a:rPr lang="zh-CN" altLang="en-US" sz="2400" dirty="0">
                <a:solidFill>
                  <a:srgbClr val="C00000"/>
                </a:solidFill>
                <a:latin typeface="+mn-ea"/>
              </a:rPr>
              <a:t>循环等待</a:t>
            </a:r>
            <a:r>
              <a:rPr lang="zh-CN" altLang="en-US" sz="2400" dirty="0">
                <a:latin typeface="+mn-ea"/>
              </a:rPr>
              <a:t>并</a:t>
            </a:r>
            <a:r>
              <a:rPr lang="zh-CN" altLang="en-US" sz="2400" dirty="0">
                <a:solidFill>
                  <a:srgbClr val="FF0000"/>
                </a:solidFill>
                <a:latin typeface="+mn-ea"/>
              </a:rPr>
              <a:t>无限僵持</a:t>
            </a:r>
            <a:r>
              <a:rPr lang="zh-CN" altLang="en-US" sz="2400" dirty="0">
                <a:latin typeface="+mn-ea"/>
              </a:rPr>
              <a:t>的局面。</a:t>
            </a:r>
            <a:endParaRPr lang="zh-CN" altLang="en-US" sz="2400" dirty="0">
              <a:latin typeface="+mn-ea"/>
            </a:endParaRPr>
          </a:p>
          <a:p>
            <a:pPr indent="457200">
              <a:lnSpc>
                <a:spcPct val="132000"/>
              </a:lnSpc>
              <a:spcBef>
                <a:spcPts val="600"/>
              </a:spcBef>
              <a:spcAft>
                <a:spcPts val="600"/>
              </a:spcAft>
            </a:pPr>
            <a:endParaRPr lang="zh-CN" altLang="en-US" sz="2400" dirty="0">
              <a:latin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产生死锁的必要条件</a:t>
            </a:r>
            <a:endParaRPr lang="zh-CN" altLang="en-US" sz="2800" b="1" dirty="0">
              <a:solidFill>
                <a:schemeClr val="bg1"/>
              </a:solidFill>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17700" y="1270531"/>
            <a:ext cx="11642725" cy="5124450"/>
            <a:chOff x="542846" y="1464590"/>
            <a:chExt cx="11642725" cy="5124450"/>
          </a:xfrm>
        </p:grpSpPr>
        <p:sp>
          <p:nvSpPr>
            <p:cNvPr id="5"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7"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ï$1iḍe"/>
            <p:cNvSpPr txBox="1"/>
            <p:nvPr>
              <p:custDataLst>
                <p:tags r:id="rId7"/>
              </p:custDataLst>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互斥</a:t>
              </a:r>
              <a:endParaRPr lang="zh-CN" altLang="en-US" sz="2400" b="1" dirty="0">
                <a:solidFill>
                  <a:srgbClr val="FF0000"/>
                </a:solidFill>
              </a:endParaRPr>
            </a:p>
          </p:txBody>
        </p:sp>
        <p:sp>
          <p:nvSpPr>
            <p:cNvPr id="11" name="isľîdê"/>
            <p:cNvSpPr txBox="1"/>
            <p:nvPr/>
          </p:nvSpPr>
          <p:spPr>
            <a:xfrm>
              <a:off x="837270" y="4127645"/>
              <a:ext cx="2391779"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一段时间内某资源只能被一个进程占用。</a:t>
              </a:r>
              <a:endParaRPr lang="zh-CN" altLang="en-US" sz="2000" dirty="0"/>
            </a:p>
          </p:txBody>
        </p:sp>
        <p:sp>
          <p:nvSpPr>
            <p:cNvPr id="12" name="íṩ1ïḑe"/>
            <p:cNvSpPr txBox="1"/>
            <p:nvPr>
              <p:custDataLst>
                <p:tags r:id="rId8"/>
              </p:custDataLst>
            </p:nvPr>
          </p:nvSpPr>
          <p:spPr>
            <a:xfrm>
              <a:off x="2881551" y="1464590"/>
              <a:ext cx="3741420" cy="392430"/>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请求和保持（占有且等待）</a:t>
              </a:r>
              <a:endParaRPr lang="zh-CN" altLang="en-US" sz="2400" b="1" dirty="0"/>
            </a:p>
          </p:txBody>
        </p:sp>
        <p:sp>
          <p:nvSpPr>
            <p:cNvPr id="13" name="ïsḻiďê"/>
            <p:cNvSpPr txBox="1"/>
            <p:nvPr>
              <p:custDataLst>
                <p:tags r:id="rId9"/>
              </p:custDataLst>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不可抢占</a:t>
              </a:r>
              <a:endParaRPr lang="zh-CN" altLang="en-US" sz="2400" b="1" dirty="0"/>
            </a:p>
          </p:txBody>
        </p:sp>
        <p:sp>
          <p:nvSpPr>
            <p:cNvPr id="14" name="isḷiḋé"/>
            <p:cNvSpPr txBox="1"/>
            <p:nvPr>
              <p:custDataLst>
                <p:tags r:id="rId10"/>
              </p:custDataLst>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t>循环等待</a:t>
              </a:r>
              <a:endParaRPr lang="zh-CN" altLang="en-US" sz="2400" b="1" dirty="0"/>
            </a:p>
          </p:txBody>
        </p:sp>
        <p:sp>
          <p:nvSpPr>
            <p:cNvPr id="15" name="îṣḻidé"/>
            <p:cNvSpPr txBox="1"/>
            <p:nvPr>
              <p:custDataLst>
                <p:tags r:id="rId11"/>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16" name="ïŝ1ïḋè"/>
            <p:cNvSpPr txBox="1"/>
            <p:nvPr>
              <p:custDataLst>
                <p:tags r:id="rId12"/>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17" name="í$lîdé"/>
            <p:cNvSpPr txBox="1"/>
            <p:nvPr>
              <p:custDataLst>
                <p:tags r:id="rId13"/>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18" name="išḻïďè"/>
            <p:cNvSpPr txBox="1"/>
            <p:nvPr>
              <p:custDataLst>
                <p:tags r:id="rId14"/>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19" name="isľîdê"/>
            <p:cNvSpPr txBox="1"/>
            <p:nvPr/>
          </p:nvSpPr>
          <p:spPr>
            <a:xfrm>
              <a:off x="3578152" y="4127643"/>
              <a:ext cx="2270544" cy="212597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一个至少持有一个资源的进程等待获得额外的由其他进程所持有的资源。</a:t>
              </a:r>
              <a:endParaRPr lang="zh-CN" altLang="en-US" sz="2000" dirty="0"/>
            </a:p>
          </p:txBody>
        </p:sp>
        <p:sp>
          <p:nvSpPr>
            <p:cNvPr id="21" name="isľîdê"/>
            <p:cNvSpPr txBox="1"/>
            <p:nvPr/>
          </p:nvSpPr>
          <p:spPr>
            <a:xfrm>
              <a:off x="6342369" y="4139390"/>
              <a:ext cx="2270544" cy="2102483"/>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一个资源只有当持有它的进程完成任务后，自由的释放。</a:t>
              </a:r>
              <a:endParaRPr lang="zh-CN" altLang="en-US" sz="2000" dirty="0"/>
            </a:p>
          </p:txBody>
        </p:sp>
        <p:sp>
          <p:nvSpPr>
            <p:cNvPr id="22" name="isľîdê"/>
            <p:cNvSpPr txBox="1"/>
            <p:nvPr/>
          </p:nvSpPr>
          <p:spPr>
            <a:xfrm>
              <a:off x="8722916" y="4151275"/>
              <a:ext cx="3462655" cy="2437765"/>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等待资源的进程之间存在环路 </a:t>
              </a:r>
              <a:r>
                <a:rPr lang="en-US" altLang="zh-CN" sz="2000" dirty="0"/>
                <a:t>{P0, P1, …, </a:t>
              </a:r>
              <a:r>
                <a:rPr lang="en-US" altLang="zh-CN" sz="2000" dirty="0" err="1"/>
                <a:t>Pn</a:t>
              </a:r>
              <a:r>
                <a:rPr lang="en-US" altLang="zh-CN" sz="2000" dirty="0"/>
                <a:t>} </a:t>
              </a:r>
              <a:r>
                <a:rPr lang="zh-CN" altLang="en-US" sz="2000" dirty="0"/>
                <a:t>。</a:t>
              </a:r>
              <a:endParaRPr lang="zh-CN" altLang="en-US" sz="2000" dirty="0"/>
            </a:p>
            <a:p>
              <a:pPr marL="342900" indent="-342900">
                <a:lnSpc>
                  <a:spcPct val="120000"/>
                </a:lnSpc>
                <a:buClr>
                  <a:srgbClr val="0000FF"/>
                </a:buClr>
                <a:buFont typeface="Wingdings" panose="05000000000000000000" pitchFamily="2" charset="2"/>
                <a:buChar char="Ø"/>
              </a:pPr>
              <a:r>
                <a:rPr lang="en-US" altLang="zh-CN" sz="2000" dirty="0"/>
                <a:t>P0 </a:t>
              </a:r>
              <a:r>
                <a:rPr lang="zh-CN" altLang="en-US" sz="2000" dirty="0"/>
                <a:t>等待</a:t>
              </a:r>
              <a:r>
                <a:rPr lang="en-US" altLang="zh-CN" sz="2000" dirty="0"/>
                <a:t>P1</a:t>
              </a:r>
              <a:r>
                <a:rPr lang="zh-CN" altLang="en-US" sz="2000" dirty="0"/>
                <a:t>占有的资源</a:t>
              </a:r>
              <a:r>
                <a:rPr lang="en-US" altLang="zh-CN" sz="2000" dirty="0"/>
                <a:t>, P1</a:t>
              </a:r>
              <a:r>
                <a:rPr lang="zh-CN" altLang="en-US" sz="2000" dirty="0"/>
                <a:t>等待</a:t>
              </a:r>
              <a:r>
                <a:rPr lang="en-US" altLang="zh-CN" sz="2000" dirty="0"/>
                <a:t>P2</a:t>
              </a:r>
              <a:r>
                <a:rPr lang="zh-CN" altLang="en-US" sz="2000" dirty="0"/>
                <a:t>占有的资源</a:t>
              </a:r>
              <a:r>
                <a:rPr lang="en-US" altLang="zh-CN" sz="2000" dirty="0"/>
                <a:t>, …, </a:t>
              </a:r>
              <a:r>
                <a:rPr lang="en-US" altLang="zh-CN" sz="2000" dirty="0" err="1"/>
                <a:t>Pn</a:t>
              </a:r>
              <a:r>
                <a:rPr lang="en-US" altLang="zh-CN" sz="2000" dirty="0"/>
                <a:t>–1</a:t>
              </a:r>
              <a:r>
                <a:rPr lang="zh-CN" altLang="en-US" sz="2000" dirty="0"/>
                <a:t>等待</a:t>
              </a:r>
              <a:r>
                <a:rPr lang="en-US" altLang="zh-CN" sz="2000" dirty="0" err="1"/>
                <a:t>Pn</a:t>
              </a:r>
              <a:r>
                <a:rPr lang="zh-CN" altLang="en-US" sz="2000" dirty="0"/>
                <a:t>占有的资源</a:t>
              </a:r>
              <a:r>
                <a:rPr lang="en-US" altLang="zh-CN" sz="2000" dirty="0"/>
                <a:t>, P0</a:t>
              </a:r>
              <a:r>
                <a:rPr lang="zh-CN" altLang="en-US" sz="2000" dirty="0"/>
                <a:t>等待</a:t>
              </a:r>
              <a:r>
                <a:rPr lang="en-US" altLang="zh-CN" sz="2000" dirty="0" err="1"/>
                <a:t>Pn</a:t>
              </a:r>
              <a:r>
                <a:rPr lang="zh-CN" altLang="en-US" sz="2000" dirty="0"/>
                <a:t>占有的资源</a:t>
              </a:r>
              <a:endParaRPr lang="zh-CN" altLang="en-US" sz="2000" dirty="0"/>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处理死锁的方法</a:t>
            </a:r>
            <a:r>
              <a:rPr lang="en-US" altLang="zh-CN" sz="2800" b="1" dirty="0">
                <a:solidFill>
                  <a:schemeClr val="bg1"/>
                </a:solidFill>
              </a:rPr>
              <a:t>(1)</a:t>
            </a:r>
            <a:endParaRPr lang="zh-CN" altLang="en-US" sz="2800" b="1" dirty="0">
              <a:solidFill>
                <a:schemeClr val="bg1"/>
              </a:solidFill>
            </a:endParaRPr>
          </a:p>
        </p:txBody>
      </p:sp>
      <p:sp>
        <p:nvSpPr>
          <p:cNvPr id="220" name="íšḻîḋè"/>
          <p:cNvSpPr/>
          <p:nvPr/>
        </p:nvSpPr>
        <p:spPr>
          <a:xfrm>
            <a:off x="1746844" y="3719611"/>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死锁检测</a:t>
            </a:r>
            <a:endParaRPr lang="zh-CN" altLang="en-US" sz="2400" dirty="0"/>
          </a:p>
        </p:txBody>
      </p:sp>
      <p:sp>
        <p:nvSpPr>
          <p:cNvPr id="221" name="i$lîďê"/>
          <p:cNvSpPr/>
          <p:nvPr/>
        </p:nvSpPr>
        <p:spPr>
          <a:xfrm>
            <a:off x="1802479" y="3189442"/>
            <a:ext cx="7900814" cy="392877"/>
          </a:xfrm>
          <a:prstGeom prst="rect">
            <a:avLst/>
          </a:prstGeom>
          <a:noFill/>
          <a:ln>
            <a:noFill/>
          </a:ln>
        </p:spPr>
        <p:txBody>
          <a:bodyPr wrap="square" lIns="91440" tIns="45720" rIns="91440" bIns="45720" anchor="ctr" anchorCtr="0">
            <a:noAutofit/>
          </a:bodyPr>
          <a:lstStyle/>
          <a:p>
            <a:r>
              <a:rPr lang="zh-CN" altLang="en-US" sz="2600" dirty="0"/>
              <a:t>允许系统进入死锁状态，然后恢复系统</a:t>
            </a:r>
            <a:endParaRPr lang="zh-CN" altLang="en-US" sz="2600" dirty="0"/>
          </a:p>
        </p:txBody>
      </p:sp>
      <p:sp>
        <p:nvSpPr>
          <p:cNvPr id="223" name="ïṧḷïḋè"/>
          <p:cNvSpPr/>
          <p:nvPr/>
        </p:nvSpPr>
        <p:spPr>
          <a:xfrm>
            <a:off x="1802479" y="4522868"/>
            <a:ext cx="9534303" cy="975133"/>
          </a:xfrm>
          <a:prstGeom prst="rect">
            <a:avLst/>
          </a:prstGeom>
          <a:noFill/>
          <a:ln>
            <a:noFill/>
          </a:ln>
        </p:spPr>
        <p:txBody>
          <a:bodyPr wrap="square" lIns="91440" tIns="45720" rIns="91440" bIns="45720" anchor="ctr" anchorCtr="0">
            <a:noAutofit/>
          </a:bodyPr>
          <a:lstStyle/>
          <a:p>
            <a:pPr>
              <a:lnSpc>
                <a:spcPct val="132000"/>
              </a:lnSpc>
            </a:pPr>
            <a:r>
              <a:rPr lang="zh-CN" altLang="en-US" sz="2600" dirty="0"/>
              <a:t>忽略这个问题，假装系统中从未出现过死锁。这个方法被大部分的操作系统采用，包括</a:t>
            </a:r>
            <a:r>
              <a:rPr lang="en-US" altLang="zh-CN" sz="2600" dirty="0"/>
              <a:t>UNIX</a:t>
            </a:r>
            <a:endParaRPr lang="en-US" altLang="zh-CN" sz="2600" dirty="0"/>
          </a:p>
        </p:txBody>
      </p:sp>
      <p:sp>
        <p:nvSpPr>
          <p:cNvPr id="224" name="îs1iďé"/>
          <p:cNvSpPr/>
          <p:nvPr/>
        </p:nvSpPr>
        <p:spPr>
          <a:xfrm>
            <a:off x="1821537" y="1830118"/>
            <a:ext cx="2149667" cy="108804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死锁预防</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zh-CN" altLang="en-US" sz="2400" dirty="0"/>
              <a:t>死锁避免</a:t>
            </a:r>
            <a:endParaRPr lang="zh-CN" altLang="en-US" sz="2400" dirty="0"/>
          </a:p>
        </p:txBody>
      </p:sp>
      <p:sp>
        <p:nvSpPr>
          <p:cNvPr id="225" name="íšḻíḑê"/>
          <p:cNvSpPr/>
          <p:nvPr/>
        </p:nvSpPr>
        <p:spPr>
          <a:xfrm>
            <a:off x="1802479" y="1398181"/>
            <a:ext cx="7261621" cy="405747"/>
          </a:xfrm>
          <a:prstGeom prst="rect">
            <a:avLst/>
          </a:prstGeom>
          <a:noFill/>
          <a:ln>
            <a:noFill/>
          </a:ln>
        </p:spPr>
        <p:txBody>
          <a:bodyPr wrap="square" lIns="91440" tIns="45720" rIns="91440" bIns="45720" anchor="ctr" anchorCtr="0">
            <a:noAutofit/>
          </a:bodyPr>
          <a:lstStyle/>
          <a:p>
            <a:r>
              <a:rPr lang="zh-CN" altLang="en-US" sz="2600" dirty="0"/>
              <a:t>确保系统永远不会进入死锁状态</a:t>
            </a:r>
            <a:endParaRPr lang="zh-CN" altLang="en-US" sz="2600" dirty="0"/>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5" y="444026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08891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31093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68" y="462972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3655909" y="3745801"/>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死锁恢复</a:t>
            </a:r>
            <a:endParaRPr lang="zh-CN" alt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处理死锁的方法</a:t>
            </a:r>
            <a:r>
              <a:rPr lang="en-US" altLang="zh-CN" sz="2800" b="1" dirty="0">
                <a:solidFill>
                  <a:schemeClr val="bg1"/>
                </a:solidFill>
              </a:rPr>
              <a:t>(2)</a:t>
            </a:r>
            <a:endParaRPr lang="zh-CN" altLang="en-US" sz="2800" b="1" dirty="0">
              <a:solidFill>
                <a:schemeClr val="bg1"/>
              </a:solidFill>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17700" y="1270531"/>
            <a:ext cx="11377235" cy="4789032"/>
            <a:chOff x="542846" y="1464590"/>
            <a:chExt cx="11377235" cy="4789032"/>
          </a:xfrm>
        </p:grpSpPr>
        <p:sp>
          <p:nvSpPr>
            <p:cNvPr id="5"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7"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ï$1iḍe"/>
            <p:cNvSpPr txBox="1"/>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预防死锁</a:t>
              </a:r>
              <a:endParaRPr lang="zh-CN" altLang="en-US" sz="2400" b="1" dirty="0">
                <a:solidFill>
                  <a:srgbClr val="FF0000"/>
                </a:solidFill>
              </a:endParaRPr>
            </a:p>
          </p:txBody>
        </p:sp>
        <p:sp>
          <p:nvSpPr>
            <p:cNvPr id="11" name="isľîdê"/>
            <p:cNvSpPr txBox="1"/>
            <p:nvPr/>
          </p:nvSpPr>
          <p:spPr>
            <a:xfrm>
              <a:off x="837271" y="4127645"/>
              <a:ext cx="2270544"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破坏死锁的四个必要条件中一个或几个。</a:t>
              </a:r>
              <a:endParaRPr lang="zh-CN" altLang="en-US" sz="2400" dirty="0"/>
            </a:p>
          </p:txBody>
        </p:sp>
        <p:sp>
          <p:nvSpPr>
            <p:cNvPr id="12"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避免死锁</a:t>
              </a:r>
              <a:endParaRPr lang="zh-CN" altLang="en-US" sz="2400" b="1" dirty="0"/>
            </a:p>
          </p:txBody>
        </p:sp>
        <p:sp>
          <p:nvSpPr>
            <p:cNvPr id="13"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检测死锁</a:t>
              </a:r>
              <a:endParaRPr lang="zh-CN" altLang="en-US" sz="2400" b="1" dirty="0">
                <a:solidFill>
                  <a:srgbClr val="0000FF"/>
                </a:solidFill>
              </a:endParaRPr>
            </a:p>
          </p:txBody>
        </p:sp>
        <p:sp>
          <p:nvSpPr>
            <p:cNvPr id="14" name="isḷiḋé"/>
            <p:cNvSpPr txBox="1"/>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解除死锁</a:t>
              </a:r>
              <a:endParaRPr lang="zh-CN" altLang="en-US" sz="2400" b="1" dirty="0">
                <a:solidFill>
                  <a:srgbClr val="0000FF"/>
                </a:solidFill>
              </a:endParaRPr>
            </a:p>
          </p:txBody>
        </p:sp>
        <p:sp>
          <p:nvSpPr>
            <p:cNvPr id="15"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16"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17"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18"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19" name="isľîdê"/>
            <p:cNvSpPr txBox="1"/>
            <p:nvPr/>
          </p:nvSpPr>
          <p:spPr>
            <a:xfrm>
              <a:off x="3578152" y="4127643"/>
              <a:ext cx="2270544" cy="212597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在资源动态分配时，防止系统进入不安全状态。</a:t>
              </a:r>
              <a:endParaRPr lang="zh-CN" altLang="en-US" sz="2400" dirty="0"/>
            </a:p>
          </p:txBody>
        </p:sp>
        <p:sp>
          <p:nvSpPr>
            <p:cNvPr id="21" name="isľîdê"/>
            <p:cNvSpPr txBox="1"/>
            <p:nvPr/>
          </p:nvSpPr>
          <p:spPr>
            <a:xfrm>
              <a:off x="6342369" y="4139390"/>
              <a:ext cx="2558606" cy="2102483"/>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事先不采取任何措施，允许死锁发生，但及时检测死锁发发生。</a:t>
              </a:r>
              <a:endParaRPr lang="zh-CN" altLang="en-US" sz="2400" dirty="0"/>
            </a:p>
          </p:txBody>
        </p:sp>
        <p:sp>
          <p:nvSpPr>
            <p:cNvPr id="22" name="isľîdê"/>
            <p:cNvSpPr txBox="1"/>
            <p:nvPr/>
          </p:nvSpPr>
          <p:spPr>
            <a:xfrm>
              <a:off x="9105653" y="4151140"/>
              <a:ext cx="2733831"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检测到死锁发生时，采取相应措施，将进程从死锁状态中解脱出来。</a:t>
              </a:r>
              <a:endParaRPr lang="zh-CN" altLang="en-US" sz="2400" dirty="0"/>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461665"/>
          </a:xfrm>
          <a:prstGeom prst="rect">
            <a:avLst/>
          </a:prstGeom>
        </p:spPr>
        <p:txBody>
          <a:bodyPr wrap="square">
            <a:spAutoFit/>
          </a:bodyPr>
          <a:lstStyle/>
          <a:p>
            <a:r>
              <a:rPr lang="en-US" altLang="zh-CN" sz="2400" b="1" dirty="0">
                <a:solidFill>
                  <a:srgbClr val="0000FF"/>
                </a:solidFill>
                <a:latin typeface="+mj-ea"/>
              </a:rPr>
              <a:t>3.6 </a:t>
            </a:r>
            <a:r>
              <a:rPr lang="zh-CN" altLang="en-US" sz="2400" b="1" dirty="0">
                <a:solidFill>
                  <a:srgbClr val="0000FF"/>
                </a:solidFill>
                <a:latin typeface="+mj-ea"/>
              </a:rPr>
              <a:t>预防死锁</a:t>
            </a:r>
            <a:endParaRPr lang="zh-CN" altLang="en-US" sz="2400" b="1" dirty="0">
              <a:solidFill>
                <a:srgbClr val="0000FF"/>
              </a:solidFill>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预防死锁</a:t>
            </a:r>
            <a:endParaRPr lang="zh-CN" altLang="en-US" sz="2800" b="1" dirty="0">
              <a:solidFill>
                <a:schemeClr val="bg1"/>
              </a:solidFill>
            </a:endParaRPr>
          </a:p>
        </p:txBody>
      </p:sp>
      <p:sp>
        <p:nvSpPr>
          <p:cNvPr id="29" name="矩形 28"/>
          <p:cNvSpPr/>
          <p:nvPr/>
        </p:nvSpPr>
        <p:spPr>
          <a:xfrm>
            <a:off x="669925" y="1206373"/>
            <a:ext cx="10601989" cy="684571"/>
          </a:xfrm>
          <a:prstGeom prst="rect">
            <a:avLst/>
          </a:prstGeom>
        </p:spPr>
        <p:txBody>
          <a:bodyPr wrap="square">
            <a:noAutofit/>
          </a:bodyPr>
          <a:lstStyle/>
          <a:p>
            <a:pPr indent="457200">
              <a:lnSpc>
                <a:spcPct val="132000"/>
              </a:lnSpc>
              <a:spcBef>
                <a:spcPts val="600"/>
              </a:spcBef>
              <a:spcAft>
                <a:spcPts val="600"/>
              </a:spcAft>
            </a:pPr>
            <a:r>
              <a:rPr lang="zh-CN" altLang="en-US" sz="2600" dirty="0">
                <a:latin typeface="+mn-ea"/>
              </a:rPr>
              <a:t>破坏死锁的四个必要条件中的一个或几个</a:t>
            </a:r>
            <a:endParaRPr lang="zh-CN" altLang="en-US" sz="2600" dirty="0">
              <a:latin typeface="+mn-ea"/>
            </a:endParaRPr>
          </a:p>
        </p:txBody>
      </p:sp>
      <p:sp>
        <p:nvSpPr>
          <p:cNvPr id="31" name="íšḻîḋè"/>
          <p:cNvSpPr/>
          <p:nvPr/>
        </p:nvSpPr>
        <p:spPr>
          <a:xfrm>
            <a:off x="1809115" y="3602990"/>
            <a:ext cx="9909810" cy="2508250"/>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solidFill>
                  <a:schemeClr val="accent4">
                    <a:lumMod val="60000"/>
                    <a:lumOff val="40000"/>
                  </a:schemeClr>
                </a:solidFill>
                <a:sym typeface="+mn-ea"/>
              </a:rPr>
              <a:t>预分资源策略：</a:t>
            </a:r>
            <a:r>
              <a:rPr lang="zh-CN" altLang="en-US" sz="2400" dirty="0"/>
              <a:t>要求进程在执行前一次性申请全部的资源，只有没有占有资源时才可以分配资源。</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缺点：资源利用率低，可能出现饥饿。</a:t>
            </a:r>
            <a:endParaRPr lang="zh-CN" altLang="en-US"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solidFill>
                  <a:schemeClr val="accent4">
                    <a:lumMod val="60000"/>
                    <a:lumOff val="40000"/>
                  </a:schemeClr>
                </a:solidFill>
              </a:rPr>
              <a:t>改进</a:t>
            </a:r>
            <a:r>
              <a:rPr lang="zh-CN" altLang="en-US" sz="2400" dirty="0"/>
              <a:t>：进程只获得运行初期所需的资源后，便开始运行；其后在运行过程中逐步释放已分配的且用毕的全部资源，然后再请求新资源。</a:t>
            </a:r>
            <a:endParaRPr lang="zh-CN" altLang="en-US" sz="2400" dirty="0"/>
          </a:p>
        </p:txBody>
      </p:sp>
      <p:sp>
        <p:nvSpPr>
          <p:cNvPr id="32" name="i$lîďê"/>
          <p:cNvSpPr/>
          <p:nvPr/>
        </p:nvSpPr>
        <p:spPr>
          <a:xfrm>
            <a:off x="1864622" y="3072809"/>
            <a:ext cx="9791757" cy="392877"/>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请求和保持：</a:t>
            </a:r>
            <a:r>
              <a:rPr lang="zh-CN" altLang="en-US" sz="2600" dirty="0"/>
              <a:t>必须保证进程申请资源的时候没有占有其他资源。</a:t>
            </a:r>
            <a:endParaRPr lang="zh-CN" altLang="en-US" sz="2600" dirty="0"/>
          </a:p>
        </p:txBody>
      </p:sp>
      <p:sp>
        <p:nvSpPr>
          <p:cNvPr id="36" name="íšḻíḑê"/>
          <p:cNvSpPr/>
          <p:nvPr/>
        </p:nvSpPr>
        <p:spPr>
          <a:xfrm>
            <a:off x="1864360" y="2176780"/>
            <a:ext cx="9855200" cy="405765"/>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互斥：</a:t>
            </a:r>
            <a:r>
              <a:rPr lang="zh-CN" altLang="en-US" sz="2600" dirty="0"/>
              <a:t>互斥条件是共享资源必须的，不仅不能改变，还应加以保证。</a:t>
            </a:r>
            <a:endParaRPr lang="zh-CN" altLang="en-US" sz="2600" dirty="0"/>
          </a:p>
        </p:txBody>
      </p:sp>
      <p:sp>
        <p:nvSpPr>
          <p:cNvPr id="38" name="îSļiḓè"/>
          <p:cNvSpPr/>
          <p:nvPr/>
        </p:nvSpPr>
        <p:spPr>
          <a:xfrm>
            <a:off x="1181121" y="20452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181121" y="297228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371376" y="22414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íSlíḋe"/>
          <p:cNvSpPr/>
          <p:nvPr/>
        </p:nvSpPr>
        <p:spPr>
          <a:xfrm>
            <a:off x="1371375" y="319430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预防死锁</a:t>
            </a:r>
            <a:r>
              <a:rPr lang="en-US" altLang="zh-CN" sz="2800" b="1" dirty="0">
                <a:solidFill>
                  <a:schemeClr val="bg1"/>
                </a:solidFill>
              </a:rPr>
              <a:t>(</a:t>
            </a:r>
            <a:r>
              <a:rPr lang="zh-CN" altLang="en-US" sz="2800" b="1" dirty="0">
                <a:solidFill>
                  <a:schemeClr val="bg1"/>
                </a:solidFill>
              </a:rPr>
              <a:t>续</a:t>
            </a:r>
            <a:r>
              <a:rPr lang="en-US" altLang="zh-CN" sz="2800" b="1" dirty="0">
                <a:solidFill>
                  <a:schemeClr val="bg1"/>
                </a:solidFill>
              </a:rPr>
              <a:t>)</a:t>
            </a:r>
            <a:endParaRPr lang="zh-CN" altLang="en-US" sz="2800" b="1" dirty="0">
              <a:solidFill>
                <a:schemeClr val="bg1"/>
              </a:solidFill>
            </a:endParaRPr>
          </a:p>
        </p:txBody>
      </p:sp>
      <p:sp>
        <p:nvSpPr>
          <p:cNvPr id="31" name="íšḻîḋè"/>
          <p:cNvSpPr/>
          <p:nvPr/>
        </p:nvSpPr>
        <p:spPr>
          <a:xfrm>
            <a:off x="1749212" y="4352857"/>
            <a:ext cx="9909536" cy="1770053"/>
          </a:xfrm>
          <a:prstGeom prst="rect">
            <a:avLst/>
          </a:prstGeom>
          <a:noFill/>
          <a:ln>
            <a:noFill/>
          </a:ln>
        </p:spPr>
        <p:txBody>
          <a:bodyPr wrap="square" lIns="91440" tIns="45720" rIns="91440" bIns="45720" anchor="t" anchorCtr="0">
            <a:noAutofit/>
          </a:bodyPr>
          <a:lstStyle/>
          <a:p>
            <a:pPr marL="342900" indent="-342900">
              <a:spcBef>
                <a:spcPts val="600"/>
              </a:spcBef>
              <a:buClr>
                <a:srgbClr val="FF0000"/>
              </a:buClr>
              <a:buFont typeface="Wingdings" panose="05000000000000000000" pitchFamily="2" charset="2"/>
              <a:buChar char="Ø"/>
            </a:pPr>
            <a:r>
              <a:rPr lang="zh-CN" altLang="en-US" sz="2400" dirty="0"/>
              <a:t>如何规定每种资源的序号是十分重要的；</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限制新类型设备的增加；</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作业使用资源的顺序与系统规定的顺序不同；有矛盾</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限制用户简单、自主的编程。</a:t>
            </a:r>
            <a:endParaRPr lang="zh-CN" altLang="en-US" sz="2400" dirty="0"/>
          </a:p>
        </p:txBody>
      </p:sp>
      <p:sp>
        <p:nvSpPr>
          <p:cNvPr id="32" name="i$lîďê"/>
          <p:cNvSpPr/>
          <p:nvPr/>
        </p:nvSpPr>
        <p:spPr>
          <a:xfrm>
            <a:off x="1749212" y="3338815"/>
            <a:ext cx="9791757" cy="875397"/>
          </a:xfrm>
          <a:prstGeom prst="rect">
            <a:avLst/>
          </a:prstGeom>
          <a:noFill/>
          <a:ln>
            <a:noFill/>
          </a:ln>
        </p:spPr>
        <p:txBody>
          <a:bodyPr wrap="square" lIns="91440" tIns="45720" rIns="91440" bIns="45720" anchor="ctr" anchorCtr="0">
            <a:noAutofit/>
          </a:bodyPr>
          <a:lstStyle/>
          <a:p>
            <a:pPr>
              <a:lnSpc>
                <a:spcPct val="120000"/>
              </a:lnSpc>
            </a:pPr>
            <a:r>
              <a:rPr lang="zh-CN" altLang="en-US" sz="2600" dirty="0">
                <a:solidFill>
                  <a:srgbClr val="FF0000"/>
                </a:solidFill>
              </a:rPr>
              <a:t>循环等待：</a:t>
            </a:r>
            <a:r>
              <a:rPr lang="zh-CN" altLang="en-US" sz="2600" dirty="0"/>
              <a:t>对所有的资源类型进行线性排序，并赋予不同的序号，要求进程按照递增顺序申请资源。（</a:t>
            </a:r>
            <a:r>
              <a:rPr lang="zh-CN" altLang="en-US" sz="2600" dirty="0">
                <a:solidFill>
                  <a:schemeClr val="accent4">
                    <a:lumMod val="60000"/>
                    <a:lumOff val="40000"/>
                  </a:schemeClr>
                </a:solidFill>
              </a:rPr>
              <a:t>资源的有序分配</a:t>
            </a:r>
            <a:r>
              <a:rPr lang="zh-CN" altLang="en-US" sz="2600" dirty="0"/>
              <a:t>）缺点：</a:t>
            </a:r>
            <a:endParaRPr lang="en-US" altLang="zh-CN" sz="2600" dirty="0"/>
          </a:p>
        </p:txBody>
      </p:sp>
      <p:sp>
        <p:nvSpPr>
          <p:cNvPr id="36" name="íšḻíḑê"/>
          <p:cNvSpPr/>
          <p:nvPr/>
        </p:nvSpPr>
        <p:spPr>
          <a:xfrm>
            <a:off x="1749213" y="1251210"/>
            <a:ext cx="9791758" cy="405747"/>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非抢占：</a:t>
            </a:r>
            <a:r>
              <a:rPr lang="zh-CN" altLang="en-US" sz="2600" dirty="0">
                <a:solidFill>
                  <a:schemeClr val="accent4">
                    <a:lumMod val="60000"/>
                    <a:lumOff val="40000"/>
                  </a:schemeClr>
                </a:solidFill>
              </a:rPr>
              <a:t>隐式抢占</a:t>
            </a:r>
            <a:endParaRPr lang="zh-CN" altLang="en-US" sz="2600" dirty="0">
              <a:solidFill>
                <a:schemeClr val="accent4">
                  <a:lumMod val="60000"/>
                  <a:lumOff val="40000"/>
                </a:schemeClr>
              </a:solidFill>
            </a:endParaRPr>
          </a:p>
        </p:txBody>
      </p:sp>
      <p:sp>
        <p:nvSpPr>
          <p:cNvPr id="38" name="îSļiḓè"/>
          <p:cNvSpPr/>
          <p:nvPr/>
        </p:nvSpPr>
        <p:spPr>
          <a:xfrm>
            <a:off x="1065711" y="111972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065711" y="323828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255966" y="131586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íSlíḋe"/>
          <p:cNvSpPr/>
          <p:nvPr/>
        </p:nvSpPr>
        <p:spPr>
          <a:xfrm>
            <a:off x="1255965" y="346030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1" name="íšḻîḋè"/>
          <p:cNvSpPr/>
          <p:nvPr/>
        </p:nvSpPr>
        <p:spPr>
          <a:xfrm>
            <a:off x="1749212" y="1708366"/>
            <a:ext cx="9909536" cy="523971"/>
          </a:xfrm>
          <a:prstGeom prst="rect">
            <a:avLst/>
          </a:prstGeom>
          <a:noFill/>
          <a:ln>
            <a:noFill/>
          </a:ln>
        </p:spPr>
        <p:txBody>
          <a:bodyPr wrap="square" lIns="91440" tIns="45720" rIns="91440" bIns="45720" anchor="t" anchorCtr="0">
            <a:noAutofit/>
          </a:bodyPr>
          <a:lstStyle/>
          <a:p>
            <a:pPr marL="342900" indent="-342900">
              <a:spcBef>
                <a:spcPts val="600"/>
              </a:spcBef>
              <a:buClr>
                <a:srgbClr val="FF0000"/>
              </a:buClr>
              <a:buFont typeface="Wingdings" panose="05000000000000000000" pitchFamily="2" charset="2"/>
              <a:buChar char="Ø"/>
            </a:pPr>
            <a:r>
              <a:rPr lang="zh-CN" altLang="en-US" sz="2400" dirty="0"/>
              <a:t>如果一个进程的申请没有实现，它要释放所有占有的资源；</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先占的资源放入进程等待资源列表中；</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进程在重新得到旧的资源的时候可以重新开始。</a:t>
            </a:r>
            <a:endParaRPr lang="zh-CN" alt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idx="1"/>
          </p:nvPr>
        </p:nvSpPr>
        <p:spPr>
          <a:xfrm>
            <a:off x="1407795" y="1104265"/>
            <a:ext cx="8498205" cy="4001135"/>
          </a:xfrm>
        </p:spPr>
        <p:txBody>
          <a:bodyPr vert="horz" wrap="square" lIns="91440" tIns="45720" rIns="91440" bIns="45720" anchor="t" anchorCtr="0">
            <a:normAutofit lnSpcReduction="20000"/>
          </a:bodyPr>
          <a:lstStyle/>
          <a:p>
            <a:pPr marL="0" indent="0" fontAlgn="auto">
              <a:lnSpc>
                <a:spcPct val="100000"/>
              </a:lnSpc>
              <a:buNone/>
            </a:pPr>
            <a:r>
              <a:rPr lang="en-US" altLang="zh-CN" sz="2800" dirty="0"/>
              <a:t>1.</a:t>
            </a:r>
            <a:r>
              <a:rPr lang="zh-CN" altLang="en-US" sz="2800" dirty="0"/>
              <a:t>某系统中有</a:t>
            </a:r>
            <a:r>
              <a:rPr lang="zh-CN" altLang="zh-CN" sz="2800" dirty="0"/>
              <a:t>11</a:t>
            </a:r>
            <a:r>
              <a:rPr lang="zh-CN" altLang="en-US" sz="2800" dirty="0"/>
              <a:t>台打印机，</a:t>
            </a:r>
            <a:r>
              <a:rPr lang="zh-CN" altLang="zh-CN" sz="2800" dirty="0"/>
              <a:t>N</a:t>
            </a:r>
            <a:r>
              <a:rPr lang="zh-CN" altLang="en-US" sz="2800" dirty="0"/>
              <a:t>个进程共享打印机资源，每个进程要求</a:t>
            </a:r>
            <a:r>
              <a:rPr lang="zh-CN" altLang="zh-CN" sz="2800" dirty="0"/>
              <a:t>3</a:t>
            </a:r>
            <a:r>
              <a:rPr lang="zh-CN" altLang="en-US" sz="2800" dirty="0"/>
              <a:t>台。</a:t>
            </a:r>
            <a:r>
              <a:rPr lang="zh-CN" altLang="zh-CN" sz="2800" dirty="0"/>
              <a:t>N</a:t>
            </a:r>
            <a:r>
              <a:rPr lang="zh-CN" altLang="en-US" sz="2800" dirty="0"/>
              <a:t>的取值不超过（）时，系统不会发生死锁。</a:t>
            </a:r>
            <a:endParaRPr lang="zh-CN" altLang="en-US" sz="2800" dirty="0"/>
          </a:p>
          <a:p>
            <a:pPr marL="971550" lvl="1" indent="-514350" fontAlgn="auto">
              <a:lnSpc>
                <a:spcPct val="100000"/>
              </a:lnSpc>
              <a:buClr>
                <a:schemeClr val="tx1"/>
              </a:buClr>
              <a:buSzPct val="100000"/>
              <a:buFont typeface="Tahoma" panose="020B0604030504040204" pitchFamily="2" charset="0"/>
              <a:buAutoNum type="alphaUcPeriod"/>
            </a:pPr>
            <a:r>
              <a:rPr lang="zh-CN" altLang="en-US" sz="3200" dirty="0"/>
              <a:t> 4</a:t>
            </a:r>
            <a:endParaRPr lang="zh-CN" altLang="en-US" sz="3200" dirty="0"/>
          </a:p>
          <a:p>
            <a:pPr marL="971550" lvl="1" indent="-514350" fontAlgn="auto">
              <a:lnSpc>
                <a:spcPct val="100000"/>
              </a:lnSpc>
              <a:buClr>
                <a:schemeClr val="tx1"/>
              </a:buClr>
              <a:buSzPct val="100000"/>
              <a:buFont typeface="Tahoma" panose="020B0604030504040204" pitchFamily="2" charset="0"/>
              <a:buAutoNum type="alphaUcPeriod"/>
            </a:pPr>
            <a:r>
              <a:rPr lang="zh-CN" altLang="en-US" sz="3200" dirty="0"/>
              <a:t> 5</a:t>
            </a:r>
            <a:endParaRPr lang="zh-CN" altLang="en-US" sz="3200" dirty="0"/>
          </a:p>
          <a:p>
            <a:pPr marL="971550" lvl="1" indent="-514350" fontAlgn="auto">
              <a:lnSpc>
                <a:spcPct val="100000"/>
              </a:lnSpc>
              <a:buClr>
                <a:schemeClr val="tx1"/>
              </a:buClr>
              <a:buSzPct val="100000"/>
              <a:buFont typeface="Tahoma" panose="020B0604030504040204" pitchFamily="2" charset="0"/>
              <a:buAutoNum type="alphaUcPeriod"/>
            </a:pPr>
            <a:r>
              <a:rPr lang="zh-CN" altLang="en-US" sz="3200" dirty="0"/>
              <a:t> 6</a:t>
            </a:r>
            <a:endParaRPr lang="zh-CN" altLang="en-US" sz="3200" dirty="0"/>
          </a:p>
          <a:p>
            <a:pPr marL="971550" lvl="1" indent="-514350" fontAlgn="auto">
              <a:lnSpc>
                <a:spcPct val="100000"/>
              </a:lnSpc>
              <a:buClr>
                <a:schemeClr val="tx1"/>
              </a:buClr>
              <a:buSzPct val="100000"/>
              <a:buFont typeface="Tahoma" panose="020B0604030504040204" pitchFamily="2" charset="0"/>
              <a:buAutoNum type="alphaUcPeriod"/>
            </a:pPr>
            <a:r>
              <a:rPr lang="zh-CN" altLang="en-US" sz="3200" dirty="0"/>
              <a:t> 7</a:t>
            </a:r>
            <a:endParaRPr lang="zh-CN" altLang="zh-CN" sz="3200" dirty="0"/>
          </a:p>
          <a:p>
            <a:pPr fontAlgn="auto">
              <a:lnSpc>
                <a:spcPct val="100000"/>
              </a:lnSpc>
            </a:pPr>
            <a:endParaRPr lang="zh-CN" altLang="en-US" sz="2800" dirty="0"/>
          </a:p>
          <a:p>
            <a:pPr fontAlgn="auto">
              <a:lnSpc>
                <a:spcPct val="100000"/>
              </a:lnSpc>
            </a:pPr>
            <a:r>
              <a:rPr lang="zh-CN" altLang="en-US" sz="2800" dirty="0"/>
              <a:t>答案：</a:t>
            </a:r>
            <a:r>
              <a:rPr lang="zh-CN" altLang="zh-CN" sz="2800" dirty="0"/>
              <a:t>B</a:t>
            </a:r>
            <a:endParaRPr lang="zh-CN" altLang="zh-CN" sz="2800" dirty="0"/>
          </a:p>
        </p:txBody>
      </p:sp>
      <p:sp>
        <p:nvSpPr>
          <p:cNvPr id="82947" name="Rectangle 3"/>
          <p:cNvSpPr/>
          <p:nvPr/>
        </p:nvSpPr>
        <p:spPr>
          <a:xfrm>
            <a:off x="4654550" y="4025900"/>
            <a:ext cx="5618163" cy="119888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zh-CN" sz="2400" dirty="0">
                <a:solidFill>
                  <a:schemeClr val="bg1"/>
                </a:solidFill>
                <a:latin typeface="楷体_GB2312" panose="02010609030101010101" pitchFamily="49" charset="-122"/>
                <a:ea typeface="楷体_GB2312" panose="02010609030101010101" pitchFamily="49" charset="-122"/>
              </a:rPr>
              <a:t>M</a:t>
            </a:r>
            <a:r>
              <a:rPr lang="zh-CN" altLang="en-US" sz="2400" dirty="0">
                <a:solidFill>
                  <a:schemeClr val="bg1"/>
                </a:solidFill>
                <a:latin typeface="楷体_GB2312" panose="02010609030101010101" pitchFamily="49" charset="-122"/>
                <a:ea typeface="楷体_GB2312" panose="02010609030101010101" pitchFamily="49" charset="-122"/>
              </a:rPr>
              <a:t>个同类资源</a:t>
            </a:r>
            <a:r>
              <a:rPr lang="zh-CN" altLang="zh-CN" sz="2400" dirty="0">
                <a:solidFill>
                  <a:schemeClr val="bg1"/>
                </a:solidFill>
                <a:latin typeface="楷体_GB2312" panose="02010609030101010101" pitchFamily="49" charset="-122"/>
                <a:ea typeface="楷体_GB2312" panose="02010609030101010101" pitchFamily="49" charset="-122"/>
              </a:rPr>
              <a:t>,N</a:t>
            </a:r>
            <a:r>
              <a:rPr lang="zh-CN" altLang="en-US" sz="2400" dirty="0">
                <a:solidFill>
                  <a:schemeClr val="bg1"/>
                </a:solidFill>
                <a:latin typeface="楷体_GB2312" panose="02010609030101010101" pitchFamily="49" charset="-122"/>
                <a:ea typeface="楷体_GB2312" panose="02010609030101010101" pitchFamily="49" charset="-122"/>
              </a:rPr>
              <a:t>个进程</a:t>
            </a:r>
            <a:r>
              <a:rPr lang="zh-CN" altLang="zh-CN" sz="2400" dirty="0">
                <a:solidFill>
                  <a:schemeClr val="bg1"/>
                </a:solidFill>
                <a:latin typeface="楷体_GB2312" panose="02010609030101010101" pitchFamily="49" charset="-122"/>
                <a:ea typeface="楷体_GB2312" panose="02010609030101010101" pitchFamily="49" charset="-122"/>
              </a:rPr>
              <a:t>,</a:t>
            </a:r>
            <a:r>
              <a:rPr lang="zh-CN" altLang="en-US" sz="2400" dirty="0">
                <a:solidFill>
                  <a:schemeClr val="bg1"/>
                </a:solidFill>
                <a:latin typeface="楷体_GB2312" panose="02010609030101010101" pitchFamily="49" charset="-122"/>
                <a:ea typeface="楷体_GB2312" panose="02010609030101010101" pitchFamily="49" charset="-122"/>
              </a:rPr>
              <a:t>每个进程对资源的最大需求是</a:t>
            </a:r>
            <a:r>
              <a:rPr lang="zh-CN" altLang="zh-CN" sz="2400" dirty="0">
                <a:solidFill>
                  <a:schemeClr val="bg1"/>
                </a:solidFill>
                <a:latin typeface="楷体_GB2312" panose="02010609030101010101" pitchFamily="49" charset="-122"/>
                <a:ea typeface="楷体_GB2312" panose="02010609030101010101" pitchFamily="49" charset="-122"/>
              </a:rPr>
              <a:t>Max,M</a:t>
            </a:r>
            <a:r>
              <a:rPr lang="zh-CN" altLang="en-US" sz="2400" dirty="0">
                <a:solidFill>
                  <a:schemeClr val="bg1"/>
                </a:solidFill>
                <a:latin typeface="楷体_GB2312" panose="02010609030101010101" pitchFamily="49" charset="-122"/>
                <a:ea typeface="楷体_GB2312" panose="02010609030101010101" pitchFamily="49" charset="-122"/>
              </a:rPr>
              <a:t>、</a:t>
            </a:r>
            <a:r>
              <a:rPr lang="zh-CN" altLang="zh-CN" sz="2400" dirty="0">
                <a:solidFill>
                  <a:schemeClr val="bg1"/>
                </a:solidFill>
                <a:latin typeface="楷体_GB2312" panose="02010609030101010101" pitchFamily="49" charset="-122"/>
                <a:ea typeface="楷体_GB2312" panose="02010609030101010101" pitchFamily="49" charset="-122"/>
              </a:rPr>
              <a:t>N</a:t>
            </a:r>
            <a:r>
              <a:rPr lang="zh-CN" altLang="en-US" sz="2400" dirty="0">
                <a:solidFill>
                  <a:schemeClr val="bg1"/>
                </a:solidFill>
                <a:latin typeface="楷体_GB2312" panose="02010609030101010101" pitchFamily="49" charset="-122"/>
                <a:ea typeface="楷体_GB2312" panose="02010609030101010101" pitchFamily="49" charset="-122"/>
              </a:rPr>
              <a:t>、</a:t>
            </a:r>
            <a:r>
              <a:rPr lang="zh-CN" altLang="zh-CN" sz="2400" dirty="0">
                <a:solidFill>
                  <a:schemeClr val="bg1"/>
                </a:solidFill>
                <a:latin typeface="楷体_GB2312" panose="02010609030101010101" pitchFamily="49" charset="-122"/>
                <a:ea typeface="楷体_GB2312" panose="02010609030101010101" pitchFamily="49" charset="-122"/>
              </a:rPr>
              <a:t>Max</a:t>
            </a:r>
            <a:r>
              <a:rPr lang="zh-CN" altLang="en-US" sz="2400" dirty="0">
                <a:solidFill>
                  <a:schemeClr val="bg1"/>
                </a:solidFill>
                <a:latin typeface="楷体_GB2312" panose="02010609030101010101" pitchFamily="49" charset="-122"/>
                <a:ea typeface="楷体_GB2312" panose="02010609030101010101" pitchFamily="49" charset="-122"/>
              </a:rPr>
              <a:t>满足什么不等式，系统不会发生死锁？</a:t>
            </a:r>
            <a:endParaRPr lang="zh-CN" altLang="en-US" sz="2400" dirty="0">
              <a:solidFill>
                <a:schemeClr val="bg1"/>
              </a:solidFill>
              <a:latin typeface="楷体_GB2312" panose="02010609030101010101" pitchFamily="49" charset="-122"/>
              <a:ea typeface="楷体_GB2312" panose="02010609030101010101" pitchFamily="49" charset="-122"/>
            </a:endParaRPr>
          </a:p>
        </p:txBody>
      </p:sp>
      <p:sp>
        <p:nvSpPr>
          <p:cNvPr id="82948" name="Rectangle 4"/>
          <p:cNvSpPr/>
          <p:nvPr/>
        </p:nvSpPr>
        <p:spPr>
          <a:xfrm>
            <a:off x="6019800" y="5364480"/>
            <a:ext cx="3886200" cy="635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algn="ctr" eaLnBrk="1" hangingPunct="1">
              <a:spcBef>
                <a:spcPct val="0"/>
              </a:spcBef>
              <a:buClrTx/>
              <a:buSzTx/>
              <a:buFont typeface="Arial" panose="020B0604020202020204" pitchFamily="34" charset="0"/>
              <a:buNone/>
            </a:pPr>
            <a:r>
              <a:rPr lang="zh-CN" altLang="zh-CN" sz="2800" dirty="0">
                <a:solidFill>
                  <a:schemeClr val="bg1"/>
                </a:solidFill>
                <a:latin typeface="Comic Sans MS" panose="030F0702030302020204" pitchFamily="66" charset="0"/>
              </a:rPr>
              <a:t>M-N*(Max-1)&gt;=1</a:t>
            </a:r>
            <a:endParaRPr lang="zh-CN" altLang="zh-CN" sz="2800" b="0" dirty="0">
              <a:solidFill>
                <a:schemeClr val="bg1"/>
              </a:solidFill>
              <a:latin typeface="Comic Sans MS" panose="030F0702030302020204" pitchFamily="66" charset="0"/>
            </a:endParaRPr>
          </a:p>
        </p:txBody>
      </p:sp>
      <p:sp>
        <p:nvSpPr>
          <p:cNvPr id="82950" name="Rectangle 6"/>
          <p:cNvSpPr/>
          <p:nvPr/>
        </p:nvSpPr>
        <p:spPr>
          <a:xfrm>
            <a:off x="4656138" y="2781300"/>
            <a:ext cx="5616575" cy="119888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chemeClr val="bg1"/>
                </a:solidFill>
                <a:latin typeface="楷体_GB2312" panose="02010609030101010101" pitchFamily="49" charset="-122"/>
                <a:ea typeface="楷体_GB2312" panose="02010609030101010101" pitchFamily="49" charset="-122"/>
              </a:rPr>
              <a:t>当每个进程都获得了</a:t>
            </a:r>
            <a:r>
              <a:rPr lang="zh-CN" altLang="zh-CN" sz="2400" dirty="0">
                <a:solidFill>
                  <a:schemeClr val="bg1"/>
                </a:solidFill>
                <a:latin typeface="楷体_GB2312" panose="02010609030101010101" pitchFamily="49" charset="-122"/>
                <a:ea typeface="楷体_GB2312" panose="02010609030101010101" pitchFamily="49" charset="-122"/>
              </a:rPr>
              <a:t>2</a:t>
            </a:r>
            <a:r>
              <a:rPr lang="zh-CN" altLang="en-US" sz="2400" dirty="0">
                <a:solidFill>
                  <a:schemeClr val="bg1"/>
                </a:solidFill>
                <a:latin typeface="楷体_GB2312" panose="02010609030101010101" pitchFamily="49" charset="-122"/>
                <a:ea typeface="楷体_GB2312" panose="02010609030101010101" pitchFamily="49" charset="-122"/>
              </a:rPr>
              <a:t>台打印机且系统剩余打印机不少于</a:t>
            </a:r>
            <a:r>
              <a:rPr lang="zh-CN" altLang="zh-CN" sz="2400" dirty="0">
                <a:solidFill>
                  <a:schemeClr val="bg1"/>
                </a:solidFill>
                <a:latin typeface="楷体_GB2312" panose="02010609030101010101" pitchFamily="49" charset="-122"/>
                <a:ea typeface="楷体_GB2312" panose="02010609030101010101" pitchFamily="49" charset="-122"/>
              </a:rPr>
              <a:t>1</a:t>
            </a:r>
            <a:r>
              <a:rPr lang="zh-CN" altLang="en-US" sz="2400" dirty="0">
                <a:solidFill>
                  <a:schemeClr val="bg1"/>
                </a:solidFill>
                <a:latin typeface="楷体_GB2312" panose="02010609030101010101" pitchFamily="49" charset="-122"/>
                <a:ea typeface="楷体_GB2312" panose="02010609030101010101" pitchFamily="49" charset="-122"/>
              </a:rPr>
              <a:t>台时，系统不会死锁。即</a:t>
            </a:r>
            <a:r>
              <a:rPr lang="zh-CN" altLang="zh-CN" sz="2400" dirty="0">
                <a:solidFill>
                  <a:schemeClr val="bg1"/>
                </a:solidFill>
                <a:latin typeface="楷体_GB2312" panose="02010609030101010101" pitchFamily="49" charset="-122"/>
                <a:ea typeface="楷体_GB2312" panose="02010609030101010101" pitchFamily="49" charset="-122"/>
              </a:rPr>
              <a:t>11-2N&gt;=1</a:t>
            </a:r>
            <a:endParaRPr lang="zh-CN" altLang="zh-CN" sz="2400" dirty="0">
              <a:solidFill>
                <a:schemeClr val="bg1"/>
              </a:solidFill>
              <a:latin typeface="楷体_GB2312" panose="02010609030101010101" pitchFamily="49" charset="-122"/>
              <a:ea typeface="楷体_GB2312" panose="02010609030101010101" pitchFamily="49" charset="-122"/>
            </a:endParaRPr>
          </a:p>
        </p:txBody>
      </p:sp>
      <p:sp>
        <p:nvSpPr>
          <p:cNvPr id="2" name="文本框 1"/>
          <p:cNvSpPr txBox="1"/>
          <p:nvPr/>
        </p:nvSpPr>
        <p:spPr>
          <a:xfrm>
            <a:off x="195580" y="5450205"/>
            <a:ext cx="5915025" cy="368300"/>
          </a:xfrm>
          <a:prstGeom prst="rect">
            <a:avLst/>
          </a:prstGeom>
          <a:noFill/>
        </p:spPr>
        <p:txBody>
          <a:bodyPr wrap="square" rtlCol="0">
            <a:spAutoFit/>
          </a:bodyPr>
          <a:lstStyle/>
          <a:p>
            <a:r>
              <a:rPr lang="zh-CN" altLang="en-US">
                <a:solidFill>
                  <a:srgbClr val="FF0000"/>
                </a:solidFill>
              </a:rPr>
              <a:t>不会死锁：每个进程分</a:t>
            </a:r>
            <a:r>
              <a:rPr lang="en-US" altLang="zh-CN">
                <a:solidFill>
                  <a:srgbClr val="FF0000"/>
                </a:solidFill>
              </a:rPr>
              <a:t>MAX-1</a:t>
            </a:r>
            <a:r>
              <a:rPr lang="zh-CN" altLang="en-US">
                <a:solidFill>
                  <a:srgbClr val="FF0000"/>
                </a:solidFill>
              </a:rPr>
              <a:t>个，至少还富余一个</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50"/>
                                        </p:tgtEl>
                                        <p:attrNameLst>
                                          <p:attrName>style.visibility</p:attrName>
                                        </p:attrNameLst>
                                      </p:cBhvr>
                                      <p:to>
                                        <p:strVal val="visible"/>
                                      </p:to>
                                    </p:set>
                                    <p:animEffect transition="in" filter="dissolve">
                                      <p:cBhvr>
                                        <p:cTn id="7" dur="500"/>
                                        <p:tgtEl>
                                          <p:spTgt spid="829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dissolve">
                                      <p:cBhvr>
                                        <p:cTn id="12" dur="500"/>
                                        <p:tgtEl>
                                          <p:spTgt spid="829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948"/>
                                        </p:tgtEl>
                                        <p:attrNameLst>
                                          <p:attrName>style.visibility</p:attrName>
                                        </p:attrNameLst>
                                      </p:cBhvr>
                                      <p:to>
                                        <p:strVal val="visible"/>
                                      </p:to>
                                    </p:set>
                                    <p:animEffect transition="in" filter="blinds(horizontal)">
                                      <p:cBhvr>
                                        <p:cTn id="17" dur="500"/>
                                        <p:tgtEl>
                                          <p:spTgt spid="829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2946">
                                            <p:txEl>
                                              <p:charRg st="67" end="72"/>
                                            </p:txEl>
                                          </p:spTgt>
                                        </p:tgtEl>
                                        <p:attrNameLst>
                                          <p:attrName>style.visibility</p:attrName>
                                        </p:attrNameLst>
                                      </p:cBhvr>
                                      <p:to>
                                        <p:strVal val="visible"/>
                                      </p:to>
                                    </p:set>
                                    <p:animEffect transition="in" filter="blinds(horizontal)">
                                      <p:cBhvr>
                                        <p:cTn id="22" dur="500"/>
                                        <p:tgtEl>
                                          <p:spTgt spid="82946">
                                            <p:txEl>
                                              <p:charRg st="67"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ldLvl="0" animBg="1"/>
      <p:bldP spid="82948" grpId="0" bldLvl="0" animBg="1"/>
      <p:bldP spid="82950"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11275" y="1382395"/>
            <a:ext cx="8930005" cy="267652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若系统中有</a:t>
            </a:r>
            <a:r>
              <a:rPr lang="en-US" altLang="zh-CN" sz="2400">
                <a:latin typeface="宋体" panose="02010600030101010101" pitchFamily="2" charset="-122"/>
                <a:ea typeface="宋体" panose="02010600030101010101" pitchFamily="2" charset="-122"/>
              </a:rPr>
              <a:t>n(n≥2)</a:t>
            </a:r>
            <a:r>
              <a:rPr lang="zh-CN" altLang="en-US" sz="2400">
                <a:latin typeface="宋体" panose="02010600030101010101" pitchFamily="2" charset="-122"/>
                <a:ea typeface="宋体" panose="02010600030101010101" pitchFamily="2" charset="-122"/>
              </a:rPr>
              <a:t>个进程，每个进程均需要使用某类临界资源</a:t>
            </a: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个，则系统不会发生死锁所需的该类资源总数至少是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2021</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 2</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 n</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en-US" altLang="zh-CN" sz="2400">
                <a:latin typeface="宋体" panose="02010600030101010101" pitchFamily="2" charset="-122"/>
                <a:ea typeface="宋体" panose="02010600030101010101" pitchFamily="2" charset="-122"/>
              </a:rPr>
              <a:t> n+1</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 2n</a:t>
            </a:r>
            <a:endParaRPr lang="en-US" altLang="zh-CN" sz="2400">
              <a:latin typeface="宋体" panose="02010600030101010101" pitchFamily="2" charset="-122"/>
              <a:ea typeface="宋体" panose="02010600030101010101" pitchFamily="2" charset="-122"/>
            </a:endParaRPr>
          </a:p>
        </p:txBody>
      </p:sp>
      <p:sp>
        <p:nvSpPr>
          <p:cNvPr id="3" name="文本框 2"/>
          <p:cNvSpPr txBox="1"/>
          <p:nvPr/>
        </p:nvSpPr>
        <p:spPr>
          <a:xfrm>
            <a:off x="1311275" y="4058920"/>
            <a:ext cx="9307195" cy="267652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2. </a:t>
            </a:r>
            <a:r>
              <a:rPr lang="zh-CN" altLang="en-US" sz="2400">
                <a:latin typeface="宋体" panose="02010600030101010101" pitchFamily="2" charset="-122"/>
                <a:ea typeface="宋体" panose="02010600030101010101" pitchFamily="2" charset="-122"/>
              </a:rPr>
              <a:t>某计算机系统中有</a:t>
            </a:r>
            <a:r>
              <a:rPr lang="en-US" altLang="zh-CN" sz="2400">
                <a:latin typeface="宋体" panose="02010600030101010101" pitchFamily="2" charset="-122"/>
                <a:ea typeface="宋体" panose="02010600030101010101" pitchFamily="2" charset="-122"/>
              </a:rPr>
              <a:t>8</a:t>
            </a:r>
            <a:r>
              <a:rPr lang="zh-CN" altLang="en-US" sz="2400">
                <a:latin typeface="宋体" panose="02010600030101010101" pitchFamily="2" charset="-122"/>
                <a:ea typeface="宋体" panose="02010600030101010101" pitchFamily="2" charset="-122"/>
              </a:rPr>
              <a:t>台打印机，由</a:t>
            </a:r>
            <a:r>
              <a:rPr lang="en-US" altLang="zh-CN" sz="2400">
                <a:latin typeface="宋体" panose="02010600030101010101" pitchFamily="2" charset="-122"/>
                <a:ea typeface="宋体" panose="02010600030101010101" pitchFamily="2" charset="-122"/>
              </a:rPr>
              <a:t>K</a:t>
            </a:r>
            <a:r>
              <a:rPr lang="zh-CN" altLang="en-US" sz="2400">
                <a:latin typeface="宋体" panose="02010600030101010101" pitchFamily="2" charset="-122"/>
                <a:ea typeface="宋体" panose="02010600030101010101" pitchFamily="2" charset="-122"/>
              </a:rPr>
              <a:t>个进程竞争使用，每个进程最多需要</a:t>
            </a:r>
            <a:r>
              <a:rPr lang="en-US" altLang="zh-CN" sz="24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台打印机。该系统可能会发生死锁的</a:t>
            </a:r>
            <a:r>
              <a:rPr lang="en-US" altLang="zh-CN" sz="2400">
                <a:latin typeface="宋体" panose="02010600030101010101" pitchFamily="2" charset="-122"/>
                <a:ea typeface="宋体" panose="02010600030101010101" pitchFamily="2" charset="-122"/>
              </a:rPr>
              <a:t>K</a:t>
            </a:r>
            <a:r>
              <a:rPr lang="zh-CN" altLang="en-US" sz="2400">
                <a:latin typeface="宋体" panose="02010600030101010101" pitchFamily="2" charset="-122"/>
                <a:ea typeface="宋体" panose="02010600030101010101" pitchFamily="2" charset="-122"/>
              </a:rPr>
              <a:t>的最小值是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2009</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A.2</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B.3</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en-US" altLang="zh-CN" sz="2400">
                <a:latin typeface="宋体" panose="02010600030101010101" pitchFamily="2" charset="-122"/>
                <a:ea typeface="宋体" panose="02010600030101010101" pitchFamily="2" charset="-122"/>
              </a:rPr>
              <a:t>.4</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D.5</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4295" y="2152650"/>
            <a:ext cx="9405620" cy="2676525"/>
          </a:xfrm>
          <a:prstGeom prst="rect">
            <a:avLst/>
          </a:prstGeom>
        </p:spPr>
        <p:txBody>
          <a:bodyPr wrap="square">
            <a:spAutoFit/>
          </a:bodyPr>
          <a:lstStyle/>
          <a:p>
            <a:pPr marL="266700" indent="-266700" algn="l" defTabSz="266700">
              <a:spcAft>
                <a:spcPct val="0"/>
              </a:spcAft>
            </a:pPr>
            <a:r>
              <a:rPr lang="en-US" altLang="zh-CN" sz="20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某系统有</a:t>
            </a:r>
            <a:r>
              <a:rPr lang="en-US" altLang="zh-CN" sz="2400">
                <a:latin typeface="宋体" panose="02010600030101010101" pitchFamily="2" charset="-122"/>
                <a:ea typeface="宋体" panose="02010600030101010101" pitchFamily="2" charset="-122"/>
              </a:rPr>
              <a:t>n</a:t>
            </a:r>
            <a:r>
              <a:rPr lang="zh-CN" altLang="en-US" sz="2400">
                <a:latin typeface="宋体" panose="02010600030101010101" pitchFamily="2" charset="-122"/>
                <a:ea typeface="宋体" panose="02010600030101010101" pitchFamily="2" charset="-122"/>
              </a:rPr>
              <a:t>台互斥使用的同类设备</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三个并发进程分别需要</a:t>
            </a:r>
            <a:r>
              <a:rPr lang="en-US" altLang="zh-CN" sz="24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5</a:t>
            </a:r>
            <a:r>
              <a:rPr lang="zh-CN" altLang="en-US" sz="2400">
                <a:latin typeface="宋体" panose="02010600030101010101" pitchFamily="2" charset="-122"/>
                <a:ea typeface="宋体" panose="02010600030101010101" pitchFamily="2" charset="-122"/>
              </a:rPr>
              <a:t>台设备，可确保系统不发生死锁的设备数</a:t>
            </a:r>
            <a:r>
              <a:rPr lang="en-US" altLang="zh-CN" sz="2400">
                <a:latin typeface="宋体" panose="02010600030101010101" pitchFamily="2" charset="-122"/>
                <a:ea typeface="宋体" panose="02010600030101010101" pitchFamily="2" charset="-122"/>
              </a:rPr>
              <a:t>m</a:t>
            </a:r>
            <a:r>
              <a:rPr lang="zh-CN" altLang="en-US" sz="2400">
                <a:latin typeface="宋体" panose="02010600030101010101" pitchFamily="2" charset="-122"/>
                <a:ea typeface="宋体" panose="02010600030101010101" pitchFamily="2" charset="-122"/>
              </a:rPr>
              <a:t>最小为</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 </a:t>
            </a:r>
            <a:r>
              <a:rPr lang="en-US" altLang="zh-CN" sz="2400" b="1">
                <a:latin typeface="宋体" panose="02010600030101010101" pitchFamily="2" charset="-122"/>
                <a:ea typeface="宋体" panose="02010600030101010101" pitchFamily="2" charset="-122"/>
              </a:rPr>
              <a:t>2014</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A.9</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.10</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C.11</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D.12</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461665"/>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b="1" dirty="0">
                <a:solidFill>
                  <a:srgbClr val="0000FF"/>
                </a:solidFill>
                <a:latin typeface="+mj-ea"/>
              </a:rPr>
              <a:t>3.7 </a:t>
            </a:r>
            <a:r>
              <a:rPr lang="zh-CN" altLang="en-US" sz="2400" b="1" dirty="0">
                <a:solidFill>
                  <a:srgbClr val="0000FF"/>
                </a:solidFill>
                <a:latin typeface="+mj-ea"/>
              </a:rPr>
              <a:t>避免死锁</a:t>
            </a:r>
            <a:endParaRPr lang="zh-CN" altLang="en-US" sz="2400" b="1" dirty="0">
              <a:solidFill>
                <a:srgbClr val="0000FF"/>
              </a:solidFill>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避免死锁</a:t>
            </a:r>
            <a:endParaRPr lang="zh-CN" altLang="en-US" sz="2800" b="1" dirty="0">
              <a:solidFill>
                <a:schemeClr val="bg1"/>
              </a:solidFill>
            </a:endParaRPr>
          </a:p>
        </p:txBody>
      </p:sp>
      <p:sp>
        <p:nvSpPr>
          <p:cNvPr id="14" name="îŝļiḋe"/>
          <p:cNvSpPr/>
          <p:nvPr>
            <p:custDataLst>
              <p:tags r:id="rId1"/>
            </p:custDataLst>
          </p:nvPr>
        </p:nvSpPr>
        <p:spPr>
          <a:xfrm>
            <a:off x="562947" y="117851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15" name="í$1iďè"/>
          <p:cNvGrpSpPr/>
          <p:nvPr>
            <p:custDataLst>
              <p:tags r:id="rId2"/>
            </p:custDataLst>
          </p:nvPr>
        </p:nvGrpSpPr>
        <p:grpSpPr>
          <a:xfrm>
            <a:off x="687235" y="1218513"/>
            <a:ext cx="10683240" cy="906238"/>
            <a:chOff x="4136995" y="1170302"/>
            <a:chExt cx="10683240" cy="906238"/>
          </a:xfrm>
        </p:grpSpPr>
        <p:sp>
          <p:nvSpPr>
            <p:cNvPr id="16" name="îslîďê"/>
            <p:cNvSpPr/>
            <p:nvPr>
              <p:custDataLst>
                <p:tags r:id="rId3"/>
              </p:custDataLst>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7" name="ïSḻiḍé"/>
            <p:cNvSpPr txBox="1"/>
            <p:nvPr>
              <p:custDataLst>
                <p:tags r:id="rId4"/>
              </p:custDataLst>
            </p:nvPr>
          </p:nvSpPr>
          <p:spPr>
            <a:xfrm>
              <a:off x="4882485" y="1170302"/>
              <a:ext cx="9937750" cy="64960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endParaRPr lang="zh-CN" altLang="en-US" sz="2400" dirty="0">
                <a:latin typeface="+mj-ea"/>
                <a:ea typeface="+mj-ea"/>
              </a:endParaRPr>
            </a:p>
          </p:txBody>
        </p:sp>
      </p:grpSp>
      <p:grpSp>
        <p:nvGrpSpPr>
          <p:cNvPr id="18" name="išḷîḓé"/>
          <p:cNvGrpSpPr/>
          <p:nvPr>
            <p:custDataLst>
              <p:tags r:id="rId5"/>
            </p:custDataLst>
          </p:nvPr>
        </p:nvGrpSpPr>
        <p:grpSpPr>
          <a:xfrm>
            <a:off x="687235" y="2001390"/>
            <a:ext cx="10509885" cy="1757253"/>
            <a:chOff x="4136995" y="1904510"/>
            <a:chExt cx="10509885" cy="1757253"/>
          </a:xfrm>
        </p:grpSpPr>
        <p:sp>
          <p:nvSpPr>
            <p:cNvPr id="19" name="íśľïḋé"/>
            <p:cNvSpPr/>
            <p:nvPr>
              <p:custDataLst>
                <p:tags r:id="rId6"/>
              </p:custDataLst>
            </p:nvPr>
          </p:nvSpPr>
          <p:spPr>
            <a:xfrm>
              <a:off x="4136995" y="32978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21" name="îŝľîḓè"/>
            <p:cNvSpPr txBox="1"/>
            <p:nvPr>
              <p:custDataLst>
                <p:tags r:id="rId7"/>
              </p:custDataLst>
            </p:nvPr>
          </p:nvSpPr>
          <p:spPr>
            <a:xfrm>
              <a:off x="4883120" y="1904510"/>
              <a:ext cx="9763760" cy="80137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死锁避免算法</a:t>
              </a:r>
              <a:r>
                <a:rPr lang="zh-CN" altLang="en-US" sz="2400" dirty="0"/>
                <a:t>动态检查</a:t>
              </a:r>
              <a:r>
                <a:rPr lang="zh-CN" altLang="en-US" sz="2400" dirty="0">
                  <a:solidFill>
                    <a:schemeClr val="accent4">
                      <a:lumMod val="60000"/>
                      <a:lumOff val="40000"/>
                    </a:schemeClr>
                  </a:solidFill>
                </a:rPr>
                <a:t>资源分配状态</a:t>
              </a:r>
              <a:r>
                <a:rPr lang="zh-CN" altLang="en-US" sz="2400" dirty="0"/>
                <a:t>以</a:t>
              </a:r>
              <a:r>
                <a:rPr lang="zh-CN" altLang="en-US" sz="2400" dirty="0">
                  <a:solidFill>
                    <a:srgbClr val="FF0000"/>
                  </a:solidFill>
                </a:rPr>
                <a:t>确保</a:t>
              </a:r>
              <a:r>
                <a:rPr lang="zh-CN" altLang="en-US" sz="2400" dirty="0"/>
                <a:t>不会出现循环等待的情况。</a:t>
              </a:r>
              <a:endParaRPr lang="zh-CN" altLang="en-US" sz="2400" dirty="0"/>
            </a:p>
          </p:txBody>
        </p:sp>
      </p:grpSp>
      <p:grpSp>
        <p:nvGrpSpPr>
          <p:cNvPr id="22" name="ïSlíḍê"/>
          <p:cNvGrpSpPr/>
          <p:nvPr>
            <p:custDataLst>
              <p:tags r:id="rId8"/>
            </p:custDataLst>
          </p:nvPr>
        </p:nvGrpSpPr>
        <p:grpSpPr>
          <a:xfrm>
            <a:off x="687235" y="2796903"/>
            <a:ext cx="10811510" cy="2456747"/>
            <a:chOff x="4136995" y="3095039"/>
            <a:chExt cx="10811510" cy="2456747"/>
          </a:xfrm>
        </p:grpSpPr>
        <p:sp>
          <p:nvSpPr>
            <p:cNvPr id="23" name="ïsľíḓê"/>
            <p:cNvSpPr/>
            <p:nvPr>
              <p:custDataLst>
                <p:tags r:id="rId9"/>
              </p:custDataLst>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24" name="íṧļîḋê"/>
            <p:cNvSpPr txBox="1"/>
            <p:nvPr>
              <p:custDataLst>
                <p:tags r:id="rId10"/>
              </p:custDataLst>
            </p:nvPr>
          </p:nvSpPr>
          <p:spPr>
            <a:xfrm>
              <a:off x="4883120" y="3095039"/>
              <a:ext cx="10065385" cy="131127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sym typeface="+mn-ea"/>
                </a:rPr>
                <a:t>核心思想</a:t>
              </a:r>
              <a:r>
                <a:rPr lang="zh-CN" altLang="en-US" sz="2400" dirty="0">
                  <a:sym typeface="+mn-ea"/>
                </a:rPr>
                <a:t>：不限制进程申请资源的命令，但对每个申请资源的命令加以检查，根据检查结果决定是否进行资源分配。</a:t>
              </a:r>
              <a:endParaRPr lang="zh-CN" altLang="en-US" sz="2400" dirty="0"/>
            </a:p>
          </p:txBody>
        </p:sp>
      </p:grpSp>
      <p:sp>
        <p:nvSpPr>
          <p:cNvPr id="2" name="圆角矩形标注 1"/>
          <p:cNvSpPr/>
          <p:nvPr/>
        </p:nvSpPr>
        <p:spPr>
          <a:xfrm>
            <a:off x="3839210" y="4765993"/>
            <a:ext cx="5253038" cy="609600"/>
          </a:xfrm>
          <a:prstGeom prst="wedgeRoundRectCallout">
            <a:avLst>
              <a:gd name="adj1" fmla="val -42542"/>
              <a:gd name="adj2" fmla="val 20815"/>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FF0000"/>
                </a:solidFill>
              </a:rPr>
              <a:t>关键是确定资源分配的安全性！</a:t>
            </a:r>
            <a:endParaRPr lang="zh-CN" altLang="en-US" sz="2800" dirty="0">
              <a:solidFill>
                <a:srgbClr val="FF0000"/>
              </a:solidFill>
            </a:endParaRPr>
          </a:p>
          <a:p>
            <a:pPr marL="0" lvl="0" indent="0" eaLnBrk="1" hangingPunct="1">
              <a:spcBef>
                <a:spcPct val="0"/>
              </a:spcBef>
              <a:buClrTx/>
              <a:buSzTx/>
              <a:buFont typeface="Arial" panose="020B0604020202020204" pitchFamily="34" charset="0"/>
              <a:buNone/>
            </a:pP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图片 2"/>
          <p:cNvPicPr>
            <a:picLocks noChangeAspect="1"/>
          </p:cNvPicPr>
          <p:nvPr/>
        </p:nvPicPr>
        <p:blipFill>
          <a:blip r:embed="rId1"/>
          <a:stretch>
            <a:fillRect/>
          </a:stretch>
        </p:blipFill>
        <p:spPr>
          <a:xfrm>
            <a:off x="609600" y="1268413"/>
            <a:ext cx="8626475" cy="2160587"/>
          </a:xfrm>
          <a:prstGeom prst="rect">
            <a:avLst/>
          </a:prstGeom>
          <a:noFill/>
          <a:ln w="9525">
            <a:noFill/>
          </a:ln>
        </p:spPr>
      </p:pic>
      <p:pic>
        <p:nvPicPr>
          <p:cNvPr id="4" name="图片 3"/>
          <p:cNvPicPr>
            <a:picLocks noChangeAspect="1"/>
          </p:cNvPicPr>
          <p:nvPr/>
        </p:nvPicPr>
        <p:blipFill>
          <a:blip r:embed="rId2"/>
          <a:stretch>
            <a:fillRect/>
          </a:stretch>
        </p:blipFill>
        <p:spPr>
          <a:xfrm>
            <a:off x="606425" y="3644900"/>
            <a:ext cx="7177088" cy="2232025"/>
          </a:xfrm>
          <a:prstGeom prst="rect">
            <a:avLst/>
          </a:prstGeom>
          <a:noFill/>
          <a:ln w="9525">
            <a:noFill/>
          </a:ln>
        </p:spPr>
      </p:pic>
      <p:sp>
        <p:nvSpPr>
          <p:cNvPr id="5" name="圆角矩形标注 4"/>
          <p:cNvSpPr/>
          <p:nvPr/>
        </p:nvSpPr>
        <p:spPr>
          <a:xfrm>
            <a:off x="7953375" y="4005580"/>
            <a:ext cx="2108200" cy="802005"/>
          </a:xfrm>
          <a:prstGeom prst="wedgeRoundRectCallout">
            <a:avLst>
              <a:gd name="adj1" fmla="val -62204"/>
              <a:gd name="adj2" fmla="val -12470"/>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000" dirty="0"/>
              <a:t>假设</a:t>
            </a:r>
            <a:r>
              <a:rPr lang="en-US" altLang="zh-CN" sz="2000" dirty="0"/>
              <a:t>B</a:t>
            </a:r>
            <a:r>
              <a:rPr lang="zh-CN" altLang="en-US" sz="2000" dirty="0"/>
              <a:t>要再借</a:t>
            </a:r>
            <a:r>
              <a:rPr lang="en-US" altLang="zh-CN" sz="2000" dirty="0"/>
              <a:t>30</a:t>
            </a:r>
            <a:r>
              <a:rPr lang="zh-CN" altLang="en-US" sz="2000" dirty="0"/>
              <a:t>亿，能借吗？</a:t>
            </a:r>
            <a:endParaRPr lang="zh-CN" altLang="en-US" sz="2000" dirty="0"/>
          </a:p>
        </p:txBody>
      </p:sp>
      <p:sp>
        <p:nvSpPr>
          <p:cNvPr id="8" name="圆角矩形标注 7"/>
          <p:cNvSpPr/>
          <p:nvPr/>
        </p:nvSpPr>
        <p:spPr>
          <a:xfrm>
            <a:off x="7953375" y="5054600"/>
            <a:ext cx="2108200" cy="822325"/>
          </a:xfrm>
          <a:prstGeom prst="wedgeRoundRectCallout">
            <a:avLst>
              <a:gd name="adj1" fmla="val -62649"/>
              <a:gd name="adj2" fmla="val -31467"/>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000" dirty="0"/>
              <a:t>假设</a:t>
            </a:r>
            <a:r>
              <a:rPr lang="en-US" altLang="zh-CN" sz="2000" dirty="0"/>
              <a:t>A</a:t>
            </a:r>
            <a:r>
              <a:rPr lang="zh-CN" altLang="en-US" sz="2000" dirty="0"/>
              <a:t>要再借</a:t>
            </a:r>
            <a:r>
              <a:rPr lang="en-US" altLang="zh-CN" sz="2000" dirty="0"/>
              <a:t>20</a:t>
            </a:r>
            <a:r>
              <a:rPr lang="zh-CN" altLang="en-US" sz="2000" dirty="0"/>
              <a:t>亿，能借吗？</a:t>
            </a:r>
            <a:endParaRPr lang="zh-CN" altLang="en-US" sz="2000"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避免死锁</a:t>
            </a:r>
            <a:endParaRPr lang="zh-CN" alt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安全状态</a:t>
            </a:r>
            <a:endParaRPr lang="zh-CN" altLang="en-US" sz="2800" b="1" dirty="0">
              <a:solidFill>
                <a:schemeClr val="bg1"/>
              </a:solidFill>
            </a:endParaRPr>
          </a:p>
        </p:txBody>
      </p:sp>
      <p:sp>
        <p:nvSpPr>
          <p:cNvPr id="31" name="文本框 30"/>
          <p:cNvSpPr txBox="1"/>
          <p:nvPr/>
        </p:nvSpPr>
        <p:spPr>
          <a:xfrm>
            <a:off x="263587" y="1476799"/>
            <a:ext cx="10839635" cy="4523105"/>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zh-CN" altLang="en-US" sz="2400" dirty="0"/>
              <a:t>当进程申请一个有效的资源的时候，系统必须确定分配后是安全的。</a:t>
            </a:r>
            <a:endParaRPr lang="zh-CN" altLang="en-US" sz="2400" dirty="0"/>
          </a:p>
          <a:p>
            <a:pPr marL="457200" indent="-457200">
              <a:lnSpc>
                <a:spcPct val="150000"/>
              </a:lnSpc>
              <a:buFont typeface="Wingdings" panose="05000000000000000000" pitchFamily="2" charset="2"/>
              <a:buChar char="Ø"/>
            </a:pPr>
            <a:r>
              <a:rPr lang="zh-CN" altLang="en-US" sz="2400" dirty="0">
                <a:solidFill>
                  <a:srgbClr val="FF0000"/>
                </a:solidFill>
              </a:rPr>
              <a:t>如果存在一个安全序列，则系统处于安全态。</a:t>
            </a:r>
            <a:endParaRPr lang="zh-CN" altLang="en-US" sz="2400" dirty="0">
              <a:solidFill>
                <a:srgbClr val="FF0000"/>
              </a:solidFill>
            </a:endParaRPr>
          </a:p>
          <a:p>
            <a:pPr indent="0">
              <a:lnSpc>
                <a:spcPct val="150000"/>
              </a:lnSpc>
              <a:buFont typeface="Wingdings" panose="05000000000000000000" pitchFamily="2" charset="2"/>
              <a:buNone/>
            </a:pPr>
            <a:endParaRPr lang="zh-CN" altLang="en-US" sz="2400" dirty="0">
              <a:solidFill>
                <a:srgbClr val="FF0000"/>
              </a:solidFill>
            </a:endParaRPr>
          </a:p>
          <a:p>
            <a:pPr marL="457200" indent="-457200">
              <a:lnSpc>
                <a:spcPct val="150000"/>
              </a:lnSpc>
              <a:buFont typeface="Wingdings" panose="05000000000000000000" pitchFamily="2" charset="2"/>
              <a:buChar char="Ø"/>
            </a:pPr>
            <a:r>
              <a:rPr lang="zh-CN" altLang="en-US" sz="2400" dirty="0"/>
              <a:t>进程序列</a:t>
            </a:r>
            <a:r>
              <a:rPr lang="en-US" altLang="zh-CN" sz="2400" dirty="0"/>
              <a:t>&lt;P1, P2, …, </a:t>
            </a:r>
            <a:r>
              <a:rPr lang="en-US" altLang="zh-CN" sz="2400" dirty="0" err="1"/>
              <a:t>Pn</a:t>
            </a:r>
            <a:r>
              <a:rPr lang="en-US" altLang="zh-CN" sz="2400" dirty="0"/>
              <a:t>&gt;</a:t>
            </a:r>
            <a:r>
              <a:rPr lang="zh-CN" altLang="en-US" sz="2400" dirty="0"/>
              <a:t>是安全的，即每一个进程</a:t>
            </a:r>
            <a:r>
              <a:rPr lang="en-US" altLang="zh-CN" sz="2400" dirty="0"/>
              <a:t>Pi</a:t>
            </a:r>
            <a:r>
              <a:rPr lang="zh-CN" altLang="en-US" sz="2400" dirty="0"/>
              <a:t>所申请的可以被满足的资源数加上其他进程所持有的该资源数小于系统资源总数。</a:t>
            </a:r>
            <a:endParaRPr lang="zh-CN" altLang="en-US" sz="2400" dirty="0"/>
          </a:p>
          <a:p>
            <a:pPr marL="914400" lvl="1" indent="-457200">
              <a:lnSpc>
                <a:spcPct val="150000"/>
              </a:lnSpc>
              <a:buFont typeface="Wingdings" panose="05000000000000000000" pitchFamily="2" charset="2"/>
              <a:buChar char="l"/>
            </a:pPr>
            <a:r>
              <a:rPr lang="zh-CN" altLang="en-US" sz="2400" dirty="0"/>
              <a:t>如果 </a:t>
            </a:r>
            <a:r>
              <a:rPr lang="en-US" altLang="zh-CN" sz="2400" dirty="0"/>
              <a:t>Pi </a:t>
            </a:r>
            <a:r>
              <a:rPr lang="zh-CN" altLang="en-US" sz="2400" dirty="0"/>
              <a:t>需要的资源不能马上获得，那么</a:t>
            </a:r>
            <a:r>
              <a:rPr lang="en-US" altLang="zh-CN" sz="2400" dirty="0"/>
              <a:t>Pi </a:t>
            </a:r>
            <a:r>
              <a:rPr lang="zh-CN" altLang="en-US" sz="2400" dirty="0"/>
              <a:t>等待直到所有的</a:t>
            </a:r>
            <a:r>
              <a:rPr lang="en-US" altLang="zh-CN" sz="2400" dirty="0"/>
              <a:t>Pi-1</a:t>
            </a:r>
            <a:r>
              <a:rPr lang="zh-CN" altLang="en-US" sz="2400" dirty="0"/>
              <a:t>进程结束。</a:t>
            </a:r>
            <a:endParaRPr lang="zh-CN" altLang="en-US" sz="2400" dirty="0"/>
          </a:p>
          <a:p>
            <a:pPr marL="914400" lvl="1" indent="-457200">
              <a:lnSpc>
                <a:spcPct val="150000"/>
              </a:lnSpc>
              <a:buFont typeface="Wingdings" panose="05000000000000000000" pitchFamily="2" charset="2"/>
              <a:buChar char="l"/>
            </a:pPr>
            <a:r>
              <a:rPr lang="zh-CN" altLang="en-US" sz="2400" dirty="0"/>
              <a:t>当</a:t>
            </a:r>
            <a:r>
              <a:rPr lang="en-US" altLang="zh-CN" sz="2400" dirty="0"/>
              <a:t>Pi-1 </a:t>
            </a:r>
            <a:r>
              <a:rPr lang="zh-CN" altLang="en-US" sz="2400" dirty="0"/>
              <a:t>结束后， </a:t>
            </a:r>
            <a:r>
              <a:rPr lang="en-US" altLang="zh-CN" sz="2400" dirty="0"/>
              <a:t>Pi</a:t>
            </a:r>
            <a:r>
              <a:rPr lang="zh-CN" altLang="en-US" sz="2400" dirty="0"/>
              <a:t>获得所需的资源，执行、返回资源、结束。</a:t>
            </a:r>
            <a:endParaRPr lang="zh-CN" altLang="en-US" sz="2400" dirty="0"/>
          </a:p>
          <a:p>
            <a:pPr marL="914400" lvl="1" indent="-457200">
              <a:lnSpc>
                <a:spcPct val="150000"/>
              </a:lnSpc>
              <a:buFont typeface="Wingdings" panose="05000000000000000000" pitchFamily="2" charset="2"/>
              <a:buChar char="l"/>
            </a:pPr>
            <a:r>
              <a:rPr lang="zh-CN" altLang="en-US" sz="2400" dirty="0"/>
              <a:t>当</a:t>
            </a:r>
            <a:r>
              <a:rPr lang="en-US" altLang="zh-CN" sz="2400" dirty="0"/>
              <a:t>Pi</a:t>
            </a:r>
            <a:r>
              <a:rPr lang="zh-CN" altLang="en-US" sz="2400" dirty="0"/>
              <a:t>结束后， </a:t>
            </a:r>
            <a:r>
              <a:rPr lang="en-US" altLang="zh-CN" sz="2400" dirty="0"/>
              <a:t>Pi+1</a:t>
            </a:r>
            <a:r>
              <a:rPr lang="zh-CN" altLang="en-US" sz="2400" dirty="0"/>
              <a:t>获得所需的资源执行，依此类推。</a:t>
            </a:r>
            <a:endParaRPr lang="zh-CN" altLang="en-US" sz="2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37870" y="539043"/>
            <a:ext cx="7026275" cy="521970"/>
          </a:xfrm>
          <a:prstGeom prst="rect">
            <a:avLst/>
          </a:prstGeom>
        </p:spPr>
        <p:txBody>
          <a:bodyPr wrap="square">
            <a:spAutoFit/>
          </a:bodyPr>
          <a:lstStyle/>
          <a:p>
            <a:r>
              <a:rPr lang="zh-CN" altLang="en-US" sz="2800" b="1" dirty="0">
                <a:solidFill>
                  <a:schemeClr val="accent4">
                    <a:lumMod val="60000"/>
                    <a:lumOff val="40000"/>
                  </a:schemeClr>
                </a:solidFill>
              </a:rPr>
              <a:t>安全状态举例</a:t>
            </a:r>
            <a:r>
              <a:rPr lang="en-US" altLang="zh-CN" sz="2800" b="1" dirty="0">
                <a:solidFill>
                  <a:schemeClr val="accent4">
                    <a:lumMod val="60000"/>
                    <a:lumOff val="40000"/>
                  </a:schemeClr>
                </a:solidFill>
              </a:rPr>
              <a:t>1</a:t>
            </a:r>
            <a:endParaRPr lang="en-US" altLang="zh-CN" sz="2800" b="1" dirty="0">
              <a:solidFill>
                <a:schemeClr val="accent4">
                  <a:lumMod val="60000"/>
                  <a:lumOff val="40000"/>
                </a:schemeClr>
              </a:solidFill>
            </a:endParaRPr>
          </a:p>
        </p:txBody>
      </p:sp>
      <p:sp>
        <p:nvSpPr>
          <p:cNvPr id="2" name="圆角矩形标注 1"/>
          <p:cNvSpPr/>
          <p:nvPr/>
        </p:nvSpPr>
        <p:spPr>
          <a:xfrm>
            <a:off x="7700645" y="3429000"/>
            <a:ext cx="4173855" cy="965200"/>
          </a:xfrm>
          <a:prstGeom prst="wedgeRoundRectCallout">
            <a:avLst>
              <a:gd name="adj1" fmla="val -42542"/>
              <a:gd name="adj2" fmla="val 20815"/>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400" b="0" dirty="0">
                <a:sym typeface="宋体" panose="02010600030101010101" pitchFamily="2" charset="-122"/>
              </a:rPr>
              <a:t>先确定</a:t>
            </a:r>
            <a:r>
              <a:rPr lang="en-US" altLang="zh-CN" sz="2400" b="0" dirty="0">
                <a:sym typeface="宋体" panose="02010600030101010101" pitchFamily="2" charset="-122"/>
              </a:rPr>
              <a:t>available</a:t>
            </a:r>
            <a:r>
              <a:rPr lang="zh-CN" altLang="zh-CN" sz="2400" b="0" dirty="0">
                <a:sym typeface="宋体" panose="02010600030101010101" pitchFamily="2" charset="-122"/>
              </a:rPr>
              <a:t>和</a:t>
            </a:r>
            <a:r>
              <a:rPr lang="en-US" altLang="zh-CN" sz="2400" b="0" dirty="0">
                <a:sym typeface="宋体" panose="02010600030101010101" pitchFamily="2" charset="-122"/>
              </a:rPr>
              <a:t>need</a:t>
            </a:r>
            <a:r>
              <a:rPr lang="zh-CN" altLang="en-US" sz="2400" b="0" dirty="0">
                <a:sym typeface="宋体" panose="02010600030101010101" pitchFamily="2" charset="-122"/>
              </a:rPr>
              <a:t>，再求安全序列。</a:t>
            </a:r>
            <a:endParaRPr lang="zh-CN" altLang="en-US" sz="2400" b="0" dirty="0">
              <a:sym typeface="宋体" panose="02010600030101010101" pitchFamily="2" charset="-122"/>
            </a:endParaRPr>
          </a:p>
        </p:txBody>
      </p:sp>
      <p:sp>
        <p:nvSpPr>
          <p:cNvPr id="3" name="圆角矩形标注 2"/>
          <p:cNvSpPr/>
          <p:nvPr/>
        </p:nvSpPr>
        <p:spPr>
          <a:xfrm>
            <a:off x="7718425" y="2054225"/>
            <a:ext cx="4173855" cy="967105"/>
          </a:xfrm>
          <a:prstGeom prst="wedgeRoundRectCallout">
            <a:avLst>
              <a:gd name="adj1" fmla="val -42542"/>
              <a:gd name="adj2" fmla="val 20815"/>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buNone/>
            </a:pPr>
            <a:r>
              <a:rPr lang="zh-CN" altLang="en-US" sz="2400" b="0" dirty="0">
                <a:solidFill>
                  <a:srgbClr val="FF0000"/>
                </a:solidFill>
              </a:rPr>
              <a:t>思路：</a:t>
            </a:r>
            <a:r>
              <a:rPr lang="zh-CN" altLang="en-US" sz="2400" b="0" dirty="0"/>
              <a:t>如果能找到安全序列，系统就安全。</a:t>
            </a:r>
            <a:endParaRPr lang="zh-CN" altLang="en-US" sz="2400" b="0" dirty="0">
              <a:latin typeface="Times New Roman" panose="02020603050405020304" pitchFamily="18" charset="0"/>
              <a:ea typeface="Times New Roman" panose="02020603050405020304" pitchFamily="18" charset="0"/>
            </a:endParaRPr>
          </a:p>
        </p:txBody>
      </p:sp>
      <p:sp>
        <p:nvSpPr>
          <p:cNvPr id="47106" name="Rectangle 2"/>
          <p:cNvSpPr>
            <a:spLocks noGrp="1"/>
          </p:cNvSpPr>
          <p:nvPr>
            <p:ph type="body" sz="half" idx="1"/>
          </p:nvPr>
        </p:nvSpPr>
        <p:spPr>
          <a:xfrm>
            <a:off x="415925" y="1111250"/>
            <a:ext cx="11236325" cy="505460"/>
          </a:xfrm>
        </p:spPr>
        <p:txBody>
          <a:bodyPr vert="horz" wrap="square" lIns="91440" tIns="45720" rIns="91440" bIns="45720" anchor="t" anchorCtr="0">
            <a:normAutofit/>
          </a:bodyPr>
          <a:lstStyle/>
          <a:p>
            <a:pPr algn="just" fontAlgn="auto">
              <a:lnSpc>
                <a:spcPct val="100000"/>
              </a:lnSpc>
              <a:buClrTx/>
              <a:buSzTx/>
              <a:buFontTx/>
            </a:pPr>
            <a:r>
              <a:rPr lang="zh-CN" altLang="en-US" sz="2400" dirty="0">
                <a:sym typeface="+mn-ea"/>
              </a:rPr>
              <a:t>某时刻进程的资源使用情况见表，此时系统是否安全？</a:t>
            </a:r>
            <a:endParaRPr lang="zh-CN" altLang="en-US" sz="2400" dirty="0"/>
          </a:p>
        </p:txBody>
      </p:sp>
      <p:graphicFrame>
        <p:nvGraphicFramePr>
          <p:cNvPr id="253955" name="Group 3"/>
          <p:cNvGraphicFramePr>
            <a:graphicFrameLocks noGrp="1"/>
          </p:cNvGraphicFramePr>
          <p:nvPr/>
        </p:nvGraphicFramePr>
        <p:xfrm>
          <a:off x="655320" y="1783080"/>
          <a:ext cx="6858000" cy="3527427"/>
        </p:xfrm>
        <a:graphic>
          <a:graphicData uri="http://schemas.openxmlformats.org/drawingml/2006/table">
            <a:tbl>
              <a:tblPr/>
              <a:tblGrid>
                <a:gridCol w="1115641"/>
                <a:gridCol w="664217"/>
                <a:gridCol w="735654"/>
                <a:gridCol w="804051"/>
                <a:gridCol w="729574"/>
                <a:gridCol w="649018"/>
                <a:gridCol w="677896"/>
                <a:gridCol w="500062"/>
                <a:gridCol w="519822"/>
                <a:gridCol w="462063"/>
              </a:tblGrid>
              <a:tr h="609600">
                <a:tc rowSpan="2">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进程</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Allocation</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Need</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Available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650875">
                <a:tc vMerge="1">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a:t>
                      </a:r>
                      <a:r>
                        <a:rPr kumimoji="0" lang="en-US" altLang="zh-CN" sz="20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c vMerge="1">
                  <a:tcPr/>
                </a:tc>
              </a:tr>
              <a:tr h="566738">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c vMerge="1">
                  <a:tcPr/>
                </a:tc>
              </a:tr>
              <a:tr h="566738">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41" marR="914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c vMerge="1">
                  <a:tcPr/>
                </a:tc>
              </a:tr>
            </a:tbl>
          </a:graphicData>
        </a:graphic>
      </p:graphicFrame>
      <p:sp>
        <p:nvSpPr>
          <p:cNvPr id="11" name="圆角矩形标注 10"/>
          <p:cNvSpPr/>
          <p:nvPr/>
        </p:nvSpPr>
        <p:spPr>
          <a:xfrm>
            <a:off x="7718425" y="4801870"/>
            <a:ext cx="4173855" cy="838200"/>
          </a:xfrm>
          <a:prstGeom prst="wedgeRoundRectCallout">
            <a:avLst>
              <a:gd name="adj1" fmla="val -42542"/>
              <a:gd name="adj2" fmla="val 20815"/>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400" b="0" dirty="0">
                <a:sym typeface="宋体" panose="02010600030101010101" pitchFamily="2" charset="-122"/>
              </a:rPr>
              <a:t>结果：没有安全序列，系统不安全。</a:t>
            </a:r>
            <a:endParaRPr lang="zh-CN" altLang="en-US" sz="2400" b="0" dirty="0">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1+#ppt_w/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1+#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1+#ppt_w/2"/>
                                          </p:val>
                                        </p:tav>
                                        <p:tav tm="100000">
                                          <p:val>
                                            <p:strVal val="#ppt_x"/>
                                          </p:val>
                                        </p:tav>
                                      </p:tavLst>
                                    </p:anim>
                                    <p:anim calcmode="lin" valueType="num">
                                      <p:cBhvr>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11"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37870" y="188523"/>
            <a:ext cx="7026275" cy="521970"/>
          </a:xfrm>
          <a:prstGeom prst="rect">
            <a:avLst/>
          </a:prstGeom>
        </p:spPr>
        <p:txBody>
          <a:bodyPr wrap="square">
            <a:spAutoFit/>
          </a:bodyPr>
          <a:lstStyle/>
          <a:p>
            <a:r>
              <a:rPr lang="zh-CN" altLang="en-US" sz="2800" b="1" dirty="0">
                <a:solidFill>
                  <a:schemeClr val="accent4">
                    <a:lumMod val="60000"/>
                    <a:lumOff val="40000"/>
                  </a:schemeClr>
                </a:solidFill>
              </a:rPr>
              <a:t>安全状态举例</a:t>
            </a:r>
            <a:r>
              <a:rPr lang="en-US" altLang="zh-CN" sz="2800" b="1" dirty="0">
                <a:solidFill>
                  <a:schemeClr val="accent4">
                    <a:lumMod val="60000"/>
                    <a:lumOff val="40000"/>
                  </a:schemeClr>
                </a:solidFill>
              </a:rPr>
              <a:t>2</a:t>
            </a:r>
            <a:endParaRPr lang="en-US" altLang="zh-CN" sz="2800" b="1" dirty="0">
              <a:solidFill>
                <a:schemeClr val="accent4">
                  <a:lumMod val="60000"/>
                  <a:lumOff val="40000"/>
                </a:schemeClr>
              </a:solidFill>
            </a:endParaRPr>
          </a:p>
        </p:txBody>
      </p:sp>
      <p:sp>
        <p:nvSpPr>
          <p:cNvPr id="2" name="圆角矩形标注 1"/>
          <p:cNvSpPr/>
          <p:nvPr/>
        </p:nvSpPr>
        <p:spPr>
          <a:xfrm>
            <a:off x="7764145" y="5750560"/>
            <a:ext cx="1760220" cy="536575"/>
          </a:xfrm>
          <a:prstGeom prst="wedgeRoundRectCallout">
            <a:avLst>
              <a:gd name="adj1" fmla="val -42542"/>
              <a:gd name="adj2" fmla="val 20815"/>
              <a:gd name="adj3" fmla="val 16667"/>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mn-lt"/>
                <a:ea typeface="楷体_GB2312" panose="02010609030101010101"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mn-lt"/>
                <a:ea typeface="楷体_GB2312" panose="02010609030101010101"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mn-lt"/>
                <a:ea typeface="楷体_GB2312" panose="02010609030101010101"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楷体_GB2312" panose="02010609030101010101" pitchFamily="49" charset="-122"/>
                <a:cs typeface="+mn-cs"/>
              </a:defRPr>
            </a:lvl5pPr>
          </a:lstStyle>
          <a:p>
            <a:pPr marL="0" lvl="0" indent="0" eaLnBrk="1" hangingPunct="1">
              <a:spcBef>
                <a:spcPct val="0"/>
              </a:spcBef>
              <a:buClrTx/>
              <a:buSzTx/>
              <a:buFont typeface="Arial" panose="020B0604020202020204" pitchFamily="34" charset="0"/>
              <a:buNone/>
            </a:pPr>
            <a:r>
              <a:rPr lang="zh-CN" altLang="en-US" sz="2400" b="0" dirty="0">
                <a:sym typeface="+mn-ea"/>
              </a:rPr>
              <a:t>答案：</a:t>
            </a:r>
            <a:r>
              <a:rPr lang="en-US" altLang="zh-CN" sz="2400" b="0" dirty="0">
                <a:sym typeface="+mn-ea"/>
              </a:rPr>
              <a:t>D</a:t>
            </a:r>
            <a:endParaRPr lang="en-US" altLang="zh-CN" sz="2400" dirty="0"/>
          </a:p>
          <a:p>
            <a:pPr marL="0" lvl="0" indent="0" eaLnBrk="1" hangingPunct="1">
              <a:spcBef>
                <a:spcPct val="0"/>
              </a:spcBef>
              <a:buClrTx/>
              <a:buSzTx/>
              <a:buFont typeface="Arial" panose="020B0604020202020204" pitchFamily="34" charset="0"/>
              <a:buNone/>
            </a:pPr>
            <a:endParaRPr lang="zh-CN" altLang="en-US" sz="2400" b="0" dirty="0">
              <a:sym typeface="宋体" panose="02010600030101010101" pitchFamily="2" charset="-122"/>
            </a:endParaRPr>
          </a:p>
        </p:txBody>
      </p:sp>
      <p:sp>
        <p:nvSpPr>
          <p:cNvPr id="47106" name="Rectangle 2"/>
          <p:cNvSpPr>
            <a:spLocks noGrp="1"/>
          </p:cNvSpPr>
          <p:nvPr>
            <p:ph type="body" sz="half" idx="1"/>
          </p:nvPr>
        </p:nvSpPr>
        <p:spPr>
          <a:xfrm>
            <a:off x="415925" y="775970"/>
            <a:ext cx="11236325" cy="886460"/>
          </a:xfrm>
        </p:spPr>
        <p:txBody>
          <a:bodyPr vert="horz" wrap="square" lIns="91440" tIns="45720" rIns="91440" bIns="45720" anchor="t" anchorCtr="0">
            <a:normAutofit/>
          </a:bodyPr>
          <a:lstStyle/>
          <a:p>
            <a:pPr algn="just" fontAlgn="auto">
              <a:lnSpc>
                <a:spcPct val="100000"/>
              </a:lnSpc>
              <a:buClrTx/>
              <a:buSzTx/>
              <a:buFontTx/>
            </a:pPr>
            <a:r>
              <a:rPr lang="zh-CN" altLang="en-US" sz="2400" dirty="0"/>
              <a:t>假设</a:t>
            </a:r>
            <a:r>
              <a:rPr lang="en-US" altLang="zh-CN" sz="2400" dirty="0"/>
              <a:t>5</a:t>
            </a:r>
            <a:r>
              <a:rPr lang="zh-CN" altLang="en-US" sz="2400" dirty="0"/>
              <a:t>个进程</a:t>
            </a:r>
            <a:r>
              <a:rPr lang="en-US" altLang="zh-CN" sz="2400" dirty="0"/>
              <a:t>P0</a:t>
            </a:r>
            <a:r>
              <a:rPr lang="zh-CN" altLang="en-US" sz="2400" dirty="0"/>
              <a:t>、 </a:t>
            </a:r>
            <a:r>
              <a:rPr lang="en-US" altLang="zh-CN" sz="2400" dirty="0"/>
              <a:t>P1</a:t>
            </a:r>
            <a:r>
              <a:rPr lang="zh-CN" altLang="en-US" sz="2400" dirty="0"/>
              <a:t>、 </a:t>
            </a:r>
            <a:r>
              <a:rPr lang="en-US" altLang="zh-CN" sz="2400" dirty="0"/>
              <a:t>P2</a:t>
            </a:r>
            <a:r>
              <a:rPr lang="zh-CN" altLang="en-US" sz="2400" dirty="0"/>
              <a:t>、 </a:t>
            </a:r>
            <a:r>
              <a:rPr lang="en-US" altLang="zh-CN" sz="2400" dirty="0"/>
              <a:t>P3</a:t>
            </a:r>
            <a:r>
              <a:rPr lang="zh-CN" altLang="en-US" sz="2400" dirty="0"/>
              <a:t>、 </a:t>
            </a:r>
            <a:r>
              <a:rPr lang="en-US" altLang="zh-CN" sz="2400" dirty="0"/>
              <a:t>P4</a:t>
            </a:r>
            <a:r>
              <a:rPr lang="zh-CN" altLang="en-US" sz="2400" dirty="0"/>
              <a:t>共享三类资源</a:t>
            </a:r>
            <a:r>
              <a:rPr lang="en-US" altLang="zh-CN" sz="2400" dirty="0"/>
              <a:t>R1</a:t>
            </a:r>
            <a:r>
              <a:rPr lang="zh-CN" altLang="en-US" sz="2400" dirty="0"/>
              <a:t>、</a:t>
            </a:r>
            <a:r>
              <a:rPr lang="en-US" altLang="zh-CN" sz="2400" dirty="0"/>
              <a:t>R2</a:t>
            </a:r>
            <a:r>
              <a:rPr lang="zh-CN" altLang="en-US" sz="2400" dirty="0"/>
              <a:t>、</a:t>
            </a:r>
            <a:r>
              <a:rPr lang="en-US" altLang="zh-CN" sz="2400" dirty="0"/>
              <a:t>R3</a:t>
            </a:r>
            <a:r>
              <a:rPr lang="zh-CN" altLang="en-US" sz="2400" dirty="0"/>
              <a:t>，这些资源总数分别为</a:t>
            </a:r>
            <a:r>
              <a:rPr lang="en-US" altLang="zh-CN" sz="2400" dirty="0"/>
              <a:t>18</a:t>
            </a:r>
            <a:r>
              <a:rPr lang="zh-CN" altLang="en-US" sz="2400" dirty="0"/>
              <a:t>、</a:t>
            </a:r>
            <a:r>
              <a:rPr lang="en-US" altLang="zh-CN" sz="2400" dirty="0"/>
              <a:t>6</a:t>
            </a:r>
            <a:r>
              <a:rPr lang="zh-CN" altLang="en-US" sz="2400" dirty="0"/>
              <a:t>、</a:t>
            </a:r>
            <a:r>
              <a:rPr lang="en-US" altLang="zh-CN" sz="2400" dirty="0"/>
              <a:t>22</a:t>
            </a:r>
            <a:r>
              <a:rPr lang="zh-CN" altLang="en-US" sz="2400" dirty="0"/>
              <a:t>。</a:t>
            </a:r>
            <a:r>
              <a:rPr lang="en-US" altLang="zh-CN" sz="2400" dirty="0"/>
              <a:t>T0</a:t>
            </a:r>
            <a:r>
              <a:rPr lang="zh-CN" altLang="en-US" sz="2400" dirty="0"/>
              <a:t>时刻进程资源的分配情况见表，此时的安全序列是（）。</a:t>
            </a:r>
            <a:endParaRPr lang="zh-CN" altLang="en-US" sz="2400" dirty="0"/>
          </a:p>
        </p:txBody>
      </p:sp>
      <p:sp>
        <p:nvSpPr>
          <p:cNvPr id="254979" name="Rectangle 3"/>
          <p:cNvSpPr/>
          <p:nvPr/>
        </p:nvSpPr>
        <p:spPr>
          <a:xfrm>
            <a:off x="511175" y="5485765"/>
            <a:ext cx="11141075" cy="106680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342900">
              <a:lnSpc>
                <a:spcPct val="90000"/>
              </a:lnSpc>
              <a:buNone/>
            </a:pPr>
            <a:r>
              <a:rPr lang="en-US" altLang="zh-CN" sz="2400" dirty="0"/>
              <a:t>    A. P0,P2,P4,P1,P3    B. P1,P0,P3,P4,P2 </a:t>
            </a:r>
            <a:endParaRPr lang="en-US" altLang="zh-CN" sz="2400" dirty="0"/>
          </a:p>
          <a:p>
            <a:pPr marL="0" lvl="0" indent="-342900">
              <a:lnSpc>
                <a:spcPct val="90000"/>
              </a:lnSpc>
              <a:buNone/>
            </a:pPr>
            <a:r>
              <a:rPr lang="en-US" altLang="zh-CN" sz="2400" dirty="0"/>
              <a:t>    C. P2,P1,P0,P3,P4    D. P3,P4,P2,P1,P0             </a:t>
            </a:r>
            <a:endParaRPr lang="en-US" altLang="zh-CN" sz="2400" dirty="0"/>
          </a:p>
        </p:txBody>
      </p:sp>
      <p:graphicFrame>
        <p:nvGraphicFramePr>
          <p:cNvPr id="254980" name="Group 4"/>
          <p:cNvGraphicFramePr>
            <a:graphicFrameLocks noGrp="1"/>
          </p:cNvGraphicFramePr>
          <p:nvPr/>
        </p:nvGraphicFramePr>
        <p:xfrm>
          <a:off x="585470" y="1727518"/>
          <a:ext cx="6248400" cy="3502025"/>
        </p:xfrm>
        <a:graphic>
          <a:graphicData uri="http://schemas.openxmlformats.org/drawingml/2006/table">
            <a:tbl>
              <a:tblPr/>
              <a:tblGrid>
                <a:gridCol w="1311275"/>
                <a:gridCol w="769938"/>
                <a:gridCol w="833437"/>
                <a:gridCol w="833438"/>
                <a:gridCol w="835025"/>
                <a:gridCol w="833437"/>
                <a:gridCol w="831850"/>
              </a:tblGrid>
              <a:tr h="457283">
                <a:tc rowSpan="2">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进程</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Allocation</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Max</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419176">
                <a:tc vMerge="1">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R1</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R2</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R3</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R1</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R2</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R3</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130">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207">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207">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6022">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P3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P4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161" name="Line 57"/>
          <p:cNvSpPr/>
          <p:nvPr/>
        </p:nvSpPr>
        <p:spPr>
          <a:xfrm>
            <a:off x="600710" y="4750435"/>
            <a:ext cx="6248400" cy="0"/>
          </a:xfrm>
          <a:prstGeom prst="line">
            <a:avLst/>
          </a:prstGeom>
          <a:ln w="9525" cap="flat" cmpd="sng">
            <a:solidFill>
              <a:schemeClr val="tx1"/>
            </a:solidFill>
            <a:prstDash val="solid"/>
            <a:headEnd type="none" w="med" len="med"/>
            <a:tailEnd type="none" w="med" len="med"/>
          </a:ln>
        </p:spPr>
      </p:sp>
      <p:graphicFrame>
        <p:nvGraphicFramePr>
          <p:cNvPr id="4" name="Group 4"/>
          <p:cNvGraphicFramePr>
            <a:graphicFrameLocks noGrp="1"/>
          </p:cNvGraphicFramePr>
          <p:nvPr/>
        </p:nvGraphicFramePr>
        <p:xfrm>
          <a:off x="7028180" y="1728153"/>
          <a:ext cx="4937125" cy="3502248"/>
        </p:xfrm>
        <a:graphic>
          <a:graphicData uri="http://schemas.openxmlformats.org/drawingml/2006/table">
            <a:tbl>
              <a:tblPr/>
              <a:tblGrid>
                <a:gridCol w="769938"/>
                <a:gridCol w="833437"/>
                <a:gridCol w="833438"/>
                <a:gridCol w="835025"/>
                <a:gridCol w="833437"/>
                <a:gridCol w="831850"/>
              </a:tblGrid>
              <a:tr h="457283">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Need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gridSpan="3">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Available</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419176">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R1</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R2</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R3</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R1</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R2</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R3</a:t>
                      </a:r>
                      <a:endPar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1130">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430">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207">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6022">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Line 57"/>
          <p:cNvSpPr/>
          <p:nvPr/>
        </p:nvSpPr>
        <p:spPr>
          <a:xfrm>
            <a:off x="7028180" y="4750435"/>
            <a:ext cx="2400935" cy="635"/>
          </a:xfrm>
          <a:prstGeom prst="line">
            <a:avLst/>
          </a:prstGeom>
          <a:ln w="952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基本事实</a:t>
            </a:r>
            <a:endParaRPr lang="zh-CN" altLang="en-US" sz="2800" b="1" dirty="0">
              <a:solidFill>
                <a:schemeClr val="bg1"/>
              </a:solidFill>
            </a:endParaRPr>
          </a:p>
        </p:txBody>
      </p:sp>
      <p:sp>
        <p:nvSpPr>
          <p:cNvPr id="31" name="文本框 30"/>
          <p:cNvSpPr txBox="1"/>
          <p:nvPr/>
        </p:nvSpPr>
        <p:spPr>
          <a:xfrm>
            <a:off x="2625943" y="2214973"/>
            <a:ext cx="8629096" cy="3138170"/>
          </a:xfrm>
          <a:prstGeom prst="rect">
            <a:avLst/>
          </a:prstGeom>
          <a:noFill/>
        </p:spPr>
        <p:txBody>
          <a:bodyPr wrap="square">
            <a:spAutoFit/>
          </a:bodyPr>
          <a:lstStyle/>
          <a:p>
            <a:pPr>
              <a:lnSpc>
                <a:spcPct val="150000"/>
              </a:lnSpc>
              <a:spcBef>
                <a:spcPts val="600"/>
              </a:spcBef>
              <a:spcAft>
                <a:spcPts val="600"/>
              </a:spcAft>
            </a:pPr>
            <a:r>
              <a:rPr lang="zh-CN" altLang="en-US" sz="2800" dirty="0"/>
              <a:t>如果一个系统在安全状态，就没有死锁</a:t>
            </a:r>
            <a:endParaRPr lang="zh-CN" altLang="en-US" sz="2800" dirty="0"/>
          </a:p>
          <a:p>
            <a:pPr>
              <a:lnSpc>
                <a:spcPct val="150000"/>
              </a:lnSpc>
              <a:spcBef>
                <a:spcPts val="600"/>
              </a:spcBef>
              <a:spcAft>
                <a:spcPts val="600"/>
              </a:spcAft>
            </a:pPr>
            <a:r>
              <a:rPr lang="zh-CN" altLang="en-US" sz="2800" dirty="0"/>
              <a:t>如果一个系统不是处于安全状态，就有可能死锁</a:t>
            </a:r>
            <a:endParaRPr lang="zh-CN" altLang="en-US" sz="2800" dirty="0"/>
          </a:p>
          <a:p>
            <a:pPr>
              <a:lnSpc>
                <a:spcPct val="150000"/>
              </a:lnSpc>
              <a:spcBef>
                <a:spcPts val="600"/>
              </a:spcBef>
              <a:spcAft>
                <a:spcPts val="600"/>
              </a:spcAft>
            </a:pPr>
            <a:r>
              <a:rPr lang="zh-CN" altLang="en-US" sz="2800" dirty="0">
                <a:solidFill>
                  <a:srgbClr val="FF0000"/>
                </a:solidFill>
              </a:rPr>
              <a:t>死锁避免 </a:t>
            </a:r>
            <a:r>
              <a:rPr lang="en-US" altLang="zh-CN" sz="2800" dirty="0">
                <a:solidFill>
                  <a:srgbClr val="FF0000"/>
                </a:solidFill>
                <a:sym typeface="Symbol" panose="05050102010706020507" pitchFamily="18" charset="2"/>
              </a:rPr>
              <a:t></a:t>
            </a:r>
            <a:r>
              <a:rPr lang="zh-CN" altLang="en-US" sz="2800" dirty="0">
                <a:solidFill>
                  <a:srgbClr val="FF0000"/>
                </a:solidFill>
              </a:rPr>
              <a:t> 确保系统永远不会进入不安全状态</a:t>
            </a:r>
            <a:endParaRPr lang="zh-CN" altLang="en-US" sz="2800" dirty="0">
              <a:solidFill>
                <a:srgbClr val="FF0000"/>
              </a:solidFill>
            </a:endParaRPr>
          </a:p>
          <a:p>
            <a:pPr>
              <a:lnSpc>
                <a:spcPct val="150000"/>
              </a:lnSpc>
              <a:spcBef>
                <a:spcPts val="600"/>
              </a:spcBef>
              <a:spcAft>
                <a:spcPts val="600"/>
              </a:spcAft>
            </a:pPr>
            <a:r>
              <a:rPr lang="zh-CN" altLang="en-US" sz="2800" dirty="0">
                <a:solidFill>
                  <a:srgbClr val="FF0000"/>
                </a:solidFill>
              </a:rPr>
              <a:t>安全状态下，</a:t>
            </a:r>
            <a:r>
              <a:rPr lang="zh-CN" altLang="en-US" sz="2800" b="1" dirty="0">
                <a:solidFill>
                  <a:srgbClr val="FF0000"/>
                </a:solidFill>
              </a:rPr>
              <a:t>安全序列可能不止一个</a:t>
            </a:r>
            <a:r>
              <a:rPr lang="zh-CN" altLang="en-US" sz="2800" dirty="0">
                <a:solidFill>
                  <a:srgbClr val="FF0000"/>
                </a:solidFill>
              </a:rPr>
              <a:t>。</a:t>
            </a:r>
            <a:endParaRPr lang="zh-CN" altLang="en-US" sz="2800" dirty="0">
              <a:solidFill>
                <a:srgbClr val="FF0000"/>
              </a:solidFill>
            </a:endParaRPr>
          </a:p>
        </p:txBody>
      </p:sp>
      <p:sp>
        <p:nvSpPr>
          <p:cNvPr id="4" name="îSļiḓè"/>
          <p:cNvSpPr/>
          <p:nvPr/>
        </p:nvSpPr>
        <p:spPr>
          <a:xfrm>
            <a:off x="1758169" y="22623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5" name="íṥḻîḓe"/>
          <p:cNvSpPr/>
          <p:nvPr/>
        </p:nvSpPr>
        <p:spPr>
          <a:xfrm>
            <a:off x="1778883" y="39104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îşļiḓè"/>
          <p:cNvSpPr/>
          <p:nvPr/>
        </p:nvSpPr>
        <p:spPr>
          <a:xfrm>
            <a:off x="1778883" y="308639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ṡḷíďe"/>
          <p:cNvSpPr/>
          <p:nvPr/>
        </p:nvSpPr>
        <p:spPr>
          <a:xfrm>
            <a:off x="1948424" y="24585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8" name="íSlíḋe"/>
          <p:cNvSpPr/>
          <p:nvPr/>
        </p:nvSpPr>
        <p:spPr>
          <a:xfrm>
            <a:off x="1969137" y="330841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ïśḷïḓe"/>
          <p:cNvSpPr/>
          <p:nvPr/>
        </p:nvSpPr>
        <p:spPr>
          <a:xfrm>
            <a:off x="1998076" y="4099864"/>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30935" y="1010285"/>
            <a:ext cx="9401810" cy="1395730"/>
          </a:xfrm>
          <a:prstGeom prst="rect">
            <a:avLst/>
          </a:prstGeom>
        </p:spPr>
        <p:txBody>
          <a:bodyPr>
            <a:no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系统中有三个进程 </a:t>
            </a:r>
            <a:r>
              <a:rPr lang="en-US" altLang="zh-CN" sz="2400">
                <a:latin typeface="宋体" panose="02010600030101010101" pitchFamily="2" charset="-122"/>
                <a:ea typeface="宋体" panose="02010600030101010101" pitchFamily="2" charset="-122"/>
              </a:rPr>
              <a:t>P0</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 </a:t>
            </a:r>
            <a:r>
              <a:rPr lang="zh-CN" altLang="en-US" sz="2400">
                <a:latin typeface="宋体" panose="02010600030101010101" pitchFamily="2" charset="-122"/>
                <a:ea typeface="宋体" panose="02010600030101010101" pitchFamily="2" charset="-122"/>
              </a:rPr>
              <a:t>及三类资源 </a:t>
            </a: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。若某时刻系统分配资源的情况如下表所示，则此时系统中存在的安全序列的个数为（</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2022</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p:txBody>
      </p:sp>
      <p:graphicFrame>
        <p:nvGraphicFramePr>
          <p:cNvPr id="3" name="表格 2"/>
          <p:cNvGraphicFramePr/>
          <p:nvPr/>
        </p:nvGraphicFramePr>
        <p:xfrm>
          <a:off x="1041400" y="2600325"/>
          <a:ext cx="9747250" cy="2480945"/>
        </p:xfrm>
        <a:graphic>
          <a:graphicData uri="http://schemas.openxmlformats.org/drawingml/2006/table">
            <a:tbl>
              <a:tblPr/>
              <a:tblGrid>
                <a:gridCol w="974725"/>
                <a:gridCol w="974725"/>
                <a:gridCol w="974725"/>
                <a:gridCol w="974725"/>
                <a:gridCol w="974725"/>
                <a:gridCol w="974725"/>
                <a:gridCol w="974725"/>
                <a:gridCol w="974725"/>
                <a:gridCol w="974725"/>
                <a:gridCol w="974725"/>
              </a:tblGrid>
              <a:tr h="335280">
                <a:tc rowSpan="2">
                  <a:txBody>
                    <a:bodyPr/>
                    <a:lstStyle/>
                    <a:p>
                      <a:pPr marL="68580" indent="266700" algn="ctr">
                        <a:lnSpc>
                          <a:spcPct val="200000"/>
                        </a:lnSpc>
                        <a:spcBef>
                          <a:spcPct val="0"/>
                        </a:spcBef>
                        <a:spcAft>
                          <a:spcPct val="0"/>
                        </a:spcAft>
                      </a:pPr>
                      <a:r>
                        <a:rPr lang="zh-CN" sz="1600">
                          <a:latin typeface="宋体" panose="02010600030101010101" pitchFamily="2" charset="-122"/>
                          <a:ea typeface="宋体" panose="02010600030101010101" pitchFamily="2" charset="-122"/>
                        </a:rPr>
                        <a:t>进程</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gridSpan="3">
                  <a:txBody>
                    <a:bodyPr/>
                    <a:lstStyle/>
                    <a:p>
                      <a:pPr marL="68580" indent="26670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已分配资源数</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gridSpan="3">
                  <a:txBody>
                    <a:bodyPr/>
                    <a:lstStyle/>
                    <a:p>
                      <a:pPr marL="68580" indent="26670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尚需资源数</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gridSpan="3">
                  <a:txBody>
                    <a:bodyPr/>
                    <a:lstStyle/>
                    <a:p>
                      <a:pPr marL="68580" indent="26670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可用资源数</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r>
              <a:tr h="335280">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A</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B</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C</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A</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B</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C</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A</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B</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C</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603885">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3">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3">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3</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3">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603250">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603250">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r>
            </a:tbl>
          </a:graphicData>
        </a:graphic>
      </p:graphicFrame>
      <p:sp>
        <p:nvSpPr>
          <p:cNvPr id="4" name="文本框 3"/>
          <p:cNvSpPr txBox="1"/>
          <p:nvPr/>
        </p:nvSpPr>
        <p:spPr>
          <a:xfrm>
            <a:off x="1130935" y="5220970"/>
            <a:ext cx="9401810" cy="664210"/>
          </a:xfrm>
          <a:prstGeom prst="rect">
            <a:avLst/>
          </a:prstGeom>
        </p:spPr>
        <p:txBody>
          <a:bodyPr>
            <a:noAutofit/>
          </a:bodyPr>
          <a:lstStyle/>
          <a:p>
            <a:endParaRPr lang="en-US" altLang="zh-CN" sz="2600"/>
          </a:p>
          <a:p>
            <a:pPr marL="0" indent="200025"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1     </a:t>
            </a: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.2     C.3    D.4</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安全、不安全、死锁状态空间</a:t>
            </a:r>
            <a:endParaRPr lang="zh-CN" altLang="en-US" sz="2800" b="1" dirty="0">
              <a:solidFill>
                <a:schemeClr val="bg1"/>
              </a:solidFill>
            </a:endParaRPr>
          </a:p>
        </p:txBody>
      </p:sp>
      <p:pic>
        <p:nvPicPr>
          <p:cNvPr id="34" name="Picture 3"/>
          <p:cNvPicPr>
            <a:picLocks noChangeAspect="1" noChangeArrowheads="1"/>
          </p:cNvPicPr>
          <p:nvPr/>
        </p:nvPicPr>
        <p:blipFill>
          <a:blip r:embed="rId1">
            <a:extLst>
              <a:ext uri="{BEBA8EAE-BF5A-486C-A8C5-ECC9F3942E4B}">
                <a14:imgProps xmlns:a14="http://schemas.microsoft.com/office/drawing/2010/main">
                  <a14:imgLayer r:embed="rId2">
                    <a14:imgEffect>
                      <a14:colorTemperature colorTemp="11200"/>
                    </a14:imgEffect>
                  </a14:imgLayer>
                </a14:imgProps>
              </a:ext>
              <a:ext uri="{28A0092B-C50C-407E-A947-70E740481C1C}">
                <a14:useLocalDpi xmlns:a14="http://schemas.microsoft.com/office/drawing/2010/main" val="0"/>
              </a:ext>
            </a:extLst>
          </a:blip>
          <a:srcRect l="10608" t="1381" r="10387" b="829"/>
          <a:stretch>
            <a:fillRect/>
          </a:stretch>
        </p:blipFill>
        <p:spPr bwMode="auto">
          <a:xfrm>
            <a:off x="3014980" y="1303020"/>
            <a:ext cx="6324600" cy="3009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3227070" y="4847590"/>
            <a:ext cx="5620385" cy="521970"/>
          </a:xfrm>
          <a:prstGeom prst="rect">
            <a:avLst/>
          </a:prstGeom>
          <a:noFill/>
        </p:spPr>
        <p:txBody>
          <a:bodyPr wrap="square" rtlCol="0">
            <a:spAutoFit/>
          </a:bodyPr>
          <a:lstStyle/>
          <a:p>
            <a:r>
              <a:rPr lang="zh-CN" altLang="en-US" sz="2800">
                <a:solidFill>
                  <a:srgbClr val="FF0000"/>
                </a:solidFill>
              </a:rPr>
              <a:t>死锁</a:t>
            </a:r>
            <a:r>
              <a:rPr lang="zh-CN" altLang="en-US" sz="2800"/>
              <a:t>仅是不安全状态的</a:t>
            </a:r>
            <a:r>
              <a:rPr lang="zh-CN" altLang="en-US" sz="2800">
                <a:solidFill>
                  <a:srgbClr val="FF0000"/>
                </a:solidFill>
              </a:rPr>
              <a:t>特例</a:t>
            </a:r>
            <a:r>
              <a:rPr lang="zh-CN" altLang="en-US" sz="2800"/>
              <a:t>。</a:t>
            </a:r>
            <a:endParaRPr lang="zh-CN" altLang="en-US" sz="28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a:t>
            </a:r>
            <a:endParaRPr lang="zh-CN" altLang="en-US" sz="2800" b="1" dirty="0">
              <a:solidFill>
                <a:schemeClr val="bg1"/>
              </a:solidFill>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54015" y="1749079"/>
            <a:ext cx="10998334" cy="3683472"/>
            <a:chOff x="673099" y="1929384"/>
            <a:chExt cx="10998334" cy="3683472"/>
          </a:xfrm>
        </p:grpSpPr>
        <p:sp>
          <p:nvSpPr>
            <p:cNvPr id="5"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7"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1" name="isľîdê"/>
            <p:cNvSpPr txBox="1"/>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针对资源有多个实例</a:t>
              </a:r>
              <a:endParaRPr lang="zh-CN" altLang="en-US" sz="2400" dirty="0"/>
            </a:p>
          </p:txBody>
        </p:sp>
        <p:sp>
          <p:nvSpPr>
            <p:cNvPr id="15"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6"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sľîdê"/>
            <p:cNvSpPr txBox="1"/>
            <p:nvPr/>
          </p:nvSpPr>
          <p:spPr>
            <a:xfrm>
              <a:off x="3458154" y="4151140"/>
              <a:ext cx="2391476" cy="1364646"/>
            </a:xfrm>
            <a:prstGeom prst="rect">
              <a:avLst/>
            </a:prstGeom>
            <a:noFill/>
            <a:ln>
              <a:noFill/>
            </a:ln>
          </p:spPr>
          <p:txBody>
            <a:bodyPr wrap="square" lIns="91440" tIns="45720" rIns="91440" bIns="45720" anchor="t" anchorCtr="0">
              <a:noAutofit/>
            </a:bodyPr>
            <a:lstStyle/>
            <a:p>
              <a:pPr marL="342900" lvl="1" indent="-342900">
                <a:lnSpc>
                  <a:spcPct val="120000"/>
                </a:lnSpc>
                <a:buClr>
                  <a:srgbClr val="FF0000"/>
                </a:buClr>
                <a:buFont typeface="Wingdings" panose="05000000000000000000" pitchFamily="2" charset="2"/>
                <a:buChar char="Ø"/>
              </a:pPr>
              <a:r>
                <a:rPr lang="zh-CN" altLang="en-US" sz="2400" dirty="0"/>
                <a:t>每一个进程必须事先声明使用的最大量</a:t>
              </a:r>
              <a:endParaRPr lang="zh-CN" altLang="en-US" sz="2400" dirty="0"/>
            </a:p>
          </p:txBody>
        </p:sp>
        <p:sp>
          <p:nvSpPr>
            <p:cNvPr id="21" name="isľîdê"/>
            <p:cNvSpPr txBox="1"/>
            <p:nvPr/>
          </p:nvSpPr>
          <p:spPr>
            <a:xfrm>
              <a:off x="6212001" y="4199928"/>
              <a:ext cx="2391476" cy="1074910"/>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当一个进程请求资源，它可能要等待</a:t>
              </a:r>
              <a:endParaRPr lang="zh-CN" altLang="en-US" sz="2400" dirty="0"/>
            </a:p>
          </p:txBody>
        </p:sp>
        <p:sp>
          <p:nvSpPr>
            <p:cNvPr id="22" name="isľîdê"/>
            <p:cNvSpPr txBox="1"/>
            <p:nvPr/>
          </p:nvSpPr>
          <p:spPr>
            <a:xfrm>
              <a:off x="8965848" y="4151140"/>
              <a:ext cx="270558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当一个进程得到所有的资源，它必须在有限的时间释放它们</a:t>
              </a:r>
              <a:endParaRPr lang="zh-CN" altLang="en-US" sz="2400" dirty="0"/>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8080" y="1383030"/>
            <a:ext cx="9470390" cy="3415030"/>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下列关于死锁的叙述中，正确的是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2019</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0" indent="266700" algn="just" defTabSz="266700">
              <a:spcAft>
                <a:spcPct val="0"/>
              </a:spcAft>
            </a:pPr>
            <a:r>
              <a:rPr lang="en-US" altLang="zh-CN" sz="2400">
                <a:latin typeface="宋体" panose="02010600030101010101" pitchFamily="2" charset="-122"/>
                <a:ea typeface="宋体" panose="02010600030101010101" pitchFamily="2" charset="-122"/>
              </a:rPr>
              <a:t>I </a:t>
            </a:r>
            <a:r>
              <a:rPr lang="zh-CN" altLang="en-US" sz="2400">
                <a:latin typeface="宋体" panose="02010600030101010101" pitchFamily="2" charset="-122"/>
                <a:ea typeface="宋体" panose="02010600030101010101" pitchFamily="2" charset="-122"/>
              </a:rPr>
              <a:t>可以通过剥夺进程资源解除死锁</a:t>
            </a:r>
            <a:endParaRPr lang="zh-CN" altLang="en-US" sz="2400">
              <a:latin typeface="宋体" panose="02010600030101010101" pitchFamily="2" charset="-122"/>
              <a:ea typeface="宋体" panose="02010600030101010101" pitchFamily="2" charset="-122"/>
            </a:endParaRPr>
          </a:p>
          <a:p>
            <a:pPr marL="0" indent="266700" algn="just" defTabSz="266700">
              <a:spcAft>
                <a:spcPct val="0"/>
              </a:spcAft>
            </a:pPr>
            <a:r>
              <a:rPr lang="en-US" altLang="zh-CN" sz="2400">
                <a:latin typeface="宋体" panose="02010600030101010101" pitchFamily="2" charset="-122"/>
                <a:ea typeface="宋体" panose="02010600030101010101" pitchFamily="2" charset="-122"/>
              </a:rPr>
              <a:t>Ⅱ </a:t>
            </a:r>
            <a:r>
              <a:rPr lang="zh-CN" altLang="en-US" sz="2400">
                <a:latin typeface="宋体" panose="02010600030101010101" pitchFamily="2" charset="-122"/>
                <a:ea typeface="宋体" panose="02010600030101010101" pitchFamily="2" charset="-122"/>
              </a:rPr>
              <a:t>死锁的预防方法能确保系统不发生死锁</a:t>
            </a:r>
            <a:endParaRPr lang="zh-CN" altLang="en-US" sz="2400">
              <a:latin typeface="宋体" panose="02010600030101010101" pitchFamily="2" charset="-122"/>
              <a:ea typeface="宋体" panose="02010600030101010101" pitchFamily="2" charset="-122"/>
            </a:endParaRPr>
          </a:p>
          <a:p>
            <a:pPr marL="0" indent="266700" algn="just" defTabSz="266700">
              <a:spcAft>
                <a:spcPct val="0"/>
              </a:spcAft>
            </a:pPr>
            <a:r>
              <a:rPr lang="en-US" altLang="zh-CN" sz="2400">
                <a:latin typeface="宋体" panose="02010600030101010101" pitchFamily="2" charset="-122"/>
                <a:ea typeface="宋体" panose="02010600030101010101" pitchFamily="2" charset="-122"/>
              </a:rPr>
              <a:t>Ⅲ </a:t>
            </a:r>
            <a:r>
              <a:rPr lang="zh-CN" altLang="en-US" sz="2400">
                <a:latin typeface="宋体" panose="02010600030101010101" pitchFamily="2" charset="-122"/>
                <a:ea typeface="宋体" panose="02010600030101010101" pitchFamily="2" charset="-122"/>
              </a:rPr>
              <a:t>银行家算法可以判断系统是否处于死锁状态</a:t>
            </a:r>
            <a:endParaRPr lang="zh-CN" altLang="en-US" sz="2400">
              <a:latin typeface="宋体" panose="02010600030101010101" pitchFamily="2" charset="-122"/>
              <a:ea typeface="宋体" panose="02010600030101010101" pitchFamily="2" charset="-122"/>
            </a:endParaRPr>
          </a:p>
          <a:p>
            <a:pPr marL="0" indent="266700" algn="just" defTabSz="266700">
              <a:spcAft>
                <a:spcPct val="0"/>
              </a:spcAft>
            </a:pPr>
            <a:r>
              <a:rPr lang="en-US" altLang="zh-CN" sz="2400">
                <a:latin typeface="宋体" panose="02010600030101010101" pitchFamily="2" charset="-122"/>
                <a:ea typeface="宋体" panose="02010600030101010101" pitchFamily="2" charset="-122"/>
              </a:rPr>
              <a:t>Ⅳ </a:t>
            </a:r>
            <a:r>
              <a:rPr lang="zh-CN" altLang="en-US" sz="2400">
                <a:latin typeface="宋体" panose="02010600030101010101" pitchFamily="2" charset="-122"/>
                <a:ea typeface="宋体" panose="02010600030101010101" pitchFamily="2" charset="-122"/>
              </a:rPr>
              <a:t>当系统出现死锁时，必然有两个或两个以上的进程处于阻塞态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Ⅱ</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IV</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Ⅲ</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Ⅳ</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银行家算法的数据结构 </a:t>
            </a:r>
            <a:endParaRPr lang="zh-CN" altLang="en-US" sz="2800" b="1" dirty="0">
              <a:solidFill>
                <a:schemeClr val="bg1"/>
              </a:solidFill>
            </a:endParaRPr>
          </a:p>
        </p:txBody>
      </p:sp>
      <p:sp>
        <p:nvSpPr>
          <p:cNvPr id="31" name="文本框 30"/>
          <p:cNvSpPr txBox="1"/>
          <p:nvPr/>
        </p:nvSpPr>
        <p:spPr>
          <a:xfrm>
            <a:off x="1334610" y="2174629"/>
            <a:ext cx="10339526" cy="3390095"/>
          </a:xfrm>
          <a:prstGeom prst="rect">
            <a:avLst/>
          </a:prstGeom>
          <a:noFill/>
        </p:spPr>
        <p:txBody>
          <a:bodyPr wrap="square">
            <a:spAutoFit/>
          </a:bodyPr>
          <a:lstStyle/>
          <a:p>
            <a:pPr>
              <a:lnSpc>
                <a:spcPct val="123000"/>
              </a:lnSpc>
              <a:spcBef>
                <a:spcPts val="600"/>
              </a:spcBef>
              <a:spcAft>
                <a:spcPts val="600"/>
              </a:spcAft>
            </a:pPr>
            <a:r>
              <a:rPr lang="en-US" altLang="zh-CN" sz="2400" dirty="0">
                <a:solidFill>
                  <a:schemeClr val="accent4">
                    <a:lumMod val="60000"/>
                    <a:lumOff val="40000"/>
                  </a:schemeClr>
                </a:solidFill>
              </a:rPr>
              <a:t>Available:  </a:t>
            </a:r>
            <a:r>
              <a:rPr lang="zh-CN" altLang="en-US" sz="2400" dirty="0"/>
              <a:t>长度为 </a:t>
            </a:r>
            <a:r>
              <a:rPr lang="en-US" altLang="zh-CN" sz="2400" dirty="0"/>
              <a:t>m</a:t>
            </a:r>
            <a:r>
              <a:rPr lang="zh-CN" altLang="en-US" sz="2400" dirty="0"/>
              <a:t>的向量。 如果</a:t>
            </a:r>
            <a:r>
              <a:rPr lang="en-US" altLang="zh-CN" sz="2400" dirty="0"/>
              <a:t>available[j]=k,</a:t>
            </a:r>
            <a:r>
              <a:rPr lang="zh-CN" altLang="en-US" sz="2400" dirty="0"/>
              <a:t>那么资源</a:t>
            </a:r>
            <a:r>
              <a:rPr lang="en-US" altLang="zh-CN" sz="2400" dirty="0" err="1"/>
              <a:t>Rj</a:t>
            </a:r>
            <a:r>
              <a:rPr lang="zh-CN" altLang="en-US" sz="2400" dirty="0"/>
              <a:t>有</a:t>
            </a:r>
            <a:r>
              <a:rPr lang="en-US" altLang="zh-CN" sz="2400" dirty="0"/>
              <a:t>k</a:t>
            </a:r>
            <a:r>
              <a:rPr lang="zh-CN" altLang="en-US" sz="2400" dirty="0"/>
              <a:t>个实例有效</a:t>
            </a:r>
            <a:endParaRPr lang="zh-CN" altLang="en-US" sz="2400" dirty="0"/>
          </a:p>
          <a:p>
            <a:pPr>
              <a:lnSpc>
                <a:spcPct val="123000"/>
              </a:lnSpc>
              <a:spcBef>
                <a:spcPts val="600"/>
              </a:spcBef>
              <a:spcAft>
                <a:spcPts val="600"/>
              </a:spcAft>
            </a:pPr>
            <a:r>
              <a:rPr lang="en-US" altLang="zh-CN" sz="2400" dirty="0">
                <a:solidFill>
                  <a:schemeClr val="accent4">
                    <a:lumMod val="60000"/>
                    <a:lumOff val="40000"/>
                  </a:schemeClr>
                </a:solidFill>
              </a:rPr>
              <a:t>Max: </a:t>
            </a:r>
            <a:r>
              <a:rPr lang="en-US" altLang="zh-CN" sz="2400" dirty="0"/>
              <a:t>n x m </a:t>
            </a:r>
            <a:r>
              <a:rPr lang="zh-CN" altLang="en-US" sz="2400" dirty="0"/>
              <a:t>矩阵。 如果</a:t>
            </a:r>
            <a:r>
              <a:rPr lang="en-US" altLang="zh-CN" sz="2400" dirty="0"/>
              <a:t>Max[</a:t>
            </a:r>
            <a:r>
              <a:rPr lang="en-US" altLang="zh-CN" sz="2400" dirty="0" err="1"/>
              <a:t>i,j</a:t>
            </a:r>
            <a:r>
              <a:rPr lang="en-US" altLang="zh-CN" sz="2400" dirty="0"/>
              <a:t>]=k,</a:t>
            </a:r>
            <a:r>
              <a:rPr lang="zh-CN" altLang="en-US" sz="2400" dirty="0"/>
              <a:t>那么进程</a:t>
            </a:r>
            <a:r>
              <a:rPr lang="en-US" altLang="zh-CN" sz="2400" dirty="0"/>
              <a:t>Pi</a:t>
            </a:r>
            <a:r>
              <a:rPr lang="zh-CN" altLang="en-US" sz="2400" dirty="0"/>
              <a:t>可以最多请求资源</a:t>
            </a:r>
            <a:r>
              <a:rPr lang="en-US" altLang="zh-CN" sz="2400" dirty="0" err="1"/>
              <a:t>Rj</a:t>
            </a:r>
            <a:r>
              <a:rPr lang="zh-CN" altLang="en-US" sz="2400" dirty="0"/>
              <a:t>的</a:t>
            </a:r>
            <a:r>
              <a:rPr lang="en-US" altLang="zh-CN" sz="2400" dirty="0"/>
              <a:t>k</a:t>
            </a:r>
            <a:r>
              <a:rPr lang="zh-CN" altLang="en-US" sz="2400" dirty="0"/>
              <a:t>个实例</a:t>
            </a:r>
            <a:endParaRPr lang="zh-CN" altLang="en-US" sz="2400" dirty="0"/>
          </a:p>
          <a:p>
            <a:pPr>
              <a:lnSpc>
                <a:spcPct val="123000"/>
              </a:lnSpc>
              <a:spcBef>
                <a:spcPts val="600"/>
              </a:spcBef>
              <a:spcAft>
                <a:spcPts val="600"/>
              </a:spcAft>
            </a:pPr>
            <a:r>
              <a:rPr lang="en-US" altLang="zh-CN" sz="2400" dirty="0">
                <a:solidFill>
                  <a:schemeClr val="accent4">
                    <a:lumMod val="60000"/>
                    <a:lumOff val="40000"/>
                  </a:schemeClr>
                </a:solidFill>
              </a:rPr>
              <a:t>Allocation:  </a:t>
            </a:r>
            <a:r>
              <a:rPr lang="en-US" altLang="zh-CN" sz="2400" dirty="0"/>
              <a:t>n x m </a:t>
            </a:r>
            <a:r>
              <a:rPr lang="zh-CN" altLang="en-US" sz="2400" dirty="0"/>
              <a:t>矩阵。 如果</a:t>
            </a:r>
            <a:r>
              <a:rPr lang="en-US" altLang="zh-CN" sz="2400" dirty="0"/>
              <a:t>Allocation[</a:t>
            </a:r>
            <a:r>
              <a:rPr lang="en-US" altLang="zh-CN" sz="2400" dirty="0" err="1"/>
              <a:t>i,j</a:t>
            </a:r>
            <a:r>
              <a:rPr lang="en-US" altLang="zh-CN" sz="2400" dirty="0"/>
              <a:t>]=k,</a:t>
            </a:r>
            <a:r>
              <a:rPr lang="zh-CN" altLang="en-US" sz="2400" dirty="0"/>
              <a:t>那么进程</a:t>
            </a:r>
            <a:r>
              <a:rPr lang="en-US" altLang="zh-CN" sz="2400" dirty="0" err="1"/>
              <a:t>Pj</a:t>
            </a:r>
            <a:r>
              <a:rPr lang="zh-CN" altLang="en-US" sz="2400" dirty="0"/>
              <a:t>当前分配了</a:t>
            </a:r>
            <a:r>
              <a:rPr lang="en-US" altLang="zh-CN" sz="2400" dirty="0"/>
              <a:t>k</a:t>
            </a:r>
            <a:r>
              <a:rPr lang="zh-CN" altLang="en-US" sz="2400" dirty="0"/>
              <a:t>个资源</a:t>
            </a:r>
            <a:r>
              <a:rPr lang="en-US" altLang="zh-CN" sz="2400" dirty="0" err="1"/>
              <a:t>Rj</a:t>
            </a:r>
            <a:r>
              <a:rPr lang="zh-CN" altLang="en-US" sz="2400" dirty="0"/>
              <a:t>的实例</a:t>
            </a:r>
            <a:endParaRPr lang="zh-CN" altLang="en-US" sz="2400" dirty="0"/>
          </a:p>
          <a:p>
            <a:pPr>
              <a:lnSpc>
                <a:spcPct val="123000"/>
              </a:lnSpc>
              <a:spcBef>
                <a:spcPts val="600"/>
              </a:spcBef>
              <a:spcAft>
                <a:spcPts val="600"/>
              </a:spcAft>
            </a:pPr>
            <a:r>
              <a:rPr lang="en-US" altLang="zh-CN" sz="2400" dirty="0">
                <a:solidFill>
                  <a:schemeClr val="accent4">
                    <a:lumMod val="60000"/>
                    <a:lumOff val="40000"/>
                  </a:schemeClr>
                </a:solidFill>
              </a:rPr>
              <a:t>Need:  </a:t>
            </a:r>
            <a:r>
              <a:rPr lang="en-US" altLang="zh-CN" sz="2400" dirty="0"/>
              <a:t>n x m </a:t>
            </a:r>
            <a:r>
              <a:rPr lang="zh-CN" altLang="en-US" sz="2400" dirty="0"/>
              <a:t>矩阵。如果</a:t>
            </a:r>
            <a:r>
              <a:rPr lang="en-US" altLang="zh-CN" sz="2400" dirty="0"/>
              <a:t>Need[</a:t>
            </a:r>
            <a:r>
              <a:rPr lang="en-US" altLang="zh-CN" sz="2400" dirty="0" err="1"/>
              <a:t>i,j</a:t>
            </a:r>
            <a:r>
              <a:rPr lang="en-US" altLang="zh-CN" sz="2400" dirty="0"/>
              <a:t>]=k,</a:t>
            </a:r>
            <a:r>
              <a:rPr lang="zh-CN" altLang="en-US" sz="2400" dirty="0"/>
              <a:t>那么进程</a:t>
            </a:r>
            <a:r>
              <a:rPr lang="en-US" altLang="zh-CN" sz="2400" dirty="0" err="1"/>
              <a:t>Pj</a:t>
            </a:r>
            <a:r>
              <a:rPr lang="zh-CN" altLang="en-US" sz="2400" dirty="0"/>
              <a:t>还需要</a:t>
            </a:r>
            <a:r>
              <a:rPr lang="en-US" altLang="zh-CN" sz="2400" dirty="0"/>
              <a:t>k</a:t>
            </a:r>
            <a:r>
              <a:rPr lang="zh-CN" altLang="en-US" sz="2400" dirty="0"/>
              <a:t>个资源</a:t>
            </a:r>
            <a:r>
              <a:rPr lang="en-US" altLang="zh-CN" sz="2400" dirty="0" err="1"/>
              <a:t>Rj</a:t>
            </a:r>
            <a:r>
              <a:rPr lang="zh-CN" altLang="en-US" sz="2400" dirty="0"/>
              <a:t>的实例</a:t>
            </a:r>
            <a:endParaRPr lang="zh-CN" altLang="en-US" sz="2400" dirty="0"/>
          </a:p>
          <a:p>
            <a:pPr>
              <a:lnSpc>
                <a:spcPct val="123000"/>
              </a:lnSpc>
              <a:spcBef>
                <a:spcPts val="600"/>
              </a:spcBef>
              <a:spcAft>
                <a:spcPts val="600"/>
              </a:spcAft>
            </a:pPr>
            <a:r>
              <a:rPr lang="zh-CN" altLang="en-US" sz="2400" dirty="0"/>
              <a:t>		</a:t>
            </a:r>
            <a:r>
              <a:rPr lang="en-US" altLang="zh-CN" sz="2400" dirty="0"/>
              <a:t>Need [</a:t>
            </a:r>
            <a:r>
              <a:rPr lang="en-US" altLang="zh-CN" sz="2400" dirty="0" err="1"/>
              <a:t>i,j</a:t>
            </a:r>
            <a:r>
              <a:rPr lang="en-US" altLang="zh-CN" sz="2400" dirty="0"/>
              <a:t>] = Max[</a:t>
            </a:r>
            <a:r>
              <a:rPr lang="en-US" altLang="zh-CN" sz="2400" dirty="0" err="1"/>
              <a:t>i,j</a:t>
            </a:r>
            <a:r>
              <a:rPr lang="en-US" altLang="zh-CN" sz="2400" dirty="0"/>
              <a:t>] – Allocation [</a:t>
            </a:r>
            <a:r>
              <a:rPr lang="en-US" altLang="zh-CN" sz="2400" dirty="0" err="1"/>
              <a:t>i,j</a:t>
            </a:r>
            <a:r>
              <a:rPr lang="en-US" altLang="zh-CN" sz="2400" dirty="0"/>
              <a:t>].</a:t>
            </a:r>
            <a:endParaRPr lang="en-US" altLang="zh-CN" sz="2400" dirty="0"/>
          </a:p>
        </p:txBody>
      </p:sp>
      <p:sp>
        <p:nvSpPr>
          <p:cNvPr id="5" name="文本框 4"/>
          <p:cNvSpPr txBox="1"/>
          <p:nvPr/>
        </p:nvSpPr>
        <p:spPr>
          <a:xfrm>
            <a:off x="669925" y="1524081"/>
            <a:ext cx="6720396" cy="461665"/>
          </a:xfrm>
          <a:prstGeom prst="rect">
            <a:avLst/>
          </a:prstGeom>
          <a:noFill/>
        </p:spPr>
        <p:txBody>
          <a:bodyPr wrap="square">
            <a:spAutoFit/>
          </a:bodyPr>
          <a:lstStyle/>
          <a:p>
            <a:pPr>
              <a:spcBef>
                <a:spcPct val="50000"/>
              </a:spcBef>
            </a:pPr>
            <a:r>
              <a:rPr lang="en-US" altLang="zh-CN" sz="2400" b="1" dirty="0">
                <a:solidFill>
                  <a:srgbClr val="FF0000"/>
                </a:solidFill>
              </a:rPr>
              <a:t>n</a:t>
            </a:r>
            <a:r>
              <a:rPr lang="zh-CN" altLang="en-US" sz="2400" b="1" dirty="0">
                <a:solidFill>
                  <a:srgbClr val="FF0000"/>
                </a:solidFill>
              </a:rPr>
              <a:t>为进程的数目，</a:t>
            </a:r>
            <a:r>
              <a:rPr lang="en-US" altLang="zh-CN" sz="2400" b="1" dirty="0">
                <a:solidFill>
                  <a:srgbClr val="FF0000"/>
                </a:solidFill>
              </a:rPr>
              <a:t>m</a:t>
            </a:r>
            <a:r>
              <a:rPr lang="zh-CN" altLang="en-US" sz="2400" b="1" dirty="0">
                <a:solidFill>
                  <a:srgbClr val="FF0000"/>
                </a:solidFill>
              </a:rPr>
              <a:t>为资源类型的数目</a:t>
            </a:r>
            <a:endParaRPr lang="zh-CN" altLang="en-US" sz="2400" b="1" dirty="0">
              <a:solidFill>
                <a:srgbClr val="FF0000"/>
              </a:solidFill>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174629"/>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759769"/>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3415238"/>
            <a:ext cx="527050" cy="527050"/>
          </a:xfrm>
          <a:prstGeom prst="rect">
            <a:avLst/>
          </a:prstGeom>
          <a:ln>
            <a:noFill/>
          </a:ln>
          <a:effectLst>
            <a:softEdge rad="0"/>
          </a:effectLst>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4433210"/>
            <a:ext cx="527050" cy="527050"/>
          </a:xfrm>
          <a:prstGeom prst="rect">
            <a:avLst/>
          </a:prstGeom>
          <a:ln>
            <a:noFill/>
          </a:ln>
          <a:effectLst>
            <a:softEdge rad="0"/>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安全性算法</a:t>
            </a:r>
            <a:endParaRPr lang="en-US" altLang="zh-CN" sz="2800" b="1" dirty="0">
              <a:solidFill>
                <a:schemeClr val="bg1"/>
              </a:solidFill>
            </a:endParaRPr>
          </a:p>
        </p:txBody>
      </p:sp>
      <p:sp>
        <p:nvSpPr>
          <p:cNvPr id="31" name="文本框 30"/>
          <p:cNvSpPr txBox="1"/>
          <p:nvPr/>
        </p:nvSpPr>
        <p:spPr>
          <a:xfrm>
            <a:off x="1704513" y="1121738"/>
            <a:ext cx="10221158" cy="5049203"/>
          </a:xfrm>
          <a:prstGeom prst="rect">
            <a:avLst/>
          </a:prstGeom>
          <a:noFill/>
        </p:spPr>
        <p:txBody>
          <a:bodyPr wrap="square">
            <a:spAutoFit/>
          </a:bodyPr>
          <a:lstStyle/>
          <a:p>
            <a:pPr>
              <a:lnSpc>
                <a:spcPct val="123000"/>
              </a:lnSpc>
            </a:pPr>
            <a:r>
              <a:rPr lang="zh-CN" altLang="en-US" sz="2400" dirty="0">
                <a:solidFill>
                  <a:schemeClr val="accent3"/>
                </a:solidFill>
                <a:latin typeface="+mn-ea"/>
              </a:rPr>
              <a:t>让</a:t>
            </a:r>
            <a:r>
              <a:rPr lang="en-US" altLang="zh-CN" sz="2400" dirty="0">
                <a:solidFill>
                  <a:schemeClr val="accent3"/>
                </a:solidFill>
                <a:latin typeface="+mn-ea"/>
              </a:rPr>
              <a:t>Work</a:t>
            </a:r>
            <a:r>
              <a:rPr lang="zh-CN" altLang="en-US" sz="2400" dirty="0">
                <a:solidFill>
                  <a:schemeClr val="accent3"/>
                </a:solidFill>
                <a:latin typeface="+mn-ea"/>
              </a:rPr>
              <a:t>和</a:t>
            </a:r>
            <a:r>
              <a:rPr lang="en-US" altLang="zh-CN" sz="2400" dirty="0">
                <a:solidFill>
                  <a:schemeClr val="accent3"/>
                </a:solidFill>
                <a:latin typeface="+mn-ea"/>
              </a:rPr>
              <a:t>Finish</a:t>
            </a:r>
            <a:r>
              <a:rPr lang="zh-CN" altLang="en-US" sz="2400" dirty="0">
                <a:solidFill>
                  <a:schemeClr val="accent3"/>
                </a:solidFill>
                <a:latin typeface="+mn-ea"/>
              </a:rPr>
              <a:t>作为长度为</a:t>
            </a:r>
            <a:r>
              <a:rPr lang="en-US" altLang="zh-CN" sz="2400" dirty="0">
                <a:solidFill>
                  <a:schemeClr val="accent3"/>
                </a:solidFill>
                <a:latin typeface="+mn-ea"/>
              </a:rPr>
              <a:t>m</a:t>
            </a:r>
            <a:r>
              <a:rPr lang="zh-CN" altLang="en-US" sz="2400" dirty="0">
                <a:solidFill>
                  <a:schemeClr val="accent3"/>
                </a:solidFill>
                <a:latin typeface="+mn-ea"/>
              </a:rPr>
              <a:t>和</a:t>
            </a:r>
            <a:r>
              <a:rPr lang="en-US" altLang="zh-CN" sz="2400" dirty="0">
                <a:solidFill>
                  <a:schemeClr val="accent3"/>
                </a:solidFill>
                <a:latin typeface="+mn-ea"/>
              </a:rPr>
              <a:t>n</a:t>
            </a:r>
            <a:r>
              <a:rPr lang="zh-CN" altLang="en-US" sz="2400" dirty="0">
                <a:solidFill>
                  <a:schemeClr val="accent3"/>
                </a:solidFill>
                <a:latin typeface="+mn-ea"/>
              </a:rPr>
              <a:t>的向量初始化</a:t>
            </a:r>
            <a:endParaRPr lang="zh-CN" altLang="en-US" sz="2400" dirty="0">
              <a:solidFill>
                <a:schemeClr val="accent3"/>
              </a:solidFill>
              <a:latin typeface="+mn-ea"/>
            </a:endParaRPr>
          </a:p>
          <a:p>
            <a:pPr lvl="1">
              <a:lnSpc>
                <a:spcPct val="123000"/>
              </a:lnSpc>
            </a:pPr>
            <a:r>
              <a:rPr lang="en-US" altLang="zh-CN" sz="2400" dirty="0">
                <a:solidFill>
                  <a:schemeClr val="accent3"/>
                </a:solidFill>
                <a:latin typeface="+mn-ea"/>
              </a:rPr>
              <a:t>	Work := Available</a:t>
            </a:r>
            <a:endParaRPr lang="en-US" altLang="zh-CN" sz="2400" dirty="0">
              <a:solidFill>
                <a:schemeClr val="accent3"/>
              </a:solidFill>
              <a:latin typeface="+mn-ea"/>
            </a:endParaRPr>
          </a:p>
          <a:p>
            <a:pPr lvl="1">
              <a:lnSpc>
                <a:spcPct val="123000"/>
              </a:lnSpc>
            </a:pPr>
            <a:r>
              <a:rPr lang="en-US" altLang="zh-CN" sz="2400" dirty="0">
                <a:solidFill>
                  <a:schemeClr val="accent3"/>
                </a:solidFill>
                <a:latin typeface="+mn-ea"/>
              </a:rPr>
              <a:t>	Finish [</a:t>
            </a:r>
            <a:r>
              <a:rPr lang="en-US" altLang="zh-CN" sz="2400" dirty="0" err="1">
                <a:solidFill>
                  <a:schemeClr val="accent3"/>
                </a:solidFill>
                <a:latin typeface="+mn-ea"/>
              </a:rPr>
              <a:t>i</a:t>
            </a:r>
            <a:r>
              <a:rPr lang="en-US" altLang="zh-CN" sz="2400" dirty="0">
                <a:solidFill>
                  <a:schemeClr val="accent3"/>
                </a:solidFill>
                <a:latin typeface="+mn-ea"/>
              </a:rPr>
              <a:t>] = false for </a:t>
            </a:r>
            <a:r>
              <a:rPr lang="en-US" altLang="zh-CN" sz="2400" dirty="0" err="1">
                <a:solidFill>
                  <a:schemeClr val="accent3"/>
                </a:solidFill>
                <a:latin typeface="+mn-ea"/>
              </a:rPr>
              <a:t>i</a:t>
            </a:r>
            <a:r>
              <a:rPr lang="en-US" altLang="zh-CN" sz="2400" dirty="0">
                <a:solidFill>
                  <a:schemeClr val="accent3"/>
                </a:solidFill>
                <a:latin typeface="+mn-ea"/>
              </a:rPr>
              <a:t> - 1,3, …, n.</a:t>
            </a:r>
            <a:endParaRPr lang="en-US" altLang="zh-CN" sz="2400" dirty="0">
              <a:solidFill>
                <a:schemeClr val="accent3"/>
              </a:solidFill>
              <a:latin typeface="+mn-ea"/>
            </a:endParaRPr>
          </a:p>
          <a:p>
            <a:pPr>
              <a:lnSpc>
                <a:spcPct val="123000"/>
              </a:lnSpc>
            </a:pPr>
            <a:r>
              <a:rPr lang="zh-CN" altLang="en-US" sz="2400" dirty="0">
                <a:solidFill>
                  <a:schemeClr val="accent3"/>
                </a:solidFill>
                <a:latin typeface="+mn-ea"/>
              </a:rPr>
              <a:t>查找</a:t>
            </a:r>
            <a:r>
              <a:rPr lang="en-US" altLang="zh-CN" sz="2400" dirty="0" err="1">
                <a:solidFill>
                  <a:schemeClr val="accent3"/>
                </a:solidFill>
                <a:latin typeface="+mn-ea"/>
              </a:rPr>
              <a:t>i</a:t>
            </a:r>
            <a:endParaRPr lang="en-US" altLang="zh-CN" sz="2400" dirty="0">
              <a:solidFill>
                <a:schemeClr val="accent3"/>
              </a:solidFill>
              <a:latin typeface="+mn-ea"/>
            </a:endParaRPr>
          </a:p>
          <a:p>
            <a:pPr lvl="1">
              <a:lnSpc>
                <a:spcPct val="123000"/>
              </a:lnSpc>
            </a:pPr>
            <a:r>
              <a:rPr lang="en-US" altLang="zh-CN" sz="2400" dirty="0">
                <a:solidFill>
                  <a:schemeClr val="accent3"/>
                </a:solidFill>
                <a:latin typeface="+mn-ea"/>
              </a:rPr>
              <a:t>	(a) Finish [</a:t>
            </a:r>
            <a:r>
              <a:rPr lang="en-US" altLang="zh-CN" sz="2400" dirty="0" err="1">
                <a:solidFill>
                  <a:schemeClr val="accent3"/>
                </a:solidFill>
                <a:latin typeface="+mn-ea"/>
              </a:rPr>
              <a:t>i</a:t>
            </a:r>
            <a:r>
              <a:rPr lang="en-US" altLang="zh-CN" sz="2400" dirty="0">
                <a:solidFill>
                  <a:schemeClr val="accent3"/>
                </a:solidFill>
                <a:latin typeface="+mn-ea"/>
              </a:rPr>
              <a:t>] = false</a:t>
            </a:r>
            <a:endParaRPr lang="en-US" altLang="zh-CN" sz="2400" dirty="0">
              <a:solidFill>
                <a:schemeClr val="accent3"/>
              </a:solidFill>
              <a:latin typeface="+mn-ea"/>
            </a:endParaRPr>
          </a:p>
          <a:p>
            <a:pPr lvl="1">
              <a:lnSpc>
                <a:spcPct val="123000"/>
              </a:lnSpc>
            </a:pPr>
            <a:r>
              <a:rPr lang="en-US" altLang="zh-CN" sz="2400" dirty="0">
                <a:solidFill>
                  <a:schemeClr val="accent3"/>
                </a:solidFill>
                <a:latin typeface="+mn-ea"/>
              </a:rPr>
              <a:t>	(b) </a:t>
            </a:r>
            <a:r>
              <a:rPr lang="en-US" altLang="zh-CN" sz="2400" dirty="0" err="1">
                <a:solidFill>
                  <a:schemeClr val="accent3"/>
                </a:solidFill>
                <a:latin typeface="+mn-ea"/>
              </a:rPr>
              <a:t>Needi</a:t>
            </a:r>
            <a:r>
              <a:rPr lang="en-US" altLang="zh-CN" sz="2400" dirty="0">
                <a:solidFill>
                  <a:schemeClr val="accent3"/>
                </a:solidFill>
                <a:latin typeface="+mn-ea"/>
              </a:rPr>
              <a:t>  Work</a:t>
            </a:r>
            <a:endParaRPr lang="en-US" altLang="zh-CN" sz="2400" dirty="0">
              <a:solidFill>
                <a:schemeClr val="accent3"/>
              </a:solidFill>
              <a:latin typeface="+mn-ea"/>
            </a:endParaRPr>
          </a:p>
          <a:p>
            <a:pPr lvl="1">
              <a:lnSpc>
                <a:spcPct val="123000"/>
              </a:lnSpc>
            </a:pPr>
            <a:r>
              <a:rPr lang="en-US" altLang="zh-CN" sz="2400" dirty="0">
                <a:solidFill>
                  <a:schemeClr val="accent3"/>
                </a:solidFill>
                <a:latin typeface="+mn-ea"/>
              </a:rPr>
              <a:t>	If no such </a:t>
            </a:r>
            <a:r>
              <a:rPr lang="en-US" altLang="zh-CN" sz="2400" dirty="0" err="1">
                <a:solidFill>
                  <a:schemeClr val="accent3"/>
                </a:solidFill>
                <a:latin typeface="+mn-ea"/>
              </a:rPr>
              <a:t>i</a:t>
            </a:r>
            <a:r>
              <a:rPr lang="en-US" altLang="zh-CN" sz="2400" dirty="0">
                <a:solidFill>
                  <a:schemeClr val="accent3"/>
                </a:solidFill>
                <a:latin typeface="+mn-ea"/>
              </a:rPr>
              <a:t> exists, go to step ④.</a:t>
            </a:r>
            <a:endParaRPr lang="en-US" altLang="zh-CN" sz="2400" dirty="0">
              <a:solidFill>
                <a:schemeClr val="accent3"/>
              </a:solidFill>
              <a:latin typeface="+mn-ea"/>
            </a:endParaRPr>
          </a:p>
          <a:p>
            <a:pPr>
              <a:lnSpc>
                <a:spcPct val="123000"/>
              </a:lnSpc>
            </a:pPr>
            <a:r>
              <a:rPr lang="en-US" altLang="zh-CN" sz="2400" dirty="0">
                <a:solidFill>
                  <a:schemeClr val="accent3"/>
                </a:solidFill>
                <a:latin typeface="+mn-ea"/>
              </a:rPr>
              <a:t>Work := Work + </a:t>
            </a:r>
            <a:r>
              <a:rPr lang="en-US" altLang="zh-CN" sz="2400" dirty="0" err="1">
                <a:solidFill>
                  <a:schemeClr val="accent3"/>
                </a:solidFill>
                <a:latin typeface="+mn-ea"/>
              </a:rPr>
              <a:t>Allocationi</a:t>
            </a:r>
            <a:br>
              <a:rPr lang="en-US" altLang="zh-CN" sz="2400" dirty="0">
                <a:solidFill>
                  <a:schemeClr val="accent3"/>
                </a:solidFill>
                <a:latin typeface="+mn-ea"/>
              </a:rPr>
            </a:br>
            <a:r>
              <a:rPr lang="en-US" altLang="zh-CN" sz="2400" dirty="0">
                <a:solidFill>
                  <a:schemeClr val="accent3"/>
                </a:solidFill>
                <a:latin typeface="+mn-ea"/>
              </a:rPr>
              <a:t>	Finish[</a:t>
            </a:r>
            <a:r>
              <a:rPr lang="en-US" altLang="zh-CN" sz="2400" dirty="0" err="1">
                <a:solidFill>
                  <a:schemeClr val="accent3"/>
                </a:solidFill>
                <a:latin typeface="+mn-ea"/>
              </a:rPr>
              <a:t>i</a:t>
            </a:r>
            <a:r>
              <a:rPr lang="en-US" altLang="zh-CN" sz="2400" dirty="0">
                <a:solidFill>
                  <a:schemeClr val="accent3"/>
                </a:solidFill>
                <a:latin typeface="+mn-ea"/>
              </a:rPr>
              <a:t>] := true</a:t>
            </a:r>
            <a:br>
              <a:rPr lang="en-US" altLang="zh-CN" sz="2400" dirty="0">
                <a:solidFill>
                  <a:schemeClr val="accent3"/>
                </a:solidFill>
                <a:latin typeface="+mn-ea"/>
              </a:rPr>
            </a:br>
            <a:r>
              <a:rPr lang="en-US" altLang="zh-CN" sz="2400" dirty="0">
                <a:solidFill>
                  <a:schemeClr val="accent3"/>
                </a:solidFill>
                <a:latin typeface="+mn-ea"/>
              </a:rPr>
              <a:t>	go to step ②.</a:t>
            </a:r>
            <a:endParaRPr lang="en-US" altLang="zh-CN" sz="2400" dirty="0">
              <a:solidFill>
                <a:schemeClr val="accent3"/>
              </a:solidFill>
              <a:latin typeface="+mn-ea"/>
            </a:endParaRPr>
          </a:p>
          <a:p>
            <a:pPr>
              <a:lnSpc>
                <a:spcPct val="123000"/>
              </a:lnSpc>
            </a:pPr>
            <a:r>
              <a:rPr lang="zh-CN" altLang="en-US" sz="2400" dirty="0">
                <a:solidFill>
                  <a:schemeClr val="accent3"/>
                </a:solidFill>
                <a:latin typeface="+mn-ea"/>
              </a:rPr>
              <a:t>如果对所有</a:t>
            </a:r>
            <a:r>
              <a:rPr lang="en-US" altLang="zh-CN" sz="2400" dirty="0" err="1">
                <a:solidFill>
                  <a:schemeClr val="accent3"/>
                </a:solidFill>
                <a:latin typeface="+mn-ea"/>
              </a:rPr>
              <a:t>i</a:t>
            </a:r>
            <a:r>
              <a:rPr lang="zh-CN" altLang="en-US" sz="2400" dirty="0">
                <a:solidFill>
                  <a:schemeClr val="accent3"/>
                </a:solidFill>
                <a:latin typeface="+mn-ea"/>
              </a:rPr>
              <a:t>的 </a:t>
            </a:r>
            <a:r>
              <a:rPr lang="en-US" altLang="zh-CN" sz="2400" dirty="0">
                <a:solidFill>
                  <a:schemeClr val="accent3"/>
                </a:solidFill>
                <a:latin typeface="+mn-ea"/>
              </a:rPr>
              <a:t>Finish [</a:t>
            </a:r>
            <a:r>
              <a:rPr lang="en-US" altLang="zh-CN" sz="2400" dirty="0" err="1">
                <a:solidFill>
                  <a:schemeClr val="accent3"/>
                </a:solidFill>
                <a:latin typeface="+mn-ea"/>
              </a:rPr>
              <a:t>i</a:t>
            </a:r>
            <a:r>
              <a:rPr lang="en-US" altLang="zh-CN" sz="2400" dirty="0">
                <a:solidFill>
                  <a:schemeClr val="accent3"/>
                </a:solidFill>
                <a:latin typeface="+mn-ea"/>
              </a:rPr>
              <a:t>] = true, </a:t>
            </a:r>
            <a:r>
              <a:rPr lang="zh-CN" altLang="en-US" sz="2400" dirty="0">
                <a:solidFill>
                  <a:schemeClr val="accent3"/>
                </a:solidFill>
                <a:latin typeface="+mn-ea"/>
              </a:rPr>
              <a:t>则系统处在安全状态</a:t>
            </a:r>
            <a:endParaRPr lang="zh-CN" altLang="en-US" sz="2400" dirty="0">
              <a:solidFill>
                <a:schemeClr val="accent3"/>
              </a:solidFill>
              <a:latin typeface="+mn-ea"/>
            </a:endParaRPr>
          </a:p>
        </p:txBody>
      </p:sp>
      <p:sp>
        <p:nvSpPr>
          <p:cNvPr id="6" name="iśḷíḑe"/>
          <p:cNvSpPr/>
          <p:nvPr/>
        </p:nvSpPr>
        <p:spPr>
          <a:xfrm>
            <a:off x="841029" y="102792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7" name="ïś1ïḑè"/>
          <p:cNvSpPr/>
          <p:nvPr/>
        </p:nvSpPr>
        <p:spPr>
          <a:xfrm>
            <a:off x="841029" y="2357574"/>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8" name="iśḷíḑe"/>
          <p:cNvSpPr/>
          <p:nvPr/>
        </p:nvSpPr>
        <p:spPr>
          <a:xfrm>
            <a:off x="841029" y="4163661"/>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9" name="ïś1ïḑè"/>
          <p:cNvSpPr/>
          <p:nvPr/>
        </p:nvSpPr>
        <p:spPr>
          <a:xfrm>
            <a:off x="841029" y="553184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2" name="文本框 1"/>
          <p:cNvSpPr txBox="1"/>
          <p:nvPr/>
        </p:nvSpPr>
        <p:spPr>
          <a:xfrm>
            <a:off x="4125595" y="3413760"/>
            <a:ext cx="510540" cy="526415"/>
          </a:xfrm>
          <a:prstGeom prst="rect">
            <a:avLst/>
          </a:prstGeom>
          <a:noFill/>
        </p:spPr>
        <p:txBody>
          <a:bodyPr wrap="none" rtlCol="0" anchor="t">
            <a:noAutofit/>
          </a:bodyPr>
          <a:lstStyle/>
          <a:p>
            <a:r>
              <a:rPr lang="zh-CN" altLang="en-US" sz="2400">
                <a:latin typeface="微软雅黑" panose="020B0503020204020204" pitchFamily="34" charset="-122"/>
                <a:ea typeface="微软雅黑" panose="020B0503020204020204" pitchFamily="34" charset="-122"/>
              </a:rPr>
              <a:t>&lt;</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35841"/>
          <p:cNvSpPr>
            <a:spLocks noGrp="1"/>
          </p:cNvSpPr>
          <p:nvPr>
            <p:ph idx="1"/>
          </p:nvPr>
        </p:nvSpPr>
        <p:spPr>
          <a:xfrm>
            <a:off x="1348740" y="748665"/>
            <a:ext cx="9068435" cy="5835650"/>
          </a:xfrm>
        </p:spPr>
        <p:txBody>
          <a:bodyPr vert="horz" wrap="square" lIns="91440" tIns="45720" rIns="91440" bIns="45720" anchor="t" anchorCtr="0">
            <a:normAutofit fontScale="80000"/>
          </a:bodyPr>
          <a:lstStyle/>
          <a:p>
            <a:pPr eaLnBrk="1" hangingPunct="1">
              <a:lnSpc>
                <a:spcPct val="90000"/>
              </a:lnSpc>
              <a:buNone/>
            </a:pPr>
            <a:r>
              <a:rPr lang="en-US" altLang="zh-CN" sz="2500" dirty="0"/>
              <a:t>1</a:t>
            </a:r>
            <a:r>
              <a:rPr lang="zh-CN" altLang="en-US" sz="2500" dirty="0"/>
              <a:t>．资源分配算法</a:t>
            </a:r>
            <a:endParaRPr lang="zh-CN" altLang="en-US" sz="2500" dirty="0"/>
          </a:p>
          <a:p>
            <a:pPr fontAlgn="auto">
              <a:lnSpc>
                <a:spcPct val="100000"/>
              </a:lnSpc>
            </a:pPr>
            <a:r>
              <a:rPr lang="zh-CN" altLang="en-US" sz="2500" dirty="0"/>
              <a:t>令</a:t>
            </a:r>
            <a:r>
              <a:rPr lang="en-US" altLang="zh-CN" sz="2500" dirty="0"/>
              <a:t>Request</a:t>
            </a:r>
            <a:r>
              <a:rPr lang="en-US" altLang="zh-CN" sz="2500" i="1" dirty="0"/>
              <a:t>i</a:t>
            </a:r>
            <a:r>
              <a:rPr lang="zh-CN" altLang="en-US" sz="2500" dirty="0"/>
              <a:t>表示进程</a:t>
            </a:r>
            <a:r>
              <a:rPr lang="en-US" altLang="zh-CN" sz="2500" i="1" dirty="0"/>
              <a:t>pi</a:t>
            </a:r>
            <a:r>
              <a:rPr lang="zh-CN" altLang="en-US" sz="2500" dirty="0"/>
              <a:t>的申请向量。</a:t>
            </a:r>
            <a:r>
              <a:rPr lang="en-US" altLang="zh-CN" sz="2500" dirty="0"/>
              <a:t>Request</a:t>
            </a:r>
            <a:r>
              <a:rPr lang="en-US" altLang="zh-CN" sz="2500" i="1" dirty="0"/>
              <a:t>i</a:t>
            </a:r>
            <a:r>
              <a:rPr lang="en-US" altLang="zh-CN" sz="2500" dirty="0"/>
              <a:t>[</a:t>
            </a:r>
            <a:r>
              <a:rPr lang="en-US" altLang="zh-CN" sz="2500" i="1" dirty="0"/>
              <a:t>j</a:t>
            </a:r>
            <a:r>
              <a:rPr lang="en-US" altLang="zh-CN" sz="2500" dirty="0"/>
              <a:t>]= </a:t>
            </a:r>
            <a:r>
              <a:rPr lang="en-US" altLang="zh-CN" sz="2500" i="1" dirty="0"/>
              <a:t>k</a:t>
            </a:r>
            <a:r>
              <a:rPr lang="zh-CN" altLang="en-US" sz="2500" dirty="0"/>
              <a:t>，表示进程</a:t>
            </a:r>
            <a:r>
              <a:rPr lang="en-US" altLang="zh-CN" sz="2500" i="1" dirty="0"/>
              <a:t>p</a:t>
            </a:r>
            <a:r>
              <a:rPr lang="en-US" altLang="zh-CN" sz="2500" i="1" baseline="-25000" dirty="0"/>
              <a:t>i</a:t>
            </a:r>
            <a:r>
              <a:rPr lang="zh-CN" altLang="en-US" sz="2500" dirty="0">
                <a:solidFill>
                  <a:srgbClr val="FF0000"/>
                </a:solidFill>
              </a:rPr>
              <a:t>需要申请</a:t>
            </a:r>
            <a:r>
              <a:rPr lang="en-US" altLang="zh-CN" sz="2500" i="1" dirty="0"/>
              <a:t>k</a:t>
            </a:r>
            <a:r>
              <a:rPr lang="zh-CN" altLang="en-US" sz="2500" dirty="0"/>
              <a:t>个</a:t>
            </a:r>
            <a:r>
              <a:rPr lang="en-US" altLang="zh-CN" sz="2500" i="1" dirty="0"/>
              <a:t>r</a:t>
            </a:r>
            <a:r>
              <a:rPr lang="en-US" altLang="zh-CN" sz="2500" i="1" baseline="-25000" dirty="0"/>
              <a:t>j</a:t>
            </a:r>
            <a:r>
              <a:rPr lang="zh-CN" altLang="en-US" sz="2500" dirty="0"/>
              <a:t>类资源。</a:t>
            </a:r>
            <a:endParaRPr lang="zh-CN" altLang="en-US" sz="2500" dirty="0"/>
          </a:p>
          <a:p>
            <a:pPr fontAlgn="auto">
              <a:lnSpc>
                <a:spcPct val="100000"/>
              </a:lnSpc>
            </a:pPr>
            <a:r>
              <a:rPr lang="zh-CN" altLang="en-US" sz="2500" dirty="0"/>
              <a:t>当进程</a:t>
            </a:r>
            <a:r>
              <a:rPr lang="en-US" altLang="zh-CN" sz="2500" i="1" dirty="0"/>
              <a:t>p</a:t>
            </a:r>
            <a:r>
              <a:rPr lang="en-US" altLang="zh-CN" sz="2500" i="1" baseline="-25000" dirty="0"/>
              <a:t>i</a:t>
            </a:r>
            <a:r>
              <a:rPr lang="zh-CN" altLang="en-US" sz="2500" dirty="0"/>
              <a:t>申请资源时，</a:t>
            </a:r>
            <a:r>
              <a:rPr lang="zh-CN" altLang="en-US" sz="2500" dirty="0">
                <a:solidFill>
                  <a:srgbClr val="FF0000"/>
                </a:solidFill>
              </a:rPr>
              <a:t>就执行下列动作</a:t>
            </a:r>
            <a:r>
              <a:rPr lang="zh-CN" altLang="en-US" sz="2500" dirty="0"/>
              <a:t>：</a:t>
            </a:r>
            <a:endParaRPr lang="zh-CN" altLang="en-US" sz="2500" dirty="0"/>
          </a:p>
          <a:p>
            <a:pPr fontAlgn="auto">
              <a:lnSpc>
                <a:spcPct val="100000"/>
              </a:lnSpc>
              <a:buNone/>
            </a:pPr>
            <a:r>
              <a:rPr lang="en-US" altLang="zh-CN" sz="2500" dirty="0"/>
              <a:t>① </a:t>
            </a:r>
            <a:r>
              <a:rPr lang="zh-CN" altLang="en-US" sz="2500" dirty="0"/>
              <a:t>若</a:t>
            </a:r>
            <a:r>
              <a:rPr lang="en-US" altLang="zh-CN" sz="2500" dirty="0"/>
              <a:t>Request</a:t>
            </a:r>
            <a:r>
              <a:rPr lang="en-US" altLang="zh-CN" sz="2500" i="1" baseline="-25000" dirty="0"/>
              <a:t>i</a:t>
            </a:r>
            <a:r>
              <a:rPr lang="zh-CN" altLang="en-US" sz="2500" dirty="0"/>
              <a:t>＞</a:t>
            </a:r>
            <a:r>
              <a:rPr lang="en-US" altLang="zh-CN" sz="2500" dirty="0"/>
              <a:t>Need</a:t>
            </a:r>
            <a:r>
              <a:rPr lang="en-US" altLang="zh-CN" sz="2500" i="1" baseline="-25000" dirty="0"/>
              <a:t>i</a:t>
            </a:r>
            <a:r>
              <a:rPr lang="zh-CN" altLang="en-US" sz="2500" dirty="0"/>
              <a:t>，表示</a:t>
            </a:r>
            <a:r>
              <a:rPr lang="zh-CN" altLang="en-US" sz="2500" b="1" dirty="0">
                <a:solidFill>
                  <a:srgbClr val="FF0000"/>
                </a:solidFill>
              </a:rPr>
              <a:t>出错</a:t>
            </a:r>
            <a:r>
              <a:rPr lang="zh-CN" altLang="en-US" sz="2500" dirty="0"/>
              <a:t>， </a:t>
            </a:r>
            <a:endParaRPr lang="zh-CN" altLang="en-US" sz="2500" dirty="0"/>
          </a:p>
          <a:p>
            <a:pPr fontAlgn="auto">
              <a:lnSpc>
                <a:spcPct val="100000"/>
              </a:lnSpc>
              <a:buNone/>
            </a:pPr>
            <a:r>
              <a:rPr lang="en-US" altLang="zh-CN" sz="2500" dirty="0"/>
              <a:t>② </a:t>
            </a:r>
            <a:r>
              <a:rPr lang="zh-CN" altLang="en-US" sz="2500" dirty="0"/>
              <a:t>如果</a:t>
            </a:r>
            <a:r>
              <a:rPr lang="en-US" altLang="zh-CN" sz="2500" dirty="0"/>
              <a:t>Request</a:t>
            </a:r>
            <a:r>
              <a:rPr lang="en-US" altLang="zh-CN" sz="2500" i="1" baseline="-25000" dirty="0"/>
              <a:t>i</a:t>
            </a:r>
            <a:r>
              <a:rPr lang="zh-CN" altLang="en-US" sz="2500" dirty="0"/>
              <a:t>＞</a:t>
            </a:r>
            <a:r>
              <a:rPr lang="en-US" altLang="zh-CN" sz="2500" dirty="0"/>
              <a:t>Available</a:t>
            </a:r>
            <a:r>
              <a:rPr lang="zh-CN" altLang="en-US" sz="2500" dirty="0"/>
              <a:t>，则</a:t>
            </a:r>
            <a:r>
              <a:rPr lang="en-US" altLang="zh-CN" sz="2500" i="1" dirty="0"/>
              <a:t>p</a:t>
            </a:r>
            <a:r>
              <a:rPr lang="en-US" altLang="zh-CN" sz="2500" i="1" baseline="-25000" dirty="0"/>
              <a:t>i</a:t>
            </a:r>
            <a:r>
              <a:rPr lang="zh-CN" altLang="en-US" sz="2500" b="1" dirty="0">
                <a:solidFill>
                  <a:srgbClr val="FF0000"/>
                </a:solidFill>
              </a:rPr>
              <a:t>等待</a:t>
            </a:r>
            <a:r>
              <a:rPr lang="zh-CN" altLang="en-US" sz="2500" dirty="0"/>
              <a:t>。</a:t>
            </a:r>
            <a:endParaRPr lang="zh-CN" altLang="en-US" sz="2500" dirty="0"/>
          </a:p>
          <a:p>
            <a:pPr fontAlgn="auto">
              <a:lnSpc>
                <a:spcPct val="100000"/>
              </a:lnSpc>
              <a:buNone/>
            </a:pPr>
            <a:r>
              <a:rPr lang="en-US" altLang="zh-CN" sz="2500" dirty="0"/>
              <a:t>③ </a:t>
            </a:r>
            <a:r>
              <a:rPr lang="zh-CN" altLang="en-US" sz="2500" dirty="0"/>
              <a:t>假设系统把申请的资源分给进程</a:t>
            </a:r>
            <a:r>
              <a:rPr lang="en-US" altLang="zh-CN" sz="2500" i="1" dirty="0"/>
              <a:t>p</a:t>
            </a:r>
            <a:r>
              <a:rPr lang="en-US" altLang="zh-CN" sz="2500" i="1" baseline="-25000" dirty="0"/>
              <a:t>i</a:t>
            </a:r>
            <a:r>
              <a:rPr lang="zh-CN" altLang="en-US" sz="2500" dirty="0"/>
              <a:t>，则应对有关数据结构进行修改（</a:t>
            </a:r>
            <a:r>
              <a:rPr lang="zh-CN" altLang="en-US" sz="2500" b="1" dirty="0">
                <a:solidFill>
                  <a:srgbClr val="FF0000"/>
                </a:solidFill>
              </a:rPr>
              <a:t>试着分配，改三个值</a:t>
            </a:r>
            <a:r>
              <a:rPr lang="zh-CN" altLang="en-US" sz="2500" dirty="0"/>
              <a:t>）</a:t>
            </a:r>
            <a:endParaRPr lang="zh-CN" altLang="en-US" sz="2500" dirty="0"/>
          </a:p>
          <a:p>
            <a:pPr fontAlgn="auto">
              <a:lnSpc>
                <a:spcPct val="100000"/>
              </a:lnSpc>
              <a:buNone/>
            </a:pPr>
            <a:r>
              <a:rPr lang="zh-CN" altLang="en-US" sz="2500" dirty="0"/>
              <a:t>        </a:t>
            </a:r>
            <a:r>
              <a:rPr lang="en-US" altLang="zh-CN" sz="2500" dirty="0"/>
              <a:t>Available</a:t>
            </a:r>
            <a:r>
              <a:rPr lang="zh-CN" altLang="en-US" sz="2500" dirty="0"/>
              <a:t>：</a:t>
            </a:r>
            <a:r>
              <a:rPr lang="en-US" altLang="zh-CN" sz="2500" dirty="0"/>
              <a:t>= Available – Request</a:t>
            </a:r>
            <a:r>
              <a:rPr lang="en-US" altLang="zh-CN" sz="2500" i="1" baseline="-25000" dirty="0"/>
              <a:t>i</a:t>
            </a:r>
            <a:endParaRPr lang="en-US" altLang="zh-CN" sz="2500" baseline="-25000" dirty="0"/>
          </a:p>
          <a:p>
            <a:pPr fontAlgn="auto">
              <a:lnSpc>
                <a:spcPct val="100000"/>
              </a:lnSpc>
              <a:buNone/>
            </a:pPr>
            <a:r>
              <a:rPr lang="en-US" altLang="zh-CN" sz="2500" dirty="0"/>
              <a:t>        Allocation</a:t>
            </a:r>
            <a:r>
              <a:rPr lang="en-US" altLang="zh-CN" sz="2500" i="1" baseline="-25000" dirty="0"/>
              <a:t>i</a:t>
            </a:r>
            <a:r>
              <a:rPr lang="zh-CN" altLang="en-US" sz="2500" dirty="0"/>
              <a:t>：</a:t>
            </a:r>
            <a:r>
              <a:rPr lang="en-US" altLang="zh-CN" sz="2500" dirty="0"/>
              <a:t>= Allocation</a:t>
            </a:r>
            <a:r>
              <a:rPr lang="en-US" altLang="zh-CN" sz="2500" i="1" baseline="-25000" dirty="0"/>
              <a:t>i  </a:t>
            </a:r>
            <a:r>
              <a:rPr lang="en-US" altLang="zh-CN" sz="2500" dirty="0"/>
              <a:t>+ Request</a:t>
            </a:r>
            <a:r>
              <a:rPr lang="en-US" altLang="zh-CN" sz="2500" i="1" baseline="-25000" dirty="0"/>
              <a:t>i</a:t>
            </a:r>
            <a:endParaRPr lang="en-US" altLang="zh-CN" sz="2500" baseline="-25000" dirty="0"/>
          </a:p>
          <a:p>
            <a:pPr fontAlgn="auto">
              <a:lnSpc>
                <a:spcPct val="100000"/>
              </a:lnSpc>
              <a:buNone/>
            </a:pPr>
            <a:r>
              <a:rPr lang="en-US" altLang="zh-CN" sz="2500" dirty="0"/>
              <a:t>        Need</a:t>
            </a:r>
            <a:r>
              <a:rPr lang="en-US" altLang="zh-CN" sz="2500" i="1" baseline="-25000" dirty="0"/>
              <a:t>i</a:t>
            </a:r>
            <a:r>
              <a:rPr lang="zh-CN" altLang="en-US" sz="2500" dirty="0"/>
              <a:t>：</a:t>
            </a:r>
            <a:r>
              <a:rPr lang="en-US" altLang="zh-CN" sz="2500" dirty="0"/>
              <a:t>= Need</a:t>
            </a:r>
            <a:r>
              <a:rPr lang="en-US" altLang="zh-CN" sz="2500" i="1" baseline="-25000" dirty="0"/>
              <a:t>i</a:t>
            </a:r>
            <a:r>
              <a:rPr lang="en-US" altLang="zh-CN" sz="2500" dirty="0"/>
              <a:t> – Request</a:t>
            </a:r>
            <a:r>
              <a:rPr lang="en-US" altLang="zh-CN" sz="2500" i="1" baseline="-25000" dirty="0"/>
              <a:t>i</a:t>
            </a:r>
            <a:endParaRPr lang="en-US" altLang="zh-CN" sz="2500" baseline="-25000" dirty="0"/>
          </a:p>
          <a:p>
            <a:pPr fontAlgn="auto">
              <a:lnSpc>
                <a:spcPct val="100000"/>
              </a:lnSpc>
              <a:buNone/>
            </a:pPr>
            <a:r>
              <a:rPr lang="en-US" altLang="zh-CN" sz="2500" dirty="0"/>
              <a:t>④ </a:t>
            </a:r>
            <a:r>
              <a:rPr lang="zh-CN" altLang="en-US" sz="2500" dirty="0"/>
              <a:t>系统执行</a:t>
            </a:r>
            <a:r>
              <a:rPr lang="zh-CN" altLang="en-US" sz="2500" b="1" dirty="0">
                <a:solidFill>
                  <a:srgbClr val="FF0000"/>
                </a:solidFill>
              </a:rPr>
              <a:t>安全性算法</a:t>
            </a:r>
            <a:r>
              <a:rPr lang="zh-CN" altLang="en-US" sz="2500" dirty="0"/>
              <a:t>，查看此时系统状态是否安全。如果是安全的，就实际</a:t>
            </a:r>
            <a:r>
              <a:rPr lang="zh-CN" altLang="en-US" sz="2500" dirty="0">
                <a:solidFill>
                  <a:srgbClr val="FF0000"/>
                </a:solidFill>
              </a:rPr>
              <a:t>分配</a:t>
            </a:r>
            <a:r>
              <a:rPr lang="zh-CN" altLang="en-US" sz="2500" dirty="0"/>
              <a:t>资源，满足进程</a:t>
            </a:r>
            <a:r>
              <a:rPr lang="en-US" altLang="zh-CN" sz="2500" i="1" dirty="0"/>
              <a:t>p</a:t>
            </a:r>
            <a:r>
              <a:rPr lang="en-US" altLang="zh-CN" sz="2500" i="1" baseline="-25000" dirty="0"/>
              <a:t>i </a:t>
            </a:r>
            <a:r>
              <a:rPr lang="zh-CN" altLang="en-US" sz="2500" dirty="0"/>
              <a:t>的此次申请；否则，若新状态是不安全的，则</a:t>
            </a:r>
            <a:r>
              <a:rPr lang="en-US" altLang="zh-CN" sz="2500" i="1" dirty="0"/>
              <a:t>p</a:t>
            </a:r>
            <a:r>
              <a:rPr lang="en-US" altLang="zh-CN" sz="2500" i="1" baseline="-25000" dirty="0"/>
              <a:t>i</a:t>
            </a:r>
            <a:r>
              <a:rPr lang="zh-CN" altLang="en-US" sz="2500" dirty="0"/>
              <a:t>等待，对所申请资源</a:t>
            </a:r>
            <a:r>
              <a:rPr lang="zh-CN" altLang="en-US" sz="2500" dirty="0">
                <a:solidFill>
                  <a:srgbClr val="FF0000"/>
                </a:solidFill>
              </a:rPr>
              <a:t>暂不予分配</a:t>
            </a:r>
            <a:r>
              <a:rPr lang="zh-CN" altLang="en-US" sz="2500" dirty="0"/>
              <a:t>，并且把资源分配状态恢复成</a:t>
            </a:r>
            <a:r>
              <a:rPr lang="en-US" altLang="zh-CN" sz="2500" dirty="0"/>
              <a:t>③</a:t>
            </a:r>
            <a:r>
              <a:rPr lang="zh-CN" altLang="en-US" sz="2500" dirty="0"/>
              <a:t>之前的情况。</a:t>
            </a:r>
            <a:endParaRPr lang="zh-CN" altLang="en-US"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842">
                                            <p:txEl>
                                              <p:pRg st="3" end="3"/>
                                            </p:txEl>
                                          </p:spTgt>
                                        </p:tgtEl>
                                        <p:attrNameLst>
                                          <p:attrName>style.visibility</p:attrName>
                                        </p:attrNameLst>
                                      </p:cBhvr>
                                      <p:to>
                                        <p:strVal val="visible"/>
                                      </p:to>
                                    </p:set>
                                    <p:animEffect transition="in" filter="fade">
                                      <p:cBhvr>
                                        <p:cTn id="7" dur="1000"/>
                                        <p:tgtEl>
                                          <p:spTgt spid="35842">
                                            <p:txEl>
                                              <p:pRg st="3" end="3"/>
                                            </p:txEl>
                                          </p:spTgt>
                                        </p:tgtEl>
                                      </p:cBhvr>
                                    </p:animEffect>
                                    <p:anim calcmode="lin" valueType="num">
                                      <p:cBhvr>
                                        <p:cTn id="8" dur="1000" fill="hold"/>
                                        <p:tgtEl>
                                          <p:spTgt spid="35842">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5842">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842">
                                            <p:txEl>
                                              <p:pRg st="4" end="4"/>
                                            </p:txEl>
                                          </p:spTgt>
                                        </p:tgtEl>
                                        <p:attrNameLst>
                                          <p:attrName>style.visibility</p:attrName>
                                        </p:attrNameLst>
                                      </p:cBhvr>
                                      <p:to>
                                        <p:strVal val="visible"/>
                                      </p:to>
                                    </p:set>
                                    <p:animEffect transition="in" filter="fade">
                                      <p:cBhvr>
                                        <p:cTn id="12" dur="1000"/>
                                        <p:tgtEl>
                                          <p:spTgt spid="35842">
                                            <p:txEl>
                                              <p:pRg st="4" end="4"/>
                                            </p:txEl>
                                          </p:spTgt>
                                        </p:tgtEl>
                                      </p:cBhvr>
                                    </p:animEffect>
                                    <p:anim calcmode="lin" valueType="num">
                                      <p:cBhvr>
                                        <p:cTn id="13" dur="1000" fill="hold"/>
                                        <p:tgtEl>
                                          <p:spTgt spid="35842">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5842">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5842">
                                            <p:txEl>
                                              <p:charRg st="139" end="178"/>
                                            </p:txEl>
                                          </p:spTgt>
                                        </p:tgtEl>
                                        <p:attrNameLst>
                                          <p:attrName>style.visibility</p:attrName>
                                        </p:attrNameLst>
                                      </p:cBhvr>
                                      <p:to>
                                        <p:strVal val="visible"/>
                                      </p:to>
                                    </p:set>
                                    <p:animEffect transition="in" filter="fade">
                                      <p:cBhvr>
                                        <p:cTn id="17" dur="1000"/>
                                        <p:tgtEl>
                                          <p:spTgt spid="35842">
                                            <p:txEl>
                                              <p:charRg st="139" end="178"/>
                                            </p:txEl>
                                          </p:spTgt>
                                        </p:tgtEl>
                                      </p:cBhvr>
                                    </p:animEffect>
                                    <p:anim calcmode="lin" valueType="num">
                                      <p:cBhvr>
                                        <p:cTn id="18" dur="1000" fill="hold"/>
                                        <p:tgtEl>
                                          <p:spTgt spid="35842">
                                            <p:txEl>
                                              <p:charRg st="139" end="178"/>
                                            </p:txEl>
                                          </p:spTgt>
                                        </p:tgtEl>
                                        <p:attrNameLst>
                                          <p:attrName>ppt_x</p:attrName>
                                        </p:attrNameLst>
                                      </p:cBhvr>
                                      <p:tavLst>
                                        <p:tav tm="0">
                                          <p:val>
                                            <p:strVal val="#ppt_x"/>
                                          </p:val>
                                        </p:tav>
                                        <p:tav tm="100000">
                                          <p:val>
                                            <p:strVal val="#ppt_x"/>
                                          </p:val>
                                        </p:tav>
                                      </p:tavLst>
                                    </p:anim>
                                    <p:anim calcmode="lin" valueType="num">
                                      <p:cBhvr>
                                        <p:cTn id="19" dur="1000" fill="hold"/>
                                        <p:tgtEl>
                                          <p:spTgt spid="35842">
                                            <p:txEl>
                                              <p:charRg st="139" end="178"/>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5842">
                                            <p:txEl>
                                              <p:charRg st="178" end="219"/>
                                            </p:txEl>
                                          </p:spTgt>
                                        </p:tgtEl>
                                        <p:attrNameLst>
                                          <p:attrName>style.visibility</p:attrName>
                                        </p:attrNameLst>
                                      </p:cBhvr>
                                      <p:to>
                                        <p:strVal val="visible"/>
                                      </p:to>
                                    </p:set>
                                    <p:animEffect transition="in" filter="fade">
                                      <p:cBhvr>
                                        <p:cTn id="22" dur="1000"/>
                                        <p:tgtEl>
                                          <p:spTgt spid="35842">
                                            <p:txEl>
                                              <p:charRg st="178" end="219"/>
                                            </p:txEl>
                                          </p:spTgt>
                                        </p:tgtEl>
                                      </p:cBhvr>
                                    </p:animEffect>
                                    <p:anim calcmode="lin" valueType="num">
                                      <p:cBhvr>
                                        <p:cTn id="23" dur="1000" fill="hold"/>
                                        <p:tgtEl>
                                          <p:spTgt spid="35842">
                                            <p:txEl>
                                              <p:charRg st="178" end="219"/>
                                            </p:txEl>
                                          </p:spTgt>
                                        </p:tgtEl>
                                        <p:attrNameLst>
                                          <p:attrName>ppt_x</p:attrName>
                                        </p:attrNameLst>
                                      </p:cBhvr>
                                      <p:tavLst>
                                        <p:tav tm="0">
                                          <p:val>
                                            <p:strVal val="#ppt_x"/>
                                          </p:val>
                                        </p:tav>
                                        <p:tav tm="100000">
                                          <p:val>
                                            <p:strVal val="#ppt_x"/>
                                          </p:val>
                                        </p:tav>
                                      </p:tavLst>
                                    </p:anim>
                                    <p:anim calcmode="lin" valueType="num">
                                      <p:cBhvr>
                                        <p:cTn id="24" dur="1000" fill="hold"/>
                                        <p:tgtEl>
                                          <p:spTgt spid="35842">
                                            <p:txEl>
                                              <p:charRg st="178" end="219"/>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5842">
                                            <p:txEl>
                                              <p:charRg st="219" end="265"/>
                                            </p:txEl>
                                          </p:spTgt>
                                        </p:tgtEl>
                                        <p:attrNameLst>
                                          <p:attrName>style.visibility</p:attrName>
                                        </p:attrNameLst>
                                      </p:cBhvr>
                                      <p:to>
                                        <p:strVal val="visible"/>
                                      </p:to>
                                    </p:set>
                                    <p:animEffect transition="in" filter="fade">
                                      <p:cBhvr>
                                        <p:cTn id="27" dur="1000"/>
                                        <p:tgtEl>
                                          <p:spTgt spid="35842">
                                            <p:txEl>
                                              <p:charRg st="219" end="265"/>
                                            </p:txEl>
                                          </p:spTgt>
                                        </p:tgtEl>
                                      </p:cBhvr>
                                    </p:animEffect>
                                    <p:anim calcmode="lin" valueType="num">
                                      <p:cBhvr>
                                        <p:cTn id="28" dur="1000" fill="hold"/>
                                        <p:tgtEl>
                                          <p:spTgt spid="35842">
                                            <p:txEl>
                                              <p:charRg st="219" end="265"/>
                                            </p:txEl>
                                          </p:spTgt>
                                        </p:tgtEl>
                                        <p:attrNameLst>
                                          <p:attrName>ppt_x</p:attrName>
                                        </p:attrNameLst>
                                      </p:cBhvr>
                                      <p:tavLst>
                                        <p:tav tm="0">
                                          <p:val>
                                            <p:strVal val="#ppt_x"/>
                                          </p:val>
                                        </p:tav>
                                        <p:tav tm="100000">
                                          <p:val>
                                            <p:strVal val="#ppt_x"/>
                                          </p:val>
                                        </p:tav>
                                      </p:tavLst>
                                    </p:anim>
                                    <p:anim calcmode="lin" valueType="num">
                                      <p:cBhvr>
                                        <p:cTn id="29" dur="1000" fill="hold"/>
                                        <p:tgtEl>
                                          <p:spTgt spid="35842">
                                            <p:txEl>
                                              <p:charRg st="219" end="26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5842">
                                            <p:txEl>
                                              <p:charRg st="265" end="298"/>
                                            </p:txEl>
                                          </p:spTgt>
                                        </p:tgtEl>
                                        <p:attrNameLst>
                                          <p:attrName>style.visibility</p:attrName>
                                        </p:attrNameLst>
                                      </p:cBhvr>
                                      <p:to>
                                        <p:strVal val="visible"/>
                                      </p:to>
                                    </p:set>
                                    <p:animEffect transition="in" filter="fade">
                                      <p:cBhvr>
                                        <p:cTn id="32" dur="1000"/>
                                        <p:tgtEl>
                                          <p:spTgt spid="35842">
                                            <p:txEl>
                                              <p:charRg st="265" end="298"/>
                                            </p:txEl>
                                          </p:spTgt>
                                        </p:tgtEl>
                                      </p:cBhvr>
                                    </p:animEffect>
                                    <p:anim calcmode="lin" valueType="num">
                                      <p:cBhvr>
                                        <p:cTn id="33" dur="1000" fill="hold"/>
                                        <p:tgtEl>
                                          <p:spTgt spid="35842">
                                            <p:txEl>
                                              <p:charRg st="265" end="298"/>
                                            </p:txEl>
                                          </p:spTgt>
                                        </p:tgtEl>
                                        <p:attrNameLst>
                                          <p:attrName>ppt_x</p:attrName>
                                        </p:attrNameLst>
                                      </p:cBhvr>
                                      <p:tavLst>
                                        <p:tav tm="0">
                                          <p:val>
                                            <p:strVal val="#ppt_x"/>
                                          </p:val>
                                        </p:tav>
                                        <p:tav tm="100000">
                                          <p:val>
                                            <p:strVal val="#ppt_x"/>
                                          </p:val>
                                        </p:tav>
                                      </p:tavLst>
                                    </p:anim>
                                    <p:anim calcmode="lin" valueType="num">
                                      <p:cBhvr>
                                        <p:cTn id="34" dur="1000" fill="hold"/>
                                        <p:tgtEl>
                                          <p:spTgt spid="35842">
                                            <p:txEl>
                                              <p:charRg st="265" end="29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5842">
                                            <p:txEl>
                                              <p:charRg st="298" end="402"/>
                                            </p:txEl>
                                          </p:spTgt>
                                        </p:tgtEl>
                                        <p:attrNameLst>
                                          <p:attrName>style.visibility</p:attrName>
                                        </p:attrNameLst>
                                      </p:cBhvr>
                                      <p:to>
                                        <p:strVal val="visible"/>
                                      </p:to>
                                    </p:set>
                                    <p:animEffect transition="in" filter="fade">
                                      <p:cBhvr>
                                        <p:cTn id="37" dur="1000"/>
                                        <p:tgtEl>
                                          <p:spTgt spid="35842">
                                            <p:txEl>
                                              <p:charRg st="298" end="402"/>
                                            </p:txEl>
                                          </p:spTgt>
                                        </p:tgtEl>
                                      </p:cBhvr>
                                    </p:animEffect>
                                    <p:anim calcmode="lin" valueType="num">
                                      <p:cBhvr>
                                        <p:cTn id="38" dur="1000" fill="hold"/>
                                        <p:tgtEl>
                                          <p:spTgt spid="35842">
                                            <p:txEl>
                                              <p:charRg st="298" end="402"/>
                                            </p:txEl>
                                          </p:spTgt>
                                        </p:tgtEl>
                                        <p:attrNameLst>
                                          <p:attrName>ppt_x</p:attrName>
                                        </p:attrNameLst>
                                      </p:cBhvr>
                                      <p:tavLst>
                                        <p:tav tm="0">
                                          <p:val>
                                            <p:strVal val="#ppt_x"/>
                                          </p:val>
                                        </p:tav>
                                        <p:tav tm="100000">
                                          <p:val>
                                            <p:strVal val="#ppt_x"/>
                                          </p:val>
                                        </p:tav>
                                      </p:tavLst>
                                    </p:anim>
                                    <p:anim calcmode="lin" valueType="num">
                                      <p:cBhvr>
                                        <p:cTn id="39" dur="1000" fill="hold"/>
                                        <p:tgtEl>
                                          <p:spTgt spid="35842">
                                            <p:txEl>
                                              <p:charRg st="298" end="40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740"/>
            <a:ext cx="11137900" cy="521970"/>
          </a:xfrm>
          <a:prstGeom prst="rect">
            <a:avLst/>
          </a:prstGeom>
        </p:spPr>
        <p:txBody>
          <a:bodyPr wrap="square">
            <a:spAutoFit/>
          </a:bodyPr>
          <a:lstStyle/>
          <a:p>
            <a:r>
              <a:rPr lang="zh-CN" altLang="en-US" sz="2800" b="1" dirty="0">
                <a:solidFill>
                  <a:schemeClr val="bg1"/>
                </a:solidFill>
              </a:rPr>
              <a:t>银行家算法：决定是否满足某进程的资源请求</a:t>
            </a:r>
            <a:endParaRPr lang="en-US" altLang="zh-CN" sz="2800" b="1" dirty="0">
              <a:solidFill>
                <a:schemeClr val="bg1"/>
              </a:solidFill>
            </a:endParaRPr>
          </a:p>
        </p:txBody>
      </p:sp>
      <p:sp>
        <p:nvSpPr>
          <p:cNvPr id="31" name="文本框 30"/>
          <p:cNvSpPr txBox="1"/>
          <p:nvPr/>
        </p:nvSpPr>
        <p:spPr>
          <a:xfrm>
            <a:off x="759040" y="952240"/>
            <a:ext cx="11092649" cy="960584"/>
          </a:xfrm>
          <a:prstGeom prst="rect">
            <a:avLst/>
          </a:prstGeom>
          <a:noFill/>
        </p:spPr>
        <p:txBody>
          <a:bodyPr wrap="square">
            <a:spAutoFit/>
          </a:bodyPr>
          <a:lstStyle/>
          <a:p>
            <a:pPr>
              <a:lnSpc>
                <a:spcPct val="123000"/>
              </a:lnSpc>
              <a:spcBef>
                <a:spcPts val="600"/>
              </a:spcBef>
              <a:spcAft>
                <a:spcPts val="600"/>
              </a:spcAft>
              <a:buFont typeface="Monotype Sorts" pitchFamily="2" charset="2"/>
              <a:buNone/>
            </a:pPr>
            <a:r>
              <a:rPr lang="zh-CN" altLang="en-US" sz="2400" dirty="0">
                <a:latin typeface="+mn-ea"/>
              </a:rPr>
              <a:t> </a:t>
            </a:r>
            <a:r>
              <a:rPr lang="en-US" altLang="zh-CN" sz="2400" dirty="0" err="1">
                <a:solidFill>
                  <a:srgbClr val="FF0000"/>
                </a:solidFill>
                <a:latin typeface="+mn-ea"/>
              </a:rPr>
              <a:t>Request</a:t>
            </a:r>
            <a:r>
              <a:rPr lang="en-US" altLang="zh-CN" sz="2400" baseline="-25000" dirty="0" err="1">
                <a:solidFill>
                  <a:srgbClr val="FF0000"/>
                </a:solidFill>
                <a:latin typeface="+mn-ea"/>
              </a:rPr>
              <a:t>i</a:t>
            </a:r>
            <a:r>
              <a:rPr lang="en-US" altLang="zh-CN" sz="2400" dirty="0">
                <a:solidFill>
                  <a:srgbClr val="FF0000"/>
                </a:solidFill>
                <a:latin typeface="+mn-ea"/>
              </a:rPr>
              <a:t> =</a:t>
            </a:r>
            <a:r>
              <a:rPr lang="zh-CN" altLang="en-US" sz="2400" dirty="0">
                <a:solidFill>
                  <a:srgbClr val="FF0000"/>
                </a:solidFill>
                <a:latin typeface="+mn-ea"/>
              </a:rPr>
              <a:t>进程 </a:t>
            </a:r>
            <a:r>
              <a:rPr lang="en-US" altLang="zh-CN" sz="2400" dirty="0">
                <a:solidFill>
                  <a:srgbClr val="FF0000"/>
                </a:solidFill>
                <a:latin typeface="+mn-ea"/>
              </a:rPr>
              <a:t>P</a:t>
            </a:r>
            <a:r>
              <a:rPr lang="en-US" altLang="zh-CN" sz="2400" baseline="-25000" dirty="0">
                <a:solidFill>
                  <a:srgbClr val="FF0000"/>
                </a:solidFill>
                <a:latin typeface="+mn-ea"/>
              </a:rPr>
              <a:t>i</a:t>
            </a:r>
            <a:r>
              <a:rPr lang="en-US" altLang="zh-CN" sz="2400" dirty="0">
                <a:solidFill>
                  <a:srgbClr val="FF0000"/>
                </a:solidFill>
                <a:latin typeface="+mn-ea"/>
              </a:rPr>
              <a:t> </a:t>
            </a:r>
            <a:r>
              <a:rPr lang="zh-CN" altLang="en-US" sz="2400" dirty="0">
                <a:solidFill>
                  <a:srgbClr val="FF0000"/>
                </a:solidFill>
                <a:latin typeface="+mn-ea"/>
              </a:rPr>
              <a:t>的资源请求向量</a:t>
            </a:r>
            <a:r>
              <a:rPr lang="zh-CN" altLang="en-US" sz="2400" dirty="0">
                <a:latin typeface="+mn-ea"/>
              </a:rPr>
              <a:t>，</a:t>
            </a:r>
            <a:r>
              <a:rPr lang="en-US" altLang="zh-CN" sz="2400" dirty="0">
                <a:latin typeface="+mn-ea"/>
              </a:rPr>
              <a:t> </a:t>
            </a:r>
            <a:r>
              <a:rPr lang="zh-CN" altLang="en-US" sz="2400" dirty="0">
                <a:latin typeface="+mn-ea"/>
              </a:rPr>
              <a:t>如果</a:t>
            </a:r>
            <a:r>
              <a:rPr lang="en-US" altLang="zh-CN" sz="2400" dirty="0" err="1">
                <a:latin typeface="+mn-ea"/>
              </a:rPr>
              <a:t>Request</a:t>
            </a:r>
            <a:r>
              <a:rPr lang="en-US" altLang="zh-CN" sz="2400" baseline="-25000" dirty="0" err="1">
                <a:latin typeface="+mn-ea"/>
              </a:rPr>
              <a:t>i</a:t>
            </a:r>
            <a:r>
              <a:rPr lang="en-US" altLang="zh-CN" sz="2400" baseline="-25000" dirty="0">
                <a:latin typeface="+mn-ea"/>
              </a:rPr>
              <a:t> </a:t>
            </a:r>
            <a:r>
              <a:rPr lang="en-US" altLang="zh-CN" sz="2400" dirty="0">
                <a:latin typeface="+mn-ea"/>
              </a:rPr>
              <a:t>[m] = k </a:t>
            </a:r>
            <a:r>
              <a:rPr lang="zh-CN" altLang="en-US" sz="2400" dirty="0">
                <a:latin typeface="+mn-ea"/>
              </a:rPr>
              <a:t>则进程 </a:t>
            </a:r>
            <a:r>
              <a:rPr lang="en-US" altLang="zh-CN" sz="2400" dirty="0">
                <a:latin typeface="+mn-ea"/>
              </a:rPr>
              <a:t>P</a:t>
            </a:r>
            <a:r>
              <a:rPr lang="en-US" altLang="zh-CN" sz="2400" baseline="-25000" dirty="0">
                <a:latin typeface="+mn-ea"/>
              </a:rPr>
              <a:t>i</a:t>
            </a:r>
            <a:r>
              <a:rPr lang="en-US" altLang="zh-CN" sz="2400" dirty="0">
                <a:latin typeface="+mn-ea"/>
              </a:rPr>
              <a:t> </a:t>
            </a:r>
            <a:r>
              <a:rPr lang="zh-CN" altLang="en-US" sz="2400" dirty="0">
                <a:latin typeface="+mn-ea"/>
              </a:rPr>
              <a:t>想要资源类型为</a:t>
            </a:r>
            <a:r>
              <a:rPr lang="en-US" altLang="zh-CN" sz="2400" dirty="0" err="1">
                <a:latin typeface="+mn-ea"/>
              </a:rPr>
              <a:t>R</a:t>
            </a:r>
            <a:r>
              <a:rPr lang="en-US" altLang="zh-CN" sz="2400" baseline="-25000" dirty="0" err="1">
                <a:latin typeface="+mn-ea"/>
              </a:rPr>
              <a:t>jm</a:t>
            </a:r>
            <a:r>
              <a:rPr lang="zh-CN" altLang="en-US" sz="2400" dirty="0">
                <a:latin typeface="+mn-ea"/>
              </a:rPr>
              <a:t>的</a:t>
            </a:r>
            <a:r>
              <a:rPr lang="en-US" altLang="zh-CN" sz="2400" dirty="0">
                <a:latin typeface="+mn-ea"/>
              </a:rPr>
              <a:t>k</a:t>
            </a:r>
            <a:r>
              <a:rPr lang="zh-CN" altLang="en-US" sz="2400" dirty="0">
                <a:latin typeface="+mn-ea"/>
              </a:rPr>
              <a:t>个实例</a:t>
            </a:r>
            <a:r>
              <a:rPr lang="en-US" altLang="zh-CN" sz="2400" baseline="-25000" dirty="0">
                <a:latin typeface="+mn-ea"/>
              </a:rPr>
              <a:t>	</a:t>
            </a:r>
            <a:endParaRPr lang="en-US" altLang="zh-CN" sz="2400" baseline="-25000" dirty="0">
              <a:latin typeface="+mn-ea"/>
            </a:endParaRPr>
          </a:p>
        </p:txBody>
      </p:sp>
      <p:sp>
        <p:nvSpPr>
          <p:cNvPr id="8" name="文本框 7"/>
          <p:cNvSpPr txBox="1"/>
          <p:nvPr/>
        </p:nvSpPr>
        <p:spPr>
          <a:xfrm>
            <a:off x="370110" y="1978012"/>
            <a:ext cx="11288490" cy="470578"/>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a:pPr>
            <a:r>
              <a:rPr lang="zh-CN" altLang="en-US" sz="2200" dirty="0">
                <a:latin typeface="+mn-ea"/>
              </a:rPr>
              <a:t>如果 </a:t>
            </a:r>
            <a:r>
              <a:rPr lang="en-US" altLang="zh-CN" sz="2200" dirty="0" err="1">
                <a:latin typeface="+mn-ea"/>
              </a:rPr>
              <a:t>Request</a:t>
            </a:r>
            <a:r>
              <a:rPr lang="en-US" altLang="zh-CN" sz="2200" baseline="-25000" dirty="0" err="1">
                <a:latin typeface="+mn-ea"/>
              </a:rPr>
              <a:t>i</a:t>
            </a:r>
            <a:r>
              <a:rPr lang="en-US" altLang="zh-CN" sz="2200" dirty="0">
                <a:latin typeface="+mn-ea"/>
              </a:rPr>
              <a:t> </a:t>
            </a:r>
            <a:r>
              <a:rPr lang="en-US" altLang="zh-CN" sz="2200" dirty="0">
                <a:latin typeface="+mn-ea"/>
                <a:sym typeface="Symbol" panose="05050102010706020507" pitchFamily="18" charset="2"/>
              </a:rPr>
              <a:t> </a:t>
            </a: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转 </a:t>
            </a:r>
            <a:r>
              <a:rPr lang="en-US" altLang="zh-CN" sz="2200" dirty="0">
                <a:latin typeface="+mn-ea"/>
                <a:sym typeface="Symbol" panose="05050102010706020507" pitchFamily="18" charset="2"/>
              </a:rPr>
              <a:t>step 2.  </a:t>
            </a:r>
            <a:r>
              <a:rPr lang="zh-CN" altLang="en-US" sz="2200" dirty="0">
                <a:latin typeface="+mn-ea"/>
                <a:sym typeface="Symbol" panose="05050102010706020507" pitchFamily="18" charset="2"/>
              </a:rPr>
              <a:t>否则报错</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因为进程请求超出了其声明的最大值</a:t>
            </a:r>
            <a:endParaRPr lang="en-US" altLang="zh-CN" sz="2200" dirty="0">
              <a:latin typeface="+mn-ea"/>
              <a:sym typeface="Symbol" panose="05050102010706020507" pitchFamily="18" charset="2"/>
            </a:endParaRPr>
          </a:p>
        </p:txBody>
      </p:sp>
      <p:sp>
        <p:nvSpPr>
          <p:cNvPr id="9" name="文本框 8"/>
          <p:cNvSpPr txBox="1"/>
          <p:nvPr/>
        </p:nvSpPr>
        <p:spPr>
          <a:xfrm>
            <a:off x="370110" y="2541949"/>
            <a:ext cx="11437688" cy="470578"/>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2"/>
            </a:pPr>
            <a:r>
              <a:rPr lang="zh-CN" altLang="en-US" sz="2200" dirty="0">
                <a:latin typeface="+mn-ea"/>
                <a:sym typeface="Symbol" panose="05050102010706020507" pitchFamily="18" charset="2"/>
              </a:rPr>
              <a:t>如果 </a:t>
            </a:r>
            <a:r>
              <a:rPr lang="en-US" altLang="zh-CN" sz="2200" dirty="0" err="1">
                <a:latin typeface="+mn-ea"/>
              </a:rPr>
              <a:t>Request</a:t>
            </a:r>
            <a:r>
              <a:rPr lang="en-US" altLang="zh-CN" sz="2200" baseline="-25000" dirty="0" err="1">
                <a:latin typeface="+mn-ea"/>
              </a:rPr>
              <a:t>i</a:t>
            </a:r>
            <a:r>
              <a:rPr lang="en-US" altLang="zh-CN" sz="2200" dirty="0">
                <a:latin typeface="+mn-ea"/>
              </a:rPr>
              <a:t> </a:t>
            </a:r>
            <a:r>
              <a:rPr lang="en-US" altLang="zh-CN" sz="2200" dirty="0">
                <a:latin typeface="+mn-ea"/>
                <a:sym typeface="Symbol" panose="05050102010706020507" pitchFamily="18" charset="2"/>
              </a:rPr>
              <a:t> Available, </a:t>
            </a:r>
            <a:r>
              <a:rPr lang="zh-CN" altLang="en-US" sz="2200" dirty="0">
                <a:latin typeface="+mn-ea"/>
                <a:sym typeface="Symbol" panose="05050102010706020507" pitchFamily="18" charset="2"/>
              </a:rPr>
              <a:t>转 </a:t>
            </a:r>
            <a:r>
              <a:rPr lang="en-US" altLang="zh-CN" sz="2200" dirty="0">
                <a:latin typeface="+mn-ea"/>
                <a:sym typeface="Symbol" panose="05050102010706020507" pitchFamily="18" charset="2"/>
              </a:rPr>
              <a:t>step 3.  </a:t>
            </a:r>
            <a:r>
              <a:rPr lang="zh-CN" altLang="en-US" sz="2200" dirty="0">
                <a:latin typeface="+mn-ea"/>
                <a:sym typeface="Symbol" panose="05050102010706020507" pitchFamily="18" charset="2"/>
              </a:rPr>
              <a:t>否则 </a:t>
            </a:r>
            <a:r>
              <a:rPr lang="en-US" altLang="zh-CN" sz="2200" dirty="0">
                <a:latin typeface="+mn-ea"/>
                <a:sym typeface="Symbol" panose="05050102010706020507" pitchFamily="18" charset="2"/>
              </a:rPr>
              <a:t>P</a:t>
            </a:r>
            <a:r>
              <a:rPr lang="en-US" altLang="zh-CN" sz="2200" baseline="-25000" dirty="0">
                <a:latin typeface="+mn-ea"/>
                <a:sym typeface="Symbol" panose="05050102010706020507" pitchFamily="18" charset="2"/>
              </a:rPr>
              <a:t>i</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必须等待</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因为资源不可用</a:t>
            </a:r>
            <a:endParaRPr lang="en-US" altLang="zh-CN" sz="2200" dirty="0">
              <a:latin typeface="+mn-ea"/>
              <a:sym typeface="Symbol" panose="05050102010706020507" pitchFamily="18" charset="2"/>
            </a:endParaRPr>
          </a:p>
        </p:txBody>
      </p:sp>
      <p:sp>
        <p:nvSpPr>
          <p:cNvPr id="10" name="文本框 9"/>
          <p:cNvSpPr txBox="1"/>
          <p:nvPr/>
        </p:nvSpPr>
        <p:spPr>
          <a:xfrm>
            <a:off x="386461" y="3123282"/>
            <a:ext cx="11437688" cy="471796"/>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3"/>
            </a:pPr>
            <a:r>
              <a:rPr lang="zh-CN" altLang="en-US" sz="2200" dirty="0">
                <a:latin typeface="+mn-ea"/>
                <a:sym typeface="Symbol" panose="05050102010706020507" pitchFamily="18" charset="2"/>
              </a:rPr>
              <a:t>假设通过修改下列状态来试着分配请求的资源给进程</a:t>
            </a:r>
            <a:r>
              <a:rPr lang="en-US" altLang="zh-CN" sz="2200" dirty="0">
                <a:latin typeface="+mn-ea"/>
                <a:sym typeface="Symbol" panose="05050102010706020507" pitchFamily="18" charset="2"/>
              </a:rPr>
              <a:t>P</a:t>
            </a:r>
            <a:r>
              <a:rPr lang="en-US" altLang="zh-CN" sz="2200" baseline="-25000" dirty="0">
                <a:latin typeface="+mn-ea"/>
                <a:sym typeface="Symbol" panose="05050102010706020507" pitchFamily="18" charset="2"/>
              </a:rPr>
              <a:t>i</a:t>
            </a:r>
            <a:r>
              <a:rPr lang="en-US" altLang="zh-CN" sz="2200" dirty="0">
                <a:latin typeface="+mn-ea"/>
                <a:sym typeface="Symbol" panose="05050102010706020507" pitchFamily="18" charset="2"/>
              </a:rPr>
              <a:t> :</a:t>
            </a:r>
            <a:endParaRPr lang="en-US" altLang="zh-CN" sz="2200" dirty="0">
              <a:latin typeface="+mn-ea"/>
              <a:sym typeface="Symbol" panose="05050102010706020507" pitchFamily="18" charset="2"/>
            </a:endParaRPr>
          </a:p>
        </p:txBody>
      </p:sp>
      <p:sp>
        <p:nvSpPr>
          <p:cNvPr id="11" name="文本框 10"/>
          <p:cNvSpPr txBox="1"/>
          <p:nvPr/>
        </p:nvSpPr>
        <p:spPr>
          <a:xfrm>
            <a:off x="0" y="3828559"/>
            <a:ext cx="6956171" cy="471796"/>
          </a:xfrm>
          <a:prstGeom prst="rect">
            <a:avLst/>
          </a:prstGeom>
          <a:noFill/>
        </p:spPr>
        <p:txBody>
          <a:bodyPr wrap="square">
            <a:spAutoFit/>
          </a:bodyPr>
          <a:lstStyle/>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a:latin typeface="+mn-ea"/>
                <a:sym typeface="Symbol" panose="05050102010706020507" pitchFamily="18" charset="2"/>
              </a:rPr>
              <a:t>Available := Available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
        <p:nvSpPr>
          <p:cNvPr id="12" name="文本框 11"/>
          <p:cNvSpPr txBox="1"/>
          <p:nvPr/>
        </p:nvSpPr>
        <p:spPr>
          <a:xfrm>
            <a:off x="0" y="4361420"/>
            <a:ext cx="10792258" cy="471796"/>
          </a:xfrm>
          <a:prstGeom prst="rect">
            <a:avLst/>
          </a:prstGeom>
          <a:noFill/>
        </p:spPr>
        <p:txBody>
          <a:bodyPr wrap="square">
            <a:spAutoFit/>
          </a:bodyPr>
          <a:lstStyle/>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 </a:t>
            </a:r>
            <a:r>
              <a:rPr lang="en-US" altLang="zh-CN" sz="2200" dirty="0">
                <a:latin typeface="+mn-ea"/>
                <a:sym typeface="Symbol" panose="05050102010706020507" pitchFamily="18" charset="2"/>
              </a:rPr>
              <a:t>:= </a:t>
            </a: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dirty="0">
              <a:latin typeface="+mn-ea"/>
              <a:sym typeface="Symbol" panose="05050102010706020507" pitchFamily="18" charset="2"/>
            </a:endParaRPr>
          </a:p>
        </p:txBody>
      </p:sp>
      <p:sp>
        <p:nvSpPr>
          <p:cNvPr id="13" name="文本框 12"/>
          <p:cNvSpPr txBox="1"/>
          <p:nvPr/>
        </p:nvSpPr>
        <p:spPr>
          <a:xfrm>
            <a:off x="425040" y="4803006"/>
            <a:ext cx="11178630" cy="1453475"/>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4"/>
            </a:pPr>
            <a:r>
              <a:rPr lang="zh-CN" altLang="en-US" sz="2200" dirty="0">
                <a:latin typeface="+mn-ea"/>
                <a:sym typeface="Symbol" panose="05050102010706020507" pitchFamily="18" charset="2"/>
              </a:rPr>
              <a:t>系统执行安全性算法</a:t>
            </a:r>
            <a:endParaRPr lang="en-US" altLang="zh-CN" sz="2200" dirty="0">
              <a:latin typeface="+mn-ea"/>
              <a:sym typeface="Symbol" panose="05050102010706020507" pitchFamily="18" charset="2"/>
            </a:endParaRPr>
          </a:p>
          <a:p>
            <a:pPr marL="1371600" lvl="2" indent="-457200">
              <a:lnSpc>
                <a:spcPct val="150000"/>
              </a:lnSpc>
              <a:buClr>
                <a:srgbClr val="FFC000"/>
              </a:buClr>
              <a:buSzPct val="117000"/>
              <a:buFont typeface="Wingdings" panose="05000000000000000000" pitchFamily="2" charset="2"/>
              <a:buChar char="n"/>
            </a:pPr>
            <a:r>
              <a:rPr lang="zh-CN" altLang="en-US" sz="2000" dirty="0">
                <a:latin typeface="+mn-ea"/>
                <a:sym typeface="Symbol" panose="05050102010706020507" pitchFamily="18" charset="2"/>
              </a:rPr>
              <a:t>如果系统安全  将资源分配给 </a:t>
            </a:r>
            <a:r>
              <a:rPr lang="en-US" altLang="zh-CN" sz="2000" dirty="0">
                <a:latin typeface="+mn-ea"/>
                <a:sym typeface="Symbol" panose="05050102010706020507" pitchFamily="18" charset="2"/>
              </a:rPr>
              <a:t>P</a:t>
            </a:r>
            <a:r>
              <a:rPr lang="en-US" altLang="zh-CN" sz="2000" baseline="-25000" dirty="0">
                <a:latin typeface="+mn-ea"/>
                <a:sym typeface="Symbol" panose="05050102010706020507" pitchFamily="18" charset="2"/>
              </a:rPr>
              <a:t>i</a:t>
            </a:r>
            <a:r>
              <a:rPr lang="en-US" altLang="zh-CN" sz="2000" dirty="0">
                <a:latin typeface="+mn-ea"/>
                <a:sym typeface="Symbol" panose="05050102010706020507" pitchFamily="18" charset="2"/>
              </a:rPr>
              <a:t>. </a:t>
            </a:r>
            <a:endParaRPr lang="en-US" altLang="zh-CN" sz="2000" dirty="0">
              <a:latin typeface="+mn-ea"/>
              <a:sym typeface="Symbol" panose="05050102010706020507" pitchFamily="18" charset="2"/>
            </a:endParaRPr>
          </a:p>
          <a:p>
            <a:pPr marL="1371600" lvl="2" indent="-457200">
              <a:lnSpc>
                <a:spcPct val="150000"/>
              </a:lnSpc>
              <a:buClr>
                <a:srgbClr val="FFC000"/>
              </a:buClr>
              <a:buSzPct val="117000"/>
              <a:buFont typeface="Wingdings" panose="05000000000000000000" pitchFamily="2" charset="2"/>
              <a:buChar char="n"/>
            </a:pPr>
            <a:r>
              <a:rPr lang="zh-CN" altLang="en-US" sz="2000" dirty="0">
                <a:latin typeface="+mn-ea"/>
                <a:sym typeface="Symbol" panose="05050102010706020507" pitchFamily="18" charset="2"/>
              </a:rPr>
              <a:t>如果系统不安全 </a:t>
            </a:r>
            <a:r>
              <a:rPr lang="en-US" altLang="zh-CN" sz="2000" dirty="0">
                <a:latin typeface="+mn-ea"/>
                <a:sym typeface="Symbol" panose="05050102010706020507" pitchFamily="18" charset="2"/>
              </a:rPr>
              <a:t> P</a:t>
            </a:r>
            <a:r>
              <a:rPr lang="en-US" altLang="zh-CN" sz="2000" baseline="-25000" dirty="0">
                <a:latin typeface="+mn-ea"/>
                <a:sym typeface="Symbol" panose="05050102010706020507" pitchFamily="18" charset="2"/>
              </a:rPr>
              <a:t>i</a:t>
            </a:r>
            <a:r>
              <a:rPr lang="en-US" altLang="zh-CN" sz="2000" dirty="0">
                <a:latin typeface="+mn-ea"/>
                <a:sym typeface="Symbol" panose="05050102010706020507" pitchFamily="18" charset="2"/>
              </a:rPr>
              <a:t> </a:t>
            </a:r>
            <a:r>
              <a:rPr lang="zh-CN" altLang="en-US" sz="2000" dirty="0">
                <a:latin typeface="+mn-ea"/>
                <a:sym typeface="Symbol" panose="05050102010706020507" pitchFamily="18" charset="2"/>
              </a:rPr>
              <a:t>必须等待，恢复原有的资源分配状态</a:t>
            </a:r>
            <a:endParaRPr lang="zh-CN" altLang="en-US" sz="2000" dirty="0">
              <a:solidFill>
                <a:schemeClr val="accent3"/>
              </a:solidFill>
              <a:latin typeface="+mn-ea"/>
            </a:endParaRPr>
          </a:p>
        </p:txBody>
      </p:sp>
      <p:sp>
        <p:nvSpPr>
          <p:cNvPr id="14" name="文本框 13"/>
          <p:cNvSpPr txBox="1"/>
          <p:nvPr/>
        </p:nvSpPr>
        <p:spPr>
          <a:xfrm>
            <a:off x="5360898" y="3854423"/>
            <a:ext cx="10792258" cy="471796"/>
          </a:xfrm>
          <a:prstGeom prst="rect">
            <a:avLst/>
          </a:prstGeom>
          <a:noFill/>
        </p:spPr>
        <p:txBody>
          <a:bodyPr wrap="square">
            <a:spAutoFit/>
          </a:bodyPr>
          <a:lstStyle/>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
        <p:nvSpPr>
          <p:cNvPr id="2" name="文本框 1"/>
          <p:cNvSpPr txBox="1"/>
          <p:nvPr/>
        </p:nvSpPr>
        <p:spPr>
          <a:xfrm>
            <a:off x="7930515" y="308610"/>
            <a:ext cx="4112895" cy="884555"/>
          </a:xfrm>
          <a:prstGeom prst="rect">
            <a:avLst/>
          </a:prstGeom>
          <a:noFill/>
        </p:spPr>
        <p:txBody>
          <a:bodyPr wrap="square" rtlCol="0">
            <a:noAutofit/>
          </a:bodyPr>
          <a:lstStyle/>
          <a:p>
            <a:r>
              <a:rPr lang="zh-CN" altLang="en-US" sz="2400">
                <a:solidFill>
                  <a:schemeClr val="accent3">
                    <a:lumMod val="75000"/>
                    <a:lumOff val="25000"/>
                  </a:schemeClr>
                </a:solidFill>
              </a:rPr>
              <a:t>四步走：出错判断、等待判断、预改</a:t>
            </a:r>
            <a:r>
              <a:rPr lang="en-US" altLang="zh-CN" sz="2400">
                <a:solidFill>
                  <a:schemeClr val="accent3">
                    <a:lumMod val="75000"/>
                    <a:lumOff val="25000"/>
                  </a:schemeClr>
                </a:solidFill>
              </a:rPr>
              <a:t>3</a:t>
            </a:r>
            <a:r>
              <a:rPr lang="zh-CN" altLang="en-US" sz="2400">
                <a:solidFill>
                  <a:schemeClr val="accent3">
                    <a:lumMod val="75000"/>
                    <a:lumOff val="25000"/>
                  </a:schemeClr>
                </a:solidFill>
              </a:rPr>
              <a:t>值，安全性判断。</a:t>
            </a:r>
            <a:endParaRPr lang="zh-CN" altLang="en-US" sz="2400">
              <a:solidFill>
                <a:schemeClr val="accent3">
                  <a:lumMod val="75000"/>
                  <a:lumOff val="25000"/>
                </a:schemeClr>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银行家算法的例子</a:t>
            </a:r>
            <a:endParaRPr lang="en-US" altLang="zh-CN" sz="2800" b="1" dirty="0">
              <a:solidFill>
                <a:schemeClr val="bg1"/>
              </a:solidFill>
            </a:endParaRPr>
          </a:p>
        </p:txBody>
      </p:sp>
      <p:sp>
        <p:nvSpPr>
          <p:cNvPr id="31" name="文本框 30"/>
          <p:cNvSpPr txBox="1"/>
          <p:nvPr/>
        </p:nvSpPr>
        <p:spPr>
          <a:xfrm>
            <a:off x="759040" y="1136341"/>
            <a:ext cx="10994995" cy="5077460"/>
          </a:xfrm>
          <a:prstGeom prst="rect">
            <a:avLst/>
          </a:prstGeom>
          <a:noFill/>
        </p:spPr>
        <p:txBody>
          <a:bodyPr wrap="square">
            <a:spAutoFit/>
          </a:bodyPr>
          <a:lstStyle/>
          <a:p>
            <a:pPr marL="342900" indent="-342900">
              <a:lnSpc>
                <a:spcPct val="150000"/>
              </a:lnSpc>
              <a:buClr>
                <a:srgbClr val="FFC000"/>
              </a:buClr>
              <a:buFont typeface="Wingdings" panose="05000000000000000000" pitchFamily="2" charset="2"/>
              <a:buChar char="u"/>
              <a:tabLst>
                <a:tab pos="1371600" algn="l"/>
                <a:tab pos="2395220" algn="ctr"/>
                <a:tab pos="3594100" algn="ctr"/>
                <a:tab pos="4805045" algn="ctr"/>
              </a:tabLst>
            </a:pPr>
            <a:r>
              <a:rPr lang="en-US" altLang="zh-CN" sz="2400" dirty="0"/>
              <a:t>5</a:t>
            </a:r>
            <a:r>
              <a:rPr lang="zh-CN" altLang="en-US" sz="2400" dirty="0"/>
              <a:t>个进程</a:t>
            </a:r>
            <a:r>
              <a:rPr lang="en-US" altLang="zh-CN" sz="2400" dirty="0"/>
              <a:t>P</a:t>
            </a:r>
            <a:r>
              <a:rPr lang="en-US" altLang="zh-CN" sz="2400" baseline="-25000" dirty="0"/>
              <a:t>0</a:t>
            </a:r>
            <a:r>
              <a:rPr lang="zh-CN" altLang="en-US" sz="2400" dirty="0"/>
              <a:t>到</a:t>
            </a:r>
            <a:r>
              <a:rPr lang="en-US" altLang="zh-CN" sz="2400" dirty="0"/>
              <a:t>P</a:t>
            </a:r>
            <a:r>
              <a:rPr lang="en-US" altLang="zh-CN" sz="2400" baseline="-25000" dirty="0"/>
              <a:t>4</a:t>
            </a:r>
            <a:r>
              <a:rPr lang="zh-CN" altLang="en-US" sz="2400" dirty="0"/>
              <a:t>；  </a:t>
            </a:r>
            <a:r>
              <a:rPr lang="en-US" altLang="zh-CN" sz="2400" dirty="0"/>
              <a:t>3</a:t>
            </a:r>
            <a:r>
              <a:rPr lang="zh-CN" altLang="en-US" sz="2400" dirty="0"/>
              <a:t>个资源类型</a:t>
            </a:r>
            <a:r>
              <a:rPr lang="en-US" altLang="zh-CN" sz="2400" dirty="0"/>
              <a:t>A(10</a:t>
            </a:r>
            <a:r>
              <a:rPr lang="zh-CN" altLang="en-US" sz="2400" dirty="0"/>
              <a:t>个实例），</a:t>
            </a:r>
            <a:r>
              <a:rPr lang="en-US" altLang="zh-CN" sz="2400" dirty="0"/>
              <a:t>B</a:t>
            </a:r>
            <a:r>
              <a:rPr lang="zh-CN" altLang="en-US" sz="2400" dirty="0"/>
              <a:t>（</a:t>
            </a:r>
            <a:r>
              <a:rPr lang="en-US" altLang="zh-CN" sz="2400" dirty="0"/>
              <a:t>5</a:t>
            </a:r>
            <a:r>
              <a:rPr lang="zh-CN" altLang="en-US" sz="2400" dirty="0"/>
              <a:t>个实例），</a:t>
            </a:r>
            <a:r>
              <a:rPr lang="en-US" altLang="zh-CN" sz="2400" dirty="0"/>
              <a:t>C</a:t>
            </a:r>
            <a:r>
              <a:rPr lang="zh-CN" altLang="en-US" sz="2400" dirty="0"/>
              <a:t>（</a:t>
            </a:r>
            <a:r>
              <a:rPr lang="en-US" altLang="zh-CN" sz="2400" dirty="0"/>
              <a:t>7</a:t>
            </a:r>
            <a:r>
              <a:rPr lang="zh-CN" altLang="en-US" sz="2400" dirty="0"/>
              <a:t>个实例）</a:t>
            </a:r>
            <a:endParaRPr lang="en-US" altLang="zh-CN" sz="2400" dirty="0"/>
          </a:p>
          <a:p>
            <a:pPr marL="342900" indent="-342900">
              <a:lnSpc>
                <a:spcPct val="150000"/>
              </a:lnSpc>
              <a:buClr>
                <a:srgbClr val="FFC000"/>
              </a:buClr>
              <a:buFont typeface="Wingdings" panose="05000000000000000000" pitchFamily="2" charset="2"/>
              <a:buChar char="u"/>
              <a:tabLst>
                <a:tab pos="1371600" algn="l"/>
                <a:tab pos="2395220" algn="ctr"/>
                <a:tab pos="3594100" algn="ctr"/>
                <a:tab pos="4805045" algn="ctr"/>
              </a:tabLst>
            </a:pPr>
            <a:r>
              <a:rPr lang="zh-CN" altLang="en-US" sz="2400" dirty="0"/>
              <a:t>时刻</a:t>
            </a:r>
            <a:r>
              <a:rPr lang="en-US" altLang="zh-CN" sz="2400" dirty="0"/>
              <a:t>T</a:t>
            </a:r>
            <a:r>
              <a:rPr lang="en-US" altLang="zh-CN" sz="2400" baseline="-25000" dirty="0"/>
              <a:t>0</a:t>
            </a:r>
            <a:r>
              <a:rPr lang="zh-CN" altLang="en-US" sz="2400" dirty="0"/>
              <a:t>的快照：转下页求出</a:t>
            </a:r>
            <a:r>
              <a:rPr lang="en-US" altLang="zh-CN" sz="2400" dirty="0"/>
              <a:t>Need</a:t>
            </a:r>
            <a:endParaRPr lang="zh-CN" altLang="en-US" sz="2400" dirty="0"/>
          </a:p>
          <a:p>
            <a:pPr>
              <a:lnSpc>
                <a:spcPct val="150000"/>
              </a:lnSpc>
              <a:buFont typeface="Monotype Sorts" pitchFamily="2" charset="2"/>
              <a:buNone/>
              <a:tabLst>
                <a:tab pos="1371600" algn="l"/>
                <a:tab pos="2395220" algn="ctr"/>
                <a:tab pos="3594100" algn="ctr"/>
                <a:tab pos="4805045" algn="ctr"/>
              </a:tabLst>
            </a:pPr>
            <a:r>
              <a:rPr lang="zh-CN" altLang="zh-CN" sz="2400" dirty="0"/>
              <a:t>			</a:t>
            </a:r>
            <a:r>
              <a:rPr lang="en-US" altLang="zh-CN" sz="2400" u="sng" dirty="0">
                <a:solidFill>
                  <a:srgbClr val="0000CC"/>
                </a:solidFill>
              </a:rPr>
              <a:t>Allocation</a:t>
            </a:r>
            <a:r>
              <a:rPr lang="en-US" altLang="zh-CN" sz="2400" dirty="0">
                <a:solidFill>
                  <a:srgbClr val="0000CC"/>
                </a:solidFill>
              </a:rPr>
              <a:t>		   </a:t>
            </a:r>
            <a:r>
              <a:rPr lang="en-US" altLang="zh-CN" sz="2400" u="sng" dirty="0">
                <a:solidFill>
                  <a:srgbClr val="0000CC"/>
                </a:solidFill>
              </a:rPr>
              <a:t>Max</a:t>
            </a:r>
            <a:r>
              <a:rPr lang="en-US" altLang="zh-CN" sz="2400" dirty="0">
                <a:solidFill>
                  <a:srgbClr val="0000CC"/>
                </a:solidFill>
              </a:rPr>
              <a:t>		</a:t>
            </a:r>
            <a:r>
              <a:rPr lang="en-US" altLang="zh-CN" sz="2400" u="sng" dirty="0">
                <a:solidFill>
                  <a:srgbClr val="0000CC"/>
                </a:solidFill>
              </a:rPr>
              <a:t>Available</a:t>
            </a:r>
            <a:endParaRPr lang="en-US" altLang="zh-CN" sz="2400" dirty="0">
              <a:solidFill>
                <a:srgbClr val="0000CC"/>
              </a:solidFill>
            </a:endParaRPr>
          </a:p>
          <a:p>
            <a:pPr>
              <a:lnSpc>
                <a:spcPct val="150000"/>
              </a:lnSpc>
              <a:buFont typeface="Monotype Sorts" pitchFamily="2" charset="2"/>
              <a:buNone/>
              <a:tabLst>
                <a:tab pos="1371600" algn="l"/>
                <a:tab pos="2395220" algn="ctr"/>
                <a:tab pos="3594100" algn="ctr"/>
                <a:tab pos="4805045" algn="ctr"/>
              </a:tabLst>
            </a:pPr>
            <a:r>
              <a:rPr lang="en-US" altLang="zh-CN" sz="2400" dirty="0"/>
              <a:t>			A   B   C		A   B  C 	A   B   C</a:t>
            </a:r>
            <a:endParaRPr lang="en-US" altLang="zh-CN" sz="2400" dirty="0"/>
          </a:p>
          <a:p>
            <a:pPr>
              <a:lnSpc>
                <a:spcPct val="150000"/>
              </a:lnSpc>
              <a:buFont typeface="Monotype Sorts" pitchFamily="2" charset="2"/>
              <a:buNone/>
              <a:tabLst>
                <a:tab pos="1371600" algn="l"/>
                <a:tab pos="2395220" algn="ctr"/>
                <a:tab pos="3594100" algn="ctr"/>
                <a:tab pos="4805045" algn="ctr"/>
              </a:tabLst>
            </a:pPr>
            <a:r>
              <a:rPr lang="en-US" altLang="zh-CN" sz="2400" dirty="0"/>
              <a:t>		P</a:t>
            </a:r>
            <a:r>
              <a:rPr lang="en-US" altLang="zh-CN" sz="2400" baseline="-25000" dirty="0"/>
              <a:t>0	</a:t>
            </a:r>
            <a:r>
              <a:rPr lang="en-US" altLang="zh-CN" sz="2400" dirty="0"/>
              <a:t>0   1    0		7   5   3 	3   3    2</a:t>
            </a:r>
            <a:endParaRPr lang="en-US" altLang="zh-CN" sz="2400" dirty="0"/>
          </a:p>
          <a:p>
            <a:pPr>
              <a:lnSpc>
                <a:spcPct val="150000"/>
              </a:lnSpc>
              <a:buFont typeface="Monotype Sorts" pitchFamily="2" charset="2"/>
              <a:buNone/>
              <a:tabLst>
                <a:tab pos="1371600" algn="l"/>
                <a:tab pos="2395220" algn="ctr"/>
                <a:tab pos="3594100" algn="ctr"/>
                <a:tab pos="4805045" algn="ctr"/>
              </a:tabLst>
            </a:pPr>
            <a:r>
              <a:rPr lang="en-US" altLang="zh-CN" sz="2400" dirty="0"/>
              <a:t>		 P</a:t>
            </a:r>
            <a:r>
              <a:rPr lang="en-US" altLang="zh-CN" sz="2400" baseline="-25000" dirty="0"/>
              <a:t>1	</a:t>
            </a:r>
            <a:r>
              <a:rPr lang="en-US" altLang="zh-CN" sz="2400" dirty="0"/>
              <a:t>2   0   0 		3   2   2  </a:t>
            </a:r>
            <a:endParaRPr lang="en-US" altLang="zh-CN" sz="2400" dirty="0"/>
          </a:p>
          <a:p>
            <a:pPr>
              <a:lnSpc>
                <a:spcPct val="150000"/>
              </a:lnSpc>
              <a:buFont typeface="Monotype Sorts" pitchFamily="2" charset="2"/>
              <a:buNone/>
              <a:tabLst>
                <a:tab pos="1371600" algn="l"/>
                <a:tab pos="2395220" algn="ctr"/>
                <a:tab pos="3594100" algn="ctr"/>
                <a:tab pos="4805045" algn="ctr"/>
              </a:tabLst>
            </a:pPr>
            <a:r>
              <a:rPr lang="en-US" altLang="zh-CN" sz="2400" dirty="0"/>
              <a:t>		 P</a:t>
            </a:r>
            <a:r>
              <a:rPr lang="en-US" altLang="zh-CN" sz="2400" baseline="-25000" dirty="0"/>
              <a:t>2</a:t>
            </a:r>
            <a:r>
              <a:rPr lang="en-US" altLang="zh-CN" sz="2400" dirty="0"/>
              <a:t>	3   0   2 		9   0   2</a:t>
            </a:r>
            <a:endParaRPr lang="en-US" altLang="zh-CN" sz="2400" dirty="0"/>
          </a:p>
          <a:p>
            <a:pPr>
              <a:lnSpc>
                <a:spcPct val="150000"/>
              </a:lnSpc>
              <a:buFont typeface="Monotype Sorts" pitchFamily="2" charset="2"/>
              <a:buNone/>
              <a:tabLst>
                <a:tab pos="1371600" algn="l"/>
                <a:tab pos="2395220" algn="ctr"/>
                <a:tab pos="3594100" algn="ctr"/>
                <a:tab pos="4805045" algn="ctr"/>
              </a:tabLst>
            </a:pPr>
            <a:r>
              <a:rPr lang="en-US" altLang="zh-CN" sz="2400" dirty="0"/>
              <a:t>		 P</a:t>
            </a:r>
            <a:r>
              <a:rPr lang="en-US" altLang="zh-CN" sz="2400" baseline="-25000" dirty="0"/>
              <a:t>3</a:t>
            </a:r>
            <a:r>
              <a:rPr lang="en-US" altLang="zh-CN" sz="2400" dirty="0"/>
              <a:t>	2   1   1 		2   2   2</a:t>
            </a:r>
            <a:endParaRPr lang="en-US" altLang="zh-CN" sz="2400" dirty="0"/>
          </a:p>
          <a:p>
            <a:pPr>
              <a:lnSpc>
                <a:spcPct val="150000"/>
              </a:lnSpc>
              <a:buFont typeface="Monotype Sorts" pitchFamily="2" charset="2"/>
              <a:buNone/>
              <a:tabLst>
                <a:tab pos="1371600" algn="l"/>
                <a:tab pos="2395220" algn="ctr"/>
                <a:tab pos="3594100" algn="ctr"/>
                <a:tab pos="4805045" algn="ctr"/>
              </a:tabLst>
            </a:pPr>
            <a:r>
              <a:rPr lang="en-US" altLang="zh-CN" sz="2400" dirty="0"/>
              <a:t>		 P</a:t>
            </a:r>
            <a:r>
              <a:rPr lang="en-US" altLang="zh-CN" sz="2400" baseline="-25000" dirty="0"/>
              <a:t>4</a:t>
            </a:r>
            <a:r>
              <a:rPr lang="en-US" altLang="zh-CN" sz="2400" dirty="0"/>
              <a:t>	0   0   2		4   3   3   		</a:t>
            </a:r>
            <a:endParaRPr lang="en-US" altLang="zh-CN"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endParaRPr lang="zh-CN" altLang="en-US" sz="2800" b="1" dirty="0">
              <a:solidFill>
                <a:schemeClr val="bg1"/>
              </a:solidFill>
            </a:endParaRPr>
          </a:p>
        </p:txBody>
      </p:sp>
      <p:sp>
        <p:nvSpPr>
          <p:cNvPr id="31" name="文本框 30"/>
          <p:cNvSpPr txBox="1"/>
          <p:nvPr/>
        </p:nvSpPr>
        <p:spPr>
          <a:xfrm>
            <a:off x="818580" y="1110081"/>
            <a:ext cx="10811167" cy="960584"/>
          </a:xfrm>
          <a:prstGeom prst="rect">
            <a:avLst/>
          </a:prstGeom>
          <a:noFill/>
        </p:spPr>
        <p:txBody>
          <a:bodyPr wrap="square">
            <a:spAutoFit/>
          </a:bodyPr>
          <a:lstStyle/>
          <a:p>
            <a:pPr marL="342900" indent="-342900">
              <a:lnSpc>
                <a:spcPct val="123000"/>
              </a:lnSpc>
              <a:buFont typeface="Wingdings" panose="05000000000000000000" pitchFamily="2" charset="2"/>
              <a:buChar char="Ø"/>
              <a:tabLst>
                <a:tab pos="2452370" algn="l"/>
                <a:tab pos="3492500" algn="ctr"/>
              </a:tabLst>
            </a:pPr>
            <a:r>
              <a:rPr lang="zh-CN" altLang="en-US" sz="2400" dirty="0">
                <a:latin typeface="+mn-ea"/>
              </a:rPr>
              <a:t>矩阵的内容。</a:t>
            </a:r>
            <a:r>
              <a:rPr lang="en-US" altLang="zh-CN" sz="2400" dirty="0">
                <a:latin typeface="+mn-ea"/>
              </a:rPr>
              <a:t>Need</a:t>
            </a:r>
            <a:r>
              <a:rPr lang="zh-CN" altLang="en-US" sz="2400" dirty="0">
                <a:latin typeface="+mn-ea"/>
              </a:rPr>
              <a:t>被定义为</a:t>
            </a:r>
            <a:r>
              <a:rPr lang="en-US" altLang="zh-CN" sz="2400" dirty="0">
                <a:latin typeface="+mn-ea"/>
              </a:rPr>
              <a:t>Max – Allocation</a:t>
            </a:r>
            <a:r>
              <a:rPr lang="zh-CN" altLang="en-US" sz="2400" dirty="0">
                <a:latin typeface="+mn-ea"/>
              </a:rPr>
              <a:t> </a:t>
            </a:r>
            <a:endParaRPr lang="en-US" altLang="zh-CN" sz="2400" dirty="0">
              <a:latin typeface="+mn-ea"/>
            </a:endParaRPr>
          </a:p>
          <a:p>
            <a:pPr marL="342900" indent="-342900">
              <a:lnSpc>
                <a:spcPct val="123000"/>
              </a:lnSpc>
              <a:buFont typeface="Wingdings" panose="05000000000000000000" pitchFamily="2" charset="2"/>
              <a:buChar char="Ø"/>
              <a:tabLst>
                <a:tab pos="2452370" algn="l"/>
                <a:tab pos="3492500" algn="ctr"/>
              </a:tabLst>
            </a:pPr>
            <a:r>
              <a:rPr lang="zh-CN" altLang="en-US" sz="2400" dirty="0">
                <a:solidFill>
                  <a:srgbClr val="FF0000"/>
                </a:solidFill>
                <a:latin typeface="+mn-ea"/>
              </a:rPr>
              <a:t>系统处在安全的状态</a:t>
            </a:r>
            <a:r>
              <a:rPr lang="zh-CN" altLang="en-US" sz="2400" dirty="0">
                <a:latin typeface="+mn-ea"/>
              </a:rPr>
              <a:t>，因为序列</a:t>
            </a:r>
            <a:r>
              <a:rPr lang="en-US" altLang="zh-CN" sz="2400" dirty="0">
                <a:latin typeface="+mn-ea"/>
              </a:rPr>
              <a:t>&lt; </a:t>
            </a:r>
            <a:r>
              <a:rPr lang="en-US" altLang="zh-CN" sz="2400" i="1" dirty="0">
                <a:latin typeface="+mn-ea"/>
              </a:rPr>
              <a:t>P</a:t>
            </a:r>
            <a:r>
              <a:rPr lang="en-US" altLang="zh-CN" sz="2400" baseline="-25000" dirty="0">
                <a:latin typeface="+mn-ea"/>
              </a:rPr>
              <a:t>1</a:t>
            </a:r>
            <a:r>
              <a:rPr lang="en-US" altLang="zh-CN" sz="2400" dirty="0">
                <a:latin typeface="+mn-ea"/>
              </a:rPr>
              <a:t>, </a:t>
            </a:r>
            <a:r>
              <a:rPr lang="en-US" altLang="zh-CN" sz="2400" i="1" dirty="0">
                <a:latin typeface="+mn-ea"/>
              </a:rPr>
              <a:t>P</a:t>
            </a:r>
            <a:r>
              <a:rPr lang="en-US" altLang="zh-CN" sz="2400" baseline="-25000" dirty="0">
                <a:latin typeface="+mn-ea"/>
              </a:rPr>
              <a:t>3</a:t>
            </a:r>
            <a:r>
              <a:rPr lang="en-US" altLang="zh-CN" sz="2400" dirty="0">
                <a:latin typeface="+mn-ea"/>
              </a:rPr>
              <a:t>, </a:t>
            </a:r>
            <a:r>
              <a:rPr lang="en-US" altLang="zh-CN" sz="2400" i="1" dirty="0">
                <a:latin typeface="+mn-ea"/>
              </a:rPr>
              <a:t>P</a:t>
            </a:r>
            <a:r>
              <a:rPr lang="en-US" altLang="zh-CN" sz="2400" baseline="-25000" dirty="0">
                <a:latin typeface="+mn-ea"/>
              </a:rPr>
              <a:t>4</a:t>
            </a:r>
            <a:r>
              <a:rPr lang="en-US" altLang="zh-CN" sz="2400" dirty="0">
                <a:latin typeface="+mn-ea"/>
              </a:rPr>
              <a:t>, </a:t>
            </a:r>
            <a:r>
              <a:rPr lang="en-US" altLang="zh-CN" sz="2400" i="1" dirty="0">
                <a:latin typeface="+mn-ea"/>
              </a:rPr>
              <a:t>P</a:t>
            </a:r>
            <a:r>
              <a:rPr lang="en-US" altLang="zh-CN" sz="2400" baseline="-25000" dirty="0">
                <a:latin typeface="+mn-ea"/>
              </a:rPr>
              <a:t>2</a:t>
            </a:r>
            <a:r>
              <a:rPr lang="en-US" altLang="zh-CN" sz="2400" dirty="0">
                <a:latin typeface="+mn-ea"/>
              </a:rPr>
              <a:t>, </a:t>
            </a:r>
            <a:r>
              <a:rPr lang="en-US" altLang="zh-CN" sz="2400" i="1" dirty="0">
                <a:latin typeface="+mn-ea"/>
              </a:rPr>
              <a:t>P</a:t>
            </a:r>
            <a:r>
              <a:rPr lang="en-US" altLang="zh-CN" sz="2400" baseline="-25000" dirty="0">
                <a:latin typeface="+mn-ea"/>
              </a:rPr>
              <a:t>0</a:t>
            </a:r>
            <a:r>
              <a:rPr lang="en-US" altLang="zh-CN" sz="2400" dirty="0">
                <a:latin typeface="+mn-ea"/>
              </a:rPr>
              <a:t>&gt; </a:t>
            </a:r>
            <a:r>
              <a:rPr lang="zh-CN" altLang="en-US" sz="2400" dirty="0">
                <a:latin typeface="+mn-ea"/>
              </a:rPr>
              <a:t>满足了安全的标准</a:t>
            </a:r>
            <a:endParaRPr lang="zh-CN" altLang="en-US" sz="2400" dirty="0">
              <a:latin typeface="+mn-ea"/>
            </a:endParaRPr>
          </a:p>
        </p:txBody>
      </p:sp>
      <p:graphicFrame>
        <p:nvGraphicFramePr>
          <p:cNvPr id="38" name="Group 74"/>
          <p:cNvGraphicFramePr>
            <a:graphicFrameLocks noGrp="1"/>
          </p:cNvGraphicFramePr>
          <p:nvPr/>
        </p:nvGraphicFramePr>
        <p:xfrm>
          <a:off x="669925" y="2441790"/>
          <a:ext cx="10988720" cy="3621658"/>
        </p:xfrm>
        <a:graphic>
          <a:graphicData uri="http://schemas.openxmlformats.org/drawingml/2006/table">
            <a:tbl>
              <a:tblPr/>
              <a:tblGrid>
                <a:gridCol w="2197744"/>
                <a:gridCol w="2197744"/>
                <a:gridCol w="2197744"/>
                <a:gridCol w="2197744"/>
                <a:gridCol w="2197744"/>
              </a:tblGrid>
              <a:tr h="1008092">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endParaRPr lang="zh-CN" altLang="en-US" sz="2800" b="1" dirty="0">
              <a:solidFill>
                <a:schemeClr val="bg1"/>
              </a:solidFill>
            </a:endParaRPr>
          </a:p>
        </p:txBody>
      </p:sp>
      <p:graphicFrame>
        <p:nvGraphicFramePr>
          <p:cNvPr id="6" name="Group 156"/>
          <p:cNvGraphicFramePr>
            <a:graphicFrameLocks noGrp="1"/>
          </p:cNvGraphicFramePr>
          <p:nvPr/>
        </p:nvGraphicFramePr>
        <p:xfrm>
          <a:off x="232653" y="1592232"/>
          <a:ext cx="11555730" cy="4391315"/>
        </p:xfrm>
        <a:graphic>
          <a:graphicData uri="http://schemas.openxmlformats.org/drawingml/2006/table">
            <a:tbl>
              <a:tblPr>
                <a:tableStyleId>{5DA37D80-6434-44D0-A028-1B22A696006F}</a:tableStyleId>
              </a:tblPr>
              <a:tblGrid>
                <a:gridCol w="2407428"/>
                <a:gridCol w="1556805"/>
                <a:gridCol w="1570848"/>
                <a:gridCol w="1831551"/>
                <a:gridCol w="2948305"/>
                <a:gridCol w="1240720"/>
              </a:tblGrid>
              <a:tr h="105364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          </a:t>
                      </a:r>
                      <a:r>
                        <a:rPr kumimoji="1" lang="zh-CN" altLang="en-US" sz="2400" b="0" u="none" strike="noStrike" cap="none" normalizeH="0" baseline="0" dirty="0">
                          <a:ln>
                            <a:noFill/>
                          </a:ln>
                          <a:solidFill>
                            <a:schemeClr val="tx1"/>
                          </a:solidFill>
                          <a:effectLst/>
                          <a:latin typeface="+mn-ea"/>
                          <a:ea typeface="+mn-ea"/>
                        </a:rPr>
                        <a:t>资源情况</a:t>
                      </a:r>
                      <a:endParaRPr kumimoji="1" lang="zh-CN" altLang="en-US" sz="2400" b="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u="none" strike="noStrike" cap="none" normalizeH="0" baseline="0" dirty="0">
                          <a:ln>
                            <a:noFill/>
                          </a:ln>
                          <a:solidFill>
                            <a:srgbClr val="FF0000"/>
                          </a:solidFill>
                          <a:effectLst/>
                          <a:latin typeface="+mn-ea"/>
                          <a:ea typeface="+mn-ea"/>
                        </a:rPr>
                        <a:t>Work</a:t>
                      </a:r>
                      <a:endParaRPr kumimoji="1" lang="en-US" altLang="zh-CN" sz="2400" b="1" u="none" strike="noStrike" cap="none" normalizeH="0" baseline="0" dirty="0">
                        <a:ln>
                          <a:noFill/>
                        </a:ln>
                        <a:solidFill>
                          <a:srgbClr val="FF0000"/>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Need</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u="none" strike="noStrike" kern="1200" cap="none" normalizeH="0" baseline="0" dirty="0" err="1">
                          <a:ln>
                            <a:noFill/>
                          </a:ln>
                          <a:solidFill>
                            <a:srgbClr val="FF0000"/>
                          </a:solidFill>
                          <a:effectLst/>
                          <a:latin typeface="+mn-ea"/>
                          <a:ea typeface="+mn-ea"/>
                        </a:rPr>
                        <a:t>Work+Allocation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Finish</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horzOverflow="overflow">
                    <a:solidFill>
                      <a:schemeClr val="accent2">
                        <a:lumMod val="20000"/>
                        <a:lumOff val="80000"/>
                      </a:schemeClr>
                    </a:solidFill>
                  </a:tcPr>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3    3    2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1    2    2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2    0    0</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5    3    2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true</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5    3    2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0    1    1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2    1    1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7    4    3</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7    4    3</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4    3    1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0    0    2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7    4    5</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7    4    5</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6    0    0</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3    0    2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10    4    7</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10  4    7</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7    4    3</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0    1    0</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10    5    7</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bl>
          </a:graphicData>
        </a:graphic>
      </p:graphicFrame>
      <p:cxnSp>
        <p:nvCxnSpPr>
          <p:cNvPr id="3" name="直接连接符 2"/>
          <p:cNvCxnSpPr/>
          <p:nvPr/>
        </p:nvCxnSpPr>
        <p:spPr>
          <a:xfrm>
            <a:off x="257452" y="1615736"/>
            <a:ext cx="2396971" cy="1020932"/>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2980" y="1998345"/>
            <a:ext cx="9881235" cy="1938020"/>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下列关于银行家算法的叙述中，正确的是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2013</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银行家算法可以预防死锁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当系统处于安全状态时， 系统中一定无死锁进程</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当系统处于不安全状态时，系统中一定会出现死锁进程</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银行家算法破坏了死锁必要条件中的“请求和保持”条件</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2680" y="786130"/>
            <a:ext cx="9572625" cy="952500"/>
          </a:xfrm>
          <a:prstGeom prst="rect">
            <a:avLst/>
          </a:prstGeom>
        </p:spPr>
        <p:txBody>
          <a:bodyPr wrap="square">
            <a:no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假设</a:t>
            </a:r>
            <a:r>
              <a:rPr lang="en-US" altLang="zh-CN" sz="2400">
                <a:latin typeface="宋体" panose="02010600030101010101" pitchFamily="2" charset="-122"/>
                <a:ea typeface="宋体" panose="02010600030101010101" pitchFamily="2" charset="-122"/>
              </a:rPr>
              <a:t>5</a:t>
            </a:r>
            <a:r>
              <a:rPr lang="zh-CN" altLang="en-US" sz="2400">
                <a:latin typeface="宋体" panose="02010600030101010101" pitchFamily="2" charset="-122"/>
                <a:ea typeface="宋体" panose="02010600030101010101" pitchFamily="2" charset="-122"/>
              </a:rPr>
              <a:t>个进程</a:t>
            </a:r>
            <a:r>
              <a:rPr lang="en-US" altLang="zh-CN" sz="2400">
                <a:latin typeface="宋体" panose="02010600030101010101" pitchFamily="2" charset="-122"/>
                <a:ea typeface="宋体" panose="02010600030101010101" pitchFamily="2" charset="-122"/>
              </a:rPr>
              <a:t>P0</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 P3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P4</a:t>
            </a:r>
            <a:r>
              <a:rPr lang="zh-CN" altLang="en-US" sz="2400">
                <a:latin typeface="宋体" panose="02010600030101010101" pitchFamily="2" charset="-122"/>
                <a:ea typeface="宋体" panose="02010600030101010101" pitchFamily="2" charset="-122"/>
              </a:rPr>
              <a:t>共享三类资源</a:t>
            </a:r>
            <a:r>
              <a:rPr lang="en-US" altLang="zh-CN" sz="2400">
                <a:latin typeface="宋体" panose="02010600030101010101" pitchFamily="2" charset="-122"/>
                <a:ea typeface="宋体" panose="02010600030101010101" pitchFamily="2" charset="-122"/>
              </a:rPr>
              <a:t>R1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R2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R3</a:t>
            </a:r>
            <a:r>
              <a:rPr lang="zh-CN" altLang="en-US" sz="2400">
                <a:latin typeface="宋体" panose="02010600030101010101" pitchFamily="2" charset="-122"/>
                <a:ea typeface="宋体" panose="02010600030101010101" pitchFamily="2" charset="-122"/>
              </a:rPr>
              <a:t>，这些资源总数分别为</a:t>
            </a:r>
            <a:r>
              <a:rPr lang="en-US" altLang="zh-CN" sz="2400">
                <a:latin typeface="宋体" panose="02010600030101010101" pitchFamily="2" charset="-122"/>
                <a:ea typeface="宋体" panose="02010600030101010101" pitchFamily="2" charset="-122"/>
              </a:rPr>
              <a:t>18</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6</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22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T</a:t>
            </a:r>
            <a:r>
              <a:rPr lang="en-US" altLang="zh-CN" sz="2400" baseline="-25000">
                <a:latin typeface="宋体" panose="02010600030101010101" pitchFamily="2" charset="-122"/>
                <a:ea typeface="宋体" panose="02010600030101010101" pitchFamily="2" charset="-122"/>
              </a:rPr>
              <a:t>0</a:t>
            </a:r>
            <a:r>
              <a:rPr lang="zh-CN" altLang="en-US" sz="2400">
                <a:latin typeface="宋体" panose="02010600030101010101" pitchFamily="2" charset="-122"/>
                <a:ea typeface="宋体" panose="02010600030101010101" pitchFamily="2" charset="-122"/>
              </a:rPr>
              <a:t>时刻的资源分配情况如下表所示，此时存在的一个安全序列是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2012</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p:txBody>
      </p:sp>
      <p:graphicFrame>
        <p:nvGraphicFramePr>
          <p:cNvPr id="3" name="表格 2"/>
          <p:cNvGraphicFramePr/>
          <p:nvPr/>
        </p:nvGraphicFramePr>
        <p:xfrm>
          <a:off x="945515" y="1973580"/>
          <a:ext cx="9667875" cy="2933700"/>
        </p:xfrm>
        <a:graphic>
          <a:graphicData uri="http://schemas.openxmlformats.org/drawingml/2006/table">
            <a:tbl>
              <a:tblPr/>
              <a:tblGrid>
                <a:gridCol w="1381125"/>
                <a:gridCol w="1381125"/>
                <a:gridCol w="1381125"/>
                <a:gridCol w="1381125"/>
                <a:gridCol w="1381125"/>
                <a:gridCol w="1381125"/>
                <a:gridCol w="1381125"/>
              </a:tblGrid>
              <a:tr h="419100">
                <a:tc rowSpan="2">
                  <a:txBody>
                    <a:bodyPr/>
                    <a:lstStyle/>
                    <a:p>
                      <a:pPr marL="68580" indent="266700" algn="ctr">
                        <a:lnSpc>
                          <a:spcPct val="250000"/>
                        </a:lnSpc>
                        <a:spcBef>
                          <a:spcPct val="0"/>
                        </a:spcBef>
                        <a:spcAft>
                          <a:spcPct val="0"/>
                        </a:spcAft>
                      </a:pPr>
                      <a:r>
                        <a:rPr lang="zh-CN" sz="1400">
                          <a:latin typeface="宋体" panose="02010600030101010101" pitchFamily="2" charset="-122"/>
                          <a:ea typeface="宋体" panose="02010600030101010101" pitchFamily="2" charset="-122"/>
                        </a:rPr>
                        <a:t>进程</a:t>
                      </a:r>
                      <a:endParaRPr 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gridSpan="3">
                  <a:txBody>
                    <a:bodyPr/>
                    <a:lstStyle/>
                    <a:p>
                      <a:pPr marL="68580" indent="266700" algn="ctr">
                        <a:lnSpc>
                          <a:spcPct val="250000"/>
                        </a:lnSpc>
                        <a:spcBef>
                          <a:spcPct val="0"/>
                        </a:spcBef>
                        <a:spcAft>
                          <a:spcPct val="0"/>
                        </a:spcAft>
                      </a:pPr>
                      <a:r>
                        <a:rPr lang="zh-CN" sz="1400">
                          <a:latin typeface="宋体" panose="02010600030101010101" pitchFamily="2" charset="-122"/>
                          <a:ea typeface="宋体" panose="02010600030101010101" pitchFamily="2" charset="-122"/>
                        </a:rPr>
                        <a:t>已分配资源</a:t>
                      </a:r>
                      <a:endParaRPr 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gridSpan="3">
                  <a:txBody>
                    <a:bodyPr/>
                    <a:lstStyle/>
                    <a:p>
                      <a:pPr marL="68580" indent="266700" algn="ctr">
                        <a:lnSpc>
                          <a:spcPct val="250000"/>
                        </a:lnSpc>
                        <a:spcBef>
                          <a:spcPct val="0"/>
                        </a:spcBef>
                        <a:spcAft>
                          <a:spcPct val="0"/>
                        </a:spcAft>
                      </a:pPr>
                      <a:r>
                        <a:rPr lang="zh-CN" sz="1400">
                          <a:latin typeface="宋体" panose="02010600030101010101" pitchFamily="2" charset="-122"/>
                          <a:ea typeface="宋体" panose="02010600030101010101" pitchFamily="2" charset="-122"/>
                        </a:rPr>
                        <a:t>资源最大需求</a:t>
                      </a:r>
                      <a:endParaRPr 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r>
              <a:tr h="419100">
                <a:tc vMerge="1">
                  <a:tcPr>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R1</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R1</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R3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419100">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P0</a:t>
                      </a:r>
                      <a:endParaRPr lang="en-US" alt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5</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5</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10</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19100">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P1</a:t>
                      </a:r>
                      <a:endParaRPr lang="en-US" alt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0</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5</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6</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19100">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P2</a:t>
                      </a:r>
                      <a:endParaRPr lang="en-US" alt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0</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5</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0</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11</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19100">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P3</a:t>
                      </a:r>
                      <a:endParaRPr lang="en-US" alt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0</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5</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19100">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P4</a:t>
                      </a:r>
                      <a:endParaRPr lang="en-US" altLang="zh-CN" sz="1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3</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1</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2</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lnSpc>
                          <a:spcPct val="250000"/>
                        </a:lnSpc>
                        <a:spcBef>
                          <a:spcPct val="0"/>
                        </a:spcBef>
                        <a:spcAft>
                          <a:spcPct val="0"/>
                        </a:spcAft>
                      </a:pPr>
                      <a:r>
                        <a:rPr lang="en-US" altLang="zh-CN" sz="1400">
                          <a:latin typeface="宋体" panose="02010600030101010101" pitchFamily="2" charset="-122"/>
                          <a:ea typeface="宋体" panose="02010600030101010101" pitchFamily="2" charset="-122"/>
                        </a:rPr>
                        <a:t>4</a:t>
                      </a:r>
                      <a:endParaRPr lang="en-US" altLang="zh-CN" sz="14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122680" y="5283835"/>
            <a:ext cx="9313545" cy="1386205"/>
          </a:xfrm>
          <a:prstGeom prst="rect">
            <a:avLst/>
          </a:prstGeom>
        </p:spPr>
        <p:txBody>
          <a:bodyPr wrap="square">
            <a:noAutofit/>
          </a:bodyPr>
          <a:lstStyle/>
          <a:p>
            <a:endParaRPr lang="en-US" altLang="zh-CN" sz="2600"/>
          </a:p>
          <a:p>
            <a:pPr marL="0" indent="0" algn="just" defTabSz="266700">
              <a:spcAft>
                <a:spcPct val="0"/>
              </a:spcAft>
            </a:pPr>
            <a:r>
              <a:rPr lang="en-US" altLang="zh-CN" sz="1600">
                <a:latin typeface="宋体" panose="02010600030101010101" pitchFamily="2" charset="-122"/>
                <a:ea typeface="宋体" panose="02010600030101010101" pitchFamily="2" charset="-122"/>
              </a:rPr>
              <a:t>A. P0,P2,P4,P1,P3</a:t>
            </a:r>
            <a:endParaRPr lang="en-US" altLang="zh-CN" sz="1600">
              <a:latin typeface="宋体" panose="02010600030101010101" pitchFamily="2" charset="-122"/>
              <a:ea typeface="宋体" panose="02010600030101010101" pitchFamily="2" charset="-122"/>
            </a:endParaRPr>
          </a:p>
          <a:p>
            <a:pPr marL="0" indent="0" algn="just" defTabSz="266700">
              <a:spcAft>
                <a:spcPct val="0"/>
              </a:spcAft>
            </a:pPr>
            <a:r>
              <a:rPr lang="en-US" altLang="zh-CN" sz="1600">
                <a:latin typeface="宋体" panose="02010600030101010101" pitchFamily="2" charset="-122"/>
                <a:ea typeface="宋体" panose="02010600030101010101" pitchFamily="2" charset="-122"/>
              </a:rPr>
              <a:t>B. P1,P0,P3,P4,P2</a:t>
            </a:r>
            <a:endParaRPr lang="en-US" altLang="zh-CN" sz="1600">
              <a:latin typeface="宋体" panose="02010600030101010101" pitchFamily="2" charset="-122"/>
              <a:ea typeface="宋体" panose="02010600030101010101" pitchFamily="2" charset="-122"/>
            </a:endParaRPr>
          </a:p>
          <a:p>
            <a:pPr marL="0" indent="0" algn="just" defTabSz="266700">
              <a:spcAft>
                <a:spcPct val="0"/>
              </a:spcAft>
            </a:pPr>
            <a:r>
              <a:rPr lang="en-US" altLang="zh-CN" sz="1600">
                <a:latin typeface="宋体" panose="02010600030101010101" pitchFamily="2" charset="-122"/>
                <a:ea typeface="宋体" panose="02010600030101010101" pitchFamily="2" charset="-122"/>
              </a:rPr>
              <a:t>C. P2,P1,P0,P3,P4</a:t>
            </a:r>
            <a:endParaRPr lang="en-US" altLang="zh-CN" sz="1600">
              <a:latin typeface="宋体" panose="02010600030101010101" pitchFamily="2" charset="-122"/>
              <a:ea typeface="宋体" panose="02010600030101010101" pitchFamily="2" charset="-122"/>
            </a:endParaRPr>
          </a:p>
          <a:p>
            <a:pPr marL="0" indent="0" algn="just" defTabSz="266700">
              <a:spcAft>
                <a:spcPct val="0"/>
              </a:spcAft>
            </a:pPr>
            <a:r>
              <a:rPr lang="en-US" altLang="zh-CN" sz="1600">
                <a:solidFill>
                  <a:srgbClr val="FF0000"/>
                </a:solidFill>
                <a:latin typeface="宋体" panose="02010600030101010101" pitchFamily="2" charset="-122"/>
                <a:ea typeface="宋体" panose="02010600030101010101" pitchFamily="2" charset="-122"/>
              </a:rPr>
              <a:t>D</a:t>
            </a:r>
            <a:r>
              <a:rPr lang="en-US" altLang="zh-CN" sz="1600">
                <a:latin typeface="宋体" panose="02010600030101010101" pitchFamily="2" charset="-122"/>
                <a:ea typeface="宋体" panose="02010600030101010101" pitchFamily="2" charset="-122"/>
              </a:rPr>
              <a:t>. P3,P4,P2,P1,P0</a:t>
            </a:r>
            <a:endParaRPr lang="en-US" altLang="zh-CN" sz="1600">
              <a:latin typeface="宋体" panose="02010600030101010101" pitchFamily="2" charset="-122"/>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9185" y="1101725"/>
            <a:ext cx="9764395" cy="2118360"/>
          </a:xfrm>
          <a:prstGeom prst="rect">
            <a:avLst/>
          </a:prstGeom>
        </p:spPr>
        <p:txBody>
          <a:bodyPr>
            <a:no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某时刻进程的资源使用情况如下表所示。此时的安全序列是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2011</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 P1, P2, P3, P4</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 P1, P3, P2, P4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 P1, P4, P3, P2</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不存在的</a:t>
            </a:r>
            <a:endParaRPr lang="zh-CN" altLang="en-US" sz="24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003300" y="3429000"/>
          <a:ext cx="10204450" cy="2922270"/>
        </p:xfrm>
        <a:graphic>
          <a:graphicData uri="http://schemas.openxmlformats.org/drawingml/2006/table">
            <a:tbl>
              <a:tblPr/>
              <a:tblGrid>
                <a:gridCol w="1020445"/>
                <a:gridCol w="1020445"/>
                <a:gridCol w="1020445"/>
                <a:gridCol w="1020445"/>
                <a:gridCol w="1020445"/>
                <a:gridCol w="1020445"/>
                <a:gridCol w="1020445"/>
                <a:gridCol w="1020445"/>
                <a:gridCol w="1020445"/>
                <a:gridCol w="1020445"/>
              </a:tblGrid>
              <a:tr h="487045">
                <a:tc rowSpan="2">
                  <a:txBody>
                    <a:bodyPr/>
                    <a:lstStyle/>
                    <a:p>
                      <a:pPr marL="68580" indent="0" algn="ctr">
                        <a:lnSpc>
                          <a:spcPct val="200000"/>
                        </a:lnSpc>
                        <a:spcBef>
                          <a:spcPct val="0"/>
                        </a:spcBef>
                        <a:spcAft>
                          <a:spcPct val="0"/>
                        </a:spcAft>
                      </a:pPr>
                      <a:r>
                        <a:rPr lang="zh-CN" sz="1600">
                          <a:latin typeface="宋体" panose="02010600030101010101" pitchFamily="2" charset="-122"/>
                          <a:ea typeface="宋体" panose="02010600030101010101" pitchFamily="2" charset="-122"/>
                        </a:rPr>
                        <a:t>进程</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gridSpan="3">
                  <a:txBody>
                    <a:bodyPr/>
                    <a:lstStyle/>
                    <a:p>
                      <a:pPr marL="68580" indent="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已分配单元</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gridSpan="3">
                  <a:txBody>
                    <a:bodyPr/>
                    <a:lstStyle/>
                    <a:p>
                      <a:pPr marL="68580" indent="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尚需分配</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gridSpan="3">
                  <a:txBody>
                    <a:bodyPr/>
                    <a:lstStyle/>
                    <a:p>
                      <a:pPr marL="68580" indent="0" algn="ctr">
                        <a:lnSpc>
                          <a:spcPct val="200000"/>
                        </a:lnSpc>
                        <a:spcBef>
                          <a:spcPct val="0"/>
                        </a:spcBef>
                        <a:spcAft>
                          <a:spcPct val="0"/>
                        </a:spcAft>
                      </a:pPr>
                      <a:r>
                        <a:rPr lang="zh-CN" sz="1600">
                          <a:latin typeface="宋体" panose="02010600030101010101" pitchFamily="2" charset="-122"/>
                          <a:ea typeface="宋体" panose="02010600030101010101" pitchFamily="2" charset="-122"/>
                        </a:rPr>
                        <a:t>可用资源</a:t>
                      </a:r>
                      <a:endParaRPr 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hMerge="1">
                  <a:tcP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tcPr>
                </a:tc>
              </a:tr>
              <a:tr h="487045">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R3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487045">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P1</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4">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4">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rowSpan="4">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487045">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P2</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3</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487045">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P3</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3</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tcPr>
                </a:tc>
              </a:tr>
              <a:tr h="487045">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P4</a:t>
                      </a:r>
                      <a:endParaRPr lang="en-US" altLang="zh-CN" sz="16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1</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2</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0" algn="ctr">
                        <a:lnSpc>
                          <a:spcPct val="200000"/>
                        </a:lnSpc>
                        <a:spcBef>
                          <a:spcPct val="0"/>
                        </a:spcBef>
                        <a:spcAft>
                          <a:spcPct val="0"/>
                        </a:spcAft>
                      </a:pPr>
                      <a:r>
                        <a:rPr lang="en-US" altLang="zh-CN" sz="1600">
                          <a:latin typeface="宋体" panose="02010600030101010101" pitchFamily="2" charset="-122"/>
                          <a:ea typeface="宋体" panose="02010600030101010101" pitchFamily="2" charset="-122"/>
                        </a:rPr>
                        <a:t>0</a:t>
                      </a:r>
                      <a:endParaRPr lang="en-US" altLang="zh-CN" sz="1600">
                        <a:latin typeface="宋体" panose="02010600030101010101" pitchFamily="2" charset="-122"/>
                        <a:ea typeface="宋体" panose="02010600030101010101" pitchFamily="2" charset="-122"/>
                      </a:endParaRPr>
                    </a:p>
                  </a:txBody>
                  <a:tcPr marL="68580" marR="68580" marT="0" marB="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c vMerge="1">
                  <a:tcPr>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B w="12700" cap="flat" cmpd="sng">
                      <a:solidFill>
                        <a:srgbClr val="000008"/>
                      </a:solidFill>
                      <a:prstDash val="solid"/>
                      <a:headEnd type="none" w="med" len="med"/>
                      <a:tailEnd type="none" w="med" len="med"/>
                    </a:lnB>
                  </a:tcPr>
                </a:tc>
              </a:tr>
            </a:tbl>
          </a:graphicData>
        </a:graphic>
      </p:graphicFrame>
      <p:sp>
        <p:nvSpPr>
          <p:cNvPr id="4" name="文本框 3"/>
          <p:cNvSpPr txBox="1"/>
          <p:nvPr/>
        </p:nvSpPr>
        <p:spPr>
          <a:xfrm>
            <a:off x="1099185" y="5041265"/>
            <a:ext cx="9764395" cy="805815"/>
          </a:xfrm>
          <a:prstGeom prst="rect">
            <a:avLst/>
          </a:prstGeom>
        </p:spPr>
        <p:txBody>
          <a:bodyPr>
            <a:noAutofit/>
          </a:bodyPr>
          <a:lstStyle/>
          <a:p>
            <a:endParaRPr lang="en-US" altLang="zh-CN" sz="2600"/>
          </a:p>
          <a:p>
            <a:pPr marL="0" indent="0" algn="l" defTabSz="266700">
              <a:spcAft>
                <a:spcPts val="300"/>
              </a:spcAft>
            </a:pPr>
            <a:r>
              <a:rPr lang="en-US" altLang="zh-CN" sz="1600">
                <a:solidFill>
                  <a:srgbClr val="000000"/>
                </a:solidFill>
                <a:latin typeface="宋体" panose="02010600030101010101" pitchFamily="2" charset="-122"/>
                <a:ea typeface="宋体" panose="02010600030101010101" pitchFamily="2" charset="-122"/>
              </a:rPr>
              <a:t> </a:t>
            </a:r>
            <a:endParaRPr lang="en-US" altLang="zh-CN" sz="160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8890" y="1503045"/>
            <a:ext cx="8749665" cy="398780"/>
          </a:xfrm>
          <a:prstGeom prst="rect">
            <a:avLst/>
          </a:prstGeom>
        </p:spPr>
        <p:txBody>
          <a:bodyPr wrap="square">
            <a:spAutoFit/>
          </a:bodyPr>
          <a:lstStyle/>
          <a:p>
            <a:pPr marL="266700" indent="-266700" algn="just" defTabSz="266700">
              <a:spcAft>
                <a:spcPct val="0"/>
              </a:spcAft>
            </a:pPr>
            <a:r>
              <a:rPr lang="en-US" altLang="zh-CN" sz="2000">
                <a:latin typeface="宋体" panose="02010600030101010101" pitchFamily="2" charset="-122"/>
                <a:ea typeface="宋体" panose="02010600030101010101" pitchFamily="2" charset="-122"/>
              </a:rPr>
              <a:t>1. </a:t>
            </a:r>
            <a:r>
              <a:rPr lang="zh-CN" altLang="en-US" sz="2000">
                <a:latin typeface="宋体" panose="02010600030101010101" pitchFamily="2" charset="-122"/>
                <a:ea typeface="宋体" panose="02010600030101010101" pitchFamily="2" charset="-122"/>
              </a:rPr>
              <a:t>某系统中有</a:t>
            </a:r>
            <a:r>
              <a:rPr lang="en-US" altLang="zh-CN" sz="2000">
                <a:latin typeface="宋体" panose="02010600030101010101" pitchFamily="2" charset="-122"/>
                <a:ea typeface="宋体" panose="02010600030101010101" pitchFamily="2" charset="-122"/>
              </a:rPr>
              <a:t>A</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B</a:t>
            </a:r>
            <a:r>
              <a:rPr lang="zh-CN" altLang="en-US" sz="2000">
                <a:latin typeface="宋体" panose="02010600030101010101" pitchFamily="2" charset="-122"/>
                <a:ea typeface="宋体" panose="02010600030101010101" pitchFamily="2" charset="-122"/>
              </a:rPr>
              <a:t>两类资源各</a:t>
            </a:r>
            <a:r>
              <a:rPr lang="en-US" altLang="zh-CN" sz="2000">
                <a:latin typeface="宋体" panose="02010600030101010101" pitchFamily="2" charset="-122"/>
                <a:ea typeface="宋体" panose="02010600030101010101" pitchFamily="2" charset="-122"/>
              </a:rPr>
              <a:t>6</a:t>
            </a:r>
            <a:r>
              <a:rPr lang="zh-CN" altLang="en-US" sz="2000">
                <a:latin typeface="宋体" panose="02010600030101010101" pitchFamily="2" charset="-122"/>
                <a:ea typeface="宋体" panose="02010600030101010101" pitchFamily="2" charset="-122"/>
              </a:rPr>
              <a:t>个，</a:t>
            </a:r>
            <a:r>
              <a:rPr lang="en-US" altLang="zh-CN" sz="2000">
                <a:latin typeface="宋体" panose="02010600030101010101" pitchFamily="2" charset="-122"/>
                <a:ea typeface="宋体" panose="02010600030101010101" pitchFamily="2" charset="-122"/>
              </a:rPr>
              <a:t>t</a:t>
            </a:r>
            <a:r>
              <a:rPr lang="zh-CN" altLang="en-US" sz="2000">
                <a:latin typeface="宋体" panose="02010600030101010101" pitchFamily="2" charset="-122"/>
                <a:ea typeface="宋体" panose="02010600030101010101" pitchFamily="2" charset="-122"/>
              </a:rPr>
              <a:t>时刻资源分配及需求情况如下表所示。</a:t>
            </a:r>
            <a:endParaRPr lang="zh-CN" altLang="en-US" sz="2000">
              <a:latin typeface="宋体" panose="02010600030101010101" pitchFamily="2" charset="-122"/>
              <a:ea typeface="宋体" panose="02010600030101010101" pitchFamily="2" charset="-122"/>
            </a:endParaRPr>
          </a:p>
        </p:txBody>
      </p:sp>
      <p:graphicFrame>
        <p:nvGraphicFramePr>
          <p:cNvPr id="3" name="表格 2"/>
          <p:cNvGraphicFramePr/>
          <p:nvPr>
            <p:custDataLst>
              <p:tags r:id="rId1"/>
            </p:custDataLst>
          </p:nvPr>
        </p:nvGraphicFramePr>
        <p:xfrm>
          <a:off x="1129665" y="2086610"/>
          <a:ext cx="9138920" cy="1145540"/>
        </p:xfrm>
        <a:graphic>
          <a:graphicData uri="http://schemas.openxmlformats.org/drawingml/2006/table">
            <a:tbl>
              <a:tblPr/>
              <a:tblGrid>
                <a:gridCol w="1243965"/>
                <a:gridCol w="2030095"/>
                <a:gridCol w="1873250"/>
                <a:gridCol w="1873885"/>
                <a:gridCol w="2117725"/>
              </a:tblGrid>
              <a:tr h="286385">
                <a:tc>
                  <a:txBody>
                    <a:bodyPr/>
                    <a:lstStyle/>
                    <a:p>
                      <a:pPr marL="68580" indent="266700" algn="ctr">
                        <a:spcBef>
                          <a:spcPct val="0"/>
                        </a:spcBef>
                        <a:spcAft>
                          <a:spcPct val="0"/>
                        </a:spcAft>
                      </a:pPr>
                      <a:r>
                        <a:rPr lang="zh-CN" sz="1800">
                          <a:latin typeface="宋体" panose="02010600030101010101" pitchFamily="2" charset="-122"/>
                          <a:ea typeface="宋体" panose="02010600030101010101" pitchFamily="2" charset="-122"/>
                        </a:rPr>
                        <a:t>进程</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A</a:t>
                      </a:r>
                      <a:r>
                        <a:rPr lang="zh-CN" altLang="en-US" sz="1800">
                          <a:latin typeface="宋体" panose="02010600030101010101" pitchFamily="2" charset="-122"/>
                          <a:ea typeface="宋体" panose="02010600030101010101" pitchFamily="2" charset="-122"/>
                        </a:rPr>
                        <a:t>已分配数量</a:t>
                      </a:r>
                      <a:endParaRPr lang="zh-CN" altLang="en-US"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B</a:t>
                      </a:r>
                      <a:r>
                        <a:rPr lang="zh-CN" sz="1800">
                          <a:latin typeface="宋体" panose="02010600030101010101" pitchFamily="2" charset="-122"/>
                          <a:ea typeface="宋体" panose="02010600030101010101" pitchFamily="2" charset="-122"/>
                        </a:rPr>
                        <a:t>已分配数量</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A</a:t>
                      </a:r>
                      <a:r>
                        <a:rPr lang="zh-CN" sz="1800">
                          <a:latin typeface="宋体" panose="02010600030101010101" pitchFamily="2" charset="-122"/>
                          <a:ea typeface="宋体" panose="02010600030101010101" pitchFamily="2" charset="-122"/>
                        </a:rPr>
                        <a:t>需求总量</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B</a:t>
                      </a:r>
                      <a:r>
                        <a:rPr lang="zh-CN" sz="1800">
                          <a:latin typeface="宋体" panose="02010600030101010101" pitchFamily="2" charset="-122"/>
                          <a:ea typeface="宋体" panose="02010600030101010101" pitchFamily="2" charset="-122"/>
                        </a:rPr>
                        <a:t>需求总量</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solidFill>
                      <a:srgbClr val="E7E6E6"/>
                    </a:solidFill>
                  </a:tcPr>
                </a:tc>
              </a:tr>
              <a:tr h="286385">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P1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2</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3</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4</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4</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286385">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P2</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2</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3</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r h="286385">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P3</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2</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3</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c>
                  <a:txBody>
                    <a:bodyPr/>
                    <a:lstStyle/>
                    <a:p>
                      <a:pPr marL="68580" indent="266700" algn="ctr">
                        <a:spcBef>
                          <a:spcPct val="0"/>
                        </a:spcBef>
                        <a:spcAft>
                          <a:spcPct val="0"/>
                        </a:spcAft>
                      </a:pPr>
                      <a:r>
                        <a:rPr lang="en-US" altLang="zh-CN" sz="1800">
                          <a:latin typeface="宋体" panose="02010600030101010101" pitchFamily="2" charset="-122"/>
                          <a:ea typeface="宋体" panose="02010600030101010101" pitchFamily="2" charset="-122"/>
                        </a:rPr>
                        <a:t>4</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12700" cap="flat" cmpd="sng">
                      <a:solidFill>
                        <a:srgbClr val="000008"/>
                      </a:solidFill>
                      <a:prstDash val="solid"/>
                      <a:headEnd type="none" w="med" len="med"/>
                      <a:tailEnd type="none" w="med" len="med"/>
                    </a:lnT>
                    <a:lnB w="1270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1278890" y="2924810"/>
            <a:ext cx="8749665" cy="2799715"/>
          </a:xfrm>
          <a:prstGeom prst="rect">
            <a:avLst/>
          </a:prstGeom>
        </p:spPr>
        <p:txBody>
          <a:bodyPr wrap="square">
            <a:spAutoFit/>
          </a:bodyPr>
          <a:lstStyle/>
          <a:p>
            <a:endParaRPr lang="en-US" altLang="zh-CN" sz="3200"/>
          </a:p>
          <a:p>
            <a:pPr marL="0" indent="0" algn="just" defTabSz="266700">
              <a:spcAft>
                <a:spcPct val="0"/>
              </a:spcAft>
            </a:pPr>
            <a:r>
              <a:rPr lang="en-US" altLang="zh-CN" sz="2400">
                <a:latin typeface="宋体" panose="02010600030101010101" pitchFamily="2" charset="-122"/>
                <a:ea typeface="宋体" panose="02010600030101010101" pitchFamily="2" charset="-122"/>
              </a:rPr>
              <a:t>t</a:t>
            </a:r>
            <a:r>
              <a:rPr lang="zh-CN" altLang="en-US" sz="2400">
                <a:latin typeface="宋体" panose="02010600030101010101" pitchFamily="2" charset="-122"/>
                <a:ea typeface="宋体" panose="02010600030101010101" pitchFamily="2" charset="-122"/>
              </a:rPr>
              <a:t>时刻安全性检测结果是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2020</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							 </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存在安全序列</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P3</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存在安全序列</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P3</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存在安全序列</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P1</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不存在安全序列</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32510" y="1691005"/>
            <a:ext cx="9520555" cy="3520440"/>
          </a:xfrm>
          <a:prstGeom prst="rect">
            <a:avLst/>
          </a:prstGeom>
        </p:spPr>
        <p:txBody>
          <a:bodyPr wrap="square">
            <a:no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假设系统中有</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个同类资源，进程</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需要的资源数分别为</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已申请到的资源数分别为</a:t>
            </a: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0</a:t>
            </a:r>
            <a:r>
              <a:rPr lang="zh-CN" altLang="en-US" sz="2400">
                <a:latin typeface="宋体" panose="02010600030101010101" pitchFamily="2" charset="-122"/>
                <a:ea typeface="宋体" panose="02010600030101010101" pitchFamily="2" charset="-122"/>
              </a:rPr>
              <a:t>，则执行安全性检测算法的结果是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2018</a:t>
            </a:r>
            <a:r>
              <a:rPr lang="zh-CN" altLang="en-US" sz="2400" b="1">
                <a:latin typeface="宋体" panose="02010600030101010101" pitchFamily="2" charset="-122"/>
                <a:ea typeface="宋体" panose="02010600030101010101" pitchFamily="2" charset="-122"/>
              </a:rPr>
              <a:t>年</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marL="266700" indent="-266700" algn="just" defTabSz="266700">
              <a:spcAft>
                <a:spcPct val="0"/>
              </a:spcAft>
            </a:pP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不存在安全序列，系统处于不安全状态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存在多个安全序列，系统处于安全状态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存在唯一安全序列</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，系统处于安全状态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存在唯一安全序列</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a:t>
            </a:r>
            <a:r>
              <a:rPr lang="en-US" altLang="zh-CN" sz="2400" baseline="-250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，系统处于安全状态</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endParaRPr lang="zh-CN" altLang="en-US" sz="2800" b="1" dirty="0">
              <a:solidFill>
                <a:schemeClr val="bg1"/>
              </a:solidFill>
            </a:endParaRPr>
          </a:p>
        </p:txBody>
      </p:sp>
      <p:sp>
        <p:nvSpPr>
          <p:cNvPr id="31" name="文本框 30"/>
          <p:cNvSpPr txBox="1"/>
          <p:nvPr/>
        </p:nvSpPr>
        <p:spPr>
          <a:xfrm>
            <a:off x="818580" y="1110081"/>
            <a:ext cx="10811167" cy="960584"/>
          </a:xfrm>
          <a:prstGeom prst="rect">
            <a:avLst/>
          </a:prstGeom>
          <a:noFill/>
        </p:spPr>
        <p:txBody>
          <a:bodyPr wrap="square">
            <a:spAutoFit/>
          </a:bodyPr>
          <a:lstStyle/>
          <a:p>
            <a:pPr marL="342900" indent="-342900">
              <a:lnSpc>
                <a:spcPct val="123000"/>
              </a:lnSpc>
              <a:buFont typeface="Wingdings" panose="05000000000000000000" pitchFamily="2" charset="2"/>
              <a:buChar char="Ø"/>
              <a:tabLst>
                <a:tab pos="2452370" algn="l"/>
                <a:tab pos="3492500" algn="ctr"/>
              </a:tabLst>
            </a:pPr>
            <a:r>
              <a:rPr lang="zh-CN" altLang="en-US" sz="2400" dirty="0">
                <a:latin typeface="+mn-ea"/>
              </a:rPr>
              <a:t>矩阵的内容。</a:t>
            </a:r>
            <a:r>
              <a:rPr lang="en-US" altLang="zh-CN" sz="2400" dirty="0">
                <a:latin typeface="+mn-ea"/>
              </a:rPr>
              <a:t>Need</a:t>
            </a:r>
            <a:r>
              <a:rPr lang="zh-CN" altLang="en-US" sz="2400" dirty="0">
                <a:latin typeface="+mn-ea"/>
              </a:rPr>
              <a:t>被定义为</a:t>
            </a:r>
            <a:r>
              <a:rPr lang="en-US" altLang="zh-CN" sz="2400" dirty="0">
                <a:latin typeface="+mn-ea"/>
              </a:rPr>
              <a:t>Max – Allocation</a:t>
            </a:r>
            <a:r>
              <a:rPr lang="zh-CN" altLang="en-US" sz="2400" dirty="0">
                <a:latin typeface="+mn-ea"/>
              </a:rPr>
              <a:t> </a:t>
            </a:r>
            <a:endParaRPr lang="en-US" altLang="zh-CN" sz="2400" dirty="0">
              <a:latin typeface="+mn-ea"/>
            </a:endParaRPr>
          </a:p>
          <a:p>
            <a:pPr marL="342900" indent="-342900">
              <a:lnSpc>
                <a:spcPct val="123000"/>
              </a:lnSpc>
              <a:buFont typeface="Wingdings" panose="05000000000000000000" pitchFamily="2" charset="2"/>
              <a:buChar char="Ø"/>
              <a:tabLst>
                <a:tab pos="2452370" algn="l"/>
                <a:tab pos="3492500" algn="ctr"/>
              </a:tabLst>
            </a:pPr>
            <a:r>
              <a:rPr lang="zh-CN" altLang="en-US" sz="2400" dirty="0">
                <a:solidFill>
                  <a:srgbClr val="FF0000"/>
                </a:solidFill>
                <a:latin typeface="+mn-ea"/>
              </a:rPr>
              <a:t>系统处在安全的状态</a:t>
            </a:r>
            <a:r>
              <a:rPr lang="zh-CN" altLang="en-US" sz="2400" dirty="0">
                <a:latin typeface="+mn-ea"/>
              </a:rPr>
              <a:t>，因为序列</a:t>
            </a:r>
            <a:r>
              <a:rPr lang="en-US" altLang="zh-CN" sz="2400" dirty="0">
                <a:latin typeface="+mn-ea"/>
              </a:rPr>
              <a:t>&lt; </a:t>
            </a:r>
            <a:r>
              <a:rPr lang="en-US" altLang="zh-CN" sz="2400" i="1" dirty="0">
                <a:latin typeface="+mn-ea"/>
              </a:rPr>
              <a:t>P</a:t>
            </a:r>
            <a:r>
              <a:rPr lang="en-US" altLang="zh-CN" sz="2400" baseline="-25000" dirty="0">
                <a:latin typeface="+mn-ea"/>
              </a:rPr>
              <a:t>1</a:t>
            </a:r>
            <a:r>
              <a:rPr lang="en-US" altLang="zh-CN" sz="2400" dirty="0">
                <a:latin typeface="+mn-ea"/>
              </a:rPr>
              <a:t>, </a:t>
            </a:r>
            <a:r>
              <a:rPr lang="en-US" altLang="zh-CN" sz="2400" i="1" dirty="0">
                <a:latin typeface="+mn-ea"/>
              </a:rPr>
              <a:t>P</a:t>
            </a:r>
            <a:r>
              <a:rPr lang="en-US" altLang="zh-CN" sz="2400" baseline="-25000" dirty="0">
                <a:latin typeface="+mn-ea"/>
              </a:rPr>
              <a:t>3</a:t>
            </a:r>
            <a:r>
              <a:rPr lang="en-US" altLang="zh-CN" sz="2400" dirty="0">
                <a:latin typeface="+mn-ea"/>
              </a:rPr>
              <a:t>, </a:t>
            </a:r>
            <a:r>
              <a:rPr lang="en-US" altLang="zh-CN" sz="2400" i="1" dirty="0">
                <a:latin typeface="+mn-ea"/>
              </a:rPr>
              <a:t>P</a:t>
            </a:r>
            <a:r>
              <a:rPr lang="en-US" altLang="zh-CN" sz="2400" baseline="-25000" dirty="0">
                <a:latin typeface="+mn-ea"/>
              </a:rPr>
              <a:t>4</a:t>
            </a:r>
            <a:r>
              <a:rPr lang="en-US" altLang="zh-CN" sz="2400" dirty="0">
                <a:latin typeface="+mn-ea"/>
              </a:rPr>
              <a:t>, </a:t>
            </a:r>
            <a:r>
              <a:rPr lang="en-US" altLang="zh-CN" sz="2400" i="1" dirty="0">
                <a:latin typeface="+mn-ea"/>
              </a:rPr>
              <a:t>P</a:t>
            </a:r>
            <a:r>
              <a:rPr lang="en-US" altLang="zh-CN" sz="2400" baseline="-25000" dirty="0">
                <a:latin typeface="+mn-ea"/>
              </a:rPr>
              <a:t>2</a:t>
            </a:r>
            <a:r>
              <a:rPr lang="en-US" altLang="zh-CN" sz="2400" dirty="0">
                <a:latin typeface="+mn-ea"/>
              </a:rPr>
              <a:t>, </a:t>
            </a:r>
            <a:r>
              <a:rPr lang="en-US" altLang="zh-CN" sz="2400" i="1" dirty="0">
                <a:latin typeface="+mn-ea"/>
              </a:rPr>
              <a:t>P</a:t>
            </a:r>
            <a:r>
              <a:rPr lang="en-US" altLang="zh-CN" sz="2400" baseline="-25000" dirty="0">
                <a:latin typeface="+mn-ea"/>
              </a:rPr>
              <a:t>0</a:t>
            </a:r>
            <a:r>
              <a:rPr lang="en-US" altLang="zh-CN" sz="2400" dirty="0">
                <a:latin typeface="+mn-ea"/>
              </a:rPr>
              <a:t>&gt; </a:t>
            </a:r>
            <a:r>
              <a:rPr lang="zh-CN" altLang="en-US" sz="2400" dirty="0">
                <a:latin typeface="+mn-ea"/>
              </a:rPr>
              <a:t>满足了安全的标准</a:t>
            </a:r>
            <a:endParaRPr lang="zh-CN" altLang="en-US" sz="2400" dirty="0">
              <a:latin typeface="+mn-ea"/>
            </a:endParaRPr>
          </a:p>
        </p:txBody>
      </p:sp>
      <p:graphicFrame>
        <p:nvGraphicFramePr>
          <p:cNvPr id="38" name="Group 74"/>
          <p:cNvGraphicFramePr>
            <a:graphicFrameLocks noGrp="1"/>
          </p:cNvGraphicFramePr>
          <p:nvPr/>
        </p:nvGraphicFramePr>
        <p:xfrm>
          <a:off x="669925" y="2441790"/>
          <a:ext cx="10988720" cy="3621658"/>
        </p:xfrm>
        <a:graphic>
          <a:graphicData uri="http://schemas.openxmlformats.org/drawingml/2006/table">
            <a:tbl>
              <a:tblPr/>
              <a:tblGrid>
                <a:gridCol w="2197744"/>
                <a:gridCol w="2197744"/>
                <a:gridCol w="2197744"/>
                <a:gridCol w="2197744"/>
                <a:gridCol w="2197744"/>
              </a:tblGrid>
              <a:tr h="1008092">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740"/>
            <a:ext cx="10217785" cy="521970"/>
          </a:xfrm>
          <a:prstGeom prst="rect">
            <a:avLst/>
          </a:prstGeom>
        </p:spPr>
        <p:txBody>
          <a:bodyPr wrap="square">
            <a:spAutoFit/>
          </a:bodyPr>
          <a:lstStyle/>
          <a:p>
            <a:r>
              <a:rPr lang="zh-CN" altLang="en-US" sz="2800" b="1" dirty="0">
                <a:solidFill>
                  <a:schemeClr val="bg1"/>
                </a:solidFill>
              </a:rPr>
              <a:t>例子续：</a:t>
            </a:r>
            <a:r>
              <a:rPr lang="en-US" altLang="zh-CN" sz="2800" b="1" dirty="0">
                <a:solidFill>
                  <a:schemeClr val="bg1"/>
                </a:solidFill>
              </a:rPr>
              <a:t>P1 request (1,0,2)</a:t>
            </a:r>
            <a:r>
              <a:rPr lang="zh-CN" altLang="en-US" sz="2800" b="1" dirty="0">
                <a:solidFill>
                  <a:schemeClr val="bg1"/>
                </a:solidFill>
              </a:rPr>
              <a:t>，前两步判断</a:t>
            </a:r>
            <a:endParaRPr lang="zh-CN" altLang="en-US" sz="2800" b="1" dirty="0">
              <a:solidFill>
                <a:schemeClr val="bg1"/>
              </a:solidFill>
            </a:endParaRPr>
          </a:p>
        </p:txBody>
      </p:sp>
      <p:sp>
        <p:nvSpPr>
          <p:cNvPr id="6" name="文本框 5"/>
          <p:cNvSpPr txBox="1"/>
          <p:nvPr/>
        </p:nvSpPr>
        <p:spPr>
          <a:xfrm>
            <a:off x="1748155" y="1448435"/>
            <a:ext cx="9597390" cy="5077460"/>
          </a:xfrm>
          <a:prstGeom prst="rect">
            <a:avLst/>
          </a:prstGeom>
          <a:noFill/>
        </p:spPr>
        <p:txBody>
          <a:bodyPr wrap="square">
            <a:spAutoFit/>
          </a:bodyPr>
          <a:lstStyle/>
          <a:p>
            <a:pPr>
              <a:lnSpc>
                <a:spcPct val="150000"/>
              </a:lnSpc>
              <a:tabLst>
                <a:tab pos="1544320" algn="l"/>
                <a:tab pos="2452370" algn="ctr"/>
                <a:tab pos="3766820" algn="ctr"/>
                <a:tab pos="5022850" algn="ctr"/>
              </a:tabLst>
              <a:defRPr/>
            </a:pPr>
            <a:r>
              <a:rPr lang="zh-CN" altLang="en-US" sz="2400" dirty="0">
                <a:latin typeface="+mn-ea"/>
                <a:sym typeface="Symbol" panose="05050102010706020507" pitchFamily="18" charset="2"/>
              </a:rPr>
              <a:t>检查</a:t>
            </a:r>
            <a:r>
              <a:rPr lang="en-US" altLang="zh-CN" sz="2400" dirty="0">
                <a:latin typeface="+mn-ea"/>
                <a:sym typeface="+mn-ea"/>
              </a:rPr>
              <a:t>Request 1</a:t>
            </a:r>
            <a:r>
              <a:rPr lang="en-US" altLang="zh-CN" sz="2400" dirty="0">
                <a:latin typeface="+mn-ea"/>
                <a:sym typeface="Symbol" panose="05050102010706020507" pitchFamily="18" charset="2"/>
              </a:rPr>
              <a:t> Need1</a:t>
            </a:r>
            <a:r>
              <a:rPr lang="zh-CN" altLang="en-US" sz="2400" dirty="0">
                <a:latin typeface="+mn-ea"/>
                <a:sym typeface="Symbol" panose="05050102010706020507" pitchFamily="18" charset="2"/>
              </a:rPr>
              <a:t>，就是说，</a:t>
            </a:r>
            <a:r>
              <a:rPr lang="zh-CN" altLang="zh-CN" sz="2400" dirty="0">
                <a:latin typeface="+mn-ea"/>
                <a:sym typeface="Symbol" panose="05050102010706020507" pitchFamily="18" charset="2"/>
              </a:rPr>
              <a:t>(1,0,2) (</a:t>
            </a:r>
            <a:r>
              <a:rPr lang="en-US" altLang="zh-CN" sz="2400" dirty="0">
                <a:latin typeface="+mn-ea"/>
                <a:sym typeface="Symbol" panose="05050102010706020507" pitchFamily="18" charset="2"/>
              </a:rPr>
              <a:t>1</a:t>
            </a:r>
            <a:r>
              <a:rPr lang="zh-CN" altLang="zh-CN" sz="2400" dirty="0">
                <a:latin typeface="+mn-ea"/>
                <a:sym typeface="Symbol" panose="05050102010706020507" pitchFamily="18" charset="2"/>
              </a:rPr>
              <a:t>,</a:t>
            </a:r>
            <a:r>
              <a:rPr lang="en-US" altLang="zh-CN" sz="2400" dirty="0">
                <a:latin typeface="+mn-ea"/>
                <a:sym typeface="Symbol" panose="05050102010706020507" pitchFamily="18" charset="2"/>
              </a:rPr>
              <a:t>1</a:t>
            </a:r>
            <a:r>
              <a:rPr lang="zh-CN" altLang="zh-CN" sz="2400" dirty="0">
                <a:latin typeface="+mn-ea"/>
                <a:sym typeface="Symbol" panose="05050102010706020507" pitchFamily="18" charset="2"/>
              </a:rPr>
              <a:t>,2)</a:t>
            </a:r>
            <a:r>
              <a:rPr lang="zh-CN" altLang="en-US" sz="2400" dirty="0">
                <a:latin typeface="+mn-ea"/>
                <a:sym typeface="Symbol" panose="05050102010706020507" pitchFamily="18" charset="2"/>
              </a:rPr>
              <a:t>为真</a:t>
            </a:r>
            <a:r>
              <a:rPr lang="en-US" altLang="zh-CN" sz="2400" dirty="0">
                <a:latin typeface="+mn-ea"/>
                <a:sym typeface="Symbol" panose="05050102010706020507" pitchFamily="18" charset="2"/>
              </a:rPr>
              <a:t>,</a:t>
            </a:r>
            <a:r>
              <a:rPr lang="zh-CN" altLang="en-US" sz="2400" dirty="0">
                <a:latin typeface="+mn-ea"/>
                <a:sym typeface="Symbol" panose="05050102010706020507" pitchFamily="18" charset="2"/>
              </a:rPr>
              <a:t>未出错。</a:t>
            </a:r>
            <a:endParaRPr lang="zh-CN" altLang="en-US" sz="2400" dirty="0">
              <a:latin typeface="+mn-ea"/>
              <a:sym typeface="Symbol" panose="05050102010706020507" pitchFamily="18" charset="2"/>
            </a:endParaRPr>
          </a:p>
          <a:p>
            <a:pPr>
              <a:lnSpc>
                <a:spcPct val="150000"/>
              </a:lnSpc>
              <a:tabLst>
                <a:tab pos="1544320" algn="l"/>
                <a:tab pos="2452370" algn="ctr"/>
                <a:tab pos="3766820" algn="ctr"/>
                <a:tab pos="5022850" algn="ctr"/>
              </a:tabLst>
              <a:defRPr/>
            </a:pPr>
            <a:r>
              <a:rPr lang="zh-CN" altLang="en-US" sz="2400" dirty="0">
                <a:latin typeface="+mn-ea"/>
                <a:sym typeface="Symbol" panose="05050102010706020507" pitchFamily="18" charset="2"/>
              </a:rPr>
              <a:t>检查</a:t>
            </a:r>
            <a:r>
              <a:rPr lang="en-US" altLang="zh-CN" sz="2400" dirty="0">
                <a:latin typeface="+mn-ea"/>
              </a:rPr>
              <a:t>Request1 </a:t>
            </a:r>
            <a:r>
              <a:rPr lang="en-US" altLang="zh-CN" sz="2400" dirty="0">
                <a:latin typeface="+mn-ea"/>
                <a:sym typeface="Symbol" panose="05050102010706020507" pitchFamily="18" charset="2"/>
              </a:rPr>
              <a:t> Available</a:t>
            </a:r>
            <a:r>
              <a:rPr lang="zh-CN" altLang="en-US" sz="2400" dirty="0">
                <a:latin typeface="+mn-ea"/>
                <a:sym typeface="Symbol" panose="05050102010706020507" pitchFamily="18" charset="2"/>
              </a:rPr>
              <a:t>，就是说，</a:t>
            </a:r>
            <a:r>
              <a:rPr lang="zh-CN" altLang="zh-CN" sz="2400" dirty="0">
                <a:latin typeface="+mn-ea"/>
                <a:sym typeface="Symbol" panose="05050102010706020507" pitchFamily="18" charset="2"/>
              </a:rPr>
              <a:t>(1,0,2) (3,3,2)为真。试分配：</a:t>
            </a:r>
            <a:endParaRPr lang="zh-CN" altLang="en-US" sz="2400" dirty="0">
              <a:latin typeface="+mn-ea"/>
              <a:sym typeface="Symbol" panose="05050102010706020507" pitchFamily="18" charset="2"/>
            </a:endParaRPr>
          </a:p>
          <a:p>
            <a:pPr>
              <a:lnSpc>
                <a:spcPct val="150000"/>
              </a:lnSpc>
              <a:buFont typeface="Monotype Sorts" pitchFamily="2" charset="2"/>
              <a:buNone/>
              <a:tabLst>
                <a:tab pos="1544320" algn="l"/>
                <a:tab pos="2452370" algn="ctr"/>
                <a:tab pos="3766820" algn="ctr"/>
                <a:tab pos="5022850" algn="ctr"/>
              </a:tabLst>
              <a:defRPr/>
            </a:pPr>
            <a:r>
              <a:rPr lang="zh-CN" altLang="zh-CN" sz="2400" dirty="0">
                <a:latin typeface="+mn-ea"/>
              </a:rPr>
              <a:t>		</a:t>
            </a:r>
            <a:r>
              <a:rPr lang="en-US" altLang="zh-CN" sz="2400" dirty="0">
                <a:solidFill>
                  <a:srgbClr val="0000CC"/>
                </a:solidFill>
                <a:latin typeface="+mn-ea"/>
              </a:rPr>
              <a:t>Allocation		Need		Available</a:t>
            </a:r>
            <a:endParaRPr lang="en-US" altLang="zh-CN" sz="2400" dirty="0">
              <a:solidFill>
                <a:srgbClr val="0000CC"/>
              </a:solidFill>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		A   B   C		A  B  C	A    B    C </a:t>
            </a:r>
            <a:endParaRPr lang="en-US" altLang="zh-CN" sz="2400" dirty="0">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P</a:t>
            </a:r>
            <a:r>
              <a:rPr lang="en-US" altLang="zh-CN" sz="2400" baseline="-25000" dirty="0">
                <a:latin typeface="+mn-ea"/>
              </a:rPr>
              <a:t>0	</a:t>
            </a:r>
            <a:r>
              <a:rPr lang="en-US" altLang="zh-CN" sz="2400" dirty="0">
                <a:latin typeface="+mn-ea"/>
              </a:rPr>
              <a:t>	0   1   0 		7  4  3 	</a:t>
            </a:r>
            <a:r>
              <a:rPr lang="en-US" altLang="zh-CN" sz="2400" dirty="0">
                <a:solidFill>
                  <a:srgbClr val="FF0000"/>
                </a:solidFill>
                <a:latin typeface="+mn-ea"/>
              </a:rPr>
              <a:t>2     3    0</a:t>
            </a:r>
            <a:endParaRPr lang="en-US" altLang="zh-CN" sz="2400" dirty="0">
              <a:solidFill>
                <a:srgbClr val="FF0000"/>
              </a:solidFill>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P</a:t>
            </a:r>
            <a:r>
              <a:rPr lang="en-US" altLang="zh-CN" sz="2400" baseline="-25000" dirty="0">
                <a:latin typeface="+mn-ea"/>
              </a:rPr>
              <a:t>1</a:t>
            </a:r>
            <a:r>
              <a:rPr lang="en-US" altLang="zh-CN" sz="2400" dirty="0">
                <a:latin typeface="+mn-ea"/>
              </a:rPr>
              <a:t>		</a:t>
            </a:r>
            <a:r>
              <a:rPr lang="en-US" altLang="zh-CN" sz="2400" dirty="0">
                <a:solidFill>
                  <a:srgbClr val="FF0000"/>
                </a:solidFill>
                <a:latin typeface="+mn-ea"/>
              </a:rPr>
              <a:t>3   0   2</a:t>
            </a:r>
            <a:r>
              <a:rPr lang="en-US" altLang="zh-CN" sz="2400" dirty="0">
                <a:solidFill>
                  <a:schemeClr val="accent1"/>
                </a:solidFill>
                <a:latin typeface="+mn-ea"/>
              </a:rPr>
              <a:t>		</a:t>
            </a:r>
            <a:r>
              <a:rPr lang="en-US" altLang="zh-CN" sz="2400" dirty="0">
                <a:solidFill>
                  <a:srgbClr val="FF0000"/>
                </a:solidFill>
                <a:latin typeface="+mn-ea"/>
              </a:rPr>
              <a:t>0  2  0 	</a:t>
            </a:r>
            <a:endParaRPr lang="en-US" altLang="zh-CN" sz="2400" dirty="0">
              <a:solidFill>
                <a:srgbClr val="FF0000"/>
              </a:solidFill>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P</a:t>
            </a:r>
            <a:r>
              <a:rPr lang="en-US" altLang="zh-CN" sz="2400" baseline="-25000" dirty="0">
                <a:latin typeface="+mn-ea"/>
              </a:rPr>
              <a:t>2</a:t>
            </a:r>
            <a:r>
              <a:rPr lang="en-US" altLang="zh-CN" sz="2400" dirty="0">
                <a:latin typeface="+mn-ea"/>
              </a:rPr>
              <a:t>		3   0   2 		6  0  0 </a:t>
            </a:r>
            <a:endParaRPr lang="en-US" altLang="zh-CN" sz="2400" dirty="0">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P</a:t>
            </a:r>
            <a:r>
              <a:rPr lang="en-US" altLang="zh-CN" sz="2400" baseline="-25000" dirty="0">
                <a:latin typeface="+mn-ea"/>
              </a:rPr>
              <a:t>3</a:t>
            </a:r>
            <a:r>
              <a:rPr lang="en-US" altLang="zh-CN" sz="2400" dirty="0">
                <a:latin typeface="+mn-ea"/>
              </a:rPr>
              <a:t>		2   1   1 		0  1  1</a:t>
            </a:r>
            <a:endParaRPr lang="en-US" altLang="zh-CN" sz="2400" dirty="0">
              <a:latin typeface="+mn-ea"/>
            </a:endParaRPr>
          </a:p>
          <a:p>
            <a:pPr>
              <a:lnSpc>
                <a:spcPct val="150000"/>
              </a:lnSpc>
              <a:buFont typeface="Monotype Sorts" pitchFamily="2" charset="2"/>
              <a:buNone/>
              <a:tabLst>
                <a:tab pos="1544320" algn="l"/>
                <a:tab pos="2452370" algn="ctr"/>
                <a:tab pos="3766820" algn="ctr"/>
                <a:tab pos="5022850" algn="ctr"/>
              </a:tabLst>
              <a:defRPr/>
            </a:pPr>
            <a:r>
              <a:rPr lang="en-US" altLang="zh-CN" sz="2400" dirty="0">
                <a:latin typeface="+mn-ea"/>
              </a:rPr>
              <a:t>P</a:t>
            </a:r>
            <a:r>
              <a:rPr lang="en-US" altLang="zh-CN" sz="2400" baseline="-25000" dirty="0">
                <a:latin typeface="+mn-ea"/>
              </a:rPr>
              <a:t>4</a:t>
            </a:r>
            <a:r>
              <a:rPr lang="en-US" altLang="zh-CN" sz="2400" dirty="0">
                <a:latin typeface="+mn-ea"/>
              </a:rPr>
              <a:t>		0   0   2 		4  3  1 </a:t>
            </a:r>
            <a:endParaRPr lang="en-US" altLang="zh-CN" sz="2400" dirty="0">
              <a:latin typeface="+mn-ea"/>
            </a:endParaRPr>
          </a:p>
        </p:txBody>
      </p:sp>
      <p:sp>
        <p:nvSpPr>
          <p:cNvPr id="7" name="îSļiḓè"/>
          <p:cNvSpPr/>
          <p:nvPr/>
        </p:nvSpPr>
        <p:spPr>
          <a:xfrm>
            <a:off x="994690" y="144817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ṡḷíďe"/>
          <p:cNvSpPr/>
          <p:nvPr/>
        </p:nvSpPr>
        <p:spPr>
          <a:xfrm>
            <a:off x="1184945" y="164430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r>
              <a:rPr lang="en-US" altLang="zh-CN" sz="2800" b="1" dirty="0">
                <a:solidFill>
                  <a:schemeClr val="bg1"/>
                </a:solidFill>
              </a:rPr>
              <a:t>P1 request (1,0,2)</a:t>
            </a:r>
            <a:endParaRPr lang="en-US" altLang="zh-CN" sz="2800" b="1" dirty="0">
              <a:solidFill>
                <a:schemeClr val="bg1"/>
              </a:solidFill>
            </a:endParaRPr>
          </a:p>
        </p:txBody>
      </p:sp>
      <p:sp>
        <p:nvSpPr>
          <p:cNvPr id="6" name="文本框 5"/>
          <p:cNvSpPr txBox="1"/>
          <p:nvPr/>
        </p:nvSpPr>
        <p:spPr>
          <a:xfrm>
            <a:off x="355107" y="4592676"/>
            <a:ext cx="10482693" cy="1452880"/>
          </a:xfrm>
          <a:prstGeom prst="rect">
            <a:avLst/>
          </a:prstGeom>
          <a:noFill/>
        </p:spPr>
        <p:txBody>
          <a:bodyPr wrap="square">
            <a:spAutoFit/>
          </a:bodyPr>
          <a:lstStyle/>
          <a:p>
            <a:pPr>
              <a:lnSpc>
                <a:spcPct val="123000"/>
              </a:lnSpc>
              <a:tabLst>
                <a:tab pos="1544320" algn="l"/>
                <a:tab pos="2452370" algn="ctr"/>
                <a:tab pos="3766820" algn="ctr"/>
                <a:tab pos="5022850" algn="ctr"/>
              </a:tabLst>
            </a:pPr>
            <a:r>
              <a:rPr lang="zh-CN" altLang="en-US" sz="2400" dirty="0">
                <a:latin typeface="+mn-ea"/>
              </a:rPr>
              <a:t>执行安全算法表明序列</a:t>
            </a:r>
            <a:r>
              <a:rPr lang="en-US" altLang="zh-CN" sz="2400" b="1" dirty="0">
                <a:latin typeface="+mn-ea"/>
              </a:rPr>
              <a:t>&lt;</a:t>
            </a:r>
            <a:r>
              <a:rPr lang="en-US" altLang="zh-CN" sz="2400" b="1" i="1" dirty="0">
                <a:latin typeface="+mn-ea"/>
              </a:rPr>
              <a:t>P</a:t>
            </a:r>
            <a:r>
              <a:rPr lang="en-US" altLang="zh-CN" sz="2400" b="1" baseline="-25000" dirty="0">
                <a:latin typeface="+mn-ea"/>
              </a:rPr>
              <a:t>1</a:t>
            </a:r>
            <a:r>
              <a:rPr lang="en-US" altLang="zh-CN" sz="2400" b="1" dirty="0">
                <a:latin typeface="+mn-ea"/>
              </a:rPr>
              <a:t>, </a:t>
            </a:r>
            <a:r>
              <a:rPr lang="en-US" altLang="zh-CN" sz="2400" b="1" i="1" dirty="0">
                <a:latin typeface="+mn-ea"/>
              </a:rPr>
              <a:t>P</a:t>
            </a:r>
            <a:r>
              <a:rPr lang="en-US" altLang="zh-CN" sz="2400" b="1" baseline="-25000" dirty="0">
                <a:latin typeface="+mn-ea"/>
              </a:rPr>
              <a:t>3</a:t>
            </a:r>
            <a:r>
              <a:rPr lang="en-US" altLang="zh-CN" sz="2400" b="1" dirty="0">
                <a:latin typeface="+mn-ea"/>
              </a:rPr>
              <a:t>, </a:t>
            </a:r>
            <a:r>
              <a:rPr lang="en-US" altLang="zh-CN" sz="2400" b="1" i="1" dirty="0">
                <a:latin typeface="+mn-ea"/>
              </a:rPr>
              <a:t>P</a:t>
            </a:r>
            <a:r>
              <a:rPr lang="en-US" altLang="zh-CN" sz="2400" b="1" baseline="-25000" dirty="0">
                <a:latin typeface="+mn-ea"/>
              </a:rPr>
              <a:t>4</a:t>
            </a:r>
            <a:r>
              <a:rPr lang="en-US" altLang="zh-CN" sz="2400" b="1" dirty="0">
                <a:latin typeface="+mn-ea"/>
              </a:rPr>
              <a:t>, </a:t>
            </a:r>
            <a:r>
              <a:rPr lang="en-US" altLang="zh-CN" sz="2400" b="1" i="1" dirty="0">
                <a:latin typeface="+mn-ea"/>
              </a:rPr>
              <a:t>P</a:t>
            </a:r>
            <a:r>
              <a:rPr lang="en-US" altLang="zh-CN" sz="2400" b="1" baseline="-25000" dirty="0">
                <a:latin typeface="+mn-ea"/>
              </a:rPr>
              <a:t>0</a:t>
            </a:r>
            <a:r>
              <a:rPr lang="en-US" altLang="zh-CN" sz="2400" b="1" dirty="0">
                <a:latin typeface="+mn-ea"/>
              </a:rPr>
              <a:t>, </a:t>
            </a:r>
            <a:r>
              <a:rPr lang="en-US" altLang="zh-CN" sz="2400" b="1" i="1" dirty="0">
                <a:latin typeface="+mn-ea"/>
              </a:rPr>
              <a:t>P</a:t>
            </a:r>
            <a:r>
              <a:rPr lang="en-US" altLang="zh-CN" sz="2400" b="1" baseline="-25000" dirty="0">
                <a:latin typeface="+mn-ea"/>
              </a:rPr>
              <a:t>2</a:t>
            </a:r>
            <a:r>
              <a:rPr lang="en-US" altLang="zh-CN" sz="2400" b="1" dirty="0">
                <a:latin typeface="+mn-ea"/>
              </a:rPr>
              <a:t>&gt; </a:t>
            </a:r>
            <a:r>
              <a:rPr lang="zh-CN" altLang="en-US" sz="2400" dirty="0">
                <a:latin typeface="+mn-ea"/>
              </a:rPr>
              <a:t>满足要求，可以给</a:t>
            </a:r>
            <a:r>
              <a:rPr lang="en-US" altLang="zh-CN" sz="2400" dirty="0">
                <a:latin typeface="+mn-ea"/>
              </a:rPr>
              <a:t>P1</a:t>
            </a:r>
            <a:r>
              <a:rPr lang="zh-CN" altLang="en-US" sz="2400" dirty="0">
                <a:latin typeface="+mn-ea"/>
              </a:rPr>
              <a:t>分配。</a:t>
            </a:r>
            <a:endParaRPr lang="en-US" altLang="zh-CN" sz="2400" dirty="0">
              <a:latin typeface="+mn-ea"/>
            </a:endParaRPr>
          </a:p>
          <a:p>
            <a:pPr>
              <a:lnSpc>
                <a:spcPct val="123000"/>
              </a:lnSpc>
              <a:tabLst>
                <a:tab pos="1544320" algn="l"/>
                <a:tab pos="2452370" algn="ctr"/>
                <a:tab pos="3766820" algn="ctr"/>
                <a:tab pos="5022850" algn="ctr"/>
              </a:tabLst>
            </a:pPr>
            <a:r>
              <a:rPr lang="zh-CN" altLang="en-US" sz="2400" dirty="0">
                <a:latin typeface="+mn-ea"/>
              </a:rPr>
              <a:t>补充</a:t>
            </a:r>
            <a:r>
              <a:rPr lang="zh-CN" altLang="en-US" sz="2400" dirty="0">
                <a:solidFill>
                  <a:srgbClr val="FF0000"/>
                </a:solidFill>
                <a:latin typeface="+mn-ea"/>
              </a:rPr>
              <a:t>思考</a:t>
            </a:r>
            <a:r>
              <a:rPr lang="zh-CN" altLang="en-US" sz="2400" dirty="0">
                <a:latin typeface="+mn-ea"/>
              </a:rPr>
              <a:t>：</a:t>
            </a:r>
            <a:endParaRPr lang="zh-CN" altLang="en-US" sz="2400" dirty="0">
              <a:latin typeface="+mn-ea"/>
            </a:endParaRPr>
          </a:p>
          <a:p>
            <a:pPr marL="742950" lvl="1" indent="-285750">
              <a:lnSpc>
                <a:spcPct val="123000"/>
              </a:lnSpc>
              <a:buClr>
                <a:srgbClr val="FF0000"/>
              </a:buClr>
              <a:buFont typeface="Wingdings" panose="05000000000000000000" pitchFamily="2" charset="2"/>
              <a:buChar char="Ø"/>
              <a:tabLst>
                <a:tab pos="1544320" algn="l"/>
                <a:tab pos="2452370" algn="ctr"/>
                <a:tab pos="3766820" algn="ctr"/>
                <a:tab pos="5022850" algn="ctr"/>
              </a:tabLst>
            </a:pPr>
            <a:r>
              <a:rPr lang="en-US" altLang="zh-CN" sz="2400" i="1" dirty="0">
                <a:latin typeface="+mn-ea"/>
              </a:rPr>
              <a:t>P</a:t>
            </a:r>
            <a:r>
              <a:rPr lang="en-US" altLang="zh-CN" sz="2400" baseline="-25000" dirty="0">
                <a:latin typeface="+mn-ea"/>
              </a:rPr>
              <a:t>4</a:t>
            </a:r>
            <a:r>
              <a:rPr lang="zh-CN" altLang="en-US" sz="2400" dirty="0">
                <a:latin typeface="+mn-ea"/>
              </a:rPr>
              <a:t>的请求</a:t>
            </a:r>
            <a:r>
              <a:rPr lang="zh-CN" altLang="zh-CN" sz="2400" dirty="0">
                <a:latin typeface="+mn-ea"/>
              </a:rPr>
              <a:t>(3,3,0)</a:t>
            </a:r>
            <a:r>
              <a:rPr lang="zh-CN" altLang="en-US" sz="2400" dirty="0">
                <a:latin typeface="+mn-ea"/>
              </a:rPr>
              <a:t>是否可以通过？</a:t>
            </a:r>
            <a:endParaRPr lang="zh-CN" altLang="en-US" sz="2400" dirty="0">
              <a:latin typeface="+mn-ea"/>
            </a:endParaRPr>
          </a:p>
        </p:txBody>
      </p:sp>
      <p:graphicFrame>
        <p:nvGraphicFramePr>
          <p:cNvPr id="7" name="Group 71"/>
          <p:cNvGraphicFramePr>
            <a:graphicFrameLocks noGrp="1"/>
          </p:cNvGraphicFramePr>
          <p:nvPr/>
        </p:nvGraphicFramePr>
        <p:xfrm>
          <a:off x="317777" y="1313899"/>
          <a:ext cx="11519116" cy="3047724"/>
        </p:xfrm>
        <a:graphic>
          <a:graphicData uri="http://schemas.openxmlformats.org/drawingml/2006/table">
            <a:tbl>
              <a:tblPr>
                <a:tableStyleId>{5DA37D80-6434-44D0-A028-1B22A696006F}</a:tableStyleId>
              </a:tblPr>
              <a:tblGrid>
                <a:gridCol w="2399815"/>
                <a:gridCol w="1551881"/>
                <a:gridCol w="1565881"/>
                <a:gridCol w="1936092"/>
                <a:gridCol w="2831451"/>
                <a:gridCol w="1233996"/>
              </a:tblGrid>
              <a:tr h="40481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         </a:t>
                      </a:r>
                      <a:r>
                        <a:rPr kumimoji="1" lang="zh-CN" altLang="en-US" sz="2400" b="0" u="none" strike="noStrike" cap="none" normalizeH="0" baseline="0" dirty="0">
                          <a:ln>
                            <a:noFill/>
                          </a:ln>
                          <a:solidFill>
                            <a:schemeClr val="tx1"/>
                          </a:solidFill>
                          <a:effectLst/>
                        </a:rPr>
                        <a:t>资源情况</a:t>
                      </a:r>
                      <a:endParaRPr kumimoji="1" lang="zh-CN" altLang="en-US" sz="2400" b="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rPr>
                        <a:t>进程</a:t>
                      </a:r>
                      <a:endParaRPr kumimoji="1" lang="zh-CN" altLang="en-US"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Work</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Need</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Allocation</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err="1">
                          <a:ln>
                            <a:noFill/>
                          </a:ln>
                          <a:solidFill>
                            <a:schemeClr val="tx1"/>
                          </a:solidFill>
                          <a:effectLst/>
                        </a:rPr>
                        <a:t>Work+Allocation</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Finish</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1</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2    3    0</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0    2    0</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3    0    2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5    3    2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true</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3</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5    3    2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0    1    1</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2    1    1</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7    4    3</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4</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7    4    3</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4    3    1</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0    0    2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7    4    5</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0</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7    4    5</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7    4    3</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0    1    0</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7    5    5</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2</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7    5    5</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6    0    0</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3    0    2</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10    5    7</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bl>
          </a:graphicData>
        </a:graphic>
      </p:graphicFrame>
      <p:cxnSp>
        <p:nvCxnSpPr>
          <p:cNvPr id="10" name="直接连接符 9"/>
          <p:cNvCxnSpPr/>
          <p:nvPr/>
        </p:nvCxnSpPr>
        <p:spPr>
          <a:xfrm>
            <a:off x="355107" y="1154097"/>
            <a:ext cx="2379215" cy="88776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397623" y="5501259"/>
            <a:ext cx="5941691" cy="506292"/>
          </a:xfrm>
          <a:prstGeom prst="rect">
            <a:avLst/>
          </a:prstGeom>
          <a:noFill/>
        </p:spPr>
        <p:txBody>
          <a:bodyPr wrap="square">
            <a:spAutoFit/>
          </a:bodyPr>
          <a:lstStyle/>
          <a:p>
            <a:pPr marL="742950" lvl="1" indent="-285750">
              <a:lnSpc>
                <a:spcPct val="123000"/>
              </a:lnSpc>
              <a:buClr>
                <a:srgbClr val="FF0000"/>
              </a:buClr>
              <a:buFont typeface="Wingdings" panose="05000000000000000000" pitchFamily="2" charset="2"/>
              <a:buChar char="Ø"/>
              <a:tabLst>
                <a:tab pos="1544320" algn="l"/>
                <a:tab pos="2452370" algn="ctr"/>
                <a:tab pos="3766820" algn="ctr"/>
                <a:tab pos="5022850" algn="ctr"/>
              </a:tabLst>
            </a:pPr>
            <a:r>
              <a:rPr lang="en-US" altLang="zh-CN" sz="2400" i="1" dirty="0">
                <a:latin typeface="+mn-ea"/>
              </a:rPr>
              <a:t>P</a:t>
            </a:r>
            <a:r>
              <a:rPr lang="en-US" altLang="zh-CN" sz="2400" baseline="-25000" dirty="0">
                <a:latin typeface="+mn-ea"/>
              </a:rPr>
              <a:t>0</a:t>
            </a:r>
            <a:r>
              <a:rPr lang="zh-CN" altLang="en-US" sz="2400" dirty="0">
                <a:latin typeface="+mn-ea"/>
              </a:rPr>
              <a:t>的请求</a:t>
            </a:r>
            <a:r>
              <a:rPr lang="zh-CN" altLang="zh-CN" sz="2400" dirty="0">
                <a:latin typeface="+mn-ea"/>
              </a:rPr>
              <a:t>(0,2,0)</a:t>
            </a:r>
            <a:r>
              <a:rPr lang="zh-CN" altLang="en-US" sz="2400" dirty="0">
                <a:latin typeface="+mn-ea"/>
              </a:rPr>
              <a:t>是否可以通过？</a:t>
            </a:r>
            <a:endParaRPr lang="zh-CN" altLang="en-US"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资源分配图组成</a:t>
            </a:r>
            <a:endParaRPr lang="en-US" altLang="zh-CN" sz="2800" b="1" dirty="0">
              <a:solidFill>
                <a:schemeClr val="bg1"/>
              </a:solidFill>
            </a:endParaRPr>
          </a:p>
        </p:txBody>
      </p:sp>
      <p:sp>
        <p:nvSpPr>
          <p:cNvPr id="4" name="Text Box 4"/>
          <p:cNvSpPr txBox="1">
            <a:spLocks noChangeArrowheads="1"/>
          </p:cNvSpPr>
          <p:nvPr/>
        </p:nvSpPr>
        <p:spPr bwMode="auto">
          <a:xfrm>
            <a:off x="1085758" y="1502593"/>
            <a:ext cx="4374009"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dirty="0">
                <a:latin typeface="+mn-ea"/>
                <a:ea typeface="+mn-ea"/>
              </a:rPr>
              <a:t>一个顶点的集合</a:t>
            </a:r>
            <a:r>
              <a:rPr lang="en-US" altLang="zh-CN" sz="2400" dirty="0">
                <a:latin typeface="+mj-lt"/>
                <a:ea typeface="+mn-ea"/>
              </a:rPr>
              <a:t>V</a:t>
            </a:r>
            <a:r>
              <a:rPr lang="zh-CN" altLang="en-US" sz="2400" dirty="0">
                <a:latin typeface="+mn-ea"/>
                <a:ea typeface="+mn-ea"/>
              </a:rPr>
              <a:t>和边的集合</a:t>
            </a:r>
            <a:r>
              <a:rPr lang="en-US" altLang="zh-CN" sz="2400" dirty="0">
                <a:latin typeface="+mj-lt"/>
                <a:ea typeface="+mn-ea"/>
              </a:rPr>
              <a:t>E</a:t>
            </a:r>
            <a:endParaRPr lang="zh-CN" altLang="en-US" sz="2400" dirty="0">
              <a:latin typeface="+mj-lt"/>
              <a:ea typeface="+mn-ea"/>
            </a:endParaRPr>
          </a:p>
        </p:txBody>
      </p:sp>
      <p:sp>
        <p:nvSpPr>
          <p:cNvPr id="6" name="i$lîďê"/>
          <p:cNvSpPr/>
          <p:nvPr/>
        </p:nvSpPr>
        <p:spPr>
          <a:xfrm>
            <a:off x="1900133" y="4060551"/>
            <a:ext cx="3696051" cy="392877"/>
          </a:xfrm>
          <a:prstGeom prst="rect">
            <a:avLst/>
          </a:prstGeom>
          <a:noFill/>
          <a:ln>
            <a:noFill/>
          </a:ln>
        </p:spPr>
        <p:txBody>
          <a:bodyPr wrap="square" lIns="91440" tIns="45720" rIns="91440" bIns="45720" anchor="ctr" anchorCtr="0">
            <a:noAutofit/>
          </a:bodyPr>
          <a:lstStyle/>
          <a:p>
            <a:r>
              <a:rPr lang="zh-CN" altLang="en-US" sz="2400" dirty="0"/>
              <a:t>请求边：有向边</a:t>
            </a:r>
            <a:r>
              <a:rPr lang="en-US" altLang="zh-CN" sz="2400" i="1" dirty="0"/>
              <a:t>P</a:t>
            </a:r>
            <a:r>
              <a:rPr lang="en-US" altLang="zh-CN" sz="2400" baseline="-25000" dirty="0"/>
              <a:t>i </a:t>
            </a:r>
            <a:r>
              <a:rPr lang="en-US" altLang="zh-CN" sz="2400" dirty="0">
                <a:sym typeface="Symbol" panose="05050102010706020507" pitchFamily="18" charset="2"/>
              </a:rPr>
              <a:t> </a:t>
            </a:r>
            <a:r>
              <a:rPr lang="en-US" altLang="zh-CN" sz="2400" i="1" dirty="0" err="1">
                <a:sym typeface="Symbol" panose="05050102010706020507" pitchFamily="18" charset="2"/>
              </a:rPr>
              <a:t>R</a:t>
            </a:r>
            <a:r>
              <a:rPr lang="en-US" altLang="zh-CN" sz="2400" i="1" baseline="-25000" dirty="0" err="1">
                <a:sym typeface="Symbol" panose="05050102010706020507" pitchFamily="18" charset="2"/>
              </a:rPr>
              <a:t>j</a:t>
            </a:r>
            <a:r>
              <a:rPr lang="en-US" altLang="zh-CN" sz="2400" i="1" baseline="-25000" dirty="0">
                <a:sym typeface="Symbol" panose="05050102010706020507" pitchFamily="18" charset="2"/>
              </a:rPr>
              <a:t> </a:t>
            </a:r>
            <a:endParaRPr lang="en-US" altLang="zh-CN" sz="2400" i="1" baseline="-25000" dirty="0">
              <a:sym typeface="Symbol" panose="05050102010706020507" pitchFamily="18" charset="2"/>
            </a:endParaRPr>
          </a:p>
        </p:txBody>
      </p:sp>
      <p:sp>
        <p:nvSpPr>
          <p:cNvPr id="8" name="ïṧḷïḋè"/>
          <p:cNvSpPr/>
          <p:nvPr/>
        </p:nvSpPr>
        <p:spPr>
          <a:xfrm>
            <a:off x="1900135" y="5040382"/>
            <a:ext cx="3696051" cy="415102"/>
          </a:xfrm>
          <a:prstGeom prst="rect">
            <a:avLst/>
          </a:prstGeom>
          <a:noFill/>
          <a:ln>
            <a:noFill/>
          </a:ln>
        </p:spPr>
        <p:txBody>
          <a:bodyPr wrap="square" lIns="91440" tIns="45720" rIns="91440" bIns="45720" anchor="ctr" anchorCtr="0">
            <a:noAutofit/>
          </a:bodyPr>
          <a:lstStyle/>
          <a:p>
            <a:r>
              <a:rPr lang="zh-CN" altLang="en-US" sz="2400" dirty="0"/>
              <a:t>分配边：有向边 </a:t>
            </a:r>
            <a:r>
              <a:rPr lang="en-US" altLang="zh-CN" sz="2400" i="1" dirty="0" err="1">
                <a:sym typeface="Symbol" panose="05050102010706020507" pitchFamily="18" charset="2"/>
              </a:rPr>
              <a:t>R</a:t>
            </a:r>
            <a:r>
              <a:rPr lang="en-US" altLang="zh-CN" sz="2400" i="1" baseline="-25000" dirty="0" err="1">
                <a:sym typeface="Symbol" panose="05050102010706020507" pitchFamily="18" charset="2"/>
              </a:rPr>
              <a:t>j</a:t>
            </a:r>
            <a:r>
              <a:rPr lang="en-US" altLang="zh-CN" sz="2400" i="1" baseline="-25000" dirty="0">
                <a:sym typeface="Symbol" panose="05050102010706020507" pitchFamily="18" charset="2"/>
              </a:rPr>
              <a:t> </a:t>
            </a:r>
            <a:r>
              <a:rPr lang="en-US" altLang="zh-CN" sz="2400" dirty="0">
                <a:sym typeface="Symbol" panose="05050102010706020507" pitchFamily="18" charset="2"/>
              </a:rPr>
              <a:t></a:t>
            </a:r>
            <a:r>
              <a:rPr lang="en-US" altLang="zh-CN" sz="2400" i="1" dirty="0"/>
              <a:t>P</a:t>
            </a:r>
            <a:r>
              <a:rPr lang="en-US" altLang="zh-CN" sz="2400" baseline="-25000" dirty="0"/>
              <a:t>i </a:t>
            </a:r>
            <a:endParaRPr lang="zh-CN" altLang="zh-CN" sz="2400" i="1" baseline="-25000" dirty="0">
              <a:sym typeface="Symbol" panose="05050102010706020507" pitchFamily="18" charset="2"/>
            </a:endParaRPr>
          </a:p>
        </p:txBody>
      </p:sp>
      <p:sp>
        <p:nvSpPr>
          <p:cNvPr id="9" name="îs1iďé"/>
          <p:cNvSpPr/>
          <p:nvPr/>
        </p:nvSpPr>
        <p:spPr>
          <a:xfrm>
            <a:off x="1919191" y="2673497"/>
            <a:ext cx="7026275" cy="1152779"/>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en-US" altLang="zh-CN" sz="2400" dirty="0"/>
              <a:t>P = {P</a:t>
            </a:r>
            <a:r>
              <a:rPr lang="en-US" altLang="zh-CN" sz="2400" baseline="-25000" dirty="0"/>
              <a:t>1</a:t>
            </a:r>
            <a:r>
              <a:rPr lang="en-US" altLang="zh-CN" sz="2400" dirty="0"/>
              <a:t>, P</a:t>
            </a:r>
            <a:r>
              <a:rPr lang="en-US" altLang="zh-CN" sz="2400" baseline="-25000" dirty="0"/>
              <a:t>2</a:t>
            </a:r>
            <a:r>
              <a:rPr lang="en-US" altLang="zh-CN" sz="2400" dirty="0"/>
              <a:t>, …, </a:t>
            </a:r>
            <a:r>
              <a:rPr lang="en-US" altLang="zh-CN" sz="2400" dirty="0" err="1"/>
              <a:t>P</a:t>
            </a:r>
            <a:r>
              <a:rPr lang="en-US" altLang="zh-CN" sz="2400" baseline="-25000" dirty="0" err="1"/>
              <a:t>n</a:t>
            </a:r>
            <a:r>
              <a:rPr lang="en-US" altLang="zh-CN" sz="2400" dirty="0"/>
              <a:t>}, </a:t>
            </a:r>
            <a:r>
              <a:rPr lang="zh-CN" altLang="en-US" sz="2400" dirty="0"/>
              <a:t>含有系统中全部的进程</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en-US" altLang="zh-CN" sz="2400" dirty="0"/>
              <a:t>R = {R</a:t>
            </a:r>
            <a:r>
              <a:rPr lang="en-US" altLang="zh-CN" sz="2400" baseline="-25000" dirty="0"/>
              <a:t>1</a:t>
            </a:r>
            <a:r>
              <a:rPr lang="en-US" altLang="zh-CN" sz="2400" dirty="0"/>
              <a:t>, R</a:t>
            </a:r>
            <a:r>
              <a:rPr lang="en-US" altLang="zh-CN" sz="2400" baseline="-25000" dirty="0"/>
              <a:t>2</a:t>
            </a:r>
            <a:r>
              <a:rPr lang="en-US" altLang="zh-CN" sz="2400" dirty="0"/>
              <a:t>, …, R</a:t>
            </a:r>
            <a:r>
              <a:rPr lang="en-US" altLang="zh-CN" sz="2400" baseline="-25000" dirty="0"/>
              <a:t>m</a:t>
            </a:r>
            <a:r>
              <a:rPr lang="en-US" altLang="zh-CN" sz="2400" dirty="0"/>
              <a:t>}, </a:t>
            </a:r>
            <a:r>
              <a:rPr lang="zh-CN" altLang="en-US" sz="2400" dirty="0"/>
              <a:t>含有系统中全部的资源</a:t>
            </a:r>
            <a:endParaRPr lang="zh-CN" altLang="en-US" sz="2400" dirty="0"/>
          </a:p>
        </p:txBody>
      </p:sp>
      <p:sp>
        <p:nvSpPr>
          <p:cNvPr id="10" name="íšḻíḑê"/>
          <p:cNvSpPr/>
          <p:nvPr/>
        </p:nvSpPr>
        <p:spPr>
          <a:xfrm>
            <a:off x="1900134" y="2204935"/>
            <a:ext cx="3696051" cy="405747"/>
          </a:xfrm>
          <a:prstGeom prst="rect">
            <a:avLst/>
          </a:prstGeom>
          <a:noFill/>
          <a:ln>
            <a:noFill/>
          </a:ln>
        </p:spPr>
        <p:txBody>
          <a:bodyPr wrap="square" lIns="91440" tIns="45720" rIns="91440" bIns="45720" anchor="ctr" anchorCtr="0">
            <a:noAutofit/>
          </a:bodyPr>
          <a:lstStyle/>
          <a:p>
            <a:r>
              <a:rPr lang="en-US" altLang="zh-CN" sz="2400" dirty="0"/>
              <a:t>V</a:t>
            </a:r>
            <a:r>
              <a:rPr lang="zh-CN" altLang="en-US" sz="2400" dirty="0"/>
              <a:t>被分为两个部分</a:t>
            </a:r>
            <a:endParaRPr lang="zh-CN" altLang="en-US" sz="2400" dirty="0"/>
          </a:p>
        </p:txBody>
      </p:sp>
      <p:sp>
        <p:nvSpPr>
          <p:cNvPr id="11" name="îSļiḓè"/>
          <p:cNvSpPr/>
          <p:nvPr/>
        </p:nvSpPr>
        <p:spPr>
          <a:xfrm>
            <a:off x="1216631" y="219137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íṥḻîḓe"/>
          <p:cNvSpPr/>
          <p:nvPr/>
        </p:nvSpPr>
        <p:spPr>
          <a:xfrm>
            <a:off x="1216631" y="49577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şļiḓè"/>
          <p:cNvSpPr/>
          <p:nvPr/>
        </p:nvSpPr>
        <p:spPr>
          <a:xfrm>
            <a:off x="1216631" y="396002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ṡḷíďe"/>
          <p:cNvSpPr/>
          <p:nvPr/>
        </p:nvSpPr>
        <p:spPr>
          <a:xfrm>
            <a:off x="1406886" y="238751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íSlíḋe"/>
          <p:cNvSpPr/>
          <p:nvPr/>
        </p:nvSpPr>
        <p:spPr>
          <a:xfrm>
            <a:off x="1406885" y="418204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ïśḷïḓe"/>
          <p:cNvSpPr/>
          <p:nvPr/>
        </p:nvSpPr>
        <p:spPr>
          <a:xfrm>
            <a:off x="1435824" y="5147240"/>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无死锁的资源分配图</a:t>
            </a:r>
            <a:endParaRPr lang="en-US" altLang="zh-CN" sz="2800" b="1" dirty="0">
              <a:solidFill>
                <a:schemeClr val="bg1"/>
              </a:solidFill>
            </a:endParaRPr>
          </a:p>
        </p:txBody>
      </p:sp>
      <p:pic>
        <p:nvPicPr>
          <p:cNvPr id="6" name="Picture 6"/>
          <p:cNvPicPr>
            <a:picLocks noChangeAspect="1" noChangeArrowheads="1"/>
          </p:cNvPicPr>
          <p:nvPr/>
        </p:nvPicPr>
        <p:blipFill>
          <a:blip r:embed="rId1">
            <a:duotone>
              <a:schemeClr val="accent2">
                <a:shade val="45000"/>
                <a:satMod val="135000"/>
              </a:schemeClr>
              <a:prstClr val="white"/>
            </a:duotone>
            <a:extLst>
              <a:ext uri="{28A0092B-C50C-407E-A947-70E740481C1C}">
                <a14:useLocalDpi xmlns:a14="http://schemas.microsoft.com/office/drawing/2010/main" val="0"/>
              </a:ext>
            </a:extLst>
          </a:blip>
          <a:srcRect l="23024" t="871" r="23206" b="1060"/>
          <a:stretch>
            <a:fillRect/>
          </a:stretch>
        </p:blipFill>
        <p:spPr bwMode="auto">
          <a:xfrm>
            <a:off x="1109345" y="1088390"/>
            <a:ext cx="3818255" cy="52349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2">
            <a:clrChange>
              <a:clrFrom>
                <a:srgbClr val="FFFDDB"/>
              </a:clrFrom>
              <a:clrTo>
                <a:srgbClr val="FFFDDB">
                  <a:alpha val="0"/>
                </a:srgbClr>
              </a:clrTo>
            </a:clrChang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19093" t="700" r="19093" b="700"/>
          <a:stretch>
            <a:fillRect/>
          </a:stretch>
        </p:blipFill>
        <p:spPr bwMode="auto">
          <a:xfrm>
            <a:off x="6444615" y="945515"/>
            <a:ext cx="4434840" cy="52825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有死锁的资源分配图</a:t>
            </a:r>
            <a:endParaRPr lang="en-US" altLang="zh-CN" sz="2800" b="1" dirty="0">
              <a:solidFill>
                <a:schemeClr val="bg1"/>
              </a:solidFill>
            </a:endParaRPr>
          </a:p>
        </p:txBody>
      </p:sp>
      <p:pic>
        <p:nvPicPr>
          <p:cNvPr id="5" name="Picture 5"/>
          <p:cNvPicPr>
            <a:picLocks noChangeAspect="1" noChangeArrowheads="1"/>
          </p:cNvPicPr>
          <p:nvPr/>
        </p:nvPicPr>
        <p:blipFill>
          <a:blip r:embed="rId1">
            <a:clrChange>
              <a:clrFrom>
                <a:srgbClr val="FFFDDB"/>
              </a:clrFrom>
              <a:clrTo>
                <a:srgbClr val="FFFDDB">
                  <a:alpha val="0"/>
                </a:srgbClr>
              </a:clrTo>
            </a:clrChange>
            <a:extLst>
              <a:ext uri="{BEBA8EAE-BF5A-486C-A8C5-ECC9F3942E4B}">
                <a14:imgProps xmlns:a14="http://schemas.microsoft.com/office/drawing/2010/main">
                  <a14:imgLayer r:embed="rId2">
                    <a14:imgEffect>
                      <a14:colorTemperature colorTemp="11200"/>
                    </a14:imgEffect>
                  </a14:imgLayer>
                </a14:imgProps>
              </a:ext>
              <a:ext uri="{28A0092B-C50C-407E-A947-70E740481C1C}">
                <a14:useLocalDpi xmlns:a14="http://schemas.microsoft.com/office/drawing/2010/main" val="0"/>
              </a:ext>
            </a:extLst>
          </a:blip>
          <a:srcRect l="23473" t="919" r="23195" b="1358"/>
          <a:stretch>
            <a:fillRect/>
          </a:stretch>
        </p:blipFill>
        <p:spPr bwMode="auto">
          <a:xfrm>
            <a:off x="1370330" y="1085850"/>
            <a:ext cx="3773170" cy="51993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37"/>
          <p:cNvGrpSpPr/>
          <p:nvPr/>
        </p:nvGrpSpPr>
        <p:grpSpPr bwMode="auto">
          <a:xfrm>
            <a:off x="6600794" y="1486730"/>
            <a:ext cx="4869156" cy="4326105"/>
            <a:chOff x="1728" y="528"/>
            <a:chExt cx="2160" cy="2256"/>
          </a:xfrm>
        </p:grpSpPr>
        <p:sp>
          <p:nvSpPr>
            <p:cNvPr id="9" name="Oval 2"/>
            <p:cNvSpPr>
              <a:spLocks noChangeArrowheads="1"/>
            </p:cNvSpPr>
            <p:nvPr/>
          </p:nvSpPr>
          <p:spPr bwMode="auto">
            <a:xfrm>
              <a:off x="1968" y="768"/>
              <a:ext cx="1728" cy="1728"/>
            </a:xfrm>
            <a:prstGeom prst="ellipse">
              <a:avLst/>
            </a:prstGeom>
            <a:noFill/>
            <a:ln w="38100">
              <a:solidFill>
                <a:srgbClr val="FFC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grpSp>
          <p:nvGrpSpPr>
            <p:cNvPr id="10" name="Group 8"/>
            <p:cNvGrpSpPr/>
            <p:nvPr/>
          </p:nvGrpSpPr>
          <p:grpSpPr bwMode="auto">
            <a:xfrm>
              <a:off x="2544" y="528"/>
              <a:ext cx="528" cy="528"/>
              <a:chOff x="336" y="432"/>
              <a:chExt cx="528" cy="528"/>
            </a:xfrm>
          </p:grpSpPr>
          <p:sp>
            <p:nvSpPr>
              <p:cNvPr id="21" name="Oval 6"/>
              <p:cNvSpPr>
                <a:spLocks noChangeArrowheads="1"/>
              </p:cNvSpPr>
              <p:nvPr/>
            </p:nvSpPr>
            <p:spPr bwMode="auto">
              <a:xfrm>
                <a:off x="336" y="432"/>
                <a:ext cx="528" cy="528"/>
              </a:xfrm>
              <a:prstGeom prst="ellipse">
                <a:avLst/>
              </a:prstGeom>
              <a:solidFill>
                <a:srgbClr val="FFC000"/>
              </a:solidFill>
              <a:ln w="1905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sp>
            <p:nvSpPr>
              <p:cNvPr id="22" name="Text Box 7"/>
              <p:cNvSpPr txBox="1">
                <a:spLocks noChangeArrowheads="1"/>
              </p:cNvSpPr>
              <p:nvPr/>
            </p:nvSpPr>
            <p:spPr bwMode="auto">
              <a:xfrm>
                <a:off x="446" y="508"/>
                <a:ext cx="336" cy="328"/>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Clr>
                    <a:srgbClr val="E71101"/>
                  </a:buClr>
                  <a:buSzPct val="60000"/>
                  <a:buFont typeface="Monotype Sorts" pitchFamily="2" charset="2"/>
                  <a:buNone/>
                </a:pPr>
                <a:r>
                  <a:rPr lang="en-US" altLang="zh-CN" sz="2800" dirty="0">
                    <a:solidFill>
                      <a:schemeClr val="bg1"/>
                    </a:solidFill>
                  </a:rPr>
                  <a:t>P</a:t>
                </a:r>
                <a:r>
                  <a:rPr lang="en-US" altLang="zh-CN" sz="2800" baseline="-25000" dirty="0">
                    <a:solidFill>
                      <a:schemeClr val="bg1"/>
                    </a:solidFill>
                  </a:rPr>
                  <a:t>1</a:t>
                </a:r>
                <a:endParaRPr lang="en-US" altLang="zh-CN" sz="2800" baseline="-25000" dirty="0">
                  <a:solidFill>
                    <a:schemeClr val="bg1"/>
                  </a:solidFill>
                </a:endParaRPr>
              </a:p>
            </p:txBody>
          </p:sp>
        </p:grpSp>
        <p:grpSp>
          <p:nvGrpSpPr>
            <p:cNvPr id="11" name="Group 9"/>
            <p:cNvGrpSpPr/>
            <p:nvPr/>
          </p:nvGrpSpPr>
          <p:grpSpPr bwMode="auto">
            <a:xfrm>
              <a:off x="2544" y="2256"/>
              <a:ext cx="528" cy="528"/>
              <a:chOff x="336" y="432"/>
              <a:chExt cx="528" cy="528"/>
            </a:xfrm>
          </p:grpSpPr>
          <p:sp>
            <p:nvSpPr>
              <p:cNvPr id="19" name="Oval 10"/>
              <p:cNvSpPr>
                <a:spLocks noChangeArrowheads="1"/>
              </p:cNvSpPr>
              <p:nvPr/>
            </p:nvSpPr>
            <p:spPr bwMode="auto">
              <a:xfrm>
                <a:off x="336" y="432"/>
                <a:ext cx="528" cy="528"/>
              </a:xfrm>
              <a:prstGeom prst="ellipse">
                <a:avLst/>
              </a:prstGeom>
              <a:solidFill>
                <a:srgbClr val="FFC000"/>
              </a:solidFill>
              <a:ln w="19050">
                <a:solidFill>
                  <a:srgbClr val="FFC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sp>
            <p:nvSpPr>
              <p:cNvPr id="20" name="Text Box 11"/>
              <p:cNvSpPr txBox="1">
                <a:spLocks noChangeArrowheads="1"/>
              </p:cNvSpPr>
              <p:nvPr/>
            </p:nvSpPr>
            <p:spPr bwMode="auto">
              <a:xfrm>
                <a:off x="446" y="532"/>
                <a:ext cx="336" cy="328"/>
              </a:xfrm>
              <a:prstGeom prst="rect">
                <a:avLst/>
              </a:prstGeom>
              <a:solidFill>
                <a:srgbClr val="FFC000"/>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Clr>
                    <a:srgbClr val="E71101"/>
                  </a:buClr>
                  <a:buSzPct val="60000"/>
                  <a:buFont typeface="Monotype Sorts" pitchFamily="2" charset="2"/>
                  <a:buNone/>
                </a:pPr>
                <a:r>
                  <a:rPr lang="en-US" altLang="zh-CN" sz="2800" dirty="0">
                    <a:solidFill>
                      <a:schemeClr val="bg1"/>
                    </a:solidFill>
                  </a:rPr>
                  <a:t>P</a:t>
                </a:r>
                <a:r>
                  <a:rPr lang="en-US" altLang="zh-CN" sz="2800" baseline="-25000" dirty="0">
                    <a:solidFill>
                      <a:schemeClr val="bg1"/>
                    </a:solidFill>
                  </a:rPr>
                  <a:t>2</a:t>
                </a:r>
                <a:endParaRPr lang="en-US" altLang="zh-CN" sz="2800" baseline="-25000" dirty="0">
                  <a:solidFill>
                    <a:schemeClr val="bg1"/>
                  </a:solidFill>
                </a:endParaRPr>
              </a:p>
            </p:txBody>
          </p:sp>
        </p:grpSp>
        <p:sp>
          <p:nvSpPr>
            <p:cNvPr id="12" name="Rectangle 21"/>
            <p:cNvSpPr>
              <a:spLocks noChangeArrowheads="1"/>
            </p:cNvSpPr>
            <p:nvPr/>
          </p:nvSpPr>
          <p:spPr bwMode="auto">
            <a:xfrm>
              <a:off x="1728" y="1536"/>
              <a:ext cx="384" cy="288"/>
            </a:xfrm>
            <a:prstGeom prst="rect">
              <a:avLst/>
            </a:prstGeom>
            <a:solidFill>
              <a:srgbClr val="FFC000"/>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E71101"/>
                </a:buClr>
                <a:buSzPct val="60000"/>
                <a:buFont typeface="Monotype Sorts" pitchFamily="2" charset="2"/>
                <a:buNone/>
              </a:pPr>
              <a:r>
                <a:rPr lang="en-US" altLang="zh-CN" sz="2800" dirty="0">
                  <a:solidFill>
                    <a:schemeClr val="bg1"/>
                  </a:solidFill>
                </a:rPr>
                <a:t>R</a:t>
              </a:r>
              <a:r>
                <a:rPr lang="en-US" altLang="zh-CN" sz="2800" baseline="-25000" dirty="0">
                  <a:solidFill>
                    <a:schemeClr val="bg1"/>
                  </a:solidFill>
                </a:rPr>
                <a:t>1</a:t>
              </a:r>
              <a:endParaRPr lang="en-US" altLang="zh-CN" sz="2800" baseline="-25000" dirty="0">
                <a:solidFill>
                  <a:schemeClr val="bg1"/>
                </a:solidFill>
              </a:endParaRPr>
            </a:p>
          </p:txBody>
        </p:sp>
        <p:sp>
          <p:nvSpPr>
            <p:cNvPr id="13" name="Rectangle 22"/>
            <p:cNvSpPr>
              <a:spLocks noChangeArrowheads="1"/>
            </p:cNvSpPr>
            <p:nvPr/>
          </p:nvSpPr>
          <p:spPr bwMode="auto">
            <a:xfrm>
              <a:off x="3504" y="1488"/>
              <a:ext cx="384" cy="288"/>
            </a:xfrm>
            <a:prstGeom prst="rect">
              <a:avLst/>
            </a:prstGeom>
            <a:solidFill>
              <a:srgbClr val="FFC000"/>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E71101"/>
                </a:buClr>
                <a:buSzPct val="60000"/>
                <a:buFont typeface="Monotype Sorts" pitchFamily="2" charset="2"/>
                <a:buNone/>
              </a:pPr>
              <a:r>
                <a:rPr lang="en-US" altLang="zh-CN" sz="2800" dirty="0">
                  <a:solidFill>
                    <a:schemeClr val="bg1"/>
                  </a:solidFill>
                </a:rPr>
                <a:t>R</a:t>
              </a:r>
              <a:r>
                <a:rPr lang="en-US" altLang="zh-CN" sz="2800" baseline="-25000" dirty="0">
                  <a:solidFill>
                    <a:schemeClr val="bg1"/>
                  </a:solidFill>
                </a:rPr>
                <a:t>2</a:t>
              </a:r>
              <a:endParaRPr lang="en-US" altLang="zh-CN" sz="2800" baseline="-25000" dirty="0">
                <a:solidFill>
                  <a:schemeClr val="bg1"/>
                </a:solidFill>
              </a:endParaRPr>
            </a:p>
          </p:txBody>
        </p:sp>
        <p:sp>
          <p:nvSpPr>
            <p:cNvPr id="14" name="Line 26"/>
            <p:cNvSpPr>
              <a:spLocks noChangeShapeType="1"/>
            </p:cNvSpPr>
            <p:nvPr/>
          </p:nvSpPr>
          <p:spPr bwMode="auto">
            <a:xfrm flipV="1">
              <a:off x="2306" y="810"/>
              <a:ext cx="181" cy="136"/>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5" name="Line 27"/>
            <p:cNvSpPr>
              <a:spLocks noChangeShapeType="1"/>
            </p:cNvSpPr>
            <p:nvPr/>
          </p:nvSpPr>
          <p:spPr bwMode="auto">
            <a:xfrm>
              <a:off x="3530" y="1082"/>
              <a:ext cx="91" cy="227"/>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7" name="Line 28"/>
            <p:cNvSpPr>
              <a:spLocks noChangeShapeType="1"/>
            </p:cNvSpPr>
            <p:nvPr/>
          </p:nvSpPr>
          <p:spPr bwMode="auto">
            <a:xfrm flipH="1" flipV="1">
              <a:off x="2079" y="1989"/>
              <a:ext cx="181" cy="272"/>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8" name="Line 29"/>
            <p:cNvSpPr>
              <a:spLocks noChangeShapeType="1"/>
            </p:cNvSpPr>
            <p:nvPr/>
          </p:nvSpPr>
          <p:spPr bwMode="auto">
            <a:xfrm flipH="1">
              <a:off x="3258" y="2261"/>
              <a:ext cx="181" cy="136"/>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基本事实</a:t>
            </a:r>
            <a:endParaRPr lang="en-US" altLang="zh-CN" sz="2800" b="1" dirty="0">
              <a:solidFill>
                <a:schemeClr val="bg1"/>
              </a:solidFill>
            </a:endParaRPr>
          </a:p>
        </p:txBody>
      </p:sp>
      <p:sp>
        <p:nvSpPr>
          <p:cNvPr id="4" name="íSľïdé"/>
          <p:cNvSpPr/>
          <p:nvPr/>
        </p:nvSpPr>
        <p:spPr>
          <a:xfrm>
            <a:off x="1748177" y="171146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8530542" y="234331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544937" y="155218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 name="内容占位符 2"/>
          <p:cNvSpPr txBox="1"/>
          <p:nvPr/>
        </p:nvSpPr>
        <p:spPr>
          <a:xfrm>
            <a:off x="7537450" y="3021685"/>
            <a:ext cx="3889159"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zh-CN" altLang="en-US" sz="2400" dirty="0">
                <a:solidFill>
                  <a:srgbClr val="FF0000"/>
                </a:solidFill>
                <a:latin typeface="+mn-ea"/>
              </a:rPr>
              <a:t>如果图有环</a:t>
            </a:r>
            <a:r>
              <a:rPr lang="zh-CN" altLang="en-US" sz="2400" dirty="0">
                <a:latin typeface="+mn-ea"/>
              </a:rPr>
              <a:t>，那么：</a:t>
            </a:r>
            <a:endParaRPr lang="zh-CN" altLang="en-US" sz="2400" dirty="0">
              <a:latin typeface="+mn-ea"/>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如果每一种资源类型只有一个实例，那么死锁发生；</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如果一种资源类型有多个实例，那么可能死锁。</a:t>
            </a:r>
            <a:endParaRPr lang="zh-CN" altLang="en-US" sz="2400" dirty="0">
              <a:solidFill>
                <a:schemeClr val="tx1">
                  <a:lumMod val="65000"/>
                  <a:lumOff val="35000"/>
                </a:schemeClr>
              </a:solidFill>
            </a:endParaRPr>
          </a:p>
        </p:txBody>
      </p:sp>
      <p:sp>
        <p:nvSpPr>
          <p:cNvPr id="9" name="矩形 8"/>
          <p:cNvSpPr/>
          <p:nvPr/>
        </p:nvSpPr>
        <p:spPr>
          <a:xfrm>
            <a:off x="893709" y="2462918"/>
            <a:ext cx="2809328" cy="1434083"/>
          </a:xfrm>
          <a:prstGeom prst="rect">
            <a:avLst/>
          </a:prstGeom>
        </p:spPr>
        <p:txBody>
          <a:bodyPr wrap="square">
            <a:noAutofit/>
          </a:bodyPr>
          <a:lstStyle/>
          <a:p>
            <a:pPr>
              <a:lnSpc>
                <a:spcPct val="123000"/>
              </a:lnSpc>
              <a:spcBef>
                <a:spcPts val="600"/>
              </a:spcBef>
              <a:spcAft>
                <a:spcPts val="600"/>
              </a:spcAft>
            </a:pPr>
            <a:r>
              <a:rPr lang="zh-CN" altLang="en-US" sz="2400" dirty="0">
                <a:solidFill>
                  <a:srgbClr val="FF0000"/>
                </a:solidFill>
                <a:latin typeface="+mn-ea"/>
              </a:rPr>
              <a:t>如果图没有环</a:t>
            </a:r>
            <a:r>
              <a:rPr lang="zh-CN" altLang="en-US" sz="2400" dirty="0">
                <a:latin typeface="+mn-ea"/>
              </a:rPr>
              <a:t>，那么肯定不会有死锁！</a:t>
            </a:r>
            <a:endParaRPr lang="zh-CN" altLang="en-US" sz="2400" dirty="0">
              <a:latin typeface="+mn-e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11275" y="1844675"/>
            <a:ext cx="9421495" cy="3046095"/>
          </a:xfrm>
          <a:prstGeom prst="rect">
            <a:avLst/>
          </a:prstGeom>
        </p:spPr>
        <p:txBody>
          <a:bodyPr wrap="square">
            <a:spAutoFit/>
          </a:bodyPr>
          <a:lstStyle/>
          <a:p>
            <a:pPr marL="266700" indent="-266700" algn="just"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系统中有</a:t>
            </a:r>
            <a:r>
              <a:rPr lang="en-US" altLang="zh-CN" sz="24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个不同的临界资源</a:t>
            </a:r>
            <a:r>
              <a:rPr lang="en-US" altLang="zh-CN" sz="2400">
                <a:latin typeface="宋体" panose="02010600030101010101" pitchFamily="2" charset="-122"/>
                <a:ea typeface="宋体" panose="02010600030101010101" pitchFamily="2" charset="-122"/>
              </a:rPr>
              <a:t>R1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R2</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R3</a:t>
            </a:r>
            <a:r>
              <a:rPr lang="zh-CN" altLang="en-US" sz="2400">
                <a:latin typeface="宋体" panose="02010600030101010101" pitchFamily="2" charset="-122"/>
                <a:ea typeface="宋体" panose="02010600030101010101" pitchFamily="2" charset="-122"/>
              </a:rPr>
              <a:t>，被</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个进程</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p4</a:t>
            </a:r>
            <a:r>
              <a:rPr lang="zh-CN" altLang="en-US" sz="2400">
                <a:latin typeface="宋体" panose="02010600030101010101" pitchFamily="2" charset="-122"/>
                <a:ea typeface="宋体" panose="02010600030101010101" pitchFamily="2" charset="-122"/>
              </a:rPr>
              <a:t>共享。各进程对资源的需求：</a:t>
            </a:r>
            <a:r>
              <a:rPr lang="en-US" altLang="zh-CN" sz="2400">
                <a:latin typeface="宋体" panose="02010600030101010101" pitchFamily="2" charset="-122"/>
                <a:ea typeface="宋体" panose="02010600030101010101" pitchFamily="2" charset="-122"/>
              </a:rPr>
              <a:t>p1</a:t>
            </a:r>
            <a:r>
              <a:rPr lang="zh-CN" altLang="en-US" sz="2400">
                <a:latin typeface="宋体" panose="02010600030101010101" pitchFamily="2" charset="-122"/>
                <a:ea typeface="宋体" panose="02010600030101010101" pitchFamily="2" charset="-122"/>
              </a:rPr>
              <a:t>申请</a:t>
            </a:r>
            <a:r>
              <a:rPr lang="en-US" altLang="zh-CN" sz="2400">
                <a:latin typeface="宋体" panose="02010600030101010101" pitchFamily="2" charset="-122"/>
                <a:ea typeface="宋体" panose="02010600030101010101" pitchFamily="2" charset="-122"/>
              </a:rPr>
              <a:t>R1</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R2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p2</a:t>
            </a:r>
            <a:r>
              <a:rPr lang="zh-CN" altLang="en-US" sz="2400">
                <a:latin typeface="宋体" panose="02010600030101010101" pitchFamily="2" charset="-122"/>
                <a:ea typeface="宋体" panose="02010600030101010101" pitchFamily="2" charset="-122"/>
              </a:rPr>
              <a:t>申请</a:t>
            </a:r>
            <a:r>
              <a:rPr lang="en-US" altLang="zh-CN" sz="2400">
                <a:latin typeface="宋体" panose="02010600030101010101" pitchFamily="2" charset="-122"/>
                <a:ea typeface="宋体" panose="02010600030101010101" pitchFamily="2" charset="-122"/>
              </a:rPr>
              <a:t>R2</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R3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p3</a:t>
            </a:r>
            <a:r>
              <a:rPr lang="zh-CN" altLang="en-US" sz="2400">
                <a:latin typeface="宋体" panose="02010600030101010101" pitchFamily="2" charset="-122"/>
                <a:ea typeface="宋体" panose="02010600030101010101" pitchFamily="2" charset="-122"/>
              </a:rPr>
              <a:t>申请</a:t>
            </a:r>
            <a:r>
              <a:rPr lang="en-US" altLang="zh-CN" sz="2400">
                <a:latin typeface="宋体" panose="02010600030101010101" pitchFamily="2" charset="-122"/>
                <a:ea typeface="宋体" panose="02010600030101010101" pitchFamily="2" charset="-122"/>
              </a:rPr>
              <a:t>R1</a:t>
            </a:r>
            <a:r>
              <a:rPr lang="zh-CN" altLang="en-US" sz="2400">
                <a:latin typeface="宋体" panose="02010600030101010101" pitchFamily="2" charset="-122"/>
                <a:ea typeface="宋体" panose="02010600030101010101" pitchFamily="2" charset="-122"/>
              </a:rPr>
              <a:t>和</a:t>
            </a:r>
            <a:r>
              <a:rPr lang="en-US" altLang="zh-CN" sz="2400">
                <a:latin typeface="宋体" panose="02010600030101010101" pitchFamily="2" charset="-122"/>
                <a:ea typeface="宋体" panose="02010600030101010101" pitchFamily="2" charset="-122"/>
              </a:rPr>
              <a:t>R3</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p4</a:t>
            </a:r>
            <a:r>
              <a:rPr lang="zh-CN" altLang="en-US" sz="2400">
                <a:latin typeface="宋体" panose="02010600030101010101" pitchFamily="2" charset="-122"/>
                <a:ea typeface="宋体" panose="02010600030101010101" pitchFamily="2" charset="-122"/>
              </a:rPr>
              <a:t>申请</a:t>
            </a:r>
            <a:r>
              <a:rPr lang="en-US" altLang="zh-CN" sz="2400">
                <a:latin typeface="宋体" panose="02010600030101010101" pitchFamily="2" charset="-122"/>
                <a:ea typeface="宋体" panose="02010600030101010101" pitchFamily="2" charset="-122"/>
              </a:rPr>
              <a:t>R2</a:t>
            </a:r>
            <a:r>
              <a:rPr lang="zh-CN" altLang="en-US" sz="2400">
                <a:latin typeface="宋体" panose="02010600030101010101" pitchFamily="2" charset="-122"/>
                <a:ea typeface="宋体" panose="02010600030101010101" pitchFamily="2" charset="-122"/>
              </a:rPr>
              <a:t>。若系统出现死锁，则处于死锁状态的进程数至少是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2016</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A.1</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B.2</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en-US" altLang="zh-CN" sz="2400">
                <a:latin typeface="宋体" panose="02010600030101010101" pitchFamily="2" charset="-122"/>
                <a:ea typeface="宋体" panose="02010600030101010101" pitchFamily="2" charset="-122"/>
              </a:rPr>
              <a:t>.3</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D.4</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latin typeface="+mj-ea"/>
              </a:rPr>
              <a:t>3.3 </a:t>
            </a:r>
            <a:r>
              <a:rPr lang="zh-CN" altLang="en-US" sz="2400" dirty="0">
                <a:latin typeface="+mj-ea"/>
              </a:rPr>
              <a:t>实时调度</a:t>
            </a:r>
            <a:endParaRPr lang="en-US" altLang="zh-CN" sz="2400" dirty="0">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latin typeface="+mj-ea"/>
              </a:rPr>
              <a:t>3.4 Linux</a:t>
            </a:r>
            <a:r>
              <a:rPr lang="zh-CN" altLang="en-US" sz="2400" dirty="0">
                <a:latin typeface="+mj-ea"/>
              </a:rPr>
              <a:t>进程调度</a:t>
            </a:r>
            <a:endParaRPr lang="en-US" altLang="zh-CN" sz="2400" dirty="0">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461665"/>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b="1" dirty="0">
                <a:solidFill>
                  <a:srgbClr val="0000FF"/>
                </a:solidFill>
                <a:latin typeface="+mj-ea"/>
              </a:rPr>
              <a:t>3.8</a:t>
            </a:r>
            <a:r>
              <a:rPr lang="en-US" altLang="zh-CN" sz="2400" dirty="0">
                <a:latin typeface="+mj-ea"/>
              </a:rPr>
              <a:t> </a:t>
            </a:r>
            <a:r>
              <a:rPr lang="zh-CN" altLang="en-US" sz="2400" b="1" dirty="0">
                <a:solidFill>
                  <a:srgbClr val="0000FF"/>
                </a:solidFill>
                <a:latin typeface="+mj-ea"/>
              </a:rPr>
              <a:t>死锁的检测与解除</a:t>
            </a:r>
            <a:endParaRPr lang="zh-CN" altLang="en-US" sz="2400" b="1" dirty="0">
              <a:solidFill>
                <a:srgbClr val="0000FF"/>
              </a:solidFill>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1942" y="1712962"/>
            <a:ext cx="11030051" cy="1091938"/>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当系统为进程分配资源时，若未采取任何限制性措施，则系统必须提供检测和解除死锁的手段。为此，</a:t>
            </a:r>
            <a:r>
              <a:rPr lang="zh-CN" altLang="en-US" sz="2400" dirty="0">
                <a:solidFill>
                  <a:srgbClr val="FF0000"/>
                </a:solidFill>
                <a:latin typeface="+mn-ea"/>
              </a:rPr>
              <a:t>系统必须：</a:t>
            </a:r>
            <a:endParaRPr lang="zh-CN" altLang="en-US" sz="2400" dirty="0">
              <a:solidFill>
                <a:srgbClr val="FF0000"/>
              </a:solidFill>
              <a:latin typeface="+mn-ea"/>
            </a:endParaRPr>
          </a:p>
        </p:txBody>
      </p:sp>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死锁检测和解除</a:t>
            </a:r>
            <a:endParaRPr lang="en-US" altLang="zh-CN" sz="2800" b="1" dirty="0">
              <a:solidFill>
                <a:schemeClr val="bg1"/>
              </a:solidFill>
            </a:endParaRPr>
          </a:p>
        </p:txBody>
      </p:sp>
      <p:sp>
        <p:nvSpPr>
          <p:cNvPr id="4" name="iśḷíḑe"/>
          <p:cNvSpPr/>
          <p:nvPr/>
        </p:nvSpPr>
        <p:spPr>
          <a:xfrm>
            <a:off x="1006245" y="2986340"/>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5" name="ïś1ïḑè"/>
          <p:cNvSpPr/>
          <p:nvPr/>
        </p:nvSpPr>
        <p:spPr>
          <a:xfrm>
            <a:off x="1006245" y="4273850"/>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6" name="矩形 5"/>
          <p:cNvSpPr/>
          <p:nvPr/>
        </p:nvSpPr>
        <p:spPr>
          <a:xfrm>
            <a:off x="1621163" y="3100184"/>
            <a:ext cx="9688990" cy="605175"/>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保存有关资源的请求和分配信息；</a:t>
            </a:r>
            <a:endParaRPr lang="zh-CN" altLang="en-US" sz="2400" dirty="0">
              <a:latin typeface="+mn-ea"/>
            </a:endParaRPr>
          </a:p>
        </p:txBody>
      </p:sp>
      <p:sp>
        <p:nvSpPr>
          <p:cNvPr id="7" name="矩形 6"/>
          <p:cNvSpPr/>
          <p:nvPr/>
        </p:nvSpPr>
        <p:spPr>
          <a:xfrm>
            <a:off x="1621163" y="4358311"/>
            <a:ext cx="9688990" cy="605175"/>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提供一种算法，以利用这些信息来检测系统是否已进入死锁状态。</a:t>
            </a:r>
            <a:endParaRPr lang="zh-CN" altLang="en-US" sz="2400" dirty="0">
              <a:latin typeface="+mn-ea"/>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41985"/>
          <p:cNvSpPr>
            <a:spLocks noGrp="1"/>
          </p:cNvSpPr>
          <p:nvPr>
            <p:ph type="title"/>
          </p:nvPr>
        </p:nvSpPr>
        <p:spPr>
          <a:xfrm>
            <a:off x="669289" y="1"/>
            <a:ext cx="10850563" cy="1028699"/>
          </a:xfrm>
        </p:spPr>
        <p:txBody>
          <a:bodyPr vert="horz" wrap="square" lIns="91440" tIns="45720" rIns="91440" bIns="45720" anchor="b" anchorCtr="0"/>
          <a:lstStyle/>
          <a:p>
            <a:pPr eaLnBrk="1" hangingPunct="1"/>
            <a:r>
              <a:rPr lang="en-US" altLang="zh-CN" sz="3400" b="1" dirty="0"/>
              <a:t> </a:t>
            </a:r>
            <a:r>
              <a:rPr lang="zh-CN" altLang="en-US" sz="3400" b="1" dirty="0">
                <a:solidFill>
                  <a:schemeClr val="bg1"/>
                </a:solidFill>
              </a:rPr>
              <a:t>对单体资源类的死锁检测</a:t>
            </a:r>
            <a:endParaRPr lang="zh-CN" altLang="en-US" sz="3400" b="1" dirty="0">
              <a:solidFill>
                <a:schemeClr val="bg1"/>
              </a:solidFill>
            </a:endParaRPr>
          </a:p>
        </p:txBody>
      </p:sp>
      <p:sp>
        <p:nvSpPr>
          <p:cNvPr id="41987" name="内容占位符 41986"/>
          <p:cNvSpPr>
            <a:spLocks noGrp="1"/>
          </p:cNvSpPr>
          <p:nvPr>
            <p:ph idx="1"/>
          </p:nvPr>
        </p:nvSpPr>
        <p:spPr>
          <a:xfrm>
            <a:off x="1784985" y="1219200"/>
            <a:ext cx="8229600" cy="1524000"/>
          </a:xfrm>
        </p:spPr>
        <p:txBody>
          <a:bodyPr vert="horz" wrap="square" lIns="91440" tIns="45720" rIns="91440" bIns="45720" anchor="t" anchorCtr="0">
            <a:normAutofit lnSpcReduction="10000"/>
          </a:bodyPr>
          <a:lstStyle/>
          <a:p>
            <a:pPr eaLnBrk="1" hangingPunct="1">
              <a:buNone/>
            </a:pPr>
            <a:r>
              <a:rPr lang="zh-CN" altLang="en-US" sz="3400" b="1" dirty="0">
                <a:solidFill>
                  <a:schemeClr val="accent2"/>
                </a:solidFill>
              </a:rPr>
              <a:t>等待图</a:t>
            </a:r>
            <a:r>
              <a:rPr lang="zh-CN" altLang="en-US" sz="3400" dirty="0"/>
              <a:t>。</a:t>
            </a:r>
            <a:r>
              <a:rPr lang="zh-CN" altLang="en-US" sz="2600" dirty="0"/>
              <a:t>它是从资源分配图中去掉表示资源类的节点，且把相应边折叠在一起得到的。</a:t>
            </a:r>
            <a:endParaRPr lang="zh-CN" altLang="en-US" sz="2600" dirty="0"/>
          </a:p>
          <a:p>
            <a:pPr eaLnBrk="1" hangingPunct="1"/>
            <a:r>
              <a:rPr lang="zh-CN" altLang="en-US" sz="2600" dirty="0"/>
              <a:t>当且仅当等待图中有</a:t>
            </a:r>
            <a:r>
              <a:rPr lang="zh-CN" altLang="en-US" sz="2600" dirty="0">
                <a:solidFill>
                  <a:srgbClr val="FF0000"/>
                </a:solidFill>
              </a:rPr>
              <a:t>环路</a:t>
            </a:r>
            <a:r>
              <a:rPr lang="zh-CN" altLang="en-US" sz="2600" dirty="0"/>
              <a:t>，系统存在死锁。</a:t>
            </a:r>
            <a:endParaRPr lang="zh-CN" altLang="en-US" sz="2600" dirty="0"/>
          </a:p>
        </p:txBody>
      </p:sp>
      <p:pic>
        <p:nvPicPr>
          <p:cNvPr id="58372" name="图片 41987" descr="3a8"/>
          <p:cNvPicPr>
            <a:picLocks noChangeAspect="1"/>
          </p:cNvPicPr>
          <p:nvPr/>
        </p:nvPicPr>
        <p:blipFill>
          <a:blip r:embed="rId1"/>
          <a:stretch>
            <a:fillRect/>
          </a:stretch>
        </p:blipFill>
        <p:spPr>
          <a:xfrm>
            <a:off x="1992313" y="2529523"/>
            <a:ext cx="8280400" cy="3240087"/>
          </a:xfrm>
          <a:prstGeom prst="rect">
            <a:avLst/>
          </a:prstGeom>
          <a:noFill/>
          <a:ln w="9525">
            <a:noFill/>
          </a:ln>
        </p:spPr>
      </p:pic>
      <p:sp>
        <p:nvSpPr>
          <p:cNvPr id="58373" name="文本框 41988"/>
          <p:cNvSpPr txBox="1"/>
          <p:nvPr/>
        </p:nvSpPr>
        <p:spPr>
          <a:xfrm>
            <a:off x="3724593" y="6105843"/>
            <a:ext cx="5976937" cy="368300"/>
          </a:xfrm>
          <a:prstGeom prst="rect">
            <a:avLst/>
          </a:prstGeom>
          <a:noFill/>
          <a:ln w="9525">
            <a:noFill/>
          </a:ln>
        </p:spPr>
        <p:txBody>
          <a:bodyPr>
            <a:spAutoFit/>
          </a:bodyPr>
          <a:lstStyle/>
          <a:p>
            <a:pPr eaLnBrk="1" hangingPunct="1">
              <a:spcBef>
                <a:spcPct val="50000"/>
              </a:spcBef>
            </a:pPr>
            <a:r>
              <a:rPr lang="zh-CN" altLang="en-US" dirty="0">
                <a:latin typeface="Tahoma" panose="020B0604030504040204" pitchFamily="2" charset="0"/>
              </a:rPr>
              <a:t>图</a:t>
            </a:r>
            <a:r>
              <a:rPr lang="en-US" altLang="zh-CN" dirty="0">
                <a:latin typeface="Tahoma" panose="020B0604030504040204" pitchFamily="2" charset="0"/>
              </a:rPr>
              <a:t>  </a:t>
            </a:r>
            <a:r>
              <a:rPr lang="zh-CN" altLang="en-US" dirty="0">
                <a:latin typeface="Tahoma" panose="020B0604030504040204" pitchFamily="2" charset="0"/>
              </a:rPr>
              <a:t>资源分配图和对应的等待图</a:t>
            </a:r>
            <a:endParaRPr lang="zh-CN" altLang="en-US" dirty="0">
              <a:latin typeface="Tahoma" panose="020B06040305040402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iterate type="lt">
                                    <p:tmAbs val="0"/>
                                  </p:iterate>
                                  <p:childTnLst>
                                    <p:set>
                                      <p:cBhvr>
                                        <p:cTn id="6" dur="1" fill="hold">
                                          <p:stCondLst>
                                            <p:cond delay="0"/>
                                          </p:stCondLst>
                                        </p:cTn>
                                        <p:tgtEl>
                                          <p:spTgt spid="41987">
                                            <p:txEl>
                                              <p:pRg st="1" end="1"/>
                                            </p:txEl>
                                          </p:spTgt>
                                        </p:tgtEl>
                                        <p:attrNameLst>
                                          <p:attrName>style.visibility</p:attrName>
                                        </p:attrNameLst>
                                      </p:cBhvr>
                                      <p:to>
                                        <p:strVal val="visible"/>
                                      </p:to>
                                    </p:set>
                                    <p:animEffect transition="in" filter="dissolve">
                                      <p:cBhvr>
                                        <p:cTn id="7" dur="500"/>
                                        <p:tgtEl>
                                          <p:spTgt spid="419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死锁定理</a:t>
            </a:r>
            <a:endParaRPr lang="en-US" altLang="zh-CN" sz="2800" b="1" dirty="0">
              <a:solidFill>
                <a:schemeClr val="bg1"/>
              </a:solidFill>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270105"/>
            <a:ext cx="11531600" cy="5008286"/>
            <a:chOff x="660400" y="1128057"/>
            <a:chExt cx="11531600" cy="5008286"/>
          </a:xfrm>
        </p:grpSpPr>
        <p:sp>
          <p:nvSpPr>
            <p:cNvPr id="5"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ṡļiḓe"/>
            <p:cNvGrpSpPr/>
            <p:nvPr/>
          </p:nvGrpSpPr>
          <p:grpSpPr>
            <a:xfrm>
              <a:off x="669278" y="1338038"/>
              <a:ext cx="5860530" cy="2320660"/>
              <a:chOff x="669278" y="1338038"/>
              <a:chExt cx="5860530" cy="2320660"/>
            </a:xfrm>
          </p:grpSpPr>
          <p:sp>
            <p:nvSpPr>
              <p:cNvPr id="20" name="îṧľîḋé"/>
              <p:cNvSpPr txBox="1"/>
              <p:nvPr/>
            </p:nvSpPr>
            <p:spPr>
              <a:xfrm>
                <a:off x="1539875" y="1338038"/>
                <a:ext cx="4989933" cy="232066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对于较复杂的资源分配图，可能有多个既未阻塞、又非孤立的进程结点，不同的简化顺序，是否会得到不同的简化图？有关文献已经证明，</a:t>
                </a:r>
                <a:r>
                  <a:rPr lang="zh-CN" altLang="en-US" sz="2400" dirty="0">
                    <a:solidFill>
                      <a:srgbClr val="FF0000"/>
                    </a:solidFill>
                  </a:rPr>
                  <a:t>所有的简化顺序，都将得到相同的不可简化图。</a:t>
                </a:r>
                <a:endParaRPr lang="zh-CN" altLang="en-US" sz="2400" dirty="0">
                  <a:solidFill>
                    <a:srgbClr val="FF0000"/>
                  </a:solidFill>
                </a:endParaRPr>
              </a:p>
            </p:txBody>
          </p:sp>
          <p:grpSp>
            <p:nvGrpSpPr>
              <p:cNvPr id="17" name="ïS1íḋé"/>
              <p:cNvGrpSpPr/>
              <p:nvPr/>
            </p:nvGrpSpPr>
            <p:grpSpPr>
              <a:xfrm>
                <a:off x="669278" y="1338038"/>
                <a:ext cx="733394" cy="733394"/>
                <a:chOff x="669278" y="1338038"/>
                <a:chExt cx="733394" cy="733394"/>
              </a:xfrm>
            </p:grpSpPr>
            <p:sp>
              <p:nvSpPr>
                <p:cNvPr id="18" name="islîḋe"/>
                <p:cNvSpPr/>
                <p:nvPr/>
              </p:nvSpPr>
              <p:spPr>
                <a:xfrm>
                  <a:off x="669278" y="1338038"/>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806481" y="1522909"/>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4280999"/>
              <a:ext cx="5869408" cy="1855343"/>
              <a:chOff x="660400" y="1889655"/>
              <a:chExt cx="5869408" cy="1855343"/>
            </a:xfrm>
          </p:grpSpPr>
          <p:sp>
            <p:nvSpPr>
              <p:cNvPr id="13" name="ïšļíďè"/>
              <p:cNvSpPr txBox="1"/>
              <p:nvPr/>
            </p:nvSpPr>
            <p:spPr>
              <a:xfrm>
                <a:off x="1539875" y="1889655"/>
                <a:ext cx="4989933" cy="185534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en-US" altLang="zh-CN" sz="2400" dirty="0"/>
                  <a:t>S</a:t>
                </a:r>
                <a:r>
                  <a:rPr lang="zh-CN" altLang="en-US" sz="2400" dirty="0"/>
                  <a:t>为死锁状态的充分条件是：</a:t>
                </a:r>
                <a:r>
                  <a:rPr lang="zh-CN" altLang="en-US" sz="2400" u="sng" dirty="0"/>
                  <a:t>当且仅当</a:t>
                </a:r>
                <a:r>
                  <a:rPr lang="en-US" altLang="zh-CN" sz="2400" u="sng" dirty="0"/>
                  <a:t>S</a:t>
                </a:r>
                <a:r>
                  <a:rPr lang="zh-CN" altLang="en-US" sz="2400" u="sng" dirty="0"/>
                  <a:t>状态的资源分配图是不可完全简化的。该充分条件称为</a:t>
                </a:r>
                <a:r>
                  <a:rPr lang="zh-CN" altLang="en-US" sz="2400" u="sng" dirty="0">
                    <a:solidFill>
                      <a:srgbClr val="0000FF"/>
                    </a:solidFill>
                  </a:rPr>
                  <a:t>死锁定理</a:t>
                </a:r>
                <a:r>
                  <a:rPr lang="zh-CN" altLang="en-US" sz="2400" u="sng" dirty="0"/>
                  <a:t>。</a:t>
                </a:r>
                <a:endParaRPr lang="zh-CN" altLang="en-US" sz="2400" u="sng" dirty="0"/>
              </a:p>
            </p:txBody>
          </p:sp>
          <p:grpSp>
            <p:nvGrpSpPr>
              <p:cNvPr id="10" name="ïŝľídè"/>
              <p:cNvGrpSpPr/>
              <p:nvPr/>
            </p:nvGrpSpPr>
            <p:grpSpPr>
              <a:xfrm>
                <a:off x="660400" y="2242326"/>
                <a:ext cx="733394" cy="733394"/>
                <a:chOff x="660400" y="2242326"/>
                <a:chExt cx="733394" cy="733394"/>
              </a:xfrm>
            </p:grpSpPr>
            <p:sp>
              <p:nvSpPr>
                <p:cNvPr id="11" name="ïṡľïde"/>
                <p:cNvSpPr/>
                <p:nvPr/>
              </p:nvSpPr>
              <p:spPr>
                <a:xfrm>
                  <a:off x="660400" y="2242326"/>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2" name="ïšliḍe"/>
                <p:cNvSpPr/>
                <p:nvPr/>
              </p:nvSpPr>
              <p:spPr>
                <a:xfrm>
                  <a:off x="806481" y="245383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8" name="直接连接符 7"/>
            <p:cNvCxnSpPr/>
            <p:nvPr/>
          </p:nvCxnSpPr>
          <p:spPr>
            <a:xfrm>
              <a:off x="939646" y="4173738"/>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740"/>
            <a:ext cx="10171430" cy="521970"/>
          </a:xfrm>
          <a:prstGeom prst="rect">
            <a:avLst/>
          </a:prstGeom>
        </p:spPr>
        <p:txBody>
          <a:bodyPr wrap="square">
            <a:spAutoFit/>
          </a:bodyPr>
          <a:lstStyle/>
          <a:p>
            <a:r>
              <a:rPr lang="zh-CN" altLang="en-US" sz="2800" b="1" dirty="0">
                <a:solidFill>
                  <a:schemeClr val="bg1"/>
                </a:solidFill>
                <a:sym typeface="+mn-ea"/>
              </a:rPr>
              <a:t>多体类资源死锁检测算法：</a:t>
            </a:r>
            <a:r>
              <a:rPr lang="zh-CN" altLang="en-US" sz="2800" b="1" dirty="0">
                <a:solidFill>
                  <a:srgbClr val="FF0000"/>
                </a:solidFill>
                <a:sym typeface="+mn-ea"/>
              </a:rPr>
              <a:t>类银行家算法</a:t>
            </a:r>
            <a:endParaRPr lang="zh-CN" altLang="en-US" sz="2800" b="1" dirty="0">
              <a:solidFill>
                <a:srgbClr val="FF0000"/>
              </a:solidFill>
              <a:sym typeface="+mn-ea"/>
            </a:endParaRPr>
          </a:p>
        </p:txBody>
      </p:sp>
      <p:sp>
        <p:nvSpPr>
          <p:cNvPr id="5" name="iśḷíḑe"/>
          <p:cNvSpPr/>
          <p:nvPr/>
        </p:nvSpPr>
        <p:spPr>
          <a:xfrm>
            <a:off x="784301" y="1148622"/>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6" name="ïś1ïḑè"/>
          <p:cNvSpPr/>
          <p:nvPr/>
        </p:nvSpPr>
        <p:spPr>
          <a:xfrm>
            <a:off x="784301" y="3179670"/>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7" name="iśḷíḑe"/>
          <p:cNvSpPr/>
          <p:nvPr/>
        </p:nvSpPr>
        <p:spPr>
          <a:xfrm>
            <a:off x="784301" y="530832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8" name="ïś1ïḑè"/>
          <p:cNvSpPr/>
          <p:nvPr/>
        </p:nvSpPr>
        <p:spPr>
          <a:xfrm>
            <a:off x="6643563" y="3930352"/>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10" name="内容占位符 2"/>
          <p:cNvSpPr txBox="1"/>
          <p:nvPr/>
        </p:nvSpPr>
        <p:spPr>
          <a:xfrm>
            <a:off x="1634122" y="1191348"/>
            <a:ext cx="8406523" cy="55879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defRPr/>
            </a:pPr>
            <a:r>
              <a:rPr lang="zh-CN" altLang="en-US" sz="2400" dirty="0">
                <a:sym typeface="Wingdings" panose="05000000000000000000" pitchFamily="2" charset="2"/>
              </a:rPr>
              <a:t>让</a:t>
            </a:r>
            <a:r>
              <a:rPr lang="en-US" altLang="zh-CN" sz="2400" dirty="0">
                <a:sym typeface="Wingdings" panose="05000000000000000000" pitchFamily="2" charset="2"/>
              </a:rPr>
              <a:t>Work</a:t>
            </a:r>
            <a:r>
              <a:rPr lang="zh-CN" altLang="en-US" sz="2400" dirty="0">
                <a:sym typeface="Wingdings" panose="05000000000000000000" pitchFamily="2" charset="2"/>
              </a:rPr>
              <a:t>和</a:t>
            </a:r>
            <a:r>
              <a:rPr lang="en-US" altLang="zh-CN" sz="2400" dirty="0">
                <a:sym typeface="Wingdings" panose="05000000000000000000" pitchFamily="2" charset="2"/>
              </a:rPr>
              <a:t>Finish</a:t>
            </a:r>
            <a:r>
              <a:rPr lang="zh-CN" altLang="en-US" sz="2400" dirty="0">
                <a:sym typeface="Wingdings" panose="05000000000000000000" pitchFamily="2" charset="2"/>
              </a:rPr>
              <a:t>作为长度为</a:t>
            </a:r>
            <a:r>
              <a:rPr lang="en-US" altLang="zh-CN" sz="2400" dirty="0">
                <a:sym typeface="Wingdings" panose="05000000000000000000" pitchFamily="2" charset="2"/>
              </a:rPr>
              <a:t>m</a:t>
            </a:r>
            <a:r>
              <a:rPr lang="zh-CN" altLang="en-US" sz="2400" dirty="0">
                <a:sym typeface="Wingdings" panose="05000000000000000000" pitchFamily="2" charset="2"/>
              </a:rPr>
              <a:t>和</a:t>
            </a:r>
            <a:r>
              <a:rPr lang="en-US" altLang="zh-CN" sz="2400" dirty="0">
                <a:sym typeface="Wingdings" panose="05000000000000000000" pitchFamily="2" charset="2"/>
              </a:rPr>
              <a:t>n</a:t>
            </a:r>
            <a:r>
              <a:rPr lang="zh-CN" altLang="en-US" sz="2400" dirty="0">
                <a:sym typeface="Wingdings" panose="05000000000000000000" pitchFamily="2" charset="2"/>
              </a:rPr>
              <a:t>的向量初始化</a:t>
            </a:r>
            <a:endParaRPr lang="zh-CN" altLang="en-US" sz="2400" dirty="0"/>
          </a:p>
          <a:p>
            <a:pPr marL="850900" lvl="1" indent="-393700">
              <a:lnSpc>
                <a:spcPct val="123000"/>
              </a:lnSpc>
              <a:buFont typeface="Monotype Sorts" pitchFamily="2" charset="2"/>
              <a:buNone/>
              <a:defRPr/>
            </a:pPr>
            <a:r>
              <a:rPr lang="zh-CN" altLang="zh-CN" sz="2400" dirty="0"/>
              <a:t>(</a:t>
            </a:r>
            <a:r>
              <a:rPr lang="en-US" altLang="zh-CN" sz="2400" dirty="0"/>
              <a:t>a) Work := Available</a:t>
            </a:r>
            <a:endParaRPr lang="en-US" altLang="zh-CN" sz="2400" dirty="0"/>
          </a:p>
          <a:p>
            <a:pPr marL="850900" lvl="1" indent="-393700">
              <a:lnSpc>
                <a:spcPct val="123000"/>
              </a:lnSpc>
              <a:buFont typeface="Monotype Sorts" pitchFamily="2" charset="2"/>
              <a:buNone/>
              <a:defRPr/>
            </a:pPr>
            <a:r>
              <a:rPr lang="en-US" altLang="zh-CN" sz="2400" dirty="0"/>
              <a:t>(b)	For </a:t>
            </a:r>
            <a:r>
              <a:rPr lang="en-US" altLang="zh-CN" sz="2400" dirty="0" err="1"/>
              <a:t>i</a:t>
            </a:r>
            <a:r>
              <a:rPr lang="en-US" altLang="zh-CN" sz="2400" dirty="0"/>
              <a:t> = 1,2, …, n, if </a:t>
            </a:r>
            <a:r>
              <a:rPr lang="en-US" altLang="zh-CN" sz="2400" dirty="0" err="1"/>
              <a:t>Allocation</a:t>
            </a:r>
            <a:r>
              <a:rPr lang="en-US" altLang="zh-CN" sz="2400" baseline="-25000" dirty="0" err="1"/>
              <a:t>i</a:t>
            </a:r>
            <a:r>
              <a:rPr lang="en-US" altLang="zh-CN" sz="2400" dirty="0"/>
              <a:t> </a:t>
            </a:r>
            <a:r>
              <a:rPr lang="en-US" altLang="zh-CN" sz="2400" dirty="0">
                <a:sym typeface="Symbol" panose="05050102010706020507" pitchFamily="18" charset="2"/>
              </a:rPr>
              <a:t> 0, then </a:t>
            </a:r>
            <a:br>
              <a:rPr lang="en-US" altLang="zh-CN" sz="2400" dirty="0">
                <a:sym typeface="Symbol" panose="05050102010706020507" pitchFamily="18" charset="2"/>
              </a:rPr>
            </a:br>
            <a:r>
              <a:rPr lang="en-US" altLang="zh-CN" sz="2400" dirty="0">
                <a:sym typeface="Symbol" panose="05050102010706020507" pitchFamily="18" charset="2"/>
              </a:rPr>
              <a:t>Finish[</a:t>
            </a:r>
            <a:r>
              <a:rPr lang="en-US" altLang="zh-CN" sz="2400" dirty="0" err="1">
                <a:sym typeface="Symbol" panose="05050102010706020507" pitchFamily="18" charset="2"/>
              </a:rPr>
              <a:t>i</a:t>
            </a:r>
            <a:r>
              <a:rPr lang="en-US" altLang="zh-CN" sz="2400" dirty="0">
                <a:sym typeface="Symbol" panose="05050102010706020507" pitchFamily="18" charset="2"/>
              </a:rPr>
              <a:t>] := </a:t>
            </a:r>
            <a:r>
              <a:rPr lang="en-US" altLang="zh-CN" sz="2400" dirty="0" err="1">
                <a:sym typeface="Symbol" panose="05050102010706020507" pitchFamily="18" charset="2"/>
              </a:rPr>
              <a:t>false;otherwise</a:t>
            </a:r>
            <a:r>
              <a:rPr lang="en-US" altLang="zh-CN" sz="2400" dirty="0">
                <a:sym typeface="Symbol" panose="05050102010706020507" pitchFamily="18" charset="2"/>
              </a:rPr>
              <a:t>, Finish[</a:t>
            </a:r>
            <a:r>
              <a:rPr lang="en-US" altLang="zh-CN" sz="2400" dirty="0" err="1">
                <a:sym typeface="Symbol" panose="05050102010706020507" pitchFamily="18" charset="2"/>
              </a:rPr>
              <a:t>i</a:t>
            </a:r>
            <a:r>
              <a:rPr lang="en-US" altLang="zh-CN" sz="2400" dirty="0">
                <a:sym typeface="Symbol" panose="05050102010706020507" pitchFamily="18" charset="2"/>
              </a:rPr>
              <a:t>] := true.</a:t>
            </a:r>
            <a:endParaRPr lang="en-US" altLang="zh-CN" sz="2400" dirty="0">
              <a:sym typeface="Symbol" panose="05050102010706020507" pitchFamily="18" charset="2"/>
            </a:endParaRPr>
          </a:p>
          <a:p>
            <a:pPr marL="0" indent="0">
              <a:lnSpc>
                <a:spcPct val="123000"/>
              </a:lnSpc>
              <a:buNone/>
              <a:defRPr/>
            </a:pPr>
            <a:r>
              <a:rPr lang="zh-CN" altLang="en-US" sz="2400" dirty="0">
                <a:sym typeface="Wingdings" panose="05000000000000000000" pitchFamily="2" charset="2"/>
              </a:rPr>
              <a:t>找到满足下列条件的下标</a:t>
            </a:r>
            <a:r>
              <a:rPr lang="en-US" altLang="zh-CN" sz="2400" dirty="0" err="1">
                <a:sym typeface="Wingdings" panose="05000000000000000000" pitchFamily="2" charset="2"/>
              </a:rPr>
              <a:t>i</a:t>
            </a:r>
            <a:endParaRPr lang="zh-CN" altLang="en-US" sz="2400" dirty="0"/>
          </a:p>
          <a:p>
            <a:pPr marL="850900" lvl="1" indent="-393700">
              <a:lnSpc>
                <a:spcPct val="123000"/>
              </a:lnSpc>
              <a:buFont typeface="Monotype Sorts" pitchFamily="2" charset="2"/>
              <a:buNone/>
              <a:defRPr/>
            </a:pPr>
            <a:r>
              <a:rPr lang="en-US" altLang="zh-CN" sz="2400" dirty="0"/>
              <a:t>(a)	Finish[</a:t>
            </a:r>
            <a:r>
              <a:rPr lang="en-US" altLang="zh-CN" sz="2400" dirty="0" err="1"/>
              <a:t>i</a:t>
            </a:r>
            <a:r>
              <a:rPr lang="en-US" altLang="zh-CN" sz="2400" dirty="0"/>
              <a:t>] = false</a:t>
            </a:r>
            <a:endParaRPr lang="en-US" altLang="zh-CN" sz="2400" dirty="0"/>
          </a:p>
          <a:p>
            <a:pPr marL="850900" lvl="1" indent="-393700">
              <a:lnSpc>
                <a:spcPct val="123000"/>
              </a:lnSpc>
              <a:buFont typeface="Monotype Sorts" pitchFamily="2" charset="2"/>
              <a:buNone/>
              <a:defRPr/>
            </a:pPr>
            <a:r>
              <a:rPr lang="en-US" altLang="zh-CN" sz="2400" dirty="0"/>
              <a:t>(b)	</a:t>
            </a:r>
            <a:r>
              <a:rPr lang="en-US" altLang="zh-CN" sz="2400" dirty="0" err="1"/>
              <a:t>Request</a:t>
            </a:r>
            <a:r>
              <a:rPr lang="en-US" altLang="zh-CN" sz="2400" baseline="-25000" dirty="0" err="1"/>
              <a:t>i</a:t>
            </a:r>
            <a:r>
              <a:rPr lang="en-US" altLang="zh-CN" sz="2400" dirty="0"/>
              <a:t> </a:t>
            </a:r>
            <a:r>
              <a:rPr lang="en-US" altLang="zh-CN" sz="2400" dirty="0">
                <a:sym typeface="Symbol" panose="05050102010706020507" pitchFamily="18" charset="2"/>
              </a:rPr>
              <a:t> Work</a:t>
            </a:r>
            <a:endParaRPr lang="en-US" altLang="zh-CN" sz="2400" dirty="0">
              <a:sym typeface="Symbol" panose="05050102010706020507" pitchFamily="18" charset="2"/>
            </a:endParaRPr>
          </a:p>
          <a:p>
            <a:pPr marL="850900" lvl="1" indent="-393700">
              <a:lnSpc>
                <a:spcPct val="123000"/>
              </a:lnSpc>
              <a:buFont typeface="Monotype Sorts" pitchFamily="2" charset="2"/>
              <a:buNone/>
              <a:defRPr/>
            </a:pPr>
            <a:r>
              <a:rPr lang="zh-CN" altLang="en-US" sz="2400" dirty="0">
                <a:sym typeface="Symbol" panose="05050102010706020507" pitchFamily="18" charset="2"/>
              </a:rPr>
              <a:t>如果没有这样的</a:t>
            </a:r>
            <a:r>
              <a:rPr lang="en-US" altLang="zh-CN" sz="2400" dirty="0" err="1">
                <a:sym typeface="Symbol" panose="05050102010706020507" pitchFamily="18" charset="2"/>
              </a:rPr>
              <a:t>i</a:t>
            </a:r>
            <a:r>
              <a:rPr lang="zh-CN" altLang="en-US" sz="2400" dirty="0">
                <a:sym typeface="Symbol" panose="05050102010706020507" pitchFamily="18" charset="2"/>
              </a:rPr>
              <a:t>存在，转</a:t>
            </a:r>
            <a:r>
              <a:rPr lang="zh-CN" altLang="zh-CN" sz="2400" dirty="0">
                <a:sym typeface="Symbol" panose="05050102010706020507" pitchFamily="18" charset="2"/>
              </a:rPr>
              <a:t>4</a:t>
            </a:r>
            <a:endParaRPr lang="zh-CN" altLang="en-US" sz="2400" dirty="0">
              <a:sym typeface="Symbol" panose="05050102010706020507" pitchFamily="18" charset="2"/>
            </a:endParaRPr>
          </a:p>
          <a:p>
            <a:pPr marL="0" indent="0">
              <a:lnSpc>
                <a:spcPct val="123000"/>
              </a:lnSpc>
              <a:buNone/>
              <a:defRPr/>
            </a:pPr>
            <a:r>
              <a:rPr lang="en-US" altLang="zh-CN" sz="2400" dirty="0"/>
              <a:t>Work := Work + </a:t>
            </a:r>
            <a:r>
              <a:rPr lang="en-US" altLang="zh-CN" sz="2400" dirty="0" err="1"/>
              <a:t>Allocation</a:t>
            </a:r>
            <a:r>
              <a:rPr lang="en-US" altLang="zh-CN" sz="2400" baseline="-25000" dirty="0" err="1"/>
              <a:t>i</a:t>
            </a:r>
            <a:br>
              <a:rPr lang="en-US" altLang="zh-CN" sz="2400" dirty="0"/>
            </a:br>
            <a:r>
              <a:rPr lang="en-US" altLang="zh-CN" sz="2400" dirty="0"/>
              <a:t>Finish[</a:t>
            </a:r>
            <a:r>
              <a:rPr lang="en-US" altLang="zh-CN" sz="2400" dirty="0" err="1"/>
              <a:t>i</a:t>
            </a:r>
            <a:r>
              <a:rPr lang="en-US" altLang="zh-CN" sz="2400" dirty="0"/>
              <a:t>] := true</a:t>
            </a:r>
            <a:br>
              <a:rPr lang="en-US" altLang="zh-CN" sz="2400" dirty="0"/>
            </a:br>
            <a:r>
              <a:rPr lang="zh-CN" altLang="en-US" sz="2400" dirty="0"/>
              <a:t>转 </a:t>
            </a:r>
            <a:r>
              <a:rPr lang="en-US" altLang="zh-CN" sz="2400" dirty="0"/>
              <a:t>2.</a:t>
            </a:r>
            <a:endParaRPr lang="zh-CN" altLang="en-US" sz="2400" dirty="0"/>
          </a:p>
        </p:txBody>
      </p:sp>
      <p:sp>
        <p:nvSpPr>
          <p:cNvPr id="11" name="内容占位符 2"/>
          <p:cNvSpPr txBox="1"/>
          <p:nvPr/>
        </p:nvSpPr>
        <p:spPr>
          <a:xfrm>
            <a:off x="7519387" y="3925913"/>
            <a:ext cx="4305936" cy="1740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defRPr/>
            </a:pPr>
            <a:r>
              <a:rPr lang="zh-CN" altLang="en-US" sz="2400" dirty="0"/>
              <a:t>如果有一些</a:t>
            </a:r>
            <a:r>
              <a:rPr lang="en-US" altLang="zh-CN" sz="2400" dirty="0" err="1"/>
              <a:t>i</a:t>
            </a:r>
            <a:r>
              <a:rPr lang="en-US" altLang="zh-CN" sz="2400" dirty="0"/>
              <a:t>, 1 </a:t>
            </a:r>
            <a:r>
              <a:rPr lang="en-US" altLang="zh-CN" sz="2400" dirty="0">
                <a:sym typeface="Symbol" panose="05050102010706020507" pitchFamily="18" charset="2"/>
              </a:rPr>
              <a:t> </a:t>
            </a:r>
            <a:r>
              <a:rPr lang="en-US" altLang="zh-CN" sz="2400" dirty="0" err="1">
                <a:sym typeface="Symbol" panose="05050102010706020507" pitchFamily="18" charset="2"/>
              </a:rPr>
              <a:t>i</a:t>
            </a:r>
            <a:r>
              <a:rPr lang="en-US" altLang="zh-CN" sz="2400" dirty="0">
                <a:sym typeface="Symbol" panose="05050102010706020507" pitchFamily="18" charset="2"/>
              </a:rPr>
              <a:t>   n ,</a:t>
            </a:r>
            <a:r>
              <a:rPr lang="zh-CN" altLang="en-US" sz="2400" dirty="0"/>
              <a:t> </a:t>
            </a:r>
            <a:r>
              <a:rPr lang="en-US" altLang="zh-CN" sz="2400" dirty="0"/>
              <a:t>Finish[</a:t>
            </a:r>
            <a:r>
              <a:rPr lang="en-US" altLang="zh-CN" sz="2400" dirty="0" err="1"/>
              <a:t>i</a:t>
            </a:r>
            <a:r>
              <a:rPr lang="en-US" altLang="zh-CN" sz="2400" dirty="0"/>
              <a:t>] = false, </a:t>
            </a:r>
            <a:r>
              <a:rPr lang="zh-CN" altLang="en-US" sz="2400" dirty="0"/>
              <a:t>则系统处在死锁状态。而且，</a:t>
            </a:r>
            <a:r>
              <a:rPr lang="zh-CN" altLang="en-US" sz="2400" dirty="0">
                <a:sym typeface="Symbol" panose="05050102010706020507" pitchFamily="18" charset="2"/>
              </a:rPr>
              <a:t> 如果 </a:t>
            </a:r>
            <a:r>
              <a:rPr lang="en-US" altLang="zh-CN" sz="2400" dirty="0">
                <a:sym typeface="Symbol" panose="05050102010706020507" pitchFamily="18" charset="2"/>
              </a:rPr>
              <a:t>Finish[</a:t>
            </a:r>
            <a:r>
              <a:rPr lang="en-US" altLang="zh-CN" sz="2400" dirty="0" err="1">
                <a:sym typeface="Symbol" panose="05050102010706020507" pitchFamily="18" charset="2"/>
              </a:rPr>
              <a:t>i</a:t>
            </a:r>
            <a:r>
              <a:rPr lang="en-US" altLang="zh-CN" sz="2400" dirty="0">
                <a:sym typeface="Symbol" panose="05050102010706020507" pitchFamily="18" charset="2"/>
              </a:rPr>
              <a:t>] = false, </a:t>
            </a:r>
            <a:r>
              <a:rPr lang="zh-CN" altLang="en-US" sz="2400" dirty="0">
                <a:sym typeface="Symbol" panose="05050102010706020507" pitchFamily="18" charset="2"/>
              </a:rPr>
              <a:t>则进程 </a:t>
            </a:r>
            <a:r>
              <a:rPr lang="en-US" altLang="zh-CN" sz="2400" dirty="0">
                <a:sym typeface="Symbol" panose="05050102010706020507" pitchFamily="18" charset="2"/>
              </a:rPr>
              <a:t>P</a:t>
            </a:r>
            <a:r>
              <a:rPr lang="en-US" altLang="zh-CN" sz="2400" baseline="-25000" dirty="0">
                <a:sym typeface="Symbol" panose="05050102010706020507" pitchFamily="18" charset="2"/>
              </a:rPr>
              <a:t>i</a:t>
            </a:r>
            <a:r>
              <a:rPr lang="en-US" altLang="zh-CN" sz="2400" dirty="0">
                <a:sym typeface="Symbol" panose="05050102010706020507" pitchFamily="18" charset="2"/>
              </a:rPr>
              <a:t> </a:t>
            </a:r>
            <a:r>
              <a:rPr lang="zh-CN" altLang="en-US" sz="2400" dirty="0">
                <a:sym typeface="Symbol" panose="05050102010706020507" pitchFamily="18" charset="2"/>
              </a:rPr>
              <a:t>是死锁的。</a:t>
            </a:r>
            <a:endParaRPr lang="zh-CN" altLang="en-US" sz="2400" dirty="0">
              <a:sym typeface="Symbol" panose="05050102010706020507" pitchFamily="18" charset="2"/>
            </a:endParaRPr>
          </a:p>
          <a:p>
            <a:pPr marL="0" indent="0">
              <a:lnSpc>
                <a:spcPct val="123000"/>
              </a:lnSpc>
              <a:buFont typeface="Wingdings 2" panose="05020102010507070707" pitchFamily="18" charset="2"/>
              <a:buNone/>
              <a:defRPr/>
            </a:pPr>
            <a:endParaRPr lang="zh-CN" altLang="en-US" sz="2400" dirty="0"/>
          </a:p>
        </p:txBody>
      </p:sp>
      <p:cxnSp>
        <p:nvCxnSpPr>
          <p:cNvPr id="12" name="直接连接符 11"/>
          <p:cNvCxnSpPr/>
          <p:nvPr/>
        </p:nvCxnSpPr>
        <p:spPr>
          <a:xfrm>
            <a:off x="6297333" y="3566719"/>
            <a:ext cx="55990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297333" y="3566719"/>
            <a:ext cx="0" cy="251570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8842" y="1248361"/>
            <a:ext cx="10547438" cy="5016875"/>
          </a:xfrm>
          <a:prstGeom prst="rect">
            <a:avLst/>
          </a:prstGeom>
        </p:spPr>
        <p:txBody>
          <a:bodyPr wrap="square">
            <a:noAutofit/>
          </a:bodyPr>
          <a:lstStyle/>
          <a:p>
            <a:pPr>
              <a:lnSpc>
                <a:spcPct val="123000"/>
              </a:lnSpc>
              <a:tabLst>
                <a:tab pos="1428750" algn="l"/>
                <a:tab pos="2338070" algn="ctr"/>
                <a:tab pos="3594100" algn="ctr"/>
                <a:tab pos="4921250" algn="ctr"/>
              </a:tabLst>
            </a:pPr>
            <a:r>
              <a:rPr lang="zh-CN" altLang="en-US" sz="2400" dirty="0">
                <a:latin typeface="+mn-ea"/>
              </a:rPr>
              <a:t>五个进程</a:t>
            </a:r>
            <a:r>
              <a:rPr lang="en-US" altLang="zh-CN" sz="2400" dirty="0" err="1">
                <a:latin typeface="+mn-ea"/>
              </a:rPr>
              <a:t>P</a:t>
            </a:r>
            <a:r>
              <a:rPr lang="en-US" altLang="zh-CN" sz="2400" baseline="-25000" dirty="0" err="1">
                <a:latin typeface="+mn-ea"/>
              </a:rPr>
              <a:t>n</a:t>
            </a:r>
            <a:r>
              <a:rPr lang="zh-CN" altLang="en-US" sz="2400" dirty="0">
                <a:latin typeface="+mn-ea"/>
              </a:rPr>
              <a:t>到</a:t>
            </a:r>
            <a:r>
              <a:rPr lang="en-US" altLang="zh-CN" sz="2400" dirty="0">
                <a:latin typeface="+mn-ea"/>
              </a:rPr>
              <a:t>P</a:t>
            </a:r>
            <a:r>
              <a:rPr lang="en-US" altLang="zh-CN" sz="2400" baseline="-25000" dirty="0">
                <a:latin typeface="+mn-ea"/>
              </a:rPr>
              <a:t>4</a:t>
            </a:r>
            <a:r>
              <a:rPr lang="en-US" altLang="zh-CN" sz="2400" dirty="0">
                <a:latin typeface="+mn-ea"/>
              </a:rPr>
              <a:t>,</a:t>
            </a:r>
            <a:r>
              <a:rPr lang="zh-CN" altLang="en-US" sz="2400" dirty="0">
                <a:latin typeface="+mn-ea"/>
              </a:rPr>
              <a:t>三个资源类型</a:t>
            </a:r>
            <a:r>
              <a:rPr lang="en-US" altLang="zh-CN" sz="2400" dirty="0">
                <a:latin typeface="+mn-ea"/>
              </a:rPr>
              <a:t>A（7</a:t>
            </a:r>
            <a:r>
              <a:rPr lang="zh-CN" altLang="en-US" sz="2400" dirty="0">
                <a:latin typeface="+mn-ea"/>
              </a:rPr>
              <a:t>个实例），</a:t>
            </a:r>
            <a:r>
              <a:rPr lang="en-US" altLang="zh-CN" sz="2400" dirty="0">
                <a:latin typeface="+mn-ea"/>
              </a:rPr>
              <a:t>B（2</a:t>
            </a:r>
            <a:r>
              <a:rPr lang="zh-CN" altLang="en-US" sz="2400" dirty="0">
                <a:latin typeface="+mn-ea"/>
              </a:rPr>
              <a:t>个实例）</a:t>
            </a:r>
            <a:r>
              <a:rPr lang="zh-CN" altLang="zh-CN" sz="2400" dirty="0">
                <a:latin typeface="+mn-ea"/>
              </a:rPr>
              <a:t>,</a:t>
            </a:r>
            <a:r>
              <a:rPr lang="en-US" altLang="zh-CN" sz="2400" dirty="0">
                <a:latin typeface="+mn-ea"/>
              </a:rPr>
              <a:t> C（6</a:t>
            </a:r>
            <a:r>
              <a:rPr lang="zh-CN" altLang="en-US" sz="2400" dirty="0">
                <a:latin typeface="+mn-ea"/>
              </a:rPr>
              <a:t>个实例）。</a:t>
            </a:r>
            <a:endParaRPr lang="zh-CN" altLang="en-US" sz="2400" dirty="0">
              <a:latin typeface="+mn-ea"/>
            </a:endParaRPr>
          </a:p>
          <a:p>
            <a:pPr>
              <a:lnSpc>
                <a:spcPct val="123000"/>
              </a:lnSpc>
              <a:tabLst>
                <a:tab pos="1428750" algn="l"/>
                <a:tab pos="2338070" algn="ctr"/>
                <a:tab pos="3594100" algn="ctr"/>
                <a:tab pos="4921250" algn="ctr"/>
              </a:tabLst>
            </a:pPr>
            <a:r>
              <a:rPr lang="zh-CN" altLang="en-US" sz="2400" dirty="0">
                <a:latin typeface="+mn-ea"/>
                <a:sym typeface="Wingdings" panose="05000000000000000000" pitchFamily="2" charset="2"/>
              </a:rPr>
              <a:t>时刻</a:t>
            </a:r>
            <a:r>
              <a:rPr lang="en-US" altLang="zh-CN" sz="2400" dirty="0">
                <a:latin typeface="+mn-ea"/>
                <a:sym typeface="Wingdings" panose="05000000000000000000" pitchFamily="2" charset="2"/>
              </a:rPr>
              <a:t>T</a:t>
            </a:r>
            <a:r>
              <a:rPr lang="en-US" altLang="zh-CN" sz="2400" baseline="-25000" dirty="0">
                <a:latin typeface="+mn-ea"/>
                <a:sym typeface="Wingdings" panose="05000000000000000000" pitchFamily="2" charset="2"/>
              </a:rPr>
              <a:t>0</a:t>
            </a:r>
            <a:r>
              <a:rPr lang="zh-CN" altLang="en-US" sz="2400" dirty="0">
                <a:latin typeface="+mn-ea"/>
                <a:sym typeface="Wingdings" panose="05000000000000000000" pitchFamily="2" charset="2"/>
              </a:rPr>
              <a:t>的状态：</a:t>
            </a:r>
            <a:endParaRPr lang="zh-CN" altLang="en-US" sz="2400" dirty="0">
              <a:latin typeface="+mn-ea"/>
            </a:endParaRPr>
          </a:p>
          <a:p>
            <a:pPr>
              <a:lnSpc>
                <a:spcPct val="123000"/>
              </a:lnSpc>
              <a:buFont typeface="Monotype Sorts" pitchFamily="2" charset="2"/>
              <a:buNone/>
              <a:tabLst>
                <a:tab pos="1428750" algn="l"/>
                <a:tab pos="2338070" algn="ctr"/>
                <a:tab pos="3594100" algn="ctr"/>
                <a:tab pos="4921250" algn="ctr"/>
              </a:tabLst>
            </a:pPr>
            <a:r>
              <a:rPr lang="zh-CN" altLang="zh-CN" sz="2400" dirty="0">
                <a:latin typeface="+mn-ea"/>
              </a:rPr>
              <a:t>		</a:t>
            </a:r>
            <a:r>
              <a:rPr lang="zh-CN" altLang="zh-CN" sz="2400" dirty="0">
                <a:latin typeface="+mj-lt"/>
              </a:rPr>
              <a:t>	</a:t>
            </a:r>
            <a:r>
              <a:rPr lang="en-US" altLang="zh-CN" sz="2400" u="sng" dirty="0">
                <a:solidFill>
                  <a:srgbClr val="0000CC"/>
                </a:solidFill>
                <a:latin typeface="+mj-lt"/>
              </a:rPr>
              <a:t>Allocation</a:t>
            </a:r>
            <a:r>
              <a:rPr lang="en-US" altLang="zh-CN" sz="2400" dirty="0">
                <a:solidFill>
                  <a:srgbClr val="0000CC"/>
                </a:solidFill>
                <a:latin typeface="+mj-lt"/>
              </a:rPr>
              <a:t>		</a:t>
            </a:r>
            <a:r>
              <a:rPr lang="en-US" altLang="zh-CN" sz="2400" u="sng" dirty="0">
                <a:solidFill>
                  <a:srgbClr val="FF0000"/>
                </a:solidFill>
                <a:latin typeface="+mj-lt"/>
              </a:rPr>
              <a:t>Request</a:t>
            </a:r>
            <a:r>
              <a:rPr lang="zh-CN" altLang="en-US" sz="2400" u="sng" dirty="0">
                <a:solidFill>
                  <a:srgbClr val="FF0000"/>
                </a:solidFill>
                <a:latin typeface="+mj-lt"/>
              </a:rPr>
              <a:t>（非</a:t>
            </a:r>
            <a:r>
              <a:rPr lang="en-US" altLang="zh-CN" sz="2400" u="sng" dirty="0">
                <a:solidFill>
                  <a:srgbClr val="FF0000"/>
                </a:solidFill>
                <a:latin typeface="+mj-lt"/>
              </a:rPr>
              <a:t>Need</a:t>
            </a:r>
            <a:r>
              <a:rPr lang="zh-CN" altLang="en-US" sz="2400" u="sng" dirty="0">
                <a:solidFill>
                  <a:srgbClr val="FF0000"/>
                </a:solidFill>
                <a:latin typeface="+mj-lt"/>
              </a:rPr>
              <a:t>）</a:t>
            </a:r>
            <a:r>
              <a:rPr lang="en-US" altLang="zh-CN" sz="2400" dirty="0">
                <a:solidFill>
                  <a:srgbClr val="0000CC"/>
                </a:solidFill>
                <a:latin typeface="+mj-lt"/>
              </a:rPr>
              <a:t>  </a:t>
            </a:r>
            <a:r>
              <a:rPr lang="en-US" altLang="zh-CN" sz="2400" u="sng" dirty="0">
                <a:solidFill>
                  <a:srgbClr val="0000CC"/>
                </a:solidFill>
                <a:latin typeface="+mj-lt"/>
              </a:rPr>
              <a:t>Available</a:t>
            </a:r>
            <a:endParaRPr lang="en-US" altLang="zh-CN" sz="2400" dirty="0">
              <a:solidFill>
                <a:srgbClr val="0000CC"/>
              </a:solidFill>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A   B   C 		A   B   C 	           A   B   C</a:t>
            </a:r>
            <a:endParaRPr lang="en-US" altLang="zh-CN" sz="2400" dirty="0">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P</a:t>
            </a:r>
            <a:r>
              <a:rPr lang="en-US" altLang="zh-CN" sz="2400" baseline="-25000" dirty="0">
                <a:latin typeface="+mj-lt"/>
              </a:rPr>
              <a:t>0</a:t>
            </a:r>
            <a:r>
              <a:rPr lang="en-US" altLang="zh-CN" sz="2400" dirty="0">
                <a:latin typeface="+mj-lt"/>
              </a:rPr>
              <a:t>	0   1   0 		0   0   0 	           0   0   0</a:t>
            </a:r>
            <a:endParaRPr lang="en-US" altLang="zh-CN" sz="2400" dirty="0">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P</a:t>
            </a:r>
            <a:r>
              <a:rPr lang="en-US" altLang="zh-CN" sz="2400" baseline="-25000" dirty="0">
                <a:latin typeface="+mj-lt"/>
              </a:rPr>
              <a:t>1</a:t>
            </a:r>
            <a:r>
              <a:rPr lang="en-US" altLang="zh-CN" sz="2400" dirty="0">
                <a:latin typeface="+mj-lt"/>
              </a:rPr>
              <a:t>	2   0   0 		2   0   2</a:t>
            </a:r>
            <a:endParaRPr lang="en-US" altLang="zh-CN" sz="2400" dirty="0">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P</a:t>
            </a:r>
            <a:r>
              <a:rPr lang="en-US" altLang="zh-CN" sz="2400" baseline="-25000" dirty="0">
                <a:latin typeface="+mj-lt"/>
              </a:rPr>
              <a:t>2</a:t>
            </a:r>
            <a:r>
              <a:rPr lang="en-US" altLang="zh-CN" sz="2400" dirty="0">
                <a:latin typeface="+mj-lt"/>
              </a:rPr>
              <a:t>	3   0   3		0   0   0 </a:t>
            </a:r>
            <a:endParaRPr lang="en-US" altLang="zh-CN" sz="2400" dirty="0">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P</a:t>
            </a:r>
            <a:r>
              <a:rPr lang="en-US" altLang="zh-CN" sz="2400" baseline="-25000" dirty="0">
                <a:latin typeface="+mj-lt"/>
              </a:rPr>
              <a:t>3</a:t>
            </a:r>
            <a:r>
              <a:rPr lang="en-US" altLang="zh-CN" sz="2400" dirty="0">
                <a:latin typeface="+mj-lt"/>
              </a:rPr>
              <a:t>	2   1   1 		1   0   0 </a:t>
            </a:r>
            <a:endParaRPr lang="en-US" altLang="zh-CN" sz="2400" dirty="0">
              <a:latin typeface="+mj-lt"/>
            </a:endParaRPr>
          </a:p>
          <a:p>
            <a:pPr>
              <a:lnSpc>
                <a:spcPct val="123000"/>
              </a:lnSpc>
              <a:buFont typeface="Monotype Sorts" pitchFamily="2" charset="2"/>
              <a:buNone/>
              <a:tabLst>
                <a:tab pos="1428750" algn="l"/>
                <a:tab pos="2338070" algn="ctr"/>
                <a:tab pos="3594100" algn="ctr"/>
                <a:tab pos="4921250" algn="ctr"/>
              </a:tabLst>
            </a:pPr>
            <a:r>
              <a:rPr lang="en-US" altLang="zh-CN" sz="2400" dirty="0">
                <a:latin typeface="+mj-lt"/>
              </a:rPr>
              <a:t>		P</a:t>
            </a:r>
            <a:r>
              <a:rPr lang="en-US" altLang="zh-CN" sz="2400" baseline="-25000" dirty="0">
                <a:latin typeface="+mj-lt"/>
              </a:rPr>
              <a:t>4</a:t>
            </a:r>
            <a:r>
              <a:rPr lang="en-US" altLang="zh-CN" sz="2400" dirty="0">
                <a:latin typeface="+mj-lt"/>
              </a:rPr>
              <a:t>	0   0   2 		0   0   2</a:t>
            </a:r>
            <a:endParaRPr lang="en-US" altLang="zh-CN" sz="2400" dirty="0">
              <a:latin typeface="+mj-lt"/>
            </a:endParaRPr>
          </a:p>
          <a:p>
            <a:pPr>
              <a:lnSpc>
                <a:spcPct val="123000"/>
              </a:lnSpc>
              <a:tabLst>
                <a:tab pos="1428750" algn="l"/>
                <a:tab pos="2338070" algn="ctr"/>
                <a:tab pos="3594100" algn="ctr"/>
                <a:tab pos="4921250" algn="ctr"/>
              </a:tabLst>
            </a:pPr>
            <a:r>
              <a:rPr lang="zh-CN" altLang="en-US" sz="2400" dirty="0">
                <a:latin typeface="+mn-ea"/>
              </a:rPr>
              <a:t>对所有</a:t>
            </a:r>
            <a:r>
              <a:rPr lang="en-US" altLang="zh-CN" sz="2400" i="1" dirty="0" err="1">
                <a:latin typeface="+mn-ea"/>
              </a:rPr>
              <a:t>i</a:t>
            </a:r>
            <a:r>
              <a:rPr lang="zh-CN" altLang="en-US" sz="2400" dirty="0">
                <a:latin typeface="+mn-ea"/>
              </a:rPr>
              <a:t>，执行序列 </a:t>
            </a:r>
            <a:r>
              <a:rPr lang="en-US" altLang="zh-CN" sz="2400" dirty="0">
                <a:latin typeface="+mn-ea"/>
              </a:rPr>
              <a:t>&lt;</a:t>
            </a:r>
            <a:r>
              <a:rPr lang="en-US" altLang="zh-CN" sz="2400" i="1" dirty="0">
                <a:latin typeface="+mn-ea"/>
              </a:rPr>
              <a:t>P</a:t>
            </a:r>
            <a:r>
              <a:rPr lang="en-US" altLang="zh-CN" sz="2400" baseline="-25000" dirty="0">
                <a:latin typeface="+mn-ea"/>
              </a:rPr>
              <a:t>0</a:t>
            </a:r>
            <a:r>
              <a:rPr lang="en-US" altLang="zh-CN" sz="2400" dirty="0">
                <a:latin typeface="+mn-ea"/>
              </a:rPr>
              <a:t>, </a:t>
            </a:r>
            <a:r>
              <a:rPr lang="en-US" altLang="zh-CN" sz="2400" i="1" dirty="0">
                <a:latin typeface="+mn-ea"/>
              </a:rPr>
              <a:t>P</a:t>
            </a:r>
            <a:r>
              <a:rPr lang="en-US" altLang="zh-CN" sz="2400" baseline="-25000" dirty="0">
                <a:latin typeface="+mn-ea"/>
              </a:rPr>
              <a:t>2</a:t>
            </a:r>
            <a:r>
              <a:rPr lang="en-US" altLang="zh-CN" sz="2400" dirty="0">
                <a:latin typeface="+mn-ea"/>
              </a:rPr>
              <a:t>, </a:t>
            </a:r>
            <a:r>
              <a:rPr lang="en-US" altLang="zh-CN" sz="2400" i="1" dirty="0">
                <a:latin typeface="+mn-ea"/>
              </a:rPr>
              <a:t>P</a:t>
            </a:r>
            <a:r>
              <a:rPr lang="en-US" altLang="zh-CN" sz="2400" baseline="-25000" dirty="0">
                <a:latin typeface="+mn-ea"/>
              </a:rPr>
              <a:t>3</a:t>
            </a:r>
            <a:r>
              <a:rPr lang="en-US" altLang="zh-CN" sz="2400" dirty="0">
                <a:latin typeface="+mn-ea"/>
              </a:rPr>
              <a:t>, </a:t>
            </a:r>
            <a:r>
              <a:rPr lang="en-US" altLang="zh-CN" sz="2400" i="1" dirty="0">
                <a:latin typeface="+mn-ea"/>
              </a:rPr>
              <a:t>P</a:t>
            </a:r>
            <a:r>
              <a:rPr lang="en-US" altLang="zh-CN" sz="2400" baseline="-25000" dirty="0">
                <a:latin typeface="+mn-ea"/>
              </a:rPr>
              <a:t>1</a:t>
            </a:r>
            <a:r>
              <a:rPr lang="en-US" altLang="zh-CN" sz="2400" dirty="0">
                <a:latin typeface="+mn-ea"/>
              </a:rPr>
              <a:t>, </a:t>
            </a:r>
            <a:r>
              <a:rPr lang="en-US" altLang="zh-CN" sz="2400" i="1" dirty="0">
                <a:latin typeface="+mn-ea"/>
              </a:rPr>
              <a:t>P</a:t>
            </a:r>
            <a:r>
              <a:rPr lang="en-US" altLang="zh-CN" sz="2400" baseline="-25000" dirty="0">
                <a:latin typeface="+mn-ea"/>
              </a:rPr>
              <a:t>4</a:t>
            </a:r>
            <a:r>
              <a:rPr lang="en-US" altLang="zh-CN" sz="2400" dirty="0">
                <a:latin typeface="+mn-ea"/>
              </a:rPr>
              <a:t>&gt; </a:t>
            </a:r>
            <a:r>
              <a:rPr lang="zh-CN" altLang="en-US" sz="2400" dirty="0">
                <a:latin typeface="+mn-ea"/>
              </a:rPr>
              <a:t>将导致</a:t>
            </a:r>
            <a:r>
              <a:rPr lang="en-US" altLang="zh-CN" sz="2400" i="1" dirty="0">
                <a:latin typeface="+mn-ea"/>
              </a:rPr>
              <a:t>Finish</a:t>
            </a:r>
            <a:r>
              <a:rPr lang="en-US" altLang="zh-CN" sz="2400" dirty="0">
                <a:latin typeface="+mn-ea"/>
              </a:rPr>
              <a:t>[</a:t>
            </a:r>
            <a:r>
              <a:rPr lang="en-US" altLang="zh-CN" sz="2400" i="1" dirty="0" err="1">
                <a:latin typeface="+mn-ea"/>
              </a:rPr>
              <a:t>i</a:t>
            </a:r>
            <a:r>
              <a:rPr lang="en-US" altLang="zh-CN" sz="2400" dirty="0">
                <a:latin typeface="+mn-ea"/>
              </a:rPr>
              <a:t>] = true</a:t>
            </a:r>
            <a:r>
              <a:rPr lang="zh-CN" altLang="en-US" sz="2400" dirty="0">
                <a:latin typeface="+mn-ea"/>
              </a:rPr>
              <a:t>，因此死锁不存在。</a:t>
            </a:r>
            <a:endParaRPr lang="zh-CN" altLang="en-US" sz="2400" dirty="0">
              <a:latin typeface="+mn-ea"/>
            </a:endParaRPr>
          </a:p>
        </p:txBody>
      </p:sp>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检测算法的例子</a:t>
            </a:r>
            <a:endParaRPr lang="en-US" altLang="zh-CN" sz="2800" b="1" dirty="0">
              <a:solidFill>
                <a:schemeClr val="bg1"/>
              </a:solidFill>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08524" y="1425916"/>
            <a:ext cx="527050" cy="527050"/>
          </a:xfrm>
          <a:prstGeom prst="rect">
            <a:avLst/>
          </a:prstGeom>
          <a:ln>
            <a:noFill/>
          </a:ln>
          <a:effectLst>
            <a:softEdge rad="0"/>
          </a:effectLst>
        </p:spPr>
      </p:pic>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99380" y="5268351"/>
            <a:ext cx="527050" cy="527050"/>
          </a:xfrm>
          <a:prstGeom prst="rect">
            <a:avLst/>
          </a:prstGeom>
          <a:ln>
            <a:noFill/>
          </a:ln>
          <a:effectLst>
            <a:softEdge rad="0"/>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27632" y="1203973"/>
            <a:ext cx="9985388" cy="5016875"/>
          </a:xfrm>
          <a:prstGeom prst="rect">
            <a:avLst/>
          </a:prstGeom>
        </p:spPr>
        <p:txBody>
          <a:bodyPr wrap="square">
            <a:noAutofit/>
          </a:bodyPr>
          <a:lstStyle/>
          <a:p>
            <a:pPr>
              <a:lnSpc>
                <a:spcPct val="123000"/>
              </a:lnSpc>
              <a:tabLst>
                <a:tab pos="2800350" algn="l"/>
                <a:tab pos="3708400" algn="ctr"/>
              </a:tabLst>
            </a:pPr>
            <a:r>
              <a:rPr lang="en-US" altLang="zh-CN" sz="2400" dirty="0">
                <a:latin typeface="+mn-ea"/>
              </a:rPr>
              <a:t>P2</a:t>
            </a:r>
            <a:r>
              <a:rPr lang="zh-CN" altLang="en-US" sz="2400" dirty="0">
                <a:latin typeface="+mn-ea"/>
              </a:rPr>
              <a:t>请求一个额外的</a:t>
            </a:r>
            <a:r>
              <a:rPr lang="en-US" altLang="zh-CN" sz="2400" dirty="0">
                <a:latin typeface="+mn-ea"/>
              </a:rPr>
              <a:t>C</a:t>
            </a:r>
            <a:r>
              <a:rPr lang="zh-CN" altLang="en-US" sz="2400" dirty="0">
                <a:latin typeface="+mn-ea"/>
              </a:rPr>
              <a:t>实例</a:t>
            </a:r>
            <a:endParaRPr lang="zh-CN" altLang="en-US" sz="2400" dirty="0">
              <a:latin typeface="+mn-ea"/>
            </a:endParaRPr>
          </a:p>
          <a:p>
            <a:pPr>
              <a:lnSpc>
                <a:spcPct val="123000"/>
              </a:lnSpc>
              <a:buFont typeface="Monotype Sorts" pitchFamily="2" charset="2"/>
              <a:buNone/>
              <a:tabLst>
                <a:tab pos="2800350" algn="l"/>
                <a:tab pos="3708400" algn="ctr"/>
              </a:tabLst>
            </a:pPr>
            <a:r>
              <a:rPr lang="zh-CN" altLang="zh-CN" sz="2400" dirty="0">
                <a:latin typeface="+mn-ea"/>
              </a:rPr>
              <a:t>		</a:t>
            </a:r>
            <a:r>
              <a:rPr lang="zh-CN" altLang="zh-CN" sz="2400" dirty="0">
                <a:latin typeface="+mj-lt"/>
              </a:rPr>
              <a:t>	</a:t>
            </a:r>
            <a:r>
              <a:rPr lang="en-US" altLang="zh-CN" sz="2400" u="sng" dirty="0">
                <a:solidFill>
                  <a:srgbClr val="0000CC"/>
                </a:solidFill>
                <a:latin typeface="+mj-lt"/>
              </a:rPr>
              <a:t>Request</a:t>
            </a:r>
            <a:endParaRPr lang="en-US" altLang="zh-CN" sz="2400" dirty="0">
              <a:solidFill>
                <a:srgbClr val="0000CC"/>
              </a:solidFill>
              <a:latin typeface="+mj-lt"/>
            </a:endParaRPr>
          </a:p>
          <a:p>
            <a:pPr>
              <a:lnSpc>
                <a:spcPct val="123000"/>
              </a:lnSpc>
              <a:buFont typeface="Monotype Sorts" pitchFamily="2" charset="2"/>
              <a:buNone/>
              <a:tabLst>
                <a:tab pos="2800350" algn="l"/>
                <a:tab pos="3708400" algn="ctr"/>
              </a:tabLst>
            </a:pPr>
            <a:r>
              <a:rPr lang="en-US" altLang="zh-CN" sz="2400" i="1" dirty="0">
                <a:latin typeface="+mj-lt"/>
              </a:rPr>
              <a:t>		</a:t>
            </a:r>
            <a:r>
              <a:rPr lang="en-US" altLang="zh-CN" sz="2400" dirty="0">
                <a:latin typeface="+mj-lt"/>
              </a:rPr>
              <a:t>	A B C</a:t>
            </a:r>
            <a:endParaRPr lang="en-US" altLang="zh-CN" sz="2400" dirty="0">
              <a:latin typeface="+mj-lt"/>
            </a:endParaRPr>
          </a:p>
          <a:p>
            <a:pPr>
              <a:lnSpc>
                <a:spcPct val="123000"/>
              </a:lnSpc>
              <a:buFont typeface="Monotype Sorts" pitchFamily="2" charset="2"/>
              <a:buNone/>
              <a:tabLst>
                <a:tab pos="2800350" algn="l"/>
                <a:tab pos="3708400" algn="ctr"/>
              </a:tabLst>
            </a:pPr>
            <a:r>
              <a:rPr lang="en-US" altLang="zh-CN" sz="2400" dirty="0">
                <a:latin typeface="+mj-lt"/>
              </a:rPr>
              <a:t>		 P</a:t>
            </a:r>
            <a:r>
              <a:rPr lang="en-US" altLang="zh-CN" sz="2400" baseline="-25000" dirty="0">
                <a:latin typeface="+mj-lt"/>
              </a:rPr>
              <a:t>0</a:t>
            </a:r>
            <a:r>
              <a:rPr lang="en-US" altLang="zh-CN" sz="2400" dirty="0">
                <a:latin typeface="+mj-lt"/>
              </a:rPr>
              <a:t>	0 0 0</a:t>
            </a:r>
            <a:endParaRPr lang="en-US" altLang="zh-CN" sz="2400" dirty="0">
              <a:latin typeface="+mj-lt"/>
            </a:endParaRPr>
          </a:p>
          <a:p>
            <a:pPr>
              <a:lnSpc>
                <a:spcPct val="123000"/>
              </a:lnSpc>
              <a:buFont typeface="Monotype Sorts" pitchFamily="2" charset="2"/>
              <a:buNone/>
              <a:tabLst>
                <a:tab pos="2800350" algn="l"/>
                <a:tab pos="3708400" algn="ctr"/>
              </a:tabLst>
            </a:pPr>
            <a:r>
              <a:rPr lang="en-US" altLang="zh-CN" sz="2400" dirty="0">
                <a:latin typeface="+mj-lt"/>
              </a:rPr>
              <a:t>		 P</a:t>
            </a:r>
            <a:r>
              <a:rPr lang="en-US" altLang="zh-CN" sz="2400" baseline="-25000" dirty="0">
                <a:latin typeface="+mj-lt"/>
              </a:rPr>
              <a:t>1</a:t>
            </a:r>
            <a:r>
              <a:rPr lang="en-US" altLang="zh-CN" sz="2400" dirty="0">
                <a:latin typeface="+mj-lt"/>
              </a:rPr>
              <a:t>	2 0 1</a:t>
            </a:r>
            <a:endParaRPr lang="en-US" altLang="zh-CN" sz="2400" dirty="0">
              <a:latin typeface="+mj-lt"/>
            </a:endParaRPr>
          </a:p>
          <a:p>
            <a:pPr>
              <a:lnSpc>
                <a:spcPct val="123000"/>
              </a:lnSpc>
              <a:buFont typeface="Monotype Sorts" pitchFamily="2" charset="2"/>
              <a:buNone/>
              <a:tabLst>
                <a:tab pos="2800350" algn="l"/>
                <a:tab pos="3708400" algn="ctr"/>
              </a:tabLst>
            </a:pPr>
            <a:r>
              <a:rPr lang="en-US" altLang="zh-CN" sz="2400" dirty="0">
                <a:latin typeface="+mj-lt"/>
              </a:rPr>
              <a:t>		P</a:t>
            </a:r>
            <a:r>
              <a:rPr lang="en-US" altLang="zh-CN" sz="2400" baseline="-25000" dirty="0">
                <a:latin typeface="+mj-lt"/>
              </a:rPr>
              <a:t>2</a:t>
            </a:r>
            <a:r>
              <a:rPr lang="en-US" altLang="zh-CN" sz="2400" dirty="0">
                <a:latin typeface="+mj-lt"/>
              </a:rPr>
              <a:t>	0 0 1</a:t>
            </a:r>
            <a:endParaRPr lang="en-US" altLang="zh-CN" sz="2400" dirty="0">
              <a:latin typeface="+mj-lt"/>
            </a:endParaRPr>
          </a:p>
          <a:p>
            <a:pPr>
              <a:lnSpc>
                <a:spcPct val="123000"/>
              </a:lnSpc>
              <a:buFont typeface="Monotype Sorts" pitchFamily="2" charset="2"/>
              <a:buNone/>
              <a:tabLst>
                <a:tab pos="2800350" algn="l"/>
                <a:tab pos="3708400" algn="ctr"/>
              </a:tabLst>
            </a:pPr>
            <a:r>
              <a:rPr lang="en-US" altLang="zh-CN" sz="2400" dirty="0">
                <a:latin typeface="+mj-lt"/>
              </a:rPr>
              <a:t>		P</a:t>
            </a:r>
            <a:r>
              <a:rPr lang="en-US" altLang="zh-CN" sz="2400" baseline="-25000" dirty="0">
                <a:latin typeface="+mj-lt"/>
              </a:rPr>
              <a:t>3</a:t>
            </a:r>
            <a:r>
              <a:rPr lang="en-US" altLang="zh-CN" sz="2400" dirty="0">
                <a:latin typeface="+mj-lt"/>
              </a:rPr>
              <a:t>	1 0 0 </a:t>
            </a:r>
            <a:endParaRPr lang="en-US" altLang="zh-CN" sz="2400" dirty="0">
              <a:latin typeface="+mj-lt"/>
            </a:endParaRPr>
          </a:p>
          <a:p>
            <a:pPr>
              <a:lnSpc>
                <a:spcPct val="123000"/>
              </a:lnSpc>
              <a:buFont typeface="Monotype Sorts" pitchFamily="2" charset="2"/>
              <a:buNone/>
              <a:tabLst>
                <a:tab pos="2800350" algn="l"/>
                <a:tab pos="3708400" algn="ctr"/>
              </a:tabLst>
            </a:pPr>
            <a:r>
              <a:rPr lang="en-US" altLang="zh-CN" sz="2400" dirty="0">
                <a:latin typeface="+mj-lt"/>
              </a:rPr>
              <a:t>		P</a:t>
            </a:r>
            <a:r>
              <a:rPr lang="en-US" altLang="zh-CN" sz="2400" baseline="-25000" dirty="0">
                <a:latin typeface="+mj-lt"/>
              </a:rPr>
              <a:t>4</a:t>
            </a:r>
            <a:r>
              <a:rPr lang="en-US" altLang="zh-CN" sz="2400" dirty="0">
                <a:latin typeface="+mj-lt"/>
              </a:rPr>
              <a:t>	0 0 2</a:t>
            </a:r>
            <a:endParaRPr lang="en-US" altLang="zh-CN" sz="2400" dirty="0">
              <a:latin typeface="+mj-lt"/>
            </a:endParaRPr>
          </a:p>
          <a:p>
            <a:pPr>
              <a:lnSpc>
                <a:spcPct val="123000"/>
              </a:lnSpc>
              <a:tabLst>
                <a:tab pos="2800350" algn="l"/>
                <a:tab pos="3708400" algn="ctr"/>
              </a:tabLst>
            </a:pPr>
            <a:r>
              <a:rPr lang="zh-CN" altLang="en-US" sz="2400" dirty="0">
                <a:latin typeface="+mn-ea"/>
              </a:rPr>
              <a:t>系统的状态？</a:t>
            </a:r>
            <a:endParaRPr lang="zh-CN" altLang="en-US" sz="2400" dirty="0">
              <a:latin typeface="+mn-ea"/>
            </a:endParaRPr>
          </a:p>
          <a:p>
            <a:pPr marL="0" lvl="1">
              <a:lnSpc>
                <a:spcPct val="123000"/>
              </a:lnSpc>
              <a:buClr>
                <a:srgbClr val="FF0000"/>
              </a:buClr>
              <a:buFont typeface="Wingdings" panose="05000000000000000000" pitchFamily="2" charset="2"/>
              <a:buChar char="Ø"/>
              <a:tabLst>
                <a:tab pos="2800350" algn="l"/>
                <a:tab pos="3708400" algn="ctr"/>
              </a:tabLst>
            </a:pPr>
            <a:r>
              <a:rPr lang="zh-CN" altLang="en-US" sz="2400" dirty="0">
                <a:latin typeface="+mn-ea"/>
              </a:rPr>
              <a:t>  可以归还</a:t>
            </a:r>
            <a:r>
              <a:rPr lang="en-US" altLang="zh-CN" sz="2400" dirty="0">
                <a:latin typeface="+mn-ea"/>
              </a:rPr>
              <a:t>P</a:t>
            </a:r>
            <a:r>
              <a:rPr lang="en-US" altLang="zh-CN" sz="2400" baseline="-25000" dirty="0">
                <a:latin typeface="+mn-ea"/>
              </a:rPr>
              <a:t>0</a:t>
            </a:r>
            <a:r>
              <a:rPr lang="zh-CN" altLang="en-US" sz="2400" dirty="0">
                <a:latin typeface="+mn-ea"/>
              </a:rPr>
              <a:t>所有的资源，但是资源不够完成其他进程的请求。</a:t>
            </a:r>
            <a:endParaRPr lang="zh-CN" altLang="zh-CN" sz="2400" dirty="0">
              <a:latin typeface="+mn-ea"/>
            </a:endParaRPr>
          </a:p>
          <a:p>
            <a:pPr marL="0" lvl="1">
              <a:lnSpc>
                <a:spcPct val="123000"/>
              </a:lnSpc>
              <a:buClr>
                <a:srgbClr val="FF0000"/>
              </a:buClr>
              <a:buFont typeface="Wingdings" panose="05000000000000000000" pitchFamily="2" charset="2"/>
              <a:buChar char="Ø"/>
              <a:tabLst>
                <a:tab pos="2800350" algn="l"/>
                <a:tab pos="3708400" algn="ctr"/>
              </a:tabLst>
            </a:pPr>
            <a:r>
              <a:rPr lang="zh-CN" altLang="en-US" sz="2400" dirty="0">
                <a:latin typeface="+mn-ea"/>
              </a:rPr>
              <a:t>  死锁存在，包括进程</a:t>
            </a:r>
            <a:r>
              <a:rPr lang="en-US" altLang="zh-CN" sz="2400" dirty="0">
                <a:latin typeface="+mn-ea"/>
              </a:rPr>
              <a:t>P1</a:t>
            </a:r>
            <a:r>
              <a:rPr lang="zh-CN" altLang="en-US" sz="2400" dirty="0">
                <a:latin typeface="+mn-ea"/>
              </a:rPr>
              <a:t>、</a:t>
            </a:r>
            <a:r>
              <a:rPr lang="en-US" altLang="zh-CN" sz="2400" dirty="0">
                <a:latin typeface="+mn-ea"/>
              </a:rPr>
              <a:t>P2</a:t>
            </a:r>
            <a:r>
              <a:rPr lang="zh-CN" altLang="en-US" sz="2400" dirty="0">
                <a:latin typeface="+mn-ea"/>
              </a:rPr>
              <a:t>、</a:t>
            </a:r>
            <a:r>
              <a:rPr lang="en-US" altLang="zh-CN" sz="2400" dirty="0">
                <a:latin typeface="+mn-ea"/>
              </a:rPr>
              <a:t>P3</a:t>
            </a:r>
            <a:r>
              <a:rPr lang="zh-CN" altLang="en-US" sz="2400" dirty="0">
                <a:latin typeface="+mn-ea"/>
              </a:rPr>
              <a:t>和</a:t>
            </a:r>
            <a:r>
              <a:rPr lang="en-US" altLang="zh-CN" sz="2400" dirty="0">
                <a:latin typeface="+mn-ea"/>
              </a:rPr>
              <a:t>P4</a:t>
            </a:r>
            <a:r>
              <a:rPr lang="zh-CN" altLang="en-US" sz="2400" dirty="0">
                <a:latin typeface="+mn-ea"/>
              </a:rPr>
              <a:t>。</a:t>
            </a:r>
            <a:endParaRPr lang="zh-CN" altLang="en-US" sz="2400" dirty="0">
              <a:latin typeface="+mn-ea"/>
            </a:endParaRPr>
          </a:p>
        </p:txBody>
      </p:sp>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endParaRPr lang="en-US" altLang="zh-CN" sz="2800" b="1" dirty="0">
              <a:solidFill>
                <a:schemeClr val="bg1"/>
              </a:solidFill>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92611" y="1203973"/>
            <a:ext cx="527050" cy="527050"/>
          </a:xfrm>
          <a:prstGeom prst="rect">
            <a:avLst/>
          </a:prstGeom>
          <a:ln>
            <a:noFill/>
          </a:ln>
          <a:effectLst>
            <a:softEdge rad="0"/>
          </a:effectLst>
        </p:spPr>
      </p:pic>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3467" y="4842219"/>
            <a:ext cx="527050" cy="527050"/>
          </a:xfrm>
          <a:prstGeom prst="rect">
            <a:avLst/>
          </a:prstGeom>
          <a:ln>
            <a:noFill/>
          </a:ln>
          <a:effectLst>
            <a:softEdge rad="0"/>
          </a:effec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63955" y="1259840"/>
            <a:ext cx="9667240" cy="3415030"/>
          </a:xfrm>
          <a:prstGeom prst="rect">
            <a:avLst/>
          </a:prstGeom>
        </p:spPr>
        <p:txBody>
          <a:bodyPr wrap="square">
            <a:spAutoFit/>
          </a:bodyPr>
          <a:lstStyle/>
          <a:p>
            <a:pPr marL="266700" indent="-266700" algn="l" defTabSz="266700">
              <a:spcAft>
                <a:spcPct val="0"/>
              </a:spcAft>
            </a:pPr>
            <a:r>
              <a:rPr lang="en-US" altLang="zh-CN" sz="2400">
                <a:latin typeface="宋体" panose="02010600030101010101" pitchFamily="2" charset="-122"/>
                <a:ea typeface="宋体" panose="02010600030101010101" pitchFamily="2" charset="-122"/>
              </a:rPr>
              <a:t>1. </a:t>
            </a:r>
            <a:r>
              <a:rPr lang="zh-CN" altLang="en-US" sz="2400">
                <a:latin typeface="宋体" panose="02010600030101010101" pitchFamily="2" charset="-122"/>
                <a:ea typeface="宋体" panose="02010600030101010101" pitchFamily="2" charset="-122"/>
              </a:rPr>
              <a:t>若系统</a:t>
            </a:r>
            <a:r>
              <a:rPr lang="en-US" altLang="zh-CN" sz="2400">
                <a:latin typeface="宋体" panose="02010600030101010101" pitchFamily="2" charset="-122"/>
                <a:ea typeface="宋体" panose="02010600030101010101" pitchFamily="2" charset="-122"/>
              </a:rPr>
              <a:t>S1</a:t>
            </a:r>
            <a:r>
              <a:rPr lang="zh-CN" altLang="en-US" sz="2400">
                <a:latin typeface="宋体" panose="02010600030101010101" pitchFamily="2" charset="-122"/>
                <a:ea typeface="宋体" panose="02010600030101010101" pitchFamily="2" charset="-122"/>
              </a:rPr>
              <a:t>采用死锁避免方法，</a:t>
            </a:r>
            <a:r>
              <a:rPr lang="en-US" altLang="zh-CN" sz="2400">
                <a:latin typeface="宋体" panose="02010600030101010101" pitchFamily="2" charset="-122"/>
                <a:ea typeface="宋体" panose="02010600030101010101" pitchFamily="2" charset="-122"/>
              </a:rPr>
              <a:t>S2</a:t>
            </a:r>
            <a:r>
              <a:rPr lang="zh-CN" altLang="en-US" sz="2400">
                <a:latin typeface="宋体" panose="02010600030101010101" pitchFamily="2" charset="-122"/>
                <a:ea typeface="宋体" panose="02010600030101010101" pitchFamily="2" charset="-122"/>
              </a:rPr>
              <a:t>采用死锁检测方法。下列叙述中，正确的是</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全国联考</a:t>
            </a:r>
            <a:r>
              <a:rPr lang="en-US" altLang="zh-CN" sz="2400" b="1">
                <a:latin typeface="宋体" panose="02010600030101010101" pitchFamily="2" charset="-122"/>
                <a:ea typeface="宋体" panose="02010600030101010101" pitchFamily="2" charset="-122"/>
              </a:rPr>
              <a:t>2015</a:t>
            </a:r>
            <a:r>
              <a:rPr lang="zh-CN" altLang="en-US" sz="2400" b="1">
                <a:latin typeface="宋体" panose="02010600030101010101" pitchFamily="2" charset="-122"/>
                <a:ea typeface="宋体" panose="02010600030101010101" pitchFamily="2" charset="-122"/>
              </a:rPr>
              <a:t>年</a:t>
            </a:r>
            <a:r>
              <a:rPr lang="en-US" altLang="zh-CN"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 S1</a:t>
            </a:r>
            <a:r>
              <a:rPr lang="zh-CN" altLang="en-US" sz="2400">
                <a:latin typeface="宋体" panose="02010600030101010101" pitchFamily="2" charset="-122"/>
                <a:ea typeface="宋体" panose="02010600030101010101" pitchFamily="2" charset="-122"/>
              </a:rPr>
              <a:t>会限制用户申请资源的顺序，而</a:t>
            </a:r>
            <a:r>
              <a:rPr lang="en-US" altLang="zh-CN" sz="2400">
                <a:latin typeface="宋体" panose="02010600030101010101" pitchFamily="2" charset="-122"/>
                <a:ea typeface="宋体" panose="02010600030101010101" pitchFamily="2" charset="-122"/>
              </a:rPr>
              <a:t>S2</a:t>
            </a:r>
            <a:r>
              <a:rPr lang="zh-CN" altLang="en-US" sz="2400">
                <a:latin typeface="宋体" panose="02010600030101010101" pitchFamily="2" charset="-122"/>
                <a:ea typeface="宋体" panose="02010600030101010101" pitchFamily="2" charset="-122"/>
              </a:rPr>
              <a:t>不会</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II. S1</a:t>
            </a:r>
            <a:r>
              <a:rPr lang="zh-CN" altLang="en-US" sz="2400">
                <a:latin typeface="宋体" panose="02010600030101010101" pitchFamily="2" charset="-122"/>
                <a:ea typeface="宋体" panose="02010600030101010101" pitchFamily="2" charset="-122"/>
              </a:rPr>
              <a:t>需要进程运行所需资源总量信息，而</a:t>
            </a:r>
            <a:r>
              <a:rPr lang="en-US" altLang="zh-CN" sz="2400">
                <a:latin typeface="宋体" panose="02010600030101010101" pitchFamily="2" charset="-122"/>
                <a:ea typeface="宋体" panose="02010600030101010101" pitchFamily="2" charset="-122"/>
              </a:rPr>
              <a:t>S2</a:t>
            </a:r>
            <a:r>
              <a:rPr lang="zh-CN" altLang="en-US" sz="2400">
                <a:latin typeface="宋体" panose="02010600030101010101" pitchFamily="2" charset="-122"/>
                <a:ea typeface="宋体" panose="02010600030101010101" pitchFamily="2" charset="-122"/>
              </a:rPr>
              <a:t>不需要</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III.S1</a:t>
            </a:r>
            <a:r>
              <a:rPr lang="zh-CN" altLang="en-US" sz="2400">
                <a:latin typeface="宋体" panose="02010600030101010101" pitchFamily="2" charset="-122"/>
                <a:ea typeface="宋体" panose="02010600030101010101" pitchFamily="2" charset="-122"/>
              </a:rPr>
              <a:t>不会给可能导致死锁的进程分配资源，而</a:t>
            </a:r>
            <a:r>
              <a:rPr lang="en-US" altLang="zh-CN" sz="2400">
                <a:latin typeface="宋体" panose="02010600030101010101" pitchFamily="2" charset="-122"/>
                <a:ea typeface="宋体" panose="02010600030101010101" pitchFamily="2" charset="-122"/>
              </a:rPr>
              <a:t>S2</a:t>
            </a:r>
            <a:r>
              <a:rPr lang="zh-CN" altLang="en-US" sz="2400">
                <a:latin typeface="宋体" panose="02010600030101010101" pitchFamily="2" charset="-122"/>
                <a:ea typeface="宋体" panose="02010600030101010101" pitchFamily="2" charset="-122"/>
              </a:rPr>
              <a:t>会</a:t>
            </a:r>
            <a:endParaRPr lang="zh-CN" altLang="en-US"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solidFill>
                  <a:srgbClr val="FF0000"/>
                </a:solidFill>
                <a:latin typeface="宋体" panose="02010600030101010101" pitchFamily="2" charset="-122"/>
                <a:ea typeface="宋体" panose="02010600030101010101" pitchFamily="2" charset="-122"/>
              </a:rPr>
              <a:t>B</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仅</a:t>
            </a:r>
            <a:r>
              <a:rPr lang="en-US" altLang="zh-CN" sz="2400">
                <a:latin typeface="宋体" panose="02010600030101010101" pitchFamily="2" charset="-122"/>
                <a:ea typeface="宋体" panose="02010600030101010101" pitchFamily="2" charset="-122"/>
              </a:rPr>
              <a:t>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a:p>
            <a:pPr marL="0" indent="0" algn="just" defTabSz="266700">
              <a:spcAft>
                <a:spcPct val="0"/>
              </a:spcAft>
            </a:pPr>
            <a:r>
              <a:rPr lang="en-US" altLang="zh-CN" sz="2400">
                <a:latin typeface="宋体" panose="02010600030101010101" pitchFamily="2" charset="-122"/>
                <a:ea typeface="宋体" panose="02010600030101010101" pitchFamily="2" charset="-122"/>
              </a:rPr>
              <a:t>D.I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III</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死锁的解除</a:t>
            </a:r>
            <a:endParaRPr lang="en-US" altLang="zh-CN" sz="2800" b="1" dirty="0">
              <a:solidFill>
                <a:schemeClr val="bg1"/>
              </a:solidFill>
            </a:endParaRPr>
          </a:p>
        </p:txBody>
      </p:sp>
      <p:sp>
        <p:nvSpPr>
          <p:cNvPr id="24" name="iśḷíḑe"/>
          <p:cNvSpPr/>
          <p:nvPr>
            <p:custDataLst>
              <p:tags r:id="rId1"/>
            </p:custDataLst>
          </p:nvPr>
        </p:nvSpPr>
        <p:spPr>
          <a:xfrm>
            <a:off x="1067766" y="215040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5" name="ïś1ïḑè"/>
          <p:cNvSpPr/>
          <p:nvPr>
            <p:custDataLst>
              <p:tags r:id="rId2"/>
            </p:custDataLst>
          </p:nvPr>
        </p:nvSpPr>
        <p:spPr>
          <a:xfrm>
            <a:off x="1067766" y="3380707"/>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26" name="内容占位符 2"/>
          <p:cNvSpPr txBox="1"/>
          <p:nvPr>
            <p:custDataLst>
              <p:tags r:id="rId3"/>
            </p:custDataLst>
          </p:nvPr>
        </p:nvSpPr>
        <p:spPr>
          <a:xfrm>
            <a:off x="2017942" y="2070541"/>
            <a:ext cx="9106292"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抢占资源。</a:t>
            </a:r>
            <a:r>
              <a:rPr lang="zh-CN" altLang="en-US" sz="2400" dirty="0"/>
              <a:t>从一个或多个进程中抢占足够数量的资源给死锁进程，以解除死锁状态。</a:t>
            </a:r>
            <a:endParaRPr lang="zh-CN" altLang="en-US" sz="2400" dirty="0"/>
          </a:p>
        </p:txBody>
      </p:sp>
      <p:sp>
        <p:nvSpPr>
          <p:cNvPr id="27" name="内容占位符 2"/>
          <p:cNvSpPr txBox="1"/>
          <p:nvPr>
            <p:custDataLst>
              <p:tags r:id="rId4"/>
            </p:custDataLst>
          </p:nvPr>
        </p:nvSpPr>
        <p:spPr>
          <a:xfrm>
            <a:off x="2017941" y="3380707"/>
            <a:ext cx="9106292" cy="5965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olidFill>
                  <a:srgbClr val="0000FF"/>
                </a:solidFill>
              </a:rPr>
              <a:t>终止或撤消进程。</a:t>
            </a:r>
            <a:r>
              <a:rPr lang="zh-CN" altLang="en-US" sz="2400" dirty="0"/>
              <a:t>终止系统中一个或多个死锁进程，直到打破循环环路，使死锁状态消除为止。</a:t>
            </a:r>
            <a:endParaRPr lang="zh-CN" altLang="en-US" sz="2400" dirty="0"/>
          </a:p>
        </p:txBody>
      </p:sp>
      <p:sp>
        <p:nvSpPr>
          <p:cNvPr id="28" name="内容占位符 2"/>
          <p:cNvSpPr txBox="1"/>
          <p:nvPr/>
        </p:nvSpPr>
        <p:spPr>
          <a:xfrm>
            <a:off x="2017941" y="4410838"/>
            <a:ext cx="5678259" cy="1185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2000"/>
              </a:lnSpc>
              <a:buClr>
                <a:srgbClr val="0000FF"/>
              </a:buClr>
              <a:buFont typeface="Wingdings" panose="05000000000000000000" pitchFamily="2" charset="2"/>
              <a:buChar char="Ø"/>
            </a:pPr>
            <a:r>
              <a:rPr lang="zh-CN" altLang="en-US" sz="2400" dirty="0"/>
              <a:t>终止所有死锁进程（最简单方法）</a:t>
            </a:r>
            <a:endParaRPr lang="zh-CN" altLang="en-US" sz="2400" dirty="0"/>
          </a:p>
          <a:p>
            <a:pPr>
              <a:lnSpc>
                <a:spcPct val="132000"/>
              </a:lnSpc>
              <a:buClr>
                <a:srgbClr val="0000FF"/>
              </a:buClr>
              <a:buFont typeface="Wingdings" panose="05000000000000000000" pitchFamily="2" charset="2"/>
              <a:buChar char="Ø"/>
            </a:pPr>
            <a:r>
              <a:rPr lang="zh-CN" altLang="en-US" sz="2400" dirty="0"/>
              <a:t>逐个终止进程（稍温和方法）</a:t>
            </a:r>
            <a:endParaRPr lang="zh-CN" altLang="en-US" sz="2400" dirty="0"/>
          </a:p>
        </p:txBody>
      </p:sp>
      <p:sp>
        <p:nvSpPr>
          <p:cNvPr id="29" name="矩形 28"/>
          <p:cNvSpPr/>
          <p:nvPr/>
        </p:nvSpPr>
        <p:spPr>
          <a:xfrm>
            <a:off x="972172" y="1285038"/>
            <a:ext cx="10924312" cy="569267"/>
          </a:xfrm>
          <a:prstGeom prst="rect">
            <a:avLst/>
          </a:prstGeom>
        </p:spPr>
        <p:txBody>
          <a:bodyPr wrap="square">
            <a:noAutofit/>
          </a:bodyPr>
          <a:lstStyle/>
          <a:p>
            <a:pPr>
              <a:tabLst>
                <a:tab pos="2800350" algn="l"/>
                <a:tab pos="3708400" algn="ctr"/>
              </a:tabLst>
            </a:pPr>
            <a:r>
              <a:rPr lang="zh-CN" altLang="en-US" sz="2600" dirty="0">
                <a:latin typeface="+mn-ea"/>
              </a:rPr>
              <a:t>常用解除死锁的两种方法：</a:t>
            </a:r>
            <a:endParaRPr lang="zh-CN" altLang="en-US" sz="2600" dirty="0">
              <a:latin typeface="+mn-ea"/>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34044" y="1579233"/>
            <a:ext cx="10924312" cy="5016875"/>
          </a:xfrm>
          <a:prstGeom prst="rect">
            <a:avLst/>
          </a:prstGeom>
        </p:spPr>
        <p:txBody>
          <a:bodyPr wrap="square">
            <a:noAutofit/>
          </a:bodyPr>
          <a:lstStyle/>
          <a:p>
            <a:pPr>
              <a:spcBef>
                <a:spcPts val="1200"/>
              </a:spcBef>
              <a:tabLst>
                <a:tab pos="2800350" algn="l"/>
                <a:tab pos="3708400" algn="ctr"/>
              </a:tabLst>
            </a:pPr>
            <a:r>
              <a:rPr lang="zh-CN" altLang="en-US" sz="2400" dirty="0">
                <a:latin typeface="+mn-ea"/>
              </a:rPr>
              <a:t>中断所有的死锁进程。</a:t>
            </a:r>
            <a:endParaRPr lang="zh-CN" altLang="en-US" sz="2400" dirty="0">
              <a:latin typeface="+mn-ea"/>
            </a:endParaRPr>
          </a:p>
          <a:p>
            <a:pPr>
              <a:spcBef>
                <a:spcPts val="1200"/>
              </a:spcBef>
              <a:tabLst>
                <a:tab pos="2800350" algn="l"/>
                <a:tab pos="3708400" algn="ctr"/>
              </a:tabLst>
            </a:pPr>
            <a:r>
              <a:rPr lang="zh-CN" altLang="en-US" sz="2400" dirty="0">
                <a:latin typeface="+mn-ea"/>
              </a:rPr>
              <a:t>一次中断一个进程，直到死锁环消失。</a:t>
            </a:r>
            <a:endParaRPr lang="zh-CN" altLang="en-US" sz="2400" dirty="0">
              <a:latin typeface="+mn-ea"/>
            </a:endParaRPr>
          </a:p>
          <a:p>
            <a:pPr>
              <a:spcBef>
                <a:spcPts val="1200"/>
              </a:spcBef>
              <a:tabLst>
                <a:tab pos="2800350" algn="l"/>
                <a:tab pos="3708400" algn="ctr"/>
              </a:tabLst>
            </a:pPr>
            <a:endParaRPr lang="zh-CN" altLang="en-US" sz="2400" dirty="0">
              <a:latin typeface="+mn-ea"/>
            </a:endParaRPr>
          </a:p>
          <a:p>
            <a:pPr>
              <a:spcBef>
                <a:spcPts val="1200"/>
              </a:spcBef>
              <a:tabLst>
                <a:tab pos="2800350" algn="l"/>
                <a:tab pos="3708400" algn="ctr"/>
              </a:tabLst>
            </a:pPr>
            <a:r>
              <a:rPr lang="zh-CN" altLang="en-US" sz="2400" dirty="0">
                <a:latin typeface="+mn-ea"/>
              </a:rPr>
              <a:t>应该选择怎样的中断顺序，使“</a:t>
            </a:r>
            <a:r>
              <a:rPr lang="zh-CN" altLang="en-US" sz="2400" dirty="0">
                <a:solidFill>
                  <a:srgbClr val="FF0000"/>
                </a:solidFill>
                <a:latin typeface="+mn-ea"/>
              </a:rPr>
              <a:t>代价最小</a:t>
            </a:r>
            <a:r>
              <a:rPr lang="zh-CN" altLang="en-US" sz="2400" dirty="0">
                <a:latin typeface="+mn-ea"/>
              </a:rPr>
              <a:t>”？</a:t>
            </a:r>
            <a:endParaRPr lang="zh-CN" altLang="en-US" sz="24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400" dirty="0">
                <a:latin typeface="+mn-ea"/>
              </a:rPr>
              <a:t>进程的优先级；</a:t>
            </a:r>
            <a:endParaRPr lang="zh-CN" altLang="en-US" sz="24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400" dirty="0">
                <a:latin typeface="+mn-ea"/>
              </a:rPr>
              <a:t>进程需要计算多长时间，以及需要多长时间结束；</a:t>
            </a:r>
            <a:endParaRPr lang="zh-CN" altLang="en-US" sz="24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400" dirty="0">
                <a:latin typeface="+mn-ea"/>
              </a:rPr>
              <a:t>进程使用的资源，进程完成还需要多少资源；</a:t>
            </a:r>
            <a:endParaRPr lang="zh-CN" altLang="en-US" sz="24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400" dirty="0">
                <a:latin typeface="+mn-ea"/>
              </a:rPr>
              <a:t>进程是交互的还是批处理的。</a:t>
            </a:r>
            <a:endParaRPr lang="zh-CN" altLang="en-US" sz="2400" dirty="0">
              <a:latin typeface="+mn-ea"/>
            </a:endParaRPr>
          </a:p>
          <a:p>
            <a:pPr>
              <a:spcBef>
                <a:spcPts val="1200"/>
              </a:spcBef>
              <a:tabLst>
                <a:tab pos="2800350" algn="l"/>
                <a:tab pos="3708400" algn="ctr"/>
              </a:tabLst>
            </a:pPr>
            <a:endParaRPr lang="zh-CN" altLang="en-US" sz="2400" dirty="0">
              <a:latin typeface="+mn-ea"/>
            </a:endParaRPr>
          </a:p>
        </p:txBody>
      </p:sp>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进程终止</a:t>
            </a:r>
            <a:endParaRPr lang="en-US" altLang="zh-CN" sz="2800" b="1" dirty="0">
              <a:solidFill>
                <a:schemeClr val="bg1"/>
              </a:solidFill>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633275" y="1518273"/>
            <a:ext cx="527050" cy="527050"/>
          </a:xfrm>
          <a:prstGeom prst="rect">
            <a:avLst/>
          </a:prstGeom>
          <a:ln>
            <a:noFill/>
          </a:ln>
          <a:effectLst>
            <a:softEdge rad="0"/>
          </a:effectLst>
        </p:spPr>
      </p:pic>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633275" y="2087183"/>
            <a:ext cx="527050" cy="527050"/>
          </a:xfrm>
          <a:prstGeom prst="rect">
            <a:avLst/>
          </a:prstGeom>
          <a:ln>
            <a:noFill/>
          </a:ln>
          <a:effectLst>
            <a:softEdge rad="0"/>
          </a:effectLst>
        </p:spPr>
      </p:pic>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633275" y="3085903"/>
            <a:ext cx="527050" cy="527050"/>
          </a:xfrm>
          <a:prstGeom prst="rect">
            <a:avLst/>
          </a:prstGeom>
          <a:ln>
            <a:noFill/>
          </a:ln>
          <a:effectLst>
            <a:softEdge rad="0"/>
          </a:effec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3</a:t>
            </a:r>
            <a:r>
              <a:rPr lang="zh-CN" altLang="en-US" sz="2800" b="1" dirty="0">
                <a:solidFill>
                  <a:schemeClr val="bg1"/>
                </a:solidFill>
              </a:rPr>
              <a:t>章知识导图</a:t>
            </a:r>
            <a:endParaRPr lang="zh-CN" altLang="en-US" sz="2800" b="1" dirty="0">
              <a:solidFill>
                <a:schemeClr val="bg1"/>
              </a:solidFill>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11" name="前凸带形 3"/>
          <p:cNvSpPr/>
          <p:nvPr/>
        </p:nvSpPr>
        <p:spPr>
          <a:xfrm>
            <a:off x="9445579" y="6097453"/>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mn-ea"/>
              </a:rPr>
              <a:t>本章学习结束</a:t>
            </a:r>
            <a:endParaRPr lang="zh-CN" altLang="en-US" sz="1600" b="1" dirty="0">
              <a:solidFill>
                <a:schemeClr val="bg1"/>
              </a:solidFill>
              <a:latin typeface="+mn-ea"/>
            </a:endParaRPr>
          </a:p>
        </p:txBody>
      </p:sp>
      <p:graphicFrame>
        <p:nvGraphicFramePr>
          <p:cNvPr id="3" name="表格 2"/>
          <p:cNvGraphicFramePr/>
          <p:nvPr>
            <p:custDataLst>
              <p:tags r:id="rId2"/>
            </p:custDataLst>
          </p:nvPr>
        </p:nvGraphicFramePr>
        <p:xfrm>
          <a:off x="188111" y="1801844"/>
          <a:ext cx="3804920" cy="3592195"/>
        </p:xfrm>
        <a:graphic>
          <a:graphicData uri="http://schemas.openxmlformats.org/drawingml/2006/table">
            <a:tbl>
              <a:tblPr firstRow="1" bandRow="1">
                <a:tableStyleId>{72833802-FEF1-4C79-8D5D-14CF1EAF98D9}</a:tableStyleId>
              </a:tblPr>
              <a:tblGrid>
                <a:gridCol w="1221039"/>
                <a:gridCol w="2583815"/>
              </a:tblGrid>
              <a:tr h="399121">
                <a:tc>
                  <a:txBody>
                    <a:bodyPr/>
                    <a:lstStyle/>
                    <a:p>
                      <a:pPr marL="71755" indent="0" algn="ctr"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第1章</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0" indent="0" algn="l"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 </a:t>
                      </a:r>
                      <a:r>
                        <a:rPr lang="en-US" sz="2000" b="0" kern="1200" dirty="0" err="1">
                          <a:solidFill>
                            <a:schemeClr val="tx1"/>
                          </a:solidFill>
                          <a:latin typeface="微软雅黑 (正文)"/>
                          <a:ea typeface="+mn-ea"/>
                          <a:cs typeface="+mn-cs"/>
                        </a:rPr>
                        <a:t>操作系统引论</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第2章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第3章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处理机调度与死锁</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pic>
        <p:nvPicPr>
          <p:cNvPr id="4" name="图片 3" descr="第3章 知识导图"/>
          <p:cNvPicPr>
            <a:picLocks noChangeAspect="1"/>
          </p:cNvPicPr>
          <p:nvPr/>
        </p:nvPicPr>
        <p:blipFill>
          <a:blip r:embed="rId3"/>
          <a:stretch>
            <a:fillRect/>
          </a:stretch>
        </p:blipFill>
        <p:spPr>
          <a:xfrm>
            <a:off x="4074160" y="953135"/>
            <a:ext cx="7999730" cy="5012055"/>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3717" y="583363"/>
            <a:ext cx="10924312" cy="569267"/>
          </a:xfrm>
          <a:prstGeom prst="rect">
            <a:avLst/>
          </a:prstGeom>
        </p:spPr>
        <p:txBody>
          <a:bodyPr wrap="square">
            <a:noAutofit/>
          </a:bodyPr>
          <a:lstStyle/>
          <a:p>
            <a:pPr>
              <a:tabLst>
                <a:tab pos="2800350" algn="l"/>
                <a:tab pos="3708400" algn="ctr"/>
              </a:tabLst>
            </a:pPr>
            <a:r>
              <a:rPr lang="en-US" altLang="zh-CN" sz="2600" dirty="0">
                <a:solidFill>
                  <a:schemeClr val="accent4">
                    <a:lumMod val="60000"/>
                    <a:lumOff val="40000"/>
                  </a:schemeClr>
                </a:solidFill>
                <a:latin typeface="+mn-ea"/>
              </a:rPr>
              <a:t>1. </a:t>
            </a:r>
            <a:r>
              <a:rPr lang="zh-CN" altLang="en-US" sz="2600" dirty="0">
                <a:solidFill>
                  <a:schemeClr val="accent4">
                    <a:lumMod val="60000"/>
                    <a:lumOff val="40000"/>
                  </a:schemeClr>
                </a:solidFill>
                <a:latin typeface="+mn-ea"/>
              </a:rPr>
              <a:t>高级调度与低级调度的主要任务是什么？为什么要引入中级调度？</a:t>
            </a:r>
            <a:endParaRPr lang="zh-CN" altLang="en-US" sz="2600" dirty="0">
              <a:solidFill>
                <a:schemeClr val="accent4">
                  <a:lumMod val="60000"/>
                  <a:lumOff val="40000"/>
                </a:schemeClr>
              </a:solidFill>
              <a:latin typeface="+mn-ea"/>
            </a:endParaRPr>
          </a:p>
        </p:txBody>
      </p:sp>
      <p:pic>
        <p:nvPicPr>
          <p:cNvPr id="6" name="图片 5" descr="c32dae33-420f-42dc-bfed-8152720a05fc"/>
          <p:cNvPicPr>
            <a:picLocks noChangeAspect="1"/>
          </p:cNvPicPr>
          <p:nvPr/>
        </p:nvPicPr>
        <p:blipFill>
          <a:blip r:embed="rId1"/>
          <a:stretch>
            <a:fillRect/>
          </a:stretch>
        </p:blipFill>
        <p:spPr>
          <a:xfrm>
            <a:off x="495935" y="1256030"/>
            <a:ext cx="11324590" cy="3424555"/>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3717" y="377623"/>
            <a:ext cx="10924312" cy="569267"/>
          </a:xfrm>
          <a:prstGeom prst="rect">
            <a:avLst/>
          </a:prstGeom>
        </p:spPr>
        <p:txBody>
          <a:bodyPr wrap="square">
            <a:noAutofit/>
          </a:bodyPr>
          <a:lstStyle/>
          <a:p>
            <a:pPr>
              <a:tabLst>
                <a:tab pos="2800350" algn="l"/>
                <a:tab pos="3708400" algn="ctr"/>
              </a:tabLst>
            </a:pPr>
            <a:r>
              <a:rPr lang="en-US" altLang="zh-CN" sz="2600" dirty="0">
                <a:solidFill>
                  <a:schemeClr val="accent4">
                    <a:lumMod val="60000"/>
                    <a:lumOff val="40000"/>
                  </a:schemeClr>
                </a:solidFill>
                <a:latin typeface="+mn-ea"/>
              </a:rPr>
              <a:t>2. </a:t>
            </a:r>
            <a:r>
              <a:rPr lang="zh-CN" altLang="en-US" sz="2600" dirty="0">
                <a:solidFill>
                  <a:schemeClr val="accent4">
                    <a:lumMod val="60000"/>
                    <a:lumOff val="40000"/>
                  </a:schemeClr>
                </a:solidFill>
                <a:latin typeface="+mn-ea"/>
              </a:rPr>
              <a:t>何为作业和</a:t>
            </a:r>
            <a:r>
              <a:rPr lang="en-US" altLang="zh-CN" sz="2600" dirty="0">
                <a:solidFill>
                  <a:schemeClr val="accent4">
                    <a:lumMod val="60000"/>
                    <a:lumOff val="40000"/>
                  </a:schemeClr>
                </a:solidFill>
                <a:latin typeface="+mn-ea"/>
              </a:rPr>
              <a:t>JCB</a:t>
            </a:r>
            <a:r>
              <a:rPr lang="zh-CN" altLang="en-US" sz="2600" dirty="0">
                <a:solidFill>
                  <a:schemeClr val="accent4">
                    <a:lumMod val="60000"/>
                    <a:lumOff val="40000"/>
                  </a:schemeClr>
                </a:solidFill>
                <a:latin typeface="+mn-ea"/>
              </a:rPr>
              <a:t>（作业控制块）？</a:t>
            </a:r>
            <a:endParaRPr lang="zh-CN" altLang="en-US" sz="2600" dirty="0">
              <a:solidFill>
                <a:schemeClr val="accent4">
                  <a:lumMod val="60000"/>
                  <a:lumOff val="40000"/>
                </a:schemeClr>
              </a:solidFill>
              <a:latin typeface="+mn-ea"/>
            </a:endParaRPr>
          </a:p>
        </p:txBody>
      </p:sp>
      <p:pic>
        <p:nvPicPr>
          <p:cNvPr id="2" name="图片 1" descr="6d75b631-fa5c-49b0-b275-3c43897f5652"/>
          <p:cNvPicPr>
            <a:picLocks noChangeAspect="1"/>
          </p:cNvPicPr>
          <p:nvPr/>
        </p:nvPicPr>
        <p:blipFill>
          <a:blip r:embed="rId1"/>
          <a:stretch>
            <a:fillRect/>
          </a:stretch>
        </p:blipFill>
        <p:spPr>
          <a:xfrm>
            <a:off x="497205" y="946785"/>
            <a:ext cx="11237595" cy="1695450"/>
          </a:xfrm>
          <a:prstGeom prst="rect">
            <a:avLst/>
          </a:prstGeom>
        </p:spPr>
      </p:pic>
      <p:sp>
        <p:nvSpPr>
          <p:cNvPr id="3" name="矩形 2"/>
          <p:cNvSpPr/>
          <p:nvPr/>
        </p:nvSpPr>
        <p:spPr>
          <a:xfrm>
            <a:off x="633717" y="2707438"/>
            <a:ext cx="10924312" cy="569267"/>
          </a:xfrm>
          <a:prstGeom prst="rect">
            <a:avLst/>
          </a:prstGeom>
        </p:spPr>
        <p:txBody>
          <a:bodyPr wrap="square">
            <a:noAutofit/>
          </a:bodyPr>
          <a:lstStyle/>
          <a:p>
            <a:pPr>
              <a:tabLst>
                <a:tab pos="2800350" algn="l"/>
                <a:tab pos="3708400" algn="ctr"/>
              </a:tabLst>
            </a:pPr>
            <a:r>
              <a:rPr lang="en-US" altLang="zh-CN" sz="2600" dirty="0">
                <a:solidFill>
                  <a:schemeClr val="accent4">
                    <a:lumMod val="60000"/>
                    <a:lumOff val="40000"/>
                  </a:schemeClr>
                </a:solidFill>
                <a:latin typeface="+mn-ea"/>
              </a:rPr>
              <a:t>3. </a:t>
            </a:r>
            <a:r>
              <a:rPr lang="zh-CN" sz="2600" dirty="0">
                <a:solidFill>
                  <a:schemeClr val="accent4">
                    <a:lumMod val="60000"/>
                    <a:lumOff val="40000"/>
                  </a:schemeClr>
                </a:solidFill>
                <a:latin typeface="+mn-ea"/>
              </a:rPr>
              <a:t>在什么情况下需要使用</a:t>
            </a:r>
            <a:r>
              <a:rPr lang="en-US" altLang="zh-CN" sz="2600" dirty="0">
                <a:solidFill>
                  <a:schemeClr val="accent4">
                    <a:lumMod val="60000"/>
                    <a:lumOff val="40000"/>
                  </a:schemeClr>
                </a:solidFill>
                <a:latin typeface="+mn-ea"/>
              </a:rPr>
              <a:t>JCB</a:t>
            </a:r>
            <a:r>
              <a:rPr lang="zh-CN" altLang="en-US" sz="2600" dirty="0">
                <a:solidFill>
                  <a:schemeClr val="accent4">
                    <a:lumMod val="60000"/>
                    <a:lumOff val="40000"/>
                  </a:schemeClr>
                </a:solidFill>
                <a:latin typeface="+mn-ea"/>
              </a:rPr>
              <a:t>？</a:t>
            </a:r>
            <a:endParaRPr lang="zh-CN" altLang="en-US" sz="2600" dirty="0">
              <a:solidFill>
                <a:schemeClr val="accent4">
                  <a:lumMod val="60000"/>
                  <a:lumOff val="40000"/>
                </a:schemeClr>
              </a:solidFill>
              <a:latin typeface="+mn-ea"/>
            </a:endParaRPr>
          </a:p>
        </p:txBody>
      </p:sp>
      <p:pic>
        <p:nvPicPr>
          <p:cNvPr id="6" name="图片 5" descr="2910b644-13ff-4ede-a343-fcd1986b7504"/>
          <p:cNvPicPr>
            <a:picLocks noChangeAspect="1"/>
          </p:cNvPicPr>
          <p:nvPr/>
        </p:nvPicPr>
        <p:blipFill>
          <a:blip r:embed="rId2"/>
          <a:stretch>
            <a:fillRect/>
          </a:stretch>
        </p:blipFill>
        <p:spPr>
          <a:xfrm>
            <a:off x="1123315" y="3246120"/>
            <a:ext cx="10334625" cy="471170"/>
          </a:xfrm>
          <a:prstGeom prst="rect">
            <a:avLst/>
          </a:prstGeom>
        </p:spPr>
      </p:pic>
      <p:pic>
        <p:nvPicPr>
          <p:cNvPr id="7" name="图片 6" descr="0951d240-68fe-46fb-803b-0f545dfba002"/>
          <p:cNvPicPr>
            <a:picLocks noChangeAspect="1"/>
          </p:cNvPicPr>
          <p:nvPr/>
        </p:nvPicPr>
        <p:blipFill>
          <a:blip r:embed="rId3"/>
          <a:stretch>
            <a:fillRect/>
          </a:stretch>
        </p:blipFill>
        <p:spPr>
          <a:xfrm>
            <a:off x="633730" y="3702050"/>
            <a:ext cx="10924540" cy="2886075"/>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30f77c8b-4e5d-4607-8d11-0105ba1804cc"/>
          <p:cNvPicPr>
            <a:picLocks noChangeAspect="1"/>
          </p:cNvPicPr>
          <p:nvPr/>
        </p:nvPicPr>
        <p:blipFill>
          <a:blip r:embed="rId1"/>
          <a:stretch>
            <a:fillRect/>
          </a:stretch>
        </p:blipFill>
        <p:spPr>
          <a:xfrm>
            <a:off x="467360" y="319405"/>
            <a:ext cx="11311255" cy="798830"/>
          </a:xfrm>
          <a:prstGeom prst="rect">
            <a:avLst/>
          </a:prstGeom>
        </p:spPr>
      </p:pic>
      <p:pic>
        <p:nvPicPr>
          <p:cNvPr id="3" name="图片 2" descr="912224bc-5c45-49e1-9e76-db431e76e29e"/>
          <p:cNvPicPr>
            <a:picLocks noChangeAspect="1"/>
          </p:cNvPicPr>
          <p:nvPr/>
        </p:nvPicPr>
        <p:blipFill>
          <a:blip r:embed="rId2"/>
          <a:stretch>
            <a:fillRect/>
          </a:stretch>
        </p:blipFill>
        <p:spPr>
          <a:xfrm>
            <a:off x="467360" y="1118235"/>
            <a:ext cx="11217910" cy="4483735"/>
          </a:xfrm>
          <a:prstGeom prst="rect">
            <a:avLst/>
          </a:prstGeom>
        </p:spPr>
      </p:pic>
      <p:pic>
        <p:nvPicPr>
          <p:cNvPr id="4" name="图片 3" descr="225d4cb8-4318-41fe-8c6f-fe431b0a8755"/>
          <p:cNvPicPr>
            <a:picLocks noChangeAspect="1"/>
          </p:cNvPicPr>
          <p:nvPr/>
        </p:nvPicPr>
        <p:blipFill>
          <a:blip r:embed="rId3"/>
          <a:stretch>
            <a:fillRect/>
          </a:stretch>
        </p:blipFill>
        <p:spPr>
          <a:xfrm>
            <a:off x="1465580" y="5601970"/>
            <a:ext cx="8208645" cy="1048385"/>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739d1a6e-f82e-472f-ac4e-a0b7caa35e06"/>
          <p:cNvPicPr>
            <a:picLocks noChangeAspect="1"/>
          </p:cNvPicPr>
          <p:nvPr/>
        </p:nvPicPr>
        <p:blipFill>
          <a:blip r:embed="rId1"/>
          <a:stretch>
            <a:fillRect/>
          </a:stretch>
        </p:blipFill>
        <p:spPr>
          <a:xfrm>
            <a:off x="1405890" y="196850"/>
            <a:ext cx="9379585" cy="6471285"/>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4c2649e2-ee74-4b0b-9f03-441376ff13c8"/>
          <p:cNvPicPr>
            <a:picLocks noChangeAspect="1"/>
          </p:cNvPicPr>
          <p:nvPr/>
        </p:nvPicPr>
        <p:blipFill>
          <a:blip r:embed="rId1"/>
          <a:stretch>
            <a:fillRect/>
          </a:stretch>
        </p:blipFill>
        <p:spPr>
          <a:xfrm>
            <a:off x="757555" y="351790"/>
            <a:ext cx="8607425" cy="1991360"/>
          </a:xfrm>
          <a:prstGeom prst="rect">
            <a:avLst/>
          </a:prstGeom>
        </p:spPr>
      </p:pic>
      <p:pic>
        <p:nvPicPr>
          <p:cNvPr id="3" name="图片 2" descr="f22cd7ea-942a-4cc1-b80d-42451414bd63"/>
          <p:cNvPicPr>
            <a:picLocks noChangeAspect="1"/>
          </p:cNvPicPr>
          <p:nvPr/>
        </p:nvPicPr>
        <p:blipFill>
          <a:blip r:embed="rId2"/>
          <a:stretch>
            <a:fillRect/>
          </a:stretch>
        </p:blipFill>
        <p:spPr>
          <a:xfrm>
            <a:off x="757555" y="2343150"/>
            <a:ext cx="10655300" cy="535940"/>
          </a:xfrm>
          <a:prstGeom prst="rect">
            <a:avLst/>
          </a:prstGeom>
        </p:spPr>
      </p:pic>
      <p:pic>
        <p:nvPicPr>
          <p:cNvPr id="4" name="图片 3" descr="570279ec-1449-44ca-9461-7a199e3b7874"/>
          <p:cNvPicPr>
            <a:picLocks noChangeAspect="1"/>
          </p:cNvPicPr>
          <p:nvPr/>
        </p:nvPicPr>
        <p:blipFill>
          <a:blip r:embed="rId3"/>
          <a:stretch>
            <a:fillRect/>
          </a:stretch>
        </p:blipFill>
        <p:spPr>
          <a:xfrm>
            <a:off x="605155" y="3028315"/>
            <a:ext cx="10981690" cy="3317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9ccf1ef3-52b7-4e30-8e14-4a97637cc112"/>
          <p:cNvPicPr>
            <a:picLocks noChangeAspect="1"/>
          </p:cNvPicPr>
          <p:nvPr/>
        </p:nvPicPr>
        <p:blipFill>
          <a:blip r:embed="rId1"/>
          <a:stretch>
            <a:fillRect/>
          </a:stretch>
        </p:blipFill>
        <p:spPr>
          <a:xfrm>
            <a:off x="479425" y="555625"/>
            <a:ext cx="11233150" cy="1351915"/>
          </a:xfrm>
          <a:prstGeom prst="rect">
            <a:avLst/>
          </a:prstGeom>
        </p:spPr>
      </p:pic>
      <p:pic>
        <p:nvPicPr>
          <p:cNvPr id="3" name="图片 2" descr="74565869-67aa-4d2e-bf03-97fdabcfd84f"/>
          <p:cNvPicPr>
            <a:picLocks noChangeAspect="1"/>
          </p:cNvPicPr>
          <p:nvPr/>
        </p:nvPicPr>
        <p:blipFill>
          <a:blip r:embed="rId2"/>
          <a:stretch>
            <a:fillRect/>
          </a:stretch>
        </p:blipFill>
        <p:spPr>
          <a:xfrm>
            <a:off x="489585" y="2209165"/>
            <a:ext cx="11222990" cy="34074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d70ef292-b459-450e-b271-f2c7c49d3f20"/>
          <p:cNvPicPr>
            <a:picLocks noChangeAspect="1"/>
          </p:cNvPicPr>
          <p:nvPr/>
        </p:nvPicPr>
        <p:blipFill>
          <a:blip r:embed="rId1"/>
          <a:stretch>
            <a:fillRect/>
          </a:stretch>
        </p:blipFill>
        <p:spPr>
          <a:xfrm>
            <a:off x="894715" y="202565"/>
            <a:ext cx="9316085" cy="3975100"/>
          </a:xfrm>
          <a:prstGeom prst="rect">
            <a:avLst/>
          </a:prstGeom>
        </p:spPr>
      </p:pic>
      <p:pic>
        <p:nvPicPr>
          <p:cNvPr id="3" name="图片 2" descr="18c02bf7-b396-4d0e-92e5-56d76c8177c1"/>
          <p:cNvPicPr>
            <a:picLocks noChangeAspect="1"/>
          </p:cNvPicPr>
          <p:nvPr/>
        </p:nvPicPr>
        <p:blipFill>
          <a:blip r:embed="rId2"/>
          <a:stretch>
            <a:fillRect/>
          </a:stretch>
        </p:blipFill>
        <p:spPr>
          <a:xfrm>
            <a:off x="894715" y="4379595"/>
            <a:ext cx="10051415" cy="2228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07869" y="1109446"/>
            <a:ext cx="10528916"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中科红旗之后，谁将再次勇战操作系统世界霸主？</a:t>
            </a:r>
            <a:endParaRPr lang="zh-CN" altLang="en-US" sz="2400" dirty="0">
              <a:solidFill>
                <a:srgbClr val="0000FF"/>
              </a:solidFill>
              <a:latin typeface="+mn-ea"/>
              <a:cs typeface="黑体" panose="02010609060101010101" charset="-122"/>
            </a:endParaRP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rPr>
              <a:t>提及北京中科红旗软件技术有限公司（简称中科红旗），读者可能有所不知，从事计算机信息技术领域具备国产自主知识产权的“红旗</a:t>
            </a:r>
            <a:r>
              <a:rPr lang="en-US" altLang="zh-CN" sz="2400" dirty="0">
                <a:latin typeface="+mn-ea"/>
                <a:cs typeface="Times New Roman" panose="02020603050405020304" pitchFamily="18" charset="0"/>
              </a:rPr>
              <a:t>Linux</a:t>
            </a:r>
            <a:r>
              <a:rPr lang="zh-CN" altLang="en-US" sz="2400" dirty="0">
                <a:latin typeface="+mn-ea"/>
                <a:cs typeface="Times New Roman" panose="02020603050405020304" pitchFamily="18" charset="0"/>
              </a:rPr>
              <a:t>系统”研发的中科红旗，曾长期占据国产操作系统市场老大位置。因此对于操作系统领域的相关人员而言，中科红旗绝对是一个“难以忘怀”的名字。</a:t>
            </a:r>
            <a:endParaRPr lang="zh-CN" altLang="en-US" sz="2400" dirty="0">
              <a:latin typeface="+mn-ea"/>
              <a:cs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pitchFamily="18" charset="0"/>
              </a:rPr>
              <a:t>20</a:t>
            </a:r>
            <a:r>
              <a:rPr lang="zh-CN" altLang="en-US" sz="2400" dirty="0">
                <a:latin typeface="+mn-ea"/>
                <a:cs typeface="Times New Roman" panose="02020603050405020304" pitchFamily="18" charset="0"/>
              </a:rPr>
              <a:t>世纪</a:t>
            </a:r>
            <a:r>
              <a:rPr lang="en-US" altLang="zh-CN" sz="2400" dirty="0">
                <a:latin typeface="+mn-ea"/>
                <a:cs typeface="Times New Roman" panose="02020603050405020304" pitchFamily="18" charset="0"/>
              </a:rPr>
              <a:t>90</a:t>
            </a:r>
            <a:r>
              <a:rPr lang="zh-CN" altLang="en-US" sz="2400" dirty="0">
                <a:latin typeface="+mn-ea"/>
                <a:cs typeface="Times New Roman" panose="02020603050405020304" pitchFamily="18" charset="0"/>
              </a:rPr>
              <a:t>年代初期，在微软公司大举进入中国市场并展示傲慢的信息技术（</a:t>
            </a:r>
            <a:r>
              <a:rPr lang="en-US" altLang="zh-CN" sz="2400" dirty="0">
                <a:latin typeface="+mn-ea"/>
                <a:cs typeface="Times New Roman" panose="02020603050405020304" pitchFamily="18" charset="0"/>
              </a:rPr>
              <a:t>information technology</a:t>
            </a:r>
            <a:r>
              <a:rPr lang="zh-CN" altLang="en-US" sz="2400" dirty="0">
                <a:latin typeface="+mn-ea"/>
                <a:cs typeface="Times New Roman" panose="02020603050405020304" pitchFamily="18" charset="0"/>
              </a:rPr>
              <a:t>，</a:t>
            </a:r>
            <a:r>
              <a:rPr lang="en-US" altLang="zh-CN" sz="2400" dirty="0">
                <a:latin typeface="+mn-ea"/>
                <a:cs typeface="Times New Roman" panose="02020603050405020304" pitchFamily="18" charset="0"/>
              </a:rPr>
              <a:t>IT</a:t>
            </a:r>
            <a:r>
              <a:rPr lang="zh-CN" altLang="en-US" sz="2400" dirty="0">
                <a:latin typeface="+mn-ea"/>
                <a:cs typeface="Times New Roman" panose="02020603050405020304" pitchFamily="18" charset="0"/>
              </a:rPr>
              <a:t>）巨头形象时，中科红旗被它的过分张扬与霸道所激怒，随即燃起了“起来，抵抗微软公司”的民族情绪，并联合北京金山办公软件股份有限公司（简称金山）等民族软件厂商抵抗微软公司的市场垄断行为。之后，红旗</a:t>
            </a:r>
            <a:r>
              <a:rPr lang="en-US" altLang="zh-CN" sz="2400" dirty="0">
                <a:latin typeface="+mn-ea"/>
                <a:cs typeface="Times New Roman" panose="02020603050405020304" pitchFamily="18" charset="0"/>
              </a:rPr>
              <a:t>Linux</a:t>
            </a:r>
            <a:r>
              <a:rPr lang="zh-CN" altLang="en-US" sz="2400" dirty="0">
                <a:latin typeface="+mn-ea"/>
                <a:cs typeface="Times New Roman" panose="02020603050405020304" pitchFamily="18" charset="0"/>
              </a:rPr>
              <a:t>系统在国内外渐渐具备一定的影响力，广泛</a:t>
            </a:r>
            <a:endParaRPr lang="zh-CN" sz="2400" dirty="0">
              <a:latin typeface="+mn-ea"/>
              <a:cs typeface="Times New Roman" panose="02020603050405020304"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52" name="内容占位符 3"/>
          <p:cNvSpPr txBox="1"/>
          <p:nvPr/>
        </p:nvSpPr>
        <p:spPr>
          <a:xfrm>
            <a:off x="807869" y="1109446"/>
            <a:ext cx="10528916"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中科红旗之后，谁将再次勇战操作系统世界霸主？</a:t>
            </a:r>
            <a:endParaRPr lang="zh-CN" altLang="en-US" sz="2400" dirty="0">
              <a:solidFill>
                <a:srgbClr val="0000FF"/>
              </a:solidFill>
              <a:latin typeface="+mn-ea"/>
              <a:cs typeface="黑体" panose="02010609060101010101" charset="-122"/>
            </a:endParaRPr>
          </a:p>
          <a:p>
            <a:pPr marL="0" indent="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pitchFamily="18" charset="0"/>
              </a:rPr>
              <a:t>应用于国家信息平台正版化、中国科学院、国家外汇管理局等全国性关键应用领域的国产信息化建设之中。联想、戴尔、惠普等公司的计算机也都曾预装过红旗</a:t>
            </a:r>
            <a:r>
              <a:rPr lang="en-US" altLang="zh-CN" sz="2400" dirty="0">
                <a:latin typeface="+mn-ea"/>
                <a:cs typeface="Times New Roman" panose="02020603050405020304" pitchFamily="18" charset="0"/>
              </a:rPr>
              <a:t>Linux</a:t>
            </a:r>
            <a:r>
              <a:rPr lang="zh-CN" altLang="en-US" sz="2400" dirty="0">
                <a:latin typeface="+mn-ea"/>
                <a:cs typeface="Times New Roman" panose="02020603050405020304" pitchFamily="18" charset="0"/>
              </a:rPr>
              <a:t>系统。</a:t>
            </a:r>
            <a:endParaRPr lang="en-US" altLang="zh-CN" sz="2400" dirty="0">
              <a:latin typeface="+mn-ea"/>
              <a:cs typeface="Times New Roman" panose="02020603050405020304" pitchFamily="18" charset="0"/>
            </a:endParaRPr>
          </a:p>
          <a:p>
            <a:pPr marL="0" indent="457200" algn="just">
              <a:lnSpc>
                <a:spcPct val="125000"/>
              </a:lnSpc>
              <a:spcBef>
                <a:spcPts val="300"/>
              </a:spcBef>
              <a:spcAft>
                <a:spcPts val="300"/>
              </a:spcAft>
              <a:buNone/>
            </a:pPr>
            <a:r>
              <a:rPr lang="zh-CN" altLang="en-US" sz="2400" dirty="0">
                <a:latin typeface="+mn-ea"/>
                <a:cs typeface="Times New Roman" panose="02020603050405020304" pitchFamily="18" charset="0"/>
              </a:rPr>
              <a:t>不料在种种因素的影响下，</a:t>
            </a:r>
            <a:r>
              <a:rPr lang="en-US" altLang="zh-CN" sz="2400" dirty="0">
                <a:latin typeface="+mn-ea"/>
                <a:cs typeface="Times New Roman" panose="02020603050405020304" pitchFamily="18" charset="0"/>
              </a:rPr>
              <a:t>2014</a:t>
            </a:r>
            <a:r>
              <a:rPr lang="zh-CN" altLang="en-US" sz="2400" dirty="0">
                <a:latin typeface="+mn-ea"/>
                <a:cs typeface="Times New Roman" panose="02020603050405020304" pitchFamily="18" charset="0"/>
              </a:rPr>
              <a:t>年</a:t>
            </a:r>
            <a:r>
              <a:rPr lang="en-US" altLang="zh-CN" sz="2400" dirty="0">
                <a:latin typeface="+mn-ea"/>
                <a:cs typeface="Times New Roman" panose="02020603050405020304" pitchFamily="18" charset="0"/>
              </a:rPr>
              <a:t>2</a:t>
            </a:r>
            <a:r>
              <a:rPr lang="zh-CN" altLang="en-US" sz="2400" dirty="0">
                <a:latin typeface="+mn-ea"/>
                <a:cs typeface="Times New Roman" panose="02020603050405020304" pitchFamily="18" charset="0"/>
              </a:rPr>
              <a:t>月</a:t>
            </a:r>
            <a:r>
              <a:rPr lang="en-US" altLang="zh-CN" sz="2400" dirty="0">
                <a:latin typeface="+mn-ea"/>
                <a:cs typeface="Times New Roman" panose="02020603050405020304" pitchFamily="18" charset="0"/>
              </a:rPr>
              <a:t>10</a:t>
            </a:r>
            <a:r>
              <a:rPr lang="zh-CN" altLang="en-US" sz="2400" dirty="0">
                <a:latin typeface="+mn-ea"/>
                <a:cs typeface="Times New Roman" panose="02020603050405020304" pitchFamily="18" charset="0"/>
              </a:rPr>
              <a:t>日，中科红旗突然宣布解散，引发业界轩然大波，令人感到万分遗憾！实际上，中科红旗的对手</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微软公司是一家称霸全球、长期占据操作系统第一位置的企业，其庞大的生态系统，就像一艘巨型游轮，与之较量，实属不易。此外，令中科红旗十分尴尬的事实是，国人似乎已形成一种消费心理定势，宁可将预装的正版</a:t>
            </a:r>
            <a:r>
              <a:rPr lang="en-US" altLang="zh-CN" sz="2400" dirty="0">
                <a:latin typeface="+mn-ea"/>
                <a:cs typeface="Times New Roman" panose="02020603050405020304" pitchFamily="18" charset="0"/>
              </a:rPr>
              <a:t>Linux</a:t>
            </a:r>
            <a:r>
              <a:rPr lang="zh-CN" altLang="en-US" sz="2400" dirty="0">
                <a:latin typeface="+mn-ea"/>
                <a:cs typeface="Times New Roman" panose="02020603050405020304" pitchFamily="18" charset="0"/>
              </a:rPr>
              <a:t>系统卸载，也要安装上盗版的</a:t>
            </a:r>
            <a:r>
              <a:rPr lang="en-US" altLang="zh-CN" sz="2400" dirty="0">
                <a:latin typeface="+mn-ea"/>
                <a:cs typeface="Times New Roman" panose="02020603050405020304" pitchFamily="18" charset="0"/>
              </a:rPr>
              <a:t>Windows</a:t>
            </a:r>
            <a:r>
              <a:rPr lang="zh-CN" altLang="en-US" sz="2400" dirty="0">
                <a:latin typeface="+mn-ea"/>
                <a:cs typeface="Times New Roman" panose="02020603050405020304" pitchFamily="18" charset="0"/>
              </a:rPr>
              <a:t>系统！</a:t>
            </a:r>
            <a:endParaRPr lang="zh-CN" altLang="en-US" sz="2400" dirty="0">
              <a:latin typeface="+mn-ea"/>
              <a:cs typeface="Times New Roman" panose="02020603050405020304"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endParaRPr lang="zh-CN" altLang="en-US" sz="2800" b="1" dirty="0">
              <a:solidFill>
                <a:schemeClr val="bg1"/>
              </a:solidFill>
            </a:endParaRPr>
          </a:p>
        </p:txBody>
      </p:sp>
      <p:sp>
        <p:nvSpPr>
          <p:cNvPr id="4" name="内容占位符 3"/>
          <p:cNvSpPr txBox="1"/>
          <p:nvPr/>
        </p:nvSpPr>
        <p:spPr>
          <a:xfrm>
            <a:off x="758702" y="1228985"/>
            <a:ext cx="10284549" cy="42060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500"/>
              </a:spcBef>
              <a:spcAft>
                <a:spcPts val="600"/>
              </a:spcAft>
              <a:buFont typeface="Arial" panose="020B0604020202020204" pitchFamily="34" charset="0"/>
              <a:buNone/>
            </a:pPr>
            <a:r>
              <a:rPr lang="zh-CN" altLang="en-US" sz="2400" dirty="0">
                <a:solidFill>
                  <a:srgbClr val="0000FF"/>
                </a:solidFill>
                <a:latin typeface="+mn-ea"/>
                <a:cs typeface="黑体" panose="02010609060101010101" charset="-122"/>
              </a:rPr>
              <a:t>中科红旗之后，谁将再次勇战操作系统世界霸主？</a:t>
            </a:r>
            <a:endParaRPr lang="zh-CN" altLang="en-US" sz="2400" dirty="0">
              <a:solidFill>
                <a:srgbClr val="0000FF"/>
              </a:solidFill>
              <a:latin typeface="+mn-ea"/>
              <a:cs typeface="黑体" panose="02010609060101010101" charset="-122"/>
            </a:endParaRPr>
          </a:p>
          <a:p>
            <a:pPr marL="0" indent="457200" algn="just">
              <a:lnSpc>
                <a:spcPct val="125000"/>
              </a:lnSpc>
              <a:buFont typeface="Arial" panose="020B0604020202020204" pitchFamily="34" charset="0"/>
              <a:buNone/>
            </a:pPr>
            <a:r>
              <a:rPr lang="zh-CN" altLang="en-US" sz="2400" dirty="0">
                <a:latin typeface="+mn-ea"/>
                <a:cs typeface="Times New Roman" panose="02020603050405020304" pitchFamily="18" charset="0"/>
              </a:rPr>
              <a:t>但是，这些都不是理由！当下，我们必须重整旗鼓、自主创新，要以蚕食桑叶之精神，与垄断型的操作系统争完善、比实用，待势均力敌之时再与它们抢市场、争地位。金山的</a:t>
            </a:r>
            <a:r>
              <a:rPr lang="en-US" altLang="zh-CN" sz="2400" dirty="0">
                <a:latin typeface="+mn-ea"/>
                <a:cs typeface="Times New Roman" panose="02020603050405020304" pitchFamily="18" charset="0"/>
              </a:rPr>
              <a:t>WPS</a:t>
            </a:r>
            <a:r>
              <a:rPr lang="zh-CN" altLang="en-US" sz="2400" dirty="0">
                <a:latin typeface="+mn-ea"/>
                <a:cs typeface="Times New Roman" panose="02020603050405020304" pitchFamily="18" charset="0"/>
              </a:rPr>
              <a:t>办公软件不就如此一路走来，现已可以取代微软公司的</a:t>
            </a:r>
            <a:r>
              <a:rPr lang="en-US" altLang="zh-CN" sz="2400" dirty="0">
                <a:latin typeface="+mn-ea"/>
                <a:cs typeface="Times New Roman" panose="02020603050405020304" pitchFamily="18" charset="0"/>
              </a:rPr>
              <a:t>Office</a:t>
            </a:r>
            <a:r>
              <a:rPr lang="zh-CN" altLang="en-US" sz="2400" dirty="0">
                <a:latin typeface="+mn-ea"/>
                <a:cs typeface="Times New Roman" panose="02020603050405020304" pitchFamily="18" charset="0"/>
              </a:rPr>
              <a:t>办公软件了吗？！</a:t>
            </a:r>
            <a:endParaRPr lang="zh-CN" altLang="en-US" sz="2400" dirty="0">
              <a:latin typeface="+mn-ea"/>
              <a:cs typeface="Times New Roman" panose="02020603050405020304" pitchFamily="18" charset="0"/>
            </a:endParaRPr>
          </a:p>
          <a:p>
            <a:pPr marL="0" indent="457200" algn="just">
              <a:lnSpc>
                <a:spcPct val="125000"/>
              </a:lnSpc>
              <a:buFont typeface="Arial" panose="020B0604020202020204" pitchFamily="34" charset="0"/>
              <a:buNone/>
            </a:pPr>
            <a:r>
              <a:rPr lang="zh-CN" altLang="en-US" sz="2400" dirty="0">
                <a:latin typeface="+mn-ea"/>
                <a:cs typeface="Times New Roman" panose="02020603050405020304" pitchFamily="18" charset="0"/>
              </a:rPr>
              <a:t>因此，无须畏惧现在的微软公司、苹果、谷歌等公司，只要我们坚持创新，机会的大门就会永远为我们敞开。卧薪尝胆，刻苦自励，坚信下一个勇于挑战</a:t>
            </a:r>
            <a:r>
              <a:rPr lang="en-US" altLang="zh-CN" sz="2400" dirty="0">
                <a:latin typeface="+mn-ea"/>
                <a:cs typeface="Times New Roman" panose="02020603050405020304" pitchFamily="18" charset="0"/>
              </a:rPr>
              <a:t>Windows</a:t>
            </a:r>
            <a:r>
              <a:rPr lang="zh-CN" altLang="en-US" sz="2400" dirty="0">
                <a:latin typeface="+mn-ea"/>
                <a:cs typeface="Times New Roman" panose="02020603050405020304" pitchFamily="18" charset="0"/>
              </a:rPr>
              <a:t>系统霸主地位的国产操作系统企业，定会浩然而至！</a:t>
            </a:r>
            <a:endParaRPr lang="zh-CN" altLang="en-US" sz="2400" dirty="0">
              <a:latin typeface="+mn-ea"/>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HINKCELLSHAPEDONOTDELETE" val="tA6S0wzOvQ8a50SA42PUNRg"/>
</p:tagLst>
</file>

<file path=ppt/tags/tag2.xml><?xml version="1.0" encoding="utf-8"?>
<p:tagLst xmlns:p="http://schemas.openxmlformats.org/presentationml/2006/main">
  <p:tag name="KSO_WM_UNIT_TABLE_BEAUTIFY" val="smartTable{39bce57c-2365-4a7a-87de-192092410404}"/>
</p:tagLst>
</file>

<file path=ppt/tags/tag3.xml><?xml version="1.0" encoding="utf-8"?>
<p:tagLst xmlns:p="http://schemas.openxmlformats.org/presentationml/2006/main">
  <p:tag name="ISLIDE.DIAGRAM" val="272399"/>
</p:tagLst>
</file>

<file path=ppt/tags/tag4.xml><?xml version="1.0" encoding="utf-8"?>
<p:tagLst xmlns:p="http://schemas.openxmlformats.org/presentationml/2006/main">
  <p:tag name="ISLIDE.DIAGRAM" val="217641"/>
  <p:tag name="KSO_WM_DIAGRAM_VIRTUALLY_FRAME" val="{&quot;height&quot;:300.6656692913386,&quot;left&quot;:52.75,&quot;top&quot;:94.27905511811024,&quot;width&quot;:864.8855905511812}"/>
</p:tagLst>
</file>

<file path=ppt/tags/tag5.xml><?xml version="1.0" encoding="utf-8"?>
<p:tagLst xmlns:p="http://schemas.openxmlformats.org/presentationml/2006/main">
  <p:tag name="KSO_WM_DIAGRAM_VIRTUALLY_FRAME" val="{&quot;height&quot;:300.6656692913386,&quot;left&quot;:52.75,&quot;top&quot;:94.27905511811024,&quot;width&quot;:864.8855905511812}"/>
</p:tagLst>
</file>

<file path=ppt/tags/tag6.xml><?xml version="1.0" encoding="utf-8"?>
<p:tagLst xmlns:p="http://schemas.openxmlformats.org/presentationml/2006/main">
  <p:tag name="KSO_WM_DIAGRAM_VIRTUALLY_FRAME" val="{&quot;height&quot;:300.6656692913386,&quot;left&quot;:52.75,&quot;top&quot;:94.27905511811024,&quot;width&quot;:864.8855905511812}"/>
</p:tagLst>
</file>

<file path=ppt/tags/tag7.xml><?xml version="1.0" encoding="utf-8"?>
<p:tagLst xmlns:p="http://schemas.openxmlformats.org/presentationml/2006/main">
  <p:tag name="KSO_WM_DIAGRAM_VIRTUALLY_FRAME" val="{&quot;height&quot;:300.6656692913386,&quot;left&quot;:52.75,&quot;top&quot;:94.27905511811024,&quot;width&quot;:864.8855905511812}"/>
</p:tagLst>
</file>

<file path=ppt/tags/tag8.xml><?xml version="1.0" encoding="utf-8"?>
<p:tagLst xmlns:p="http://schemas.openxmlformats.org/presentationml/2006/main">
  <p:tag name="KSO_WM_DIAGRAM_VIRTUALLY_FRAME" val="{&quot;height&quot;:300.6656692913386,&quot;left&quot;:52.75,&quot;top&quot;:94.27905511811024,&quot;width&quot;:864.8855905511812}"/>
</p:tagLst>
</file>

<file path=ppt/tags/tag9.xml><?xml version="1.0" encoding="utf-8"?>
<p:tagLst xmlns:p="http://schemas.openxmlformats.org/presentationml/2006/main">
  <p:tag name="KSO_WM_DIAGRAM_VIRTUALLY_FRAME" val="{&quot;height&quot;:300.6656692913386,&quot;left&quot;:52.75,&quot;top&quot;:94.27905511811024,&quot;width&quot;:864.8855905511812}"/>
</p:tagLst>
</file>

<file path=ppt/tags/tag10.xml><?xml version="1.0" encoding="utf-8"?>
<p:tagLst xmlns:p="http://schemas.openxmlformats.org/presentationml/2006/main">
  <p:tag name="KSO_WM_DIAGRAM_VIRTUALLY_FRAME" val="{&quot;height&quot;:300.6656692913386,&quot;left&quot;:52.75,&quot;top&quot;:94.27905511811024,&quot;width&quot;:864.8855905511812}"/>
</p:tagLst>
</file>

<file path=ppt/tags/tag11.xml><?xml version="1.0" encoding="utf-8"?>
<p:tagLst xmlns:p="http://schemas.openxmlformats.org/presentationml/2006/main">
  <p:tag name="KSO_WM_DIAGRAM_VIRTUALLY_FRAME" val="{&quot;height&quot;:300.6656692913386,&quot;left&quot;:52.75,&quot;top&quot;:94.27905511811024,&quot;width&quot;:864.8855905511812}"/>
</p:tagLst>
</file>

<file path=ppt/tags/tag12.xml><?xml version="1.0" encoding="utf-8"?>
<p:tagLst xmlns:p="http://schemas.openxmlformats.org/presentationml/2006/main">
  <p:tag name="KSO_WM_DIAGRAM_VIRTUALLY_FRAME" val="{&quot;height&quot;:300.6656692913386,&quot;left&quot;:52.75,&quot;top&quot;:94.27905511811024,&quot;width&quot;:864.8855905511812}"/>
</p:tagLst>
</file>

<file path=ppt/tags/tag13.xml><?xml version="1.0" encoding="utf-8"?>
<p:tagLst xmlns:p="http://schemas.openxmlformats.org/presentationml/2006/main">
  <p:tag name="KSO_WM_DIAGRAM_VIRTUALLY_FRAME" val="{&quot;height&quot;:300.6656692913386,&quot;left&quot;:52.75,&quot;top&quot;:94.27905511811024,&quot;width&quot;:864.8855905511812}"/>
</p:tagLst>
</file>

<file path=ppt/tags/tag14.xml><?xml version="1.0" encoding="utf-8"?>
<p:tagLst xmlns:p="http://schemas.openxmlformats.org/presentationml/2006/main">
  <p:tag name="KSO_WM_DIAGRAM_VIRTUALLY_FRAME" val="{&quot;height&quot;:300.6656692913386,&quot;left&quot;:52.75,&quot;top&quot;:94.27905511811024,&quot;width&quot;:864.8855905511812}"/>
</p:tagLst>
</file>

<file path=ppt/tags/tag15.xml><?xml version="1.0" encoding="utf-8"?>
<p:tagLst xmlns:p="http://schemas.openxmlformats.org/presentationml/2006/main">
  <p:tag name="KSO_WM_DIAGRAM_VIRTUALLY_FRAME" val="{&quot;height&quot;:300.6656692913386,&quot;left&quot;:52.75,&quot;top&quot;:94.27905511811024,&quot;width&quot;:864.8855905511812}"/>
</p:tagLst>
</file>

<file path=ppt/tags/tag16.xml><?xml version="1.0" encoding="utf-8"?>
<p:tagLst xmlns:p="http://schemas.openxmlformats.org/presentationml/2006/main">
  <p:tag name="KSO_WM_DIAGRAM_VIRTUALLY_FRAME" val="{&quot;height&quot;:300.6656692913386,&quot;left&quot;:52.75,&quot;top&quot;:94.27905511811024,&quot;width&quot;:864.8855905511812}"/>
</p:tagLst>
</file>

<file path=ppt/tags/tag17.xml><?xml version="1.0" encoding="utf-8"?>
<p:tagLst xmlns:p="http://schemas.openxmlformats.org/presentationml/2006/main">
  <p:tag name="KSO_WM_DIAGRAM_VIRTUALLY_FRAME" val="{&quot;height&quot;:300.6656692913386,&quot;left&quot;:52.75,&quot;top&quot;:94.27905511811024,&quot;width&quot;:864.8855905511812}"/>
</p:tagLst>
</file>

<file path=ppt/tags/tag18.xml><?xml version="1.0" encoding="utf-8"?>
<p:tagLst xmlns:p="http://schemas.openxmlformats.org/presentationml/2006/main">
  <p:tag name="TABLE_ENDDRAG_ORIGIN_RECT" val="769*157"/>
  <p:tag name="TABLE_ENDDRAG_RECT" val="80*130*769*157"/>
</p:tagLst>
</file>

<file path=ppt/tags/tag19.xml><?xml version="1.0" encoding="utf-8"?>
<p:tagLst xmlns:p="http://schemas.openxmlformats.org/presentationml/2006/main">
  <p:tag name="TABLE_ENDDRAG_ORIGIN_RECT" val="666*148"/>
  <p:tag name="TABLE_ENDDRAG_RECT" val="115*121*666*148"/>
</p:tagLst>
</file>

<file path=ppt/tags/tag20.xml><?xml version="1.0" encoding="utf-8"?>
<p:tagLst xmlns:p="http://schemas.openxmlformats.org/presentationml/2006/main">
  <p:tag name="TABLE_ENDDRAG_ORIGIN_RECT" val="682*149"/>
  <p:tag name="TABLE_ENDDRAG_RECT" val="113*153*682*149"/>
</p:tagLst>
</file>

<file path=ppt/tags/tag21.xml><?xml version="1.0" encoding="utf-8"?>
<p:tagLst xmlns:p="http://schemas.openxmlformats.org/presentationml/2006/main">
  <p:tag name="TABLE_ENDDRAG_ORIGIN_RECT" val="768*140"/>
  <p:tag name="TABLE_ENDDRAG_RECT" val="90*157*768*140"/>
</p:tagLst>
</file>

<file path=ppt/tags/tag22.xml><?xml version="1.0" encoding="utf-8"?>
<p:tagLst xmlns:p="http://schemas.openxmlformats.org/presentationml/2006/main">
  <p:tag name="TABLE_ENDDRAG_ORIGIN_RECT" val="772*100"/>
  <p:tag name="TABLE_ENDDRAG_RECT" val="95*190*772*100"/>
</p:tagLst>
</file>

<file path=ppt/tags/tag23.xml><?xml version="1.0" encoding="utf-8"?>
<p:tagLst xmlns:p="http://schemas.openxmlformats.org/presentationml/2006/main">
  <p:tag name="ISLIDE.DIAGRAM" val="217641"/>
</p:tagLst>
</file>

<file path=ppt/tags/tag24.xml><?xml version="1.0" encoding="utf-8"?>
<p:tagLst xmlns:p="http://schemas.openxmlformats.org/presentationml/2006/main">
  <p:tag name="KSO_WM_UNIT_TABLE_BEAUTIFY" val="smartTable{efa7c856-e096-47a8-80f9-1764e209eb29}"/>
  <p:tag name="TABLE_ENDDRAG_ORIGIN_RECT" val="827*380"/>
  <p:tag name="TABLE_ENDDRAG_RECT" val="81*104*827*380"/>
</p:tagLst>
</file>

<file path=ppt/tags/tag25.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26.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27.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28.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29.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30.xml><?xml version="1.0" encoding="utf-8"?>
<p:tagLst xmlns:p="http://schemas.openxmlformats.org/presentationml/2006/main">
  <p:tag name="KSO_WM_DIAGRAM_VIRTUALLY_FRAME" val="{&quot;height&quot;:285.21015748031493,&quot;left&quot;:88.10842519685039,&quot;top&quot;:106.14125984251969,&quot;width&quot;:459.9303937007874}"/>
</p:tagLst>
</file>

<file path=ppt/tags/tag31.xml><?xml version="1.0" encoding="utf-8"?>
<p:tagLst xmlns:p="http://schemas.openxmlformats.org/presentationml/2006/main">
  <p:tag name="ISLIDE.DIAGRAM" val="217641"/>
  <p:tag name="KSO_WM_DIAGRAM_VIRTUALLY_FRAME" val="{&quot;height&quot;:377.08913385826776,&quot;left&quot;:17.141732283464567,&quot;top&quot;:100.04181102362205,&quot;width&quot;:916.7611023622046}"/>
</p:tagLst>
</file>

<file path=ppt/tags/tag32.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3.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4.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5.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6.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7.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8.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39.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0.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1.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2.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3.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4.xml><?xml version="1.0" encoding="utf-8"?>
<p:tagLst xmlns:p="http://schemas.openxmlformats.org/presentationml/2006/main">
  <p:tag name="KSO_WM_DIAGRAM_VIRTUALLY_FRAME" val="{&quot;height&quot;:377.08913385826776,&quot;left&quot;:17.141732283464567,&quot;top&quot;:100.04181102362205,&quot;width&quot;:916.7611023622046}"/>
</p:tagLst>
</file>

<file path=ppt/tags/tag45.xml><?xml version="1.0" encoding="utf-8"?>
<p:tagLst xmlns:p="http://schemas.openxmlformats.org/presentationml/2006/main">
  <p:tag name="ISLIDE.DIAGRAM" val="217641"/>
</p:tagLst>
</file>

<file path=ppt/tags/tag46.xml><?xml version="1.0" encoding="utf-8"?>
<p:tagLst xmlns:p="http://schemas.openxmlformats.org/presentationml/2006/main">
  <p:tag name="KSO_WM_DIAGRAM_VIRTUALLY_FRAME" val="{&quot;height&quot;:394,&quot;left&quot;:66.82653543307086,&quot;top&quot;:92.79614173228347,&quot;width&quot;:861.0864566929134}"/>
</p:tagLst>
</file>

<file path=ppt/tags/tag47.xml><?xml version="1.0" encoding="utf-8"?>
<p:tagLst xmlns:p="http://schemas.openxmlformats.org/presentationml/2006/main">
  <p:tag name="KSO_WM_DIAGRAM_VIRTUALLY_FRAME" val="{&quot;height&quot;:394,&quot;left&quot;:66.82653543307086,&quot;top&quot;:92.79614173228347,&quot;width&quot;:861.0864566929134}"/>
</p:tagLst>
</file>

<file path=ppt/tags/tag48.xml><?xml version="1.0" encoding="utf-8"?>
<p:tagLst xmlns:p="http://schemas.openxmlformats.org/presentationml/2006/main">
  <p:tag name="KSO_WM_DIAGRAM_VIRTUALLY_FRAME" val="{&quot;height&quot;:394,&quot;left&quot;:66.82653543307086,&quot;top&quot;:92.79614173228347,&quot;width&quot;:861.0864566929134}"/>
</p:tagLst>
</file>

<file path=ppt/tags/tag49.xml><?xml version="1.0" encoding="utf-8"?>
<p:tagLst xmlns:p="http://schemas.openxmlformats.org/presentationml/2006/main">
  <p:tag name="KSO_WM_DIAGRAM_VIRTUALLY_FRAME" val="{&quot;height&quot;:394,&quot;left&quot;:66.82653543307086,&quot;top&quot;:92.79614173228347,&quot;width&quot;:861.0864566929134}"/>
</p:tagLst>
</file>

<file path=ppt/tags/tag50.xml><?xml version="1.0" encoding="utf-8"?>
<p:tagLst xmlns:p="http://schemas.openxmlformats.org/presentationml/2006/main">
  <p:tag name="KSO_WM_DIAGRAM_VIRTUALLY_FRAME" val="{&quot;height&quot;:394,&quot;left&quot;:66.82653543307086,&quot;top&quot;:92.79614173228347,&quot;width&quot;:861.0864566929134}"/>
</p:tagLst>
</file>

<file path=ppt/tags/tag51.xml><?xml version="1.0" encoding="utf-8"?>
<p:tagLst xmlns:p="http://schemas.openxmlformats.org/presentationml/2006/main">
  <p:tag name="KSO_WM_DIAGRAM_VIRTUALLY_FRAME" val="{&quot;height&quot;:394,&quot;left&quot;:66.82653543307086,&quot;top&quot;:92.79614173228347,&quot;width&quot;:861.0864566929134}"/>
</p:tagLst>
</file>

<file path=ppt/tags/tag52.xml><?xml version="1.0" encoding="utf-8"?>
<p:tagLst xmlns:p="http://schemas.openxmlformats.org/presentationml/2006/main">
  <p:tag name="KSO_WM_DIAGRAM_VIRTUALLY_FRAME" val="{&quot;height&quot;:394,&quot;left&quot;:66.82653543307086,&quot;top&quot;:92.79614173228347,&quot;width&quot;:861.0864566929134}"/>
</p:tagLst>
</file>

<file path=ppt/tags/tag53.xml><?xml version="1.0" encoding="utf-8"?>
<p:tagLst xmlns:p="http://schemas.openxmlformats.org/presentationml/2006/main">
  <p:tag name="KSO_WM_DIAGRAM_VIRTUALLY_FRAME" val="{&quot;height&quot;:394,&quot;left&quot;:66.82653543307086,&quot;top&quot;:92.79614173228347,&quot;width&quot;:861.0864566929134}"/>
</p:tagLst>
</file>

<file path=ppt/tags/tag54.xml><?xml version="1.0" encoding="utf-8"?>
<p:tagLst xmlns:p="http://schemas.openxmlformats.org/presentationml/2006/main">
  <p:tag name="KSO_WM_DIAGRAM_VIRTUALLY_FRAME" val="{&quot;height&quot;:394,&quot;left&quot;:66.82653543307086,&quot;top&quot;:92.79614173228347,&quot;width&quot;:861.0864566929134}"/>
</p:tagLst>
</file>

<file path=ppt/tags/tag55.xml><?xml version="1.0" encoding="utf-8"?>
<p:tagLst xmlns:p="http://schemas.openxmlformats.org/presentationml/2006/main">
  <p:tag name="KSO_WM_DIAGRAM_VIRTUALLY_FRAME" val="{&quot;height&quot;:394,&quot;left&quot;:66.82653543307086,&quot;top&quot;:92.79614173228347,&quot;width&quot;:861.0864566929134}"/>
</p:tagLst>
</file>

<file path=ppt/tags/tag56.xml><?xml version="1.0" encoding="utf-8"?>
<p:tagLst xmlns:p="http://schemas.openxmlformats.org/presentationml/2006/main">
  <p:tag name="ISLIDE.DIAGRAM" val="217641"/>
</p:tagLst>
</file>

<file path=ppt/tags/tag57.xml><?xml version="1.0" encoding="utf-8"?>
<p:tagLst xmlns:p="http://schemas.openxmlformats.org/presentationml/2006/main">
  <p:tag name="TABLE_ENDDRAG_ORIGIN_RECT" val="803*230"/>
  <p:tag name="TABLE_ENDDRAG_RECT" val="79*238*803*230"/>
</p:tagLst>
</file>

<file path=ppt/tags/tag58.xml><?xml version="1.0" encoding="utf-8"?>
<p:tagLst xmlns:p="http://schemas.openxmlformats.org/presentationml/2006/main">
  <p:tag name="TABLE_ENDDRAG_ORIGIN_RECT" val="719*90"/>
  <p:tag name="TABLE_ENDDRAG_RECT" val="88*164*719*90"/>
</p:tagLst>
</file>

<file path=ppt/tags/tag59.xml><?xml version="1.0" encoding="utf-8"?>
<p:tagLst xmlns:p="http://schemas.openxmlformats.org/presentationml/2006/main">
  <p:tag name="ISLIDE.DIAGRAM" val="272399"/>
</p:tagLst>
</file>

<file path=ppt/tags/tag60.xml><?xml version="1.0" encoding="utf-8"?>
<p:tagLst xmlns:p="http://schemas.openxmlformats.org/presentationml/2006/main">
  <p:tag name="KSO_WM_DIAGRAM_VIRTUALLY_FRAME" val="{&quot;height&quot;:164.11535433070864,&quot;left&quot;:84.07606299212598,&quot;top&quot;:163.0347244094488,&quot;width&quot;:791.847874015748}"/>
</p:tagLst>
</file>

<file path=ppt/tags/tag61.xml><?xml version="1.0" encoding="utf-8"?>
<p:tagLst xmlns:p="http://schemas.openxmlformats.org/presentationml/2006/main">
  <p:tag name="KSO_WM_DIAGRAM_VIRTUALLY_FRAME" val="{&quot;height&quot;:164.11535433070864,&quot;left&quot;:84.07606299212598,&quot;top&quot;:163.0347244094488,&quot;width&quot;:791.847874015748}"/>
</p:tagLst>
</file>

<file path=ppt/tags/tag62.xml><?xml version="1.0" encoding="utf-8"?>
<p:tagLst xmlns:p="http://schemas.openxmlformats.org/presentationml/2006/main">
  <p:tag name="KSO_WM_DIAGRAM_VIRTUALLY_FRAME" val="{&quot;height&quot;:164.11535433070864,&quot;left&quot;:84.07606299212598,&quot;top&quot;:163.0347244094488,&quot;width&quot;:791.847874015748}"/>
</p:tagLst>
</file>

<file path=ppt/tags/tag63.xml><?xml version="1.0" encoding="utf-8"?>
<p:tagLst xmlns:p="http://schemas.openxmlformats.org/presentationml/2006/main">
  <p:tag name="KSO_WM_DIAGRAM_VIRTUALLY_FRAME" val="{&quot;height&quot;:164.11535433070864,&quot;left&quot;:84.07606299212598,&quot;top&quot;:163.0347244094488,&quot;width&quot;:791.847874015748}"/>
</p:tagLst>
</file>

<file path=ppt/tags/tag64.xml><?xml version="1.0" encoding="utf-8"?>
<p:tagLst xmlns:p="http://schemas.openxmlformats.org/presentationml/2006/main">
  <p:tag name="KSO_WM_UNIT_TABLE_BEAUTIFY" val="smartTable{d24e72c1-1911-47ea-a59f-4fc14da23f23}"/>
</p:tagLst>
</file>

<file path=ppt/tags/tag65.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OTNkY2NjODhmMjU1MTBmZjY5ZTA4NDAzNmJlZGNlMjM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19911</Words>
  <Application>WPS 演示</Application>
  <PresentationFormat>宽屏</PresentationFormat>
  <Paragraphs>2795</Paragraphs>
  <Slides>141</Slides>
  <Notes>1</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141</vt:i4>
      </vt:variant>
    </vt:vector>
  </HeadingPairs>
  <TitlesOfParts>
    <vt:vector size="171" baseType="lpstr">
      <vt:lpstr>Arial</vt:lpstr>
      <vt:lpstr>宋体</vt:lpstr>
      <vt:lpstr>Wingdings</vt:lpstr>
      <vt:lpstr>微软雅黑</vt:lpstr>
      <vt:lpstr>微软雅黑 (正文)</vt:lpstr>
      <vt:lpstr>黑体</vt:lpstr>
      <vt:lpstr>华文楷体</vt:lpstr>
      <vt:lpstr>楷体_GB2312</vt:lpstr>
      <vt:lpstr>新宋体</vt:lpstr>
      <vt:lpstr>Arial Unicode MS</vt:lpstr>
      <vt:lpstr>Calibri</vt:lpstr>
      <vt:lpstr>Wingdings 2</vt:lpstr>
      <vt:lpstr>Monotype Sorts</vt:lpstr>
      <vt:lpstr>Wingdings</vt:lpstr>
      <vt:lpstr>Helvetica</vt:lpstr>
      <vt:lpstr>Times New Roman</vt:lpstr>
      <vt:lpstr>Tahoma</vt:lpstr>
      <vt:lpstr>等线</vt:lpstr>
      <vt:lpstr>Comic Sans MS</vt:lpstr>
      <vt:lpstr>Symbol</vt:lpstr>
      <vt:lpstr>Monotype Sorts</vt:lpstr>
      <vt:lpstr>Symbol</vt:lpstr>
      <vt:lpstr>Wingdings 2</vt:lpstr>
      <vt:lpstr>微软雅黑 (正文)</vt:lpstr>
      <vt:lpstr>楷体_GB2312</vt:lpstr>
      <vt:lpstr>字魂正文宋楷</vt:lpstr>
      <vt:lpstr>方正楷体_GB2312</vt:lpstr>
      <vt:lpstr>Toots Regular</vt:lpstr>
      <vt:lpstr>Sweetie</vt:lpstr>
      <vt:lpstr>主题5</vt:lpstr>
      <vt:lpstr>第3章  处理机调度与死锁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三级调度队列图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对单体资源类的死锁检测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吕仔贤</cp:lastModifiedBy>
  <cp:revision>216</cp:revision>
  <cp:lastPrinted>2019-04-18T16:00:00Z</cp:lastPrinted>
  <dcterms:created xsi:type="dcterms:W3CDTF">2019-04-18T16:00:00Z</dcterms:created>
  <dcterms:modified xsi:type="dcterms:W3CDTF">2026-01-15T13:36:23Z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8B4C2C5A1F49443CA24E73DE343148D4_13</vt:lpwstr>
  </property>
  <property fmtid="{D5CDD505-2E9C-101B-9397-08002B2CF9AE}" pid="4" name="KSOProductBuildVer">
    <vt:lpwstr>2052-12.1.0.24657</vt:lpwstr>
  </property>
</Properties>
</file>