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8"/>
  </p:notesMasterIdLst>
  <p:sldIdLst>
    <p:sldId id="256" r:id="rId2"/>
    <p:sldId id="295" r:id="rId3"/>
    <p:sldId id="313" r:id="rId4"/>
    <p:sldId id="311" r:id="rId5"/>
    <p:sldId id="312" r:id="rId6"/>
    <p:sldId id="528" r:id="rId7"/>
    <p:sldId id="315" r:id="rId8"/>
    <p:sldId id="530" r:id="rId9"/>
    <p:sldId id="296" r:id="rId10"/>
    <p:sldId id="297" r:id="rId11"/>
    <p:sldId id="529" r:id="rId12"/>
    <p:sldId id="409" r:id="rId13"/>
    <p:sldId id="531" r:id="rId14"/>
    <p:sldId id="355" r:id="rId15"/>
    <p:sldId id="532" r:id="rId16"/>
    <p:sldId id="298" r:id="rId17"/>
    <p:sldId id="299" r:id="rId18"/>
    <p:sldId id="300" r:id="rId19"/>
    <p:sldId id="301" r:id="rId20"/>
    <p:sldId id="463" r:id="rId21"/>
    <p:sldId id="317" r:id="rId22"/>
    <p:sldId id="465" r:id="rId23"/>
    <p:sldId id="466" r:id="rId24"/>
    <p:sldId id="302" r:id="rId25"/>
    <p:sldId id="467" r:id="rId26"/>
    <p:sldId id="303" r:id="rId27"/>
    <p:sldId id="304" r:id="rId28"/>
    <p:sldId id="305" r:id="rId29"/>
    <p:sldId id="306" r:id="rId30"/>
    <p:sldId id="320" r:id="rId31"/>
    <p:sldId id="321" r:id="rId32"/>
    <p:sldId id="534" r:id="rId33"/>
    <p:sldId id="356" r:id="rId34"/>
    <p:sldId id="535" r:id="rId35"/>
    <p:sldId id="307" r:id="rId36"/>
    <p:sldId id="536" r:id="rId37"/>
    <p:sldId id="357" r:id="rId38"/>
    <p:sldId id="537" r:id="rId39"/>
    <p:sldId id="324" r:id="rId40"/>
    <p:sldId id="326" r:id="rId41"/>
    <p:sldId id="327" r:id="rId42"/>
    <p:sldId id="323" r:id="rId43"/>
    <p:sldId id="308" r:id="rId44"/>
    <p:sldId id="329" r:id="rId45"/>
    <p:sldId id="538" r:id="rId46"/>
    <p:sldId id="546" r:id="rId47"/>
    <p:sldId id="547" r:id="rId48"/>
    <p:sldId id="548" r:id="rId49"/>
    <p:sldId id="549" r:id="rId50"/>
    <p:sldId id="358" r:id="rId51"/>
    <p:sldId id="539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540" r:id="rId60"/>
    <p:sldId id="359" r:id="rId61"/>
    <p:sldId id="338" r:id="rId62"/>
    <p:sldId id="340" r:id="rId63"/>
    <p:sldId id="341" r:id="rId64"/>
    <p:sldId id="342" r:id="rId65"/>
    <p:sldId id="343" r:id="rId66"/>
    <p:sldId id="344" r:id="rId67"/>
    <p:sldId id="345" r:id="rId68"/>
    <p:sldId id="346" r:id="rId69"/>
    <p:sldId id="347" r:id="rId70"/>
    <p:sldId id="348" r:id="rId71"/>
    <p:sldId id="360" r:id="rId72"/>
    <p:sldId id="328" r:id="rId73"/>
    <p:sldId id="350" r:id="rId74"/>
    <p:sldId id="351" r:id="rId75"/>
    <p:sldId id="309" r:id="rId76"/>
    <p:sldId id="352" r:id="rId77"/>
    <p:sldId id="468" r:id="rId78"/>
    <p:sldId id="514" r:id="rId79"/>
    <p:sldId id="515" r:id="rId80"/>
    <p:sldId id="469" r:id="rId81"/>
    <p:sldId id="516" r:id="rId82"/>
    <p:sldId id="517" r:id="rId83"/>
    <p:sldId id="518" r:id="rId84"/>
    <p:sldId id="519" r:id="rId85"/>
    <p:sldId id="520" r:id="rId86"/>
    <p:sldId id="521" r:id="rId87"/>
    <p:sldId id="522" r:id="rId88"/>
    <p:sldId id="523" r:id="rId89"/>
    <p:sldId id="353" r:id="rId90"/>
    <p:sldId id="361" r:id="rId91"/>
    <p:sldId id="354" r:id="rId92"/>
    <p:sldId id="541" r:id="rId93"/>
    <p:sldId id="542" r:id="rId94"/>
    <p:sldId id="543" r:id="rId95"/>
    <p:sldId id="544" r:id="rId96"/>
    <p:sldId id="545" r:id="rId97"/>
  </p:sldIdLst>
  <p:sldSz cx="12192000" cy="6858000"/>
  <p:notesSz cx="6858000" cy="9144000"/>
  <p:custDataLst>
    <p:tags r:id="rId9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5C"/>
    <a:srgbClr val="06D24C"/>
    <a:srgbClr val="035920"/>
    <a:srgbClr val="F6F5F3"/>
    <a:srgbClr val="04862F"/>
    <a:srgbClr val="07DB4E"/>
    <a:srgbClr val="08396E"/>
    <a:srgbClr val="0519AB"/>
    <a:srgbClr val="06B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182" autoAdjust="0"/>
  </p:normalViewPr>
  <p:slideViewPr>
    <p:cSldViewPr snapToGrid="0" showGuides="1">
      <p:cViewPr varScale="1">
        <p:scale>
          <a:sx n="114" d="100"/>
          <a:sy n="114" d="100"/>
        </p:scale>
        <p:origin x="-420" y="-108"/>
      </p:cViewPr>
      <p:guideLst>
        <p:guide orient="horz" pos="2184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OS</a:t>
            </a:r>
            <a:r>
              <a:rPr lang="zh-CN" altLang="en-US"/>
              <a:t>的目标与应用环境有关。如：用于查询系统的</a:t>
            </a:r>
            <a:r>
              <a:rPr lang="en-US" altLang="zh-CN"/>
              <a:t>OS</a:t>
            </a:r>
            <a:r>
              <a:rPr lang="zh-CN" altLang="en-US"/>
              <a:t>，应具有较好的人机交互性；用于工业控制、武器控制、多媒体环境的</a:t>
            </a:r>
            <a:r>
              <a:rPr lang="en-US" altLang="zh-CN"/>
              <a:t>OS</a:t>
            </a:r>
            <a:r>
              <a:rPr lang="zh-CN" altLang="en-US"/>
              <a:t>，应具有实时性；针对微机上的</a:t>
            </a:r>
            <a:r>
              <a:rPr lang="en-US" altLang="zh-CN"/>
              <a:t>OS</a:t>
            </a:r>
            <a:r>
              <a:rPr lang="zh-CN" altLang="en-US"/>
              <a:t>，更看重使用的方便性。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sym typeface="+mn-ea"/>
              </a:rPr>
              <a:t>系统调用可理解为供应用程序调用的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特殊函数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en-US" b="1" dirty="0">
                <a:cs typeface="Arial" panose="020B0604020202020204" pitchFamily="34" charset="0"/>
                <a:sym typeface="+mn-ea"/>
              </a:rPr>
              <a:t>所有内核之外的程序都必须经由系统调用才能获得</a:t>
            </a:r>
            <a:r>
              <a:rPr lang="en-US" altLang="zh-CN" b="1" dirty="0">
                <a:cs typeface="Arial" panose="020B0604020202020204" pitchFamily="34" charset="0"/>
                <a:sym typeface="+mn-ea"/>
              </a:rPr>
              <a:t>OS</a:t>
            </a:r>
            <a:r>
              <a:rPr lang="en-US" altLang="en-US" b="1" dirty="0">
                <a:cs typeface="Arial" panose="020B0604020202020204" pitchFamily="34" charset="0"/>
                <a:sym typeface="+mn-ea"/>
              </a:rPr>
              <a:t>的服务</a:t>
            </a:r>
            <a:r>
              <a:rPr lang="zh-CN" b="1" dirty="0">
                <a:cs typeface="Arial" panose="020B0604020202020204" pitchFamily="34" charset="0"/>
                <a:sym typeface="+mn-ea"/>
              </a:rPr>
              <a:t>。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  <a:cs typeface="Arial" panose="020B0604020202020204" pitchFamily="34" charset="0"/>
                <a:sym typeface="+mn-ea"/>
              </a:rPr>
              <a:t>系统调用是比库函数更为底层的接口。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多道批处理阶段，由管理程序控制作业一个又一个地切换运行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 bwMode="auto">
          <a:xfrm flipH="1" flipV="1">
            <a:off x="-1219199" y="239311"/>
            <a:ext cx="13411199" cy="801180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0800000">
            <a:off x="-28575" y="6321199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 bwMode="auto">
          <a:xfrm>
            <a:off x="-9525" y="6230938"/>
            <a:ext cx="12201525" cy="801179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  <a:t>‹#›</a:t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image" Target="../media/image14.png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5" Type="http://schemas.openxmlformats.org/officeDocument/2006/relationships/image" Target="../media/image12.jpeg"/><Relationship Id="rId4" Type="http://schemas.openxmlformats.org/officeDocument/2006/relationships/image" Target="../media/image18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10" Type="http://schemas.openxmlformats.org/officeDocument/2006/relationships/tags" Target="../tags/tag36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5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19.jpeg"/><Relationship Id="rId5" Type="http://schemas.openxmlformats.org/officeDocument/2006/relationships/tags" Target="../tags/tag50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5.xml"/><Relationship Id="rId5" Type="http://schemas.openxmlformats.org/officeDocument/2006/relationships/image" Target="../media/image12.jpeg"/><Relationship Id="rId4" Type="http://schemas.openxmlformats.org/officeDocument/2006/relationships/image" Target="../media/image18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7.xml"/><Relationship Id="rId4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   </a:t>
            </a:r>
            <a:r>
              <a:rPr lang="zh-CN" altLang="en-US" sz="6000" dirty="0"/>
              <a:t>操作系统</a:t>
            </a:r>
            <a:endParaRPr lang="zh-CN" altLang="en-US" sz="60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sp>
        <p:nvSpPr>
          <p:cNvPr id="22" name="矩形: 圆角 21"/>
          <p:cNvSpPr/>
          <p:nvPr/>
        </p:nvSpPr>
        <p:spPr>
          <a:xfrm>
            <a:off x="800099" y="4579447"/>
            <a:ext cx="4235540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本学期主讲教师：姚清爽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100" y="844791"/>
            <a:ext cx="3007096" cy="4261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12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教学计划</a:t>
            </a:r>
          </a:p>
        </p:txBody>
      </p:sp>
      <p:sp>
        <p:nvSpPr>
          <p:cNvPr id="22" name="矩形 21"/>
          <p:cNvSpPr/>
          <p:nvPr/>
        </p:nvSpPr>
        <p:spPr>
          <a:xfrm>
            <a:off x="1971675" y="1476263"/>
            <a:ext cx="95488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/>
            <a:r>
              <a:rPr lang="zh-CN" altLang="en-US" sz="2400" dirty="0">
                <a:solidFill>
                  <a:srgbClr val="0000FF"/>
                </a:solidFill>
                <a:latin typeface="+mj-ea"/>
                <a:ea typeface="+mj-ea"/>
              </a:rPr>
              <a:t>课程内容：</a:t>
            </a:r>
            <a:endParaRPr lang="en-US" altLang="zh-CN" sz="2400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4625" y="144596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6" name="文本框 25"/>
          <p:cNvSpPr txBox="1"/>
          <p:nvPr/>
        </p:nvSpPr>
        <p:spPr>
          <a:xfrm>
            <a:off x="1985963" y="1902131"/>
            <a:ext cx="95345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本课程将全面系统地阐述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计算机操作系统</a:t>
            </a:r>
            <a:r>
              <a:rPr lang="zh-CN" altLang="en-US" sz="2400" dirty="0">
                <a:latin typeface="+mn-ea"/>
              </a:rPr>
              <a:t>的基本原理、主要功能及实现技术；重点论述多用户、多任务操作系统的运行机制，系统资源管理的策略与方法；拓展讨论现代操作系统所采用的并行处理技术与虚拟化技术。此外，本课程将以</a:t>
            </a:r>
            <a:r>
              <a:rPr lang="en-US" altLang="zh-CN" sz="2400" dirty="0">
                <a:latin typeface="+mn-ea"/>
              </a:rPr>
              <a:t>Linux</a:t>
            </a:r>
            <a:r>
              <a:rPr lang="zh-CN" altLang="en-US" sz="2400" dirty="0">
                <a:latin typeface="+mn-ea"/>
              </a:rPr>
              <a:t>系统为实例，剖析操作系统的特点及其具体实现技术。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971675" y="4894214"/>
            <a:ext cx="9548813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+mj-ea"/>
                <a:ea typeface="+mj-ea"/>
              </a:rPr>
              <a:t>学时安排：</a:t>
            </a:r>
            <a:r>
              <a:rPr lang="zh-CN" altLang="en-US" sz="2400" dirty="0">
                <a:solidFill>
                  <a:srgbClr val="FF0000"/>
                </a:solidFill>
                <a:latin typeface="微软雅黑 (正文)"/>
              </a:rPr>
              <a:t>理论</a:t>
            </a:r>
            <a:r>
              <a:rPr lang="zh-CN" altLang="en-US" sz="2400" dirty="0">
                <a:latin typeface="+mn-ea"/>
              </a:rPr>
              <a:t>教学</a:t>
            </a:r>
            <a:r>
              <a:rPr lang="en-US" altLang="zh-CN" sz="2400" dirty="0">
                <a:latin typeface="+mn-ea"/>
              </a:rPr>
              <a:t>40</a:t>
            </a:r>
            <a:r>
              <a:rPr lang="zh-CN" altLang="en-US" sz="2400" dirty="0">
                <a:latin typeface="+mn-ea"/>
              </a:rPr>
              <a:t>学时 </a:t>
            </a:r>
            <a:r>
              <a:rPr lang="en-US" altLang="zh-CN" sz="2400" dirty="0">
                <a:latin typeface="微软雅黑 (正文)"/>
              </a:rPr>
              <a:t>+ </a:t>
            </a:r>
            <a:r>
              <a:rPr lang="zh-CN" altLang="en-US" sz="2400" dirty="0">
                <a:solidFill>
                  <a:srgbClr val="FF0000"/>
                </a:solidFill>
                <a:latin typeface="微软雅黑 (正文)"/>
              </a:rPr>
              <a:t>实验</a:t>
            </a:r>
            <a:r>
              <a:rPr lang="zh-CN" altLang="en-US" sz="2400" dirty="0">
                <a:latin typeface="+mn-ea"/>
              </a:rPr>
              <a:t>教学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学时</a:t>
            </a:r>
            <a:r>
              <a:rPr lang="zh-CN" altLang="en-US" sz="2400" dirty="0">
                <a:latin typeface="微软雅黑 (正文)"/>
              </a:rPr>
              <a:t>。</a:t>
            </a:r>
          </a:p>
        </p:txBody>
      </p:sp>
      <p:sp>
        <p:nvSpPr>
          <p:cNvPr id="40" name="矩形 39"/>
          <p:cNvSpPr/>
          <p:nvPr/>
        </p:nvSpPr>
        <p:spPr>
          <a:xfrm>
            <a:off x="1971675" y="5560487"/>
            <a:ext cx="9548813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+mj-ea"/>
                <a:ea typeface="+mj-ea"/>
              </a:rPr>
              <a:t>考核方式：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平时成绩占</a:t>
            </a: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40%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（平时表现</a:t>
            </a: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+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作业</a:t>
            </a: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+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实验），期末</a:t>
            </a:r>
            <a:r>
              <a:rPr lang="zh-CN" altLang="en-US" sz="2400" dirty="0">
                <a:latin typeface="+mn-ea"/>
              </a:rPr>
              <a:t>闭卷考试占</a:t>
            </a:r>
            <a:r>
              <a:rPr lang="en-US" altLang="zh-CN" sz="2400" dirty="0">
                <a:latin typeface="+mn-ea"/>
              </a:rPr>
              <a:t>60%</a:t>
            </a:r>
            <a:r>
              <a:rPr lang="zh-CN" altLang="en-US" sz="2400" dirty="0">
                <a:latin typeface="+mn-ea"/>
              </a:rPr>
              <a:t>，共</a:t>
            </a:r>
            <a:r>
              <a:rPr lang="en-US" altLang="zh-CN" sz="2400" dirty="0">
                <a:latin typeface="+mn-ea"/>
              </a:rPr>
              <a:t>3</a:t>
            </a:r>
            <a:r>
              <a:rPr lang="zh-CN" altLang="en-US" sz="2400" dirty="0">
                <a:latin typeface="+mn-ea"/>
              </a:rPr>
              <a:t>学分。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4625" y="484638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4625" y="552393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" name="文本框 1"/>
          <p:cNvSpPr txBox="1"/>
          <p:nvPr/>
        </p:nvSpPr>
        <p:spPr>
          <a:xfrm>
            <a:off x="8379460" y="49777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班长：建</a:t>
            </a:r>
            <a:r>
              <a:rPr lang="en-US" altLang="zh-CN"/>
              <a:t>QQ</a:t>
            </a:r>
            <a:r>
              <a:rPr lang="zh-CN" altLang="en-US"/>
              <a:t>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教学目标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985963" y="1544161"/>
            <a:ext cx="9534525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0000FF"/>
                </a:solidFill>
              </a:rPr>
              <a:t>掌握</a:t>
            </a:r>
            <a:r>
              <a:rPr lang="zh-CN" altLang="en-US" sz="2400" dirty="0">
                <a:solidFill>
                  <a:srgbClr val="FF0000"/>
                </a:solidFill>
              </a:rPr>
              <a:t>操作系统的基本原理与实现技术</a:t>
            </a:r>
            <a:r>
              <a:rPr lang="zh-CN" altLang="en-US" sz="2400" dirty="0"/>
              <a:t>，包括现代操作系统对计算机系统资源的管理策略与方法、操作系统进程管理机制、现代操作系统的用户界面等。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971675" y="3408092"/>
            <a:ext cx="9548813" cy="493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2400" dirty="0">
                <a:solidFill>
                  <a:srgbClr val="0000FF"/>
                </a:solidFill>
              </a:rPr>
              <a:t>了解</a:t>
            </a:r>
            <a:r>
              <a:rPr lang="zh-CN" altLang="en-US" sz="2400" dirty="0">
                <a:solidFill>
                  <a:srgbClr val="FF0000"/>
                </a:solidFill>
              </a:rPr>
              <a:t>操作系统的结构与设计</a:t>
            </a:r>
            <a:r>
              <a:rPr lang="zh-CN" altLang="en-US" sz="2400" dirty="0"/>
              <a:t>。</a:t>
            </a:r>
          </a:p>
        </p:txBody>
      </p:sp>
      <p:sp>
        <p:nvSpPr>
          <p:cNvPr id="40" name="矩形 39"/>
          <p:cNvSpPr/>
          <p:nvPr/>
        </p:nvSpPr>
        <p:spPr>
          <a:xfrm>
            <a:off x="1971675" y="4130040"/>
            <a:ext cx="9751695" cy="977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2400" dirty="0">
                <a:solidFill>
                  <a:srgbClr val="0000FF"/>
                </a:solidFill>
              </a:rPr>
              <a:t>具备</a:t>
            </a:r>
            <a:r>
              <a:rPr lang="zh-CN" altLang="en-US" sz="2400" dirty="0">
                <a:solidFill>
                  <a:srgbClr val="FF0000"/>
                </a:solidFill>
              </a:rPr>
              <a:t>系统软件开发技能</a:t>
            </a:r>
            <a:r>
              <a:rPr lang="zh-CN" altLang="en-US" sz="2400" dirty="0"/>
              <a:t>，为以后从事各类</a:t>
            </a:r>
            <a:r>
              <a:rPr lang="zh-CN" altLang="en-US" sz="2400" dirty="0">
                <a:sym typeface="+mn-ea"/>
              </a:rPr>
              <a:t>（如设计、分析或改进各种系统软件和应用软件）</a:t>
            </a:r>
            <a:r>
              <a:rPr lang="zh-CN" altLang="en-US" sz="2400" dirty="0"/>
              <a:t>研究与开发工作提供必要的软件基础和基本技能。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971675" y="5257620"/>
            <a:ext cx="9548813" cy="940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2400" dirty="0"/>
              <a:t>为进一步学习数据库系统、计算机网络、分布式操作系统等课程打下基础。</a:t>
            </a:r>
          </a:p>
        </p:txBody>
      </p:sp>
      <p:sp>
        <p:nvSpPr>
          <p:cNvPr id="17" name="任意多边形: 形状 16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4625" y="165551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4625" y="339858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4625" y="416058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4625" y="529342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" name="文本框 1"/>
          <p:cNvSpPr txBox="1"/>
          <p:nvPr/>
        </p:nvSpPr>
        <p:spPr>
          <a:xfrm>
            <a:off x="3485515" y="973455"/>
            <a:ext cx="803529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/>
              <a:t>淡定前行，慢也是快：先抓关键由厚到薄，多次积累由薄变厚。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altLang="en-US" sz="5400" dirty="0">
                <a:sym typeface="+mn-ea"/>
              </a:rPr>
              <a:t>第</a:t>
            </a:r>
            <a:r>
              <a:rPr lang="en-US" altLang="zh-CN" sz="5400" dirty="0">
                <a:sym typeface="+mn-ea"/>
              </a:rPr>
              <a:t>1</a:t>
            </a:r>
            <a:r>
              <a:rPr lang="zh-CN" altLang="en-US" sz="5400" dirty="0">
                <a:sym typeface="+mn-ea"/>
              </a:rPr>
              <a:t>章</a:t>
            </a:r>
            <a:r>
              <a:rPr lang="en-US" altLang="zh-CN" sz="5400" dirty="0">
                <a:sym typeface="+mn-ea"/>
              </a:rPr>
              <a:t> </a:t>
            </a:r>
            <a:r>
              <a:rPr lang="zh-CN" altLang="en-US" sz="5400" dirty="0"/>
              <a:t>操作系统引论</a:t>
            </a:r>
            <a:endParaRPr lang="zh-CN" altLang="en-US" sz="54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540" y="1180071"/>
            <a:ext cx="3007096" cy="4261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章知识导图</a:t>
            </a:r>
          </a:p>
        </p:txBody>
      </p:sp>
      <p:graphicFrame>
        <p:nvGraphicFramePr>
          <p:cNvPr id="30" name="表格 29"/>
          <p:cNvGraphicFramePr/>
          <p:nvPr>
            <p:custDataLst>
              <p:tags r:id="rId1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第5章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虚拟存储器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第7章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输入</a:t>
                      </a:r>
                      <a:r>
                        <a:rPr lang="en-US" sz="2000" dirty="0">
                          <a:latin typeface="微软雅黑 (正文)"/>
                        </a:rPr>
                        <a:t>/</a:t>
                      </a:r>
                      <a:r>
                        <a:rPr lang="en-US" sz="2000" dirty="0" err="1">
                          <a:latin typeface="微软雅黑 (正文)"/>
                        </a:rPr>
                        <a:t>输出系统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任意多边形: 形状 7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2" name="图片 1" descr="第1章 知识导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155" y="1255395"/>
            <a:ext cx="7034530" cy="539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第1章 知识导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72415"/>
            <a:ext cx="10781030" cy="6456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1.1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操作系统的目标和作用</a:t>
            </a:r>
            <a:endParaRPr lang="en-US" altLang="zh-CN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1.2 </a:t>
            </a:r>
            <a:r>
              <a:rPr lang="zh-CN" altLang="en-US" sz="2400" dirty="0">
                <a:latin typeface="+mj-ea"/>
              </a:rPr>
              <a:t>操作系统的发展过程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1.3 </a:t>
            </a:r>
            <a:r>
              <a:rPr lang="zh-CN" altLang="en-US" sz="2400" dirty="0">
                <a:latin typeface="+mj-ea"/>
              </a:rPr>
              <a:t>操作系统的基本特征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4889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1.4 </a:t>
            </a:r>
            <a:r>
              <a:rPr lang="zh-CN" altLang="en-US" sz="2400" dirty="0">
                <a:latin typeface="+mj-ea"/>
              </a:rPr>
              <a:t>操作系统的运行环境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1.5 </a:t>
            </a:r>
            <a:r>
              <a:rPr lang="zh-CN" altLang="en-US" sz="2400" dirty="0">
                <a:latin typeface="+mj-ea"/>
              </a:rPr>
              <a:t>操作系统的主要功能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1.6 </a:t>
            </a:r>
            <a:r>
              <a:rPr lang="zh-CN" altLang="en-US" sz="2400" dirty="0">
                <a:latin typeface="+mj-ea"/>
              </a:rPr>
              <a:t>操作系统的结构设计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25874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1.7 </a:t>
            </a:r>
            <a:r>
              <a:rPr lang="zh-CN" altLang="en-US" sz="2400" dirty="0">
                <a:latin typeface="+mj-ea"/>
              </a:rPr>
              <a:t>系统调用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2627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1</a:t>
            </a:r>
            <a:r>
              <a:rPr lang="zh-CN" altLang="en-US" sz="3600" dirty="0">
                <a:solidFill>
                  <a:srgbClr val="000000"/>
                </a:solidFill>
              </a:rPr>
              <a:t>章 操作系统引论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50035" y="1224915"/>
            <a:ext cx="960755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+mj-ea"/>
                <a:ea typeface="+mj-ea"/>
                <a:sym typeface="+mn-ea"/>
              </a:rPr>
              <a:t>问题</a:t>
            </a:r>
            <a:r>
              <a:rPr lang="en-US" altLang="zh-CN" sz="2800" dirty="0">
                <a:solidFill>
                  <a:srgbClr val="0000FF"/>
                </a:solidFill>
                <a:latin typeface="+mj-ea"/>
                <a:ea typeface="+mj-ea"/>
                <a:sym typeface="+mn-ea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+mj-ea"/>
                <a:ea typeface="+mj-ea"/>
                <a:sym typeface="+mn-ea"/>
              </a:rPr>
              <a:t>：用户与计算机硬件系统之间的接口。</a:t>
            </a:r>
            <a:endParaRPr lang="zh-CN" altLang="en-US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</a:rPr>
              <a:t>操作系统的目标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57520" y="1310204"/>
            <a:ext cx="633868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方便性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通过</a:t>
            </a:r>
            <a:r>
              <a:rPr lang="en-US" altLang="zh-CN" sz="2200" dirty="0">
                <a:latin typeface="+mn-ea"/>
              </a:rPr>
              <a:t>OS</a:t>
            </a:r>
            <a:r>
              <a:rPr lang="zh-CN" altLang="en-US" sz="2200" dirty="0">
                <a:latin typeface="+mn-ea"/>
              </a:rPr>
              <a:t>命令操纵计算机，方便用户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有效性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提高系统资源的利用率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提高系统吞吐量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87186" y="3178600"/>
            <a:ext cx="633868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可扩充性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OS</a:t>
            </a:r>
            <a:r>
              <a:rPr lang="zh-CN" altLang="en-US" sz="2200" dirty="0">
                <a:latin typeface="+mn-ea"/>
              </a:rPr>
              <a:t>必须具有很好的可扩充性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与</a:t>
            </a:r>
            <a:r>
              <a:rPr lang="en-US" altLang="zh-CN" sz="2200" dirty="0">
                <a:latin typeface="+mn-ea"/>
              </a:rPr>
              <a:t>OS</a:t>
            </a:r>
            <a:r>
              <a:rPr lang="zh-CN" altLang="en-US" sz="2200" dirty="0">
                <a:latin typeface="+mn-ea"/>
              </a:rPr>
              <a:t>的结构有紧密的联系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开放性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遵循世界标准规范。特别是开放系统互连</a:t>
            </a:r>
            <a:r>
              <a:rPr lang="en-US" altLang="zh-CN" sz="2200" dirty="0">
                <a:latin typeface="+mn-ea"/>
              </a:rPr>
              <a:t>OSI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4411" y="140707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4411" y="26515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48959" y="329071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48959" y="505011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G_20250202_172527_edit_1637126129990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830" y="1215390"/>
            <a:ext cx="5460365" cy="267716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操作系统的作用</a:t>
            </a:r>
          </a:p>
        </p:txBody>
      </p:sp>
      <p:sp>
        <p:nvSpPr>
          <p:cNvPr id="44" name="ïSḻiḍé"/>
          <p:cNvSpPr txBox="1"/>
          <p:nvPr/>
        </p:nvSpPr>
        <p:spPr>
          <a:xfrm>
            <a:off x="353060" y="1372870"/>
            <a:ext cx="5161915" cy="184404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+mj-ea"/>
                <a:ea typeface="+mj-ea"/>
              </a:rPr>
              <a:t>1. </a:t>
            </a:r>
            <a:r>
              <a:rPr lang="zh-CN" altLang="en-US" sz="2400" dirty="0">
                <a:solidFill>
                  <a:srgbClr val="0000FF"/>
                </a:solidFill>
                <a:latin typeface="+mj-ea"/>
                <a:ea typeface="+mj-ea"/>
              </a:rPr>
              <a:t>用户与计算机硬件系统之间的接口</a:t>
            </a: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j-ea"/>
                <a:ea typeface="+mj-ea"/>
              </a:rPr>
              <a:t>命令方式（</a:t>
            </a:r>
            <a:r>
              <a:rPr lang="en-US" altLang="zh-CN" sz="2400" dirty="0">
                <a:latin typeface="+mj-ea"/>
                <a:ea typeface="+mj-ea"/>
              </a:rPr>
              <a:t>UNIX</a:t>
            </a:r>
            <a:r>
              <a:rPr lang="zh-CN" altLang="en-US" sz="2400" dirty="0">
                <a:latin typeface="+mj-ea"/>
                <a:ea typeface="+mj-ea"/>
              </a:rPr>
              <a:t>、</a:t>
            </a:r>
            <a:r>
              <a:rPr lang="en-US" altLang="zh-CN" sz="2400" dirty="0">
                <a:latin typeface="+mj-ea"/>
                <a:ea typeface="+mj-ea"/>
              </a:rPr>
              <a:t>DOS</a:t>
            </a:r>
            <a:r>
              <a:rPr lang="zh-CN" altLang="en-US" sz="2400" dirty="0">
                <a:latin typeface="+mj-ea"/>
                <a:ea typeface="+mj-ea"/>
              </a:rPr>
              <a:t>命令）</a:t>
            </a: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+mj-ea"/>
                <a:ea typeface="+mj-ea"/>
                <a:sym typeface="+mn-ea"/>
              </a:rPr>
              <a:t>GUI</a:t>
            </a:r>
            <a:r>
              <a:rPr lang="zh-CN" altLang="en-US" sz="2400" dirty="0">
                <a:latin typeface="+mj-ea"/>
                <a:ea typeface="+mj-ea"/>
                <a:sym typeface="+mn-ea"/>
              </a:rPr>
              <a:t>方式（</a:t>
            </a:r>
            <a:r>
              <a:rPr lang="en-US" altLang="zh-CN" sz="2400" dirty="0">
                <a:latin typeface="+mj-ea"/>
                <a:ea typeface="+mj-ea"/>
                <a:sym typeface="+mn-ea"/>
              </a:rPr>
              <a:t>Windows</a:t>
            </a:r>
            <a:r>
              <a:rPr lang="zh-CN" altLang="en-US" sz="2400" dirty="0">
                <a:latin typeface="+mj-ea"/>
                <a:ea typeface="+mj-ea"/>
                <a:sym typeface="+mn-ea"/>
              </a:rPr>
              <a:t>、</a:t>
            </a:r>
            <a:r>
              <a:rPr lang="en-US" altLang="zh-CN" sz="2400" dirty="0">
                <a:latin typeface="+mj-ea"/>
                <a:ea typeface="+mj-ea"/>
                <a:sym typeface="+mn-ea"/>
              </a:rPr>
              <a:t>LINUX</a:t>
            </a:r>
            <a:r>
              <a:rPr lang="zh-CN" altLang="en-US" sz="2400" dirty="0">
                <a:latin typeface="+mj-ea"/>
                <a:ea typeface="+mj-ea"/>
                <a:sym typeface="+mn-ea"/>
              </a:rPr>
              <a:t>）</a:t>
            </a:r>
            <a:endParaRPr lang="zh-CN" altLang="en-US" sz="2400" dirty="0">
              <a:latin typeface="+mj-ea"/>
              <a:ea typeface="+mj-ea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j-ea"/>
                <a:ea typeface="+mj-ea"/>
              </a:rPr>
              <a:t>系统调用方式（</a:t>
            </a:r>
            <a:r>
              <a:rPr lang="en-US" altLang="zh-CN" sz="2400" dirty="0">
                <a:latin typeface="+mj-ea"/>
                <a:ea typeface="+mj-ea"/>
              </a:rPr>
              <a:t>API</a:t>
            </a:r>
            <a:r>
              <a:rPr lang="zh-CN" altLang="en-US" sz="2400" dirty="0">
                <a:latin typeface="+mj-ea"/>
                <a:ea typeface="+mj-ea"/>
              </a:rPr>
              <a:t>应用程序编程接口）</a:t>
            </a: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45059" name="文本占位符 190466"/>
          <p:cNvSpPr>
            <a:spLocks noGrp="1"/>
          </p:cNvSpPr>
          <p:nvPr>
            <p:ph type="body" idx="1"/>
          </p:nvPr>
        </p:nvSpPr>
        <p:spPr>
          <a:xfrm>
            <a:off x="5561330" y="513715"/>
            <a:ext cx="6630670" cy="6367145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#include  &lt;stdio.h&gt;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void main(int argc,char *argv[])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{   int pid; 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pid = </a:t>
            </a:r>
            <a:r>
              <a:rPr lang="en-US" altLang="zh-CN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fork( )</a:t>
            </a:r>
            <a:r>
              <a:rPr lang="en-US" altLang="zh-CN" sz="2000" kern="1200" dirty="0">
                <a:latin typeface="+mn-lt"/>
                <a:ea typeface="+mn-ea"/>
                <a:cs typeface="+mn-cs"/>
              </a:rPr>
              <a:t>;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if (pid &lt; 0) {     /* error occurred */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  fprintf(stderr, "Fork Failed");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  </a:t>
            </a:r>
            <a:r>
              <a:rPr lang="en-US" altLang="zh-CN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exit(-1)</a:t>
            </a:r>
            <a:r>
              <a:rPr lang="en-US" altLang="zh-CN" sz="2000" kern="1200" dirty="0">
                <a:latin typeface="+mn-lt"/>
                <a:ea typeface="+mn-ea"/>
                <a:cs typeface="+mn-cs"/>
              </a:rPr>
              <a:t>;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}</a:t>
            </a:r>
            <a:r>
              <a:rPr lang="en-US" altLang="zh-CN" sz="2000" kern="1200" dirty="0">
                <a:solidFill>
                  <a:srgbClr val="6BFB86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else if (pid = = 0) {      /* child process */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     execlp( "/bin/ls", "ls",NULL);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}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     else {  /* parent will wait for the child to complete */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             </a:t>
            </a:r>
            <a:r>
              <a:rPr lang="en-US" altLang="zh-CN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wait(NULL)</a:t>
            </a:r>
            <a:r>
              <a:rPr lang="en-US" altLang="zh-CN" sz="2000" kern="1200" dirty="0">
                <a:latin typeface="+mn-lt"/>
                <a:ea typeface="+mn-ea"/>
                <a:cs typeface="+mn-cs"/>
              </a:rPr>
              <a:t>;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             </a:t>
            </a:r>
            <a:r>
              <a:rPr lang="en-US" altLang="zh-CN" sz="2000" b="1" kern="1200" dirty="0">
                <a:solidFill>
                  <a:srgbClr val="3333FF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altLang="zh-CN" sz="2000" kern="1200" dirty="0">
                <a:latin typeface="+mn-lt"/>
                <a:ea typeface="+mn-ea"/>
                <a:cs typeface="+mn-cs"/>
              </a:rPr>
              <a:t>( "Child Complete" );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             </a:t>
            </a:r>
            <a:r>
              <a:rPr lang="en-US" altLang="zh-CN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exit(0)</a:t>
            </a:r>
            <a:r>
              <a:rPr lang="en-US" altLang="zh-CN" sz="2000" kern="1200" dirty="0">
                <a:latin typeface="+mn-lt"/>
                <a:ea typeface="+mn-ea"/>
                <a:cs typeface="+mn-cs"/>
              </a:rPr>
              <a:t>;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          }</a:t>
            </a:r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}</a:t>
            </a:r>
            <a:r>
              <a:rPr lang="en-US" altLang="zh-CN" sz="2000" kern="1200" dirty="0">
                <a:solidFill>
                  <a:srgbClr val="6BFB86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4" name="îŝľîḓè"/>
          <p:cNvSpPr txBox="1"/>
          <p:nvPr/>
        </p:nvSpPr>
        <p:spPr>
          <a:xfrm>
            <a:off x="669925" y="3931920"/>
            <a:ext cx="4697095" cy="100901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sym typeface="+mn-ea"/>
              </a:rPr>
              <a:t>系统调用是应用程序请求</a:t>
            </a:r>
            <a:r>
              <a:rPr lang="en-US" altLang="zh-CN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sym typeface="+mn-ea"/>
              </a:rPr>
              <a:t>OS</a:t>
            </a:r>
            <a:r>
              <a:rPr lang="zh-CN" alt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sym typeface="+mn-ea"/>
              </a:rPr>
              <a:t>服务的唯一方式。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uiExpand="1" build="p" animBg="1"/>
      <p:bldP spid="45059" grpId="1" build="p" animBg="1"/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4480" y="857250"/>
            <a:ext cx="5505450" cy="6277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/>
              <a:t>这个程序是一个简单的C语言程序，演示了如何在Linux环境下使用`fork()`和`execlp()`函数来创建子进程并执行另一个程序。下面是对程序的逐行解释：</a:t>
            </a:r>
          </a:p>
          <a:p>
            <a:endParaRPr lang="zh-CN" altLang="en-US" sz="1600"/>
          </a:p>
          <a:p>
            <a:r>
              <a:rPr lang="zh-CN" altLang="en-US" sz="1600"/>
              <a:t>#include &lt;stdio.h&gt;</a:t>
            </a:r>
          </a:p>
          <a:p>
            <a:r>
              <a:rPr lang="zh-CN" altLang="en-US" sz="1600"/>
              <a:t>这行代码包含了</a:t>
            </a:r>
            <a:r>
              <a:rPr lang="zh-CN" altLang="en-US" sz="1600">
                <a:solidFill>
                  <a:srgbClr val="FF0000"/>
                </a:solidFill>
              </a:rPr>
              <a:t>标准输入输出库</a:t>
            </a:r>
            <a:r>
              <a:rPr lang="zh-CN" altLang="en-US" sz="1600"/>
              <a:t>，提供了`printf()`和`fprintf()`等函数。</a:t>
            </a:r>
          </a:p>
          <a:p>
            <a:r>
              <a:rPr lang="zh-CN" altLang="en-US" sz="1600"/>
              <a:t>void main(int argc, char *argv[])</a:t>
            </a:r>
          </a:p>
          <a:p>
            <a:r>
              <a:rPr lang="zh-CN" altLang="en-US" sz="1600"/>
              <a:t>这是程序的主函数入口，`argc`表示命令行参数的数量，`argv`是一个字符串数组，存储了命令行参数。</a:t>
            </a:r>
          </a:p>
          <a:p>
            <a:r>
              <a:rPr lang="zh-CN" altLang="en-US" sz="1600"/>
              <a:t>{</a:t>
            </a:r>
          </a:p>
          <a:p>
            <a:r>
              <a:rPr lang="zh-CN" altLang="en-US" sz="1600"/>
              <a:t>    int pid;</a:t>
            </a:r>
          </a:p>
          <a:p>
            <a:r>
              <a:rPr lang="zh-CN" altLang="en-US" sz="1600"/>
              <a:t>声明一个整型变量`pid`，用于存储`fork()`函数的返回值。</a:t>
            </a:r>
          </a:p>
          <a:p>
            <a:r>
              <a:rPr lang="zh-CN" altLang="en-US" sz="1600"/>
              <a:t>    pid = fork();</a:t>
            </a:r>
          </a:p>
          <a:p>
            <a:r>
              <a:rPr lang="zh-CN" altLang="en-US" sz="1600"/>
              <a:t>调用`fork()`函数创建一个新进程。</a:t>
            </a:r>
            <a:r>
              <a:rPr lang="zh-CN" altLang="en-US" sz="1600" b="1"/>
              <a:t>`fork()`函数会</a:t>
            </a:r>
            <a:r>
              <a:rPr lang="zh-CN" altLang="en-US" b="1">
                <a:solidFill>
                  <a:srgbClr val="FF0000"/>
                </a:solidFill>
              </a:rPr>
              <a:t>返回两次</a:t>
            </a:r>
            <a:r>
              <a:rPr lang="zh-CN" altLang="en-US" sz="1600"/>
              <a:t>：在父进程中返回子进程的PID，在子进程中返回0。</a:t>
            </a:r>
          </a:p>
          <a:p>
            <a:r>
              <a:rPr lang="zh-CN" altLang="en-US" sz="1600"/>
              <a:t>    if (pid &lt; 0) { /* error occurred */</a:t>
            </a:r>
          </a:p>
          <a:p>
            <a:r>
              <a:rPr lang="zh-CN" altLang="en-US" sz="1600"/>
              <a:t>        fprintf(stderr, "Fork Failed");</a:t>
            </a:r>
          </a:p>
          <a:p>
            <a:r>
              <a:rPr lang="zh-CN" altLang="en-US" sz="1600"/>
              <a:t>        exit(-1);</a:t>
            </a:r>
          </a:p>
          <a:p>
            <a:r>
              <a:rPr lang="zh-CN" altLang="en-US" sz="1600"/>
              <a:t>    }</a:t>
            </a:r>
          </a:p>
          <a:p>
            <a:r>
              <a:rPr lang="zh-CN" altLang="en-US" sz="1600"/>
              <a:t>如果`fork()`返回值小于0，表示创建子进程失败。程序会输出错误信息并退出。</a:t>
            </a:r>
          </a:p>
          <a:p>
            <a:r>
              <a:rPr lang="zh-CN" altLang="en-US" sz="1600"/>
              <a:t>    else if (pid == 0) { /* child process */</a:t>
            </a:r>
          </a:p>
          <a:p>
            <a:r>
              <a:rPr lang="zh-CN" altLang="en-US" sz="1600"/>
              <a:t>        execlp("/bin/ls", "ls", NULL);</a:t>
            </a:r>
          </a:p>
          <a:p>
            <a:r>
              <a:rPr lang="zh-CN" altLang="en-US" sz="1600"/>
              <a:t>    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0" y="857250"/>
            <a:ext cx="500888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ym typeface="+mn-ea"/>
              </a:rPr>
              <a:t>如果`fork()`返回值为0，表示当前进程是子进程。调用`execlp()`函数执行`/bin/ls`命令，列出当前目录的内容。`execlp()`函数的第一个参数是可执行文件的路径，第二个参数是命令名，第三个参数是NULL，表示参数列表的结束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    else { /* parent will wait for the child to complete */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        wait(NULL);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        printf("Child Complete");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        exit(0);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    }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}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如果`fork()`返回值大于0，表示当前进程是父进程。调用`wait(NULL)`函数等待子进程完成。子进程完成后，父进程输出“Child Complete”并退出。</a:t>
            </a:r>
            <a:endParaRPr lang="zh-CN" altLang="en-US" sz="1600"/>
          </a:p>
          <a:p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总结：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• 这个程序首先创建一个子进程。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• 如果创建失败，输出错误信息并退出。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• 如果是子进程，执行`/bin/ls`命令。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• 如果是父进程，等待子进程完成并输出“Child Complete”。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操作系统的作用</a:t>
            </a:r>
          </a:p>
        </p:txBody>
      </p:sp>
      <p:sp>
        <p:nvSpPr>
          <p:cNvPr id="47" name="îŝľîḓè"/>
          <p:cNvSpPr txBox="1"/>
          <p:nvPr/>
        </p:nvSpPr>
        <p:spPr>
          <a:xfrm>
            <a:off x="565150" y="1207135"/>
            <a:ext cx="7633335" cy="80137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FF"/>
                </a:solidFill>
              </a:rPr>
              <a:t>2. </a:t>
            </a:r>
            <a:r>
              <a:rPr lang="zh-CN" altLang="en-US" sz="2400" dirty="0">
                <a:solidFill>
                  <a:srgbClr val="0000FF"/>
                </a:solidFill>
              </a:rPr>
              <a:t>计算机系统资源的管理者</a:t>
            </a:r>
          </a:p>
          <a:p>
            <a:pPr marL="342900" indent="-34290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处理机管理、存储器管理、</a:t>
            </a: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设备管理、文件管理。</a:t>
            </a:r>
          </a:p>
        </p:txBody>
      </p:sp>
      <p:sp>
        <p:nvSpPr>
          <p:cNvPr id="50" name="íṧļîḋê"/>
          <p:cNvSpPr txBox="1"/>
          <p:nvPr/>
        </p:nvSpPr>
        <p:spPr>
          <a:xfrm>
            <a:off x="565150" y="2310765"/>
            <a:ext cx="11173460" cy="183451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FF"/>
                </a:solidFill>
              </a:rPr>
              <a:t>3. </a:t>
            </a:r>
            <a:r>
              <a:rPr lang="zh-CN" altLang="en-US" sz="2400" dirty="0">
                <a:solidFill>
                  <a:srgbClr val="0000FF"/>
                </a:solidFill>
              </a:rPr>
              <a:t>实现对计算机资源的抽象</a:t>
            </a:r>
          </a:p>
          <a:p>
            <a:pPr marL="342900" indent="-34290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裸机：无软件的计算机系统。</a:t>
            </a:r>
          </a:p>
          <a:p>
            <a:pPr marL="342900" indent="-34290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虚拟机：覆盖了软件的机器，向用户提</a:t>
            </a:r>
          </a:p>
          <a:p>
            <a:pPr indent="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 dirty="0"/>
              <a:t>供一个对硬件操作的抽象模型。</a:t>
            </a:r>
          </a:p>
        </p:txBody>
      </p:sp>
      <p:pic>
        <p:nvPicPr>
          <p:cNvPr id="2" name="图片 1" descr="IMG_20250202_165731_edit_1626268275556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625" y="2134235"/>
            <a:ext cx="5685790" cy="4114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50035" y="1224915"/>
            <a:ext cx="960755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+mj-ea"/>
                <a:ea typeface="+mj-ea"/>
                <a:sym typeface="+mn-ea"/>
              </a:rPr>
              <a:t>问题</a:t>
            </a:r>
            <a:r>
              <a:rPr lang="en-US" altLang="zh-CN" sz="2800" dirty="0">
                <a:solidFill>
                  <a:srgbClr val="0000FF"/>
                </a:solidFill>
                <a:latin typeface="+mj-ea"/>
                <a:ea typeface="+mj-ea"/>
                <a:sym typeface="+mn-ea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+mj-ea"/>
                <a:ea typeface="+mj-ea"/>
                <a:sym typeface="+mn-ea"/>
              </a:rPr>
              <a:t>：用户与计算机硬件系统之间的接口。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5C"/>
                </a:solidFill>
                <a:latin typeface="+mj-ea"/>
                <a:ea typeface="+mj-ea"/>
              </a:rPr>
              <a:t>1.1 </a:t>
            </a:r>
            <a:r>
              <a:rPr lang="zh-CN" altLang="en-US" sz="2400" dirty="0">
                <a:solidFill>
                  <a:srgbClr val="00005C"/>
                </a:solidFill>
                <a:latin typeface="+mj-ea"/>
                <a:ea typeface="+mj-ea"/>
              </a:rPr>
              <a:t>操作系统的目标和作用</a:t>
            </a:r>
            <a:endParaRPr lang="en-US" altLang="zh-CN" sz="2400" dirty="0">
              <a:solidFill>
                <a:srgbClr val="00005C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1.2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操作系统的发展过程</a:t>
            </a:r>
            <a:endParaRPr lang="en-US" altLang="zh-CN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1.3 </a:t>
            </a:r>
            <a:r>
              <a:rPr lang="zh-CN" altLang="en-US" sz="2400" dirty="0">
                <a:latin typeface="+mj-ea"/>
              </a:rPr>
              <a:t>操作系统的基本特征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4889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1.4 </a:t>
            </a:r>
            <a:r>
              <a:rPr lang="zh-CN" altLang="en-US" sz="2400" dirty="0">
                <a:latin typeface="+mj-ea"/>
              </a:rPr>
              <a:t>操作系统的运行环境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1.5 </a:t>
            </a:r>
            <a:r>
              <a:rPr lang="zh-CN" altLang="en-US" sz="2400" dirty="0">
                <a:latin typeface="+mj-ea"/>
              </a:rPr>
              <a:t>操作系统的主要功能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1.6 </a:t>
            </a:r>
            <a:r>
              <a:rPr lang="zh-CN" altLang="en-US" sz="2400" dirty="0">
                <a:latin typeface="+mj-ea"/>
              </a:rPr>
              <a:t>操作系统的结构设计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25874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1.7 </a:t>
            </a:r>
            <a:r>
              <a:rPr lang="zh-CN" altLang="en-US" sz="2400" dirty="0">
                <a:latin typeface="+mj-ea"/>
              </a:rPr>
              <a:t>系统调用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2627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1</a:t>
            </a:r>
            <a:r>
              <a:rPr lang="zh-CN" altLang="en-US" sz="3600" dirty="0">
                <a:solidFill>
                  <a:srgbClr val="000000"/>
                </a:solidFill>
              </a:rPr>
              <a:t>章 操作系统引论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9860" y="753745"/>
            <a:ext cx="916686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问题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：操作系统的概念</a:t>
            </a:r>
            <a:r>
              <a:rPr lang="zh-CN" altLang="en-US" sz="2800" dirty="0">
                <a:sym typeface="+mn-ea"/>
              </a:rPr>
              <a:t>？</a:t>
            </a:r>
            <a:endParaRPr lang="zh-CN" altLang="en-US" sz="2800" dirty="0"/>
          </a:p>
          <a:p>
            <a:pPr indent="0" fontAlgn="auto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 </a:t>
            </a:r>
            <a:endParaRPr lang="zh-CN" altLang="en-US" sz="2800" dirty="0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 txBox="1"/>
          <p:nvPr/>
        </p:nvSpPr>
        <p:spPr>
          <a:xfrm>
            <a:off x="669925" y="5306656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Signature</a:t>
            </a:r>
            <a:endParaRPr lang="en-US" altLang="zh-CN" dirty="0"/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推动</a:t>
            </a:r>
            <a:r>
              <a:rPr lang="en-US" altLang="zh-CN" sz="2800" b="1" dirty="0">
                <a:solidFill>
                  <a:schemeClr val="bg1"/>
                </a:solidFill>
              </a:rPr>
              <a:t>OS</a:t>
            </a:r>
            <a:r>
              <a:rPr lang="zh-CN" altLang="en-US" sz="2800" b="1" dirty="0">
                <a:solidFill>
                  <a:schemeClr val="bg1"/>
                </a:solidFill>
              </a:rPr>
              <a:t>发展的主要动力</a:t>
            </a:r>
          </a:p>
        </p:txBody>
      </p:sp>
      <p:sp>
        <p:nvSpPr>
          <p:cNvPr id="10" name="iṥḷîdé"/>
          <p:cNvSpPr/>
          <p:nvPr/>
        </p:nvSpPr>
        <p:spPr bwMode="auto">
          <a:xfrm rot="610268">
            <a:off x="4224180" y="3695598"/>
            <a:ext cx="1187744" cy="1497020"/>
          </a:xfrm>
          <a:prstGeom prst="rtTriangle">
            <a:avLst/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ïš1iďe"/>
          <p:cNvSpPr/>
          <p:nvPr/>
        </p:nvSpPr>
        <p:spPr bwMode="auto">
          <a:xfrm rot="16200000">
            <a:off x="1772352" y="1064207"/>
            <a:ext cx="1296144" cy="2052228"/>
          </a:xfrm>
          <a:prstGeom prst="triangle">
            <a:avLst/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ïṥliḋe"/>
          <p:cNvSpPr/>
          <p:nvPr/>
        </p:nvSpPr>
        <p:spPr bwMode="auto">
          <a:xfrm rot="3712223">
            <a:off x="855993" y="1330709"/>
            <a:ext cx="4066498" cy="4482407"/>
          </a:xfrm>
          <a:custGeom>
            <a:avLst/>
            <a:gdLst>
              <a:gd name="connsiteX0" fmla="*/ 0 w 4066498"/>
              <a:gd name="connsiteY0" fmla="*/ 2863075 h 4482407"/>
              <a:gd name="connsiteX1" fmla="*/ 1937533 w 4066498"/>
              <a:gd name="connsiteY1" fmla="*/ 0 h 4482407"/>
              <a:gd name="connsiteX2" fmla="*/ 4066498 w 4066498"/>
              <a:gd name="connsiteY2" fmla="*/ 1138176 h 4482407"/>
              <a:gd name="connsiteX3" fmla="*/ 3028971 w 4066498"/>
              <a:gd name="connsiteY3" fmla="*/ 4482407 h 4482407"/>
              <a:gd name="connsiteX4" fmla="*/ 0 w 4066498"/>
              <a:gd name="connsiteY4" fmla="*/ 2863075 h 448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66498" h="4482407">
                <a:moveTo>
                  <a:pt x="0" y="2863075"/>
                </a:moveTo>
                <a:lnTo>
                  <a:pt x="1937533" y="0"/>
                </a:lnTo>
                <a:lnTo>
                  <a:pt x="4066498" y="1138176"/>
                </a:lnTo>
                <a:lnTo>
                  <a:pt x="3028971" y="4482407"/>
                </a:lnTo>
                <a:lnTo>
                  <a:pt x="0" y="28630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íṧḷiḍe"/>
          <p:cNvSpPr/>
          <p:nvPr/>
        </p:nvSpPr>
        <p:spPr>
          <a:xfrm rot="10800000" flipV="1">
            <a:off x="1510436" y="3209926"/>
            <a:ext cx="2972566" cy="823924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 fontScale="92500" lnSpcReduction="10000"/>
          </a:bodyPr>
          <a:lstStyle/>
          <a:p>
            <a:pPr algn="ctr"/>
            <a:r>
              <a:rPr lang="zh-CN" altLang="en-US" sz="2800" b="1" i="1" dirty="0"/>
              <a:t>推动</a:t>
            </a:r>
            <a:r>
              <a:rPr lang="en-US" altLang="zh-CN" sz="2800" b="1" i="1" dirty="0"/>
              <a:t>OS</a:t>
            </a:r>
            <a:r>
              <a:rPr lang="zh-CN" altLang="en-US" sz="2800" b="1" i="1" dirty="0"/>
              <a:t>发展的主要动力</a:t>
            </a:r>
          </a:p>
        </p:txBody>
      </p:sp>
      <p:sp>
        <p:nvSpPr>
          <p:cNvPr id="16" name="îşļïďè"/>
          <p:cNvSpPr/>
          <p:nvPr/>
        </p:nvSpPr>
        <p:spPr>
          <a:xfrm>
            <a:off x="6236451" y="5047466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pitchFamily="34" charset="0"/>
              </a:rPr>
              <a:t>5</a:t>
            </a:r>
          </a:p>
        </p:txBody>
      </p:sp>
      <p:sp>
        <p:nvSpPr>
          <p:cNvPr id="22" name="îšḷîḑé"/>
          <p:cNvSpPr txBox="1"/>
          <p:nvPr/>
        </p:nvSpPr>
        <p:spPr>
          <a:xfrm>
            <a:off x="6860799" y="5160801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不断提出的新的应用需求</a:t>
            </a:r>
          </a:p>
        </p:txBody>
      </p:sp>
      <p:sp>
        <p:nvSpPr>
          <p:cNvPr id="24" name="işlíḋé"/>
          <p:cNvSpPr/>
          <p:nvPr/>
        </p:nvSpPr>
        <p:spPr>
          <a:xfrm>
            <a:off x="6241890" y="4168890"/>
            <a:ext cx="624349" cy="624349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</a:p>
        </p:txBody>
      </p:sp>
      <p:sp>
        <p:nvSpPr>
          <p:cNvPr id="25" name="iṥlïḋè"/>
          <p:cNvSpPr txBox="1"/>
          <p:nvPr/>
        </p:nvSpPr>
        <p:spPr>
          <a:xfrm>
            <a:off x="6860799" y="4269347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计算机体系结构的不断发展</a:t>
            </a:r>
          </a:p>
        </p:txBody>
      </p:sp>
      <p:sp>
        <p:nvSpPr>
          <p:cNvPr id="27" name="i$1îḑe"/>
          <p:cNvSpPr/>
          <p:nvPr/>
        </p:nvSpPr>
        <p:spPr>
          <a:xfrm>
            <a:off x="6241890" y="3290314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" name="í$1îḍe"/>
          <p:cNvSpPr txBox="1"/>
          <p:nvPr/>
        </p:nvSpPr>
        <p:spPr>
          <a:xfrm>
            <a:off x="6860799" y="3390771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硬件的不断更新换代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30" name="ïSļïḓè"/>
          <p:cNvSpPr/>
          <p:nvPr/>
        </p:nvSpPr>
        <p:spPr>
          <a:xfrm>
            <a:off x="6241890" y="2411738"/>
            <a:ext cx="624349" cy="624349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31" name="iŝļíďè"/>
          <p:cNvSpPr txBox="1"/>
          <p:nvPr/>
        </p:nvSpPr>
        <p:spPr>
          <a:xfrm>
            <a:off x="6860799" y="2512194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方便用户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33" name="ïśľiďe"/>
          <p:cNvSpPr/>
          <p:nvPr/>
        </p:nvSpPr>
        <p:spPr>
          <a:xfrm>
            <a:off x="6241892" y="1533162"/>
            <a:ext cx="624349" cy="62434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34" name="îṡ1ide"/>
          <p:cNvSpPr txBox="1"/>
          <p:nvPr/>
        </p:nvSpPr>
        <p:spPr>
          <a:xfrm>
            <a:off x="6860799" y="1607861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不断提高计算机资源利用率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860799" y="2216515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860799" y="31046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6860799" y="399996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6860799" y="48953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操作系统的发展过程</a:t>
            </a:r>
          </a:p>
        </p:txBody>
      </p:sp>
      <p:sp>
        <p:nvSpPr>
          <p:cNvPr id="61" name="iśḷíḑe"/>
          <p:cNvSpPr/>
          <p:nvPr/>
        </p:nvSpPr>
        <p:spPr>
          <a:xfrm>
            <a:off x="357582" y="1353739"/>
            <a:ext cx="774099" cy="7740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01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62" name="ïś1ïḑè"/>
          <p:cNvSpPr/>
          <p:nvPr/>
        </p:nvSpPr>
        <p:spPr>
          <a:xfrm>
            <a:off x="1064279" y="2337153"/>
            <a:ext cx="774099" cy="77409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02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83" name="iśḷíḑe"/>
          <p:cNvSpPr/>
          <p:nvPr/>
        </p:nvSpPr>
        <p:spPr>
          <a:xfrm>
            <a:off x="1788179" y="3095675"/>
            <a:ext cx="774099" cy="7740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03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84" name="ïś1ïḑè"/>
          <p:cNvSpPr/>
          <p:nvPr/>
        </p:nvSpPr>
        <p:spPr>
          <a:xfrm>
            <a:off x="2512079" y="3877931"/>
            <a:ext cx="774099" cy="77409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04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85" name="内容占位符 2"/>
          <p:cNvSpPr txBox="1"/>
          <p:nvPr/>
        </p:nvSpPr>
        <p:spPr>
          <a:xfrm>
            <a:off x="1307758" y="1273875"/>
            <a:ext cx="5168423" cy="1071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buNone/>
            </a:pPr>
            <a:r>
              <a:rPr lang="zh-CN" altLang="en-US" sz="2400" dirty="0"/>
              <a:t>无操作系统的计算机系统</a:t>
            </a:r>
            <a:endParaRPr lang="en-US" altLang="zh-CN" sz="2400" dirty="0"/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人工操作方式</a:t>
            </a:r>
            <a:endParaRPr lang="en-US" altLang="zh-CN" sz="2200" dirty="0"/>
          </a:p>
        </p:txBody>
      </p:sp>
      <p:sp>
        <p:nvSpPr>
          <p:cNvPr id="86" name="内容占位符 2"/>
          <p:cNvSpPr txBox="1"/>
          <p:nvPr/>
        </p:nvSpPr>
        <p:spPr>
          <a:xfrm>
            <a:off x="2014454" y="2568047"/>
            <a:ext cx="2573361" cy="3656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单道批处理</a:t>
            </a:r>
            <a:r>
              <a:rPr lang="zh-CN" altLang="en-US" sz="2400" dirty="0"/>
              <a:t>系统</a:t>
            </a:r>
          </a:p>
        </p:txBody>
      </p:sp>
      <p:sp>
        <p:nvSpPr>
          <p:cNvPr id="87" name="内容占位符 2"/>
          <p:cNvSpPr txBox="1"/>
          <p:nvPr/>
        </p:nvSpPr>
        <p:spPr>
          <a:xfrm>
            <a:off x="2738355" y="3342288"/>
            <a:ext cx="2573360" cy="367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多道批处理</a:t>
            </a:r>
            <a:r>
              <a:rPr lang="zh-CN" altLang="en-US" sz="2400" dirty="0"/>
              <a:t>系统</a:t>
            </a:r>
          </a:p>
        </p:txBody>
      </p:sp>
      <p:sp>
        <p:nvSpPr>
          <p:cNvPr id="88" name="内容占位符 2"/>
          <p:cNvSpPr txBox="1"/>
          <p:nvPr/>
        </p:nvSpPr>
        <p:spPr>
          <a:xfrm>
            <a:off x="3462255" y="4142017"/>
            <a:ext cx="2290026" cy="3434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分时</a:t>
            </a:r>
            <a:r>
              <a:rPr lang="zh-CN" altLang="en-US" sz="2400" dirty="0"/>
              <a:t>系统</a:t>
            </a:r>
          </a:p>
        </p:txBody>
      </p:sp>
      <p:sp>
        <p:nvSpPr>
          <p:cNvPr id="89" name="iśḷíḑe"/>
          <p:cNvSpPr/>
          <p:nvPr/>
        </p:nvSpPr>
        <p:spPr>
          <a:xfrm>
            <a:off x="3300931" y="4765088"/>
            <a:ext cx="774099" cy="7740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05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90" name="内容占位符 2"/>
          <p:cNvSpPr txBox="1"/>
          <p:nvPr/>
        </p:nvSpPr>
        <p:spPr>
          <a:xfrm>
            <a:off x="4251107" y="5022643"/>
            <a:ext cx="2290026" cy="367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实时</a:t>
            </a:r>
            <a:r>
              <a:rPr lang="zh-CN" altLang="en-US" sz="2400" dirty="0"/>
              <a:t>系统</a:t>
            </a:r>
            <a:endParaRPr lang="en-US" altLang="zh-CN" sz="2400" dirty="0"/>
          </a:p>
        </p:txBody>
      </p:sp>
      <p:sp>
        <p:nvSpPr>
          <p:cNvPr id="91" name="iśḷíḑe"/>
          <p:cNvSpPr/>
          <p:nvPr/>
        </p:nvSpPr>
        <p:spPr>
          <a:xfrm>
            <a:off x="6849928" y="1373186"/>
            <a:ext cx="774099" cy="7740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06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92" name="ïś1ïḑè"/>
          <p:cNvSpPr/>
          <p:nvPr/>
        </p:nvSpPr>
        <p:spPr>
          <a:xfrm>
            <a:off x="6849928" y="2466134"/>
            <a:ext cx="774099" cy="77409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07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93" name="iśḷíḑe"/>
          <p:cNvSpPr/>
          <p:nvPr/>
        </p:nvSpPr>
        <p:spPr>
          <a:xfrm>
            <a:off x="6849928" y="3559082"/>
            <a:ext cx="774099" cy="7740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08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94" name="ïś1ïḑè"/>
          <p:cNvSpPr/>
          <p:nvPr/>
        </p:nvSpPr>
        <p:spPr>
          <a:xfrm>
            <a:off x="6849928" y="4652030"/>
            <a:ext cx="774099" cy="77409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09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95" name="内容占位符 2"/>
          <p:cNvSpPr txBox="1"/>
          <p:nvPr/>
        </p:nvSpPr>
        <p:spPr>
          <a:xfrm>
            <a:off x="7800104" y="1472243"/>
            <a:ext cx="2015650" cy="344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微机</a:t>
            </a:r>
            <a:r>
              <a:rPr lang="zh-CN" altLang="en-US" sz="2400" dirty="0"/>
              <a:t>操作系统</a:t>
            </a:r>
            <a:endParaRPr lang="en-US" altLang="zh-CN" sz="2400" dirty="0"/>
          </a:p>
        </p:txBody>
      </p:sp>
      <p:sp>
        <p:nvSpPr>
          <p:cNvPr id="96" name="内容占位符 2"/>
          <p:cNvSpPr txBox="1"/>
          <p:nvPr/>
        </p:nvSpPr>
        <p:spPr>
          <a:xfrm>
            <a:off x="7800104" y="2597292"/>
            <a:ext cx="2508967" cy="3656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嵌入式</a:t>
            </a:r>
            <a:r>
              <a:rPr lang="zh-CN" altLang="en-US" sz="2400" dirty="0"/>
              <a:t>操作系统</a:t>
            </a:r>
            <a:endParaRPr lang="en-US" altLang="zh-CN" sz="2400" dirty="0"/>
          </a:p>
        </p:txBody>
      </p:sp>
      <p:sp>
        <p:nvSpPr>
          <p:cNvPr id="97" name="内容占位符 2"/>
          <p:cNvSpPr txBox="1"/>
          <p:nvPr/>
        </p:nvSpPr>
        <p:spPr>
          <a:xfrm>
            <a:off x="7800104" y="3744000"/>
            <a:ext cx="2290026" cy="367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网络</a:t>
            </a:r>
            <a:r>
              <a:rPr lang="zh-CN" altLang="en-US" sz="2400" dirty="0"/>
              <a:t>操作系统</a:t>
            </a:r>
            <a:endParaRPr lang="en-US" altLang="zh-CN" sz="2400" dirty="0"/>
          </a:p>
        </p:txBody>
      </p:sp>
      <p:sp>
        <p:nvSpPr>
          <p:cNvPr id="98" name="内容占位符 2"/>
          <p:cNvSpPr txBox="1"/>
          <p:nvPr/>
        </p:nvSpPr>
        <p:spPr>
          <a:xfrm>
            <a:off x="7800104" y="4892462"/>
            <a:ext cx="2637756" cy="3434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分布式</a:t>
            </a:r>
            <a:r>
              <a:rPr lang="zh-CN" altLang="en-US" sz="2400" dirty="0"/>
              <a:t>操作系统</a:t>
            </a:r>
          </a:p>
        </p:txBody>
      </p:sp>
      <p:sp>
        <p:nvSpPr>
          <p:cNvPr id="21" name="内容占位符 2"/>
          <p:cNvSpPr txBox="1"/>
          <p:nvPr/>
        </p:nvSpPr>
        <p:spPr>
          <a:xfrm>
            <a:off x="3560111" y="1814391"/>
            <a:ext cx="2410044" cy="5692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脱机</a:t>
            </a:r>
            <a:r>
              <a:rPr lang="en-US" altLang="zh-CN" sz="2200" dirty="0"/>
              <a:t>I/O</a:t>
            </a:r>
            <a:r>
              <a:rPr lang="zh-CN" altLang="en-US" sz="2200" dirty="0"/>
              <a:t>方式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单道批处理系统</a:t>
            </a:r>
          </a:p>
        </p:txBody>
      </p:sp>
      <p:grpSp>
        <p:nvGrpSpPr>
          <p:cNvPr id="10" name="iṡļiḓe"/>
          <p:cNvGrpSpPr/>
          <p:nvPr/>
        </p:nvGrpSpPr>
        <p:grpSpPr>
          <a:xfrm>
            <a:off x="391160" y="1065464"/>
            <a:ext cx="6876415" cy="1342456"/>
            <a:chOff x="660400" y="1782753"/>
            <a:chExt cx="6876351" cy="1305893"/>
          </a:xfrm>
        </p:grpSpPr>
        <p:grpSp>
          <p:nvGrpSpPr>
            <p:cNvPr id="21" name="iSḻíḓè"/>
            <p:cNvGrpSpPr/>
            <p:nvPr/>
          </p:nvGrpSpPr>
          <p:grpSpPr>
            <a:xfrm>
              <a:off x="1530997" y="1834087"/>
              <a:ext cx="6005754" cy="1254559"/>
              <a:chOff x="1592242" y="1834087"/>
              <a:chExt cx="7574760" cy="1254559"/>
            </a:xfrm>
          </p:grpSpPr>
          <p:sp>
            <p:nvSpPr>
              <p:cNvPr id="25" name="îṧľîḋé"/>
              <p:cNvSpPr txBox="1"/>
              <p:nvPr/>
            </p:nvSpPr>
            <p:spPr>
              <a:xfrm>
                <a:off x="1592242" y="1834087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处理过程</a:t>
                </a:r>
                <a:r>
                  <a:rPr lang="zh-CN" altLang="en-US" sz="2800" dirty="0"/>
                  <a:t>：</a:t>
                </a:r>
                <a:endParaRPr lang="en-US" altLang="zh-CN" sz="2800" dirty="0"/>
              </a:p>
            </p:txBody>
          </p:sp>
          <p:sp>
            <p:nvSpPr>
              <p:cNvPr id="26" name="íşļîḓé"/>
              <p:cNvSpPr/>
              <p:nvPr/>
            </p:nvSpPr>
            <p:spPr bwMode="auto">
              <a:xfrm>
                <a:off x="1592242" y="2277810"/>
                <a:ext cx="7574760" cy="8108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作业一个接一个地连续处理</a:t>
                </a:r>
                <a:endParaRPr lang="en-US" altLang="zh-CN" sz="2400" dirty="0"/>
              </a:p>
            </p:txBody>
          </p:sp>
        </p:grpSp>
        <p:grpSp>
          <p:nvGrpSpPr>
            <p:cNvPr id="22" name="ïS1íḋé"/>
            <p:cNvGrpSpPr/>
            <p:nvPr/>
          </p:nvGrpSpPr>
          <p:grpSpPr>
            <a:xfrm>
              <a:off x="660400" y="1782753"/>
              <a:ext cx="733394" cy="733394"/>
              <a:chOff x="660400" y="1782753"/>
              <a:chExt cx="733394" cy="733394"/>
            </a:xfrm>
          </p:grpSpPr>
          <p:sp>
            <p:nvSpPr>
              <p:cNvPr id="23" name="islîḋe"/>
              <p:cNvSpPr/>
              <p:nvPr/>
            </p:nvSpPr>
            <p:spPr>
              <a:xfrm>
                <a:off x="660400" y="1782753"/>
                <a:ext cx="733394" cy="73339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îŝlîďe"/>
              <p:cNvSpPr/>
              <p:nvPr/>
            </p:nvSpPr>
            <p:spPr>
              <a:xfrm>
                <a:off x="797603" y="1980596"/>
                <a:ext cx="381389" cy="3460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组合 3"/>
          <p:cNvGrpSpPr/>
          <p:nvPr/>
        </p:nvGrpSpPr>
        <p:grpSpPr>
          <a:xfrm>
            <a:off x="8975725" y="1587500"/>
            <a:ext cx="2177415" cy="482600"/>
            <a:chOff x="4875213" y="3717040"/>
            <a:chExt cx="3581400" cy="762000"/>
          </a:xfrm>
        </p:grpSpPr>
        <p:sp>
          <p:nvSpPr>
            <p:cNvPr id="65551" name="Oval 10"/>
            <p:cNvSpPr/>
            <p:nvPr/>
          </p:nvSpPr>
          <p:spPr>
            <a:xfrm>
              <a:off x="7694613" y="3717040"/>
              <a:ext cx="762000" cy="762000"/>
            </a:xfrm>
            <a:prstGeom prst="ellipse">
              <a:avLst/>
            </a:pr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3366"/>
                  </a:solidFill>
                  <a:latin typeface="Times New Roman" panose="02020603050405020304" charset="0"/>
                </a:rPr>
                <a:t>P</a:t>
              </a:r>
              <a:r>
                <a:rPr lang="en-US" altLang="zh-CN" sz="2400" b="1" baseline="-25000" dirty="0">
                  <a:solidFill>
                    <a:srgbClr val="003366"/>
                  </a:solidFill>
                  <a:latin typeface="Times New Roman" panose="02020603050405020304" charset="0"/>
                </a:rPr>
                <a:t>2</a:t>
              </a:r>
            </a:p>
          </p:txBody>
        </p:sp>
        <p:sp>
          <p:nvSpPr>
            <p:cNvPr id="65552" name="Oval 11"/>
            <p:cNvSpPr/>
            <p:nvPr/>
          </p:nvSpPr>
          <p:spPr>
            <a:xfrm>
              <a:off x="4875213" y="3717040"/>
              <a:ext cx="762000" cy="762000"/>
            </a:xfrm>
            <a:prstGeom prst="ellipse">
              <a:avLst/>
            </a:pr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3366"/>
                  </a:solidFill>
                  <a:latin typeface="Times New Roman" panose="02020603050405020304" charset="0"/>
                </a:rPr>
                <a:t>I</a:t>
              </a:r>
              <a:r>
                <a:rPr lang="en-US" altLang="zh-CN" sz="2400" b="1" baseline="-25000" dirty="0">
                  <a:solidFill>
                    <a:srgbClr val="003366"/>
                  </a:solidFill>
                  <a:latin typeface="Times New Roman" panose="02020603050405020304" charset="0"/>
                </a:rPr>
                <a:t>2</a:t>
              </a:r>
            </a:p>
          </p:txBody>
        </p:sp>
        <p:sp>
          <p:nvSpPr>
            <p:cNvPr id="65553" name="Oval 12"/>
            <p:cNvSpPr/>
            <p:nvPr/>
          </p:nvSpPr>
          <p:spPr>
            <a:xfrm>
              <a:off x="6246813" y="3717040"/>
              <a:ext cx="762000" cy="762000"/>
            </a:xfrm>
            <a:prstGeom prst="ellipse">
              <a:avLst/>
            </a:pr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3366"/>
                  </a:solidFill>
                  <a:latin typeface="Times New Roman" panose="02020603050405020304" charset="0"/>
                </a:rPr>
                <a:t>C</a:t>
              </a:r>
              <a:r>
                <a:rPr lang="en-US" altLang="zh-CN" sz="2400" b="1" baseline="-25000" dirty="0">
                  <a:solidFill>
                    <a:srgbClr val="003366"/>
                  </a:solidFill>
                  <a:latin typeface="Times New Roman" panose="02020603050405020304" charset="0"/>
                </a:rPr>
                <a:t>2</a:t>
              </a:r>
            </a:p>
          </p:txBody>
        </p:sp>
        <p:sp>
          <p:nvSpPr>
            <p:cNvPr id="65554" name="Freeform 14"/>
            <p:cNvSpPr/>
            <p:nvPr/>
          </p:nvSpPr>
          <p:spPr>
            <a:xfrm>
              <a:off x="7008813" y="4091690"/>
              <a:ext cx="623888" cy="6350"/>
            </a:xfrm>
            <a:custGeom>
              <a:avLst/>
              <a:gdLst>
                <a:gd name="txL" fmla="*/ 0 w 393"/>
                <a:gd name="txT" fmla="*/ 0 h 4"/>
                <a:gd name="txR" fmla="*/ 393 w 393"/>
                <a:gd name="txB" fmla="*/ 4 h 4"/>
              </a:gdLst>
              <a:ahLst/>
              <a:cxnLst>
                <a:cxn ang="0">
                  <a:pos x="0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393" h="4">
                  <a:moveTo>
                    <a:pt x="0" y="4"/>
                  </a:moveTo>
                  <a:lnTo>
                    <a:pt x="393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5" name="Line 15"/>
            <p:cNvSpPr/>
            <p:nvPr/>
          </p:nvSpPr>
          <p:spPr>
            <a:xfrm>
              <a:off x="5637213" y="4098040"/>
              <a:ext cx="6096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4" name="组合 13"/>
          <p:cNvGrpSpPr/>
          <p:nvPr/>
        </p:nvGrpSpPr>
        <p:grpSpPr>
          <a:xfrm>
            <a:off x="5949315" y="1587500"/>
            <a:ext cx="2352040" cy="482600"/>
            <a:chOff x="684213" y="3717040"/>
            <a:chExt cx="3505200" cy="762000"/>
          </a:xfrm>
        </p:grpSpPr>
        <p:sp>
          <p:nvSpPr>
            <p:cNvPr id="65546" name="Oval 7"/>
            <p:cNvSpPr/>
            <p:nvPr/>
          </p:nvSpPr>
          <p:spPr>
            <a:xfrm>
              <a:off x="684213" y="3717040"/>
              <a:ext cx="762000" cy="762000"/>
            </a:xfrm>
            <a:prstGeom prst="ellipse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3366"/>
                  </a:solidFill>
                  <a:latin typeface="Times New Roman" panose="02020603050405020304" charset="0"/>
                </a:rPr>
                <a:t>I</a:t>
              </a:r>
              <a:r>
                <a:rPr lang="en-US" altLang="zh-CN" sz="2400" b="1" baseline="-25000" dirty="0">
                  <a:solidFill>
                    <a:srgbClr val="003366"/>
                  </a:solidFill>
                  <a:latin typeface="Times New Roman" panose="02020603050405020304" charset="0"/>
                </a:rPr>
                <a:t>1</a:t>
              </a:r>
            </a:p>
          </p:txBody>
        </p:sp>
        <p:sp>
          <p:nvSpPr>
            <p:cNvPr id="65547" name="Oval 8"/>
            <p:cNvSpPr/>
            <p:nvPr/>
          </p:nvSpPr>
          <p:spPr>
            <a:xfrm>
              <a:off x="2055813" y="3717040"/>
              <a:ext cx="762000" cy="762000"/>
            </a:xfrm>
            <a:prstGeom prst="ellipse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3366"/>
                  </a:solidFill>
                  <a:latin typeface="Times New Roman" panose="02020603050405020304" charset="0"/>
                </a:rPr>
                <a:t>C</a:t>
              </a:r>
              <a:r>
                <a:rPr lang="en-US" altLang="zh-CN" sz="2400" b="1" baseline="-25000" dirty="0">
                  <a:solidFill>
                    <a:srgbClr val="003366"/>
                  </a:solidFill>
                  <a:latin typeface="Times New Roman" panose="02020603050405020304" charset="0"/>
                </a:rPr>
                <a:t>1</a:t>
              </a:r>
            </a:p>
          </p:txBody>
        </p:sp>
        <p:sp>
          <p:nvSpPr>
            <p:cNvPr id="65548" name="Oval 9"/>
            <p:cNvSpPr/>
            <p:nvPr/>
          </p:nvSpPr>
          <p:spPr>
            <a:xfrm>
              <a:off x="3427413" y="3717040"/>
              <a:ext cx="762000" cy="762000"/>
            </a:xfrm>
            <a:prstGeom prst="ellipse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3366"/>
                  </a:solidFill>
                  <a:latin typeface="Times New Roman" panose="02020603050405020304" charset="0"/>
                </a:rPr>
                <a:t>P</a:t>
              </a:r>
              <a:r>
                <a:rPr lang="en-US" altLang="zh-CN" sz="2400" b="1" baseline="-25000" dirty="0">
                  <a:solidFill>
                    <a:srgbClr val="003366"/>
                  </a:solidFill>
                  <a:latin typeface="Times New Roman" panose="02020603050405020304" charset="0"/>
                </a:rPr>
                <a:t>1</a:t>
              </a:r>
            </a:p>
          </p:txBody>
        </p:sp>
        <p:sp>
          <p:nvSpPr>
            <p:cNvPr id="65549" name="Line 13"/>
            <p:cNvSpPr/>
            <p:nvPr/>
          </p:nvSpPr>
          <p:spPr>
            <a:xfrm>
              <a:off x="1446213" y="4174240"/>
              <a:ext cx="6096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50" name="Line 17"/>
            <p:cNvSpPr/>
            <p:nvPr/>
          </p:nvSpPr>
          <p:spPr>
            <a:xfrm>
              <a:off x="2817813" y="4098040"/>
              <a:ext cx="6096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" name="右箭头 2"/>
          <p:cNvSpPr/>
          <p:nvPr/>
        </p:nvSpPr>
        <p:spPr>
          <a:xfrm flipV="1">
            <a:off x="8404860" y="1730375"/>
            <a:ext cx="492125" cy="182245"/>
          </a:xfrm>
          <a:prstGeom prst="rightArrow">
            <a:avLst>
              <a:gd name="adj1" fmla="val 50000"/>
              <a:gd name="adj2" fmla="val 49954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Monotype Sort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Times New Roman" panose="02020603050405020304" charset="0"/>
            </a:endParaRPr>
          </a:p>
        </p:txBody>
      </p:sp>
      <p:grpSp>
        <p:nvGrpSpPr>
          <p:cNvPr id="8" name="iṡļiḓe"/>
          <p:cNvGrpSpPr/>
          <p:nvPr/>
        </p:nvGrpSpPr>
        <p:grpSpPr>
          <a:xfrm>
            <a:off x="391160" y="5349240"/>
            <a:ext cx="6876415" cy="1184910"/>
            <a:chOff x="660400" y="1834087"/>
            <a:chExt cx="6876351" cy="1254559"/>
          </a:xfrm>
        </p:grpSpPr>
        <p:grpSp>
          <p:nvGrpSpPr>
            <p:cNvPr id="9" name="iSḻíḓè"/>
            <p:cNvGrpSpPr/>
            <p:nvPr/>
          </p:nvGrpSpPr>
          <p:grpSpPr>
            <a:xfrm>
              <a:off x="1530997" y="1834087"/>
              <a:ext cx="6005754" cy="1254559"/>
              <a:chOff x="1592242" y="1834087"/>
              <a:chExt cx="7574760" cy="1254559"/>
            </a:xfrm>
          </p:grpSpPr>
          <p:sp>
            <p:nvSpPr>
              <p:cNvPr id="27" name="îṧľîḋé"/>
              <p:cNvSpPr txBox="1"/>
              <p:nvPr/>
            </p:nvSpPr>
            <p:spPr>
              <a:xfrm>
                <a:off x="1592242" y="1834087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解决办法</a:t>
                </a:r>
                <a:r>
                  <a:rPr lang="zh-CN" altLang="en-US" sz="2800" dirty="0"/>
                  <a:t>：</a:t>
                </a:r>
                <a:endParaRPr lang="en-US" altLang="zh-CN" sz="2800" dirty="0"/>
              </a:p>
            </p:txBody>
          </p:sp>
          <p:sp>
            <p:nvSpPr>
              <p:cNvPr id="28" name="íşļîḓé"/>
              <p:cNvSpPr/>
              <p:nvPr/>
            </p:nvSpPr>
            <p:spPr bwMode="auto">
              <a:xfrm>
                <a:off x="1592242" y="2277810"/>
                <a:ext cx="7574760" cy="8108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引入多道程序设计技术</a:t>
                </a:r>
                <a:endParaRPr lang="en-US" altLang="zh-CN" sz="2400" dirty="0"/>
              </a:p>
            </p:txBody>
          </p:sp>
        </p:grpSp>
        <p:grpSp>
          <p:nvGrpSpPr>
            <p:cNvPr id="29" name="ïS1íḋé"/>
            <p:cNvGrpSpPr/>
            <p:nvPr/>
          </p:nvGrpSpPr>
          <p:grpSpPr>
            <a:xfrm>
              <a:off x="660400" y="1860585"/>
              <a:ext cx="733394" cy="733394"/>
              <a:chOff x="660400" y="1860585"/>
              <a:chExt cx="733394" cy="733394"/>
            </a:xfrm>
          </p:grpSpPr>
          <p:sp>
            <p:nvSpPr>
              <p:cNvPr id="30" name="islîḋe"/>
              <p:cNvSpPr/>
              <p:nvPr/>
            </p:nvSpPr>
            <p:spPr>
              <a:xfrm>
                <a:off x="660400" y="1860585"/>
                <a:ext cx="733394" cy="73339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îŝlîďe"/>
              <p:cNvSpPr/>
              <p:nvPr/>
            </p:nvSpPr>
            <p:spPr>
              <a:xfrm>
                <a:off x="797603" y="2045456"/>
                <a:ext cx="381389" cy="3460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6" name="iṡļiḓe"/>
          <p:cNvGrpSpPr/>
          <p:nvPr/>
        </p:nvGrpSpPr>
        <p:grpSpPr>
          <a:xfrm>
            <a:off x="391160" y="4297045"/>
            <a:ext cx="6876415" cy="1184910"/>
            <a:chOff x="660400" y="1834087"/>
            <a:chExt cx="6876351" cy="1254559"/>
          </a:xfrm>
        </p:grpSpPr>
        <p:grpSp>
          <p:nvGrpSpPr>
            <p:cNvPr id="47" name="iSḻíḓè"/>
            <p:cNvGrpSpPr/>
            <p:nvPr/>
          </p:nvGrpSpPr>
          <p:grpSpPr>
            <a:xfrm>
              <a:off x="1530997" y="1834087"/>
              <a:ext cx="6005754" cy="1254559"/>
              <a:chOff x="1592242" y="1834087"/>
              <a:chExt cx="7574760" cy="1254559"/>
            </a:xfrm>
          </p:grpSpPr>
          <p:sp>
            <p:nvSpPr>
              <p:cNvPr id="48" name="îṧľîḋé"/>
              <p:cNvSpPr txBox="1"/>
              <p:nvPr/>
            </p:nvSpPr>
            <p:spPr>
              <a:xfrm>
                <a:off x="1592242" y="1834087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缺点</a:t>
                </a:r>
                <a:r>
                  <a:rPr lang="zh-CN" altLang="en-US" sz="2800" dirty="0"/>
                  <a:t>：</a:t>
                </a:r>
                <a:endParaRPr lang="en-US" altLang="zh-CN" sz="2800" dirty="0"/>
              </a:p>
            </p:txBody>
          </p:sp>
          <p:sp>
            <p:nvSpPr>
              <p:cNvPr id="49" name="íşļîḓé"/>
              <p:cNvSpPr/>
              <p:nvPr/>
            </p:nvSpPr>
            <p:spPr bwMode="auto">
              <a:xfrm>
                <a:off x="1592242" y="2277810"/>
                <a:ext cx="7574760" cy="8108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ym typeface="+mn-ea"/>
                  </a:rPr>
                  <a:t>系统资源得不到充分的利用</a:t>
                </a:r>
                <a:endParaRPr lang="en-US" altLang="zh-CN" sz="2400" dirty="0"/>
              </a:p>
            </p:txBody>
          </p:sp>
        </p:grpSp>
        <p:grpSp>
          <p:nvGrpSpPr>
            <p:cNvPr id="50" name="ïS1íḋé"/>
            <p:cNvGrpSpPr/>
            <p:nvPr/>
          </p:nvGrpSpPr>
          <p:grpSpPr>
            <a:xfrm>
              <a:off x="660400" y="1860585"/>
              <a:ext cx="733394" cy="733394"/>
              <a:chOff x="660400" y="1860585"/>
              <a:chExt cx="733394" cy="733394"/>
            </a:xfrm>
          </p:grpSpPr>
          <p:sp>
            <p:nvSpPr>
              <p:cNvPr id="51" name="islîḋe"/>
              <p:cNvSpPr/>
              <p:nvPr/>
            </p:nvSpPr>
            <p:spPr>
              <a:xfrm>
                <a:off x="660400" y="1860585"/>
                <a:ext cx="733394" cy="73339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ŝlîďe"/>
              <p:cNvSpPr/>
              <p:nvPr/>
            </p:nvSpPr>
            <p:spPr>
              <a:xfrm>
                <a:off x="797603" y="2045456"/>
                <a:ext cx="381389" cy="3460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53" name="图片 52" descr="37835d90-0abb-420e-bf96-fa453b603b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5" y="2150745"/>
            <a:ext cx="8362315" cy="1932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多道批处理系统</a:t>
            </a:r>
          </a:p>
        </p:txBody>
      </p:sp>
      <p:sp>
        <p:nvSpPr>
          <p:cNvPr id="30" name="内容占位符 2"/>
          <p:cNvSpPr txBox="1"/>
          <p:nvPr/>
        </p:nvSpPr>
        <p:spPr>
          <a:xfrm>
            <a:off x="542925" y="1095375"/>
            <a:ext cx="9035415" cy="7715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多道程序设计目的：提高资源利用率和吞吐量，并发执行。</a:t>
            </a:r>
          </a:p>
        </p:txBody>
      </p:sp>
      <p:pic>
        <p:nvPicPr>
          <p:cNvPr id="3" name="图片 2" descr="93caccd5-ed15-445f-a48d-b467667bd7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" y="1866900"/>
            <a:ext cx="10516235" cy="3634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48000" y="58000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eaLnBrk="1" hangingPunct="1">
              <a:spcBef>
                <a:spcPct val="50000"/>
              </a:spcBef>
              <a:buClrTx/>
              <a:buSzTx/>
              <a:buFont typeface="Monotype Sorts" pitchFamily="2" charset="2"/>
              <a:buNone/>
            </a:pPr>
            <a:r>
              <a:rPr lang="zh-CN" altLang="en-US" sz="2000" b="1" dirty="0">
                <a:solidFill>
                  <a:schemeClr val="accent3">
                    <a:lumMod val="50000"/>
                    <a:lumOff val="50000"/>
                  </a:schemeClr>
                </a:solidFill>
                <a:latin typeface="+mn-ea"/>
                <a:sym typeface="+mn-ea"/>
              </a:rPr>
              <a:t>四道程序运行情况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4" name="Picture 4" descr="t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985645"/>
            <a:ext cx="9958705" cy="37731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/>
        </p:nvSpPr>
        <p:spPr>
          <a:xfrm>
            <a:off x="4271645" y="5895975"/>
            <a:ext cx="55340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图示：多道批处理系统中的作业流程</a:t>
            </a:r>
          </a:p>
        </p:txBody>
      </p:sp>
      <p:sp>
        <p:nvSpPr>
          <p:cNvPr id="33" name="内容占位符 2"/>
          <p:cNvSpPr txBox="1"/>
          <p:nvPr/>
        </p:nvSpPr>
        <p:spPr>
          <a:xfrm>
            <a:off x="542925" y="1010920"/>
            <a:ext cx="8379460" cy="11271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多道批处理系统</a:t>
            </a:r>
            <a:r>
              <a:rPr lang="zh-CN" altLang="en-US" sz="2400" dirty="0">
                <a:solidFill>
                  <a:srgbClr val="FF0000"/>
                </a:solidFill>
              </a:rPr>
              <a:t>优点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：资源利用率高，系统吞吐量大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多道批处理系统</a:t>
            </a:r>
            <a:r>
              <a:rPr lang="zh-CN" altLang="en-US" sz="2400" dirty="0">
                <a:solidFill>
                  <a:srgbClr val="FF0000"/>
                </a:solidFill>
              </a:rPr>
              <a:t>缺点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：平均周转时间长，无交互能力</a:t>
            </a:r>
          </a:p>
        </p:txBody>
      </p:sp>
      <p:sp>
        <p:nvSpPr>
          <p:cNvPr id="2" name="矩形 1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多道批处理系统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多道批处理系统需要解决的问题</a:t>
            </a:r>
          </a:p>
        </p:txBody>
      </p:sp>
      <p:grpSp>
        <p:nvGrpSpPr>
          <p:cNvPr id="7" name="2244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2660" y="1321111"/>
            <a:ext cx="10986239" cy="3733544"/>
            <a:chOff x="527899" y="1557009"/>
            <a:chExt cx="10986239" cy="3733544"/>
          </a:xfrm>
        </p:grpSpPr>
        <p:sp>
          <p:nvSpPr>
            <p:cNvPr id="8" name="íśḷíḋé"/>
            <p:cNvSpPr/>
            <p:nvPr/>
          </p:nvSpPr>
          <p:spPr bwMode="auto">
            <a:xfrm>
              <a:off x="4801181" y="2133141"/>
              <a:ext cx="2589100" cy="2588226"/>
            </a:xfrm>
            <a:prstGeom prst="ellipse">
              <a:avLst/>
            </a:prstGeom>
            <a:blipFill>
              <a:blip r:embed="rId3"/>
              <a:stretch>
                <a:fillRect l="-25098" r="-24851"/>
              </a:stretch>
            </a:blipFill>
            <a:ln w="57150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en-US" sz="2800" b="1">
                <a:solidFill>
                  <a:schemeClr val="lt1"/>
                </a:solidFill>
              </a:endParaRPr>
            </a:p>
          </p:txBody>
        </p:sp>
        <p:sp>
          <p:nvSpPr>
            <p:cNvPr id="9" name="ïSlïďè"/>
            <p:cNvSpPr/>
            <p:nvPr/>
          </p:nvSpPr>
          <p:spPr bwMode="auto">
            <a:xfrm>
              <a:off x="4955845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0" name="îśľïḓê"/>
            <p:cNvSpPr/>
            <p:nvPr/>
          </p:nvSpPr>
          <p:spPr bwMode="auto">
            <a:xfrm>
              <a:off x="4523309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11" name="ïSlíďé"/>
            <p:cNvSpPr/>
            <p:nvPr/>
          </p:nvSpPr>
          <p:spPr bwMode="auto">
            <a:xfrm>
              <a:off x="4225048" y="1557009"/>
              <a:ext cx="846430" cy="8464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2" name="îSḷîḑê"/>
            <p:cNvSpPr/>
            <p:nvPr/>
          </p:nvSpPr>
          <p:spPr bwMode="auto">
            <a:xfrm>
              <a:off x="3622073" y="2998796"/>
              <a:ext cx="847397" cy="84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4" name="îṣlîḑê"/>
            <p:cNvSpPr/>
            <p:nvPr/>
          </p:nvSpPr>
          <p:spPr bwMode="auto">
            <a:xfrm>
              <a:off x="4945359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5" name="ï$ľîḓé"/>
            <p:cNvSpPr/>
            <p:nvPr/>
          </p:nvSpPr>
          <p:spPr bwMode="auto">
            <a:xfrm flipH="1">
              <a:off x="6892749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6" name="isḷiḋé"/>
            <p:cNvSpPr/>
            <p:nvPr/>
          </p:nvSpPr>
          <p:spPr bwMode="auto">
            <a:xfrm flipH="1">
              <a:off x="7274604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17" name="îśḻiďé"/>
            <p:cNvSpPr/>
            <p:nvPr/>
          </p:nvSpPr>
          <p:spPr bwMode="auto">
            <a:xfrm>
              <a:off x="7109163" y="1557009"/>
              <a:ext cx="846430" cy="84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8" name="išľiďe"/>
            <p:cNvSpPr/>
            <p:nvPr/>
          </p:nvSpPr>
          <p:spPr bwMode="auto">
            <a:xfrm>
              <a:off x="7712046" y="2998796"/>
              <a:ext cx="847397" cy="84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9" name="ïṡľíḍè"/>
            <p:cNvSpPr/>
            <p:nvPr/>
          </p:nvSpPr>
          <p:spPr bwMode="auto">
            <a:xfrm flipH="1">
              <a:off x="6894497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21" name="isḷídé"/>
            <p:cNvSpPr/>
            <p:nvPr/>
          </p:nvSpPr>
          <p:spPr bwMode="auto">
            <a:xfrm>
              <a:off x="4220680" y="4443157"/>
              <a:ext cx="846430" cy="8473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2" name="íśľîḋé"/>
            <p:cNvSpPr/>
            <p:nvPr/>
          </p:nvSpPr>
          <p:spPr bwMode="auto">
            <a:xfrm>
              <a:off x="7115280" y="4443157"/>
              <a:ext cx="846430" cy="8473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3" name="ïṡḷidè"/>
            <p:cNvSpPr/>
            <p:nvPr/>
          </p:nvSpPr>
          <p:spPr bwMode="auto">
            <a:xfrm>
              <a:off x="7963389" y="3249916"/>
              <a:ext cx="344710" cy="344189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4" name="iṡļîḍé"/>
            <p:cNvSpPr/>
            <p:nvPr/>
          </p:nvSpPr>
          <p:spPr bwMode="auto">
            <a:xfrm>
              <a:off x="7366140" y="4694761"/>
              <a:ext cx="344710" cy="344189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5" name="îṣľiḓè"/>
            <p:cNvSpPr/>
            <p:nvPr/>
          </p:nvSpPr>
          <p:spPr bwMode="auto">
            <a:xfrm>
              <a:off x="4471521" y="1860106"/>
              <a:ext cx="353485" cy="240234"/>
            </a:xfrm>
            <a:custGeom>
              <a:avLst/>
              <a:gdLst>
                <a:gd name="connsiteX0" fmla="*/ 437011 w 604816"/>
                <a:gd name="connsiteY0" fmla="*/ 83550 h 411044"/>
                <a:gd name="connsiteX1" fmla="*/ 604816 w 604816"/>
                <a:gd name="connsiteY1" fmla="*/ 214450 h 411044"/>
                <a:gd name="connsiteX2" fmla="*/ 539177 w 604816"/>
                <a:gd name="connsiteY2" fmla="*/ 317799 h 411044"/>
                <a:gd name="connsiteX3" fmla="*/ 523523 w 604816"/>
                <a:gd name="connsiteY3" fmla="*/ 340690 h 411044"/>
                <a:gd name="connsiteX4" fmla="*/ 528878 w 604816"/>
                <a:gd name="connsiteY4" fmla="*/ 400177 h 411044"/>
                <a:gd name="connsiteX5" fmla="*/ 462004 w 604816"/>
                <a:gd name="connsiteY5" fmla="*/ 353300 h 411044"/>
                <a:gd name="connsiteX6" fmla="*/ 440033 w 604816"/>
                <a:gd name="connsiteY6" fmla="*/ 345213 h 411044"/>
                <a:gd name="connsiteX7" fmla="*/ 437011 w 604816"/>
                <a:gd name="connsiteY7" fmla="*/ 345350 h 411044"/>
                <a:gd name="connsiteX8" fmla="*/ 338279 w 604816"/>
                <a:gd name="connsiteY8" fmla="*/ 319992 h 411044"/>
                <a:gd name="connsiteX9" fmla="*/ 269207 w 604816"/>
                <a:gd name="connsiteY9" fmla="*/ 214450 h 411044"/>
                <a:gd name="connsiteX10" fmla="*/ 272091 w 604816"/>
                <a:gd name="connsiteY10" fmla="*/ 190189 h 411044"/>
                <a:gd name="connsiteX11" fmla="*/ 280467 w 604816"/>
                <a:gd name="connsiteY11" fmla="*/ 167299 h 411044"/>
                <a:gd name="connsiteX12" fmla="*/ 342948 w 604816"/>
                <a:gd name="connsiteY12" fmla="*/ 106166 h 411044"/>
                <a:gd name="connsiteX13" fmla="*/ 355581 w 604816"/>
                <a:gd name="connsiteY13" fmla="*/ 100135 h 411044"/>
                <a:gd name="connsiteX14" fmla="*/ 358602 w 604816"/>
                <a:gd name="connsiteY14" fmla="*/ 98765 h 411044"/>
                <a:gd name="connsiteX15" fmla="*/ 417375 w 604816"/>
                <a:gd name="connsiteY15" fmla="*/ 84509 h 411044"/>
                <a:gd name="connsiteX16" fmla="*/ 437011 w 604816"/>
                <a:gd name="connsiteY16" fmla="*/ 83550 h 411044"/>
                <a:gd name="connsiteX17" fmla="*/ 213353 w 604816"/>
                <a:gd name="connsiteY17" fmla="*/ 0 h 411044"/>
                <a:gd name="connsiteX18" fmla="*/ 340760 w 604816"/>
                <a:gd name="connsiteY18" fmla="*/ 33580 h 411044"/>
                <a:gd name="connsiteX19" fmla="*/ 331973 w 604816"/>
                <a:gd name="connsiteY19" fmla="*/ 37143 h 411044"/>
                <a:gd name="connsiteX20" fmla="*/ 327031 w 604816"/>
                <a:gd name="connsiteY20" fmla="*/ 39336 h 411044"/>
                <a:gd name="connsiteX21" fmla="*/ 310418 w 604816"/>
                <a:gd name="connsiteY21" fmla="*/ 47423 h 411044"/>
                <a:gd name="connsiteX22" fmla="*/ 306849 w 604816"/>
                <a:gd name="connsiteY22" fmla="*/ 49479 h 411044"/>
                <a:gd name="connsiteX23" fmla="*/ 294630 w 604816"/>
                <a:gd name="connsiteY23" fmla="*/ 56743 h 411044"/>
                <a:gd name="connsiteX24" fmla="*/ 289413 w 604816"/>
                <a:gd name="connsiteY24" fmla="*/ 60307 h 411044"/>
                <a:gd name="connsiteX25" fmla="*/ 279528 w 604816"/>
                <a:gd name="connsiteY25" fmla="*/ 67297 h 411044"/>
                <a:gd name="connsiteX26" fmla="*/ 274585 w 604816"/>
                <a:gd name="connsiteY26" fmla="*/ 71134 h 411044"/>
                <a:gd name="connsiteX27" fmla="*/ 264425 w 604816"/>
                <a:gd name="connsiteY27" fmla="*/ 79906 h 411044"/>
                <a:gd name="connsiteX28" fmla="*/ 261130 w 604816"/>
                <a:gd name="connsiteY28" fmla="*/ 82784 h 411044"/>
                <a:gd name="connsiteX29" fmla="*/ 249186 w 604816"/>
                <a:gd name="connsiteY29" fmla="*/ 95120 h 411044"/>
                <a:gd name="connsiteX30" fmla="*/ 246165 w 604816"/>
                <a:gd name="connsiteY30" fmla="*/ 98683 h 411044"/>
                <a:gd name="connsiteX31" fmla="*/ 238203 w 604816"/>
                <a:gd name="connsiteY31" fmla="*/ 108552 h 411044"/>
                <a:gd name="connsiteX32" fmla="*/ 234770 w 604816"/>
                <a:gd name="connsiteY32" fmla="*/ 113349 h 411044"/>
                <a:gd name="connsiteX33" fmla="*/ 228317 w 604816"/>
                <a:gd name="connsiteY33" fmla="*/ 123080 h 411044"/>
                <a:gd name="connsiteX34" fmla="*/ 225434 w 604816"/>
                <a:gd name="connsiteY34" fmla="*/ 127877 h 411044"/>
                <a:gd name="connsiteX35" fmla="*/ 218844 w 604816"/>
                <a:gd name="connsiteY35" fmla="*/ 140487 h 411044"/>
                <a:gd name="connsiteX36" fmla="*/ 217609 w 604816"/>
                <a:gd name="connsiteY36" fmla="*/ 142954 h 411044"/>
                <a:gd name="connsiteX37" fmla="*/ 211430 w 604816"/>
                <a:gd name="connsiteY37" fmla="*/ 158442 h 411044"/>
                <a:gd name="connsiteX38" fmla="*/ 209920 w 604816"/>
                <a:gd name="connsiteY38" fmla="*/ 163102 h 411044"/>
                <a:gd name="connsiteX39" fmla="*/ 206763 w 604816"/>
                <a:gd name="connsiteY39" fmla="*/ 174752 h 411044"/>
                <a:gd name="connsiteX40" fmla="*/ 205527 w 604816"/>
                <a:gd name="connsiteY40" fmla="*/ 180371 h 411044"/>
                <a:gd name="connsiteX41" fmla="*/ 203467 w 604816"/>
                <a:gd name="connsiteY41" fmla="*/ 192159 h 411044"/>
                <a:gd name="connsiteX42" fmla="*/ 202781 w 604816"/>
                <a:gd name="connsiteY42" fmla="*/ 197367 h 411044"/>
                <a:gd name="connsiteX43" fmla="*/ 201820 w 604816"/>
                <a:gd name="connsiteY43" fmla="*/ 214499 h 411044"/>
                <a:gd name="connsiteX44" fmla="*/ 203467 w 604816"/>
                <a:gd name="connsiteY44" fmla="*/ 236155 h 411044"/>
                <a:gd name="connsiteX45" fmla="*/ 204154 w 604816"/>
                <a:gd name="connsiteY45" fmla="*/ 241637 h 411044"/>
                <a:gd name="connsiteX46" fmla="*/ 208822 w 604816"/>
                <a:gd name="connsiteY46" fmla="*/ 262608 h 411044"/>
                <a:gd name="connsiteX47" fmla="*/ 208959 w 604816"/>
                <a:gd name="connsiteY47" fmla="*/ 263019 h 411044"/>
                <a:gd name="connsiteX48" fmla="*/ 216373 w 604816"/>
                <a:gd name="connsiteY48" fmla="*/ 282893 h 411044"/>
                <a:gd name="connsiteX49" fmla="*/ 218707 w 604816"/>
                <a:gd name="connsiteY49" fmla="*/ 287827 h 411044"/>
                <a:gd name="connsiteX50" fmla="*/ 229004 w 604816"/>
                <a:gd name="connsiteY50" fmla="*/ 307152 h 411044"/>
                <a:gd name="connsiteX51" fmla="*/ 229416 w 604816"/>
                <a:gd name="connsiteY51" fmla="*/ 307700 h 411044"/>
                <a:gd name="connsiteX52" fmla="*/ 242321 w 604816"/>
                <a:gd name="connsiteY52" fmla="*/ 325381 h 411044"/>
                <a:gd name="connsiteX53" fmla="*/ 245616 w 604816"/>
                <a:gd name="connsiteY53" fmla="*/ 329630 h 411044"/>
                <a:gd name="connsiteX54" fmla="*/ 249186 w 604816"/>
                <a:gd name="connsiteY54" fmla="*/ 333742 h 411044"/>
                <a:gd name="connsiteX55" fmla="*/ 213490 w 604816"/>
                <a:gd name="connsiteY55" fmla="*/ 336209 h 411044"/>
                <a:gd name="connsiteX56" fmla="*/ 213353 w 604816"/>
                <a:gd name="connsiteY56" fmla="*/ 336209 h 411044"/>
                <a:gd name="connsiteX57" fmla="*/ 187679 w 604816"/>
                <a:gd name="connsiteY57" fmla="*/ 344159 h 411044"/>
                <a:gd name="connsiteX58" fmla="*/ 87318 w 604816"/>
                <a:gd name="connsiteY58" fmla="*/ 411044 h 411044"/>
                <a:gd name="connsiteX59" fmla="*/ 99674 w 604816"/>
                <a:gd name="connsiteY59" fmla="*/ 324148 h 411044"/>
                <a:gd name="connsiteX60" fmla="*/ 84023 w 604816"/>
                <a:gd name="connsiteY60" fmla="*/ 301259 h 411044"/>
                <a:gd name="connsiteX61" fmla="*/ 0 w 604816"/>
                <a:gd name="connsiteY61" fmla="*/ 168036 h 411044"/>
                <a:gd name="connsiteX62" fmla="*/ 213353 w 604816"/>
                <a:gd name="connsiteY62" fmla="*/ 0 h 41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4816" h="411044">
                  <a:moveTo>
                    <a:pt x="437011" y="83550"/>
                  </a:moveTo>
                  <a:cubicBezTo>
                    <a:pt x="529565" y="83550"/>
                    <a:pt x="604816" y="142215"/>
                    <a:pt x="604816" y="214450"/>
                  </a:cubicBezTo>
                  <a:cubicBezTo>
                    <a:pt x="604816" y="254885"/>
                    <a:pt x="580922" y="292579"/>
                    <a:pt x="539177" y="317799"/>
                  </a:cubicBezTo>
                  <a:cubicBezTo>
                    <a:pt x="530938" y="322871"/>
                    <a:pt x="525308" y="331095"/>
                    <a:pt x="523523" y="340690"/>
                  </a:cubicBezTo>
                  <a:cubicBezTo>
                    <a:pt x="519953" y="360564"/>
                    <a:pt x="522974" y="381125"/>
                    <a:pt x="528878" y="400177"/>
                  </a:cubicBezTo>
                  <a:cubicBezTo>
                    <a:pt x="505122" y="387156"/>
                    <a:pt x="481366" y="370022"/>
                    <a:pt x="462004" y="353300"/>
                  </a:cubicBezTo>
                  <a:cubicBezTo>
                    <a:pt x="455824" y="348091"/>
                    <a:pt x="448134" y="345213"/>
                    <a:pt x="440033" y="345213"/>
                  </a:cubicBezTo>
                  <a:cubicBezTo>
                    <a:pt x="438934" y="345213"/>
                    <a:pt x="437835" y="345350"/>
                    <a:pt x="437011" y="345350"/>
                  </a:cubicBezTo>
                  <a:cubicBezTo>
                    <a:pt x="401308" y="345350"/>
                    <a:pt x="367253" y="336577"/>
                    <a:pt x="338279" y="319992"/>
                  </a:cubicBezTo>
                  <a:cubicBezTo>
                    <a:pt x="295023" y="295183"/>
                    <a:pt x="269207" y="255844"/>
                    <a:pt x="269207" y="214450"/>
                  </a:cubicBezTo>
                  <a:cubicBezTo>
                    <a:pt x="269207" y="206089"/>
                    <a:pt x="270168" y="198002"/>
                    <a:pt x="272091" y="190189"/>
                  </a:cubicBezTo>
                  <a:cubicBezTo>
                    <a:pt x="274013" y="182239"/>
                    <a:pt x="276760" y="174563"/>
                    <a:pt x="280467" y="167299"/>
                  </a:cubicBezTo>
                  <a:cubicBezTo>
                    <a:pt x="292826" y="142352"/>
                    <a:pt x="314797" y="121107"/>
                    <a:pt x="342948" y="106166"/>
                  </a:cubicBezTo>
                  <a:cubicBezTo>
                    <a:pt x="347067" y="103973"/>
                    <a:pt x="351187" y="102054"/>
                    <a:pt x="355581" y="100135"/>
                  </a:cubicBezTo>
                  <a:cubicBezTo>
                    <a:pt x="356542" y="99724"/>
                    <a:pt x="357503" y="99176"/>
                    <a:pt x="358602" y="98765"/>
                  </a:cubicBezTo>
                  <a:cubicBezTo>
                    <a:pt x="376454" y="91363"/>
                    <a:pt x="396228" y="86428"/>
                    <a:pt x="417375" y="84509"/>
                  </a:cubicBezTo>
                  <a:cubicBezTo>
                    <a:pt x="423829" y="83824"/>
                    <a:pt x="430283" y="83550"/>
                    <a:pt x="437011" y="83550"/>
                  </a:cubicBezTo>
                  <a:close/>
                  <a:moveTo>
                    <a:pt x="213353" y="0"/>
                  </a:moveTo>
                  <a:cubicBezTo>
                    <a:pt x="259757" y="0"/>
                    <a:pt x="304377" y="12061"/>
                    <a:pt x="340760" y="33580"/>
                  </a:cubicBezTo>
                  <a:cubicBezTo>
                    <a:pt x="337740" y="34676"/>
                    <a:pt x="334856" y="36047"/>
                    <a:pt x="331973" y="37143"/>
                  </a:cubicBezTo>
                  <a:cubicBezTo>
                    <a:pt x="330326" y="37966"/>
                    <a:pt x="328678" y="38514"/>
                    <a:pt x="327031" y="39336"/>
                  </a:cubicBezTo>
                  <a:cubicBezTo>
                    <a:pt x="321264" y="41803"/>
                    <a:pt x="315773" y="44545"/>
                    <a:pt x="310418" y="47423"/>
                  </a:cubicBezTo>
                  <a:cubicBezTo>
                    <a:pt x="309183" y="48108"/>
                    <a:pt x="308084" y="48793"/>
                    <a:pt x="306849" y="49479"/>
                  </a:cubicBezTo>
                  <a:cubicBezTo>
                    <a:pt x="302730" y="51809"/>
                    <a:pt x="298611" y="54139"/>
                    <a:pt x="294630" y="56743"/>
                  </a:cubicBezTo>
                  <a:cubicBezTo>
                    <a:pt x="292845" y="57839"/>
                    <a:pt x="291060" y="59073"/>
                    <a:pt x="289413" y="60307"/>
                  </a:cubicBezTo>
                  <a:cubicBezTo>
                    <a:pt x="285980" y="62500"/>
                    <a:pt x="282685" y="64830"/>
                    <a:pt x="279528" y="67297"/>
                  </a:cubicBezTo>
                  <a:cubicBezTo>
                    <a:pt x="277880" y="68530"/>
                    <a:pt x="276233" y="69901"/>
                    <a:pt x="274585" y="71134"/>
                  </a:cubicBezTo>
                  <a:cubicBezTo>
                    <a:pt x="271015" y="74013"/>
                    <a:pt x="267720" y="76891"/>
                    <a:pt x="264425" y="79906"/>
                  </a:cubicBezTo>
                  <a:cubicBezTo>
                    <a:pt x="263327" y="80866"/>
                    <a:pt x="262229" y="81825"/>
                    <a:pt x="261130" y="82784"/>
                  </a:cubicBezTo>
                  <a:cubicBezTo>
                    <a:pt x="257012" y="86759"/>
                    <a:pt x="253030" y="90871"/>
                    <a:pt x="249186" y="95120"/>
                  </a:cubicBezTo>
                  <a:cubicBezTo>
                    <a:pt x="248088" y="96216"/>
                    <a:pt x="247264" y="97450"/>
                    <a:pt x="246165" y="98683"/>
                  </a:cubicBezTo>
                  <a:cubicBezTo>
                    <a:pt x="243420" y="101836"/>
                    <a:pt x="240811" y="105125"/>
                    <a:pt x="238203" y="108552"/>
                  </a:cubicBezTo>
                  <a:cubicBezTo>
                    <a:pt x="237104" y="110197"/>
                    <a:pt x="235869" y="111704"/>
                    <a:pt x="234770" y="113349"/>
                  </a:cubicBezTo>
                  <a:cubicBezTo>
                    <a:pt x="232573" y="116501"/>
                    <a:pt x="230377" y="119791"/>
                    <a:pt x="228317" y="123080"/>
                  </a:cubicBezTo>
                  <a:cubicBezTo>
                    <a:pt x="227356" y="124725"/>
                    <a:pt x="226395" y="126233"/>
                    <a:pt x="225434" y="127877"/>
                  </a:cubicBezTo>
                  <a:cubicBezTo>
                    <a:pt x="223100" y="132126"/>
                    <a:pt x="220904" y="136238"/>
                    <a:pt x="218844" y="140487"/>
                  </a:cubicBezTo>
                  <a:cubicBezTo>
                    <a:pt x="218432" y="141309"/>
                    <a:pt x="218021" y="142132"/>
                    <a:pt x="217609" y="142954"/>
                  </a:cubicBezTo>
                  <a:cubicBezTo>
                    <a:pt x="215275" y="148025"/>
                    <a:pt x="213215" y="153233"/>
                    <a:pt x="211430" y="158442"/>
                  </a:cubicBezTo>
                  <a:cubicBezTo>
                    <a:pt x="210881" y="159949"/>
                    <a:pt x="210469" y="161457"/>
                    <a:pt x="209920" y="163102"/>
                  </a:cubicBezTo>
                  <a:cubicBezTo>
                    <a:pt x="208685" y="166940"/>
                    <a:pt x="207724" y="170777"/>
                    <a:pt x="206763" y="174752"/>
                  </a:cubicBezTo>
                  <a:cubicBezTo>
                    <a:pt x="206213" y="176671"/>
                    <a:pt x="205801" y="178453"/>
                    <a:pt x="205527" y="180371"/>
                  </a:cubicBezTo>
                  <a:cubicBezTo>
                    <a:pt x="204703" y="184209"/>
                    <a:pt x="204017" y="188184"/>
                    <a:pt x="203467" y="192159"/>
                  </a:cubicBezTo>
                  <a:cubicBezTo>
                    <a:pt x="203193" y="193940"/>
                    <a:pt x="202918" y="195585"/>
                    <a:pt x="202781" y="197367"/>
                  </a:cubicBezTo>
                  <a:cubicBezTo>
                    <a:pt x="202232" y="203123"/>
                    <a:pt x="201820" y="208743"/>
                    <a:pt x="201820" y="214499"/>
                  </a:cubicBezTo>
                  <a:cubicBezTo>
                    <a:pt x="201820" y="221901"/>
                    <a:pt x="202506" y="229028"/>
                    <a:pt x="203467" y="236155"/>
                  </a:cubicBezTo>
                  <a:cubicBezTo>
                    <a:pt x="203605" y="238074"/>
                    <a:pt x="203879" y="239719"/>
                    <a:pt x="204154" y="241637"/>
                  </a:cubicBezTo>
                  <a:cubicBezTo>
                    <a:pt x="205390" y="248627"/>
                    <a:pt x="206763" y="255755"/>
                    <a:pt x="208822" y="262608"/>
                  </a:cubicBezTo>
                  <a:cubicBezTo>
                    <a:pt x="208822" y="262745"/>
                    <a:pt x="208959" y="262882"/>
                    <a:pt x="208959" y="263019"/>
                  </a:cubicBezTo>
                  <a:cubicBezTo>
                    <a:pt x="211019" y="269735"/>
                    <a:pt x="213627" y="276451"/>
                    <a:pt x="216373" y="282893"/>
                  </a:cubicBezTo>
                  <a:cubicBezTo>
                    <a:pt x="217197" y="284537"/>
                    <a:pt x="217883" y="286182"/>
                    <a:pt x="218707" y="287827"/>
                  </a:cubicBezTo>
                  <a:cubicBezTo>
                    <a:pt x="221727" y="294406"/>
                    <a:pt x="225160" y="300847"/>
                    <a:pt x="229004" y="307152"/>
                  </a:cubicBezTo>
                  <a:cubicBezTo>
                    <a:pt x="229141" y="307289"/>
                    <a:pt x="229278" y="307563"/>
                    <a:pt x="229416" y="307700"/>
                  </a:cubicBezTo>
                  <a:cubicBezTo>
                    <a:pt x="233260" y="313731"/>
                    <a:pt x="237653" y="319625"/>
                    <a:pt x="242321" y="325381"/>
                  </a:cubicBezTo>
                  <a:cubicBezTo>
                    <a:pt x="243420" y="326752"/>
                    <a:pt x="244518" y="328122"/>
                    <a:pt x="245616" y="329630"/>
                  </a:cubicBezTo>
                  <a:cubicBezTo>
                    <a:pt x="246852" y="331001"/>
                    <a:pt x="247950" y="332371"/>
                    <a:pt x="249186" y="333742"/>
                  </a:cubicBezTo>
                  <a:cubicBezTo>
                    <a:pt x="237379" y="335387"/>
                    <a:pt x="225572" y="336209"/>
                    <a:pt x="213490" y="336209"/>
                  </a:cubicBezTo>
                  <a:lnTo>
                    <a:pt x="213353" y="336209"/>
                  </a:lnTo>
                  <a:cubicBezTo>
                    <a:pt x="204154" y="335661"/>
                    <a:pt x="194681" y="337991"/>
                    <a:pt x="187679" y="344159"/>
                  </a:cubicBezTo>
                  <a:cubicBezTo>
                    <a:pt x="158847" y="368692"/>
                    <a:pt x="122602" y="394323"/>
                    <a:pt x="87318" y="411044"/>
                  </a:cubicBezTo>
                  <a:cubicBezTo>
                    <a:pt x="97890" y="384317"/>
                    <a:pt x="105029" y="353479"/>
                    <a:pt x="99674" y="324148"/>
                  </a:cubicBezTo>
                  <a:cubicBezTo>
                    <a:pt x="98027" y="314691"/>
                    <a:pt x="92261" y="306330"/>
                    <a:pt x="84023" y="301259"/>
                  </a:cubicBezTo>
                  <a:cubicBezTo>
                    <a:pt x="30616" y="268912"/>
                    <a:pt x="0" y="220393"/>
                    <a:pt x="0" y="168036"/>
                  </a:cubicBezTo>
                  <a:cubicBezTo>
                    <a:pt x="0" y="75383"/>
                    <a:pt x="95693" y="0"/>
                    <a:pt x="2133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6" name="iṧḷíde"/>
            <p:cNvSpPr/>
            <p:nvPr/>
          </p:nvSpPr>
          <p:spPr bwMode="auto">
            <a:xfrm>
              <a:off x="3875298" y="3251795"/>
              <a:ext cx="340948" cy="340433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5017 w 6827"/>
                <a:gd name="T11" fmla="*/ 3033 h 6827"/>
                <a:gd name="T12" fmla="*/ 3431 w 6827"/>
                <a:gd name="T13" fmla="*/ 4619 h 6827"/>
                <a:gd name="T14" fmla="*/ 2802 w 6827"/>
                <a:gd name="T15" fmla="*/ 4619 h 6827"/>
                <a:gd name="T16" fmla="*/ 1884 w 6827"/>
                <a:gd name="T17" fmla="*/ 3701 h 6827"/>
                <a:gd name="T18" fmla="*/ 1884 w 6827"/>
                <a:gd name="T19" fmla="*/ 3072 h 6827"/>
                <a:gd name="T20" fmla="*/ 2514 w 6827"/>
                <a:gd name="T21" fmla="*/ 3072 h 6827"/>
                <a:gd name="T22" fmla="*/ 3117 w 6827"/>
                <a:gd name="T23" fmla="*/ 3674 h 6827"/>
                <a:gd name="T24" fmla="*/ 4387 w 6827"/>
                <a:gd name="T25" fmla="*/ 2404 h 6827"/>
                <a:gd name="T26" fmla="*/ 5017 w 6827"/>
                <a:gd name="T27" fmla="*/ 2404 h 6827"/>
                <a:gd name="T28" fmla="*/ 5017 w 6827"/>
                <a:gd name="T29" fmla="*/ 303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31" y="0"/>
                    <a:pt x="0" y="1531"/>
                    <a:pt x="0" y="3413"/>
                  </a:cubicBezTo>
                  <a:cubicBezTo>
                    <a:pt x="0" y="5295"/>
                    <a:pt x="1531" y="6827"/>
                    <a:pt x="3413" y="6827"/>
                  </a:cubicBezTo>
                  <a:cubicBezTo>
                    <a:pt x="5296" y="6827"/>
                    <a:pt x="6827" y="5295"/>
                    <a:pt x="6827" y="3413"/>
                  </a:cubicBezTo>
                  <a:cubicBezTo>
                    <a:pt x="6827" y="1531"/>
                    <a:pt x="5296" y="0"/>
                    <a:pt x="3413" y="0"/>
                  </a:cubicBezTo>
                  <a:close/>
                  <a:moveTo>
                    <a:pt x="5017" y="3033"/>
                  </a:moveTo>
                  <a:lnTo>
                    <a:pt x="3431" y="4619"/>
                  </a:lnTo>
                  <a:cubicBezTo>
                    <a:pt x="3257" y="4792"/>
                    <a:pt x="2976" y="4792"/>
                    <a:pt x="2802" y="4619"/>
                  </a:cubicBezTo>
                  <a:lnTo>
                    <a:pt x="1884" y="3701"/>
                  </a:lnTo>
                  <a:cubicBezTo>
                    <a:pt x="1710" y="3527"/>
                    <a:pt x="1710" y="3245"/>
                    <a:pt x="1884" y="3072"/>
                  </a:cubicBezTo>
                  <a:cubicBezTo>
                    <a:pt x="2058" y="2898"/>
                    <a:pt x="2340" y="2898"/>
                    <a:pt x="2514" y="3072"/>
                  </a:cubicBezTo>
                  <a:lnTo>
                    <a:pt x="3117" y="3674"/>
                  </a:lnTo>
                  <a:lnTo>
                    <a:pt x="4387" y="2404"/>
                  </a:lnTo>
                  <a:cubicBezTo>
                    <a:pt x="4561" y="2230"/>
                    <a:pt x="4843" y="2230"/>
                    <a:pt x="5017" y="2404"/>
                  </a:cubicBezTo>
                  <a:cubicBezTo>
                    <a:pt x="5190" y="2578"/>
                    <a:pt x="5190" y="2859"/>
                    <a:pt x="5017" y="3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7" name="ïslíḓé"/>
            <p:cNvSpPr/>
            <p:nvPr/>
          </p:nvSpPr>
          <p:spPr bwMode="auto">
            <a:xfrm>
              <a:off x="7360651" y="1810393"/>
              <a:ext cx="343455" cy="339662"/>
            </a:xfrm>
            <a:custGeom>
              <a:avLst/>
              <a:gdLst>
                <a:gd name="connsiteX0" fmla="*/ 466437 w 600511"/>
                <a:gd name="connsiteY0" fmla="*/ 421770 h 593879"/>
                <a:gd name="connsiteX1" fmla="*/ 504684 w 600511"/>
                <a:gd name="connsiteY1" fmla="*/ 459981 h 593879"/>
                <a:gd name="connsiteX2" fmla="*/ 466437 w 600511"/>
                <a:gd name="connsiteY2" fmla="*/ 498192 h 593879"/>
                <a:gd name="connsiteX3" fmla="*/ 428190 w 600511"/>
                <a:gd name="connsiteY3" fmla="*/ 459981 h 593879"/>
                <a:gd name="connsiteX4" fmla="*/ 466437 w 600511"/>
                <a:gd name="connsiteY4" fmla="*/ 421770 h 593879"/>
                <a:gd name="connsiteX5" fmla="*/ 453390 w 600511"/>
                <a:gd name="connsiteY5" fmla="*/ 375066 h 593879"/>
                <a:gd name="connsiteX6" fmla="*/ 421127 w 600511"/>
                <a:gd name="connsiteY6" fmla="*/ 386990 h 593879"/>
                <a:gd name="connsiteX7" fmla="*/ 418868 w 600511"/>
                <a:gd name="connsiteY7" fmla="*/ 392146 h 593879"/>
                <a:gd name="connsiteX8" fmla="*/ 424031 w 600511"/>
                <a:gd name="connsiteY8" fmla="*/ 406325 h 593879"/>
                <a:gd name="connsiteX9" fmla="*/ 423385 w 600511"/>
                <a:gd name="connsiteY9" fmla="*/ 411481 h 593879"/>
                <a:gd name="connsiteX10" fmla="*/ 416287 w 600511"/>
                <a:gd name="connsiteY10" fmla="*/ 413737 h 593879"/>
                <a:gd name="connsiteX11" fmla="*/ 402414 w 600511"/>
                <a:gd name="connsiteY11" fmla="*/ 407292 h 593879"/>
                <a:gd name="connsiteX12" fmla="*/ 397252 w 600511"/>
                <a:gd name="connsiteY12" fmla="*/ 409226 h 593879"/>
                <a:gd name="connsiteX13" fmla="*/ 383056 w 600511"/>
                <a:gd name="connsiteY13" fmla="*/ 440485 h 593879"/>
                <a:gd name="connsiteX14" fmla="*/ 384669 w 600511"/>
                <a:gd name="connsiteY14" fmla="*/ 445318 h 593879"/>
                <a:gd name="connsiteX15" fmla="*/ 398542 w 600511"/>
                <a:gd name="connsiteY15" fmla="*/ 451764 h 593879"/>
                <a:gd name="connsiteX16" fmla="*/ 401769 w 600511"/>
                <a:gd name="connsiteY16" fmla="*/ 455953 h 593879"/>
                <a:gd name="connsiteX17" fmla="*/ 398220 w 600511"/>
                <a:gd name="connsiteY17" fmla="*/ 462720 h 593879"/>
                <a:gd name="connsiteX18" fmla="*/ 384024 w 600511"/>
                <a:gd name="connsiteY18" fmla="*/ 467876 h 593879"/>
                <a:gd name="connsiteX19" fmla="*/ 381766 w 600511"/>
                <a:gd name="connsiteY19" fmla="*/ 472710 h 593879"/>
                <a:gd name="connsiteX20" fmla="*/ 393380 w 600511"/>
                <a:gd name="connsiteY20" fmla="*/ 504936 h 593879"/>
                <a:gd name="connsiteX21" fmla="*/ 398542 w 600511"/>
                <a:gd name="connsiteY21" fmla="*/ 507192 h 593879"/>
                <a:gd name="connsiteX22" fmla="*/ 412738 w 600511"/>
                <a:gd name="connsiteY22" fmla="*/ 502036 h 593879"/>
                <a:gd name="connsiteX23" fmla="*/ 417900 w 600511"/>
                <a:gd name="connsiteY23" fmla="*/ 502680 h 593879"/>
                <a:gd name="connsiteX24" fmla="*/ 420159 w 600511"/>
                <a:gd name="connsiteY24" fmla="*/ 510092 h 593879"/>
                <a:gd name="connsiteX25" fmla="*/ 413706 w 600511"/>
                <a:gd name="connsiteY25" fmla="*/ 523949 h 593879"/>
                <a:gd name="connsiteX26" fmla="*/ 415642 w 600511"/>
                <a:gd name="connsiteY26" fmla="*/ 528783 h 593879"/>
                <a:gd name="connsiteX27" fmla="*/ 446937 w 600511"/>
                <a:gd name="connsiteY27" fmla="*/ 543285 h 593879"/>
                <a:gd name="connsiteX28" fmla="*/ 451777 w 600511"/>
                <a:gd name="connsiteY28" fmla="*/ 541351 h 593879"/>
                <a:gd name="connsiteX29" fmla="*/ 458230 w 600511"/>
                <a:gd name="connsiteY29" fmla="*/ 527494 h 593879"/>
                <a:gd name="connsiteX30" fmla="*/ 462424 w 600511"/>
                <a:gd name="connsiteY30" fmla="*/ 524272 h 593879"/>
                <a:gd name="connsiteX31" fmla="*/ 469199 w 600511"/>
                <a:gd name="connsiteY31" fmla="*/ 528139 h 593879"/>
                <a:gd name="connsiteX32" fmla="*/ 474361 w 600511"/>
                <a:gd name="connsiteY32" fmla="*/ 542318 h 593879"/>
                <a:gd name="connsiteX33" fmla="*/ 479201 w 600511"/>
                <a:gd name="connsiteY33" fmla="*/ 544574 h 593879"/>
                <a:gd name="connsiteX34" fmla="*/ 511464 w 600511"/>
                <a:gd name="connsiteY34" fmla="*/ 532650 h 593879"/>
                <a:gd name="connsiteX35" fmla="*/ 513723 w 600511"/>
                <a:gd name="connsiteY35" fmla="*/ 527816 h 593879"/>
                <a:gd name="connsiteX36" fmla="*/ 508560 w 600511"/>
                <a:gd name="connsiteY36" fmla="*/ 513315 h 593879"/>
                <a:gd name="connsiteX37" fmla="*/ 509206 w 600511"/>
                <a:gd name="connsiteY37" fmla="*/ 508159 h 593879"/>
                <a:gd name="connsiteX38" fmla="*/ 516626 w 600511"/>
                <a:gd name="connsiteY38" fmla="*/ 506225 h 593879"/>
                <a:gd name="connsiteX39" fmla="*/ 530500 w 600511"/>
                <a:gd name="connsiteY39" fmla="*/ 512348 h 593879"/>
                <a:gd name="connsiteX40" fmla="*/ 535339 w 600511"/>
                <a:gd name="connsiteY40" fmla="*/ 510737 h 593879"/>
                <a:gd name="connsiteX41" fmla="*/ 549858 w 600511"/>
                <a:gd name="connsiteY41" fmla="*/ 479478 h 593879"/>
                <a:gd name="connsiteX42" fmla="*/ 547922 w 600511"/>
                <a:gd name="connsiteY42" fmla="*/ 474322 h 593879"/>
                <a:gd name="connsiteX43" fmla="*/ 534049 w 600511"/>
                <a:gd name="connsiteY43" fmla="*/ 467876 h 593879"/>
                <a:gd name="connsiteX44" fmla="*/ 531145 w 600511"/>
                <a:gd name="connsiteY44" fmla="*/ 461109 h 593879"/>
                <a:gd name="connsiteX45" fmla="*/ 534694 w 600511"/>
                <a:gd name="connsiteY45" fmla="*/ 457242 h 593879"/>
                <a:gd name="connsiteX46" fmla="*/ 548890 w 600511"/>
                <a:gd name="connsiteY46" fmla="*/ 451764 h 593879"/>
                <a:gd name="connsiteX47" fmla="*/ 551148 w 600511"/>
                <a:gd name="connsiteY47" fmla="*/ 446930 h 593879"/>
                <a:gd name="connsiteX48" fmla="*/ 539211 w 600511"/>
                <a:gd name="connsiteY48" fmla="*/ 414704 h 593879"/>
                <a:gd name="connsiteX49" fmla="*/ 534371 w 600511"/>
                <a:gd name="connsiteY49" fmla="*/ 412448 h 593879"/>
                <a:gd name="connsiteX50" fmla="*/ 520175 w 600511"/>
                <a:gd name="connsiteY50" fmla="*/ 417604 h 593879"/>
                <a:gd name="connsiteX51" fmla="*/ 514691 w 600511"/>
                <a:gd name="connsiteY51" fmla="*/ 416960 h 593879"/>
                <a:gd name="connsiteX52" fmla="*/ 512755 w 600511"/>
                <a:gd name="connsiteY52" fmla="*/ 409548 h 593879"/>
                <a:gd name="connsiteX53" fmla="*/ 518885 w 600511"/>
                <a:gd name="connsiteY53" fmla="*/ 396013 h 593879"/>
                <a:gd name="connsiteX54" fmla="*/ 516949 w 600511"/>
                <a:gd name="connsiteY54" fmla="*/ 390857 h 593879"/>
                <a:gd name="connsiteX55" fmla="*/ 485976 w 600511"/>
                <a:gd name="connsiteY55" fmla="*/ 376355 h 593879"/>
                <a:gd name="connsiteX56" fmla="*/ 480814 w 600511"/>
                <a:gd name="connsiteY56" fmla="*/ 378289 h 593879"/>
                <a:gd name="connsiteX57" fmla="*/ 474361 w 600511"/>
                <a:gd name="connsiteY57" fmla="*/ 392146 h 593879"/>
                <a:gd name="connsiteX58" fmla="*/ 470167 w 600511"/>
                <a:gd name="connsiteY58" fmla="*/ 395368 h 593879"/>
                <a:gd name="connsiteX59" fmla="*/ 463714 w 600511"/>
                <a:gd name="connsiteY59" fmla="*/ 391824 h 593879"/>
                <a:gd name="connsiteX60" fmla="*/ 458230 w 600511"/>
                <a:gd name="connsiteY60" fmla="*/ 377322 h 593879"/>
                <a:gd name="connsiteX61" fmla="*/ 453390 w 600511"/>
                <a:gd name="connsiteY61" fmla="*/ 375066 h 593879"/>
                <a:gd name="connsiteX62" fmla="*/ 0 w 600511"/>
                <a:gd name="connsiteY62" fmla="*/ 372515 h 593879"/>
                <a:gd name="connsiteX63" fmla="*/ 233292 w 600511"/>
                <a:gd name="connsiteY63" fmla="*/ 465626 h 593879"/>
                <a:gd name="connsiteX64" fmla="*/ 305248 w 600511"/>
                <a:gd name="connsiteY64" fmla="*/ 461116 h 593879"/>
                <a:gd name="connsiteX65" fmla="*/ 332998 w 600511"/>
                <a:gd name="connsiteY65" fmla="*/ 549716 h 593879"/>
                <a:gd name="connsiteX66" fmla="*/ 233292 w 600511"/>
                <a:gd name="connsiteY66" fmla="*/ 558737 h 593879"/>
                <a:gd name="connsiteX67" fmla="*/ 0 w 600511"/>
                <a:gd name="connsiteY67" fmla="*/ 465626 h 593879"/>
                <a:gd name="connsiteX68" fmla="*/ 466295 w 600511"/>
                <a:gd name="connsiteY68" fmla="*/ 326083 h 593879"/>
                <a:gd name="connsiteX69" fmla="*/ 600511 w 600511"/>
                <a:gd name="connsiteY69" fmla="*/ 459820 h 593879"/>
                <a:gd name="connsiteX70" fmla="*/ 466295 w 600511"/>
                <a:gd name="connsiteY70" fmla="*/ 593879 h 593879"/>
                <a:gd name="connsiteX71" fmla="*/ 332080 w 600511"/>
                <a:gd name="connsiteY71" fmla="*/ 459820 h 593879"/>
                <a:gd name="connsiteX72" fmla="*/ 466295 w 600511"/>
                <a:gd name="connsiteY72" fmla="*/ 326083 h 593879"/>
                <a:gd name="connsiteX73" fmla="*/ 0 w 600511"/>
                <a:gd name="connsiteY73" fmla="*/ 232654 h 593879"/>
                <a:gd name="connsiteX74" fmla="*/ 233309 w 600511"/>
                <a:gd name="connsiteY74" fmla="*/ 326103 h 593879"/>
                <a:gd name="connsiteX75" fmla="*/ 466296 w 600511"/>
                <a:gd name="connsiteY75" fmla="*/ 232654 h 593879"/>
                <a:gd name="connsiteX76" fmla="*/ 466296 w 600511"/>
                <a:gd name="connsiteY76" fmla="*/ 299035 h 593879"/>
                <a:gd name="connsiteX77" fmla="*/ 312370 w 600511"/>
                <a:gd name="connsiteY77" fmla="*/ 413429 h 593879"/>
                <a:gd name="connsiteX78" fmla="*/ 233309 w 600511"/>
                <a:gd name="connsiteY78" fmla="*/ 419229 h 593879"/>
                <a:gd name="connsiteX79" fmla="*/ 0 w 600511"/>
                <a:gd name="connsiteY79" fmla="*/ 326103 h 593879"/>
                <a:gd name="connsiteX80" fmla="*/ 233309 w 600511"/>
                <a:gd name="connsiteY80" fmla="*/ 23200 h 593879"/>
                <a:gd name="connsiteX81" fmla="*/ 23234 w 600511"/>
                <a:gd name="connsiteY81" fmla="*/ 93123 h 593879"/>
                <a:gd name="connsiteX82" fmla="*/ 233309 w 600511"/>
                <a:gd name="connsiteY82" fmla="*/ 163046 h 593879"/>
                <a:gd name="connsiteX83" fmla="*/ 443062 w 600511"/>
                <a:gd name="connsiteY83" fmla="*/ 93123 h 593879"/>
                <a:gd name="connsiteX84" fmla="*/ 233309 w 600511"/>
                <a:gd name="connsiteY84" fmla="*/ 23200 h 593879"/>
                <a:gd name="connsiteX85" fmla="*/ 233309 w 600511"/>
                <a:gd name="connsiteY85" fmla="*/ 0 h 593879"/>
                <a:gd name="connsiteX86" fmla="*/ 466296 w 600511"/>
                <a:gd name="connsiteY86" fmla="*/ 93123 h 593879"/>
                <a:gd name="connsiteX87" fmla="*/ 466296 w 600511"/>
                <a:gd name="connsiteY87" fmla="*/ 186246 h 593879"/>
                <a:gd name="connsiteX88" fmla="*/ 233309 w 600511"/>
                <a:gd name="connsiteY88" fmla="*/ 279369 h 593879"/>
                <a:gd name="connsiteX89" fmla="*/ 0 w 600511"/>
                <a:gd name="connsiteY89" fmla="*/ 186246 h 593879"/>
                <a:gd name="connsiteX90" fmla="*/ 0 w 600511"/>
                <a:gd name="connsiteY90" fmla="*/ 93123 h 593879"/>
                <a:gd name="connsiteX91" fmla="*/ 233309 w 600511"/>
                <a:gd name="connsiteY91" fmla="*/ 0 h 59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0511" h="593879">
                  <a:moveTo>
                    <a:pt x="466437" y="421770"/>
                  </a:moveTo>
                  <a:cubicBezTo>
                    <a:pt x="487560" y="421770"/>
                    <a:pt x="504684" y="438878"/>
                    <a:pt x="504684" y="459981"/>
                  </a:cubicBezTo>
                  <a:cubicBezTo>
                    <a:pt x="504684" y="481084"/>
                    <a:pt x="487560" y="498192"/>
                    <a:pt x="466437" y="498192"/>
                  </a:cubicBezTo>
                  <a:cubicBezTo>
                    <a:pt x="445314" y="498192"/>
                    <a:pt x="428190" y="481084"/>
                    <a:pt x="428190" y="459981"/>
                  </a:cubicBezTo>
                  <a:cubicBezTo>
                    <a:pt x="428190" y="438878"/>
                    <a:pt x="445314" y="421770"/>
                    <a:pt x="466437" y="421770"/>
                  </a:cubicBezTo>
                  <a:close/>
                  <a:moveTo>
                    <a:pt x="453390" y="375066"/>
                  </a:moveTo>
                  <a:lnTo>
                    <a:pt x="421127" y="386990"/>
                  </a:lnTo>
                  <a:cubicBezTo>
                    <a:pt x="419191" y="387957"/>
                    <a:pt x="418223" y="389890"/>
                    <a:pt x="418868" y="392146"/>
                  </a:cubicBezTo>
                  <a:lnTo>
                    <a:pt x="424031" y="406325"/>
                  </a:lnTo>
                  <a:cubicBezTo>
                    <a:pt x="424998" y="408259"/>
                    <a:pt x="424676" y="410515"/>
                    <a:pt x="423385" y="411481"/>
                  </a:cubicBezTo>
                  <a:cubicBezTo>
                    <a:pt x="422417" y="412448"/>
                    <a:pt x="418223" y="414382"/>
                    <a:pt x="416287" y="413737"/>
                  </a:cubicBezTo>
                  <a:lnTo>
                    <a:pt x="402414" y="407292"/>
                  </a:lnTo>
                  <a:cubicBezTo>
                    <a:pt x="400478" y="406325"/>
                    <a:pt x="398220" y="407292"/>
                    <a:pt x="397252" y="409226"/>
                  </a:cubicBezTo>
                  <a:lnTo>
                    <a:pt x="383056" y="440485"/>
                  </a:lnTo>
                  <a:cubicBezTo>
                    <a:pt x="382088" y="442096"/>
                    <a:pt x="383056" y="444674"/>
                    <a:pt x="384669" y="445318"/>
                  </a:cubicBezTo>
                  <a:lnTo>
                    <a:pt x="398542" y="451764"/>
                  </a:lnTo>
                  <a:cubicBezTo>
                    <a:pt x="400478" y="452730"/>
                    <a:pt x="402091" y="454664"/>
                    <a:pt x="401769" y="455953"/>
                  </a:cubicBezTo>
                  <a:cubicBezTo>
                    <a:pt x="401769" y="457564"/>
                    <a:pt x="400156" y="462076"/>
                    <a:pt x="398220" y="462720"/>
                  </a:cubicBezTo>
                  <a:lnTo>
                    <a:pt x="384024" y="467876"/>
                  </a:lnTo>
                  <a:cubicBezTo>
                    <a:pt x="382088" y="468521"/>
                    <a:pt x="381120" y="470777"/>
                    <a:pt x="381766" y="472710"/>
                  </a:cubicBezTo>
                  <a:lnTo>
                    <a:pt x="393380" y="504936"/>
                  </a:lnTo>
                  <a:cubicBezTo>
                    <a:pt x="394348" y="506870"/>
                    <a:pt x="396607" y="507836"/>
                    <a:pt x="398542" y="507192"/>
                  </a:cubicBezTo>
                  <a:lnTo>
                    <a:pt x="412738" y="502036"/>
                  </a:lnTo>
                  <a:cubicBezTo>
                    <a:pt x="414674" y="501391"/>
                    <a:pt x="417255" y="501713"/>
                    <a:pt x="417900" y="502680"/>
                  </a:cubicBezTo>
                  <a:cubicBezTo>
                    <a:pt x="418868" y="503969"/>
                    <a:pt x="421127" y="508159"/>
                    <a:pt x="420159" y="510092"/>
                  </a:cubicBezTo>
                  <a:lnTo>
                    <a:pt x="413706" y="523949"/>
                  </a:lnTo>
                  <a:cubicBezTo>
                    <a:pt x="412738" y="525561"/>
                    <a:pt x="413706" y="527816"/>
                    <a:pt x="415642" y="528783"/>
                  </a:cubicBezTo>
                  <a:lnTo>
                    <a:pt x="446937" y="543285"/>
                  </a:lnTo>
                  <a:cubicBezTo>
                    <a:pt x="448873" y="544251"/>
                    <a:pt x="451132" y="543285"/>
                    <a:pt x="451777" y="541351"/>
                  </a:cubicBezTo>
                  <a:lnTo>
                    <a:pt x="458230" y="527494"/>
                  </a:lnTo>
                  <a:cubicBezTo>
                    <a:pt x="459198" y="525561"/>
                    <a:pt x="461133" y="524272"/>
                    <a:pt x="462424" y="524272"/>
                  </a:cubicBezTo>
                  <a:cubicBezTo>
                    <a:pt x="464037" y="524272"/>
                    <a:pt x="468554" y="525883"/>
                    <a:pt x="469199" y="528139"/>
                  </a:cubicBezTo>
                  <a:lnTo>
                    <a:pt x="474361" y="542318"/>
                  </a:lnTo>
                  <a:cubicBezTo>
                    <a:pt x="475007" y="544251"/>
                    <a:pt x="477265" y="545218"/>
                    <a:pt x="479201" y="544574"/>
                  </a:cubicBezTo>
                  <a:lnTo>
                    <a:pt x="511464" y="532650"/>
                  </a:lnTo>
                  <a:cubicBezTo>
                    <a:pt x="513400" y="532006"/>
                    <a:pt x="514368" y="529750"/>
                    <a:pt x="513723" y="527816"/>
                  </a:cubicBezTo>
                  <a:lnTo>
                    <a:pt x="508560" y="513315"/>
                  </a:lnTo>
                  <a:cubicBezTo>
                    <a:pt x="507915" y="511381"/>
                    <a:pt x="508238" y="509125"/>
                    <a:pt x="509206" y="508159"/>
                  </a:cubicBezTo>
                  <a:cubicBezTo>
                    <a:pt x="510496" y="507192"/>
                    <a:pt x="514691" y="505258"/>
                    <a:pt x="516626" y="506225"/>
                  </a:cubicBezTo>
                  <a:lnTo>
                    <a:pt x="530500" y="512348"/>
                  </a:lnTo>
                  <a:cubicBezTo>
                    <a:pt x="532435" y="513315"/>
                    <a:pt x="534694" y="512348"/>
                    <a:pt x="535339" y="510737"/>
                  </a:cubicBezTo>
                  <a:lnTo>
                    <a:pt x="549858" y="479478"/>
                  </a:lnTo>
                  <a:cubicBezTo>
                    <a:pt x="550825" y="477544"/>
                    <a:pt x="549858" y="475288"/>
                    <a:pt x="547922" y="474322"/>
                  </a:cubicBezTo>
                  <a:lnTo>
                    <a:pt x="534049" y="467876"/>
                  </a:lnTo>
                  <a:cubicBezTo>
                    <a:pt x="532113" y="467232"/>
                    <a:pt x="531145" y="462398"/>
                    <a:pt x="531145" y="461109"/>
                  </a:cubicBezTo>
                  <a:cubicBezTo>
                    <a:pt x="531145" y="459498"/>
                    <a:pt x="532435" y="457886"/>
                    <a:pt x="534694" y="457242"/>
                  </a:cubicBezTo>
                  <a:lnTo>
                    <a:pt x="548890" y="451764"/>
                  </a:lnTo>
                  <a:cubicBezTo>
                    <a:pt x="550825" y="451119"/>
                    <a:pt x="551793" y="448863"/>
                    <a:pt x="551148" y="446930"/>
                  </a:cubicBezTo>
                  <a:lnTo>
                    <a:pt x="539211" y="414704"/>
                  </a:lnTo>
                  <a:cubicBezTo>
                    <a:pt x="538565" y="412770"/>
                    <a:pt x="536307" y="411804"/>
                    <a:pt x="534371" y="412448"/>
                  </a:cubicBezTo>
                  <a:lnTo>
                    <a:pt x="520175" y="417604"/>
                  </a:lnTo>
                  <a:cubicBezTo>
                    <a:pt x="517917" y="418571"/>
                    <a:pt x="515658" y="418249"/>
                    <a:pt x="514691" y="416960"/>
                  </a:cubicBezTo>
                  <a:cubicBezTo>
                    <a:pt x="513723" y="415993"/>
                    <a:pt x="511787" y="411481"/>
                    <a:pt x="512755" y="409548"/>
                  </a:cubicBezTo>
                  <a:lnTo>
                    <a:pt x="518885" y="396013"/>
                  </a:lnTo>
                  <a:cubicBezTo>
                    <a:pt x="519853" y="394079"/>
                    <a:pt x="518885" y="391824"/>
                    <a:pt x="516949" y="390857"/>
                  </a:cubicBezTo>
                  <a:lnTo>
                    <a:pt x="485976" y="376355"/>
                  </a:lnTo>
                  <a:cubicBezTo>
                    <a:pt x="484040" y="375711"/>
                    <a:pt x="481782" y="376355"/>
                    <a:pt x="480814" y="378289"/>
                  </a:cubicBezTo>
                  <a:lnTo>
                    <a:pt x="474361" y="392146"/>
                  </a:lnTo>
                  <a:cubicBezTo>
                    <a:pt x="473716" y="394079"/>
                    <a:pt x="471780" y="395691"/>
                    <a:pt x="470167" y="395368"/>
                  </a:cubicBezTo>
                  <a:cubicBezTo>
                    <a:pt x="468877" y="395368"/>
                    <a:pt x="464360" y="393757"/>
                    <a:pt x="463714" y="391824"/>
                  </a:cubicBezTo>
                  <a:lnTo>
                    <a:pt x="458230" y="377322"/>
                  </a:lnTo>
                  <a:cubicBezTo>
                    <a:pt x="457584" y="375389"/>
                    <a:pt x="455326" y="374422"/>
                    <a:pt x="453390" y="375066"/>
                  </a:cubicBezTo>
                  <a:close/>
                  <a:moveTo>
                    <a:pt x="0" y="372515"/>
                  </a:moveTo>
                  <a:cubicBezTo>
                    <a:pt x="0" y="424064"/>
                    <a:pt x="104223" y="465626"/>
                    <a:pt x="233292" y="465626"/>
                  </a:cubicBezTo>
                  <a:cubicBezTo>
                    <a:pt x="258461" y="465626"/>
                    <a:pt x="282661" y="464015"/>
                    <a:pt x="305248" y="461116"/>
                  </a:cubicBezTo>
                  <a:cubicBezTo>
                    <a:pt x="305571" y="493978"/>
                    <a:pt x="315574" y="524264"/>
                    <a:pt x="332998" y="549716"/>
                  </a:cubicBezTo>
                  <a:cubicBezTo>
                    <a:pt x="302667" y="555515"/>
                    <a:pt x="268786" y="558737"/>
                    <a:pt x="233292" y="558737"/>
                  </a:cubicBezTo>
                  <a:cubicBezTo>
                    <a:pt x="104546" y="558737"/>
                    <a:pt x="0" y="517175"/>
                    <a:pt x="0" y="465626"/>
                  </a:cubicBezTo>
                  <a:close/>
                  <a:moveTo>
                    <a:pt x="466295" y="326083"/>
                  </a:moveTo>
                  <a:cubicBezTo>
                    <a:pt x="540501" y="326083"/>
                    <a:pt x="600511" y="386023"/>
                    <a:pt x="600511" y="459820"/>
                  </a:cubicBezTo>
                  <a:cubicBezTo>
                    <a:pt x="600511" y="533939"/>
                    <a:pt x="540501" y="593879"/>
                    <a:pt x="466295" y="593879"/>
                  </a:cubicBezTo>
                  <a:cubicBezTo>
                    <a:pt x="392412" y="593879"/>
                    <a:pt x="332080" y="533939"/>
                    <a:pt x="332080" y="459820"/>
                  </a:cubicBezTo>
                  <a:cubicBezTo>
                    <a:pt x="332080" y="386023"/>
                    <a:pt x="392412" y="326083"/>
                    <a:pt x="466295" y="326083"/>
                  </a:cubicBezTo>
                  <a:close/>
                  <a:moveTo>
                    <a:pt x="0" y="232654"/>
                  </a:moveTo>
                  <a:cubicBezTo>
                    <a:pt x="0" y="284212"/>
                    <a:pt x="104554" y="326103"/>
                    <a:pt x="233309" y="326103"/>
                  </a:cubicBezTo>
                  <a:cubicBezTo>
                    <a:pt x="362065" y="326103"/>
                    <a:pt x="466296" y="284212"/>
                    <a:pt x="466296" y="232654"/>
                  </a:cubicBezTo>
                  <a:lnTo>
                    <a:pt x="466296" y="299035"/>
                  </a:lnTo>
                  <a:cubicBezTo>
                    <a:pt x="393689" y="299035"/>
                    <a:pt x="332377" y="347370"/>
                    <a:pt x="312370" y="413429"/>
                  </a:cubicBezTo>
                  <a:cubicBezTo>
                    <a:pt x="287522" y="416973"/>
                    <a:pt x="261061" y="419229"/>
                    <a:pt x="233309" y="419229"/>
                  </a:cubicBezTo>
                  <a:cubicBezTo>
                    <a:pt x="104231" y="419229"/>
                    <a:pt x="0" y="377338"/>
                    <a:pt x="0" y="326103"/>
                  </a:cubicBezTo>
                  <a:close/>
                  <a:moveTo>
                    <a:pt x="233309" y="23200"/>
                  </a:moveTo>
                  <a:cubicBezTo>
                    <a:pt x="105199" y="23200"/>
                    <a:pt x="23234" y="64445"/>
                    <a:pt x="23234" y="93123"/>
                  </a:cubicBezTo>
                  <a:cubicBezTo>
                    <a:pt x="23234" y="121479"/>
                    <a:pt x="105199" y="163046"/>
                    <a:pt x="233309" y="163046"/>
                  </a:cubicBezTo>
                  <a:cubicBezTo>
                    <a:pt x="361420" y="163046"/>
                    <a:pt x="443062" y="121479"/>
                    <a:pt x="443062" y="93123"/>
                  </a:cubicBezTo>
                  <a:cubicBezTo>
                    <a:pt x="443062" y="64445"/>
                    <a:pt x="361420" y="23200"/>
                    <a:pt x="233309" y="23200"/>
                  </a:cubicBezTo>
                  <a:close/>
                  <a:moveTo>
                    <a:pt x="233309" y="0"/>
                  </a:moveTo>
                  <a:cubicBezTo>
                    <a:pt x="362065" y="0"/>
                    <a:pt x="466296" y="41567"/>
                    <a:pt x="466296" y="93123"/>
                  </a:cubicBezTo>
                  <a:lnTo>
                    <a:pt x="466296" y="186246"/>
                  </a:lnTo>
                  <a:cubicBezTo>
                    <a:pt x="466296" y="237802"/>
                    <a:pt x="362065" y="279369"/>
                    <a:pt x="233309" y="279369"/>
                  </a:cubicBezTo>
                  <a:cubicBezTo>
                    <a:pt x="104231" y="279369"/>
                    <a:pt x="0" y="237802"/>
                    <a:pt x="0" y="186246"/>
                  </a:cubicBezTo>
                  <a:lnTo>
                    <a:pt x="0" y="93123"/>
                  </a:lnTo>
                  <a:cubicBezTo>
                    <a:pt x="0" y="41567"/>
                    <a:pt x="104554" y="0"/>
                    <a:pt x="2333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8" name="iṩļîḋè"/>
            <p:cNvSpPr/>
            <p:nvPr/>
          </p:nvSpPr>
          <p:spPr bwMode="auto">
            <a:xfrm>
              <a:off x="4472794" y="4737435"/>
              <a:ext cx="342202" cy="258842"/>
            </a:xfrm>
            <a:custGeom>
              <a:avLst/>
              <a:gdLst>
                <a:gd name="connsiteX0" fmla="*/ 303150 w 606298"/>
                <a:gd name="connsiteY0" fmla="*/ 172180 h 458605"/>
                <a:gd name="connsiteX1" fmla="*/ 409775 w 606298"/>
                <a:gd name="connsiteY1" fmla="*/ 278664 h 458605"/>
                <a:gd name="connsiteX2" fmla="*/ 303150 w 606298"/>
                <a:gd name="connsiteY2" fmla="*/ 385148 h 458605"/>
                <a:gd name="connsiteX3" fmla="*/ 196525 w 606298"/>
                <a:gd name="connsiteY3" fmla="*/ 278664 h 458605"/>
                <a:gd name="connsiteX4" fmla="*/ 303150 w 606298"/>
                <a:gd name="connsiteY4" fmla="*/ 172180 h 458605"/>
                <a:gd name="connsiteX5" fmla="*/ 303149 w 606298"/>
                <a:gd name="connsiteY5" fmla="*/ 131787 h 458605"/>
                <a:gd name="connsiteX6" fmla="*/ 156060 w 606298"/>
                <a:gd name="connsiteY6" fmla="*/ 278654 h 458605"/>
                <a:gd name="connsiteX7" fmla="*/ 303149 w 606298"/>
                <a:gd name="connsiteY7" fmla="*/ 425430 h 458605"/>
                <a:gd name="connsiteX8" fmla="*/ 450147 w 606298"/>
                <a:gd name="connsiteY8" fmla="*/ 278654 h 458605"/>
                <a:gd name="connsiteX9" fmla="*/ 303149 w 606298"/>
                <a:gd name="connsiteY9" fmla="*/ 131787 h 458605"/>
                <a:gd name="connsiteX10" fmla="*/ 72767 w 606298"/>
                <a:gd name="connsiteY10" fmla="*/ 60502 h 458605"/>
                <a:gd name="connsiteX11" fmla="*/ 60593 w 606298"/>
                <a:gd name="connsiteY11" fmla="*/ 72657 h 458605"/>
                <a:gd name="connsiteX12" fmla="*/ 60593 w 606298"/>
                <a:gd name="connsiteY12" fmla="*/ 98155 h 458605"/>
                <a:gd name="connsiteX13" fmla="*/ 165762 w 606298"/>
                <a:gd name="connsiteY13" fmla="*/ 98155 h 458605"/>
                <a:gd name="connsiteX14" fmla="*/ 165762 w 606298"/>
                <a:gd name="connsiteY14" fmla="*/ 72657 h 458605"/>
                <a:gd name="connsiteX15" fmla="*/ 153588 w 606298"/>
                <a:gd name="connsiteY15" fmla="*/ 60502 h 458605"/>
                <a:gd name="connsiteX16" fmla="*/ 72767 w 606298"/>
                <a:gd name="connsiteY16" fmla="*/ 0 h 458605"/>
                <a:gd name="connsiteX17" fmla="*/ 153588 w 606298"/>
                <a:gd name="connsiteY17" fmla="*/ 0 h 458605"/>
                <a:gd name="connsiteX18" fmla="*/ 226355 w 606298"/>
                <a:gd name="connsiteY18" fmla="*/ 72657 h 458605"/>
                <a:gd name="connsiteX19" fmla="*/ 226355 w 606298"/>
                <a:gd name="connsiteY19" fmla="*/ 98612 h 458605"/>
                <a:gd name="connsiteX20" fmla="*/ 417654 w 606298"/>
                <a:gd name="connsiteY20" fmla="*/ 98612 h 458605"/>
                <a:gd name="connsiteX21" fmla="*/ 417654 w 606298"/>
                <a:gd name="connsiteY21" fmla="*/ 74119 h 458605"/>
                <a:gd name="connsiteX22" fmla="*/ 449781 w 606298"/>
                <a:gd name="connsiteY22" fmla="*/ 42041 h 458605"/>
                <a:gd name="connsiteX23" fmla="*/ 506713 w 606298"/>
                <a:gd name="connsiteY23" fmla="*/ 42041 h 458605"/>
                <a:gd name="connsiteX24" fmla="*/ 538932 w 606298"/>
                <a:gd name="connsiteY24" fmla="*/ 74119 h 458605"/>
                <a:gd name="connsiteX25" fmla="*/ 538932 w 606298"/>
                <a:gd name="connsiteY25" fmla="*/ 98612 h 458605"/>
                <a:gd name="connsiteX26" fmla="*/ 546712 w 606298"/>
                <a:gd name="connsiteY26" fmla="*/ 98612 h 458605"/>
                <a:gd name="connsiteX27" fmla="*/ 606298 w 606298"/>
                <a:gd name="connsiteY27" fmla="*/ 158108 h 458605"/>
                <a:gd name="connsiteX28" fmla="*/ 606298 w 606298"/>
                <a:gd name="connsiteY28" fmla="*/ 399109 h 458605"/>
                <a:gd name="connsiteX29" fmla="*/ 546712 w 606298"/>
                <a:gd name="connsiteY29" fmla="*/ 458605 h 458605"/>
                <a:gd name="connsiteX30" fmla="*/ 59495 w 606298"/>
                <a:gd name="connsiteY30" fmla="*/ 458605 h 458605"/>
                <a:gd name="connsiteX31" fmla="*/ 0 w 606298"/>
                <a:gd name="connsiteY31" fmla="*/ 399109 h 458605"/>
                <a:gd name="connsiteX32" fmla="*/ 0 w 606298"/>
                <a:gd name="connsiteY32" fmla="*/ 72657 h 458605"/>
                <a:gd name="connsiteX33" fmla="*/ 72767 w 606298"/>
                <a:gd name="connsiteY33" fmla="*/ 0 h 45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98" h="458605">
                  <a:moveTo>
                    <a:pt x="303150" y="172180"/>
                  </a:moveTo>
                  <a:cubicBezTo>
                    <a:pt x="362037" y="172180"/>
                    <a:pt x="409775" y="219855"/>
                    <a:pt x="409775" y="278664"/>
                  </a:cubicBezTo>
                  <a:cubicBezTo>
                    <a:pt x="409775" y="337473"/>
                    <a:pt x="362037" y="385148"/>
                    <a:pt x="303150" y="385148"/>
                  </a:cubicBezTo>
                  <a:cubicBezTo>
                    <a:pt x="244263" y="385148"/>
                    <a:pt x="196525" y="337473"/>
                    <a:pt x="196525" y="278664"/>
                  </a:cubicBezTo>
                  <a:cubicBezTo>
                    <a:pt x="196525" y="219855"/>
                    <a:pt x="244263" y="172180"/>
                    <a:pt x="303150" y="172180"/>
                  </a:cubicBezTo>
                  <a:close/>
                  <a:moveTo>
                    <a:pt x="303149" y="131787"/>
                  </a:moveTo>
                  <a:cubicBezTo>
                    <a:pt x="222053" y="131787"/>
                    <a:pt x="156060" y="197681"/>
                    <a:pt x="156060" y="278654"/>
                  </a:cubicBezTo>
                  <a:cubicBezTo>
                    <a:pt x="156060" y="359536"/>
                    <a:pt x="222053" y="425430"/>
                    <a:pt x="303149" y="425430"/>
                  </a:cubicBezTo>
                  <a:cubicBezTo>
                    <a:pt x="384245" y="425430"/>
                    <a:pt x="450147" y="359536"/>
                    <a:pt x="450147" y="278654"/>
                  </a:cubicBezTo>
                  <a:cubicBezTo>
                    <a:pt x="450147" y="197681"/>
                    <a:pt x="384245" y="131787"/>
                    <a:pt x="303149" y="131787"/>
                  </a:cubicBezTo>
                  <a:close/>
                  <a:moveTo>
                    <a:pt x="72767" y="60502"/>
                  </a:moveTo>
                  <a:cubicBezTo>
                    <a:pt x="66085" y="60502"/>
                    <a:pt x="60593" y="65985"/>
                    <a:pt x="60593" y="72657"/>
                  </a:cubicBezTo>
                  <a:lnTo>
                    <a:pt x="60593" y="98155"/>
                  </a:lnTo>
                  <a:lnTo>
                    <a:pt x="165762" y="98155"/>
                  </a:lnTo>
                  <a:lnTo>
                    <a:pt x="165762" y="72657"/>
                  </a:lnTo>
                  <a:cubicBezTo>
                    <a:pt x="165762" y="65985"/>
                    <a:pt x="160270" y="60502"/>
                    <a:pt x="153588" y="60502"/>
                  </a:cubicBezTo>
                  <a:close/>
                  <a:moveTo>
                    <a:pt x="72767" y="0"/>
                  </a:moveTo>
                  <a:lnTo>
                    <a:pt x="153588" y="0"/>
                  </a:lnTo>
                  <a:cubicBezTo>
                    <a:pt x="193770" y="0"/>
                    <a:pt x="226355" y="32536"/>
                    <a:pt x="226355" y="72657"/>
                  </a:cubicBezTo>
                  <a:lnTo>
                    <a:pt x="226355" y="98612"/>
                  </a:lnTo>
                  <a:lnTo>
                    <a:pt x="417654" y="98612"/>
                  </a:lnTo>
                  <a:lnTo>
                    <a:pt x="417654" y="74119"/>
                  </a:lnTo>
                  <a:cubicBezTo>
                    <a:pt x="417654" y="56389"/>
                    <a:pt x="432024" y="42041"/>
                    <a:pt x="449781" y="42041"/>
                  </a:cubicBezTo>
                  <a:lnTo>
                    <a:pt x="506713" y="42041"/>
                  </a:lnTo>
                  <a:cubicBezTo>
                    <a:pt x="524561" y="42041"/>
                    <a:pt x="538932" y="56389"/>
                    <a:pt x="538932" y="74119"/>
                  </a:cubicBezTo>
                  <a:lnTo>
                    <a:pt x="538932" y="98612"/>
                  </a:lnTo>
                  <a:lnTo>
                    <a:pt x="546712" y="98612"/>
                  </a:lnTo>
                  <a:cubicBezTo>
                    <a:pt x="579571" y="98612"/>
                    <a:pt x="606298" y="125299"/>
                    <a:pt x="606298" y="158108"/>
                  </a:cubicBezTo>
                  <a:lnTo>
                    <a:pt x="606298" y="399109"/>
                  </a:lnTo>
                  <a:cubicBezTo>
                    <a:pt x="606298" y="431919"/>
                    <a:pt x="579571" y="458605"/>
                    <a:pt x="546712" y="458605"/>
                  </a:cubicBezTo>
                  <a:lnTo>
                    <a:pt x="59495" y="458605"/>
                  </a:lnTo>
                  <a:cubicBezTo>
                    <a:pt x="26635" y="458605"/>
                    <a:pt x="0" y="431919"/>
                    <a:pt x="0" y="399109"/>
                  </a:cubicBezTo>
                  <a:lnTo>
                    <a:pt x="0" y="72657"/>
                  </a:lnTo>
                  <a:cubicBezTo>
                    <a:pt x="0" y="32536"/>
                    <a:pt x="32585" y="0"/>
                    <a:pt x="727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0" name="îṩļiḓè"/>
            <p:cNvSpPr/>
            <p:nvPr/>
          </p:nvSpPr>
          <p:spPr>
            <a:xfrm>
              <a:off x="665163" y="1667557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>
                  <a:solidFill>
                    <a:srgbClr val="0000FF"/>
                  </a:solidFill>
                </a:rPr>
                <a:t>处理机争用</a:t>
              </a:r>
              <a:r>
                <a:rPr lang="zh-CN" altLang="en-US" sz="2400" dirty="0"/>
                <a:t>问题</a:t>
              </a:r>
              <a:endParaRPr lang="en-US" altLang="zh-CN" sz="2400" dirty="0"/>
            </a:p>
          </p:txBody>
        </p:sp>
        <p:sp>
          <p:nvSpPr>
            <p:cNvPr id="33" name="ïṣľîḋê"/>
            <p:cNvSpPr/>
            <p:nvPr/>
          </p:nvSpPr>
          <p:spPr>
            <a:xfrm>
              <a:off x="8029002" y="1667557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>
                  <a:solidFill>
                    <a:srgbClr val="0000FF"/>
                  </a:solidFill>
                </a:rPr>
                <a:t>文件的组织和管理</a:t>
              </a:r>
              <a:r>
                <a:rPr lang="zh-CN" altLang="en-US" sz="2400" dirty="0"/>
                <a:t>问题</a:t>
              </a:r>
              <a:endParaRPr lang="en-US" altLang="zh-CN" sz="2400" dirty="0"/>
            </a:p>
          </p:txBody>
        </p:sp>
        <p:sp>
          <p:nvSpPr>
            <p:cNvPr id="35" name="išľïḓe"/>
            <p:cNvSpPr/>
            <p:nvPr/>
          </p:nvSpPr>
          <p:spPr>
            <a:xfrm>
              <a:off x="527899" y="3161434"/>
              <a:ext cx="301928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 algn="r"/>
              <a:r>
                <a:rPr lang="zh-CN" altLang="en-US" sz="2400" dirty="0">
                  <a:solidFill>
                    <a:srgbClr val="0000FF"/>
                  </a:solidFill>
                </a:rPr>
                <a:t>内存分配和保护</a:t>
              </a:r>
              <a:r>
                <a:rPr lang="zh-CN" altLang="en-US" sz="2400" dirty="0"/>
                <a:t>问题</a:t>
              </a:r>
              <a:endParaRPr lang="en-US" altLang="zh-CN" sz="2400" dirty="0"/>
            </a:p>
          </p:txBody>
        </p:sp>
        <p:sp>
          <p:nvSpPr>
            <p:cNvPr id="37" name="îṧľïdè"/>
            <p:cNvSpPr/>
            <p:nvPr/>
          </p:nvSpPr>
          <p:spPr>
            <a:xfrm>
              <a:off x="8632118" y="3161434"/>
              <a:ext cx="2882020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>
                  <a:solidFill>
                    <a:srgbClr val="0000FF"/>
                  </a:solidFill>
                </a:rPr>
                <a:t>作业管理</a:t>
              </a:r>
              <a:r>
                <a:rPr lang="zh-CN" altLang="en-US" sz="2400" dirty="0"/>
                <a:t>问题</a:t>
              </a:r>
              <a:endParaRPr lang="en-US" altLang="zh-CN" sz="2400" dirty="0"/>
            </a:p>
          </p:txBody>
        </p:sp>
        <p:sp>
          <p:nvSpPr>
            <p:cNvPr id="43" name="işľîḓé"/>
            <p:cNvSpPr/>
            <p:nvPr/>
          </p:nvSpPr>
          <p:spPr>
            <a:xfrm>
              <a:off x="665163" y="4708346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en-US" altLang="zh-CN" sz="2400" dirty="0">
                  <a:solidFill>
                    <a:srgbClr val="0000FF"/>
                  </a:solidFill>
                </a:rPr>
                <a:t>I/O</a:t>
              </a:r>
              <a:r>
                <a:rPr lang="zh-CN" altLang="en-US" sz="2400" dirty="0">
                  <a:solidFill>
                    <a:srgbClr val="0000FF"/>
                  </a:solidFill>
                </a:rPr>
                <a:t>设备分配</a:t>
              </a:r>
              <a:r>
                <a:rPr lang="zh-CN" altLang="en-US" sz="2400" dirty="0"/>
                <a:t>问题</a:t>
              </a:r>
              <a:endParaRPr lang="en-US" altLang="zh-CN" sz="2400" dirty="0"/>
            </a:p>
          </p:txBody>
        </p:sp>
        <p:sp>
          <p:nvSpPr>
            <p:cNvPr id="41" name="ïśļíde"/>
            <p:cNvSpPr/>
            <p:nvPr/>
          </p:nvSpPr>
          <p:spPr>
            <a:xfrm>
              <a:off x="8029002" y="4708346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>
                  <a:solidFill>
                    <a:srgbClr val="0000FF"/>
                  </a:solidFill>
                </a:rPr>
                <a:t>用户与系统的接口</a:t>
              </a:r>
              <a:r>
                <a:rPr lang="zh-CN" altLang="en-US" sz="2400" dirty="0"/>
                <a:t>问题</a:t>
              </a:r>
            </a:p>
          </p:txBody>
        </p:sp>
      </p:grpSp>
      <p:grpSp>
        <p:nvGrpSpPr>
          <p:cNvPr id="2" name="iṡļiḓe"/>
          <p:cNvGrpSpPr/>
          <p:nvPr/>
        </p:nvGrpSpPr>
        <p:grpSpPr>
          <a:xfrm>
            <a:off x="540385" y="5472693"/>
            <a:ext cx="11092180" cy="692678"/>
            <a:chOff x="660400" y="1709313"/>
            <a:chExt cx="11092077" cy="733394"/>
          </a:xfrm>
        </p:grpSpPr>
        <p:sp>
          <p:nvSpPr>
            <p:cNvPr id="4" name="îṧľîḋé"/>
            <p:cNvSpPr txBox="1"/>
            <p:nvPr/>
          </p:nvSpPr>
          <p:spPr>
            <a:xfrm>
              <a:off x="1530977" y="1834366"/>
              <a:ext cx="10221500" cy="4437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800" dirty="0"/>
                <a:t>为了解决上述问题，应在计算机中增加一组软件，即</a:t>
              </a:r>
              <a:r>
                <a:rPr lang="zh-CN" altLang="en-US" sz="2800" dirty="0">
                  <a:solidFill>
                    <a:srgbClr val="FF0000"/>
                  </a:solidFill>
                </a:rPr>
                <a:t>操作系统</a:t>
              </a:r>
              <a:r>
                <a:rPr lang="zh-CN" altLang="en-US" sz="2800" dirty="0"/>
                <a:t>。</a:t>
              </a:r>
              <a:endParaRPr lang="en-US" altLang="zh-CN" sz="2800" dirty="0"/>
            </a:p>
          </p:txBody>
        </p:sp>
        <p:grpSp>
          <p:nvGrpSpPr>
            <p:cNvPr id="29" name="ïS1íḋé"/>
            <p:cNvGrpSpPr/>
            <p:nvPr/>
          </p:nvGrpSpPr>
          <p:grpSpPr>
            <a:xfrm>
              <a:off x="660400" y="1709313"/>
              <a:ext cx="733394" cy="733394"/>
              <a:chOff x="660400" y="1709313"/>
              <a:chExt cx="733394" cy="733394"/>
            </a:xfrm>
          </p:grpSpPr>
          <p:sp>
            <p:nvSpPr>
              <p:cNvPr id="6" name="islîḋe"/>
              <p:cNvSpPr/>
              <p:nvPr/>
            </p:nvSpPr>
            <p:spPr>
              <a:xfrm>
                <a:off x="660400" y="1709313"/>
                <a:ext cx="733394" cy="73339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îŝlîďe"/>
              <p:cNvSpPr/>
              <p:nvPr/>
            </p:nvSpPr>
            <p:spPr>
              <a:xfrm>
                <a:off x="797603" y="1894184"/>
                <a:ext cx="381389" cy="3460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操作系统的定义</a:t>
            </a:r>
          </a:p>
        </p:txBody>
      </p:sp>
      <p:grpSp>
        <p:nvGrpSpPr>
          <p:cNvPr id="2" name="iṡļiḓe"/>
          <p:cNvGrpSpPr/>
          <p:nvPr/>
        </p:nvGrpSpPr>
        <p:grpSpPr>
          <a:xfrm>
            <a:off x="946785" y="907678"/>
            <a:ext cx="10170161" cy="3260090"/>
            <a:chOff x="660400" y="1272974"/>
            <a:chExt cx="10170066" cy="3451720"/>
          </a:xfrm>
        </p:grpSpPr>
        <p:sp>
          <p:nvSpPr>
            <p:cNvPr id="4" name="îṧľîḋé"/>
            <p:cNvSpPr txBox="1"/>
            <p:nvPr/>
          </p:nvSpPr>
          <p:spPr>
            <a:xfrm>
              <a:off x="1642101" y="1272974"/>
              <a:ext cx="9188365" cy="34517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fontAlgn="auto">
                <a:lnSpc>
                  <a:spcPct val="150000"/>
                </a:lnSpc>
              </a:pPr>
              <a:r>
                <a:rPr lang="zh-CN" altLang="en-US" sz="2800" dirty="0">
                  <a:solidFill>
                    <a:srgbClr val="FF0000"/>
                  </a:solidFill>
                </a:rPr>
                <a:t>操作系统</a:t>
              </a:r>
              <a:r>
                <a:rPr lang="zh-CN" altLang="en-US" sz="2800" dirty="0"/>
                <a:t>：</a:t>
              </a:r>
            </a:p>
            <a:p>
              <a:pPr indent="0" fontAlgn="auto">
                <a:lnSpc>
                  <a:spcPct val="150000"/>
                </a:lnSpc>
              </a:pPr>
              <a:r>
                <a:rPr lang="en-US" altLang="zh-CN" sz="2800" dirty="0"/>
                <a:t>OS</a:t>
              </a:r>
              <a:r>
                <a:rPr lang="zh-CN" altLang="en-US" sz="2800" dirty="0"/>
                <a:t>是一组能有效地组织和管理计算机硬件和软件资源，合理地对各类作业进行调度，以及方便用户使用的程序的集合。</a:t>
              </a:r>
            </a:p>
          </p:txBody>
        </p:sp>
        <p:grpSp>
          <p:nvGrpSpPr>
            <p:cNvPr id="29" name="ïS1íḋé"/>
            <p:cNvGrpSpPr/>
            <p:nvPr/>
          </p:nvGrpSpPr>
          <p:grpSpPr>
            <a:xfrm>
              <a:off x="660400" y="1709313"/>
              <a:ext cx="733394" cy="733394"/>
              <a:chOff x="660400" y="1709313"/>
              <a:chExt cx="733394" cy="733394"/>
            </a:xfrm>
          </p:grpSpPr>
          <p:sp>
            <p:nvSpPr>
              <p:cNvPr id="6" name="islîḋe"/>
              <p:cNvSpPr/>
              <p:nvPr/>
            </p:nvSpPr>
            <p:spPr>
              <a:xfrm>
                <a:off x="660400" y="1709313"/>
                <a:ext cx="733394" cy="73339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îŝlîďe"/>
              <p:cNvSpPr/>
              <p:nvPr/>
            </p:nvSpPr>
            <p:spPr>
              <a:xfrm>
                <a:off x="797603" y="1894184"/>
                <a:ext cx="381389" cy="3460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" name="iṡļiḓe"/>
          <p:cNvGrpSpPr/>
          <p:nvPr/>
        </p:nvGrpSpPr>
        <p:grpSpPr>
          <a:xfrm>
            <a:off x="946150" y="4298950"/>
            <a:ext cx="10686415" cy="735409"/>
            <a:chOff x="660400" y="1709313"/>
            <a:chExt cx="11092077" cy="778517"/>
          </a:xfrm>
        </p:grpSpPr>
        <p:sp>
          <p:nvSpPr>
            <p:cNvPr id="5" name="îṧľîḋé"/>
            <p:cNvSpPr txBox="1"/>
            <p:nvPr/>
          </p:nvSpPr>
          <p:spPr>
            <a:xfrm>
              <a:off x="1530977" y="2044095"/>
              <a:ext cx="10221500" cy="4437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fontAlgn="auto">
                <a:lnSpc>
                  <a:spcPct val="150000"/>
                </a:lnSpc>
              </a:pPr>
              <a:r>
                <a:rPr lang="zh-CN" altLang="en-US" sz="2800" dirty="0"/>
                <a:t>为了解决多道批处理系统交互性差的问题，引入</a:t>
              </a:r>
              <a:r>
                <a:rPr lang="zh-CN" altLang="en-US" sz="2800" dirty="0">
                  <a:solidFill>
                    <a:srgbClr val="FF0000"/>
                  </a:solidFill>
                </a:rPr>
                <a:t>中断技术</a:t>
              </a:r>
              <a:r>
                <a:rPr lang="zh-CN" altLang="en-US" sz="2800" dirty="0"/>
                <a:t>，</a:t>
              </a:r>
            </a:p>
            <a:p>
              <a:pPr indent="0" fontAlgn="auto">
                <a:lnSpc>
                  <a:spcPct val="150000"/>
                </a:lnSpc>
              </a:pPr>
              <a:r>
                <a:rPr lang="zh-CN" altLang="en-US" sz="2800" dirty="0"/>
                <a:t>就有了</a:t>
              </a:r>
              <a:r>
                <a:rPr lang="zh-CN" altLang="en-US" sz="2800" dirty="0">
                  <a:solidFill>
                    <a:srgbClr val="FF0000"/>
                  </a:solidFill>
                </a:rPr>
                <a:t>分时操作系统</a:t>
              </a:r>
              <a:r>
                <a:rPr lang="zh-CN" altLang="en-US" sz="2800" dirty="0"/>
                <a:t>。</a:t>
              </a:r>
              <a:endParaRPr lang="en-US" altLang="zh-CN" sz="2800" dirty="0"/>
            </a:p>
          </p:txBody>
        </p:sp>
        <p:grpSp>
          <p:nvGrpSpPr>
            <p:cNvPr id="13" name="ïS1íḋé"/>
            <p:cNvGrpSpPr/>
            <p:nvPr/>
          </p:nvGrpSpPr>
          <p:grpSpPr>
            <a:xfrm>
              <a:off x="660400" y="1709313"/>
              <a:ext cx="733394" cy="733394"/>
              <a:chOff x="660400" y="1709313"/>
              <a:chExt cx="733394" cy="733394"/>
            </a:xfrm>
          </p:grpSpPr>
          <p:sp>
            <p:nvSpPr>
              <p:cNvPr id="32" name="islîḋe"/>
              <p:cNvSpPr/>
              <p:nvPr/>
            </p:nvSpPr>
            <p:spPr>
              <a:xfrm>
                <a:off x="660400" y="1709313"/>
                <a:ext cx="733394" cy="73339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ŝlîďe"/>
              <p:cNvSpPr/>
              <p:nvPr/>
            </p:nvSpPr>
            <p:spPr>
              <a:xfrm>
                <a:off x="797603" y="1894184"/>
                <a:ext cx="381389" cy="3460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中断技术的定义</a:t>
            </a:r>
          </a:p>
        </p:txBody>
      </p:sp>
      <p:grpSp>
        <p:nvGrpSpPr>
          <p:cNvPr id="2" name="iṡļiḓe"/>
          <p:cNvGrpSpPr/>
          <p:nvPr/>
        </p:nvGrpSpPr>
        <p:grpSpPr>
          <a:xfrm>
            <a:off x="428625" y="601345"/>
            <a:ext cx="5668010" cy="3540760"/>
            <a:chOff x="660400" y="1029592"/>
            <a:chExt cx="5424119" cy="3748888"/>
          </a:xfrm>
        </p:grpSpPr>
        <p:sp>
          <p:nvSpPr>
            <p:cNvPr id="4" name="îṧľîḋé"/>
            <p:cNvSpPr txBox="1"/>
            <p:nvPr/>
          </p:nvSpPr>
          <p:spPr>
            <a:xfrm>
              <a:off x="1579207" y="1029592"/>
              <a:ext cx="4505312" cy="374888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fontAlgn="auto">
                <a:lnSpc>
                  <a:spcPct val="150000"/>
                </a:lnSpc>
              </a:pPr>
              <a:r>
                <a:rPr lang="zh-CN" altLang="en-US" sz="2800" dirty="0">
                  <a:solidFill>
                    <a:srgbClr val="FF0000"/>
                  </a:solidFill>
                </a:rPr>
                <a:t>中断技术</a:t>
              </a:r>
              <a:r>
                <a:rPr lang="zh-CN" altLang="en-US" sz="2800" dirty="0"/>
                <a:t>：</a:t>
              </a:r>
            </a:p>
            <a:p>
              <a:pPr eaLnBrk="1" hangingPunct="1"/>
              <a:r>
                <a:rPr lang="zh-CN" altLang="en-US" sz="2800" dirty="0">
                  <a:latin typeface="宋体" panose="02010600030101010101" pitchFamily="2" charset="-122"/>
                  <a:sym typeface="+mn-ea"/>
                </a:rPr>
                <a:t>中断是指</a:t>
              </a:r>
              <a:r>
                <a:rPr lang="en-US" altLang="zh-CN" sz="2800" dirty="0">
                  <a:latin typeface="宋体" panose="02010600030101010101" pitchFamily="2" charset="-122"/>
                  <a:sym typeface="+mn-ea"/>
                </a:rPr>
                <a:t>CPU</a:t>
              </a:r>
              <a:r>
                <a:rPr lang="zh-CN" altLang="en-US" sz="2800" dirty="0">
                  <a:latin typeface="宋体" panose="02010600030101010101" pitchFamily="2" charset="-122"/>
                  <a:sym typeface="+mn-ea"/>
                </a:rPr>
                <a:t>在收到外部中断信号后，停止原来工作，转去处理该中断事件，完毕后回到原来断点继续工作。</a:t>
              </a:r>
            </a:p>
          </p:txBody>
        </p:sp>
        <p:grpSp>
          <p:nvGrpSpPr>
            <p:cNvPr id="29" name="ïS1íḋé"/>
            <p:cNvGrpSpPr/>
            <p:nvPr/>
          </p:nvGrpSpPr>
          <p:grpSpPr>
            <a:xfrm>
              <a:off x="660400" y="1709313"/>
              <a:ext cx="733394" cy="733394"/>
              <a:chOff x="660400" y="1709313"/>
              <a:chExt cx="733394" cy="733394"/>
            </a:xfrm>
          </p:grpSpPr>
          <p:sp>
            <p:nvSpPr>
              <p:cNvPr id="6" name="islîḋe"/>
              <p:cNvSpPr/>
              <p:nvPr/>
            </p:nvSpPr>
            <p:spPr>
              <a:xfrm>
                <a:off x="660400" y="1709313"/>
                <a:ext cx="733394" cy="73339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îŝlîďe"/>
              <p:cNvSpPr/>
              <p:nvPr/>
            </p:nvSpPr>
            <p:spPr>
              <a:xfrm>
                <a:off x="797603" y="1894184"/>
                <a:ext cx="381389" cy="3460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3733" name="Line 4"/>
          <p:cNvSpPr/>
          <p:nvPr/>
        </p:nvSpPr>
        <p:spPr>
          <a:xfrm>
            <a:off x="7549198" y="1230313"/>
            <a:ext cx="0" cy="1981200"/>
          </a:xfrm>
          <a:prstGeom prst="line">
            <a:avLst/>
          </a:prstGeom>
          <a:ln w="101600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73734" name="Text Box 5"/>
          <p:cNvSpPr txBox="1"/>
          <p:nvPr/>
        </p:nvSpPr>
        <p:spPr>
          <a:xfrm>
            <a:off x="6710998" y="2906713"/>
            <a:ext cx="6096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Monotype Sort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charset="0"/>
              </a:rPr>
              <a:t>中断请求</a:t>
            </a:r>
          </a:p>
        </p:txBody>
      </p:sp>
      <p:sp>
        <p:nvSpPr>
          <p:cNvPr id="73735" name="Oval 6"/>
          <p:cNvSpPr/>
          <p:nvPr/>
        </p:nvSpPr>
        <p:spPr>
          <a:xfrm>
            <a:off x="7439660" y="3287713"/>
            <a:ext cx="200025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Monotype Sort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Times New Roman" panose="0202060305040502030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25398" y="1458913"/>
            <a:ext cx="3810000" cy="3962400"/>
            <a:chOff x="5638800" y="1524000"/>
            <a:chExt cx="3810000" cy="3962400"/>
          </a:xfrm>
        </p:grpSpPr>
        <p:sp>
          <p:nvSpPr>
            <p:cNvPr id="73746" name="Line 8"/>
            <p:cNvSpPr/>
            <p:nvPr/>
          </p:nvSpPr>
          <p:spPr>
            <a:xfrm flipV="1">
              <a:off x="5638800" y="2209800"/>
              <a:ext cx="2514600" cy="1219200"/>
            </a:xfrm>
            <a:prstGeom prst="line">
              <a:avLst/>
            </a:prstGeom>
            <a:ln w="50800" cap="flat" cmpd="sng">
              <a:solidFill>
                <a:schemeClr val="tx2"/>
              </a:solidFill>
              <a:prstDash val="dash"/>
              <a:headEnd type="none" w="med" len="med"/>
              <a:tailEnd type="stealth" w="med" len="med"/>
            </a:ln>
          </p:spPr>
        </p:sp>
        <p:sp>
          <p:nvSpPr>
            <p:cNvPr id="73747" name="Line 9"/>
            <p:cNvSpPr/>
            <p:nvPr/>
          </p:nvSpPr>
          <p:spPr>
            <a:xfrm>
              <a:off x="8305800" y="2133600"/>
              <a:ext cx="0" cy="3352800"/>
            </a:xfrm>
            <a:prstGeom prst="line">
              <a:avLst/>
            </a:prstGeom>
            <a:ln w="101600" cap="flat" cmpd="sng">
              <a:solidFill>
                <a:srgbClr val="FF0000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73748" name="Text Box 10"/>
            <p:cNvSpPr txBox="1"/>
            <p:nvPr/>
          </p:nvSpPr>
          <p:spPr>
            <a:xfrm>
              <a:off x="7239000" y="1524000"/>
              <a:ext cx="22098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charset="0"/>
                </a:rPr>
                <a:t>中断处理程序</a:t>
              </a:r>
            </a:p>
          </p:txBody>
        </p:sp>
      </p:grpSp>
      <p:sp>
        <p:nvSpPr>
          <p:cNvPr id="86030" name="Line 13"/>
          <p:cNvSpPr/>
          <p:nvPr/>
        </p:nvSpPr>
        <p:spPr>
          <a:xfrm>
            <a:off x="7549198" y="3592513"/>
            <a:ext cx="0" cy="2362200"/>
          </a:xfrm>
          <a:prstGeom prst="line">
            <a:avLst/>
          </a:prstGeom>
          <a:ln w="101600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8" name="组合 7"/>
          <p:cNvGrpSpPr/>
          <p:nvPr/>
        </p:nvGrpSpPr>
        <p:grpSpPr>
          <a:xfrm>
            <a:off x="7609523" y="2144713"/>
            <a:ext cx="1022350" cy="1524000"/>
            <a:chOff x="5622925" y="2209800"/>
            <a:chExt cx="1022350" cy="1524000"/>
          </a:xfrm>
        </p:grpSpPr>
        <p:sp>
          <p:nvSpPr>
            <p:cNvPr id="73744" name="Text Box 7"/>
            <p:cNvSpPr txBox="1"/>
            <p:nvPr/>
          </p:nvSpPr>
          <p:spPr>
            <a:xfrm>
              <a:off x="5622925" y="2514600"/>
              <a:ext cx="549275" cy="91440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charset="0"/>
                </a:rPr>
                <a:t>响应</a:t>
              </a:r>
            </a:p>
          </p:txBody>
        </p:sp>
        <p:sp>
          <p:nvSpPr>
            <p:cNvPr id="73745" name="Text Box 14"/>
            <p:cNvSpPr txBox="1"/>
            <p:nvPr/>
          </p:nvSpPr>
          <p:spPr>
            <a:xfrm>
              <a:off x="6096000" y="2209800"/>
              <a:ext cx="549275" cy="152400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charset="0"/>
                </a:rPr>
                <a:t>保护现场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549198" y="3440113"/>
            <a:ext cx="4038600" cy="2438400"/>
            <a:chOff x="5562600" y="3505200"/>
            <a:chExt cx="4038600" cy="2438400"/>
          </a:xfrm>
        </p:grpSpPr>
        <p:sp>
          <p:nvSpPr>
            <p:cNvPr id="73741" name="Text Box 11"/>
            <p:cNvSpPr txBox="1"/>
            <p:nvPr/>
          </p:nvSpPr>
          <p:spPr>
            <a:xfrm>
              <a:off x="8077200" y="5486400"/>
              <a:ext cx="15240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charset="0"/>
                </a:rPr>
                <a:t>中断返回</a:t>
              </a:r>
            </a:p>
          </p:txBody>
        </p:sp>
        <p:sp>
          <p:nvSpPr>
            <p:cNvPr id="73742" name="Line 12"/>
            <p:cNvSpPr/>
            <p:nvPr/>
          </p:nvSpPr>
          <p:spPr>
            <a:xfrm flipH="1" flipV="1">
              <a:off x="5562600" y="3505200"/>
              <a:ext cx="2667000" cy="1981200"/>
            </a:xfrm>
            <a:prstGeom prst="line">
              <a:avLst/>
            </a:prstGeom>
            <a:ln w="50800" cap="flat" cmpd="sng">
              <a:solidFill>
                <a:schemeClr val="tx2"/>
              </a:solidFill>
              <a:prstDash val="dash"/>
              <a:headEnd type="none" w="med" len="med"/>
              <a:tailEnd type="stealth" w="med" len="med"/>
            </a:ln>
          </p:spPr>
        </p:sp>
        <p:sp>
          <p:nvSpPr>
            <p:cNvPr id="73743" name="Text Box 15"/>
            <p:cNvSpPr txBox="1"/>
            <p:nvPr/>
          </p:nvSpPr>
          <p:spPr>
            <a:xfrm>
              <a:off x="5638800" y="3810000"/>
              <a:ext cx="549275" cy="144780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Monotype Sorts" pitchFamily="2" charset="2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charset="0"/>
                </a:rPr>
                <a:t>恢复现场</a:t>
              </a:r>
            </a:p>
          </p:txBody>
        </p:sp>
      </p:grpSp>
      <p:sp>
        <p:nvSpPr>
          <p:cNvPr id="64528" name="Rectangle 16"/>
          <p:cNvSpPr>
            <a:spLocks noChangeArrowheads="1"/>
          </p:cNvSpPr>
          <p:nvPr/>
        </p:nvSpPr>
        <p:spPr bwMode="auto">
          <a:xfrm>
            <a:off x="571818" y="4897438"/>
            <a:ext cx="6170613" cy="5238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Monotype Sorts" pitchFamily="2" charset="2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Monotype Sorts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Monotype Sorts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管理程序发展为执行系统，常驻内存。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8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分时系统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607406" y="1164117"/>
            <a:ext cx="2742976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1.</a:t>
            </a:r>
            <a:r>
              <a:rPr lang="zh-CN" altLang="en-US" sz="2400" dirty="0">
                <a:solidFill>
                  <a:schemeClr val="bg1"/>
                </a:solidFill>
              </a:rPr>
              <a:t>分时系统的引入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607405" y="1886701"/>
            <a:ext cx="5161266" cy="36573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用户需要表现在以下几个方面：</a:t>
            </a:r>
          </a:p>
          <a:p>
            <a:pPr marL="799465" lvl="3" indent="-4572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/>
              <a:t>人机交互（批处理系统做不到）</a:t>
            </a:r>
          </a:p>
          <a:p>
            <a:pPr marL="799465" lvl="3" indent="-4572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/>
              <a:t>共享主机（感觉独占）</a:t>
            </a:r>
          </a:p>
          <a:p>
            <a:pPr marL="0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定义</a:t>
            </a:r>
          </a:p>
          <a:p>
            <a:pPr marL="799465" lvl="3" indent="-4572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/>
              <a:t>分时系统：在一台</a:t>
            </a:r>
            <a:r>
              <a:rPr lang="zh-CN" altLang="en-US" sz="2200" u="sng" dirty="0"/>
              <a:t>主机</a:t>
            </a:r>
            <a:r>
              <a:rPr lang="zh-CN" altLang="en-US" sz="2200" dirty="0"/>
              <a:t>上连接了</a:t>
            </a:r>
            <a:r>
              <a:rPr lang="zh-CN" altLang="en-US" sz="2200" dirty="0">
                <a:solidFill>
                  <a:srgbClr val="FF0000"/>
                </a:solidFill>
              </a:rPr>
              <a:t>多个</a:t>
            </a:r>
            <a:r>
              <a:rPr lang="zh-CN" altLang="en-US" sz="2200" dirty="0"/>
              <a:t>带有显示器和键盘的</a:t>
            </a:r>
            <a:r>
              <a:rPr lang="zh-CN" altLang="en-US" sz="2200" dirty="0">
                <a:solidFill>
                  <a:srgbClr val="FF0000"/>
                </a:solidFill>
              </a:rPr>
              <a:t>终端</a:t>
            </a:r>
            <a:r>
              <a:rPr lang="zh-CN" altLang="en-US" sz="2200" dirty="0"/>
              <a:t>，同时允许多个用户</a:t>
            </a:r>
            <a:r>
              <a:rPr lang="zh-CN" altLang="en-US" sz="2200" dirty="0">
                <a:solidFill>
                  <a:srgbClr val="FF0000"/>
                </a:solidFill>
              </a:rPr>
              <a:t>共享主机</a:t>
            </a:r>
            <a:r>
              <a:rPr lang="zh-CN" altLang="en-US" sz="2200" dirty="0"/>
              <a:t>中的资源，每个用户都可通过自己的终端以</a:t>
            </a:r>
            <a:r>
              <a:rPr lang="zh-CN" altLang="en-US" sz="2200" dirty="0">
                <a:solidFill>
                  <a:srgbClr val="FF0000"/>
                </a:solidFill>
              </a:rPr>
              <a:t>交互</a:t>
            </a:r>
            <a:r>
              <a:rPr lang="zh-CN" altLang="en-US" sz="2200" dirty="0"/>
              <a:t>方式使用计算机。</a:t>
            </a:r>
            <a:endParaRPr lang="en-US" altLang="zh-CN" sz="2200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5786562" y="1623391"/>
            <a:ext cx="0" cy="4558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757" name="Object 0"/>
          <p:cNvGraphicFramePr>
            <a:graphicFrameLocks noChangeAspect="1"/>
          </p:cNvGraphicFramePr>
          <p:nvPr/>
        </p:nvGraphicFramePr>
        <p:xfrm>
          <a:off x="6036310" y="1420495"/>
          <a:ext cx="6034405" cy="3858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76600" imgH="2381250" progId="PBrush">
                  <p:embed/>
                </p:oleObj>
              </mc:Choice>
              <mc:Fallback>
                <p:oleObj r:id="rId2" imgW="3276600" imgH="2381250" progId="PBrush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6310" y="1420495"/>
                        <a:ext cx="6034405" cy="38588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圆角矩形标注 1"/>
          <p:cNvSpPr/>
          <p:nvPr/>
        </p:nvSpPr>
        <p:spPr bwMode="auto">
          <a:xfrm>
            <a:off x="6280150" y="5125085"/>
            <a:ext cx="5280025" cy="965200"/>
          </a:xfrm>
          <a:prstGeom prst="wedgeRoundRectCallout">
            <a:avLst>
              <a:gd name="adj1" fmla="val -34309"/>
              <a:gd name="adj2" fmla="val 15979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分时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：若干程序对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CPU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时间的共享。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个时间片大约几十毫秒。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1/1000s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分时系统</a:t>
            </a:r>
          </a:p>
        </p:txBody>
      </p:sp>
      <p:sp>
        <p:nvSpPr>
          <p:cNvPr id="7" name="矩形: 圆角 4"/>
          <p:cNvSpPr/>
          <p:nvPr/>
        </p:nvSpPr>
        <p:spPr>
          <a:xfrm>
            <a:off x="669866" y="1141892"/>
            <a:ext cx="4244439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2.</a:t>
            </a:r>
            <a:r>
              <a:rPr lang="zh-CN" altLang="en-US" sz="2400" dirty="0">
                <a:solidFill>
                  <a:schemeClr val="bg1"/>
                </a:solidFill>
              </a:rPr>
              <a:t>分时系统实现中的</a:t>
            </a:r>
            <a:r>
              <a:rPr lang="zh-CN" altLang="en-US" sz="2400" dirty="0">
                <a:solidFill>
                  <a:srgbClr val="FF0000"/>
                </a:solidFill>
              </a:rPr>
              <a:t>关键问题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69925" y="1704975"/>
            <a:ext cx="10487025" cy="16021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u="sng" dirty="0"/>
              <a:t>最关键的问题是如何使用户能与自己的作业进行交互</a:t>
            </a:r>
            <a:r>
              <a:rPr lang="en-US" altLang="zh-CN" sz="2400" u="sng" dirty="0"/>
              <a:t>:</a:t>
            </a:r>
            <a:endParaRPr lang="zh-CN" altLang="en-US" sz="2400" u="sng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及时接收（多路卡</a:t>
            </a:r>
            <a:r>
              <a:rPr lang="en-US" altLang="zh-CN" sz="2400" dirty="0"/>
              <a:t>(</a:t>
            </a:r>
            <a:r>
              <a:rPr lang="zh-CN" altLang="en-US" sz="2400" dirty="0"/>
              <a:t>硬件，周期性快速扫描各终端</a:t>
            </a:r>
            <a:r>
              <a:rPr lang="en-US" altLang="zh-CN" sz="2400" dirty="0"/>
              <a:t>)+</a:t>
            </a:r>
            <a:r>
              <a:rPr lang="zh-CN" altLang="en-US" sz="2400" dirty="0"/>
              <a:t>每个终端都有命令缓冲区接收命令和数据）。关键参数：</a:t>
            </a:r>
            <a:r>
              <a:rPr lang="zh-CN" altLang="en-US" sz="2400" dirty="0">
                <a:solidFill>
                  <a:srgbClr val="FF0000"/>
                </a:solidFill>
              </a:rPr>
              <a:t>响应时间。</a:t>
            </a:r>
            <a:r>
              <a:rPr lang="zh-CN" altLang="en-US" sz="2400" dirty="0">
                <a:solidFill>
                  <a:schemeClr val="tx1"/>
                </a:solidFill>
              </a:rPr>
              <a:t>最大优势</a:t>
            </a:r>
            <a:r>
              <a:rPr lang="zh-CN" altLang="en-US" sz="2400" dirty="0">
                <a:solidFill>
                  <a:srgbClr val="FF0000"/>
                </a:solidFill>
              </a:rPr>
              <a:t>：交互性。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及时处理：</a:t>
            </a:r>
            <a:r>
              <a:rPr lang="zh-CN" altLang="en-US" sz="2200" dirty="0"/>
              <a:t>作业直接进入内存，采用轮转运行方式</a:t>
            </a:r>
          </a:p>
        </p:txBody>
      </p:sp>
      <p:sp>
        <p:nvSpPr>
          <p:cNvPr id="3" name="矩形: 圆角 4"/>
          <p:cNvSpPr/>
          <p:nvPr/>
        </p:nvSpPr>
        <p:spPr>
          <a:xfrm>
            <a:off x="669925" y="3376295"/>
            <a:ext cx="2736850" cy="57023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3.</a:t>
            </a:r>
            <a:r>
              <a:rPr lang="zh-CN" altLang="en-US" sz="2400" dirty="0">
                <a:solidFill>
                  <a:schemeClr val="bg1"/>
                </a:solidFill>
              </a:rPr>
              <a:t>分时系统的</a:t>
            </a:r>
            <a:r>
              <a:rPr lang="zh-CN" altLang="en-US" sz="2400" dirty="0">
                <a:solidFill>
                  <a:srgbClr val="FF0000"/>
                </a:solidFill>
              </a:rPr>
              <a:t>特征</a:t>
            </a:r>
          </a:p>
        </p:txBody>
      </p:sp>
      <p:grpSp>
        <p:nvGrpSpPr>
          <p:cNvPr id="11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52475" y="3981285"/>
            <a:ext cx="10864850" cy="2418737"/>
            <a:chOff x="752475" y="1619085"/>
            <a:chExt cx="10864850" cy="2418737"/>
          </a:xfrm>
        </p:grpSpPr>
        <p:sp>
          <p:nvSpPr>
            <p:cNvPr id="17" name="ï$1iḍe"/>
            <p:cNvSpPr txBox="1"/>
            <p:nvPr>
              <p:custDataLst>
                <p:tags r:id="rId2"/>
              </p:custDataLst>
            </p:nvPr>
          </p:nvSpPr>
          <p:spPr>
            <a:xfrm>
              <a:off x="752475" y="204313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多路性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18" name="isľîdê"/>
            <p:cNvSpPr txBox="1"/>
            <p:nvPr/>
          </p:nvSpPr>
          <p:spPr>
            <a:xfrm>
              <a:off x="801370" y="2556421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l">
                <a:lnSpc>
                  <a:spcPct val="120000"/>
                </a:lnSpc>
              </a:pPr>
              <a:r>
                <a:rPr lang="zh-CN" altLang="en-US" sz="2200" dirty="0"/>
                <a:t>允许将多台终端同时连接到一台主机，并分时使用。</a:t>
              </a:r>
              <a:endParaRPr lang="en-US" altLang="zh-CN" sz="2200" dirty="0"/>
            </a:p>
          </p:txBody>
        </p:sp>
        <p:sp>
          <p:nvSpPr>
            <p:cNvPr id="19" name="íṩ1ïḑe"/>
            <p:cNvSpPr txBox="1"/>
            <p:nvPr>
              <p:custDataLst>
                <p:tags r:id="rId3"/>
              </p:custDataLst>
            </p:nvPr>
          </p:nvSpPr>
          <p:spPr>
            <a:xfrm>
              <a:off x="3550565" y="202789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独立性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22" name="ïsḻiďê"/>
            <p:cNvSpPr txBox="1"/>
            <p:nvPr>
              <p:custDataLst>
                <p:tags r:id="rId4"/>
              </p:custDataLst>
            </p:nvPr>
          </p:nvSpPr>
          <p:spPr>
            <a:xfrm>
              <a:off x="6316905" y="2043769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及时性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24" name="isḷiḋé"/>
            <p:cNvSpPr txBox="1"/>
            <p:nvPr>
              <p:custDataLst>
                <p:tags r:id="rId5"/>
              </p:custDataLst>
            </p:nvPr>
          </p:nvSpPr>
          <p:spPr>
            <a:xfrm>
              <a:off x="9083880" y="2059009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交互性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30" name="ísḻiḋé"/>
            <p:cNvSpPr/>
            <p:nvPr>
              <p:custDataLst>
                <p:tags r:id="rId6"/>
              </p:custDataLst>
            </p:nvPr>
          </p:nvSpPr>
          <p:spPr bwMode="auto">
            <a:xfrm>
              <a:off x="1787050" y="16343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31" name="ïṣḷiḑè"/>
            <p:cNvSpPr/>
            <p:nvPr>
              <p:custDataLst>
                <p:tags r:id="rId7"/>
              </p:custDataLst>
            </p:nvPr>
          </p:nvSpPr>
          <p:spPr bwMode="auto">
            <a:xfrm>
              <a:off x="4540744" y="161908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32" name="ïṡļiḑê"/>
            <p:cNvSpPr/>
            <p:nvPr>
              <p:custDataLst>
                <p:tags r:id="rId8"/>
              </p:custDataLst>
            </p:nvPr>
          </p:nvSpPr>
          <p:spPr bwMode="auto">
            <a:xfrm>
              <a:off x="7294438" y="16343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33" name="isḻíḓe"/>
            <p:cNvSpPr/>
            <p:nvPr>
              <p:custDataLst>
                <p:tags r:id="rId9"/>
              </p:custDataLst>
            </p:nvPr>
          </p:nvSpPr>
          <p:spPr bwMode="auto">
            <a:xfrm>
              <a:off x="10048132" y="16343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34" name="isľîdê"/>
            <p:cNvSpPr txBox="1"/>
            <p:nvPr/>
          </p:nvSpPr>
          <p:spPr>
            <a:xfrm>
              <a:off x="3608520" y="2571742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/>
                <a:t>感觉用户独占主机。</a:t>
              </a:r>
            </a:p>
          </p:txBody>
        </p:sp>
        <p:sp>
          <p:nvSpPr>
            <p:cNvPr id="35" name="isľîdê"/>
            <p:cNvSpPr txBox="1"/>
            <p:nvPr/>
          </p:nvSpPr>
          <p:spPr>
            <a:xfrm>
              <a:off x="6317255" y="2560231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l">
                <a:lnSpc>
                  <a:spcPct val="120000"/>
                </a:lnSpc>
              </a:pPr>
              <a:r>
                <a:rPr lang="zh-CN" altLang="en-US" sz="2200" dirty="0"/>
                <a:t>用户的请求能在很短时间内获得响应（</a:t>
              </a:r>
              <a:r>
                <a:rPr lang="en-US" altLang="zh-CN" sz="2200" dirty="0"/>
                <a:t>1~3</a:t>
              </a:r>
              <a:r>
                <a:rPr lang="zh-CN" altLang="en-US" sz="2200" dirty="0"/>
                <a:t>秒）。</a:t>
              </a:r>
            </a:p>
          </p:txBody>
        </p:sp>
        <p:sp>
          <p:nvSpPr>
            <p:cNvPr id="36" name="isľîdê"/>
            <p:cNvSpPr txBox="1"/>
            <p:nvPr/>
          </p:nvSpPr>
          <p:spPr>
            <a:xfrm>
              <a:off x="9083585" y="2576106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l">
                <a:lnSpc>
                  <a:spcPct val="120000"/>
                </a:lnSpc>
              </a:pPr>
              <a:r>
                <a:rPr lang="zh-CN" altLang="en-US" sz="2200" dirty="0"/>
                <a:t>用户可通过终端与系统进行广泛的人机对话。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实时系统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9925" y="1268516"/>
            <a:ext cx="10850563" cy="235383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609600" fontAlgn="auto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lang="zh-CN" altLang="en-US" sz="2400" dirty="0">
                <a:latin typeface="+mn-ea"/>
              </a:rPr>
              <a:t>实时系统：系统能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及时响应</a:t>
            </a:r>
            <a:r>
              <a:rPr lang="zh-CN" altLang="en-US" sz="2400" dirty="0">
                <a:latin typeface="+mn-ea"/>
              </a:rPr>
              <a:t>外部事件的请求，在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规定的时间内</a:t>
            </a:r>
            <a:r>
              <a:rPr lang="zh-CN" altLang="en-US" sz="2400" dirty="0">
                <a:latin typeface="+mn-ea"/>
              </a:rPr>
              <a:t>完成对该事件的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处理</a:t>
            </a:r>
            <a:r>
              <a:rPr lang="zh-CN" altLang="en-US" sz="2400" dirty="0">
                <a:latin typeface="+mn-ea"/>
              </a:rPr>
              <a:t>，并控制所有实时任务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协调</a:t>
            </a:r>
            <a:r>
              <a:rPr lang="zh-CN" altLang="en-US" sz="2400" dirty="0">
                <a:latin typeface="+mn-ea"/>
              </a:rPr>
              <a:t>一致地运行。</a:t>
            </a:r>
            <a:endParaRPr lang="en-US" altLang="zh-CN" sz="2400" dirty="0">
              <a:latin typeface="+mn-ea"/>
            </a:endParaRPr>
          </a:p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最主要的特征：</a:t>
            </a:r>
            <a:r>
              <a:rPr lang="zh-CN" altLang="en-US" sz="2400" dirty="0">
                <a:solidFill>
                  <a:srgbClr val="FF0000"/>
                </a:solidFill>
              </a:rPr>
              <a:t>实时性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实时系统类型：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51773" y="3798192"/>
            <a:ext cx="3946662" cy="129196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工业（武器）控制系统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信息查询系统</a:t>
            </a:r>
          </a:p>
        </p:txBody>
      </p:sp>
      <p:sp>
        <p:nvSpPr>
          <p:cNvPr id="11" name="矩形 10"/>
          <p:cNvSpPr/>
          <p:nvPr/>
        </p:nvSpPr>
        <p:spPr>
          <a:xfrm>
            <a:off x="7900781" y="3703193"/>
            <a:ext cx="2767219" cy="11994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多媒体系统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嵌入式系统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9150" y="377584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9150" y="444882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1100" y="37996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1100" y="444882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实时系统</a:t>
            </a:r>
            <a:r>
              <a:rPr lang="en-US" altLang="zh-CN" sz="2800" b="1" dirty="0">
                <a:solidFill>
                  <a:schemeClr val="bg1"/>
                </a:solidFill>
              </a:rPr>
              <a:t>(2)</a:t>
            </a: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íSľïdé"/>
          <p:cNvSpPr/>
          <p:nvPr/>
        </p:nvSpPr>
        <p:spPr>
          <a:xfrm>
            <a:off x="1906927" y="1467629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7" name="ïŝļíḓê"/>
          <p:cNvSpPr/>
          <p:nvPr/>
        </p:nvSpPr>
        <p:spPr bwMode="auto">
          <a:xfrm>
            <a:off x="8689292" y="2099477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8" name="îṧľîdé"/>
          <p:cNvSpPr/>
          <p:nvPr/>
        </p:nvSpPr>
        <p:spPr>
          <a:xfrm>
            <a:off x="3945450" y="1051726"/>
            <a:ext cx="4034934" cy="2095500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894715" y="2099310"/>
            <a:ext cx="4689475" cy="30841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80"/>
              </a:spcBef>
              <a:buNone/>
              <a:defRPr/>
            </a:pPr>
            <a:r>
              <a:rPr lang="zh-CN" altLang="en-US" sz="2400" dirty="0"/>
              <a:t>实时任务的类型</a:t>
            </a:r>
            <a:endParaRPr lang="en-US" altLang="zh-CN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根据</a:t>
            </a:r>
            <a:r>
              <a:rPr lang="zh-CN" altLang="en-US" sz="2200" dirty="0">
                <a:solidFill>
                  <a:schemeClr val="tx1"/>
                </a:solidFill>
              </a:rPr>
              <a:t>任务执行时是否呈现</a:t>
            </a:r>
            <a:r>
              <a:rPr lang="zh-CN" altLang="en-US" sz="2200" dirty="0">
                <a:solidFill>
                  <a:srgbClr val="0000FF"/>
                </a:solidFill>
              </a:rPr>
              <a:t>周期性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来划分</a:t>
            </a:r>
          </a:p>
          <a:p>
            <a:pPr marL="800100" lvl="2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周期性实时任务、非周期性实时任务</a:t>
            </a: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根据</a:t>
            </a:r>
            <a:r>
              <a:rPr lang="zh-CN" altLang="en-US" sz="2200" dirty="0">
                <a:solidFill>
                  <a:schemeClr val="tx1"/>
                </a:solidFill>
              </a:rPr>
              <a:t>对</a:t>
            </a:r>
            <a:r>
              <a:rPr lang="zh-CN" altLang="en-US" sz="2200" dirty="0">
                <a:solidFill>
                  <a:srgbClr val="0000FF"/>
                </a:solidFill>
              </a:rPr>
              <a:t>截止时间</a:t>
            </a:r>
            <a:r>
              <a:rPr lang="zh-CN" altLang="en-US" sz="2200" dirty="0">
                <a:solidFill>
                  <a:schemeClr val="tx1"/>
                </a:solidFill>
              </a:rPr>
              <a:t>的要求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来划分</a:t>
            </a:r>
          </a:p>
          <a:p>
            <a:pPr marL="800100" lvl="2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硬实时任务、软实时任务</a:t>
            </a:r>
          </a:p>
        </p:txBody>
      </p:sp>
      <p:sp>
        <p:nvSpPr>
          <p:cNvPr id="10" name="内容占位符 2"/>
          <p:cNvSpPr txBox="1"/>
          <p:nvPr/>
        </p:nvSpPr>
        <p:spPr>
          <a:xfrm>
            <a:off x="7696200" y="2777845"/>
            <a:ext cx="4062082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/>
              <a:t>实时系统与分时系统的比较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多路性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独立性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rgbClr val="FF0000"/>
                </a:solidFill>
              </a:rPr>
              <a:t>及时性：时间要求更高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交互性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rgbClr val="FF0000"/>
                </a:solidFill>
              </a:rPr>
              <a:t>可靠性：更可靠处理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微机操作系统的发展</a:t>
            </a:r>
          </a:p>
        </p:txBody>
      </p:sp>
      <p:sp>
        <p:nvSpPr>
          <p:cNvPr id="220" name="íšḻîḋè"/>
          <p:cNvSpPr/>
          <p:nvPr/>
        </p:nvSpPr>
        <p:spPr>
          <a:xfrm>
            <a:off x="2485983" y="3427032"/>
            <a:ext cx="294192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 lnSpcReduction="10000"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Windows 95/98</a:t>
            </a:r>
          </a:p>
        </p:txBody>
      </p:sp>
      <p:sp>
        <p:nvSpPr>
          <p:cNvPr id="221" name="i$lîďê"/>
          <p:cNvSpPr/>
          <p:nvPr/>
        </p:nvSpPr>
        <p:spPr>
          <a:xfrm>
            <a:off x="2485983" y="298658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单用户多任务</a:t>
            </a:r>
            <a:r>
              <a:rPr lang="zh-CN" altLang="en-US" sz="2400" dirty="0"/>
              <a:t>操作系统</a:t>
            </a:r>
            <a:endParaRPr lang="en-US" altLang="zh-CN" sz="2400" dirty="0"/>
          </a:p>
        </p:txBody>
      </p:sp>
      <p:sp>
        <p:nvSpPr>
          <p:cNvPr id="222" name="î$ļíḋè"/>
          <p:cNvSpPr/>
          <p:nvPr/>
        </p:nvSpPr>
        <p:spPr>
          <a:xfrm>
            <a:off x="3169487" y="4884564"/>
            <a:ext cx="225725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pt-BR" altLang="zh-CN" sz="2400" dirty="0"/>
              <a:t>Soaris OS</a:t>
            </a:r>
            <a:r>
              <a:rPr lang="zh-CN" altLang="pt-BR" sz="1600" dirty="0"/>
              <a:t>（基于</a:t>
            </a:r>
            <a:r>
              <a:rPr lang="en-US" altLang="zh-CN" sz="1600" dirty="0"/>
              <a:t>Unit,</a:t>
            </a:r>
            <a:r>
              <a:rPr lang="zh-CN" altLang="en-US" sz="1600" dirty="0"/>
              <a:t>企业级、高性能计算、云计算</a:t>
            </a:r>
            <a:r>
              <a:rPr lang="zh-CN" altLang="pt-BR" sz="1600" dirty="0"/>
              <a:t>）</a:t>
            </a:r>
          </a:p>
        </p:txBody>
      </p:sp>
      <p:sp>
        <p:nvSpPr>
          <p:cNvPr id="223" name="ïṧḷïḋè"/>
          <p:cNvSpPr/>
          <p:nvPr/>
        </p:nvSpPr>
        <p:spPr>
          <a:xfrm>
            <a:off x="3169487" y="4371789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多用户多任务</a:t>
            </a:r>
            <a:r>
              <a:rPr lang="zh-CN" altLang="en-US" sz="2400" dirty="0"/>
              <a:t>操作系统</a:t>
            </a:r>
            <a:endParaRPr lang="en-US" altLang="zh-CN" sz="2400" dirty="0"/>
          </a:p>
        </p:txBody>
      </p:sp>
      <p:sp>
        <p:nvSpPr>
          <p:cNvPr id="224" name="îs1iďé"/>
          <p:cNvSpPr/>
          <p:nvPr/>
        </p:nvSpPr>
        <p:spPr>
          <a:xfrm>
            <a:off x="1802481" y="2115747"/>
            <a:ext cx="294192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 lnSpcReduction="10000"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CP/M</a:t>
            </a:r>
            <a:r>
              <a:rPr lang="zh-CN" altLang="en-US" sz="2400" dirty="0"/>
              <a:t>，</a:t>
            </a:r>
            <a:r>
              <a:rPr lang="en-US" altLang="zh-CN" sz="2400" dirty="0"/>
              <a:t>MS-DOS</a:t>
            </a:r>
          </a:p>
        </p:txBody>
      </p:sp>
      <p:sp>
        <p:nvSpPr>
          <p:cNvPr id="225" name="íšḻíḑê"/>
          <p:cNvSpPr/>
          <p:nvPr/>
        </p:nvSpPr>
        <p:spPr>
          <a:xfrm>
            <a:off x="1802481" y="1699200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单用户单任务</a:t>
            </a:r>
            <a:r>
              <a:rPr lang="zh-CN" altLang="en-US" sz="2400" dirty="0"/>
              <a:t>操作系统</a:t>
            </a:r>
            <a:endParaRPr lang="en-US" altLang="zh-CN" sz="2400" dirty="0"/>
          </a:p>
        </p:txBody>
      </p:sp>
      <p:sp>
        <p:nvSpPr>
          <p:cNvPr id="226" name="îSļiḓè"/>
          <p:cNvSpPr/>
          <p:nvPr/>
        </p:nvSpPr>
        <p:spPr>
          <a:xfrm>
            <a:off x="1118978" y="1685638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7" name="íṥḻîḓe"/>
          <p:cNvSpPr/>
          <p:nvPr/>
        </p:nvSpPr>
        <p:spPr>
          <a:xfrm>
            <a:off x="2485983" y="4289187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8" name="îşļiḓè"/>
          <p:cNvSpPr/>
          <p:nvPr/>
        </p:nvSpPr>
        <p:spPr>
          <a:xfrm>
            <a:off x="1802481" y="2976211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9" name="îṡḷíďe"/>
          <p:cNvSpPr/>
          <p:nvPr/>
        </p:nvSpPr>
        <p:spPr>
          <a:xfrm>
            <a:off x="1309233" y="1881776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0" name="íSlíḋe"/>
          <p:cNvSpPr/>
          <p:nvPr/>
        </p:nvSpPr>
        <p:spPr>
          <a:xfrm>
            <a:off x="1992735" y="3198228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1" name="ïśḷïḓe"/>
          <p:cNvSpPr/>
          <p:nvPr/>
        </p:nvSpPr>
        <p:spPr>
          <a:xfrm>
            <a:off x="2705176" y="4478647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6" name="î$ļíḋè"/>
          <p:cNvSpPr/>
          <p:nvPr/>
        </p:nvSpPr>
        <p:spPr>
          <a:xfrm>
            <a:off x="5230106" y="4884564"/>
            <a:ext cx="200634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pt-BR" altLang="zh-CN" sz="2400" dirty="0"/>
              <a:t>Linux OS</a:t>
            </a:r>
            <a:r>
              <a:rPr lang="zh-CN" altLang="pt-BR" sz="1600" dirty="0"/>
              <a:t>（类</a:t>
            </a:r>
            <a:r>
              <a:rPr lang="en-US" altLang="zh-CN" sz="1600" dirty="0">
                <a:sym typeface="+mn-ea"/>
              </a:rPr>
              <a:t>Unit,</a:t>
            </a:r>
            <a:r>
              <a:rPr lang="zh-CN" altLang="pt-BR" sz="1600" dirty="0"/>
              <a:t>开源、灵活、广泛应用。星星之火可以燎原）</a:t>
            </a:r>
          </a:p>
        </p:txBody>
      </p:sp>
      <p:sp>
        <p:nvSpPr>
          <p:cNvPr id="237" name="î$ļíḋè"/>
          <p:cNvSpPr/>
          <p:nvPr/>
        </p:nvSpPr>
        <p:spPr>
          <a:xfrm>
            <a:off x="7290725" y="4917054"/>
            <a:ext cx="2006347" cy="4914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pt-BR" altLang="zh-CN" sz="2400" dirty="0"/>
              <a:t>Windows</a:t>
            </a:r>
            <a:r>
              <a:rPr lang="en-US" altLang="pt-BR" sz="1600" dirty="0"/>
              <a:t>(</a:t>
            </a:r>
            <a:r>
              <a:rPr lang="en-US" altLang="zh-CN" sz="1600" dirty="0">
                <a:sym typeface="+mn-ea"/>
              </a:rPr>
              <a:t>DOS</a:t>
            </a:r>
            <a:r>
              <a:rPr lang="zh-CN" altLang="en-US" sz="1600" dirty="0">
                <a:sym typeface="+mn-ea"/>
              </a:rPr>
              <a:t>起步，典型</a:t>
            </a:r>
            <a:r>
              <a:rPr lang="en-US" altLang="zh-CN" sz="1600" dirty="0">
                <a:sym typeface="+mn-ea"/>
              </a:rPr>
              <a:t>95-98-2000-xp-7-11</a:t>
            </a:r>
            <a:r>
              <a:rPr lang="en-US" altLang="pt-BR" sz="1600" dirty="0"/>
              <a:t>)</a:t>
            </a:r>
          </a:p>
        </p:txBody>
      </p:sp>
      <p:sp>
        <p:nvSpPr>
          <p:cNvPr id="238" name="î$ļíḋè"/>
          <p:cNvSpPr/>
          <p:nvPr/>
        </p:nvSpPr>
        <p:spPr>
          <a:xfrm>
            <a:off x="9351343" y="4917054"/>
            <a:ext cx="2012073" cy="4914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pt-BR" altLang="zh-CN" sz="2400" dirty="0"/>
              <a:t>NT/Serve</a:t>
            </a:r>
            <a:r>
              <a:rPr lang="zh-CN" altLang="pt-BR" sz="1600" dirty="0"/>
              <a:t>（</a:t>
            </a:r>
            <a:r>
              <a:rPr lang="en-US" altLang="zh-CN" sz="1600" dirty="0"/>
              <a:t>32</a:t>
            </a:r>
            <a:r>
              <a:rPr lang="zh-CN" altLang="en-US" sz="1600" dirty="0"/>
              <a:t>位、多重引导多</a:t>
            </a:r>
            <a:r>
              <a:rPr lang="en-US" altLang="zh-CN" sz="1600" dirty="0"/>
              <a:t>os</a:t>
            </a:r>
            <a:r>
              <a:rPr lang="zh-CN" altLang="en-US" sz="1600" dirty="0"/>
              <a:t>、多核处理器）（</a:t>
            </a:r>
            <a:r>
              <a:rPr lang="zh-CN" altLang="pt-BR" sz="1600" dirty="0"/>
              <a:t>服务器操作系统）</a:t>
            </a:r>
            <a:endParaRPr lang="pt-BR" altLang="zh-CN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嵌入式操作系统</a:t>
            </a:r>
          </a:p>
        </p:txBody>
      </p:sp>
      <p:grpSp>
        <p:nvGrpSpPr>
          <p:cNvPr id="571" name="iṡļiḓe"/>
          <p:cNvGrpSpPr/>
          <p:nvPr/>
        </p:nvGrpSpPr>
        <p:grpSpPr>
          <a:xfrm>
            <a:off x="660400" y="1298467"/>
            <a:ext cx="10655832" cy="2333571"/>
            <a:chOff x="660400" y="1787149"/>
            <a:chExt cx="10655832" cy="2333571"/>
          </a:xfrm>
        </p:grpSpPr>
        <p:grpSp>
          <p:nvGrpSpPr>
            <p:cNvPr id="1144" name="iSḻíḓè"/>
            <p:cNvGrpSpPr/>
            <p:nvPr/>
          </p:nvGrpSpPr>
          <p:grpSpPr>
            <a:xfrm>
              <a:off x="1296567" y="1835355"/>
              <a:ext cx="10019665" cy="2285365"/>
              <a:chOff x="1296567" y="1835355"/>
              <a:chExt cx="12637307" cy="2285365"/>
            </a:xfrm>
          </p:grpSpPr>
          <p:sp>
            <p:nvSpPr>
              <p:cNvPr id="1148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>
                    <a:solidFill>
                      <a:srgbClr val="0000FF"/>
                    </a:solidFill>
                  </a:rPr>
                  <a:t>嵌入式系统</a:t>
                </a:r>
              </a:p>
            </p:txBody>
          </p:sp>
          <p:sp>
            <p:nvSpPr>
              <p:cNvPr id="1149" name="íşļîḓé"/>
              <p:cNvSpPr/>
              <p:nvPr/>
            </p:nvSpPr>
            <p:spPr bwMode="auto">
              <a:xfrm>
                <a:off x="1296567" y="2279220"/>
                <a:ext cx="12637307" cy="184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为了完成某个特定功能而设计的系统，或是有附加机制的系统，或是其他部分的计算机硬件与软件的结合体。</a:t>
                </a: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有实时限制，如响应速度、测量精度、持续时间等。</a:t>
                </a:r>
              </a:p>
            </p:txBody>
          </p:sp>
        </p:grpSp>
        <p:grpSp>
          <p:nvGrpSpPr>
            <p:cNvPr id="1145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146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47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72" name="iŝļïḓê"/>
          <p:cNvGrpSpPr/>
          <p:nvPr/>
        </p:nvGrpSpPr>
        <p:grpSpPr>
          <a:xfrm>
            <a:off x="660400" y="3644155"/>
            <a:ext cx="10940947" cy="2317750"/>
            <a:chOff x="660400" y="2092935"/>
            <a:chExt cx="10940947" cy="2317750"/>
          </a:xfrm>
        </p:grpSpPr>
        <p:grpSp>
          <p:nvGrpSpPr>
            <p:cNvPr id="574" name="ïṧļïḓe"/>
            <p:cNvGrpSpPr/>
            <p:nvPr/>
          </p:nvGrpSpPr>
          <p:grpSpPr>
            <a:xfrm>
              <a:off x="1296567" y="2092935"/>
              <a:ext cx="10304780" cy="2317750"/>
              <a:chOff x="1296567" y="2092935"/>
              <a:chExt cx="12996904" cy="2317750"/>
            </a:xfrm>
          </p:grpSpPr>
          <p:sp>
            <p:nvSpPr>
              <p:cNvPr id="1142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嵌入式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OS</a:t>
                </a:r>
                <a:r>
                  <a:rPr lang="zh-CN" altLang="en-US" sz="2400" dirty="0"/>
                  <a:t>：用于嵌入式系统的</a:t>
                </a:r>
                <a:r>
                  <a:rPr lang="en-US" altLang="zh-CN" sz="2400" dirty="0"/>
                  <a:t>OS</a:t>
                </a:r>
              </a:p>
            </p:txBody>
          </p:sp>
          <p:sp>
            <p:nvSpPr>
              <p:cNvPr id="1143" name="íşľíḑè"/>
              <p:cNvSpPr/>
              <p:nvPr/>
            </p:nvSpPr>
            <p:spPr bwMode="auto">
              <a:xfrm>
                <a:off x="1297368" y="2588235"/>
                <a:ext cx="12996103" cy="1124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µC/OS-II</a:t>
                </a:r>
                <a:r>
                  <a:rPr lang="zh-CN" altLang="en-US" sz="2400" dirty="0"/>
                  <a:t>、嵌入式</a:t>
                </a:r>
                <a:r>
                  <a:rPr lang="en-US" altLang="zh-CN" sz="2400" dirty="0"/>
                  <a:t>Linux</a:t>
                </a:r>
                <a:r>
                  <a:rPr lang="zh-CN" altLang="en-US" sz="2400" dirty="0"/>
                  <a:t>、</a:t>
                </a:r>
                <a:r>
                  <a:rPr lang="en-US" altLang="zh-CN" sz="2400" dirty="0"/>
                  <a:t>Windows Embedded</a:t>
                </a:r>
                <a:r>
                  <a:rPr lang="zh-CN" altLang="en-US" sz="2400" dirty="0"/>
                  <a:t>、</a:t>
                </a:r>
                <a:r>
                  <a:rPr lang="en-US" altLang="zh-CN" sz="2400" dirty="0" err="1"/>
                  <a:t>VxWorks</a:t>
                </a:r>
                <a:r>
                  <a:rPr lang="zh-CN" altLang="en-US" sz="2400" dirty="0"/>
                  <a:t>、</a:t>
                </a:r>
                <a:r>
                  <a:rPr lang="en-US" altLang="zh-CN" sz="2400" dirty="0"/>
                  <a:t>Android</a:t>
                </a:r>
                <a:r>
                  <a:rPr lang="zh-CN" altLang="en-US" sz="2400" dirty="0"/>
                  <a:t>、</a:t>
                </a:r>
                <a:r>
                  <a:rPr lang="en-US" altLang="zh-CN" sz="2400" dirty="0"/>
                  <a:t>iOS</a:t>
                </a:r>
                <a:r>
                  <a:rPr lang="zh-CN" altLang="en-US" sz="2400" dirty="0"/>
                  <a:t>等</a:t>
                </a:r>
                <a:endParaRPr lang="en-US" altLang="zh-CN" sz="2400" dirty="0"/>
              </a:p>
              <a:p>
                <a:pPr marL="342900" lvl="1" indent="-342900">
                  <a:lnSpc>
                    <a:spcPct val="132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特点：</a:t>
                </a:r>
                <a:endParaRPr lang="zh-CN" altLang="en-US" sz="2000" dirty="0"/>
              </a:p>
            </p:txBody>
          </p:sp>
          <p:sp>
            <p:nvSpPr>
              <p:cNvPr id="1150" name="íşľíḑè"/>
              <p:cNvSpPr/>
              <p:nvPr/>
            </p:nvSpPr>
            <p:spPr bwMode="auto">
              <a:xfrm>
                <a:off x="3135419" y="3388335"/>
                <a:ext cx="3123486" cy="871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800100" lvl="2" indent="-342900">
                  <a:lnSpc>
                    <a:spcPct val="132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系统精简</a:t>
                </a:r>
              </a:p>
              <a:p>
                <a:pPr marL="800100" lvl="2" indent="-342900">
                  <a:lnSpc>
                    <a:spcPct val="132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高实时性</a:t>
                </a:r>
              </a:p>
            </p:txBody>
          </p:sp>
          <p:sp>
            <p:nvSpPr>
              <p:cNvPr id="1151" name="íşľíḑè"/>
              <p:cNvSpPr/>
              <p:nvPr/>
            </p:nvSpPr>
            <p:spPr bwMode="auto">
              <a:xfrm>
                <a:off x="9684327" y="3388335"/>
                <a:ext cx="3415011" cy="551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800100" lvl="2" indent="-342900">
                  <a:lnSpc>
                    <a:spcPct val="132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具有可配置性</a:t>
                </a:r>
              </a:p>
              <a:p>
                <a:pPr marL="342900" lvl="1" indent="-342900"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</p:txBody>
          </p:sp>
          <p:sp>
            <p:nvSpPr>
              <p:cNvPr id="1152" name="íşľíḑè"/>
              <p:cNvSpPr/>
              <p:nvPr/>
            </p:nvSpPr>
            <p:spPr bwMode="auto">
              <a:xfrm>
                <a:off x="6499173" y="3388335"/>
                <a:ext cx="3425423" cy="1022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800100" lvl="2" indent="-342900">
                  <a:lnSpc>
                    <a:spcPct val="132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高实时性</a:t>
                </a:r>
              </a:p>
              <a:p>
                <a:pPr marL="800100" lvl="2" indent="-342900">
                  <a:lnSpc>
                    <a:spcPct val="132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系统内核小</a:t>
                </a:r>
              </a:p>
            </p:txBody>
          </p:sp>
        </p:grpSp>
        <p:grpSp>
          <p:nvGrpSpPr>
            <p:cNvPr id="1139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140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41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网络操作系统</a:t>
            </a:r>
          </a:p>
        </p:txBody>
      </p:sp>
      <p:sp>
        <p:nvSpPr>
          <p:cNvPr id="220" name="íšḻîḋè"/>
          <p:cNvSpPr/>
          <p:nvPr/>
        </p:nvSpPr>
        <p:spPr>
          <a:xfrm>
            <a:off x="1476969" y="4028763"/>
            <a:ext cx="2224360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硬件独立性</a:t>
            </a:r>
          </a:p>
        </p:txBody>
      </p:sp>
      <p:sp>
        <p:nvSpPr>
          <p:cNvPr id="221" name="i$lîďê"/>
          <p:cNvSpPr/>
          <p:nvPr/>
        </p:nvSpPr>
        <p:spPr>
          <a:xfrm>
            <a:off x="1532604" y="349859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网络</a:t>
            </a:r>
            <a:r>
              <a:rPr lang="en-US" altLang="zh-CN" sz="2400" dirty="0"/>
              <a:t>OS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特征</a:t>
            </a:r>
            <a:r>
              <a:rPr lang="zh-CN" altLang="en-US" sz="2400" dirty="0"/>
              <a:t>：</a:t>
            </a:r>
          </a:p>
        </p:txBody>
      </p:sp>
      <p:sp>
        <p:nvSpPr>
          <p:cNvPr id="222" name="î$ļíḋè"/>
          <p:cNvSpPr/>
          <p:nvPr/>
        </p:nvSpPr>
        <p:spPr>
          <a:xfrm>
            <a:off x="1532606" y="5340208"/>
            <a:ext cx="5459358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数据通信、应用互操作、网络管理</a:t>
            </a:r>
          </a:p>
        </p:txBody>
      </p:sp>
      <p:sp>
        <p:nvSpPr>
          <p:cNvPr id="223" name="ïṧḷïḋè"/>
          <p:cNvSpPr/>
          <p:nvPr/>
        </p:nvSpPr>
        <p:spPr>
          <a:xfrm>
            <a:off x="1532606" y="4827433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网络</a:t>
            </a:r>
            <a:r>
              <a:rPr lang="en-US" altLang="zh-CN" sz="2400" dirty="0"/>
              <a:t>OS</a:t>
            </a:r>
            <a:r>
              <a:rPr lang="zh-CN" altLang="en-US" sz="2400" dirty="0"/>
              <a:t>的功能：</a:t>
            </a:r>
          </a:p>
        </p:txBody>
      </p:sp>
      <p:sp>
        <p:nvSpPr>
          <p:cNvPr id="224" name="îs1iďé"/>
          <p:cNvSpPr/>
          <p:nvPr/>
        </p:nvSpPr>
        <p:spPr>
          <a:xfrm>
            <a:off x="1551940" y="1628775"/>
            <a:ext cx="10043795" cy="14903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在计算机网络环境下对网络资源进行管理和控制，实现数据通信及对网络资源的共享，为用户提供与网络资源接口的一组软件和规程的集合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UNIX</a:t>
            </a:r>
            <a:r>
              <a:rPr lang="zh-CN" altLang="en-US" sz="2400" dirty="0"/>
              <a:t>、</a:t>
            </a:r>
            <a:r>
              <a:rPr lang="en-US" altLang="zh-CN" sz="2400" dirty="0"/>
              <a:t>Linux</a:t>
            </a:r>
            <a:r>
              <a:rPr lang="zh-CN" altLang="en-US" sz="2400" dirty="0"/>
              <a:t>、</a:t>
            </a:r>
            <a:r>
              <a:rPr lang="en-US" altLang="zh-CN" sz="2400" dirty="0"/>
              <a:t>Window NT/2000/Server</a:t>
            </a:r>
          </a:p>
        </p:txBody>
      </p:sp>
      <p:sp>
        <p:nvSpPr>
          <p:cNvPr id="225" name="íšḻíḑê"/>
          <p:cNvSpPr/>
          <p:nvPr/>
        </p:nvSpPr>
        <p:spPr>
          <a:xfrm>
            <a:off x="1532605" y="127011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网络</a:t>
            </a:r>
            <a:r>
              <a:rPr lang="en-US" altLang="zh-CN" sz="2400" dirty="0"/>
              <a:t>OS</a:t>
            </a:r>
            <a:r>
              <a:rPr lang="zh-CN" altLang="en-US" sz="2400" dirty="0"/>
              <a:t>的概念：</a:t>
            </a:r>
          </a:p>
        </p:txBody>
      </p:sp>
      <p:sp>
        <p:nvSpPr>
          <p:cNvPr id="226" name="îSļiḓè"/>
          <p:cNvSpPr/>
          <p:nvPr/>
        </p:nvSpPr>
        <p:spPr>
          <a:xfrm>
            <a:off x="849102" y="125655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7" name="íṥḻîḓe"/>
          <p:cNvSpPr/>
          <p:nvPr/>
        </p:nvSpPr>
        <p:spPr>
          <a:xfrm>
            <a:off x="849102" y="474483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8" name="îşļiḓè"/>
          <p:cNvSpPr/>
          <p:nvPr/>
        </p:nvSpPr>
        <p:spPr>
          <a:xfrm>
            <a:off x="849102" y="339806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9" name="îṡḷíďe"/>
          <p:cNvSpPr/>
          <p:nvPr/>
        </p:nvSpPr>
        <p:spPr>
          <a:xfrm>
            <a:off x="1039357" y="145269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0" name="íSlíḋe"/>
          <p:cNvSpPr/>
          <p:nvPr/>
        </p:nvSpPr>
        <p:spPr>
          <a:xfrm>
            <a:off x="1039356" y="362008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1" name="ïśḷïḓe"/>
          <p:cNvSpPr/>
          <p:nvPr/>
        </p:nvSpPr>
        <p:spPr>
          <a:xfrm>
            <a:off x="1068295" y="4934291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" name="íšḻîḋè"/>
          <p:cNvSpPr/>
          <p:nvPr/>
        </p:nvSpPr>
        <p:spPr>
          <a:xfrm>
            <a:off x="3386034" y="4054953"/>
            <a:ext cx="2224360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接口一致性</a:t>
            </a:r>
          </a:p>
        </p:txBody>
      </p:sp>
      <p:sp>
        <p:nvSpPr>
          <p:cNvPr id="19" name="íšḻîḋè"/>
          <p:cNvSpPr/>
          <p:nvPr/>
        </p:nvSpPr>
        <p:spPr>
          <a:xfrm>
            <a:off x="5295099" y="4065326"/>
            <a:ext cx="2224360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资源透明性</a:t>
            </a:r>
          </a:p>
        </p:txBody>
      </p:sp>
      <p:sp>
        <p:nvSpPr>
          <p:cNvPr id="21" name="íšḻîḋè"/>
          <p:cNvSpPr/>
          <p:nvPr/>
        </p:nvSpPr>
        <p:spPr>
          <a:xfrm>
            <a:off x="7204164" y="4073467"/>
            <a:ext cx="2224360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系统可靠性</a:t>
            </a:r>
          </a:p>
        </p:txBody>
      </p:sp>
      <p:sp>
        <p:nvSpPr>
          <p:cNvPr id="22" name="íšḻîḋè"/>
          <p:cNvSpPr/>
          <p:nvPr/>
        </p:nvSpPr>
        <p:spPr>
          <a:xfrm>
            <a:off x="9113227" y="4056377"/>
            <a:ext cx="2224360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执行并行性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分布式操作系统</a:t>
            </a:r>
          </a:p>
        </p:txBody>
      </p:sp>
      <p:sp>
        <p:nvSpPr>
          <p:cNvPr id="220" name="íšḻîḋè"/>
          <p:cNvSpPr/>
          <p:nvPr/>
        </p:nvSpPr>
        <p:spPr>
          <a:xfrm>
            <a:off x="1746844" y="3455596"/>
            <a:ext cx="8388829" cy="93313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定义：配置在分布式系统上的公用</a:t>
            </a:r>
            <a:r>
              <a:rPr lang="en-US" altLang="zh-CN" sz="2200" dirty="0"/>
              <a:t>OS</a:t>
            </a:r>
            <a:r>
              <a:rPr lang="zh-CN" altLang="en-US" sz="2200" dirty="0"/>
              <a:t>。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例子：万维网、鸿蒙</a:t>
            </a:r>
            <a:r>
              <a:rPr lang="en-US" altLang="zh-CN" sz="2200" dirty="0"/>
              <a:t>OS</a:t>
            </a:r>
            <a:r>
              <a:rPr lang="zh-CN" altLang="en-US" sz="2200" dirty="0"/>
              <a:t>。</a:t>
            </a:r>
          </a:p>
        </p:txBody>
      </p:sp>
      <p:sp>
        <p:nvSpPr>
          <p:cNvPr id="221" name="i$lîďê"/>
          <p:cNvSpPr/>
          <p:nvPr/>
        </p:nvSpPr>
        <p:spPr>
          <a:xfrm>
            <a:off x="1802479" y="3004470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分布式</a:t>
            </a:r>
            <a:r>
              <a:rPr lang="en-US" altLang="zh-CN" sz="2400" dirty="0">
                <a:solidFill>
                  <a:srgbClr val="0000FF"/>
                </a:solidFill>
              </a:rPr>
              <a:t>OS</a:t>
            </a:r>
          </a:p>
        </p:txBody>
      </p:sp>
      <p:sp>
        <p:nvSpPr>
          <p:cNvPr id="222" name="î$ļíḋè"/>
          <p:cNvSpPr/>
          <p:nvPr/>
        </p:nvSpPr>
        <p:spPr>
          <a:xfrm>
            <a:off x="1802479" y="4890080"/>
            <a:ext cx="9730290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单处理机</a:t>
            </a:r>
            <a:r>
              <a:rPr lang="en-US" altLang="zh-CN" sz="2200" dirty="0"/>
              <a:t>OS</a:t>
            </a:r>
            <a:r>
              <a:rPr lang="zh-CN" altLang="en-US" sz="2200" dirty="0"/>
              <a:t>的主要功能；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网络</a:t>
            </a:r>
            <a:r>
              <a:rPr lang="en-US" altLang="zh-CN" sz="2200" dirty="0"/>
              <a:t>OS</a:t>
            </a:r>
            <a:r>
              <a:rPr lang="zh-CN" altLang="en-US" sz="2200" dirty="0"/>
              <a:t>所拥有的全部功能；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还包括：通信管理功能、资源管理功能、进程管理功能。</a:t>
            </a:r>
          </a:p>
        </p:txBody>
      </p:sp>
      <p:sp>
        <p:nvSpPr>
          <p:cNvPr id="223" name="ïṧḷïḋè"/>
          <p:cNvSpPr/>
          <p:nvPr/>
        </p:nvSpPr>
        <p:spPr>
          <a:xfrm>
            <a:off x="1802481" y="4474978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分布式</a:t>
            </a:r>
            <a:r>
              <a:rPr lang="en-US" altLang="zh-CN" sz="2400" dirty="0">
                <a:solidFill>
                  <a:srgbClr val="0000FF"/>
                </a:solidFill>
              </a:rPr>
              <a:t>OS</a:t>
            </a:r>
            <a:r>
              <a:rPr lang="zh-CN" altLang="en-US" sz="2400" dirty="0">
                <a:solidFill>
                  <a:srgbClr val="0000FF"/>
                </a:solidFill>
              </a:rPr>
              <a:t>的功能</a:t>
            </a:r>
          </a:p>
        </p:txBody>
      </p:sp>
      <p:sp>
        <p:nvSpPr>
          <p:cNvPr id="224" name="îs1iďé"/>
          <p:cNvSpPr/>
          <p:nvPr/>
        </p:nvSpPr>
        <p:spPr>
          <a:xfrm>
            <a:off x="1821535" y="1515457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定义：基于软件实现的一种多处理机系统，是多个处理机通过通信线路互连而构成的松耦合系统。基于网络。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特征：分布性、透明性、同一性、全局性。</a:t>
            </a:r>
          </a:p>
        </p:txBody>
      </p:sp>
      <p:sp>
        <p:nvSpPr>
          <p:cNvPr id="225" name="íšḻíḑê"/>
          <p:cNvSpPr/>
          <p:nvPr/>
        </p:nvSpPr>
        <p:spPr>
          <a:xfrm>
            <a:off x="1802480" y="111084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分布式系统</a:t>
            </a:r>
          </a:p>
        </p:txBody>
      </p:sp>
      <p:sp>
        <p:nvSpPr>
          <p:cNvPr id="226" name="îSļiḓè"/>
          <p:cNvSpPr/>
          <p:nvPr/>
        </p:nvSpPr>
        <p:spPr>
          <a:xfrm>
            <a:off x="1118977" y="109728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7" name="íṥḻîḓe"/>
          <p:cNvSpPr/>
          <p:nvPr/>
        </p:nvSpPr>
        <p:spPr>
          <a:xfrm>
            <a:off x="1118977" y="443101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8" name="îşļiḓè"/>
          <p:cNvSpPr/>
          <p:nvPr/>
        </p:nvSpPr>
        <p:spPr>
          <a:xfrm>
            <a:off x="1118977" y="295546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29" name="îṡḷíďe"/>
          <p:cNvSpPr/>
          <p:nvPr/>
        </p:nvSpPr>
        <p:spPr>
          <a:xfrm>
            <a:off x="1309232" y="129342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0" name="íSlíḋe"/>
          <p:cNvSpPr/>
          <p:nvPr/>
        </p:nvSpPr>
        <p:spPr>
          <a:xfrm>
            <a:off x="1309231" y="3177477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1" name="ïśḷïḓe"/>
          <p:cNvSpPr/>
          <p:nvPr/>
        </p:nvSpPr>
        <p:spPr>
          <a:xfrm>
            <a:off x="1338170" y="4620473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9860" y="753745"/>
            <a:ext cx="916686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问题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：操作系统的概念</a:t>
            </a:r>
            <a:r>
              <a:rPr lang="zh-CN" altLang="en-US" sz="2800" dirty="0">
                <a:sym typeface="+mn-ea"/>
              </a:rPr>
              <a:t>？</a:t>
            </a:r>
            <a:endParaRPr lang="zh-CN" altLang="en-US" sz="2800" dirty="0"/>
          </a:p>
          <a:p>
            <a:pPr indent="0" fontAlgn="auto">
              <a:lnSpc>
                <a:spcPct val="150000"/>
              </a:lnSpc>
            </a:pPr>
            <a:r>
              <a:rPr lang="en-US" altLang="zh-CN" sz="2800" dirty="0">
                <a:sym typeface="+mn-ea"/>
              </a:rPr>
              <a:t>       OS</a:t>
            </a:r>
            <a:r>
              <a:rPr lang="zh-CN" altLang="en-US" sz="2800" dirty="0">
                <a:sym typeface="+mn-ea"/>
              </a:rPr>
              <a:t>是一组能有效地组织和管理计算机硬件和软件资源，合理地对各类作业进行调度，以及方便用户使用的程序的集合。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5C"/>
                </a:solidFill>
                <a:latin typeface="+mj-ea"/>
                <a:ea typeface="+mj-ea"/>
              </a:rPr>
              <a:t>1.1 </a:t>
            </a:r>
            <a:r>
              <a:rPr lang="zh-CN" altLang="en-US" sz="2400" dirty="0">
                <a:solidFill>
                  <a:srgbClr val="00005C"/>
                </a:solidFill>
                <a:latin typeface="+mj-ea"/>
                <a:ea typeface="+mj-ea"/>
              </a:rPr>
              <a:t>操作系统的目标和作用</a:t>
            </a:r>
            <a:endParaRPr lang="en-US" altLang="zh-CN" sz="2400" dirty="0">
              <a:solidFill>
                <a:srgbClr val="00005C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1.2 </a:t>
            </a:r>
            <a:r>
              <a:rPr lang="zh-CN" altLang="en-US" sz="2400" dirty="0">
                <a:latin typeface="+mj-ea"/>
              </a:rPr>
              <a:t>操作系统的发展过程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1.3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操作系统的基本特征</a:t>
            </a:r>
            <a:endParaRPr lang="en-US" altLang="zh-CN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4889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1.4 </a:t>
            </a:r>
            <a:r>
              <a:rPr lang="zh-CN" altLang="en-US" sz="2400" dirty="0">
                <a:latin typeface="+mj-ea"/>
              </a:rPr>
              <a:t>操作系统的运行环境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1.5 </a:t>
            </a:r>
            <a:r>
              <a:rPr lang="zh-CN" altLang="en-US" sz="2400" dirty="0">
                <a:latin typeface="+mj-ea"/>
              </a:rPr>
              <a:t>操作系统的主要功能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1.6 </a:t>
            </a:r>
            <a:r>
              <a:rPr lang="zh-CN" altLang="en-US" sz="2400" dirty="0">
                <a:latin typeface="+mj-ea"/>
              </a:rPr>
              <a:t>操作系统的结构设计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25874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1.7 </a:t>
            </a:r>
            <a:r>
              <a:rPr lang="zh-CN" altLang="en-US" sz="2400" dirty="0">
                <a:latin typeface="+mj-ea"/>
              </a:rPr>
              <a:t>系统调用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2627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1</a:t>
            </a:r>
            <a:r>
              <a:rPr lang="zh-CN" altLang="en-US" sz="3600" dirty="0">
                <a:solidFill>
                  <a:srgbClr val="000000"/>
                </a:solidFill>
              </a:rPr>
              <a:t>章 操作系统引论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73530" y="10490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+mj-ea"/>
                <a:sym typeface="+mn-ea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sym typeface="+mn-ea"/>
              </a:rPr>
              <a:t>1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sym typeface="+mn-ea"/>
              </a:rPr>
              <a:t>：操作系统的基本特征。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操作系统的基本特征</a:t>
            </a:r>
          </a:p>
        </p:txBody>
      </p:sp>
      <p:grpSp>
        <p:nvGrpSpPr>
          <p:cNvPr id="58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61010" y="1210310"/>
            <a:ext cx="11624941" cy="2994660"/>
            <a:chOff x="738159" y="1489497"/>
            <a:chExt cx="11336732" cy="2994660"/>
          </a:xfrm>
        </p:grpSpPr>
        <p:sp>
          <p:nvSpPr>
            <p:cNvPr id="64" name="ï$1iḍe"/>
            <p:cNvSpPr txBox="1"/>
            <p:nvPr/>
          </p:nvSpPr>
          <p:spPr>
            <a:xfrm>
              <a:off x="738159" y="1491721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/>
              <a:r>
                <a:rPr lang="zh-CN" altLang="en-US" sz="2200" b="1" dirty="0">
                  <a:solidFill>
                    <a:srgbClr val="FF0000"/>
                  </a:solidFill>
                </a:rPr>
                <a:t>并发</a:t>
              </a:r>
              <a:r>
                <a:rPr lang="en-US" altLang="zh-CN" sz="2200" b="1" dirty="0"/>
                <a:t>(Concurrence)</a:t>
              </a:r>
            </a:p>
          </p:txBody>
        </p:sp>
        <p:sp>
          <p:nvSpPr>
            <p:cNvPr id="65" name="isľîdê"/>
            <p:cNvSpPr txBox="1"/>
            <p:nvPr>
              <p:custDataLst>
                <p:tags r:id="rId2"/>
              </p:custDataLst>
            </p:nvPr>
          </p:nvSpPr>
          <p:spPr>
            <a:xfrm>
              <a:off x="753399" y="2187362"/>
              <a:ext cx="2645410" cy="2296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并行性：两个或多个事件在同一时刻发生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并发性：两个或多个事件在同一时间间隔内发生（</a:t>
              </a:r>
              <a:r>
                <a:rPr lang="zh-CN" altLang="en-US" sz="2000" dirty="0">
                  <a:solidFill>
                    <a:srgbClr val="FF0000"/>
                  </a:solidFill>
                </a:rPr>
                <a:t>宏观</a:t>
              </a:r>
              <a:r>
                <a:rPr lang="zh-CN" altLang="en-US" sz="2000" dirty="0"/>
                <a:t>）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引入进程（任务）：动态、并发</a:t>
              </a:r>
            </a:p>
          </p:txBody>
        </p:sp>
        <p:sp>
          <p:nvSpPr>
            <p:cNvPr id="66" name="íṩ1ïḑe"/>
            <p:cNvSpPr txBox="1"/>
            <p:nvPr>
              <p:custDataLst>
                <p:tags r:id="rId3"/>
              </p:custDataLst>
            </p:nvPr>
          </p:nvSpPr>
          <p:spPr>
            <a:xfrm>
              <a:off x="3743577" y="1491721"/>
              <a:ext cx="2204373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</a:rPr>
                <a:t>共享</a:t>
              </a:r>
              <a:r>
                <a:rPr lang="en-US" altLang="zh-CN" sz="2400" b="1" dirty="0"/>
                <a:t>(Sharing)</a:t>
              </a:r>
              <a:endParaRPr lang="zh-CN" altLang="en-US" sz="2400" b="1" dirty="0"/>
            </a:p>
          </p:txBody>
        </p:sp>
        <p:sp>
          <p:nvSpPr>
            <p:cNvPr id="67" name="ïsḻiďê"/>
            <p:cNvSpPr txBox="1"/>
            <p:nvPr>
              <p:custDataLst>
                <p:tags r:id="rId4"/>
              </p:custDataLst>
            </p:nvPr>
          </p:nvSpPr>
          <p:spPr>
            <a:xfrm>
              <a:off x="6255660" y="1491721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/>
              <a:r>
                <a:rPr lang="zh-CN" altLang="en-US" sz="2400" b="1" dirty="0">
                  <a:solidFill>
                    <a:srgbClr val="0000FF"/>
                  </a:solidFill>
                </a:rPr>
                <a:t>虚拟</a:t>
              </a:r>
              <a:r>
                <a:rPr lang="en-US" altLang="zh-CN" sz="2400" b="1" dirty="0"/>
                <a:t>(Virtual)</a:t>
              </a:r>
            </a:p>
          </p:txBody>
        </p:sp>
        <p:sp>
          <p:nvSpPr>
            <p:cNvPr id="68" name="isḷiḋé"/>
            <p:cNvSpPr txBox="1"/>
            <p:nvPr>
              <p:custDataLst>
                <p:tags r:id="rId5"/>
              </p:custDataLst>
            </p:nvPr>
          </p:nvSpPr>
          <p:spPr>
            <a:xfrm>
              <a:off x="8987869" y="1489497"/>
              <a:ext cx="3087022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>
                  <a:solidFill>
                    <a:srgbClr val="0000FF"/>
                  </a:solidFill>
                </a:rPr>
                <a:t>异步</a:t>
              </a:r>
              <a:br>
                <a:rPr lang="en-US" altLang="zh-CN" sz="2400" b="1" dirty="0">
                  <a:solidFill>
                    <a:srgbClr val="0000FF"/>
                  </a:solidFill>
                </a:rPr>
              </a:br>
              <a:r>
                <a:rPr lang="en-US" altLang="zh-CN" sz="2400" b="1" dirty="0"/>
                <a:t>(Asynchronism)</a:t>
              </a:r>
            </a:p>
          </p:txBody>
        </p:sp>
        <p:sp>
          <p:nvSpPr>
            <p:cNvPr id="77" name="isľîdê"/>
            <p:cNvSpPr txBox="1"/>
            <p:nvPr>
              <p:custDataLst>
                <p:tags r:id="rId6"/>
              </p:custDataLst>
            </p:nvPr>
          </p:nvSpPr>
          <p:spPr>
            <a:xfrm>
              <a:off x="3654369" y="2180734"/>
              <a:ext cx="2601746" cy="22705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>
                <a:lnSpc>
                  <a:spcPct val="120000"/>
                </a:lnSpc>
              </a:pPr>
              <a:r>
                <a:rPr lang="zh-CN" altLang="en-US" sz="2000" dirty="0"/>
                <a:t>系统中的资源可供内存中多个并发执行的进程共同使用</a:t>
              </a:r>
              <a:endParaRPr lang="en-US" altLang="zh-CN" sz="20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rgbClr val="FF0000"/>
                  </a:solidFill>
                </a:rPr>
                <a:t>互斥共享</a:t>
              </a:r>
              <a:r>
                <a:rPr lang="zh-CN" altLang="en-US" sz="2000" dirty="0"/>
                <a:t>方式（临界资源）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同时访问方式</a:t>
              </a:r>
            </a:p>
          </p:txBody>
        </p:sp>
        <p:sp>
          <p:nvSpPr>
            <p:cNvPr id="78" name="isľîdê"/>
            <p:cNvSpPr txBox="1"/>
            <p:nvPr>
              <p:custDataLst>
                <p:tags r:id="rId7"/>
              </p:custDataLst>
            </p:nvPr>
          </p:nvSpPr>
          <p:spPr>
            <a:xfrm>
              <a:off x="6419952" y="2187613"/>
              <a:ext cx="2621058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时分（分时间）</a:t>
              </a:r>
              <a:r>
                <a:rPr lang="zh-CN" altLang="en-US" sz="2000" dirty="0">
                  <a:solidFill>
                    <a:srgbClr val="FF0000"/>
                  </a:solidFill>
                </a:rPr>
                <a:t>复用</a:t>
              </a:r>
              <a:r>
                <a:rPr lang="zh-CN" altLang="en-US" sz="2000" dirty="0"/>
                <a:t>技术：虚拟处理机、虚拟设备</a:t>
              </a:r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空分（分空间）复用技术：虚拟存储</a:t>
              </a:r>
            </a:p>
          </p:txBody>
        </p:sp>
        <p:sp>
          <p:nvSpPr>
            <p:cNvPr id="79" name="isľîdê"/>
            <p:cNvSpPr txBox="1"/>
            <p:nvPr>
              <p:custDataLst>
                <p:tags r:id="rId8"/>
              </p:custDataLst>
            </p:nvPr>
          </p:nvSpPr>
          <p:spPr>
            <a:xfrm>
              <a:off x="9356354" y="2302297"/>
              <a:ext cx="2565581" cy="1699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进程的异步性：进程是以人们不可预知的速度向前推进的。交替运行走走停停。不确定性。</a:t>
              </a:r>
            </a:p>
          </p:txBody>
        </p:sp>
      </p:grpSp>
      <p:cxnSp>
        <p:nvCxnSpPr>
          <p:cNvPr id="4" name="直接连接符 3"/>
          <p:cNvCxnSpPr/>
          <p:nvPr/>
        </p:nvCxnSpPr>
        <p:spPr>
          <a:xfrm flipH="1">
            <a:off x="3316412" y="1373836"/>
            <a:ext cx="15240" cy="3451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6141527" y="1378916"/>
            <a:ext cx="17145" cy="3334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173652" y="1368756"/>
            <a:ext cx="17145" cy="3296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4390" y="4220210"/>
            <a:ext cx="3564890" cy="5981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圆角矩形标注 14"/>
          <p:cNvSpPr/>
          <p:nvPr/>
        </p:nvSpPr>
        <p:spPr bwMode="auto">
          <a:xfrm>
            <a:off x="7695883" y="4866640"/>
            <a:ext cx="4016375" cy="1789113"/>
          </a:xfrm>
          <a:prstGeom prst="wedgeRoundRectCallout">
            <a:avLst>
              <a:gd name="adj1" fmla="val -41284"/>
              <a:gd name="adj2" fmla="val 2986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buClr>
                <a:srgbClr val="CC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举例2，若物理内存是4GB，同时运行多个软件，它们加起来需要的内存远大于4GB，系统怎么实现？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用虚拟存储器技术。</a:t>
            </a:r>
          </a:p>
        </p:txBody>
      </p:sp>
      <p:sp>
        <p:nvSpPr>
          <p:cNvPr id="16" name="圆角矩形标注 15"/>
          <p:cNvSpPr/>
          <p:nvPr/>
        </p:nvSpPr>
        <p:spPr bwMode="auto">
          <a:xfrm>
            <a:off x="3679508" y="4866640"/>
            <a:ext cx="4016375" cy="1789113"/>
          </a:xfrm>
          <a:prstGeom prst="wedgeRoundRectCallout">
            <a:avLst>
              <a:gd name="adj1" fmla="val -41284"/>
              <a:gd name="adj2" fmla="val 2986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举例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1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，用户同时打开多个软件，单核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CPU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如何同时运行？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用虚拟处理器技术实现。</a:t>
            </a:r>
            <a:r>
              <a:rPr lang="zh-CN" altLang="en-US" sz="2000" dirty="0">
                <a:sym typeface="+mn-ea"/>
              </a:rPr>
              <a:t>把</a:t>
            </a:r>
            <a:r>
              <a:rPr lang="en-US" altLang="zh-CN" sz="2000" dirty="0">
                <a:sym typeface="+mn-ea"/>
              </a:rPr>
              <a:t>CPU</a:t>
            </a:r>
            <a:r>
              <a:rPr lang="zh-CN" altLang="en-US" sz="2000" dirty="0">
                <a:sym typeface="+mn-ea"/>
              </a:rPr>
              <a:t>的时间划分成多个小时间片，时间片轮转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5" grpId="1" animBg="1"/>
      <p:bldP spid="16" grpId="0" bldLvl="0" animBg="1"/>
      <p:bldP spid="16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73530" y="104902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+mj-ea"/>
                <a:sym typeface="+mn-ea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sym typeface="+mn-ea"/>
              </a:rPr>
              <a:t>1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sym typeface="+mn-ea"/>
              </a:rPr>
              <a:t>：操作系统的基本特征？</a:t>
            </a:r>
          </a:p>
          <a:p>
            <a:r>
              <a:rPr lang="zh-CN" altLang="en-US" sz="2400" b="1" dirty="0">
                <a:solidFill>
                  <a:srgbClr val="0000FF"/>
                </a:solidFill>
                <a:latin typeface="+mj-ea"/>
                <a:sym typeface="+mn-ea"/>
              </a:rPr>
              <a:t>并发、共享、虚拟、异步（不确定）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5C"/>
                </a:solidFill>
                <a:latin typeface="+mj-ea"/>
                <a:ea typeface="+mj-ea"/>
              </a:rPr>
              <a:t>1.1 </a:t>
            </a:r>
            <a:r>
              <a:rPr lang="zh-CN" altLang="en-US" sz="2400" dirty="0">
                <a:solidFill>
                  <a:srgbClr val="00005C"/>
                </a:solidFill>
                <a:latin typeface="+mj-ea"/>
                <a:ea typeface="+mj-ea"/>
              </a:rPr>
              <a:t>操作系统的目标和作用</a:t>
            </a:r>
            <a:endParaRPr lang="en-US" altLang="zh-CN" sz="2400" dirty="0">
              <a:solidFill>
                <a:srgbClr val="00005C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1.2 </a:t>
            </a:r>
            <a:r>
              <a:rPr lang="zh-CN" altLang="en-US" sz="2400" dirty="0">
                <a:latin typeface="+mj-ea"/>
              </a:rPr>
              <a:t>操作系统的发展过程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1.3 </a:t>
            </a:r>
            <a:r>
              <a:rPr lang="zh-CN" altLang="en-US" sz="2400" dirty="0">
                <a:latin typeface="+mj-ea"/>
              </a:rPr>
              <a:t>操作系统的基本特征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1.4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操作系统的运行环境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1.5 </a:t>
            </a:r>
            <a:r>
              <a:rPr lang="zh-CN" altLang="en-US" sz="2400" dirty="0">
                <a:latin typeface="+mj-ea"/>
              </a:rPr>
              <a:t>操作系统的主要功能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1.6 </a:t>
            </a:r>
            <a:r>
              <a:rPr lang="zh-CN" altLang="en-US" sz="2400" dirty="0">
                <a:latin typeface="+mj-ea"/>
              </a:rPr>
              <a:t>操作系统的结构设计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25874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1.7 </a:t>
            </a:r>
            <a:r>
              <a:rPr lang="zh-CN" altLang="en-US" sz="2400" dirty="0">
                <a:latin typeface="+mj-ea"/>
              </a:rPr>
              <a:t>系统调用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2627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1</a:t>
            </a:r>
            <a:r>
              <a:rPr lang="zh-CN" altLang="en-US" sz="3600" dirty="0">
                <a:solidFill>
                  <a:srgbClr val="000000"/>
                </a:solidFill>
              </a:rPr>
              <a:t>章 操作系统引论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58570" y="963930"/>
            <a:ext cx="5722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问题</a:t>
            </a:r>
            <a:r>
              <a:rPr lang="en-US" altLang="zh-CN" sz="2400"/>
              <a:t>1.</a:t>
            </a:r>
            <a:r>
              <a:rPr lang="zh-CN" altLang="en-US" sz="2400"/>
              <a:t>用户态、核心态、特权指令。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操作系统的运行环境</a:t>
            </a:r>
            <a:r>
              <a:rPr lang="en-US" altLang="zh-CN" sz="2800" b="1" dirty="0">
                <a:solidFill>
                  <a:schemeClr val="bg1"/>
                </a:solidFill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</a:rPr>
              <a:t>硬件支持</a:t>
            </a:r>
          </a:p>
        </p:txBody>
      </p:sp>
      <p:grpSp>
        <p:nvGrpSpPr>
          <p:cNvPr id="39" name="20411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711651"/>
            <a:ext cx="10848976" cy="4000820"/>
            <a:chOff x="669924" y="2239685"/>
            <a:chExt cx="10848976" cy="4000820"/>
          </a:xfrm>
        </p:grpSpPr>
        <p:sp>
          <p:nvSpPr>
            <p:cNvPr id="58" name="ïsḷîde"/>
            <p:cNvSpPr/>
            <p:nvPr/>
          </p:nvSpPr>
          <p:spPr bwMode="auto">
            <a:xfrm>
              <a:off x="673100" y="2982961"/>
              <a:ext cx="2628292" cy="1311179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9" name="îSḷïḋe"/>
            <p:cNvSpPr/>
            <p:nvPr/>
          </p:nvSpPr>
          <p:spPr bwMode="auto">
            <a:xfrm>
              <a:off x="2727477" y="2982961"/>
              <a:ext cx="2628292" cy="1311179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0" name="íšļíḍè"/>
            <p:cNvSpPr/>
            <p:nvPr/>
          </p:nvSpPr>
          <p:spPr bwMode="auto">
            <a:xfrm>
              <a:off x="4781854" y="2982961"/>
              <a:ext cx="2628292" cy="1311179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1" name="îṧḷíḋé"/>
            <p:cNvSpPr/>
            <p:nvPr/>
          </p:nvSpPr>
          <p:spPr bwMode="auto">
            <a:xfrm>
              <a:off x="6836231" y="2982961"/>
              <a:ext cx="2628292" cy="1311179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2" name="íṣlíḍè"/>
            <p:cNvSpPr/>
            <p:nvPr/>
          </p:nvSpPr>
          <p:spPr bwMode="auto">
            <a:xfrm>
              <a:off x="8890608" y="2982961"/>
              <a:ext cx="2628292" cy="1311179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3" name="îṧlîḍe"/>
            <p:cNvSpPr/>
            <p:nvPr/>
          </p:nvSpPr>
          <p:spPr bwMode="auto">
            <a:xfrm>
              <a:off x="7866670" y="3365703"/>
              <a:ext cx="567414" cy="545694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iṥḷíďe"/>
            <p:cNvSpPr/>
            <p:nvPr/>
          </p:nvSpPr>
          <p:spPr bwMode="auto">
            <a:xfrm>
              <a:off x="3757917" y="3365618"/>
              <a:ext cx="567412" cy="545864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iṥḻíḓê"/>
            <p:cNvSpPr/>
            <p:nvPr/>
          </p:nvSpPr>
          <p:spPr bwMode="auto">
            <a:xfrm>
              <a:off x="1703540" y="3355375"/>
              <a:ext cx="567412" cy="56635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sp>
          <p:nvSpPr>
            <p:cNvPr id="66" name="îsḻiḋè"/>
            <p:cNvSpPr/>
            <p:nvPr/>
          </p:nvSpPr>
          <p:spPr bwMode="auto">
            <a:xfrm>
              <a:off x="9921048" y="3390890"/>
              <a:ext cx="567412" cy="49532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îṥḷiḋè"/>
            <p:cNvSpPr/>
            <p:nvPr/>
          </p:nvSpPr>
          <p:spPr bwMode="auto">
            <a:xfrm>
              <a:off x="5778268" y="3381375"/>
              <a:ext cx="635464" cy="514350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id-ID"/>
            </a:p>
          </p:txBody>
        </p:sp>
        <p:grpSp>
          <p:nvGrpSpPr>
            <p:cNvPr id="68" name="ïsḻîde"/>
            <p:cNvGrpSpPr/>
            <p:nvPr/>
          </p:nvGrpSpPr>
          <p:grpSpPr>
            <a:xfrm>
              <a:off x="669924" y="4676797"/>
              <a:ext cx="3313754" cy="1563708"/>
              <a:chOff x="669924" y="4960116"/>
              <a:chExt cx="3313754" cy="1563708"/>
            </a:xfrm>
          </p:grpSpPr>
          <p:sp>
            <p:nvSpPr>
              <p:cNvPr id="81" name="ï$ļidè"/>
              <p:cNvSpPr txBox="1"/>
              <p:nvPr/>
            </p:nvSpPr>
            <p:spPr>
              <a:xfrm>
                <a:off x="903101" y="5472772"/>
                <a:ext cx="2847399" cy="105105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pPr marL="342900" indent="-342900" algn="ctr">
                  <a:lnSpc>
                    <a:spcPct val="12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定位</a:t>
                </a:r>
                <a:r>
                  <a:rPr lang="en-US" altLang="zh-CN" sz="2400" dirty="0"/>
                  <a:t>OS</a:t>
                </a:r>
                <a:r>
                  <a:rPr lang="zh-CN" altLang="en-US" sz="2400" dirty="0"/>
                  <a:t>内核并将其加载到内存中。</a:t>
                </a:r>
              </a:p>
            </p:txBody>
          </p:sp>
          <p:sp>
            <p:nvSpPr>
              <p:cNvPr id="82" name="ïṧļíḋê"/>
              <p:cNvSpPr txBox="1"/>
              <p:nvPr/>
            </p:nvSpPr>
            <p:spPr>
              <a:xfrm>
                <a:off x="669924" y="4960116"/>
                <a:ext cx="3313754" cy="3933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Autofit/>
              </a:bodyPr>
              <a:lstStyle/>
              <a:p>
                <a:pPr algn="ctr"/>
                <a:r>
                  <a:rPr lang="zh-CN" altLang="en-US" sz="2400" b="1" dirty="0"/>
                  <a:t>引导程序：位于固件</a:t>
                </a:r>
              </a:p>
            </p:txBody>
          </p:sp>
        </p:grpSp>
        <p:sp>
          <p:nvSpPr>
            <p:cNvPr id="80" name="îşḷíḓè"/>
            <p:cNvSpPr txBox="1"/>
            <p:nvPr/>
          </p:nvSpPr>
          <p:spPr>
            <a:xfrm>
              <a:off x="4848799" y="4644027"/>
              <a:ext cx="2847400" cy="105105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ctr"/>
              <a:r>
                <a:rPr lang="zh-CN" altLang="en-US" sz="2400" b="1" dirty="0"/>
                <a:t>中断事件：硬件中断或软件中断引起</a:t>
              </a:r>
            </a:p>
          </p:txBody>
        </p:sp>
        <p:sp>
          <p:nvSpPr>
            <p:cNvPr id="78" name="íşľiḍé"/>
            <p:cNvSpPr txBox="1"/>
            <p:nvPr/>
          </p:nvSpPr>
          <p:spPr>
            <a:xfrm>
              <a:off x="9009316" y="4643436"/>
              <a:ext cx="2390876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/>
              <a:r>
                <a:rPr lang="zh-CN" altLang="en-US" sz="2400" b="1" dirty="0"/>
                <a:t>程序：位于外存</a:t>
              </a:r>
            </a:p>
          </p:txBody>
        </p:sp>
        <p:sp>
          <p:nvSpPr>
            <p:cNvPr id="76" name="í$ḻiḍê"/>
            <p:cNvSpPr txBox="1"/>
            <p:nvPr/>
          </p:nvSpPr>
          <p:spPr>
            <a:xfrm>
              <a:off x="6485889" y="2239685"/>
              <a:ext cx="3798570" cy="3937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/>
              <a:r>
                <a:rPr lang="zh-CN" altLang="en-US" sz="2400" b="1" dirty="0"/>
                <a:t>执行程序：先加载进内存</a:t>
              </a:r>
            </a:p>
          </p:txBody>
        </p:sp>
        <p:sp>
          <p:nvSpPr>
            <p:cNvPr id="74" name="îṥľíḑé"/>
            <p:cNvSpPr txBox="1"/>
            <p:nvPr/>
          </p:nvSpPr>
          <p:spPr>
            <a:xfrm>
              <a:off x="2788240" y="2239685"/>
              <a:ext cx="2390876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/>
              <a:r>
                <a:rPr lang="zh-CN" altLang="en-US" sz="2400" b="1" dirty="0"/>
                <a:t>指令：</a:t>
              </a:r>
              <a:r>
                <a:rPr lang="en-US" altLang="zh-CN" sz="2400" b="1" dirty="0"/>
                <a:t>CPU</a:t>
              </a:r>
              <a:r>
                <a:rPr lang="zh-CN" altLang="en-US" sz="2400" b="1" dirty="0"/>
                <a:t>执行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操作系统内核</a:t>
            </a:r>
          </a:p>
        </p:txBody>
      </p:sp>
      <p:sp>
        <p:nvSpPr>
          <p:cNvPr id="21" name="íšḻîḋè"/>
          <p:cNvSpPr/>
          <p:nvPr/>
        </p:nvSpPr>
        <p:spPr>
          <a:xfrm>
            <a:off x="2146300" y="2796540"/>
            <a:ext cx="9177655" cy="21240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中断处理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时钟管理：特别重要：时间同步基准、中断、定时器、进程调度时间片、维护操作、时钟触发事件、时间戳等。是</a:t>
            </a:r>
            <a:r>
              <a:rPr lang="en-US" altLang="zh-CN" sz="2200" dirty="0">
                <a:sym typeface="+mn-ea"/>
              </a:rPr>
              <a:t>CPU</a:t>
            </a:r>
            <a:r>
              <a:rPr lang="zh-CN" altLang="en-US" sz="2200" dirty="0">
                <a:sym typeface="+mn-ea"/>
              </a:rPr>
              <a:t>的主频分频，</a:t>
            </a:r>
            <a:r>
              <a:rPr lang="en-US" altLang="zh-CN" sz="2200" dirty="0">
                <a:sym typeface="+mn-ea"/>
              </a:rPr>
              <a:t>1/n</a:t>
            </a:r>
            <a:r>
              <a:rPr lang="zh-CN" altLang="en-US" sz="2200" dirty="0">
                <a:sym typeface="+mn-ea"/>
              </a:rPr>
              <a:t>。</a:t>
            </a:r>
            <a:endParaRPr lang="zh-CN" altLang="en-US" sz="2200" dirty="0"/>
          </a:p>
          <a:p>
            <a:pPr indent="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1600" dirty="0"/>
              <a:t>CPU</a:t>
            </a:r>
            <a:r>
              <a:rPr lang="zh-CN" altLang="en-US" sz="1600" dirty="0"/>
              <a:t>主频：</a:t>
            </a:r>
            <a:r>
              <a:rPr lang="en-US" altLang="zh-CN" sz="1600" dirty="0"/>
              <a:t>CPU</a:t>
            </a:r>
            <a:r>
              <a:rPr lang="zh-CN" altLang="en-US" sz="1600" dirty="0"/>
              <a:t>的时钟频率，决定每秒可以执行的指令书。和处理速度成正比。多核和主频关系。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原语操作</a:t>
            </a:r>
            <a:endParaRPr lang="en-US" altLang="zh-CN" sz="2200" dirty="0"/>
          </a:p>
          <a:p>
            <a:pPr marL="800100" lvl="1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/>
              <a:t>由若干条指令组成，用于完成一定功能。</a:t>
            </a:r>
          </a:p>
          <a:p>
            <a:pPr marL="800100" lvl="1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/>
              <a:t>原子操作：要么不做，要么全做，原子性不可分割。</a:t>
            </a:r>
          </a:p>
        </p:txBody>
      </p:sp>
      <p:sp>
        <p:nvSpPr>
          <p:cNvPr id="22" name="i$lîďê"/>
          <p:cNvSpPr/>
          <p:nvPr/>
        </p:nvSpPr>
        <p:spPr>
          <a:xfrm>
            <a:off x="2201724" y="2345299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支撑功能</a:t>
            </a:r>
          </a:p>
        </p:txBody>
      </p:sp>
      <p:sp>
        <p:nvSpPr>
          <p:cNvPr id="23" name="î$ļíḋè"/>
          <p:cNvSpPr/>
          <p:nvPr/>
        </p:nvSpPr>
        <p:spPr>
          <a:xfrm>
            <a:off x="2202359" y="5988608"/>
            <a:ext cx="5319538" cy="6418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进程管理、存储器管理、设备管理</a:t>
            </a:r>
          </a:p>
        </p:txBody>
      </p:sp>
      <p:sp>
        <p:nvSpPr>
          <p:cNvPr id="24" name="ïṧḷïḋè"/>
          <p:cNvSpPr/>
          <p:nvPr/>
        </p:nvSpPr>
        <p:spPr>
          <a:xfrm>
            <a:off x="2202361" y="5555824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资源管理功能</a:t>
            </a:r>
          </a:p>
        </p:txBody>
      </p:sp>
      <p:sp>
        <p:nvSpPr>
          <p:cNvPr id="26" name="íšḻíḑê"/>
          <p:cNvSpPr/>
          <p:nvPr/>
        </p:nvSpPr>
        <p:spPr>
          <a:xfrm>
            <a:off x="2201545" y="1433195"/>
            <a:ext cx="6108700" cy="4057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开机后，常驻内存，通常与硬件紧密相关</a:t>
            </a:r>
          </a:p>
        </p:txBody>
      </p:sp>
      <p:sp>
        <p:nvSpPr>
          <p:cNvPr id="27" name="îSļiḓè"/>
          <p:cNvSpPr/>
          <p:nvPr/>
        </p:nvSpPr>
        <p:spPr>
          <a:xfrm>
            <a:off x="1518222" y="132223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8" name="íṥḻîḓe"/>
          <p:cNvSpPr/>
          <p:nvPr/>
        </p:nvSpPr>
        <p:spPr>
          <a:xfrm>
            <a:off x="1518222" y="536072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îşļiḓè"/>
          <p:cNvSpPr/>
          <p:nvPr/>
        </p:nvSpPr>
        <p:spPr>
          <a:xfrm>
            <a:off x="1518222" y="229628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30" name="îṡḷíďe"/>
          <p:cNvSpPr/>
          <p:nvPr/>
        </p:nvSpPr>
        <p:spPr>
          <a:xfrm>
            <a:off x="1708477" y="1518373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1" name="íSlíḋe"/>
          <p:cNvSpPr/>
          <p:nvPr/>
        </p:nvSpPr>
        <p:spPr>
          <a:xfrm>
            <a:off x="1708476" y="251830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2" name="ïśḷïḓe"/>
          <p:cNvSpPr/>
          <p:nvPr/>
        </p:nvSpPr>
        <p:spPr>
          <a:xfrm>
            <a:off x="1737415" y="5555904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处理机的双重工作模式</a:t>
            </a:r>
          </a:p>
        </p:txBody>
      </p:sp>
      <p:grpSp>
        <p:nvGrpSpPr>
          <p:cNvPr id="14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17700" y="1297164"/>
            <a:ext cx="11471910" cy="4124771"/>
            <a:chOff x="542846" y="1464590"/>
            <a:chExt cx="11471910" cy="4124771"/>
          </a:xfrm>
        </p:grpSpPr>
        <p:sp>
          <p:nvSpPr>
            <p:cNvPr id="15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7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9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5" name="ï$1iḍe"/>
            <p:cNvSpPr txBox="1"/>
            <p:nvPr/>
          </p:nvSpPr>
          <p:spPr>
            <a:xfrm>
              <a:off x="542846" y="1491721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200" b="1" dirty="0"/>
                <a:t>特权指令</a:t>
              </a:r>
            </a:p>
          </p:txBody>
        </p:sp>
        <p:sp>
          <p:nvSpPr>
            <p:cNvPr id="33" name="isľîdê"/>
            <p:cNvSpPr txBox="1"/>
            <p:nvPr/>
          </p:nvSpPr>
          <p:spPr>
            <a:xfrm>
              <a:off x="837271" y="4127645"/>
              <a:ext cx="2287926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高级，如果误用，有可能引起系统崩溃的指令。</a:t>
              </a:r>
            </a:p>
          </p:txBody>
        </p:sp>
        <p:sp>
          <p:nvSpPr>
            <p:cNvPr id="34" name="íṩ1ïḑe"/>
            <p:cNvSpPr txBox="1"/>
            <p:nvPr/>
          </p:nvSpPr>
          <p:spPr>
            <a:xfrm>
              <a:off x="3077666" y="1464590"/>
              <a:ext cx="3316591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200" b="1" dirty="0">
                  <a:solidFill>
                    <a:srgbClr val="FF0000"/>
                  </a:solidFill>
                </a:rPr>
                <a:t>内核态</a:t>
              </a:r>
              <a:r>
                <a:rPr lang="zh-CN" altLang="en-US" sz="2200" b="1" dirty="0"/>
                <a:t>（管态、系统态）</a:t>
              </a:r>
            </a:p>
          </p:txBody>
        </p:sp>
        <p:sp>
          <p:nvSpPr>
            <p:cNvPr id="35" name="ïsḻiďê"/>
            <p:cNvSpPr txBox="1"/>
            <p:nvPr/>
          </p:nvSpPr>
          <p:spPr>
            <a:xfrm>
              <a:off x="6366706" y="1478156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/>
              <a:r>
                <a:rPr lang="zh-CN" altLang="en-US" sz="2200" b="1" dirty="0">
                  <a:solidFill>
                    <a:srgbClr val="FF0000"/>
                  </a:solidFill>
                </a:rPr>
                <a:t>用户态</a:t>
              </a:r>
              <a:r>
                <a:rPr lang="zh-CN" altLang="en-US" sz="2200" b="1" dirty="0"/>
                <a:t>（目态Object Mode）</a:t>
              </a:r>
            </a:p>
          </p:txBody>
        </p:sp>
        <p:sp>
          <p:nvSpPr>
            <p:cNvPr id="36" name="isḷiḋé"/>
            <p:cNvSpPr txBox="1"/>
            <p:nvPr/>
          </p:nvSpPr>
          <p:spPr>
            <a:xfrm>
              <a:off x="8833059" y="1491721"/>
              <a:ext cx="3087022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200" b="1" dirty="0"/>
                <a:t>由硬件提供模式位</a:t>
              </a:r>
            </a:p>
          </p:txBody>
        </p:sp>
        <p:sp>
          <p:nvSpPr>
            <p:cNvPr id="37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8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9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0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1" name="isľîdê"/>
            <p:cNvSpPr txBox="1"/>
            <p:nvPr/>
          </p:nvSpPr>
          <p:spPr>
            <a:xfrm>
              <a:off x="3540236" y="4127645"/>
              <a:ext cx="2276119" cy="858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执行包括特权指令在内的</a:t>
              </a:r>
              <a:r>
                <a:rPr lang="zh-CN" altLang="en-US" sz="2000" dirty="0">
                  <a:solidFill>
                    <a:srgbClr val="FF0000"/>
                  </a:solidFill>
                </a:rPr>
                <a:t>一切指令</a:t>
              </a:r>
              <a:r>
                <a:rPr lang="zh-CN" altLang="en-US" sz="2000" dirty="0"/>
                <a:t>。</a:t>
              </a:r>
            </a:p>
          </p:txBody>
        </p:sp>
        <p:sp>
          <p:nvSpPr>
            <p:cNvPr id="42" name="isľîdê"/>
            <p:cNvSpPr txBox="1"/>
            <p:nvPr/>
          </p:nvSpPr>
          <p:spPr>
            <a:xfrm>
              <a:off x="6469394" y="4151140"/>
              <a:ext cx="2018637" cy="531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rgbClr val="FF0000"/>
                  </a:solidFill>
                </a:rPr>
                <a:t>不能执行特权指令。</a:t>
              </a:r>
            </a:p>
          </p:txBody>
        </p:sp>
        <p:sp>
          <p:nvSpPr>
            <p:cNvPr id="43" name="isľîdê"/>
            <p:cNvSpPr txBox="1"/>
            <p:nvPr/>
          </p:nvSpPr>
          <p:spPr>
            <a:xfrm>
              <a:off x="8722916" y="3686455"/>
              <a:ext cx="3291840" cy="1461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程序状态字</a:t>
              </a:r>
              <a:r>
                <a:rPr lang="en-US" altLang="zh-CN" sz="2000" dirty="0"/>
                <a:t>PSW</a:t>
              </a:r>
              <a:r>
                <a:rPr lang="zh-CN" altLang="en-US" sz="2000" dirty="0"/>
                <a:t>中某个二进制标志位。</a:t>
              </a:r>
              <a:endParaRPr lang="en-US" altLang="zh-CN" sz="20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提供了区分系统正在运行用户代码或内核代码的能力。</a:t>
              </a:r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rgbClr val="FF0000"/>
                  </a:solidFill>
                </a:rPr>
                <a:t>系统调用切换运行模式到内核态</a:t>
              </a:r>
              <a:r>
                <a:rPr lang="zh-CN" altLang="en-US" sz="2000" dirty="0"/>
                <a:t>，并将调用结果返回给用户。陷入。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特权指令和非特权指令</a:t>
            </a:r>
          </a:p>
        </p:txBody>
      </p:sp>
      <p:sp>
        <p:nvSpPr>
          <p:cNvPr id="9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2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11" name="í$1iďè"/>
          <p:cNvGrpSpPr/>
          <p:nvPr/>
        </p:nvGrpSpPr>
        <p:grpSpPr>
          <a:xfrm>
            <a:off x="4183062" y="1607317"/>
            <a:ext cx="7381905" cy="1702554"/>
            <a:chOff x="4136995" y="1337039"/>
            <a:chExt cx="7381905" cy="1702554"/>
          </a:xfrm>
        </p:grpSpPr>
        <p:sp>
          <p:nvSpPr>
            <p:cNvPr id="37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ïSḻiḍé"/>
            <p:cNvSpPr txBox="1"/>
            <p:nvPr/>
          </p:nvSpPr>
          <p:spPr>
            <a:xfrm>
              <a:off x="4882719" y="1337039"/>
              <a:ext cx="6636181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特权指令：在内核态下运行的指令</a:t>
              </a:r>
              <a:endParaRPr lang="en-US" altLang="zh-CN" sz="2400" b="1" dirty="0">
                <a:solidFill>
                  <a:srgbClr val="FF0000"/>
                </a:solidFill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不仅能访问用户空间，还能访问系统空间。</a:t>
              </a:r>
            </a:p>
            <a:p>
              <a:pPr marL="342900" indent="-342900" algn="just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如启动外部设备、设置系统时钟、管理中断、切换执行状态、</a:t>
              </a:r>
              <a:r>
                <a:rPr lang="en-US" altLang="zh-CN" sz="2400" dirty="0">
                  <a:latin typeface="+mj-ea"/>
                  <a:ea typeface="+mj-ea"/>
                </a:rPr>
                <a:t>I/O</a:t>
              </a:r>
              <a:r>
                <a:rPr lang="zh-CN" altLang="en-US" sz="2400" dirty="0">
                  <a:latin typeface="+mj-ea"/>
                  <a:ea typeface="+mj-ea"/>
                </a:rPr>
                <a:t>指令。</a:t>
              </a:r>
            </a:p>
          </p:txBody>
        </p:sp>
      </p:grpSp>
      <p:grpSp>
        <p:nvGrpSpPr>
          <p:cNvPr id="12" name="išḷîḓé"/>
          <p:cNvGrpSpPr/>
          <p:nvPr/>
        </p:nvGrpSpPr>
        <p:grpSpPr>
          <a:xfrm>
            <a:off x="4183062" y="3800144"/>
            <a:ext cx="7722859" cy="1763616"/>
            <a:chOff x="4136995" y="3233565"/>
            <a:chExt cx="7722859" cy="1763616"/>
          </a:xfrm>
        </p:grpSpPr>
        <p:sp>
          <p:nvSpPr>
            <p:cNvPr id="33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îŝľîḓè"/>
            <p:cNvSpPr txBox="1"/>
            <p:nvPr/>
          </p:nvSpPr>
          <p:spPr>
            <a:xfrm>
              <a:off x="4882718" y="3233565"/>
              <a:ext cx="6977136" cy="17636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400" b="1" dirty="0"/>
                <a:t>非特权指令：在用户态下运行的指令</a:t>
              </a:r>
              <a:endParaRPr lang="en-US" altLang="zh-CN" sz="2400" b="1" dirty="0"/>
            </a:p>
            <a:p>
              <a:pPr marL="342900" indent="-34290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应用程序所使用的都是非特权指令。</a:t>
              </a:r>
            </a:p>
            <a:p>
              <a:pPr marL="342900" indent="-34290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防止应用程序的运行异常对系统造成破坏。</a:t>
              </a:r>
            </a:p>
            <a:p>
              <a:pPr marL="342900" indent="-34290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仅能访问用户空间。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用户态到内核态的切换</a:t>
            </a:r>
          </a:p>
        </p:txBody>
      </p:sp>
      <p:grpSp>
        <p:nvGrpSpPr>
          <p:cNvPr id="4" name="iṡļiḓe"/>
          <p:cNvGrpSpPr/>
          <p:nvPr/>
        </p:nvGrpSpPr>
        <p:grpSpPr>
          <a:xfrm>
            <a:off x="905099" y="1398189"/>
            <a:ext cx="6345707" cy="1409465"/>
            <a:chOff x="660400" y="1835355"/>
            <a:chExt cx="6345707" cy="1409465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5709540" cy="1409465"/>
              <a:chOff x="1296567" y="1835355"/>
              <a:chExt cx="7201160" cy="1409465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7201160" cy="84273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2000"/>
                  </a:lnSpc>
                </a:pPr>
                <a:r>
                  <a:rPr lang="zh-CN" altLang="en-US" sz="2400" dirty="0"/>
                  <a:t>状态位</a:t>
                </a:r>
                <a:r>
                  <a:rPr lang="en-US" altLang="zh-CN" sz="2400" dirty="0"/>
                  <a:t>(Mode bit) </a:t>
                </a:r>
                <a:r>
                  <a:rPr lang="zh-CN" altLang="en-US" sz="2400" dirty="0"/>
                  <a:t>指示正确的状态：</a:t>
                </a:r>
                <a:endParaRPr lang="en-US" altLang="zh-CN" sz="2400" dirty="0"/>
              </a:p>
              <a:p>
                <a:pPr marL="342900" indent="-342900">
                  <a:lnSpc>
                    <a:spcPct val="132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内核态（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0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） ，用户态（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）或相反。</a:t>
                </a:r>
              </a:p>
            </p:txBody>
          </p:sp>
          <p:sp>
            <p:nvSpPr>
              <p:cNvPr id="11" name="îṧľîḋé"/>
              <p:cNvSpPr txBox="1"/>
              <p:nvPr/>
            </p:nvSpPr>
            <p:spPr>
              <a:xfrm>
                <a:off x="1296567" y="2855397"/>
                <a:ext cx="7201160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2000"/>
                  </a:lnSpc>
                </a:pPr>
                <a:r>
                  <a:rPr lang="zh-CN" altLang="en-US" sz="2400" dirty="0"/>
                  <a:t>当中断或错误出现，硬件切换至内核态</a:t>
                </a:r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838665"/>
              <a:ext cx="497734" cy="497734"/>
              <a:chOff x="660400" y="1838665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838665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7010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2" name="Group 5"/>
          <p:cNvGrpSpPr/>
          <p:nvPr/>
        </p:nvGrpSpPr>
        <p:grpSpPr bwMode="auto">
          <a:xfrm>
            <a:off x="7567456" y="1108850"/>
            <a:ext cx="3963988" cy="1685925"/>
            <a:chOff x="1152" y="1816"/>
            <a:chExt cx="2857" cy="1255"/>
          </a:xfrm>
        </p:grpSpPr>
        <p:sp>
          <p:nvSpPr>
            <p:cNvPr id="13" name="Oval 6"/>
            <p:cNvSpPr>
              <a:spLocks noChangeArrowheads="1"/>
            </p:cNvSpPr>
            <p:nvPr/>
          </p:nvSpPr>
          <p:spPr bwMode="auto">
            <a:xfrm>
              <a:off x="1152" y="2256"/>
              <a:ext cx="873" cy="7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Ø"/>
                <a:defRPr sz="22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Arial" panose="020B0604020202020204" pitchFamily="34" charset="0"/>
                </a:rPr>
                <a:t>内核态</a:t>
              </a:r>
              <a:endParaRPr lang="en-US" altLang="zh-CN" sz="1800" b="1">
                <a:latin typeface="Arial" panose="020B0604020202020204" pitchFamily="34" charset="0"/>
              </a:endParaRPr>
            </a:p>
          </p:txBody>
        </p:sp>
        <p:sp>
          <p:nvSpPr>
            <p:cNvPr id="14" name="Oval 7"/>
            <p:cNvSpPr>
              <a:spLocks noChangeArrowheads="1"/>
            </p:cNvSpPr>
            <p:nvPr/>
          </p:nvSpPr>
          <p:spPr bwMode="auto">
            <a:xfrm>
              <a:off x="3163" y="2256"/>
              <a:ext cx="846" cy="7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Ø"/>
                <a:defRPr sz="22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Arial" panose="020B0604020202020204" pitchFamily="34" charset="0"/>
                </a:rPr>
                <a:t>用户态</a:t>
              </a:r>
              <a:endParaRPr lang="en-US" altLang="zh-CN" sz="1800" b="1">
                <a:latin typeface="Arial" panose="020B0604020202020204" pitchFamily="34" charset="0"/>
              </a:endParaRPr>
            </a:p>
          </p:txBody>
        </p:sp>
        <p:cxnSp>
          <p:nvCxnSpPr>
            <p:cNvPr id="15" name="AutoShape 8"/>
            <p:cNvCxnSpPr>
              <a:cxnSpLocks noChangeShapeType="1"/>
              <a:stCxn id="14" idx="0"/>
              <a:endCxn id="13" idx="0"/>
            </p:cNvCxnSpPr>
            <p:nvPr/>
          </p:nvCxnSpPr>
          <p:spPr bwMode="auto">
            <a:xfrm rot="16200000" flipV="1">
              <a:off x="2587" y="1257"/>
              <a:ext cx="9" cy="1998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9"/>
            <p:cNvCxnSpPr>
              <a:cxnSpLocks noChangeShapeType="1"/>
              <a:stCxn id="13" idx="4"/>
              <a:endCxn id="14" idx="4"/>
            </p:cNvCxnSpPr>
            <p:nvPr/>
          </p:nvCxnSpPr>
          <p:spPr bwMode="auto">
            <a:xfrm rot="16200000" flipH="1">
              <a:off x="2587" y="1977"/>
              <a:ext cx="9" cy="1998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2360" y="1816"/>
              <a:ext cx="468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Ø"/>
                <a:defRPr sz="22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Arial" panose="020B0604020202020204" pitchFamily="34" charset="0"/>
                </a:rPr>
                <a:t>中断</a:t>
              </a:r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2025" y="2728"/>
              <a:ext cx="1138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Ø"/>
                <a:defRPr sz="22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Arial" panose="020B0604020202020204" pitchFamily="34" charset="0"/>
                </a:rPr>
                <a:t>设置用户模式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126" y="3118935"/>
            <a:ext cx="9422185" cy="3120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中断与异常</a:t>
            </a:r>
          </a:p>
        </p:txBody>
      </p:sp>
      <p:grpSp>
        <p:nvGrpSpPr>
          <p:cNvPr id="22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998251"/>
            <a:ext cx="10838960" cy="4734027"/>
            <a:chOff x="660400" y="1181131"/>
            <a:chExt cx="10838960" cy="4734027"/>
          </a:xfrm>
        </p:grpSpPr>
        <p:sp>
          <p:nvSpPr>
            <p:cNvPr id="23" name="íṥḻîḑe"/>
            <p:cNvSpPr/>
            <p:nvPr/>
          </p:nvSpPr>
          <p:spPr>
            <a:xfrm>
              <a:off x="682048" y="1580300"/>
              <a:ext cx="3476055" cy="2567583"/>
            </a:xfrm>
            <a:prstGeom prst="rect">
              <a:avLst/>
            </a:prstGeom>
            <a:blipFill>
              <a:blip r:embed="rId3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ïşḻiḍé"/>
            <p:cNvSpPr/>
            <p:nvPr/>
          </p:nvSpPr>
          <p:spPr>
            <a:xfrm>
              <a:off x="660400" y="4245058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chemeClr val="tx1"/>
                  </a:solidFill>
                </a:rPr>
                <a:t>操作系统是中断驱动的，</a:t>
              </a:r>
              <a:r>
                <a:rPr lang="en-US" altLang="zh-CN" sz="2000" dirty="0">
                  <a:solidFill>
                    <a:schemeClr val="tx1"/>
                  </a:solidFill>
                </a:rPr>
                <a:t>OS</a:t>
              </a:r>
              <a:r>
                <a:rPr lang="zh-CN" altLang="en-US" sz="2000" dirty="0">
                  <a:solidFill>
                    <a:schemeClr val="tx1"/>
                  </a:solidFill>
                </a:rPr>
                <a:t>总在等待某个事件的发生，事件总是由中断或异常引起的。</a:t>
              </a:r>
            </a:p>
          </p:txBody>
        </p:sp>
        <p:sp>
          <p:nvSpPr>
            <p:cNvPr id="26" name="îŝļiḋe"/>
            <p:cNvSpPr/>
            <p:nvPr/>
          </p:nvSpPr>
          <p:spPr>
            <a:xfrm>
              <a:off x="4352677" y="1580300"/>
              <a:ext cx="3476055" cy="2567583"/>
            </a:xfrm>
            <a:prstGeom prst="rect">
              <a:avLst/>
            </a:prstGeom>
            <a:blipFill>
              <a:blip r:embed="rId4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ïšlïḑè"/>
            <p:cNvSpPr/>
            <p:nvPr/>
          </p:nvSpPr>
          <p:spPr>
            <a:xfrm>
              <a:off x="4331029" y="4245058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0000FF"/>
                  </a:solidFill>
                </a:rPr>
                <a:t>中断</a:t>
              </a:r>
              <a:r>
                <a:rPr lang="zh-CN" altLang="en-US" sz="2000" dirty="0">
                  <a:solidFill>
                    <a:schemeClr val="tx1"/>
                  </a:solidFill>
                </a:rPr>
                <a:t>（</a:t>
              </a:r>
              <a:r>
                <a:rPr lang="en-US" altLang="zh-CN" sz="2000" dirty="0">
                  <a:solidFill>
                    <a:schemeClr val="tx1"/>
                  </a:solidFill>
                </a:rPr>
                <a:t>interrupt</a:t>
              </a:r>
              <a:r>
                <a:rPr lang="zh-CN" altLang="en-US" sz="2000" dirty="0">
                  <a:solidFill>
                    <a:schemeClr val="tx1"/>
                  </a:solidFill>
                </a:rPr>
                <a:t>）：由</a:t>
              </a:r>
              <a:r>
                <a:rPr lang="zh-CN" altLang="en-US" sz="2000" dirty="0">
                  <a:solidFill>
                    <a:srgbClr val="0000FF"/>
                  </a:solidFill>
                </a:rPr>
                <a:t>硬件</a:t>
              </a:r>
              <a:r>
                <a:rPr lang="zh-CN" altLang="en-US" sz="2000" dirty="0">
                  <a:solidFill>
                    <a:schemeClr val="tx1"/>
                  </a:solidFill>
                </a:rPr>
                <a:t>引起。</a:t>
              </a:r>
            </a:p>
          </p:txBody>
        </p:sp>
        <p:sp>
          <p:nvSpPr>
            <p:cNvPr id="29" name="íŝḻiďé"/>
            <p:cNvSpPr/>
            <p:nvPr/>
          </p:nvSpPr>
          <p:spPr>
            <a:xfrm>
              <a:off x="8023305" y="1580300"/>
              <a:ext cx="3476055" cy="2567583"/>
            </a:xfrm>
            <a:prstGeom prst="rect">
              <a:avLst/>
            </a:prstGeom>
            <a:blipFill>
              <a:blip r:embed="rId5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í$ḷîḋe"/>
            <p:cNvSpPr/>
            <p:nvPr/>
          </p:nvSpPr>
          <p:spPr>
            <a:xfrm>
              <a:off x="8001657" y="4245058"/>
              <a:ext cx="349770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solidFill>
                    <a:srgbClr val="FF0000"/>
                  </a:solidFill>
                </a:rPr>
                <a:t>异常</a:t>
              </a:r>
              <a:r>
                <a:rPr lang="en-US" altLang="zh-CN" sz="2000" dirty="0">
                  <a:solidFill>
                    <a:schemeClr val="tx1"/>
                  </a:solidFill>
                </a:rPr>
                <a:t>/</a:t>
              </a:r>
              <a:r>
                <a:rPr lang="zh-CN" altLang="en-US" sz="2000" dirty="0">
                  <a:solidFill>
                    <a:schemeClr val="tx1"/>
                  </a:solidFill>
                </a:rPr>
                <a:t>陷阱（</a:t>
              </a:r>
              <a:r>
                <a:rPr lang="en-US" altLang="zh-CN" sz="2000" dirty="0">
                  <a:solidFill>
                    <a:schemeClr val="tx1"/>
                  </a:solidFill>
                </a:rPr>
                <a:t>trap</a:t>
              </a:r>
              <a:r>
                <a:rPr lang="zh-CN" altLang="en-US" sz="2000" dirty="0">
                  <a:solidFill>
                    <a:schemeClr val="tx1"/>
                  </a:solidFill>
                </a:rPr>
                <a:t>）：由</a:t>
              </a:r>
              <a:r>
                <a:rPr lang="zh-CN" altLang="en-US" sz="2000" dirty="0">
                  <a:solidFill>
                    <a:srgbClr val="FF0000"/>
                  </a:solidFill>
                </a:rPr>
                <a:t>软件</a:t>
              </a:r>
              <a:r>
                <a:rPr lang="zh-CN" altLang="en-US" sz="2000" dirty="0">
                  <a:solidFill>
                    <a:schemeClr val="tx1"/>
                  </a:solidFill>
                </a:rPr>
                <a:t>引起。</a:t>
              </a:r>
            </a:p>
            <a:p>
              <a:pPr marL="742950" lvl="1" indent="-28575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>
                  <a:solidFill>
                    <a:schemeClr val="tx1"/>
                  </a:solidFill>
                </a:rPr>
                <a:t>出错（如除数为零或无效存储访问等）。</a:t>
              </a:r>
            </a:p>
            <a:p>
              <a:pPr marL="742950" lvl="1" indent="-28575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>
                  <a:solidFill>
                    <a:schemeClr val="tx1"/>
                  </a:solidFill>
                </a:rPr>
                <a:t>用户程序的特定请求（如执行</a:t>
              </a:r>
              <a:r>
                <a:rPr lang="en-US" altLang="zh-CN" dirty="0">
                  <a:solidFill>
                    <a:schemeClr val="tx1"/>
                  </a:solidFill>
                </a:rPr>
                <a:t>OS</a:t>
              </a:r>
              <a:r>
                <a:rPr lang="zh-CN" altLang="en-US" dirty="0">
                  <a:solidFill>
                    <a:schemeClr val="tx1"/>
                  </a:solidFill>
                </a:rPr>
                <a:t>的某个服务）。</a:t>
              </a:r>
            </a:p>
          </p:txBody>
        </p:sp>
        <p:sp>
          <p:nvSpPr>
            <p:cNvPr id="32" name="ï$lïďè"/>
            <p:cNvSpPr/>
            <p:nvPr/>
          </p:nvSpPr>
          <p:spPr bwMode="auto">
            <a:xfrm>
              <a:off x="2253506" y="1181131"/>
              <a:ext cx="333138" cy="310404"/>
            </a:xfrm>
            <a:custGeom>
              <a:avLst/>
              <a:gdLst>
                <a:gd name="connsiteX0" fmla="*/ 484855 w 606016"/>
                <a:gd name="connsiteY0" fmla="*/ 473988 h 564664"/>
                <a:gd name="connsiteX1" fmla="*/ 505037 w 606016"/>
                <a:gd name="connsiteY1" fmla="*/ 494170 h 564664"/>
                <a:gd name="connsiteX2" fmla="*/ 484855 w 606016"/>
                <a:gd name="connsiteY2" fmla="*/ 514352 h 564664"/>
                <a:gd name="connsiteX3" fmla="*/ 464673 w 606016"/>
                <a:gd name="connsiteY3" fmla="*/ 494170 h 564664"/>
                <a:gd name="connsiteX4" fmla="*/ 484855 w 606016"/>
                <a:gd name="connsiteY4" fmla="*/ 473988 h 564664"/>
                <a:gd name="connsiteX5" fmla="*/ 121232 w 606016"/>
                <a:gd name="connsiteY5" fmla="*/ 473988 h 564664"/>
                <a:gd name="connsiteX6" fmla="*/ 141414 w 606016"/>
                <a:gd name="connsiteY6" fmla="*/ 494170 h 564664"/>
                <a:gd name="connsiteX7" fmla="*/ 121232 w 606016"/>
                <a:gd name="connsiteY7" fmla="*/ 514352 h 564664"/>
                <a:gd name="connsiteX8" fmla="*/ 101050 w 606016"/>
                <a:gd name="connsiteY8" fmla="*/ 494170 h 564664"/>
                <a:gd name="connsiteX9" fmla="*/ 121232 w 606016"/>
                <a:gd name="connsiteY9" fmla="*/ 473988 h 564664"/>
                <a:gd name="connsiteX10" fmla="*/ 484813 w 606016"/>
                <a:gd name="connsiteY10" fmla="*/ 443658 h 564664"/>
                <a:gd name="connsiteX11" fmla="*/ 434364 w 606016"/>
                <a:gd name="connsiteY11" fmla="*/ 494115 h 564664"/>
                <a:gd name="connsiteX12" fmla="*/ 484813 w 606016"/>
                <a:gd name="connsiteY12" fmla="*/ 544482 h 564664"/>
                <a:gd name="connsiteX13" fmla="*/ 535352 w 606016"/>
                <a:gd name="connsiteY13" fmla="*/ 494115 h 564664"/>
                <a:gd name="connsiteX14" fmla="*/ 484813 w 606016"/>
                <a:gd name="connsiteY14" fmla="*/ 443658 h 564664"/>
                <a:gd name="connsiteX15" fmla="*/ 121293 w 606016"/>
                <a:gd name="connsiteY15" fmla="*/ 443658 h 564664"/>
                <a:gd name="connsiteX16" fmla="*/ 70755 w 606016"/>
                <a:gd name="connsiteY16" fmla="*/ 494115 h 564664"/>
                <a:gd name="connsiteX17" fmla="*/ 121293 w 606016"/>
                <a:gd name="connsiteY17" fmla="*/ 544482 h 564664"/>
                <a:gd name="connsiteX18" fmla="*/ 171742 w 606016"/>
                <a:gd name="connsiteY18" fmla="*/ 494115 h 564664"/>
                <a:gd name="connsiteX19" fmla="*/ 121293 w 606016"/>
                <a:gd name="connsiteY19" fmla="*/ 443658 h 564664"/>
                <a:gd name="connsiteX20" fmla="*/ 303053 w 606016"/>
                <a:gd name="connsiteY20" fmla="*/ 373109 h 564664"/>
                <a:gd name="connsiteX21" fmla="*/ 292945 w 606016"/>
                <a:gd name="connsiteY21" fmla="*/ 383200 h 564664"/>
                <a:gd name="connsiteX22" fmla="*/ 303053 w 606016"/>
                <a:gd name="connsiteY22" fmla="*/ 393292 h 564664"/>
                <a:gd name="connsiteX23" fmla="*/ 343484 w 606016"/>
                <a:gd name="connsiteY23" fmla="*/ 393292 h 564664"/>
                <a:gd name="connsiteX24" fmla="*/ 343484 w 606016"/>
                <a:gd name="connsiteY24" fmla="*/ 403383 h 564664"/>
                <a:gd name="connsiteX25" fmla="*/ 353592 w 606016"/>
                <a:gd name="connsiteY25" fmla="*/ 413474 h 564664"/>
                <a:gd name="connsiteX26" fmla="*/ 363610 w 606016"/>
                <a:gd name="connsiteY26" fmla="*/ 403383 h 564664"/>
                <a:gd name="connsiteX27" fmla="*/ 363610 w 606016"/>
                <a:gd name="connsiteY27" fmla="*/ 383200 h 564664"/>
                <a:gd name="connsiteX28" fmla="*/ 353592 w 606016"/>
                <a:gd name="connsiteY28" fmla="*/ 373109 h 564664"/>
                <a:gd name="connsiteX29" fmla="*/ 313169 w 606016"/>
                <a:gd name="connsiteY29" fmla="*/ 282403 h 564664"/>
                <a:gd name="connsiteX30" fmla="*/ 447018 w 606016"/>
                <a:gd name="connsiteY30" fmla="*/ 282403 h 564664"/>
                <a:gd name="connsiteX31" fmla="*/ 465069 w 606016"/>
                <a:gd name="connsiteY31" fmla="*/ 311699 h 564664"/>
                <a:gd name="connsiteX32" fmla="*/ 473282 w 606016"/>
                <a:gd name="connsiteY32" fmla="*/ 322696 h 564664"/>
                <a:gd name="connsiteX33" fmla="*/ 313169 w 606016"/>
                <a:gd name="connsiteY33" fmla="*/ 322696 h 564664"/>
                <a:gd name="connsiteX34" fmla="*/ 161665 w 606016"/>
                <a:gd name="connsiteY34" fmla="*/ 282403 h 564664"/>
                <a:gd name="connsiteX35" fmla="*/ 292917 w 606016"/>
                <a:gd name="connsiteY35" fmla="*/ 282403 h 564664"/>
                <a:gd name="connsiteX36" fmla="*/ 292917 w 606016"/>
                <a:gd name="connsiteY36" fmla="*/ 322696 h 564664"/>
                <a:gd name="connsiteX37" fmla="*/ 161665 w 606016"/>
                <a:gd name="connsiteY37" fmla="*/ 322696 h 564664"/>
                <a:gd name="connsiteX38" fmla="*/ 191958 w 606016"/>
                <a:gd name="connsiteY38" fmla="*/ 0 h 564664"/>
                <a:gd name="connsiteX39" fmla="*/ 202066 w 606016"/>
                <a:gd name="connsiteY39" fmla="*/ 10092 h 564664"/>
                <a:gd name="connsiteX40" fmla="*/ 202066 w 606016"/>
                <a:gd name="connsiteY40" fmla="*/ 40366 h 564664"/>
                <a:gd name="connsiteX41" fmla="*/ 222281 w 606016"/>
                <a:gd name="connsiteY41" fmla="*/ 40366 h 564664"/>
                <a:gd name="connsiteX42" fmla="*/ 222281 w 606016"/>
                <a:gd name="connsiteY42" fmla="*/ 10092 h 564664"/>
                <a:gd name="connsiteX43" fmla="*/ 232389 w 606016"/>
                <a:gd name="connsiteY43" fmla="*/ 0 h 564664"/>
                <a:gd name="connsiteX44" fmla="*/ 242406 w 606016"/>
                <a:gd name="connsiteY44" fmla="*/ 10092 h 564664"/>
                <a:gd name="connsiteX45" fmla="*/ 242406 w 606016"/>
                <a:gd name="connsiteY45" fmla="*/ 40366 h 564664"/>
                <a:gd name="connsiteX46" fmla="*/ 252514 w 606016"/>
                <a:gd name="connsiteY46" fmla="*/ 50457 h 564664"/>
                <a:gd name="connsiteX47" fmla="*/ 252514 w 606016"/>
                <a:gd name="connsiteY47" fmla="*/ 100823 h 564664"/>
                <a:gd name="connsiteX48" fmla="*/ 242406 w 606016"/>
                <a:gd name="connsiteY48" fmla="*/ 110915 h 564664"/>
                <a:gd name="connsiteX49" fmla="*/ 221379 w 606016"/>
                <a:gd name="connsiteY49" fmla="*/ 110915 h 564664"/>
                <a:gd name="connsiteX50" fmla="*/ 161634 w 606016"/>
                <a:gd name="connsiteY50" fmla="*/ 161371 h 564664"/>
                <a:gd name="connsiteX51" fmla="*/ 101078 w 606016"/>
                <a:gd name="connsiteY51" fmla="*/ 100823 h 564664"/>
                <a:gd name="connsiteX52" fmla="*/ 60647 w 606016"/>
                <a:gd name="connsiteY52" fmla="*/ 60548 h 564664"/>
                <a:gd name="connsiteX53" fmla="*/ 20216 w 606016"/>
                <a:gd name="connsiteY53" fmla="*/ 100823 h 564664"/>
                <a:gd name="connsiteX54" fmla="*/ 20216 w 606016"/>
                <a:gd name="connsiteY54" fmla="*/ 231921 h 564664"/>
                <a:gd name="connsiteX55" fmla="*/ 80862 w 606016"/>
                <a:gd name="connsiteY55" fmla="*/ 292469 h 564664"/>
                <a:gd name="connsiteX56" fmla="*/ 82126 w 606016"/>
                <a:gd name="connsiteY56" fmla="*/ 292649 h 564664"/>
                <a:gd name="connsiteX57" fmla="*/ 105229 w 606016"/>
                <a:gd name="connsiteY57" fmla="*/ 255167 h 564664"/>
                <a:gd name="connsiteX58" fmla="*/ 164883 w 606016"/>
                <a:gd name="connsiteY58" fmla="*/ 221829 h 564664"/>
                <a:gd name="connsiteX59" fmla="*/ 370559 w 606016"/>
                <a:gd name="connsiteY59" fmla="*/ 221829 h 564664"/>
                <a:gd name="connsiteX60" fmla="*/ 430213 w 606016"/>
                <a:gd name="connsiteY60" fmla="*/ 255077 h 564664"/>
                <a:gd name="connsiteX61" fmla="*/ 434545 w 606016"/>
                <a:gd name="connsiteY61" fmla="*/ 262195 h 564664"/>
                <a:gd name="connsiteX62" fmla="*/ 159920 w 606016"/>
                <a:gd name="connsiteY62" fmla="*/ 262195 h 564664"/>
                <a:gd name="connsiteX63" fmla="*/ 141419 w 606016"/>
                <a:gd name="connsiteY63" fmla="*/ 280575 h 564664"/>
                <a:gd name="connsiteX64" fmla="*/ 141419 w 606016"/>
                <a:gd name="connsiteY64" fmla="*/ 324455 h 564664"/>
                <a:gd name="connsiteX65" fmla="*/ 159920 w 606016"/>
                <a:gd name="connsiteY65" fmla="*/ 342835 h 564664"/>
                <a:gd name="connsiteX66" fmla="*/ 498801 w 606016"/>
                <a:gd name="connsiteY66" fmla="*/ 342835 h 564664"/>
                <a:gd name="connsiteX67" fmla="*/ 538962 w 606016"/>
                <a:gd name="connsiteY67" fmla="*/ 352926 h 564664"/>
                <a:gd name="connsiteX68" fmla="*/ 580566 w 606016"/>
                <a:gd name="connsiteY68" fmla="*/ 352926 h 564664"/>
                <a:gd name="connsiteX69" fmla="*/ 606016 w 606016"/>
                <a:gd name="connsiteY69" fmla="*/ 378335 h 564664"/>
                <a:gd name="connsiteX70" fmla="*/ 606016 w 606016"/>
                <a:gd name="connsiteY70" fmla="*/ 403383 h 564664"/>
                <a:gd name="connsiteX71" fmla="*/ 555567 w 606016"/>
                <a:gd name="connsiteY71" fmla="*/ 403383 h 564664"/>
                <a:gd name="connsiteX72" fmla="*/ 545460 w 606016"/>
                <a:gd name="connsiteY72" fmla="*/ 413474 h 564664"/>
                <a:gd name="connsiteX73" fmla="*/ 555567 w 606016"/>
                <a:gd name="connsiteY73" fmla="*/ 423476 h 564664"/>
                <a:gd name="connsiteX74" fmla="*/ 606016 w 606016"/>
                <a:gd name="connsiteY74" fmla="*/ 423476 h 564664"/>
                <a:gd name="connsiteX75" fmla="*/ 606016 w 606016"/>
                <a:gd name="connsiteY75" fmla="*/ 463391 h 564664"/>
                <a:gd name="connsiteX76" fmla="*/ 565224 w 606016"/>
                <a:gd name="connsiteY76" fmla="*/ 504206 h 564664"/>
                <a:gd name="connsiteX77" fmla="*/ 554755 w 606016"/>
                <a:gd name="connsiteY77" fmla="*/ 504206 h 564664"/>
                <a:gd name="connsiteX78" fmla="*/ 484813 w 606016"/>
                <a:gd name="connsiteY78" fmla="*/ 564664 h 564664"/>
                <a:gd name="connsiteX79" fmla="*/ 414961 w 606016"/>
                <a:gd name="connsiteY79" fmla="*/ 504206 h 564664"/>
                <a:gd name="connsiteX80" fmla="*/ 191145 w 606016"/>
                <a:gd name="connsiteY80" fmla="*/ 504206 h 564664"/>
                <a:gd name="connsiteX81" fmla="*/ 121293 w 606016"/>
                <a:gd name="connsiteY81" fmla="*/ 564664 h 564664"/>
                <a:gd name="connsiteX82" fmla="*/ 51351 w 606016"/>
                <a:gd name="connsiteY82" fmla="*/ 504206 h 564664"/>
                <a:gd name="connsiteX83" fmla="*/ 35377 w 606016"/>
                <a:gd name="connsiteY83" fmla="*/ 504206 h 564664"/>
                <a:gd name="connsiteX84" fmla="*/ 90 w 606016"/>
                <a:gd name="connsiteY84" fmla="*/ 468977 h 564664"/>
                <a:gd name="connsiteX85" fmla="*/ 0 w 606016"/>
                <a:gd name="connsiteY85" fmla="*/ 423476 h 564664"/>
                <a:gd name="connsiteX86" fmla="*/ 50539 w 606016"/>
                <a:gd name="connsiteY86" fmla="*/ 423476 h 564664"/>
                <a:gd name="connsiteX87" fmla="*/ 60647 w 606016"/>
                <a:gd name="connsiteY87" fmla="*/ 413474 h 564664"/>
                <a:gd name="connsiteX88" fmla="*/ 50539 w 606016"/>
                <a:gd name="connsiteY88" fmla="*/ 403383 h 564664"/>
                <a:gd name="connsiteX89" fmla="*/ 0 w 606016"/>
                <a:gd name="connsiteY89" fmla="*/ 403383 h 564664"/>
                <a:gd name="connsiteX90" fmla="*/ 0 w 606016"/>
                <a:gd name="connsiteY90" fmla="*/ 378335 h 564664"/>
                <a:gd name="connsiteX91" fmla="*/ 7400 w 606016"/>
                <a:gd name="connsiteY91" fmla="*/ 360405 h 564664"/>
                <a:gd name="connsiteX92" fmla="*/ 25540 w 606016"/>
                <a:gd name="connsiteY92" fmla="*/ 352926 h 564664"/>
                <a:gd name="connsiteX93" fmla="*/ 54961 w 606016"/>
                <a:gd name="connsiteY93" fmla="*/ 336798 h 564664"/>
                <a:gd name="connsiteX94" fmla="*/ 70303 w 606016"/>
                <a:gd name="connsiteY94" fmla="*/ 311840 h 564664"/>
                <a:gd name="connsiteX95" fmla="*/ 90 w 606016"/>
                <a:gd name="connsiteY95" fmla="*/ 231921 h 564664"/>
                <a:gd name="connsiteX96" fmla="*/ 90 w 606016"/>
                <a:gd name="connsiteY96" fmla="*/ 100823 h 564664"/>
                <a:gd name="connsiteX97" fmla="*/ 60647 w 606016"/>
                <a:gd name="connsiteY97" fmla="*/ 40366 h 564664"/>
                <a:gd name="connsiteX98" fmla="*/ 121293 w 606016"/>
                <a:gd name="connsiteY98" fmla="*/ 100823 h 564664"/>
                <a:gd name="connsiteX99" fmla="*/ 161634 w 606016"/>
                <a:gd name="connsiteY99" fmla="*/ 141189 h 564664"/>
                <a:gd name="connsiteX100" fmla="*/ 200622 w 606016"/>
                <a:gd name="connsiteY100" fmla="*/ 110915 h 564664"/>
                <a:gd name="connsiteX101" fmla="*/ 181850 w 606016"/>
                <a:gd name="connsiteY101" fmla="*/ 110915 h 564664"/>
                <a:gd name="connsiteX102" fmla="*/ 171742 w 606016"/>
                <a:gd name="connsiteY102" fmla="*/ 100823 h 564664"/>
                <a:gd name="connsiteX103" fmla="*/ 171742 w 606016"/>
                <a:gd name="connsiteY103" fmla="*/ 50457 h 564664"/>
                <a:gd name="connsiteX104" fmla="*/ 181850 w 606016"/>
                <a:gd name="connsiteY104" fmla="*/ 40366 h 564664"/>
                <a:gd name="connsiteX105" fmla="*/ 181850 w 606016"/>
                <a:gd name="connsiteY105" fmla="*/ 10092 h 564664"/>
                <a:gd name="connsiteX106" fmla="*/ 191958 w 606016"/>
                <a:gd name="connsiteY106" fmla="*/ 0 h 56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606016" h="564664">
                  <a:moveTo>
                    <a:pt x="484855" y="473988"/>
                  </a:moveTo>
                  <a:cubicBezTo>
                    <a:pt x="496001" y="473988"/>
                    <a:pt x="505037" y="483024"/>
                    <a:pt x="505037" y="494170"/>
                  </a:cubicBezTo>
                  <a:cubicBezTo>
                    <a:pt x="505037" y="505316"/>
                    <a:pt x="496001" y="514352"/>
                    <a:pt x="484855" y="514352"/>
                  </a:cubicBezTo>
                  <a:cubicBezTo>
                    <a:pt x="473709" y="514352"/>
                    <a:pt x="464673" y="505316"/>
                    <a:pt x="464673" y="494170"/>
                  </a:cubicBezTo>
                  <a:cubicBezTo>
                    <a:pt x="464673" y="483024"/>
                    <a:pt x="473709" y="473988"/>
                    <a:pt x="484855" y="473988"/>
                  </a:cubicBezTo>
                  <a:close/>
                  <a:moveTo>
                    <a:pt x="121232" y="473988"/>
                  </a:moveTo>
                  <a:cubicBezTo>
                    <a:pt x="132378" y="473988"/>
                    <a:pt x="141414" y="483024"/>
                    <a:pt x="141414" y="494170"/>
                  </a:cubicBezTo>
                  <a:cubicBezTo>
                    <a:pt x="141414" y="505316"/>
                    <a:pt x="132378" y="514352"/>
                    <a:pt x="121232" y="514352"/>
                  </a:cubicBezTo>
                  <a:cubicBezTo>
                    <a:pt x="110086" y="514352"/>
                    <a:pt x="101050" y="505316"/>
                    <a:pt x="101050" y="494170"/>
                  </a:cubicBezTo>
                  <a:cubicBezTo>
                    <a:pt x="101050" y="483024"/>
                    <a:pt x="110086" y="473988"/>
                    <a:pt x="121232" y="473988"/>
                  </a:cubicBezTo>
                  <a:close/>
                  <a:moveTo>
                    <a:pt x="484813" y="443658"/>
                  </a:moveTo>
                  <a:cubicBezTo>
                    <a:pt x="457016" y="443658"/>
                    <a:pt x="434364" y="466274"/>
                    <a:pt x="434364" y="494115"/>
                  </a:cubicBezTo>
                  <a:cubicBezTo>
                    <a:pt x="434364" y="521866"/>
                    <a:pt x="457016" y="544482"/>
                    <a:pt x="484813" y="544482"/>
                  </a:cubicBezTo>
                  <a:cubicBezTo>
                    <a:pt x="512699" y="544482"/>
                    <a:pt x="535352" y="521866"/>
                    <a:pt x="535352" y="494115"/>
                  </a:cubicBezTo>
                  <a:cubicBezTo>
                    <a:pt x="535352" y="466274"/>
                    <a:pt x="512699" y="443658"/>
                    <a:pt x="484813" y="443658"/>
                  </a:cubicBezTo>
                  <a:close/>
                  <a:moveTo>
                    <a:pt x="121293" y="443658"/>
                  </a:moveTo>
                  <a:cubicBezTo>
                    <a:pt x="93407" y="443658"/>
                    <a:pt x="70755" y="466274"/>
                    <a:pt x="70755" y="494115"/>
                  </a:cubicBezTo>
                  <a:cubicBezTo>
                    <a:pt x="70755" y="521866"/>
                    <a:pt x="93407" y="544482"/>
                    <a:pt x="121293" y="544482"/>
                  </a:cubicBezTo>
                  <a:cubicBezTo>
                    <a:pt x="149090" y="544482"/>
                    <a:pt x="171742" y="521866"/>
                    <a:pt x="171742" y="494115"/>
                  </a:cubicBezTo>
                  <a:cubicBezTo>
                    <a:pt x="171742" y="466274"/>
                    <a:pt x="149090" y="443658"/>
                    <a:pt x="121293" y="443658"/>
                  </a:cubicBezTo>
                  <a:close/>
                  <a:moveTo>
                    <a:pt x="303053" y="373109"/>
                  </a:moveTo>
                  <a:cubicBezTo>
                    <a:pt x="297458" y="373109"/>
                    <a:pt x="292945" y="377614"/>
                    <a:pt x="292945" y="383200"/>
                  </a:cubicBezTo>
                  <a:cubicBezTo>
                    <a:pt x="292945" y="388787"/>
                    <a:pt x="297458" y="393292"/>
                    <a:pt x="303053" y="393292"/>
                  </a:cubicBezTo>
                  <a:lnTo>
                    <a:pt x="343484" y="393292"/>
                  </a:lnTo>
                  <a:lnTo>
                    <a:pt x="343484" y="403383"/>
                  </a:lnTo>
                  <a:cubicBezTo>
                    <a:pt x="343484" y="408879"/>
                    <a:pt x="347997" y="413474"/>
                    <a:pt x="353592" y="413474"/>
                  </a:cubicBezTo>
                  <a:cubicBezTo>
                    <a:pt x="359097" y="413474"/>
                    <a:pt x="363610" y="408969"/>
                    <a:pt x="363610" y="403383"/>
                  </a:cubicBezTo>
                  <a:lnTo>
                    <a:pt x="363610" y="383200"/>
                  </a:lnTo>
                  <a:cubicBezTo>
                    <a:pt x="363610" y="377614"/>
                    <a:pt x="359097" y="373109"/>
                    <a:pt x="353592" y="373109"/>
                  </a:cubicBezTo>
                  <a:close/>
                  <a:moveTo>
                    <a:pt x="313169" y="282403"/>
                  </a:moveTo>
                  <a:lnTo>
                    <a:pt x="447018" y="282403"/>
                  </a:lnTo>
                  <a:lnTo>
                    <a:pt x="465069" y="311699"/>
                  </a:lnTo>
                  <a:cubicBezTo>
                    <a:pt x="467506" y="315665"/>
                    <a:pt x="470304" y="319271"/>
                    <a:pt x="473282" y="322696"/>
                  </a:cubicBezTo>
                  <a:lnTo>
                    <a:pt x="313169" y="322696"/>
                  </a:lnTo>
                  <a:close/>
                  <a:moveTo>
                    <a:pt x="161665" y="282403"/>
                  </a:moveTo>
                  <a:lnTo>
                    <a:pt x="292917" y="282403"/>
                  </a:lnTo>
                  <a:lnTo>
                    <a:pt x="292917" y="322696"/>
                  </a:lnTo>
                  <a:lnTo>
                    <a:pt x="161665" y="322696"/>
                  </a:lnTo>
                  <a:close/>
                  <a:moveTo>
                    <a:pt x="191958" y="0"/>
                  </a:moveTo>
                  <a:cubicBezTo>
                    <a:pt x="197553" y="0"/>
                    <a:pt x="202066" y="4505"/>
                    <a:pt x="202066" y="10092"/>
                  </a:cubicBezTo>
                  <a:lnTo>
                    <a:pt x="202066" y="40366"/>
                  </a:lnTo>
                  <a:lnTo>
                    <a:pt x="222281" y="40366"/>
                  </a:lnTo>
                  <a:lnTo>
                    <a:pt x="222281" y="10092"/>
                  </a:lnTo>
                  <a:cubicBezTo>
                    <a:pt x="222281" y="4505"/>
                    <a:pt x="226793" y="0"/>
                    <a:pt x="232389" y="0"/>
                  </a:cubicBezTo>
                  <a:cubicBezTo>
                    <a:pt x="237894" y="0"/>
                    <a:pt x="242406" y="4505"/>
                    <a:pt x="242406" y="10092"/>
                  </a:cubicBezTo>
                  <a:lnTo>
                    <a:pt x="242406" y="40366"/>
                  </a:lnTo>
                  <a:cubicBezTo>
                    <a:pt x="248002" y="40366"/>
                    <a:pt x="252514" y="44871"/>
                    <a:pt x="252514" y="50457"/>
                  </a:cubicBezTo>
                  <a:lnTo>
                    <a:pt x="252514" y="100823"/>
                  </a:lnTo>
                  <a:cubicBezTo>
                    <a:pt x="252514" y="106410"/>
                    <a:pt x="248002" y="110915"/>
                    <a:pt x="242406" y="110915"/>
                  </a:cubicBezTo>
                  <a:lnTo>
                    <a:pt x="221379" y="110915"/>
                  </a:lnTo>
                  <a:cubicBezTo>
                    <a:pt x="216505" y="139477"/>
                    <a:pt x="191597" y="161371"/>
                    <a:pt x="161634" y="161371"/>
                  </a:cubicBezTo>
                  <a:cubicBezTo>
                    <a:pt x="128243" y="161371"/>
                    <a:pt x="101078" y="134251"/>
                    <a:pt x="101078" y="100823"/>
                  </a:cubicBezTo>
                  <a:cubicBezTo>
                    <a:pt x="101078" y="78568"/>
                    <a:pt x="82938" y="60548"/>
                    <a:pt x="60647" y="60548"/>
                  </a:cubicBezTo>
                  <a:cubicBezTo>
                    <a:pt x="38355" y="60548"/>
                    <a:pt x="20216" y="78568"/>
                    <a:pt x="20216" y="100823"/>
                  </a:cubicBezTo>
                  <a:lnTo>
                    <a:pt x="20216" y="231921"/>
                  </a:lnTo>
                  <a:cubicBezTo>
                    <a:pt x="20216" y="265258"/>
                    <a:pt x="47470" y="292469"/>
                    <a:pt x="80862" y="292469"/>
                  </a:cubicBezTo>
                  <a:cubicBezTo>
                    <a:pt x="81314" y="292469"/>
                    <a:pt x="81675" y="292649"/>
                    <a:pt x="82126" y="292649"/>
                  </a:cubicBezTo>
                  <a:lnTo>
                    <a:pt x="105229" y="255167"/>
                  </a:lnTo>
                  <a:cubicBezTo>
                    <a:pt x="117864" y="234624"/>
                    <a:pt x="140697" y="221829"/>
                    <a:pt x="164883" y="221829"/>
                  </a:cubicBezTo>
                  <a:lnTo>
                    <a:pt x="370559" y="221829"/>
                  </a:lnTo>
                  <a:cubicBezTo>
                    <a:pt x="394655" y="221829"/>
                    <a:pt x="417578" y="234624"/>
                    <a:pt x="430213" y="255077"/>
                  </a:cubicBezTo>
                  <a:lnTo>
                    <a:pt x="434545" y="262195"/>
                  </a:lnTo>
                  <a:lnTo>
                    <a:pt x="159920" y="262195"/>
                  </a:lnTo>
                  <a:cubicBezTo>
                    <a:pt x="149722" y="262195"/>
                    <a:pt x="141419" y="270484"/>
                    <a:pt x="141419" y="280575"/>
                  </a:cubicBezTo>
                  <a:lnTo>
                    <a:pt x="141419" y="324455"/>
                  </a:lnTo>
                  <a:cubicBezTo>
                    <a:pt x="141419" y="334546"/>
                    <a:pt x="149722" y="342835"/>
                    <a:pt x="159920" y="342835"/>
                  </a:cubicBezTo>
                  <a:lnTo>
                    <a:pt x="498801" y="342835"/>
                  </a:lnTo>
                  <a:cubicBezTo>
                    <a:pt x="511075" y="349322"/>
                    <a:pt x="524793" y="352926"/>
                    <a:pt x="538962" y="352926"/>
                  </a:cubicBezTo>
                  <a:lnTo>
                    <a:pt x="580566" y="352926"/>
                  </a:lnTo>
                  <a:cubicBezTo>
                    <a:pt x="594645" y="352926"/>
                    <a:pt x="606016" y="364369"/>
                    <a:pt x="606016" y="378335"/>
                  </a:cubicBezTo>
                  <a:lnTo>
                    <a:pt x="606016" y="403383"/>
                  </a:lnTo>
                  <a:lnTo>
                    <a:pt x="555567" y="403383"/>
                  </a:lnTo>
                  <a:cubicBezTo>
                    <a:pt x="549972" y="403383"/>
                    <a:pt x="545460" y="407888"/>
                    <a:pt x="545460" y="413474"/>
                  </a:cubicBezTo>
                  <a:cubicBezTo>
                    <a:pt x="545460" y="418971"/>
                    <a:pt x="549972" y="423476"/>
                    <a:pt x="555567" y="423476"/>
                  </a:cubicBezTo>
                  <a:lnTo>
                    <a:pt x="606016" y="423476"/>
                  </a:lnTo>
                  <a:lnTo>
                    <a:pt x="606016" y="463391"/>
                  </a:lnTo>
                  <a:cubicBezTo>
                    <a:pt x="606016" y="485916"/>
                    <a:pt x="587696" y="504206"/>
                    <a:pt x="565224" y="504206"/>
                  </a:cubicBezTo>
                  <a:lnTo>
                    <a:pt x="554755" y="504206"/>
                  </a:lnTo>
                  <a:cubicBezTo>
                    <a:pt x="549791" y="538355"/>
                    <a:pt x="520371" y="564664"/>
                    <a:pt x="484813" y="564664"/>
                  </a:cubicBezTo>
                  <a:cubicBezTo>
                    <a:pt x="449345" y="564664"/>
                    <a:pt x="419924" y="538355"/>
                    <a:pt x="414961" y="504206"/>
                  </a:cubicBezTo>
                  <a:lnTo>
                    <a:pt x="191145" y="504206"/>
                  </a:lnTo>
                  <a:cubicBezTo>
                    <a:pt x="186182" y="538355"/>
                    <a:pt x="156761" y="564664"/>
                    <a:pt x="121293" y="564664"/>
                  </a:cubicBezTo>
                  <a:cubicBezTo>
                    <a:pt x="85736" y="564664"/>
                    <a:pt x="56315" y="538355"/>
                    <a:pt x="51351" y="504206"/>
                  </a:cubicBezTo>
                  <a:lnTo>
                    <a:pt x="35377" y="504206"/>
                  </a:lnTo>
                  <a:cubicBezTo>
                    <a:pt x="15884" y="504206"/>
                    <a:pt x="90" y="488349"/>
                    <a:pt x="90" y="468977"/>
                  </a:cubicBezTo>
                  <a:lnTo>
                    <a:pt x="0" y="423476"/>
                  </a:lnTo>
                  <a:lnTo>
                    <a:pt x="50539" y="423476"/>
                  </a:lnTo>
                  <a:cubicBezTo>
                    <a:pt x="56134" y="423476"/>
                    <a:pt x="60647" y="418971"/>
                    <a:pt x="60647" y="413474"/>
                  </a:cubicBezTo>
                  <a:cubicBezTo>
                    <a:pt x="60647" y="407888"/>
                    <a:pt x="56134" y="403383"/>
                    <a:pt x="50539" y="403383"/>
                  </a:cubicBezTo>
                  <a:lnTo>
                    <a:pt x="0" y="403383"/>
                  </a:lnTo>
                  <a:lnTo>
                    <a:pt x="0" y="378335"/>
                  </a:lnTo>
                  <a:cubicBezTo>
                    <a:pt x="0" y="371577"/>
                    <a:pt x="2617" y="365180"/>
                    <a:pt x="7400" y="360405"/>
                  </a:cubicBezTo>
                  <a:cubicBezTo>
                    <a:pt x="12274" y="355630"/>
                    <a:pt x="18681" y="352926"/>
                    <a:pt x="25540" y="352926"/>
                  </a:cubicBezTo>
                  <a:cubicBezTo>
                    <a:pt x="37814" y="352926"/>
                    <a:pt x="48824" y="346710"/>
                    <a:pt x="54961" y="336798"/>
                  </a:cubicBezTo>
                  <a:lnTo>
                    <a:pt x="70303" y="311840"/>
                  </a:lnTo>
                  <a:cubicBezTo>
                    <a:pt x="30775" y="306614"/>
                    <a:pt x="90" y="272827"/>
                    <a:pt x="90" y="231921"/>
                  </a:cubicBezTo>
                  <a:lnTo>
                    <a:pt x="90" y="100823"/>
                  </a:lnTo>
                  <a:cubicBezTo>
                    <a:pt x="90" y="67486"/>
                    <a:pt x="27255" y="40366"/>
                    <a:pt x="60647" y="40366"/>
                  </a:cubicBezTo>
                  <a:cubicBezTo>
                    <a:pt x="94039" y="40366"/>
                    <a:pt x="121293" y="67486"/>
                    <a:pt x="121293" y="100823"/>
                  </a:cubicBezTo>
                  <a:cubicBezTo>
                    <a:pt x="121293" y="123078"/>
                    <a:pt x="139343" y="141189"/>
                    <a:pt x="161634" y="141189"/>
                  </a:cubicBezTo>
                  <a:cubicBezTo>
                    <a:pt x="180406" y="141189"/>
                    <a:pt x="196109" y="128304"/>
                    <a:pt x="200622" y="110915"/>
                  </a:cubicBezTo>
                  <a:lnTo>
                    <a:pt x="181850" y="110915"/>
                  </a:lnTo>
                  <a:cubicBezTo>
                    <a:pt x="176255" y="110915"/>
                    <a:pt x="171742" y="106410"/>
                    <a:pt x="171742" y="100823"/>
                  </a:cubicBezTo>
                  <a:lnTo>
                    <a:pt x="171742" y="50457"/>
                  </a:lnTo>
                  <a:cubicBezTo>
                    <a:pt x="171742" y="44871"/>
                    <a:pt x="176255" y="40366"/>
                    <a:pt x="181850" y="40366"/>
                  </a:cubicBezTo>
                  <a:lnTo>
                    <a:pt x="181850" y="10092"/>
                  </a:lnTo>
                  <a:cubicBezTo>
                    <a:pt x="181850" y="4505"/>
                    <a:pt x="186362" y="0"/>
                    <a:pt x="191958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3" name="iś1îḓê"/>
            <p:cNvSpPr/>
            <p:nvPr/>
          </p:nvSpPr>
          <p:spPr bwMode="auto">
            <a:xfrm>
              <a:off x="5924135" y="1186438"/>
              <a:ext cx="333138" cy="299788"/>
            </a:xfrm>
            <a:custGeom>
              <a:avLst/>
              <a:gdLst>
                <a:gd name="connsiteX0" fmla="*/ 225929 w 608344"/>
                <a:gd name="connsiteY0" fmla="*/ 296304 h 547447"/>
                <a:gd name="connsiteX1" fmla="*/ 225929 w 608344"/>
                <a:gd name="connsiteY1" fmla="*/ 341046 h 547447"/>
                <a:gd name="connsiteX2" fmla="*/ 44891 w 608344"/>
                <a:gd name="connsiteY2" fmla="*/ 420403 h 547447"/>
                <a:gd name="connsiteX3" fmla="*/ 287412 w 608344"/>
                <a:gd name="connsiteY3" fmla="*/ 502613 h 547447"/>
                <a:gd name="connsiteX4" fmla="*/ 530026 w 608344"/>
                <a:gd name="connsiteY4" fmla="*/ 420403 h 547447"/>
                <a:gd name="connsiteX5" fmla="*/ 351292 w 608344"/>
                <a:gd name="connsiteY5" fmla="*/ 341322 h 547447"/>
                <a:gd name="connsiteX6" fmla="*/ 351292 w 608344"/>
                <a:gd name="connsiteY6" fmla="*/ 296488 h 547447"/>
                <a:gd name="connsiteX7" fmla="*/ 574825 w 608344"/>
                <a:gd name="connsiteY7" fmla="*/ 420403 h 547447"/>
                <a:gd name="connsiteX8" fmla="*/ 287412 w 608344"/>
                <a:gd name="connsiteY8" fmla="*/ 547447 h 547447"/>
                <a:gd name="connsiteX9" fmla="*/ 0 w 608344"/>
                <a:gd name="connsiteY9" fmla="*/ 420403 h 547447"/>
                <a:gd name="connsiteX10" fmla="*/ 225929 w 608344"/>
                <a:gd name="connsiteY10" fmla="*/ 296304 h 547447"/>
                <a:gd name="connsiteX11" fmla="*/ 288618 w 608344"/>
                <a:gd name="connsiteY11" fmla="*/ 0 h 547447"/>
                <a:gd name="connsiteX12" fmla="*/ 311206 w 608344"/>
                <a:gd name="connsiteY12" fmla="*/ 22551 h 547447"/>
                <a:gd name="connsiteX13" fmla="*/ 311206 w 608344"/>
                <a:gd name="connsiteY13" fmla="*/ 36174 h 547447"/>
                <a:gd name="connsiteX14" fmla="*/ 370947 w 608344"/>
                <a:gd name="connsiteY14" fmla="*/ 21079 h 547447"/>
                <a:gd name="connsiteX15" fmla="*/ 428291 w 608344"/>
                <a:gd name="connsiteY15" fmla="*/ 34978 h 547447"/>
                <a:gd name="connsiteX16" fmla="*/ 486004 w 608344"/>
                <a:gd name="connsiteY16" fmla="*/ 48969 h 547447"/>
                <a:gd name="connsiteX17" fmla="*/ 540766 w 608344"/>
                <a:gd name="connsiteY17" fmla="*/ 36450 h 547447"/>
                <a:gd name="connsiteX18" fmla="*/ 578012 w 608344"/>
                <a:gd name="connsiteY18" fmla="*/ 18409 h 547447"/>
                <a:gd name="connsiteX19" fmla="*/ 587232 w 608344"/>
                <a:gd name="connsiteY19" fmla="*/ 16292 h 547447"/>
                <a:gd name="connsiteX20" fmla="*/ 598479 w 608344"/>
                <a:gd name="connsiteY20" fmla="*/ 19514 h 547447"/>
                <a:gd name="connsiteX21" fmla="*/ 608344 w 608344"/>
                <a:gd name="connsiteY21" fmla="*/ 37371 h 547447"/>
                <a:gd name="connsiteX22" fmla="*/ 608344 w 608344"/>
                <a:gd name="connsiteY22" fmla="*/ 174520 h 547447"/>
                <a:gd name="connsiteX23" fmla="*/ 596451 w 608344"/>
                <a:gd name="connsiteY23" fmla="*/ 193481 h 547447"/>
                <a:gd name="connsiteX24" fmla="*/ 540766 w 608344"/>
                <a:gd name="connsiteY24" fmla="*/ 220451 h 547447"/>
                <a:gd name="connsiteX25" fmla="*/ 486004 w 608344"/>
                <a:gd name="connsiteY25" fmla="*/ 232969 h 547447"/>
                <a:gd name="connsiteX26" fmla="*/ 428291 w 608344"/>
                <a:gd name="connsiteY26" fmla="*/ 218978 h 547447"/>
                <a:gd name="connsiteX27" fmla="*/ 370947 w 608344"/>
                <a:gd name="connsiteY27" fmla="*/ 205079 h 547447"/>
                <a:gd name="connsiteX28" fmla="*/ 311206 w 608344"/>
                <a:gd name="connsiteY28" fmla="*/ 220175 h 547447"/>
                <a:gd name="connsiteX29" fmla="*/ 311206 w 608344"/>
                <a:gd name="connsiteY29" fmla="*/ 426267 h 547447"/>
                <a:gd name="connsiteX30" fmla="*/ 288618 w 608344"/>
                <a:gd name="connsiteY30" fmla="*/ 448726 h 547447"/>
                <a:gd name="connsiteX31" fmla="*/ 266031 w 608344"/>
                <a:gd name="connsiteY31" fmla="*/ 426267 h 547447"/>
                <a:gd name="connsiteX32" fmla="*/ 266031 w 608344"/>
                <a:gd name="connsiteY32" fmla="*/ 22551 h 547447"/>
                <a:gd name="connsiteX33" fmla="*/ 288618 w 608344"/>
                <a:gd name="connsiteY33" fmla="*/ 0 h 54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8344" h="547447">
                  <a:moveTo>
                    <a:pt x="225929" y="296304"/>
                  </a:moveTo>
                  <a:lnTo>
                    <a:pt x="225929" y="341046"/>
                  </a:lnTo>
                  <a:cubicBezTo>
                    <a:pt x="112458" y="351817"/>
                    <a:pt x="44891" y="391035"/>
                    <a:pt x="44891" y="420403"/>
                  </a:cubicBezTo>
                  <a:cubicBezTo>
                    <a:pt x="44891" y="454741"/>
                    <a:pt x="137162" y="502613"/>
                    <a:pt x="287412" y="502613"/>
                  </a:cubicBezTo>
                  <a:cubicBezTo>
                    <a:pt x="437663" y="502613"/>
                    <a:pt x="530026" y="454741"/>
                    <a:pt x="530026" y="420403"/>
                  </a:cubicBezTo>
                  <a:cubicBezTo>
                    <a:pt x="530026" y="391219"/>
                    <a:pt x="463289" y="352369"/>
                    <a:pt x="351292" y="341322"/>
                  </a:cubicBezTo>
                  <a:lnTo>
                    <a:pt x="351292" y="296488"/>
                  </a:lnTo>
                  <a:cubicBezTo>
                    <a:pt x="468543" y="307904"/>
                    <a:pt x="574825" y="350436"/>
                    <a:pt x="574825" y="420403"/>
                  </a:cubicBezTo>
                  <a:cubicBezTo>
                    <a:pt x="574825" y="502889"/>
                    <a:pt x="426786" y="547447"/>
                    <a:pt x="287412" y="547447"/>
                  </a:cubicBezTo>
                  <a:cubicBezTo>
                    <a:pt x="148131" y="547447"/>
                    <a:pt x="0" y="502889"/>
                    <a:pt x="0" y="420403"/>
                  </a:cubicBezTo>
                  <a:cubicBezTo>
                    <a:pt x="0" y="349976"/>
                    <a:pt x="107757" y="307351"/>
                    <a:pt x="225929" y="296304"/>
                  </a:cubicBezTo>
                  <a:close/>
                  <a:moveTo>
                    <a:pt x="288618" y="0"/>
                  </a:moveTo>
                  <a:cubicBezTo>
                    <a:pt x="301064" y="0"/>
                    <a:pt x="311206" y="10033"/>
                    <a:pt x="311206" y="22551"/>
                  </a:cubicBezTo>
                  <a:lnTo>
                    <a:pt x="311206" y="36174"/>
                  </a:lnTo>
                  <a:cubicBezTo>
                    <a:pt x="329829" y="26141"/>
                    <a:pt x="350388" y="21079"/>
                    <a:pt x="370947" y="21079"/>
                  </a:cubicBezTo>
                  <a:cubicBezTo>
                    <a:pt x="390584" y="21079"/>
                    <a:pt x="410313" y="25681"/>
                    <a:pt x="428291" y="34978"/>
                  </a:cubicBezTo>
                  <a:cubicBezTo>
                    <a:pt x="446361" y="44366"/>
                    <a:pt x="466182" y="48969"/>
                    <a:pt x="486004" y="48969"/>
                  </a:cubicBezTo>
                  <a:cubicBezTo>
                    <a:pt x="504719" y="48969"/>
                    <a:pt x="523526" y="44827"/>
                    <a:pt x="540766" y="36450"/>
                  </a:cubicBezTo>
                  <a:lnTo>
                    <a:pt x="578012" y="18409"/>
                  </a:lnTo>
                  <a:cubicBezTo>
                    <a:pt x="580963" y="17029"/>
                    <a:pt x="584097" y="16292"/>
                    <a:pt x="587232" y="16292"/>
                  </a:cubicBezTo>
                  <a:cubicBezTo>
                    <a:pt x="591104" y="16292"/>
                    <a:pt x="594976" y="17397"/>
                    <a:pt x="598479" y="19514"/>
                  </a:cubicBezTo>
                  <a:cubicBezTo>
                    <a:pt x="604564" y="23380"/>
                    <a:pt x="608344" y="30099"/>
                    <a:pt x="608344" y="37371"/>
                  </a:cubicBezTo>
                  <a:lnTo>
                    <a:pt x="608344" y="174520"/>
                  </a:lnTo>
                  <a:cubicBezTo>
                    <a:pt x="608344" y="182620"/>
                    <a:pt x="603734" y="189984"/>
                    <a:pt x="596451" y="193481"/>
                  </a:cubicBezTo>
                  <a:lnTo>
                    <a:pt x="540766" y="220451"/>
                  </a:lnTo>
                  <a:cubicBezTo>
                    <a:pt x="523434" y="228827"/>
                    <a:pt x="504719" y="232969"/>
                    <a:pt x="486004" y="232969"/>
                  </a:cubicBezTo>
                  <a:cubicBezTo>
                    <a:pt x="466182" y="232969"/>
                    <a:pt x="446361" y="228367"/>
                    <a:pt x="428291" y="218978"/>
                  </a:cubicBezTo>
                  <a:cubicBezTo>
                    <a:pt x="410313" y="209774"/>
                    <a:pt x="390584" y="205079"/>
                    <a:pt x="370947" y="205079"/>
                  </a:cubicBezTo>
                  <a:cubicBezTo>
                    <a:pt x="350388" y="205079"/>
                    <a:pt x="329829" y="210142"/>
                    <a:pt x="311206" y="220175"/>
                  </a:cubicBezTo>
                  <a:lnTo>
                    <a:pt x="311206" y="426267"/>
                  </a:lnTo>
                  <a:cubicBezTo>
                    <a:pt x="311206" y="438693"/>
                    <a:pt x="301064" y="448726"/>
                    <a:pt x="288618" y="448726"/>
                  </a:cubicBezTo>
                  <a:cubicBezTo>
                    <a:pt x="276172" y="448726"/>
                    <a:pt x="266031" y="438693"/>
                    <a:pt x="266031" y="426267"/>
                  </a:cubicBezTo>
                  <a:lnTo>
                    <a:pt x="266031" y="22551"/>
                  </a:lnTo>
                  <a:cubicBezTo>
                    <a:pt x="266031" y="10033"/>
                    <a:pt x="276172" y="0"/>
                    <a:pt x="288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4" name="išľíḓé"/>
            <p:cNvSpPr/>
            <p:nvPr/>
          </p:nvSpPr>
          <p:spPr bwMode="auto">
            <a:xfrm>
              <a:off x="9594763" y="1183282"/>
              <a:ext cx="333138" cy="306100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  <a:gd name="connsiteX91" fmla="*/ 373273 h 605239"/>
                <a:gd name="connsiteY91" fmla="*/ 373273 h 605239"/>
                <a:gd name="connsiteX92" fmla="*/ 373273 h 605239"/>
                <a:gd name="connsiteY92" fmla="*/ 373273 h 605239"/>
                <a:gd name="connsiteX93" fmla="*/ 373273 h 605239"/>
                <a:gd name="connsiteY93" fmla="*/ 373273 h 605239"/>
                <a:gd name="connsiteX94" fmla="*/ 373273 h 605239"/>
                <a:gd name="connsiteY94" fmla="*/ 373273 h 605239"/>
                <a:gd name="connsiteX95" fmla="*/ 373273 h 605239"/>
                <a:gd name="connsiteY95" fmla="*/ 373273 h 605239"/>
                <a:gd name="connsiteX96" fmla="*/ 373273 h 605239"/>
                <a:gd name="connsiteY96" fmla="*/ 373273 h 605239"/>
                <a:gd name="connsiteX97" fmla="*/ 373273 h 605239"/>
                <a:gd name="connsiteY97" fmla="*/ 373273 h 605239"/>
                <a:gd name="connsiteX98" fmla="*/ 373273 h 605239"/>
                <a:gd name="connsiteY98" fmla="*/ 373273 h 605239"/>
                <a:gd name="connsiteX99" fmla="*/ 373273 h 605239"/>
                <a:gd name="connsiteY99" fmla="*/ 373273 h 605239"/>
                <a:gd name="connsiteX100" fmla="*/ 373273 h 605239"/>
                <a:gd name="connsiteY100" fmla="*/ 373273 h 605239"/>
                <a:gd name="connsiteX101" fmla="*/ 373273 h 605239"/>
                <a:gd name="connsiteY101" fmla="*/ 373273 h 605239"/>
                <a:gd name="connsiteX102" fmla="*/ 373273 h 605239"/>
                <a:gd name="connsiteY102" fmla="*/ 373273 h 605239"/>
                <a:gd name="connsiteX103" fmla="*/ 373273 h 605239"/>
                <a:gd name="connsiteY103" fmla="*/ 373273 h 605239"/>
                <a:gd name="connsiteX104" fmla="*/ 373273 h 605239"/>
                <a:gd name="connsiteY104" fmla="*/ 373273 h 605239"/>
                <a:gd name="connsiteX105" fmla="*/ 373273 h 605239"/>
                <a:gd name="connsiteY105" fmla="*/ 373273 h 605239"/>
                <a:gd name="connsiteX106" fmla="*/ 373273 h 605239"/>
                <a:gd name="connsiteY106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608909" h="559493">
                  <a:moveTo>
                    <a:pt x="470180" y="272856"/>
                  </a:moveTo>
                  <a:lnTo>
                    <a:pt x="476019" y="272856"/>
                  </a:lnTo>
                  <a:lnTo>
                    <a:pt x="481953" y="272856"/>
                  </a:lnTo>
                  <a:cubicBezTo>
                    <a:pt x="509171" y="272856"/>
                    <a:pt x="531210" y="294963"/>
                    <a:pt x="531210" y="322056"/>
                  </a:cubicBezTo>
                  <a:lnTo>
                    <a:pt x="531210" y="376617"/>
                  </a:lnTo>
                  <a:cubicBezTo>
                    <a:pt x="531210" y="385084"/>
                    <a:pt x="526783" y="392609"/>
                    <a:pt x="520096" y="397031"/>
                  </a:cubicBezTo>
                  <a:lnTo>
                    <a:pt x="520096" y="449711"/>
                  </a:lnTo>
                  <a:cubicBezTo>
                    <a:pt x="520096" y="450558"/>
                    <a:pt x="520661" y="451498"/>
                    <a:pt x="521509" y="451875"/>
                  </a:cubicBezTo>
                  <a:cubicBezTo>
                    <a:pt x="528949" y="455450"/>
                    <a:pt x="565492" y="473888"/>
                    <a:pt x="599209" y="501639"/>
                  </a:cubicBezTo>
                  <a:cubicBezTo>
                    <a:pt x="605425" y="506625"/>
                    <a:pt x="608909" y="514150"/>
                    <a:pt x="608909" y="522052"/>
                  </a:cubicBezTo>
                  <a:lnTo>
                    <a:pt x="608909" y="559493"/>
                  </a:lnTo>
                  <a:lnTo>
                    <a:pt x="483083" y="559493"/>
                  </a:lnTo>
                  <a:lnTo>
                    <a:pt x="483083" y="515561"/>
                  </a:lnTo>
                  <a:cubicBezTo>
                    <a:pt x="483083" y="499475"/>
                    <a:pt x="476019" y="484424"/>
                    <a:pt x="463587" y="474264"/>
                  </a:cubicBezTo>
                  <a:cubicBezTo>
                    <a:pt x="453039" y="465609"/>
                    <a:pt x="442302" y="457707"/>
                    <a:pt x="431848" y="450558"/>
                  </a:cubicBezTo>
                  <a:cubicBezTo>
                    <a:pt x="431848" y="450370"/>
                    <a:pt x="431942" y="450087"/>
                    <a:pt x="431942" y="449711"/>
                  </a:cubicBezTo>
                  <a:lnTo>
                    <a:pt x="431942" y="397031"/>
                  </a:lnTo>
                  <a:cubicBezTo>
                    <a:pt x="425350" y="392609"/>
                    <a:pt x="420923" y="385084"/>
                    <a:pt x="420923" y="376617"/>
                  </a:cubicBezTo>
                  <a:lnTo>
                    <a:pt x="420923" y="322056"/>
                  </a:lnTo>
                  <a:cubicBezTo>
                    <a:pt x="420923" y="294775"/>
                    <a:pt x="443056" y="272856"/>
                    <a:pt x="470180" y="272856"/>
                  </a:cubicBezTo>
                  <a:close/>
                  <a:moveTo>
                    <a:pt x="127004" y="272856"/>
                  </a:moveTo>
                  <a:lnTo>
                    <a:pt x="132940" y="272856"/>
                  </a:lnTo>
                  <a:lnTo>
                    <a:pt x="138781" y="272856"/>
                  </a:lnTo>
                  <a:cubicBezTo>
                    <a:pt x="166104" y="272856"/>
                    <a:pt x="188057" y="294963"/>
                    <a:pt x="188057" y="322056"/>
                  </a:cubicBezTo>
                  <a:lnTo>
                    <a:pt x="188057" y="376617"/>
                  </a:lnTo>
                  <a:cubicBezTo>
                    <a:pt x="188057" y="385084"/>
                    <a:pt x="183629" y="392609"/>
                    <a:pt x="177033" y="397031"/>
                  </a:cubicBezTo>
                  <a:lnTo>
                    <a:pt x="177033" y="449711"/>
                  </a:lnTo>
                  <a:cubicBezTo>
                    <a:pt x="177033" y="449993"/>
                    <a:pt x="177128" y="450370"/>
                    <a:pt x="177128" y="450558"/>
                  </a:cubicBezTo>
                  <a:cubicBezTo>
                    <a:pt x="166670" y="457613"/>
                    <a:pt x="155929" y="465609"/>
                    <a:pt x="145376" y="474264"/>
                  </a:cubicBezTo>
                  <a:cubicBezTo>
                    <a:pt x="133034" y="484424"/>
                    <a:pt x="125874" y="499475"/>
                    <a:pt x="125874" y="515561"/>
                  </a:cubicBezTo>
                  <a:lnTo>
                    <a:pt x="125874" y="559493"/>
                  </a:lnTo>
                  <a:lnTo>
                    <a:pt x="0" y="559493"/>
                  </a:lnTo>
                  <a:lnTo>
                    <a:pt x="0" y="522052"/>
                  </a:lnTo>
                  <a:cubicBezTo>
                    <a:pt x="0" y="514150"/>
                    <a:pt x="3486" y="506625"/>
                    <a:pt x="9704" y="501639"/>
                  </a:cubicBezTo>
                  <a:cubicBezTo>
                    <a:pt x="43434" y="473888"/>
                    <a:pt x="79990" y="455450"/>
                    <a:pt x="87433" y="451875"/>
                  </a:cubicBezTo>
                  <a:cubicBezTo>
                    <a:pt x="88281" y="451498"/>
                    <a:pt x="88846" y="450558"/>
                    <a:pt x="88846" y="449711"/>
                  </a:cubicBezTo>
                  <a:lnTo>
                    <a:pt x="88846" y="397031"/>
                  </a:lnTo>
                  <a:cubicBezTo>
                    <a:pt x="82157" y="392609"/>
                    <a:pt x="77729" y="385084"/>
                    <a:pt x="77729" y="376617"/>
                  </a:cubicBezTo>
                  <a:lnTo>
                    <a:pt x="77729" y="322056"/>
                  </a:lnTo>
                  <a:cubicBezTo>
                    <a:pt x="77729" y="294775"/>
                    <a:pt x="99870" y="272856"/>
                    <a:pt x="127004" y="272856"/>
                  </a:cubicBezTo>
                  <a:close/>
                  <a:moveTo>
                    <a:pt x="297600" y="222543"/>
                  </a:moveTo>
                  <a:lnTo>
                    <a:pt x="304477" y="222543"/>
                  </a:lnTo>
                  <a:lnTo>
                    <a:pt x="311260" y="222543"/>
                  </a:lnTo>
                  <a:cubicBezTo>
                    <a:pt x="343291" y="222543"/>
                    <a:pt x="369198" y="248506"/>
                    <a:pt x="369198" y="280395"/>
                  </a:cubicBezTo>
                  <a:lnTo>
                    <a:pt x="369198" y="344455"/>
                  </a:lnTo>
                  <a:cubicBezTo>
                    <a:pt x="369198" y="354520"/>
                    <a:pt x="364017" y="363456"/>
                    <a:pt x="356198" y="368536"/>
                  </a:cubicBezTo>
                  <a:lnTo>
                    <a:pt x="356198" y="430432"/>
                  </a:lnTo>
                  <a:cubicBezTo>
                    <a:pt x="356198" y="431561"/>
                    <a:pt x="356857" y="432502"/>
                    <a:pt x="357893" y="433066"/>
                  </a:cubicBezTo>
                  <a:cubicBezTo>
                    <a:pt x="366655" y="437299"/>
                    <a:pt x="409520" y="459029"/>
                    <a:pt x="449275" y="491576"/>
                  </a:cubicBezTo>
                  <a:cubicBezTo>
                    <a:pt x="456435" y="497502"/>
                    <a:pt x="460580" y="506251"/>
                    <a:pt x="460580" y="515563"/>
                  </a:cubicBezTo>
                  <a:lnTo>
                    <a:pt x="460580" y="559493"/>
                  </a:lnTo>
                  <a:lnTo>
                    <a:pt x="304477" y="559493"/>
                  </a:lnTo>
                  <a:lnTo>
                    <a:pt x="148187" y="559493"/>
                  </a:lnTo>
                  <a:lnTo>
                    <a:pt x="148187" y="515563"/>
                  </a:lnTo>
                  <a:cubicBezTo>
                    <a:pt x="148187" y="506251"/>
                    <a:pt x="152332" y="497502"/>
                    <a:pt x="159492" y="491576"/>
                  </a:cubicBezTo>
                  <a:cubicBezTo>
                    <a:pt x="199342" y="459029"/>
                    <a:pt x="242206" y="437299"/>
                    <a:pt x="250967" y="433066"/>
                  </a:cubicBezTo>
                  <a:cubicBezTo>
                    <a:pt x="252004" y="432502"/>
                    <a:pt x="252569" y="431561"/>
                    <a:pt x="252569" y="430432"/>
                  </a:cubicBezTo>
                  <a:lnTo>
                    <a:pt x="252569" y="368536"/>
                  </a:lnTo>
                  <a:cubicBezTo>
                    <a:pt x="244844" y="363456"/>
                    <a:pt x="239663" y="354520"/>
                    <a:pt x="239663" y="344455"/>
                  </a:cubicBezTo>
                  <a:lnTo>
                    <a:pt x="239663" y="280395"/>
                  </a:lnTo>
                  <a:cubicBezTo>
                    <a:pt x="239663" y="248412"/>
                    <a:pt x="265664" y="222543"/>
                    <a:pt x="297600" y="222543"/>
                  </a:cubicBezTo>
                  <a:close/>
                  <a:moveTo>
                    <a:pt x="492495" y="40775"/>
                  </a:moveTo>
                  <a:cubicBezTo>
                    <a:pt x="488350" y="40775"/>
                    <a:pt x="487596" y="41528"/>
                    <a:pt x="487502" y="45854"/>
                  </a:cubicBezTo>
                  <a:lnTo>
                    <a:pt x="487502" y="51498"/>
                  </a:lnTo>
                  <a:cubicBezTo>
                    <a:pt x="487502" y="57142"/>
                    <a:pt x="487502" y="56953"/>
                    <a:pt x="482038" y="59023"/>
                  </a:cubicBezTo>
                  <a:cubicBezTo>
                    <a:pt x="469036" y="63726"/>
                    <a:pt x="460934" y="72661"/>
                    <a:pt x="460086" y="86864"/>
                  </a:cubicBezTo>
                  <a:cubicBezTo>
                    <a:pt x="459332" y="99374"/>
                    <a:pt x="465833" y="107934"/>
                    <a:pt x="476196" y="114048"/>
                  </a:cubicBezTo>
                  <a:cubicBezTo>
                    <a:pt x="482414" y="117810"/>
                    <a:pt x="489480" y="120068"/>
                    <a:pt x="496264" y="123078"/>
                  </a:cubicBezTo>
                  <a:cubicBezTo>
                    <a:pt x="498902" y="124206"/>
                    <a:pt x="501445" y="125617"/>
                    <a:pt x="503706" y="127310"/>
                  </a:cubicBezTo>
                  <a:cubicBezTo>
                    <a:pt x="510207" y="132578"/>
                    <a:pt x="508982" y="141513"/>
                    <a:pt x="501257" y="144900"/>
                  </a:cubicBezTo>
                  <a:cubicBezTo>
                    <a:pt x="497112" y="146781"/>
                    <a:pt x="492778" y="147157"/>
                    <a:pt x="488350" y="146687"/>
                  </a:cubicBezTo>
                  <a:cubicBezTo>
                    <a:pt x="481472" y="145746"/>
                    <a:pt x="474783" y="144053"/>
                    <a:pt x="468659" y="140761"/>
                  </a:cubicBezTo>
                  <a:cubicBezTo>
                    <a:pt x="464985" y="138880"/>
                    <a:pt x="463949" y="139350"/>
                    <a:pt x="462724" y="143301"/>
                  </a:cubicBezTo>
                  <a:cubicBezTo>
                    <a:pt x="461593" y="146687"/>
                    <a:pt x="460557" y="150167"/>
                    <a:pt x="459709" y="153553"/>
                  </a:cubicBezTo>
                  <a:cubicBezTo>
                    <a:pt x="458484" y="158162"/>
                    <a:pt x="458861" y="159291"/>
                    <a:pt x="463572" y="161548"/>
                  </a:cubicBezTo>
                  <a:cubicBezTo>
                    <a:pt x="469130" y="164370"/>
                    <a:pt x="475160" y="165687"/>
                    <a:pt x="481284" y="166722"/>
                  </a:cubicBezTo>
                  <a:cubicBezTo>
                    <a:pt x="486089" y="167474"/>
                    <a:pt x="486371" y="167568"/>
                    <a:pt x="486371" y="172647"/>
                  </a:cubicBezTo>
                  <a:lnTo>
                    <a:pt x="486371" y="179420"/>
                  </a:lnTo>
                  <a:cubicBezTo>
                    <a:pt x="486371" y="182147"/>
                    <a:pt x="487690" y="183934"/>
                    <a:pt x="490611" y="183934"/>
                  </a:cubicBezTo>
                  <a:cubicBezTo>
                    <a:pt x="493908" y="184029"/>
                    <a:pt x="497300" y="184029"/>
                    <a:pt x="500503" y="183934"/>
                  </a:cubicBezTo>
                  <a:cubicBezTo>
                    <a:pt x="503330" y="183934"/>
                    <a:pt x="504649" y="182430"/>
                    <a:pt x="504649" y="179608"/>
                  </a:cubicBezTo>
                  <a:cubicBezTo>
                    <a:pt x="504649" y="176504"/>
                    <a:pt x="504837" y="173494"/>
                    <a:pt x="504649" y="170390"/>
                  </a:cubicBezTo>
                  <a:cubicBezTo>
                    <a:pt x="504554" y="167192"/>
                    <a:pt x="505968" y="165687"/>
                    <a:pt x="508982" y="164840"/>
                  </a:cubicBezTo>
                  <a:cubicBezTo>
                    <a:pt x="515860" y="162959"/>
                    <a:pt x="521889" y="159197"/>
                    <a:pt x="526412" y="153647"/>
                  </a:cubicBezTo>
                  <a:cubicBezTo>
                    <a:pt x="538942" y="138221"/>
                    <a:pt x="534231" y="115835"/>
                    <a:pt x="516237" y="105865"/>
                  </a:cubicBezTo>
                  <a:cubicBezTo>
                    <a:pt x="510584" y="102761"/>
                    <a:pt x="504554" y="100503"/>
                    <a:pt x="498619" y="97964"/>
                  </a:cubicBezTo>
                  <a:cubicBezTo>
                    <a:pt x="495227" y="96647"/>
                    <a:pt x="492024" y="94860"/>
                    <a:pt x="489104" y="92602"/>
                  </a:cubicBezTo>
                  <a:cubicBezTo>
                    <a:pt x="483451" y="88087"/>
                    <a:pt x="484581" y="80657"/>
                    <a:pt x="491270" y="77835"/>
                  </a:cubicBezTo>
                  <a:cubicBezTo>
                    <a:pt x="493155" y="76894"/>
                    <a:pt x="495133" y="76706"/>
                    <a:pt x="497112" y="76518"/>
                  </a:cubicBezTo>
                  <a:cubicBezTo>
                    <a:pt x="504931" y="76142"/>
                    <a:pt x="512186" y="77553"/>
                    <a:pt x="519252" y="80939"/>
                  </a:cubicBezTo>
                  <a:cubicBezTo>
                    <a:pt x="522643" y="82538"/>
                    <a:pt x="523868" y="82067"/>
                    <a:pt x="524998" y="78399"/>
                  </a:cubicBezTo>
                  <a:cubicBezTo>
                    <a:pt x="526317" y="74543"/>
                    <a:pt x="527260" y="70686"/>
                    <a:pt x="528390" y="66736"/>
                  </a:cubicBezTo>
                  <a:cubicBezTo>
                    <a:pt x="529144" y="64102"/>
                    <a:pt x="528296" y="62503"/>
                    <a:pt x="525752" y="61374"/>
                  </a:cubicBezTo>
                  <a:cubicBezTo>
                    <a:pt x="521230" y="59399"/>
                    <a:pt x="516708" y="57988"/>
                    <a:pt x="511809" y="57236"/>
                  </a:cubicBezTo>
                  <a:cubicBezTo>
                    <a:pt x="505402" y="56201"/>
                    <a:pt x="505402" y="56201"/>
                    <a:pt x="505402" y="49805"/>
                  </a:cubicBezTo>
                  <a:cubicBezTo>
                    <a:pt x="505402" y="40775"/>
                    <a:pt x="505402" y="40775"/>
                    <a:pt x="496358" y="40775"/>
                  </a:cubicBezTo>
                  <a:close/>
                  <a:moveTo>
                    <a:pt x="496111" y="0"/>
                  </a:moveTo>
                  <a:cubicBezTo>
                    <a:pt x="524951" y="0"/>
                    <a:pt x="553781" y="10958"/>
                    <a:pt x="575779" y="32874"/>
                  </a:cubicBezTo>
                  <a:cubicBezTo>
                    <a:pt x="619776" y="76894"/>
                    <a:pt x="619776" y="148192"/>
                    <a:pt x="575779" y="192024"/>
                  </a:cubicBezTo>
                  <a:cubicBezTo>
                    <a:pt x="538754" y="229083"/>
                    <a:pt x="482226" y="234821"/>
                    <a:pt x="438982" y="209519"/>
                  </a:cubicBezTo>
                  <a:lnTo>
                    <a:pt x="438700" y="209237"/>
                  </a:lnTo>
                  <a:cubicBezTo>
                    <a:pt x="421742" y="222029"/>
                    <a:pt x="403559" y="224286"/>
                    <a:pt x="390840" y="222311"/>
                  </a:cubicBezTo>
                  <a:cubicBezTo>
                    <a:pt x="386600" y="221653"/>
                    <a:pt x="385752" y="215915"/>
                    <a:pt x="389615" y="214034"/>
                  </a:cubicBezTo>
                  <a:cubicBezTo>
                    <a:pt x="401297" y="208202"/>
                    <a:pt x="408552" y="196915"/>
                    <a:pt x="412886" y="187791"/>
                  </a:cubicBezTo>
                  <a:lnTo>
                    <a:pt x="411567" y="187038"/>
                  </a:lnTo>
                  <a:cubicBezTo>
                    <a:pt x="372374" y="142736"/>
                    <a:pt x="374070" y="75201"/>
                    <a:pt x="416371" y="32874"/>
                  </a:cubicBezTo>
                  <a:cubicBezTo>
                    <a:pt x="438417" y="10958"/>
                    <a:pt x="467270" y="0"/>
                    <a:pt x="49611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58570" y="963930"/>
            <a:ext cx="5722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问题</a:t>
            </a:r>
            <a:r>
              <a:rPr lang="en-US" altLang="zh-CN" sz="2400"/>
              <a:t>1.</a:t>
            </a:r>
            <a:r>
              <a:rPr lang="zh-CN" altLang="en-US" sz="2400"/>
              <a:t>用户态、核心态、特权指令。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9645" y="1786890"/>
            <a:ext cx="10258425" cy="448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/>
              <a:t>4.</a:t>
            </a:r>
            <a:r>
              <a:rPr lang="zh-CN" altLang="en-US" sz="2400"/>
              <a:t>下列关于多道程序系统的叙述中，不正确的是（</a:t>
            </a:r>
            <a:r>
              <a:rPr lang="en-US" altLang="zh-CN" sz="2400"/>
              <a:t> </a:t>
            </a:r>
            <a:r>
              <a:rPr lang="zh-CN" altLang="en-US" sz="2400"/>
              <a:t>）。</a:t>
            </a:r>
            <a:r>
              <a:rPr lang="en-US" altLang="zh-CN" sz="2400"/>
              <a:t>             [</a:t>
            </a:r>
            <a:r>
              <a:rPr lang="zh-CN" altLang="en-US" sz="2400"/>
              <a:t>全国联考</a:t>
            </a:r>
            <a:r>
              <a:rPr lang="en-US" altLang="zh-CN" sz="2400"/>
              <a:t>2022</a:t>
            </a:r>
            <a:r>
              <a:rPr lang="zh-CN" altLang="en-US" sz="2400"/>
              <a:t>年</a:t>
            </a:r>
            <a:r>
              <a:rPr lang="en-US" altLang="zh-CN" sz="2400"/>
              <a:t>]</a:t>
            </a:r>
          </a:p>
          <a:p>
            <a:r>
              <a:rPr lang="en-US" altLang="zh-CN" sz="2400"/>
              <a:t>A.</a:t>
            </a:r>
            <a:r>
              <a:rPr lang="zh-CN" altLang="en-US" sz="2400"/>
              <a:t>支持进程的并发执行</a:t>
            </a:r>
          </a:p>
          <a:p>
            <a:r>
              <a:rPr lang="en-US" altLang="zh-CN" sz="2400"/>
              <a:t>B.</a:t>
            </a:r>
            <a:r>
              <a:rPr lang="zh-CN" altLang="en-US" sz="2400"/>
              <a:t>不必支持虚拟存储管理</a:t>
            </a:r>
          </a:p>
          <a:p>
            <a:r>
              <a:rPr lang="en-US" altLang="zh-CN" sz="2400"/>
              <a:t>C.</a:t>
            </a:r>
            <a:r>
              <a:rPr lang="zh-CN" altLang="en-US" sz="2400"/>
              <a:t>需要实现对共享资源的管理</a:t>
            </a:r>
          </a:p>
          <a:p>
            <a:r>
              <a:rPr lang="en-US" altLang="zh-CN" sz="2400">
                <a:solidFill>
                  <a:srgbClr val="FF0000"/>
                </a:solidFill>
              </a:rPr>
              <a:t>D</a:t>
            </a:r>
            <a:r>
              <a:rPr lang="en-US" altLang="zh-CN" sz="2400"/>
              <a:t>.</a:t>
            </a:r>
            <a:r>
              <a:rPr lang="zh-CN" altLang="en-US" sz="2400"/>
              <a:t>进程数越多</a:t>
            </a:r>
            <a:r>
              <a:rPr lang="en-US" altLang="zh-CN" sz="2400"/>
              <a:t>CPU</a:t>
            </a:r>
            <a:r>
              <a:rPr lang="zh-CN" altLang="en-US" sz="2400"/>
              <a:t>利用率越高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8220" y="932815"/>
            <a:ext cx="10066655" cy="5296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/>
              <a:t>6.</a:t>
            </a:r>
            <a:r>
              <a:rPr lang="zh-CN" altLang="en-US" sz="2400"/>
              <a:t>下列关于</a:t>
            </a:r>
            <a:r>
              <a:rPr lang="en-US" altLang="zh-CN" sz="2400"/>
              <a:t> CPU </a:t>
            </a:r>
            <a:r>
              <a:rPr lang="zh-CN" altLang="en-US" sz="2400"/>
              <a:t>模式的叙述中，正确的是（</a:t>
            </a:r>
            <a:r>
              <a:rPr lang="en-US" altLang="zh-CN" sz="2400"/>
              <a:t> </a:t>
            </a:r>
            <a:r>
              <a:rPr lang="zh-CN" altLang="en-US" sz="2400"/>
              <a:t>）。</a:t>
            </a:r>
            <a:r>
              <a:rPr lang="en-US" altLang="zh-CN" sz="2400"/>
              <a:t>             [</a:t>
            </a:r>
            <a:r>
              <a:rPr lang="zh-CN" altLang="en-US" sz="2400"/>
              <a:t>全国联考</a:t>
            </a:r>
            <a:r>
              <a:rPr lang="en-US" altLang="zh-CN" sz="2400"/>
              <a:t>2022</a:t>
            </a:r>
            <a:r>
              <a:rPr lang="zh-CN" altLang="en-US" sz="2400"/>
              <a:t>年</a:t>
            </a:r>
            <a:r>
              <a:rPr lang="en-US" altLang="zh-CN" sz="2400"/>
              <a:t>]</a:t>
            </a:r>
          </a:p>
          <a:p>
            <a:r>
              <a:rPr lang="en-US" altLang="zh-CN" sz="2400"/>
              <a:t>A.CPU </a:t>
            </a:r>
            <a:r>
              <a:rPr lang="zh-CN" altLang="en-US" sz="2400"/>
              <a:t>处于用户态时只能执行特权指令</a:t>
            </a:r>
          </a:p>
          <a:p>
            <a:r>
              <a:rPr lang="en-US" altLang="zh-CN" sz="2400"/>
              <a:t>B.CPU </a:t>
            </a:r>
            <a:r>
              <a:rPr lang="zh-CN" altLang="en-US" sz="2400"/>
              <a:t>处于内核态时只能执行特权指令</a:t>
            </a:r>
          </a:p>
          <a:p>
            <a:r>
              <a:rPr lang="en-US" altLang="zh-CN" sz="2400">
                <a:solidFill>
                  <a:srgbClr val="FF0000"/>
                </a:solidFill>
              </a:rPr>
              <a:t>C</a:t>
            </a:r>
            <a:r>
              <a:rPr lang="en-US" altLang="zh-CN" sz="2400"/>
              <a:t>.CPU </a:t>
            </a:r>
            <a:r>
              <a:rPr lang="zh-CN" altLang="en-US" sz="2400"/>
              <a:t>处于用户态时只能执行非特权指令</a:t>
            </a:r>
          </a:p>
          <a:p>
            <a:r>
              <a:rPr lang="en-US" altLang="zh-CN" sz="2400"/>
              <a:t>D.CPU </a:t>
            </a:r>
            <a:r>
              <a:rPr lang="zh-CN" altLang="en-US" sz="2400"/>
              <a:t>处于内核态时只能执行非特权指令</a:t>
            </a:r>
          </a:p>
          <a:p>
            <a:endParaRPr lang="en-US" altLang="zh-CN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73835" y="1024890"/>
            <a:ext cx="9653270" cy="5434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11.</a:t>
            </a:r>
            <a:r>
              <a:rPr lang="zh-CN" altLang="en-US"/>
              <a:t>下列关于系统调用的叙述中，正确的是</a:t>
            </a:r>
            <a:r>
              <a:rPr lang="en-US" altLang="zh-CN"/>
              <a:t>( 	)</a:t>
            </a:r>
            <a:r>
              <a:rPr lang="zh-CN" altLang="en-US"/>
              <a:t>。</a:t>
            </a:r>
            <a:r>
              <a:rPr lang="en-US" altLang="zh-CN"/>
              <a:t>			[</a:t>
            </a:r>
            <a:r>
              <a:rPr lang="zh-CN" altLang="en-US"/>
              <a:t>全国联考</a:t>
            </a:r>
            <a:r>
              <a:rPr lang="en-US" altLang="zh-CN"/>
              <a:t>2019</a:t>
            </a:r>
            <a:r>
              <a:rPr lang="zh-CN" altLang="en-US"/>
              <a:t>年</a:t>
            </a:r>
            <a:r>
              <a:rPr lang="en-US" altLang="zh-CN"/>
              <a:t>]</a:t>
            </a:r>
          </a:p>
          <a:p>
            <a:r>
              <a:rPr lang="en-US" altLang="zh-CN"/>
              <a:t>I.</a:t>
            </a:r>
            <a:r>
              <a:rPr lang="zh-CN" altLang="en-US"/>
              <a:t>在执行系统调用服务程序的过程中，</a:t>
            </a:r>
            <a:r>
              <a:rPr lang="en-US" altLang="zh-CN"/>
              <a:t>CPU</a:t>
            </a:r>
            <a:r>
              <a:rPr lang="zh-CN" altLang="en-US"/>
              <a:t>处于内核态</a:t>
            </a:r>
          </a:p>
          <a:p>
            <a:r>
              <a:rPr lang="en-US" altLang="zh-CN"/>
              <a:t>II.</a:t>
            </a:r>
            <a:r>
              <a:rPr lang="zh-CN" altLang="en-US"/>
              <a:t>操作系统通过提供系统调用避免用户程序直接访问外设</a:t>
            </a:r>
          </a:p>
          <a:p>
            <a:r>
              <a:rPr lang="en-US" altLang="en-US"/>
              <a:t>Ⅲ</a:t>
            </a:r>
            <a:r>
              <a:rPr lang="en-US" altLang="zh-CN"/>
              <a:t>.</a:t>
            </a:r>
            <a:r>
              <a:rPr lang="zh-CN" altLang="en-US"/>
              <a:t>不同的操作系统为应用程序提供了统一的系统调用接口</a:t>
            </a:r>
          </a:p>
          <a:p>
            <a:r>
              <a:rPr lang="en-US" altLang="en-US"/>
              <a:t>Ⅳ</a:t>
            </a:r>
            <a:r>
              <a:rPr lang="en-US" altLang="zh-CN"/>
              <a:t>.</a:t>
            </a:r>
            <a:r>
              <a:rPr lang="zh-CN" altLang="en-US"/>
              <a:t>系统调用是操作系统内核为应用程序提供服务的接口</a:t>
            </a:r>
          </a:p>
          <a:p>
            <a:r>
              <a:rPr lang="en-US" altLang="zh-CN"/>
              <a:t>A.</a:t>
            </a:r>
            <a:r>
              <a:rPr lang="zh-CN" altLang="en-US"/>
              <a:t>仅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en-US"/>
              <a:t>Ⅳ</a:t>
            </a:r>
          </a:p>
          <a:p>
            <a:r>
              <a:rPr lang="en-US" altLang="zh-CN"/>
              <a:t>B.</a:t>
            </a:r>
            <a:r>
              <a:rPr lang="zh-CN" altLang="en-US"/>
              <a:t>仅</a:t>
            </a:r>
            <a:r>
              <a:rPr lang="en-US" altLang="en-US"/>
              <a:t>Ⅱ</a:t>
            </a:r>
            <a:r>
              <a:rPr lang="zh-CN" altLang="en-US"/>
              <a:t>、</a:t>
            </a:r>
            <a:r>
              <a:rPr lang="en-US" altLang="en-US"/>
              <a:t>Ⅲ</a:t>
            </a:r>
          </a:p>
          <a:p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.</a:t>
            </a:r>
            <a:r>
              <a:rPr lang="zh-CN" altLang="en-US"/>
              <a:t>仅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en-US"/>
              <a:t>Ⅱ</a:t>
            </a:r>
            <a:r>
              <a:rPr lang="zh-CN" altLang="en-US"/>
              <a:t>、</a:t>
            </a:r>
            <a:r>
              <a:rPr lang="en-US" altLang="en-US"/>
              <a:t>Ⅳ</a:t>
            </a:r>
          </a:p>
          <a:p>
            <a:r>
              <a:rPr lang="en-US" altLang="zh-CN"/>
              <a:t>D.</a:t>
            </a:r>
            <a:r>
              <a:rPr lang="zh-CN" altLang="en-US"/>
              <a:t>仅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en-US"/>
              <a:t>Ⅲ</a:t>
            </a:r>
            <a:r>
              <a:rPr lang="zh-CN" altLang="en-US"/>
              <a:t>、</a:t>
            </a:r>
            <a:r>
              <a:rPr lang="en-US" altLang="en-US"/>
              <a:t>Ⅳ</a:t>
            </a:r>
          </a:p>
          <a:p>
            <a:endParaRPr lang="en-US" altLang="zh-CN"/>
          </a:p>
          <a:p>
            <a:r>
              <a:rPr lang="en-US" altLang="zh-CN"/>
              <a:t>13.</a:t>
            </a:r>
            <a:r>
              <a:rPr lang="zh-CN" altLang="en-US"/>
              <a:t>下列关于多任务操作系统的叙述中，正确的是</a:t>
            </a:r>
            <a:r>
              <a:rPr lang="en-US" altLang="zh-CN"/>
              <a:t>(	)</a:t>
            </a:r>
            <a:r>
              <a:rPr lang="zh-CN" altLang="en-US"/>
              <a:t>。</a:t>
            </a:r>
            <a:r>
              <a:rPr lang="en-US" altLang="zh-CN"/>
              <a:t>		 [</a:t>
            </a:r>
            <a:r>
              <a:rPr lang="zh-CN" altLang="en-US"/>
              <a:t>全国联考</a:t>
            </a: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]</a:t>
            </a:r>
          </a:p>
          <a:p>
            <a:r>
              <a:rPr lang="en-US" altLang="zh-CN"/>
              <a:t>I.</a:t>
            </a:r>
            <a:r>
              <a:rPr lang="zh-CN" altLang="en-US"/>
              <a:t>具有并发和并行的特点</a:t>
            </a:r>
          </a:p>
          <a:p>
            <a:r>
              <a:rPr lang="en-US" altLang="zh-CN"/>
              <a:t>II.</a:t>
            </a:r>
            <a:r>
              <a:rPr lang="zh-CN" altLang="en-US"/>
              <a:t>需要实现对共享资源的保护</a:t>
            </a:r>
          </a:p>
          <a:p>
            <a:r>
              <a:rPr lang="en-US" altLang="en-US"/>
              <a:t>Ⅲ</a:t>
            </a:r>
            <a:r>
              <a:rPr lang="en-US" altLang="zh-CN"/>
              <a:t>.</a:t>
            </a:r>
            <a:r>
              <a:rPr lang="zh-CN" altLang="en-US"/>
              <a:t>需要运行在多</a:t>
            </a:r>
            <a:r>
              <a:rPr lang="en-US" altLang="zh-CN"/>
              <a:t>CPU </a:t>
            </a:r>
            <a:r>
              <a:rPr lang="zh-CN" altLang="en-US"/>
              <a:t>的硬件平台上</a:t>
            </a:r>
          </a:p>
          <a:p>
            <a:r>
              <a:rPr lang="en-US" altLang="zh-CN"/>
              <a:t>A.</a:t>
            </a:r>
            <a:r>
              <a:rPr lang="zh-CN" altLang="en-US"/>
              <a:t>仅</a:t>
            </a:r>
            <a:r>
              <a:rPr lang="en-US" altLang="en-US"/>
              <a:t>Ⅰ</a:t>
            </a:r>
          </a:p>
          <a:p>
            <a:r>
              <a:rPr lang="en-US" altLang="zh-CN"/>
              <a:t>B.</a:t>
            </a:r>
            <a:r>
              <a:rPr lang="zh-CN" altLang="en-US"/>
              <a:t>仅</a:t>
            </a:r>
            <a:r>
              <a:rPr lang="en-US" altLang="en-US"/>
              <a:t>Ⅱ</a:t>
            </a:r>
          </a:p>
          <a:p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.</a:t>
            </a:r>
            <a:r>
              <a:rPr lang="zh-CN" altLang="en-US"/>
              <a:t>仅</a:t>
            </a:r>
            <a:r>
              <a:rPr lang="en-US" altLang="en-US"/>
              <a:t>Ⅰ</a:t>
            </a:r>
            <a:r>
              <a:rPr lang="zh-CN" altLang="en-US"/>
              <a:t>、</a:t>
            </a:r>
            <a:r>
              <a:rPr lang="en-US" altLang="zh-CN"/>
              <a:t>II</a:t>
            </a:r>
          </a:p>
          <a:p>
            <a:r>
              <a:rPr lang="en-US" altLang="zh-CN"/>
              <a:t>D.I</a:t>
            </a:r>
            <a:r>
              <a:rPr lang="zh-CN" altLang="en-US"/>
              <a:t>、</a:t>
            </a:r>
            <a:r>
              <a:rPr lang="en-US" altLang="zh-CN"/>
              <a:t>II</a:t>
            </a:r>
            <a:r>
              <a:rPr lang="zh-CN" altLang="en-US"/>
              <a:t>、</a:t>
            </a:r>
            <a:r>
              <a:rPr lang="en-US" altLang="en-US"/>
              <a:t>Ⅲ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42695" y="589280"/>
            <a:ext cx="10201910" cy="6028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15.</a:t>
            </a:r>
            <a:r>
              <a:rPr lang="zh-CN" altLang="en-US"/>
              <a:t>执行系统调用的过程包括如下主要操作：</a:t>
            </a:r>
            <a:r>
              <a:rPr lang="en-US" altLang="zh-CN"/>
              <a:t>                         </a:t>
            </a:r>
            <a:r>
              <a:rPr lang="en-US" altLang="zh-CN">
                <a:sym typeface="+mn-ea"/>
              </a:rPr>
              <a:t>  [</a:t>
            </a:r>
            <a:r>
              <a:rPr lang="zh-CN" altLang="en-US">
                <a:sym typeface="+mn-ea"/>
              </a:rPr>
              <a:t>全国联考</a:t>
            </a:r>
            <a:r>
              <a:rPr lang="en-US" altLang="zh-CN">
                <a:sym typeface="+mn-ea"/>
              </a:rPr>
              <a:t>2017</a:t>
            </a:r>
            <a:r>
              <a:rPr lang="zh-CN" altLang="en-US">
                <a:sym typeface="+mn-ea"/>
              </a:rPr>
              <a:t>年</a:t>
            </a:r>
            <a:r>
              <a:rPr lang="en-US" altLang="zh-CN">
                <a:sym typeface="+mn-ea"/>
              </a:rPr>
              <a:t>]</a:t>
            </a:r>
            <a:endParaRPr lang="zh-CN" altLang="en-US"/>
          </a:p>
          <a:p>
            <a:r>
              <a:rPr lang="en-US" altLang="en-US"/>
              <a:t>①</a:t>
            </a:r>
            <a:r>
              <a:rPr lang="zh-CN" altLang="en-US"/>
              <a:t>返回用户态</a:t>
            </a:r>
          </a:p>
          <a:p>
            <a:r>
              <a:rPr lang="en-US" altLang="en-US"/>
              <a:t>②</a:t>
            </a:r>
            <a:r>
              <a:rPr lang="zh-CN" altLang="en-US"/>
              <a:t>执行陷入</a:t>
            </a:r>
            <a:r>
              <a:rPr lang="en-US" altLang="zh-CN"/>
              <a:t>(trap)</a:t>
            </a:r>
            <a:r>
              <a:rPr lang="zh-CN" altLang="en-US"/>
              <a:t>指令</a:t>
            </a:r>
          </a:p>
          <a:p>
            <a:r>
              <a:rPr lang="en-US" altLang="en-US"/>
              <a:t>③</a:t>
            </a:r>
            <a:r>
              <a:rPr lang="zh-CN" altLang="en-US"/>
              <a:t>传递系统调用参数</a:t>
            </a:r>
          </a:p>
          <a:p>
            <a:r>
              <a:rPr lang="en-US" altLang="en-US"/>
              <a:t>④</a:t>
            </a:r>
            <a:r>
              <a:rPr lang="zh-CN" altLang="en-US"/>
              <a:t>执行相应的服务程序</a:t>
            </a:r>
          </a:p>
          <a:p>
            <a:r>
              <a:rPr lang="zh-CN" altLang="en-US"/>
              <a:t>正确的执行顺序是</a:t>
            </a:r>
            <a:r>
              <a:rPr lang="en-US" altLang="zh-CN"/>
              <a:t>(	)</a:t>
            </a:r>
            <a:r>
              <a:rPr lang="zh-CN" altLang="en-US"/>
              <a:t>。</a:t>
            </a:r>
            <a:r>
              <a:rPr lang="en-US" altLang="zh-CN"/>
              <a:t>			 </a:t>
            </a:r>
          </a:p>
          <a:p>
            <a:r>
              <a:rPr lang="en-US" altLang="zh-CN"/>
              <a:t>A. </a:t>
            </a:r>
            <a:r>
              <a:rPr lang="en-US" altLang="en-US"/>
              <a:t>②→③→①→④</a:t>
            </a:r>
          </a:p>
          <a:p>
            <a:r>
              <a:rPr lang="en-US" altLang="zh-CN"/>
              <a:t>B. </a:t>
            </a:r>
            <a:r>
              <a:rPr lang="en-US" altLang="en-US"/>
              <a:t>②→④→③→①</a:t>
            </a:r>
          </a:p>
          <a:p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. </a:t>
            </a:r>
            <a:r>
              <a:rPr lang="en-US" altLang="en-US"/>
              <a:t>③→②→④→①</a:t>
            </a:r>
          </a:p>
          <a:p>
            <a:r>
              <a:rPr lang="en-US" altLang="zh-CN"/>
              <a:t>D. </a:t>
            </a:r>
            <a:r>
              <a:rPr lang="en-US" altLang="en-US"/>
              <a:t>③→④→②→①</a:t>
            </a:r>
          </a:p>
          <a:p>
            <a:endParaRPr lang="en-US" altLang="zh-CN"/>
          </a:p>
          <a:p>
            <a:r>
              <a:rPr lang="en-US" altLang="zh-CN"/>
              <a:t>16.</a:t>
            </a:r>
            <a:r>
              <a:rPr lang="zh-CN" altLang="en-US"/>
              <a:t>与单道程序系统相比，多道程序系统的优点是</a:t>
            </a:r>
            <a:r>
              <a:rPr lang="en-US" altLang="zh-CN"/>
              <a:t>(	)</a:t>
            </a:r>
            <a:r>
              <a:rPr lang="zh-CN" altLang="en-US"/>
              <a:t>。</a:t>
            </a:r>
            <a:r>
              <a:rPr lang="en-US" altLang="zh-CN"/>
              <a:t>	[</a:t>
            </a:r>
            <a:r>
              <a:rPr lang="zh-CN" altLang="en-US"/>
              <a:t>全国联考</a:t>
            </a:r>
            <a:r>
              <a:rPr lang="en-US" altLang="zh-CN"/>
              <a:t>2017</a:t>
            </a:r>
            <a:r>
              <a:rPr lang="zh-CN" altLang="en-US"/>
              <a:t>年</a:t>
            </a:r>
            <a:r>
              <a:rPr lang="en-US" altLang="zh-CN"/>
              <a:t>]</a:t>
            </a:r>
          </a:p>
          <a:p>
            <a:r>
              <a:rPr lang="en-US" altLang="zh-CN"/>
              <a:t>I.CPU </a:t>
            </a:r>
            <a:r>
              <a:rPr lang="zh-CN" altLang="en-US"/>
              <a:t>利用率高</a:t>
            </a:r>
          </a:p>
          <a:p>
            <a:r>
              <a:rPr lang="en-US" altLang="en-US"/>
              <a:t>Ⅱ</a:t>
            </a:r>
            <a:r>
              <a:rPr lang="en-US" altLang="zh-CN"/>
              <a:t>.</a:t>
            </a:r>
            <a:r>
              <a:rPr lang="zh-CN" altLang="en-US"/>
              <a:t>系统开销小</a:t>
            </a:r>
          </a:p>
          <a:p>
            <a:r>
              <a:rPr lang="en-US" altLang="en-US"/>
              <a:t>Ⅲ</a:t>
            </a:r>
            <a:r>
              <a:rPr lang="en-US" altLang="zh-CN"/>
              <a:t>.</a:t>
            </a:r>
            <a:r>
              <a:rPr lang="zh-CN" altLang="en-US"/>
              <a:t>系统吞吐量大</a:t>
            </a:r>
          </a:p>
          <a:p>
            <a:r>
              <a:rPr lang="en-US" altLang="en-US"/>
              <a:t>Ⅳ</a:t>
            </a:r>
            <a:r>
              <a:rPr lang="en-US" altLang="zh-CN"/>
              <a:t>. IO</a:t>
            </a:r>
            <a:r>
              <a:rPr lang="zh-CN" altLang="en-US"/>
              <a:t>设备利用率高</a:t>
            </a:r>
          </a:p>
          <a:p>
            <a:r>
              <a:rPr lang="en-US" altLang="zh-CN"/>
              <a:t>A.</a:t>
            </a:r>
            <a:r>
              <a:rPr lang="zh-CN" altLang="en-US"/>
              <a:t>仅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en-US"/>
              <a:t>Ⅲ</a:t>
            </a:r>
          </a:p>
          <a:p>
            <a:r>
              <a:rPr lang="en-US" altLang="zh-CN"/>
              <a:t>B.</a:t>
            </a:r>
            <a:r>
              <a:rPr lang="zh-CN" altLang="en-US"/>
              <a:t>仅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en-US"/>
              <a:t>Ⅳ</a:t>
            </a:r>
          </a:p>
          <a:p>
            <a:r>
              <a:rPr lang="en-US" altLang="zh-CN">
                <a:solidFill>
                  <a:schemeClr val="tx1"/>
                </a:solidFill>
              </a:rPr>
              <a:t>C.</a:t>
            </a:r>
            <a:r>
              <a:rPr lang="zh-CN" altLang="en-US"/>
              <a:t>仅</a:t>
            </a:r>
            <a:r>
              <a:rPr lang="en-US" altLang="en-US"/>
              <a:t>Ⅱ</a:t>
            </a:r>
            <a:r>
              <a:rPr lang="zh-CN" altLang="en-US"/>
              <a:t>、</a:t>
            </a:r>
            <a:r>
              <a:rPr lang="en-US" altLang="en-US"/>
              <a:t>Ⅲ</a:t>
            </a:r>
          </a:p>
          <a:p>
            <a:r>
              <a:rPr lang="en-US" altLang="zh-CN">
                <a:solidFill>
                  <a:srgbClr val="FF0000"/>
                </a:solidFill>
              </a:rPr>
              <a:t>D</a:t>
            </a:r>
            <a:r>
              <a:rPr lang="en-US" altLang="zh-CN"/>
              <a:t>.</a:t>
            </a:r>
            <a:r>
              <a:rPr lang="zh-CN" altLang="en-US"/>
              <a:t>仅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en-US"/>
              <a:t>Ⅲ</a:t>
            </a:r>
            <a:r>
              <a:rPr lang="zh-CN" altLang="en-US"/>
              <a:t>、</a:t>
            </a:r>
            <a:r>
              <a:rPr lang="en-US" altLang="en-US"/>
              <a:t>Ⅳ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1735" y="994410"/>
            <a:ext cx="879348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ym typeface="+mn-ea"/>
              </a:rPr>
              <a:t>17.</a:t>
            </a:r>
            <a:r>
              <a:rPr lang="zh-CN" altLang="en-US" sz="2000">
                <a:sym typeface="+mn-ea"/>
              </a:rPr>
              <a:t>下列关于批处理系统的叙述中，正确的是</a:t>
            </a:r>
            <a:r>
              <a:rPr lang="en-US" altLang="zh-CN" sz="2000">
                <a:sym typeface="+mn-ea"/>
              </a:rPr>
              <a:t>( 	)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 [</a:t>
            </a:r>
            <a:r>
              <a:rPr lang="zh-CN" altLang="en-US" sz="2000">
                <a:sym typeface="+mn-ea"/>
              </a:rPr>
              <a:t>全国联考</a:t>
            </a:r>
            <a:r>
              <a:rPr lang="en-US" altLang="zh-CN" sz="2000">
                <a:sym typeface="+mn-ea"/>
              </a:rPr>
              <a:t>2016</a:t>
            </a:r>
            <a:r>
              <a:rPr lang="zh-CN" altLang="en-US" sz="2000">
                <a:sym typeface="+mn-ea"/>
              </a:rPr>
              <a:t>年</a:t>
            </a:r>
            <a:r>
              <a:rPr lang="en-US" altLang="zh-CN" sz="2000">
                <a:sym typeface="+mn-ea"/>
              </a:rPr>
              <a:t>]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I</a:t>
            </a:r>
            <a:r>
              <a:rPr lang="zh-CN" altLang="en-US" sz="2000">
                <a:sym typeface="+mn-ea"/>
              </a:rPr>
              <a:t>．批处理系统允许多个用户与计算机直接交互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II.</a:t>
            </a:r>
            <a:r>
              <a:rPr lang="zh-CN" altLang="en-US" sz="2000">
                <a:sym typeface="+mn-ea"/>
              </a:rPr>
              <a:t>批处理系统分为单道批处理系统和多道批处理系统</a:t>
            </a:r>
            <a:endParaRPr lang="zh-CN" altLang="en-US" sz="2000"/>
          </a:p>
          <a:p>
            <a:r>
              <a:rPr lang="en-US" altLang="en-US" sz="2000">
                <a:sym typeface="+mn-ea"/>
              </a:rPr>
              <a:t>Ⅲ</a:t>
            </a:r>
            <a:r>
              <a:rPr lang="en-US" altLang="zh-CN" sz="2000">
                <a:sym typeface="+mn-ea"/>
              </a:rPr>
              <a:t>.</a:t>
            </a:r>
            <a:r>
              <a:rPr lang="zh-CN" altLang="en-US" sz="2000">
                <a:sym typeface="+mn-ea"/>
              </a:rPr>
              <a:t>中断技术使得多道批处理系统的</a:t>
            </a:r>
            <a:r>
              <a:rPr lang="en-US" altLang="zh-CN" sz="2000">
                <a:sym typeface="+mn-ea"/>
              </a:rPr>
              <a:t>I/O</a:t>
            </a:r>
            <a:r>
              <a:rPr lang="zh-CN" altLang="en-US" sz="2000">
                <a:sym typeface="+mn-ea"/>
              </a:rPr>
              <a:t>设备可与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并行工作</a:t>
            </a:r>
            <a:endParaRPr lang="zh-CN" altLang="en-US" sz="2000"/>
          </a:p>
          <a:p>
            <a:r>
              <a:rPr lang="en-US" altLang="zh-CN" sz="2000">
                <a:solidFill>
                  <a:srgbClr val="FF0000"/>
                </a:solidFill>
                <a:sym typeface="+mn-ea"/>
              </a:rPr>
              <a:t>A.</a:t>
            </a:r>
            <a:r>
              <a:rPr lang="zh-CN" altLang="en-US" sz="2000">
                <a:sym typeface="+mn-ea"/>
              </a:rPr>
              <a:t>仅</a:t>
            </a:r>
            <a:r>
              <a:rPr lang="en-US" altLang="en-US" sz="2000">
                <a:sym typeface="+mn-ea"/>
              </a:rPr>
              <a:t>Ⅱ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en-US" sz="2000">
                <a:sym typeface="+mn-ea"/>
              </a:rPr>
              <a:t>Ⅲ</a:t>
            </a:r>
            <a:endParaRPr lang="en-US" altLang="en-US" sz="2000"/>
          </a:p>
          <a:p>
            <a:r>
              <a:rPr lang="en-US" altLang="zh-CN" sz="2000">
                <a:sym typeface="+mn-ea"/>
              </a:rPr>
              <a:t>B.</a:t>
            </a:r>
            <a:r>
              <a:rPr lang="zh-CN" altLang="en-US" sz="2000">
                <a:sym typeface="+mn-ea"/>
              </a:rPr>
              <a:t>仅</a:t>
            </a:r>
            <a:r>
              <a:rPr lang="en-US" altLang="en-US" sz="2000">
                <a:sym typeface="+mn-ea"/>
              </a:rPr>
              <a:t>Ⅱ</a:t>
            </a:r>
            <a:endParaRPr lang="en-US" altLang="en-US" sz="2000"/>
          </a:p>
          <a:p>
            <a:r>
              <a:rPr lang="en-US" altLang="zh-CN" sz="2000">
                <a:solidFill>
                  <a:schemeClr val="tx1"/>
                </a:solidFill>
                <a:sym typeface="+mn-ea"/>
              </a:rPr>
              <a:t>C</a:t>
            </a:r>
            <a:r>
              <a:rPr lang="en-US" altLang="zh-CN" sz="2000">
                <a:sym typeface="+mn-ea"/>
              </a:rPr>
              <a:t>.</a:t>
            </a:r>
            <a:r>
              <a:rPr lang="zh-CN" altLang="en-US" sz="2000">
                <a:sym typeface="+mn-ea"/>
              </a:rPr>
              <a:t>仅</a:t>
            </a:r>
            <a:r>
              <a:rPr lang="en-US" altLang="zh-CN" sz="2000">
                <a:sym typeface="+mn-ea"/>
              </a:rPr>
              <a:t>I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II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D.</a:t>
            </a:r>
            <a:r>
              <a:rPr lang="zh-CN" altLang="en-US" sz="2000">
                <a:sym typeface="+mn-ea"/>
              </a:rPr>
              <a:t>仅</a:t>
            </a:r>
            <a:r>
              <a:rPr lang="en-US" altLang="zh-CN" sz="2000">
                <a:sym typeface="+mn-ea"/>
              </a:rPr>
              <a:t>I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en-US" sz="2000">
                <a:sym typeface="+mn-ea"/>
              </a:rPr>
              <a:t>Ⅲ</a:t>
            </a:r>
            <a:endParaRPr lang="zh-CN" altLang="en-US"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5C"/>
                </a:solidFill>
                <a:latin typeface="+mj-ea"/>
                <a:ea typeface="+mj-ea"/>
              </a:rPr>
              <a:t>1.1 </a:t>
            </a:r>
            <a:r>
              <a:rPr lang="zh-CN" altLang="en-US" sz="2400" dirty="0">
                <a:solidFill>
                  <a:srgbClr val="00005C"/>
                </a:solidFill>
                <a:latin typeface="+mj-ea"/>
                <a:ea typeface="+mj-ea"/>
              </a:rPr>
              <a:t>操作系统的目标和作用</a:t>
            </a:r>
            <a:endParaRPr lang="en-US" altLang="zh-CN" sz="2400" dirty="0">
              <a:solidFill>
                <a:srgbClr val="00005C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1.2 </a:t>
            </a:r>
            <a:r>
              <a:rPr lang="zh-CN" altLang="en-US" sz="2400" dirty="0">
                <a:latin typeface="+mj-ea"/>
              </a:rPr>
              <a:t>操作系统的发展过程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1.3 </a:t>
            </a:r>
            <a:r>
              <a:rPr lang="zh-CN" altLang="en-US" sz="2400" dirty="0">
                <a:latin typeface="+mj-ea"/>
              </a:rPr>
              <a:t>操作系统的基本特征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1.4 </a:t>
            </a:r>
            <a:r>
              <a:rPr lang="zh-CN" altLang="en-US" sz="2400" dirty="0">
                <a:latin typeface="+mj-ea"/>
              </a:rPr>
              <a:t>操作系统的运行环境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1.5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操作系统的主要功能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1.6 </a:t>
            </a:r>
            <a:r>
              <a:rPr lang="zh-CN" altLang="en-US" sz="2400" dirty="0">
                <a:latin typeface="+mj-ea"/>
              </a:rPr>
              <a:t>操作系统的结构设计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25874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1.7 </a:t>
            </a:r>
            <a:r>
              <a:rPr lang="zh-CN" altLang="en-US" sz="2400" dirty="0">
                <a:latin typeface="+mj-ea"/>
              </a:rPr>
              <a:t>系统调用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2627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1</a:t>
            </a:r>
            <a:r>
              <a:rPr lang="zh-CN" altLang="en-US" sz="3600" dirty="0">
                <a:solidFill>
                  <a:srgbClr val="000000"/>
                </a:solidFill>
              </a:rPr>
              <a:t>章 操作系统引论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65910" y="1116965"/>
            <a:ext cx="5491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问题</a:t>
            </a:r>
            <a:r>
              <a:rPr lang="en-US" altLang="zh-CN" sz="2400"/>
              <a:t>1.</a:t>
            </a:r>
            <a:r>
              <a:rPr lang="zh-CN" altLang="en-US" sz="2400"/>
              <a:t>现代操作系统的五大功能？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操作系统的主要功能</a:t>
            </a:r>
          </a:p>
        </p:txBody>
      </p:sp>
      <p:grpSp>
        <p:nvGrpSpPr>
          <p:cNvPr id="58" name="2244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54015" y="1595646"/>
            <a:ext cx="10848974" cy="3733544"/>
            <a:chOff x="665163" y="1557009"/>
            <a:chExt cx="10848974" cy="3733544"/>
          </a:xfrm>
        </p:grpSpPr>
        <p:sp>
          <p:nvSpPr>
            <p:cNvPr id="59" name="íśḷíḋé"/>
            <p:cNvSpPr/>
            <p:nvPr/>
          </p:nvSpPr>
          <p:spPr bwMode="auto">
            <a:xfrm>
              <a:off x="4801181" y="2133141"/>
              <a:ext cx="2589100" cy="2588226"/>
            </a:xfrm>
            <a:prstGeom prst="ellipse">
              <a:avLst/>
            </a:prstGeom>
            <a:blipFill>
              <a:blip r:embed="rId3"/>
              <a:stretch>
                <a:fillRect l="-25098" r="-24851"/>
              </a:stretch>
            </a:blipFill>
            <a:ln w="57150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en-US" sz="2800" b="1">
                <a:solidFill>
                  <a:schemeClr val="lt1"/>
                </a:solidFill>
              </a:endParaRPr>
            </a:p>
          </p:txBody>
        </p:sp>
        <p:sp>
          <p:nvSpPr>
            <p:cNvPr id="60" name="ïSlïďè"/>
            <p:cNvSpPr/>
            <p:nvPr/>
          </p:nvSpPr>
          <p:spPr bwMode="auto">
            <a:xfrm>
              <a:off x="4955845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61" name="îśľïḓê"/>
            <p:cNvSpPr/>
            <p:nvPr/>
          </p:nvSpPr>
          <p:spPr bwMode="auto">
            <a:xfrm>
              <a:off x="4523309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62" name="ïSlíďé"/>
            <p:cNvSpPr/>
            <p:nvPr/>
          </p:nvSpPr>
          <p:spPr bwMode="auto">
            <a:xfrm>
              <a:off x="4225048" y="1557009"/>
              <a:ext cx="846430" cy="8464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63" name="îSḷîḑê"/>
            <p:cNvSpPr/>
            <p:nvPr/>
          </p:nvSpPr>
          <p:spPr bwMode="auto">
            <a:xfrm>
              <a:off x="3622073" y="2998796"/>
              <a:ext cx="847397" cy="84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64" name="îṣlîḑê"/>
            <p:cNvSpPr/>
            <p:nvPr/>
          </p:nvSpPr>
          <p:spPr bwMode="auto">
            <a:xfrm>
              <a:off x="4945359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65" name="ï$ľîḓé"/>
            <p:cNvSpPr/>
            <p:nvPr/>
          </p:nvSpPr>
          <p:spPr bwMode="auto">
            <a:xfrm flipH="1">
              <a:off x="6892749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66" name="isḷiḋé"/>
            <p:cNvSpPr/>
            <p:nvPr/>
          </p:nvSpPr>
          <p:spPr bwMode="auto">
            <a:xfrm flipH="1">
              <a:off x="7274604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67" name="îśḻiďé"/>
            <p:cNvSpPr/>
            <p:nvPr/>
          </p:nvSpPr>
          <p:spPr bwMode="auto">
            <a:xfrm>
              <a:off x="7109163" y="1557009"/>
              <a:ext cx="846430" cy="84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68" name="išľiďe"/>
            <p:cNvSpPr/>
            <p:nvPr/>
          </p:nvSpPr>
          <p:spPr bwMode="auto">
            <a:xfrm>
              <a:off x="7712046" y="2998796"/>
              <a:ext cx="847397" cy="84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69" name="ïṡľíḍè"/>
            <p:cNvSpPr/>
            <p:nvPr/>
          </p:nvSpPr>
          <p:spPr bwMode="auto">
            <a:xfrm flipH="1">
              <a:off x="6894497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70" name="isḷídé"/>
            <p:cNvSpPr/>
            <p:nvPr/>
          </p:nvSpPr>
          <p:spPr bwMode="auto">
            <a:xfrm>
              <a:off x="4220680" y="4443157"/>
              <a:ext cx="846430" cy="8473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71" name="íśľîḋé"/>
            <p:cNvSpPr/>
            <p:nvPr/>
          </p:nvSpPr>
          <p:spPr bwMode="auto">
            <a:xfrm>
              <a:off x="7115280" y="4443157"/>
              <a:ext cx="846430" cy="8473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72" name="ïṡḷidè"/>
            <p:cNvSpPr/>
            <p:nvPr/>
          </p:nvSpPr>
          <p:spPr bwMode="auto">
            <a:xfrm>
              <a:off x="7963389" y="3249916"/>
              <a:ext cx="344710" cy="344189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73" name="iṡļîḍé"/>
            <p:cNvSpPr/>
            <p:nvPr/>
          </p:nvSpPr>
          <p:spPr bwMode="auto">
            <a:xfrm>
              <a:off x="7366140" y="4694761"/>
              <a:ext cx="344710" cy="344189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74" name="îṣľiḓè"/>
            <p:cNvSpPr/>
            <p:nvPr/>
          </p:nvSpPr>
          <p:spPr bwMode="auto">
            <a:xfrm>
              <a:off x="4471521" y="1860106"/>
              <a:ext cx="353485" cy="240234"/>
            </a:xfrm>
            <a:custGeom>
              <a:avLst/>
              <a:gdLst>
                <a:gd name="connsiteX0" fmla="*/ 437011 w 604816"/>
                <a:gd name="connsiteY0" fmla="*/ 83550 h 411044"/>
                <a:gd name="connsiteX1" fmla="*/ 604816 w 604816"/>
                <a:gd name="connsiteY1" fmla="*/ 214450 h 411044"/>
                <a:gd name="connsiteX2" fmla="*/ 539177 w 604816"/>
                <a:gd name="connsiteY2" fmla="*/ 317799 h 411044"/>
                <a:gd name="connsiteX3" fmla="*/ 523523 w 604816"/>
                <a:gd name="connsiteY3" fmla="*/ 340690 h 411044"/>
                <a:gd name="connsiteX4" fmla="*/ 528878 w 604816"/>
                <a:gd name="connsiteY4" fmla="*/ 400177 h 411044"/>
                <a:gd name="connsiteX5" fmla="*/ 462004 w 604816"/>
                <a:gd name="connsiteY5" fmla="*/ 353300 h 411044"/>
                <a:gd name="connsiteX6" fmla="*/ 440033 w 604816"/>
                <a:gd name="connsiteY6" fmla="*/ 345213 h 411044"/>
                <a:gd name="connsiteX7" fmla="*/ 437011 w 604816"/>
                <a:gd name="connsiteY7" fmla="*/ 345350 h 411044"/>
                <a:gd name="connsiteX8" fmla="*/ 338279 w 604816"/>
                <a:gd name="connsiteY8" fmla="*/ 319992 h 411044"/>
                <a:gd name="connsiteX9" fmla="*/ 269207 w 604816"/>
                <a:gd name="connsiteY9" fmla="*/ 214450 h 411044"/>
                <a:gd name="connsiteX10" fmla="*/ 272091 w 604816"/>
                <a:gd name="connsiteY10" fmla="*/ 190189 h 411044"/>
                <a:gd name="connsiteX11" fmla="*/ 280467 w 604816"/>
                <a:gd name="connsiteY11" fmla="*/ 167299 h 411044"/>
                <a:gd name="connsiteX12" fmla="*/ 342948 w 604816"/>
                <a:gd name="connsiteY12" fmla="*/ 106166 h 411044"/>
                <a:gd name="connsiteX13" fmla="*/ 355581 w 604816"/>
                <a:gd name="connsiteY13" fmla="*/ 100135 h 411044"/>
                <a:gd name="connsiteX14" fmla="*/ 358602 w 604816"/>
                <a:gd name="connsiteY14" fmla="*/ 98765 h 411044"/>
                <a:gd name="connsiteX15" fmla="*/ 417375 w 604816"/>
                <a:gd name="connsiteY15" fmla="*/ 84509 h 411044"/>
                <a:gd name="connsiteX16" fmla="*/ 437011 w 604816"/>
                <a:gd name="connsiteY16" fmla="*/ 83550 h 411044"/>
                <a:gd name="connsiteX17" fmla="*/ 213353 w 604816"/>
                <a:gd name="connsiteY17" fmla="*/ 0 h 411044"/>
                <a:gd name="connsiteX18" fmla="*/ 340760 w 604816"/>
                <a:gd name="connsiteY18" fmla="*/ 33580 h 411044"/>
                <a:gd name="connsiteX19" fmla="*/ 331973 w 604816"/>
                <a:gd name="connsiteY19" fmla="*/ 37143 h 411044"/>
                <a:gd name="connsiteX20" fmla="*/ 327031 w 604816"/>
                <a:gd name="connsiteY20" fmla="*/ 39336 h 411044"/>
                <a:gd name="connsiteX21" fmla="*/ 310418 w 604816"/>
                <a:gd name="connsiteY21" fmla="*/ 47423 h 411044"/>
                <a:gd name="connsiteX22" fmla="*/ 306849 w 604816"/>
                <a:gd name="connsiteY22" fmla="*/ 49479 h 411044"/>
                <a:gd name="connsiteX23" fmla="*/ 294630 w 604816"/>
                <a:gd name="connsiteY23" fmla="*/ 56743 h 411044"/>
                <a:gd name="connsiteX24" fmla="*/ 289413 w 604816"/>
                <a:gd name="connsiteY24" fmla="*/ 60307 h 411044"/>
                <a:gd name="connsiteX25" fmla="*/ 279528 w 604816"/>
                <a:gd name="connsiteY25" fmla="*/ 67297 h 411044"/>
                <a:gd name="connsiteX26" fmla="*/ 274585 w 604816"/>
                <a:gd name="connsiteY26" fmla="*/ 71134 h 411044"/>
                <a:gd name="connsiteX27" fmla="*/ 264425 w 604816"/>
                <a:gd name="connsiteY27" fmla="*/ 79906 h 411044"/>
                <a:gd name="connsiteX28" fmla="*/ 261130 w 604816"/>
                <a:gd name="connsiteY28" fmla="*/ 82784 h 411044"/>
                <a:gd name="connsiteX29" fmla="*/ 249186 w 604816"/>
                <a:gd name="connsiteY29" fmla="*/ 95120 h 411044"/>
                <a:gd name="connsiteX30" fmla="*/ 246165 w 604816"/>
                <a:gd name="connsiteY30" fmla="*/ 98683 h 411044"/>
                <a:gd name="connsiteX31" fmla="*/ 238203 w 604816"/>
                <a:gd name="connsiteY31" fmla="*/ 108552 h 411044"/>
                <a:gd name="connsiteX32" fmla="*/ 234770 w 604816"/>
                <a:gd name="connsiteY32" fmla="*/ 113349 h 411044"/>
                <a:gd name="connsiteX33" fmla="*/ 228317 w 604816"/>
                <a:gd name="connsiteY33" fmla="*/ 123080 h 411044"/>
                <a:gd name="connsiteX34" fmla="*/ 225434 w 604816"/>
                <a:gd name="connsiteY34" fmla="*/ 127877 h 411044"/>
                <a:gd name="connsiteX35" fmla="*/ 218844 w 604816"/>
                <a:gd name="connsiteY35" fmla="*/ 140487 h 411044"/>
                <a:gd name="connsiteX36" fmla="*/ 217609 w 604816"/>
                <a:gd name="connsiteY36" fmla="*/ 142954 h 411044"/>
                <a:gd name="connsiteX37" fmla="*/ 211430 w 604816"/>
                <a:gd name="connsiteY37" fmla="*/ 158442 h 411044"/>
                <a:gd name="connsiteX38" fmla="*/ 209920 w 604816"/>
                <a:gd name="connsiteY38" fmla="*/ 163102 h 411044"/>
                <a:gd name="connsiteX39" fmla="*/ 206763 w 604816"/>
                <a:gd name="connsiteY39" fmla="*/ 174752 h 411044"/>
                <a:gd name="connsiteX40" fmla="*/ 205527 w 604816"/>
                <a:gd name="connsiteY40" fmla="*/ 180371 h 411044"/>
                <a:gd name="connsiteX41" fmla="*/ 203467 w 604816"/>
                <a:gd name="connsiteY41" fmla="*/ 192159 h 411044"/>
                <a:gd name="connsiteX42" fmla="*/ 202781 w 604816"/>
                <a:gd name="connsiteY42" fmla="*/ 197367 h 411044"/>
                <a:gd name="connsiteX43" fmla="*/ 201820 w 604816"/>
                <a:gd name="connsiteY43" fmla="*/ 214499 h 411044"/>
                <a:gd name="connsiteX44" fmla="*/ 203467 w 604816"/>
                <a:gd name="connsiteY44" fmla="*/ 236155 h 411044"/>
                <a:gd name="connsiteX45" fmla="*/ 204154 w 604816"/>
                <a:gd name="connsiteY45" fmla="*/ 241637 h 411044"/>
                <a:gd name="connsiteX46" fmla="*/ 208822 w 604816"/>
                <a:gd name="connsiteY46" fmla="*/ 262608 h 411044"/>
                <a:gd name="connsiteX47" fmla="*/ 208959 w 604816"/>
                <a:gd name="connsiteY47" fmla="*/ 263019 h 411044"/>
                <a:gd name="connsiteX48" fmla="*/ 216373 w 604816"/>
                <a:gd name="connsiteY48" fmla="*/ 282893 h 411044"/>
                <a:gd name="connsiteX49" fmla="*/ 218707 w 604816"/>
                <a:gd name="connsiteY49" fmla="*/ 287827 h 411044"/>
                <a:gd name="connsiteX50" fmla="*/ 229004 w 604816"/>
                <a:gd name="connsiteY50" fmla="*/ 307152 h 411044"/>
                <a:gd name="connsiteX51" fmla="*/ 229416 w 604816"/>
                <a:gd name="connsiteY51" fmla="*/ 307700 h 411044"/>
                <a:gd name="connsiteX52" fmla="*/ 242321 w 604816"/>
                <a:gd name="connsiteY52" fmla="*/ 325381 h 411044"/>
                <a:gd name="connsiteX53" fmla="*/ 245616 w 604816"/>
                <a:gd name="connsiteY53" fmla="*/ 329630 h 411044"/>
                <a:gd name="connsiteX54" fmla="*/ 249186 w 604816"/>
                <a:gd name="connsiteY54" fmla="*/ 333742 h 411044"/>
                <a:gd name="connsiteX55" fmla="*/ 213490 w 604816"/>
                <a:gd name="connsiteY55" fmla="*/ 336209 h 411044"/>
                <a:gd name="connsiteX56" fmla="*/ 213353 w 604816"/>
                <a:gd name="connsiteY56" fmla="*/ 336209 h 411044"/>
                <a:gd name="connsiteX57" fmla="*/ 187679 w 604816"/>
                <a:gd name="connsiteY57" fmla="*/ 344159 h 411044"/>
                <a:gd name="connsiteX58" fmla="*/ 87318 w 604816"/>
                <a:gd name="connsiteY58" fmla="*/ 411044 h 411044"/>
                <a:gd name="connsiteX59" fmla="*/ 99674 w 604816"/>
                <a:gd name="connsiteY59" fmla="*/ 324148 h 411044"/>
                <a:gd name="connsiteX60" fmla="*/ 84023 w 604816"/>
                <a:gd name="connsiteY60" fmla="*/ 301259 h 411044"/>
                <a:gd name="connsiteX61" fmla="*/ 0 w 604816"/>
                <a:gd name="connsiteY61" fmla="*/ 168036 h 411044"/>
                <a:gd name="connsiteX62" fmla="*/ 213353 w 604816"/>
                <a:gd name="connsiteY62" fmla="*/ 0 h 41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4816" h="411044">
                  <a:moveTo>
                    <a:pt x="437011" y="83550"/>
                  </a:moveTo>
                  <a:cubicBezTo>
                    <a:pt x="529565" y="83550"/>
                    <a:pt x="604816" y="142215"/>
                    <a:pt x="604816" y="214450"/>
                  </a:cubicBezTo>
                  <a:cubicBezTo>
                    <a:pt x="604816" y="254885"/>
                    <a:pt x="580922" y="292579"/>
                    <a:pt x="539177" y="317799"/>
                  </a:cubicBezTo>
                  <a:cubicBezTo>
                    <a:pt x="530938" y="322871"/>
                    <a:pt x="525308" y="331095"/>
                    <a:pt x="523523" y="340690"/>
                  </a:cubicBezTo>
                  <a:cubicBezTo>
                    <a:pt x="519953" y="360564"/>
                    <a:pt x="522974" y="381125"/>
                    <a:pt x="528878" y="400177"/>
                  </a:cubicBezTo>
                  <a:cubicBezTo>
                    <a:pt x="505122" y="387156"/>
                    <a:pt x="481366" y="370022"/>
                    <a:pt x="462004" y="353300"/>
                  </a:cubicBezTo>
                  <a:cubicBezTo>
                    <a:pt x="455824" y="348091"/>
                    <a:pt x="448134" y="345213"/>
                    <a:pt x="440033" y="345213"/>
                  </a:cubicBezTo>
                  <a:cubicBezTo>
                    <a:pt x="438934" y="345213"/>
                    <a:pt x="437835" y="345350"/>
                    <a:pt x="437011" y="345350"/>
                  </a:cubicBezTo>
                  <a:cubicBezTo>
                    <a:pt x="401308" y="345350"/>
                    <a:pt x="367253" y="336577"/>
                    <a:pt x="338279" y="319992"/>
                  </a:cubicBezTo>
                  <a:cubicBezTo>
                    <a:pt x="295023" y="295183"/>
                    <a:pt x="269207" y="255844"/>
                    <a:pt x="269207" y="214450"/>
                  </a:cubicBezTo>
                  <a:cubicBezTo>
                    <a:pt x="269207" y="206089"/>
                    <a:pt x="270168" y="198002"/>
                    <a:pt x="272091" y="190189"/>
                  </a:cubicBezTo>
                  <a:cubicBezTo>
                    <a:pt x="274013" y="182239"/>
                    <a:pt x="276760" y="174563"/>
                    <a:pt x="280467" y="167299"/>
                  </a:cubicBezTo>
                  <a:cubicBezTo>
                    <a:pt x="292826" y="142352"/>
                    <a:pt x="314797" y="121107"/>
                    <a:pt x="342948" y="106166"/>
                  </a:cubicBezTo>
                  <a:cubicBezTo>
                    <a:pt x="347067" y="103973"/>
                    <a:pt x="351187" y="102054"/>
                    <a:pt x="355581" y="100135"/>
                  </a:cubicBezTo>
                  <a:cubicBezTo>
                    <a:pt x="356542" y="99724"/>
                    <a:pt x="357503" y="99176"/>
                    <a:pt x="358602" y="98765"/>
                  </a:cubicBezTo>
                  <a:cubicBezTo>
                    <a:pt x="376454" y="91363"/>
                    <a:pt x="396228" y="86428"/>
                    <a:pt x="417375" y="84509"/>
                  </a:cubicBezTo>
                  <a:cubicBezTo>
                    <a:pt x="423829" y="83824"/>
                    <a:pt x="430283" y="83550"/>
                    <a:pt x="437011" y="83550"/>
                  </a:cubicBezTo>
                  <a:close/>
                  <a:moveTo>
                    <a:pt x="213353" y="0"/>
                  </a:moveTo>
                  <a:cubicBezTo>
                    <a:pt x="259757" y="0"/>
                    <a:pt x="304377" y="12061"/>
                    <a:pt x="340760" y="33580"/>
                  </a:cubicBezTo>
                  <a:cubicBezTo>
                    <a:pt x="337740" y="34676"/>
                    <a:pt x="334856" y="36047"/>
                    <a:pt x="331973" y="37143"/>
                  </a:cubicBezTo>
                  <a:cubicBezTo>
                    <a:pt x="330326" y="37966"/>
                    <a:pt x="328678" y="38514"/>
                    <a:pt x="327031" y="39336"/>
                  </a:cubicBezTo>
                  <a:cubicBezTo>
                    <a:pt x="321264" y="41803"/>
                    <a:pt x="315773" y="44545"/>
                    <a:pt x="310418" y="47423"/>
                  </a:cubicBezTo>
                  <a:cubicBezTo>
                    <a:pt x="309183" y="48108"/>
                    <a:pt x="308084" y="48793"/>
                    <a:pt x="306849" y="49479"/>
                  </a:cubicBezTo>
                  <a:cubicBezTo>
                    <a:pt x="302730" y="51809"/>
                    <a:pt x="298611" y="54139"/>
                    <a:pt x="294630" y="56743"/>
                  </a:cubicBezTo>
                  <a:cubicBezTo>
                    <a:pt x="292845" y="57839"/>
                    <a:pt x="291060" y="59073"/>
                    <a:pt x="289413" y="60307"/>
                  </a:cubicBezTo>
                  <a:cubicBezTo>
                    <a:pt x="285980" y="62500"/>
                    <a:pt x="282685" y="64830"/>
                    <a:pt x="279528" y="67297"/>
                  </a:cubicBezTo>
                  <a:cubicBezTo>
                    <a:pt x="277880" y="68530"/>
                    <a:pt x="276233" y="69901"/>
                    <a:pt x="274585" y="71134"/>
                  </a:cubicBezTo>
                  <a:cubicBezTo>
                    <a:pt x="271015" y="74013"/>
                    <a:pt x="267720" y="76891"/>
                    <a:pt x="264425" y="79906"/>
                  </a:cubicBezTo>
                  <a:cubicBezTo>
                    <a:pt x="263327" y="80866"/>
                    <a:pt x="262229" y="81825"/>
                    <a:pt x="261130" y="82784"/>
                  </a:cubicBezTo>
                  <a:cubicBezTo>
                    <a:pt x="257012" y="86759"/>
                    <a:pt x="253030" y="90871"/>
                    <a:pt x="249186" y="95120"/>
                  </a:cubicBezTo>
                  <a:cubicBezTo>
                    <a:pt x="248088" y="96216"/>
                    <a:pt x="247264" y="97450"/>
                    <a:pt x="246165" y="98683"/>
                  </a:cubicBezTo>
                  <a:cubicBezTo>
                    <a:pt x="243420" y="101836"/>
                    <a:pt x="240811" y="105125"/>
                    <a:pt x="238203" y="108552"/>
                  </a:cubicBezTo>
                  <a:cubicBezTo>
                    <a:pt x="237104" y="110197"/>
                    <a:pt x="235869" y="111704"/>
                    <a:pt x="234770" y="113349"/>
                  </a:cubicBezTo>
                  <a:cubicBezTo>
                    <a:pt x="232573" y="116501"/>
                    <a:pt x="230377" y="119791"/>
                    <a:pt x="228317" y="123080"/>
                  </a:cubicBezTo>
                  <a:cubicBezTo>
                    <a:pt x="227356" y="124725"/>
                    <a:pt x="226395" y="126233"/>
                    <a:pt x="225434" y="127877"/>
                  </a:cubicBezTo>
                  <a:cubicBezTo>
                    <a:pt x="223100" y="132126"/>
                    <a:pt x="220904" y="136238"/>
                    <a:pt x="218844" y="140487"/>
                  </a:cubicBezTo>
                  <a:cubicBezTo>
                    <a:pt x="218432" y="141309"/>
                    <a:pt x="218021" y="142132"/>
                    <a:pt x="217609" y="142954"/>
                  </a:cubicBezTo>
                  <a:cubicBezTo>
                    <a:pt x="215275" y="148025"/>
                    <a:pt x="213215" y="153233"/>
                    <a:pt x="211430" y="158442"/>
                  </a:cubicBezTo>
                  <a:cubicBezTo>
                    <a:pt x="210881" y="159949"/>
                    <a:pt x="210469" y="161457"/>
                    <a:pt x="209920" y="163102"/>
                  </a:cubicBezTo>
                  <a:cubicBezTo>
                    <a:pt x="208685" y="166940"/>
                    <a:pt x="207724" y="170777"/>
                    <a:pt x="206763" y="174752"/>
                  </a:cubicBezTo>
                  <a:cubicBezTo>
                    <a:pt x="206213" y="176671"/>
                    <a:pt x="205801" y="178453"/>
                    <a:pt x="205527" y="180371"/>
                  </a:cubicBezTo>
                  <a:cubicBezTo>
                    <a:pt x="204703" y="184209"/>
                    <a:pt x="204017" y="188184"/>
                    <a:pt x="203467" y="192159"/>
                  </a:cubicBezTo>
                  <a:cubicBezTo>
                    <a:pt x="203193" y="193940"/>
                    <a:pt x="202918" y="195585"/>
                    <a:pt x="202781" y="197367"/>
                  </a:cubicBezTo>
                  <a:cubicBezTo>
                    <a:pt x="202232" y="203123"/>
                    <a:pt x="201820" y="208743"/>
                    <a:pt x="201820" y="214499"/>
                  </a:cubicBezTo>
                  <a:cubicBezTo>
                    <a:pt x="201820" y="221901"/>
                    <a:pt x="202506" y="229028"/>
                    <a:pt x="203467" y="236155"/>
                  </a:cubicBezTo>
                  <a:cubicBezTo>
                    <a:pt x="203605" y="238074"/>
                    <a:pt x="203879" y="239719"/>
                    <a:pt x="204154" y="241637"/>
                  </a:cubicBezTo>
                  <a:cubicBezTo>
                    <a:pt x="205390" y="248627"/>
                    <a:pt x="206763" y="255755"/>
                    <a:pt x="208822" y="262608"/>
                  </a:cubicBezTo>
                  <a:cubicBezTo>
                    <a:pt x="208822" y="262745"/>
                    <a:pt x="208959" y="262882"/>
                    <a:pt x="208959" y="263019"/>
                  </a:cubicBezTo>
                  <a:cubicBezTo>
                    <a:pt x="211019" y="269735"/>
                    <a:pt x="213627" y="276451"/>
                    <a:pt x="216373" y="282893"/>
                  </a:cubicBezTo>
                  <a:cubicBezTo>
                    <a:pt x="217197" y="284537"/>
                    <a:pt x="217883" y="286182"/>
                    <a:pt x="218707" y="287827"/>
                  </a:cubicBezTo>
                  <a:cubicBezTo>
                    <a:pt x="221727" y="294406"/>
                    <a:pt x="225160" y="300847"/>
                    <a:pt x="229004" y="307152"/>
                  </a:cubicBezTo>
                  <a:cubicBezTo>
                    <a:pt x="229141" y="307289"/>
                    <a:pt x="229278" y="307563"/>
                    <a:pt x="229416" y="307700"/>
                  </a:cubicBezTo>
                  <a:cubicBezTo>
                    <a:pt x="233260" y="313731"/>
                    <a:pt x="237653" y="319625"/>
                    <a:pt x="242321" y="325381"/>
                  </a:cubicBezTo>
                  <a:cubicBezTo>
                    <a:pt x="243420" y="326752"/>
                    <a:pt x="244518" y="328122"/>
                    <a:pt x="245616" y="329630"/>
                  </a:cubicBezTo>
                  <a:cubicBezTo>
                    <a:pt x="246852" y="331001"/>
                    <a:pt x="247950" y="332371"/>
                    <a:pt x="249186" y="333742"/>
                  </a:cubicBezTo>
                  <a:cubicBezTo>
                    <a:pt x="237379" y="335387"/>
                    <a:pt x="225572" y="336209"/>
                    <a:pt x="213490" y="336209"/>
                  </a:cubicBezTo>
                  <a:lnTo>
                    <a:pt x="213353" y="336209"/>
                  </a:lnTo>
                  <a:cubicBezTo>
                    <a:pt x="204154" y="335661"/>
                    <a:pt x="194681" y="337991"/>
                    <a:pt x="187679" y="344159"/>
                  </a:cubicBezTo>
                  <a:cubicBezTo>
                    <a:pt x="158847" y="368692"/>
                    <a:pt x="122602" y="394323"/>
                    <a:pt x="87318" y="411044"/>
                  </a:cubicBezTo>
                  <a:cubicBezTo>
                    <a:pt x="97890" y="384317"/>
                    <a:pt x="105029" y="353479"/>
                    <a:pt x="99674" y="324148"/>
                  </a:cubicBezTo>
                  <a:cubicBezTo>
                    <a:pt x="98027" y="314691"/>
                    <a:pt x="92261" y="306330"/>
                    <a:pt x="84023" y="301259"/>
                  </a:cubicBezTo>
                  <a:cubicBezTo>
                    <a:pt x="30616" y="268912"/>
                    <a:pt x="0" y="220393"/>
                    <a:pt x="0" y="168036"/>
                  </a:cubicBezTo>
                  <a:cubicBezTo>
                    <a:pt x="0" y="75383"/>
                    <a:pt x="95693" y="0"/>
                    <a:pt x="2133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75" name="iṧḷíde"/>
            <p:cNvSpPr/>
            <p:nvPr/>
          </p:nvSpPr>
          <p:spPr bwMode="auto">
            <a:xfrm>
              <a:off x="3875298" y="3251795"/>
              <a:ext cx="340948" cy="340433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5017 w 6827"/>
                <a:gd name="T11" fmla="*/ 3033 h 6827"/>
                <a:gd name="T12" fmla="*/ 3431 w 6827"/>
                <a:gd name="T13" fmla="*/ 4619 h 6827"/>
                <a:gd name="T14" fmla="*/ 2802 w 6827"/>
                <a:gd name="T15" fmla="*/ 4619 h 6827"/>
                <a:gd name="T16" fmla="*/ 1884 w 6827"/>
                <a:gd name="T17" fmla="*/ 3701 h 6827"/>
                <a:gd name="T18" fmla="*/ 1884 w 6827"/>
                <a:gd name="T19" fmla="*/ 3072 h 6827"/>
                <a:gd name="T20" fmla="*/ 2514 w 6827"/>
                <a:gd name="T21" fmla="*/ 3072 h 6827"/>
                <a:gd name="T22" fmla="*/ 3117 w 6827"/>
                <a:gd name="T23" fmla="*/ 3674 h 6827"/>
                <a:gd name="T24" fmla="*/ 4387 w 6827"/>
                <a:gd name="T25" fmla="*/ 2404 h 6827"/>
                <a:gd name="T26" fmla="*/ 5017 w 6827"/>
                <a:gd name="T27" fmla="*/ 2404 h 6827"/>
                <a:gd name="T28" fmla="*/ 5017 w 6827"/>
                <a:gd name="T29" fmla="*/ 303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31" y="0"/>
                    <a:pt x="0" y="1531"/>
                    <a:pt x="0" y="3413"/>
                  </a:cubicBezTo>
                  <a:cubicBezTo>
                    <a:pt x="0" y="5295"/>
                    <a:pt x="1531" y="6827"/>
                    <a:pt x="3413" y="6827"/>
                  </a:cubicBezTo>
                  <a:cubicBezTo>
                    <a:pt x="5296" y="6827"/>
                    <a:pt x="6827" y="5295"/>
                    <a:pt x="6827" y="3413"/>
                  </a:cubicBezTo>
                  <a:cubicBezTo>
                    <a:pt x="6827" y="1531"/>
                    <a:pt x="5296" y="0"/>
                    <a:pt x="3413" y="0"/>
                  </a:cubicBezTo>
                  <a:close/>
                  <a:moveTo>
                    <a:pt x="5017" y="3033"/>
                  </a:moveTo>
                  <a:lnTo>
                    <a:pt x="3431" y="4619"/>
                  </a:lnTo>
                  <a:cubicBezTo>
                    <a:pt x="3257" y="4792"/>
                    <a:pt x="2976" y="4792"/>
                    <a:pt x="2802" y="4619"/>
                  </a:cubicBezTo>
                  <a:lnTo>
                    <a:pt x="1884" y="3701"/>
                  </a:lnTo>
                  <a:cubicBezTo>
                    <a:pt x="1710" y="3527"/>
                    <a:pt x="1710" y="3245"/>
                    <a:pt x="1884" y="3072"/>
                  </a:cubicBezTo>
                  <a:cubicBezTo>
                    <a:pt x="2058" y="2898"/>
                    <a:pt x="2340" y="2898"/>
                    <a:pt x="2514" y="3072"/>
                  </a:cubicBezTo>
                  <a:lnTo>
                    <a:pt x="3117" y="3674"/>
                  </a:lnTo>
                  <a:lnTo>
                    <a:pt x="4387" y="2404"/>
                  </a:lnTo>
                  <a:cubicBezTo>
                    <a:pt x="4561" y="2230"/>
                    <a:pt x="4843" y="2230"/>
                    <a:pt x="5017" y="2404"/>
                  </a:cubicBezTo>
                  <a:cubicBezTo>
                    <a:pt x="5190" y="2578"/>
                    <a:pt x="5190" y="2859"/>
                    <a:pt x="5017" y="3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76" name="ïslíḓé"/>
            <p:cNvSpPr/>
            <p:nvPr/>
          </p:nvSpPr>
          <p:spPr bwMode="auto">
            <a:xfrm>
              <a:off x="7360651" y="1810393"/>
              <a:ext cx="343455" cy="339662"/>
            </a:xfrm>
            <a:custGeom>
              <a:avLst/>
              <a:gdLst>
                <a:gd name="connsiteX0" fmla="*/ 466437 w 600511"/>
                <a:gd name="connsiteY0" fmla="*/ 421770 h 593879"/>
                <a:gd name="connsiteX1" fmla="*/ 504684 w 600511"/>
                <a:gd name="connsiteY1" fmla="*/ 459981 h 593879"/>
                <a:gd name="connsiteX2" fmla="*/ 466437 w 600511"/>
                <a:gd name="connsiteY2" fmla="*/ 498192 h 593879"/>
                <a:gd name="connsiteX3" fmla="*/ 428190 w 600511"/>
                <a:gd name="connsiteY3" fmla="*/ 459981 h 593879"/>
                <a:gd name="connsiteX4" fmla="*/ 466437 w 600511"/>
                <a:gd name="connsiteY4" fmla="*/ 421770 h 593879"/>
                <a:gd name="connsiteX5" fmla="*/ 453390 w 600511"/>
                <a:gd name="connsiteY5" fmla="*/ 375066 h 593879"/>
                <a:gd name="connsiteX6" fmla="*/ 421127 w 600511"/>
                <a:gd name="connsiteY6" fmla="*/ 386990 h 593879"/>
                <a:gd name="connsiteX7" fmla="*/ 418868 w 600511"/>
                <a:gd name="connsiteY7" fmla="*/ 392146 h 593879"/>
                <a:gd name="connsiteX8" fmla="*/ 424031 w 600511"/>
                <a:gd name="connsiteY8" fmla="*/ 406325 h 593879"/>
                <a:gd name="connsiteX9" fmla="*/ 423385 w 600511"/>
                <a:gd name="connsiteY9" fmla="*/ 411481 h 593879"/>
                <a:gd name="connsiteX10" fmla="*/ 416287 w 600511"/>
                <a:gd name="connsiteY10" fmla="*/ 413737 h 593879"/>
                <a:gd name="connsiteX11" fmla="*/ 402414 w 600511"/>
                <a:gd name="connsiteY11" fmla="*/ 407292 h 593879"/>
                <a:gd name="connsiteX12" fmla="*/ 397252 w 600511"/>
                <a:gd name="connsiteY12" fmla="*/ 409226 h 593879"/>
                <a:gd name="connsiteX13" fmla="*/ 383056 w 600511"/>
                <a:gd name="connsiteY13" fmla="*/ 440485 h 593879"/>
                <a:gd name="connsiteX14" fmla="*/ 384669 w 600511"/>
                <a:gd name="connsiteY14" fmla="*/ 445318 h 593879"/>
                <a:gd name="connsiteX15" fmla="*/ 398542 w 600511"/>
                <a:gd name="connsiteY15" fmla="*/ 451764 h 593879"/>
                <a:gd name="connsiteX16" fmla="*/ 401769 w 600511"/>
                <a:gd name="connsiteY16" fmla="*/ 455953 h 593879"/>
                <a:gd name="connsiteX17" fmla="*/ 398220 w 600511"/>
                <a:gd name="connsiteY17" fmla="*/ 462720 h 593879"/>
                <a:gd name="connsiteX18" fmla="*/ 384024 w 600511"/>
                <a:gd name="connsiteY18" fmla="*/ 467876 h 593879"/>
                <a:gd name="connsiteX19" fmla="*/ 381766 w 600511"/>
                <a:gd name="connsiteY19" fmla="*/ 472710 h 593879"/>
                <a:gd name="connsiteX20" fmla="*/ 393380 w 600511"/>
                <a:gd name="connsiteY20" fmla="*/ 504936 h 593879"/>
                <a:gd name="connsiteX21" fmla="*/ 398542 w 600511"/>
                <a:gd name="connsiteY21" fmla="*/ 507192 h 593879"/>
                <a:gd name="connsiteX22" fmla="*/ 412738 w 600511"/>
                <a:gd name="connsiteY22" fmla="*/ 502036 h 593879"/>
                <a:gd name="connsiteX23" fmla="*/ 417900 w 600511"/>
                <a:gd name="connsiteY23" fmla="*/ 502680 h 593879"/>
                <a:gd name="connsiteX24" fmla="*/ 420159 w 600511"/>
                <a:gd name="connsiteY24" fmla="*/ 510092 h 593879"/>
                <a:gd name="connsiteX25" fmla="*/ 413706 w 600511"/>
                <a:gd name="connsiteY25" fmla="*/ 523949 h 593879"/>
                <a:gd name="connsiteX26" fmla="*/ 415642 w 600511"/>
                <a:gd name="connsiteY26" fmla="*/ 528783 h 593879"/>
                <a:gd name="connsiteX27" fmla="*/ 446937 w 600511"/>
                <a:gd name="connsiteY27" fmla="*/ 543285 h 593879"/>
                <a:gd name="connsiteX28" fmla="*/ 451777 w 600511"/>
                <a:gd name="connsiteY28" fmla="*/ 541351 h 593879"/>
                <a:gd name="connsiteX29" fmla="*/ 458230 w 600511"/>
                <a:gd name="connsiteY29" fmla="*/ 527494 h 593879"/>
                <a:gd name="connsiteX30" fmla="*/ 462424 w 600511"/>
                <a:gd name="connsiteY30" fmla="*/ 524272 h 593879"/>
                <a:gd name="connsiteX31" fmla="*/ 469199 w 600511"/>
                <a:gd name="connsiteY31" fmla="*/ 528139 h 593879"/>
                <a:gd name="connsiteX32" fmla="*/ 474361 w 600511"/>
                <a:gd name="connsiteY32" fmla="*/ 542318 h 593879"/>
                <a:gd name="connsiteX33" fmla="*/ 479201 w 600511"/>
                <a:gd name="connsiteY33" fmla="*/ 544574 h 593879"/>
                <a:gd name="connsiteX34" fmla="*/ 511464 w 600511"/>
                <a:gd name="connsiteY34" fmla="*/ 532650 h 593879"/>
                <a:gd name="connsiteX35" fmla="*/ 513723 w 600511"/>
                <a:gd name="connsiteY35" fmla="*/ 527816 h 593879"/>
                <a:gd name="connsiteX36" fmla="*/ 508560 w 600511"/>
                <a:gd name="connsiteY36" fmla="*/ 513315 h 593879"/>
                <a:gd name="connsiteX37" fmla="*/ 509206 w 600511"/>
                <a:gd name="connsiteY37" fmla="*/ 508159 h 593879"/>
                <a:gd name="connsiteX38" fmla="*/ 516626 w 600511"/>
                <a:gd name="connsiteY38" fmla="*/ 506225 h 593879"/>
                <a:gd name="connsiteX39" fmla="*/ 530500 w 600511"/>
                <a:gd name="connsiteY39" fmla="*/ 512348 h 593879"/>
                <a:gd name="connsiteX40" fmla="*/ 535339 w 600511"/>
                <a:gd name="connsiteY40" fmla="*/ 510737 h 593879"/>
                <a:gd name="connsiteX41" fmla="*/ 549858 w 600511"/>
                <a:gd name="connsiteY41" fmla="*/ 479478 h 593879"/>
                <a:gd name="connsiteX42" fmla="*/ 547922 w 600511"/>
                <a:gd name="connsiteY42" fmla="*/ 474322 h 593879"/>
                <a:gd name="connsiteX43" fmla="*/ 534049 w 600511"/>
                <a:gd name="connsiteY43" fmla="*/ 467876 h 593879"/>
                <a:gd name="connsiteX44" fmla="*/ 531145 w 600511"/>
                <a:gd name="connsiteY44" fmla="*/ 461109 h 593879"/>
                <a:gd name="connsiteX45" fmla="*/ 534694 w 600511"/>
                <a:gd name="connsiteY45" fmla="*/ 457242 h 593879"/>
                <a:gd name="connsiteX46" fmla="*/ 548890 w 600511"/>
                <a:gd name="connsiteY46" fmla="*/ 451764 h 593879"/>
                <a:gd name="connsiteX47" fmla="*/ 551148 w 600511"/>
                <a:gd name="connsiteY47" fmla="*/ 446930 h 593879"/>
                <a:gd name="connsiteX48" fmla="*/ 539211 w 600511"/>
                <a:gd name="connsiteY48" fmla="*/ 414704 h 593879"/>
                <a:gd name="connsiteX49" fmla="*/ 534371 w 600511"/>
                <a:gd name="connsiteY49" fmla="*/ 412448 h 593879"/>
                <a:gd name="connsiteX50" fmla="*/ 520175 w 600511"/>
                <a:gd name="connsiteY50" fmla="*/ 417604 h 593879"/>
                <a:gd name="connsiteX51" fmla="*/ 514691 w 600511"/>
                <a:gd name="connsiteY51" fmla="*/ 416960 h 593879"/>
                <a:gd name="connsiteX52" fmla="*/ 512755 w 600511"/>
                <a:gd name="connsiteY52" fmla="*/ 409548 h 593879"/>
                <a:gd name="connsiteX53" fmla="*/ 518885 w 600511"/>
                <a:gd name="connsiteY53" fmla="*/ 396013 h 593879"/>
                <a:gd name="connsiteX54" fmla="*/ 516949 w 600511"/>
                <a:gd name="connsiteY54" fmla="*/ 390857 h 593879"/>
                <a:gd name="connsiteX55" fmla="*/ 485976 w 600511"/>
                <a:gd name="connsiteY55" fmla="*/ 376355 h 593879"/>
                <a:gd name="connsiteX56" fmla="*/ 480814 w 600511"/>
                <a:gd name="connsiteY56" fmla="*/ 378289 h 593879"/>
                <a:gd name="connsiteX57" fmla="*/ 474361 w 600511"/>
                <a:gd name="connsiteY57" fmla="*/ 392146 h 593879"/>
                <a:gd name="connsiteX58" fmla="*/ 470167 w 600511"/>
                <a:gd name="connsiteY58" fmla="*/ 395368 h 593879"/>
                <a:gd name="connsiteX59" fmla="*/ 463714 w 600511"/>
                <a:gd name="connsiteY59" fmla="*/ 391824 h 593879"/>
                <a:gd name="connsiteX60" fmla="*/ 458230 w 600511"/>
                <a:gd name="connsiteY60" fmla="*/ 377322 h 593879"/>
                <a:gd name="connsiteX61" fmla="*/ 453390 w 600511"/>
                <a:gd name="connsiteY61" fmla="*/ 375066 h 593879"/>
                <a:gd name="connsiteX62" fmla="*/ 0 w 600511"/>
                <a:gd name="connsiteY62" fmla="*/ 372515 h 593879"/>
                <a:gd name="connsiteX63" fmla="*/ 233292 w 600511"/>
                <a:gd name="connsiteY63" fmla="*/ 465626 h 593879"/>
                <a:gd name="connsiteX64" fmla="*/ 305248 w 600511"/>
                <a:gd name="connsiteY64" fmla="*/ 461116 h 593879"/>
                <a:gd name="connsiteX65" fmla="*/ 332998 w 600511"/>
                <a:gd name="connsiteY65" fmla="*/ 549716 h 593879"/>
                <a:gd name="connsiteX66" fmla="*/ 233292 w 600511"/>
                <a:gd name="connsiteY66" fmla="*/ 558737 h 593879"/>
                <a:gd name="connsiteX67" fmla="*/ 0 w 600511"/>
                <a:gd name="connsiteY67" fmla="*/ 465626 h 593879"/>
                <a:gd name="connsiteX68" fmla="*/ 466295 w 600511"/>
                <a:gd name="connsiteY68" fmla="*/ 326083 h 593879"/>
                <a:gd name="connsiteX69" fmla="*/ 600511 w 600511"/>
                <a:gd name="connsiteY69" fmla="*/ 459820 h 593879"/>
                <a:gd name="connsiteX70" fmla="*/ 466295 w 600511"/>
                <a:gd name="connsiteY70" fmla="*/ 593879 h 593879"/>
                <a:gd name="connsiteX71" fmla="*/ 332080 w 600511"/>
                <a:gd name="connsiteY71" fmla="*/ 459820 h 593879"/>
                <a:gd name="connsiteX72" fmla="*/ 466295 w 600511"/>
                <a:gd name="connsiteY72" fmla="*/ 326083 h 593879"/>
                <a:gd name="connsiteX73" fmla="*/ 0 w 600511"/>
                <a:gd name="connsiteY73" fmla="*/ 232654 h 593879"/>
                <a:gd name="connsiteX74" fmla="*/ 233309 w 600511"/>
                <a:gd name="connsiteY74" fmla="*/ 326103 h 593879"/>
                <a:gd name="connsiteX75" fmla="*/ 466296 w 600511"/>
                <a:gd name="connsiteY75" fmla="*/ 232654 h 593879"/>
                <a:gd name="connsiteX76" fmla="*/ 466296 w 600511"/>
                <a:gd name="connsiteY76" fmla="*/ 299035 h 593879"/>
                <a:gd name="connsiteX77" fmla="*/ 312370 w 600511"/>
                <a:gd name="connsiteY77" fmla="*/ 413429 h 593879"/>
                <a:gd name="connsiteX78" fmla="*/ 233309 w 600511"/>
                <a:gd name="connsiteY78" fmla="*/ 419229 h 593879"/>
                <a:gd name="connsiteX79" fmla="*/ 0 w 600511"/>
                <a:gd name="connsiteY79" fmla="*/ 326103 h 593879"/>
                <a:gd name="connsiteX80" fmla="*/ 233309 w 600511"/>
                <a:gd name="connsiteY80" fmla="*/ 23200 h 593879"/>
                <a:gd name="connsiteX81" fmla="*/ 23234 w 600511"/>
                <a:gd name="connsiteY81" fmla="*/ 93123 h 593879"/>
                <a:gd name="connsiteX82" fmla="*/ 233309 w 600511"/>
                <a:gd name="connsiteY82" fmla="*/ 163046 h 593879"/>
                <a:gd name="connsiteX83" fmla="*/ 443062 w 600511"/>
                <a:gd name="connsiteY83" fmla="*/ 93123 h 593879"/>
                <a:gd name="connsiteX84" fmla="*/ 233309 w 600511"/>
                <a:gd name="connsiteY84" fmla="*/ 23200 h 593879"/>
                <a:gd name="connsiteX85" fmla="*/ 233309 w 600511"/>
                <a:gd name="connsiteY85" fmla="*/ 0 h 593879"/>
                <a:gd name="connsiteX86" fmla="*/ 466296 w 600511"/>
                <a:gd name="connsiteY86" fmla="*/ 93123 h 593879"/>
                <a:gd name="connsiteX87" fmla="*/ 466296 w 600511"/>
                <a:gd name="connsiteY87" fmla="*/ 186246 h 593879"/>
                <a:gd name="connsiteX88" fmla="*/ 233309 w 600511"/>
                <a:gd name="connsiteY88" fmla="*/ 279369 h 593879"/>
                <a:gd name="connsiteX89" fmla="*/ 0 w 600511"/>
                <a:gd name="connsiteY89" fmla="*/ 186246 h 593879"/>
                <a:gd name="connsiteX90" fmla="*/ 0 w 600511"/>
                <a:gd name="connsiteY90" fmla="*/ 93123 h 593879"/>
                <a:gd name="connsiteX91" fmla="*/ 233309 w 600511"/>
                <a:gd name="connsiteY91" fmla="*/ 0 h 59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0511" h="593879">
                  <a:moveTo>
                    <a:pt x="466437" y="421770"/>
                  </a:moveTo>
                  <a:cubicBezTo>
                    <a:pt x="487560" y="421770"/>
                    <a:pt x="504684" y="438878"/>
                    <a:pt x="504684" y="459981"/>
                  </a:cubicBezTo>
                  <a:cubicBezTo>
                    <a:pt x="504684" y="481084"/>
                    <a:pt x="487560" y="498192"/>
                    <a:pt x="466437" y="498192"/>
                  </a:cubicBezTo>
                  <a:cubicBezTo>
                    <a:pt x="445314" y="498192"/>
                    <a:pt x="428190" y="481084"/>
                    <a:pt x="428190" y="459981"/>
                  </a:cubicBezTo>
                  <a:cubicBezTo>
                    <a:pt x="428190" y="438878"/>
                    <a:pt x="445314" y="421770"/>
                    <a:pt x="466437" y="421770"/>
                  </a:cubicBezTo>
                  <a:close/>
                  <a:moveTo>
                    <a:pt x="453390" y="375066"/>
                  </a:moveTo>
                  <a:lnTo>
                    <a:pt x="421127" y="386990"/>
                  </a:lnTo>
                  <a:cubicBezTo>
                    <a:pt x="419191" y="387957"/>
                    <a:pt x="418223" y="389890"/>
                    <a:pt x="418868" y="392146"/>
                  </a:cubicBezTo>
                  <a:lnTo>
                    <a:pt x="424031" y="406325"/>
                  </a:lnTo>
                  <a:cubicBezTo>
                    <a:pt x="424998" y="408259"/>
                    <a:pt x="424676" y="410515"/>
                    <a:pt x="423385" y="411481"/>
                  </a:cubicBezTo>
                  <a:cubicBezTo>
                    <a:pt x="422417" y="412448"/>
                    <a:pt x="418223" y="414382"/>
                    <a:pt x="416287" y="413737"/>
                  </a:cubicBezTo>
                  <a:lnTo>
                    <a:pt x="402414" y="407292"/>
                  </a:lnTo>
                  <a:cubicBezTo>
                    <a:pt x="400478" y="406325"/>
                    <a:pt x="398220" y="407292"/>
                    <a:pt x="397252" y="409226"/>
                  </a:cubicBezTo>
                  <a:lnTo>
                    <a:pt x="383056" y="440485"/>
                  </a:lnTo>
                  <a:cubicBezTo>
                    <a:pt x="382088" y="442096"/>
                    <a:pt x="383056" y="444674"/>
                    <a:pt x="384669" y="445318"/>
                  </a:cubicBezTo>
                  <a:lnTo>
                    <a:pt x="398542" y="451764"/>
                  </a:lnTo>
                  <a:cubicBezTo>
                    <a:pt x="400478" y="452730"/>
                    <a:pt x="402091" y="454664"/>
                    <a:pt x="401769" y="455953"/>
                  </a:cubicBezTo>
                  <a:cubicBezTo>
                    <a:pt x="401769" y="457564"/>
                    <a:pt x="400156" y="462076"/>
                    <a:pt x="398220" y="462720"/>
                  </a:cubicBezTo>
                  <a:lnTo>
                    <a:pt x="384024" y="467876"/>
                  </a:lnTo>
                  <a:cubicBezTo>
                    <a:pt x="382088" y="468521"/>
                    <a:pt x="381120" y="470777"/>
                    <a:pt x="381766" y="472710"/>
                  </a:cubicBezTo>
                  <a:lnTo>
                    <a:pt x="393380" y="504936"/>
                  </a:lnTo>
                  <a:cubicBezTo>
                    <a:pt x="394348" y="506870"/>
                    <a:pt x="396607" y="507836"/>
                    <a:pt x="398542" y="507192"/>
                  </a:cubicBezTo>
                  <a:lnTo>
                    <a:pt x="412738" y="502036"/>
                  </a:lnTo>
                  <a:cubicBezTo>
                    <a:pt x="414674" y="501391"/>
                    <a:pt x="417255" y="501713"/>
                    <a:pt x="417900" y="502680"/>
                  </a:cubicBezTo>
                  <a:cubicBezTo>
                    <a:pt x="418868" y="503969"/>
                    <a:pt x="421127" y="508159"/>
                    <a:pt x="420159" y="510092"/>
                  </a:cubicBezTo>
                  <a:lnTo>
                    <a:pt x="413706" y="523949"/>
                  </a:lnTo>
                  <a:cubicBezTo>
                    <a:pt x="412738" y="525561"/>
                    <a:pt x="413706" y="527816"/>
                    <a:pt x="415642" y="528783"/>
                  </a:cubicBezTo>
                  <a:lnTo>
                    <a:pt x="446937" y="543285"/>
                  </a:lnTo>
                  <a:cubicBezTo>
                    <a:pt x="448873" y="544251"/>
                    <a:pt x="451132" y="543285"/>
                    <a:pt x="451777" y="541351"/>
                  </a:cubicBezTo>
                  <a:lnTo>
                    <a:pt x="458230" y="527494"/>
                  </a:lnTo>
                  <a:cubicBezTo>
                    <a:pt x="459198" y="525561"/>
                    <a:pt x="461133" y="524272"/>
                    <a:pt x="462424" y="524272"/>
                  </a:cubicBezTo>
                  <a:cubicBezTo>
                    <a:pt x="464037" y="524272"/>
                    <a:pt x="468554" y="525883"/>
                    <a:pt x="469199" y="528139"/>
                  </a:cubicBezTo>
                  <a:lnTo>
                    <a:pt x="474361" y="542318"/>
                  </a:lnTo>
                  <a:cubicBezTo>
                    <a:pt x="475007" y="544251"/>
                    <a:pt x="477265" y="545218"/>
                    <a:pt x="479201" y="544574"/>
                  </a:cubicBezTo>
                  <a:lnTo>
                    <a:pt x="511464" y="532650"/>
                  </a:lnTo>
                  <a:cubicBezTo>
                    <a:pt x="513400" y="532006"/>
                    <a:pt x="514368" y="529750"/>
                    <a:pt x="513723" y="527816"/>
                  </a:cubicBezTo>
                  <a:lnTo>
                    <a:pt x="508560" y="513315"/>
                  </a:lnTo>
                  <a:cubicBezTo>
                    <a:pt x="507915" y="511381"/>
                    <a:pt x="508238" y="509125"/>
                    <a:pt x="509206" y="508159"/>
                  </a:cubicBezTo>
                  <a:cubicBezTo>
                    <a:pt x="510496" y="507192"/>
                    <a:pt x="514691" y="505258"/>
                    <a:pt x="516626" y="506225"/>
                  </a:cubicBezTo>
                  <a:lnTo>
                    <a:pt x="530500" y="512348"/>
                  </a:lnTo>
                  <a:cubicBezTo>
                    <a:pt x="532435" y="513315"/>
                    <a:pt x="534694" y="512348"/>
                    <a:pt x="535339" y="510737"/>
                  </a:cubicBezTo>
                  <a:lnTo>
                    <a:pt x="549858" y="479478"/>
                  </a:lnTo>
                  <a:cubicBezTo>
                    <a:pt x="550825" y="477544"/>
                    <a:pt x="549858" y="475288"/>
                    <a:pt x="547922" y="474322"/>
                  </a:cubicBezTo>
                  <a:lnTo>
                    <a:pt x="534049" y="467876"/>
                  </a:lnTo>
                  <a:cubicBezTo>
                    <a:pt x="532113" y="467232"/>
                    <a:pt x="531145" y="462398"/>
                    <a:pt x="531145" y="461109"/>
                  </a:cubicBezTo>
                  <a:cubicBezTo>
                    <a:pt x="531145" y="459498"/>
                    <a:pt x="532435" y="457886"/>
                    <a:pt x="534694" y="457242"/>
                  </a:cubicBezTo>
                  <a:lnTo>
                    <a:pt x="548890" y="451764"/>
                  </a:lnTo>
                  <a:cubicBezTo>
                    <a:pt x="550825" y="451119"/>
                    <a:pt x="551793" y="448863"/>
                    <a:pt x="551148" y="446930"/>
                  </a:cubicBezTo>
                  <a:lnTo>
                    <a:pt x="539211" y="414704"/>
                  </a:lnTo>
                  <a:cubicBezTo>
                    <a:pt x="538565" y="412770"/>
                    <a:pt x="536307" y="411804"/>
                    <a:pt x="534371" y="412448"/>
                  </a:cubicBezTo>
                  <a:lnTo>
                    <a:pt x="520175" y="417604"/>
                  </a:lnTo>
                  <a:cubicBezTo>
                    <a:pt x="517917" y="418571"/>
                    <a:pt x="515658" y="418249"/>
                    <a:pt x="514691" y="416960"/>
                  </a:cubicBezTo>
                  <a:cubicBezTo>
                    <a:pt x="513723" y="415993"/>
                    <a:pt x="511787" y="411481"/>
                    <a:pt x="512755" y="409548"/>
                  </a:cubicBezTo>
                  <a:lnTo>
                    <a:pt x="518885" y="396013"/>
                  </a:lnTo>
                  <a:cubicBezTo>
                    <a:pt x="519853" y="394079"/>
                    <a:pt x="518885" y="391824"/>
                    <a:pt x="516949" y="390857"/>
                  </a:cubicBezTo>
                  <a:lnTo>
                    <a:pt x="485976" y="376355"/>
                  </a:lnTo>
                  <a:cubicBezTo>
                    <a:pt x="484040" y="375711"/>
                    <a:pt x="481782" y="376355"/>
                    <a:pt x="480814" y="378289"/>
                  </a:cubicBezTo>
                  <a:lnTo>
                    <a:pt x="474361" y="392146"/>
                  </a:lnTo>
                  <a:cubicBezTo>
                    <a:pt x="473716" y="394079"/>
                    <a:pt x="471780" y="395691"/>
                    <a:pt x="470167" y="395368"/>
                  </a:cubicBezTo>
                  <a:cubicBezTo>
                    <a:pt x="468877" y="395368"/>
                    <a:pt x="464360" y="393757"/>
                    <a:pt x="463714" y="391824"/>
                  </a:cubicBezTo>
                  <a:lnTo>
                    <a:pt x="458230" y="377322"/>
                  </a:lnTo>
                  <a:cubicBezTo>
                    <a:pt x="457584" y="375389"/>
                    <a:pt x="455326" y="374422"/>
                    <a:pt x="453390" y="375066"/>
                  </a:cubicBezTo>
                  <a:close/>
                  <a:moveTo>
                    <a:pt x="0" y="372515"/>
                  </a:moveTo>
                  <a:cubicBezTo>
                    <a:pt x="0" y="424064"/>
                    <a:pt x="104223" y="465626"/>
                    <a:pt x="233292" y="465626"/>
                  </a:cubicBezTo>
                  <a:cubicBezTo>
                    <a:pt x="258461" y="465626"/>
                    <a:pt x="282661" y="464015"/>
                    <a:pt x="305248" y="461116"/>
                  </a:cubicBezTo>
                  <a:cubicBezTo>
                    <a:pt x="305571" y="493978"/>
                    <a:pt x="315574" y="524264"/>
                    <a:pt x="332998" y="549716"/>
                  </a:cubicBezTo>
                  <a:cubicBezTo>
                    <a:pt x="302667" y="555515"/>
                    <a:pt x="268786" y="558737"/>
                    <a:pt x="233292" y="558737"/>
                  </a:cubicBezTo>
                  <a:cubicBezTo>
                    <a:pt x="104546" y="558737"/>
                    <a:pt x="0" y="517175"/>
                    <a:pt x="0" y="465626"/>
                  </a:cubicBezTo>
                  <a:close/>
                  <a:moveTo>
                    <a:pt x="466295" y="326083"/>
                  </a:moveTo>
                  <a:cubicBezTo>
                    <a:pt x="540501" y="326083"/>
                    <a:pt x="600511" y="386023"/>
                    <a:pt x="600511" y="459820"/>
                  </a:cubicBezTo>
                  <a:cubicBezTo>
                    <a:pt x="600511" y="533939"/>
                    <a:pt x="540501" y="593879"/>
                    <a:pt x="466295" y="593879"/>
                  </a:cubicBezTo>
                  <a:cubicBezTo>
                    <a:pt x="392412" y="593879"/>
                    <a:pt x="332080" y="533939"/>
                    <a:pt x="332080" y="459820"/>
                  </a:cubicBezTo>
                  <a:cubicBezTo>
                    <a:pt x="332080" y="386023"/>
                    <a:pt x="392412" y="326083"/>
                    <a:pt x="466295" y="326083"/>
                  </a:cubicBezTo>
                  <a:close/>
                  <a:moveTo>
                    <a:pt x="0" y="232654"/>
                  </a:moveTo>
                  <a:cubicBezTo>
                    <a:pt x="0" y="284212"/>
                    <a:pt x="104554" y="326103"/>
                    <a:pt x="233309" y="326103"/>
                  </a:cubicBezTo>
                  <a:cubicBezTo>
                    <a:pt x="362065" y="326103"/>
                    <a:pt x="466296" y="284212"/>
                    <a:pt x="466296" y="232654"/>
                  </a:cubicBezTo>
                  <a:lnTo>
                    <a:pt x="466296" y="299035"/>
                  </a:lnTo>
                  <a:cubicBezTo>
                    <a:pt x="393689" y="299035"/>
                    <a:pt x="332377" y="347370"/>
                    <a:pt x="312370" y="413429"/>
                  </a:cubicBezTo>
                  <a:cubicBezTo>
                    <a:pt x="287522" y="416973"/>
                    <a:pt x="261061" y="419229"/>
                    <a:pt x="233309" y="419229"/>
                  </a:cubicBezTo>
                  <a:cubicBezTo>
                    <a:pt x="104231" y="419229"/>
                    <a:pt x="0" y="377338"/>
                    <a:pt x="0" y="326103"/>
                  </a:cubicBezTo>
                  <a:close/>
                  <a:moveTo>
                    <a:pt x="233309" y="23200"/>
                  </a:moveTo>
                  <a:cubicBezTo>
                    <a:pt x="105199" y="23200"/>
                    <a:pt x="23234" y="64445"/>
                    <a:pt x="23234" y="93123"/>
                  </a:cubicBezTo>
                  <a:cubicBezTo>
                    <a:pt x="23234" y="121479"/>
                    <a:pt x="105199" y="163046"/>
                    <a:pt x="233309" y="163046"/>
                  </a:cubicBezTo>
                  <a:cubicBezTo>
                    <a:pt x="361420" y="163046"/>
                    <a:pt x="443062" y="121479"/>
                    <a:pt x="443062" y="93123"/>
                  </a:cubicBezTo>
                  <a:cubicBezTo>
                    <a:pt x="443062" y="64445"/>
                    <a:pt x="361420" y="23200"/>
                    <a:pt x="233309" y="23200"/>
                  </a:cubicBezTo>
                  <a:close/>
                  <a:moveTo>
                    <a:pt x="233309" y="0"/>
                  </a:moveTo>
                  <a:cubicBezTo>
                    <a:pt x="362065" y="0"/>
                    <a:pt x="466296" y="41567"/>
                    <a:pt x="466296" y="93123"/>
                  </a:cubicBezTo>
                  <a:lnTo>
                    <a:pt x="466296" y="186246"/>
                  </a:lnTo>
                  <a:cubicBezTo>
                    <a:pt x="466296" y="237802"/>
                    <a:pt x="362065" y="279369"/>
                    <a:pt x="233309" y="279369"/>
                  </a:cubicBezTo>
                  <a:cubicBezTo>
                    <a:pt x="104231" y="279369"/>
                    <a:pt x="0" y="237802"/>
                    <a:pt x="0" y="186246"/>
                  </a:cubicBezTo>
                  <a:lnTo>
                    <a:pt x="0" y="93123"/>
                  </a:lnTo>
                  <a:cubicBezTo>
                    <a:pt x="0" y="41567"/>
                    <a:pt x="104554" y="0"/>
                    <a:pt x="2333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77" name="iṩļîḋè"/>
            <p:cNvSpPr/>
            <p:nvPr/>
          </p:nvSpPr>
          <p:spPr bwMode="auto">
            <a:xfrm>
              <a:off x="4472794" y="4737435"/>
              <a:ext cx="342202" cy="258842"/>
            </a:xfrm>
            <a:custGeom>
              <a:avLst/>
              <a:gdLst>
                <a:gd name="connsiteX0" fmla="*/ 303150 w 606298"/>
                <a:gd name="connsiteY0" fmla="*/ 172180 h 458605"/>
                <a:gd name="connsiteX1" fmla="*/ 409775 w 606298"/>
                <a:gd name="connsiteY1" fmla="*/ 278664 h 458605"/>
                <a:gd name="connsiteX2" fmla="*/ 303150 w 606298"/>
                <a:gd name="connsiteY2" fmla="*/ 385148 h 458605"/>
                <a:gd name="connsiteX3" fmla="*/ 196525 w 606298"/>
                <a:gd name="connsiteY3" fmla="*/ 278664 h 458605"/>
                <a:gd name="connsiteX4" fmla="*/ 303150 w 606298"/>
                <a:gd name="connsiteY4" fmla="*/ 172180 h 458605"/>
                <a:gd name="connsiteX5" fmla="*/ 303149 w 606298"/>
                <a:gd name="connsiteY5" fmla="*/ 131787 h 458605"/>
                <a:gd name="connsiteX6" fmla="*/ 156060 w 606298"/>
                <a:gd name="connsiteY6" fmla="*/ 278654 h 458605"/>
                <a:gd name="connsiteX7" fmla="*/ 303149 w 606298"/>
                <a:gd name="connsiteY7" fmla="*/ 425430 h 458605"/>
                <a:gd name="connsiteX8" fmla="*/ 450147 w 606298"/>
                <a:gd name="connsiteY8" fmla="*/ 278654 h 458605"/>
                <a:gd name="connsiteX9" fmla="*/ 303149 w 606298"/>
                <a:gd name="connsiteY9" fmla="*/ 131787 h 458605"/>
                <a:gd name="connsiteX10" fmla="*/ 72767 w 606298"/>
                <a:gd name="connsiteY10" fmla="*/ 60502 h 458605"/>
                <a:gd name="connsiteX11" fmla="*/ 60593 w 606298"/>
                <a:gd name="connsiteY11" fmla="*/ 72657 h 458605"/>
                <a:gd name="connsiteX12" fmla="*/ 60593 w 606298"/>
                <a:gd name="connsiteY12" fmla="*/ 98155 h 458605"/>
                <a:gd name="connsiteX13" fmla="*/ 165762 w 606298"/>
                <a:gd name="connsiteY13" fmla="*/ 98155 h 458605"/>
                <a:gd name="connsiteX14" fmla="*/ 165762 w 606298"/>
                <a:gd name="connsiteY14" fmla="*/ 72657 h 458605"/>
                <a:gd name="connsiteX15" fmla="*/ 153588 w 606298"/>
                <a:gd name="connsiteY15" fmla="*/ 60502 h 458605"/>
                <a:gd name="connsiteX16" fmla="*/ 72767 w 606298"/>
                <a:gd name="connsiteY16" fmla="*/ 0 h 458605"/>
                <a:gd name="connsiteX17" fmla="*/ 153588 w 606298"/>
                <a:gd name="connsiteY17" fmla="*/ 0 h 458605"/>
                <a:gd name="connsiteX18" fmla="*/ 226355 w 606298"/>
                <a:gd name="connsiteY18" fmla="*/ 72657 h 458605"/>
                <a:gd name="connsiteX19" fmla="*/ 226355 w 606298"/>
                <a:gd name="connsiteY19" fmla="*/ 98612 h 458605"/>
                <a:gd name="connsiteX20" fmla="*/ 417654 w 606298"/>
                <a:gd name="connsiteY20" fmla="*/ 98612 h 458605"/>
                <a:gd name="connsiteX21" fmla="*/ 417654 w 606298"/>
                <a:gd name="connsiteY21" fmla="*/ 74119 h 458605"/>
                <a:gd name="connsiteX22" fmla="*/ 449781 w 606298"/>
                <a:gd name="connsiteY22" fmla="*/ 42041 h 458605"/>
                <a:gd name="connsiteX23" fmla="*/ 506713 w 606298"/>
                <a:gd name="connsiteY23" fmla="*/ 42041 h 458605"/>
                <a:gd name="connsiteX24" fmla="*/ 538932 w 606298"/>
                <a:gd name="connsiteY24" fmla="*/ 74119 h 458605"/>
                <a:gd name="connsiteX25" fmla="*/ 538932 w 606298"/>
                <a:gd name="connsiteY25" fmla="*/ 98612 h 458605"/>
                <a:gd name="connsiteX26" fmla="*/ 546712 w 606298"/>
                <a:gd name="connsiteY26" fmla="*/ 98612 h 458605"/>
                <a:gd name="connsiteX27" fmla="*/ 606298 w 606298"/>
                <a:gd name="connsiteY27" fmla="*/ 158108 h 458605"/>
                <a:gd name="connsiteX28" fmla="*/ 606298 w 606298"/>
                <a:gd name="connsiteY28" fmla="*/ 399109 h 458605"/>
                <a:gd name="connsiteX29" fmla="*/ 546712 w 606298"/>
                <a:gd name="connsiteY29" fmla="*/ 458605 h 458605"/>
                <a:gd name="connsiteX30" fmla="*/ 59495 w 606298"/>
                <a:gd name="connsiteY30" fmla="*/ 458605 h 458605"/>
                <a:gd name="connsiteX31" fmla="*/ 0 w 606298"/>
                <a:gd name="connsiteY31" fmla="*/ 399109 h 458605"/>
                <a:gd name="connsiteX32" fmla="*/ 0 w 606298"/>
                <a:gd name="connsiteY32" fmla="*/ 72657 h 458605"/>
                <a:gd name="connsiteX33" fmla="*/ 72767 w 606298"/>
                <a:gd name="connsiteY33" fmla="*/ 0 h 45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98" h="458605">
                  <a:moveTo>
                    <a:pt x="303150" y="172180"/>
                  </a:moveTo>
                  <a:cubicBezTo>
                    <a:pt x="362037" y="172180"/>
                    <a:pt x="409775" y="219855"/>
                    <a:pt x="409775" y="278664"/>
                  </a:cubicBezTo>
                  <a:cubicBezTo>
                    <a:pt x="409775" y="337473"/>
                    <a:pt x="362037" y="385148"/>
                    <a:pt x="303150" y="385148"/>
                  </a:cubicBezTo>
                  <a:cubicBezTo>
                    <a:pt x="244263" y="385148"/>
                    <a:pt x="196525" y="337473"/>
                    <a:pt x="196525" y="278664"/>
                  </a:cubicBezTo>
                  <a:cubicBezTo>
                    <a:pt x="196525" y="219855"/>
                    <a:pt x="244263" y="172180"/>
                    <a:pt x="303150" y="172180"/>
                  </a:cubicBezTo>
                  <a:close/>
                  <a:moveTo>
                    <a:pt x="303149" y="131787"/>
                  </a:moveTo>
                  <a:cubicBezTo>
                    <a:pt x="222053" y="131787"/>
                    <a:pt x="156060" y="197681"/>
                    <a:pt x="156060" y="278654"/>
                  </a:cubicBezTo>
                  <a:cubicBezTo>
                    <a:pt x="156060" y="359536"/>
                    <a:pt x="222053" y="425430"/>
                    <a:pt x="303149" y="425430"/>
                  </a:cubicBezTo>
                  <a:cubicBezTo>
                    <a:pt x="384245" y="425430"/>
                    <a:pt x="450147" y="359536"/>
                    <a:pt x="450147" y="278654"/>
                  </a:cubicBezTo>
                  <a:cubicBezTo>
                    <a:pt x="450147" y="197681"/>
                    <a:pt x="384245" y="131787"/>
                    <a:pt x="303149" y="131787"/>
                  </a:cubicBezTo>
                  <a:close/>
                  <a:moveTo>
                    <a:pt x="72767" y="60502"/>
                  </a:moveTo>
                  <a:cubicBezTo>
                    <a:pt x="66085" y="60502"/>
                    <a:pt x="60593" y="65985"/>
                    <a:pt x="60593" y="72657"/>
                  </a:cubicBezTo>
                  <a:lnTo>
                    <a:pt x="60593" y="98155"/>
                  </a:lnTo>
                  <a:lnTo>
                    <a:pt x="165762" y="98155"/>
                  </a:lnTo>
                  <a:lnTo>
                    <a:pt x="165762" y="72657"/>
                  </a:lnTo>
                  <a:cubicBezTo>
                    <a:pt x="165762" y="65985"/>
                    <a:pt x="160270" y="60502"/>
                    <a:pt x="153588" y="60502"/>
                  </a:cubicBezTo>
                  <a:close/>
                  <a:moveTo>
                    <a:pt x="72767" y="0"/>
                  </a:moveTo>
                  <a:lnTo>
                    <a:pt x="153588" y="0"/>
                  </a:lnTo>
                  <a:cubicBezTo>
                    <a:pt x="193770" y="0"/>
                    <a:pt x="226355" y="32536"/>
                    <a:pt x="226355" y="72657"/>
                  </a:cubicBezTo>
                  <a:lnTo>
                    <a:pt x="226355" y="98612"/>
                  </a:lnTo>
                  <a:lnTo>
                    <a:pt x="417654" y="98612"/>
                  </a:lnTo>
                  <a:lnTo>
                    <a:pt x="417654" y="74119"/>
                  </a:lnTo>
                  <a:cubicBezTo>
                    <a:pt x="417654" y="56389"/>
                    <a:pt x="432024" y="42041"/>
                    <a:pt x="449781" y="42041"/>
                  </a:cubicBezTo>
                  <a:lnTo>
                    <a:pt x="506713" y="42041"/>
                  </a:lnTo>
                  <a:cubicBezTo>
                    <a:pt x="524561" y="42041"/>
                    <a:pt x="538932" y="56389"/>
                    <a:pt x="538932" y="74119"/>
                  </a:cubicBezTo>
                  <a:lnTo>
                    <a:pt x="538932" y="98612"/>
                  </a:lnTo>
                  <a:lnTo>
                    <a:pt x="546712" y="98612"/>
                  </a:lnTo>
                  <a:cubicBezTo>
                    <a:pt x="579571" y="98612"/>
                    <a:pt x="606298" y="125299"/>
                    <a:pt x="606298" y="158108"/>
                  </a:cubicBezTo>
                  <a:lnTo>
                    <a:pt x="606298" y="399109"/>
                  </a:lnTo>
                  <a:cubicBezTo>
                    <a:pt x="606298" y="431919"/>
                    <a:pt x="579571" y="458605"/>
                    <a:pt x="546712" y="458605"/>
                  </a:cubicBezTo>
                  <a:lnTo>
                    <a:pt x="59495" y="458605"/>
                  </a:lnTo>
                  <a:cubicBezTo>
                    <a:pt x="26635" y="458605"/>
                    <a:pt x="0" y="431919"/>
                    <a:pt x="0" y="399109"/>
                  </a:cubicBezTo>
                  <a:lnTo>
                    <a:pt x="0" y="72657"/>
                  </a:lnTo>
                  <a:cubicBezTo>
                    <a:pt x="0" y="32536"/>
                    <a:pt x="32585" y="0"/>
                    <a:pt x="727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78" name="îṩļiḓè"/>
            <p:cNvSpPr/>
            <p:nvPr/>
          </p:nvSpPr>
          <p:spPr>
            <a:xfrm>
              <a:off x="665163" y="1667557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>
                  <a:solidFill>
                    <a:srgbClr val="0000FF"/>
                  </a:solidFill>
                </a:rPr>
                <a:t>处理机管理</a:t>
              </a:r>
              <a:r>
                <a:rPr lang="zh-CN" altLang="en-US" sz="2400" dirty="0"/>
                <a:t>功能</a:t>
              </a:r>
              <a:endParaRPr lang="en-US" altLang="zh-CN" sz="2400" dirty="0"/>
            </a:p>
          </p:txBody>
        </p:sp>
        <p:sp>
          <p:nvSpPr>
            <p:cNvPr id="79" name="ïṣľîḋê"/>
            <p:cNvSpPr/>
            <p:nvPr/>
          </p:nvSpPr>
          <p:spPr>
            <a:xfrm>
              <a:off x="8029002" y="1667557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>
                  <a:solidFill>
                    <a:srgbClr val="0000FF"/>
                  </a:solidFill>
                </a:rPr>
                <a:t>文件管理</a:t>
              </a:r>
              <a:r>
                <a:rPr lang="zh-CN" altLang="en-US" sz="2400" dirty="0"/>
                <a:t>功能</a:t>
              </a:r>
              <a:endParaRPr lang="en-US" altLang="zh-CN" sz="2400" dirty="0"/>
            </a:p>
          </p:txBody>
        </p:sp>
        <p:sp>
          <p:nvSpPr>
            <p:cNvPr id="80" name="išľïḓe"/>
            <p:cNvSpPr/>
            <p:nvPr/>
          </p:nvSpPr>
          <p:spPr>
            <a:xfrm>
              <a:off x="665164" y="3161434"/>
              <a:ext cx="2882020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>
                  <a:solidFill>
                    <a:srgbClr val="0000FF"/>
                  </a:solidFill>
                </a:rPr>
                <a:t>内存管理</a:t>
              </a:r>
              <a:r>
                <a:rPr lang="zh-CN" altLang="en-US" sz="2400" dirty="0"/>
                <a:t>功能</a:t>
              </a:r>
              <a:endParaRPr lang="en-US" altLang="zh-CN" sz="2400" dirty="0"/>
            </a:p>
          </p:txBody>
        </p:sp>
        <p:sp>
          <p:nvSpPr>
            <p:cNvPr id="81" name="îṧľïdè"/>
            <p:cNvSpPr/>
            <p:nvPr/>
          </p:nvSpPr>
          <p:spPr>
            <a:xfrm>
              <a:off x="8602796" y="2904889"/>
              <a:ext cx="2632134" cy="1066230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lnSpc>
                  <a:spcPct val="132000"/>
                </a:lnSpc>
              </a:pPr>
              <a:r>
                <a:rPr lang="zh-CN" altLang="en-US" sz="2400" dirty="0"/>
                <a:t>操作系统与用户之间的</a:t>
              </a:r>
              <a:r>
                <a:rPr lang="zh-CN" altLang="en-US" sz="2400" dirty="0">
                  <a:solidFill>
                    <a:srgbClr val="0000FF"/>
                  </a:solidFill>
                </a:rPr>
                <a:t>接口</a:t>
              </a:r>
              <a:endParaRPr lang="en-US" altLang="zh-CN" sz="2400" dirty="0"/>
            </a:p>
          </p:txBody>
        </p:sp>
        <p:sp>
          <p:nvSpPr>
            <p:cNvPr id="82" name="işľîḓé"/>
            <p:cNvSpPr/>
            <p:nvPr/>
          </p:nvSpPr>
          <p:spPr>
            <a:xfrm>
              <a:off x="665163" y="4708346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>
                  <a:solidFill>
                    <a:srgbClr val="0000FF"/>
                  </a:solidFill>
                </a:rPr>
                <a:t>设备管理</a:t>
              </a:r>
              <a:r>
                <a:rPr lang="zh-CN" altLang="en-US" sz="2400" dirty="0"/>
                <a:t>功能</a:t>
              </a:r>
              <a:endParaRPr lang="en-US" altLang="zh-CN" sz="2400" dirty="0"/>
            </a:p>
          </p:txBody>
        </p:sp>
        <p:sp>
          <p:nvSpPr>
            <p:cNvPr id="83" name="ïśļíde"/>
            <p:cNvSpPr/>
            <p:nvPr/>
          </p:nvSpPr>
          <p:spPr>
            <a:xfrm>
              <a:off x="8029002" y="4708346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/>
                <a:t>现代</a:t>
              </a:r>
              <a:r>
                <a:rPr lang="en-US" altLang="zh-CN" sz="2400" dirty="0"/>
                <a:t>OS</a:t>
              </a:r>
              <a:r>
                <a:rPr lang="zh-CN" altLang="en-US" sz="2400" dirty="0"/>
                <a:t>的新功能</a:t>
              </a:r>
              <a:endParaRPr lang="en-US" altLang="zh-CN" sz="2400" dirty="0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处理机管理功能</a:t>
            </a:r>
          </a:p>
        </p:txBody>
      </p:sp>
      <p:grpSp>
        <p:nvGrpSpPr>
          <p:cNvPr id="29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14868" y="1228691"/>
            <a:ext cx="11246981" cy="4124771"/>
            <a:chOff x="673100" y="1464590"/>
            <a:chExt cx="11246981" cy="4124771"/>
          </a:xfrm>
        </p:grpSpPr>
        <p:sp>
          <p:nvSpPr>
            <p:cNvPr id="30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2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4" name="îṡlíḓè"/>
            <p:cNvSpPr/>
            <p:nvPr>
              <p:custDataLst>
                <p:tags r:id="rId6"/>
              </p:custDataLst>
            </p:nvPr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5" name="ï$1iḍe"/>
            <p:cNvSpPr txBox="1"/>
            <p:nvPr>
              <p:custDataLst>
                <p:tags r:id="rId7"/>
              </p:custDataLst>
            </p:nvPr>
          </p:nvSpPr>
          <p:spPr>
            <a:xfrm>
              <a:off x="738159" y="1491721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进程控制</a:t>
              </a:r>
            </a:p>
          </p:txBody>
        </p:sp>
        <p:sp>
          <p:nvSpPr>
            <p:cNvPr id="36" name="isľîdê"/>
            <p:cNvSpPr txBox="1"/>
            <p:nvPr>
              <p:custDataLst>
                <p:tags r:id="rId8"/>
              </p:custDataLst>
            </p:nvPr>
          </p:nvSpPr>
          <p:spPr>
            <a:xfrm>
              <a:off x="837271" y="4127645"/>
              <a:ext cx="2287926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创建进程、撤消（终止）进程、状态转换</a:t>
              </a:r>
            </a:p>
          </p:txBody>
        </p:sp>
        <p:sp>
          <p:nvSpPr>
            <p:cNvPr id="37" name="íṩ1ïḑe"/>
            <p:cNvSpPr txBox="1"/>
            <p:nvPr>
              <p:custDataLst>
                <p:tags r:id="rId9"/>
              </p:custDataLst>
            </p:nvPr>
          </p:nvSpPr>
          <p:spPr>
            <a:xfrm>
              <a:off x="3077666" y="1464590"/>
              <a:ext cx="3316591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</a:rPr>
                <a:t>进程同步</a:t>
              </a:r>
            </a:p>
          </p:txBody>
        </p:sp>
        <p:sp>
          <p:nvSpPr>
            <p:cNvPr id="38" name="ïsḻiďê"/>
            <p:cNvSpPr txBox="1"/>
            <p:nvPr>
              <p:custDataLst>
                <p:tags r:id="rId10"/>
              </p:custDataLst>
            </p:nvPr>
          </p:nvSpPr>
          <p:spPr>
            <a:xfrm>
              <a:off x="6366706" y="1478156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进程通信</a:t>
              </a:r>
            </a:p>
          </p:txBody>
        </p:sp>
        <p:sp>
          <p:nvSpPr>
            <p:cNvPr id="39" name="isḷiḋé"/>
            <p:cNvSpPr txBox="1"/>
            <p:nvPr>
              <p:custDataLst>
                <p:tags r:id="rId11"/>
              </p:custDataLst>
            </p:nvPr>
          </p:nvSpPr>
          <p:spPr>
            <a:xfrm>
              <a:off x="8833059" y="1491721"/>
              <a:ext cx="3087022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调度</a:t>
              </a:r>
            </a:p>
          </p:txBody>
        </p:sp>
        <p:sp>
          <p:nvSpPr>
            <p:cNvPr id="40" name="îṣḻidé"/>
            <p:cNvSpPr txBox="1"/>
            <p:nvPr>
              <p:custDataLst>
                <p:tags r:id="rId12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01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1" name="ïŝ1ïḋè"/>
            <p:cNvSpPr txBox="1"/>
            <p:nvPr>
              <p:custDataLst>
                <p:tags r:id="rId13"/>
              </p:custDataLst>
            </p:nvPr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02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2" name="í$lîdé"/>
            <p:cNvSpPr txBox="1"/>
            <p:nvPr>
              <p:custDataLst>
                <p:tags r:id="rId14"/>
              </p:custDataLst>
            </p:nvPr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03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3" name="išḻïďè"/>
            <p:cNvSpPr txBox="1"/>
            <p:nvPr>
              <p:custDataLst>
                <p:tags r:id="rId15"/>
              </p:custDataLst>
            </p:nvPr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04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4" name="isľîdê"/>
            <p:cNvSpPr txBox="1"/>
            <p:nvPr>
              <p:custDataLst>
                <p:tags r:id="rId16"/>
              </p:custDataLst>
            </p:nvPr>
          </p:nvSpPr>
          <p:spPr>
            <a:xfrm>
              <a:off x="3540236" y="4127645"/>
              <a:ext cx="2276119" cy="858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信号量机制</a:t>
              </a:r>
            </a:p>
          </p:txBody>
        </p:sp>
        <p:sp>
          <p:nvSpPr>
            <p:cNvPr id="45" name="isľîdê"/>
            <p:cNvSpPr txBox="1"/>
            <p:nvPr>
              <p:custDataLst>
                <p:tags r:id="rId17"/>
              </p:custDataLst>
            </p:nvPr>
          </p:nvSpPr>
          <p:spPr>
            <a:xfrm>
              <a:off x="6469394" y="4151140"/>
              <a:ext cx="2018637" cy="531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直接通信、间接通信</a:t>
              </a:r>
            </a:p>
          </p:txBody>
        </p:sp>
        <p:sp>
          <p:nvSpPr>
            <p:cNvPr id="46" name="isľîdê"/>
            <p:cNvSpPr txBox="1"/>
            <p:nvPr>
              <p:custDataLst>
                <p:tags r:id="rId18"/>
              </p:custDataLst>
            </p:nvPr>
          </p:nvSpPr>
          <p:spPr>
            <a:xfrm>
              <a:off x="9430508" y="4151140"/>
              <a:ext cx="2369079" cy="8352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作业调度</a:t>
              </a:r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进程调度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存储器管理功能</a:t>
            </a:r>
          </a:p>
        </p:txBody>
      </p:sp>
      <p:grpSp>
        <p:nvGrpSpPr>
          <p:cNvPr id="21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76743" y="1265533"/>
            <a:ext cx="11246981" cy="4124771"/>
            <a:chOff x="673100" y="1464590"/>
            <a:chExt cx="11246981" cy="4124771"/>
          </a:xfrm>
        </p:grpSpPr>
        <p:sp>
          <p:nvSpPr>
            <p:cNvPr id="22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4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6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7" name="ï$1iḍe"/>
            <p:cNvSpPr txBox="1"/>
            <p:nvPr/>
          </p:nvSpPr>
          <p:spPr>
            <a:xfrm>
              <a:off x="738159" y="1491721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内存分配和回收</a:t>
              </a:r>
            </a:p>
          </p:txBody>
        </p:sp>
        <p:sp>
          <p:nvSpPr>
            <p:cNvPr id="28" name="isľîdê"/>
            <p:cNvSpPr txBox="1"/>
            <p:nvPr/>
          </p:nvSpPr>
          <p:spPr>
            <a:xfrm>
              <a:off x="837271" y="4127645"/>
              <a:ext cx="2287926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内存分配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内存回收</a:t>
              </a:r>
            </a:p>
          </p:txBody>
        </p:sp>
        <p:sp>
          <p:nvSpPr>
            <p:cNvPr id="47" name="íṩ1ïḑe"/>
            <p:cNvSpPr txBox="1"/>
            <p:nvPr/>
          </p:nvSpPr>
          <p:spPr>
            <a:xfrm>
              <a:off x="3077666" y="1464590"/>
              <a:ext cx="3316591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400" b="1" dirty="0"/>
                <a:t>内存保护</a:t>
              </a:r>
            </a:p>
          </p:txBody>
        </p:sp>
        <p:sp>
          <p:nvSpPr>
            <p:cNvPr id="48" name="ïsḻiďê"/>
            <p:cNvSpPr txBox="1"/>
            <p:nvPr/>
          </p:nvSpPr>
          <p:spPr>
            <a:xfrm>
              <a:off x="6366706" y="1478156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地址映射</a:t>
              </a:r>
            </a:p>
          </p:txBody>
        </p:sp>
        <p:sp>
          <p:nvSpPr>
            <p:cNvPr id="49" name="isḷiḋé"/>
            <p:cNvSpPr txBox="1"/>
            <p:nvPr/>
          </p:nvSpPr>
          <p:spPr>
            <a:xfrm>
              <a:off x="8656120" y="1491721"/>
              <a:ext cx="3263961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内存扩充</a:t>
              </a:r>
              <a:br>
                <a:rPr lang="en-US" altLang="zh-CN" sz="2400" b="1" dirty="0"/>
              </a:br>
              <a:r>
                <a:rPr lang="zh-CN" altLang="en-US" sz="2400" b="1" dirty="0">
                  <a:solidFill>
                    <a:srgbClr val="FF0000"/>
                  </a:solidFill>
                </a:rPr>
                <a:t>（虚拟存储技术）</a:t>
              </a:r>
            </a:p>
          </p:txBody>
        </p:sp>
        <p:sp>
          <p:nvSpPr>
            <p:cNvPr id="50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01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51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02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52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03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53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04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54" name="isľîdê"/>
            <p:cNvSpPr txBox="1"/>
            <p:nvPr/>
          </p:nvSpPr>
          <p:spPr>
            <a:xfrm>
              <a:off x="2996169" y="4100515"/>
              <a:ext cx="3330521" cy="858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确保每个用户程序仅在自己的内存空间运行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绝不允许用户程序访问操作系统的程序和数据</a:t>
              </a:r>
            </a:p>
          </p:txBody>
        </p:sp>
        <p:sp>
          <p:nvSpPr>
            <p:cNvPr id="55" name="isľîdê"/>
            <p:cNvSpPr txBox="1"/>
            <p:nvPr/>
          </p:nvSpPr>
          <p:spPr>
            <a:xfrm>
              <a:off x="6469394" y="4151140"/>
              <a:ext cx="2363665" cy="531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逻辑地址转换为物理地址</a:t>
              </a:r>
            </a:p>
          </p:txBody>
        </p:sp>
        <p:sp>
          <p:nvSpPr>
            <p:cNvPr id="56" name="isľîdê"/>
            <p:cNvSpPr txBox="1"/>
            <p:nvPr/>
          </p:nvSpPr>
          <p:spPr>
            <a:xfrm>
              <a:off x="9430508" y="4151140"/>
              <a:ext cx="2369079" cy="8352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请求调入功能</a:t>
              </a:r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置换功能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设备管理功能</a:t>
            </a:r>
          </a:p>
        </p:txBody>
      </p:sp>
      <p:sp>
        <p:nvSpPr>
          <p:cNvPr id="40" name="ïṣḻïḍe"/>
          <p:cNvSpPr txBox="1"/>
          <p:nvPr/>
        </p:nvSpPr>
        <p:spPr>
          <a:xfrm>
            <a:off x="660400" y="1165567"/>
            <a:ext cx="10858500" cy="6485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buSzPct val="25000"/>
            </a:pPr>
            <a:r>
              <a:rPr lang="zh-CN" altLang="en-US" sz="2400" b="1" dirty="0"/>
              <a:t>主要任务：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完成</a:t>
            </a:r>
            <a:r>
              <a:rPr lang="en-US" altLang="zh-CN" sz="2400" b="1" dirty="0"/>
              <a:t>I/O</a:t>
            </a:r>
            <a:r>
              <a:rPr lang="zh-CN" altLang="en-US" sz="2400" b="1" dirty="0"/>
              <a:t>请求；</a:t>
            </a:r>
            <a:r>
              <a:rPr lang="en-US" altLang="zh-CN" sz="2400" b="1" dirty="0"/>
              <a:t>(2)</a:t>
            </a:r>
            <a:r>
              <a:rPr lang="zh-CN" altLang="en-US" sz="2400" b="1" dirty="0"/>
              <a:t>提高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I/O</a:t>
            </a:r>
            <a:r>
              <a:rPr lang="zh-CN" altLang="en-US" sz="2400" b="1" dirty="0"/>
              <a:t>设备的利用率。</a:t>
            </a:r>
          </a:p>
        </p:txBody>
      </p:sp>
      <p:sp>
        <p:nvSpPr>
          <p:cNvPr id="42" name="ïṩḷiďè"/>
          <p:cNvSpPr/>
          <p:nvPr/>
        </p:nvSpPr>
        <p:spPr>
          <a:xfrm>
            <a:off x="0" y="2172896"/>
            <a:ext cx="12192000" cy="1420426"/>
          </a:xfrm>
          <a:prstGeom prst="rect">
            <a:avLst/>
          </a:prstGeom>
          <a:blipFill>
            <a:blip r:embed="rId11"/>
            <a:srcRect/>
            <a:stretch>
              <a:fillRect t="-193116" b="-189697"/>
            </a:stretch>
          </a:blipFill>
          <a:ln w="12700" cap="flat" cmpd="sng" algn="ctr">
            <a:noFill/>
            <a:prstDash val="solid"/>
            <a:miter lim="800000"/>
          </a:ln>
          <a:effectLst>
            <a:outerShdw dist="38100" dir="5400000" algn="t" rotWithShape="0">
              <a:prstClr val="black">
                <a:alpha val="15000"/>
              </a:prst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3" name="işḷiḍè"/>
          <p:cNvGrpSpPr/>
          <p:nvPr>
            <p:custDataLst>
              <p:tags r:id="rId1"/>
            </p:custDataLst>
          </p:nvPr>
        </p:nvGrpSpPr>
        <p:grpSpPr>
          <a:xfrm>
            <a:off x="660401" y="2221723"/>
            <a:ext cx="2899546" cy="2669028"/>
            <a:chOff x="660401" y="2173427"/>
            <a:chExt cx="2899546" cy="2669028"/>
          </a:xfrm>
        </p:grpSpPr>
        <p:sp>
          <p:nvSpPr>
            <p:cNvPr id="44" name="iṣḻîďé"/>
            <p:cNvSpPr/>
            <p:nvPr>
              <p:custDataLst>
                <p:tags r:id="rId8"/>
              </p:custDataLst>
            </p:nvPr>
          </p:nvSpPr>
          <p:spPr>
            <a:xfrm>
              <a:off x="1448788" y="2173427"/>
              <a:ext cx="1322773" cy="132277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9050" cap="rnd">
              <a:solidFill>
                <a:schemeClr val="bg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en-US" altLang="zh-CN" sz="3200" dirty="0">
                  <a:solidFill>
                    <a:schemeClr val="bg1"/>
                  </a:solidFill>
                </a:rPr>
                <a:t>01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grpSp>
          <p:nvGrpSpPr>
            <p:cNvPr id="45" name="ïSľíḍè"/>
            <p:cNvGrpSpPr/>
            <p:nvPr/>
          </p:nvGrpSpPr>
          <p:grpSpPr>
            <a:xfrm>
              <a:off x="660401" y="3711634"/>
              <a:ext cx="2899546" cy="1130821"/>
              <a:chOff x="1137237" y="3711634"/>
              <a:chExt cx="3492591" cy="1130821"/>
            </a:xfrm>
          </p:grpSpPr>
          <p:sp>
            <p:nvSpPr>
              <p:cNvPr id="46" name="îśľîḍé"/>
              <p:cNvSpPr/>
              <p:nvPr/>
            </p:nvSpPr>
            <p:spPr bwMode="auto">
              <a:xfrm>
                <a:off x="1683430" y="4201332"/>
                <a:ext cx="2400204" cy="6411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700" dirty="0"/>
                  <a:t>缓冲区机制：占用内存、暂存数据</a:t>
                </a:r>
              </a:p>
            </p:txBody>
          </p:sp>
          <p:sp>
            <p:nvSpPr>
              <p:cNvPr id="57" name="iṧľiḑé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7237" y="3711634"/>
                <a:ext cx="3492591" cy="489700"/>
              </a:xfrm>
              <a:prstGeom prst="rect">
                <a:avLst/>
              </a:prstGeom>
              <a:noFill/>
              <a:ln w="3175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zh-CN" altLang="en-US" sz="2400" b="1" dirty="0">
                    <a:solidFill>
                      <a:srgbClr val="FF0000"/>
                    </a:solidFill>
                  </a:rPr>
                  <a:t>缓冲管理</a:t>
                </a:r>
              </a:p>
            </p:txBody>
          </p:sp>
        </p:grpSp>
      </p:grpSp>
      <p:grpSp>
        <p:nvGrpSpPr>
          <p:cNvPr id="58" name="ïsļïḋê"/>
          <p:cNvGrpSpPr/>
          <p:nvPr>
            <p:custDataLst>
              <p:tags r:id="rId2"/>
            </p:custDataLst>
          </p:nvPr>
        </p:nvGrpSpPr>
        <p:grpSpPr>
          <a:xfrm>
            <a:off x="4639877" y="2221723"/>
            <a:ext cx="2899546" cy="2027907"/>
            <a:chOff x="660401" y="2173427"/>
            <a:chExt cx="2899546" cy="2027907"/>
          </a:xfrm>
        </p:grpSpPr>
        <p:sp>
          <p:nvSpPr>
            <p:cNvPr id="59" name="íSḷiḑê"/>
            <p:cNvSpPr/>
            <p:nvPr>
              <p:custDataLst>
                <p:tags r:id="rId6"/>
              </p:custDataLst>
            </p:nvPr>
          </p:nvSpPr>
          <p:spPr>
            <a:xfrm>
              <a:off x="1448788" y="2173427"/>
              <a:ext cx="1322773" cy="132277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9050" cap="rnd">
              <a:solidFill>
                <a:schemeClr val="bg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en-US" altLang="zh-CN" sz="3200" dirty="0">
                  <a:solidFill>
                    <a:schemeClr val="bg1"/>
                  </a:solidFill>
                </a:rPr>
                <a:t>02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62" name="í$ḻïḍe"/>
            <p:cNvSpPr/>
            <p:nvPr>
              <p:custDataLst>
                <p:tags r:id="rId7"/>
              </p:custDataLst>
            </p:nvPr>
          </p:nvSpPr>
          <p:spPr>
            <a:xfrm>
              <a:off x="660401" y="3711634"/>
              <a:ext cx="2899546" cy="489700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设备分配</a:t>
              </a:r>
            </a:p>
          </p:txBody>
        </p:sp>
      </p:grpSp>
      <p:grpSp>
        <p:nvGrpSpPr>
          <p:cNvPr id="63" name="ísľïḍè"/>
          <p:cNvGrpSpPr/>
          <p:nvPr>
            <p:custDataLst>
              <p:tags r:id="rId3"/>
            </p:custDataLst>
          </p:nvPr>
        </p:nvGrpSpPr>
        <p:grpSpPr>
          <a:xfrm>
            <a:off x="8619354" y="2221723"/>
            <a:ext cx="3439511" cy="2669028"/>
            <a:chOff x="660401" y="2173427"/>
            <a:chExt cx="3439511" cy="2669028"/>
          </a:xfrm>
        </p:grpSpPr>
        <p:sp>
          <p:nvSpPr>
            <p:cNvPr id="64" name="îśḷíḍe"/>
            <p:cNvSpPr/>
            <p:nvPr>
              <p:custDataLst>
                <p:tags r:id="rId4"/>
              </p:custDataLst>
            </p:nvPr>
          </p:nvSpPr>
          <p:spPr>
            <a:xfrm>
              <a:off x="1448788" y="2173427"/>
              <a:ext cx="1322773" cy="132277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9050" cap="rnd">
              <a:solidFill>
                <a:schemeClr val="bg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en-US" altLang="zh-CN" sz="3200" dirty="0">
                  <a:solidFill>
                    <a:schemeClr val="bg1"/>
                  </a:solidFill>
                </a:rPr>
                <a:t>03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grpSp>
          <p:nvGrpSpPr>
            <p:cNvPr id="65" name="iṥlîdè"/>
            <p:cNvGrpSpPr/>
            <p:nvPr/>
          </p:nvGrpSpPr>
          <p:grpSpPr>
            <a:xfrm>
              <a:off x="660401" y="3711634"/>
              <a:ext cx="3439511" cy="1130821"/>
              <a:chOff x="1137237" y="3711634"/>
              <a:chExt cx="4142995" cy="1130821"/>
            </a:xfrm>
          </p:grpSpPr>
          <p:sp>
            <p:nvSpPr>
              <p:cNvPr id="66" name="ïṣļiḍe"/>
              <p:cNvSpPr/>
              <p:nvPr/>
            </p:nvSpPr>
            <p:spPr bwMode="auto">
              <a:xfrm>
                <a:off x="1787641" y="4111180"/>
                <a:ext cx="3492591" cy="731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设备驱动程序</a:t>
                </a:r>
              </a:p>
            </p:txBody>
          </p:sp>
          <p:sp>
            <p:nvSpPr>
              <p:cNvPr id="67" name="iṧḷiḓê"/>
              <p:cNvSpPr/>
              <p:nvPr>
                <p:custDataLst>
                  <p:tags r:id="rId5"/>
                </p:custDataLst>
              </p:nvPr>
            </p:nvSpPr>
            <p:spPr>
              <a:xfrm>
                <a:off x="1137237" y="3711634"/>
                <a:ext cx="3492591" cy="489700"/>
              </a:xfrm>
              <a:prstGeom prst="rect">
                <a:avLst/>
              </a:prstGeom>
              <a:noFill/>
              <a:ln w="3175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设备处理</a:t>
                </a:r>
              </a:p>
            </p:txBody>
          </p:sp>
        </p:grpSp>
      </p:grpSp>
      <p:cxnSp>
        <p:nvCxnSpPr>
          <p:cNvPr id="68" name="直接连接符 67"/>
          <p:cNvCxnSpPr/>
          <p:nvPr/>
        </p:nvCxnSpPr>
        <p:spPr>
          <a:xfrm>
            <a:off x="4183062" y="3954824"/>
            <a:ext cx="0" cy="64112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8066509" y="3954824"/>
            <a:ext cx="0" cy="64112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文件管理功能</a:t>
            </a:r>
          </a:p>
        </p:txBody>
      </p:sp>
      <p:grpSp>
        <p:nvGrpSpPr>
          <p:cNvPr id="21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985158"/>
            <a:ext cx="11075232" cy="4734027"/>
            <a:chOff x="660400" y="1181131"/>
            <a:chExt cx="11075232" cy="4734027"/>
          </a:xfrm>
        </p:grpSpPr>
        <p:sp>
          <p:nvSpPr>
            <p:cNvPr id="22" name="íṥḻîḑe"/>
            <p:cNvSpPr/>
            <p:nvPr/>
          </p:nvSpPr>
          <p:spPr>
            <a:xfrm>
              <a:off x="682048" y="1580300"/>
              <a:ext cx="3476055" cy="2567583"/>
            </a:xfrm>
            <a:prstGeom prst="rect">
              <a:avLst/>
            </a:prstGeom>
            <a:blipFill>
              <a:blip r:embed="rId3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ïşḻiḍé"/>
            <p:cNvSpPr/>
            <p:nvPr/>
          </p:nvSpPr>
          <p:spPr>
            <a:xfrm>
              <a:off x="660400" y="4245058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solidFill>
                    <a:schemeClr val="tx1"/>
                  </a:solidFill>
                </a:rPr>
                <a:t>文件存储空间的管理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solidFill>
                    <a:schemeClr val="tx1"/>
                  </a:solidFill>
                </a:rPr>
                <a:t>磁盘上文件系统</a:t>
              </a:r>
            </a:p>
          </p:txBody>
        </p:sp>
        <p:sp>
          <p:nvSpPr>
            <p:cNvPr id="24" name="îŝļiḋe"/>
            <p:cNvSpPr/>
            <p:nvPr/>
          </p:nvSpPr>
          <p:spPr>
            <a:xfrm>
              <a:off x="4352677" y="1580300"/>
              <a:ext cx="3476055" cy="2567583"/>
            </a:xfrm>
            <a:prstGeom prst="rect">
              <a:avLst/>
            </a:prstGeom>
            <a:blipFill>
              <a:blip r:embed="rId4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ïšlïḑè"/>
            <p:cNvSpPr/>
            <p:nvPr/>
          </p:nvSpPr>
          <p:spPr>
            <a:xfrm>
              <a:off x="4331029" y="4245058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solidFill>
                    <a:srgbClr val="0000FF"/>
                  </a:solidFill>
                </a:rPr>
                <a:t>目录管理</a:t>
              </a:r>
              <a:endParaRPr lang="en-US" altLang="zh-CN" sz="2400" dirty="0">
                <a:solidFill>
                  <a:srgbClr val="0000FF"/>
                </a:solidFill>
              </a:endParaRPr>
            </a:p>
            <a:p>
              <a:pPr marL="800100" lvl="1" indent="-342900">
                <a:lnSpc>
                  <a:spcPct val="150000"/>
                </a:lnSpc>
                <a:buClr>
                  <a:srgbClr val="0000FF"/>
                </a:buClr>
                <a:buFont typeface="Wingdings" panose="05000000000000000000" pitchFamily="2" charset="2"/>
                <a:buChar char="p"/>
              </a:pPr>
              <a:r>
                <a:rPr lang="zh-CN" altLang="en-US" sz="2400" dirty="0">
                  <a:solidFill>
                    <a:srgbClr val="0000FF"/>
                  </a:solidFill>
                </a:rPr>
                <a:t>按名存取</a:t>
              </a:r>
            </a:p>
          </p:txBody>
        </p:sp>
        <p:sp>
          <p:nvSpPr>
            <p:cNvPr id="26" name="íŝḻiďé"/>
            <p:cNvSpPr/>
            <p:nvPr/>
          </p:nvSpPr>
          <p:spPr>
            <a:xfrm>
              <a:off x="8023305" y="1580300"/>
              <a:ext cx="3712327" cy="2567583"/>
            </a:xfrm>
            <a:prstGeom prst="rect">
              <a:avLst/>
            </a:prstGeom>
            <a:blipFill>
              <a:blip r:embed="rId5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í$ḷîḋe"/>
            <p:cNvSpPr/>
            <p:nvPr/>
          </p:nvSpPr>
          <p:spPr>
            <a:xfrm>
              <a:off x="8001657" y="4245058"/>
              <a:ext cx="3733975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solidFill>
                    <a:srgbClr val="0000FF"/>
                  </a:solidFill>
                </a:rPr>
                <a:t>文件的读</a:t>
              </a:r>
              <a:r>
                <a:rPr lang="en-US" altLang="zh-CN" sz="2400" dirty="0">
                  <a:solidFill>
                    <a:srgbClr val="0000FF"/>
                  </a:solidFill>
                </a:rPr>
                <a:t>/</a:t>
              </a:r>
              <a:r>
                <a:rPr lang="zh-CN" altLang="en-US" sz="2400" dirty="0">
                  <a:solidFill>
                    <a:srgbClr val="0000FF"/>
                  </a:solidFill>
                </a:rPr>
                <a:t>写管理和保护</a:t>
              </a:r>
              <a:endParaRPr lang="en-US" altLang="zh-CN" sz="2400" dirty="0">
                <a:solidFill>
                  <a:srgbClr val="0000FF"/>
                </a:solidFill>
              </a:endParaRPr>
            </a:p>
            <a:p>
              <a:pPr marL="742950" lvl="1" indent="-28575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p"/>
              </a:pPr>
              <a:r>
                <a:rPr lang="zh-CN" altLang="en-US" sz="2400" dirty="0">
                  <a:solidFill>
                    <a:schemeClr val="tx1"/>
                  </a:solidFill>
                </a:rPr>
                <a:t>文件的读</a:t>
              </a:r>
              <a:r>
                <a:rPr lang="en-US" altLang="zh-CN" sz="2400" dirty="0">
                  <a:solidFill>
                    <a:schemeClr val="tx1"/>
                  </a:solidFill>
                </a:rPr>
                <a:t>/</a:t>
              </a:r>
              <a:r>
                <a:rPr lang="zh-CN" altLang="en-US" sz="2400" dirty="0">
                  <a:solidFill>
                    <a:schemeClr val="tx1"/>
                  </a:solidFill>
                </a:rPr>
                <a:t>写管理</a:t>
              </a:r>
            </a:p>
            <a:p>
              <a:pPr marL="742950" lvl="1" indent="-28575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p"/>
              </a:pPr>
              <a:r>
                <a:rPr lang="zh-CN" altLang="en-US" sz="2400" dirty="0">
                  <a:solidFill>
                    <a:schemeClr val="tx1"/>
                  </a:solidFill>
                </a:rPr>
                <a:t>文件保护</a:t>
              </a:r>
            </a:p>
          </p:txBody>
        </p:sp>
        <p:sp>
          <p:nvSpPr>
            <p:cNvPr id="28" name="ï$lïďè"/>
            <p:cNvSpPr/>
            <p:nvPr/>
          </p:nvSpPr>
          <p:spPr bwMode="auto">
            <a:xfrm>
              <a:off x="2253506" y="1181131"/>
              <a:ext cx="333138" cy="310404"/>
            </a:xfrm>
            <a:custGeom>
              <a:avLst/>
              <a:gdLst>
                <a:gd name="connsiteX0" fmla="*/ 484855 w 606016"/>
                <a:gd name="connsiteY0" fmla="*/ 473988 h 564664"/>
                <a:gd name="connsiteX1" fmla="*/ 505037 w 606016"/>
                <a:gd name="connsiteY1" fmla="*/ 494170 h 564664"/>
                <a:gd name="connsiteX2" fmla="*/ 484855 w 606016"/>
                <a:gd name="connsiteY2" fmla="*/ 514352 h 564664"/>
                <a:gd name="connsiteX3" fmla="*/ 464673 w 606016"/>
                <a:gd name="connsiteY3" fmla="*/ 494170 h 564664"/>
                <a:gd name="connsiteX4" fmla="*/ 484855 w 606016"/>
                <a:gd name="connsiteY4" fmla="*/ 473988 h 564664"/>
                <a:gd name="connsiteX5" fmla="*/ 121232 w 606016"/>
                <a:gd name="connsiteY5" fmla="*/ 473988 h 564664"/>
                <a:gd name="connsiteX6" fmla="*/ 141414 w 606016"/>
                <a:gd name="connsiteY6" fmla="*/ 494170 h 564664"/>
                <a:gd name="connsiteX7" fmla="*/ 121232 w 606016"/>
                <a:gd name="connsiteY7" fmla="*/ 514352 h 564664"/>
                <a:gd name="connsiteX8" fmla="*/ 101050 w 606016"/>
                <a:gd name="connsiteY8" fmla="*/ 494170 h 564664"/>
                <a:gd name="connsiteX9" fmla="*/ 121232 w 606016"/>
                <a:gd name="connsiteY9" fmla="*/ 473988 h 564664"/>
                <a:gd name="connsiteX10" fmla="*/ 484813 w 606016"/>
                <a:gd name="connsiteY10" fmla="*/ 443658 h 564664"/>
                <a:gd name="connsiteX11" fmla="*/ 434364 w 606016"/>
                <a:gd name="connsiteY11" fmla="*/ 494115 h 564664"/>
                <a:gd name="connsiteX12" fmla="*/ 484813 w 606016"/>
                <a:gd name="connsiteY12" fmla="*/ 544482 h 564664"/>
                <a:gd name="connsiteX13" fmla="*/ 535352 w 606016"/>
                <a:gd name="connsiteY13" fmla="*/ 494115 h 564664"/>
                <a:gd name="connsiteX14" fmla="*/ 484813 w 606016"/>
                <a:gd name="connsiteY14" fmla="*/ 443658 h 564664"/>
                <a:gd name="connsiteX15" fmla="*/ 121293 w 606016"/>
                <a:gd name="connsiteY15" fmla="*/ 443658 h 564664"/>
                <a:gd name="connsiteX16" fmla="*/ 70755 w 606016"/>
                <a:gd name="connsiteY16" fmla="*/ 494115 h 564664"/>
                <a:gd name="connsiteX17" fmla="*/ 121293 w 606016"/>
                <a:gd name="connsiteY17" fmla="*/ 544482 h 564664"/>
                <a:gd name="connsiteX18" fmla="*/ 171742 w 606016"/>
                <a:gd name="connsiteY18" fmla="*/ 494115 h 564664"/>
                <a:gd name="connsiteX19" fmla="*/ 121293 w 606016"/>
                <a:gd name="connsiteY19" fmla="*/ 443658 h 564664"/>
                <a:gd name="connsiteX20" fmla="*/ 303053 w 606016"/>
                <a:gd name="connsiteY20" fmla="*/ 373109 h 564664"/>
                <a:gd name="connsiteX21" fmla="*/ 292945 w 606016"/>
                <a:gd name="connsiteY21" fmla="*/ 383200 h 564664"/>
                <a:gd name="connsiteX22" fmla="*/ 303053 w 606016"/>
                <a:gd name="connsiteY22" fmla="*/ 393292 h 564664"/>
                <a:gd name="connsiteX23" fmla="*/ 343484 w 606016"/>
                <a:gd name="connsiteY23" fmla="*/ 393292 h 564664"/>
                <a:gd name="connsiteX24" fmla="*/ 343484 w 606016"/>
                <a:gd name="connsiteY24" fmla="*/ 403383 h 564664"/>
                <a:gd name="connsiteX25" fmla="*/ 353592 w 606016"/>
                <a:gd name="connsiteY25" fmla="*/ 413474 h 564664"/>
                <a:gd name="connsiteX26" fmla="*/ 363610 w 606016"/>
                <a:gd name="connsiteY26" fmla="*/ 403383 h 564664"/>
                <a:gd name="connsiteX27" fmla="*/ 363610 w 606016"/>
                <a:gd name="connsiteY27" fmla="*/ 383200 h 564664"/>
                <a:gd name="connsiteX28" fmla="*/ 353592 w 606016"/>
                <a:gd name="connsiteY28" fmla="*/ 373109 h 564664"/>
                <a:gd name="connsiteX29" fmla="*/ 313169 w 606016"/>
                <a:gd name="connsiteY29" fmla="*/ 282403 h 564664"/>
                <a:gd name="connsiteX30" fmla="*/ 447018 w 606016"/>
                <a:gd name="connsiteY30" fmla="*/ 282403 h 564664"/>
                <a:gd name="connsiteX31" fmla="*/ 465069 w 606016"/>
                <a:gd name="connsiteY31" fmla="*/ 311699 h 564664"/>
                <a:gd name="connsiteX32" fmla="*/ 473282 w 606016"/>
                <a:gd name="connsiteY32" fmla="*/ 322696 h 564664"/>
                <a:gd name="connsiteX33" fmla="*/ 313169 w 606016"/>
                <a:gd name="connsiteY33" fmla="*/ 322696 h 564664"/>
                <a:gd name="connsiteX34" fmla="*/ 161665 w 606016"/>
                <a:gd name="connsiteY34" fmla="*/ 282403 h 564664"/>
                <a:gd name="connsiteX35" fmla="*/ 292917 w 606016"/>
                <a:gd name="connsiteY35" fmla="*/ 282403 h 564664"/>
                <a:gd name="connsiteX36" fmla="*/ 292917 w 606016"/>
                <a:gd name="connsiteY36" fmla="*/ 322696 h 564664"/>
                <a:gd name="connsiteX37" fmla="*/ 161665 w 606016"/>
                <a:gd name="connsiteY37" fmla="*/ 322696 h 564664"/>
                <a:gd name="connsiteX38" fmla="*/ 191958 w 606016"/>
                <a:gd name="connsiteY38" fmla="*/ 0 h 564664"/>
                <a:gd name="connsiteX39" fmla="*/ 202066 w 606016"/>
                <a:gd name="connsiteY39" fmla="*/ 10092 h 564664"/>
                <a:gd name="connsiteX40" fmla="*/ 202066 w 606016"/>
                <a:gd name="connsiteY40" fmla="*/ 40366 h 564664"/>
                <a:gd name="connsiteX41" fmla="*/ 222281 w 606016"/>
                <a:gd name="connsiteY41" fmla="*/ 40366 h 564664"/>
                <a:gd name="connsiteX42" fmla="*/ 222281 w 606016"/>
                <a:gd name="connsiteY42" fmla="*/ 10092 h 564664"/>
                <a:gd name="connsiteX43" fmla="*/ 232389 w 606016"/>
                <a:gd name="connsiteY43" fmla="*/ 0 h 564664"/>
                <a:gd name="connsiteX44" fmla="*/ 242406 w 606016"/>
                <a:gd name="connsiteY44" fmla="*/ 10092 h 564664"/>
                <a:gd name="connsiteX45" fmla="*/ 242406 w 606016"/>
                <a:gd name="connsiteY45" fmla="*/ 40366 h 564664"/>
                <a:gd name="connsiteX46" fmla="*/ 252514 w 606016"/>
                <a:gd name="connsiteY46" fmla="*/ 50457 h 564664"/>
                <a:gd name="connsiteX47" fmla="*/ 252514 w 606016"/>
                <a:gd name="connsiteY47" fmla="*/ 100823 h 564664"/>
                <a:gd name="connsiteX48" fmla="*/ 242406 w 606016"/>
                <a:gd name="connsiteY48" fmla="*/ 110915 h 564664"/>
                <a:gd name="connsiteX49" fmla="*/ 221379 w 606016"/>
                <a:gd name="connsiteY49" fmla="*/ 110915 h 564664"/>
                <a:gd name="connsiteX50" fmla="*/ 161634 w 606016"/>
                <a:gd name="connsiteY50" fmla="*/ 161371 h 564664"/>
                <a:gd name="connsiteX51" fmla="*/ 101078 w 606016"/>
                <a:gd name="connsiteY51" fmla="*/ 100823 h 564664"/>
                <a:gd name="connsiteX52" fmla="*/ 60647 w 606016"/>
                <a:gd name="connsiteY52" fmla="*/ 60548 h 564664"/>
                <a:gd name="connsiteX53" fmla="*/ 20216 w 606016"/>
                <a:gd name="connsiteY53" fmla="*/ 100823 h 564664"/>
                <a:gd name="connsiteX54" fmla="*/ 20216 w 606016"/>
                <a:gd name="connsiteY54" fmla="*/ 231921 h 564664"/>
                <a:gd name="connsiteX55" fmla="*/ 80862 w 606016"/>
                <a:gd name="connsiteY55" fmla="*/ 292469 h 564664"/>
                <a:gd name="connsiteX56" fmla="*/ 82126 w 606016"/>
                <a:gd name="connsiteY56" fmla="*/ 292649 h 564664"/>
                <a:gd name="connsiteX57" fmla="*/ 105229 w 606016"/>
                <a:gd name="connsiteY57" fmla="*/ 255167 h 564664"/>
                <a:gd name="connsiteX58" fmla="*/ 164883 w 606016"/>
                <a:gd name="connsiteY58" fmla="*/ 221829 h 564664"/>
                <a:gd name="connsiteX59" fmla="*/ 370559 w 606016"/>
                <a:gd name="connsiteY59" fmla="*/ 221829 h 564664"/>
                <a:gd name="connsiteX60" fmla="*/ 430213 w 606016"/>
                <a:gd name="connsiteY60" fmla="*/ 255077 h 564664"/>
                <a:gd name="connsiteX61" fmla="*/ 434545 w 606016"/>
                <a:gd name="connsiteY61" fmla="*/ 262195 h 564664"/>
                <a:gd name="connsiteX62" fmla="*/ 159920 w 606016"/>
                <a:gd name="connsiteY62" fmla="*/ 262195 h 564664"/>
                <a:gd name="connsiteX63" fmla="*/ 141419 w 606016"/>
                <a:gd name="connsiteY63" fmla="*/ 280575 h 564664"/>
                <a:gd name="connsiteX64" fmla="*/ 141419 w 606016"/>
                <a:gd name="connsiteY64" fmla="*/ 324455 h 564664"/>
                <a:gd name="connsiteX65" fmla="*/ 159920 w 606016"/>
                <a:gd name="connsiteY65" fmla="*/ 342835 h 564664"/>
                <a:gd name="connsiteX66" fmla="*/ 498801 w 606016"/>
                <a:gd name="connsiteY66" fmla="*/ 342835 h 564664"/>
                <a:gd name="connsiteX67" fmla="*/ 538962 w 606016"/>
                <a:gd name="connsiteY67" fmla="*/ 352926 h 564664"/>
                <a:gd name="connsiteX68" fmla="*/ 580566 w 606016"/>
                <a:gd name="connsiteY68" fmla="*/ 352926 h 564664"/>
                <a:gd name="connsiteX69" fmla="*/ 606016 w 606016"/>
                <a:gd name="connsiteY69" fmla="*/ 378335 h 564664"/>
                <a:gd name="connsiteX70" fmla="*/ 606016 w 606016"/>
                <a:gd name="connsiteY70" fmla="*/ 403383 h 564664"/>
                <a:gd name="connsiteX71" fmla="*/ 555567 w 606016"/>
                <a:gd name="connsiteY71" fmla="*/ 403383 h 564664"/>
                <a:gd name="connsiteX72" fmla="*/ 545460 w 606016"/>
                <a:gd name="connsiteY72" fmla="*/ 413474 h 564664"/>
                <a:gd name="connsiteX73" fmla="*/ 555567 w 606016"/>
                <a:gd name="connsiteY73" fmla="*/ 423476 h 564664"/>
                <a:gd name="connsiteX74" fmla="*/ 606016 w 606016"/>
                <a:gd name="connsiteY74" fmla="*/ 423476 h 564664"/>
                <a:gd name="connsiteX75" fmla="*/ 606016 w 606016"/>
                <a:gd name="connsiteY75" fmla="*/ 463391 h 564664"/>
                <a:gd name="connsiteX76" fmla="*/ 565224 w 606016"/>
                <a:gd name="connsiteY76" fmla="*/ 504206 h 564664"/>
                <a:gd name="connsiteX77" fmla="*/ 554755 w 606016"/>
                <a:gd name="connsiteY77" fmla="*/ 504206 h 564664"/>
                <a:gd name="connsiteX78" fmla="*/ 484813 w 606016"/>
                <a:gd name="connsiteY78" fmla="*/ 564664 h 564664"/>
                <a:gd name="connsiteX79" fmla="*/ 414961 w 606016"/>
                <a:gd name="connsiteY79" fmla="*/ 504206 h 564664"/>
                <a:gd name="connsiteX80" fmla="*/ 191145 w 606016"/>
                <a:gd name="connsiteY80" fmla="*/ 504206 h 564664"/>
                <a:gd name="connsiteX81" fmla="*/ 121293 w 606016"/>
                <a:gd name="connsiteY81" fmla="*/ 564664 h 564664"/>
                <a:gd name="connsiteX82" fmla="*/ 51351 w 606016"/>
                <a:gd name="connsiteY82" fmla="*/ 504206 h 564664"/>
                <a:gd name="connsiteX83" fmla="*/ 35377 w 606016"/>
                <a:gd name="connsiteY83" fmla="*/ 504206 h 564664"/>
                <a:gd name="connsiteX84" fmla="*/ 90 w 606016"/>
                <a:gd name="connsiteY84" fmla="*/ 468977 h 564664"/>
                <a:gd name="connsiteX85" fmla="*/ 0 w 606016"/>
                <a:gd name="connsiteY85" fmla="*/ 423476 h 564664"/>
                <a:gd name="connsiteX86" fmla="*/ 50539 w 606016"/>
                <a:gd name="connsiteY86" fmla="*/ 423476 h 564664"/>
                <a:gd name="connsiteX87" fmla="*/ 60647 w 606016"/>
                <a:gd name="connsiteY87" fmla="*/ 413474 h 564664"/>
                <a:gd name="connsiteX88" fmla="*/ 50539 w 606016"/>
                <a:gd name="connsiteY88" fmla="*/ 403383 h 564664"/>
                <a:gd name="connsiteX89" fmla="*/ 0 w 606016"/>
                <a:gd name="connsiteY89" fmla="*/ 403383 h 564664"/>
                <a:gd name="connsiteX90" fmla="*/ 0 w 606016"/>
                <a:gd name="connsiteY90" fmla="*/ 378335 h 564664"/>
                <a:gd name="connsiteX91" fmla="*/ 7400 w 606016"/>
                <a:gd name="connsiteY91" fmla="*/ 360405 h 564664"/>
                <a:gd name="connsiteX92" fmla="*/ 25540 w 606016"/>
                <a:gd name="connsiteY92" fmla="*/ 352926 h 564664"/>
                <a:gd name="connsiteX93" fmla="*/ 54961 w 606016"/>
                <a:gd name="connsiteY93" fmla="*/ 336798 h 564664"/>
                <a:gd name="connsiteX94" fmla="*/ 70303 w 606016"/>
                <a:gd name="connsiteY94" fmla="*/ 311840 h 564664"/>
                <a:gd name="connsiteX95" fmla="*/ 90 w 606016"/>
                <a:gd name="connsiteY95" fmla="*/ 231921 h 564664"/>
                <a:gd name="connsiteX96" fmla="*/ 90 w 606016"/>
                <a:gd name="connsiteY96" fmla="*/ 100823 h 564664"/>
                <a:gd name="connsiteX97" fmla="*/ 60647 w 606016"/>
                <a:gd name="connsiteY97" fmla="*/ 40366 h 564664"/>
                <a:gd name="connsiteX98" fmla="*/ 121293 w 606016"/>
                <a:gd name="connsiteY98" fmla="*/ 100823 h 564664"/>
                <a:gd name="connsiteX99" fmla="*/ 161634 w 606016"/>
                <a:gd name="connsiteY99" fmla="*/ 141189 h 564664"/>
                <a:gd name="connsiteX100" fmla="*/ 200622 w 606016"/>
                <a:gd name="connsiteY100" fmla="*/ 110915 h 564664"/>
                <a:gd name="connsiteX101" fmla="*/ 181850 w 606016"/>
                <a:gd name="connsiteY101" fmla="*/ 110915 h 564664"/>
                <a:gd name="connsiteX102" fmla="*/ 171742 w 606016"/>
                <a:gd name="connsiteY102" fmla="*/ 100823 h 564664"/>
                <a:gd name="connsiteX103" fmla="*/ 171742 w 606016"/>
                <a:gd name="connsiteY103" fmla="*/ 50457 h 564664"/>
                <a:gd name="connsiteX104" fmla="*/ 181850 w 606016"/>
                <a:gd name="connsiteY104" fmla="*/ 40366 h 564664"/>
                <a:gd name="connsiteX105" fmla="*/ 181850 w 606016"/>
                <a:gd name="connsiteY105" fmla="*/ 10092 h 564664"/>
                <a:gd name="connsiteX106" fmla="*/ 191958 w 606016"/>
                <a:gd name="connsiteY106" fmla="*/ 0 h 56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606016" h="564664">
                  <a:moveTo>
                    <a:pt x="484855" y="473988"/>
                  </a:moveTo>
                  <a:cubicBezTo>
                    <a:pt x="496001" y="473988"/>
                    <a:pt x="505037" y="483024"/>
                    <a:pt x="505037" y="494170"/>
                  </a:cubicBezTo>
                  <a:cubicBezTo>
                    <a:pt x="505037" y="505316"/>
                    <a:pt x="496001" y="514352"/>
                    <a:pt x="484855" y="514352"/>
                  </a:cubicBezTo>
                  <a:cubicBezTo>
                    <a:pt x="473709" y="514352"/>
                    <a:pt x="464673" y="505316"/>
                    <a:pt x="464673" y="494170"/>
                  </a:cubicBezTo>
                  <a:cubicBezTo>
                    <a:pt x="464673" y="483024"/>
                    <a:pt x="473709" y="473988"/>
                    <a:pt x="484855" y="473988"/>
                  </a:cubicBezTo>
                  <a:close/>
                  <a:moveTo>
                    <a:pt x="121232" y="473988"/>
                  </a:moveTo>
                  <a:cubicBezTo>
                    <a:pt x="132378" y="473988"/>
                    <a:pt x="141414" y="483024"/>
                    <a:pt x="141414" y="494170"/>
                  </a:cubicBezTo>
                  <a:cubicBezTo>
                    <a:pt x="141414" y="505316"/>
                    <a:pt x="132378" y="514352"/>
                    <a:pt x="121232" y="514352"/>
                  </a:cubicBezTo>
                  <a:cubicBezTo>
                    <a:pt x="110086" y="514352"/>
                    <a:pt x="101050" y="505316"/>
                    <a:pt x="101050" y="494170"/>
                  </a:cubicBezTo>
                  <a:cubicBezTo>
                    <a:pt x="101050" y="483024"/>
                    <a:pt x="110086" y="473988"/>
                    <a:pt x="121232" y="473988"/>
                  </a:cubicBezTo>
                  <a:close/>
                  <a:moveTo>
                    <a:pt x="484813" y="443658"/>
                  </a:moveTo>
                  <a:cubicBezTo>
                    <a:pt x="457016" y="443658"/>
                    <a:pt x="434364" y="466274"/>
                    <a:pt x="434364" y="494115"/>
                  </a:cubicBezTo>
                  <a:cubicBezTo>
                    <a:pt x="434364" y="521866"/>
                    <a:pt x="457016" y="544482"/>
                    <a:pt x="484813" y="544482"/>
                  </a:cubicBezTo>
                  <a:cubicBezTo>
                    <a:pt x="512699" y="544482"/>
                    <a:pt x="535352" y="521866"/>
                    <a:pt x="535352" y="494115"/>
                  </a:cubicBezTo>
                  <a:cubicBezTo>
                    <a:pt x="535352" y="466274"/>
                    <a:pt x="512699" y="443658"/>
                    <a:pt x="484813" y="443658"/>
                  </a:cubicBezTo>
                  <a:close/>
                  <a:moveTo>
                    <a:pt x="121293" y="443658"/>
                  </a:moveTo>
                  <a:cubicBezTo>
                    <a:pt x="93407" y="443658"/>
                    <a:pt x="70755" y="466274"/>
                    <a:pt x="70755" y="494115"/>
                  </a:cubicBezTo>
                  <a:cubicBezTo>
                    <a:pt x="70755" y="521866"/>
                    <a:pt x="93407" y="544482"/>
                    <a:pt x="121293" y="544482"/>
                  </a:cubicBezTo>
                  <a:cubicBezTo>
                    <a:pt x="149090" y="544482"/>
                    <a:pt x="171742" y="521866"/>
                    <a:pt x="171742" y="494115"/>
                  </a:cubicBezTo>
                  <a:cubicBezTo>
                    <a:pt x="171742" y="466274"/>
                    <a:pt x="149090" y="443658"/>
                    <a:pt x="121293" y="443658"/>
                  </a:cubicBezTo>
                  <a:close/>
                  <a:moveTo>
                    <a:pt x="303053" y="373109"/>
                  </a:moveTo>
                  <a:cubicBezTo>
                    <a:pt x="297458" y="373109"/>
                    <a:pt x="292945" y="377614"/>
                    <a:pt x="292945" y="383200"/>
                  </a:cubicBezTo>
                  <a:cubicBezTo>
                    <a:pt x="292945" y="388787"/>
                    <a:pt x="297458" y="393292"/>
                    <a:pt x="303053" y="393292"/>
                  </a:cubicBezTo>
                  <a:lnTo>
                    <a:pt x="343484" y="393292"/>
                  </a:lnTo>
                  <a:lnTo>
                    <a:pt x="343484" y="403383"/>
                  </a:lnTo>
                  <a:cubicBezTo>
                    <a:pt x="343484" y="408879"/>
                    <a:pt x="347997" y="413474"/>
                    <a:pt x="353592" y="413474"/>
                  </a:cubicBezTo>
                  <a:cubicBezTo>
                    <a:pt x="359097" y="413474"/>
                    <a:pt x="363610" y="408969"/>
                    <a:pt x="363610" y="403383"/>
                  </a:cubicBezTo>
                  <a:lnTo>
                    <a:pt x="363610" y="383200"/>
                  </a:lnTo>
                  <a:cubicBezTo>
                    <a:pt x="363610" y="377614"/>
                    <a:pt x="359097" y="373109"/>
                    <a:pt x="353592" y="373109"/>
                  </a:cubicBezTo>
                  <a:close/>
                  <a:moveTo>
                    <a:pt x="313169" y="282403"/>
                  </a:moveTo>
                  <a:lnTo>
                    <a:pt x="447018" y="282403"/>
                  </a:lnTo>
                  <a:lnTo>
                    <a:pt x="465069" y="311699"/>
                  </a:lnTo>
                  <a:cubicBezTo>
                    <a:pt x="467506" y="315665"/>
                    <a:pt x="470304" y="319271"/>
                    <a:pt x="473282" y="322696"/>
                  </a:cubicBezTo>
                  <a:lnTo>
                    <a:pt x="313169" y="322696"/>
                  </a:lnTo>
                  <a:close/>
                  <a:moveTo>
                    <a:pt x="161665" y="282403"/>
                  </a:moveTo>
                  <a:lnTo>
                    <a:pt x="292917" y="282403"/>
                  </a:lnTo>
                  <a:lnTo>
                    <a:pt x="292917" y="322696"/>
                  </a:lnTo>
                  <a:lnTo>
                    <a:pt x="161665" y="322696"/>
                  </a:lnTo>
                  <a:close/>
                  <a:moveTo>
                    <a:pt x="191958" y="0"/>
                  </a:moveTo>
                  <a:cubicBezTo>
                    <a:pt x="197553" y="0"/>
                    <a:pt x="202066" y="4505"/>
                    <a:pt x="202066" y="10092"/>
                  </a:cubicBezTo>
                  <a:lnTo>
                    <a:pt x="202066" y="40366"/>
                  </a:lnTo>
                  <a:lnTo>
                    <a:pt x="222281" y="40366"/>
                  </a:lnTo>
                  <a:lnTo>
                    <a:pt x="222281" y="10092"/>
                  </a:lnTo>
                  <a:cubicBezTo>
                    <a:pt x="222281" y="4505"/>
                    <a:pt x="226793" y="0"/>
                    <a:pt x="232389" y="0"/>
                  </a:cubicBezTo>
                  <a:cubicBezTo>
                    <a:pt x="237894" y="0"/>
                    <a:pt x="242406" y="4505"/>
                    <a:pt x="242406" y="10092"/>
                  </a:cubicBezTo>
                  <a:lnTo>
                    <a:pt x="242406" y="40366"/>
                  </a:lnTo>
                  <a:cubicBezTo>
                    <a:pt x="248002" y="40366"/>
                    <a:pt x="252514" y="44871"/>
                    <a:pt x="252514" y="50457"/>
                  </a:cubicBezTo>
                  <a:lnTo>
                    <a:pt x="252514" y="100823"/>
                  </a:lnTo>
                  <a:cubicBezTo>
                    <a:pt x="252514" y="106410"/>
                    <a:pt x="248002" y="110915"/>
                    <a:pt x="242406" y="110915"/>
                  </a:cubicBezTo>
                  <a:lnTo>
                    <a:pt x="221379" y="110915"/>
                  </a:lnTo>
                  <a:cubicBezTo>
                    <a:pt x="216505" y="139477"/>
                    <a:pt x="191597" y="161371"/>
                    <a:pt x="161634" y="161371"/>
                  </a:cubicBezTo>
                  <a:cubicBezTo>
                    <a:pt x="128243" y="161371"/>
                    <a:pt x="101078" y="134251"/>
                    <a:pt x="101078" y="100823"/>
                  </a:cubicBezTo>
                  <a:cubicBezTo>
                    <a:pt x="101078" y="78568"/>
                    <a:pt x="82938" y="60548"/>
                    <a:pt x="60647" y="60548"/>
                  </a:cubicBezTo>
                  <a:cubicBezTo>
                    <a:pt x="38355" y="60548"/>
                    <a:pt x="20216" y="78568"/>
                    <a:pt x="20216" y="100823"/>
                  </a:cubicBezTo>
                  <a:lnTo>
                    <a:pt x="20216" y="231921"/>
                  </a:lnTo>
                  <a:cubicBezTo>
                    <a:pt x="20216" y="265258"/>
                    <a:pt x="47470" y="292469"/>
                    <a:pt x="80862" y="292469"/>
                  </a:cubicBezTo>
                  <a:cubicBezTo>
                    <a:pt x="81314" y="292469"/>
                    <a:pt x="81675" y="292649"/>
                    <a:pt x="82126" y="292649"/>
                  </a:cubicBezTo>
                  <a:lnTo>
                    <a:pt x="105229" y="255167"/>
                  </a:lnTo>
                  <a:cubicBezTo>
                    <a:pt x="117864" y="234624"/>
                    <a:pt x="140697" y="221829"/>
                    <a:pt x="164883" y="221829"/>
                  </a:cubicBezTo>
                  <a:lnTo>
                    <a:pt x="370559" y="221829"/>
                  </a:lnTo>
                  <a:cubicBezTo>
                    <a:pt x="394655" y="221829"/>
                    <a:pt x="417578" y="234624"/>
                    <a:pt x="430213" y="255077"/>
                  </a:cubicBezTo>
                  <a:lnTo>
                    <a:pt x="434545" y="262195"/>
                  </a:lnTo>
                  <a:lnTo>
                    <a:pt x="159920" y="262195"/>
                  </a:lnTo>
                  <a:cubicBezTo>
                    <a:pt x="149722" y="262195"/>
                    <a:pt x="141419" y="270484"/>
                    <a:pt x="141419" y="280575"/>
                  </a:cubicBezTo>
                  <a:lnTo>
                    <a:pt x="141419" y="324455"/>
                  </a:lnTo>
                  <a:cubicBezTo>
                    <a:pt x="141419" y="334546"/>
                    <a:pt x="149722" y="342835"/>
                    <a:pt x="159920" y="342835"/>
                  </a:cubicBezTo>
                  <a:lnTo>
                    <a:pt x="498801" y="342835"/>
                  </a:lnTo>
                  <a:cubicBezTo>
                    <a:pt x="511075" y="349322"/>
                    <a:pt x="524793" y="352926"/>
                    <a:pt x="538962" y="352926"/>
                  </a:cubicBezTo>
                  <a:lnTo>
                    <a:pt x="580566" y="352926"/>
                  </a:lnTo>
                  <a:cubicBezTo>
                    <a:pt x="594645" y="352926"/>
                    <a:pt x="606016" y="364369"/>
                    <a:pt x="606016" y="378335"/>
                  </a:cubicBezTo>
                  <a:lnTo>
                    <a:pt x="606016" y="403383"/>
                  </a:lnTo>
                  <a:lnTo>
                    <a:pt x="555567" y="403383"/>
                  </a:lnTo>
                  <a:cubicBezTo>
                    <a:pt x="549972" y="403383"/>
                    <a:pt x="545460" y="407888"/>
                    <a:pt x="545460" y="413474"/>
                  </a:cubicBezTo>
                  <a:cubicBezTo>
                    <a:pt x="545460" y="418971"/>
                    <a:pt x="549972" y="423476"/>
                    <a:pt x="555567" y="423476"/>
                  </a:cubicBezTo>
                  <a:lnTo>
                    <a:pt x="606016" y="423476"/>
                  </a:lnTo>
                  <a:lnTo>
                    <a:pt x="606016" y="463391"/>
                  </a:lnTo>
                  <a:cubicBezTo>
                    <a:pt x="606016" y="485916"/>
                    <a:pt x="587696" y="504206"/>
                    <a:pt x="565224" y="504206"/>
                  </a:cubicBezTo>
                  <a:lnTo>
                    <a:pt x="554755" y="504206"/>
                  </a:lnTo>
                  <a:cubicBezTo>
                    <a:pt x="549791" y="538355"/>
                    <a:pt x="520371" y="564664"/>
                    <a:pt x="484813" y="564664"/>
                  </a:cubicBezTo>
                  <a:cubicBezTo>
                    <a:pt x="449345" y="564664"/>
                    <a:pt x="419924" y="538355"/>
                    <a:pt x="414961" y="504206"/>
                  </a:cubicBezTo>
                  <a:lnTo>
                    <a:pt x="191145" y="504206"/>
                  </a:lnTo>
                  <a:cubicBezTo>
                    <a:pt x="186182" y="538355"/>
                    <a:pt x="156761" y="564664"/>
                    <a:pt x="121293" y="564664"/>
                  </a:cubicBezTo>
                  <a:cubicBezTo>
                    <a:pt x="85736" y="564664"/>
                    <a:pt x="56315" y="538355"/>
                    <a:pt x="51351" y="504206"/>
                  </a:cubicBezTo>
                  <a:lnTo>
                    <a:pt x="35377" y="504206"/>
                  </a:lnTo>
                  <a:cubicBezTo>
                    <a:pt x="15884" y="504206"/>
                    <a:pt x="90" y="488349"/>
                    <a:pt x="90" y="468977"/>
                  </a:cubicBezTo>
                  <a:lnTo>
                    <a:pt x="0" y="423476"/>
                  </a:lnTo>
                  <a:lnTo>
                    <a:pt x="50539" y="423476"/>
                  </a:lnTo>
                  <a:cubicBezTo>
                    <a:pt x="56134" y="423476"/>
                    <a:pt x="60647" y="418971"/>
                    <a:pt x="60647" y="413474"/>
                  </a:cubicBezTo>
                  <a:cubicBezTo>
                    <a:pt x="60647" y="407888"/>
                    <a:pt x="56134" y="403383"/>
                    <a:pt x="50539" y="403383"/>
                  </a:cubicBezTo>
                  <a:lnTo>
                    <a:pt x="0" y="403383"/>
                  </a:lnTo>
                  <a:lnTo>
                    <a:pt x="0" y="378335"/>
                  </a:lnTo>
                  <a:cubicBezTo>
                    <a:pt x="0" y="371577"/>
                    <a:pt x="2617" y="365180"/>
                    <a:pt x="7400" y="360405"/>
                  </a:cubicBezTo>
                  <a:cubicBezTo>
                    <a:pt x="12274" y="355630"/>
                    <a:pt x="18681" y="352926"/>
                    <a:pt x="25540" y="352926"/>
                  </a:cubicBezTo>
                  <a:cubicBezTo>
                    <a:pt x="37814" y="352926"/>
                    <a:pt x="48824" y="346710"/>
                    <a:pt x="54961" y="336798"/>
                  </a:cubicBezTo>
                  <a:lnTo>
                    <a:pt x="70303" y="311840"/>
                  </a:lnTo>
                  <a:cubicBezTo>
                    <a:pt x="30775" y="306614"/>
                    <a:pt x="90" y="272827"/>
                    <a:pt x="90" y="231921"/>
                  </a:cubicBezTo>
                  <a:lnTo>
                    <a:pt x="90" y="100823"/>
                  </a:lnTo>
                  <a:cubicBezTo>
                    <a:pt x="90" y="67486"/>
                    <a:pt x="27255" y="40366"/>
                    <a:pt x="60647" y="40366"/>
                  </a:cubicBezTo>
                  <a:cubicBezTo>
                    <a:pt x="94039" y="40366"/>
                    <a:pt x="121293" y="67486"/>
                    <a:pt x="121293" y="100823"/>
                  </a:cubicBezTo>
                  <a:cubicBezTo>
                    <a:pt x="121293" y="123078"/>
                    <a:pt x="139343" y="141189"/>
                    <a:pt x="161634" y="141189"/>
                  </a:cubicBezTo>
                  <a:cubicBezTo>
                    <a:pt x="180406" y="141189"/>
                    <a:pt x="196109" y="128304"/>
                    <a:pt x="200622" y="110915"/>
                  </a:cubicBezTo>
                  <a:lnTo>
                    <a:pt x="181850" y="110915"/>
                  </a:lnTo>
                  <a:cubicBezTo>
                    <a:pt x="176255" y="110915"/>
                    <a:pt x="171742" y="106410"/>
                    <a:pt x="171742" y="100823"/>
                  </a:cubicBezTo>
                  <a:lnTo>
                    <a:pt x="171742" y="50457"/>
                  </a:lnTo>
                  <a:cubicBezTo>
                    <a:pt x="171742" y="44871"/>
                    <a:pt x="176255" y="40366"/>
                    <a:pt x="181850" y="40366"/>
                  </a:cubicBezTo>
                  <a:lnTo>
                    <a:pt x="181850" y="10092"/>
                  </a:lnTo>
                  <a:cubicBezTo>
                    <a:pt x="181850" y="4505"/>
                    <a:pt x="186362" y="0"/>
                    <a:pt x="191958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9" name="iś1îḓê"/>
            <p:cNvSpPr/>
            <p:nvPr/>
          </p:nvSpPr>
          <p:spPr bwMode="auto">
            <a:xfrm>
              <a:off x="5924135" y="1186438"/>
              <a:ext cx="333138" cy="299788"/>
            </a:xfrm>
            <a:custGeom>
              <a:avLst/>
              <a:gdLst>
                <a:gd name="connsiteX0" fmla="*/ 225929 w 608344"/>
                <a:gd name="connsiteY0" fmla="*/ 296304 h 547447"/>
                <a:gd name="connsiteX1" fmla="*/ 225929 w 608344"/>
                <a:gd name="connsiteY1" fmla="*/ 341046 h 547447"/>
                <a:gd name="connsiteX2" fmla="*/ 44891 w 608344"/>
                <a:gd name="connsiteY2" fmla="*/ 420403 h 547447"/>
                <a:gd name="connsiteX3" fmla="*/ 287412 w 608344"/>
                <a:gd name="connsiteY3" fmla="*/ 502613 h 547447"/>
                <a:gd name="connsiteX4" fmla="*/ 530026 w 608344"/>
                <a:gd name="connsiteY4" fmla="*/ 420403 h 547447"/>
                <a:gd name="connsiteX5" fmla="*/ 351292 w 608344"/>
                <a:gd name="connsiteY5" fmla="*/ 341322 h 547447"/>
                <a:gd name="connsiteX6" fmla="*/ 351292 w 608344"/>
                <a:gd name="connsiteY6" fmla="*/ 296488 h 547447"/>
                <a:gd name="connsiteX7" fmla="*/ 574825 w 608344"/>
                <a:gd name="connsiteY7" fmla="*/ 420403 h 547447"/>
                <a:gd name="connsiteX8" fmla="*/ 287412 w 608344"/>
                <a:gd name="connsiteY8" fmla="*/ 547447 h 547447"/>
                <a:gd name="connsiteX9" fmla="*/ 0 w 608344"/>
                <a:gd name="connsiteY9" fmla="*/ 420403 h 547447"/>
                <a:gd name="connsiteX10" fmla="*/ 225929 w 608344"/>
                <a:gd name="connsiteY10" fmla="*/ 296304 h 547447"/>
                <a:gd name="connsiteX11" fmla="*/ 288618 w 608344"/>
                <a:gd name="connsiteY11" fmla="*/ 0 h 547447"/>
                <a:gd name="connsiteX12" fmla="*/ 311206 w 608344"/>
                <a:gd name="connsiteY12" fmla="*/ 22551 h 547447"/>
                <a:gd name="connsiteX13" fmla="*/ 311206 w 608344"/>
                <a:gd name="connsiteY13" fmla="*/ 36174 h 547447"/>
                <a:gd name="connsiteX14" fmla="*/ 370947 w 608344"/>
                <a:gd name="connsiteY14" fmla="*/ 21079 h 547447"/>
                <a:gd name="connsiteX15" fmla="*/ 428291 w 608344"/>
                <a:gd name="connsiteY15" fmla="*/ 34978 h 547447"/>
                <a:gd name="connsiteX16" fmla="*/ 486004 w 608344"/>
                <a:gd name="connsiteY16" fmla="*/ 48969 h 547447"/>
                <a:gd name="connsiteX17" fmla="*/ 540766 w 608344"/>
                <a:gd name="connsiteY17" fmla="*/ 36450 h 547447"/>
                <a:gd name="connsiteX18" fmla="*/ 578012 w 608344"/>
                <a:gd name="connsiteY18" fmla="*/ 18409 h 547447"/>
                <a:gd name="connsiteX19" fmla="*/ 587232 w 608344"/>
                <a:gd name="connsiteY19" fmla="*/ 16292 h 547447"/>
                <a:gd name="connsiteX20" fmla="*/ 598479 w 608344"/>
                <a:gd name="connsiteY20" fmla="*/ 19514 h 547447"/>
                <a:gd name="connsiteX21" fmla="*/ 608344 w 608344"/>
                <a:gd name="connsiteY21" fmla="*/ 37371 h 547447"/>
                <a:gd name="connsiteX22" fmla="*/ 608344 w 608344"/>
                <a:gd name="connsiteY22" fmla="*/ 174520 h 547447"/>
                <a:gd name="connsiteX23" fmla="*/ 596451 w 608344"/>
                <a:gd name="connsiteY23" fmla="*/ 193481 h 547447"/>
                <a:gd name="connsiteX24" fmla="*/ 540766 w 608344"/>
                <a:gd name="connsiteY24" fmla="*/ 220451 h 547447"/>
                <a:gd name="connsiteX25" fmla="*/ 486004 w 608344"/>
                <a:gd name="connsiteY25" fmla="*/ 232969 h 547447"/>
                <a:gd name="connsiteX26" fmla="*/ 428291 w 608344"/>
                <a:gd name="connsiteY26" fmla="*/ 218978 h 547447"/>
                <a:gd name="connsiteX27" fmla="*/ 370947 w 608344"/>
                <a:gd name="connsiteY27" fmla="*/ 205079 h 547447"/>
                <a:gd name="connsiteX28" fmla="*/ 311206 w 608344"/>
                <a:gd name="connsiteY28" fmla="*/ 220175 h 547447"/>
                <a:gd name="connsiteX29" fmla="*/ 311206 w 608344"/>
                <a:gd name="connsiteY29" fmla="*/ 426267 h 547447"/>
                <a:gd name="connsiteX30" fmla="*/ 288618 w 608344"/>
                <a:gd name="connsiteY30" fmla="*/ 448726 h 547447"/>
                <a:gd name="connsiteX31" fmla="*/ 266031 w 608344"/>
                <a:gd name="connsiteY31" fmla="*/ 426267 h 547447"/>
                <a:gd name="connsiteX32" fmla="*/ 266031 w 608344"/>
                <a:gd name="connsiteY32" fmla="*/ 22551 h 547447"/>
                <a:gd name="connsiteX33" fmla="*/ 288618 w 608344"/>
                <a:gd name="connsiteY33" fmla="*/ 0 h 54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8344" h="547447">
                  <a:moveTo>
                    <a:pt x="225929" y="296304"/>
                  </a:moveTo>
                  <a:lnTo>
                    <a:pt x="225929" y="341046"/>
                  </a:lnTo>
                  <a:cubicBezTo>
                    <a:pt x="112458" y="351817"/>
                    <a:pt x="44891" y="391035"/>
                    <a:pt x="44891" y="420403"/>
                  </a:cubicBezTo>
                  <a:cubicBezTo>
                    <a:pt x="44891" y="454741"/>
                    <a:pt x="137162" y="502613"/>
                    <a:pt x="287412" y="502613"/>
                  </a:cubicBezTo>
                  <a:cubicBezTo>
                    <a:pt x="437663" y="502613"/>
                    <a:pt x="530026" y="454741"/>
                    <a:pt x="530026" y="420403"/>
                  </a:cubicBezTo>
                  <a:cubicBezTo>
                    <a:pt x="530026" y="391219"/>
                    <a:pt x="463289" y="352369"/>
                    <a:pt x="351292" y="341322"/>
                  </a:cubicBezTo>
                  <a:lnTo>
                    <a:pt x="351292" y="296488"/>
                  </a:lnTo>
                  <a:cubicBezTo>
                    <a:pt x="468543" y="307904"/>
                    <a:pt x="574825" y="350436"/>
                    <a:pt x="574825" y="420403"/>
                  </a:cubicBezTo>
                  <a:cubicBezTo>
                    <a:pt x="574825" y="502889"/>
                    <a:pt x="426786" y="547447"/>
                    <a:pt x="287412" y="547447"/>
                  </a:cubicBezTo>
                  <a:cubicBezTo>
                    <a:pt x="148131" y="547447"/>
                    <a:pt x="0" y="502889"/>
                    <a:pt x="0" y="420403"/>
                  </a:cubicBezTo>
                  <a:cubicBezTo>
                    <a:pt x="0" y="349976"/>
                    <a:pt x="107757" y="307351"/>
                    <a:pt x="225929" y="296304"/>
                  </a:cubicBezTo>
                  <a:close/>
                  <a:moveTo>
                    <a:pt x="288618" y="0"/>
                  </a:moveTo>
                  <a:cubicBezTo>
                    <a:pt x="301064" y="0"/>
                    <a:pt x="311206" y="10033"/>
                    <a:pt x="311206" y="22551"/>
                  </a:cubicBezTo>
                  <a:lnTo>
                    <a:pt x="311206" y="36174"/>
                  </a:lnTo>
                  <a:cubicBezTo>
                    <a:pt x="329829" y="26141"/>
                    <a:pt x="350388" y="21079"/>
                    <a:pt x="370947" y="21079"/>
                  </a:cubicBezTo>
                  <a:cubicBezTo>
                    <a:pt x="390584" y="21079"/>
                    <a:pt x="410313" y="25681"/>
                    <a:pt x="428291" y="34978"/>
                  </a:cubicBezTo>
                  <a:cubicBezTo>
                    <a:pt x="446361" y="44366"/>
                    <a:pt x="466182" y="48969"/>
                    <a:pt x="486004" y="48969"/>
                  </a:cubicBezTo>
                  <a:cubicBezTo>
                    <a:pt x="504719" y="48969"/>
                    <a:pt x="523526" y="44827"/>
                    <a:pt x="540766" y="36450"/>
                  </a:cubicBezTo>
                  <a:lnTo>
                    <a:pt x="578012" y="18409"/>
                  </a:lnTo>
                  <a:cubicBezTo>
                    <a:pt x="580963" y="17029"/>
                    <a:pt x="584097" y="16292"/>
                    <a:pt x="587232" y="16292"/>
                  </a:cubicBezTo>
                  <a:cubicBezTo>
                    <a:pt x="591104" y="16292"/>
                    <a:pt x="594976" y="17397"/>
                    <a:pt x="598479" y="19514"/>
                  </a:cubicBezTo>
                  <a:cubicBezTo>
                    <a:pt x="604564" y="23380"/>
                    <a:pt x="608344" y="30099"/>
                    <a:pt x="608344" y="37371"/>
                  </a:cubicBezTo>
                  <a:lnTo>
                    <a:pt x="608344" y="174520"/>
                  </a:lnTo>
                  <a:cubicBezTo>
                    <a:pt x="608344" y="182620"/>
                    <a:pt x="603734" y="189984"/>
                    <a:pt x="596451" y="193481"/>
                  </a:cubicBezTo>
                  <a:lnTo>
                    <a:pt x="540766" y="220451"/>
                  </a:lnTo>
                  <a:cubicBezTo>
                    <a:pt x="523434" y="228827"/>
                    <a:pt x="504719" y="232969"/>
                    <a:pt x="486004" y="232969"/>
                  </a:cubicBezTo>
                  <a:cubicBezTo>
                    <a:pt x="466182" y="232969"/>
                    <a:pt x="446361" y="228367"/>
                    <a:pt x="428291" y="218978"/>
                  </a:cubicBezTo>
                  <a:cubicBezTo>
                    <a:pt x="410313" y="209774"/>
                    <a:pt x="390584" y="205079"/>
                    <a:pt x="370947" y="205079"/>
                  </a:cubicBezTo>
                  <a:cubicBezTo>
                    <a:pt x="350388" y="205079"/>
                    <a:pt x="329829" y="210142"/>
                    <a:pt x="311206" y="220175"/>
                  </a:cubicBezTo>
                  <a:lnTo>
                    <a:pt x="311206" y="426267"/>
                  </a:lnTo>
                  <a:cubicBezTo>
                    <a:pt x="311206" y="438693"/>
                    <a:pt x="301064" y="448726"/>
                    <a:pt x="288618" y="448726"/>
                  </a:cubicBezTo>
                  <a:cubicBezTo>
                    <a:pt x="276172" y="448726"/>
                    <a:pt x="266031" y="438693"/>
                    <a:pt x="266031" y="426267"/>
                  </a:cubicBezTo>
                  <a:lnTo>
                    <a:pt x="266031" y="22551"/>
                  </a:lnTo>
                  <a:cubicBezTo>
                    <a:pt x="266031" y="10033"/>
                    <a:pt x="276172" y="0"/>
                    <a:pt x="288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0" name="išľíḓé"/>
            <p:cNvSpPr/>
            <p:nvPr/>
          </p:nvSpPr>
          <p:spPr bwMode="auto">
            <a:xfrm>
              <a:off x="9594763" y="1183282"/>
              <a:ext cx="333138" cy="306100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  <a:gd name="connsiteX91" fmla="*/ 373273 h 605239"/>
                <a:gd name="connsiteY91" fmla="*/ 373273 h 605239"/>
                <a:gd name="connsiteX92" fmla="*/ 373273 h 605239"/>
                <a:gd name="connsiteY92" fmla="*/ 373273 h 605239"/>
                <a:gd name="connsiteX93" fmla="*/ 373273 h 605239"/>
                <a:gd name="connsiteY93" fmla="*/ 373273 h 605239"/>
                <a:gd name="connsiteX94" fmla="*/ 373273 h 605239"/>
                <a:gd name="connsiteY94" fmla="*/ 373273 h 605239"/>
                <a:gd name="connsiteX95" fmla="*/ 373273 h 605239"/>
                <a:gd name="connsiteY95" fmla="*/ 373273 h 605239"/>
                <a:gd name="connsiteX96" fmla="*/ 373273 h 605239"/>
                <a:gd name="connsiteY96" fmla="*/ 373273 h 605239"/>
                <a:gd name="connsiteX97" fmla="*/ 373273 h 605239"/>
                <a:gd name="connsiteY97" fmla="*/ 373273 h 605239"/>
                <a:gd name="connsiteX98" fmla="*/ 373273 h 605239"/>
                <a:gd name="connsiteY98" fmla="*/ 373273 h 605239"/>
                <a:gd name="connsiteX99" fmla="*/ 373273 h 605239"/>
                <a:gd name="connsiteY99" fmla="*/ 373273 h 605239"/>
                <a:gd name="connsiteX100" fmla="*/ 373273 h 605239"/>
                <a:gd name="connsiteY100" fmla="*/ 373273 h 605239"/>
                <a:gd name="connsiteX101" fmla="*/ 373273 h 605239"/>
                <a:gd name="connsiteY101" fmla="*/ 373273 h 605239"/>
                <a:gd name="connsiteX102" fmla="*/ 373273 h 605239"/>
                <a:gd name="connsiteY102" fmla="*/ 373273 h 605239"/>
                <a:gd name="connsiteX103" fmla="*/ 373273 h 605239"/>
                <a:gd name="connsiteY103" fmla="*/ 373273 h 605239"/>
                <a:gd name="connsiteX104" fmla="*/ 373273 h 605239"/>
                <a:gd name="connsiteY104" fmla="*/ 373273 h 605239"/>
                <a:gd name="connsiteX105" fmla="*/ 373273 h 605239"/>
                <a:gd name="connsiteY105" fmla="*/ 373273 h 605239"/>
                <a:gd name="connsiteX106" fmla="*/ 373273 h 605239"/>
                <a:gd name="connsiteY106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608909" h="559493">
                  <a:moveTo>
                    <a:pt x="470180" y="272856"/>
                  </a:moveTo>
                  <a:lnTo>
                    <a:pt x="476019" y="272856"/>
                  </a:lnTo>
                  <a:lnTo>
                    <a:pt x="481953" y="272856"/>
                  </a:lnTo>
                  <a:cubicBezTo>
                    <a:pt x="509171" y="272856"/>
                    <a:pt x="531210" y="294963"/>
                    <a:pt x="531210" y="322056"/>
                  </a:cubicBezTo>
                  <a:lnTo>
                    <a:pt x="531210" y="376617"/>
                  </a:lnTo>
                  <a:cubicBezTo>
                    <a:pt x="531210" y="385084"/>
                    <a:pt x="526783" y="392609"/>
                    <a:pt x="520096" y="397031"/>
                  </a:cubicBezTo>
                  <a:lnTo>
                    <a:pt x="520096" y="449711"/>
                  </a:lnTo>
                  <a:cubicBezTo>
                    <a:pt x="520096" y="450558"/>
                    <a:pt x="520661" y="451498"/>
                    <a:pt x="521509" y="451875"/>
                  </a:cubicBezTo>
                  <a:cubicBezTo>
                    <a:pt x="528949" y="455450"/>
                    <a:pt x="565492" y="473888"/>
                    <a:pt x="599209" y="501639"/>
                  </a:cubicBezTo>
                  <a:cubicBezTo>
                    <a:pt x="605425" y="506625"/>
                    <a:pt x="608909" y="514150"/>
                    <a:pt x="608909" y="522052"/>
                  </a:cubicBezTo>
                  <a:lnTo>
                    <a:pt x="608909" y="559493"/>
                  </a:lnTo>
                  <a:lnTo>
                    <a:pt x="483083" y="559493"/>
                  </a:lnTo>
                  <a:lnTo>
                    <a:pt x="483083" y="515561"/>
                  </a:lnTo>
                  <a:cubicBezTo>
                    <a:pt x="483083" y="499475"/>
                    <a:pt x="476019" y="484424"/>
                    <a:pt x="463587" y="474264"/>
                  </a:cubicBezTo>
                  <a:cubicBezTo>
                    <a:pt x="453039" y="465609"/>
                    <a:pt x="442302" y="457707"/>
                    <a:pt x="431848" y="450558"/>
                  </a:cubicBezTo>
                  <a:cubicBezTo>
                    <a:pt x="431848" y="450370"/>
                    <a:pt x="431942" y="450087"/>
                    <a:pt x="431942" y="449711"/>
                  </a:cubicBezTo>
                  <a:lnTo>
                    <a:pt x="431942" y="397031"/>
                  </a:lnTo>
                  <a:cubicBezTo>
                    <a:pt x="425350" y="392609"/>
                    <a:pt x="420923" y="385084"/>
                    <a:pt x="420923" y="376617"/>
                  </a:cubicBezTo>
                  <a:lnTo>
                    <a:pt x="420923" y="322056"/>
                  </a:lnTo>
                  <a:cubicBezTo>
                    <a:pt x="420923" y="294775"/>
                    <a:pt x="443056" y="272856"/>
                    <a:pt x="470180" y="272856"/>
                  </a:cubicBezTo>
                  <a:close/>
                  <a:moveTo>
                    <a:pt x="127004" y="272856"/>
                  </a:moveTo>
                  <a:lnTo>
                    <a:pt x="132940" y="272856"/>
                  </a:lnTo>
                  <a:lnTo>
                    <a:pt x="138781" y="272856"/>
                  </a:lnTo>
                  <a:cubicBezTo>
                    <a:pt x="166104" y="272856"/>
                    <a:pt x="188057" y="294963"/>
                    <a:pt x="188057" y="322056"/>
                  </a:cubicBezTo>
                  <a:lnTo>
                    <a:pt x="188057" y="376617"/>
                  </a:lnTo>
                  <a:cubicBezTo>
                    <a:pt x="188057" y="385084"/>
                    <a:pt x="183629" y="392609"/>
                    <a:pt x="177033" y="397031"/>
                  </a:cubicBezTo>
                  <a:lnTo>
                    <a:pt x="177033" y="449711"/>
                  </a:lnTo>
                  <a:cubicBezTo>
                    <a:pt x="177033" y="449993"/>
                    <a:pt x="177128" y="450370"/>
                    <a:pt x="177128" y="450558"/>
                  </a:cubicBezTo>
                  <a:cubicBezTo>
                    <a:pt x="166670" y="457613"/>
                    <a:pt x="155929" y="465609"/>
                    <a:pt x="145376" y="474264"/>
                  </a:cubicBezTo>
                  <a:cubicBezTo>
                    <a:pt x="133034" y="484424"/>
                    <a:pt x="125874" y="499475"/>
                    <a:pt x="125874" y="515561"/>
                  </a:cubicBezTo>
                  <a:lnTo>
                    <a:pt x="125874" y="559493"/>
                  </a:lnTo>
                  <a:lnTo>
                    <a:pt x="0" y="559493"/>
                  </a:lnTo>
                  <a:lnTo>
                    <a:pt x="0" y="522052"/>
                  </a:lnTo>
                  <a:cubicBezTo>
                    <a:pt x="0" y="514150"/>
                    <a:pt x="3486" y="506625"/>
                    <a:pt x="9704" y="501639"/>
                  </a:cubicBezTo>
                  <a:cubicBezTo>
                    <a:pt x="43434" y="473888"/>
                    <a:pt x="79990" y="455450"/>
                    <a:pt x="87433" y="451875"/>
                  </a:cubicBezTo>
                  <a:cubicBezTo>
                    <a:pt x="88281" y="451498"/>
                    <a:pt x="88846" y="450558"/>
                    <a:pt x="88846" y="449711"/>
                  </a:cubicBezTo>
                  <a:lnTo>
                    <a:pt x="88846" y="397031"/>
                  </a:lnTo>
                  <a:cubicBezTo>
                    <a:pt x="82157" y="392609"/>
                    <a:pt x="77729" y="385084"/>
                    <a:pt x="77729" y="376617"/>
                  </a:cubicBezTo>
                  <a:lnTo>
                    <a:pt x="77729" y="322056"/>
                  </a:lnTo>
                  <a:cubicBezTo>
                    <a:pt x="77729" y="294775"/>
                    <a:pt x="99870" y="272856"/>
                    <a:pt x="127004" y="272856"/>
                  </a:cubicBezTo>
                  <a:close/>
                  <a:moveTo>
                    <a:pt x="297600" y="222543"/>
                  </a:moveTo>
                  <a:lnTo>
                    <a:pt x="304477" y="222543"/>
                  </a:lnTo>
                  <a:lnTo>
                    <a:pt x="311260" y="222543"/>
                  </a:lnTo>
                  <a:cubicBezTo>
                    <a:pt x="343291" y="222543"/>
                    <a:pt x="369198" y="248506"/>
                    <a:pt x="369198" y="280395"/>
                  </a:cubicBezTo>
                  <a:lnTo>
                    <a:pt x="369198" y="344455"/>
                  </a:lnTo>
                  <a:cubicBezTo>
                    <a:pt x="369198" y="354520"/>
                    <a:pt x="364017" y="363456"/>
                    <a:pt x="356198" y="368536"/>
                  </a:cubicBezTo>
                  <a:lnTo>
                    <a:pt x="356198" y="430432"/>
                  </a:lnTo>
                  <a:cubicBezTo>
                    <a:pt x="356198" y="431561"/>
                    <a:pt x="356857" y="432502"/>
                    <a:pt x="357893" y="433066"/>
                  </a:cubicBezTo>
                  <a:cubicBezTo>
                    <a:pt x="366655" y="437299"/>
                    <a:pt x="409520" y="459029"/>
                    <a:pt x="449275" y="491576"/>
                  </a:cubicBezTo>
                  <a:cubicBezTo>
                    <a:pt x="456435" y="497502"/>
                    <a:pt x="460580" y="506251"/>
                    <a:pt x="460580" y="515563"/>
                  </a:cubicBezTo>
                  <a:lnTo>
                    <a:pt x="460580" y="559493"/>
                  </a:lnTo>
                  <a:lnTo>
                    <a:pt x="304477" y="559493"/>
                  </a:lnTo>
                  <a:lnTo>
                    <a:pt x="148187" y="559493"/>
                  </a:lnTo>
                  <a:lnTo>
                    <a:pt x="148187" y="515563"/>
                  </a:lnTo>
                  <a:cubicBezTo>
                    <a:pt x="148187" y="506251"/>
                    <a:pt x="152332" y="497502"/>
                    <a:pt x="159492" y="491576"/>
                  </a:cubicBezTo>
                  <a:cubicBezTo>
                    <a:pt x="199342" y="459029"/>
                    <a:pt x="242206" y="437299"/>
                    <a:pt x="250967" y="433066"/>
                  </a:cubicBezTo>
                  <a:cubicBezTo>
                    <a:pt x="252004" y="432502"/>
                    <a:pt x="252569" y="431561"/>
                    <a:pt x="252569" y="430432"/>
                  </a:cubicBezTo>
                  <a:lnTo>
                    <a:pt x="252569" y="368536"/>
                  </a:lnTo>
                  <a:cubicBezTo>
                    <a:pt x="244844" y="363456"/>
                    <a:pt x="239663" y="354520"/>
                    <a:pt x="239663" y="344455"/>
                  </a:cubicBezTo>
                  <a:lnTo>
                    <a:pt x="239663" y="280395"/>
                  </a:lnTo>
                  <a:cubicBezTo>
                    <a:pt x="239663" y="248412"/>
                    <a:pt x="265664" y="222543"/>
                    <a:pt x="297600" y="222543"/>
                  </a:cubicBezTo>
                  <a:close/>
                  <a:moveTo>
                    <a:pt x="492495" y="40775"/>
                  </a:moveTo>
                  <a:cubicBezTo>
                    <a:pt x="488350" y="40775"/>
                    <a:pt x="487596" y="41528"/>
                    <a:pt x="487502" y="45854"/>
                  </a:cubicBezTo>
                  <a:lnTo>
                    <a:pt x="487502" y="51498"/>
                  </a:lnTo>
                  <a:cubicBezTo>
                    <a:pt x="487502" y="57142"/>
                    <a:pt x="487502" y="56953"/>
                    <a:pt x="482038" y="59023"/>
                  </a:cubicBezTo>
                  <a:cubicBezTo>
                    <a:pt x="469036" y="63726"/>
                    <a:pt x="460934" y="72661"/>
                    <a:pt x="460086" y="86864"/>
                  </a:cubicBezTo>
                  <a:cubicBezTo>
                    <a:pt x="459332" y="99374"/>
                    <a:pt x="465833" y="107934"/>
                    <a:pt x="476196" y="114048"/>
                  </a:cubicBezTo>
                  <a:cubicBezTo>
                    <a:pt x="482414" y="117810"/>
                    <a:pt x="489480" y="120068"/>
                    <a:pt x="496264" y="123078"/>
                  </a:cubicBezTo>
                  <a:cubicBezTo>
                    <a:pt x="498902" y="124206"/>
                    <a:pt x="501445" y="125617"/>
                    <a:pt x="503706" y="127310"/>
                  </a:cubicBezTo>
                  <a:cubicBezTo>
                    <a:pt x="510207" y="132578"/>
                    <a:pt x="508982" y="141513"/>
                    <a:pt x="501257" y="144900"/>
                  </a:cubicBezTo>
                  <a:cubicBezTo>
                    <a:pt x="497112" y="146781"/>
                    <a:pt x="492778" y="147157"/>
                    <a:pt x="488350" y="146687"/>
                  </a:cubicBezTo>
                  <a:cubicBezTo>
                    <a:pt x="481472" y="145746"/>
                    <a:pt x="474783" y="144053"/>
                    <a:pt x="468659" y="140761"/>
                  </a:cubicBezTo>
                  <a:cubicBezTo>
                    <a:pt x="464985" y="138880"/>
                    <a:pt x="463949" y="139350"/>
                    <a:pt x="462724" y="143301"/>
                  </a:cubicBezTo>
                  <a:cubicBezTo>
                    <a:pt x="461593" y="146687"/>
                    <a:pt x="460557" y="150167"/>
                    <a:pt x="459709" y="153553"/>
                  </a:cubicBezTo>
                  <a:cubicBezTo>
                    <a:pt x="458484" y="158162"/>
                    <a:pt x="458861" y="159291"/>
                    <a:pt x="463572" y="161548"/>
                  </a:cubicBezTo>
                  <a:cubicBezTo>
                    <a:pt x="469130" y="164370"/>
                    <a:pt x="475160" y="165687"/>
                    <a:pt x="481284" y="166722"/>
                  </a:cubicBezTo>
                  <a:cubicBezTo>
                    <a:pt x="486089" y="167474"/>
                    <a:pt x="486371" y="167568"/>
                    <a:pt x="486371" y="172647"/>
                  </a:cubicBezTo>
                  <a:lnTo>
                    <a:pt x="486371" y="179420"/>
                  </a:lnTo>
                  <a:cubicBezTo>
                    <a:pt x="486371" y="182147"/>
                    <a:pt x="487690" y="183934"/>
                    <a:pt x="490611" y="183934"/>
                  </a:cubicBezTo>
                  <a:cubicBezTo>
                    <a:pt x="493908" y="184029"/>
                    <a:pt x="497300" y="184029"/>
                    <a:pt x="500503" y="183934"/>
                  </a:cubicBezTo>
                  <a:cubicBezTo>
                    <a:pt x="503330" y="183934"/>
                    <a:pt x="504649" y="182430"/>
                    <a:pt x="504649" y="179608"/>
                  </a:cubicBezTo>
                  <a:cubicBezTo>
                    <a:pt x="504649" y="176504"/>
                    <a:pt x="504837" y="173494"/>
                    <a:pt x="504649" y="170390"/>
                  </a:cubicBezTo>
                  <a:cubicBezTo>
                    <a:pt x="504554" y="167192"/>
                    <a:pt x="505968" y="165687"/>
                    <a:pt x="508982" y="164840"/>
                  </a:cubicBezTo>
                  <a:cubicBezTo>
                    <a:pt x="515860" y="162959"/>
                    <a:pt x="521889" y="159197"/>
                    <a:pt x="526412" y="153647"/>
                  </a:cubicBezTo>
                  <a:cubicBezTo>
                    <a:pt x="538942" y="138221"/>
                    <a:pt x="534231" y="115835"/>
                    <a:pt x="516237" y="105865"/>
                  </a:cubicBezTo>
                  <a:cubicBezTo>
                    <a:pt x="510584" y="102761"/>
                    <a:pt x="504554" y="100503"/>
                    <a:pt x="498619" y="97964"/>
                  </a:cubicBezTo>
                  <a:cubicBezTo>
                    <a:pt x="495227" y="96647"/>
                    <a:pt x="492024" y="94860"/>
                    <a:pt x="489104" y="92602"/>
                  </a:cubicBezTo>
                  <a:cubicBezTo>
                    <a:pt x="483451" y="88087"/>
                    <a:pt x="484581" y="80657"/>
                    <a:pt x="491270" y="77835"/>
                  </a:cubicBezTo>
                  <a:cubicBezTo>
                    <a:pt x="493155" y="76894"/>
                    <a:pt x="495133" y="76706"/>
                    <a:pt x="497112" y="76518"/>
                  </a:cubicBezTo>
                  <a:cubicBezTo>
                    <a:pt x="504931" y="76142"/>
                    <a:pt x="512186" y="77553"/>
                    <a:pt x="519252" y="80939"/>
                  </a:cubicBezTo>
                  <a:cubicBezTo>
                    <a:pt x="522643" y="82538"/>
                    <a:pt x="523868" y="82067"/>
                    <a:pt x="524998" y="78399"/>
                  </a:cubicBezTo>
                  <a:cubicBezTo>
                    <a:pt x="526317" y="74543"/>
                    <a:pt x="527260" y="70686"/>
                    <a:pt x="528390" y="66736"/>
                  </a:cubicBezTo>
                  <a:cubicBezTo>
                    <a:pt x="529144" y="64102"/>
                    <a:pt x="528296" y="62503"/>
                    <a:pt x="525752" y="61374"/>
                  </a:cubicBezTo>
                  <a:cubicBezTo>
                    <a:pt x="521230" y="59399"/>
                    <a:pt x="516708" y="57988"/>
                    <a:pt x="511809" y="57236"/>
                  </a:cubicBezTo>
                  <a:cubicBezTo>
                    <a:pt x="505402" y="56201"/>
                    <a:pt x="505402" y="56201"/>
                    <a:pt x="505402" y="49805"/>
                  </a:cubicBezTo>
                  <a:cubicBezTo>
                    <a:pt x="505402" y="40775"/>
                    <a:pt x="505402" y="40775"/>
                    <a:pt x="496358" y="40775"/>
                  </a:cubicBezTo>
                  <a:close/>
                  <a:moveTo>
                    <a:pt x="496111" y="0"/>
                  </a:moveTo>
                  <a:cubicBezTo>
                    <a:pt x="524951" y="0"/>
                    <a:pt x="553781" y="10958"/>
                    <a:pt x="575779" y="32874"/>
                  </a:cubicBezTo>
                  <a:cubicBezTo>
                    <a:pt x="619776" y="76894"/>
                    <a:pt x="619776" y="148192"/>
                    <a:pt x="575779" y="192024"/>
                  </a:cubicBezTo>
                  <a:cubicBezTo>
                    <a:pt x="538754" y="229083"/>
                    <a:pt x="482226" y="234821"/>
                    <a:pt x="438982" y="209519"/>
                  </a:cubicBezTo>
                  <a:lnTo>
                    <a:pt x="438700" y="209237"/>
                  </a:lnTo>
                  <a:cubicBezTo>
                    <a:pt x="421742" y="222029"/>
                    <a:pt x="403559" y="224286"/>
                    <a:pt x="390840" y="222311"/>
                  </a:cubicBezTo>
                  <a:cubicBezTo>
                    <a:pt x="386600" y="221653"/>
                    <a:pt x="385752" y="215915"/>
                    <a:pt x="389615" y="214034"/>
                  </a:cubicBezTo>
                  <a:cubicBezTo>
                    <a:pt x="401297" y="208202"/>
                    <a:pt x="408552" y="196915"/>
                    <a:pt x="412886" y="187791"/>
                  </a:cubicBezTo>
                  <a:lnTo>
                    <a:pt x="411567" y="187038"/>
                  </a:lnTo>
                  <a:cubicBezTo>
                    <a:pt x="372374" y="142736"/>
                    <a:pt x="374070" y="75201"/>
                    <a:pt x="416371" y="32874"/>
                  </a:cubicBezTo>
                  <a:cubicBezTo>
                    <a:pt x="438417" y="10958"/>
                    <a:pt x="467270" y="0"/>
                    <a:pt x="49611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操作系统与用户之间的接口</a:t>
            </a:r>
          </a:p>
        </p:txBody>
      </p:sp>
      <p:sp>
        <p:nvSpPr>
          <p:cNvPr id="13" name="íSľïdé"/>
          <p:cNvSpPr/>
          <p:nvPr/>
        </p:nvSpPr>
        <p:spPr>
          <a:xfrm>
            <a:off x="1906927" y="1086629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14" name="ïŝļíḓê"/>
          <p:cNvSpPr/>
          <p:nvPr/>
        </p:nvSpPr>
        <p:spPr bwMode="auto">
          <a:xfrm>
            <a:off x="8689292" y="1718477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15" name="îṧľîdé"/>
          <p:cNvSpPr/>
          <p:nvPr/>
        </p:nvSpPr>
        <p:spPr>
          <a:xfrm>
            <a:off x="3612380" y="1086629"/>
            <a:ext cx="4034934" cy="2095500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6" name="内容占位符 2"/>
          <p:cNvSpPr txBox="1"/>
          <p:nvPr/>
        </p:nvSpPr>
        <p:spPr>
          <a:xfrm>
            <a:off x="894703" y="1718476"/>
            <a:ext cx="4308362" cy="3084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  <a:defRPr/>
            </a:pPr>
            <a:r>
              <a:rPr lang="zh-CN" altLang="en-US" sz="2500" dirty="0">
                <a:solidFill>
                  <a:srgbClr val="FF0000"/>
                </a:solidFill>
              </a:rPr>
              <a:t>用户接口</a:t>
            </a:r>
          </a:p>
          <a:p>
            <a:pPr marL="342900" lvl="1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联机用户接口</a:t>
            </a:r>
          </a:p>
          <a:p>
            <a:pPr marL="800100" lvl="2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命令行方式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CLI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脱机用户接口</a:t>
            </a:r>
          </a:p>
          <a:p>
            <a:pPr marL="800100" lvl="2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批处理系统：作业说明书（作业控制语言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JCL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）。</a:t>
            </a: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图形用户接口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GUI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8129918" y="2371088"/>
            <a:ext cx="3216369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500" dirty="0">
                <a:solidFill>
                  <a:srgbClr val="FF0000"/>
                </a:solidFill>
              </a:rPr>
              <a:t>程序接口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系统调用：系统提供的，能完成特定功能的子程序。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现代操作系统的新功能</a:t>
            </a:r>
          </a:p>
        </p:txBody>
      </p:sp>
      <p:sp>
        <p:nvSpPr>
          <p:cNvPr id="39" name="îśḻiďé"/>
          <p:cNvSpPr/>
          <p:nvPr/>
        </p:nvSpPr>
        <p:spPr bwMode="auto">
          <a:xfrm>
            <a:off x="1700862" y="1270669"/>
            <a:ext cx="846430" cy="8464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40" name="išľiďe"/>
          <p:cNvSpPr/>
          <p:nvPr/>
        </p:nvSpPr>
        <p:spPr bwMode="auto">
          <a:xfrm>
            <a:off x="2303745" y="2712456"/>
            <a:ext cx="847397" cy="84643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43" name="íśľîḋé"/>
          <p:cNvSpPr/>
          <p:nvPr/>
        </p:nvSpPr>
        <p:spPr bwMode="auto">
          <a:xfrm>
            <a:off x="1706979" y="4156817"/>
            <a:ext cx="846430" cy="8473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44" name="ïṡḷidè"/>
          <p:cNvSpPr/>
          <p:nvPr/>
        </p:nvSpPr>
        <p:spPr bwMode="auto">
          <a:xfrm>
            <a:off x="2555088" y="2963576"/>
            <a:ext cx="344710" cy="344189"/>
          </a:xfrm>
          <a:custGeom>
            <a:avLst/>
            <a:gdLst>
              <a:gd name="connsiteX0" fmla="*/ 106370 w 607639"/>
              <a:gd name="connsiteY0" fmla="*/ 436610 h 606722"/>
              <a:gd name="connsiteX1" fmla="*/ 61329 w 607639"/>
              <a:gd name="connsiteY1" fmla="*/ 480515 h 606722"/>
              <a:gd name="connsiteX2" fmla="*/ 126397 w 607639"/>
              <a:gd name="connsiteY2" fmla="*/ 545485 h 606722"/>
              <a:gd name="connsiteX3" fmla="*/ 170369 w 607639"/>
              <a:gd name="connsiteY3" fmla="*/ 500513 h 606722"/>
              <a:gd name="connsiteX4" fmla="*/ 455714 w 607639"/>
              <a:gd name="connsiteY4" fmla="*/ 404481 h 606722"/>
              <a:gd name="connsiteX5" fmla="*/ 531614 w 607639"/>
              <a:gd name="connsiteY5" fmla="*/ 404481 h 606722"/>
              <a:gd name="connsiteX6" fmla="*/ 531703 w 607639"/>
              <a:gd name="connsiteY6" fmla="*/ 404481 h 606722"/>
              <a:gd name="connsiteX7" fmla="*/ 531792 w 607639"/>
              <a:gd name="connsiteY7" fmla="*/ 404481 h 606722"/>
              <a:gd name="connsiteX8" fmla="*/ 548075 w 607639"/>
              <a:gd name="connsiteY8" fmla="*/ 410525 h 606722"/>
              <a:gd name="connsiteX9" fmla="*/ 551456 w 607639"/>
              <a:gd name="connsiteY9" fmla="*/ 413991 h 606722"/>
              <a:gd name="connsiteX10" fmla="*/ 556973 w 607639"/>
              <a:gd name="connsiteY10" fmla="*/ 429012 h 606722"/>
              <a:gd name="connsiteX11" fmla="*/ 556973 w 607639"/>
              <a:gd name="connsiteY11" fmla="*/ 429811 h 606722"/>
              <a:gd name="connsiteX12" fmla="*/ 556973 w 607639"/>
              <a:gd name="connsiteY12" fmla="*/ 505625 h 606722"/>
              <a:gd name="connsiteX13" fmla="*/ 531614 w 607639"/>
              <a:gd name="connsiteY13" fmla="*/ 530867 h 606722"/>
              <a:gd name="connsiteX14" fmla="*/ 506343 w 607639"/>
              <a:gd name="connsiteY14" fmla="*/ 505625 h 606722"/>
              <a:gd name="connsiteX15" fmla="*/ 476001 w 607639"/>
              <a:gd name="connsiteY15" fmla="*/ 546065 h 606722"/>
              <a:gd name="connsiteX16" fmla="*/ 455714 w 607639"/>
              <a:gd name="connsiteY16" fmla="*/ 556197 h 606722"/>
              <a:gd name="connsiteX17" fmla="*/ 440498 w 607639"/>
              <a:gd name="connsiteY17" fmla="*/ 551131 h 606722"/>
              <a:gd name="connsiteX18" fmla="*/ 435515 w 607639"/>
              <a:gd name="connsiteY18" fmla="*/ 515757 h 606722"/>
              <a:gd name="connsiteX19" fmla="*/ 481073 w 607639"/>
              <a:gd name="connsiteY19" fmla="*/ 455053 h 606722"/>
              <a:gd name="connsiteX20" fmla="*/ 455714 w 607639"/>
              <a:gd name="connsiteY20" fmla="*/ 455053 h 606722"/>
              <a:gd name="connsiteX21" fmla="*/ 430443 w 607639"/>
              <a:gd name="connsiteY21" fmla="*/ 429811 h 606722"/>
              <a:gd name="connsiteX22" fmla="*/ 455714 w 607639"/>
              <a:gd name="connsiteY22" fmla="*/ 404481 h 606722"/>
              <a:gd name="connsiteX23" fmla="*/ 157786 w 607639"/>
              <a:gd name="connsiteY23" fmla="*/ 282117 h 606722"/>
              <a:gd name="connsiteX24" fmla="*/ 175710 w 607639"/>
              <a:gd name="connsiteY24" fmla="*/ 289516 h 606722"/>
              <a:gd name="connsiteX25" fmla="*/ 317685 w 607639"/>
              <a:gd name="connsiteY25" fmla="*/ 431277 h 606722"/>
              <a:gd name="connsiteX26" fmla="*/ 317685 w 607639"/>
              <a:gd name="connsiteY26" fmla="*/ 467006 h 606722"/>
              <a:gd name="connsiteX27" fmla="*/ 245229 w 607639"/>
              <a:gd name="connsiteY27" fmla="*/ 539441 h 606722"/>
              <a:gd name="connsiteX28" fmla="*/ 227248 w 607639"/>
              <a:gd name="connsiteY28" fmla="*/ 546818 h 606722"/>
              <a:gd name="connsiteX29" fmla="*/ 209357 w 607639"/>
              <a:gd name="connsiteY29" fmla="*/ 539441 h 606722"/>
              <a:gd name="connsiteX30" fmla="*/ 206241 w 607639"/>
              <a:gd name="connsiteY30" fmla="*/ 536242 h 606722"/>
              <a:gd name="connsiteX31" fmla="*/ 144734 w 607639"/>
              <a:gd name="connsiteY31" fmla="*/ 599079 h 606722"/>
              <a:gd name="connsiteX32" fmla="*/ 126753 w 607639"/>
              <a:gd name="connsiteY32" fmla="*/ 606722 h 606722"/>
              <a:gd name="connsiteX33" fmla="*/ 126575 w 607639"/>
              <a:gd name="connsiteY33" fmla="*/ 606722 h 606722"/>
              <a:gd name="connsiteX34" fmla="*/ 108684 w 607639"/>
              <a:gd name="connsiteY34" fmla="*/ 599256 h 606722"/>
              <a:gd name="connsiteX35" fmla="*/ 7388 w 607639"/>
              <a:gd name="connsiteY35" fmla="*/ 498113 h 606722"/>
              <a:gd name="connsiteX36" fmla="*/ 0 w 607639"/>
              <a:gd name="connsiteY36" fmla="*/ 480160 h 606722"/>
              <a:gd name="connsiteX37" fmla="*/ 7655 w 607639"/>
              <a:gd name="connsiteY37" fmla="*/ 462206 h 606722"/>
              <a:gd name="connsiteX38" fmla="*/ 70587 w 607639"/>
              <a:gd name="connsiteY38" fmla="*/ 400792 h 606722"/>
              <a:gd name="connsiteX39" fmla="*/ 67382 w 607639"/>
              <a:gd name="connsiteY39" fmla="*/ 397681 h 606722"/>
              <a:gd name="connsiteX40" fmla="*/ 59994 w 607639"/>
              <a:gd name="connsiteY40" fmla="*/ 379728 h 606722"/>
              <a:gd name="connsiteX41" fmla="*/ 67382 w 607639"/>
              <a:gd name="connsiteY41" fmla="*/ 361863 h 606722"/>
              <a:gd name="connsiteX42" fmla="*/ 139927 w 607639"/>
              <a:gd name="connsiteY42" fmla="*/ 289516 h 606722"/>
              <a:gd name="connsiteX43" fmla="*/ 157786 w 607639"/>
              <a:gd name="connsiteY43" fmla="*/ 282117 h 606722"/>
              <a:gd name="connsiteX44" fmla="*/ 363724 w 607639"/>
              <a:gd name="connsiteY44" fmla="*/ 101159 h 606722"/>
              <a:gd name="connsiteX45" fmla="*/ 353254 w 607639"/>
              <a:gd name="connsiteY45" fmla="*/ 105492 h 606722"/>
              <a:gd name="connsiteX46" fmla="*/ 320945 w 607639"/>
              <a:gd name="connsiteY46" fmla="*/ 137752 h 606722"/>
              <a:gd name="connsiteX47" fmla="*/ 323793 w 607639"/>
              <a:gd name="connsiteY47" fmla="*/ 139974 h 606722"/>
              <a:gd name="connsiteX48" fmla="*/ 335898 w 607639"/>
              <a:gd name="connsiteY48" fmla="*/ 148417 h 606722"/>
              <a:gd name="connsiteX49" fmla="*/ 341149 w 607639"/>
              <a:gd name="connsiteY49" fmla="*/ 151794 h 606722"/>
              <a:gd name="connsiteX50" fmla="*/ 359930 w 607639"/>
              <a:gd name="connsiteY50" fmla="*/ 162459 h 606722"/>
              <a:gd name="connsiteX51" fmla="*/ 408439 w 607639"/>
              <a:gd name="connsiteY51" fmla="*/ 198897 h 606722"/>
              <a:gd name="connsiteX52" fmla="*/ 444933 w 607639"/>
              <a:gd name="connsiteY52" fmla="*/ 247243 h 606722"/>
              <a:gd name="connsiteX53" fmla="*/ 455614 w 607639"/>
              <a:gd name="connsiteY53" fmla="*/ 266084 h 606722"/>
              <a:gd name="connsiteX54" fmla="*/ 458907 w 607639"/>
              <a:gd name="connsiteY54" fmla="*/ 271239 h 606722"/>
              <a:gd name="connsiteX55" fmla="*/ 467452 w 607639"/>
              <a:gd name="connsiteY55" fmla="*/ 283326 h 606722"/>
              <a:gd name="connsiteX56" fmla="*/ 469677 w 607639"/>
              <a:gd name="connsiteY56" fmla="*/ 286258 h 606722"/>
              <a:gd name="connsiteX57" fmla="*/ 501987 w 607639"/>
              <a:gd name="connsiteY57" fmla="*/ 253998 h 606722"/>
              <a:gd name="connsiteX58" fmla="*/ 501987 w 607639"/>
              <a:gd name="connsiteY58" fmla="*/ 233024 h 606722"/>
              <a:gd name="connsiteX59" fmla="*/ 374260 w 607639"/>
              <a:gd name="connsiteY59" fmla="*/ 105492 h 606722"/>
              <a:gd name="connsiteX60" fmla="*/ 363724 w 607639"/>
              <a:gd name="connsiteY60" fmla="*/ 101159 h 606722"/>
              <a:gd name="connsiteX61" fmla="*/ 177209 w 607639"/>
              <a:gd name="connsiteY61" fmla="*/ 50521 h 606722"/>
              <a:gd name="connsiteX62" fmla="*/ 195096 w 607639"/>
              <a:gd name="connsiteY62" fmla="*/ 57919 h 606722"/>
              <a:gd name="connsiteX63" fmla="*/ 195096 w 607639"/>
              <a:gd name="connsiteY63" fmla="*/ 93644 h 606722"/>
              <a:gd name="connsiteX64" fmla="*/ 137075 w 607639"/>
              <a:gd name="connsiteY64" fmla="*/ 151675 h 606722"/>
              <a:gd name="connsiteX65" fmla="*/ 151936 w 607639"/>
              <a:gd name="connsiteY65" fmla="*/ 151675 h 606722"/>
              <a:gd name="connsiteX66" fmla="*/ 177209 w 607639"/>
              <a:gd name="connsiteY66" fmla="*/ 176914 h 606722"/>
              <a:gd name="connsiteX67" fmla="*/ 151936 w 607639"/>
              <a:gd name="connsiteY67" fmla="*/ 202241 h 606722"/>
              <a:gd name="connsiteX68" fmla="*/ 75939 w 607639"/>
              <a:gd name="connsiteY68" fmla="*/ 202241 h 606722"/>
              <a:gd name="connsiteX69" fmla="*/ 59387 w 607639"/>
              <a:gd name="connsiteY69" fmla="*/ 196020 h 606722"/>
              <a:gd name="connsiteX70" fmla="*/ 55916 w 607639"/>
              <a:gd name="connsiteY70" fmla="*/ 192288 h 606722"/>
              <a:gd name="connsiteX71" fmla="*/ 50755 w 607639"/>
              <a:gd name="connsiteY71" fmla="*/ 178691 h 606722"/>
              <a:gd name="connsiteX72" fmla="*/ 50666 w 607639"/>
              <a:gd name="connsiteY72" fmla="*/ 176736 h 606722"/>
              <a:gd name="connsiteX73" fmla="*/ 50666 w 607639"/>
              <a:gd name="connsiteY73" fmla="*/ 101109 h 606722"/>
              <a:gd name="connsiteX74" fmla="*/ 75939 w 607639"/>
              <a:gd name="connsiteY74" fmla="*/ 75782 h 606722"/>
              <a:gd name="connsiteX75" fmla="*/ 101301 w 607639"/>
              <a:gd name="connsiteY75" fmla="*/ 101109 h 606722"/>
              <a:gd name="connsiteX76" fmla="*/ 101301 w 607639"/>
              <a:gd name="connsiteY76" fmla="*/ 115861 h 606722"/>
              <a:gd name="connsiteX77" fmla="*/ 159322 w 607639"/>
              <a:gd name="connsiteY77" fmla="*/ 57919 h 606722"/>
              <a:gd name="connsiteX78" fmla="*/ 177209 w 607639"/>
              <a:gd name="connsiteY78" fmla="*/ 50521 h 606722"/>
              <a:gd name="connsiteX79" fmla="*/ 480892 w 607639"/>
              <a:gd name="connsiteY79" fmla="*/ 0 h 606722"/>
              <a:gd name="connsiteX80" fmla="*/ 498960 w 607639"/>
              <a:gd name="connsiteY80" fmla="*/ 7376 h 606722"/>
              <a:gd name="connsiteX81" fmla="*/ 600162 w 607639"/>
              <a:gd name="connsiteY81" fmla="*/ 108513 h 606722"/>
              <a:gd name="connsiteX82" fmla="*/ 607639 w 607639"/>
              <a:gd name="connsiteY82" fmla="*/ 126554 h 606722"/>
              <a:gd name="connsiteX83" fmla="*/ 599984 w 607639"/>
              <a:gd name="connsiteY83" fmla="*/ 144507 h 606722"/>
              <a:gd name="connsiteX84" fmla="*/ 541417 w 607639"/>
              <a:gd name="connsiteY84" fmla="*/ 201741 h 606722"/>
              <a:gd name="connsiteX85" fmla="*/ 537768 w 607639"/>
              <a:gd name="connsiteY85" fmla="*/ 289724 h 606722"/>
              <a:gd name="connsiteX86" fmla="*/ 486499 w 607639"/>
              <a:gd name="connsiteY86" fmla="*/ 340915 h 606722"/>
              <a:gd name="connsiteX87" fmla="*/ 484719 w 607639"/>
              <a:gd name="connsiteY87" fmla="*/ 342159 h 606722"/>
              <a:gd name="connsiteX88" fmla="*/ 480002 w 607639"/>
              <a:gd name="connsiteY88" fmla="*/ 345270 h 606722"/>
              <a:gd name="connsiteX89" fmla="*/ 476530 w 607639"/>
              <a:gd name="connsiteY89" fmla="*/ 346869 h 606722"/>
              <a:gd name="connsiteX90" fmla="*/ 471190 w 607639"/>
              <a:gd name="connsiteY90" fmla="*/ 347847 h 606722"/>
              <a:gd name="connsiteX91" fmla="*/ 468609 w 607639"/>
              <a:gd name="connsiteY91" fmla="*/ 348380 h 606722"/>
              <a:gd name="connsiteX92" fmla="*/ 467452 w 607639"/>
              <a:gd name="connsiteY92" fmla="*/ 348114 h 606722"/>
              <a:gd name="connsiteX93" fmla="*/ 462111 w 607639"/>
              <a:gd name="connsiteY93" fmla="*/ 347047 h 606722"/>
              <a:gd name="connsiteX94" fmla="*/ 458373 w 607639"/>
              <a:gd name="connsiteY94" fmla="*/ 345981 h 606722"/>
              <a:gd name="connsiteX95" fmla="*/ 457305 w 607639"/>
              <a:gd name="connsiteY95" fmla="*/ 345714 h 606722"/>
              <a:gd name="connsiteX96" fmla="*/ 428911 w 607639"/>
              <a:gd name="connsiteY96" fmla="*/ 331494 h 606722"/>
              <a:gd name="connsiteX97" fmla="*/ 407282 w 607639"/>
              <a:gd name="connsiteY97" fmla="*/ 335049 h 606722"/>
              <a:gd name="connsiteX98" fmla="*/ 376308 w 607639"/>
              <a:gd name="connsiteY98" fmla="*/ 365888 h 606722"/>
              <a:gd name="connsiteX99" fmla="*/ 344265 w 607639"/>
              <a:gd name="connsiteY99" fmla="*/ 379219 h 606722"/>
              <a:gd name="connsiteX100" fmla="*/ 312133 w 607639"/>
              <a:gd name="connsiteY100" fmla="*/ 365888 h 606722"/>
              <a:gd name="connsiteX101" fmla="*/ 241194 w 607639"/>
              <a:gd name="connsiteY101" fmla="*/ 295057 h 606722"/>
              <a:gd name="connsiteX102" fmla="*/ 241194 w 607639"/>
              <a:gd name="connsiteY102" fmla="*/ 230891 h 606722"/>
              <a:gd name="connsiteX103" fmla="*/ 272079 w 607639"/>
              <a:gd name="connsiteY103" fmla="*/ 200052 h 606722"/>
              <a:gd name="connsiteX104" fmla="*/ 275551 w 607639"/>
              <a:gd name="connsiteY104" fmla="*/ 178456 h 606722"/>
              <a:gd name="connsiteX105" fmla="*/ 261398 w 607639"/>
              <a:gd name="connsiteY105" fmla="*/ 150106 h 606722"/>
              <a:gd name="connsiteX106" fmla="*/ 261131 w 607639"/>
              <a:gd name="connsiteY106" fmla="*/ 149039 h 606722"/>
              <a:gd name="connsiteX107" fmla="*/ 260063 w 607639"/>
              <a:gd name="connsiteY107" fmla="*/ 145307 h 606722"/>
              <a:gd name="connsiteX108" fmla="*/ 258995 w 607639"/>
              <a:gd name="connsiteY108" fmla="*/ 139974 h 606722"/>
              <a:gd name="connsiteX109" fmla="*/ 259262 w 607639"/>
              <a:gd name="connsiteY109" fmla="*/ 136242 h 606722"/>
              <a:gd name="connsiteX110" fmla="*/ 260241 w 607639"/>
              <a:gd name="connsiteY110" fmla="*/ 130909 h 606722"/>
              <a:gd name="connsiteX111" fmla="*/ 261754 w 607639"/>
              <a:gd name="connsiteY111" fmla="*/ 127443 h 606722"/>
              <a:gd name="connsiteX112" fmla="*/ 264959 w 607639"/>
              <a:gd name="connsiteY112" fmla="*/ 122733 h 606722"/>
              <a:gd name="connsiteX113" fmla="*/ 266116 w 607639"/>
              <a:gd name="connsiteY113" fmla="*/ 120955 h 606722"/>
              <a:gd name="connsiteX114" fmla="*/ 317384 w 607639"/>
              <a:gd name="connsiteY114" fmla="*/ 69676 h 606722"/>
              <a:gd name="connsiteX115" fmla="*/ 405591 w 607639"/>
              <a:gd name="connsiteY115" fmla="*/ 66121 h 606722"/>
              <a:gd name="connsiteX116" fmla="*/ 462912 w 607639"/>
              <a:gd name="connsiteY116" fmla="*/ 7554 h 606722"/>
              <a:gd name="connsiteX117" fmla="*/ 480892 w 607639"/>
              <a:gd name="connsiteY11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607639" h="606722">
                <a:moveTo>
                  <a:pt x="106370" y="436610"/>
                </a:moveTo>
                <a:lnTo>
                  <a:pt x="61329" y="480515"/>
                </a:lnTo>
                <a:lnTo>
                  <a:pt x="126397" y="545485"/>
                </a:lnTo>
                <a:lnTo>
                  <a:pt x="170369" y="500513"/>
                </a:lnTo>
                <a:close/>
                <a:moveTo>
                  <a:pt x="455714" y="404481"/>
                </a:moveTo>
                <a:lnTo>
                  <a:pt x="531614" y="404481"/>
                </a:lnTo>
                <a:lnTo>
                  <a:pt x="531703" y="404481"/>
                </a:lnTo>
                <a:lnTo>
                  <a:pt x="531792" y="404481"/>
                </a:lnTo>
                <a:cubicBezTo>
                  <a:pt x="538020" y="404481"/>
                  <a:pt x="543715" y="406792"/>
                  <a:pt x="548075" y="410525"/>
                </a:cubicBezTo>
                <a:cubicBezTo>
                  <a:pt x="549321" y="411591"/>
                  <a:pt x="550388" y="412747"/>
                  <a:pt x="551456" y="413991"/>
                </a:cubicBezTo>
                <a:cubicBezTo>
                  <a:pt x="554748" y="418079"/>
                  <a:pt x="556795" y="423323"/>
                  <a:pt x="556973" y="429012"/>
                </a:cubicBezTo>
                <a:cubicBezTo>
                  <a:pt x="556973" y="429278"/>
                  <a:pt x="556973" y="429545"/>
                  <a:pt x="556973" y="429811"/>
                </a:cubicBezTo>
                <a:lnTo>
                  <a:pt x="556973" y="505625"/>
                </a:lnTo>
                <a:cubicBezTo>
                  <a:pt x="556973" y="519579"/>
                  <a:pt x="545673" y="530867"/>
                  <a:pt x="531614" y="530867"/>
                </a:cubicBezTo>
                <a:cubicBezTo>
                  <a:pt x="517644" y="530867"/>
                  <a:pt x="506343" y="519579"/>
                  <a:pt x="506343" y="505625"/>
                </a:cubicBezTo>
                <a:lnTo>
                  <a:pt x="476001" y="546065"/>
                </a:lnTo>
                <a:cubicBezTo>
                  <a:pt x="471018" y="552731"/>
                  <a:pt x="463366" y="556197"/>
                  <a:pt x="455714" y="556197"/>
                </a:cubicBezTo>
                <a:cubicBezTo>
                  <a:pt x="450375" y="556197"/>
                  <a:pt x="445125" y="554508"/>
                  <a:pt x="440498" y="551131"/>
                </a:cubicBezTo>
                <a:cubicBezTo>
                  <a:pt x="429375" y="542776"/>
                  <a:pt x="427062" y="526867"/>
                  <a:pt x="435515" y="515757"/>
                </a:cubicBezTo>
                <a:lnTo>
                  <a:pt x="481073" y="455053"/>
                </a:lnTo>
                <a:lnTo>
                  <a:pt x="455714" y="455053"/>
                </a:lnTo>
                <a:cubicBezTo>
                  <a:pt x="441744" y="455053"/>
                  <a:pt x="430443" y="443765"/>
                  <a:pt x="430443" y="429811"/>
                </a:cubicBezTo>
                <a:cubicBezTo>
                  <a:pt x="430443" y="415857"/>
                  <a:pt x="441744" y="404481"/>
                  <a:pt x="455714" y="404481"/>
                </a:cubicBezTo>
                <a:close/>
                <a:moveTo>
                  <a:pt x="157786" y="282117"/>
                </a:moveTo>
                <a:cubicBezTo>
                  <a:pt x="164272" y="282117"/>
                  <a:pt x="170770" y="284584"/>
                  <a:pt x="175710" y="289516"/>
                </a:cubicBezTo>
                <a:lnTo>
                  <a:pt x="317685" y="431277"/>
                </a:lnTo>
                <a:cubicBezTo>
                  <a:pt x="327565" y="441142"/>
                  <a:pt x="327565" y="457140"/>
                  <a:pt x="317685" y="467006"/>
                </a:cubicBezTo>
                <a:lnTo>
                  <a:pt x="245229" y="539441"/>
                </a:lnTo>
                <a:cubicBezTo>
                  <a:pt x="240422" y="544152"/>
                  <a:pt x="234013" y="546818"/>
                  <a:pt x="227248" y="546818"/>
                </a:cubicBezTo>
                <a:cubicBezTo>
                  <a:pt x="220572" y="546818"/>
                  <a:pt x="214163" y="544152"/>
                  <a:pt x="209357" y="539441"/>
                </a:cubicBezTo>
                <a:lnTo>
                  <a:pt x="206241" y="536242"/>
                </a:lnTo>
                <a:lnTo>
                  <a:pt x="144734" y="599079"/>
                </a:lnTo>
                <a:cubicBezTo>
                  <a:pt x="140016" y="603967"/>
                  <a:pt x="133518" y="606633"/>
                  <a:pt x="126753" y="606722"/>
                </a:cubicBezTo>
                <a:lnTo>
                  <a:pt x="126575" y="606722"/>
                </a:lnTo>
                <a:cubicBezTo>
                  <a:pt x="119899" y="606722"/>
                  <a:pt x="113491" y="604056"/>
                  <a:pt x="108684" y="599256"/>
                </a:cubicBezTo>
                <a:lnTo>
                  <a:pt x="7388" y="498113"/>
                </a:lnTo>
                <a:cubicBezTo>
                  <a:pt x="2670" y="493403"/>
                  <a:pt x="0" y="486914"/>
                  <a:pt x="0" y="480160"/>
                </a:cubicBezTo>
                <a:cubicBezTo>
                  <a:pt x="89" y="473405"/>
                  <a:pt x="2759" y="466917"/>
                  <a:pt x="7655" y="462206"/>
                </a:cubicBezTo>
                <a:lnTo>
                  <a:pt x="70587" y="400792"/>
                </a:lnTo>
                <a:lnTo>
                  <a:pt x="67382" y="397681"/>
                </a:lnTo>
                <a:cubicBezTo>
                  <a:pt x="62665" y="392882"/>
                  <a:pt x="59994" y="386482"/>
                  <a:pt x="59994" y="379728"/>
                </a:cubicBezTo>
                <a:cubicBezTo>
                  <a:pt x="59994" y="373062"/>
                  <a:pt x="62665" y="366663"/>
                  <a:pt x="67382" y="361863"/>
                </a:cubicBezTo>
                <a:lnTo>
                  <a:pt x="139927" y="289516"/>
                </a:lnTo>
                <a:cubicBezTo>
                  <a:pt x="144823" y="284584"/>
                  <a:pt x="151299" y="282117"/>
                  <a:pt x="157786" y="282117"/>
                </a:cubicBezTo>
                <a:close/>
                <a:moveTo>
                  <a:pt x="363724" y="101159"/>
                </a:moveTo>
                <a:cubicBezTo>
                  <a:pt x="359930" y="101159"/>
                  <a:pt x="356147" y="102604"/>
                  <a:pt x="353254" y="105492"/>
                </a:cubicBezTo>
                <a:lnTo>
                  <a:pt x="320945" y="137752"/>
                </a:lnTo>
                <a:cubicBezTo>
                  <a:pt x="321835" y="138463"/>
                  <a:pt x="322814" y="139174"/>
                  <a:pt x="323793" y="139974"/>
                </a:cubicBezTo>
                <a:cubicBezTo>
                  <a:pt x="327709" y="142818"/>
                  <a:pt x="331715" y="145662"/>
                  <a:pt x="335898" y="148417"/>
                </a:cubicBezTo>
                <a:cubicBezTo>
                  <a:pt x="337678" y="149572"/>
                  <a:pt x="339369" y="150728"/>
                  <a:pt x="341149" y="151794"/>
                </a:cubicBezTo>
                <a:cubicBezTo>
                  <a:pt x="347113" y="155527"/>
                  <a:pt x="353254" y="159082"/>
                  <a:pt x="359930" y="162459"/>
                </a:cubicBezTo>
                <a:cubicBezTo>
                  <a:pt x="376040" y="170724"/>
                  <a:pt x="392863" y="183344"/>
                  <a:pt x="408439" y="198897"/>
                </a:cubicBezTo>
                <a:cubicBezTo>
                  <a:pt x="424016" y="214449"/>
                  <a:pt x="436655" y="231246"/>
                  <a:pt x="444933" y="247243"/>
                </a:cubicBezTo>
                <a:cubicBezTo>
                  <a:pt x="448315" y="253998"/>
                  <a:pt x="451875" y="260130"/>
                  <a:pt x="455614" y="266084"/>
                </a:cubicBezTo>
                <a:cubicBezTo>
                  <a:pt x="456682" y="267862"/>
                  <a:pt x="457839" y="269550"/>
                  <a:pt x="458907" y="271239"/>
                </a:cubicBezTo>
                <a:cubicBezTo>
                  <a:pt x="461666" y="275416"/>
                  <a:pt x="464514" y="279504"/>
                  <a:pt x="467452" y="283326"/>
                </a:cubicBezTo>
                <a:cubicBezTo>
                  <a:pt x="468164" y="284303"/>
                  <a:pt x="468876" y="285281"/>
                  <a:pt x="469677" y="286258"/>
                </a:cubicBezTo>
                <a:lnTo>
                  <a:pt x="501987" y="253998"/>
                </a:lnTo>
                <a:cubicBezTo>
                  <a:pt x="507772" y="248221"/>
                  <a:pt x="507772" y="238800"/>
                  <a:pt x="501987" y="233024"/>
                </a:cubicBezTo>
                <a:lnTo>
                  <a:pt x="374260" y="105492"/>
                </a:lnTo>
                <a:cubicBezTo>
                  <a:pt x="371323" y="102604"/>
                  <a:pt x="367518" y="101159"/>
                  <a:pt x="363724" y="101159"/>
                </a:cubicBezTo>
                <a:close/>
                <a:moveTo>
                  <a:pt x="177209" y="50521"/>
                </a:moveTo>
                <a:cubicBezTo>
                  <a:pt x="183683" y="50521"/>
                  <a:pt x="190157" y="52987"/>
                  <a:pt x="195096" y="57919"/>
                </a:cubicBezTo>
                <a:cubicBezTo>
                  <a:pt x="205063" y="67784"/>
                  <a:pt x="205063" y="83869"/>
                  <a:pt x="195096" y="93644"/>
                </a:cubicBezTo>
                <a:lnTo>
                  <a:pt x="137075" y="151675"/>
                </a:lnTo>
                <a:lnTo>
                  <a:pt x="151936" y="151675"/>
                </a:lnTo>
                <a:cubicBezTo>
                  <a:pt x="165908" y="151675"/>
                  <a:pt x="177209" y="162961"/>
                  <a:pt x="177209" y="176914"/>
                </a:cubicBezTo>
                <a:cubicBezTo>
                  <a:pt x="177209" y="190866"/>
                  <a:pt x="165908" y="202241"/>
                  <a:pt x="151936" y="202241"/>
                </a:cubicBezTo>
                <a:lnTo>
                  <a:pt x="75939" y="202241"/>
                </a:lnTo>
                <a:cubicBezTo>
                  <a:pt x="69621" y="202241"/>
                  <a:pt x="63836" y="199842"/>
                  <a:pt x="59387" y="196020"/>
                </a:cubicBezTo>
                <a:cubicBezTo>
                  <a:pt x="58141" y="194954"/>
                  <a:pt x="56984" y="193710"/>
                  <a:pt x="55916" y="192288"/>
                </a:cubicBezTo>
                <a:cubicBezTo>
                  <a:pt x="52980" y="188466"/>
                  <a:pt x="51111" y="183845"/>
                  <a:pt x="50755" y="178691"/>
                </a:cubicBezTo>
                <a:cubicBezTo>
                  <a:pt x="50666" y="178069"/>
                  <a:pt x="50666" y="177447"/>
                  <a:pt x="50666" y="176736"/>
                </a:cubicBezTo>
                <a:lnTo>
                  <a:pt x="50666" y="101109"/>
                </a:lnTo>
                <a:cubicBezTo>
                  <a:pt x="50666" y="87157"/>
                  <a:pt x="61968" y="75782"/>
                  <a:pt x="75939" y="75782"/>
                </a:cubicBezTo>
                <a:cubicBezTo>
                  <a:pt x="89910" y="75782"/>
                  <a:pt x="101301" y="87157"/>
                  <a:pt x="101301" y="101109"/>
                </a:cubicBezTo>
                <a:lnTo>
                  <a:pt x="101301" y="115861"/>
                </a:lnTo>
                <a:lnTo>
                  <a:pt x="159322" y="57919"/>
                </a:lnTo>
                <a:cubicBezTo>
                  <a:pt x="164261" y="52987"/>
                  <a:pt x="170735" y="50521"/>
                  <a:pt x="177209" y="50521"/>
                </a:cubicBezTo>
                <a:close/>
                <a:moveTo>
                  <a:pt x="480892" y="0"/>
                </a:moveTo>
                <a:cubicBezTo>
                  <a:pt x="487122" y="0"/>
                  <a:pt x="494154" y="2666"/>
                  <a:pt x="498960" y="7376"/>
                </a:cubicBezTo>
                <a:lnTo>
                  <a:pt x="600162" y="108513"/>
                </a:lnTo>
                <a:cubicBezTo>
                  <a:pt x="604969" y="113312"/>
                  <a:pt x="607639" y="119800"/>
                  <a:pt x="607639" y="126554"/>
                </a:cubicBezTo>
                <a:cubicBezTo>
                  <a:pt x="607550" y="133309"/>
                  <a:pt x="604880" y="139708"/>
                  <a:pt x="599984" y="144507"/>
                </a:cubicBezTo>
                <a:lnTo>
                  <a:pt x="541417" y="201741"/>
                </a:lnTo>
                <a:cubicBezTo>
                  <a:pt x="562957" y="227425"/>
                  <a:pt x="561978" y="265640"/>
                  <a:pt x="537768" y="289724"/>
                </a:cubicBezTo>
                <a:lnTo>
                  <a:pt x="486499" y="340915"/>
                </a:lnTo>
                <a:cubicBezTo>
                  <a:pt x="485965" y="341537"/>
                  <a:pt x="485342" y="341715"/>
                  <a:pt x="484719" y="342159"/>
                </a:cubicBezTo>
                <a:cubicBezTo>
                  <a:pt x="483206" y="343403"/>
                  <a:pt x="481693" y="344470"/>
                  <a:pt x="480002" y="345270"/>
                </a:cubicBezTo>
                <a:cubicBezTo>
                  <a:pt x="478845" y="345892"/>
                  <a:pt x="477688" y="346425"/>
                  <a:pt x="476530" y="346869"/>
                </a:cubicBezTo>
                <a:cubicBezTo>
                  <a:pt x="474750" y="347403"/>
                  <a:pt x="472970" y="347669"/>
                  <a:pt x="471190" y="347847"/>
                </a:cubicBezTo>
                <a:cubicBezTo>
                  <a:pt x="470300" y="347936"/>
                  <a:pt x="469499" y="348380"/>
                  <a:pt x="468609" y="348380"/>
                </a:cubicBezTo>
                <a:cubicBezTo>
                  <a:pt x="468253" y="348380"/>
                  <a:pt x="467808" y="348114"/>
                  <a:pt x="467452" y="348114"/>
                </a:cubicBezTo>
                <a:cubicBezTo>
                  <a:pt x="465582" y="348025"/>
                  <a:pt x="463891" y="347580"/>
                  <a:pt x="462111" y="347047"/>
                </a:cubicBezTo>
                <a:cubicBezTo>
                  <a:pt x="460776" y="346692"/>
                  <a:pt x="459530" y="346514"/>
                  <a:pt x="458373" y="345981"/>
                </a:cubicBezTo>
                <a:cubicBezTo>
                  <a:pt x="458017" y="345892"/>
                  <a:pt x="457661" y="345892"/>
                  <a:pt x="457305" y="345714"/>
                </a:cubicBezTo>
                <a:lnTo>
                  <a:pt x="428911" y="331494"/>
                </a:lnTo>
                <a:cubicBezTo>
                  <a:pt x="421702" y="327940"/>
                  <a:pt x="412979" y="329273"/>
                  <a:pt x="407282" y="335049"/>
                </a:cubicBezTo>
                <a:lnTo>
                  <a:pt x="376308" y="365888"/>
                </a:lnTo>
                <a:cubicBezTo>
                  <a:pt x="367763" y="374509"/>
                  <a:pt x="356370" y="379219"/>
                  <a:pt x="344265" y="379219"/>
                </a:cubicBezTo>
                <a:cubicBezTo>
                  <a:pt x="332160" y="379219"/>
                  <a:pt x="320678" y="374509"/>
                  <a:pt x="312133" y="365888"/>
                </a:cubicBezTo>
                <a:lnTo>
                  <a:pt x="241194" y="295057"/>
                </a:lnTo>
                <a:cubicBezTo>
                  <a:pt x="223481" y="277371"/>
                  <a:pt x="223481" y="248576"/>
                  <a:pt x="241194" y="230891"/>
                </a:cubicBezTo>
                <a:lnTo>
                  <a:pt x="272079" y="200052"/>
                </a:lnTo>
                <a:cubicBezTo>
                  <a:pt x="277776" y="194364"/>
                  <a:pt x="279200" y="185655"/>
                  <a:pt x="275551" y="178456"/>
                </a:cubicBezTo>
                <a:lnTo>
                  <a:pt x="261398" y="150106"/>
                </a:lnTo>
                <a:cubicBezTo>
                  <a:pt x="261220" y="149750"/>
                  <a:pt x="261220" y="149395"/>
                  <a:pt x="261131" y="149039"/>
                </a:cubicBezTo>
                <a:cubicBezTo>
                  <a:pt x="260508" y="147884"/>
                  <a:pt x="260330" y="146640"/>
                  <a:pt x="260063" y="145307"/>
                </a:cubicBezTo>
                <a:cubicBezTo>
                  <a:pt x="259529" y="143529"/>
                  <a:pt x="259084" y="141841"/>
                  <a:pt x="258995" y="139974"/>
                </a:cubicBezTo>
                <a:cubicBezTo>
                  <a:pt x="258906" y="138730"/>
                  <a:pt x="259084" y="137486"/>
                  <a:pt x="259262" y="136242"/>
                </a:cubicBezTo>
                <a:cubicBezTo>
                  <a:pt x="259440" y="134375"/>
                  <a:pt x="259707" y="132687"/>
                  <a:pt x="260241" y="130909"/>
                </a:cubicBezTo>
                <a:cubicBezTo>
                  <a:pt x="260686" y="129754"/>
                  <a:pt x="261220" y="128599"/>
                  <a:pt x="261754" y="127443"/>
                </a:cubicBezTo>
                <a:cubicBezTo>
                  <a:pt x="262644" y="125755"/>
                  <a:pt x="263713" y="124155"/>
                  <a:pt x="264959" y="122733"/>
                </a:cubicBezTo>
                <a:cubicBezTo>
                  <a:pt x="265404" y="122111"/>
                  <a:pt x="265582" y="121400"/>
                  <a:pt x="266116" y="120955"/>
                </a:cubicBezTo>
                <a:lnTo>
                  <a:pt x="317384" y="69676"/>
                </a:lnTo>
                <a:cubicBezTo>
                  <a:pt x="341505" y="45592"/>
                  <a:pt x="379868" y="44525"/>
                  <a:pt x="405591" y="66121"/>
                </a:cubicBezTo>
                <a:lnTo>
                  <a:pt x="462912" y="7554"/>
                </a:lnTo>
                <a:cubicBezTo>
                  <a:pt x="467719" y="2755"/>
                  <a:pt x="474127" y="89"/>
                  <a:pt x="480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45" name="iṡļîḍé"/>
          <p:cNvSpPr/>
          <p:nvPr/>
        </p:nvSpPr>
        <p:spPr bwMode="auto">
          <a:xfrm>
            <a:off x="1957839" y="4408421"/>
            <a:ext cx="344710" cy="344189"/>
          </a:xfrm>
          <a:custGeom>
            <a:avLst/>
            <a:gdLst>
              <a:gd name="connsiteX0" fmla="*/ 257564 w 607639"/>
              <a:gd name="connsiteY0" fmla="*/ 92370 h 606722"/>
              <a:gd name="connsiteX1" fmla="*/ 277411 w 607639"/>
              <a:gd name="connsiteY1" fmla="*/ 112098 h 606722"/>
              <a:gd name="connsiteX2" fmla="*/ 277411 w 607639"/>
              <a:gd name="connsiteY2" fmla="*/ 329729 h 606722"/>
              <a:gd name="connsiteX3" fmla="*/ 495281 w 607639"/>
              <a:gd name="connsiteY3" fmla="*/ 329729 h 606722"/>
              <a:gd name="connsiteX4" fmla="*/ 515128 w 607639"/>
              <a:gd name="connsiteY4" fmla="*/ 349546 h 606722"/>
              <a:gd name="connsiteX5" fmla="*/ 257564 w 607639"/>
              <a:gd name="connsiteY5" fmla="*/ 606722 h 606722"/>
              <a:gd name="connsiteX6" fmla="*/ 0 w 607639"/>
              <a:gd name="connsiteY6" fmla="*/ 349546 h 606722"/>
              <a:gd name="connsiteX7" fmla="*/ 257564 w 607639"/>
              <a:gd name="connsiteY7" fmla="*/ 92370 h 606722"/>
              <a:gd name="connsiteX8" fmla="*/ 350027 w 607639"/>
              <a:gd name="connsiteY8" fmla="*/ 0 h 606722"/>
              <a:gd name="connsiteX9" fmla="*/ 607639 w 607639"/>
              <a:gd name="connsiteY9" fmla="*/ 257220 h 606722"/>
              <a:gd name="connsiteX10" fmla="*/ 587788 w 607639"/>
              <a:gd name="connsiteY10" fmla="*/ 277040 h 606722"/>
              <a:gd name="connsiteX11" fmla="*/ 350027 w 607639"/>
              <a:gd name="connsiteY11" fmla="*/ 277040 h 606722"/>
              <a:gd name="connsiteX12" fmla="*/ 330176 w 607639"/>
              <a:gd name="connsiteY12" fmla="*/ 257220 h 606722"/>
              <a:gd name="connsiteX13" fmla="*/ 330176 w 607639"/>
              <a:gd name="connsiteY13" fmla="*/ 19820 h 606722"/>
              <a:gd name="connsiteX14" fmla="*/ 350027 w 607639"/>
              <a:gd name="connsiteY1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7639" h="606722">
                <a:moveTo>
                  <a:pt x="257564" y="92370"/>
                </a:moveTo>
                <a:cubicBezTo>
                  <a:pt x="268511" y="92370"/>
                  <a:pt x="277411" y="101168"/>
                  <a:pt x="277411" y="112098"/>
                </a:cubicBezTo>
                <a:lnTo>
                  <a:pt x="277411" y="329729"/>
                </a:lnTo>
                <a:lnTo>
                  <a:pt x="495281" y="329729"/>
                </a:lnTo>
                <a:cubicBezTo>
                  <a:pt x="506228" y="329729"/>
                  <a:pt x="515128" y="338616"/>
                  <a:pt x="515128" y="349546"/>
                </a:cubicBezTo>
                <a:cubicBezTo>
                  <a:pt x="515128" y="491286"/>
                  <a:pt x="399607" y="606722"/>
                  <a:pt x="257564" y="606722"/>
                </a:cubicBezTo>
                <a:cubicBezTo>
                  <a:pt x="115521" y="606722"/>
                  <a:pt x="0" y="491286"/>
                  <a:pt x="0" y="349546"/>
                </a:cubicBezTo>
                <a:cubicBezTo>
                  <a:pt x="0" y="207717"/>
                  <a:pt x="115521" y="92370"/>
                  <a:pt x="257564" y="92370"/>
                </a:cubicBezTo>
                <a:close/>
                <a:moveTo>
                  <a:pt x="350027" y="0"/>
                </a:moveTo>
                <a:cubicBezTo>
                  <a:pt x="492007" y="0"/>
                  <a:pt x="607639" y="115367"/>
                  <a:pt x="607639" y="257220"/>
                </a:cubicBezTo>
                <a:cubicBezTo>
                  <a:pt x="607639" y="268152"/>
                  <a:pt x="598737" y="277040"/>
                  <a:pt x="587788" y="277040"/>
                </a:cubicBezTo>
                <a:lnTo>
                  <a:pt x="350027" y="277040"/>
                </a:lnTo>
                <a:cubicBezTo>
                  <a:pt x="339078" y="277040"/>
                  <a:pt x="330176" y="268152"/>
                  <a:pt x="330176" y="257220"/>
                </a:cubicBezTo>
                <a:lnTo>
                  <a:pt x="330176" y="19820"/>
                </a:lnTo>
                <a:cubicBezTo>
                  <a:pt x="330176" y="8888"/>
                  <a:pt x="339078" y="0"/>
                  <a:pt x="3500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48" name="ïslíḓé"/>
          <p:cNvSpPr/>
          <p:nvPr/>
        </p:nvSpPr>
        <p:spPr bwMode="auto">
          <a:xfrm>
            <a:off x="1952350" y="1524053"/>
            <a:ext cx="343455" cy="339662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51" name="ïṣľîḋê"/>
          <p:cNvSpPr/>
          <p:nvPr/>
        </p:nvSpPr>
        <p:spPr>
          <a:xfrm>
            <a:off x="2620701" y="1119722"/>
            <a:ext cx="8051950" cy="1271414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系统安全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认证技术、密码技术、访问控制技术、反病毒技术。</a:t>
            </a:r>
          </a:p>
        </p:txBody>
      </p:sp>
      <p:sp>
        <p:nvSpPr>
          <p:cNvPr id="53" name="îṧľïdè"/>
          <p:cNvSpPr/>
          <p:nvPr/>
        </p:nvSpPr>
        <p:spPr>
          <a:xfrm>
            <a:off x="3194495" y="2618549"/>
            <a:ext cx="6512240" cy="1066230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网络功能和服务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342900" indent="-342900">
              <a:lnSpc>
                <a:spcPct val="132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网络通信、资源管理、应用互操作。</a:t>
            </a:r>
          </a:p>
        </p:txBody>
      </p:sp>
      <p:sp>
        <p:nvSpPr>
          <p:cNvPr id="55" name="ïśļíde"/>
          <p:cNvSpPr/>
          <p:nvPr/>
        </p:nvSpPr>
        <p:spPr>
          <a:xfrm>
            <a:off x="2701536" y="4154243"/>
            <a:ext cx="7498158" cy="883466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支持多媒体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342900" indent="-342900">
              <a:lnSpc>
                <a:spcPct val="132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接纳控制技术、实时调度、多媒体文件的存储。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65910" y="1116965"/>
            <a:ext cx="5491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问题</a:t>
            </a:r>
            <a:r>
              <a:rPr lang="en-US" altLang="zh-CN" sz="2400"/>
              <a:t>1.</a:t>
            </a:r>
            <a:r>
              <a:rPr lang="zh-CN" altLang="en-US" sz="2400"/>
              <a:t>现代操作系统的五大功能？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5C"/>
                </a:solidFill>
                <a:latin typeface="+mj-ea"/>
                <a:ea typeface="+mj-ea"/>
              </a:rPr>
              <a:t>1.1 </a:t>
            </a:r>
            <a:r>
              <a:rPr lang="zh-CN" altLang="en-US" sz="2400" dirty="0">
                <a:solidFill>
                  <a:srgbClr val="00005C"/>
                </a:solidFill>
                <a:latin typeface="+mj-ea"/>
                <a:ea typeface="+mj-ea"/>
              </a:rPr>
              <a:t>操作系统的目标和作用</a:t>
            </a:r>
            <a:endParaRPr lang="en-US" altLang="zh-CN" sz="2400" dirty="0">
              <a:solidFill>
                <a:srgbClr val="00005C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1.2 </a:t>
            </a:r>
            <a:r>
              <a:rPr lang="zh-CN" altLang="en-US" sz="2400" dirty="0">
                <a:latin typeface="+mj-ea"/>
              </a:rPr>
              <a:t>操作系统的发展过程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1.3 </a:t>
            </a:r>
            <a:r>
              <a:rPr lang="zh-CN" altLang="en-US" sz="2400" dirty="0">
                <a:latin typeface="+mj-ea"/>
              </a:rPr>
              <a:t>操作系统的基本特征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1.4 </a:t>
            </a:r>
            <a:r>
              <a:rPr lang="zh-CN" altLang="en-US" sz="2400" dirty="0">
                <a:latin typeface="+mj-ea"/>
              </a:rPr>
              <a:t>操作系统的运行环境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1.5 </a:t>
            </a:r>
            <a:r>
              <a:rPr lang="zh-CN" altLang="en-US" sz="2400" dirty="0">
                <a:latin typeface="+mj-ea"/>
              </a:rPr>
              <a:t>操作系统的主要功能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1.6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操作系统的结构设计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25874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1.7 </a:t>
            </a:r>
            <a:r>
              <a:rPr lang="zh-CN" altLang="en-US" sz="2400" dirty="0">
                <a:latin typeface="+mj-ea"/>
              </a:rPr>
              <a:t>系统调用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2627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1</a:t>
            </a:r>
            <a:r>
              <a:rPr lang="zh-CN" altLang="en-US" sz="3600" dirty="0">
                <a:solidFill>
                  <a:srgbClr val="000000"/>
                </a:solidFill>
              </a:rPr>
              <a:t>章 操作系统引论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操作系统结构设计</a:t>
            </a:r>
          </a:p>
        </p:txBody>
      </p:sp>
      <p:sp>
        <p:nvSpPr>
          <p:cNvPr id="13" name="iṥḷîdé"/>
          <p:cNvSpPr/>
          <p:nvPr/>
        </p:nvSpPr>
        <p:spPr bwMode="auto">
          <a:xfrm rot="610268">
            <a:off x="4224180" y="3695598"/>
            <a:ext cx="1187744" cy="1497020"/>
          </a:xfrm>
          <a:prstGeom prst="rtTriangle">
            <a:avLst/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ïš1iďe"/>
          <p:cNvSpPr/>
          <p:nvPr/>
        </p:nvSpPr>
        <p:spPr bwMode="auto">
          <a:xfrm rot="16200000">
            <a:off x="1772352" y="1064207"/>
            <a:ext cx="1296144" cy="2052228"/>
          </a:xfrm>
          <a:prstGeom prst="triangle">
            <a:avLst/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ïṥliḋe"/>
          <p:cNvSpPr/>
          <p:nvPr/>
        </p:nvSpPr>
        <p:spPr bwMode="auto">
          <a:xfrm rot="3712223">
            <a:off x="855993" y="1330709"/>
            <a:ext cx="4066498" cy="4482407"/>
          </a:xfrm>
          <a:custGeom>
            <a:avLst/>
            <a:gdLst>
              <a:gd name="connsiteX0" fmla="*/ 0 w 4066498"/>
              <a:gd name="connsiteY0" fmla="*/ 2863075 h 4482407"/>
              <a:gd name="connsiteX1" fmla="*/ 1937533 w 4066498"/>
              <a:gd name="connsiteY1" fmla="*/ 0 h 4482407"/>
              <a:gd name="connsiteX2" fmla="*/ 4066498 w 4066498"/>
              <a:gd name="connsiteY2" fmla="*/ 1138176 h 4482407"/>
              <a:gd name="connsiteX3" fmla="*/ 3028971 w 4066498"/>
              <a:gd name="connsiteY3" fmla="*/ 4482407 h 4482407"/>
              <a:gd name="connsiteX4" fmla="*/ 0 w 4066498"/>
              <a:gd name="connsiteY4" fmla="*/ 2863075 h 448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66498" h="4482407">
                <a:moveTo>
                  <a:pt x="0" y="2863075"/>
                </a:moveTo>
                <a:lnTo>
                  <a:pt x="1937533" y="0"/>
                </a:lnTo>
                <a:lnTo>
                  <a:pt x="4066498" y="1138176"/>
                </a:lnTo>
                <a:lnTo>
                  <a:pt x="3028971" y="4482407"/>
                </a:lnTo>
                <a:lnTo>
                  <a:pt x="0" y="28630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íṧḷiḍe"/>
          <p:cNvSpPr/>
          <p:nvPr/>
        </p:nvSpPr>
        <p:spPr>
          <a:xfrm rot="10800000" flipV="1">
            <a:off x="1510436" y="3209926"/>
            <a:ext cx="2972566" cy="823924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algn="ctr"/>
            <a:r>
              <a:rPr lang="en-US" altLang="zh-CN" sz="2800" b="1" i="1" dirty="0"/>
              <a:t>/CONTENT/</a:t>
            </a:r>
          </a:p>
        </p:txBody>
      </p:sp>
      <p:sp>
        <p:nvSpPr>
          <p:cNvPr id="17" name="îşļïďè"/>
          <p:cNvSpPr/>
          <p:nvPr/>
        </p:nvSpPr>
        <p:spPr>
          <a:xfrm>
            <a:off x="5747289" y="4824638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05</a:t>
            </a:r>
          </a:p>
        </p:txBody>
      </p:sp>
      <p:sp>
        <p:nvSpPr>
          <p:cNvPr id="18" name="îšḷîḑé"/>
          <p:cNvSpPr txBox="1"/>
          <p:nvPr/>
        </p:nvSpPr>
        <p:spPr>
          <a:xfrm>
            <a:off x="7002468" y="5147923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外核结构</a:t>
            </a:r>
          </a:p>
        </p:txBody>
      </p:sp>
      <p:sp>
        <p:nvSpPr>
          <p:cNvPr id="21" name="işlíḋé"/>
          <p:cNvSpPr/>
          <p:nvPr/>
        </p:nvSpPr>
        <p:spPr>
          <a:xfrm>
            <a:off x="5752728" y="3946062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04</a:t>
            </a:r>
          </a:p>
        </p:txBody>
      </p:sp>
      <p:sp>
        <p:nvSpPr>
          <p:cNvPr id="22" name="iṥlïḋè"/>
          <p:cNvSpPr txBox="1"/>
          <p:nvPr/>
        </p:nvSpPr>
        <p:spPr>
          <a:xfrm>
            <a:off x="7002468" y="4269347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微内核结构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24" name="i$1îḑe"/>
          <p:cNvSpPr/>
          <p:nvPr/>
        </p:nvSpPr>
        <p:spPr>
          <a:xfrm>
            <a:off x="5752728" y="3067486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03</a:t>
            </a:r>
          </a:p>
        </p:txBody>
      </p:sp>
      <p:sp>
        <p:nvSpPr>
          <p:cNvPr id="25" name="í$1îḍe"/>
          <p:cNvSpPr txBox="1"/>
          <p:nvPr/>
        </p:nvSpPr>
        <p:spPr>
          <a:xfrm>
            <a:off x="7002468" y="3390771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模块化结构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27" name="ïSļïḓè"/>
          <p:cNvSpPr/>
          <p:nvPr/>
        </p:nvSpPr>
        <p:spPr>
          <a:xfrm>
            <a:off x="5752728" y="2188910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28" name="iŝļíďè"/>
          <p:cNvSpPr txBox="1"/>
          <p:nvPr/>
        </p:nvSpPr>
        <p:spPr>
          <a:xfrm>
            <a:off x="7002468" y="2512195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模块化结构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30" name="ïśľiďe"/>
          <p:cNvSpPr/>
          <p:nvPr/>
        </p:nvSpPr>
        <p:spPr>
          <a:xfrm>
            <a:off x="5752730" y="1310334"/>
            <a:ext cx="1113511" cy="111351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31" name="îṡ1ide"/>
          <p:cNvSpPr txBox="1"/>
          <p:nvPr/>
        </p:nvSpPr>
        <p:spPr>
          <a:xfrm>
            <a:off x="7002468" y="1633619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简单结构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860799" y="2216515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860799" y="31046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6860799" y="399996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6860799" y="48953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简单结构</a:t>
            </a:r>
          </a:p>
        </p:txBody>
      </p: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0" t="757" r="11531" b="757"/>
          <a:stretch>
            <a:fillRect/>
          </a:stretch>
        </p:blipFill>
        <p:spPr bwMode="auto">
          <a:xfrm>
            <a:off x="6471453" y="1133931"/>
            <a:ext cx="5156200" cy="4962525"/>
          </a:xfrm>
          <a:prstGeom prst="rect">
            <a:avLst/>
          </a:prstGeom>
          <a:noFill/>
          <a:ln w="38100" cmpd="dbl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îśḻiďé"/>
          <p:cNvSpPr/>
          <p:nvPr/>
        </p:nvSpPr>
        <p:spPr bwMode="auto">
          <a:xfrm>
            <a:off x="829034" y="1750193"/>
            <a:ext cx="846430" cy="8464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29" name="išľiďe"/>
          <p:cNvSpPr/>
          <p:nvPr/>
        </p:nvSpPr>
        <p:spPr bwMode="auto">
          <a:xfrm>
            <a:off x="829034" y="3191980"/>
            <a:ext cx="847397" cy="84643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32" name="íśľîḋé"/>
          <p:cNvSpPr/>
          <p:nvPr/>
        </p:nvSpPr>
        <p:spPr bwMode="auto">
          <a:xfrm>
            <a:off x="829034" y="4636341"/>
            <a:ext cx="846430" cy="8473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37" name="ïṡḷidè"/>
          <p:cNvSpPr/>
          <p:nvPr/>
        </p:nvSpPr>
        <p:spPr bwMode="auto">
          <a:xfrm>
            <a:off x="1061275" y="3459093"/>
            <a:ext cx="344710" cy="344189"/>
          </a:xfrm>
          <a:custGeom>
            <a:avLst/>
            <a:gdLst>
              <a:gd name="connsiteX0" fmla="*/ 106370 w 607639"/>
              <a:gd name="connsiteY0" fmla="*/ 436610 h 606722"/>
              <a:gd name="connsiteX1" fmla="*/ 61329 w 607639"/>
              <a:gd name="connsiteY1" fmla="*/ 480515 h 606722"/>
              <a:gd name="connsiteX2" fmla="*/ 126397 w 607639"/>
              <a:gd name="connsiteY2" fmla="*/ 545485 h 606722"/>
              <a:gd name="connsiteX3" fmla="*/ 170369 w 607639"/>
              <a:gd name="connsiteY3" fmla="*/ 500513 h 606722"/>
              <a:gd name="connsiteX4" fmla="*/ 455714 w 607639"/>
              <a:gd name="connsiteY4" fmla="*/ 404481 h 606722"/>
              <a:gd name="connsiteX5" fmla="*/ 531614 w 607639"/>
              <a:gd name="connsiteY5" fmla="*/ 404481 h 606722"/>
              <a:gd name="connsiteX6" fmla="*/ 531703 w 607639"/>
              <a:gd name="connsiteY6" fmla="*/ 404481 h 606722"/>
              <a:gd name="connsiteX7" fmla="*/ 531792 w 607639"/>
              <a:gd name="connsiteY7" fmla="*/ 404481 h 606722"/>
              <a:gd name="connsiteX8" fmla="*/ 548075 w 607639"/>
              <a:gd name="connsiteY8" fmla="*/ 410525 h 606722"/>
              <a:gd name="connsiteX9" fmla="*/ 551456 w 607639"/>
              <a:gd name="connsiteY9" fmla="*/ 413991 h 606722"/>
              <a:gd name="connsiteX10" fmla="*/ 556973 w 607639"/>
              <a:gd name="connsiteY10" fmla="*/ 429012 h 606722"/>
              <a:gd name="connsiteX11" fmla="*/ 556973 w 607639"/>
              <a:gd name="connsiteY11" fmla="*/ 429811 h 606722"/>
              <a:gd name="connsiteX12" fmla="*/ 556973 w 607639"/>
              <a:gd name="connsiteY12" fmla="*/ 505625 h 606722"/>
              <a:gd name="connsiteX13" fmla="*/ 531614 w 607639"/>
              <a:gd name="connsiteY13" fmla="*/ 530867 h 606722"/>
              <a:gd name="connsiteX14" fmla="*/ 506343 w 607639"/>
              <a:gd name="connsiteY14" fmla="*/ 505625 h 606722"/>
              <a:gd name="connsiteX15" fmla="*/ 476001 w 607639"/>
              <a:gd name="connsiteY15" fmla="*/ 546065 h 606722"/>
              <a:gd name="connsiteX16" fmla="*/ 455714 w 607639"/>
              <a:gd name="connsiteY16" fmla="*/ 556197 h 606722"/>
              <a:gd name="connsiteX17" fmla="*/ 440498 w 607639"/>
              <a:gd name="connsiteY17" fmla="*/ 551131 h 606722"/>
              <a:gd name="connsiteX18" fmla="*/ 435515 w 607639"/>
              <a:gd name="connsiteY18" fmla="*/ 515757 h 606722"/>
              <a:gd name="connsiteX19" fmla="*/ 481073 w 607639"/>
              <a:gd name="connsiteY19" fmla="*/ 455053 h 606722"/>
              <a:gd name="connsiteX20" fmla="*/ 455714 w 607639"/>
              <a:gd name="connsiteY20" fmla="*/ 455053 h 606722"/>
              <a:gd name="connsiteX21" fmla="*/ 430443 w 607639"/>
              <a:gd name="connsiteY21" fmla="*/ 429811 h 606722"/>
              <a:gd name="connsiteX22" fmla="*/ 455714 w 607639"/>
              <a:gd name="connsiteY22" fmla="*/ 404481 h 606722"/>
              <a:gd name="connsiteX23" fmla="*/ 157786 w 607639"/>
              <a:gd name="connsiteY23" fmla="*/ 282117 h 606722"/>
              <a:gd name="connsiteX24" fmla="*/ 175710 w 607639"/>
              <a:gd name="connsiteY24" fmla="*/ 289516 h 606722"/>
              <a:gd name="connsiteX25" fmla="*/ 317685 w 607639"/>
              <a:gd name="connsiteY25" fmla="*/ 431277 h 606722"/>
              <a:gd name="connsiteX26" fmla="*/ 317685 w 607639"/>
              <a:gd name="connsiteY26" fmla="*/ 467006 h 606722"/>
              <a:gd name="connsiteX27" fmla="*/ 245229 w 607639"/>
              <a:gd name="connsiteY27" fmla="*/ 539441 h 606722"/>
              <a:gd name="connsiteX28" fmla="*/ 227248 w 607639"/>
              <a:gd name="connsiteY28" fmla="*/ 546818 h 606722"/>
              <a:gd name="connsiteX29" fmla="*/ 209357 w 607639"/>
              <a:gd name="connsiteY29" fmla="*/ 539441 h 606722"/>
              <a:gd name="connsiteX30" fmla="*/ 206241 w 607639"/>
              <a:gd name="connsiteY30" fmla="*/ 536242 h 606722"/>
              <a:gd name="connsiteX31" fmla="*/ 144734 w 607639"/>
              <a:gd name="connsiteY31" fmla="*/ 599079 h 606722"/>
              <a:gd name="connsiteX32" fmla="*/ 126753 w 607639"/>
              <a:gd name="connsiteY32" fmla="*/ 606722 h 606722"/>
              <a:gd name="connsiteX33" fmla="*/ 126575 w 607639"/>
              <a:gd name="connsiteY33" fmla="*/ 606722 h 606722"/>
              <a:gd name="connsiteX34" fmla="*/ 108684 w 607639"/>
              <a:gd name="connsiteY34" fmla="*/ 599256 h 606722"/>
              <a:gd name="connsiteX35" fmla="*/ 7388 w 607639"/>
              <a:gd name="connsiteY35" fmla="*/ 498113 h 606722"/>
              <a:gd name="connsiteX36" fmla="*/ 0 w 607639"/>
              <a:gd name="connsiteY36" fmla="*/ 480160 h 606722"/>
              <a:gd name="connsiteX37" fmla="*/ 7655 w 607639"/>
              <a:gd name="connsiteY37" fmla="*/ 462206 h 606722"/>
              <a:gd name="connsiteX38" fmla="*/ 70587 w 607639"/>
              <a:gd name="connsiteY38" fmla="*/ 400792 h 606722"/>
              <a:gd name="connsiteX39" fmla="*/ 67382 w 607639"/>
              <a:gd name="connsiteY39" fmla="*/ 397681 h 606722"/>
              <a:gd name="connsiteX40" fmla="*/ 59994 w 607639"/>
              <a:gd name="connsiteY40" fmla="*/ 379728 h 606722"/>
              <a:gd name="connsiteX41" fmla="*/ 67382 w 607639"/>
              <a:gd name="connsiteY41" fmla="*/ 361863 h 606722"/>
              <a:gd name="connsiteX42" fmla="*/ 139927 w 607639"/>
              <a:gd name="connsiteY42" fmla="*/ 289516 h 606722"/>
              <a:gd name="connsiteX43" fmla="*/ 157786 w 607639"/>
              <a:gd name="connsiteY43" fmla="*/ 282117 h 606722"/>
              <a:gd name="connsiteX44" fmla="*/ 363724 w 607639"/>
              <a:gd name="connsiteY44" fmla="*/ 101159 h 606722"/>
              <a:gd name="connsiteX45" fmla="*/ 353254 w 607639"/>
              <a:gd name="connsiteY45" fmla="*/ 105492 h 606722"/>
              <a:gd name="connsiteX46" fmla="*/ 320945 w 607639"/>
              <a:gd name="connsiteY46" fmla="*/ 137752 h 606722"/>
              <a:gd name="connsiteX47" fmla="*/ 323793 w 607639"/>
              <a:gd name="connsiteY47" fmla="*/ 139974 h 606722"/>
              <a:gd name="connsiteX48" fmla="*/ 335898 w 607639"/>
              <a:gd name="connsiteY48" fmla="*/ 148417 h 606722"/>
              <a:gd name="connsiteX49" fmla="*/ 341149 w 607639"/>
              <a:gd name="connsiteY49" fmla="*/ 151794 h 606722"/>
              <a:gd name="connsiteX50" fmla="*/ 359930 w 607639"/>
              <a:gd name="connsiteY50" fmla="*/ 162459 h 606722"/>
              <a:gd name="connsiteX51" fmla="*/ 408439 w 607639"/>
              <a:gd name="connsiteY51" fmla="*/ 198897 h 606722"/>
              <a:gd name="connsiteX52" fmla="*/ 444933 w 607639"/>
              <a:gd name="connsiteY52" fmla="*/ 247243 h 606722"/>
              <a:gd name="connsiteX53" fmla="*/ 455614 w 607639"/>
              <a:gd name="connsiteY53" fmla="*/ 266084 h 606722"/>
              <a:gd name="connsiteX54" fmla="*/ 458907 w 607639"/>
              <a:gd name="connsiteY54" fmla="*/ 271239 h 606722"/>
              <a:gd name="connsiteX55" fmla="*/ 467452 w 607639"/>
              <a:gd name="connsiteY55" fmla="*/ 283326 h 606722"/>
              <a:gd name="connsiteX56" fmla="*/ 469677 w 607639"/>
              <a:gd name="connsiteY56" fmla="*/ 286258 h 606722"/>
              <a:gd name="connsiteX57" fmla="*/ 501987 w 607639"/>
              <a:gd name="connsiteY57" fmla="*/ 253998 h 606722"/>
              <a:gd name="connsiteX58" fmla="*/ 501987 w 607639"/>
              <a:gd name="connsiteY58" fmla="*/ 233024 h 606722"/>
              <a:gd name="connsiteX59" fmla="*/ 374260 w 607639"/>
              <a:gd name="connsiteY59" fmla="*/ 105492 h 606722"/>
              <a:gd name="connsiteX60" fmla="*/ 363724 w 607639"/>
              <a:gd name="connsiteY60" fmla="*/ 101159 h 606722"/>
              <a:gd name="connsiteX61" fmla="*/ 177209 w 607639"/>
              <a:gd name="connsiteY61" fmla="*/ 50521 h 606722"/>
              <a:gd name="connsiteX62" fmla="*/ 195096 w 607639"/>
              <a:gd name="connsiteY62" fmla="*/ 57919 h 606722"/>
              <a:gd name="connsiteX63" fmla="*/ 195096 w 607639"/>
              <a:gd name="connsiteY63" fmla="*/ 93644 h 606722"/>
              <a:gd name="connsiteX64" fmla="*/ 137075 w 607639"/>
              <a:gd name="connsiteY64" fmla="*/ 151675 h 606722"/>
              <a:gd name="connsiteX65" fmla="*/ 151936 w 607639"/>
              <a:gd name="connsiteY65" fmla="*/ 151675 h 606722"/>
              <a:gd name="connsiteX66" fmla="*/ 177209 w 607639"/>
              <a:gd name="connsiteY66" fmla="*/ 176914 h 606722"/>
              <a:gd name="connsiteX67" fmla="*/ 151936 w 607639"/>
              <a:gd name="connsiteY67" fmla="*/ 202241 h 606722"/>
              <a:gd name="connsiteX68" fmla="*/ 75939 w 607639"/>
              <a:gd name="connsiteY68" fmla="*/ 202241 h 606722"/>
              <a:gd name="connsiteX69" fmla="*/ 59387 w 607639"/>
              <a:gd name="connsiteY69" fmla="*/ 196020 h 606722"/>
              <a:gd name="connsiteX70" fmla="*/ 55916 w 607639"/>
              <a:gd name="connsiteY70" fmla="*/ 192288 h 606722"/>
              <a:gd name="connsiteX71" fmla="*/ 50755 w 607639"/>
              <a:gd name="connsiteY71" fmla="*/ 178691 h 606722"/>
              <a:gd name="connsiteX72" fmla="*/ 50666 w 607639"/>
              <a:gd name="connsiteY72" fmla="*/ 176736 h 606722"/>
              <a:gd name="connsiteX73" fmla="*/ 50666 w 607639"/>
              <a:gd name="connsiteY73" fmla="*/ 101109 h 606722"/>
              <a:gd name="connsiteX74" fmla="*/ 75939 w 607639"/>
              <a:gd name="connsiteY74" fmla="*/ 75782 h 606722"/>
              <a:gd name="connsiteX75" fmla="*/ 101301 w 607639"/>
              <a:gd name="connsiteY75" fmla="*/ 101109 h 606722"/>
              <a:gd name="connsiteX76" fmla="*/ 101301 w 607639"/>
              <a:gd name="connsiteY76" fmla="*/ 115861 h 606722"/>
              <a:gd name="connsiteX77" fmla="*/ 159322 w 607639"/>
              <a:gd name="connsiteY77" fmla="*/ 57919 h 606722"/>
              <a:gd name="connsiteX78" fmla="*/ 177209 w 607639"/>
              <a:gd name="connsiteY78" fmla="*/ 50521 h 606722"/>
              <a:gd name="connsiteX79" fmla="*/ 480892 w 607639"/>
              <a:gd name="connsiteY79" fmla="*/ 0 h 606722"/>
              <a:gd name="connsiteX80" fmla="*/ 498960 w 607639"/>
              <a:gd name="connsiteY80" fmla="*/ 7376 h 606722"/>
              <a:gd name="connsiteX81" fmla="*/ 600162 w 607639"/>
              <a:gd name="connsiteY81" fmla="*/ 108513 h 606722"/>
              <a:gd name="connsiteX82" fmla="*/ 607639 w 607639"/>
              <a:gd name="connsiteY82" fmla="*/ 126554 h 606722"/>
              <a:gd name="connsiteX83" fmla="*/ 599984 w 607639"/>
              <a:gd name="connsiteY83" fmla="*/ 144507 h 606722"/>
              <a:gd name="connsiteX84" fmla="*/ 541417 w 607639"/>
              <a:gd name="connsiteY84" fmla="*/ 201741 h 606722"/>
              <a:gd name="connsiteX85" fmla="*/ 537768 w 607639"/>
              <a:gd name="connsiteY85" fmla="*/ 289724 h 606722"/>
              <a:gd name="connsiteX86" fmla="*/ 486499 w 607639"/>
              <a:gd name="connsiteY86" fmla="*/ 340915 h 606722"/>
              <a:gd name="connsiteX87" fmla="*/ 484719 w 607639"/>
              <a:gd name="connsiteY87" fmla="*/ 342159 h 606722"/>
              <a:gd name="connsiteX88" fmla="*/ 480002 w 607639"/>
              <a:gd name="connsiteY88" fmla="*/ 345270 h 606722"/>
              <a:gd name="connsiteX89" fmla="*/ 476530 w 607639"/>
              <a:gd name="connsiteY89" fmla="*/ 346869 h 606722"/>
              <a:gd name="connsiteX90" fmla="*/ 471190 w 607639"/>
              <a:gd name="connsiteY90" fmla="*/ 347847 h 606722"/>
              <a:gd name="connsiteX91" fmla="*/ 468609 w 607639"/>
              <a:gd name="connsiteY91" fmla="*/ 348380 h 606722"/>
              <a:gd name="connsiteX92" fmla="*/ 467452 w 607639"/>
              <a:gd name="connsiteY92" fmla="*/ 348114 h 606722"/>
              <a:gd name="connsiteX93" fmla="*/ 462111 w 607639"/>
              <a:gd name="connsiteY93" fmla="*/ 347047 h 606722"/>
              <a:gd name="connsiteX94" fmla="*/ 458373 w 607639"/>
              <a:gd name="connsiteY94" fmla="*/ 345981 h 606722"/>
              <a:gd name="connsiteX95" fmla="*/ 457305 w 607639"/>
              <a:gd name="connsiteY95" fmla="*/ 345714 h 606722"/>
              <a:gd name="connsiteX96" fmla="*/ 428911 w 607639"/>
              <a:gd name="connsiteY96" fmla="*/ 331494 h 606722"/>
              <a:gd name="connsiteX97" fmla="*/ 407282 w 607639"/>
              <a:gd name="connsiteY97" fmla="*/ 335049 h 606722"/>
              <a:gd name="connsiteX98" fmla="*/ 376308 w 607639"/>
              <a:gd name="connsiteY98" fmla="*/ 365888 h 606722"/>
              <a:gd name="connsiteX99" fmla="*/ 344265 w 607639"/>
              <a:gd name="connsiteY99" fmla="*/ 379219 h 606722"/>
              <a:gd name="connsiteX100" fmla="*/ 312133 w 607639"/>
              <a:gd name="connsiteY100" fmla="*/ 365888 h 606722"/>
              <a:gd name="connsiteX101" fmla="*/ 241194 w 607639"/>
              <a:gd name="connsiteY101" fmla="*/ 295057 h 606722"/>
              <a:gd name="connsiteX102" fmla="*/ 241194 w 607639"/>
              <a:gd name="connsiteY102" fmla="*/ 230891 h 606722"/>
              <a:gd name="connsiteX103" fmla="*/ 272079 w 607639"/>
              <a:gd name="connsiteY103" fmla="*/ 200052 h 606722"/>
              <a:gd name="connsiteX104" fmla="*/ 275551 w 607639"/>
              <a:gd name="connsiteY104" fmla="*/ 178456 h 606722"/>
              <a:gd name="connsiteX105" fmla="*/ 261398 w 607639"/>
              <a:gd name="connsiteY105" fmla="*/ 150106 h 606722"/>
              <a:gd name="connsiteX106" fmla="*/ 261131 w 607639"/>
              <a:gd name="connsiteY106" fmla="*/ 149039 h 606722"/>
              <a:gd name="connsiteX107" fmla="*/ 260063 w 607639"/>
              <a:gd name="connsiteY107" fmla="*/ 145307 h 606722"/>
              <a:gd name="connsiteX108" fmla="*/ 258995 w 607639"/>
              <a:gd name="connsiteY108" fmla="*/ 139974 h 606722"/>
              <a:gd name="connsiteX109" fmla="*/ 259262 w 607639"/>
              <a:gd name="connsiteY109" fmla="*/ 136242 h 606722"/>
              <a:gd name="connsiteX110" fmla="*/ 260241 w 607639"/>
              <a:gd name="connsiteY110" fmla="*/ 130909 h 606722"/>
              <a:gd name="connsiteX111" fmla="*/ 261754 w 607639"/>
              <a:gd name="connsiteY111" fmla="*/ 127443 h 606722"/>
              <a:gd name="connsiteX112" fmla="*/ 264959 w 607639"/>
              <a:gd name="connsiteY112" fmla="*/ 122733 h 606722"/>
              <a:gd name="connsiteX113" fmla="*/ 266116 w 607639"/>
              <a:gd name="connsiteY113" fmla="*/ 120955 h 606722"/>
              <a:gd name="connsiteX114" fmla="*/ 317384 w 607639"/>
              <a:gd name="connsiteY114" fmla="*/ 69676 h 606722"/>
              <a:gd name="connsiteX115" fmla="*/ 405591 w 607639"/>
              <a:gd name="connsiteY115" fmla="*/ 66121 h 606722"/>
              <a:gd name="connsiteX116" fmla="*/ 462912 w 607639"/>
              <a:gd name="connsiteY116" fmla="*/ 7554 h 606722"/>
              <a:gd name="connsiteX117" fmla="*/ 480892 w 607639"/>
              <a:gd name="connsiteY11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607639" h="606722">
                <a:moveTo>
                  <a:pt x="106370" y="436610"/>
                </a:moveTo>
                <a:lnTo>
                  <a:pt x="61329" y="480515"/>
                </a:lnTo>
                <a:lnTo>
                  <a:pt x="126397" y="545485"/>
                </a:lnTo>
                <a:lnTo>
                  <a:pt x="170369" y="500513"/>
                </a:lnTo>
                <a:close/>
                <a:moveTo>
                  <a:pt x="455714" y="404481"/>
                </a:moveTo>
                <a:lnTo>
                  <a:pt x="531614" y="404481"/>
                </a:lnTo>
                <a:lnTo>
                  <a:pt x="531703" y="404481"/>
                </a:lnTo>
                <a:lnTo>
                  <a:pt x="531792" y="404481"/>
                </a:lnTo>
                <a:cubicBezTo>
                  <a:pt x="538020" y="404481"/>
                  <a:pt x="543715" y="406792"/>
                  <a:pt x="548075" y="410525"/>
                </a:cubicBezTo>
                <a:cubicBezTo>
                  <a:pt x="549321" y="411591"/>
                  <a:pt x="550388" y="412747"/>
                  <a:pt x="551456" y="413991"/>
                </a:cubicBezTo>
                <a:cubicBezTo>
                  <a:pt x="554748" y="418079"/>
                  <a:pt x="556795" y="423323"/>
                  <a:pt x="556973" y="429012"/>
                </a:cubicBezTo>
                <a:cubicBezTo>
                  <a:pt x="556973" y="429278"/>
                  <a:pt x="556973" y="429545"/>
                  <a:pt x="556973" y="429811"/>
                </a:cubicBezTo>
                <a:lnTo>
                  <a:pt x="556973" y="505625"/>
                </a:lnTo>
                <a:cubicBezTo>
                  <a:pt x="556973" y="519579"/>
                  <a:pt x="545673" y="530867"/>
                  <a:pt x="531614" y="530867"/>
                </a:cubicBezTo>
                <a:cubicBezTo>
                  <a:pt x="517644" y="530867"/>
                  <a:pt x="506343" y="519579"/>
                  <a:pt x="506343" y="505625"/>
                </a:cubicBezTo>
                <a:lnTo>
                  <a:pt x="476001" y="546065"/>
                </a:lnTo>
                <a:cubicBezTo>
                  <a:pt x="471018" y="552731"/>
                  <a:pt x="463366" y="556197"/>
                  <a:pt x="455714" y="556197"/>
                </a:cubicBezTo>
                <a:cubicBezTo>
                  <a:pt x="450375" y="556197"/>
                  <a:pt x="445125" y="554508"/>
                  <a:pt x="440498" y="551131"/>
                </a:cubicBezTo>
                <a:cubicBezTo>
                  <a:pt x="429375" y="542776"/>
                  <a:pt x="427062" y="526867"/>
                  <a:pt x="435515" y="515757"/>
                </a:cubicBezTo>
                <a:lnTo>
                  <a:pt x="481073" y="455053"/>
                </a:lnTo>
                <a:lnTo>
                  <a:pt x="455714" y="455053"/>
                </a:lnTo>
                <a:cubicBezTo>
                  <a:pt x="441744" y="455053"/>
                  <a:pt x="430443" y="443765"/>
                  <a:pt x="430443" y="429811"/>
                </a:cubicBezTo>
                <a:cubicBezTo>
                  <a:pt x="430443" y="415857"/>
                  <a:pt x="441744" y="404481"/>
                  <a:pt x="455714" y="404481"/>
                </a:cubicBezTo>
                <a:close/>
                <a:moveTo>
                  <a:pt x="157786" y="282117"/>
                </a:moveTo>
                <a:cubicBezTo>
                  <a:pt x="164272" y="282117"/>
                  <a:pt x="170770" y="284584"/>
                  <a:pt x="175710" y="289516"/>
                </a:cubicBezTo>
                <a:lnTo>
                  <a:pt x="317685" y="431277"/>
                </a:lnTo>
                <a:cubicBezTo>
                  <a:pt x="327565" y="441142"/>
                  <a:pt x="327565" y="457140"/>
                  <a:pt x="317685" y="467006"/>
                </a:cubicBezTo>
                <a:lnTo>
                  <a:pt x="245229" y="539441"/>
                </a:lnTo>
                <a:cubicBezTo>
                  <a:pt x="240422" y="544152"/>
                  <a:pt x="234013" y="546818"/>
                  <a:pt x="227248" y="546818"/>
                </a:cubicBezTo>
                <a:cubicBezTo>
                  <a:pt x="220572" y="546818"/>
                  <a:pt x="214163" y="544152"/>
                  <a:pt x="209357" y="539441"/>
                </a:cubicBezTo>
                <a:lnTo>
                  <a:pt x="206241" y="536242"/>
                </a:lnTo>
                <a:lnTo>
                  <a:pt x="144734" y="599079"/>
                </a:lnTo>
                <a:cubicBezTo>
                  <a:pt x="140016" y="603967"/>
                  <a:pt x="133518" y="606633"/>
                  <a:pt x="126753" y="606722"/>
                </a:cubicBezTo>
                <a:lnTo>
                  <a:pt x="126575" y="606722"/>
                </a:lnTo>
                <a:cubicBezTo>
                  <a:pt x="119899" y="606722"/>
                  <a:pt x="113491" y="604056"/>
                  <a:pt x="108684" y="599256"/>
                </a:cubicBezTo>
                <a:lnTo>
                  <a:pt x="7388" y="498113"/>
                </a:lnTo>
                <a:cubicBezTo>
                  <a:pt x="2670" y="493403"/>
                  <a:pt x="0" y="486914"/>
                  <a:pt x="0" y="480160"/>
                </a:cubicBezTo>
                <a:cubicBezTo>
                  <a:pt x="89" y="473405"/>
                  <a:pt x="2759" y="466917"/>
                  <a:pt x="7655" y="462206"/>
                </a:cubicBezTo>
                <a:lnTo>
                  <a:pt x="70587" y="400792"/>
                </a:lnTo>
                <a:lnTo>
                  <a:pt x="67382" y="397681"/>
                </a:lnTo>
                <a:cubicBezTo>
                  <a:pt x="62665" y="392882"/>
                  <a:pt x="59994" y="386482"/>
                  <a:pt x="59994" y="379728"/>
                </a:cubicBezTo>
                <a:cubicBezTo>
                  <a:pt x="59994" y="373062"/>
                  <a:pt x="62665" y="366663"/>
                  <a:pt x="67382" y="361863"/>
                </a:cubicBezTo>
                <a:lnTo>
                  <a:pt x="139927" y="289516"/>
                </a:lnTo>
                <a:cubicBezTo>
                  <a:pt x="144823" y="284584"/>
                  <a:pt x="151299" y="282117"/>
                  <a:pt x="157786" y="282117"/>
                </a:cubicBezTo>
                <a:close/>
                <a:moveTo>
                  <a:pt x="363724" y="101159"/>
                </a:moveTo>
                <a:cubicBezTo>
                  <a:pt x="359930" y="101159"/>
                  <a:pt x="356147" y="102604"/>
                  <a:pt x="353254" y="105492"/>
                </a:cubicBezTo>
                <a:lnTo>
                  <a:pt x="320945" y="137752"/>
                </a:lnTo>
                <a:cubicBezTo>
                  <a:pt x="321835" y="138463"/>
                  <a:pt x="322814" y="139174"/>
                  <a:pt x="323793" y="139974"/>
                </a:cubicBezTo>
                <a:cubicBezTo>
                  <a:pt x="327709" y="142818"/>
                  <a:pt x="331715" y="145662"/>
                  <a:pt x="335898" y="148417"/>
                </a:cubicBezTo>
                <a:cubicBezTo>
                  <a:pt x="337678" y="149572"/>
                  <a:pt x="339369" y="150728"/>
                  <a:pt x="341149" y="151794"/>
                </a:cubicBezTo>
                <a:cubicBezTo>
                  <a:pt x="347113" y="155527"/>
                  <a:pt x="353254" y="159082"/>
                  <a:pt x="359930" y="162459"/>
                </a:cubicBezTo>
                <a:cubicBezTo>
                  <a:pt x="376040" y="170724"/>
                  <a:pt x="392863" y="183344"/>
                  <a:pt x="408439" y="198897"/>
                </a:cubicBezTo>
                <a:cubicBezTo>
                  <a:pt x="424016" y="214449"/>
                  <a:pt x="436655" y="231246"/>
                  <a:pt x="444933" y="247243"/>
                </a:cubicBezTo>
                <a:cubicBezTo>
                  <a:pt x="448315" y="253998"/>
                  <a:pt x="451875" y="260130"/>
                  <a:pt x="455614" y="266084"/>
                </a:cubicBezTo>
                <a:cubicBezTo>
                  <a:pt x="456682" y="267862"/>
                  <a:pt x="457839" y="269550"/>
                  <a:pt x="458907" y="271239"/>
                </a:cubicBezTo>
                <a:cubicBezTo>
                  <a:pt x="461666" y="275416"/>
                  <a:pt x="464514" y="279504"/>
                  <a:pt x="467452" y="283326"/>
                </a:cubicBezTo>
                <a:cubicBezTo>
                  <a:pt x="468164" y="284303"/>
                  <a:pt x="468876" y="285281"/>
                  <a:pt x="469677" y="286258"/>
                </a:cubicBezTo>
                <a:lnTo>
                  <a:pt x="501987" y="253998"/>
                </a:lnTo>
                <a:cubicBezTo>
                  <a:pt x="507772" y="248221"/>
                  <a:pt x="507772" y="238800"/>
                  <a:pt x="501987" y="233024"/>
                </a:cubicBezTo>
                <a:lnTo>
                  <a:pt x="374260" y="105492"/>
                </a:lnTo>
                <a:cubicBezTo>
                  <a:pt x="371323" y="102604"/>
                  <a:pt x="367518" y="101159"/>
                  <a:pt x="363724" y="101159"/>
                </a:cubicBezTo>
                <a:close/>
                <a:moveTo>
                  <a:pt x="177209" y="50521"/>
                </a:moveTo>
                <a:cubicBezTo>
                  <a:pt x="183683" y="50521"/>
                  <a:pt x="190157" y="52987"/>
                  <a:pt x="195096" y="57919"/>
                </a:cubicBezTo>
                <a:cubicBezTo>
                  <a:pt x="205063" y="67784"/>
                  <a:pt x="205063" y="83869"/>
                  <a:pt x="195096" y="93644"/>
                </a:cubicBezTo>
                <a:lnTo>
                  <a:pt x="137075" y="151675"/>
                </a:lnTo>
                <a:lnTo>
                  <a:pt x="151936" y="151675"/>
                </a:lnTo>
                <a:cubicBezTo>
                  <a:pt x="165908" y="151675"/>
                  <a:pt x="177209" y="162961"/>
                  <a:pt x="177209" y="176914"/>
                </a:cubicBezTo>
                <a:cubicBezTo>
                  <a:pt x="177209" y="190866"/>
                  <a:pt x="165908" y="202241"/>
                  <a:pt x="151936" y="202241"/>
                </a:cubicBezTo>
                <a:lnTo>
                  <a:pt x="75939" y="202241"/>
                </a:lnTo>
                <a:cubicBezTo>
                  <a:pt x="69621" y="202241"/>
                  <a:pt x="63836" y="199842"/>
                  <a:pt x="59387" y="196020"/>
                </a:cubicBezTo>
                <a:cubicBezTo>
                  <a:pt x="58141" y="194954"/>
                  <a:pt x="56984" y="193710"/>
                  <a:pt x="55916" y="192288"/>
                </a:cubicBezTo>
                <a:cubicBezTo>
                  <a:pt x="52980" y="188466"/>
                  <a:pt x="51111" y="183845"/>
                  <a:pt x="50755" y="178691"/>
                </a:cubicBezTo>
                <a:cubicBezTo>
                  <a:pt x="50666" y="178069"/>
                  <a:pt x="50666" y="177447"/>
                  <a:pt x="50666" y="176736"/>
                </a:cubicBezTo>
                <a:lnTo>
                  <a:pt x="50666" y="101109"/>
                </a:lnTo>
                <a:cubicBezTo>
                  <a:pt x="50666" y="87157"/>
                  <a:pt x="61968" y="75782"/>
                  <a:pt x="75939" y="75782"/>
                </a:cubicBezTo>
                <a:cubicBezTo>
                  <a:pt x="89910" y="75782"/>
                  <a:pt x="101301" y="87157"/>
                  <a:pt x="101301" y="101109"/>
                </a:cubicBezTo>
                <a:lnTo>
                  <a:pt x="101301" y="115861"/>
                </a:lnTo>
                <a:lnTo>
                  <a:pt x="159322" y="57919"/>
                </a:lnTo>
                <a:cubicBezTo>
                  <a:pt x="164261" y="52987"/>
                  <a:pt x="170735" y="50521"/>
                  <a:pt x="177209" y="50521"/>
                </a:cubicBezTo>
                <a:close/>
                <a:moveTo>
                  <a:pt x="480892" y="0"/>
                </a:moveTo>
                <a:cubicBezTo>
                  <a:pt x="487122" y="0"/>
                  <a:pt x="494154" y="2666"/>
                  <a:pt x="498960" y="7376"/>
                </a:cubicBezTo>
                <a:lnTo>
                  <a:pt x="600162" y="108513"/>
                </a:lnTo>
                <a:cubicBezTo>
                  <a:pt x="604969" y="113312"/>
                  <a:pt x="607639" y="119800"/>
                  <a:pt x="607639" y="126554"/>
                </a:cubicBezTo>
                <a:cubicBezTo>
                  <a:pt x="607550" y="133309"/>
                  <a:pt x="604880" y="139708"/>
                  <a:pt x="599984" y="144507"/>
                </a:cubicBezTo>
                <a:lnTo>
                  <a:pt x="541417" y="201741"/>
                </a:lnTo>
                <a:cubicBezTo>
                  <a:pt x="562957" y="227425"/>
                  <a:pt x="561978" y="265640"/>
                  <a:pt x="537768" y="289724"/>
                </a:cubicBezTo>
                <a:lnTo>
                  <a:pt x="486499" y="340915"/>
                </a:lnTo>
                <a:cubicBezTo>
                  <a:pt x="485965" y="341537"/>
                  <a:pt x="485342" y="341715"/>
                  <a:pt x="484719" y="342159"/>
                </a:cubicBezTo>
                <a:cubicBezTo>
                  <a:pt x="483206" y="343403"/>
                  <a:pt x="481693" y="344470"/>
                  <a:pt x="480002" y="345270"/>
                </a:cubicBezTo>
                <a:cubicBezTo>
                  <a:pt x="478845" y="345892"/>
                  <a:pt x="477688" y="346425"/>
                  <a:pt x="476530" y="346869"/>
                </a:cubicBezTo>
                <a:cubicBezTo>
                  <a:pt x="474750" y="347403"/>
                  <a:pt x="472970" y="347669"/>
                  <a:pt x="471190" y="347847"/>
                </a:cubicBezTo>
                <a:cubicBezTo>
                  <a:pt x="470300" y="347936"/>
                  <a:pt x="469499" y="348380"/>
                  <a:pt x="468609" y="348380"/>
                </a:cubicBezTo>
                <a:cubicBezTo>
                  <a:pt x="468253" y="348380"/>
                  <a:pt x="467808" y="348114"/>
                  <a:pt x="467452" y="348114"/>
                </a:cubicBezTo>
                <a:cubicBezTo>
                  <a:pt x="465582" y="348025"/>
                  <a:pt x="463891" y="347580"/>
                  <a:pt x="462111" y="347047"/>
                </a:cubicBezTo>
                <a:cubicBezTo>
                  <a:pt x="460776" y="346692"/>
                  <a:pt x="459530" y="346514"/>
                  <a:pt x="458373" y="345981"/>
                </a:cubicBezTo>
                <a:cubicBezTo>
                  <a:pt x="458017" y="345892"/>
                  <a:pt x="457661" y="345892"/>
                  <a:pt x="457305" y="345714"/>
                </a:cubicBezTo>
                <a:lnTo>
                  <a:pt x="428911" y="331494"/>
                </a:lnTo>
                <a:cubicBezTo>
                  <a:pt x="421702" y="327940"/>
                  <a:pt x="412979" y="329273"/>
                  <a:pt x="407282" y="335049"/>
                </a:cubicBezTo>
                <a:lnTo>
                  <a:pt x="376308" y="365888"/>
                </a:lnTo>
                <a:cubicBezTo>
                  <a:pt x="367763" y="374509"/>
                  <a:pt x="356370" y="379219"/>
                  <a:pt x="344265" y="379219"/>
                </a:cubicBezTo>
                <a:cubicBezTo>
                  <a:pt x="332160" y="379219"/>
                  <a:pt x="320678" y="374509"/>
                  <a:pt x="312133" y="365888"/>
                </a:cubicBezTo>
                <a:lnTo>
                  <a:pt x="241194" y="295057"/>
                </a:lnTo>
                <a:cubicBezTo>
                  <a:pt x="223481" y="277371"/>
                  <a:pt x="223481" y="248576"/>
                  <a:pt x="241194" y="230891"/>
                </a:cubicBezTo>
                <a:lnTo>
                  <a:pt x="272079" y="200052"/>
                </a:lnTo>
                <a:cubicBezTo>
                  <a:pt x="277776" y="194364"/>
                  <a:pt x="279200" y="185655"/>
                  <a:pt x="275551" y="178456"/>
                </a:cubicBezTo>
                <a:lnTo>
                  <a:pt x="261398" y="150106"/>
                </a:lnTo>
                <a:cubicBezTo>
                  <a:pt x="261220" y="149750"/>
                  <a:pt x="261220" y="149395"/>
                  <a:pt x="261131" y="149039"/>
                </a:cubicBezTo>
                <a:cubicBezTo>
                  <a:pt x="260508" y="147884"/>
                  <a:pt x="260330" y="146640"/>
                  <a:pt x="260063" y="145307"/>
                </a:cubicBezTo>
                <a:cubicBezTo>
                  <a:pt x="259529" y="143529"/>
                  <a:pt x="259084" y="141841"/>
                  <a:pt x="258995" y="139974"/>
                </a:cubicBezTo>
                <a:cubicBezTo>
                  <a:pt x="258906" y="138730"/>
                  <a:pt x="259084" y="137486"/>
                  <a:pt x="259262" y="136242"/>
                </a:cubicBezTo>
                <a:cubicBezTo>
                  <a:pt x="259440" y="134375"/>
                  <a:pt x="259707" y="132687"/>
                  <a:pt x="260241" y="130909"/>
                </a:cubicBezTo>
                <a:cubicBezTo>
                  <a:pt x="260686" y="129754"/>
                  <a:pt x="261220" y="128599"/>
                  <a:pt x="261754" y="127443"/>
                </a:cubicBezTo>
                <a:cubicBezTo>
                  <a:pt x="262644" y="125755"/>
                  <a:pt x="263713" y="124155"/>
                  <a:pt x="264959" y="122733"/>
                </a:cubicBezTo>
                <a:cubicBezTo>
                  <a:pt x="265404" y="122111"/>
                  <a:pt x="265582" y="121400"/>
                  <a:pt x="266116" y="120955"/>
                </a:cubicBezTo>
                <a:lnTo>
                  <a:pt x="317384" y="69676"/>
                </a:lnTo>
                <a:cubicBezTo>
                  <a:pt x="341505" y="45592"/>
                  <a:pt x="379868" y="44525"/>
                  <a:pt x="405591" y="66121"/>
                </a:cubicBezTo>
                <a:lnTo>
                  <a:pt x="462912" y="7554"/>
                </a:lnTo>
                <a:cubicBezTo>
                  <a:pt x="467719" y="2755"/>
                  <a:pt x="474127" y="89"/>
                  <a:pt x="480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38" name="iṡļîḍé"/>
          <p:cNvSpPr/>
          <p:nvPr/>
        </p:nvSpPr>
        <p:spPr bwMode="auto">
          <a:xfrm>
            <a:off x="1061275" y="4887944"/>
            <a:ext cx="344710" cy="344189"/>
          </a:xfrm>
          <a:custGeom>
            <a:avLst/>
            <a:gdLst>
              <a:gd name="connsiteX0" fmla="*/ 257564 w 607639"/>
              <a:gd name="connsiteY0" fmla="*/ 92370 h 606722"/>
              <a:gd name="connsiteX1" fmla="*/ 277411 w 607639"/>
              <a:gd name="connsiteY1" fmla="*/ 112098 h 606722"/>
              <a:gd name="connsiteX2" fmla="*/ 277411 w 607639"/>
              <a:gd name="connsiteY2" fmla="*/ 329729 h 606722"/>
              <a:gd name="connsiteX3" fmla="*/ 495281 w 607639"/>
              <a:gd name="connsiteY3" fmla="*/ 329729 h 606722"/>
              <a:gd name="connsiteX4" fmla="*/ 515128 w 607639"/>
              <a:gd name="connsiteY4" fmla="*/ 349546 h 606722"/>
              <a:gd name="connsiteX5" fmla="*/ 257564 w 607639"/>
              <a:gd name="connsiteY5" fmla="*/ 606722 h 606722"/>
              <a:gd name="connsiteX6" fmla="*/ 0 w 607639"/>
              <a:gd name="connsiteY6" fmla="*/ 349546 h 606722"/>
              <a:gd name="connsiteX7" fmla="*/ 257564 w 607639"/>
              <a:gd name="connsiteY7" fmla="*/ 92370 h 606722"/>
              <a:gd name="connsiteX8" fmla="*/ 350027 w 607639"/>
              <a:gd name="connsiteY8" fmla="*/ 0 h 606722"/>
              <a:gd name="connsiteX9" fmla="*/ 607639 w 607639"/>
              <a:gd name="connsiteY9" fmla="*/ 257220 h 606722"/>
              <a:gd name="connsiteX10" fmla="*/ 587788 w 607639"/>
              <a:gd name="connsiteY10" fmla="*/ 277040 h 606722"/>
              <a:gd name="connsiteX11" fmla="*/ 350027 w 607639"/>
              <a:gd name="connsiteY11" fmla="*/ 277040 h 606722"/>
              <a:gd name="connsiteX12" fmla="*/ 330176 w 607639"/>
              <a:gd name="connsiteY12" fmla="*/ 257220 h 606722"/>
              <a:gd name="connsiteX13" fmla="*/ 330176 w 607639"/>
              <a:gd name="connsiteY13" fmla="*/ 19820 h 606722"/>
              <a:gd name="connsiteX14" fmla="*/ 350027 w 607639"/>
              <a:gd name="connsiteY1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7639" h="606722">
                <a:moveTo>
                  <a:pt x="257564" y="92370"/>
                </a:moveTo>
                <a:cubicBezTo>
                  <a:pt x="268511" y="92370"/>
                  <a:pt x="277411" y="101168"/>
                  <a:pt x="277411" y="112098"/>
                </a:cubicBezTo>
                <a:lnTo>
                  <a:pt x="277411" y="329729"/>
                </a:lnTo>
                <a:lnTo>
                  <a:pt x="495281" y="329729"/>
                </a:lnTo>
                <a:cubicBezTo>
                  <a:pt x="506228" y="329729"/>
                  <a:pt x="515128" y="338616"/>
                  <a:pt x="515128" y="349546"/>
                </a:cubicBezTo>
                <a:cubicBezTo>
                  <a:pt x="515128" y="491286"/>
                  <a:pt x="399607" y="606722"/>
                  <a:pt x="257564" y="606722"/>
                </a:cubicBezTo>
                <a:cubicBezTo>
                  <a:pt x="115521" y="606722"/>
                  <a:pt x="0" y="491286"/>
                  <a:pt x="0" y="349546"/>
                </a:cubicBezTo>
                <a:cubicBezTo>
                  <a:pt x="0" y="207717"/>
                  <a:pt x="115521" y="92370"/>
                  <a:pt x="257564" y="92370"/>
                </a:cubicBezTo>
                <a:close/>
                <a:moveTo>
                  <a:pt x="350027" y="0"/>
                </a:moveTo>
                <a:cubicBezTo>
                  <a:pt x="492007" y="0"/>
                  <a:pt x="607639" y="115367"/>
                  <a:pt x="607639" y="257220"/>
                </a:cubicBezTo>
                <a:cubicBezTo>
                  <a:pt x="607639" y="268152"/>
                  <a:pt x="598737" y="277040"/>
                  <a:pt x="587788" y="277040"/>
                </a:cubicBezTo>
                <a:lnTo>
                  <a:pt x="350027" y="277040"/>
                </a:lnTo>
                <a:cubicBezTo>
                  <a:pt x="339078" y="277040"/>
                  <a:pt x="330176" y="268152"/>
                  <a:pt x="330176" y="257220"/>
                </a:cubicBezTo>
                <a:lnTo>
                  <a:pt x="330176" y="19820"/>
                </a:lnTo>
                <a:cubicBezTo>
                  <a:pt x="330176" y="8888"/>
                  <a:pt x="339078" y="0"/>
                  <a:pt x="3500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39" name="ïslíḓé"/>
          <p:cNvSpPr/>
          <p:nvPr/>
        </p:nvSpPr>
        <p:spPr bwMode="auto">
          <a:xfrm>
            <a:off x="1099508" y="2003577"/>
            <a:ext cx="343455" cy="339662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40" name="ïṣľîḋê"/>
          <p:cNvSpPr/>
          <p:nvPr/>
        </p:nvSpPr>
        <p:spPr>
          <a:xfrm>
            <a:off x="1748389" y="1546388"/>
            <a:ext cx="4650138" cy="1254040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32000"/>
              </a:lnSpc>
              <a:buClr>
                <a:schemeClr val="tx1"/>
              </a:buClr>
            </a:pPr>
            <a:r>
              <a:rPr lang="en-US" altLang="zh-CN" sz="2400" dirty="0"/>
              <a:t>OS</a:t>
            </a:r>
            <a:r>
              <a:rPr lang="zh-CN" altLang="en-US" sz="2400" dirty="0"/>
              <a:t>是无结构的，是为数众多的一组过程的集合，内部复杂、混乱</a:t>
            </a:r>
          </a:p>
        </p:txBody>
      </p:sp>
      <p:sp>
        <p:nvSpPr>
          <p:cNvPr id="41" name="îṧľïdè"/>
          <p:cNvSpPr/>
          <p:nvPr/>
        </p:nvSpPr>
        <p:spPr>
          <a:xfrm>
            <a:off x="1748873" y="3098073"/>
            <a:ext cx="3271368" cy="1066230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/>
              <a:t>也称整体系统结构</a:t>
            </a:r>
          </a:p>
        </p:txBody>
      </p:sp>
      <p:sp>
        <p:nvSpPr>
          <p:cNvPr id="42" name="ïśļíde"/>
          <p:cNvSpPr/>
          <p:nvPr/>
        </p:nvSpPr>
        <p:spPr>
          <a:xfrm>
            <a:off x="1748873" y="4633767"/>
            <a:ext cx="4455182" cy="883466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/>
              <a:t>例子：</a:t>
            </a:r>
            <a:r>
              <a:rPr lang="en-US" altLang="zh-CN" sz="2400" dirty="0"/>
              <a:t>MS-DOS</a:t>
            </a:r>
            <a:r>
              <a:rPr lang="zh-CN" altLang="en-US" sz="2400" dirty="0"/>
              <a:t>，早期的</a:t>
            </a:r>
            <a:r>
              <a:rPr lang="en-US" altLang="zh-CN" sz="2400" dirty="0"/>
              <a:t>UNIX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模块化结构</a:t>
            </a:r>
          </a:p>
        </p:txBody>
      </p:sp>
      <p:sp>
        <p:nvSpPr>
          <p:cNvPr id="15" name="îŝļiḋe"/>
          <p:cNvSpPr/>
          <p:nvPr/>
        </p:nvSpPr>
        <p:spPr>
          <a:xfrm>
            <a:off x="756141" y="1216803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16" name="í$1iďè"/>
          <p:cNvGrpSpPr/>
          <p:nvPr/>
        </p:nvGrpSpPr>
        <p:grpSpPr>
          <a:xfrm>
            <a:off x="880429" y="1375389"/>
            <a:ext cx="10507661" cy="582314"/>
            <a:chOff x="4136995" y="1556469"/>
            <a:chExt cx="10507661" cy="582314"/>
          </a:xfrm>
        </p:grpSpPr>
        <p:sp>
          <p:nvSpPr>
            <p:cNvPr id="50" name="îslîďê"/>
            <p:cNvSpPr/>
            <p:nvPr/>
          </p:nvSpPr>
          <p:spPr>
            <a:xfrm>
              <a:off x="4136995" y="158382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ïSḻiḍé"/>
            <p:cNvSpPr txBox="1"/>
            <p:nvPr/>
          </p:nvSpPr>
          <p:spPr>
            <a:xfrm>
              <a:off x="4882719" y="1556469"/>
              <a:ext cx="9761937" cy="58231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400" dirty="0">
                  <a:solidFill>
                    <a:schemeClr val="tx1"/>
                  </a:solidFill>
                </a:rPr>
                <a:t>将</a:t>
              </a:r>
              <a:r>
                <a:rPr lang="en-US" altLang="zh-CN" sz="2400" dirty="0">
                  <a:solidFill>
                    <a:schemeClr val="tx1"/>
                  </a:solidFill>
                </a:rPr>
                <a:t>OS</a:t>
              </a:r>
              <a:r>
                <a:rPr lang="zh-CN" altLang="en-US" sz="2400" dirty="0">
                  <a:solidFill>
                    <a:schemeClr val="tx1"/>
                  </a:solidFill>
                </a:rPr>
                <a:t>按功能划分成若干个</a:t>
              </a:r>
              <a:r>
                <a:rPr lang="zh-CN" altLang="en-US" sz="2400" dirty="0">
                  <a:solidFill>
                    <a:srgbClr val="FF0000"/>
                  </a:solidFill>
                </a:rPr>
                <a:t>模块</a:t>
              </a:r>
              <a:r>
                <a:rPr lang="zh-CN" altLang="en-US" sz="2400" dirty="0"/>
                <a:t>，并规定好各模块间的接口，称为“模块</a:t>
              </a:r>
              <a:r>
                <a:rPr lang="en-US" altLang="zh-CN" sz="2400" dirty="0"/>
                <a:t>-</a:t>
              </a:r>
              <a:r>
                <a:rPr lang="zh-CN" altLang="en-US" sz="2400" dirty="0"/>
                <a:t>接口法”</a:t>
              </a:r>
            </a:p>
          </p:txBody>
        </p:sp>
      </p:grpSp>
      <p:grpSp>
        <p:nvGrpSpPr>
          <p:cNvPr id="17" name="išḷîḓé"/>
          <p:cNvGrpSpPr/>
          <p:nvPr/>
        </p:nvGrpSpPr>
        <p:grpSpPr>
          <a:xfrm>
            <a:off x="880429" y="2249993"/>
            <a:ext cx="10132796" cy="1481627"/>
            <a:chOff x="4136995" y="2564791"/>
            <a:chExt cx="10132796" cy="1481627"/>
          </a:xfrm>
        </p:grpSpPr>
        <p:sp>
          <p:nvSpPr>
            <p:cNvPr id="46" name="íśľïḋé"/>
            <p:cNvSpPr/>
            <p:nvPr/>
          </p:nvSpPr>
          <p:spPr>
            <a:xfrm>
              <a:off x="4136995" y="3050991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47" name="îśľíḍe"/>
            <p:cNvGrpSpPr/>
            <p:nvPr/>
          </p:nvGrpSpPr>
          <p:grpSpPr>
            <a:xfrm>
              <a:off x="4882719" y="2564791"/>
              <a:ext cx="9387072" cy="1481627"/>
              <a:chOff x="5523309" y="2034654"/>
              <a:chExt cx="8559454" cy="1481627"/>
            </a:xfrm>
          </p:grpSpPr>
          <p:sp>
            <p:nvSpPr>
              <p:cNvPr id="48" name="îŝľîḓè"/>
              <p:cNvSpPr txBox="1"/>
              <p:nvPr/>
            </p:nvSpPr>
            <p:spPr>
              <a:xfrm>
                <a:off x="5523309" y="2034654"/>
                <a:ext cx="2784667" cy="41762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b="1" dirty="0">
                    <a:solidFill>
                      <a:srgbClr val="0000FF"/>
                    </a:solidFill>
                  </a:rPr>
                  <a:t>优点：</a:t>
                </a:r>
              </a:p>
            </p:txBody>
          </p:sp>
          <p:sp>
            <p:nvSpPr>
              <p:cNvPr id="49" name="iṥlîde"/>
              <p:cNvSpPr/>
              <p:nvPr/>
            </p:nvSpPr>
            <p:spPr bwMode="auto">
              <a:xfrm>
                <a:off x="5523309" y="2405353"/>
                <a:ext cx="8559454" cy="1110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indent="-342900">
                  <a:lnSpc>
                    <a:spcPct val="132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提高</a:t>
                </a:r>
                <a:r>
                  <a:rPr lang="en-US" altLang="zh-CN" sz="2000" dirty="0"/>
                  <a:t>OS</a:t>
                </a:r>
                <a:r>
                  <a:rPr lang="zh-CN" altLang="en-US" sz="2000" dirty="0"/>
                  <a:t>设计的正确性、可理解性和易维护性</a:t>
                </a:r>
              </a:p>
              <a:p>
                <a:pPr marL="342900" indent="-342900">
                  <a:lnSpc>
                    <a:spcPct val="132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增强</a:t>
                </a:r>
                <a:r>
                  <a:rPr lang="en-US" altLang="zh-CN" sz="2000" dirty="0"/>
                  <a:t>OS</a:t>
                </a:r>
                <a:r>
                  <a:rPr lang="zh-CN" altLang="en-US" sz="2000" dirty="0"/>
                  <a:t>的可适应性</a:t>
                </a:r>
              </a:p>
              <a:p>
                <a:pPr marL="342900" indent="-342900">
                  <a:lnSpc>
                    <a:spcPct val="132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加速</a:t>
                </a:r>
                <a:r>
                  <a:rPr lang="en-US" altLang="zh-CN" sz="2000" dirty="0"/>
                  <a:t>OS</a:t>
                </a:r>
                <a:r>
                  <a:rPr lang="zh-CN" altLang="en-US" sz="2000" dirty="0"/>
                  <a:t>的开发过程</a:t>
                </a:r>
              </a:p>
            </p:txBody>
          </p:sp>
        </p:grpSp>
      </p:grpSp>
      <p:grpSp>
        <p:nvGrpSpPr>
          <p:cNvPr id="18" name="ïSlíḍê"/>
          <p:cNvGrpSpPr/>
          <p:nvPr/>
        </p:nvGrpSpPr>
        <p:grpSpPr>
          <a:xfrm>
            <a:off x="880429" y="4084354"/>
            <a:ext cx="10596435" cy="1541433"/>
            <a:chOff x="4136995" y="4296450"/>
            <a:chExt cx="10596435" cy="1541433"/>
          </a:xfrm>
        </p:grpSpPr>
        <p:sp>
          <p:nvSpPr>
            <p:cNvPr id="36" name="ïsľíḓê"/>
            <p:cNvSpPr/>
            <p:nvPr/>
          </p:nvSpPr>
          <p:spPr>
            <a:xfrm>
              <a:off x="4136995" y="4943159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43" name="ïṩḷíḍê"/>
            <p:cNvGrpSpPr/>
            <p:nvPr/>
          </p:nvGrpSpPr>
          <p:grpSpPr>
            <a:xfrm>
              <a:off x="4882719" y="4296450"/>
              <a:ext cx="9850711" cy="1541433"/>
              <a:chOff x="5523309" y="2028690"/>
              <a:chExt cx="8982216" cy="1541433"/>
            </a:xfrm>
          </p:grpSpPr>
          <p:sp>
            <p:nvSpPr>
              <p:cNvPr id="44" name="íṧļîḋê"/>
              <p:cNvSpPr txBox="1"/>
              <p:nvPr/>
            </p:nvSpPr>
            <p:spPr>
              <a:xfrm>
                <a:off x="5523309" y="2028690"/>
                <a:ext cx="8982216" cy="41762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 大部分现代</a:t>
                </a:r>
                <a:r>
                  <a:rPr lang="en-US" altLang="zh-CN" sz="2400" dirty="0"/>
                  <a:t>OS</a:t>
                </a:r>
                <a:r>
                  <a:rPr lang="zh-CN" altLang="en-US" sz="2400" dirty="0"/>
                  <a:t>采用可加载的内核模块来设计</a:t>
                </a:r>
              </a:p>
            </p:txBody>
          </p:sp>
          <p:sp>
            <p:nvSpPr>
              <p:cNvPr id="45" name="îṧ1ïḑe"/>
              <p:cNvSpPr/>
              <p:nvPr/>
            </p:nvSpPr>
            <p:spPr bwMode="auto">
              <a:xfrm>
                <a:off x="5582027" y="2459195"/>
                <a:ext cx="7960541" cy="1110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32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内核有一组核心组件，提供核心服务</a:t>
                </a:r>
              </a:p>
              <a:p>
                <a:pPr marL="171450" indent="-171450">
                  <a:lnSpc>
                    <a:spcPct val="132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其他服务可在内核运行时动态实现（动态链接）</a:t>
                </a:r>
              </a:p>
              <a:p>
                <a:pPr marL="171450" indent="-171450">
                  <a:lnSpc>
                    <a:spcPct val="132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每个组件在需要时被加载到内核</a:t>
                </a:r>
              </a:p>
              <a:p>
                <a:pPr marL="171450" indent="-171450">
                  <a:lnSpc>
                    <a:spcPct val="132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例子：</a:t>
                </a:r>
                <a:r>
                  <a:rPr lang="en-US" altLang="zh-CN" sz="2000" dirty="0"/>
                  <a:t>Linux</a:t>
                </a:r>
                <a:r>
                  <a:rPr lang="zh-CN" altLang="en-US" sz="2000" dirty="0"/>
                  <a:t>、</a:t>
                </a:r>
                <a:r>
                  <a:rPr lang="en-US" altLang="zh-CN" sz="2000" dirty="0"/>
                  <a:t>Mac OS X</a:t>
                </a:r>
                <a:r>
                  <a:rPr lang="zh-CN" altLang="en-US" sz="2000" dirty="0"/>
                  <a:t>、</a:t>
                </a:r>
                <a:r>
                  <a:rPr lang="en-US" altLang="zh-CN" sz="2000" dirty="0"/>
                  <a:t>Solaris</a:t>
                </a:r>
                <a:r>
                  <a:rPr lang="zh-CN" altLang="en-US" sz="2000" dirty="0"/>
                  <a:t>以及</a:t>
                </a:r>
                <a:r>
                  <a:rPr lang="en-US" altLang="zh-CN" sz="2000" dirty="0"/>
                  <a:t>Windows</a:t>
                </a:r>
              </a:p>
            </p:txBody>
          </p:sp>
        </p:grpSp>
      </p:grpSp>
      <p:cxnSp>
        <p:nvCxnSpPr>
          <p:cNvPr id="22" name="直接连接符 21"/>
          <p:cNvCxnSpPr/>
          <p:nvPr/>
        </p:nvCxnSpPr>
        <p:spPr>
          <a:xfrm>
            <a:off x="1714929" y="2050566"/>
            <a:ext cx="9761936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714929" y="3976832"/>
            <a:ext cx="97619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Solaris </a:t>
            </a:r>
            <a:r>
              <a:rPr lang="zh-CN" altLang="en-US" sz="2800" b="1" dirty="0">
                <a:solidFill>
                  <a:schemeClr val="bg1"/>
                </a:solidFill>
              </a:rPr>
              <a:t>模块</a:t>
            </a: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" t="18747" r="351" b="19215"/>
          <a:stretch>
            <a:fillRect/>
          </a:stretch>
        </p:blipFill>
        <p:spPr bwMode="auto">
          <a:xfrm rot="300000">
            <a:off x="435610" y="1504315"/>
            <a:ext cx="5904865" cy="416750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文本框 1"/>
          <p:cNvSpPr txBox="1"/>
          <p:nvPr/>
        </p:nvSpPr>
        <p:spPr>
          <a:xfrm>
            <a:off x="6908800" y="1242060"/>
            <a:ext cx="5060950" cy="4251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solidFill>
                  <a:schemeClr val="accent1">
                    <a:lumMod val="60000"/>
                    <a:lumOff val="40000"/>
                  </a:schemeClr>
                </a:solidFill>
              </a:rPr>
              <a:t>core Solaris kernel -&gt; 核心 Solaris 内核：</a:t>
            </a:r>
          </a:p>
          <a:p>
            <a:r>
              <a:rPr lang="zh-CN" altLang="en-US" sz="2400"/>
              <a:t>device and bus drivers -&gt; 设备和总线驱动程序</a:t>
            </a:r>
          </a:p>
          <a:p>
            <a:r>
              <a:rPr lang="zh-CN" altLang="en-US" sz="2400"/>
              <a:t>scheduling classes -&gt; 调度类</a:t>
            </a:r>
          </a:p>
          <a:p>
            <a:r>
              <a:rPr lang="zh-CN" altLang="en-US" sz="2400"/>
              <a:t>file systems -&gt; 文件系统miscellaneous modules -&gt; 杂项模块STREAMS modules -&gt; STREAMS数据流模式框架</a:t>
            </a:r>
          </a:p>
          <a:p>
            <a:r>
              <a:rPr lang="zh-CN" altLang="en-US" sz="2400"/>
              <a:t>executable formats -&gt; 可执行格式loadable system calls -&gt; 可加载的系统调用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分层式结构</a:t>
            </a:r>
          </a:p>
        </p:txBody>
      </p:sp>
      <p:sp>
        <p:nvSpPr>
          <p:cNvPr id="4" name="íšḻîḋè"/>
          <p:cNvSpPr/>
          <p:nvPr/>
        </p:nvSpPr>
        <p:spPr>
          <a:xfrm>
            <a:off x="2055936" y="3525448"/>
            <a:ext cx="7178215" cy="996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易保证系统的准确性。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可保证系统的易维护性和可扩充性。</a:t>
            </a:r>
          </a:p>
        </p:txBody>
      </p:sp>
      <p:sp>
        <p:nvSpPr>
          <p:cNvPr id="5" name="i$lîďê"/>
          <p:cNvSpPr/>
          <p:nvPr/>
        </p:nvSpPr>
        <p:spPr>
          <a:xfrm>
            <a:off x="2111572" y="2995279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优点：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6" name="î$ļíḋè"/>
          <p:cNvSpPr/>
          <p:nvPr/>
        </p:nvSpPr>
        <p:spPr>
          <a:xfrm>
            <a:off x="2111574" y="5109674"/>
            <a:ext cx="5459358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系统效率低。</a:t>
            </a:r>
          </a:p>
        </p:txBody>
      </p:sp>
      <p:sp>
        <p:nvSpPr>
          <p:cNvPr id="7" name="ïṧḷïḋè"/>
          <p:cNvSpPr/>
          <p:nvPr/>
        </p:nvSpPr>
        <p:spPr>
          <a:xfrm>
            <a:off x="2111574" y="4596899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缺点：</a:t>
            </a:r>
          </a:p>
        </p:txBody>
      </p:sp>
      <p:sp>
        <p:nvSpPr>
          <p:cNvPr id="8" name="îs1iďé"/>
          <p:cNvSpPr/>
          <p:nvPr/>
        </p:nvSpPr>
        <p:spPr>
          <a:xfrm>
            <a:off x="2130630" y="1804361"/>
            <a:ext cx="9711234" cy="11693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高层仅依赖于紧邻它的底层。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底层（</a:t>
            </a:r>
            <a:r>
              <a:rPr lang="en-US" altLang="zh-CN" sz="2200" dirty="0"/>
              <a:t>0</a:t>
            </a:r>
            <a:r>
              <a:rPr lang="zh-CN" altLang="en-US" sz="2200" dirty="0"/>
              <a:t>层）为硬件；最高层（ </a:t>
            </a:r>
            <a:r>
              <a:rPr lang="en-US" altLang="zh-CN" sz="2200" dirty="0"/>
              <a:t>N</a:t>
            </a:r>
            <a:r>
              <a:rPr lang="zh-CN" altLang="en-US" sz="2200" dirty="0"/>
              <a:t>层）为用户层。</a:t>
            </a:r>
          </a:p>
        </p:txBody>
      </p:sp>
      <p:sp>
        <p:nvSpPr>
          <p:cNvPr id="9" name="íšḻíḑê"/>
          <p:cNvSpPr/>
          <p:nvPr/>
        </p:nvSpPr>
        <p:spPr>
          <a:xfrm>
            <a:off x="2111573" y="1271404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操作系统划分为若干层，在低层上构建高层。</a:t>
            </a:r>
          </a:p>
        </p:txBody>
      </p:sp>
      <p:sp>
        <p:nvSpPr>
          <p:cNvPr id="24" name="íšḻíḑê"/>
          <p:cNvSpPr/>
          <p:nvPr/>
        </p:nvSpPr>
        <p:spPr>
          <a:xfrm>
            <a:off x="2111573" y="5816070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例子：</a:t>
            </a:r>
            <a:r>
              <a:rPr lang="en-US" altLang="zh-CN" sz="2400" dirty="0"/>
              <a:t>THE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Multics</a:t>
            </a:r>
            <a:endParaRPr lang="zh-CN" altLang="en-US" sz="2400" dirty="0"/>
          </a:p>
        </p:txBody>
      </p:sp>
      <p:sp>
        <p:nvSpPr>
          <p:cNvPr id="10" name="îSļiḓè"/>
          <p:cNvSpPr/>
          <p:nvPr/>
        </p:nvSpPr>
        <p:spPr>
          <a:xfrm>
            <a:off x="1428070" y="125784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íṥḻîḓe"/>
          <p:cNvSpPr/>
          <p:nvPr/>
        </p:nvSpPr>
        <p:spPr>
          <a:xfrm>
            <a:off x="1428070" y="451429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şļiḓè"/>
          <p:cNvSpPr/>
          <p:nvPr/>
        </p:nvSpPr>
        <p:spPr>
          <a:xfrm>
            <a:off x="1428070" y="289475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îṡḷíďe"/>
          <p:cNvSpPr/>
          <p:nvPr/>
        </p:nvSpPr>
        <p:spPr>
          <a:xfrm>
            <a:off x="1618325" y="1453980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íSlíḋe"/>
          <p:cNvSpPr/>
          <p:nvPr/>
        </p:nvSpPr>
        <p:spPr>
          <a:xfrm>
            <a:off x="1618324" y="3116770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ïśḷïḓe"/>
          <p:cNvSpPr/>
          <p:nvPr/>
        </p:nvSpPr>
        <p:spPr>
          <a:xfrm>
            <a:off x="1647263" y="4703757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5" name="îSļiḓè"/>
          <p:cNvSpPr/>
          <p:nvPr/>
        </p:nvSpPr>
        <p:spPr>
          <a:xfrm>
            <a:off x="1428070" y="569947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îṡḷíďe"/>
          <p:cNvSpPr/>
          <p:nvPr/>
        </p:nvSpPr>
        <p:spPr>
          <a:xfrm>
            <a:off x="1618325" y="5895614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分层操作系统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9" t="708" r="13089" b="708"/>
          <a:stretch>
            <a:fillRect/>
          </a:stretch>
        </p:blipFill>
        <p:spPr bwMode="auto">
          <a:xfrm>
            <a:off x="3747215" y="1135178"/>
            <a:ext cx="5087691" cy="509530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微内核</a:t>
            </a:r>
            <a:r>
              <a:rPr lang="en-US" altLang="zh-CN" sz="2800" b="1" dirty="0">
                <a:solidFill>
                  <a:schemeClr val="bg1"/>
                </a:solidFill>
              </a:rPr>
              <a:t>OS</a:t>
            </a:r>
            <a:r>
              <a:rPr lang="zh-CN" altLang="en-US" sz="2800" b="1" dirty="0">
                <a:solidFill>
                  <a:schemeClr val="bg1"/>
                </a:solidFill>
              </a:rPr>
              <a:t>结构</a:t>
            </a:r>
          </a:p>
        </p:txBody>
      </p:sp>
      <p:sp>
        <p:nvSpPr>
          <p:cNvPr id="4" name="íšḻîḋè"/>
          <p:cNvSpPr/>
          <p:nvPr/>
        </p:nvSpPr>
        <p:spPr>
          <a:xfrm>
            <a:off x="1849875" y="4167296"/>
            <a:ext cx="7178215" cy="457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进程管理、低级存储器管理、中断和陷入处理</a:t>
            </a:r>
          </a:p>
        </p:txBody>
      </p:sp>
      <p:sp>
        <p:nvSpPr>
          <p:cNvPr id="5" name="i$lîďê"/>
          <p:cNvSpPr/>
          <p:nvPr/>
        </p:nvSpPr>
        <p:spPr>
          <a:xfrm>
            <a:off x="1905511" y="3637127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基本功能</a:t>
            </a:r>
          </a:p>
        </p:txBody>
      </p:sp>
      <p:sp>
        <p:nvSpPr>
          <p:cNvPr id="7" name="ïṧḷïḋè"/>
          <p:cNvSpPr/>
          <p:nvPr/>
        </p:nvSpPr>
        <p:spPr>
          <a:xfrm>
            <a:off x="1905512" y="5047660"/>
            <a:ext cx="606651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实例：</a:t>
            </a:r>
            <a:r>
              <a:rPr lang="en-US" altLang="zh-CN" sz="2400" dirty="0"/>
              <a:t>Mach OS, Windows 2000/XP</a:t>
            </a:r>
          </a:p>
        </p:txBody>
      </p:sp>
      <p:sp>
        <p:nvSpPr>
          <p:cNvPr id="8" name="îs1iďé"/>
          <p:cNvSpPr/>
          <p:nvPr/>
        </p:nvSpPr>
        <p:spPr>
          <a:xfrm>
            <a:off x="1924568" y="2216485"/>
            <a:ext cx="4069722" cy="11693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足够小的内核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基于客户</a:t>
            </a:r>
            <a:r>
              <a:rPr lang="en-US" altLang="zh-CN" sz="2200" dirty="0"/>
              <a:t>/</a:t>
            </a:r>
            <a:r>
              <a:rPr lang="zh-CN" altLang="en-US" sz="2200" dirty="0"/>
              <a:t>服务器模式</a:t>
            </a:r>
          </a:p>
        </p:txBody>
      </p:sp>
      <p:sp>
        <p:nvSpPr>
          <p:cNvPr id="9" name="íšḻíḑê"/>
          <p:cNvSpPr/>
          <p:nvPr/>
        </p:nvSpPr>
        <p:spPr>
          <a:xfrm>
            <a:off x="1905511" y="1683528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基本概念</a:t>
            </a:r>
          </a:p>
        </p:txBody>
      </p:sp>
      <p:sp>
        <p:nvSpPr>
          <p:cNvPr id="10" name="îSļiḓè"/>
          <p:cNvSpPr/>
          <p:nvPr/>
        </p:nvSpPr>
        <p:spPr>
          <a:xfrm>
            <a:off x="1222008" y="166996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íṥḻîḓe"/>
          <p:cNvSpPr/>
          <p:nvPr/>
        </p:nvSpPr>
        <p:spPr>
          <a:xfrm>
            <a:off x="1222008" y="492642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şļiḓè"/>
          <p:cNvSpPr/>
          <p:nvPr/>
        </p:nvSpPr>
        <p:spPr>
          <a:xfrm>
            <a:off x="1222009" y="353660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îṡḷíďe"/>
          <p:cNvSpPr/>
          <p:nvPr/>
        </p:nvSpPr>
        <p:spPr>
          <a:xfrm>
            <a:off x="1412263" y="1866104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íSlíḋe"/>
          <p:cNvSpPr/>
          <p:nvPr/>
        </p:nvSpPr>
        <p:spPr>
          <a:xfrm>
            <a:off x="1412263" y="3758618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ïśḷïḓe"/>
          <p:cNvSpPr/>
          <p:nvPr/>
        </p:nvSpPr>
        <p:spPr>
          <a:xfrm>
            <a:off x="1441201" y="5115881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6" name="îs1iďé"/>
          <p:cNvSpPr/>
          <p:nvPr/>
        </p:nvSpPr>
        <p:spPr>
          <a:xfrm>
            <a:off x="6068983" y="2215200"/>
            <a:ext cx="4798205" cy="11693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应用“机制与策略分离”原理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采用面向对象技术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1924568" y="3384574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905511" y="4788371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924568" y="5831560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微内核结构示意图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6" y="2326322"/>
            <a:ext cx="11510645" cy="220535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微内核系统的优点和存在问题</a:t>
            </a:r>
          </a:p>
        </p:txBody>
      </p:sp>
      <p:sp>
        <p:nvSpPr>
          <p:cNvPr id="6" name="îṧľîdé"/>
          <p:cNvSpPr/>
          <p:nvPr/>
        </p:nvSpPr>
        <p:spPr>
          <a:xfrm>
            <a:off x="4021874" y="1078771"/>
            <a:ext cx="3550903" cy="2457767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946219" y="1473670"/>
            <a:ext cx="4308362" cy="3084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/>
              <a:t>微内核系统</a:t>
            </a:r>
            <a:r>
              <a:rPr lang="zh-CN" altLang="en-US" sz="2400" dirty="0">
                <a:solidFill>
                  <a:srgbClr val="FF0000"/>
                </a:solidFill>
              </a:rPr>
              <a:t>优点：</a:t>
            </a:r>
            <a:endParaRPr lang="en-US" altLang="zh-CN" sz="2400" dirty="0"/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提高了系统的可扩展性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增强了系统的可靠性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可移植性强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提供了对分布式系统的支持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融入了面向对象技术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7807946" y="2219136"/>
            <a:ext cx="3551220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80"/>
              </a:spcBef>
              <a:buNone/>
              <a:defRPr/>
            </a:pPr>
            <a:r>
              <a:rPr lang="zh-CN" altLang="en-US" sz="2400" dirty="0"/>
              <a:t>微内核系统</a:t>
            </a:r>
            <a:r>
              <a:rPr lang="zh-CN" altLang="en-US" sz="2400" dirty="0">
                <a:solidFill>
                  <a:srgbClr val="FF0000"/>
                </a:solidFill>
              </a:rPr>
              <a:t>存在的问题：</a:t>
            </a:r>
            <a:endParaRPr lang="en-US" altLang="zh-CN" sz="2400" dirty="0"/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运行效率有所降低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主要原因：在完成一次客户对操作系统提出的服务请求时，需要利</a:t>
            </a:r>
            <a:r>
              <a:rPr lang="zh-CN" altLang="en-US" sz="2200" dirty="0">
                <a:solidFill>
                  <a:srgbClr val="FF0000"/>
                </a:solidFill>
              </a:rPr>
              <a:t>用消息实现多次交互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和进行用户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内核模型与上下文的多次切换</a:t>
            </a:r>
          </a:p>
        </p:txBody>
      </p:sp>
      <p:sp>
        <p:nvSpPr>
          <p:cNvPr id="9" name="íSľïdé"/>
          <p:cNvSpPr/>
          <p:nvPr/>
        </p:nvSpPr>
        <p:spPr>
          <a:xfrm>
            <a:off x="4919214" y="1513627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10" name="ïŝļíḓê"/>
          <p:cNvSpPr/>
          <p:nvPr/>
        </p:nvSpPr>
        <p:spPr bwMode="auto">
          <a:xfrm>
            <a:off x="6001738" y="2462201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外核结构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1475122" y="1620491"/>
            <a:ext cx="4468969" cy="30030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基本思想</a:t>
            </a:r>
            <a:r>
              <a:rPr lang="zh-CN" altLang="en-US" sz="2400" dirty="0"/>
              <a:t>：</a:t>
            </a:r>
            <a:r>
              <a:rPr lang="zh-CN" altLang="zh-CN" sz="2400" dirty="0"/>
              <a:t>内核不提供传统</a:t>
            </a:r>
            <a:r>
              <a:rPr lang="en-US" altLang="zh-CN" sz="2400" dirty="0"/>
              <a:t>OS</a:t>
            </a:r>
            <a:r>
              <a:rPr lang="zh-CN" altLang="zh-CN" sz="2400" dirty="0"/>
              <a:t>中的进程、虚拟存储器等抽象，而是专注于物理资源的隔离（保护）与复用。</a:t>
            </a:r>
            <a:endParaRPr lang="en-US" altLang="zh-CN" sz="2400" dirty="0"/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内核非常小，负责保护系统资源；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应用程序管理硬件资源。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89878" y="1775039"/>
            <a:ext cx="712277" cy="418475"/>
            <a:chOff x="673100" y="2982961"/>
            <a:chExt cx="1597850" cy="938764"/>
          </a:xfrm>
        </p:grpSpPr>
        <p:sp>
          <p:nvSpPr>
            <p:cNvPr id="11" name="ïsḷîde"/>
            <p:cNvSpPr/>
            <p:nvPr/>
          </p:nvSpPr>
          <p:spPr bwMode="auto">
            <a:xfrm>
              <a:off x="673100" y="2982961"/>
              <a:ext cx="1597850" cy="938764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2" name="iṥḻíḓê"/>
            <p:cNvSpPr/>
            <p:nvPr/>
          </p:nvSpPr>
          <p:spPr bwMode="auto">
            <a:xfrm>
              <a:off x="1212384" y="3153135"/>
              <a:ext cx="567411" cy="56635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70000" lnSpcReduction="20000"/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54272" y="4893976"/>
            <a:ext cx="712277" cy="418475"/>
            <a:chOff x="673100" y="2982961"/>
            <a:chExt cx="1597850" cy="938764"/>
          </a:xfrm>
        </p:grpSpPr>
        <p:sp>
          <p:nvSpPr>
            <p:cNvPr id="14" name="ïsḷîde"/>
            <p:cNvSpPr/>
            <p:nvPr/>
          </p:nvSpPr>
          <p:spPr bwMode="auto">
            <a:xfrm>
              <a:off x="673100" y="2982961"/>
              <a:ext cx="1597850" cy="938764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5" name="iṥḻíḓê"/>
            <p:cNvSpPr/>
            <p:nvPr/>
          </p:nvSpPr>
          <p:spPr bwMode="auto">
            <a:xfrm>
              <a:off x="1212384" y="3153135"/>
              <a:ext cx="567411" cy="56635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70000" lnSpcReduction="20000"/>
            </a:bodyPr>
            <a:lstStyle/>
            <a:p>
              <a:endParaRPr lang="zh-CN" altLang="en-US"/>
            </a:p>
          </p:txBody>
        </p:sp>
      </p:grpSp>
      <p:sp>
        <p:nvSpPr>
          <p:cNvPr id="16" name="内容占位符 2"/>
          <p:cNvSpPr txBox="1"/>
          <p:nvPr/>
        </p:nvSpPr>
        <p:spPr>
          <a:xfrm>
            <a:off x="1475122" y="4891728"/>
            <a:ext cx="3013657" cy="5108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：</a:t>
            </a:r>
            <a:r>
              <a:rPr lang="en-US" altLang="zh-CN" sz="2400" dirty="0"/>
              <a:t>Aegis</a:t>
            </a:r>
            <a:r>
              <a:rPr lang="zh-CN" altLang="zh-CN" sz="2400" dirty="0"/>
              <a:t>系统。</a:t>
            </a:r>
            <a:endParaRPr lang="zh-CN" altLang="en-US" sz="2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06" y="1612630"/>
            <a:ext cx="5744210" cy="390588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5C"/>
                </a:solidFill>
                <a:latin typeface="+mj-ea"/>
                <a:ea typeface="+mj-ea"/>
              </a:rPr>
              <a:t>1.1 </a:t>
            </a:r>
            <a:r>
              <a:rPr lang="zh-CN" altLang="en-US" sz="2400" dirty="0">
                <a:solidFill>
                  <a:srgbClr val="00005C"/>
                </a:solidFill>
                <a:latin typeface="+mj-ea"/>
                <a:ea typeface="+mj-ea"/>
              </a:rPr>
              <a:t>操作系统的目标和作用</a:t>
            </a:r>
            <a:endParaRPr lang="en-US" altLang="zh-CN" sz="2400" dirty="0">
              <a:solidFill>
                <a:srgbClr val="00005C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1.2 </a:t>
            </a:r>
            <a:r>
              <a:rPr lang="zh-CN" altLang="en-US" sz="2400" dirty="0">
                <a:latin typeface="+mj-ea"/>
              </a:rPr>
              <a:t>操作系统的发展过程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1.3 </a:t>
            </a:r>
            <a:r>
              <a:rPr lang="zh-CN" altLang="en-US" sz="2400" dirty="0">
                <a:latin typeface="+mj-ea"/>
              </a:rPr>
              <a:t>操作系统的基本特征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1.4 </a:t>
            </a:r>
            <a:r>
              <a:rPr lang="zh-CN" altLang="en-US" sz="2400" dirty="0">
                <a:latin typeface="+mj-ea"/>
              </a:rPr>
              <a:t>操作系统的运行环境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1.5 </a:t>
            </a:r>
            <a:r>
              <a:rPr lang="zh-CN" altLang="en-US" sz="2400" dirty="0">
                <a:latin typeface="+mj-ea"/>
              </a:rPr>
              <a:t>操作系统的主要功能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1.6 </a:t>
            </a:r>
            <a:r>
              <a:rPr lang="zh-CN" altLang="en-US" sz="2400" dirty="0">
                <a:latin typeface="+mj-ea"/>
              </a:rPr>
              <a:t>操作系统的结构设计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25874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1.7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系统调用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2627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1</a:t>
            </a:r>
            <a:r>
              <a:rPr lang="zh-CN" altLang="en-US" sz="3600" dirty="0">
                <a:solidFill>
                  <a:srgbClr val="000000"/>
                </a:solidFill>
              </a:rPr>
              <a:t>章 操作系统引论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系统调用的基本概念</a:t>
            </a:r>
          </a:p>
        </p:txBody>
      </p:sp>
      <p:sp>
        <p:nvSpPr>
          <p:cNvPr id="4" name="íšḻîḋè"/>
          <p:cNvSpPr/>
          <p:nvPr/>
        </p:nvSpPr>
        <p:spPr>
          <a:xfrm>
            <a:off x="2055936" y="3048930"/>
            <a:ext cx="7178215" cy="996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应用程序请求</a:t>
            </a:r>
            <a:r>
              <a:rPr lang="en-US" altLang="zh-CN" sz="2200" dirty="0"/>
              <a:t>OS</a:t>
            </a:r>
            <a:r>
              <a:rPr lang="zh-CN" altLang="en-US" sz="2200" dirty="0"/>
              <a:t>内核完成某功能时的一种过程调用；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用户与内核的接口。</a:t>
            </a:r>
          </a:p>
        </p:txBody>
      </p:sp>
      <p:sp>
        <p:nvSpPr>
          <p:cNvPr id="5" name="i$lîďê"/>
          <p:cNvSpPr/>
          <p:nvPr/>
        </p:nvSpPr>
        <p:spPr>
          <a:xfrm>
            <a:off x="2111572" y="2518761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系统调用</a:t>
            </a:r>
            <a:r>
              <a:rPr lang="zh-CN" altLang="en-US" sz="2400" dirty="0">
                <a:solidFill>
                  <a:srgbClr val="FF0000"/>
                </a:solidFill>
              </a:rPr>
              <a:t>概念：</a:t>
            </a:r>
          </a:p>
        </p:txBody>
      </p:sp>
      <p:sp>
        <p:nvSpPr>
          <p:cNvPr id="6" name="î$ļíḋè"/>
          <p:cNvSpPr/>
          <p:nvPr/>
        </p:nvSpPr>
        <p:spPr>
          <a:xfrm>
            <a:off x="2111574" y="4633156"/>
            <a:ext cx="5459358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运行在不同的系统状态</a:t>
            </a:r>
            <a:r>
              <a:rPr lang="en-US" altLang="zh-CN" sz="2200" dirty="0"/>
              <a:t>: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状态的转换：系统调用需要软中断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返回问题：是否抢占、优先级分析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嵌套调用：系统调用最大深度为</a:t>
            </a:r>
            <a:r>
              <a:rPr lang="en-US" altLang="zh-CN" sz="2200" dirty="0"/>
              <a:t>6</a:t>
            </a:r>
          </a:p>
        </p:txBody>
      </p:sp>
      <p:sp>
        <p:nvSpPr>
          <p:cNvPr id="7" name="ïṧḷïḋè"/>
          <p:cNvSpPr/>
          <p:nvPr/>
        </p:nvSpPr>
        <p:spPr>
          <a:xfrm>
            <a:off x="2111574" y="4120381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与一般过程调用的区别：</a:t>
            </a:r>
          </a:p>
        </p:txBody>
      </p:sp>
      <p:sp>
        <p:nvSpPr>
          <p:cNvPr id="8" name="îs1iďé"/>
          <p:cNvSpPr/>
          <p:nvPr/>
        </p:nvSpPr>
        <p:spPr>
          <a:xfrm>
            <a:off x="2130630" y="1804361"/>
            <a:ext cx="9711234" cy="60274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 fontScale="90000"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使应用程序可以通过它间接调用</a:t>
            </a:r>
            <a:r>
              <a:rPr lang="en-US" altLang="zh-CN" sz="2200" dirty="0"/>
              <a:t>OS</a:t>
            </a:r>
            <a:r>
              <a:rPr lang="zh-CN" altLang="en-US" sz="2200" dirty="0"/>
              <a:t>内核中的相关过程程序，取得相应的服务。</a:t>
            </a:r>
          </a:p>
        </p:txBody>
      </p:sp>
      <p:sp>
        <p:nvSpPr>
          <p:cNvPr id="9" name="íšḻíḑê"/>
          <p:cNvSpPr/>
          <p:nvPr/>
        </p:nvSpPr>
        <p:spPr>
          <a:xfrm>
            <a:off x="2111573" y="1271404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系统调用目的：</a:t>
            </a:r>
          </a:p>
        </p:txBody>
      </p:sp>
      <p:sp>
        <p:nvSpPr>
          <p:cNvPr id="10" name="îSļiḓè"/>
          <p:cNvSpPr/>
          <p:nvPr/>
        </p:nvSpPr>
        <p:spPr>
          <a:xfrm>
            <a:off x="1428070" y="125784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íṥḻîḓe"/>
          <p:cNvSpPr/>
          <p:nvPr/>
        </p:nvSpPr>
        <p:spPr>
          <a:xfrm>
            <a:off x="1428070" y="403777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şļiḓè"/>
          <p:cNvSpPr/>
          <p:nvPr/>
        </p:nvSpPr>
        <p:spPr>
          <a:xfrm>
            <a:off x="1428070" y="241823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îṡḷíďe"/>
          <p:cNvSpPr/>
          <p:nvPr/>
        </p:nvSpPr>
        <p:spPr>
          <a:xfrm>
            <a:off x="1618325" y="1453980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íSlíḋe"/>
          <p:cNvSpPr/>
          <p:nvPr/>
        </p:nvSpPr>
        <p:spPr>
          <a:xfrm>
            <a:off x="1618324" y="2640252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ïśḷïḓe"/>
          <p:cNvSpPr/>
          <p:nvPr/>
        </p:nvSpPr>
        <p:spPr>
          <a:xfrm>
            <a:off x="1647263" y="4227239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系统调用的类型</a:t>
            </a:r>
          </a:p>
        </p:txBody>
      </p:sp>
      <p:grpSp>
        <p:nvGrpSpPr>
          <p:cNvPr id="16" name="20420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00706" y="996749"/>
            <a:ext cx="11102932" cy="5155984"/>
            <a:chOff x="659456" y="1271069"/>
            <a:chExt cx="11102932" cy="5155984"/>
          </a:xfrm>
        </p:grpSpPr>
        <p:sp>
          <p:nvSpPr>
            <p:cNvPr id="17" name="iśḷíḑe"/>
            <p:cNvSpPr/>
            <p:nvPr/>
          </p:nvSpPr>
          <p:spPr>
            <a:xfrm>
              <a:off x="3262313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01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18" name="ïś1ïḑè"/>
            <p:cNvSpPr/>
            <p:nvPr/>
          </p:nvSpPr>
          <p:spPr>
            <a:xfrm>
              <a:off x="4243388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02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9" name="直接箭头连接符 18"/>
            <p:cNvCxnSpPr>
              <a:endCxn id="17" idx="6"/>
            </p:cNvCxnSpPr>
            <p:nvPr/>
          </p:nvCxnSpPr>
          <p:spPr>
            <a:xfrm flipH="1" flipV="1">
              <a:off x="3986213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22" idx="1"/>
              <a:endCxn id="18" idx="5"/>
            </p:cNvCxnSpPr>
            <p:nvPr/>
          </p:nvCxnSpPr>
          <p:spPr>
            <a:xfrm flipH="1" flipV="1">
              <a:off x="4861275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ïṥlîďe"/>
            <p:cNvSpPr/>
            <p:nvPr/>
          </p:nvSpPr>
          <p:spPr>
            <a:xfrm>
              <a:off x="5514975" y="4974498"/>
              <a:ext cx="1162050" cy="1162050"/>
            </a:xfrm>
            <a:prstGeom prst="donu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1DADD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dirty="0">
                  <a:solidFill>
                    <a:schemeClr val="tx1"/>
                  </a:solidFill>
                </a:rPr>
                <a:t>Text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ïṧľîdê"/>
            <p:cNvSpPr/>
            <p:nvPr/>
          </p:nvSpPr>
          <p:spPr>
            <a:xfrm>
              <a:off x="5734050" y="2361349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03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24" name="直接箭头连接符 23"/>
            <p:cNvCxnSpPr>
              <a:stCxn id="22" idx="0"/>
              <a:endCxn id="23" idx="4"/>
            </p:cNvCxnSpPr>
            <p:nvPr/>
          </p:nvCxnSpPr>
          <p:spPr>
            <a:xfrm flipV="1">
              <a:off x="6096000" y="3085249"/>
              <a:ext cx="0" cy="188924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ï$1ïdé"/>
            <p:cNvSpPr/>
            <p:nvPr/>
          </p:nvSpPr>
          <p:spPr>
            <a:xfrm>
              <a:off x="7224712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04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26" name="îṥ1ïḍé"/>
            <p:cNvSpPr/>
            <p:nvPr/>
          </p:nvSpPr>
          <p:spPr>
            <a:xfrm>
              <a:off x="8205787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05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27" name="直接箭头连接符 26"/>
            <p:cNvCxnSpPr>
              <a:stCxn id="22" idx="7"/>
              <a:endCxn id="25" idx="3"/>
            </p:cNvCxnSpPr>
            <p:nvPr/>
          </p:nvCxnSpPr>
          <p:spPr>
            <a:xfrm flipV="1">
              <a:off x="6506847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endCxn id="26" idx="2"/>
            </p:cNvCxnSpPr>
            <p:nvPr/>
          </p:nvCxnSpPr>
          <p:spPr>
            <a:xfrm flipV="1">
              <a:off x="6677025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işľïdé"/>
            <p:cNvSpPr/>
            <p:nvPr/>
          </p:nvSpPr>
          <p:spPr bwMode="auto">
            <a:xfrm>
              <a:off x="659456" y="5011775"/>
              <a:ext cx="2506663" cy="713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2000" dirty="0"/>
                <a:t>创建和终止进程、获得和设置进程属性、等待某事件出现的系统调用。</a:t>
              </a:r>
            </a:p>
          </p:txBody>
        </p:sp>
        <p:sp>
          <p:nvSpPr>
            <p:cNvPr id="30" name="ïṧ1îḋê"/>
            <p:cNvSpPr txBox="1"/>
            <p:nvPr/>
          </p:nvSpPr>
          <p:spPr bwMode="auto">
            <a:xfrm>
              <a:off x="708025" y="4494116"/>
              <a:ext cx="25066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r"/>
              <a:r>
                <a:rPr lang="zh-CN" altLang="en-US" sz="2400" b="1" dirty="0">
                  <a:solidFill>
                    <a:srgbClr val="0000FF"/>
                  </a:solidFill>
                </a:rPr>
                <a:t>进程控制类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ïśľïdè"/>
            <p:cNvSpPr/>
            <p:nvPr/>
          </p:nvSpPr>
          <p:spPr bwMode="auto">
            <a:xfrm>
              <a:off x="1493949" y="3346116"/>
              <a:ext cx="2664759" cy="1043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2000" dirty="0"/>
                <a:t>用于进程之间通信的系统调用。</a:t>
              </a:r>
            </a:p>
          </p:txBody>
        </p:sp>
        <p:sp>
          <p:nvSpPr>
            <p:cNvPr id="32" name="ïṥlïḍè"/>
            <p:cNvSpPr txBox="1"/>
            <p:nvPr/>
          </p:nvSpPr>
          <p:spPr bwMode="auto">
            <a:xfrm>
              <a:off x="1676399" y="2877701"/>
              <a:ext cx="25066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r"/>
              <a:r>
                <a:rPr lang="zh-CN" altLang="en-US" sz="2400" b="1" dirty="0">
                  <a:solidFill>
                    <a:srgbClr val="0000FF"/>
                  </a:solidFill>
                </a:rPr>
                <a:t>进程通信类</a:t>
              </a:r>
            </a:p>
          </p:txBody>
        </p:sp>
        <p:grpSp>
          <p:nvGrpSpPr>
            <p:cNvPr id="33" name="íśļïdè"/>
            <p:cNvGrpSpPr/>
            <p:nvPr/>
          </p:nvGrpSpPr>
          <p:grpSpPr>
            <a:xfrm>
              <a:off x="2929730" y="1271069"/>
              <a:ext cx="7328078" cy="1032538"/>
              <a:chOff x="-915120" y="4518964"/>
              <a:chExt cx="6403890" cy="1032538"/>
            </a:xfrm>
          </p:grpSpPr>
          <p:sp>
            <p:nvSpPr>
              <p:cNvPr id="38" name="iṧlîḋe"/>
              <p:cNvSpPr/>
              <p:nvPr/>
            </p:nvSpPr>
            <p:spPr bwMode="auto">
              <a:xfrm>
                <a:off x="-915120" y="4990880"/>
                <a:ext cx="6403890" cy="560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algn="ctr">
                  <a:lnSpc>
                    <a:spcPct val="140000"/>
                  </a:lnSpc>
                </a:pPr>
                <a:r>
                  <a:rPr lang="zh-CN" altLang="en-US" sz="2000" dirty="0"/>
                  <a:t>打开和关闭文件、创建和删除文件、读写文件的系统调用。</a:t>
                </a:r>
              </a:p>
            </p:txBody>
          </p:sp>
          <p:sp>
            <p:nvSpPr>
              <p:cNvPr id="39" name="íš1îḑê"/>
              <p:cNvSpPr txBox="1"/>
              <p:nvPr/>
            </p:nvSpPr>
            <p:spPr bwMode="auto">
              <a:xfrm>
                <a:off x="676104" y="4518964"/>
                <a:ext cx="2287617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0000FF"/>
                    </a:solidFill>
                  </a:rPr>
                  <a:t>文件操纵类</a:t>
                </a:r>
              </a:p>
            </p:txBody>
          </p:sp>
        </p:grpSp>
        <p:sp>
          <p:nvSpPr>
            <p:cNvPr id="34" name="ïşḷïḓè"/>
            <p:cNvSpPr/>
            <p:nvPr/>
          </p:nvSpPr>
          <p:spPr bwMode="auto">
            <a:xfrm>
              <a:off x="8008938" y="2955287"/>
              <a:ext cx="3475038" cy="1122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/>
                <a:t>申请设备、释放设备、设备</a:t>
              </a:r>
              <a:r>
                <a:rPr lang="en-US" altLang="zh-CN" sz="2000" dirty="0"/>
                <a:t>I/O</a:t>
              </a:r>
              <a:r>
                <a:rPr lang="zh-CN" altLang="en-US" sz="2000" dirty="0"/>
                <a:t>重定向</a:t>
              </a:r>
              <a:r>
                <a:rPr lang="en-US" altLang="zh-CN" sz="2000" dirty="0"/>
                <a:t>(</a:t>
              </a:r>
              <a:r>
                <a:rPr lang="zh-CN" altLang="en-US" sz="2000" dirty="0"/>
                <a:t>网络</a:t>
              </a:r>
              <a:r>
                <a:rPr lang="en-US" altLang="zh-CN" sz="2000" dirty="0"/>
                <a:t>)</a:t>
              </a:r>
              <a:r>
                <a:rPr lang="zh-CN" altLang="en-US" sz="2000" dirty="0"/>
                <a:t>、获得和设置设备属性等系统调用。</a:t>
              </a:r>
            </a:p>
          </p:txBody>
        </p:sp>
        <p:sp>
          <p:nvSpPr>
            <p:cNvPr id="35" name="ïṡḻiḋê"/>
            <p:cNvSpPr txBox="1"/>
            <p:nvPr/>
          </p:nvSpPr>
          <p:spPr bwMode="auto">
            <a:xfrm>
              <a:off x="7245565" y="2483364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</a:rPr>
                <a:t>设备管理类</a:t>
              </a:r>
            </a:p>
          </p:txBody>
        </p:sp>
        <p:sp>
          <p:nvSpPr>
            <p:cNvPr id="36" name="iŝľîdê"/>
            <p:cNvSpPr/>
            <p:nvPr/>
          </p:nvSpPr>
          <p:spPr bwMode="auto">
            <a:xfrm>
              <a:off x="8919585" y="4802217"/>
              <a:ext cx="2842803" cy="1624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/>
                <a:t>获得包括有关系统和文件的时间信息、</a:t>
              </a:r>
              <a:r>
                <a:rPr lang="en-US" altLang="zh-CN" sz="2000" dirty="0"/>
                <a:t>OS</a:t>
              </a:r>
              <a:r>
                <a:rPr lang="zh-CN" altLang="en-US" sz="2000" dirty="0"/>
                <a:t>版本、当前用户、空闲内存、磁盘等。</a:t>
              </a:r>
            </a:p>
          </p:txBody>
        </p:sp>
        <p:sp>
          <p:nvSpPr>
            <p:cNvPr id="37" name="ísļiḓè"/>
            <p:cNvSpPr txBox="1"/>
            <p:nvPr/>
          </p:nvSpPr>
          <p:spPr bwMode="auto">
            <a:xfrm>
              <a:off x="8859487" y="4389337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</a:rPr>
                <a:t>信息维护类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43348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学而时习之（第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章总结）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graphicFrame>
        <p:nvGraphicFramePr>
          <p:cNvPr id="30" name="表格 29"/>
          <p:cNvGraphicFramePr/>
          <p:nvPr>
            <p:custDataLst>
              <p:tags r:id="rId1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第5章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虚拟存储器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第7章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输入</a:t>
                      </a:r>
                      <a:r>
                        <a:rPr lang="en-US" sz="2000" dirty="0">
                          <a:latin typeface="微软雅黑 (正文)"/>
                        </a:rPr>
                        <a:t>/</a:t>
                      </a:r>
                      <a:r>
                        <a:rPr lang="en-US" sz="2000" dirty="0" err="1">
                          <a:latin typeface="微软雅黑 (正文)"/>
                        </a:rPr>
                        <a:t>输出系统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图片 3" descr="第1章 知识导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155" y="1255395"/>
            <a:ext cx="7034530" cy="5396865"/>
          </a:xfrm>
          <a:prstGeom prst="rect">
            <a:avLst/>
          </a:prstGeom>
        </p:spPr>
      </p:pic>
      <p:sp>
        <p:nvSpPr>
          <p:cNvPr id="3" name="前凸带形 3"/>
          <p:cNvSpPr/>
          <p:nvPr/>
        </p:nvSpPr>
        <p:spPr>
          <a:xfrm>
            <a:off x="4844369" y="6173653"/>
            <a:ext cx="2503290" cy="557296"/>
          </a:xfrm>
          <a:prstGeom prst="ribbon">
            <a:avLst>
              <a:gd name="adj1" fmla="val 16667"/>
              <a:gd name="adj2" fmla="val 67555"/>
            </a:avLst>
          </a:prstGeom>
          <a:solidFill>
            <a:srgbClr val="0000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本章学习结束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第一次作业</a:t>
            </a:r>
          </a:p>
        </p:txBody>
      </p:sp>
      <p:sp>
        <p:nvSpPr>
          <p:cNvPr id="7" name="流程图: 预定义过程 6"/>
          <p:cNvSpPr/>
          <p:nvPr/>
        </p:nvSpPr>
        <p:spPr>
          <a:xfrm>
            <a:off x="1846580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</a:p>
        </p:txBody>
      </p:sp>
      <p:sp>
        <p:nvSpPr>
          <p:cNvPr id="8" name="立方体 7"/>
          <p:cNvSpPr/>
          <p:nvPr/>
        </p:nvSpPr>
        <p:spPr>
          <a:xfrm>
            <a:off x="1828800" y="5337844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27</a:t>
            </a:r>
          </a:p>
        </p:txBody>
      </p:sp>
      <p:sp>
        <p:nvSpPr>
          <p:cNvPr id="9" name="圆柱形 8"/>
          <p:cNvSpPr/>
          <p:nvPr/>
        </p:nvSpPr>
        <p:spPr>
          <a:xfrm>
            <a:off x="1890395" y="4115469"/>
            <a:ext cx="653415" cy="712470"/>
          </a:xfrm>
          <a:prstGeom prst="ca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rgbClr val="7030A0"/>
                </a:solidFill>
                <a:latin typeface="Times New Roman" panose="02020603050405020304" charset="0"/>
                <a:cs typeface="Times New Roman" panose="02020603050405020304" charset="0"/>
              </a:rPr>
              <a:t>25</a:t>
            </a:r>
          </a:p>
        </p:txBody>
      </p:sp>
      <p:sp>
        <p:nvSpPr>
          <p:cNvPr id="10" name="矩形 9"/>
          <p:cNvSpPr/>
          <p:nvPr/>
        </p:nvSpPr>
        <p:spPr>
          <a:xfrm>
            <a:off x="1414780" y="1233204"/>
            <a:ext cx="9288780" cy="25203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1504" y="1965389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简答题</a:t>
            </a:r>
          </a:p>
        </p:txBody>
      </p:sp>
      <p:sp>
        <p:nvSpPr>
          <p:cNvPr id="12" name="矩形 11"/>
          <p:cNvSpPr/>
          <p:nvPr/>
        </p:nvSpPr>
        <p:spPr>
          <a:xfrm>
            <a:off x="1414780" y="3997994"/>
            <a:ext cx="9288780" cy="9468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1503" y="4066100"/>
            <a:ext cx="492443" cy="861774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>
            <a:spAutoFit/>
          </a:bodyPr>
          <a:lstStyle/>
          <a:p>
            <a:r>
              <a:rPr lang="zh-CN" altLang="en-US" sz="2000" dirty="0">
                <a:solidFill>
                  <a:srgbClr val="7030A0"/>
                </a:solidFill>
                <a:latin typeface="+mn-ea"/>
              </a:rPr>
              <a:t>计算题</a:t>
            </a:r>
          </a:p>
        </p:txBody>
      </p:sp>
      <p:sp>
        <p:nvSpPr>
          <p:cNvPr id="14" name="矩形 13"/>
          <p:cNvSpPr/>
          <p:nvPr/>
        </p:nvSpPr>
        <p:spPr>
          <a:xfrm>
            <a:off x="1414780" y="5252754"/>
            <a:ext cx="9288780" cy="946150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1502" y="5122484"/>
            <a:ext cx="492443" cy="137473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综合应用题</a:t>
            </a:r>
          </a:p>
        </p:txBody>
      </p:sp>
      <p:sp>
        <p:nvSpPr>
          <p:cNvPr id="16" name="圆柱形 15"/>
          <p:cNvSpPr/>
          <p:nvPr/>
        </p:nvSpPr>
        <p:spPr>
          <a:xfrm>
            <a:off x="2992120" y="4115469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rgbClr val="7030A0"/>
                </a:solidFill>
                <a:latin typeface="Times New Roman" panose="02020603050405020304" charset="0"/>
                <a:cs typeface="Times New Roman" panose="02020603050405020304" charset="0"/>
              </a:rPr>
              <a:t>26</a:t>
            </a:r>
          </a:p>
        </p:txBody>
      </p:sp>
      <p:sp>
        <p:nvSpPr>
          <p:cNvPr id="18" name="立方体 17"/>
          <p:cNvSpPr/>
          <p:nvPr/>
        </p:nvSpPr>
        <p:spPr>
          <a:xfrm>
            <a:off x="2930525" y="5337844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28</a:t>
            </a:r>
          </a:p>
        </p:txBody>
      </p:sp>
      <p:sp>
        <p:nvSpPr>
          <p:cNvPr id="19" name="流程图: 预定义过程 18"/>
          <p:cNvSpPr/>
          <p:nvPr/>
        </p:nvSpPr>
        <p:spPr>
          <a:xfrm>
            <a:off x="2948305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</a:p>
        </p:txBody>
      </p:sp>
      <p:sp>
        <p:nvSpPr>
          <p:cNvPr id="21" name="流程图: 预定义过程 20"/>
          <p:cNvSpPr/>
          <p:nvPr/>
        </p:nvSpPr>
        <p:spPr>
          <a:xfrm>
            <a:off x="40500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</a:p>
        </p:txBody>
      </p:sp>
      <p:sp>
        <p:nvSpPr>
          <p:cNvPr id="22" name="流程图: 预定义过程 21"/>
          <p:cNvSpPr/>
          <p:nvPr/>
        </p:nvSpPr>
        <p:spPr>
          <a:xfrm>
            <a:off x="51517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</a:p>
        </p:txBody>
      </p:sp>
      <p:sp>
        <p:nvSpPr>
          <p:cNvPr id="23" name="流程图: 预定义过程 22"/>
          <p:cNvSpPr/>
          <p:nvPr/>
        </p:nvSpPr>
        <p:spPr>
          <a:xfrm>
            <a:off x="625348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</a:p>
        </p:txBody>
      </p:sp>
      <p:sp>
        <p:nvSpPr>
          <p:cNvPr id="24" name="流程图: 预定义过程 23"/>
          <p:cNvSpPr/>
          <p:nvPr/>
        </p:nvSpPr>
        <p:spPr>
          <a:xfrm>
            <a:off x="735520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</a:p>
        </p:txBody>
      </p:sp>
      <p:sp>
        <p:nvSpPr>
          <p:cNvPr id="25" name="流程图: 预定义过程 24"/>
          <p:cNvSpPr/>
          <p:nvPr/>
        </p:nvSpPr>
        <p:spPr>
          <a:xfrm>
            <a:off x="84569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7</a:t>
            </a:r>
          </a:p>
        </p:txBody>
      </p:sp>
      <p:sp>
        <p:nvSpPr>
          <p:cNvPr id="26" name="流程图: 预定义过程 25"/>
          <p:cNvSpPr/>
          <p:nvPr/>
        </p:nvSpPr>
        <p:spPr>
          <a:xfrm>
            <a:off x="95586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</a:p>
        </p:txBody>
      </p:sp>
      <p:sp>
        <p:nvSpPr>
          <p:cNvPr id="27" name="流程图: 预定义过程 26"/>
          <p:cNvSpPr/>
          <p:nvPr/>
        </p:nvSpPr>
        <p:spPr>
          <a:xfrm>
            <a:off x="184658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9</a:t>
            </a:r>
          </a:p>
        </p:txBody>
      </p:sp>
      <p:sp>
        <p:nvSpPr>
          <p:cNvPr id="28" name="流程图: 预定义过程 27"/>
          <p:cNvSpPr/>
          <p:nvPr/>
        </p:nvSpPr>
        <p:spPr>
          <a:xfrm>
            <a:off x="294830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10</a:t>
            </a:r>
          </a:p>
        </p:txBody>
      </p:sp>
      <p:sp>
        <p:nvSpPr>
          <p:cNvPr id="29" name="流程图: 预定义过程 28"/>
          <p:cNvSpPr/>
          <p:nvPr/>
        </p:nvSpPr>
        <p:spPr>
          <a:xfrm>
            <a:off x="405003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11</a:t>
            </a:r>
          </a:p>
        </p:txBody>
      </p:sp>
      <p:sp>
        <p:nvSpPr>
          <p:cNvPr id="30" name="流程图: 预定义过程 29"/>
          <p:cNvSpPr/>
          <p:nvPr/>
        </p:nvSpPr>
        <p:spPr>
          <a:xfrm>
            <a:off x="515175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12</a:t>
            </a:r>
          </a:p>
        </p:txBody>
      </p:sp>
      <p:sp>
        <p:nvSpPr>
          <p:cNvPr id="31" name="流程图: 预定义过程 30"/>
          <p:cNvSpPr/>
          <p:nvPr/>
        </p:nvSpPr>
        <p:spPr>
          <a:xfrm>
            <a:off x="625348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13</a:t>
            </a:r>
          </a:p>
        </p:txBody>
      </p:sp>
      <p:sp>
        <p:nvSpPr>
          <p:cNvPr id="32" name="流程图: 预定义过程 31"/>
          <p:cNvSpPr/>
          <p:nvPr/>
        </p:nvSpPr>
        <p:spPr>
          <a:xfrm>
            <a:off x="735520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14</a:t>
            </a:r>
          </a:p>
        </p:txBody>
      </p:sp>
      <p:sp>
        <p:nvSpPr>
          <p:cNvPr id="33" name="流程图: 预定义过程 32"/>
          <p:cNvSpPr/>
          <p:nvPr/>
        </p:nvSpPr>
        <p:spPr>
          <a:xfrm>
            <a:off x="845693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15</a:t>
            </a:r>
          </a:p>
        </p:txBody>
      </p:sp>
      <p:sp>
        <p:nvSpPr>
          <p:cNvPr id="34" name="流程图: 预定义过程 33"/>
          <p:cNvSpPr/>
          <p:nvPr/>
        </p:nvSpPr>
        <p:spPr>
          <a:xfrm>
            <a:off x="955865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16</a:t>
            </a:r>
          </a:p>
        </p:txBody>
      </p:sp>
      <p:sp>
        <p:nvSpPr>
          <p:cNvPr id="35" name="流程图: 预定义过程 34"/>
          <p:cNvSpPr/>
          <p:nvPr/>
        </p:nvSpPr>
        <p:spPr>
          <a:xfrm>
            <a:off x="1846580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17</a:t>
            </a:r>
          </a:p>
        </p:txBody>
      </p:sp>
      <p:sp>
        <p:nvSpPr>
          <p:cNvPr id="36" name="流程图: 预定义过程 35"/>
          <p:cNvSpPr/>
          <p:nvPr/>
        </p:nvSpPr>
        <p:spPr>
          <a:xfrm>
            <a:off x="2948305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18</a:t>
            </a:r>
          </a:p>
        </p:txBody>
      </p:sp>
      <p:sp>
        <p:nvSpPr>
          <p:cNvPr id="37" name="流程图: 预定义过程 36"/>
          <p:cNvSpPr/>
          <p:nvPr/>
        </p:nvSpPr>
        <p:spPr>
          <a:xfrm>
            <a:off x="4050030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</a:t>
            </a:r>
          </a:p>
        </p:txBody>
      </p:sp>
      <p:sp>
        <p:nvSpPr>
          <p:cNvPr id="38" name="流程图: 预定义过程 37"/>
          <p:cNvSpPr/>
          <p:nvPr/>
        </p:nvSpPr>
        <p:spPr>
          <a:xfrm>
            <a:off x="5151755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</a:t>
            </a:r>
          </a:p>
        </p:txBody>
      </p:sp>
      <p:sp>
        <p:nvSpPr>
          <p:cNvPr id="39" name="流程图: 预定义过程 38"/>
          <p:cNvSpPr/>
          <p:nvPr/>
        </p:nvSpPr>
        <p:spPr>
          <a:xfrm>
            <a:off x="6253480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21</a:t>
            </a:r>
          </a:p>
        </p:txBody>
      </p:sp>
      <p:sp>
        <p:nvSpPr>
          <p:cNvPr id="40" name="流程图: 预定义过程 39"/>
          <p:cNvSpPr/>
          <p:nvPr/>
        </p:nvSpPr>
        <p:spPr>
          <a:xfrm>
            <a:off x="7355205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22</a:t>
            </a:r>
          </a:p>
        </p:txBody>
      </p:sp>
      <p:sp>
        <p:nvSpPr>
          <p:cNvPr id="41" name="流程图: 预定义过程 40"/>
          <p:cNvSpPr/>
          <p:nvPr/>
        </p:nvSpPr>
        <p:spPr>
          <a:xfrm>
            <a:off x="8456930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23</a:t>
            </a:r>
          </a:p>
        </p:txBody>
      </p:sp>
      <p:sp>
        <p:nvSpPr>
          <p:cNvPr id="42" name="流程图: 预定义过程 41"/>
          <p:cNvSpPr/>
          <p:nvPr/>
        </p:nvSpPr>
        <p:spPr>
          <a:xfrm>
            <a:off x="9558655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24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1064240" y="2720343"/>
            <a:ext cx="553998" cy="25545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标黄色为本次作业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第二次作业</a:t>
            </a:r>
          </a:p>
        </p:txBody>
      </p:sp>
      <p:sp>
        <p:nvSpPr>
          <p:cNvPr id="10" name="矩形 9"/>
          <p:cNvSpPr/>
          <p:nvPr/>
        </p:nvSpPr>
        <p:spPr>
          <a:xfrm>
            <a:off x="1414780" y="1233204"/>
            <a:ext cx="9288780" cy="25203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1504" y="1965389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简答题</a:t>
            </a:r>
          </a:p>
        </p:txBody>
      </p:sp>
      <p:sp>
        <p:nvSpPr>
          <p:cNvPr id="12" name="矩形 11"/>
          <p:cNvSpPr/>
          <p:nvPr/>
        </p:nvSpPr>
        <p:spPr>
          <a:xfrm>
            <a:off x="1414780" y="3997994"/>
            <a:ext cx="9288780" cy="9468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1503" y="4066100"/>
            <a:ext cx="492443" cy="861774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>
            <a:spAutoFit/>
          </a:bodyPr>
          <a:lstStyle/>
          <a:p>
            <a:r>
              <a:rPr lang="zh-CN" altLang="en-US" sz="2000" dirty="0">
                <a:solidFill>
                  <a:srgbClr val="7030A0"/>
                </a:solidFill>
                <a:latin typeface="+mn-ea"/>
              </a:rPr>
              <a:t>计算题</a:t>
            </a:r>
          </a:p>
        </p:txBody>
      </p:sp>
      <p:sp>
        <p:nvSpPr>
          <p:cNvPr id="14" name="矩形 13"/>
          <p:cNvSpPr/>
          <p:nvPr/>
        </p:nvSpPr>
        <p:spPr>
          <a:xfrm>
            <a:off x="1414780" y="5252754"/>
            <a:ext cx="9288780" cy="946150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1502" y="5122484"/>
            <a:ext cx="492443" cy="137473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综合应用题</a:t>
            </a:r>
          </a:p>
        </p:txBody>
      </p:sp>
      <p:sp>
        <p:nvSpPr>
          <p:cNvPr id="23" name="流程图: 预定义过程 22"/>
          <p:cNvSpPr/>
          <p:nvPr/>
        </p:nvSpPr>
        <p:spPr>
          <a:xfrm>
            <a:off x="625348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</a:p>
        </p:txBody>
      </p:sp>
      <p:sp>
        <p:nvSpPr>
          <p:cNvPr id="24" name="流程图: 预定义过程 23"/>
          <p:cNvSpPr/>
          <p:nvPr/>
        </p:nvSpPr>
        <p:spPr>
          <a:xfrm>
            <a:off x="735520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</a:p>
        </p:txBody>
      </p:sp>
      <p:sp>
        <p:nvSpPr>
          <p:cNvPr id="25" name="流程图: 预定义过程 24"/>
          <p:cNvSpPr/>
          <p:nvPr/>
        </p:nvSpPr>
        <p:spPr>
          <a:xfrm>
            <a:off x="84569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7</a:t>
            </a:r>
          </a:p>
        </p:txBody>
      </p:sp>
      <p:sp>
        <p:nvSpPr>
          <p:cNvPr id="26" name="流程图: 预定义过程 25"/>
          <p:cNvSpPr/>
          <p:nvPr/>
        </p:nvSpPr>
        <p:spPr>
          <a:xfrm>
            <a:off x="95586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</a:p>
        </p:txBody>
      </p:sp>
      <p:sp>
        <p:nvSpPr>
          <p:cNvPr id="27" name="流程图: 预定义过程 26"/>
          <p:cNvSpPr/>
          <p:nvPr/>
        </p:nvSpPr>
        <p:spPr>
          <a:xfrm>
            <a:off x="184658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9</a:t>
            </a:r>
          </a:p>
        </p:txBody>
      </p:sp>
      <p:sp>
        <p:nvSpPr>
          <p:cNvPr id="28" name="流程图: 预定义过程 27"/>
          <p:cNvSpPr/>
          <p:nvPr/>
        </p:nvSpPr>
        <p:spPr>
          <a:xfrm>
            <a:off x="294830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10</a:t>
            </a:r>
          </a:p>
        </p:txBody>
      </p:sp>
      <p:sp>
        <p:nvSpPr>
          <p:cNvPr id="29" name="流程图: 预定义过程 28"/>
          <p:cNvSpPr/>
          <p:nvPr/>
        </p:nvSpPr>
        <p:spPr>
          <a:xfrm>
            <a:off x="405003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11</a:t>
            </a:r>
          </a:p>
        </p:txBody>
      </p:sp>
      <p:sp>
        <p:nvSpPr>
          <p:cNvPr id="30" name="流程图: 预定义过程 29"/>
          <p:cNvSpPr/>
          <p:nvPr/>
        </p:nvSpPr>
        <p:spPr>
          <a:xfrm>
            <a:off x="515175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12</a:t>
            </a:r>
          </a:p>
        </p:txBody>
      </p:sp>
      <p:sp>
        <p:nvSpPr>
          <p:cNvPr id="31" name="流程图: 预定义过程 30"/>
          <p:cNvSpPr/>
          <p:nvPr/>
        </p:nvSpPr>
        <p:spPr>
          <a:xfrm>
            <a:off x="625348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13</a:t>
            </a:r>
          </a:p>
        </p:txBody>
      </p:sp>
      <p:sp>
        <p:nvSpPr>
          <p:cNvPr id="32" name="流程图: 预定义过程 31"/>
          <p:cNvSpPr/>
          <p:nvPr/>
        </p:nvSpPr>
        <p:spPr>
          <a:xfrm>
            <a:off x="735520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14</a:t>
            </a:r>
          </a:p>
        </p:txBody>
      </p:sp>
      <p:sp>
        <p:nvSpPr>
          <p:cNvPr id="33" name="流程图: 预定义过程 32"/>
          <p:cNvSpPr/>
          <p:nvPr/>
        </p:nvSpPr>
        <p:spPr>
          <a:xfrm>
            <a:off x="845693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15</a:t>
            </a:r>
          </a:p>
        </p:txBody>
      </p:sp>
      <p:sp>
        <p:nvSpPr>
          <p:cNvPr id="34" name="流程图: 预定义过程 33"/>
          <p:cNvSpPr/>
          <p:nvPr/>
        </p:nvSpPr>
        <p:spPr>
          <a:xfrm>
            <a:off x="955865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16</a:t>
            </a:r>
          </a:p>
        </p:txBody>
      </p:sp>
      <p:sp>
        <p:nvSpPr>
          <p:cNvPr id="35" name="流程图: 预定义过程 34"/>
          <p:cNvSpPr/>
          <p:nvPr/>
        </p:nvSpPr>
        <p:spPr>
          <a:xfrm>
            <a:off x="1846580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17</a:t>
            </a:r>
          </a:p>
        </p:txBody>
      </p:sp>
      <p:sp>
        <p:nvSpPr>
          <p:cNvPr id="36" name="流程图: 预定义过程 35"/>
          <p:cNvSpPr/>
          <p:nvPr/>
        </p:nvSpPr>
        <p:spPr>
          <a:xfrm>
            <a:off x="2948305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18</a:t>
            </a:r>
          </a:p>
        </p:txBody>
      </p:sp>
      <p:sp>
        <p:nvSpPr>
          <p:cNvPr id="37" name="流程图: 预定义过程 36"/>
          <p:cNvSpPr/>
          <p:nvPr/>
        </p:nvSpPr>
        <p:spPr>
          <a:xfrm>
            <a:off x="4050030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</a:t>
            </a:r>
          </a:p>
        </p:txBody>
      </p:sp>
      <p:sp>
        <p:nvSpPr>
          <p:cNvPr id="38" name="流程图: 预定义过程 37"/>
          <p:cNvSpPr/>
          <p:nvPr/>
        </p:nvSpPr>
        <p:spPr>
          <a:xfrm>
            <a:off x="5151755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</a:t>
            </a:r>
          </a:p>
        </p:txBody>
      </p:sp>
      <p:sp>
        <p:nvSpPr>
          <p:cNvPr id="39" name="流程图: 预定义过程 38"/>
          <p:cNvSpPr/>
          <p:nvPr/>
        </p:nvSpPr>
        <p:spPr>
          <a:xfrm>
            <a:off x="6253480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21</a:t>
            </a:r>
          </a:p>
        </p:txBody>
      </p:sp>
      <p:sp>
        <p:nvSpPr>
          <p:cNvPr id="40" name="流程图: 预定义过程 39"/>
          <p:cNvSpPr/>
          <p:nvPr/>
        </p:nvSpPr>
        <p:spPr>
          <a:xfrm>
            <a:off x="7355205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22</a:t>
            </a:r>
          </a:p>
        </p:txBody>
      </p:sp>
      <p:sp>
        <p:nvSpPr>
          <p:cNvPr id="41" name="流程图: 预定义过程 40"/>
          <p:cNvSpPr/>
          <p:nvPr/>
        </p:nvSpPr>
        <p:spPr>
          <a:xfrm>
            <a:off x="8456930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23</a:t>
            </a:r>
          </a:p>
        </p:txBody>
      </p:sp>
      <p:sp>
        <p:nvSpPr>
          <p:cNvPr id="42" name="流程图: 预定义过程 41"/>
          <p:cNvSpPr/>
          <p:nvPr/>
        </p:nvSpPr>
        <p:spPr>
          <a:xfrm>
            <a:off x="9558655" y="299278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24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1064240" y="2750219"/>
            <a:ext cx="553998" cy="25545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标黄色为本次作业</a:t>
            </a:r>
          </a:p>
        </p:txBody>
      </p:sp>
      <p:sp>
        <p:nvSpPr>
          <p:cNvPr id="44" name="流程图: 预定义过程 43"/>
          <p:cNvSpPr/>
          <p:nvPr/>
        </p:nvSpPr>
        <p:spPr>
          <a:xfrm>
            <a:off x="1846580" y="1463530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</a:p>
        </p:txBody>
      </p:sp>
      <p:sp>
        <p:nvSpPr>
          <p:cNvPr id="45" name="流程图: 预定义过程 44"/>
          <p:cNvSpPr/>
          <p:nvPr/>
        </p:nvSpPr>
        <p:spPr>
          <a:xfrm>
            <a:off x="2948305" y="1463530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</a:p>
        </p:txBody>
      </p:sp>
      <p:sp>
        <p:nvSpPr>
          <p:cNvPr id="46" name="流程图: 预定义过程 45"/>
          <p:cNvSpPr/>
          <p:nvPr/>
        </p:nvSpPr>
        <p:spPr>
          <a:xfrm>
            <a:off x="4050030" y="1463530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</a:p>
        </p:txBody>
      </p:sp>
      <p:sp>
        <p:nvSpPr>
          <p:cNvPr id="47" name="流程图: 预定义过程 46"/>
          <p:cNvSpPr/>
          <p:nvPr/>
        </p:nvSpPr>
        <p:spPr>
          <a:xfrm>
            <a:off x="5151755" y="1463530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</a:p>
        </p:txBody>
      </p:sp>
      <p:sp>
        <p:nvSpPr>
          <p:cNvPr id="48" name="圆柱形 47"/>
          <p:cNvSpPr/>
          <p:nvPr/>
        </p:nvSpPr>
        <p:spPr>
          <a:xfrm>
            <a:off x="1846580" y="4112702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rgbClr val="7030A0"/>
                </a:solidFill>
                <a:latin typeface="Times New Roman" panose="02020603050405020304" charset="0"/>
                <a:cs typeface="Times New Roman" panose="02020603050405020304" charset="0"/>
              </a:rPr>
              <a:t>25</a:t>
            </a:r>
          </a:p>
        </p:txBody>
      </p:sp>
      <p:sp>
        <p:nvSpPr>
          <p:cNvPr id="49" name="圆柱形 48"/>
          <p:cNvSpPr/>
          <p:nvPr/>
        </p:nvSpPr>
        <p:spPr>
          <a:xfrm>
            <a:off x="2948305" y="4112702"/>
            <a:ext cx="653415" cy="712470"/>
          </a:xfrm>
          <a:prstGeom prst="ca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rgbClr val="7030A0"/>
                </a:solidFill>
                <a:latin typeface="Times New Roman" panose="02020603050405020304" charset="0"/>
                <a:cs typeface="Times New Roman" panose="02020603050405020304" charset="0"/>
              </a:rPr>
              <a:t>26</a:t>
            </a:r>
          </a:p>
        </p:txBody>
      </p:sp>
      <p:sp>
        <p:nvSpPr>
          <p:cNvPr id="50" name="立方体 49"/>
          <p:cNvSpPr/>
          <p:nvPr/>
        </p:nvSpPr>
        <p:spPr>
          <a:xfrm>
            <a:off x="1828800" y="5337844"/>
            <a:ext cx="776605" cy="776605"/>
          </a:xfrm>
          <a:prstGeom prst="cube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27</a:t>
            </a:r>
          </a:p>
        </p:txBody>
      </p:sp>
      <p:sp>
        <p:nvSpPr>
          <p:cNvPr id="51" name="立方体 50"/>
          <p:cNvSpPr/>
          <p:nvPr/>
        </p:nvSpPr>
        <p:spPr>
          <a:xfrm>
            <a:off x="2930525" y="5337844"/>
            <a:ext cx="776605" cy="776605"/>
          </a:xfrm>
          <a:prstGeom prst="cube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内容占位符 3"/>
          <p:cNvSpPr txBox="1"/>
          <p:nvPr/>
        </p:nvSpPr>
        <p:spPr>
          <a:xfrm>
            <a:off x="449580" y="473710"/>
            <a:ext cx="11410950" cy="2689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1. 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在计算机系统上配置操作系统的是什目标么？作用主要表现在哪几个方面？</a:t>
            </a: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  <a:cs typeface="Times New Roman" panose="02020603050405020304" charset="0"/>
              </a:rPr>
              <a:t>答：实现方便性、有效性、可扩展性、开放性。</a:t>
            </a: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  <a:cs typeface="Times New Roman" panose="02020603050405020304" charset="0"/>
              </a:rPr>
              <a:t> 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     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作用表现在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3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个方面：（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1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）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OS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作为用户与计算机硬件系统之间的接口；（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2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）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OS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作为系统资源的管理者；（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3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）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OS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实现对计算机资源的抽象。</a:t>
            </a: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2. 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试说明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OS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与硬件、其他系统软件以及用户之间的关系。</a:t>
            </a:r>
          </a:p>
        </p:txBody>
      </p:sp>
      <p:pic>
        <p:nvPicPr>
          <p:cNvPr id="3" name="图片 2" descr="e5bb3b1c-65ce-4cfd-afb7-8ce46ea867b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5" y="3164205"/>
            <a:ext cx="11547475" cy="3089275"/>
          </a:xfrm>
          <a:prstGeom prst="rect">
            <a:avLst/>
          </a:prstGeom>
        </p:spPr>
      </p:pic>
      <p:pic>
        <p:nvPicPr>
          <p:cNvPr id="4" name="图片 3" descr="d0b7a89d-44c5-4fe5-a21b-ba7efada222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065" y="3016885"/>
            <a:ext cx="5691505" cy="3623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内容占位符 3"/>
          <p:cNvSpPr txBox="1"/>
          <p:nvPr/>
        </p:nvSpPr>
        <p:spPr>
          <a:xfrm>
            <a:off x="449580" y="549910"/>
            <a:ext cx="11410950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3. 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试说明推动操作系统发展的主要动力是什么？</a:t>
            </a: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altLang="zh-CN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altLang="zh-CN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4. 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在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OS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中，何谓脱机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IO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方式和联机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IO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方式？</a:t>
            </a: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</p:txBody>
      </p:sp>
      <p:pic>
        <p:nvPicPr>
          <p:cNvPr id="2" name="图片 1" descr="e9243ac0-5bc0-440d-8d78-32655fc1d8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1282065"/>
            <a:ext cx="11279505" cy="763905"/>
          </a:xfrm>
          <a:prstGeom prst="rect">
            <a:avLst/>
          </a:prstGeom>
        </p:spPr>
      </p:pic>
      <p:pic>
        <p:nvPicPr>
          <p:cNvPr id="3" name="图片 2" descr="aa7b2943-48a3-4ebd-89e5-db542dfcc9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" y="2760345"/>
            <a:ext cx="11312525" cy="1734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内容占位符 3"/>
          <p:cNvSpPr txBox="1"/>
          <p:nvPr/>
        </p:nvSpPr>
        <p:spPr>
          <a:xfrm>
            <a:off x="449580" y="77470"/>
            <a:ext cx="11410950" cy="39763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15. 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简要描述处理机的双重工作模式。</a:t>
            </a: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16. 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简述中断处理过程。</a:t>
            </a: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</p:txBody>
      </p:sp>
      <p:pic>
        <p:nvPicPr>
          <p:cNvPr id="4" name="图片 3" descr="36010d57-21cb-4e16-a5f6-08984b64e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" y="702310"/>
            <a:ext cx="11581765" cy="2568575"/>
          </a:xfrm>
          <a:prstGeom prst="rect">
            <a:avLst/>
          </a:prstGeom>
        </p:spPr>
      </p:pic>
      <p:pic>
        <p:nvPicPr>
          <p:cNvPr id="5" name="图片 4" descr="c4952b5a-e97f-4d65-8975-69aa55ad45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" y="3787775"/>
            <a:ext cx="11307445" cy="2966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内容占位符 3"/>
          <p:cNvSpPr txBox="1"/>
          <p:nvPr/>
        </p:nvSpPr>
        <p:spPr>
          <a:xfrm>
            <a:off x="449580" y="473710"/>
            <a:ext cx="11410950" cy="5962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24. </a:t>
            </a:r>
            <a:r>
              <a:rPr lang="zh-CN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什么是系统调用？系统调用与一般用户程序和库函数有何区别？</a:t>
            </a: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</p:txBody>
      </p:sp>
      <p:pic>
        <p:nvPicPr>
          <p:cNvPr id="4" name="图片 3" descr="de963480-1f67-477d-aa9e-e8cf003b2e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1069340"/>
            <a:ext cx="11184890" cy="336169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2773a4c-c600-440c-ab8c-e2fe125c77b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5" y="326390"/>
            <a:ext cx="11699240" cy="595757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851cc71e-2802-4f59-98cd-e6a5506ceb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90" y="577850"/>
            <a:ext cx="11561445" cy="564261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4e25ea2-0acb-447c-ada7-ecc51c0816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" y="230505"/>
            <a:ext cx="10702290" cy="3974465"/>
          </a:xfrm>
          <a:prstGeom prst="rect">
            <a:avLst/>
          </a:prstGeom>
        </p:spPr>
      </p:pic>
      <p:pic>
        <p:nvPicPr>
          <p:cNvPr id="4" name="图片 3" descr="7532f153-978c-4dc6-9e58-4a82f79a8a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5" y="4125595"/>
            <a:ext cx="8653145" cy="252349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b544527-3213-4d24-8fc4-80e737031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" y="415925"/>
            <a:ext cx="1155319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82d2a2b8-9d1e-4333-b0ee-2a8d162786e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9890"/>
            <a:ext cx="11543030" cy="607695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内容占位符 3"/>
          <p:cNvSpPr txBox="1"/>
          <p:nvPr/>
        </p:nvSpPr>
        <p:spPr>
          <a:xfrm>
            <a:off x="449580" y="172085"/>
            <a:ext cx="11410950" cy="5962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27. OS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的概念、特征和功能是什么</a:t>
            </a:r>
            <a:r>
              <a:rPr lang="zh-CN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Times New Roman" panose="02020603050405020304" charset="0"/>
              </a:rPr>
              <a:t>？</a:t>
            </a: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Times New Roman" panose="02020603050405020304" charset="0"/>
            </a:endParaRPr>
          </a:p>
        </p:txBody>
      </p:sp>
      <p:pic>
        <p:nvPicPr>
          <p:cNvPr id="2" name="图片 1" descr="5160587a-f406-4df2-945e-e62e6ec6870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736600"/>
            <a:ext cx="11411585" cy="4232910"/>
          </a:xfrm>
          <a:prstGeom prst="rect">
            <a:avLst/>
          </a:prstGeom>
        </p:spPr>
      </p:pic>
      <p:pic>
        <p:nvPicPr>
          <p:cNvPr id="3" name="图片 2" descr="1b1dd9e8-9228-4db3-8cdf-ef0458da71b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" y="4969510"/>
            <a:ext cx="11189970" cy="1764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ac11af4-3e09-43cb-b972-7ac0209bb0c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346710"/>
            <a:ext cx="8246745" cy="616394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5227301-42aa-4c72-8356-68528ea861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25" y="236220"/>
            <a:ext cx="8577580" cy="650938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</a:p>
        </p:txBody>
      </p:sp>
      <p:sp>
        <p:nvSpPr>
          <p:cNvPr id="52" name="内容占位符 3"/>
          <p:cNvSpPr txBox="1"/>
          <p:nvPr/>
        </p:nvSpPr>
        <p:spPr>
          <a:xfrm>
            <a:off x="449580" y="1014095"/>
            <a:ext cx="11410950" cy="5429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  <a:sym typeface="+mn-ea"/>
              </a:rPr>
              <a:t>了解Windows应用初期，Linux问世，那现在国产操作系统发展何如？</a:t>
            </a:r>
            <a:endParaRPr lang="zh-CN" altLang="zh-CN" sz="2400" dirty="0">
              <a:latin typeface="+mn-ea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400" dirty="0">
                <a:latin typeface="+mn-ea"/>
                <a:cs typeface="Times New Roman" panose="02020603050405020304" charset="0"/>
                <a:sym typeface="+mn-ea"/>
              </a:rPr>
              <a:t>        </a:t>
            </a:r>
            <a:r>
              <a:rPr lang="zh-CN" sz="2400" dirty="0">
                <a:latin typeface="+mn-ea"/>
                <a:cs typeface="Times New Roman" panose="02020603050405020304" charset="0"/>
              </a:rPr>
              <a:t>纵观操作系统的发展史，可谓源远流长。</a:t>
            </a:r>
          </a:p>
          <a:p>
            <a:pPr marL="0" indent="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400" dirty="0">
                <a:latin typeface="+mn-ea"/>
                <a:cs typeface="Times New Roman" panose="02020603050405020304" charset="0"/>
                <a:sym typeface="+mn-ea"/>
              </a:rPr>
              <a:t>        </a:t>
            </a:r>
            <a:r>
              <a:rPr lang="zh-CN" sz="2400" dirty="0">
                <a:latin typeface="+mn-ea"/>
                <a:cs typeface="Times New Roman" panose="02020603050405020304" charset="0"/>
              </a:rPr>
              <a:t>早在20世纪40年代中期，便出现了世界上第一台真正的“电子计算机”，即电子数字计算机（electronic numerical integrator and computer，ENIAC）。此后，便逐步产生了对计算机操作系统的紧迫需求。</a:t>
            </a:r>
          </a:p>
          <a:p>
            <a:pPr marL="0" indent="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400" dirty="0">
                <a:latin typeface="+mn-ea"/>
                <a:cs typeface="Times New Roman" panose="02020603050405020304" charset="0"/>
                <a:sym typeface="+mn-ea"/>
              </a:rPr>
              <a:t>        </a:t>
            </a:r>
            <a:r>
              <a:rPr lang="zh-CN" sz="2400" dirty="0">
                <a:latin typeface="+mn-ea"/>
                <a:cs typeface="Times New Roman" panose="02020603050405020304" charset="0"/>
              </a:rPr>
              <a:t>在此背景下，各类操作系统不断涌现，其中较为成功的（早期）操作系统当属UNIX系统，其面向使用者提供了多任务、多层次的软件计算环境，并逐步发展成为主机时代的操作系统。UNIX系统由于较为成功且代码公开，在高校实验教学过程中应用较多。随后，在众多教育工作者和操作系统爱好者的努力下，由UNIX系统教学代码衍生出了UNIX系统的多个发行版本，如伯克利软件套件（Berkeley software distribution，BSD）等。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</a:p>
        </p:txBody>
      </p:sp>
      <p:sp>
        <p:nvSpPr>
          <p:cNvPr id="52" name="内容占位符 3"/>
          <p:cNvSpPr txBox="1"/>
          <p:nvPr/>
        </p:nvSpPr>
        <p:spPr>
          <a:xfrm>
            <a:off x="1068849" y="1473430"/>
            <a:ext cx="10054301" cy="44124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  <a:sym typeface="+mn-ea"/>
              </a:rPr>
              <a:t>了解Windows应用初期，Linux问世，那现在国产操作系统发展何如？</a:t>
            </a:r>
            <a:endParaRPr lang="zh-CN" altLang="zh-CN" sz="2400" dirty="0">
              <a:latin typeface="+mn-ea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latin typeface="+mn-ea"/>
                <a:cs typeface="Times New Roman" panose="02020603050405020304" charset="0"/>
              </a:rPr>
              <a:t>	</a:t>
            </a:r>
            <a:r>
              <a:rPr lang="zh-CN" sz="2400" dirty="0">
                <a:latin typeface="+mn-ea"/>
                <a:cs typeface="Times New Roman" panose="02020603050405020304" charset="0"/>
              </a:rPr>
              <a:t>1991年10月5日，林纳斯·托瓦兹（Linux Torvalds）对外发布了其独立开发的类UNIX操作系统内核，当该内核与GNU计划（自由软件集体协作计划）相结合时，便形成了我们现在所熟知的开源（开放源代码）Linux系统。至此，Linux问世。</a:t>
            </a:r>
            <a:endParaRPr lang="en-US" altLang="zh-CN" sz="2400" dirty="0">
              <a:latin typeface="+mn-ea"/>
              <a:cs typeface="Times New Roman" panose="02020603050405020304" charset="0"/>
            </a:endParaRPr>
          </a:p>
          <a:p>
            <a:pPr marL="0" indent="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  <a:cs typeface="Times New Roman" panose="02020603050405020304" charset="0"/>
              </a:rPr>
              <a:t> 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	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与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Linux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发展完全不同的另一个典型操作系统，便是由微软公司研发的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Windows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系统，其于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1985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问世之初仅是</a:t>
            </a:r>
            <a:r>
              <a:rPr lang="en-US" altLang="zh-CN" sz="2400" dirty="0">
                <a:latin typeface="+mn-ea"/>
                <a:cs typeface="Times New Roman" panose="02020603050405020304" charset="0"/>
              </a:rPr>
              <a:t>Microsoft-DOS</a:t>
            </a:r>
            <a:r>
              <a:rPr lang="zh-CN" altLang="en-US" sz="2400" dirty="0">
                <a:latin typeface="+mn-ea"/>
                <a:cs typeface="Times New Roman" panose="02020603050405020304" charset="0"/>
              </a:rPr>
              <a:t>模拟环境，之后经过不断完善系统体验、丰富图形用户界面，逐步变为目前全世界使用最广泛的计算机操作系统。</a:t>
            </a:r>
            <a:endParaRPr lang="zh-CN" sz="2400" dirty="0">
              <a:latin typeface="+mn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</a:p>
        </p:txBody>
      </p:sp>
      <p:sp>
        <p:nvSpPr>
          <p:cNvPr id="4" name="内容占位符 3"/>
          <p:cNvSpPr txBox="1"/>
          <p:nvPr/>
        </p:nvSpPr>
        <p:spPr>
          <a:xfrm>
            <a:off x="1237525" y="1610725"/>
            <a:ext cx="9716949" cy="4206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了解Windows应用初期，Linux问世，那现在国产操作系统发展何如？</a:t>
            </a:r>
            <a:endParaRPr lang="zh-CN" altLang="zh-CN" sz="2400" dirty="0">
              <a:latin typeface="+mn-ea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latin typeface="+mn-ea"/>
                <a:cs typeface="Times New Roman" panose="02020603050405020304" charset="0"/>
              </a:rPr>
              <a:t>	</a:t>
            </a:r>
            <a:r>
              <a:rPr lang="zh-CN" sz="2400" dirty="0">
                <a:latin typeface="+mn-ea"/>
                <a:cs typeface="Times New Roman" panose="02020603050405020304" charset="0"/>
              </a:rPr>
              <a:t>值得一提的是，在Windows应用初期/Linux问世之际的几乎同一时间，即20世纪90年代初，我国出于操作系统本质安全和国家信息产业安全的考虑，便开始倡导自主研发国产操作系统（知识产权归属于我国）。</a:t>
            </a:r>
          </a:p>
          <a:p>
            <a:pPr marL="0" indent="0" algn="just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zh-CN" sz="2400" dirty="0">
                <a:latin typeface="+mn-ea"/>
                <a:cs typeface="Times New Roman" panose="02020603050405020304" charset="0"/>
                <a:sym typeface="+mn-ea"/>
              </a:rPr>
              <a:t>        </a:t>
            </a:r>
            <a:r>
              <a:rPr lang="zh-CN" sz="2400" u="sng" dirty="0">
                <a:latin typeface="+mn-ea"/>
                <a:cs typeface="Times New Roman" panose="02020603050405020304" charset="0"/>
              </a:rPr>
              <a:t>由此可见，国家对自主可控的国产操作系统研发工作历来尤为重视。</a:t>
            </a:r>
            <a:r>
              <a:rPr lang="zh-CN" sz="2400" dirty="0">
                <a:latin typeface="+mn-ea"/>
                <a:cs typeface="Times New Roman" panose="02020603050405020304" charset="0"/>
              </a:rPr>
              <a:t>那么，作为社会进步与国家发展的中流砥柱——知识分子与科技人才又当何以作为，每每发人深思！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96670" y="1548130"/>
            <a:ext cx="9900285" cy="4705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/>
              <a:t>国产计算机操作系统近年来发展迅速，技术水平和市场应用均取得显著进步。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/>
              <a:t>以统信UOS、麒麟操作系统为代表的国产系统，已在政府、企业、教育等领域广泛应用。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/>
              <a:t>2024年，openEuler新增装机量突破500万套，累计装机量超1000万套，其生态合作伙伴超1800家。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/>
              <a:t>国产操作系统在安全性、性能优化、多平台支持等方面取得重要进展，同时积极与人工智能等新兴技术融合。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/>
              <a:t>未来，随着信创产业推动和新兴技术助力，国产操作系统有望在更多领域实现突破。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012305" y="815975"/>
            <a:ext cx="4522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自强不息，自身强大是硬道理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4370" y="733425"/>
            <a:ext cx="10251440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作为专业的软件开发人员，可以从以下几个方面为国产操作系统的发展做出具体贡献：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1.系统内核开发与优化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参与内核开发：优化系统内核代码，提升性能、稳定性和兼容性。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安全性增强：开发安全模块，如加密算法、访问控制机制，提升系统安全性。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资源管理优化：改进内存管理、进程调度算法，提高系统资源利用效率。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2.应用开发与生态建设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开发原生应用：基于国产操作系统平台开发实用工具、办公软件、多媒体应用等，丰富应用生态。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优化第三方应用适配：对主流应用进行适配和优化，确保其在国产操作系统上运行流畅。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推动开源项目：参与或发起开源项目，吸引更多开发者加入，共同完善生态。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3.驱动程序开发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硬件适配：开发和优化各类硬件设备的驱动程序，提升系统对硬件的支持能力。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9590" y="981710"/>
            <a:ext cx="11270615" cy="4570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solidFill>
                  <a:srgbClr val="FF0000"/>
                </a:solidFill>
                <a:sym typeface="+mn-ea"/>
              </a:rPr>
              <a:t>4.用户体验优化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界面设计与交互优化：参与桌面环境、移动界面的设计和优化，提升用户体验。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辅助功能开发：开发语音助手、手势操作等功能，提升系统的易用性。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5.社区与技术支持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参与开源社区：在开源社区中分享代码、参与讨论，推动技术交流。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提供技术支持：为用户提供技术支持，解决使用中的问题，收集用户反馈，推动产品改进。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6.安全与隐私保护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开发安全工具：设计和开发安全工具，如防火墙、杀毒软件、数据加密工具等。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隐私保护机制：开发隐私保护机制，确保用户数据安全。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4880" y="-988695"/>
            <a:ext cx="10010775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7.性能测试与优化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性能测试：对系统进行全面性能测试，发现瓶颈并优化。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自动化测试工具开发：开发自动化测试工具，提升测试效率和质量。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8.跨平台与兼容性开发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跨平台框架开发：开发跨平台框架，使应用能够在国产操作系统和其他主流系统上无缝运行。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兼容性测试：进行兼容性测试，确保国产操作系统与主流软件和硬件的兼容性。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9.参与标准制定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参与技术标准制定：参与国产操作系统相关技术标准的制定，推动行业规范化发展。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推动国际化标准：将国产操作系统的优秀实践推广到国际标准中，提升国际影响力。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10.教育与培训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编写技术文档：撰写开发指南、技术文档，帮助更多开发者快速上手。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• 开展培训活动：参与培训课程开发，帮助用户和开发者更好地使用和开发国产操作系统。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2765" y="918845"/>
            <a:ext cx="11125835" cy="5939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国产操作系统与AI人工智能的结合呈现出以下发展趋势：</a:t>
            </a:r>
          </a:p>
          <a:p>
            <a:endParaRPr lang="zh-CN" altLang="en-US" sz="2000"/>
          </a:p>
          <a:p>
            <a:r>
              <a:rPr lang="zh-CN" altLang="en-US" sz="2000"/>
              <a:t>1. 深度融合与系统级智能化</a:t>
            </a:r>
          </a:p>
          <a:p>
            <a:endParaRPr lang="zh-CN" altLang="en-US" sz="2000"/>
          </a:p>
          <a:p>
            <a:r>
              <a:rPr lang="zh-CN" altLang="en-US" sz="2000"/>
              <a:t>国产操作系统正加速与AI技术深度融合，形成AI原生操作系统。例如，统信UOS AI 2.0通过整合硬件多种AI算力，采用端云结合的方式，为用户提供系统级、全场景的智能化体验。银河麒麟操作系统也发布了AI版本，支持智能搜索、AI助手等功能。</a:t>
            </a:r>
          </a:p>
          <a:p>
            <a:endParaRPr lang="zh-CN" altLang="en-US" sz="2000"/>
          </a:p>
          <a:p>
            <a:r>
              <a:rPr lang="zh-CN" altLang="en-US" sz="2000"/>
              <a:t>2. 生态建设与应用拓展</a:t>
            </a:r>
          </a:p>
          <a:p>
            <a:endParaRPr lang="zh-CN" altLang="en-US" sz="2000"/>
          </a:p>
          <a:p>
            <a:r>
              <a:rPr lang="zh-CN" altLang="en-US" sz="2000"/>
              <a:t>国产操作系统通过AI技术提升生态竞争力。统信UOS已建立支持自然语言命令的广泛应用场景，兼容超过60款应用，并通过API赋能开发者。此外，国产操作系统在智慧城市、智能制造、医疗健康等领域落地应用，推动行业智能化升级。</a:t>
            </a:r>
          </a:p>
          <a:p>
            <a:endParaRPr lang="zh-CN" altLang="en-US" sz="2000"/>
          </a:p>
          <a:p>
            <a:r>
              <a:rPr lang="zh-CN" altLang="en-US" sz="2000"/>
              <a:t>3. 硬件适配与算力优化</a:t>
            </a:r>
          </a:p>
          <a:p>
            <a:endParaRPr lang="zh-CN" altLang="en-US" sz="2000"/>
          </a:p>
          <a:p>
            <a:r>
              <a:rPr lang="zh-CN" altLang="en-US" sz="2000"/>
              <a:t>国产操作系统结合国产CPU、GPU、NPU等硬件算力，优化AI模型的运行效率。例如，麒麟软件通过应用与模型解耦、模型与AI芯片解耦，支持异构算力创新发展。</a:t>
            </a:r>
          </a:p>
          <a:p>
            <a:endParaRPr lang="zh-CN" altLang="en-US" sz="20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  <p:tag name="COMMONDATA" val="eyJoZGlkIjoiOTNkY2NjODhmMjU1MTBmZjY5ZTA4NDAzNmJlZGNl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1c3d844-4c6c-4c45-aae0-f10ee5f9056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4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  <p:tag name="KSO_WM_DIAGRAM_VIRTUALLY_FRAME" val="{&quot;height&quot;:358.7081102362205,&quot;left&quot;:53,&quot;top&quot;:95.08700787401577,&quot;width&quot;:855.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7081102362205,&quot;left&quot;:53,&quot;top&quot;:95.08700787401577,&quot;width&quot;:855.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7081102362205,&quot;left&quot;:53,&quot;top&quot;:95.08700787401577,&quot;width&quot;:855.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7081102362205,&quot;left&quot;:53,&quot;top&quot;:95.08700787401577,&quot;width&quot;:855.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7081102362205,&quot;left&quot;:53,&quot;top&quot;:95.08700787401577,&quot;width&quot;:855.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7081102362205,&quot;left&quot;:53,&quot;top&quot;:95.08700787401577,&quot;width&quot;:855.2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7081102362205,&quot;left&quot;:53,&quot;top&quot;:95.08700787401577,&quot;width&quot;:855.2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7081102362205,&quot;left&quot;:53,&quot;top&quot;:95.08700787401577,&quot;width&quot;:855.2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7081102362205,&quot;left&quot;:53,&quot;top&quot;:95.08700787401577,&quot;width&quot;:855.2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  <p:tag name="KSO_WM_DIAGRAM_VIRTUALLY_FRAME" val="{&quot;height&quot;:414.1470078740157,&quot;left&quot;:36.3,&quot;top&quot;:77.3,&quot;width&quot;:902.8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3610236220472,&quot;left&quot;:43.62322834645669,&quot;top&quot;:85.0859842519685,&quot;width&quot;:885.589133858267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1470078740157,&quot;left&quot;:36.3,&quot;top&quot;:77.3,&quot;width&quot;:902.8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1470078740157,&quot;left&quot;:36.3,&quot;top&quot;:77.3,&quot;width&quot;:902.8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1470078740157,&quot;left&quot;:36.3,&quot;top&quot;:77.3,&quot;width&quot;:902.8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1470078740157,&quot;left&quot;:36.3,&quot;top&quot;:77.3,&quot;width&quot;:902.8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1470078740157,&quot;left&quot;:36.3,&quot;top&quot;:77.3,&quot;width&quot;:902.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1470078740157,&quot;left&quot;:36.3,&quot;top&quot;:77.3,&quot;width&quot;:902.8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0411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40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  <p:tag name="KSO_WM_DIAGRAM_VIRTUALLY_FRAME" val="{&quot;height&quot;:324.7851181102362,&quot;left&quot;:56.288818897637796,&quot;top&quot;:96.74732283464567,&quot;width&quot;:885.589055118110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51181102362,&quot;left&quot;:56.288818897637796,&quot;top&quot;:96.74732283464567,&quot;width&quot;:885.589055118110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968503937006,&quot;left&quot;:52.000078740157484,&quot;top&quot;:174.9388188976378,&quot;width&quot;:897.516850393700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0420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1c3d844-4c6c-4c45-aae0-f10ee5f90566}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6283</Words>
  <Application>Microsoft Office PowerPoint</Application>
  <PresentationFormat>宽屏</PresentationFormat>
  <Paragraphs>861</Paragraphs>
  <Slides>96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07" baseType="lpstr">
      <vt:lpstr>Monotype Sorts</vt:lpstr>
      <vt:lpstr>宋体</vt:lpstr>
      <vt:lpstr>微软雅黑 (正文)</vt:lpstr>
      <vt:lpstr>Arial</vt:lpstr>
      <vt:lpstr>Calibri</vt:lpstr>
      <vt:lpstr>Impact</vt:lpstr>
      <vt:lpstr>Tahoma</vt:lpstr>
      <vt:lpstr>Times New Roman</vt:lpstr>
      <vt:lpstr>Wingdings</vt:lpstr>
      <vt:lpstr>主题5</vt:lpstr>
      <vt:lpstr>PBrush</vt:lpstr>
      <vt:lpstr>   操作系统</vt:lpstr>
      <vt:lpstr>PowerPoint 演示文稿</vt:lpstr>
      <vt:lpstr>PowerPoint 演示文稿</vt:lpstr>
      <vt:lpstr>第1章 操作系统引论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maikal jason</cp:lastModifiedBy>
  <cp:revision>210</cp:revision>
  <cp:lastPrinted>2019-04-18T16:00:00Z</cp:lastPrinted>
  <dcterms:created xsi:type="dcterms:W3CDTF">2019-04-18T16:00:00Z</dcterms:created>
  <dcterms:modified xsi:type="dcterms:W3CDTF">2026-01-14T14:13:08Z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F550D6099EDE423F9644FD0920CD3DFA</vt:lpwstr>
  </property>
  <property fmtid="{D5CDD505-2E9C-101B-9397-08002B2CF9AE}" pid="4" name="KSOProductBuildVer">
    <vt:lpwstr>2052-12.1.0.22529</vt:lpwstr>
  </property>
</Properties>
</file>